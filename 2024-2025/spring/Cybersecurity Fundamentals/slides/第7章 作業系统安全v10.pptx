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theme/themeOverride1.xml" ContentType="application/vnd.openxmlformats-officedocument.themeOverr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Lst>
  <p:notesMasterIdLst>
    <p:notesMasterId r:id="rId120"/>
  </p:notesMasterIdLst>
  <p:handoutMasterIdLst>
    <p:handoutMasterId r:id="rId121"/>
  </p:handoutMasterIdLst>
  <p:sldIdLst>
    <p:sldId id="4142" r:id="rId3"/>
    <p:sldId id="4168" r:id="rId4"/>
    <p:sldId id="4169" r:id="rId5"/>
    <p:sldId id="4167" r:id="rId6"/>
    <p:sldId id="4146" r:id="rId7"/>
    <p:sldId id="3874" r:id="rId8"/>
    <p:sldId id="3875" r:id="rId9"/>
    <p:sldId id="4143" r:id="rId10"/>
    <p:sldId id="4165" r:id="rId11"/>
    <p:sldId id="4166" r:id="rId12"/>
    <p:sldId id="4144" r:id="rId13"/>
    <p:sldId id="4164" r:id="rId14"/>
    <p:sldId id="4150" r:id="rId15"/>
    <p:sldId id="3878" r:id="rId16"/>
    <p:sldId id="3879" r:id="rId17"/>
    <p:sldId id="3881" r:id="rId18"/>
    <p:sldId id="3882" r:id="rId19"/>
    <p:sldId id="4151" r:id="rId20"/>
    <p:sldId id="3880" r:id="rId21"/>
    <p:sldId id="3885" r:id="rId22"/>
    <p:sldId id="4147" r:id="rId23"/>
    <p:sldId id="3893" r:id="rId24"/>
    <p:sldId id="3892" r:id="rId25"/>
    <p:sldId id="3891" r:id="rId26"/>
    <p:sldId id="3890" r:id="rId27"/>
    <p:sldId id="3889" r:id="rId28"/>
    <p:sldId id="3888" r:id="rId29"/>
    <p:sldId id="3887" r:id="rId30"/>
    <p:sldId id="3886" r:id="rId31"/>
    <p:sldId id="3883" r:id="rId32"/>
    <p:sldId id="3900" r:id="rId33"/>
    <p:sldId id="3901" r:id="rId34"/>
    <p:sldId id="3902" r:id="rId35"/>
    <p:sldId id="1190" r:id="rId36"/>
    <p:sldId id="1191" r:id="rId37"/>
    <p:sldId id="1192" r:id="rId38"/>
    <p:sldId id="1193" r:id="rId39"/>
    <p:sldId id="4152" r:id="rId40"/>
    <p:sldId id="1179" r:id="rId41"/>
    <p:sldId id="1180" r:id="rId42"/>
    <p:sldId id="1181" r:id="rId43"/>
    <p:sldId id="1196" r:id="rId44"/>
    <p:sldId id="1227" r:id="rId45"/>
    <p:sldId id="1194" r:id="rId46"/>
    <p:sldId id="1198" r:id="rId47"/>
    <p:sldId id="1199" r:id="rId48"/>
    <p:sldId id="1200" r:id="rId49"/>
    <p:sldId id="1228" r:id="rId50"/>
    <p:sldId id="1201" r:id="rId51"/>
    <p:sldId id="1203" r:id="rId52"/>
    <p:sldId id="1206" r:id="rId53"/>
    <p:sldId id="1207" r:id="rId54"/>
    <p:sldId id="1208" r:id="rId55"/>
    <p:sldId id="1210" r:id="rId56"/>
    <p:sldId id="3912" r:id="rId57"/>
    <p:sldId id="1211" r:id="rId58"/>
    <p:sldId id="1212" r:id="rId59"/>
    <p:sldId id="1232" r:id="rId60"/>
    <p:sldId id="1233" r:id="rId61"/>
    <p:sldId id="1213" r:id="rId62"/>
    <p:sldId id="3919" r:id="rId63"/>
    <p:sldId id="1234" r:id="rId64"/>
    <p:sldId id="1214" r:id="rId65"/>
    <p:sldId id="3914" r:id="rId66"/>
    <p:sldId id="1235" r:id="rId67"/>
    <p:sldId id="1253" r:id="rId68"/>
    <p:sldId id="1254" r:id="rId69"/>
    <p:sldId id="1255" r:id="rId70"/>
    <p:sldId id="1257" r:id="rId71"/>
    <p:sldId id="1256" r:id="rId72"/>
    <p:sldId id="4153" r:id="rId73"/>
    <p:sldId id="1239" r:id="rId74"/>
    <p:sldId id="1242" r:id="rId75"/>
    <p:sldId id="1243" r:id="rId76"/>
    <p:sldId id="1244" r:id="rId77"/>
    <p:sldId id="1245" r:id="rId78"/>
    <p:sldId id="1246" r:id="rId79"/>
    <p:sldId id="1247" r:id="rId80"/>
    <p:sldId id="1248" r:id="rId81"/>
    <p:sldId id="1241" r:id="rId82"/>
    <p:sldId id="1249" r:id="rId83"/>
    <p:sldId id="4154" r:id="rId84"/>
    <p:sldId id="1240" r:id="rId85"/>
    <p:sldId id="1258" r:id="rId86"/>
    <p:sldId id="1259" r:id="rId87"/>
    <p:sldId id="1260" r:id="rId88"/>
    <p:sldId id="1262" r:id="rId89"/>
    <p:sldId id="1263" r:id="rId90"/>
    <p:sldId id="1264" r:id="rId91"/>
    <p:sldId id="4155" r:id="rId92"/>
    <p:sldId id="3927" r:id="rId93"/>
    <p:sldId id="4156" r:id="rId94"/>
    <p:sldId id="3928" r:id="rId95"/>
    <p:sldId id="3916" r:id="rId96"/>
    <p:sldId id="3910" r:id="rId97"/>
    <p:sldId id="3923" r:id="rId98"/>
    <p:sldId id="3920" r:id="rId99"/>
    <p:sldId id="3921" r:id="rId100"/>
    <p:sldId id="3922" r:id="rId101"/>
    <p:sldId id="4158" r:id="rId102"/>
    <p:sldId id="4160" r:id="rId103"/>
    <p:sldId id="4159" r:id="rId104"/>
    <p:sldId id="3924" r:id="rId105"/>
    <p:sldId id="4161" r:id="rId106"/>
    <p:sldId id="4162" r:id="rId107"/>
    <p:sldId id="4163" r:id="rId108"/>
    <p:sldId id="4157" r:id="rId109"/>
    <p:sldId id="3931" r:id="rId110"/>
    <p:sldId id="3933" r:id="rId111"/>
    <p:sldId id="3932" r:id="rId112"/>
    <p:sldId id="3930" r:id="rId113"/>
    <p:sldId id="1250" r:id="rId114"/>
    <p:sldId id="3934" r:id="rId115"/>
    <p:sldId id="3935" r:id="rId116"/>
    <p:sldId id="3936" r:id="rId117"/>
    <p:sldId id="3938" r:id="rId118"/>
    <p:sldId id="3937" r:id="rId1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3604208-3889-41CD-9149-738D3C14977D}">
          <p14:sldIdLst>
            <p14:sldId id="4142"/>
            <p14:sldId id="4168"/>
            <p14:sldId id="4169"/>
            <p14:sldId id="4167"/>
            <p14:sldId id="4146"/>
            <p14:sldId id="3874"/>
            <p14:sldId id="3875"/>
            <p14:sldId id="4143"/>
            <p14:sldId id="4165"/>
            <p14:sldId id="4166"/>
            <p14:sldId id="4144"/>
            <p14:sldId id="4164"/>
            <p14:sldId id="4150"/>
            <p14:sldId id="3878"/>
            <p14:sldId id="3879"/>
            <p14:sldId id="3881"/>
            <p14:sldId id="3882"/>
            <p14:sldId id="4151"/>
            <p14:sldId id="3880"/>
            <p14:sldId id="3885"/>
            <p14:sldId id="4147"/>
            <p14:sldId id="3893"/>
            <p14:sldId id="3892"/>
            <p14:sldId id="3891"/>
            <p14:sldId id="3890"/>
            <p14:sldId id="3889"/>
            <p14:sldId id="3888"/>
            <p14:sldId id="3887"/>
            <p14:sldId id="3886"/>
            <p14:sldId id="3883"/>
            <p14:sldId id="3900"/>
            <p14:sldId id="3901"/>
            <p14:sldId id="3902"/>
            <p14:sldId id="1190"/>
            <p14:sldId id="1191"/>
            <p14:sldId id="1192"/>
            <p14:sldId id="1193"/>
            <p14:sldId id="4152"/>
            <p14:sldId id="1179"/>
            <p14:sldId id="1180"/>
            <p14:sldId id="1181"/>
            <p14:sldId id="1196"/>
            <p14:sldId id="1227"/>
            <p14:sldId id="1194"/>
            <p14:sldId id="1198"/>
            <p14:sldId id="1199"/>
            <p14:sldId id="1200"/>
            <p14:sldId id="1228"/>
            <p14:sldId id="1201"/>
            <p14:sldId id="1203"/>
            <p14:sldId id="1206"/>
            <p14:sldId id="1207"/>
            <p14:sldId id="1208"/>
            <p14:sldId id="1210"/>
            <p14:sldId id="3912"/>
            <p14:sldId id="1211"/>
            <p14:sldId id="1212"/>
            <p14:sldId id="1232"/>
            <p14:sldId id="1233"/>
            <p14:sldId id="1213"/>
            <p14:sldId id="3919"/>
            <p14:sldId id="1234"/>
            <p14:sldId id="1214"/>
            <p14:sldId id="3914"/>
            <p14:sldId id="1235"/>
            <p14:sldId id="1253"/>
            <p14:sldId id="1254"/>
            <p14:sldId id="1255"/>
            <p14:sldId id="1257"/>
            <p14:sldId id="1256"/>
            <p14:sldId id="4153"/>
            <p14:sldId id="1239"/>
            <p14:sldId id="1242"/>
            <p14:sldId id="1243"/>
            <p14:sldId id="1244"/>
            <p14:sldId id="1245"/>
            <p14:sldId id="1246"/>
            <p14:sldId id="1247"/>
            <p14:sldId id="1248"/>
            <p14:sldId id="1241"/>
            <p14:sldId id="1249"/>
            <p14:sldId id="4154"/>
            <p14:sldId id="1240"/>
            <p14:sldId id="1258"/>
            <p14:sldId id="1259"/>
            <p14:sldId id="1260"/>
            <p14:sldId id="1262"/>
            <p14:sldId id="1263"/>
            <p14:sldId id="1264"/>
            <p14:sldId id="4155"/>
            <p14:sldId id="3927"/>
            <p14:sldId id="4156"/>
            <p14:sldId id="3928"/>
            <p14:sldId id="3916"/>
            <p14:sldId id="3910"/>
            <p14:sldId id="3923"/>
            <p14:sldId id="3920"/>
            <p14:sldId id="3921"/>
            <p14:sldId id="3922"/>
            <p14:sldId id="4158"/>
            <p14:sldId id="4160"/>
            <p14:sldId id="4159"/>
            <p14:sldId id="3924"/>
            <p14:sldId id="4161"/>
            <p14:sldId id="4162"/>
            <p14:sldId id="4163"/>
            <p14:sldId id="4157"/>
            <p14:sldId id="3931"/>
            <p14:sldId id="3933"/>
            <p14:sldId id="3932"/>
            <p14:sldId id="3930"/>
            <p14:sldId id="1250"/>
            <p14:sldId id="3934"/>
            <p14:sldId id="3935"/>
            <p14:sldId id="3936"/>
            <p14:sldId id="3938"/>
            <p14:sldId id="39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69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1" autoAdjust="0"/>
    <p:restoredTop sz="86352" autoAdjust="0"/>
  </p:normalViewPr>
  <p:slideViewPr>
    <p:cSldViewPr snapToGrid="0" snapToObjects="1">
      <p:cViewPr varScale="1">
        <p:scale>
          <a:sx n="135" d="100"/>
          <a:sy n="135" d="100"/>
        </p:scale>
        <p:origin x="1170" y="120"/>
      </p:cViewPr>
      <p:guideLst/>
    </p:cSldViewPr>
  </p:slideViewPr>
  <p:notesTextViewPr>
    <p:cViewPr>
      <p:scale>
        <a:sx n="85" d="100"/>
        <a:sy n="85"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notesMaster" Target="notesMasters/notesMaster1.xml"/><Relationship Id="rId125"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handoutMaster" Target="handoutMasters/handout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BA9D26-F46F-188C-24C6-0B8C7CEE95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a:extLst>
              <a:ext uri="{FF2B5EF4-FFF2-40B4-BE49-F238E27FC236}">
                <a16:creationId xmlns:a16="http://schemas.microsoft.com/office/drawing/2014/main" id="{2E94237F-FF31-7D76-912C-C3942CB61E0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6C76BB-ACD2-402C-BEC3-D2D5719390E3}" type="datetimeFigureOut">
              <a:rPr lang="zh-CN" altLang="en-US" smtClean="0"/>
              <a:t>2025/6/11</a:t>
            </a:fld>
            <a:endParaRPr lang="zh-CN" altLang="en-US" dirty="0"/>
          </a:p>
        </p:txBody>
      </p:sp>
      <p:sp>
        <p:nvSpPr>
          <p:cNvPr id="4" name="Footer Placeholder 3">
            <a:extLst>
              <a:ext uri="{FF2B5EF4-FFF2-40B4-BE49-F238E27FC236}">
                <a16:creationId xmlns:a16="http://schemas.microsoft.com/office/drawing/2014/main" id="{28A8637D-9F68-F48B-52BA-520B8761CE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Slide Number Placeholder 4">
            <a:extLst>
              <a:ext uri="{FF2B5EF4-FFF2-40B4-BE49-F238E27FC236}">
                <a16:creationId xmlns:a16="http://schemas.microsoft.com/office/drawing/2014/main" id="{5F2EB16A-89AB-D09E-C6E4-5295C5CD481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44E228-8CF8-4E4F-A10E-E01D07231C73}" type="slidenum">
              <a:rPr lang="zh-CN" altLang="en-US" smtClean="0"/>
              <a:t>‹N°›</a:t>
            </a:fld>
            <a:endParaRPr lang="zh-CN" altLang="en-US" dirty="0"/>
          </a:p>
        </p:txBody>
      </p:sp>
    </p:spTree>
    <p:extLst>
      <p:ext uri="{BB962C8B-B14F-4D97-AF65-F5344CB8AC3E}">
        <p14:creationId xmlns:p14="http://schemas.microsoft.com/office/powerpoint/2010/main" val="240662158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BCCE95-9802-FF4D-BF14-C0BADA9BA38E}" type="datetimeFigureOut">
              <a:rPr kumimoji="1" lang="zh-CN" altLang="en-US" smtClean="0"/>
              <a:t>2025/6/11</a:t>
            </a:fld>
            <a:endParaRPr kumimoji="1"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5F7E-8FCD-B247-8658-9B89ABB1145E}" type="slidenum">
              <a:rPr kumimoji="1" lang="zh-CN" altLang="en-US" smtClean="0"/>
              <a:t>‹N°›</a:t>
            </a:fld>
            <a:endParaRPr kumimoji="1" lang="zh-CN" altLang="en-US" dirty="0"/>
          </a:p>
        </p:txBody>
      </p:sp>
    </p:spTree>
    <p:extLst>
      <p:ext uri="{BB962C8B-B14F-4D97-AF65-F5344CB8AC3E}">
        <p14:creationId xmlns:p14="http://schemas.microsoft.com/office/powerpoint/2010/main" val="188969093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905F7E-8FCD-B247-8658-9B89ABB1145E}" type="slidenum">
              <a:rPr kumimoji="1"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zh-CN" altLang="en-US"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650482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a:t>
            </a:fld>
            <a:endParaRPr kumimoji="1" lang="zh-CN" altLang="en-US" dirty="0"/>
          </a:p>
        </p:txBody>
      </p:sp>
    </p:spTree>
    <p:extLst>
      <p:ext uri="{BB962C8B-B14F-4D97-AF65-F5344CB8AC3E}">
        <p14:creationId xmlns:p14="http://schemas.microsoft.com/office/powerpoint/2010/main" val="108991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a:t>
            </a:fld>
            <a:endParaRPr kumimoji="1" lang="zh-CN" altLang="en-US" dirty="0"/>
          </a:p>
        </p:txBody>
      </p:sp>
    </p:spTree>
    <p:extLst>
      <p:ext uri="{BB962C8B-B14F-4D97-AF65-F5344CB8AC3E}">
        <p14:creationId xmlns:p14="http://schemas.microsoft.com/office/powerpoint/2010/main" val="30628816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4</a:t>
            </a:fld>
            <a:endParaRPr kumimoji="1" lang="zh-CN" altLang="en-US" dirty="0"/>
          </a:p>
        </p:txBody>
      </p:sp>
    </p:spTree>
    <p:extLst>
      <p:ext uri="{BB962C8B-B14F-4D97-AF65-F5344CB8AC3E}">
        <p14:creationId xmlns:p14="http://schemas.microsoft.com/office/powerpoint/2010/main" val="3441496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5</a:t>
            </a:fld>
            <a:endParaRPr kumimoji="1" lang="zh-CN" altLang="en-US" dirty="0"/>
          </a:p>
        </p:txBody>
      </p:sp>
    </p:spTree>
    <p:extLst>
      <p:ext uri="{BB962C8B-B14F-4D97-AF65-F5344CB8AC3E}">
        <p14:creationId xmlns:p14="http://schemas.microsoft.com/office/powerpoint/2010/main" val="35594163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6</a:t>
            </a:fld>
            <a:endParaRPr kumimoji="1" lang="zh-CN" altLang="en-US" dirty="0"/>
          </a:p>
        </p:txBody>
      </p:sp>
    </p:spTree>
    <p:extLst>
      <p:ext uri="{BB962C8B-B14F-4D97-AF65-F5344CB8AC3E}">
        <p14:creationId xmlns:p14="http://schemas.microsoft.com/office/powerpoint/2010/main" val="266476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7</a:t>
            </a:fld>
            <a:endParaRPr kumimoji="1" lang="zh-CN" altLang="en-US" dirty="0"/>
          </a:p>
        </p:txBody>
      </p:sp>
    </p:spTree>
    <p:extLst>
      <p:ext uri="{BB962C8B-B14F-4D97-AF65-F5344CB8AC3E}">
        <p14:creationId xmlns:p14="http://schemas.microsoft.com/office/powerpoint/2010/main" val="31336308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8</a:t>
            </a:fld>
            <a:endParaRPr kumimoji="1" lang="zh-CN" altLang="en-US" dirty="0"/>
          </a:p>
        </p:txBody>
      </p:sp>
    </p:spTree>
    <p:extLst>
      <p:ext uri="{BB962C8B-B14F-4D97-AF65-F5344CB8AC3E}">
        <p14:creationId xmlns:p14="http://schemas.microsoft.com/office/powerpoint/2010/main" val="3507390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a:t>
            </a:fld>
            <a:endParaRPr kumimoji="1" lang="zh-CN" altLang="en-US" dirty="0"/>
          </a:p>
        </p:txBody>
      </p:sp>
    </p:spTree>
    <p:extLst>
      <p:ext uri="{BB962C8B-B14F-4D97-AF65-F5344CB8AC3E}">
        <p14:creationId xmlns:p14="http://schemas.microsoft.com/office/powerpoint/2010/main" val="8652460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a:t>
            </a:fld>
            <a:endParaRPr kumimoji="1" lang="zh-CN" altLang="en-US" dirty="0"/>
          </a:p>
        </p:txBody>
      </p:sp>
    </p:spTree>
    <p:extLst>
      <p:ext uri="{BB962C8B-B14F-4D97-AF65-F5344CB8AC3E}">
        <p14:creationId xmlns:p14="http://schemas.microsoft.com/office/powerpoint/2010/main" val="20722634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11</a:t>
            </a:fld>
            <a:endParaRPr kumimoji="1" lang="zh-CN" altLang="en-US" dirty="0"/>
          </a:p>
        </p:txBody>
      </p:sp>
    </p:spTree>
    <p:extLst>
      <p:ext uri="{BB962C8B-B14F-4D97-AF65-F5344CB8AC3E}">
        <p14:creationId xmlns:p14="http://schemas.microsoft.com/office/powerpoint/2010/main" val="3879579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12</a:t>
            </a:fld>
            <a:endParaRPr kumimoji="1" lang="zh-CN" altLang="en-US" dirty="0"/>
          </a:p>
        </p:txBody>
      </p:sp>
    </p:spTree>
    <p:extLst>
      <p:ext uri="{BB962C8B-B14F-4D97-AF65-F5344CB8AC3E}">
        <p14:creationId xmlns:p14="http://schemas.microsoft.com/office/powerpoint/2010/main" val="1008794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13</a:t>
            </a:fld>
            <a:endParaRPr kumimoji="1" lang="zh-CN" altLang="en-US" dirty="0"/>
          </a:p>
        </p:txBody>
      </p:sp>
    </p:spTree>
    <p:extLst>
      <p:ext uri="{BB962C8B-B14F-4D97-AF65-F5344CB8AC3E}">
        <p14:creationId xmlns:p14="http://schemas.microsoft.com/office/powerpoint/2010/main" val="129699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14</a:t>
            </a:fld>
            <a:endParaRPr kumimoji="1" lang="zh-CN" altLang="en-US" dirty="0"/>
          </a:p>
        </p:txBody>
      </p:sp>
    </p:spTree>
    <p:extLst>
      <p:ext uri="{BB962C8B-B14F-4D97-AF65-F5344CB8AC3E}">
        <p14:creationId xmlns:p14="http://schemas.microsoft.com/office/powerpoint/2010/main" val="1076364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15</a:t>
            </a:fld>
            <a:endParaRPr kumimoji="1" lang="zh-CN" altLang="en-US" dirty="0"/>
          </a:p>
        </p:txBody>
      </p:sp>
    </p:spTree>
    <p:extLst>
      <p:ext uri="{BB962C8B-B14F-4D97-AF65-F5344CB8AC3E}">
        <p14:creationId xmlns:p14="http://schemas.microsoft.com/office/powerpoint/2010/main" val="3577170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16</a:t>
            </a:fld>
            <a:endParaRPr kumimoji="1" lang="zh-CN" altLang="en-US" dirty="0"/>
          </a:p>
        </p:txBody>
      </p:sp>
    </p:spTree>
    <p:extLst>
      <p:ext uri="{BB962C8B-B14F-4D97-AF65-F5344CB8AC3E}">
        <p14:creationId xmlns:p14="http://schemas.microsoft.com/office/powerpoint/2010/main" val="3517235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17</a:t>
            </a:fld>
            <a:endParaRPr kumimoji="1" lang="zh-CN" altLang="en-US" dirty="0"/>
          </a:p>
        </p:txBody>
      </p:sp>
    </p:spTree>
    <p:extLst>
      <p:ext uri="{BB962C8B-B14F-4D97-AF65-F5344CB8AC3E}">
        <p14:creationId xmlns:p14="http://schemas.microsoft.com/office/powerpoint/2010/main" val="8977293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18</a:t>
            </a:fld>
            <a:endParaRPr kumimoji="1" lang="zh-CN" altLang="en-US" dirty="0"/>
          </a:p>
        </p:txBody>
      </p:sp>
    </p:spTree>
    <p:extLst>
      <p:ext uri="{BB962C8B-B14F-4D97-AF65-F5344CB8AC3E}">
        <p14:creationId xmlns:p14="http://schemas.microsoft.com/office/powerpoint/2010/main" val="9803862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19</a:t>
            </a:fld>
            <a:endParaRPr kumimoji="1" lang="zh-CN" altLang="en-US" dirty="0"/>
          </a:p>
        </p:txBody>
      </p:sp>
    </p:spTree>
    <p:extLst>
      <p:ext uri="{BB962C8B-B14F-4D97-AF65-F5344CB8AC3E}">
        <p14:creationId xmlns:p14="http://schemas.microsoft.com/office/powerpoint/2010/main" val="20338367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20</a:t>
            </a:fld>
            <a:endParaRPr kumimoji="1" lang="zh-CN" altLang="en-US" dirty="0"/>
          </a:p>
        </p:txBody>
      </p:sp>
    </p:spTree>
    <p:extLst>
      <p:ext uri="{BB962C8B-B14F-4D97-AF65-F5344CB8AC3E}">
        <p14:creationId xmlns:p14="http://schemas.microsoft.com/office/powerpoint/2010/main" val="6919491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21</a:t>
            </a:fld>
            <a:endParaRPr kumimoji="1" lang="zh-CN" altLang="en-US" dirty="0"/>
          </a:p>
        </p:txBody>
      </p:sp>
    </p:spTree>
    <p:extLst>
      <p:ext uri="{BB962C8B-B14F-4D97-AF65-F5344CB8AC3E}">
        <p14:creationId xmlns:p14="http://schemas.microsoft.com/office/powerpoint/2010/main" val="41841276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22</a:t>
            </a:fld>
            <a:endParaRPr kumimoji="1" lang="zh-CN" altLang="en-US" dirty="0"/>
          </a:p>
        </p:txBody>
      </p:sp>
    </p:spTree>
    <p:extLst>
      <p:ext uri="{BB962C8B-B14F-4D97-AF65-F5344CB8AC3E}">
        <p14:creationId xmlns:p14="http://schemas.microsoft.com/office/powerpoint/2010/main" val="28931982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23</a:t>
            </a:fld>
            <a:endParaRPr kumimoji="1" lang="zh-CN" altLang="en-US" dirty="0"/>
          </a:p>
        </p:txBody>
      </p:sp>
    </p:spTree>
    <p:extLst>
      <p:ext uri="{BB962C8B-B14F-4D97-AF65-F5344CB8AC3E}">
        <p14:creationId xmlns:p14="http://schemas.microsoft.com/office/powerpoint/2010/main" val="31647388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24</a:t>
            </a:fld>
            <a:endParaRPr kumimoji="1" lang="zh-CN" altLang="en-US" dirty="0"/>
          </a:p>
        </p:txBody>
      </p:sp>
    </p:spTree>
    <p:extLst>
      <p:ext uri="{BB962C8B-B14F-4D97-AF65-F5344CB8AC3E}">
        <p14:creationId xmlns:p14="http://schemas.microsoft.com/office/powerpoint/2010/main" val="39278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25</a:t>
            </a:fld>
            <a:endParaRPr kumimoji="1" lang="zh-CN" altLang="en-US" dirty="0"/>
          </a:p>
        </p:txBody>
      </p:sp>
    </p:spTree>
    <p:extLst>
      <p:ext uri="{BB962C8B-B14F-4D97-AF65-F5344CB8AC3E}">
        <p14:creationId xmlns:p14="http://schemas.microsoft.com/office/powerpoint/2010/main" val="36268224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26</a:t>
            </a:fld>
            <a:endParaRPr kumimoji="1" lang="zh-CN" altLang="en-US" dirty="0"/>
          </a:p>
        </p:txBody>
      </p:sp>
    </p:spTree>
    <p:extLst>
      <p:ext uri="{BB962C8B-B14F-4D97-AF65-F5344CB8AC3E}">
        <p14:creationId xmlns:p14="http://schemas.microsoft.com/office/powerpoint/2010/main" val="15963122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27</a:t>
            </a:fld>
            <a:endParaRPr kumimoji="1" lang="zh-CN" altLang="en-US" dirty="0"/>
          </a:p>
        </p:txBody>
      </p:sp>
    </p:spTree>
    <p:extLst>
      <p:ext uri="{BB962C8B-B14F-4D97-AF65-F5344CB8AC3E}">
        <p14:creationId xmlns:p14="http://schemas.microsoft.com/office/powerpoint/2010/main" val="18376873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28</a:t>
            </a:fld>
            <a:endParaRPr kumimoji="1" lang="zh-CN" altLang="en-US" dirty="0"/>
          </a:p>
        </p:txBody>
      </p:sp>
    </p:spTree>
    <p:extLst>
      <p:ext uri="{BB962C8B-B14F-4D97-AF65-F5344CB8AC3E}">
        <p14:creationId xmlns:p14="http://schemas.microsoft.com/office/powerpoint/2010/main" val="42822609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29</a:t>
            </a:fld>
            <a:endParaRPr kumimoji="1" lang="zh-CN" altLang="en-US" dirty="0"/>
          </a:p>
        </p:txBody>
      </p:sp>
    </p:spTree>
    <p:extLst>
      <p:ext uri="{BB962C8B-B14F-4D97-AF65-F5344CB8AC3E}">
        <p14:creationId xmlns:p14="http://schemas.microsoft.com/office/powerpoint/2010/main" val="32944348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30</a:t>
            </a:fld>
            <a:endParaRPr kumimoji="1" lang="zh-CN" altLang="en-US" dirty="0"/>
          </a:p>
        </p:txBody>
      </p:sp>
    </p:spTree>
    <p:extLst>
      <p:ext uri="{BB962C8B-B14F-4D97-AF65-F5344CB8AC3E}">
        <p14:creationId xmlns:p14="http://schemas.microsoft.com/office/powerpoint/2010/main" val="275969033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31</a:t>
            </a:fld>
            <a:endParaRPr kumimoji="1" lang="zh-CN" altLang="en-US" dirty="0"/>
          </a:p>
        </p:txBody>
      </p:sp>
    </p:spTree>
    <p:extLst>
      <p:ext uri="{BB962C8B-B14F-4D97-AF65-F5344CB8AC3E}">
        <p14:creationId xmlns:p14="http://schemas.microsoft.com/office/powerpoint/2010/main" val="627627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32</a:t>
            </a:fld>
            <a:endParaRPr kumimoji="1" lang="zh-CN" altLang="en-US" dirty="0"/>
          </a:p>
        </p:txBody>
      </p:sp>
    </p:spTree>
    <p:extLst>
      <p:ext uri="{BB962C8B-B14F-4D97-AF65-F5344CB8AC3E}">
        <p14:creationId xmlns:p14="http://schemas.microsoft.com/office/powerpoint/2010/main" val="21863140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33</a:t>
            </a:fld>
            <a:endParaRPr kumimoji="1" lang="zh-CN" altLang="en-US" dirty="0"/>
          </a:p>
        </p:txBody>
      </p:sp>
    </p:spTree>
    <p:extLst>
      <p:ext uri="{BB962C8B-B14F-4D97-AF65-F5344CB8AC3E}">
        <p14:creationId xmlns:p14="http://schemas.microsoft.com/office/powerpoint/2010/main" val="39484848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2199564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0984653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5933785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614972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38</a:t>
            </a:fld>
            <a:endParaRPr kumimoji="1" lang="zh-CN" altLang="en-US" dirty="0"/>
          </a:p>
        </p:txBody>
      </p:sp>
    </p:spTree>
    <p:extLst>
      <p:ext uri="{BB962C8B-B14F-4D97-AF65-F5344CB8AC3E}">
        <p14:creationId xmlns:p14="http://schemas.microsoft.com/office/powerpoint/2010/main" val="184156647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588466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608636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1678543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133173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31220420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253490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829001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31621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24542439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50780402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54853514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619968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905982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4568079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663868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257402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130242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787837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2996841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84823695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503345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4398426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0809157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50151547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4628910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317270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04382625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6545466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629888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0385393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4336135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當一個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執行後，</a:t>
            </a:r>
            <a:r>
              <a:rPr kumimoji="1" lang="en-US" altLang="zh-CN" sz="12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RET</a:t>
            </a:r>
            <a:r>
              <a:rPr kumimoji="1" lang="zh-CN" altLang="en-US" sz="12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將使棧頂地址複製給</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，使其指向下一個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，幷且彈棧，而後執行下一個</a:t>
            </a:r>
            <a:r>
              <a:rPr kumimoji="1" lang="en-US" altLang="zh-CN" sz="12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919405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013109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116653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6710991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549946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0974785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21975149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ASLR</a:t>
            </a:r>
            <a:r>
              <a:rPr lang="zh-CN" altLang="en-US" dirty="0"/>
              <a:t>必定無法隨機化代碼段，否則進程在執行開始時無法找到第一條指令</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768627037"/>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625872143"/>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0703907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755520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85049412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79458654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263509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40554544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1254974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398436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49979907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2047668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95</a:t>
            </a:fld>
            <a:endParaRPr kumimoji="1" lang="zh-CN" altLang="en-US" dirty="0"/>
          </a:p>
        </p:txBody>
      </p:sp>
    </p:spTree>
    <p:extLst>
      <p:ext uri="{BB962C8B-B14F-4D97-AF65-F5344CB8AC3E}">
        <p14:creationId xmlns:p14="http://schemas.microsoft.com/office/powerpoint/2010/main" val="374731372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96</a:t>
            </a:fld>
            <a:endParaRPr kumimoji="1" lang="zh-CN" altLang="en-US" dirty="0"/>
          </a:p>
        </p:txBody>
      </p:sp>
    </p:spTree>
    <p:extLst>
      <p:ext uri="{BB962C8B-B14F-4D97-AF65-F5344CB8AC3E}">
        <p14:creationId xmlns:p14="http://schemas.microsoft.com/office/powerpoint/2010/main" val="85399213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97</a:t>
            </a:fld>
            <a:endParaRPr kumimoji="1" lang="zh-CN" altLang="en-US" dirty="0"/>
          </a:p>
        </p:txBody>
      </p:sp>
    </p:spTree>
    <p:extLst>
      <p:ext uri="{BB962C8B-B14F-4D97-AF65-F5344CB8AC3E}">
        <p14:creationId xmlns:p14="http://schemas.microsoft.com/office/powerpoint/2010/main" val="1482279729"/>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98</a:t>
            </a:fld>
            <a:endParaRPr kumimoji="1" lang="zh-CN" altLang="en-US" dirty="0"/>
          </a:p>
        </p:txBody>
      </p:sp>
    </p:spTree>
    <p:extLst>
      <p:ext uri="{BB962C8B-B14F-4D97-AF65-F5344CB8AC3E}">
        <p14:creationId xmlns:p14="http://schemas.microsoft.com/office/powerpoint/2010/main" val="386448497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99</a:t>
            </a:fld>
            <a:endParaRPr kumimoji="1" lang="zh-CN" altLang="en-US" dirty="0"/>
          </a:p>
        </p:txBody>
      </p:sp>
    </p:spTree>
    <p:extLst>
      <p:ext uri="{BB962C8B-B14F-4D97-AF65-F5344CB8AC3E}">
        <p14:creationId xmlns:p14="http://schemas.microsoft.com/office/powerpoint/2010/main" val="140991731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101</a:t>
            </a:fld>
            <a:endParaRPr kumimoji="1" lang="zh-CN" altLang="en-US" dirty="0"/>
          </a:p>
        </p:txBody>
      </p:sp>
    </p:spTree>
    <p:extLst>
      <p:ext uri="{BB962C8B-B14F-4D97-AF65-F5344CB8AC3E}">
        <p14:creationId xmlns:p14="http://schemas.microsoft.com/office/powerpoint/2010/main" val="44496864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103</a:t>
            </a:fld>
            <a:endParaRPr kumimoji="1" lang="zh-CN" altLang="en-US" dirty="0"/>
          </a:p>
        </p:txBody>
      </p:sp>
    </p:spTree>
    <p:extLst>
      <p:ext uri="{BB962C8B-B14F-4D97-AF65-F5344CB8AC3E}">
        <p14:creationId xmlns:p14="http://schemas.microsoft.com/office/powerpoint/2010/main" val="296161557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104</a:t>
            </a:fld>
            <a:endParaRPr kumimoji="1" lang="zh-CN" altLang="en-US" dirty="0"/>
          </a:p>
        </p:txBody>
      </p:sp>
    </p:spTree>
    <p:extLst>
      <p:ext uri="{BB962C8B-B14F-4D97-AF65-F5344CB8AC3E}">
        <p14:creationId xmlns:p14="http://schemas.microsoft.com/office/powerpoint/2010/main" val="420251950"/>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105</a:t>
            </a:fld>
            <a:endParaRPr kumimoji="1" lang="zh-CN" altLang="en-US" dirty="0"/>
          </a:p>
        </p:txBody>
      </p:sp>
    </p:spTree>
    <p:extLst>
      <p:ext uri="{BB962C8B-B14F-4D97-AF65-F5344CB8AC3E}">
        <p14:creationId xmlns:p14="http://schemas.microsoft.com/office/powerpoint/2010/main" val="258545413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905F7E-8FCD-B247-8658-9B89ABB1145E}" type="slidenum">
              <a:rPr kumimoji="1" lang="zh-CN" altLang="en-US" smtClean="0"/>
              <a:t>106</a:t>
            </a:fld>
            <a:endParaRPr kumimoji="1" lang="zh-CN" altLang="en-US" dirty="0"/>
          </a:p>
        </p:txBody>
      </p:sp>
    </p:spTree>
    <p:extLst>
      <p:ext uri="{BB962C8B-B14F-4D97-AF65-F5344CB8AC3E}">
        <p14:creationId xmlns:p14="http://schemas.microsoft.com/office/powerpoint/2010/main" val="4132914956"/>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757382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96555462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這裏需要一個內存堆噴射的圖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6105173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這裏需要一個內存堆噴射的圖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78169925"/>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這裏需要一個內存堆噴射的圖</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85262422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60940512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109041325"/>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3910851848"/>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E5D65D-9C02-4EE1-B031-3CCDB4FC7314}"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zh-CN" altLang="en-US" sz="1200" b="0" i="0" u="none" strike="noStrike" kern="1200" cap="none" spc="0" normalizeH="0" baseline="0" noProof="0" dirty="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11285740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hyperlink" Target="http://www.rapidbbs.cn/" TargetMode="Externa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dirty="0"/>
          </a:p>
        </p:txBody>
      </p:sp>
      <p:sp>
        <p:nvSpPr>
          <p:cNvPr id="6" name="幻灯片编号占位符 5"/>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pic>
        <p:nvPicPr>
          <p:cNvPr id="7" name="Picture 3">
            <a:extLst>
              <a:ext uri="{FF2B5EF4-FFF2-40B4-BE49-F238E27FC236}">
                <a16:creationId xmlns:a16="http://schemas.microsoft.com/office/drawing/2014/main" id="{8701AEBF-09C4-C741-96AF-304327DD7E0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rot="200809">
            <a:off x="-1000989" y="985646"/>
            <a:ext cx="5222654" cy="4902864"/>
          </a:xfrm>
          <a:custGeom>
            <a:avLst/>
            <a:gdLst>
              <a:gd name="connsiteX0" fmla="*/ 2269800 w 4539600"/>
              <a:gd name="connsiteY0" fmla="*/ 0 h 4539600"/>
              <a:gd name="connsiteX1" fmla="*/ 4539600 w 4539600"/>
              <a:gd name="connsiteY1" fmla="*/ 2269800 h 4539600"/>
              <a:gd name="connsiteX2" fmla="*/ 2269800 w 4539600"/>
              <a:gd name="connsiteY2" fmla="*/ 4539600 h 4539600"/>
              <a:gd name="connsiteX3" fmla="*/ 0 w 4539600"/>
              <a:gd name="connsiteY3" fmla="*/ 2269800 h 4539600"/>
            </a:gdLst>
            <a:ahLst/>
            <a:cxnLst>
              <a:cxn ang="0">
                <a:pos x="connsiteX0" y="connsiteY0"/>
              </a:cxn>
              <a:cxn ang="0">
                <a:pos x="connsiteX1" y="connsiteY1"/>
              </a:cxn>
              <a:cxn ang="0">
                <a:pos x="connsiteX2" y="connsiteY2"/>
              </a:cxn>
              <a:cxn ang="0">
                <a:pos x="connsiteX3" y="connsiteY3"/>
              </a:cxn>
            </a:cxnLst>
            <a:rect l="l" t="t" r="r" b="b"/>
            <a:pathLst>
              <a:path w="4539600" h="4539600">
                <a:moveTo>
                  <a:pt x="2269800" y="0"/>
                </a:moveTo>
                <a:lnTo>
                  <a:pt x="4539600" y="2269800"/>
                </a:lnTo>
                <a:lnTo>
                  <a:pt x="2269800" y="4539600"/>
                </a:lnTo>
                <a:lnTo>
                  <a:pt x="0" y="2269800"/>
                </a:lnTo>
                <a:close/>
              </a:path>
            </a:pathLst>
          </a:custGeom>
          <a:extLst>
            <a:ext uri="{909E8E84-426E-40DD-AFC4-6F175D3DCCD1}">
              <a14:hiddenFill xmlns:a14="http://schemas.microsoft.com/office/drawing/2010/main">
                <a:solidFill>
                  <a:srgbClr val="FFFFFF"/>
                </a:solidFill>
              </a14:hiddenFill>
            </a:ext>
          </a:extLst>
        </p:spPr>
      </p:pic>
      <p:grpSp>
        <p:nvGrpSpPr>
          <p:cNvPr id="8" name="组合 7">
            <a:extLst>
              <a:ext uri="{FF2B5EF4-FFF2-40B4-BE49-F238E27FC236}">
                <a16:creationId xmlns:a16="http://schemas.microsoft.com/office/drawing/2014/main" id="{7776BA29-5CFB-B84B-A2AE-F96E9EEAE045}"/>
              </a:ext>
            </a:extLst>
          </p:cNvPr>
          <p:cNvGrpSpPr/>
          <p:nvPr userDrawn="1"/>
        </p:nvGrpSpPr>
        <p:grpSpPr>
          <a:xfrm>
            <a:off x="888315" y="540054"/>
            <a:ext cx="3150285" cy="5950445"/>
            <a:chOff x="1588749" y="425295"/>
            <a:chExt cx="3150285" cy="5950445"/>
          </a:xfrm>
        </p:grpSpPr>
        <p:sp>
          <p:nvSpPr>
            <p:cNvPr id="9" name="菱形 8">
              <a:extLst>
                <a:ext uri="{FF2B5EF4-FFF2-40B4-BE49-F238E27FC236}">
                  <a16:creationId xmlns:a16="http://schemas.microsoft.com/office/drawing/2014/main" id="{C853B4BA-32B3-8144-A14F-82C62C32E953}"/>
                </a:ext>
              </a:extLst>
            </p:cNvPr>
            <p:cNvSpPr/>
            <p:nvPr/>
          </p:nvSpPr>
          <p:spPr>
            <a:xfrm rot="389191">
              <a:off x="1588749" y="425295"/>
              <a:ext cx="940532" cy="940532"/>
            </a:xfrm>
            <a:prstGeom prst="diamond">
              <a:avLst/>
            </a:prstGeom>
            <a:solidFill>
              <a:srgbClr val="313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菱形 9">
              <a:extLst>
                <a:ext uri="{FF2B5EF4-FFF2-40B4-BE49-F238E27FC236}">
                  <a16:creationId xmlns:a16="http://schemas.microsoft.com/office/drawing/2014/main" id="{745DA62C-8358-7341-B112-8F65A69388C1}"/>
                </a:ext>
              </a:extLst>
            </p:cNvPr>
            <p:cNvSpPr/>
            <p:nvPr/>
          </p:nvSpPr>
          <p:spPr>
            <a:xfrm rot="370329">
              <a:off x="2109520" y="5435986"/>
              <a:ext cx="939754" cy="939754"/>
            </a:xfrm>
            <a:prstGeom prst="diamond">
              <a:avLst/>
            </a:prstGeom>
            <a:solidFill>
              <a:srgbClr val="313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菱形 10">
              <a:extLst>
                <a:ext uri="{FF2B5EF4-FFF2-40B4-BE49-F238E27FC236}">
                  <a16:creationId xmlns:a16="http://schemas.microsoft.com/office/drawing/2014/main" id="{A317110C-8B69-C84C-A85B-1CA65A7A4BCE}"/>
                </a:ext>
              </a:extLst>
            </p:cNvPr>
            <p:cNvSpPr/>
            <p:nvPr/>
          </p:nvSpPr>
          <p:spPr>
            <a:xfrm>
              <a:off x="3799280" y="1667909"/>
              <a:ext cx="939754" cy="939754"/>
            </a:xfrm>
            <a:prstGeom prst="diamond">
              <a:avLst/>
            </a:prstGeom>
            <a:solidFill>
              <a:srgbClr val="3138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菱形 11">
            <a:extLst>
              <a:ext uri="{FF2B5EF4-FFF2-40B4-BE49-F238E27FC236}">
                <a16:creationId xmlns:a16="http://schemas.microsoft.com/office/drawing/2014/main" id="{AC18EAB1-FCFA-7B46-AB63-1926F6903AAE}"/>
              </a:ext>
            </a:extLst>
          </p:cNvPr>
          <p:cNvSpPr/>
          <p:nvPr userDrawn="1"/>
        </p:nvSpPr>
        <p:spPr>
          <a:xfrm>
            <a:off x="2817056" y="2266217"/>
            <a:ext cx="2760787" cy="2553498"/>
          </a:xfrm>
          <a:prstGeom prst="diamond">
            <a:avLst/>
          </a:prstGeom>
          <a:solidFill>
            <a:srgbClr val="313869">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8">
            <a:extLst>
              <a:ext uri="{FF2B5EF4-FFF2-40B4-BE49-F238E27FC236}">
                <a16:creationId xmlns:a16="http://schemas.microsoft.com/office/drawing/2014/main" id="{D33B868C-E549-5E4F-B938-8716E80FD2BE}"/>
              </a:ext>
            </a:extLst>
          </p:cNvPr>
          <p:cNvSpPr/>
          <p:nvPr userDrawn="1"/>
        </p:nvSpPr>
        <p:spPr>
          <a:xfrm>
            <a:off x="4378816" y="2252545"/>
            <a:ext cx="7813184" cy="2553498"/>
          </a:xfrm>
          <a:custGeom>
            <a:avLst/>
            <a:gdLst>
              <a:gd name="connsiteX0" fmla="*/ 0 w 7114684"/>
              <a:gd name="connsiteY0" fmla="*/ 0 h 2553498"/>
              <a:gd name="connsiteX1" fmla="*/ 7114684 w 7114684"/>
              <a:gd name="connsiteY1" fmla="*/ 0 h 2553498"/>
              <a:gd name="connsiteX2" fmla="*/ 7114684 w 7114684"/>
              <a:gd name="connsiteY2" fmla="*/ 2553498 h 2553498"/>
              <a:gd name="connsiteX3" fmla="*/ 0 w 7114684"/>
              <a:gd name="connsiteY3" fmla="*/ 2553498 h 2553498"/>
              <a:gd name="connsiteX4" fmla="*/ 1276749 w 7114684"/>
              <a:gd name="connsiteY4" fmla="*/ 1276749 h 2553498"/>
              <a:gd name="connsiteX5" fmla="*/ 0 w 7114684"/>
              <a:gd name="connsiteY5" fmla="*/ 0 h 255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684" h="2553498">
                <a:moveTo>
                  <a:pt x="0" y="0"/>
                </a:moveTo>
                <a:lnTo>
                  <a:pt x="7114684" y="0"/>
                </a:lnTo>
                <a:lnTo>
                  <a:pt x="7114684" y="2553498"/>
                </a:lnTo>
                <a:lnTo>
                  <a:pt x="0" y="2553498"/>
                </a:lnTo>
                <a:lnTo>
                  <a:pt x="1276749" y="1276749"/>
                </a:lnTo>
                <a:lnTo>
                  <a:pt x="0" y="0"/>
                </a:lnTo>
                <a:close/>
              </a:path>
            </a:pathLst>
          </a:custGeom>
          <a:solidFill>
            <a:srgbClr val="31386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rgbClr val="1C2C3B"/>
              </a:solidFill>
            </a:endParaRPr>
          </a:p>
        </p:txBody>
      </p:sp>
      <p:pic>
        <p:nvPicPr>
          <p:cNvPr id="18" name="图片 17">
            <a:extLst>
              <a:ext uri="{FF2B5EF4-FFF2-40B4-BE49-F238E27FC236}">
                <a16:creationId xmlns:a16="http://schemas.microsoft.com/office/drawing/2014/main" id="{C830F1A9-D4D3-0343-A213-CF422B0269B7}"/>
              </a:ext>
            </a:extLst>
          </p:cNvPr>
          <p:cNvPicPr>
            <a:picLocks noChangeAspect="1"/>
          </p:cNvPicPr>
          <p:nvPr userDrawn="1"/>
        </p:nvPicPr>
        <p:blipFill>
          <a:blip r:embed="rId3"/>
          <a:stretch>
            <a:fillRect/>
          </a:stretch>
        </p:blipFill>
        <p:spPr>
          <a:xfrm>
            <a:off x="10655869" y="157863"/>
            <a:ext cx="1339521" cy="1359033"/>
          </a:xfrm>
          <a:prstGeom prst="rect">
            <a:avLst/>
          </a:prstGeom>
          <a:noFill/>
          <a:ln>
            <a:noFill/>
          </a:ln>
          <a:effectLst>
            <a:reflection blurRad="6350" stA="50000" endA="300" endPos="38500" dist="50800" dir="5400000" sy="-100000" algn="bl" rotWithShape="0"/>
          </a:effectLst>
        </p:spPr>
      </p:pic>
      <p:sp>
        <p:nvSpPr>
          <p:cNvPr id="2" name="标题 1"/>
          <p:cNvSpPr>
            <a:spLocks noGrp="1"/>
          </p:cNvSpPr>
          <p:nvPr>
            <p:ph type="ctrTitle"/>
          </p:nvPr>
        </p:nvSpPr>
        <p:spPr>
          <a:xfrm>
            <a:off x="5561802" y="2549893"/>
            <a:ext cx="6648689" cy="1034618"/>
          </a:xfrm>
        </p:spPr>
        <p:txBody>
          <a:bodyPr anchor="b">
            <a:normAutofit/>
          </a:bodyPr>
          <a:lstStyle>
            <a:lvl1pPr algn="ctr">
              <a:defRPr sz="4800" b="1">
                <a:solidFill>
                  <a:schemeClr val="bg1"/>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a:t>
            </a:r>
          </a:p>
        </p:txBody>
      </p:sp>
      <p:sp>
        <p:nvSpPr>
          <p:cNvPr id="3" name="副标题 2"/>
          <p:cNvSpPr>
            <a:spLocks noGrp="1"/>
          </p:cNvSpPr>
          <p:nvPr>
            <p:ph type="subTitle" idx="1" hasCustomPrompt="1"/>
          </p:nvPr>
        </p:nvSpPr>
        <p:spPr>
          <a:xfrm>
            <a:off x="7356567" y="4108693"/>
            <a:ext cx="4415664" cy="549238"/>
          </a:xfrm>
        </p:spPr>
        <p:txBody>
          <a:bodyPr>
            <a:normAutofit/>
          </a:bodyPr>
          <a:lstStyle>
            <a:lvl1pPr marL="0" indent="0" algn="ctr">
              <a:buNone/>
              <a:defRPr sz="2000">
                <a:solidFill>
                  <a:schemeClr val="bg1"/>
                </a:solidFill>
                <a:latin typeface="Microsoft YaHei" panose="020B0503020204020204" pitchFamily="34" charset="-122"/>
                <a:ea typeface="Microsoft YaHe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答辩人：</a:t>
            </a:r>
            <a:r>
              <a:rPr kumimoji="1" lang="en-US" altLang="zh-CN" dirty="0"/>
              <a:t>xxx</a:t>
            </a:r>
            <a:r>
              <a:rPr kumimoji="1" lang="zh-CN" altLang="en-US" dirty="0"/>
              <a:t>              导师：</a:t>
            </a:r>
            <a:r>
              <a:rPr kumimoji="1" lang="en-US" altLang="zh-CN" dirty="0"/>
              <a:t>xxx</a:t>
            </a:r>
            <a:endParaRPr kumimoji="1" lang="zh-CN" altLang="en-US" dirty="0"/>
          </a:p>
        </p:txBody>
      </p:sp>
      <p:sp>
        <p:nvSpPr>
          <p:cNvPr id="19" name="文本框 18">
            <a:extLst>
              <a:ext uri="{FF2B5EF4-FFF2-40B4-BE49-F238E27FC236}">
                <a16:creationId xmlns:a16="http://schemas.microsoft.com/office/drawing/2014/main" id="{96F6690F-F18D-5E41-AE64-4A52A43B27CD}"/>
              </a:ext>
            </a:extLst>
          </p:cNvPr>
          <p:cNvSpPr txBox="1"/>
          <p:nvPr userDrawn="1"/>
        </p:nvSpPr>
        <p:spPr>
          <a:xfrm>
            <a:off x="4780547" y="5390147"/>
            <a:ext cx="184731" cy="369332"/>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2619778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21794" y="211230"/>
            <a:ext cx="10056285" cy="725403"/>
          </a:xfrm>
        </p:spPr>
        <p:txBody>
          <a:bodyPr/>
          <a:lstStyle>
            <a:lvl1pPr>
              <a:defRPr b="1">
                <a:solidFill>
                  <a:srgbClr val="293C52"/>
                </a:solidFill>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内容占位符 2"/>
          <p:cNvSpPr>
            <a:spLocks noGrp="1"/>
          </p:cNvSpPr>
          <p:nvPr>
            <p:ph idx="1"/>
          </p:nvPr>
        </p:nvSpPr>
        <p:spPr>
          <a:xfrm>
            <a:off x="1008754" y="1174198"/>
            <a:ext cx="10345046" cy="5002765"/>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
        <p:nvSpPr>
          <p:cNvPr id="15" name="矩形 14">
            <a:extLst>
              <a:ext uri="{FF2B5EF4-FFF2-40B4-BE49-F238E27FC236}">
                <a16:creationId xmlns:a16="http://schemas.microsoft.com/office/drawing/2014/main" id="{34EE257F-3C81-AD4A-8B75-6B7B9DD8EB34}"/>
              </a:ext>
            </a:extLst>
          </p:cNvPr>
          <p:cNvSpPr/>
          <p:nvPr userDrawn="1"/>
        </p:nvSpPr>
        <p:spPr bwMode="auto">
          <a:xfrm>
            <a:off x="330199" y="336367"/>
            <a:ext cx="432000" cy="432000"/>
          </a:xfrm>
          <a:prstGeom prst="rect">
            <a:avLst/>
          </a:prstGeom>
          <a:noFill/>
          <a:ln>
            <a:solidFill>
              <a:srgbClr val="2A3D52"/>
            </a:solidFill>
          </a:ln>
        </p:spPr>
        <p:txBody>
          <a:bodyPr vert="horz" wrap="square" lIns="91440" tIns="45720" rIns="91440" bIns="45720" numCol="1" rtlCol="0"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Light"/>
            </a:endParaRPr>
          </a:p>
        </p:txBody>
      </p:sp>
      <p:sp>
        <p:nvSpPr>
          <p:cNvPr id="16" name="矩形 15">
            <a:extLst>
              <a:ext uri="{FF2B5EF4-FFF2-40B4-BE49-F238E27FC236}">
                <a16:creationId xmlns:a16="http://schemas.microsoft.com/office/drawing/2014/main" id="{CF66E518-8A5D-3344-8A75-6DE263FAC03F}"/>
              </a:ext>
            </a:extLst>
          </p:cNvPr>
          <p:cNvSpPr/>
          <p:nvPr userDrawn="1"/>
        </p:nvSpPr>
        <p:spPr bwMode="auto">
          <a:xfrm>
            <a:off x="580957" y="573932"/>
            <a:ext cx="288000" cy="288000"/>
          </a:xfrm>
          <a:prstGeom prst="rect">
            <a:avLst/>
          </a:prstGeom>
          <a:solidFill>
            <a:srgbClr val="2A3D52"/>
          </a:solidFill>
          <a:ln>
            <a:noFill/>
          </a:ln>
        </p:spPr>
        <p:txBody>
          <a:bodyPr vert="horz" wrap="square" lIns="91440" tIns="45720" rIns="91440" bIns="45720" numCol="1" rtlCol="0" anchor="t" anchorCtr="0" compatLnSpc="1"/>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a:ea typeface="微软雅黑 Light"/>
            </a:endParaRPr>
          </a:p>
        </p:txBody>
      </p:sp>
      <p:cxnSp>
        <p:nvCxnSpPr>
          <p:cNvPr id="17" name="直接连接符 24">
            <a:extLst>
              <a:ext uri="{FF2B5EF4-FFF2-40B4-BE49-F238E27FC236}">
                <a16:creationId xmlns:a16="http://schemas.microsoft.com/office/drawing/2014/main" id="{3CD2249B-1EEB-6049-974E-B73CA64BD71E}"/>
              </a:ext>
            </a:extLst>
          </p:cNvPr>
          <p:cNvCxnSpPr>
            <a:cxnSpLocks/>
          </p:cNvCxnSpPr>
          <p:nvPr userDrawn="1"/>
        </p:nvCxnSpPr>
        <p:spPr>
          <a:xfrm flipV="1">
            <a:off x="1008754" y="861932"/>
            <a:ext cx="11024212" cy="3830"/>
          </a:xfrm>
          <a:prstGeom prst="line">
            <a:avLst/>
          </a:prstGeom>
          <a:noFill/>
          <a:ln w="12700" cap="flat" cmpd="sng" algn="ctr">
            <a:solidFill>
              <a:srgbClr val="2A3D52"/>
            </a:solidFill>
            <a:prstDash val="solid"/>
            <a:miter lim="800000"/>
          </a:ln>
          <a:effectLst/>
        </p:spPr>
      </p:cxnSp>
      <p:pic>
        <p:nvPicPr>
          <p:cNvPr id="19" name="图片 18">
            <a:extLst>
              <a:ext uri="{FF2B5EF4-FFF2-40B4-BE49-F238E27FC236}">
                <a16:creationId xmlns:a16="http://schemas.microsoft.com/office/drawing/2014/main" id="{404037B5-5BDE-2846-A730-56A8F09E66CD}"/>
              </a:ext>
            </a:extLst>
          </p:cNvPr>
          <p:cNvPicPr>
            <a:picLocks noChangeAspect="1"/>
          </p:cNvPicPr>
          <p:nvPr userDrawn="1"/>
        </p:nvPicPr>
        <p:blipFill>
          <a:blip r:embed="rId2"/>
          <a:stretch>
            <a:fillRect/>
          </a:stretch>
        </p:blipFill>
        <p:spPr>
          <a:xfrm>
            <a:off x="11335035" y="112195"/>
            <a:ext cx="697931" cy="708097"/>
          </a:xfrm>
          <a:prstGeom prst="rect">
            <a:avLst/>
          </a:prstGeom>
          <a:noFill/>
          <a:ln>
            <a:noFill/>
          </a:ln>
          <a:effectLst>
            <a:reflection blurRad="6350" stA="50000" endA="300" endPos="38500" dist="50800" dir="5400000" sy="-100000" algn="bl" rotWithShape="0"/>
          </a:effectLst>
        </p:spPr>
      </p:pic>
    </p:spTree>
    <p:extLst>
      <p:ext uri="{BB962C8B-B14F-4D97-AF65-F5344CB8AC3E}">
        <p14:creationId xmlns:p14="http://schemas.microsoft.com/office/powerpoint/2010/main" val="497743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16867978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2915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p:cNvSpPr>
            <a:spLocks noGrp="1"/>
          </p:cNvSpPr>
          <p:nvPr>
            <p:ph type="dt" sz="half" idx="10"/>
          </p:nvPr>
        </p:nvSpPr>
        <p:spPr/>
        <p:txBody>
          <a:bodyPr/>
          <a:lstStyle/>
          <a:p>
            <a:endParaRPr kumimoji="1" lang="zh-CN" altLang="en-US"/>
          </a:p>
        </p:txBody>
      </p:sp>
      <p:sp>
        <p:nvSpPr>
          <p:cNvPr id="8" name="页脚占位符 7"/>
          <p:cNvSpPr>
            <a:spLocks noGrp="1"/>
          </p:cNvSpPr>
          <p:nvPr>
            <p:ph type="ftr" sz="quarter" idx="11"/>
          </p:nvPr>
        </p:nvSpPr>
        <p:spPr/>
        <p:txBody>
          <a:bodyPr/>
          <a:lstStyle/>
          <a:p>
            <a:endParaRPr kumimoji="1" lang="zh-CN" altLang="en-US"/>
          </a:p>
        </p:txBody>
      </p:sp>
      <p:sp>
        <p:nvSpPr>
          <p:cNvPr id="9" name="幻灯片编号占位符 8"/>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4051459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幻灯片编号占位符 4"/>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197585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0233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1978825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p:cNvSpPr>
            <a:spLocks noGrp="1"/>
          </p:cNvSpPr>
          <p:nvPr>
            <p:ph type="dt" sz="half" idx="10"/>
          </p:nvPr>
        </p:nvSpPr>
        <p:spPr/>
        <p:txBody>
          <a:bodyPr/>
          <a:lstStyle/>
          <a:p>
            <a:endParaRPr kumimoji="1" lang="zh-CN" altLang="en-US"/>
          </a:p>
        </p:txBody>
      </p:sp>
      <p:sp>
        <p:nvSpPr>
          <p:cNvPr id="6" name="页脚占位符 5"/>
          <p:cNvSpPr>
            <a:spLocks noGrp="1"/>
          </p:cNvSpPr>
          <p:nvPr>
            <p:ph type="ftr" sz="quarter" idx="11"/>
          </p:nvPr>
        </p:nvSpPr>
        <p:spPr/>
        <p:txBody>
          <a:bodyPr/>
          <a:lstStyle/>
          <a:p>
            <a:endParaRPr kumimoji="1" lang="zh-CN" altLang="en-US"/>
          </a:p>
        </p:txBody>
      </p:sp>
      <p:sp>
        <p:nvSpPr>
          <p:cNvPr id="7" name="幻灯片编号占位符 6"/>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2151584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竖排文本占位符 2"/>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2953141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本占位符 2"/>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10"/>
          </p:nvPr>
        </p:nvSpPr>
        <p:spPr/>
        <p:txBody>
          <a:bodyPr/>
          <a:lstStyle/>
          <a:p>
            <a:endParaRPr kumimoji="1" lang="zh-CN" altLang="en-US"/>
          </a:p>
        </p:txBody>
      </p:sp>
      <p:sp>
        <p:nvSpPr>
          <p:cNvPr id="5" name="页脚占位符 4"/>
          <p:cNvSpPr>
            <a:spLocks noGrp="1"/>
          </p:cNvSpPr>
          <p:nvPr>
            <p:ph type="ftr" sz="quarter" idx="11"/>
          </p:nvPr>
        </p:nvSpPr>
        <p:spPr/>
        <p:txBody>
          <a:bodyPr/>
          <a:lstStyle/>
          <a:p>
            <a:endParaRPr kumimoji="1" lang="zh-CN" altLang="en-US"/>
          </a:p>
        </p:txBody>
      </p:sp>
      <p:sp>
        <p:nvSpPr>
          <p:cNvPr id="6" name="幻灯片编号占位符 5"/>
          <p:cNvSpPr>
            <a:spLocks noGrp="1"/>
          </p:cNvSpPr>
          <p:nvPr>
            <p:ph type="sldNum" sz="quarter" idx="12"/>
          </p:nvPr>
        </p:nvSpPr>
        <p:spPr/>
        <p:txBody>
          <a:body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13271260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1131376" y="136525"/>
            <a:ext cx="10222424" cy="725407"/>
          </a:xfrm>
        </p:spPr>
        <p:txBody>
          <a:bodyPr>
            <a:normAutofit/>
          </a:bodyPr>
          <a:lstStyle>
            <a:lvl1pPr>
              <a:defRPr sz="4000" b="1">
                <a:solidFill>
                  <a:srgbClr val="C00000"/>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cxnSp>
        <p:nvCxnSpPr>
          <p:cNvPr id="6" name="直接连接符 24">
            <a:extLst>
              <a:ext uri="{FF2B5EF4-FFF2-40B4-BE49-F238E27FC236}">
                <a16:creationId xmlns:a16="http://schemas.microsoft.com/office/drawing/2014/main" id="{C1942919-E2AA-9144-9848-EF0AF6C4B994}"/>
              </a:ext>
            </a:extLst>
          </p:cNvPr>
          <p:cNvCxnSpPr>
            <a:cxnSpLocks/>
          </p:cNvCxnSpPr>
          <p:nvPr userDrawn="1"/>
        </p:nvCxnSpPr>
        <p:spPr>
          <a:xfrm>
            <a:off x="923477" y="801349"/>
            <a:ext cx="10910714" cy="0"/>
          </a:xfrm>
          <a:prstGeom prst="line">
            <a:avLst/>
          </a:prstGeom>
          <a:noFill/>
          <a:ln w="12700" cap="flat" cmpd="sng" algn="ctr">
            <a:solidFill>
              <a:schemeClr val="bg1">
                <a:lumMod val="65000"/>
              </a:schemeClr>
            </a:solidFill>
            <a:prstDash val="solid"/>
            <a:miter lim="800000"/>
          </a:ln>
          <a:effectLst/>
        </p:spPr>
      </p:cxnSp>
      <p:pic>
        <p:nvPicPr>
          <p:cNvPr id="5" name="图片 4">
            <a:extLst>
              <a:ext uri="{FF2B5EF4-FFF2-40B4-BE49-F238E27FC236}">
                <a16:creationId xmlns:a16="http://schemas.microsoft.com/office/drawing/2014/main" id="{89F9235F-C345-4FC9-84C9-32710002EA05}"/>
              </a:ext>
            </a:extLst>
          </p:cNvPr>
          <p:cNvPicPr>
            <a:picLocks noChangeAspect="1"/>
          </p:cNvPicPr>
          <p:nvPr userDrawn="1"/>
        </p:nvPicPr>
        <p:blipFill>
          <a:blip r:embed="rId2"/>
          <a:stretch>
            <a:fillRect/>
          </a:stretch>
        </p:blipFill>
        <p:spPr>
          <a:xfrm>
            <a:off x="222609" y="103943"/>
            <a:ext cx="700867" cy="697406"/>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02463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31924235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
        <p:nvSpPr>
          <p:cNvPr id="2" name="矩形 1">
            <a:hlinkClick r:id="rId2"/>
          </p:cNvPr>
          <p:cNvSpPr/>
          <p:nvPr userDrawn="1"/>
        </p:nvSpPr>
        <p:spPr bwMode="auto">
          <a:xfrm>
            <a:off x="0" y="0"/>
            <a:ext cx="12192000" cy="6858000"/>
          </a:xfrm>
          <a:prstGeom prst="rect">
            <a:avLst/>
          </a:prstGeom>
          <a:noFill/>
          <a:ln>
            <a:solidFill>
              <a:schemeClr val="tx1">
                <a:alpha val="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noAutofit/>
          </a:bodyPr>
          <a:lstStyle/>
          <a:p>
            <a:pPr algn="ctr" defTabSz="913765" fontAlgn="base">
              <a:lnSpc>
                <a:spcPct val="90000"/>
              </a:lnSpc>
              <a:spcBef>
                <a:spcPct val="0"/>
              </a:spcBef>
              <a:spcAft>
                <a:spcPct val="0"/>
              </a:spcAft>
            </a:pPr>
            <a:endParaRPr lang="zh-CN" altLang="en-US" sz="2355" dirty="0" err="1">
              <a:gradFill>
                <a:gsLst>
                  <a:gs pos="0">
                    <a:srgbClr val="FFFFFF"/>
                  </a:gs>
                  <a:gs pos="100000">
                    <a:srgbClr val="FFFFFF"/>
                  </a:gs>
                </a:gsLst>
                <a:lin ang="5400000" scaled="0"/>
              </a:gradFill>
              <a:latin typeface="华文细黑" panose="02010600040101010101" pitchFamily="2" charset="-122"/>
              <a:ea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15499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A04EDDA3-E2AB-904A-BB85-4CC282BF9173}"/>
              </a:ext>
            </a:extLst>
          </p:cNvPr>
          <p:cNvSpPr/>
          <p:nvPr userDrawn="1"/>
        </p:nvSpPr>
        <p:spPr>
          <a:xfrm>
            <a:off x="3503376" y="1836078"/>
            <a:ext cx="8688625" cy="2796320"/>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sp>
        <p:nvSpPr>
          <p:cNvPr id="14" name="矩形 13">
            <a:extLst>
              <a:ext uri="{FF2B5EF4-FFF2-40B4-BE49-F238E27FC236}">
                <a16:creationId xmlns:a16="http://schemas.microsoft.com/office/drawing/2014/main" id="{F51A0AAD-98DC-B248-9BA5-E40C2E1B5E7E}"/>
              </a:ext>
            </a:extLst>
          </p:cNvPr>
          <p:cNvSpPr/>
          <p:nvPr userDrawn="1"/>
        </p:nvSpPr>
        <p:spPr>
          <a:xfrm>
            <a:off x="4815704" y="1481206"/>
            <a:ext cx="7376296" cy="354873"/>
          </a:xfrm>
          <a:prstGeom prst="rect">
            <a:avLst/>
          </a:prstGeom>
          <a:pattFill prst="ltUpDiag">
            <a:fgClr>
              <a:schemeClr val="accent1"/>
            </a:fgClr>
            <a:bgClr>
              <a:srgbClr val="E8E8E6"/>
            </a:bgClr>
          </a:patt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Arial"/>
              <a:ea typeface="微软雅黑 Light"/>
              <a:cs typeface="+mn-cs"/>
            </a:endParaRPr>
          </a:p>
        </p:txBody>
      </p:sp>
      <p:pic>
        <p:nvPicPr>
          <p:cNvPr id="15" name="Picture 3">
            <a:extLst>
              <a:ext uri="{FF2B5EF4-FFF2-40B4-BE49-F238E27FC236}">
                <a16:creationId xmlns:a16="http://schemas.microsoft.com/office/drawing/2014/main" id="{9FD70DE7-28CD-E242-B63B-A52835CB736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1088" y="1488810"/>
            <a:ext cx="4835696" cy="3143587"/>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p:cNvSpPr>
            <a:spLocks noGrp="1"/>
          </p:cNvSpPr>
          <p:nvPr>
            <p:ph type="ctrTitle"/>
          </p:nvPr>
        </p:nvSpPr>
        <p:spPr>
          <a:xfrm>
            <a:off x="5087756" y="2486887"/>
            <a:ext cx="6923430" cy="1470025"/>
          </a:xfrm>
          <a:prstGeom prst="rect">
            <a:avLst/>
          </a:prstGeom>
        </p:spPr>
        <p:txBody>
          <a:bodyPr/>
          <a:lstStyle>
            <a:lvl1pPr>
              <a:defRPr b="1">
                <a:solidFill>
                  <a:schemeClr val="bg1"/>
                </a:solidFill>
                <a:latin typeface="Microsoft YaHei" panose="020B0503020204020204" pitchFamily="34" charset="-122"/>
                <a:ea typeface="Microsoft YaHei" panose="020B0503020204020204" pitchFamily="34" charset="-122"/>
              </a:defRPr>
            </a:lvl1pPr>
          </a:lstStyle>
          <a:p>
            <a:r>
              <a:rPr lang="zh-CN" altLang="en-US" dirty="0"/>
              <a:t>单击此处编辑母版标题样式</a:t>
            </a:r>
          </a:p>
        </p:txBody>
      </p:sp>
      <p:sp>
        <p:nvSpPr>
          <p:cNvPr id="3" name="副标题 2"/>
          <p:cNvSpPr>
            <a:spLocks noGrp="1"/>
          </p:cNvSpPr>
          <p:nvPr>
            <p:ph type="subTitle" idx="1"/>
          </p:nvPr>
        </p:nvSpPr>
        <p:spPr>
          <a:xfrm>
            <a:off x="5258597" y="5194231"/>
            <a:ext cx="6581747" cy="365125"/>
          </a:xfrm>
          <a:prstGeom prst="rect">
            <a:avLst/>
          </a:prstGeom>
        </p:spPr>
        <p:txBody>
          <a:bodyPr>
            <a:normAutofit/>
          </a:bodyPr>
          <a:lstStyle>
            <a:lvl1pPr marL="0" indent="0" algn="ctr">
              <a:buNone/>
              <a:defRPr sz="2400">
                <a:solidFill>
                  <a:schemeClr val="tx1">
                    <a:lumMod val="85000"/>
                    <a:lumOff val="15000"/>
                  </a:schemeClr>
                </a:solidFill>
                <a:latin typeface="Microsoft YaHei" panose="020B0503020204020204" pitchFamily="34" charset="-122"/>
                <a:ea typeface="Microsoft YaHei" panose="020B0503020204020204" pitchFamily="34" charset="-122"/>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8800" indent="0" algn="ctr">
              <a:buNone/>
              <a:defRPr>
                <a:solidFill>
                  <a:schemeClr val="tx1">
                    <a:tint val="75000"/>
                  </a:schemeClr>
                </a:solidFill>
              </a:defRPr>
            </a:lvl4pPr>
            <a:lvl5pPr marL="2438400" indent="0" algn="ctr">
              <a:buNone/>
              <a:defRPr>
                <a:solidFill>
                  <a:schemeClr val="tx1">
                    <a:tint val="75000"/>
                  </a:schemeClr>
                </a:solidFill>
              </a:defRPr>
            </a:lvl5pPr>
            <a:lvl6pPr marL="3048000" indent="0" algn="ctr">
              <a:buNone/>
              <a:defRPr>
                <a:solidFill>
                  <a:schemeClr val="tx1">
                    <a:tint val="75000"/>
                  </a:schemeClr>
                </a:solidFill>
              </a:defRPr>
            </a:lvl6pPr>
            <a:lvl7pPr marL="3657600" indent="0" algn="ctr">
              <a:buNone/>
              <a:defRPr>
                <a:solidFill>
                  <a:schemeClr val="tx1">
                    <a:tint val="75000"/>
                  </a:schemeClr>
                </a:solidFill>
              </a:defRPr>
            </a:lvl7pPr>
            <a:lvl8pPr marL="4267200" indent="0" algn="ctr">
              <a:buNone/>
              <a:defRPr>
                <a:solidFill>
                  <a:schemeClr val="tx1">
                    <a:tint val="75000"/>
                  </a:schemeClr>
                </a:solidFill>
              </a:defRPr>
            </a:lvl8pPr>
            <a:lvl9pPr marL="48768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23CBF4B4-C160-4F55-AC7D-1C8FF5BA05FA}" type="slidenum">
              <a:rPr lang="zh-CN" altLang="en-US" smtClean="0"/>
              <a:t>‹N°›</a:t>
            </a:fld>
            <a:endParaRPr lang="zh-CN" altLang="en-US" dirty="0"/>
          </a:p>
        </p:txBody>
      </p:sp>
    </p:spTree>
    <p:extLst>
      <p:ext uri="{BB962C8B-B14F-4D97-AF65-F5344CB8AC3E}">
        <p14:creationId xmlns:p14="http://schemas.microsoft.com/office/powerpoint/2010/main" val="1381568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幻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CB9236-0709-C744-BD9C-274AF93F5245}" type="slidenum">
              <a:rPr kumimoji="1" lang="zh-CN" altLang="en-US" smtClean="0"/>
              <a:t>‹N°›</a:t>
            </a:fld>
            <a:endParaRPr kumimoji="1" lang="zh-CN" altLang="en-US" dirty="0"/>
          </a:p>
        </p:txBody>
      </p:sp>
    </p:spTree>
    <p:extLst>
      <p:ext uri="{BB962C8B-B14F-4D97-AF65-F5344CB8AC3E}">
        <p14:creationId xmlns:p14="http://schemas.microsoft.com/office/powerpoint/2010/main" val="24042741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5CE2E0-6DDF-4FAE-9DBA-F1C48BF5C133}" type="slidenum">
              <a:rPr lang="zh-CN" altLang="en-US" smtClean="0"/>
              <a:t>‹N°›</a:t>
            </a:fld>
            <a:endParaRPr lang="zh-CN" altLang="en-US" dirty="0"/>
          </a:p>
        </p:txBody>
      </p:sp>
    </p:spTree>
    <p:extLst>
      <p:ext uri="{BB962C8B-B14F-4D97-AF65-F5344CB8AC3E}">
        <p14:creationId xmlns:p14="http://schemas.microsoft.com/office/powerpoint/2010/main" val="6212044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7" r:id="rId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hyperlink" Target="http://www.cs.berkeley.edu/~nweaver/sapphire/sql-before.gif"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hyperlink" Target="http://www.cs.berkeley.edu/~nweaver/sapphire/sql-after.gif" TargetMode="External"/><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2.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AF59D9-F20D-8045-B8AD-C6513098F6BA}"/>
              </a:ext>
            </a:extLst>
          </p:cNvPr>
          <p:cNvSpPr>
            <a:spLocks noGrp="1"/>
          </p:cNvSpPr>
          <p:nvPr>
            <p:ph type="ctrTitle"/>
          </p:nvPr>
        </p:nvSpPr>
        <p:spPr/>
        <p:txBody>
          <a:bodyPr/>
          <a:lstStyle/>
          <a:p>
            <a:pPr algn="ctr"/>
            <a:r>
              <a:rPr kumimoji="1" lang="zh-CN" altLang="en-US" dirty="0"/>
              <a:t>操作系統安全</a:t>
            </a:r>
          </a:p>
        </p:txBody>
      </p:sp>
      <p:sp>
        <p:nvSpPr>
          <p:cNvPr id="3" name="矩形 2"/>
          <p:cNvSpPr/>
          <p:nvPr/>
        </p:nvSpPr>
        <p:spPr>
          <a:xfrm>
            <a:off x="565266" y="169250"/>
            <a:ext cx="2108269"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1800" b="1" i="0" u="none" strike="noStrike" kern="1200" cap="none" spc="0" normalizeH="0" baseline="0" noProof="0" dirty="0">
                <a:ln>
                  <a:noFill/>
                </a:ln>
                <a:solidFill>
                  <a:srgbClr val="FFFFFF">
                    <a:lumMod val="50000"/>
                  </a:srgbClr>
                </a:solidFill>
                <a:effectLst/>
                <a:uLnTx/>
                <a:uFillTx/>
                <a:latin typeface="Arial"/>
                <a:ea typeface="微软雅黑 Light"/>
                <a:cs typeface="+mn-cs"/>
              </a:rPr>
              <a:t>網絡空間安全導論</a:t>
            </a:r>
            <a:endParaRPr kumimoji="0" lang="zh-CN" altLang="en-US" sz="1800" b="1" i="0" u="none" strike="noStrike" kern="1200" cap="none" spc="0" normalizeH="0" baseline="0" noProof="0" dirty="0">
              <a:ln>
                <a:noFill/>
              </a:ln>
              <a:solidFill>
                <a:srgbClr val="FFFFFF">
                  <a:lumMod val="50000"/>
                </a:srgbClr>
              </a:solidFill>
              <a:effectLst/>
              <a:uLnTx/>
              <a:uFillTx/>
              <a:latin typeface="Arial"/>
              <a:ea typeface="微软雅黑 Light"/>
              <a:cs typeface="+mn-cs"/>
            </a:endParaRPr>
          </a:p>
        </p:txBody>
      </p:sp>
      <p:pic>
        <p:nvPicPr>
          <p:cNvPr id="5" name="图片 4">
            <a:extLst>
              <a:ext uri="{FF2B5EF4-FFF2-40B4-BE49-F238E27FC236}">
                <a16:creationId xmlns:a16="http://schemas.microsoft.com/office/drawing/2014/main" id="{0FE6FCD0-FA89-B441-A733-B32B5C383245}"/>
              </a:ext>
            </a:extLst>
          </p:cNvPr>
          <p:cNvPicPr>
            <a:picLocks noChangeAspect="1"/>
          </p:cNvPicPr>
          <p:nvPr/>
        </p:nvPicPr>
        <p:blipFill>
          <a:blip r:embed="rId3"/>
          <a:stretch>
            <a:fillRect/>
          </a:stretch>
        </p:blipFill>
        <p:spPr>
          <a:xfrm>
            <a:off x="239235" y="191706"/>
            <a:ext cx="326031" cy="324421"/>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副标题 2">
            <a:extLst>
              <a:ext uri="{FF2B5EF4-FFF2-40B4-BE49-F238E27FC236}">
                <a16:creationId xmlns:a16="http://schemas.microsoft.com/office/drawing/2014/main" id="{3F199AB0-EB5A-66D9-029B-7075A52C013F}"/>
              </a:ext>
            </a:extLst>
          </p:cNvPr>
          <p:cNvSpPr txBox="1">
            <a:spLocks/>
          </p:cNvSpPr>
          <p:nvPr/>
        </p:nvSpPr>
        <p:spPr>
          <a:xfrm>
            <a:off x="4693328" y="5244602"/>
            <a:ext cx="2805343" cy="895851"/>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lumMod val="85000"/>
                    <a:lumOff val="15000"/>
                  </a:schemeClr>
                </a:solidFill>
                <a:latin typeface="Microsoft YaHei" panose="020B0503020204020204" pitchFamily="34" charset="-122"/>
                <a:ea typeface="Microsoft YaHei" panose="020B0503020204020204" pitchFamily="34" charset="-122"/>
                <a:cs typeface="+mn-cs"/>
              </a:defRPr>
            </a:lvl1pPr>
            <a:lvl2pPr marL="609600"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1219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828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2438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30480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36576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42672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48768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r>
              <a:rPr kumimoji="1" lang="zh-CN" altLang="en-CN" dirty="0">
                <a:solidFill>
                  <a:srgbClr val="000000">
                    <a:lumMod val="85000"/>
                    <a:lumOff val="15000"/>
                  </a:srgbClr>
                </a:solidFill>
              </a:rPr>
              <a:t>李</a:t>
            </a:r>
            <a:r>
              <a:rPr kumimoji="1" lang="zh-CN" altLang="en-US" dirty="0">
                <a:solidFill>
                  <a:srgbClr val="000000">
                    <a:lumMod val="85000"/>
                    <a:lumOff val="15000"/>
                  </a:srgbClr>
                </a:solidFill>
              </a:rPr>
              <a:t>琦</a:t>
            </a:r>
            <a:endParaRPr kumimoji="1" lang="en-US" altLang="zh-CN" dirty="0">
              <a:solidFill>
                <a:srgbClr val="000000">
                  <a:lumMod val="85000"/>
                  <a:lumOff val="15000"/>
                </a:srgbClr>
              </a:solidFill>
            </a:endParaRPr>
          </a:p>
          <a:p>
            <a:r>
              <a:rPr kumimoji="1" lang="zh-CN" altLang="en-US" dirty="0">
                <a:solidFill>
                  <a:srgbClr val="000000">
                    <a:lumMod val="85000"/>
                    <a:lumOff val="15000"/>
                  </a:srgbClr>
                </a:solidFill>
              </a:rPr>
              <a:t>清華大學網研院</a:t>
            </a:r>
          </a:p>
        </p:txBody>
      </p:sp>
    </p:spTree>
    <p:extLst>
      <p:ext uri="{BB962C8B-B14F-4D97-AF65-F5344CB8AC3E}">
        <p14:creationId xmlns:p14="http://schemas.microsoft.com/office/powerpoint/2010/main" val="400891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lang="en-US" altLang="zh-CN" dirty="0"/>
              <a:t>Slammer</a:t>
            </a:r>
            <a:r>
              <a:rPr lang="zh-CN" altLang="en-US" dirty="0"/>
              <a:t>蠕蟲</a:t>
            </a:r>
          </a:p>
        </p:txBody>
      </p:sp>
      <p:sp>
        <p:nvSpPr>
          <p:cNvPr id="3" name="Rectangle 2">
            <a:extLst>
              <a:ext uri="{FF2B5EF4-FFF2-40B4-BE49-F238E27FC236}">
                <a16:creationId xmlns:a16="http://schemas.microsoft.com/office/drawing/2014/main" id="{47C68EA0-A5AB-8343-AA9F-173B1093C755}"/>
              </a:ext>
            </a:extLst>
          </p:cNvPr>
          <p:cNvSpPr/>
          <p:nvPr/>
        </p:nvSpPr>
        <p:spPr>
          <a:xfrm>
            <a:off x="400755" y="971392"/>
            <a:ext cx="11390489" cy="1422890"/>
          </a:xfrm>
          <a:prstGeom prst="rect">
            <a:avLst/>
          </a:prstGeom>
        </p:spPr>
        <p:txBody>
          <a:bodyPr wrap="square">
            <a:spAutoFit/>
          </a:bodyPr>
          <a:lstStyle/>
          <a:p>
            <a:pPr algn="just">
              <a:lnSpc>
                <a:spcPct val="150000"/>
              </a:lnSpc>
              <a:spcAft>
                <a:spcPts val="600"/>
              </a:spcAft>
            </a:pPr>
            <a:r>
              <a:rPr lang="en-US" sz="2000" dirty="0">
                <a:solidFill>
                  <a:srgbClr val="333333"/>
                </a:solidFill>
                <a:latin typeface="Microsoft YaHei" panose="020B0503020204020204" pitchFamily="34" charset="-122"/>
                <a:ea typeface="Microsoft YaHei" panose="020B0503020204020204" pitchFamily="34" charset="-122"/>
              </a:rPr>
              <a:t>Slammer (2003</a:t>
            </a:r>
            <a:r>
              <a:rPr lang="zh-CN" altLang="en-US" sz="2000" dirty="0">
                <a:solidFill>
                  <a:srgbClr val="333333"/>
                </a:solidFill>
                <a:latin typeface="Microsoft YaHei" panose="020B0503020204020204" pitchFamily="34" charset="-122"/>
                <a:ea typeface="Microsoft YaHei" panose="020B0503020204020204" pitchFamily="34" charset="-122"/>
              </a:rPr>
              <a:t>年</a:t>
            </a:r>
            <a:r>
              <a:rPr lang="en-US" altLang="zh-C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是一款</a:t>
            </a:r>
            <a:r>
              <a:rPr lang="en-US" sz="2000" dirty="0">
                <a:solidFill>
                  <a:srgbClr val="333333"/>
                </a:solidFill>
                <a:latin typeface="Microsoft YaHei" panose="020B0503020204020204" pitchFamily="34" charset="-122"/>
                <a:ea typeface="Microsoft YaHei" panose="020B0503020204020204" pitchFamily="34" charset="-122"/>
              </a:rPr>
              <a:t>DDOS</a:t>
            </a:r>
            <a:r>
              <a:rPr lang="zh-CN" altLang="en-US" sz="2000" dirty="0">
                <a:solidFill>
                  <a:srgbClr val="333333"/>
                </a:solidFill>
                <a:latin typeface="Microsoft YaHei" panose="020B0503020204020204" pitchFamily="34" charset="-122"/>
                <a:ea typeface="Microsoft YaHei" panose="020B0503020204020204" pitchFamily="34" charset="-122"/>
              </a:rPr>
              <a:t>惡意程序</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采取分布式阻斷服務攻擊感染服務器</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它利用</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弱點采取阻斷服務攻擊</a:t>
            </a:r>
            <a:r>
              <a:rPr lang="en-US" altLang="zh-CN" sz="2000" dirty="0">
                <a:solidFill>
                  <a:srgbClr val="333333"/>
                </a:solidFill>
                <a:latin typeface="Microsoft YaHei" panose="020B0503020204020204" pitchFamily="34" charset="-122"/>
                <a:ea typeface="Microsoft YaHei" panose="020B0503020204020204" pitchFamily="34" charset="-122"/>
              </a:rPr>
              <a:t>1434</a:t>
            </a:r>
            <a:r>
              <a:rPr lang="zh-CN" altLang="en-US" sz="2000" dirty="0">
                <a:solidFill>
                  <a:srgbClr val="333333"/>
                </a:solidFill>
                <a:latin typeface="Microsoft YaHei" panose="020B0503020204020204" pitchFamily="34" charset="-122"/>
                <a:ea typeface="Microsoft YaHei" panose="020B0503020204020204" pitchFamily="34" charset="-122"/>
              </a:rPr>
              <a:t>端口幷在內存中感染</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通過被感染的</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再大量的散播阻斷服務攻擊與感染</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造成</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無法正常作業或宕機</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幷致使網絡擁塞</a:t>
            </a:r>
            <a:endParaRPr lang="en-CN" sz="2000" u="sng" dirty="0">
              <a:latin typeface="Microsoft YaHei" panose="020B0503020204020204" pitchFamily="34" charset="-122"/>
              <a:ea typeface="Microsoft YaHei" panose="020B0503020204020204" pitchFamily="34" charset="-122"/>
            </a:endParaRPr>
          </a:p>
        </p:txBody>
      </p:sp>
      <p:pic>
        <p:nvPicPr>
          <p:cNvPr id="4" name="Picture 3" descr="sql-before-small">
            <a:hlinkClick r:id="rId3"/>
            <a:extLst>
              <a:ext uri="{FF2B5EF4-FFF2-40B4-BE49-F238E27FC236}">
                <a16:creationId xmlns:a16="http://schemas.microsoft.com/office/drawing/2014/main" id="{896EB66B-4349-B741-B523-8FD2B9107C7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6432" y="2605970"/>
            <a:ext cx="73914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815B7EAD-069D-644E-9F20-FBE2EA55F8AE}"/>
              </a:ext>
            </a:extLst>
          </p:cNvPr>
          <p:cNvSpPr/>
          <p:nvPr/>
        </p:nvSpPr>
        <p:spPr>
          <a:xfrm>
            <a:off x="3790634" y="6352143"/>
            <a:ext cx="4903907" cy="369332"/>
          </a:xfrm>
          <a:prstGeom prst="rect">
            <a:avLst/>
          </a:prstGeom>
        </p:spPr>
        <p:txBody>
          <a:bodyPr wrap="none">
            <a:spAutoFit/>
          </a:bodyPr>
          <a:lstStyle/>
          <a:p>
            <a:r>
              <a:rPr lang="en-US" altLang="zh-CN" dirty="0">
                <a:ea typeface="宋体" panose="02010600030101010101" pitchFamily="2" charset="-122"/>
              </a:rPr>
              <a:t>05:29:00 UTC, January 25, 2003</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攻擊發生前</a:t>
            </a:r>
            <a:r>
              <a:rPr lang="en-US" altLang="zh-CN" dirty="0">
                <a:ea typeface="宋体" panose="02010600030101010101" pitchFamily="2" charset="-122"/>
              </a:rPr>
              <a:t>)</a:t>
            </a:r>
            <a:endParaRPr lang="en-CN" dirty="0"/>
          </a:p>
        </p:txBody>
      </p:sp>
      <p:sp>
        <p:nvSpPr>
          <p:cNvPr id="7" name="Slide Number Placeholder 7">
            <a:extLst>
              <a:ext uri="{FF2B5EF4-FFF2-40B4-BE49-F238E27FC236}">
                <a16:creationId xmlns:a16="http://schemas.microsoft.com/office/drawing/2014/main" id="{7D265E16-696A-9377-2D40-5BF0B910B07D}"/>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a:t>
            </a:fld>
            <a:endParaRPr lang="zh-CN" altLang="en-US" sz="1200" dirty="0">
              <a:solidFill>
                <a:schemeClr val="tx1">
                  <a:tint val="75000"/>
                </a:schemeClr>
              </a:solidFill>
            </a:endParaRPr>
          </a:p>
        </p:txBody>
      </p:sp>
    </p:spTree>
    <p:extLst>
      <p:ext uri="{BB962C8B-B14F-4D97-AF65-F5344CB8AC3E}">
        <p14:creationId xmlns:p14="http://schemas.microsoft.com/office/powerpoint/2010/main" val="167271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lang="en-US" altLang="zh-CN" dirty="0"/>
              <a:t>Slammer</a:t>
            </a:r>
            <a:r>
              <a:rPr lang="zh-CN" altLang="en-US" dirty="0"/>
              <a:t>蠕蟲</a:t>
            </a:r>
          </a:p>
        </p:txBody>
      </p:sp>
      <p:sp>
        <p:nvSpPr>
          <p:cNvPr id="3" name="Rectangle 2">
            <a:extLst>
              <a:ext uri="{FF2B5EF4-FFF2-40B4-BE49-F238E27FC236}">
                <a16:creationId xmlns:a16="http://schemas.microsoft.com/office/drawing/2014/main" id="{47C68EA0-A5AB-8343-AA9F-173B1093C755}"/>
              </a:ext>
            </a:extLst>
          </p:cNvPr>
          <p:cNvSpPr/>
          <p:nvPr/>
        </p:nvSpPr>
        <p:spPr>
          <a:xfrm>
            <a:off x="400755" y="971392"/>
            <a:ext cx="11390489" cy="1422890"/>
          </a:xfrm>
          <a:prstGeom prst="rect">
            <a:avLst/>
          </a:prstGeom>
        </p:spPr>
        <p:txBody>
          <a:bodyPr wrap="square">
            <a:spAutoFit/>
          </a:bodyPr>
          <a:lstStyle/>
          <a:p>
            <a:pPr algn="just">
              <a:lnSpc>
                <a:spcPct val="150000"/>
              </a:lnSpc>
              <a:spcAft>
                <a:spcPts val="600"/>
              </a:spcAft>
            </a:pPr>
            <a:r>
              <a:rPr lang="en-US" sz="2000" dirty="0">
                <a:solidFill>
                  <a:srgbClr val="333333"/>
                </a:solidFill>
                <a:latin typeface="Microsoft YaHei" panose="020B0503020204020204" pitchFamily="34" charset="-122"/>
                <a:ea typeface="Microsoft YaHei" panose="020B0503020204020204" pitchFamily="34" charset="-122"/>
              </a:rPr>
              <a:t>Slammer (2003</a:t>
            </a:r>
            <a:r>
              <a:rPr lang="zh-CN" altLang="en-US" sz="2000" dirty="0">
                <a:solidFill>
                  <a:srgbClr val="333333"/>
                </a:solidFill>
                <a:latin typeface="Microsoft YaHei" panose="020B0503020204020204" pitchFamily="34" charset="-122"/>
                <a:ea typeface="Microsoft YaHei" panose="020B0503020204020204" pitchFamily="34" charset="-122"/>
              </a:rPr>
              <a:t>年</a:t>
            </a:r>
            <a:r>
              <a:rPr lang="en-US" altLang="zh-CN" sz="2000" dirty="0">
                <a:solidFill>
                  <a:srgbClr val="333333"/>
                </a:solidFill>
                <a:latin typeface="Microsoft YaHei" panose="020B0503020204020204" pitchFamily="34" charset="-122"/>
                <a:ea typeface="Microsoft YaHei" panose="020B0503020204020204" pitchFamily="34" charset="-122"/>
              </a:rPr>
              <a:t>)</a:t>
            </a:r>
            <a:r>
              <a:rPr lang="zh-CN" altLang="en-US" sz="2000" dirty="0">
                <a:solidFill>
                  <a:srgbClr val="333333"/>
                </a:solidFill>
                <a:latin typeface="Microsoft YaHei" panose="020B0503020204020204" pitchFamily="34" charset="-122"/>
                <a:ea typeface="Microsoft YaHei" panose="020B0503020204020204" pitchFamily="34" charset="-122"/>
              </a:rPr>
              <a:t>是一款</a:t>
            </a:r>
            <a:r>
              <a:rPr lang="en-US" sz="2000" dirty="0">
                <a:solidFill>
                  <a:srgbClr val="333333"/>
                </a:solidFill>
                <a:latin typeface="Microsoft YaHei" panose="020B0503020204020204" pitchFamily="34" charset="-122"/>
                <a:ea typeface="Microsoft YaHei" panose="020B0503020204020204" pitchFamily="34" charset="-122"/>
              </a:rPr>
              <a:t>DDOS</a:t>
            </a:r>
            <a:r>
              <a:rPr lang="zh-CN" altLang="en-US" sz="2000" dirty="0">
                <a:solidFill>
                  <a:srgbClr val="333333"/>
                </a:solidFill>
                <a:latin typeface="Microsoft YaHei" panose="020B0503020204020204" pitchFamily="34" charset="-122"/>
                <a:ea typeface="Microsoft YaHei" panose="020B0503020204020204" pitchFamily="34" charset="-122"/>
              </a:rPr>
              <a:t>惡意程序</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采取分布式阻斷服務攻擊感染服務器</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它利用</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弱點采取阻斷服務攻擊</a:t>
            </a:r>
            <a:r>
              <a:rPr lang="en-US" altLang="zh-CN" sz="2000" dirty="0">
                <a:solidFill>
                  <a:srgbClr val="333333"/>
                </a:solidFill>
                <a:latin typeface="Microsoft YaHei" panose="020B0503020204020204" pitchFamily="34" charset="-122"/>
                <a:ea typeface="Microsoft YaHei" panose="020B0503020204020204" pitchFamily="34" charset="-122"/>
              </a:rPr>
              <a:t>1434</a:t>
            </a:r>
            <a:r>
              <a:rPr lang="zh-CN" altLang="en-US" sz="2000" dirty="0">
                <a:solidFill>
                  <a:srgbClr val="333333"/>
                </a:solidFill>
                <a:latin typeface="Microsoft YaHei" panose="020B0503020204020204" pitchFamily="34" charset="-122"/>
                <a:ea typeface="Microsoft YaHei" panose="020B0503020204020204" pitchFamily="34" charset="-122"/>
              </a:rPr>
              <a:t>端口幷在內存中感染</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通過被感染的</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再大量的散播阻斷服務攻擊與感染</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造成</a:t>
            </a:r>
            <a:r>
              <a:rPr lang="en-US" sz="2000" dirty="0">
                <a:solidFill>
                  <a:srgbClr val="333333"/>
                </a:solidFill>
                <a:latin typeface="Microsoft YaHei" panose="020B0503020204020204" pitchFamily="34" charset="-122"/>
                <a:ea typeface="Microsoft YaHei" panose="020B0503020204020204" pitchFamily="34" charset="-122"/>
              </a:rPr>
              <a:t>SQL Server </a:t>
            </a:r>
            <a:r>
              <a:rPr lang="zh-CN" altLang="en-US" sz="2000" dirty="0">
                <a:solidFill>
                  <a:srgbClr val="333333"/>
                </a:solidFill>
                <a:latin typeface="Microsoft YaHei" panose="020B0503020204020204" pitchFamily="34" charset="-122"/>
                <a:ea typeface="Microsoft YaHei" panose="020B0503020204020204" pitchFamily="34" charset="-122"/>
              </a:rPr>
              <a:t>無法正常作業或宕機</a:t>
            </a:r>
            <a:r>
              <a:rPr lang="en-US" altLang="zh-CN" sz="2000" dirty="0">
                <a:solidFill>
                  <a:srgbClr val="333333"/>
                </a:solidFill>
                <a:latin typeface="Microsoft YaHei" panose="020B0503020204020204" pitchFamily="34" charset="-122"/>
                <a:ea typeface="Microsoft YaHei" panose="020B0503020204020204" pitchFamily="34" charset="-122"/>
              </a:rPr>
              <a:t>, </a:t>
            </a:r>
            <a:r>
              <a:rPr lang="zh-CN" altLang="en-US" sz="2000" dirty="0">
                <a:solidFill>
                  <a:srgbClr val="333333"/>
                </a:solidFill>
                <a:latin typeface="Microsoft YaHei" panose="020B0503020204020204" pitchFamily="34" charset="-122"/>
                <a:ea typeface="Microsoft YaHei" panose="020B0503020204020204" pitchFamily="34" charset="-122"/>
              </a:rPr>
              <a:t>幷致使網絡擁塞</a:t>
            </a:r>
            <a:endParaRPr lang="en-CN" sz="2000" u="sng" dirty="0">
              <a:latin typeface="Microsoft YaHei" panose="020B0503020204020204" pitchFamily="34" charset="-122"/>
              <a:ea typeface="Microsoft YaHei" panose="020B0503020204020204" pitchFamily="34" charset="-122"/>
            </a:endParaRPr>
          </a:p>
        </p:txBody>
      </p:sp>
      <p:sp>
        <p:nvSpPr>
          <p:cNvPr id="5" name="Rectangle 4">
            <a:extLst>
              <a:ext uri="{FF2B5EF4-FFF2-40B4-BE49-F238E27FC236}">
                <a16:creationId xmlns:a16="http://schemas.microsoft.com/office/drawing/2014/main" id="{815B7EAD-069D-644E-9F20-FBE2EA55F8AE}"/>
              </a:ext>
            </a:extLst>
          </p:cNvPr>
          <p:cNvSpPr/>
          <p:nvPr/>
        </p:nvSpPr>
        <p:spPr>
          <a:xfrm>
            <a:off x="3790634" y="6352143"/>
            <a:ext cx="4903907" cy="369332"/>
          </a:xfrm>
          <a:prstGeom prst="rect">
            <a:avLst/>
          </a:prstGeom>
        </p:spPr>
        <p:txBody>
          <a:bodyPr wrap="none">
            <a:spAutoFit/>
          </a:bodyPr>
          <a:lstStyle/>
          <a:p>
            <a:r>
              <a:rPr lang="en-US" altLang="zh-CN" dirty="0">
                <a:ea typeface="宋体" panose="02010600030101010101" pitchFamily="2" charset="-122"/>
              </a:rPr>
              <a:t>06:00:00 UTC, January 25, 2003</a:t>
            </a:r>
            <a:r>
              <a:rPr lang="zh-CN" altLang="en-US" dirty="0">
                <a:ea typeface="宋体" panose="02010600030101010101" pitchFamily="2" charset="-122"/>
              </a:rPr>
              <a:t> </a:t>
            </a:r>
            <a:r>
              <a:rPr lang="en-US" altLang="zh-CN" dirty="0">
                <a:ea typeface="宋体" panose="02010600030101010101" pitchFamily="2" charset="-122"/>
              </a:rPr>
              <a:t>(</a:t>
            </a:r>
            <a:r>
              <a:rPr lang="zh-CN" altLang="en-US" dirty="0">
                <a:ea typeface="宋体" panose="02010600030101010101" pitchFamily="2" charset="-122"/>
              </a:rPr>
              <a:t>攻擊發生後</a:t>
            </a:r>
            <a:r>
              <a:rPr lang="en-US" altLang="zh-CN" dirty="0">
                <a:ea typeface="宋体" panose="02010600030101010101" pitchFamily="2" charset="-122"/>
              </a:rPr>
              <a:t>)</a:t>
            </a:r>
            <a:endParaRPr lang="en-CN" dirty="0"/>
          </a:p>
        </p:txBody>
      </p:sp>
      <p:pic>
        <p:nvPicPr>
          <p:cNvPr id="6" name="Picture 2" descr="sql-after-small">
            <a:hlinkClick r:id="rId3"/>
            <a:extLst>
              <a:ext uri="{FF2B5EF4-FFF2-40B4-BE49-F238E27FC236}">
                <a16:creationId xmlns:a16="http://schemas.microsoft.com/office/drawing/2014/main" id="{482C7E88-1F05-E245-AB6D-4B8C0E0DC8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3735" y="2611287"/>
            <a:ext cx="7391400" cy="36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7">
            <a:extLst>
              <a:ext uri="{FF2B5EF4-FFF2-40B4-BE49-F238E27FC236}">
                <a16:creationId xmlns:a16="http://schemas.microsoft.com/office/drawing/2014/main" id="{EBB0036B-3FDB-4822-B31E-25BAE463DE6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a:t>
            </a:fld>
            <a:endParaRPr lang="zh-CN" altLang="en-US" sz="1200" dirty="0">
              <a:solidFill>
                <a:schemeClr val="tx1">
                  <a:tint val="75000"/>
                </a:schemeClr>
              </a:solidFill>
            </a:endParaRPr>
          </a:p>
        </p:txBody>
      </p:sp>
      <p:pic>
        <p:nvPicPr>
          <p:cNvPr id="7" name="Picture 6">
            <a:extLst>
              <a:ext uri="{FF2B5EF4-FFF2-40B4-BE49-F238E27FC236}">
                <a16:creationId xmlns:a16="http://schemas.microsoft.com/office/drawing/2014/main" id="{F0E59203-298D-C13E-3815-5F5F3B790B6D}"/>
              </a:ext>
            </a:extLst>
          </p:cNvPr>
          <p:cNvPicPr>
            <a:picLocks noChangeAspect="1"/>
          </p:cNvPicPr>
          <p:nvPr/>
        </p:nvPicPr>
        <p:blipFill>
          <a:blip r:embed="rId5"/>
          <a:stretch>
            <a:fillRect/>
          </a:stretch>
        </p:blipFill>
        <p:spPr>
          <a:xfrm>
            <a:off x="2353735" y="5933369"/>
            <a:ext cx="7391400" cy="327898"/>
          </a:xfrm>
          <a:prstGeom prst="rect">
            <a:avLst/>
          </a:prstGeom>
        </p:spPr>
      </p:pic>
    </p:spTree>
    <p:extLst>
      <p:ext uri="{BB962C8B-B14F-4D97-AF65-F5344CB8AC3E}">
        <p14:creationId xmlns:p14="http://schemas.microsoft.com/office/powerpoint/2010/main" val="3868427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xit" presetSubtype="0" fill="hold" nodeType="withEffect">
                                  <p:stCondLst>
                                    <p:cond delay="0"/>
                                  </p:stCondLst>
                                  <p:childTnLst>
                                    <p:animEffect transition="out" filter="fade">
                                      <p:cBhvr>
                                        <p:cTn id="8" dur="500"/>
                                        <p:tgtEl>
                                          <p:spTgt spid="7"/>
                                        </p:tgtEl>
                                      </p:cBhvr>
                                    </p:animEffect>
                                    <p:set>
                                      <p:cBhvr>
                                        <p:cTn id="9"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C26147AF-E0B3-4341-AD82-A7E7A3FF4ACD}"/>
              </a:ext>
            </a:extLst>
          </p:cNvPr>
          <p:cNvSpPr>
            <a:spLocks/>
          </p:cNvSpPr>
          <p:nvPr/>
        </p:nvSpPr>
        <p:spPr bwMode="auto">
          <a:xfrm>
            <a:off x="523874" y="5130800"/>
            <a:ext cx="7947025" cy="85777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lang="zh-CN" altLang="en-US" dirty="0"/>
              <a:t>操作系統安全問題的開端</a:t>
            </a:r>
          </a:p>
        </p:txBody>
      </p:sp>
      <p:sp>
        <p:nvSpPr>
          <p:cNvPr id="4" name="文本框 14">
            <a:extLst>
              <a:ext uri="{FF2B5EF4-FFF2-40B4-BE49-F238E27FC236}">
                <a16:creationId xmlns:a16="http://schemas.microsoft.com/office/drawing/2014/main" id="{C87506C6-3DF9-45BB-AF92-42C43AD69199}"/>
              </a:ext>
            </a:extLst>
          </p:cNvPr>
          <p:cNvSpPr txBox="1"/>
          <p:nvPr/>
        </p:nvSpPr>
        <p:spPr>
          <a:xfrm>
            <a:off x="561976" y="1289935"/>
            <a:ext cx="7538270" cy="3743461"/>
          </a:xfrm>
          <a:prstGeom prst="rect">
            <a:avLst/>
          </a:prstGeom>
          <a:noFill/>
        </p:spPr>
        <p:txBody>
          <a:bodyPr wrap="square" rtlCol="0">
            <a:spAutoFit/>
          </a:bodyPr>
          <a:lstStyle/>
          <a:p>
            <a:pPr algn="just">
              <a:lnSpc>
                <a:spcPts val="3600"/>
              </a:lnSpc>
            </a:pPr>
            <a:r>
              <a:rPr lang="zh-CN" altLang="en-US" sz="2400" b="1" dirty="0">
                <a:solidFill>
                  <a:schemeClr val="bg2">
                    <a:lumMod val="10000"/>
                  </a:schemeClr>
                </a:solidFill>
                <a:latin typeface="Microsoft YaHei" panose="020B0503020204020204" pitchFamily="34" charset="-122"/>
                <a:ea typeface="Microsoft YaHei" panose="020B0503020204020204" pitchFamily="34" charset="-122"/>
              </a:rPr>
              <a:t>最早的計算機病毒誕生于 </a:t>
            </a:r>
            <a:r>
              <a:rPr lang="en-US" altLang="zh-CN" sz="2400" b="1" u="sng" dirty="0">
                <a:solidFill>
                  <a:schemeClr val="bg2">
                    <a:lumMod val="10000"/>
                  </a:schemeClr>
                </a:solidFill>
                <a:latin typeface="Microsoft YaHei" panose="020B0503020204020204" pitchFamily="34" charset="-122"/>
                <a:ea typeface="Microsoft YaHei" panose="020B0503020204020204" pitchFamily="34" charset="-122"/>
              </a:rPr>
              <a:t>1988</a:t>
            </a:r>
            <a:r>
              <a:rPr lang="zh-CN" altLang="en-US" sz="2400" b="1" u="sng" dirty="0">
                <a:solidFill>
                  <a:schemeClr val="bg2">
                    <a:lumMod val="10000"/>
                  </a:schemeClr>
                </a:solidFill>
                <a:latin typeface="Microsoft YaHei" panose="020B0503020204020204" pitchFamily="34" charset="-122"/>
                <a:ea typeface="Microsoft YaHei" panose="020B0503020204020204" pitchFamily="34" charset="-122"/>
              </a:rPr>
              <a:t>年</a:t>
            </a:r>
            <a:r>
              <a:rPr lang="en-US" altLang="zh-CN" sz="2400" b="1" u="sng" dirty="0">
                <a:solidFill>
                  <a:schemeClr val="bg2">
                    <a:lumMod val="10000"/>
                  </a:schemeClr>
                </a:solidFill>
                <a:latin typeface="Microsoft YaHei" panose="020B0503020204020204" pitchFamily="34" charset="-122"/>
                <a:ea typeface="Microsoft YaHei" panose="020B0503020204020204" pitchFamily="34" charset="-122"/>
              </a:rPr>
              <a:t>11</a:t>
            </a:r>
            <a:r>
              <a:rPr lang="zh-CN" altLang="en-US" sz="2400" b="1" u="sng" dirty="0">
                <a:solidFill>
                  <a:schemeClr val="bg2">
                    <a:lumMod val="10000"/>
                  </a:schemeClr>
                </a:solidFill>
                <a:latin typeface="Microsoft YaHei" panose="020B0503020204020204" pitchFamily="34" charset="-122"/>
                <a:ea typeface="Microsoft YaHei" panose="020B0503020204020204" pitchFamily="34" charset="-122"/>
              </a:rPr>
              <a:t>月</a:t>
            </a:r>
            <a:r>
              <a:rPr lang="en-US" altLang="zh-CN" sz="2400" b="1" u="sng" dirty="0">
                <a:solidFill>
                  <a:schemeClr val="bg2">
                    <a:lumMod val="10000"/>
                  </a:schemeClr>
                </a:solidFill>
                <a:latin typeface="Microsoft YaHei" panose="020B0503020204020204" pitchFamily="34" charset="-122"/>
                <a:ea typeface="Microsoft YaHei" panose="020B0503020204020204" pitchFamily="34" charset="-122"/>
              </a:rPr>
              <a:t>2</a:t>
            </a:r>
            <a:r>
              <a:rPr lang="zh-CN" altLang="en-US" sz="2400" b="1" u="sng" dirty="0">
                <a:solidFill>
                  <a:schemeClr val="bg2">
                    <a:lumMod val="10000"/>
                  </a:schemeClr>
                </a:solidFill>
                <a:latin typeface="Microsoft YaHei" panose="020B0503020204020204" pitchFamily="34" charset="-122"/>
                <a:ea typeface="Microsoft YaHei" panose="020B0503020204020204" pitchFamily="34" charset="-122"/>
              </a:rPr>
              <a:t>日</a:t>
            </a:r>
            <a:endParaRPr lang="en-US" altLang="zh-CN" sz="2400" b="1" u="sng" dirty="0">
              <a:solidFill>
                <a:schemeClr val="bg2">
                  <a:lumMod val="10000"/>
                </a:schemeClr>
              </a:solidFill>
              <a:latin typeface="Microsoft YaHei" panose="020B0503020204020204" pitchFamily="34" charset="-122"/>
              <a:ea typeface="Microsoft YaHei" panose="020B0503020204020204" pitchFamily="34" charset="-122"/>
            </a:endParaRPr>
          </a:p>
          <a:p>
            <a:pPr algn="just">
              <a:lnSpc>
                <a:spcPts val="3600"/>
              </a:lnSpc>
            </a:pP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marL="800100" lvl="1" indent="-342900" algn="just">
              <a:lnSpc>
                <a:spcPts val="3600"/>
              </a:lnSpc>
              <a:buFont typeface="Arial" panose="020B0604020202020204" pitchFamily="34" charset="0"/>
              <a:buChar char="•"/>
            </a:pP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由就讀于康奈爾大學的研究生</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Robert Tappan Morris</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從麻省理工學院的計算機系統上散播，這便是著名的莫裏斯蠕蟲病毒（</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Morris Worm</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a:t>
            </a: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marL="800100" lvl="1" indent="-342900" algn="just">
              <a:lnSpc>
                <a:spcPts val="3600"/>
              </a:lnSpc>
              <a:buFont typeface="Arial" panose="020B0604020202020204" pitchFamily="34" charset="0"/>
              <a:buChar char="•"/>
            </a:pP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marL="800100" lvl="1" indent="-342900" algn="just">
              <a:lnSpc>
                <a:spcPts val="3600"/>
              </a:lnSpc>
              <a:buFont typeface="Arial" panose="020B0604020202020204" pitchFamily="34" charset="0"/>
              <a:buChar char="•"/>
            </a:pP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這一病毒感染了</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6,000</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餘台</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UNIX</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主機</a:t>
            </a:r>
            <a:endParaRPr lang="en-US" altLang="zh-CN" sz="2400" dirty="0">
              <a:solidFill>
                <a:schemeClr val="bg2">
                  <a:lumMod val="10000"/>
                </a:schemeClr>
              </a:solidFill>
              <a:latin typeface="Microsoft YaHei" panose="020B0503020204020204" pitchFamily="34" charset="-122"/>
              <a:ea typeface="Microsoft YaHei" panose="020B0503020204020204" pitchFamily="34" charset="-122"/>
            </a:endParaRPr>
          </a:p>
          <a:p>
            <a:pPr lvl="1" algn="just">
              <a:lnSpc>
                <a:spcPts val="3600"/>
              </a:lnSpc>
            </a:pP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  （占當時主機總數的約</a:t>
            </a:r>
            <a:r>
              <a:rPr lang="en-US" altLang="zh-CN" sz="2400" dirty="0">
                <a:solidFill>
                  <a:schemeClr val="bg2">
                    <a:lumMod val="10000"/>
                  </a:schemeClr>
                </a:solidFill>
                <a:latin typeface="Microsoft YaHei" panose="020B0503020204020204" pitchFamily="34" charset="-122"/>
                <a:ea typeface="Microsoft YaHei" panose="020B0503020204020204" pitchFamily="34" charset="-122"/>
              </a:rPr>
              <a:t>10%</a:t>
            </a:r>
            <a:r>
              <a:rPr lang="zh-CN" altLang="en-US" sz="2400" dirty="0">
                <a:solidFill>
                  <a:schemeClr val="bg2">
                    <a:lumMod val="10000"/>
                  </a:schemeClr>
                </a:solidFill>
                <a:latin typeface="Microsoft YaHei" panose="020B0503020204020204" pitchFamily="34" charset="-122"/>
                <a:ea typeface="Microsoft YaHei" panose="020B0503020204020204" pitchFamily="34" charset="-122"/>
              </a:rPr>
              <a:t>）</a:t>
            </a:r>
            <a:endParaRPr lang="en-US" altLang="zh-CN" sz="2400" baseline="30000" dirty="0">
              <a:solidFill>
                <a:schemeClr val="bg2">
                  <a:lumMod val="10000"/>
                </a:schemeClr>
              </a:solidFill>
              <a:latin typeface="Microsoft YaHei" panose="020B0503020204020204" pitchFamily="34" charset="-122"/>
              <a:ea typeface="Microsoft YaHei" panose="020B0503020204020204" pitchFamily="34" charset="-122"/>
            </a:endParaRPr>
          </a:p>
        </p:txBody>
      </p:sp>
      <p:sp>
        <p:nvSpPr>
          <p:cNvPr id="6" name="文本框 14">
            <a:extLst>
              <a:ext uri="{FF2B5EF4-FFF2-40B4-BE49-F238E27FC236}">
                <a16:creationId xmlns:a16="http://schemas.microsoft.com/office/drawing/2014/main" id="{3A288764-487D-41AB-8A67-94E62C8F6248}"/>
              </a:ext>
            </a:extLst>
          </p:cNvPr>
          <p:cNvSpPr txBox="1"/>
          <p:nvPr/>
        </p:nvSpPr>
        <p:spPr>
          <a:xfrm>
            <a:off x="860810" y="5301147"/>
            <a:ext cx="8101300" cy="461665"/>
          </a:xfrm>
          <a:prstGeom prst="rect">
            <a:avLst/>
          </a:prstGeom>
          <a:noFill/>
        </p:spPr>
        <p:txBody>
          <a:bodyPr wrap="square" rtlCol="0">
            <a:spAutoFit/>
          </a:bodyPr>
          <a:lstStyle/>
          <a:p>
            <a:pPr algn="just"/>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其原理是操作系統的棧溢出漏洞（</a:t>
            </a:r>
            <a:r>
              <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Stack Overflow</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Picture 2">
            <a:extLst>
              <a:ext uri="{FF2B5EF4-FFF2-40B4-BE49-F238E27FC236}">
                <a16:creationId xmlns:a16="http://schemas.microsoft.com/office/drawing/2014/main" id="{067FADAE-B3E7-4E22-BC4B-80956E75C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8209" y="1494036"/>
            <a:ext cx="2921455" cy="3895273"/>
          </a:xfrm>
          <a:prstGeom prst="rect">
            <a:avLst/>
          </a:prstGeom>
          <a:noFill/>
          <a:extLst>
            <a:ext uri="{909E8E84-426E-40DD-AFC4-6F175D3DCCD1}">
              <a14:hiddenFill xmlns:a14="http://schemas.microsoft.com/office/drawing/2010/main">
                <a:solidFill>
                  <a:srgbClr val="FFFFFF"/>
                </a:solidFill>
              </a14:hiddenFill>
            </a:ext>
          </a:extLst>
        </p:spPr>
      </p:pic>
      <p:cxnSp>
        <p:nvCxnSpPr>
          <p:cNvPr id="8" name="直接连接符 7">
            <a:extLst>
              <a:ext uri="{FF2B5EF4-FFF2-40B4-BE49-F238E27FC236}">
                <a16:creationId xmlns:a16="http://schemas.microsoft.com/office/drawing/2014/main" id="{14D47674-549B-4444-B50F-17E0CA4D7C92}"/>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9CFF7760-AE29-475A-B374-808352091750}"/>
              </a:ext>
            </a:extLst>
          </p:cNvPr>
          <p:cNvSpPr txBox="1"/>
          <p:nvPr/>
        </p:nvSpPr>
        <p:spPr>
          <a:xfrm>
            <a:off x="561975" y="6235648"/>
            <a:ext cx="5472000"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右圖爲保存有</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Morris Worm</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源代碼的軟盤，其僅有</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99</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行源代碼</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圖片來自</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Wikipedia)</a:t>
            </a:r>
          </a:p>
        </p:txBody>
      </p:sp>
      <p:sp>
        <p:nvSpPr>
          <p:cNvPr id="5" name="Slide Number Placeholder 7">
            <a:extLst>
              <a:ext uri="{FF2B5EF4-FFF2-40B4-BE49-F238E27FC236}">
                <a16:creationId xmlns:a16="http://schemas.microsoft.com/office/drawing/2014/main" id="{08E2DB9C-8398-CABD-8F3D-977016F7133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a:t>
            </a:fld>
            <a:endParaRPr lang="zh-CN" altLang="en-US" sz="1200" dirty="0">
              <a:solidFill>
                <a:schemeClr val="tx1">
                  <a:tint val="75000"/>
                </a:schemeClr>
              </a:solidFill>
            </a:endParaRPr>
          </a:p>
        </p:txBody>
      </p:sp>
    </p:spTree>
    <p:extLst>
      <p:ext uri="{BB962C8B-B14F-4D97-AF65-F5344CB8AC3E}">
        <p14:creationId xmlns:p14="http://schemas.microsoft.com/office/powerpoint/2010/main" val="3797291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討論</a:t>
            </a:r>
          </a:p>
        </p:txBody>
      </p:sp>
      <p:sp>
        <p:nvSpPr>
          <p:cNvPr id="11" name="文本框 10">
            <a:extLst>
              <a:ext uri="{FF2B5EF4-FFF2-40B4-BE49-F238E27FC236}">
                <a16:creationId xmlns:a16="http://schemas.microsoft.com/office/drawing/2014/main" id="{E0445F0A-236A-44F7-9310-00FDDC70CEDB}"/>
              </a:ext>
            </a:extLst>
          </p:cNvPr>
          <p:cNvSpPr txBox="1"/>
          <p:nvPr/>
        </p:nvSpPr>
        <p:spPr>
          <a:xfrm>
            <a:off x="709048" y="2453765"/>
            <a:ext cx="10644752" cy="1950470"/>
          </a:xfrm>
          <a:prstGeom prst="rect">
            <a:avLst/>
          </a:prstGeom>
          <a:solidFill>
            <a:schemeClr val="accent3">
              <a:lumMod val="20000"/>
              <a:lumOff val="80000"/>
              <a:alpha val="36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defPPr>
              <a:defRPr lang="zh-CN"/>
            </a:defPPr>
            <a:lvl1pPr algn="ctr">
              <a:lnSpc>
                <a:spcPct val="130000"/>
              </a:lnSpc>
              <a:defRPr kumimoji="1" sz="3200" b="1">
                <a:latin typeface="Microsoft YaHei" panose="020B0503020204020204" pitchFamily="34" charset="-122"/>
                <a:ea typeface="Microsoft YaHei" panose="020B0503020204020204" pitchFamily="34" charset="-122"/>
              </a:defRPr>
            </a:lvl1pPr>
          </a:lstStyle>
          <a:p>
            <a:r>
              <a:rPr lang="zh-CN" altLang="en-US" dirty="0">
                <a:solidFill>
                  <a:srgbClr val="C00000"/>
                </a:solidFill>
              </a:rPr>
              <a:t>你認爲開源操作系統更安全，還是閉源操作系統更安全？</a:t>
            </a:r>
            <a:endParaRPr lang="en-US" altLang="zh-CN" dirty="0">
              <a:solidFill>
                <a:srgbClr val="C00000"/>
              </a:solidFill>
            </a:endParaRPr>
          </a:p>
        </p:txBody>
      </p:sp>
      <p:sp>
        <p:nvSpPr>
          <p:cNvPr id="4" name="Slide Number Placeholder 7">
            <a:extLst>
              <a:ext uri="{FF2B5EF4-FFF2-40B4-BE49-F238E27FC236}">
                <a16:creationId xmlns:a16="http://schemas.microsoft.com/office/drawing/2014/main" id="{173E5750-3363-39E2-0B2F-6D98B7DA277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a:t>
            </a:fld>
            <a:endParaRPr lang="zh-CN" altLang="en-US" sz="1200" dirty="0">
              <a:solidFill>
                <a:schemeClr val="tx1">
                  <a:tint val="75000"/>
                </a:schemeClr>
              </a:solidFill>
            </a:endParaRPr>
          </a:p>
        </p:txBody>
      </p:sp>
    </p:spTree>
    <p:extLst>
      <p:ext uri="{BB962C8B-B14F-4D97-AF65-F5344CB8AC3E}">
        <p14:creationId xmlns:p14="http://schemas.microsoft.com/office/powerpoint/2010/main" val="516992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8847445F-2342-5A4D-BAF7-FD5EF8550C4E}"/>
              </a:ext>
            </a:extLst>
          </p:cNvPr>
          <p:cNvSpPr>
            <a:spLocks/>
          </p:cNvSpPr>
          <p:nvPr/>
        </p:nvSpPr>
        <p:spPr bwMode="auto">
          <a:xfrm>
            <a:off x="625475" y="1282700"/>
            <a:ext cx="6397625" cy="475667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lang="zh-CN" altLang="en-US" sz="4000" b="1" dirty="0">
                <a:solidFill>
                  <a:srgbClr val="C00000"/>
                </a:solidFill>
                <a:latin typeface="微软雅黑"/>
                <a:ea typeface="微软雅黑"/>
              </a:rPr>
              <a:t>操作系統安全問題的開端</a:t>
            </a:r>
            <a:endParaRPr kumimoji="1" lang="zh-CN" altLang="en-US" dirty="0"/>
          </a:p>
        </p:txBody>
      </p:sp>
      <p:sp>
        <p:nvSpPr>
          <p:cNvPr id="11" name="文本框 14">
            <a:extLst>
              <a:ext uri="{FF2B5EF4-FFF2-40B4-BE49-F238E27FC236}">
                <a16:creationId xmlns:a16="http://schemas.microsoft.com/office/drawing/2014/main" id="{818C269D-F69D-457E-B01A-419535087C02}"/>
              </a:ext>
            </a:extLst>
          </p:cNvPr>
          <p:cNvSpPr txBox="1"/>
          <p:nvPr/>
        </p:nvSpPr>
        <p:spPr>
          <a:xfrm>
            <a:off x="676275" y="1346957"/>
            <a:ext cx="6245225" cy="46667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計算機病毒誕生至今的三十餘年間，有數以萬記的操作系統漏洞被發現或利用</a:t>
            </a:r>
            <a:endParaRPr lang="en-US" altLang="zh-CN" sz="22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endParaRPr lang="en-US" altLang="zh-CN" sz="22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操作系統安全一直受到廣泛關注，在</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CVE</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當中有記錄操作系統相關漏洞就超過</a:t>
            </a:r>
            <a:r>
              <a:rPr lang="en-US" altLang="zh-CN" sz="2200" b="1" dirty="0">
                <a:solidFill>
                  <a:srgbClr val="C00000"/>
                </a:solidFill>
                <a:latin typeface="Microsoft YaHei" panose="020B0503020204020204" pitchFamily="34" charset="-122"/>
                <a:ea typeface="Microsoft YaHei" panose="020B0503020204020204" pitchFamily="34" charset="-122"/>
              </a:rPr>
              <a:t>20,000</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條，占</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CVE</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當中記錄的漏洞總數超過</a:t>
            </a:r>
            <a:r>
              <a:rPr lang="en-US" altLang="zh-CN" sz="2200" b="1" dirty="0">
                <a:solidFill>
                  <a:srgbClr val="C00000"/>
                </a:solidFill>
                <a:latin typeface="Microsoft YaHei" panose="020B0503020204020204" pitchFamily="34" charset="-122"/>
                <a:ea typeface="Microsoft YaHei" panose="020B0503020204020204" pitchFamily="34" charset="-122"/>
              </a:rPr>
              <a:t>1/6</a:t>
            </a:r>
            <a:r>
              <a:rPr lang="en-US" altLang="zh-CN" sz="2200" b="1" dirty="0">
                <a:solidFill>
                  <a:schemeClr val="bg2">
                    <a:lumMod val="10000"/>
                  </a:schemeClr>
                </a:solidFill>
                <a:latin typeface="Microsoft YaHei" panose="020B0503020204020204" pitchFamily="34" charset="-122"/>
                <a:ea typeface="Microsoft YaHei" panose="020B0503020204020204" pitchFamily="34" charset="-122"/>
              </a:rPr>
              <a:t> </a:t>
            </a:r>
            <a:endParaRPr lang="en-US" altLang="zh-CN" sz="2200" b="1" baseline="300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endParaRPr lang="en-US" altLang="zh-CN" sz="2200" dirty="0">
              <a:solidFill>
                <a:schemeClr val="bg2">
                  <a:lumMod val="10000"/>
                </a:schemeClr>
              </a:solidFill>
              <a:latin typeface="Microsoft YaHei" panose="020B0503020204020204" pitchFamily="34" charset="-122"/>
              <a:ea typeface="Microsoft YaHei" panose="020B0503020204020204" pitchFamily="34" charset="-122"/>
            </a:endParaRPr>
          </a:p>
          <a:p>
            <a:pPr marL="342900" indent="-342900" algn="just">
              <a:lnSpc>
                <a:spcPts val="3600"/>
              </a:lnSpc>
              <a:buFont typeface="Arial" panose="020B0604020202020204" pitchFamily="34" charset="0"/>
              <a:buChar char="•"/>
            </a:pPr>
            <a:r>
              <a:rPr lang="zh-CN" altLang="en-US" sz="2200" b="1" dirty="0">
                <a:solidFill>
                  <a:schemeClr val="bg2">
                    <a:lumMod val="10000"/>
                  </a:schemeClr>
                </a:solidFill>
                <a:latin typeface="Microsoft YaHei" panose="020B0503020204020204" pitchFamily="34" charset="-122"/>
                <a:ea typeface="Microsoft YaHei" panose="020B0503020204020204" pitchFamily="34" charset="-122"/>
              </a:rPr>
              <a:t>操作系統安全的相關前沿研究衆多，</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至今仍能在</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S&amp;P</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Security</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NDSS</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a:t>
            </a:r>
            <a:r>
              <a:rPr lang="en-US" altLang="zh-CN" sz="2200" dirty="0">
                <a:solidFill>
                  <a:schemeClr val="bg2">
                    <a:lumMod val="10000"/>
                  </a:schemeClr>
                </a:solidFill>
                <a:latin typeface="Microsoft YaHei" panose="020B0503020204020204" pitchFamily="34" charset="-122"/>
                <a:ea typeface="Microsoft YaHei" panose="020B0503020204020204" pitchFamily="34" charset="-122"/>
              </a:rPr>
              <a:t>CCS</a:t>
            </a:r>
            <a:r>
              <a:rPr lang="zh-CN" altLang="en-US" sz="2200" dirty="0">
                <a:solidFill>
                  <a:schemeClr val="bg2">
                    <a:lumMod val="10000"/>
                  </a:schemeClr>
                </a:solidFill>
                <a:latin typeface="Microsoft YaHei" panose="020B0503020204020204" pitchFamily="34" charset="-122"/>
                <a:ea typeface="Microsoft YaHei" panose="020B0503020204020204" pitchFamily="34" charset="-122"/>
              </a:rPr>
              <a:t>等安全頂級會議上占據一席之地</a:t>
            </a:r>
            <a:endParaRPr lang="en-US" altLang="zh-CN" sz="2200" dirty="0">
              <a:solidFill>
                <a:schemeClr val="bg2">
                  <a:lumMod val="10000"/>
                </a:schemeClr>
              </a:solidFill>
              <a:latin typeface="Microsoft YaHei" panose="020B0503020204020204" pitchFamily="34" charset="-122"/>
              <a:ea typeface="Microsoft YaHei" panose="020B0503020204020204" pitchFamily="34" charset="-122"/>
            </a:endParaRPr>
          </a:p>
        </p:txBody>
      </p:sp>
      <p:sp>
        <p:nvSpPr>
          <p:cNvPr id="13" name="文本框 14">
            <a:extLst>
              <a:ext uri="{FF2B5EF4-FFF2-40B4-BE49-F238E27FC236}">
                <a16:creationId xmlns:a16="http://schemas.microsoft.com/office/drawing/2014/main" id="{02BCC621-6F00-4DEB-A0E1-943123FCD036}"/>
              </a:ext>
            </a:extLst>
          </p:cNvPr>
          <p:cNvSpPr txBox="1"/>
          <p:nvPr/>
        </p:nvSpPr>
        <p:spPr>
          <a:xfrm>
            <a:off x="7998531" y="5198660"/>
            <a:ext cx="5472000" cy="307777"/>
          </a:xfrm>
          <a:prstGeom prst="rect">
            <a:avLst/>
          </a:prstGeom>
          <a:noFill/>
        </p:spPr>
        <p:txBody>
          <a:bodyPr wrap="square" rtlCol="0">
            <a:spAutoFit/>
          </a:bodyPr>
          <a:lstStyle/>
          <a:p>
            <a:pPr algn="just"/>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2020</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年的</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CVE</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中各類操作系統漏洞的數量</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4" name="图片 13">
            <a:extLst>
              <a:ext uri="{FF2B5EF4-FFF2-40B4-BE49-F238E27FC236}">
                <a16:creationId xmlns:a16="http://schemas.microsoft.com/office/drawing/2014/main" id="{4FCB0400-2AA4-4F88-89E1-52D8415D8486}"/>
              </a:ext>
            </a:extLst>
          </p:cNvPr>
          <p:cNvPicPr>
            <a:picLocks noChangeAspect="1"/>
          </p:cNvPicPr>
          <p:nvPr/>
        </p:nvPicPr>
        <p:blipFill>
          <a:blip r:embed="rId3"/>
          <a:stretch>
            <a:fillRect/>
          </a:stretch>
        </p:blipFill>
        <p:spPr>
          <a:xfrm>
            <a:off x="7122252" y="1640825"/>
            <a:ext cx="4777647" cy="3583235"/>
          </a:xfrm>
          <a:prstGeom prst="rect">
            <a:avLst/>
          </a:prstGeom>
        </p:spPr>
      </p:pic>
      <p:sp>
        <p:nvSpPr>
          <p:cNvPr id="4" name="Slide Number Placeholder 7">
            <a:extLst>
              <a:ext uri="{FF2B5EF4-FFF2-40B4-BE49-F238E27FC236}">
                <a16:creationId xmlns:a16="http://schemas.microsoft.com/office/drawing/2014/main" id="{D7982375-B1BB-DA1E-3A19-E694E6CE8A5D}"/>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a:t>
            </a:fld>
            <a:endParaRPr lang="zh-CN" altLang="en-US" sz="1200" dirty="0">
              <a:solidFill>
                <a:schemeClr val="tx1">
                  <a:tint val="75000"/>
                </a:schemeClr>
              </a:solidFill>
            </a:endParaRPr>
          </a:p>
        </p:txBody>
      </p:sp>
    </p:spTree>
    <p:extLst>
      <p:ext uri="{BB962C8B-B14F-4D97-AF65-F5344CB8AC3E}">
        <p14:creationId xmlns:p14="http://schemas.microsoft.com/office/powerpoint/2010/main" val="1225688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爲何操作系統安全漏洞廣泛存在</a:t>
            </a:r>
          </a:p>
        </p:txBody>
      </p:sp>
      <p:cxnSp>
        <p:nvCxnSpPr>
          <p:cNvPr id="9" name="直接连接符 8">
            <a:extLst>
              <a:ext uri="{FF2B5EF4-FFF2-40B4-BE49-F238E27FC236}">
                <a16:creationId xmlns:a16="http://schemas.microsoft.com/office/drawing/2014/main" id="{B926AA13-DC07-45DF-85FD-57B244AA40E4}"/>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14">
            <a:extLst>
              <a:ext uri="{FF2B5EF4-FFF2-40B4-BE49-F238E27FC236}">
                <a16:creationId xmlns:a16="http://schemas.microsoft.com/office/drawing/2014/main" id="{C6B2FD1A-6D39-4CA3-A55C-BC1579BF46DE}"/>
              </a:ext>
            </a:extLst>
          </p:cNvPr>
          <p:cNvSpPr txBox="1"/>
          <p:nvPr/>
        </p:nvSpPr>
        <p:spPr>
          <a:xfrm>
            <a:off x="492511" y="6268857"/>
            <a:ext cx="7121675" cy="307777"/>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交互式內核函數依賴關係圖來源于</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https://makelinux.github.io/kernel/map/</a:t>
            </a:r>
          </a:p>
        </p:txBody>
      </p:sp>
      <p:pic>
        <p:nvPicPr>
          <p:cNvPr id="4" name="图片 3">
            <a:extLst>
              <a:ext uri="{FF2B5EF4-FFF2-40B4-BE49-F238E27FC236}">
                <a16:creationId xmlns:a16="http://schemas.microsoft.com/office/drawing/2014/main" id="{5318FC1A-47D1-41C0-8C04-11890040F80D}"/>
              </a:ext>
            </a:extLst>
          </p:cNvPr>
          <p:cNvPicPr>
            <a:picLocks noChangeAspect="1"/>
          </p:cNvPicPr>
          <p:nvPr/>
        </p:nvPicPr>
        <p:blipFill>
          <a:blip r:embed="rId3"/>
          <a:stretch>
            <a:fillRect/>
          </a:stretch>
        </p:blipFill>
        <p:spPr>
          <a:xfrm>
            <a:off x="5021451" y="886170"/>
            <a:ext cx="7121676" cy="5284267"/>
          </a:xfrm>
          <a:prstGeom prst="rect">
            <a:avLst/>
          </a:prstGeom>
        </p:spPr>
      </p:pic>
      <p:sp>
        <p:nvSpPr>
          <p:cNvPr id="8" name="文本框 14">
            <a:extLst>
              <a:ext uri="{FF2B5EF4-FFF2-40B4-BE49-F238E27FC236}">
                <a16:creationId xmlns:a16="http://schemas.microsoft.com/office/drawing/2014/main" id="{DB4FBAF5-E77E-475E-B862-660C232D2B89}"/>
              </a:ext>
            </a:extLst>
          </p:cNvPr>
          <p:cNvSpPr txBox="1"/>
          <p:nvPr/>
        </p:nvSpPr>
        <p:spPr>
          <a:xfrm>
            <a:off x="492511" y="1328881"/>
            <a:ext cx="4528940" cy="235846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其一，現代操作系統是規模龐大的軟件系統</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現代操作系統是</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系統之系統</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，各個模塊之間的依賴關係複雜</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E918CEDD-135D-424B-B42F-FB6D7C8A3D86}"/>
              </a:ext>
            </a:extLst>
          </p:cNvPr>
          <p:cNvSpPr txBox="1"/>
          <p:nvPr/>
        </p:nvSpPr>
        <p:spPr>
          <a:xfrm>
            <a:off x="408934" y="4425998"/>
            <a:ext cx="4612517" cy="1005788"/>
          </a:xfrm>
          <a:prstGeom prst="rect">
            <a:avLst/>
          </a:prstGeom>
          <a:solidFill>
            <a:schemeClr val="accent3">
              <a:lumMod val="20000"/>
              <a:lumOff val="80000"/>
              <a:alpha val="15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30000"/>
              </a:lnSpc>
              <a:defRPr kumimoji="1" sz="2400" b="1">
                <a:solidFill>
                  <a:srgbClr val="C00000"/>
                </a:solidFill>
                <a:latin typeface="Microsoft YaHei" panose="020B0503020204020204" pitchFamily="34" charset="-122"/>
                <a:ea typeface="Microsoft YaHei" panose="020B0503020204020204" pitchFamily="34" charset="-122"/>
              </a:defRPr>
            </a:lvl1pPr>
          </a:lstStyle>
          <a:p>
            <a:r>
              <a:rPr lang="zh-CN" altLang="en-US" b="0" dirty="0">
                <a:solidFill>
                  <a:schemeClr val="tx1"/>
                </a:solidFill>
              </a:rPr>
              <a:t>目前的</a:t>
            </a:r>
            <a:r>
              <a:rPr lang="en-US" altLang="zh-CN" b="0" dirty="0">
                <a:solidFill>
                  <a:schemeClr val="tx1"/>
                </a:solidFill>
              </a:rPr>
              <a:t>Linux</a:t>
            </a:r>
            <a:r>
              <a:rPr lang="zh-CN" altLang="en-US" b="0" dirty="0">
                <a:solidFill>
                  <a:schemeClr val="tx1"/>
                </a:solidFill>
              </a:rPr>
              <a:t>內核包含了</a:t>
            </a:r>
            <a:r>
              <a:rPr lang="en-US" altLang="zh-CN" b="0" dirty="0">
                <a:solidFill>
                  <a:schemeClr val="tx1"/>
                </a:solidFill>
              </a:rPr>
              <a:t>2,780</a:t>
            </a:r>
            <a:r>
              <a:rPr lang="zh-CN" altLang="en-US" b="0" dirty="0">
                <a:solidFill>
                  <a:schemeClr val="tx1"/>
                </a:solidFill>
              </a:rPr>
              <a:t>萬行源代碼分散在</a:t>
            </a:r>
            <a:r>
              <a:rPr lang="en-US" altLang="zh-CN" b="0" dirty="0">
                <a:solidFill>
                  <a:schemeClr val="tx1"/>
                </a:solidFill>
              </a:rPr>
              <a:t>6</a:t>
            </a:r>
            <a:r>
              <a:rPr lang="zh-CN" altLang="en-US" b="0" dirty="0">
                <a:solidFill>
                  <a:schemeClr val="tx1"/>
                </a:solidFill>
              </a:rPr>
              <a:t>萬餘個文件</a:t>
            </a:r>
            <a:endParaRPr lang="en-US" altLang="zh-CN" b="0" dirty="0">
              <a:solidFill>
                <a:schemeClr val="tx1"/>
              </a:solidFill>
            </a:endParaRPr>
          </a:p>
        </p:txBody>
      </p:sp>
      <p:sp>
        <p:nvSpPr>
          <p:cNvPr id="5" name="Slide Number Placeholder 7">
            <a:extLst>
              <a:ext uri="{FF2B5EF4-FFF2-40B4-BE49-F238E27FC236}">
                <a16:creationId xmlns:a16="http://schemas.microsoft.com/office/drawing/2014/main" id="{7F8EB135-C979-D191-574E-472FB5E4FB9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a:t>
            </a:fld>
            <a:endParaRPr lang="zh-CN" altLang="en-US" sz="1200" dirty="0">
              <a:solidFill>
                <a:schemeClr val="tx1">
                  <a:tint val="75000"/>
                </a:schemeClr>
              </a:solidFill>
            </a:endParaRPr>
          </a:p>
        </p:txBody>
      </p:sp>
    </p:spTree>
    <p:extLst>
      <p:ext uri="{BB962C8B-B14F-4D97-AF65-F5344CB8AC3E}">
        <p14:creationId xmlns:p14="http://schemas.microsoft.com/office/powerpoint/2010/main" val="2981379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爲何操作系統安全漏洞廣泛存在</a:t>
            </a:r>
          </a:p>
        </p:txBody>
      </p:sp>
      <p:sp>
        <p:nvSpPr>
          <p:cNvPr id="8" name="文本框 14">
            <a:extLst>
              <a:ext uri="{FF2B5EF4-FFF2-40B4-BE49-F238E27FC236}">
                <a16:creationId xmlns:a16="http://schemas.microsoft.com/office/drawing/2014/main" id="{DB4FBAF5-E77E-475E-B862-660C232D2B89}"/>
              </a:ext>
            </a:extLst>
          </p:cNvPr>
          <p:cNvSpPr txBox="1"/>
          <p:nvPr/>
        </p:nvSpPr>
        <p:spPr>
          <a:xfrm>
            <a:off x="492511" y="1328881"/>
            <a:ext cx="6040025" cy="46667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其二，現代操作系統的設計以性能爲最主要目標，而非安全性</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已經在“</a:t>
            </a:r>
            <a:r>
              <a:rPr kumimoji="1" lang="zh-CN" altLang="en-US" sz="2400" u="sng" dirty="0">
                <a:latin typeface="微软雅黑" panose="020B0503020204020204" pitchFamily="34" charset="-122"/>
                <a:ea typeface="微软雅黑" panose="020B0503020204020204" pitchFamily="34" charset="-122"/>
                <a:cs typeface="Times New Roman" panose="02020603050405020304" pitchFamily="18" charset="0"/>
              </a:rPr>
              <a:t>小修小補</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”當中度過了</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30</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年</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內核當中的</a:t>
            </a:r>
            <a:r>
              <a:rPr kumimoji="1" lang="en-US" altLang="zh-CN" sz="2400" u="sng" dirty="0">
                <a:latin typeface="微软雅黑" panose="020B0503020204020204" pitchFamily="34" charset="-122"/>
                <a:ea typeface="微软雅黑" panose="020B0503020204020204" pitchFamily="34" charset="-122"/>
                <a:cs typeface="Times New Roman" panose="02020603050405020304" pitchFamily="18" charset="0"/>
              </a:rPr>
              <a:t>Martian Address</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機制被實現以對抗來自惡意地址的數據包</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而這一機制幷非在操作系統的設計之初就納入實現計劃內</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9" name="直接连接符 8">
            <a:extLst>
              <a:ext uri="{FF2B5EF4-FFF2-40B4-BE49-F238E27FC236}">
                <a16:creationId xmlns:a16="http://schemas.microsoft.com/office/drawing/2014/main" id="{B926AA13-DC07-45DF-85FD-57B244AA40E4}"/>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文本框 14">
            <a:extLst>
              <a:ext uri="{FF2B5EF4-FFF2-40B4-BE49-F238E27FC236}">
                <a16:creationId xmlns:a16="http://schemas.microsoft.com/office/drawing/2014/main" id="{C6B2FD1A-6D39-4CA3-A55C-BC1579BF46DE}"/>
              </a:ext>
            </a:extLst>
          </p:cNvPr>
          <p:cNvSpPr txBox="1"/>
          <p:nvPr/>
        </p:nvSpPr>
        <p:spPr>
          <a:xfrm>
            <a:off x="561975" y="6235648"/>
            <a:ext cx="5815578" cy="523220"/>
          </a:xfrm>
          <a:prstGeom prst="rect">
            <a:avLst/>
          </a:prstGeom>
          <a:noFill/>
        </p:spPr>
        <p:txBody>
          <a:bodyPr wrap="square" rtlCol="0">
            <a:spAutoFit/>
          </a:bodyPr>
          <a:lstStyle/>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rPr>
              <a:t>. Martian Address, </a:t>
            </a:r>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即來自火星的地址</a:t>
            </a:r>
            <a:endParaRPr kumimoji="1" lang="en-US" altLang="zh-CN" sz="1400" dirty="0">
              <a:latin typeface="微软雅黑" panose="020B0503020204020204" pitchFamily="34" charset="-122"/>
              <a:ea typeface="微软雅黑" panose="020B0503020204020204" pitchFamily="34" charset="-122"/>
              <a:cs typeface="Times New Roman" panose="02020603050405020304" pitchFamily="18" charset="0"/>
            </a:endParaRPr>
          </a:p>
          <a:p>
            <a:pPr algn="just"/>
            <a:r>
              <a:rPr kumimoji="1" lang="zh-CN" altLang="en-US" sz="1400" dirty="0">
                <a:latin typeface="微软雅黑" panose="020B0503020204020204" pitchFamily="34" charset="-122"/>
                <a:ea typeface="微软雅黑" panose="020B0503020204020204" pitchFamily="34" charset="-122"/>
                <a:cs typeface="Times New Roman" panose="02020603050405020304" pitchFamily="18" charset="0"/>
              </a:rPr>
              <a:t>該機制過濾掉顯然爲僞造源地址的數據包，幷稱其來自火星的數據包</a:t>
            </a:r>
          </a:p>
        </p:txBody>
      </p:sp>
      <p:pic>
        <p:nvPicPr>
          <p:cNvPr id="5" name="图片 4">
            <a:extLst>
              <a:ext uri="{FF2B5EF4-FFF2-40B4-BE49-F238E27FC236}">
                <a16:creationId xmlns:a16="http://schemas.microsoft.com/office/drawing/2014/main" id="{7318B6D4-8B59-49ED-AC3D-23156D6C6844}"/>
              </a:ext>
            </a:extLst>
          </p:cNvPr>
          <p:cNvPicPr>
            <a:picLocks noChangeAspect="1"/>
          </p:cNvPicPr>
          <p:nvPr/>
        </p:nvPicPr>
        <p:blipFill>
          <a:blip r:embed="rId3"/>
          <a:stretch>
            <a:fillRect/>
          </a:stretch>
        </p:blipFill>
        <p:spPr>
          <a:xfrm>
            <a:off x="6802244" y="1544512"/>
            <a:ext cx="5322823" cy="3812292"/>
          </a:xfrm>
          <a:prstGeom prst="rect">
            <a:avLst/>
          </a:prstGeom>
        </p:spPr>
      </p:pic>
      <p:sp>
        <p:nvSpPr>
          <p:cNvPr id="7" name="文本框 14">
            <a:extLst>
              <a:ext uri="{FF2B5EF4-FFF2-40B4-BE49-F238E27FC236}">
                <a16:creationId xmlns:a16="http://schemas.microsoft.com/office/drawing/2014/main" id="{93A1B4BF-7A16-4784-A6DC-F8CF7B64B2C4}"/>
              </a:ext>
            </a:extLst>
          </p:cNvPr>
          <p:cNvSpPr txBox="1"/>
          <p:nvPr/>
        </p:nvSpPr>
        <p:spPr>
          <a:xfrm>
            <a:off x="7466081" y="5471559"/>
            <a:ext cx="3995148" cy="369332"/>
          </a:xfrm>
          <a:prstGeom prst="rect">
            <a:avLst/>
          </a:prstGeom>
          <a:noFill/>
        </p:spPr>
        <p:txBody>
          <a:bodyPr wrap="square" rtlCol="0">
            <a:spAutoFit/>
          </a:bodyPr>
          <a:lstStyle/>
          <a:p>
            <a:pPr algn="ctr"/>
            <a:r>
              <a:rPr kumimoji="1" lang="en-US" altLang="zh-CN" dirty="0">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dirty="0">
                <a:latin typeface="微软雅黑" panose="020B0503020204020204" pitchFamily="34" charset="-122"/>
                <a:ea typeface="微软雅黑" panose="020B0503020204020204" pitchFamily="34" charset="-122"/>
                <a:cs typeface="Times New Roman" panose="02020603050405020304" pitchFamily="18" charset="0"/>
              </a:rPr>
              <a:t>不同發行版的嚴重漏洞數量統計</a:t>
            </a:r>
            <a:endParaRPr kumimoji="1"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Slide Number Placeholder 7">
            <a:extLst>
              <a:ext uri="{FF2B5EF4-FFF2-40B4-BE49-F238E27FC236}">
                <a16:creationId xmlns:a16="http://schemas.microsoft.com/office/drawing/2014/main" id="{A7FE02B0-F663-2EA7-29A2-82E73C6FD9B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a:t>
            </a:fld>
            <a:endParaRPr lang="zh-CN" altLang="en-US" sz="1200" dirty="0">
              <a:solidFill>
                <a:schemeClr val="tx1">
                  <a:tint val="75000"/>
                </a:schemeClr>
              </a:solidFill>
            </a:endParaRPr>
          </a:p>
        </p:txBody>
      </p:sp>
    </p:spTree>
    <p:extLst>
      <p:ext uri="{BB962C8B-B14F-4D97-AF65-F5344CB8AC3E}">
        <p14:creationId xmlns:p14="http://schemas.microsoft.com/office/powerpoint/2010/main" val="2029539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面向系統攻擊的前提條件</a:t>
            </a:r>
          </a:p>
        </p:txBody>
      </p:sp>
      <p:sp>
        <p:nvSpPr>
          <p:cNvPr id="19" name="文本框 14">
            <a:extLst>
              <a:ext uri="{FF2B5EF4-FFF2-40B4-BE49-F238E27FC236}">
                <a16:creationId xmlns:a16="http://schemas.microsoft.com/office/drawing/2014/main" id="{570E6469-ABE3-4BCD-B556-9E1751FEFCD0}"/>
              </a:ext>
            </a:extLst>
          </p:cNvPr>
          <p:cNvSpPr txBox="1"/>
          <p:nvPr/>
        </p:nvSpPr>
        <p:spPr>
          <a:xfrm>
            <a:off x="492511" y="5339605"/>
            <a:ext cx="10960736" cy="973472"/>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攻擊者可以構造任意輸入幷接受受害進程輸入校驗；</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攻擊者無法</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直接</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讀寫系統下進程的內存，無法</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直接</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幹預處理器上指令的執行</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矩形 20">
            <a:extLst>
              <a:ext uri="{FF2B5EF4-FFF2-40B4-BE49-F238E27FC236}">
                <a16:creationId xmlns:a16="http://schemas.microsoft.com/office/drawing/2014/main" id="{E4805935-624F-4EBF-9EC0-8CFDB19BCB8C}"/>
              </a:ext>
            </a:extLst>
          </p:cNvPr>
          <p:cNvSpPr/>
          <p:nvPr/>
        </p:nvSpPr>
        <p:spPr>
          <a:xfrm>
            <a:off x="2449448" y="3680057"/>
            <a:ext cx="2270184" cy="1074816"/>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L="457200" marR="0" lvl="0" indent="-457200" defTabSz="914400" rtl="0" eaLnBrk="1" fontAlgn="auto" latinLnBrk="0" hangingPunct="1">
              <a:lnSpc>
                <a:spcPct val="100000"/>
              </a:lnSpc>
              <a:spcBef>
                <a:spcPts val="0"/>
              </a:spcBef>
              <a:spcAft>
                <a:spcPts val="0"/>
              </a:spcAft>
              <a:buClrTx/>
              <a:buSzTx/>
              <a:buAutoNum type="arabicPeriod"/>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外設輸入</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defTabSz="914400" rtl="0" eaLnBrk="1" fontAlgn="auto" latinLnBrk="0" hangingPunct="1">
              <a:lnSpc>
                <a:spcPct val="100000"/>
              </a:lnSpc>
              <a:spcBef>
                <a:spcPts val="0"/>
              </a:spcBef>
              <a:spcAft>
                <a:spcPts val="0"/>
              </a:spcAft>
              <a:buClrTx/>
              <a:buSzTx/>
              <a:buAutoNum type="arabicPeriod"/>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網絡流輸入</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defTabSz="914400" rtl="0" eaLnBrk="1" fontAlgn="auto" latinLnBrk="0" hangingPunct="1">
              <a:lnSpc>
                <a:spcPct val="100000"/>
              </a:lnSpc>
              <a:spcBef>
                <a:spcPts val="0"/>
              </a:spcBef>
              <a:spcAft>
                <a:spcPts val="0"/>
              </a:spcAft>
              <a:buClrTx/>
              <a:buSzTx/>
              <a:buAutoNum type="arabicPeriod"/>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文件流輸入</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22" name="Picture 10" descr="Ram Memory128PX PNG 图标下载">
            <a:extLst>
              <a:ext uri="{FF2B5EF4-FFF2-40B4-BE49-F238E27FC236}">
                <a16:creationId xmlns:a16="http://schemas.microsoft.com/office/drawing/2014/main" id="{1809312E-1030-4F97-B971-58A8E0589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8772" y="2644749"/>
            <a:ext cx="801004" cy="425533"/>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直接箭头连接符 26">
            <a:extLst>
              <a:ext uri="{FF2B5EF4-FFF2-40B4-BE49-F238E27FC236}">
                <a16:creationId xmlns:a16="http://schemas.microsoft.com/office/drawing/2014/main" id="{F68EF7EA-CE73-4FA8-9870-E924282F93FF}"/>
              </a:ext>
            </a:extLst>
          </p:cNvPr>
          <p:cNvCxnSpPr>
            <a:cxnSpLocks/>
          </p:cNvCxnSpPr>
          <p:nvPr/>
        </p:nvCxnSpPr>
        <p:spPr>
          <a:xfrm>
            <a:off x="4834869" y="4212427"/>
            <a:ext cx="5458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a:extLst>
              <a:ext uri="{FF2B5EF4-FFF2-40B4-BE49-F238E27FC236}">
                <a16:creationId xmlns:a16="http://schemas.microsoft.com/office/drawing/2014/main" id="{88DA23CA-C791-4272-9A6B-2152BBFA34F6}"/>
              </a:ext>
            </a:extLst>
          </p:cNvPr>
          <p:cNvSpPr txBox="1"/>
          <p:nvPr/>
        </p:nvSpPr>
        <p:spPr>
          <a:xfrm>
            <a:off x="2610187" y="3274218"/>
            <a:ext cx="19694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I/O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子系統</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1" name="Picture 14" descr="“stackoverflow”的图片搜索结果">
            <a:extLst>
              <a:ext uri="{FF2B5EF4-FFF2-40B4-BE49-F238E27FC236}">
                <a16:creationId xmlns:a16="http://schemas.microsoft.com/office/drawing/2014/main" id="{D23FA69E-D77B-4C14-80F1-AE7526A4F5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4423" y="2543680"/>
            <a:ext cx="801004" cy="801004"/>
          </a:xfrm>
          <a:prstGeom prst="rect">
            <a:avLst/>
          </a:prstGeom>
          <a:noFill/>
          <a:extLst>
            <a:ext uri="{909E8E84-426E-40DD-AFC4-6F175D3DCCD1}">
              <a14:hiddenFill xmlns:a14="http://schemas.microsoft.com/office/drawing/2010/main">
                <a:solidFill>
                  <a:srgbClr val="FFFFFF"/>
                </a:solidFill>
              </a14:hiddenFill>
            </a:ext>
          </a:extLst>
        </p:spPr>
      </p:pic>
      <p:sp>
        <p:nvSpPr>
          <p:cNvPr id="32" name="文本框 31">
            <a:extLst>
              <a:ext uri="{FF2B5EF4-FFF2-40B4-BE49-F238E27FC236}">
                <a16:creationId xmlns:a16="http://schemas.microsoft.com/office/drawing/2014/main" id="{8B454EA3-0559-4801-85C8-97F45AD167BE}"/>
              </a:ext>
            </a:extLst>
          </p:cNvPr>
          <p:cNvSpPr txBox="1"/>
          <p:nvPr/>
        </p:nvSpPr>
        <p:spPr>
          <a:xfrm>
            <a:off x="5700606" y="3218114"/>
            <a:ext cx="181733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系統內存</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3" name="Picture 16" descr="hacker128PX PNG 图标下载">
            <a:extLst>
              <a:ext uri="{FF2B5EF4-FFF2-40B4-BE49-F238E27FC236}">
                <a16:creationId xmlns:a16="http://schemas.microsoft.com/office/drawing/2014/main" id="{8C6F43C0-CDC3-4461-8D45-E569FFAA06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4680" y="3858868"/>
            <a:ext cx="757406" cy="733738"/>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箭头连接符 33">
            <a:extLst>
              <a:ext uri="{FF2B5EF4-FFF2-40B4-BE49-F238E27FC236}">
                <a16:creationId xmlns:a16="http://schemas.microsoft.com/office/drawing/2014/main" id="{4891CA0F-3CF1-42E1-8EC5-81F39716B599}"/>
              </a:ext>
            </a:extLst>
          </p:cNvPr>
          <p:cNvCxnSpPr>
            <a:cxnSpLocks/>
          </p:cNvCxnSpPr>
          <p:nvPr/>
        </p:nvCxnSpPr>
        <p:spPr>
          <a:xfrm>
            <a:off x="1847369" y="4212427"/>
            <a:ext cx="4703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6" name="Picture 12" descr="cpu128PX PNG 图标下载">
            <a:extLst>
              <a:ext uri="{FF2B5EF4-FFF2-40B4-BE49-F238E27FC236}">
                <a16:creationId xmlns:a16="http://schemas.microsoft.com/office/drawing/2014/main" id="{FE8341D2-A686-473B-B6AC-A349B342210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271294" y="2398865"/>
            <a:ext cx="766603" cy="766603"/>
          </a:xfrm>
          <a:prstGeom prst="rect">
            <a:avLst/>
          </a:prstGeom>
          <a:noFill/>
          <a:extLst>
            <a:ext uri="{909E8E84-426E-40DD-AFC4-6F175D3DCCD1}">
              <a14:hiddenFill xmlns:a14="http://schemas.microsoft.com/office/drawing/2010/main">
                <a:solidFill>
                  <a:srgbClr val="FFFFFF"/>
                </a:solidFill>
              </a14:hiddenFill>
            </a:ext>
          </a:extLst>
        </p:spPr>
      </p:pic>
      <p:sp>
        <p:nvSpPr>
          <p:cNvPr id="38" name="矩形 37">
            <a:extLst>
              <a:ext uri="{FF2B5EF4-FFF2-40B4-BE49-F238E27FC236}">
                <a16:creationId xmlns:a16="http://schemas.microsoft.com/office/drawing/2014/main" id="{853CFDD5-BBC4-4B99-A7E6-C3CF9E5B01EE}"/>
              </a:ext>
            </a:extLst>
          </p:cNvPr>
          <p:cNvSpPr/>
          <p:nvPr/>
        </p:nvSpPr>
        <p:spPr>
          <a:xfrm>
            <a:off x="5474403" y="3680057"/>
            <a:ext cx="2270184" cy="1074816"/>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內存暫存攻擊者的</a:t>
            </a: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惡意輸入</a:t>
            </a:r>
            <a:endPar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0" name="文本框 39">
            <a:extLst>
              <a:ext uri="{FF2B5EF4-FFF2-40B4-BE49-F238E27FC236}">
                <a16:creationId xmlns:a16="http://schemas.microsoft.com/office/drawing/2014/main" id="{657DBC8B-1505-4153-906A-3B107522BE54}"/>
              </a:ext>
            </a:extLst>
          </p:cNvPr>
          <p:cNvSpPr txBox="1"/>
          <p:nvPr/>
        </p:nvSpPr>
        <p:spPr>
          <a:xfrm>
            <a:off x="8745928" y="3212208"/>
            <a:ext cx="181733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系統處理器</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 name="矩形 40">
            <a:extLst>
              <a:ext uri="{FF2B5EF4-FFF2-40B4-BE49-F238E27FC236}">
                <a16:creationId xmlns:a16="http://schemas.microsoft.com/office/drawing/2014/main" id="{50BFD4D7-3875-4BB3-9A73-AC5CFC625F29}"/>
              </a:ext>
            </a:extLst>
          </p:cNvPr>
          <p:cNvSpPr/>
          <p:nvPr/>
        </p:nvSpPr>
        <p:spPr>
          <a:xfrm>
            <a:off x="8528651" y="3675019"/>
            <a:ext cx="2270184" cy="1074816"/>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R="0" lvl="0" algn="ctr"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受害進程在處理</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攻擊者輸入時</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ct val="100000"/>
              </a:lnSpc>
              <a:spcBef>
                <a:spcPts val="0"/>
              </a:spcBef>
              <a:spcAft>
                <a:spcPts val="0"/>
              </a:spcAft>
              <a:buClrTx/>
              <a:buSzTx/>
              <a:tabLst/>
              <a:defRPr/>
            </a:pPr>
            <a:r>
              <a:rPr lang="zh-CN" altLang="en-US"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産生异常行爲</a:t>
            </a:r>
            <a:endParaRPr lang="en-US" altLang="zh-CN" sz="20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2" name="直接箭头连接符 41">
            <a:extLst>
              <a:ext uri="{FF2B5EF4-FFF2-40B4-BE49-F238E27FC236}">
                <a16:creationId xmlns:a16="http://schemas.microsoft.com/office/drawing/2014/main" id="{1CBBF5E1-436B-409D-B62E-769802DBE556}"/>
              </a:ext>
            </a:extLst>
          </p:cNvPr>
          <p:cNvCxnSpPr>
            <a:cxnSpLocks/>
          </p:cNvCxnSpPr>
          <p:nvPr/>
        </p:nvCxnSpPr>
        <p:spPr>
          <a:xfrm>
            <a:off x="7847309" y="4212427"/>
            <a:ext cx="5458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14">
            <a:extLst>
              <a:ext uri="{FF2B5EF4-FFF2-40B4-BE49-F238E27FC236}">
                <a16:creationId xmlns:a16="http://schemas.microsoft.com/office/drawing/2014/main" id="{DB4FBAF5-E77E-475E-B862-660C232D2B89}"/>
              </a:ext>
            </a:extLst>
          </p:cNvPr>
          <p:cNvSpPr txBox="1"/>
          <p:nvPr/>
        </p:nvSpPr>
        <p:spPr>
          <a:xfrm>
            <a:off x="927100" y="1176068"/>
            <a:ext cx="10071100" cy="973472"/>
          </a:xfrm>
          <a:prstGeom prst="rect">
            <a:avLst/>
          </a:prstGeom>
          <a:solidFill>
            <a:schemeClr val="accent3">
              <a:lumMod val="20000"/>
              <a:lumOff val="80000"/>
              <a:alpha val="15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30000"/>
              </a:lnSpc>
              <a:defRPr kumimoji="1" sz="2400" b="0">
                <a:latin typeface="Microsoft YaHei" panose="020B0503020204020204" pitchFamily="34" charset="-122"/>
                <a:ea typeface="Microsoft YaHei" panose="020B0503020204020204" pitchFamily="34" charset="-122"/>
              </a:defRPr>
            </a:lvl1pPr>
          </a:lstStyle>
          <a:p>
            <a:r>
              <a:rPr lang="zh-CN" altLang="en-US" dirty="0"/>
              <a:t>本章中假設攻擊者</a:t>
            </a:r>
            <a:r>
              <a:rPr lang="zh-CN" altLang="en-US" b="1" dirty="0"/>
              <a:t>位于操作系統外部</a:t>
            </a:r>
            <a:r>
              <a:rPr lang="zh-CN" altLang="en-US" dirty="0"/>
              <a:t>；</a:t>
            </a:r>
            <a:endParaRPr lang="en-US" altLang="zh-CN" dirty="0"/>
          </a:p>
          <a:p>
            <a:r>
              <a:rPr lang="zh-CN" altLang="en-US" dirty="0"/>
              <a:t>僅能通過</a:t>
            </a:r>
            <a:r>
              <a:rPr lang="zh-CN" altLang="en-US" b="1" dirty="0"/>
              <a:t>正常</a:t>
            </a:r>
            <a:r>
              <a:rPr lang="en-US" altLang="zh-CN" b="1" dirty="0"/>
              <a:t>I/O</a:t>
            </a:r>
            <a:r>
              <a:rPr lang="zh-CN" altLang="en-US" b="1" dirty="0"/>
              <a:t>方式</a:t>
            </a:r>
            <a:r>
              <a:rPr lang="zh-CN" altLang="en-US" dirty="0"/>
              <a:t>與操作系統下的受害進程進行交互</a:t>
            </a:r>
            <a:endParaRPr lang="en-US" altLang="zh-CN" dirty="0"/>
          </a:p>
        </p:txBody>
      </p:sp>
      <p:sp>
        <p:nvSpPr>
          <p:cNvPr id="5" name="Slide Number Placeholder 7">
            <a:extLst>
              <a:ext uri="{FF2B5EF4-FFF2-40B4-BE49-F238E27FC236}">
                <a16:creationId xmlns:a16="http://schemas.microsoft.com/office/drawing/2014/main" id="{54D5AABE-EE61-79F6-2720-ED4415324D9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a:t>
            </a:fld>
            <a:endParaRPr lang="zh-CN" altLang="en-US" sz="1200" dirty="0">
              <a:solidFill>
                <a:schemeClr val="tx1">
                  <a:tint val="75000"/>
                </a:schemeClr>
              </a:solidFill>
            </a:endParaRPr>
          </a:p>
        </p:txBody>
      </p:sp>
    </p:spTree>
    <p:extLst>
      <p:ext uri="{BB962C8B-B14F-4D97-AF65-F5344CB8AC3E}">
        <p14:creationId xmlns:p14="http://schemas.microsoft.com/office/powerpoint/2010/main" val="483352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面向系統攻擊的目標</a:t>
            </a:r>
          </a:p>
        </p:txBody>
      </p:sp>
      <p:sp>
        <p:nvSpPr>
          <p:cNvPr id="19" name="文本框 14">
            <a:extLst>
              <a:ext uri="{FF2B5EF4-FFF2-40B4-BE49-F238E27FC236}">
                <a16:creationId xmlns:a16="http://schemas.microsoft.com/office/drawing/2014/main" id="{570E6469-ABE3-4BCD-B556-9E1751FEFCD0}"/>
              </a:ext>
            </a:extLst>
          </p:cNvPr>
          <p:cNvSpPr txBox="1"/>
          <p:nvPr/>
        </p:nvSpPr>
        <p:spPr>
          <a:xfrm>
            <a:off x="615632" y="1360851"/>
            <a:ext cx="10960736" cy="2820131"/>
          </a:xfrm>
          <a:prstGeom prst="rect">
            <a:avLst/>
          </a:prstGeom>
          <a:noFill/>
        </p:spPr>
        <p:txBody>
          <a:bodyPr wrap="square" rtlCol="0">
            <a:spAutoFit/>
          </a:bodyPr>
          <a:lstStyle/>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攻擊者通過構造惡意輸入，使操作系統環境下運行的</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進程産生异常行爲</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Wingdings" panose="05000000000000000000" pitchFamily="2" charset="2"/>
              <a:buChar char="Ø"/>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例如：</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進程直接崩潰：</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HTTP</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服務器拒絕服務</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惡意函數的調用：</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SQL Slammers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調用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UDP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發包函數實現蠕蟲複製</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權限提升：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Privilege Escalation</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，攻擊者獲得執行任意命令的權限，或者獲得管理員賬戶的執行權限</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文本框 14">
            <a:extLst>
              <a:ext uri="{FF2B5EF4-FFF2-40B4-BE49-F238E27FC236}">
                <a16:creationId xmlns:a16="http://schemas.microsoft.com/office/drawing/2014/main" id="{D0F8D9C2-B266-4F0C-83E0-1EFC29B4CD5D}"/>
              </a:ext>
            </a:extLst>
          </p:cNvPr>
          <p:cNvSpPr txBox="1"/>
          <p:nvPr/>
        </p:nvSpPr>
        <p:spPr>
          <a:xfrm>
            <a:off x="1117600" y="5008806"/>
            <a:ext cx="9537699" cy="1071358"/>
          </a:xfrm>
          <a:prstGeom prst="rect">
            <a:avLst/>
          </a:prstGeom>
          <a:solidFill>
            <a:schemeClr val="accent3">
              <a:lumMod val="20000"/>
              <a:lumOff val="80000"/>
              <a:alpha val="15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30000"/>
              </a:lnSpc>
              <a:defRPr kumimoji="1" sz="2400" b="1">
                <a:solidFill>
                  <a:srgbClr val="C00000"/>
                </a:solidFill>
                <a:latin typeface="Microsoft YaHei" panose="020B0503020204020204" pitchFamily="34" charset="-122"/>
                <a:ea typeface="Microsoft YaHei" panose="020B0503020204020204" pitchFamily="34" charset="-122"/>
              </a:defRPr>
            </a:lvl1pPr>
          </a:lstStyle>
          <a:p>
            <a:r>
              <a:rPr lang="zh-CN" altLang="en-US" b="0" dirty="0">
                <a:solidFill>
                  <a:schemeClr val="tx1"/>
                </a:solidFill>
              </a:rPr>
              <a:t>使操作系統下受害進程産生攻擊者期望的异常行爲</a:t>
            </a:r>
            <a:endParaRPr lang="en-US" altLang="zh-CN" b="0" dirty="0">
              <a:solidFill>
                <a:schemeClr val="tx1"/>
              </a:solidFill>
            </a:endParaRPr>
          </a:p>
          <a:p>
            <a:r>
              <a:rPr lang="zh-CN" altLang="en-US" b="0" dirty="0">
                <a:solidFill>
                  <a:schemeClr val="tx1"/>
                </a:solidFill>
              </a:rPr>
              <a:t>的攻擊效果被稱爲進程的</a:t>
            </a:r>
            <a:r>
              <a:rPr lang="zh-CN" altLang="en-US" dirty="0"/>
              <a:t>控制流劫持</a:t>
            </a:r>
            <a:endParaRPr lang="en-US" altLang="zh-CN" dirty="0"/>
          </a:p>
        </p:txBody>
      </p:sp>
      <p:sp>
        <p:nvSpPr>
          <p:cNvPr id="3" name="Slide Number Placeholder 7">
            <a:extLst>
              <a:ext uri="{FF2B5EF4-FFF2-40B4-BE49-F238E27FC236}">
                <a16:creationId xmlns:a16="http://schemas.microsoft.com/office/drawing/2014/main" id="{D65D73F2-FAF5-E72D-B105-24FE8D716FB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76451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面向系統攻擊的典型案例</a:t>
            </a:r>
          </a:p>
        </p:txBody>
      </p:sp>
      <p:sp>
        <p:nvSpPr>
          <p:cNvPr id="8" name="文本框 14">
            <a:extLst>
              <a:ext uri="{FF2B5EF4-FFF2-40B4-BE49-F238E27FC236}">
                <a16:creationId xmlns:a16="http://schemas.microsoft.com/office/drawing/2014/main" id="{DB4FBAF5-E77E-475E-B862-660C232D2B89}"/>
              </a:ext>
            </a:extLst>
          </p:cNvPr>
          <p:cNvSpPr txBox="1"/>
          <p:nvPr/>
        </p:nvSpPr>
        <p:spPr>
          <a:xfrm>
            <a:off x="492511" y="1212916"/>
            <a:ext cx="10960736" cy="143513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SQL slammers</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是針對</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Microsoft SQL Server 2000</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數據庫服務器的蠕蟲病毒</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該病毒構造惡意携帶</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惡意負載</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的</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UDP</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數據包，以</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棧區溢</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出控制</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SQL Server</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守護進程，使其調用操作系統的</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UDP</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發包接口，重複上述步驟，實現病毒複製</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3" name="组合 2">
            <a:extLst>
              <a:ext uri="{FF2B5EF4-FFF2-40B4-BE49-F238E27FC236}">
                <a16:creationId xmlns:a16="http://schemas.microsoft.com/office/drawing/2014/main" id="{E8A750D9-4F3A-4283-A48F-D3E26CD52CE3}"/>
              </a:ext>
            </a:extLst>
          </p:cNvPr>
          <p:cNvGrpSpPr/>
          <p:nvPr/>
        </p:nvGrpSpPr>
        <p:grpSpPr>
          <a:xfrm>
            <a:off x="113808" y="2746794"/>
            <a:ext cx="11826654" cy="2956851"/>
            <a:chOff x="113808" y="2746794"/>
            <a:chExt cx="11826654" cy="2956851"/>
          </a:xfrm>
        </p:grpSpPr>
        <p:sp>
          <p:nvSpPr>
            <p:cNvPr id="7" name="矩形 6">
              <a:extLst>
                <a:ext uri="{FF2B5EF4-FFF2-40B4-BE49-F238E27FC236}">
                  <a16:creationId xmlns:a16="http://schemas.microsoft.com/office/drawing/2014/main" id="{ED30E76E-7F0B-4708-8D52-1949D61DD554}"/>
                </a:ext>
              </a:extLst>
            </p:cNvPr>
            <p:cNvSpPr/>
            <p:nvPr/>
          </p:nvSpPr>
          <p:spPr>
            <a:xfrm>
              <a:off x="1588576" y="3980464"/>
              <a:ext cx="2964566" cy="1340243"/>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掃描</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UDP 1434</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端口定位</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SQL Server</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服務，發送携帶惡意負載的</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UDP</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包</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Picture 10" descr="Ram Memory128PX PNG 图标下载">
              <a:extLst>
                <a:ext uri="{FF2B5EF4-FFF2-40B4-BE49-F238E27FC236}">
                  <a16:creationId xmlns:a16="http://schemas.microsoft.com/office/drawing/2014/main" id="{50551548-4307-4469-BD4E-EC26AE1784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7406" y="2917330"/>
              <a:ext cx="801004" cy="42553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箭头连接符 11">
              <a:extLst>
                <a:ext uri="{FF2B5EF4-FFF2-40B4-BE49-F238E27FC236}">
                  <a16:creationId xmlns:a16="http://schemas.microsoft.com/office/drawing/2014/main" id="{C1807B42-065C-4619-9BB7-19C773CAFAF5}"/>
                </a:ext>
              </a:extLst>
            </p:cNvPr>
            <p:cNvCxnSpPr>
              <a:cxnSpLocks/>
            </p:cNvCxnSpPr>
            <p:nvPr/>
          </p:nvCxnSpPr>
          <p:spPr>
            <a:xfrm>
              <a:off x="4607386" y="4660035"/>
              <a:ext cx="5458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 name="Picture 12" descr="cpu128PX PNG 图标下载">
              <a:extLst>
                <a:ext uri="{FF2B5EF4-FFF2-40B4-BE49-F238E27FC236}">
                  <a16:creationId xmlns:a16="http://schemas.microsoft.com/office/drawing/2014/main" id="{48080DD3-4A7A-49A6-A17A-ED9625708C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01537" y="2746794"/>
              <a:ext cx="766603" cy="766603"/>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205DA549-29E2-4738-AAC1-BCE06998E683}"/>
                </a:ext>
              </a:extLst>
            </p:cNvPr>
            <p:cNvSpPr txBox="1"/>
            <p:nvPr/>
          </p:nvSpPr>
          <p:spPr>
            <a:xfrm>
              <a:off x="2101197" y="3599886"/>
              <a:ext cx="196947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I/O </a:t>
              </a: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子系統</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5" name="Picture 14" descr="“stackoverflow”的图片搜索结果">
              <a:extLst>
                <a:ext uri="{FF2B5EF4-FFF2-40B4-BE49-F238E27FC236}">
                  <a16:creationId xmlns:a16="http://schemas.microsoft.com/office/drawing/2014/main" id="{A892A8F4-44CD-42BD-8683-980BBFB2E5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74834" y="2798882"/>
              <a:ext cx="801004" cy="801004"/>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99C505B3-FBA2-491D-A757-C971B82FB0CD}"/>
                </a:ext>
              </a:extLst>
            </p:cNvPr>
            <p:cNvSpPr txBox="1"/>
            <p:nvPr/>
          </p:nvSpPr>
          <p:spPr>
            <a:xfrm>
              <a:off x="5368985" y="3576128"/>
              <a:ext cx="255784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內存管理系統</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8" name="文本框 17">
              <a:extLst>
                <a:ext uri="{FF2B5EF4-FFF2-40B4-BE49-F238E27FC236}">
                  <a16:creationId xmlns:a16="http://schemas.microsoft.com/office/drawing/2014/main" id="{99D028A5-C0CE-47C4-A491-607BFB1C8AB2}"/>
                </a:ext>
              </a:extLst>
            </p:cNvPr>
            <p:cNvSpPr txBox="1"/>
            <p:nvPr/>
          </p:nvSpPr>
          <p:spPr>
            <a:xfrm>
              <a:off x="9105915" y="3575088"/>
              <a:ext cx="255784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進程管理系統</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0" name="直接箭头连接符 19">
              <a:extLst>
                <a:ext uri="{FF2B5EF4-FFF2-40B4-BE49-F238E27FC236}">
                  <a16:creationId xmlns:a16="http://schemas.microsoft.com/office/drawing/2014/main" id="{6C219BCF-D9C6-4F99-A6CB-D3F253E3EA3F}"/>
                </a:ext>
              </a:extLst>
            </p:cNvPr>
            <p:cNvCxnSpPr>
              <a:cxnSpLocks/>
            </p:cNvCxnSpPr>
            <p:nvPr/>
          </p:nvCxnSpPr>
          <p:spPr>
            <a:xfrm>
              <a:off x="8349577" y="4660035"/>
              <a:ext cx="512672"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3" name="Picture 16" descr="hacker128PX PNG 图标下载">
              <a:extLst>
                <a:ext uri="{FF2B5EF4-FFF2-40B4-BE49-F238E27FC236}">
                  <a16:creationId xmlns:a16="http://schemas.microsoft.com/office/drawing/2014/main" id="{A266E3B9-DF31-4E2F-A291-6C5CA73F831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3808" y="4230646"/>
              <a:ext cx="757406" cy="733738"/>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直接箭头连接符 23">
              <a:extLst>
                <a:ext uri="{FF2B5EF4-FFF2-40B4-BE49-F238E27FC236}">
                  <a16:creationId xmlns:a16="http://schemas.microsoft.com/office/drawing/2014/main" id="{E5B00973-1140-4498-8F54-31B2DDCCB6C2}"/>
                </a:ext>
              </a:extLst>
            </p:cNvPr>
            <p:cNvCxnSpPr>
              <a:cxnSpLocks/>
            </p:cNvCxnSpPr>
            <p:nvPr/>
          </p:nvCxnSpPr>
          <p:spPr>
            <a:xfrm>
              <a:off x="986497" y="4660035"/>
              <a:ext cx="4703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a16="http://schemas.microsoft.com/office/drawing/2014/main" id="{3AA76892-DC71-4002-9B48-B29B4123CC04}"/>
                </a:ext>
              </a:extLst>
            </p:cNvPr>
            <p:cNvSpPr/>
            <p:nvPr/>
          </p:nvSpPr>
          <p:spPr>
            <a:xfrm>
              <a:off x="5214003" y="3989913"/>
              <a:ext cx="3033439" cy="1340243"/>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使</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sqlsort.dll</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發生棧溢出：覆蓋棧中保存的返回地址，跳轉執行惡意代碼，劫持進程的控制流</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 name="矩形 25">
              <a:extLst>
                <a:ext uri="{FF2B5EF4-FFF2-40B4-BE49-F238E27FC236}">
                  <a16:creationId xmlns:a16="http://schemas.microsoft.com/office/drawing/2014/main" id="{09F89378-580E-4899-9E13-BCA22D6A3CED}"/>
                </a:ext>
              </a:extLst>
            </p:cNvPr>
            <p:cNvSpPr/>
            <p:nvPr/>
          </p:nvSpPr>
          <p:spPr>
            <a:xfrm>
              <a:off x="8975896" y="3993539"/>
              <a:ext cx="2964566" cy="1340243"/>
            </a:xfrm>
            <a:prstGeom prst="rect">
              <a:avLst/>
            </a:prstGeom>
            <a:ln w="19050">
              <a:solidFill>
                <a:schemeClr val="tx1"/>
              </a:solidFill>
            </a:ln>
          </p:spPr>
          <p:style>
            <a:lnRef idx="2">
              <a:schemeClr val="accent5"/>
            </a:lnRef>
            <a:fillRef idx="1">
              <a:schemeClr val="lt1"/>
            </a:fillRef>
            <a:effectRef idx="0">
              <a:schemeClr val="accent5"/>
            </a:effectRef>
            <a:fontRef idx="minor">
              <a:schemeClr val="dk1"/>
            </a:fontRef>
          </p:style>
          <p:txBody>
            <a:bodyPr rtlCol="0" anchor="ctr"/>
            <a:lstStyle/>
            <a:p>
              <a:pPr marR="0" lvl="0" defTabSz="914400" rtl="0" eaLnBrk="1" fontAlgn="auto" latinLnBrk="0" hangingPunct="1">
                <a:lnSpc>
                  <a:spcPct val="100000"/>
                </a:lnSpc>
                <a:spcBef>
                  <a:spcPts val="0"/>
                </a:spcBef>
                <a:spcAft>
                  <a:spcPts val="0"/>
                </a:spcAft>
                <a:buClrTx/>
                <a:buSzTx/>
                <a:tabLst/>
                <a:defRPr/>
              </a:pP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劫持進程控制流後，借助</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kernel32.dll</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等動態鏈接庫，惡意調用</a:t>
              </a:r>
              <a:r>
                <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UDP</a:t>
              </a:r>
              <a:r>
                <a:rPr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發包函數，實現蠕蟲複製</a:t>
              </a:r>
              <a:endParaRPr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8" name="任意多边形: 形状 27">
              <a:extLst>
                <a:ext uri="{FF2B5EF4-FFF2-40B4-BE49-F238E27FC236}">
                  <a16:creationId xmlns:a16="http://schemas.microsoft.com/office/drawing/2014/main" id="{3A1A0F56-7534-400A-93D0-2FE2436488A6}"/>
                </a:ext>
              </a:extLst>
            </p:cNvPr>
            <p:cNvSpPr/>
            <p:nvPr/>
          </p:nvSpPr>
          <p:spPr>
            <a:xfrm>
              <a:off x="2952427" y="5424680"/>
              <a:ext cx="75631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9" name="Rounded Rectangle 36">
            <a:extLst>
              <a:ext uri="{FF2B5EF4-FFF2-40B4-BE49-F238E27FC236}">
                <a16:creationId xmlns:a16="http://schemas.microsoft.com/office/drawing/2014/main" id="{F86BD136-2ED0-4C9D-8D48-10AF048EAF69}"/>
              </a:ext>
            </a:extLst>
          </p:cNvPr>
          <p:cNvSpPr/>
          <p:nvPr/>
        </p:nvSpPr>
        <p:spPr>
          <a:xfrm>
            <a:off x="205587" y="5901678"/>
            <a:ext cx="11616912" cy="616915"/>
          </a:xfrm>
          <a:prstGeom prst="roundRect">
            <a:avLst>
              <a:gd name="adj" fmla="val 7260"/>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sz="24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rPr>
              <a:t>利用操作系統漏洞是一個分多個步進行的過程，每一步均與操作系統某一模塊相關</a:t>
            </a:r>
            <a:endParaRPr kumimoji="1" lang="bg-BG" altLang="zh-CN" sz="24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4" name="Slide Number Placeholder 7">
            <a:extLst>
              <a:ext uri="{FF2B5EF4-FFF2-40B4-BE49-F238E27FC236}">
                <a16:creationId xmlns:a16="http://schemas.microsoft.com/office/drawing/2014/main" id="{75FACE13-687A-0D6E-7840-4354CB263A1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a:t>
            </a:fld>
            <a:endParaRPr lang="zh-CN" altLang="en-US" sz="1200" dirty="0">
              <a:solidFill>
                <a:schemeClr val="tx1">
                  <a:tint val="75000"/>
                </a:schemeClr>
              </a:solidFill>
            </a:endParaRPr>
          </a:p>
        </p:txBody>
      </p:sp>
    </p:spTree>
    <p:extLst>
      <p:ext uri="{BB962C8B-B14F-4D97-AF65-F5344CB8AC3E}">
        <p14:creationId xmlns:p14="http://schemas.microsoft.com/office/powerpoint/2010/main" val="917562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本章的內容組織</a:t>
            </a:r>
          </a:p>
        </p:txBody>
      </p:sp>
      <p:sp>
        <p:nvSpPr>
          <p:cNvPr id="32" name="矩形 31">
            <a:extLst>
              <a:ext uri="{FF2B5EF4-FFF2-40B4-BE49-F238E27FC236}">
                <a16:creationId xmlns:a16="http://schemas.microsoft.com/office/drawing/2014/main" id="{4B411635-92B4-4FA4-9DE7-A051981BFF24}"/>
              </a:ext>
            </a:extLst>
          </p:cNvPr>
          <p:cNvSpPr/>
          <p:nvPr/>
        </p:nvSpPr>
        <p:spPr>
          <a:xfrm>
            <a:off x="362675" y="2546759"/>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內存管理基礎</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內存棧區攻擊方案</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內存堆區攻擊方案</a:t>
            </a:r>
            <a:endParaRPr lang="en-US" altLang="zh-CN" dirty="0">
              <a:solidFill>
                <a:srgbClr val="000000"/>
              </a:solidFill>
              <a:latin typeface="Microsoft YaHei" panose="020B0503020204020204" pitchFamily="34" charset="-122"/>
              <a:ea typeface="Microsoft YaHei" panose="020B0503020204020204" pitchFamily="34" charset="-122"/>
            </a:endParaRPr>
          </a:p>
        </p:txBody>
      </p:sp>
      <p:pic>
        <p:nvPicPr>
          <p:cNvPr id="33" name="Picture 10" descr="Ram Memory128PX PNG 图标下载">
            <a:extLst>
              <a:ext uri="{FF2B5EF4-FFF2-40B4-BE49-F238E27FC236}">
                <a16:creationId xmlns:a16="http://schemas.microsoft.com/office/drawing/2014/main" id="{F15F14D0-88E0-4A82-BD0E-7057E8E52F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5657" y="1340069"/>
            <a:ext cx="801004" cy="42553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箭头连接符 33">
            <a:extLst>
              <a:ext uri="{FF2B5EF4-FFF2-40B4-BE49-F238E27FC236}">
                <a16:creationId xmlns:a16="http://schemas.microsoft.com/office/drawing/2014/main" id="{05F5F04B-EB3E-4009-ABE5-25B7C948D024}"/>
              </a:ext>
            </a:extLst>
          </p:cNvPr>
          <p:cNvCxnSpPr>
            <a:cxnSpLocks/>
          </p:cNvCxnSpPr>
          <p:nvPr/>
        </p:nvCxnSpPr>
        <p:spPr>
          <a:xfrm>
            <a:off x="2810209" y="3366907"/>
            <a:ext cx="5708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35" name="Picture 12" descr="cpu128PX PNG 图标下载">
            <a:extLst>
              <a:ext uri="{FF2B5EF4-FFF2-40B4-BE49-F238E27FC236}">
                <a16:creationId xmlns:a16="http://schemas.microsoft.com/office/drawing/2014/main" id="{140C662E-2906-45DA-A4D2-08ED59F065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9584" y="1169533"/>
            <a:ext cx="766603" cy="766603"/>
          </a:xfrm>
          <a:prstGeom prst="rect">
            <a:avLst/>
          </a:prstGeom>
          <a:noFill/>
          <a:extLst>
            <a:ext uri="{909E8E84-426E-40DD-AFC4-6F175D3DCCD1}">
              <a14:hiddenFill xmlns:a14="http://schemas.microsoft.com/office/drawing/2010/main">
                <a:solidFill>
                  <a:srgbClr val="FFFFFF"/>
                </a:solidFill>
              </a14:hiddenFill>
            </a:ext>
          </a:extLst>
        </p:spPr>
      </p:pic>
      <p:sp>
        <p:nvSpPr>
          <p:cNvPr id="38" name="文本框 37">
            <a:extLst>
              <a:ext uri="{FF2B5EF4-FFF2-40B4-BE49-F238E27FC236}">
                <a16:creationId xmlns:a16="http://schemas.microsoft.com/office/drawing/2014/main" id="{F540C719-77AE-4A32-86F3-5D1628643C4F}"/>
              </a:ext>
            </a:extLst>
          </p:cNvPr>
          <p:cNvSpPr txBox="1"/>
          <p:nvPr/>
        </p:nvSpPr>
        <p:spPr>
          <a:xfrm>
            <a:off x="547754" y="1893277"/>
            <a:ext cx="19694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基礎攻擊方案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0" name="Picture 14" descr="“stackoverflow”的图片搜索结果">
            <a:extLst>
              <a:ext uri="{FF2B5EF4-FFF2-40B4-BE49-F238E27FC236}">
                <a16:creationId xmlns:a16="http://schemas.microsoft.com/office/drawing/2014/main" id="{5228DCEF-006A-4D7B-BCC2-E84C669D30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21391" y="1221621"/>
            <a:ext cx="801004" cy="801004"/>
          </a:xfrm>
          <a:prstGeom prst="rect">
            <a:avLst/>
          </a:prstGeom>
          <a:noFill/>
          <a:extLst>
            <a:ext uri="{909E8E84-426E-40DD-AFC4-6F175D3DCCD1}">
              <a14:hiddenFill xmlns:a14="http://schemas.microsoft.com/office/drawing/2010/main">
                <a:solidFill>
                  <a:srgbClr val="FFFFFF"/>
                </a:solidFill>
              </a14:hiddenFill>
            </a:ext>
          </a:extLst>
        </p:spPr>
      </p:pic>
      <p:sp>
        <p:nvSpPr>
          <p:cNvPr id="41" name="文本框 40">
            <a:extLst>
              <a:ext uri="{FF2B5EF4-FFF2-40B4-BE49-F238E27FC236}">
                <a16:creationId xmlns:a16="http://schemas.microsoft.com/office/drawing/2014/main" id="{86FB5AAF-C17B-40AB-8EDE-950B494F4309}"/>
              </a:ext>
            </a:extLst>
          </p:cNvPr>
          <p:cNvSpPr txBox="1"/>
          <p:nvPr/>
        </p:nvSpPr>
        <p:spPr>
          <a:xfrm>
            <a:off x="3257236" y="1859327"/>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基礎防禦方案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2" name="矩形 41">
            <a:extLst>
              <a:ext uri="{FF2B5EF4-FFF2-40B4-BE49-F238E27FC236}">
                <a16:creationId xmlns:a16="http://schemas.microsoft.com/office/drawing/2014/main" id="{523C061F-AD85-41F0-86E0-23CFD5E54F16}"/>
              </a:ext>
            </a:extLst>
          </p:cNvPr>
          <p:cNvSpPr/>
          <p:nvPr/>
        </p:nvSpPr>
        <p:spPr>
          <a:xfrm>
            <a:off x="3405678" y="2546759"/>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W^X</a:t>
            </a:r>
            <a:r>
              <a:rPr lang="zh-CN" altLang="en-US" dirty="0">
                <a:solidFill>
                  <a:srgbClr val="000000"/>
                </a:solidFill>
                <a:latin typeface="Microsoft YaHei" panose="020B0503020204020204" pitchFamily="34" charset="-122"/>
                <a:ea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rPr>
              <a:t>(NX, DEP)</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ASLR</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Stack Canary</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SMAP, SMEP</a:t>
            </a:r>
          </a:p>
        </p:txBody>
      </p:sp>
      <p:sp>
        <p:nvSpPr>
          <p:cNvPr id="43" name="文本框 42">
            <a:extLst>
              <a:ext uri="{FF2B5EF4-FFF2-40B4-BE49-F238E27FC236}">
                <a16:creationId xmlns:a16="http://schemas.microsoft.com/office/drawing/2014/main" id="{62E7373B-D1C9-43BE-A928-FE0234A01B7A}"/>
              </a:ext>
            </a:extLst>
          </p:cNvPr>
          <p:cNvSpPr txBox="1"/>
          <p:nvPr/>
        </p:nvSpPr>
        <p:spPr>
          <a:xfrm>
            <a:off x="6374410" y="1888605"/>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高級控制流劫持技術</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4" name="矩形 43">
            <a:extLst>
              <a:ext uri="{FF2B5EF4-FFF2-40B4-BE49-F238E27FC236}">
                <a16:creationId xmlns:a16="http://schemas.microsoft.com/office/drawing/2014/main" id="{838FC076-C2F9-4776-AB77-A8583D7AE7CB}"/>
              </a:ext>
            </a:extLst>
          </p:cNvPr>
          <p:cNvSpPr/>
          <p:nvPr/>
        </p:nvSpPr>
        <p:spPr>
          <a:xfrm>
            <a:off x="6466524" y="2565400"/>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進程執行細節</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面向返回地址編程</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全域偏置表劫持</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虛假</a:t>
            </a:r>
            <a:r>
              <a:rPr lang="en-US" altLang="zh-CN" dirty="0" err="1">
                <a:solidFill>
                  <a:srgbClr val="000000"/>
                </a:solidFill>
                <a:latin typeface="Microsoft YaHei" panose="020B0503020204020204" pitchFamily="34" charset="-122"/>
                <a:ea typeface="Microsoft YaHei" panose="020B0503020204020204" pitchFamily="34" charset="-122"/>
              </a:rPr>
              <a:t>vtable</a:t>
            </a:r>
            <a:r>
              <a:rPr lang="zh-CN" altLang="en-US" dirty="0">
                <a:solidFill>
                  <a:srgbClr val="000000"/>
                </a:solidFill>
                <a:latin typeface="Microsoft YaHei" panose="020B0503020204020204" pitchFamily="34" charset="-122"/>
                <a:ea typeface="Microsoft YaHei" panose="020B0503020204020204" pitchFamily="34" charset="-122"/>
              </a:rPr>
              <a:t>劫持</a:t>
            </a:r>
            <a:endParaRPr lang="en-US" altLang="zh-CN" dirty="0">
              <a:solidFill>
                <a:srgbClr val="000000"/>
              </a:solidFill>
              <a:latin typeface="Microsoft YaHei" panose="020B0503020204020204" pitchFamily="34" charset="-122"/>
              <a:ea typeface="Microsoft YaHei" panose="020B0503020204020204" pitchFamily="34" charset="-122"/>
            </a:endParaRPr>
          </a:p>
        </p:txBody>
      </p:sp>
      <p:cxnSp>
        <p:nvCxnSpPr>
          <p:cNvPr id="45" name="直接箭头连接符 44">
            <a:extLst>
              <a:ext uri="{FF2B5EF4-FFF2-40B4-BE49-F238E27FC236}">
                <a16:creationId xmlns:a16="http://schemas.microsoft.com/office/drawing/2014/main" id="{71665DCD-5293-49E0-9E10-39D646599F4F}"/>
              </a:ext>
            </a:extLst>
          </p:cNvPr>
          <p:cNvCxnSpPr>
            <a:cxnSpLocks/>
          </p:cNvCxnSpPr>
          <p:nvPr/>
        </p:nvCxnSpPr>
        <p:spPr>
          <a:xfrm>
            <a:off x="5845814" y="3366907"/>
            <a:ext cx="5687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7BAE5F38-684E-43BB-8591-E267EAE2D6D1}"/>
              </a:ext>
            </a:extLst>
          </p:cNvPr>
          <p:cNvSpPr/>
          <p:nvPr/>
        </p:nvSpPr>
        <p:spPr>
          <a:xfrm>
            <a:off x="362675" y="4628751"/>
            <a:ext cx="2409640" cy="967875"/>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C00000"/>
                </a:solidFill>
                <a:latin typeface="Microsoft YaHei" panose="020B0503020204020204" pitchFamily="34" charset="-122"/>
                <a:ea typeface="Microsoft YaHei" panose="020B0503020204020204" pitchFamily="34" charset="-122"/>
              </a:rPr>
              <a:t>內存爲對象的攻擊</a:t>
            </a:r>
            <a:endParaRPr kumimoji="1" lang="en-US" altLang="zh-CN" dirty="0">
              <a:solidFill>
                <a:srgbClr val="C00000"/>
              </a:solidFill>
              <a:latin typeface="Microsoft YaHei" panose="020B0503020204020204" pitchFamily="34" charset="-122"/>
              <a:ea typeface="Microsoft YaHei" panose="020B0503020204020204" pitchFamily="34" charset="-122"/>
            </a:endParaRPr>
          </a:p>
          <a:p>
            <a:pPr algn="ctr"/>
            <a:r>
              <a:rPr kumimoji="1" lang="zh-CN" altLang="en-US" dirty="0">
                <a:solidFill>
                  <a:schemeClr val="tx1"/>
                </a:solidFill>
                <a:latin typeface="Microsoft YaHei" panose="020B0503020204020204" pitchFamily="34" charset="-122"/>
                <a:ea typeface="Microsoft YaHei" panose="020B0503020204020204" pitchFamily="34" charset="-122"/>
              </a:rPr>
              <a:t>以內存爲對象的簡單攻擊方案</a:t>
            </a:r>
            <a:endParaRPr kumimoji="1" lang="en-US" altLang="zh-CN" dirty="0">
              <a:solidFill>
                <a:schemeClr val="tx1"/>
              </a:solidFill>
              <a:latin typeface="Microsoft YaHei" panose="020B0503020204020204" pitchFamily="34" charset="-122"/>
              <a:ea typeface="Microsoft YaHei" panose="020B0503020204020204" pitchFamily="34" charset="-122"/>
            </a:endParaRPr>
          </a:p>
        </p:txBody>
      </p:sp>
      <p:sp>
        <p:nvSpPr>
          <p:cNvPr id="51" name="矩形 50">
            <a:extLst>
              <a:ext uri="{FF2B5EF4-FFF2-40B4-BE49-F238E27FC236}">
                <a16:creationId xmlns:a16="http://schemas.microsoft.com/office/drawing/2014/main" id="{DEE66AA7-32D7-473E-A49F-B85D36A8CABE}"/>
              </a:ext>
            </a:extLst>
          </p:cNvPr>
          <p:cNvSpPr/>
          <p:nvPr/>
        </p:nvSpPr>
        <p:spPr>
          <a:xfrm>
            <a:off x="3405679" y="4637281"/>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0070C0"/>
                </a:solidFill>
                <a:latin typeface="Microsoft YaHei" panose="020B0503020204020204" pitchFamily="34" charset="-122"/>
                <a:ea typeface="Microsoft YaHei" panose="020B0503020204020204" pitchFamily="34" charset="-122"/>
              </a:rPr>
              <a:t>內存粒度的防禦方案</a:t>
            </a:r>
            <a:endParaRPr kumimoji="1" lang="en-US" altLang="zh-CN" dirty="0">
              <a:solidFill>
                <a:srgbClr val="0070C0"/>
              </a:solidFill>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防禦基礎內存攻擊的方案</a:t>
            </a:r>
            <a:endParaRPr kumimoji="1" lang="en-US" altLang="zh-CN" dirty="0">
              <a:latin typeface="Microsoft YaHei" panose="020B0503020204020204" pitchFamily="34" charset="-122"/>
              <a:ea typeface="Microsoft YaHei" panose="020B0503020204020204" pitchFamily="34" charset="-122"/>
            </a:endParaRPr>
          </a:p>
        </p:txBody>
      </p:sp>
      <p:sp>
        <p:nvSpPr>
          <p:cNvPr id="52" name="矩形 51">
            <a:extLst>
              <a:ext uri="{FF2B5EF4-FFF2-40B4-BE49-F238E27FC236}">
                <a16:creationId xmlns:a16="http://schemas.microsoft.com/office/drawing/2014/main" id="{F5412045-9E9E-494F-BC06-81FBA7106067}"/>
              </a:ext>
            </a:extLst>
          </p:cNvPr>
          <p:cNvSpPr/>
          <p:nvPr/>
        </p:nvSpPr>
        <p:spPr>
          <a:xfrm>
            <a:off x="6466525" y="4637281"/>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C00000"/>
                </a:solidFill>
                <a:latin typeface="Microsoft YaHei" panose="020B0503020204020204" pitchFamily="34" charset="-122"/>
                <a:ea typeface="Microsoft YaHei" panose="020B0503020204020204" pitchFamily="34" charset="-122"/>
              </a:rPr>
              <a:t>惡意修改進程行爲</a:t>
            </a:r>
            <a:endParaRPr kumimoji="1" lang="en-US" altLang="zh-CN" dirty="0">
              <a:solidFill>
                <a:srgbClr val="C00000"/>
              </a:solidFill>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基于第一章的攻擊</a:t>
            </a:r>
            <a:endParaRPr kumimoji="1" lang="en-US" altLang="zh-CN" dirty="0">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繞過第二章基礎防禦</a:t>
            </a:r>
            <a:endParaRPr kumimoji="1" lang="en-US" altLang="zh-CN" dirty="0">
              <a:latin typeface="Microsoft YaHei" panose="020B0503020204020204" pitchFamily="34" charset="-122"/>
              <a:ea typeface="Microsoft YaHei" panose="020B0503020204020204" pitchFamily="34" charset="-122"/>
            </a:endParaRPr>
          </a:p>
        </p:txBody>
      </p:sp>
      <p:cxnSp>
        <p:nvCxnSpPr>
          <p:cNvPr id="53" name="直接箭头连接符 52">
            <a:extLst>
              <a:ext uri="{FF2B5EF4-FFF2-40B4-BE49-F238E27FC236}">
                <a16:creationId xmlns:a16="http://schemas.microsoft.com/office/drawing/2014/main" id="{AE1E9B2C-7A8E-442B-95D5-D10283AA4B9A}"/>
              </a:ext>
            </a:extLst>
          </p:cNvPr>
          <p:cNvCxnSpPr>
            <a:cxnSpLocks/>
          </p:cNvCxnSpPr>
          <p:nvPr/>
        </p:nvCxnSpPr>
        <p:spPr>
          <a:xfrm flipV="1">
            <a:off x="1532492" y="4136653"/>
            <a:ext cx="0" cy="382188"/>
          </a:xfrm>
          <a:prstGeom prst="straightConnector1">
            <a:avLst/>
          </a:prstGeom>
          <a:ln w="127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B861E6C3-9B0C-482B-A3F9-70A0D154663D}"/>
              </a:ext>
            </a:extLst>
          </p:cNvPr>
          <p:cNvCxnSpPr>
            <a:cxnSpLocks/>
          </p:cNvCxnSpPr>
          <p:nvPr/>
        </p:nvCxnSpPr>
        <p:spPr>
          <a:xfrm flipV="1">
            <a:off x="4628345" y="4152671"/>
            <a:ext cx="0" cy="366170"/>
          </a:xfrm>
          <a:prstGeom prst="straightConnector1">
            <a:avLst/>
          </a:prstGeom>
          <a:ln w="12700">
            <a:solidFill>
              <a:schemeClr val="accent3"/>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2033B777-EFC9-4EDA-B77A-B5ABE32918F9}"/>
              </a:ext>
            </a:extLst>
          </p:cNvPr>
          <p:cNvCxnSpPr>
            <a:cxnSpLocks/>
          </p:cNvCxnSpPr>
          <p:nvPr/>
        </p:nvCxnSpPr>
        <p:spPr>
          <a:xfrm flipV="1">
            <a:off x="7646674" y="4151349"/>
            <a:ext cx="0" cy="367492"/>
          </a:xfrm>
          <a:prstGeom prst="straightConnector1">
            <a:avLst/>
          </a:prstGeom>
          <a:ln w="127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B5F98E10-C5E6-42F5-B576-317EA92E46AE}"/>
              </a:ext>
            </a:extLst>
          </p:cNvPr>
          <p:cNvSpPr txBox="1"/>
          <p:nvPr/>
        </p:nvSpPr>
        <p:spPr>
          <a:xfrm>
            <a:off x="9404439" y="1888605"/>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高級系統保護方案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1" name="矩形 60">
            <a:extLst>
              <a:ext uri="{FF2B5EF4-FFF2-40B4-BE49-F238E27FC236}">
                <a16:creationId xmlns:a16="http://schemas.microsoft.com/office/drawing/2014/main" id="{78B66C47-D6B7-49BD-8C26-200493D1F0E8}"/>
              </a:ext>
            </a:extLst>
          </p:cNvPr>
          <p:cNvSpPr/>
          <p:nvPr/>
        </p:nvSpPr>
        <p:spPr>
          <a:xfrm>
            <a:off x="9496553" y="2565400"/>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控制流完整性</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指針完整性</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信息流控制</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I/O</a:t>
            </a:r>
            <a:r>
              <a:rPr lang="zh-CN" altLang="en-US" dirty="0">
                <a:solidFill>
                  <a:srgbClr val="000000"/>
                </a:solidFill>
                <a:latin typeface="Microsoft YaHei" panose="020B0503020204020204" pitchFamily="34" charset="-122"/>
                <a:ea typeface="Microsoft YaHei" panose="020B0503020204020204" pitchFamily="34" charset="-122"/>
              </a:rPr>
              <a:t>子系統保護</a:t>
            </a:r>
            <a:endParaRPr lang="en-US" altLang="zh-CN" dirty="0">
              <a:solidFill>
                <a:srgbClr val="000000"/>
              </a:solidFill>
              <a:latin typeface="Microsoft YaHei" panose="020B0503020204020204" pitchFamily="34" charset="-122"/>
              <a:ea typeface="Microsoft YaHei" panose="020B0503020204020204" pitchFamily="34" charset="-122"/>
            </a:endParaRPr>
          </a:p>
        </p:txBody>
      </p:sp>
      <p:sp>
        <p:nvSpPr>
          <p:cNvPr id="62" name="矩形 61">
            <a:extLst>
              <a:ext uri="{FF2B5EF4-FFF2-40B4-BE49-F238E27FC236}">
                <a16:creationId xmlns:a16="http://schemas.microsoft.com/office/drawing/2014/main" id="{35FB1470-EBB7-4804-923E-806D50060476}"/>
              </a:ext>
            </a:extLst>
          </p:cNvPr>
          <p:cNvSpPr/>
          <p:nvPr/>
        </p:nvSpPr>
        <p:spPr>
          <a:xfrm>
            <a:off x="9501555" y="4628747"/>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0070C0"/>
                </a:solidFill>
                <a:latin typeface="Microsoft YaHei" panose="020B0503020204020204" pitchFamily="34" charset="-122"/>
                <a:ea typeface="Microsoft YaHei" panose="020B0503020204020204" pitchFamily="34" charset="-122"/>
              </a:rPr>
              <a:t>系統粒度的防禦方案</a:t>
            </a:r>
            <a:endParaRPr kumimoji="1" lang="en-US" altLang="zh-CN" dirty="0">
              <a:solidFill>
                <a:srgbClr val="0070C0"/>
              </a:solidFill>
              <a:latin typeface="Microsoft YaHei" panose="020B0503020204020204" pitchFamily="34" charset="-122"/>
              <a:ea typeface="Microsoft YaHei" panose="020B0503020204020204" pitchFamily="34" charset="-122"/>
            </a:endParaRPr>
          </a:p>
          <a:p>
            <a:pPr algn="ctr"/>
            <a:r>
              <a:rPr kumimoji="1" lang="zh-CN" altLang="en-US" dirty="0">
                <a:solidFill>
                  <a:schemeClr val="tx1"/>
                </a:solidFill>
                <a:latin typeface="Microsoft YaHei" panose="020B0503020204020204" pitchFamily="34" charset="-122"/>
                <a:ea typeface="Microsoft YaHei" panose="020B0503020204020204" pitchFamily="34" charset="-122"/>
              </a:rPr>
              <a:t>通過更嚴格的安全機制防禦控制流劫持</a:t>
            </a:r>
            <a:endParaRPr kumimoji="1" lang="en-US" altLang="zh-CN" dirty="0">
              <a:solidFill>
                <a:schemeClr val="tx1"/>
              </a:solidFill>
              <a:latin typeface="Microsoft YaHei" panose="020B0503020204020204" pitchFamily="34" charset="-122"/>
              <a:ea typeface="Microsoft YaHei" panose="020B0503020204020204" pitchFamily="34" charset="-122"/>
            </a:endParaRPr>
          </a:p>
        </p:txBody>
      </p:sp>
      <p:cxnSp>
        <p:nvCxnSpPr>
          <p:cNvPr id="63" name="直接箭头连接符 62">
            <a:extLst>
              <a:ext uri="{FF2B5EF4-FFF2-40B4-BE49-F238E27FC236}">
                <a16:creationId xmlns:a16="http://schemas.microsoft.com/office/drawing/2014/main" id="{7F2D128C-3916-4268-A340-29420CFD78DA}"/>
              </a:ext>
            </a:extLst>
          </p:cNvPr>
          <p:cNvCxnSpPr>
            <a:cxnSpLocks/>
          </p:cNvCxnSpPr>
          <p:nvPr/>
        </p:nvCxnSpPr>
        <p:spPr>
          <a:xfrm flipV="1">
            <a:off x="10701375" y="4120003"/>
            <a:ext cx="0" cy="367492"/>
          </a:xfrm>
          <a:prstGeom prst="straightConnector1">
            <a:avLst/>
          </a:prstGeom>
          <a:ln w="12700">
            <a:solidFill>
              <a:schemeClr val="accent3"/>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FF33E94C-6628-4DCC-8C13-F12505AE0BD3}"/>
              </a:ext>
            </a:extLst>
          </p:cNvPr>
          <p:cNvCxnSpPr>
            <a:cxnSpLocks/>
          </p:cNvCxnSpPr>
          <p:nvPr/>
        </p:nvCxnSpPr>
        <p:spPr>
          <a:xfrm>
            <a:off x="8952200" y="3366907"/>
            <a:ext cx="503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computer128PX PNG 图标下载">
            <a:extLst>
              <a:ext uri="{FF2B5EF4-FFF2-40B4-BE49-F238E27FC236}">
                <a16:creationId xmlns:a16="http://schemas.microsoft.com/office/drawing/2014/main" id="{8D37AB16-2146-4BF6-9DE7-8AE270926E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05561" y="1245492"/>
            <a:ext cx="753786" cy="647785"/>
          </a:xfrm>
          <a:prstGeom prst="rect">
            <a:avLst/>
          </a:prstGeom>
          <a:noFill/>
          <a:extLst>
            <a:ext uri="{909E8E84-426E-40DD-AFC4-6F175D3DCCD1}">
              <a14:hiddenFill xmlns:a14="http://schemas.microsoft.com/office/drawing/2010/main">
                <a:solidFill>
                  <a:srgbClr val="FFFFFF"/>
                </a:solidFill>
              </a14:hiddenFill>
            </a:ext>
          </a:extLst>
        </p:spPr>
      </p:pic>
      <p:sp>
        <p:nvSpPr>
          <p:cNvPr id="26" name="任意多边形: 形状 25">
            <a:extLst>
              <a:ext uri="{FF2B5EF4-FFF2-40B4-BE49-F238E27FC236}">
                <a16:creationId xmlns:a16="http://schemas.microsoft.com/office/drawing/2014/main" id="{B6B85D50-6110-44F1-B0FA-E8E719AEDF56}"/>
              </a:ext>
            </a:extLst>
          </p:cNvPr>
          <p:cNvSpPr/>
          <p:nvPr/>
        </p:nvSpPr>
        <p:spPr>
          <a:xfrm>
            <a:off x="2002758" y="5675563"/>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D1341A0F-A202-47EB-A1D2-52401347504A}"/>
              </a:ext>
            </a:extLst>
          </p:cNvPr>
          <p:cNvSpPr/>
          <p:nvPr/>
        </p:nvSpPr>
        <p:spPr>
          <a:xfrm>
            <a:off x="5303194" y="5676083"/>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任意多边形: 形状 27">
            <a:extLst>
              <a:ext uri="{FF2B5EF4-FFF2-40B4-BE49-F238E27FC236}">
                <a16:creationId xmlns:a16="http://schemas.microsoft.com/office/drawing/2014/main" id="{6F3B0747-C3C8-4AE6-B250-E05C1D01B170}"/>
              </a:ext>
            </a:extLst>
          </p:cNvPr>
          <p:cNvSpPr/>
          <p:nvPr/>
        </p:nvSpPr>
        <p:spPr>
          <a:xfrm>
            <a:off x="8354911" y="5689000"/>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EE93C66-B57D-4705-89AC-791592B4D923}"/>
              </a:ext>
            </a:extLst>
          </p:cNvPr>
          <p:cNvSpPr txBox="1"/>
          <p:nvPr/>
        </p:nvSpPr>
        <p:spPr>
          <a:xfrm>
            <a:off x="1691988" y="5966902"/>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rPr>
              <a:t>有效防禦</a:t>
            </a:r>
            <a:endParaRPr lang="en-US" altLang="zh-CN"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7" name="文本框 36">
            <a:extLst>
              <a:ext uri="{FF2B5EF4-FFF2-40B4-BE49-F238E27FC236}">
                <a16:creationId xmlns:a16="http://schemas.microsoft.com/office/drawing/2014/main" id="{9023ED6D-4934-472A-A353-E60A0966F592}"/>
              </a:ext>
            </a:extLst>
          </p:cNvPr>
          <p:cNvSpPr txBox="1"/>
          <p:nvPr/>
        </p:nvSpPr>
        <p:spPr>
          <a:xfrm>
            <a:off x="4986032" y="5986063"/>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成功繞過</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9" name="文本框 38">
            <a:extLst>
              <a:ext uri="{FF2B5EF4-FFF2-40B4-BE49-F238E27FC236}">
                <a16:creationId xmlns:a16="http://schemas.microsoft.com/office/drawing/2014/main" id="{A5D2C819-6F5B-429A-8EFA-D2A8B45570C3}"/>
              </a:ext>
            </a:extLst>
          </p:cNvPr>
          <p:cNvSpPr txBox="1"/>
          <p:nvPr/>
        </p:nvSpPr>
        <p:spPr>
          <a:xfrm>
            <a:off x="8046187" y="6011555"/>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rPr>
              <a:t>有效防禦</a:t>
            </a:r>
            <a:endParaRPr lang="en-US" altLang="zh-CN"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lide Number Placeholder 7">
            <a:extLst>
              <a:ext uri="{FF2B5EF4-FFF2-40B4-BE49-F238E27FC236}">
                <a16:creationId xmlns:a16="http://schemas.microsoft.com/office/drawing/2014/main" id="{CE8C8502-09C4-C6FD-6A66-07C36EC0621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12</a:t>
            </a:fld>
            <a:endParaRPr lang="zh-CN" altLang="en-US" sz="1200" dirty="0">
              <a:solidFill>
                <a:schemeClr val="tx1">
                  <a:tint val="75000"/>
                </a:schemeClr>
              </a:solidFill>
            </a:endParaRPr>
          </a:p>
        </p:txBody>
      </p:sp>
    </p:spTree>
    <p:extLst>
      <p:ext uri="{BB962C8B-B14F-4D97-AF65-F5344CB8AC3E}">
        <p14:creationId xmlns:p14="http://schemas.microsoft.com/office/powerpoint/2010/main" val="2841224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60008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573234"/>
            <a:ext cx="3820277"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1.1 </a:t>
            </a:r>
            <a:r>
              <a:rPr lang="zh-CN" altLang="en-US" sz="2400" b="1" dirty="0">
                <a:solidFill>
                  <a:srgbClr val="C00000"/>
                </a:solidFill>
                <a:latin typeface="Microsoft YaHei" panose="020B0503020204020204" pitchFamily="34" charset="-122"/>
                <a:ea typeface="Microsoft YaHei" panose="020B0503020204020204" pitchFamily="34" charset="-122"/>
              </a:rPr>
              <a:t>操作系統內存管理基礎</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243056"/>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219410"/>
            <a:ext cx="3546164"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1.2 </a:t>
            </a:r>
            <a:r>
              <a:rPr lang="zh-CN" altLang="en-US" sz="2400" dirty="0">
                <a:latin typeface="Microsoft YaHei" panose="020B0503020204020204" pitchFamily="34" charset="-122"/>
                <a:ea typeface="Microsoft YaHei" panose="020B0503020204020204" pitchFamily="34" charset="-122"/>
              </a:rPr>
              <a:t>基礎的棧區攻擊方案</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492120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4900756"/>
            <a:ext cx="3546164"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1.3 </a:t>
            </a:r>
            <a:r>
              <a:rPr lang="zh-CN" altLang="en-US" sz="2400" dirty="0">
                <a:latin typeface="Microsoft YaHei" panose="020B0503020204020204" pitchFamily="34" charset="-122"/>
                <a:ea typeface="Microsoft YaHei" panose="020B0503020204020204" pitchFamily="34" charset="-122"/>
              </a:rPr>
              <a:t>基礎的堆區攻擊方案</a:t>
            </a:r>
          </a:p>
        </p:txBody>
      </p:sp>
      <p:sp>
        <p:nvSpPr>
          <p:cNvPr id="31" name="矩形 30">
            <a:extLst>
              <a:ext uri="{FF2B5EF4-FFF2-40B4-BE49-F238E27FC236}">
                <a16:creationId xmlns:a16="http://schemas.microsoft.com/office/drawing/2014/main" id="{1BDB0F87-2D75-4A4B-851D-856E1A323F75}"/>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2" name="矩形 31">
            <a:extLst>
              <a:ext uri="{FF2B5EF4-FFF2-40B4-BE49-F238E27FC236}">
                <a16:creationId xmlns:a16="http://schemas.microsoft.com/office/drawing/2014/main" id="{11517EE3-A944-4305-B8E1-14CCF0C1A302}"/>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3" name="矩形 32">
            <a:extLst>
              <a:ext uri="{FF2B5EF4-FFF2-40B4-BE49-F238E27FC236}">
                <a16:creationId xmlns:a16="http://schemas.microsoft.com/office/drawing/2014/main" id="{26643AF7-6316-4AC8-9923-F218B1A01E58}"/>
              </a:ext>
            </a:extLst>
          </p:cNvPr>
          <p:cNvSpPr/>
          <p:nvPr/>
        </p:nvSpPr>
        <p:spPr>
          <a:xfrm>
            <a:off x="4711535" y="2072918"/>
            <a:ext cx="6808274" cy="707886"/>
          </a:xfrm>
          <a:prstGeom prst="rect">
            <a:avLst/>
          </a:prstGeom>
        </p:spPr>
        <p:txBody>
          <a:bodyPr wrap="non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操作系統基礎攻擊方案</a:t>
            </a:r>
          </a:p>
        </p:txBody>
      </p:sp>
      <p:pic>
        <p:nvPicPr>
          <p:cNvPr id="34" name="图片 33">
            <a:extLst>
              <a:ext uri="{FF2B5EF4-FFF2-40B4-BE49-F238E27FC236}">
                <a16:creationId xmlns:a16="http://schemas.microsoft.com/office/drawing/2014/main" id="{80A1BA1D-17BB-4B07-95A1-732C44844A03}"/>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827511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DCF4906D-2783-3E4A-89E7-B57BA84BC6B3}"/>
              </a:ext>
            </a:extLst>
          </p:cNvPr>
          <p:cNvSpPr>
            <a:spLocks/>
          </p:cNvSpPr>
          <p:nvPr/>
        </p:nvSpPr>
        <p:spPr bwMode="auto">
          <a:xfrm>
            <a:off x="447675" y="1193800"/>
            <a:ext cx="6677025" cy="475667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normAutofit/>
          </a:bodyPr>
          <a:lstStyle/>
          <a:p>
            <a:r>
              <a:rPr kumimoji="1" lang="zh-CN" altLang="en-US" dirty="0"/>
              <a:t>進程角度的內存管理</a:t>
            </a:r>
          </a:p>
        </p:txBody>
      </p:sp>
      <p:sp>
        <p:nvSpPr>
          <p:cNvPr id="38" name="文本框 14">
            <a:extLst>
              <a:ext uri="{FF2B5EF4-FFF2-40B4-BE49-F238E27FC236}">
                <a16:creationId xmlns:a16="http://schemas.microsoft.com/office/drawing/2014/main" id="{27160EDA-8FD9-4F6D-B140-55CB059CC8DF}"/>
              </a:ext>
            </a:extLst>
          </p:cNvPr>
          <p:cNvSpPr txBox="1"/>
          <p:nvPr/>
        </p:nvSpPr>
        <p:spPr>
          <a:xfrm>
            <a:off x="492509" y="1479006"/>
            <a:ext cx="6379632" cy="3743461"/>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內核爲每一個進程維護一個</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獨立的</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綫性邏輯地址空間，以便于實現進程間內存的相互隔離</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這一綫性邏輯地址空間被分爲</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用戶空間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內核空間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；用戶態下僅可訪問用戶空間，系統調用提供接口以訪問內核空間；內核態下亦無法訪問用戶空間</a:t>
            </a:r>
            <a:endPar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0" name="组合 39">
            <a:extLst>
              <a:ext uri="{FF2B5EF4-FFF2-40B4-BE49-F238E27FC236}">
                <a16:creationId xmlns:a16="http://schemas.microsoft.com/office/drawing/2014/main" id="{43786A81-BCCB-48BB-9B0A-D0EBC978A60C}"/>
              </a:ext>
            </a:extLst>
          </p:cNvPr>
          <p:cNvGrpSpPr/>
          <p:nvPr/>
        </p:nvGrpSpPr>
        <p:grpSpPr>
          <a:xfrm>
            <a:off x="6879950" y="1659777"/>
            <a:ext cx="4266315" cy="4506570"/>
            <a:chOff x="7543345" y="1557501"/>
            <a:chExt cx="4266315" cy="4506570"/>
          </a:xfrm>
        </p:grpSpPr>
        <p:sp>
          <p:nvSpPr>
            <p:cNvPr id="41" name="矩形 40">
              <a:extLst>
                <a:ext uri="{FF2B5EF4-FFF2-40B4-BE49-F238E27FC236}">
                  <a16:creationId xmlns:a16="http://schemas.microsoft.com/office/drawing/2014/main" id="{40F1C18B-6466-4AE6-95EC-B2ADDE8E8083}"/>
                </a:ext>
              </a:extLst>
            </p:cNvPr>
            <p:cNvSpPr/>
            <p:nvPr/>
          </p:nvSpPr>
          <p:spPr>
            <a:xfrm>
              <a:off x="8124031" y="1742167"/>
              <a:ext cx="2011487" cy="3303558"/>
            </a:xfrm>
            <a:prstGeom prst="rect">
              <a:avLst/>
            </a:prstGeom>
            <a:no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42" name="直接连接符 41">
              <a:extLst>
                <a:ext uri="{FF2B5EF4-FFF2-40B4-BE49-F238E27FC236}">
                  <a16:creationId xmlns:a16="http://schemas.microsoft.com/office/drawing/2014/main" id="{BE6F3D47-14E4-407C-B0D0-2D7F83FCDEFA}"/>
                </a:ext>
              </a:extLst>
            </p:cNvPr>
            <p:cNvCxnSpPr/>
            <p:nvPr/>
          </p:nvCxnSpPr>
          <p:spPr>
            <a:xfrm>
              <a:off x="8119989" y="2622014"/>
              <a:ext cx="2016000" cy="0"/>
            </a:xfrm>
            <a:prstGeom prst="line">
              <a:avLst/>
            </a:prstGeom>
            <a:noFill/>
            <a:ln w="12700" cap="flat" cmpd="sng" algn="ctr">
              <a:solidFill>
                <a:srgbClr val="000000"/>
              </a:solidFill>
              <a:prstDash val="solid"/>
              <a:miter lim="800000"/>
            </a:ln>
            <a:effectLst/>
          </p:spPr>
        </p:cxnSp>
        <p:sp>
          <p:nvSpPr>
            <p:cNvPr id="43" name="文本框 42">
              <a:extLst>
                <a:ext uri="{FF2B5EF4-FFF2-40B4-BE49-F238E27FC236}">
                  <a16:creationId xmlns:a16="http://schemas.microsoft.com/office/drawing/2014/main" id="{722F132E-576C-4146-B68E-1C97AC9F8CA9}"/>
                </a:ext>
              </a:extLst>
            </p:cNvPr>
            <p:cNvSpPr txBox="1"/>
            <p:nvPr/>
          </p:nvSpPr>
          <p:spPr>
            <a:xfrm>
              <a:off x="8116222" y="1997425"/>
              <a:ext cx="2011487"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ea typeface="微软雅黑"/>
                </a:rPr>
                <a:t>Kernel Space 1G</a:t>
              </a:r>
              <a:endParaRPr kumimoji="0" lang="zh-CN" altLang="en-US" sz="1800" b="0" i="0" u="none" strike="noStrike" kern="0" cap="none" spc="0" normalizeH="0" baseline="0" noProof="0" dirty="0">
                <a:ln>
                  <a:noFill/>
                </a:ln>
                <a:solidFill>
                  <a:srgbClr val="C00000"/>
                </a:solidFill>
                <a:effectLst/>
                <a:uLnTx/>
                <a:uFillTx/>
                <a:ea typeface="微软雅黑"/>
              </a:endParaRPr>
            </a:p>
          </p:txBody>
        </p:sp>
        <p:sp>
          <p:nvSpPr>
            <p:cNvPr id="44" name="文本框 43">
              <a:extLst>
                <a:ext uri="{FF2B5EF4-FFF2-40B4-BE49-F238E27FC236}">
                  <a16:creationId xmlns:a16="http://schemas.microsoft.com/office/drawing/2014/main" id="{35D1E931-0D2D-4740-BDEC-B37B1747A330}"/>
                </a:ext>
              </a:extLst>
            </p:cNvPr>
            <p:cNvSpPr txBox="1"/>
            <p:nvPr/>
          </p:nvSpPr>
          <p:spPr>
            <a:xfrm>
              <a:off x="8127238" y="3649204"/>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2980B9"/>
                  </a:solidFill>
                  <a:effectLst/>
                  <a:uLnTx/>
                  <a:uFillTx/>
                  <a:ea typeface="微软雅黑"/>
                </a:rPr>
                <a:t>User Space 3G</a:t>
              </a:r>
              <a:endParaRPr kumimoji="0" lang="zh-CN" altLang="en-US" sz="1800" b="0" i="0" u="none" strike="noStrike" kern="0" cap="none" spc="0" normalizeH="0" baseline="0" noProof="0" dirty="0">
                <a:ln>
                  <a:noFill/>
                </a:ln>
                <a:solidFill>
                  <a:srgbClr val="2980B9"/>
                </a:solidFill>
                <a:effectLst/>
                <a:uLnTx/>
                <a:uFillTx/>
                <a:ea typeface="微软雅黑"/>
              </a:endParaRPr>
            </a:p>
          </p:txBody>
        </p:sp>
        <p:sp>
          <p:nvSpPr>
            <p:cNvPr id="45" name="文本框 44">
              <a:extLst>
                <a:ext uri="{FF2B5EF4-FFF2-40B4-BE49-F238E27FC236}">
                  <a16:creationId xmlns:a16="http://schemas.microsoft.com/office/drawing/2014/main" id="{88EC0592-9B6C-4EAA-8FF7-4F64E12C68DF}"/>
                </a:ext>
              </a:extLst>
            </p:cNvPr>
            <p:cNvSpPr txBox="1"/>
            <p:nvPr/>
          </p:nvSpPr>
          <p:spPr>
            <a:xfrm>
              <a:off x="10135518" y="1557501"/>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0xFFFFFFFF</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46" name="文本框 45">
              <a:extLst>
                <a:ext uri="{FF2B5EF4-FFF2-40B4-BE49-F238E27FC236}">
                  <a16:creationId xmlns:a16="http://schemas.microsoft.com/office/drawing/2014/main" id="{008EC9BF-92BA-43EF-ACE2-FBB0DB8A5759}"/>
                </a:ext>
              </a:extLst>
            </p:cNvPr>
            <p:cNvSpPr txBox="1"/>
            <p:nvPr/>
          </p:nvSpPr>
          <p:spPr>
            <a:xfrm>
              <a:off x="10190602" y="2434394"/>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0xC0000000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47" name="文本框 46">
              <a:extLst>
                <a:ext uri="{FF2B5EF4-FFF2-40B4-BE49-F238E27FC236}">
                  <a16:creationId xmlns:a16="http://schemas.microsoft.com/office/drawing/2014/main" id="{0581715E-E07F-49C5-9CC4-FE579CBA527B}"/>
                </a:ext>
              </a:extLst>
            </p:cNvPr>
            <p:cNvSpPr txBox="1"/>
            <p:nvPr/>
          </p:nvSpPr>
          <p:spPr>
            <a:xfrm>
              <a:off x="10245687" y="4870320"/>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48" name="文本框 47">
              <a:extLst>
                <a:ext uri="{FF2B5EF4-FFF2-40B4-BE49-F238E27FC236}">
                  <a16:creationId xmlns:a16="http://schemas.microsoft.com/office/drawing/2014/main" id="{E16D7166-7D60-4841-B462-5C87B0C448AE}"/>
                </a:ext>
              </a:extLst>
            </p:cNvPr>
            <p:cNvSpPr txBox="1"/>
            <p:nvPr/>
          </p:nvSpPr>
          <p:spPr>
            <a:xfrm>
              <a:off x="7543345" y="5417740"/>
              <a:ext cx="3172858"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Linux Process Memory Layout (32-bit OS)</a:t>
              </a:r>
              <a:endParaRPr kumimoji="0" lang="zh-CN" altLang="en-US" sz="1800" b="0" i="0" u="none" strike="noStrike" kern="0" cap="none" spc="0" normalizeH="0" baseline="0" noProof="0" dirty="0">
                <a:ln>
                  <a:noFill/>
                </a:ln>
                <a:solidFill>
                  <a:srgbClr val="000000"/>
                </a:solidFill>
                <a:effectLst/>
                <a:uLnTx/>
                <a:uFillTx/>
                <a:ea typeface="微软雅黑"/>
              </a:endParaRPr>
            </a:p>
          </p:txBody>
        </p:sp>
      </p:grpSp>
      <p:grpSp>
        <p:nvGrpSpPr>
          <p:cNvPr id="49" name="组合 48">
            <a:extLst>
              <a:ext uri="{FF2B5EF4-FFF2-40B4-BE49-F238E27FC236}">
                <a16:creationId xmlns:a16="http://schemas.microsoft.com/office/drawing/2014/main" id="{63664FCF-477B-4527-9F3E-5151B59FFCB6}"/>
              </a:ext>
            </a:extLst>
          </p:cNvPr>
          <p:cNvGrpSpPr/>
          <p:nvPr/>
        </p:nvGrpSpPr>
        <p:grpSpPr>
          <a:xfrm>
            <a:off x="6879600" y="1659600"/>
            <a:ext cx="5316907" cy="4506570"/>
            <a:chOff x="11908970" y="4743058"/>
            <a:chExt cx="5316907" cy="4506570"/>
          </a:xfrm>
        </p:grpSpPr>
        <p:sp>
          <p:nvSpPr>
            <p:cNvPr id="50" name="矩形 49">
              <a:extLst>
                <a:ext uri="{FF2B5EF4-FFF2-40B4-BE49-F238E27FC236}">
                  <a16:creationId xmlns:a16="http://schemas.microsoft.com/office/drawing/2014/main" id="{8A936F8F-38D6-4F64-95A1-8FE19D0508FD}"/>
                </a:ext>
              </a:extLst>
            </p:cNvPr>
            <p:cNvSpPr/>
            <p:nvPr/>
          </p:nvSpPr>
          <p:spPr>
            <a:xfrm>
              <a:off x="12489656" y="4927724"/>
              <a:ext cx="2011487" cy="3303558"/>
            </a:xfrm>
            <a:prstGeom prst="rect">
              <a:avLst/>
            </a:prstGeom>
            <a:no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51" name="直接连接符 50">
              <a:extLst>
                <a:ext uri="{FF2B5EF4-FFF2-40B4-BE49-F238E27FC236}">
                  <a16:creationId xmlns:a16="http://schemas.microsoft.com/office/drawing/2014/main" id="{3D022F24-DE22-4B00-A4B4-F17DC8D8357E}"/>
                </a:ext>
              </a:extLst>
            </p:cNvPr>
            <p:cNvCxnSpPr>
              <a:cxnSpLocks/>
            </p:cNvCxnSpPr>
            <p:nvPr/>
          </p:nvCxnSpPr>
          <p:spPr>
            <a:xfrm>
              <a:off x="12485056" y="5598248"/>
              <a:ext cx="2027104" cy="0"/>
            </a:xfrm>
            <a:prstGeom prst="line">
              <a:avLst/>
            </a:prstGeom>
            <a:noFill/>
            <a:ln w="12700" cap="flat" cmpd="sng" algn="ctr">
              <a:solidFill>
                <a:srgbClr val="000000"/>
              </a:solidFill>
              <a:prstDash val="solid"/>
              <a:miter lim="800000"/>
            </a:ln>
            <a:effectLst/>
          </p:spPr>
        </p:cxnSp>
        <p:sp>
          <p:nvSpPr>
            <p:cNvPr id="52" name="文本框 51">
              <a:extLst>
                <a:ext uri="{FF2B5EF4-FFF2-40B4-BE49-F238E27FC236}">
                  <a16:creationId xmlns:a16="http://schemas.microsoft.com/office/drawing/2014/main" id="{B3237415-8CAB-4F42-9851-5CF6558836D8}"/>
                </a:ext>
              </a:extLst>
            </p:cNvPr>
            <p:cNvSpPr txBox="1"/>
            <p:nvPr/>
          </p:nvSpPr>
          <p:spPr>
            <a:xfrm>
              <a:off x="12481847" y="4941622"/>
              <a:ext cx="2011487"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ea typeface="微软雅黑"/>
                </a:rPr>
                <a:t>Kernel Space 128T</a:t>
              </a:r>
              <a:endParaRPr kumimoji="0" lang="zh-CN" altLang="en-US" sz="1800" b="0" i="0" u="none" strike="noStrike" kern="0" cap="none" spc="0" normalizeH="0" baseline="0" noProof="0" dirty="0">
                <a:ln>
                  <a:noFill/>
                </a:ln>
                <a:solidFill>
                  <a:srgbClr val="C00000"/>
                </a:solidFill>
                <a:effectLst/>
                <a:uLnTx/>
                <a:uFillTx/>
                <a:ea typeface="微软雅黑"/>
              </a:endParaRPr>
            </a:p>
          </p:txBody>
        </p:sp>
        <p:sp>
          <p:nvSpPr>
            <p:cNvPr id="53" name="文本框 52">
              <a:extLst>
                <a:ext uri="{FF2B5EF4-FFF2-40B4-BE49-F238E27FC236}">
                  <a16:creationId xmlns:a16="http://schemas.microsoft.com/office/drawing/2014/main" id="{399A2F3B-94D0-45A0-8F22-E8EA4C89B692}"/>
                </a:ext>
              </a:extLst>
            </p:cNvPr>
            <p:cNvSpPr txBox="1"/>
            <p:nvPr/>
          </p:nvSpPr>
          <p:spPr>
            <a:xfrm>
              <a:off x="12474039" y="7584951"/>
              <a:ext cx="199587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2980B9"/>
                  </a:solidFill>
                  <a:effectLst/>
                  <a:uLnTx/>
                  <a:uFillTx/>
                  <a:ea typeface="微软雅黑"/>
                </a:rPr>
                <a:t>User Space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2980B9"/>
                  </a:solidFill>
                  <a:effectLst/>
                  <a:uLnTx/>
                  <a:uFillTx/>
                  <a:ea typeface="微软雅黑"/>
                </a:rPr>
                <a:t>128T</a:t>
              </a:r>
              <a:endParaRPr kumimoji="0" lang="zh-CN" altLang="en-US" sz="1800" b="0" i="0" u="none" strike="noStrike" kern="0" cap="none" spc="0" normalizeH="0" baseline="0" noProof="0" dirty="0">
                <a:ln>
                  <a:noFill/>
                </a:ln>
                <a:solidFill>
                  <a:srgbClr val="2980B9"/>
                </a:solidFill>
                <a:effectLst/>
                <a:uLnTx/>
                <a:uFillTx/>
                <a:ea typeface="微软雅黑"/>
              </a:endParaRPr>
            </a:p>
          </p:txBody>
        </p:sp>
        <p:sp>
          <p:nvSpPr>
            <p:cNvPr id="54" name="文本框 53">
              <a:extLst>
                <a:ext uri="{FF2B5EF4-FFF2-40B4-BE49-F238E27FC236}">
                  <a16:creationId xmlns:a16="http://schemas.microsoft.com/office/drawing/2014/main" id="{28B8FD7E-1AD9-4510-B29D-A5A9DF41906F}"/>
                </a:ext>
              </a:extLst>
            </p:cNvPr>
            <p:cNvSpPr txBox="1"/>
            <p:nvPr/>
          </p:nvSpPr>
          <p:spPr>
            <a:xfrm>
              <a:off x="14501143" y="4743058"/>
              <a:ext cx="2724734"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0xFFFFFFFFFFFFFFFF</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55" name="文本框 54">
              <a:extLst>
                <a:ext uri="{FF2B5EF4-FFF2-40B4-BE49-F238E27FC236}">
                  <a16:creationId xmlns:a16="http://schemas.microsoft.com/office/drawing/2014/main" id="{42DB3003-D141-44C5-8FDB-C50B561C492C}"/>
                </a:ext>
              </a:extLst>
            </p:cNvPr>
            <p:cNvSpPr txBox="1"/>
            <p:nvPr/>
          </p:nvSpPr>
          <p:spPr>
            <a:xfrm>
              <a:off x="14556227" y="5619951"/>
              <a:ext cx="2669650"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0xFFFF8000000000000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56" name="文本框 55">
              <a:extLst>
                <a:ext uri="{FF2B5EF4-FFF2-40B4-BE49-F238E27FC236}">
                  <a16:creationId xmlns:a16="http://schemas.microsoft.com/office/drawing/2014/main" id="{48D05C05-6904-4ECA-BB68-FA66F278B0F9}"/>
                </a:ext>
              </a:extLst>
            </p:cNvPr>
            <p:cNvSpPr txBox="1"/>
            <p:nvPr/>
          </p:nvSpPr>
          <p:spPr>
            <a:xfrm>
              <a:off x="14611312" y="8055877"/>
              <a:ext cx="2614565"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57" name="文本框 56">
              <a:extLst>
                <a:ext uri="{FF2B5EF4-FFF2-40B4-BE49-F238E27FC236}">
                  <a16:creationId xmlns:a16="http://schemas.microsoft.com/office/drawing/2014/main" id="{8126349C-9943-42EB-8868-D58A038E04A5}"/>
                </a:ext>
              </a:extLst>
            </p:cNvPr>
            <p:cNvSpPr txBox="1"/>
            <p:nvPr/>
          </p:nvSpPr>
          <p:spPr>
            <a:xfrm>
              <a:off x="11908970" y="8603297"/>
              <a:ext cx="3172858"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Linux Process Memory Layout (64-bit OS)</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58" name="直接连接符 57">
              <a:extLst>
                <a:ext uri="{FF2B5EF4-FFF2-40B4-BE49-F238E27FC236}">
                  <a16:creationId xmlns:a16="http://schemas.microsoft.com/office/drawing/2014/main" id="{363402F5-9F04-4484-BC6E-2A21008FC297}"/>
                </a:ext>
              </a:extLst>
            </p:cNvPr>
            <p:cNvCxnSpPr>
              <a:cxnSpLocks/>
            </p:cNvCxnSpPr>
            <p:nvPr/>
          </p:nvCxnSpPr>
          <p:spPr>
            <a:xfrm>
              <a:off x="12489656" y="7546402"/>
              <a:ext cx="2027104" cy="0"/>
            </a:xfrm>
            <a:prstGeom prst="line">
              <a:avLst/>
            </a:prstGeom>
            <a:noFill/>
            <a:ln w="12700" cap="flat" cmpd="sng" algn="ctr">
              <a:solidFill>
                <a:srgbClr val="000000"/>
              </a:solidFill>
              <a:prstDash val="solid"/>
              <a:miter lim="800000"/>
            </a:ln>
            <a:effectLst/>
          </p:spPr>
        </p:cxnSp>
        <p:sp>
          <p:nvSpPr>
            <p:cNvPr id="59" name="文本框 58">
              <a:extLst>
                <a:ext uri="{FF2B5EF4-FFF2-40B4-BE49-F238E27FC236}">
                  <a16:creationId xmlns:a16="http://schemas.microsoft.com/office/drawing/2014/main" id="{14C39DC7-79FD-4AE0-ADE5-D130AA17D249}"/>
                </a:ext>
              </a:extLst>
            </p:cNvPr>
            <p:cNvSpPr txBox="1"/>
            <p:nvPr/>
          </p:nvSpPr>
          <p:spPr>
            <a:xfrm>
              <a:off x="12466230" y="6397617"/>
              <a:ext cx="2011487"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Unused Space</a:t>
              </a:r>
              <a:endParaRPr kumimoji="0" lang="zh-CN" altLang="en-US" sz="1800" b="0" i="0" u="none" strike="noStrike" kern="0" cap="none" spc="0" normalizeH="0" baseline="0" noProof="0" dirty="0">
                <a:ln>
                  <a:noFill/>
                </a:ln>
                <a:solidFill>
                  <a:srgbClr val="000000"/>
                </a:solidFill>
                <a:effectLst/>
                <a:uLnTx/>
                <a:uFillTx/>
                <a:ea typeface="微软雅黑"/>
              </a:endParaRPr>
            </a:p>
          </p:txBody>
        </p:sp>
      </p:grpSp>
      <p:sp>
        <p:nvSpPr>
          <p:cNvPr id="60" name="文本框 59">
            <a:extLst>
              <a:ext uri="{FF2B5EF4-FFF2-40B4-BE49-F238E27FC236}">
                <a16:creationId xmlns:a16="http://schemas.microsoft.com/office/drawing/2014/main" id="{3BC7ADDA-A43F-4BE8-B188-9F1278DF4674}"/>
              </a:ext>
            </a:extLst>
          </p:cNvPr>
          <p:cNvSpPr txBox="1"/>
          <p:nvPr/>
        </p:nvSpPr>
        <p:spPr>
          <a:xfrm>
            <a:off x="7212315" y="1340228"/>
            <a:ext cx="2451163" cy="369332"/>
          </a:xfrm>
          <a:prstGeom prst="rect">
            <a:avLst/>
          </a:prstGeom>
          <a:noFill/>
        </p:spPr>
        <p:txBody>
          <a:bodyPr wrap="square" rtlCol="0">
            <a:spAutoFit/>
          </a:bodyPr>
          <a:lstStyle/>
          <a:p>
            <a:pPr algn="ctr"/>
            <a:r>
              <a:rPr lang="en-US" altLang="zh-CN" dirty="0">
                <a:solidFill>
                  <a:srgbClr val="000000"/>
                </a:solidFill>
                <a:ea typeface="微软雅黑"/>
              </a:rPr>
              <a:t>Virtual Memory Space</a:t>
            </a:r>
            <a:endParaRPr lang="zh-CN" altLang="en-US" dirty="0">
              <a:solidFill>
                <a:srgbClr val="000000"/>
              </a:solidFill>
              <a:ea typeface="微软雅黑"/>
            </a:endParaRPr>
          </a:p>
        </p:txBody>
      </p:sp>
      <p:cxnSp>
        <p:nvCxnSpPr>
          <p:cNvPr id="61" name="直接连接符 60">
            <a:extLst>
              <a:ext uri="{FF2B5EF4-FFF2-40B4-BE49-F238E27FC236}">
                <a16:creationId xmlns:a16="http://schemas.microsoft.com/office/drawing/2014/main" id="{46071ED9-5C87-4F17-B76A-BCE8D4A0AAC4}"/>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62" name="文本框 14">
            <a:extLst>
              <a:ext uri="{FF2B5EF4-FFF2-40B4-BE49-F238E27FC236}">
                <a16:creationId xmlns:a16="http://schemas.microsoft.com/office/drawing/2014/main" id="{756B798A-E67B-48AA-9D99-04AE41430CA3}"/>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右圖爲</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當中內核區與用戶區在進程虛擬地址空間下的分布</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lide Number Placeholder 7">
            <a:extLst>
              <a:ext uri="{FF2B5EF4-FFF2-40B4-BE49-F238E27FC236}">
                <a16:creationId xmlns:a16="http://schemas.microsoft.com/office/drawing/2014/main" id="{8E9B6FE1-D222-0B50-506F-32D64E6D147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14</a:t>
            </a:fld>
            <a:endParaRPr lang="zh-CN" altLang="en-US" sz="1200" dirty="0">
              <a:solidFill>
                <a:schemeClr val="tx1">
                  <a:tint val="75000"/>
                </a:schemeClr>
              </a:solidFill>
            </a:endParaRPr>
          </a:p>
        </p:txBody>
      </p:sp>
    </p:spTree>
    <p:extLst>
      <p:ext uri="{BB962C8B-B14F-4D97-AF65-F5344CB8AC3E}">
        <p14:creationId xmlns:p14="http://schemas.microsoft.com/office/powerpoint/2010/main" val="808033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4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矩形 64">
            <a:extLst>
              <a:ext uri="{FF2B5EF4-FFF2-40B4-BE49-F238E27FC236}">
                <a16:creationId xmlns:a16="http://schemas.microsoft.com/office/drawing/2014/main" id="{FC97C5AC-8239-DA48-841F-D4EFA3BB4F83}"/>
              </a:ext>
            </a:extLst>
          </p:cNvPr>
          <p:cNvSpPr>
            <a:spLocks/>
          </p:cNvSpPr>
          <p:nvPr/>
        </p:nvSpPr>
        <p:spPr bwMode="auto">
          <a:xfrm>
            <a:off x="447675" y="1193800"/>
            <a:ext cx="6677025" cy="475667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進程角度的內存管理</a:t>
            </a:r>
            <a:endParaRPr kumimoji="1" lang="zh-CN" altLang="en-US" dirty="0">
              <a:solidFill>
                <a:schemeClr val="tx1"/>
              </a:solidFill>
            </a:endParaRPr>
          </a:p>
        </p:txBody>
      </p:sp>
      <p:sp>
        <p:nvSpPr>
          <p:cNvPr id="32" name="文本框 14">
            <a:extLst>
              <a:ext uri="{FF2B5EF4-FFF2-40B4-BE49-F238E27FC236}">
                <a16:creationId xmlns:a16="http://schemas.microsoft.com/office/drawing/2014/main" id="{BE797C94-39D1-4387-87E8-9546609D63AD}"/>
              </a:ext>
            </a:extLst>
          </p:cNvPr>
          <p:cNvSpPr txBox="1"/>
          <p:nvPr/>
        </p:nvSpPr>
        <p:spPr>
          <a:xfrm>
            <a:off x="657608" y="1609103"/>
            <a:ext cx="7473924" cy="3743461"/>
          </a:xfrm>
          <a:prstGeom prst="rect">
            <a:avLst/>
          </a:prstGeom>
          <a:noFill/>
        </p:spPr>
        <p:txBody>
          <a:bodyPr wrap="square" rtlCol="0">
            <a:spAutoFit/>
          </a:bodyPr>
          <a:lstStyle/>
          <a:p>
            <a:pPr algn="just">
              <a:lnSpc>
                <a:spcPts val="3600"/>
              </a:lnSpc>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用戶區內存空間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包含了</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個重要區域：</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文本段：進程的可執行二進制源代碼</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數據段：初始化了的靜態變量和全局變量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BSS</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段 ：未初始化的靜態變量和全局變量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堆區   ：由程序申請釋放</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內存映射段：映射共享內存和動態鏈接庫</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14350" indent="-514350" algn="just">
              <a:lnSpc>
                <a:spcPts val="3600"/>
              </a:lnSpc>
              <a:buFontTx/>
              <a:buAutoNum type="arabicPeriod"/>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棧區   ：包含了函數調用信息和局部變量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3" name="直接连接符 62">
            <a:extLst>
              <a:ext uri="{FF2B5EF4-FFF2-40B4-BE49-F238E27FC236}">
                <a16:creationId xmlns:a16="http://schemas.microsoft.com/office/drawing/2014/main" id="{6E111380-63FD-4B3A-B7DB-B2DF03FEAB23}"/>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64" name="文本框 14">
            <a:extLst>
              <a:ext uri="{FF2B5EF4-FFF2-40B4-BE49-F238E27FC236}">
                <a16:creationId xmlns:a16="http://schemas.microsoft.com/office/drawing/2014/main" id="{21BCA9FB-F369-4500-B691-CE69EC133B80}"/>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右圖爲</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當中用戶區的劃分方式</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3" name="图片 2">
            <a:extLst>
              <a:ext uri="{FF2B5EF4-FFF2-40B4-BE49-F238E27FC236}">
                <a16:creationId xmlns:a16="http://schemas.microsoft.com/office/drawing/2014/main" id="{09814F7B-58CB-1740-9A36-269EDE841CB9}"/>
              </a:ext>
            </a:extLst>
          </p:cNvPr>
          <p:cNvPicPr>
            <a:picLocks noChangeAspect="1"/>
          </p:cNvPicPr>
          <p:nvPr/>
        </p:nvPicPr>
        <p:blipFill>
          <a:blip r:embed="rId3"/>
          <a:stretch>
            <a:fillRect/>
          </a:stretch>
        </p:blipFill>
        <p:spPr>
          <a:xfrm>
            <a:off x="7584208" y="1036205"/>
            <a:ext cx="4186639" cy="4962814"/>
          </a:xfrm>
          <a:prstGeom prst="rect">
            <a:avLst/>
          </a:prstGeom>
        </p:spPr>
      </p:pic>
      <p:sp>
        <p:nvSpPr>
          <p:cNvPr id="42" name="文本框 41">
            <a:extLst>
              <a:ext uri="{FF2B5EF4-FFF2-40B4-BE49-F238E27FC236}">
                <a16:creationId xmlns:a16="http://schemas.microsoft.com/office/drawing/2014/main" id="{448EAD6C-9A39-4036-9A2F-C8AA99F089EE}"/>
              </a:ext>
            </a:extLst>
          </p:cNvPr>
          <p:cNvSpPr txBox="1"/>
          <p:nvPr/>
        </p:nvSpPr>
        <p:spPr>
          <a:xfrm>
            <a:off x="7346333" y="5800543"/>
            <a:ext cx="3172858"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Linux Process Memory Layout (32-bit OS)</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4" name="Slide Number Placeholder 7">
            <a:extLst>
              <a:ext uri="{FF2B5EF4-FFF2-40B4-BE49-F238E27FC236}">
                <a16:creationId xmlns:a16="http://schemas.microsoft.com/office/drawing/2014/main" id="{919FF036-62F0-AF23-C539-F4A8152240D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15</a:t>
            </a:fld>
            <a:endParaRPr lang="zh-CN" altLang="en-US" sz="1200" dirty="0">
              <a:solidFill>
                <a:schemeClr val="tx1">
                  <a:tint val="75000"/>
                </a:schemeClr>
              </a:solidFill>
            </a:endParaRPr>
          </a:p>
        </p:txBody>
      </p:sp>
    </p:spTree>
    <p:extLst>
      <p:ext uri="{BB962C8B-B14F-4D97-AF65-F5344CB8AC3E}">
        <p14:creationId xmlns:p14="http://schemas.microsoft.com/office/powerpoint/2010/main" val="3055295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內存的權限管理</a:t>
            </a:r>
            <a:endParaRPr kumimoji="1" lang="zh-CN" altLang="en-US" dirty="0">
              <a:solidFill>
                <a:schemeClr val="tx1"/>
              </a:solidFill>
            </a:endParaRPr>
          </a:p>
        </p:txBody>
      </p:sp>
      <p:sp>
        <p:nvSpPr>
          <p:cNvPr id="8" name="文本框 14">
            <a:extLst>
              <a:ext uri="{FF2B5EF4-FFF2-40B4-BE49-F238E27FC236}">
                <a16:creationId xmlns:a16="http://schemas.microsoft.com/office/drawing/2014/main" id="{5C584BA3-DA17-42FA-B199-5084C1048ABE}"/>
              </a:ext>
            </a:extLst>
          </p:cNvPr>
          <p:cNvSpPr txBox="1"/>
          <p:nvPr/>
        </p:nvSpPr>
        <p:spPr>
          <a:xfrm>
            <a:off x="492509" y="1492386"/>
            <a:ext cx="6387442" cy="461665"/>
          </a:xfrm>
          <a:prstGeom prst="rect">
            <a:avLst/>
          </a:prstGeom>
          <a:noFill/>
        </p:spPr>
        <p:txBody>
          <a:bodyPr wrap="square" rtlCol="0">
            <a:spAutoFit/>
          </a:bodyPr>
          <a:lstStyle/>
          <a:p>
            <a:pPr marL="457200" indent="-457200" algn="just">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用戶區內存區域之間的比較：</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10" name="表格 7">
            <a:extLst>
              <a:ext uri="{FF2B5EF4-FFF2-40B4-BE49-F238E27FC236}">
                <a16:creationId xmlns:a16="http://schemas.microsoft.com/office/drawing/2014/main" id="{C855B5CD-3E73-411E-B84C-2870E3748F32}"/>
              </a:ext>
            </a:extLst>
          </p:cNvPr>
          <p:cNvGraphicFramePr>
            <a:graphicFrameLocks noGrp="1"/>
          </p:cNvGraphicFramePr>
          <p:nvPr>
            <p:extLst>
              <p:ext uri="{D42A27DB-BD31-4B8C-83A1-F6EECF244321}">
                <p14:modId xmlns:p14="http://schemas.microsoft.com/office/powerpoint/2010/main" val="3743224440"/>
              </p:ext>
            </p:extLst>
          </p:nvPr>
        </p:nvGraphicFramePr>
        <p:xfrm>
          <a:off x="492509" y="2562167"/>
          <a:ext cx="10926824" cy="3617198"/>
        </p:xfrm>
        <a:graphic>
          <a:graphicData uri="http://schemas.openxmlformats.org/drawingml/2006/table">
            <a:tbl>
              <a:tblPr firstRow="1" bandRow="1"/>
              <a:tblGrid>
                <a:gridCol w="1496547">
                  <a:extLst>
                    <a:ext uri="{9D8B030D-6E8A-4147-A177-3AD203B41FA5}">
                      <a16:colId xmlns:a16="http://schemas.microsoft.com/office/drawing/2014/main" val="1505234570"/>
                    </a:ext>
                  </a:extLst>
                </a:gridCol>
                <a:gridCol w="4072379">
                  <a:extLst>
                    <a:ext uri="{9D8B030D-6E8A-4147-A177-3AD203B41FA5}">
                      <a16:colId xmlns:a16="http://schemas.microsoft.com/office/drawing/2014/main" val="3085446518"/>
                    </a:ext>
                  </a:extLst>
                </a:gridCol>
                <a:gridCol w="1282045">
                  <a:extLst>
                    <a:ext uri="{9D8B030D-6E8A-4147-A177-3AD203B41FA5}">
                      <a16:colId xmlns:a16="http://schemas.microsoft.com/office/drawing/2014/main" val="3819104200"/>
                    </a:ext>
                  </a:extLst>
                </a:gridCol>
                <a:gridCol w="1338607">
                  <a:extLst>
                    <a:ext uri="{9D8B030D-6E8A-4147-A177-3AD203B41FA5}">
                      <a16:colId xmlns:a16="http://schemas.microsoft.com/office/drawing/2014/main" val="3766321085"/>
                    </a:ext>
                  </a:extLst>
                </a:gridCol>
                <a:gridCol w="2737246">
                  <a:extLst>
                    <a:ext uri="{9D8B030D-6E8A-4147-A177-3AD203B41FA5}">
                      <a16:colId xmlns:a16="http://schemas.microsoft.com/office/drawing/2014/main" val="4140926807"/>
                    </a:ext>
                  </a:extLst>
                </a:gridCol>
              </a:tblGrid>
              <a:tr h="465458">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l"/>
                      <a:r>
                        <a:rPr lang="zh-CN" altLang="en-US" sz="2000" dirty="0">
                          <a:solidFill>
                            <a:schemeClr val="tx1"/>
                          </a:solidFill>
                          <a:latin typeface="微软雅黑" panose="020B0503020204020204" pitchFamily="34" charset="-122"/>
                          <a:ea typeface="微软雅黑" panose="020B0503020204020204" pitchFamily="34" charset="-122"/>
                        </a:rPr>
                        <a:t>區域名稱</a:t>
                      </a:r>
                    </a:p>
                  </a:txBody>
                  <a:tcPr anchor="ctr">
                    <a:lnL w="12700" cmpd="sng">
                      <a:solidFill>
                        <a:srgbClr val="FFFFFF"/>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l"/>
                      <a:r>
                        <a:rPr lang="zh-CN" altLang="en-US" sz="2000" dirty="0">
                          <a:solidFill>
                            <a:schemeClr val="tx1"/>
                          </a:solidFill>
                          <a:latin typeface="微软雅黑" panose="020B0503020204020204" pitchFamily="34" charset="-122"/>
                          <a:ea typeface="微软雅黑" panose="020B0503020204020204" pitchFamily="34" charset="-122"/>
                        </a:rPr>
                        <a:t>存儲內容</a:t>
                      </a:r>
                    </a:p>
                  </a:txBody>
                  <a:tcPr anchor="ctr">
                    <a:lnL w="12700" cap="flat" cmpd="sng" algn="ctr">
                      <a:solidFill>
                        <a:srgbClr val="000000"/>
                      </a:solidFill>
                      <a:prstDash val="solid"/>
                      <a:round/>
                      <a:headEnd type="none" w="med" len="med"/>
                      <a:tailEnd type="none" w="med" len="med"/>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l"/>
                      <a:r>
                        <a:rPr lang="zh-CN" altLang="en-US" sz="2000" dirty="0">
                          <a:solidFill>
                            <a:schemeClr val="tx1"/>
                          </a:solidFill>
                          <a:latin typeface="微软雅黑" panose="020B0503020204020204" pitchFamily="34" charset="-122"/>
                          <a:ea typeface="微软雅黑" panose="020B0503020204020204" pitchFamily="34" charset="-122"/>
                        </a:rPr>
                        <a:t>權限</a:t>
                      </a:r>
                    </a:p>
                  </a:txBody>
                  <a:tcPr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l"/>
                      <a:r>
                        <a:rPr lang="zh-CN" altLang="en-US" sz="2000" dirty="0">
                          <a:solidFill>
                            <a:schemeClr val="tx1"/>
                          </a:solidFill>
                          <a:latin typeface="微软雅黑" panose="020B0503020204020204" pitchFamily="34" charset="-122"/>
                          <a:ea typeface="微软雅黑" panose="020B0503020204020204" pitchFamily="34" charset="-122"/>
                        </a:rPr>
                        <a:t>增長方向</a:t>
                      </a:r>
                    </a:p>
                  </a:txBody>
                  <a:tcPr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b="1" kern="1200">
                          <a:solidFill>
                            <a:schemeClr val="lt1"/>
                          </a:solidFill>
                          <a:latin typeface="Arial"/>
                          <a:ea typeface="微软雅黑"/>
                        </a:defRPr>
                      </a:lvl1pPr>
                      <a:lvl2pPr marL="457200" algn="l" defTabSz="914400" rtl="0" eaLnBrk="1" latinLnBrk="0" hangingPunct="1">
                        <a:defRPr sz="1800" b="1" kern="1200">
                          <a:solidFill>
                            <a:schemeClr val="lt1"/>
                          </a:solidFill>
                          <a:latin typeface="Arial"/>
                          <a:ea typeface="微软雅黑"/>
                        </a:defRPr>
                      </a:lvl2pPr>
                      <a:lvl3pPr marL="914400" algn="l" defTabSz="914400" rtl="0" eaLnBrk="1" latinLnBrk="0" hangingPunct="1">
                        <a:defRPr sz="1800" b="1" kern="1200">
                          <a:solidFill>
                            <a:schemeClr val="lt1"/>
                          </a:solidFill>
                          <a:latin typeface="Arial"/>
                          <a:ea typeface="微软雅黑"/>
                        </a:defRPr>
                      </a:lvl3pPr>
                      <a:lvl4pPr marL="1371600" algn="l" defTabSz="914400" rtl="0" eaLnBrk="1" latinLnBrk="0" hangingPunct="1">
                        <a:defRPr sz="1800" b="1" kern="1200">
                          <a:solidFill>
                            <a:schemeClr val="lt1"/>
                          </a:solidFill>
                          <a:latin typeface="Arial"/>
                          <a:ea typeface="微软雅黑"/>
                        </a:defRPr>
                      </a:lvl4pPr>
                      <a:lvl5pPr marL="1828800" algn="l" defTabSz="914400" rtl="0" eaLnBrk="1" latinLnBrk="0" hangingPunct="1">
                        <a:defRPr sz="1800" b="1" kern="1200">
                          <a:solidFill>
                            <a:schemeClr val="lt1"/>
                          </a:solidFill>
                          <a:latin typeface="Arial"/>
                          <a:ea typeface="微软雅黑"/>
                        </a:defRPr>
                      </a:lvl5pPr>
                      <a:lvl6pPr marL="2286000" algn="l" defTabSz="914400" rtl="0" eaLnBrk="1" latinLnBrk="0" hangingPunct="1">
                        <a:defRPr sz="1800" b="1" kern="1200">
                          <a:solidFill>
                            <a:schemeClr val="lt1"/>
                          </a:solidFill>
                          <a:latin typeface="Arial"/>
                          <a:ea typeface="微软雅黑"/>
                        </a:defRPr>
                      </a:lvl6pPr>
                      <a:lvl7pPr marL="2743200" algn="l" defTabSz="914400" rtl="0" eaLnBrk="1" latinLnBrk="0" hangingPunct="1">
                        <a:defRPr sz="1800" b="1" kern="1200">
                          <a:solidFill>
                            <a:schemeClr val="lt1"/>
                          </a:solidFill>
                          <a:latin typeface="Arial"/>
                          <a:ea typeface="微软雅黑"/>
                        </a:defRPr>
                      </a:lvl7pPr>
                      <a:lvl8pPr marL="3200400" algn="l" defTabSz="914400" rtl="0" eaLnBrk="1" latinLnBrk="0" hangingPunct="1">
                        <a:defRPr sz="1800" b="1" kern="1200">
                          <a:solidFill>
                            <a:schemeClr val="lt1"/>
                          </a:solidFill>
                          <a:latin typeface="Arial"/>
                          <a:ea typeface="微软雅黑"/>
                        </a:defRPr>
                      </a:lvl8pPr>
                      <a:lvl9pPr marL="3657600" algn="l" defTabSz="914400" rtl="0" eaLnBrk="1" latinLnBrk="0" hangingPunct="1">
                        <a:defRPr sz="1800" b="1" kern="1200">
                          <a:solidFill>
                            <a:schemeClr val="lt1"/>
                          </a:solidFill>
                          <a:latin typeface="Arial"/>
                          <a:ea typeface="微软雅黑"/>
                        </a:defRPr>
                      </a:lvl9pPr>
                    </a:lstStyle>
                    <a:p>
                      <a:pPr algn="l"/>
                      <a:r>
                        <a:rPr lang="zh-CN" altLang="en-US" sz="2000" dirty="0">
                          <a:solidFill>
                            <a:schemeClr val="tx1"/>
                          </a:solidFill>
                          <a:latin typeface="微软雅黑" panose="020B0503020204020204" pitchFamily="34" charset="-122"/>
                          <a:ea typeface="微软雅黑" panose="020B0503020204020204" pitchFamily="34" charset="-122"/>
                        </a:rPr>
                        <a:t>分配時間</a:t>
                      </a:r>
                    </a:p>
                  </a:txBody>
                  <a:tcPr anchor="ctr">
                    <a:lnL w="12700" cmpd="sng">
                      <a:solidFill>
                        <a:srgbClr val="FFFFFF"/>
                      </a:solidFill>
                    </a:lnL>
                    <a:lnR w="12700" cmpd="sng">
                      <a:solidFill>
                        <a:srgbClr val="FFFFFF"/>
                      </a:solid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303441"/>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文本段</a:t>
                      </a:r>
                    </a:p>
                  </a:txBody>
                  <a:tcPr anchor="ctr">
                    <a:lnL w="12700" cmpd="sng">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二進制可執行機器碼</a:t>
                      </a:r>
                    </a:p>
                  </a:txBody>
                  <a:tcPr anchor="ctr">
                    <a:lnL w="12700" cap="flat" cmpd="sng" algn="ctr">
                      <a:solidFill>
                        <a:srgbClr val="000000"/>
                      </a:solidFill>
                      <a:prstDash val="solid"/>
                      <a:round/>
                      <a:headEnd type="none" w="med" len="med"/>
                      <a:tailEnd type="none" w="med" len="med"/>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只讀</a:t>
                      </a:r>
                    </a:p>
                  </a:txBody>
                  <a:tcPr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固定</a:t>
                      </a:r>
                    </a:p>
                  </a:txBody>
                  <a:tcPr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進程初始化</a:t>
                      </a:r>
                    </a:p>
                  </a:txBody>
                  <a:tcPr anchor="ctr">
                    <a:lnL w="12700" cmpd="sng">
                      <a:noFill/>
                    </a:lnL>
                    <a:lnR w="12700" cmpd="sng">
                      <a:noFill/>
                    </a:lnR>
                    <a:lnT w="12700" cap="flat" cmpd="sng" algn="ctr">
                      <a:solidFill>
                        <a:srgbClr val="000000"/>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58893668"/>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數據段</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初始化了的靜態、全局變量</a:t>
                      </a:r>
                    </a:p>
                  </a:txBody>
                  <a:tcPr anchor="ctr">
                    <a:lnL w="12700" cap="flat" cmpd="sng" algn="ctr">
                      <a:solidFill>
                        <a:srgbClr val="0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讀寫</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固定</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進程初始化</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63559604"/>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BSS</a:t>
                      </a:r>
                      <a:r>
                        <a:rPr lang="zh-CN" altLang="en-US" sz="2000" kern="1200" dirty="0">
                          <a:solidFill>
                            <a:schemeClr val="dk1"/>
                          </a:solidFill>
                          <a:latin typeface="微软雅黑" panose="020B0503020204020204" pitchFamily="34" charset="-122"/>
                          <a:ea typeface="微软雅黑" panose="020B0503020204020204" pitchFamily="34" charset="-122"/>
                          <a:cs typeface="+mn-cs"/>
                        </a:rPr>
                        <a:t>段</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未初始化的靜態、全局變量</a:t>
                      </a:r>
                    </a:p>
                  </a:txBody>
                  <a:tcPr anchor="ctr">
                    <a:lnL w="12700" cap="flat" cmpd="sng" algn="ctr">
                      <a:solidFill>
                        <a:srgbClr val="0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讀寫</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固定</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進程初始化</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73954263"/>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堆區</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由進程執行的邏輯决定</a:t>
                      </a:r>
                    </a:p>
                  </a:txBody>
                  <a:tcPr anchor="ctr">
                    <a:lnL w="12700" cap="flat" cmpd="sng" algn="ctr">
                      <a:solidFill>
                        <a:srgbClr val="0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讀寫</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向高地址</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堆管理器申請內核分配</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582806533"/>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內存映射段</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動態鏈接庫、共享內存的映射信息</a:t>
                      </a:r>
                    </a:p>
                  </a:txBody>
                  <a:tcPr anchor="ctr">
                    <a:lnL w="12700" cap="flat" cmpd="sng" algn="ctr">
                      <a:solidFill>
                        <a:srgbClr val="000000"/>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內容相關</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向低地址</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運行時內核分配</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80212242"/>
                  </a:ext>
                </a:extLst>
              </a:tr>
              <a:tr h="525290">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棧區</a:t>
                      </a:r>
                    </a:p>
                  </a:txBody>
                  <a:tcPr anchor="ctr">
                    <a:lnL w="12700" cmpd="sng">
                      <a:noFill/>
                    </a:lnL>
                    <a:lnR w="12700" cap="flat" cmpd="sng" algn="ctr">
                      <a:solidFill>
                        <a:srgbClr val="000000"/>
                      </a:solidFill>
                      <a:prstDash val="solid"/>
                      <a:round/>
                      <a:headEnd type="none" w="med" len="med"/>
                      <a:tailEnd type="none" w="med" len="med"/>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函數調用信息與局部變量</a:t>
                      </a:r>
                    </a:p>
                  </a:txBody>
                  <a:tcPr anchor="ctr">
                    <a:lnL w="12700" cap="flat" cmpd="sng" algn="ctr">
                      <a:solidFill>
                        <a:srgbClr val="000000"/>
                      </a:solidFill>
                      <a:prstDash val="solid"/>
                      <a:round/>
                      <a:headEnd type="none" w="med" len="med"/>
                      <a:tailEnd type="none" w="med" len="med"/>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讀寫</a:t>
                      </a:r>
                    </a:p>
                  </a:txBody>
                  <a:tcPr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algn="l" defTabSz="914400" rtl="0" eaLnBrk="1" latinLnBrk="0" hangingPunct="1"/>
                      <a:r>
                        <a:rPr lang="zh-CN" altLang="en-US" sz="2000" kern="1200" dirty="0">
                          <a:solidFill>
                            <a:schemeClr val="dk1"/>
                          </a:solidFill>
                          <a:latin typeface="微软雅黑" panose="020B0503020204020204" pitchFamily="34" charset="-122"/>
                          <a:ea typeface="微软雅黑" panose="020B0503020204020204" pitchFamily="34" charset="-122"/>
                          <a:cs typeface="+mn-cs"/>
                        </a:rPr>
                        <a:t>向低地址</a:t>
                      </a:r>
                    </a:p>
                  </a:txBody>
                  <a:tcPr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400" rtl="0" eaLnBrk="1" latinLnBrk="0" hangingPunct="1">
                        <a:defRPr sz="1800" kern="1200">
                          <a:solidFill>
                            <a:schemeClr val="dk1"/>
                          </a:solidFill>
                          <a:latin typeface="Arial"/>
                          <a:ea typeface="微软雅黑"/>
                        </a:defRPr>
                      </a:lvl1pPr>
                      <a:lvl2pPr marL="457200" algn="l" defTabSz="914400" rtl="0" eaLnBrk="1" latinLnBrk="0" hangingPunct="1">
                        <a:defRPr sz="1800" kern="1200">
                          <a:solidFill>
                            <a:schemeClr val="dk1"/>
                          </a:solidFill>
                          <a:latin typeface="Arial"/>
                          <a:ea typeface="微软雅黑"/>
                        </a:defRPr>
                      </a:lvl2pPr>
                      <a:lvl3pPr marL="914400" algn="l" defTabSz="914400" rtl="0" eaLnBrk="1" latinLnBrk="0" hangingPunct="1">
                        <a:defRPr sz="1800" kern="1200">
                          <a:solidFill>
                            <a:schemeClr val="dk1"/>
                          </a:solidFill>
                          <a:latin typeface="Arial"/>
                          <a:ea typeface="微软雅黑"/>
                        </a:defRPr>
                      </a:lvl3pPr>
                      <a:lvl4pPr marL="1371600" algn="l" defTabSz="914400" rtl="0" eaLnBrk="1" latinLnBrk="0" hangingPunct="1">
                        <a:defRPr sz="1800" kern="1200">
                          <a:solidFill>
                            <a:schemeClr val="dk1"/>
                          </a:solidFill>
                          <a:latin typeface="Arial"/>
                          <a:ea typeface="微软雅黑"/>
                        </a:defRPr>
                      </a:lvl4pPr>
                      <a:lvl5pPr marL="1828800" algn="l" defTabSz="914400" rtl="0" eaLnBrk="1" latinLnBrk="0" hangingPunct="1">
                        <a:defRPr sz="1800" kern="1200">
                          <a:solidFill>
                            <a:schemeClr val="dk1"/>
                          </a:solidFill>
                          <a:latin typeface="Arial"/>
                          <a:ea typeface="微软雅黑"/>
                        </a:defRPr>
                      </a:lvl5pPr>
                      <a:lvl6pPr marL="2286000" algn="l" defTabSz="914400" rtl="0" eaLnBrk="1" latinLnBrk="0" hangingPunct="1">
                        <a:defRPr sz="1800" kern="1200">
                          <a:solidFill>
                            <a:schemeClr val="dk1"/>
                          </a:solidFill>
                          <a:latin typeface="Arial"/>
                          <a:ea typeface="微软雅黑"/>
                        </a:defRPr>
                      </a:lvl6pPr>
                      <a:lvl7pPr marL="2743200" algn="l" defTabSz="914400" rtl="0" eaLnBrk="1" latinLnBrk="0" hangingPunct="1">
                        <a:defRPr sz="1800" kern="1200">
                          <a:solidFill>
                            <a:schemeClr val="dk1"/>
                          </a:solidFill>
                          <a:latin typeface="Arial"/>
                          <a:ea typeface="微软雅黑"/>
                        </a:defRPr>
                      </a:lvl7pPr>
                      <a:lvl8pPr marL="3200400" algn="l" defTabSz="914400" rtl="0" eaLnBrk="1" latinLnBrk="0" hangingPunct="1">
                        <a:defRPr sz="1800" kern="1200">
                          <a:solidFill>
                            <a:schemeClr val="dk1"/>
                          </a:solidFill>
                          <a:latin typeface="Arial"/>
                          <a:ea typeface="微软雅黑"/>
                        </a:defRPr>
                      </a:lvl8pPr>
                      <a:lvl9pPr marL="3657600" algn="l" defTabSz="914400" rtl="0" eaLnBrk="1" latinLnBrk="0" hangingPunct="1">
                        <a:defRPr sz="1800" kern="1200">
                          <a:solidFill>
                            <a:schemeClr val="dk1"/>
                          </a:solidFill>
                          <a:latin typeface="Arial"/>
                          <a:ea typeface="微软雅黑"/>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kern="1200" dirty="0">
                          <a:solidFill>
                            <a:schemeClr val="dk1"/>
                          </a:solidFill>
                          <a:latin typeface="微软雅黑" panose="020B0503020204020204" pitchFamily="34" charset="-122"/>
                          <a:ea typeface="微软雅黑" panose="020B0503020204020204" pitchFamily="34" charset="-122"/>
                          <a:cs typeface="+mn-cs"/>
                        </a:rPr>
                        <a:t>函數調用時分配</a:t>
                      </a:r>
                    </a:p>
                  </a:txBody>
                  <a:tcPr anchor="ctr">
                    <a:lnL w="12700" cmpd="sng">
                      <a:noFill/>
                    </a:lnL>
                    <a:lnR w="12700" cmpd="sng">
                      <a:noFill/>
                    </a:lnR>
                    <a:lnT w="12700" cmpd="sng">
                      <a:noFill/>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04603869"/>
                  </a:ext>
                </a:extLst>
              </a:tr>
            </a:tbl>
          </a:graphicData>
        </a:graphic>
      </p:graphicFrame>
      <p:grpSp>
        <p:nvGrpSpPr>
          <p:cNvPr id="16" name="组合 15">
            <a:extLst>
              <a:ext uri="{FF2B5EF4-FFF2-40B4-BE49-F238E27FC236}">
                <a16:creationId xmlns:a16="http://schemas.microsoft.com/office/drawing/2014/main" id="{8A8B845B-E2A4-4EA8-ADEC-39FCBF71F0A2}"/>
              </a:ext>
            </a:extLst>
          </p:cNvPr>
          <p:cNvGrpSpPr/>
          <p:nvPr/>
        </p:nvGrpSpPr>
        <p:grpSpPr>
          <a:xfrm>
            <a:off x="5955921" y="948885"/>
            <a:ext cx="5397879" cy="2617276"/>
            <a:chOff x="5955921" y="948885"/>
            <a:chExt cx="5397879" cy="2617276"/>
          </a:xfrm>
        </p:grpSpPr>
        <p:sp>
          <p:nvSpPr>
            <p:cNvPr id="4" name="矩形 3">
              <a:extLst>
                <a:ext uri="{FF2B5EF4-FFF2-40B4-BE49-F238E27FC236}">
                  <a16:creationId xmlns:a16="http://schemas.microsoft.com/office/drawing/2014/main" id="{1AE37757-FF83-405F-8970-3DEAC8BC0AFB}"/>
                </a:ext>
              </a:extLst>
            </p:cNvPr>
            <p:cNvSpPr/>
            <p:nvPr/>
          </p:nvSpPr>
          <p:spPr>
            <a:xfrm>
              <a:off x="5955921" y="3058523"/>
              <a:ext cx="924030" cy="507638"/>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3E6E2B75-E78C-47D9-A7CC-A89C47C9AEA7}"/>
                </a:ext>
              </a:extLst>
            </p:cNvPr>
            <p:cNvCxnSpPr>
              <a:cxnSpLocks/>
            </p:cNvCxnSpPr>
            <p:nvPr/>
          </p:nvCxnSpPr>
          <p:spPr>
            <a:xfrm flipV="1">
              <a:off x="6879951" y="1940560"/>
              <a:ext cx="1105809" cy="1371600"/>
            </a:xfrm>
            <a:prstGeom prst="lin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cxnSp>
          <p:nvCxnSpPr>
            <p:cNvPr id="11" name="直接连接符 10">
              <a:extLst>
                <a:ext uri="{FF2B5EF4-FFF2-40B4-BE49-F238E27FC236}">
                  <a16:creationId xmlns:a16="http://schemas.microsoft.com/office/drawing/2014/main" id="{0BC8A9D1-7F60-4520-A106-22E270D12DD9}"/>
                </a:ext>
              </a:extLst>
            </p:cNvPr>
            <p:cNvCxnSpPr>
              <a:cxnSpLocks/>
            </p:cNvCxnSpPr>
            <p:nvPr/>
          </p:nvCxnSpPr>
          <p:spPr>
            <a:xfrm>
              <a:off x="7985760" y="1940560"/>
              <a:ext cx="3220720" cy="0"/>
            </a:xfrm>
            <a:prstGeom prst="line">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cxnSp>
        <p:sp>
          <p:nvSpPr>
            <p:cNvPr id="15" name="文本框 14">
              <a:extLst>
                <a:ext uri="{FF2B5EF4-FFF2-40B4-BE49-F238E27FC236}">
                  <a16:creationId xmlns:a16="http://schemas.microsoft.com/office/drawing/2014/main" id="{9FB3EB9F-AF4F-4D3C-98DE-012AF153B0D8}"/>
                </a:ext>
              </a:extLst>
            </p:cNvPr>
            <p:cNvSpPr txBox="1"/>
            <p:nvPr/>
          </p:nvSpPr>
          <p:spPr>
            <a:xfrm>
              <a:off x="8133080" y="948885"/>
              <a:ext cx="3220720" cy="954107"/>
            </a:xfrm>
            <a:prstGeom prst="rect">
              <a:avLst/>
            </a:prstGeom>
            <a:noFill/>
          </p:spPr>
          <p:txBody>
            <a:bodyPr wrap="square" rtlCol="0">
              <a:spAutoFit/>
            </a:bodyPr>
            <a:lstStyle/>
            <a:p>
              <a:pPr algn="just"/>
              <a:r>
                <a:rPr kumimoji="1" lang="en-US" altLang="zh-CN"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Question: </a:t>
              </a:r>
            </a:p>
            <a:p>
              <a:pPr algn="just"/>
              <a:r>
                <a:rPr kumimoji="1"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爲什麽文本段只讀？</a:t>
              </a:r>
              <a:endParaRPr kumimoji="1" lang="en-US" altLang="zh-CN"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3" name="Slide Number Placeholder 7">
            <a:extLst>
              <a:ext uri="{FF2B5EF4-FFF2-40B4-BE49-F238E27FC236}">
                <a16:creationId xmlns:a16="http://schemas.microsoft.com/office/drawing/2014/main" id="{A793A27F-784A-1F2A-811E-6F1A65F0A5C0}"/>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16</a:t>
            </a:fld>
            <a:endParaRPr lang="zh-CN" altLang="en-US" sz="1200" dirty="0">
              <a:solidFill>
                <a:schemeClr val="tx1">
                  <a:tint val="75000"/>
                </a:schemeClr>
              </a:solidFill>
            </a:endParaRPr>
          </a:p>
        </p:txBody>
      </p:sp>
    </p:spTree>
    <p:extLst>
      <p:ext uri="{BB962C8B-B14F-4D97-AF65-F5344CB8AC3E}">
        <p14:creationId xmlns:p14="http://schemas.microsoft.com/office/powerpoint/2010/main" val="22742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矩形 77">
            <a:extLst>
              <a:ext uri="{FF2B5EF4-FFF2-40B4-BE49-F238E27FC236}">
                <a16:creationId xmlns:a16="http://schemas.microsoft.com/office/drawing/2014/main" id="{55CE6950-53C5-2546-91D8-8676336097C8}"/>
              </a:ext>
            </a:extLst>
          </p:cNvPr>
          <p:cNvSpPr>
            <a:spLocks/>
          </p:cNvSpPr>
          <p:nvPr/>
        </p:nvSpPr>
        <p:spPr bwMode="auto">
          <a:xfrm>
            <a:off x="419965" y="999838"/>
            <a:ext cx="11314835" cy="1563254"/>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虛擬地址到邏輯地址的轉換</a:t>
            </a:r>
            <a:endParaRPr kumimoji="1" lang="zh-CN" altLang="en-US" dirty="0">
              <a:solidFill>
                <a:schemeClr val="tx1"/>
              </a:solidFill>
            </a:endParaRPr>
          </a:p>
        </p:txBody>
      </p:sp>
      <p:sp>
        <p:nvSpPr>
          <p:cNvPr id="7" name="文本框 14">
            <a:extLst>
              <a:ext uri="{FF2B5EF4-FFF2-40B4-BE49-F238E27FC236}">
                <a16:creationId xmlns:a16="http://schemas.microsoft.com/office/drawing/2014/main" id="{9257FE74-6359-4C27-9D2A-110C1646717A}"/>
              </a:ext>
            </a:extLst>
          </p:cNvPr>
          <p:cNvSpPr txBox="1"/>
          <p:nvPr/>
        </p:nvSpPr>
        <p:spPr>
          <a:xfrm>
            <a:off x="603345" y="1042091"/>
            <a:ext cx="11133434" cy="1435136"/>
          </a:xfrm>
          <a:prstGeom prst="rect">
            <a:avLst/>
          </a:prstGeom>
          <a:noFill/>
        </p:spPr>
        <p:txBody>
          <a:bodyPr wrap="square" rtlCol="0">
            <a:spAutoFit/>
          </a:bodyPr>
          <a:lstStyle/>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需要注意的是，上述分區均存在于</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虛擬地址空間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當中，進程可見的地址均爲虛擬地址，內存物理地址對進程不可見；虛擬地址需要經過</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頁式內存管理模塊</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才可轉換爲物理地址，本節提到地址</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均爲邏輯地址</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1" name="文本框 70">
            <a:extLst>
              <a:ext uri="{FF2B5EF4-FFF2-40B4-BE49-F238E27FC236}">
                <a16:creationId xmlns:a16="http://schemas.microsoft.com/office/drawing/2014/main" id="{74B3544B-C9BD-4219-B353-C9C3BE9E7623}"/>
              </a:ext>
            </a:extLst>
          </p:cNvPr>
          <p:cNvSpPr txBox="1"/>
          <p:nvPr/>
        </p:nvSpPr>
        <p:spPr>
          <a:xfrm>
            <a:off x="9583816" y="5185934"/>
            <a:ext cx="2555351" cy="338554"/>
          </a:xfrm>
          <a:prstGeom prst="rect">
            <a:avLst/>
          </a:prstGeom>
          <a:noFill/>
        </p:spPr>
        <p:txBody>
          <a:bodyPr wrap="square" rtlCol="0">
            <a:spAutoFit/>
          </a:bodyPr>
          <a:lstStyle/>
          <a:p>
            <a:pPr algn="ctr"/>
            <a:r>
              <a:rPr lang="en-US" altLang="zh-CN" sz="1600" dirty="0">
                <a:solidFill>
                  <a:srgbClr val="000000"/>
                </a:solidFill>
                <a:ea typeface="微软雅黑"/>
              </a:rPr>
              <a:t>physical address</a:t>
            </a:r>
          </a:p>
        </p:txBody>
      </p:sp>
      <p:grpSp>
        <p:nvGrpSpPr>
          <p:cNvPr id="6" name="组合 5">
            <a:extLst>
              <a:ext uri="{FF2B5EF4-FFF2-40B4-BE49-F238E27FC236}">
                <a16:creationId xmlns:a16="http://schemas.microsoft.com/office/drawing/2014/main" id="{3ABAF275-0154-41E2-AB1E-8EAA8B809107}"/>
              </a:ext>
            </a:extLst>
          </p:cNvPr>
          <p:cNvGrpSpPr/>
          <p:nvPr/>
        </p:nvGrpSpPr>
        <p:grpSpPr>
          <a:xfrm>
            <a:off x="780163" y="2860929"/>
            <a:ext cx="10790386" cy="3997071"/>
            <a:chOff x="918708" y="2804090"/>
            <a:chExt cx="10790386" cy="3997071"/>
          </a:xfrm>
        </p:grpSpPr>
        <p:sp>
          <p:nvSpPr>
            <p:cNvPr id="4" name="椭圆 3">
              <a:extLst>
                <a:ext uri="{FF2B5EF4-FFF2-40B4-BE49-F238E27FC236}">
                  <a16:creationId xmlns:a16="http://schemas.microsoft.com/office/drawing/2014/main" id="{99AFF86C-B996-4356-983E-3F1DBC1A56B8}"/>
                </a:ext>
              </a:extLst>
            </p:cNvPr>
            <p:cNvSpPr/>
            <p:nvPr/>
          </p:nvSpPr>
          <p:spPr>
            <a:xfrm>
              <a:off x="1848842" y="6395457"/>
              <a:ext cx="81119" cy="81119"/>
            </a:xfrm>
            <a:prstGeom prst="ellipse">
              <a:avLst/>
            </a:prstGeom>
            <a:solidFill>
              <a:srgbClr val="000000"/>
            </a:solid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5" name="文本框 4">
              <a:extLst>
                <a:ext uri="{FF2B5EF4-FFF2-40B4-BE49-F238E27FC236}">
                  <a16:creationId xmlns:a16="http://schemas.microsoft.com/office/drawing/2014/main" id="{E1BBE0D8-B6C2-4F1E-A454-349BFC47299D}"/>
                </a:ext>
              </a:extLst>
            </p:cNvPr>
            <p:cNvSpPr txBox="1"/>
            <p:nvPr/>
          </p:nvSpPr>
          <p:spPr>
            <a:xfrm>
              <a:off x="1148253" y="6247577"/>
              <a:ext cx="645995" cy="369332"/>
            </a:xfrm>
            <a:prstGeom prst="rect">
              <a:avLst/>
            </a:prstGeom>
            <a:noFill/>
          </p:spPr>
          <p:txBody>
            <a:bodyPr wrap="square" rtlCol="0">
              <a:spAutoFit/>
            </a:bodyPr>
            <a:lstStyle/>
            <a:p>
              <a:r>
                <a:rPr lang="en-US" altLang="zh-CN" dirty="0">
                  <a:solidFill>
                    <a:srgbClr val="000000"/>
                  </a:solidFill>
                  <a:ea typeface="微软雅黑"/>
                </a:rPr>
                <a:t>CR3</a:t>
              </a:r>
              <a:endParaRPr lang="zh-CN" altLang="en-US" dirty="0">
                <a:solidFill>
                  <a:srgbClr val="000000"/>
                </a:solidFill>
                <a:ea typeface="微软雅黑"/>
              </a:endParaRPr>
            </a:p>
          </p:txBody>
        </p:sp>
        <p:cxnSp>
          <p:nvCxnSpPr>
            <p:cNvPr id="8" name="直接箭头连接符 7">
              <a:extLst>
                <a:ext uri="{FF2B5EF4-FFF2-40B4-BE49-F238E27FC236}">
                  <a16:creationId xmlns:a16="http://schemas.microsoft.com/office/drawing/2014/main" id="{6C0DB189-6F2A-4BD9-A105-375E201A6CA6}"/>
                </a:ext>
              </a:extLst>
            </p:cNvPr>
            <p:cNvCxnSpPr>
              <a:cxnSpLocks/>
            </p:cNvCxnSpPr>
            <p:nvPr/>
          </p:nvCxnSpPr>
          <p:spPr>
            <a:xfrm>
              <a:off x="1904434" y="6432243"/>
              <a:ext cx="583900" cy="0"/>
            </a:xfrm>
            <a:prstGeom prst="straightConnector1">
              <a:avLst/>
            </a:prstGeom>
            <a:noFill/>
            <a:ln w="12700" cap="flat" cmpd="sng" algn="ctr">
              <a:solidFill>
                <a:srgbClr val="000000"/>
              </a:solidFill>
              <a:prstDash val="solid"/>
              <a:miter lim="800000"/>
              <a:tailEnd type="triangle"/>
            </a:ln>
            <a:effectLst/>
          </p:spPr>
        </p:cxnSp>
        <p:sp>
          <p:nvSpPr>
            <p:cNvPr id="12" name="文本框 11">
              <a:extLst>
                <a:ext uri="{FF2B5EF4-FFF2-40B4-BE49-F238E27FC236}">
                  <a16:creationId xmlns:a16="http://schemas.microsoft.com/office/drawing/2014/main" id="{296ACD9D-C49C-4ACE-8530-CD5181B422FF}"/>
                </a:ext>
              </a:extLst>
            </p:cNvPr>
            <p:cNvSpPr txBox="1"/>
            <p:nvPr/>
          </p:nvSpPr>
          <p:spPr>
            <a:xfrm>
              <a:off x="2196384" y="6462607"/>
              <a:ext cx="2555351" cy="338554"/>
            </a:xfrm>
            <a:prstGeom prst="rect">
              <a:avLst/>
            </a:prstGeom>
            <a:noFill/>
          </p:spPr>
          <p:txBody>
            <a:bodyPr wrap="square" rtlCol="0">
              <a:spAutoFit/>
            </a:bodyPr>
            <a:lstStyle/>
            <a:p>
              <a:pPr algn="ctr"/>
              <a:r>
                <a:rPr lang="en-US" altLang="zh-CN" sz="1600" dirty="0">
                  <a:solidFill>
                    <a:srgbClr val="000000"/>
                  </a:solidFill>
                  <a:ea typeface="微软雅黑"/>
                </a:rPr>
                <a:t>page global directory</a:t>
              </a:r>
            </a:p>
          </p:txBody>
        </p:sp>
        <p:sp>
          <p:nvSpPr>
            <p:cNvPr id="3" name="矩形 2">
              <a:extLst>
                <a:ext uri="{FF2B5EF4-FFF2-40B4-BE49-F238E27FC236}">
                  <a16:creationId xmlns:a16="http://schemas.microsoft.com/office/drawing/2014/main" id="{AA57EA6B-8709-4086-ABD0-07EF3B07B944}"/>
                </a:ext>
              </a:extLst>
            </p:cNvPr>
            <p:cNvSpPr/>
            <p:nvPr/>
          </p:nvSpPr>
          <p:spPr>
            <a:xfrm>
              <a:off x="2525560" y="4589795"/>
              <a:ext cx="1250321" cy="18424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63E8042E-DDD5-4B44-8D13-250106A5734A}"/>
                </a:ext>
              </a:extLst>
            </p:cNvPr>
            <p:cNvSpPr/>
            <p:nvPr/>
          </p:nvSpPr>
          <p:spPr>
            <a:xfrm>
              <a:off x="2526058" y="5936905"/>
              <a:ext cx="1250321" cy="2465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7" name="直接箭头连接符 36">
              <a:extLst>
                <a:ext uri="{FF2B5EF4-FFF2-40B4-BE49-F238E27FC236}">
                  <a16:creationId xmlns:a16="http://schemas.microsoft.com/office/drawing/2014/main" id="{E1F97DE3-D7A5-4132-A5E8-7706792BCCAF}"/>
                </a:ext>
              </a:extLst>
            </p:cNvPr>
            <p:cNvCxnSpPr>
              <a:cxnSpLocks/>
            </p:cNvCxnSpPr>
            <p:nvPr/>
          </p:nvCxnSpPr>
          <p:spPr>
            <a:xfrm flipV="1">
              <a:off x="2149957" y="6183408"/>
              <a:ext cx="0" cy="248835"/>
            </a:xfrm>
            <a:prstGeom prst="straightConnector1">
              <a:avLst/>
            </a:prstGeom>
            <a:noFill/>
            <a:ln w="12700" cap="flat" cmpd="sng" algn="ctr">
              <a:solidFill>
                <a:srgbClr val="000000"/>
              </a:solidFill>
              <a:prstDash val="solid"/>
              <a:miter lim="800000"/>
              <a:tailEnd type="triangle"/>
            </a:ln>
            <a:effectLst/>
          </p:spPr>
        </p:cxnSp>
        <p:sp>
          <p:nvSpPr>
            <p:cNvPr id="40" name="流程图: 或者 39">
              <a:extLst>
                <a:ext uri="{FF2B5EF4-FFF2-40B4-BE49-F238E27FC236}">
                  <a16:creationId xmlns:a16="http://schemas.microsoft.com/office/drawing/2014/main" id="{4E0482A9-B5EB-4AAE-9C81-38BA5649C08E}"/>
                </a:ext>
              </a:extLst>
            </p:cNvPr>
            <p:cNvSpPr/>
            <p:nvPr/>
          </p:nvSpPr>
          <p:spPr>
            <a:xfrm>
              <a:off x="2065207" y="5975859"/>
              <a:ext cx="169499" cy="169499"/>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1" name="直接箭头连接符 40">
              <a:extLst>
                <a:ext uri="{FF2B5EF4-FFF2-40B4-BE49-F238E27FC236}">
                  <a16:creationId xmlns:a16="http://schemas.microsoft.com/office/drawing/2014/main" id="{E1A41B25-C9B9-4532-A0AC-A2C27AF82FA5}"/>
                </a:ext>
              </a:extLst>
            </p:cNvPr>
            <p:cNvCxnSpPr>
              <a:cxnSpLocks/>
            </p:cNvCxnSpPr>
            <p:nvPr/>
          </p:nvCxnSpPr>
          <p:spPr>
            <a:xfrm>
              <a:off x="2275402" y="6056148"/>
              <a:ext cx="212932" cy="0"/>
            </a:xfrm>
            <a:prstGeom prst="straightConnector1">
              <a:avLst/>
            </a:prstGeom>
            <a:noFill/>
            <a:ln w="12700" cap="flat" cmpd="sng" algn="ctr">
              <a:solidFill>
                <a:srgbClr val="000000"/>
              </a:solidFill>
              <a:prstDash val="solid"/>
              <a:miter lim="800000"/>
              <a:tailEnd type="triangle"/>
            </a:ln>
            <a:effectLst/>
          </p:spPr>
        </p:cxnSp>
        <p:cxnSp>
          <p:nvCxnSpPr>
            <p:cNvPr id="44" name="直接箭头连接符 43">
              <a:extLst>
                <a:ext uri="{FF2B5EF4-FFF2-40B4-BE49-F238E27FC236}">
                  <a16:creationId xmlns:a16="http://schemas.microsoft.com/office/drawing/2014/main" id="{2445D4F9-995D-4377-BCB7-CC3168E49B41}"/>
                </a:ext>
              </a:extLst>
            </p:cNvPr>
            <p:cNvCxnSpPr>
              <a:cxnSpLocks/>
            </p:cNvCxnSpPr>
            <p:nvPr/>
          </p:nvCxnSpPr>
          <p:spPr>
            <a:xfrm>
              <a:off x="3788082" y="6128259"/>
              <a:ext cx="583900" cy="0"/>
            </a:xfrm>
            <a:prstGeom prst="straightConnector1">
              <a:avLst/>
            </a:prstGeom>
            <a:noFill/>
            <a:ln w="12700" cap="flat" cmpd="sng" algn="ctr">
              <a:solidFill>
                <a:srgbClr val="000000"/>
              </a:solidFill>
              <a:prstDash val="solid"/>
              <a:miter lim="800000"/>
              <a:tailEnd type="triangle"/>
            </a:ln>
            <a:effectLst/>
          </p:spPr>
        </p:cxnSp>
        <p:sp>
          <p:nvSpPr>
            <p:cNvPr id="45" name="矩形 44">
              <a:extLst>
                <a:ext uri="{FF2B5EF4-FFF2-40B4-BE49-F238E27FC236}">
                  <a16:creationId xmlns:a16="http://schemas.microsoft.com/office/drawing/2014/main" id="{1543E550-D93C-4969-8019-EA600D7D27CC}"/>
                </a:ext>
              </a:extLst>
            </p:cNvPr>
            <p:cNvSpPr/>
            <p:nvPr/>
          </p:nvSpPr>
          <p:spPr>
            <a:xfrm>
              <a:off x="4409208" y="4285811"/>
              <a:ext cx="1250321" cy="18424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9C94C4EA-6CF3-460C-8EE3-F77CE42A42C7}"/>
                </a:ext>
              </a:extLst>
            </p:cNvPr>
            <p:cNvSpPr/>
            <p:nvPr/>
          </p:nvSpPr>
          <p:spPr>
            <a:xfrm>
              <a:off x="4409706" y="5632921"/>
              <a:ext cx="1250321" cy="2465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7" name="直接箭头连接符 46">
              <a:extLst>
                <a:ext uri="{FF2B5EF4-FFF2-40B4-BE49-F238E27FC236}">
                  <a16:creationId xmlns:a16="http://schemas.microsoft.com/office/drawing/2014/main" id="{07417F5F-3D5A-47F6-AC97-AF6669406D2D}"/>
                </a:ext>
              </a:extLst>
            </p:cNvPr>
            <p:cNvCxnSpPr>
              <a:cxnSpLocks/>
            </p:cNvCxnSpPr>
            <p:nvPr/>
          </p:nvCxnSpPr>
          <p:spPr>
            <a:xfrm flipV="1">
              <a:off x="4033605" y="5879424"/>
              <a:ext cx="0" cy="248835"/>
            </a:xfrm>
            <a:prstGeom prst="straightConnector1">
              <a:avLst/>
            </a:prstGeom>
            <a:noFill/>
            <a:ln w="12700" cap="flat" cmpd="sng" algn="ctr">
              <a:solidFill>
                <a:srgbClr val="000000"/>
              </a:solidFill>
              <a:prstDash val="solid"/>
              <a:miter lim="800000"/>
              <a:tailEnd type="triangle"/>
            </a:ln>
            <a:effectLst/>
          </p:spPr>
        </p:cxnSp>
        <p:sp>
          <p:nvSpPr>
            <p:cNvPr id="48" name="流程图: 或者 47">
              <a:extLst>
                <a:ext uri="{FF2B5EF4-FFF2-40B4-BE49-F238E27FC236}">
                  <a16:creationId xmlns:a16="http://schemas.microsoft.com/office/drawing/2014/main" id="{E864E367-A51B-4949-B7FB-6AF5E5DB1A5F}"/>
                </a:ext>
              </a:extLst>
            </p:cNvPr>
            <p:cNvSpPr/>
            <p:nvPr/>
          </p:nvSpPr>
          <p:spPr>
            <a:xfrm>
              <a:off x="3948855" y="5671875"/>
              <a:ext cx="169499" cy="169499"/>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a:extLst>
                <a:ext uri="{FF2B5EF4-FFF2-40B4-BE49-F238E27FC236}">
                  <a16:creationId xmlns:a16="http://schemas.microsoft.com/office/drawing/2014/main" id="{F5016D1A-8931-48D4-B267-268918FCAD9A}"/>
                </a:ext>
              </a:extLst>
            </p:cNvPr>
            <p:cNvCxnSpPr>
              <a:cxnSpLocks/>
            </p:cNvCxnSpPr>
            <p:nvPr/>
          </p:nvCxnSpPr>
          <p:spPr>
            <a:xfrm>
              <a:off x="4159050" y="5752164"/>
              <a:ext cx="212932" cy="0"/>
            </a:xfrm>
            <a:prstGeom prst="straightConnector1">
              <a:avLst/>
            </a:prstGeom>
            <a:noFill/>
            <a:ln w="12700" cap="flat" cmpd="sng" algn="ctr">
              <a:solidFill>
                <a:srgbClr val="000000"/>
              </a:solidFill>
              <a:prstDash val="solid"/>
              <a:miter lim="800000"/>
              <a:tailEnd type="triangle"/>
            </a:ln>
            <a:effectLst/>
          </p:spPr>
        </p:cxnSp>
        <p:cxnSp>
          <p:nvCxnSpPr>
            <p:cNvPr id="50" name="直接箭头连接符 49">
              <a:extLst>
                <a:ext uri="{FF2B5EF4-FFF2-40B4-BE49-F238E27FC236}">
                  <a16:creationId xmlns:a16="http://schemas.microsoft.com/office/drawing/2014/main" id="{70030534-8658-4A5D-B3DC-D3F1F2F05763}"/>
                </a:ext>
              </a:extLst>
            </p:cNvPr>
            <p:cNvCxnSpPr>
              <a:cxnSpLocks/>
            </p:cNvCxnSpPr>
            <p:nvPr/>
          </p:nvCxnSpPr>
          <p:spPr>
            <a:xfrm>
              <a:off x="5671730" y="5824275"/>
              <a:ext cx="583900" cy="0"/>
            </a:xfrm>
            <a:prstGeom prst="straightConnector1">
              <a:avLst/>
            </a:prstGeom>
            <a:noFill/>
            <a:ln w="12700" cap="flat" cmpd="sng" algn="ctr">
              <a:solidFill>
                <a:srgbClr val="000000"/>
              </a:solidFill>
              <a:prstDash val="solid"/>
              <a:miter lim="800000"/>
              <a:tailEnd type="triangle"/>
            </a:ln>
            <a:effectLst/>
          </p:spPr>
        </p:cxnSp>
        <p:sp>
          <p:nvSpPr>
            <p:cNvPr id="51" name="矩形 50">
              <a:extLst>
                <a:ext uri="{FF2B5EF4-FFF2-40B4-BE49-F238E27FC236}">
                  <a16:creationId xmlns:a16="http://schemas.microsoft.com/office/drawing/2014/main" id="{00DF8E5D-D947-4944-9F92-B2B54BF324E0}"/>
                </a:ext>
              </a:extLst>
            </p:cNvPr>
            <p:cNvSpPr/>
            <p:nvPr/>
          </p:nvSpPr>
          <p:spPr>
            <a:xfrm>
              <a:off x="6292856" y="3981827"/>
              <a:ext cx="1250321" cy="18424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a:extLst>
                <a:ext uri="{FF2B5EF4-FFF2-40B4-BE49-F238E27FC236}">
                  <a16:creationId xmlns:a16="http://schemas.microsoft.com/office/drawing/2014/main" id="{94B63576-E3E0-4245-9D1D-7073583B6659}"/>
                </a:ext>
              </a:extLst>
            </p:cNvPr>
            <p:cNvSpPr/>
            <p:nvPr/>
          </p:nvSpPr>
          <p:spPr>
            <a:xfrm>
              <a:off x="6293354" y="5328937"/>
              <a:ext cx="1250321" cy="2465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3" name="直接箭头连接符 52">
              <a:extLst>
                <a:ext uri="{FF2B5EF4-FFF2-40B4-BE49-F238E27FC236}">
                  <a16:creationId xmlns:a16="http://schemas.microsoft.com/office/drawing/2014/main" id="{8C2B3D62-52A8-4164-A13A-DAEFE92AA938}"/>
                </a:ext>
              </a:extLst>
            </p:cNvPr>
            <p:cNvCxnSpPr>
              <a:cxnSpLocks/>
            </p:cNvCxnSpPr>
            <p:nvPr/>
          </p:nvCxnSpPr>
          <p:spPr>
            <a:xfrm flipV="1">
              <a:off x="5917253" y="5575440"/>
              <a:ext cx="0" cy="248835"/>
            </a:xfrm>
            <a:prstGeom prst="straightConnector1">
              <a:avLst/>
            </a:prstGeom>
            <a:noFill/>
            <a:ln w="12700" cap="flat" cmpd="sng" algn="ctr">
              <a:solidFill>
                <a:srgbClr val="000000"/>
              </a:solidFill>
              <a:prstDash val="solid"/>
              <a:miter lim="800000"/>
              <a:tailEnd type="triangle"/>
            </a:ln>
            <a:effectLst/>
          </p:spPr>
        </p:cxnSp>
        <p:sp>
          <p:nvSpPr>
            <p:cNvPr id="54" name="流程图: 或者 53">
              <a:extLst>
                <a:ext uri="{FF2B5EF4-FFF2-40B4-BE49-F238E27FC236}">
                  <a16:creationId xmlns:a16="http://schemas.microsoft.com/office/drawing/2014/main" id="{21DCB521-57E2-4956-A1D1-05FD2CE1ECA8}"/>
                </a:ext>
              </a:extLst>
            </p:cNvPr>
            <p:cNvSpPr/>
            <p:nvPr/>
          </p:nvSpPr>
          <p:spPr>
            <a:xfrm>
              <a:off x="5832503" y="5367891"/>
              <a:ext cx="169499" cy="169499"/>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5" name="直接箭头连接符 54">
              <a:extLst>
                <a:ext uri="{FF2B5EF4-FFF2-40B4-BE49-F238E27FC236}">
                  <a16:creationId xmlns:a16="http://schemas.microsoft.com/office/drawing/2014/main" id="{F3D3FB7D-0B8B-4168-B4E8-3FC48B763107}"/>
                </a:ext>
              </a:extLst>
            </p:cNvPr>
            <p:cNvCxnSpPr>
              <a:cxnSpLocks/>
            </p:cNvCxnSpPr>
            <p:nvPr/>
          </p:nvCxnSpPr>
          <p:spPr>
            <a:xfrm>
              <a:off x="6042698" y="5448180"/>
              <a:ext cx="212932" cy="0"/>
            </a:xfrm>
            <a:prstGeom prst="straightConnector1">
              <a:avLst/>
            </a:prstGeom>
            <a:noFill/>
            <a:ln w="12700" cap="flat" cmpd="sng" algn="ctr">
              <a:solidFill>
                <a:srgbClr val="000000"/>
              </a:solidFill>
              <a:prstDash val="solid"/>
              <a:miter lim="800000"/>
              <a:tailEnd type="triangle"/>
            </a:ln>
            <a:effectLst/>
          </p:spPr>
        </p:cxnSp>
        <p:cxnSp>
          <p:nvCxnSpPr>
            <p:cNvPr id="56" name="直接箭头连接符 55">
              <a:extLst>
                <a:ext uri="{FF2B5EF4-FFF2-40B4-BE49-F238E27FC236}">
                  <a16:creationId xmlns:a16="http://schemas.microsoft.com/office/drawing/2014/main" id="{9FBA2255-9D05-48AE-86A9-0DEA59398B53}"/>
                </a:ext>
              </a:extLst>
            </p:cNvPr>
            <p:cNvCxnSpPr>
              <a:cxnSpLocks/>
            </p:cNvCxnSpPr>
            <p:nvPr/>
          </p:nvCxnSpPr>
          <p:spPr>
            <a:xfrm>
              <a:off x="7555378" y="5511019"/>
              <a:ext cx="583900" cy="0"/>
            </a:xfrm>
            <a:prstGeom prst="straightConnector1">
              <a:avLst/>
            </a:prstGeom>
            <a:noFill/>
            <a:ln w="12700" cap="flat" cmpd="sng" algn="ctr">
              <a:solidFill>
                <a:srgbClr val="000000"/>
              </a:solidFill>
              <a:prstDash val="solid"/>
              <a:miter lim="800000"/>
              <a:tailEnd type="triangle"/>
            </a:ln>
            <a:effectLst/>
          </p:spPr>
        </p:cxnSp>
        <p:sp>
          <p:nvSpPr>
            <p:cNvPr id="57" name="矩形 56">
              <a:extLst>
                <a:ext uri="{FF2B5EF4-FFF2-40B4-BE49-F238E27FC236}">
                  <a16:creationId xmlns:a16="http://schemas.microsoft.com/office/drawing/2014/main" id="{2B03EC16-3C7F-4788-9E38-4EDB88BE9336}"/>
                </a:ext>
              </a:extLst>
            </p:cNvPr>
            <p:cNvSpPr/>
            <p:nvPr/>
          </p:nvSpPr>
          <p:spPr>
            <a:xfrm>
              <a:off x="8176504" y="3668571"/>
              <a:ext cx="1250321" cy="18424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a:extLst>
                <a:ext uri="{FF2B5EF4-FFF2-40B4-BE49-F238E27FC236}">
                  <a16:creationId xmlns:a16="http://schemas.microsoft.com/office/drawing/2014/main" id="{97B5972D-D49B-42AF-89C5-B033ECD1FD47}"/>
                </a:ext>
              </a:extLst>
            </p:cNvPr>
            <p:cNvSpPr/>
            <p:nvPr/>
          </p:nvSpPr>
          <p:spPr>
            <a:xfrm>
              <a:off x="8177002" y="5015681"/>
              <a:ext cx="1250321" cy="2465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a:extLst>
                <a:ext uri="{FF2B5EF4-FFF2-40B4-BE49-F238E27FC236}">
                  <a16:creationId xmlns:a16="http://schemas.microsoft.com/office/drawing/2014/main" id="{35FBE646-C68C-4BF6-815F-CDD791AB13BB}"/>
                </a:ext>
              </a:extLst>
            </p:cNvPr>
            <p:cNvCxnSpPr>
              <a:cxnSpLocks/>
            </p:cNvCxnSpPr>
            <p:nvPr/>
          </p:nvCxnSpPr>
          <p:spPr>
            <a:xfrm flipV="1">
              <a:off x="7800901" y="5262184"/>
              <a:ext cx="0" cy="248835"/>
            </a:xfrm>
            <a:prstGeom prst="straightConnector1">
              <a:avLst/>
            </a:prstGeom>
            <a:noFill/>
            <a:ln w="12700" cap="flat" cmpd="sng" algn="ctr">
              <a:solidFill>
                <a:srgbClr val="000000"/>
              </a:solidFill>
              <a:prstDash val="solid"/>
              <a:miter lim="800000"/>
              <a:tailEnd type="triangle"/>
            </a:ln>
            <a:effectLst/>
          </p:spPr>
        </p:cxnSp>
        <p:sp>
          <p:nvSpPr>
            <p:cNvPr id="60" name="流程图: 或者 59">
              <a:extLst>
                <a:ext uri="{FF2B5EF4-FFF2-40B4-BE49-F238E27FC236}">
                  <a16:creationId xmlns:a16="http://schemas.microsoft.com/office/drawing/2014/main" id="{FCA537D0-3A0A-4E3B-AABC-88FDB6085573}"/>
                </a:ext>
              </a:extLst>
            </p:cNvPr>
            <p:cNvSpPr/>
            <p:nvPr/>
          </p:nvSpPr>
          <p:spPr>
            <a:xfrm>
              <a:off x="7716151" y="5054635"/>
              <a:ext cx="169499" cy="169499"/>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1" name="直接箭头连接符 60">
              <a:extLst>
                <a:ext uri="{FF2B5EF4-FFF2-40B4-BE49-F238E27FC236}">
                  <a16:creationId xmlns:a16="http://schemas.microsoft.com/office/drawing/2014/main" id="{33DDF29E-8A86-4DA8-B229-540190592339}"/>
                </a:ext>
              </a:extLst>
            </p:cNvPr>
            <p:cNvCxnSpPr>
              <a:cxnSpLocks/>
            </p:cNvCxnSpPr>
            <p:nvPr/>
          </p:nvCxnSpPr>
          <p:spPr>
            <a:xfrm>
              <a:off x="7926346" y="5134924"/>
              <a:ext cx="212932" cy="0"/>
            </a:xfrm>
            <a:prstGeom prst="straightConnector1">
              <a:avLst/>
            </a:prstGeom>
            <a:noFill/>
            <a:ln w="12700" cap="flat" cmpd="sng" algn="ctr">
              <a:solidFill>
                <a:srgbClr val="000000"/>
              </a:solidFill>
              <a:prstDash val="solid"/>
              <a:miter lim="800000"/>
              <a:tailEnd type="triangle"/>
            </a:ln>
            <a:effectLst/>
          </p:spPr>
        </p:cxnSp>
        <p:cxnSp>
          <p:nvCxnSpPr>
            <p:cNvPr id="62" name="直接箭头连接符 61">
              <a:extLst>
                <a:ext uri="{FF2B5EF4-FFF2-40B4-BE49-F238E27FC236}">
                  <a16:creationId xmlns:a16="http://schemas.microsoft.com/office/drawing/2014/main" id="{EB077B45-1B17-4E10-8046-563409EE6C83}"/>
                </a:ext>
              </a:extLst>
            </p:cNvPr>
            <p:cNvCxnSpPr>
              <a:cxnSpLocks/>
            </p:cNvCxnSpPr>
            <p:nvPr/>
          </p:nvCxnSpPr>
          <p:spPr>
            <a:xfrm>
              <a:off x="9439026" y="5207035"/>
              <a:ext cx="583900" cy="0"/>
            </a:xfrm>
            <a:prstGeom prst="straightConnector1">
              <a:avLst/>
            </a:prstGeom>
            <a:noFill/>
            <a:ln w="12700" cap="flat" cmpd="sng" algn="ctr">
              <a:solidFill>
                <a:srgbClr val="000000"/>
              </a:solidFill>
              <a:prstDash val="solid"/>
              <a:miter lim="800000"/>
              <a:tailEnd type="triangle"/>
            </a:ln>
            <a:effectLst/>
          </p:spPr>
        </p:cxnSp>
        <p:sp>
          <p:nvSpPr>
            <p:cNvPr id="63" name="矩形 62">
              <a:extLst>
                <a:ext uri="{FF2B5EF4-FFF2-40B4-BE49-F238E27FC236}">
                  <a16:creationId xmlns:a16="http://schemas.microsoft.com/office/drawing/2014/main" id="{40EA2B81-E1D4-492B-8C44-E59742DA41B2}"/>
                </a:ext>
              </a:extLst>
            </p:cNvPr>
            <p:cNvSpPr/>
            <p:nvPr/>
          </p:nvSpPr>
          <p:spPr>
            <a:xfrm>
              <a:off x="10060152" y="3364587"/>
              <a:ext cx="1250321" cy="1842448"/>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a:extLst>
                <a:ext uri="{FF2B5EF4-FFF2-40B4-BE49-F238E27FC236}">
                  <a16:creationId xmlns:a16="http://schemas.microsoft.com/office/drawing/2014/main" id="{3110C406-BCA7-4F25-A9D5-BC1C1BA8EA06}"/>
                </a:ext>
              </a:extLst>
            </p:cNvPr>
            <p:cNvSpPr/>
            <p:nvPr/>
          </p:nvSpPr>
          <p:spPr>
            <a:xfrm>
              <a:off x="10060650" y="4711697"/>
              <a:ext cx="1250321" cy="246504"/>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5" name="直接箭头连接符 64">
              <a:extLst>
                <a:ext uri="{FF2B5EF4-FFF2-40B4-BE49-F238E27FC236}">
                  <a16:creationId xmlns:a16="http://schemas.microsoft.com/office/drawing/2014/main" id="{8B6856D1-59F2-45B8-95A2-22FED6C20AE6}"/>
                </a:ext>
              </a:extLst>
            </p:cNvPr>
            <p:cNvCxnSpPr>
              <a:cxnSpLocks/>
            </p:cNvCxnSpPr>
            <p:nvPr/>
          </p:nvCxnSpPr>
          <p:spPr>
            <a:xfrm flipV="1">
              <a:off x="9684549" y="4958200"/>
              <a:ext cx="0" cy="248835"/>
            </a:xfrm>
            <a:prstGeom prst="straightConnector1">
              <a:avLst/>
            </a:prstGeom>
            <a:noFill/>
            <a:ln w="12700" cap="flat" cmpd="sng" algn="ctr">
              <a:solidFill>
                <a:srgbClr val="000000"/>
              </a:solidFill>
              <a:prstDash val="solid"/>
              <a:miter lim="800000"/>
              <a:tailEnd type="triangle"/>
            </a:ln>
            <a:effectLst/>
          </p:spPr>
        </p:cxnSp>
        <p:sp>
          <p:nvSpPr>
            <p:cNvPr id="66" name="流程图: 或者 65">
              <a:extLst>
                <a:ext uri="{FF2B5EF4-FFF2-40B4-BE49-F238E27FC236}">
                  <a16:creationId xmlns:a16="http://schemas.microsoft.com/office/drawing/2014/main" id="{1FA48D28-640E-409B-AC19-0A2BEC597B20}"/>
                </a:ext>
              </a:extLst>
            </p:cNvPr>
            <p:cNvSpPr/>
            <p:nvPr/>
          </p:nvSpPr>
          <p:spPr>
            <a:xfrm>
              <a:off x="9599799" y="4750651"/>
              <a:ext cx="169499" cy="169499"/>
            </a:xfrm>
            <a:prstGeom prst="flowChartOr">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箭头连接符 66">
              <a:extLst>
                <a:ext uri="{FF2B5EF4-FFF2-40B4-BE49-F238E27FC236}">
                  <a16:creationId xmlns:a16="http://schemas.microsoft.com/office/drawing/2014/main" id="{248FD24B-0256-4DFC-B395-8BDC2BA0FA81}"/>
                </a:ext>
              </a:extLst>
            </p:cNvPr>
            <p:cNvCxnSpPr>
              <a:cxnSpLocks/>
            </p:cNvCxnSpPr>
            <p:nvPr/>
          </p:nvCxnSpPr>
          <p:spPr>
            <a:xfrm>
              <a:off x="9809994" y="4830940"/>
              <a:ext cx="212932" cy="0"/>
            </a:xfrm>
            <a:prstGeom prst="straightConnector1">
              <a:avLst/>
            </a:prstGeom>
            <a:noFill/>
            <a:ln w="12700" cap="flat" cmpd="sng" algn="ctr">
              <a:solidFill>
                <a:srgbClr val="000000"/>
              </a:solidFill>
              <a:prstDash val="solid"/>
              <a:miter lim="800000"/>
              <a:tailEnd type="triangle"/>
            </a:ln>
            <a:effectLst/>
          </p:spPr>
        </p:cxnSp>
        <p:sp>
          <p:nvSpPr>
            <p:cNvPr id="68" name="文本框 67">
              <a:extLst>
                <a:ext uri="{FF2B5EF4-FFF2-40B4-BE49-F238E27FC236}">
                  <a16:creationId xmlns:a16="http://schemas.microsoft.com/office/drawing/2014/main" id="{B306E1AD-1AA0-4676-AF3E-0EDBE7D4C463}"/>
                </a:ext>
              </a:extLst>
            </p:cNvPr>
            <p:cNvSpPr txBox="1"/>
            <p:nvPr/>
          </p:nvSpPr>
          <p:spPr>
            <a:xfrm>
              <a:off x="4080032" y="6128622"/>
              <a:ext cx="2555351" cy="338554"/>
            </a:xfrm>
            <a:prstGeom prst="rect">
              <a:avLst/>
            </a:prstGeom>
            <a:noFill/>
          </p:spPr>
          <p:txBody>
            <a:bodyPr wrap="square" rtlCol="0">
              <a:spAutoFit/>
            </a:bodyPr>
            <a:lstStyle/>
            <a:p>
              <a:pPr algn="ctr"/>
              <a:r>
                <a:rPr lang="en-US" altLang="zh-CN" sz="1600" dirty="0">
                  <a:solidFill>
                    <a:srgbClr val="000000"/>
                  </a:solidFill>
                  <a:ea typeface="微软雅黑"/>
                </a:rPr>
                <a:t>page upper directory</a:t>
              </a:r>
            </a:p>
          </p:txBody>
        </p:sp>
        <p:sp>
          <p:nvSpPr>
            <p:cNvPr id="69" name="文本框 68">
              <a:extLst>
                <a:ext uri="{FF2B5EF4-FFF2-40B4-BE49-F238E27FC236}">
                  <a16:creationId xmlns:a16="http://schemas.microsoft.com/office/drawing/2014/main" id="{8336E718-6424-4AD2-B819-16195834C929}"/>
                </a:ext>
              </a:extLst>
            </p:cNvPr>
            <p:cNvSpPr txBox="1"/>
            <p:nvPr/>
          </p:nvSpPr>
          <p:spPr>
            <a:xfrm>
              <a:off x="5963680" y="5814508"/>
              <a:ext cx="2555351" cy="338554"/>
            </a:xfrm>
            <a:prstGeom prst="rect">
              <a:avLst/>
            </a:prstGeom>
            <a:noFill/>
          </p:spPr>
          <p:txBody>
            <a:bodyPr wrap="square" rtlCol="0">
              <a:spAutoFit/>
            </a:bodyPr>
            <a:lstStyle/>
            <a:p>
              <a:pPr algn="ctr"/>
              <a:r>
                <a:rPr lang="en-US" altLang="zh-CN" sz="1600" dirty="0">
                  <a:solidFill>
                    <a:srgbClr val="000000"/>
                  </a:solidFill>
                  <a:ea typeface="微软雅黑"/>
                </a:rPr>
                <a:t>page middle directory</a:t>
              </a:r>
            </a:p>
          </p:txBody>
        </p:sp>
        <p:sp>
          <p:nvSpPr>
            <p:cNvPr id="70" name="文本框 69">
              <a:extLst>
                <a:ext uri="{FF2B5EF4-FFF2-40B4-BE49-F238E27FC236}">
                  <a16:creationId xmlns:a16="http://schemas.microsoft.com/office/drawing/2014/main" id="{1BD3763B-28DA-43CD-84E8-45E5B7F7524A}"/>
                </a:ext>
              </a:extLst>
            </p:cNvPr>
            <p:cNvSpPr txBox="1"/>
            <p:nvPr/>
          </p:nvSpPr>
          <p:spPr>
            <a:xfrm>
              <a:off x="7893754" y="5511019"/>
              <a:ext cx="2555351" cy="338554"/>
            </a:xfrm>
            <a:prstGeom prst="rect">
              <a:avLst/>
            </a:prstGeom>
            <a:noFill/>
          </p:spPr>
          <p:txBody>
            <a:bodyPr wrap="square" rtlCol="0">
              <a:spAutoFit/>
            </a:bodyPr>
            <a:lstStyle/>
            <a:p>
              <a:pPr algn="ctr"/>
              <a:r>
                <a:rPr lang="en-US" altLang="zh-CN" sz="1600" dirty="0">
                  <a:solidFill>
                    <a:srgbClr val="000000"/>
                  </a:solidFill>
                  <a:ea typeface="微软雅黑"/>
                </a:rPr>
                <a:t>page table directory</a:t>
              </a:r>
            </a:p>
          </p:txBody>
        </p:sp>
        <p:sp>
          <p:nvSpPr>
            <p:cNvPr id="72" name="矩形 71">
              <a:extLst>
                <a:ext uri="{FF2B5EF4-FFF2-40B4-BE49-F238E27FC236}">
                  <a16:creationId xmlns:a16="http://schemas.microsoft.com/office/drawing/2014/main" id="{9E31404D-7B18-4ED3-BBDD-6BBCF58231BE}"/>
                </a:ext>
              </a:extLst>
            </p:cNvPr>
            <p:cNvSpPr/>
            <p:nvPr/>
          </p:nvSpPr>
          <p:spPr>
            <a:xfrm>
              <a:off x="1268820" y="2804125"/>
              <a:ext cx="9668288" cy="42258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4" name="直接连接符 73">
              <a:extLst>
                <a:ext uri="{FF2B5EF4-FFF2-40B4-BE49-F238E27FC236}">
                  <a16:creationId xmlns:a16="http://schemas.microsoft.com/office/drawing/2014/main" id="{6D221D0A-BD21-47AC-B77D-F1353E352512}"/>
                </a:ext>
              </a:extLst>
            </p:cNvPr>
            <p:cNvCxnSpPr/>
            <p:nvPr/>
          </p:nvCxnSpPr>
          <p:spPr>
            <a:xfrm>
              <a:off x="3108960" y="2804125"/>
              <a:ext cx="0" cy="422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E71E2535-BC33-40CA-97B7-9D7B2203E943}"/>
                </a:ext>
              </a:extLst>
            </p:cNvPr>
            <p:cNvCxnSpPr/>
            <p:nvPr/>
          </p:nvCxnSpPr>
          <p:spPr>
            <a:xfrm>
              <a:off x="5072319" y="2804090"/>
              <a:ext cx="0" cy="422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24A96BD5-068C-491D-B328-8721062E054E}"/>
                </a:ext>
              </a:extLst>
            </p:cNvPr>
            <p:cNvCxnSpPr/>
            <p:nvPr/>
          </p:nvCxnSpPr>
          <p:spPr>
            <a:xfrm>
              <a:off x="6915244" y="2804125"/>
              <a:ext cx="0" cy="422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1C77787B-2295-4290-A1E7-626346C14864}"/>
                </a:ext>
              </a:extLst>
            </p:cNvPr>
            <p:cNvCxnSpPr/>
            <p:nvPr/>
          </p:nvCxnSpPr>
          <p:spPr>
            <a:xfrm>
              <a:off x="8758169" y="2804090"/>
              <a:ext cx="0" cy="422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8A385557-D695-40F0-A3D8-7C57C258D2C1}"/>
                </a:ext>
              </a:extLst>
            </p:cNvPr>
            <p:cNvSpPr txBox="1"/>
            <p:nvPr/>
          </p:nvSpPr>
          <p:spPr>
            <a:xfrm>
              <a:off x="918708" y="2843793"/>
              <a:ext cx="2555351" cy="338554"/>
            </a:xfrm>
            <a:prstGeom prst="rect">
              <a:avLst/>
            </a:prstGeom>
            <a:noFill/>
          </p:spPr>
          <p:txBody>
            <a:bodyPr wrap="square" rtlCol="0">
              <a:spAutoFit/>
            </a:bodyPr>
            <a:lstStyle/>
            <a:p>
              <a:pPr algn="ctr"/>
              <a:r>
                <a:rPr lang="en-US" altLang="zh-CN" sz="1600" dirty="0">
                  <a:solidFill>
                    <a:srgbClr val="000000"/>
                  </a:solidFill>
                  <a:ea typeface="微软雅黑"/>
                </a:rPr>
                <a:t>global directory</a:t>
              </a:r>
            </a:p>
          </p:txBody>
        </p:sp>
        <p:sp>
          <p:nvSpPr>
            <p:cNvPr id="80" name="文本框 79">
              <a:extLst>
                <a:ext uri="{FF2B5EF4-FFF2-40B4-BE49-F238E27FC236}">
                  <a16:creationId xmlns:a16="http://schemas.microsoft.com/office/drawing/2014/main" id="{725161FA-F832-4748-AD70-127495B5ED08}"/>
                </a:ext>
              </a:extLst>
            </p:cNvPr>
            <p:cNvSpPr txBox="1"/>
            <p:nvPr/>
          </p:nvSpPr>
          <p:spPr>
            <a:xfrm>
              <a:off x="2755928" y="2849276"/>
              <a:ext cx="2555351" cy="338554"/>
            </a:xfrm>
            <a:prstGeom prst="rect">
              <a:avLst/>
            </a:prstGeom>
            <a:noFill/>
          </p:spPr>
          <p:txBody>
            <a:bodyPr wrap="square" rtlCol="0">
              <a:spAutoFit/>
            </a:bodyPr>
            <a:lstStyle/>
            <a:p>
              <a:pPr algn="ctr"/>
              <a:r>
                <a:rPr lang="en-US" altLang="zh-CN" sz="1600" dirty="0">
                  <a:solidFill>
                    <a:srgbClr val="000000"/>
                  </a:solidFill>
                  <a:ea typeface="微软雅黑"/>
                </a:rPr>
                <a:t>upper directory</a:t>
              </a:r>
            </a:p>
          </p:txBody>
        </p:sp>
        <p:sp>
          <p:nvSpPr>
            <p:cNvPr id="81" name="文本框 80">
              <a:extLst>
                <a:ext uri="{FF2B5EF4-FFF2-40B4-BE49-F238E27FC236}">
                  <a16:creationId xmlns:a16="http://schemas.microsoft.com/office/drawing/2014/main" id="{54013000-9AAD-4C4D-97AC-BCFCE5981B4C}"/>
                </a:ext>
              </a:extLst>
            </p:cNvPr>
            <p:cNvSpPr txBox="1"/>
            <p:nvPr/>
          </p:nvSpPr>
          <p:spPr>
            <a:xfrm>
              <a:off x="4686004" y="2849638"/>
              <a:ext cx="2555351" cy="338554"/>
            </a:xfrm>
            <a:prstGeom prst="rect">
              <a:avLst/>
            </a:prstGeom>
            <a:noFill/>
          </p:spPr>
          <p:txBody>
            <a:bodyPr wrap="square" rtlCol="0">
              <a:spAutoFit/>
            </a:bodyPr>
            <a:lstStyle/>
            <a:p>
              <a:pPr algn="ctr"/>
              <a:r>
                <a:rPr lang="en-US" altLang="zh-CN" sz="1600" dirty="0">
                  <a:solidFill>
                    <a:srgbClr val="000000"/>
                  </a:solidFill>
                  <a:ea typeface="微软雅黑"/>
                </a:rPr>
                <a:t>middle directory</a:t>
              </a:r>
            </a:p>
          </p:txBody>
        </p:sp>
        <p:sp>
          <p:nvSpPr>
            <p:cNvPr id="82" name="文本框 81">
              <a:extLst>
                <a:ext uri="{FF2B5EF4-FFF2-40B4-BE49-F238E27FC236}">
                  <a16:creationId xmlns:a16="http://schemas.microsoft.com/office/drawing/2014/main" id="{80C69388-CBEC-41ED-AC19-A6DDB23CA485}"/>
                </a:ext>
              </a:extLst>
            </p:cNvPr>
            <p:cNvSpPr txBox="1"/>
            <p:nvPr/>
          </p:nvSpPr>
          <p:spPr>
            <a:xfrm>
              <a:off x="6569652" y="2847523"/>
              <a:ext cx="2555351" cy="338554"/>
            </a:xfrm>
            <a:prstGeom prst="rect">
              <a:avLst/>
            </a:prstGeom>
            <a:noFill/>
          </p:spPr>
          <p:txBody>
            <a:bodyPr wrap="square" rtlCol="0">
              <a:spAutoFit/>
            </a:bodyPr>
            <a:lstStyle/>
            <a:p>
              <a:pPr algn="ctr"/>
              <a:r>
                <a:rPr lang="en-US" altLang="zh-CN" sz="1600" dirty="0">
                  <a:solidFill>
                    <a:srgbClr val="000000"/>
                  </a:solidFill>
                  <a:ea typeface="微软雅黑"/>
                </a:rPr>
                <a:t>table</a:t>
              </a:r>
            </a:p>
          </p:txBody>
        </p:sp>
        <p:sp>
          <p:nvSpPr>
            <p:cNvPr id="83" name="文本框 82">
              <a:extLst>
                <a:ext uri="{FF2B5EF4-FFF2-40B4-BE49-F238E27FC236}">
                  <a16:creationId xmlns:a16="http://schemas.microsoft.com/office/drawing/2014/main" id="{E2BD7632-E7DF-4C76-9A8D-464817E19CE4}"/>
                </a:ext>
              </a:extLst>
            </p:cNvPr>
            <p:cNvSpPr txBox="1"/>
            <p:nvPr/>
          </p:nvSpPr>
          <p:spPr>
            <a:xfrm>
              <a:off x="8412576" y="2847653"/>
              <a:ext cx="2555351" cy="338554"/>
            </a:xfrm>
            <a:prstGeom prst="rect">
              <a:avLst/>
            </a:prstGeom>
            <a:noFill/>
          </p:spPr>
          <p:txBody>
            <a:bodyPr wrap="square" rtlCol="0">
              <a:spAutoFit/>
            </a:bodyPr>
            <a:lstStyle/>
            <a:p>
              <a:pPr algn="ctr"/>
              <a:r>
                <a:rPr lang="en-US" altLang="zh-CN" sz="1600" dirty="0">
                  <a:solidFill>
                    <a:srgbClr val="000000"/>
                  </a:solidFill>
                  <a:ea typeface="微软雅黑"/>
                </a:rPr>
                <a:t>offset</a:t>
              </a:r>
            </a:p>
          </p:txBody>
        </p:sp>
        <p:cxnSp>
          <p:nvCxnSpPr>
            <p:cNvPr id="84" name="直接箭头连接符 83">
              <a:extLst>
                <a:ext uri="{FF2B5EF4-FFF2-40B4-BE49-F238E27FC236}">
                  <a16:creationId xmlns:a16="http://schemas.microsoft.com/office/drawing/2014/main" id="{5C4AB4A3-0651-4FA1-AD09-C1D550722347}"/>
                </a:ext>
              </a:extLst>
            </p:cNvPr>
            <p:cNvCxnSpPr>
              <a:cxnSpLocks/>
            </p:cNvCxnSpPr>
            <p:nvPr/>
          </p:nvCxnSpPr>
          <p:spPr>
            <a:xfrm>
              <a:off x="2158551" y="3331478"/>
              <a:ext cx="0" cy="2605427"/>
            </a:xfrm>
            <a:prstGeom prst="straightConnector1">
              <a:avLst/>
            </a:prstGeom>
            <a:noFill/>
            <a:ln w="12700" cap="flat" cmpd="sng" algn="ctr">
              <a:solidFill>
                <a:srgbClr val="000000"/>
              </a:solidFill>
              <a:prstDash val="solid"/>
              <a:miter lim="800000"/>
              <a:tailEnd type="triangle"/>
            </a:ln>
            <a:effectLst/>
          </p:spPr>
        </p:cxnSp>
        <p:cxnSp>
          <p:nvCxnSpPr>
            <p:cNvPr id="87" name="直接箭头连接符 86">
              <a:extLst>
                <a:ext uri="{FF2B5EF4-FFF2-40B4-BE49-F238E27FC236}">
                  <a16:creationId xmlns:a16="http://schemas.microsoft.com/office/drawing/2014/main" id="{F13403AE-0B95-46FC-BAE9-BE38A6621650}"/>
                </a:ext>
              </a:extLst>
            </p:cNvPr>
            <p:cNvCxnSpPr>
              <a:cxnSpLocks/>
            </p:cNvCxnSpPr>
            <p:nvPr/>
          </p:nvCxnSpPr>
          <p:spPr>
            <a:xfrm>
              <a:off x="4033605" y="3331478"/>
              <a:ext cx="0" cy="2287019"/>
            </a:xfrm>
            <a:prstGeom prst="straightConnector1">
              <a:avLst/>
            </a:prstGeom>
            <a:noFill/>
            <a:ln w="12700" cap="flat" cmpd="sng" algn="ctr">
              <a:solidFill>
                <a:srgbClr val="000000"/>
              </a:solidFill>
              <a:prstDash val="solid"/>
              <a:miter lim="800000"/>
              <a:tailEnd type="triangle"/>
            </a:ln>
            <a:effectLst/>
          </p:spPr>
        </p:cxnSp>
        <p:cxnSp>
          <p:nvCxnSpPr>
            <p:cNvPr id="89" name="直接箭头连接符 88">
              <a:extLst>
                <a:ext uri="{FF2B5EF4-FFF2-40B4-BE49-F238E27FC236}">
                  <a16:creationId xmlns:a16="http://schemas.microsoft.com/office/drawing/2014/main" id="{27961CA9-64C2-4296-B9D6-434693144738}"/>
                </a:ext>
              </a:extLst>
            </p:cNvPr>
            <p:cNvCxnSpPr>
              <a:cxnSpLocks/>
            </p:cNvCxnSpPr>
            <p:nvPr/>
          </p:nvCxnSpPr>
          <p:spPr>
            <a:xfrm>
              <a:off x="5917252" y="3331478"/>
              <a:ext cx="0" cy="1968611"/>
            </a:xfrm>
            <a:prstGeom prst="straightConnector1">
              <a:avLst/>
            </a:prstGeom>
            <a:noFill/>
            <a:ln w="12700" cap="flat" cmpd="sng" algn="ctr">
              <a:solidFill>
                <a:srgbClr val="000000"/>
              </a:solidFill>
              <a:prstDash val="solid"/>
              <a:miter lim="800000"/>
              <a:tailEnd type="triangle"/>
            </a:ln>
            <a:effectLst/>
          </p:spPr>
        </p:cxnSp>
        <p:cxnSp>
          <p:nvCxnSpPr>
            <p:cNvPr id="91" name="直接箭头连接符 90">
              <a:extLst>
                <a:ext uri="{FF2B5EF4-FFF2-40B4-BE49-F238E27FC236}">
                  <a16:creationId xmlns:a16="http://schemas.microsoft.com/office/drawing/2014/main" id="{3BD04CFD-AEAD-49B5-B377-C2A552C38296}"/>
                </a:ext>
              </a:extLst>
            </p:cNvPr>
            <p:cNvCxnSpPr>
              <a:cxnSpLocks/>
            </p:cNvCxnSpPr>
            <p:nvPr/>
          </p:nvCxnSpPr>
          <p:spPr>
            <a:xfrm>
              <a:off x="7800900" y="3331478"/>
              <a:ext cx="0" cy="1650203"/>
            </a:xfrm>
            <a:prstGeom prst="straightConnector1">
              <a:avLst/>
            </a:prstGeom>
            <a:noFill/>
            <a:ln w="12700" cap="flat" cmpd="sng" algn="ctr">
              <a:solidFill>
                <a:srgbClr val="000000"/>
              </a:solidFill>
              <a:prstDash val="solid"/>
              <a:miter lim="800000"/>
              <a:tailEnd type="triangle"/>
            </a:ln>
            <a:effectLst/>
          </p:spPr>
        </p:cxnSp>
        <p:cxnSp>
          <p:nvCxnSpPr>
            <p:cNvPr id="93" name="直接箭头连接符 92">
              <a:extLst>
                <a:ext uri="{FF2B5EF4-FFF2-40B4-BE49-F238E27FC236}">
                  <a16:creationId xmlns:a16="http://schemas.microsoft.com/office/drawing/2014/main" id="{F1226245-5A64-4880-B0C8-21BB09AB1570}"/>
                </a:ext>
              </a:extLst>
            </p:cNvPr>
            <p:cNvCxnSpPr>
              <a:cxnSpLocks/>
            </p:cNvCxnSpPr>
            <p:nvPr/>
          </p:nvCxnSpPr>
          <p:spPr>
            <a:xfrm>
              <a:off x="9684548" y="3331478"/>
              <a:ext cx="0" cy="1380219"/>
            </a:xfrm>
            <a:prstGeom prst="straightConnector1">
              <a:avLst/>
            </a:prstGeom>
            <a:noFill/>
            <a:ln w="12700" cap="flat" cmpd="sng" algn="ctr">
              <a:solidFill>
                <a:srgbClr val="000000"/>
              </a:solidFill>
              <a:prstDash val="solid"/>
              <a:miter lim="800000"/>
              <a:tailEnd type="triangle"/>
            </a:ln>
            <a:effectLst/>
          </p:spPr>
        </p:cxnSp>
        <p:sp>
          <p:nvSpPr>
            <p:cNvPr id="73" name="文本框 14">
              <a:extLst>
                <a:ext uri="{FF2B5EF4-FFF2-40B4-BE49-F238E27FC236}">
                  <a16:creationId xmlns:a16="http://schemas.microsoft.com/office/drawing/2014/main" id="{4ACAA929-7DF1-4568-8114-62B725F3790C}"/>
                </a:ext>
              </a:extLst>
            </p:cNvPr>
            <p:cNvSpPr txBox="1"/>
            <p:nvPr/>
          </p:nvSpPr>
          <p:spPr>
            <a:xfrm>
              <a:off x="8412576" y="6023092"/>
              <a:ext cx="3296518" cy="707886"/>
            </a:xfrm>
            <a:prstGeom prst="rect">
              <a:avLst/>
            </a:prstGeom>
            <a:noFill/>
          </p:spPr>
          <p:txBody>
            <a:bodyPr wrap="square" rtlCol="0">
              <a:spAutoFit/>
            </a:bodyPr>
            <a:lstStyle/>
            <a:p>
              <a:pPr algn="r"/>
              <a:r>
                <a:rPr kumimoji="1" lang="en-US" altLang="zh-CN" sz="20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0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下五級頁表將</a:t>
              </a:r>
              <a:endParaRPr kumimoji="1" lang="en-US" altLang="zh-CN" sz="20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r"/>
              <a:r>
                <a:rPr kumimoji="1" lang="zh-CN" altLang="en-US" sz="20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邏輯地址轉換爲物理地址</a:t>
              </a:r>
              <a:endParaRPr kumimoji="1" lang="en-US" altLang="zh-CN" sz="2000" b="1" i="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9" name="Slide Number Placeholder 7">
            <a:extLst>
              <a:ext uri="{FF2B5EF4-FFF2-40B4-BE49-F238E27FC236}">
                <a16:creationId xmlns:a16="http://schemas.microsoft.com/office/drawing/2014/main" id="{28336FC8-66B3-09D4-E815-BB5448D5FA0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17</a:t>
            </a:fld>
            <a:endParaRPr lang="zh-CN" altLang="en-US" sz="1200" dirty="0">
              <a:solidFill>
                <a:schemeClr val="tx1">
                  <a:tint val="75000"/>
                </a:schemeClr>
              </a:solidFill>
            </a:endParaRPr>
          </a:p>
        </p:txBody>
      </p:sp>
    </p:spTree>
    <p:extLst>
      <p:ext uri="{BB962C8B-B14F-4D97-AF65-F5344CB8AC3E}">
        <p14:creationId xmlns:p14="http://schemas.microsoft.com/office/powerpoint/2010/main" val="395168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60008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573234"/>
            <a:ext cx="3789820"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1.1 </a:t>
            </a:r>
            <a:r>
              <a:rPr lang="zh-CN" altLang="en-US" sz="2400" dirty="0">
                <a:latin typeface="Microsoft YaHei" panose="020B0503020204020204" pitchFamily="34" charset="-122"/>
                <a:ea typeface="Microsoft YaHei" panose="020B0503020204020204" pitchFamily="34" charset="-122"/>
              </a:rPr>
              <a:t>操作系統內存管理基礎</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243056"/>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219410"/>
            <a:ext cx="3546164"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1.2 </a:t>
            </a:r>
            <a:r>
              <a:rPr lang="zh-CN" altLang="en-US" sz="2400" b="1" dirty="0">
                <a:solidFill>
                  <a:srgbClr val="C00000"/>
                </a:solidFill>
                <a:latin typeface="Microsoft YaHei" panose="020B0503020204020204" pitchFamily="34" charset="-122"/>
                <a:ea typeface="Microsoft YaHei" panose="020B0503020204020204" pitchFamily="34" charset="-122"/>
              </a:rPr>
              <a:t>基礎的棧區攻擊方案</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492120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4900756"/>
            <a:ext cx="3546164"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1.3 </a:t>
            </a:r>
            <a:r>
              <a:rPr lang="zh-CN" altLang="en-US" sz="2400" dirty="0">
                <a:latin typeface="Microsoft YaHei" panose="020B0503020204020204" pitchFamily="34" charset="-122"/>
                <a:ea typeface="Microsoft YaHei" panose="020B0503020204020204" pitchFamily="34" charset="-122"/>
              </a:rPr>
              <a:t>基礎的堆區攻擊方案</a:t>
            </a:r>
          </a:p>
        </p:txBody>
      </p:sp>
      <p:sp>
        <p:nvSpPr>
          <p:cNvPr id="31" name="矩形 30">
            <a:extLst>
              <a:ext uri="{FF2B5EF4-FFF2-40B4-BE49-F238E27FC236}">
                <a16:creationId xmlns:a16="http://schemas.microsoft.com/office/drawing/2014/main" id="{1BDB0F87-2D75-4A4B-851D-856E1A323F75}"/>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2" name="矩形 31">
            <a:extLst>
              <a:ext uri="{FF2B5EF4-FFF2-40B4-BE49-F238E27FC236}">
                <a16:creationId xmlns:a16="http://schemas.microsoft.com/office/drawing/2014/main" id="{11517EE3-A944-4305-B8E1-14CCF0C1A302}"/>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3" name="矩形 32">
            <a:extLst>
              <a:ext uri="{FF2B5EF4-FFF2-40B4-BE49-F238E27FC236}">
                <a16:creationId xmlns:a16="http://schemas.microsoft.com/office/drawing/2014/main" id="{26643AF7-6316-4AC8-9923-F218B1A01E58}"/>
              </a:ext>
            </a:extLst>
          </p:cNvPr>
          <p:cNvSpPr/>
          <p:nvPr/>
        </p:nvSpPr>
        <p:spPr>
          <a:xfrm>
            <a:off x="4711535" y="2072918"/>
            <a:ext cx="6808274" cy="707886"/>
          </a:xfrm>
          <a:prstGeom prst="rect">
            <a:avLst/>
          </a:prstGeom>
        </p:spPr>
        <p:txBody>
          <a:bodyPr wrap="none">
            <a:spAutoFit/>
          </a:bodyPr>
          <a:lstStyle/>
          <a:p>
            <a:pPr>
              <a:defRPr/>
            </a:pP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第</a:t>
            </a:r>
            <a:r>
              <a:rPr lang="en-US" altLang="zh-CN"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1</a:t>
            </a:r>
            <a:r>
              <a:rPr lang="zh-CN" altLang="en-US" sz="4000" b="1" kern="100" dirty="0">
                <a:solidFill>
                  <a:prstClr val="white"/>
                </a:solidFill>
                <a:latin typeface="Microsoft YaHei" panose="020B0503020204020204" pitchFamily="34" charset="-122"/>
                <a:ea typeface="Microsoft YaHei" panose="020B0503020204020204" pitchFamily="34" charset="-122"/>
                <a:cs typeface="Times New Roman" panose="02020603050405020304" pitchFamily="18" charset="0"/>
              </a:rPr>
              <a:t>節 操作系統基礎攻擊方案</a:t>
            </a:r>
          </a:p>
        </p:txBody>
      </p:sp>
      <p:pic>
        <p:nvPicPr>
          <p:cNvPr id="34" name="图片 33">
            <a:extLst>
              <a:ext uri="{FF2B5EF4-FFF2-40B4-BE49-F238E27FC236}">
                <a16:creationId xmlns:a16="http://schemas.microsoft.com/office/drawing/2014/main" id="{80A1BA1D-17BB-4B07-95A1-732C44844A03}"/>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5" name="Footer Placeholder 4">
            <a:extLst>
              <a:ext uri="{FF2B5EF4-FFF2-40B4-BE49-F238E27FC236}">
                <a16:creationId xmlns:a16="http://schemas.microsoft.com/office/drawing/2014/main" id="{653D31BA-F6AD-9498-B3A5-DDCBBEAE8266}"/>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7F57607A-0DF1-D7DF-5791-B7930DE574B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18</a:t>
            </a:fld>
            <a:endParaRPr lang="zh-CN" altLang="en-US" sz="1200" dirty="0">
              <a:solidFill>
                <a:schemeClr val="tx1">
                  <a:tint val="75000"/>
                </a:schemeClr>
              </a:solidFill>
            </a:endParaRPr>
          </a:p>
        </p:txBody>
      </p:sp>
    </p:spTree>
    <p:extLst>
      <p:ext uri="{BB962C8B-B14F-4D97-AF65-F5344CB8AC3E}">
        <p14:creationId xmlns:p14="http://schemas.microsoft.com/office/powerpoint/2010/main" val="2451029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棧區內存的作用</a:t>
            </a:r>
          </a:p>
        </p:txBody>
      </p:sp>
      <p:sp>
        <p:nvSpPr>
          <p:cNvPr id="48" name="文本框 14">
            <a:extLst>
              <a:ext uri="{FF2B5EF4-FFF2-40B4-BE49-F238E27FC236}">
                <a16:creationId xmlns:a16="http://schemas.microsoft.com/office/drawing/2014/main" id="{E5A485B9-3AA0-4759-B002-EED2DB39E98E}"/>
              </a:ext>
            </a:extLst>
          </p:cNvPr>
          <p:cNvSpPr txBox="1"/>
          <p:nvPr/>
        </p:nvSpPr>
        <p:spPr>
          <a:xfrm>
            <a:off x="492509" y="1218673"/>
            <a:ext cx="5955574" cy="5128455"/>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進程的執行過程可以看作一系列函數調用的過程，</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棧區內存的根本作用：</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保存主調函數狀態的連續內存區域被稱作</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棧幀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Stack Frame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）；當調用時棧幀進棧，當返回時棧幀出棧；棧幀是調用棧的最小邏輯單元</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5" name="矩形 44">
            <a:extLst>
              <a:ext uri="{FF2B5EF4-FFF2-40B4-BE49-F238E27FC236}">
                <a16:creationId xmlns:a16="http://schemas.microsoft.com/office/drawing/2014/main" id="{315B0A29-5256-414D-9297-CB306715988C}"/>
              </a:ext>
            </a:extLst>
          </p:cNvPr>
          <p:cNvSpPr>
            <a:spLocks/>
          </p:cNvSpPr>
          <p:nvPr/>
        </p:nvSpPr>
        <p:spPr bwMode="auto">
          <a:xfrm>
            <a:off x="492508" y="2376468"/>
            <a:ext cx="5955573" cy="1544986"/>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44" name="文本框 43">
            <a:extLst>
              <a:ext uri="{FF2B5EF4-FFF2-40B4-BE49-F238E27FC236}">
                <a16:creationId xmlns:a16="http://schemas.microsoft.com/office/drawing/2014/main" id="{8095D912-E7A8-4799-B6D5-8A5F6B288115}"/>
              </a:ext>
            </a:extLst>
          </p:cNvPr>
          <p:cNvSpPr txBox="1"/>
          <p:nvPr/>
        </p:nvSpPr>
        <p:spPr>
          <a:xfrm>
            <a:off x="641445" y="2431060"/>
            <a:ext cx="5613779" cy="1435136"/>
          </a:xfrm>
          <a:prstGeom prst="rect">
            <a:avLst/>
          </a:prstGeom>
          <a:noFill/>
        </p:spPr>
        <p:txBody>
          <a:bodyPr wrap="square">
            <a:spAutoFit/>
          </a:bodyPr>
          <a:lstStyle/>
          <a:p>
            <a:pPr algn="ctr">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保存</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主調函數</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）的狀態信息</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以在調用結束後恢復主調函數狀態</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幷創建</a:t>
            </a:r>
            <a:r>
              <a:rPr kumimoji="1" lang="zh-CN" altLang="en-US" sz="2400"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rPr>
              <a:t>被調函數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的狀態信息</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1" name="Picture 10">
            <a:extLst>
              <a:ext uri="{FF2B5EF4-FFF2-40B4-BE49-F238E27FC236}">
                <a16:creationId xmlns:a16="http://schemas.microsoft.com/office/drawing/2014/main" id="{DB0E4149-286E-6717-6373-0EA5B73E5A7E}"/>
              </a:ext>
            </a:extLst>
          </p:cNvPr>
          <p:cNvPicPr>
            <a:picLocks noChangeAspect="1"/>
          </p:cNvPicPr>
          <p:nvPr/>
        </p:nvPicPr>
        <p:blipFill rotWithShape="1">
          <a:blip r:embed="rId3"/>
          <a:srcRect l="4040"/>
          <a:stretch/>
        </p:blipFill>
        <p:spPr>
          <a:xfrm>
            <a:off x="6642813" y="2270928"/>
            <a:ext cx="5161919" cy="2623054"/>
          </a:xfrm>
          <a:prstGeom prst="rect">
            <a:avLst/>
          </a:prstGeom>
        </p:spPr>
      </p:pic>
      <p:sp>
        <p:nvSpPr>
          <p:cNvPr id="3" name="Slide Number Placeholder 7">
            <a:extLst>
              <a:ext uri="{FF2B5EF4-FFF2-40B4-BE49-F238E27FC236}">
                <a16:creationId xmlns:a16="http://schemas.microsoft.com/office/drawing/2014/main" id="{261E51A4-1924-49D3-4781-29909FD5F90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19</a:t>
            </a:fld>
            <a:endParaRPr lang="zh-CN" altLang="en-US" sz="1200" dirty="0">
              <a:solidFill>
                <a:schemeClr val="tx1">
                  <a:tint val="75000"/>
                </a:schemeClr>
              </a:solidFill>
            </a:endParaRPr>
          </a:p>
        </p:txBody>
      </p:sp>
    </p:spTree>
    <p:extLst>
      <p:ext uri="{BB962C8B-B14F-4D97-AF65-F5344CB8AC3E}">
        <p14:creationId xmlns:p14="http://schemas.microsoft.com/office/powerpoint/2010/main" val="1951760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與函數調用密切相關的寄存器</a:t>
            </a:r>
            <a:endParaRPr kumimoji="1" lang="zh-CN" altLang="en-US" dirty="0">
              <a:solidFill>
                <a:schemeClr val="tx1"/>
              </a:solidFill>
            </a:endParaRPr>
          </a:p>
        </p:txBody>
      </p:sp>
      <p:sp>
        <p:nvSpPr>
          <p:cNvPr id="5" name="文本框 14">
            <a:extLst>
              <a:ext uri="{FF2B5EF4-FFF2-40B4-BE49-F238E27FC236}">
                <a16:creationId xmlns:a16="http://schemas.microsoft.com/office/drawing/2014/main" id="{54C6A9F5-5365-4E9E-928B-5FC4855FA76C}"/>
              </a:ext>
            </a:extLst>
          </p:cNvPr>
          <p:cNvSpPr txBox="1"/>
          <p:nvPr/>
        </p:nvSpPr>
        <p:spPr>
          <a:xfrm>
            <a:off x="492509" y="1231454"/>
            <a:ext cx="11133433" cy="1896801"/>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爲表示方便，本小節以</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x86_32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處理器下</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GCC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編譯程序的調用過程爲例，介紹保存和恢復狀態的過程</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x86_32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下有</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個通用寄存器（位寬</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個段寄存器（位寬</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個控制寄存器（位寬</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個指令寄存器（位寬</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），和浮點寄存器調試寄存器等</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CEE9047E-224A-4F59-A804-54B3BED653E7}"/>
              </a:ext>
            </a:extLst>
          </p:cNvPr>
          <p:cNvGrpSpPr/>
          <p:nvPr/>
        </p:nvGrpSpPr>
        <p:grpSpPr>
          <a:xfrm>
            <a:off x="1299977" y="3236632"/>
            <a:ext cx="10656032" cy="3508933"/>
            <a:chOff x="1345468" y="3236632"/>
            <a:chExt cx="10656032" cy="3508933"/>
          </a:xfrm>
        </p:grpSpPr>
        <p:sp>
          <p:nvSpPr>
            <p:cNvPr id="3" name="矩形 2">
              <a:extLst>
                <a:ext uri="{FF2B5EF4-FFF2-40B4-BE49-F238E27FC236}">
                  <a16:creationId xmlns:a16="http://schemas.microsoft.com/office/drawing/2014/main" id="{6E84AE15-990C-4EC7-B932-74AC34D1D01A}"/>
                </a:ext>
              </a:extLst>
            </p:cNvPr>
            <p:cNvSpPr/>
            <p:nvPr/>
          </p:nvSpPr>
          <p:spPr>
            <a:xfrm>
              <a:off x="1411025" y="3694222"/>
              <a:ext cx="9470335" cy="695956"/>
            </a:xfrm>
            <a:prstGeom prst="rect">
              <a:avLst/>
            </a:prstGeom>
            <a:solidFill>
              <a:schemeClr val="accent3">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EF32C62D-7390-4151-B5D1-52CC25B4D80F}"/>
                </a:ext>
              </a:extLst>
            </p:cNvPr>
            <p:cNvSpPr/>
            <p:nvPr/>
          </p:nvSpPr>
          <p:spPr>
            <a:xfrm>
              <a:off x="2346959" y="4836437"/>
              <a:ext cx="7118295" cy="695956"/>
            </a:xfrm>
            <a:prstGeom prst="rect">
              <a:avLst/>
            </a:prstGeom>
            <a:solidFill>
              <a:schemeClr val="accent3">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18F3AA7-3500-40E1-A9C8-988A9A9BEE31}"/>
                </a:ext>
              </a:extLst>
            </p:cNvPr>
            <p:cNvSpPr/>
            <p:nvPr/>
          </p:nvSpPr>
          <p:spPr>
            <a:xfrm>
              <a:off x="1435802" y="6038597"/>
              <a:ext cx="6060329" cy="695956"/>
            </a:xfrm>
            <a:prstGeom prst="rect">
              <a:avLst/>
            </a:prstGeom>
            <a:solidFill>
              <a:schemeClr val="accent3">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FF1AD9CD-CE79-4A53-A1F4-A63E8882AF90}"/>
                </a:ext>
              </a:extLst>
            </p:cNvPr>
            <p:cNvSpPr/>
            <p:nvPr/>
          </p:nvSpPr>
          <p:spPr>
            <a:xfrm>
              <a:off x="1610361"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EAX</a:t>
              </a:r>
              <a:endParaRPr lang="zh-CN" altLang="en-US" sz="2000" dirty="0">
                <a:solidFill>
                  <a:schemeClr val="tx1"/>
                </a:solidFill>
              </a:endParaRPr>
            </a:p>
          </p:txBody>
        </p:sp>
        <p:sp>
          <p:nvSpPr>
            <p:cNvPr id="12" name="矩形 11">
              <a:extLst>
                <a:ext uri="{FF2B5EF4-FFF2-40B4-BE49-F238E27FC236}">
                  <a16:creationId xmlns:a16="http://schemas.microsoft.com/office/drawing/2014/main" id="{878A8145-EDFA-465A-B9F8-8E768D9BBED0}"/>
                </a:ext>
              </a:extLst>
            </p:cNvPr>
            <p:cNvSpPr/>
            <p:nvPr/>
          </p:nvSpPr>
          <p:spPr>
            <a:xfrm>
              <a:off x="2769816"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EBX</a:t>
              </a:r>
              <a:endParaRPr lang="zh-CN" altLang="en-US" sz="2000" dirty="0">
                <a:solidFill>
                  <a:schemeClr val="tx1"/>
                </a:solidFill>
              </a:endParaRPr>
            </a:p>
          </p:txBody>
        </p:sp>
        <p:sp>
          <p:nvSpPr>
            <p:cNvPr id="13" name="矩形 12">
              <a:extLst>
                <a:ext uri="{FF2B5EF4-FFF2-40B4-BE49-F238E27FC236}">
                  <a16:creationId xmlns:a16="http://schemas.microsoft.com/office/drawing/2014/main" id="{41CA637D-C296-40F8-9689-7238F908FFC9}"/>
                </a:ext>
              </a:extLst>
            </p:cNvPr>
            <p:cNvSpPr/>
            <p:nvPr/>
          </p:nvSpPr>
          <p:spPr>
            <a:xfrm>
              <a:off x="3921761"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ECX</a:t>
              </a:r>
              <a:endParaRPr lang="zh-CN" altLang="en-US" sz="2000" dirty="0">
                <a:solidFill>
                  <a:schemeClr val="tx1"/>
                </a:solidFill>
              </a:endParaRPr>
            </a:p>
          </p:txBody>
        </p:sp>
        <p:sp>
          <p:nvSpPr>
            <p:cNvPr id="14" name="矩形 13">
              <a:extLst>
                <a:ext uri="{FF2B5EF4-FFF2-40B4-BE49-F238E27FC236}">
                  <a16:creationId xmlns:a16="http://schemas.microsoft.com/office/drawing/2014/main" id="{BB0287C1-7460-466E-8E29-70DA783ED892}"/>
                </a:ext>
              </a:extLst>
            </p:cNvPr>
            <p:cNvSpPr/>
            <p:nvPr/>
          </p:nvSpPr>
          <p:spPr>
            <a:xfrm>
              <a:off x="5081216"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EDX</a:t>
              </a:r>
              <a:endParaRPr lang="zh-CN" altLang="en-US" sz="2000" dirty="0">
                <a:solidFill>
                  <a:schemeClr val="tx1"/>
                </a:solidFill>
              </a:endParaRPr>
            </a:p>
          </p:txBody>
        </p:sp>
        <p:sp>
          <p:nvSpPr>
            <p:cNvPr id="15" name="矩形 14">
              <a:extLst>
                <a:ext uri="{FF2B5EF4-FFF2-40B4-BE49-F238E27FC236}">
                  <a16:creationId xmlns:a16="http://schemas.microsoft.com/office/drawing/2014/main" id="{39A18CC4-C106-494F-A88F-4F2A5D000DBE}"/>
                </a:ext>
              </a:extLst>
            </p:cNvPr>
            <p:cNvSpPr/>
            <p:nvPr/>
          </p:nvSpPr>
          <p:spPr>
            <a:xfrm>
              <a:off x="6193735"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ESI</a:t>
              </a:r>
              <a:endParaRPr lang="zh-CN" altLang="en-US" sz="2000" dirty="0">
                <a:solidFill>
                  <a:schemeClr val="tx1"/>
                </a:solidFill>
              </a:endParaRPr>
            </a:p>
          </p:txBody>
        </p:sp>
        <p:sp>
          <p:nvSpPr>
            <p:cNvPr id="16" name="矩形 15">
              <a:extLst>
                <a:ext uri="{FF2B5EF4-FFF2-40B4-BE49-F238E27FC236}">
                  <a16:creationId xmlns:a16="http://schemas.microsoft.com/office/drawing/2014/main" id="{3C4A02D0-9003-41BF-B9F2-8D973876D1E1}"/>
                </a:ext>
              </a:extLst>
            </p:cNvPr>
            <p:cNvSpPr/>
            <p:nvPr/>
          </p:nvSpPr>
          <p:spPr>
            <a:xfrm>
              <a:off x="7353190"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EDI</a:t>
              </a:r>
              <a:endParaRPr lang="zh-CN" altLang="en-US" sz="2000" dirty="0">
                <a:solidFill>
                  <a:schemeClr val="tx1"/>
                </a:solidFill>
              </a:endParaRPr>
            </a:p>
          </p:txBody>
        </p:sp>
        <p:sp>
          <p:nvSpPr>
            <p:cNvPr id="17" name="矩形 16">
              <a:extLst>
                <a:ext uri="{FF2B5EF4-FFF2-40B4-BE49-F238E27FC236}">
                  <a16:creationId xmlns:a16="http://schemas.microsoft.com/office/drawing/2014/main" id="{16B20E84-9586-4F2F-9E80-471A2A6B5EFE}"/>
                </a:ext>
              </a:extLst>
            </p:cNvPr>
            <p:cNvSpPr/>
            <p:nvPr/>
          </p:nvSpPr>
          <p:spPr>
            <a:xfrm>
              <a:off x="8505135"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ESP</a:t>
              </a:r>
              <a:endParaRPr lang="zh-CN" altLang="en-US" sz="2000" dirty="0">
                <a:solidFill>
                  <a:schemeClr val="tx1"/>
                </a:solidFill>
              </a:endParaRPr>
            </a:p>
          </p:txBody>
        </p:sp>
        <p:sp>
          <p:nvSpPr>
            <p:cNvPr id="18" name="矩形 17">
              <a:extLst>
                <a:ext uri="{FF2B5EF4-FFF2-40B4-BE49-F238E27FC236}">
                  <a16:creationId xmlns:a16="http://schemas.microsoft.com/office/drawing/2014/main" id="{93F80BD8-BC9D-4A43-909D-8664EC9D7505}"/>
                </a:ext>
              </a:extLst>
            </p:cNvPr>
            <p:cNvSpPr/>
            <p:nvPr/>
          </p:nvSpPr>
          <p:spPr>
            <a:xfrm>
              <a:off x="9664590" y="385064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EBP</a:t>
              </a:r>
              <a:endParaRPr lang="zh-CN" altLang="en-US" sz="2000" dirty="0">
                <a:solidFill>
                  <a:schemeClr val="tx1"/>
                </a:solidFill>
              </a:endParaRPr>
            </a:p>
          </p:txBody>
        </p:sp>
        <p:sp>
          <p:nvSpPr>
            <p:cNvPr id="19" name="矩形 18">
              <a:extLst>
                <a:ext uri="{FF2B5EF4-FFF2-40B4-BE49-F238E27FC236}">
                  <a16:creationId xmlns:a16="http://schemas.microsoft.com/office/drawing/2014/main" id="{3FD68D10-FBB1-4C05-B4A0-59CAAB14A644}"/>
                </a:ext>
              </a:extLst>
            </p:cNvPr>
            <p:cNvSpPr/>
            <p:nvPr/>
          </p:nvSpPr>
          <p:spPr>
            <a:xfrm>
              <a:off x="2570480"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CS</a:t>
              </a:r>
              <a:endParaRPr lang="zh-CN" altLang="en-US" sz="2000" dirty="0">
                <a:solidFill>
                  <a:schemeClr val="tx1"/>
                </a:solidFill>
              </a:endParaRPr>
            </a:p>
          </p:txBody>
        </p:sp>
        <p:sp>
          <p:nvSpPr>
            <p:cNvPr id="20" name="矩形 19">
              <a:extLst>
                <a:ext uri="{FF2B5EF4-FFF2-40B4-BE49-F238E27FC236}">
                  <a16:creationId xmlns:a16="http://schemas.microsoft.com/office/drawing/2014/main" id="{7C2384F1-A712-4ADE-A253-B27DF5D96C46}"/>
                </a:ext>
              </a:extLst>
            </p:cNvPr>
            <p:cNvSpPr/>
            <p:nvPr/>
          </p:nvSpPr>
          <p:spPr>
            <a:xfrm>
              <a:off x="3729935"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DS</a:t>
              </a:r>
              <a:endParaRPr lang="zh-CN" altLang="en-US" sz="2000" dirty="0">
                <a:solidFill>
                  <a:schemeClr val="tx1"/>
                </a:solidFill>
              </a:endParaRPr>
            </a:p>
          </p:txBody>
        </p:sp>
        <p:sp>
          <p:nvSpPr>
            <p:cNvPr id="21" name="矩形 20">
              <a:extLst>
                <a:ext uri="{FF2B5EF4-FFF2-40B4-BE49-F238E27FC236}">
                  <a16:creationId xmlns:a16="http://schemas.microsoft.com/office/drawing/2014/main" id="{A1ED9788-37D8-4441-BAC0-24EEC4947F41}"/>
                </a:ext>
              </a:extLst>
            </p:cNvPr>
            <p:cNvSpPr/>
            <p:nvPr/>
          </p:nvSpPr>
          <p:spPr>
            <a:xfrm>
              <a:off x="4881880"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SS</a:t>
              </a:r>
              <a:endParaRPr lang="zh-CN" altLang="en-US" sz="2000" dirty="0">
                <a:solidFill>
                  <a:schemeClr val="tx1"/>
                </a:solidFill>
              </a:endParaRPr>
            </a:p>
          </p:txBody>
        </p:sp>
        <p:sp>
          <p:nvSpPr>
            <p:cNvPr id="22" name="矩形 21">
              <a:extLst>
                <a:ext uri="{FF2B5EF4-FFF2-40B4-BE49-F238E27FC236}">
                  <a16:creationId xmlns:a16="http://schemas.microsoft.com/office/drawing/2014/main" id="{AFAD056A-13DF-454A-98F9-56665B25E4D5}"/>
                </a:ext>
              </a:extLst>
            </p:cNvPr>
            <p:cNvSpPr/>
            <p:nvPr/>
          </p:nvSpPr>
          <p:spPr>
            <a:xfrm>
              <a:off x="6041335"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ES</a:t>
              </a:r>
              <a:endParaRPr lang="zh-CN" altLang="en-US" sz="2000" dirty="0">
                <a:solidFill>
                  <a:schemeClr val="tx1"/>
                </a:solidFill>
              </a:endParaRPr>
            </a:p>
          </p:txBody>
        </p:sp>
        <p:sp>
          <p:nvSpPr>
            <p:cNvPr id="23" name="矩形 22">
              <a:extLst>
                <a:ext uri="{FF2B5EF4-FFF2-40B4-BE49-F238E27FC236}">
                  <a16:creationId xmlns:a16="http://schemas.microsoft.com/office/drawing/2014/main" id="{F69F8231-5E73-4158-AF7C-71821464AD99}"/>
                </a:ext>
              </a:extLst>
            </p:cNvPr>
            <p:cNvSpPr/>
            <p:nvPr/>
          </p:nvSpPr>
          <p:spPr>
            <a:xfrm>
              <a:off x="7153854"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FS</a:t>
              </a:r>
              <a:endParaRPr lang="zh-CN" altLang="en-US" sz="2000" dirty="0">
                <a:solidFill>
                  <a:schemeClr val="tx1"/>
                </a:solidFill>
              </a:endParaRPr>
            </a:p>
          </p:txBody>
        </p:sp>
        <p:sp>
          <p:nvSpPr>
            <p:cNvPr id="24" name="矩形 23">
              <a:extLst>
                <a:ext uri="{FF2B5EF4-FFF2-40B4-BE49-F238E27FC236}">
                  <a16:creationId xmlns:a16="http://schemas.microsoft.com/office/drawing/2014/main" id="{DE359FF3-8F3A-4A4A-890C-7F0798F9A79E}"/>
                </a:ext>
              </a:extLst>
            </p:cNvPr>
            <p:cNvSpPr/>
            <p:nvPr/>
          </p:nvSpPr>
          <p:spPr>
            <a:xfrm>
              <a:off x="8313309" y="4976800"/>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GS</a:t>
              </a:r>
              <a:endParaRPr lang="zh-CN" altLang="en-US" sz="2000" dirty="0">
                <a:solidFill>
                  <a:schemeClr val="tx1"/>
                </a:solidFill>
              </a:endParaRPr>
            </a:p>
          </p:txBody>
        </p:sp>
        <p:sp>
          <p:nvSpPr>
            <p:cNvPr id="26" name="矩形 25">
              <a:extLst>
                <a:ext uri="{FF2B5EF4-FFF2-40B4-BE49-F238E27FC236}">
                  <a16:creationId xmlns:a16="http://schemas.microsoft.com/office/drawing/2014/main" id="{533D03FD-7528-4BE0-919E-AD32CB5C6695}"/>
                </a:ext>
              </a:extLst>
            </p:cNvPr>
            <p:cNvSpPr/>
            <p:nvPr/>
          </p:nvSpPr>
          <p:spPr>
            <a:xfrm>
              <a:off x="1641543" y="6164524"/>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CR0</a:t>
              </a:r>
              <a:endParaRPr lang="zh-CN" altLang="en-US" sz="2000" dirty="0">
                <a:solidFill>
                  <a:schemeClr val="tx1"/>
                </a:solidFill>
              </a:endParaRPr>
            </a:p>
          </p:txBody>
        </p:sp>
        <p:sp>
          <p:nvSpPr>
            <p:cNvPr id="27" name="矩形 26">
              <a:extLst>
                <a:ext uri="{FF2B5EF4-FFF2-40B4-BE49-F238E27FC236}">
                  <a16:creationId xmlns:a16="http://schemas.microsoft.com/office/drawing/2014/main" id="{D2DACACC-6732-46A5-8E54-CA9002362D59}"/>
                </a:ext>
              </a:extLst>
            </p:cNvPr>
            <p:cNvSpPr/>
            <p:nvPr/>
          </p:nvSpPr>
          <p:spPr>
            <a:xfrm>
              <a:off x="2800998" y="6164524"/>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CR1</a:t>
              </a:r>
              <a:endParaRPr lang="zh-CN" altLang="en-US" sz="2000" dirty="0">
                <a:solidFill>
                  <a:schemeClr val="tx1"/>
                </a:solidFill>
              </a:endParaRPr>
            </a:p>
          </p:txBody>
        </p:sp>
        <p:sp>
          <p:nvSpPr>
            <p:cNvPr id="28" name="矩形 27">
              <a:extLst>
                <a:ext uri="{FF2B5EF4-FFF2-40B4-BE49-F238E27FC236}">
                  <a16:creationId xmlns:a16="http://schemas.microsoft.com/office/drawing/2014/main" id="{010734F7-06FD-48F5-8838-CC99B288A256}"/>
                </a:ext>
              </a:extLst>
            </p:cNvPr>
            <p:cNvSpPr/>
            <p:nvPr/>
          </p:nvSpPr>
          <p:spPr>
            <a:xfrm>
              <a:off x="3913517" y="6164524"/>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CR2</a:t>
              </a:r>
              <a:endParaRPr lang="zh-CN" altLang="en-US" sz="2000" dirty="0">
                <a:solidFill>
                  <a:schemeClr val="tx1"/>
                </a:solidFill>
              </a:endParaRPr>
            </a:p>
          </p:txBody>
        </p:sp>
        <p:sp>
          <p:nvSpPr>
            <p:cNvPr id="29" name="矩形 28">
              <a:extLst>
                <a:ext uri="{FF2B5EF4-FFF2-40B4-BE49-F238E27FC236}">
                  <a16:creationId xmlns:a16="http://schemas.microsoft.com/office/drawing/2014/main" id="{44E15273-E4A3-4725-9D29-E9AF0C680502}"/>
                </a:ext>
              </a:extLst>
            </p:cNvPr>
            <p:cNvSpPr/>
            <p:nvPr/>
          </p:nvSpPr>
          <p:spPr>
            <a:xfrm>
              <a:off x="5072972" y="6164524"/>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CR3</a:t>
              </a:r>
              <a:endParaRPr lang="zh-CN" altLang="en-US" sz="2000" dirty="0">
                <a:solidFill>
                  <a:schemeClr val="tx1"/>
                </a:solidFill>
              </a:endParaRPr>
            </a:p>
          </p:txBody>
        </p:sp>
        <p:sp>
          <p:nvSpPr>
            <p:cNvPr id="30" name="矩形 29">
              <a:extLst>
                <a:ext uri="{FF2B5EF4-FFF2-40B4-BE49-F238E27FC236}">
                  <a16:creationId xmlns:a16="http://schemas.microsoft.com/office/drawing/2014/main" id="{E3E655BC-1D81-4EFA-B0A6-78F553BA70E6}"/>
                </a:ext>
              </a:extLst>
            </p:cNvPr>
            <p:cNvSpPr/>
            <p:nvPr/>
          </p:nvSpPr>
          <p:spPr>
            <a:xfrm>
              <a:off x="6232427" y="6164524"/>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CR4</a:t>
              </a:r>
              <a:endParaRPr lang="zh-CN" altLang="en-US" sz="2000" dirty="0">
                <a:solidFill>
                  <a:schemeClr val="tx1"/>
                </a:solidFill>
              </a:endParaRPr>
            </a:p>
          </p:txBody>
        </p:sp>
        <p:sp>
          <p:nvSpPr>
            <p:cNvPr id="31" name="矩形 30">
              <a:extLst>
                <a:ext uri="{FF2B5EF4-FFF2-40B4-BE49-F238E27FC236}">
                  <a16:creationId xmlns:a16="http://schemas.microsoft.com/office/drawing/2014/main" id="{6EE59F91-C7BD-43C5-B778-D4B23179AFB2}"/>
                </a:ext>
              </a:extLst>
            </p:cNvPr>
            <p:cNvSpPr/>
            <p:nvPr/>
          </p:nvSpPr>
          <p:spPr>
            <a:xfrm>
              <a:off x="8030267" y="6049609"/>
              <a:ext cx="1451717" cy="695956"/>
            </a:xfrm>
            <a:prstGeom prst="rect">
              <a:avLst/>
            </a:prstGeom>
            <a:solidFill>
              <a:schemeClr val="accent3">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126D400F-6D30-4FCC-B983-C45E8F54FE41}"/>
                </a:ext>
              </a:extLst>
            </p:cNvPr>
            <p:cNvSpPr/>
            <p:nvPr/>
          </p:nvSpPr>
          <p:spPr>
            <a:xfrm>
              <a:off x="8249810" y="6181158"/>
              <a:ext cx="960119" cy="432858"/>
            </a:xfrm>
            <a:prstGeom prst="rect">
              <a:avLst/>
            </a:prstGeom>
            <a:solidFill>
              <a:schemeClr val="bg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EIP</a:t>
              </a:r>
              <a:endParaRPr lang="zh-CN" altLang="en-US" dirty="0">
                <a:solidFill>
                  <a:schemeClr val="tx1"/>
                </a:solidFill>
              </a:endParaRPr>
            </a:p>
          </p:txBody>
        </p:sp>
        <p:sp>
          <p:nvSpPr>
            <p:cNvPr id="33" name="文本框 32">
              <a:extLst>
                <a:ext uri="{FF2B5EF4-FFF2-40B4-BE49-F238E27FC236}">
                  <a16:creationId xmlns:a16="http://schemas.microsoft.com/office/drawing/2014/main" id="{3EFB4FB8-55E4-4AD0-90CD-FB090CC7321F}"/>
                </a:ext>
              </a:extLst>
            </p:cNvPr>
            <p:cNvSpPr txBox="1"/>
            <p:nvPr/>
          </p:nvSpPr>
          <p:spPr>
            <a:xfrm>
              <a:off x="1345468" y="3236632"/>
              <a:ext cx="4897120" cy="400110"/>
            </a:xfrm>
            <a:prstGeom prst="rect">
              <a:avLst/>
            </a:prstGeom>
            <a:noFill/>
          </p:spPr>
          <p:txBody>
            <a:bodyPr wrap="square" rtlCol="0">
              <a:spAutoFit/>
            </a:bodyPr>
            <a:lstStyle/>
            <a:p>
              <a:r>
                <a:rPr lang="en-US" altLang="zh-CN" sz="2000" dirty="0"/>
                <a:t>General Purpose Registers</a:t>
              </a:r>
              <a:endParaRPr lang="zh-CN" altLang="en-US" sz="2000" dirty="0"/>
            </a:p>
          </p:txBody>
        </p:sp>
        <p:sp>
          <p:nvSpPr>
            <p:cNvPr id="34" name="文本框 33">
              <a:extLst>
                <a:ext uri="{FF2B5EF4-FFF2-40B4-BE49-F238E27FC236}">
                  <a16:creationId xmlns:a16="http://schemas.microsoft.com/office/drawing/2014/main" id="{DE527674-4E0F-47EC-B450-25857FA1BA70}"/>
                </a:ext>
              </a:extLst>
            </p:cNvPr>
            <p:cNvSpPr txBox="1"/>
            <p:nvPr/>
          </p:nvSpPr>
          <p:spPr>
            <a:xfrm>
              <a:off x="2278378" y="4420821"/>
              <a:ext cx="4897120" cy="400110"/>
            </a:xfrm>
            <a:prstGeom prst="rect">
              <a:avLst/>
            </a:prstGeom>
            <a:noFill/>
          </p:spPr>
          <p:txBody>
            <a:bodyPr wrap="square" rtlCol="0">
              <a:spAutoFit/>
            </a:bodyPr>
            <a:lstStyle/>
            <a:p>
              <a:r>
                <a:rPr lang="en-US" altLang="zh-CN" sz="2000" dirty="0"/>
                <a:t>Segment Registers</a:t>
              </a:r>
              <a:endParaRPr lang="zh-CN" altLang="en-US" sz="2000" dirty="0"/>
            </a:p>
          </p:txBody>
        </p:sp>
        <p:sp>
          <p:nvSpPr>
            <p:cNvPr id="35" name="文本框 34">
              <a:extLst>
                <a:ext uri="{FF2B5EF4-FFF2-40B4-BE49-F238E27FC236}">
                  <a16:creationId xmlns:a16="http://schemas.microsoft.com/office/drawing/2014/main" id="{B4D7D901-2EAD-457C-8EC1-0C693F08A5C2}"/>
                </a:ext>
              </a:extLst>
            </p:cNvPr>
            <p:cNvSpPr txBox="1"/>
            <p:nvPr/>
          </p:nvSpPr>
          <p:spPr>
            <a:xfrm>
              <a:off x="1345468" y="5563359"/>
              <a:ext cx="4897120" cy="400110"/>
            </a:xfrm>
            <a:prstGeom prst="rect">
              <a:avLst/>
            </a:prstGeom>
            <a:noFill/>
          </p:spPr>
          <p:txBody>
            <a:bodyPr wrap="square" rtlCol="0">
              <a:spAutoFit/>
            </a:bodyPr>
            <a:lstStyle/>
            <a:p>
              <a:r>
                <a:rPr lang="en-US" altLang="zh-CN" sz="2000" dirty="0"/>
                <a:t>Control Registers</a:t>
              </a:r>
              <a:endParaRPr lang="zh-CN" altLang="en-US" sz="2000" dirty="0"/>
            </a:p>
          </p:txBody>
        </p:sp>
        <p:sp>
          <p:nvSpPr>
            <p:cNvPr id="36" name="文本框 35">
              <a:extLst>
                <a:ext uri="{FF2B5EF4-FFF2-40B4-BE49-F238E27FC236}">
                  <a16:creationId xmlns:a16="http://schemas.microsoft.com/office/drawing/2014/main" id="{BC27AAE9-D056-4BF3-82F4-76E85EA40DC5}"/>
                </a:ext>
              </a:extLst>
            </p:cNvPr>
            <p:cNvSpPr txBox="1"/>
            <p:nvPr/>
          </p:nvSpPr>
          <p:spPr>
            <a:xfrm>
              <a:off x="9542670" y="6013589"/>
              <a:ext cx="2458830" cy="707886"/>
            </a:xfrm>
            <a:prstGeom prst="rect">
              <a:avLst/>
            </a:prstGeom>
            <a:noFill/>
          </p:spPr>
          <p:txBody>
            <a:bodyPr wrap="square" rtlCol="0">
              <a:spAutoFit/>
            </a:bodyPr>
            <a:lstStyle/>
            <a:p>
              <a:r>
                <a:rPr lang="en-US" altLang="zh-CN" sz="2000" dirty="0"/>
                <a:t>Instruction </a:t>
              </a:r>
            </a:p>
            <a:p>
              <a:r>
                <a:rPr lang="en-US" altLang="zh-CN" sz="2000" dirty="0"/>
                <a:t>Pointer Registers</a:t>
              </a:r>
              <a:endParaRPr lang="zh-CN" altLang="en-US" sz="2000" dirty="0"/>
            </a:p>
          </p:txBody>
        </p:sp>
      </p:grpSp>
      <p:sp>
        <p:nvSpPr>
          <p:cNvPr id="6" name="矩形 5">
            <a:extLst>
              <a:ext uri="{FF2B5EF4-FFF2-40B4-BE49-F238E27FC236}">
                <a16:creationId xmlns:a16="http://schemas.microsoft.com/office/drawing/2014/main" id="{E2C8CA42-E12C-4DD7-9972-7BC2E5392BCF}"/>
              </a:ext>
            </a:extLst>
          </p:cNvPr>
          <p:cNvSpPr/>
          <p:nvPr/>
        </p:nvSpPr>
        <p:spPr>
          <a:xfrm>
            <a:off x="1316156" y="3623470"/>
            <a:ext cx="1306923" cy="832558"/>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9B79AB63-0E4E-4417-8FA0-7697F9354E65}"/>
              </a:ext>
            </a:extLst>
          </p:cNvPr>
          <p:cNvSpPr/>
          <p:nvPr/>
        </p:nvSpPr>
        <p:spPr>
          <a:xfrm>
            <a:off x="8368929" y="3627822"/>
            <a:ext cx="2559266" cy="832558"/>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id="{00D691DF-8631-423A-BFA9-2B06AB327263}"/>
              </a:ext>
            </a:extLst>
          </p:cNvPr>
          <p:cNvSpPr/>
          <p:nvPr/>
        </p:nvSpPr>
        <p:spPr>
          <a:xfrm>
            <a:off x="8059562" y="5970477"/>
            <a:ext cx="1306923" cy="832558"/>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Slide Number Placeholder 7">
            <a:extLst>
              <a:ext uri="{FF2B5EF4-FFF2-40B4-BE49-F238E27FC236}">
                <a16:creationId xmlns:a16="http://schemas.microsoft.com/office/drawing/2014/main" id="{3733323A-0040-ACDE-5E34-09592C31AA10}"/>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20</a:t>
            </a:fld>
            <a:endParaRPr lang="zh-CN" altLang="en-US" sz="1200" dirty="0">
              <a:solidFill>
                <a:schemeClr val="tx1">
                  <a:tint val="75000"/>
                </a:schemeClr>
              </a:solidFill>
            </a:endParaRPr>
          </a:p>
        </p:txBody>
      </p:sp>
    </p:spTree>
    <p:extLst>
      <p:ext uri="{BB962C8B-B14F-4D97-AF65-F5344CB8AC3E}">
        <p14:creationId xmlns:p14="http://schemas.microsoft.com/office/powerpoint/2010/main" val="1381486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與函數調用密切相關的寄存器</a:t>
            </a:r>
            <a:endParaRPr kumimoji="1" lang="zh-CN" altLang="en-US" dirty="0">
              <a:solidFill>
                <a:schemeClr val="tx1"/>
              </a:solidFill>
            </a:endParaRPr>
          </a:p>
        </p:txBody>
      </p:sp>
      <p:sp>
        <p:nvSpPr>
          <p:cNvPr id="5" name="文本框 14">
            <a:extLst>
              <a:ext uri="{FF2B5EF4-FFF2-40B4-BE49-F238E27FC236}">
                <a16:creationId xmlns:a16="http://schemas.microsoft.com/office/drawing/2014/main" id="{54C6A9F5-5365-4E9E-928B-5FC4855FA76C}"/>
              </a:ext>
            </a:extLst>
          </p:cNvPr>
          <p:cNvSpPr txBox="1"/>
          <p:nvPr/>
        </p:nvSpPr>
        <p:spPr>
          <a:xfrm>
            <a:off x="492509" y="1467847"/>
            <a:ext cx="11133433" cy="3281796"/>
          </a:xfrm>
          <a:prstGeom prst="rect">
            <a:avLst/>
          </a:prstGeom>
          <a:noFill/>
        </p:spPr>
        <p:txBody>
          <a:bodyPr wrap="square" rtlCol="0">
            <a:spAutoFit/>
          </a:bodyPr>
          <a:lstStyle/>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我們關注與函數調用相關的四個寄存器：</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ts val="3600"/>
              </a:lnSpc>
              <a:buFontTx/>
              <a:buChar cha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個通用寄存器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Stack Pointer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）記錄棧頂的內存地址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Base Pointer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）記錄當前函數棧幀基地址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EAX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Accumulator 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）用于返回值的暫存</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ts val="3600"/>
              </a:lnSpc>
              <a:buFontTx/>
              <a:buChar cha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個控制寄存器：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Instruction Pointer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）記錄下一條指令的內存地址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9204234A-4875-456F-A109-5318441CF36F}"/>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7" name="文本框 14">
            <a:extLst>
              <a:ext uri="{FF2B5EF4-FFF2-40B4-BE49-F238E27FC236}">
                <a16:creationId xmlns:a16="http://schemas.microsoft.com/office/drawing/2014/main" id="{B76D9BEB-1C54-4826-A33F-A32C9600BF53}"/>
              </a:ext>
            </a:extLst>
          </p:cNvPr>
          <p:cNvSpPr txBox="1"/>
          <p:nvPr/>
        </p:nvSpPr>
        <p:spPr>
          <a:xfrm>
            <a:off x="561974" y="6235648"/>
            <a:ext cx="5644515"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表示</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Extend</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，標記</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32</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位寄存器以區別于</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8086</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當中的</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16</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位寄存器</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8" name="Slide Number Placeholder 7">
            <a:extLst>
              <a:ext uri="{FF2B5EF4-FFF2-40B4-BE49-F238E27FC236}">
                <a16:creationId xmlns:a16="http://schemas.microsoft.com/office/drawing/2014/main" id="{15C1354A-76B6-3C23-9C57-7B390BFA26A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21</a:t>
            </a:fld>
            <a:endParaRPr lang="zh-CN" altLang="en-US" sz="1200" dirty="0">
              <a:solidFill>
                <a:schemeClr val="tx1">
                  <a:tint val="75000"/>
                </a:schemeClr>
              </a:solidFill>
            </a:endParaRPr>
          </a:p>
        </p:txBody>
      </p:sp>
    </p:spTree>
    <p:extLst>
      <p:ext uri="{BB962C8B-B14F-4D97-AF65-F5344CB8AC3E}">
        <p14:creationId xmlns:p14="http://schemas.microsoft.com/office/powerpoint/2010/main" val="2287650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C3C4D4B4-6EA4-48B5-9D98-15DB2A07C5DD}"/>
              </a:ext>
            </a:extLst>
          </p:cNvPr>
          <p:cNvSpPr txBox="1"/>
          <p:nvPr/>
        </p:nvSpPr>
        <p:spPr>
          <a:xfrm>
            <a:off x="492511" y="1398720"/>
            <a:ext cx="5603490" cy="3743461"/>
          </a:xfrm>
          <a:prstGeom prst="rect">
            <a:avLst/>
          </a:prstGeom>
          <a:noFill/>
        </p:spPr>
        <p:txBody>
          <a:bodyPr wrap="square" rtlCol="0">
            <a:spAutoFit/>
          </a:bodyPr>
          <a:lstStyle/>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常規情况下</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指向下一條要執行指令的地址，</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指向當前執行函數的棧幀基地址，</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始終指向棧頂</a:t>
            </a: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ts val="3600"/>
              </a:lnSpc>
            </a:pPr>
            <a:endParaRPr lang="en-US" altLang="zh-CN" sz="2400" b="1" dirty="0">
              <a:solidFill>
                <a:srgbClr val="000000"/>
              </a:solidFill>
              <a:latin typeface="微软雅黑" panose="020B0503020204020204" pitchFamily="34" charset="-122"/>
              <a:ea typeface="微软雅黑" panose="020B0503020204020204" pitchFamily="34" charset="-122"/>
            </a:endParaRPr>
          </a:p>
          <a:p>
            <a:pPr algn="just">
              <a:lnSpc>
                <a:spcPts val="3600"/>
              </a:lnSpc>
            </a:pPr>
            <a:endParaRPr lang="en-US" altLang="zh-CN" sz="2400" b="1" dirty="0">
              <a:solidFill>
                <a:srgbClr val="000000"/>
              </a:solidFill>
              <a:latin typeface="微软雅黑" panose="020B0503020204020204" pitchFamily="34" charset="-122"/>
              <a:ea typeface="微软雅黑" panose="020B0503020204020204" pitchFamily="34" charset="-122"/>
            </a:endParaRPr>
          </a:p>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函數調用前：被調函數參數壓棧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第一步爲將被調函數（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）的參數按照逆序壓入棧中；幷且</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調整位置</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8" name="直接连接符 37">
            <a:extLst>
              <a:ext uri="{FF2B5EF4-FFF2-40B4-BE49-F238E27FC236}">
                <a16:creationId xmlns:a16="http://schemas.microsoft.com/office/drawing/2014/main" id="{D4289FAD-6EC7-46DD-B9B6-B167149900F5}"/>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39" name="文本框 14">
            <a:extLst>
              <a:ext uri="{FF2B5EF4-FFF2-40B4-BE49-F238E27FC236}">
                <a16:creationId xmlns:a16="http://schemas.microsoft.com/office/drawing/2014/main" id="{27E16759-F97D-4B0F-B816-5F5573BDABC5}"/>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x64</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下部分參數被直接保存到寄存器當中</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7" name="Picture 46">
            <a:extLst>
              <a:ext uri="{FF2B5EF4-FFF2-40B4-BE49-F238E27FC236}">
                <a16:creationId xmlns:a16="http://schemas.microsoft.com/office/drawing/2014/main" id="{072B29AF-3856-B348-5161-01D0353547A5}"/>
              </a:ext>
            </a:extLst>
          </p:cNvPr>
          <p:cNvPicPr>
            <a:picLocks noChangeAspect="1"/>
          </p:cNvPicPr>
          <p:nvPr/>
        </p:nvPicPr>
        <p:blipFill>
          <a:blip r:embed="rId3"/>
          <a:stretch>
            <a:fillRect/>
          </a:stretch>
        </p:blipFill>
        <p:spPr>
          <a:xfrm>
            <a:off x="6417646" y="1225899"/>
            <a:ext cx="5271307" cy="4813160"/>
          </a:xfrm>
          <a:prstGeom prst="rect">
            <a:avLst/>
          </a:prstGeom>
        </p:spPr>
      </p:pic>
      <p:sp>
        <p:nvSpPr>
          <p:cNvPr id="3" name="Slide Number Placeholder 7">
            <a:extLst>
              <a:ext uri="{FF2B5EF4-FFF2-40B4-BE49-F238E27FC236}">
                <a16:creationId xmlns:a16="http://schemas.microsoft.com/office/drawing/2014/main" id="{5E4C0D30-B7F9-328D-45C6-1D285BFDFA50}"/>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22</a:t>
            </a:fld>
            <a:endParaRPr lang="zh-CN" altLang="en-US" sz="1200" dirty="0">
              <a:solidFill>
                <a:schemeClr val="tx1">
                  <a:tint val="75000"/>
                </a:schemeClr>
              </a:solidFill>
            </a:endParaRPr>
          </a:p>
        </p:txBody>
      </p:sp>
    </p:spTree>
    <p:extLst>
      <p:ext uri="{BB962C8B-B14F-4D97-AF65-F5344CB8AC3E}">
        <p14:creationId xmlns:p14="http://schemas.microsoft.com/office/powerpoint/2010/main" val="1052985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86" name="文本框 14">
            <a:extLst>
              <a:ext uri="{FF2B5EF4-FFF2-40B4-BE49-F238E27FC236}">
                <a16:creationId xmlns:a16="http://schemas.microsoft.com/office/drawing/2014/main" id="{AFEF1F58-0209-407F-8C3A-2010170367FD}"/>
              </a:ext>
            </a:extLst>
          </p:cNvPr>
          <p:cNvSpPr txBox="1"/>
          <p:nvPr/>
        </p:nvSpPr>
        <p:spPr>
          <a:xfrm>
            <a:off x="492511" y="1400400"/>
            <a:ext cx="5603490" cy="420512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函數調用前：</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寄存器值壓棧</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寄存器的數值爲主調函數（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）下一條要執行指令的地址，指向用戶地址空間當中的</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代碼段</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；因而將</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壓入棧中作爲</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返回地址</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函數調用前：</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寄存器更新</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更新爲調用函數指令地址，幷且</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再次調整位置指向棧頂</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181874C7-B060-EB0C-67C6-2A194B3E3011}"/>
              </a:ext>
            </a:extLst>
          </p:cNvPr>
          <p:cNvPicPr>
            <a:picLocks noChangeAspect="1"/>
          </p:cNvPicPr>
          <p:nvPr/>
        </p:nvPicPr>
        <p:blipFill>
          <a:blip r:embed="rId3"/>
          <a:stretch>
            <a:fillRect/>
          </a:stretch>
        </p:blipFill>
        <p:spPr>
          <a:xfrm>
            <a:off x="6356297" y="1291213"/>
            <a:ext cx="4762605" cy="4275574"/>
          </a:xfrm>
          <a:prstGeom prst="rect">
            <a:avLst/>
          </a:prstGeom>
        </p:spPr>
      </p:pic>
      <p:sp>
        <p:nvSpPr>
          <p:cNvPr id="3" name="Slide Number Placeholder 7">
            <a:extLst>
              <a:ext uri="{FF2B5EF4-FFF2-40B4-BE49-F238E27FC236}">
                <a16:creationId xmlns:a16="http://schemas.microsoft.com/office/drawing/2014/main" id="{3ED72C63-FCF9-FF64-7261-3AC19E731A7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23</a:t>
            </a:fld>
            <a:endParaRPr lang="zh-CN" altLang="en-US" sz="1200" dirty="0">
              <a:solidFill>
                <a:schemeClr val="tx1">
                  <a:tint val="75000"/>
                </a:schemeClr>
              </a:solidFill>
            </a:endParaRPr>
          </a:p>
        </p:txBody>
      </p:sp>
    </p:spTree>
    <p:extLst>
      <p:ext uri="{BB962C8B-B14F-4D97-AF65-F5344CB8AC3E}">
        <p14:creationId xmlns:p14="http://schemas.microsoft.com/office/powerpoint/2010/main" val="35465185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a:xfrm>
            <a:off x="1131376" y="125019"/>
            <a:ext cx="10222424" cy="725407"/>
          </a:xfrm>
        </p:spPr>
        <p:txBody>
          <a:bodyPr/>
          <a:lstStyle/>
          <a:p>
            <a:r>
              <a:rPr kumimoji="1" lang="zh-CN" altLang="en-US" dirty="0"/>
              <a:t>正常的函數調用歷程</a:t>
            </a:r>
            <a:endParaRPr kumimoji="1" lang="zh-CN" altLang="en-US" dirty="0">
              <a:solidFill>
                <a:schemeClr val="tx1"/>
              </a:solidFill>
            </a:endParaRPr>
          </a:p>
        </p:txBody>
      </p:sp>
      <p:sp>
        <p:nvSpPr>
          <p:cNvPr id="44" name="文本框 14">
            <a:extLst>
              <a:ext uri="{FF2B5EF4-FFF2-40B4-BE49-F238E27FC236}">
                <a16:creationId xmlns:a16="http://schemas.microsoft.com/office/drawing/2014/main" id="{A6240589-C75B-45EC-B635-83FB2E169EF4}"/>
              </a:ext>
            </a:extLst>
          </p:cNvPr>
          <p:cNvSpPr txBox="1"/>
          <p:nvPr/>
        </p:nvSpPr>
        <p:spPr>
          <a:xfrm>
            <a:off x="492511" y="1400400"/>
            <a:ext cx="5603490" cy="46667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函數調用前：</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寄存器值壓棧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保存主調函數的棧幀基地址，將當前的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寄存器的值壓入棧內；</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幷將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寄存器的值更新爲當前棧頂的地址，也就是使用當前的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賦值</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這樣主調函數（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）的棧幀基地址信息得以保存；同時，</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被更新爲被調用函數（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）的棧幀基地址；指向棧頂位置的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也再次調整</a:t>
            </a:r>
          </a:p>
        </p:txBody>
      </p:sp>
      <p:cxnSp>
        <p:nvCxnSpPr>
          <p:cNvPr id="41" name="直接连接符 40">
            <a:extLst>
              <a:ext uri="{FF2B5EF4-FFF2-40B4-BE49-F238E27FC236}">
                <a16:creationId xmlns:a16="http://schemas.microsoft.com/office/drawing/2014/main" id="{F9794960-F3E2-4B4D-96E9-62845C6A81EA}"/>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43" name="文本框 14">
            <a:extLst>
              <a:ext uri="{FF2B5EF4-FFF2-40B4-BE49-F238E27FC236}">
                <a16:creationId xmlns:a16="http://schemas.microsoft.com/office/drawing/2014/main" id="{29D18BAA-FE30-4659-9102-087733FCD7D5}"/>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紅色標注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的棧幀，藍色標注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Callee</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的棧幀</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09F2A495-3398-C4F3-EDD5-32A13B52A6F8}"/>
              </a:ext>
            </a:extLst>
          </p:cNvPr>
          <p:cNvPicPr>
            <a:picLocks noChangeAspect="1"/>
          </p:cNvPicPr>
          <p:nvPr/>
        </p:nvPicPr>
        <p:blipFill>
          <a:blip r:embed="rId3"/>
          <a:stretch>
            <a:fillRect/>
          </a:stretch>
        </p:blipFill>
        <p:spPr>
          <a:xfrm>
            <a:off x="6356297" y="1291213"/>
            <a:ext cx="5420371" cy="4866076"/>
          </a:xfrm>
          <a:prstGeom prst="rect">
            <a:avLst/>
          </a:prstGeom>
        </p:spPr>
      </p:pic>
      <p:sp>
        <p:nvSpPr>
          <p:cNvPr id="3" name="Slide Number Placeholder 7">
            <a:extLst>
              <a:ext uri="{FF2B5EF4-FFF2-40B4-BE49-F238E27FC236}">
                <a16:creationId xmlns:a16="http://schemas.microsoft.com/office/drawing/2014/main" id="{5D593F9A-4435-E90E-9D32-1A7D7D73149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24</a:t>
            </a:fld>
            <a:endParaRPr lang="zh-CN" altLang="en-US" sz="1200" dirty="0">
              <a:solidFill>
                <a:schemeClr val="tx1">
                  <a:tint val="75000"/>
                </a:schemeClr>
              </a:solidFill>
            </a:endParaRPr>
          </a:p>
        </p:txBody>
      </p:sp>
    </p:spTree>
    <p:extLst>
      <p:ext uri="{BB962C8B-B14F-4D97-AF65-F5344CB8AC3E}">
        <p14:creationId xmlns:p14="http://schemas.microsoft.com/office/powerpoint/2010/main" val="24079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4" name="文本框 14">
            <a:extLst>
              <a:ext uri="{FF2B5EF4-FFF2-40B4-BE49-F238E27FC236}">
                <a16:creationId xmlns:a16="http://schemas.microsoft.com/office/drawing/2014/main" id="{014874E8-FE40-46E9-B37D-EC8A84949829}"/>
              </a:ext>
            </a:extLst>
          </p:cNvPr>
          <p:cNvSpPr txBox="1"/>
          <p:nvPr/>
        </p:nvSpPr>
        <p:spPr>
          <a:xfrm>
            <a:off x="492511" y="1400400"/>
            <a:ext cx="5603490" cy="46667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函數調用前：局部變量值壓棧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調用前的最後一步是將被調函數（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）的局部變量壓入棧中</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此時，</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u="sng"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加偏移量</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（高地址方向）可獲得函數的傳遞參數，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u="sng"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减偏移量</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（低地址方向）可獲得函數的局部變量，</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也已經指向被調函數的指令，被調函數開始正常執行</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7F237719-8FAE-615A-28A6-96F19EAEBA53}"/>
              </a:ext>
            </a:extLst>
          </p:cNvPr>
          <p:cNvPicPr>
            <a:picLocks noChangeAspect="1"/>
          </p:cNvPicPr>
          <p:nvPr/>
        </p:nvPicPr>
        <p:blipFill>
          <a:blip r:embed="rId3"/>
          <a:stretch>
            <a:fillRect/>
          </a:stretch>
        </p:blipFill>
        <p:spPr>
          <a:xfrm>
            <a:off x="6356297" y="1291213"/>
            <a:ext cx="5420371" cy="4866076"/>
          </a:xfrm>
          <a:prstGeom prst="rect">
            <a:avLst/>
          </a:prstGeom>
        </p:spPr>
      </p:pic>
      <p:sp>
        <p:nvSpPr>
          <p:cNvPr id="3" name="Slide Number Placeholder 7">
            <a:extLst>
              <a:ext uri="{FF2B5EF4-FFF2-40B4-BE49-F238E27FC236}">
                <a16:creationId xmlns:a16="http://schemas.microsoft.com/office/drawing/2014/main" id="{503328BD-9588-B68C-0A4E-5AF9F3CA03B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25</a:t>
            </a:fld>
            <a:endParaRPr lang="zh-CN" altLang="en-US" sz="1200" dirty="0">
              <a:solidFill>
                <a:schemeClr val="tx1">
                  <a:tint val="75000"/>
                </a:schemeClr>
              </a:solidFill>
            </a:endParaRPr>
          </a:p>
        </p:txBody>
      </p:sp>
    </p:spTree>
    <p:extLst>
      <p:ext uri="{BB962C8B-B14F-4D97-AF65-F5344CB8AC3E}">
        <p14:creationId xmlns:p14="http://schemas.microsoft.com/office/powerpoint/2010/main" val="20829448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A65B2491-9058-499C-9DE4-CA70D1E50CA6}"/>
              </a:ext>
            </a:extLst>
          </p:cNvPr>
          <p:cNvSpPr txBox="1"/>
          <p:nvPr/>
        </p:nvSpPr>
        <p:spPr>
          <a:xfrm>
            <a:off x="492511" y="1400400"/>
            <a:ext cx="5603490" cy="235846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函數調用後：局部變量值出棧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當返回指令被執行時標志著函數調用的結束，調用後的第一步是將被調函數的局部變量彈出棧以被銷毀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5" name="Picture 44">
            <a:extLst>
              <a:ext uri="{FF2B5EF4-FFF2-40B4-BE49-F238E27FC236}">
                <a16:creationId xmlns:a16="http://schemas.microsoft.com/office/drawing/2014/main" id="{8A571D03-30BE-A592-1FD3-9E989D533EF1}"/>
              </a:ext>
            </a:extLst>
          </p:cNvPr>
          <p:cNvPicPr>
            <a:picLocks noChangeAspect="1"/>
          </p:cNvPicPr>
          <p:nvPr/>
        </p:nvPicPr>
        <p:blipFill>
          <a:blip r:embed="rId3"/>
          <a:stretch>
            <a:fillRect/>
          </a:stretch>
        </p:blipFill>
        <p:spPr>
          <a:xfrm>
            <a:off x="6356297" y="1291213"/>
            <a:ext cx="5420371" cy="4866076"/>
          </a:xfrm>
          <a:prstGeom prst="rect">
            <a:avLst/>
          </a:prstGeom>
        </p:spPr>
      </p:pic>
      <p:sp>
        <p:nvSpPr>
          <p:cNvPr id="3" name="Slide Number Placeholder 7">
            <a:extLst>
              <a:ext uri="{FF2B5EF4-FFF2-40B4-BE49-F238E27FC236}">
                <a16:creationId xmlns:a16="http://schemas.microsoft.com/office/drawing/2014/main" id="{99258200-8905-B2FD-212E-5A3332EDA70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26</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5648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5026E00A-4D1D-4CB1-8021-01ECB68DAA34}"/>
              </a:ext>
            </a:extLst>
          </p:cNvPr>
          <p:cNvSpPr txBox="1"/>
          <p:nvPr/>
        </p:nvSpPr>
        <p:spPr>
          <a:xfrm>
            <a:off x="492511" y="1400400"/>
            <a:ext cx="5603490" cy="420512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函數調用後：恢復</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將棧頂的</a:t>
            </a:r>
            <a:r>
              <a:rPr kumimoji="1" lang="zh-CN" altLang="en-US" sz="2400" u="sng"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主調函數棧幀基地址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賦值給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寄存器，之後可以重新訪問主調函數的局部變量和函數參數</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而後將主調函數的</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彈棧銷毀，幷且</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ESP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將再次調整位置</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2" name="Picture 41">
            <a:extLst>
              <a:ext uri="{FF2B5EF4-FFF2-40B4-BE49-F238E27FC236}">
                <a16:creationId xmlns:a16="http://schemas.microsoft.com/office/drawing/2014/main" id="{81B08678-1DFD-7A94-D78F-D2A245BCE34F}"/>
              </a:ext>
            </a:extLst>
          </p:cNvPr>
          <p:cNvPicPr>
            <a:picLocks noChangeAspect="1"/>
          </p:cNvPicPr>
          <p:nvPr/>
        </p:nvPicPr>
        <p:blipFill>
          <a:blip r:embed="rId3"/>
          <a:stretch>
            <a:fillRect/>
          </a:stretch>
        </p:blipFill>
        <p:spPr>
          <a:xfrm>
            <a:off x="6417646" y="1225899"/>
            <a:ext cx="5271307" cy="4813160"/>
          </a:xfrm>
          <a:prstGeom prst="rect">
            <a:avLst/>
          </a:prstGeom>
        </p:spPr>
      </p:pic>
      <p:sp>
        <p:nvSpPr>
          <p:cNvPr id="3" name="Slide Number Placeholder 7">
            <a:extLst>
              <a:ext uri="{FF2B5EF4-FFF2-40B4-BE49-F238E27FC236}">
                <a16:creationId xmlns:a16="http://schemas.microsoft.com/office/drawing/2014/main" id="{6403A52B-76F0-2E8E-4D5E-2E551286DA9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27</a:t>
            </a:fld>
            <a:endParaRPr lang="zh-CN" altLang="en-US" sz="1200" dirty="0">
              <a:solidFill>
                <a:schemeClr val="tx1">
                  <a:tint val="75000"/>
                </a:schemeClr>
              </a:solidFill>
            </a:endParaRPr>
          </a:p>
        </p:txBody>
      </p:sp>
    </p:spTree>
    <p:extLst>
      <p:ext uri="{BB962C8B-B14F-4D97-AF65-F5344CB8AC3E}">
        <p14:creationId xmlns:p14="http://schemas.microsoft.com/office/powerpoint/2010/main" val="438198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BAE47624-2631-411F-9861-A3297CD777F7}"/>
              </a:ext>
            </a:extLst>
          </p:cNvPr>
          <p:cNvSpPr txBox="1"/>
          <p:nvPr/>
        </p:nvSpPr>
        <p:spPr>
          <a:xfrm>
            <a:off x="492511" y="1400400"/>
            <a:ext cx="5688818" cy="3743461"/>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函數調用後：恢復</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將棧頂的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的返回地址賦值給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寄存器，而後將從</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調用後的下一條指令開始繼續執行</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而後，將返回地址進行彈棧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ts val="3600"/>
              </a:lnSpc>
              <a:buFont typeface="Wingdings" panose="05000000000000000000" pitchFamily="2" charset="2"/>
              <a:buChar char="Ø"/>
            </a:pPr>
            <a:endParaRPr kumimoji="1" lang="en-US" altLang="zh-CN" sz="28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最後，函數調用參數也被彈棧銷毀</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43" name="Picture 42">
            <a:extLst>
              <a:ext uri="{FF2B5EF4-FFF2-40B4-BE49-F238E27FC236}">
                <a16:creationId xmlns:a16="http://schemas.microsoft.com/office/drawing/2014/main" id="{881413C1-07DE-65B9-AAA1-761B226FEF60}"/>
              </a:ext>
            </a:extLst>
          </p:cNvPr>
          <p:cNvPicPr>
            <a:picLocks noChangeAspect="1"/>
          </p:cNvPicPr>
          <p:nvPr/>
        </p:nvPicPr>
        <p:blipFill>
          <a:blip r:embed="rId3"/>
          <a:stretch>
            <a:fillRect/>
          </a:stretch>
        </p:blipFill>
        <p:spPr>
          <a:xfrm>
            <a:off x="6417646" y="1225899"/>
            <a:ext cx="5271307" cy="4813160"/>
          </a:xfrm>
          <a:prstGeom prst="rect">
            <a:avLst/>
          </a:prstGeom>
        </p:spPr>
      </p:pic>
      <p:sp>
        <p:nvSpPr>
          <p:cNvPr id="3" name="Slide Number Placeholder 7">
            <a:extLst>
              <a:ext uri="{FF2B5EF4-FFF2-40B4-BE49-F238E27FC236}">
                <a16:creationId xmlns:a16="http://schemas.microsoft.com/office/drawing/2014/main" id="{ED8CAEBC-9BC6-566B-921A-47DCDC9880C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28</a:t>
            </a:fld>
            <a:endParaRPr lang="zh-CN" altLang="en-US" sz="1200" dirty="0">
              <a:solidFill>
                <a:schemeClr val="tx1">
                  <a:tint val="75000"/>
                </a:schemeClr>
              </a:solidFill>
            </a:endParaRPr>
          </a:p>
        </p:txBody>
      </p:sp>
    </p:spTree>
    <p:extLst>
      <p:ext uri="{BB962C8B-B14F-4D97-AF65-F5344CB8AC3E}">
        <p14:creationId xmlns:p14="http://schemas.microsoft.com/office/powerpoint/2010/main" val="39993586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正常的函數調用歷程</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5906D968-343B-43ED-B1E5-509E0FE94B5F}"/>
              </a:ext>
            </a:extLst>
          </p:cNvPr>
          <p:cNvSpPr txBox="1"/>
          <p:nvPr/>
        </p:nvSpPr>
        <p:spPr>
          <a:xfrm>
            <a:off x="492511" y="1400400"/>
            <a:ext cx="5603490" cy="235846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函數的返回值：</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函數的返回值一般通過</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寄存器暫存，而後進行寄存器到內存的拷貝操作使用返回值</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5" name="直接连接符 4">
            <a:extLst>
              <a:ext uri="{FF2B5EF4-FFF2-40B4-BE49-F238E27FC236}">
                <a16:creationId xmlns:a16="http://schemas.microsoft.com/office/drawing/2014/main" id="{3F210365-8B27-4BD0-B262-7AF1B90F47B7}"/>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6" name="文本框 14">
            <a:extLst>
              <a:ext uri="{FF2B5EF4-FFF2-40B4-BE49-F238E27FC236}">
                <a16:creationId xmlns:a16="http://schemas.microsoft.com/office/drawing/2014/main" id="{55405F8D-878D-4815-8E3F-7533C824FC20}"/>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若希望返回結構體，則</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EAX</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暫存結構體地址</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8" name="文本框 47">
            <a:extLst>
              <a:ext uri="{FF2B5EF4-FFF2-40B4-BE49-F238E27FC236}">
                <a16:creationId xmlns:a16="http://schemas.microsoft.com/office/drawing/2014/main" id="{2F02C5FD-BEB8-4492-9105-F77DF01E62FF}"/>
              </a:ext>
            </a:extLst>
          </p:cNvPr>
          <p:cNvSpPr txBox="1"/>
          <p:nvPr/>
        </p:nvSpPr>
        <p:spPr>
          <a:xfrm>
            <a:off x="336948" y="4001633"/>
            <a:ext cx="6037571" cy="1435136"/>
          </a:xfrm>
          <a:prstGeom prst="rect">
            <a:avLst/>
          </a:prstGeom>
          <a:noFill/>
        </p:spPr>
        <p:txBody>
          <a:bodyPr wrap="square" rtlCol="0">
            <a:spAutoFit/>
          </a:bodyPr>
          <a:lstStyle/>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至此函數調用過程完全結束，主調函數繼續執行，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400" u="sng"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减偏移量</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可獲得</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的局部變量，</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EBP</a:t>
            </a:r>
            <a:r>
              <a:rPr kumimoji="1" lang="zh-CN" altLang="en-US" sz="2400" u="sng"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加偏移量</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可獲得</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Caller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的函數參數</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矩形 8">
            <a:extLst>
              <a:ext uri="{FF2B5EF4-FFF2-40B4-BE49-F238E27FC236}">
                <a16:creationId xmlns:a16="http://schemas.microsoft.com/office/drawing/2014/main" id="{175FC721-C657-1CC4-C4BE-D7B5BF40D449}"/>
              </a:ext>
            </a:extLst>
          </p:cNvPr>
          <p:cNvSpPr/>
          <p:nvPr/>
        </p:nvSpPr>
        <p:spPr>
          <a:xfrm>
            <a:off x="183747" y="3907675"/>
            <a:ext cx="6190772" cy="1608243"/>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zh-CN" altLang="en-US" sz="2000" b="1" dirty="0">
              <a:solidFill>
                <a:srgbClr val="C00000"/>
              </a:solidFill>
              <a:latin typeface="Microsoft YaHei" panose="020B0503020204020204" pitchFamily="34" charset="-122"/>
              <a:ea typeface="Microsoft YaHei" panose="020B0503020204020204" pitchFamily="34" charset="-122"/>
            </a:endParaRPr>
          </a:p>
        </p:txBody>
      </p:sp>
      <p:pic>
        <p:nvPicPr>
          <p:cNvPr id="35" name="Picture 34">
            <a:extLst>
              <a:ext uri="{FF2B5EF4-FFF2-40B4-BE49-F238E27FC236}">
                <a16:creationId xmlns:a16="http://schemas.microsoft.com/office/drawing/2014/main" id="{A2AE8198-B498-1575-C81D-99369518DD21}"/>
              </a:ext>
            </a:extLst>
          </p:cNvPr>
          <p:cNvPicPr>
            <a:picLocks noChangeAspect="1"/>
          </p:cNvPicPr>
          <p:nvPr/>
        </p:nvPicPr>
        <p:blipFill>
          <a:blip r:embed="rId3"/>
          <a:stretch>
            <a:fillRect/>
          </a:stretch>
        </p:blipFill>
        <p:spPr>
          <a:xfrm>
            <a:off x="6417646" y="1225899"/>
            <a:ext cx="5271307" cy="4813160"/>
          </a:xfrm>
          <a:prstGeom prst="rect">
            <a:avLst/>
          </a:prstGeom>
        </p:spPr>
      </p:pic>
      <p:sp>
        <p:nvSpPr>
          <p:cNvPr id="3" name="Slide Number Placeholder 7">
            <a:extLst>
              <a:ext uri="{FF2B5EF4-FFF2-40B4-BE49-F238E27FC236}">
                <a16:creationId xmlns:a16="http://schemas.microsoft.com/office/drawing/2014/main" id="{9A33D558-B2B0-E072-D122-5578E0A0304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29</a:t>
            </a:fld>
            <a:endParaRPr lang="zh-CN" altLang="en-US" sz="1200" dirty="0">
              <a:solidFill>
                <a:schemeClr val="tx1">
                  <a:tint val="75000"/>
                </a:schemeClr>
              </a:solidFill>
            </a:endParaRPr>
          </a:p>
        </p:txBody>
      </p:sp>
    </p:spTree>
    <p:extLst>
      <p:ext uri="{BB962C8B-B14F-4D97-AF65-F5344CB8AC3E}">
        <p14:creationId xmlns:p14="http://schemas.microsoft.com/office/powerpoint/2010/main" val="32550551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棧區溢出攻擊的動機</a:t>
            </a:r>
          </a:p>
        </p:txBody>
      </p:sp>
      <p:sp>
        <p:nvSpPr>
          <p:cNvPr id="5" name="文本框 14">
            <a:extLst>
              <a:ext uri="{FF2B5EF4-FFF2-40B4-BE49-F238E27FC236}">
                <a16:creationId xmlns:a16="http://schemas.microsoft.com/office/drawing/2014/main" id="{F1BC5C32-0444-44F5-B421-72E60550F3F9}"/>
              </a:ext>
            </a:extLst>
          </p:cNvPr>
          <p:cNvSpPr txBox="1"/>
          <p:nvPr/>
        </p:nvSpPr>
        <p:spPr>
          <a:xfrm>
            <a:off x="492510" y="1400400"/>
            <a:ext cx="6337945" cy="4212179"/>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若攻擊者希望劫持進程控制流，産生其預期的惡意行爲，</a:t>
            </a:r>
            <a:r>
              <a:rPr kumimoji="1" lang="zh-CN" altLang="en-US" sz="24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則必須讓</a:t>
            </a:r>
            <a:r>
              <a:rPr kumimoji="1" lang="en-US" altLang="zh-CN" sz="24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寄存器指向惡意指令</a:t>
            </a:r>
            <a:endParaRPr kumimoji="1" lang="en-US" altLang="zh-CN" sz="24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注意到：在函數調用結束時，會將棧幀中的返回地址賦值給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寄存器；攻擊者可以修改棧幀當中的返回地址，</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使</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指向準備好的惡意代碼段</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實現進程控制流劫持</a:t>
            </a:r>
            <a:endParaRPr kumimoji="1" lang="en-US" altLang="zh-CN" sz="2800" dirty="0">
              <a:latin typeface="等线" panose="02010600030101010101" pitchFamily="2" charset="-122"/>
              <a:ea typeface="等线" panose="02010600030101010101" pitchFamily="2" charset="-122"/>
              <a:cs typeface="Times New Roman" panose="02020603050405020304" pitchFamily="18" charset="0"/>
            </a:endParaRPr>
          </a:p>
        </p:txBody>
      </p:sp>
      <p:pic>
        <p:nvPicPr>
          <p:cNvPr id="36" name="Picture 35">
            <a:extLst>
              <a:ext uri="{FF2B5EF4-FFF2-40B4-BE49-F238E27FC236}">
                <a16:creationId xmlns:a16="http://schemas.microsoft.com/office/drawing/2014/main" id="{E9625BAE-C265-C6BD-FAB6-2266AF46EB3F}"/>
              </a:ext>
            </a:extLst>
          </p:cNvPr>
          <p:cNvPicPr>
            <a:picLocks noChangeAspect="1"/>
          </p:cNvPicPr>
          <p:nvPr/>
        </p:nvPicPr>
        <p:blipFill>
          <a:blip r:embed="rId3"/>
          <a:stretch>
            <a:fillRect/>
          </a:stretch>
        </p:blipFill>
        <p:spPr>
          <a:xfrm>
            <a:off x="7345673" y="1425716"/>
            <a:ext cx="4008127" cy="4366850"/>
          </a:xfrm>
          <a:prstGeom prst="rect">
            <a:avLst/>
          </a:prstGeom>
        </p:spPr>
      </p:pic>
      <p:sp>
        <p:nvSpPr>
          <p:cNvPr id="4" name="Slide Number Placeholder 7">
            <a:extLst>
              <a:ext uri="{FF2B5EF4-FFF2-40B4-BE49-F238E27FC236}">
                <a16:creationId xmlns:a16="http://schemas.microsoft.com/office/drawing/2014/main" id="{F792F4C4-0B89-1C03-61EE-B6591021425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30</a:t>
            </a:fld>
            <a:endParaRPr lang="zh-CN" altLang="en-US" sz="1200" dirty="0">
              <a:solidFill>
                <a:schemeClr val="tx1">
                  <a:tint val="75000"/>
                </a:schemeClr>
              </a:solidFill>
            </a:endParaRPr>
          </a:p>
        </p:txBody>
      </p:sp>
    </p:spTree>
    <p:extLst>
      <p:ext uri="{BB962C8B-B14F-4D97-AF65-F5344CB8AC3E}">
        <p14:creationId xmlns:p14="http://schemas.microsoft.com/office/powerpoint/2010/main" val="384018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棧區溢出攻擊</a:t>
            </a:r>
            <a:endParaRPr kumimoji="1" lang="zh-CN" altLang="en-US" dirty="0">
              <a:solidFill>
                <a:schemeClr val="tx1"/>
              </a:solidFill>
            </a:endParaRPr>
          </a:p>
        </p:txBody>
      </p:sp>
      <p:sp>
        <p:nvSpPr>
          <p:cNvPr id="4" name="文本框 14">
            <a:extLst>
              <a:ext uri="{FF2B5EF4-FFF2-40B4-BE49-F238E27FC236}">
                <a16:creationId xmlns:a16="http://schemas.microsoft.com/office/drawing/2014/main" id="{9CCB3073-6FE4-4914-BCAA-B2222AAFA6D5}"/>
              </a:ext>
            </a:extLst>
          </p:cNvPr>
          <p:cNvSpPr txBox="1"/>
          <p:nvPr/>
        </p:nvSpPr>
        <p:spPr>
          <a:xfrm>
            <a:off x="492510" y="3909960"/>
            <a:ext cx="11133431" cy="1569660"/>
          </a:xfrm>
          <a:prstGeom prst="rect">
            <a:avLst/>
          </a:prstGeom>
          <a:noFill/>
        </p:spPr>
        <p:txBody>
          <a:bodyPr wrap="square" rtlCol="0">
            <a:spAutoFit/>
          </a:bodyPr>
          <a:lstStyle/>
          <a:p>
            <a:pPr marL="342900" indent="-342900" algn="just">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棧溢出攻擊有多個分類和變體，但其本質均是對于</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棧幀中返回地址的修改</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，導致</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寄存器指向惡意代碼</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buFont typeface="Arial" panose="020B0604020202020204" pitchFamily="34" charset="0"/>
              <a:buChar cha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下面假設在</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沒有任何內存防禦機制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的條件下，介紹</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個最簡單的棧溢出攻擊案例</a:t>
            </a: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BF239C55-DF7E-4630-92EE-AEDF28FC8429}"/>
              </a:ext>
            </a:extLst>
          </p:cNvPr>
          <p:cNvSpPr>
            <a:spLocks/>
          </p:cNvSpPr>
          <p:nvPr/>
        </p:nvSpPr>
        <p:spPr bwMode="auto">
          <a:xfrm>
            <a:off x="928177" y="1442325"/>
            <a:ext cx="10529713" cy="191348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C66A4FC3-E748-47DC-8B0C-5D616AE35E41}"/>
              </a:ext>
            </a:extLst>
          </p:cNvPr>
          <p:cNvSpPr txBox="1"/>
          <p:nvPr/>
        </p:nvSpPr>
        <p:spPr>
          <a:xfrm>
            <a:off x="1387098" y="1623761"/>
            <a:ext cx="9670943" cy="1548116"/>
          </a:xfrm>
          <a:prstGeom prst="rect">
            <a:avLst/>
          </a:prstGeom>
          <a:noFill/>
        </p:spPr>
        <p:txBody>
          <a:bodyPr wrap="square" rtlCol="0">
            <a:spAutoFit/>
          </a:bodyPr>
          <a:lstStyle/>
          <a:p>
            <a:pPr algn="ctr">
              <a:lnSpc>
                <a:spcPct val="120000"/>
              </a:lnSpc>
              <a:spcAft>
                <a:spcPts val="600"/>
              </a:spcAft>
            </a:pPr>
            <a:r>
              <a:rPr kumimoji="1" lang="zh-CN" altLang="en-US" sz="28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棧區溢出攻擊</a:t>
            </a:r>
            <a:endParaRPr lang="en-US" altLang="zh-CN" sz="2800" b="1" dirty="0"/>
          </a:p>
          <a:p>
            <a:pPr algn="ct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是一種攻擊者越界訪問幷修改棧幀當中的返回地址，</a:t>
            </a:r>
            <a:endParaRPr kumimoji="1" lang="en-US" altLang="zh-CN" sz="2800" dirty="0">
              <a:latin typeface="微软雅黑" panose="020B0503020204020204" pitchFamily="34" charset="-122"/>
              <a:ea typeface="微软雅黑" panose="020B0503020204020204" pitchFamily="34" charset="-122"/>
              <a:cs typeface="Times New Roman" panose="02020603050405020304" pitchFamily="18" charset="0"/>
            </a:endParaRPr>
          </a:p>
          <a:p>
            <a:pPr algn="ctr"/>
            <a:r>
              <a:rPr kumimoji="1" lang="zh-CN" altLang="en-US" sz="2800" dirty="0">
                <a:latin typeface="微软雅黑" panose="020B0503020204020204" pitchFamily="34" charset="-122"/>
                <a:ea typeface="微软雅黑" panose="020B0503020204020204" pitchFamily="34" charset="-122"/>
                <a:cs typeface="Times New Roman" panose="02020603050405020304" pitchFamily="18" charset="0"/>
              </a:rPr>
              <a:t>以控制進程的攻擊方案的總稱</a:t>
            </a:r>
            <a:endParaRPr kumimoji="1" lang="en-US" altLang="zh-CN" sz="2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Slide Number Placeholder 7">
            <a:extLst>
              <a:ext uri="{FF2B5EF4-FFF2-40B4-BE49-F238E27FC236}">
                <a16:creationId xmlns:a16="http://schemas.microsoft.com/office/drawing/2014/main" id="{C0ABC7CC-D4A3-95BB-807C-C240E183ED0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31</a:t>
            </a:fld>
            <a:endParaRPr lang="zh-CN" altLang="en-US" sz="1200" dirty="0">
              <a:solidFill>
                <a:schemeClr val="tx1">
                  <a:tint val="75000"/>
                </a:schemeClr>
              </a:solidFill>
            </a:endParaRPr>
          </a:p>
        </p:txBody>
      </p:sp>
    </p:spTree>
    <p:extLst>
      <p:ext uri="{BB962C8B-B14F-4D97-AF65-F5344CB8AC3E}">
        <p14:creationId xmlns:p14="http://schemas.microsoft.com/office/powerpoint/2010/main" val="27122734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棧區溢出攻擊</a:t>
            </a:r>
            <a:endParaRPr kumimoji="1" lang="zh-CN" altLang="en-US" dirty="0">
              <a:solidFill>
                <a:schemeClr val="tx1"/>
              </a:solidFill>
            </a:endParaRPr>
          </a:p>
        </p:txBody>
      </p:sp>
      <p:sp>
        <p:nvSpPr>
          <p:cNvPr id="68" name="文本框 14">
            <a:extLst>
              <a:ext uri="{FF2B5EF4-FFF2-40B4-BE49-F238E27FC236}">
                <a16:creationId xmlns:a16="http://schemas.microsoft.com/office/drawing/2014/main" id="{97F26DDC-9487-4FB6-B109-0158C390C95B}"/>
              </a:ext>
            </a:extLst>
          </p:cNvPr>
          <p:cNvSpPr txBox="1"/>
          <p:nvPr/>
        </p:nvSpPr>
        <p:spPr>
          <a:xfrm>
            <a:off x="492511" y="1382400"/>
            <a:ext cx="4972401" cy="235846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簡單的棧區溢出示例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：返回至溢出數據</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攻擊者發現可被利用的危險輸入函數和可越界訪問內存的變量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9" name="直接连接符 68">
            <a:extLst>
              <a:ext uri="{FF2B5EF4-FFF2-40B4-BE49-F238E27FC236}">
                <a16:creationId xmlns:a16="http://schemas.microsoft.com/office/drawing/2014/main" id="{9866127B-67E2-4F26-A0BE-A59F2EA3AFCA}"/>
              </a:ext>
            </a:extLst>
          </p:cNvPr>
          <p:cNvCxnSpPr>
            <a:cxnSpLocks/>
          </p:cNvCxnSpPr>
          <p:nvPr/>
        </p:nvCxnSpPr>
        <p:spPr>
          <a:xfrm>
            <a:off x="7714286" y="1488377"/>
            <a:ext cx="0" cy="4320000"/>
          </a:xfrm>
          <a:prstGeom prst="line">
            <a:avLst/>
          </a:prstGeom>
          <a:noFill/>
          <a:ln w="12700" cap="flat" cmpd="sng" algn="ctr">
            <a:solidFill>
              <a:srgbClr val="000000"/>
            </a:solidFill>
            <a:prstDash val="solid"/>
            <a:miter lim="800000"/>
          </a:ln>
          <a:effectLst/>
        </p:spPr>
      </p:cxnSp>
      <p:cxnSp>
        <p:nvCxnSpPr>
          <p:cNvPr id="70" name="直接连接符 69">
            <a:extLst>
              <a:ext uri="{FF2B5EF4-FFF2-40B4-BE49-F238E27FC236}">
                <a16:creationId xmlns:a16="http://schemas.microsoft.com/office/drawing/2014/main" id="{2A1FA735-6D1E-4003-9600-473160459196}"/>
              </a:ext>
            </a:extLst>
          </p:cNvPr>
          <p:cNvCxnSpPr>
            <a:cxnSpLocks/>
          </p:cNvCxnSpPr>
          <p:nvPr/>
        </p:nvCxnSpPr>
        <p:spPr>
          <a:xfrm>
            <a:off x="10342724" y="1488377"/>
            <a:ext cx="0" cy="4320000"/>
          </a:xfrm>
          <a:prstGeom prst="line">
            <a:avLst/>
          </a:prstGeom>
          <a:noFill/>
          <a:ln w="12700" cap="flat" cmpd="sng" algn="ctr">
            <a:solidFill>
              <a:srgbClr val="000000"/>
            </a:solidFill>
            <a:prstDash val="solid"/>
            <a:miter lim="800000"/>
          </a:ln>
          <a:effectLst/>
        </p:spPr>
      </p:cxnSp>
      <p:sp>
        <p:nvSpPr>
          <p:cNvPr id="71" name="文本框 70">
            <a:extLst>
              <a:ext uri="{FF2B5EF4-FFF2-40B4-BE49-F238E27FC236}">
                <a16:creationId xmlns:a16="http://schemas.microsoft.com/office/drawing/2014/main" id="{8971B36C-5E5E-4F25-AE16-A69C7E6BC1B7}"/>
              </a:ext>
            </a:extLst>
          </p:cNvPr>
          <p:cNvSpPr txBox="1"/>
          <p:nvPr/>
        </p:nvSpPr>
        <p:spPr>
          <a:xfrm>
            <a:off x="7909986" y="1074449"/>
            <a:ext cx="1995870" cy="369332"/>
          </a:xfrm>
          <a:prstGeom prst="rect">
            <a:avLst/>
          </a:prstGeom>
          <a:noFill/>
        </p:spPr>
        <p:txBody>
          <a:bodyPr wrap="square" rtlCol="0">
            <a:spAutoFit/>
          </a:bodyPr>
          <a:lstStyle/>
          <a:p>
            <a:pPr algn="ctr"/>
            <a:r>
              <a:rPr lang="en-US" altLang="zh-CN" dirty="0">
                <a:solidFill>
                  <a:srgbClr val="000000"/>
                </a:solidFill>
                <a:ea typeface="微软雅黑"/>
              </a:rPr>
              <a:t>Higher Address</a:t>
            </a:r>
            <a:endParaRPr lang="zh-CN" altLang="en-US" dirty="0">
              <a:solidFill>
                <a:srgbClr val="000000"/>
              </a:solidFill>
              <a:ea typeface="微软雅黑"/>
            </a:endParaRPr>
          </a:p>
        </p:txBody>
      </p:sp>
      <p:sp>
        <p:nvSpPr>
          <p:cNvPr id="72" name="文本框 71">
            <a:extLst>
              <a:ext uri="{FF2B5EF4-FFF2-40B4-BE49-F238E27FC236}">
                <a16:creationId xmlns:a16="http://schemas.microsoft.com/office/drawing/2014/main" id="{A8604A17-F184-4DEF-9702-C7E48B11D08F}"/>
              </a:ext>
            </a:extLst>
          </p:cNvPr>
          <p:cNvSpPr txBox="1"/>
          <p:nvPr/>
        </p:nvSpPr>
        <p:spPr>
          <a:xfrm>
            <a:off x="8023238" y="6039195"/>
            <a:ext cx="1995870" cy="369332"/>
          </a:xfrm>
          <a:prstGeom prst="rect">
            <a:avLst/>
          </a:prstGeom>
          <a:noFill/>
        </p:spPr>
        <p:txBody>
          <a:bodyPr wrap="square" rtlCol="0">
            <a:spAutoFit/>
          </a:bodyPr>
          <a:lstStyle/>
          <a:p>
            <a:pPr algn="ctr"/>
            <a:r>
              <a:rPr lang="en-US" altLang="zh-CN" dirty="0">
                <a:solidFill>
                  <a:srgbClr val="000000"/>
                </a:solidFill>
                <a:ea typeface="微软雅黑"/>
              </a:rPr>
              <a:t>Lower Address</a:t>
            </a:r>
            <a:endParaRPr lang="zh-CN" altLang="en-US" dirty="0">
              <a:solidFill>
                <a:srgbClr val="000000"/>
              </a:solidFill>
              <a:ea typeface="微软雅黑"/>
            </a:endParaRPr>
          </a:p>
        </p:txBody>
      </p:sp>
      <p:sp>
        <p:nvSpPr>
          <p:cNvPr id="73" name="文本框 72">
            <a:extLst>
              <a:ext uri="{FF2B5EF4-FFF2-40B4-BE49-F238E27FC236}">
                <a16:creationId xmlns:a16="http://schemas.microsoft.com/office/drawing/2014/main" id="{AAE496E0-AF11-47E5-8152-A791E9250BC6}"/>
              </a:ext>
            </a:extLst>
          </p:cNvPr>
          <p:cNvSpPr txBox="1"/>
          <p:nvPr/>
        </p:nvSpPr>
        <p:spPr>
          <a:xfrm>
            <a:off x="7713838" y="2026650"/>
            <a:ext cx="2627993" cy="369332"/>
          </a:xfrm>
          <a:prstGeom prst="rect">
            <a:avLst/>
          </a:prstGeom>
          <a:noFill/>
        </p:spPr>
        <p:txBody>
          <a:bodyPr wrap="square" rtlCol="0">
            <a:spAutoFit/>
          </a:bodyPr>
          <a:lstStyle/>
          <a:p>
            <a:pPr algn="ctr"/>
            <a:r>
              <a:rPr lang="en-US" altLang="zh-CN" dirty="0">
                <a:solidFill>
                  <a:srgbClr val="C00000"/>
                </a:solidFill>
                <a:ea typeface="微软雅黑"/>
              </a:rPr>
              <a:t>EBP of Caller’s Caller</a:t>
            </a:r>
          </a:p>
        </p:txBody>
      </p:sp>
      <p:cxnSp>
        <p:nvCxnSpPr>
          <p:cNvPr id="74" name="直接连接符 73">
            <a:extLst>
              <a:ext uri="{FF2B5EF4-FFF2-40B4-BE49-F238E27FC236}">
                <a16:creationId xmlns:a16="http://schemas.microsoft.com/office/drawing/2014/main" id="{5B832735-A163-41E9-A29F-A412CAC9C7E5}"/>
              </a:ext>
            </a:extLst>
          </p:cNvPr>
          <p:cNvCxnSpPr>
            <a:cxnSpLocks/>
          </p:cNvCxnSpPr>
          <p:nvPr/>
        </p:nvCxnSpPr>
        <p:spPr>
          <a:xfrm>
            <a:off x="7707173" y="2015633"/>
            <a:ext cx="2628000" cy="0"/>
          </a:xfrm>
          <a:prstGeom prst="line">
            <a:avLst/>
          </a:prstGeom>
          <a:noFill/>
          <a:ln w="12700" cap="flat" cmpd="sng" algn="ctr">
            <a:solidFill>
              <a:srgbClr val="000000"/>
            </a:solidFill>
            <a:prstDash val="solid"/>
            <a:miter lim="800000"/>
          </a:ln>
          <a:effectLst/>
        </p:spPr>
      </p:cxnSp>
      <p:sp>
        <p:nvSpPr>
          <p:cNvPr id="75" name="文本框 74">
            <a:extLst>
              <a:ext uri="{FF2B5EF4-FFF2-40B4-BE49-F238E27FC236}">
                <a16:creationId xmlns:a16="http://schemas.microsoft.com/office/drawing/2014/main" id="{94F0EA78-5846-4E46-AF7A-328650713F4D}"/>
              </a:ext>
            </a:extLst>
          </p:cNvPr>
          <p:cNvSpPr txBox="1"/>
          <p:nvPr/>
        </p:nvSpPr>
        <p:spPr>
          <a:xfrm>
            <a:off x="7699653" y="1619643"/>
            <a:ext cx="2627990" cy="369332"/>
          </a:xfrm>
          <a:prstGeom prst="rect">
            <a:avLst/>
          </a:prstGeom>
          <a:noFill/>
        </p:spPr>
        <p:txBody>
          <a:bodyPr wrap="square" rtlCol="0">
            <a:spAutoFit/>
          </a:bodyPr>
          <a:lstStyle/>
          <a:p>
            <a:pPr algn="ctr"/>
            <a:r>
              <a:rPr lang="en-US" altLang="zh-CN" dirty="0">
                <a:solidFill>
                  <a:srgbClr val="000000"/>
                </a:solidFill>
                <a:ea typeface="微软雅黑"/>
              </a:rPr>
              <a:t>Previous Stack Frame</a:t>
            </a:r>
          </a:p>
        </p:txBody>
      </p:sp>
      <p:cxnSp>
        <p:nvCxnSpPr>
          <p:cNvPr id="76" name="直接连接符 75">
            <a:extLst>
              <a:ext uri="{FF2B5EF4-FFF2-40B4-BE49-F238E27FC236}">
                <a16:creationId xmlns:a16="http://schemas.microsoft.com/office/drawing/2014/main" id="{70F8BD2C-B8E0-408E-9F7E-0FB7777DDA27}"/>
              </a:ext>
            </a:extLst>
          </p:cNvPr>
          <p:cNvCxnSpPr>
            <a:cxnSpLocks/>
          </p:cNvCxnSpPr>
          <p:nvPr/>
        </p:nvCxnSpPr>
        <p:spPr>
          <a:xfrm>
            <a:off x="7712938" y="3045696"/>
            <a:ext cx="2628000" cy="0"/>
          </a:xfrm>
          <a:prstGeom prst="line">
            <a:avLst/>
          </a:prstGeom>
          <a:noFill/>
          <a:ln w="12700" cap="flat" cmpd="sng" algn="ctr">
            <a:solidFill>
              <a:srgbClr val="000000"/>
            </a:solidFill>
            <a:prstDash val="solid"/>
            <a:miter lim="800000"/>
          </a:ln>
          <a:effectLst/>
        </p:spPr>
      </p:cxnSp>
      <p:cxnSp>
        <p:nvCxnSpPr>
          <p:cNvPr id="77" name="直接连接符 76">
            <a:extLst>
              <a:ext uri="{FF2B5EF4-FFF2-40B4-BE49-F238E27FC236}">
                <a16:creationId xmlns:a16="http://schemas.microsoft.com/office/drawing/2014/main" id="{69E72323-6AC5-440F-B08D-F8B927E969C2}"/>
              </a:ext>
            </a:extLst>
          </p:cNvPr>
          <p:cNvCxnSpPr>
            <a:cxnSpLocks/>
          </p:cNvCxnSpPr>
          <p:nvPr/>
        </p:nvCxnSpPr>
        <p:spPr>
          <a:xfrm>
            <a:off x="7712938" y="2426001"/>
            <a:ext cx="2628000" cy="0"/>
          </a:xfrm>
          <a:prstGeom prst="line">
            <a:avLst/>
          </a:prstGeom>
          <a:noFill/>
          <a:ln w="12700" cap="flat" cmpd="sng" algn="ctr">
            <a:solidFill>
              <a:srgbClr val="000000"/>
            </a:solidFill>
            <a:prstDash val="solid"/>
            <a:miter lim="800000"/>
          </a:ln>
          <a:effectLst/>
        </p:spPr>
      </p:cxnSp>
      <p:sp>
        <p:nvSpPr>
          <p:cNvPr id="78" name="任意多边形: 形状 77">
            <a:extLst>
              <a:ext uri="{FF2B5EF4-FFF2-40B4-BE49-F238E27FC236}">
                <a16:creationId xmlns:a16="http://schemas.microsoft.com/office/drawing/2014/main" id="{D13B7B38-E29D-4373-8AE7-475AB38CB2FE}"/>
              </a:ext>
            </a:extLst>
          </p:cNvPr>
          <p:cNvSpPr/>
          <p:nvPr/>
        </p:nvSpPr>
        <p:spPr>
          <a:xfrm>
            <a:off x="737028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w="12700" cap="flat" cmpd="sng" algn="ctr">
            <a:solidFill>
              <a:srgbClr val="C00000"/>
            </a:solidFill>
            <a:prstDash val="solid"/>
            <a:miter lim="800000"/>
            <a:headEnd type="non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79" name="文本框 78">
            <a:extLst>
              <a:ext uri="{FF2B5EF4-FFF2-40B4-BE49-F238E27FC236}">
                <a16:creationId xmlns:a16="http://schemas.microsoft.com/office/drawing/2014/main" id="{2D822FF1-B623-4311-8FE6-33AFC3B5962D}"/>
              </a:ext>
            </a:extLst>
          </p:cNvPr>
          <p:cNvSpPr txBox="1"/>
          <p:nvPr/>
        </p:nvSpPr>
        <p:spPr>
          <a:xfrm>
            <a:off x="7721400" y="2540895"/>
            <a:ext cx="2627993" cy="369332"/>
          </a:xfrm>
          <a:prstGeom prst="rect">
            <a:avLst/>
          </a:prstGeom>
          <a:noFill/>
        </p:spPr>
        <p:txBody>
          <a:bodyPr wrap="square" rtlCol="0">
            <a:spAutoFit/>
          </a:bodyPr>
          <a:lstStyle/>
          <a:p>
            <a:pPr algn="ctr"/>
            <a:r>
              <a:rPr lang="en-US" altLang="zh-CN" dirty="0">
                <a:solidFill>
                  <a:srgbClr val="C00000"/>
                </a:solidFill>
                <a:ea typeface="微软雅黑"/>
              </a:rPr>
              <a:t>Local Variables</a:t>
            </a:r>
          </a:p>
        </p:txBody>
      </p:sp>
      <p:cxnSp>
        <p:nvCxnSpPr>
          <p:cNvPr id="80" name="直接连接符 79">
            <a:extLst>
              <a:ext uri="{FF2B5EF4-FFF2-40B4-BE49-F238E27FC236}">
                <a16:creationId xmlns:a16="http://schemas.microsoft.com/office/drawing/2014/main" id="{5508F019-110B-42FD-BB8C-D4C616C94FA3}"/>
              </a:ext>
            </a:extLst>
          </p:cNvPr>
          <p:cNvCxnSpPr>
            <a:cxnSpLocks/>
          </p:cNvCxnSpPr>
          <p:nvPr/>
        </p:nvCxnSpPr>
        <p:spPr>
          <a:xfrm>
            <a:off x="7713831" y="3600433"/>
            <a:ext cx="2628000" cy="0"/>
          </a:xfrm>
          <a:prstGeom prst="line">
            <a:avLst/>
          </a:prstGeom>
          <a:noFill/>
          <a:ln w="12700" cap="flat" cmpd="sng" algn="ctr">
            <a:solidFill>
              <a:srgbClr val="000000"/>
            </a:solidFill>
            <a:prstDash val="solid"/>
            <a:miter lim="800000"/>
          </a:ln>
          <a:effectLst/>
        </p:spPr>
      </p:cxnSp>
      <p:sp>
        <p:nvSpPr>
          <p:cNvPr id="81" name="文本框 80">
            <a:extLst>
              <a:ext uri="{FF2B5EF4-FFF2-40B4-BE49-F238E27FC236}">
                <a16:creationId xmlns:a16="http://schemas.microsoft.com/office/drawing/2014/main" id="{63C1FDDB-2581-439A-8314-FF03FEDC78E9}"/>
              </a:ext>
            </a:extLst>
          </p:cNvPr>
          <p:cNvSpPr txBox="1"/>
          <p:nvPr/>
        </p:nvSpPr>
        <p:spPr>
          <a:xfrm>
            <a:off x="7721399" y="3145270"/>
            <a:ext cx="2627993" cy="369332"/>
          </a:xfrm>
          <a:prstGeom prst="rect">
            <a:avLst/>
          </a:prstGeom>
          <a:noFill/>
        </p:spPr>
        <p:txBody>
          <a:bodyPr wrap="square" rtlCol="0">
            <a:spAutoFit/>
          </a:bodyPr>
          <a:lstStyle/>
          <a:p>
            <a:pPr algn="ctr"/>
            <a:r>
              <a:rPr lang="en-US" altLang="zh-CN" dirty="0">
                <a:solidFill>
                  <a:srgbClr val="C00000"/>
                </a:solidFill>
                <a:ea typeface="微软雅黑"/>
              </a:rPr>
              <a:t> Arguments n … 1</a:t>
            </a:r>
          </a:p>
        </p:txBody>
      </p:sp>
      <p:cxnSp>
        <p:nvCxnSpPr>
          <p:cNvPr id="82" name="直接连接符 81">
            <a:extLst>
              <a:ext uri="{FF2B5EF4-FFF2-40B4-BE49-F238E27FC236}">
                <a16:creationId xmlns:a16="http://schemas.microsoft.com/office/drawing/2014/main" id="{AFF0FF12-DD4C-4036-B1EE-B7DEC6FFE63D}"/>
              </a:ext>
            </a:extLst>
          </p:cNvPr>
          <p:cNvCxnSpPr>
            <a:cxnSpLocks/>
          </p:cNvCxnSpPr>
          <p:nvPr/>
        </p:nvCxnSpPr>
        <p:spPr>
          <a:xfrm>
            <a:off x="7710670" y="4037102"/>
            <a:ext cx="2628000" cy="0"/>
          </a:xfrm>
          <a:prstGeom prst="line">
            <a:avLst/>
          </a:prstGeom>
          <a:noFill/>
          <a:ln w="12700" cap="flat" cmpd="sng" algn="ctr">
            <a:solidFill>
              <a:srgbClr val="000000"/>
            </a:solidFill>
            <a:prstDash val="solid"/>
            <a:miter lim="800000"/>
          </a:ln>
          <a:effectLst/>
        </p:spPr>
      </p:cxnSp>
      <p:sp>
        <p:nvSpPr>
          <p:cNvPr id="83" name="文本框 82">
            <a:extLst>
              <a:ext uri="{FF2B5EF4-FFF2-40B4-BE49-F238E27FC236}">
                <a16:creationId xmlns:a16="http://schemas.microsoft.com/office/drawing/2014/main" id="{A200EBA9-B36A-4890-A3BF-BB1A58B6D257}"/>
              </a:ext>
            </a:extLst>
          </p:cNvPr>
          <p:cNvSpPr txBox="1"/>
          <p:nvPr/>
        </p:nvSpPr>
        <p:spPr>
          <a:xfrm>
            <a:off x="7707221" y="3637024"/>
            <a:ext cx="2627993" cy="369332"/>
          </a:xfrm>
          <a:prstGeom prst="rect">
            <a:avLst/>
          </a:prstGeom>
          <a:noFill/>
        </p:spPr>
        <p:txBody>
          <a:bodyPr wrap="square" rtlCol="0">
            <a:spAutoFit/>
          </a:bodyPr>
          <a:lstStyle/>
          <a:p>
            <a:pPr algn="ctr"/>
            <a:r>
              <a:rPr lang="en-US" altLang="zh-CN" dirty="0">
                <a:solidFill>
                  <a:srgbClr val="C00000"/>
                </a:solidFill>
                <a:ea typeface="微软雅黑"/>
              </a:rPr>
              <a:t>Return Address</a:t>
            </a:r>
          </a:p>
        </p:txBody>
      </p:sp>
      <p:sp>
        <p:nvSpPr>
          <p:cNvPr id="84" name="文本框 83">
            <a:extLst>
              <a:ext uri="{FF2B5EF4-FFF2-40B4-BE49-F238E27FC236}">
                <a16:creationId xmlns:a16="http://schemas.microsoft.com/office/drawing/2014/main" id="{2AFD288A-24A2-4FAF-8CA2-08841F623ED6}"/>
              </a:ext>
            </a:extLst>
          </p:cNvPr>
          <p:cNvSpPr txBox="1"/>
          <p:nvPr/>
        </p:nvSpPr>
        <p:spPr>
          <a:xfrm>
            <a:off x="7713831" y="4087812"/>
            <a:ext cx="2627993" cy="369332"/>
          </a:xfrm>
          <a:prstGeom prst="rect">
            <a:avLst/>
          </a:prstGeom>
          <a:noFill/>
        </p:spPr>
        <p:txBody>
          <a:bodyPr wrap="square" rtlCol="0">
            <a:spAutoFit/>
          </a:bodyPr>
          <a:lstStyle/>
          <a:p>
            <a:pPr algn="ctr"/>
            <a:r>
              <a:rPr lang="en-US" altLang="zh-CN" dirty="0">
                <a:solidFill>
                  <a:srgbClr val="2980B9"/>
                </a:solidFill>
                <a:ea typeface="微软雅黑"/>
              </a:rPr>
              <a:t>EBP of Caller</a:t>
            </a:r>
          </a:p>
        </p:txBody>
      </p:sp>
      <p:cxnSp>
        <p:nvCxnSpPr>
          <p:cNvPr id="85" name="直接连接符 84">
            <a:extLst>
              <a:ext uri="{FF2B5EF4-FFF2-40B4-BE49-F238E27FC236}">
                <a16:creationId xmlns:a16="http://schemas.microsoft.com/office/drawing/2014/main" id="{7D2588A7-E9F5-444C-8AC7-026B399FDA90}"/>
              </a:ext>
            </a:extLst>
          </p:cNvPr>
          <p:cNvCxnSpPr>
            <a:cxnSpLocks/>
          </p:cNvCxnSpPr>
          <p:nvPr/>
        </p:nvCxnSpPr>
        <p:spPr>
          <a:xfrm>
            <a:off x="7712931" y="4487163"/>
            <a:ext cx="2628000" cy="0"/>
          </a:xfrm>
          <a:prstGeom prst="line">
            <a:avLst/>
          </a:prstGeom>
          <a:noFill/>
          <a:ln w="12700" cap="flat" cmpd="sng" algn="ctr">
            <a:solidFill>
              <a:srgbClr val="000000"/>
            </a:solidFill>
            <a:prstDash val="solid"/>
            <a:miter lim="800000"/>
          </a:ln>
          <a:effectLst/>
        </p:spPr>
      </p:cxnSp>
      <p:sp>
        <p:nvSpPr>
          <p:cNvPr id="86" name="任意多边形: 形状 85">
            <a:extLst>
              <a:ext uri="{FF2B5EF4-FFF2-40B4-BE49-F238E27FC236}">
                <a16:creationId xmlns:a16="http://schemas.microsoft.com/office/drawing/2014/main" id="{0F1F88AC-7269-403A-A39D-D2F5C9A592DD}"/>
              </a:ext>
            </a:extLst>
          </p:cNvPr>
          <p:cNvSpPr/>
          <p:nvPr/>
        </p:nvSpPr>
        <p:spPr>
          <a:xfrm>
            <a:off x="724910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w="12700" cap="flat" cmpd="sng" algn="ctr">
            <a:solidFill>
              <a:srgbClr val="2980B9"/>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87" name="直接连接符 86">
            <a:extLst>
              <a:ext uri="{FF2B5EF4-FFF2-40B4-BE49-F238E27FC236}">
                <a16:creationId xmlns:a16="http://schemas.microsoft.com/office/drawing/2014/main" id="{3AE4958C-C6F2-45A7-B658-E4292F60E278}"/>
              </a:ext>
            </a:extLst>
          </p:cNvPr>
          <p:cNvCxnSpPr>
            <a:cxnSpLocks/>
          </p:cNvCxnSpPr>
          <p:nvPr/>
        </p:nvCxnSpPr>
        <p:spPr>
          <a:xfrm>
            <a:off x="7712890" y="5429218"/>
            <a:ext cx="2628000" cy="0"/>
          </a:xfrm>
          <a:prstGeom prst="line">
            <a:avLst/>
          </a:prstGeom>
          <a:noFill/>
          <a:ln w="12700" cap="flat" cmpd="sng" algn="ctr">
            <a:solidFill>
              <a:srgbClr val="000000"/>
            </a:solidFill>
            <a:prstDash val="solid"/>
            <a:miter lim="800000"/>
          </a:ln>
          <a:effectLst/>
        </p:spPr>
      </p:cxnSp>
      <p:sp>
        <p:nvSpPr>
          <p:cNvPr id="88" name="文本框 87">
            <a:extLst>
              <a:ext uri="{FF2B5EF4-FFF2-40B4-BE49-F238E27FC236}">
                <a16:creationId xmlns:a16="http://schemas.microsoft.com/office/drawing/2014/main" id="{3F1CEA52-FFCB-4673-9FCA-4C2989BE053A}"/>
              </a:ext>
            </a:extLst>
          </p:cNvPr>
          <p:cNvSpPr txBox="1"/>
          <p:nvPr/>
        </p:nvSpPr>
        <p:spPr>
          <a:xfrm>
            <a:off x="7721352" y="4781196"/>
            <a:ext cx="2627993" cy="369332"/>
          </a:xfrm>
          <a:prstGeom prst="rect">
            <a:avLst/>
          </a:prstGeom>
          <a:noFill/>
        </p:spPr>
        <p:txBody>
          <a:bodyPr wrap="square" rtlCol="0">
            <a:spAutoFit/>
          </a:bodyPr>
          <a:lstStyle/>
          <a:p>
            <a:pPr algn="ctr"/>
            <a:r>
              <a:rPr lang="en-US" altLang="zh-CN" dirty="0">
                <a:solidFill>
                  <a:srgbClr val="2980B9"/>
                </a:solidFill>
                <a:ea typeface="微软雅黑"/>
              </a:rPr>
              <a:t>Local Variables</a:t>
            </a:r>
          </a:p>
        </p:txBody>
      </p:sp>
      <p:sp>
        <p:nvSpPr>
          <p:cNvPr id="90" name="任意多边形: 形状 89">
            <a:extLst>
              <a:ext uri="{FF2B5EF4-FFF2-40B4-BE49-F238E27FC236}">
                <a16:creationId xmlns:a16="http://schemas.microsoft.com/office/drawing/2014/main" id="{78943973-A271-4371-B878-B631093A7F68}"/>
              </a:ext>
            </a:extLst>
          </p:cNvPr>
          <p:cNvSpPr/>
          <p:nvPr/>
        </p:nvSpPr>
        <p:spPr>
          <a:xfrm>
            <a:off x="10377889" y="5243714"/>
            <a:ext cx="947451" cy="529125"/>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w="12700" cap="flat" cmpd="sng" algn="ctr">
            <a:solidFill>
              <a:srgbClr val="000000"/>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FC3B561C-BE83-470D-A335-B3D1B42150CD}"/>
              </a:ext>
            </a:extLst>
          </p:cNvPr>
          <p:cNvSpPr txBox="1"/>
          <p:nvPr/>
        </p:nvSpPr>
        <p:spPr>
          <a:xfrm>
            <a:off x="733997" y="4063628"/>
            <a:ext cx="4106882" cy="1435136"/>
          </a:xfrm>
          <a:prstGeom prst="rect">
            <a:avLst/>
          </a:prstGeom>
          <a:noFill/>
        </p:spPr>
        <p:txBody>
          <a:bodyPr wrap="square">
            <a:spAutoFit/>
          </a:bodyPr>
          <a:lstStyle/>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例如：著名的莫裏斯蠕蟲病毒就是利用了缺乏輸入長度檢查的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gets</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7" name="直接连接符 36">
            <a:extLst>
              <a:ext uri="{FF2B5EF4-FFF2-40B4-BE49-F238E27FC236}">
                <a16:creationId xmlns:a16="http://schemas.microsoft.com/office/drawing/2014/main" id="{89C9BE37-0DD7-42BD-B82B-FA68DAA69307}"/>
              </a:ext>
            </a:extLst>
          </p:cNvPr>
          <p:cNvCxnSpPr>
            <a:cxnSpLocks/>
          </p:cNvCxnSpPr>
          <p:nvPr/>
        </p:nvCxnSpPr>
        <p:spPr>
          <a:xfrm>
            <a:off x="6605982" y="5230789"/>
            <a:ext cx="1093671" cy="0"/>
          </a:xfrm>
          <a:prstGeom prst="line">
            <a:avLst/>
          </a:prstGeom>
          <a:noFill/>
          <a:ln w="12700" cap="flat" cmpd="sng" algn="ctr">
            <a:solidFill>
              <a:srgbClr val="0070C0"/>
            </a:solidFill>
            <a:prstDash val="solid"/>
            <a:miter lim="800000"/>
            <a:tailEnd type="triangle"/>
          </a:ln>
          <a:effectLst/>
        </p:spPr>
      </p:cxnSp>
      <p:sp>
        <p:nvSpPr>
          <p:cNvPr id="40" name="矩形 39">
            <a:extLst>
              <a:ext uri="{FF2B5EF4-FFF2-40B4-BE49-F238E27FC236}">
                <a16:creationId xmlns:a16="http://schemas.microsoft.com/office/drawing/2014/main" id="{46BA7831-5109-4A31-8138-2B673B71A8EB}"/>
              </a:ext>
            </a:extLst>
          </p:cNvPr>
          <p:cNvSpPr/>
          <p:nvPr/>
        </p:nvSpPr>
        <p:spPr>
          <a:xfrm>
            <a:off x="7721352" y="5100230"/>
            <a:ext cx="2621372" cy="143484"/>
          </a:xfrm>
          <a:prstGeom prst="rect">
            <a:avLst/>
          </a:prstGeom>
          <a:solidFill>
            <a:schemeClr val="accent3"/>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3" name="矩形 8">
            <a:extLst>
              <a:ext uri="{FF2B5EF4-FFF2-40B4-BE49-F238E27FC236}">
                <a16:creationId xmlns:a16="http://schemas.microsoft.com/office/drawing/2014/main" id="{A5442174-39E7-F6E9-0F8B-EAE54F19CA21}"/>
              </a:ext>
            </a:extLst>
          </p:cNvPr>
          <p:cNvSpPr/>
          <p:nvPr/>
        </p:nvSpPr>
        <p:spPr>
          <a:xfrm>
            <a:off x="568273" y="3935504"/>
            <a:ext cx="4272606" cy="1691384"/>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zh-CN" altLang="en-US" sz="2000" b="1" dirty="0">
              <a:solidFill>
                <a:srgbClr val="C00000"/>
              </a:solidFill>
              <a:latin typeface="Microsoft YaHei" panose="020B0503020204020204" pitchFamily="34" charset="-122"/>
              <a:ea typeface="Microsoft YaHei" panose="020B0503020204020204" pitchFamily="34" charset="-122"/>
            </a:endParaRPr>
          </a:p>
        </p:txBody>
      </p:sp>
      <p:pic>
        <p:nvPicPr>
          <p:cNvPr id="6" name="Picture 5">
            <a:extLst>
              <a:ext uri="{FF2B5EF4-FFF2-40B4-BE49-F238E27FC236}">
                <a16:creationId xmlns:a16="http://schemas.microsoft.com/office/drawing/2014/main" id="{CE9DC4EB-9357-D019-AF33-1B23453D1B6E}"/>
              </a:ext>
            </a:extLst>
          </p:cNvPr>
          <p:cNvPicPr>
            <a:picLocks noChangeAspect="1"/>
          </p:cNvPicPr>
          <p:nvPr/>
        </p:nvPicPr>
        <p:blipFill>
          <a:blip r:embed="rId3"/>
          <a:stretch>
            <a:fillRect/>
          </a:stretch>
        </p:blipFill>
        <p:spPr>
          <a:xfrm>
            <a:off x="6074105" y="1267504"/>
            <a:ext cx="6052808" cy="4753922"/>
          </a:xfrm>
          <a:prstGeom prst="rect">
            <a:avLst/>
          </a:prstGeom>
        </p:spPr>
      </p:pic>
      <p:sp>
        <p:nvSpPr>
          <p:cNvPr id="5" name="Slide Number Placeholder 7">
            <a:extLst>
              <a:ext uri="{FF2B5EF4-FFF2-40B4-BE49-F238E27FC236}">
                <a16:creationId xmlns:a16="http://schemas.microsoft.com/office/drawing/2014/main" id="{6EFFA1A4-898B-E4D8-0ACE-D8208049D17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32</a:t>
            </a:fld>
            <a:endParaRPr lang="zh-CN" altLang="en-US" sz="1200" dirty="0">
              <a:solidFill>
                <a:schemeClr val="tx1">
                  <a:tint val="75000"/>
                </a:schemeClr>
              </a:solidFill>
            </a:endParaRPr>
          </a:p>
        </p:txBody>
      </p:sp>
    </p:spTree>
    <p:extLst>
      <p:ext uri="{BB962C8B-B14F-4D97-AF65-F5344CB8AC3E}">
        <p14:creationId xmlns:p14="http://schemas.microsoft.com/office/powerpoint/2010/main" val="27071529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棧區溢出攻擊</a:t>
            </a:r>
            <a:endParaRPr kumimoji="1" lang="zh-CN" altLang="en-US" dirty="0">
              <a:solidFill>
                <a:schemeClr val="tx1"/>
              </a:solidFill>
            </a:endParaRPr>
          </a:p>
        </p:txBody>
      </p:sp>
      <p:sp>
        <p:nvSpPr>
          <p:cNvPr id="64" name="文本框 14">
            <a:extLst>
              <a:ext uri="{FF2B5EF4-FFF2-40B4-BE49-F238E27FC236}">
                <a16:creationId xmlns:a16="http://schemas.microsoft.com/office/drawing/2014/main" id="{7785197A-7680-4227-B03F-2AEE44C7E028}"/>
              </a:ext>
            </a:extLst>
          </p:cNvPr>
          <p:cNvSpPr txBox="1"/>
          <p:nvPr/>
        </p:nvSpPr>
        <p:spPr>
          <a:xfrm>
            <a:off x="492511" y="1382400"/>
            <a:ext cx="6304679" cy="4205126"/>
          </a:xfrm>
          <a:prstGeom prst="rect">
            <a:avLst/>
          </a:prstGeom>
          <a:noFill/>
        </p:spPr>
        <p:txBody>
          <a:bodyPr wrap="square" rtlCol="0">
            <a:spAutoFit/>
          </a:bodyPr>
          <a:lstStyle/>
          <a:p>
            <a:pPr marL="342900" indent="-342900" algn="just">
              <a:lnSpc>
                <a:spcPts val="3600"/>
              </a:lnSpc>
              <a:buFont typeface="Arial" panose="020B0604020202020204" pitchFamily="34" charset="0"/>
              <a:buChar cha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簡單的棧區溢出示例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：返回至溢出數據</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確定越界訪問變量與返回地址的位置關係</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局部變量存儲于棧區，棧的增長方向向低地址，因而可以從變量地址加正向偏移訪問返回地址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攻擊者構造一個填充輸入，以覆蓋局部變量到返回地址間的內存，幷覆蓋掉返回地址</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 name="Picture 4">
            <a:extLst>
              <a:ext uri="{FF2B5EF4-FFF2-40B4-BE49-F238E27FC236}">
                <a16:creationId xmlns:a16="http://schemas.microsoft.com/office/drawing/2014/main" id="{A03F30F9-F96F-ECA0-E47D-1A61BB594140}"/>
              </a:ext>
            </a:extLst>
          </p:cNvPr>
          <p:cNvPicPr>
            <a:picLocks noChangeAspect="1"/>
          </p:cNvPicPr>
          <p:nvPr/>
        </p:nvPicPr>
        <p:blipFill>
          <a:blip r:embed="rId3"/>
          <a:stretch>
            <a:fillRect/>
          </a:stretch>
        </p:blipFill>
        <p:spPr>
          <a:xfrm>
            <a:off x="7234813" y="1086957"/>
            <a:ext cx="4696291" cy="5044369"/>
          </a:xfrm>
          <a:prstGeom prst="rect">
            <a:avLst/>
          </a:prstGeom>
        </p:spPr>
      </p:pic>
      <p:sp>
        <p:nvSpPr>
          <p:cNvPr id="4" name="Slide Number Placeholder 7">
            <a:extLst>
              <a:ext uri="{FF2B5EF4-FFF2-40B4-BE49-F238E27FC236}">
                <a16:creationId xmlns:a16="http://schemas.microsoft.com/office/drawing/2014/main" id="{C7696561-CAA8-6D7E-E2F2-6B1712B5C1C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33</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905738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382400"/>
            <a:ext cx="6178551" cy="4112793"/>
          </a:xfrm>
          <a:prstGeom prst="rect">
            <a:avLst/>
          </a:prstGeom>
          <a:noFill/>
        </p:spPr>
        <p:txBody>
          <a:bodyPr wrap="square" rtlCol="0">
            <a:spAutoFit/>
          </a:bodyPr>
          <a:lstStyle/>
          <a:p>
            <a:pPr marL="342900" marR="0" lvl="0" indent="-342900" algn="just" fontAlgn="auto">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簡單的棧區溢出示例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：返回至溢出數據</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攻擊者構造一段惡意代碼，幷設置返回地址爲惡意代碼開始的位置，惡意代碼將在函數返回後被執行</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最終構造的惡意的輸入分爲三個部分：</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局部變量到返回地址間的惡意填充</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返回地址的覆蓋值</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惡意的代碼段</a:t>
            </a:r>
          </a:p>
        </p:txBody>
      </p:sp>
      <p:sp>
        <p:nvSpPr>
          <p:cNvPr id="2" name="标题 1">
            <a:extLst>
              <a:ext uri="{FF2B5EF4-FFF2-40B4-BE49-F238E27FC236}">
                <a16:creationId xmlns:a16="http://schemas.microsoft.com/office/drawing/2014/main" id="{80639A23-60B4-40BC-9DF9-F50007B5B88B}"/>
              </a:ext>
            </a:extLst>
          </p:cNvPr>
          <p:cNvSpPr>
            <a:spLocks noGrp="1"/>
          </p:cNvSpPr>
          <p:nvPr>
            <p:ph type="title"/>
          </p:nvPr>
        </p:nvSpPr>
        <p:spPr/>
        <p:txBody>
          <a:bodyPr/>
          <a:lstStyle/>
          <a:p>
            <a:r>
              <a:rPr kumimoji="1" lang="zh-CN" altLang="en-US" dirty="0"/>
              <a:t>棧區溢出攻擊</a:t>
            </a:r>
            <a:endParaRPr lang="zh-CN" altLang="en-US" dirty="0"/>
          </a:p>
        </p:txBody>
      </p:sp>
      <p:sp>
        <p:nvSpPr>
          <p:cNvPr id="44" name="Rounded Rectangle 36">
            <a:extLst>
              <a:ext uri="{FF2B5EF4-FFF2-40B4-BE49-F238E27FC236}">
                <a16:creationId xmlns:a16="http://schemas.microsoft.com/office/drawing/2014/main" id="{22267128-1622-487D-A697-B9F3E89C9012}"/>
              </a:ext>
            </a:extLst>
          </p:cNvPr>
          <p:cNvSpPr/>
          <p:nvPr/>
        </p:nvSpPr>
        <p:spPr>
          <a:xfrm>
            <a:off x="493423" y="5690110"/>
            <a:ext cx="6177639" cy="884643"/>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此外，攻擊者也可以不構造代碼段，僅通過輸入不存在的返回地址讓程序崩潰</a:t>
            </a:r>
          </a:p>
        </p:txBody>
      </p:sp>
      <p:pic>
        <p:nvPicPr>
          <p:cNvPr id="5" name="Picture 4">
            <a:extLst>
              <a:ext uri="{FF2B5EF4-FFF2-40B4-BE49-F238E27FC236}">
                <a16:creationId xmlns:a16="http://schemas.microsoft.com/office/drawing/2014/main" id="{D5E0CD48-5369-F92E-9825-6418B9C610F0}"/>
              </a:ext>
            </a:extLst>
          </p:cNvPr>
          <p:cNvPicPr>
            <a:picLocks noChangeAspect="1"/>
          </p:cNvPicPr>
          <p:nvPr/>
        </p:nvPicPr>
        <p:blipFill>
          <a:blip r:embed="rId3"/>
          <a:stretch>
            <a:fillRect/>
          </a:stretch>
        </p:blipFill>
        <p:spPr>
          <a:xfrm>
            <a:off x="7082674" y="1307123"/>
            <a:ext cx="4615903" cy="4958023"/>
          </a:xfrm>
          <a:prstGeom prst="rect">
            <a:avLst/>
          </a:prstGeom>
        </p:spPr>
      </p:pic>
      <p:sp>
        <p:nvSpPr>
          <p:cNvPr id="4" name="Slide Number Placeholder 7">
            <a:extLst>
              <a:ext uri="{FF2B5EF4-FFF2-40B4-BE49-F238E27FC236}">
                <a16:creationId xmlns:a16="http://schemas.microsoft.com/office/drawing/2014/main" id="{66A4CB26-1202-6FAB-C97F-3578CEF799A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34</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837864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382400"/>
            <a:ext cx="5971351" cy="3281796"/>
          </a:xfrm>
          <a:prstGeom prst="rect">
            <a:avLst/>
          </a:prstGeom>
          <a:noFill/>
        </p:spPr>
        <p:txBody>
          <a:bodyPr wrap="square" rtlCol="0">
            <a:spAutoFit/>
          </a:bodyPr>
          <a:lstStyle/>
          <a:p>
            <a:pPr marL="342900" marR="0" lvl="0" indent="-342900" algn="just" fontAlgn="auto">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簡單的棧區溢出示例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：返回至庫函數</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在這個示例當中，攻擊者希望進程調用某一動態鏈接庫當中的庫函數</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假設攻擊者希望調用</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libc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函數，幷傳遞參數爲‘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/bin/</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進而</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獲取</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操作系統的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shell</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，執行</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任意指令</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D0D6A420-38FA-49F8-BFA1-C69A037B84FD}"/>
              </a:ext>
            </a:extLst>
          </p:cNvPr>
          <p:cNvSpPr>
            <a:spLocks noGrp="1"/>
          </p:cNvSpPr>
          <p:nvPr>
            <p:ph type="title"/>
          </p:nvPr>
        </p:nvSpPr>
        <p:spPr/>
        <p:txBody>
          <a:bodyPr/>
          <a:lstStyle/>
          <a:p>
            <a:r>
              <a:rPr kumimoji="1" lang="zh-CN" altLang="en-US" dirty="0"/>
              <a:t>棧區溢出攻擊</a:t>
            </a:r>
            <a:endParaRPr lang="zh-CN" altLang="en-US" dirty="0"/>
          </a:p>
        </p:txBody>
      </p:sp>
      <p:cxnSp>
        <p:nvCxnSpPr>
          <p:cNvPr id="41" name="直接连接符 40">
            <a:extLst>
              <a:ext uri="{FF2B5EF4-FFF2-40B4-BE49-F238E27FC236}">
                <a16:creationId xmlns:a16="http://schemas.microsoft.com/office/drawing/2014/main" id="{FE47D738-AB59-4299-94C7-4DECE2109B8C}"/>
              </a:ext>
            </a:extLst>
          </p:cNvPr>
          <p:cNvCxnSpPr>
            <a:cxnSpLocks/>
          </p:cNvCxnSpPr>
          <p:nvPr/>
        </p:nvCxnSpPr>
        <p:spPr>
          <a:xfrm>
            <a:off x="561975" y="6223861"/>
            <a:ext cx="5472000" cy="0"/>
          </a:xfrm>
          <a:prstGeom prst="line">
            <a:avLst/>
          </a:prstGeom>
          <a:noFill/>
          <a:ln w="12700" cap="flat" cmpd="sng" algn="ctr">
            <a:solidFill>
              <a:srgbClr val="000000"/>
            </a:solidFill>
            <a:prstDash val="solid"/>
            <a:miter lim="800000"/>
          </a:ln>
          <a:effectLst/>
        </p:spPr>
      </p:cxnSp>
      <p:sp>
        <p:nvSpPr>
          <p:cNvPr id="46" name="文本框 14">
            <a:extLst>
              <a:ext uri="{FF2B5EF4-FFF2-40B4-BE49-F238E27FC236}">
                <a16:creationId xmlns:a16="http://schemas.microsoft.com/office/drawing/2014/main" id="{EEC1ED03-59DE-405D-81A5-2E8C3DD0EE20}"/>
              </a:ext>
            </a:extLst>
          </p:cNvPr>
          <p:cNvSpPr txBox="1"/>
          <p:nvPr/>
        </p:nvSpPr>
        <p:spPr>
          <a:xfrm>
            <a:off x="561975" y="6235648"/>
            <a:ext cx="5472000" cy="307777"/>
          </a:xfrm>
          <a:prstGeom prst="rect">
            <a:avLst/>
          </a:prstGeom>
          <a:noFill/>
        </p:spPr>
        <p:txBody>
          <a:bodyPr wrap="square" rtlCol="0">
            <a:spAutoFit/>
          </a:bodyPr>
          <a:lstStyle/>
          <a:p>
            <a:pPr algn="just"/>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假設內存映射段當中存在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a:t>
            </a:r>
          </a:p>
        </p:txBody>
      </p:sp>
      <p:sp>
        <p:nvSpPr>
          <p:cNvPr id="52" name="矩形 51">
            <a:extLst>
              <a:ext uri="{FF2B5EF4-FFF2-40B4-BE49-F238E27FC236}">
                <a16:creationId xmlns:a16="http://schemas.microsoft.com/office/drawing/2014/main" id="{DD7D2106-E219-40F0-B2EC-A5A5D7C20ED9}"/>
              </a:ext>
            </a:extLst>
          </p:cNvPr>
          <p:cNvSpPr>
            <a:spLocks/>
          </p:cNvSpPr>
          <p:nvPr/>
        </p:nvSpPr>
        <p:spPr bwMode="auto">
          <a:xfrm>
            <a:off x="561975" y="4831428"/>
            <a:ext cx="5663509" cy="1085557"/>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53" name="文本框 52">
            <a:extLst>
              <a:ext uri="{FF2B5EF4-FFF2-40B4-BE49-F238E27FC236}">
                <a16:creationId xmlns:a16="http://schemas.microsoft.com/office/drawing/2014/main" id="{BCFFA707-93A8-4596-BA47-523FAB7316A2}"/>
              </a:ext>
            </a:extLst>
          </p:cNvPr>
          <p:cNvSpPr txBox="1"/>
          <p:nvPr/>
        </p:nvSpPr>
        <p:spPr>
          <a:xfrm>
            <a:off x="844146" y="4905466"/>
            <a:ext cx="4905596" cy="941155"/>
          </a:xfrm>
          <a:prstGeom prst="rect">
            <a:avLst/>
          </a:prstGeom>
          <a:noFill/>
        </p:spPr>
        <p:txBody>
          <a:bodyPr wrap="square" rtlCol="0">
            <a:spAutoFit/>
          </a:bodyPr>
          <a:lstStyle/>
          <a:p>
            <a:pPr algn="ctr">
              <a:lnSpc>
                <a:spcPct val="120000"/>
              </a:lnSpc>
              <a:spcAft>
                <a:spcPts val="600"/>
              </a:spcAft>
            </a:pP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攻擊者應該如何傳遞函數調用的參數？</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Picture 6">
            <a:extLst>
              <a:ext uri="{FF2B5EF4-FFF2-40B4-BE49-F238E27FC236}">
                <a16:creationId xmlns:a16="http://schemas.microsoft.com/office/drawing/2014/main" id="{E0D92512-01E9-0C97-2365-6EDDB1A53414}"/>
              </a:ext>
            </a:extLst>
          </p:cNvPr>
          <p:cNvPicPr>
            <a:picLocks noChangeAspect="1"/>
          </p:cNvPicPr>
          <p:nvPr/>
        </p:nvPicPr>
        <p:blipFill>
          <a:blip r:embed="rId3"/>
          <a:stretch>
            <a:fillRect/>
          </a:stretch>
        </p:blipFill>
        <p:spPr>
          <a:xfrm>
            <a:off x="6712298" y="1723412"/>
            <a:ext cx="5269385" cy="3652456"/>
          </a:xfrm>
          <a:prstGeom prst="rect">
            <a:avLst/>
          </a:prstGeom>
        </p:spPr>
      </p:pic>
      <p:sp>
        <p:nvSpPr>
          <p:cNvPr id="4" name="Slide Number Placeholder 7">
            <a:extLst>
              <a:ext uri="{FF2B5EF4-FFF2-40B4-BE49-F238E27FC236}">
                <a16:creationId xmlns:a16="http://schemas.microsoft.com/office/drawing/2014/main" id="{427734B0-D64F-6C3C-B719-AB8AC1A06AE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35</a:t>
            </a:fld>
            <a:endParaRPr lang="zh-CN" altLang="en-US" sz="1200" dirty="0">
              <a:solidFill>
                <a:schemeClr val="tx1">
                  <a:tint val="75000"/>
                </a:schemeClr>
              </a:solidFill>
            </a:endParaRPr>
          </a:p>
        </p:txBody>
      </p:sp>
    </p:spTree>
    <p:extLst>
      <p:ext uri="{BB962C8B-B14F-4D97-AF65-F5344CB8AC3E}">
        <p14:creationId xmlns:p14="http://schemas.microsoft.com/office/powerpoint/2010/main" val="498226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2" y="1382400"/>
            <a:ext cx="5890270" cy="511807"/>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簡單的棧區溢出示例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：返回至庫函數</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72" name="直接连接符 71">
            <a:extLst>
              <a:ext uri="{FF2B5EF4-FFF2-40B4-BE49-F238E27FC236}">
                <a16:creationId xmlns:a16="http://schemas.microsoft.com/office/drawing/2014/main" id="{A489DC1D-F42B-424A-A27D-8323E998EEC3}"/>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14">
            <a:extLst>
              <a:ext uri="{FF2B5EF4-FFF2-40B4-BE49-F238E27FC236}">
                <a16:creationId xmlns:a16="http://schemas.microsoft.com/office/drawing/2014/main" id="{515D74FF-F4A6-434B-B7A8-169C66B31D76}"/>
              </a:ext>
            </a:extLst>
          </p:cNvPr>
          <p:cNvSpPr txBox="1"/>
          <p:nvPr/>
        </p:nvSpPr>
        <p:spPr>
          <a:xfrm>
            <a:off x="561975" y="6235648"/>
            <a:ext cx="7028648"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靠上的</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padding payload 2</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的作用是填充返回地址的位置，</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相當于惡意</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調用</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後的</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返回地址</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标题 2">
            <a:extLst>
              <a:ext uri="{FF2B5EF4-FFF2-40B4-BE49-F238E27FC236}">
                <a16:creationId xmlns:a16="http://schemas.microsoft.com/office/drawing/2014/main" id="{30E902D8-25E7-4D97-A2AD-F82BA500C6F1}"/>
              </a:ext>
            </a:extLst>
          </p:cNvPr>
          <p:cNvSpPr>
            <a:spLocks noGrp="1"/>
          </p:cNvSpPr>
          <p:nvPr>
            <p:ph type="title"/>
          </p:nvPr>
        </p:nvSpPr>
        <p:spPr/>
        <p:txBody>
          <a:bodyPr/>
          <a:lstStyle/>
          <a:p>
            <a:r>
              <a:rPr kumimoji="1" lang="zh-CN" altLang="en-US" dirty="0"/>
              <a:t>棧區溢出攻擊</a:t>
            </a:r>
            <a:endParaRPr lang="zh-CN" altLang="en-US" dirty="0"/>
          </a:p>
        </p:txBody>
      </p:sp>
      <p:sp>
        <p:nvSpPr>
          <p:cNvPr id="38" name="矩形 37">
            <a:extLst>
              <a:ext uri="{FF2B5EF4-FFF2-40B4-BE49-F238E27FC236}">
                <a16:creationId xmlns:a16="http://schemas.microsoft.com/office/drawing/2014/main" id="{B79319B7-CDB6-4528-B609-FDEFB83649BE}"/>
              </a:ext>
            </a:extLst>
          </p:cNvPr>
          <p:cNvSpPr>
            <a:spLocks/>
          </p:cNvSpPr>
          <p:nvPr/>
        </p:nvSpPr>
        <p:spPr bwMode="auto">
          <a:xfrm>
            <a:off x="600801" y="2015633"/>
            <a:ext cx="5663509" cy="1085557"/>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39" name="文本框 38">
            <a:extLst>
              <a:ext uri="{FF2B5EF4-FFF2-40B4-BE49-F238E27FC236}">
                <a16:creationId xmlns:a16="http://schemas.microsoft.com/office/drawing/2014/main" id="{052E62A6-82F0-4048-8C0C-6F9915D0C0D4}"/>
              </a:ext>
            </a:extLst>
          </p:cNvPr>
          <p:cNvSpPr txBox="1"/>
          <p:nvPr/>
        </p:nvSpPr>
        <p:spPr>
          <a:xfrm>
            <a:off x="882972" y="2089671"/>
            <a:ext cx="4905596"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攻擊者在受害進程的棧區僞造</a:t>
            </a: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一個</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棧幀的邊界</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4" name="文本框 14">
            <a:extLst>
              <a:ext uri="{FF2B5EF4-FFF2-40B4-BE49-F238E27FC236}">
                <a16:creationId xmlns:a16="http://schemas.microsoft.com/office/drawing/2014/main" id="{3B3DDBF1-C39B-4B50-91C8-3FD793C79C4A}"/>
              </a:ext>
            </a:extLst>
          </p:cNvPr>
          <p:cNvSpPr txBox="1"/>
          <p:nvPr/>
        </p:nvSpPr>
        <p:spPr>
          <a:xfrm>
            <a:off x="561975" y="3462259"/>
            <a:ext cx="5890270" cy="2358466"/>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總體來說，攻擊者在惡意輸入當中構造了一個函數調用時的內存結構；</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當進程返回時到</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函數當中執行，</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函數在高地址當中找到僞造的函數參數，完成</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惡意</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的函數調用過程</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1149C2DC-939F-10B5-5ACC-0B04A0489A7F}"/>
              </a:ext>
            </a:extLst>
          </p:cNvPr>
          <p:cNvPicPr>
            <a:picLocks noChangeAspect="1"/>
          </p:cNvPicPr>
          <p:nvPr/>
        </p:nvPicPr>
        <p:blipFill>
          <a:blip r:embed="rId3"/>
          <a:stretch>
            <a:fillRect/>
          </a:stretch>
        </p:blipFill>
        <p:spPr>
          <a:xfrm>
            <a:off x="6734416" y="1864330"/>
            <a:ext cx="5111141" cy="3542769"/>
          </a:xfrm>
          <a:prstGeom prst="rect">
            <a:avLst/>
          </a:prstGeom>
        </p:spPr>
      </p:pic>
      <p:sp>
        <p:nvSpPr>
          <p:cNvPr id="2" name="Slide Number Placeholder 7">
            <a:extLst>
              <a:ext uri="{FF2B5EF4-FFF2-40B4-BE49-F238E27FC236}">
                <a16:creationId xmlns:a16="http://schemas.microsoft.com/office/drawing/2014/main" id="{CC00E5F8-9DDB-22CB-676B-59F92DF4546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36</a:t>
            </a:fld>
            <a:endParaRPr lang="zh-CN" altLang="en-US" sz="1200" dirty="0">
              <a:solidFill>
                <a:schemeClr val="tx1">
                  <a:tint val="75000"/>
                </a:schemeClr>
              </a:solidFill>
            </a:endParaRPr>
          </a:p>
        </p:txBody>
      </p:sp>
    </p:spTree>
    <p:extLst>
      <p:ext uri="{BB962C8B-B14F-4D97-AF65-F5344CB8AC3E}">
        <p14:creationId xmlns:p14="http://schemas.microsoft.com/office/powerpoint/2010/main" val="1519318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4">
            <a:extLst>
              <a:ext uri="{FF2B5EF4-FFF2-40B4-BE49-F238E27FC236}">
                <a16:creationId xmlns:a16="http://schemas.microsoft.com/office/drawing/2014/main" id="{8C95B694-109C-A72E-3031-9AEA768702EC}"/>
              </a:ext>
            </a:extLst>
          </p:cNvPr>
          <p:cNvSpPr>
            <a:spLocks/>
          </p:cNvSpPr>
          <p:nvPr/>
        </p:nvSpPr>
        <p:spPr bwMode="auto">
          <a:xfrm>
            <a:off x="517577" y="2657153"/>
            <a:ext cx="11133432" cy="159330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517578" y="1822554"/>
            <a:ext cx="11133431" cy="3743461"/>
          </a:xfrm>
          <a:prstGeom prst="rect">
            <a:avLst/>
          </a:prstGeom>
          <a:noFill/>
        </p:spPr>
        <p:txBody>
          <a:bodyPr wrap="square" rtlCol="0">
            <a:spAutoFit/>
          </a:bodyPr>
          <a:lstStyle/>
          <a:p>
            <a:pPr marL="342900" marR="0" lvl="0" indent="-342900" algn="just" fontAlgn="auto">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以上簡單的棧溢出攻擊的局限性</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1" lang="en-US" altLang="zh-CN" sz="2400" b="0" i="0" u="none" strike="noStrike" kern="1200" cap="none" spc="0" normalizeH="0" baseline="0" noProof="0" dirty="0">
                <a:ln>
                  <a:noFill/>
                </a:ln>
                <a:solidFill>
                  <a:srgbClr val="16A085"/>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棧區溢出攻擊是被最廣泛使用的控制流劫持手段，我們將在第三節當中詳細討論</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以棧溢出爲基礎</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的複雜進程控制流劫持</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方案</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，幷繞過基礎操作系統防禦機制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70874E8-47F0-4813-9F11-43CFCDE48140}"/>
              </a:ext>
            </a:extLst>
          </p:cNvPr>
          <p:cNvSpPr>
            <a:spLocks noGrp="1"/>
          </p:cNvSpPr>
          <p:nvPr>
            <p:ph type="title"/>
          </p:nvPr>
        </p:nvSpPr>
        <p:spPr/>
        <p:txBody>
          <a:bodyPr/>
          <a:lstStyle/>
          <a:p>
            <a:r>
              <a:rPr kumimoji="1" lang="zh-CN" altLang="en-US" dirty="0"/>
              <a:t>棧區溢出攻擊總結</a:t>
            </a:r>
            <a:endParaRPr lang="zh-CN" altLang="en-US" dirty="0"/>
          </a:p>
        </p:txBody>
      </p:sp>
      <p:sp>
        <p:nvSpPr>
          <p:cNvPr id="7" name="文本框 6">
            <a:extLst>
              <a:ext uri="{FF2B5EF4-FFF2-40B4-BE49-F238E27FC236}">
                <a16:creationId xmlns:a16="http://schemas.microsoft.com/office/drawing/2014/main" id="{B70D0052-2492-4738-B1B9-BAA46F574960}"/>
              </a:ext>
            </a:extLst>
          </p:cNvPr>
          <p:cNvSpPr txBox="1"/>
          <p:nvPr/>
        </p:nvSpPr>
        <p:spPr>
          <a:xfrm>
            <a:off x="654208" y="2710275"/>
            <a:ext cx="10860173" cy="1435136"/>
          </a:xfrm>
          <a:prstGeom prst="rect">
            <a:avLst/>
          </a:prstGeom>
          <a:noFill/>
        </p:spPr>
        <p:txBody>
          <a:bodyPr wrap="square">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以上簡單的棧溢出攻擊在現實操作系統環境下幾乎無法成功；爲防禦棧區溢出，已有諸多內存級別的保護機制，例如</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DEP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等將在第二節當中介紹</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CFAC9292-16DE-F5B7-C479-E30D0A0CA7A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37</a:t>
            </a:fld>
            <a:endParaRPr lang="zh-CN" altLang="en-US" sz="1200" dirty="0">
              <a:solidFill>
                <a:schemeClr val="tx1">
                  <a:tint val="75000"/>
                </a:schemeClr>
              </a:solidFill>
            </a:endParaRPr>
          </a:p>
        </p:txBody>
      </p:sp>
    </p:spTree>
    <p:extLst>
      <p:ext uri="{BB962C8B-B14F-4D97-AF65-F5344CB8AC3E}">
        <p14:creationId xmlns:p14="http://schemas.microsoft.com/office/powerpoint/2010/main" val="1030154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60008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573234"/>
            <a:ext cx="3789820"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1.1 </a:t>
            </a:r>
            <a:r>
              <a:rPr lang="zh-CN" altLang="en-US" sz="2400" dirty="0">
                <a:latin typeface="Microsoft YaHei" panose="020B0503020204020204" pitchFamily="34" charset="-122"/>
                <a:ea typeface="Microsoft YaHei" panose="020B0503020204020204" pitchFamily="34" charset="-122"/>
              </a:rPr>
              <a:t>操作系統內存管理基礎</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243056"/>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219410"/>
            <a:ext cx="3546164"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1.2 </a:t>
            </a:r>
            <a:r>
              <a:rPr lang="zh-CN" altLang="en-US" sz="2400" dirty="0">
                <a:latin typeface="Microsoft YaHei" panose="020B0503020204020204" pitchFamily="34" charset="-122"/>
                <a:ea typeface="Microsoft YaHei" panose="020B0503020204020204" pitchFamily="34" charset="-122"/>
              </a:rPr>
              <a:t>基礎的棧區攻擊方案</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4921202"/>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4900756"/>
            <a:ext cx="3546164" cy="461665"/>
          </a:xfrm>
          <a:prstGeom prst="rect">
            <a:avLst/>
          </a:prstGeom>
          <a:noFill/>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1.3 </a:t>
            </a:r>
            <a:r>
              <a:rPr lang="zh-CN" altLang="en-US" sz="2400" b="1" dirty="0">
                <a:solidFill>
                  <a:srgbClr val="C00000"/>
                </a:solidFill>
                <a:latin typeface="Microsoft YaHei" panose="020B0503020204020204" pitchFamily="34" charset="-122"/>
                <a:ea typeface="Microsoft YaHei" panose="020B0503020204020204" pitchFamily="34" charset="-122"/>
              </a:rPr>
              <a:t>基礎的堆區攻擊方案</a:t>
            </a:r>
          </a:p>
        </p:txBody>
      </p:sp>
      <p:sp>
        <p:nvSpPr>
          <p:cNvPr id="31" name="矩形 30">
            <a:extLst>
              <a:ext uri="{FF2B5EF4-FFF2-40B4-BE49-F238E27FC236}">
                <a16:creationId xmlns:a16="http://schemas.microsoft.com/office/drawing/2014/main" id="{1BDB0F87-2D75-4A4B-851D-856E1A323F75}"/>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2" name="矩形 31">
            <a:extLst>
              <a:ext uri="{FF2B5EF4-FFF2-40B4-BE49-F238E27FC236}">
                <a16:creationId xmlns:a16="http://schemas.microsoft.com/office/drawing/2014/main" id="{11517EE3-A944-4305-B8E1-14CCF0C1A302}"/>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3" name="矩形 32">
            <a:extLst>
              <a:ext uri="{FF2B5EF4-FFF2-40B4-BE49-F238E27FC236}">
                <a16:creationId xmlns:a16="http://schemas.microsoft.com/office/drawing/2014/main" id="{26643AF7-6316-4AC8-9923-F218B1A01E58}"/>
              </a:ext>
            </a:extLst>
          </p:cNvPr>
          <p:cNvSpPr/>
          <p:nvPr/>
        </p:nvSpPr>
        <p:spPr>
          <a:xfrm>
            <a:off x="4711535" y="2072918"/>
            <a:ext cx="6689652" cy="707886"/>
          </a:xfrm>
          <a:prstGeom prst="rect">
            <a:avLst/>
          </a:prstGeom>
        </p:spPr>
        <p:txBody>
          <a:bodyPr wrap="none">
            <a:spAutoFit/>
          </a:bodyPr>
          <a:lstStyle/>
          <a:p>
            <a:pPr>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1</a:t>
            </a:r>
            <a:r>
              <a:rPr lang="zh-CN" altLang="en-US" sz="4000" b="1" kern="100" dirty="0">
                <a:solidFill>
                  <a:prstClr val="white"/>
                </a:solidFill>
                <a:latin typeface="微软雅黑 Light"/>
                <a:ea typeface="微软雅黑 Light"/>
                <a:cs typeface="Times New Roman" panose="02020603050405020304" pitchFamily="18" charset="0"/>
              </a:rPr>
              <a:t>節 操作系統基礎攻擊方案</a:t>
            </a:r>
          </a:p>
        </p:txBody>
      </p:sp>
      <p:pic>
        <p:nvPicPr>
          <p:cNvPr id="34" name="图片 33">
            <a:extLst>
              <a:ext uri="{FF2B5EF4-FFF2-40B4-BE49-F238E27FC236}">
                <a16:creationId xmlns:a16="http://schemas.microsoft.com/office/drawing/2014/main" id="{80A1BA1D-17BB-4B07-95A1-732C44844A03}"/>
              </a:ext>
            </a:extLst>
          </p:cNvPr>
          <p:cNvPicPr>
            <a:picLocks noChangeAspect="1"/>
          </p:cNvPicPr>
          <p:nvPr/>
        </p:nvPicPr>
        <p:blipFill>
          <a:blip r:embed="rId3"/>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5" name="Footer Placeholder 4">
            <a:extLst>
              <a:ext uri="{FF2B5EF4-FFF2-40B4-BE49-F238E27FC236}">
                <a16:creationId xmlns:a16="http://schemas.microsoft.com/office/drawing/2014/main" id="{FF2DDDC4-1F40-0239-788B-5E3FD14719F4}"/>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67288EE3-E498-00FC-0FBE-D0350B11F1E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38</a:t>
            </a:fld>
            <a:endParaRPr lang="zh-CN" altLang="en-US" sz="1200" dirty="0">
              <a:solidFill>
                <a:schemeClr val="tx1">
                  <a:tint val="75000"/>
                </a:schemeClr>
              </a:solidFill>
            </a:endParaRPr>
          </a:p>
        </p:txBody>
      </p:sp>
    </p:spTree>
    <p:extLst>
      <p:ext uri="{BB962C8B-B14F-4D97-AF65-F5344CB8AC3E}">
        <p14:creationId xmlns:p14="http://schemas.microsoft.com/office/powerpoint/2010/main" val="35151656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3316719"/>
            <a:ext cx="6768901" cy="2365519"/>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堆區是程序虛擬地址空間的一塊連續的綫性區域，它由低地址向高地址方向增長</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我們一般稱管理內存堆區的程序爲</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堆管理器</a:t>
            </a:r>
            <a:endPar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稱堆管理器分配的最小內存單元爲</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堆塊（</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zh-CN" altLang="en-US" sz="2800" b="1" i="0" u="none" strike="noStrike" kern="1200" cap="none" spc="0" normalizeH="0" baseline="0" noProof="0" dirty="0">
              <a:ln>
                <a:noFill/>
              </a:ln>
              <a:solidFill>
                <a:srgbClr val="C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4666A298-6149-442C-8BD5-77BCB607F587}"/>
              </a:ext>
            </a:extLst>
          </p:cNvPr>
          <p:cNvSpPr>
            <a:spLocks noGrp="1"/>
          </p:cNvSpPr>
          <p:nvPr>
            <p:ph type="title"/>
          </p:nvPr>
        </p:nvSpPr>
        <p:spPr/>
        <p:txBody>
          <a:bodyPr>
            <a:normAutofit/>
          </a:bodyPr>
          <a:lstStyle/>
          <a:p>
            <a:r>
              <a:rPr lang="zh-CN" altLang="en-US" dirty="0"/>
              <a:t>正常工作的堆管理器</a:t>
            </a:r>
          </a:p>
        </p:txBody>
      </p:sp>
      <p:sp>
        <p:nvSpPr>
          <p:cNvPr id="45" name="矩形 44">
            <a:extLst>
              <a:ext uri="{FF2B5EF4-FFF2-40B4-BE49-F238E27FC236}">
                <a16:creationId xmlns:a16="http://schemas.microsoft.com/office/drawing/2014/main" id="{46703ECB-B07D-4680-AF68-529723573807}"/>
              </a:ext>
            </a:extLst>
          </p:cNvPr>
          <p:cNvSpPr/>
          <p:nvPr/>
        </p:nvSpPr>
        <p:spPr>
          <a:xfrm>
            <a:off x="8000462" y="1206786"/>
            <a:ext cx="2011487" cy="4430673"/>
          </a:xfrm>
          <a:prstGeom prst="rect">
            <a:avLst/>
          </a:prstGeom>
          <a:no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46" name="直接连接符 45">
            <a:extLst>
              <a:ext uri="{FF2B5EF4-FFF2-40B4-BE49-F238E27FC236}">
                <a16:creationId xmlns:a16="http://schemas.microsoft.com/office/drawing/2014/main" id="{7D844EE3-E0BF-4432-9BAA-F37A92D22960}"/>
              </a:ext>
            </a:extLst>
          </p:cNvPr>
          <p:cNvCxnSpPr/>
          <p:nvPr/>
        </p:nvCxnSpPr>
        <p:spPr>
          <a:xfrm>
            <a:off x="7996420" y="1942091"/>
            <a:ext cx="2016000" cy="0"/>
          </a:xfrm>
          <a:prstGeom prst="line">
            <a:avLst/>
          </a:prstGeom>
          <a:noFill/>
          <a:ln w="12700" cap="flat" cmpd="sng" algn="ctr">
            <a:solidFill>
              <a:srgbClr val="000000"/>
            </a:solidFill>
            <a:prstDash val="solid"/>
            <a:miter lim="800000"/>
          </a:ln>
          <a:effectLst/>
        </p:spPr>
      </p:cxnSp>
      <p:sp>
        <p:nvSpPr>
          <p:cNvPr id="47" name="文本框 46">
            <a:extLst>
              <a:ext uri="{FF2B5EF4-FFF2-40B4-BE49-F238E27FC236}">
                <a16:creationId xmlns:a16="http://schemas.microsoft.com/office/drawing/2014/main" id="{DD97BA8E-D180-4B35-B5FF-6E9B4F39CD0B}"/>
              </a:ext>
            </a:extLst>
          </p:cNvPr>
          <p:cNvSpPr txBox="1"/>
          <p:nvPr/>
        </p:nvSpPr>
        <p:spPr>
          <a:xfrm>
            <a:off x="7992653" y="1383491"/>
            <a:ext cx="2011487" cy="369332"/>
          </a:xfrm>
          <a:prstGeom prst="rect">
            <a:avLst/>
          </a:prstGeom>
          <a:noFill/>
        </p:spPr>
        <p:txBody>
          <a:bodyPr wrap="square" rtlCol="0">
            <a:spAutoFit/>
          </a:bodyPr>
          <a:lstStyle/>
          <a:p>
            <a:pPr algn="ctr"/>
            <a:r>
              <a:rPr lang="en-US" altLang="zh-CN" dirty="0">
                <a:solidFill>
                  <a:srgbClr val="C00000"/>
                </a:solidFill>
                <a:ea typeface="微软雅黑"/>
              </a:rPr>
              <a:t>Kernel Space 1G</a:t>
            </a:r>
            <a:endParaRPr lang="zh-CN" altLang="en-US" dirty="0">
              <a:solidFill>
                <a:srgbClr val="C00000"/>
              </a:solidFill>
              <a:ea typeface="微软雅黑"/>
            </a:endParaRPr>
          </a:p>
        </p:txBody>
      </p:sp>
      <p:sp>
        <p:nvSpPr>
          <p:cNvPr id="48" name="文本框 47">
            <a:extLst>
              <a:ext uri="{FF2B5EF4-FFF2-40B4-BE49-F238E27FC236}">
                <a16:creationId xmlns:a16="http://schemas.microsoft.com/office/drawing/2014/main" id="{115F1BA2-3CEF-4E0E-A5C7-978E16FBE2F4}"/>
              </a:ext>
            </a:extLst>
          </p:cNvPr>
          <p:cNvSpPr txBox="1"/>
          <p:nvPr/>
        </p:nvSpPr>
        <p:spPr>
          <a:xfrm>
            <a:off x="8023888" y="5135221"/>
            <a:ext cx="1995870" cy="369332"/>
          </a:xfrm>
          <a:prstGeom prst="rect">
            <a:avLst/>
          </a:prstGeom>
          <a:noFill/>
        </p:spPr>
        <p:txBody>
          <a:bodyPr wrap="square" rtlCol="0">
            <a:spAutoFit/>
          </a:bodyPr>
          <a:lstStyle/>
          <a:p>
            <a:pPr algn="ctr"/>
            <a:r>
              <a:rPr lang="en-US" altLang="zh-CN" dirty="0">
                <a:solidFill>
                  <a:srgbClr val="000000"/>
                </a:solidFill>
                <a:ea typeface="微软雅黑"/>
              </a:rPr>
              <a:t>Text Segment</a:t>
            </a:r>
            <a:endParaRPr lang="zh-CN" altLang="en-US" dirty="0">
              <a:solidFill>
                <a:srgbClr val="000000"/>
              </a:solidFill>
              <a:ea typeface="微软雅黑"/>
            </a:endParaRPr>
          </a:p>
        </p:txBody>
      </p:sp>
      <p:sp>
        <p:nvSpPr>
          <p:cNvPr id="49" name="文本框 48">
            <a:extLst>
              <a:ext uri="{FF2B5EF4-FFF2-40B4-BE49-F238E27FC236}">
                <a16:creationId xmlns:a16="http://schemas.microsoft.com/office/drawing/2014/main" id="{F699EDB3-8208-4594-8148-89414703C162}"/>
              </a:ext>
            </a:extLst>
          </p:cNvPr>
          <p:cNvSpPr txBox="1"/>
          <p:nvPr/>
        </p:nvSpPr>
        <p:spPr>
          <a:xfrm>
            <a:off x="10015991" y="1024241"/>
            <a:ext cx="1563973" cy="369332"/>
          </a:xfrm>
          <a:prstGeom prst="rect">
            <a:avLst/>
          </a:prstGeom>
          <a:noFill/>
        </p:spPr>
        <p:txBody>
          <a:bodyPr wrap="square" rtlCol="0">
            <a:spAutoFit/>
          </a:bodyPr>
          <a:lstStyle/>
          <a:p>
            <a:r>
              <a:rPr lang="en-US" altLang="zh-CN" dirty="0">
                <a:solidFill>
                  <a:srgbClr val="000000"/>
                </a:solidFill>
                <a:ea typeface="微软雅黑"/>
              </a:rPr>
              <a:t>0xFFFFFFFF</a:t>
            </a:r>
            <a:endParaRPr lang="zh-CN" altLang="en-US" dirty="0">
              <a:solidFill>
                <a:srgbClr val="000000"/>
              </a:solidFill>
              <a:ea typeface="微软雅黑"/>
            </a:endParaRPr>
          </a:p>
        </p:txBody>
      </p:sp>
      <p:sp>
        <p:nvSpPr>
          <p:cNvPr id="50" name="文本框 49">
            <a:extLst>
              <a:ext uri="{FF2B5EF4-FFF2-40B4-BE49-F238E27FC236}">
                <a16:creationId xmlns:a16="http://schemas.microsoft.com/office/drawing/2014/main" id="{3C703870-7458-4227-BDEF-21736EBCE837}"/>
              </a:ext>
            </a:extLst>
          </p:cNvPr>
          <p:cNvSpPr txBox="1"/>
          <p:nvPr/>
        </p:nvSpPr>
        <p:spPr>
          <a:xfrm>
            <a:off x="10122117" y="1752823"/>
            <a:ext cx="1563973" cy="369332"/>
          </a:xfrm>
          <a:prstGeom prst="rect">
            <a:avLst/>
          </a:prstGeom>
          <a:noFill/>
        </p:spPr>
        <p:txBody>
          <a:bodyPr wrap="square" rtlCol="0">
            <a:spAutoFit/>
          </a:bodyPr>
          <a:lstStyle/>
          <a:p>
            <a:r>
              <a:rPr lang="en-US" altLang="zh-CN" dirty="0">
                <a:solidFill>
                  <a:srgbClr val="000000"/>
                </a:solidFill>
                <a:ea typeface="微软雅黑"/>
              </a:rPr>
              <a:t>0xC0000000</a:t>
            </a:r>
            <a:endParaRPr lang="zh-CN" altLang="en-US" dirty="0">
              <a:solidFill>
                <a:srgbClr val="000000"/>
              </a:solidFill>
              <a:ea typeface="微软雅黑"/>
            </a:endParaRPr>
          </a:p>
        </p:txBody>
      </p:sp>
      <p:sp>
        <p:nvSpPr>
          <p:cNvPr id="51" name="文本框 50">
            <a:extLst>
              <a:ext uri="{FF2B5EF4-FFF2-40B4-BE49-F238E27FC236}">
                <a16:creationId xmlns:a16="http://schemas.microsoft.com/office/drawing/2014/main" id="{F171D113-A009-4FAE-BFBF-0037178CED73}"/>
              </a:ext>
            </a:extLst>
          </p:cNvPr>
          <p:cNvSpPr txBox="1"/>
          <p:nvPr/>
        </p:nvSpPr>
        <p:spPr>
          <a:xfrm>
            <a:off x="10122116" y="5452793"/>
            <a:ext cx="1563973" cy="369332"/>
          </a:xfrm>
          <a:prstGeom prst="rect">
            <a:avLst/>
          </a:prstGeom>
          <a:noFill/>
        </p:spPr>
        <p:txBody>
          <a:bodyPr wrap="square" rtlCol="0">
            <a:spAutoFit/>
          </a:bodyPr>
          <a:lstStyle/>
          <a:p>
            <a:r>
              <a:rPr lang="en-US" altLang="zh-CN" dirty="0">
                <a:solidFill>
                  <a:srgbClr val="000000"/>
                </a:solidFill>
                <a:ea typeface="微软雅黑"/>
              </a:rPr>
              <a:t>0x0</a:t>
            </a:r>
            <a:endParaRPr lang="zh-CN" altLang="en-US" dirty="0">
              <a:solidFill>
                <a:srgbClr val="000000"/>
              </a:solidFill>
              <a:ea typeface="微软雅黑"/>
            </a:endParaRPr>
          </a:p>
        </p:txBody>
      </p:sp>
      <p:sp>
        <p:nvSpPr>
          <p:cNvPr id="52" name="文本框 51">
            <a:extLst>
              <a:ext uri="{FF2B5EF4-FFF2-40B4-BE49-F238E27FC236}">
                <a16:creationId xmlns:a16="http://schemas.microsoft.com/office/drawing/2014/main" id="{871B41F6-8097-4E12-AC60-AA59EE38ABEB}"/>
              </a:ext>
            </a:extLst>
          </p:cNvPr>
          <p:cNvSpPr txBox="1"/>
          <p:nvPr/>
        </p:nvSpPr>
        <p:spPr>
          <a:xfrm>
            <a:off x="7419776" y="5746490"/>
            <a:ext cx="3172858" cy="646331"/>
          </a:xfrm>
          <a:prstGeom prst="rect">
            <a:avLst/>
          </a:prstGeom>
          <a:noFill/>
        </p:spPr>
        <p:txBody>
          <a:bodyPr wrap="square" rtlCol="0">
            <a:spAutoFit/>
          </a:bodyPr>
          <a:lstStyle/>
          <a:p>
            <a:pPr algn="ctr"/>
            <a:r>
              <a:rPr lang="en-US" altLang="zh-CN" dirty="0">
                <a:solidFill>
                  <a:srgbClr val="000000"/>
                </a:solidFill>
                <a:ea typeface="微软雅黑"/>
              </a:rPr>
              <a:t>Linux Process Memory Layout (32-bit OS)</a:t>
            </a:r>
            <a:endParaRPr lang="zh-CN" altLang="en-US" dirty="0">
              <a:solidFill>
                <a:srgbClr val="000000"/>
              </a:solidFill>
              <a:ea typeface="微软雅黑"/>
            </a:endParaRPr>
          </a:p>
        </p:txBody>
      </p:sp>
      <p:sp>
        <p:nvSpPr>
          <p:cNvPr id="53" name="文本框 52">
            <a:extLst>
              <a:ext uri="{FF2B5EF4-FFF2-40B4-BE49-F238E27FC236}">
                <a16:creationId xmlns:a16="http://schemas.microsoft.com/office/drawing/2014/main" id="{135AF7CD-0374-45EC-B026-E4A61675D997}"/>
              </a:ext>
            </a:extLst>
          </p:cNvPr>
          <p:cNvSpPr txBox="1"/>
          <p:nvPr/>
        </p:nvSpPr>
        <p:spPr>
          <a:xfrm>
            <a:off x="7772814" y="762038"/>
            <a:ext cx="2451163" cy="369332"/>
          </a:xfrm>
          <a:prstGeom prst="rect">
            <a:avLst/>
          </a:prstGeom>
          <a:noFill/>
        </p:spPr>
        <p:txBody>
          <a:bodyPr wrap="square" rtlCol="0">
            <a:spAutoFit/>
          </a:bodyPr>
          <a:lstStyle/>
          <a:p>
            <a:pPr algn="ctr"/>
            <a:r>
              <a:rPr lang="en-US" altLang="zh-CN" dirty="0">
                <a:solidFill>
                  <a:srgbClr val="000000"/>
                </a:solidFill>
                <a:ea typeface="微软雅黑"/>
              </a:rPr>
              <a:t>Virtual Memory Space</a:t>
            </a:r>
            <a:endParaRPr lang="zh-CN" altLang="en-US" dirty="0">
              <a:solidFill>
                <a:srgbClr val="000000"/>
              </a:solidFill>
              <a:ea typeface="微软雅黑"/>
            </a:endParaRPr>
          </a:p>
        </p:txBody>
      </p:sp>
      <p:cxnSp>
        <p:nvCxnSpPr>
          <p:cNvPr id="54" name="直接连接符 53">
            <a:extLst>
              <a:ext uri="{FF2B5EF4-FFF2-40B4-BE49-F238E27FC236}">
                <a16:creationId xmlns:a16="http://schemas.microsoft.com/office/drawing/2014/main" id="{DAACC403-2067-4B60-AB5E-2855AD8DF3D4}"/>
              </a:ext>
            </a:extLst>
          </p:cNvPr>
          <p:cNvCxnSpPr/>
          <p:nvPr/>
        </p:nvCxnSpPr>
        <p:spPr>
          <a:xfrm>
            <a:off x="7998205" y="5544701"/>
            <a:ext cx="2016000" cy="0"/>
          </a:xfrm>
          <a:prstGeom prst="line">
            <a:avLst/>
          </a:prstGeom>
          <a:noFill/>
          <a:ln w="12700" cap="flat" cmpd="sng" algn="ctr">
            <a:solidFill>
              <a:srgbClr val="000000"/>
            </a:solidFill>
            <a:prstDash val="solid"/>
            <a:miter lim="800000"/>
          </a:ln>
          <a:effectLst/>
        </p:spPr>
      </p:cxnSp>
      <p:cxnSp>
        <p:nvCxnSpPr>
          <p:cNvPr id="55" name="直接连接符 54">
            <a:extLst>
              <a:ext uri="{FF2B5EF4-FFF2-40B4-BE49-F238E27FC236}">
                <a16:creationId xmlns:a16="http://schemas.microsoft.com/office/drawing/2014/main" id="{B370D078-8822-48C3-B409-48F8E72F5C7D}"/>
              </a:ext>
            </a:extLst>
          </p:cNvPr>
          <p:cNvCxnSpPr/>
          <p:nvPr/>
        </p:nvCxnSpPr>
        <p:spPr>
          <a:xfrm>
            <a:off x="7997567" y="5135221"/>
            <a:ext cx="2016000" cy="0"/>
          </a:xfrm>
          <a:prstGeom prst="line">
            <a:avLst/>
          </a:prstGeom>
          <a:noFill/>
          <a:ln w="12700" cap="flat" cmpd="sng" algn="ctr">
            <a:solidFill>
              <a:srgbClr val="000000"/>
            </a:solidFill>
            <a:prstDash val="solid"/>
            <a:miter lim="800000"/>
          </a:ln>
          <a:effectLst/>
        </p:spPr>
      </p:cxnSp>
      <p:sp>
        <p:nvSpPr>
          <p:cNvPr id="56" name="文本框 55">
            <a:extLst>
              <a:ext uri="{FF2B5EF4-FFF2-40B4-BE49-F238E27FC236}">
                <a16:creationId xmlns:a16="http://schemas.microsoft.com/office/drawing/2014/main" id="{EA0B6811-B4DE-4A25-89A8-9DE5BB7A152B}"/>
              </a:ext>
            </a:extLst>
          </p:cNvPr>
          <p:cNvSpPr txBox="1"/>
          <p:nvPr/>
        </p:nvSpPr>
        <p:spPr>
          <a:xfrm>
            <a:off x="8023888" y="4765890"/>
            <a:ext cx="1995870" cy="369332"/>
          </a:xfrm>
          <a:prstGeom prst="rect">
            <a:avLst/>
          </a:prstGeom>
          <a:noFill/>
        </p:spPr>
        <p:txBody>
          <a:bodyPr wrap="square" rtlCol="0">
            <a:spAutoFit/>
          </a:bodyPr>
          <a:lstStyle/>
          <a:p>
            <a:pPr algn="ctr"/>
            <a:r>
              <a:rPr lang="en-US" altLang="zh-CN" dirty="0">
                <a:solidFill>
                  <a:srgbClr val="000000"/>
                </a:solidFill>
                <a:ea typeface="微软雅黑"/>
              </a:rPr>
              <a:t>Data Segment</a:t>
            </a:r>
            <a:endParaRPr lang="zh-CN" altLang="en-US" dirty="0">
              <a:solidFill>
                <a:srgbClr val="000000"/>
              </a:solidFill>
              <a:ea typeface="微软雅黑"/>
            </a:endParaRPr>
          </a:p>
        </p:txBody>
      </p:sp>
      <p:cxnSp>
        <p:nvCxnSpPr>
          <p:cNvPr id="57" name="直接连接符 56">
            <a:extLst>
              <a:ext uri="{FF2B5EF4-FFF2-40B4-BE49-F238E27FC236}">
                <a16:creationId xmlns:a16="http://schemas.microsoft.com/office/drawing/2014/main" id="{3C90D35A-0A8E-41E1-87D9-10DF9F5B14C9}"/>
              </a:ext>
            </a:extLst>
          </p:cNvPr>
          <p:cNvCxnSpPr/>
          <p:nvPr/>
        </p:nvCxnSpPr>
        <p:spPr>
          <a:xfrm>
            <a:off x="7997567" y="4765890"/>
            <a:ext cx="2016000" cy="0"/>
          </a:xfrm>
          <a:prstGeom prst="line">
            <a:avLst/>
          </a:prstGeom>
          <a:noFill/>
          <a:ln w="12700" cap="flat" cmpd="sng" algn="ctr">
            <a:solidFill>
              <a:srgbClr val="000000"/>
            </a:solidFill>
            <a:prstDash val="solid"/>
            <a:miter lim="800000"/>
          </a:ln>
          <a:effectLst/>
        </p:spPr>
      </p:cxnSp>
      <p:sp>
        <p:nvSpPr>
          <p:cNvPr id="58" name="文本框 57">
            <a:extLst>
              <a:ext uri="{FF2B5EF4-FFF2-40B4-BE49-F238E27FC236}">
                <a16:creationId xmlns:a16="http://schemas.microsoft.com/office/drawing/2014/main" id="{BF22B47C-9F03-4295-B991-BB5702883E30}"/>
              </a:ext>
            </a:extLst>
          </p:cNvPr>
          <p:cNvSpPr txBox="1"/>
          <p:nvPr/>
        </p:nvSpPr>
        <p:spPr>
          <a:xfrm>
            <a:off x="8023888" y="4400207"/>
            <a:ext cx="1995870" cy="369332"/>
          </a:xfrm>
          <a:prstGeom prst="rect">
            <a:avLst/>
          </a:prstGeom>
          <a:noFill/>
        </p:spPr>
        <p:txBody>
          <a:bodyPr wrap="square" rtlCol="0">
            <a:spAutoFit/>
          </a:bodyPr>
          <a:lstStyle/>
          <a:p>
            <a:pPr algn="ctr"/>
            <a:r>
              <a:rPr lang="en-US" altLang="zh-CN" dirty="0">
                <a:solidFill>
                  <a:srgbClr val="000000"/>
                </a:solidFill>
                <a:ea typeface="微软雅黑"/>
              </a:rPr>
              <a:t>BSS Segment</a:t>
            </a:r>
            <a:endParaRPr lang="zh-CN" altLang="en-US" dirty="0">
              <a:solidFill>
                <a:srgbClr val="000000"/>
              </a:solidFill>
              <a:ea typeface="微软雅黑"/>
            </a:endParaRPr>
          </a:p>
        </p:txBody>
      </p:sp>
      <p:cxnSp>
        <p:nvCxnSpPr>
          <p:cNvPr id="59" name="直接连接符 58">
            <a:extLst>
              <a:ext uri="{FF2B5EF4-FFF2-40B4-BE49-F238E27FC236}">
                <a16:creationId xmlns:a16="http://schemas.microsoft.com/office/drawing/2014/main" id="{26C47111-8A24-4E62-A25C-22DAA8360F68}"/>
              </a:ext>
            </a:extLst>
          </p:cNvPr>
          <p:cNvCxnSpPr/>
          <p:nvPr/>
        </p:nvCxnSpPr>
        <p:spPr>
          <a:xfrm>
            <a:off x="7997567" y="4400207"/>
            <a:ext cx="2016000" cy="0"/>
          </a:xfrm>
          <a:prstGeom prst="line">
            <a:avLst/>
          </a:prstGeom>
          <a:noFill/>
          <a:ln w="12700" cap="flat" cmpd="sng" algn="ctr">
            <a:solidFill>
              <a:srgbClr val="000000"/>
            </a:solidFill>
            <a:prstDash val="solid"/>
            <a:miter lim="800000"/>
          </a:ln>
          <a:effectLst/>
        </p:spPr>
      </p:cxnSp>
      <p:sp>
        <p:nvSpPr>
          <p:cNvPr id="60" name="文本框 59">
            <a:extLst>
              <a:ext uri="{FF2B5EF4-FFF2-40B4-BE49-F238E27FC236}">
                <a16:creationId xmlns:a16="http://schemas.microsoft.com/office/drawing/2014/main" id="{50201679-42CD-41E3-B970-A126899D382A}"/>
              </a:ext>
            </a:extLst>
          </p:cNvPr>
          <p:cNvSpPr txBox="1"/>
          <p:nvPr/>
        </p:nvSpPr>
        <p:spPr>
          <a:xfrm>
            <a:off x="7974240" y="3879376"/>
            <a:ext cx="2045517" cy="369332"/>
          </a:xfrm>
          <a:prstGeom prst="rect">
            <a:avLst/>
          </a:prstGeom>
          <a:noFill/>
        </p:spPr>
        <p:txBody>
          <a:bodyPr wrap="square" rtlCol="0">
            <a:spAutoFit/>
          </a:bodyPr>
          <a:lstStyle/>
          <a:p>
            <a:pPr algn="ctr"/>
            <a:r>
              <a:rPr lang="en-US" altLang="zh-CN" dirty="0">
                <a:solidFill>
                  <a:srgbClr val="C00000"/>
                </a:solidFill>
                <a:ea typeface="微软雅黑"/>
              </a:rPr>
              <a:t>Heap</a:t>
            </a:r>
            <a:endParaRPr lang="zh-CN" altLang="en-US" dirty="0">
              <a:solidFill>
                <a:srgbClr val="C00000"/>
              </a:solidFill>
              <a:ea typeface="微软雅黑"/>
            </a:endParaRPr>
          </a:p>
        </p:txBody>
      </p:sp>
      <p:cxnSp>
        <p:nvCxnSpPr>
          <p:cNvPr id="61" name="直接连接符 60">
            <a:extLst>
              <a:ext uri="{FF2B5EF4-FFF2-40B4-BE49-F238E27FC236}">
                <a16:creationId xmlns:a16="http://schemas.microsoft.com/office/drawing/2014/main" id="{FF45BF23-354B-47BC-96FC-A63C9FE3D6DE}"/>
              </a:ext>
            </a:extLst>
          </p:cNvPr>
          <p:cNvCxnSpPr/>
          <p:nvPr/>
        </p:nvCxnSpPr>
        <p:spPr>
          <a:xfrm>
            <a:off x="8000462" y="4271444"/>
            <a:ext cx="2016000" cy="0"/>
          </a:xfrm>
          <a:prstGeom prst="line">
            <a:avLst/>
          </a:prstGeom>
          <a:noFill/>
          <a:ln w="12700" cap="flat" cmpd="sng" algn="ctr">
            <a:solidFill>
              <a:srgbClr val="000000"/>
            </a:solidFill>
            <a:prstDash val="solid"/>
            <a:miter lim="800000"/>
          </a:ln>
          <a:effectLst/>
        </p:spPr>
      </p:cxnSp>
      <p:sp>
        <p:nvSpPr>
          <p:cNvPr id="62" name="文本框 61">
            <a:extLst>
              <a:ext uri="{FF2B5EF4-FFF2-40B4-BE49-F238E27FC236}">
                <a16:creationId xmlns:a16="http://schemas.microsoft.com/office/drawing/2014/main" id="{BA028C8B-A287-457A-ACC1-8EBE7BE7F11C}"/>
              </a:ext>
            </a:extLst>
          </p:cNvPr>
          <p:cNvSpPr txBox="1"/>
          <p:nvPr/>
        </p:nvSpPr>
        <p:spPr>
          <a:xfrm>
            <a:off x="8023888" y="2045453"/>
            <a:ext cx="1995870" cy="369332"/>
          </a:xfrm>
          <a:prstGeom prst="rect">
            <a:avLst/>
          </a:prstGeom>
          <a:noFill/>
        </p:spPr>
        <p:txBody>
          <a:bodyPr wrap="square" rtlCol="0">
            <a:spAutoFit/>
          </a:bodyPr>
          <a:lstStyle/>
          <a:p>
            <a:pPr algn="ctr"/>
            <a:r>
              <a:rPr lang="en-US" altLang="zh-CN" dirty="0">
                <a:solidFill>
                  <a:srgbClr val="000000"/>
                </a:solidFill>
                <a:ea typeface="微软雅黑"/>
              </a:rPr>
              <a:t>Stack</a:t>
            </a:r>
            <a:endParaRPr lang="zh-CN" altLang="en-US" dirty="0">
              <a:solidFill>
                <a:srgbClr val="000000"/>
              </a:solidFill>
              <a:ea typeface="微软雅黑"/>
            </a:endParaRPr>
          </a:p>
        </p:txBody>
      </p:sp>
      <p:cxnSp>
        <p:nvCxnSpPr>
          <p:cNvPr id="63" name="直接连接符 62">
            <a:extLst>
              <a:ext uri="{FF2B5EF4-FFF2-40B4-BE49-F238E27FC236}">
                <a16:creationId xmlns:a16="http://schemas.microsoft.com/office/drawing/2014/main" id="{14EEC15A-5E91-4EF7-8E1B-B1BD0D3E5A38}"/>
              </a:ext>
            </a:extLst>
          </p:cNvPr>
          <p:cNvCxnSpPr/>
          <p:nvPr/>
        </p:nvCxnSpPr>
        <p:spPr>
          <a:xfrm>
            <a:off x="7997567" y="2045453"/>
            <a:ext cx="2016000" cy="0"/>
          </a:xfrm>
          <a:prstGeom prst="line">
            <a:avLst/>
          </a:prstGeom>
          <a:noFill/>
          <a:ln w="12700" cap="flat" cmpd="sng" algn="ctr">
            <a:solidFill>
              <a:srgbClr val="000000"/>
            </a:solidFill>
            <a:prstDash val="solid"/>
            <a:miter lim="800000"/>
          </a:ln>
          <a:effectLst/>
        </p:spPr>
      </p:cxnSp>
      <p:cxnSp>
        <p:nvCxnSpPr>
          <p:cNvPr id="64" name="直接连接符 63">
            <a:extLst>
              <a:ext uri="{FF2B5EF4-FFF2-40B4-BE49-F238E27FC236}">
                <a16:creationId xmlns:a16="http://schemas.microsoft.com/office/drawing/2014/main" id="{841F1AB2-BD40-446C-8C3C-3A9828526C3B}"/>
              </a:ext>
            </a:extLst>
          </p:cNvPr>
          <p:cNvCxnSpPr/>
          <p:nvPr/>
        </p:nvCxnSpPr>
        <p:spPr>
          <a:xfrm>
            <a:off x="7996420" y="3879376"/>
            <a:ext cx="2016000" cy="0"/>
          </a:xfrm>
          <a:prstGeom prst="line">
            <a:avLst/>
          </a:prstGeom>
          <a:noFill/>
          <a:ln w="12700" cap="flat" cmpd="sng" algn="ctr">
            <a:solidFill>
              <a:srgbClr val="000000"/>
            </a:solidFill>
            <a:prstDash val="dash"/>
            <a:miter lim="800000"/>
          </a:ln>
          <a:effectLst/>
        </p:spPr>
      </p:cxnSp>
      <p:cxnSp>
        <p:nvCxnSpPr>
          <p:cNvPr id="65" name="直接连接符 64">
            <a:extLst>
              <a:ext uri="{FF2B5EF4-FFF2-40B4-BE49-F238E27FC236}">
                <a16:creationId xmlns:a16="http://schemas.microsoft.com/office/drawing/2014/main" id="{1B289C4B-8302-4315-A47B-B602D99A7A68}"/>
              </a:ext>
            </a:extLst>
          </p:cNvPr>
          <p:cNvCxnSpPr/>
          <p:nvPr/>
        </p:nvCxnSpPr>
        <p:spPr>
          <a:xfrm>
            <a:off x="7997567" y="3316097"/>
            <a:ext cx="2016000" cy="0"/>
          </a:xfrm>
          <a:prstGeom prst="line">
            <a:avLst/>
          </a:prstGeom>
          <a:noFill/>
          <a:ln w="12700" cap="flat" cmpd="sng" algn="ctr">
            <a:solidFill>
              <a:srgbClr val="000000"/>
            </a:solidFill>
            <a:prstDash val="dash"/>
            <a:miter lim="800000"/>
          </a:ln>
          <a:effectLst/>
        </p:spPr>
      </p:cxnSp>
      <p:sp>
        <p:nvSpPr>
          <p:cNvPr id="66" name="文本框 65">
            <a:extLst>
              <a:ext uri="{FF2B5EF4-FFF2-40B4-BE49-F238E27FC236}">
                <a16:creationId xmlns:a16="http://schemas.microsoft.com/office/drawing/2014/main" id="{8EB3EE9E-327F-4A67-866E-F96F08BB36D1}"/>
              </a:ext>
            </a:extLst>
          </p:cNvPr>
          <p:cNvSpPr txBox="1"/>
          <p:nvPr/>
        </p:nvSpPr>
        <p:spPr>
          <a:xfrm>
            <a:off x="8023888" y="2950414"/>
            <a:ext cx="1995870" cy="369332"/>
          </a:xfrm>
          <a:prstGeom prst="rect">
            <a:avLst/>
          </a:prstGeom>
          <a:noFill/>
        </p:spPr>
        <p:txBody>
          <a:bodyPr wrap="square" rtlCol="0">
            <a:spAutoFit/>
          </a:bodyPr>
          <a:lstStyle/>
          <a:p>
            <a:pPr algn="ctr"/>
            <a:r>
              <a:rPr lang="en-US" altLang="zh-CN" dirty="0">
                <a:solidFill>
                  <a:srgbClr val="000000"/>
                </a:solidFill>
                <a:ea typeface="微软雅黑"/>
              </a:rPr>
              <a:t>Map Segment</a:t>
            </a:r>
            <a:endParaRPr lang="zh-CN" altLang="en-US" dirty="0">
              <a:solidFill>
                <a:srgbClr val="000000"/>
              </a:solidFill>
              <a:ea typeface="微软雅黑"/>
            </a:endParaRPr>
          </a:p>
        </p:txBody>
      </p:sp>
      <p:cxnSp>
        <p:nvCxnSpPr>
          <p:cNvPr id="67" name="直接连接符 66">
            <a:extLst>
              <a:ext uri="{FF2B5EF4-FFF2-40B4-BE49-F238E27FC236}">
                <a16:creationId xmlns:a16="http://schemas.microsoft.com/office/drawing/2014/main" id="{1FE9D244-6E14-4126-B012-2B15941676C6}"/>
              </a:ext>
            </a:extLst>
          </p:cNvPr>
          <p:cNvCxnSpPr/>
          <p:nvPr/>
        </p:nvCxnSpPr>
        <p:spPr>
          <a:xfrm>
            <a:off x="7997567" y="2950414"/>
            <a:ext cx="2016000" cy="0"/>
          </a:xfrm>
          <a:prstGeom prst="line">
            <a:avLst/>
          </a:prstGeom>
          <a:noFill/>
          <a:ln w="12700" cap="flat" cmpd="sng" algn="ctr">
            <a:solidFill>
              <a:srgbClr val="000000"/>
            </a:solidFill>
            <a:prstDash val="solid"/>
            <a:miter lim="800000"/>
          </a:ln>
          <a:effectLst/>
        </p:spPr>
      </p:cxnSp>
      <p:cxnSp>
        <p:nvCxnSpPr>
          <p:cNvPr id="68" name="直接连接符 67">
            <a:extLst>
              <a:ext uri="{FF2B5EF4-FFF2-40B4-BE49-F238E27FC236}">
                <a16:creationId xmlns:a16="http://schemas.microsoft.com/office/drawing/2014/main" id="{06D19435-0032-435F-A571-52FFF5A49179}"/>
              </a:ext>
            </a:extLst>
          </p:cNvPr>
          <p:cNvCxnSpPr/>
          <p:nvPr/>
        </p:nvCxnSpPr>
        <p:spPr>
          <a:xfrm>
            <a:off x="7999157" y="2529056"/>
            <a:ext cx="2016000" cy="0"/>
          </a:xfrm>
          <a:prstGeom prst="line">
            <a:avLst/>
          </a:prstGeom>
          <a:noFill/>
          <a:ln w="12700" cap="flat" cmpd="sng" algn="ctr">
            <a:solidFill>
              <a:srgbClr val="000000"/>
            </a:solidFill>
            <a:prstDash val="dash"/>
            <a:miter lim="800000"/>
          </a:ln>
          <a:effectLst/>
        </p:spPr>
      </p:cxnSp>
      <p:sp>
        <p:nvSpPr>
          <p:cNvPr id="69" name="箭头: 下 68">
            <a:extLst>
              <a:ext uri="{FF2B5EF4-FFF2-40B4-BE49-F238E27FC236}">
                <a16:creationId xmlns:a16="http://schemas.microsoft.com/office/drawing/2014/main" id="{85A1A291-5AE4-467B-B6D4-2DB76581EBBA}"/>
              </a:ext>
            </a:extLst>
          </p:cNvPr>
          <p:cNvSpPr/>
          <p:nvPr/>
        </p:nvSpPr>
        <p:spPr>
          <a:xfrm>
            <a:off x="8939108" y="2414785"/>
            <a:ext cx="201643" cy="293693"/>
          </a:xfrm>
          <a:prstGeom prst="downArrow">
            <a:avLst/>
          </a:prstGeom>
          <a:solidFill>
            <a:srgbClr val="2980B9"/>
          </a:solidFill>
          <a:ln w="12700" cap="flat" cmpd="sng" algn="ctr">
            <a:solidFill>
              <a:srgbClr val="2980B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70" name="箭头: 下 69">
            <a:extLst>
              <a:ext uri="{FF2B5EF4-FFF2-40B4-BE49-F238E27FC236}">
                <a16:creationId xmlns:a16="http://schemas.microsoft.com/office/drawing/2014/main" id="{161836A4-4887-4CA3-A5D5-E88B051BC2EF}"/>
              </a:ext>
            </a:extLst>
          </p:cNvPr>
          <p:cNvSpPr/>
          <p:nvPr/>
        </p:nvSpPr>
        <p:spPr>
          <a:xfrm>
            <a:off x="8921001" y="3272239"/>
            <a:ext cx="201643" cy="293693"/>
          </a:xfrm>
          <a:prstGeom prst="downArrow">
            <a:avLst/>
          </a:prstGeom>
          <a:solidFill>
            <a:srgbClr val="2980B9"/>
          </a:solidFill>
          <a:ln w="12700" cap="flat" cmpd="sng" algn="ctr">
            <a:solidFill>
              <a:srgbClr val="2980B9"/>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71" name="箭头: 下 70">
            <a:extLst>
              <a:ext uri="{FF2B5EF4-FFF2-40B4-BE49-F238E27FC236}">
                <a16:creationId xmlns:a16="http://schemas.microsoft.com/office/drawing/2014/main" id="{5845A38C-A505-4617-A451-ECDBD192BC56}"/>
              </a:ext>
            </a:extLst>
          </p:cNvPr>
          <p:cNvSpPr/>
          <p:nvPr/>
        </p:nvSpPr>
        <p:spPr>
          <a:xfrm rot="10800000">
            <a:off x="8921909" y="3656851"/>
            <a:ext cx="201643" cy="293693"/>
          </a:xfrm>
          <a:prstGeom prst="downArrow">
            <a:avLst/>
          </a:prstGeom>
          <a:solidFill>
            <a:srgbClr val="C00000"/>
          </a:solidFill>
          <a:ln w="1270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72" name="文本框 71">
            <a:extLst>
              <a:ext uri="{FF2B5EF4-FFF2-40B4-BE49-F238E27FC236}">
                <a16:creationId xmlns:a16="http://schemas.microsoft.com/office/drawing/2014/main" id="{71867E0B-BF21-4E15-A3FA-15949510E20D}"/>
              </a:ext>
            </a:extLst>
          </p:cNvPr>
          <p:cNvSpPr txBox="1"/>
          <p:nvPr/>
        </p:nvSpPr>
        <p:spPr>
          <a:xfrm>
            <a:off x="10122116" y="3468437"/>
            <a:ext cx="1995870" cy="369332"/>
          </a:xfrm>
          <a:prstGeom prst="rect">
            <a:avLst/>
          </a:prstGeom>
          <a:noFill/>
        </p:spPr>
        <p:txBody>
          <a:bodyPr wrap="square" rtlCol="0">
            <a:spAutoFit/>
          </a:bodyPr>
          <a:lstStyle/>
          <a:p>
            <a:pPr algn="ctr"/>
            <a:r>
              <a:rPr lang="en-US" altLang="zh-CN" dirty="0">
                <a:solidFill>
                  <a:srgbClr val="2980B9"/>
                </a:solidFill>
                <a:ea typeface="微软雅黑"/>
              </a:rPr>
              <a:t>User Space 3G</a:t>
            </a:r>
            <a:endParaRPr lang="zh-CN" altLang="en-US" dirty="0">
              <a:solidFill>
                <a:srgbClr val="2980B9"/>
              </a:solidFill>
              <a:ea typeface="微软雅黑"/>
            </a:endParaRPr>
          </a:p>
        </p:txBody>
      </p:sp>
      <p:sp>
        <p:nvSpPr>
          <p:cNvPr id="35" name="矩形 34">
            <a:extLst>
              <a:ext uri="{FF2B5EF4-FFF2-40B4-BE49-F238E27FC236}">
                <a16:creationId xmlns:a16="http://schemas.microsoft.com/office/drawing/2014/main" id="{53AC8EA8-9574-4C67-B2C6-285BFF34E949}"/>
              </a:ext>
            </a:extLst>
          </p:cNvPr>
          <p:cNvSpPr>
            <a:spLocks/>
          </p:cNvSpPr>
          <p:nvPr/>
        </p:nvSpPr>
        <p:spPr bwMode="auto">
          <a:xfrm>
            <a:off x="561975" y="1448492"/>
            <a:ext cx="5749615" cy="1651545"/>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36" name="文本框 35">
            <a:extLst>
              <a:ext uri="{FF2B5EF4-FFF2-40B4-BE49-F238E27FC236}">
                <a16:creationId xmlns:a16="http://schemas.microsoft.com/office/drawing/2014/main" id="{CC41558C-4C18-428B-8587-CA403B94905C}"/>
              </a:ext>
            </a:extLst>
          </p:cNvPr>
          <p:cNvSpPr txBox="1"/>
          <p:nvPr/>
        </p:nvSpPr>
        <p:spPr>
          <a:xfrm>
            <a:off x="844146" y="1522530"/>
            <a:ext cx="5251854" cy="1435136"/>
          </a:xfrm>
          <a:prstGeom prst="rect">
            <a:avLst/>
          </a:prstGeom>
          <a:noFill/>
        </p:spPr>
        <p:txBody>
          <a:bodyPr wrap="square" rtlCol="0">
            <a:spAutoFit/>
          </a:bodyPr>
          <a:lstStyle/>
          <a:p>
            <a:pPr marR="0" lvl="0" algn="just"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在程序運行過程中，堆可以提供動態分配的內存，允許程序申請指定大小的內存</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Slide Number Placeholder 7">
            <a:extLst>
              <a:ext uri="{FF2B5EF4-FFF2-40B4-BE49-F238E27FC236}">
                <a16:creationId xmlns:a16="http://schemas.microsoft.com/office/drawing/2014/main" id="{97A7823B-698D-4DFF-15DB-5BA57633EEF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39</a:t>
            </a:fld>
            <a:endParaRPr lang="zh-CN" altLang="en-US" sz="1200" dirty="0">
              <a:solidFill>
                <a:schemeClr val="tx1">
                  <a:tint val="75000"/>
                </a:schemeClr>
              </a:solidFill>
            </a:endParaRPr>
          </a:p>
        </p:txBody>
      </p:sp>
    </p:spTree>
    <p:extLst>
      <p:ext uri="{BB962C8B-B14F-4D97-AF65-F5344CB8AC3E}">
        <p14:creationId xmlns:p14="http://schemas.microsoft.com/office/powerpoint/2010/main" val="7491999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345187"/>
            <a:ext cx="11133431" cy="420512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堆管理器</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處于用戶程序與內核中間地位，主要做以下工作：</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響應用戶的申請內存請求</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向操作系統申請內存，然後將其返回給用戶程序；堆管理器會預先向內核申請一大塊連續內存，然後過</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管理算法</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管理這塊內存；當出現了堆空間不足的情况，堆管理器會再次與內核行交互</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管理用戶所釋放的內存</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。一般情况下，用戶釋放的內存幷不是直接返還給操作系統的，而是由堆管理器進行管理；這些釋放的內存可以來響應用戶新申請的內存的請求</a:t>
            </a:r>
          </a:p>
        </p:txBody>
      </p:sp>
      <p:sp>
        <p:nvSpPr>
          <p:cNvPr id="2" name="标题 1">
            <a:extLst>
              <a:ext uri="{FF2B5EF4-FFF2-40B4-BE49-F238E27FC236}">
                <a16:creationId xmlns:a16="http://schemas.microsoft.com/office/drawing/2014/main" id="{1571495A-F549-44DB-A785-FFB4EB34C51D}"/>
              </a:ext>
            </a:extLst>
          </p:cNvPr>
          <p:cNvSpPr>
            <a:spLocks noGrp="1"/>
          </p:cNvSpPr>
          <p:nvPr>
            <p:ph type="title"/>
          </p:nvPr>
        </p:nvSpPr>
        <p:spPr/>
        <p:txBody>
          <a:bodyPr/>
          <a:lstStyle/>
          <a:p>
            <a:r>
              <a:rPr lang="zh-CN" altLang="en-US" dirty="0"/>
              <a:t>正常工作的堆管理器</a:t>
            </a:r>
          </a:p>
        </p:txBody>
      </p:sp>
      <p:sp>
        <p:nvSpPr>
          <p:cNvPr id="15" name="文本框 14">
            <a:extLst>
              <a:ext uri="{FF2B5EF4-FFF2-40B4-BE49-F238E27FC236}">
                <a16:creationId xmlns:a16="http://schemas.microsoft.com/office/drawing/2014/main" id="{83248BF2-292F-4B9B-80E3-2EADBFC09ECA}"/>
              </a:ext>
            </a:extLst>
          </p:cNvPr>
          <p:cNvSpPr txBox="1"/>
          <p:nvPr/>
        </p:nvSpPr>
        <p:spPr>
          <a:xfrm>
            <a:off x="2123803" y="5824856"/>
            <a:ext cx="7958994" cy="676427"/>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defRPr kumimoji="1" sz="2000" b="1">
                <a:solidFill>
                  <a:srgbClr val="C00000"/>
                </a:solidFill>
                <a:latin typeface="Microsoft YaHei" panose="020B0503020204020204" pitchFamily="34" charset="-122"/>
                <a:ea typeface="Microsoft YaHei" panose="020B0503020204020204" pitchFamily="34" charset="-122"/>
              </a:defRPr>
            </a:lvl1pPr>
          </a:lstStyle>
          <a:p>
            <a:r>
              <a:rPr lang="zh-CN" altLang="en-US" sz="2400" dirty="0"/>
              <a:t>堆管理器的緩衝作用顯著降低了動態內存管理的性能開銷</a:t>
            </a:r>
            <a:endParaRPr lang="en-US" altLang="zh-CN" sz="2400" dirty="0"/>
          </a:p>
        </p:txBody>
      </p:sp>
      <p:sp>
        <p:nvSpPr>
          <p:cNvPr id="4" name="Slide Number Placeholder 7">
            <a:extLst>
              <a:ext uri="{FF2B5EF4-FFF2-40B4-BE49-F238E27FC236}">
                <a16:creationId xmlns:a16="http://schemas.microsoft.com/office/drawing/2014/main" id="{CECD8A43-BDC8-DAB8-7DF9-E69A57CAAAB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40</a:t>
            </a:fld>
            <a:endParaRPr lang="zh-CN" altLang="en-US" sz="1200" dirty="0">
              <a:solidFill>
                <a:schemeClr val="tx1">
                  <a:tint val="75000"/>
                </a:schemeClr>
              </a:solidFill>
            </a:endParaRPr>
          </a:p>
        </p:txBody>
      </p:sp>
    </p:spTree>
    <p:extLst>
      <p:ext uri="{BB962C8B-B14F-4D97-AF65-F5344CB8AC3E}">
        <p14:creationId xmlns:p14="http://schemas.microsoft.com/office/powerpoint/2010/main" val="411189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220295"/>
            <a:ext cx="11240453"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堆管理器通常不屬操作系統內核的一部分，而是屬標準</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函數庫的一部分，根據標準</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函數庫的實現而采用不同堆管理器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200C82AA-7FC9-4DA3-A26F-C9A07146587E}"/>
              </a:ext>
            </a:extLst>
          </p:cNvPr>
          <p:cNvSpPr>
            <a:spLocks noGrp="1"/>
          </p:cNvSpPr>
          <p:nvPr>
            <p:ph type="title"/>
          </p:nvPr>
        </p:nvSpPr>
        <p:spPr/>
        <p:txBody>
          <a:bodyPr/>
          <a:lstStyle/>
          <a:p>
            <a:r>
              <a:rPr lang="zh-CN" altLang="en-US" dirty="0"/>
              <a:t>正常工作的堆管理器</a:t>
            </a:r>
          </a:p>
        </p:txBody>
      </p:sp>
      <p:sp>
        <p:nvSpPr>
          <p:cNvPr id="4" name="Rounded Rectangle 36">
            <a:extLst>
              <a:ext uri="{FF2B5EF4-FFF2-40B4-BE49-F238E27FC236}">
                <a16:creationId xmlns:a16="http://schemas.microsoft.com/office/drawing/2014/main" id="{0917AA05-8CEB-4EB1-821D-2F3B15D27EA8}"/>
              </a:ext>
            </a:extLst>
          </p:cNvPr>
          <p:cNvSpPr/>
          <p:nvPr/>
        </p:nvSpPr>
        <p:spPr>
          <a:xfrm>
            <a:off x="1218735" y="5838779"/>
            <a:ext cx="9788002" cy="622989"/>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200" b="1" dirty="0">
                <a:solidFill>
                  <a:schemeClr val="bg1"/>
                </a:solidFill>
                <a:latin typeface="Microsoft YaHei" panose="020B0503020204020204" pitchFamily="34" charset="-122"/>
                <a:ea typeface="Microsoft YaHei" panose="020B0503020204020204" pitchFamily="34" charset="-122"/>
              </a:rPr>
              <a:t>這些堆管理器的根本區別在于堆管理算法和管理元數據</a:t>
            </a:r>
            <a:endPar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9" name="文本框 14">
            <a:extLst>
              <a:ext uri="{FF2B5EF4-FFF2-40B4-BE49-F238E27FC236}">
                <a16:creationId xmlns:a16="http://schemas.microsoft.com/office/drawing/2014/main" id="{EF308625-0DD8-4349-91CD-BE0CB99AD741}"/>
              </a:ext>
            </a:extLst>
          </p:cNvPr>
          <p:cNvSpPr txBox="1"/>
          <p:nvPr/>
        </p:nvSpPr>
        <p:spPr>
          <a:xfrm>
            <a:off x="492510" y="4095652"/>
            <a:ext cx="11240453"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其他常見的堆管理器有：</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Tx/>
              <a:buChar char="-"/>
              <a:tabLst/>
              <a:defRPr/>
            </a:pP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dlmalloc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堆管理器爲</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glibc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的早期堆管理器，所有綫程共享同一堆區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Tx/>
              <a:buChar char="-"/>
              <a:tabLst/>
              <a:defRPr/>
            </a:pP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musl</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堆管理器，適配于嵌入式系統</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14">
            <a:extLst>
              <a:ext uri="{FF2B5EF4-FFF2-40B4-BE49-F238E27FC236}">
                <a16:creationId xmlns:a16="http://schemas.microsoft.com/office/drawing/2014/main" id="{1E1BFE3B-2FC4-4E12-87C7-A89245279495}"/>
              </a:ext>
            </a:extLst>
          </p:cNvPr>
          <p:cNvSpPr txBox="1"/>
          <p:nvPr/>
        </p:nvSpPr>
        <p:spPr>
          <a:xfrm>
            <a:off x="1806076" y="2650794"/>
            <a:ext cx="8613320" cy="973472"/>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ptmalloc2</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多綫程堆管理器，是</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glibc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的堆管理器，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是最被廣泛使用的堆管理器，應用于絕大多數的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發行版上</a:t>
            </a:r>
            <a:endPar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34">
            <a:extLst>
              <a:ext uri="{FF2B5EF4-FFF2-40B4-BE49-F238E27FC236}">
                <a16:creationId xmlns:a16="http://schemas.microsoft.com/office/drawing/2014/main" id="{0066C068-8DB9-8914-CDAE-2EC40A8F058F}"/>
              </a:ext>
            </a:extLst>
          </p:cNvPr>
          <p:cNvSpPr>
            <a:spLocks/>
          </p:cNvSpPr>
          <p:nvPr/>
        </p:nvSpPr>
        <p:spPr bwMode="auto">
          <a:xfrm>
            <a:off x="1772604" y="2603227"/>
            <a:ext cx="8613320" cy="1021039"/>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6" name="Slide Number Placeholder 7">
            <a:extLst>
              <a:ext uri="{FF2B5EF4-FFF2-40B4-BE49-F238E27FC236}">
                <a16:creationId xmlns:a16="http://schemas.microsoft.com/office/drawing/2014/main" id="{08C029B3-D8B5-45A9-166E-8B15B945AD8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41</a:t>
            </a:fld>
            <a:endParaRPr lang="zh-CN" altLang="en-US" sz="1200" dirty="0">
              <a:solidFill>
                <a:schemeClr val="tx1">
                  <a:tint val="75000"/>
                </a:schemeClr>
              </a:solidFill>
            </a:endParaRPr>
          </a:p>
        </p:txBody>
      </p:sp>
    </p:spTree>
    <p:extLst>
      <p:ext uri="{BB962C8B-B14F-4D97-AF65-F5344CB8AC3E}">
        <p14:creationId xmlns:p14="http://schemas.microsoft.com/office/powerpoint/2010/main" val="1610096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015107"/>
            <a:ext cx="7224127" cy="420512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ptmalloc2</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管理堆區內存的最小單元是堆塊</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是向內核申請和歸還的最小單元</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每一個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分爲頭部數據結構爲</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malloc_chunk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結構體（低地址），之後爲分配或者未分配的數據塊（高地址）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空閑堆塊（</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Free 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）之間通過雙向鏈錶鏈接，幷根據大小由</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分類組織</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标题 2">
            <a:extLst>
              <a:ext uri="{FF2B5EF4-FFF2-40B4-BE49-F238E27FC236}">
                <a16:creationId xmlns:a16="http://schemas.microsoft.com/office/drawing/2014/main" id="{75B112C5-73A9-490A-83D2-64BAE93D9E3D}"/>
              </a:ext>
            </a:extLst>
          </p:cNvPr>
          <p:cNvSpPr>
            <a:spLocks noGrp="1"/>
          </p:cNvSpPr>
          <p:nvPr>
            <p:ph type="title"/>
          </p:nvPr>
        </p:nvSpPr>
        <p:spPr/>
        <p:txBody>
          <a:bodyPr/>
          <a:lstStyle/>
          <a:p>
            <a:r>
              <a:rPr lang="zh-CN" altLang="en-US" dirty="0"/>
              <a:t>正常工作的堆管理器</a:t>
            </a:r>
          </a:p>
        </p:txBody>
      </p:sp>
      <p:sp>
        <p:nvSpPr>
          <p:cNvPr id="31" name="文本框 30">
            <a:extLst>
              <a:ext uri="{FF2B5EF4-FFF2-40B4-BE49-F238E27FC236}">
                <a16:creationId xmlns:a16="http://schemas.microsoft.com/office/drawing/2014/main" id="{1FD625F8-7547-4282-81B1-38F65E2D90C2}"/>
              </a:ext>
            </a:extLst>
          </p:cNvPr>
          <p:cNvSpPr txBox="1"/>
          <p:nvPr/>
        </p:nvSpPr>
        <p:spPr>
          <a:xfrm>
            <a:off x="1143735" y="5575947"/>
            <a:ext cx="6148782" cy="973472"/>
          </a:xfrm>
          <a:prstGeom prst="rect">
            <a:avLst/>
          </a:prstGeom>
          <a:noFill/>
        </p:spPr>
        <p:txBody>
          <a:bodyPr wrap="square">
            <a:spAutoFit/>
          </a:bodyPr>
          <a:lstStyle/>
          <a:p>
            <a:pPr algn="ctr">
              <a:lnSpc>
                <a:spcPts val="3600"/>
              </a:lnSpc>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堆管理算法直接操縱</a:t>
            </a: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malloc_chunk</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結構</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ts val="3600"/>
              </a:lnSpc>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個</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Bin</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實現堆區的內存管理</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34">
            <a:extLst>
              <a:ext uri="{FF2B5EF4-FFF2-40B4-BE49-F238E27FC236}">
                <a16:creationId xmlns:a16="http://schemas.microsoft.com/office/drawing/2014/main" id="{4BA5E684-8250-A61F-95FA-C40998F79134}"/>
              </a:ext>
            </a:extLst>
          </p:cNvPr>
          <p:cNvSpPr>
            <a:spLocks/>
          </p:cNvSpPr>
          <p:nvPr/>
        </p:nvSpPr>
        <p:spPr bwMode="auto">
          <a:xfrm>
            <a:off x="1232733" y="5536247"/>
            <a:ext cx="5941787" cy="1021039"/>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pic>
        <p:nvPicPr>
          <p:cNvPr id="9" name="Picture 8">
            <a:extLst>
              <a:ext uri="{FF2B5EF4-FFF2-40B4-BE49-F238E27FC236}">
                <a16:creationId xmlns:a16="http://schemas.microsoft.com/office/drawing/2014/main" id="{5A4D6BF1-87B1-4496-85AF-9ED5FD2A5300}"/>
              </a:ext>
            </a:extLst>
          </p:cNvPr>
          <p:cNvPicPr>
            <a:picLocks noChangeAspect="1"/>
          </p:cNvPicPr>
          <p:nvPr/>
        </p:nvPicPr>
        <p:blipFill>
          <a:blip r:embed="rId3"/>
          <a:stretch>
            <a:fillRect/>
          </a:stretch>
        </p:blipFill>
        <p:spPr>
          <a:xfrm>
            <a:off x="7805635" y="1506578"/>
            <a:ext cx="4033987" cy="4205126"/>
          </a:xfrm>
          <a:prstGeom prst="rect">
            <a:avLst/>
          </a:prstGeom>
        </p:spPr>
      </p:pic>
      <p:sp>
        <p:nvSpPr>
          <p:cNvPr id="2" name="Slide Number Placeholder 7">
            <a:extLst>
              <a:ext uri="{FF2B5EF4-FFF2-40B4-BE49-F238E27FC236}">
                <a16:creationId xmlns:a16="http://schemas.microsoft.com/office/drawing/2014/main" id="{1503AF8D-B489-4E1B-9D4C-594494E8A3E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42</a:t>
            </a:fld>
            <a:endParaRPr lang="zh-CN" altLang="en-US" sz="1200" dirty="0">
              <a:solidFill>
                <a:schemeClr val="tx1">
                  <a:tint val="75000"/>
                </a:schemeClr>
              </a:solidFill>
            </a:endParaRPr>
          </a:p>
        </p:txBody>
      </p:sp>
    </p:spTree>
    <p:extLst>
      <p:ext uri="{BB962C8B-B14F-4D97-AF65-F5344CB8AC3E}">
        <p14:creationId xmlns:p14="http://schemas.microsoft.com/office/powerpoint/2010/main" val="30318102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149133"/>
            <a:ext cx="6468821" cy="4666790"/>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堆管理元數據結構 </a:t>
            </a:r>
            <a:r>
              <a:rPr kumimoji="1"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malloc_chunk</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prev_size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：當上一個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爲空閑，存儲上一個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大小，否則存上一個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的數據</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size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大小</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NON_MAIN_ARENA</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：是否屬子綫程</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IS_MMAPED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：是否由</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mmap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分配</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PREV_INUSE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：前一個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是否被分配</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bk, </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：鏈接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當中空閑塊的前後向鏈表指針，只有在空閑時使用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99016045-9DD4-40D7-8095-D14105685BB8}"/>
              </a:ext>
            </a:extLst>
          </p:cNvPr>
          <p:cNvSpPr>
            <a:spLocks noGrp="1"/>
          </p:cNvSpPr>
          <p:nvPr>
            <p:ph type="title"/>
          </p:nvPr>
        </p:nvSpPr>
        <p:spPr/>
        <p:txBody>
          <a:bodyPr/>
          <a:lstStyle/>
          <a:p>
            <a:r>
              <a:rPr lang="zh-CN" altLang="en-US" dirty="0"/>
              <a:t>正常工作的堆管理器</a:t>
            </a:r>
          </a:p>
        </p:txBody>
      </p:sp>
      <p:sp>
        <p:nvSpPr>
          <p:cNvPr id="23" name="Rounded Rectangle 36">
            <a:extLst>
              <a:ext uri="{FF2B5EF4-FFF2-40B4-BE49-F238E27FC236}">
                <a16:creationId xmlns:a16="http://schemas.microsoft.com/office/drawing/2014/main" id="{0AD99C0C-52D5-4BE3-95E4-3B5C43E7404D}"/>
              </a:ext>
            </a:extLst>
          </p:cNvPr>
          <p:cNvSpPr/>
          <p:nvPr/>
        </p:nvSpPr>
        <p:spPr>
          <a:xfrm>
            <a:off x="492511" y="6017643"/>
            <a:ext cx="11131520" cy="616915"/>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面向堆區攻擊方案的核心在于</a:t>
            </a:r>
            <a:r>
              <a:rPr kumimoji="1" lang="en-US" altLang="zh-CN"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 </a:t>
            </a: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如何惡意操縱堆管理數據結構</a:t>
            </a:r>
            <a:endParaRPr kumimoji="1" lang="bg-BG" altLang="zh-CN"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p:txBody>
      </p:sp>
      <p:pic>
        <p:nvPicPr>
          <p:cNvPr id="6" name="Picture 5">
            <a:extLst>
              <a:ext uri="{FF2B5EF4-FFF2-40B4-BE49-F238E27FC236}">
                <a16:creationId xmlns:a16="http://schemas.microsoft.com/office/drawing/2014/main" id="{B6A5F003-EB24-33C0-AA5D-FF986BC25347}"/>
              </a:ext>
            </a:extLst>
          </p:cNvPr>
          <p:cNvPicPr>
            <a:picLocks noChangeAspect="1"/>
          </p:cNvPicPr>
          <p:nvPr/>
        </p:nvPicPr>
        <p:blipFill>
          <a:blip r:embed="rId3"/>
          <a:stretch>
            <a:fillRect/>
          </a:stretch>
        </p:blipFill>
        <p:spPr>
          <a:xfrm>
            <a:off x="7284720" y="1831645"/>
            <a:ext cx="4500098" cy="2947432"/>
          </a:xfrm>
          <a:prstGeom prst="rect">
            <a:avLst/>
          </a:prstGeom>
        </p:spPr>
      </p:pic>
      <p:sp>
        <p:nvSpPr>
          <p:cNvPr id="3" name="Slide Number Placeholder 7">
            <a:extLst>
              <a:ext uri="{FF2B5EF4-FFF2-40B4-BE49-F238E27FC236}">
                <a16:creationId xmlns:a16="http://schemas.microsoft.com/office/drawing/2014/main" id="{CEACB113-C95B-26F1-C86B-3E7A0031094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43</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511986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3170062"/>
            <a:ext cx="6119997"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堆區溢出攻擊是堆區</a:t>
            </a:r>
            <a:r>
              <a:rPr kumimoji="1" lang="zh-CN" altLang="en-US" sz="24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最常見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的攻擊方式，這種攻擊方式可以實現惡意數據的覆蓋寫入，進而實現進程控制流劫持</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aphicFrame>
        <p:nvGraphicFramePr>
          <p:cNvPr id="9" name="表格 7">
            <a:extLst>
              <a:ext uri="{FF2B5EF4-FFF2-40B4-BE49-F238E27FC236}">
                <a16:creationId xmlns:a16="http://schemas.microsoft.com/office/drawing/2014/main" id="{93B76CD1-C181-49EA-B844-6511DF4CD63D}"/>
              </a:ext>
            </a:extLst>
          </p:cNvPr>
          <p:cNvGraphicFramePr>
            <a:graphicFrameLocks noGrp="1"/>
          </p:cNvGraphicFramePr>
          <p:nvPr>
            <p:extLst>
              <p:ext uri="{D42A27DB-BD31-4B8C-83A1-F6EECF244321}">
                <p14:modId xmlns:p14="http://schemas.microsoft.com/office/powerpoint/2010/main" val="1311634873"/>
              </p:ext>
            </p:extLst>
          </p:nvPr>
        </p:nvGraphicFramePr>
        <p:xfrm>
          <a:off x="7234096" y="2197235"/>
          <a:ext cx="4674874" cy="2463530"/>
        </p:xfrm>
        <a:graphic>
          <a:graphicData uri="http://schemas.openxmlformats.org/drawingml/2006/table">
            <a:tbl>
              <a:tblPr firstRow="1" bandRow="1">
                <a:tableStyleId>{5C22544A-7EE6-4342-B048-85BDC9FD1C3A}</a:tableStyleId>
              </a:tblPr>
              <a:tblGrid>
                <a:gridCol w="2669803">
                  <a:extLst>
                    <a:ext uri="{9D8B030D-6E8A-4147-A177-3AD203B41FA5}">
                      <a16:colId xmlns:a16="http://schemas.microsoft.com/office/drawing/2014/main" val="1505234570"/>
                    </a:ext>
                  </a:extLst>
                </a:gridCol>
                <a:gridCol w="2005071">
                  <a:extLst>
                    <a:ext uri="{9D8B030D-6E8A-4147-A177-3AD203B41FA5}">
                      <a16:colId xmlns:a16="http://schemas.microsoft.com/office/drawing/2014/main" val="3085446518"/>
                    </a:ext>
                  </a:extLst>
                </a:gridCol>
              </a:tblGrid>
              <a:tr h="366364">
                <a:tc>
                  <a:txBody>
                    <a:bodyPr/>
                    <a:lstStyle/>
                    <a:p>
                      <a:pPr algn="l"/>
                      <a:r>
                        <a:rPr lang="en-US" altLang="zh-CN" sz="2000" dirty="0">
                          <a:solidFill>
                            <a:schemeClr val="tx1"/>
                          </a:solidFill>
                          <a:latin typeface="微软雅黑" panose="020B0503020204020204" pitchFamily="34" charset="-122"/>
                          <a:ea typeface="微软雅黑" panose="020B0503020204020204" pitchFamily="34" charset="-122"/>
                        </a:rPr>
                        <a:t>Heap Vulnerability</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微软雅黑" panose="020B0503020204020204" pitchFamily="34" charset="-122"/>
                          <a:ea typeface="微软雅黑" panose="020B0503020204020204" pitchFamily="34" charset="-122"/>
                        </a:rPr>
                        <a:t>Occurrences</a:t>
                      </a:r>
                      <a:endParaRPr lang="zh-CN" altLang="en-US" sz="2000" dirty="0">
                        <a:solidFill>
                          <a:schemeClr val="tx1"/>
                        </a:solidFill>
                        <a:latin typeface="微软雅黑" panose="020B0503020204020204" pitchFamily="34" charset="-122"/>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0303441"/>
                  </a:ext>
                </a:extLst>
              </a:tr>
              <a:tr h="413458">
                <a:tc>
                  <a:txBody>
                    <a:bodyPr/>
                    <a:lstStyle/>
                    <a:p>
                      <a:pPr marL="0" algn="l" defTabSz="914400" rtl="0" eaLnBrk="1" latinLnBrk="0" hangingPunct="1"/>
                      <a:r>
                        <a:rPr lang="en-US" altLang="zh-CN" sz="2000" kern="1200" dirty="0">
                          <a:solidFill>
                            <a:srgbClr val="C00000"/>
                          </a:solidFill>
                          <a:latin typeface="微软雅黑" panose="020B0503020204020204" pitchFamily="34" charset="-122"/>
                          <a:ea typeface="微软雅黑" panose="020B0503020204020204" pitchFamily="34" charset="-122"/>
                          <a:cs typeface="+mn-cs"/>
                        </a:rPr>
                        <a:t>Heap Overflow</a:t>
                      </a:r>
                      <a:endParaRPr lang="zh-CN" altLang="en-US" sz="2000" kern="1200" dirty="0">
                        <a:solidFill>
                          <a:srgbClr val="C00000"/>
                        </a:solidFill>
                        <a:latin typeface="微软雅黑" panose="020B0503020204020204" pitchFamily="34" charset="-122"/>
                        <a:ea typeface="微软雅黑" panose="020B0503020204020204" pitchFamily="34"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CN" sz="2000" kern="1200" dirty="0">
                          <a:solidFill>
                            <a:srgbClr val="C00000"/>
                          </a:solidFill>
                          <a:latin typeface="微软雅黑" panose="020B0503020204020204" pitchFamily="34" charset="-122"/>
                          <a:ea typeface="微软雅黑" panose="020B0503020204020204" pitchFamily="34" charset="-122"/>
                          <a:cs typeface="+mn-cs"/>
                        </a:rPr>
                        <a:t>673</a:t>
                      </a:r>
                      <a:endParaRPr lang="zh-CN" altLang="en-US" sz="2000" kern="1200" dirty="0">
                        <a:solidFill>
                          <a:srgbClr val="C00000"/>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8893668"/>
                  </a:ext>
                </a:extLst>
              </a:tr>
              <a:tr h="413458">
                <a:tc>
                  <a:txBody>
                    <a:bodyPr/>
                    <a:lstStyle/>
                    <a:p>
                      <a:pPr marL="0" algn="l"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Use-After-Free</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264</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63559604"/>
                  </a:ext>
                </a:extLst>
              </a:tr>
              <a:tr h="413458">
                <a:tc>
                  <a:txBody>
                    <a:bodyPr/>
                    <a:lstStyle/>
                    <a:p>
                      <a:pPr marL="0" algn="l"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Heap Over-Read</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125</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73954263"/>
                  </a:ext>
                </a:extLst>
              </a:tr>
              <a:tr h="413458">
                <a:tc>
                  <a:txBody>
                    <a:bodyPr/>
                    <a:lstStyle/>
                    <a:p>
                      <a:pPr marL="0" algn="l"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Double-Free</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35</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82806533"/>
                  </a:ext>
                </a:extLst>
              </a:tr>
              <a:tr h="413458">
                <a:tc>
                  <a:txBody>
                    <a:bodyPr/>
                    <a:lstStyle/>
                    <a:p>
                      <a:pPr marL="0" algn="l"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Invalid-Free</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914400" rtl="0" eaLnBrk="1" latinLnBrk="0" hangingPunct="1"/>
                      <a:r>
                        <a:rPr lang="en-US" altLang="zh-CN" sz="2000" kern="1200" dirty="0">
                          <a:solidFill>
                            <a:schemeClr val="dk1"/>
                          </a:solidFill>
                          <a:latin typeface="微软雅黑" panose="020B0503020204020204" pitchFamily="34" charset="-122"/>
                          <a:ea typeface="微软雅黑" panose="020B0503020204020204" pitchFamily="34" charset="-122"/>
                          <a:cs typeface="+mn-cs"/>
                        </a:rPr>
                        <a:t>33</a:t>
                      </a:r>
                      <a:endParaRPr lang="zh-CN" altLang="en-US" sz="2000" kern="1200" dirty="0">
                        <a:solidFill>
                          <a:schemeClr val="dk1"/>
                        </a:solidFill>
                        <a:latin typeface="微软雅黑" panose="020B0503020204020204" pitchFamily="34" charset="-122"/>
                        <a:ea typeface="微软雅黑" panose="020B0503020204020204" pitchFamily="34" charset="-122"/>
                        <a:cs typeface="+mn-cs"/>
                      </a:endParaRPr>
                    </a:p>
                  </a:txBody>
                  <a:tcPr anchor="ct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52824120"/>
                  </a:ext>
                </a:extLst>
              </a:tr>
            </a:tbl>
          </a:graphicData>
        </a:graphic>
      </p:graphicFrame>
      <p:cxnSp>
        <p:nvCxnSpPr>
          <p:cNvPr id="10" name="直接连接符 9">
            <a:extLst>
              <a:ext uri="{FF2B5EF4-FFF2-40B4-BE49-F238E27FC236}">
                <a16:creationId xmlns:a16="http://schemas.microsoft.com/office/drawing/2014/main" id="{8355F5D9-13BE-461F-A428-524F61A79A96}"/>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4">
            <a:extLst>
              <a:ext uri="{FF2B5EF4-FFF2-40B4-BE49-F238E27FC236}">
                <a16:creationId xmlns:a16="http://schemas.microsoft.com/office/drawing/2014/main" id="{70DA496A-9952-483E-9B6C-0B473B5A9BE5}"/>
              </a:ext>
            </a:extLst>
          </p:cNvPr>
          <p:cNvSpPr txBox="1"/>
          <p:nvPr/>
        </p:nvSpPr>
        <p:spPr>
          <a:xfrm>
            <a:off x="561975" y="6235648"/>
            <a:ext cx="547200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數據來自</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CVE-2017</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當中的檢索結果</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77C50E3A-53B5-43B2-95C1-89D7C55B56AF}"/>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sp>
        <p:nvSpPr>
          <p:cNvPr id="14" name="矩形 13">
            <a:extLst>
              <a:ext uri="{FF2B5EF4-FFF2-40B4-BE49-F238E27FC236}">
                <a16:creationId xmlns:a16="http://schemas.microsoft.com/office/drawing/2014/main" id="{44B933B9-169C-4744-848D-CCEC359445C9}"/>
              </a:ext>
            </a:extLst>
          </p:cNvPr>
          <p:cNvSpPr>
            <a:spLocks/>
          </p:cNvSpPr>
          <p:nvPr/>
        </p:nvSpPr>
        <p:spPr bwMode="auto">
          <a:xfrm>
            <a:off x="492511" y="1240749"/>
            <a:ext cx="6119997" cy="165763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5" name="文本框 14">
            <a:extLst>
              <a:ext uri="{FF2B5EF4-FFF2-40B4-BE49-F238E27FC236}">
                <a16:creationId xmlns:a16="http://schemas.microsoft.com/office/drawing/2014/main" id="{3578E3E4-080F-4DBE-B4AA-C91E76514F33}"/>
              </a:ext>
            </a:extLst>
          </p:cNvPr>
          <p:cNvSpPr txBox="1"/>
          <p:nvPr/>
        </p:nvSpPr>
        <p:spPr>
          <a:xfrm>
            <a:off x="492510" y="1342667"/>
            <a:ext cx="6119997" cy="1351139"/>
          </a:xfrm>
          <a:prstGeom prst="rect">
            <a:avLst/>
          </a:prstGeom>
          <a:noFill/>
        </p:spPr>
        <p:txBody>
          <a:bodyPr wrap="square" rtlCol="0">
            <a:spAutoFit/>
          </a:bodyPr>
          <a:lstStyle/>
          <a:p>
            <a:pPr algn="ctr">
              <a:lnSpc>
                <a:spcPct val="120000"/>
              </a:lnSpc>
              <a:spcAft>
                <a:spcPts val="600"/>
              </a:spcAft>
            </a:pP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堆溢出攻擊</a:t>
            </a:r>
            <a:endParaRPr lang="en-US" altLang="zh-CN" sz="2400" b="1" dirty="0"/>
          </a:p>
          <a:p>
            <a:pPr algn="ct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是一類攻擊者越界訪問幷篡改堆管理數據結構，實現惡意內存讀寫的攻擊</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7" name="文本框 16">
            <a:extLst>
              <a:ext uri="{FF2B5EF4-FFF2-40B4-BE49-F238E27FC236}">
                <a16:creationId xmlns:a16="http://schemas.microsoft.com/office/drawing/2014/main" id="{8B15CAD2-E4DC-47E2-8B5D-874480D1232A}"/>
              </a:ext>
            </a:extLst>
          </p:cNvPr>
          <p:cNvSpPr txBox="1"/>
          <p:nvPr/>
        </p:nvSpPr>
        <p:spPr>
          <a:xfrm>
            <a:off x="579815" y="4916422"/>
            <a:ext cx="6148782" cy="973472"/>
          </a:xfrm>
          <a:prstGeom prst="rect">
            <a:avLst/>
          </a:prstGeom>
          <a:noFill/>
        </p:spPr>
        <p:txBody>
          <a:bodyPr wrap="square">
            <a:spAutoFit/>
          </a:bodyPr>
          <a:lstStyle/>
          <a:p>
            <a:pPr marR="0" lvl="0" algn="just"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堆溢出的使用廣泛，</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25%</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針對</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windows7</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的攻擊都是堆區溢出</a:t>
            </a:r>
            <a:endPar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矩形 34">
            <a:extLst>
              <a:ext uri="{FF2B5EF4-FFF2-40B4-BE49-F238E27FC236}">
                <a16:creationId xmlns:a16="http://schemas.microsoft.com/office/drawing/2014/main" id="{C7C7C1E4-53F5-2E53-5607-002BDC84C2A0}"/>
              </a:ext>
            </a:extLst>
          </p:cNvPr>
          <p:cNvSpPr>
            <a:spLocks/>
          </p:cNvSpPr>
          <p:nvPr/>
        </p:nvSpPr>
        <p:spPr bwMode="auto">
          <a:xfrm>
            <a:off x="492511" y="4929117"/>
            <a:ext cx="6218246" cy="1021039"/>
          </a:xfrm>
          <a:prstGeom prst="rect">
            <a:avLst/>
          </a:prstGeom>
          <a:solidFill>
            <a:schemeClr val="accent3">
              <a:lumMod val="20000"/>
              <a:lumOff val="80000"/>
              <a:alpha val="15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endParaRPr kumimoji="1" lang="en-US" sz="20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5" name="Slide Number Placeholder 7">
            <a:extLst>
              <a:ext uri="{FF2B5EF4-FFF2-40B4-BE49-F238E27FC236}">
                <a16:creationId xmlns:a16="http://schemas.microsoft.com/office/drawing/2014/main" id="{551EED36-6DB8-4DF1-51C3-CF4C9A2465E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44</a:t>
            </a:fld>
            <a:endParaRPr lang="zh-CN" altLang="en-US" sz="1200" dirty="0">
              <a:solidFill>
                <a:schemeClr val="tx1">
                  <a:tint val="75000"/>
                </a:schemeClr>
              </a:solidFill>
            </a:endParaRPr>
          </a:p>
        </p:txBody>
      </p:sp>
    </p:spTree>
    <p:extLst>
      <p:ext uri="{BB962C8B-B14F-4D97-AF65-F5344CB8AC3E}">
        <p14:creationId xmlns:p14="http://schemas.microsoft.com/office/powerpoint/2010/main" val="2819231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742167"/>
            <a:ext cx="6791155"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最簡單的堆區溢出：</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直接覆蓋</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malloc_chunk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首部爲無意義內容，在堆管理器處理管理元數據時將造成崩潰</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43181F28-39B6-43BB-A37E-6F497F81A9EE}"/>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pic>
        <p:nvPicPr>
          <p:cNvPr id="7" name="Picture 6">
            <a:extLst>
              <a:ext uri="{FF2B5EF4-FFF2-40B4-BE49-F238E27FC236}">
                <a16:creationId xmlns:a16="http://schemas.microsoft.com/office/drawing/2014/main" id="{BF7FF746-E68D-9858-A3BE-798006749E1D}"/>
              </a:ext>
            </a:extLst>
          </p:cNvPr>
          <p:cNvPicPr>
            <a:picLocks noChangeAspect="1"/>
          </p:cNvPicPr>
          <p:nvPr/>
        </p:nvPicPr>
        <p:blipFill>
          <a:blip r:embed="rId3"/>
          <a:stretch>
            <a:fillRect/>
          </a:stretch>
        </p:blipFill>
        <p:spPr>
          <a:xfrm>
            <a:off x="7575366" y="1181706"/>
            <a:ext cx="4124123" cy="4817606"/>
          </a:xfrm>
          <a:prstGeom prst="rect">
            <a:avLst/>
          </a:prstGeom>
        </p:spPr>
      </p:pic>
      <p:sp>
        <p:nvSpPr>
          <p:cNvPr id="3" name="Slide Number Placeholder 7">
            <a:extLst>
              <a:ext uri="{FF2B5EF4-FFF2-40B4-BE49-F238E27FC236}">
                <a16:creationId xmlns:a16="http://schemas.microsoft.com/office/drawing/2014/main" id="{CAAF1D4B-6050-260F-57B5-B81E596AC39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45</a:t>
            </a:fld>
            <a:endParaRPr lang="zh-CN" altLang="en-US" sz="1200" dirty="0">
              <a:solidFill>
                <a:schemeClr val="tx1">
                  <a:tint val="75000"/>
                </a:schemeClr>
              </a:solidFill>
            </a:endParaRPr>
          </a:p>
        </p:txBody>
      </p:sp>
    </p:spTree>
    <p:extLst>
      <p:ext uri="{BB962C8B-B14F-4D97-AF65-F5344CB8AC3E}">
        <p14:creationId xmlns:p14="http://schemas.microsoft.com/office/powerpoint/2010/main" val="4519099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148927"/>
            <a:ext cx="6722095" cy="511807"/>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堆區溢出：構造堆塊重叠（</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Heap Overlap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标题 2">
            <a:extLst>
              <a:ext uri="{FF2B5EF4-FFF2-40B4-BE49-F238E27FC236}">
                <a16:creationId xmlns:a16="http://schemas.microsoft.com/office/drawing/2014/main" id="{5F6E4268-70B2-416B-BC06-4CAF8CF9CEDF}"/>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sp>
        <p:nvSpPr>
          <p:cNvPr id="31" name="文本框 30">
            <a:extLst>
              <a:ext uri="{FF2B5EF4-FFF2-40B4-BE49-F238E27FC236}">
                <a16:creationId xmlns:a16="http://schemas.microsoft.com/office/drawing/2014/main" id="{162793CC-C81D-4A54-A4A7-2EF0DC2DECC0}"/>
              </a:ext>
            </a:extLst>
          </p:cNvPr>
          <p:cNvSpPr txBox="1"/>
          <p:nvPr/>
        </p:nvSpPr>
        <p:spPr>
          <a:xfrm>
            <a:off x="492509" y="4274877"/>
            <a:ext cx="6606651" cy="1435136"/>
          </a:xfrm>
          <a:prstGeom prst="rect">
            <a:avLst/>
          </a:prstGeom>
          <a:noFill/>
        </p:spPr>
        <p:txBody>
          <a:bodyPr wrap="square">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如右圖所示，造成</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Heap Overlap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之後攻擊者可以通過寫入一個堆塊，實現對另一堆塊內容的寫入；同理，讀出被覆蓋堆塊當中的數據</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4" name="矩形 33">
            <a:extLst>
              <a:ext uri="{FF2B5EF4-FFF2-40B4-BE49-F238E27FC236}">
                <a16:creationId xmlns:a16="http://schemas.microsoft.com/office/drawing/2014/main" id="{4B6CEADF-3E46-41B4-B638-D79C9FFA91AD}"/>
              </a:ext>
            </a:extLst>
          </p:cNvPr>
          <p:cNvSpPr>
            <a:spLocks/>
          </p:cNvSpPr>
          <p:nvPr/>
        </p:nvSpPr>
        <p:spPr bwMode="auto">
          <a:xfrm>
            <a:off x="548640" y="2351836"/>
            <a:ext cx="6665965" cy="123941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5" name="文本框 34">
            <a:extLst>
              <a:ext uri="{FF2B5EF4-FFF2-40B4-BE49-F238E27FC236}">
                <a16:creationId xmlns:a16="http://schemas.microsoft.com/office/drawing/2014/main" id="{5B91E5FF-FB14-423E-9649-647F96AF44DC}"/>
              </a:ext>
            </a:extLst>
          </p:cNvPr>
          <p:cNvSpPr txBox="1"/>
          <p:nvPr/>
        </p:nvSpPr>
        <p:spPr>
          <a:xfrm>
            <a:off x="540875" y="2453753"/>
            <a:ext cx="6673729" cy="1018099"/>
          </a:xfrm>
          <a:prstGeom prst="rect">
            <a:avLst/>
          </a:prstGeom>
          <a:noFill/>
        </p:spPr>
        <p:txBody>
          <a:bodyPr wrap="square" rtlCol="0">
            <a:spAutoFit/>
          </a:bodyPr>
          <a:lstStyle/>
          <a:p>
            <a:pPr algn="ctr">
              <a:lnSpc>
                <a:spcPct val="120000"/>
              </a:lnSpc>
              <a:spcAft>
                <a:spcPts val="600"/>
              </a:spcAft>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堆塊重叠是一種</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病態</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堆區內存分配狀態，</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ct val="120000"/>
              </a:lnSpc>
              <a:spcAft>
                <a:spcPts val="600"/>
              </a:spcAft>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同一堆區邏輯地址被堆管理器</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多次分配</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A0706D60-6FE9-A143-9152-9F3959E414C7}"/>
              </a:ext>
            </a:extLst>
          </p:cNvPr>
          <p:cNvPicPr>
            <a:picLocks noChangeAspect="1"/>
          </p:cNvPicPr>
          <p:nvPr/>
        </p:nvPicPr>
        <p:blipFill>
          <a:blip r:embed="rId3"/>
          <a:stretch>
            <a:fillRect/>
          </a:stretch>
        </p:blipFill>
        <p:spPr>
          <a:xfrm>
            <a:off x="7655656" y="1404830"/>
            <a:ext cx="3967384" cy="4506164"/>
          </a:xfrm>
          <a:prstGeom prst="rect">
            <a:avLst/>
          </a:prstGeom>
        </p:spPr>
      </p:pic>
      <p:sp>
        <p:nvSpPr>
          <p:cNvPr id="2" name="Slide Number Placeholder 7">
            <a:extLst>
              <a:ext uri="{FF2B5EF4-FFF2-40B4-BE49-F238E27FC236}">
                <a16:creationId xmlns:a16="http://schemas.microsoft.com/office/drawing/2014/main" id="{18DD6701-1578-210E-ACBE-84D21BF09300}"/>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46</a:t>
            </a:fld>
            <a:endParaRPr lang="zh-CN" altLang="en-US" sz="1200" dirty="0">
              <a:solidFill>
                <a:schemeClr val="tx1">
                  <a:tint val="75000"/>
                </a:schemeClr>
              </a:solidFill>
            </a:endParaRPr>
          </a:p>
        </p:txBody>
      </p:sp>
    </p:spTree>
    <p:extLst>
      <p:ext uri="{BB962C8B-B14F-4D97-AF65-F5344CB8AC3E}">
        <p14:creationId xmlns:p14="http://schemas.microsoft.com/office/powerpoint/2010/main" val="114004733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503267-58FD-6B86-7A40-24A0C6210109}"/>
              </a:ext>
            </a:extLst>
          </p:cNvPr>
          <p:cNvPicPr>
            <a:picLocks noChangeAspect="1"/>
          </p:cNvPicPr>
          <p:nvPr/>
        </p:nvPicPr>
        <p:blipFill>
          <a:blip r:embed="rId3"/>
          <a:stretch>
            <a:fillRect/>
          </a:stretch>
        </p:blipFill>
        <p:spPr>
          <a:xfrm>
            <a:off x="6033975" y="2253967"/>
            <a:ext cx="5913120" cy="2930256"/>
          </a:xfrm>
          <a:prstGeom prst="rect">
            <a:avLst/>
          </a:prstGeom>
        </p:spPr>
      </p:pic>
      <p:sp>
        <p:nvSpPr>
          <p:cNvPr id="8" name="文本框 14">
            <a:extLst>
              <a:ext uri="{FF2B5EF4-FFF2-40B4-BE49-F238E27FC236}">
                <a16:creationId xmlns:a16="http://schemas.microsoft.com/office/drawing/2014/main" id="{0FC9A5B1-66EA-467E-AD2B-4AEF6014A23C}"/>
              </a:ext>
            </a:extLst>
          </p:cNvPr>
          <p:cNvSpPr txBox="1"/>
          <p:nvPr/>
        </p:nvSpPr>
        <p:spPr>
          <a:xfrm>
            <a:off x="492511" y="1742167"/>
            <a:ext cx="5603490" cy="4205126"/>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我們考慮一個案例：堆塊</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是可以發生溢出的堆塊，其中</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B</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是被分配（</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allocated</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）狀態的塊，而且</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是我們的攻擊目標塊</a:t>
            </a: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攻擊者首先通過</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堆區溢出</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數據去改寫</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size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域，把</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包含到</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當中，以此構造了堆塊重叠</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1D160949-8E8A-42C4-A5A4-87865D0B90AA}"/>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cxnSp>
        <p:nvCxnSpPr>
          <p:cNvPr id="31" name="直接连接符 30">
            <a:extLst>
              <a:ext uri="{FF2B5EF4-FFF2-40B4-BE49-F238E27FC236}">
                <a16:creationId xmlns:a16="http://schemas.microsoft.com/office/drawing/2014/main" id="{B9C3C444-1213-4D56-84BC-13D98D24AD58}"/>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文本框 14">
            <a:extLst>
              <a:ext uri="{FF2B5EF4-FFF2-40B4-BE49-F238E27FC236}">
                <a16:creationId xmlns:a16="http://schemas.microsoft.com/office/drawing/2014/main" id="{AA98FCAB-51F1-4DFC-8A5E-223BA1E52B61}"/>
              </a:ext>
            </a:extLst>
          </p:cNvPr>
          <p:cNvSpPr txBox="1"/>
          <p:nvPr/>
        </p:nvSpPr>
        <p:spPr>
          <a:xfrm>
            <a:off x="561975" y="6235648"/>
            <a:ext cx="547200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size</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字段在</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malloc_chunk</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結構的第一個</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字節</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（管理已分配堆塊時），因而僅溢出</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字節就可以覆蓋到</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size</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域</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Slide Number Placeholder 7">
            <a:extLst>
              <a:ext uri="{FF2B5EF4-FFF2-40B4-BE49-F238E27FC236}">
                <a16:creationId xmlns:a16="http://schemas.microsoft.com/office/drawing/2014/main" id="{1C824168-5D86-3131-68D4-905145106746}"/>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47</a:t>
            </a:fld>
            <a:endParaRPr lang="zh-CN" altLang="en-US" sz="1200" dirty="0">
              <a:solidFill>
                <a:schemeClr val="tx1">
                  <a:tint val="75000"/>
                </a:schemeClr>
              </a:solidFill>
            </a:endParaRPr>
          </a:p>
        </p:txBody>
      </p:sp>
    </p:spTree>
    <p:extLst>
      <p:ext uri="{BB962C8B-B14F-4D97-AF65-F5344CB8AC3E}">
        <p14:creationId xmlns:p14="http://schemas.microsoft.com/office/powerpoint/2010/main" val="426838770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742167"/>
            <a:ext cx="6519876"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而後攻擊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者操縱控制邏輯，使被修改了</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size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將被重新分配</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最終構造</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堆塊重叠</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，攻擊者可以通過讀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寫被重新分配的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來讀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寫塊</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當中的數據</a:t>
            </a:r>
            <a:endPar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12B0EB4A-BA21-4C0B-952C-6454A38744A1}"/>
              </a:ext>
            </a:extLst>
          </p:cNvPr>
          <p:cNvCxnSpPr/>
          <p:nvPr/>
        </p:nvCxnSpPr>
        <p:spPr>
          <a:xfrm>
            <a:off x="8771302"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5DB88FF5-B54C-410F-8B24-3FE207684AEE}"/>
              </a:ext>
            </a:extLst>
          </p:cNvPr>
          <p:cNvCxnSpPr/>
          <p:nvPr/>
        </p:nvCxnSpPr>
        <p:spPr>
          <a:xfrm>
            <a:off x="10782789"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14BCFF13-8D04-4E01-9E59-706C39E04560}"/>
              </a:ext>
            </a:extLst>
          </p:cNvPr>
          <p:cNvCxnSpPr/>
          <p:nvPr/>
        </p:nvCxnSpPr>
        <p:spPr>
          <a:xfrm>
            <a:off x="8764189" y="4319259"/>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F1C59CDD-7254-4E49-A844-AF3431214F87}"/>
              </a:ext>
            </a:extLst>
          </p:cNvPr>
          <p:cNvSpPr txBox="1"/>
          <p:nvPr/>
        </p:nvSpPr>
        <p:spPr>
          <a:xfrm>
            <a:off x="8768138" y="3598795"/>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cxnSp>
        <p:nvCxnSpPr>
          <p:cNvPr id="15" name="直接连接符 14">
            <a:extLst>
              <a:ext uri="{FF2B5EF4-FFF2-40B4-BE49-F238E27FC236}">
                <a16:creationId xmlns:a16="http://schemas.microsoft.com/office/drawing/2014/main" id="{22C24313-2C64-4373-8A16-E5245D33D838}"/>
              </a:ext>
            </a:extLst>
          </p:cNvPr>
          <p:cNvCxnSpPr/>
          <p:nvPr/>
        </p:nvCxnSpPr>
        <p:spPr>
          <a:xfrm>
            <a:off x="8769954" y="479573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22CAC66-3C33-4823-AEF8-11F10568D2B6}"/>
              </a:ext>
            </a:extLst>
          </p:cNvPr>
          <p:cNvSpPr txBox="1"/>
          <p:nvPr/>
        </p:nvSpPr>
        <p:spPr>
          <a:xfrm>
            <a:off x="8768138" y="4911154"/>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 (in-use)</a:t>
            </a:r>
          </a:p>
        </p:txBody>
      </p:sp>
      <p:cxnSp>
        <p:nvCxnSpPr>
          <p:cNvPr id="17" name="直接连接符 16">
            <a:extLst>
              <a:ext uri="{FF2B5EF4-FFF2-40B4-BE49-F238E27FC236}">
                <a16:creationId xmlns:a16="http://schemas.microsoft.com/office/drawing/2014/main" id="{10F8231E-9AB8-49F5-BF4F-28218B159497}"/>
              </a:ext>
            </a:extLst>
          </p:cNvPr>
          <p:cNvCxnSpPr/>
          <p:nvPr/>
        </p:nvCxnSpPr>
        <p:spPr>
          <a:xfrm>
            <a:off x="8768372" y="535668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96C06351-9130-4080-B1C9-EA8ABE2390B3}"/>
              </a:ext>
            </a:extLst>
          </p:cNvPr>
          <p:cNvSpPr txBox="1"/>
          <p:nvPr/>
        </p:nvSpPr>
        <p:spPr>
          <a:xfrm>
            <a:off x="8774467" y="5387003"/>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Header A</a:t>
            </a:r>
          </a:p>
        </p:txBody>
      </p:sp>
      <p:cxnSp>
        <p:nvCxnSpPr>
          <p:cNvPr id="19" name="直接连接符 18">
            <a:extLst>
              <a:ext uri="{FF2B5EF4-FFF2-40B4-BE49-F238E27FC236}">
                <a16:creationId xmlns:a16="http://schemas.microsoft.com/office/drawing/2014/main" id="{CA799013-2B7E-4FF6-A200-F7D4996D905F}"/>
              </a:ext>
            </a:extLst>
          </p:cNvPr>
          <p:cNvCxnSpPr/>
          <p:nvPr/>
        </p:nvCxnSpPr>
        <p:spPr>
          <a:xfrm>
            <a:off x="8774555" y="578172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700B0ECE-8B38-4B7C-B6CA-85198A826C65}"/>
              </a:ext>
            </a:extLst>
          </p:cNvPr>
          <p:cNvSpPr txBox="1"/>
          <p:nvPr/>
        </p:nvSpPr>
        <p:spPr>
          <a:xfrm>
            <a:off x="8778416" y="435019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Header B</a:t>
            </a:r>
          </a:p>
        </p:txBody>
      </p:sp>
      <p:sp>
        <p:nvSpPr>
          <p:cNvPr id="21" name="文本框 20">
            <a:extLst>
              <a:ext uri="{FF2B5EF4-FFF2-40B4-BE49-F238E27FC236}">
                <a16:creationId xmlns:a16="http://schemas.microsoft.com/office/drawing/2014/main" id="{4D8CE7DC-DBC5-4161-8E26-04EA7EEEF046}"/>
              </a:ext>
            </a:extLst>
          </p:cNvPr>
          <p:cNvSpPr txBox="1"/>
          <p:nvPr/>
        </p:nvSpPr>
        <p:spPr>
          <a:xfrm>
            <a:off x="8790069" y="2629076"/>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C</a:t>
            </a:r>
          </a:p>
        </p:txBody>
      </p:sp>
      <p:cxnSp>
        <p:nvCxnSpPr>
          <p:cNvPr id="22" name="直接连接符 21">
            <a:extLst>
              <a:ext uri="{FF2B5EF4-FFF2-40B4-BE49-F238E27FC236}">
                <a16:creationId xmlns:a16="http://schemas.microsoft.com/office/drawing/2014/main" id="{AAC9052D-3865-4326-ABB6-D902DA2017D1}"/>
              </a:ext>
            </a:extLst>
          </p:cNvPr>
          <p:cNvCxnSpPr/>
          <p:nvPr/>
        </p:nvCxnSpPr>
        <p:spPr>
          <a:xfrm>
            <a:off x="8772904" y="350524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4A983038-A8EC-4EF5-8411-D88A5B123342}"/>
              </a:ext>
            </a:extLst>
          </p:cNvPr>
          <p:cNvSpPr txBox="1"/>
          <p:nvPr/>
        </p:nvSpPr>
        <p:spPr>
          <a:xfrm>
            <a:off x="8764189" y="85299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6" name="文本框 25">
            <a:extLst>
              <a:ext uri="{FF2B5EF4-FFF2-40B4-BE49-F238E27FC236}">
                <a16:creationId xmlns:a16="http://schemas.microsoft.com/office/drawing/2014/main" id="{921783D0-400F-4CC4-9F4B-8B7522DEB82E}"/>
              </a:ext>
            </a:extLst>
          </p:cNvPr>
          <p:cNvSpPr txBox="1"/>
          <p:nvPr/>
        </p:nvSpPr>
        <p:spPr>
          <a:xfrm>
            <a:off x="8797878" y="605976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0" name="文本框 29">
            <a:extLst>
              <a:ext uri="{FF2B5EF4-FFF2-40B4-BE49-F238E27FC236}">
                <a16:creationId xmlns:a16="http://schemas.microsoft.com/office/drawing/2014/main" id="{F046D1AF-CD3F-46A4-9FAE-68ABB45DFB5D}"/>
              </a:ext>
            </a:extLst>
          </p:cNvPr>
          <p:cNvSpPr txBox="1"/>
          <p:nvPr/>
        </p:nvSpPr>
        <p:spPr>
          <a:xfrm>
            <a:off x="10979380" y="5875103"/>
            <a:ext cx="8497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3" name="任意多边形: 形状 32">
            <a:extLst>
              <a:ext uri="{FF2B5EF4-FFF2-40B4-BE49-F238E27FC236}">
                <a16:creationId xmlns:a16="http://schemas.microsoft.com/office/drawing/2014/main" id="{870AD212-DA51-4157-9470-03A49835132D}"/>
              </a:ext>
            </a:extLst>
          </p:cNvPr>
          <p:cNvSpPr/>
          <p:nvPr/>
        </p:nvSpPr>
        <p:spPr>
          <a:xfrm>
            <a:off x="10849629" y="5356686"/>
            <a:ext cx="605927" cy="484742"/>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34" name="直接连接符 33">
            <a:extLst>
              <a:ext uri="{FF2B5EF4-FFF2-40B4-BE49-F238E27FC236}">
                <a16:creationId xmlns:a16="http://schemas.microsoft.com/office/drawing/2014/main" id="{28FC539E-9092-41C9-B95A-B34B2C14A206}"/>
              </a:ext>
            </a:extLst>
          </p:cNvPr>
          <p:cNvCxnSpPr/>
          <p:nvPr/>
        </p:nvCxnSpPr>
        <p:spPr>
          <a:xfrm>
            <a:off x="8764012" y="308263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0167B3DE-4C94-42C7-A795-A79EB44CB2AB}"/>
              </a:ext>
            </a:extLst>
          </p:cNvPr>
          <p:cNvSpPr txBox="1"/>
          <p:nvPr/>
        </p:nvSpPr>
        <p:spPr>
          <a:xfrm>
            <a:off x="8778239" y="312103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Header C</a:t>
            </a:r>
          </a:p>
        </p:txBody>
      </p:sp>
      <p:cxnSp>
        <p:nvCxnSpPr>
          <p:cNvPr id="37" name="直接连接符 36">
            <a:extLst>
              <a:ext uri="{FF2B5EF4-FFF2-40B4-BE49-F238E27FC236}">
                <a16:creationId xmlns:a16="http://schemas.microsoft.com/office/drawing/2014/main" id="{1358C2B7-8C39-4593-B5DC-380C3409956E}"/>
              </a:ext>
            </a:extLst>
          </p:cNvPr>
          <p:cNvCxnSpPr/>
          <p:nvPr/>
        </p:nvCxnSpPr>
        <p:spPr>
          <a:xfrm>
            <a:off x="8783295" y="250087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6FABC7E4-C612-4C86-B9CD-5D33A4484A50}"/>
              </a:ext>
            </a:extLst>
          </p:cNvPr>
          <p:cNvCxnSpPr/>
          <p:nvPr/>
        </p:nvCxnSpPr>
        <p:spPr>
          <a:xfrm>
            <a:off x="8771302" y="139816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07F4EA48-BFB6-4AAB-932A-813A2DF64192}"/>
              </a:ext>
            </a:extLst>
          </p:cNvPr>
          <p:cNvSpPr txBox="1"/>
          <p:nvPr/>
        </p:nvSpPr>
        <p:spPr>
          <a:xfrm>
            <a:off x="8782261" y="1660026"/>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sp>
        <p:nvSpPr>
          <p:cNvPr id="42" name="左大括号 41">
            <a:extLst>
              <a:ext uri="{FF2B5EF4-FFF2-40B4-BE49-F238E27FC236}">
                <a16:creationId xmlns:a16="http://schemas.microsoft.com/office/drawing/2014/main" id="{403F6BCC-5091-4E9A-AEC9-FA5FB223F87F}"/>
              </a:ext>
            </a:extLst>
          </p:cNvPr>
          <p:cNvSpPr/>
          <p:nvPr/>
        </p:nvSpPr>
        <p:spPr>
          <a:xfrm>
            <a:off x="8489151" y="1398167"/>
            <a:ext cx="184714" cy="3397562"/>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43" name="文本框 42">
            <a:extLst>
              <a:ext uri="{FF2B5EF4-FFF2-40B4-BE49-F238E27FC236}">
                <a16:creationId xmlns:a16="http://schemas.microsoft.com/office/drawing/2014/main" id="{F3C5BAAE-D619-403E-9AB7-8F500F82A824}"/>
              </a:ext>
            </a:extLst>
          </p:cNvPr>
          <p:cNvSpPr txBox="1"/>
          <p:nvPr/>
        </p:nvSpPr>
        <p:spPr>
          <a:xfrm>
            <a:off x="7079226" y="2824363"/>
            <a:ext cx="140992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sp>
        <p:nvSpPr>
          <p:cNvPr id="35" name="任意多边形: 形状 34">
            <a:extLst>
              <a:ext uri="{FF2B5EF4-FFF2-40B4-BE49-F238E27FC236}">
                <a16:creationId xmlns:a16="http://schemas.microsoft.com/office/drawing/2014/main" id="{AE576484-75C2-46C7-B7A6-69D61F87C573}"/>
              </a:ext>
            </a:extLst>
          </p:cNvPr>
          <p:cNvSpPr/>
          <p:nvPr/>
        </p:nvSpPr>
        <p:spPr>
          <a:xfrm>
            <a:off x="10849629" y="4319259"/>
            <a:ext cx="605927" cy="1296636"/>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左大括号 44">
            <a:extLst>
              <a:ext uri="{FF2B5EF4-FFF2-40B4-BE49-F238E27FC236}">
                <a16:creationId xmlns:a16="http://schemas.microsoft.com/office/drawing/2014/main" id="{0629A004-14FA-423E-9045-B0A680EEE911}"/>
              </a:ext>
            </a:extLst>
          </p:cNvPr>
          <p:cNvSpPr/>
          <p:nvPr/>
        </p:nvSpPr>
        <p:spPr>
          <a:xfrm flipH="1">
            <a:off x="10919865" y="2500875"/>
            <a:ext cx="156161" cy="1004365"/>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46" name="文本框 45">
            <a:extLst>
              <a:ext uri="{FF2B5EF4-FFF2-40B4-BE49-F238E27FC236}">
                <a16:creationId xmlns:a16="http://schemas.microsoft.com/office/drawing/2014/main" id="{C428A94D-24FA-4956-A502-4A2A76ACB388}"/>
              </a:ext>
            </a:extLst>
          </p:cNvPr>
          <p:cNvSpPr txBox="1"/>
          <p:nvPr/>
        </p:nvSpPr>
        <p:spPr>
          <a:xfrm>
            <a:off x="11038469" y="2741841"/>
            <a:ext cx="113149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Overlap</a:t>
            </a:r>
          </a:p>
        </p:txBody>
      </p:sp>
      <p:sp>
        <p:nvSpPr>
          <p:cNvPr id="2" name="标题 1">
            <a:extLst>
              <a:ext uri="{FF2B5EF4-FFF2-40B4-BE49-F238E27FC236}">
                <a16:creationId xmlns:a16="http://schemas.microsoft.com/office/drawing/2014/main" id="{9D0B357E-72E8-4779-ABE9-C88A6885288F}"/>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sp>
        <p:nvSpPr>
          <p:cNvPr id="4" name="Slide Number Placeholder 7">
            <a:extLst>
              <a:ext uri="{FF2B5EF4-FFF2-40B4-BE49-F238E27FC236}">
                <a16:creationId xmlns:a16="http://schemas.microsoft.com/office/drawing/2014/main" id="{645C3DBD-3F95-D39E-7929-9264D053C4E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48</a:t>
            </a:fld>
            <a:endParaRPr lang="zh-CN" altLang="en-US" sz="1200" dirty="0">
              <a:solidFill>
                <a:schemeClr val="tx1">
                  <a:tint val="75000"/>
                </a:schemeClr>
              </a:solidFill>
            </a:endParaRPr>
          </a:p>
        </p:txBody>
      </p:sp>
    </p:spTree>
    <p:extLst>
      <p:ext uri="{BB962C8B-B14F-4D97-AF65-F5344CB8AC3E}">
        <p14:creationId xmlns:p14="http://schemas.microsoft.com/office/powerpoint/2010/main" val="29969321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1" y="1742167"/>
            <a:ext cx="6902978" cy="420512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總結，</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上述</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構造</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堆塊覆蓋的方案需要受害程序滿足以下的條件：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ea"/>
              <a:buAutoNum type="circleNumDbPlain"/>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存在錯誤的輸入檢查邏輯，使攻擊者可以進行溢出（溢出</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個字節即可）</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ea"/>
              <a:buAutoNum type="circleNumDbPlain"/>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對應的受害程序應能産生符合條件的堆區布局也就是連續分配的三個堆</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ea"/>
              <a:buAutoNum type="circleNumDbPlain"/>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且攻擊者可以操縱控制流實現</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Chunk 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的釋放和重新分配，幷能在分配後進行讀寫</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3" name="直接连接符 12">
            <a:extLst>
              <a:ext uri="{FF2B5EF4-FFF2-40B4-BE49-F238E27FC236}">
                <a16:creationId xmlns:a16="http://schemas.microsoft.com/office/drawing/2014/main" id="{8FFF0953-95D3-476D-963E-717152FB9994}"/>
              </a:ext>
            </a:extLst>
          </p:cNvPr>
          <p:cNvCxnSpPr/>
          <p:nvPr/>
        </p:nvCxnSpPr>
        <p:spPr>
          <a:xfrm>
            <a:off x="8771302"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BA3326B-4B2C-488E-B304-15F5AB7EE102}"/>
              </a:ext>
            </a:extLst>
          </p:cNvPr>
          <p:cNvCxnSpPr/>
          <p:nvPr/>
        </p:nvCxnSpPr>
        <p:spPr>
          <a:xfrm>
            <a:off x="10782789"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D77664C-A3F9-44E7-B6DE-8D96F6F15077}"/>
              </a:ext>
            </a:extLst>
          </p:cNvPr>
          <p:cNvCxnSpPr/>
          <p:nvPr/>
        </p:nvCxnSpPr>
        <p:spPr>
          <a:xfrm>
            <a:off x="8764189" y="4319259"/>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C38A155-390B-40FD-84AF-C2C5CCAEFDBA}"/>
              </a:ext>
            </a:extLst>
          </p:cNvPr>
          <p:cNvSpPr txBox="1"/>
          <p:nvPr/>
        </p:nvSpPr>
        <p:spPr>
          <a:xfrm>
            <a:off x="8768138" y="3598795"/>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cxnSp>
        <p:nvCxnSpPr>
          <p:cNvPr id="17" name="直接连接符 16">
            <a:extLst>
              <a:ext uri="{FF2B5EF4-FFF2-40B4-BE49-F238E27FC236}">
                <a16:creationId xmlns:a16="http://schemas.microsoft.com/office/drawing/2014/main" id="{E791861C-DE93-4B18-9986-7F7E625AC5BC}"/>
              </a:ext>
            </a:extLst>
          </p:cNvPr>
          <p:cNvCxnSpPr/>
          <p:nvPr/>
        </p:nvCxnSpPr>
        <p:spPr>
          <a:xfrm>
            <a:off x="8769954" y="479573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3834C04B-C375-4478-8825-D1E244AB7695}"/>
              </a:ext>
            </a:extLst>
          </p:cNvPr>
          <p:cNvSpPr txBox="1"/>
          <p:nvPr/>
        </p:nvSpPr>
        <p:spPr>
          <a:xfrm>
            <a:off x="8768138" y="4911154"/>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 (in-use)</a:t>
            </a:r>
          </a:p>
        </p:txBody>
      </p:sp>
      <p:cxnSp>
        <p:nvCxnSpPr>
          <p:cNvPr id="19" name="直接连接符 18">
            <a:extLst>
              <a:ext uri="{FF2B5EF4-FFF2-40B4-BE49-F238E27FC236}">
                <a16:creationId xmlns:a16="http://schemas.microsoft.com/office/drawing/2014/main" id="{E4C345F4-B279-4ADD-A1F8-7F40368BC2D5}"/>
              </a:ext>
            </a:extLst>
          </p:cNvPr>
          <p:cNvCxnSpPr/>
          <p:nvPr/>
        </p:nvCxnSpPr>
        <p:spPr>
          <a:xfrm>
            <a:off x="8768372" y="535668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89F2DAC2-3D70-4D75-8258-AC16C517B100}"/>
              </a:ext>
            </a:extLst>
          </p:cNvPr>
          <p:cNvSpPr txBox="1"/>
          <p:nvPr/>
        </p:nvSpPr>
        <p:spPr>
          <a:xfrm>
            <a:off x="8774467" y="5387003"/>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Header A</a:t>
            </a:r>
          </a:p>
        </p:txBody>
      </p:sp>
      <p:cxnSp>
        <p:nvCxnSpPr>
          <p:cNvPr id="21" name="直接连接符 20">
            <a:extLst>
              <a:ext uri="{FF2B5EF4-FFF2-40B4-BE49-F238E27FC236}">
                <a16:creationId xmlns:a16="http://schemas.microsoft.com/office/drawing/2014/main" id="{B1731C18-5516-48A0-9EFF-854A6ADA3BD1}"/>
              </a:ext>
            </a:extLst>
          </p:cNvPr>
          <p:cNvCxnSpPr/>
          <p:nvPr/>
        </p:nvCxnSpPr>
        <p:spPr>
          <a:xfrm>
            <a:off x="8774555" y="578172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3BBDA083-0505-4BA3-89E2-007FE6BBCAD5}"/>
              </a:ext>
            </a:extLst>
          </p:cNvPr>
          <p:cNvSpPr txBox="1"/>
          <p:nvPr/>
        </p:nvSpPr>
        <p:spPr>
          <a:xfrm>
            <a:off x="8778416" y="435019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Header B</a:t>
            </a:r>
          </a:p>
        </p:txBody>
      </p:sp>
      <p:sp>
        <p:nvSpPr>
          <p:cNvPr id="23" name="文本框 22">
            <a:extLst>
              <a:ext uri="{FF2B5EF4-FFF2-40B4-BE49-F238E27FC236}">
                <a16:creationId xmlns:a16="http://schemas.microsoft.com/office/drawing/2014/main" id="{E0947239-F67B-4B25-8062-8B5C375DFAD9}"/>
              </a:ext>
            </a:extLst>
          </p:cNvPr>
          <p:cNvSpPr txBox="1"/>
          <p:nvPr/>
        </p:nvSpPr>
        <p:spPr>
          <a:xfrm>
            <a:off x="8790069" y="2629076"/>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C</a:t>
            </a:r>
          </a:p>
        </p:txBody>
      </p:sp>
      <p:cxnSp>
        <p:nvCxnSpPr>
          <p:cNvPr id="26" name="直接连接符 25">
            <a:extLst>
              <a:ext uri="{FF2B5EF4-FFF2-40B4-BE49-F238E27FC236}">
                <a16:creationId xmlns:a16="http://schemas.microsoft.com/office/drawing/2014/main" id="{569B756D-30F1-40E7-965C-A4B39DC7B737}"/>
              </a:ext>
            </a:extLst>
          </p:cNvPr>
          <p:cNvCxnSpPr/>
          <p:nvPr/>
        </p:nvCxnSpPr>
        <p:spPr>
          <a:xfrm>
            <a:off x="8772904" y="350524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73E565B6-AE88-445B-AED7-3B22240AC785}"/>
              </a:ext>
            </a:extLst>
          </p:cNvPr>
          <p:cNvSpPr txBox="1"/>
          <p:nvPr/>
        </p:nvSpPr>
        <p:spPr>
          <a:xfrm>
            <a:off x="8764189" y="85299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8" name="文本框 27">
            <a:extLst>
              <a:ext uri="{FF2B5EF4-FFF2-40B4-BE49-F238E27FC236}">
                <a16:creationId xmlns:a16="http://schemas.microsoft.com/office/drawing/2014/main" id="{920B44C6-349F-4256-9919-978BD5DC578D}"/>
              </a:ext>
            </a:extLst>
          </p:cNvPr>
          <p:cNvSpPr txBox="1"/>
          <p:nvPr/>
        </p:nvSpPr>
        <p:spPr>
          <a:xfrm>
            <a:off x="8797878" y="605976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718F302D-D2FC-40E5-9AE8-AE85740D54C0}"/>
              </a:ext>
            </a:extLst>
          </p:cNvPr>
          <p:cNvSpPr txBox="1"/>
          <p:nvPr/>
        </p:nvSpPr>
        <p:spPr>
          <a:xfrm>
            <a:off x="10979380" y="5875103"/>
            <a:ext cx="8497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0" name="任意多边形: 形状 29">
            <a:extLst>
              <a:ext uri="{FF2B5EF4-FFF2-40B4-BE49-F238E27FC236}">
                <a16:creationId xmlns:a16="http://schemas.microsoft.com/office/drawing/2014/main" id="{F3EC2AAC-630C-4ABF-87F6-E96440D8833B}"/>
              </a:ext>
            </a:extLst>
          </p:cNvPr>
          <p:cNvSpPr/>
          <p:nvPr/>
        </p:nvSpPr>
        <p:spPr>
          <a:xfrm>
            <a:off x="10849629" y="5356686"/>
            <a:ext cx="605927" cy="484742"/>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31" name="直接连接符 30">
            <a:extLst>
              <a:ext uri="{FF2B5EF4-FFF2-40B4-BE49-F238E27FC236}">
                <a16:creationId xmlns:a16="http://schemas.microsoft.com/office/drawing/2014/main" id="{02677A80-C7B0-4443-A84D-29D8E4F09FCB}"/>
              </a:ext>
            </a:extLst>
          </p:cNvPr>
          <p:cNvCxnSpPr/>
          <p:nvPr/>
        </p:nvCxnSpPr>
        <p:spPr>
          <a:xfrm>
            <a:off x="8764012" y="308263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2FFB6F39-A1B6-44AE-A896-0C97A8F5D9F4}"/>
              </a:ext>
            </a:extLst>
          </p:cNvPr>
          <p:cNvSpPr txBox="1"/>
          <p:nvPr/>
        </p:nvSpPr>
        <p:spPr>
          <a:xfrm>
            <a:off x="8778239" y="312103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Header C</a:t>
            </a:r>
          </a:p>
        </p:txBody>
      </p:sp>
      <p:cxnSp>
        <p:nvCxnSpPr>
          <p:cNvPr id="33" name="直接连接符 32">
            <a:extLst>
              <a:ext uri="{FF2B5EF4-FFF2-40B4-BE49-F238E27FC236}">
                <a16:creationId xmlns:a16="http://schemas.microsoft.com/office/drawing/2014/main" id="{F716348A-C7BE-49ED-8DBA-321D3E4A8D3E}"/>
              </a:ext>
            </a:extLst>
          </p:cNvPr>
          <p:cNvCxnSpPr/>
          <p:nvPr/>
        </p:nvCxnSpPr>
        <p:spPr>
          <a:xfrm>
            <a:off x="8783295" y="250087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27B1C543-C38E-4D60-BDA4-A4294054D58E}"/>
              </a:ext>
            </a:extLst>
          </p:cNvPr>
          <p:cNvCxnSpPr/>
          <p:nvPr/>
        </p:nvCxnSpPr>
        <p:spPr>
          <a:xfrm>
            <a:off x="8771302" y="139816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FB5A0A1-D8E1-42EB-8AB4-6252A201A7A8}"/>
              </a:ext>
            </a:extLst>
          </p:cNvPr>
          <p:cNvSpPr txBox="1"/>
          <p:nvPr/>
        </p:nvSpPr>
        <p:spPr>
          <a:xfrm>
            <a:off x="8782261" y="1660026"/>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sp>
        <p:nvSpPr>
          <p:cNvPr id="38" name="任意多边形: 形状 37">
            <a:extLst>
              <a:ext uri="{FF2B5EF4-FFF2-40B4-BE49-F238E27FC236}">
                <a16:creationId xmlns:a16="http://schemas.microsoft.com/office/drawing/2014/main" id="{33E9A0F9-F5A5-449E-B7DE-A62E5DD97814}"/>
              </a:ext>
            </a:extLst>
          </p:cNvPr>
          <p:cNvSpPr/>
          <p:nvPr/>
        </p:nvSpPr>
        <p:spPr>
          <a:xfrm>
            <a:off x="10849629" y="4319259"/>
            <a:ext cx="605927" cy="1296636"/>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左大括号 38">
            <a:extLst>
              <a:ext uri="{FF2B5EF4-FFF2-40B4-BE49-F238E27FC236}">
                <a16:creationId xmlns:a16="http://schemas.microsoft.com/office/drawing/2014/main" id="{4D48B0F6-9ED7-41D1-8F80-BDBC114DC365}"/>
              </a:ext>
            </a:extLst>
          </p:cNvPr>
          <p:cNvSpPr/>
          <p:nvPr/>
        </p:nvSpPr>
        <p:spPr>
          <a:xfrm flipH="1">
            <a:off x="10919865" y="2500875"/>
            <a:ext cx="156161" cy="1004365"/>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40" name="文本框 39">
            <a:extLst>
              <a:ext uri="{FF2B5EF4-FFF2-40B4-BE49-F238E27FC236}">
                <a16:creationId xmlns:a16="http://schemas.microsoft.com/office/drawing/2014/main" id="{5ACBD55E-9F61-4A4C-9B17-78A329D6BBD8}"/>
              </a:ext>
            </a:extLst>
          </p:cNvPr>
          <p:cNvSpPr txBox="1"/>
          <p:nvPr/>
        </p:nvSpPr>
        <p:spPr>
          <a:xfrm>
            <a:off x="11038469" y="2741841"/>
            <a:ext cx="113149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Overlap</a:t>
            </a:r>
          </a:p>
        </p:txBody>
      </p:sp>
      <p:sp>
        <p:nvSpPr>
          <p:cNvPr id="2" name="标题 1">
            <a:extLst>
              <a:ext uri="{FF2B5EF4-FFF2-40B4-BE49-F238E27FC236}">
                <a16:creationId xmlns:a16="http://schemas.microsoft.com/office/drawing/2014/main" id="{C73DDE24-9366-4280-8DE5-124912252DD7}"/>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sp>
        <p:nvSpPr>
          <p:cNvPr id="4" name="Slide Number Placeholder 7">
            <a:extLst>
              <a:ext uri="{FF2B5EF4-FFF2-40B4-BE49-F238E27FC236}">
                <a16:creationId xmlns:a16="http://schemas.microsoft.com/office/drawing/2014/main" id="{92E6F864-DBCD-4C67-4BAE-2A06BCC94AD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49</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601582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104322"/>
            <a:ext cx="7259816" cy="1435136"/>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更加複雜的堆區溢出攻擊：利用堆管理其他機制</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例如，基于</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unlink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機制的堆區溢出攻擊：</a:t>
            </a:r>
          </a:p>
        </p:txBody>
      </p:sp>
      <p:cxnSp>
        <p:nvCxnSpPr>
          <p:cNvPr id="37" name="直接连接符 36">
            <a:extLst>
              <a:ext uri="{FF2B5EF4-FFF2-40B4-BE49-F238E27FC236}">
                <a16:creationId xmlns:a16="http://schemas.microsoft.com/office/drawing/2014/main" id="{A6873699-E8BD-46B0-BBA4-A2B7E6E91B50}"/>
              </a:ext>
            </a:extLst>
          </p:cNvPr>
          <p:cNvCxnSpPr/>
          <p:nvPr/>
        </p:nvCxnSpPr>
        <p:spPr>
          <a:xfrm>
            <a:off x="8771302"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2FEF10AE-7E40-4747-A6A4-7AD8A154A13A}"/>
              </a:ext>
            </a:extLst>
          </p:cNvPr>
          <p:cNvCxnSpPr/>
          <p:nvPr/>
        </p:nvCxnSpPr>
        <p:spPr>
          <a:xfrm>
            <a:off x="10782789"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E0D22365-0742-4514-9E45-D7F63AA14DC1}"/>
              </a:ext>
            </a:extLst>
          </p:cNvPr>
          <p:cNvCxnSpPr/>
          <p:nvPr/>
        </p:nvCxnSpPr>
        <p:spPr>
          <a:xfrm>
            <a:off x="8764189" y="4319259"/>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49562459-9898-4D5E-A1CA-B7B1899CFEFB}"/>
              </a:ext>
            </a:extLst>
          </p:cNvPr>
          <p:cNvSpPr txBox="1"/>
          <p:nvPr/>
        </p:nvSpPr>
        <p:spPr>
          <a:xfrm>
            <a:off x="8768138" y="3598795"/>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cxnSp>
        <p:nvCxnSpPr>
          <p:cNvPr id="41" name="直接连接符 40">
            <a:extLst>
              <a:ext uri="{FF2B5EF4-FFF2-40B4-BE49-F238E27FC236}">
                <a16:creationId xmlns:a16="http://schemas.microsoft.com/office/drawing/2014/main" id="{75A7C62E-87CD-4949-B359-946C920DCFE3}"/>
              </a:ext>
            </a:extLst>
          </p:cNvPr>
          <p:cNvCxnSpPr/>
          <p:nvPr/>
        </p:nvCxnSpPr>
        <p:spPr>
          <a:xfrm>
            <a:off x="8769954" y="479573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E2582154-9925-4A75-8F85-7188016AF710}"/>
              </a:ext>
            </a:extLst>
          </p:cNvPr>
          <p:cNvSpPr txBox="1"/>
          <p:nvPr/>
        </p:nvSpPr>
        <p:spPr>
          <a:xfrm>
            <a:off x="8768138" y="4911154"/>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 (in-use)</a:t>
            </a:r>
          </a:p>
        </p:txBody>
      </p:sp>
      <p:cxnSp>
        <p:nvCxnSpPr>
          <p:cNvPr id="43" name="直接连接符 42">
            <a:extLst>
              <a:ext uri="{FF2B5EF4-FFF2-40B4-BE49-F238E27FC236}">
                <a16:creationId xmlns:a16="http://schemas.microsoft.com/office/drawing/2014/main" id="{9F5EC0EF-4B5A-459E-A38E-262ED77627EA}"/>
              </a:ext>
            </a:extLst>
          </p:cNvPr>
          <p:cNvCxnSpPr/>
          <p:nvPr/>
        </p:nvCxnSpPr>
        <p:spPr>
          <a:xfrm>
            <a:off x="8768372" y="535668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4A463138-D015-4346-A7B5-292679F085D5}"/>
              </a:ext>
            </a:extLst>
          </p:cNvPr>
          <p:cNvSpPr txBox="1"/>
          <p:nvPr/>
        </p:nvSpPr>
        <p:spPr>
          <a:xfrm>
            <a:off x="8774467" y="5387003"/>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Header A</a:t>
            </a:r>
          </a:p>
        </p:txBody>
      </p:sp>
      <p:cxnSp>
        <p:nvCxnSpPr>
          <p:cNvPr id="45" name="直接连接符 44">
            <a:extLst>
              <a:ext uri="{FF2B5EF4-FFF2-40B4-BE49-F238E27FC236}">
                <a16:creationId xmlns:a16="http://schemas.microsoft.com/office/drawing/2014/main" id="{BAEE3210-D598-4109-A63A-23CCA0EB1884}"/>
              </a:ext>
            </a:extLst>
          </p:cNvPr>
          <p:cNvCxnSpPr/>
          <p:nvPr/>
        </p:nvCxnSpPr>
        <p:spPr>
          <a:xfrm>
            <a:off x="8774555" y="578172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4650F7C7-4D7E-4221-A5ED-EAD213FC8175}"/>
              </a:ext>
            </a:extLst>
          </p:cNvPr>
          <p:cNvSpPr txBox="1"/>
          <p:nvPr/>
        </p:nvSpPr>
        <p:spPr>
          <a:xfrm>
            <a:off x="8778416" y="435019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Header B</a:t>
            </a:r>
          </a:p>
        </p:txBody>
      </p:sp>
      <p:sp>
        <p:nvSpPr>
          <p:cNvPr id="47" name="文本框 46">
            <a:extLst>
              <a:ext uri="{FF2B5EF4-FFF2-40B4-BE49-F238E27FC236}">
                <a16:creationId xmlns:a16="http://schemas.microsoft.com/office/drawing/2014/main" id="{C8335935-6B6B-43F5-BABA-1167D36EB717}"/>
              </a:ext>
            </a:extLst>
          </p:cNvPr>
          <p:cNvSpPr txBox="1"/>
          <p:nvPr/>
        </p:nvSpPr>
        <p:spPr>
          <a:xfrm>
            <a:off x="8790069" y="2629076"/>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C</a:t>
            </a:r>
          </a:p>
        </p:txBody>
      </p:sp>
      <p:cxnSp>
        <p:nvCxnSpPr>
          <p:cNvPr id="48" name="直接连接符 47">
            <a:extLst>
              <a:ext uri="{FF2B5EF4-FFF2-40B4-BE49-F238E27FC236}">
                <a16:creationId xmlns:a16="http://schemas.microsoft.com/office/drawing/2014/main" id="{413568A2-6EB2-4A62-8E9D-782ED830DADA}"/>
              </a:ext>
            </a:extLst>
          </p:cNvPr>
          <p:cNvCxnSpPr/>
          <p:nvPr/>
        </p:nvCxnSpPr>
        <p:spPr>
          <a:xfrm>
            <a:off x="8772904" y="350524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ED4C915C-45A5-4851-9543-06FEFB74C898}"/>
              </a:ext>
            </a:extLst>
          </p:cNvPr>
          <p:cNvSpPr txBox="1"/>
          <p:nvPr/>
        </p:nvSpPr>
        <p:spPr>
          <a:xfrm>
            <a:off x="8764189" y="85299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0" name="文本框 49">
            <a:extLst>
              <a:ext uri="{FF2B5EF4-FFF2-40B4-BE49-F238E27FC236}">
                <a16:creationId xmlns:a16="http://schemas.microsoft.com/office/drawing/2014/main" id="{F85E54A9-EAF8-48F3-B301-A5ACD04EE7F7}"/>
              </a:ext>
            </a:extLst>
          </p:cNvPr>
          <p:cNvSpPr txBox="1"/>
          <p:nvPr/>
        </p:nvSpPr>
        <p:spPr>
          <a:xfrm>
            <a:off x="8797878" y="605976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1" name="文本框 50">
            <a:extLst>
              <a:ext uri="{FF2B5EF4-FFF2-40B4-BE49-F238E27FC236}">
                <a16:creationId xmlns:a16="http://schemas.microsoft.com/office/drawing/2014/main" id="{267F4629-ED13-4DD2-9484-9864EC84FE5C}"/>
              </a:ext>
            </a:extLst>
          </p:cNvPr>
          <p:cNvSpPr txBox="1"/>
          <p:nvPr/>
        </p:nvSpPr>
        <p:spPr>
          <a:xfrm>
            <a:off x="10979380" y="5875103"/>
            <a:ext cx="84976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2" name="任意多边形: 形状 51">
            <a:extLst>
              <a:ext uri="{FF2B5EF4-FFF2-40B4-BE49-F238E27FC236}">
                <a16:creationId xmlns:a16="http://schemas.microsoft.com/office/drawing/2014/main" id="{20381F11-F254-450F-B758-5BE5880A47CC}"/>
              </a:ext>
            </a:extLst>
          </p:cNvPr>
          <p:cNvSpPr/>
          <p:nvPr/>
        </p:nvSpPr>
        <p:spPr>
          <a:xfrm>
            <a:off x="10849629" y="5356686"/>
            <a:ext cx="605927" cy="484742"/>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53" name="直接连接符 52">
            <a:extLst>
              <a:ext uri="{FF2B5EF4-FFF2-40B4-BE49-F238E27FC236}">
                <a16:creationId xmlns:a16="http://schemas.microsoft.com/office/drawing/2014/main" id="{894FCAF7-E925-4185-A22C-323D1023131B}"/>
              </a:ext>
            </a:extLst>
          </p:cNvPr>
          <p:cNvCxnSpPr/>
          <p:nvPr/>
        </p:nvCxnSpPr>
        <p:spPr>
          <a:xfrm>
            <a:off x="8764012" y="308263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3B878B35-8FB6-4D37-906B-661538A4789F}"/>
              </a:ext>
            </a:extLst>
          </p:cNvPr>
          <p:cNvSpPr txBox="1"/>
          <p:nvPr/>
        </p:nvSpPr>
        <p:spPr>
          <a:xfrm>
            <a:off x="8778239" y="312103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5A085"/>
                </a:solidFill>
                <a:effectLst/>
                <a:uLnTx/>
                <a:uFillTx/>
                <a:latin typeface="Arial"/>
                <a:ea typeface="微软雅黑"/>
                <a:cs typeface="+mn-cs"/>
              </a:rPr>
              <a:t>Chunk Header C</a:t>
            </a:r>
          </a:p>
        </p:txBody>
      </p:sp>
      <p:cxnSp>
        <p:nvCxnSpPr>
          <p:cNvPr id="55" name="直接连接符 54">
            <a:extLst>
              <a:ext uri="{FF2B5EF4-FFF2-40B4-BE49-F238E27FC236}">
                <a16:creationId xmlns:a16="http://schemas.microsoft.com/office/drawing/2014/main" id="{E9DD71ED-4E99-4D28-9E60-12DBC6A87DE0}"/>
              </a:ext>
            </a:extLst>
          </p:cNvPr>
          <p:cNvCxnSpPr/>
          <p:nvPr/>
        </p:nvCxnSpPr>
        <p:spPr>
          <a:xfrm>
            <a:off x="8772904" y="250087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5EAB429B-59DA-4B2C-ADA5-F391ED33E09F}"/>
              </a:ext>
            </a:extLst>
          </p:cNvPr>
          <p:cNvCxnSpPr/>
          <p:nvPr/>
        </p:nvCxnSpPr>
        <p:spPr>
          <a:xfrm>
            <a:off x="8771302" y="139816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35092DF6-94EB-4B97-A3F4-94CEEBD94548}"/>
              </a:ext>
            </a:extLst>
          </p:cNvPr>
          <p:cNvSpPr txBox="1"/>
          <p:nvPr/>
        </p:nvSpPr>
        <p:spPr>
          <a:xfrm>
            <a:off x="8782261" y="1660026"/>
            <a:ext cx="201148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(reallocated)</a:t>
            </a:r>
          </a:p>
        </p:txBody>
      </p:sp>
      <p:sp>
        <p:nvSpPr>
          <p:cNvPr id="58" name="任意多边形: 形状 57">
            <a:extLst>
              <a:ext uri="{FF2B5EF4-FFF2-40B4-BE49-F238E27FC236}">
                <a16:creationId xmlns:a16="http://schemas.microsoft.com/office/drawing/2014/main" id="{15079DA6-70D4-4D33-9E62-757AD773F398}"/>
              </a:ext>
            </a:extLst>
          </p:cNvPr>
          <p:cNvSpPr/>
          <p:nvPr/>
        </p:nvSpPr>
        <p:spPr>
          <a:xfrm>
            <a:off x="10849629" y="4319259"/>
            <a:ext cx="605927" cy="1296636"/>
          </a:xfrm>
          <a:custGeom>
            <a:avLst/>
            <a:gdLst>
              <a:gd name="connsiteX0" fmla="*/ 605927 w 605927"/>
              <a:gd name="connsiteY0" fmla="*/ 484742 h 484742"/>
              <a:gd name="connsiteX1" fmla="*/ 605927 w 605927"/>
              <a:gd name="connsiteY1" fmla="*/ 0 h 484742"/>
              <a:gd name="connsiteX2" fmla="*/ 0 w 605927"/>
              <a:gd name="connsiteY2" fmla="*/ 0 h 484742"/>
            </a:gdLst>
            <a:ahLst/>
            <a:cxnLst>
              <a:cxn ang="0">
                <a:pos x="connsiteX0" y="connsiteY0"/>
              </a:cxn>
              <a:cxn ang="0">
                <a:pos x="connsiteX1" y="connsiteY1"/>
              </a:cxn>
              <a:cxn ang="0">
                <a:pos x="connsiteX2" y="connsiteY2"/>
              </a:cxn>
            </a:cxnLst>
            <a:rect l="l" t="t" r="r" b="b"/>
            <a:pathLst>
              <a:path w="605927" h="484742">
                <a:moveTo>
                  <a:pt x="605927" y="484742"/>
                </a:moveTo>
                <a:lnTo>
                  <a:pt x="605927"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59" name="左大括号 58">
            <a:extLst>
              <a:ext uri="{FF2B5EF4-FFF2-40B4-BE49-F238E27FC236}">
                <a16:creationId xmlns:a16="http://schemas.microsoft.com/office/drawing/2014/main" id="{1CC0C018-0C16-4217-A46D-C5ACD8B16B63}"/>
              </a:ext>
            </a:extLst>
          </p:cNvPr>
          <p:cNvSpPr/>
          <p:nvPr/>
        </p:nvSpPr>
        <p:spPr>
          <a:xfrm flipH="1">
            <a:off x="10919865" y="3082637"/>
            <a:ext cx="156110" cy="422603"/>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60" name="文本框 59">
            <a:extLst>
              <a:ext uri="{FF2B5EF4-FFF2-40B4-BE49-F238E27FC236}">
                <a16:creationId xmlns:a16="http://schemas.microsoft.com/office/drawing/2014/main" id="{FC2EA407-B1FE-4810-B7B4-D58453C3C844}"/>
              </a:ext>
            </a:extLst>
          </p:cNvPr>
          <p:cNvSpPr txBox="1"/>
          <p:nvPr/>
        </p:nvSpPr>
        <p:spPr>
          <a:xfrm>
            <a:off x="11073745" y="2968329"/>
            <a:ext cx="113149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err="1">
                <a:ln>
                  <a:noFill/>
                </a:ln>
                <a:solidFill>
                  <a:srgbClr val="C00000"/>
                </a:solidFill>
                <a:effectLst/>
                <a:uLnTx/>
                <a:uFillTx/>
                <a:latin typeface="Arial"/>
                <a:ea typeface="微软雅黑"/>
                <a:cs typeface="+mn-cs"/>
              </a:rPr>
              <a:t>fd</a:t>
            </a: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t>
            </a:r>
            <a:r>
              <a:rPr kumimoji="0" lang="zh-CN" altLang="en-US" sz="1800" b="0" i="0" u="none" strike="noStrike" kern="1200" cap="none" spc="0" normalizeH="0" baseline="0" noProof="0" dirty="0">
                <a:ln>
                  <a:noFill/>
                </a:ln>
                <a:solidFill>
                  <a:srgbClr val="C00000"/>
                </a:solidFill>
                <a:effectLst/>
                <a:uLnTx/>
                <a:uFillTx/>
                <a:latin typeface="Arial"/>
                <a:ea typeface="微软雅黑"/>
                <a:cs typeface="+mn-cs"/>
              </a:rPr>
              <a:t> </a:t>
            </a: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bk of Chunk C</a:t>
            </a:r>
          </a:p>
        </p:txBody>
      </p:sp>
      <p:sp>
        <p:nvSpPr>
          <p:cNvPr id="34" name="矩形 33">
            <a:extLst>
              <a:ext uri="{FF2B5EF4-FFF2-40B4-BE49-F238E27FC236}">
                <a16:creationId xmlns:a16="http://schemas.microsoft.com/office/drawing/2014/main" id="{D7687C59-3787-441E-B121-B57AA8B450A0}"/>
              </a:ext>
            </a:extLst>
          </p:cNvPr>
          <p:cNvSpPr/>
          <p:nvPr/>
        </p:nvSpPr>
        <p:spPr>
          <a:xfrm>
            <a:off x="8773200" y="3082638"/>
            <a:ext cx="2005200" cy="123930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Injected Payload</a:t>
            </a:r>
          </a:p>
        </p:txBody>
      </p:sp>
      <p:sp>
        <p:nvSpPr>
          <p:cNvPr id="2" name="标题 1">
            <a:extLst>
              <a:ext uri="{FF2B5EF4-FFF2-40B4-BE49-F238E27FC236}">
                <a16:creationId xmlns:a16="http://schemas.microsoft.com/office/drawing/2014/main" id="{98B23B58-1B3C-45F9-BB09-A19AFAE3BA5B}"/>
              </a:ext>
            </a:extLst>
          </p:cNvPr>
          <p:cNvSpPr>
            <a:spLocks noGrp="1"/>
          </p:cNvSpPr>
          <p:nvPr>
            <p:ph type="title"/>
          </p:nvPr>
        </p:nvSpPr>
        <p:spPr/>
        <p:txBody>
          <a:bodyPr/>
          <a:lstStyle/>
          <a:p>
            <a:r>
              <a:rPr kumimoji="0" lang="zh-CN" altLang="en-US" sz="4000" b="1" i="0" u="none" strike="noStrike" kern="1200" cap="none" spc="0" normalizeH="0" baseline="0" noProof="0" dirty="0">
                <a:ln>
                  <a:noFill/>
                </a:ln>
                <a:effectLst/>
                <a:uLnTx/>
                <a:uFillTx/>
                <a:latin typeface="微软雅黑"/>
                <a:ea typeface="微软雅黑"/>
                <a:cs typeface="+mn-cs"/>
              </a:rPr>
              <a:t>堆區溢出攻擊</a:t>
            </a:r>
            <a:endParaRPr lang="zh-CN" altLang="en-US" dirty="0"/>
          </a:p>
        </p:txBody>
      </p:sp>
      <p:sp>
        <p:nvSpPr>
          <p:cNvPr id="29" name="矩形 28">
            <a:extLst>
              <a:ext uri="{FF2B5EF4-FFF2-40B4-BE49-F238E27FC236}">
                <a16:creationId xmlns:a16="http://schemas.microsoft.com/office/drawing/2014/main" id="{92843D22-4E38-4811-920D-C7D1D7A7E368}"/>
              </a:ext>
            </a:extLst>
          </p:cNvPr>
          <p:cNvSpPr>
            <a:spLocks/>
          </p:cNvSpPr>
          <p:nvPr/>
        </p:nvSpPr>
        <p:spPr bwMode="auto">
          <a:xfrm>
            <a:off x="304428" y="2759927"/>
            <a:ext cx="7822581" cy="120097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0" name="文本框 29">
            <a:extLst>
              <a:ext uri="{FF2B5EF4-FFF2-40B4-BE49-F238E27FC236}">
                <a16:creationId xmlns:a16="http://schemas.microsoft.com/office/drawing/2014/main" id="{81876F33-C0CA-4A99-A671-DBCE02249717}"/>
              </a:ext>
            </a:extLst>
          </p:cNvPr>
          <p:cNvSpPr txBox="1"/>
          <p:nvPr/>
        </p:nvSpPr>
        <p:spPr>
          <a:xfrm>
            <a:off x="299754" y="2833965"/>
            <a:ext cx="7797846" cy="961289"/>
          </a:xfrm>
          <a:prstGeom prst="rect">
            <a:avLst/>
          </a:prstGeom>
          <a:noFill/>
        </p:spPr>
        <p:txBody>
          <a:bodyPr wrap="square" rtlCol="0">
            <a:spAutoFit/>
          </a:bodyPr>
          <a:lstStyle/>
          <a:p>
            <a:pPr marR="0" lvl="0" algn="just" defTabSz="914400" rtl="0" eaLnBrk="1" fontAlgn="auto" latinLnBrk="0" hangingPunct="1">
              <a:lnSpc>
                <a:spcPts val="3600"/>
              </a:lnSpc>
              <a:spcBef>
                <a:spcPts val="0"/>
              </a:spcBef>
              <a:spcAft>
                <a:spcPts val="0"/>
              </a:spcAft>
              <a:buClrTx/>
              <a:buSzTx/>
              <a:tabLst/>
              <a:defRPr/>
            </a:pP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unlink</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宏</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從</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空閑堆塊構成的雙向鏈表</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中，提取</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空閑堆塊</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，而後返回給用戶</a:t>
            </a:r>
            <a:r>
              <a:rPr kumimoji="1" lang="zh-CN" altLang="en-US" sz="20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空閑堆塊</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5" name="文本框 14">
            <a:extLst>
              <a:ext uri="{FF2B5EF4-FFF2-40B4-BE49-F238E27FC236}">
                <a16:creationId xmlns:a16="http://schemas.microsoft.com/office/drawing/2014/main" id="{A5008F19-DCF3-4518-983F-AD1ED5C5D983}"/>
              </a:ext>
            </a:extLst>
          </p:cNvPr>
          <p:cNvSpPr txBox="1"/>
          <p:nvPr/>
        </p:nvSpPr>
        <p:spPr>
          <a:xfrm>
            <a:off x="488979" y="4245126"/>
            <a:ext cx="7745633" cy="2358466"/>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攻擊者將設法</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用溢出數據</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覆蓋前</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後向鏈表指針</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unlink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宏調用時可以將任意內存地址當作未分配的堆塊使用</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最終，攻擊者可</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讀</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寫任意內存區域</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write-anything-anywhere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），幷以此爲基礎進行更複雜的攻擊</a:t>
            </a:r>
            <a:endPar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Slide Number Placeholder 7">
            <a:extLst>
              <a:ext uri="{FF2B5EF4-FFF2-40B4-BE49-F238E27FC236}">
                <a16:creationId xmlns:a16="http://schemas.microsoft.com/office/drawing/2014/main" id="{02438B3A-AC2D-2853-1F29-428B3D7535C6}"/>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50</a:t>
            </a:fld>
            <a:endParaRPr lang="zh-CN" altLang="en-US" sz="1200" dirty="0">
              <a:solidFill>
                <a:schemeClr val="tx1">
                  <a:tint val="75000"/>
                </a:schemeClr>
              </a:solidFill>
            </a:endParaRPr>
          </a:p>
        </p:txBody>
      </p:sp>
    </p:spTree>
    <p:extLst>
      <p:ext uri="{BB962C8B-B14F-4D97-AF65-F5344CB8AC3E}">
        <p14:creationId xmlns:p14="http://schemas.microsoft.com/office/powerpoint/2010/main" val="343754717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438854"/>
            <a:ext cx="11253288"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Use-After-Free </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是進程由于實現上的錯誤，</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使用已被釋放的堆區內存</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UAF</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是一種存在廣泛的漏洞，僅</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2020</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年上半年，</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CVE</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當中就彙報了超過</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90</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種</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UAF</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漏洞</a:t>
            </a:r>
          </a:p>
        </p:txBody>
      </p:sp>
      <p:sp>
        <p:nvSpPr>
          <p:cNvPr id="2" name="标题 1">
            <a:extLst>
              <a:ext uri="{FF2B5EF4-FFF2-40B4-BE49-F238E27FC236}">
                <a16:creationId xmlns:a16="http://schemas.microsoft.com/office/drawing/2014/main" id="{2DCA5542-501E-4360-A5AD-9E79F4B5460E}"/>
              </a:ext>
            </a:extLst>
          </p:cNvPr>
          <p:cNvSpPr>
            <a:spLocks noGrp="1"/>
          </p:cNvSpPr>
          <p:nvPr>
            <p:ph type="title"/>
          </p:nvPr>
        </p:nvSpPr>
        <p:spPr/>
        <p:txBody>
          <a:bodyPr>
            <a:normAutofit/>
          </a:bodyPr>
          <a:lstStyle/>
          <a:p>
            <a:r>
              <a:rPr lang="zh-CN" altLang="en-US" dirty="0"/>
              <a:t>堆區的其他攻擊：</a:t>
            </a:r>
            <a:r>
              <a:rPr lang="en-US" altLang="zh-CN" dirty="0"/>
              <a:t>Use-After-Free</a:t>
            </a:r>
            <a:endParaRPr lang="zh-CN" altLang="en-US" dirty="0"/>
          </a:p>
        </p:txBody>
      </p:sp>
      <p:sp>
        <p:nvSpPr>
          <p:cNvPr id="4" name="文本框 14">
            <a:extLst>
              <a:ext uri="{FF2B5EF4-FFF2-40B4-BE49-F238E27FC236}">
                <a16:creationId xmlns:a16="http://schemas.microsoft.com/office/drawing/2014/main" id="{E1B47049-F35E-4B4B-A1C6-4432D999A87C}"/>
              </a:ext>
            </a:extLst>
          </p:cNvPr>
          <p:cNvSpPr txBox="1"/>
          <p:nvPr/>
        </p:nvSpPr>
        <p:spPr>
          <a:xfrm>
            <a:off x="448650" y="3293812"/>
            <a:ext cx="6349134" cy="1435136"/>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被</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free</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函數釋放的堆塊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內存仍然可以被繼續使用，當再次調用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malloc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分配內存時，會同時有兩個指針指向</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同一堆塊造成 </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堆塊重叠</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5" name="直接连接符 14">
            <a:extLst>
              <a:ext uri="{FF2B5EF4-FFF2-40B4-BE49-F238E27FC236}">
                <a16:creationId xmlns:a16="http://schemas.microsoft.com/office/drawing/2014/main" id="{4CC8F3EE-C1DE-4A68-AEDA-59889BC4A979}"/>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4F046F2F-0AF9-47D9-A114-205EC78BFEDF}"/>
              </a:ext>
            </a:extLst>
          </p:cNvPr>
          <p:cNvSpPr txBox="1"/>
          <p:nvPr/>
        </p:nvSpPr>
        <p:spPr>
          <a:xfrm>
            <a:off x="561975" y="6235648"/>
            <a:ext cx="547200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指向已被釋放的內存的指針爲空懸指針（</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Dangling Pointer</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13" name="Picture 12">
            <a:extLst>
              <a:ext uri="{FF2B5EF4-FFF2-40B4-BE49-F238E27FC236}">
                <a16:creationId xmlns:a16="http://schemas.microsoft.com/office/drawing/2014/main" id="{4CF2086C-41FB-AD1F-7C0E-BB79D4589EF6}"/>
              </a:ext>
            </a:extLst>
          </p:cNvPr>
          <p:cNvPicPr>
            <a:picLocks noChangeAspect="1"/>
          </p:cNvPicPr>
          <p:nvPr/>
        </p:nvPicPr>
        <p:blipFill>
          <a:blip r:embed="rId3"/>
          <a:stretch>
            <a:fillRect/>
          </a:stretch>
        </p:blipFill>
        <p:spPr>
          <a:xfrm>
            <a:off x="6033975" y="4379549"/>
            <a:ext cx="6125238" cy="1761466"/>
          </a:xfrm>
          <a:prstGeom prst="rect">
            <a:avLst/>
          </a:prstGeom>
        </p:spPr>
      </p:pic>
      <p:sp>
        <p:nvSpPr>
          <p:cNvPr id="5" name="Slide Number Placeholder 7">
            <a:extLst>
              <a:ext uri="{FF2B5EF4-FFF2-40B4-BE49-F238E27FC236}">
                <a16:creationId xmlns:a16="http://schemas.microsoft.com/office/drawing/2014/main" id="{3EE96BD8-03BC-BF2F-4D8B-123186AAA41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51</a:t>
            </a:fld>
            <a:endParaRPr lang="zh-CN" altLang="en-US" sz="1200" dirty="0">
              <a:solidFill>
                <a:schemeClr val="tx1">
                  <a:tint val="75000"/>
                </a:schemeClr>
              </a:solidFill>
            </a:endParaRPr>
          </a:p>
        </p:txBody>
      </p:sp>
    </p:spTree>
    <p:extLst>
      <p:ext uri="{BB962C8B-B14F-4D97-AF65-F5344CB8AC3E}">
        <p14:creationId xmlns:p14="http://schemas.microsoft.com/office/powerpoint/2010/main" val="3231562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528066"/>
            <a:ext cx="7509605"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Double-Free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指的是進程</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多次釋放統一堆塊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，被多次釋放的堆塊將</a:t>
            </a:r>
            <a:r>
              <a:rPr kumimoji="1" lang="zh-CN" altLang="en-US" sz="2400" b="1" i="0" u="none" strike="noStrike" kern="1200" cap="none" spc="0" normalizeH="0" baseline="0" noProof="0" dirty="0">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被堆管理器分配多次</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，最終</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産生堆塊重叠</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矩形 13">
            <a:extLst>
              <a:ext uri="{FF2B5EF4-FFF2-40B4-BE49-F238E27FC236}">
                <a16:creationId xmlns:a16="http://schemas.microsoft.com/office/drawing/2014/main" id="{84568F0A-0E3D-4748-BEE6-C32FDC8FA4FE}"/>
              </a:ext>
            </a:extLst>
          </p:cNvPr>
          <p:cNvSpPr/>
          <p:nvPr/>
        </p:nvSpPr>
        <p:spPr>
          <a:xfrm>
            <a:off x="8978854" y="2029391"/>
            <a:ext cx="2065506" cy="691417"/>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Free Chunk A</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16" name="直接箭头连接符 15">
            <a:extLst>
              <a:ext uri="{FF2B5EF4-FFF2-40B4-BE49-F238E27FC236}">
                <a16:creationId xmlns:a16="http://schemas.microsoft.com/office/drawing/2014/main" id="{DD55ADC1-5820-46A0-A5CA-97133F1A2C9B}"/>
              </a:ext>
            </a:extLst>
          </p:cNvPr>
          <p:cNvCxnSpPr>
            <a:cxnSpLocks/>
            <a:endCxn id="14" idx="0"/>
          </p:cNvCxnSpPr>
          <p:nvPr/>
        </p:nvCxnSpPr>
        <p:spPr>
          <a:xfrm>
            <a:off x="10011607" y="1398167"/>
            <a:ext cx="0" cy="63122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F9FB9946-1B3E-4334-9CFF-3FA624848094}"/>
              </a:ext>
            </a:extLst>
          </p:cNvPr>
          <p:cNvSpPr/>
          <p:nvPr/>
        </p:nvSpPr>
        <p:spPr>
          <a:xfrm>
            <a:off x="8978854" y="3516287"/>
            <a:ext cx="2065506" cy="646331"/>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Free Chunk B</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18" name="直接箭头连接符 17">
            <a:extLst>
              <a:ext uri="{FF2B5EF4-FFF2-40B4-BE49-F238E27FC236}">
                <a16:creationId xmlns:a16="http://schemas.microsoft.com/office/drawing/2014/main" id="{54E9BC3C-7F90-451F-B0B3-82464269131B}"/>
              </a:ext>
            </a:extLst>
          </p:cNvPr>
          <p:cNvCxnSpPr>
            <a:cxnSpLocks/>
            <a:stCxn id="14" idx="2"/>
            <a:endCxn id="17" idx="0"/>
          </p:cNvCxnSpPr>
          <p:nvPr/>
        </p:nvCxnSpPr>
        <p:spPr>
          <a:xfrm>
            <a:off x="10011607" y="2720808"/>
            <a:ext cx="0" cy="795479"/>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矩形 19">
            <a:extLst>
              <a:ext uri="{FF2B5EF4-FFF2-40B4-BE49-F238E27FC236}">
                <a16:creationId xmlns:a16="http://schemas.microsoft.com/office/drawing/2014/main" id="{1EC48F3B-40BB-4955-9AA3-D349CB548602}"/>
              </a:ext>
            </a:extLst>
          </p:cNvPr>
          <p:cNvSpPr/>
          <p:nvPr/>
        </p:nvSpPr>
        <p:spPr>
          <a:xfrm>
            <a:off x="8978854" y="4958097"/>
            <a:ext cx="2065506" cy="646331"/>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Free Chunk A</a:t>
            </a:r>
            <a:endParaRPr kumimoji="0" lang="zh-CN" altLang="en-US" sz="1800" b="0" i="0" u="none" strike="noStrike" kern="1200" cap="none" spc="0" normalizeH="0" baseline="0" noProof="0" dirty="0">
              <a:ln>
                <a:noFill/>
              </a:ln>
              <a:solidFill>
                <a:srgbClr val="C00000"/>
              </a:solidFill>
              <a:effectLst/>
              <a:uLnTx/>
              <a:uFillTx/>
              <a:latin typeface="Arial"/>
              <a:ea typeface="微软雅黑"/>
              <a:cs typeface="+mn-cs"/>
            </a:endParaRPr>
          </a:p>
        </p:txBody>
      </p:sp>
      <p:cxnSp>
        <p:nvCxnSpPr>
          <p:cNvPr id="21" name="直接箭头连接符 20">
            <a:extLst>
              <a:ext uri="{FF2B5EF4-FFF2-40B4-BE49-F238E27FC236}">
                <a16:creationId xmlns:a16="http://schemas.microsoft.com/office/drawing/2014/main" id="{69C30BB0-5451-4FDE-A5A6-CBA353759D35}"/>
              </a:ext>
            </a:extLst>
          </p:cNvPr>
          <p:cNvCxnSpPr>
            <a:stCxn id="17" idx="2"/>
            <a:endCxn id="20" idx="0"/>
          </p:cNvCxnSpPr>
          <p:nvPr/>
        </p:nvCxnSpPr>
        <p:spPr>
          <a:xfrm>
            <a:off x="10011607" y="4162618"/>
            <a:ext cx="0" cy="795479"/>
          </a:xfrm>
          <a:prstGeom prst="straightConnector1">
            <a:avLst/>
          </a:prstGeom>
          <a:ln w="127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7DF7BEE-84C8-4CE3-B13E-34D8C9531B9F}"/>
              </a:ext>
            </a:extLst>
          </p:cNvPr>
          <p:cNvSpPr txBox="1"/>
          <p:nvPr/>
        </p:nvSpPr>
        <p:spPr>
          <a:xfrm>
            <a:off x="7933900" y="1366947"/>
            <a:ext cx="206550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Fast Bin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 name="矩形 3">
            <a:extLst>
              <a:ext uri="{FF2B5EF4-FFF2-40B4-BE49-F238E27FC236}">
                <a16:creationId xmlns:a16="http://schemas.microsoft.com/office/drawing/2014/main" id="{8C17E190-D7F7-4199-96DC-42922EA05D8A}"/>
              </a:ext>
            </a:extLst>
          </p:cNvPr>
          <p:cNvSpPr/>
          <p:nvPr/>
        </p:nvSpPr>
        <p:spPr>
          <a:xfrm>
            <a:off x="8524569" y="1741162"/>
            <a:ext cx="2949675" cy="4401205"/>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DA1BEA34-1132-4951-B348-B66018E01D81}"/>
              </a:ext>
            </a:extLst>
          </p:cNvPr>
          <p:cNvSpPr>
            <a:spLocks noGrp="1"/>
          </p:cNvSpPr>
          <p:nvPr>
            <p:ph type="title"/>
          </p:nvPr>
        </p:nvSpPr>
        <p:spPr/>
        <p:txBody>
          <a:bodyPr>
            <a:normAutofit/>
          </a:bodyPr>
          <a:lstStyle/>
          <a:p>
            <a:r>
              <a:rPr lang="zh-CN" altLang="en-US" dirty="0"/>
              <a:t>堆區的其他攻擊：</a:t>
            </a:r>
            <a:r>
              <a:rPr lang="en-US" altLang="zh-CN" dirty="0"/>
              <a:t>Double-Free</a:t>
            </a:r>
            <a:endParaRPr lang="zh-CN" altLang="en-US" dirty="0"/>
          </a:p>
        </p:txBody>
      </p:sp>
      <p:cxnSp>
        <p:nvCxnSpPr>
          <p:cNvPr id="13" name="直接连接符 12">
            <a:extLst>
              <a:ext uri="{FF2B5EF4-FFF2-40B4-BE49-F238E27FC236}">
                <a16:creationId xmlns:a16="http://schemas.microsoft.com/office/drawing/2014/main" id="{C54E3F2F-8328-4CCD-AA4B-150C38ECE2CA}"/>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247B9518-AADE-4754-BC8B-E41FEE1790F6}"/>
              </a:ext>
            </a:extLst>
          </p:cNvPr>
          <p:cNvSpPr txBox="1"/>
          <p:nvPr/>
        </p:nvSpPr>
        <p:spPr>
          <a:xfrm>
            <a:off x="561975" y="6235648"/>
            <a:ext cx="547200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Fast-Bin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用于收集</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較小的空閑堆塊</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16-80B</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），方便反復申請小塊內存的場景</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矩形 18">
            <a:extLst>
              <a:ext uri="{FF2B5EF4-FFF2-40B4-BE49-F238E27FC236}">
                <a16:creationId xmlns:a16="http://schemas.microsoft.com/office/drawing/2014/main" id="{BDC181FC-701C-4B7A-9692-2B43E9493F3F}"/>
              </a:ext>
            </a:extLst>
          </p:cNvPr>
          <p:cNvSpPr>
            <a:spLocks/>
          </p:cNvSpPr>
          <p:nvPr/>
        </p:nvSpPr>
        <p:spPr bwMode="auto">
          <a:xfrm>
            <a:off x="561975" y="4052113"/>
            <a:ext cx="7440140" cy="108555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3" name="文本框 22">
            <a:extLst>
              <a:ext uri="{FF2B5EF4-FFF2-40B4-BE49-F238E27FC236}">
                <a16:creationId xmlns:a16="http://schemas.microsoft.com/office/drawing/2014/main" id="{4A148147-A7EC-443F-AC81-086565AD05CE}"/>
              </a:ext>
            </a:extLst>
          </p:cNvPr>
          <p:cNvSpPr txBox="1"/>
          <p:nvPr/>
        </p:nvSpPr>
        <p:spPr>
          <a:xfrm>
            <a:off x="668327" y="4099390"/>
            <a:ext cx="7157969" cy="961289"/>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Double-Free</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多發生在</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Fast-Bin</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當中，因爲</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Fast-Bin</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當中的空閑塊更傾向于被反復分配與釋放</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99B3EEB9-9A7B-1BB9-EE93-5DC71A739BD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52</a:t>
            </a:fld>
            <a:endParaRPr lang="zh-CN" altLang="en-US" sz="1200" dirty="0">
              <a:solidFill>
                <a:schemeClr val="tx1">
                  <a:tint val="75000"/>
                </a:schemeClr>
              </a:solidFill>
            </a:endParaRPr>
          </a:p>
        </p:txBody>
      </p:sp>
    </p:spTree>
    <p:extLst>
      <p:ext uri="{BB962C8B-B14F-4D97-AF65-F5344CB8AC3E}">
        <p14:creationId xmlns:p14="http://schemas.microsoft.com/office/powerpoint/2010/main" val="35402246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8">
            <a:extLst>
              <a:ext uri="{FF2B5EF4-FFF2-40B4-BE49-F238E27FC236}">
                <a16:creationId xmlns:a16="http://schemas.microsoft.com/office/drawing/2014/main" id="{2F5B0F19-2E00-CED3-F30D-76348C9B06EA}"/>
              </a:ext>
            </a:extLst>
          </p:cNvPr>
          <p:cNvSpPr>
            <a:spLocks/>
          </p:cNvSpPr>
          <p:nvPr/>
        </p:nvSpPr>
        <p:spPr bwMode="auto">
          <a:xfrm>
            <a:off x="1346479" y="5644458"/>
            <a:ext cx="7180502" cy="108555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385763"/>
            <a:ext cx="10861290"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堆溢出攻擊越界寫入幷覆蓋堆區數據，而</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Heap Over-Read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則直接越界讀出堆區數據，造成信息泄露</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F70F915B-EAA7-483C-8EE8-116EF93F79CE}"/>
              </a:ext>
            </a:extLst>
          </p:cNvPr>
          <p:cNvSpPr>
            <a:spLocks noGrp="1"/>
          </p:cNvSpPr>
          <p:nvPr>
            <p:ph type="title"/>
          </p:nvPr>
        </p:nvSpPr>
        <p:spPr/>
        <p:txBody>
          <a:bodyPr>
            <a:normAutofit/>
          </a:bodyPr>
          <a:lstStyle/>
          <a:p>
            <a:r>
              <a:rPr lang="zh-CN" altLang="en-US" dirty="0"/>
              <a:t>堆區的其他攻擊：</a:t>
            </a:r>
            <a:r>
              <a:rPr lang="en-US" altLang="zh-CN" dirty="0"/>
              <a:t>Heap Over-read</a:t>
            </a:r>
            <a:endParaRPr lang="zh-CN" altLang="en-US" dirty="0"/>
          </a:p>
        </p:txBody>
      </p:sp>
      <p:sp>
        <p:nvSpPr>
          <p:cNvPr id="9" name="Rounded Rectangle 36">
            <a:extLst>
              <a:ext uri="{FF2B5EF4-FFF2-40B4-BE49-F238E27FC236}">
                <a16:creationId xmlns:a16="http://schemas.microsoft.com/office/drawing/2014/main" id="{10585A49-3B90-4978-BA9C-D78E2B376027}"/>
              </a:ext>
            </a:extLst>
          </p:cNvPr>
          <p:cNvSpPr/>
          <p:nvPr/>
        </p:nvSpPr>
        <p:spPr>
          <a:xfrm>
            <a:off x="967927" y="2643051"/>
            <a:ext cx="7966430" cy="896639"/>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著名的</a:t>
            </a:r>
            <a:r>
              <a:rPr kumimoji="1" lang="en-US" altLang="zh-CN"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Heartbleed Attack</a:t>
            </a: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是最典型的</a:t>
            </a:r>
            <a:endParaRPr kumimoji="1" lang="en-US" altLang="zh-CN"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endParaRPr>
          </a:p>
          <a:p>
            <a:pPr algn="ctr">
              <a:lnSpc>
                <a:spcPct val="130000"/>
              </a:lnSpc>
            </a:pPr>
            <a:r>
              <a:rPr kumimoji="1" lang="en-US" altLang="zh-CN"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Heap Over-Read Attack</a:t>
            </a:r>
          </a:p>
        </p:txBody>
      </p:sp>
      <p:pic>
        <p:nvPicPr>
          <p:cNvPr id="6" name="图片 5">
            <a:extLst>
              <a:ext uri="{FF2B5EF4-FFF2-40B4-BE49-F238E27FC236}">
                <a16:creationId xmlns:a16="http://schemas.microsoft.com/office/drawing/2014/main" id="{B782BBD8-50A8-4FC4-9619-EA14288AFDB6}"/>
              </a:ext>
            </a:extLst>
          </p:cNvPr>
          <p:cNvPicPr>
            <a:picLocks noChangeAspect="1"/>
          </p:cNvPicPr>
          <p:nvPr/>
        </p:nvPicPr>
        <p:blipFill rotWithShape="1">
          <a:blip r:embed="rId3"/>
          <a:srcRect b="1611"/>
          <a:stretch/>
        </p:blipFill>
        <p:spPr>
          <a:xfrm>
            <a:off x="9933506" y="3530726"/>
            <a:ext cx="1640624" cy="1945464"/>
          </a:xfrm>
          <a:prstGeom prst="rect">
            <a:avLst/>
          </a:prstGeom>
        </p:spPr>
      </p:pic>
      <p:sp>
        <p:nvSpPr>
          <p:cNvPr id="13" name="文本框 12">
            <a:extLst>
              <a:ext uri="{FF2B5EF4-FFF2-40B4-BE49-F238E27FC236}">
                <a16:creationId xmlns:a16="http://schemas.microsoft.com/office/drawing/2014/main" id="{AE249E8E-70A5-462D-AD55-1CD2D9597A76}"/>
              </a:ext>
            </a:extLst>
          </p:cNvPr>
          <p:cNvSpPr txBox="1"/>
          <p:nvPr/>
        </p:nvSpPr>
        <p:spPr>
          <a:xfrm>
            <a:off x="1732520" y="5697752"/>
            <a:ext cx="6148782" cy="961289"/>
          </a:xfrm>
          <a:prstGeom prst="rect">
            <a:avLst/>
          </a:prstGeom>
          <a:noFill/>
        </p:spPr>
        <p:txBody>
          <a:bodyPr wrap="square">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該漏洞可傾瀉的數據量高達</a:t>
            </a: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64KB</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，而</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Fast-Bin</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當中的堆塊最大大小僅爲</a:t>
            </a:r>
            <a:r>
              <a:rPr kumimoji="1" lang="en-US" altLang="zh-CN" sz="200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80B</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（爲其大小的</a:t>
            </a:r>
            <a:r>
              <a:rPr kumimoji="1" lang="en-US" altLang="zh-CN" sz="2000" b="0"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800-4000</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倍）</a:t>
            </a:r>
          </a:p>
        </p:txBody>
      </p:sp>
      <p:sp>
        <p:nvSpPr>
          <p:cNvPr id="14" name="文本框 14">
            <a:extLst>
              <a:ext uri="{FF2B5EF4-FFF2-40B4-BE49-F238E27FC236}">
                <a16:creationId xmlns:a16="http://schemas.microsoft.com/office/drawing/2014/main" id="{565108C2-583F-4C2F-89FA-515482796F26}"/>
              </a:ext>
            </a:extLst>
          </p:cNvPr>
          <p:cNvSpPr txBox="1"/>
          <p:nvPr/>
        </p:nvSpPr>
        <p:spPr>
          <a:xfrm>
            <a:off x="492509" y="3825116"/>
            <a:ext cx="9079697"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OpenSSL</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TLS</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實現當中，在處理心跳包時未能</a:t>
            </a:r>
            <a:r>
              <a:rPr kumimoji="1" lang="zh-CN" altLang="en-US" sz="2400" b="0" i="0"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對長度字段做合理校驗，導致攻擊者可以構造惡意數據包，越界</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讀取心跳包數據之後的堆區內存；這些內存包含了私鑰等重要信息</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2C3F438D-FE8A-967C-7964-157D60C8247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53</a:t>
            </a:fld>
            <a:endParaRPr lang="zh-CN" altLang="en-US" sz="1200" dirty="0">
              <a:solidFill>
                <a:schemeClr val="tx1">
                  <a:tint val="75000"/>
                </a:schemeClr>
              </a:solidFill>
            </a:endParaRPr>
          </a:p>
        </p:txBody>
      </p:sp>
    </p:spTree>
    <p:extLst>
      <p:ext uri="{BB962C8B-B14F-4D97-AF65-F5344CB8AC3E}">
        <p14:creationId xmlns:p14="http://schemas.microsoft.com/office/powerpoint/2010/main" val="3213320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8">
            <a:extLst>
              <a:ext uri="{FF2B5EF4-FFF2-40B4-BE49-F238E27FC236}">
                <a16:creationId xmlns:a16="http://schemas.microsoft.com/office/drawing/2014/main" id="{B36B7879-30A7-A46D-CA1A-2FECD5DA8543}"/>
              </a:ext>
            </a:extLst>
          </p:cNvPr>
          <p:cNvSpPr>
            <a:spLocks/>
          </p:cNvSpPr>
          <p:nvPr/>
        </p:nvSpPr>
        <p:spPr bwMode="auto">
          <a:xfrm>
            <a:off x="531658" y="5107755"/>
            <a:ext cx="7180502" cy="108555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318431"/>
            <a:ext cx="7208383"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堆噴（</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Heap Spray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）幷非是一種內存攻擊的輔助技術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堆噴申請大量的堆區空間，幷將其中填入大量的</a:t>
            </a:r>
            <a:r>
              <a:rPr kumimoji="1" lang="zh-CN" altLang="en-US" sz="2400" b="1" i="0" u="none" strike="noStrike" kern="1200" cap="none" spc="0" normalizeH="0" baseline="0" noProof="0" dirty="0">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滑板指令</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）和攻擊惡意代碼；</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堆噴使用戶空間存在大量惡意代碼，若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指向堆區時將命中</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滑板指令區</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受害進程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最終將“滑到”惡意代碼</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7E5596F1-DAB3-4778-91AF-75C1DA6436F5}"/>
              </a:ext>
            </a:extLst>
          </p:cNvPr>
          <p:cNvSpPr>
            <a:spLocks noGrp="1"/>
          </p:cNvSpPr>
          <p:nvPr>
            <p:ph type="title"/>
          </p:nvPr>
        </p:nvSpPr>
        <p:spPr/>
        <p:txBody>
          <a:bodyPr>
            <a:normAutofit/>
          </a:bodyPr>
          <a:lstStyle/>
          <a:p>
            <a:r>
              <a:rPr lang="zh-CN" altLang="en-US" dirty="0"/>
              <a:t>堆區的其他攻擊：</a:t>
            </a:r>
            <a:r>
              <a:rPr lang="en-US" altLang="zh-CN" dirty="0"/>
              <a:t>Heap Spray</a:t>
            </a:r>
            <a:endParaRPr lang="zh-CN" altLang="en-US" dirty="0"/>
          </a:p>
        </p:txBody>
      </p:sp>
      <p:sp>
        <p:nvSpPr>
          <p:cNvPr id="29" name="文本框 28">
            <a:extLst>
              <a:ext uri="{FF2B5EF4-FFF2-40B4-BE49-F238E27FC236}">
                <a16:creationId xmlns:a16="http://schemas.microsoft.com/office/drawing/2014/main" id="{C196EF13-9DC4-4D52-ADB3-A104E10E1B94}"/>
              </a:ext>
            </a:extLst>
          </p:cNvPr>
          <p:cNvSpPr txBox="1"/>
          <p:nvPr/>
        </p:nvSpPr>
        <p:spPr>
          <a:xfrm>
            <a:off x="542925" y="5163798"/>
            <a:ext cx="7157969" cy="973472"/>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堆噴對抗地址的隨機浮動類型的防禦方案</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p>
          <a:p>
            <a:pPr marR="0" lvl="0" algn="ctr"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幷實現了惡意代碼的注入</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AA2819E7-EA66-0777-B0B3-68FE9A558646}"/>
              </a:ext>
            </a:extLst>
          </p:cNvPr>
          <p:cNvPicPr>
            <a:picLocks noChangeAspect="1"/>
          </p:cNvPicPr>
          <p:nvPr/>
        </p:nvPicPr>
        <p:blipFill>
          <a:blip r:embed="rId3"/>
          <a:stretch>
            <a:fillRect/>
          </a:stretch>
        </p:blipFill>
        <p:spPr>
          <a:xfrm>
            <a:off x="7827903" y="1737559"/>
            <a:ext cx="4328298" cy="2713156"/>
          </a:xfrm>
          <a:prstGeom prst="rect">
            <a:avLst/>
          </a:prstGeom>
        </p:spPr>
      </p:pic>
      <p:sp>
        <p:nvSpPr>
          <p:cNvPr id="5" name="Slide Number Placeholder 7">
            <a:extLst>
              <a:ext uri="{FF2B5EF4-FFF2-40B4-BE49-F238E27FC236}">
                <a16:creationId xmlns:a16="http://schemas.microsoft.com/office/drawing/2014/main" id="{26932638-25A6-AB33-1120-2EA34EC4B318}"/>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54</a:t>
            </a:fld>
            <a:endParaRPr lang="zh-CN" altLang="en-US" sz="1200" dirty="0">
              <a:solidFill>
                <a:schemeClr val="tx1">
                  <a:tint val="75000"/>
                </a:schemeClr>
              </a:solidFill>
            </a:endParaRPr>
          </a:p>
        </p:txBody>
      </p:sp>
    </p:spTree>
    <p:extLst>
      <p:ext uri="{BB962C8B-B14F-4D97-AF65-F5344CB8AC3E}">
        <p14:creationId xmlns:p14="http://schemas.microsoft.com/office/powerpoint/2010/main" val="38800913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1" name="矩形 30">
            <a:extLst>
              <a:ext uri="{FF2B5EF4-FFF2-40B4-BE49-F238E27FC236}">
                <a16:creationId xmlns:a16="http://schemas.microsoft.com/office/drawing/2014/main" id="{7E82A977-2621-4747-9475-0708751D7722}"/>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2" name="矩形 31">
            <a:extLst>
              <a:ext uri="{FF2B5EF4-FFF2-40B4-BE49-F238E27FC236}">
                <a16:creationId xmlns:a16="http://schemas.microsoft.com/office/drawing/2014/main" id="{0A0D1F9F-221B-4752-9E86-72A4E3518DE7}"/>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3" name="矩形 32">
            <a:extLst>
              <a:ext uri="{FF2B5EF4-FFF2-40B4-BE49-F238E27FC236}">
                <a16:creationId xmlns:a16="http://schemas.microsoft.com/office/drawing/2014/main" id="{5DDFEF21-349D-48F1-91D9-00DE21958C96}"/>
              </a:ext>
            </a:extLst>
          </p:cNvPr>
          <p:cNvSpPr/>
          <p:nvPr/>
        </p:nvSpPr>
        <p:spPr>
          <a:xfrm>
            <a:off x="4711535" y="2072918"/>
            <a:ext cx="6777817" cy="707886"/>
          </a:xfrm>
          <a:prstGeom prst="rect">
            <a:avLst/>
          </a:prstGeom>
        </p:spPr>
        <p:txBody>
          <a:bodyPr wrap="none">
            <a:spAutoFit/>
          </a:bodyPr>
          <a:lstStyle/>
          <a:p>
            <a:pPr>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2</a:t>
            </a:r>
            <a:r>
              <a:rPr lang="zh-CN" altLang="en-US" sz="4000" b="1" kern="100" dirty="0">
                <a:solidFill>
                  <a:prstClr val="white"/>
                </a:solidFill>
                <a:latin typeface="微软雅黑 Light"/>
                <a:ea typeface="微软雅黑 Light"/>
                <a:cs typeface="Times New Roman" panose="02020603050405020304" pitchFamily="18" charset="0"/>
              </a:rPr>
              <a:t>節 操作系統基礎防禦方案</a:t>
            </a:r>
          </a:p>
        </p:txBody>
      </p:sp>
      <p:pic>
        <p:nvPicPr>
          <p:cNvPr id="34" name="图片 33">
            <a:extLst>
              <a:ext uri="{FF2B5EF4-FFF2-40B4-BE49-F238E27FC236}">
                <a16:creationId xmlns:a16="http://schemas.microsoft.com/office/drawing/2014/main" id="{07248B06-5AF7-4C2B-AF0E-5BE0C33E71BD}"/>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grpSp>
        <p:nvGrpSpPr>
          <p:cNvPr id="35" name="Group 5">
            <a:extLst>
              <a:ext uri="{FF2B5EF4-FFF2-40B4-BE49-F238E27FC236}">
                <a16:creationId xmlns:a16="http://schemas.microsoft.com/office/drawing/2014/main" id="{C4254E55-3018-4CE0-A33F-B4AF47AA075A}"/>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36" name="Oval 6">
              <a:extLst>
                <a:ext uri="{FF2B5EF4-FFF2-40B4-BE49-F238E27FC236}">
                  <a16:creationId xmlns:a16="http://schemas.microsoft.com/office/drawing/2014/main" id="{7139F009-5917-4BD3-981C-28A2E7CAFE19}"/>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37" name="Freeform 7">
              <a:extLst>
                <a:ext uri="{FF2B5EF4-FFF2-40B4-BE49-F238E27FC236}">
                  <a16:creationId xmlns:a16="http://schemas.microsoft.com/office/drawing/2014/main" id="{B26A6792-36DC-4C8D-B04C-01B95C3051EF}"/>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38" name="TextBox 9">
            <a:extLst>
              <a:ext uri="{FF2B5EF4-FFF2-40B4-BE49-F238E27FC236}">
                <a16:creationId xmlns:a16="http://schemas.microsoft.com/office/drawing/2014/main" id="{1DC74A86-40AB-437C-8CB1-C2B6E0923AEC}"/>
              </a:ext>
            </a:extLst>
          </p:cNvPr>
          <p:cNvSpPr txBox="1">
            <a:spLocks noChangeArrowheads="1"/>
          </p:cNvSpPr>
          <p:nvPr/>
        </p:nvSpPr>
        <p:spPr bwMode="auto">
          <a:xfrm>
            <a:off x="6209111" y="3920372"/>
            <a:ext cx="341471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2.1 W^X</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NX</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DEP</a:t>
            </a:r>
            <a:r>
              <a:rPr lang="zh-CN" altLang="en-US" sz="2400" dirty="0">
                <a:latin typeface="Microsoft YaHei" panose="020B0503020204020204" pitchFamily="34" charset="-122"/>
                <a:ea typeface="Microsoft YaHei" panose="020B0503020204020204" pitchFamily="34" charset="-122"/>
              </a:rPr>
              <a:t>）</a:t>
            </a:r>
          </a:p>
        </p:txBody>
      </p:sp>
      <p:grpSp>
        <p:nvGrpSpPr>
          <p:cNvPr id="39" name="Group 11">
            <a:extLst>
              <a:ext uri="{FF2B5EF4-FFF2-40B4-BE49-F238E27FC236}">
                <a16:creationId xmlns:a16="http://schemas.microsoft.com/office/drawing/2014/main" id="{4E727D82-6369-41E9-A3C9-5ADF78A82589}"/>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0" name="Oval 12">
              <a:extLst>
                <a:ext uri="{FF2B5EF4-FFF2-40B4-BE49-F238E27FC236}">
                  <a16:creationId xmlns:a16="http://schemas.microsoft.com/office/drawing/2014/main" id="{C131EC34-8230-4BC3-91E7-FC4D648BF470}"/>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41" name="Freeform 13">
              <a:extLst>
                <a:ext uri="{FF2B5EF4-FFF2-40B4-BE49-F238E27FC236}">
                  <a16:creationId xmlns:a16="http://schemas.microsoft.com/office/drawing/2014/main" id="{DD4651E5-74DD-4B7D-B3E4-AD5B69678E6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42" name="TextBox 15">
            <a:extLst>
              <a:ext uri="{FF2B5EF4-FFF2-40B4-BE49-F238E27FC236}">
                <a16:creationId xmlns:a16="http://schemas.microsoft.com/office/drawing/2014/main" id="{AA9C29A3-4E2C-4CE3-9D0A-640E3C07D107}"/>
              </a:ext>
            </a:extLst>
          </p:cNvPr>
          <p:cNvSpPr txBox="1">
            <a:spLocks noChangeArrowheads="1"/>
          </p:cNvSpPr>
          <p:nvPr/>
        </p:nvSpPr>
        <p:spPr bwMode="auto">
          <a:xfrm>
            <a:off x="6209111" y="4566548"/>
            <a:ext cx="1465466"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2.2 ASLR</a:t>
            </a:r>
            <a:endParaRPr lang="zh-CN" altLang="en-US" sz="2400" dirty="0">
              <a:latin typeface="Microsoft YaHei" panose="020B0503020204020204" pitchFamily="34" charset="-122"/>
              <a:ea typeface="Microsoft YaHei" panose="020B0503020204020204" pitchFamily="34" charset="-122"/>
            </a:endParaRPr>
          </a:p>
        </p:txBody>
      </p:sp>
      <p:grpSp>
        <p:nvGrpSpPr>
          <p:cNvPr id="43" name="Group 17">
            <a:extLst>
              <a:ext uri="{FF2B5EF4-FFF2-40B4-BE49-F238E27FC236}">
                <a16:creationId xmlns:a16="http://schemas.microsoft.com/office/drawing/2014/main" id="{9AD2AAD9-0AA7-4556-9AA4-D02224FDB3FA}"/>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4" name="Oval 18">
              <a:extLst>
                <a:ext uri="{FF2B5EF4-FFF2-40B4-BE49-F238E27FC236}">
                  <a16:creationId xmlns:a16="http://schemas.microsoft.com/office/drawing/2014/main" id="{B288B822-1151-4263-8B29-0070415D7A65}"/>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45" name="Freeform 19">
              <a:extLst>
                <a:ext uri="{FF2B5EF4-FFF2-40B4-BE49-F238E27FC236}">
                  <a16:creationId xmlns:a16="http://schemas.microsoft.com/office/drawing/2014/main" id="{E9118425-785A-4CC2-B0DA-E4D7D456A765}"/>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46" name="TextBox 21">
            <a:extLst>
              <a:ext uri="{FF2B5EF4-FFF2-40B4-BE49-F238E27FC236}">
                <a16:creationId xmlns:a16="http://schemas.microsoft.com/office/drawing/2014/main" id="{CFAAAFD4-6CA8-4769-A322-E608FB5AC19A}"/>
              </a:ext>
            </a:extLst>
          </p:cNvPr>
          <p:cNvSpPr txBox="1"/>
          <p:nvPr/>
        </p:nvSpPr>
        <p:spPr bwMode="auto">
          <a:xfrm>
            <a:off x="6209110" y="5247894"/>
            <a:ext cx="2606355"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2.3 Stack Canary</a:t>
            </a:r>
            <a:endParaRPr lang="zh-CN" altLang="en-US" sz="2400" dirty="0">
              <a:latin typeface="Microsoft YaHei" panose="020B0503020204020204" pitchFamily="34" charset="-122"/>
              <a:ea typeface="Microsoft YaHei" panose="020B0503020204020204" pitchFamily="34" charset="-122"/>
            </a:endParaRPr>
          </a:p>
        </p:txBody>
      </p:sp>
      <p:grpSp>
        <p:nvGrpSpPr>
          <p:cNvPr id="47" name="Group 11">
            <a:extLst>
              <a:ext uri="{FF2B5EF4-FFF2-40B4-BE49-F238E27FC236}">
                <a16:creationId xmlns:a16="http://schemas.microsoft.com/office/drawing/2014/main" id="{1295489B-C28C-4C7F-8DEF-A7080A27610F}"/>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48" name="Oval 12">
              <a:extLst>
                <a:ext uri="{FF2B5EF4-FFF2-40B4-BE49-F238E27FC236}">
                  <a16:creationId xmlns:a16="http://schemas.microsoft.com/office/drawing/2014/main" id="{43F6B3D5-C007-48EC-9889-EBBDC444529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49" name="Freeform 13">
              <a:extLst>
                <a:ext uri="{FF2B5EF4-FFF2-40B4-BE49-F238E27FC236}">
                  <a16:creationId xmlns:a16="http://schemas.microsoft.com/office/drawing/2014/main" id="{7BA2CDF8-BC48-436D-9C3A-7F187BCC072B}"/>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50" name="TextBox 15">
            <a:extLst>
              <a:ext uri="{FF2B5EF4-FFF2-40B4-BE49-F238E27FC236}">
                <a16:creationId xmlns:a16="http://schemas.microsoft.com/office/drawing/2014/main" id="{63769DB1-41A8-4672-98E3-C6887C8E3DE4}"/>
              </a:ext>
            </a:extLst>
          </p:cNvPr>
          <p:cNvSpPr txBox="1">
            <a:spLocks noChangeArrowheads="1"/>
          </p:cNvSpPr>
          <p:nvPr/>
        </p:nvSpPr>
        <p:spPr bwMode="auto">
          <a:xfrm>
            <a:off x="6209112" y="5889914"/>
            <a:ext cx="2544286"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2.4 SMAP, SMEP</a:t>
            </a:r>
            <a:endParaRPr lang="zh-CN" altLang="en-US"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512633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18">
            <a:extLst>
              <a:ext uri="{FF2B5EF4-FFF2-40B4-BE49-F238E27FC236}">
                <a16:creationId xmlns:a16="http://schemas.microsoft.com/office/drawing/2014/main" id="{351BAA24-CBFC-BD67-FD35-0E5BB3ECB596}"/>
              </a:ext>
            </a:extLst>
          </p:cNvPr>
          <p:cNvSpPr>
            <a:spLocks/>
          </p:cNvSpPr>
          <p:nvPr/>
        </p:nvSpPr>
        <p:spPr bwMode="auto">
          <a:xfrm>
            <a:off x="636327" y="4715576"/>
            <a:ext cx="6138491" cy="1884619"/>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5" name="矩形 18">
            <a:extLst>
              <a:ext uri="{FF2B5EF4-FFF2-40B4-BE49-F238E27FC236}">
                <a16:creationId xmlns:a16="http://schemas.microsoft.com/office/drawing/2014/main" id="{2507BAE0-131B-A46B-F139-6C1F5020685B}"/>
              </a:ext>
            </a:extLst>
          </p:cNvPr>
          <p:cNvSpPr>
            <a:spLocks/>
          </p:cNvSpPr>
          <p:nvPr/>
        </p:nvSpPr>
        <p:spPr bwMode="auto">
          <a:xfrm>
            <a:off x="636327" y="2946871"/>
            <a:ext cx="6162047" cy="148445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1" y="1330064"/>
            <a:ext cx="6441579"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W^X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寫與執行不可兼得</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，即每一個內存頁擁有</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寫權限或者執行權限</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，不可兼具兩者</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9" name="直接连接符 8">
            <a:extLst>
              <a:ext uri="{FF2B5EF4-FFF2-40B4-BE49-F238E27FC236}">
                <a16:creationId xmlns:a16="http://schemas.microsoft.com/office/drawing/2014/main" id="{8F69A07A-445C-4792-A4A9-CDC18C0EF6FC}"/>
              </a:ext>
            </a:extLst>
          </p:cNvPr>
          <p:cNvCxnSpPr>
            <a:cxnSpLocks/>
          </p:cNvCxnSpPr>
          <p:nvPr/>
        </p:nvCxnSpPr>
        <p:spPr>
          <a:xfrm>
            <a:off x="7714286"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DFDB4A78-A220-4078-A258-747EF2D1C7C3}"/>
              </a:ext>
            </a:extLst>
          </p:cNvPr>
          <p:cNvCxnSpPr>
            <a:cxnSpLocks/>
          </p:cNvCxnSpPr>
          <p:nvPr/>
        </p:nvCxnSpPr>
        <p:spPr>
          <a:xfrm>
            <a:off x="10342724"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07241FA-6FC8-479E-8609-CC1CD8641001}"/>
              </a:ext>
            </a:extLst>
          </p:cNvPr>
          <p:cNvSpPr txBox="1"/>
          <p:nvPr/>
        </p:nvSpPr>
        <p:spPr>
          <a:xfrm>
            <a:off x="7909986" y="107444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4" name="文本框 13">
            <a:extLst>
              <a:ext uri="{FF2B5EF4-FFF2-40B4-BE49-F238E27FC236}">
                <a16:creationId xmlns:a16="http://schemas.microsoft.com/office/drawing/2014/main" id="{38A59623-7097-458B-A921-A46EE9C1044E}"/>
              </a:ext>
            </a:extLst>
          </p:cNvPr>
          <p:cNvSpPr txBox="1"/>
          <p:nvPr/>
        </p:nvSpPr>
        <p:spPr>
          <a:xfrm>
            <a:off x="8023238" y="6039195"/>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5" name="文本框 14">
            <a:extLst>
              <a:ext uri="{FF2B5EF4-FFF2-40B4-BE49-F238E27FC236}">
                <a16:creationId xmlns:a16="http://schemas.microsoft.com/office/drawing/2014/main" id="{A6AEC927-D14B-49A0-BDF3-2FD52C67C82A}"/>
              </a:ext>
            </a:extLst>
          </p:cNvPr>
          <p:cNvSpPr txBox="1"/>
          <p:nvPr/>
        </p:nvSpPr>
        <p:spPr>
          <a:xfrm>
            <a:off x="7713838" y="202665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EBP of Caller’s Caller</a:t>
            </a:r>
          </a:p>
        </p:txBody>
      </p:sp>
      <p:cxnSp>
        <p:nvCxnSpPr>
          <p:cNvPr id="16" name="直接连接符 15">
            <a:extLst>
              <a:ext uri="{FF2B5EF4-FFF2-40B4-BE49-F238E27FC236}">
                <a16:creationId xmlns:a16="http://schemas.microsoft.com/office/drawing/2014/main" id="{7E140A24-86CA-44EE-9351-D8ECABE494C8}"/>
              </a:ext>
            </a:extLst>
          </p:cNvPr>
          <p:cNvCxnSpPr>
            <a:cxnSpLocks/>
          </p:cNvCxnSpPr>
          <p:nvPr/>
        </p:nvCxnSpPr>
        <p:spPr>
          <a:xfrm>
            <a:off x="7707173" y="20156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B30C3E59-0899-42DE-A19D-B860B19BD79A}"/>
              </a:ext>
            </a:extLst>
          </p:cNvPr>
          <p:cNvSpPr txBox="1"/>
          <p:nvPr/>
        </p:nvSpPr>
        <p:spPr>
          <a:xfrm>
            <a:off x="7699653" y="1619643"/>
            <a:ext cx="2627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Previous Stack Frame</a:t>
            </a:r>
          </a:p>
        </p:txBody>
      </p:sp>
      <p:cxnSp>
        <p:nvCxnSpPr>
          <p:cNvPr id="18" name="直接连接符 17">
            <a:extLst>
              <a:ext uri="{FF2B5EF4-FFF2-40B4-BE49-F238E27FC236}">
                <a16:creationId xmlns:a16="http://schemas.microsoft.com/office/drawing/2014/main" id="{5065DA58-E94D-4C3A-BE7B-C79BE1D75AE7}"/>
              </a:ext>
            </a:extLst>
          </p:cNvPr>
          <p:cNvCxnSpPr>
            <a:cxnSpLocks/>
          </p:cNvCxnSpPr>
          <p:nvPr/>
        </p:nvCxnSpPr>
        <p:spPr>
          <a:xfrm>
            <a:off x="7712938" y="304569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89754FAD-DB51-4EFB-BE11-00AD6C50B7CD}"/>
              </a:ext>
            </a:extLst>
          </p:cNvPr>
          <p:cNvCxnSpPr>
            <a:cxnSpLocks/>
          </p:cNvCxnSpPr>
          <p:nvPr/>
        </p:nvCxnSpPr>
        <p:spPr>
          <a:xfrm>
            <a:off x="7712938" y="242600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任意多边形: 形状 19">
            <a:extLst>
              <a:ext uri="{FF2B5EF4-FFF2-40B4-BE49-F238E27FC236}">
                <a16:creationId xmlns:a16="http://schemas.microsoft.com/office/drawing/2014/main" id="{988304C1-12BD-45F7-9E3F-D2DC07C4E7FC}"/>
              </a:ext>
            </a:extLst>
          </p:cNvPr>
          <p:cNvSpPr/>
          <p:nvPr/>
        </p:nvSpPr>
        <p:spPr>
          <a:xfrm>
            <a:off x="737028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a:solidFill>
              <a:srgbClr val="C00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1" name="文本框 20">
            <a:extLst>
              <a:ext uri="{FF2B5EF4-FFF2-40B4-BE49-F238E27FC236}">
                <a16:creationId xmlns:a16="http://schemas.microsoft.com/office/drawing/2014/main" id="{199A6F89-194B-42DE-BD62-6E9ED64EDC0D}"/>
              </a:ext>
            </a:extLst>
          </p:cNvPr>
          <p:cNvSpPr txBox="1"/>
          <p:nvPr/>
        </p:nvSpPr>
        <p:spPr>
          <a:xfrm>
            <a:off x="7721400" y="2540895"/>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Local Variables</a:t>
            </a:r>
          </a:p>
        </p:txBody>
      </p:sp>
      <p:cxnSp>
        <p:nvCxnSpPr>
          <p:cNvPr id="22" name="直接连接符 21">
            <a:extLst>
              <a:ext uri="{FF2B5EF4-FFF2-40B4-BE49-F238E27FC236}">
                <a16:creationId xmlns:a16="http://schemas.microsoft.com/office/drawing/2014/main" id="{19E82A73-5FA0-4781-B9CC-FC2350558D9B}"/>
              </a:ext>
            </a:extLst>
          </p:cNvPr>
          <p:cNvCxnSpPr>
            <a:cxnSpLocks/>
          </p:cNvCxnSpPr>
          <p:nvPr/>
        </p:nvCxnSpPr>
        <p:spPr>
          <a:xfrm>
            <a:off x="7713831" y="36004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B59E254-E16B-4967-9DF3-68603B0FC80A}"/>
              </a:ext>
            </a:extLst>
          </p:cNvPr>
          <p:cNvSpPr txBox="1"/>
          <p:nvPr/>
        </p:nvSpPr>
        <p:spPr>
          <a:xfrm>
            <a:off x="7721399" y="314527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 Arguments n … 1</a:t>
            </a:r>
          </a:p>
        </p:txBody>
      </p:sp>
      <p:cxnSp>
        <p:nvCxnSpPr>
          <p:cNvPr id="26" name="直接连接符 25">
            <a:extLst>
              <a:ext uri="{FF2B5EF4-FFF2-40B4-BE49-F238E27FC236}">
                <a16:creationId xmlns:a16="http://schemas.microsoft.com/office/drawing/2014/main" id="{813B4D01-4E13-4769-81FC-44C4B669BD20}"/>
              </a:ext>
            </a:extLst>
          </p:cNvPr>
          <p:cNvCxnSpPr>
            <a:cxnSpLocks/>
          </p:cNvCxnSpPr>
          <p:nvPr/>
        </p:nvCxnSpPr>
        <p:spPr>
          <a:xfrm>
            <a:off x="7710670" y="403710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EDCC001-9DF8-45C2-ADF4-2A2C7A9B544D}"/>
              </a:ext>
            </a:extLst>
          </p:cNvPr>
          <p:cNvSpPr txBox="1"/>
          <p:nvPr/>
        </p:nvSpPr>
        <p:spPr>
          <a:xfrm>
            <a:off x="7707221" y="363702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Return Address</a:t>
            </a:r>
          </a:p>
        </p:txBody>
      </p:sp>
      <p:sp>
        <p:nvSpPr>
          <p:cNvPr id="28" name="文本框 27">
            <a:extLst>
              <a:ext uri="{FF2B5EF4-FFF2-40B4-BE49-F238E27FC236}">
                <a16:creationId xmlns:a16="http://schemas.microsoft.com/office/drawing/2014/main" id="{A407A57A-BD28-4057-9F4D-61483A0345D1}"/>
              </a:ext>
            </a:extLst>
          </p:cNvPr>
          <p:cNvSpPr txBox="1"/>
          <p:nvPr/>
        </p:nvSpPr>
        <p:spPr>
          <a:xfrm>
            <a:off x="7713831" y="4087812"/>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EBP of Caller</a:t>
            </a:r>
          </a:p>
        </p:txBody>
      </p:sp>
      <p:cxnSp>
        <p:nvCxnSpPr>
          <p:cNvPr id="29" name="直接连接符 28">
            <a:extLst>
              <a:ext uri="{FF2B5EF4-FFF2-40B4-BE49-F238E27FC236}">
                <a16:creationId xmlns:a16="http://schemas.microsoft.com/office/drawing/2014/main" id="{8522247C-3A37-4759-930D-6084ABC52A6E}"/>
              </a:ext>
            </a:extLst>
          </p:cNvPr>
          <p:cNvCxnSpPr>
            <a:cxnSpLocks/>
          </p:cNvCxnSpPr>
          <p:nvPr/>
        </p:nvCxnSpPr>
        <p:spPr>
          <a:xfrm>
            <a:off x="7712931" y="448716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任意多边形: 形状 29">
            <a:extLst>
              <a:ext uri="{FF2B5EF4-FFF2-40B4-BE49-F238E27FC236}">
                <a16:creationId xmlns:a16="http://schemas.microsoft.com/office/drawing/2014/main" id="{AAB19BDB-2EDF-4EFA-9861-F9AEECEEA153}"/>
              </a:ext>
            </a:extLst>
          </p:cNvPr>
          <p:cNvSpPr/>
          <p:nvPr/>
        </p:nvSpPr>
        <p:spPr>
          <a:xfrm>
            <a:off x="724910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31" name="直接连接符 30">
            <a:extLst>
              <a:ext uri="{FF2B5EF4-FFF2-40B4-BE49-F238E27FC236}">
                <a16:creationId xmlns:a16="http://schemas.microsoft.com/office/drawing/2014/main" id="{7A67B3B8-B027-4DAA-9D06-606C87DBD298}"/>
              </a:ext>
            </a:extLst>
          </p:cNvPr>
          <p:cNvCxnSpPr>
            <a:cxnSpLocks/>
          </p:cNvCxnSpPr>
          <p:nvPr/>
        </p:nvCxnSpPr>
        <p:spPr>
          <a:xfrm>
            <a:off x="7712890" y="542921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98F693C0-AB8B-42C4-BF71-33B5A491E4C5}"/>
              </a:ext>
            </a:extLst>
          </p:cNvPr>
          <p:cNvSpPr txBox="1"/>
          <p:nvPr/>
        </p:nvSpPr>
        <p:spPr>
          <a:xfrm>
            <a:off x="7721352" y="478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Local Variables</a:t>
            </a:r>
          </a:p>
        </p:txBody>
      </p:sp>
      <p:sp>
        <p:nvSpPr>
          <p:cNvPr id="35" name="文本框 34">
            <a:extLst>
              <a:ext uri="{FF2B5EF4-FFF2-40B4-BE49-F238E27FC236}">
                <a16:creationId xmlns:a16="http://schemas.microsoft.com/office/drawing/2014/main" id="{EC04A341-C4B1-4CCB-9483-D1681B43DA6F}"/>
              </a:ext>
            </a:extLst>
          </p:cNvPr>
          <p:cNvSpPr txBox="1"/>
          <p:nvPr/>
        </p:nvSpPr>
        <p:spPr>
          <a:xfrm>
            <a:off x="10867469" y="5808377"/>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6" name="任意多边形: 形状 35">
            <a:extLst>
              <a:ext uri="{FF2B5EF4-FFF2-40B4-BE49-F238E27FC236}">
                <a16:creationId xmlns:a16="http://schemas.microsoft.com/office/drawing/2014/main" id="{4CC732F4-8510-42F7-A67A-58DB8A2012F0}"/>
              </a:ext>
            </a:extLst>
          </p:cNvPr>
          <p:cNvSpPr/>
          <p:nvPr/>
        </p:nvSpPr>
        <p:spPr>
          <a:xfrm>
            <a:off x="10377889" y="5243714"/>
            <a:ext cx="947451" cy="529125"/>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41" name="组合 40">
            <a:extLst>
              <a:ext uri="{FF2B5EF4-FFF2-40B4-BE49-F238E27FC236}">
                <a16:creationId xmlns:a16="http://schemas.microsoft.com/office/drawing/2014/main" id="{9797FD80-04E6-4461-9085-00D22B5B4FFF}"/>
              </a:ext>
            </a:extLst>
          </p:cNvPr>
          <p:cNvGrpSpPr/>
          <p:nvPr/>
        </p:nvGrpSpPr>
        <p:grpSpPr>
          <a:xfrm>
            <a:off x="11071950" y="2691935"/>
            <a:ext cx="716097" cy="369332"/>
            <a:chOff x="10697378" y="2404853"/>
            <a:chExt cx="716097" cy="369332"/>
          </a:xfrm>
        </p:grpSpPr>
        <p:sp>
          <p:nvSpPr>
            <p:cNvPr id="42" name="椭圆 41">
              <a:extLst>
                <a:ext uri="{FF2B5EF4-FFF2-40B4-BE49-F238E27FC236}">
                  <a16:creationId xmlns:a16="http://schemas.microsoft.com/office/drawing/2014/main" id="{EBD75751-4E83-4A60-8620-C6E4B93843CC}"/>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3" name="文本框 42">
              <a:extLst>
                <a:ext uri="{FF2B5EF4-FFF2-40B4-BE49-F238E27FC236}">
                  <a16:creationId xmlns:a16="http://schemas.microsoft.com/office/drawing/2014/main" id="{636CA9E4-6D64-445B-8169-F747641025B8}"/>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sp>
        <p:nvSpPr>
          <p:cNvPr id="44" name="任意多边形: 形状 43">
            <a:extLst>
              <a:ext uri="{FF2B5EF4-FFF2-40B4-BE49-F238E27FC236}">
                <a16:creationId xmlns:a16="http://schemas.microsoft.com/office/drawing/2014/main" id="{01DE3478-F5DF-4552-AF20-E4A3891EF7EB}"/>
              </a:ext>
            </a:extLst>
          </p:cNvPr>
          <p:cNvSpPr/>
          <p:nvPr/>
        </p:nvSpPr>
        <p:spPr>
          <a:xfrm>
            <a:off x="10416619" y="3035431"/>
            <a:ext cx="716437" cy="341523"/>
          </a:xfrm>
          <a:custGeom>
            <a:avLst/>
            <a:gdLst>
              <a:gd name="connsiteX0" fmla="*/ 716437 w 716437"/>
              <a:gd name="connsiteY0" fmla="*/ 0 h 829559"/>
              <a:gd name="connsiteX1" fmla="*/ 716437 w 716437"/>
              <a:gd name="connsiteY1" fmla="*/ 829559 h 829559"/>
              <a:gd name="connsiteX2" fmla="*/ 0 w 716437"/>
              <a:gd name="connsiteY2" fmla="*/ 829559 h 829559"/>
            </a:gdLst>
            <a:ahLst/>
            <a:cxnLst>
              <a:cxn ang="0">
                <a:pos x="connsiteX0" y="connsiteY0"/>
              </a:cxn>
              <a:cxn ang="0">
                <a:pos x="connsiteX1" y="connsiteY1"/>
              </a:cxn>
              <a:cxn ang="0">
                <a:pos x="connsiteX2" y="connsiteY2"/>
              </a:cxn>
            </a:cxnLst>
            <a:rect l="l" t="t" r="r" b="b"/>
            <a:pathLst>
              <a:path w="716437" h="829559">
                <a:moveTo>
                  <a:pt x="716437" y="0"/>
                </a:moveTo>
                <a:lnTo>
                  <a:pt x="716437" y="829559"/>
                </a:lnTo>
                <a:lnTo>
                  <a:pt x="0" y="829559"/>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5" name="矩形 44">
            <a:extLst>
              <a:ext uri="{FF2B5EF4-FFF2-40B4-BE49-F238E27FC236}">
                <a16:creationId xmlns:a16="http://schemas.microsoft.com/office/drawing/2014/main" id="{3761F4D4-4DEC-4FD2-BEBE-2E6A97C6AE4A}"/>
              </a:ext>
            </a:extLst>
          </p:cNvPr>
          <p:cNvSpPr/>
          <p:nvPr/>
        </p:nvSpPr>
        <p:spPr>
          <a:xfrm>
            <a:off x="10569687" y="2513689"/>
            <a:ext cx="1868355" cy="64633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46" name="文本框 45">
            <a:extLst>
              <a:ext uri="{FF2B5EF4-FFF2-40B4-BE49-F238E27FC236}">
                <a16:creationId xmlns:a16="http://schemas.microsoft.com/office/drawing/2014/main" id="{5C79C61B-E7AB-4EFE-9E52-92C2B0F18D34}"/>
              </a:ext>
            </a:extLst>
          </p:cNvPr>
          <p:cNvSpPr txBox="1"/>
          <p:nvPr/>
        </p:nvSpPr>
        <p:spPr>
          <a:xfrm>
            <a:off x="10451812" y="3650162"/>
            <a:ext cx="1730035" cy="369332"/>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No Execution </a:t>
            </a:r>
            <a:endParaRPr kumimoji="0" lang="zh-CN" altLang="en-US" sz="1800" b="0" i="0" u="none" strike="noStrike" kern="1200" cap="none" spc="0" normalizeH="0" baseline="0" noProof="0" dirty="0">
              <a:ln>
                <a:noFill/>
              </a:ln>
              <a:solidFill>
                <a:srgbClr val="C00000"/>
              </a:solidFill>
              <a:effectLst/>
              <a:uLnTx/>
              <a:uFillTx/>
              <a:latin typeface="Arial"/>
              <a:ea typeface="微软雅黑"/>
              <a:cs typeface="+mn-cs"/>
            </a:endParaRPr>
          </a:p>
        </p:txBody>
      </p:sp>
      <p:sp>
        <p:nvSpPr>
          <p:cNvPr id="2" name="乘号 1">
            <a:extLst>
              <a:ext uri="{FF2B5EF4-FFF2-40B4-BE49-F238E27FC236}">
                <a16:creationId xmlns:a16="http://schemas.microsoft.com/office/drawing/2014/main" id="{9AD0E8A3-83AA-4AEE-89A8-5C386598EB1A}"/>
              </a:ext>
            </a:extLst>
          </p:cNvPr>
          <p:cNvSpPr/>
          <p:nvPr/>
        </p:nvSpPr>
        <p:spPr>
          <a:xfrm>
            <a:off x="10577932" y="3113002"/>
            <a:ext cx="568800" cy="568760"/>
          </a:xfrm>
          <a:prstGeom prst="mathMultiply">
            <a:avLst>
              <a:gd name="adj1" fmla="val 10555"/>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7" name="文本框 46">
            <a:extLst>
              <a:ext uri="{FF2B5EF4-FFF2-40B4-BE49-F238E27FC236}">
                <a16:creationId xmlns:a16="http://schemas.microsoft.com/office/drawing/2014/main" id="{6F6C7418-32C1-47CA-ABD3-0402B470CA46}"/>
              </a:ext>
            </a:extLst>
          </p:cNvPr>
          <p:cNvSpPr txBox="1"/>
          <p:nvPr/>
        </p:nvSpPr>
        <p:spPr>
          <a:xfrm>
            <a:off x="10407180" y="2147091"/>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CPU</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 name="标题 2">
            <a:extLst>
              <a:ext uri="{FF2B5EF4-FFF2-40B4-BE49-F238E27FC236}">
                <a16:creationId xmlns:a16="http://schemas.microsoft.com/office/drawing/2014/main" id="{6CA22E64-A19A-4FE0-921E-9970FE8CFA7A}"/>
              </a:ext>
            </a:extLst>
          </p:cNvPr>
          <p:cNvSpPr>
            <a:spLocks noGrp="1"/>
          </p:cNvSpPr>
          <p:nvPr>
            <p:ph type="title"/>
          </p:nvPr>
        </p:nvSpPr>
        <p:spPr/>
        <p:txBody>
          <a:bodyPr>
            <a:normAutofit/>
          </a:bodyPr>
          <a:lstStyle/>
          <a:p>
            <a:r>
              <a:rPr lang="zh-CN" altLang="en-US" dirty="0"/>
              <a:t>內存防禦技術：</a:t>
            </a:r>
            <a:r>
              <a:rPr lang="en-US" altLang="zh-CN" dirty="0"/>
              <a:t>W^X</a:t>
            </a:r>
            <a:endParaRPr lang="zh-CN" altLang="en-US" dirty="0"/>
          </a:p>
        </p:txBody>
      </p:sp>
      <p:sp>
        <p:nvSpPr>
          <p:cNvPr id="40" name="文本框 39">
            <a:extLst>
              <a:ext uri="{FF2B5EF4-FFF2-40B4-BE49-F238E27FC236}">
                <a16:creationId xmlns:a16="http://schemas.microsoft.com/office/drawing/2014/main" id="{5BA318F8-7C3C-4420-8E0D-86C01CA1D8B3}"/>
              </a:ext>
            </a:extLst>
          </p:cNvPr>
          <p:cNvSpPr txBox="1"/>
          <p:nvPr/>
        </p:nvSpPr>
        <p:spPr>
          <a:xfrm>
            <a:off x="730275" y="4656977"/>
            <a:ext cx="5891589" cy="1884618"/>
          </a:xfrm>
          <a:prstGeom prst="rect">
            <a:avLst/>
          </a:prstGeom>
          <a:noFill/>
        </p:spPr>
        <p:txBody>
          <a:bodyPr wrap="square">
            <a:spAutoFit/>
          </a:bodyPr>
          <a:lstStyle/>
          <a:p>
            <a:pPr marR="0" lvl="0" algn="just"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W^X</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生效時，</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返回至溢出數據的棧溢出攻擊</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失效，因爲無法執行位于棧區的注入的惡意代碼；</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但仍有方法可以繞過</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保護機制，將在下一節的</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高級</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控制流劫持方案中介紹</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4" name="文本框 53">
            <a:extLst>
              <a:ext uri="{FF2B5EF4-FFF2-40B4-BE49-F238E27FC236}">
                <a16:creationId xmlns:a16="http://schemas.microsoft.com/office/drawing/2014/main" id="{AF49056F-B1A4-4331-8BFF-EC61BDE314D2}"/>
              </a:ext>
            </a:extLst>
          </p:cNvPr>
          <p:cNvSpPr txBox="1"/>
          <p:nvPr/>
        </p:nvSpPr>
        <p:spPr>
          <a:xfrm>
            <a:off x="706719" y="2946871"/>
            <a:ext cx="6068099" cy="1422954"/>
          </a:xfrm>
          <a:prstGeom prst="rect">
            <a:avLst/>
          </a:prstGeom>
          <a:noFill/>
        </p:spPr>
        <p:txBody>
          <a:bodyPr wrap="square">
            <a:spAutoFit/>
          </a:bodyPr>
          <a:lstStyle/>
          <a:p>
            <a:pPr marR="0" lvl="0" algn="just"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W^X</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最早在</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FreeBSD 3.0</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當中被實現，在</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下的別名爲</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No </a:t>
            </a:r>
            <a:r>
              <a:rPr kumimoji="1" lang="en-US" altLang="zh-CN" sz="20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eXecution</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Windows</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下類似的機制被稱爲</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DEP</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Data Execution Prevention</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5" name="矩形 54">
            <a:extLst>
              <a:ext uri="{FF2B5EF4-FFF2-40B4-BE49-F238E27FC236}">
                <a16:creationId xmlns:a16="http://schemas.microsoft.com/office/drawing/2014/main" id="{DD813F59-8C3D-4E74-9CB4-DBFB69D6F6D2}"/>
              </a:ext>
            </a:extLst>
          </p:cNvPr>
          <p:cNvSpPr/>
          <p:nvPr/>
        </p:nvSpPr>
        <p:spPr>
          <a:xfrm>
            <a:off x="7711200" y="2910227"/>
            <a:ext cx="2628934" cy="687181"/>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Malicious Code</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nvGrpSpPr>
          <p:cNvPr id="56" name="组合 55">
            <a:extLst>
              <a:ext uri="{FF2B5EF4-FFF2-40B4-BE49-F238E27FC236}">
                <a16:creationId xmlns:a16="http://schemas.microsoft.com/office/drawing/2014/main" id="{2E666BA6-AA30-4641-B3C1-E62FBA8033CC}"/>
              </a:ext>
            </a:extLst>
          </p:cNvPr>
          <p:cNvGrpSpPr/>
          <p:nvPr/>
        </p:nvGrpSpPr>
        <p:grpSpPr>
          <a:xfrm>
            <a:off x="7710852" y="3595747"/>
            <a:ext cx="2629016" cy="1658466"/>
            <a:chOff x="9893611" y="3595747"/>
            <a:chExt cx="2629016" cy="1658466"/>
          </a:xfrm>
        </p:grpSpPr>
        <p:sp>
          <p:nvSpPr>
            <p:cNvPr id="57" name="矩形 56">
              <a:extLst>
                <a:ext uri="{FF2B5EF4-FFF2-40B4-BE49-F238E27FC236}">
                  <a16:creationId xmlns:a16="http://schemas.microsoft.com/office/drawing/2014/main" id="{03A29AFA-89CD-4B6C-8EE5-5713C76B7EDF}"/>
                </a:ext>
              </a:extLst>
            </p:cNvPr>
            <p:cNvSpPr/>
            <p:nvPr/>
          </p:nvSpPr>
          <p:spPr>
            <a:xfrm>
              <a:off x="9893693" y="4038479"/>
              <a:ext cx="2628934" cy="121573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Padding Payload</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cxnSp>
          <p:nvCxnSpPr>
            <p:cNvPr id="58" name="直接连接符 57">
              <a:extLst>
                <a:ext uri="{FF2B5EF4-FFF2-40B4-BE49-F238E27FC236}">
                  <a16:creationId xmlns:a16="http://schemas.microsoft.com/office/drawing/2014/main" id="{357AA7C8-A137-4287-9367-495086EC485B}"/>
                </a:ext>
              </a:extLst>
            </p:cNvPr>
            <p:cNvCxnSpPr>
              <a:cxnSpLocks/>
            </p:cNvCxnSpPr>
            <p:nvPr/>
          </p:nvCxnSpPr>
          <p:spPr>
            <a:xfrm>
              <a:off x="9893611" y="4073064"/>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7D9F3D13-538E-4470-A952-4AD994C8933F}"/>
                </a:ext>
              </a:extLst>
            </p:cNvPr>
            <p:cNvSpPr/>
            <p:nvPr/>
          </p:nvSpPr>
          <p:spPr>
            <a:xfrm>
              <a:off x="9893611" y="3595747"/>
              <a:ext cx="2628934" cy="44744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Fake Return Address</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cxnSp>
        <p:nvCxnSpPr>
          <p:cNvPr id="60" name="直接连接符 59">
            <a:extLst>
              <a:ext uri="{FF2B5EF4-FFF2-40B4-BE49-F238E27FC236}">
                <a16:creationId xmlns:a16="http://schemas.microsoft.com/office/drawing/2014/main" id="{DF7C1585-2C79-41E8-84DE-AD080CD35AE2}"/>
              </a:ext>
            </a:extLst>
          </p:cNvPr>
          <p:cNvCxnSpPr>
            <a:cxnSpLocks/>
          </p:cNvCxnSpPr>
          <p:nvPr/>
        </p:nvCxnSpPr>
        <p:spPr>
          <a:xfrm>
            <a:off x="7713824" y="3568700"/>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Slide Number Placeholder 7">
            <a:extLst>
              <a:ext uri="{FF2B5EF4-FFF2-40B4-BE49-F238E27FC236}">
                <a16:creationId xmlns:a16="http://schemas.microsoft.com/office/drawing/2014/main" id="{CD1FD591-AB93-A05E-0774-DB467199378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56</a:t>
            </a:fld>
            <a:endParaRPr lang="zh-CN" altLang="en-US" sz="1200" dirty="0">
              <a:solidFill>
                <a:schemeClr val="tx1">
                  <a:tint val="75000"/>
                </a:schemeClr>
              </a:solidFill>
            </a:endParaRPr>
          </a:p>
        </p:txBody>
      </p:sp>
    </p:spTree>
    <p:extLst>
      <p:ext uri="{BB962C8B-B14F-4D97-AF65-F5344CB8AC3E}">
        <p14:creationId xmlns:p14="http://schemas.microsoft.com/office/powerpoint/2010/main" val="8913642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416560"/>
            <a:ext cx="7353488" cy="420512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address space layout randomization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）是一種對虛擬空間當中的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基地址進行隨機初始化</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的保護方案；以防止惡意代碼定位進程虛擬空間當中的重要地址；目前在各主流操作系統下均有實現</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隨機化的對象包含了：</a:t>
            </a:r>
            <a:endPar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共享庫的基地址（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文件加載的基地址）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棧區的基地址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堆區的基地址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0" name="直接连接符 9">
            <a:extLst>
              <a:ext uri="{FF2B5EF4-FFF2-40B4-BE49-F238E27FC236}">
                <a16:creationId xmlns:a16="http://schemas.microsoft.com/office/drawing/2014/main" id="{40C987AB-E495-42D1-9C3F-799B57BEEC62}"/>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4">
            <a:extLst>
              <a:ext uri="{FF2B5EF4-FFF2-40B4-BE49-F238E27FC236}">
                <a16:creationId xmlns:a16="http://schemas.microsoft.com/office/drawing/2014/main" id="{944E31EA-124C-4146-AFAE-2906AAF6CD8D}"/>
              </a:ext>
            </a:extLst>
          </p:cNvPr>
          <p:cNvSpPr txBox="1"/>
          <p:nvPr/>
        </p:nvSpPr>
        <p:spPr>
          <a:xfrm>
            <a:off x="561975" y="6235648"/>
            <a:ext cx="547200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ASLR</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實現需要編譯器的</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PIE</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支持（</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Position Independent Executable</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）才可將代碼加載到隨機化的地址上</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1C10B82B-EF6A-4947-89AD-E7D4742C14CC}"/>
              </a:ext>
            </a:extLst>
          </p:cNvPr>
          <p:cNvSpPr>
            <a:spLocks noGrp="1"/>
          </p:cNvSpPr>
          <p:nvPr>
            <p:ph type="title"/>
          </p:nvPr>
        </p:nvSpPr>
        <p:spPr/>
        <p:txBody>
          <a:bodyPr/>
          <a:lstStyle/>
          <a:p>
            <a:r>
              <a:rPr lang="zh-CN" altLang="en-US" dirty="0"/>
              <a:t>內存防禦技術：</a:t>
            </a:r>
            <a:r>
              <a:rPr lang="en-US" altLang="zh-CN" dirty="0"/>
              <a:t>ASLR</a:t>
            </a:r>
            <a:endParaRPr lang="zh-CN" altLang="en-US" dirty="0"/>
          </a:p>
        </p:txBody>
      </p:sp>
      <p:grpSp>
        <p:nvGrpSpPr>
          <p:cNvPr id="6" name="组合 5">
            <a:extLst>
              <a:ext uri="{FF2B5EF4-FFF2-40B4-BE49-F238E27FC236}">
                <a16:creationId xmlns:a16="http://schemas.microsoft.com/office/drawing/2014/main" id="{EEF651DD-6A26-4A18-A64F-A25FA5EE0AB9}"/>
              </a:ext>
            </a:extLst>
          </p:cNvPr>
          <p:cNvGrpSpPr/>
          <p:nvPr/>
        </p:nvGrpSpPr>
        <p:grpSpPr>
          <a:xfrm>
            <a:off x="7651133" y="762038"/>
            <a:ext cx="4698210" cy="5630783"/>
            <a:chOff x="7419776" y="762038"/>
            <a:chExt cx="4698210" cy="5630783"/>
          </a:xfrm>
        </p:grpSpPr>
        <p:sp>
          <p:nvSpPr>
            <p:cNvPr id="7" name="矩形 6">
              <a:extLst>
                <a:ext uri="{FF2B5EF4-FFF2-40B4-BE49-F238E27FC236}">
                  <a16:creationId xmlns:a16="http://schemas.microsoft.com/office/drawing/2014/main" id="{1A4B1814-B41B-4548-BF69-64FA0517F0FB}"/>
                </a:ext>
              </a:extLst>
            </p:cNvPr>
            <p:cNvSpPr/>
            <p:nvPr/>
          </p:nvSpPr>
          <p:spPr>
            <a:xfrm>
              <a:off x="8000462" y="1206786"/>
              <a:ext cx="2011487" cy="4430673"/>
            </a:xfrm>
            <a:prstGeom prst="rect">
              <a:avLst/>
            </a:prstGeom>
            <a:noFill/>
            <a:ln w="12700" cap="flat" cmpd="sng" algn="ctr">
              <a:solidFill>
                <a:srgbClr val="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9" name="直接连接符 8">
              <a:extLst>
                <a:ext uri="{FF2B5EF4-FFF2-40B4-BE49-F238E27FC236}">
                  <a16:creationId xmlns:a16="http://schemas.microsoft.com/office/drawing/2014/main" id="{4EA8C8EF-B66D-4365-8A34-B3146A3D9F95}"/>
                </a:ext>
              </a:extLst>
            </p:cNvPr>
            <p:cNvCxnSpPr/>
            <p:nvPr/>
          </p:nvCxnSpPr>
          <p:spPr>
            <a:xfrm>
              <a:off x="7996420" y="1942091"/>
              <a:ext cx="2016000" cy="0"/>
            </a:xfrm>
            <a:prstGeom prst="line">
              <a:avLst/>
            </a:prstGeom>
            <a:noFill/>
            <a:ln w="12700" cap="flat" cmpd="sng" algn="ctr">
              <a:solidFill>
                <a:srgbClr val="000000"/>
              </a:solidFill>
              <a:prstDash val="solid"/>
              <a:miter lim="800000"/>
            </a:ln>
            <a:effectLst/>
          </p:spPr>
        </p:cxnSp>
        <p:sp>
          <p:nvSpPr>
            <p:cNvPr id="11" name="文本框 10">
              <a:extLst>
                <a:ext uri="{FF2B5EF4-FFF2-40B4-BE49-F238E27FC236}">
                  <a16:creationId xmlns:a16="http://schemas.microsoft.com/office/drawing/2014/main" id="{253D1BE4-FBC6-41AE-91C8-87048C913402}"/>
                </a:ext>
              </a:extLst>
            </p:cNvPr>
            <p:cNvSpPr txBox="1"/>
            <p:nvPr/>
          </p:nvSpPr>
          <p:spPr>
            <a:xfrm>
              <a:off x="7992653" y="1383491"/>
              <a:ext cx="2011487"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ea typeface="微软雅黑"/>
                </a:rPr>
                <a:t>Kernel Space 1G</a:t>
              </a:r>
              <a:endParaRPr kumimoji="0" lang="zh-CN" altLang="en-US" sz="1800" b="0" i="0" u="none" strike="noStrike" kern="0" cap="none" spc="0" normalizeH="0" baseline="0" noProof="0" dirty="0">
                <a:ln>
                  <a:noFill/>
                </a:ln>
                <a:solidFill>
                  <a:srgbClr val="C00000"/>
                </a:solidFill>
                <a:effectLst/>
                <a:uLnTx/>
                <a:uFillTx/>
                <a:ea typeface="微软雅黑"/>
              </a:endParaRPr>
            </a:p>
          </p:txBody>
        </p:sp>
        <p:sp>
          <p:nvSpPr>
            <p:cNvPr id="12" name="文本框 11">
              <a:extLst>
                <a:ext uri="{FF2B5EF4-FFF2-40B4-BE49-F238E27FC236}">
                  <a16:creationId xmlns:a16="http://schemas.microsoft.com/office/drawing/2014/main" id="{8B1D5408-5EDD-42EC-A98C-03D62EDB48AD}"/>
                </a:ext>
              </a:extLst>
            </p:cNvPr>
            <p:cNvSpPr txBox="1"/>
            <p:nvPr/>
          </p:nvSpPr>
          <p:spPr>
            <a:xfrm>
              <a:off x="8023888" y="5135221"/>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Text Segment</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14" name="文本框 13">
              <a:extLst>
                <a:ext uri="{FF2B5EF4-FFF2-40B4-BE49-F238E27FC236}">
                  <a16:creationId xmlns:a16="http://schemas.microsoft.com/office/drawing/2014/main" id="{5D26FD80-2E2A-4A5F-B46B-C56A56D915AC}"/>
                </a:ext>
              </a:extLst>
            </p:cNvPr>
            <p:cNvSpPr txBox="1"/>
            <p:nvPr/>
          </p:nvSpPr>
          <p:spPr>
            <a:xfrm>
              <a:off x="10015991" y="1024241"/>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0xFFFFFFFF</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15" name="文本框 14">
              <a:extLst>
                <a:ext uri="{FF2B5EF4-FFF2-40B4-BE49-F238E27FC236}">
                  <a16:creationId xmlns:a16="http://schemas.microsoft.com/office/drawing/2014/main" id="{E4ECDDBD-F1D8-45BB-962A-A7832A0AEF4E}"/>
                </a:ext>
              </a:extLst>
            </p:cNvPr>
            <p:cNvSpPr txBox="1"/>
            <p:nvPr/>
          </p:nvSpPr>
          <p:spPr>
            <a:xfrm>
              <a:off x="10122117" y="1752823"/>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0xC0000000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16" name="文本框 15">
              <a:extLst>
                <a:ext uri="{FF2B5EF4-FFF2-40B4-BE49-F238E27FC236}">
                  <a16:creationId xmlns:a16="http://schemas.microsoft.com/office/drawing/2014/main" id="{18671978-F0FE-49D8-ABAD-4C2A9BF212D6}"/>
                </a:ext>
              </a:extLst>
            </p:cNvPr>
            <p:cNvSpPr txBox="1"/>
            <p:nvPr/>
          </p:nvSpPr>
          <p:spPr>
            <a:xfrm>
              <a:off x="10122116" y="5452793"/>
              <a:ext cx="1563973" cy="369332"/>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0x0</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17" name="文本框 16">
              <a:extLst>
                <a:ext uri="{FF2B5EF4-FFF2-40B4-BE49-F238E27FC236}">
                  <a16:creationId xmlns:a16="http://schemas.microsoft.com/office/drawing/2014/main" id="{30EE8CBD-6033-4960-90B5-CA3ADD30880F}"/>
                </a:ext>
              </a:extLst>
            </p:cNvPr>
            <p:cNvSpPr txBox="1"/>
            <p:nvPr/>
          </p:nvSpPr>
          <p:spPr>
            <a:xfrm>
              <a:off x="7419776" y="5746490"/>
              <a:ext cx="3172858"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Linux Process Memory Layout (32-bit OS)</a:t>
              </a:r>
              <a:endParaRPr kumimoji="0" lang="zh-CN" altLang="en-US" sz="1800" b="0" i="0" u="none" strike="noStrike" kern="0" cap="none" spc="0" normalizeH="0" baseline="0" noProof="0" dirty="0">
                <a:ln>
                  <a:noFill/>
                </a:ln>
                <a:solidFill>
                  <a:srgbClr val="000000"/>
                </a:solidFill>
                <a:effectLst/>
                <a:uLnTx/>
                <a:uFillTx/>
                <a:ea typeface="微软雅黑"/>
              </a:endParaRPr>
            </a:p>
          </p:txBody>
        </p:sp>
        <p:sp>
          <p:nvSpPr>
            <p:cNvPr id="18" name="文本框 17">
              <a:extLst>
                <a:ext uri="{FF2B5EF4-FFF2-40B4-BE49-F238E27FC236}">
                  <a16:creationId xmlns:a16="http://schemas.microsoft.com/office/drawing/2014/main" id="{2BBC2728-E06D-4501-B49A-A85C87247D82}"/>
                </a:ext>
              </a:extLst>
            </p:cNvPr>
            <p:cNvSpPr txBox="1"/>
            <p:nvPr/>
          </p:nvSpPr>
          <p:spPr>
            <a:xfrm>
              <a:off x="7772814" y="762038"/>
              <a:ext cx="2451163"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Virtual Memory Space</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19" name="直接连接符 18">
              <a:extLst>
                <a:ext uri="{FF2B5EF4-FFF2-40B4-BE49-F238E27FC236}">
                  <a16:creationId xmlns:a16="http://schemas.microsoft.com/office/drawing/2014/main" id="{96B887A0-71F1-48DD-BD92-036714834604}"/>
                </a:ext>
              </a:extLst>
            </p:cNvPr>
            <p:cNvCxnSpPr/>
            <p:nvPr/>
          </p:nvCxnSpPr>
          <p:spPr>
            <a:xfrm>
              <a:off x="7998205" y="5544701"/>
              <a:ext cx="2016000" cy="0"/>
            </a:xfrm>
            <a:prstGeom prst="line">
              <a:avLst/>
            </a:prstGeom>
            <a:noFill/>
            <a:ln w="12700" cap="flat" cmpd="sng" algn="ctr">
              <a:solidFill>
                <a:srgbClr val="000000"/>
              </a:solidFill>
              <a:prstDash val="solid"/>
              <a:miter lim="800000"/>
            </a:ln>
            <a:effectLst/>
          </p:spPr>
        </p:cxnSp>
        <p:cxnSp>
          <p:nvCxnSpPr>
            <p:cNvPr id="20" name="直接连接符 19">
              <a:extLst>
                <a:ext uri="{FF2B5EF4-FFF2-40B4-BE49-F238E27FC236}">
                  <a16:creationId xmlns:a16="http://schemas.microsoft.com/office/drawing/2014/main" id="{BEA80770-3228-40E9-9CC0-82381EEF9E77}"/>
                </a:ext>
              </a:extLst>
            </p:cNvPr>
            <p:cNvCxnSpPr/>
            <p:nvPr/>
          </p:nvCxnSpPr>
          <p:spPr>
            <a:xfrm>
              <a:off x="7997567" y="5135221"/>
              <a:ext cx="2016000" cy="0"/>
            </a:xfrm>
            <a:prstGeom prst="line">
              <a:avLst/>
            </a:prstGeom>
            <a:noFill/>
            <a:ln w="12700" cap="flat" cmpd="sng" algn="ctr">
              <a:solidFill>
                <a:srgbClr val="000000"/>
              </a:solidFill>
              <a:prstDash val="solid"/>
              <a:miter lim="800000"/>
            </a:ln>
            <a:effectLst/>
          </p:spPr>
        </p:cxnSp>
        <p:sp>
          <p:nvSpPr>
            <p:cNvPr id="21" name="文本框 20">
              <a:extLst>
                <a:ext uri="{FF2B5EF4-FFF2-40B4-BE49-F238E27FC236}">
                  <a16:creationId xmlns:a16="http://schemas.microsoft.com/office/drawing/2014/main" id="{1F8CADCB-6EEF-4DF5-8B3F-B7EF22825E5E}"/>
                </a:ext>
              </a:extLst>
            </p:cNvPr>
            <p:cNvSpPr txBox="1"/>
            <p:nvPr/>
          </p:nvSpPr>
          <p:spPr>
            <a:xfrm>
              <a:off x="8023888" y="4765890"/>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Data Segment</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22" name="直接连接符 21">
              <a:extLst>
                <a:ext uri="{FF2B5EF4-FFF2-40B4-BE49-F238E27FC236}">
                  <a16:creationId xmlns:a16="http://schemas.microsoft.com/office/drawing/2014/main" id="{A540FD1F-1FFD-4F9D-AA56-09629E94F4DE}"/>
                </a:ext>
              </a:extLst>
            </p:cNvPr>
            <p:cNvCxnSpPr/>
            <p:nvPr/>
          </p:nvCxnSpPr>
          <p:spPr>
            <a:xfrm>
              <a:off x="7997567" y="4765890"/>
              <a:ext cx="2016000" cy="0"/>
            </a:xfrm>
            <a:prstGeom prst="line">
              <a:avLst/>
            </a:prstGeom>
            <a:noFill/>
            <a:ln w="12700" cap="flat" cmpd="sng" algn="ctr">
              <a:solidFill>
                <a:srgbClr val="000000"/>
              </a:solidFill>
              <a:prstDash val="solid"/>
              <a:miter lim="800000"/>
            </a:ln>
            <a:effectLst/>
          </p:spPr>
        </p:cxnSp>
        <p:sp>
          <p:nvSpPr>
            <p:cNvPr id="23" name="文本框 22">
              <a:extLst>
                <a:ext uri="{FF2B5EF4-FFF2-40B4-BE49-F238E27FC236}">
                  <a16:creationId xmlns:a16="http://schemas.microsoft.com/office/drawing/2014/main" id="{FFE71EFE-86F0-469C-BB8C-F80B53892B36}"/>
                </a:ext>
              </a:extLst>
            </p:cNvPr>
            <p:cNvSpPr txBox="1"/>
            <p:nvPr/>
          </p:nvSpPr>
          <p:spPr>
            <a:xfrm>
              <a:off x="8023888" y="4400207"/>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BSS Segment</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24" name="直接连接符 23">
              <a:extLst>
                <a:ext uri="{FF2B5EF4-FFF2-40B4-BE49-F238E27FC236}">
                  <a16:creationId xmlns:a16="http://schemas.microsoft.com/office/drawing/2014/main" id="{F5E1F2E3-415C-48C8-ADC0-DA6DBAC02766}"/>
                </a:ext>
              </a:extLst>
            </p:cNvPr>
            <p:cNvCxnSpPr/>
            <p:nvPr/>
          </p:nvCxnSpPr>
          <p:spPr>
            <a:xfrm>
              <a:off x="7997567" y="4400207"/>
              <a:ext cx="2016000" cy="0"/>
            </a:xfrm>
            <a:prstGeom prst="line">
              <a:avLst/>
            </a:prstGeom>
            <a:noFill/>
            <a:ln w="12700" cap="flat" cmpd="sng" algn="ctr">
              <a:solidFill>
                <a:srgbClr val="000000"/>
              </a:solidFill>
              <a:prstDash val="solid"/>
              <a:miter lim="800000"/>
            </a:ln>
            <a:effectLst/>
          </p:spPr>
        </p:cxnSp>
        <p:sp>
          <p:nvSpPr>
            <p:cNvPr id="25" name="文本框 24">
              <a:extLst>
                <a:ext uri="{FF2B5EF4-FFF2-40B4-BE49-F238E27FC236}">
                  <a16:creationId xmlns:a16="http://schemas.microsoft.com/office/drawing/2014/main" id="{0EF2FC7E-DB9A-472B-A81D-EE586DEBEF37}"/>
                </a:ext>
              </a:extLst>
            </p:cNvPr>
            <p:cNvSpPr txBox="1"/>
            <p:nvPr/>
          </p:nvSpPr>
          <p:spPr>
            <a:xfrm>
              <a:off x="7974241" y="3879376"/>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Heap</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26" name="直接连接符 25">
              <a:extLst>
                <a:ext uri="{FF2B5EF4-FFF2-40B4-BE49-F238E27FC236}">
                  <a16:creationId xmlns:a16="http://schemas.microsoft.com/office/drawing/2014/main" id="{159BD78F-2FDE-404F-A462-E073D94744EF}"/>
                </a:ext>
              </a:extLst>
            </p:cNvPr>
            <p:cNvCxnSpPr/>
            <p:nvPr/>
          </p:nvCxnSpPr>
          <p:spPr>
            <a:xfrm>
              <a:off x="8000462" y="4271444"/>
              <a:ext cx="2016000" cy="0"/>
            </a:xfrm>
            <a:prstGeom prst="line">
              <a:avLst/>
            </a:prstGeom>
            <a:noFill/>
            <a:ln w="12700" cap="flat" cmpd="sng" algn="ctr">
              <a:solidFill>
                <a:srgbClr val="000000"/>
              </a:solidFill>
              <a:prstDash val="solid"/>
              <a:miter lim="800000"/>
            </a:ln>
            <a:effectLst/>
          </p:spPr>
        </p:cxnSp>
        <p:sp>
          <p:nvSpPr>
            <p:cNvPr id="27" name="文本框 26">
              <a:extLst>
                <a:ext uri="{FF2B5EF4-FFF2-40B4-BE49-F238E27FC236}">
                  <a16:creationId xmlns:a16="http://schemas.microsoft.com/office/drawing/2014/main" id="{48AEA7BF-895E-493B-9EBB-413D97B5291E}"/>
                </a:ext>
              </a:extLst>
            </p:cNvPr>
            <p:cNvSpPr txBox="1"/>
            <p:nvPr/>
          </p:nvSpPr>
          <p:spPr>
            <a:xfrm>
              <a:off x="8023888" y="2045453"/>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Stack</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28" name="直接连接符 27">
              <a:extLst>
                <a:ext uri="{FF2B5EF4-FFF2-40B4-BE49-F238E27FC236}">
                  <a16:creationId xmlns:a16="http://schemas.microsoft.com/office/drawing/2014/main" id="{652D13C8-51E9-41EC-B565-0FC51EB4BCEB}"/>
                </a:ext>
              </a:extLst>
            </p:cNvPr>
            <p:cNvCxnSpPr/>
            <p:nvPr/>
          </p:nvCxnSpPr>
          <p:spPr>
            <a:xfrm>
              <a:off x="7997567" y="2045453"/>
              <a:ext cx="2016000" cy="0"/>
            </a:xfrm>
            <a:prstGeom prst="line">
              <a:avLst/>
            </a:prstGeom>
            <a:noFill/>
            <a:ln w="12700" cap="flat" cmpd="sng" algn="ctr">
              <a:solidFill>
                <a:srgbClr val="000000"/>
              </a:solidFill>
              <a:prstDash val="solid"/>
              <a:miter lim="800000"/>
            </a:ln>
            <a:effectLst/>
          </p:spPr>
        </p:cxnSp>
        <p:cxnSp>
          <p:nvCxnSpPr>
            <p:cNvPr id="29" name="直接连接符 28">
              <a:extLst>
                <a:ext uri="{FF2B5EF4-FFF2-40B4-BE49-F238E27FC236}">
                  <a16:creationId xmlns:a16="http://schemas.microsoft.com/office/drawing/2014/main" id="{A3B48DAA-6FFC-45F4-9EB6-8FDE594D2E9F}"/>
                </a:ext>
              </a:extLst>
            </p:cNvPr>
            <p:cNvCxnSpPr/>
            <p:nvPr/>
          </p:nvCxnSpPr>
          <p:spPr>
            <a:xfrm>
              <a:off x="7996420" y="3879376"/>
              <a:ext cx="2016000" cy="0"/>
            </a:xfrm>
            <a:prstGeom prst="line">
              <a:avLst/>
            </a:prstGeom>
            <a:noFill/>
            <a:ln w="12700" cap="flat" cmpd="sng" algn="ctr">
              <a:solidFill>
                <a:srgbClr val="000000"/>
              </a:solidFill>
              <a:prstDash val="dash"/>
              <a:miter lim="800000"/>
            </a:ln>
            <a:effectLst/>
          </p:spPr>
        </p:cxnSp>
        <p:cxnSp>
          <p:nvCxnSpPr>
            <p:cNvPr id="30" name="直接连接符 29">
              <a:extLst>
                <a:ext uri="{FF2B5EF4-FFF2-40B4-BE49-F238E27FC236}">
                  <a16:creationId xmlns:a16="http://schemas.microsoft.com/office/drawing/2014/main" id="{2BBC6D5E-6C22-47FD-90F2-C1C46AE19566}"/>
                </a:ext>
              </a:extLst>
            </p:cNvPr>
            <p:cNvCxnSpPr/>
            <p:nvPr/>
          </p:nvCxnSpPr>
          <p:spPr>
            <a:xfrm>
              <a:off x="7997567" y="3316097"/>
              <a:ext cx="2016000" cy="0"/>
            </a:xfrm>
            <a:prstGeom prst="line">
              <a:avLst/>
            </a:prstGeom>
            <a:noFill/>
            <a:ln w="12700" cap="flat" cmpd="sng" algn="ctr">
              <a:solidFill>
                <a:srgbClr val="000000"/>
              </a:solidFill>
              <a:prstDash val="dash"/>
              <a:miter lim="800000"/>
            </a:ln>
            <a:effectLst/>
          </p:spPr>
        </p:cxnSp>
        <p:sp>
          <p:nvSpPr>
            <p:cNvPr id="31" name="文本框 30">
              <a:extLst>
                <a:ext uri="{FF2B5EF4-FFF2-40B4-BE49-F238E27FC236}">
                  <a16:creationId xmlns:a16="http://schemas.microsoft.com/office/drawing/2014/main" id="{2D097790-25B8-419C-9D27-46D922DB9573}"/>
                </a:ext>
              </a:extLst>
            </p:cNvPr>
            <p:cNvSpPr txBox="1"/>
            <p:nvPr/>
          </p:nvSpPr>
          <p:spPr>
            <a:xfrm>
              <a:off x="8023888" y="2950414"/>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000000"/>
                  </a:solidFill>
                  <a:effectLst/>
                  <a:uLnTx/>
                  <a:uFillTx/>
                  <a:ea typeface="微软雅黑"/>
                </a:rPr>
                <a:t>Map Segment</a:t>
              </a:r>
              <a:endParaRPr kumimoji="0" lang="zh-CN" altLang="en-US" sz="1800" b="0" i="0" u="none" strike="noStrike" kern="0" cap="none" spc="0" normalizeH="0" baseline="0" noProof="0" dirty="0">
                <a:ln>
                  <a:noFill/>
                </a:ln>
                <a:solidFill>
                  <a:srgbClr val="000000"/>
                </a:solidFill>
                <a:effectLst/>
                <a:uLnTx/>
                <a:uFillTx/>
                <a:ea typeface="微软雅黑"/>
              </a:endParaRPr>
            </a:p>
          </p:txBody>
        </p:sp>
        <p:cxnSp>
          <p:nvCxnSpPr>
            <p:cNvPr id="32" name="直接连接符 31">
              <a:extLst>
                <a:ext uri="{FF2B5EF4-FFF2-40B4-BE49-F238E27FC236}">
                  <a16:creationId xmlns:a16="http://schemas.microsoft.com/office/drawing/2014/main" id="{96822D2B-52B4-4E4D-9EE0-448B1134CEA3}"/>
                </a:ext>
              </a:extLst>
            </p:cNvPr>
            <p:cNvCxnSpPr/>
            <p:nvPr/>
          </p:nvCxnSpPr>
          <p:spPr>
            <a:xfrm>
              <a:off x="7997567" y="2950414"/>
              <a:ext cx="2016000" cy="0"/>
            </a:xfrm>
            <a:prstGeom prst="line">
              <a:avLst/>
            </a:prstGeom>
            <a:noFill/>
            <a:ln w="12700" cap="flat" cmpd="sng" algn="ctr">
              <a:solidFill>
                <a:srgbClr val="000000"/>
              </a:solidFill>
              <a:prstDash val="solid"/>
              <a:miter lim="800000"/>
            </a:ln>
            <a:effectLst/>
          </p:spPr>
        </p:cxnSp>
        <p:cxnSp>
          <p:nvCxnSpPr>
            <p:cNvPr id="33" name="直接连接符 32">
              <a:extLst>
                <a:ext uri="{FF2B5EF4-FFF2-40B4-BE49-F238E27FC236}">
                  <a16:creationId xmlns:a16="http://schemas.microsoft.com/office/drawing/2014/main" id="{9550AAAD-0ABE-4DFB-A866-2DB444B259F1}"/>
                </a:ext>
              </a:extLst>
            </p:cNvPr>
            <p:cNvCxnSpPr/>
            <p:nvPr/>
          </p:nvCxnSpPr>
          <p:spPr>
            <a:xfrm>
              <a:off x="7999157" y="2529056"/>
              <a:ext cx="2016000" cy="0"/>
            </a:xfrm>
            <a:prstGeom prst="line">
              <a:avLst/>
            </a:prstGeom>
            <a:noFill/>
            <a:ln w="12700" cap="flat" cmpd="sng" algn="ctr">
              <a:solidFill>
                <a:srgbClr val="000000"/>
              </a:solidFill>
              <a:prstDash val="dash"/>
              <a:miter lim="800000"/>
            </a:ln>
            <a:effectLst/>
          </p:spPr>
        </p:cxnSp>
        <p:sp>
          <p:nvSpPr>
            <p:cNvPr id="37" name="文本框 36">
              <a:extLst>
                <a:ext uri="{FF2B5EF4-FFF2-40B4-BE49-F238E27FC236}">
                  <a16:creationId xmlns:a16="http://schemas.microsoft.com/office/drawing/2014/main" id="{064E39B5-8318-468A-8D37-A49B283D4773}"/>
                </a:ext>
              </a:extLst>
            </p:cNvPr>
            <p:cNvSpPr txBox="1"/>
            <p:nvPr/>
          </p:nvSpPr>
          <p:spPr>
            <a:xfrm>
              <a:off x="10122116" y="3468437"/>
              <a:ext cx="1995870"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2980B9"/>
                  </a:solidFill>
                  <a:effectLst/>
                  <a:uLnTx/>
                  <a:uFillTx/>
                  <a:ea typeface="微软雅黑"/>
                </a:rPr>
                <a:t>User Space 3G</a:t>
              </a:r>
              <a:endParaRPr kumimoji="0" lang="zh-CN" altLang="en-US" sz="1800" b="0" i="0" u="none" strike="noStrike" kern="0" cap="none" spc="0" normalizeH="0" baseline="0" noProof="0" dirty="0">
                <a:ln>
                  <a:noFill/>
                </a:ln>
                <a:solidFill>
                  <a:srgbClr val="2980B9"/>
                </a:solidFill>
                <a:effectLst/>
                <a:uLnTx/>
                <a:uFillTx/>
                <a:ea typeface="微软雅黑"/>
              </a:endParaRPr>
            </a:p>
          </p:txBody>
        </p:sp>
      </p:grpSp>
      <p:sp>
        <p:nvSpPr>
          <p:cNvPr id="34" name="矩形 33">
            <a:extLst>
              <a:ext uri="{FF2B5EF4-FFF2-40B4-BE49-F238E27FC236}">
                <a16:creationId xmlns:a16="http://schemas.microsoft.com/office/drawing/2014/main" id="{C3DC66D7-7030-4067-8D84-5C10635B3942}"/>
              </a:ext>
            </a:extLst>
          </p:cNvPr>
          <p:cNvSpPr/>
          <p:nvPr/>
        </p:nvSpPr>
        <p:spPr>
          <a:xfrm>
            <a:off x="8144853" y="3793398"/>
            <a:ext cx="2184538" cy="534567"/>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C89A2ACE-72F9-4643-84BC-BCC8DA1B06F3}"/>
              </a:ext>
            </a:extLst>
          </p:cNvPr>
          <p:cNvSpPr/>
          <p:nvPr/>
        </p:nvSpPr>
        <p:spPr>
          <a:xfrm>
            <a:off x="8143071" y="1997020"/>
            <a:ext cx="2184538" cy="586094"/>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22C3F96E-417D-40CF-8573-12F7BE09DA39}"/>
              </a:ext>
            </a:extLst>
          </p:cNvPr>
          <p:cNvSpPr/>
          <p:nvPr/>
        </p:nvSpPr>
        <p:spPr>
          <a:xfrm>
            <a:off x="8138611" y="2888437"/>
            <a:ext cx="2184538" cy="495482"/>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Slide Number Placeholder 7">
            <a:extLst>
              <a:ext uri="{FF2B5EF4-FFF2-40B4-BE49-F238E27FC236}">
                <a16:creationId xmlns:a16="http://schemas.microsoft.com/office/drawing/2014/main" id="{08E52FB8-08BB-774C-F08A-C23841929B3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57</a:t>
            </a:fld>
            <a:endParaRPr lang="zh-CN" altLang="en-US" sz="1200" dirty="0">
              <a:solidFill>
                <a:schemeClr val="tx1">
                  <a:tint val="75000"/>
                </a:schemeClr>
              </a:solidFill>
            </a:endParaRPr>
          </a:p>
        </p:txBody>
      </p:sp>
    </p:spTree>
    <p:extLst>
      <p:ext uri="{BB962C8B-B14F-4D97-AF65-F5344CB8AC3E}">
        <p14:creationId xmlns:p14="http://schemas.microsoft.com/office/powerpoint/2010/main" val="22641412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8">
            <a:extLst>
              <a:ext uri="{FF2B5EF4-FFF2-40B4-BE49-F238E27FC236}">
                <a16:creationId xmlns:a16="http://schemas.microsoft.com/office/drawing/2014/main" id="{68EC595B-36AA-2E86-5CED-4AB064CF15E7}"/>
              </a:ext>
            </a:extLst>
          </p:cNvPr>
          <p:cNvSpPr>
            <a:spLocks/>
          </p:cNvSpPr>
          <p:nvPr/>
        </p:nvSpPr>
        <p:spPr bwMode="auto">
          <a:xfrm>
            <a:off x="636327" y="3666076"/>
            <a:ext cx="6162047" cy="148445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400400"/>
            <a:ext cx="6416785" cy="973472"/>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隨機化</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棧區基地址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，注入到棧區的惡意代碼內存位置也無法被攻擊者確定</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12" name="直接连接符 11">
            <a:extLst>
              <a:ext uri="{FF2B5EF4-FFF2-40B4-BE49-F238E27FC236}">
                <a16:creationId xmlns:a16="http://schemas.microsoft.com/office/drawing/2014/main" id="{3759023A-7CB6-4A69-9D94-039C96ED7B82}"/>
              </a:ext>
            </a:extLst>
          </p:cNvPr>
          <p:cNvCxnSpPr>
            <a:cxnSpLocks/>
          </p:cNvCxnSpPr>
          <p:nvPr/>
        </p:nvCxnSpPr>
        <p:spPr>
          <a:xfrm>
            <a:off x="7714286"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C400D76-2BE6-4ECF-BA5D-4575D4E0B58C}"/>
              </a:ext>
            </a:extLst>
          </p:cNvPr>
          <p:cNvCxnSpPr>
            <a:cxnSpLocks/>
          </p:cNvCxnSpPr>
          <p:nvPr/>
        </p:nvCxnSpPr>
        <p:spPr>
          <a:xfrm>
            <a:off x="10342724"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D88D9EAC-B4AA-41BE-A4DC-EA93C53BAEA4}"/>
              </a:ext>
            </a:extLst>
          </p:cNvPr>
          <p:cNvSpPr txBox="1"/>
          <p:nvPr/>
        </p:nvSpPr>
        <p:spPr>
          <a:xfrm>
            <a:off x="7909986" y="107444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6" name="文本框 15">
            <a:extLst>
              <a:ext uri="{FF2B5EF4-FFF2-40B4-BE49-F238E27FC236}">
                <a16:creationId xmlns:a16="http://schemas.microsoft.com/office/drawing/2014/main" id="{EF7CA278-0A73-44AD-A7C4-10830AABA859}"/>
              </a:ext>
            </a:extLst>
          </p:cNvPr>
          <p:cNvSpPr txBox="1"/>
          <p:nvPr/>
        </p:nvSpPr>
        <p:spPr>
          <a:xfrm>
            <a:off x="8023238" y="6039195"/>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7" name="文本框 16">
            <a:extLst>
              <a:ext uri="{FF2B5EF4-FFF2-40B4-BE49-F238E27FC236}">
                <a16:creationId xmlns:a16="http://schemas.microsoft.com/office/drawing/2014/main" id="{E240416C-FC6E-49A0-AD1C-04A5EB82CD0A}"/>
              </a:ext>
            </a:extLst>
          </p:cNvPr>
          <p:cNvSpPr txBox="1"/>
          <p:nvPr/>
        </p:nvSpPr>
        <p:spPr>
          <a:xfrm>
            <a:off x="7713838" y="202665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EBP of Caller’s Caller</a:t>
            </a:r>
          </a:p>
        </p:txBody>
      </p:sp>
      <p:cxnSp>
        <p:nvCxnSpPr>
          <p:cNvPr id="18" name="直接连接符 17">
            <a:extLst>
              <a:ext uri="{FF2B5EF4-FFF2-40B4-BE49-F238E27FC236}">
                <a16:creationId xmlns:a16="http://schemas.microsoft.com/office/drawing/2014/main" id="{586A5285-F174-457D-B25D-AFAED5981041}"/>
              </a:ext>
            </a:extLst>
          </p:cNvPr>
          <p:cNvCxnSpPr>
            <a:cxnSpLocks/>
          </p:cNvCxnSpPr>
          <p:nvPr/>
        </p:nvCxnSpPr>
        <p:spPr>
          <a:xfrm>
            <a:off x="7707173" y="20156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6A3D348-AC5D-459E-A96A-AC9DBD58883C}"/>
              </a:ext>
            </a:extLst>
          </p:cNvPr>
          <p:cNvSpPr txBox="1"/>
          <p:nvPr/>
        </p:nvSpPr>
        <p:spPr>
          <a:xfrm>
            <a:off x="7699653" y="1619643"/>
            <a:ext cx="2627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Previous Stack Frame</a:t>
            </a:r>
          </a:p>
        </p:txBody>
      </p:sp>
      <p:cxnSp>
        <p:nvCxnSpPr>
          <p:cNvPr id="20" name="直接连接符 19">
            <a:extLst>
              <a:ext uri="{FF2B5EF4-FFF2-40B4-BE49-F238E27FC236}">
                <a16:creationId xmlns:a16="http://schemas.microsoft.com/office/drawing/2014/main" id="{03859EE5-6FC6-41E4-B775-3DCA2F9A0EFC}"/>
              </a:ext>
            </a:extLst>
          </p:cNvPr>
          <p:cNvCxnSpPr>
            <a:cxnSpLocks/>
          </p:cNvCxnSpPr>
          <p:nvPr/>
        </p:nvCxnSpPr>
        <p:spPr>
          <a:xfrm>
            <a:off x="7712938" y="304569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F4D687ED-EA36-49DE-B3DA-CB161050548F}"/>
              </a:ext>
            </a:extLst>
          </p:cNvPr>
          <p:cNvCxnSpPr>
            <a:cxnSpLocks/>
          </p:cNvCxnSpPr>
          <p:nvPr/>
        </p:nvCxnSpPr>
        <p:spPr>
          <a:xfrm>
            <a:off x="7712938" y="242600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任意多边形: 形状 21">
            <a:extLst>
              <a:ext uri="{FF2B5EF4-FFF2-40B4-BE49-F238E27FC236}">
                <a16:creationId xmlns:a16="http://schemas.microsoft.com/office/drawing/2014/main" id="{8D7A0E72-63AC-49B8-9E13-00C0613BB314}"/>
              </a:ext>
            </a:extLst>
          </p:cNvPr>
          <p:cNvSpPr/>
          <p:nvPr/>
        </p:nvSpPr>
        <p:spPr>
          <a:xfrm>
            <a:off x="737028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a:solidFill>
              <a:srgbClr val="C00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3" name="文本框 22">
            <a:extLst>
              <a:ext uri="{FF2B5EF4-FFF2-40B4-BE49-F238E27FC236}">
                <a16:creationId xmlns:a16="http://schemas.microsoft.com/office/drawing/2014/main" id="{EBC8B0CB-F18E-4A5A-AF81-2884CFD2772D}"/>
              </a:ext>
            </a:extLst>
          </p:cNvPr>
          <p:cNvSpPr txBox="1"/>
          <p:nvPr/>
        </p:nvSpPr>
        <p:spPr>
          <a:xfrm>
            <a:off x="7721400" y="2540895"/>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Local Variables</a:t>
            </a:r>
          </a:p>
        </p:txBody>
      </p:sp>
      <p:cxnSp>
        <p:nvCxnSpPr>
          <p:cNvPr id="26" name="直接连接符 25">
            <a:extLst>
              <a:ext uri="{FF2B5EF4-FFF2-40B4-BE49-F238E27FC236}">
                <a16:creationId xmlns:a16="http://schemas.microsoft.com/office/drawing/2014/main" id="{FEC7A6B9-E314-40DE-9C4D-B6ED984A1F61}"/>
              </a:ext>
            </a:extLst>
          </p:cNvPr>
          <p:cNvCxnSpPr>
            <a:cxnSpLocks/>
          </p:cNvCxnSpPr>
          <p:nvPr/>
        </p:nvCxnSpPr>
        <p:spPr>
          <a:xfrm>
            <a:off x="7713831" y="36004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65B3B67D-6F5F-41C0-A1A3-A202D5C8A9E0}"/>
              </a:ext>
            </a:extLst>
          </p:cNvPr>
          <p:cNvSpPr txBox="1"/>
          <p:nvPr/>
        </p:nvSpPr>
        <p:spPr>
          <a:xfrm>
            <a:off x="7721399" y="314527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 Arguments n … 1</a:t>
            </a:r>
          </a:p>
        </p:txBody>
      </p:sp>
      <p:cxnSp>
        <p:nvCxnSpPr>
          <p:cNvPr id="28" name="直接连接符 27">
            <a:extLst>
              <a:ext uri="{FF2B5EF4-FFF2-40B4-BE49-F238E27FC236}">
                <a16:creationId xmlns:a16="http://schemas.microsoft.com/office/drawing/2014/main" id="{02F8F146-7D56-47C0-AA3F-70FCD224B3BB}"/>
              </a:ext>
            </a:extLst>
          </p:cNvPr>
          <p:cNvCxnSpPr>
            <a:cxnSpLocks/>
          </p:cNvCxnSpPr>
          <p:nvPr/>
        </p:nvCxnSpPr>
        <p:spPr>
          <a:xfrm>
            <a:off x="7710670" y="403710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8DE70BA-B868-4CA7-AF11-D738E322FBC9}"/>
              </a:ext>
            </a:extLst>
          </p:cNvPr>
          <p:cNvSpPr txBox="1"/>
          <p:nvPr/>
        </p:nvSpPr>
        <p:spPr>
          <a:xfrm>
            <a:off x="7707221" y="363702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Return Address</a:t>
            </a:r>
          </a:p>
        </p:txBody>
      </p:sp>
      <p:sp>
        <p:nvSpPr>
          <p:cNvPr id="30" name="文本框 29">
            <a:extLst>
              <a:ext uri="{FF2B5EF4-FFF2-40B4-BE49-F238E27FC236}">
                <a16:creationId xmlns:a16="http://schemas.microsoft.com/office/drawing/2014/main" id="{59F0E230-6C8D-449D-81B2-A276F64BBD6E}"/>
              </a:ext>
            </a:extLst>
          </p:cNvPr>
          <p:cNvSpPr txBox="1"/>
          <p:nvPr/>
        </p:nvSpPr>
        <p:spPr>
          <a:xfrm>
            <a:off x="7713831" y="4087812"/>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EBP of Caller</a:t>
            </a:r>
          </a:p>
        </p:txBody>
      </p:sp>
      <p:cxnSp>
        <p:nvCxnSpPr>
          <p:cNvPr id="31" name="直接连接符 30">
            <a:extLst>
              <a:ext uri="{FF2B5EF4-FFF2-40B4-BE49-F238E27FC236}">
                <a16:creationId xmlns:a16="http://schemas.microsoft.com/office/drawing/2014/main" id="{8B7DFB27-5055-46AF-BF2A-B78A861E1DF7}"/>
              </a:ext>
            </a:extLst>
          </p:cNvPr>
          <p:cNvCxnSpPr>
            <a:cxnSpLocks/>
          </p:cNvCxnSpPr>
          <p:nvPr/>
        </p:nvCxnSpPr>
        <p:spPr>
          <a:xfrm>
            <a:off x="7712931" y="448716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任意多边形: 形状 31">
            <a:extLst>
              <a:ext uri="{FF2B5EF4-FFF2-40B4-BE49-F238E27FC236}">
                <a16:creationId xmlns:a16="http://schemas.microsoft.com/office/drawing/2014/main" id="{E0216E1A-B8D2-489C-82CC-85913EFAD80C}"/>
              </a:ext>
            </a:extLst>
          </p:cNvPr>
          <p:cNvSpPr/>
          <p:nvPr/>
        </p:nvSpPr>
        <p:spPr>
          <a:xfrm>
            <a:off x="724910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33" name="直接连接符 32">
            <a:extLst>
              <a:ext uri="{FF2B5EF4-FFF2-40B4-BE49-F238E27FC236}">
                <a16:creationId xmlns:a16="http://schemas.microsoft.com/office/drawing/2014/main" id="{CAF8E466-2C23-48B4-96EA-4367E423E811}"/>
              </a:ext>
            </a:extLst>
          </p:cNvPr>
          <p:cNvCxnSpPr>
            <a:cxnSpLocks/>
          </p:cNvCxnSpPr>
          <p:nvPr/>
        </p:nvCxnSpPr>
        <p:spPr>
          <a:xfrm>
            <a:off x="7712890" y="542921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81ABD50E-6431-4C8A-A5FE-D9DCBE0B35C4}"/>
              </a:ext>
            </a:extLst>
          </p:cNvPr>
          <p:cNvSpPr txBox="1"/>
          <p:nvPr/>
        </p:nvSpPr>
        <p:spPr>
          <a:xfrm>
            <a:off x="7721352" y="478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Local Variables</a:t>
            </a:r>
          </a:p>
        </p:txBody>
      </p:sp>
      <p:sp>
        <p:nvSpPr>
          <p:cNvPr id="35" name="矩形 34">
            <a:extLst>
              <a:ext uri="{FF2B5EF4-FFF2-40B4-BE49-F238E27FC236}">
                <a16:creationId xmlns:a16="http://schemas.microsoft.com/office/drawing/2014/main" id="{79FE5437-2C4D-4658-BF73-9ECD806DE2FF}"/>
              </a:ext>
            </a:extLst>
          </p:cNvPr>
          <p:cNvSpPr/>
          <p:nvPr/>
        </p:nvSpPr>
        <p:spPr>
          <a:xfrm>
            <a:off x="7712890" y="2910227"/>
            <a:ext cx="2628934" cy="687181"/>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Malicious Code</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cxnSp>
        <p:nvCxnSpPr>
          <p:cNvPr id="36" name="直接连接符 35">
            <a:extLst>
              <a:ext uri="{FF2B5EF4-FFF2-40B4-BE49-F238E27FC236}">
                <a16:creationId xmlns:a16="http://schemas.microsoft.com/office/drawing/2014/main" id="{0E0B5F9E-A10C-4A83-B9AF-4CCDF66F0E31}"/>
              </a:ext>
            </a:extLst>
          </p:cNvPr>
          <p:cNvCxnSpPr>
            <a:cxnSpLocks/>
          </p:cNvCxnSpPr>
          <p:nvPr/>
        </p:nvCxnSpPr>
        <p:spPr>
          <a:xfrm>
            <a:off x="7713824" y="3568700"/>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6B48BE65-F95A-4661-884D-AB917E295AE9}"/>
              </a:ext>
            </a:extLst>
          </p:cNvPr>
          <p:cNvSpPr txBox="1"/>
          <p:nvPr/>
        </p:nvSpPr>
        <p:spPr>
          <a:xfrm>
            <a:off x="10867469" y="5808377"/>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8" name="任意多边形: 形状 37">
            <a:extLst>
              <a:ext uri="{FF2B5EF4-FFF2-40B4-BE49-F238E27FC236}">
                <a16:creationId xmlns:a16="http://schemas.microsoft.com/office/drawing/2014/main" id="{06513927-0A9F-4B37-8CDE-70D2AB34F42B}"/>
              </a:ext>
            </a:extLst>
          </p:cNvPr>
          <p:cNvSpPr/>
          <p:nvPr/>
        </p:nvSpPr>
        <p:spPr>
          <a:xfrm>
            <a:off x="10377889" y="5431316"/>
            <a:ext cx="947451" cy="341523"/>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39" name="组合 38">
            <a:extLst>
              <a:ext uri="{FF2B5EF4-FFF2-40B4-BE49-F238E27FC236}">
                <a16:creationId xmlns:a16="http://schemas.microsoft.com/office/drawing/2014/main" id="{6320C7C3-7604-40B8-A24E-08B90BD2CBB3}"/>
              </a:ext>
            </a:extLst>
          </p:cNvPr>
          <p:cNvGrpSpPr/>
          <p:nvPr/>
        </p:nvGrpSpPr>
        <p:grpSpPr>
          <a:xfrm>
            <a:off x="7710852" y="3595747"/>
            <a:ext cx="2629016" cy="1833468"/>
            <a:chOff x="9893611" y="3595747"/>
            <a:chExt cx="2629016" cy="1833468"/>
          </a:xfrm>
        </p:grpSpPr>
        <p:sp>
          <p:nvSpPr>
            <p:cNvPr id="40" name="矩形 39">
              <a:extLst>
                <a:ext uri="{FF2B5EF4-FFF2-40B4-BE49-F238E27FC236}">
                  <a16:creationId xmlns:a16="http://schemas.microsoft.com/office/drawing/2014/main" id="{21DCDFF5-FCD6-4CB4-AED8-A69CF7D3F6D2}"/>
                </a:ext>
              </a:extLst>
            </p:cNvPr>
            <p:cNvSpPr/>
            <p:nvPr/>
          </p:nvSpPr>
          <p:spPr>
            <a:xfrm>
              <a:off x="9893693" y="4038478"/>
              <a:ext cx="2628934" cy="1390737"/>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Padding Payload</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cxnSp>
          <p:nvCxnSpPr>
            <p:cNvPr id="41" name="直接连接符 40">
              <a:extLst>
                <a:ext uri="{FF2B5EF4-FFF2-40B4-BE49-F238E27FC236}">
                  <a16:creationId xmlns:a16="http://schemas.microsoft.com/office/drawing/2014/main" id="{628D6154-AC32-497C-96C3-A22BAB946739}"/>
                </a:ext>
              </a:extLst>
            </p:cNvPr>
            <p:cNvCxnSpPr>
              <a:cxnSpLocks/>
            </p:cNvCxnSpPr>
            <p:nvPr/>
          </p:nvCxnSpPr>
          <p:spPr>
            <a:xfrm>
              <a:off x="9893611" y="4073064"/>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3EA66811-5926-41AA-9443-F0C092C7B7B3}"/>
                </a:ext>
              </a:extLst>
            </p:cNvPr>
            <p:cNvSpPr/>
            <p:nvPr/>
          </p:nvSpPr>
          <p:spPr>
            <a:xfrm>
              <a:off x="9893611" y="3595747"/>
              <a:ext cx="2628934" cy="44744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FFFF"/>
                  </a:solidFill>
                  <a:latin typeface="Arial"/>
                  <a:ea typeface="微软雅黑"/>
                </a:rPr>
                <a:t>Fake Return Address</a:t>
              </a:r>
              <a:endParaRPr lang="zh-CN" altLang="en-US" dirty="0">
                <a:solidFill>
                  <a:srgbClr val="FFFFFF"/>
                </a:solidFill>
                <a:latin typeface="Arial"/>
                <a:ea typeface="微软雅黑"/>
              </a:endParaRPr>
            </a:p>
          </p:txBody>
        </p:sp>
      </p:grpSp>
      <p:sp>
        <p:nvSpPr>
          <p:cNvPr id="49" name="文本框 48">
            <a:extLst>
              <a:ext uri="{FF2B5EF4-FFF2-40B4-BE49-F238E27FC236}">
                <a16:creationId xmlns:a16="http://schemas.microsoft.com/office/drawing/2014/main" id="{8D5CB832-AAE5-4268-89B0-342293CEA9DA}"/>
              </a:ext>
            </a:extLst>
          </p:cNvPr>
          <p:cNvSpPr txBox="1"/>
          <p:nvPr/>
        </p:nvSpPr>
        <p:spPr>
          <a:xfrm>
            <a:off x="10251009" y="2604503"/>
            <a:ext cx="1782086"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3" name="文本框 42">
            <a:extLst>
              <a:ext uri="{FF2B5EF4-FFF2-40B4-BE49-F238E27FC236}">
                <a16:creationId xmlns:a16="http://schemas.microsoft.com/office/drawing/2014/main" id="{1FA60A70-AD20-4E40-ACBA-27AFEF9CDD38}"/>
              </a:ext>
            </a:extLst>
          </p:cNvPr>
          <p:cNvSpPr txBox="1"/>
          <p:nvPr/>
        </p:nvSpPr>
        <p:spPr>
          <a:xfrm>
            <a:off x="11228206" y="1773921"/>
            <a:ext cx="57473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微软雅黑"/>
                <a:cs typeface="+mn-cs"/>
              </a:rPr>
              <a:t>?</a:t>
            </a:r>
            <a:endParaRPr kumimoji="0" lang="zh-CN" altLang="en-US" sz="1800" b="1"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76D071CD-E9FD-4932-9627-C12A0F8AA927}"/>
              </a:ext>
            </a:extLst>
          </p:cNvPr>
          <p:cNvSpPr>
            <a:spLocks noGrp="1"/>
          </p:cNvSpPr>
          <p:nvPr>
            <p:ph type="title"/>
          </p:nvPr>
        </p:nvSpPr>
        <p:spPr/>
        <p:txBody>
          <a:bodyPr/>
          <a:lstStyle/>
          <a:p>
            <a:r>
              <a:rPr lang="zh-CN" altLang="en-US" dirty="0"/>
              <a:t>內存防禦技術：</a:t>
            </a:r>
            <a:r>
              <a:rPr lang="en-US" altLang="zh-CN" dirty="0"/>
              <a:t>ASLR</a:t>
            </a:r>
            <a:endParaRPr lang="zh-CN" altLang="en-US" dirty="0"/>
          </a:p>
        </p:txBody>
      </p:sp>
      <p:sp>
        <p:nvSpPr>
          <p:cNvPr id="47" name="文本框 46">
            <a:extLst>
              <a:ext uri="{FF2B5EF4-FFF2-40B4-BE49-F238E27FC236}">
                <a16:creationId xmlns:a16="http://schemas.microsoft.com/office/drawing/2014/main" id="{26922E75-E715-42F0-BB28-21F7598DDB0F}"/>
              </a:ext>
            </a:extLst>
          </p:cNvPr>
          <p:cNvSpPr txBox="1"/>
          <p:nvPr/>
        </p:nvSpPr>
        <p:spPr>
          <a:xfrm>
            <a:off x="824426" y="3641401"/>
            <a:ext cx="5938437" cy="1422954"/>
          </a:xfrm>
          <a:prstGeom prst="rect">
            <a:avLst/>
          </a:prstGeom>
          <a:noFill/>
        </p:spPr>
        <p:txBody>
          <a:bodyPr wrap="square">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上一節當中</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返回至溢出數據的棧溢出攻擊</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失效</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因爲惡意代碼位于棧區，地址被</a:t>
            </a:r>
            <a:r>
              <a:rPr kumimoji="1"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隨機化，</a:t>
            </a:r>
            <a:endParaRPr kumimoji="1"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攻擊者無法</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確定幷寫入</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惡意代碼的</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絕對內存地址</a:t>
            </a:r>
          </a:p>
        </p:txBody>
      </p:sp>
      <p:sp>
        <p:nvSpPr>
          <p:cNvPr id="48" name="任意多边形: 形状 47">
            <a:extLst>
              <a:ext uri="{FF2B5EF4-FFF2-40B4-BE49-F238E27FC236}">
                <a16:creationId xmlns:a16="http://schemas.microsoft.com/office/drawing/2014/main" id="{0613F70C-E770-4B00-B789-6FD887BD95F6}"/>
              </a:ext>
            </a:extLst>
          </p:cNvPr>
          <p:cNvSpPr/>
          <p:nvPr/>
        </p:nvSpPr>
        <p:spPr>
          <a:xfrm flipV="1">
            <a:off x="10393743" y="3002279"/>
            <a:ext cx="748309" cy="335962"/>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a:solidFill>
              <a:schemeClr val="tx1"/>
            </a:solidFill>
            <a:prstDash val="sysDash"/>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pic>
        <p:nvPicPr>
          <p:cNvPr id="50" name="Picture 16" descr="hacker128PX PNG 图标下载">
            <a:extLst>
              <a:ext uri="{FF2B5EF4-FFF2-40B4-BE49-F238E27FC236}">
                <a16:creationId xmlns:a16="http://schemas.microsoft.com/office/drawing/2014/main" id="{CB30D21B-2FAE-4F82-B583-EE56F7AAF6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9459" y="1914438"/>
            <a:ext cx="757406" cy="733738"/>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7">
            <a:extLst>
              <a:ext uri="{FF2B5EF4-FFF2-40B4-BE49-F238E27FC236}">
                <a16:creationId xmlns:a16="http://schemas.microsoft.com/office/drawing/2014/main" id="{AF8800FF-DFDA-3F26-9006-04A671DCE1E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58</a:t>
            </a:fld>
            <a:endParaRPr lang="zh-CN" altLang="en-US" sz="1200" dirty="0">
              <a:solidFill>
                <a:schemeClr val="tx1">
                  <a:tint val="75000"/>
                </a:schemeClr>
              </a:solidFill>
            </a:endParaRPr>
          </a:p>
        </p:txBody>
      </p:sp>
    </p:spTree>
    <p:extLst>
      <p:ext uri="{BB962C8B-B14F-4D97-AF65-F5344CB8AC3E}">
        <p14:creationId xmlns:p14="http://schemas.microsoft.com/office/powerpoint/2010/main" val="41731133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8">
            <a:extLst>
              <a:ext uri="{FF2B5EF4-FFF2-40B4-BE49-F238E27FC236}">
                <a16:creationId xmlns:a16="http://schemas.microsoft.com/office/drawing/2014/main" id="{A8F3328B-5865-2DD8-79DE-7152826F13F3}"/>
              </a:ext>
            </a:extLst>
          </p:cNvPr>
          <p:cNvSpPr>
            <a:spLocks/>
          </p:cNvSpPr>
          <p:nvPr/>
        </p:nvSpPr>
        <p:spPr bwMode="auto">
          <a:xfrm>
            <a:off x="636327" y="3666076"/>
            <a:ext cx="6162047" cy="148445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385334"/>
            <a:ext cx="6436191" cy="973472"/>
          </a:xfrm>
          <a:prstGeom prst="rect">
            <a:avLst/>
          </a:prstGeom>
          <a:noFill/>
        </p:spPr>
        <p:txBody>
          <a:bodyPr wrap="square" rtlCol="0">
            <a:spAutoFit/>
          </a:bodyPr>
          <a:lstStyle/>
          <a:p>
            <a:pPr marL="342900" marR="0" lvl="0" indent="-342900" algn="just" fontAlgn="auto">
              <a:lnSpc>
                <a:spcPts val="3600"/>
              </a:lnSpc>
              <a:spcBef>
                <a:spcPts val="0"/>
              </a:spcBef>
              <a:spcAft>
                <a:spcPts val="0"/>
              </a:spcAft>
              <a:buClrTx/>
              <a:buSzTx/>
              <a:buFont typeface="Arial" panose="020B0604020202020204" pitchFamily="34" charset="0"/>
              <a:buChar char="•"/>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隨機化</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共享庫基地址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，庫函數的內存位置也無法被攻擊者確定</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3" name="直接连接符 42">
            <a:extLst>
              <a:ext uri="{FF2B5EF4-FFF2-40B4-BE49-F238E27FC236}">
                <a16:creationId xmlns:a16="http://schemas.microsoft.com/office/drawing/2014/main" id="{0F12B286-5937-480B-A72D-60DE8E9E30AB}"/>
              </a:ext>
            </a:extLst>
          </p:cNvPr>
          <p:cNvCxnSpPr>
            <a:cxnSpLocks/>
          </p:cNvCxnSpPr>
          <p:nvPr/>
        </p:nvCxnSpPr>
        <p:spPr>
          <a:xfrm>
            <a:off x="7714286"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FE518F4A-1582-404D-A406-FDC325F4E4C6}"/>
              </a:ext>
            </a:extLst>
          </p:cNvPr>
          <p:cNvCxnSpPr>
            <a:cxnSpLocks/>
          </p:cNvCxnSpPr>
          <p:nvPr/>
        </p:nvCxnSpPr>
        <p:spPr>
          <a:xfrm>
            <a:off x="10342724"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16290A36-BACA-4981-9DF0-0ABD4BFFA875}"/>
              </a:ext>
            </a:extLst>
          </p:cNvPr>
          <p:cNvSpPr txBox="1"/>
          <p:nvPr/>
        </p:nvSpPr>
        <p:spPr>
          <a:xfrm>
            <a:off x="7909986" y="107444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6" name="文本框 45">
            <a:extLst>
              <a:ext uri="{FF2B5EF4-FFF2-40B4-BE49-F238E27FC236}">
                <a16:creationId xmlns:a16="http://schemas.microsoft.com/office/drawing/2014/main" id="{6B224C6C-6DDE-4A53-A613-880A85AB2AE1}"/>
              </a:ext>
            </a:extLst>
          </p:cNvPr>
          <p:cNvSpPr txBox="1"/>
          <p:nvPr/>
        </p:nvSpPr>
        <p:spPr>
          <a:xfrm>
            <a:off x="8023238" y="6039195"/>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7" name="文本框 46">
            <a:extLst>
              <a:ext uri="{FF2B5EF4-FFF2-40B4-BE49-F238E27FC236}">
                <a16:creationId xmlns:a16="http://schemas.microsoft.com/office/drawing/2014/main" id="{BA746C71-1C7C-436E-8E29-CCEA4EA49BF0}"/>
              </a:ext>
            </a:extLst>
          </p:cNvPr>
          <p:cNvSpPr txBox="1"/>
          <p:nvPr/>
        </p:nvSpPr>
        <p:spPr>
          <a:xfrm>
            <a:off x="7713838" y="202665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EBP of Caller’s Caller</a:t>
            </a:r>
          </a:p>
        </p:txBody>
      </p:sp>
      <p:cxnSp>
        <p:nvCxnSpPr>
          <p:cNvPr id="48" name="直接连接符 47">
            <a:extLst>
              <a:ext uri="{FF2B5EF4-FFF2-40B4-BE49-F238E27FC236}">
                <a16:creationId xmlns:a16="http://schemas.microsoft.com/office/drawing/2014/main" id="{F333297C-910A-4D87-B63C-C5BAE1181236}"/>
              </a:ext>
            </a:extLst>
          </p:cNvPr>
          <p:cNvCxnSpPr>
            <a:cxnSpLocks/>
          </p:cNvCxnSpPr>
          <p:nvPr/>
        </p:nvCxnSpPr>
        <p:spPr>
          <a:xfrm>
            <a:off x="7707173" y="20156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326350F0-586A-41F8-A4DD-696A33EA62C4}"/>
              </a:ext>
            </a:extLst>
          </p:cNvPr>
          <p:cNvSpPr txBox="1"/>
          <p:nvPr/>
        </p:nvSpPr>
        <p:spPr>
          <a:xfrm>
            <a:off x="7699653" y="1619643"/>
            <a:ext cx="2627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Previous Stack Frame</a:t>
            </a:r>
          </a:p>
        </p:txBody>
      </p:sp>
      <p:cxnSp>
        <p:nvCxnSpPr>
          <p:cNvPr id="51" name="直接连接符 50">
            <a:extLst>
              <a:ext uri="{FF2B5EF4-FFF2-40B4-BE49-F238E27FC236}">
                <a16:creationId xmlns:a16="http://schemas.microsoft.com/office/drawing/2014/main" id="{BB532157-D753-47AF-A1BC-66560261BBCC}"/>
              </a:ext>
            </a:extLst>
          </p:cNvPr>
          <p:cNvCxnSpPr>
            <a:cxnSpLocks/>
          </p:cNvCxnSpPr>
          <p:nvPr/>
        </p:nvCxnSpPr>
        <p:spPr>
          <a:xfrm>
            <a:off x="7712938" y="304569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ADE92E40-1AC9-4D8B-8B6D-E4396679EE50}"/>
              </a:ext>
            </a:extLst>
          </p:cNvPr>
          <p:cNvCxnSpPr>
            <a:cxnSpLocks/>
          </p:cNvCxnSpPr>
          <p:nvPr/>
        </p:nvCxnSpPr>
        <p:spPr>
          <a:xfrm>
            <a:off x="7712938" y="242600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任意多边形: 形状 52">
            <a:extLst>
              <a:ext uri="{FF2B5EF4-FFF2-40B4-BE49-F238E27FC236}">
                <a16:creationId xmlns:a16="http://schemas.microsoft.com/office/drawing/2014/main" id="{8208FABB-39E0-41E7-944F-AB1EBCFAC074}"/>
              </a:ext>
            </a:extLst>
          </p:cNvPr>
          <p:cNvSpPr/>
          <p:nvPr/>
        </p:nvSpPr>
        <p:spPr>
          <a:xfrm>
            <a:off x="737028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a:solidFill>
              <a:srgbClr val="C00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55" name="直接连接符 54">
            <a:extLst>
              <a:ext uri="{FF2B5EF4-FFF2-40B4-BE49-F238E27FC236}">
                <a16:creationId xmlns:a16="http://schemas.microsoft.com/office/drawing/2014/main" id="{13B1544A-1909-4EB8-BA6C-E4A300B7EB73}"/>
              </a:ext>
            </a:extLst>
          </p:cNvPr>
          <p:cNvCxnSpPr>
            <a:cxnSpLocks/>
          </p:cNvCxnSpPr>
          <p:nvPr/>
        </p:nvCxnSpPr>
        <p:spPr>
          <a:xfrm>
            <a:off x="7713831" y="36004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文本框 55">
            <a:extLst>
              <a:ext uri="{FF2B5EF4-FFF2-40B4-BE49-F238E27FC236}">
                <a16:creationId xmlns:a16="http://schemas.microsoft.com/office/drawing/2014/main" id="{52B02771-A14D-47F4-9872-9B6D15362B3E}"/>
              </a:ext>
            </a:extLst>
          </p:cNvPr>
          <p:cNvSpPr txBox="1"/>
          <p:nvPr/>
        </p:nvSpPr>
        <p:spPr>
          <a:xfrm>
            <a:off x="7721399" y="314527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 Arguments n … 1</a:t>
            </a:r>
          </a:p>
        </p:txBody>
      </p:sp>
      <p:cxnSp>
        <p:nvCxnSpPr>
          <p:cNvPr id="57" name="直接连接符 56">
            <a:extLst>
              <a:ext uri="{FF2B5EF4-FFF2-40B4-BE49-F238E27FC236}">
                <a16:creationId xmlns:a16="http://schemas.microsoft.com/office/drawing/2014/main" id="{F9C573BD-77CA-4B7A-B4E3-9B801ACC4E74}"/>
              </a:ext>
            </a:extLst>
          </p:cNvPr>
          <p:cNvCxnSpPr>
            <a:cxnSpLocks/>
          </p:cNvCxnSpPr>
          <p:nvPr/>
        </p:nvCxnSpPr>
        <p:spPr>
          <a:xfrm>
            <a:off x="7710670" y="403710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5E39F9E5-AFFF-495C-BF02-3944A7D94953}"/>
              </a:ext>
            </a:extLst>
          </p:cNvPr>
          <p:cNvSpPr txBox="1"/>
          <p:nvPr/>
        </p:nvSpPr>
        <p:spPr>
          <a:xfrm>
            <a:off x="7707221" y="363702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Return Address</a:t>
            </a:r>
          </a:p>
        </p:txBody>
      </p:sp>
      <p:sp>
        <p:nvSpPr>
          <p:cNvPr id="59" name="文本框 58">
            <a:extLst>
              <a:ext uri="{FF2B5EF4-FFF2-40B4-BE49-F238E27FC236}">
                <a16:creationId xmlns:a16="http://schemas.microsoft.com/office/drawing/2014/main" id="{E06A35E8-D842-4FB0-97F6-DE6CE8C6A34C}"/>
              </a:ext>
            </a:extLst>
          </p:cNvPr>
          <p:cNvSpPr txBox="1"/>
          <p:nvPr/>
        </p:nvSpPr>
        <p:spPr>
          <a:xfrm>
            <a:off x="7713831" y="4087812"/>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EBP of Caller</a:t>
            </a:r>
          </a:p>
        </p:txBody>
      </p:sp>
      <p:cxnSp>
        <p:nvCxnSpPr>
          <p:cNvPr id="60" name="直接连接符 59">
            <a:extLst>
              <a:ext uri="{FF2B5EF4-FFF2-40B4-BE49-F238E27FC236}">
                <a16:creationId xmlns:a16="http://schemas.microsoft.com/office/drawing/2014/main" id="{5D68B93F-540A-4E28-86B7-8AAD5DD2AE1F}"/>
              </a:ext>
            </a:extLst>
          </p:cNvPr>
          <p:cNvCxnSpPr>
            <a:cxnSpLocks/>
          </p:cNvCxnSpPr>
          <p:nvPr/>
        </p:nvCxnSpPr>
        <p:spPr>
          <a:xfrm>
            <a:off x="7712931" y="448716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任意多边形: 形状 60">
            <a:extLst>
              <a:ext uri="{FF2B5EF4-FFF2-40B4-BE49-F238E27FC236}">
                <a16:creationId xmlns:a16="http://schemas.microsoft.com/office/drawing/2014/main" id="{1C8A73CC-356E-4712-BD08-A461149A6612}"/>
              </a:ext>
            </a:extLst>
          </p:cNvPr>
          <p:cNvSpPr/>
          <p:nvPr/>
        </p:nvSpPr>
        <p:spPr>
          <a:xfrm>
            <a:off x="724910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62" name="直接连接符 61">
            <a:extLst>
              <a:ext uri="{FF2B5EF4-FFF2-40B4-BE49-F238E27FC236}">
                <a16:creationId xmlns:a16="http://schemas.microsoft.com/office/drawing/2014/main" id="{AFDEA0B2-E5CA-4129-BE3F-D3563AE3E068}"/>
              </a:ext>
            </a:extLst>
          </p:cNvPr>
          <p:cNvCxnSpPr>
            <a:cxnSpLocks/>
          </p:cNvCxnSpPr>
          <p:nvPr/>
        </p:nvCxnSpPr>
        <p:spPr>
          <a:xfrm>
            <a:off x="7712890" y="542921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文本框 62">
            <a:extLst>
              <a:ext uri="{FF2B5EF4-FFF2-40B4-BE49-F238E27FC236}">
                <a16:creationId xmlns:a16="http://schemas.microsoft.com/office/drawing/2014/main" id="{D92D3945-CB0E-444D-98FF-FE7A5279148B}"/>
              </a:ext>
            </a:extLst>
          </p:cNvPr>
          <p:cNvSpPr txBox="1"/>
          <p:nvPr/>
        </p:nvSpPr>
        <p:spPr>
          <a:xfrm>
            <a:off x="7721352" y="478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Local Variables</a:t>
            </a:r>
          </a:p>
        </p:txBody>
      </p:sp>
      <p:sp>
        <p:nvSpPr>
          <p:cNvPr id="64" name="矩形 63">
            <a:extLst>
              <a:ext uri="{FF2B5EF4-FFF2-40B4-BE49-F238E27FC236}">
                <a16:creationId xmlns:a16="http://schemas.microsoft.com/office/drawing/2014/main" id="{EC9A27CD-3A25-41C6-82B9-E2E17E0FC7D0}"/>
              </a:ext>
            </a:extLst>
          </p:cNvPr>
          <p:cNvSpPr/>
          <p:nvPr/>
        </p:nvSpPr>
        <p:spPr>
          <a:xfrm>
            <a:off x="7712890" y="3150373"/>
            <a:ext cx="2628934" cy="447036"/>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FFFF"/>
                </a:solidFill>
                <a:latin typeface="Arial"/>
                <a:ea typeface="微软雅黑"/>
              </a:rPr>
              <a:t>Padding Payload</a:t>
            </a:r>
            <a:endParaRPr lang="zh-CN" altLang="en-US" dirty="0">
              <a:solidFill>
                <a:srgbClr val="FFFFFF"/>
              </a:solidFill>
              <a:latin typeface="Arial"/>
              <a:ea typeface="微软雅黑"/>
            </a:endParaRPr>
          </a:p>
        </p:txBody>
      </p:sp>
      <p:cxnSp>
        <p:nvCxnSpPr>
          <p:cNvPr id="65" name="直接连接符 64">
            <a:extLst>
              <a:ext uri="{FF2B5EF4-FFF2-40B4-BE49-F238E27FC236}">
                <a16:creationId xmlns:a16="http://schemas.microsoft.com/office/drawing/2014/main" id="{3EDF1DC6-BF21-430E-B225-AE340CCBD415}"/>
              </a:ext>
            </a:extLst>
          </p:cNvPr>
          <p:cNvCxnSpPr>
            <a:cxnSpLocks/>
          </p:cNvCxnSpPr>
          <p:nvPr/>
        </p:nvCxnSpPr>
        <p:spPr>
          <a:xfrm>
            <a:off x="7713824" y="3568700"/>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DE04C51E-D39D-4B5E-9ED1-32FACC61D1FA}"/>
              </a:ext>
            </a:extLst>
          </p:cNvPr>
          <p:cNvSpPr txBox="1"/>
          <p:nvPr/>
        </p:nvSpPr>
        <p:spPr>
          <a:xfrm>
            <a:off x="10867469" y="5808377"/>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67" name="任意多边形: 形状 66">
            <a:extLst>
              <a:ext uri="{FF2B5EF4-FFF2-40B4-BE49-F238E27FC236}">
                <a16:creationId xmlns:a16="http://schemas.microsoft.com/office/drawing/2014/main" id="{25FD3EFD-D7AB-405F-B92B-665CF808F8E3}"/>
              </a:ext>
            </a:extLst>
          </p:cNvPr>
          <p:cNvSpPr/>
          <p:nvPr/>
        </p:nvSpPr>
        <p:spPr>
          <a:xfrm>
            <a:off x="10377889" y="5431316"/>
            <a:ext cx="947451" cy="341523"/>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68" name="组合 67">
            <a:extLst>
              <a:ext uri="{FF2B5EF4-FFF2-40B4-BE49-F238E27FC236}">
                <a16:creationId xmlns:a16="http://schemas.microsoft.com/office/drawing/2014/main" id="{6855DFCC-6C0E-47A0-A6A5-199BFE6EA110}"/>
              </a:ext>
            </a:extLst>
          </p:cNvPr>
          <p:cNvGrpSpPr/>
          <p:nvPr/>
        </p:nvGrpSpPr>
        <p:grpSpPr>
          <a:xfrm>
            <a:off x="7710852" y="3595747"/>
            <a:ext cx="2629016" cy="1833468"/>
            <a:chOff x="9893611" y="3595747"/>
            <a:chExt cx="2629016" cy="1833468"/>
          </a:xfrm>
        </p:grpSpPr>
        <p:sp>
          <p:nvSpPr>
            <p:cNvPr id="69" name="矩形 68">
              <a:extLst>
                <a:ext uri="{FF2B5EF4-FFF2-40B4-BE49-F238E27FC236}">
                  <a16:creationId xmlns:a16="http://schemas.microsoft.com/office/drawing/2014/main" id="{05FBF0B2-3436-4166-A093-4DCFE770793F}"/>
                </a:ext>
              </a:extLst>
            </p:cNvPr>
            <p:cNvSpPr/>
            <p:nvPr/>
          </p:nvSpPr>
          <p:spPr>
            <a:xfrm>
              <a:off x="9893693" y="4038478"/>
              <a:ext cx="2628934" cy="1390737"/>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Padding Payload</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cxnSp>
          <p:nvCxnSpPr>
            <p:cNvPr id="70" name="直接连接符 69">
              <a:extLst>
                <a:ext uri="{FF2B5EF4-FFF2-40B4-BE49-F238E27FC236}">
                  <a16:creationId xmlns:a16="http://schemas.microsoft.com/office/drawing/2014/main" id="{F36D8EF0-4823-4D1B-875A-96C2810DE422}"/>
                </a:ext>
              </a:extLst>
            </p:cNvPr>
            <p:cNvCxnSpPr>
              <a:cxnSpLocks/>
            </p:cNvCxnSpPr>
            <p:nvPr/>
          </p:nvCxnSpPr>
          <p:spPr>
            <a:xfrm>
              <a:off x="9893611" y="4073064"/>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1" name="矩形 70">
              <a:extLst>
                <a:ext uri="{FF2B5EF4-FFF2-40B4-BE49-F238E27FC236}">
                  <a16:creationId xmlns:a16="http://schemas.microsoft.com/office/drawing/2014/main" id="{F575F0BA-0D61-4AA8-9EF1-6A32BF71A68B}"/>
                </a:ext>
              </a:extLst>
            </p:cNvPr>
            <p:cNvSpPr/>
            <p:nvPr/>
          </p:nvSpPr>
          <p:spPr>
            <a:xfrm>
              <a:off x="9893611" y="3595747"/>
              <a:ext cx="2628934" cy="44744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Address of system()</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sp>
        <p:nvSpPr>
          <p:cNvPr id="72" name="矩形 71">
            <a:extLst>
              <a:ext uri="{FF2B5EF4-FFF2-40B4-BE49-F238E27FC236}">
                <a16:creationId xmlns:a16="http://schemas.microsoft.com/office/drawing/2014/main" id="{E52B0251-6608-4D97-96C1-8932542820F4}"/>
              </a:ext>
            </a:extLst>
          </p:cNvPr>
          <p:cNvSpPr/>
          <p:nvPr/>
        </p:nvSpPr>
        <p:spPr>
          <a:xfrm>
            <a:off x="7714800" y="2693340"/>
            <a:ext cx="2628934" cy="447036"/>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FFFFFF"/>
                </a:solidFill>
                <a:latin typeface="Arial"/>
                <a:ea typeface="微软雅黑"/>
              </a:rPr>
              <a:t>Address of ‘/bin/</a:t>
            </a:r>
            <a:r>
              <a:rPr lang="en-US" altLang="zh-CN" dirty="0" err="1">
                <a:solidFill>
                  <a:srgbClr val="FFFFFF"/>
                </a:solidFill>
                <a:latin typeface="Arial"/>
                <a:ea typeface="微软雅黑"/>
              </a:rPr>
              <a:t>sh</a:t>
            </a:r>
            <a:r>
              <a:rPr lang="en-US" altLang="zh-CN" dirty="0">
                <a:solidFill>
                  <a:srgbClr val="FFFFFF"/>
                </a:solidFill>
                <a:latin typeface="Arial"/>
                <a:ea typeface="微软雅黑"/>
              </a:rPr>
              <a:t>’</a:t>
            </a:r>
            <a:endParaRPr lang="zh-CN" altLang="en-US" dirty="0">
              <a:solidFill>
                <a:srgbClr val="FFFFFF"/>
              </a:solidFill>
              <a:latin typeface="Arial"/>
              <a:ea typeface="微软雅黑"/>
            </a:endParaRPr>
          </a:p>
        </p:txBody>
      </p:sp>
      <p:cxnSp>
        <p:nvCxnSpPr>
          <p:cNvPr id="73" name="直接连接符 72">
            <a:extLst>
              <a:ext uri="{FF2B5EF4-FFF2-40B4-BE49-F238E27FC236}">
                <a16:creationId xmlns:a16="http://schemas.microsoft.com/office/drawing/2014/main" id="{C7ED314A-5D0B-4290-A5EB-F4BCFD1E4961}"/>
              </a:ext>
            </a:extLst>
          </p:cNvPr>
          <p:cNvCxnSpPr>
            <a:cxnSpLocks/>
          </p:cNvCxnSpPr>
          <p:nvPr/>
        </p:nvCxnSpPr>
        <p:spPr>
          <a:xfrm>
            <a:off x="7711827" y="3115741"/>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6" name="文本框 75">
            <a:extLst>
              <a:ext uri="{FF2B5EF4-FFF2-40B4-BE49-F238E27FC236}">
                <a16:creationId xmlns:a16="http://schemas.microsoft.com/office/drawing/2014/main" id="{DBCE37A3-D11C-4723-8BAE-F53547B84332}"/>
              </a:ext>
            </a:extLst>
          </p:cNvPr>
          <p:cNvSpPr txBox="1"/>
          <p:nvPr/>
        </p:nvSpPr>
        <p:spPr>
          <a:xfrm>
            <a:off x="10327643" y="2281609"/>
            <a:ext cx="1897804"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Where is the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Library Function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7" name="任意多边形: 形状 76">
            <a:extLst>
              <a:ext uri="{FF2B5EF4-FFF2-40B4-BE49-F238E27FC236}">
                <a16:creationId xmlns:a16="http://schemas.microsoft.com/office/drawing/2014/main" id="{963C5DC3-CBE4-478B-A866-21D53C6C15CA}"/>
              </a:ext>
            </a:extLst>
          </p:cNvPr>
          <p:cNvSpPr/>
          <p:nvPr/>
        </p:nvSpPr>
        <p:spPr>
          <a:xfrm>
            <a:off x="10366872" y="3429000"/>
            <a:ext cx="826265" cy="415887"/>
          </a:xfrm>
          <a:custGeom>
            <a:avLst/>
            <a:gdLst>
              <a:gd name="connsiteX0" fmla="*/ 0 w 826265"/>
              <a:gd name="connsiteY0" fmla="*/ 209321 h 209321"/>
              <a:gd name="connsiteX1" fmla="*/ 826265 w 826265"/>
              <a:gd name="connsiteY1" fmla="*/ 209321 h 209321"/>
              <a:gd name="connsiteX2" fmla="*/ 826265 w 826265"/>
              <a:gd name="connsiteY2" fmla="*/ 0 h 209321"/>
            </a:gdLst>
            <a:ahLst/>
            <a:cxnLst>
              <a:cxn ang="0">
                <a:pos x="connsiteX0" y="connsiteY0"/>
              </a:cxn>
              <a:cxn ang="0">
                <a:pos x="connsiteX1" y="connsiteY1"/>
              </a:cxn>
              <a:cxn ang="0">
                <a:pos x="connsiteX2" y="connsiteY2"/>
              </a:cxn>
            </a:cxnLst>
            <a:rect l="l" t="t" r="r" b="b"/>
            <a:pathLst>
              <a:path w="826265" h="209321">
                <a:moveTo>
                  <a:pt x="0" y="209321"/>
                </a:moveTo>
                <a:lnTo>
                  <a:pt x="826265" y="209321"/>
                </a:lnTo>
                <a:lnTo>
                  <a:pt x="826265"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9" name="文本框 38">
            <a:extLst>
              <a:ext uri="{FF2B5EF4-FFF2-40B4-BE49-F238E27FC236}">
                <a16:creationId xmlns:a16="http://schemas.microsoft.com/office/drawing/2014/main" id="{B93F5CA4-E281-4A30-9FB9-5042AFBEBDC0}"/>
              </a:ext>
            </a:extLst>
          </p:cNvPr>
          <p:cNvSpPr txBox="1"/>
          <p:nvPr/>
        </p:nvSpPr>
        <p:spPr>
          <a:xfrm>
            <a:off x="10905771" y="2826456"/>
            <a:ext cx="574732"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srgbClr val="000000"/>
                </a:solidFill>
                <a:effectLst/>
                <a:uLnTx/>
                <a:uFillTx/>
                <a:latin typeface="Arial"/>
                <a:ea typeface="微软雅黑"/>
                <a:cs typeface="+mn-cs"/>
              </a:rPr>
              <a:t>?</a:t>
            </a:r>
            <a:endParaRPr kumimoji="0" lang="zh-CN" altLang="en-US" sz="1800" b="1"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F12CC3E2-8C86-48DF-BCCC-55B0BBBC7795}"/>
              </a:ext>
            </a:extLst>
          </p:cNvPr>
          <p:cNvSpPr>
            <a:spLocks noGrp="1"/>
          </p:cNvSpPr>
          <p:nvPr>
            <p:ph type="title"/>
          </p:nvPr>
        </p:nvSpPr>
        <p:spPr/>
        <p:txBody>
          <a:bodyPr/>
          <a:lstStyle/>
          <a:p>
            <a:r>
              <a:rPr lang="zh-CN" altLang="en-US" dirty="0"/>
              <a:t>內存防禦技術：</a:t>
            </a:r>
            <a:r>
              <a:rPr lang="en-US" altLang="zh-CN" dirty="0"/>
              <a:t>ASLR</a:t>
            </a:r>
            <a:endParaRPr lang="zh-CN" altLang="en-US" dirty="0"/>
          </a:p>
        </p:txBody>
      </p:sp>
      <p:sp>
        <p:nvSpPr>
          <p:cNvPr id="74" name="文本框 73">
            <a:extLst>
              <a:ext uri="{FF2B5EF4-FFF2-40B4-BE49-F238E27FC236}">
                <a16:creationId xmlns:a16="http://schemas.microsoft.com/office/drawing/2014/main" id="{C161F38F-57A9-4B8A-8FAB-B88B228049D7}"/>
              </a:ext>
            </a:extLst>
          </p:cNvPr>
          <p:cNvSpPr txBox="1"/>
          <p:nvPr/>
        </p:nvSpPr>
        <p:spPr>
          <a:xfrm>
            <a:off x="921263" y="3824661"/>
            <a:ext cx="5678200" cy="961289"/>
          </a:xfrm>
          <a:prstGeom prst="rect">
            <a:avLst/>
          </a:prstGeom>
          <a:noFill/>
        </p:spPr>
        <p:txBody>
          <a:bodyPr wrap="square">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上一節當中</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返回至庫函數的棧溢出攻擊</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失效</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a:t>
            </a:r>
            <a:r>
              <a:rPr kumimoji="1" lang="en-US" altLang="zh-CN"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將導致攻擊者無法定位目標庫函數</a:t>
            </a:r>
            <a:endPar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F3205A15-008D-3197-18AC-28E9D66A019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59</a:t>
            </a:fld>
            <a:endParaRPr lang="zh-CN" altLang="en-US" sz="1200" dirty="0">
              <a:solidFill>
                <a:schemeClr val="tx1">
                  <a:tint val="75000"/>
                </a:schemeClr>
              </a:solidFill>
            </a:endParaRPr>
          </a:p>
        </p:txBody>
      </p:sp>
    </p:spTree>
    <p:extLst>
      <p:ext uri="{BB962C8B-B14F-4D97-AF65-F5344CB8AC3E}">
        <p14:creationId xmlns:p14="http://schemas.microsoft.com/office/powerpoint/2010/main" val="14714776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8">
            <a:extLst>
              <a:ext uri="{FF2B5EF4-FFF2-40B4-BE49-F238E27FC236}">
                <a16:creationId xmlns:a16="http://schemas.microsoft.com/office/drawing/2014/main" id="{4E105810-C671-6920-5F4D-EC8F194F9ADD}"/>
              </a:ext>
            </a:extLst>
          </p:cNvPr>
          <p:cNvSpPr>
            <a:spLocks/>
          </p:cNvSpPr>
          <p:nvPr/>
        </p:nvSpPr>
        <p:spPr bwMode="auto">
          <a:xfrm>
            <a:off x="331503" y="2832345"/>
            <a:ext cx="6565056" cy="120475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400400"/>
            <a:ext cx="6404049"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的本意是金絲雀，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是一種防禦棧區溢出的</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方案</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5" name="直接连接符 44">
            <a:extLst>
              <a:ext uri="{FF2B5EF4-FFF2-40B4-BE49-F238E27FC236}">
                <a16:creationId xmlns:a16="http://schemas.microsoft.com/office/drawing/2014/main" id="{1306B913-BDDB-40EB-9EBF-AA4C266CC964}"/>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14">
            <a:extLst>
              <a:ext uri="{FF2B5EF4-FFF2-40B4-BE49-F238E27FC236}">
                <a16:creationId xmlns:a16="http://schemas.microsoft.com/office/drawing/2014/main" id="{3BD8C319-E92D-4EE8-BD87-D8FC98C42E18}"/>
              </a:ext>
            </a:extLst>
          </p:cNvPr>
          <p:cNvSpPr txBox="1"/>
          <p:nvPr/>
        </p:nvSpPr>
        <p:spPr>
          <a:xfrm>
            <a:off x="561974" y="6235648"/>
            <a:ext cx="6193667"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其得名緣由：</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https://en.wikipedia.org/wiki/Stack_buffer_overflow</a:t>
            </a:r>
          </a:p>
        </p:txBody>
      </p:sp>
      <p:sp>
        <p:nvSpPr>
          <p:cNvPr id="2" name="标题 1">
            <a:extLst>
              <a:ext uri="{FF2B5EF4-FFF2-40B4-BE49-F238E27FC236}">
                <a16:creationId xmlns:a16="http://schemas.microsoft.com/office/drawing/2014/main" id="{0452FDE8-C6C9-4A0A-A3F6-8E43CF18239D}"/>
              </a:ext>
            </a:extLst>
          </p:cNvPr>
          <p:cNvSpPr>
            <a:spLocks noGrp="1"/>
          </p:cNvSpPr>
          <p:nvPr>
            <p:ph type="title"/>
          </p:nvPr>
        </p:nvSpPr>
        <p:spPr/>
        <p:txBody>
          <a:bodyPr>
            <a:normAutofit/>
          </a:bodyPr>
          <a:lstStyle/>
          <a:p>
            <a:r>
              <a:rPr lang="zh-CN" altLang="en-US" dirty="0"/>
              <a:t>內存防禦技術：</a:t>
            </a:r>
            <a:r>
              <a:rPr lang="en-US" altLang="zh-CN" dirty="0"/>
              <a:t>Stack Canary</a:t>
            </a:r>
            <a:endParaRPr lang="zh-CN" altLang="en-US" dirty="0"/>
          </a:p>
        </p:txBody>
      </p:sp>
      <p:sp>
        <p:nvSpPr>
          <p:cNvPr id="53" name="文本框 52">
            <a:extLst>
              <a:ext uri="{FF2B5EF4-FFF2-40B4-BE49-F238E27FC236}">
                <a16:creationId xmlns:a16="http://schemas.microsoft.com/office/drawing/2014/main" id="{B1C10B7B-3769-41C3-8622-FA9E5A82C1B7}"/>
              </a:ext>
            </a:extLst>
          </p:cNvPr>
          <p:cNvSpPr txBox="1"/>
          <p:nvPr/>
        </p:nvSpPr>
        <p:spPr>
          <a:xfrm>
            <a:off x="8037413" y="6223861"/>
            <a:ext cx="1995870" cy="369332"/>
          </a:xfrm>
          <a:prstGeom prst="rect">
            <a:avLst/>
          </a:prstGeom>
          <a:noFill/>
        </p:spPr>
        <p:txBody>
          <a:bodyPr wrap="square" rtlCol="0">
            <a:spAutoFit/>
          </a:bodyPr>
          <a:lstStyle/>
          <a:p>
            <a:pPr algn="ctr"/>
            <a:r>
              <a:rPr lang="en-US" altLang="zh-CN" dirty="0">
                <a:solidFill>
                  <a:srgbClr val="000000"/>
                </a:solidFill>
                <a:ea typeface="微软雅黑"/>
              </a:rPr>
              <a:t>Lower Address</a:t>
            </a:r>
            <a:endParaRPr lang="zh-CN" altLang="en-US" dirty="0">
              <a:solidFill>
                <a:srgbClr val="000000"/>
              </a:solidFill>
              <a:ea typeface="微软雅黑"/>
            </a:endParaRPr>
          </a:p>
        </p:txBody>
      </p:sp>
      <p:cxnSp>
        <p:nvCxnSpPr>
          <p:cNvPr id="54" name="直接连接符 53">
            <a:extLst>
              <a:ext uri="{FF2B5EF4-FFF2-40B4-BE49-F238E27FC236}">
                <a16:creationId xmlns:a16="http://schemas.microsoft.com/office/drawing/2014/main" id="{DA074193-BABE-4745-A84F-7852ED8A0753}"/>
              </a:ext>
            </a:extLst>
          </p:cNvPr>
          <p:cNvCxnSpPr>
            <a:cxnSpLocks/>
          </p:cNvCxnSpPr>
          <p:nvPr/>
        </p:nvCxnSpPr>
        <p:spPr>
          <a:xfrm>
            <a:off x="7714286" y="1488377"/>
            <a:ext cx="0" cy="4680000"/>
          </a:xfrm>
          <a:prstGeom prst="line">
            <a:avLst/>
          </a:prstGeom>
          <a:noFill/>
          <a:ln w="12700" cap="flat" cmpd="sng" algn="ctr">
            <a:solidFill>
              <a:srgbClr val="000000"/>
            </a:solidFill>
            <a:prstDash val="solid"/>
            <a:miter lim="800000"/>
          </a:ln>
          <a:effectLst/>
        </p:spPr>
      </p:cxnSp>
      <p:cxnSp>
        <p:nvCxnSpPr>
          <p:cNvPr id="57" name="直接连接符 56">
            <a:extLst>
              <a:ext uri="{FF2B5EF4-FFF2-40B4-BE49-F238E27FC236}">
                <a16:creationId xmlns:a16="http://schemas.microsoft.com/office/drawing/2014/main" id="{6CC77B98-85ED-46DF-AF28-83E6B1CB034C}"/>
              </a:ext>
            </a:extLst>
          </p:cNvPr>
          <p:cNvCxnSpPr>
            <a:cxnSpLocks/>
          </p:cNvCxnSpPr>
          <p:nvPr/>
        </p:nvCxnSpPr>
        <p:spPr>
          <a:xfrm>
            <a:off x="10342724" y="1488377"/>
            <a:ext cx="0" cy="4680000"/>
          </a:xfrm>
          <a:prstGeom prst="line">
            <a:avLst/>
          </a:prstGeom>
          <a:noFill/>
          <a:ln w="12700" cap="flat" cmpd="sng" algn="ctr">
            <a:solidFill>
              <a:srgbClr val="000000"/>
            </a:solidFill>
            <a:prstDash val="solid"/>
            <a:miter lim="800000"/>
          </a:ln>
          <a:effectLst/>
        </p:spPr>
      </p:cxnSp>
      <p:sp>
        <p:nvSpPr>
          <p:cNvPr id="58" name="文本框 57">
            <a:extLst>
              <a:ext uri="{FF2B5EF4-FFF2-40B4-BE49-F238E27FC236}">
                <a16:creationId xmlns:a16="http://schemas.microsoft.com/office/drawing/2014/main" id="{7738F8AC-D4E0-48F1-957D-1D6DE217858B}"/>
              </a:ext>
            </a:extLst>
          </p:cNvPr>
          <p:cNvSpPr txBox="1"/>
          <p:nvPr/>
        </p:nvSpPr>
        <p:spPr>
          <a:xfrm>
            <a:off x="7909986" y="1074449"/>
            <a:ext cx="1995870" cy="369332"/>
          </a:xfrm>
          <a:prstGeom prst="rect">
            <a:avLst/>
          </a:prstGeom>
          <a:noFill/>
        </p:spPr>
        <p:txBody>
          <a:bodyPr wrap="square" rtlCol="0">
            <a:spAutoFit/>
          </a:bodyPr>
          <a:lstStyle/>
          <a:p>
            <a:pPr algn="ctr"/>
            <a:r>
              <a:rPr lang="en-US" altLang="zh-CN" dirty="0">
                <a:solidFill>
                  <a:srgbClr val="000000"/>
                </a:solidFill>
                <a:ea typeface="微软雅黑"/>
              </a:rPr>
              <a:t>Higher Address</a:t>
            </a:r>
            <a:endParaRPr lang="zh-CN" altLang="en-US" dirty="0">
              <a:solidFill>
                <a:srgbClr val="000000"/>
              </a:solidFill>
              <a:ea typeface="微软雅黑"/>
            </a:endParaRPr>
          </a:p>
        </p:txBody>
      </p:sp>
      <p:sp>
        <p:nvSpPr>
          <p:cNvPr id="59" name="文本框 58">
            <a:extLst>
              <a:ext uri="{FF2B5EF4-FFF2-40B4-BE49-F238E27FC236}">
                <a16:creationId xmlns:a16="http://schemas.microsoft.com/office/drawing/2014/main" id="{446C1D8D-C6AD-41F5-B6DA-0090FB3543FB}"/>
              </a:ext>
            </a:extLst>
          </p:cNvPr>
          <p:cNvSpPr txBox="1"/>
          <p:nvPr/>
        </p:nvSpPr>
        <p:spPr>
          <a:xfrm>
            <a:off x="7713838" y="2026650"/>
            <a:ext cx="2627993" cy="369332"/>
          </a:xfrm>
          <a:prstGeom prst="rect">
            <a:avLst/>
          </a:prstGeom>
          <a:noFill/>
        </p:spPr>
        <p:txBody>
          <a:bodyPr wrap="square" rtlCol="0">
            <a:spAutoFit/>
          </a:bodyPr>
          <a:lstStyle/>
          <a:p>
            <a:pPr algn="ctr"/>
            <a:r>
              <a:rPr lang="en-US" altLang="zh-CN" dirty="0">
                <a:solidFill>
                  <a:srgbClr val="C00000"/>
                </a:solidFill>
                <a:ea typeface="微软雅黑"/>
              </a:rPr>
              <a:t>EBP of Caller’s Caller</a:t>
            </a:r>
          </a:p>
        </p:txBody>
      </p:sp>
      <p:cxnSp>
        <p:nvCxnSpPr>
          <p:cNvPr id="60" name="直接连接符 59">
            <a:extLst>
              <a:ext uri="{FF2B5EF4-FFF2-40B4-BE49-F238E27FC236}">
                <a16:creationId xmlns:a16="http://schemas.microsoft.com/office/drawing/2014/main" id="{B7A8D727-0122-4B94-885F-69EB607F43D9}"/>
              </a:ext>
            </a:extLst>
          </p:cNvPr>
          <p:cNvCxnSpPr>
            <a:cxnSpLocks/>
          </p:cNvCxnSpPr>
          <p:nvPr/>
        </p:nvCxnSpPr>
        <p:spPr>
          <a:xfrm>
            <a:off x="7707173" y="2015633"/>
            <a:ext cx="2628000" cy="0"/>
          </a:xfrm>
          <a:prstGeom prst="line">
            <a:avLst/>
          </a:prstGeom>
          <a:noFill/>
          <a:ln w="12700" cap="flat" cmpd="sng" algn="ctr">
            <a:solidFill>
              <a:srgbClr val="000000"/>
            </a:solidFill>
            <a:prstDash val="solid"/>
            <a:miter lim="800000"/>
          </a:ln>
          <a:effectLst/>
        </p:spPr>
      </p:cxnSp>
      <p:sp>
        <p:nvSpPr>
          <p:cNvPr id="61" name="文本框 60">
            <a:extLst>
              <a:ext uri="{FF2B5EF4-FFF2-40B4-BE49-F238E27FC236}">
                <a16:creationId xmlns:a16="http://schemas.microsoft.com/office/drawing/2014/main" id="{1C0728F2-7F75-4E69-9BDD-08309C69B66D}"/>
              </a:ext>
            </a:extLst>
          </p:cNvPr>
          <p:cNvSpPr txBox="1"/>
          <p:nvPr/>
        </p:nvSpPr>
        <p:spPr>
          <a:xfrm>
            <a:off x="7699653" y="1619643"/>
            <a:ext cx="2627990" cy="369332"/>
          </a:xfrm>
          <a:prstGeom prst="rect">
            <a:avLst/>
          </a:prstGeom>
          <a:noFill/>
        </p:spPr>
        <p:txBody>
          <a:bodyPr wrap="square" rtlCol="0">
            <a:spAutoFit/>
          </a:bodyPr>
          <a:lstStyle/>
          <a:p>
            <a:pPr algn="ctr"/>
            <a:r>
              <a:rPr lang="en-US" altLang="zh-CN" dirty="0">
                <a:solidFill>
                  <a:srgbClr val="000000"/>
                </a:solidFill>
                <a:ea typeface="微软雅黑"/>
              </a:rPr>
              <a:t>Previous Stack Frame</a:t>
            </a:r>
          </a:p>
        </p:txBody>
      </p:sp>
      <p:cxnSp>
        <p:nvCxnSpPr>
          <p:cNvPr id="62" name="直接连接符 61">
            <a:extLst>
              <a:ext uri="{FF2B5EF4-FFF2-40B4-BE49-F238E27FC236}">
                <a16:creationId xmlns:a16="http://schemas.microsoft.com/office/drawing/2014/main" id="{05F44848-0EC7-4285-B185-732FF49D0FA5}"/>
              </a:ext>
            </a:extLst>
          </p:cNvPr>
          <p:cNvCxnSpPr>
            <a:cxnSpLocks/>
          </p:cNvCxnSpPr>
          <p:nvPr/>
        </p:nvCxnSpPr>
        <p:spPr>
          <a:xfrm>
            <a:off x="7712938" y="3045696"/>
            <a:ext cx="2628000" cy="0"/>
          </a:xfrm>
          <a:prstGeom prst="line">
            <a:avLst/>
          </a:prstGeom>
          <a:noFill/>
          <a:ln w="12700" cap="flat" cmpd="sng" algn="ctr">
            <a:solidFill>
              <a:srgbClr val="000000"/>
            </a:solidFill>
            <a:prstDash val="solid"/>
            <a:miter lim="800000"/>
          </a:ln>
          <a:effectLst/>
        </p:spPr>
      </p:cxnSp>
      <p:cxnSp>
        <p:nvCxnSpPr>
          <p:cNvPr id="63" name="直接连接符 62">
            <a:extLst>
              <a:ext uri="{FF2B5EF4-FFF2-40B4-BE49-F238E27FC236}">
                <a16:creationId xmlns:a16="http://schemas.microsoft.com/office/drawing/2014/main" id="{A56765B1-C84D-42CA-A04B-FE776CCD85CE}"/>
              </a:ext>
            </a:extLst>
          </p:cNvPr>
          <p:cNvCxnSpPr>
            <a:cxnSpLocks/>
          </p:cNvCxnSpPr>
          <p:nvPr/>
        </p:nvCxnSpPr>
        <p:spPr>
          <a:xfrm>
            <a:off x="7712938" y="2426001"/>
            <a:ext cx="2628000" cy="0"/>
          </a:xfrm>
          <a:prstGeom prst="line">
            <a:avLst/>
          </a:prstGeom>
          <a:noFill/>
          <a:ln w="12700" cap="flat" cmpd="sng" algn="ctr">
            <a:solidFill>
              <a:srgbClr val="000000"/>
            </a:solidFill>
            <a:prstDash val="solid"/>
            <a:miter lim="800000"/>
          </a:ln>
          <a:effectLst/>
        </p:spPr>
      </p:cxnSp>
      <p:sp>
        <p:nvSpPr>
          <p:cNvPr id="64" name="任意多边形: 形状 63">
            <a:extLst>
              <a:ext uri="{FF2B5EF4-FFF2-40B4-BE49-F238E27FC236}">
                <a16:creationId xmlns:a16="http://schemas.microsoft.com/office/drawing/2014/main" id="{399A0452-E4BB-4AFE-B009-DBC939B1C498}"/>
              </a:ext>
            </a:extLst>
          </p:cNvPr>
          <p:cNvSpPr/>
          <p:nvPr/>
        </p:nvSpPr>
        <p:spPr>
          <a:xfrm>
            <a:off x="737028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w="12700" cap="flat" cmpd="sng" algn="ctr">
            <a:solidFill>
              <a:srgbClr val="C00000"/>
            </a:solidFill>
            <a:prstDash val="solid"/>
            <a:miter lim="800000"/>
            <a:headEnd type="none"/>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65" name="文本框 64">
            <a:extLst>
              <a:ext uri="{FF2B5EF4-FFF2-40B4-BE49-F238E27FC236}">
                <a16:creationId xmlns:a16="http://schemas.microsoft.com/office/drawing/2014/main" id="{E71E6A81-A0B7-46F5-95FC-3DA245C5E0AC}"/>
              </a:ext>
            </a:extLst>
          </p:cNvPr>
          <p:cNvSpPr txBox="1"/>
          <p:nvPr/>
        </p:nvSpPr>
        <p:spPr>
          <a:xfrm>
            <a:off x="7721400" y="2540895"/>
            <a:ext cx="2627993" cy="369332"/>
          </a:xfrm>
          <a:prstGeom prst="rect">
            <a:avLst/>
          </a:prstGeom>
          <a:noFill/>
        </p:spPr>
        <p:txBody>
          <a:bodyPr wrap="square" rtlCol="0">
            <a:spAutoFit/>
          </a:bodyPr>
          <a:lstStyle/>
          <a:p>
            <a:pPr algn="ctr"/>
            <a:r>
              <a:rPr lang="en-US" altLang="zh-CN" dirty="0">
                <a:solidFill>
                  <a:srgbClr val="C00000"/>
                </a:solidFill>
                <a:ea typeface="微软雅黑"/>
              </a:rPr>
              <a:t>Local Variables</a:t>
            </a:r>
          </a:p>
        </p:txBody>
      </p:sp>
      <p:cxnSp>
        <p:nvCxnSpPr>
          <p:cNvPr id="66" name="直接连接符 65">
            <a:extLst>
              <a:ext uri="{FF2B5EF4-FFF2-40B4-BE49-F238E27FC236}">
                <a16:creationId xmlns:a16="http://schemas.microsoft.com/office/drawing/2014/main" id="{5A183970-677A-4683-B262-BD7CF78F3364}"/>
              </a:ext>
            </a:extLst>
          </p:cNvPr>
          <p:cNvCxnSpPr>
            <a:cxnSpLocks/>
          </p:cNvCxnSpPr>
          <p:nvPr/>
        </p:nvCxnSpPr>
        <p:spPr>
          <a:xfrm>
            <a:off x="7713831" y="3600433"/>
            <a:ext cx="2628000" cy="0"/>
          </a:xfrm>
          <a:prstGeom prst="line">
            <a:avLst/>
          </a:prstGeom>
          <a:noFill/>
          <a:ln w="12700" cap="flat" cmpd="sng" algn="ctr">
            <a:solidFill>
              <a:srgbClr val="000000"/>
            </a:solidFill>
            <a:prstDash val="solid"/>
            <a:miter lim="800000"/>
          </a:ln>
          <a:effectLst/>
        </p:spPr>
      </p:cxnSp>
      <p:sp>
        <p:nvSpPr>
          <p:cNvPr id="67" name="文本框 66">
            <a:extLst>
              <a:ext uri="{FF2B5EF4-FFF2-40B4-BE49-F238E27FC236}">
                <a16:creationId xmlns:a16="http://schemas.microsoft.com/office/drawing/2014/main" id="{91B2CCCA-A24F-41C6-8378-D57FC130B9E1}"/>
              </a:ext>
            </a:extLst>
          </p:cNvPr>
          <p:cNvSpPr txBox="1"/>
          <p:nvPr/>
        </p:nvSpPr>
        <p:spPr>
          <a:xfrm>
            <a:off x="7721399" y="3145270"/>
            <a:ext cx="2627993" cy="369332"/>
          </a:xfrm>
          <a:prstGeom prst="rect">
            <a:avLst/>
          </a:prstGeom>
          <a:noFill/>
        </p:spPr>
        <p:txBody>
          <a:bodyPr wrap="square" rtlCol="0">
            <a:spAutoFit/>
          </a:bodyPr>
          <a:lstStyle/>
          <a:p>
            <a:pPr algn="ctr"/>
            <a:r>
              <a:rPr lang="en-US" altLang="zh-CN" dirty="0">
                <a:solidFill>
                  <a:srgbClr val="C00000"/>
                </a:solidFill>
                <a:ea typeface="微软雅黑"/>
              </a:rPr>
              <a:t> Arguments n … 1</a:t>
            </a:r>
          </a:p>
        </p:txBody>
      </p:sp>
      <p:cxnSp>
        <p:nvCxnSpPr>
          <p:cNvPr id="68" name="直接连接符 67">
            <a:extLst>
              <a:ext uri="{FF2B5EF4-FFF2-40B4-BE49-F238E27FC236}">
                <a16:creationId xmlns:a16="http://schemas.microsoft.com/office/drawing/2014/main" id="{88A37E8B-F692-45D4-91FC-F1115C594D61}"/>
              </a:ext>
            </a:extLst>
          </p:cNvPr>
          <p:cNvCxnSpPr>
            <a:cxnSpLocks/>
          </p:cNvCxnSpPr>
          <p:nvPr/>
        </p:nvCxnSpPr>
        <p:spPr>
          <a:xfrm>
            <a:off x="7710670" y="4037102"/>
            <a:ext cx="2628000" cy="0"/>
          </a:xfrm>
          <a:prstGeom prst="line">
            <a:avLst/>
          </a:prstGeom>
          <a:noFill/>
          <a:ln w="12700" cap="flat" cmpd="sng" algn="ctr">
            <a:solidFill>
              <a:srgbClr val="000000"/>
            </a:solidFill>
            <a:prstDash val="solid"/>
            <a:miter lim="800000"/>
          </a:ln>
          <a:effectLst/>
        </p:spPr>
      </p:cxnSp>
      <p:sp>
        <p:nvSpPr>
          <p:cNvPr id="69" name="文本框 68">
            <a:extLst>
              <a:ext uri="{FF2B5EF4-FFF2-40B4-BE49-F238E27FC236}">
                <a16:creationId xmlns:a16="http://schemas.microsoft.com/office/drawing/2014/main" id="{0867F7C0-531B-4C88-A7AB-1511D3AC3EF6}"/>
              </a:ext>
            </a:extLst>
          </p:cNvPr>
          <p:cNvSpPr txBox="1"/>
          <p:nvPr/>
        </p:nvSpPr>
        <p:spPr>
          <a:xfrm>
            <a:off x="7707221" y="3637024"/>
            <a:ext cx="2627993" cy="369332"/>
          </a:xfrm>
          <a:prstGeom prst="rect">
            <a:avLst/>
          </a:prstGeom>
          <a:noFill/>
        </p:spPr>
        <p:txBody>
          <a:bodyPr wrap="square" rtlCol="0">
            <a:spAutoFit/>
          </a:bodyPr>
          <a:lstStyle/>
          <a:p>
            <a:pPr algn="ctr"/>
            <a:r>
              <a:rPr lang="en-US" altLang="zh-CN" dirty="0">
                <a:solidFill>
                  <a:srgbClr val="C00000"/>
                </a:solidFill>
                <a:ea typeface="微软雅黑"/>
              </a:rPr>
              <a:t>Return Address</a:t>
            </a:r>
          </a:p>
        </p:txBody>
      </p:sp>
      <p:sp>
        <p:nvSpPr>
          <p:cNvPr id="70" name="文本框 69">
            <a:extLst>
              <a:ext uri="{FF2B5EF4-FFF2-40B4-BE49-F238E27FC236}">
                <a16:creationId xmlns:a16="http://schemas.microsoft.com/office/drawing/2014/main" id="{0FB07668-6A6E-43F0-A0CF-F74F5D41FCA4}"/>
              </a:ext>
            </a:extLst>
          </p:cNvPr>
          <p:cNvSpPr txBox="1"/>
          <p:nvPr/>
        </p:nvSpPr>
        <p:spPr>
          <a:xfrm>
            <a:off x="7713831" y="4087812"/>
            <a:ext cx="2627993" cy="369332"/>
          </a:xfrm>
          <a:prstGeom prst="rect">
            <a:avLst/>
          </a:prstGeom>
          <a:noFill/>
        </p:spPr>
        <p:txBody>
          <a:bodyPr wrap="square" rtlCol="0">
            <a:spAutoFit/>
          </a:bodyPr>
          <a:lstStyle/>
          <a:p>
            <a:pPr algn="ctr"/>
            <a:r>
              <a:rPr lang="en-US" altLang="zh-CN" dirty="0">
                <a:solidFill>
                  <a:srgbClr val="2980B9"/>
                </a:solidFill>
                <a:ea typeface="微软雅黑"/>
              </a:rPr>
              <a:t>EBP of Caller</a:t>
            </a:r>
          </a:p>
        </p:txBody>
      </p:sp>
      <p:cxnSp>
        <p:nvCxnSpPr>
          <p:cNvPr id="71" name="直接连接符 70">
            <a:extLst>
              <a:ext uri="{FF2B5EF4-FFF2-40B4-BE49-F238E27FC236}">
                <a16:creationId xmlns:a16="http://schemas.microsoft.com/office/drawing/2014/main" id="{1DD67C82-06FE-4F20-86E7-D0BEB936F0BB}"/>
              </a:ext>
            </a:extLst>
          </p:cNvPr>
          <p:cNvCxnSpPr>
            <a:cxnSpLocks/>
          </p:cNvCxnSpPr>
          <p:nvPr/>
        </p:nvCxnSpPr>
        <p:spPr>
          <a:xfrm>
            <a:off x="7712931" y="4487163"/>
            <a:ext cx="2628000" cy="0"/>
          </a:xfrm>
          <a:prstGeom prst="line">
            <a:avLst/>
          </a:prstGeom>
          <a:noFill/>
          <a:ln w="12700" cap="flat" cmpd="sng" algn="ctr">
            <a:solidFill>
              <a:srgbClr val="000000"/>
            </a:solidFill>
            <a:prstDash val="solid"/>
            <a:miter lim="800000"/>
          </a:ln>
          <a:effectLst/>
        </p:spPr>
      </p:cxnSp>
      <p:sp>
        <p:nvSpPr>
          <p:cNvPr id="72" name="任意多边形: 形状 71">
            <a:extLst>
              <a:ext uri="{FF2B5EF4-FFF2-40B4-BE49-F238E27FC236}">
                <a16:creationId xmlns:a16="http://schemas.microsoft.com/office/drawing/2014/main" id="{A669D2A0-E221-4AB9-8E0C-C816802CF518}"/>
              </a:ext>
            </a:extLst>
          </p:cNvPr>
          <p:cNvSpPr/>
          <p:nvPr/>
        </p:nvSpPr>
        <p:spPr>
          <a:xfrm>
            <a:off x="724910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w="12700" cap="flat" cmpd="sng" algn="ctr">
            <a:solidFill>
              <a:srgbClr val="2980B9"/>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73" name="直接连接符 72">
            <a:extLst>
              <a:ext uri="{FF2B5EF4-FFF2-40B4-BE49-F238E27FC236}">
                <a16:creationId xmlns:a16="http://schemas.microsoft.com/office/drawing/2014/main" id="{67F0F251-7498-4410-AEDB-845D1F791C99}"/>
              </a:ext>
            </a:extLst>
          </p:cNvPr>
          <p:cNvCxnSpPr>
            <a:cxnSpLocks/>
          </p:cNvCxnSpPr>
          <p:nvPr/>
        </p:nvCxnSpPr>
        <p:spPr>
          <a:xfrm>
            <a:off x="7712890" y="5682609"/>
            <a:ext cx="2628000" cy="0"/>
          </a:xfrm>
          <a:prstGeom prst="line">
            <a:avLst/>
          </a:prstGeom>
          <a:noFill/>
          <a:ln w="12700" cap="flat" cmpd="sng" algn="ctr">
            <a:solidFill>
              <a:srgbClr val="000000"/>
            </a:solidFill>
            <a:prstDash val="solid"/>
            <a:miter lim="800000"/>
          </a:ln>
          <a:effectLst/>
        </p:spPr>
      </p:cxnSp>
      <p:sp>
        <p:nvSpPr>
          <p:cNvPr id="74" name="文本框 73">
            <a:extLst>
              <a:ext uri="{FF2B5EF4-FFF2-40B4-BE49-F238E27FC236}">
                <a16:creationId xmlns:a16="http://schemas.microsoft.com/office/drawing/2014/main" id="{2F181D5F-7799-4A83-B69B-FBC1FF99A10B}"/>
              </a:ext>
            </a:extLst>
          </p:cNvPr>
          <p:cNvSpPr txBox="1"/>
          <p:nvPr/>
        </p:nvSpPr>
        <p:spPr>
          <a:xfrm>
            <a:off x="7721352" y="5146147"/>
            <a:ext cx="2627993" cy="369332"/>
          </a:xfrm>
          <a:prstGeom prst="rect">
            <a:avLst/>
          </a:prstGeom>
          <a:noFill/>
        </p:spPr>
        <p:txBody>
          <a:bodyPr wrap="square" rtlCol="0">
            <a:spAutoFit/>
          </a:bodyPr>
          <a:lstStyle/>
          <a:p>
            <a:pPr algn="ctr"/>
            <a:r>
              <a:rPr lang="en-US" altLang="zh-CN" dirty="0">
                <a:solidFill>
                  <a:srgbClr val="2980B9"/>
                </a:solidFill>
                <a:ea typeface="微软雅黑"/>
              </a:rPr>
              <a:t>Local Variables</a:t>
            </a:r>
          </a:p>
        </p:txBody>
      </p:sp>
      <p:sp>
        <p:nvSpPr>
          <p:cNvPr id="75" name="文本框 74">
            <a:extLst>
              <a:ext uri="{FF2B5EF4-FFF2-40B4-BE49-F238E27FC236}">
                <a16:creationId xmlns:a16="http://schemas.microsoft.com/office/drawing/2014/main" id="{8F2A9D46-D021-42D9-AE45-772CB331BFAB}"/>
              </a:ext>
            </a:extLst>
          </p:cNvPr>
          <p:cNvSpPr txBox="1"/>
          <p:nvPr/>
        </p:nvSpPr>
        <p:spPr>
          <a:xfrm>
            <a:off x="7699650" y="4560151"/>
            <a:ext cx="2627993" cy="369332"/>
          </a:xfrm>
          <a:prstGeom prst="rect">
            <a:avLst/>
          </a:prstGeom>
          <a:noFill/>
        </p:spPr>
        <p:txBody>
          <a:bodyPr wrap="square" rtlCol="0">
            <a:spAutoFit/>
          </a:bodyPr>
          <a:lstStyle/>
          <a:p>
            <a:pPr algn="ctr"/>
            <a:r>
              <a:rPr lang="en-US" altLang="zh-CN" dirty="0">
                <a:solidFill>
                  <a:srgbClr val="16A085"/>
                </a:solidFill>
                <a:ea typeface="微软雅黑"/>
              </a:rPr>
              <a:t>Stack Canary</a:t>
            </a:r>
          </a:p>
        </p:txBody>
      </p:sp>
      <p:cxnSp>
        <p:nvCxnSpPr>
          <p:cNvPr id="76" name="直接连接符 75">
            <a:extLst>
              <a:ext uri="{FF2B5EF4-FFF2-40B4-BE49-F238E27FC236}">
                <a16:creationId xmlns:a16="http://schemas.microsoft.com/office/drawing/2014/main" id="{60DF027A-02F1-40EB-8834-62D2E669AA0A}"/>
              </a:ext>
            </a:extLst>
          </p:cNvPr>
          <p:cNvCxnSpPr>
            <a:cxnSpLocks/>
          </p:cNvCxnSpPr>
          <p:nvPr/>
        </p:nvCxnSpPr>
        <p:spPr>
          <a:xfrm>
            <a:off x="7698750" y="4959502"/>
            <a:ext cx="2628000" cy="0"/>
          </a:xfrm>
          <a:prstGeom prst="line">
            <a:avLst/>
          </a:prstGeom>
          <a:noFill/>
          <a:ln w="12700" cap="flat" cmpd="sng" algn="ctr">
            <a:solidFill>
              <a:srgbClr val="000000"/>
            </a:solidFill>
            <a:prstDash val="solid"/>
            <a:miter lim="800000"/>
          </a:ln>
          <a:effectLst/>
        </p:spPr>
      </p:cxnSp>
      <p:sp>
        <p:nvSpPr>
          <p:cNvPr id="77" name="文本框 76">
            <a:extLst>
              <a:ext uri="{FF2B5EF4-FFF2-40B4-BE49-F238E27FC236}">
                <a16:creationId xmlns:a16="http://schemas.microsoft.com/office/drawing/2014/main" id="{C4D35E94-1B38-40CD-9EE4-AC61A5A7C77B}"/>
              </a:ext>
            </a:extLst>
          </p:cNvPr>
          <p:cNvSpPr txBox="1"/>
          <p:nvPr/>
        </p:nvSpPr>
        <p:spPr>
          <a:xfrm>
            <a:off x="10950764" y="5497943"/>
            <a:ext cx="920578" cy="369332"/>
          </a:xfrm>
          <a:prstGeom prst="rect">
            <a:avLst/>
          </a:prstGeom>
          <a:noFill/>
        </p:spPr>
        <p:txBody>
          <a:bodyPr wrap="square" rtlCol="0">
            <a:spAutoFit/>
          </a:bodyPr>
          <a:lstStyle/>
          <a:p>
            <a:pPr algn="ctr"/>
            <a:r>
              <a:rPr lang="en-US" altLang="zh-CN" dirty="0">
                <a:solidFill>
                  <a:srgbClr val="000000"/>
                </a:solidFill>
                <a:ea typeface="微软雅黑"/>
              </a:rPr>
              <a:t>stdin</a:t>
            </a:r>
            <a:endParaRPr lang="zh-CN" altLang="en-US" dirty="0">
              <a:solidFill>
                <a:srgbClr val="000000"/>
              </a:solidFill>
              <a:ea typeface="微软雅黑"/>
            </a:endParaRPr>
          </a:p>
        </p:txBody>
      </p:sp>
      <p:cxnSp>
        <p:nvCxnSpPr>
          <p:cNvPr id="78" name="直接箭头连接符 77">
            <a:extLst>
              <a:ext uri="{FF2B5EF4-FFF2-40B4-BE49-F238E27FC236}">
                <a16:creationId xmlns:a16="http://schemas.microsoft.com/office/drawing/2014/main" id="{3962A872-0F78-45CD-98AB-C2651602CC72}"/>
              </a:ext>
            </a:extLst>
          </p:cNvPr>
          <p:cNvCxnSpPr/>
          <p:nvPr/>
        </p:nvCxnSpPr>
        <p:spPr>
          <a:xfrm flipH="1">
            <a:off x="10395332" y="5682609"/>
            <a:ext cx="665602" cy="0"/>
          </a:xfrm>
          <a:prstGeom prst="straightConnector1">
            <a:avLst/>
          </a:prstGeom>
          <a:noFill/>
          <a:ln w="12700" cap="flat" cmpd="sng" algn="ctr">
            <a:solidFill>
              <a:srgbClr val="000000"/>
            </a:solidFill>
            <a:prstDash val="solid"/>
            <a:miter lim="800000"/>
            <a:tailEnd type="triangle"/>
          </a:ln>
          <a:effectLst/>
        </p:spPr>
      </p:cxnSp>
      <p:grpSp>
        <p:nvGrpSpPr>
          <p:cNvPr id="79" name="组合 78">
            <a:extLst>
              <a:ext uri="{FF2B5EF4-FFF2-40B4-BE49-F238E27FC236}">
                <a16:creationId xmlns:a16="http://schemas.microsoft.com/office/drawing/2014/main" id="{19A1AE1C-F37C-4E93-A75A-28132E6C2ABD}"/>
              </a:ext>
            </a:extLst>
          </p:cNvPr>
          <p:cNvGrpSpPr/>
          <p:nvPr/>
        </p:nvGrpSpPr>
        <p:grpSpPr>
          <a:xfrm>
            <a:off x="7710852" y="3595752"/>
            <a:ext cx="2629016" cy="2069441"/>
            <a:chOff x="7710852" y="3595752"/>
            <a:chExt cx="2629016" cy="2069441"/>
          </a:xfrm>
        </p:grpSpPr>
        <p:sp>
          <p:nvSpPr>
            <p:cNvPr id="80" name="矩形 79">
              <a:extLst>
                <a:ext uri="{FF2B5EF4-FFF2-40B4-BE49-F238E27FC236}">
                  <a16:creationId xmlns:a16="http://schemas.microsoft.com/office/drawing/2014/main" id="{D29C2CA5-D051-4A78-824D-4860DDD74CCB}"/>
                </a:ext>
              </a:extLst>
            </p:cNvPr>
            <p:cNvSpPr/>
            <p:nvPr/>
          </p:nvSpPr>
          <p:spPr>
            <a:xfrm>
              <a:off x="7710934" y="4042947"/>
              <a:ext cx="2628934" cy="1622246"/>
            </a:xfrm>
            <a:prstGeom prst="rect">
              <a:avLst/>
            </a:prstGeom>
            <a:solidFill>
              <a:srgbClr val="0070C0"/>
            </a:solidFill>
            <a:ln w="190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a:ea typeface="微软雅黑"/>
                  <a:cs typeface="+mn-cs"/>
                </a:rPr>
                <a:t>Padding Payload</a:t>
              </a: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cxnSp>
          <p:nvCxnSpPr>
            <p:cNvPr id="81" name="直接连接符 80">
              <a:extLst>
                <a:ext uri="{FF2B5EF4-FFF2-40B4-BE49-F238E27FC236}">
                  <a16:creationId xmlns:a16="http://schemas.microsoft.com/office/drawing/2014/main" id="{55B8B197-0497-4553-A9A0-47495F8A0FCC}"/>
                </a:ext>
              </a:extLst>
            </p:cNvPr>
            <p:cNvCxnSpPr>
              <a:cxnSpLocks/>
            </p:cNvCxnSpPr>
            <p:nvPr/>
          </p:nvCxnSpPr>
          <p:spPr>
            <a:xfrm>
              <a:off x="7710852" y="4058317"/>
              <a:ext cx="2628000" cy="0"/>
            </a:xfrm>
            <a:prstGeom prst="line">
              <a:avLst/>
            </a:prstGeom>
            <a:noFill/>
            <a:ln w="12700" cap="flat" cmpd="sng" algn="ctr">
              <a:solidFill>
                <a:srgbClr val="FFFFFF"/>
              </a:solidFill>
              <a:prstDash val="solid"/>
              <a:miter lim="800000"/>
            </a:ln>
            <a:effectLst/>
          </p:spPr>
        </p:cxnSp>
        <p:sp>
          <p:nvSpPr>
            <p:cNvPr id="82" name="矩形 81">
              <a:extLst>
                <a:ext uri="{FF2B5EF4-FFF2-40B4-BE49-F238E27FC236}">
                  <a16:creationId xmlns:a16="http://schemas.microsoft.com/office/drawing/2014/main" id="{574A4865-D65E-4236-B7A7-9DF1D50C06C1}"/>
                </a:ext>
              </a:extLst>
            </p:cNvPr>
            <p:cNvSpPr/>
            <p:nvPr/>
          </p:nvSpPr>
          <p:spPr>
            <a:xfrm>
              <a:off x="7710852" y="3595752"/>
              <a:ext cx="2628934" cy="447444"/>
            </a:xfrm>
            <a:prstGeom prst="rect">
              <a:avLst/>
            </a:prstGeom>
            <a:solidFill>
              <a:srgbClr val="0070C0"/>
            </a:solidFill>
            <a:ln w="19050" cap="flat" cmpd="sng" algn="ctr">
              <a:solidFill>
                <a:srgbClr val="0070C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a:ea typeface="微软雅黑"/>
                  <a:cs typeface="+mn-cs"/>
                </a:rPr>
                <a:t>Fake Return Address</a:t>
              </a: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grpSp>
      <p:grpSp>
        <p:nvGrpSpPr>
          <p:cNvPr id="83" name="组合 82">
            <a:extLst>
              <a:ext uri="{FF2B5EF4-FFF2-40B4-BE49-F238E27FC236}">
                <a16:creationId xmlns:a16="http://schemas.microsoft.com/office/drawing/2014/main" id="{54DC5BB4-0E54-4A8A-A40C-2E5B4FF44A1E}"/>
              </a:ext>
            </a:extLst>
          </p:cNvPr>
          <p:cNvGrpSpPr/>
          <p:nvPr/>
        </p:nvGrpSpPr>
        <p:grpSpPr>
          <a:xfrm>
            <a:off x="10465032" y="4364291"/>
            <a:ext cx="1726967" cy="646331"/>
            <a:chOff x="10465032" y="4364291"/>
            <a:chExt cx="1726967" cy="646331"/>
          </a:xfrm>
        </p:grpSpPr>
        <p:sp>
          <p:nvSpPr>
            <p:cNvPr id="84" name="文本框 83">
              <a:extLst>
                <a:ext uri="{FF2B5EF4-FFF2-40B4-BE49-F238E27FC236}">
                  <a16:creationId xmlns:a16="http://schemas.microsoft.com/office/drawing/2014/main" id="{422234FE-91AB-4E9B-9C6D-6D04B8A61962}"/>
                </a:ext>
              </a:extLst>
            </p:cNvPr>
            <p:cNvSpPr txBox="1"/>
            <p:nvPr/>
          </p:nvSpPr>
          <p:spPr>
            <a:xfrm>
              <a:off x="10779989" y="4364291"/>
              <a:ext cx="141201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16A085"/>
                  </a:solidFill>
                  <a:effectLst/>
                  <a:uLnTx/>
                  <a:uFillTx/>
                  <a:ea typeface="微软雅黑"/>
                </a:rPr>
                <a:t>Predefined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16A085"/>
                  </a:solidFill>
                  <a:effectLst/>
                  <a:uLnTx/>
                  <a:uFillTx/>
                  <a:ea typeface="微软雅黑"/>
                </a:rPr>
                <a:t>Canary</a:t>
              </a:r>
              <a:endParaRPr kumimoji="0" lang="zh-CN" altLang="en-US" sz="1800" b="0" i="0" u="none" strike="noStrike" kern="0" cap="none" spc="0" normalizeH="0" baseline="0" noProof="0" dirty="0">
                <a:ln>
                  <a:noFill/>
                </a:ln>
                <a:solidFill>
                  <a:srgbClr val="16A085"/>
                </a:solidFill>
                <a:effectLst/>
                <a:uLnTx/>
                <a:uFillTx/>
                <a:ea typeface="微软雅黑"/>
              </a:endParaRPr>
            </a:p>
          </p:txBody>
        </p:sp>
        <p:cxnSp>
          <p:nvCxnSpPr>
            <p:cNvPr id="85" name="直接箭头连接符 84">
              <a:extLst>
                <a:ext uri="{FF2B5EF4-FFF2-40B4-BE49-F238E27FC236}">
                  <a16:creationId xmlns:a16="http://schemas.microsoft.com/office/drawing/2014/main" id="{DC3D67A8-C7B1-4F7C-B5C2-49B35F46A876}"/>
                </a:ext>
              </a:extLst>
            </p:cNvPr>
            <p:cNvCxnSpPr/>
            <p:nvPr/>
          </p:nvCxnSpPr>
          <p:spPr>
            <a:xfrm flipH="1">
              <a:off x="10465032" y="4696691"/>
              <a:ext cx="463137" cy="0"/>
            </a:xfrm>
            <a:prstGeom prst="straightConnector1">
              <a:avLst/>
            </a:prstGeom>
            <a:noFill/>
            <a:ln w="12700" cap="flat" cmpd="sng" algn="ctr">
              <a:solidFill>
                <a:srgbClr val="16A085"/>
              </a:solidFill>
              <a:prstDash val="solid"/>
              <a:miter lim="800000"/>
              <a:tailEnd type="triangle"/>
            </a:ln>
            <a:effectLst/>
          </p:spPr>
        </p:cxnSp>
      </p:grpSp>
      <p:grpSp>
        <p:nvGrpSpPr>
          <p:cNvPr id="86" name="组合 85">
            <a:extLst>
              <a:ext uri="{FF2B5EF4-FFF2-40B4-BE49-F238E27FC236}">
                <a16:creationId xmlns:a16="http://schemas.microsoft.com/office/drawing/2014/main" id="{39D99516-9550-43A4-B08D-E02E439A588B}"/>
              </a:ext>
            </a:extLst>
          </p:cNvPr>
          <p:cNvGrpSpPr/>
          <p:nvPr/>
        </p:nvGrpSpPr>
        <p:grpSpPr>
          <a:xfrm>
            <a:off x="10465033" y="4358653"/>
            <a:ext cx="1726967" cy="646331"/>
            <a:chOff x="10465033" y="3579154"/>
            <a:chExt cx="1726967" cy="646331"/>
          </a:xfrm>
        </p:grpSpPr>
        <p:sp>
          <p:nvSpPr>
            <p:cNvPr id="87" name="文本框 86">
              <a:extLst>
                <a:ext uri="{FF2B5EF4-FFF2-40B4-BE49-F238E27FC236}">
                  <a16:creationId xmlns:a16="http://schemas.microsoft.com/office/drawing/2014/main" id="{19C34646-E339-438A-98C5-7B2284685A96}"/>
                </a:ext>
              </a:extLst>
            </p:cNvPr>
            <p:cNvSpPr txBox="1"/>
            <p:nvPr/>
          </p:nvSpPr>
          <p:spPr>
            <a:xfrm>
              <a:off x="10779990" y="3579154"/>
              <a:ext cx="1412010" cy="64633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ea typeface="微软雅黑"/>
                </a:rPr>
                <a:t>Changed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C00000"/>
                  </a:solidFill>
                  <a:effectLst/>
                  <a:uLnTx/>
                  <a:uFillTx/>
                  <a:ea typeface="微软雅黑"/>
                </a:rPr>
                <a:t>Canary</a:t>
              </a:r>
              <a:endParaRPr kumimoji="0" lang="zh-CN" altLang="en-US" sz="1800" b="0" i="0" u="none" strike="noStrike" kern="0" cap="none" spc="0" normalizeH="0" baseline="0" noProof="0" dirty="0">
                <a:ln>
                  <a:noFill/>
                </a:ln>
                <a:solidFill>
                  <a:srgbClr val="C00000"/>
                </a:solidFill>
                <a:effectLst/>
                <a:uLnTx/>
                <a:uFillTx/>
                <a:ea typeface="微软雅黑"/>
              </a:endParaRPr>
            </a:p>
          </p:txBody>
        </p:sp>
        <p:cxnSp>
          <p:nvCxnSpPr>
            <p:cNvPr id="88" name="直接箭头连接符 87">
              <a:extLst>
                <a:ext uri="{FF2B5EF4-FFF2-40B4-BE49-F238E27FC236}">
                  <a16:creationId xmlns:a16="http://schemas.microsoft.com/office/drawing/2014/main" id="{F518977B-2FAA-4B4D-A139-E578201DC52C}"/>
                </a:ext>
              </a:extLst>
            </p:cNvPr>
            <p:cNvCxnSpPr/>
            <p:nvPr/>
          </p:nvCxnSpPr>
          <p:spPr>
            <a:xfrm flipH="1">
              <a:off x="10465033" y="3911554"/>
              <a:ext cx="463137" cy="0"/>
            </a:xfrm>
            <a:prstGeom prst="straightConnector1">
              <a:avLst/>
            </a:prstGeom>
            <a:noFill/>
            <a:ln w="12700" cap="flat" cmpd="sng" algn="ctr">
              <a:solidFill>
                <a:srgbClr val="C00000"/>
              </a:solidFill>
              <a:prstDash val="solid"/>
              <a:miter lim="800000"/>
              <a:tailEnd type="triangle"/>
            </a:ln>
            <a:effectLst/>
          </p:spPr>
        </p:cxnSp>
      </p:grpSp>
      <p:sp>
        <p:nvSpPr>
          <p:cNvPr id="49" name="文本框 48">
            <a:extLst>
              <a:ext uri="{FF2B5EF4-FFF2-40B4-BE49-F238E27FC236}">
                <a16:creationId xmlns:a16="http://schemas.microsoft.com/office/drawing/2014/main" id="{3EFE2E88-9371-4C06-8BEF-69F198C76E00}"/>
              </a:ext>
            </a:extLst>
          </p:cNvPr>
          <p:cNvSpPr txBox="1"/>
          <p:nvPr/>
        </p:nvSpPr>
        <p:spPr>
          <a:xfrm>
            <a:off x="331503" y="2916222"/>
            <a:ext cx="6634519" cy="961289"/>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其本質是，在保存的棧幀基地址（</a:t>
            </a:r>
            <a:r>
              <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EBP</a:t>
            </a:r>
            <a:r>
              <a:rPr kumimoji="1" lang="zh-CN" altLang="en-US"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）之後插入一段信息，當函數返回時驗證這段信息是否被修改過</a:t>
            </a:r>
            <a:endParaRPr kumimoji="1" lang="en-US" altLang="zh-CN" sz="20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0" name="文本框 14">
            <a:extLst>
              <a:ext uri="{FF2B5EF4-FFF2-40B4-BE49-F238E27FC236}">
                <a16:creationId xmlns:a16="http://schemas.microsoft.com/office/drawing/2014/main" id="{03C1F561-651E-4B9F-8EC7-12DF47D66869}"/>
              </a:ext>
            </a:extLst>
          </p:cNvPr>
          <p:cNvSpPr txBox="1"/>
          <p:nvPr/>
        </p:nvSpPr>
        <p:spPr>
          <a:xfrm>
            <a:off x="561974" y="4801315"/>
            <a:ext cx="6404049" cy="973472"/>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當發生棧區溢出時，攻擊者爲了修改返回地址，必須先覆蓋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，造成攻擊行爲暴露</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lide Number Placeholder 7">
            <a:extLst>
              <a:ext uri="{FF2B5EF4-FFF2-40B4-BE49-F238E27FC236}">
                <a16:creationId xmlns:a16="http://schemas.microsoft.com/office/drawing/2014/main" id="{6F26497D-EB40-08A6-18EA-0437F8047A7B}"/>
              </a:ext>
            </a:extLst>
          </p:cNvPr>
          <p:cNvSpPr txBox="1">
            <a:spLocks/>
          </p:cNvSpPr>
          <p:nvPr/>
        </p:nvSpPr>
        <p:spPr>
          <a:xfrm>
            <a:off x="873760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60</a:t>
            </a:fld>
            <a:endParaRPr lang="zh-CN" altLang="en-US" sz="1200" dirty="0">
              <a:solidFill>
                <a:schemeClr val="tx1">
                  <a:tint val="75000"/>
                </a:schemeClr>
              </a:solidFill>
            </a:endParaRPr>
          </a:p>
        </p:txBody>
      </p:sp>
    </p:spTree>
    <p:extLst>
      <p:ext uri="{BB962C8B-B14F-4D97-AF65-F5344CB8AC3E}">
        <p14:creationId xmlns:p14="http://schemas.microsoft.com/office/powerpoint/2010/main" val="267953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down)">
                                      <p:cBhvr>
                                        <p:cTn id="7" dur="500"/>
                                        <p:tgtEl>
                                          <p:spTgt spid="79"/>
                                        </p:tgtEl>
                                      </p:cBhvr>
                                    </p:animEffect>
                                  </p:childTnLst>
                                </p:cTn>
                              </p:par>
                            </p:childTnLst>
                          </p:cTn>
                        </p:par>
                        <p:par>
                          <p:cTn id="8" fill="hold">
                            <p:stCondLst>
                              <p:cond delay="500"/>
                            </p:stCondLst>
                            <p:childTnLst>
                              <p:par>
                                <p:cTn id="9" presetID="1" presetClass="exit" presetSubtype="0" fill="hold" nodeType="afterEffect">
                                  <p:stCondLst>
                                    <p:cond delay="0"/>
                                  </p:stCondLst>
                                  <p:childTnLst>
                                    <p:set>
                                      <p:cBhvr>
                                        <p:cTn id="10" dur="1" fill="hold">
                                          <p:stCondLst>
                                            <p:cond delay="0"/>
                                          </p:stCondLst>
                                        </p:cTn>
                                        <p:tgtEl>
                                          <p:spTgt spid="83"/>
                                        </p:tgtEl>
                                        <p:attrNameLst>
                                          <p:attrName>style.visibility</p:attrName>
                                        </p:attrNameLst>
                                      </p:cBhvr>
                                      <p:to>
                                        <p:strVal val="hidden"/>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023850" cy="2677656"/>
          </a:xfrm>
          <a:prstGeom prst="rect">
            <a:avLst/>
          </a:prstGeom>
          <a:noFill/>
        </p:spPr>
        <p:txBody>
          <a:bodyPr wrap="square" rtlCol="0">
            <a:spAutoFit/>
          </a:bodyPr>
          <a:lstStyle/>
          <a:p>
            <a:pPr marR="0" lvl="0" algn="just" defTabSz="914400" rtl="0" eaLnBrk="1" fontAlgn="auto" latinLnBrk="0" hangingPunct="1">
              <a:lnSpc>
                <a:spcPct val="100000"/>
              </a:lnSpc>
              <a:spcBef>
                <a:spcPts val="0"/>
              </a:spcBef>
              <a:spcAft>
                <a:spcPts val="0"/>
              </a:spcAft>
              <a:buClrTx/>
              <a:buSzTx/>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SMAP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SMEP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是兩種基礎的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內存隔離技術</a:t>
            </a:r>
            <a:endPar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ct val="100000"/>
              </a:lnSpc>
              <a:spcBef>
                <a:spcPts val="0"/>
              </a:spcBef>
              <a:spcAft>
                <a:spcPts val="0"/>
              </a:spcAft>
              <a:buClrTx/>
              <a:buSzTx/>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SMAP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Supervisor Mode Access Prevention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，管理模式訪問保護）禁止內核訪問用戶空間的數據</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SMEP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Supervisor Mode Execution Prevention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，管理模式執行保護）禁止內核執行用戶空間代碼</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，是預防</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權限提升</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Privilege Escalation</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）的重要機制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0452FDE8-C6C9-4A0A-A3F6-8E43CF18239D}"/>
              </a:ext>
            </a:extLst>
          </p:cNvPr>
          <p:cNvSpPr>
            <a:spLocks noGrp="1"/>
          </p:cNvSpPr>
          <p:nvPr>
            <p:ph type="title"/>
          </p:nvPr>
        </p:nvSpPr>
        <p:spPr/>
        <p:txBody>
          <a:bodyPr/>
          <a:lstStyle/>
          <a:p>
            <a:r>
              <a:rPr lang="zh-CN" altLang="en-US" dirty="0"/>
              <a:t>內存防禦技術：</a:t>
            </a:r>
            <a:r>
              <a:rPr lang="en-US" altLang="zh-CN" dirty="0"/>
              <a:t>SMAP, SMEP</a:t>
            </a:r>
            <a:endParaRPr lang="zh-CN" altLang="en-US" dirty="0"/>
          </a:p>
        </p:txBody>
      </p:sp>
      <p:sp>
        <p:nvSpPr>
          <p:cNvPr id="9" name="矩形 8">
            <a:extLst>
              <a:ext uri="{FF2B5EF4-FFF2-40B4-BE49-F238E27FC236}">
                <a16:creationId xmlns:a16="http://schemas.microsoft.com/office/drawing/2014/main" id="{DE268D73-4A68-4F7B-A6EC-F8A0666EF396}"/>
              </a:ext>
            </a:extLst>
          </p:cNvPr>
          <p:cNvSpPr>
            <a:spLocks/>
          </p:cNvSpPr>
          <p:nvPr/>
        </p:nvSpPr>
        <p:spPr bwMode="auto">
          <a:xfrm>
            <a:off x="2211558" y="5072777"/>
            <a:ext cx="8062059" cy="76643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10" name="文本框 9">
            <a:extLst>
              <a:ext uri="{FF2B5EF4-FFF2-40B4-BE49-F238E27FC236}">
                <a16:creationId xmlns:a16="http://schemas.microsoft.com/office/drawing/2014/main" id="{29478CD6-2B78-4BCD-8882-87C818F5C2ED}"/>
              </a:ext>
            </a:extLst>
          </p:cNvPr>
          <p:cNvSpPr txBox="1"/>
          <p:nvPr/>
        </p:nvSpPr>
        <p:spPr>
          <a:xfrm>
            <a:off x="2670479" y="5198948"/>
            <a:ext cx="7196179" cy="497316"/>
          </a:xfrm>
          <a:prstGeom prst="rect">
            <a:avLst/>
          </a:prstGeom>
          <a:noFill/>
        </p:spPr>
        <p:txBody>
          <a:bodyPr wrap="square" rtlCol="0">
            <a:spAutoFit/>
          </a:bodyPr>
          <a:lstStyle/>
          <a:p>
            <a:pPr algn="ctr">
              <a:lnSpc>
                <a:spcPct val="120000"/>
              </a:lnSpc>
              <a:spcAft>
                <a:spcPts val="600"/>
              </a:spcAft>
            </a:pP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SMAP/SMEP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和 </a:t>
            </a:r>
            <a:r>
              <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rPr>
              <a:t>W^X </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均需要處理器硬件的支持</a:t>
            </a:r>
            <a:endParaRPr lang="en-US" altLang="zh-CN" sz="2400" dirty="0"/>
          </a:p>
        </p:txBody>
      </p:sp>
      <p:sp>
        <p:nvSpPr>
          <p:cNvPr id="4" name="Slide Number Placeholder 7">
            <a:extLst>
              <a:ext uri="{FF2B5EF4-FFF2-40B4-BE49-F238E27FC236}">
                <a16:creationId xmlns:a16="http://schemas.microsoft.com/office/drawing/2014/main" id="{9488AD5B-818B-1D30-B36C-871178276F4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61</a:t>
            </a:fld>
            <a:endParaRPr lang="zh-CN" altLang="en-US" sz="1200" dirty="0">
              <a:solidFill>
                <a:schemeClr val="tx1">
                  <a:tint val="75000"/>
                </a:schemeClr>
              </a:solidFill>
            </a:endParaRPr>
          </a:p>
        </p:txBody>
      </p:sp>
    </p:spTree>
    <p:extLst>
      <p:ext uri="{BB962C8B-B14F-4D97-AF65-F5344CB8AC3E}">
        <p14:creationId xmlns:p14="http://schemas.microsoft.com/office/powerpoint/2010/main" val="37842323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345191"/>
            <a:ext cx="11350085" cy="374346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雖然操作系統提供了大量防禦內存攻擊的方案，但這些防禦方案仍可以被攻擊者挫敗或繞過：</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，作爲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的內容可能被泄露給攻擊者，或被暴力枚舉破解</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已有去隨機化方案，泄露內存分布信息</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2,3</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在第三節將介紹</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等進程控制流劫持方案亦可以繞過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的保護機制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345F91B7-CAAE-4DB8-9164-B7D27ACFCD9A}"/>
              </a:ext>
            </a:extLst>
          </p:cNvPr>
          <p:cNvSpPr>
            <a:spLocks noGrp="1"/>
          </p:cNvSpPr>
          <p:nvPr>
            <p:ph type="title"/>
          </p:nvPr>
        </p:nvSpPr>
        <p:spPr/>
        <p:txBody>
          <a:bodyPr/>
          <a:lstStyle/>
          <a:p>
            <a:r>
              <a:rPr lang="zh-CN" altLang="en-US" dirty="0"/>
              <a:t>內存防禦技術總結</a:t>
            </a:r>
          </a:p>
        </p:txBody>
      </p:sp>
      <p:cxnSp>
        <p:nvCxnSpPr>
          <p:cNvPr id="6" name="直接连接符 5">
            <a:extLst>
              <a:ext uri="{FF2B5EF4-FFF2-40B4-BE49-F238E27FC236}">
                <a16:creationId xmlns:a16="http://schemas.microsoft.com/office/drawing/2014/main" id="{55FB8590-DD75-45EF-A0FC-B25EC9C753FB}"/>
              </a:ext>
            </a:extLst>
          </p:cNvPr>
          <p:cNvCxnSpPr>
            <a:cxnSpLocks/>
          </p:cNvCxnSpPr>
          <p:nvPr/>
        </p:nvCxnSpPr>
        <p:spPr>
          <a:xfrm>
            <a:off x="561975" y="5577102"/>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14">
            <a:extLst>
              <a:ext uri="{FF2B5EF4-FFF2-40B4-BE49-F238E27FC236}">
                <a16:creationId xmlns:a16="http://schemas.microsoft.com/office/drawing/2014/main" id="{CCFD0751-6641-4CEA-94C0-40AF94F08CB3}"/>
              </a:ext>
            </a:extLst>
          </p:cNvPr>
          <p:cNvSpPr txBox="1"/>
          <p:nvPr/>
        </p:nvSpPr>
        <p:spPr>
          <a:xfrm>
            <a:off x="561974" y="5602263"/>
            <a:ext cx="11044215" cy="1169551"/>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Wei Wu, et al. "KEPLER: Facilitating Control-flow Hijacking Primitive Evaluation for Linux Kernel Vulnerabilities." 28th USENIX Security Symposium</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Daniel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Gruss</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"Prefetch side-channel attacks: Bypassing SMAP and kernel ASLR." Proceedings of the 2016 ACM SIGSAC conference on computer and communications security.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Ben Gras, et al. "ASLR on the Line: Practical Cache Attacks on the MMU." NDSS. Vol. 17. 2017.</a:t>
            </a:r>
            <a:endParaRPr kumimoji="1" lang="en-US" altLang="zh-CN" sz="14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Slide Number Placeholder 7">
            <a:extLst>
              <a:ext uri="{FF2B5EF4-FFF2-40B4-BE49-F238E27FC236}">
                <a16:creationId xmlns:a16="http://schemas.microsoft.com/office/drawing/2014/main" id="{FC5F82E0-FDD2-AB85-3431-DBDDF31C3DB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62</a:t>
            </a:fld>
            <a:endParaRPr lang="zh-CN" altLang="en-US" sz="1200" dirty="0">
              <a:solidFill>
                <a:schemeClr val="tx1">
                  <a:tint val="75000"/>
                </a:schemeClr>
              </a:solidFill>
            </a:endParaRPr>
          </a:p>
        </p:txBody>
      </p:sp>
    </p:spTree>
    <p:extLst>
      <p:ext uri="{BB962C8B-B14F-4D97-AF65-F5344CB8AC3E}">
        <p14:creationId xmlns:p14="http://schemas.microsoft.com/office/powerpoint/2010/main" val="38528409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4A2B6-5226-4B8F-8640-653AB5CF2580}"/>
              </a:ext>
            </a:extLst>
          </p:cNvPr>
          <p:cNvSpPr>
            <a:spLocks noGrp="1"/>
          </p:cNvSpPr>
          <p:nvPr>
            <p:ph type="title"/>
          </p:nvPr>
        </p:nvSpPr>
        <p:spPr/>
        <p:txBody>
          <a:bodyPr>
            <a:normAutofit/>
          </a:bodyPr>
          <a:lstStyle/>
          <a:p>
            <a:r>
              <a:rPr lang="zh-CN" altLang="en-US" dirty="0"/>
              <a:t>本節相關的前沿研究工作</a:t>
            </a: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10" y="1193531"/>
            <a:ext cx="11253288" cy="4616648"/>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對于堆區管理安全：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0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GUARDER: A Tunable Secure Allocator</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提出一種安全的堆區分配方案，</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設計安全的堆管理算法</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一直是長時間來難以解决的問題</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對于棧區管理安全：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0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Bounds Protection with Low Fat Pointers</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新型棧區內存邊界保護</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方案，出發點與</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類似，均爲</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保護棧幀邊界</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防止</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返回地址篡改</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內存保護方案的安全性依賴于微處理器架構安全：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0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 on the Line: Practical Cache Attacks on the MMU</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是一種基于</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微處理器架構側信道</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方案的去除</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隨機地址浮動攻擊</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 name="直接连接符 5">
            <a:extLst>
              <a:ext uri="{FF2B5EF4-FFF2-40B4-BE49-F238E27FC236}">
                <a16:creationId xmlns:a16="http://schemas.microsoft.com/office/drawing/2014/main" id="{9395D047-A429-4F5A-B9C3-7A82E52A661E}"/>
              </a:ext>
            </a:extLst>
          </p:cNvPr>
          <p:cNvCxnSpPr>
            <a:cxnSpLocks/>
          </p:cNvCxnSpPr>
          <p:nvPr/>
        </p:nvCxnSpPr>
        <p:spPr>
          <a:xfrm>
            <a:off x="561975" y="5947318"/>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框 14">
            <a:extLst>
              <a:ext uri="{FF2B5EF4-FFF2-40B4-BE49-F238E27FC236}">
                <a16:creationId xmlns:a16="http://schemas.microsoft.com/office/drawing/2014/main" id="{2767C20B-FDBB-4F65-8107-2D83860D637A}"/>
              </a:ext>
            </a:extLst>
          </p:cNvPr>
          <p:cNvSpPr txBox="1"/>
          <p:nvPr/>
        </p:nvSpPr>
        <p:spPr>
          <a:xfrm>
            <a:off x="560932" y="5972479"/>
            <a:ext cx="10946085" cy="73866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Sam Silvestro, et al. "Guarder: A tunable secure allocator." 27th USENIX Security Symposium, 2018.</a:t>
            </a:r>
          </a:p>
          <a:p>
            <a:pPr algn="ju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Ben Gras, et al. "ASLR on the Line: Practical Cache Attacks on the MMU." NDSS. Vol. 17. 2017. </a:t>
            </a:r>
          </a:p>
          <a:p>
            <a:pPr algn="ju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Gregory J., Duck, et al. "Stack Bounds Protection with Low Fat Pointers." NDSS. 2017.</a:t>
            </a:r>
          </a:p>
        </p:txBody>
      </p:sp>
      <p:sp>
        <p:nvSpPr>
          <p:cNvPr id="4" name="Slide Number Placeholder 7">
            <a:extLst>
              <a:ext uri="{FF2B5EF4-FFF2-40B4-BE49-F238E27FC236}">
                <a16:creationId xmlns:a16="http://schemas.microsoft.com/office/drawing/2014/main" id="{B30D7BAA-EBF1-8570-D02E-7212BF730B46}"/>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63</a:t>
            </a:fld>
            <a:endParaRPr lang="zh-CN" altLang="en-US" sz="1200" dirty="0">
              <a:solidFill>
                <a:schemeClr val="tx1">
                  <a:tint val="75000"/>
                </a:schemeClr>
              </a:solidFill>
            </a:endParaRPr>
          </a:p>
        </p:txBody>
      </p:sp>
    </p:spTree>
    <p:extLst>
      <p:ext uri="{BB962C8B-B14F-4D97-AF65-F5344CB8AC3E}">
        <p14:creationId xmlns:p14="http://schemas.microsoft.com/office/powerpoint/2010/main" val="36675901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72918"/>
            <a:ext cx="6421373"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3</a:t>
            </a:r>
            <a:r>
              <a:rPr lang="zh-CN" altLang="en-US" sz="4000" b="1" kern="100" dirty="0">
                <a:solidFill>
                  <a:prstClr val="white"/>
                </a:solidFill>
                <a:latin typeface="微软雅黑 Light"/>
                <a:ea typeface="微软雅黑 Light"/>
                <a:cs typeface="Times New Roman" panose="02020603050405020304" pitchFamily="18" charset="0"/>
              </a:rPr>
              <a:t>節 高級控制流劫持方案</a:t>
            </a: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603872"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3.1 </a:t>
            </a:r>
            <a:r>
              <a:rPr lang="zh-CN" altLang="en-US" sz="2400" b="1" dirty="0">
                <a:solidFill>
                  <a:srgbClr val="C00000"/>
                </a:solidFill>
                <a:latin typeface="Microsoft YaHei" panose="020B0503020204020204" pitchFamily="34" charset="-122"/>
                <a:ea typeface="Microsoft YaHei" panose="020B0503020204020204" pitchFamily="34" charset="-122"/>
              </a:rPr>
              <a:t>進程執行的更多細節</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3.2 </a:t>
            </a:r>
            <a:r>
              <a:rPr lang="zh-CN" altLang="en-US" sz="2400" dirty="0">
                <a:latin typeface="Microsoft YaHei" panose="020B0503020204020204" pitchFamily="34" charset="-122"/>
                <a:ea typeface="Microsoft YaHei" panose="020B0503020204020204" pitchFamily="34" charset="-122"/>
              </a:rPr>
              <a:t>面向返回地址編程</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866490"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3.3 </a:t>
            </a:r>
            <a:r>
              <a:rPr lang="zh-CN" altLang="en-US" sz="2400" dirty="0">
                <a:latin typeface="Microsoft YaHei" panose="020B0503020204020204" pitchFamily="34" charset="-122"/>
                <a:ea typeface="Microsoft YaHei" panose="020B0503020204020204" pitchFamily="34" charset="-122"/>
              </a:rPr>
              <a:t>全域偏置表劫持</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844048"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3.4 </a:t>
            </a:r>
            <a:r>
              <a:rPr lang="zh-CN" altLang="en-US" sz="2400" dirty="0">
                <a:latin typeface="Microsoft YaHei" panose="020B0503020204020204" pitchFamily="34" charset="-122"/>
                <a:ea typeface="Microsoft YaHei" panose="020B0503020204020204" pitchFamily="34" charset="-122"/>
              </a:rPr>
              <a:t>虛假</a:t>
            </a:r>
            <a:r>
              <a:rPr lang="en-US" altLang="zh-CN" sz="2400" dirty="0" err="1">
                <a:latin typeface="Microsoft YaHei" panose="020B0503020204020204" pitchFamily="34" charset="-122"/>
                <a:ea typeface="Microsoft YaHei" panose="020B0503020204020204" pitchFamily="34" charset="-122"/>
              </a:rPr>
              <a:t>vtable</a:t>
            </a:r>
            <a:r>
              <a:rPr lang="zh-CN" altLang="en-US" sz="2400" dirty="0">
                <a:latin typeface="Microsoft YaHei" panose="020B0503020204020204" pitchFamily="34" charset="-122"/>
                <a:ea typeface="Microsoft YaHei" panose="020B0503020204020204" pitchFamily="34" charset="-122"/>
              </a:rPr>
              <a:t>劫持</a:t>
            </a:r>
          </a:p>
        </p:txBody>
      </p:sp>
      <p:pic>
        <p:nvPicPr>
          <p:cNvPr id="27" name="图片 26">
            <a:extLst>
              <a:ext uri="{FF2B5EF4-FFF2-40B4-BE49-F238E27FC236}">
                <a16:creationId xmlns:a16="http://schemas.microsoft.com/office/drawing/2014/main" id="{F7DF9791-4E29-44C2-9123-58E634F474A2}"/>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7982394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421045"/>
            <a:ext cx="11253288"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下進程可處于</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內核態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或</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用戶態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，內核態下擁有更高的指令執行權限（在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Intel x86_32</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下對應</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ring0</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）用戶態下只擁有低權限（對應</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ring3</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1EF9FA9D-BAB4-4E75-965A-8E6DEF0ECCA0}"/>
              </a:ext>
            </a:extLst>
          </p:cNvPr>
          <p:cNvSpPr>
            <a:spLocks noGrp="1"/>
          </p:cNvSpPr>
          <p:nvPr>
            <p:ph type="title"/>
          </p:nvPr>
        </p:nvSpPr>
        <p:spPr/>
        <p:txBody>
          <a:bodyPr>
            <a:normAutofit/>
          </a:bodyPr>
          <a:lstStyle/>
          <a:p>
            <a:r>
              <a:rPr lang="zh-CN" altLang="en-US" dirty="0"/>
              <a:t>進程的內核態和用戶態</a:t>
            </a:r>
          </a:p>
        </p:txBody>
      </p:sp>
      <p:grpSp>
        <p:nvGrpSpPr>
          <p:cNvPr id="4" name="组合 3">
            <a:extLst>
              <a:ext uri="{FF2B5EF4-FFF2-40B4-BE49-F238E27FC236}">
                <a16:creationId xmlns:a16="http://schemas.microsoft.com/office/drawing/2014/main" id="{4783A320-DE79-4594-B3A6-D8F8C59B4A03}"/>
              </a:ext>
            </a:extLst>
          </p:cNvPr>
          <p:cNvGrpSpPr/>
          <p:nvPr/>
        </p:nvGrpSpPr>
        <p:grpSpPr>
          <a:xfrm>
            <a:off x="2123577" y="5649228"/>
            <a:ext cx="7988734" cy="786765"/>
            <a:chOff x="2123577" y="5479741"/>
            <a:chExt cx="7988734" cy="786765"/>
          </a:xfrm>
        </p:grpSpPr>
        <p:sp>
          <p:nvSpPr>
            <p:cNvPr id="7" name="矩形 6">
              <a:extLst>
                <a:ext uri="{FF2B5EF4-FFF2-40B4-BE49-F238E27FC236}">
                  <a16:creationId xmlns:a16="http://schemas.microsoft.com/office/drawing/2014/main" id="{CB1DBCBF-16E0-4E01-91DB-06B1F9A4BD60}"/>
                </a:ext>
              </a:extLst>
            </p:cNvPr>
            <p:cNvSpPr/>
            <p:nvPr/>
          </p:nvSpPr>
          <p:spPr bwMode="auto">
            <a:xfrm flipV="1">
              <a:off x="2425460" y="5479741"/>
              <a:ext cx="7418478" cy="45719"/>
            </a:xfrm>
            <a:prstGeom prst="rect">
              <a:avLst/>
            </a:prstGeom>
            <a:solidFill>
              <a:srgbClr val="4A8AF5"/>
            </a:solidFill>
            <a:ln w="38100">
              <a:noFill/>
            </a:ln>
            <a:effectLst>
              <a:outerShdw blurRad="381000" dist="190500" dir="5400000" sx="90000" sy="90000" algn="t"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180000" bIns="0" anchor="ctr"/>
            <a:lstStyle/>
            <a:p>
              <a:pPr algn="ctr">
                <a:defRPr/>
              </a:pPr>
              <a:endParaRPr kumimoji="0" lang="en-US" sz="2000" kern="0" dirty="0">
                <a:solidFill>
                  <a:srgbClr val="FFFFFF"/>
                </a:solidFill>
                <a:sym typeface="Arial" panose="020B0604020202020204" pitchFamily="34" charset="0"/>
              </a:endParaRPr>
            </a:p>
          </p:txBody>
        </p:sp>
        <p:cxnSp>
          <p:nvCxnSpPr>
            <p:cNvPr id="9" name="直线连接符 11">
              <a:extLst>
                <a:ext uri="{FF2B5EF4-FFF2-40B4-BE49-F238E27FC236}">
                  <a16:creationId xmlns:a16="http://schemas.microsoft.com/office/drawing/2014/main" id="{F4106A33-D7DC-4C73-8020-F23AAC74516D}"/>
                </a:ext>
              </a:extLst>
            </p:cNvPr>
            <p:cNvCxnSpPr>
              <a:cxnSpLocks/>
            </p:cNvCxnSpPr>
            <p:nvPr/>
          </p:nvCxnSpPr>
          <p:spPr>
            <a:xfrm>
              <a:off x="2425460" y="6266506"/>
              <a:ext cx="7489846"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F738DFBD-F35D-437B-B5AD-F0B60AA49962}"/>
                </a:ext>
              </a:extLst>
            </p:cNvPr>
            <p:cNvSpPr txBox="1"/>
            <p:nvPr/>
          </p:nvSpPr>
          <p:spPr>
            <a:xfrm>
              <a:off x="2123577" y="5636731"/>
              <a:ext cx="7988734" cy="511807"/>
            </a:xfrm>
            <a:prstGeom prst="rect">
              <a:avLst/>
            </a:prstGeom>
            <a:noFill/>
          </p:spPr>
          <p:txBody>
            <a:bodyPr wrap="square" rtlCol="0">
              <a:spAutoFit/>
            </a:bodyPr>
            <a:lstStyle/>
            <a:p>
              <a:pPr algn="ctr">
                <a:lnSpc>
                  <a:spcPts val="3600"/>
                </a:lnSpc>
                <a:defRPr/>
              </a:pP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因而也稱系統調用是</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內核空間</a:t>
              </a:r>
              <a:r>
                <a:rPr kumimoji="1" lang="zh-CN" altLang="en-US"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與</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用戶空間</a:t>
              </a:r>
              <a:r>
                <a:rPr kumimoji="1" lang="zh-CN" altLang="en-US" sz="24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的橋梁</a:t>
              </a:r>
              <a:endParaRPr kumimoji="1"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sp>
        <p:nvSpPr>
          <p:cNvPr id="11" name="矩形 10">
            <a:extLst>
              <a:ext uri="{FF2B5EF4-FFF2-40B4-BE49-F238E27FC236}">
                <a16:creationId xmlns:a16="http://schemas.microsoft.com/office/drawing/2014/main" id="{7CBC1CF3-54F1-4C41-984A-2272BBCAFCEB}"/>
              </a:ext>
            </a:extLst>
          </p:cNvPr>
          <p:cNvSpPr>
            <a:spLocks/>
          </p:cNvSpPr>
          <p:nvPr/>
        </p:nvSpPr>
        <p:spPr bwMode="auto">
          <a:xfrm>
            <a:off x="2247778" y="2710868"/>
            <a:ext cx="7989620" cy="118649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 name="文本框 2">
            <a:extLst>
              <a:ext uri="{FF2B5EF4-FFF2-40B4-BE49-F238E27FC236}">
                <a16:creationId xmlns:a16="http://schemas.microsoft.com/office/drawing/2014/main" id="{B4A00255-F18C-439F-8D2D-3223C1F29BF2}"/>
              </a:ext>
            </a:extLst>
          </p:cNvPr>
          <p:cNvSpPr txBox="1"/>
          <p:nvPr/>
        </p:nvSpPr>
        <p:spPr>
          <a:xfrm>
            <a:off x="2247777" y="2818477"/>
            <a:ext cx="7988734" cy="973472"/>
          </a:xfrm>
          <a:prstGeom prst="rect">
            <a:avLst/>
          </a:prstGeom>
          <a:noFill/>
        </p:spPr>
        <p:txBody>
          <a:bodyPr wrap="square" rtlCol="0">
            <a:spAutoFit/>
          </a:bodyPr>
          <a:lstStyle/>
          <a:p>
            <a:pPr algn="ctr">
              <a:lnSpc>
                <a:spcPts val="3600"/>
              </a:lnSpc>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微處理器在指令執行時，對權限進行嚴格檢查，</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ctr">
              <a:lnSpc>
                <a:spcPts val="3600"/>
              </a:lnSpc>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管理用戶直接訪問硬件資源的權限，提升系統的安全性</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文本框 14">
            <a:extLst>
              <a:ext uri="{FF2B5EF4-FFF2-40B4-BE49-F238E27FC236}">
                <a16:creationId xmlns:a16="http://schemas.microsoft.com/office/drawing/2014/main" id="{59042720-45C7-4D4F-8D7D-666710E6B0B6}"/>
              </a:ext>
            </a:extLst>
          </p:cNvPr>
          <p:cNvSpPr txBox="1"/>
          <p:nvPr/>
        </p:nvSpPr>
        <p:spPr>
          <a:xfrm>
            <a:off x="492510" y="4256101"/>
            <a:ext cx="11253288"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下內核態與用戶態的切換主要由</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三種方式觸發：</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）系統調用（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設備中斷（</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）异常執行；其中系統調用是進程主動轉入內核態的方法</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Slide Number Placeholder 7">
            <a:extLst>
              <a:ext uri="{FF2B5EF4-FFF2-40B4-BE49-F238E27FC236}">
                <a16:creationId xmlns:a16="http://schemas.microsoft.com/office/drawing/2014/main" id="{34381CCC-C3E2-4C97-AAEC-56A84974E86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65</a:t>
            </a:fld>
            <a:endParaRPr lang="zh-CN" altLang="en-US" sz="1200" dirty="0">
              <a:solidFill>
                <a:schemeClr val="tx1">
                  <a:tint val="75000"/>
                </a:schemeClr>
              </a:solidFill>
            </a:endParaRPr>
          </a:p>
        </p:txBody>
      </p:sp>
    </p:spTree>
    <p:extLst>
      <p:ext uri="{BB962C8B-B14F-4D97-AF65-F5344CB8AC3E}">
        <p14:creationId xmlns:p14="http://schemas.microsoft.com/office/powerpoint/2010/main" val="2056719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519149"/>
            <a:ext cx="11253288"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x86_32</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架構下觸發系統調用的方法：（下圖以觸發</a:t>
            </a:r>
            <a:r>
              <a:rPr kumimoji="1" lang="en-US" altLang="zh-CN" sz="2400" b="0" i="0" u="none" strike="noStrike" kern="1200" cap="none" spc="0" normalizeH="0" baseline="0" noProof="0" dirty="0" err="1">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sys_read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爲例）</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EAX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設置爲對應的系統調用號</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EBX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ECX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等寄存器設置爲系統調用參數</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指向幷執行中斷觸發指令，觸發</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0x80</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中斷</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BEDD260-3EEB-46C4-8082-01E4F8D80138}"/>
              </a:ext>
            </a:extLst>
          </p:cNvPr>
          <p:cNvSpPr>
            <a:spLocks noGrp="1"/>
          </p:cNvSpPr>
          <p:nvPr>
            <p:ph type="title"/>
          </p:nvPr>
        </p:nvSpPr>
        <p:spPr/>
        <p:txBody>
          <a:bodyPr/>
          <a:lstStyle/>
          <a:p>
            <a:r>
              <a:rPr lang="zh-CN" altLang="en-US" dirty="0"/>
              <a:t>進程觸發系統調用</a:t>
            </a:r>
          </a:p>
        </p:txBody>
      </p:sp>
      <p:pic>
        <p:nvPicPr>
          <p:cNvPr id="6" name="Picture 5">
            <a:extLst>
              <a:ext uri="{FF2B5EF4-FFF2-40B4-BE49-F238E27FC236}">
                <a16:creationId xmlns:a16="http://schemas.microsoft.com/office/drawing/2014/main" id="{F86B052C-4F96-DC55-E478-DF98498729EC}"/>
              </a:ext>
            </a:extLst>
          </p:cNvPr>
          <p:cNvPicPr>
            <a:picLocks noChangeAspect="1"/>
          </p:cNvPicPr>
          <p:nvPr/>
        </p:nvPicPr>
        <p:blipFill>
          <a:blip r:embed="rId3"/>
          <a:stretch>
            <a:fillRect/>
          </a:stretch>
        </p:blipFill>
        <p:spPr>
          <a:xfrm>
            <a:off x="858226" y="3802333"/>
            <a:ext cx="8844574" cy="2161693"/>
          </a:xfrm>
          <a:prstGeom prst="rect">
            <a:avLst/>
          </a:prstGeom>
        </p:spPr>
      </p:pic>
      <p:sp>
        <p:nvSpPr>
          <p:cNvPr id="5" name="Slide Number Placeholder 7">
            <a:extLst>
              <a:ext uri="{FF2B5EF4-FFF2-40B4-BE49-F238E27FC236}">
                <a16:creationId xmlns:a16="http://schemas.microsoft.com/office/drawing/2014/main" id="{720C6D62-0F3A-A331-09B7-085AED21C56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66</a:t>
            </a:fld>
            <a:endParaRPr lang="zh-CN" altLang="en-US" sz="1200" dirty="0">
              <a:solidFill>
                <a:schemeClr val="tx1">
                  <a:tint val="75000"/>
                </a:schemeClr>
              </a:solidFill>
            </a:endParaRPr>
          </a:p>
        </p:txBody>
      </p:sp>
    </p:spTree>
    <p:extLst>
      <p:ext uri="{BB962C8B-B14F-4D97-AF65-F5344CB8AC3E}">
        <p14:creationId xmlns:p14="http://schemas.microsoft.com/office/powerpoint/2010/main" val="3163882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282743"/>
            <a:ext cx="6823783" cy="5128455"/>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共享系統庫</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是對系統調用的封裝，例如</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語言的標準系統庫 </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glibc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libc.so.6</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共享庫機制的實現方法是編譯器的</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動態鏈接</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機制，動態鏈接文件在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結尾，在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Windows</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dll</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結尾</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在進程的執行過程中，操作系統</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按需求</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將共享庫以</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虛擬內存映射的方式</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映射到用戶的虛擬內存空間，位于內存映射段（</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Memory Map Segment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3" name="组合 42">
            <a:extLst>
              <a:ext uri="{FF2B5EF4-FFF2-40B4-BE49-F238E27FC236}">
                <a16:creationId xmlns:a16="http://schemas.microsoft.com/office/drawing/2014/main" id="{8B521236-A92A-46B3-B5E6-54D147AADFCE}"/>
              </a:ext>
            </a:extLst>
          </p:cNvPr>
          <p:cNvGrpSpPr/>
          <p:nvPr/>
        </p:nvGrpSpPr>
        <p:grpSpPr>
          <a:xfrm>
            <a:off x="7651133" y="762038"/>
            <a:ext cx="4266314" cy="5630783"/>
            <a:chOff x="7419776" y="762038"/>
            <a:chExt cx="4266314" cy="5630783"/>
          </a:xfrm>
        </p:grpSpPr>
        <p:sp>
          <p:nvSpPr>
            <p:cNvPr id="44" name="矩形 43">
              <a:extLst>
                <a:ext uri="{FF2B5EF4-FFF2-40B4-BE49-F238E27FC236}">
                  <a16:creationId xmlns:a16="http://schemas.microsoft.com/office/drawing/2014/main" id="{3E814D6B-1982-4D24-A8DA-05E0FBA10C80}"/>
                </a:ext>
              </a:extLst>
            </p:cNvPr>
            <p:cNvSpPr/>
            <p:nvPr/>
          </p:nvSpPr>
          <p:spPr>
            <a:xfrm>
              <a:off x="8000462" y="1206786"/>
              <a:ext cx="2011487" cy="44306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45" name="直接连接符 44">
              <a:extLst>
                <a:ext uri="{FF2B5EF4-FFF2-40B4-BE49-F238E27FC236}">
                  <a16:creationId xmlns:a16="http://schemas.microsoft.com/office/drawing/2014/main" id="{6E81D368-C5D0-4D4E-A83D-9F5A1A382A52}"/>
                </a:ext>
              </a:extLst>
            </p:cNvPr>
            <p:cNvCxnSpPr/>
            <p:nvPr/>
          </p:nvCxnSpPr>
          <p:spPr>
            <a:xfrm>
              <a:off x="7996420" y="194209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854DE41B-9C4B-410F-8F6B-46ADA8B95F9E}"/>
                </a:ext>
              </a:extLst>
            </p:cNvPr>
            <p:cNvSpPr txBox="1"/>
            <p:nvPr/>
          </p:nvSpPr>
          <p:spPr>
            <a:xfrm>
              <a:off x="7992653" y="1383491"/>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Kernel Space 1G</a:t>
              </a:r>
              <a:endParaRPr kumimoji="0" lang="zh-CN" altLang="en-US" sz="1800" b="0" i="0" u="none" strike="noStrike" kern="1200" cap="none" spc="0" normalizeH="0" baseline="0" noProof="0" dirty="0">
                <a:ln>
                  <a:noFill/>
                </a:ln>
                <a:solidFill>
                  <a:srgbClr val="C00000"/>
                </a:solidFill>
                <a:effectLst/>
                <a:uLnTx/>
                <a:uFillTx/>
                <a:latin typeface="Arial"/>
                <a:ea typeface="微软雅黑"/>
                <a:cs typeface="+mn-cs"/>
              </a:endParaRPr>
            </a:p>
          </p:txBody>
        </p:sp>
        <p:sp>
          <p:nvSpPr>
            <p:cNvPr id="47" name="文本框 46">
              <a:extLst>
                <a:ext uri="{FF2B5EF4-FFF2-40B4-BE49-F238E27FC236}">
                  <a16:creationId xmlns:a16="http://schemas.microsoft.com/office/drawing/2014/main" id="{59F180A5-0D64-4C85-8A78-1BD21807CAD6}"/>
                </a:ext>
              </a:extLst>
            </p:cNvPr>
            <p:cNvSpPr txBox="1"/>
            <p:nvPr/>
          </p:nvSpPr>
          <p:spPr>
            <a:xfrm>
              <a:off x="8023888" y="5135221"/>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Text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8" name="文本框 47">
              <a:extLst>
                <a:ext uri="{FF2B5EF4-FFF2-40B4-BE49-F238E27FC236}">
                  <a16:creationId xmlns:a16="http://schemas.microsoft.com/office/drawing/2014/main" id="{5C0CF2EA-7E8B-4C21-8629-7396E9B0A062}"/>
                </a:ext>
              </a:extLst>
            </p:cNvPr>
            <p:cNvSpPr txBox="1"/>
            <p:nvPr/>
          </p:nvSpPr>
          <p:spPr>
            <a:xfrm>
              <a:off x="10015991" y="1024241"/>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0xFFFFFFFF</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9" name="文本框 48">
              <a:extLst>
                <a:ext uri="{FF2B5EF4-FFF2-40B4-BE49-F238E27FC236}">
                  <a16:creationId xmlns:a16="http://schemas.microsoft.com/office/drawing/2014/main" id="{FC791DB8-D101-48D0-A8AE-3C9631F21748}"/>
                </a:ext>
              </a:extLst>
            </p:cNvPr>
            <p:cNvSpPr txBox="1"/>
            <p:nvPr/>
          </p:nvSpPr>
          <p:spPr>
            <a:xfrm>
              <a:off x="10122117" y="1752823"/>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0xC0000000</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0" name="文本框 49">
              <a:extLst>
                <a:ext uri="{FF2B5EF4-FFF2-40B4-BE49-F238E27FC236}">
                  <a16:creationId xmlns:a16="http://schemas.microsoft.com/office/drawing/2014/main" id="{713256FC-92BB-406A-8775-726764C03DAF}"/>
                </a:ext>
              </a:extLst>
            </p:cNvPr>
            <p:cNvSpPr txBox="1"/>
            <p:nvPr/>
          </p:nvSpPr>
          <p:spPr>
            <a:xfrm>
              <a:off x="10122116" y="5452793"/>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0x0</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1" name="文本框 50">
              <a:extLst>
                <a:ext uri="{FF2B5EF4-FFF2-40B4-BE49-F238E27FC236}">
                  <a16:creationId xmlns:a16="http://schemas.microsoft.com/office/drawing/2014/main" id="{236C6963-BFA7-406B-93AD-E4F1A6CD3FD9}"/>
                </a:ext>
              </a:extLst>
            </p:cNvPr>
            <p:cNvSpPr txBox="1"/>
            <p:nvPr/>
          </p:nvSpPr>
          <p:spPr>
            <a:xfrm>
              <a:off x="7419776" y="5746490"/>
              <a:ext cx="317285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Linux Process Memory Layout (32-bit OS)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52" name="文本框 51">
              <a:extLst>
                <a:ext uri="{FF2B5EF4-FFF2-40B4-BE49-F238E27FC236}">
                  <a16:creationId xmlns:a16="http://schemas.microsoft.com/office/drawing/2014/main" id="{71D86276-374F-458C-AB21-2D48473F2F0B}"/>
                </a:ext>
              </a:extLst>
            </p:cNvPr>
            <p:cNvSpPr txBox="1"/>
            <p:nvPr/>
          </p:nvSpPr>
          <p:spPr>
            <a:xfrm>
              <a:off x="7772814" y="762038"/>
              <a:ext cx="245116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Virtual Memory Space</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53" name="直接连接符 52">
              <a:extLst>
                <a:ext uri="{FF2B5EF4-FFF2-40B4-BE49-F238E27FC236}">
                  <a16:creationId xmlns:a16="http://schemas.microsoft.com/office/drawing/2014/main" id="{0CD04BD6-2CA3-40C9-9350-557678F3770B}"/>
                </a:ext>
              </a:extLst>
            </p:cNvPr>
            <p:cNvCxnSpPr/>
            <p:nvPr/>
          </p:nvCxnSpPr>
          <p:spPr>
            <a:xfrm>
              <a:off x="7998205" y="554470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1AC28AA1-8D67-451E-A25C-51BE22D8D54A}"/>
                </a:ext>
              </a:extLst>
            </p:cNvPr>
            <p:cNvCxnSpPr/>
            <p:nvPr/>
          </p:nvCxnSpPr>
          <p:spPr>
            <a:xfrm>
              <a:off x="7997567" y="513522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6A3909F9-7A85-4061-A931-1AA4628B2FFA}"/>
                </a:ext>
              </a:extLst>
            </p:cNvPr>
            <p:cNvSpPr txBox="1"/>
            <p:nvPr/>
          </p:nvSpPr>
          <p:spPr>
            <a:xfrm>
              <a:off x="8023888" y="4765890"/>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Data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56" name="直接连接符 55">
              <a:extLst>
                <a:ext uri="{FF2B5EF4-FFF2-40B4-BE49-F238E27FC236}">
                  <a16:creationId xmlns:a16="http://schemas.microsoft.com/office/drawing/2014/main" id="{9D6B2D7E-F231-4620-A8FF-F5C1553711DC}"/>
                </a:ext>
              </a:extLst>
            </p:cNvPr>
            <p:cNvCxnSpPr/>
            <p:nvPr/>
          </p:nvCxnSpPr>
          <p:spPr>
            <a:xfrm>
              <a:off x="7997567" y="476589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54643EA6-444E-4F82-AFD8-C810D14E14A3}"/>
                </a:ext>
              </a:extLst>
            </p:cNvPr>
            <p:cNvSpPr txBox="1"/>
            <p:nvPr/>
          </p:nvSpPr>
          <p:spPr>
            <a:xfrm>
              <a:off x="8023888" y="440020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BSS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58" name="直接连接符 57">
              <a:extLst>
                <a:ext uri="{FF2B5EF4-FFF2-40B4-BE49-F238E27FC236}">
                  <a16:creationId xmlns:a16="http://schemas.microsoft.com/office/drawing/2014/main" id="{6F41C13D-6CAB-4F16-9B0E-5AC85C453F8F}"/>
                </a:ext>
              </a:extLst>
            </p:cNvPr>
            <p:cNvCxnSpPr/>
            <p:nvPr/>
          </p:nvCxnSpPr>
          <p:spPr>
            <a:xfrm>
              <a:off x="7997567" y="440020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文本框 58">
              <a:extLst>
                <a:ext uri="{FF2B5EF4-FFF2-40B4-BE49-F238E27FC236}">
                  <a16:creationId xmlns:a16="http://schemas.microsoft.com/office/drawing/2014/main" id="{60A3A140-DDDA-420A-88E8-CBA4DDB2FA2A}"/>
                </a:ext>
              </a:extLst>
            </p:cNvPr>
            <p:cNvSpPr txBox="1"/>
            <p:nvPr/>
          </p:nvSpPr>
          <p:spPr>
            <a:xfrm>
              <a:off x="7974241" y="3879376"/>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Heap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60" name="直接连接符 59">
              <a:extLst>
                <a:ext uri="{FF2B5EF4-FFF2-40B4-BE49-F238E27FC236}">
                  <a16:creationId xmlns:a16="http://schemas.microsoft.com/office/drawing/2014/main" id="{56EB3931-41C8-476C-92C4-AE1B760476F9}"/>
                </a:ext>
              </a:extLst>
            </p:cNvPr>
            <p:cNvCxnSpPr/>
            <p:nvPr/>
          </p:nvCxnSpPr>
          <p:spPr>
            <a:xfrm>
              <a:off x="8000462" y="427144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文本框 60">
              <a:extLst>
                <a:ext uri="{FF2B5EF4-FFF2-40B4-BE49-F238E27FC236}">
                  <a16:creationId xmlns:a16="http://schemas.microsoft.com/office/drawing/2014/main" id="{FFD8F00B-57F4-4FB8-B693-DA0A42614265}"/>
                </a:ext>
              </a:extLst>
            </p:cNvPr>
            <p:cNvSpPr txBox="1"/>
            <p:nvPr/>
          </p:nvSpPr>
          <p:spPr>
            <a:xfrm>
              <a:off x="8023888" y="2045453"/>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Stack</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62" name="直接连接符 61">
              <a:extLst>
                <a:ext uri="{FF2B5EF4-FFF2-40B4-BE49-F238E27FC236}">
                  <a16:creationId xmlns:a16="http://schemas.microsoft.com/office/drawing/2014/main" id="{1260F8D3-F7D4-4874-83EE-97CB41747A7C}"/>
                </a:ext>
              </a:extLst>
            </p:cNvPr>
            <p:cNvCxnSpPr/>
            <p:nvPr/>
          </p:nvCxnSpPr>
          <p:spPr>
            <a:xfrm>
              <a:off x="7997567" y="2045453"/>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D8B9905E-0EEA-493B-99F5-B99F4084C0CB}"/>
                </a:ext>
              </a:extLst>
            </p:cNvPr>
            <p:cNvCxnSpPr/>
            <p:nvPr/>
          </p:nvCxnSpPr>
          <p:spPr>
            <a:xfrm>
              <a:off x="7996420" y="387937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D864D4D7-0CBD-4B13-9D93-3D32678B8DF7}"/>
                </a:ext>
              </a:extLst>
            </p:cNvPr>
            <p:cNvCxnSpPr/>
            <p:nvPr/>
          </p:nvCxnSpPr>
          <p:spPr>
            <a:xfrm>
              <a:off x="7997567" y="3316097"/>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E98F5756-D91B-4A72-81C2-9B9AB792CCEA}"/>
                </a:ext>
              </a:extLst>
            </p:cNvPr>
            <p:cNvSpPr txBox="1"/>
            <p:nvPr/>
          </p:nvSpPr>
          <p:spPr>
            <a:xfrm>
              <a:off x="8023888" y="2950414"/>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Map Segment</a:t>
              </a:r>
              <a:endParaRPr kumimoji="0" lang="zh-CN" altLang="en-US" sz="1800" b="0" i="0" u="none" strike="noStrike" kern="1200" cap="none" spc="0" normalizeH="0" baseline="0" noProof="0" dirty="0">
                <a:ln>
                  <a:noFill/>
                </a:ln>
                <a:solidFill>
                  <a:srgbClr val="16A085"/>
                </a:solidFill>
                <a:effectLst/>
                <a:uLnTx/>
                <a:uFillTx/>
                <a:latin typeface="Arial"/>
                <a:ea typeface="微软雅黑"/>
                <a:cs typeface="+mn-cs"/>
              </a:endParaRPr>
            </a:p>
          </p:txBody>
        </p:sp>
        <p:cxnSp>
          <p:nvCxnSpPr>
            <p:cNvPr id="66" name="直接连接符 65">
              <a:extLst>
                <a:ext uri="{FF2B5EF4-FFF2-40B4-BE49-F238E27FC236}">
                  <a16:creationId xmlns:a16="http://schemas.microsoft.com/office/drawing/2014/main" id="{25AF3AFE-728C-404B-A764-2DF8C8311CD7}"/>
                </a:ext>
              </a:extLst>
            </p:cNvPr>
            <p:cNvCxnSpPr/>
            <p:nvPr/>
          </p:nvCxnSpPr>
          <p:spPr>
            <a:xfrm>
              <a:off x="7997567" y="295041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FDF2E314-44EE-4DDC-8727-73282167D75A}"/>
                </a:ext>
              </a:extLst>
            </p:cNvPr>
            <p:cNvCxnSpPr/>
            <p:nvPr/>
          </p:nvCxnSpPr>
          <p:spPr>
            <a:xfrm>
              <a:off x="7999157" y="252905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37" name="文本框 36">
            <a:extLst>
              <a:ext uri="{FF2B5EF4-FFF2-40B4-BE49-F238E27FC236}">
                <a16:creationId xmlns:a16="http://schemas.microsoft.com/office/drawing/2014/main" id="{80FF7A3E-7A63-4614-ACBB-72CEB78B5B51}"/>
              </a:ext>
            </a:extLst>
          </p:cNvPr>
          <p:cNvSpPr txBox="1"/>
          <p:nvPr/>
        </p:nvSpPr>
        <p:spPr>
          <a:xfrm>
            <a:off x="10353473" y="2742190"/>
            <a:ext cx="156397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libc.so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ld.so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a:t>
            </a:r>
            <a:endParaRPr kumimoji="0" lang="zh-CN" altLang="en-US" sz="1800" b="0" i="0" u="none" strike="noStrike" kern="1200" cap="none" spc="0" normalizeH="0" baseline="0" noProof="0" dirty="0">
              <a:ln>
                <a:noFill/>
              </a:ln>
              <a:solidFill>
                <a:srgbClr val="16A085"/>
              </a:solidFill>
              <a:effectLst/>
              <a:uLnTx/>
              <a:uFillTx/>
              <a:latin typeface="Arial"/>
              <a:ea typeface="微软雅黑"/>
              <a:cs typeface="+mn-cs"/>
            </a:endParaRPr>
          </a:p>
        </p:txBody>
      </p:sp>
      <p:sp>
        <p:nvSpPr>
          <p:cNvPr id="2" name="右大括号 1">
            <a:extLst>
              <a:ext uri="{FF2B5EF4-FFF2-40B4-BE49-F238E27FC236}">
                <a16:creationId xmlns:a16="http://schemas.microsoft.com/office/drawing/2014/main" id="{1988E9E5-9160-44D2-9F54-36A6688175B8}"/>
              </a:ext>
            </a:extLst>
          </p:cNvPr>
          <p:cNvSpPr/>
          <p:nvPr/>
        </p:nvSpPr>
        <p:spPr>
          <a:xfrm>
            <a:off x="10251115" y="2950414"/>
            <a:ext cx="204219" cy="36203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3" name="标题 2">
            <a:extLst>
              <a:ext uri="{FF2B5EF4-FFF2-40B4-BE49-F238E27FC236}">
                <a16:creationId xmlns:a16="http://schemas.microsoft.com/office/drawing/2014/main" id="{DE876395-AECB-40DF-A4DF-81A0DE2D65B3}"/>
              </a:ext>
            </a:extLst>
          </p:cNvPr>
          <p:cNvSpPr>
            <a:spLocks noGrp="1"/>
          </p:cNvSpPr>
          <p:nvPr>
            <p:ph type="title"/>
          </p:nvPr>
        </p:nvSpPr>
        <p:spPr/>
        <p:txBody>
          <a:bodyPr/>
          <a:lstStyle/>
          <a:p>
            <a:r>
              <a:rPr lang="zh-CN" altLang="en-US" dirty="0"/>
              <a:t>進程與共享庫機制</a:t>
            </a:r>
          </a:p>
        </p:txBody>
      </p:sp>
      <p:sp>
        <p:nvSpPr>
          <p:cNvPr id="5" name="Slide Number Placeholder 7">
            <a:extLst>
              <a:ext uri="{FF2B5EF4-FFF2-40B4-BE49-F238E27FC236}">
                <a16:creationId xmlns:a16="http://schemas.microsoft.com/office/drawing/2014/main" id="{467B9A47-6235-9D5B-6C72-F0672815F48D}"/>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67</a:t>
            </a:fld>
            <a:endParaRPr lang="zh-CN" altLang="en-US" sz="1200" dirty="0">
              <a:solidFill>
                <a:schemeClr val="tx1">
                  <a:tint val="75000"/>
                </a:schemeClr>
              </a:solidFill>
            </a:endParaRPr>
          </a:p>
        </p:txBody>
      </p:sp>
    </p:spTree>
    <p:extLst>
      <p:ext uri="{BB962C8B-B14F-4D97-AF65-F5344CB8AC3E}">
        <p14:creationId xmlns:p14="http://schemas.microsoft.com/office/powerpoint/2010/main" val="28625975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742167"/>
            <a:ext cx="6823783" cy="282013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與編譯器的動態鏈接機制對應的是編譯器靜態鏈接機制，靜態鏈接庫在編譯時將目標代碼直接插入程序</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靜態鏈接庫在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下以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結尾，例如標準</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靜態庫，</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libstdc</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a:t>
            </a:r>
          </a:p>
        </p:txBody>
      </p:sp>
      <p:grpSp>
        <p:nvGrpSpPr>
          <p:cNvPr id="37" name="组合 36">
            <a:extLst>
              <a:ext uri="{FF2B5EF4-FFF2-40B4-BE49-F238E27FC236}">
                <a16:creationId xmlns:a16="http://schemas.microsoft.com/office/drawing/2014/main" id="{4FDA7BEA-5AC2-4DA7-ACA3-5A160EAF4D32}"/>
              </a:ext>
            </a:extLst>
          </p:cNvPr>
          <p:cNvGrpSpPr/>
          <p:nvPr/>
        </p:nvGrpSpPr>
        <p:grpSpPr>
          <a:xfrm>
            <a:off x="7651133" y="762038"/>
            <a:ext cx="4266314" cy="5630783"/>
            <a:chOff x="7419776" y="762038"/>
            <a:chExt cx="4266314" cy="5630783"/>
          </a:xfrm>
        </p:grpSpPr>
        <p:sp>
          <p:nvSpPr>
            <p:cNvPr id="38" name="矩形 37">
              <a:extLst>
                <a:ext uri="{FF2B5EF4-FFF2-40B4-BE49-F238E27FC236}">
                  <a16:creationId xmlns:a16="http://schemas.microsoft.com/office/drawing/2014/main" id="{5519A57D-E0A3-42B1-86D5-AAF7039699C3}"/>
                </a:ext>
              </a:extLst>
            </p:cNvPr>
            <p:cNvSpPr/>
            <p:nvPr/>
          </p:nvSpPr>
          <p:spPr>
            <a:xfrm>
              <a:off x="8000462" y="1206786"/>
              <a:ext cx="2011487" cy="44306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39" name="直接连接符 38">
              <a:extLst>
                <a:ext uri="{FF2B5EF4-FFF2-40B4-BE49-F238E27FC236}">
                  <a16:creationId xmlns:a16="http://schemas.microsoft.com/office/drawing/2014/main" id="{AF32E216-F1CF-40AF-8B0A-A91CD7934D63}"/>
                </a:ext>
              </a:extLst>
            </p:cNvPr>
            <p:cNvCxnSpPr/>
            <p:nvPr/>
          </p:nvCxnSpPr>
          <p:spPr>
            <a:xfrm>
              <a:off x="7996420" y="194209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7AC7B410-B2FC-4260-8B19-26288A837A2E}"/>
                </a:ext>
              </a:extLst>
            </p:cNvPr>
            <p:cNvSpPr txBox="1"/>
            <p:nvPr/>
          </p:nvSpPr>
          <p:spPr>
            <a:xfrm>
              <a:off x="7992653" y="1383491"/>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Kernel Space 1G</a:t>
              </a:r>
              <a:endParaRPr kumimoji="0" lang="zh-CN" altLang="en-US" sz="1800" b="0" i="0" u="none" strike="noStrike" kern="1200" cap="none" spc="0" normalizeH="0" baseline="0" noProof="0" dirty="0">
                <a:ln>
                  <a:noFill/>
                </a:ln>
                <a:solidFill>
                  <a:srgbClr val="C00000"/>
                </a:solidFill>
                <a:effectLst/>
                <a:uLnTx/>
                <a:uFillTx/>
                <a:latin typeface="Arial"/>
                <a:ea typeface="微软雅黑"/>
                <a:cs typeface="+mn-cs"/>
              </a:endParaRPr>
            </a:p>
          </p:txBody>
        </p:sp>
        <p:sp>
          <p:nvSpPr>
            <p:cNvPr id="41" name="文本框 40">
              <a:extLst>
                <a:ext uri="{FF2B5EF4-FFF2-40B4-BE49-F238E27FC236}">
                  <a16:creationId xmlns:a16="http://schemas.microsoft.com/office/drawing/2014/main" id="{2580F302-17D6-45E8-9B8F-084C9E4C5D23}"/>
                </a:ext>
              </a:extLst>
            </p:cNvPr>
            <p:cNvSpPr txBox="1"/>
            <p:nvPr/>
          </p:nvSpPr>
          <p:spPr>
            <a:xfrm>
              <a:off x="8023888" y="5135221"/>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Text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2" name="文本框 41">
              <a:extLst>
                <a:ext uri="{FF2B5EF4-FFF2-40B4-BE49-F238E27FC236}">
                  <a16:creationId xmlns:a16="http://schemas.microsoft.com/office/drawing/2014/main" id="{8896FE02-BA90-4DA3-ABB8-5C281FB99826}"/>
                </a:ext>
              </a:extLst>
            </p:cNvPr>
            <p:cNvSpPr txBox="1"/>
            <p:nvPr/>
          </p:nvSpPr>
          <p:spPr>
            <a:xfrm>
              <a:off x="10015991" y="1024241"/>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0xFFFFFFFF</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2" name="文本框 71">
              <a:extLst>
                <a:ext uri="{FF2B5EF4-FFF2-40B4-BE49-F238E27FC236}">
                  <a16:creationId xmlns:a16="http://schemas.microsoft.com/office/drawing/2014/main" id="{EE2EB8A0-BB31-4543-BC2C-7B8626763024}"/>
                </a:ext>
              </a:extLst>
            </p:cNvPr>
            <p:cNvSpPr txBox="1"/>
            <p:nvPr/>
          </p:nvSpPr>
          <p:spPr>
            <a:xfrm>
              <a:off x="10122117" y="1752823"/>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0xC0000000</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3" name="文本框 72">
              <a:extLst>
                <a:ext uri="{FF2B5EF4-FFF2-40B4-BE49-F238E27FC236}">
                  <a16:creationId xmlns:a16="http://schemas.microsoft.com/office/drawing/2014/main" id="{48CC4DAF-FE2C-450F-8A9A-52FDB0CE25D7}"/>
                </a:ext>
              </a:extLst>
            </p:cNvPr>
            <p:cNvSpPr txBox="1"/>
            <p:nvPr/>
          </p:nvSpPr>
          <p:spPr>
            <a:xfrm>
              <a:off x="10122116" y="5452793"/>
              <a:ext cx="1563973"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0x0</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4" name="文本框 73">
              <a:extLst>
                <a:ext uri="{FF2B5EF4-FFF2-40B4-BE49-F238E27FC236}">
                  <a16:creationId xmlns:a16="http://schemas.microsoft.com/office/drawing/2014/main" id="{5E6357AD-AA3C-4616-8169-09F4B0A54494}"/>
                </a:ext>
              </a:extLst>
            </p:cNvPr>
            <p:cNvSpPr txBox="1"/>
            <p:nvPr/>
          </p:nvSpPr>
          <p:spPr>
            <a:xfrm>
              <a:off x="7419776" y="5746490"/>
              <a:ext cx="3172858"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Linux Process Memory Layout (32-bit OS)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5" name="文本框 74">
              <a:extLst>
                <a:ext uri="{FF2B5EF4-FFF2-40B4-BE49-F238E27FC236}">
                  <a16:creationId xmlns:a16="http://schemas.microsoft.com/office/drawing/2014/main" id="{EBEDA462-D56B-4A83-BEF2-4617B59D2523}"/>
                </a:ext>
              </a:extLst>
            </p:cNvPr>
            <p:cNvSpPr txBox="1"/>
            <p:nvPr/>
          </p:nvSpPr>
          <p:spPr>
            <a:xfrm>
              <a:off x="7772814" y="762038"/>
              <a:ext cx="245116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Virtual Memory Space</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76" name="直接连接符 75">
              <a:extLst>
                <a:ext uri="{FF2B5EF4-FFF2-40B4-BE49-F238E27FC236}">
                  <a16:creationId xmlns:a16="http://schemas.microsoft.com/office/drawing/2014/main" id="{8F5C5210-8194-4470-BBCD-48EB9764211F}"/>
                </a:ext>
              </a:extLst>
            </p:cNvPr>
            <p:cNvCxnSpPr/>
            <p:nvPr/>
          </p:nvCxnSpPr>
          <p:spPr>
            <a:xfrm>
              <a:off x="7998205" y="554470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9FF8441C-212B-4117-A88F-2D39A2E4FB62}"/>
                </a:ext>
              </a:extLst>
            </p:cNvPr>
            <p:cNvCxnSpPr/>
            <p:nvPr/>
          </p:nvCxnSpPr>
          <p:spPr>
            <a:xfrm>
              <a:off x="7997567" y="513522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CB1E5B51-833B-424D-805A-863B9AB34AA1}"/>
                </a:ext>
              </a:extLst>
            </p:cNvPr>
            <p:cNvSpPr txBox="1"/>
            <p:nvPr/>
          </p:nvSpPr>
          <p:spPr>
            <a:xfrm>
              <a:off x="8023888" y="4765890"/>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Data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79" name="直接连接符 78">
              <a:extLst>
                <a:ext uri="{FF2B5EF4-FFF2-40B4-BE49-F238E27FC236}">
                  <a16:creationId xmlns:a16="http://schemas.microsoft.com/office/drawing/2014/main" id="{F2B13053-EA8C-4614-B116-66145D670E53}"/>
                </a:ext>
              </a:extLst>
            </p:cNvPr>
            <p:cNvCxnSpPr/>
            <p:nvPr/>
          </p:nvCxnSpPr>
          <p:spPr>
            <a:xfrm>
              <a:off x="7997567" y="476589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E56C8BE1-2B0A-4DC8-BD81-D3DEC10A4192}"/>
                </a:ext>
              </a:extLst>
            </p:cNvPr>
            <p:cNvSpPr txBox="1"/>
            <p:nvPr/>
          </p:nvSpPr>
          <p:spPr>
            <a:xfrm>
              <a:off x="8023888" y="440020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BSS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81" name="直接连接符 80">
              <a:extLst>
                <a:ext uri="{FF2B5EF4-FFF2-40B4-BE49-F238E27FC236}">
                  <a16:creationId xmlns:a16="http://schemas.microsoft.com/office/drawing/2014/main" id="{26E688DD-FB62-44F1-BEBF-8CB340224E4A}"/>
                </a:ext>
              </a:extLst>
            </p:cNvPr>
            <p:cNvCxnSpPr/>
            <p:nvPr/>
          </p:nvCxnSpPr>
          <p:spPr>
            <a:xfrm>
              <a:off x="7997567" y="440020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10A31CB6-1E92-4BD5-A7BF-5961E35B8DC1}"/>
                </a:ext>
              </a:extLst>
            </p:cNvPr>
            <p:cNvSpPr txBox="1"/>
            <p:nvPr/>
          </p:nvSpPr>
          <p:spPr>
            <a:xfrm>
              <a:off x="7974241" y="3879376"/>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Heap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83" name="直接连接符 82">
              <a:extLst>
                <a:ext uri="{FF2B5EF4-FFF2-40B4-BE49-F238E27FC236}">
                  <a16:creationId xmlns:a16="http://schemas.microsoft.com/office/drawing/2014/main" id="{8114CD23-F758-4505-9001-1E6F005A833A}"/>
                </a:ext>
              </a:extLst>
            </p:cNvPr>
            <p:cNvCxnSpPr/>
            <p:nvPr/>
          </p:nvCxnSpPr>
          <p:spPr>
            <a:xfrm>
              <a:off x="8000462" y="427144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CC620651-844F-48BD-A894-B056438540C3}"/>
                </a:ext>
              </a:extLst>
            </p:cNvPr>
            <p:cNvSpPr txBox="1"/>
            <p:nvPr/>
          </p:nvSpPr>
          <p:spPr>
            <a:xfrm>
              <a:off x="8023888" y="2045453"/>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Stack</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85" name="直接连接符 84">
              <a:extLst>
                <a:ext uri="{FF2B5EF4-FFF2-40B4-BE49-F238E27FC236}">
                  <a16:creationId xmlns:a16="http://schemas.microsoft.com/office/drawing/2014/main" id="{4A0D9950-8E20-4985-A34D-73AF40E945D5}"/>
                </a:ext>
              </a:extLst>
            </p:cNvPr>
            <p:cNvCxnSpPr/>
            <p:nvPr/>
          </p:nvCxnSpPr>
          <p:spPr>
            <a:xfrm>
              <a:off x="7997567" y="2045453"/>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D9605073-D986-4E9D-A1B4-102240A96B27}"/>
                </a:ext>
              </a:extLst>
            </p:cNvPr>
            <p:cNvCxnSpPr/>
            <p:nvPr/>
          </p:nvCxnSpPr>
          <p:spPr>
            <a:xfrm>
              <a:off x="7996420" y="387937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B8BA4F63-6C26-4924-82F9-E3D0F1DD1A3D}"/>
                </a:ext>
              </a:extLst>
            </p:cNvPr>
            <p:cNvCxnSpPr/>
            <p:nvPr/>
          </p:nvCxnSpPr>
          <p:spPr>
            <a:xfrm>
              <a:off x="7997567" y="3316097"/>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E1BB5014-DFC1-4A28-88E5-F14838CEA1D4}"/>
                </a:ext>
              </a:extLst>
            </p:cNvPr>
            <p:cNvSpPr txBox="1"/>
            <p:nvPr/>
          </p:nvSpPr>
          <p:spPr>
            <a:xfrm>
              <a:off x="8023888" y="2950414"/>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Map Segment</a:t>
              </a:r>
              <a:endParaRPr kumimoji="0" lang="zh-CN" altLang="en-US" sz="1800" b="0" i="0" u="none" strike="noStrike" kern="1200" cap="none" spc="0" normalizeH="0" baseline="0" noProof="0" dirty="0">
                <a:ln>
                  <a:noFill/>
                </a:ln>
                <a:solidFill>
                  <a:srgbClr val="16A085"/>
                </a:solidFill>
                <a:effectLst/>
                <a:uLnTx/>
                <a:uFillTx/>
                <a:latin typeface="Arial"/>
                <a:ea typeface="微软雅黑"/>
                <a:cs typeface="+mn-cs"/>
              </a:endParaRPr>
            </a:p>
          </p:txBody>
        </p:sp>
        <p:cxnSp>
          <p:nvCxnSpPr>
            <p:cNvPr id="89" name="直接连接符 88">
              <a:extLst>
                <a:ext uri="{FF2B5EF4-FFF2-40B4-BE49-F238E27FC236}">
                  <a16:creationId xmlns:a16="http://schemas.microsoft.com/office/drawing/2014/main" id="{2C102EBF-BC79-4802-9C55-3184F28D0142}"/>
                </a:ext>
              </a:extLst>
            </p:cNvPr>
            <p:cNvCxnSpPr/>
            <p:nvPr/>
          </p:nvCxnSpPr>
          <p:spPr>
            <a:xfrm>
              <a:off x="7997567" y="295041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9F3749C-D648-4947-8BC1-A5490A6461A0}"/>
                </a:ext>
              </a:extLst>
            </p:cNvPr>
            <p:cNvCxnSpPr/>
            <p:nvPr/>
          </p:nvCxnSpPr>
          <p:spPr>
            <a:xfrm>
              <a:off x="7999157" y="252905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91" name="文本框 90">
            <a:extLst>
              <a:ext uri="{FF2B5EF4-FFF2-40B4-BE49-F238E27FC236}">
                <a16:creationId xmlns:a16="http://schemas.microsoft.com/office/drawing/2014/main" id="{27E4FEE0-0E46-487E-ADE3-A95A351515C1}"/>
              </a:ext>
            </a:extLst>
          </p:cNvPr>
          <p:cNvSpPr txBox="1"/>
          <p:nvPr/>
        </p:nvSpPr>
        <p:spPr>
          <a:xfrm>
            <a:off x="10353473" y="2742190"/>
            <a:ext cx="156397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libc.so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ld.so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16A085"/>
                </a:solidFill>
                <a:effectLst/>
                <a:uLnTx/>
                <a:uFillTx/>
                <a:latin typeface="Arial"/>
                <a:ea typeface="微软雅黑"/>
                <a:cs typeface="+mn-cs"/>
              </a:rPr>
              <a:t>……</a:t>
            </a:r>
            <a:endParaRPr kumimoji="0" lang="zh-CN" altLang="en-US" sz="1800" b="0" i="0" u="none" strike="noStrike" kern="1200" cap="none" spc="0" normalizeH="0" baseline="0" noProof="0" dirty="0">
              <a:ln>
                <a:noFill/>
              </a:ln>
              <a:solidFill>
                <a:srgbClr val="16A085"/>
              </a:solidFill>
              <a:effectLst/>
              <a:uLnTx/>
              <a:uFillTx/>
              <a:latin typeface="Arial"/>
              <a:ea typeface="微软雅黑"/>
              <a:cs typeface="+mn-cs"/>
            </a:endParaRPr>
          </a:p>
        </p:txBody>
      </p:sp>
      <p:sp>
        <p:nvSpPr>
          <p:cNvPr id="92" name="右大括号 91">
            <a:extLst>
              <a:ext uri="{FF2B5EF4-FFF2-40B4-BE49-F238E27FC236}">
                <a16:creationId xmlns:a16="http://schemas.microsoft.com/office/drawing/2014/main" id="{CD9BF059-4390-4663-802B-F848F1E5F888}"/>
              </a:ext>
            </a:extLst>
          </p:cNvPr>
          <p:cNvSpPr/>
          <p:nvPr/>
        </p:nvSpPr>
        <p:spPr>
          <a:xfrm>
            <a:off x="10251115" y="2950414"/>
            <a:ext cx="204219" cy="36203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BFF2D70F-A45A-4F3E-9DBF-897F365B3A37}"/>
              </a:ext>
            </a:extLst>
          </p:cNvPr>
          <p:cNvSpPr>
            <a:spLocks noGrp="1"/>
          </p:cNvSpPr>
          <p:nvPr>
            <p:ph type="title"/>
          </p:nvPr>
        </p:nvSpPr>
        <p:spPr/>
        <p:txBody>
          <a:bodyPr/>
          <a:lstStyle/>
          <a:p>
            <a:r>
              <a:rPr lang="zh-CN" altLang="en-US" dirty="0"/>
              <a:t>進程與共享庫機制</a:t>
            </a:r>
          </a:p>
        </p:txBody>
      </p:sp>
      <p:sp>
        <p:nvSpPr>
          <p:cNvPr id="31" name="矩形 30">
            <a:extLst>
              <a:ext uri="{FF2B5EF4-FFF2-40B4-BE49-F238E27FC236}">
                <a16:creationId xmlns:a16="http://schemas.microsoft.com/office/drawing/2014/main" id="{6AD78DCB-76BC-4415-81D7-CDA5859F9356}"/>
              </a:ext>
            </a:extLst>
          </p:cNvPr>
          <p:cNvSpPr>
            <a:spLocks/>
          </p:cNvSpPr>
          <p:nvPr/>
        </p:nvSpPr>
        <p:spPr bwMode="auto">
          <a:xfrm>
            <a:off x="512966" y="4830680"/>
            <a:ext cx="6356188" cy="109126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2" name="文本框 31">
            <a:extLst>
              <a:ext uri="{FF2B5EF4-FFF2-40B4-BE49-F238E27FC236}">
                <a16:creationId xmlns:a16="http://schemas.microsoft.com/office/drawing/2014/main" id="{A3EA0D54-B187-4EE8-BA2C-B2D9DE6ACE6B}"/>
              </a:ext>
            </a:extLst>
          </p:cNvPr>
          <p:cNvSpPr txBox="1"/>
          <p:nvPr/>
        </p:nvSpPr>
        <p:spPr>
          <a:xfrm>
            <a:off x="666458" y="4895665"/>
            <a:ext cx="6042120" cy="961289"/>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靜態鏈接庫</a:t>
            </a:r>
            <a:r>
              <a:rPr kumimoji="1" lang="zh-CN" altLang="en-US" sz="20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無法實現代碼共享</a:t>
            </a:r>
            <a:r>
              <a:rPr kumimoji="1" lang="zh-CN" altLang="en-US" sz="2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，因爲靜態鏈接不屬共享庫機制的一部分</a:t>
            </a:r>
          </a:p>
        </p:txBody>
      </p:sp>
      <p:sp>
        <p:nvSpPr>
          <p:cNvPr id="4" name="Slide Number Placeholder 7">
            <a:extLst>
              <a:ext uri="{FF2B5EF4-FFF2-40B4-BE49-F238E27FC236}">
                <a16:creationId xmlns:a16="http://schemas.microsoft.com/office/drawing/2014/main" id="{67EEF17C-510F-E24F-45BB-6E66C857131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68</a:t>
            </a:fld>
            <a:endParaRPr lang="zh-CN" altLang="en-US" sz="1200" dirty="0">
              <a:solidFill>
                <a:schemeClr val="tx1">
                  <a:tint val="75000"/>
                </a:schemeClr>
              </a:solidFill>
            </a:endParaRPr>
          </a:p>
        </p:txBody>
      </p:sp>
    </p:spTree>
    <p:extLst>
      <p:ext uri="{BB962C8B-B14F-4D97-AF65-F5344CB8AC3E}">
        <p14:creationId xmlns:p14="http://schemas.microsoft.com/office/powerpoint/2010/main" val="34771735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0">
            <a:extLst>
              <a:ext uri="{FF2B5EF4-FFF2-40B4-BE49-F238E27FC236}">
                <a16:creationId xmlns:a16="http://schemas.microsoft.com/office/drawing/2014/main" id="{CC4CD13E-06FC-3288-F09E-4FA572442C50}"/>
              </a:ext>
            </a:extLst>
          </p:cNvPr>
          <p:cNvSpPr>
            <a:spLocks/>
          </p:cNvSpPr>
          <p:nvPr/>
        </p:nvSpPr>
        <p:spPr bwMode="auto">
          <a:xfrm>
            <a:off x="778408" y="5126410"/>
            <a:ext cx="6356188" cy="109126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09" y="1400400"/>
            <a:ext cx="6823783" cy="282013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第一節曾介紹，堆區溢出攻擊通過越界寫修改相鄰堆塊元數據，産生</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堆塊重叠</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，進而攻擊者</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惡意讀寫其他堆塊的數據</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結合</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unlink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等其他堆管理器機制，攻擊者可以惡意讀寫任意內存位置</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7" name="直接连接符 36">
            <a:extLst>
              <a:ext uri="{FF2B5EF4-FFF2-40B4-BE49-F238E27FC236}">
                <a16:creationId xmlns:a16="http://schemas.microsoft.com/office/drawing/2014/main" id="{461335B0-B4A1-47A9-8EAF-A6DDD4C523C0}"/>
              </a:ext>
            </a:extLst>
          </p:cNvPr>
          <p:cNvCxnSpPr/>
          <p:nvPr/>
        </p:nvCxnSpPr>
        <p:spPr>
          <a:xfrm>
            <a:off x="8771302"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70AF906A-C693-49D8-811D-739E72969108}"/>
              </a:ext>
            </a:extLst>
          </p:cNvPr>
          <p:cNvCxnSpPr/>
          <p:nvPr/>
        </p:nvCxnSpPr>
        <p:spPr>
          <a:xfrm>
            <a:off x="10782789" y="1222329"/>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4697E5EC-F51A-43CE-8066-238C7BBD2F5D}"/>
              </a:ext>
            </a:extLst>
          </p:cNvPr>
          <p:cNvCxnSpPr/>
          <p:nvPr/>
        </p:nvCxnSpPr>
        <p:spPr>
          <a:xfrm>
            <a:off x="8764189" y="3515029"/>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本框 39">
            <a:extLst>
              <a:ext uri="{FF2B5EF4-FFF2-40B4-BE49-F238E27FC236}">
                <a16:creationId xmlns:a16="http://schemas.microsoft.com/office/drawing/2014/main" id="{DAB87B00-9106-47DB-B22C-16C2184F9C18}"/>
              </a:ext>
            </a:extLst>
          </p:cNvPr>
          <p:cNvSpPr txBox="1"/>
          <p:nvPr/>
        </p:nvSpPr>
        <p:spPr>
          <a:xfrm>
            <a:off x="8768138" y="2971542"/>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B</a:t>
            </a:r>
          </a:p>
        </p:txBody>
      </p:sp>
      <p:cxnSp>
        <p:nvCxnSpPr>
          <p:cNvPr id="41" name="直接连接符 40">
            <a:extLst>
              <a:ext uri="{FF2B5EF4-FFF2-40B4-BE49-F238E27FC236}">
                <a16:creationId xmlns:a16="http://schemas.microsoft.com/office/drawing/2014/main" id="{2811EAF7-599E-4EEE-A500-9816430450F3}"/>
              </a:ext>
            </a:extLst>
          </p:cNvPr>
          <p:cNvCxnSpPr/>
          <p:nvPr/>
        </p:nvCxnSpPr>
        <p:spPr>
          <a:xfrm>
            <a:off x="8769954" y="399150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文本框 41">
            <a:extLst>
              <a:ext uri="{FF2B5EF4-FFF2-40B4-BE49-F238E27FC236}">
                <a16:creationId xmlns:a16="http://schemas.microsoft.com/office/drawing/2014/main" id="{1A0BF5EB-179E-432C-AD14-28675EF9CC59}"/>
              </a:ext>
            </a:extLst>
          </p:cNvPr>
          <p:cNvSpPr txBox="1"/>
          <p:nvPr/>
        </p:nvSpPr>
        <p:spPr>
          <a:xfrm>
            <a:off x="8769676" y="4517282"/>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a:t>
            </a:r>
          </a:p>
        </p:txBody>
      </p:sp>
      <p:cxnSp>
        <p:nvCxnSpPr>
          <p:cNvPr id="72" name="直接连接符 71">
            <a:extLst>
              <a:ext uri="{FF2B5EF4-FFF2-40B4-BE49-F238E27FC236}">
                <a16:creationId xmlns:a16="http://schemas.microsoft.com/office/drawing/2014/main" id="{87413B29-387C-454A-A6D1-70A6D3B87A75}"/>
              </a:ext>
            </a:extLst>
          </p:cNvPr>
          <p:cNvCxnSpPr/>
          <p:nvPr/>
        </p:nvCxnSpPr>
        <p:spPr>
          <a:xfrm>
            <a:off x="8768372" y="535668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1729FF66-6E46-4D8F-9512-43A0F45F8784}"/>
              </a:ext>
            </a:extLst>
          </p:cNvPr>
          <p:cNvSpPr txBox="1"/>
          <p:nvPr/>
        </p:nvSpPr>
        <p:spPr>
          <a:xfrm>
            <a:off x="8774467" y="5387003"/>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Header A</a:t>
            </a:r>
          </a:p>
        </p:txBody>
      </p:sp>
      <p:cxnSp>
        <p:nvCxnSpPr>
          <p:cNvPr id="74" name="直接连接符 73">
            <a:extLst>
              <a:ext uri="{FF2B5EF4-FFF2-40B4-BE49-F238E27FC236}">
                <a16:creationId xmlns:a16="http://schemas.microsoft.com/office/drawing/2014/main" id="{32A2151D-6FBF-4ED6-AF18-2F29A4789509}"/>
              </a:ext>
            </a:extLst>
          </p:cNvPr>
          <p:cNvCxnSpPr/>
          <p:nvPr/>
        </p:nvCxnSpPr>
        <p:spPr>
          <a:xfrm>
            <a:off x="8774555" y="5781726"/>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63789A80-BB52-46B3-8BCA-E9E82C70AC76}"/>
              </a:ext>
            </a:extLst>
          </p:cNvPr>
          <p:cNvSpPr txBox="1"/>
          <p:nvPr/>
        </p:nvSpPr>
        <p:spPr>
          <a:xfrm>
            <a:off x="8778416" y="3545969"/>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 Header B</a:t>
            </a:r>
          </a:p>
        </p:txBody>
      </p:sp>
      <p:sp>
        <p:nvSpPr>
          <p:cNvPr id="76" name="文本框 75">
            <a:extLst>
              <a:ext uri="{FF2B5EF4-FFF2-40B4-BE49-F238E27FC236}">
                <a16:creationId xmlns:a16="http://schemas.microsoft.com/office/drawing/2014/main" id="{4848595A-981E-4C43-B609-BB1E5B5F0A6E}"/>
              </a:ext>
            </a:extLst>
          </p:cNvPr>
          <p:cNvSpPr txBox="1"/>
          <p:nvPr/>
        </p:nvSpPr>
        <p:spPr>
          <a:xfrm>
            <a:off x="8778416" y="1774831"/>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a:t>
            </a:r>
          </a:p>
        </p:txBody>
      </p:sp>
      <p:cxnSp>
        <p:nvCxnSpPr>
          <p:cNvPr id="77" name="直接连接符 76">
            <a:extLst>
              <a:ext uri="{FF2B5EF4-FFF2-40B4-BE49-F238E27FC236}">
                <a16:creationId xmlns:a16="http://schemas.microsoft.com/office/drawing/2014/main" id="{24610108-FE4D-4467-AAFD-5B4650D866DC}"/>
              </a:ext>
            </a:extLst>
          </p:cNvPr>
          <p:cNvCxnSpPr/>
          <p:nvPr/>
        </p:nvCxnSpPr>
        <p:spPr>
          <a:xfrm>
            <a:off x="8783295" y="2701015"/>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BA455782-3F6A-428E-A4F1-8CD45CE3A604}"/>
              </a:ext>
            </a:extLst>
          </p:cNvPr>
          <p:cNvSpPr txBox="1"/>
          <p:nvPr/>
        </p:nvSpPr>
        <p:spPr>
          <a:xfrm>
            <a:off x="8764189" y="85299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79" name="文本框 78">
            <a:extLst>
              <a:ext uri="{FF2B5EF4-FFF2-40B4-BE49-F238E27FC236}">
                <a16:creationId xmlns:a16="http://schemas.microsoft.com/office/drawing/2014/main" id="{4B04783B-53D1-4A77-B8DD-D01A22B8F7CA}"/>
              </a:ext>
            </a:extLst>
          </p:cNvPr>
          <p:cNvSpPr txBox="1"/>
          <p:nvPr/>
        </p:nvSpPr>
        <p:spPr>
          <a:xfrm>
            <a:off x="8797878" y="605976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80" name="左大括号 79">
            <a:extLst>
              <a:ext uri="{FF2B5EF4-FFF2-40B4-BE49-F238E27FC236}">
                <a16:creationId xmlns:a16="http://schemas.microsoft.com/office/drawing/2014/main" id="{89557E65-523F-4885-B837-F3DE9DFEBFEC}"/>
              </a:ext>
            </a:extLst>
          </p:cNvPr>
          <p:cNvSpPr/>
          <p:nvPr/>
        </p:nvSpPr>
        <p:spPr>
          <a:xfrm>
            <a:off x="8489150" y="1222329"/>
            <a:ext cx="141910" cy="4559394"/>
          </a:xfrm>
          <a:prstGeom prst="leftBrace">
            <a:avLst/>
          </a:prstGeom>
          <a:ln w="127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81" name="文本框 80">
            <a:extLst>
              <a:ext uri="{FF2B5EF4-FFF2-40B4-BE49-F238E27FC236}">
                <a16:creationId xmlns:a16="http://schemas.microsoft.com/office/drawing/2014/main" id="{906B6DF4-EEBC-4B34-8ACB-C32C6126F46F}"/>
              </a:ext>
            </a:extLst>
          </p:cNvPr>
          <p:cNvSpPr txBox="1"/>
          <p:nvPr/>
        </p:nvSpPr>
        <p:spPr>
          <a:xfrm>
            <a:off x="7354847" y="3330363"/>
            <a:ext cx="110772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Chunk A</a:t>
            </a:r>
          </a:p>
        </p:txBody>
      </p:sp>
      <p:sp>
        <p:nvSpPr>
          <p:cNvPr id="82" name="左大括号 81">
            <a:extLst>
              <a:ext uri="{FF2B5EF4-FFF2-40B4-BE49-F238E27FC236}">
                <a16:creationId xmlns:a16="http://schemas.microsoft.com/office/drawing/2014/main" id="{115D6A64-14C9-43AE-8D8F-3999DA21A1FD}"/>
              </a:ext>
            </a:extLst>
          </p:cNvPr>
          <p:cNvSpPr/>
          <p:nvPr/>
        </p:nvSpPr>
        <p:spPr>
          <a:xfrm flipH="1">
            <a:off x="10919867" y="2701016"/>
            <a:ext cx="119026" cy="727983"/>
          </a:xfrm>
          <a:prstGeom prst="leftBrace">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a:ea typeface="微软雅黑"/>
              <a:cs typeface="+mn-cs"/>
            </a:endParaRPr>
          </a:p>
        </p:txBody>
      </p:sp>
      <p:sp>
        <p:nvSpPr>
          <p:cNvPr id="84" name="文本框 83">
            <a:extLst>
              <a:ext uri="{FF2B5EF4-FFF2-40B4-BE49-F238E27FC236}">
                <a16:creationId xmlns:a16="http://schemas.microsoft.com/office/drawing/2014/main" id="{E4B319E0-6B7E-4E60-BAC1-42A3A5D7BBD8}"/>
              </a:ext>
            </a:extLst>
          </p:cNvPr>
          <p:cNvSpPr txBox="1"/>
          <p:nvPr/>
        </p:nvSpPr>
        <p:spPr>
          <a:xfrm>
            <a:off x="11038469" y="2741841"/>
            <a:ext cx="113149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Chunk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Overlap</a:t>
            </a:r>
          </a:p>
        </p:txBody>
      </p:sp>
      <p:sp>
        <p:nvSpPr>
          <p:cNvPr id="2" name="标题 1">
            <a:extLst>
              <a:ext uri="{FF2B5EF4-FFF2-40B4-BE49-F238E27FC236}">
                <a16:creationId xmlns:a16="http://schemas.microsoft.com/office/drawing/2014/main" id="{B3E29D16-E127-47F7-8A6B-960996E6687A}"/>
              </a:ext>
            </a:extLst>
          </p:cNvPr>
          <p:cNvSpPr>
            <a:spLocks noGrp="1"/>
          </p:cNvSpPr>
          <p:nvPr>
            <p:ph type="title"/>
          </p:nvPr>
        </p:nvSpPr>
        <p:spPr/>
        <p:txBody>
          <a:bodyPr/>
          <a:lstStyle/>
          <a:p>
            <a:r>
              <a:rPr lang="zh-CN" altLang="en-US" dirty="0"/>
              <a:t>回顧：內存角度的攻擊</a:t>
            </a:r>
          </a:p>
        </p:txBody>
      </p:sp>
      <p:sp>
        <p:nvSpPr>
          <p:cNvPr id="27" name="文本框 26">
            <a:extLst>
              <a:ext uri="{FF2B5EF4-FFF2-40B4-BE49-F238E27FC236}">
                <a16:creationId xmlns:a16="http://schemas.microsoft.com/office/drawing/2014/main" id="{0DC9919F-CA71-4543-98FB-9857981B91A1}"/>
              </a:ext>
            </a:extLst>
          </p:cNvPr>
          <p:cNvSpPr txBox="1"/>
          <p:nvPr/>
        </p:nvSpPr>
        <p:spPr>
          <a:xfrm>
            <a:off x="479730" y="5126410"/>
            <a:ext cx="6953544" cy="973472"/>
          </a:xfrm>
          <a:prstGeom prst="rect">
            <a:avLst/>
          </a:prstGeom>
          <a:noFill/>
        </p:spPr>
        <p:txBody>
          <a:bodyPr wrap="square">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本章將以堆溢出攻擊爲基礎</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構造更複雜的進程控制流劫持方案</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C03CCE3B-03FD-5F25-54EA-4013952E140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69</a:t>
            </a:fld>
            <a:endParaRPr lang="zh-CN" altLang="en-US" sz="1200" dirty="0">
              <a:solidFill>
                <a:schemeClr val="tx1">
                  <a:tint val="75000"/>
                </a:schemeClr>
              </a:solidFill>
            </a:endParaRPr>
          </a:p>
        </p:txBody>
      </p:sp>
    </p:spTree>
    <p:extLst>
      <p:ext uri="{BB962C8B-B14F-4D97-AF65-F5344CB8AC3E}">
        <p14:creationId xmlns:p14="http://schemas.microsoft.com/office/powerpoint/2010/main" val="16577316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30">
            <a:extLst>
              <a:ext uri="{FF2B5EF4-FFF2-40B4-BE49-F238E27FC236}">
                <a16:creationId xmlns:a16="http://schemas.microsoft.com/office/drawing/2014/main" id="{40A37767-A20A-D979-57F9-1B6A245A17E9}"/>
              </a:ext>
            </a:extLst>
          </p:cNvPr>
          <p:cNvSpPr>
            <a:spLocks/>
          </p:cNvSpPr>
          <p:nvPr/>
        </p:nvSpPr>
        <p:spPr bwMode="auto">
          <a:xfrm>
            <a:off x="725052" y="5108295"/>
            <a:ext cx="6356188" cy="109126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09" y="1400400"/>
            <a:ext cx="6823783" cy="282013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在第一節曾介紹，簡單的棧區溢出攻擊修改返回地址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實現進程控制流劫持</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攻擊者找尋可越界訪問內存的變量；構造惡意負載（</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Paylaod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）；輸入程序以覆蓋返回地址；幷提供要被執行的惡意代碼</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37" name="直接连接符 36">
            <a:extLst>
              <a:ext uri="{FF2B5EF4-FFF2-40B4-BE49-F238E27FC236}">
                <a16:creationId xmlns:a16="http://schemas.microsoft.com/office/drawing/2014/main" id="{5C97251D-F8B8-4F98-AB39-C3C4BFABDE24}"/>
              </a:ext>
            </a:extLst>
          </p:cNvPr>
          <p:cNvCxnSpPr>
            <a:cxnSpLocks/>
          </p:cNvCxnSpPr>
          <p:nvPr/>
        </p:nvCxnSpPr>
        <p:spPr>
          <a:xfrm>
            <a:off x="7931106"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1F161E18-0CB4-4B7B-85CE-13EA4F310793}"/>
              </a:ext>
            </a:extLst>
          </p:cNvPr>
          <p:cNvCxnSpPr>
            <a:cxnSpLocks/>
          </p:cNvCxnSpPr>
          <p:nvPr/>
        </p:nvCxnSpPr>
        <p:spPr>
          <a:xfrm>
            <a:off x="10559544" y="1488377"/>
            <a:ext cx="0" cy="43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3F3F4A85-5B1A-4AD9-A629-556DB27A3A7F}"/>
              </a:ext>
            </a:extLst>
          </p:cNvPr>
          <p:cNvSpPr txBox="1"/>
          <p:nvPr/>
        </p:nvSpPr>
        <p:spPr>
          <a:xfrm>
            <a:off x="8126806" y="1074449"/>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Higher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0" name="文本框 39">
            <a:extLst>
              <a:ext uri="{FF2B5EF4-FFF2-40B4-BE49-F238E27FC236}">
                <a16:creationId xmlns:a16="http://schemas.microsoft.com/office/drawing/2014/main" id="{3578E60C-A98F-4259-810A-837D183D993B}"/>
              </a:ext>
            </a:extLst>
          </p:cNvPr>
          <p:cNvSpPr txBox="1"/>
          <p:nvPr/>
        </p:nvSpPr>
        <p:spPr>
          <a:xfrm>
            <a:off x="8240058" y="6039195"/>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Lower Address</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1" name="文本框 40">
            <a:extLst>
              <a:ext uri="{FF2B5EF4-FFF2-40B4-BE49-F238E27FC236}">
                <a16:creationId xmlns:a16="http://schemas.microsoft.com/office/drawing/2014/main" id="{89ABDE81-098C-446E-909D-B364537CB04F}"/>
              </a:ext>
            </a:extLst>
          </p:cNvPr>
          <p:cNvSpPr txBox="1"/>
          <p:nvPr/>
        </p:nvSpPr>
        <p:spPr>
          <a:xfrm>
            <a:off x="7930658" y="202665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EBP of Caller’s Caller</a:t>
            </a:r>
          </a:p>
        </p:txBody>
      </p:sp>
      <p:cxnSp>
        <p:nvCxnSpPr>
          <p:cNvPr id="42" name="直接连接符 41">
            <a:extLst>
              <a:ext uri="{FF2B5EF4-FFF2-40B4-BE49-F238E27FC236}">
                <a16:creationId xmlns:a16="http://schemas.microsoft.com/office/drawing/2014/main" id="{D818C796-7ED4-40F6-B6E7-C45AC39B1E36}"/>
              </a:ext>
            </a:extLst>
          </p:cNvPr>
          <p:cNvCxnSpPr>
            <a:cxnSpLocks/>
          </p:cNvCxnSpPr>
          <p:nvPr/>
        </p:nvCxnSpPr>
        <p:spPr>
          <a:xfrm>
            <a:off x="7923993" y="20156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AEC2E9AC-3A23-41D1-A29D-B5007D815D2D}"/>
              </a:ext>
            </a:extLst>
          </p:cNvPr>
          <p:cNvSpPr txBox="1"/>
          <p:nvPr/>
        </p:nvSpPr>
        <p:spPr>
          <a:xfrm>
            <a:off x="7916473" y="1619643"/>
            <a:ext cx="262799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Previous Stack Frame</a:t>
            </a:r>
          </a:p>
        </p:txBody>
      </p:sp>
      <p:cxnSp>
        <p:nvCxnSpPr>
          <p:cNvPr id="73" name="直接连接符 72">
            <a:extLst>
              <a:ext uri="{FF2B5EF4-FFF2-40B4-BE49-F238E27FC236}">
                <a16:creationId xmlns:a16="http://schemas.microsoft.com/office/drawing/2014/main" id="{A3D1BBCE-6736-46C6-BC2F-D942352CEDEE}"/>
              </a:ext>
            </a:extLst>
          </p:cNvPr>
          <p:cNvCxnSpPr>
            <a:cxnSpLocks/>
          </p:cNvCxnSpPr>
          <p:nvPr/>
        </p:nvCxnSpPr>
        <p:spPr>
          <a:xfrm>
            <a:off x="7929758" y="304569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CA43E61E-4620-4D86-AE4D-4E1D4C46CABD}"/>
              </a:ext>
            </a:extLst>
          </p:cNvPr>
          <p:cNvCxnSpPr>
            <a:cxnSpLocks/>
          </p:cNvCxnSpPr>
          <p:nvPr/>
        </p:nvCxnSpPr>
        <p:spPr>
          <a:xfrm>
            <a:off x="7929758" y="242600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任意多边形: 形状 74">
            <a:extLst>
              <a:ext uri="{FF2B5EF4-FFF2-40B4-BE49-F238E27FC236}">
                <a16:creationId xmlns:a16="http://schemas.microsoft.com/office/drawing/2014/main" id="{6023B9C7-F322-45B2-9156-C6367D4CE38F}"/>
              </a:ext>
            </a:extLst>
          </p:cNvPr>
          <p:cNvSpPr/>
          <p:nvPr/>
        </p:nvSpPr>
        <p:spPr>
          <a:xfrm>
            <a:off x="7587105" y="1542361"/>
            <a:ext cx="220338" cy="661012"/>
          </a:xfrm>
          <a:custGeom>
            <a:avLst/>
            <a:gdLst>
              <a:gd name="connsiteX0" fmla="*/ 220338 w 220338"/>
              <a:gd name="connsiteY0" fmla="*/ 661012 h 661012"/>
              <a:gd name="connsiteX1" fmla="*/ 0 w 220338"/>
              <a:gd name="connsiteY1" fmla="*/ 661012 h 661012"/>
              <a:gd name="connsiteX2" fmla="*/ 0 w 220338"/>
              <a:gd name="connsiteY2" fmla="*/ 0 h 661012"/>
              <a:gd name="connsiteX3" fmla="*/ 154237 w 220338"/>
              <a:gd name="connsiteY3" fmla="*/ 0 h 661012"/>
            </a:gdLst>
            <a:ahLst/>
            <a:cxnLst>
              <a:cxn ang="0">
                <a:pos x="connsiteX0" y="connsiteY0"/>
              </a:cxn>
              <a:cxn ang="0">
                <a:pos x="connsiteX1" y="connsiteY1"/>
              </a:cxn>
              <a:cxn ang="0">
                <a:pos x="connsiteX2" y="connsiteY2"/>
              </a:cxn>
              <a:cxn ang="0">
                <a:pos x="connsiteX3" y="connsiteY3"/>
              </a:cxn>
            </a:cxnLst>
            <a:rect l="l" t="t" r="r" b="b"/>
            <a:pathLst>
              <a:path w="220338" h="661012">
                <a:moveTo>
                  <a:pt x="220338" y="661012"/>
                </a:moveTo>
                <a:lnTo>
                  <a:pt x="0" y="661012"/>
                </a:lnTo>
                <a:lnTo>
                  <a:pt x="0" y="0"/>
                </a:lnTo>
                <a:lnTo>
                  <a:pt x="154237" y="0"/>
                </a:lnTo>
              </a:path>
            </a:pathLst>
          </a:custGeom>
          <a:noFill/>
          <a:ln>
            <a:solidFill>
              <a:srgbClr val="C00000"/>
            </a:solidFill>
            <a:headEnd type="non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76" name="文本框 75">
            <a:extLst>
              <a:ext uri="{FF2B5EF4-FFF2-40B4-BE49-F238E27FC236}">
                <a16:creationId xmlns:a16="http://schemas.microsoft.com/office/drawing/2014/main" id="{3F9CCD9F-7BD5-4D53-AB24-72237A78A45E}"/>
              </a:ext>
            </a:extLst>
          </p:cNvPr>
          <p:cNvSpPr txBox="1"/>
          <p:nvPr/>
        </p:nvSpPr>
        <p:spPr>
          <a:xfrm>
            <a:off x="7938220" y="2540895"/>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Local Variables</a:t>
            </a:r>
          </a:p>
        </p:txBody>
      </p:sp>
      <p:cxnSp>
        <p:nvCxnSpPr>
          <p:cNvPr id="77" name="直接连接符 76">
            <a:extLst>
              <a:ext uri="{FF2B5EF4-FFF2-40B4-BE49-F238E27FC236}">
                <a16:creationId xmlns:a16="http://schemas.microsoft.com/office/drawing/2014/main" id="{63F33B4F-1598-43F0-A6E7-ACC733DD717A}"/>
              </a:ext>
            </a:extLst>
          </p:cNvPr>
          <p:cNvCxnSpPr>
            <a:cxnSpLocks/>
          </p:cNvCxnSpPr>
          <p:nvPr/>
        </p:nvCxnSpPr>
        <p:spPr>
          <a:xfrm>
            <a:off x="7930651" y="360043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文本框 77">
            <a:extLst>
              <a:ext uri="{FF2B5EF4-FFF2-40B4-BE49-F238E27FC236}">
                <a16:creationId xmlns:a16="http://schemas.microsoft.com/office/drawing/2014/main" id="{5CA28FD2-E414-4D03-9796-1A1DDAB429B4}"/>
              </a:ext>
            </a:extLst>
          </p:cNvPr>
          <p:cNvSpPr txBox="1"/>
          <p:nvPr/>
        </p:nvSpPr>
        <p:spPr>
          <a:xfrm>
            <a:off x="7938219" y="314527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 Arguments n … 1</a:t>
            </a:r>
          </a:p>
        </p:txBody>
      </p:sp>
      <p:cxnSp>
        <p:nvCxnSpPr>
          <p:cNvPr id="79" name="直接连接符 78">
            <a:extLst>
              <a:ext uri="{FF2B5EF4-FFF2-40B4-BE49-F238E27FC236}">
                <a16:creationId xmlns:a16="http://schemas.microsoft.com/office/drawing/2014/main" id="{D45C36B3-1EB0-41B3-B345-C8CF497529B1}"/>
              </a:ext>
            </a:extLst>
          </p:cNvPr>
          <p:cNvCxnSpPr>
            <a:cxnSpLocks/>
          </p:cNvCxnSpPr>
          <p:nvPr/>
        </p:nvCxnSpPr>
        <p:spPr>
          <a:xfrm>
            <a:off x="7927490" y="403710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06581D80-ACC7-44D3-9588-8B0D5E0BE952}"/>
              </a:ext>
            </a:extLst>
          </p:cNvPr>
          <p:cNvSpPr txBox="1"/>
          <p:nvPr/>
        </p:nvSpPr>
        <p:spPr>
          <a:xfrm>
            <a:off x="7924041" y="363702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Return Address</a:t>
            </a:r>
          </a:p>
        </p:txBody>
      </p:sp>
      <p:sp>
        <p:nvSpPr>
          <p:cNvPr id="81" name="文本框 80">
            <a:extLst>
              <a:ext uri="{FF2B5EF4-FFF2-40B4-BE49-F238E27FC236}">
                <a16:creationId xmlns:a16="http://schemas.microsoft.com/office/drawing/2014/main" id="{2C755A96-34ED-4BEE-9940-3F5C5E193BEA}"/>
              </a:ext>
            </a:extLst>
          </p:cNvPr>
          <p:cNvSpPr txBox="1"/>
          <p:nvPr/>
        </p:nvSpPr>
        <p:spPr>
          <a:xfrm>
            <a:off x="7930651" y="4087812"/>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EBP of Caller</a:t>
            </a:r>
          </a:p>
        </p:txBody>
      </p:sp>
      <p:cxnSp>
        <p:nvCxnSpPr>
          <p:cNvPr id="82" name="直接连接符 81">
            <a:extLst>
              <a:ext uri="{FF2B5EF4-FFF2-40B4-BE49-F238E27FC236}">
                <a16:creationId xmlns:a16="http://schemas.microsoft.com/office/drawing/2014/main" id="{F4A441B4-E698-4499-8A75-079B4F888A9A}"/>
              </a:ext>
            </a:extLst>
          </p:cNvPr>
          <p:cNvCxnSpPr>
            <a:cxnSpLocks/>
          </p:cNvCxnSpPr>
          <p:nvPr/>
        </p:nvCxnSpPr>
        <p:spPr>
          <a:xfrm>
            <a:off x="7929751" y="4487163"/>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任意多边形: 形状 82">
            <a:extLst>
              <a:ext uri="{FF2B5EF4-FFF2-40B4-BE49-F238E27FC236}">
                <a16:creationId xmlns:a16="http://schemas.microsoft.com/office/drawing/2014/main" id="{7A8C3217-3EB9-475E-A386-756078881781}"/>
              </a:ext>
            </a:extLst>
          </p:cNvPr>
          <p:cNvSpPr/>
          <p:nvPr/>
        </p:nvSpPr>
        <p:spPr>
          <a:xfrm>
            <a:off x="7465920" y="2324559"/>
            <a:ext cx="341523" cy="1938969"/>
          </a:xfrm>
          <a:custGeom>
            <a:avLst/>
            <a:gdLst>
              <a:gd name="connsiteX0" fmla="*/ 330506 w 341523"/>
              <a:gd name="connsiteY0" fmla="*/ 1938969 h 1938969"/>
              <a:gd name="connsiteX1" fmla="*/ 0 w 341523"/>
              <a:gd name="connsiteY1" fmla="*/ 1938969 h 1938969"/>
              <a:gd name="connsiteX2" fmla="*/ 0 w 341523"/>
              <a:gd name="connsiteY2" fmla="*/ 0 h 1938969"/>
              <a:gd name="connsiteX3" fmla="*/ 341523 w 341523"/>
              <a:gd name="connsiteY3" fmla="*/ 0 h 1938969"/>
            </a:gdLst>
            <a:ahLst/>
            <a:cxnLst>
              <a:cxn ang="0">
                <a:pos x="connsiteX0" y="connsiteY0"/>
              </a:cxn>
              <a:cxn ang="0">
                <a:pos x="connsiteX1" y="connsiteY1"/>
              </a:cxn>
              <a:cxn ang="0">
                <a:pos x="connsiteX2" y="connsiteY2"/>
              </a:cxn>
              <a:cxn ang="0">
                <a:pos x="connsiteX3" y="connsiteY3"/>
              </a:cxn>
            </a:cxnLst>
            <a:rect l="l" t="t" r="r" b="b"/>
            <a:pathLst>
              <a:path w="341523" h="1938969">
                <a:moveTo>
                  <a:pt x="330506" y="1938969"/>
                </a:moveTo>
                <a:lnTo>
                  <a:pt x="0" y="1938969"/>
                </a:lnTo>
                <a:lnTo>
                  <a:pt x="0" y="0"/>
                </a:lnTo>
                <a:lnTo>
                  <a:pt x="341523" y="0"/>
                </a:lnTo>
              </a:path>
            </a:pathLst>
          </a:custGeom>
          <a:noFill/>
          <a:ln>
            <a:solidFill>
              <a:schemeClr val="accent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84" name="直接连接符 83">
            <a:extLst>
              <a:ext uri="{FF2B5EF4-FFF2-40B4-BE49-F238E27FC236}">
                <a16:creationId xmlns:a16="http://schemas.microsoft.com/office/drawing/2014/main" id="{FDBAB3D3-E196-4069-BA7C-692F8D5999F1}"/>
              </a:ext>
            </a:extLst>
          </p:cNvPr>
          <p:cNvCxnSpPr>
            <a:cxnSpLocks/>
          </p:cNvCxnSpPr>
          <p:nvPr/>
        </p:nvCxnSpPr>
        <p:spPr>
          <a:xfrm>
            <a:off x="7929710" y="542921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BDC7F35C-3845-411C-BE15-81B22AFCDC11}"/>
              </a:ext>
            </a:extLst>
          </p:cNvPr>
          <p:cNvSpPr txBox="1"/>
          <p:nvPr/>
        </p:nvSpPr>
        <p:spPr>
          <a:xfrm>
            <a:off x="7938172" y="478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Local Variables</a:t>
            </a:r>
          </a:p>
        </p:txBody>
      </p:sp>
      <p:grpSp>
        <p:nvGrpSpPr>
          <p:cNvPr id="86" name="组合 85">
            <a:extLst>
              <a:ext uri="{FF2B5EF4-FFF2-40B4-BE49-F238E27FC236}">
                <a16:creationId xmlns:a16="http://schemas.microsoft.com/office/drawing/2014/main" id="{02F087FB-8C17-4B76-98E1-9E00F95D9975}"/>
              </a:ext>
            </a:extLst>
          </p:cNvPr>
          <p:cNvGrpSpPr/>
          <p:nvPr/>
        </p:nvGrpSpPr>
        <p:grpSpPr>
          <a:xfrm>
            <a:off x="7927672" y="3595747"/>
            <a:ext cx="2629016" cy="1658466"/>
            <a:chOff x="9893611" y="3595747"/>
            <a:chExt cx="2629016" cy="1658466"/>
          </a:xfrm>
        </p:grpSpPr>
        <p:sp>
          <p:nvSpPr>
            <p:cNvPr id="87" name="矩形 86">
              <a:extLst>
                <a:ext uri="{FF2B5EF4-FFF2-40B4-BE49-F238E27FC236}">
                  <a16:creationId xmlns:a16="http://schemas.microsoft.com/office/drawing/2014/main" id="{1EAD625D-8E5C-4209-92D6-4F611CF91495}"/>
                </a:ext>
              </a:extLst>
            </p:cNvPr>
            <p:cNvSpPr/>
            <p:nvPr/>
          </p:nvSpPr>
          <p:spPr>
            <a:xfrm>
              <a:off x="9893693" y="4038479"/>
              <a:ext cx="2628934" cy="121573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Padding Payload</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cxnSp>
          <p:nvCxnSpPr>
            <p:cNvPr id="88" name="直接连接符 87">
              <a:extLst>
                <a:ext uri="{FF2B5EF4-FFF2-40B4-BE49-F238E27FC236}">
                  <a16:creationId xmlns:a16="http://schemas.microsoft.com/office/drawing/2014/main" id="{8CD32C03-E67C-4AA2-8372-11976B3C8BC6}"/>
                </a:ext>
              </a:extLst>
            </p:cNvPr>
            <p:cNvCxnSpPr>
              <a:cxnSpLocks/>
            </p:cNvCxnSpPr>
            <p:nvPr/>
          </p:nvCxnSpPr>
          <p:spPr>
            <a:xfrm>
              <a:off x="9893611" y="4073064"/>
              <a:ext cx="262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a16="http://schemas.microsoft.com/office/drawing/2014/main" id="{C128E34B-18E0-454D-BFC1-1FAD6CC031FB}"/>
                </a:ext>
              </a:extLst>
            </p:cNvPr>
            <p:cNvSpPr/>
            <p:nvPr/>
          </p:nvSpPr>
          <p:spPr>
            <a:xfrm>
              <a:off x="9893611" y="3595747"/>
              <a:ext cx="2628934" cy="447444"/>
            </a:xfrm>
            <a:prstGeom prst="rect">
              <a:avLst/>
            </a:prstGeom>
            <a:solidFill>
              <a:srgbClr val="0070C0"/>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FFFFFF"/>
                  </a:solidFill>
                  <a:effectLst/>
                  <a:uLnTx/>
                  <a:uFillTx/>
                  <a:latin typeface="Arial"/>
                  <a:ea typeface="微软雅黑"/>
                  <a:cs typeface="+mn-cs"/>
                </a:rPr>
                <a:t>Fake Return Address</a:t>
              </a: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sp>
        <p:nvSpPr>
          <p:cNvPr id="90" name="文本框 89">
            <a:extLst>
              <a:ext uri="{FF2B5EF4-FFF2-40B4-BE49-F238E27FC236}">
                <a16:creationId xmlns:a16="http://schemas.microsoft.com/office/drawing/2014/main" id="{0F88C25D-4F79-45F2-992A-025DC815E69F}"/>
              </a:ext>
            </a:extLst>
          </p:cNvPr>
          <p:cNvSpPr txBox="1"/>
          <p:nvPr/>
        </p:nvSpPr>
        <p:spPr>
          <a:xfrm>
            <a:off x="11084289" y="5808377"/>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stdin</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91" name="任意多边形: 形状 90">
            <a:extLst>
              <a:ext uri="{FF2B5EF4-FFF2-40B4-BE49-F238E27FC236}">
                <a16:creationId xmlns:a16="http://schemas.microsoft.com/office/drawing/2014/main" id="{F1429F3B-8026-4AF7-A10D-B792EB6E51E8}"/>
              </a:ext>
            </a:extLst>
          </p:cNvPr>
          <p:cNvSpPr/>
          <p:nvPr/>
        </p:nvSpPr>
        <p:spPr>
          <a:xfrm>
            <a:off x="10594709" y="5254214"/>
            <a:ext cx="947451" cy="518626"/>
          </a:xfrm>
          <a:custGeom>
            <a:avLst/>
            <a:gdLst>
              <a:gd name="connsiteX0" fmla="*/ 947451 w 947451"/>
              <a:gd name="connsiteY0" fmla="*/ 341523 h 341523"/>
              <a:gd name="connsiteX1" fmla="*/ 947451 w 947451"/>
              <a:gd name="connsiteY1" fmla="*/ 0 h 341523"/>
              <a:gd name="connsiteX2" fmla="*/ 0 w 947451"/>
              <a:gd name="connsiteY2" fmla="*/ 0 h 341523"/>
            </a:gdLst>
            <a:ahLst/>
            <a:cxnLst>
              <a:cxn ang="0">
                <a:pos x="connsiteX0" y="connsiteY0"/>
              </a:cxn>
              <a:cxn ang="0">
                <a:pos x="connsiteX1" y="connsiteY1"/>
              </a:cxn>
              <a:cxn ang="0">
                <a:pos x="connsiteX2" y="connsiteY2"/>
              </a:cxn>
            </a:cxnLst>
            <a:rect l="l" t="t" r="r" b="b"/>
            <a:pathLst>
              <a:path w="947451" h="341523">
                <a:moveTo>
                  <a:pt x="947451" y="341523"/>
                </a:moveTo>
                <a:lnTo>
                  <a:pt x="947451" y="0"/>
                </a:lnTo>
                <a:lnTo>
                  <a:pt x="0" y="0"/>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92" name="组合 91">
            <a:extLst>
              <a:ext uri="{FF2B5EF4-FFF2-40B4-BE49-F238E27FC236}">
                <a16:creationId xmlns:a16="http://schemas.microsoft.com/office/drawing/2014/main" id="{33358E49-A268-400F-926D-06971CB7BA0D}"/>
              </a:ext>
            </a:extLst>
          </p:cNvPr>
          <p:cNvGrpSpPr/>
          <p:nvPr/>
        </p:nvGrpSpPr>
        <p:grpSpPr>
          <a:xfrm>
            <a:off x="11288770" y="2691935"/>
            <a:ext cx="716097" cy="369332"/>
            <a:chOff x="10697378" y="2404853"/>
            <a:chExt cx="716097" cy="369332"/>
          </a:xfrm>
        </p:grpSpPr>
        <p:sp>
          <p:nvSpPr>
            <p:cNvPr id="93" name="椭圆 92">
              <a:extLst>
                <a:ext uri="{FF2B5EF4-FFF2-40B4-BE49-F238E27FC236}">
                  <a16:creationId xmlns:a16="http://schemas.microsoft.com/office/drawing/2014/main" id="{EC0E768B-7B1B-4194-96E5-73F8957E0D2E}"/>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94" name="文本框 93">
              <a:extLst>
                <a:ext uri="{FF2B5EF4-FFF2-40B4-BE49-F238E27FC236}">
                  <a16:creationId xmlns:a16="http://schemas.microsoft.com/office/drawing/2014/main" id="{C504124F-AB4C-4246-B2EE-00B03FEA202D}"/>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sp>
        <p:nvSpPr>
          <p:cNvPr id="95" name="任意多边形: 形状 94">
            <a:extLst>
              <a:ext uri="{FF2B5EF4-FFF2-40B4-BE49-F238E27FC236}">
                <a16:creationId xmlns:a16="http://schemas.microsoft.com/office/drawing/2014/main" id="{66F83A4C-4963-40B7-A119-E7CDAB508919}"/>
              </a:ext>
            </a:extLst>
          </p:cNvPr>
          <p:cNvSpPr/>
          <p:nvPr/>
        </p:nvSpPr>
        <p:spPr>
          <a:xfrm>
            <a:off x="10633439" y="3035431"/>
            <a:ext cx="716437" cy="829559"/>
          </a:xfrm>
          <a:custGeom>
            <a:avLst/>
            <a:gdLst>
              <a:gd name="connsiteX0" fmla="*/ 716437 w 716437"/>
              <a:gd name="connsiteY0" fmla="*/ 0 h 829559"/>
              <a:gd name="connsiteX1" fmla="*/ 716437 w 716437"/>
              <a:gd name="connsiteY1" fmla="*/ 829559 h 829559"/>
              <a:gd name="connsiteX2" fmla="*/ 0 w 716437"/>
              <a:gd name="connsiteY2" fmla="*/ 829559 h 829559"/>
            </a:gdLst>
            <a:ahLst/>
            <a:cxnLst>
              <a:cxn ang="0">
                <a:pos x="connsiteX0" y="connsiteY0"/>
              </a:cxn>
              <a:cxn ang="0">
                <a:pos x="connsiteX1" y="connsiteY1"/>
              </a:cxn>
              <a:cxn ang="0">
                <a:pos x="connsiteX2" y="connsiteY2"/>
              </a:cxn>
            </a:cxnLst>
            <a:rect l="l" t="t" r="r" b="b"/>
            <a:pathLst>
              <a:path w="716437" h="829559">
                <a:moveTo>
                  <a:pt x="716437" y="0"/>
                </a:moveTo>
                <a:lnTo>
                  <a:pt x="716437" y="829559"/>
                </a:lnTo>
                <a:lnTo>
                  <a:pt x="0" y="829559"/>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96" name="矩形 95">
            <a:extLst>
              <a:ext uri="{FF2B5EF4-FFF2-40B4-BE49-F238E27FC236}">
                <a16:creationId xmlns:a16="http://schemas.microsoft.com/office/drawing/2014/main" id="{14F6D8C6-A95A-4C89-AF5D-76FD25AB031A}"/>
              </a:ext>
            </a:extLst>
          </p:cNvPr>
          <p:cNvSpPr/>
          <p:nvPr/>
        </p:nvSpPr>
        <p:spPr>
          <a:xfrm>
            <a:off x="10786507" y="2513689"/>
            <a:ext cx="1868355" cy="64633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97" name="文本框 96">
            <a:extLst>
              <a:ext uri="{FF2B5EF4-FFF2-40B4-BE49-F238E27FC236}">
                <a16:creationId xmlns:a16="http://schemas.microsoft.com/office/drawing/2014/main" id="{264E52E1-DF2C-479C-9C66-487624DD6AF5}"/>
              </a:ext>
            </a:extLst>
          </p:cNvPr>
          <p:cNvSpPr txBox="1"/>
          <p:nvPr/>
        </p:nvSpPr>
        <p:spPr>
          <a:xfrm>
            <a:off x="10624000" y="2147091"/>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CPU</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4B72BD93-0441-4031-AFBC-4D93990DF83B}"/>
              </a:ext>
            </a:extLst>
          </p:cNvPr>
          <p:cNvSpPr>
            <a:spLocks noGrp="1"/>
          </p:cNvSpPr>
          <p:nvPr>
            <p:ph type="title"/>
          </p:nvPr>
        </p:nvSpPr>
        <p:spPr/>
        <p:txBody>
          <a:bodyPr/>
          <a:lstStyle/>
          <a:p>
            <a:r>
              <a:rPr lang="zh-CN" altLang="en-US" dirty="0"/>
              <a:t>回顧：內存角度的攻擊</a:t>
            </a:r>
          </a:p>
        </p:txBody>
      </p:sp>
      <p:sp>
        <p:nvSpPr>
          <p:cNvPr id="48" name="文本框 47">
            <a:extLst>
              <a:ext uri="{FF2B5EF4-FFF2-40B4-BE49-F238E27FC236}">
                <a16:creationId xmlns:a16="http://schemas.microsoft.com/office/drawing/2014/main" id="{B428197A-122A-4D1B-B5ED-1DB19EB34FC0}"/>
              </a:ext>
            </a:extLst>
          </p:cNvPr>
          <p:cNvSpPr txBox="1"/>
          <p:nvPr/>
        </p:nvSpPr>
        <p:spPr>
          <a:xfrm>
            <a:off x="479730" y="5126410"/>
            <a:ext cx="6953544" cy="973472"/>
          </a:xfrm>
          <a:prstGeom prst="rect">
            <a:avLst/>
          </a:prstGeom>
          <a:noFill/>
        </p:spPr>
        <p:txBody>
          <a:bodyPr wrap="square">
            <a:spAutoFit/>
          </a:bodyPr>
          <a:lstStyle/>
          <a:p>
            <a:pPr marR="0" lvl="0" algn="ctr"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然而，簡單的棧區溢出攻擊在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等保護措施下已難以成功</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408609EA-F653-9944-9643-0CCC7657344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70</a:t>
            </a:fld>
            <a:endParaRPr lang="zh-CN" altLang="en-US" sz="1200" dirty="0">
              <a:solidFill>
                <a:schemeClr val="tx1">
                  <a:tint val="75000"/>
                </a:schemeClr>
              </a:solidFill>
            </a:endParaRPr>
          </a:p>
        </p:txBody>
      </p:sp>
    </p:spTree>
    <p:extLst>
      <p:ext uri="{BB962C8B-B14F-4D97-AF65-F5344CB8AC3E}">
        <p14:creationId xmlns:p14="http://schemas.microsoft.com/office/powerpoint/2010/main" val="4159785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wipe(down)">
                                      <p:cBhvr>
                                        <p:cTn id="7"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72918"/>
            <a:ext cx="6264857"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3</a:t>
            </a:r>
            <a:r>
              <a:rPr lang="zh-CN" altLang="en-US" sz="4000" b="1" kern="100" dirty="0">
                <a:solidFill>
                  <a:prstClr val="white"/>
                </a:solidFill>
                <a:latin typeface="微软雅黑 Light"/>
                <a:ea typeface="微软雅黑 Light"/>
                <a:cs typeface="Times New Roman" panose="02020603050405020304" pitchFamily="18" charset="0"/>
              </a:rPr>
              <a:t>節 高級控制流劫持方案</a:t>
            </a: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603872"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3.1 </a:t>
            </a:r>
            <a:r>
              <a:rPr lang="zh-CN" altLang="en-US" sz="2400" dirty="0">
                <a:latin typeface="Microsoft YaHei" panose="020B0503020204020204" pitchFamily="34" charset="-122"/>
                <a:ea typeface="Microsoft YaHei" panose="020B0503020204020204" pitchFamily="34" charset="-122"/>
              </a:rPr>
              <a:t>進程執行的更多細節</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3174267"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3.2 </a:t>
            </a:r>
            <a:r>
              <a:rPr lang="zh-CN" altLang="en-US" sz="2400" b="1" dirty="0">
                <a:solidFill>
                  <a:srgbClr val="C00000"/>
                </a:solidFill>
                <a:latin typeface="Microsoft YaHei" panose="020B0503020204020204" pitchFamily="34" charset="-122"/>
                <a:ea typeface="Microsoft YaHei" panose="020B0503020204020204" pitchFamily="34" charset="-122"/>
              </a:rPr>
              <a:t>面向返回地址編程</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866490"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3.3 </a:t>
            </a:r>
            <a:r>
              <a:rPr lang="zh-CN" altLang="en-US" sz="2400" dirty="0">
                <a:latin typeface="Microsoft YaHei" panose="020B0503020204020204" pitchFamily="34" charset="-122"/>
                <a:ea typeface="Microsoft YaHei" panose="020B0503020204020204" pitchFamily="34" charset="-122"/>
              </a:rPr>
              <a:t>全域偏置表劫持</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844048"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3.4 </a:t>
            </a:r>
            <a:r>
              <a:rPr lang="zh-CN" altLang="en-US" sz="2400" dirty="0">
                <a:latin typeface="Microsoft YaHei" panose="020B0503020204020204" pitchFamily="34" charset="-122"/>
                <a:ea typeface="Microsoft YaHei" panose="020B0503020204020204" pitchFamily="34" charset="-122"/>
              </a:rPr>
              <a:t>虛假</a:t>
            </a:r>
            <a:r>
              <a:rPr lang="en-US" altLang="zh-CN" sz="2400" dirty="0" err="1">
                <a:latin typeface="Microsoft YaHei" panose="020B0503020204020204" pitchFamily="34" charset="-122"/>
                <a:ea typeface="Microsoft YaHei" panose="020B0503020204020204" pitchFamily="34" charset="-122"/>
              </a:rPr>
              <a:t>vtable</a:t>
            </a:r>
            <a:r>
              <a:rPr lang="zh-CN" altLang="en-US" sz="2400" dirty="0">
                <a:latin typeface="Microsoft YaHei" panose="020B0503020204020204" pitchFamily="34" charset="-122"/>
                <a:ea typeface="Microsoft YaHei" panose="020B0503020204020204" pitchFamily="34" charset="-122"/>
              </a:rPr>
              <a:t>劫持</a:t>
            </a:r>
          </a:p>
        </p:txBody>
      </p:sp>
      <p:pic>
        <p:nvPicPr>
          <p:cNvPr id="27" name="图片 26">
            <a:extLst>
              <a:ext uri="{FF2B5EF4-FFF2-40B4-BE49-F238E27FC236}">
                <a16:creationId xmlns:a16="http://schemas.microsoft.com/office/drawing/2014/main" id="{F7DF9791-4E29-44C2-9123-58E634F474A2}"/>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8" name="Footer Placeholder 7">
            <a:extLst>
              <a:ext uri="{FF2B5EF4-FFF2-40B4-BE49-F238E27FC236}">
                <a16:creationId xmlns:a16="http://schemas.microsoft.com/office/drawing/2014/main" id="{95E08766-6362-0432-FF0E-A2206629ECF5}"/>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22B82CBE-BD64-6EAA-C1C3-D88DCEC38B4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71</a:t>
            </a:fld>
            <a:endParaRPr lang="zh-CN" altLang="en-US" sz="1200" dirty="0">
              <a:solidFill>
                <a:schemeClr val="tx1">
                  <a:tint val="75000"/>
                </a:schemeClr>
              </a:solidFill>
            </a:endParaRPr>
          </a:p>
        </p:txBody>
      </p:sp>
    </p:spTree>
    <p:extLst>
      <p:ext uri="{BB962C8B-B14F-4D97-AF65-F5344CB8AC3E}">
        <p14:creationId xmlns:p14="http://schemas.microsoft.com/office/powerpoint/2010/main" val="21974840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400400"/>
            <a:ext cx="6526265"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面向返回地址編程（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Return-Oriented Programming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棧區溢出攻擊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，將返回地址設置爲</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代碼段中</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的合法指令</a:t>
            </a:r>
            <a:r>
              <a:rPr kumimoji="1" lang="zh-CN" altLang="en-US"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，組合現存指令修改寄存器，劫持進程控制流</a:t>
            </a:r>
            <a:endParaRPr kumimoji="1" lang="en-US" altLang="zh-CN"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AF8C060C-44C1-46ED-B3DB-2AAD97BC8210}"/>
              </a:ext>
            </a:extLst>
          </p:cNvPr>
          <p:cNvSpPr>
            <a:spLocks noGrp="1"/>
          </p:cNvSpPr>
          <p:nvPr>
            <p:ph type="title"/>
          </p:nvPr>
        </p:nvSpPr>
        <p:spPr/>
        <p:txBody>
          <a:bodyPr>
            <a:normAutofit/>
          </a:bodyPr>
          <a:lstStyle/>
          <a:p>
            <a:r>
              <a:rPr lang="zh-CN" altLang="en-US" dirty="0"/>
              <a:t>面向返回地址編程</a:t>
            </a:r>
          </a:p>
        </p:txBody>
      </p:sp>
      <p:sp>
        <p:nvSpPr>
          <p:cNvPr id="36" name="矩形 35">
            <a:extLst>
              <a:ext uri="{FF2B5EF4-FFF2-40B4-BE49-F238E27FC236}">
                <a16:creationId xmlns:a16="http://schemas.microsoft.com/office/drawing/2014/main" id="{7C1D1948-1692-4A81-B764-47C70B917B16}"/>
              </a:ext>
            </a:extLst>
          </p:cNvPr>
          <p:cNvSpPr>
            <a:spLocks/>
          </p:cNvSpPr>
          <p:nvPr/>
        </p:nvSpPr>
        <p:spPr bwMode="auto">
          <a:xfrm>
            <a:off x="570467" y="3824910"/>
            <a:ext cx="6568888" cy="1519925"/>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7" name="文本框 14">
            <a:extLst>
              <a:ext uri="{FF2B5EF4-FFF2-40B4-BE49-F238E27FC236}">
                <a16:creationId xmlns:a16="http://schemas.microsoft.com/office/drawing/2014/main" id="{BC794B91-4D34-4289-9B62-F2A67AA4262D}"/>
              </a:ext>
            </a:extLst>
          </p:cNvPr>
          <p:cNvSpPr txBox="1"/>
          <p:nvPr/>
        </p:nvSpPr>
        <p:spPr>
          <a:xfrm>
            <a:off x="649735" y="4094012"/>
            <a:ext cx="6489620" cy="973472"/>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利用進程內存空間當中現存的指令， </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“編寫”</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惡意程序，劫持進程的控制流</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4F9E6D43-E03C-84B3-22A2-C545359DABC4}"/>
              </a:ext>
            </a:extLst>
          </p:cNvPr>
          <p:cNvPicPr>
            <a:picLocks noChangeAspect="1"/>
          </p:cNvPicPr>
          <p:nvPr/>
        </p:nvPicPr>
        <p:blipFill>
          <a:blip r:embed="rId3"/>
          <a:stretch>
            <a:fillRect/>
          </a:stretch>
        </p:blipFill>
        <p:spPr>
          <a:xfrm>
            <a:off x="7391343" y="1834681"/>
            <a:ext cx="4651608" cy="3178349"/>
          </a:xfrm>
          <a:prstGeom prst="rect">
            <a:avLst/>
          </a:prstGeom>
        </p:spPr>
      </p:pic>
      <p:sp>
        <p:nvSpPr>
          <p:cNvPr id="4" name="Slide Number Placeholder 7">
            <a:extLst>
              <a:ext uri="{FF2B5EF4-FFF2-40B4-BE49-F238E27FC236}">
                <a16:creationId xmlns:a16="http://schemas.microsoft.com/office/drawing/2014/main" id="{B82683E6-035E-48E0-E10D-6FD3938F8480}"/>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72</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996234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24EE7BF-AE9D-AE53-5BF0-FBBF66C0B7B7}"/>
              </a:ext>
            </a:extLst>
          </p:cNvPr>
          <p:cNvPicPr>
            <a:picLocks noChangeAspect="1"/>
          </p:cNvPicPr>
          <p:nvPr/>
        </p:nvPicPr>
        <p:blipFill>
          <a:blip r:embed="rId3"/>
          <a:stretch>
            <a:fillRect/>
          </a:stretch>
        </p:blipFill>
        <p:spPr>
          <a:xfrm>
            <a:off x="3981679" y="2280277"/>
            <a:ext cx="8103641" cy="3587467"/>
          </a:xfrm>
          <a:prstGeom prst="rect">
            <a:avLst/>
          </a:prstGeom>
        </p:spPr>
      </p:pic>
      <p:sp>
        <p:nvSpPr>
          <p:cNvPr id="8" name="文本框 14">
            <a:extLst>
              <a:ext uri="{FF2B5EF4-FFF2-40B4-BE49-F238E27FC236}">
                <a16:creationId xmlns:a16="http://schemas.microsoft.com/office/drawing/2014/main" id="{0FC9A5B1-66EA-467E-AD2B-4AEF6014A23C}"/>
              </a:ext>
            </a:extLst>
          </p:cNvPr>
          <p:cNvSpPr txBox="1"/>
          <p:nvPr/>
        </p:nvSpPr>
        <p:spPr>
          <a:xfrm>
            <a:off x="492509" y="1295019"/>
            <a:ext cx="6072257"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面向返回地址編程構造惡意程序</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所需</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的指令片段被稱爲 </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p>
        </p:txBody>
      </p:sp>
      <p:cxnSp>
        <p:nvCxnSpPr>
          <p:cNvPr id="93" name="直接连接符 92">
            <a:extLst>
              <a:ext uri="{FF2B5EF4-FFF2-40B4-BE49-F238E27FC236}">
                <a16:creationId xmlns:a16="http://schemas.microsoft.com/office/drawing/2014/main" id="{2F8FD245-89D5-431C-8C68-E3FEA25DA33C}"/>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4" name="文本框 14">
            <a:extLst>
              <a:ext uri="{FF2B5EF4-FFF2-40B4-BE49-F238E27FC236}">
                <a16:creationId xmlns:a16="http://schemas.microsoft.com/office/drawing/2014/main" id="{57EE38BD-B1DB-402F-91E7-404A32AC3A3F}"/>
              </a:ext>
            </a:extLst>
          </p:cNvPr>
          <p:cNvSpPr txBox="1"/>
          <p:nvPr/>
        </p:nvSpPr>
        <p:spPr>
          <a:xfrm>
            <a:off x="561975" y="6235648"/>
            <a:ext cx="547200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Gadget</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在代碼段，地址固定</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可以通過逆向工程工具直接獲得</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标题 2">
            <a:extLst>
              <a:ext uri="{FF2B5EF4-FFF2-40B4-BE49-F238E27FC236}">
                <a16:creationId xmlns:a16="http://schemas.microsoft.com/office/drawing/2014/main" id="{882FE75F-7237-4270-965C-2ECC8BD29EEC}"/>
              </a:ext>
            </a:extLst>
          </p:cNvPr>
          <p:cNvSpPr>
            <a:spLocks noGrp="1"/>
          </p:cNvSpPr>
          <p:nvPr>
            <p:ph type="title"/>
          </p:nvPr>
        </p:nvSpPr>
        <p:spPr/>
        <p:txBody>
          <a:bodyPr/>
          <a:lstStyle/>
          <a:p>
            <a:r>
              <a:rPr lang="zh-CN" altLang="en-US" dirty="0"/>
              <a:t>面向返回地址編程</a:t>
            </a:r>
          </a:p>
        </p:txBody>
      </p:sp>
      <p:sp>
        <p:nvSpPr>
          <p:cNvPr id="47" name="矩形 46">
            <a:extLst>
              <a:ext uri="{FF2B5EF4-FFF2-40B4-BE49-F238E27FC236}">
                <a16:creationId xmlns:a16="http://schemas.microsoft.com/office/drawing/2014/main" id="{E8757ED7-77C7-4530-A372-75FA4BA44273}"/>
              </a:ext>
            </a:extLst>
          </p:cNvPr>
          <p:cNvSpPr>
            <a:spLocks/>
          </p:cNvSpPr>
          <p:nvPr/>
        </p:nvSpPr>
        <p:spPr bwMode="auto">
          <a:xfrm>
            <a:off x="735979" y="2416502"/>
            <a:ext cx="5653199" cy="722387"/>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48" name="文本框 14">
            <a:extLst>
              <a:ext uri="{FF2B5EF4-FFF2-40B4-BE49-F238E27FC236}">
                <a16:creationId xmlns:a16="http://schemas.microsoft.com/office/drawing/2014/main" id="{F592C9B0-766D-4A99-94AF-670F97E2D991}"/>
              </a:ext>
            </a:extLst>
          </p:cNvPr>
          <p:cNvSpPr txBox="1"/>
          <p:nvPr/>
        </p:nvSpPr>
        <p:spPr>
          <a:xfrm>
            <a:off x="770895" y="2554139"/>
            <a:ext cx="5532060" cy="461665"/>
          </a:xfrm>
          <a:prstGeom prst="rect">
            <a:avLst/>
          </a:prstGeom>
          <a:noFill/>
        </p:spPr>
        <p:txBody>
          <a:bodyPr wrap="square" rtlCol="0">
            <a:spAutoFit/>
          </a:bodyPr>
          <a:lstStyle/>
          <a:p>
            <a:pPr algn="ctr"/>
            <a:r>
              <a:rPr lang="en-US" altLang="zh-CN" sz="2400" dirty="0">
                <a:latin typeface="Microsoft YaHei" panose="020B0503020204020204" pitchFamily="34" charset="-122"/>
                <a:ea typeface="Microsoft YaHei" panose="020B0503020204020204" pitchFamily="34" charset="-122"/>
                <a:sym typeface="Arial" panose="020B0604020202020204" pitchFamily="34" charset="0"/>
              </a:rPr>
              <a:t>Gadget</a:t>
            </a:r>
            <a:r>
              <a:rPr lang="zh-CN" altLang="en-US" sz="2400" dirty="0">
                <a:latin typeface="Microsoft YaHei" panose="020B0503020204020204" pitchFamily="34" charset="-122"/>
                <a:ea typeface="Microsoft YaHei" panose="020B0503020204020204" pitchFamily="34" charset="-122"/>
                <a:sym typeface="Arial" panose="020B0604020202020204" pitchFamily="34" charset="0"/>
              </a:rPr>
              <a:t>均以</a:t>
            </a:r>
            <a:r>
              <a:rPr lang="en-US" altLang="zh-CN" sz="2400" b="1" dirty="0">
                <a:solidFill>
                  <a:srgbClr val="002060"/>
                </a:solidFill>
                <a:latin typeface="Microsoft YaHei" panose="020B0503020204020204" pitchFamily="34" charset="-122"/>
                <a:ea typeface="Microsoft YaHei" panose="020B0503020204020204" pitchFamily="34" charset="-122"/>
                <a:sym typeface="Arial" panose="020B0604020202020204" pitchFamily="34" charset="0"/>
              </a:rPr>
              <a:t>RET</a:t>
            </a:r>
            <a:r>
              <a:rPr lang="zh-CN" altLang="en-US" sz="2400" b="1" dirty="0">
                <a:solidFill>
                  <a:srgbClr val="002060"/>
                </a:solidFill>
                <a:latin typeface="Microsoft YaHei" panose="020B0503020204020204" pitchFamily="34" charset="-122"/>
                <a:ea typeface="Microsoft YaHei" panose="020B0503020204020204" pitchFamily="34" charset="-122"/>
                <a:sym typeface="Arial" panose="020B0604020202020204" pitchFamily="34" charset="0"/>
              </a:rPr>
              <a:t>指令</a:t>
            </a:r>
            <a:r>
              <a:rPr lang="zh-CN" altLang="en-US" sz="2400" dirty="0">
                <a:latin typeface="Microsoft YaHei" panose="020B0503020204020204" pitchFamily="34" charset="-122"/>
                <a:ea typeface="Microsoft YaHei" panose="020B0503020204020204" pitchFamily="34" charset="-122"/>
                <a:sym typeface="Arial" panose="020B0604020202020204" pitchFamily="34" charset="0"/>
              </a:rPr>
              <a:t>結尾</a:t>
            </a:r>
          </a:p>
        </p:txBody>
      </p:sp>
      <p:sp>
        <p:nvSpPr>
          <p:cNvPr id="49" name="文本框 14">
            <a:extLst>
              <a:ext uri="{FF2B5EF4-FFF2-40B4-BE49-F238E27FC236}">
                <a16:creationId xmlns:a16="http://schemas.microsoft.com/office/drawing/2014/main" id="{581C6DD5-AABE-46C2-95C3-E6A59F547104}"/>
              </a:ext>
            </a:extLst>
          </p:cNvPr>
          <p:cNvSpPr txBox="1"/>
          <p:nvPr/>
        </p:nvSpPr>
        <p:spPr>
          <a:xfrm>
            <a:off x="526449" y="3458794"/>
            <a:ext cx="6072257" cy="973472"/>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執行後，</a:t>
            </a:r>
            <a:r>
              <a:rPr kumimoji="1"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RET</a:t>
            </a:r>
            <a:r>
              <a:rPr kumimoji="1"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將跳轉執行下一個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p>
        </p:txBody>
      </p:sp>
      <p:sp>
        <p:nvSpPr>
          <p:cNvPr id="2" name="Slide Number Placeholder 7">
            <a:extLst>
              <a:ext uri="{FF2B5EF4-FFF2-40B4-BE49-F238E27FC236}">
                <a16:creationId xmlns:a16="http://schemas.microsoft.com/office/drawing/2014/main" id="{17D5B4E9-5B46-7D38-02C6-D72A2BC3DF8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73</a:t>
            </a:fld>
            <a:endParaRPr lang="zh-CN" altLang="en-US" sz="1200" dirty="0">
              <a:solidFill>
                <a:schemeClr val="tx1">
                  <a:tint val="75000"/>
                </a:schemeClr>
              </a:solidFill>
            </a:endParaRPr>
          </a:p>
        </p:txBody>
      </p:sp>
    </p:spTree>
    <p:extLst>
      <p:ext uri="{BB962C8B-B14F-4D97-AF65-F5344CB8AC3E}">
        <p14:creationId xmlns:p14="http://schemas.microsoft.com/office/powerpoint/2010/main" val="352530945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742167"/>
            <a:ext cx="11009102"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的實現的任意系統調用：</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核心思想爲組合排列</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構造</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寄存器爲系統調用時的狀態如下：</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sys_read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系統調用爲例：實現惡意</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操作）</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4476DA25-ABA7-4C23-B491-8A522A2FDEB2}"/>
              </a:ext>
            </a:extLst>
          </p:cNvPr>
          <p:cNvSpPr txBox="1"/>
          <p:nvPr/>
        </p:nvSpPr>
        <p:spPr>
          <a:xfrm>
            <a:off x="2299768" y="4033538"/>
            <a:ext cx="813963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err="1">
                <a:ln>
                  <a:noFill/>
                </a:ln>
                <a:solidFill>
                  <a:schemeClr val="accent3"/>
                </a:solidFill>
                <a:effectLst/>
                <a:uLnTx/>
                <a:uFillTx/>
                <a:latin typeface="Arial"/>
                <a:ea typeface="等线" panose="02010600030101010101" pitchFamily="2" charset="-122"/>
                <a:cs typeface="Times New Roman" panose="02020603050405020304" pitchFamily="18" charset="0"/>
              </a:rPr>
              <a:t>ssize_t</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err="1">
                <a:ln>
                  <a:noFill/>
                </a:ln>
                <a:solidFill>
                  <a:srgbClr val="C00000"/>
                </a:solidFill>
                <a:effectLst/>
                <a:uLnTx/>
                <a:uFillTx/>
                <a:latin typeface="Arial"/>
                <a:ea typeface="等线" panose="02010600030101010101" pitchFamily="2" charset="-122"/>
                <a:cs typeface="Times New Roman" panose="02020603050405020304" pitchFamily="18" charset="0"/>
              </a:rPr>
              <a:t>sys_read</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a:t>
            </a:r>
            <a:r>
              <a:rPr kumimoji="1" lang="en-US" altLang="zh-CN" sz="2400" b="0" i="0" u="none" strike="noStrike" kern="1200" cap="none" spc="0" normalizeH="0" baseline="0" noProof="0" dirty="0">
                <a:ln>
                  <a:noFill/>
                </a:ln>
                <a:solidFill>
                  <a:schemeClr val="accent3"/>
                </a:solidFill>
                <a:effectLst/>
                <a:uLnTx/>
                <a:uFillTx/>
                <a:latin typeface="Arial"/>
                <a:ea typeface="等线" panose="02010600030101010101" pitchFamily="2" charset="-122"/>
                <a:cs typeface="Times New Roman" panose="02020603050405020304" pitchFamily="18" charset="0"/>
              </a:rPr>
              <a:t>unsigned int</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err="1">
                <a:ln>
                  <a:noFill/>
                </a:ln>
                <a:solidFill>
                  <a:srgbClr val="000000"/>
                </a:solidFill>
                <a:effectLst/>
                <a:uLnTx/>
                <a:uFillTx/>
                <a:latin typeface="Arial"/>
                <a:ea typeface="等线" panose="02010600030101010101" pitchFamily="2" charset="-122"/>
                <a:cs typeface="Times New Roman" panose="02020603050405020304" pitchFamily="18" charset="0"/>
              </a:rPr>
              <a:t>fd</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a:ln>
                  <a:noFill/>
                </a:ln>
                <a:solidFill>
                  <a:schemeClr val="accent3"/>
                </a:solidFill>
                <a:effectLst/>
                <a:uLnTx/>
                <a:uFillTx/>
                <a:latin typeface="Arial"/>
                <a:ea typeface="等线" panose="02010600030101010101" pitchFamily="2" charset="-122"/>
                <a:cs typeface="Times New Roman" panose="02020603050405020304" pitchFamily="18" charset="0"/>
              </a:rPr>
              <a:t>char *</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err="1">
                <a:ln>
                  <a:noFill/>
                </a:ln>
                <a:solidFill>
                  <a:srgbClr val="000000"/>
                </a:solidFill>
                <a:effectLst/>
                <a:uLnTx/>
                <a:uFillTx/>
                <a:latin typeface="Arial"/>
                <a:ea typeface="等线" panose="02010600030101010101" pitchFamily="2" charset="-122"/>
                <a:cs typeface="Times New Roman" panose="02020603050405020304" pitchFamily="18" charset="0"/>
              </a:rPr>
              <a:t>buf</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err="1">
                <a:ln>
                  <a:noFill/>
                </a:ln>
                <a:solidFill>
                  <a:schemeClr val="accent3"/>
                </a:solidFill>
                <a:effectLst/>
                <a:uLnTx/>
                <a:uFillTx/>
                <a:latin typeface="Arial"/>
                <a:ea typeface="等线" panose="02010600030101010101" pitchFamily="2" charset="-122"/>
                <a:cs typeface="Times New Roman" panose="02020603050405020304" pitchFamily="18" charset="0"/>
              </a:rPr>
              <a:t>size_t</a:t>
            </a:r>
            <a:r>
              <a:rPr kumimoji="1" lang="en-US" altLang="zh-CN" sz="2400" b="0" i="0" u="none" strike="noStrike" kern="1200" cap="none" spc="0" normalizeH="0" baseline="0" noProof="0" dirty="0">
                <a:ln>
                  <a:noFill/>
                </a:ln>
                <a:solidFill>
                  <a:schemeClr val="accent3"/>
                </a:solidFill>
                <a:effectLst/>
                <a:uLnTx/>
                <a:uFillTx/>
                <a:latin typeface="Arial"/>
                <a:ea typeface="等线" panose="02010600030101010101" pitchFamily="2" charset="-122"/>
                <a:cs typeface="Times New Roman" panose="02020603050405020304" pitchFamily="18" charset="0"/>
              </a:rPr>
              <a:t> </a:t>
            </a:r>
            <a:r>
              <a:rPr kumimoji="1" lang="en-US" altLang="zh-CN" sz="24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count)</a:t>
            </a:r>
          </a:p>
        </p:txBody>
      </p:sp>
      <p:cxnSp>
        <p:nvCxnSpPr>
          <p:cNvPr id="3" name="直接箭头连接符 2">
            <a:extLst>
              <a:ext uri="{FF2B5EF4-FFF2-40B4-BE49-F238E27FC236}">
                <a16:creationId xmlns:a16="http://schemas.microsoft.com/office/drawing/2014/main" id="{741DCDA1-6108-4831-B828-F84EFB12C534}"/>
              </a:ext>
            </a:extLst>
          </p:cNvPr>
          <p:cNvCxnSpPr/>
          <p:nvPr/>
        </p:nvCxnSpPr>
        <p:spPr>
          <a:xfrm>
            <a:off x="4141134" y="4495203"/>
            <a:ext cx="0" cy="4255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6D6FA8E8-FDC1-4EF1-8D49-8A8AC9F0ED58}"/>
              </a:ext>
            </a:extLst>
          </p:cNvPr>
          <p:cNvCxnSpPr/>
          <p:nvPr/>
        </p:nvCxnSpPr>
        <p:spPr>
          <a:xfrm>
            <a:off x="6670700" y="4494772"/>
            <a:ext cx="0" cy="4255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F083B01-7125-4844-BD3F-33FE1BDC6EDF}"/>
              </a:ext>
            </a:extLst>
          </p:cNvPr>
          <p:cNvCxnSpPr/>
          <p:nvPr/>
        </p:nvCxnSpPr>
        <p:spPr>
          <a:xfrm>
            <a:off x="8105146" y="4494772"/>
            <a:ext cx="0" cy="4255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A293E738-89DB-4CE4-9C45-70040134CB72}"/>
              </a:ext>
            </a:extLst>
          </p:cNvPr>
          <p:cNvCxnSpPr/>
          <p:nvPr/>
        </p:nvCxnSpPr>
        <p:spPr>
          <a:xfrm>
            <a:off x="9446703" y="4494772"/>
            <a:ext cx="0" cy="4255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056712CE-1D0A-4E34-A362-076B74091FD6}"/>
              </a:ext>
            </a:extLst>
          </p:cNvPr>
          <p:cNvSpPr txBox="1"/>
          <p:nvPr/>
        </p:nvSpPr>
        <p:spPr>
          <a:xfrm>
            <a:off x="2897458" y="5049365"/>
            <a:ext cx="2487350" cy="369332"/>
          </a:xfrm>
          <a:prstGeom prst="rect">
            <a:avLst/>
          </a:prstGeom>
          <a:noFill/>
        </p:spPr>
        <p:txBody>
          <a:bodyPr wrap="square" rtlCol="0">
            <a:spAutoFit/>
          </a:bodyPr>
          <a:lstStyle>
            <a:defPPr>
              <a:defRPr lang="zh-CN"/>
            </a:defPPr>
            <a:lvl1pPr algn="ctr">
              <a:defRPr kumimoji="1">
                <a:latin typeface="+mj-lt"/>
                <a:ea typeface="等线" panose="02010600030101010101" pitchFamily="2" charset="-122"/>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System Call Number </a:t>
            </a:r>
          </a:p>
        </p:txBody>
      </p:sp>
      <p:sp>
        <p:nvSpPr>
          <p:cNvPr id="19" name="文本框 18">
            <a:extLst>
              <a:ext uri="{FF2B5EF4-FFF2-40B4-BE49-F238E27FC236}">
                <a16:creationId xmlns:a16="http://schemas.microsoft.com/office/drawing/2014/main" id="{8FFCC555-CDD3-4A32-930F-29E131D371EA}"/>
              </a:ext>
            </a:extLst>
          </p:cNvPr>
          <p:cNvSpPr txBox="1"/>
          <p:nvPr/>
        </p:nvSpPr>
        <p:spPr>
          <a:xfrm>
            <a:off x="6117653" y="5049365"/>
            <a:ext cx="110609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Param 1</a:t>
            </a:r>
          </a:p>
        </p:txBody>
      </p:sp>
      <p:sp>
        <p:nvSpPr>
          <p:cNvPr id="20" name="文本框 19">
            <a:extLst>
              <a:ext uri="{FF2B5EF4-FFF2-40B4-BE49-F238E27FC236}">
                <a16:creationId xmlns:a16="http://schemas.microsoft.com/office/drawing/2014/main" id="{0811BF04-AC90-4F6F-A5A5-3F6E7EE7C34F}"/>
              </a:ext>
            </a:extLst>
          </p:cNvPr>
          <p:cNvSpPr txBox="1"/>
          <p:nvPr/>
        </p:nvSpPr>
        <p:spPr>
          <a:xfrm>
            <a:off x="7552099" y="5049365"/>
            <a:ext cx="110609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Param 2</a:t>
            </a:r>
          </a:p>
        </p:txBody>
      </p:sp>
      <p:sp>
        <p:nvSpPr>
          <p:cNvPr id="21" name="文本框 20">
            <a:extLst>
              <a:ext uri="{FF2B5EF4-FFF2-40B4-BE49-F238E27FC236}">
                <a16:creationId xmlns:a16="http://schemas.microsoft.com/office/drawing/2014/main" id="{BEF6F958-43B7-4360-B7FC-04BB25A93F18}"/>
              </a:ext>
            </a:extLst>
          </p:cNvPr>
          <p:cNvSpPr txBox="1"/>
          <p:nvPr/>
        </p:nvSpPr>
        <p:spPr>
          <a:xfrm>
            <a:off x="8893656" y="5073102"/>
            <a:ext cx="110609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Param 3</a:t>
            </a:r>
          </a:p>
        </p:txBody>
      </p:sp>
      <p:grpSp>
        <p:nvGrpSpPr>
          <p:cNvPr id="26" name="组合 25">
            <a:extLst>
              <a:ext uri="{FF2B5EF4-FFF2-40B4-BE49-F238E27FC236}">
                <a16:creationId xmlns:a16="http://schemas.microsoft.com/office/drawing/2014/main" id="{EAD1FFA8-8B6F-4EB8-9245-8A3F3A7372EB}"/>
              </a:ext>
            </a:extLst>
          </p:cNvPr>
          <p:cNvGrpSpPr/>
          <p:nvPr/>
        </p:nvGrpSpPr>
        <p:grpSpPr>
          <a:xfrm>
            <a:off x="4141133" y="6169965"/>
            <a:ext cx="716097" cy="369332"/>
            <a:chOff x="10697378" y="2404853"/>
            <a:chExt cx="716097" cy="369332"/>
          </a:xfrm>
        </p:grpSpPr>
        <p:sp>
          <p:nvSpPr>
            <p:cNvPr id="27" name="椭圆 26">
              <a:extLst>
                <a:ext uri="{FF2B5EF4-FFF2-40B4-BE49-F238E27FC236}">
                  <a16:creationId xmlns:a16="http://schemas.microsoft.com/office/drawing/2014/main" id="{202D043B-0507-4303-B8EB-2702F30F6993}"/>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8" name="文本框 27">
              <a:extLst>
                <a:ext uri="{FF2B5EF4-FFF2-40B4-BE49-F238E27FC236}">
                  <a16:creationId xmlns:a16="http://schemas.microsoft.com/office/drawing/2014/main" id="{026F4725-0430-40C4-BEE3-ABB8F4CC1EA8}"/>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EAX</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grpSp>
        <p:nvGrpSpPr>
          <p:cNvPr id="29" name="组合 28">
            <a:extLst>
              <a:ext uri="{FF2B5EF4-FFF2-40B4-BE49-F238E27FC236}">
                <a16:creationId xmlns:a16="http://schemas.microsoft.com/office/drawing/2014/main" id="{4839D5D7-9603-46B6-9C11-9257E7669C36}"/>
              </a:ext>
            </a:extLst>
          </p:cNvPr>
          <p:cNvGrpSpPr/>
          <p:nvPr/>
        </p:nvGrpSpPr>
        <p:grpSpPr>
          <a:xfrm>
            <a:off x="6634928" y="6169965"/>
            <a:ext cx="716097" cy="369332"/>
            <a:chOff x="10697378" y="2404853"/>
            <a:chExt cx="716097" cy="369332"/>
          </a:xfrm>
        </p:grpSpPr>
        <p:sp>
          <p:nvSpPr>
            <p:cNvPr id="30" name="椭圆 29">
              <a:extLst>
                <a:ext uri="{FF2B5EF4-FFF2-40B4-BE49-F238E27FC236}">
                  <a16:creationId xmlns:a16="http://schemas.microsoft.com/office/drawing/2014/main" id="{2B604D97-8840-40D6-A00C-1F38A9E1DCBD}"/>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1" name="文本框 30">
              <a:extLst>
                <a:ext uri="{FF2B5EF4-FFF2-40B4-BE49-F238E27FC236}">
                  <a16:creationId xmlns:a16="http://schemas.microsoft.com/office/drawing/2014/main" id="{FE302B7F-FBE4-488D-8A02-C38883C8D8D2}"/>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EBX</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grpSp>
        <p:nvGrpSpPr>
          <p:cNvPr id="32" name="组合 31">
            <a:extLst>
              <a:ext uri="{FF2B5EF4-FFF2-40B4-BE49-F238E27FC236}">
                <a16:creationId xmlns:a16="http://schemas.microsoft.com/office/drawing/2014/main" id="{044427C5-68F4-4965-B65F-824C54DEA623}"/>
              </a:ext>
            </a:extLst>
          </p:cNvPr>
          <p:cNvGrpSpPr/>
          <p:nvPr/>
        </p:nvGrpSpPr>
        <p:grpSpPr>
          <a:xfrm>
            <a:off x="8122427" y="6169965"/>
            <a:ext cx="799468" cy="369332"/>
            <a:chOff x="10697378" y="2404853"/>
            <a:chExt cx="799468" cy="369332"/>
          </a:xfrm>
        </p:grpSpPr>
        <p:sp>
          <p:nvSpPr>
            <p:cNvPr id="33" name="椭圆 32">
              <a:extLst>
                <a:ext uri="{FF2B5EF4-FFF2-40B4-BE49-F238E27FC236}">
                  <a16:creationId xmlns:a16="http://schemas.microsoft.com/office/drawing/2014/main" id="{2DD1B3E5-384E-4277-BE9A-04B5FC94E3B0}"/>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34" name="文本框 33">
              <a:extLst>
                <a:ext uri="{FF2B5EF4-FFF2-40B4-BE49-F238E27FC236}">
                  <a16:creationId xmlns:a16="http://schemas.microsoft.com/office/drawing/2014/main" id="{18F141B8-2396-4E77-A6FC-D4DB40F244D7}"/>
                </a:ext>
              </a:extLst>
            </p:cNvPr>
            <p:cNvSpPr txBox="1"/>
            <p:nvPr/>
          </p:nvSpPr>
          <p:spPr>
            <a:xfrm>
              <a:off x="10767480" y="2404853"/>
              <a:ext cx="7293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ECX</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grpSp>
        <p:nvGrpSpPr>
          <p:cNvPr id="38" name="组合 37">
            <a:extLst>
              <a:ext uri="{FF2B5EF4-FFF2-40B4-BE49-F238E27FC236}">
                <a16:creationId xmlns:a16="http://schemas.microsoft.com/office/drawing/2014/main" id="{AB7B1846-2B79-4FA4-BFCA-10B3EB8B4A0A}"/>
              </a:ext>
            </a:extLst>
          </p:cNvPr>
          <p:cNvGrpSpPr/>
          <p:nvPr/>
        </p:nvGrpSpPr>
        <p:grpSpPr>
          <a:xfrm>
            <a:off x="9446703" y="6161900"/>
            <a:ext cx="799468" cy="369332"/>
            <a:chOff x="10697378" y="2404853"/>
            <a:chExt cx="799468" cy="369332"/>
          </a:xfrm>
        </p:grpSpPr>
        <p:sp>
          <p:nvSpPr>
            <p:cNvPr id="39" name="椭圆 38">
              <a:extLst>
                <a:ext uri="{FF2B5EF4-FFF2-40B4-BE49-F238E27FC236}">
                  <a16:creationId xmlns:a16="http://schemas.microsoft.com/office/drawing/2014/main" id="{69E8548A-8C5C-4035-BA71-C97B84F7A3E4}"/>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0" name="文本框 39">
              <a:extLst>
                <a:ext uri="{FF2B5EF4-FFF2-40B4-BE49-F238E27FC236}">
                  <a16:creationId xmlns:a16="http://schemas.microsoft.com/office/drawing/2014/main" id="{8C285745-23D3-4DB3-9ADC-A45C540AABAE}"/>
                </a:ext>
              </a:extLst>
            </p:cNvPr>
            <p:cNvSpPr txBox="1"/>
            <p:nvPr/>
          </p:nvSpPr>
          <p:spPr>
            <a:xfrm>
              <a:off x="10767480" y="2404853"/>
              <a:ext cx="72936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EDX</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cxnSp>
        <p:nvCxnSpPr>
          <p:cNvPr id="41" name="直接箭头连接符 40">
            <a:extLst>
              <a:ext uri="{FF2B5EF4-FFF2-40B4-BE49-F238E27FC236}">
                <a16:creationId xmlns:a16="http://schemas.microsoft.com/office/drawing/2014/main" id="{FDB652A3-5081-43CB-A3F4-CA70D67478FA}"/>
              </a:ext>
            </a:extLst>
          </p:cNvPr>
          <p:cNvCxnSpPr>
            <a:cxnSpLocks/>
          </p:cNvCxnSpPr>
          <p:nvPr/>
        </p:nvCxnSpPr>
        <p:spPr>
          <a:xfrm>
            <a:off x="9446703" y="5452372"/>
            <a:ext cx="0" cy="628378"/>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D2A2C072-A123-49EF-B7B2-06A2CCA3C907}"/>
              </a:ext>
            </a:extLst>
          </p:cNvPr>
          <p:cNvCxnSpPr>
            <a:cxnSpLocks/>
          </p:cNvCxnSpPr>
          <p:nvPr/>
        </p:nvCxnSpPr>
        <p:spPr>
          <a:xfrm>
            <a:off x="8122427" y="5452372"/>
            <a:ext cx="0" cy="628378"/>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C65BA68A-292C-4B58-97F5-3AF9D0319DD8}"/>
              </a:ext>
            </a:extLst>
          </p:cNvPr>
          <p:cNvCxnSpPr>
            <a:cxnSpLocks/>
          </p:cNvCxnSpPr>
          <p:nvPr/>
        </p:nvCxnSpPr>
        <p:spPr>
          <a:xfrm>
            <a:off x="6658121" y="5452372"/>
            <a:ext cx="0" cy="628378"/>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0528D7B9-CC22-46BA-9368-A575794090E9}"/>
              </a:ext>
            </a:extLst>
          </p:cNvPr>
          <p:cNvCxnSpPr>
            <a:cxnSpLocks/>
          </p:cNvCxnSpPr>
          <p:nvPr/>
        </p:nvCxnSpPr>
        <p:spPr>
          <a:xfrm>
            <a:off x="4141133" y="5453451"/>
            <a:ext cx="0" cy="628378"/>
          </a:xfrm>
          <a:prstGeom prst="straightConnector1">
            <a:avLst/>
          </a:prstGeom>
          <a:ln w="127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pSp>
        <p:nvGrpSpPr>
          <p:cNvPr id="45" name="组合 44">
            <a:extLst>
              <a:ext uri="{FF2B5EF4-FFF2-40B4-BE49-F238E27FC236}">
                <a16:creationId xmlns:a16="http://schemas.microsoft.com/office/drawing/2014/main" id="{2EA631B8-F040-42B9-AD79-C93ACAD9BB2D}"/>
              </a:ext>
            </a:extLst>
          </p:cNvPr>
          <p:cNvGrpSpPr/>
          <p:nvPr/>
        </p:nvGrpSpPr>
        <p:grpSpPr>
          <a:xfrm>
            <a:off x="2134233" y="6194395"/>
            <a:ext cx="716097" cy="369332"/>
            <a:chOff x="10697378" y="2404853"/>
            <a:chExt cx="716097" cy="369332"/>
          </a:xfrm>
        </p:grpSpPr>
        <p:sp>
          <p:nvSpPr>
            <p:cNvPr id="46" name="椭圆 45">
              <a:extLst>
                <a:ext uri="{FF2B5EF4-FFF2-40B4-BE49-F238E27FC236}">
                  <a16:creationId xmlns:a16="http://schemas.microsoft.com/office/drawing/2014/main" id="{4F4C9FA8-B641-4182-A93C-6E42712EC67C}"/>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7" name="文本框 46">
              <a:extLst>
                <a:ext uri="{FF2B5EF4-FFF2-40B4-BE49-F238E27FC236}">
                  <a16:creationId xmlns:a16="http://schemas.microsoft.com/office/drawing/2014/main" id="{C1A8D550-527B-4F6A-9E7D-26A061D18759}"/>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cxnSp>
        <p:nvCxnSpPr>
          <p:cNvPr id="48" name="直接箭头连接符 47">
            <a:extLst>
              <a:ext uri="{FF2B5EF4-FFF2-40B4-BE49-F238E27FC236}">
                <a16:creationId xmlns:a16="http://schemas.microsoft.com/office/drawing/2014/main" id="{E04DA3A9-D3AE-47A1-A88F-114EB55A058B}"/>
              </a:ext>
            </a:extLst>
          </p:cNvPr>
          <p:cNvCxnSpPr>
            <a:cxnSpLocks/>
          </p:cNvCxnSpPr>
          <p:nvPr/>
        </p:nvCxnSpPr>
        <p:spPr>
          <a:xfrm>
            <a:off x="2179256" y="5452372"/>
            <a:ext cx="0" cy="628378"/>
          </a:xfrm>
          <a:prstGeom prst="straightConnector1">
            <a:avLst/>
          </a:prstGeom>
          <a:ln w="12700">
            <a:solidFill>
              <a:schemeClr val="tx1"/>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46DE3C29-EEA2-405C-AB84-775A21F637A2}"/>
              </a:ext>
            </a:extLst>
          </p:cNvPr>
          <p:cNvSpPr txBox="1"/>
          <p:nvPr/>
        </p:nvSpPr>
        <p:spPr>
          <a:xfrm>
            <a:off x="1419135" y="5049365"/>
            <a:ext cx="157040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sng"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INT </a:t>
            </a:r>
            <a:r>
              <a:rPr kumimoji="0" lang="en-US" altLang="zh-CN" sz="1800" b="0" i="0" u="sng" strike="noStrike" kern="1200" cap="none" spc="0" normalizeH="0" baseline="0" noProof="0" dirty="0">
                <a:ln>
                  <a:noFill/>
                </a:ln>
                <a:solidFill>
                  <a:srgbClr val="000000"/>
                </a:solidFill>
                <a:effectLst/>
                <a:uLnTx/>
                <a:uFillTx/>
                <a:latin typeface="Arial"/>
                <a:ea typeface="微软雅黑"/>
                <a:cs typeface="+mn-cs"/>
              </a:rPr>
              <a:t>0x80</a:t>
            </a:r>
          </a:p>
        </p:txBody>
      </p:sp>
      <p:sp>
        <p:nvSpPr>
          <p:cNvPr id="2" name="标题 1">
            <a:extLst>
              <a:ext uri="{FF2B5EF4-FFF2-40B4-BE49-F238E27FC236}">
                <a16:creationId xmlns:a16="http://schemas.microsoft.com/office/drawing/2014/main" id="{ADB1F083-6C14-438E-B0DD-A1C81C90CFCD}"/>
              </a:ext>
            </a:extLst>
          </p:cNvPr>
          <p:cNvSpPr>
            <a:spLocks noGrp="1"/>
          </p:cNvSpPr>
          <p:nvPr>
            <p:ph type="title"/>
          </p:nvPr>
        </p:nvSpPr>
        <p:spPr/>
        <p:txBody>
          <a:bodyPr/>
          <a:lstStyle/>
          <a:p>
            <a:r>
              <a:rPr lang="zh-CN" altLang="en-US" dirty="0"/>
              <a:t>面向返回地址編程</a:t>
            </a:r>
          </a:p>
        </p:txBody>
      </p:sp>
      <p:sp>
        <p:nvSpPr>
          <p:cNvPr id="35" name="文本框 34">
            <a:extLst>
              <a:ext uri="{FF2B5EF4-FFF2-40B4-BE49-F238E27FC236}">
                <a16:creationId xmlns:a16="http://schemas.microsoft.com/office/drawing/2014/main" id="{C0C8DAB0-BBD0-4970-8C67-888786B6E3C4}"/>
              </a:ext>
            </a:extLst>
          </p:cNvPr>
          <p:cNvSpPr txBox="1"/>
          <p:nvPr/>
        </p:nvSpPr>
        <p:spPr>
          <a:xfrm>
            <a:off x="1354452" y="5831411"/>
            <a:ext cx="2487350" cy="338554"/>
          </a:xfrm>
          <a:prstGeom prst="rect">
            <a:avLst/>
          </a:prstGeom>
          <a:noFill/>
        </p:spPr>
        <p:txBody>
          <a:bodyPr wrap="square" rtlCol="0">
            <a:spAutoFit/>
          </a:bodyPr>
          <a:lstStyle>
            <a:defPPr>
              <a:defRPr lang="zh-CN"/>
            </a:defPPr>
            <a:lvl1pPr algn="ctr">
              <a:defRPr kumimoji="1">
                <a:latin typeface="+mj-lt"/>
                <a:ea typeface="等线" panose="02010600030101010101" pitchFamily="2" charset="-122"/>
                <a:cs typeface="Times New Roman" panose="02020603050405020304" pitchFamily="18"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i="1" dirty="0">
                <a:solidFill>
                  <a:srgbClr val="000000"/>
                </a:solidFill>
                <a:latin typeface="Arial"/>
              </a:rPr>
              <a:t>Point to</a:t>
            </a:r>
            <a:endParaRPr kumimoji="1" lang="en-US" altLang="zh-CN" sz="1600" b="0" i="1"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5A57AEC0-6174-4E11-B60E-70D58C8CDCC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74</a:t>
            </a:fld>
            <a:endParaRPr lang="zh-CN" altLang="en-US" sz="1200" dirty="0">
              <a:solidFill>
                <a:schemeClr val="tx1">
                  <a:tint val="75000"/>
                </a:schemeClr>
              </a:solidFill>
            </a:endParaRPr>
          </a:p>
        </p:txBody>
      </p:sp>
    </p:spTree>
    <p:extLst>
      <p:ext uri="{BB962C8B-B14F-4D97-AF65-F5344CB8AC3E}">
        <p14:creationId xmlns:p14="http://schemas.microsoft.com/office/powerpoint/2010/main" val="36640010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363031"/>
            <a:ext cx="7350219" cy="14421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的實現的任意系統調用：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逆向分析工具</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在代碼段所搜</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個所需的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（如下圖所示），幷構造右圖中的惡意輸入</a:t>
            </a:r>
            <a:endParaRPr kumimoji="1" lang="en-US" altLang="zh-CN" sz="2800" b="0" i="0" u="none" strike="noStrike" kern="1200" cap="none" spc="0" normalizeH="0" baseline="0" noProof="0" dirty="0">
              <a:ln>
                <a:noFill/>
              </a:ln>
              <a:solidFill>
                <a:srgbClr val="000000"/>
              </a:solidFill>
              <a:effectLst/>
              <a:uLnTx/>
              <a:uFillTx/>
              <a:latin typeface="等线" panose="02010600030101010101" pitchFamily="2" charset="-122"/>
              <a:ea typeface="等线" panose="02010600030101010101" pitchFamily="2" charset="-122"/>
              <a:cs typeface="Times New Roman" panose="02020603050405020304" pitchFamily="18" charset="0"/>
            </a:endParaRPr>
          </a:p>
        </p:txBody>
      </p:sp>
      <p:sp>
        <p:nvSpPr>
          <p:cNvPr id="2" name="标题 1">
            <a:extLst>
              <a:ext uri="{FF2B5EF4-FFF2-40B4-BE49-F238E27FC236}">
                <a16:creationId xmlns:a16="http://schemas.microsoft.com/office/drawing/2014/main" id="{D056263A-1137-4F16-A1AE-4810F1F031C3}"/>
              </a:ext>
            </a:extLst>
          </p:cNvPr>
          <p:cNvSpPr>
            <a:spLocks noGrp="1"/>
          </p:cNvSpPr>
          <p:nvPr>
            <p:ph type="title"/>
          </p:nvPr>
        </p:nvSpPr>
        <p:spPr/>
        <p:txBody>
          <a:bodyPr/>
          <a:lstStyle/>
          <a:p>
            <a:r>
              <a:rPr lang="zh-CN" altLang="en-US" dirty="0"/>
              <a:t>面向返回地址編程</a:t>
            </a:r>
          </a:p>
        </p:txBody>
      </p:sp>
      <p:pic>
        <p:nvPicPr>
          <p:cNvPr id="6" name="Picture 5">
            <a:extLst>
              <a:ext uri="{FF2B5EF4-FFF2-40B4-BE49-F238E27FC236}">
                <a16:creationId xmlns:a16="http://schemas.microsoft.com/office/drawing/2014/main" id="{00E8FB90-1664-4260-D69E-E99BF143A5D7}"/>
              </a:ext>
            </a:extLst>
          </p:cNvPr>
          <p:cNvPicPr>
            <a:picLocks noChangeAspect="1"/>
          </p:cNvPicPr>
          <p:nvPr/>
        </p:nvPicPr>
        <p:blipFill rotWithShape="1">
          <a:blip r:embed="rId3"/>
          <a:srcRect t="20640" r="39713" b="12657"/>
          <a:stretch/>
        </p:blipFill>
        <p:spPr>
          <a:xfrm>
            <a:off x="406401" y="3812050"/>
            <a:ext cx="4561840" cy="2370945"/>
          </a:xfrm>
          <a:prstGeom prst="rect">
            <a:avLst/>
          </a:prstGeom>
        </p:spPr>
      </p:pic>
      <p:pic>
        <p:nvPicPr>
          <p:cNvPr id="9" name="Picture 8">
            <a:extLst>
              <a:ext uri="{FF2B5EF4-FFF2-40B4-BE49-F238E27FC236}">
                <a16:creationId xmlns:a16="http://schemas.microsoft.com/office/drawing/2014/main" id="{59EB7918-0819-74EF-92A0-3BBAFDC2B513}"/>
              </a:ext>
            </a:extLst>
          </p:cNvPr>
          <p:cNvPicPr>
            <a:picLocks noChangeAspect="1"/>
          </p:cNvPicPr>
          <p:nvPr/>
        </p:nvPicPr>
        <p:blipFill rotWithShape="1">
          <a:blip r:embed="rId3"/>
          <a:srcRect l="61500"/>
          <a:stretch/>
        </p:blipFill>
        <p:spPr>
          <a:xfrm>
            <a:off x="8290560" y="1545645"/>
            <a:ext cx="3291840" cy="4016441"/>
          </a:xfrm>
          <a:prstGeom prst="rect">
            <a:avLst/>
          </a:prstGeom>
        </p:spPr>
      </p:pic>
      <p:sp>
        <p:nvSpPr>
          <p:cNvPr id="4" name="Slide Number Placeholder 7">
            <a:extLst>
              <a:ext uri="{FF2B5EF4-FFF2-40B4-BE49-F238E27FC236}">
                <a16:creationId xmlns:a16="http://schemas.microsoft.com/office/drawing/2014/main" id="{65531BCC-82BF-0133-00F6-1D2FB435D2F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75</a:t>
            </a:fld>
            <a:endParaRPr lang="zh-CN" altLang="en-US" sz="1200" dirty="0">
              <a:solidFill>
                <a:schemeClr val="tx1">
                  <a:tint val="75000"/>
                </a:schemeClr>
              </a:solidFill>
            </a:endParaRPr>
          </a:p>
        </p:txBody>
      </p:sp>
    </p:spTree>
    <p:extLst>
      <p:ext uri="{BB962C8B-B14F-4D97-AF65-F5344CB8AC3E}">
        <p14:creationId xmlns:p14="http://schemas.microsoft.com/office/powerpoint/2010/main" val="883720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46">
            <a:extLst>
              <a:ext uri="{FF2B5EF4-FFF2-40B4-BE49-F238E27FC236}">
                <a16:creationId xmlns:a16="http://schemas.microsoft.com/office/drawing/2014/main" id="{9FC531DC-0B62-D481-74D1-778B38640027}"/>
              </a:ext>
            </a:extLst>
          </p:cNvPr>
          <p:cNvSpPr>
            <a:spLocks/>
          </p:cNvSpPr>
          <p:nvPr/>
        </p:nvSpPr>
        <p:spPr bwMode="auto">
          <a:xfrm>
            <a:off x="1298236" y="4696794"/>
            <a:ext cx="5653199" cy="1051862"/>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08" y="1742167"/>
            <a:ext cx="7059589" cy="2266133"/>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的實現的任意系統調用調用：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a:t>
            </a:r>
            <a:r>
              <a:rPr kumimoji="1" lang="zh-CN" altLang="en-US" sz="2400" b="1" i="0" u="none" strike="noStrike" kern="1200" cap="none" spc="0" normalizeH="0" baseline="0" noProof="0" dirty="0">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進行棧區溢出攻擊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，將構造的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Payload</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通過標準輸入流（</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或</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網絡流）輸入受害進程，發生棧區溢出，覆蓋返回地址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B87EBC8C-1194-44F8-9FAD-B88B8612003C}"/>
              </a:ext>
            </a:extLst>
          </p:cNvPr>
          <p:cNvSpPr>
            <a:spLocks noGrp="1"/>
          </p:cNvSpPr>
          <p:nvPr>
            <p:ph type="title"/>
          </p:nvPr>
        </p:nvSpPr>
        <p:spPr/>
        <p:txBody>
          <a:bodyPr/>
          <a:lstStyle/>
          <a:p>
            <a:r>
              <a:rPr lang="zh-CN" altLang="en-US" dirty="0"/>
              <a:t>面向返回地址編程</a:t>
            </a:r>
          </a:p>
        </p:txBody>
      </p:sp>
      <p:sp>
        <p:nvSpPr>
          <p:cNvPr id="33" name="文本框 14">
            <a:extLst>
              <a:ext uri="{FF2B5EF4-FFF2-40B4-BE49-F238E27FC236}">
                <a16:creationId xmlns:a16="http://schemas.microsoft.com/office/drawing/2014/main" id="{E5E9B0EE-E5EE-46E2-BF47-70045209582C}"/>
              </a:ext>
            </a:extLst>
          </p:cNvPr>
          <p:cNvSpPr txBox="1"/>
          <p:nvPr/>
        </p:nvSpPr>
        <p:spPr>
          <a:xfrm>
            <a:off x="1242115" y="4735989"/>
            <a:ext cx="5542533"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當被調函數返回時</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將被賦值爲</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第一個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93C28CCF-2544-4360-D4EA-F771E7D083ED}"/>
              </a:ext>
            </a:extLst>
          </p:cNvPr>
          <p:cNvPicPr>
            <a:picLocks noChangeAspect="1"/>
          </p:cNvPicPr>
          <p:nvPr/>
        </p:nvPicPr>
        <p:blipFill rotWithShape="1">
          <a:blip r:embed="rId3"/>
          <a:srcRect l="61500"/>
          <a:stretch/>
        </p:blipFill>
        <p:spPr>
          <a:xfrm>
            <a:off x="8290560" y="1545645"/>
            <a:ext cx="3291840" cy="4016441"/>
          </a:xfrm>
          <a:prstGeom prst="rect">
            <a:avLst/>
          </a:prstGeom>
        </p:spPr>
      </p:pic>
      <p:sp>
        <p:nvSpPr>
          <p:cNvPr id="4" name="Slide Number Placeholder 7">
            <a:extLst>
              <a:ext uri="{FF2B5EF4-FFF2-40B4-BE49-F238E27FC236}">
                <a16:creationId xmlns:a16="http://schemas.microsoft.com/office/drawing/2014/main" id="{2507EFA4-3849-A2B3-C6EE-D89E8B708A7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76</a:t>
            </a:fld>
            <a:endParaRPr lang="zh-CN" altLang="en-US" sz="1200" dirty="0">
              <a:solidFill>
                <a:schemeClr val="tx1">
                  <a:tint val="75000"/>
                </a:schemeClr>
              </a:solidFill>
            </a:endParaRPr>
          </a:p>
        </p:txBody>
      </p:sp>
    </p:spTree>
    <p:extLst>
      <p:ext uri="{BB962C8B-B14F-4D97-AF65-F5344CB8AC3E}">
        <p14:creationId xmlns:p14="http://schemas.microsoft.com/office/powerpoint/2010/main" val="7509628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742167"/>
            <a:ext cx="7059589" cy="1896801"/>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的實現的任意系統調用調用：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執行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 1</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當中的代碼，</a:t>
            </a:r>
            <a:r>
              <a:rPr kumimoji="1" lang="en-US" altLang="zh-CN" sz="24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POP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將系統調用號賦值給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EAX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RET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指令執行後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指向</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 2</a:t>
            </a:r>
          </a:p>
        </p:txBody>
      </p:sp>
      <p:grpSp>
        <p:nvGrpSpPr>
          <p:cNvPr id="122" name="组合 121">
            <a:extLst>
              <a:ext uri="{FF2B5EF4-FFF2-40B4-BE49-F238E27FC236}">
                <a16:creationId xmlns:a16="http://schemas.microsoft.com/office/drawing/2014/main" id="{85393293-236F-4A16-ACD0-5FA4A51FF94B}"/>
              </a:ext>
            </a:extLst>
          </p:cNvPr>
          <p:cNvGrpSpPr/>
          <p:nvPr/>
        </p:nvGrpSpPr>
        <p:grpSpPr>
          <a:xfrm>
            <a:off x="11475902" y="4627636"/>
            <a:ext cx="716097" cy="369332"/>
            <a:chOff x="10697378" y="2404853"/>
            <a:chExt cx="716097" cy="369332"/>
          </a:xfrm>
        </p:grpSpPr>
        <p:sp>
          <p:nvSpPr>
            <p:cNvPr id="123" name="椭圆 122">
              <a:extLst>
                <a:ext uri="{FF2B5EF4-FFF2-40B4-BE49-F238E27FC236}">
                  <a16:creationId xmlns:a16="http://schemas.microsoft.com/office/drawing/2014/main" id="{D806DE72-785A-4F80-A9F3-BD7432DB8743}"/>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24" name="文本框 123">
              <a:extLst>
                <a:ext uri="{FF2B5EF4-FFF2-40B4-BE49-F238E27FC236}">
                  <a16:creationId xmlns:a16="http://schemas.microsoft.com/office/drawing/2014/main" id="{CD86590E-90A7-48C1-8E9F-5BCD09B1ED40}"/>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sp>
        <p:nvSpPr>
          <p:cNvPr id="127" name="文本框 126">
            <a:extLst>
              <a:ext uri="{FF2B5EF4-FFF2-40B4-BE49-F238E27FC236}">
                <a16:creationId xmlns:a16="http://schemas.microsoft.com/office/drawing/2014/main" id="{3152AAD4-1B20-4029-8776-D299605C86CD}"/>
              </a:ext>
            </a:extLst>
          </p:cNvPr>
          <p:cNvSpPr txBox="1"/>
          <p:nvPr/>
        </p:nvSpPr>
        <p:spPr>
          <a:xfrm>
            <a:off x="8372485" y="6004902"/>
            <a:ext cx="267640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Malicious Stack Overflow Payload</a:t>
            </a:r>
          </a:p>
        </p:txBody>
      </p:sp>
      <p:sp>
        <p:nvSpPr>
          <p:cNvPr id="40" name="矩形 39">
            <a:extLst>
              <a:ext uri="{FF2B5EF4-FFF2-40B4-BE49-F238E27FC236}">
                <a16:creationId xmlns:a16="http://schemas.microsoft.com/office/drawing/2014/main" id="{F755606B-D8AB-4DCD-A072-3E8D5FF93F21}"/>
              </a:ext>
            </a:extLst>
          </p:cNvPr>
          <p:cNvSpPr/>
          <p:nvPr/>
        </p:nvSpPr>
        <p:spPr>
          <a:xfrm>
            <a:off x="6460514" y="5324529"/>
            <a:ext cx="1423649" cy="6405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POP</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 </a:t>
            </a:r>
            <a:r>
              <a:rPr kumimoji="0" lang="en-US" altLang="zh-CN" sz="1800" b="0" i="0" u="none" strike="noStrike" kern="1200" cap="none" spc="0" normalizeH="0" baseline="0" noProof="0" dirty="0">
                <a:ln>
                  <a:noFill/>
                </a:ln>
                <a:solidFill>
                  <a:schemeClr val="accent4"/>
                </a:solidFill>
                <a:effectLst/>
                <a:uLnTx/>
                <a:uFillTx/>
                <a:latin typeface="Arial"/>
                <a:ea typeface="微软雅黑"/>
                <a:cs typeface="+mn-cs"/>
              </a:rPr>
              <a:t>EAX</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RET;</a:t>
            </a:r>
            <a:endParaRPr kumimoji="0" lang="zh-CN" altLang="en-US" sz="1800" b="0" i="0" u="none" strike="noStrike" kern="1200" cap="none" spc="0" normalizeH="0" baseline="0" noProof="0" dirty="0">
              <a:ln>
                <a:noFill/>
              </a:ln>
              <a:solidFill>
                <a:srgbClr val="002060"/>
              </a:solidFill>
              <a:effectLst/>
              <a:uLnTx/>
              <a:uFillTx/>
              <a:latin typeface="Arial"/>
              <a:ea typeface="微软雅黑"/>
              <a:cs typeface="+mn-cs"/>
            </a:endParaRPr>
          </a:p>
        </p:txBody>
      </p:sp>
      <p:sp>
        <p:nvSpPr>
          <p:cNvPr id="41" name="文本框 40">
            <a:extLst>
              <a:ext uri="{FF2B5EF4-FFF2-40B4-BE49-F238E27FC236}">
                <a16:creationId xmlns:a16="http://schemas.microsoft.com/office/drawing/2014/main" id="{DE0CBAA4-3F33-4B2B-B7F5-48568BF9BCB6}"/>
              </a:ext>
            </a:extLst>
          </p:cNvPr>
          <p:cNvSpPr txBox="1"/>
          <p:nvPr/>
        </p:nvSpPr>
        <p:spPr>
          <a:xfrm>
            <a:off x="6607005" y="6004902"/>
            <a:ext cx="129598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Gadget 1</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 name="任意多边形: 形状 2">
            <a:extLst>
              <a:ext uri="{FF2B5EF4-FFF2-40B4-BE49-F238E27FC236}">
                <a16:creationId xmlns:a16="http://schemas.microsoft.com/office/drawing/2014/main" id="{9EA2E941-21EB-44DA-B412-468DAA720F25}"/>
              </a:ext>
            </a:extLst>
          </p:cNvPr>
          <p:cNvSpPr/>
          <p:nvPr/>
        </p:nvSpPr>
        <p:spPr>
          <a:xfrm>
            <a:off x="7249099" y="4792337"/>
            <a:ext cx="1090670" cy="484743"/>
          </a:xfrm>
          <a:custGeom>
            <a:avLst/>
            <a:gdLst>
              <a:gd name="connsiteX0" fmla="*/ 1090670 w 1090670"/>
              <a:gd name="connsiteY0" fmla="*/ 0 h 484743"/>
              <a:gd name="connsiteX1" fmla="*/ 0 w 1090670"/>
              <a:gd name="connsiteY1" fmla="*/ 0 h 484743"/>
              <a:gd name="connsiteX2" fmla="*/ 0 w 1090670"/>
              <a:gd name="connsiteY2" fmla="*/ 484743 h 484743"/>
            </a:gdLst>
            <a:ahLst/>
            <a:cxnLst>
              <a:cxn ang="0">
                <a:pos x="connsiteX0" y="connsiteY0"/>
              </a:cxn>
              <a:cxn ang="0">
                <a:pos x="connsiteX1" y="connsiteY1"/>
              </a:cxn>
              <a:cxn ang="0">
                <a:pos x="connsiteX2" y="connsiteY2"/>
              </a:cxn>
            </a:cxnLst>
            <a:rect l="l" t="t" r="r" b="b"/>
            <a:pathLst>
              <a:path w="1090670" h="484743">
                <a:moveTo>
                  <a:pt x="1090670" y="0"/>
                </a:moveTo>
                <a:lnTo>
                  <a:pt x="0" y="0"/>
                </a:lnTo>
                <a:lnTo>
                  <a:pt x="0" y="484743"/>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44" name="直接连接符 43">
            <a:extLst>
              <a:ext uri="{FF2B5EF4-FFF2-40B4-BE49-F238E27FC236}">
                <a16:creationId xmlns:a16="http://schemas.microsoft.com/office/drawing/2014/main" id="{F01F9062-527A-49B6-8926-B934F0745CC8}"/>
              </a:ext>
            </a:extLst>
          </p:cNvPr>
          <p:cNvCxnSpPr>
            <a:cxnSpLocks/>
          </p:cNvCxnSpPr>
          <p:nvPr/>
        </p:nvCxnSpPr>
        <p:spPr>
          <a:xfrm>
            <a:off x="8397331"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29CE8AA5-4AF5-4D0A-9891-0D7443FB5819}"/>
              </a:ext>
            </a:extLst>
          </p:cNvPr>
          <p:cNvCxnSpPr>
            <a:cxnSpLocks/>
          </p:cNvCxnSpPr>
          <p:nvPr/>
        </p:nvCxnSpPr>
        <p:spPr>
          <a:xfrm>
            <a:off x="11025769"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1FBD516B-3431-4A7C-83C8-948B630FF395}"/>
              </a:ext>
            </a:extLst>
          </p:cNvPr>
          <p:cNvSpPr txBox="1"/>
          <p:nvPr/>
        </p:nvSpPr>
        <p:spPr>
          <a:xfrm>
            <a:off x="8380012" y="335613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1</a:t>
            </a:r>
          </a:p>
        </p:txBody>
      </p:sp>
      <p:cxnSp>
        <p:nvCxnSpPr>
          <p:cNvPr id="47" name="直接连接符 46">
            <a:extLst>
              <a:ext uri="{FF2B5EF4-FFF2-40B4-BE49-F238E27FC236}">
                <a16:creationId xmlns:a16="http://schemas.microsoft.com/office/drawing/2014/main" id="{CFE36D89-3C26-416C-B927-6E36B0EB3E33}"/>
              </a:ext>
            </a:extLst>
          </p:cNvPr>
          <p:cNvCxnSpPr>
            <a:cxnSpLocks/>
          </p:cNvCxnSpPr>
          <p:nvPr/>
        </p:nvCxnSpPr>
        <p:spPr>
          <a:xfrm>
            <a:off x="8396876" y="414025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EC82B07A-0B82-41BE-BFEB-3C1F9C2106F8}"/>
              </a:ext>
            </a:extLst>
          </p:cNvPr>
          <p:cNvSpPr txBox="1"/>
          <p:nvPr/>
        </p:nvSpPr>
        <p:spPr>
          <a:xfrm>
            <a:off x="8404444" y="375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2</a:t>
            </a:r>
          </a:p>
        </p:txBody>
      </p:sp>
      <p:cxnSp>
        <p:nvCxnSpPr>
          <p:cNvPr id="49" name="直接连接符 48">
            <a:extLst>
              <a:ext uri="{FF2B5EF4-FFF2-40B4-BE49-F238E27FC236}">
                <a16:creationId xmlns:a16="http://schemas.microsoft.com/office/drawing/2014/main" id="{952842E9-02DA-4510-B587-9A6206F4666B}"/>
              </a:ext>
            </a:extLst>
          </p:cNvPr>
          <p:cNvCxnSpPr>
            <a:cxnSpLocks/>
          </p:cNvCxnSpPr>
          <p:nvPr/>
        </p:nvCxnSpPr>
        <p:spPr>
          <a:xfrm>
            <a:off x="8393715" y="457692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83CADD94-0F0F-47C5-8A3C-D4622A7F177E}"/>
              </a:ext>
            </a:extLst>
          </p:cNvPr>
          <p:cNvSpPr txBox="1"/>
          <p:nvPr/>
        </p:nvSpPr>
        <p:spPr>
          <a:xfrm>
            <a:off x="8390266" y="4176848"/>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System Call Number</a:t>
            </a:r>
          </a:p>
        </p:txBody>
      </p:sp>
      <p:sp>
        <p:nvSpPr>
          <p:cNvPr id="51" name="文本框 50">
            <a:extLst>
              <a:ext uri="{FF2B5EF4-FFF2-40B4-BE49-F238E27FC236}">
                <a16:creationId xmlns:a16="http://schemas.microsoft.com/office/drawing/2014/main" id="{4CE0DFF3-9988-4445-82D3-79F3221E06AA}"/>
              </a:ext>
            </a:extLst>
          </p:cNvPr>
          <p:cNvSpPr txBox="1"/>
          <p:nvPr/>
        </p:nvSpPr>
        <p:spPr>
          <a:xfrm>
            <a:off x="8396876" y="46276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1</a:t>
            </a:r>
          </a:p>
        </p:txBody>
      </p:sp>
      <p:cxnSp>
        <p:nvCxnSpPr>
          <p:cNvPr id="52" name="直接连接符 51">
            <a:extLst>
              <a:ext uri="{FF2B5EF4-FFF2-40B4-BE49-F238E27FC236}">
                <a16:creationId xmlns:a16="http://schemas.microsoft.com/office/drawing/2014/main" id="{DDD2F2DF-3D8B-49DB-90BD-2FE4279A54C5}"/>
              </a:ext>
            </a:extLst>
          </p:cNvPr>
          <p:cNvCxnSpPr>
            <a:cxnSpLocks/>
          </p:cNvCxnSpPr>
          <p:nvPr/>
        </p:nvCxnSpPr>
        <p:spPr>
          <a:xfrm>
            <a:off x="8395976" y="502698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B7B53767-10EC-4D73-957B-965F88431200}"/>
              </a:ext>
            </a:extLst>
          </p:cNvPr>
          <p:cNvCxnSpPr>
            <a:cxnSpLocks/>
          </p:cNvCxnSpPr>
          <p:nvPr/>
        </p:nvCxnSpPr>
        <p:spPr>
          <a:xfrm>
            <a:off x="8395935" y="596904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F3527E90-1697-4B0D-89FA-10A808FB5CE7}"/>
              </a:ext>
            </a:extLst>
          </p:cNvPr>
          <p:cNvSpPr txBox="1"/>
          <p:nvPr/>
        </p:nvSpPr>
        <p:spPr>
          <a:xfrm>
            <a:off x="8404397" y="532102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Padding Payload</a:t>
            </a:r>
          </a:p>
        </p:txBody>
      </p:sp>
      <p:cxnSp>
        <p:nvCxnSpPr>
          <p:cNvPr id="56" name="直接连接符 55">
            <a:extLst>
              <a:ext uri="{FF2B5EF4-FFF2-40B4-BE49-F238E27FC236}">
                <a16:creationId xmlns:a16="http://schemas.microsoft.com/office/drawing/2014/main" id="{F120ACFE-ECBF-419B-9B68-51532994C1FA}"/>
              </a:ext>
            </a:extLst>
          </p:cNvPr>
          <p:cNvCxnSpPr>
            <a:cxnSpLocks/>
          </p:cNvCxnSpPr>
          <p:nvPr/>
        </p:nvCxnSpPr>
        <p:spPr>
          <a:xfrm>
            <a:off x="8404397" y="371960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FB6D9EB9-B206-4CDF-83EE-A55E5E871DAF}"/>
              </a:ext>
            </a:extLst>
          </p:cNvPr>
          <p:cNvCxnSpPr>
            <a:cxnSpLocks/>
          </p:cNvCxnSpPr>
          <p:nvPr/>
        </p:nvCxnSpPr>
        <p:spPr>
          <a:xfrm>
            <a:off x="8396876" y="245198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E73CAD36-C618-40A9-8D90-7A9CCDFD1BC4}"/>
              </a:ext>
            </a:extLst>
          </p:cNvPr>
          <p:cNvSpPr txBox="1"/>
          <p:nvPr/>
        </p:nvSpPr>
        <p:spPr>
          <a:xfrm>
            <a:off x="8404444" y="206292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4</a:t>
            </a:r>
          </a:p>
        </p:txBody>
      </p:sp>
      <p:cxnSp>
        <p:nvCxnSpPr>
          <p:cNvPr id="59" name="直接连接符 58">
            <a:extLst>
              <a:ext uri="{FF2B5EF4-FFF2-40B4-BE49-F238E27FC236}">
                <a16:creationId xmlns:a16="http://schemas.microsoft.com/office/drawing/2014/main" id="{D1F7D1D9-FAE6-474E-94E3-D65CC58DB031}"/>
              </a:ext>
            </a:extLst>
          </p:cNvPr>
          <p:cNvCxnSpPr>
            <a:cxnSpLocks/>
          </p:cNvCxnSpPr>
          <p:nvPr/>
        </p:nvCxnSpPr>
        <p:spPr>
          <a:xfrm>
            <a:off x="8393715" y="288865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文本框 61">
            <a:extLst>
              <a:ext uri="{FF2B5EF4-FFF2-40B4-BE49-F238E27FC236}">
                <a16:creationId xmlns:a16="http://schemas.microsoft.com/office/drawing/2014/main" id="{8A34F83A-CF79-46D5-BDF5-0936F607E5D7}"/>
              </a:ext>
            </a:extLst>
          </p:cNvPr>
          <p:cNvSpPr txBox="1"/>
          <p:nvPr/>
        </p:nvSpPr>
        <p:spPr>
          <a:xfrm>
            <a:off x="8390266" y="248857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2</a:t>
            </a:r>
          </a:p>
        </p:txBody>
      </p:sp>
      <p:sp>
        <p:nvSpPr>
          <p:cNvPr id="63" name="文本框 62">
            <a:extLst>
              <a:ext uri="{FF2B5EF4-FFF2-40B4-BE49-F238E27FC236}">
                <a16:creationId xmlns:a16="http://schemas.microsoft.com/office/drawing/2014/main" id="{0D60DA85-2ABD-4084-A335-88810510E91B}"/>
              </a:ext>
            </a:extLst>
          </p:cNvPr>
          <p:cNvSpPr txBox="1"/>
          <p:nvPr/>
        </p:nvSpPr>
        <p:spPr>
          <a:xfrm>
            <a:off x="8396876" y="293936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3</a:t>
            </a:r>
          </a:p>
        </p:txBody>
      </p:sp>
      <p:cxnSp>
        <p:nvCxnSpPr>
          <p:cNvPr id="64" name="直接连接符 63">
            <a:extLst>
              <a:ext uri="{FF2B5EF4-FFF2-40B4-BE49-F238E27FC236}">
                <a16:creationId xmlns:a16="http://schemas.microsoft.com/office/drawing/2014/main" id="{5C0EC381-6FA8-468C-861E-D26F068EFA26}"/>
              </a:ext>
            </a:extLst>
          </p:cNvPr>
          <p:cNvCxnSpPr>
            <a:cxnSpLocks/>
          </p:cNvCxnSpPr>
          <p:nvPr/>
        </p:nvCxnSpPr>
        <p:spPr>
          <a:xfrm>
            <a:off x="8395976" y="333871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E697F49F-4070-4DC6-BEEB-B39662CDDA91}"/>
              </a:ext>
            </a:extLst>
          </p:cNvPr>
          <p:cNvCxnSpPr>
            <a:cxnSpLocks/>
          </p:cNvCxnSpPr>
          <p:nvPr/>
        </p:nvCxnSpPr>
        <p:spPr>
          <a:xfrm>
            <a:off x="8400901" y="201293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6A660D51-E698-4EF7-BFF8-D2D238F86FD3}"/>
              </a:ext>
            </a:extLst>
          </p:cNvPr>
          <p:cNvCxnSpPr>
            <a:cxnSpLocks/>
          </p:cNvCxnSpPr>
          <p:nvPr/>
        </p:nvCxnSpPr>
        <p:spPr>
          <a:xfrm>
            <a:off x="8393380" y="155864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文本框 76">
            <a:extLst>
              <a:ext uri="{FF2B5EF4-FFF2-40B4-BE49-F238E27FC236}">
                <a16:creationId xmlns:a16="http://schemas.microsoft.com/office/drawing/2014/main" id="{0E5441A5-2A70-42A6-B0EF-CAD1528BF111}"/>
              </a:ext>
            </a:extLst>
          </p:cNvPr>
          <p:cNvSpPr txBox="1"/>
          <p:nvPr/>
        </p:nvSpPr>
        <p:spPr>
          <a:xfrm>
            <a:off x="8400948" y="116958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5</a:t>
            </a:r>
          </a:p>
        </p:txBody>
      </p:sp>
      <p:sp>
        <p:nvSpPr>
          <p:cNvPr id="78" name="文本框 77">
            <a:extLst>
              <a:ext uri="{FF2B5EF4-FFF2-40B4-BE49-F238E27FC236}">
                <a16:creationId xmlns:a16="http://schemas.microsoft.com/office/drawing/2014/main" id="{5648681B-6DD0-4372-B639-410349427CF6}"/>
              </a:ext>
            </a:extLst>
          </p:cNvPr>
          <p:cNvSpPr txBox="1"/>
          <p:nvPr/>
        </p:nvSpPr>
        <p:spPr>
          <a:xfrm>
            <a:off x="8386770" y="15952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3</a:t>
            </a:r>
          </a:p>
        </p:txBody>
      </p:sp>
      <p:cxnSp>
        <p:nvCxnSpPr>
          <p:cNvPr id="80" name="直接连接符 79">
            <a:extLst>
              <a:ext uri="{FF2B5EF4-FFF2-40B4-BE49-F238E27FC236}">
                <a16:creationId xmlns:a16="http://schemas.microsoft.com/office/drawing/2014/main" id="{3A4F733F-C7C0-42A5-A0A2-30CB70700FA9}"/>
              </a:ext>
            </a:extLst>
          </p:cNvPr>
          <p:cNvCxnSpPr>
            <a:cxnSpLocks/>
          </p:cNvCxnSpPr>
          <p:nvPr/>
        </p:nvCxnSpPr>
        <p:spPr>
          <a:xfrm>
            <a:off x="8400901" y="112697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89DBC2CA-3864-4507-A57F-E8FBD0C7CFF6}"/>
              </a:ext>
            </a:extLst>
          </p:cNvPr>
          <p:cNvCxnSpPr/>
          <p:nvPr/>
        </p:nvCxnSpPr>
        <p:spPr>
          <a:xfrm flipH="1">
            <a:off x="11082968" y="4807746"/>
            <a:ext cx="348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E150042C-0A2F-4275-8DCF-46DC80B1310E}"/>
              </a:ext>
            </a:extLst>
          </p:cNvPr>
          <p:cNvSpPr>
            <a:spLocks noGrp="1"/>
          </p:cNvSpPr>
          <p:nvPr>
            <p:ph type="title"/>
          </p:nvPr>
        </p:nvSpPr>
        <p:spPr/>
        <p:txBody>
          <a:bodyPr/>
          <a:lstStyle/>
          <a:p>
            <a:r>
              <a:rPr lang="zh-CN" altLang="en-US" dirty="0"/>
              <a:t>面向返回地址編程</a:t>
            </a:r>
          </a:p>
        </p:txBody>
      </p:sp>
      <p:sp>
        <p:nvSpPr>
          <p:cNvPr id="5" name="Slide Number Placeholder 7">
            <a:extLst>
              <a:ext uri="{FF2B5EF4-FFF2-40B4-BE49-F238E27FC236}">
                <a16:creationId xmlns:a16="http://schemas.microsoft.com/office/drawing/2014/main" id="{010E5318-1FAB-F8A0-D46A-1A320FA92828}"/>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77</a:t>
            </a:fld>
            <a:endParaRPr lang="zh-CN" altLang="en-US" sz="1200" dirty="0">
              <a:solidFill>
                <a:schemeClr val="tx1">
                  <a:tint val="75000"/>
                </a:schemeClr>
              </a:solidFill>
            </a:endParaRPr>
          </a:p>
        </p:txBody>
      </p:sp>
    </p:spTree>
    <p:extLst>
      <p:ext uri="{BB962C8B-B14F-4D97-AF65-F5344CB8AC3E}">
        <p14:creationId xmlns:p14="http://schemas.microsoft.com/office/powerpoint/2010/main" val="24939473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742167"/>
            <a:ext cx="7059589" cy="3281796"/>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的實現的任意系統調用調用：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 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執行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 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當中的代碼，將</a:t>
            </a: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sys_read</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的第一個參數：文件描述符賦值至</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EBX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，同理賦值函數的其他參數給寄存器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ECX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EDX</a:t>
            </a:r>
          </a:p>
          <a:p>
            <a:pPr marR="0" lvl="0" indent="0" algn="just" fontAlgn="auto">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indent="0" algn="just" fontAlgn="auto">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完成全部參數賦值後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指向</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 5</a:t>
            </a:r>
          </a:p>
        </p:txBody>
      </p:sp>
      <p:grpSp>
        <p:nvGrpSpPr>
          <p:cNvPr id="122" name="组合 121">
            <a:extLst>
              <a:ext uri="{FF2B5EF4-FFF2-40B4-BE49-F238E27FC236}">
                <a16:creationId xmlns:a16="http://schemas.microsoft.com/office/drawing/2014/main" id="{85393293-236F-4A16-ACD0-5FA4A51FF94B}"/>
              </a:ext>
            </a:extLst>
          </p:cNvPr>
          <p:cNvGrpSpPr/>
          <p:nvPr/>
        </p:nvGrpSpPr>
        <p:grpSpPr>
          <a:xfrm>
            <a:off x="11475902" y="3757303"/>
            <a:ext cx="716097" cy="369332"/>
            <a:chOff x="10697378" y="2404853"/>
            <a:chExt cx="716097" cy="369332"/>
          </a:xfrm>
        </p:grpSpPr>
        <p:sp>
          <p:nvSpPr>
            <p:cNvPr id="123" name="椭圆 122">
              <a:extLst>
                <a:ext uri="{FF2B5EF4-FFF2-40B4-BE49-F238E27FC236}">
                  <a16:creationId xmlns:a16="http://schemas.microsoft.com/office/drawing/2014/main" id="{D806DE72-785A-4F80-A9F3-BD7432DB8743}"/>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24" name="文本框 123">
              <a:extLst>
                <a:ext uri="{FF2B5EF4-FFF2-40B4-BE49-F238E27FC236}">
                  <a16:creationId xmlns:a16="http://schemas.microsoft.com/office/drawing/2014/main" id="{CD86590E-90A7-48C1-8E9F-5BCD09B1ED40}"/>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cxnSp>
        <p:nvCxnSpPr>
          <p:cNvPr id="4" name="直接箭头连接符 3">
            <a:extLst>
              <a:ext uri="{FF2B5EF4-FFF2-40B4-BE49-F238E27FC236}">
                <a16:creationId xmlns:a16="http://schemas.microsoft.com/office/drawing/2014/main" id="{10FAAE22-1864-4B2A-8602-A0B2C0F45175}"/>
              </a:ext>
            </a:extLst>
          </p:cNvPr>
          <p:cNvCxnSpPr/>
          <p:nvPr/>
        </p:nvCxnSpPr>
        <p:spPr>
          <a:xfrm flipH="1">
            <a:off x="11082968" y="3937413"/>
            <a:ext cx="348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3152AAD4-1B20-4029-8776-D299605C86CD}"/>
              </a:ext>
            </a:extLst>
          </p:cNvPr>
          <p:cNvSpPr txBox="1"/>
          <p:nvPr/>
        </p:nvSpPr>
        <p:spPr>
          <a:xfrm>
            <a:off x="8372485" y="6004902"/>
            <a:ext cx="267640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Malicious Stack Overflow Payload</a:t>
            </a:r>
          </a:p>
        </p:txBody>
      </p:sp>
      <p:sp>
        <p:nvSpPr>
          <p:cNvPr id="45" name="矩形 44">
            <a:extLst>
              <a:ext uri="{FF2B5EF4-FFF2-40B4-BE49-F238E27FC236}">
                <a16:creationId xmlns:a16="http://schemas.microsoft.com/office/drawing/2014/main" id="{DEC5F59B-1FF5-4484-8D57-3C8271654635}"/>
              </a:ext>
            </a:extLst>
          </p:cNvPr>
          <p:cNvSpPr/>
          <p:nvPr/>
        </p:nvSpPr>
        <p:spPr>
          <a:xfrm>
            <a:off x="6460514" y="5324529"/>
            <a:ext cx="1423649" cy="6405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POP</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 </a:t>
            </a:r>
            <a:r>
              <a:rPr kumimoji="0" lang="en-US" altLang="zh-CN" sz="1800" b="0" i="0" u="none" strike="noStrike" kern="1200" cap="none" spc="0" normalizeH="0" baseline="0" noProof="0" dirty="0">
                <a:ln>
                  <a:noFill/>
                </a:ln>
                <a:solidFill>
                  <a:schemeClr val="accent4"/>
                </a:solidFill>
                <a:effectLst/>
                <a:uLnTx/>
                <a:uFillTx/>
                <a:latin typeface="Arial"/>
                <a:ea typeface="微软雅黑"/>
                <a:cs typeface="+mn-cs"/>
              </a:rPr>
              <a:t>EBX</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RET</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6" name="文本框 45">
            <a:extLst>
              <a:ext uri="{FF2B5EF4-FFF2-40B4-BE49-F238E27FC236}">
                <a16:creationId xmlns:a16="http://schemas.microsoft.com/office/drawing/2014/main" id="{2E9B924D-E4CE-4441-97B4-9D9D2EE48B90}"/>
              </a:ext>
            </a:extLst>
          </p:cNvPr>
          <p:cNvSpPr txBox="1"/>
          <p:nvPr/>
        </p:nvSpPr>
        <p:spPr>
          <a:xfrm>
            <a:off x="6607005" y="6004902"/>
            <a:ext cx="129598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Gadget 2</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47" name="任意多边形: 形状 46">
            <a:extLst>
              <a:ext uri="{FF2B5EF4-FFF2-40B4-BE49-F238E27FC236}">
                <a16:creationId xmlns:a16="http://schemas.microsoft.com/office/drawing/2014/main" id="{0E35BE77-E04A-439E-A597-D1FE2360A56E}"/>
              </a:ext>
            </a:extLst>
          </p:cNvPr>
          <p:cNvSpPr/>
          <p:nvPr/>
        </p:nvSpPr>
        <p:spPr>
          <a:xfrm>
            <a:off x="7249099" y="3893345"/>
            <a:ext cx="1090670" cy="1383735"/>
          </a:xfrm>
          <a:custGeom>
            <a:avLst/>
            <a:gdLst>
              <a:gd name="connsiteX0" fmla="*/ 1090670 w 1090670"/>
              <a:gd name="connsiteY0" fmla="*/ 0 h 484743"/>
              <a:gd name="connsiteX1" fmla="*/ 0 w 1090670"/>
              <a:gd name="connsiteY1" fmla="*/ 0 h 484743"/>
              <a:gd name="connsiteX2" fmla="*/ 0 w 1090670"/>
              <a:gd name="connsiteY2" fmla="*/ 484743 h 484743"/>
            </a:gdLst>
            <a:ahLst/>
            <a:cxnLst>
              <a:cxn ang="0">
                <a:pos x="connsiteX0" y="connsiteY0"/>
              </a:cxn>
              <a:cxn ang="0">
                <a:pos x="connsiteX1" y="connsiteY1"/>
              </a:cxn>
              <a:cxn ang="0">
                <a:pos x="connsiteX2" y="connsiteY2"/>
              </a:cxn>
            </a:cxnLst>
            <a:rect l="l" t="t" r="r" b="b"/>
            <a:pathLst>
              <a:path w="1090670" h="484743">
                <a:moveTo>
                  <a:pt x="1090670" y="0"/>
                </a:moveTo>
                <a:lnTo>
                  <a:pt x="0" y="0"/>
                </a:lnTo>
                <a:lnTo>
                  <a:pt x="0" y="484743"/>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48" name="直接连接符 47">
            <a:extLst>
              <a:ext uri="{FF2B5EF4-FFF2-40B4-BE49-F238E27FC236}">
                <a16:creationId xmlns:a16="http://schemas.microsoft.com/office/drawing/2014/main" id="{7173E77D-3794-4561-A757-B3CB223A2412}"/>
              </a:ext>
            </a:extLst>
          </p:cNvPr>
          <p:cNvCxnSpPr>
            <a:cxnSpLocks/>
          </p:cNvCxnSpPr>
          <p:nvPr/>
        </p:nvCxnSpPr>
        <p:spPr>
          <a:xfrm>
            <a:off x="8397331"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B8804CE-E5DE-40E8-86A8-1F1E4EC835DF}"/>
              </a:ext>
            </a:extLst>
          </p:cNvPr>
          <p:cNvCxnSpPr>
            <a:cxnSpLocks/>
          </p:cNvCxnSpPr>
          <p:nvPr/>
        </p:nvCxnSpPr>
        <p:spPr>
          <a:xfrm>
            <a:off x="11025769"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288CADF2-92C3-47C6-BEDF-81CCC4D60D06}"/>
              </a:ext>
            </a:extLst>
          </p:cNvPr>
          <p:cNvSpPr txBox="1"/>
          <p:nvPr/>
        </p:nvSpPr>
        <p:spPr>
          <a:xfrm>
            <a:off x="8380012" y="335613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1</a:t>
            </a:r>
          </a:p>
        </p:txBody>
      </p:sp>
      <p:cxnSp>
        <p:nvCxnSpPr>
          <p:cNvPr id="51" name="直接连接符 50">
            <a:extLst>
              <a:ext uri="{FF2B5EF4-FFF2-40B4-BE49-F238E27FC236}">
                <a16:creationId xmlns:a16="http://schemas.microsoft.com/office/drawing/2014/main" id="{A204DA75-7C39-4AB0-B500-A663AA033FDF}"/>
              </a:ext>
            </a:extLst>
          </p:cNvPr>
          <p:cNvCxnSpPr>
            <a:cxnSpLocks/>
          </p:cNvCxnSpPr>
          <p:nvPr/>
        </p:nvCxnSpPr>
        <p:spPr>
          <a:xfrm>
            <a:off x="8396876" y="414025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7D13199D-144E-458F-A298-73DF3B9644EC}"/>
              </a:ext>
            </a:extLst>
          </p:cNvPr>
          <p:cNvSpPr txBox="1"/>
          <p:nvPr/>
        </p:nvSpPr>
        <p:spPr>
          <a:xfrm>
            <a:off x="8404444" y="375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2</a:t>
            </a:r>
          </a:p>
        </p:txBody>
      </p:sp>
      <p:cxnSp>
        <p:nvCxnSpPr>
          <p:cNvPr id="53" name="直接连接符 52">
            <a:extLst>
              <a:ext uri="{FF2B5EF4-FFF2-40B4-BE49-F238E27FC236}">
                <a16:creationId xmlns:a16="http://schemas.microsoft.com/office/drawing/2014/main" id="{E7CC125D-2274-4688-9211-2085F28964F5}"/>
              </a:ext>
            </a:extLst>
          </p:cNvPr>
          <p:cNvCxnSpPr>
            <a:cxnSpLocks/>
          </p:cNvCxnSpPr>
          <p:nvPr/>
        </p:nvCxnSpPr>
        <p:spPr>
          <a:xfrm>
            <a:off x="8393715" y="457692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A3DE06FA-4B3B-4D5F-9FFE-D5BE95EC6F8E}"/>
              </a:ext>
            </a:extLst>
          </p:cNvPr>
          <p:cNvSpPr txBox="1"/>
          <p:nvPr/>
        </p:nvSpPr>
        <p:spPr>
          <a:xfrm>
            <a:off x="8390266" y="4176848"/>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System Call Number</a:t>
            </a:r>
          </a:p>
        </p:txBody>
      </p:sp>
      <p:sp>
        <p:nvSpPr>
          <p:cNvPr id="55" name="文本框 54">
            <a:extLst>
              <a:ext uri="{FF2B5EF4-FFF2-40B4-BE49-F238E27FC236}">
                <a16:creationId xmlns:a16="http://schemas.microsoft.com/office/drawing/2014/main" id="{2AE8F532-C891-4AF9-AB37-F798388507D7}"/>
              </a:ext>
            </a:extLst>
          </p:cNvPr>
          <p:cNvSpPr txBox="1"/>
          <p:nvPr/>
        </p:nvSpPr>
        <p:spPr>
          <a:xfrm>
            <a:off x="8396876" y="46276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1</a:t>
            </a:r>
          </a:p>
        </p:txBody>
      </p:sp>
      <p:cxnSp>
        <p:nvCxnSpPr>
          <p:cNvPr id="56" name="直接连接符 55">
            <a:extLst>
              <a:ext uri="{FF2B5EF4-FFF2-40B4-BE49-F238E27FC236}">
                <a16:creationId xmlns:a16="http://schemas.microsoft.com/office/drawing/2014/main" id="{F03B9A09-8CED-45CC-AF31-2B5090699D11}"/>
              </a:ext>
            </a:extLst>
          </p:cNvPr>
          <p:cNvCxnSpPr>
            <a:cxnSpLocks/>
          </p:cNvCxnSpPr>
          <p:nvPr/>
        </p:nvCxnSpPr>
        <p:spPr>
          <a:xfrm>
            <a:off x="8395976" y="502698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392C61A-110D-43F3-8EE8-F6B94DCC2D9D}"/>
              </a:ext>
            </a:extLst>
          </p:cNvPr>
          <p:cNvCxnSpPr>
            <a:cxnSpLocks/>
          </p:cNvCxnSpPr>
          <p:nvPr/>
        </p:nvCxnSpPr>
        <p:spPr>
          <a:xfrm>
            <a:off x="8395935" y="596904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49D0F6C2-B546-412F-BA75-7B2C3891C887}"/>
              </a:ext>
            </a:extLst>
          </p:cNvPr>
          <p:cNvSpPr txBox="1"/>
          <p:nvPr/>
        </p:nvSpPr>
        <p:spPr>
          <a:xfrm>
            <a:off x="8404397" y="532102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Padding Payload</a:t>
            </a:r>
          </a:p>
        </p:txBody>
      </p:sp>
      <p:cxnSp>
        <p:nvCxnSpPr>
          <p:cNvPr id="62" name="直接连接符 61">
            <a:extLst>
              <a:ext uri="{FF2B5EF4-FFF2-40B4-BE49-F238E27FC236}">
                <a16:creationId xmlns:a16="http://schemas.microsoft.com/office/drawing/2014/main" id="{B885CE01-DAE5-4C12-A735-EB4F29360B2A}"/>
              </a:ext>
            </a:extLst>
          </p:cNvPr>
          <p:cNvCxnSpPr>
            <a:cxnSpLocks/>
          </p:cNvCxnSpPr>
          <p:nvPr/>
        </p:nvCxnSpPr>
        <p:spPr>
          <a:xfrm>
            <a:off x="8404397" y="371960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26EC3369-8E79-457C-A0A4-6A023BF0C924}"/>
              </a:ext>
            </a:extLst>
          </p:cNvPr>
          <p:cNvCxnSpPr>
            <a:cxnSpLocks/>
          </p:cNvCxnSpPr>
          <p:nvPr/>
        </p:nvCxnSpPr>
        <p:spPr>
          <a:xfrm>
            <a:off x="8396876" y="245198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7273F6A-27CC-4829-88D5-304D95CEB0D4}"/>
              </a:ext>
            </a:extLst>
          </p:cNvPr>
          <p:cNvSpPr txBox="1"/>
          <p:nvPr/>
        </p:nvSpPr>
        <p:spPr>
          <a:xfrm>
            <a:off x="8404444" y="206292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4</a:t>
            </a:r>
          </a:p>
        </p:txBody>
      </p:sp>
      <p:cxnSp>
        <p:nvCxnSpPr>
          <p:cNvPr id="65" name="直接连接符 64">
            <a:extLst>
              <a:ext uri="{FF2B5EF4-FFF2-40B4-BE49-F238E27FC236}">
                <a16:creationId xmlns:a16="http://schemas.microsoft.com/office/drawing/2014/main" id="{99385942-4932-41DF-A12B-4484C60710D8}"/>
              </a:ext>
            </a:extLst>
          </p:cNvPr>
          <p:cNvCxnSpPr>
            <a:cxnSpLocks/>
          </p:cNvCxnSpPr>
          <p:nvPr/>
        </p:nvCxnSpPr>
        <p:spPr>
          <a:xfrm>
            <a:off x="8393715" y="288865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D405CF91-7384-42A6-B5AA-FE45B756DC74}"/>
              </a:ext>
            </a:extLst>
          </p:cNvPr>
          <p:cNvSpPr txBox="1"/>
          <p:nvPr/>
        </p:nvSpPr>
        <p:spPr>
          <a:xfrm>
            <a:off x="8390266" y="248857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2</a:t>
            </a:r>
          </a:p>
        </p:txBody>
      </p:sp>
      <p:sp>
        <p:nvSpPr>
          <p:cNvPr id="67" name="文本框 66">
            <a:extLst>
              <a:ext uri="{FF2B5EF4-FFF2-40B4-BE49-F238E27FC236}">
                <a16:creationId xmlns:a16="http://schemas.microsoft.com/office/drawing/2014/main" id="{A8D7C9E6-8803-40B9-B40D-91D84E8B895E}"/>
              </a:ext>
            </a:extLst>
          </p:cNvPr>
          <p:cNvSpPr txBox="1"/>
          <p:nvPr/>
        </p:nvSpPr>
        <p:spPr>
          <a:xfrm>
            <a:off x="8396876" y="293936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3</a:t>
            </a:r>
          </a:p>
        </p:txBody>
      </p:sp>
      <p:cxnSp>
        <p:nvCxnSpPr>
          <p:cNvPr id="77" name="直接连接符 76">
            <a:extLst>
              <a:ext uri="{FF2B5EF4-FFF2-40B4-BE49-F238E27FC236}">
                <a16:creationId xmlns:a16="http://schemas.microsoft.com/office/drawing/2014/main" id="{1C6B666D-785E-4BE2-B324-9BCD8005F901}"/>
              </a:ext>
            </a:extLst>
          </p:cNvPr>
          <p:cNvCxnSpPr>
            <a:cxnSpLocks/>
          </p:cNvCxnSpPr>
          <p:nvPr/>
        </p:nvCxnSpPr>
        <p:spPr>
          <a:xfrm>
            <a:off x="8395976" y="333871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809C9B3-2118-48EF-9BFD-E09A5AABFD36}"/>
              </a:ext>
            </a:extLst>
          </p:cNvPr>
          <p:cNvCxnSpPr>
            <a:cxnSpLocks/>
          </p:cNvCxnSpPr>
          <p:nvPr/>
        </p:nvCxnSpPr>
        <p:spPr>
          <a:xfrm>
            <a:off x="8400901" y="201293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79ACEB17-D0F2-484C-ACC5-0E36E39EB76E}"/>
              </a:ext>
            </a:extLst>
          </p:cNvPr>
          <p:cNvCxnSpPr>
            <a:cxnSpLocks/>
          </p:cNvCxnSpPr>
          <p:nvPr/>
        </p:nvCxnSpPr>
        <p:spPr>
          <a:xfrm>
            <a:off x="8393380" y="155864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D6A0E1A5-C791-4D04-9D74-91B67F3A1B03}"/>
              </a:ext>
            </a:extLst>
          </p:cNvPr>
          <p:cNvSpPr txBox="1"/>
          <p:nvPr/>
        </p:nvSpPr>
        <p:spPr>
          <a:xfrm>
            <a:off x="8400948" y="116958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5</a:t>
            </a:r>
          </a:p>
        </p:txBody>
      </p:sp>
      <p:sp>
        <p:nvSpPr>
          <p:cNvPr id="83" name="文本框 82">
            <a:extLst>
              <a:ext uri="{FF2B5EF4-FFF2-40B4-BE49-F238E27FC236}">
                <a16:creationId xmlns:a16="http://schemas.microsoft.com/office/drawing/2014/main" id="{8AD6C727-10D7-4D40-B1B7-1DF64F587756}"/>
              </a:ext>
            </a:extLst>
          </p:cNvPr>
          <p:cNvSpPr txBox="1"/>
          <p:nvPr/>
        </p:nvSpPr>
        <p:spPr>
          <a:xfrm>
            <a:off x="8386770" y="15952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3</a:t>
            </a:r>
          </a:p>
        </p:txBody>
      </p:sp>
      <p:cxnSp>
        <p:nvCxnSpPr>
          <p:cNvPr id="84" name="直接连接符 83">
            <a:extLst>
              <a:ext uri="{FF2B5EF4-FFF2-40B4-BE49-F238E27FC236}">
                <a16:creationId xmlns:a16="http://schemas.microsoft.com/office/drawing/2014/main" id="{F1DB35C0-13C5-41F3-AF62-F48E4B128ED6}"/>
              </a:ext>
            </a:extLst>
          </p:cNvPr>
          <p:cNvCxnSpPr>
            <a:cxnSpLocks/>
          </p:cNvCxnSpPr>
          <p:nvPr/>
        </p:nvCxnSpPr>
        <p:spPr>
          <a:xfrm>
            <a:off x="8400901" y="112697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25A9D55A-CC3D-4BF9-85F2-5240B8B9E79C}"/>
              </a:ext>
            </a:extLst>
          </p:cNvPr>
          <p:cNvSpPr>
            <a:spLocks noGrp="1"/>
          </p:cNvSpPr>
          <p:nvPr>
            <p:ph type="title"/>
          </p:nvPr>
        </p:nvSpPr>
        <p:spPr/>
        <p:txBody>
          <a:bodyPr/>
          <a:lstStyle/>
          <a:p>
            <a:r>
              <a:rPr lang="zh-CN" altLang="en-US" dirty="0"/>
              <a:t>面向返回地址編程</a:t>
            </a:r>
          </a:p>
        </p:txBody>
      </p:sp>
      <p:sp>
        <p:nvSpPr>
          <p:cNvPr id="5" name="Slide Number Placeholder 7">
            <a:extLst>
              <a:ext uri="{FF2B5EF4-FFF2-40B4-BE49-F238E27FC236}">
                <a16:creationId xmlns:a16="http://schemas.microsoft.com/office/drawing/2014/main" id="{2D10B5F7-E925-6392-3BC1-BB435FBB04F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78</a:t>
            </a:fld>
            <a:endParaRPr lang="zh-CN" altLang="en-US" sz="1200" dirty="0">
              <a:solidFill>
                <a:schemeClr val="tx1">
                  <a:tint val="75000"/>
                </a:schemeClr>
              </a:solidFill>
            </a:endParaRPr>
          </a:p>
        </p:txBody>
      </p:sp>
    </p:spTree>
    <p:extLst>
      <p:ext uri="{BB962C8B-B14F-4D97-AF65-F5344CB8AC3E}">
        <p14:creationId xmlns:p14="http://schemas.microsoft.com/office/powerpoint/2010/main" val="245452407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742167"/>
            <a:ext cx="7059589" cy="2820131"/>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示例</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的實現的任意系統調用調用：</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algn="just">
              <a:lnSpc>
                <a:spcPts val="3600"/>
              </a:lnSpc>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 EIP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執行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 5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當中代碼，觸發</a:t>
            </a:r>
            <a:r>
              <a:rPr kumimoji="1" lang="en-US" altLang="zh-CN" sz="2400" dirty="0">
                <a:solidFill>
                  <a:srgbClr val="00B050"/>
                </a:solidFill>
                <a:latin typeface="微软雅黑" panose="020B0503020204020204" pitchFamily="34" charset="-122"/>
                <a:ea typeface="微软雅黑" panose="020B0503020204020204" pitchFamily="34" charset="-122"/>
                <a:cs typeface="Times New Roman" panose="02020603050405020304" pitchFamily="18" charset="0"/>
              </a:rPr>
              <a:t>0x80</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號中斷，將進入內核態進行</a:t>
            </a: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sys_read</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系統調用，攻擊者對任意指定的文件描述符進行讀操作，完成了控制流劫持</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2" name="组合 121">
            <a:extLst>
              <a:ext uri="{FF2B5EF4-FFF2-40B4-BE49-F238E27FC236}">
                <a16:creationId xmlns:a16="http://schemas.microsoft.com/office/drawing/2014/main" id="{85393293-236F-4A16-ACD0-5FA4A51FF94B}"/>
              </a:ext>
            </a:extLst>
          </p:cNvPr>
          <p:cNvGrpSpPr/>
          <p:nvPr/>
        </p:nvGrpSpPr>
        <p:grpSpPr>
          <a:xfrm>
            <a:off x="11475902" y="1190369"/>
            <a:ext cx="716097" cy="369332"/>
            <a:chOff x="10697378" y="2404853"/>
            <a:chExt cx="716097" cy="369332"/>
          </a:xfrm>
        </p:grpSpPr>
        <p:sp>
          <p:nvSpPr>
            <p:cNvPr id="123" name="椭圆 122">
              <a:extLst>
                <a:ext uri="{FF2B5EF4-FFF2-40B4-BE49-F238E27FC236}">
                  <a16:creationId xmlns:a16="http://schemas.microsoft.com/office/drawing/2014/main" id="{D806DE72-785A-4F80-A9F3-BD7432DB8743}"/>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124" name="文本框 123">
              <a:extLst>
                <a:ext uri="{FF2B5EF4-FFF2-40B4-BE49-F238E27FC236}">
                  <a16:creationId xmlns:a16="http://schemas.microsoft.com/office/drawing/2014/main" id="{CD86590E-90A7-48C1-8E9F-5BCD09B1ED40}"/>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cxnSp>
        <p:nvCxnSpPr>
          <p:cNvPr id="4" name="直接箭头连接符 3">
            <a:extLst>
              <a:ext uri="{FF2B5EF4-FFF2-40B4-BE49-F238E27FC236}">
                <a16:creationId xmlns:a16="http://schemas.microsoft.com/office/drawing/2014/main" id="{10FAAE22-1864-4B2A-8602-A0B2C0F45175}"/>
              </a:ext>
            </a:extLst>
          </p:cNvPr>
          <p:cNvCxnSpPr/>
          <p:nvPr/>
        </p:nvCxnSpPr>
        <p:spPr>
          <a:xfrm flipH="1">
            <a:off x="11082968" y="1370479"/>
            <a:ext cx="34886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a:extLst>
              <a:ext uri="{FF2B5EF4-FFF2-40B4-BE49-F238E27FC236}">
                <a16:creationId xmlns:a16="http://schemas.microsoft.com/office/drawing/2014/main" id="{3152AAD4-1B20-4029-8776-D299605C86CD}"/>
              </a:ext>
            </a:extLst>
          </p:cNvPr>
          <p:cNvSpPr txBox="1"/>
          <p:nvPr/>
        </p:nvSpPr>
        <p:spPr>
          <a:xfrm>
            <a:off x="8372485" y="6004902"/>
            <a:ext cx="267640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800" b="0" i="0" u="none" strike="noStrike" kern="1200" cap="none" spc="0" normalizeH="0" baseline="0" noProof="0" dirty="0">
                <a:ln>
                  <a:noFill/>
                </a:ln>
                <a:solidFill>
                  <a:srgbClr val="000000"/>
                </a:solidFill>
                <a:effectLst/>
                <a:uLnTx/>
                <a:uFillTx/>
                <a:latin typeface="Arial"/>
                <a:ea typeface="等线" panose="02010600030101010101" pitchFamily="2" charset="-122"/>
                <a:cs typeface="Times New Roman" panose="02020603050405020304" pitchFamily="18" charset="0"/>
              </a:rPr>
              <a:t>Malicious Stack Overflow Payload</a:t>
            </a:r>
          </a:p>
        </p:txBody>
      </p:sp>
      <p:cxnSp>
        <p:nvCxnSpPr>
          <p:cNvPr id="48" name="直接连接符 47">
            <a:extLst>
              <a:ext uri="{FF2B5EF4-FFF2-40B4-BE49-F238E27FC236}">
                <a16:creationId xmlns:a16="http://schemas.microsoft.com/office/drawing/2014/main" id="{7173E77D-3794-4561-A757-B3CB223A2412}"/>
              </a:ext>
            </a:extLst>
          </p:cNvPr>
          <p:cNvCxnSpPr>
            <a:cxnSpLocks/>
          </p:cNvCxnSpPr>
          <p:nvPr/>
        </p:nvCxnSpPr>
        <p:spPr>
          <a:xfrm>
            <a:off x="8397331"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BB8804CE-E5DE-40E8-86A8-1F1E4EC835DF}"/>
              </a:ext>
            </a:extLst>
          </p:cNvPr>
          <p:cNvCxnSpPr>
            <a:cxnSpLocks/>
          </p:cNvCxnSpPr>
          <p:nvPr/>
        </p:nvCxnSpPr>
        <p:spPr>
          <a:xfrm>
            <a:off x="11025769" y="1113801"/>
            <a:ext cx="0" cy="486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288CADF2-92C3-47C6-BEDF-81CCC4D60D06}"/>
              </a:ext>
            </a:extLst>
          </p:cNvPr>
          <p:cNvSpPr txBox="1"/>
          <p:nvPr/>
        </p:nvSpPr>
        <p:spPr>
          <a:xfrm>
            <a:off x="8380012" y="335613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1</a:t>
            </a:r>
          </a:p>
        </p:txBody>
      </p:sp>
      <p:cxnSp>
        <p:nvCxnSpPr>
          <p:cNvPr id="51" name="直接连接符 50">
            <a:extLst>
              <a:ext uri="{FF2B5EF4-FFF2-40B4-BE49-F238E27FC236}">
                <a16:creationId xmlns:a16="http://schemas.microsoft.com/office/drawing/2014/main" id="{A204DA75-7C39-4AB0-B500-A663AA033FDF}"/>
              </a:ext>
            </a:extLst>
          </p:cNvPr>
          <p:cNvCxnSpPr>
            <a:cxnSpLocks/>
          </p:cNvCxnSpPr>
          <p:nvPr/>
        </p:nvCxnSpPr>
        <p:spPr>
          <a:xfrm>
            <a:off x="8396876" y="414025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7D13199D-144E-458F-A298-73DF3B9644EC}"/>
              </a:ext>
            </a:extLst>
          </p:cNvPr>
          <p:cNvSpPr txBox="1"/>
          <p:nvPr/>
        </p:nvSpPr>
        <p:spPr>
          <a:xfrm>
            <a:off x="8404444" y="375119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2</a:t>
            </a:r>
          </a:p>
        </p:txBody>
      </p:sp>
      <p:cxnSp>
        <p:nvCxnSpPr>
          <p:cNvPr id="53" name="直接连接符 52">
            <a:extLst>
              <a:ext uri="{FF2B5EF4-FFF2-40B4-BE49-F238E27FC236}">
                <a16:creationId xmlns:a16="http://schemas.microsoft.com/office/drawing/2014/main" id="{E7CC125D-2274-4688-9211-2085F28964F5}"/>
              </a:ext>
            </a:extLst>
          </p:cNvPr>
          <p:cNvCxnSpPr>
            <a:cxnSpLocks/>
          </p:cNvCxnSpPr>
          <p:nvPr/>
        </p:nvCxnSpPr>
        <p:spPr>
          <a:xfrm>
            <a:off x="8393715" y="4576926"/>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文本框 53">
            <a:extLst>
              <a:ext uri="{FF2B5EF4-FFF2-40B4-BE49-F238E27FC236}">
                <a16:creationId xmlns:a16="http://schemas.microsoft.com/office/drawing/2014/main" id="{A3DE06FA-4B3B-4D5F-9FFE-D5BE95EC6F8E}"/>
              </a:ext>
            </a:extLst>
          </p:cNvPr>
          <p:cNvSpPr txBox="1"/>
          <p:nvPr/>
        </p:nvSpPr>
        <p:spPr>
          <a:xfrm>
            <a:off x="8390266" y="4176848"/>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System Call Number</a:t>
            </a:r>
          </a:p>
        </p:txBody>
      </p:sp>
      <p:sp>
        <p:nvSpPr>
          <p:cNvPr id="55" name="文本框 54">
            <a:extLst>
              <a:ext uri="{FF2B5EF4-FFF2-40B4-BE49-F238E27FC236}">
                <a16:creationId xmlns:a16="http://schemas.microsoft.com/office/drawing/2014/main" id="{2AE8F532-C891-4AF9-AB37-F798388507D7}"/>
              </a:ext>
            </a:extLst>
          </p:cNvPr>
          <p:cNvSpPr txBox="1"/>
          <p:nvPr/>
        </p:nvSpPr>
        <p:spPr>
          <a:xfrm>
            <a:off x="8396876" y="46276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1</a:t>
            </a:r>
          </a:p>
        </p:txBody>
      </p:sp>
      <p:cxnSp>
        <p:nvCxnSpPr>
          <p:cNvPr id="56" name="直接连接符 55">
            <a:extLst>
              <a:ext uri="{FF2B5EF4-FFF2-40B4-BE49-F238E27FC236}">
                <a16:creationId xmlns:a16="http://schemas.microsoft.com/office/drawing/2014/main" id="{F03B9A09-8CED-45CC-AF31-2B5090699D11}"/>
              </a:ext>
            </a:extLst>
          </p:cNvPr>
          <p:cNvCxnSpPr>
            <a:cxnSpLocks/>
          </p:cNvCxnSpPr>
          <p:nvPr/>
        </p:nvCxnSpPr>
        <p:spPr>
          <a:xfrm>
            <a:off x="8395976" y="502698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5392C61A-110D-43F3-8EE8-F6B94DCC2D9D}"/>
              </a:ext>
            </a:extLst>
          </p:cNvPr>
          <p:cNvCxnSpPr>
            <a:cxnSpLocks/>
          </p:cNvCxnSpPr>
          <p:nvPr/>
        </p:nvCxnSpPr>
        <p:spPr>
          <a:xfrm>
            <a:off x="8395935" y="596904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49D0F6C2-B546-412F-BA75-7B2C3891C887}"/>
              </a:ext>
            </a:extLst>
          </p:cNvPr>
          <p:cNvSpPr txBox="1"/>
          <p:nvPr/>
        </p:nvSpPr>
        <p:spPr>
          <a:xfrm>
            <a:off x="8404397" y="5321020"/>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Padding Payload</a:t>
            </a:r>
          </a:p>
        </p:txBody>
      </p:sp>
      <p:cxnSp>
        <p:nvCxnSpPr>
          <p:cNvPr id="62" name="直接连接符 61">
            <a:extLst>
              <a:ext uri="{FF2B5EF4-FFF2-40B4-BE49-F238E27FC236}">
                <a16:creationId xmlns:a16="http://schemas.microsoft.com/office/drawing/2014/main" id="{B885CE01-DAE5-4C12-A735-EB4F29360B2A}"/>
              </a:ext>
            </a:extLst>
          </p:cNvPr>
          <p:cNvCxnSpPr>
            <a:cxnSpLocks/>
          </p:cNvCxnSpPr>
          <p:nvPr/>
        </p:nvCxnSpPr>
        <p:spPr>
          <a:xfrm>
            <a:off x="8404397" y="3719607"/>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26EC3369-8E79-457C-A0A4-6A023BF0C924}"/>
              </a:ext>
            </a:extLst>
          </p:cNvPr>
          <p:cNvCxnSpPr>
            <a:cxnSpLocks/>
          </p:cNvCxnSpPr>
          <p:nvPr/>
        </p:nvCxnSpPr>
        <p:spPr>
          <a:xfrm>
            <a:off x="8396876" y="245198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文本框 63">
            <a:extLst>
              <a:ext uri="{FF2B5EF4-FFF2-40B4-BE49-F238E27FC236}">
                <a16:creationId xmlns:a16="http://schemas.microsoft.com/office/drawing/2014/main" id="{D7273F6A-27CC-4829-88D5-304D95CEB0D4}"/>
              </a:ext>
            </a:extLst>
          </p:cNvPr>
          <p:cNvSpPr txBox="1"/>
          <p:nvPr/>
        </p:nvSpPr>
        <p:spPr>
          <a:xfrm>
            <a:off x="8404444" y="206292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4</a:t>
            </a:r>
          </a:p>
        </p:txBody>
      </p:sp>
      <p:cxnSp>
        <p:nvCxnSpPr>
          <p:cNvPr id="65" name="直接连接符 64">
            <a:extLst>
              <a:ext uri="{FF2B5EF4-FFF2-40B4-BE49-F238E27FC236}">
                <a16:creationId xmlns:a16="http://schemas.microsoft.com/office/drawing/2014/main" id="{99385942-4932-41DF-A12B-4484C60710D8}"/>
              </a:ext>
            </a:extLst>
          </p:cNvPr>
          <p:cNvCxnSpPr>
            <a:cxnSpLocks/>
          </p:cNvCxnSpPr>
          <p:nvPr/>
        </p:nvCxnSpPr>
        <p:spPr>
          <a:xfrm>
            <a:off x="8393715" y="2888651"/>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文本框 65">
            <a:extLst>
              <a:ext uri="{FF2B5EF4-FFF2-40B4-BE49-F238E27FC236}">
                <a16:creationId xmlns:a16="http://schemas.microsoft.com/office/drawing/2014/main" id="{D405CF91-7384-42A6-B5AA-FE45B756DC74}"/>
              </a:ext>
            </a:extLst>
          </p:cNvPr>
          <p:cNvSpPr txBox="1"/>
          <p:nvPr/>
        </p:nvSpPr>
        <p:spPr>
          <a:xfrm>
            <a:off x="8390266" y="2488573"/>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2</a:t>
            </a:r>
          </a:p>
        </p:txBody>
      </p:sp>
      <p:sp>
        <p:nvSpPr>
          <p:cNvPr id="67" name="文本框 66">
            <a:extLst>
              <a:ext uri="{FF2B5EF4-FFF2-40B4-BE49-F238E27FC236}">
                <a16:creationId xmlns:a16="http://schemas.microsoft.com/office/drawing/2014/main" id="{A8D7C9E6-8803-40B9-B40D-91D84E8B895E}"/>
              </a:ext>
            </a:extLst>
          </p:cNvPr>
          <p:cNvSpPr txBox="1"/>
          <p:nvPr/>
        </p:nvSpPr>
        <p:spPr>
          <a:xfrm>
            <a:off x="8396876" y="2939361"/>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3</a:t>
            </a:r>
          </a:p>
        </p:txBody>
      </p:sp>
      <p:cxnSp>
        <p:nvCxnSpPr>
          <p:cNvPr id="77" name="直接连接符 76">
            <a:extLst>
              <a:ext uri="{FF2B5EF4-FFF2-40B4-BE49-F238E27FC236}">
                <a16:creationId xmlns:a16="http://schemas.microsoft.com/office/drawing/2014/main" id="{1C6B666D-785E-4BE2-B324-9BCD8005F901}"/>
              </a:ext>
            </a:extLst>
          </p:cNvPr>
          <p:cNvCxnSpPr>
            <a:cxnSpLocks/>
          </p:cNvCxnSpPr>
          <p:nvPr/>
        </p:nvCxnSpPr>
        <p:spPr>
          <a:xfrm>
            <a:off x="8395976" y="3338712"/>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F809C9B3-2118-48EF-9BFD-E09A5AABFD36}"/>
              </a:ext>
            </a:extLst>
          </p:cNvPr>
          <p:cNvCxnSpPr>
            <a:cxnSpLocks/>
          </p:cNvCxnSpPr>
          <p:nvPr/>
        </p:nvCxnSpPr>
        <p:spPr>
          <a:xfrm>
            <a:off x="8400901" y="201293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79ACEB17-D0F2-484C-ACC5-0E36E39EB76E}"/>
              </a:ext>
            </a:extLst>
          </p:cNvPr>
          <p:cNvCxnSpPr>
            <a:cxnSpLocks/>
          </p:cNvCxnSpPr>
          <p:nvPr/>
        </p:nvCxnSpPr>
        <p:spPr>
          <a:xfrm>
            <a:off x="8393380" y="1558645"/>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D6A0E1A5-C791-4D04-9D74-91B67F3A1B03}"/>
              </a:ext>
            </a:extLst>
          </p:cNvPr>
          <p:cNvSpPr txBox="1"/>
          <p:nvPr/>
        </p:nvSpPr>
        <p:spPr>
          <a:xfrm>
            <a:off x="8400948" y="1169584"/>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Address of Gadget 5</a:t>
            </a:r>
          </a:p>
        </p:txBody>
      </p:sp>
      <p:sp>
        <p:nvSpPr>
          <p:cNvPr id="83" name="文本框 82">
            <a:extLst>
              <a:ext uri="{FF2B5EF4-FFF2-40B4-BE49-F238E27FC236}">
                <a16:creationId xmlns:a16="http://schemas.microsoft.com/office/drawing/2014/main" id="{8AD6C727-10D7-4D40-B1B7-1DF64F587756}"/>
              </a:ext>
            </a:extLst>
          </p:cNvPr>
          <p:cNvSpPr txBox="1"/>
          <p:nvPr/>
        </p:nvSpPr>
        <p:spPr>
          <a:xfrm>
            <a:off x="8386770" y="1595236"/>
            <a:ext cx="262799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2980B9"/>
                </a:solidFill>
                <a:effectLst/>
                <a:uLnTx/>
                <a:uFillTx/>
                <a:latin typeface="Arial"/>
                <a:ea typeface="微软雅黑"/>
                <a:cs typeface="+mn-cs"/>
              </a:rPr>
              <a:t>Param 3</a:t>
            </a:r>
          </a:p>
        </p:txBody>
      </p:sp>
      <p:cxnSp>
        <p:nvCxnSpPr>
          <p:cNvPr id="84" name="直接连接符 83">
            <a:extLst>
              <a:ext uri="{FF2B5EF4-FFF2-40B4-BE49-F238E27FC236}">
                <a16:creationId xmlns:a16="http://schemas.microsoft.com/office/drawing/2014/main" id="{F1DB35C0-13C5-41F3-AF62-F48E4B128ED6}"/>
              </a:ext>
            </a:extLst>
          </p:cNvPr>
          <p:cNvCxnSpPr>
            <a:cxnSpLocks/>
          </p:cNvCxnSpPr>
          <p:nvPr/>
        </p:nvCxnSpPr>
        <p:spPr>
          <a:xfrm>
            <a:off x="8400901" y="1126978"/>
            <a:ext cx="2628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标题 1">
            <a:extLst>
              <a:ext uri="{FF2B5EF4-FFF2-40B4-BE49-F238E27FC236}">
                <a16:creationId xmlns:a16="http://schemas.microsoft.com/office/drawing/2014/main" id="{73426F32-0961-4384-A4E9-E28DC9FA8C3B}"/>
              </a:ext>
            </a:extLst>
          </p:cNvPr>
          <p:cNvSpPr>
            <a:spLocks noGrp="1"/>
          </p:cNvSpPr>
          <p:nvPr>
            <p:ph type="title"/>
          </p:nvPr>
        </p:nvSpPr>
        <p:spPr/>
        <p:txBody>
          <a:bodyPr/>
          <a:lstStyle/>
          <a:p>
            <a:r>
              <a:rPr lang="zh-CN" altLang="en-US" dirty="0"/>
              <a:t>面向返回地址編程</a:t>
            </a:r>
          </a:p>
        </p:txBody>
      </p:sp>
      <p:sp>
        <p:nvSpPr>
          <p:cNvPr id="32" name="矩形 31">
            <a:extLst>
              <a:ext uri="{FF2B5EF4-FFF2-40B4-BE49-F238E27FC236}">
                <a16:creationId xmlns:a16="http://schemas.microsoft.com/office/drawing/2014/main" id="{3CD88A42-D562-469C-BD4C-2FEA651BB681}"/>
              </a:ext>
            </a:extLst>
          </p:cNvPr>
          <p:cNvSpPr/>
          <p:nvPr/>
        </p:nvSpPr>
        <p:spPr>
          <a:xfrm>
            <a:off x="6460514" y="5324529"/>
            <a:ext cx="1423649" cy="6405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INT</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 </a:t>
            </a:r>
            <a:r>
              <a:rPr lang="en-US" altLang="zh-CN" dirty="0">
                <a:solidFill>
                  <a:srgbClr val="00B050"/>
                </a:solidFill>
                <a:latin typeface="Arial"/>
                <a:ea typeface="微软雅黑"/>
              </a:rPr>
              <a:t>0x80</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2060"/>
                </a:solidFill>
                <a:effectLst/>
                <a:uLnTx/>
                <a:uFillTx/>
                <a:latin typeface="Arial"/>
                <a:ea typeface="微软雅黑"/>
                <a:cs typeface="+mn-cs"/>
              </a:rPr>
              <a:t>RET</a:t>
            </a: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3" name="文本框 32">
            <a:extLst>
              <a:ext uri="{FF2B5EF4-FFF2-40B4-BE49-F238E27FC236}">
                <a16:creationId xmlns:a16="http://schemas.microsoft.com/office/drawing/2014/main" id="{4643FFAF-D7B0-4FEF-AB45-0CB52F2394E6}"/>
              </a:ext>
            </a:extLst>
          </p:cNvPr>
          <p:cNvSpPr txBox="1"/>
          <p:nvPr/>
        </p:nvSpPr>
        <p:spPr>
          <a:xfrm>
            <a:off x="6607005" y="6004902"/>
            <a:ext cx="129598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Gadget 2</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34" name="任意多边形: 形状 33">
            <a:extLst>
              <a:ext uri="{FF2B5EF4-FFF2-40B4-BE49-F238E27FC236}">
                <a16:creationId xmlns:a16="http://schemas.microsoft.com/office/drawing/2014/main" id="{E22B33CC-1D7A-420B-A93C-4AD52F032278}"/>
              </a:ext>
            </a:extLst>
          </p:cNvPr>
          <p:cNvSpPr/>
          <p:nvPr/>
        </p:nvSpPr>
        <p:spPr>
          <a:xfrm>
            <a:off x="7765709" y="1370479"/>
            <a:ext cx="574059" cy="3906601"/>
          </a:xfrm>
          <a:custGeom>
            <a:avLst/>
            <a:gdLst>
              <a:gd name="connsiteX0" fmla="*/ 1090670 w 1090670"/>
              <a:gd name="connsiteY0" fmla="*/ 0 h 484743"/>
              <a:gd name="connsiteX1" fmla="*/ 0 w 1090670"/>
              <a:gd name="connsiteY1" fmla="*/ 0 h 484743"/>
              <a:gd name="connsiteX2" fmla="*/ 0 w 1090670"/>
              <a:gd name="connsiteY2" fmla="*/ 484743 h 484743"/>
            </a:gdLst>
            <a:ahLst/>
            <a:cxnLst>
              <a:cxn ang="0">
                <a:pos x="connsiteX0" y="connsiteY0"/>
              </a:cxn>
              <a:cxn ang="0">
                <a:pos x="connsiteX1" y="connsiteY1"/>
              </a:cxn>
              <a:cxn ang="0">
                <a:pos x="connsiteX2" y="connsiteY2"/>
              </a:cxn>
            </a:cxnLst>
            <a:rect l="l" t="t" r="r" b="b"/>
            <a:pathLst>
              <a:path w="1090670" h="484743">
                <a:moveTo>
                  <a:pt x="1090670" y="0"/>
                </a:moveTo>
                <a:lnTo>
                  <a:pt x="0" y="0"/>
                </a:lnTo>
                <a:lnTo>
                  <a:pt x="0" y="484743"/>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5" name="Slide Number Placeholder 7">
            <a:extLst>
              <a:ext uri="{FF2B5EF4-FFF2-40B4-BE49-F238E27FC236}">
                <a16:creationId xmlns:a16="http://schemas.microsoft.com/office/drawing/2014/main" id="{1C769C04-8682-D933-919D-63B5247B1C2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79</a:t>
            </a:fld>
            <a:endParaRPr lang="zh-CN" altLang="en-US" sz="1200" dirty="0">
              <a:solidFill>
                <a:schemeClr val="tx1">
                  <a:tint val="75000"/>
                </a:schemeClr>
              </a:solidFill>
            </a:endParaRPr>
          </a:p>
        </p:txBody>
      </p:sp>
    </p:spTree>
    <p:extLst>
      <p:ext uri="{BB962C8B-B14F-4D97-AF65-F5344CB8AC3E}">
        <p14:creationId xmlns:p14="http://schemas.microsoft.com/office/powerpoint/2010/main" val="8962730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400400"/>
            <a:ext cx="6892138" cy="4205126"/>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面向返回地址編程的優勢</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面向返回地址編程（</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可以繞過</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防禦機制，因爲虛假的返回地址被設置在代碼段（</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Text Segment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），代碼段是存放進程指令的內存區域，必有執行權限</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lvl="0" indent="-342900" algn="just">
              <a:lnSpc>
                <a:spcPts val="3600"/>
              </a:lnSpc>
              <a:buFont typeface="Arial" panose="020B0604020202020204" pitchFamily="34" charset="0"/>
              <a:buChar char="•"/>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面向返回地址編程（</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可以繞過</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ASLR </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防禦機制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，因爲惡意代碼幷不需直接放在堆區，從而不需要確定地址。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矩形 9">
            <a:extLst>
              <a:ext uri="{FF2B5EF4-FFF2-40B4-BE49-F238E27FC236}">
                <a16:creationId xmlns:a16="http://schemas.microsoft.com/office/drawing/2014/main" id="{85900E17-B12E-4DA8-B405-B610A1A0E155}"/>
              </a:ext>
            </a:extLst>
          </p:cNvPr>
          <p:cNvSpPr/>
          <p:nvPr/>
        </p:nvSpPr>
        <p:spPr>
          <a:xfrm>
            <a:off x="8000462" y="1206786"/>
            <a:ext cx="2011487" cy="443067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11" name="直接连接符 10">
            <a:extLst>
              <a:ext uri="{FF2B5EF4-FFF2-40B4-BE49-F238E27FC236}">
                <a16:creationId xmlns:a16="http://schemas.microsoft.com/office/drawing/2014/main" id="{3736BBBB-C102-4C13-B02F-BDCCFB169D80}"/>
              </a:ext>
            </a:extLst>
          </p:cNvPr>
          <p:cNvCxnSpPr/>
          <p:nvPr/>
        </p:nvCxnSpPr>
        <p:spPr>
          <a:xfrm>
            <a:off x="7996420" y="194209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FA40E93-8624-496A-883D-48C9E38C9569}"/>
              </a:ext>
            </a:extLst>
          </p:cNvPr>
          <p:cNvSpPr txBox="1"/>
          <p:nvPr/>
        </p:nvSpPr>
        <p:spPr>
          <a:xfrm>
            <a:off x="7992653" y="1383491"/>
            <a:ext cx="201148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Kernel Space 1G</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4" name="文本框 13">
            <a:extLst>
              <a:ext uri="{FF2B5EF4-FFF2-40B4-BE49-F238E27FC236}">
                <a16:creationId xmlns:a16="http://schemas.microsoft.com/office/drawing/2014/main" id="{3239F5A3-300B-4DAB-A279-56CB425B8359}"/>
              </a:ext>
            </a:extLst>
          </p:cNvPr>
          <p:cNvSpPr txBox="1"/>
          <p:nvPr/>
        </p:nvSpPr>
        <p:spPr>
          <a:xfrm>
            <a:off x="8023888" y="5135221"/>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Text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sp>
        <p:nvSpPr>
          <p:cNvPr id="18" name="文本框 17">
            <a:extLst>
              <a:ext uri="{FF2B5EF4-FFF2-40B4-BE49-F238E27FC236}">
                <a16:creationId xmlns:a16="http://schemas.microsoft.com/office/drawing/2014/main" id="{11DA43CF-686C-4A1C-9C3E-355D5384807B}"/>
              </a:ext>
            </a:extLst>
          </p:cNvPr>
          <p:cNvSpPr txBox="1"/>
          <p:nvPr/>
        </p:nvSpPr>
        <p:spPr>
          <a:xfrm>
            <a:off x="7772814" y="762038"/>
            <a:ext cx="2451163"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Virtual Memory Space</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19" name="直接连接符 18">
            <a:extLst>
              <a:ext uri="{FF2B5EF4-FFF2-40B4-BE49-F238E27FC236}">
                <a16:creationId xmlns:a16="http://schemas.microsoft.com/office/drawing/2014/main" id="{43CC84F5-5FEC-43D6-90E1-CF0A1146BD13}"/>
              </a:ext>
            </a:extLst>
          </p:cNvPr>
          <p:cNvCxnSpPr/>
          <p:nvPr/>
        </p:nvCxnSpPr>
        <p:spPr>
          <a:xfrm>
            <a:off x="7998205" y="554470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EC7FE90-5F1C-41A3-999A-8DBE49160656}"/>
              </a:ext>
            </a:extLst>
          </p:cNvPr>
          <p:cNvCxnSpPr/>
          <p:nvPr/>
        </p:nvCxnSpPr>
        <p:spPr>
          <a:xfrm>
            <a:off x="7997567" y="5135221"/>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FD1DBD9B-6921-4BC2-B558-BA255A6F6174}"/>
              </a:ext>
            </a:extLst>
          </p:cNvPr>
          <p:cNvSpPr txBox="1"/>
          <p:nvPr/>
        </p:nvSpPr>
        <p:spPr>
          <a:xfrm>
            <a:off x="8023888" y="4765890"/>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Data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22" name="直接连接符 21">
            <a:extLst>
              <a:ext uri="{FF2B5EF4-FFF2-40B4-BE49-F238E27FC236}">
                <a16:creationId xmlns:a16="http://schemas.microsoft.com/office/drawing/2014/main" id="{DA15E37E-FF40-43B5-B5D2-D778E0A69C6C}"/>
              </a:ext>
            </a:extLst>
          </p:cNvPr>
          <p:cNvCxnSpPr/>
          <p:nvPr/>
        </p:nvCxnSpPr>
        <p:spPr>
          <a:xfrm>
            <a:off x="7997567" y="4765890"/>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BA12992-0D9D-4324-8BB3-7B85A767DE24}"/>
              </a:ext>
            </a:extLst>
          </p:cNvPr>
          <p:cNvSpPr txBox="1"/>
          <p:nvPr/>
        </p:nvSpPr>
        <p:spPr>
          <a:xfrm>
            <a:off x="8023888" y="4400207"/>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BSS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26" name="直接连接符 25">
            <a:extLst>
              <a:ext uri="{FF2B5EF4-FFF2-40B4-BE49-F238E27FC236}">
                <a16:creationId xmlns:a16="http://schemas.microsoft.com/office/drawing/2014/main" id="{AC5BEAD1-AE58-440A-82D4-94EA8B53F76B}"/>
              </a:ext>
            </a:extLst>
          </p:cNvPr>
          <p:cNvCxnSpPr/>
          <p:nvPr/>
        </p:nvCxnSpPr>
        <p:spPr>
          <a:xfrm>
            <a:off x="7997567" y="4400207"/>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93189513-0E8A-403F-9A8D-DD02D09946BD}"/>
              </a:ext>
            </a:extLst>
          </p:cNvPr>
          <p:cNvSpPr txBox="1"/>
          <p:nvPr/>
        </p:nvSpPr>
        <p:spPr>
          <a:xfrm>
            <a:off x="7974240" y="3879376"/>
            <a:ext cx="204551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Heap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28" name="直接连接符 27">
            <a:extLst>
              <a:ext uri="{FF2B5EF4-FFF2-40B4-BE49-F238E27FC236}">
                <a16:creationId xmlns:a16="http://schemas.microsoft.com/office/drawing/2014/main" id="{FCEE591B-17FA-4ECC-B4B4-B59FAEE7AAE9}"/>
              </a:ext>
            </a:extLst>
          </p:cNvPr>
          <p:cNvCxnSpPr/>
          <p:nvPr/>
        </p:nvCxnSpPr>
        <p:spPr>
          <a:xfrm>
            <a:off x="8000462" y="427144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F5D5503F-9293-4745-A96D-2AE89EB110D9}"/>
              </a:ext>
            </a:extLst>
          </p:cNvPr>
          <p:cNvSpPr txBox="1"/>
          <p:nvPr/>
        </p:nvSpPr>
        <p:spPr>
          <a:xfrm>
            <a:off x="8023888" y="2045453"/>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Stack</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30" name="直接连接符 29">
            <a:extLst>
              <a:ext uri="{FF2B5EF4-FFF2-40B4-BE49-F238E27FC236}">
                <a16:creationId xmlns:a16="http://schemas.microsoft.com/office/drawing/2014/main" id="{B2C57C6B-C011-4219-9D01-F1324C61BD74}"/>
              </a:ext>
            </a:extLst>
          </p:cNvPr>
          <p:cNvCxnSpPr/>
          <p:nvPr/>
        </p:nvCxnSpPr>
        <p:spPr>
          <a:xfrm>
            <a:off x="7997567" y="2045453"/>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5C8D00D6-AF1B-425D-908A-E8D981A67F28}"/>
              </a:ext>
            </a:extLst>
          </p:cNvPr>
          <p:cNvCxnSpPr/>
          <p:nvPr/>
        </p:nvCxnSpPr>
        <p:spPr>
          <a:xfrm>
            <a:off x="7996420" y="387937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7565339-CA6E-4096-8A58-666DDA85BEE5}"/>
              </a:ext>
            </a:extLst>
          </p:cNvPr>
          <p:cNvCxnSpPr/>
          <p:nvPr/>
        </p:nvCxnSpPr>
        <p:spPr>
          <a:xfrm>
            <a:off x="7997567" y="3316097"/>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F1DE399A-817A-48E5-8CC0-F6CF906E32F7}"/>
              </a:ext>
            </a:extLst>
          </p:cNvPr>
          <p:cNvSpPr txBox="1"/>
          <p:nvPr/>
        </p:nvSpPr>
        <p:spPr>
          <a:xfrm>
            <a:off x="8023888" y="2950414"/>
            <a:ext cx="199587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Map Segment</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34" name="直接连接符 33">
            <a:extLst>
              <a:ext uri="{FF2B5EF4-FFF2-40B4-BE49-F238E27FC236}">
                <a16:creationId xmlns:a16="http://schemas.microsoft.com/office/drawing/2014/main" id="{483CB21F-AAEE-4F19-B24A-03194810C1F3}"/>
              </a:ext>
            </a:extLst>
          </p:cNvPr>
          <p:cNvCxnSpPr/>
          <p:nvPr/>
        </p:nvCxnSpPr>
        <p:spPr>
          <a:xfrm>
            <a:off x="7997567" y="2950414"/>
            <a:ext cx="2016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70622A5-6FAC-4667-8095-0E1175763DF2}"/>
              </a:ext>
            </a:extLst>
          </p:cNvPr>
          <p:cNvCxnSpPr/>
          <p:nvPr/>
        </p:nvCxnSpPr>
        <p:spPr>
          <a:xfrm>
            <a:off x="7999157" y="2529056"/>
            <a:ext cx="20160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98EA68B8-174A-4858-8268-458366E55649}"/>
              </a:ext>
            </a:extLst>
          </p:cNvPr>
          <p:cNvGrpSpPr/>
          <p:nvPr/>
        </p:nvGrpSpPr>
        <p:grpSpPr>
          <a:xfrm>
            <a:off x="11071950" y="2214587"/>
            <a:ext cx="716097" cy="369332"/>
            <a:chOff x="10697378" y="2404853"/>
            <a:chExt cx="716097" cy="369332"/>
          </a:xfrm>
        </p:grpSpPr>
        <p:sp>
          <p:nvSpPr>
            <p:cNvPr id="41" name="椭圆 40">
              <a:extLst>
                <a:ext uri="{FF2B5EF4-FFF2-40B4-BE49-F238E27FC236}">
                  <a16:creationId xmlns:a16="http://schemas.microsoft.com/office/drawing/2014/main" id="{A6E05E34-67A7-4FA3-AF4C-42EC57231E70}"/>
                </a:ext>
              </a:extLst>
            </p:cNvPr>
            <p:cNvSpPr/>
            <p:nvPr/>
          </p:nvSpPr>
          <p:spPr>
            <a:xfrm>
              <a:off x="10697378" y="2540895"/>
              <a:ext cx="81119" cy="811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2" name="文本框 41">
              <a:extLst>
                <a:ext uri="{FF2B5EF4-FFF2-40B4-BE49-F238E27FC236}">
                  <a16:creationId xmlns:a16="http://schemas.microsoft.com/office/drawing/2014/main" id="{2FC7AAEC-47CF-415E-9367-1F328DA893F9}"/>
                </a:ext>
              </a:extLst>
            </p:cNvPr>
            <p:cNvSpPr txBox="1"/>
            <p:nvPr/>
          </p:nvSpPr>
          <p:spPr>
            <a:xfrm>
              <a:off x="10767480" y="2404853"/>
              <a:ext cx="64599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EIP</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grpSp>
      <p:sp>
        <p:nvSpPr>
          <p:cNvPr id="43" name="矩形 42">
            <a:extLst>
              <a:ext uri="{FF2B5EF4-FFF2-40B4-BE49-F238E27FC236}">
                <a16:creationId xmlns:a16="http://schemas.microsoft.com/office/drawing/2014/main" id="{EA1EA6D0-5822-4CEA-A22D-B7B60737DAD7}"/>
              </a:ext>
            </a:extLst>
          </p:cNvPr>
          <p:cNvSpPr/>
          <p:nvPr/>
        </p:nvSpPr>
        <p:spPr>
          <a:xfrm>
            <a:off x="10569687" y="2036341"/>
            <a:ext cx="1868355" cy="646331"/>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44" name="文本框 43">
            <a:extLst>
              <a:ext uri="{FF2B5EF4-FFF2-40B4-BE49-F238E27FC236}">
                <a16:creationId xmlns:a16="http://schemas.microsoft.com/office/drawing/2014/main" id="{3AB7BED0-3BD0-485C-B883-BF4CFC9B0B5B}"/>
              </a:ext>
            </a:extLst>
          </p:cNvPr>
          <p:cNvSpPr txBox="1"/>
          <p:nvPr/>
        </p:nvSpPr>
        <p:spPr>
          <a:xfrm>
            <a:off x="11329758" y="2740354"/>
            <a:ext cx="920578"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Arial"/>
                <a:ea typeface="微软雅黑"/>
                <a:cs typeface="+mn-cs"/>
              </a:rPr>
              <a:t>CPU</a:t>
            </a:r>
            <a:endParaRPr kumimoji="0" lang="zh-CN" altLang="en-US" sz="1800" b="0" i="0" u="none" strike="noStrike" kern="1200" cap="none" spc="0" normalizeH="0" baseline="0" noProof="0" dirty="0">
              <a:ln>
                <a:noFill/>
              </a:ln>
              <a:solidFill>
                <a:srgbClr val="000000"/>
              </a:solidFill>
              <a:effectLst/>
              <a:uLnTx/>
              <a:uFillTx/>
              <a:latin typeface="Arial"/>
              <a:ea typeface="微软雅黑"/>
              <a:cs typeface="+mn-cs"/>
            </a:endParaRPr>
          </a:p>
        </p:txBody>
      </p:sp>
      <p:cxnSp>
        <p:nvCxnSpPr>
          <p:cNvPr id="45" name="直接连接符 44">
            <a:extLst>
              <a:ext uri="{FF2B5EF4-FFF2-40B4-BE49-F238E27FC236}">
                <a16:creationId xmlns:a16="http://schemas.microsoft.com/office/drawing/2014/main" id="{A8BE37BF-5A69-445A-A44F-315922D92244}"/>
              </a:ext>
            </a:extLst>
          </p:cNvPr>
          <p:cNvCxnSpPr>
            <a:cxnSpLocks/>
          </p:cNvCxnSpPr>
          <p:nvPr/>
        </p:nvCxnSpPr>
        <p:spPr>
          <a:xfrm>
            <a:off x="7993217" y="2398697"/>
            <a:ext cx="2016000"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 name="直接箭头连接符 3">
            <a:extLst>
              <a:ext uri="{FF2B5EF4-FFF2-40B4-BE49-F238E27FC236}">
                <a16:creationId xmlns:a16="http://schemas.microsoft.com/office/drawing/2014/main" id="{344385BD-C5C6-4B5B-BB3F-C676E8EA388C}"/>
              </a:ext>
            </a:extLst>
          </p:cNvPr>
          <p:cNvCxnSpPr/>
          <p:nvPr/>
        </p:nvCxnSpPr>
        <p:spPr>
          <a:xfrm>
            <a:off x="10019757" y="2398697"/>
            <a:ext cx="1052193" cy="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D25DCFBA-C362-49BE-9CC9-E507E9028CC6}"/>
              </a:ext>
            </a:extLst>
          </p:cNvPr>
          <p:cNvSpPr txBox="1"/>
          <p:nvPr/>
        </p:nvSpPr>
        <p:spPr>
          <a:xfrm>
            <a:off x="10439400" y="1429657"/>
            <a:ext cx="1615943"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C00000"/>
                </a:solidFill>
                <a:effectLst/>
                <a:uLnTx/>
                <a:uFillTx/>
                <a:latin typeface="Arial"/>
                <a:ea typeface="微软雅黑"/>
                <a:cs typeface="+mn-cs"/>
              </a:rPr>
              <a:t>Fake Return Address</a:t>
            </a:r>
            <a:endParaRPr kumimoji="0" lang="zh-CN" altLang="en-US" sz="1800" b="0" i="0" u="none" strike="noStrike" kern="1200" cap="none" spc="0" normalizeH="0" baseline="0" noProof="0" dirty="0">
              <a:ln>
                <a:noFill/>
              </a:ln>
              <a:solidFill>
                <a:srgbClr val="C00000"/>
              </a:solidFill>
              <a:effectLst/>
              <a:uLnTx/>
              <a:uFillTx/>
              <a:latin typeface="Arial"/>
              <a:ea typeface="微软雅黑"/>
              <a:cs typeface="+mn-cs"/>
            </a:endParaRPr>
          </a:p>
        </p:txBody>
      </p:sp>
      <p:sp>
        <p:nvSpPr>
          <p:cNvPr id="47" name="任意多边形: 形状 46">
            <a:extLst>
              <a:ext uri="{FF2B5EF4-FFF2-40B4-BE49-F238E27FC236}">
                <a16:creationId xmlns:a16="http://schemas.microsoft.com/office/drawing/2014/main" id="{02C01EC6-D4F8-452D-8F6D-92EFF9E7061F}"/>
              </a:ext>
            </a:extLst>
          </p:cNvPr>
          <p:cNvSpPr/>
          <p:nvPr/>
        </p:nvSpPr>
        <p:spPr>
          <a:xfrm>
            <a:off x="10036366" y="2533880"/>
            <a:ext cx="1079653" cy="2677098"/>
          </a:xfrm>
          <a:custGeom>
            <a:avLst/>
            <a:gdLst>
              <a:gd name="connsiteX0" fmla="*/ 1079653 w 1079653"/>
              <a:gd name="connsiteY0" fmla="*/ 0 h 2677098"/>
              <a:gd name="connsiteX1" fmla="*/ 1079653 w 1079653"/>
              <a:gd name="connsiteY1" fmla="*/ 2677098 h 2677098"/>
              <a:gd name="connsiteX2" fmla="*/ 0 w 1079653"/>
              <a:gd name="connsiteY2" fmla="*/ 2677098 h 2677098"/>
            </a:gdLst>
            <a:ahLst/>
            <a:cxnLst>
              <a:cxn ang="0">
                <a:pos x="connsiteX0" y="connsiteY0"/>
              </a:cxn>
              <a:cxn ang="0">
                <a:pos x="connsiteX1" y="connsiteY1"/>
              </a:cxn>
              <a:cxn ang="0">
                <a:pos x="connsiteX2" y="connsiteY2"/>
              </a:cxn>
            </a:cxnLst>
            <a:rect l="l" t="t" r="r" b="b"/>
            <a:pathLst>
              <a:path w="1079653" h="2677098">
                <a:moveTo>
                  <a:pt x="1079653" y="0"/>
                </a:moveTo>
                <a:lnTo>
                  <a:pt x="1079653" y="2677098"/>
                </a:lnTo>
                <a:lnTo>
                  <a:pt x="0" y="2677098"/>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8" name="任意多边形: 形状 47">
            <a:extLst>
              <a:ext uri="{FF2B5EF4-FFF2-40B4-BE49-F238E27FC236}">
                <a16:creationId xmlns:a16="http://schemas.microsoft.com/office/drawing/2014/main" id="{7527B90D-0805-4E59-BDD7-54BCC7975542}"/>
              </a:ext>
            </a:extLst>
          </p:cNvPr>
          <p:cNvSpPr/>
          <p:nvPr/>
        </p:nvSpPr>
        <p:spPr>
          <a:xfrm>
            <a:off x="10033471" y="2699546"/>
            <a:ext cx="1079653" cy="2677098"/>
          </a:xfrm>
          <a:custGeom>
            <a:avLst/>
            <a:gdLst>
              <a:gd name="connsiteX0" fmla="*/ 1079653 w 1079653"/>
              <a:gd name="connsiteY0" fmla="*/ 0 h 2677098"/>
              <a:gd name="connsiteX1" fmla="*/ 1079653 w 1079653"/>
              <a:gd name="connsiteY1" fmla="*/ 2677098 h 2677098"/>
              <a:gd name="connsiteX2" fmla="*/ 0 w 1079653"/>
              <a:gd name="connsiteY2" fmla="*/ 2677098 h 2677098"/>
            </a:gdLst>
            <a:ahLst/>
            <a:cxnLst>
              <a:cxn ang="0">
                <a:pos x="connsiteX0" y="connsiteY0"/>
              </a:cxn>
              <a:cxn ang="0">
                <a:pos x="connsiteX1" y="connsiteY1"/>
              </a:cxn>
              <a:cxn ang="0">
                <a:pos x="connsiteX2" y="connsiteY2"/>
              </a:cxn>
            </a:cxnLst>
            <a:rect l="l" t="t" r="r" b="b"/>
            <a:pathLst>
              <a:path w="1079653" h="2677098">
                <a:moveTo>
                  <a:pt x="1079653" y="0"/>
                </a:moveTo>
                <a:lnTo>
                  <a:pt x="1079653" y="2677098"/>
                </a:lnTo>
                <a:lnTo>
                  <a:pt x="0" y="2677098"/>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49" name="任意多边形: 形状 48">
            <a:extLst>
              <a:ext uri="{FF2B5EF4-FFF2-40B4-BE49-F238E27FC236}">
                <a16:creationId xmlns:a16="http://schemas.microsoft.com/office/drawing/2014/main" id="{BCC22442-0284-4595-85D7-5282CB248FF2}"/>
              </a:ext>
            </a:extLst>
          </p:cNvPr>
          <p:cNvSpPr/>
          <p:nvPr/>
        </p:nvSpPr>
        <p:spPr>
          <a:xfrm>
            <a:off x="10032324" y="2840328"/>
            <a:ext cx="1079653" cy="2677098"/>
          </a:xfrm>
          <a:custGeom>
            <a:avLst/>
            <a:gdLst>
              <a:gd name="connsiteX0" fmla="*/ 1079653 w 1079653"/>
              <a:gd name="connsiteY0" fmla="*/ 0 h 2677098"/>
              <a:gd name="connsiteX1" fmla="*/ 1079653 w 1079653"/>
              <a:gd name="connsiteY1" fmla="*/ 2677098 h 2677098"/>
              <a:gd name="connsiteX2" fmla="*/ 0 w 1079653"/>
              <a:gd name="connsiteY2" fmla="*/ 2677098 h 2677098"/>
            </a:gdLst>
            <a:ahLst/>
            <a:cxnLst>
              <a:cxn ang="0">
                <a:pos x="connsiteX0" y="connsiteY0"/>
              </a:cxn>
              <a:cxn ang="0">
                <a:pos x="connsiteX1" y="connsiteY1"/>
              </a:cxn>
              <a:cxn ang="0">
                <a:pos x="connsiteX2" y="connsiteY2"/>
              </a:cxn>
            </a:cxnLst>
            <a:rect l="l" t="t" r="r" b="b"/>
            <a:pathLst>
              <a:path w="1079653" h="2677098">
                <a:moveTo>
                  <a:pt x="1079653" y="0"/>
                </a:moveTo>
                <a:lnTo>
                  <a:pt x="1079653" y="2677098"/>
                </a:lnTo>
                <a:lnTo>
                  <a:pt x="0" y="2677098"/>
                </a:lnTo>
              </a:path>
            </a:pathLst>
          </a:custGeom>
          <a:noFill/>
          <a:ln>
            <a:solidFill>
              <a:schemeClr val="tx1"/>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 name="标题 1">
            <a:extLst>
              <a:ext uri="{FF2B5EF4-FFF2-40B4-BE49-F238E27FC236}">
                <a16:creationId xmlns:a16="http://schemas.microsoft.com/office/drawing/2014/main" id="{C4CB2E8C-2920-4D15-A491-5B5A2F944067}"/>
              </a:ext>
            </a:extLst>
          </p:cNvPr>
          <p:cNvSpPr>
            <a:spLocks noGrp="1"/>
          </p:cNvSpPr>
          <p:nvPr>
            <p:ph type="title"/>
          </p:nvPr>
        </p:nvSpPr>
        <p:spPr/>
        <p:txBody>
          <a:bodyPr/>
          <a:lstStyle/>
          <a:p>
            <a:r>
              <a:rPr lang="zh-CN" altLang="en-US" dirty="0"/>
              <a:t>面向返回地址編程的優勢</a:t>
            </a:r>
          </a:p>
        </p:txBody>
      </p:sp>
      <p:sp>
        <p:nvSpPr>
          <p:cNvPr id="5" name="Slide Number Placeholder 7">
            <a:extLst>
              <a:ext uri="{FF2B5EF4-FFF2-40B4-BE49-F238E27FC236}">
                <a16:creationId xmlns:a16="http://schemas.microsoft.com/office/drawing/2014/main" id="{CDFBCCC8-575E-4541-CE4F-6B0A6610FA1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80</a:t>
            </a:fld>
            <a:endParaRPr lang="zh-CN" altLang="en-US" sz="1200" dirty="0">
              <a:solidFill>
                <a:schemeClr val="tx1">
                  <a:tint val="75000"/>
                </a:schemeClr>
              </a:solidFill>
            </a:endParaRPr>
          </a:p>
        </p:txBody>
      </p:sp>
    </p:spTree>
    <p:extLst>
      <p:ext uri="{BB962C8B-B14F-4D97-AF65-F5344CB8AC3E}">
        <p14:creationId xmlns:p14="http://schemas.microsoft.com/office/powerpoint/2010/main" val="168336912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8" y="1345191"/>
            <a:ext cx="11133434" cy="4666790"/>
          </a:xfrm>
          <a:prstGeom prst="rect">
            <a:avLst/>
          </a:prstGeom>
          <a:noFill/>
        </p:spPr>
        <p:txBody>
          <a:bodyPr wrap="square" rtlCol="0">
            <a:spAutoFit/>
          </a:bodyPr>
          <a:lstStyle/>
          <a:p>
            <a:pPr marR="0" lvl="0" algn="just" defTabSz="914400" rtl="0" eaLnBrk="1" fontAlgn="auto" latinLnBrk="0" hangingPunct="1">
              <a:lnSpc>
                <a:spcPts val="3600"/>
              </a:lnSpc>
              <a:spcBef>
                <a:spcPts val="0"/>
              </a:spcBef>
              <a:spcAft>
                <a:spcPts val="0"/>
              </a:spcAft>
              <a:buClrTx/>
              <a:buSzTx/>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對面向返回地址編程（</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）攻擊的討論與總結：</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的本質是利用</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程序</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代碼段的</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合法</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，重組一個惡意程序，每一個可利用的指令片段被稱作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，可以說</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a:t>
            </a:r>
            <a:r>
              <a:rPr kumimoji="1" lang="en-US" altLang="zh-CN"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chain-of-gadgets</a:t>
            </a: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可以繞過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防禦機制，但對于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Stack Canary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則需要額外的信息泄露方案才可繞過這一防禦機制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使用的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RET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指令結尾；若</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Gadget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的結尾指令爲</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JMP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，則爲</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面向跳轉地址編程</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Jump-Oriented Programming</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JOP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），原理與</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類似</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5D901F46-CA65-49ED-9851-C67130C31B63}"/>
              </a:ext>
            </a:extLst>
          </p:cNvPr>
          <p:cNvSpPr>
            <a:spLocks noGrp="1"/>
          </p:cNvSpPr>
          <p:nvPr>
            <p:ph type="title"/>
          </p:nvPr>
        </p:nvSpPr>
        <p:spPr/>
        <p:txBody>
          <a:bodyPr/>
          <a:lstStyle/>
          <a:p>
            <a:r>
              <a:rPr lang="zh-CN" altLang="en-US" dirty="0"/>
              <a:t>面向返回地址編程總結</a:t>
            </a:r>
          </a:p>
        </p:txBody>
      </p:sp>
      <p:sp>
        <p:nvSpPr>
          <p:cNvPr id="4" name="Slide Number Placeholder 7">
            <a:extLst>
              <a:ext uri="{FF2B5EF4-FFF2-40B4-BE49-F238E27FC236}">
                <a16:creationId xmlns:a16="http://schemas.microsoft.com/office/drawing/2014/main" id="{55D0EDDE-91DE-2BB7-2568-7438B47AE95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81</a:t>
            </a:fld>
            <a:endParaRPr lang="zh-CN" altLang="en-US" sz="1200" dirty="0">
              <a:solidFill>
                <a:schemeClr val="tx1">
                  <a:tint val="75000"/>
                </a:schemeClr>
              </a:solidFill>
            </a:endParaRPr>
          </a:p>
        </p:txBody>
      </p:sp>
    </p:spTree>
    <p:extLst>
      <p:ext uri="{BB962C8B-B14F-4D97-AF65-F5344CB8AC3E}">
        <p14:creationId xmlns:p14="http://schemas.microsoft.com/office/powerpoint/2010/main" val="354999142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72918"/>
            <a:ext cx="6264857"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3</a:t>
            </a:r>
            <a:r>
              <a:rPr lang="zh-CN" altLang="en-US" sz="4000" b="1" kern="100" dirty="0">
                <a:solidFill>
                  <a:prstClr val="white"/>
                </a:solidFill>
                <a:latin typeface="微软雅黑 Light"/>
                <a:ea typeface="微软雅黑 Light"/>
                <a:cs typeface="Times New Roman" panose="02020603050405020304" pitchFamily="18" charset="0"/>
              </a:rPr>
              <a:t>節 高級控制流劫持方案</a:t>
            </a: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603872"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3.1 </a:t>
            </a:r>
            <a:r>
              <a:rPr lang="zh-CN" altLang="en-US" sz="2400" dirty="0">
                <a:latin typeface="Microsoft YaHei" panose="020B0503020204020204" pitchFamily="34" charset="-122"/>
                <a:ea typeface="Microsoft YaHei" panose="020B0503020204020204" pitchFamily="34" charset="-122"/>
              </a:rPr>
              <a:t>進程執行的更多細節</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3.2 </a:t>
            </a:r>
            <a:r>
              <a:rPr lang="zh-CN" altLang="en-US" sz="2400" dirty="0">
                <a:latin typeface="Microsoft YaHei" panose="020B0503020204020204" pitchFamily="34" charset="-122"/>
                <a:ea typeface="Microsoft YaHei" panose="020B0503020204020204" pitchFamily="34" charset="-122"/>
              </a:rPr>
              <a:t>面向返回地址編程</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896947" cy="461665"/>
          </a:xfrm>
          <a:prstGeom prst="rect">
            <a:avLst/>
          </a:prstGeom>
          <a:noFill/>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3.3 </a:t>
            </a:r>
            <a:r>
              <a:rPr lang="zh-CN" altLang="en-US" sz="2400" b="1" dirty="0">
                <a:solidFill>
                  <a:srgbClr val="C00000"/>
                </a:solidFill>
                <a:latin typeface="Microsoft YaHei" panose="020B0503020204020204" pitchFamily="34" charset="-122"/>
                <a:ea typeface="Microsoft YaHei" panose="020B0503020204020204" pitchFamily="34" charset="-122"/>
              </a:rPr>
              <a:t>全域偏置表劫持</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844048"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3.4 </a:t>
            </a:r>
            <a:r>
              <a:rPr lang="zh-CN" altLang="en-US" sz="2400" dirty="0">
                <a:latin typeface="Microsoft YaHei" panose="020B0503020204020204" pitchFamily="34" charset="-122"/>
                <a:ea typeface="Microsoft YaHei" panose="020B0503020204020204" pitchFamily="34" charset="-122"/>
              </a:rPr>
              <a:t>虛假</a:t>
            </a:r>
            <a:r>
              <a:rPr lang="en-US" altLang="zh-CN" sz="2400" dirty="0" err="1">
                <a:latin typeface="Microsoft YaHei" panose="020B0503020204020204" pitchFamily="34" charset="-122"/>
                <a:ea typeface="Microsoft YaHei" panose="020B0503020204020204" pitchFamily="34" charset="-122"/>
              </a:rPr>
              <a:t>vtable</a:t>
            </a:r>
            <a:r>
              <a:rPr lang="zh-CN" altLang="en-US" sz="2400" dirty="0">
                <a:latin typeface="Microsoft YaHei" panose="020B0503020204020204" pitchFamily="34" charset="-122"/>
                <a:ea typeface="Microsoft YaHei" panose="020B0503020204020204" pitchFamily="34" charset="-122"/>
              </a:rPr>
              <a:t>劫持</a:t>
            </a:r>
          </a:p>
        </p:txBody>
      </p:sp>
      <p:pic>
        <p:nvPicPr>
          <p:cNvPr id="27" name="图片 26">
            <a:extLst>
              <a:ext uri="{FF2B5EF4-FFF2-40B4-BE49-F238E27FC236}">
                <a16:creationId xmlns:a16="http://schemas.microsoft.com/office/drawing/2014/main" id="{F7DF9791-4E29-44C2-9123-58E634F474A2}"/>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0472534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233679"/>
            <a:ext cx="6480981" cy="420512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爲了使進程可以找到內存中的動態鏈接庫，需要維護位于</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數據段</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全域偏移表</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Global Offset 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）和位于</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代碼段</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程序連接表</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Procedure Linkage 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程序使用</a:t>
            </a:r>
            <a:r>
              <a:rPr kumimoji="1"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CALL</a:t>
            </a:r>
            <a:r>
              <a:rPr kumimoji="1" lang="zh-CN" altLang="en-US"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調用共享庫函數；其調用地址爲</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表地址</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，而後由</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跳轉索引</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表項指向內存映射段，也就是位于動態鏈接庫的庫函數</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标题 2">
            <a:extLst>
              <a:ext uri="{FF2B5EF4-FFF2-40B4-BE49-F238E27FC236}">
                <a16:creationId xmlns:a16="http://schemas.microsoft.com/office/drawing/2014/main" id="{8C76022D-9D3C-44CB-A1A4-1E64F266F0D9}"/>
              </a:ext>
            </a:extLst>
          </p:cNvPr>
          <p:cNvSpPr>
            <a:spLocks noGrp="1"/>
          </p:cNvSpPr>
          <p:nvPr>
            <p:ph type="title"/>
          </p:nvPr>
        </p:nvSpPr>
        <p:spPr/>
        <p:txBody>
          <a:bodyPr/>
          <a:lstStyle/>
          <a:p>
            <a:r>
              <a:rPr lang="zh-CN" altLang="en-US" dirty="0"/>
              <a:t>全域偏移表與程序鏈接表</a:t>
            </a:r>
          </a:p>
        </p:txBody>
      </p:sp>
      <p:pic>
        <p:nvPicPr>
          <p:cNvPr id="5" name="Picture 4">
            <a:extLst>
              <a:ext uri="{FF2B5EF4-FFF2-40B4-BE49-F238E27FC236}">
                <a16:creationId xmlns:a16="http://schemas.microsoft.com/office/drawing/2014/main" id="{25FC264F-6A6A-D7C5-494A-75F823AD0D32}"/>
              </a:ext>
            </a:extLst>
          </p:cNvPr>
          <p:cNvPicPr>
            <a:picLocks noChangeAspect="1"/>
          </p:cNvPicPr>
          <p:nvPr/>
        </p:nvPicPr>
        <p:blipFill>
          <a:blip r:embed="rId3"/>
          <a:stretch>
            <a:fillRect/>
          </a:stretch>
        </p:blipFill>
        <p:spPr>
          <a:xfrm>
            <a:off x="6973491" y="1750713"/>
            <a:ext cx="5051234" cy="3546451"/>
          </a:xfrm>
          <a:prstGeom prst="rect">
            <a:avLst/>
          </a:prstGeom>
        </p:spPr>
      </p:pic>
      <p:sp>
        <p:nvSpPr>
          <p:cNvPr id="4" name="Slide Number Placeholder 7">
            <a:extLst>
              <a:ext uri="{FF2B5EF4-FFF2-40B4-BE49-F238E27FC236}">
                <a16:creationId xmlns:a16="http://schemas.microsoft.com/office/drawing/2014/main" id="{708C6927-2B2A-809F-F91F-82C77B07E71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83</a:t>
            </a:fld>
            <a:endParaRPr lang="zh-CN" altLang="en-US" sz="1200" dirty="0">
              <a:solidFill>
                <a:schemeClr val="tx1">
                  <a:tint val="75000"/>
                </a:schemeClr>
              </a:solidFill>
            </a:endParaRPr>
          </a:p>
        </p:txBody>
      </p:sp>
    </p:spTree>
    <p:extLst>
      <p:ext uri="{BB962C8B-B14F-4D97-AF65-F5344CB8AC3E}">
        <p14:creationId xmlns:p14="http://schemas.microsoft.com/office/powerpoint/2010/main" val="95722659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400400"/>
            <a:ext cx="6480981"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表在運行前確定，且在程序運行過程中不可修改（</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Text Segment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不可寫）</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69" name="直接连接符 68">
            <a:extLst>
              <a:ext uri="{FF2B5EF4-FFF2-40B4-BE49-F238E27FC236}">
                <a16:creationId xmlns:a16="http://schemas.microsoft.com/office/drawing/2014/main" id="{4E51E1E7-897D-493E-A34D-6EE2F2FD04CF}"/>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文本框 14">
            <a:extLst>
              <a:ext uri="{FF2B5EF4-FFF2-40B4-BE49-F238E27FC236}">
                <a16:creationId xmlns:a16="http://schemas.microsoft.com/office/drawing/2014/main" id="{573EFA79-984C-4C69-B32F-6DCCC8C8D9F6}"/>
              </a:ext>
            </a:extLst>
          </p:cNvPr>
          <p:cNvSpPr txBox="1"/>
          <p:nvPr/>
        </p:nvSpPr>
        <p:spPr>
          <a:xfrm>
            <a:off x="561975" y="6235648"/>
            <a:ext cx="547200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動態鏈接器爲最早被加載的動態鏈接庫</a:t>
            </a:r>
            <a:endPar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225F8339-3385-429D-A424-60E1173CE781}"/>
              </a:ext>
            </a:extLst>
          </p:cNvPr>
          <p:cNvSpPr>
            <a:spLocks noGrp="1"/>
          </p:cNvSpPr>
          <p:nvPr>
            <p:ph type="title"/>
          </p:nvPr>
        </p:nvSpPr>
        <p:spPr/>
        <p:txBody>
          <a:bodyPr/>
          <a:lstStyle/>
          <a:p>
            <a:r>
              <a:rPr lang="zh-CN" altLang="en-US" dirty="0"/>
              <a:t>全域偏移表與程序鏈接表</a:t>
            </a:r>
          </a:p>
        </p:txBody>
      </p:sp>
      <p:sp>
        <p:nvSpPr>
          <p:cNvPr id="40" name="文本框 14">
            <a:extLst>
              <a:ext uri="{FF2B5EF4-FFF2-40B4-BE49-F238E27FC236}">
                <a16:creationId xmlns:a16="http://schemas.microsoft.com/office/drawing/2014/main" id="{B7A98305-0B5E-4EF1-B86F-A37F71D02652}"/>
              </a:ext>
            </a:extLst>
          </p:cNvPr>
          <p:cNvSpPr txBox="1"/>
          <p:nvPr/>
        </p:nvSpPr>
        <p:spPr>
          <a:xfrm>
            <a:off x="655005" y="2843657"/>
            <a:ext cx="6205226" cy="1435136"/>
          </a:xfrm>
          <a:prstGeom prst="rect">
            <a:avLst/>
          </a:prstGeom>
          <a:noFill/>
        </p:spPr>
        <p:txBody>
          <a:bodyPr wrap="square" rtlCol="0">
            <a:spAutoFit/>
          </a:bodyPr>
          <a:lstStyle/>
          <a:p>
            <a:pPr marR="0" lvl="0" algn="ctr" defTabSz="914400" rtl="0" eaLnBrk="1" fontAlgn="auto" latinLnBrk="0" hangingPunct="1">
              <a:lnSpc>
                <a:spcPts val="3600"/>
              </a:lnSpc>
              <a:spcBef>
                <a:spcPts val="0"/>
              </a:spcBef>
              <a:spcAft>
                <a:spcPts val="0"/>
              </a:spcAft>
              <a:buClrTx/>
              <a:buSzTx/>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表根據一套“惰性的”共享庫函數加載機制，</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表項在庫函數的首次調用時確定，</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ctr" defTabSz="914400" rtl="0" eaLnBrk="1" fontAlgn="auto" latinLnBrk="0" hangingPunct="1">
              <a:lnSpc>
                <a:spcPts val="3600"/>
              </a:lnSpc>
              <a:spcBef>
                <a:spcPts val="0"/>
              </a:spcBef>
              <a:spcAft>
                <a:spcPts val="0"/>
              </a:spcAft>
              <a:buClrTx/>
              <a:buSzTx/>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指向正確的內存映射段位置</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3" name="文本框 14">
            <a:extLst>
              <a:ext uri="{FF2B5EF4-FFF2-40B4-BE49-F238E27FC236}">
                <a16:creationId xmlns:a16="http://schemas.microsoft.com/office/drawing/2014/main" id="{88125613-2E52-4BCE-88EB-19F100656077}"/>
              </a:ext>
            </a:extLst>
          </p:cNvPr>
          <p:cNvSpPr txBox="1"/>
          <p:nvPr/>
        </p:nvSpPr>
        <p:spPr>
          <a:xfrm>
            <a:off x="563121" y="4620649"/>
            <a:ext cx="6480981"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動態鏈接器</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將完成共享庫在的映射，幷爲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確定表項</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519BC30F-1EE8-11FC-4B98-45DEA0102AD0}"/>
              </a:ext>
            </a:extLst>
          </p:cNvPr>
          <p:cNvPicPr>
            <a:picLocks noChangeAspect="1"/>
          </p:cNvPicPr>
          <p:nvPr/>
        </p:nvPicPr>
        <p:blipFill>
          <a:blip r:embed="rId3"/>
          <a:stretch>
            <a:fillRect/>
          </a:stretch>
        </p:blipFill>
        <p:spPr>
          <a:xfrm>
            <a:off x="6973491" y="1750713"/>
            <a:ext cx="5051234" cy="3546451"/>
          </a:xfrm>
          <a:prstGeom prst="rect">
            <a:avLst/>
          </a:prstGeom>
        </p:spPr>
      </p:pic>
      <p:sp>
        <p:nvSpPr>
          <p:cNvPr id="4" name="Slide Number Placeholder 7">
            <a:extLst>
              <a:ext uri="{FF2B5EF4-FFF2-40B4-BE49-F238E27FC236}">
                <a16:creationId xmlns:a16="http://schemas.microsoft.com/office/drawing/2014/main" id="{FC8D6010-8E35-1383-46E9-EA71305AAC2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84</a:t>
            </a:fld>
            <a:endParaRPr lang="zh-CN" altLang="en-US" sz="1200" dirty="0">
              <a:solidFill>
                <a:schemeClr val="tx1">
                  <a:tint val="75000"/>
                </a:schemeClr>
              </a:solidFill>
            </a:endParaRPr>
          </a:p>
        </p:txBody>
      </p:sp>
    </p:spTree>
    <p:extLst>
      <p:ext uri="{BB962C8B-B14F-4D97-AF65-F5344CB8AC3E}">
        <p14:creationId xmlns:p14="http://schemas.microsoft.com/office/powerpoint/2010/main" val="41332600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6773625" cy="374346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表不直接映射共享庫代碼位置的原因有二：</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將隨機浮動共享庫的基地址，導致共享庫的位置無法被硬編碼</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幷非動態鏈接庫當中的所有庫函數都需要被映射（降低內存開銷）</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B7BD7ECB-82B1-400E-9D1F-874A5345C53E}"/>
              </a:ext>
            </a:extLst>
          </p:cNvPr>
          <p:cNvSpPr>
            <a:spLocks noGrp="1"/>
          </p:cNvSpPr>
          <p:nvPr>
            <p:ph type="title"/>
          </p:nvPr>
        </p:nvSpPr>
        <p:spPr/>
        <p:txBody>
          <a:bodyPr/>
          <a:lstStyle/>
          <a:p>
            <a:r>
              <a:rPr lang="zh-CN" altLang="en-US" dirty="0"/>
              <a:t>全域偏移表與程序鏈接表</a:t>
            </a:r>
          </a:p>
        </p:txBody>
      </p:sp>
      <p:pic>
        <p:nvPicPr>
          <p:cNvPr id="4" name="Picture 3">
            <a:extLst>
              <a:ext uri="{FF2B5EF4-FFF2-40B4-BE49-F238E27FC236}">
                <a16:creationId xmlns:a16="http://schemas.microsoft.com/office/drawing/2014/main" id="{101C17C9-BD7B-8DDA-B0D3-CF86AB3B9CAF}"/>
              </a:ext>
            </a:extLst>
          </p:cNvPr>
          <p:cNvPicPr>
            <a:picLocks noChangeAspect="1"/>
          </p:cNvPicPr>
          <p:nvPr/>
        </p:nvPicPr>
        <p:blipFill>
          <a:blip r:embed="rId3"/>
          <a:stretch>
            <a:fillRect/>
          </a:stretch>
        </p:blipFill>
        <p:spPr>
          <a:xfrm>
            <a:off x="7498079" y="1968998"/>
            <a:ext cx="4364085" cy="3064006"/>
          </a:xfrm>
          <a:prstGeom prst="rect">
            <a:avLst/>
          </a:prstGeom>
        </p:spPr>
      </p:pic>
      <p:sp>
        <p:nvSpPr>
          <p:cNvPr id="5" name="Slide Number Placeholder 7">
            <a:extLst>
              <a:ext uri="{FF2B5EF4-FFF2-40B4-BE49-F238E27FC236}">
                <a16:creationId xmlns:a16="http://schemas.microsoft.com/office/drawing/2014/main" id="{7089D335-42B1-03EF-8138-4C20AAC403F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85</a:t>
            </a:fld>
            <a:endParaRPr lang="zh-CN" altLang="en-US" sz="1200" dirty="0">
              <a:solidFill>
                <a:schemeClr val="tx1">
                  <a:tint val="75000"/>
                </a:schemeClr>
              </a:solidFill>
            </a:endParaRPr>
          </a:p>
        </p:txBody>
      </p:sp>
    </p:spTree>
    <p:extLst>
      <p:ext uri="{BB962C8B-B14F-4D97-AF65-F5344CB8AC3E}">
        <p14:creationId xmlns:p14="http://schemas.microsoft.com/office/powerpoint/2010/main" val="37972917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6">
            <a:extLst>
              <a:ext uri="{FF2B5EF4-FFF2-40B4-BE49-F238E27FC236}">
                <a16:creationId xmlns:a16="http://schemas.microsoft.com/office/drawing/2014/main" id="{F4A83BEE-3126-BF95-7AF1-8E591D5847FD}"/>
              </a:ext>
            </a:extLst>
          </p:cNvPr>
          <p:cNvSpPr>
            <a:spLocks/>
          </p:cNvSpPr>
          <p:nvPr/>
        </p:nvSpPr>
        <p:spPr bwMode="auto">
          <a:xfrm>
            <a:off x="7010400" y="1925889"/>
            <a:ext cx="4775478" cy="1503111"/>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09" y="1742168"/>
            <a:ext cx="6260825"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 Hijacking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全域偏置表劫持</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攻擊的本質是惡意篡改</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表，使</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進程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調用攻擊者指定的庫函數，實現控制流劫持</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448BF21D-8C7D-4F15-97B4-362F879B6688}"/>
              </a:ext>
            </a:extLst>
          </p:cNvPr>
          <p:cNvSpPr>
            <a:spLocks noGrp="1"/>
          </p:cNvSpPr>
          <p:nvPr>
            <p:ph type="title"/>
          </p:nvPr>
        </p:nvSpPr>
        <p:spPr/>
        <p:txBody>
          <a:bodyPr/>
          <a:lstStyle/>
          <a:p>
            <a:r>
              <a:rPr lang="zh-CN" altLang="en-US" dirty="0"/>
              <a:t>全域偏移表劫持</a:t>
            </a:r>
          </a:p>
        </p:txBody>
      </p:sp>
      <p:sp>
        <p:nvSpPr>
          <p:cNvPr id="46" name="文本框 14">
            <a:extLst>
              <a:ext uri="{FF2B5EF4-FFF2-40B4-BE49-F238E27FC236}">
                <a16:creationId xmlns:a16="http://schemas.microsoft.com/office/drawing/2014/main" id="{74C48DD2-3BCC-4833-B476-F7081B6459B2}"/>
              </a:ext>
            </a:extLst>
          </p:cNvPr>
          <p:cNvSpPr txBox="1"/>
          <p:nvPr/>
        </p:nvSpPr>
        <p:spPr>
          <a:xfrm>
            <a:off x="7061750" y="1966180"/>
            <a:ext cx="4691152" cy="1435136"/>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如圖，當</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表被修改後，當攻擊者調用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free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函數時，實際上將調用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6" name="Picture 5">
            <a:extLst>
              <a:ext uri="{FF2B5EF4-FFF2-40B4-BE49-F238E27FC236}">
                <a16:creationId xmlns:a16="http://schemas.microsoft.com/office/drawing/2014/main" id="{29C9D00D-4E50-2F01-AFD7-06CC6E29EABA}"/>
              </a:ext>
            </a:extLst>
          </p:cNvPr>
          <p:cNvPicPr>
            <a:picLocks noChangeAspect="1"/>
          </p:cNvPicPr>
          <p:nvPr/>
        </p:nvPicPr>
        <p:blipFill>
          <a:blip r:embed="rId3"/>
          <a:stretch>
            <a:fillRect/>
          </a:stretch>
        </p:blipFill>
        <p:spPr>
          <a:xfrm>
            <a:off x="1676400" y="3752239"/>
            <a:ext cx="6400800" cy="2700811"/>
          </a:xfrm>
          <a:prstGeom prst="rect">
            <a:avLst/>
          </a:prstGeom>
        </p:spPr>
      </p:pic>
      <p:sp>
        <p:nvSpPr>
          <p:cNvPr id="4" name="Slide Number Placeholder 7">
            <a:extLst>
              <a:ext uri="{FF2B5EF4-FFF2-40B4-BE49-F238E27FC236}">
                <a16:creationId xmlns:a16="http://schemas.microsoft.com/office/drawing/2014/main" id="{1CB79929-D57F-05F6-969E-BA67FDB892C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86</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772870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742168"/>
            <a:ext cx="11133433" cy="3743461"/>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全域偏置表劫持的優勢：</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0"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 Hijacking</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攻擊可以繞過</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保護機制。</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因爲裝載共享庫函數的頁上必須有可執行權限；且</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表位于數據段，數據段可讀可寫</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 Hijacking</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攻擊可以繞過</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保護機制。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無法隨機化代碼段的位置，攻擊者仍然可以通過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表惡意讀取</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表項目，而後得到動態庫當中函數的地址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52E3281B-E464-402E-AD60-76688734E2DA}"/>
              </a:ext>
            </a:extLst>
          </p:cNvPr>
          <p:cNvSpPr>
            <a:spLocks noGrp="1"/>
          </p:cNvSpPr>
          <p:nvPr>
            <p:ph type="title"/>
          </p:nvPr>
        </p:nvSpPr>
        <p:spPr/>
        <p:txBody>
          <a:bodyPr/>
          <a:lstStyle/>
          <a:p>
            <a:r>
              <a:rPr lang="zh-CN" altLang="en-US" dirty="0"/>
              <a:t>全域偏移表劫持的優勢</a:t>
            </a:r>
          </a:p>
        </p:txBody>
      </p:sp>
      <p:sp>
        <p:nvSpPr>
          <p:cNvPr id="4" name="Slide Number Placeholder 7">
            <a:extLst>
              <a:ext uri="{FF2B5EF4-FFF2-40B4-BE49-F238E27FC236}">
                <a16:creationId xmlns:a16="http://schemas.microsoft.com/office/drawing/2014/main" id="{2363E78B-2E9A-78F2-6E17-1263A0BBA0D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87</a:t>
            </a:fld>
            <a:endParaRPr lang="zh-CN" altLang="en-US" sz="1200" dirty="0">
              <a:solidFill>
                <a:schemeClr val="tx1">
                  <a:tint val="75000"/>
                </a:schemeClr>
              </a:solidFill>
            </a:endParaRPr>
          </a:p>
        </p:txBody>
      </p:sp>
    </p:spTree>
    <p:extLst>
      <p:ext uri="{BB962C8B-B14F-4D97-AF65-F5344CB8AC3E}">
        <p14:creationId xmlns:p14="http://schemas.microsoft.com/office/powerpoint/2010/main" val="17006474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0">
            <a:extLst>
              <a:ext uri="{FF2B5EF4-FFF2-40B4-BE49-F238E27FC236}">
                <a16:creationId xmlns:a16="http://schemas.microsoft.com/office/drawing/2014/main" id="{D477EB5C-E2F3-534B-E4D5-C56FA8EE2A52}"/>
              </a:ext>
            </a:extLst>
          </p:cNvPr>
          <p:cNvSpPr>
            <a:spLocks/>
          </p:cNvSpPr>
          <p:nvPr/>
        </p:nvSpPr>
        <p:spPr bwMode="auto">
          <a:xfrm>
            <a:off x="472412" y="5133758"/>
            <a:ext cx="11133433" cy="118649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8" name="文本框 14">
            <a:extLst>
              <a:ext uri="{FF2B5EF4-FFF2-40B4-BE49-F238E27FC236}">
                <a16:creationId xmlns:a16="http://schemas.microsoft.com/office/drawing/2014/main" id="{0FC9A5B1-66EA-467E-AD2B-4AEF6014A23C}"/>
              </a:ext>
            </a:extLst>
          </p:cNvPr>
          <p:cNvSpPr txBox="1"/>
          <p:nvPr/>
        </p:nvSpPr>
        <p:spPr>
          <a:xfrm>
            <a:off x="492509" y="1400400"/>
            <a:ext cx="11133433" cy="511807"/>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Wingdings" panose="05000000000000000000" pitchFamily="2" charset="2"/>
              <a:buChar char="Ø"/>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 Hijacking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可以分爲大致如下的幾個步驟：</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18F72E93-94D8-48C3-9DF2-519A8A166265}"/>
              </a:ext>
            </a:extLst>
          </p:cNvPr>
          <p:cNvSpPr>
            <a:spLocks noGrp="1"/>
          </p:cNvSpPr>
          <p:nvPr>
            <p:ph type="title"/>
          </p:nvPr>
        </p:nvSpPr>
        <p:spPr/>
        <p:txBody>
          <a:bodyPr/>
          <a:lstStyle/>
          <a:p>
            <a:r>
              <a:rPr lang="zh-CN" altLang="en-US" dirty="0"/>
              <a:t>全域偏移表劫持步驟</a:t>
            </a:r>
          </a:p>
        </p:txBody>
      </p:sp>
      <p:sp>
        <p:nvSpPr>
          <p:cNvPr id="7" name="文本框 14">
            <a:extLst>
              <a:ext uri="{FF2B5EF4-FFF2-40B4-BE49-F238E27FC236}">
                <a16:creationId xmlns:a16="http://schemas.microsoft.com/office/drawing/2014/main" id="{74284D58-E208-48D8-AA95-B6C637F95544}"/>
              </a:ext>
            </a:extLst>
          </p:cNvPr>
          <p:cNvSpPr txBox="1"/>
          <p:nvPr/>
        </p:nvSpPr>
        <p:spPr>
          <a:xfrm>
            <a:off x="492509" y="5216148"/>
            <a:ext cx="11133433" cy="973472"/>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其中，惡意讀寫</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表項既可以通過基于棧溢出的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來實現，也可以通過基于堆溢出的任意位置讀寫來實現</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14">
            <a:extLst>
              <a:ext uri="{FF2B5EF4-FFF2-40B4-BE49-F238E27FC236}">
                <a16:creationId xmlns:a16="http://schemas.microsoft.com/office/drawing/2014/main" id="{3A985B0F-12E6-4398-9685-1C337269053A}"/>
              </a:ext>
            </a:extLst>
          </p:cNvPr>
          <p:cNvSpPr txBox="1"/>
          <p:nvPr/>
        </p:nvSpPr>
        <p:spPr>
          <a:xfrm>
            <a:off x="492507" y="2197880"/>
            <a:ext cx="9274491" cy="2358466"/>
          </a:xfrm>
          <a:prstGeom prst="rect">
            <a:avLst/>
          </a:prstGeom>
          <a:noFill/>
        </p:spPr>
        <p:txBody>
          <a:bodyPr wrap="square" rtlCol="0">
            <a:spAutoFit/>
          </a:bodyPr>
          <a:lstStyle/>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攻擊者通過讀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確定要被修改的受害</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表項的地址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攻擊者讀取這一</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表項，得到任一庫函數</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的內存映射段</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攻擊者將得到的地址加一個偏置，得到希望被惡意調用的函數的內存</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映射段</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地址</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514350" marR="0" lvl="0" indent="-514350" algn="just" defTabSz="914400" rtl="0" eaLnBrk="1" fontAlgn="auto" latinLnBrk="0" hangingPunct="1">
              <a:lnSpc>
                <a:spcPts val="3600"/>
              </a:lnSpc>
              <a:spcBef>
                <a:spcPts val="0"/>
              </a:spcBef>
              <a:spcAft>
                <a:spcPts val="0"/>
              </a:spcAft>
              <a:buClrTx/>
              <a:buSzTx/>
              <a:buFontTx/>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攻擊者將這一地址寫入定位好的受害</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表項當中</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77C5981D-7AF6-1601-1435-936C6AFEB15C}"/>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88</a:t>
            </a:fld>
            <a:endParaRPr lang="zh-CN" altLang="en-US" sz="1200" dirty="0">
              <a:solidFill>
                <a:schemeClr val="tx1">
                  <a:tint val="75000"/>
                </a:schemeClr>
              </a:solidFill>
            </a:endParaRPr>
          </a:p>
        </p:txBody>
      </p:sp>
    </p:spTree>
    <p:extLst>
      <p:ext uri="{BB962C8B-B14F-4D97-AF65-F5344CB8AC3E}">
        <p14:creationId xmlns:p14="http://schemas.microsoft.com/office/powerpoint/2010/main" val="40161223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09" y="1742168"/>
            <a:ext cx="11133433" cy="4112793"/>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GOT Hijacking</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的總結：</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 Hijacking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本質上是一種修改</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表項來實現的控制流劫持；這種攻擊方案要依賴于棧區溢出等基礎攻擊方式才可以實現</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這種攻擊方案可以繞過</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與</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防禦機制</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目前已有</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RELRO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read only relocation</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）機制，可將</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表項映射到只讀區域上，</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一定程度上預防</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了對</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GOT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表的攻擊</a:t>
            </a:r>
          </a:p>
        </p:txBody>
      </p:sp>
      <p:sp>
        <p:nvSpPr>
          <p:cNvPr id="2" name="标题 1">
            <a:extLst>
              <a:ext uri="{FF2B5EF4-FFF2-40B4-BE49-F238E27FC236}">
                <a16:creationId xmlns:a16="http://schemas.microsoft.com/office/drawing/2014/main" id="{E002D3B8-36CD-4B70-899F-45ECDCB375A1}"/>
              </a:ext>
            </a:extLst>
          </p:cNvPr>
          <p:cNvSpPr>
            <a:spLocks noGrp="1"/>
          </p:cNvSpPr>
          <p:nvPr>
            <p:ph type="title"/>
          </p:nvPr>
        </p:nvSpPr>
        <p:spPr/>
        <p:txBody>
          <a:bodyPr/>
          <a:lstStyle/>
          <a:p>
            <a:r>
              <a:rPr lang="zh-CN" altLang="en-US" dirty="0"/>
              <a:t>全域偏移表劫持總結</a:t>
            </a:r>
          </a:p>
        </p:txBody>
      </p:sp>
      <p:sp>
        <p:nvSpPr>
          <p:cNvPr id="4" name="Slide Number Placeholder 7">
            <a:extLst>
              <a:ext uri="{FF2B5EF4-FFF2-40B4-BE49-F238E27FC236}">
                <a16:creationId xmlns:a16="http://schemas.microsoft.com/office/drawing/2014/main" id="{A8ACB5A5-46D0-B0A8-4E9A-EB5020734CF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89</a:t>
            </a:fld>
            <a:endParaRPr lang="zh-CN" altLang="en-US" sz="1200" dirty="0">
              <a:solidFill>
                <a:schemeClr val="tx1">
                  <a:tint val="75000"/>
                </a:schemeClr>
              </a:solidFill>
            </a:endParaRPr>
          </a:p>
        </p:txBody>
      </p:sp>
    </p:spTree>
    <p:extLst>
      <p:ext uri="{BB962C8B-B14F-4D97-AF65-F5344CB8AC3E}">
        <p14:creationId xmlns:p14="http://schemas.microsoft.com/office/powerpoint/2010/main" val="39021424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72918"/>
            <a:ext cx="6264857"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3</a:t>
            </a:r>
            <a:r>
              <a:rPr lang="zh-CN" altLang="en-US" sz="4000" b="1" kern="100" dirty="0">
                <a:solidFill>
                  <a:prstClr val="white"/>
                </a:solidFill>
                <a:latin typeface="微软雅黑 Light"/>
                <a:ea typeface="微软雅黑 Light"/>
                <a:cs typeface="Times New Roman" panose="02020603050405020304" pitchFamily="18" charset="0"/>
              </a:rPr>
              <a:t>節 高級控制流劫持方案</a:t>
            </a:r>
          </a:p>
        </p:txBody>
      </p:sp>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603872"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3.1 </a:t>
            </a:r>
            <a:r>
              <a:rPr lang="zh-CN" altLang="en-US" sz="2400" dirty="0">
                <a:latin typeface="Microsoft YaHei" panose="020B0503020204020204" pitchFamily="34" charset="-122"/>
                <a:ea typeface="Microsoft YaHei" panose="020B0503020204020204" pitchFamily="34" charset="-122"/>
              </a:rPr>
              <a:t>進程執行的更多細節</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3.2 </a:t>
            </a:r>
            <a:r>
              <a:rPr lang="zh-CN" altLang="en-US" sz="2400" dirty="0">
                <a:latin typeface="Microsoft YaHei" panose="020B0503020204020204" pitchFamily="34" charset="-122"/>
                <a:ea typeface="Microsoft YaHei" panose="020B0503020204020204" pitchFamily="34" charset="-122"/>
              </a:rPr>
              <a:t>面向返回地址編程</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896947"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3.3 </a:t>
            </a:r>
            <a:r>
              <a:rPr lang="zh-CN" altLang="en-US" sz="2400" dirty="0">
                <a:latin typeface="Microsoft YaHei" panose="020B0503020204020204" pitchFamily="34" charset="-122"/>
                <a:ea typeface="Microsoft YaHei" panose="020B0503020204020204" pitchFamily="34" charset="-122"/>
              </a:rPr>
              <a:t>全域偏置表劫持</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933816"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3.4 </a:t>
            </a:r>
            <a:r>
              <a:rPr lang="zh-CN" altLang="en-US" sz="2400" b="1" dirty="0">
                <a:solidFill>
                  <a:srgbClr val="C00000"/>
                </a:solidFill>
                <a:latin typeface="Microsoft YaHei" panose="020B0503020204020204" pitchFamily="34" charset="-122"/>
                <a:ea typeface="Microsoft YaHei" panose="020B0503020204020204" pitchFamily="34" charset="-122"/>
              </a:rPr>
              <a:t>虛假</a:t>
            </a:r>
            <a:r>
              <a:rPr lang="en-US" altLang="zh-CN" sz="2400" b="1" dirty="0" err="1">
                <a:solidFill>
                  <a:srgbClr val="C00000"/>
                </a:solidFill>
                <a:latin typeface="Microsoft YaHei" panose="020B0503020204020204" pitchFamily="34" charset="-122"/>
                <a:ea typeface="Microsoft YaHei" panose="020B0503020204020204" pitchFamily="34" charset="-122"/>
              </a:rPr>
              <a:t>vtable</a:t>
            </a:r>
            <a:r>
              <a:rPr lang="zh-CN" altLang="en-US" sz="2400" b="1" dirty="0">
                <a:solidFill>
                  <a:srgbClr val="C00000"/>
                </a:solidFill>
                <a:latin typeface="Microsoft YaHei" panose="020B0503020204020204" pitchFamily="34" charset="-122"/>
                <a:ea typeface="Microsoft YaHei" panose="020B0503020204020204" pitchFamily="34" charset="-122"/>
              </a:rPr>
              <a:t>劫持</a:t>
            </a:r>
          </a:p>
        </p:txBody>
      </p:sp>
      <p:pic>
        <p:nvPicPr>
          <p:cNvPr id="27" name="图片 26">
            <a:extLst>
              <a:ext uri="{FF2B5EF4-FFF2-40B4-BE49-F238E27FC236}">
                <a16:creationId xmlns:a16="http://schemas.microsoft.com/office/drawing/2014/main" id="{F7DF9791-4E29-44C2-9123-58E634F474A2}"/>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8" name="Footer Placeholder 7">
            <a:extLst>
              <a:ext uri="{FF2B5EF4-FFF2-40B4-BE49-F238E27FC236}">
                <a16:creationId xmlns:a16="http://schemas.microsoft.com/office/drawing/2014/main" id="{E0C9C0ED-C7E2-8273-7E6B-75E669E30B45}"/>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17CCA95C-A432-05B6-1002-FD3FBC276B28}"/>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90</a:t>
            </a:fld>
            <a:endParaRPr lang="zh-CN" altLang="en-US" sz="1200" dirty="0">
              <a:solidFill>
                <a:schemeClr val="tx1">
                  <a:tint val="75000"/>
                </a:schemeClr>
              </a:solidFill>
            </a:endParaRPr>
          </a:p>
        </p:txBody>
      </p:sp>
    </p:spTree>
    <p:extLst>
      <p:ext uri="{BB962C8B-B14F-4D97-AF65-F5344CB8AC3E}">
        <p14:creationId xmlns:p14="http://schemas.microsoft.com/office/powerpoint/2010/main" val="6979605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061413"/>
            <a:ext cx="11253288"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文件系統維護的元數據：</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系統的標準文件</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庫中</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IO_FILE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結構用于描述文件；該結構在程序執行 </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fopen</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等函數時會進行創建，幷</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分配在堆</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區</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文件系統角度的安全威脅</a:t>
            </a:r>
          </a:p>
        </p:txBody>
      </p:sp>
      <p:sp>
        <p:nvSpPr>
          <p:cNvPr id="6" name="Rounded Rectangle 36">
            <a:extLst>
              <a:ext uri="{FF2B5EF4-FFF2-40B4-BE49-F238E27FC236}">
                <a16:creationId xmlns:a16="http://schemas.microsoft.com/office/drawing/2014/main" id="{E96F2D23-03CE-499A-A570-1858F063FA6A}"/>
              </a:ext>
            </a:extLst>
          </p:cNvPr>
          <p:cNvSpPr/>
          <p:nvPr/>
        </p:nvSpPr>
        <p:spPr>
          <a:xfrm>
            <a:off x="492509" y="6048857"/>
            <a:ext cx="11253289" cy="616915"/>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2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針對文件系統攻擊的本質是：惡意操縱文件系統的管理數據結構</a:t>
            </a:r>
          </a:p>
        </p:txBody>
      </p:sp>
      <p:sp>
        <p:nvSpPr>
          <p:cNvPr id="11" name="文本框 14">
            <a:extLst>
              <a:ext uri="{FF2B5EF4-FFF2-40B4-BE49-F238E27FC236}">
                <a16:creationId xmlns:a16="http://schemas.microsoft.com/office/drawing/2014/main" id="{9A11F657-F6A4-4B72-8B72-294C9FE47940}"/>
              </a:ext>
            </a:extLst>
          </p:cNvPr>
          <p:cNvSpPr txBox="1"/>
          <p:nvPr/>
        </p:nvSpPr>
        <p:spPr>
          <a:xfrm>
            <a:off x="469356" y="2575532"/>
            <a:ext cx="11253288" cy="973472"/>
          </a:xfrm>
          <a:prstGeom prst="rect">
            <a:avLst/>
          </a:prstGeom>
          <a:noFill/>
        </p:spPr>
        <p:txBody>
          <a:bodyPr wrap="square" rtlCol="0">
            <a:spAutoFit/>
          </a:bodyPr>
          <a:lstStyle/>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IO_FILE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結構外層包裹 </a:t>
            </a: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IO_FILE_plus</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結構，幷</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會通過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chain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字段</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彼此連接形成一個鏈表，鏈表頭部用全局變量 </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IO_list_all</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表示</a:t>
            </a:r>
          </a:p>
        </p:txBody>
      </p:sp>
      <p:pic>
        <p:nvPicPr>
          <p:cNvPr id="33" name="Picture 32">
            <a:extLst>
              <a:ext uri="{FF2B5EF4-FFF2-40B4-BE49-F238E27FC236}">
                <a16:creationId xmlns:a16="http://schemas.microsoft.com/office/drawing/2014/main" id="{761BACF4-0B47-F527-112F-8D570BD148A2}"/>
              </a:ext>
            </a:extLst>
          </p:cNvPr>
          <p:cNvPicPr>
            <a:picLocks noChangeAspect="1"/>
          </p:cNvPicPr>
          <p:nvPr/>
        </p:nvPicPr>
        <p:blipFill>
          <a:blip r:embed="rId3"/>
          <a:stretch>
            <a:fillRect/>
          </a:stretch>
        </p:blipFill>
        <p:spPr>
          <a:xfrm>
            <a:off x="1811313" y="3622290"/>
            <a:ext cx="8615680" cy="2353280"/>
          </a:xfrm>
          <a:prstGeom prst="rect">
            <a:avLst/>
          </a:prstGeom>
        </p:spPr>
      </p:pic>
      <p:sp>
        <p:nvSpPr>
          <p:cNvPr id="3" name="Slide Number Placeholder 7">
            <a:extLst>
              <a:ext uri="{FF2B5EF4-FFF2-40B4-BE49-F238E27FC236}">
                <a16:creationId xmlns:a16="http://schemas.microsoft.com/office/drawing/2014/main" id="{356F5258-0B83-C5CA-75B2-1D4A1F60CA7A}"/>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91</a:t>
            </a:fld>
            <a:endParaRPr lang="zh-CN" altLang="en-US" sz="1200" dirty="0">
              <a:solidFill>
                <a:schemeClr val="tx1">
                  <a:tint val="75000"/>
                </a:schemeClr>
              </a:solidFill>
            </a:endParaRPr>
          </a:p>
        </p:txBody>
      </p:sp>
    </p:spTree>
    <p:extLst>
      <p:ext uri="{BB962C8B-B14F-4D97-AF65-F5344CB8AC3E}">
        <p14:creationId xmlns:p14="http://schemas.microsoft.com/office/powerpoint/2010/main" val="190323748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062000"/>
            <a:ext cx="11253288"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虛假</a:t>
            </a:r>
            <a:r>
              <a:rPr kumimoji="1"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劫持攻擊 （</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Fake </a:t>
            </a:r>
            <a:r>
              <a:rPr kumimoji="1"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Hijacking</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中的文件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操作函數都需要經過 </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IO_FILE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結構進行處理，尤其是結構中的 </a:t>
            </a:r>
            <a:r>
              <a:rPr kumimoji="1" lang="en-US" altLang="zh-CN" sz="2400" b="1" i="0" u="none" strike="noStrike" kern="1200" cap="none" spc="0" normalizeH="0" baseline="0" noProof="0" dirty="0" err="1">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大</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部分函數會取出</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指向的一系列</a:t>
            </a:r>
            <a:r>
              <a:rPr kumimoji="1" lang="zh-CN" altLang="en-US" sz="2400" b="1" dirty="0">
                <a:solidFill>
                  <a:schemeClr val="accent4"/>
                </a:solidFill>
                <a:latin typeface="微软雅黑" panose="020B0503020204020204" pitchFamily="34" charset="-122"/>
                <a:ea typeface="微软雅黑" panose="020B0503020204020204" pitchFamily="34" charset="-122"/>
                <a:cs typeface="Times New Roman" panose="02020603050405020304" pitchFamily="18" charset="0"/>
              </a:rPr>
              <a:t>基礎文件操作</a:t>
            </a:r>
            <a:r>
              <a:rPr kumimoji="1" lang="zh-CN" altLang="en-US" sz="2400" b="1" i="0" u="none" strike="noStrike" kern="1200" cap="none" spc="0" normalizeH="0" baseline="0" noProof="0" dirty="0">
                <a:ln>
                  <a:noFill/>
                </a:ln>
                <a:solidFill>
                  <a:schemeClr val="accent4"/>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函數</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進行調用</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虛假</a:t>
            </a:r>
            <a:r>
              <a:rPr lang="en-US" altLang="zh-CN" dirty="0" err="1"/>
              <a:t>vtable</a:t>
            </a:r>
            <a:r>
              <a:rPr lang="zh-CN" altLang="en-US" dirty="0"/>
              <a:t>劫持攻擊 </a:t>
            </a:r>
          </a:p>
        </p:txBody>
      </p:sp>
      <p:sp>
        <p:nvSpPr>
          <p:cNvPr id="55" name="矩形 54">
            <a:extLst>
              <a:ext uri="{FF2B5EF4-FFF2-40B4-BE49-F238E27FC236}">
                <a16:creationId xmlns:a16="http://schemas.microsoft.com/office/drawing/2014/main" id="{35115BCB-10D0-45AF-A406-7ED771FF274E}"/>
              </a:ext>
            </a:extLst>
          </p:cNvPr>
          <p:cNvSpPr>
            <a:spLocks/>
          </p:cNvSpPr>
          <p:nvPr/>
        </p:nvSpPr>
        <p:spPr bwMode="auto">
          <a:xfrm>
            <a:off x="888978" y="2653007"/>
            <a:ext cx="10340044" cy="998288"/>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37" name="文本框 14">
            <a:extLst>
              <a:ext uri="{FF2B5EF4-FFF2-40B4-BE49-F238E27FC236}">
                <a16:creationId xmlns:a16="http://schemas.microsoft.com/office/drawing/2014/main" id="{EC46F055-5B22-489D-9D18-EFAF3B8BFEE8}"/>
              </a:ext>
            </a:extLst>
          </p:cNvPr>
          <p:cNvSpPr txBox="1"/>
          <p:nvPr/>
        </p:nvSpPr>
        <p:spPr>
          <a:xfrm>
            <a:off x="1016500" y="2677600"/>
            <a:ext cx="10021711"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虛假</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v</a:t>
            </a:r>
            <a:r>
              <a:rPr kumimoji="1"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table</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劫持攻擊</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的核心是：</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篡改文件管理數據結構中的</a:t>
            </a:r>
            <a:r>
              <a:rPr kumimoji="1" lang="en-US" altLang="zh-CN" sz="2400" b="1"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通過把</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指向攻擊者控制的內存，幷在其中布置函數指針</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51" name="Picture 50">
            <a:extLst>
              <a:ext uri="{FF2B5EF4-FFF2-40B4-BE49-F238E27FC236}">
                <a16:creationId xmlns:a16="http://schemas.microsoft.com/office/drawing/2014/main" id="{2EEB9A64-5890-19CA-E9BC-278418D301D8}"/>
              </a:ext>
            </a:extLst>
          </p:cNvPr>
          <p:cNvPicPr>
            <a:picLocks noChangeAspect="1"/>
          </p:cNvPicPr>
          <p:nvPr/>
        </p:nvPicPr>
        <p:blipFill>
          <a:blip r:embed="rId3"/>
          <a:stretch>
            <a:fillRect/>
          </a:stretch>
        </p:blipFill>
        <p:spPr>
          <a:xfrm>
            <a:off x="1934748" y="4025552"/>
            <a:ext cx="8615680" cy="2353280"/>
          </a:xfrm>
          <a:prstGeom prst="rect">
            <a:avLst/>
          </a:prstGeom>
        </p:spPr>
      </p:pic>
      <p:sp>
        <p:nvSpPr>
          <p:cNvPr id="3" name="Slide Number Placeholder 7">
            <a:extLst>
              <a:ext uri="{FF2B5EF4-FFF2-40B4-BE49-F238E27FC236}">
                <a16:creationId xmlns:a16="http://schemas.microsoft.com/office/drawing/2014/main" id="{7F2F85F2-96BD-C317-57A3-FE21E5907D6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92</a:t>
            </a:fld>
            <a:endParaRPr lang="zh-CN" altLang="en-US" sz="1200" dirty="0">
              <a:solidFill>
                <a:schemeClr val="tx1">
                  <a:tint val="75000"/>
                </a:schemeClr>
              </a:solidFill>
            </a:endParaRPr>
          </a:p>
        </p:txBody>
      </p:sp>
    </p:spTree>
    <p:extLst>
      <p:ext uri="{BB962C8B-B14F-4D97-AF65-F5344CB8AC3E}">
        <p14:creationId xmlns:p14="http://schemas.microsoft.com/office/powerpoint/2010/main" val="19931837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062000"/>
            <a:ext cx="11253288" cy="1435136"/>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虛假</a:t>
            </a:r>
            <a:r>
              <a:rPr kumimoji="1" lang="en-US" altLang="zh-CN" sz="2400" b="1" dirty="0" err="1">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劫持攻擊，</a:t>
            </a:r>
            <a:r>
              <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種具體實現：</a:t>
            </a:r>
            <a:endParaRPr kumimoji="1"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lt"/>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直接改寫</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指向的函數指針，可通過</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構造</a:t>
            </a:r>
            <a:r>
              <a:rPr kumimoji="1"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堆塊覆蓋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完成</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lt"/>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覆蓋</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vtable</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字段，使其指向</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攻擊者</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控制的內存，然後在其中布置函數指針</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虛假</a:t>
            </a:r>
            <a:r>
              <a:rPr lang="en-US" altLang="zh-CN" dirty="0" err="1"/>
              <a:t>vtable</a:t>
            </a:r>
            <a:r>
              <a:rPr lang="zh-CN" altLang="en-US" dirty="0"/>
              <a:t>劫持攻擊 </a:t>
            </a:r>
          </a:p>
        </p:txBody>
      </p:sp>
      <p:pic>
        <p:nvPicPr>
          <p:cNvPr id="9" name="Picture 8">
            <a:extLst>
              <a:ext uri="{FF2B5EF4-FFF2-40B4-BE49-F238E27FC236}">
                <a16:creationId xmlns:a16="http://schemas.microsoft.com/office/drawing/2014/main" id="{702314F0-0286-2FDF-6E4C-F5F9F54577C4}"/>
              </a:ext>
            </a:extLst>
          </p:cNvPr>
          <p:cNvPicPr>
            <a:picLocks noChangeAspect="1"/>
          </p:cNvPicPr>
          <p:nvPr/>
        </p:nvPicPr>
        <p:blipFill>
          <a:blip r:embed="rId3"/>
          <a:stretch>
            <a:fillRect/>
          </a:stretch>
        </p:blipFill>
        <p:spPr>
          <a:xfrm>
            <a:off x="1970308" y="3120387"/>
            <a:ext cx="8544560" cy="2778764"/>
          </a:xfrm>
          <a:prstGeom prst="rect">
            <a:avLst/>
          </a:prstGeom>
        </p:spPr>
      </p:pic>
      <p:sp>
        <p:nvSpPr>
          <p:cNvPr id="4" name="Slide Number Placeholder 7">
            <a:extLst>
              <a:ext uri="{FF2B5EF4-FFF2-40B4-BE49-F238E27FC236}">
                <a16:creationId xmlns:a16="http://schemas.microsoft.com/office/drawing/2014/main" id="{AB825100-3222-5064-0517-600DB3FDC5C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93</a:t>
            </a:fld>
            <a:endParaRPr lang="zh-CN" altLang="en-US" sz="1200" dirty="0">
              <a:solidFill>
                <a:schemeClr val="tx1">
                  <a:tint val="75000"/>
                </a:schemeClr>
              </a:solidFill>
            </a:endParaRPr>
          </a:p>
        </p:txBody>
      </p:sp>
    </p:spTree>
    <p:extLst>
      <p:ext uri="{BB962C8B-B14F-4D97-AF65-F5344CB8AC3E}">
        <p14:creationId xmlns:p14="http://schemas.microsoft.com/office/powerpoint/2010/main" val="368288770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174267"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4.1 </a:t>
            </a:r>
            <a:r>
              <a:rPr lang="zh-CN" altLang="en-US" sz="2400" b="1" dirty="0">
                <a:solidFill>
                  <a:srgbClr val="C00000"/>
                </a:solidFill>
                <a:latin typeface="Microsoft YaHei" panose="020B0503020204020204" pitchFamily="34" charset="-122"/>
                <a:ea typeface="Microsoft YaHei" panose="020B0503020204020204" pitchFamily="34" charset="-122"/>
              </a:rPr>
              <a:t>控制流完整性保護</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2866490"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4.2 </a:t>
            </a:r>
            <a:r>
              <a:rPr lang="zh-CN" altLang="en-US" sz="2400" dirty="0">
                <a:latin typeface="Microsoft YaHei" panose="020B0503020204020204" pitchFamily="34" charset="-122"/>
                <a:ea typeface="Microsoft YaHei" panose="020B0503020204020204" pitchFamily="34" charset="-122"/>
              </a:rPr>
              <a:t>指針完整性保護</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250937"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4.3 </a:t>
            </a:r>
            <a:r>
              <a:rPr lang="zh-CN" altLang="en-US" sz="2400" dirty="0">
                <a:latin typeface="Microsoft YaHei" panose="020B0503020204020204" pitchFamily="34" charset="-122"/>
                <a:ea typeface="Microsoft YaHei" panose="020B0503020204020204" pitchFamily="34" charset="-122"/>
              </a:rPr>
              <a:t>信息流控制</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722220"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4.4 I/O</a:t>
            </a:r>
            <a:r>
              <a:rPr lang="zh-CN" altLang="en-US" sz="2400" dirty="0">
                <a:latin typeface="Microsoft YaHei" panose="020B0503020204020204" pitchFamily="34" charset="-122"/>
                <a:ea typeface="Microsoft YaHei" panose="020B0503020204020204" pitchFamily="34" charset="-122"/>
              </a:rPr>
              <a:t>子系統保護</a:t>
            </a:r>
          </a:p>
        </p:txBody>
      </p:sp>
      <p:sp>
        <p:nvSpPr>
          <p:cNvPr id="27" name="矩形 26">
            <a:extLst>
              <a:ext uri="{FF2B5EF4-FFF2-40B4-BE49-F238E27FC236}">
                <a16:creationId xmlns:a16="http://schemas.microsoft.com/office/drawing/2014/main" id="{66C642B6-2DD2-484D-9258-3EEDA9ABC53F}"/>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8" name="矩形 27">
            <a:extLst>
              <a:ext uri="{FF2B5EF4-FFF2-40B4-BE49-F238E27FC236}">
                <a16:creationId xmlns:a16="http://schemas.microsoft.com/office/drawing/2014/main" id="{F1B21751-5951-40CB-95E3-B08367B1E504}"/>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9" name="矩形 28">
            <a:extLst>
              <a:ext uri="{FF2B5EF4-FFF2-40B4-BE49-F238E27FC236}">
                <a16:creationId xmlns:a16="http://schemas.microsoft.com/office/drawing/2014/main" id="{084BE3C4-AA08-4E15-AF98-1E5C9B3AE7D2}"/>
              </a:ext>
            </a:extLst>
          </p:cNvPr>
          <p:cNvSpPr/>
          <p:nvPr/>
        </p:nvSpPr>
        <p:spPr>
          <a:xfrm>
            <a:off x="4711535" y="2072918"/>
            <a:ext cx="6787436"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4</a:t>
            </a:r>
            <a:r>
              <a:rPr lang="zh-CN" altLang="en-US" sz="4000" b="1" kern="100" dirty="0">
                <a:solidFill>
                  <a:prstClr val="white"/>
                </a:solidFill>
                <a:latin typeface="微软雅黑 Light"/>
                <a:ea typeface="微软雅黑 Light"/>
                <a:cs typeface="Times New Roman" panose="02020603050405020304" pitchFamily="18" charset="0"/>
              </a:rPr>
              <a:t>節 高級操作系統保護方案</a:t>
            </a:r>
          </a:p>
        </p:txBody>
      </p:sp>
      <p:pic>
        <p:nvPicPr>
          <p:cNvPr id="30" name="图片 29">
            <a:extLst>
              <a:ext uri="{FF2B5EF4-FFF2-40B4-BE49-F238E27FC236}">
                <a16:creationId xmlns:a16="http://schemas.microsoft.com/office/drawing/2014/main" id="{1E2ECBAE-53DF-4E19-8BF1-FD74ABC20F97}"/>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Footer Placeholder 3">
            <a:extLst>
              <a:ext uri="{FF2B5EF4-FFF2-40B4-BE49-F238E27FC236}">
                <a16:creationId xmlns:a16="http://schemas.microsoft.com/office/drawing/2014/main" id="{E2D8DF27-D03B-4486-1DF2-1E0BEE594108}"/>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C4E1CF08-2DC9-DFEF-F141-FEEB6948A4F6}"/>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94</a:t>
            </a:fld>
            <a:endParaRPr lang="zh-CN" altLang="en-US" sz="1200" dirty="0">
              <a:solidFill>
                <a:schemeClr val="tx1">
                  <a:tint val="75000"/>
                </a:schemeClr>
              </a:solidFill>
            </a:endParaRPr>
          </a:p>
        </p:txBody>
      </p:sp>
    </p:spTree>
    <p:extLst>
      <p:ext uri="{BB962C8B-B14F-4D97-AF65-F5344CB8AC3E}">
        <p14:creationId xmlns:p14="http://schemas.microsoft.com/office/powerpoint/2010/main" val="78863071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控制流完整性保護</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09" y="1400400"/>
            <a:ext cx="11133433" cy="2831544"/>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 Canary</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等基礎內存保護技術陸續提出以後，用于繞過這些防禦機制的攻擊手段也隨之而來</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2005</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ACM CCS</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發表了一篇名爲</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《Control-Flow Integrity》</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的文章，正式提出了 </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控制流完整性 </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的概念</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800" dirty="0">
              <a:solidFill>
                <a:srgbClr val="000000"/>
              </a:solidFill>
              <a:latin typeface="等线" panose="02010600030101010101" pitchFamily="2" charset="-122"/>
              <a:ea typeface="等线" panose="02010600030101010101" pitchFamily="2" charset="-122"/>
              <a:cs typeface="Times New Roman" panose="02020603050405020304" pitchFamily="18" charset="0"/>
            </a:endParaRPr>
          </a:p>
        </p:txBody>
      </p:sp>
      <p:pic>
        <p:nvPicPr>
          <p:cNvPr id="6" name="Picture 5">
            <a:extLst>
              <a:ext uri="{FF2B5EF4-FFF2-40B4-BE49-F238E27FC236}">
                <a16:creationId xmlns:a16="http://schemas.microsoft.com/office/drawing/2014/main" id="{ED462E34-A9AA-826C-6B16-14E081FD2168}"/>
              </a:ext>
            </a:extLst>
          </p:cNvPr>
          <p:cNvPicPr>
            <a:picLocks noChangeAspect="1"/>
          </p:cNvPicPr>
          <p:nvPr/>
        </p:nvPicPr>
        <p:blipFill>
          <a:blip r:embed="rId3"/>
          <a:stretch>
            <a:fillRect/>
          </a:stretch>
        </p:blipFill>
        <p:spPr>
          <a:xfrm>
            <a:off x="146588" y="4424215"/>
            <a:ext cx="11672879" cy="1770558"/>
          </a:xfrm>
          <a:prstGeom prst="rect">
            <a:avLst/>
          </a:prstGeom>
        </p:spPr>
      </p:pic>
      <p:sp>
        <p:nvSpPr>
          <p:cNvPr id="3" name="Slide Number Placeholder 7">
            <a:extLst>
              <a:ext uri="{FF2B5EF4-FFF2-40B4-BE49-F238E27FC236}">
                <a16:creationId xmlns:a16="http://schemas.microsoft.com/office/drawing/2014/main" id="{E5822A0D-0714-09F9-69F3-DEF8B3769B5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95</a:t>
            </a:fld>
            <a:endParaRPr lang="zh-CN" altLang="en-US" sz="1200" dirty="0">
              <a:solidFill>
                <a:schemeClr val="tx1">
                  <a:tint val="75000"/>
                </a:schemeClr>
              </a:solidFill>
            </a:endParaRPr>
          </a:p>
        </p:txBody>
      </p:sp>
    </p:spTree>
    <p:extLst>
      <p:ext uri="{BB962C8B-B14F-4D97-AF65-F5344CB8AC3E}">
        <p14:creationId xmlns:p14="http://schemas.microsoft.com/office/powerpoint/2010/main" val="415683518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10">
            <a:extLst>
              <a:ext uri="{FF2B5EF4-FFF2-40B4-BE49-F238E27FC236}">
                <a16:creationId xmlns:a16="http://schemas.microsoft.com/office/drawing/2014/main" id="{94948D1E-4019-E76B-D939-DD20B082FE8D}"/>
              </a:ext>
            </a:extLst>
          </p:cNvPr>
          <p:cNvSpPr>
            <a:spLocks/>
          </p:cNvSpPr>
          <p:nvPr/>
        </p:nvSpPr>
        <p:spPr bwMode="auto">
          <a:xfrm>
            <a:off x="494687" y="4851036"/>
            <a:ext cx="11133433" cy="118649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控制流完整性保護</a:t>
            </a:r>
            <a:endParaRPr kumimoji="1" lang="zh-CN" altLang="en-US" dirty="0">
              <a:solidFill>
                <a:schemeClr val="tx1"/>
              </a:solidFill>
            </a:endParaRP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08" y="1742168"/>
            <a:ext cx="11135612" cy="235846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控制流完整性保護（</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）依賴于程序的控制流圖</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控制流圖</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(Control Flow Graph, CFG)</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是一個程序的抽象表現</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用在編譯器中的一個抽象數據結構，代表了一個程序執行過程中會遍歷到的所有路徑</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它用圖的形式表示執行過程內所有基本塊執行的可能</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順序</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02685E1A-A521-4E09-A07D-DA67970236FF}"/>
              </a:ext>
            </a:extLst>
          </p:cNvPr>
          <p:cNvSpPr/>
          <p:nvPr/>
        </p:nvSpPr>
        <p:spPr>
          <a:xfrm>
            <a:off x="11775440" y="2382520"/>
            <a:ext cx="416560" cy="787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14">
            <a:extLst>
              <a:ext uri="{FF2B5EF4-FFF2-40B4-BE49-F238E27FC236}">
                <a16:creationId xmlns:a16="http://schemas.microsoft.com/office/drawing/2014/main" id="{3D96EE67-B594-4608-93D7-84ABB44E876D}"/>
              </a:ext>
            </a:extLst>
          </p:cNvPr>
          <p:cNvSpPr txBox="1"/>
          <p:nvPr/>
        </p:nvSpPr>
        <p:spPr>
          <a:xfrm>
            <a:off x="492508" y="4957545"/>
            <a:ext cx="11135612"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Frances E. Allen</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于</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1970</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年提出控制流圖的概念</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控制流圖成爲了編譯器優化和靜態分析的重要工具</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Slide Number Placeholder 7">
            <a:extLst>
              <a:ext uri="{FF2B5EF4-FFF2-40B4-BE49-F238E27FC236}">
                <a16:creationId xmlns:a16="http://schemas.microsoft.com/office/drawing/2014/main" id="{BB2CCC83-46B8-8F40-8C87-B7032A7D7E2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96</a:t>
            </a:fld>
            <a:endParaRPr lang="zh-CN" altLang="en-US" sz="1200" dirty="0">
              <a:solidFill>
                <a:schemeClr val="tx1">
                  <a:tint val="75000"/>
                </a:schemeClr>
              </a:solidFill>
            </a:endParaRPr>
          </a:p>
        </p:txBody>
      </p:sp>
    </p:spTree>
    <p:extLst>
      <p:ext uri="{BB962C8B-B14F-4D97-AF65-F5344CB8AC3E}">
        <p14:creationId xmlns:p14="http://schemas.microsoft.com/office/powerpoint/2010/main" val="29481429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控制流完整性保護</a:t>
            </a:r>
            <a:endParaRPr kumimoji="1" lang="zh-CN" altLang="en-US" dirty="0">
              <a:solidFill>
                <a:schemeClr val="tx1"/>
              </a:solidFill>
            </a:endParaRP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211370"/>
            <a:ext cx="7297250" cy="5128455"/>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防禦機制的核心思想是限制程序運行中的控制流轉移，使其始終處于原有的控制流圖所限定的範圍</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主要分爲兩個階段：</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lt"/>
              <a:buAutoNum type="arabicPeriod"/>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通過二進制或者源代碼程序分析得到控制流圖 </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(CFG)</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，獲取轉移指令目標地址的列表</a:t>
            </a:r>
            <a:endPar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lt"/>
              <a:buAutoNum type="arabicPeriod"/>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ts val="3600"/>
              </a:lnSpc>
              <a:spcBef>
                <a:spcPts val="0"/>
              </a:spcBef>
              <a:spcAft>
                <a:spcPts val="0"/>
              </a:spcAft>
              <a:buClrTx/>
              <a:buSzTx/>
              <a:buFont typeface="+mj-lt"/>
              <a:buAutoNum type="arabicPeriod"/>
              <a:tabLst/>
              <a:defRPr/>
            </a:pP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運行時檢驗轉移指令的目標地址是否與列表中的地址相對應；控制流劫持會違背原有的控制流圖，</a:t>
            </a:r>
            <a:r>
              <a:rPr kumimoji="1" lang="en-US" altLang="zh-CN"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 </a:t>
            </a:r>
            <a:r>
              <a:rPr kumimoji="1" lang="zh-CN" altLang="en-US" sz="240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則可以檢驗幷阻止這種行爲</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 name="Picture 6">
            <a:extLst>
              <a:ext uri="{FF2B5EF4-FFF2-40B4-BE49-F238E27FC236}">
                <a16:creationId xmlns:a16="http://schemas.microsoft.com/office/drawing/2014/main" id="{80C220E0-7D0D-07E6-D5D8-C43575DDCCA0}"/>
              </a:ext>
            </a:extLst>
          </p:cNvPr>
          <p:cNvPicPr>
            <a:picLocks noChangeAspect="1"/>
          </p:cNvPicPr>
          <p:nvPr/>
        </p:nvPicPr>
        <p:blipFill>
          <a:blip r:embed="rId3"/>
          <a:stretch>
            <a:fillRect/>
          </a:stretch>
        </p:blipFill>
        <p:spPr>
          <a:xfrm>
            <a:off x="8063187" y="2255296"/>
            <a:ext cx="3934374" cy="3200847"/>
          </a:xfrm>
          <a:prstGeom prst="rect">
            <a:avLst/>
          </a:prstGeom>
        </p:spPr>
      </p:pic>
      <p:sp>
        <p:nvSpPr>
          <p:cNvPr id="3" name="Slide Number Placeholder 7">
            <a:extLst>
              <a:ext uri="{FF2B5EF4-FFF2-40B4-BE49-F238E27FC236}">
                <a16:creationId xmlns:a16="http://schemas.microsoft.com/office/drawing/2014/main" id="{39C5BFBF-6DE7-4BD0-665F-2FF7EB8E4B5F}"/>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97</a:t>
            </a:fld>
            <a:endParaRPr lang="zh-CN" altLang="en-US" sz="1200" dirty="0">
              <a:solidFill>
                <a:schemeClr val="tx1">
                  <a:tint val="75000"/>
                </a:schemeClr>
              </a:solidFill>
            </a:endParaRPr>
          </a:p>
        </p:txBody>
      </p:sp>
    </p:spTree>
    <p:extLst>
      <p:ext uri="{BB962C8B-B14F-4D97-AF65-F5344CB8AC3E}">
        <p14:creationId xmlns:p14="http://schemas.microsoft.com/office/powerpoint/2010/main" val="3911856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控制流完整性保護</a:t>
            </a:r>
            <a:endParaRPr kumimoji="1" lang="zh-CN" altLang="en-US" dirty="0">
              <a:solidFill>
                <a:schemeClr val="tx1"/>
              </a:solidFill>
            </a:endParaRP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171785"/>
            <a:ext cx="11008610" cy="4666790"/>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對于</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的一系列改進：</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原始的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機制是對所有的間接轉移指令進行檢查，確保其只能跳轉到預定的目標地址，但這樣的保護方案</a:t>
            </a:r>
            <a:r>
              <a:rPr kumimoji="1" lang="zh-CN" altLang="en-US" sz="2400" b="0" i="0"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開銷過大</a:t>
            </a:r>
            <a:endParaRPr kumimoji="1" lang="en-US" altLang="zh-CN" sz="2400" b="0" i="0"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Wingdings" panose="05000000000000000000" pitchFamily="2" charset="2"/>
              <a:buChar char="ü"/>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Martín Abadi, et al.</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改進的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中</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的構建過程</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只考慮將可能受到攻擊的間接調用、間接跳轉和 </a:t>
            </a:r>
            <a:r>
              <a:rPr kumimoji="1" lang="en-US" altLang="zh-CN" sz="2400" b="1" i="0"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RET</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指令</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，以約束開銷</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Wingdings" panose="05000000000000000000" pitchFamily="2" charset="2"/>
              <a:buChar char="ü"/>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Chao Zhang, et al.</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2013</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年又提出了</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低精確度版本</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CCFIR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CCFIR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將目標集合劃分爲三類，分類處理將低開銷。間接調用的目標地址被歸爲一類，</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RET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指令的目標地址被歸爲兩類，另類是敏感庫函數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比如</a:t>
            </a:r>
            <a:r>
              <a:rPr kumimoji="1" lang="en-US" altLang="zh-CN" sz="2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libc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system</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函數</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，最後一類是普通函數</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 name="直接连接符 3">
            <a:extLst>
              <a:ext uri="{FF2B5EF4-FFF2-40B4-BE49-F238E27FC236}">
                <a16:creationId xmlns:a16="http://schemas.microsoft.com/office/drawing/2014/main" id="{47E15BC2-066E-4A4A-993E-51B177D9BA5F}"/>
              </a:ext>
            </a:extLst>
          </p:cNvPr>
          <p:cNvCxnSpPr>
            <a:cxnSpLocks/>
          </p:cNvCxnSpPr>
          <p:nvPr/>
        </p:nvCxnSpPr>
        <p:spPr>
          <a:xfrm>
            <a:off x="561975" y="5862573"/>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12747134-94B0-44B7-AF28-83BF7CDC9658}"/>
              </a:ext>
            </a:extLst>
          </p:cNvPr>
          <p:cNvSpPr txBox="1"/>
          <p:nvPr/>
        </p:nvSpPr>
        <p:spPr>
          <a:xfrm>
            <a:off x="561974" y="5874360"/>
            <a:ext cx="10791826" cy="95410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Martín Abadi, et al. "Control-flow integrity principles, implementations, and applications." ACM Transactions on Information and System Security (TISSEC) 13.1 (2009): 1-40.</a:t>
            </a:r>
          </a:p>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Chao Zhang, et al. "Practical control flow integrity and randomization for binary executables." 2013 IEEE Symposium on Security and Privacy. IEEE, 2013.</a:t>
            </a:r>
          </a:p>
        </p:txBody>
      </p:sp>
      <p:sp>
        <p:nvSpPr>
          <p:cNvPr id="6" name="Slide Number Placeholder 7">
            <a:extLst>
              <a:ext uri="{FF2B5EF4-FFF2-40B4-BE49-F238E27FC236}">
                <a16:creationId xmlns:a16="http://schemas.microsoft.com/office/drawing/2014/main" id="{2F1EEAA6-5682-0F36-2837-6F1F0FC3248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98</a:t>
            </a:fld>
            <a:endParaRPr lang="zh-CN" altLang="en-US" sz="1200" dirty="0">
              <a:solidFill>
                <a:schemeClr val="tx1">
                  <a:tint val="75000"/>
                </a:schemeClr>
              </a:solidFill>
            </a:endParaRPr>
          </a:p>
        </p:txBody>
      </p:sp>
    </p:spTree>
    <p:extLst>
      <p:ext uri="{BB962C8B-B14F-4D97-AF65-F5344CB8AC3E}">
        <p14:creationId xmlns:p14="http://schemas.microsoft.com/office/powerpoint/2010/main" val="40727006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控制流完整性保護</a:t>
            </a:r>
            <a:endParaRPr kumimoji="1" lang="zh-CN" altLang="en-US" dirty="0">
              <a:solidFill>
                <a:schemeClr val="tx1"/>
              </a:solidFill>
            </a:endParaRP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400400"/>
            <a:ext cx="11008610" cy="189680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目前</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方案的平均情况下，額外開銷爲常規執行的</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2-5</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倍，距離真實部署仍然存在比較大的距離</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目前已經提出了大量的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的方案，但其中部分方案存在安全問題</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而失效</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，或者</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無法約束開銷而徹底不可用</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4" name="组合 3">
            <a:extLst>
              <a:ext uri="{FF2B5EF4-FFF2-40B4-BE49-F238E27FC236}">
                <a16:creationId xmlns:a16="http://schemas.microsoft.com/office/drawing/2014/main" id="{761AF1E7-4506-4825-B373-7B7D16897CDB}"/>
              </a:ext>
            </a:extLst>
          </p:cNvPr>
          <p:cNvGrpSpPr/>
          <p:nvPr/>
        </p:nvGrpSpPr>
        <p:grpSpPr>
          <a:xfrm>
            <a:off x="662093" y="3356987"/>
            <a:ext cx="11213130" cy="3224840"/>
            <a:chOff x="662093" y="3615696"/>
            <a:chExt cx="11213130" cy="3224840"/>
          </a:xfrm>
        </p:grpSpPr>
        <p:sp>
          <p:nvSpPr>
            <p:cNvPr id="3" name="文本框 2">
              <a:extLst>
                <a:ext uri="{FF2B5EF4-FFF2-40B4-BE49-F238E27FC236}">
                  <a16:creationId xmlns:a16="http://schemas.microsoft.com/office/drawing/2014/main" id="{F78A46AB-FB37-4830-9C7B-47B57D985BA7}"/>
                </a:ext>
              </a:extLst>
            </p:cNvPr>
            <p:cNvSpPr txBox="1"/>
            <p:nvPr/>
          </p:nvSpPr>
          <p:spPr>
            <a:xfrm>
              <a:off x="1068850" y="4665233"/>
              <a:ext cx="731277" cy="338554"/>
            </a:xfrm>
            <a:prstGeom prst="rect">
              <a:avLst/>
            </a:prstGeom>
            <a:noFill/>
          </p:spPr>
          <p:txBody>
            <a:bodyPr wrap="square" rtlCol="0">
              <a:spAutoFit/>
            </a:bodyPr>
            <a:lstStyle/>
            <a:p>
              <a:r>
                <a:rPr lang="en-US" altLang="zh-CN" sz="1600" dirty="0"/>
                <a:t>CFI</a:t>
              </a:r>
              <a:endParaRPr lang="zh-CN" altLang="en-US" sz="1600" dirty="0"/>
            </a:p>
          </p:txBody>
        </p:sp>
        <p:grpSp>
          <p:nvGrpSpPr>
            <p:cNvPr id="5" name="组合 4">
              <a:extLst>
                <a:ext uri="{FF2B5EF4-FFF2-40B4-BE49-F238E27FC236}">
                  <a16:creationId xmlns:a16="http://schemas.microsoft.com/office/drawing/2014/main" id="{C4F33FAA-AEF2-4DF5-ACA2-66BF7B85C130}"/>
                </a:ext>
              </a:extLst>
            </p:cNvPr>
            <p:cNvGrpSpPr/>
            <p:nvPr/>
          </p:nvGrpSpPr>
          <p:grpSpPr>
            <a:xfrm>
              <a:off x="662093" y="5262969"/>
              <a:ext cx="10761133" cy="386265"/>
              <a:chOff x="823202" y="5690401"/>
              <a:chExt cx="10761133" cy="386265"/>
            </a:xfrm>
          </p:grpSpPr>
          <p:cxnSp>
            <p:nvCxnSpPr>
              <p:cNvPr id="6" name="直接箭头连接符 5">
                <a:extLst>
                  <a:ext uri="{FF2B5EF4-FFF2-40B4-BE49-F238E27FC236}">
                    <a16:creationId xmlns:a16="http://schemas.microsoft.com/office/drawing/2014/main" id="{F053850F-DA74-42D3-BBE2-9BADF18FA5B8}"/>
                  </a:ext>
                </a:extLst>
              </p:cNvPr>
              <p:cNvCxnSpPr>
                <a:cxnSpLocks/>
              </p:cNvCxnSpPr>
              <p:nvPr/>
            </p:nvCxnSpPr>
            <p:spPr>
              <a:xfrm>
                <a:off x="823202" y="6035523"/>
                <a:ext cx="10761133" cy="0"/>
              </a:xfrm>
              <a:prstGeom prst="straightConnector1">
                <a:avLst/>
              </a:prstGeom>
              <a:ln w="34925">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0C033996-45ED-4749-8EDE-4597028AABBB}"/>
                  </a:ext>
                </a:extLst>
              </p:cNvPr>
              <p:cNvSpPr/>
              <p:nvPr/>
            </p:nvSpPr>
            <p:spPr>
              <a:xfrm>
                <a:off x="1049260" y="5764590"/>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3F0A6C9-EFB2-4894-B705-8A1E5FD93C23}"/>
                  </a:ext>
                </a:extLst>
              </p:cNvPr>
              <p:cNvSpPr/>
              <p:nvPr/>
            </p:nvSpPr>
            <p:spPr>
              <a:xfrm>
                <a:off x="3749105" y="5750246"/>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D79DA885-752A-4834-B5B9-F18EB2C58CA6}"/>
                  </a:ext>
                </a:extLst>
              </p:cNvPr>
              <p:cNvSpPr/>
              <p:nvPr/>
            </p:nvSpPr>
            <p:spPr>
              <a:xfrm>
                <a:off x="5078237" y="5757418"/>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CB3817C3-C3C2-47B0-880F-F2A99377E635}"/>
                  </a:ext>
                </a:extLst>
              </p:cNvPr>
              <p:cNvSpPr/>
              <p:nvPr/>
            </p:nvSpPr>
            <p:spPr>
              <a:xfrm>
                <a:off x="6471727" y="5750245"/>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0FB38444-D204-41D7-B994-AD4B0420E8D0}"/>
                  </a:ext>
                </a:extLst>
              </p:cNvPr>
              <p:cNvSpPr/>
              <p:nvPr/>
            </p:nvSpPr>
            <p:spPr>
              <a:xfrm>
                <a:off x="7758196" y="5767178"/>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306F5C3A-C0C3-4AA2-8801-3A8084C3721D}"/>
                  </a:ext>
                </a:extLst>
              </p:cNvPr>
              <p:cNvSpPr txBox="1"/>
              <p:nvPr/>
            </p:nvSpPr>
            <p:spPr>
              <a:xfrm>
                <a:off x="3750313" y="5702198"/>
                <a:ext cx="731277" cy="369332"/>
              </a:xfrm>
              <a:prstGeom prst="rect">
                <a:avLst/>
              </a:prstGeom>
              <a:noFill/>
            </p:spPr>
            <p:txBody>
              <a:bodyPr wrap="square" rtlCol="0">
                <a:spAutoFit/>
              </a:bodyPr>
              <a:lstStyle/>
              <a:p>
                <a:pPr algn="ctr"/>
                <a:r>
                  <a:rPr lang="en-US" altLang="zh-CN" dirty="0"/>
                  <a:t>2010</a:t>
                </a:r>
                <a:endParaRPr lang="zh-CN" altLang="en-US" dirty="0"/>
              </a:p>
            </p:txBody>
          </p:sp>
          <p:sp>
            <p:nvSpPr>
              <p:cNvPr id="14" name="文本框 13">
                <a:extLst>
                  <a:ext uri="{FF2B5EF4-FFF2-40B4-BE49-F238E27FC236}">
                    <a16:creationId xmlns:a16="http://schemas.microsoft.com/office/drawing/2014/main" id="{54D1E364-A5D1-4520-AAFA-AE36D8D1F22B}"/>
                  </a:ext>
                </a:extLst>
              </p:cNvPr>
              <p:cNvSpPr txBox="1"/>
              <p:nvPr/>
            </p:nvSpPr>
            <p:spPr>
              <a:xfrm>
                <a:off x="5079445" y="5707334"/>
                <a:ext cx="731277" cy="369332"/>
              </a:xfrm>
              <a:prstGeom prst="rect">
                <a:avLst/>
              </a:prstGeom>
              <a:noFill/>
            </p:spPr>
            <p:txBody>
              <a:bodyPr wrap="square" rtlCol="0">
                <a:spAutoFit/>
              </a:bodyPr>
              <a:lstStyle/>
              <a:p>
                <a:pPr algn="ctr"/>
                <a:r>
                  <a:rPr lang="en-US" altLang="zh-CN" dirty="0"/>
                  <a:t>2011</a:t>
                </a:r>
                <a:endParaRPr lang="zh-CN" altLang="en-US" dirty="0"/>
              </a:p>
            </p:txBody>
          </p:sp>
          <p:sp>
            <p:nvSpPr>
              <p:cNvPr id="15" name="文本框 14">
                <a:extLst>
                  <a:ext uri="{FF2B5EF4-FFF2-40B4-BE49-F238E27FC236}">
                    <a16:creationId xmlns:a16="http://schemas.microsoft.com/office/drawing/2014/main" id="{9D9FAFB2-66CA-49A8-B45E-28CC04A721CC}"/>
                  </a:ext>
                </a:extLst>
              </p:cNvPr>
              <p:cNvSpPr txBox="1"/>
              <p:nvPr/>
            </p:nvSpPr>
            <p:spPr>
              <a:xfrm>
                <a:off x="6472935" y="5702198"/>
                <a:ext cx="731277" cy="369332"/>
              </a:xfrm>
              <a:prstGeom prst="rect">
                <a:avLst/>
              </a:prstGeom>
              <a:noFill/>
            </p:spPr>
            <p:txBody>
              <a:bodyPr wrap="square" rtlCol="0">
                <a:spAutoFit/>
              </a:bodyPr>
              <a:lstStyle/>
              <a:p>
                <a:pPr algn="ctr"/>
                <a:r>
                  <a:rPr lang="en-US" altLang="zh-CN" dirty="0"/>
                  <a:t>2012</a:t>
                </a:r>
                <a:endParaRPr lang="zh-CN" altLang="en-US" dirty="0"/>
              </a:p>
            </p:txBody>
          </p:sp>
          <p:sp>
            <p:nvSpPr>
              <p:cNvPr id="16" name="文本框 15">
                <a:extLst>
                  <a:ext uri="{FF2B5EF4-FFF2-40B4-BE49-F238E27FC236}">
                    <a16:creationId xmlns:a16="http://schemas.microsoft.com/office/drawing/2014/main" id="{48F6825D-284D-4077-A193-ADB9D4C4AC3A}"/>
                  </a:ext>
                </a:extLst>
              </p:cNvPr>
              <p:cNvSpPr txBox="1"/>
              <p:nvPr/>
            </p:nvSpPr>
            <p:spPr>
              <a:xfrm>
                <a:off x="7759404" y="5707334"/>
                <a:ext cx="731277" cy="369332"/>
              </a:xfrm>
              <a:prstGeom prst="rect">
                <a:avLst/>
              </a:prstGeom>
              <a:noFill/>
            </p:spPr>
            <p:txBody>
              <a:bodyPr wrap="square" rtlCol="0">
                <a:spAutoFit/>
              </a:bodyPr>
              <a:lstStyle/>
              <a:p>
                <a:pPr algn="ctr"/>
                <a:r>
                  <a:rPr lang="en-US" altLang="zh-CN" dirty="0"/>
                  <a:t>2013</a:t>
                </a:r>
                <a:endParaRPr lang="zh-CN" altLang="en-US" dirty="0"/>
              </a:p>
            </p:txBody>
          </p:sp>
          <p:sp>
            <p:nvSpPr>
              <p:cNvPr id="17" name="矩形 16">
                <a:extLst>
                  <a:ext uri="{FF2B5EF4-FFF2-40B4-BE49-F238E27FC236}">
                    <a16:creationId xmlns:a16="http://schemas.microsoft.com/office/drawing/2014/main" id="{7B642848-7C7B-455C-A4F0-3A21793EF04A}"/>
                  </a:ext>
                </a:extLst>
              </p:cNvPr>
              <p:cNvSpPr/>
              <p:nvPr/>
            </p:nvSpPr>
            <p:spPr>
              <a:xfrm>
                <a:off x="8942922" y="5757418"/>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0CF52554-A1F3-4DF8-A6A6-0BBAC720BA72}"/>
                  </a:ext>
                </a:extLst>
              </p:cNvPr>
              <p:cNvSpPr txBox="1"/>
              <p:nvPr/>
            </p:nvSpPr>
            <p:spPr>
              <a:xfrm>
                <a:off x="8944130" y="5697574"/>
                <a:ext cx="731277" cy="369332"/>
              </a:xfrm>
              <a:prstGeom prst="rect">
                <a:avLst/>
              </a:prstGeom>
              <a:noFill/>
            </p:spPr>
            <p:txBody>
              <a:bodyPr wrap="square" rtlCol="0">
                <a:spAutoFit/>
              </a:bodyPr>
              <a:lstStyle/>
              <a:p>
                <a:pPr algn="ctr"/>
                <a:r>
                  <a:rPr lang="en-US" altLang="zh-CN" dirty="0"/>
                  <a:t>2014</a:t>
                </a:r>
                <a:endParaRPr lang="zh-CN" altLang="en-US" dirty="0"/>
              </a:p>
            </p:txBody>
          </p:sp>
          <p:sp>
            <p:nvSpPr>
              <p:cNvPr id="19" name="矩形 18">
                <a:extLst>
                  <a:ext uri="{FF2B5EF4-FFF2-40B4-BE49-F238E27FC236}">
                    <a16:creationId xmlns:a16="http://schemas.microsoft.com/office/drawing/2014/main" id="{36A90563-40C7-4E7C-925D-3BB9ADA83850}"/>
                  </a:ext>
                </a:extLst>
              </p:cNvPr>
              <p:cNvSpPr/>
              <p:nvPr/>
            </p:nvSpPr>
            <p:spPr>
              <a:xfrm>
                <a:off x="10174246" y="5750245"/>
                <a:ext cx="45719" cy="270933"/>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6E420F7-EB5C-42C2-8BAA-03746E4138EF}"/>
                  </a:ext>
                </a:extLst>
              </p:cNvPr>
              <p:cNvSpPr txBox="1"/>
              <p:nvPr/>
            </p:nvSpPr>
            <p:spPr>
              <a:xfrm>
                <a:off x="10175454" y="5690401"/>
                <a:ext cx="731277" cy="369332"/>
              </a:xfrm>
              <a:prstGeom prst="rect">
                <a:avLst/>
              </a:prstGeom>
              <a:noFill/>
            </p:spPr>
            <p:txBody>
              <a:bodyPr wrap="square" rtlCol="0">
                <a:spAutoFit/>
              </a:bodyPr>
              <a:lstStyle/>
              <a:p>
                <a:pPr algn="ctr"/>
                <a:r>
                  <a:rPr lang="en-US" altLang="zh-CN" dirty="0"/>
                  <a:t>2015</a:t>
                </a:r>
                <a:endParaRPr lang="zh-CN" altLang="en-US" dirty="0"/>
              </a:p>
            </p:txBody>
          </p:sp>
          <p:sp>
            <p:nvSpPr>
              <p:cNvPr id="21" name="文本框 20">
                <a:extLst>
                  <a:ext uri="{FF2B5EF4-FFF2-40B4-BE49-F238E27FC236}">
                    <a16:creationId xmlns:a16="http://schemas.microsoft.com/office/drawing/2014/main" id="{F5C7352D-CC52-47D2-890F-1C14673A65B1}"/>
                  </a:ext>
                </a:extLst>
              </p:cNvPr>
              <p:cNvSpPr txBox="1"/>
              <p:nvPr/>
            </p:nvSpPr>
            <p:spPr>
              <a:xfrm>
                <a:off x="1050468" y="5695808"/>
                <a:ext cx="731277" cy="369332"/>
              </a:xfrm>
              <a:prstGeom prst="rect">
                <a:avLst/>
              </a:prstGeom>
              <a:noFill/>
            </p:spPr>
            <p:txBody>
              <a:bodyPr wrap="square" rtlCol="0">
                <a:spAutoFit/>
              </a:bodyPr>
              <a:lstStyle/>
              <a:p>
                <a:pPr algn="ctr"/>
                <a:r>
                  <a:rPr lang="en-US" altLang="zh-CN" dirty="0"/>
                  <a:t>2005</a:t>
                </a:r>
                <a:endParaRPr lang="zh-CN" altLang="en-US" dirty="0"/>
              </a:p>
            </p:txBody>
          </p:sp>
        </p:grpSp>
        <p:sp>
          <p:nvSpPr>
            <p:cNvPr id="22" name="文本框 21">
              <a:extLst>
                <a:ext uri="{FF2B5EF4-FFF2-40B4-BE49-F238E27FC236}">
                  <a16:creationId xmlns:a16="http://schemas.microsoft.com/office/drawing/2014/main" id="{6A10BC7F-4412-400C-A092-01CDD7450878}"/>
                </a:ext>
              </a:extLst>
            </p:cNvPr>
            <p:cNvSpPr txBox="1"/>
            <p:nvPr/>
          </p:nvSpPr>
          <p:spPr>
            <a:xfrm>
              <a:off x="3768695" y="6000621"/>
              <a:ext cx="1057762" cy="338554"/>
            </a:xfrm>
            <a:prstGeom prst="rect">
              <a:avLst/>
            </a:prstGeom>
            <a:noFill/>
          </p:spPr>
          <p:txBody>
            <a:bodyPr wrap="square" rtlCol="0">
              <a:spAutoFit/>
            </a:bodyPr>
            <a:lstStyle/>
            <a:p>
              <a:r>
                <a:rPr lang="en-US" altLang="zh-CN" sz="1600" dirty="0" err="1"/>
                <a:t>Hypsafe</a:t>
              </a:r>
              <a:endParaRPr lang="zh-CN" altLang="en-US" sz="1600" dirty="0"/>
            </a:p>
          </p:txBody>
        </p:sp>
        <p:sp>
          <p:nvSpPr>
            <p:cNvPr id="23" name="文本框 22">
              <a:extLst>
                <a:ext uri="{FF2B5EF4-FFF2-40B4-BE49-F238E27FC236}">
                  <a16:creationId xmlns:a16="http://schemas.microsoft.com/office/drawing/2014/main" id="{8AC557AF-5C6B-4757-B5DB-3FA72FAC68B0}"/>
                </a:ext>
              </a:extLst>
            </p:cNvPr>
            <p:cNvSpPr txBox="1"/>
            <p:nvPr/>
          </p:nvSpPr>
          <p:spPr>
            <a:xfrm>
              <a:off x="5104071" y="4669507"/>
              <a:ext cx="1057762" cy="338554"/>
            </a:xfrm>
            <a:prstGeom prst="rect">
              <a:avLst/>
            </a:prstGeom>
            <a:noFill/>
          </p:spPr>
          <p:txBody>
            <a:bodyPr wrap="square" rtlCol="0">
              <a:spAutoFit/>
            </a:bodyPr>
            <a:lstStyle/>
            <a:p>
              <a:r>
                <a:rPr lang="en-US" altLang="zh-CN" sz="1600" dirty="0" err="1"/>
                <a:t>OSck</a:t>
              </a:r>
              <a:endParaRPr lang="zh-CN" altLang="en-US" sz="1600" dirty="0"/>
            </a:p>
          </p:txBody>
        </p:sp>
        <p:sp>
          <p:nvSpPr>
            <p:cNvPr id="24" name="文本框 23">
              <a:extLst>
                <a:ext uri="{FF2B5EF4-FFF2-40B4-BE49-F238E27FC236}">
                  <a16:creationId xmlns:a16="http://schemas.microsoft.com/office/drawing/2014/main" id="{282CFB5D-306A-4325-A609-9628B95DA8A8}"/>
                </a:ext>
              </a:extLst>
            </p:cNvPr>
            <p:cNvSpPr txBox="1"/>
            <p:nvPr/>
          </p:nvSpPr>
          <p:spPr>
            <a:xfrm>
              <a:off x="6491317" y="5998991"/>
              <a:ext cx="1057762" cy="338554"/>
            </a:xfrm>
            <a:prstGeom prst="rect">
              <a:avLst/>
            </a:prstGeom>
            <a:noFill/>
          </p:spPr>
          <p:txBody>
            <a:bodyPr wrap="square" rtlCol="0">
              <a:spAutoFit/>
            </a:bodyPr>
            <a:lstStyle/>
            <a:p>
              <a:r>
                <a:rPr lang="en-US" altLang="zh-CN" sz="1600" dirty="0" err="1"/>
                <a:t>CFIMon</a:t>
              </a:r>
              <a:endParaRPr lang="zh-CN" altLang="en-US" sz="1600" dirty="0"/>
            </a:p>
          </p:txBody>
        </p:sp>
        <p:sp>
          <p:nvSpPr>
            <p:cNvPr id="25" name="文本框 24">
              <a:extLst>
                <a:ext uri="{FF2B5EF4-FFF2-40B4-BE49-F238E27FC236}">
                  <a16:creationId xmlns:a16="http://schemas.microsoft.com/office/drawing/2014/main" id="{D27B833E-9F1A-41F8-A0AD-332FA29315FC}"/>
                </a:ext>
              </a:extLst>
            </p:cNvPr>
            <p:cNvSpPr txBox="1"/>
            <p:nvPr/>
          </p:nvSpPr>
          <p:spPr>
            <a:xfrm>
              <a:off x="7775939" y="3926569"/>
              <a:ext cx="1446436" cy="1077218"/>
            </a:xfrm>
            <a:prstGeom prst="rect">
              <a:avLst/>
            </a:prstGeom>
            <a:noFill/>
          </p:spPr>
          <p:txBody>
            <a:bodyPr wrap="square" rtlCol="0">
              <a:spAutoFit/>
            </a:bodyPr>
            <a:lstStyle/>
            <a:p>
              <a:r>
                <a:rPr lang="en-US" altLang="zh-CN" sz="1600" dirty="0"/>
                <a:t>CCFIR</a:t>
              </a:r>
            </a:p>
            <a:p>
              <a:r>
                <a:rPr lang="en-US" altLang="zh-CN" sz="1600" dirty="0" err="1"/>
                <a:t>binCFI</a:t>
              </a:r>
              <a:endParaRPr lang="en-US" altLang="zh-CN" sz="1600" dirty="0"/>
            </a:p>
            <a:p>
              <a:r>
                <a:rPr lang="en-US" altLang="zh-CN" sz="1600" dirty="0"/>
                <a:t>Modular CFI</a:t>
              </a:r>
            </a:p>
            <a:p>
              <a:r>
                <a:rPr lang="en-US" altLang="zh-CN" sz="1600" dirty="0" err="1"/>
                <a:t>kBoumcer</a:t>
              </a:r>
              <a:endParaRPr lang="zh-CN" altLang="en-US" sz="1600" dirty="0"/>
            </a:p>
          </p:txBody>
        </p:sp>
        <p:sp>
          <p:nvSpPr>
            <p:cNvPr id="26" name="文本框 25">
              <a:extLst>
                <a:ext uri="{FF2B5EF4-FFF2-40B4-BE49-F238E27FC236}">
                  <a16:creationId xmlns:a16="http://schemas.microsoft.com/office/drawing/2014/main" id="{98A4E3F9-56EB-402A-8A87-51AFC142CE09}"/>
                </a:ext>
              </a:extLst>
            </p:cNvPr>
            <p:cNvSpPr txBox="1"/>
            <p:nvPr/>
          </p:nvSpPr>
          <p:spPr>
            <a:xfrm>
              <a:off x="9053951" y="5763318"/>
              <a:ext cx="1329152" cy="1077218"/>
            </a:xfrm>
            <a:prstGeom prst="rect">
              <a:avLst/>
            </a:prstGeom>
            <a:noFill/>
          </p:spPr>
          <p:txBody>
            <a:bodyPr wrap="square" rtlCol="0">
              <a:spAutoFit/>
            </a:bodyPr>
            <a:lstStyle/>
            <a:p>
              <a:r>
                <a:rPr lang="en-US" altLang="zh-CN" sz="1600" dirty="0"/>
                <a:t>CFIR</a:t>
              </a:r>
            </a:p>
            <a:p>
              <a:r>
                <a:rPr lang="en-US" altLang="zh-CN" sz="1600" dirty="0" err="1"/>
                <a:t>RockJIT</a:t>
              </a:r>
              <a:endParaRPr lang="en-US" altLang="zh-CN" sz="1600" dirty="0"/>
            </a:p>
            <a:p>
              <a:r>
                <a:rPr lang="en-US" altLang="zh-CN" sz="1600" dirty="0" err="1"/>
                <a:t>KCoFI</a:t>
              </a:r>
              <a:endParaRPr lang="en-US" altLang="zh-CN" sz="1600" dirty="0"/>
            </a:p>
            <a:p>
              <a:r>
                <a:rPr lang="en-US" altLang="zh-CN" sz="1600" dirty="0" err="1"/>
                <a:t>ROPecker</a:t>
              </a:r>
              <a:endParaRPr lang="zh-CN" altLang="en-US" sz="1600" dirty="0"/>
            </a:p>
          </p:txBody>
        </p:sp>
        <p:sp>
          <p:nvSpPr>
            <p:cNvPr id="27" name="文本框 26">
              <a:extLst>
                <a:ext uri="{FF2B5EF4-FFF2-40B4-BE49-F238E27FC236}">
                  <a16:creationId xmlns:a16="http://schemas.microsoft.com/office/drawing/2014/main" id="{3AFD27E1-5193-4B25-B736-0AE8D137A737}"/>
                </a:ext>
              </a:extLst>
            </p:cNvPr>
            <p:cNvSpPr txBox="1"/>
            <p:nvPr/>
          </p:nvSpPr>
          <p:spPr>
            <a:xfrm>
              <a:off x="10193836" y="3615696"/>
              <a:ext cx="1681387" cy="1569660"/>
            </a:xfrm>
            <a:prstGeom prst="rect">
              <a:avLst/>
            </a:prstGeom>
            <a:noFill/>
          </p:spPr>
          <p:txBody>
            <a:bodyPr wrap="square" rtlCol="0">
              <a:spAutoFit/>
            </a:bodyPr>
            <a:lstStyle/>
            <a:p>
              <a:r>
                <a:rPr lang="en-US" altLang="zh-CN" sz="1600" dirty="0"/>
                <a:t>Practical CFI</a:t>
              </a:r>
            </a:p>
            <a:p>
              <a:r>
                <a:rPr lang="en-US" altLang="zh-CN" sz="1600" dirty="0"/>
                <a:t>Securing CFI</a:t>
              </a:r>
            </a:p>
            <a:p>
              <a:r>
                <a:rPr lang="en-US" altLang="zh-CN" sz="1600" dirty="0"/>
                <a:t>Control </a:t>
              </a:r>
              <a:r>
                <a:rPr lang="en-US" altLang="zh-CN" sz="1600" dirty="0" err="1"/>
                <a:t>Jujustsu</a:t>
              </a:r>
              <a:endParaRPr lang="en-US" altLang="zh-CN" sz="1600" dirty="0"/>
            </a:p>
            <a:p>
              <a:r>
                <a:rPr lang="en-US" altLang="zh-CN" sz="1600" dirty="0"/>
                <a:t>Per-Input CFI</a:t>
              </a:r>
            </a:p>
            <a:p>
              <a:r>
                <a:rPr lang="en-US" altLang="zh-CN" sz="1600" dirty="0"/>
                <a:t>CFB</a:t>
              </a:r>
            </a:p>
            <a:p>
              <a:r>
                <a:rPr lang="en-US" altLang="zh-CN" sz="1600" dirty="0"/>
                <a:t>Opaque CFI</a:t>
              </a:r>
              <a:endParaRPr lang="zh-CN" altLang="en-US" sz="1600" dirty="0"/>
            </a:p>
          </p:txBody>
        </p:sp>
        <p:cxnSp>
          <p:nvCxnSpPr>
            <p:cNvPr id="28" name="直接连接符 27">
              <a:extLst>
                <a:ext uri="{FF2B5EF4-FFF2-40B4-BE49-F238E27FC236}">
                  <a16:creationId xmlns:a16="http://schemas.microsoft.com/office/drawing/2014/main" id="{42FA7F81-1D24-4C53-94DB-D5CD585D0B71}"/>
                </a:ext>
              </a:extLst>
            </p:cNvPr>
            <p:cNvCxnSpPr>
              <a:cxnSpLocks/>
            </p:cNvCxnSpPr>
            <p:nvPr/>
          </p:nvCxnSpPr>
          <p:spPr>
            <a:xfrm flipH="1">
              <a:off x="947473" y="4942115"/>
              <a:ext cx="184641" cy="359037"/>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438844D7-DD36-40E1-BB56-3B8A6B35B7F9}"/>
                </a:ext>
              </a:extLst>
            </p:cNvPr>
            <p:cNvCxnSpPr>
              <a:cxnSpLocks/>
            </p:cNvCxnSpPr>
            <p:nvPr/>
          </p:nvCxnSpPr>
          <p:spPr>
            <a:xfrm>
              <a:off x="3633715" y="5692146"/>
              <a:ext cx="219828" cy="36466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2366D5FC-287D-4EFC-8F26-66B762E377B4}"/>
                </a:ext>
              </a:extLst>
            </p:cNvPr>
            <p:cNvCxnSpPr/>
            <p:nvPr/>
          </p:nvCxnSpPr>
          <p:spPr>
            <a:xfrm flipH="1">
              <a:off x="4962847" y="4949794"/>
              <a:ext cx="205690" cy="340498"/>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9FC5A2AA-A91D-4DEE-9DF5-ED8CDC11E743}"/>
                </a:ext>
              </a:extLst>
            </p:cNvPr>
            <p:cNvCxnSpPr/>
            <p:nvPr/>
          </p:nvCxnSpPr>
          <p:spPr>
            <a:xfrm>
              <a:off x="6353821" y="5649234"/>
              <a:ext cx="225505" cy="4075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A14EF19B-6197-4C87-A7BC-E0932229A5F4}"/>
                </a:ext>
              </a:extLst>
            </p:cNvPr>
            <p:cNvCxnSpPr/>
            <p:nvPr/>
          </p:nvCxnSpPr>
          <p:spPr>
            <a:xfrm flipH="1">
              <a:off x="7662447" y="4949794"/>
              <a:ext cx="188332" cy="34049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B743CEE1-E973-4F7C-8668-CA0FF80DD129}"/>
                </a:ext>
              </a:extLst>
            </p:cNvPr>
            <p:cNvCxnSpPr>
              <a:cxnSpLocks/>
            </p:cNvCxnSpPr>
            <p:nvPr/>
          </p:nvCxnSpPr>
          <p:spPr>
            <a:xfrm>
              <a:off x="8827063" y="5636170"/>
              <a:ext cx="295166" cy="2330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5B64A32B-6A64-486A-B012-AD5349A38343}"/>
                </a:ext>
              </a:extLst>
            </p:cNvPr>
            <p:cNvCxnSpPr/>
            <p:nvPr/>
          </p:nvCxnSpPr>
          <p:spPr>
            <a:xfrm flipH="1">
              <a:off x="10058856" y="5090160"/>
              <a:ext cx="204195" cy="2001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Slide Number Placeholder 7">
            <a:extLst>
              <a:ext uri="{FF2B5EF4-FFF2-40B4-BE49-F238E27FC236}">
                <a16:creationId xmlns:a16="http://schemas.microsoft.com/office/drawing/2014/main" id="{E3FB17FF-E6DB-6F2E-D6F9-9B0223FB22CD}"/>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99</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4224614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4.1 </a:t>
            </a:r>
            <a:r>
              <a:rPr lang="zh-CN" altLang="en-US" sz="2400" dirty="0">
                <a:latin typeface="Microsoft YaHei" panose="020B0503020204020204" pitchFamily="34" charset="-122"/>
                <a:ea typeface="Microsoft YaHei" panose="020B0503020204020204" pitchFamily="34" charset="-122"/>
              </a:rPr>
              <a:t>控制流完整性保護</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2896947"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4.2 </a:t>
            </a:r>
            <a:r>
              <a:rPr lang="zh-CN" altLang="en-US" sz="2400" b="1" dirty="0">
                <a:solidFill>
                  <a:srgbClr val="C00000"/>
                </a:solidFill>
                <a:latin typeface="Microsoft YaHei" panose="020B0503020204020204" pitchFamily="34" charset="-122"/>
                <a:ea typeface="Microsoft YaHei" panose="020B0503020204020204" pitchFamily="34" charset="-122"/>
              </a:rPr>
              <a:t>指針完整性保護</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250937"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4.3 </a:t>
            </a:r>
            <a:r>
              <a:rPr lang="zh-CN" altLang="en-US" sz="2400" dirty="0">
                <a:latin typeface="Microsoft YaHei" panose="020B0503020204020204" pitchFamily="34" charset="-122"/>
                <a:ea typeface="Microsoft YaHei" panose="020B0503020204020204" pitchFamily="34" charset="-122"/>
              </a:rPr>
              <a:t>信息流控制</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781531"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4.4 I/O</a:t>
            </a:r>
            <a:r>
              <a:rPr lang="zh-CN" altLang="en-US" sz="2400" dirty="0">
                <a:latin typeface="Microsoft YaHei" panose="020B0503020204020204" pitchFamily="34" charset="-122"/>
                <a:ea typeface="Microsoft YaHei" panose="020B0503020204020204" pitchFamily="34" charset="-122"/>
              </a:rPr>
              <a:t>子系統保護</a:t>
            </a:r>
          </a:p>
        </p:txBody>
      </p:sp>
      <p:sp>
        <p:nvSpPr>
          <p:cNvPr id="27" name="矩形 26">
            <a:extLst>
              <a:ext uri="{FF2B5EF4-FFF2-40B4-BE49-F238E27FC236}">
                <a16:creationId xmlns:a16="http://schemas.microsoft.com/office/drawing/2014/main" id="{66C642B6-2DD2-484D-9258-3EEDA9ABC53F}"/>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8" name="矩形 27">
            <a:extLst>
              <a:ext uri="{FF2B5EF4-FFF2-40B4-BE49-F238E27FC236}">
                <a16:creationId xmlns:a16="http://schemas.microsoft.com/office/drawing/2014/main" id="{F1B21751-5951-40CB-95E3-B08367B1E504}"/>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9" name="矩形 28">
            <a:extLst>
              <a:ext uri="{FF2B5EF4-FFF2-40B4-BE49-F238E27FC236}">
                <a16:creationId xmlns:a16="http://schemas.microsoft.com/office/drawing/2014/main" id="{084BE3C4-AA08-4E15-AF98-1E5C9B3AE7D2}"/>
              </a:ext>
            </a:extLst>
          </p:cNvPr>
          <p:cNvSpPr/>
          <p:nvPr/>
        </p:nvSpPr>
        <p:spPr>
          <a:xfrm>
            <a:off x="4711535" y="2072918"/>
            <a:ext cx="6787436"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4</a:t>
            </a:r>
            <a:r>
              <a:rPr lang="zh-CN" altLang="en-US" sz="4000" b="1" kern="100" dirty="0">
                <a:solidFill>
                  <a:prstClr val="white"/>
                </a:solidFill>
                <a:latin typeface="微软雅黑 Light"/>
                <a:ea typeface="微软雅黑 Light"/>
                <a:cs typeface="Times New Roman" panose="02020603050405020304" pitchFamily="18" charset="0"/>
              </a:rPr>
              <a:t>節 高級操作系統保護方案</a:t>
            </a:r>
          </a:p>
        </p:txBody>
      </p:sp>
      <p:pic>
        <p:nvPicPr>
          <p:cNvPr id="30" name="图片 29">
            <a:extLst>
              <a:ext uri="{FF2B5EF4-FFF2-40B4-BE49-F238E27FC236}">
                <a16:creationId xmlns:a16="http://schemas.microsoft.com/office/drawing/2014/main" id="{1E2ECBAE-53DF-4E19-8BF1-FD74ABC20F97}"/>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240931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指針完整性保護</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322890"/>
            <a:ext cx="11008610" cy="4666790"/>
          </a:xfrm>
          <a:prstGeom prst="rect">
            <a:avLst/>
          </a:prstGeom>
          <a:noFill/>
        </p:spPr>
        <p:txBody>
          <a:bodyPr wrap="square" rtlCol="0">
            <a:spAutoFit/>
          </a:bodyPr>
          <a:lstStyle/>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拓展性內容：指針完整性保護</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CPI</a:t>
            </a: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en-US" altLang="zh-CN" sz="2400" b="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Volodymyr K, Laszlo S</a:t>
            </a:r>
            <a:r>
              <a:rPr kumimoji="1" lang="en-US" altLang="zh-CN"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2400" b="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et al. Code-pointer integrity. OSDI 2014.</a:t>
            </a: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與</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提出動機相同：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CPI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的提出動機仍然是因爲</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DEP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等內存保護無法防禦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ROP</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等進程控制流劫持方案</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CPI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希望解决</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的高開銷問題，其核心在于控制和約束指針的指向位置</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關于</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CPI</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是否可用</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的性能評價性研究請參考脚注</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p>
        </p:txBody>
      </p:sp>
      <p:cxnSp>
        <p:nvCxnSpPr>
          <p:cNvPr id="4" name="直接连接符 3">
            <a:extLst>
              <a:ext uri="{FF2B5EF4-FFF2-40B4-BE49-F238E27FC236}">
                <a16:creationId xmlns:a16="http://schemas.microsoft.com/office/drawing/2014/main" id="{AB3BB5F4-88DF-481D-9FDD-524738BA76AF}"/>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1C95E22C-B29D-454D-BE77-E8E0A7F645DC}"/>
              </a:ext>
            </a:extLst>
          </p:cNvPr>
          <p:cNvSpPr txBox="1"/>
          <p:nvPr/>
        </p:nvSpPr>
        <p:spPr>
          <a:xfrm>
            <a:off x="561974" y="6235648"/>
            <a:ext cx="1100861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Isaac Evans, et al. "Missing the point (er): On the effectiveness of code pointer integrity." 2015 IEEE Symposium on Security and Privacy. IEEE, 2015.</a:t>
            </a:r>
          </a:p>
        </p:txBody>
      </p:sp>
      <p:sp>
        <p:nvSpPr>
          <p:cNvPr id="3" name="Slide Number Placeholder 7">
            <a:extLst>
              <a:ext uri="{FF2B5EF4-FFF2-40B4-BE49-F238E27FC236}">
                <a16:creationId xmlns:a16="http://schemas.microsoft.com/office/drawing/2014/main" id="{4FF770EF-E160-5E66-0283-52FD0C233419}"/>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101</a:t>
            </a:fld>
            <a:endParaRPr lang="zh-CN" altLang="en-US" sz="1200" dirty="0">
              <a:solidFill>
                <a:schemeClr val="tx1">
                  <a:tint val="75000"/>
                </a:schemeClr>
              </a:solidFill>
            </a:endParaRPr>
          </a:p>
        </p:txBody>
      </p:sp>
    </p:spTree>
    <p:extLst>
      <p:ext uri="{BB962C8B-B14F-4D97-AF65-F5344CB8AC3E}">
        <p14:creationId xmlns:p14="http://schemas.microsoft.com/office/powerpoint/2010/main" val="78192274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4.1 </a:t>
            </a:r>
            <a:r>
              <a:rPr lang="zh-CN" altLang="en-US" sz="2400" dirty="0">
                <a:latin typeface="Microsoft YaHei" panose="020B0503020204020204" pitchFamily="34" charset="-122"/>
                <a:ea typeface="Microsoft YaHei" panose="020B0503020204020204" pitchFamily="34" charset="-122"/>
              </a:rPr>
              <a:t>控制流完整性保護</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289694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4.2 </a:t>
            </a:r>
            <a:r>
              <a:rPr lang="zh-CN" altLang="en-US" sz="2400" dirty="0">
                <a:latin typeface="Microsoft YaHei" panose="020B0503020204020204" pitchFamily="34" charset="-122"/>
                <a:ea typeface="Microsoft YaHei" panose="020B0503020204020204" pitchFamily="34" charset="-122"/>
              </a:rPr>
              <a:t>指針完整性保護</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281394" cy="461665"/>
          </a:xfrm>
          <a:prstGeom prst="rect">
            <a:avLst/>
          </a:prstGeom>
          <a:noFill/>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4.3 </a:t>
            </a:r>
            <a:r>
              <a:rPr lang="zh-CN" altLang="en-US" sz="2400" b="1" dirty="0">
                <a:solidFill>
                  <a:srgbClr val="C00000"/>
                </a:solidFill>
                <a:latin typeface="Microsoft YaHei" panose="020B0503020204020204" pitchFamily="34" charset="-122"/>
                <a:ea typeface="Microsoft YaHei" panose="020B0503020204020204" pitchFamily="34" charset="-122"/>
              </a:rPr>
              <a:t>信息流控制</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781531"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4.4 I/O</a:t>
            </a:r>
            <a:r>
              <a:rPr lang="zh-CN" altLang="en-US" sz="2400" dirty="0">
                <a:latin typeface="Microsoft YaHei" panose="020B0503020204020204" pitchFamily="34" charset="-122"/>
                <a:ea typeface="Microsoft YaHei" panose="020B0503020204020204" pitchFamily="34" charset="-122"/>
              </a:rPr>
              <a:t>子系統保護</a:t>
            </a:r>
          </a:p>
        </p:txBody>
      </p:sp>
      <p:sp>
        <p:nvSpPr>
          <p:cNvPr id="27" name="矩形 26">
            <a:extLst>
              <a:ext uri="{FF2B5EF4-FFF2-40B4-BE49-F238E27FC236}">
                <a16:creationId xmlns:a16="http://schemas.microsoft.com/office/drawing/2014/main" id="{66C642B6-2DD2-484D-9258-3EEDA9ABC53F}"/>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8" name="矩形 27">
            <a:extLst>
              <a:ext uri="{FF2B5EF4-FFF2-40B4-BE49-F238E27FC236}">
                <a16:creationId xmlns:a16="http://schemas.microsoft.com/office/drawing/2014/main" id="{F1B21751-5951-40CB-95E3-B08367B1E504}"/>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9" name="矩形 28">
            <a:extLst>
              <a:ext uri="{FF2B5EF4-FFF2-40B4-BE49-F238E27FC236}">
                <a16:creationId xmlns:a16="http://schemas.microsoft.com/office/drawing/2014/main" id="{084BE3C4-AA08-4E15-AF98-1E5C9B3AE7D2}"/>
              </a:ext>
            </a:extLst>
          </p:cNvPr>
          <p:cNvSpPr/>
          <p:nvPr/>
        </p:nvSpPr>
        <p:spPr>
          <a:xfrm>
            <a:off x="4711535" y="2072918"/>
            <a:ext cx="6787436"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4</a:t>
            </a:r>
            <a:r>
              <a:rPr lang="zh-CN" altLang="en-US" sz="4000" b="1" kern="100" dirty="0">
                <a:solidFill>
                  <a:prstClr val="white"/>
                </a:solidFill>
                <a:latin typeface="微软雅黑 Light"/>
                <a:ea typeface="微软雅黑 Light"/>
                <a:cs typeface="Times New Roman" panose="02020603050405020304" pitchFamily="18" charset="0"/>
              </a:rPr>
              <a:t>節 高級操作系統保護方案</a:t>
            </a:r>
          </a:p>
        </p:txBody>
      </p:sp>
      <p:pic>
        <p:nvPicPr>
          <p:cNvPr id="30" name="图片 29">
            <a:extLst>
              <a:ext uri="{FF2B5EF4-FFF2-40B4-BE49-F238E27FC236}">
                <a16:creationId xmlns:a16="http://schemas.microsoft.com/office/drawing/2014/main" id="{1E2ECBAE-53DF-4E19-8BF1-FD74ABC20F97}"/>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
        <p:nvSpPr>
          <p:cNvPr id="4" name="Footer Placeholder 3">
            <a:extLst>
              <a:ext uri="{FF2B5EF4-FFF2-40B4-BE49-F238E27FC236}">
                <a16:creationId xmlns:a16="http://schemas.microsoft.com/office/drawing/2014/main" id="{4388AA8B-0792-148B-D123-0A3E254CA336}"/>
              </a:ext>
            </a:extLst>
          </p:cNvPr>
          <p:cNvSpPr>
            <a:spLocks noGrp="1"/>
          </p:cNvSpPr>
          <p:nvPr>
            <p:ph type="ftr" sz="quarter" idx="4294967295"/>
          </p:nvPr>
        </p:nvSpPr>
        <p:spPr>
          <a:xfrm>
            <a:off x="4038600" y="6356350"/>
            <a:ext cx="4114800" cy="365125"/>
          </a:xfrm>
        </p:spPr>
        <p:txBody>
          <a:bodyPr/>
          <a:lstStyle/>
          <a:p>
            <a:endParaRPr kumimoji="1" lang="zh-CN" altLang="en-US"/>
          </a:p>
        </p:txBody>
      </p:sp>
      <p:sp>
        <p:nvSpPr>
          <p:cNvPr id="2" name="Slide Number Placeholder 7">
            <a:extLst>
              <a:ext uri="{FF2B5EF4-FFF2-40B4-BE49-F238E27FC236}">
                <a16:creationId xmlns:a16="http://schemas.microsoft.com/office/drawing/2014/main" id="{682A3990-65CB-8670-A508-36E3AEB1B2CE}"/>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102</a:t>
            </a:fld>
            <a:endParaRPr lang="zh-CN" altLang="en-US" sz="1200" dirty="0">
              <a:solidFill>
                <a:schemeClr val="tx1">
                  <a:tint val="75000"/>
                </a:schemeClr>
              </a:solidFill>
            </a:endParaRPr>
          </a:p>
        </p:txBody>
      </p:sp>
    </p:spTree>
    <p:extLst>
      <p:ext uri="{BB962C8B-B14F-4D97-AF65-F5344CB8AC3E}">
        <p14:creationId xmlns:p14="http://schemas.microsoft.com/office/powerpoint/2010/main" val="369582052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信息流控制</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322890"/>
            <a:ext cx="11008610"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信息流控制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Information Flow Control</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）是一種操作系統</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訪問權限控制方案（</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Access Control</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 name="直接连接符 3">
            <a:extLst>
              <a:ext uri="{FF2B5EF4-FFF2-40B4-BE49-F238E27FC236}">
                <a16:creationId xmlns:a16="http://schemas.microsoft.com/office/drawing/2014/main" id="{AB3BB5F4-88DF-481D-9FDD-524738BA76AF}"/>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1C95E22C-B29D-454D-BE77-E8E0A7F645DC}"/>
              </a:ext>
            </a:extLst>
          </p:cNvPr>
          <p:cNvSpPr txBox="1"/>
          <p:nvPr/>
        </p:nvSpPr>
        <p:spPr>
          <a:xfrm>
            <a:off x="561974" y="6235648"/>
            <a:ext cx="1100861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Nickolai</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Zeldovich</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"Making information flow explicit in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HiStar</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In Proc. of the 7th OSDI, 2006.</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Nickolai</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Zeldovich</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"Securing Distributed Systems with Information Flow Control. " In NSDI 2008.</a:t>
            </a:r>
          </a:p>
        </p:txBody>
      </p:sp>
      <p:sp>
        <p:nvSpPr>
          <p:cNvPr id="7" name="矩形 6">
            <a:extLst>
              <a:ext uri="{FF2B5EF4-FFF2-40B4-BE49-F238E27FC236}">
                <a16:creationId xmlns:a16="http://schemas.microsoft.com/office/drawing/2014/main" id="{A25A2BA9-7F73-4252-BFBE-03E261A9ED41}"/>
              </a:ext>
            </a:extLst>
          </p:cNvPr>
          <p:cNvSpPr/>
          <p:nvPr/>
        </p:nvSpPr>
        <p:spPr bwMode="auto">
          <a:xfrm>
            <a:off x="1037633" y="2866390"/>
            <a:ext cx="10245799" cy="45719"/>
          </a:xfrm>
          <a:prstGeom prst="rect">
            <a:avLst/>
          </a:prstGeom>
          <a:solidFill>
            <a:srgbClr val="4A8AF5"/>
          </a:solidFill>
          <a:ln w="38100">
            <a:noFill/>
          </a:ln>
          <a:effectLst>
            <a:outerShdw blurRad="381000" dist="190500" dir="5400000" sx="90000" sy="90000" algn="t" rotWithShape="0">
              <a:schemeClr val="tx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180000" bIns="0" anchor="ctr"/>
          <a:lstStyle/>
          <a:p>
            <a:pPr algn="ctr">
              <a:defRPr/>
            </a:pPr>
            <a:endParaRPr kumimoji="0" lang="en-US" sz="2000" kern="0" dirty="0">
              <a:solidFill>
                <a:srgbClr val="FFFFFF"/>
              </a:solidFill>
              <a:sym typeface="Arial" panose="020B0604020202020204" pitchFamily="34" charset="0"/>
            </a:endParaRPr>
          </a:p>
        </p:txBody>
      </p:sp>
      <p:cxnSp>
        <p:nvCxnSpPr>
          <p:cNvPr id="8" name="直线连接符 11">
            <a:extLst>
              <a:ext uri="{FF2B5EF4-FFF2-40B4-BE49-F238E27FC236}">
                <a16:creationId xmlns:a16="http://schemas.microsoft.com/office/drawing/2014/main" id="{201B433A-59C1-413B-9CDA-9C0E825E6C99}"/>
              </a:ext>
            </a:extLst>
          </p:cNvPr>
          <p:cNvCxnSpPr>
            <a:cxnSpLocks/>
          </p:cNvCxnSpPr>
          <p:nvPr/>
        </p:nvCxnSpPr>
        <p:spPr>
          <a:xfrm>
            <a:off x="1037634" y="4162532"/>
            <a:ext cx="10245798"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文本框 14">
            <a:extLst>
              <a:ext uri="{FF2B5EF4-FFF2-40B4-BE49-F238E27FC236}">
                <a16:creationId xmlns:a16="http://schemas.microsoft.com/office/drawing/2014/main" id="{2E86101C-AD18-471D-8068-67A5C2F547F9}"/>
              </a:ext>
            </a:extLst>
          </p:cNvPr>
          <p:cNvSpPr txBox="1"/>
          <p:nvPr/>
        </p:nvSpPr>
        <p:spPr>
          <a:xfrm>
            <a:off x="969042" y="3014999"/>
            <a:ext cx="10384758"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操作系統可以利用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控制進程訪問數據的能力</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endPar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分布式操作系統可以使用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控制節點間信息交換的能力</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14">
            <a:extLst>
              <a:ext uri="{FF2B5EF4-FFF2-40B4-BE49-F238E27FC236}">
                <a16:creationId xmlns:a16="http://schemas.microsoft.com/office/drawing/2014/main" id="{4AF0933B-6189-46B3-93D8-C55790279060}"/>
              </a:ext>
            </a:extLst>
          </p:cNvPr>
          <p:cNvSpPr txBox="1"/>
          <p:nvPr/>
        </p:nvSpPr>
        <p:spPr>
          <a:xfrm>
            <a:off x="561974" y="4532159"/>
            <a:ext cx="11008610"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即便程控制流被劫持，</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可以保證受害進程</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無法具備正常執行之外的能力</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；例如，訪問文件系統中的密鑰對，調用操作系統的網絡服務</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Slide Number Placeholder 7">
            <a:extLst>
              <a:ext uri="{FF2B5EF4-FFF2-40B4-BE49-F238E27FC236}">
                <a16:creationId xmlns:a16="http://schemas.microsoft.com/office/drawing/2014/main" id="{3A105713-881F-5F67-7239-E437281DAD2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103</a:t>
            </a:fld>
            <a:endParaRPr lang="zh-CN" altLang="en-US" sz="1200" dirty="0">
              <a:solidFill>
                <a:schemeClr val="tx1">
                  <a:tint val="75000"/>
                </a:schemeClr>
              </a:solidFill>
            </a:endParaRPr>
          </a:p>
        </p:txBody>
      </p:sp>
    </p:spTree>
    <p:extLst>
      <p:ext uri="{BB962C8B-B14F-4D97-AF65-F5344CB8AC3E}">
        <p14:creationId xmlns:p14="http://schemas.microsoft.com/office/powerpoint/2010/main" val="251128368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0">
            <a:extLst>
              <a:ext uri="{FF2B5EF4-FFF2-40B4-BE49-F238E27FC236}">
                <a16:creationId xmlns:a16="http://schemas.microsoft.com/office/drawing/2014/main" id="{357B7F8A-F8E4-D1ED-E2B5-28D0AEEA9096}"/>
              </a:ext>
            </a:extLst>
          </p:cNvPr>
          <p:cNvSpPr>
            <a:spLocks/>
          </p:cNvSpPr>
          <p:nvPr/>
        </p:nvSpPr>
        <p:spPr bwMode="auto">
          <a:xfrm>
            <a:off x="3009312" y="4863845"/>
            <a:ext cx="6425971" cy="118649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信息流控制</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322890"/>
            <a:ext cx="11008610"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信息流控制的三要素：</a:t>
            </a: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約束：調用服務或訪問數據需要滿足什麽樣的要求，需要有什麽權限才可訪問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&gt; 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中以</a:t>
            </a:r>
            <a:r>
              <a:rPr kumimoji="1" lang="en-US" altLang="zh-CN" sz="2400" u="sng"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Label</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的形式體現</a:t>
            </a: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權限：標志進程具有哪些被賦予的權限，</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中權限可以</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動態獲取</a:t>
            </a:r>
            <a:endParaRPr kumimoji="1" lang="en-US" altLang="zh-CN"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&gt; 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中以</a:t>
            </a:r>
            <a:r>
              <a:rPr kumimoji="1" lang="en-US" altLang="zh-CN" sz="2400" u="sng"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Ownership</a:t>
            </a:r>
            <a:r>
              <a:rPr kumimoji="1" lang="en-US" altLang="zh-CN" sz="2400" u="sng" baseline="30000"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的形式體現</a:t>
            </a: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屬性：</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權限</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kumimoji="1" lang="zh-CN" altLang="en-US" sz="2400"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約束</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當中包含的單元，是訪問能力的元數據形式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&gt; 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中以</a:t>
            </a:r>
            <a:r>
              <a:rPr kumimoji="1" lang="en-US" altLang="zh-CN" sz="2400" u="sng" dirty="0">
                <a:solidFill>
                  <a:srgbClr val="002060"/>
                </a:solidFill>
                <a:latin typeface="微软雅黑" panose="020B0503020204020204" pitchFamily="34" charset="-122"/>
                <a:ea typeface="微软雅黑" panose="020B0503020204020204" pitchFamily="34" charset="-122"/>
                <a:cs typeface="Times New Roman" panose="02020603050405020304" pitchFamily="18" charset="0"/>
              </a:rPr>
              <a:t>Categories</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的形式體現</a:t>
            </a:r>
          </a:p>
        </p:txBody>
      </p:sp>
      <p:cxnSp>
        <p:nvCxnSpPr>
          <p:cNvPr id="4" name="直接连接符 3">
            <a:extLst>
              <a:ext uri="{FF2B5EF4-FFF2-40B4-BE49-F238E27FC236}">
                <a16:creationId xmlns:a16="http://schemas.microsoft.com/office/drawing/2014/main" id="{AB3BB5F4-88DF-481D-9FDD-524738BA76AF}"/>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1C95E22C-B29D-454D-BE77-E8E0A7F645DC}"/>
              </a:ext>
            </a:extLst>
          </p:cNvPr>
          <p:cNvSpPr txBox="1"/>
          <p:nvPr/>
        </p:nvSpPr>
        <p:spPr>
          <a:xfrm>
            <a:off x="561974" y="6235648"/>
            <a:ext cx="5472000" cy="307777"/>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部分文獻亦稱之爲</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privilege</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，與</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Ownership</a:t>
            </a:r>
            <a:r>
              <a:rPr kumimoji="1" lang="zh-CN" altLang="en-US"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完全等價</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14">
            <a:extLst>
              <a:ext uri="{FF2B5EF4-FFF2-40B4-BE49-F238E27FC236}">
                <a16:creationId xmlns:a16="http://schemas.microsoft.com/office/drawing/2014/main" id="{09AD7F59-0F82-4957-B966-C90CD84083F1}"/>
              </a:ext>
            </a:extLst>
          </p:cNvPr>
          <p:cNvSpPr txBox="1"/>
          <p:nvPr/>
        </p:nvSpPr>
        <p:spPr>
          <a:xfrm>
            <a:off x="3009312" y="4857890"/>
            <a:ext cx="6425971"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信息流可流動的條件是：</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進程的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權限</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滿足</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約束</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對其中全部</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屬性</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的要求</a:t>
            </a:r>
          </a:p>
        </p:txBody>
      </p:sp>
      <p:sp>
        <p:nvSpPr>
          <p:cNvPr id="7" name="Slide Number Placeholder 7">
            <a:extLst>
              <a:ext uri="{FF2B5EF4-FFF2-40B4-BE49-F238E27FC236}">
                <a16:creationId xmlns:a16="http://schemas.microsoft.com/office/drawing/2014/main" id="{42DF685C-B225-DBF2-46FC-50C1426FE271}"/>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104</a:t>
            </a:fld>
            <a:endParaRPr lang="zh-CN" altLang="en-US" sz="1200" dirty="0">
              <a:solidFill>
                <a:schemeClr val="tx1">
                  <a:tint val="75000"/>
                </a:schemeClr>
              </a:solidFill>
            </a:endParaRPr>
          </a:p>
        </p:txBody>
      </p:sp>
    </p:spTree>
    <p:extLst>
      <p:ext uri="{BB962C8B-B14F-4D97-AF65-F5344CB8AC3E}">
        <p14:creationId xmlns:p14="http://schemas.microsoft.com/office/powerpoint/2010/main" val="115972491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信息流控制舉例</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0" y="1136371"/>
            <a:ext cx="5917771"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舉例：</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信息流控制對</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SSL/TLS</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鏈接建立的約束：</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27" name="直接箭头连接符 26">
            <a:extLst>
              <a:ext uri="{FF2B5EF4-FFF2-40B4-BE49-F238E27FC236}">
                <a16:creationId xmlns:a16="http://schemas.microsoft.com/office/drawing/2014/main" id="{8E6A09C1-6313-463F-9642-017F727B64F3}"/>
              </a:ext>
            </a:extLst>
          </p:cNvPr>
          <p:cNvCxnSpPr/>
          <p:nvPr/>
        </p:nvCxnSpPr>
        <p:spPr>
          <a:xfrm>
            <a:off x="15085325" y="6040272"/>
            <a:ext cx="0" cy="27954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CE9272AE-72DD-8CA5-5297-00346AC6F45D}"/>
              </a:ext>
            </a:extLst>
          </p:cNvPr>
          <p:cNvPicPr>
            <a:picLocks noChangeAspect="1"/>
          </p:cNvPicPr>
          <p:nvPr/>
        </p:nvPicPr>
        <p:blipFill>
          <a:blip r:embed="rId3"/>
          <a:stretch>
            <a:fillRect/>
          </a:stretch>
        </p:blipFill>
        <p:spPr>
          <a:xfrm>
            <a:off x="1581558" y="2629762"/>
            <a:ext cx="9678515" cy="3690052"/>
          </a:xfrm>
          <a:prstGeom prst="rect">
            <a:avLst/>
          </a:prstGeom>
        </p:spPr>
      </p:pic>
      <p:sp>
        <p:nvSpPr>
          <p:cNvPr id="3" name="Slide Number Placeholder 7">
            <a:extLst>
              <a:ext uri="{FF2B5EF4-FFF2-40B4-BE49-F238E27FC236}">
                <a16:creationId xmlns:a16="http://schemas.microsoft.com/office/drawing/2014/main" id="{3FF27982-36FB-F1BA-62B1-18BB3098A17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105</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3019013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10">
            <a:extLst>
              <a:ext uri="{FF2B5EF4-FFF2-40B4-BE49-F238E27FC236}">
                <a16:creationId xmlns:a16="http://schemas.microsoft.com/office/drawing/2014/main" id="{A7C16C1D-9983-BEEE-FE3A-3E1684BAAF9D}"/>
              </a:ext>
            </a:extLst>
          </p:cNvPr>
          <p:cNvSpPr>
            <a:spLocks/>
          </p:cNvSpPr>
          <p:nvPr/>
        </p:nvSpPr>
        <p:spPr bwMode="auto">
          <a:xfrm>
            <a:off x="1999621" y="2998046"/>
            <a:ext cx="8450665" cy="1186490"/>
          </a:xfrm>
          <a:prstGeom prst="rect">
            <a:avLst/>
          </a:prstGeom>
          <a:solidFill>
            <a:schemeClr val="bg1"/>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p>
            <a:pPr algn="just">
              <a:lnSpc>
                <a:spcPct val="125000"/>
              </a:lnSpc>
            </a:pPr>
            <a:endParaRPr lang="en-US" sz="1600" kern="0" dirty="0">
              <a:solidFill>
                <a:srgbClr val="000000"/>
              </a:solidFill>
              <a:ea typeface="微软雅黑" panose="020B0503020204020204" pitchFamily="34" charset="-122"/>
              <a:sym typeface="Arial" panose="020B0604020202020204" pitchFamily="34" charset="0"/>
            </a:endParaRPr>
          </a:p>
        </p:txBody>
      </p:sp>
      <p:sp>
        <p:nvSpPr>
          <p:cNvPr id="2" name="标题 1">
            <a:extLst>
              <a:ext uri="{FF2B5EF4-FFF2-40B4-BE49-F238E27FC236}">
                <a16:creationId xmlns:a16="http://schemas.microsoft.com/office/drawing/2014/main" id="{C886B0DD-7CC6-EA45-81E3-6AB61DD96026}"/>
              </a:ext>
            </a:extLst>
          </p:cNvPr>
          <p:cNvSpPr>
            <a:spLocks noGrp="1"/>
          </p:cNvSpPr>
          <p:nvPr>
            <p:ph type="title"/>
          </p:nvPr>
        </p:nvSpPr>
        <p:spPr/>
        <p:txBody>
          <a:bodyPr/>
          <a:lstStyle/>
          <a:p>
            <a:r>
              <a:rPr kumimoji="1" lang="zh-CN" altLang="en-US" dirty="0"/>
              <a:t>對信息流控制的評論</a:t>
            </a:r>
          </a:p>
        </p:txBody>
      </p:sp>
      <p:sp>
        <p:nvSpPr>
          <p:cNvPr id="39" name="文本框 14">
            <a:extLst>
              <a:ext uri="{FF2B5EF4-FFF2-40B4-BE49-F238E27FC236}">
                <a16:creationId xmlns:a16="http://schemas.microsoft.com/office/drawing/2014/main" id="{63B5497B-2EB2-478F-A4F2-9F4C8EDF7123}"/>
              </a:ext>
            </a:extLst>
          </p:cNvPr>
          <p:cNvSpPr txBox="1"/>
          <p:nvPr/>
        </p:nvSpPr>
        <p:spPr>
          <a:xfrm>
            <a:off x="492511" y="1322890"/>
            <a:ext cx="11008610" cy="143513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信息流控制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解决的根本問題是</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訪問控制</a:t>
            </a:r>
            <a:endPar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信息流控制</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缺陷是：</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是否生效嚴重依賴于配置的正確性；</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的三要素：權限、屬性、約束都需要具體問題具體分析得到</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cxnSp>
        <p:nvCxnSpPr>
          <p:cNvPr id="4" name="直接连接符 3">
            <a:extLst>
              <a:ext uri="{FF2B5EF4-FFF2-40B4-BE49-F238E27FC236}">
                <a16:creationId xmlns:a16="http://schemas.microsoft.com/office/drawing/2014/main" id="{AB3BB5F4-88DF-481D-9FDD-524738BA76AF}"/>
              </a:ext>
            </a:extLst>
          </p:cNvPr>
          <p:cNvCxnSpPr>
            <a:cxnSpLocks/>
          </p:cNvCxnSpPr>
          <p:nvPr/>
        </p:nvCxnSpPr>
        <p:spPr>
          <a:xfrm>
            <a:off x="561975" y="6223861"/>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1C95E22C-B29D-454D-BE77-E8E0A7F645DC}"/>
              </a:ext>
            </a:extLst>
          </p:cNvPr>
          <p:cNvSpPr txBox="1"/>
          <p:nvPr/>
        </p:nvSpPr>
        <p:spPr>
          <a:xfrm>
            <a:off x="561974" y="6235648"/>
            <a:ext cx="11008610"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sz="1400" b="0" i="0" dirty="0">
                <a:solidFill>
                  <a:srgbClr val="222222"/>
                </a:solidFill>
                <a:effectLst/>
                <a:latin typeface="Arial" panose="020B0604020202020204" pitchFamily="34" charset="0"/>
              </a:rPr>
              <a:t>Maxwell </a:t>
            </a:r>
            <a:r>
              <a:rPr lang="en-US" altLang="zh-CN" sz="1400" b="0" i="0" dirty="0" err="1">
                <a:solidFill>
                  <a:srgbClr val="222222"/>
                </a:solidFill>
                <a:effectLst/>
                <a:latin typeface="Arial" panose="020B0604020202020204" pitchFamily="34" charset="0"/>
              </a:rPr>
              <a:t>Krohn</a:t>
            </a:r>
            <a:r>
              <a:rPr lang="en-US" altLang="zh-CN" sz="1400" b="0" i="0" dirty="0">
                <a:solidFill>
                  <a:srgbClr val="222222"/>
                </a:solidFill>
                <a:effectLst/>
                <a:latin typeface="Arial" panose="020B0604020202020204" pitchFamily="34" charset="0"/>
              </a:rPr>
              <a:t>, et al</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b="0" i="0" dirty="0">
                <a:solidFill>
                  <a:srgbClr val="222222"/>
                </a:solidFill>
                <a:effectLst/>
                <a:latin typeface="Arial" panose="020B0604020202020204" pitchFamily="34" charset="0"/>
              </a:rPr>
              <a:t>"Information flow control for standard OS abstractions."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Proc. of the 21st SOSP, 2007.</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Sven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Hammann</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a:t>
            </a:r>
            <a:r>
              <a:rPr lang="en-US" altLang="zh-CN" sz="1400" b="0" i="0" dirty="0">
                <a:solidFill>
                  <a:srgbClr val="222222"/>
                </a:solidFill>
                <a:effectLst/>
                <a:latin typeface="Arial" panose="020B0604020202020204" pitchFamily="34" charset="0"/>
              </a:rPr>
              <a:t>"</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User Account Access Graphs.</a:t>
            </a:r>
            <a:r>
              <a:rPr lang="en-US" altLang="zh-CN" sz="1400" b="0" i="0" dirty="0">
                <a:solidFill>
                  <a:srgbClr val="222222"/>
                </a:solidFill>
                <a:effectLst/>
                <a:latin typeface="Arial" panose="020B0604020202020204" pitchFamily="34" charset="0"/>
              </a:rPr>
              <a:t>"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 Proc. of CCS, 2019.</a:t>
            </a:r>
          </a:p>
        </p:txBody>
      </p:sp>
      <p:sp>
        <p:nvSpPr>
          <p:cNvPr id="10" name="文本框 14">
            <a:extLst>
              <a:ext uri="{FF2B5EF4-FFF2-40B4-BE49-F238E27FC236}">
                <a16:creationId xmlns:a16="http://schemas.microsoft.com/office/drawing/2014/main" id="{4AF0933B-6189-46B3-93D8-C55790279060}"/>
              </a:ext>
            </a:extLst>
          </p:cNvPr>
          <p:cNvSpPr txBox="1"/>
          <p:nvPr/>
        </p:nvSpPr>
        <p:spPr>
          <a:xfrm>
            <a:off x="492511" y="4706225"/>
            <a:ext cx="11008610" cy="973472"/>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借助屬性、標簽、構建圖結構的方法啓發了權限管理的後續工作：例如，</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User Account Access Graphs</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應用了類似的思想于賬戶權限管理</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 name="文本框 14">
            <a:extLst>
              <a:ext uri="{FF2B5EF4-FFF2-40B4-BE49-F238E27FC236}">
                <a16:creationId xmlns:a16="http://schemas.microsoft.com/office/drawing/2014/main" id="{C745F91F-2A96-4E82-BFFB-FB598D9DA3C4}"/>
              </a:ext>
            </a:extLst>
          </p:cNvPr>
          <p:cNvSpPr txBox="1"/>
          <p:nvPr/>
        </p:nvSpPr>
        <p:spPr>
          <a:xfrm>
            <a:off x="1851796" y="3037299"/>
            <a:ext cx="8781584" cy="973472"/>
          </a:xfrm>
          <a:prstGeom prst="rect">
            <a:avLst/>
          </a:prstGeom>
          <a:noFill/>
        </p:spPr>
        <p:txBody>
          <a:bodyPr wrap="square" rtlCol="0">
            <a:spAutoFit/>
          </a:bodyPr>
          <a:lstStyle/>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適用于現代操作系統的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2007</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年被提出</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p>
          <a:p>
            <a:pPr marL="0" marR="0" lvl="0" indent="0" algn="ctr"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因爲配置的複雜性，之後的十餘年當中</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IFC</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幷沒有被廣泛普及</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Slide Number Placeholder 7">
            <a:extLst>
              <a:ext uri="{FF2B5EF4-FFF2-40B4-BE49-F238E27FC236}">
                <a16:creationId xmlns:a16="http://schemas.microsoft.com/office/drawing/2014/main" id="{1C24F4AA-0D2C-C655-FA66-BDF93806D525}"/>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106</a:t>
            </a:fld>
            <a:endParaRPr lang="zh-CN" altLang="en-US" sz="1200" dirty="0">
              <a:solidFill>
                <a:schemeClr val="tx1">
                  <a:tint val="75000"/>
                </a:schemeClr>
              </a:solidFill>
            </a:endParaRPr>
          </a:p>
        </p:txBody>
      </p:sp>
    </p:spTree>
    <p:extLst>
      <p:ext uri="{BB962C8B-B14F-4D97-AF65-F5344CB8AC3E}">
        <p14:creationId xmlns:p14="http://schemas.microsoft.com/office/powerpoint/2010/main" val="313705898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5">
            <a:extLst>
              <a:ext uri="{FF2B5EF4-FFF2-40B4-BE49-F238E27FC236}">
                <a16:creationId xmlns:a16="http://schemas.microsoft.com/office/drawing/2014/main" id="{9187962C-E72B-5E4F-98D2-66120C3980D0}"/>
              </a:ext>
            </a:extLst>
          </p:cNvPr>
          <p:cNvGrpSpPr/>
          <p:nvPr/>
        </p:nvGrpSpPr>
        <p:grpSpPr>
          <a:xfrm>
            <a:off x="5750715" y="3947218"/>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2" name="Oval 6">
              <a:extLst>
                <a:ext uri="{FF2B5EF4-FFF2-40B4-BE49-F238E27FC236}">
                  <a16:creationId xmlns:a16="http://schemas.microsoft.com/office/drawing/2014/main" id="{813A4F59-52D9-EC4A-B6EB-B8CEE28499BE}"/>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3" name="Freeform 7">
              <a:extLst>
                <a:ext uri="{FF2B5EF4-FFF2-40B4-BE49-F238E27FC236}">
                  <a16:creationId xmlns:a16="http://schemas.microsoft.com/office/drawing/2014/main" id="{B5069DC5-5EB6-6944-A8C6-159C655E3347}"/>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4" name="TextBox 9">
            <a:extLst>
              <a:ext uri="{FF2B5EF4-FFF2-40B4-BE49-F238E27FC236}">
                <a16:creationId xmlns:a16="http://schemas.microsoft.com/office/drawing/2014/main" id="{6F77299C-A929-514C-B1C6-AE630D4B5D8A}"/>
              </a:ext>
            </a:extLst>
          </p:cNvPr>
          <p:cNvSpPr txBox="1">
            <a:spLocks noChangeArrowheads="1"/>
          </p:cNvSpPr>
          <p:nvPr/>
        </p:nvSpPr>
        <p:spPr bwMode="auto">
          <a:xfrm>
            <a:off x="6209111" y="3920372"/>
            <a:ext cx="3174267"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4.1 </a:t>
            </a:r>
            <a:r>
              <a:rPr lang="zh-CN" altLang="en-US" sz="2400" dirty="0">
                <a:latin typeface="Microsoft YaHei" panose="020B0503020204020204" pitchFamily="34" charset="-122"/>
                <a:ea typeface="Microsoft YaHei" panose="020B0503020204020204" pitchFamily="34" charset="-122"/>
              </a:rPr>
              <a:t>控制流完整性保護</a:t>
            </a:r>
          </a:p>
        </p:txBody>
      </p:sp>
      <p:grpSp>
        <p:nvGrpSpPr>
          <p:cNvPr id="15" name="Group 11">
            <a:extLst>
              <a:ext uri="{FF2B5EF4-FFF2-40B4-BE49-F238E27FC236}">
                <a16:creationId xmlns:a16="http://schemas.microsoft.com/office/drawing/2014/main" id="{9F98EE15-845B-254E-A021-61B49B0DED6D}"/>
              </a:ext>
            </a:extLst>
          </p:cNvPr>
          <p:cNvGrpSpPr/>
          <p:nvPr/>
        </p:nvGrpSpPr>
        <p:grpSpPr>
          <a:xfrm>
            <a:off x="5750715" y="4590194"/>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16" name="Oval 12">
              <a:extLst>
                <a:ext uri="{FF2B5EF4-FFF2-40B4-BE49-F238E27FC236}">
                  <a16:creationId xmlns:a16="http://schemas.microsoft.com/office/drawing/2014/main" id="{B414AED9-8400-2C4A-B44E-37903B5A188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17" name="Freeform 13">
              <a:extLst>
                <a:ext uri="{FF2B5EF4-FFF2-40B4-BE49-F238E27FC236}">
                  <a16:creationId xmlns:a16="http://schemas.microsoft.com/office/drawing/2014/main" id="{2A6B59AF-1DCD-CE49-A3FA-58CAC0CC7B52}"/>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18" name="TextBox 15">
            <a:extLst>
              <a:ext uri="{FF2B5EF4-FFF2-40B4-BE49-F238E27FC236}">
                <a16:creationId xmlns:a16="http://schemas.microsoft.com/office/drawing/2014/main" id="{CCEB6F01-CB7A-6446-AC15-77EEA0CA2A5F}"/>
              </a:ext>
            </a:extLst>
          </p:cNvPr>
          <p:cNvSpPr txBox="1">
            <a:spLocks noChangeArrowheads="1"/>
          </p:cNvSpPr>
          <p:nvPr/>
        </p:nvSpPr>
        <p:spPr bwMode="auto">
          <a:xfrm>
            <a:off x="6209111" y="4566548"/>
            <a:ext cx="2866490" cy="461665"/>
          </a:xfrm>
          <a:prstGeom prst="rect">
            <a:avLst/>
          </a:prstGeom>
          <a:noFill/>
          <a:ln w="9525">
            <a:noFill/>
            <a:miter lim="800000"/>
            <a:headEnd/>
            <a:tailEnd/>
          </a:ln>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4.2 </a:t>
            </a:r>
            <a:r>
              <a:rPr lang="zh-CN" altLang="en-US" sz="2400" dirty="0">
                <a:latin typeface="Microsoft YaHei" panose="020B0503020204020204" pitchFamily="34" charset="-122"/>
                <a:ea typeface="Microsoft YaHei" panose="020B0503020204020204" pitchFamily="34" charset="-122"/>
              </a:rPr>
              <a:t>指針完整性保護</a:t>
            </a:r>
          </a:p>
        </p:txBody>
      </p:sp>
      <p:grpSp>
        <p:nvGrpSpPr>
          <p:cNvPr id="19" name="Group 17">
            <a:extLst>
              <a:ext uri="{FF2B5EF4-FFF2-40B4-BE49-F238E27FC236}">
                <a16:creationId xmlns:a16="http://schemas.microsoft.com/office/drawing/2014/main" id="{C0CDEAD3-DBB3-4242-A69D-77BA569617E3}"/>
              </a:ext>
            </a:extLst>
          </p:cNvPr>
          <p:cNvGrpSpPr/>
          <p:nvPr/>
        </p:nvGrpSpPr>
        <p:grpSpPr>
          <a:xfrm>
            <a:off x="5750715" y="526834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0" name="Oval 18">
              <a:extLst>
                <a:ext uri="{FF2B5EF4-FFF2-40B4-BE49-F238E27FC236}">
                  <a16:creationId xmlns:a16="http://schemas.microsoft.com/office/drawing/2014/main" id="{D5488C23-3E07-3748-BFC2-293105DA963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1" name="Freeform 19">
              <a:extLst>
                <a:ext uri="{FF2B5EF4-FFF2-40B4-BE49-F238E27FC236}">
                  <a16:creationId xmlns:a16="http://schemas.microsoft.com/office/drawing/2014/main" id="{D5352993-D913-7D4A-A239-B8E8580459A1}"/>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2" name="TextBox 21">
            <a:extLst>
              <a:ext uri="{FF2B5EF4-FFF2-40B4-BE49-F238E27FC236}">
                <a16:creationId xmlns:a16="http://schemas.microsoft.com/office/drawing/2014/main" id="{7508CF1C-C631-924B-86CC-ADC06615F169}"/>
              </a:ext>
            </a:extLst>
          </p:cNvPr>
          <p:cNvSpPr txBox="1"/>
          <p:nvPr/>
        </p:nvSpPr>
        <p:spPr bwMode="auto">
          <a:xfrm>
            <a:off x="6209110" y="5247894"/>
            <a:ext cx="2250937" cy="461665"/>
          </a:xfrm>
          <a:prstGeom prst="rect">
            <a:avLst/>
          </a:prstGeom>
          <a:noFill/>
        </p:spPr>
        <p:txBody>
          <a:bodyPr wrap="none">
            <a:spAutoFit/>
          </a:bodyPr>
          <a:lstStyle/>
          <a:p>
            <a:pPr>
              <a:defRPr/>
            </a:pPr>
            <a:r>
              <a:rPr lang="en-US" altLang="zh-CN" sz="2400" dirty="0">
                <a:latin typeface="Microsoft YaHei" panose="020B0503020204020204" pitchFamily="34" charset="-122"/>
                <a:ea typeface="Microsoft YaHei" panose="020B0503020204020204" pitchFamily="34" charset="-122"/>
              </a:rPr>
              <a:t>4.3 </a:t>
            </a:r>
            <a:r>
              <a:rPr lang="zh-CN" altLang="en-US" sz="2400" dirty="0">
                <a:latin typeface="Microsoft YaHei" panose="020B0503020204020204" pitchFamily="34" charset="-122"/>
                <a:ea typeface="Microsoft YaHei" panose="020B0503020204020204" pitchFamily="34" charset="-122"/>
              </a:rPr>
              <a:t>信息流控制</a:t>
            </a:r>
          </a:p>
        </p:txBody>
      </p:sp>
      <p:grpSp>
        <p:nvGrpSpPr>
          <p:cNvPr id="23" name="Group 11">
            <a:extLst>
              <a:ext uri="{FF2B5EF4-FFF2-40B4-BE49-F238E27FC236}">
                <a16:creationId xmlns:a16="http://schemas.microsoft.com/office/drawing/2014/main" id="{4E0B5B8F-92D4-4125-8C53-A02CE0D348E9}"/>
              </a:ext>
            </a:extLst>
          </p:cNvPr>
          <p:cNvGrpSpPr/>
          <p:nvPr/>
        </p:nvGrpSpPr>
        <p:grpSpPr>
          <a:xfrm>
            <a:off x="5750716" y="5913560"/>
            <a:ext cx="387116" cy="387116"/>
            <a:chOff x="1123642" y="1900296"/>
            <a:chExt cx="687003" cy="687003"/>
          </a:xfrm>
          <a:solidFill>
            <a:schemeClr val="bg1"/>
          </a:solidFill>
          <a:effectLst>
            <a:outerShdw blurRad="76200" dir="13500000" sy="23000" kx="1200000" algn="br" rotWithShape="0">
              <a:prstClr val="black">
                <a:alpha val="20000"/>
              </a:prstClr>
            </a:outerShdw>
          </a:effectLst>
        </p:grpSpPr>
        <p:sp>
          <p:nvSpPr>
            <p:cNvPr id="24" name="Oval 12">
              <a:extLst>
                <a:ext uri="{FF2B5EF4-FFF2-40B4-BE49-F238E27FC236}">
                  <a16:creationId xmlns:a16="http://schemas.microsoft.com/office/drawing/2014/main" id="{EB067F1E-66A5-4978-A278-895580A706F4}"/>
                </a:ext>
              </a:extLst>
            </p:cNvPr>
            <p:cNvSpPr/>
            <p:nvPr/>
          </p:nvSpPr>
          <p:spPr>
            <a:xfrm>
              <a:off x="1123642" y="1900296"/>
              <a:ext cx="687003" cy="687003"/>
            </a:xfrm>
            <a:prstGeom prst="ellipse">
              <a:avLst/>
            </a:prstGeom>
            <a:grp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3200">
                <a:solidFill>
                  <a:schemeClr val="tx1"/>
                </a:solidFill>
                <a:latin typeface="Microsoft YaHei" panose="020B0503020204020204" pitchFamily="34" charset="-122"/>
                <a:ea typeface="Microsoft YaHei" panose="020B0503020204020204" pitchFamily="34" charset="-122"/>
              </a:endParaRPr>
            </a:p>
          </p:txBody>
        </p:sp>
        <p:sp>
          <p:nvSpPr>
            <p:cNvPr id="25" name="Freeform 13">
              <a:extLst>
                <a:ext uri="{FF2B5EF4-FFF2-40B4-BE49-F238E27FC236}">
                  <a16:creationId xmlns:a16="http://schemas.microsoft.com/office/drawing/2014/main" id="{C64BE4D4-76DB-4070-995E-EA84AC67D7B4}"/>
                </a:ext>
              </a:extLst>
            </p:cNvPr>
            <p:cNvSpPr>
              <a:spLocks/>
            </p:cNvSpPr>
            <p:nvPr/>
          </p:nvSpPr>
          <p:spPr bwMode="auto">
            <a:xfrm>
              <a:off x="1328245" y="2099747"/>
              <a:ext cx="277795" cy="288100"/>
            </a:xfrm>
            <a:custGeom>
              <a:avLst/>
              <a:gdLst>
                <a:gd name="T0" fmla="*/ 103 w 274"/>
                <a:gd name="T1" fmla="*/ 284 h 284"/>
                <a:gd name="T2" fmla="*/ 80 w 274"/>
                <a:gd name="T3" fmla="*/ 273 h 284"/>
                <a:gd name="T4" fmla="*/ 9 w 274"/>
                <a:gd name="T5" fmla="*/ 178 h 284"/>
                <a:gd name="T6" fmla="*/ 14 w 274"/>
                <a:gd name="T7" fmla="*/ 139 h 284"/>
                <a:gd name="T8" fmla="*/ 53 w 274"/>
                <a:gd name="T9" fmla="*/ 145 h 284"/>
                <a:gd name="T10" fmla="*/ 100 w 274"/>
                <a:gd name="T11" fmla="*/ 207 h 284"/>
                <a:gd name="T12" fmla="*/ 219 w 274"/>
                <a:gd name="T13" fmla="*/ 17 h 284"/>
                <a:gd name="T14" fmla="*/ 257 w 274"/>
                <a:gd name="T15" fmla="*/ 8 h 284"/>
                <a:gd name="T16" fmla="*/ 266 w 274"/>
                <a:gd name="T17" fmla="*/ 47 h 284"/>
                <a:gd name="T18" fmla="*/ 126 w 274"/>
                <a:gd name="T19" fmla="*/ 271 h 284"/>
                <a:gd name="T20" fmla="*/ 104 w 274"/>
                <a:gd name="T21" fmla="*/ 284 h 284"/>
                <a:gd name="T22" fmla="*/ 103 w 274"/>
                <a:gd name="T23" fmla="*/ 28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74" h="284">
                  <a:moveTo>
                    <a:pt x="103" y="284"/>
                  </a:moveTo>
                  <a:cubicBezTo>
                    <a:pt x="94" y="284"/>
                    <a:pt x="86" y="280"/>
                    <a:pt x="80" y="273"/>
                  </a:cubicBezTo>
                  <a:cubicBezTo>
                    <a:pt x="9" y="178"/>
                    <a:pt x="9" y="178"/>
                    <a:pt x="9" y="178"/>
                  </a:cubicBezTo>
                  <a:cubicBezTo>
                    <a:pt x="0" y="166"/>
                    <a:pt x="2" y="149"/>
                    <a:pt x="14" y="139"/>
                  </a:cubicBezTo>
                  <a:cubicBezTo>
                    <a:pt x="27" y="130"/>
                    <a:pt x="44" y="133"/>
                    <a:pt x="53" y="145"/>
                  </a:cubicBezTo>
                  <a:cubicBezTo>
                    <a:pt x="100" y="207"/>
                    <a:pt x="100" y="207"/>
                    <a:pt x="100" y="207"/>
                  </a:cubicBezTo>
                  <a:cubicBezTo>
                    <a:pt x="219" y="17"/>
                    <a:pt x="219" y="17"/>
                    <a:pt x="219" y="17"/>
                  </a:cubicBezTo>
                  <a:cubicBezTo>
                    <a:pt x="227" y="4"/>
                    <a:pt x="244" y="0"/>
                    <a:pt x="257" y="8"/>
                  </a:cubicBezTo>
                  <a:cubicBezTo>
                    <a:pt x="270" y="16"/>
                    <a:pt x="274" y="33"/>
                    <a:pt x="266" y="47"/>
                  </a:cubicBezTo>
                  <a:cubicBezTo>
                    <a:pt x="126" y="271"/>
                    <a:pt x="126" y="271"/>
                    <a:pt x="126" y="271"/>
                  </a:cubicBezTo>
                  <a:cubicBezTo>
                    <a:pt x="121" y="279"/>
                    <a:pt x="113" y="283"/>
                    <a:pt x="104" y="284"/>
                  </a:cubicBezTo>
                  <a:cubicBezTo>
                    <a:pt x="104" y="284"/>
                    <a:pt x="103" y="284"/>
                    <a:pt x="103" y="284"/>
                  </a:cubicBezTo>
                  <a:close/>
                </a:path>
              </a:pathLst>
            </a:custGeom>
            <a:grpFill/>
            <a:ln>
              <a:solidFill>
                <a:schemeClr val="tx2"/>
              </a:solidFill>
            </a:ln>
          </p:spPr>
          <p:txBody>
            <a:bodyPr/>
            <a:lstStyle/>
            <a:p>
              <a:pPr>
                <a:defRPr/>
              </a:pPr>
              <a:endParaRPr lang="en-US" sz="3200" dirty="0">
                <a:latin typeface="Microsoft YaHei" panose="020B0503020204020204" pitchFamily="34" charset="-122"/>
                <a:ea typeface="Microsoft YaHei" panose="020B0503020204020204" pitchFamily="34" charset="-122"/>
              </a:endParaRPr>
            </a:p>
          </p:txBody>
        </p:sp>
      </p:grpSp>
      <p:sp>
        <p:nvSpPr>
          <p:cNvPr id="26" name="TextBox 15">
            <a:extLst>
              <a:ext uri="{FF2B5EF4-FFF2-40B4-BE49-F238E27FC236}">
                <a16:creationId xmlns:a16="http://schemas.microsoft.com/office/drawing/2014/main" id="{4D2E28FD-B0E4-4022-97B5-38418866C5E0}"/>
              </a:ext>
            </a:extLst>
          </p:cNvPr>
          <p:cNvSpPr txBox="1">
            <a:spLocks noChangeArrowheads="1"/>
          </p:cNvSpPr>
          <p:nvPr/>
        </p:nvSpPr>
        <p:spPr bwMode="auto">
          <a:xfrm>
            <a:off x="6209112" y="5889914"/>
            <a:ext cx="2781531" cy="461665"/>
          </a:xfrm>
          <a:prstGeom prst="rect">
            <a:avLst/>
          </a:prstGeom>
          <a:noFill/>
          <a:ln w="9525">
            <a:noFill/>
            <a:miter lim="800000"/>
            <a:headEnd/>
            <a:tailEnd/>
          </a:ln>
        </p:spPr>
        <p:txBody>
          <a:bodyPr wrap="none">
            <a:spAutoFit/>
          </a:bodyPr>
          <a:lstStyle/>
          <a:p>
            <a:pPr>
              <a:defRPr/>
            </a:pPr>
            <a:r>
              <a:rPr lang="en-US" altLang="zh-CN" sz="2400" b="1" dirty="0">
                <a:solidFill>
                  <a:srgbClr val="C00000"/>
                </a:solidFill>
                <a:latin typeface="Microsoft YaHei" panose="020B0503020204020204" pitchFamily="34" charset="-122"/>
                <a:ea typeface="Microsoft YaHei" panose="020B0503020204020204" pitchFamily="34" charset="-122"/>
              </a:rPr>
              <a:t>4.4 I/O</a:t>
            </a:r>
            <a:r>
              <a:rPr lang="zh-CN" altLang="en-US" sz="2400" b="1" dirty="0">
                <a:solidFill>
                  <a:srgbClr val="C00000"/>
                </a:solidFill>
                <a:latin typeface="Microsoft YaHei" panose="020B0503020204020204" pitchFamily="34" charset="-122"/>
                <a:ea typeface="Microsoft YaHei" panose="020B0503020204020204" pitchFamily="34" charset="-122"/>
              </a:rPr>
              <a:t>子系統保護</a:t>
            </a:r>
          </a:p>
        </p:txBody>
      </p:sp>
      <p:sp>
        <p:nvSpPr>
          <p:cNvPr id="27" name="矩形 26">
            <a:extLst>
              <a:ext uri="{FF2B5EF4-FFF2-40B4-BE49-F238E27FC236}">
                <a16:creationId xmlns:a16="http://schemas.microsoft.com/office/drawing/2014/main" id="{66C642B6-2DD2-484D-9258-3EEDA9ABC53F}"/>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8" name="矩形 27">
            <a:extLst>
              <a:ext uri="{FF2B5EF4-FFF2-40B4-BE49-F238E27FC236}">
                <a16:creationId xmlns:a16="http://schemas.microsoft.com/office/drawing/2014/main" id="{F1B21751-5951-40CB-95E3-B08367B1E504}"/>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29" name="矩形 28">
            <a:extLst>
              <a:ext uri="{FF2B5EF4-FFF2-40B4-BE49-F238E27FC236}">
                <a16:creationId xmlns:a16="http://schemas.microsoft.com/office/drawing/2014/main" id="{084BE3C4-AA08-4E15-AF98-1E5C9B3AE7D2}"/>
              </a:ext>
            </a:extLst>
          </p:cNvPr>
          <p:cNvSpPr/>
          <p:nvPr/>
        </p:nvSpPr>
        <p:spPr>
          <a:xfrm>
            <a:off x="4711535" y="2072918"/>
            <a:ext cx="6787436"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4</a:t>
            </a:r>
            <a:r>
              <a:rPr lang="zh-CN" altLang="en-US" sz="4000" b="1" kern="100" dirty="0">
                <a:solidFill>
                  <a:prstClr val="white"/>
                </a:solidFill>
                <a:latin typeface="微软雅黑 Light"/>
                <a:ea typeface="微软雅黑 Light"/>
                <a:cs typeface="Times New Roman" panose="02020603050405020304" pitchFamily="18" charset="0"/>
              </a:rPr>
              <a:t>節 高級操作系統保護方案</a:t>
            </a:r>
          </a:p>
        </p:txBody>
      </p:sp>
      <p:pic>
        <p:nvPicPr>
          <p:cNvPr id="30" name="图片 29">
            <a:extLst>
              <a:ext uri="{FF2B5EF4-FFF2-40B4-BE49-F238E27FC236}">
                <a16:creationId xmlns:a16="http://schemas.microsoft.com/office/drawing/2014/main" id="{1E2ECBAE-53DF-4E19-8BF1-FD74ABC20F97}"/>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69086999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253288"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子系統是操作系統一個</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重要而龐大</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的模塊，實現了網絡協議棧與一系列複雜的人機交互功能</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；有文獻證實，</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中</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子系統占據了超過</a:t>
            </a:r>
            <a:r>
              <a:rPr kumimoji="1" lang="en-US" altLang="zh-CN"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70%</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的代碼量</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在內核當中實現有</a:t>
            </a:r>
            <a:r>
              <a:rPr kumimoji="1" lang="en-US" altLang="zh-CN"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USB (Universal Serial Bus)</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藍牙 </a:t>
            </a:r>
            <a:r>
              <a:rPr kumimoji="1" lang="en-US" altLang="zh-CN"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b="0" i="0" u="sng"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BlueTooth</a:t>
            </a:r>
            <a:r>
              <a:rPr kumimoji="1" lang="en-US" altLang="zh-CN"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等一系列外設</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交互協議；</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也包含了完整的網絡協議棧，例如</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TCP/IP</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協議棧：</a:t>
            </a:r>
            <a:r>
              <a:rPr kumimoji="1" lang="en-US" altLang="zh-CN" sz="2400" b="0" i="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IPv4</a:t>
            </a:r>
            <a:r>
              <a:rPr kumimoji="1" lang="en-US" altLang="zh-CN"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kumimoji="1" lang="zh-CN" altLang="en-US"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ICMP</a:t>
            </a:r>
            <a:r>
              <a:rPr kumimoji="1" lang="zh-CN" altLang="en-US"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TCP</a:t>
            </a:r>
            <a:r>
              <a:rPr kumimoji="1" lang="zh-CN" altLang="en-US"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u="sng"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UDP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等一系列協議</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25">
            <a:extLst>
              <a:ext uri="{FF2B5EF4-FFF2-40B4-BE49-F238E27FC236}">
                <a16:creationId xmlns:a16="http://schemas.microsoft.com/office/drawing/2014/main" id="{C83042AC-6B35-4C0B-9E8A-D72CB0A59577}"/>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effectLst/>
                <a:uLnTx/>
                <a:uFillTx/>
                <a:latin typeface="微软雅黑"/>
                <a:ea typeface="微软雅黑"/>
                <a:cs typeface="+mn-cs"/>
              </a:rPr>
              <a:t>I/O </a:t>
            </a:r>
            <a:r>
              <a:rPr lang="zh-CN" altLang="en-US" sz="2800" b="1" dirty="0">
                <a:latin typeface="微软雅黑"/>
                <a:ea typeface="微软雅黑"/>
              </a:rPr>
              <a:t>子系統是操作系統的重要組成部分</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en-US" altLang="zh-CN" dirty="0"/>
              <a:t>I/O </a:t>
            </a:r>
            <a:r>
              <a:rPr lang="zh-CN" altLang="en-US" dirty="0"/>
              <a:t>子系統保護</a:t>
            </a:r>
          </a:p>
        </p:txBody>
      </p:sp>
      <p:sp>
        <p:nvSpPr>
          <p:cNvPr id="5" name="Rounded Rectangle 36">
            <a:extLst>
              <a:ext uri="{FF2B5EF4-FFF2-40B4-BE49-F238E27FC236}">
                <a16:creationId xmlns:a16="http://schemas.microsoft.com/office/drawing/2014/main" id="{61392384-671A-46BD-A495-C59F181353F4}"/>
              </a:ext>
            </a:extLst>
          </p:cNvPr>
          <p:cNvSpPr/>
          <p:nvPr/>
        </p:nvSpPr>
        <p:spPr>
          <a:xfrm>
            <a:off x="492508" y="5660793"/>
            <a:ext cx="11253289" cy="616915"/>
          </a:xfrm>
          <a:prstGeom prst="roundRect">
            <a:avLst>
              <a:gd name="adj" fmla="val 7260"/>
            </a:avLst>
          </a:prstGeom>
          <a:solidFill>
            <a:schemeClr val="accent3">
              <a:lumMod val="60000"/>
              <a:lumOff val="40000"/>
            </a:schemeClr>
          </a:solidFill>
          <a:ln w="19050">
            <a:solidFill>
              <a:schemeClr val="accent3">
                <a:lumMod val="60000"/>
                <a:lumOff val="40000"/>
              </a:schemeClr>
            </a:solidFill>
          </a:ln>
          <a:effectLst>
            <a:outerShdw blurRad="254000" dist="127000" dir="5400000" sx="90000" sy="90000" rotWithShape="0">
              <a:prstClr val="black">
                <a:alpha val="15000"/>
              </a:prstClr>
            </a:outerShdw>
            <a:reflection blurRad="6350" stA="52000" endA="300" endPos="35000" dir="5400000" sy="-100000" algn="bl" rotWithShape="0"/>
          </a:effectLst>
        </p:spPr>
        <p:txBody>
          <a:bodyPr lIns="144000" tIns="108000" rIns="90000" bIns="108000" anchor="ctr"/>
          <a:lstStyle/>
          <a:p>
            <a:pPr algn="ctr">
              <a:lnSpc>
                <a:spcPct val="130000"/>
              </a:lnSpc>
            </a:pPr>
            <a:r>
              <a:rPr kumimoji="1" lang="zh-CN" altLang="en-US" sz="2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針對</a:t>
            </a:r>
            <a:r>
              <a:rPr kumimoji="1" lang="en-US" altLang="zh-CN" sz="2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I/O</a:t>
            </a:r>
            <a:r>
              <a:rPr kumimoji="1" lang="zh-CN" altLang="en-US" sz="2400" b="1" dirty="0">
                <a:solidFill>
                  <a:schemeClr val="bg1"/>
                </a:solidFill>
                <a:latin typeface="Microsoft YaHei" panose="020B0503020204020204" pitchFamily="34" charset="-122"/>
                <a:ea typeface="Microsoft YaHei" panose="020B0503020204020204" pitchFamily="34" charset="-122"/>
                <a:sym typeface="Arial" panose="020B0604020202020204" pitchFamily="34" charset="0"/>
              </a:rPr>
              <a:t>子系統的攻擊的本質是：發掘通訊協議中的漏洞</a:t>
            </a:r>
          </a:p>
        </p:txBody>
      </p:sp>
      <p:sp>
        <p:nvSpPr>
          <p:cNvPr id="4" name="Slide Number Placeholder 7">
            <a:extLst>
              <a:ext uri="{FF2B5EF4-FFF2-40B4-BE49-F238E27FC236}">
                <a16:creationId xmlns:a16="http://schemas.microsoft.com/office/drawing/2014/main" id="{4038DC69-7B80-E44F-92BF-E6F26371ACAB}"/>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108</a:t>
            </a:fld>
            <a:endParaRPr lang="zh-CN" altLang="en-US" sz="1200" dirty="0">
              <a:solidFill>
                <a:schemeClr val="tx1">
                  <a:tint val="75000"/>
                </a:schemeClr>
              </a:solidFill>
            </a:endParaRPr>
          </a:p>
        </p:txBody>
      </p:sp>
    </p:spTree>
    <p:extLst>
      <p:ext uri="{BB962C8B-B14F-4D97-AF65-F5344CB8AC3E}">
        <p14:creationId xmlns:p14="http://schemas.microsoft.com/office/powerpoint/2010/main" val="401903163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253288"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針對</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a:t>
            </a:r>
            <a:r>
              <a:rPr kumimoji="1" lang="en-US" altLang="zh-CN" sz="2400" b="0" i="0" u="sng"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BadUSB</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攻擊允許外設執行其額外的服務功能，例如閃存可以向操作系統注册鍵盤的輸入輸出功能</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對于藍牙，</a:t>
            </a:r>
            <a:r>
              <a:rPr kumimoji="1" lang="en-US" altLang="zh-CN" sz="2400" b="0" i="0" u="sng"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BlueBrone</a:t>
            </a:r>
            <a:r>
              <a:rPr kumimoji="1" lang="en-US" altLang="zh-CN" sz="2400" b="0" i="0"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攻擊僞造惡意的藍牙通訊報文，實現了針對于操作系統內核藍牙協議的越界訪問攻擊；類似的有 </a:t>
            </a:r>
            <a:r>
              <a:rPr kumimoji="1" lang="en-US" altLang="zh-CN" sz="2400" b="0" i="0" u="sng"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BleedingBit</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攻擊方案</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對于</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NFC (Near Field Communication)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也有諸多類似的攻擊方案</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25">
            <a:extLst>
              <a:ext uri="{FF2B5EF4-FFF2-40B4-BE49-F238E27FC236}">
                <a16:creationId xmlns:a16="http://schemas.microsoft.com/office/drawing/2014/main" id="{C83042AC-6B35-4C0B-9E8A-D72CB0A59577}"/>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針對外設 </a:t>
            </a:r>
            <a:r>
              <a:rPr kumimoji="0" lang="en-US" altLang="zh-CN" sz="2800" b="1" i="0" u="none" strike="noStrike" kern="1200" cap="none" spc="0" normalizeH="0" baseline="0" noProof="0" dirty="0">
                <a:ln>
                  <a:noFill/>
                </a:ln>
                <a:effectLst/>
                <a:uLnTx/>
                <a:uFillTx/>
                <a:latin typeface="微软雅黑"/>
                <a:ea typeface="微软雅黑"/>
                <a:cs typeface="+mn-cs"/>
              </a:rPr>
              <a:t>I/O </a:t>
            </a:r>
            <a:r>
              <a:rPr kumimoji="0" lang="zh-CN" altLang="en-US" sz="2800" b="1" i="0" u="none" strike="noStrike" kern="1200" cap="none" spc="0" normalizeH="0" baseline="0" noProof="0" dirty="0">
                <a:ln>
                  <a:noFill/>
                </a:ln>
                <a:effectLst/>
                <a:uLnTx/>
                <a:uFillTx/>
                <a:latin typeface="微软雅黑"/>
                <a:ea typeface="微软雅黑"/>
                <a:cs typeface="+mn-cs"/>
              </a:rPr>
              <a:t>系統的</a:t>
            </a:r>
            <a:r>
              <a:rPr lang="zh-CN" altLang="en-US" sz="2800" b="1" dirty="0">
                <a:latin typeface="微软雅黑"/>
                <a:ea typeface="微软雅黑"/>
              </a:rPr>
              <a:t>攻擊方案示例</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en-US" altLang="zh-CN" dirty="0"/>
              <a:t>I/O </a:t>
            </a:r>
            <a:r>
              <a:rPr lang="zh-CN" altLang="en-US" dirty="0"/>
              <a:t>子系統保護</a:t>
            </a:r>
            <a:endParaRPr lang="zh-CN" altLang="en-US" dirty="0">
              <a:solidFill>
                <a:schemeClr val="tx1"/>
              </a:solidFill>
            </a:endParaRPr>
          </a:p>
        </p:txBody>
      </p:sp>
      <p:sp>
        <p:nvSpPr>
          <p:cNvPr id="6" name="文本框 5">
            <a:extLst>
              <a:ext uri="{FF2B5EF4-FFF2-40B4-BE49-F238E27FC236}">
                <a16:creationId xmlns:a16="http://schemas.microsoft.com/office/drawing/2014/main" id="{7D13732A-89C4-408C-A00B-6AA3472497D4}"/>
              </a:ext>
            </a:extLst>
          </p:cNvPr>
          <p:cNvSpPr txBox="1"/>
          <p:nvPr/>
        </p:nvSpPr>
        <p:spPr>
          <a:xfrm>
            <a:off x="1589903" y="5743657"/>
            <a:ext cx="9302743" cy="737530"/>
          </a:xfrm>
          <a:prstGeom prst="rect">
            <a:avLst/>
          </a:prstGeom>
          <a:solidFill>
            <a:schemeClr val="accent3">
              <a:lumMod val="20000"/>
              <a:lumOff val="80000"/>
              <a:alpha val="15000"/>
            </a:schemeClr>
          </a:solidFill>
          <a:ln w="6350">
            <a:solidFill>
              <a:srgbClr val="00B0F0"/>
            </a:solidFill>
          </a:ln>
          <a:effectLst>
            <a:outerShdw blurRad="254000" dist="127000" dir="5400000" sx="90000" sy="90000" rotWithShape="0">
              <a:prstClr val="black">
                <a:alpha val="15000"/>
              </a:prstClr>
            </a:outerShdw>
          </a:effectLst>
        </p:spPr>
        <p:txBody>
          <a:bodyPr lIns="144000" tIns="108000" rIns="90000" bIns="108000" anchor="ctr"/>
          <a:lstStyle>
            <a:defPPr>
              <a:defRPr lang="zh-CN"/>
            </a:defPPr>
            <a:lvl1pPr algn="ctr">
              <a:lnSpc>
                <a:spcPct val="130000"/>
              </a:lnSpc>
              <a:defRPr kumimoji="1" sz="2200" b="1">
                <a:solidFill>
                  <a:srgbClr val="C00000"/>
                </a:solidFill>
                <a:latin typeface="Microsoft YaHei" panose="020B0503020204020204" pitchFamily="34" charset="-122"/>
                <a:ea typeface="Microsoft YaHei" panose="020B0503020204020204" pitchFamily="34" charset="-122"/>
              </a:defRPr>
            </a:lvl1pPr>
          </a:lstStyle>
          <a:p>
            <a:r>
              <a:rPr lang="zh-CN" altLang="en-US" dirty="0"/>
              <a:t>外設</a:t>
            </a:r>
            <a:r>
              <a:rPr lang="en-US" altLang="zh-CN" dirty="0"/>
              <a:t>I/O</a:t>
            </a:r>
            <a:r>
              <a:rPr lang="zh-CN" altLang="en-US" dirty="0"/>
              <a:t>因爲其功能複雜多樣，一直是操作系統安全問題的“重灾區”</a:t>
            </a:r>
            <a:endParaRPr lang="en-US" altLang="zh-CN" dirty="0"/>
          </a:p>
        </p:txBody>
      </p:sp>
      <p:sp>
        <p:nvSpPr>
          <p:cNvPr id="4" name="Slide Number Placeholder 7">
            <a:extLst>
              <a:ext uri="{FF2B5EF4-FFF2-40B4-BE49-F238E27FC236}">
                <a16:creationId xmlns:a16="http://schemas.microsoft.com/office/drawing/2014/main" id="{63070395-F6B7-A193-8DA6-455B8EF9A7F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109</a:t>
            </a:fld>
            <a:endParaRPr lang="zh-CN" altLang="en-US" sz="1200" dirty="0">
              <a:solidFill>
                <a:schemeClr val="tx1">
                  <a:tint val="75000"/>
                </a:schemeClr>
              </a:solidFill>
            </a:endParaRPr>
          </a:p>
        </p:txBody>
      </p:sp>
    </p:spTree>
    <p:extLst>
      <p:ext uri="{BB962C8B-B14F-4D97-AF65-F5344CB8AC3E}">
        <p14:creationId xmlns:p14="http://schemas.microsoft.com/office/powerpoint/2010/main" val="42613638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699243"/>
            <a:ext cx="11253288" cy="3743461"/>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隨著近年來惡意</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外設引發的安全事件數量逐步上升，産生了一</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系列</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保護外設</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協議的方案：</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just" defTabSz="914400" rtl="0" eaLnBrk="1" fontAlgn="auto" latinLnBrk="0" hangingPunct="1">
              <a:lnSpc>
                <a:spcPts val="3600"/>
              </a:lnSpc>
              <a:spcBef>
                <a:spcPts val="0"/>
              </a:spcBef>
              <a:spcAft>
                <a:spcPts val="0"/>
              </a:spcAft>
              <a:buClrTx/>
              <a:buSzTx/>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微软雅黑" panose="020B0503020204020204" pitchFamily="34" charset="-122"/>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例如</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USBFirwall</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更具固定規則</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檢查</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USB</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協議包以抵禦惡意的外設</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微软雅黑" panose="020B0503020204020204" pitchFamily="34" charset="-122"/>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類似地</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USBFLITER</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可以使用用戶自定義的</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協議過濾規則，抵禦惡意</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協議報文</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微软雅黑" panose="020B0503020204020204" pitchFamily="34" charset="-122"/>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2019</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年</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Tian et al.</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借助</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Linux</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eBPF</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機制實現了</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LBM</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，是</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一個</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協議無關的外設</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協議數據包審查框架</a:t>
            </a: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en-US" altLang="zh-CN" dirty="0"/>
              <a:t>I/O </a:t>
            </a:r>
            <a:r>
              <a:rPr lang="zh-CN" altLang="en-US" dirty="0"/>
              <a:t>子系統保護</a:t>
            </a:r>
          </a:p>
        </p:txBody>
      </p:sp>
      <p:cxnSp>
        <p:nvCxnSpPr>
          <p:cNvPr id="5" name="直接连接符 4">
            <a:extLst>
              <a:ext uri="{FF2B5EF4-FFF2-40B4-BE49-F238E27FC236}">
                <a16:creationId xmlns:a16="http://schemas.microsoft.com/office/drawing/2014/main" id="{632701DE-7469-440F-B739-1B80AE9E8368}"/>
              </a:ext>
            </a:extLst>
          </p:cNvPr>
          <p:cNvCxnSpPr>
            <a:cxnSpLocks/>
          </p:cNvCxnSpPr>
          <p:nvPr/>
        </p:nvCxnSpPr>
        <p:spPr>
          <a:xfrm>
            <a:off x="561975" y="5534190"/>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14">
            <a:extLst>
              <a:ext uri="{FF2B5EF4-FFF2-40B4-BE49-F238E27FC236}">
                <a16:creationId xmlns:a16="http://schemas.microsoft.com/office/drawing/2014/main" id="{0023D2A2-DF44-4591-854B-0BE3091D4B53}"/>
              </a:ext>
            </a:extLst>
          </p:cNvPr>
          <p:cNvSpPr txBox="1"/>
          <p:nvPr/>
        </p:nvSpPr>
        <p:spPr>
          <a:xfrm>
            <a:off x="561974" y="5545977"/>
            <a:ext cx="11183824" cy="1169551"/>
          </a:xfrm>
          <a:prstGeom prst="rect">
            <a:avLst/>
          </a:prstGeom>
          <a:noFill/>
        </p:spPr>
        <p:txBody>
          <a:bodyPr wrap="square" rtlCol="0">
            <a:spAutoFit/>
          </a:bodyPr>
          <a:lstStyle/>
          <a:p>
            <a:pPr marR="0" lvl="0" defTabSz="914400" rtl="0" eaLnBrk="1" fontAlgn="auto" latinLnBrk="0" hangingPunct="1">
              <a:lnSpc>
                <a:spcPct val="100000"/>
              </a:lnSpc>
              <a:spcBef>
                <a:spcPts val="0"/>
              </a:spcBef>
              <a:spcAft>
                <a:spcPts val="0"/>
              </a:spcAft>
              <a:buClrTx/>
              <a:buSzTx/>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Peter C. Johnson, et al. "Protecting against malicious bits on the wire: Automatically generating a USB protocol parser for a production kernel." Proceedings of the 33rd Annual Computer Security Applications Conference. 2017.</a:t>
            </a:r>
          </a:p>
          <a:p>
            <a:pPr marR="0" lvl="0" defTabSz="914400" rtl="0" eaLnBrk="1" fontAlgn="auto" latinLnBrk="0" hangingPunct="1">
              <a:lnSpc>
                <a:spcPct val="100000"/>
              </a:lnSpc>
              <a:spcBef>
                <a:spcPts val="0"/>
              </a:spcBef>
              <a:spcAft>
                <a:spcPts val="0"/>
              </a:spcAft>
              <a:buClrTx/>
              <a:buSzTx/>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Dave Jing Tian, et al. "Making USB Great Again with USBFILTER." 25th USENIX Security Symposium, 2016.</a:t>
            </a:r>
          </a:p>
          <a:p>
            <a:pPr marR="0" lvl="0" defTabSz="914400" rtl="0" eaLnBrk="1" fontAlgn="auto" latinLnBrk="0" hangingPunct="1">
              <a:lnSpc>
                <a:spcPct val="100000"/>
              </a:lnSpc>
              <a:spcBef>
                <a:spcPts val="0"/>
              </a:spcBef>
              <a:spcAft>
                <a:spcPts val="0"/>
              </a:spcAft>
              <a:buClrTx/>
              <a:buSzTx/>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Dave Jing Tian, et al. "</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LBM: a security framework for peripherals within the </a:t>
            </a:r>
            <a:r>
              <a:rPr kumimoji="1" lang="en-US" altLang="zh-CN" sz="1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linux</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kernel.</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2019 IEEE Symposium on Security and Privacy, 2019.</a:t>
            </a:r>
          </a:p>
        </p:txBody>
      </p:sp>
      <p:sp>
        <p:nvSpPr>
          <p:cNvPr id="7" name="文本框 25">
            <a:extLst>
              <a:ext uri="{FF2B5EF4-FFF2-40B4-BE49-F238E27FC236}">
                <a16:creationId xmlns:a16="http://schemas.microsoft.com/office/drawing/2014/main" id="{21DDEE60-8557-4671-BC39-2AA33D8C57D3}"/>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針對外設 </a:t>
            </a:r>
            <a:r>
              <a:rPr kumimoji="0" lang="en-US" altLang="zh-CN" sz="2800" b="1" i="0" u="none" strike="noStrike" kern="1200" cap="none" spc="0" normalizeH="0" baseline="0" noProof="0" dirty="0">
                <a:ln>
                  <a:noFill/>
                </a:ln>
                <a:effectLst/>
                <a:uLnTx/>
                <a:uFillTx/>
                <a:latin typeface="微软雅黑"/>
                <a:ea typeface="微软雅黑"/>
                <a:cs typeface="+mn-cs"/>
              </a:rPr>
              <a:t>I/O </a:t>
            </a:r>
            <a:r>
              <a:rPr kumimoji="0" lang="zh-CN" altLang="en-US" sz="2800" b="1" i="0" u="none" strike="noStrike" kern="1200" cap="none" spc="0" normalizeH="0" baseline="0" noProof="0" dirty="0">
                <a:ln>
                  <a:noFill/>
                </a:ln>
                <a:effectLst/>
                <a:uLnTx/>
                <a:uFillTx/>
                <a:latin typeface="微软雅黑"/>
                <a:ea typeface="微软雅黑"/>
                <a:cs typeface="+mn-cs"/>
              </a:rPr>
              <a:t>系統的</a:t>
            </a:r>
            <a:r>
              <a:rPr lang="zh-CN" altLang="en-US" sz="2800" b="1" dirty="0">
                <a:latin typeface="微软雅黑"/>
                <a:ea typeface="微软雅黑"/>
              </a:rPr>
              <a:t>保護方案示例</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3" name="Slide Number Placeholder 7">
            <a:extLst>
              <a:ext uri="{FF2B5EF4-FFF2-40B4-BE49-F238E27FC236}">
                <a16:creationId xmlns:a16="http://schemas.microsoft.com/office/drawing/2014/main" id="{B91E030E-959A-1F36-0746-02652F40602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110</a:t>
            </a:fld>
            <a:endParaRPr lang="zh-CN" altLang="en-US" sz="1200" dirty="0">
              <a:solidFill>
                <a:schemeClr val="tx1">
                  <a:tint val="75000"/>
                </a:schemeClr>
              </a:solidFill>
            </a:endParaRPr>
          </a:p>
        </p:txBody>
      </p:sp>
    </p:spTree>
    <p:extLst>
      <p:ext uri="{BB962C8B-B14F-4D97-AF65-F5344CB8AC3E}">
        <p14:creationId xmlns:p14="http://schemas.microsoft.com/office/powerpoint/2010/main" val="9354715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253288" cy="3570208"/>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需要時刻牢記，</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內核協議棧是操作系統的組成</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部分</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之一</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，因而面向網絡當中端節點的攻擊方案的本質均是面向</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操作系統網絡</a:t>
            </a:r>
            <a:r>
              <a:rPr kumimoji="1" lang="en-US" altLang="zh-CN"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子系統</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的攻擊</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例如，</a:t>
            </a:r>
            <a:r>
              <a:rPr kumimoji="1" lang="en-US" altLang="zh-CN" sz="2400" b="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TCP</a:t>
            </a:r>
            <a:r>
              <a:rPr kumimoji="1" lang="zh-CN" altLang="en-US" sz="2400" b="0" u="sng"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側信道攻擊</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發掘</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內核協議棧當中的設計或者實現上的缺陷，是對操作系統網絡</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的攻擊方案，需要借助</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網絡入侵檢測系統</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進行保護</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42900" indent="-342900" algn="just">
              <a:lnSpc>
                <a:spcPts val="3600"/>
              </a:lnSpc>
              <a:buFont typeface="Arial" panose="020B0604020202020204" pitchFamily="34" charset="0"/>
              <a:buChar char="•"/>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關于網絡協議棧的攻擊</a:t>
            </a:r>
            <a:r>
              <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保護方案，將在第八章詳細展開</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en-US" altLang="zh-CN" dirty="0"/>
              <a:t>I/O </a:t>
            </a:r>
            <a:r>
              <a:rPr lang="zh-CN" altLang="en-US" dirty="0"/>
              <a:t>子系統保護</a:t>
            </a:r>
          </a:p>
        </p:txBody>
      </p:sp>
      <p:sp>
        <p:nvSpPr>
          <p:cNvPr id="4" name="文本框 25">
            <a:extLst>
              <a:ext uri="{FF2B5EF4-FFF2-40B4-BE49-F238E27FC236}">
                <a16:creationId xmlns:a16="http://schemas.microsoft.com/office/drawing/2014/main" id="{7C568D3D-4C2E-48FA-89C6-A681CF97A962}"/>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針對</a:t>
            </a:r>
            <a:r>
              <a:rPr lang="zh-CN" altLang="en-US" sz="2800" b="1" dirty="0">
                <a:latin typeface="微软雅黑"/>
                <a:ea typeface="微软雅黑"/>
              </a:rPr>
              <a:t>網絡</a:t>
            </a:r>
            <a:r>
              <a:rPr kumimoji="0" lang="zh-CN" altLang="en-US" sz="2800" b="1" i="0" u="none" strike="noStrike" kern="1200" cap="none" spc="0" normalizeH="0" baseline="0" noProof="0" dirty="0">
                <a:ln>
                  <a:noFill/>
                </a:ln>
                <a:effectLst/>
                <a:uLnTx/>
                <a:uFillTx/>
                <a:latin typeface="微软雅黑"/>
                <a:ea typeface="微软雅黑"/>
                <a:cs typeface="+mn-cs"/>
              </a:rPr>
              <a:t> </a:t>
            </a:r>
            <a:r>
              <a:rPr kumimoji="0" lang="en-US" altLang="zh-CN" sz="2800" b="1" i="0" u="none" strike="noStrike" kern="1200" cap="none" spc="0" normalizeH="0" baseline="0" noProof="0" dirty="0">
                <a:ln>
                  <a:noFill/>
                </a:ln>
                <a:effectLst/>
                <a:uLnTx/>
                <a:uFillTx/>
                <a:latin typeface="微软雅黑"/>
                <a:ea typeface="微软雅黑"/>
                <a:cs typeface="+mn-cs"/>
              </a:rPr>
              <a:t>I/O </a:t>
            </a:r>
            <a:r>
              <a:rPr kumimoji="0" lang="zh-CN" altLang="en-US" sz="2800" b="1" i="0" u="none" strike="noStrike" kern="1200" cap="none" spc="0" normalizeH="0" baseline="0" noProof="0" dirty="0">
                <a:ln>
                  <a:noFill/>
                </a:ln>
                <a:effectLst/>
                <a:uLnTx/>
                <a:uFillTx/>
                <a:latin typeface="微软雅黑"/>
                <a:ea typeface="微软雅黑"/>
                <a:cs typeface="+mn-cs"/>
              </a:rPr>
              <a:t>的攻擊與</a:t>
            </a:r>
            <a:r>
              <a:rPr lang="zh-CN" altLang="en-US" sz="2800" b="1" dirty="0">
                <a:latin typeface="微软雅黑"/>
                <a:ea typeface="微软雅黑"/>
              </a:rPr>
              <a:t>保護方案</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5" name="Slide Number Placeholder 7">
            <a:extLst>
              <a:ext uri="{FF2B5EF4-FFF2-40B4-BE49-F238E27FC236}">
                <a16:creationId xmlns:a16="http://schemas.microsoft.com/office/drawing/2014/main" id="{B2B2E153-18C8-9356-14B8-0D74D9AB0D24}"/>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111</a:t>
            </a:fld>
            <a:endParaRPr lang="zh-CN" altLang="en-US" sz="1200" dirty="0">
              <a:solidFill>
                <a:schemeClr val="tx1">
                  <a:tint val="75000"/>
                </a:schemeClr>
              </a:solidFill>
            </a:endParaRPr>
          </a:p>
        </p:txBody>
      </p:sp>
    </p:spTree>
    <p:extLst>
      <p:ext uri="{BB962C8B-B14F-4D97-AF65-F5344CB8AC3E}">
        <p14:creationId xmlns:p14="http://schemas.microsoft.com/office/powerpoint/2010/main" val="151333209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181844"/>
            <a:ext cx="11253288" cy="4154984"/>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SoK</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Shining Light on Shadow Stacks</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p>
          <a:p>
            <a:pPr marL="36000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Shadow Stack</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防禦機制的綜述文章，</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Shadow Stack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的核心是</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構建內存棧區拷貝</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，以防止各類溢出攻擊的</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36000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Efficient Protection of Path-Sensitive Control Security</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endPar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60000" algn="ju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較爲有效的强化版</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，原始的</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CFI</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有很多問題，性能低有時還引入新安全問題</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CFI/CPI/Shadow </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tack</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，要求</a:t>
            </a:r>
            <a:r>
              <a:rPr kumimoji="1" lang="zh-CN" altLang="en-US"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保護方案的元數據不可篡改</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基于軟件的方案：</a:t>
            </a: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SafeHidden</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 Efficient and Secure Information Hiding Technique Using Re-randomization</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457200" marR="0" lvl="0" indent="-457200" algn="just" defTabSz="914400" rtl="0" eaLnBrk="1" fontAlgn="auto" latinLnBrk="0" hangingPunct="1">
              <a:lnSpc>
                <a:spcPct val="100000"/>
              </a:lnSpc>
              <a:spcBef>
                <a:spcPts val="0"/>
              </a:spcBef>
              <a:spcAft>
                <a:spcPts val="0"/>
              </a:spcAft>
              <a:buClrTx/>
              <a:buSzTx/>
              <a:buFont typeface="+mj-lt"/>
              <a:buAutoNum type="arabicPeriod"/>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基于拓展</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ISA</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的方案：</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IMIX: In-Process Memory Isolation Extension</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endPar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本節相關的前沿研究工作</a:t>
            </a:r>
          </a:p>
        </p:txBody>
      </p:sp>
      <p:cxnSp>
        <p:nvCxnSpPr>
          <p:cNvPr id="4" name="直接连接符 3">
            <a:extLst>
              <a:ext uri="{FF2B5EF4-FFF2-40B4-BE49-F238E27FC236}">
                <a16:creationId xmlns:a16="http://schemas.microsoft.com/office/drawing/2014/main" id="{AD7D9BF8-1E7A-4D43-89A9-1F4B4CB7C14B}"/>
              </a:ext>
            </a:extLst>
          </p:cNvPr>
          <p:cNvCxnSpPr>
            <a:cxnSpLocks/>
          </p:cNvCxnSpPr>
          <p:nvPr/>
        </p:nvCxnSpPr>
        <p:spPr>
          <a:xfrm>
            <a:off x="561975" y="5534190"/>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文本框 14">
            <a:extLst>
              <a:ext uri="{FF2B5EF4-FFF2-40B4-BE49-F238E27FC236}">
                <a16:creationId xmlns:a16="http://schemas.microsoft.com/office/drawing/2014/main" id="{D204759C-9640-49AA-AF0B-8A3970239BFA}"/>
              </a:ext>
            </a:extLst>
          </p:cNvPr>
          <p:cNvSpPr txBox="1"/>
          <p:nvPr/>
        </p:nvSpPr>
        <p:spPr>
          <a:xfrm>
            <a:off x="561974" y="5545977"/>
            <a:ext cx="11183824" cy="1169551"/>
          </a:xfrm>
          <a:prstGeom prst="rect">
            <a:avLst/>
          </a:prstGeom>
          <a:noFill/>
        </p:spPr>
        <p:txBody>
          <a:bodyPr wrap="square" rtlCol="0">
            <a:spAutoFit/>
          </a:bodyPr>
          <a:lstStyle/>
          <a:p>
            <a:pPr marR="0" lvl="0" defTabSz="914400" rtl="0" eaLnBrk="1" fontAlgn="auto" latinLnBrk="0" hangingPunct="1">
              <a:lnSpc>
                <a:spcPct val="100000"/>
              </a:lnSpc>
              <a:spcBef>
                <a:spcPts val="0"/>
              </a:spcBef>
              <a:spcAft>
                <a:spcPts val="0"/>
              </a:spcAft>
              <a:buClrTx/>
              <a:buSzTx/>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Nathan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Burow</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et al</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SoK</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Shining light on shadow stacks</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2019 IEEE Symposium on Security and Privacy, 2019.</a:t>
            </a:r>
          </a:p>
          <a:p>
            <a:pPr marR="0" lvl="0" defTabSz="914400" rtl="0" eaLnBrk="1" fontAlgn="auto" latinLnBrk="0" hangingPunct="1">
              <a:lnSpc>
                <a:spcPct val="100000"/>
              </a:lnSpc>
              <a:spcBef>
                <a:spcPts val="0"/>
              </a:spcBef>
              <a:spcAft>
                <a:spcPts val="0"/>
              </a:spcAft>
              <a:buClrTx/>
              <a:buSzTx/>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Ren Ding, et al. "Efficient protection of path-sensitive control security." 26th USENIX Security Symposium, 2017</a:t>
            </a:r>
          </a:p>
          <a:p>
            <a:pPr>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Zhe</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Wang, et al.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Safehidden</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an efficient and secure information hiding technique using re-randomization.</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28th USENIX Security Symposium, 2019.</a:t>
            </a:r>
          </a:p>
          <a:p>
            <a:pPr>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 Tommaso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Frassetto</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"IMIX: In-Process Memory Isolation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EXtension</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27th USENIX Security Symposium, 2018.</a:t>
            </a:r>
            <a:endPar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 name="Slide Number Placeholder 7">
            <a:extLst>
              <a:ext uri="{FF2B5EF4-FFF2-40B4-BE49-F238E27FC236}">
                <a16:creationId xmlns:a16="http://schemas.microsoft.com/office/drawing/2014/main" id="{824B58AC-A931-497A-DE86-975635C98B57}"/>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112</a:t>
            </a:fld>
            <a:endParaRPr lang="zh-CN" altLang="en-US" sz="1200" dirty="0">
              <a:solidFill>
                <a:schemeClr val="tx1">
                  <a:tint val="75000"/>
                </a:schemeClr>
              </a:solidFill>
            </a:endParaRPr>
          </a:p>
        </p:txBody>
      </p:sp>
    </p:spTree>
    <p:extLst>
      <p:ext uri="{BB962C8B-B14F-4D97-AF65-F5344CB8AC3E}">
        <p14:creationId xmlns:p14="http://schemas.microsoft.com/office/powerpoint/2010/main" val="34402799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31EE29A1-C89A-8644-9C6C-B4B5595B99BE}"/>
              </a:ext>
            </a:extLst>
          </p:cNvPr>
          <p:cNvSpPr/>
          <p:nvPr/>
        </p:nvSpPr>
        <p:spPr>
          <a:xfrm>
            <a:off x="3792512" y="1546918"/>
            <a:ext cx="8399488" cy="1759888"/>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3" name="矩形 2">
            <a:extLst>
              <a:ext uri="{FF2B5EF4-FFF2-40B4-BE49-F238E27FC236}">
                <a16:creationId xmlns:a16="http://schemas.microsoft.com/office/drawing/2014/main" id="{95390BD7-9E9C-0D4E-A92D-6F6196C9DABC}"/>
              </a:ext>
            </a:extLst>
          </p:cNvPr>
          <p:cNvSpPr/>
          <p:nvPr/>
        </p:nvSpPr>
        <p:spPr>
          <a:xfrm>
            <a:off x="0" y="1546917"/>
            <a:ext cx="3312826" cy="1759889"/>
          </a:xfrm>
          <a:prstGeom prst="rect">
            <a:avLst/>
          </a:prstGeom>
          <a:solidFill>
            <a:srgbClr val="521B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4" name="椭圆 3">
            <a:extLst>
              <a:ext uri="{FF2B5EF4-FFF2-40B4-BE49-F238E27FC236}">
                <a16:creationId xmlns:a16="http://schemas.microsoft.com/office/drawing/2014/main" id="{BF9CDFA6-B029-6B4C-B9E4-7CF16FFE8CAE}"/>
              </a:ext>
            </a:extLst>
          </p:cNvPr>
          <p:cNvSpPr/>
          <p:nvPr/>
        </p:nvSpPr>
        <p:spPr>
          <a:xfrm>
            <a:off x="2038665" y="1247117"/>
            <a:ext cx="2353456" cy="23984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prstClr val="white"/>
              </a:solidFill>
              <a:effectLst/>
              <a:uLnTx/>
              <a:uFillTx/>
              <a:latin typeface="DengXian" panose="020F0502020204030204"/>
              <a:ea typeface="DengXian" panose="02010600030101010101" pitchFamily="2" charset="-122"/>
              <a:cs typeface="+mn-cs"/>
            </a:endParaRPr>
          </a:p>
        </p:txBody>
      </p:sp>
      <p:sp>
        <p:nvSpPr>
          <p:cNvPr id="6" name="矩形 5">
            <a:extLst>
              <a:ext uri="{FF2B5EF4-FFF2-40B4-BE49-F238E27FC236}">
                <a16:creationId xmlns:a16="http://schemas.microsoft.com/office/drawing/2014/main" id="{10EE77B9-CAAB-9D47-886F-1F13DC4A4E9F}"/>
              </a:ext>
            </a:extLst>
          </p:cNvPr>
          <p:cNvSpPr/>
          <p:nvPr/>
        </p:nvSpPr>
        <p:spPr>
          <a:xfrm>
            <a:off x="4711535" y="2072918"/>
            <a:ext cx="4360489" cy="707886"/>
          </a:xfrm>
          <a:prstGeom prst="rect">
            <a:avLst/>
          </a:prstGeom>
        </p:spPr>
        <p:txBody>
          <a:bodyPr wrap="none">
            <a:spAutoFit/>
          </a:bodyPr>
          <a:lstStyle/>
          <a:p>
            <a:pPr lvl="0">
              <a:defRPr/>
            </a:pPr>
            <a:r>
              <a:rPr lang="zh-CN" altLang="en-US" sz="4000" b="1" kern="100" dirty="0">
                <a:solidFill>
                  <a:prstClr val="white"/>
                </a:solidFill>
                <a:latin typeface="微软雅黑 Light"/>
                <a:ea typeface="微软雅黑 Light"/>
                <a:cs typeface="Times New Roman" panose="02020603050405020304" pitchFamily="18" charset="0"/>
              </a:rPr>
              <a:t>第</a:t>
            </a:r>
            <a:r>
              <a:rPr lang="en-US" altLang="zh-CN" sz="4000" b="1" kern="100" dirty="0">
                <a:solidFill>
                  <a:prstClr val="white"/>
                </a:solidFill>
                <a:latin typeface="微软雅黑 Light"/>
                <a:ea typeface="微软雅黑 Light"/>
                <a:cs typeface="Times New Roman" panose="02020603050405020304" pitchFamily="18" charset="0"/>
              </a:rPr>
              <a:t>5</a:t>
            </a:r>
            <a:r>
              <a:rPr lang="zh-CN" altLang="en-US" sz="4000" b="1" kern="100" dirty="0">
                <a:solidFill>
                  <a:prstClr val="white"/>
                </a:solidFill>
                <a:latin typeface="微软雅黑 Light"/>
                <a:ea typeface="微软雅黑 Light"/>
                <a:cs typeface="Times New Roman" panose="02020603050405020304" pitchFamily="18" charset="0"/>
              </a:rPr>
              <a:t>節 總結和展望</a:t>
            </a:r>
          </a:p>
        </p:txBody>
      </p:sp>
      <p:pic>
        <p:nvPicPr>
          <p:cNvPr id="7" name="图片 6">
            <a:extLst>
              <a:ext uri="{FF2B5EF4-FFF2-40B4-BE49-F238E27FC236}">
                <a16:creationId xmlns:a16="http://schemas.microsoft.com/office/drawing/2014/main" id="{A45D2047-30E2-452B-B497-FD383FD07AF1}"/>
              </a:ext>
            </a:extLst>
          </p:cNvPr>
          <p:cNvPicPr>
            <a:picLocks noChangeAspect="1"/>
          </p:cNvPicPr>
          <p:nvPr/>
        </p:nvPicPr>
        <p:blipFill>
          <a:blip r:embed="rId2"/>
          <a:stretch>
            <a:fillRect/>
          </a:stretch>
        </p:blipFill>
        <p:spPr>
          <a:xfrm>
            <a:off x="2076467" y="1313028"/>
            <a:ext cx="2277852" cy="2266604"/>
          </a:xfrm>
          <a:prstGeom prst="ellipse">
            <a:avLst/>
          </a:prstGeom>
          <a:ln w="63500" cap="rnd">
            <a:noFill/>
          </a:ln>
          <a:effectLst>
            <a:outerShdw blurRad="381000" dist="292100" dir="5400000" sx="-80000" sy="-18000" rotWithShape="0">
              <a:srgbClr val="000000">
                <a:alpha val="22000"/>
              </a:srgbClr>
            </a:outerShdw>
            <a:reflection blurRad="6350" stA="50000" endA="300" endPos="55500" dist="50800" dir="5400000" sy="-100000" algn="bl" rotWithShape="0"/>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49727058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總結</a:t>
            </a:r>
          </a:p>
        </p:txBody>
      </p:sp>
      <p:sp>
        <p:nvSpPr>
          <p:cNvPr id="3" name="Slide Number Placeholder 7">
            <a:extLst>
              <a:ext uri="{FF2B5EF4-FFF2-40B4-BE49-F238E27FC236}">
                <a16:creationId xmlns:a16="http://schemas.microsoft.com/office/drawing/2014/main" id="{360AC8A2-105D-AA57-FE73-4D5233891FD3}"/>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114</a:t>
            </a:fld>
            <a:endParaRPr lang="zh-CN" altLang="en-US" sz="1200" dirty="0">
              <a:solidFill>
                <a:schemeClr val="tx1">
                  <a:tint val="75000"/>
                </a:schemeClr>
              </a:solidFill>
            </a:endParaRPr>
          </a:p>
        </p:txBody>
      </p:sp>
      <p:sp>
        <p:nvSpPr>
          <p:cNvPr id="6" name="矩形 5">
            <a:extLst>
              <a:ext uri="{FF2B5EF4-FFF2-40B4-BE49-F238E27FC236}">
                <a16:creationId xmlns:a16="http://schemas.microsoft.com/office/drawing/2014/main" id="{34B4DE6D-0F3F-AE4B-9469-98C6D22FD8DA}"/>
              </a:ext>
            </a:extLst>
          </p:cNvPr>
          <p:cNvSpPr/>
          <p:nvPr/>
        </p:nvSpPr>
        <p:spPr>
          <a:xfrm>
            <a:off x="390384" y="2837704"/>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內存管理基礎</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內存棧區攻擊方案</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內存堆區攻擊方案</a:t>
            </a:r>
            <a:endParaRPr lang="en-US" altLang="zh-CN" dirty="0">
              <a:solidFill>
                <a:srgbClr val="000000"/>
              </a:solidFill>
              <a:latin typeface="Microsoft YaHei" panose="020B0503020204020204" pitchFamily="34" charset="-122"/>
              <a:ea typeface="Microsoft YaHei" panose="020B0503020204020204" pitchFamily="34" charset="-122"/>
            </a:endParaRPr>
          </a:p>
        </p:txBody>
      </p:sp>
      <p:cxnSp>
        <p:nvCxnSpPr>
          <p:cNvPr id="7" name="直接箭头连接符 33">
            <a:extLst>
              <a:ext uri="{FF2B5EF4-FFF2-40B4-BE49-F238E27FC236}">
                <a16:creationId xmlns:a16="http://schemas.microsoft.com/office/drawing/2014/main" id="{C00E1CA0-FBB5-CA4C-978F-F8914BE2AB7D}"/>
              </a:ext>
            </a:extLst>
          </p:cNvPr>
          <p:cNvCxnSpPr>
            <a:cxnSpLocks/>
          </p:cNvCxnSpPr>
          <p:nvPr/>
        </p:nvCxnSpPr>
        <p:spPr>
          <a:xfrm>
            <a:off x="2837918" y="3657852"/>
            <a:ext cx="57084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13FA4199-CEE7-4C4E-91DD-AEC8168E1183}"/>
              </a:ext>
            </a:extLst>
          </p:cNvPr>
          <p:cNvSpPr txBox="1"/>
          <p:nvPr/>
        </p:nvSpPr>
        <p:spPr>
          <a:xfrm>
            <a:off x="575463" y="2184222"/>
            <a:ext cx="196947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第一節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基礎攻擊方案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C510AA4F-B3D3-E542-894C-87EB6E0B1B2D}"/>
              </a:ext>
            </a:extLst>
          </p:cNvPr>
          <p:cNvSpPr txBox="1"/>
          <p:nvPr/>
        </p:nvSpPr>
        <p:spPr>
          <a:xfrm>
            <a:off x="3284945" y="2150272"/>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第二節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基礎防禦方案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1" name="矩形 10">
            <a:extLst>
              <a:ext uri="{FF2B5EF4-FFF2-40B4-BE49-F238E27FC236}">
                <a16:creationId xmlns:a16="http://schemas.microsoft.com/office/drawing/2014/main" id="{54258A34-B03B-094F-97F0-172B3BABB28A}"/>
              </a:ext>
            </a:extLst>
          </p:cNvPr>
          <p:cNvSpPr/>
          <p:nvPr/>
        </p:nvSpPr>
        <p:spPr>
          <a:xfrm>
            <a:off x="3433387" y="2837704"/>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W^X</a:t>
            </a:r>
            <a:r>
              <a:rPr lang="zh-CN" altLang="en-US" dirty="0">
                <a:solidFill>
                  <a:srgbClr val="000000"/>
                </a:solidFill>
                <a:latin typeface="Microsoft YaHei" panose="020B0503020204020204" pitchFamily="34" charset="-122"/>
                <a:ea typeface="Microsoft YaHei" panose="020B0503020204020204" pitchFamily="34" charset="-122"/>
              </a:rPr>
              <a:t> </a:t>
            </a:r>
            <a:r>
              <a:rPr lang="en-US" altLang="zh-CN" dirty="0">
                <a:solidFill>
                  <a:srgbClr val="000000"/>
                </a:solidFill>
                <a:latin typeface="Microsoft YaHei" panose="020B0503020204020204" pitchFamily="34" charset="-122"/>
                <a:ea typeface="Microsoft YaHei" panose="020B0503020204020204" pitchFamily="34" charset="-122"/>
              </a:rPr>
              <a:t>(NX, DEP)</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ASLR</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Stack Canary</a:t>
            </a: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SMAP, SMEP</a:t>
            </a:r>
          </a:p>
        </p:txBody>
      </p:sp>
      <p:sp>
        <p:nvSpPr>
          <p:cNvPr id="12" name="文本框 11">
            <a:extLst>
              <a:ext uri="{FF2B5EF4-FFF2-40B4-BE49-F238E27FC236}">
                <a16:creationId xmlns:a16="http://schemas.microsoft.com/office/drawing/2014/main" id="{E33AEEBC-AFEC-7748-B90C-6543F40FF666}"/>
              </a:ext>
            </a:extLst>
          </p:cNvPr>
          <p:cNvSpPr txBox="1"/>
          <p:nvPr/>
        </p:nvSpPr>
        <p:spPr>
          <a:xfrm>
            <a:off x="6402119" y="2179550"/>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第三節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高級控制流劫持技術</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3" name="矩形 12">
            <a:extLst>
              <a:ext uri="{FF2B5EF4-FFF2-40B4-BE49-F238E27FC236}">
                <a16:creationId xmlns:a16="http://schemas.microsoft.com/office/drawing/2014/main" id="{C7E3B5A2-4221-E947-9FF9-5EC6A2F95DFE}"/>
              </a:ext>
            </a:extLst>
          </p:cNvPr>
          <p:cNvSpPr/>
          <p:nvPr/>
        </p:nvSpPr>
        <p:spPr>
          <a:xfrm>
            <a:off x="6494233" y="2856345"/>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進程執行細節</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面向返回地址編程</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全域偏置表劫持</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虛假</a:t>
            </a:r>
            <a:r>
              <a:rPr lang="en-US" altLang="zh-CN" dirty="0" err="1">
                <a:solidFill>
                  <a:srgbClr val="000000"/>
                </a:solidFill>
                <a:latin typeface="Microsoft YaHei" panose="020B0503020204020204" pitchFamily="34" charset="-122"/>
                <a:ea typeface="Microsoft YaHei" panose="020B0503020204020204" pitchFamily="34" charset="-122"/>
              </a:rPr>
              <a:t>vtable</a:t>
            </a:r>
            <a:r>
              <a:rPr lang="zh-CN" altLang="en-US" dirty="0">
                <a:solidFill>
                  <a:srgbClr val="000000"/>
                </a:solidFill>
                <a:latin typeface="Microsoft YaHei" panose="020B0503020204020204" pitchFamily="34" charset="-122"/>
                <a:ea typeface="Microsoft YaHei" panose="020B0503020204020204" pitchFamily="34" charset="-122"/>
              </a:rPr>
              <a:t>劫持</a:t>
            </a:r>
            <a:endParaRPr lang="en-US" altLang="zh-CN" dirty="0">
              <a:solidFill>
                <a:srgbClr val="000000"/>
              </a:solidFill>
              <a:latin typeface="Microsoft YaHei" panose="020B0503020204020204" pitchFamily="34" charset="-122"/>
              <a:ea typeface="Microsoft YaHei" panose="020B0503020204020204" pitchFamily="34" charset="-122"/>
            </a:endParaRPr>
          </a:p>
        </p:txBody>
      </p:sp>
      <p:cxnSp>
        <p:nvCxnSpPr>
          <p:cNvPr id="14" name="直接箭头连接符 44">
            <a:extLst>
              <a:ext uri="{FF2B5EF4-FFF2-40B4-BE49-F238E27FC236}">
                <a16:creationId xmlns:a16="http://schemas.microsoft.com/office/drawing/2014/main" id="{7ACF0911-C77C-824B-9C49-8D66C9BB27A2}"/>
              </a:ext>
            </a:extLst>
          </p:cNvPr>
          <p:cNvCxnSpPr>
            <a:cxnSpLocks/>
          </p:cNvCxnSpPr>
          <p:nvPr/>
        </p:nvCxnSpPr>
        <p:spPr>
          <a:xfrm>
            <a:off x="5873523" y="3657852"/>
            <a:ext cx="56873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8A859D15-9EA2-1249-BC5A-397D84CFD5F0}"/>
              </a:ext>
            </a:extLst>
          </p:cNvPr>
          <p:cNvSpPr/>
          <p:nvPr/>
        </p:nvSpPr>
        <p:spPr>
          <a:xfrm>
            <a:off x="390384" y="4919696"/>
            <a:ext cx="2409640" cy="967875"/>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C00000"/>
                </a:solidFill>
                <a:latin typeface="Microsoft YaHei" panose="020B0503020204020204" pitchFamily="34" charset="-122"/>
                <a:ea typeface="Microsoft YaHei" panose="020B0503020204020204" pitchFamily="34" charset="-122"/>
              </a:rPr>
              <a:t>內存爲對象的攻擊</a:t>
            </a:r>
            <a:endParaRPr kumimoji="1" lang="en-US" altLang="zh-CN" dirty="0">
              <a:solidFill>
                <a:srgbClr val="C00000"/>
              </a:solidFill>
              <a:latin typeface="Microsoft YaHei" panose="020B0503020204020204" pitchFamily="34" charset="-122"/>
              <a:ea typeface="Microsoft YaHei" panose="020B0503020204020204" pitchFamily="34" charset="-122"/>
            </a:endParaRPr>
          </a:p>
          <a:p>
            <a:pPr algn="ctr"/>
            <a:r>
              <a:rPr kumimoji="1" lang="zh-CN" altLang="en-US" dirty="0">
                <a:solidFill>
                  <a:schemeClr val="tx1"/>
                </a:solidFill>
                <a:latin typeface="Microsoft YaHei" panose="020B0503020204020204" pitchFamily="34" charset="-122"/>
                <a:ea typeface="Microsoft YaHei" panose="020B0503020204020204" pitchFamily="34" charset="-122"/>
              </a:rPr>
              <a:t>以內存爲對象的簡單攻擊方案</a:t>
            </a:r>
            <a:endParaRPr kumimoji="1" lang="en-US" altLang="zh-CN" dirty="0">
              <a:solidFill>
                <a:schemeClr val="tx1"/>
              </a:solidFill>
              <a:latin typeface="Microsoft YaHei" panose="020B0503020204020204" pitchFamily="34" charset="-122"/>
              <a:ea typeface="Microsoft YaHei" panose="020B0503020204020204" pitchFamily="34" charset="-122"/>
            </a:endParaRPr>
          </a:p>
        </p:txBody>
      </p:sp>
      <p:sp>
        <p:nvSpPr>
          <p:cNvPr id="16" name="矩形 15">
            <a:extLst>
              <a:ext uri="{FF2B5EF4-FFF2-40B4-BE49-F238E27FC236}">
                <a16:creationId xmlns:a16="http://schemas.microsoft.com/office/drawing/2014/main" id="{D59B1083-9239-8A4B-A153-184D4CE76F16}"/>
              </a:ext>
            </a:extLst>
          </p:cNvPr>
          <p:cNvSpPr/>
          <p:nvPr/>
        </p:nvSpPr>
        <p:spPr>
          <a:xfrm>
            <a:off x="3433388" y="4928226"/>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0070C0"/>
                </a:solidFill>
                <a:latin typeface="Microsoft YaHei" panose="020B0503020204020204" pitchFamily="34" charset="-122"/>
                <a:ea typeface="Microsoft YaHei" panose="020B0503020204020204" pitchFamily="34" charset="-122"/>
              </a:rPr>
              <a:t>內存粒度的防禦方案</a:t>
            </a:r>
            <a:endParaRPr kumimoji="1" lang="en-US" altLang="zh-CN" dirty="0">
              <a:solidFill>
                <a:srgbClr val="0070C0"/>
              </a:solidFill>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防禦基礎內存攻擊的方案</a:t>
            </a:r>
            <a:endParaRPr kumimoji="1" lang="en-US" altLang="zh-CN" dirty="0">
              <a:latin typeface="Microsoft YaHei" panose="020B0503020204020204" pitchFamily="34" charset="-122"/>
              <a:ea typeface="Microsoft YaHei" panose="020B0503020204020204" pitchFamily="34" charset="-122"/>
            </a:endParaRPr>
          </a:p>
        </p:txBody>
      </p:sp>
      <p:sp>
        <p:nvSpPr>
          <p:cNvPr id="17" name="矩形 16">
            <a:extLst>
              <a:ext uri="{FF2B5EF4-FFF2-40B4-BE49-F238E27FC236}">
                <a16:creationId xmlns:a16="http://schemas.microsoft.com/office/drawing/2014/main" id="{85DBF24B-F546-2B4C-B960-06B0CCD97403}"/>
              </a:ext>
            </a:extLst>
          </p:cNvPr>
          <p:cNvSpPr/>
          <p:nvPr/>
        </p:nvSpPr>
        <p:spPr>
          <a:xfrm>
            <a:off x="6494234" y="4928226"/>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C00000"/>
                </a:solidFill>
                <a:latin typeface="Microsoft YaHei" panose="020B0503020204020204" pitchFamily="34" charset="-122"/>
                <a:ea typeface="Microsoft YaHei" panose="020B0503020204020204" pitchFamily="34" charset="-122"/>
              </a:rPr>
              <a:t>惡意修改進程行爲</a:t>
            </a:r>
            <a:endParaRPr kumimoji="1" lang="en-US" altLang="zh-CN" dirty="0">
              <a:solidFill>
                <a:srgbClr val="C00000"/>
              </a:solidFill>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基于第一章的攻擊</a:t>
            </a:r>
            <a:endParaRPr kumimoji="1" lang="en-US" altLang="zh-CN" dirty="0">
              <a:latin typeface="Microsoft YaHei" panose="020B0503020204020204" pitchFamily="34" charset="-122"/>
              <a:ea typeface="Microsoft YaHei" panose="020B0503020204020204" pitchFamily="34" charset="-122"/>
            </a:endParaRPr>
          </a:p>
          <a:p>
            <a:pPr algn="ctr"/>
            <a:r>
              <a:rPr kumimoji="1" lang="zh-CN" altLang="en-US" dirty="0">
                <a:latin typeface="Microsoft YaHei" panose="020B0503020204020204" pitchFamily="34" charset="-122"/>
                <a:ea typeface="Microsoft YaHei" panose="020B0503020204020204" pitchFamily="34" charset="-122"/>
              </a:rPr>
              <a:t>繞過第二章基礎防禦</a:t>
            </a:r>
            <a:endParaRPr kumimoji="1" lang="en-US" altLang="zh-CN" dirty="0">
              <a:latin typeface="Microsoft YaHei" panose="020B0503020204020204" pitchFamily="34" charset="-122"/>
              <a:ea typeface="Microsoft YaHei" panose="020B0503020204020204" pitchFamily="34" charset="-122"/>
            </a:endParaRPr>
          </a:p>
        </p:txBody>
      </p:sp>
      <p:cxnSp>
        <p:nvCxnSpPr>
          <p:cNvPr id="18" name="直接箭头连接符 52">
            <a:extLst>
              <a:ext uri="{FF2B5EF4-FFF2-40B4-BE49-F238E27FC236}">
                <a16:creationId xmlns:a16="http://schemas.microsoft.com/office/drawing/2014/main" id="{9F597719-88FF-C043-8C85-57122900BBD7}"/>
              </a:ext>
            </a:extLst>
          </p:cNvPr>
          <p:cNvCxnSpPr>
            <a:cxnSpLocks/>
          </p:cNvCxnSpPr>
          <p:nvPr/>
        </p:nvCxnSpPr>
        <p:spPr>
          <a:xfrm flipV="1">
            <a:off x="1560201" y="4427598"/>
            <a:ext cx="0" cy="382188"/>
          </a:xfrm>
          <a:prstGeom prst="straightConnector1">
            <a:avLst/>
          </a:prstGeom>
          <a:ln w="127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9" name="直接箭头连接符 53">
            <a:extLst>
              <a:ext uri="{FF2B5EF4-FFF2-40B4-BE49-F238E27FC236}">
                <a16:creationId xmlns:a16="http://schemas.microsoft.com/office/drawing/2014/main" id="{24BCF083-EBDD-174E-975E-9252454F1EB1}"/>
              </a:ext>
            </a:extLst>
          </p:cNvPr>
          <p:cNvCxnSpPr>
            <a:cxnSpLocks/>
          </p:cNvCxnSpPr>
          <p:nvPr/>
        </p:nvCxnSpPr>
        <p:spPr>
          <a:xfrm flipV="1">
            <a:off x="4656054" y="4443616"/>
            <a:ext cx="0" cy="366170"/>
          </a:xfrm>
          <a:prstGeom prst="straightConnector1">
            <a:avLst/>
          </a:prstGeom>
          <a:ln w="12700">
            <a:solidFill>
              <a:schemeClr val="accent3"/>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0" name="直接箭头连接符 54">
            <a:extLst>
              <a:ext uri="{FF2B5EF4-FFF2-40B4-BE49-F238E27FC236}">
                <a16:creationId xmlns:a16="http://schemas.microsoft.com/office/drawing/2014/main" id="{07DDA60C-6FD9-E347-8E2E-FF9112A79130}"/>
              </a:ext>
            </a:extLst>
          </p:cNvPr>
          <p:cNvCxnSpPr>
            <a:cxnSpLocks/>
          </p:cNvCxnSpPr>
          <p:nvPr/>
        </p:nvCxnSpPr>
        <p:spPr>
          <a:xfrm flipV="1">
            <a:off x="7674383" y="4442294"/>
            <a:ext cx="0" cy="367492"/>
          </a:xfrm>
          <a:prstGeom prst="straightConnector1">
            <a:avLst/>
          </a:prstGeom>
          <a:ln w="1270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45BAFC0F-528D-554C-BDA8-9F5B4535C726}"/>
              </a:ext>
            </a:extLst>
          </p:cNvPr>
          <p:cNvSpPr txBox="1"/>
          <p:nvPr/>
        </p:nvSpPr>
        <p:spPr>
          <a:xfrm>
            <a:off x="9432148" y="2179550"/>
            <a:ext cx="255784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第四節</a:t>
            </a:r>
            <a:endParaRPr lang="en-US" altLang="zh-CN"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高級系統保護方案</a:t>
            </a:r>
            <a:endParaRPr lang="en-US" altLang="zh-CN"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2" name="矩形 21">
            <a:extLst>
              <a:ext uri="{FF2B5EF4-FFF2-40B4-BE49-F238E27FC236}">
                <a16:creationId xmlns:a16="http://schemas.microsoft.com/office/drawing/2014/main" id="{E48EECA3-BEB0-AC4F-AC38-37A0A3741900}"/>
              </a:ext>
            </a:extLst>
          </p:cNvPr>
          <p:cNvSpPr/>
          <p:nvPr/>
        </p:nvSpPr>
        <p:spPr>
          <a:xfrm>
            <a:off x="9524262" y="2856345"/>
            <a:ext cx="2409645" cy="1549399"/>
          </a:xfrm>
          <a:prstGeom prst="rect">
            <a:avLst/>
          </a:prstGeom>
          <a:solidFill>
            <a:schemeClr val="accent3">
              <a:lumMod val="20000"/>
              <a:lumOff val="80000"/>
              <a:alpha val="77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t"/>
          <a:lstStyle/>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控制流完整性</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指針完整性</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zh-CN" altLang="en-US" dirty="0">
                <a:solidFill>
                  <a:srgbClr val="000000"/>
                </a:solidFill>
                <a:latin typeface="Microsoft YaHei" panose="020B0503020204020204" pitchFamily="34" charset="-122"/>
                <a:ea typeface="Microsoft YaHei" panose="020B0503020204020204" pitchFamily="34" charset="-122"/>
              </a:rPr>
              <a:t>信息流控制</a:t>
            </a:r>
            <a:endParaRPr lang="en-US" altLang="zh-CN" dirty="0">
              <a:solidFill>
                <a:srgbClr val="000000"/>
              </a:solidFill>
              <a:latin typeface="Microsoft YaHei" panose="020B0503020204020204" pitchFamily="34" charset="-122"/>
              <a:ea typeface="Microsoft YaHei" panose="020B0503020204020204" pitchFamily="34" charset="-122"/>
            </a:endParaRPr>
          </a:p>
          <a:p>
            <a:pPr marL="285750" indent="-285750">
              <a:lnSpc>
                <a:spcPct val="120000"/>
              </a:lnSpc>
              <a:buFont typeface="Arial" panose="020B0604020202020204" pitchFamily="34" charset="0"/>
              <a:buChar char="•"/>
            </a:pPr>
            <a:r>
              <a:rPr lang="en-US" altLang="zh-CN" dirty="0">
                <a:solidFill>
                  <a:srgbClr val="000000"/>
                </a:solidFill>
                <a:latin typeface="Microsoft YaHei" panose="020B0503020204020204" pitchFamily="34" charset="-122"/>
                <a:ea typeface="Microsoft YaHei" panose="020B0503020204020204" pitchFamily="34" charset="-122"/>
              </a:rPr>
              <a:t>I/O</a:t>
            </a:r>
            <a:r>
              <a:rPr lang="zh-CN" altLang="en-US" dirty="0">
                <a:solidFill>
                  <a:srgbClr val="000000"/>
                </a:solidFill>
                <a:latin typeface="Microsoft YaHei" panose="020B0503020204020204" pitchFamily="34" charset="-122"/>
                <a:ea typeface="Microsoft YaHei" panose="020B0503020204020204" pitchFamily="34" charset="-122"/>
              </a:rPr>
              <a:t>子系統保護</a:t>
            </a:r>
            <a:endParaRPr lang="en-US" altLang="zh-CN" dirty="0">
              <a:solidFill>
                <a:srgbClr val="000000"/>
              </a:solidFill>
              <a:latin typeface="Microsoft YaHei" panose="020B0503020204020204" pitchFamily="34" charset="-122"/>
              <a:ea typeface="Microsoft YaHei" panose="020B0503020204020204" pitchFamily="34" charset="-122"/>
            </a:endParaRPr>
          </a:p>
        </p:txBody>
      </p:sp>
      <p:sp>
        <p:nvSpPr>
          <p:cNvPr id="23" name="矩形 22">
            <a:extLst>
              <a:ext uri="{FF2B5EF4-FFF2-40B4-BE49-F238E27FC236}">
                <a16:creationId xmlns:a16="http://schemas.microsoft.com/office/drawing/2014/main" id="{D884F44E-ECF6-BC41-A379-99645A60ED5D}"/>
              </a:ext>
            </a:extLst>
          </p:cNvPr>
          <p:cNvSpPr/>
          <p:nvPr/>
        </p:nvSpPr>
        <p:spPr>
          <a:xfrm>
            <a:off x="9529264" y="4919692"/>
            <a:ext cx="2409404" cy="967879"/>
          </a:xfrm>
          <a:prstGeom prst="rect">
            <a:avLst/>
          </a:prstGeom>
          <a:solidFill>
            <a:schemeClr val="accent3">
              <a:lumMod val="20000"/>
              <a:lumOff val="80000"/>
              <a:alpha val="36000"/>
            </a:schemeClr>
          </a:solidFill>
          <a:ln w="6350">
            <a:solidFill>
              <a:schemeClr val="accent5">
                <a:lumMod val="60000"/>
                <a:lumOff val="40000"/>
              </a:schemeClr>
            </a:solidFill>
          </a:ln>
          <a:effectLst>
            <a:outerShdw blurRad="254000" dist="127000" dir="5400000" sx="90000" sy="90000" rotWithShape="0">
              <a:prstClr val="black">
                <a:alpha val="15000"/>
              </a:prstClr>
            </a:outerShdw>
          </a:effectLst>
        </p:spPr>
        <p:txBody>
          <a:bodyPr lIns="144000" tIns="108000" rIns="90000" bIns="108000" anchor="ctr"/>
          <a:lstStyle/>
          <a:p>
            <a:pPr algn="ctr"/>
            <a:r>
              <a:rPr kumimoji="1" lang="zh-CN" altLang="en-US" dirty="0">
                <a:solidFill>
                  <a:srgbClr val="0070C0"/>
                </a:solidFill>
                <a:latin typeface="Microsoft YaHei" panose="020B0503020204020204" pitchFamily="34" charset="-122"/>
                <a:ea typeface="Microsoft YaHei" panose="020B0503020204020204" pitchFamily="34" charset="-122"/>
              </a:rPr>
              <a:t>系統粒度的防禦方案</a:t>
            </a:r>
            <a:endParaRPr kumimoji="1" lang="en-US" altLang="zh-CN" dirty="0">
              <a:solidFill>
                <a:srgbClr val="0070C0"/>
              </a:solidFill>
              <a:latin typeface="Microsoft YaHei" panose="020B0503020204020204" pitchFamily="34" charset="-122"/>
              <a:ea typeface="Microsoft YaHei" panose="020B0503020204020204" pitchFamily="34" charset="-122"/>
            </a:endParaRPr>
          </a:p>
          <a:p>
            <a:pPr algn="ctr"/>
            <a:r>
              <a:rPr kumimoji="1" lang="zh-CN" altLang="en-US" dirty="0">
                <a:solidFill>
                  <a:schemeClr val="tx1"/>
                </a:solidFill>
                <a:latin typeface="Microsoft YaHei" panose="020B0503020204020204" pitchFamily="34" charset="-122"/>
                <a:ea typeface="Microsoft YaHei" panose="020B0503020204020204" pitchFamily="34" charset="-122"/>
              </a:rPr>
              <a:t>通過更嚴格的安全機制防禦控制流劫持</a:t>
            </a:r>
            <a:endParaRPr kumimoji="1" lang="en-US" altLang="zh-CN" dirty="0">
              <a:solidFill>
                <a:schemeClr val="tx1"/>
              </a:solidFill>
              <a:latin typeface="Microsoft YaHei" panose="020B0503020204020204" pitchFamily="34" charset="-122"/>
              <a:ea typeface="Microsoft YaHei" panose="020B0503020204020204" pitchFamily="34" charset="-122"/>
            </a:endParaRPr>
          </a:p>
        </p:txBody>
      </p:sp>
      <p:cxnSp>
        <p:nvCxnSpPr>
          <p:cNvPr id="24" name="直接箭头连接符 62">
            <a:extLst>
              <a:ext uri="{FF2B5EF4-FFF2-40B4-BE49-F238E27FC236}">
                <a16:creationId xmlns:a16="http://schemas.microsoft.com/office/drawing/2014/main" id="{4A488980-042E-2342-BB16-76B9135C7D36}"/>
              </a:ext>
            </a:extLst>
          </p:cNvPr>
          <p:cNvCxnSpPr>
            <a:cxnSpLocks/>
          </p:cNvCxnSpPr>
          <p:nvPr/>
        </p:nvCxnSpPr>
        <p:spPr>
          <a:xfrm flipV="1">
            <a:off x="10729084" y="4410948"/>
            <a:ext cx="0" cy="367492"/>
          </a:xfrm>
          <a:prstGeom prst="straightConnector1">
            <a:avLst/>
          </a:prstGeom>
          <a:ln w="12700">
            <a:solidFill>
              <a:schemeClr val="accent3"/>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25" name="直接箭头连接符 63">
            <a:extLst>
              <a:ext uri="{FF2B5EF4-FFF2-40B4-BE49-F238E27FC236}">
                <a16:creationId xmlns:a16="http://schemas.microsoft.com/office/drawing/2014/main" id="{E12374C6-A46C-2C41-A8B3-BDFF31496F13}"/>
              </a:ext>
            </a:extLst>
          </p:cNvPr>
          <p:cNvCxnSpPr>
            <a:cxnSpLocks/>
          </p:cNvCxnSpPr>
          <p:nvPr/>
        </p:nvCxnSpPr>
        <p:spPr>
          <a:xfrm>
            <a:off x="8979909" y="3657852"/>
            <a:ext cx="503046"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任意多边形: 形状 25">
            <a:extLst>
              <a:ext uri="{FF2B5EF4-FFF2-40B4-BE49-F238E27FC236}">
                <a16:creationId xmlns:a16="http://schemas.microsoft.com/office/drawing/2014/main" id="{E1F6074D-4F73-F64A-AEA6-36202035CEC7}"/>
              </a:ext>
            </a:extLst>
          </p:cNvPr>
          <p:cNvSpPr/>
          <p:nvPr/>
        </p:nvSpPr>
        <p:spPr>
          <a:xfrm>
            <a:off x="2030467" y="5966508"/>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0070C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任意多边形: 形状 26">
            <a:extLst>
              <a:ext uri="{FF2B5EF4-FFF2-40B4-BE49-F238E27FC236}">
                <a16:creationId xmlns:a16="http://schemas.microsoft.com/office/drawing/2014/main" id="{4B2F33C6-E047-B74B-BC86-6DDAFC3FDF98}"/>
              </a:ext>
            </a:extLst>
          </p:cNvPr>
          <p:cNvSpPr/>
          <p:nvPr/>
        </p:nvSpPr>
        <p:spPr>
          <a:xfrm>
            <a:off x="5330903" y="5967028"/>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任意多边形: 形状 27">
            <a:extLst>
              <a:ext uri="{FF2B5EF4-FFF2-40B4-BE49-F238E27FC236}">
                <a16:creationId xmlns:a16="http://schemas.microsoft.com/office/drawing/2014/main" id="{7FC0FBF2-F334-EF4D-8EEE-F9C8F072CF4B}"/>
              </a:ext>
            </a:extLst>
          </p:cNvPr>
          <p:cNvSpPr/>
          <p:nvPr/>
        </p:nvSpPr>
        <p:spPr>
          <a:xfrm>
            <a:off x="8382620" y="5979945"/>
            <a:ext cx="1891573" cy="278965"/>
          </a:xfrm>
          <a:custGeom>
            <a:avLst/>
            <a:gdLst>
              <a:gd name="connsiteX0" fmla="*/ 7563173 w 7563173"/>
              <a:gd name="connsiteY0" fmla="*/ 30997 h 395207"/>
              <a:gd name="connsiteX1" fmla="*/ 7563173 w 7563173"/>
              <a:gd name="connsiteY1" fmla="*/ 395207 h 395207"/>
              <a:gd name="connsiteX2" fmla="*/ 0 w 7563173"/>
              <a:gd name="connsiteY2" fmla="*/ 395207 h 395207"/>
              <a:gd name="connsiteX3" fmla="*/ 0 w 7563173"/>
              <a:gd name="connsiteY3" fmla="*/ 0 h 395207"/>
            </a:gdLst>
            <a:ahLst/>
            <a:cxnLst>
              <a:cxn ang="0">
                <a:pos x="connsiteX0" y="connsiteY0"/>
              </a:cxn>
              <a:cxn ang="0">
                <a:pos x="connsiteX1" y="connsiteY1"/>
              </a:cxn>
              <a:cxn ang="0">
                <a:pos x="connsiteX2" y="connsiteY2"/>
              </a:cxn>
              <a:cxn ang="0">
                <a:pos x="connsiteX3" y="connsiteY3"/>
              </a:cxn>
            </a:cxnLst>
            <a:rect l="l" t="t" r="r" b="b"/>
            <a:pathLst>
              <a:path w="7563173" h="395207">
                <a:moveTo>
                  <a:pt x="7563173" y="30997"/>
                </a:moveTo>
                <a:lnTo>
                  <a:pt x="7563173" y="395207"/>
                </a:lnTo>
                <a:lnTo>
                  <a:pt x="0" y="395207"/>
                </a:lnTo>
                <a:lnTo>
                  <a:pt x="0" y="0"/>
                </a:lnTo>
              </a:path>
            </a:pathLst>
          </a:custGeom>
          <a:ln w="12700">
            <a:solidFill>
              <a:schemeClr val="accent3"/>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A098B0D1-6C55-3A41-B695-AEA240B16B90}"/>
              </a:ext>
            </a:extLst>
          </p:cNvPr>
          <p:cNvSpPr txBox="1"/>
          <p:nvPr/>
        </p:nvSpPr>
        <p:spPr>
          <a:xfrm>
            <a:off x="1719697" y="6257847"/>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rPr>
              <a:t>有效防禦</a:t>
            </a:r>
            <a:endParaRPr lang="en-US" altLang="zh-CN"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文本框 29">
            <a:extLst>
              <a:ext uri="{FF2B5EF4-FFF2-40B4-BE49-F238E27FC236}">
                <a16:creationId xmlns:a16="http://schemas.microsoft.com/office/drawing/2014/main" id="{D84593D2-DDDE-2041-A8E6-F990F5B3A2D1}"/>
              </a:ext>
            </a:extLst>
          </p:cNvPr>
          <p:cNvSpPr txBox="1"/>
          <p:nvPr/>
        </p:nvSpPr>
        <p:spPr>
          <a:xfrm>
            <a:off x="5013741" y="6277008"/>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成功繞過</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1" name="文本框 30">
            <a:extLst>
              <a:ext uri="{FF2B5EF4-FFF2-40B4-BE49-F238E27FC236}">
                <a16:creationId xmlns:a16="http://schemas.microsoft.com/office/drawing/2014/main" id="{7B82FDA4-03B9-FF4B-8C46-79D8CEEF2D97}"/>
              </a:ext>
            </a:extLst>
          </p:cNvPr>
          <p:cNvSpPr txBox="1"/>
          <p:nvPr/>
        </p:nvSpPr>
        <p:spPr>
          <a:xfrm>
            <a:off x="8073896" y="6302500"/>
            <a:ext cx="2513112"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rPr>
              <a:t>有效防禦</a:t>
            </a:r>
            <a:endParaRPr lang="en-US" altLang="zh-CN" dirty="0">
              <a:solidFill>
                <a:schemeClr val="accent3"/>
              </a:solidFill>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2" name="矩形 31">
            <a:extLst>
              <a:ext uri="{FF2B5EF4-FFF2-40B4-BE49-F238E27FC236}">
                <a16:creationId xmlns:a16="http://schemas.microsoft.com/office/drawing/2014/main" id="{1D9E7659-75B7-CF4B-8AC6-78218CDA1246}"/>
              </a:ext>
            </a:extLst>
          </p:cNvPr>
          <p:cNvSpPr>
            <a:spLocks/>
          </p:cNvSpPr>
          <p:nvPr/>
        </p:nvSpPr>
        <p:spPr bwMode="auto">
          <a:xfrm>
            <a:off x="429491" y="1012677"/>
            <a:ext cx="11374581" cy="944139"/>
          </a:xfrm>
          <a:prstGeom prst="rect">
            <a:avLst/>
          </a:prstGeom>
          <a:solidFill>
            <a:schemeClr val="bg1"/>
          </a:solidFill>
          <a:ln w="6350">
            <a:solidFill>
              <a:schemeClr val="bg1">
                <a:lumMod val="75000"/>
              </a:schemeClr>
            </a:solidFill>
          </a:ln>
          <a:effectLst>
            <a:outerShdw blurRad="254000" dist="127000" dir="5400000" sx="90000" sy="90000" rotWithShape="0">
              <a:prstClr val="black">
                <a:alpha val="15000"/>
              </a:prstClr>
            </a:outerShdw>
          </a:effectLst>
        </p:spPr>
        <p:txBody>
          <a:bodyPr lIns="144000" tIns="108000" rIns="90000" bIns="108000" anchor="ctr"/>
          <a:lstStyle/>
          <a:p>
            <a:pPr>
              <a:lnSpc>
                <a:spcPct val="120000"/>
              </a:lnSpc>
            </a:pP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本章當中，我們首先回顧了最早的操作系統安全問題，</a:t>
            </a:r>
            <a:r>
              <a:rPr lang="en-US" altLang="zh-CN" sz="2000" b="1" dirty="0">
                <a:solidFill>
                  <a:schemeClr val="bg2">
                    <a:lumMod val="10000"/>
                  </a:schemeClr>
                </a:solidFill>
                <a:latin typeface="Microsoft YaHei" panose="020B0503020204020204" pitchFamily="34" charset="-122"/>
                <a:ea typeface="Microsoft YaHei" panose="020B0503020204020204" pitchFamily="34" charset="-122"/>
              </a:rPr>
              <a:t>Morris Worm</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；幷分析了 </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SQL Slammers </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侵染</a:t>
            </a:r>
            <a:r>
              <a:rPr kumimoji="1" lang="en-US" altLang="zh-CN"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SQL Server</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的全過程，之後由淺入深地介紹了操作系統下一系列</a:t>
            </a:r>
            <a:r>
              <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攻擊</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與</a:t>
            </a:r>
            <a:r>
              <a:rPr kumimoji="1" lang="zh-CN" altLang="en-US" sz="2000" b="1" i="0" u="none" strike="noStrike" kern="1200" cap="none" spc="0" normalizeH="0" baseline="0" noProof="0" dirty="0">
                <a:ln>
                  <a:noFill/>
                </a:ln>
                <a:solidFill>
                  <a:schemeClr val="accent3"/>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防禦</a:t>
            </a:r>
            <a:r>
              <a:rPr kumimoji="1" lang="zh-CN"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方案</a:t>
            </a:r>
            <a:endParaRPr lang="zh-CN" altLang="en-US" sz="2100" b="1" dirty="0">
              <a:latin typeface="Microsoft YaHei" charset="-122"/>
              <a:ea typeface="Microsoft YaHei" charset="-122"/>
              <a:cs typeface="Microsoft YaHei" charset="-122"/>
            </a:endParaRPr>
          </a:p>
        </p:txBody>
      </p:sp>
    </p:spTree>
    <p:extLst>
      <p:ext uri="{BB962C8B-B14F-4D97-AF65-F5344CB8AC3E}">
        <p14:creationId xmlns:p14="http://schemas.microsoft.com/office/powerpoint/2010/main" val="22436643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253288" cy="3281796"/>
          </a:xfrm>
          <a:prstGeom prst="rect">
            <a:avLst/>
          </a:prstGeom>
          <a:noFill/>
        </p:spPr>
        <p:txBody>
          <a:bodyPr wrap="square" rtlCol="0">
            <a:spAutoFit/>
          </a:bodyPr>
          <a:lstStyle/>
          <a:p>
            <a:pPr marL="342900" marR="0" lvl="0" indent="-342900" algn="just" defTabSz="914400" rtl="0" eaLnBrk="1" fontAlgn="auto" latinLnBrk="0" hangingPunct="1">
              <a:lnSpc>
                <a:spcPts val="36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其一，對于操作系統的防禦與攻擊方案</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與新型硬件</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特性</a:t>
            </a:r>
            <a:r>
              <a:rPr kumimoji="1" lang="zh-CN" altLang="en-US"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rPr>
              <a:t>加以結合，例如：</a:t>
            </a:r>
            <a:endParaRPr kumimoji="1" lang="en-US" altLang="zh-CN" sz="240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Gras</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2017</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年</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提出了一種利用硬件緩存側信道</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去除</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ASLR</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隨機化的方法</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en-US" altLang="zh-CN" sz="2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Frassetto</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kumimoji="1" lang="zh-CN" altLang="en-US"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通過拓展指令集，實現了內存隔離，防止了非法內存訪問的發生</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ts val="3600"/>
              </a:lnSpc>
              <a:spcBef>
                <a:spcPts val="0"/>
              </a:spcBef>
              <a:spcAft>
                <a:spcPts val="0"/>
              </a:spcAft>
              <a:buClrTx/>
              <a:buSzTx/>
              <a:buFontTx/>
              <a:buNone/>
              <a:tabLst/>
              <a:defRPr/>
            </a:pP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借助</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SGX</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MPK</a:t>
            </a:r>
            <a:r>
              <a:rPr kumimoji="1" lang="zh-CN" altLang="en-US"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等新型硬件安全功能，借助硬件虛擬化基礎設施實現新的系統安全保障機制研究目前是一個</a:t>
            </a:r>
            <a:r>
              <a:rPr kumimoji="1" lang="zh-CN" altLang="en-US" sz="2400" b="1" dirty="0">
                <a:solidFill>
                  <a:srgbClr val="C00000"/>
                </a:solidFill>
                <a:latin typeface="微软雅黑" panose="020B0503020204020204" pitchFamily="34" charset="-122"/>
                <a:ea typeface="微软雅黑" panose="020B0503020204020204" pitchFamily="34" charset="-122"/>
                <a:cs typeface="Times New Roman" panose="02020603050405020304" pitchFamily="18" charset="0"/>
              </a:rPr>
              <a:t>活躍的研究分支</a:t>
            </a:r>
            <a:endParaRPr kumimoji="1" lang="zh-CN" altLang="en-US" sz="2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25">
            <a:extLst>
              <a:ext uri="{FF2B5EF4-FFF2-40B4-BE49-F238E27FC236}">
                <a16:creationId xmlns:a16="http://schemas.microsoft.com/office/drawing/2014/main" id="{C83042AC-6B35-4C0B-9E8A-D72CB0A59577}"/>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宏觀來看操作系統安全研究發展趨勢有二：</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展望</a:t>
            </a:r>
          </a:p>
        </p:txBody>
      </p:sp>
      <p:cxnSp>
        <p:nvCxnSpPr>
          <p:cNvPr id="5" name="直接连接符 4">
            <a:extLst>
              <a:ext uri="{FF2B5EF4-FFF2-40B4-BE49-F238E27FC236}">
                <a16:creationId xmlns:a16="http://schemas.microsoft.com/office/drawing/2014/main" id="{1DBE7410-D0F6-4478-978D-594B69DCF3EE}"/>
              </a:ext>
            </a:extLst>
          </p:cNvPr>
          <p:cNvCxnSpPr>
            <a:cxnSpLocks/>
          </p:cNvCxnSpPr>
          <p:nvPr/>
        </p:nvCxnSpPr>
        <p:spPr>
          <a:xfrm>
            <a:off x="561975" y="6045443"/>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14">
            <a:extLst>
              <a:ext uri="{FF2B5EF4-FFF2-40B4-BE49-F238E27FC236}">
                <a16:creationId xmlns:a16="http://schemas.microsoft.com/office/drawing/2014/main" id="{590B1E7E-EAF1-4A8E-BBE9-4EDFC1CA4B5F}"/>
              </a:ext>
            </a:extLst>
          </p:cNvPr>
          <p:cNvSpPr txBox="1"/>
          <p:nvPr/>
        </p:nvSpPr>
        <p:spPr>
          <a:xfrm>
            <a:off x="561974" y="6057230"/>
            <a:ext cx="10791826" cy="523220"/>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Ben Gras, et al. "ASLR on the Line: Practical Cache Attacks on the MMU." NDSS. Vol. 17. 2017.</a:t>
            </a:r>
          </a:p>
          <a:p>
            <a:pPr algn="ju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Tommaso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Frassetto</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"IMIX: In-Process Memory Isolation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EXtension</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27th USENIX Security Symposium</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2018.</a:t>
            </a:r>
          </a:p>
        </p:txBody>
      </p:sp>
      <p:sp>
        <p:nvSpPr>
          <p:cNvPr id="4" name="Slide Number Placeholder 7">
            <a:extLst>
              <a:ext uri="{FF2B5EF4-FFF2-40B4-BE49-F238E27FC236}">
                <a16:creationId xmlns:a16="http://schemas.microsoft.com/office/drawing/2014/main" id="{570DB64F-1168-2772-FE66-5BAE5F68F918}"/>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115</a:t>
            </a:fld>
            <a:endParaRPr lang="zh-CN" altLang="en-US" sz="1200" dirty="0">
              <a:solidFill>
                <a:schemeClr val="tx1">
                  <a:tint val="75000"/>
                </a:schemeClr>
              </a:solidFill>
            </a:endParaRPr>
          </a:p>
        </p:txBody>
      </p:sp>
    </p:spTree>
    <p:extLst>
      <p:ext uri="{BB962C8B-B14F-4D97-AF65-F5344CB8AC3E}">
        <p14:creationId xmlns:p14="http://schemas.microsoft.com/office/powerpoint/2010/main" val="187026011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0997707" cy="3416320"/>
          </a:xfrm>
          <a:prstGeom prst="rect">
            <a:avLst/>
          </a:prstGeom>
          <a:noFill/>
        </p:spPr>
        <p:txBody>
          <a:bodyPr wrap="square" rtlCol="0">
            <a:spAutoFit/>
          </a:bodyPr>
          <a:lstStyle/>
          <a:p>
            <a:pPr marL="342900" marR="0" lvl="0" indent="-3429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其二，操作系統環境下的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漏洞的自動化挖掘</a:t>
            </a: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Wang, et al.</a:t>
            </a:r>
            <a:r>
              <a:rPr kumimoji="1" lang="en-US" altLang="zh-CN" sz="2400" b="0" i="0" u="none" strike="noStrike" kern="1200" cap="none" spc="0" normalizeH="0" baseline="30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實現了一種對于操作系統缺乏二次檢查漏洞的全自動化挖掘方法，其使用的傳統數據流與控制流分析，類似的工作還有很多</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Jia</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et al.</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針對于內核驅動當中的未初始化漏洞進行了分析</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Eckert, et al.</a:t>
            </a:r>
            <a:r>
              <a:rPr kumimoji="1" lang="en-US" altLang="zh-CN" sz="2400" baseline="300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利用模型驗證（</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Model Checking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）方法實現了對于堆管理器的安全性驗證</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25">
            <a:extLst>
              <a:ext uri="{FF2B5EF4-FFF2-40B4-BE49-F238E27FC236}">
                <a16:creationId xmlns:a16="http://schemas.microsoft.com/office/drawing/2014/main" id="{C83042AC-6B35-4C0B-9E8A-D72CB0A59577}"/>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宏觀來看操作系統安全研究發展趨勢有二：</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t>展望</a:t>
            </a:r>
            <a:endParaRPr lang="zh-CN" altLang="en-US" dirty="0">
              <a:solidFill>
                <a:schemeClr val="tx1"/>
              </a:solidFill>
            </a:endParaRPr>
          </a:p>
        </p:txBody>
      </p:sp>
      <p:cxnSp>
        <p:nvCxnSpPr>
          <p:cNvPr id="5" name="直接连接符 4">
            <a:extLst>
              <a:ext uri="{FF2B5EF4-FFF2-40B4-BE49-F238E27FC236}">
                <a16:creationId xmlns:a16="http://schemas.microsoft.com/office/drawing/2014/main" id="{074993C6-1E2F-4258-80F8-E5F241B94AAF}"/>
              </a:ext>
            </a:extLst>
          </p:cNvPr>
          <p:cNvCxnSpPr>
            <a:cxnSpLocks/>
          </p:cNvCxnSpPr>
          <p:nvPr/>
        </p:nvCxnSpPr>
        <p:spPr>
          <a:xfrm>
            <a:off x="561975" y="5675218"/>
            <a:ext cx="547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框 14">
            <a:extLst>
              <a:ext uri="{FF2B5EF4-FFF2-40B4-BE49-F238E27FC236}">
                <a16:creationId xmlns:a16="http://schemas.microsoft.com/office/drawing/2014/main" id="{A578AD36-3C60-49F5-858D-0DFA5DC53696}"/>
              </a:ext>
            </a:extLst>
          </p:cNvPr>
          <p:cNvSpPr txBox="1"/>
          <p:nvPr/>
        </p:nvSpPr>
        <p:spPr>
          <a:xfrm>
            <a:off x="561974" y="5687009"/>
            <a:ext cx="10834572" cy="954107"/>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sz="1400" b="0" i="0" dirty="0" err="1">
                <a:solidFill>
                  <a:srgbClr val="222222"/>
                </a:solidFill>
                <a:effectLst/>
                <a:latin typeface="Arial" panose="020B0604020202020204" pitchFamily="34" charset="0"/>
              </a:rPr>
              <a:t>Wenwen</a:t>
            </a:r>
            <a:r>
              <a:rPr lang="en-US" altLang="zh-CN" sz="1400" b="0" i="0" dirty="0">
                <a:solidFill>
                  <a:srgbClr val="222222"/>
                </a:solidFill>
                <a:effectLst/>
                <a:latin typeface="Arial" panose="020B0604020202020204" pitchFamily="34" charset="0"/>
              </a:rPr>
              <a:t> Wang,</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et al. “Check it again: Detecting lacking-recheck bugs in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os</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kernels." in Proceedings of CCS, 2018.</a:t>
            </a:r>
          </a:p>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 </a:t>
            </a:r>
            <a:r>
              <a:rPr kumimoji="1" lang="en-US" altLang="zh-CN" sz="1400" b="0" i="0" u="none" strike="noStrike" kern="12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Xiangkun</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Jia, et al. "Towards efficient heap overflow discovery." </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26th</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USENIX Security Symposium, 2017.</a:t>
            </a:r>
          </a:p>
          <a:p>
            <a:pPr marL="0" marR="0" lvl="0" indent="0" defTabSz="914400" rtl="0" eaLnBrk="1" fontAlgn="auto" latinLnBrk="0" hangingPunct="1">
              <a:lnSpc>
                <a:spcPct val="100000"/>
              </a:lnSpc>
              <a:spcBef>
                <a:spcPts val="0"/>
              </a:spcBef>
              <a:spcAft>
                <a:spcPts val="0"/>
              </a:spcAft>
              <a:buClrTx/>
              <a:buSzTx/>
              <a:buFontTx/>
              <a:buNone/>
              <a:tabLst/>
              <a:defRPr/>
            </a:pP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 Moritz Eckert, et al. </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dirty="0" err="1">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Heaphopper</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Bringing bounded model checking to heap implementation security.</a:t>
            </a:r>
            <a:r>
              <a:rPr kumimoji="1" lang="en-US" altLang="zh-CN" sz="1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sz="1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27th USENIX Security Symposium, 2018.</a:t>
            </a:r>
          </a:p>
        </p:txBody>
      </p:sp>
      <p:sp>
        <p:nvSpPr>
          <p:cNvPr id="4" name="Slide Number Placeholder 7">
            <a:extLst>
              <a:ext uri="{FF2B5EF4-FFF2-40B4-BE49-F238E27FC236}">
                <a16:creationId xmlns:a16="http://schemas.microsoft.com/office/drawing/2014/main" id="{DF823C1F-C43F-FAD9-AED2-DE40AFA9E712}"/>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116</a:t>
            </a:fld>
            <a:endParaRPr lang="zh-CN" altLang="en-US" sz="1200" dirty="0">
              <a:solidFill>
                <a:schemeClr val="tx1">
                  <a:tint val="75000"/>
                </a:schemeClr>
              </a:solidFill>
            </a:endParaRPr>
          </a:p>
        </p:txBody>
      </p:sp>
    </p:spTree>
    <p:extLst>
      <p:ext uri="{BB962C8B-B14F-4D97-AF65-F5344CB8AC3E}">
        <p14:creationId xmlns:p14="http://schemas.microsoft.com/office/powerpoint/2010/main" val="367733473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a:extLst>
              <a:ext uri="{FF2B5EF4-FFF2-40B4-BE49-F238E27FC236}">
                <a16:creationId xmlns:a16="http://schemas.microsoft.com/office/drawing/2014/main" id="{0FC9A5B1-66EA-467E-AD2B-4AEF6014A23C}"/>
              </a:ext>
            </a:extLst>
          </p:cNvPr>
          <p:cNvSpPr txBox="1"/>
          <p:nvPr/>
        </p:nvSpPr>
        <p:spPr>
          <a:xfrm>
            <a:off x="492510" y="1742167"/>
            <a:ext cx="11253288" cy="2677656"/>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 </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其二，操作系統</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漏洞的自動化挖掘</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目前系統相關漏洞自動化挖掘是極其活躍的研究分支</a:t>
            </a:r>
            <a:endParaRPr kumimoji="1" lang="en-US" altLang="zh-CN" sz="24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1" lang="en-US" altLang="zh-CN" sz="24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然而，其中具有顯著成效的方法均以傳統的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靜態源代碼分析</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爲主，具有更好漏洞挖掘效果的</a:t>
            </a:r>
            <a:r>
              <a:rPr kumimoji="1" lang="zh-CN" altLang="en-US" sz="2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動態分析方案</a:t>
            </a:r>
            <a:r>
              <a:rPr kumimoji="1"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例如模糊測試，</a:t>
            </a:r>
            <a:r>
              <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Fuzzing</a:t>
            </a:r>
            <a:r>
              <a:rPr kumimoji="1" lang="zh-CN" altLang="en-US"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）在應用到操作系統這類高度複雜軟件系統時仍然存在各種各樣的局限性</a:t>
            </a:r>
            <a:endParaRPr kumimoji="1" lang="en-US" altLang="zh-CN" sz="24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25">
            <a:extLst>
              <a:ext uri="{FF2B5EF4-FFF2-40B4-BE49-F238E27FC236}">
                <a16:creationId xmlns:a16="http://schemas.microsoft.com/office/drawing/2014/main" id="{C83042AC-6B35-4C0B-9E8A-D72CB0A59577}"/>
              </a:ext>
            </a:extLst>
          </p:cNvPr>
          <p:cNvSpPr txBox="1"/>
          <p:nvPr/>
        </p:nvSpPr>
        <p:spPr>
          <a:xfrm>
            <a:off x="492508" y="1136557"/>
            <a:ext cx="7297253" cy="523220"/>
          </a:xfrm>
          <a:prstGeom prst="rect">
            <a:avLst/>
          </a:prstGeom>
          <a:noFill/>
        </p:spPr>
        <p:txBody>
          <a:bodyPr wrap="squar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effectLst/>
                <a:uLnTx/>
                <a:uFillTx/>
                <a:latin typeface="微软雅黑"/>
                <a:ea typeface="微软雅黑"/>
                <a:cs typeface="+mn-cs"/>
              </a:rPr>
              <a:t>宏觀來看操作系統安全研究發展趨勢有二：</a:t>
            </a:r>
            <a:endParaRPr kumimoji="0" lang="en-US" altLang="zh-CN" sz="2800" b="1" i="0" u="none" strike="noStrike" kern="1200" cap="none" spc="0" normalizeH="0" baseline="0" noProof="0" dirty="0">
              <a:ln>
                <a:noFill/>
              </a:ln>
              <a:effectLst/>
              <a:uLnTx/>
              <a:uFillTx/>
              <a:latin typeface="微软雅黑"/>
              <a:ea typeface="微软雅黑"/>
              <a:cs typeface="+mn-cs"/>
            </a:endParaRPr>
          </a:p>
        </p:txBody>
      </p:sp>
      <p:sp>
        <p:nvSpPr>
          <p:cNvPr id="2" name="标题 1">
            <a:extLst>
              <a:ext uri="{FF2B5EF4-FFF2-40B4-BE49-F238E27FC236}">
                <a16:creationId xmlns:a16="http://schemas.microsoft.com/office/drawing/2014/main" id="{6122EA1B-B322-4782-A479-3D04DF48EA63}"/>
              </a:ext>
            </a:extLst>
          </p:cNvPr>
          <p:cNvSpPr>
            <a:spLocks noGrp="1"/>
          </p:cNvSpPr>
          <p:nvPr>
            <p:ph type="title"/>
          </p:nvPr>
        </p:nvSpPr>
        <p:spPr/>
        <p:txBody>
          <a:bodyPr>
            <a:normAutofit/>
          </a:bodyPr>
          <a:lstStyle/>
          <a:p>
            <a:r>
              <a:rPr lang="zh-CN" altLang="en-US" dirty="0">
                <a:solidFill>
                  <a:schemeClr val="accent4"/>
                </a:solidFill>
              </a:rPr>
              <a:t>展望</a:t>
            </a:r>
          </a:p>
        </p:txBody>
      </p:sp>
      <p:sp>
        <p:nvSpPr>
          <p:cNvPr id="5" name="矩形 4">
            <a:extLst>
              <a:ext uri="{FF2B5EF4-FFF2-40B4-BE49-F238E27FC236}">
                <a16:creationId xmlns:a16="http://schemas.microsoft.com/office/drawing/2014/main" id="{28B1696A-7539-4AE0-A2C3-0BE7F217F898}"/>
              </a:ext>
            </a:extLst>
          </p:cNvPr>
          <p:cNvSpPr>
            <a:spLocks/>
          </p:cNvSpPr>
          <p:nvPr/>
        </p:nvSpPr>
        <p:spPr bwMode="auto">
          <a:xfrm>
            <a:off x="1426867" y="4831352"/>
            <a:ext cx="9264580" cy="1689052"/>
          </a:xfrm>
          <a:prstGeom prst="rect">
            <a:avLst/>
          </a:prstGeom>
          <a:solidFill>
            <a:schemeClr val="accent3">
              <a:lumMod val="20000"/>
              <a:lumOff val="80000"/>
              <a:alpha val="37000"/>
            </a:schemeClr>
          </a:solidFill>
          <a:ln>
            <a:solidFill>
              <a:srgbClr val="00B0F0"/>
            </a:solidFill>
          </a:ln>
        </p:spPr>
        <p:txBody>
          <a:bodyPr wrap="square" rtlCol="0">
            <a:spAutoFit/>
          </a:bodyPr>
          <a:lstStyle/>
          <a:p>
            <a:pPr marL="342900" indent="-342900" algn="just">
              <a:lnSpc>
                <a:spcPct val="150000"/>
              </a:lnSpc>
              <a:buFont typeface="Arial" panose="020B0604020202020204" pitchFamily="34" charset="0"/>
              <a:buChar char="•"/>
            </a:pPr>
            <a:endParaRPr kumimoji="1" lang="en-US" sz="24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a:p>
            <a:pPr marL="342900" indent="-342900" algn="just">
              <a:lnSpc>
                <a:spcPct val="150000"/>
              </a:lnSpc>
              <a:buFont typeface="Arial" panose="020B0604020202020204" pitchFamily="34" charset="0"/>
              <a:buChar char="•"/>
            </a:pPr>
            <a:endParaRPr kumimoji="1" lang="en-US" sz="24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a:p>
            <a:pPr marL="342900" indent="-342900" algn="just">
              <a:lnSpc>
                <a:spcPct val="150000"/>
              </a:lnSpc>
              <a:buFont typeface="Arial" panose="020B0604020202020204" pitchFamily="34" charset="0"/>
              <a:buChar char="•"/>
            </a:pPr>
            <a:endParaRPr kumimoji="1" lang="en-US" sz="2400" b="1" dirty="0">
              <a:solidFill>
                <a:srgbClr val="C00000"/>
              </a:solidFill>
              <a:latin typeface="Microsoft YaHei" panose="020B0503020204020204" pitchFamily="34" charset="-122"/>
              <a:ea typeface="Microsoft YaHei" panose="020B0503020204020204" pitchFamily="34" charset="-122"/>
              <a:sym typeface="Arial" panose="020B0604020202020204" pitchFamily="34" charset="0"/>
            </a:endParaRPr>
          </a:p>
        </p:txBody>
      </p:sp>
      <p:sp>
        <p:nvSpPr>
          <p:cNvPr id="6" name="文本框 5">
            <a:extLst>
              <a:ext uri="{FF2B5EF4-FFF2-40B4-BE49-F238E27FC236}">
                <a16:creationId xmlns:a16="http://schemas.microsoft.com/office/drawing/2014/main" id="{D6FCDE72-E712-43DB-8D60-D5D1114CCDB5}"/>
              </a:ext>
            </a:extLst>
          </p:cNvPr>
          <p:cNvSpPr txBox="1"/>
          <p:nvPr/>
        </p:nvSpPr>
        <p:spPr>
          <a:xfrm>
            <a:off x="845635" y="5036505"/>
            <a:ext cx="10379555" cy="1161087"/>
          </a:xfrm>
          <a:prstGeom prst="rect">
            <a:avLst/>
          </a:prstGeom>
          <a:noFill/>
        </p:spPr>
        <p:txBody>
          <a:bodyPr wrap="square" rtlCol="0">
            <a:spAutoFit/>
          </a:bodyPr>
          <a:lstStyle/>
          <a:p>
            <a:pPr algn="ctr">
              <a:lnSpc>
                <a:spcPct val="120000"/>
              </a:lnSpc>
              <a:spcAft>
                <a:spcPts val="600"/>
              </a:spcAft>
            </a:pPr>
            <a:r>
              <a:rPr lang="zh-CN" altLang="en-US" sz="2800" b="1" dirty="0">
                <a:latin typeface="Microsoft YaHei" panose="020B0503020204020204" pitchFamily="34" charset="-122"/>
                <a:ea typeface="Microsoft YaHei" panose="020B0503020204020204" pitchFamily="34" charset="-122"/>
              </a:rPr>
              <a:t>目前來看，精准全面的操縱系統漏洞的自動化挖掘</a:t>
            </a:r>
            <a:endParaRPr lang="en-US" altLang="zh-CN" sz="2800" b="1" dirty="0">
              <a:latin typeface="Microsoft YaHei" panose="020B0503020204020204" pitchFamily="34" charset="-122"/>
              <a:ea typeface="Microsoft YaHei" panose="020B0503020204020204" pitchFamily="34" charset="-122"/>
            </a:endParaRPr>
          </a:p>
          <a:p>
            <a:pPr algn="ctr">
              <a:lnSpc>
                <a:spcPct val="120000"/>
              </a:lnSpc>
              <a:spcAft>
                <a:spcPts val="600"/>
              </a:spcAft>
            </a:pPr>
            <a:r>
              <a:rPr lang="zh-CN" altLang="en-US" sz="2800" b="1" dirty="0">
                <a:latin typeface="Microsoft YaHei" panose="020B0503020204020204" pitchFamily="34" charset="-122"/>
                <a:ea typeface="Microsoft YaHei" panose="020B0503020204020204" pitchFamily="34" charset="-122"/>
              </a:rPr>
              <a:t>仍然是一個“</a:t>
            </a:r>
            <a:r>
              <a:rPr lang="zh-CN" altLang="en-US" sz="2800" b="1" dirty="0">
                <a:solidFill>
                  <a:schemeClr val="accent3"/>
                </a:solidFill>
                <a:latin typeface="Microsoft YaHei" panose="020B0503020204020204" pitchFamily="34" charset="-122"/>
                <a:ea typeface="Microsoft YaHei" panose="020B0503020204020204" pitchFamily="34" charset="-122"/>
              </a:rPr>
              <a:t>美好的理想</a:t>
            </a:r>
            <a:r>
              <a:rPr lang="zh-CN" altLang="en-US" sz="2800" b="1" dirty="0">
                <a:latin typeface="Microsoft YaHei" panose="020B0503020204020204" pitchFamily="34" charset="-122"/>
                <a:ea typeface="Microsoft YaHei" panose="020B0503020204020204" pitchFamily="34" charset="-122"/>
              </a:rPr>
              <a:t>”</a:t>
            </a:r>
          </a:p>
        </p:txBody>
      </p:sp>
      <p:sp>
        <p:nvSpPr>
          <p:cNvPr id="4" name="Slide Number Placeholder 7">
            <a:extLst>
              <a:ext uri="{FF2B5EF4-FFF2-40B4-BE49-F238E27FC236}">
                <a16:creationId xmlns:a16="http://schemas.microsoft.com/office/drawing/2014/main" id="{3D4F5E67-6672-CAA9-777D-4529D3837EC6}"/>
              </a:ext>
            </a:extLst>
          </p:cNvPr>
          <p:cNvSpPr txBox="1">
            <a:spLocks/>
          </p:cNvSpPr>
          <p:nvPr/>
        </p:nvSpPr>
        <p:spPr>
          <a:xfrm>
            <a:off x="9337040" y="6356351"/>
            <a:ext cx="28448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3CBF4B4-C160-4F55-AC7D-1C8FF5BA05FA}" type="slidenum">
              <a:rPr lang="zh-CN" altLang="en-US" sz="1200" smtClean="0">
                <a:solidFill>
                  <a:schemeClr val="tx1">
                    <a:tint val="75000"/>
                  </a:schemeClr>
                </a:solidFill>
              </a:rPr>
              <a:pPr algn="r"/>
              <a:t>117</a:t>
            </a:fld>
            <a:endParaRPr lang="zh-CN" altLang="en-US" sz="1200" dirty="0">
              <a:solidFill>
                <a:schemeClr val="tx1">
                  <a:tint val="75000"/>
                </a:schemeClr>
              </a:solidFill>
            </a:endParaRPr>
          </a:p>
        </p:txBody>
      </p:sp>
    </p:spTree>
    <p:extLst>
      <p:ext uri="{BB962C8B-B14F-4D97-AF65-F5344CB8AC3E}">
        <p14:creationId xmlns:p14="http://schemas.microsoft.com/office/powerpoint/2010/main" val="38998691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fontScheme name="自定义 6">
      <a:majorFont>
        <a:latin typeface="Arial"/>
        <a:ea typeface="微软雅黑 Light"/>
        <a:cs typeface=""/>
      </a:majorFont>
      <a:minorFont>
        <a:latin typeface="Arial"/>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达芬奇的左手">
    <a:dk1>
      <a:srgbClr val="000000"/>
    </a:dk1>
    <a:lt1>
      <a:srgbClr val="FFFFFF"/>
    </a:lt1>
    <a:dk2>
      <a:srgbClr val="44546A"/>
    </a:dk2>
    <a:lt2>
      <a:srgbClr val="E7E6E6"/>
    </a:lt2>
    <a:accent1>
      <a:srgbClr val="2A3D52"/>
    </a:accent1>
    <a:accent2>
      <a:srgbClr val="FEBA01"/>
    </a:accent2>
    <a:accent3>
      <a:srgbClr val="0070C0"/>
    </a:accent3>
    <a:accent4>
      <a:srgbClr val="C00000"/>
    </a:accent4>
    <a:accent5>
      <a:srgbClr val="38526E"/>
    </a:accent5>
    <a:accent6>
      <a:srgbClr val="BFBFBF"/>
    </a:accent6>
    <a:hlink>
      <a:srgbClr val="2A3D52"/>
    </a:hlink>
    <a:folHlink>
      <a:srgbClr val="C4AF99"/>
    </a:folHlink>
  </a:clrScheme>
</a:themeOverride>
</file>

<file path=docProps/app.xml><?xml version="1.0" encoding="utf-8"?>
<Properties xmlns="http://schemas.openxmlformats.org/officeDocument/2006/extended-properties" xmlns:vt="http://schemas.openxmlformats.org/officeDocument/2006/docPropsVTypes">
  <TotalTime>16346</TotalTime>
  <Words>13983</Words>
  <Application>Microsoft Office PowerPoint</Application>
  <PresentationFormat>Grand écran</PresentationFormat>
  <Paragraphs>1412</Paragraphs>
  <Slides>117</Slides>
  <Notes>107</Notes>
  <HiddenSlides>0</HiddenSlides>
  <MMClips>0</MMClips>
  <ScaleCrop>false</ScaleCrop>
  <HeadingPairs>
    <vt:vector size="6" baseType="variant">
      <vt:variant>
        <vt:lpstr>Polices utilisées</vt:lpstr>
      </vt:variant>
      <vt:variant>
        <vt:i4>10</vt:i4>
      </vt:variant>
      <vt:variant>
        <vt:lpstr>Thème</vt:lpstr>
      </vt:variant>
      <vt:variant>
        <vt:i4>2</vt:i4>
      </vt:variant>
      <vt:variant>
        <vt:lpstr>Titres des diapositives</vt:lpstr>
      </vt:variant>
      <vt:variant>
        <vt:i4>117</vt:i4>
      </vt:variant>
    </vt:vector>
  </HeadingPairs>
  <TitlesOfParts>
    <vt:vector size="129" baseType="lpstr">
      <vt:lpstr>华文细黑</vt:lpstr>
      <vt:lpstr>宋体</vt:lpstr>
      <vt:lpstr>微软雅黑</vt:lpstr>
      <vt:lpstr>微软雅黑</vt:lpstr>
      <vt:lpstr>微软雅黑 Light</vt:lpstr>
      <vt:lpstr>等线</vt:lpstr>
      <vt:lpstr>等线</vt:lpstr>
      <vt:lpstr>DengXian Light</vt:lpstr>
      <vt:lpstr>Arial</vt:lpstr>
      <vt:lpstr>Wingdings</vt:lpstr>
      <vt:lpstr>Office 主题</vt:lpstr>
      <vt:lpstr>1_Office 主题</vt:lpstr>
      <vt:lpstr>操作系統安全</vt:lpstr>
      <vt:lpstr>Slammer蠕蟲</vt:lpstr>
      <vt:lpstr>Slammer蠕蟲</vt:lpstr>
      <vt:lpstr>操作系統安全問題的開端</vt:lpstr>
      <vt:lpstr>討論</vt:lpstr>
      <vt:lpstr>操作系統安全問題的開端</vt:lpstr>
      <vt:lpstr>爲何操作系統安全漏洞廣泛存在</vt:lpstr>
      <vt:lpstr>爲何操作系統安全漏洞廣泛存在</vt:lpstr>
      <vt:lpstr>面向系統攻擊的前提條件</vt:lpstr>
      <vt:lpstr>面向系統攻擊的目標</vt:lpstr>
      <vt:lpstr>面向系統攻擊的典型案例</vt:lpstr>
      <vt:lpstr>本章的內容組織</vt:lpstr>
      <vt:lpstr>Présentation PowerPoint</vt:lpstr>
      <vt:lpstr>進程角度的內存管理</vt:lpstr>
      <vt:lpstr>進程角度的內存管理</vt:lpstr>
      <vt:lpstr>內存的權限管理</vt:lpstr>
      <vt:lpstr>虛擬地址到邏輯地址的轉換</vt:lpstr>
      <vt:lpstr>Présentation PowerPoint</vt:lpstr>
      <vt:lpstr>棧區內存的作用</vt:lpstr>
      <vt:lpstr>與函數調用密切相關的寄存器</vt:lpstr>
      <vt:lpstr>與函數調用密切相關的寄存器</vt:lpstr>
      <vt:lpstr>正常的函數調用歷程</vt:lpstr>
      <vt:lpstr>正常的函數調用歷程</vt:lpstr>
      <vt:lpstr>正常的函數調用歷程</vt:lpstr>
      <vt:lpstr>正常的函數調用歷程</vt:lpstr>
      <vt:lpstr>正常的函數調用歷程</vt:lpstr>
      <vt:lpstr>正常的函數調用歷程</vt:lpstr>
      <vt:lpstr>正常的函數調用歷程</vt:lpstr>
      <vt:lpstr>正常的函數調用歷程</vt:lpstr>
      <vt:lpstr>棧區溢出攻擊的動機</vt:lpstr>
      <vt:lpstr>棧區溢出攻擊</vt:lpstr>
      <vt:lpstr>棧區溢出攻擊</vt:lpstr>
      <vt:lpstr>棧區溢出攻擊</vt:lpstr>
      <vt:lpstr>棧區溢出攻擊</vt:lpstr>
      <vt:lpstr>棧區溢出攻擊</vt:lpstr>
      <vt:lpstr>棧區溢出攻擊</vt:lpstr>
      <vt:lpstr>棧區溢出攻擊總結</vt:lpstr>
      <vt:lpstr>Présentation PowerPoint</vt:lpstr>
      <vt:lpstr>正常工作的堆管理器</vt:lpstr>
      <vt:lpstr>正常工作的堆管理器</vt:lpstr>
      <vt:lpstr>正常工作的堆管理器</vt:lpstr>
      <vt:lpstr>正常工作的堆管理器</vt:lpstr>
      <vt:lpstr>正常工作的堆管理器</vt:lpstr>
      <vt:lpstr>堆區溢出攻擊</vt:lpstr>
      <vt:lpstr>堆區溢出攻擊</vt:lpstr>
      <vt:lpstr>堆區溢出攻擊</vt:lpstr>
      <vt:lpstr>堆區溢出攻擊</vt:lpstr>
      <vt:lpstr>堆區溢出攻擊</vt:lpstr>
      <vt:lpstr>堆區溢出攻擊</vt:lpstr>
      <vt:lpstr>堆區溢出攻擊</vt:lpstr>
      <vt:lpstr>堆區的其他攻擊：Use-After-Free</vt:lpstr>
      <vt:lpstr>堆區的其他攻擊：Double-Free</vt:lpstr>
      <vt:lpstr>堆區的其他攻擊：Heap Over-read</vt:lpstr>
      <vt:lpstr>堆區的其他攻擊：Heap Spray</vt:lpstr>
      <vt:lpstr>Présentation PowerPoint</vt:lpstr>
      <vt:lpstr>內存防禦技術：W^X</vt:lpstr>
      <vt:lpstr>內存防禦技術：ASLR</vt:lpstr>
      <vt:lpstr>內存防禦技術：ASLR</vt:lpstr>
      <vt:lpstr>內存防禦技術：ASLR</vt:lpstr>
      <vt:lpstr>內存防禦技術：Stack Canary</vt:lpstr>
      <vt:lpstr>內存防禦技術：SMAP, SMEP</vt:lpstr>
      <vt:lpstr>內存防禦技術總結</vt:lpstr>
      <vt:lpstr>本節相關的前沿研究工作</vt:lpstr>
      <vt:lpstr>Présentation PowerPoint</vt:lpstr>
      <vt:lpstr>進程的內核態和用戶態</vt:lpstr>
      <vt:lpstr>進程觸發系統調用</vt:lpstr>
      <vt:lpstr>進程與共享庫機制</vt:lpstr>
      <vt:lpstr>進程與共享庫機制</vt:lpstr>
      <vt:lpstr>回顧：內存角度的攻擊</vt:lpstr>
      <vt:lpstr>回顧：內存角度的攻擊</vt:lpstr>
      <vt:lpstr>Présentation PowerPoint</vt:lpstr>
      <vt:lpstr>面向返回地址編程</vt:lpstr>
      <vt:lpstr>面向返回地址編程</vt:lpstr>
      <vt:lpstr>面向返回地址編程</vt:lpstr>
      <vt:lpstr>面向返回地址編程</vt:lpstr>
      <vt:lpstr>面向返回地址編程</vt:lpstr>
      <vt:lpstr>面向返回地址編程</vt:lpstr>
      <vt:lpstr>面向返回地址編程</vt:lpstr>
      <vt:lpstr>面向返回地址編程</vt:lpstr>
      <vt:lpstr>面向返回地址編程的優勢</vt:lpstr>
      <vt:lpstr>面向返回地址編程總結</vt:lpstr>
      <vt:lpstr>Présentation PowerPoint</vt:lpstr>
      <vt:lpstr>全域偏移表與程序鏈接表</vt:lpstr>
      <vt:lpstr>全域偏移表與程序鏈接表</vt:lpstr>
      <vt:lpstr>全域偏移表與程序鏈接表</vt:lpstr>
      <vt:lpstr>全域偏移表劫持</vt:lpstr>
      <vt:lpstr>全域偏移表劫持的優勢</vt:lpstr>
      <vt:lpstr>全域偏移表劫持步驟</vt:lpstr>
      <vt:lpstr>全域偏移表劫持總結</vt:lpstr>
      <vt:lpstr>Présentation PowerPoint</vt:lpstr>
      <vt:lpstr>文件系統角度的安全威脅</vt:lpstr>
      <vt:lpstr>虛假vtable劫持攻擊 </vt:lpstr>
      <vt:lpstr>虛假vtable劫持攻擊 </vt:lpstr>
      <vt:lpstr>Présentation PowerPoint</vt:lpstr>
      <vt:lpstr>控制流完整性保護</vt:lpstr>
      <vt:lpstr>控制流完整性保護</vt:lpstr>
      <vt:lpstr>控制流完整性保護</vt:lpstr>
      <vt:lpstr>控制流完整性保護</vt:lpstr>
      <vt:lpstr>控制流完整性保護</vt:lpstr>
      <vt:lpstr>Présentation PowerPoint</vt:lpstr>
      <vt:lpstr>指針完整性保護</vt:lpstr>
      <vt:lpstr>Présentation PowerPoint</vt:lpstr>
      <vt:lpstr>信息流控制</vt:lpstr>
      <vt:lpstr>信息流控制</vt:lpstr>
      <vt:lpstr>信息流控制舉例</vt:lpstr>
      <vt:lpstr>對信息流控制的評論</vt:lpstr>
      <vt:lpstr>Présentation PowerPoint</vt:lpstr>
      <vt:lpstr>I/O 子系統保護</vt:lpstr>
      <vt:lpstr>I/O 子系統保護</vt:lpstr>
      <vt:lpstr>I/O 子系統保護</vt:lpstr>
      <vt:lpstr>I/O 子系統保護</vt:lpstr>
      <vt:lpstr>本節相關的前沿研究工作</vt:lpstr>
      <vt:lpstr>Présentation PowerPoint</vt:lpstr>
      <vt:lpstr>總結</vt:lpstr>
      <vt:lpstr>展望</vt:lpstr>
      <vt:lpstr>展望</vt:lpstr>
      <vt:lpstr>展望</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Terry C.</cp:lastModifiedBy>
  <cp:revision>1552</cp:revision>
  <cp:lastPrinted>2025-06-11T08:21:09Z</cp:lastPrinted>
  <dcterms:created xsi:type="dcterms:W3CDTF">2020-08-30T11:20:13Z</dcterms:created>
  <dcterms:modified xsi:type="dcterms:W3CDTF">2025-06-11T08:21:50Z</dcterms:modified>
</cp:coreProperties>
</file>