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vsdx" ContentType="application/vnd.ms-visio.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3.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3">
  <p:sldMasterIdLst>
    <p:sldMasterId id="2147483678" r:id="rId1"/>
    <p:sldMasterId id="2147483683" r:id="rId2"/>
  </p:sldMasterIdLst>
  <p:notesMasterIdLst>
    <p:notesMasterId r:id="rId64"/>
  </p:notesMasterIdLst>
  <p:sldIdLst>
    <p:sldId id="14484167" r:id="rId3"/>
    <p:sldId id="4033" r:id="rId4"/>
    <p:sldId id="3974" r:id="rId5"/>
    <p:sldId id="4035" r:id="rId6"/>
    <p:sldId id="14484168" r:id="rId7"/>
    <p:sldId id="14484169" r:id="rId8"/>
    <p:sldId id="4002" r:id="rId9"/>
    <p:sldId id="3881" r:id="rId10"/>
    <p:sldId id="313" r:id="rId11"/>
    <p:sldId id="314" r:id="rId12"/>
    <p:sldId id="315" r:id="rId13"/>
    <p:sldId id="4011" r:id="rId14"/>
    <p:sldId id="4012" r:id="rId15"/>
    <p:sldId id="4013" r:id="rId16"/>
    <p:sldId id="4003" r:id="rId17"/>
    <p:sldId id="14484170" r:id="rId18"/>
    <p:sldId id="317" r:id="rId19"/>
    <p:sldId id="318" r:id="rId20"/>
    <p:sldId id="321" r:id="rId21"/>
    <p:sldId id="3832" r:id="rId22"/>
    <p:sldId id="3833" r:id="rId23"/>
    <p:sldId id="3834" r:id="rId24"/>
    <p:sldId id="4038" r:id="rId25"/>
    <p:sldId id="3835" r:id="rId26"/>
    <p:sldId id="4004" r:id="rId27"/>
    <p:sldId id="322" r:id="rId28"/>
    <p:sldId id="4022" r:id="rId29"/>
    <p:sldId id="323" r:id="rId30"/>
    <p:sldId id="3836" r:id="rId31"/>
    <p:sldId id="4023" r:id="rId32"/>
    <p:sldId id="324" r:id="rId33"/>
    <p:sldId id="3837" r:id="rId34"/>
    <p:sldId id="4032" r:id="rId35"/>
    <p:sldId id="4039" r:id="rId36"/>
    <p:sldId id="3839" r:id="rId37"/>
    <p:sldId id="3852" r:id="rId38"/>
    <p:sldId id="3840" r:id="rId39"/>
    <p:sldId id="3882" r:id="rId40"/>
    <p:sldId id="4044" r:id="rId41"/>
    <p:sldId id="4025" r:id="rId42"/>
    <p:sldId id="3844" r:id="rId43"/>
    <p:sldId id="4028" r:id="rId44"/>
    <p:sldId id="4027" r:id="rId45"/>
    <p:sldId id="4026" r:id="rId46"/>
    <p:sldId id="3884" r:id="rId47"/>
    <p:sldId id="14484171" r:id="rId48"/>
    <p:sldId id="3845" r:id="rId49"/>
    <p:sldId id="3854" r:id="rId50"/>
    <p:sldId id="3846" r:id="rId51"/>
    <p:sldId id="4040" r:id="rId52"/>
    <p:sldId id="14484172" r:id="rId53"/>
    <p:sldId id="14484174" r:id="rId54"/>
    <p:sldId id="3856" r:id="rId55"/>
    <p:sldId id="3847" r:id="rId56"/>
    <p:sldId id="3857" r:id="rId57"/>
    <p:sldId id="3850" r:id="rId58"/>
    <p:sldId id="3849" r:id="rId59"/>
    <p:sldId id="3848" r:id="rId60"/>
    <p:sldId id="4007" r:id="rId61"/>
    <p:sldId id="14484173" r:id="rId62"/>
    <p:sldId id="3883" r:id="rId6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DFF4"/>
    <a:srgbClr val="2BB0F0"/>
    <a:srgbClr val="1C70C1"/>
    <a:srgbClr val="D2E0E9"/>
    <a:srgbClr val="7030A0"/>
    <a:srgbClr val="893BC3"/>
    <a:srgbClr val="FFFFFF"/>
    <a:srgbClr val="A94EF0"/>
    <a:srgbClr val="FE9900"/>
    <a:srgbClr val="0142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主题样式 2 - 强调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主题样式 2 - 强调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主题样式 2 - 强调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408" autoAdjust="0"/>
    <p:restoredTop sz="74368" autoAdjust="0"/>
  </p:normalViewPr>
  <p:slideViewPr>
    <p:cSldViewPr snapToGrid="0" snapToObjects="1">
      <p:cViewPr varScale="1">
        <p:scale>
          <a:sx n="116" d="100"/>
          <a:sy n="116" d="100"/>
        </p:scale>
        <p:origin x="1434" y="108"/>
      </p:cViewPr>
      <p:guideLst/>
    </p:cSldViewPr>
  </p:slideViewPr>
  <p:notesTextViewPr>
    <p:cViewPr>
      <p:scale>
        <a:sx n="85" d="100"/>
        <a:sy n="85"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BCCE95-9802-FF4D-BF14-C0BADA9BA38E}" type="datetimeFigureOut">
              <a:rPr kumimoji="1" lang="zh-CN" altLang="en-US" smtClean="0"/>
              <a:t>2025/6/11</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905F7E-8FCD-B247-8658-9B89ABB1145E}" type="slidenum">
              <a:rPr kumimoji="1" lang="zh-CN" altLang="en-US" smtClean="0"/>
              <a:t>‹N°›</a:t>
            </a:fld>
            <a:endParaRPr kumimoji="1" lang="zh-CN" altLang="en-US" dirty="0"/>
          </a:p>
        </p:txBody>
      </p:sp>
    </p:spTree>
    <p:extLst>
      <p:ext uri="{BB962C8B-B14F-4D97-AF65-F5344CB8AC3E}">
        <p14:creationId xmlns:p14="http://schemas.microsoft.com/office/powerpoint/2010/main" val="1889690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www.xy.com/"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3" Type="http://schemas.openxmlformats.org/officeDocument/2006/relationships/hyperlink" Target="https://tools.ietf.org/html/rfc7719" TargetMode="External"/><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60121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72812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90640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charset="-122"/>
              <a:cs typeface="+mn-cs"/>
            </a:endParaRPr>
          </a:p>
        </p:txBody>
      </p:sp>
    </p:spTree>
    <p:extLst>
      <p:ext uri="{BB962C8B-B14F-4D97-AF65-F5344CB8AC3E}">
        <p14:creationId xmlns:p14="http://schemas.microsoft.com/office/powerpoint/2010/main" val="665920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65909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9.1 DNS</a:t>
            </a:r>
            <a:r>
              <a:rPr lang="zh-CN"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概述</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9.1.1 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的</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演進</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9.1.2 DNS</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域名</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結構</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與區域</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組織形式</a:t>
            </a: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9.2 DNS</a:t>
            </a:r>
            <a:r>
              <a:rPr lang="zh-CN"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請求過程</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9.2.1 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使用</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9.2.2 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請求過程</a:t>
            </a: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9.3 DNS</a:t>
            </a:r>
            <a:r>
              <a:rPr lang="zh-CN"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攻擊</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9.3.1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緩存中毒攻擊</a:t>
            </a:r>
          </a:p>
          <a:p>
            <a:pPr marL="30480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9.3.1.1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本地</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緩存中毒攻擊</a:t>
            </a:r>
          </a:p>
          <a:p>
            <a:pPr marL="30480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9.3.1.2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遠程</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緩存中毒攻擊</a:t>
            </a:r>
          </a:p>
          <a:p>
            <a:pPr marL="11049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 9.3.2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來自惡意</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服務器的</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回復僞造</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1049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 9.3.3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拒絕服務攻擊</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9.4 DNS</a:t>
            </a:r>
            <a:r>
              <a:rPr lang="zh-CN" altLang="en-US" sz="1800" b="1" kern="100" dirty="0">
                <a:latin typeface="Microsoft YaHei" panose="020B0503020204020204" pitchFamily="34" charset="-122"/>
                <a:ea typeface="Microsoft YaHei" panose="020B0503020204020204" pitchFamily="34" charset="-122"/>
                <a:cs typeface="Times New Roman" panose="02020603050405020304" pitchFamily="18" charset="0"/>
              </a:rPr>
              <a:t>攻擊預防策略</a:t>
            </a:r>
            <a:endPar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9.4.1 </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基于密碼技術</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   9.4.2 </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基于系統管理</a:t>
            </a:r>
            <a:endPar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9.5 </a:t>
            </a:r>
            <a:r>
              <a:rPr lang="zh-CN" altLang="en-US" sz="1800" b="1" kern="100" dirty="0">
                <a:latin typeface="Microsoft YaHei" panose="020B0503020204020204" pitchFamily="34" charset="-122"/>
                <a:ea typeface="Microsoft YaHei" panose="020B0503020204020204" pitchFamily="34" charset="-122"/>
                <a:cs typeface="Times New Roman" panose="02020603050405020304" pitchFamily="18" charset="0"/>
              </a:rPr>
              <a:t>典型案例分析</a:t>
            </a:r>
            <a:endParaRPr lang="zh-CN" altLang="zh-CN" sz="1800" b="1"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pPr marL="110490" indent="133350" algn="just"/>
            <a:endPar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255635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04800" algn="just">
              <a:lnSpc>
                <a:spcPct val="150000"/>
              </a:lnSpc>
            </a:pP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目前網絡空間通用的兩套命名體系分別爲：用于路由尋址的</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IP </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地址和便于分類記憶的域名（</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Domain Name</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a:t>
            </a:r>
            <a:endPar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304800" algn="just">
              <a:lnSpc>
                <a:spcPct val="150000"/>
              </a:lnSpc>
            </a:pPr>
            <a:endPar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304800" algn="just">
              <a:lnSpc>
                <a:spcPct val="150000"/>
              </a:lnSpc>
            </a:pP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域名系統（</a:t>
            </a:r>
            <a:r>
              <a:rPr lang="en-US" altLang="zh-CN" sz="1200" kern="100" dirty="0" err="1">
                <a:latin typeface="Microsoft YaHei" panose="020B0503020204020204" pitchFamily="34" charset="-122"/>
                <a:ea typeface="Microsoft YaHei" panose="020B0503020204020204" pitchFamily="34" charset="-122"/>
                <a:cs typeface="Times New Roman" panose="02020603050405020304" pitchFamily="18" charset="0"/>
              </a:rPr>
              <a:t>DomainName</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 System</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）的主要功能是實現域名與主機</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IP </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之間的轉換。</a:t>
            </a:r>
            <a:endPar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304800" algn="just">
              <a:lnSpc>
                <a:spcPct val="150000"/>
              </a:lnSpc>
            </a:pPr>
            <a:endPar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304800" algn="just">
              <a:lnSpc>
                <a:spcPct val="150000"/>
              </a:lnSpc>
            </a:pP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從某種意義上講，沒有</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，互聯網就無法工作</a:t>
            </a:r>
            <a:endParaRPr lang="zh-CN" altLang="zh-CN" sz="1200" kern="100" dirty="0">
              <a:latin typeface="Microsoft YaHei" panose="020B0503020204020204" pitchFamily="34" charset="-122"/>
              <a:ea typeface="Microsoft YaHei" panose="020B0503020204020204" pitchFamily="34"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983419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互聯網發展早期，美國國家網絡信息中心（</a:t>
            </a:r>
            <a:r>
              <a:rPr lang="en-US" altLang="zh-CN" sz="1800" dirty="0">
                <a:effectLst/>
                <a:latin typeface="Times New Roman" panose="02020603050405020304" pitchFamily="18" charset="0"/>
                <a:ea typeface="宋体" panose="02010600030101010101" pitchFamily="2" charset="-122"/>
              </a:rPr>
              <a:t>Network Information Center, NIC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）負責更新</a:t>
            </a:r>
            <a:r>
              <a:rPr lang="en-US" altLang="zh-CN" sz="1800" dirty="0">
                <a:effectLst/>
                <a:latin typeface="Times New Roman" panose="02020603050405020304" pitchFamily="18" charset="0"/>
                <a:ea typeface="宋体" panose="02010600030101010101" pitchFamily="2" charset="-122"/>
              </a:rPr>
              <a:t>host.txt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文件內容</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kern="0" dirty="0">
                <a:solidFill>
                  <a:schemeClr val="accent3">
                    <a:lumMod val="75000"/>
                  </a:schemeClr>
                </a:solidFill>
                <a:latin typeface="微软雅黑" panose="020B0503020204020204" pitchFamily="34" charset="-122"/>
                <a:ea typeface="微软雅黑" panose="020B0503020204020204" pitchFamily="34" charset="-122"/>
              </a:rPr>
              <a:t>host.txt</a:t>
            </a:r>
            <a:r>
              <a:rPr lang="zh-CN" altLang="en-US" sz="1200" kern="0" dirty="0">
                <a:solidFill>
                  <a:schemeClr val="accent3">
                    <a:lumMod val="75000"/>
                  </a:schemeClr>
                </a:solidFill>
                <a:latin typeface="微软雅黑" panose="020B0503020204020204" pitchFamily="34" charset="-122"/>
                <a:ea typeface="微软雅黑" panose="020B0503020204020204" pitchFamily="34" charset="-122"/>
              </a:rPr>
              <a:t>文件內容，存儲域名標識符對應及</a:t>
            </a:r>
            <a:r>
              <a:rPr lang="en-US" altLang="zh-CN" sz="1200" kern="0" dirty="0">
                <a:solidFill>
                  <a:schemeClr val="accent3">
                    <a:lumMod val="75000"/>
                  </a:schemeClr>
                </a:solidFill>
                <a:latin typeface="微软雅黑" panose="020B0503020204020204" pitchFamily="34" charset="-122"/>
                <a:ea typeface="微软雅黑" panose="020B0503020204020204" pitchFamily="34" charset="-122"/>
              </a:rPr>
              <a:t>IP </a:t>
            </a:r>
            <a:r>
              <a:rPr lang="zh-CN" altLang="en-US" sz="1200" kern="0" dirty="0">
                <a:solidFill>
                  <a:schemeClr val="accent3">
                    <a:lumMod val="75000"/>
                  </a:schemeClr>
                </a:solidFill>
                <a:latin typeface="微软雅黑" panose="020B0503020204020204" pitchFamily="34" charset="-122"/>
                <a:ea typeface="微软雅黑" panose="020B0503020204020204" pitchFamily="34" charset="-122"/>
              </a:rPr>
              <a:t>地址映射，主機下載 </a:t>
            </a:r>
            <a:r>
              <a:rPr lang="en-US" altLang="zh-CN" sz="1200" kern="0" dirty="0">
                <a:solidFill>
                  <a:schemeClr val="accent3">
                    <a:lumMod val="75000"/>
                  </a:schemeClr>
                </a:solidFill>
                <a:latin typeface="微软雅黑" panose="020B0503020204020204" pitchFamily="34" charset="-122"/>
                <a:ea typeface="微软雅黑" panose="020B0503020204020204" pitchFamily="34" charset="-122"/>
              </a:rPr>
              <a:t>host.txt </a:t>
            </a:r>
            <a:r>
              <a:rPr lang="zh-CN" altLang="en-US" sz="1200" kern="0" dirty="0">
                <a:solidFill>
                  <a:schemeClr val="accent3">
                    <a:lumMod val="75000"/>
                  </a:schemeClr>
                </a:solidFill>
                <a:latin typeface="微软雅黑" panose="020B0503020204020204" pitchFamily="34" charset="-122"/>
                <a:ea typeface="微软雅黑" panose="020B0503020204020204" pitchFamily="34" charset="-122"/>
              </a:rPr>
              <a:t>文件，在本機完成文件查詢解析過程</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521820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04800" algn="just">
              <a:lnSpc>
                <a:spcPct val="150000"/>
              </a:lnSpc>
            </a:pP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儘管域名系統的具體功能特性極爲複雜，但其設計理念却非常簡潔。爲了使域名系統具有良好的擴展延伸特性，域名系統采用層次化樹形結構完成數據授權過程</a:t>
            </a:r>
            <a:endPar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304800" algn="just">
              <a:lnSpc>
                <a:spcPct val="150000"/>
              </a:lnSpc>
            </a:pP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整個域名空間被劃分成爲不同的層級結構，樹形最頂層爲域名系統的根（</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DNS Root</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），緊接著進一步由頂級域（</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Top-Level Domain</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TLD</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）劃分。頂級域管理機構授權給二級域名（</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Second-Level Domain</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SLD</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）。以此類推，層次化授權行爲最多可迭代</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127 </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次。</a:t>
            </a:r>
            <a:endPar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304800" algn="just">
              <a:lnSpc>
                <a:spcPct val="150000"/>
              </a:lnSpc>
            </a:pPr>
            <a:r>
              <a:rPr lang="en-US" altLang="zh-CN" dirty="0"/>
              <a:t>The name space has a maximum depth of 127 levels</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dirty="0"/>
              <a:t>Domain names are limited to 255 characters in length </a:t>
            </a:r>
          </a:p>
          <a:p>
            <a:pPr marL="304800" algn="just">
              <a:lnSpc>
                <a:spcPct val="150000"/>
              </a:lnSpc>
            </a:pP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因爲最多有</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255</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個字符（含點號）所以理論上最多</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127</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層</a:t>
            </a:r>
            <a:endParaRPr lang="zh-CN" altLang="zh-CN" sz="1200" kern="100" dirty="0">
              <a:latin typeface="Microsoft YaHei" panose="020B0503020204020204" pitchFamily="34" charset="-122"/>
              <a:ea typeface="Microsoft YaHei" panose="020B0503020204020204" pitchFamily="34"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036947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如某國際機構擁有</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example.org</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這一域名，幷爲其處于國際上不同國家和城市的分部分配域名，如對中國和英國分配</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cn</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example. org</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uk</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example. org</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兩個子域。進一步，</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cn</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example. org</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可以包含兩個區域，一個區域裏有</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cn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beijing</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（北京）等域名，另一個區域有</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shanghai</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（上海）等域名。如圖中方框代表一個</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區域，則</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example.org</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所在的區域只包含不屬任何子域的主機名的</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記錄，如</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mail. example.org</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等。這個區域記錄它的每個子域由誰掌管，從而在接收到對于其子域發出的解析請求時能够將子域的域名服務器的信息告訴請求者。同時，該機構在劃分區域時沒有必要爲每個子域都分配一個區域，如可以將</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cn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beijing</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放入同一個區域。</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76218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031377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PingFang SC"/>
              </a:rPr>
              <a:t>1</a:t>
            </a:r>
            <a:r>
              <a:rPr lang="zh-CN" altLang="en-US" b="0" i="0" dirty="0">
                <a:solidFill>
                  <a:srgbClr val="333333"/>
                </a:solidFill>
                <a:effectLst/>
                <a:latin typeface="PingFang SC"/>
              </a:rPr>
              <a:t>個爲主根服務器，放置在美國弗吉尼亞州的杜勒斯，由美國</a:t>
            </a:r>
            <a:r>
              <a:rPr lang="en-US" altLang="zh-CN" b="0" i="0" dirty="0">
                <a:solidFill>
                  <a:srgbClr val="333333"/>
                </a:solidFill>
                <a:effectLst/>
                <a:latin typeface="PingFang SC"/>
              </a:rPr>
              <a:t>VeriSign</a:t>
            </a:r>
            <a:r>
              <a:rPr lang="zh-CN" altLang="en-US" b="0" i="0" dirty="0">
                <a:solidFill>
                  <a:srgbClr val="333333"/>
                </a:solidFill>
                <a:effectLst/>
                <a:latin typeface="PingFang SC"/>
              </a:rPr>
              <a:t>公司負責運營維護，其餘</a:t>
            </a:r>
            <a:r>
              <a:rPr lang="en-US" altLang="zh-CN" b="0" i="0" dirty="0">
                <a:solidFill>
                  <a:srgbClr val="333333"/>
                </a:solidFill>
                <a:effectLst/>
                <a:latin typeface="PingFang SC"/>
              </a:rPr>
              <a:t>12</a:t>
            </a:r>
            <a:r>
              <a:rPr lang="zh-CN" altLang="en-US" b="0" i="0" dirty="0">
                <a:solidFill>
                  <a:srgbClr val="333333"/>
                </a:solidFill>
                <a:effectLst/>
                <a:latin typeface="PingFang SC"/>
              </a:rPr>
              <a:t>個均爲輔根服務器。每天域名主根服務器列表會被複製到位于世界各地的其它</a:t>
            </a:r>
            <a:r>
              <a:rPr lang="en-US" altLang="zh-CN" b="0" i="0" dirty="0">
                <a:solidFill>
                  <a:srgbClr val="333333"/>
                </a:solidFill>
                <a:effectLst/>
                <a:latin typeface="PingFang SC"/>
              </a:rPr>
              <a:t>12</a:t>
            </a:r>
            <a:r>
              <a:rPr lang="zh-CN" altLang="en-US" b="0" i="0" dirty="0">
                <a:solidFill>
                  <a:srgbClr val="333333"/>
                </a:solidFill>
                <a:effectLst/>
                <a:latin typeface="PingFang SC"/>
              </a:rPr>
              <a:t>服務器上。</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23958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333333"/>
                </a:solidFill>
                <a:effectLst/>
                <a:latin typeface="微软雅黑" panose="020B0503020204020204" pitchFamily="34" charset="-122"/>
                <a:ea typeface="微软雅黑" panose="020B0503020204020204" pitchFamily="34" charset="-122"/>
              </a:rPr>
              <a:t>新華社報道稱，“雪人計劃”已在全球完成</a:t>
            </a:r>
            <a:r>
              <a:rPr lang="en-US" altLang="zh-CN" b="0" i="0" dirty="0">
                <a:solidFill>
                  <a:srgbClr val="333333"/>
                </a:solidFill>
                <a:effectLst/>
                <a:latin typeface="微软雅黑" panose="020B0503020204020204" pitchFamily="34" charset="-122"/>
                <a:ea typeface="微软雅黑" panose="020B0503020204020204" pitchFamily="34" charset="-122"/>
              </a:rPr>
              <a:t>25</a:t>
            </a:r>
            <a:r>
              <a:rPr lang="zh-CN" altLang="en-US" b="0" i="0" dirty="0">
                <a:solidFill>
                  <a:srgbClr val="333333"/>
                </a:solidFill>
                <a:effectLst/>
                <a:latin typeface="微软雅黑" panose="020B0503020204020204" pitchFamily="34" charset="-122"/>
                <a:ea typeface="微软雅黑" panose="020B0503020204020204" pitchFamily="34" charset="-122"/>
              </a:rPr>
              <a:t>台</a:t>
            </a:r>
            <a:r>
              <a:rPr lang="en-US" altLang="zh-CN" b="0" i="0" dirty="0">
                <a:solidFill>
                  <a:srgbClr val="333333"/>
                </a:solidFill>
                <a:effectLst/>
                <a:latin typeface="微软雅黑" panose="020B0503020204020204" pitchFamily="34" charset="-122"/>
                <a:ea typeface="微软雅黑" panose="020B0503020204020204" pitchFamily="34" charset="-122"/>
              </a:rPr>
              <a:t>IPv6</a:t>
            </a:r>
            <a:r>
              <a:rPr lang="zh-CN" altLang="en-US" b="0" i="0" dirty="0">
                <a:solidFill>
                  <a:srgbClr val="333333"/>
                </a:solidFill>
                <a:effectLst/>
                <a:latin typeface="微软雅黑" panose="020B0503020204020204" pitchFamily="34" charset="-122"/>
                <a:ea typeface="微软雅黑" panose="020B0503020204020204" pitchFamily="34" charset="-122"/>
              </a:rPr>
              <a:t>（互聯網協議第六版）根服務器架設，中國部署了其中的</a:t>
            </a:r>
            <a:r>
              <a:rPr lang="en-US" altLang="zh-CN" b="0" i="0" dirty="0">
                <a:solidFill>
                  <a:srgbClr val="333333"/>
                </a:solidFill>
                <a:effectLst/>
                <a:latin typeface="微软雅黑" panose="020B0503020204020204" pitchFamily="34" charset="-122"/>
                <a:ea typeface="微软雅黑" panose="020B0503020204020204" pitchFamily="34" charset="-122"/>
              </a:rPr>
              <a:t>4</a:t>
            </a:r>
            <a:r>
              <a:rPr lang="zh-CN" altLang="en-US" b="0" i="0" dirty="0">
                <a:solidFill>
                  <a:srgbClr val="333333"/>
                </a:solidFill>
                <a:effectLst/>
                <a:latin typeface="微软雅黑" panose="020B0503020204020204" pitchFamily="34" charset="-122"/>
                <a:ea typeface="微软雅黑" panose="020B0503020204020204" pitchFamily="34" charset="-122"/>
              </a:rPr>
              <a:t>台。事實是：</a:t>
            </a:r>
          </a:p>
          <a:p>
            <a:pPr algn="l"/>
            <a:r>
              <a:rPr lang="zh-CN" altLang="en-US" b="0" i="0" dirty="0">
                <a:solidFill>
                  <a:srgbClr val="333333"/>
                </a:solidFill>
                <a:effectLst/>
                <a:latin typeface="微软雅黑" panose="020B0503020204020204" pitchFamily="34" charset="-122"/>
                <a:ea typeface="微软雅黑" panose="020B0503020204020204" pitchFamily="34" charset="-122"/>
              </a:rPr>
              <a:t>　　從美國因特網設在日本的</a:t>
            </a:r>
            <a:r>
              <a:rPr lang="en-US" altLang="zh-CN" b="0" i="0" dirty="0">
                <a:solidFill>
                  <a:srgbClr val="333333"/>
                </a:solidFill>
                <a:effectLst/>
                <a:latin typeface="微软雅黑" panose="020B0503020204020204" pitchFamily="34" charset="-122"/>
                <a:ea typeface="微软雅黑" panose="020B0503020204020204" pitchFamily="34" charset="-122"/>
              </a:rPr>
              <a:t>M</a:t>
            </a:r>
            <a:r>
              <a:rPr lang="zh-CN" altLang="en-US" b="0" i="0" dirty="0">
                <a:solidFill>
                  <a:srgbClr val="333333"/>
                </a:solidFill>
                <a:effectLst/>
                <a:latin typeface="微软雅黑" panose="020B0503020204020204" pitchFamily="34" charset="-122"/>
                <a:ea typeface="微软雅黑" panose="020B0503020204020204" pitchFamily="34" charset="-122"/>
              </a:rPr>
              <a:t>根（亞太根）引出</a:t>
            </a:r>
            <a:r>
              <a:rPr lang="en-US" altLang="zh-CN" b="0" i="0" dirty="0">
                <a:solidFill>
                  <a:srgbClr val="333333"/>
                </a:solidFill>
                <a:effectLst/>
                <a:latin typeface="微软雅黑" panose="020B0503020204020204" pitchFamily="34" charset="-122"/>
                <a:ea typeface="微软雅黑" panose="020B0503020204020204" pitchFamily="34" charset="-122"/>
              </a:rPr>
              <a:t>25</a:t>
            </a:r>
            <a:r>
              <a:rPr lang="zh-CN" altLang="en-US" b="0" i="0" dirty="0">
                <a:solidFill>
                  <a:srgbClr val="333333"/>
                </a:solidFill>
                <a:effectLst/>
                <a:latin typeface="微软雅黑" panose="020B0503020204020204" pitchFamily="34" charset="-122"/>
                <a:ea typeface="微软雅黑" panose="020B0503020204020204" pitchFamily="34" charset="-122"/>
              </a:rPr>
              <a:t>台“域根”（</a:t>
            </a:r>
            <a:r>
              <a:rPr lang="en-US" altLang="zh-CN" b="0" i="0" dirty="0">
                <a:solidFill>
                  <a:srgbClr val="333333"/>
                </a:solidFill>
                <a:effectLst/>
                <a:latin typeface="微软雅黑" panose="020B0503020204020204" pitchFamily="34" charset="-122"/>
                <a:ea typeface="微软雅黑" panose="020B0503020204020204" pitchFamily="34" charset="-122"/>
              </a:rPr>
              <a:t>IPv6</a:t>
            </a:r>
            <a:r>
              <a:rPr lang="zh-CN" altLang="en-US" b="0" i="0" dirty="0">
                <a:solidFill>
                  <a:srgbClr val="333333"/>
                </a:solidFill>
                <a:effectLst/>
                <a:latin typeface="微软雅黑" panose="020B0503020204020204" pitchFamily="34" charset="-122"/>
                <a:ea typeface="微软雅黑" panose="020B0503020204020204" pitchFamily="34" charset="-122"/>
              </a:rPr>
              <a:t>頂級域即因特網二級域服務器），其中</a:t>
            </a:r>
            <a:r>
              <a:rPr lang="en-US" altLang="zh-CN" b="0" i="0" dirty="0">
                <a:solidFill>
                  <a:srgbClr val="333333"/>
                </a:solidFill>
                <a:effectLst/>
                <a:latin typeface="微软雅黑" panose="020B0503020204020204" pitchFamily="34" charset="-122"/>
                <a:ea typeface="微软雅黑" panose="020B0503020204020204" pitchFamily="34" charset="-122"/>
              </a:rPr>
              <a:t>1</a:t>
            </a:r>
            <a:r>
              <a:rPr lang="zh-CN" altLang="en-US" b="0" i="0" dirty="0">
                <a:solidFill>
                  <a:srgbClr val="333333"/>
                </a:solidFill>
                <a:effectLst/>
                <a:latin typeface="微软雅黑" panose="020B0503020204020204" pitchFamily="34" charset="-122"/>
                <a:ea typeface="微软雅黑" panose="020B0503020204020204" pitchFamily="34" charset="-122"/>
              </a:rPr>
              <a:t>台所謂主根和</a:t>
            </a:r>
            <a:r>
              <a:rPr lang="en-US" altLang="zh-CN" b="0" i="0" dirty="0">
                <a:solidFill>
                  <a:srgbClr val="333333"/>
                </a:solidFill>
                <a:effectLst/>
                <a:latin typeface="微软雅黑" panose="020B0503020204020204" pitchFamily="34" charset="-122"/>
                <a:ea typeface="微软雅黑" panose="020B0503020204020204" pitchFamily="34" charset="-122"/>
              </a:rPr>
              <a:t>4</a:t>
            </a:r>
            <a:r>
              <a:rPr lang="zh-CN" altLang="en-US" b="0" i="0" dirty="0">
                <a:solidFill>
                  <a:srgbClr val="333333"/>
                </a:solidFill>
                <a:effectLst/>
                <a:latin typeface="微软雅黑" panose="020B0503020204020204" pitchFamily="34" charset="-122"/>
                <a:ea typeface="微软雅黑" panose="020B0503020204020204" pitchFamily="34" charset="-122"/>
              </a:rPr>
              <a:t>台所謂輔根服務器連接導向中國。由于“雪人計劃”的所謂主根（實際是二級域名服務器）和</a:t>
            </a:r>
            <a:r>
              <a:rPr lang="en-US" altLang="zh-CN" b="0" i="0" dirty="0">
                <a:solidFill>
                  <a:srgbClr val="333333"/>
                </a:solidFill>
                <a:effectLst/>
                <a:latin typeface="微软雅黑" panose="020B0503020204020204" pitchFamily="34" charset="-122"/>
                <a:ea typeface="微软雅黑" panose="020B0503020204020204" pitchFamily="34" charset="-122"/>
              </a:rPr>
              <a:t>25</a:t>
            </a:r>
            <a:r>
              <a:rPr lang="zh-CN" altLang="en-US" b="0" i="0" dirty="0">
                <a:solidFill>
                  <a:srgbClr val="333333"/>
                </a:solidFill>
                <a:effectLst/>
                <a:latin typeface="微软雅黑" panose="020B0503020204020204" pitchFamily="34" charset="-122"/>
                <a:ea typeface="微软雅黑" panose="020B0503020204020204" pitchFamily="34" charset="-122"/>
              </a:rPr>
              <a:t>個輔根（實際是三級域名服務器）是解析向美國租來的地址，所以需要通過在日本的</a:t>
            </a:r>
            <a:r>
              <a:rPr lang="en-US" altLang="zh-CN" b="0" i="0" dirty="0">
                <a:solidFill>
                  <a:srgbClr val="333333"/>
                </a:solidFill>
                <a:effectLst/>
                <a:latin typeface="微软雅黑" panose="020B0503020204020204" pitchFamily="34" charset="-122"/>
                <a:ea typeface="微软雅黑" panose="020B0503020204020204" pitchFamily="34" charset="-122"/>
              </a:rPr>
              <a:t>M</a:t>
            </a:r>
            <a:r>
              <a:rPr lang="zh-CN" altLang="en-US" b="0" i="0" dirty="0">
                <a:solidFill>
                  <a:srgbClr val="333333"/>
                </a:solidFill>
                <a:effectLst/>
                <a:latin typeface="微软雅黑" panose="020B0503020204020204" pitchFamily="34" charset="-122"/>
                <a:ea typeface="微软雅黑" panose="020B0503020204020204" pitchFamily="34" charset="-122"/>
              </a:rPr>
              <a:t>根與</a:t>
            </a:r>
            <a:r>
              <a:rPr lang="en-US" altLang="zh-CN" b="0" i="0" dirty="0">
                <a:solidFill>
                  <a:srgbClr val="333333"/>
                </a:solidFill>
                <a:effectLst/>
                <a:latin typeface="微软雅黑" panose="020B0503020204020204" pitchFamily="34" charset="-122"/>
                <a:ea typeface="微软雅黑" panose="020B0503020204020204" pitchFamily="34" charset="-122"/>
              </a:rPr>
              <a:t>v6</a:t>
            </a:r>
            <a:r>
              <a:rPr lang="zh-CN" altLang="en-US" b="0" i="0" dirty="0">
                <a:solidFill>
                  <a:srgbClr val="333333"/>
                </a:solidFill>
                <a:effectLst/>
                <a:latin typeface="微软雅黑" panose="020B0503020204020204" pitchFamily="34" charset="-122"/>
                <a:ea typeface="微软雅黑" panose="020B0503020204020204" pitchFamily="34" charset="-122"/>
              </a:rPr>
              <a:t>在美國和歐洲的其他根進行更新和廣播，因而必然存在分等級的問題。不能說是根，只能是頂級域！</a:t>
            </a:r>
          </a:p>
          <a:p>
            <a:r>
              <a:rPr lang="zh-CN" altLang="en-US" b="0" i="0" dirty="0">
                <a:solidFill>
                  <a:srgbClr val="333333"/>
                </a:solidFill>
                <a:effectLst/>
                <a:latin typeface="微软雅黑" panose="020B0503020204020204" pitchFamily="34" charset="-122"/>
                <a:ea typeface="微软雅黑" panose="020B0503020204020204" pitchFamily="34" charset="-122"/>
              </a:rPr>
              <a:t>上述結構清楚地表明，所謂中國</a:t>
            </a:r>
            <a:r>
              <a:rPr lang="en-US" altLang="zh-CN" b="0" i="0" dirty="0">
                <a:solidFill>
                  <a:srgbClr val="333333"/>
                </a:solidFill>
                <a:effectLst/>
                <a:latin typeface="微软雅黑" panose="020B0503020204020204" pitchFamily="34" charset="-122"/>
                <a:ea typeface="微软雅黑" panose="020B0503020204020204" pitchFamily="34" charset="-122"/>
              </a:rPr>
              <a:t>IPv6</a:t>
            </a:r>
            <a:r>
              <a:rPr lang="zh-CN" altLang="en-US" b="0" i="0" dirty="0">
                <a:solidFill>
                  <a:srgbClr val="333333"/>
                </a:solidFill>
                <a:effectLst/>
                <a:latin typeface="微软雅黑" panose="020B0503020204020204" pitchFamily="34" charset="-122"/>
                <a:ea typeface="微软雅黑" panose="020B0503020204020204" pitchFamily="34" charset="-122"/>
              </a:rPr>
              <a:t>的主根，實際上是美國絕對控制的因特網的母根服務器、主根服務器、輔根域名服務器，引出的</a:t>
            </a:r>
            <a:r>
              <a:rPr lang="en-US" altLang="zh-CN" b="0" i="0" dirty="0">
                <a:solidFill>
                  <a:srgbClr val="333333"/>
                </a:solidFill>
                <a:effectLst/>
                <a:latin typeface="微软雅黑" panose="020B0503020204020204" pitchFamily="34" charset="-122"/>
                <a:ea typeface="微软雅黑" panose="020B0503020204020204" pitchFamily="34" charset="-122"/>
              </a:rPr>
              <a:t>25</a:t>
            </a:r>
            <a:r>
              <a:rPr lang="zh-CN" altLang="en-US" b="0" i="0" dirty="0">
                <a:solidFill>
                  <a:srgbClr val="333333"/>
                </a:solidFill>
                <a:effectLst/>
                <a:latin typeface="微软雅黑" panose="020B0503020204020204" pitchFamily="34" charset="-122"/>
                <a:ea typeface="微软雅黑" panose="020B0503020204020204" pitchFamily="34" charset="-122"/>
              </a:rPr>
              <a:t>台根域名服務器，不過是在因特網母根和</a:t>
            </a:r>
            <a:r>
              <a:rPr lang="en-US" altLang="zh-CN" b="0" i="0" dirty="0">
                <a:solidFill>
                  <a:srgbClr val="333333"/>
                </a:solidFill>
                <a:effectLst/>
                <a:latin typeface="微软雅黑" panose="020B0503020204020204" pitchFamily="34" charset="-122"/>
                <a:ea typeface="微软雅黑" panose="020B0503020204020204" pitchFamily="34" charset="-122"/>
              </a:rPr>
              <a:t>M</a:t>
            </a:r>
            <a:r>
              <a:rPr lang="zh-CN" altLang="en-US" b="0" i="0" dirty="0">
                <a:solidFill>
                  <a:srgbClr val="333333"/>
                </a:solidFill>
                <a:effectLst/>
                <a:latin typeface="微软雅黑" panose="020B0503020204020204" pitchFamily="34" charset="-122"/>
                <a:ea typeface="微软雅黑" panose="020B0503020204020204" pitchFamily="34" charset="-122"/>
              </a:rPr>
              <a:t>根控制下的</a:t>
            </a:r>
            <a:r>
              <a:rPr lang="en-US" altLang="zh-CN" b="0" i="0" dirty="0">
                <a:solidFill>
                  <a:srgbClr val="333333"/>
                </a:solidFill>
                <a:effectLst/>
                <a:latin typeface="微软雅黑" panose="020B0503020204020204" pitchFamily="34" charset="-122"/>
                <a:ea typeface="微软雅黑" panose="020B0503020204020204" pitchFamily="34" charset="-122"/>
              </a:rPr>
              <a:t>IPv6</a:t>
            </a:r>
            <a:r>
              <a:rPr lang="zh-CN" altLang="en-US" b="0" i="0" dirty="0">
                <a:solidFill>
                  <a:srgbClr val="333333"/>
                </a:solidFill>
                <a:effectLst/>
                <a:latin typeface="微软雅黑" panose="020B0503020204020204" pitchFamily="34" charset="-122"/>
                <a:ea typeface="微软雅黑" panose="020B0503020204020204" pitchFamily="34" charset="-122"/>
              </a:rPr>
              <a:t>頂級域即因特網二級域服務器，所有域名地址的分配和解析路由仍然必須經過美國因特網母根、主根和</a:t>
            </a:r>
            <a:r>
              <a:rPr lang="en-US" altLang="zh-CN" b="0" i="0" dirty="0">
                <a:solidFill>
                  <a:srgbClr val="333333"/>
                </a:solidFill>
                <a:effectLst/>
                <a:latin typeface="微软雅黑" panose="020B0503020204020204" pitchFamily="34" charset="-122"/>
                <a:ea typeface="微软雅黑" panose="020B0503020204020204" pitchFamily="34" charset="-122"/>
              </a:rPr>
              <a:t>M</a:t>
            </a:r>
            <a:r>
              <a:rPr lang="zh-CN" altLang="en-US" b="0" i="0" dirty="0">
                <a:solidFill>
                  <a:srgbClr val="333333"/>
                </a:solidFill>
                <a:effectLst/>
                <a:latin typeface="微软雅黑" panose="020B0503020204020204" pitchFamily="34" charset="-122"/>
                <a:ea typeface="微软雅黑" panose="020B0503020204020204" pitchFamily="34" charset="-122"/>
              </a:rPr>
              <a:t>根的交換才能實現和完成。且</a:t>
            </a:r>
            <a:r>
              <a:rPr lang="en-US" altLang="zh-CN" b="0" i="0" dirty="0">
                <a:solidFill>
                  <a:srgbClr val="333333"/>
                </a:solidFill>
                <a:effectLst/>
                <a:latin typeface="微软雅黑" panose="020B0503020204020204" pitchFamily="34" charset="-122"/>
                <a:ea typeface="微软雅黑" panose="020B0503020204020204" pitchFamily="34" charset="-122"/>
              </a:rPr>
              <a:t>IPv6</a:t>
            </a:r>
            <a:r>
              <a:rPr lang="zh-CN" altLang="en-US" b="0" i="0" dirty="0">
                <a:solidFill>
                  <a:srgbClr val="333333"/>
                </a:solidFill>
                <a:effectLst/>
                <a:latin typeface="微软雅黑" panose="020B0503020204020204" pitchFamily="34" charset="-122"/>
                <a:ea typeface="微软雅黑" panose="020B0503020204020204" pitchFamily="34" charset="-122"/>
              </a:rPr>
              <a:t>的域名和</a:t>
            </a:r>
            <a:r>
              <a:rPr lang="en-US" altLang="zh-CN" b="0" i="0" dirty="0">
                <a:solidFill>
                  <a:srgbClr val="333333"/>
                </a:solidFill>
                <a:effectLst/>
                <a:latin typeface="微软雅黑" panose="020B0503020204020204" pitchFamily="34" charset="-122"/>
                <a:ea typeface="微软雅黑" panose="020B0503020204020204" pitchFamily="34" charset="-122"/>
              </a:rPr>
              <a:t>IPv6</a:t>
            </a:r>
            <a:r>
              <a:rPr lang="zh-CN" altLang="en-US" b="0" i="0" dirty="0">
                <a:solidFill>
                  <a:srgbClr val="333333"/>
                </a:solidFill>
                <a:effectLst/>
                <a:latin typeface="微软雅黑" panose="020B0503020204020204" pitchFamily="34" charset="-122"/>
                <a:ea typeface="微软雅黑" panose="020B0503020204020204" pitchFamily="34" charset="-122"/>
              </a:rPr>
              <a:t>地址還是從美國租來的，運營商支付的使用費（租金等構成的成本）必然轉嫁給用戶。</a:t>
            </a:r>
            <a:endParaRPr lang="en-US" altLang="zh-CN" b="0" i="0" dirty="0">
              <a:solidFill>
                <a:srgbClr val="333333"/>
              </a:solidFill>
              <a:effectLst/>
              <a:latin typeface="微软雅黑" panose="020B0503020204020204" pitchFamily="34" charset="-122"/>
              <a:ea typeface="微软雅黑" panose="020B0503020204020204" pitchFamily="34" charset="-122"/>
            </a:endParaRPr>
          </a:p>
          <a:p>
            <a:pPr algn="l"/>
            <a:r>
              <a:rPr lang="en-US" altLang="zh-CN" b="0" i="0" dirty="0">
                <a:solidFill>
                  <a:srgbClr val="333333"/>
                </a:solidFill>
                <a:effectLst/>
                <a:latin typeface="微软雅黑" panose="020B0503020204020204" pitchFamily="34" charset="-122"/>
                <a:ea typeface="微软雅黑" panose="020B0503020204020204" pitchFamily="34" charset="-122"/>
              </a:rPr>
              <a:t>4</a:t>
            </a:r>
            <a:r>
              <a:rPr lang="zh-CN" altLang="en-US" b="0" i="0" dirty="0">
                <a:solidFill>
                  <a:srgbClr val="333333"/>
                </a:solidFill>
                <a:effectLst/>
                <a:latin typeface="微软雅黑" panose="020B0503020204020204" pitchFamily="34" charset="-122"/>
                <a:ea typeface="微软雅黑" panose="020B0503020204020204" pitchFamily="34" charset="-122"/>
              </a:rPr>
              <a:t>台導向中國</a:t>
            </a:r>
            <a:r>
              <a:rPr lang="en-US" altLang="zh-CN" b="0" i="0" dirty="0">
                <a:solidFill>
                  <a:srgbClr val="333333"/>
                </a:solidFill>
                <a:effectLst/>
                <a:latin typeface="微软雅黑" panose="020B0503020204020204" pitchFamily="34" charset="-122"/>
                <a:ea typeface="微软雅黑" panose="020B0503020204020204" pitchFamily="34" charset="-122"/>
              </a:rPr>
              <a:t>IPv6</a:t>
            </a:r>
            <a:r>
              <a:rPr lang="zh-CN" altLang="en-US" b="0" i="0" dirty="0">
                <a:solidFill>
                  <a:srgbClr val="333333"/>
                </a:solidFill>
                <a:effectLst/>
                <a:latin typeface="微软雅黑" panose="020B0503020204020204" pitchFamily="34" charset="-122"/>
                <a:ea typeface="微软雅黑" panose="020B0503020204020204" pitchFamily="34" charset="-122"/>
              </a:rPr>
              <a:t>系統的所謂域根服務器也不在中國。兩辦通知要求：“推動根鏡像服務器的引進，進一步提升域名系統解析性能。開展新型根域名服務體系結構及應用的技術創新，建設具有一定規模的試驗驗證網絡設施，開展應用示範。”這也很清楚地表明，中國目前沒有</a:t>
            </a:r>
            <a:r>
              <a:rPr lang="en-US" altLang="zh-CN" b="0" i="0" dirty="0">
                <a:solidFill>
                  <a:srgbClr val="333333"/>
                </a:solidFill>
                <a:effectLst/>
                <a:latin typeface="微软雅黑" panose="020B0503020204020204" pitchFamily="34" charset="-122"/>
                <a:ea typeface="微软雅黑" panose="020B0503020204020204" pitchFamily="34" charset="-122"/>
              </a:rPr>
              <a:t>IPv6</a:t>
            </a:r>
            <a:r>
              <a:rPr lang="zh-CN" altLang="en-US" b="0" i="0" dirty="0">
                <a:solidFill>
                  <a:srgbClr val="333333"/>
                </a:solidFill>
                <a:effectLst/>
                <a:latin typeface="微软雅黑" panose="020B0503020204020204" pitchFamily="34" charset="-122"/>
                <a:ea typeface="微软雅黑" panose="020B0503020204020204" pitchFamily="34" charset="-122"/>
              </a:rPr>
              <a:t>根服務器，需要“推動根鏡像服務器的引進”。</a:t>
            </a:r>
          </a:p>
          <a:p>
            <a:pPr algn="l"/>
            <a:r>
              <a:rPr lang="zh-CN" altLang="en-US" b="0" i="0" dirty="0">
                <a:solidFill>
                  <a:srgbClr val="333333"/>
                </a:solidFill>
                <a:effectLst/>
                <a:latin typeface="微软雅黑" panose="020B0503020204020204" pitchFamily="34" charset="-122"/>
                <a:ea typeface="微软雅黑" panose="020B0503020204020204" pitchFamily="34" charset="-122"/>
              </a:rPr>
              <a:t>　　據近日國內多家媒體報道，中國工程院院士鄔賀銓表示，尚不明確</a:t>
            </a:r>
            <a:r>
              <a:rPr lang="en-US" altLang="zh-CN" b="0" i="0" dirty="0">
                <a:solidFill>
                  <a:srgbClr val="333333"/>
                </a:solidFill>
                <a:effectLst/>
                <a:latin typeface="微软雅黑" panose="020B0503020204020204" pitchFamily="34" charset="-122"/>
                <a:ea typeface="微软雅黑" panose="020B0503020204020204" pitchFamily="34" charset="-122"/>
              </a:rPr>
              <a:t>IPv6</a:t>
            </a:r>
            <a:r>
              <a:rPr lang="zh-CN" altLang="en-US" b="0" i="0" dirty="0">
                <a:solidFill>
                  <a:srgbClr val="333333"/>
                </a:solidFill>
                <a:effectLst/>
                <a:latin typeface="微软雅黑" panose="020B0503020204020204" pitchFamily="34" charset="-122"/>
                <a:ea typeface="微软雅黑" panose="020B0503020204020204" pitchFamily="34" charset="-122"/>
              </a:rPr>
              <a:t>主根最終能否以及有多少可以建在國內。鄔賀銓指出：“</a:t>
            </a:r>
            <a:r>
              <a:rPr lang="en-US" altLang="zh-CN" b="0" i="0" dirty="0">
                <a:solidFill>
                  <a:srgbClr val="333333"/>
                </a:solidFill>
                <a:effectLst/>
                <a:latin typeface="微软雅黑" panose="020B0503020204020204" pitchFamily="34" charset="-122"/>
                <a:ea typeface="微软雅黑" panose="020B0503020204020204" pitchFamily="34" charset="-122"/>
              </a:rPr>
              <a:t>IPv4</a:t>
            </a:r>
            <a:r>
              <a:rPr lang="zh-CN" altLang="en-US" b="0" i="0" dirty="0">
                <a:solidFill>
                  <a:srgbClr val="333333"/>
                </a:solidFill>
                <a:effectLst/>
                <a:latin typeface="微软雅黑" panose="020B0503020204020204" pitchFamily="34" charset="-122"/>
                <a:ea typeface="微软雅黑" panose="020B0503020204020204" pitchFamily="34" charset="-122"/>
              </a:rPr>
              <a:t>的根服務器對</a:t>
            </a:r>
            <a:r>
              <a:rPr lang="en-US" altLang="zh-CN" b="0" i="0" dirty="0">
                <a:solidFill>
                  <a:srgbClr val="333333"/>
                </a:solidFill>
                <a:effectLst/>
                <a:latin typeface="微软雅黑" panose="020B0503020204020204" pitchFamily="34" charset="-122"/>
                <a:ea typeface="微软雅黑" panose="020B0503020204020204" pitchFamily="34" charset="-122"/>
              </a:rPr>
              <a:t>IPv6</a:t>
            </a:r>
            <a:r>
              <a:rPr lang="zh-CN" altLang="en-US" b="0" i="0" dirty="0">
                <a:solidFill>
                  <a:srgbClr val="333333"/>
                </a:solidFill>
                <a:effectLst/>
                <a:latin typeface="微软雅黑" panose="020B0503020204020204" pitchFamily="34" charset="-122"/>
                <a:ea typeface="微软雅黑" panose="020B0503020204020204" pitchFamily="34" charset="-122"/>
              </a:rPr>
              <a:t>的根服務器依然擁有解釋權，所以即便未來中國有了</a:t>
            </a:r>
            <a:r>
              <a:rPr lang="en-US" altLang="zh-CN" b="0" i="0" dirty="0">
                <a:solidFill>
                  <a:srgbClr val="333333"/>
                </a:solidFill>
                <a:effectLst/>
                <a:latin typeface="微软雅黑" panose="020B0503020204020204" pitchFamily="34" charset="-122"/>
                <a:ea typeface="微软雅黑" panose="020B0503020204020204" pitchFamily="34" charset="-122"/>
              </a:rPr>
              <a:t>IPv6</a:t>
            </a:r>
            <a:r>
              <a:rPr lang="zh-CN" altLang="en-US" b="0" i="0" dirty="0">
                <a:solidFill>
                  <a:srgbClr val="333333"/>
                </a:solidFill>
                <a:effectLst/>
                <a:latin typeface="微软雅黑" panose="020B0503020204020204" pitchFamily="34" charset="-122"/>
                <a:ea typeface="微软雅黑" panose="020B0503020204020204" pitchFamily="34" charset="-122"/>
              </a:rPr>
              <a:t>的根服務器，也不意味著中國就能起到主導作用。”</a:t>
            </a:r>
          </a:p>
          <a:p>
            <a:r>
              <a:rPr lang="zh-CN" altLang="en-US" b="0" i="0" dirty="0">
                <a:solidFill>
                  <a:srgbClr val="333333"/>
                </a:solidFill>
                <a:effectLst/>
                <a:latin typeface="微软雅黑" panose="020B0503020204020204" pitchFamily="34" charset="-122"/>
                <a:ea typeface="微软雅黑" panose="020B0503020204020204" pitchFamily="34" charset="-122"/>
              </a:rPr>
              <a:t>由此看來，如果不是有人在故意撒謊或誇大其詞地製造“</a:t>
            </a:r>
            <a:r>
              <a:rPr lang="en-US" altLang="zh-CN" b="0" i="0" dirty="0">
                <a:solidFill>
                  <a:srgbClr val="333333"/>
                </a:solidFill>
                <a:effectLst/>
                <a:latin typeface="微软雅黑" panose="020B0503020204020204" pitchFamily="34" charset="-122"/>
                <a:ea typeface="微软雅黑" panose="020B0503020204020204" pitchFamily="34" charset="-122"/>
              </a:rPr>
              <a:t>IPv6</a:t>
            </a:r>
            <a:r>
              <a:rPr lang="zh-CN" altLang="en-US" b="0" i="0" dirty="0">
                <a:solidFill>
                  <a:srgbClr val="333333"/>
                </a:solidFill>
                <a:effectLst/>
                <a:latin typeface="微软雅黑" panose="020B0503020204020204" pitchFamily="34" charset="-122"/>
                <a:ea typeface="微软雅黑" panose="020B0503020204020204" pitchFamily="34" charset="-122"/>
              </a:rPr>
              <a:t>根已建成”、“根在中國”的輿論，就是有人嚴重曲解了</a:t>
            </a:r>
            <a:r>
              <a:rPr lang="en-US" altLang="zh-CN" b="0" i="0" dirty="0">
                <a:solidFill>
                  <a:srgbClr val="333333"/>
                </a:solidFill>
                <a:effectLst/>
                <a:latin typeface="微软雅黑" panose="020B0503020204020204" pitchFamily="34" charset="-122"/>
                <a:ea typeface="微软雅黑" panose="020B0503020204020204" pitchFamily="34" charset="-122"/>
              </a:rPr>
              <a:t>ICANN</a:t>
            </a:r>
            <a:r>
              <a:rPr lang="zh-CN" altLang="en-US" b="0" i="0" dirty="0">
                <a:solidFill>
                  <a:srgbClr val="333333"/>
                </a:solidFill>
                <a:effectLst/>
                <a:latin typeface="微软雅黑" panose="020B0503020204020204" pitchFamily="34" charset="-122"/>
                <a:ea typeface="微软雅黑" panose="020B0503020204020204" pitchFamily="34" charset="-122"/>
              </a:rPr>
              <a:t>的</a:t>
            </a:r>
            <a:r>
              <a:rPr lang="en-US" altLang="zh-CN" b="0" i="0" dirty="0">
                <a:solidFill>
                  <a:srgbClr val="333333"/>
                </a:solidFill>
                <a:effectLst/>
                <a:latin typeface="微软雅黑" panose="020B0503020204020204" pitchFamily="34" charset="-122"/>
                <a:ea typeface="微软雅黑" panose="020B0503020204020204" pitchFamily="34" charset="-122"/>
              </a:rPr>
              <a:t>IPv6</a:t>
            </a:r>
            <a:r>
              <a:rPr lang="zh-CN" altLang="en-US" b="0" i="0" dirty="0">
                <a:solidFill>
                  <a:srgbClr val="333333"/>
                </a:solidFill>
                <a:effectLst/>
                <a:latin typeface="微软雅黑" panose="020B0503020204020204" pitchFamily="34" charset="-122"/>
                <a:ea typeface="微软雅黑" panose="020B0503020204020204" pitchFamily="34" charset="-122"/>
              </a:rPr>
              <a:t>測試系統真相誤導輿論。</a:t>
            </a:r>
            <a:endParaRPr lang="en-US" altLang="zh-CN" b="0" i="0" dirty="0">
              <a:solidFill>
                <a:srgbClr val="333333"/>
              </a:solidFill>
              <a:effectLst/>
              <a:latin typeface="微软雅黑" panose="020B0503020204020204" pitchFamily="34" charset="-122"/>
              <a:ea typeface="微软雅黑" panose="020B0503020204020204" pitchFamily="34" charset="-122"/>
            </a:endParaRPr>
          </a:p>
          <a:p>
            <a:endParaRPr lang="en-US" altLang="zh-CN" b="0" i="0" dirty="0">
              <a:solidFill>
                <a:srgbClr val="333333"/>
              </a:solidFill>
              <a:effectLst/>
              <a:latin typeface="微软雅黑" panose="020B0503020204020204" pitchFamily="34" charset="-122"/>
              <a:ea typeface="微软雅黑" panose="020B0503020204020204" pitchFamily="34" charset="-122"/>
            </a:endParaRPr>
          </a:p>
          <a:p>
            <a:r>
              <a:rPr lang="zh-CN" altLang="en-US" b="0" i="0" dirty="0">
                <a:solidFill>
                  <a:srgbClr val="333333"/>
                </a:solidFill>
                <a:effectLst/>
                <a:latin typeface="微软雅黑" panose="020B0503020204020204" pitchFamily="34" charset="-122"/>
                <a:ea typeface="微软雅黑" panose="020B0503020204020204" pitchFamily="34" charset="-122"/>
              </a:rPr>
              <a:t>通過雪人計劃，中國因此將獲得根服務器的管理權，幷已向全球部署</a:t>
            </a:r>
            <a:r>
              <a:rPr lang="en-US" altLang="zh-CN" b="0" i="0" dirty="0">
                <a:solidFill>
                  <a:srgbClr val="333333"/>
                </a:solidFill>
                <a:effectLst/>
                <a:latin typeface="微软雅黑" panose="020B0503020204020204" pitchFamily="34" charset="-122"/>
                <a:ea typeface="微软雅黑" panose="020B0503020204020204" pitchFamily="34" charset="-122"/>
              </a:rPr>
              <a:t>25</a:t>
            </a:r>
            <a:r>
              <a:rPr lang="zh-CN" altLang="en-US" b="0" i="0" dirty="0">
                <a:solidFill>
                  <a:srgbClr val="333333"/>
                </a:solidFill>
                <a:effectLst/>
                <a:latin typeface="微软雅黑" panose="020B0503020204020204" pitchFamily="34" charset="-122"/>
                <a:ea typeface="微软雅黑" panose="020B0503020204020204" pitchFamily="34" charset="-122"/>
              </a:rPr>
              <a:t>個根服務器等。國內外業界人士議論紛紛。美國會輕易將根服務器交給中國嗎？回答是：不會</a:t>
            </a:r>
            <a:r>
              <a:rPr lang="en-US" altLang="zh-CN" b="0" i="0" dirty="0">
                <a:solidFill>
                  <a:srgbClr val="333333"/>
                </a:solidFill>
                <a:effectLst/>
                <a:latin typeface="微软雅黑" panose="020B0503020204020204" pitchFamily="34" charset="-122"/>
                <a:ea typeface="微软雅黑" panose="020B0503020204020204" pitchFamily="34" charset="-122"/>
              </a:rPr>
              <a:t>;</a:t>
            </a:r>
            <a:r>
              <a:rPr lang="zh-CN" altLang="en-US" b="0" i="0" dirty="0">
                <a:solidFill>
                  <a:srgbClr val="333333"/>
                </a:solidFill>
                <a:effectLst/>
                <a:latin typeface="微软雅黑" panose="020B0503020204020204" pitchFamily="34" charset="-122"/>
                <a:ea typeface="微软雅黑" panose="020B0503020204020204" pitchFamily="34" charset="-122"/>
              </a:rPr>
              <a:t>中國將取代美國成爲</a:t>
            </a:r>
            <a:r>
              <a:rPr lang="en-US" altLang="zh-CN" b="0" i="0" dirty="0">
                <a:solidFill>
                  <a:srgbClr val="333333"/>
                </a:solidFill>
                <a:effectLst/>
                <a:latin typeface="微软雅黑" panose="020B0503020204020204" pitchFamily="34" charset="-122"/>
                <a:ea typeface="微软雅黑" panose="020B0503020204020204" pitchFamily="34" charset="-122"/>
              </a:rPr>
              <a:t>IPv6</a:t>
            </a:r>
            <a:r>
              <a:rPr lang="zh-CN" altLang="en-US" b="0" i="0" dirty="0">
                <a:solidFill>
                  <a:srgbClr val="333333"/>
                </a:solidFill>
                <a:effectLst/>
                <a:latin typeface="微软雅黑" panose="020B0503020204020204" pitchFamily="34" charset="-122"/>
                <a:ea typeface="微软雅黑" panose="020B0503020204020204" pitchFamily="34" charset="-122"/>
              </a:rPr>
              <a:t>的世界霸主嗎？回答仍然是：不會！</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645517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9.1 DNS</a:t>
            </a:r>
            <a:r>
              <a:rPr lang="zh-CN"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概述</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9.1.1 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的</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演進</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9.1.2 DNS</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域名</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結構</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與區域</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組織形式</a:t>
            </a: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9.2 DNS</a:t>
            </a:r>
            <a:r>
              <a:rPr lang="zh-CN"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請求過程</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9.2.1 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使用</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9.2.2 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請求過程</a:t>
            </a: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9.3 DNS</a:t>
            </a:r>
            <a:r>
              <a:rPr lang="zh-CN"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攻擊</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9.3.1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緩存中毒攻擊</a:t>
            </a:r>
          </a:p>
          <a:p>
            <a:pPr marL="30480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9.3.1.1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本地</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緩存中毒攻擊</a:t>
            </a:r>
          </a:p>
          <a:p>
            <a:pPr marL="30480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9.3.1.2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遠程</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緩存中毒攻擊</a:t>
            </a:r>
          </a:p>
          <a:p>
            <a:pPr marL="11049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 9.3.2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來自惡意</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服務器的</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回復僞造</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1049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 9.3.3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拒絕服務攻擊</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9.4 DNS</a:t>
            </a:r>
            <a:r>
              <a:rPr lang="zh-CN" altLang="en-US" sz="1800" b="1" kern="100" dirty="0">
                <a:latin typeface="Microsoft YaHei" panose="020B0503020204020204" pitchFamily="34" charset="-122"/>
                <a:ea typeface="Microsoft YaHei" panose="020B0503020204020204" pitchFamily="34" charset="-122"/>
                <a:cs typeface="Times New Roman" panose="02020603050405020304" pitchFamily="18" charset="0"/>
              </a:rPr>
              <a:t>攻擊預防策略</a:t>
            </a:r>
            <a:endPar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9.4.1 </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基于密碼技術</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   9.4.2 </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基于系統管理</a:t>
            </a:r>
            <a:endPar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772207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179391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04800" algn="just">
              <a:lnSpc>
                <a:spcPct val="150000"/>
              </a:lnSpc>
            </a:pP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在</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Internet</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上域名與</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IP</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地址之間存在一對一（或多對一）關係，域名便于人們記憶，但通信終端只認識</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IP</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地址，互聯網用戶計算機中的應用需要與另一台計算機通信時，需要知道目的計算機的</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IP</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地址，域名到</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IP</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地址的轉換工作稱爲域名解析，域名解析需要由專門的域名解析服務器來完成</a:t>
            </a:r>
            <a:endPar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304800" algn="just">
              <a:lnSpc>
                <a:spcPct val="150000"/>
              </a:lnSpc>
            </a:pP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本地計算機使用</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服務的過程爲應用向本機</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解析器發起請求，該解析器如果從它的數據中尋找到對應</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IP</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地址，則發送給應用，否則發送請求至系統指定的本地</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服務器，本地</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服務器查看自己的數據，如果沒有，則會從互聯網其它</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服務器查詢到</a:t>
            </a:r>
            <a:r>
              <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IP</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地址，發送給用戶。</a:t>
            </a:r>
            <a:endParaRPr lang="en-US" altLang="zh-CN" sz="12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27000" indent="304800" algn="just"/>
            <a:r>
              <a:rPr lang="x-none" altLang="zh-CN" sz="1800"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用戶打開</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Web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瀏覽器，在地址欄中輸入</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www.</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test</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.com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marL="127000" indent="304800" algn="just"/>
            <a:r>
              <a:rPr lang="x-none" altLang="zh-CN" sz="1800" kern="100" dirty="0">
                <a:effectLst/>
                <a:latin typeface="宋体" panose="02010600030101010101" pitchFamily="2" charset="-122"/>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請求被路由到</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解析程序，這一般由用戶的</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Internet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服務提供商</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(ISP)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進行管理，例如有綫</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Internet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服務提供商、</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DSL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寬帶提供商或公司網絡。</a:t>
            </a:r>
          </a:p>
          <a:p>
            <a:pPr marL="127000" indent="304800" algn="just"/>
            <a:r>
              <a:rPr lang="x-none" altLang="zh-CN" sz="1800" kern="100" dirty="0">
                <a:effectLst/>
                <a:latin typeface="宋体" panose="02010600030101010101" pitchFamily="2" charset="-122"/>
                <a:ea typeface="宋体" panose="02010600030101010101" pitchFamily="2" charset="-122"/>
                <a:cs typeface="Times New Roman" panose="02020603050405020304" pitchFamily="18" charset="0"/>
              </a:rPr>
              <a:t>3.ISP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DNS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解析程序經過一個迭代查詢過程，最終獲得</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域名</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相關值</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如</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IP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地址</a:t>
            </a:r>
            <a:r>
              <a:rPr lang="x-none" altLang="zh-CN"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47.94.221.113</a:t>
            </a:r>
            <a:r>
              <a:rPr lang="x-none"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marL="127000" indent="304800" algn="just"/>
            <a:r>
              <a:rPr lang="x-none" altLang="zh-CN" sz="1800" kern="100" dirty="0">
                <a:effectLst/>
                <a:latin typeface="宋体" panose="02010600030101010101" pitchFamily="2" charset="-122"/>
                <a:ea typeface="宋体" panose="02010600030101010101" pitchFamily="2" charset="-122"/>
                <a:cs typeface="Times New Roman" panose="02020603050405020304" pitchFamily="18" charset="0"/>
              </a:rPr>
              <a:t>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解析程序將此值返回至</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Web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瀏覽器。</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解析程序還會將</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對應</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IP</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地址緩存一定時長，以便在下次有人瀏覽</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該域名</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時更快地作出響應。</a:t>
            </a:r>
          </a:p>
          <a:p>
            <a:pPr marL="127000" indent="304800" algn="just"/>
            <a:r>
              <a:rPr lang="x-none" altLang="zh-CN" sz="1800" kern="100" dirty="0">
                <a:effectLst/>
                <a:latin typeface="宋体" panose="02010600030101010101" pitchFamily="2" charset="-122"/>
                <a:ea typeface="宋体" panose="02010600030101010101" pitchFamily="2" charset="-122"/>
                <a:cs typeface="Times New Roman" panose="02020603050405020304" pitchFamily="18" charset="0"/>
              </a:rPr>
              <a:t>5.Web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瀏覽器將</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www.</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test</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.com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的請求發送到從</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DNS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解析程序中獲得的</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IP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地址。</a:t>
            </a:r>
          </a:p>
          <a:p>
            <a:pPr marL="127000" indent="304800" algn="just"/>
            <a:r>
              <a:rPr lang="x-none" altLang="zh-CN" sz="1800" kern="100" dirty="0">
                <a:effectLst/>
                <a:latin typeface="宋体" panose="02010600030101010101" pitchFamily="2" charset="-122"/>
                <a:ea typeface="宋体" panose="02010600030101010101" pitchFamily="2" charset="-122"/>
                <a:cs typeface="Times New Roman" panose="02020603050405020304" pitchFamily="18" charset="0"/>
              </a:rPr>
              <a:t>6.</a:t>
            </a:r>
            <a:r>
              <a:rPr lang="x-none" altLang="zh-CN" sz="1800" kern="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47.94.221.113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上的</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Web</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服務器或其他資源將</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Web</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頁面返回到</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Web</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瀏覽器，</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Web</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瀏覽器顯示該頁面。</a:t>
            </a:r>
          </a:p>
          <a:p>
            <a:pPr marL="304800" algn="just">
              <a:lnSpc>
                <a:spcPct val="150000"/>
              </a:lnSpc>
            </a:pPr>
            <a:endParaRPr lang="zh-CN" altLang="zh-CN" sz="1200" kern="100" dirty="0">
              <a:latin typeface="Microsoft YaHei" panose="020B0503020204020204" pitchFamily="34" charset="-122"/>
              <a:ea typeface="Microsoft YaHei" panose="020B0503020204020204" pitchFamily="34"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69794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ea typeface="宋体" panose="02010600030101010101" pitchFamily="2" charset="-122"/>
                <a:cs typeface="宋体" panose="02010600030101010101" pitchFamily="2" charset="-122"/>
              </a:rPr>
              <a:t>實際請求過程中，幷不是每一次域名解析都要完成整個查詢流程。</a:t>
            </a:r>
            <a:endParaRPr lang="en-US" altLang="zh-CN" sz="1800" kern="0" dirty="0">
              <a:solidFill>
                <a:srgbClr val="000000"/>
              </a:solidFill>
              <a:effectLst/>
              <a:ea typeface="宋体" panose="02010600030101010101" pitchFamily="2" charset="-122"/>
              <a:cs typeface="宋体" panose="02010600030101010101" pitchFamily="2" charset="-122"/>
            </a:endParaRPr>
          </a:p>
          <a:p>
            <a:pPr marL="127000" indent="3048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以訪問</a:t>
            </a:r>
            <a:r>
              <a:rPr lang="en-US" altLang="zh-CN" sz="1800" kern="100" dirty="0">
                <a:latin typeface="微软雅黑" panose="020B0503020204020204" pitchFamily="34" charset="-122"/>
                <a:ea typeface="微软雅黑" panose="020B0503020204020204" pitchFamily="34" charset="-122"/>
                <a:cs typeface="Times New Roman" panose="02020603050405020304" pitchFamily="18" charset="0"/>
              </a:rPr>
              <a:t>thucsnet.com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爲例，客戶端去本地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服務器的查詢過程爲遞歸查詢，本地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服務器獲取最終域名對應</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IP</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的過程爲迭代查詢。</a:t>
            </a:r>
          </a:p>
          <a:p>
            <a:pPr marL="127000" indent="3048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一個實際的</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域名解析過程包括：</a:t>
            </a:r>
          </a:p>
          <a:p>
            <a:pPr marL="127000" indent="3048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）客戶端查詢本機</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緩存，如緩存沒有，則查詢</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hosts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文件，如果找到該域名</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IP</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地址，直接讀取該地址。</a:t>
            </a:r>
          </a:p>
          <a:p>
            <a:pPr marL="127000" indent="3048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）如</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hosts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記錄裏不存在，則查詢指定本地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服務器。</a:t>
            </a:r>
          </a:p>
          <a:p>
            <a:pPr marL="127000" indent="3048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）本地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服務器查找本地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服務器緩存，有結果就返回。</a:t>
            </a:r>
          </a:p>
          <a:p>
            <a:pPr marL="127000" indent="3048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）如沒有結果，則查找根服務器，如根服務器查找無結果，則會告知本地服務器</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.com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頂級域位置。</a:t>
            </a:r>
          </a:p>
          <a:p>
            <a:pPr marL="127000" indent="3048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）本地服務器去</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.com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頂級域查找，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.com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頂級域查找無結果，則告知本地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服務器本地無記錄，但</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xy.com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應該會知道。</a:t>
            </a:r>
          </a:p>
          <a:p>
            <a:pPr marL="127000" indent="3048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）本地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服務器從</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xy.com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獲取結果，幷向客戶端返回查詢結果，此時可在本地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服務器緩存一份結果，方便再次查詢時直接獲取。</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629623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27000" indent="304800" algn="just"/>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67774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27000" indent="304800" algn="just"/>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問題區（</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Question Section</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）：這裏填寫所要查詢的問題（可以是一個或多個），主要填查詢內容和查詢類型，比如想要查</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www.baidu.com</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記錄，就填</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www.baidu.com</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marL="127000" indent="304800" algn="just"/>
            <a:r>
              <a:rPr lang="en-US" altLang="zh-CN" sz="1200" kern="100" dirty="0">
                <a:effectLst/>
                <a:latin typeface="宋体" panose="02010600030101010101" pitchFamily="2" charset="-122"/>
                <a:ea typeface="宋体" panose="02010600030101010101" pitchFamily="2" charset="-122"/>
                <a:cs typeface="Times New Roman" panose="02020603050405020304" pitchFamily="18" charset="0"/>
              </a:rPr>
              <a:t> </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127000" indent="304800" algn="just"/>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應答區（</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Answer Section</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）：這裏給出查詢問題的答案，對于</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記錄類型的問題，這裏會給出一個或多個</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記錄，也可能給出一個或多個</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CNAME</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記錄。當然，如果問題問的是</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NS</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記錄，這裏就會應答</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NS</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記錄。</a:t>
            </a:r>
          </a:p>
          <a:p>
            <a:pPr marL="127000" indent="304800" algn="just"/>
            <a:r>
              <a:rPr lang="en-US" altLang="zh-CN" sz="1200" kern="100" dirty="0">
                <a:effectLst/>
                <a:latin typeface="宋体" panose="02010600030101010101" pitchFamily="2" charset="-122"/>
                <a:ea typeface="宋体" panose="02010600030101010101" pitchFamily="2" charset="-122"/>
                <a:cs typeface="Times New Roman" panose="02020603050405020304" pitchFamily="18" charset="0"/>
              </a:rPr>
              <a:t> </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127000" indent="304800" algn="just"/>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權威區（</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Authority Section</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）：這裏給出一個或多個</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NS</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記錄，其實就是那些</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referral</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，也即告訴</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LDNS</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問誰會更接近答案一些，比如</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com</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會在這裏給出</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baidu.com</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的權威</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（可以給出多個）。注意，在必要情况下，權威</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在應答區給出回答的同時，還會在權威區給出</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NS</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記錄。</a:t>
            </a:r>
          </a:p>
          <a:p>
            <a:pPr marL="127000" indent="304800" algn="just"/>
            <a:r>
              <a:rPr lang="en-US" altLang="zh-CN" sz="1200" kern="100" dirty="0">
                <a:effectLst/>
                <a:latin typeface="宋体" panose="02010600030101010101" pitchFamily="2" charset="-122"/>
                <a:ea typeface="宋体" panose="02010600030101010101" pitchFamily="2" charset="-122"/>
                <a:cs typeface="Times New Roman" panose="02020603050405020304" pitchFamily="18" charset="0"/>
              </a:rPr>
              <a:t> </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200" dirty="0">
                <a:effectLst/>
                <a:ea typeface="宋体" panose="02010600030101010101" pitchFamily="2" charset="-122"/>
                <a:cs typeface="Times New Roman" panose="02020603050405020304" pitchFamily="18" charset="0"/>
              </a:rPr>
              <a:t>附加區（</a:t>
            </a:r>
            <a:r>
              <a:rPr lang="en-US" altLang="zh-CN" sz="1200" dirty="0">
                <a:effectLst/>
                <a:ea typeface="宋体" panose="02010600030101010101" pitchFamily="2" charset="-122"/>
                <a:cs typeface="Times New Roman" panose="02020603050405020304" pitchFamily="18" charset="0"/>
              </a:rPr>
              <a:t>Additional Section</a:t>
            </a:r>
            <a:r>
              <a:rPr lang="zh-CN" altLang="zh-CN" sz="1200" dirty="0">
                <a:effectLst/>
                <a:ea typeface="宋体" panose="02010600030101010101" pitchFamily="2" charset="-122"/>
                <a:cs typeface="Times New Roman" panose="02020603050405020304" pitchFamily="18" charset="0"/>
              </a:rPr>
              <a:t>）：這裏存放附加的一些記錄。比如在給出權威</a:t>
            </a:r>
            <a:r>
              <a:rPr lang="en-US" altLang="zh-CN" sz="1200" dirty="0">
                <a:effectLst/>
                <a:ea typeface="宋体" panose="02010600030101010101" pitchFamily="2" charset="-122"/>
                <a:cs typeface="Times New Roman" panose="02020603050405020304" pitchFamily="18" charset="0"/>
              </a:rPr>
              <a:t>NS</a:t>
            </a:r>
            <a:r>
              <a:rPr lang="zh-CN" altLang="zh-CN" sz="1200" dirty="0">
                <a:effectLst/>
                <a:ea typeface="宋体" panose="02010600030101010101" pitchFamily="2" charset="-122"/>
                <a:cs typeface="Times New Roman" panose="02020603050405020304" pitchFamily="18" charset="0"/>
              </a:rPr>
              <a:t>記錄的同時，會把它的</a:t>
            </a:r>
            <a:r>
              <a:rPr lang="en-US" altLang="zh-CN" sz="1200" dirty="0">
                <a:effectLst/>
                <a:ea typeface="宋体" panose="02010600030101010101" pitchFamily="2" charset="-122"/>
                <a:cs typeface="Times New Roman" panose="02020603050405020304" pitchFamily="18" charset="0"/>
              </a:rPr>
              <a:t>A</a:t>
            </a:r>
            <a:r>
              <a:rPr lang="zh-CN" altLang="zh-CN" sz="1200" dirty="0">
                <a:effectLst/>
                <a:ea typeface="宋体" panose="02010600030101010101" pitchFamily="2" charset="-122"/>
                <a:cs typeface="Times New Roman" panose="02020603050405020304" pitchFamily="18" charset="0"/>
              </a:rPr>
              <a:t>記錄放在這裏（在</a:t>
            </a:r>
            <a:r>
              <a:rPr lang="en-US" altLang="zh-CN" sz="1200" dirty="0">
                <a:effectLst/>
                <a:ea typeface="宋体" panose="02010600030101010101" pitchFamily="2" charset="-122"/>
                <a:cs typeface="Times New Roman" panose="02020603050405020304" pitchFamily="18" charset="0"/>
              </a:rPr>
              <a:t>NS</a:t>
            </a:r>
            <a:r>
              <a:rPr lang="zh-CN" altLang="zh-CN" sz="1200" dirty="0">
                <a:effectLst/>
                <a:ea typeface="宋体" panose="02010600030101010101" pitchFamily="2" charset="-122"/>
                <a:cs typeface="Times New Roman" panose="02020603050405020304" pitchFamily="18" charset="0"/>
              </a:rPr>
              <a:t>記錄中是不會有</a:t>
            </a:r>
            <a:r>
              <a:rPr lang="en-US" altLang="zh-CN" sz="1200" dirty="0">
                <a:effectLst/>
                <a:ea typeface="宋体" panose="02010600030101010101" pitchFamily="2" charset="-122"/>
                <a:cs typeface="Times New Roman" panose="02020603050405020304" pitchFamily="18" charset="0"/>
              </a:rPr>
              <a:t>IP</a:t>
            </a:r>
            <a:r>
              <a:rPr lang="zh-CN" altLang="zh-CN" sz="1200" dirty="0">
                <a:effectLst/>
                <a:ea typeface="宋体" panose="02010600030101010101" pitchFamily="2" charset="-122"/>
                <a:cs typeface="Times New Roman" panose="02020603050405020304" pitchFamily="18" charset="0"/>
              </a:rPr>
              <a:t>的），這樣做的好處是可以解决鶏生蛋蛋生鶏的問題，比如你查</a:t>
            </a:r>
            <a:r>
              <a:rPr lang="en-US" altLang="zh-CN" sz="1200" dirty="0">
                <a:effectLst/>
                <a:ea typeface="宋体" panose="02010600030101010101" pitchFamily="2" charset="-122"/>
                <a:cs typeface="Times New Roman" panose="02020603050405020304" pitchFamily="18" charset="0"/>
              </a:rPr>
              <a:t>www.baidu.com</a:t>
            </a:r>
            <a:r>
              <a:rPr lang="zh-CN" altLang="zh-CN" sz="1200" dirty="0">
                <a:effectLst/>
                <a:ea typeface="宋体" panose="02010600030101010101" pitchFamily="2" charset="-122"/>
                <a:cs typeface="Times New Roman" panose="02020603050405020304" pitchFamily="18" charset="0"/>
              </a:rPr>
              <a:t>，權威告訴你去找</a:t>
            </a:r>
            <a:r>
              <a:rPr lang="en-US" altLang="zh-CN" sz="1200" dirty="0">
                <a:effectLst/>
                <a:ea typeface="宋体" panose="02010600030101010101" pitchFamily="2" charset="-122"/>
                <a:cs typeface="Times New Roman" panose="02020603050405020304" pitchFamily="18" charset="0"/>
              </a:rPr>
              <a:t>ns.baidu.com</a:t>
            </a:r>
            <a:r>
              <a:rPr lang="zh-CN" altLang="zh-CN" sz="1200" dirty="0">
                <a:effectLst/>
                <a:ea typeface="宋体" panose="02010600030101010101" pitchFamily="2" charset="-122"/>
                <a:cs typeface="Times New Roman" panose="02020603050405020304" pitchFamily="18" charset="0"/>
              </a:rPr>
              <a:t>，如果沒有這個附加的</a:t>
            </a:r>
            <a:r>
              <a:rPr lang="en-US" altLang="zh-CN" sz="1200" dirty="0">
                <a:effectLst/>
                <a:ea typeface="宋体" panose="02010600030101010101" pitchFamily="2" charset="-122"/>
                <a:cs typeface="Times New Roman" panose="02020603050405020304" pitchFamily="18" charset="0"/>
              </a:rPr>
              <a:t>A</a:t>
            </a:r>
            <a:r>
              <a:rPr lang="zh-CN" altLang="zh-CN" sz="1200" dirty="0">
                <a:effectLst/>
                <a:ea typeface="宋体" panose="02010600030101010101" pitchFamily="2" charset="-122"/>
                <a:cs typeface="Times New Roman" panose="02020603050405020304" pitchFamily="18" charset="0"/>
              </a:rPr>
              <a:t>記錄（又稱膠水記錄，</a:t>
            </a:r>
            <a:r>
              <a:rPr lang="en-US" altLang="zh-CN" sz="1200" dirty="0">
                <a:effectLst/>
                <a:ea typeface="宋体" panose="02010600030101010101" pitchFamily="2" charset="-122"/>
                <a:cs typeface="Times New Roman" panose="02020603050405020304" pitchFamily="18" charset="0"/>
              </a:rPr>
              <a:t>glue record</a:t>
            </a:r>
            <a:r>
              <a:rPr lang="zh-CN" altLang="zh-CN" sz="1200" dirty="0">
                <a:effectLst/>
                <a:ea typeface="宋体" panose="02010600030101010101" pitchFamily="2" charset="-122"/>
                <a:cs typeface="Times New Roman" panose="02020603050405020304" pitchFamily="18" charset="0"/>
              </a:rPr>
              <a:t>），就得去問</a:t>
            </a:r>
            <a:r>
              <a:rPr lang="en-US" altLang="zh-CN" sz="1200" dirty="0">
                <a:effectLst/>
                <a:ea typeface="宋体" panose="02010600030101010101" pitchFamily="2" charset="-122"/>
                <a:cs typeface="Times New Roman" panose="02020603050405020304" pitchFamily="18" charset="0"/>
              </a:rPr>
              <a:t>ns.baidu.com</a:t>
            </a:r>
            <a:r>
              <a:rPr lang="zh-CN" altLang="zh-CN" sz="1200" dirty="0">
                <a:effectLst/>
                <a:ea typeface="宋体" panose="02010600030101010101" pitchFamily="2" charset="-122"/>
                <a:cs typeface="Times New Roman" panose="02020603050405020304" pitchFamily="18" charset="0"/>
              </a:rPr>
              <a:t>的</a:t>
            </a:r>
            <a:r>
              <a:rPr lang="en-US" altLang="zh-CN" sz="1200" dirty="0">
                <a:effectLst/>
                <a:ea typeface="宋体" panose="02010600030101010101" pitchFamily="2" charset="-122"/>
                <a:cs typeface="Times New Roman" panose="02020603050405020304" pitchFamily="18" charset="0"/>
              </a:rPr>
              <a:t>A</a:t>
            </a:r>
            <a:r>
              <a:rPr lang="zh-CN" altLang="zh-CN" sz="1200" dirty="0">
                <a:effectLst/>
                <a:ea typeface="宋体" panose="02010600030101010101" pitchFamily="2" charset="-122"/>
                <a:cs typeface="Times New Roman" panose="02020603050405020304" pitchFamily="18" charset="0"/>
              </a:rPr>
              <a:t>記錄，然後權威又告訴你去找</a:t>
            </a:r>
            <a:r>
              <a:rPr lang="en-US" altLang="zh-CN" sz="1200" dirty="0">
                <a:effectLst/>
                <a:ea typeface="宋体" panose="02010600030101010101" pitchFamily="2" charset="-122"/>
                <a:cs typeface="Times New Roman" panose="02020603050405020304" pitchFamily="18" charset="0"/>
              </a:rPr>
              <a:t>ns.baidu.com</a:t>
            </a:r>
            <a:r>
              <a:rPr lang="zh-CN" altLang="zh-CN" sz="1200" dirty="0">
                <a:effectLst/>
                <a:ea typeface="宋体" panose="02010600030101010101" pitchFamily="2" charset="-122"/>
                <a:cs typeface="Times New Roman" panose="02020603050405020304" pitchFamily="18" charset="0"/>
              </a:rPr>
              <a:t>，這就進入一個無解的循環之中。</a:t>
            </a:r>
            <a:endParaRPr lang="en-US" altLang="zh-CN" sz="1200" dirty="0">
              <a:effectLst/>
              <a:ea typeface="宋体" panose="02010600030101010101" pitchFamily="2" charset="-122"/>
              <a:cs typeface="Times New Roman" panose="02020603050405020304" pitchFamily="18" charset="0"/>
            </a:endParaRPr>
          </a:p>
          <a:p>
            <a:pPr marL="127000" indent="304800" algn="just"/>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634514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anose="02010600030101010101" pitchFamily="2" charset="-122"/>
                <a:cs typeface="NotoSerifCJKjp-Light-Identity-H"/>
              </a:rPr>
              <a:t>發送“</a:t>
            </a:r>
            <a:r>
              <a:rPr lang="x-none" altLang="zh-CN" sz="1800" kern="0" dirty="0">
                <a:solidFill>
                  <a:srgbClr val="000000"/>
                </a:solidFill>
                <a:effectLst/>
                <a:latin typeface="Times New Roman" panose="02020603050405020304" pitchFamily="18" charset="0"/>
                <a:ea typeface="宋体" panose="02010600030101010101" pitchFamily="2" charset="-122"/>
                <a:cs typeface="NotoSerifCJKjp-Light-Identity-H"/>
              </a:rPr>
              <a:t>dig @a.root-servers.net  </a:t>
            </a:r>
            <a:r>
              <a:rPr lang="x-none" altLang="zh-CN" sz="1800" u="sng" kern="0" dirty="0">
                <a:solidFill>
                  <a:srgbClr val="0563C1"/>
                </a:solidFill>
                <a:effectLst/>
                <a:latin typeface="Times New Roman" panose="02020603050405020304" pitchFamily="18" charset="0"/>
                <a:ea typeface="宋体" panose="02010600030101010101" pitchFamily="2" charset="-122"/>
                <a:cs typeface="NotoSerifCJKjp-Light-Identity-H"/>
                <a:hlinkClick r:id="rId3"/>
              </a:rPr>
              <a:t>www.</a:t>
            </a:r>
            <a:r>
              <a:rPr lang="x-none" altLang="zh-CN" sz="1800" u="none" strike="noStrike" dirty="0">
                <a:solidFill>
                  <a:srgbClr val="0563C1"/>
                </a:solidFill>
                <a:effectLst/>
                <a:latin typeface="Times New Roman" panose="02020603050405020304" pitchFamily="18" charset="0"/>
                <a:ea typeface="宋体" panose="02010600030101010101" pitchFamily="2" charset="-122"/>
                <a:hlinkClick r:id="rId3"/>
              </a:rPr>
              <a:t> </a:t>
            </a:r>
            <a:r>
              <a:rPr lang="x-none" altLang="zh-CN" sz="1800" u="sng" kern="0" dirty="0">
                <a:solidFill>
                  <a:srgbClr val="0563C1"/>
                </a:solidFill>
                <a:effectLst/>
                <a:latin typeface="Times New Roman" panose="02020603050405020304" pitchFamily="18" charset="0"/>
                <a:ea typeface="宋体" panose="02010600030101010101" pitchFamily="2" charset="-122"/>
                <a:cs typeface="NotoSerifCJKjp-Light-Identity-H"/>
                <a:hlinkClick r:id="rId3"/>
              </a:rPr>
              <a:t>thucsnet.com</a:t>
            </a:r>
            <a:r>
              <a:rPr lang="zh-CN" altLang="zh-CN" sz="1800" kern="0" dirty="0">
                <a:solidFill>
                  <a:srgbClr val="000000"/>
                </a:solidFill>
                <a:effectLst/>
                <a:latin typeface="Times New Roman" panose="02020603050405020304" pitchFamily="18" charset="0"/>
                <a:ea typeface="宋体" panose="02010600030101010101" pitchFamily="2" charset="-122"/>
                <a:cs typeface="NotoSerifCJKjp-Light-Identity-H"/>
              </a:rPr>
              <a:t>”命令。由于根服務器不知道答案，應答中不包含回復部分，因此在授權部分提供了</a:t>
            </a:r>
            <a:r>
              <a:rPr lang="x-none" altLang="zh-CN" sz="1800" kern="0" dirty="0">
                <a:solidFill>
                  <a:srgbClr val="000000"/>
                </a:solidFill>
                <a:effectLst/>
                <a:latin typeface="Times New Roman" panose="02020603050405020304" pitchFamily="18" charset="0"/>
                <a:ea typeface="宋体" panose="02010600030101010101" pitchFamily="2" charset="-122"/>
                <a:cs typeface="NotoSerifCJKjp-Light-Identity-H"/>
              </a:rPr>
              <a:t>.com</a:t>
            </a:r>
            <a:r>
              <a:rPr lang="zh-CN" altLang="zh-CN" sz="1800" kern="0" dirty="0">
                <a:solidFill>
                  <a:srgbClr val="000000"/>
                </a:solidFill>
                <a:effectLst/>
                <a:latin typeface="Times New Roman" panose="02020603050405020304" pitchFamily="18" charset="0"/>
                <a:ea typeface="宋体" panose="02010600030101010101" pitchFamily="2" charset="-122"/>
                <a:cs typeface="NotoSerifCJKjp-Light-Identity-H"/>
              </a:rPr>
              <a:t>區域的權威域名服務器名字（一個或多個）</a:t>
            </a:r>
            <a:r>
              <a:rPr lang="zh-CN" altLang="en-US" sz="1800" kern="0" dirty="0">
                <a:solidFill>
                  <a:srgbClr val="000000"/>
                </a:solidFill>
                <a:effectLst/>
                <a:latin typeface="Times New Roman" panose="02020603050405020304" pitchFamily="18" charset="0"/>
                <a:ea typeface="宋体" panose="02010600030101010101" pitchFamily="2" charset="-122"/>
                <a:cs typeface="NotoSerifCJKjp-Light-Identity-H"/>
              </a:rPr>
              <a:t>，</a:t>
            </a:r>
            <a:r>
              <a:rPr lang="zh-CN" altLang="zh-CN" sz="1800" kern="0" dirty="0">
                <a:solidFill>
                  <a:srgbClr val="000000"/>
                </a:solidFill>
                <a:effectLst/>
                <a:latin typeface="Times New Roman" panose="02020603050405020304" pitchFamily="18" charset="0"/>
                <a:ea typeface="宋体" panose="02010600030101010101" pitchFamily="2" charset="-122"/>
                <a:cs typeface="NotoSerifCJKjp-Light-Identity-H"/>
              </a:rPr>
              <a:t>對應的地址在附加部分</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027440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bg1"/>
                </a:solidFill>
                <a:latin typeface="微软雅黑" panose="020B0503020204020204" pitchFamily="34" charset="-122"/>
                <a:ea typeface="微软雅黑" panose="020B0503020204020204" pitchFamily="34" charset="-122"/>
                <a:sym typeface="HelveticaNeueLT Pro 67 MdCn" pitchFamily="2" charset="-122"/>
              </a:rPr>
              <a:t>LDNS</a:t>
            </a:r>
            <a:r>
              <a:rPr lang="zh-CN" altLang="en-US" sz="1200" dirty="0">
                <a:solidFill>
                  <a:schemeClr val="bg1"/>
                </a:solidFill>
                <a:latin typeface="微软雅黑" panose="020B0503020204020204" pitchFamily="34" charset="-122"/>
                <a:ea typeface="微软雅黑" panose="020B0503020204020204" pitchFamily="34" charset="-122"/>
                <a:sym typeface="HelveticaNeueLT Pro 67 MdCn" pitchFamily="2" charset="-122"/>
              </a:rPr>
              <a:t>選擇權威域名服務器，如通過“</a:t>
            </a:r>
            <a:r>
              <a:rPr lang="en-US" altLang="zh-CN" sz="1200" dirty="0">
                <a:solidFill>
                  <a:schemeClr val="bg1"/>
                </a:solidFill>
                <a:latin typeface="微软雅黑" panose="020B0503020204020204" pitchFamily="34" charset="-122"/>
                <a:ea typeface="微软雅黑" panose="020B0503020204020204" pitchFamily="34" charset="-122"/>
                <a:sym typeface="HelveticaNeueLT Pro 67 MdCn" pitchFamily="2" charset="-122"/>
              </a:rPr>
              <a:t>dig @f.gtld-servers.net  www.thucsnet.com”</a:t>
            </a:r>
            <a:r>
              <a:rPr lang="zh-CN" altLang="en-US" sz="1200" dirty="0">
                <a:solidFill>
                  <a:schemeClr val="bg1"/>
                </a:solidFill>
                <a:latin typeface="微软雅黑" panose="020B0503020204020204" pitchFamily="34" charset="-122"/>
                <a:ea typeface="微软雅黑" panose="020B0503020204020204" pitchFamily="34" charset="-122"/>
                <a:sym typeface="HelveticaNeueLT Pro 67 MdCn" pitchFamily="2" charset="-122"/>
              </a:rPr>
              <a:t> 發送。得到</a:t>
            </a:r>
            <a:r>
              <a:rPr lang="en-US" altLang="zh-CN" sz="1200" dirty="0">
                <a:solidFill>
                  <a:schemeClr val="bg1"/>
                </a:solidFill>
                <a:latin typeface="微软雅黑" panose="020B0503020204020204" pitchFamily="34" charset="-122"/>
                <a:ea typeface="微软雅黑" panose="020B0503020204020204" pitchFamily="34" charset="-122"/>
                <a:sym typeface="HelveticaNeueLT Pro 67 MdCn" pitchFamily="2" charset="-122"/>
              </a:rPr>
              <a:t>thucsnet.com</a:t>
            </a:r>
            <a:r>
              <a:rPr lang="zh-CN" altLang="en-US" sz="1200" dirty="0">
                <a:solidFill>
                  <a:schemeClr val="bg1"/>
                </a:solidFill>
                <a:latin typeface="微软雅黑" panose="020B0503020204020204" pitchFamily="34" charset="-122"/>
                <a:ea typeface="微软雅黑" panose="020B0503020204020204" pitchFamily="34" charset="-122"/>
                <a:sym typeface="HelveticaNeueLT Pro 67 MdCn" pitchFamily="2" charset="-122"/>
              </a:rPr>
              <a:t>區域的權威域名服務器及地址</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271008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bg1"/>
                </a:solidFill>
                <a:latin typeface="微软雅黑" panose="020B0503020204020204" pitchFamily="34" charset="-122"/>
                <a:ea typeface="微软雅黑" panose="020B0503020204020204" pitchFamily="34" charset="-122"/>
                <a:sym typeface="HelveticaNeueLT Pro 67 MdCn" pitchFamily="2" charset="-122"/>
              </a:rPr>
              <a:t>LDNS</a:t>
            </a:r>
            <a:r>
              <a:rPr lang="zh-CN" altLang="en-US" sz="1200" dirty="0">
                <a:solidFill>
                  <a:schemeClr val="bg1"/>
                </a:solidFill>
                <a:latin typeface="微软雅黑" panose="020B0503020204020204" pitchFamily="34" charset="-122"/>
                <a:ea typeface="微软雅黑" panose="020B0503020204020204" pitchFamily="34" charset="-122"/>
                <a:sym typeface="HelveticaNeueLT Pro 67 MdCn" pitchFamily="2" charset="-122"/>
              </a:rPr>
              <a:t>選擇權威域名服務器，如通過“</a:t>
            </a:r>
            <a:r>
              <a:rPr lang="en-US" altLang="zh-CN" sz="1200" dirty="0">
                <a:solidFill>
                  <a:schemeClr val="bg1"/>
                </a:solidFill>
                <a:latin typeface="微软雅黑" panose="020B0503020204020204" pitchFamily="34" charset="-122"/>
                <a:ea typeface="微软雅黑" panose="020B0503020204020204" pitchFamily="34" charset="-122"/>
                <a:sym typeface="HelveticaNeueLT Pro 67 MdCn" pitchFamily="2" charset="-122"/>
              </a:rPr>
              <a:t>dig @f.gtld-servers.net  www.thucsnet.com”</a:t>
            </a:r>
            <a:r>
              <a:rPr lang="zh-CN" altLang="en-US" sz="1200" dirty="0">
                <a:solidFill>
                  <a:schemeClr val="bg1"/>
                </a:solidFill>
                <a:latin typeface="微软雅黑" panose="020B0503020204020204" pitchFamily="34" charset="-122"/>
                <a:ea typeface="微软雅黑" panose="020B0503020204020204" pitchFamily="34" charset="-122"/>
                <a:sym typeface="HelveticaNeueLT Pro 67 MdCn" pitchFamily="2" charset="-122"/>
              </a:rPr>
              <a:t> 發送。得到</a:t>
            </a:r>
            <a:r>
              <a:rPr lang="en-US" altLang="zh-CN" sz="1200" dirty="0">
                <a:solidFill>
                  <a:schemeClr val="bg1"/>
                </a:solidFill>
                <a:latin typeface="微软雅黑" panose="020B0503020204020204" pitchFamily="34" charset="-122"/>
                <a:ea typeface="微软雅黑" panose="020B0503020204020204" pitchFamily="34" charset="-122"/>
                <a:sym typeface="HelveticaNeueLT Pro 67 MdCn" pitchFamily="2" charset="-122"/>
              </a:rPr>
              <a:t>thucsnet.com</a:t>
            </a:r>
            <a:r>
              <a:rPr lang="zh-CN" altLang="en-US" sz="1200" dirty="0">
                <a:solidFill>
                  <a:schemeClr val="bg1"/>
                </a:solidFill>
                <a:latin typeface="微软雅黑" panose="020B0503020204020204" pitchFamily="34" charset="-122"/>
                <a:ea typeface="微软雅黑" panose="020B0503020204020204" pitchFamily="34" charset="-122"/>
                <a:sym typeface="HelveticaNeueLT Pro 67 MdCn" pitchFamily="2" charset="-122"/>
              </a:rPr>
              <a:t>區域的權威域名服務器及地址</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430927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27000" indent="3048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反向查詢和正向查詢相似，使用</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dig -x IP</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，給定一個</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IP</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地址，</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解析器通過迭代查詢發送請求，從</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root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服務器開始查詢，找到指針（</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PTR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）記錄，使用</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IP</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地址獲得相關的域名或主機名。每個</a:t>
            </a:r>
            <a:r>
              <a:rPr lang="x-none"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PTR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記錄都應存在一個對應的域名記錄，從而找到對應域名。</a:t>
            </a:r>
          </a:p>
          <a:p>
            <a:r>
              <a:rPr lang="en-US" altLang="zh-CN" sz="1800" dirty="0">
                <a:effectLst/>
                <a:ea typeface="宋体" panose="02010600030101010101" pitchFamily="2" charset="-122"/>
                <a:cs typeface="Times New Roman" panose="02020603050405020304" pitchFamily="18" charset="0"/>
              </a:rPr>
              <a:t>          </a:t>
            </a:r>
            <a:r>
              <a:rPr lang="zh-CN" altLang="zh-CN" sz="1800" dirty="0">
                <a:effectLst/>
                <a:ea typeface="宋体" panose="02010600030101010101" pitchFamily="2" charset="-122"/>
                <a:cs typeface="Times New Roman" panose="02020603050405020304" pitchFamily="18" charset="0"/>
              </a:rPr>
              <a:t>如對地址</a:t>
            </a:r>
            <a:r>
              <a:rPr lang="x-none" altLang="zh-CN" sz="1800" dirty="0">
                <a:effectLst/>
                <a:ea typeface="宋体" panose="02010600030101010101" pitchFamily="2" charset="-122"/>
                <a:cs typeface="Times New Roman" panose="02020603050405020304" pitchFamily="18" charset="0"/>
              </a:rPr>
              <a:t>8.8.8.8</a:t>
            </a:r>
            <a:r>
              <a:rPr lang="zh-CN" altLang="zh-CN" sz="1800" dirty="0">
                <a:effectLst/>
                <a:ea typeface="宋体" panose="02010600030101010101" pitchFamily="2" charset="-122"/>
                <a:cs typeface="Times New Roman" panose="02020603050405020304" pitchFamily="18" charset="0"/>
              </a:rPr>
              <a:t>發起查詢，則</a:t>
            </a:r>
            <a:r>
              <a:rPr lang="x-none" altLang="zh-CN" sz="1800" dirty="0">
                <a:effectLst/>
                <a:ea typeface="宋体" panose="02010600030101010101" pitchFamily="2" charset="-122"/>
                <a:cs typeface="Times New Roman" panose="02020603050405020304" pitchFamily="18" charset="0"/>
              </a:rPr>
              <a:t>ANSWER SECTION</a:t>
            </a:r>
            <a:r>
              <a:rPr lang="zh-CN" altLang="zh-CN" sz="1800" dirty="0">
                <a:effectLst/>
                <a:ea typeface="宋体" panose="02010600030101010101" pitchFamily="2" charset="-122"/>
                <a:cs typeface="Times New Roman" panose="02020603050405020304" pitchFamily="18" charset="0"/>
              </a:rPr>
              <a:t>得到地址對應的域名</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746287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9.1 DNS</a:t>
            </a:r>
            <a:r>
              <a:rPr lang="zh-CN"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概述</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9.1.1 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的</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演進</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9.1.2 DNS</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域名</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結構</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與區域</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組織形式</a:t>
            </a: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9.2 DNS</a:t>
            </a:r>
            <a:r>
              <a:rPr lang="zh-CN"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請求過程</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9.2.1 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使用</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9.2.2 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請求過程</a:t>
            </a: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9.3 DNS</a:t>
            </a:r>
            <a:r>
              <a:rPr lang="zh-CN"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攻擊</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9.3.1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緩存中毒攻擊</a:t>
            </a:r>
          </a:p>
          <a:p>
            <a:pPr marL="30480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9.3.1.1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本地</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緩存中毒攻擊</a:t>
            </a:r>
          </a:p>
          <a:p>
            <a:pPr marL="30480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9.3.1.2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遠程</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緩存中毒攻擊</a:t>
            </a:r>
          </a:p>
          <a:p>
            <a:pPr marL="11049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 9.3.2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來自惡意</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服務器的</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回復僞造</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1049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 9.3.3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拒絕服務攻擊</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9.4 DNS</a:t>
            </a:r>
            <a:r>
              <a:rPr lang="zh-CN" altLang="en-US" sz="1800" b="1" kern="100" dirty="0">
                <a:latin typeface="Microsoft YaHei" panose="020B0503020204020204" pitchFamily="34" charset="-122"/>
                <a:ea typeface="Microsoft YaHei" panose="020B0503020204020204" pitchFamily="34" charset="-122"/>
                <a:cs typeface="Times New Roman" panose="02020603050405020304" pitchFamily="18" charset="0"/>
              </a:rPr>
              <a:t>攻擊預防策略</a:t>
            </a:r>
            <a:endPar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9.4.1 </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基于密碼技術</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   9.4.2 </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基于系統管理</a:t>
            </a:r>
            <a:endPar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9.5 </a:t>
            </a:r>
            <a:r>
              <a:rPr lang="zh-CN" altLang="en-US" sz="1800" b="1" kern="100" dirty="0">
                <a:latin typeface="Microsoft YaHei" panose="020B0503020204020204" pitchFamily="34" charset="-122"/>
                <a:ea typeface="Microsoft YaHei" panose="020B0503020204020204" pitchFamily="34" charset="-122"/>
                <a:cs typeface="Times New Roman" panose="02020603050405020304" pitchFamily="18" charset="0"/>
              </a:rPr>
              <a:t>典型案例分析</a:t>
            </a:r>
            <a:endParaRPr lang="zh-CN" altLang="zh-CN" sz="1800" b="1"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pPr marL="110490" indent="133350" algn="just"/>
            <a:endPar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5383683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8990498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001689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dirty="0">
                <a:effectLst/>
                <a:latin typeface="微软雅黑" panose="020B0503020204020204" pitchFamily="34" charset="-122"/>
                <a:ea typeface="微软雅黑" panose="020B0503020204020204" pitchFamily="34" charset="-122"/>
                <a:cs typeface="Times New Roman" panose="02020603050405020304" pitchFamily="18" charset="0"/>
              </a:rPr>
              <a:t>僞造</a:t>
            </a:r>
            <a:r>
              <a:rPr lang="en-US" altLang="zh-CN" sz="1200" dirty="0">
                <a:effectLst/>
                <a:latin typeface="微软雅黑" panose="020B0503020204020204" pitchFamily="34" charset="-122"/>
                <a:ea typeface="微软雅黑" panose="020B0503020204020204" pitchFamily="34" charset="-122"/>
                <a:cs typeface="Times New Roman" panose="02020603050405020304" pitchFamily="18" charset="0"/>
              </a:rPr>
              <a:t>DNS</a:t>
            </a:r>
            <a:r>
              <a:rPr lang="zh-CN" altLang="zh-CN" sz="1200" dirty="0">
                <a:effectLst/>
                <a:latin typeface="微软雅黑" panose="020B0503020204020204" pitchFamily="34" charset="-122"/>
                <a:ea typeface="微软雅黑" panose="020B0503020204020204" pitchFamily="34" charset="-122"/>
                <a:cs typeface="Times New Roman" panose="02020603050405020304" pitchFamily="18" charset="0"/>
              </a:rPr>
              <a:t>回復，通常是</a:t>
            </a:r>
            <a:r>
              <a:rPr lang="en-US" altLang="zh-CN" sz="1200" dirty="0">
                <a:effectLst/>
                <a:latin typeface="微软雅黑" panose="020B0503020204020204" pitchFamily="34" charset="-122"/>
                <a:ea typeface="微软雅黑" panose="020B0503020204020204" pitchFamily="34" charset="-122"/>
                <a:cs typeface="Times New Roman" panose="02020603050405020304" pitchFamily="18" charset="0"/>
              </a:rPr>
              <a:t>UDP</a:t>
            </a:r>
            <a:r>
              <a:rPr lang="zh-CN" altLang="zh-CN" sz="1200" dirty="0">
                <a:effectLst/>
                <a:latin typeface="微软雅黑" panose="020B0503020204020204" pitchFamily="34" charset="-122"/>
                <a:ea typeface="微软雅黑" panose="020B0503020204020204" pitchFamily="34" charset="-122"/>
                <a:cs typeface="Times New Roman" panose="02020603050405020304" pitchFamily="18" charset="0"/>
              </a:rPr>
              <a:t>數據包。爲了實現僞造</a:t>
            </a:r>
            <a:r>
              <a:rPr lang="en-US" altLang="zh-CN" sz="1200" dirty="0">
                <a:effectLst/>
                <a:latin typeface="微软雅黑" panose="020B0503020204020204" pitchFamily="34" charset="-122"/>
                <a:ea typeface="微软雅黑" panose="020B0503020204020204" pitchFamily="34" charset="-122"/>
                <a:cs typeface="Times New Roman" panose="02020603050405020304" pitchFamily="18" charset="0"/>
              </a:rPr>
              <a:t>UDP</a:t>
            </a:r>
            <a:r>
              <a:rPr lang="zh-CN" altLang="zh-CN" sz="1200" dirty="0">
                <a:effectLst/>
                <a:latin typeface="微软雅黑" panose="020B0503020204020204" pitchFamily="34" charset="-122"/>
                <a:ea typeface="微软雅黑" panose="020B0503020204020204" pitchFamily="34" charset="-122"/>
                <a:cs typeface="Times New Roman" panose="02020603050405020304" pitchFamily="18" charset="0"/>
              </a:rPr>
              <a:t>數據包，攻擊者需要知道請求中的一些參數，如</a:t>
            </a:r>
            <a:r>
              <a:rPr lang="en-US" altLang="zh-CN" sz="1200" dirty="0">
                <a:effectLst/>
                <a:latin typeface="微软雅黑" panose="020B0503020204020204" pitchFamily="34" charset="-122"/>
                <a:ea typeface="微软雅黑" panose="020B0503020204020204" pitchFamily="34" charset="-122"/>
                <a:cs typeface="Times New Roman" panose="02020603050405020304" pitchFamily="18" charset="0"/>
              </a:rPr>
              <a:t>UDP</a:t>
            </a:r>
            <a:r>
              <a:rPr lang="zh-CN" altLang="zh-CN" sz="1200" dirty="0">
                <a:effectLst/>
                <a:latin typeface="微软雅黑" panose="020B0503020204020204" pitchFamily="34" charset="-122"/>
                <a:ea typeface="微软雅黑" panose="020B0503020204020204" pitchFamily="34" charset="-122"/>
                <a:cs typeface="Times New Roman" panose="02020603050405020304" pitchFamily="18" charset="0"/>
              </a:rPr>
              <a:t>源端口號、請求的</a:t>
            </a:r>
            <a:r>
              <a:rPr lang="zh-CN" altLang="en-US" sz="1200" dirty="0">
                <a:effectLst/>
                <a:latin typeface="微软雅黑" panose="020B0503020204020204" pitchFamily="34" charset="-122"/>
                <a:ea typeface="微软雅黑" panose="020B0503020204020204" pitchFamily="34" charset="-122"/>
                <a:cs typeface="Times New Roman" panose="02020603050405020304" pitchFamily="18" charset="0"/>
              </a:rPr>
              <a:t>事務</a:t>
            </a:r>
            <a:r>
              <a:rPr lang="en-US" altLang="zh-CN" sz="1200" dirty="0">
                <a:effectLst/>
                <a:latin typeface="微软雅黑" panose="020B0503020204020204" pitchFamily="34" charset="-122"/>
                <a:ea typeface="微软雅黑" panose="020B0503020204020204" pitchFamily="34" charset="-122"/>
                <a:cs typeface="Times New Roman" panose="02020603050405020304" pitchFamily="18" charset="0"/>
              </a:rPr>
              <a:t>ID</a:t>
            </a:r>
            <a:r>
              <a:rPr lang="zh-CN" altLang="zh-CN" sz="1200" dirty="0">
                <a:effectLst/>
                <a:latin typeface="微软雅黑" panose="020B0503020204020204" pitchFamily="34" charset="-122"/>
                <a:ea typeface="微软雅黑" panose="020B0503020204020204" pitchFamily="34" charset="-122"/>
                <a:cs typeface="Times New Roman" panose="02020603050405020304" pitchFamily="18" charset="0"/>
              </a:rPr>
              <a:t>、請求的問題等。由于</a:t>
            </a:r>
            <a:r>
              <a:rPr lang="en-US" altLang="zh-CN" sz="1200" dirty="0">
                <a:effectLst/>
                <a:latin typeface="微软雅黑" panose="020B0503020204020204" pitchFamily="34" charset="-122"/>
                <a:ea typeface="微软雅黑" panose="020B0503020204020204" pitchFamily="34" charset="-122"/>
                <a:cs typeface="Times New Roman" panose="02020603050405020304" pitchFamily="18" charset="0"/>
              </a:rPr>
              <a:t>UDP</a:t>
            </a:r>
            <a:r>
              <a:rPr lang="zh-CN" altLang="zh-CN" sz="1200" dirty="0">
                <a:effectLst/>
                <a:latin typeface="微软雅黑" panose="020B0503020204020204" pitchFamily="34" charset="-122"/>
                <a:ea typeface="微软雅黑" panose="020B0503020204020204" pitchFamily="34" charset="-122"/>
                <a:cs typeface="Times New Roman" panose="02020603050405020304" pitchFamily="18" charset="0"/>
              </a:rPr>
              <a:t>包幷沒有加密措施，攻擊者可以直接捕獲請求</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125353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tx1">
                    <a:lumMod val="75000"/>
                    <a:lumOff val="25000"/>
                  </a:schemeClr>
                </a:solidFill>
                <a:latin typeface="微软雅黑" panose="020B0503020204020204" charset="-122"/>
                <a:ea typeface="微软雅黑" panose="020B0503020204020204" charset="-122"/>
              </a:rPr>
              <a:t>只針對回復部分僞造，影響面一個主機名</a:t>
            </a:r>
            <a:endParaRPr lang="en-US" altLang="zh-CN" sz="1200" b="1" dirty="0">
              <a:solidFill>
                <a:schemeClr val="tx1">
                  <a:lumMod val="75000"/>
                  <a:lumOff val="25000"/>
                </a:schemeClr>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針對本地</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DNS</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服務器的</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DNS</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服務請求，攻擊者使用僞造源地址發送僞造回復，在僞造回復中，把主機名</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www.example.com</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映射到攻擊地址，幷且告訴本地</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DNS</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服務器</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www.example.com</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的域名服務器是攻擊者的計算機</a:t>
            </a:r>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1" dirty="0">
                <a:solidFill>
                  <a:schemeClr val="tx1">
                    <a:lumMod val="75000"/>
                    <a:lumOff val="25000"/>
                  </a:schemeClr>
                </a:solidFill>
                <a:latin typeface="微软雅黑" panose="020B0503020204020204" charset="-122"/>
                <a:ea typeface="微软雅黑" panose="020B0503020204020204" charset="-122"/>
              </a:rPr>
              <a:t>針對授權部分攻擊</a:t>
            </a:r>
            <a:r>
              <a:rPr lang="zh-CN" altLang="en-US" sz="1200" b="1" dirty="0">
                <a:solidFill>
                  <a:schemeClr val="tx1">
                    <a:lumMod val="75000"/>
                    <a:lumOff val="25000"/>
                  </a:schemeClr>
                </a:solidFill>
                <a:latin typeface="微软雅黑" panose="020B0503020204020204" charset="-122"/>
                <a:ea typeface="微软雅黑" panose="020B0503020204020204" charset="-122"/>
              </a:rPr>
              <a:t>，影響面：整個域</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將</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ns.attack.com</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放在授權部分，該記錄被本地</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DNS</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服務器放入緩存後，當查詢目標域內任何一個主機名時，本地服務器會把請求發給</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ns.attack.com</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，由于本地</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DNS</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服務器幷不知道</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ns.attack.com</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地址，因此先發送一個</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DNS</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請求查詢地址。因此在實際的攻擊中，需要爲購買域名，爲</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ns.attack.com</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注册一個真正的</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地址</a:t>
            </a:r>
            <a:endParaRPr lang="zh-CN" altLang="en-US"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1" dirty="0">
              <a:solidFill>
                <a:schemeClr val="tx1">
                  <a:lumMod val="75000"/>
                  <a:lumOff val="25000"/>
                </a:schemeClr>
              </a:solidFill>
              <a:latin typeface="微软雅黑" panose="020B0503020204020204" charset="-122"/>
              <a:ea typeface="微软雅黑" panose="020B0503020204020204" charset="-122"/>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086349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8659830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遠程</a:t>
            </a:r>
            <a:r>
              <a:rPr lang="zh-CN" altLang="zh-CN" dirty="0"/>
              <a:t>緩存中毒攻擊</a:t>
            </a:r>
            <a:r>
              <a:rPr lang="en-US" altLang="zh-CN"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主動訪問不存在的域名，這種域名在</a:t>
            </a:r>
            <a:r>
              <a:rPr lang="en-US" altLang="zh-CN" sz="1200" dirty="0" err="1">
                <a:latin typeface="微软雅黑" panose="020B0503020204020204" pitchFamily="34" charset="-122"/>
                <a:ea typeface="微软雅黑" panose="020B0503020204020204" pitchFamily="34" charset="-122"/>
              </a:rPr>
              <a:t>dns</a:t>
            </a:r>
            <a:r>
              <a:rPr lang="en-US" altLang="zh-CN" sz="1200" dirty="0">
                <a:latin typeface="微软雅黑" panose="020B0503020204020204" pitchFamily="34" charset="-122"/>
                <a:ea typeface="微软雅黑" panose="020B0503020204020204" pitchFamily="34" charset="-122"/>
              </a:rPr>
              <a:t> cache server</a:t>
            </a:r>
            <a:r>
              <a:rPr lang="zh-CN" altLang="en-US" sz="1200" dirty="0">
                <a:latin typeface="微软雅黑" panose="020B0503020204020204" pitchFamily="34" charset="-122"/>
                <a:ea typeface="微软雅黑" panose="020B0503020204020204" pitchFamily="34" charset="-122"/>
              </a:rPr>
              <a:t>沒有緩存，從而不存在</a:t>
            </a:r>
            <a:r>
              <a:rPr lang="en-US" altLang="zh-CN" sz="1200" dirty="0">
                <a:latin typeface="微软雅黑" panose="020B0503020204020204" pitchFamily="34" charset="-122"/>
                <a:ea typeface="微软雅黑" panose="020B0503020204020204" pitchFamily="34" charset="-122"/>
              </a:rPr>
              <a:t>TTL</a:t>
            </a:r>
            <a:r>
              <a:rPr lang="zh-CN" altLang="en-US" sz="1200" dirty="0">
                <a:latin typeface="微软雅黑" panose="020B0503020204020204" pitchFamily="34" charset="-122"/>
                <a:ea typeface="微软雅黑" panose="020B0503020204020204" pitchFamily="34" charset="-122"/>
              </a:rPr>
              <a:t>約束</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攻擊者向</a:t>
            </a:r>
            <a:r>
              <a:rPr lang="en-US" altLang="zh-CN" sz="1200" dirty="0">
                <a:latin typeface="微软雅黑" panose="020B0503020204020204" pitchFamily="34" charset="-122"/>
                <a:ea typeface="微软雅黑" panose="020B0503020204020204" pitchFamily="34" charset="-122"/>
              </a:rPr>
              <a:t>Apollo</a:t>
            </a:r>
            <a:r>
              <a:rPr lang="zh-CN" altLang="en-US" sz="1200" dirty="0">
                <a:latin typeface="微软雅黑" panose="020B0503020204020204" pitchFamily="34" charset="-122"/>
                <a:ea typeface="微软雅黑" panose="020B0503020204020204" pitchFamily="34" charset="-122"/>
              </a:rPr>
              <a:t>詢問一個隨機産生的如</a:t>
            </a:r>
            <a:r>
              <a:rPr lang="en-US" altLang="zh-CN" sz="1200" dirty="0">
                <a:latin typeface="微软雅黑" panose="020B0503020204020204" pitchFamily="34" charset="-122"/>
                <a:ea typeface="微软雅黑" panose="020B0503020204020204" pitchFamily="34" charset="-122"/>
              </a:rPr>
              <a:t>abfjsdf.example.com</a:t>
            </a:r>
            <a:r>
              <a:rPr lang="zh-CN" altLang="en-US" sz="1200" dirty="0">
                <a:latin typeface="微软雅黑" panose="020B0503020204020204" pitchFamily="34" charset="-122"/>
                <a:ea typeface="微软雅黑" panose="020B0503020204020204" pitchFamily="34" charset="-122"/>
              </a:rPr>
              <a:t>的域名</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2. Apollo</a:t>
            </a:r>
            <a:r>
              <a:rPr lang="zh-CN" altLang="en-US" sz="1200" dirty="0">
                <a:latin typeface="微软雅黑" panose="020B0503020204020204" pitchFamily="34" charset="-122"/>
                <a:ea typeface="微软雅黑" panose="020B0503020204020204" pitchFamily="34" charset="-122"/>
              </a:rPr>
              <a:t>向權威域名服務器請求</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3.</a:t>
            </a:r>
            <a:r>
              <a:rPr lang="zh-CN" altLang="en-US" sz="1200" dirty="0">
                <a:latin typeface="微软雅黑" panose="020B0503020204020204" pitchFamily="34" charset="-122"/>
                <a:ea typeface="微软雅黑" panose="020B0503020204020204" pitchFamily="34" charset="-122"/>
              </a:rPr>
              <a:t>攻擊者發送大量回復，猜測源端口號和交易</a:t>
            </a:r>
            <a:r>
              <a:rPr lang="en-US" altLang="zh-CN" sz="1200" dirty="0">
                <a:latin typeface="微软雅黑" panose="020B0503020204020204" pitchFamily="34" charset="-122"/>
                <a:ea typeface="微软雅黑" panose="020B0503020204020204" pitchFamily="34" charset="-122"/>
              </a:rPr>
              <a:t>ID</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猜對了，則本地</a:t>
            </a:r>
            <a:r>
              <a:rPr lang="en-US" altLang="zh-CN" sz="1200" dirty="0">
                <a:latin typeface="微软雅黑" panose="020B0503020204020204" pitchFamily="34" charset="-122"/>
                <a:ea typeface="微软雅黑" panose="020B0503020204020204" pitchFamily="34" charset="-122"/>
              </a:rPr>
              <a:t>DNS</a:t>
            </a:r>
            <a:r>
              <a:rPr lang="zh-CN" altLang="en-US" sz="1200" dirty="0">
                <a:latin typeface="微软雅黑" panose="020B0503020204020204" pitchFamily="34" charset="-122"/>
                <a:ea typeface="微软雅黑" panose="020B0503020204020204" pitchFamily="34" charset="-122"/>
              </a:rPr>
              <a:t>服務器會接受其中的</a:t>
            </a:r>
            <a:r>
              <a:rPr lang="en-US" altLang="zh-CN" sz="1200" dirty="0">
                <a:latin typeface="微软雅黑" panose="020B0503020204020204" pitchFamily="34" charset="-122"/>
                <a:ea typeface="微软雅黑" panose="020B0503020204020204" pitchFamily="34" charset="-122"/>
              </a:rPr>
              <a:t>IP</a:t>
            </a:r>
            <a:r>
              <a:rPr lang="zh-CN" altLang="en-US" sz="1200" dirty="0">
                <a:latin typeface="微软雅黑" panose="020B0503020204020204" pitchFamily="34" charset="-122"/>
                <a:ea typeface="微软雅黑" panose="020B0503020204020204" pitchFamily="34" charset="-122"/>
              </a:rPr>
              <a:t>和</a:t>
            </a:r>
            <a:r>
              <a:rPr lang="en-US" altLang="zh-CN" sz="1200" dirty="0">
                <a:latin typeface="微软雅黑" panose="020B0503020204020204" pitchFamily="34" charset="-122"/>
                <a:ea typeface="微软雅黑" panose="020B0503020204020204" pitchFamily="34" charset="-122"/>
              </a:rPr>
              <a:t>NS</a:t>
            </a:r>
            <a:r>
              <a:rPr lang="zh-CN" altLang="en-US" sz="1200" dirty="0">
                <a:latin typeface="微软雅黑" panose="020B0503020204020204" pitchFamily="34" charset="-122"/>
                <a:ea typeface="微软雅黑" panose="020B0503020204020204" pitchFamily="34" charset="-122"/>
              </a:rPr>
              <a:t>記錄，污染</a:t>
            </a:r>
            <a:r>
              <a:rPr lang="en-US" altLang="zh-CN" sz="1200" dirty="0">
                <a:latin typeface="微软雅黑" panose="020B0503020204020204" pitchFamily="34" charset="-122"/>
                <a:ea typeface="微软雅黑" panose="020B0503020204020204" pitchFamily="34" charset="-122"/>
              </a:rPr>
              <a:t>Apollo</a:t>
            </a:r>
            <a:r>
              <a:rPr lang="zh-CN" altLang="en-US" sz="1200" dirty="0">
                <a:latin typeface="微软雅黑" panose="020B0503020204020204" pitchFamily="34" charset="-122"/>
                <a:ea typeface="微软雅黑" panose="020B0503020204020204" pitchFamily="34" charset="-122"/>
              </a:rPr>
              <a:t>的緩存</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4.</a:t>
            </a:r>
            <a:r>
              <a:rPr lang="zh-CN" altLang="en-US" sz="1200" dirty="0">
                <a:latin typeface="微软雅黑" panose="020B0503020204020204" pitchFamily="34" charset="-122"/>
                <a:ea typeface="微软雅黑" panose="020B0503020204020204" pitchFamily="34" charset="-122"/>
              </a:rPr>
              <a:t>猜錯了，重新開始用另一個隨機産生的域名查詢實施新一輪攻擊</a:t>
            </a:r>
          </a:p>
          <a:p>
            <a:endParaRPr lang="zh-CN" altLang="en-US" dirty="0"/>
          </a:p>
        </p:txBody>
      </p:sp>
      <p:sp>
        <p:nvSpPr>
          <p:cNvPr id="4" name="灯片编号占位符 3"/>
          <p:cNvSpPr>
            <a:spLocks noGrp="1"/>
          </p:cNvSpPr>
          <p:nvPr>
            <p:ph type="sldNum" sz="quarter" idx="5"/>
          </p:nvPr>
        </p:nvSpPr>
        <p:spPr/>
        <p:txBody>
          <a:bodyPr/>
          <a:lstStyle/>
          <a:p>
            <a:fld id="{DFFFF58A-9BE3-E64E-8A3D-8C1B4E5228D0}" type="slidenum">
              <a:rPr kumimoji="1" lang="zh-CN" altLang="en-US" smtClean="0"/>
              <a:t>31</a:t>
            </a:fld>
            <a:endParaRPr kumimoji="1" lang="zh-CN" altLang="en-US" dirty="0"/>
          </a:p>
        </p:txBody>
      </p:sp>
    </p:spTree>
    <p:extLst>
      <p:ext uri="{BB962C8B-B14F-4D97-AF65-F5344CB8AC3E}">
        <p14:creationId xmlns:p14="http://schemas.microsoft.com/office/powerpoint/2010/main" val="34158896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662073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遠程</a:t>
            </a:r>
            <a:r>
              <a:rPr lang="zh-CN" altLang="zh-CN" dirty="0"/>
              <a:t>緩存中毒攻擊</a:t>
            </a:r>
            <a:r>
              <a:rPr lang="en-US" altLang="zh-CN"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主動訪問不存在的域名，這種域名在</a:t>
            </a:r>
            <a:r>
              <a:rPr lang="en-US" altLang="zh-CN" sz="1200" dirty="0" err="1">
                <a:latin typeface="微软雅黑" panose="020B0503020204020204" pitchFamily="34" charset="-122"/>
                <a:ea typeface="微软雅黑" panose="020B0503020204020204" pitchFamily="34" charset="-122"/>
              </a:rPr>
              <a:t>dns</a:t>
            </a:r>
            <a:r>
              <a:rPr lang="en-US" altLang="zh-CN" sz="1200" dirty="0">
                <a:latin typeface="微软雅黑" panose="020B0503020204020204" pitchFamily="34" charset="-122"/>
                <a:ea typeface="微软雅黑" panose="020B0503020204020204" pitchFamily="34" charset="-122"/>
              </a:rPr>
              <a:t> cache server</a:t>
            </a:r>
            <a:r>
              <a:rPr lang="zh-CN" altLang="en-US" sz="1200" dirty="0">
                <a:latin typeface="微软雅黑" panose="020B0503020204020204" pitchFamily="34" charset="-122"/>
                <a:ea typeface="微软雅黑" panose="020B0503020204020204" pitchFamily="34" charset="-122"/>
              </a:rPr>
              <a:t>沒有緩存，從而不存在</a:t>
            </a:r>
            <a:r>
              <a:rPr lang="en-US" altLang="zh-CN" sz="1200" dirty="0">
                <a:latin typeface="微软雅黑" panose="020B0503020204020204" pitchFamily="34" charset="-122"/>
                <a:ea typeface="微软雅黑" panose="020B0503020204020204" pitchFamily="34" charset="-122"/>
              </a:rPr>
              <a:t>TTL</a:t>
            </a:r>
            <a:r>
              <a:rPr lang="zh-CN" altLang="en-US" sz="1200" dirty="0">
                <a:latin typeface="微软雅黑" panose="020B0503020204020204" pitchFamily="34" charset="-122"/>
                <a:ea typeface="微软雅黑" panose="020B0503020204020204" pitchFamily="34" charset="-122"/>
              </a:rPr>
              <a:t>約束</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攻擊者向</a:t>
            </a:r>
            <a:r>
              <a:rPr lang="en-US" altLang="zh-CN" sz="1200" dirty="0">
                <a:latin typeface="微软雅黑" panose="020B0503020204020204" pitchFamily="34" charset="-122"/>
                <a:ea typeface="微软雅黑" panose="020B0503020204020204" pitchFamily="34" charset="-122"/>
              </a:rPr>
              <a:t>Apollo</a:t>
            </a:r>
            <a:r>
              <a:rPr lang="zh-CN" altLang="en-US" sz="1200" dirty="0">
                <a:latin typeface="微软雅黑" panose="020B0503020204020204" pitchFamily="34" charset="-122"/>
                <a:ea typeface="微软雅黑" panose="020B0503020204020204" pitchFamily="34" charset="-122"/>
              </a:rPr>
              <a:t>詢問一個隨機産生的如</a:t>
            </a:r>
            <a:r>
              <a:rPr lang="en-US" altLang="zh-CN" sz="1200" dirty="0">
                <a:latin typeface="微软雅黑" panose="020B0503020204020204" pitchFamily="34" charset="-122"/>
                <a:ea typeface="微软雅黑" panose="020B0503020204020204" pitchFamily="34" charset="-122"/>
              </a:rPr>
              <a:t>abfjsdf.example.com</a:t>
            </a:r>
            <a:r>
              <a:rPr lang="zh-CN" altLang="en-US" sz="1200" dirty="0">
                <a:latin typeface="微软雅黑" panose="020B0503020204020204" pitchFamily="34" charset="-122"/>
                <a:ea typeface="微软雅黑" panose="020B0503020204020204" pitchFamily="34" charset="-122"/>
              </a:rPr>
              <a:t>的域名</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2. Apollo</a:t>
            </a:r>
            <a:r>
              <a:rPr lang="zh-CN" altLang="en-US" sz="1200" dirty="0">
                <a:latin typeface="微软雅黑" panose="020B0503020204020204" pitchFamily="34" charset="-122"/>
                <a:ea typeface="微软雅黑" panose="020B0503020204020204" pitchFamily="34" charset="-122"/>
              </a:rPr>
              <a:t>向權威域名服務器請求</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3.</a:t>
            </a:r>
            <a:r>
              <a:rPr lang="zh-CN" altLang="en-US" sz="1200" dirty="0">
                <a:latin typeface="微软雅黑" panose="020B0503020204020204" pitchFamily="34" charset="-122"/>
                <a:ea typeface="微软雅黑" panose="020B0503020204020204" pitchFamily="34" charset="-122"/>
              </a:rPr>
              <a:t>攻擊者發送大量回復，猜測源端口號和交易</a:t>
            </a:r>
            <a:r>
              <a:rPr lang="en-US" altLang="zh-CN" sz="1200" dirty="0">
                <a:latin typeface="微软雅黑" panose="020B0503020204020204" pitchFamily="34" charset="-122"/>
                <a:ea typeface="微软雅黑" panose="020B0503020204020204" pitchFamily="34" charset="-122"/>
              </a:rPr>
              <a:t>ID</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猜對了，則本地</a:t>
            </a:r>
            <a:r>
              <a:rPr lang="en-US" altLang="zh-CN" sz="1200" dirty="0">
                <a:latin typeface="微软雅黑" panose="020B0503020204020204" pitchFamily="34" charset="-122"/>
                <a:ea typeface="微软雅黑" panose="020B0503020204020204" pitchFamily="34" charset="-122"/>
              </a:rPr>
              <a:t>DNS</a:t>
            </a:r>
            <a:r>
              <a:rPr lang="zh-CN" altLang="en-US" sz="1200" dirty="0">
                <a:latin typeface="微软雅黑" panose="020B0503020204020204" pitchFamily="34" charset="-122"/>
                <a:ea typeface="微软雅黑" panose="020B0503020204020204" pitchFamily="34" charset="-122"/>
              </a:rPr>
              <a:t>服務器會接受其中的</a:t>
            </a:r>
            <a:r>
              <a:rPr lang="en-US" altLang="zh-CN" sz="1200" dirty="0">
                <a:latin typeface="微软雅黑" panose="020B0503020204020204" pitchFamily="34" charset="-122"/>
                <a:ea typeface="微软雅黑" panose="020B0503020204020204" pitchFamily="34" charset="-122"/>
              </a:rPr>
              <a:t>IP</a:t>
            </a:r>
            <a:r>
              <a:rPr lang="zh-CN" altLang="en-US" sz="1200" dirty="0">
                <a:latin typeface="微软雅黑" panose="020B0503020204020204" pitchFamily="34" charset="-122"/>
                <a:ea typeface="微软雅黑" panose="020B0503020204020204" pitchFamily="34" charset="-122"/>
              </a:rPr>
              <a:t>和</a:t>
            </a:r>
            <a:r>
              <a:rPr lang="en-US" altLang="zh-CN" sz="1200" dirty="0">
                <a:latin typeface="微软雅黑" panose="020B0503020204020204" pitchFamily="34" charset="-122"/>
                <a:ea typeface="微软雅黑" panose="020B0503020204020204" pitchFamily="34" charset="-122"/>
              </a:rPr>
              <a:t>NS</a:t>
            </a:r>
            <a:r>
              <a:rPr lang="zh-CN" altLang="en-US" sz="1200" dirty="0">
                <a:latin typeface="微软雅黑" panose="020B0503020204020204" pitchFamily="34" charset="-122"/>
                <a:ea typeface="微软雅黑" panose="020B0503020204020204" pitchFamily="34" charset="-122"/>
              </a:rPr>
              <a:t>記錄，污染</a:t>
            </a:r>
            <a:r>
              <a:rPr lang="en-US" altLang="zh-CN" sz="1200" dirty="0">
                <a:latin typeface="微软雅黑" panose="020B0503020204020204" pitchFamily="34" charset="-122"/>
                <a:ea typeface="微软雅黑" panose="020B0503020204020204" pitchFamily="34" charset="-122"/>
              </a:rPr>
              <a:t>Apollo</a:t>
            </a:r>
            <a:r>
              <a:rPr lang="zh-CN" altLang="en-US" sz="1200" dirty="0">
                <a:latin typeface="微软雅黑" panose="020B0503020204020204" pitchFamily="34" charset="-122"/>
                <a:ea typeface="微软雅黑" panose="020B0503020204020204" pitchFamily="34" charset="-122"/>
              </a:rPr>
              <a:t>的緩存</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4.</a:t>
            </a:r>
            <a:r>
              <a:rPr lang="zh-CN" altLang="en-US" sz="1200" dirty="0">
                <a:latin typeface="微软雅黑" panose="020B0503020204020204" pitchFamily="34" charset="-122"/>
                <a:ea typeface="微软雅黑" panose="020B0503020204020204" pitchFamily="34" charset="-122"/>
              </a:rPr>
              <a:t>猜錯了，重新開始用另一個隨機産生的域名查詢實施新一輪攻擊</a:t>
            </a:r>
          </a:p>
          <a:p>
            <a:endParaRPr lang="zh-CN" altLang="en-US" dirty="0"/>
          </a:p>
        </p:txBody>
      </p:sp>
      <p:sp>
        <p:nvSpPr>
          <p:cNvPr id="4" name="灯片编号占位符 3"/>
          <p:cNvSpPr>
            <a:spLocks noGrp="1"/>
          </p:cNvSpPr>
          <p:nvPr>
            <p:ph type="sldNum" sz="quarter" idx="5"/>
          </p:nvPr>
        </p:nvSpPr>
        <p:spPr/>
        <p:txBody>
          <a:bodyPr/>
          <a:lstStyle/>
          <a:p>
            <a:fld id="{DFFFF58A-9BE3-E64E-8A3D-8C1B4E5228D0}" type="slidenum">
              <a:rPr kumimoji="1" lang="zh-CN" altLang="en-US" smtClean="0"/>
              <a:t>33</a:t>
            </a:fld>
            <a:endParaRPr kumimoji="1" lang="zh-CN" altLang="en-US" dirty="0"/>
          </a:p>
        </p:txBody>
      </p:sp>
    </p:spTree>
    <p:extLst>
      <p:ext uri="{BB962C8B-B14F-4D97-AF65-F5344CB8AC3E}">
        <p14:creationId xmlns:p14="http://schemas.microsoft.com/office/powerpoint/2010/main" val="33362694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121212"/>
                </a:solidFill>
                <a:effectLst/>
                <a:latin typeface="-apple-system"/>
              </a:rPr>
              <a:t>LDNS</a:t>
            </a:r>
            <a:r>
              <a:rPr lang="zh-CN" altLang="en-US" b="0" i="0" dirty="0">
                <a:solidFill>
                  <a:srgbClr val="121212"/>
                </a:solidFill>
                <a:effectLst/>
                <a:latin typeface="-apple-system"/>
              </a:rPr>
              <a:t>當然會接受這個</a:t>
            </a:r>
            <a:r>
              <a:rPr lang="en-US" altLang="zh-CN" b="0" i="0" dirty="0">
                <a:solidFill>
                  <a:srgbClr val="121212"/>
                </a:solidFill>
                <a:effectLst/>
                <a:latin typeface="-apple-system"/>
              </a:rPr>
              <a:t>NS</a:t>
            </a:r>
            <a:r>
              <a:rPr lang="zh-CN" altLang="en-US" b="0" i="0" dirty="0">
                <a:solidFill>
                  <a:srgbClr val="121212"/>
                </a:solidFill>
                <a:effectLst/>
                <a:latin typeface="-apple-system"/>
              </a:rPr>
              <a:t>記錄，以及後面的附加區域</a:t>
            </a:r>
            <a:r>
              <a:rPr lang="en-US" altLang="zh-CN" b="0" i="0" dirty="0">
                <a:solidFill>
                  <a:srgbClr val="121212"/>
                </a:solidFill>
                <a:effectLst/>
                <a:latin typeface="-apple-system"/>
              </a:rPr>
              <a:t>IP</a:t>
            </a:r>
            <a:r>
              <a:rPr lang="zh-CN" altLang="en-US" b="0" i="0" dirty="0">
                <a:solidFill>
                  <a:srgbClr val="121212"/>
                </a:solidFill>
                <a:effectLst/>
                <a:latin typeface="-apple-system"/>
              </a:rPr>
              <a:t>地址，能通過</a:t>
            </a:r>
            <a:r>
              <a:rPr lang="en-US" altLang="zh-CN" b="0" i="0" dirty="0">
                <a:solidFill>
                  <a:srgbClr val="121212"/>
                </a:solidFill>
                <a:effectLst/>
                <a:latin typeface="-apple-system"/>
              </a:rPr>
              <a:t>bailiwick</a:t>
            </a:r>
            <a:r>
              <a:rPr lang="zh-CN" altLang="en-US" b="0" i="0" dirty="0">
                <a:solidFill>
                  <a:srgbClr val="121212"/>
                </a:solidFill>
                <a:effectLst/>
                <a:latin typeface="-apple-system"/>
              </a:rPr>
              <a:t>檢查。</a:t>
            </a:r>
            <a:r>
              <a:rPr lang="en-US" altLang="zh-CN" b="0" i="0" dirty="0">
                <a:solidFill>
                  <a:srgbClr val="121212"/>
                </a:solidFill>
                <a:effectLst/>
                <a:latin typeface="-apple-system"/>
              </a:rPr>
              <a:t>LDNS</a:t>
            </a:r>
            <a:r>
              <a:rPr lang="zh-CN" altLang="en-US" b="0" i="0" dirty="0">
                <a:solidFill>
                  <a:srgbClr val="121212"/>
                </a:solidFill>
                <a:effectLst/>
                <a:latin typeface="-apple-system"/>
              </a:rPr>
              <a:t>緩存時間內所有對</a:t>
            </a:r>
            <a:r>
              <a:rPr lang="en-US" altLang="zh-CN" sz="1200" dirty="0">
                <a:latin typeface="微软雅黑" panose="020B0503020204020204" pitchFamily="34" charset="-122"/>
                <a:ea typeface="微软雅黑" panose="020B0503020204020204" pitchFamily="34" charset="-122"/>
              </a:rPr>
              <a:t>example</a:t>
            </a:r>
            <a:r>
              <a:rPr lang="zh-CN" altLang="zh-CN" sz="1200" dirty="0">
                <a:latin typeface="微软雅黑" panose="020B0503020204020204" pitchFamily="34" charset="-122"/>
                <a:ea typeface="微软雅黑" panose="020B0503020204020204" pitchFamily="34" charset="-122"/>
              </a:rPr>
              <a:t>.com </a:t>
            </a:r>
            <a:r>
              <a:rPr lang="zh-CN" altLang="en-US" sz="1200" dirty="0">
                <a:latin typeface="微软雅黑" panose="020B0503020204020204" pitchFamily="34" charset="-122"/>
                <a:ea typeface="微软雅黑" panose="020B0503020204020204" pitchFamily="34" charset="-122"/>
              </a:rPr>
              <a:t>請求，也都會到</a:t>
            </a:r>
            <a:r>
              <a:rPr lang="en-US" altLang="zh-CN" sz="1200" dirty="0">
                <a:latin typeface="微软雅黑" panose="020B0503020204020204" pitchFamily="34" charset="-122"/>
                <a:ea typeface="微软雅黑" panose="020B0503020204020204" pitchFamily="34" charset="-122"/>
              </a:rPr>
              <a:t>1.2.3.4</a:t>
            </a:r>
            <a:endParaRPr lang="zh-CN" altLang="en-US" dirty="0"/>
          </a:p>
        </p:txBody>
      </p:sp>
      <p:sp>
        <p:nvSpPr>
          <p:cNvPr id="4" name="灯片编号占位符 3"/>
          <p:cNvSpPr>
            <a:spLocks noGrp="1"/>
          </p:cNvSpPr>
          <p:nvPr>
            <p:ph type="sldNum" sz="quarter" idx="5"/>
          </p:nvPr>
        </p:nvSpPr>
        <p:spPr/>
        <p:txBody>
          <a:bodyPr/>
          <a:lstStyle/>
          <a:p>
            <a:fld id="{DFFFF58A-9BE3-E64E-8A3D-8C1B4E5228D0}" type="slidenum">
              <a:rPr kumimoji="1" lang="zh-CN" altLang="en-US" smtClean="0"/>
              <a:t>34</a:t>
            </a:fld>
            <a:endParaRPr kumimoji="1" lang="zh-CN" altLang="en-US" dirty="0"/>
          </a:p>
        </p:txBody>
      </p:sp>
    </p:spTree>
    <p:extLst>
      <p:ext uri="{BB962C8B-B14F-4D97-AF65-F5344CB8AC3E}">
        <p14:creationId xmlns:p14="http://schemas.microsoft.com/office/powerpoint/2010/main" val="38403941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怎麽匹配</a:t>
            </a:r>
            <a:r>
              <a:rPr lang="en-US" altLang="zh-CN" sz="1200" dirty="0">
                <a:latin typeface="微软雅黑" panose="020B0503020204020204" pitchFamily="34" charset="-122"/>
                <a:ea typeface="微软雅黑" panose="020B0503020204020204" pitchFamily="34" charset="-122"/>
              </a:rPr>
              <a:t>correspond </a:t>
            </a:r>
            <a:r>
              <a:rPr lang="en-US" altLang="zh-CN" sz="1200" dirty="0" err="1">
                <a:latin typeface="微软雅黑" panose="020B0503020204020204" pitchFamily="34" charset="-122"/>
                <a:ea typeface="微软雅黑" panose="020B0503020204020204" pitchFamily="34" charset="-122"/>
              </a:rPr>
              <a:t>ip</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request </a:t>
            </a:r>
            <a:r>
              <a:rPr lang="en-US" altLang="zh-CN" sz="1200" dirty="0" err="1">
                <a:latin typeface="微软雅黑" panose="020B0503020204020204" pitchFamily="34" charset="-122"/>
                <a:ea typeface="微软雅黑" panose="020B0503020204020204" pitchFamily="34" charset="-122"/>
              </a:rPr>
              <a:t>ip</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DNS</a:t>
            </a:r>
            <a:r>
              <a:rPr lang="zh-CN" altLang="en-US" sz="1200" dirty="0">
                <a:latin typeface="微软雅黑" panose="020B0503020204020204" pitchFamily="34" charset="-122"/>
                <a:ea typeface="微软雅黑" panose="020B0503020204020204" pitchFamily="34" charset="-122"/>
              </a:rPr>
              <a:t>回復包（</a:t>
            </a:r>
            <a:r>
              <a:rPr lang="en-US" altLang="zh-CN" sz="1200" dirty="0">
                <a:latin typeface="微软雅黑" panose="020B0503020204020204" pitchFamily="34" charset="-122"/>
                <a:ea typeface="微软雅黑" panose="020B0503020204020204" pitchFamily="34" charset="-122"/>
              </a:rPr>
              <a:t>UDP</a:t>
            </a:r>
            <a:r>
              <a:rPr lang="zh-CN" altLang="en-US" sz="1200" dirty="0">
                <a:latin typeface="微软雅黑" panose="020B0503020204020204" pitchFamily="34" charset="-122"/>
                <a:ea typeface="微软雅黑" panose="020B0503020204020204" pitchFamily="34" charset="-122"/>
              </a:rPr>
              <a:t>）頭部如圖所示，頭部許多字段都是標準的，只需要關注攻擊者難以獲取的字段。在回復包的</a:t>
            </a:r>
            <a:r>
              <a:rPr lang="en-US" altLang="zh-CN" sz="1200" dirty="0">
                <a:latin typeface="微软雅黑" panose="020B0503020204020204" pitchFamily="34" charset="-122"/>
                <a:ea typeface="微软雅黑" panose="020B0503020204020204" pitchFamily="34" charset="-122"/>
              </a:rPr>
              <a:t>IP</a:t>
            </a:r>
            <a:r>
              <a:rPr lang="zh-CN" altLang="en-US" sz="1200" dirty="0">
                <a:latin typeface="微软雅黑" panose="020B0503020204020204" pitchFamily="34" charset="-122"/>
                <a:ea typeface="微软雅黑" panose="020B0503020204020204" pitchFamily="34" charset="-122"/>
              </a:rPr>
              <a:t>頭和</a:t>
            </a:r>
            <a:r>
              <a:rPr lang="en-US" altLang="zh-CN" sz="1200" dirty="0">
                <a:latin typeface="微软雅黑" panose="020B0503020204020204" pitchFamily="34" charset="-122"/>
                <a:ea typeface="微软雅黑" panose="020B0503020204020204" pitchFamily="34" charset="-122"/>
              </a:rPr>
              <a:t>UDP</a:t>
            </a:r>
            <a:r>
              <a:rPr lang="zh-CN" altLang="en-US" sz="1200" dirty="0">
                <a:latin typeface="微软雅黑" panose="020B0503020204020204" pitchFamily="34" charset="-122"/>
                <a:ea typeface="微软雅黑" panose="020B0503020204020204" pitchFamily="34" charset="-122"/>
              </a:rPr>
              <a:t>頭，有</a:t>
            </a:r>
            <a:r>
              <a:rPr lang="en-US" altLang="zh-CN" sz="1200" dirty="0">
                <a:latin typeface="微软雅黑" panose="020B0503020204020204" pitchFamily="34" charset="-122"/>
                <a:ea typeface="微软雅黑" panose="020B0503020204020204" pitchFamily="34" charset="-122"/>
              </a:rPr>
              <a:t>4</a:t>
            </a:r>
            <a:r>
              <a:rPr lang="zh-CN" altLang="en-US" sz="1200" dirty="0">
                <a:latin typeface="微软雅黑" panose="020B0503020204020204" pitchFamily="34" charset="-122"/>
                <a:ea typeface="微软雅黑" panose="020B0503020204020204" pitchFamily="34" charset="-122"/>
              </a:rPr>
              <a:t>個字段必須必須與請求包匹配，包括源</a:t>
            </a:r>
            <a:r>
              <a:rPr lang="en-US" altLang="zh-CN" sz="1200" dirty="0">
                <a:latin typeface="微软雅黑" panose="020B0503020204020204" pitchFamily="34" charset="-122"/>
                <a:ea typeface="微软雅黑" panose="020B0503020204020204" pitchFamily="34" charset="-122"/>
              </a:rPr>
              <a:t>IP</a:t>
            </a:r>
            <a:r>
              <a:rPr lang="zh-CN" altLang="en-US" sz="1200" dirty="0">
                <a:latin typeface="微软雅黑" panose="020B0503020204020204" pitchFamily="34" charset="-122"/>
                <a:ea typeface="微软雅黑" panose="020B0503020204020204" pitchFamily="34" charset="-122"/>
              </a:rPr>
              <a:t>地址、目的</a:t>
            </a:r>
            <a:r>
              <a:rPr lang="en-US" altLang="zh-CN" sz="1200" dirty="0">
                <a:latin typeface="微软雅黑" panose="020B0503020204020204" pitchFamily="34" charset="-122"/>
                <a:ea typeface="微软雅黑" panose="020B0503020204020204" pitchFamily="34" charset="-122"/>
              </a:rPr>
              <a:t>IP</a:t>
            </a:r>
            <a:r>
              <a:rPr lang="zh-CN" altLang="en-US" sz="1200" dirty="0">
                <a:latin typeface="微软雅黑" panose="020B0503020204020204" pitchFamily="34" charset="-122"/>
                <a:ea typeface="微软雅黑" panose="020B0503020204020204" pitchFamily="34" charset="-122"/>
              </a:rPr>
              <a:t>地址、源端口號、目的端口號。回復包的源字段與請求包的目的字段相同，反之亦然。請求包的源</a:t>
            </a:r>
            <a:r>
              <a:rPr lang="en-US" altLang="zh-CN" sz="1200" dirty="0">
                <a:latin typeface="微软雅黑" panose="020B0503020204020204" pitchFamily="34" charset="-122"/>
                <a:ea typeface="微软雅黑" panose="020B0503020204020204" pitchFamily="34" charset="-122"/>
              </a:rPr>
              <a:t>IP</a:t>
            </a:r>
            <a:r>
              <a:rPr lang="zh-CN" altLang="en-US" sz="1200" dirty="0">
                <a:latin typeface="微软雅黑" panose="020B0503020204020204" pitchFamily="34" charset="-122"/>
                <a:ea typeface="微软雅黑" panose="020B0503020204020204" pitchFamily="34" charset="-122"/>
              </a:rPr>
              <a:t>地址爲本地</a:t>
            </a:r>
            <a:r>
              <a:rPr lang="en-US" altLang="zh-CN" sz="1200" dirty="0">
                <a:latin typeface="微软雅黑" panose="020B0503020204020204" pitchFamily="34" charset="-122"/>
                <a:ea typeface="微软雅黑" panose="020B0503020204020204" pitchFamily="34" charset="-122"/>
              </a:rPr>
              <a:t>DNS</a:t>
            </a:r>
            <a:r>
              <a:rPr lang="zh-CN" altLang="en-US" sz="1200" dirty="0">
                <a:latin typeface="微软雅黑" panose="020B0503020204020204" pitchFamily="34" charset="-122"/>
                <a:ea typeface="微软雅黑" panose="020B0503020204020204" pitchFamily="34" charset="-122"/>
              </a:rPr>
              <a:t>服務器的地址，目的端口號爲</a:t>
            </a:r>
            <a:r>
              <a:rPr lang="en-US" altLang="zh-CN" sz="1200" dirty="0">
                <a:latin typeface="微软雅黑" panose="020B0503020204020204" pitchFamily="34" charset="-122"/>
                <a:ea typeface="微软雅黑" panose="020B0503020204020204" pitchFamily="34" charset="-122"/>
              </a:rPr>
              <a:t>DNS</a:t>
            </a:r>
            <a:r>
              <a:rPr lang="zh-CN" altLang="en-US" sz="1200" dirty="0">
                <a:latin typeface="微软雅黑" panose="020B0503020204020204" pitchFamily="34" charset="-122"/>
                <a:ea typeface="微软雅黑" panose="020B0503020204020204" pitchFamily="34" charset="-122"/>
              </a:rPr>
              <a:t>的端口號，爲</a:t>
            </a:r>
            <a:r>
              <a:rPr lang="en-US" altLang="zh-CN" sz="1200" dirty="0">
                <a:latin typeface="微软雅黑" panose="020B0503020204020204" pitchFamily="34" charset="-122"/>
                <a:ea typeface="微软雅黑" panose="020B0503020204020204" pitchFamily="34" charset="-122"/>
              </a:rPr>
              <a:t>53</a:t>
            </a:r>
            <a:r>
              <a:rPr lang="zh-CN" altLang="en-US" sz="1200" dirty="0">
                <a:latin typeface="微软雅黑" panose="020B0503020204020204" pitchFamily="34" charset="-122"/>
                <a:ea typeface="微软雅黑" panose="020B0503020204020204" pitchFamily="34" charset="-122"/>
              </a:rPr>
              <a:t>。請求包的源端口號和目的</a:t>
            </a:r>
            <a:r>
              <a:rPr lang="en-US" altLang="zh-CN" sz="1200" dirty="0">
                <a:latin typeface="微软雅黑" panose="020B0503020204020204" pitchFamily="34" charset="-122"/>
                <a:ea typeface="微软雅黑" panose="020B0503020204020204" pitchFamily="34" charset="-122"/>
              </a:rPr>
              <a:t>IP</a:t>
            </a:r>
            <a:r>
              <a:rPr lang="zh-CN" altLang="en-US" sz="1200" dirty="0">
                <a:latin typeface="微软雅黑" panose="020B0503020204020204" pitchFamily="34" charset="-122"/>
                <a:ea typeface="微软雅黑" panose="020B0503020204020204" pitchFamily="34" charset="-122"/>
              </a:rPr>
              <a:t>地址攻擊者很難得到。</a:t>
            </a:r>
            <a:r>
              <a:rPr lang="en-US" altLang="zh-CN" sz="1200" dirty="0">
                <a:latin typeface="微软雅黑" panose="020B0503020204020204" pitchFamily="34" charset="-122"/>
                <a:ea typeface="微软雅黑" panose="020B0503020204020204" pitchFamily="34" charset="-122"/>
              </a:rPr>
              <a:t>TCP</a:t>
            </a:r>
            <a:r>
              <a:rPr lang="zh-CN" altLang="en-US" sz="1200" dirty="0">
                <a:latin typeface="微软雅黑" panose="020B0503020204020204" pitchFamily="34" charset="-122"/>
                <a:ea typeface="微软雅黑" panose="020B0503020204020204" pitchFamily="34" charset="-122"/>
              </a:rPr>
              <a:t>和</a:t>
            </a:r>
            <a:r>
              <a:rPr lang="en-US" altLang="zh-CN" sz="1200" dirty="0">
                <a:latin typeface="微软雅黑" panose="020B0503020204020204" pitchFamily="34" charset="-122"/>
                <a:ea typeface="微软雅黑" panose="020B0503020204020204" pitchFamily="34" charset="-122"/>
              </a:rPr>
              <a:t>UDP</a:t>
            </a:r>
            <a:r>
              <a:rPr lang="zh-CN" altLang="en-US" sz="1200" dirty="0">
                <a:latin typeface="微软雅黑" panose="020B0503020204020204" pitchFamily="34" charset="-122"/>
                <a:ea typeface="微软雅黑" panose="020B0503020204020204" pitchFamily="34" charset="-122"/>
              </a:rPr>
              <a:t>的</a:t>
            </a:r>
            <a:r>
              <a:rPr lang="en-US" altLang="zh-CN" sz="1200" dirty="0">
                <a:latin typeface="微软雅黑" panose="020B0503020204020204" pitchFamily="34" charset="-122"/>
                <a:ea typeface="微软雅黑" panose="020B0503020204020204" pitchFamily="34" charset="-122"/>
              </a:rPr>
              <a:t>16</a:t>
            </a:r>
            <a:r>
              <a:rPr lang="zh-CN" altLang="en-US" sz="1200" dirty="0">
                <a:latin typeface="微软雅黑" panose="020B0503020204020204" pitchFamily="34" charset="-122"/>
                <a:ea typeface="微软雅黑" panose="020B0503020204020204" pitchFamily="34" charset="-122"/>
              </a:rPr>
              <a:t>比特源端口號爲操作系統隨機産生，攻擊者需要猜測該字段。在實際中猜測</a:t>
            </a:r>
            <a:r>
              <a:rPr lang="en-US" altLang="zh-CN" sz="1200" dirty="0">
                <a:latin typeface="微软雅黑" panose="020B0503020204020204" pitchFamily="34" charset="-122"/>
                <a:ea typeface="微软雅黑" panose="020B0503020204020204" pitchFamily="34" charset="-122"/>
              </a:rPr>
              <a:t>16</a:t>
            </a:r>
            <a:r>
              <a:rPr lang="zh-CN" altLang="en-US" sz="1200" dirty="0">
                <a:latin typeface="微软雅黑" panose="020B0503020204020204" pitchFamily="34" charset="-122"/>
                <a:ea typeface="微软雅黑" panose="020B0503020204020204" pitchFamily="34" charset="-122"/>
              </a:rPr>
              <a:t>比特的字段幷不難。</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ea typeface="宋体" panose="02010600030101010101" pitchFamily="2" charset="-122"/>
                <a:cs typeface="Times New Roman" panose="02020603050405020304" pitchFamily="18" charset="0"/>
              </a:rPr>
              <a:t>實際中，如果</a:t>
            </a:r>
            <a:r>
              <a:rPr lang="en-US" altLang="zh-CN" sz="1800" dirty="0">
                <a:effectLst/>
                <a:ea typeface="宋体" panose="02010600030101010101" pitchFamily="2" charset="-122"/>
                <a:cs typeface="Times New Roman" panose="02020603050405020304" pitchFamily="18" charset="0"/>
              </a:rPr>
              <a:t>example.com</a:t>
            </a:r>
            <a:r>
              <a:rPr lang="zh-CN" altLang="zh-CN" sz="1800" dirty="0">
                <a:effectLst/>
                <a:ea typeface="宋体" panose="02010600030101010101" pitchFamily="2" charset="-122"/>
                <a:cs typeface="Times New Roman" panose="02020603050405020304" pitchFamily="18" charset="0"/>
              </a:rPr>
              <a:t>域有多個域名服務器，則攻擊中需要隨機選擇一個服務器發送回復包，或者同時發送多個回復包</a:t>
            </a:r>
            <a:endParaRPr lang="en-US" altLang="zh-CN" sz="12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ea typeface="宋体" panose="02010600030101010101" pitchFamily="2" charset="-122"/>
                <a:cs typeface="Times New Roman" panose="02020603050405020304" pitchFamily="18" charset="0"/>
              </a:rPr>
              <a:t>欺騙回復的</a:t>
            </a:r>
            <a:r>
              <a:rPr lang="en-US" altLang="zh-CN" sz="1800" dirty="0">
                <a:effectLst/>
                <a:ea typeface="宋体" panose="02010600030101010101" pitchFamily="2" charset="-122"/>
                <a:cs typeface="Times New Roman" panose="02020603050405020304" pitchFamily="18" charset="0"/>
              </a:rPr>
              <a:t>DNS</a:t>
            </a:r>
            <a:r>
              <a:rPr lang="zh-CN" altLang="zh-CN" sz="1800" dirty="0">
                <a:effectLst/>
                <a:ea typeface="宋体" panose="02010600030101010101" pitchFamily="2" charset="-122"/>
                <a:cs typeface="Times New Roman" panose="02020603050405020304" pitchFamily="18" charset="0"/>
              </a:rPr>
              <a:t>頭中，第一個字段是交易</a:t>
            </a:r>
            <a:r>
              <a:rPr lang="en-US" altLang="zh-CN" sz="1800" dirty="0">
                <a:effectLst/>
                <a:ea typeface="宋体" panose="02010600030101010101" pitchFamily="2" charset="-122"/>
                <a:cs typeface="Times New Roman" panose="02020603050405020304" pitchFamily="18" charset="0"/>
              </a:rPr>
              <a:t>ID</a:t>
            </a:r>
            <a:r>
              <a:rPr lang="zh-CN" altLang="zh-CN" sz="1800" dirty="0">
                <a:effectLst/>
                <a:ea typeface="宋体" panose="02010600030101010101" pitchFamily="2" charset="-122"/>
                <a:cs typeface="Times New Roman" panose="02020603050405020304" pitchFamily="18" charset="0"/>
              </a:rPr>
              <a:t>，需要與請求包的交易</a:t>
            </a:r>
            <a:r>
              <a:rPr lang="en-US" altLang="zh-CN" sz="1800" dirty="0">
                <a:effectLst/>
                <a:ea typeface="宋体" panose="02010600030101010101" pitchFamily="2" charset="-122"/>
                <a:cs typeface="Times New Roman" panose="02020603050405020304" pitchFamily="18" charset="0"/>
              </a:rPr>
              <a:t>ID</a:t>
            </a:r>
            <a:r>
              <a:rPr lang="zh-CN" altLang="zh-CN" sz="1800" dirty="0">
                <a:effectLst/>
                <a:ea typeface="宋体" panose="02010600030101010101" pitchFamily="2" charset="-122"/>
                <a:cs typeface="Times New Roman" panose="02020603050405020304" pitchFamily="18" charset="0"/>
              </a:rPr>
              <a:t>匹配，否則會被服務器丟弃。這個</a:t>
            </a:r>
            <a:r>
              <a:rPr lang="en-US" altLang="zh-CN" sz="1800" dirty="0">
                <a:effectLst/>
                <a:ea typeface="宋体" panose="02010600030101010101" pitchFamily="2" charset="-122"/>
                <a:cs typeface="Times New Roman" panose="02020603050405020304" pitchFamily="18" charset="0"/>
              </a:rPr>
              <a:t>ID</a:t>
            </a:r>
            <a:r>
              <a:rPr lang="zh-CN" altLang="zh-CN" sz="1800" dirty="0">
                <a:effectLst/>
                <a:ea typeface="宋体" panose="02010600030101010101" pitchFamily="2" charset="-122"/>
                <a:cs typeface="Times New Roman" panose="02020603050405020304" pitchFamily="18" charset="0"/>
              </a:rPr>
              <a:t>是隨機産生的</a:t>
            </a:r>
            <a:r>
              <a:rPr lang="en-US" altLang="zh-CN" sz="1800" dirty="0">
                <a:effectLst/>
                <a:ea typeface="宋体" panose="02010600030101010101" pitchFamily="2" charset="-122"/>
                <a:cs typeface="Times New Roman" panose="02020603050405020304" pitchFamily="18" charset="0"/>
              </a:rPr>
              <a:t>16bit</a:t>
            </a:r>
            <a:r>
              <a:rPr lang="zh-CN" altLang="zh-CN" sz="1800" dirty="0">
                <a:effectLst/>
                <a:ea typeface="宋体" panose="02010600030101010101" pitchFamily="2" charset="-122"/>
                <a:cs typeface="Times New Roman" panose="02020603050405020304" pitchFamily="18" charset="0"/>
              </a:rPr>
              <a:t>數字，在看不到請求包的情况下，這個數字需要猜測</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392626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怎麽匹配</a:t>
            </a:r>
            <a:r>
              <a:rPr lang="en-US" altLang="zh-CN" sz="1200" dirty="0">
                <a:latin typeface="微软雅黑" panose="020B0503020204020204" pitchFamily="34" charset="-122"/>
                <a:ea typeface="微软雅黑" panose="020B0503020204020204" pitchFamily="34" charset="-122"/>
              </a:rPr>
              <a:t>correspond </a:t>
            </a:r>
            <a:r>
              <a:rPr lang="en-US" altLang="zh-CN" sz="1200" dirty="0" err="1">
                <a:latin typeface="微软雅黑" panose="020B0503020204020204" pitchFamily="34" charset="-122"/>
                <a:ea typeface="微软雅黑" panose="020B0503020204020204" pitchFamily="34" charset="-122"/>
              </a:rPr>
              <a:t>ip</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request </a:t>
            </a:r>
            <a:r>
              <a:rPr lang="en-US" altLang="zh-CN" sz="1200" dirty="0" err="1">
                <a:latin typeface="微软雅黑" panose="020B0503020204020204" pitchFamily="34" charset="-122"/>
                <a:ea typeface="微软雅黑" panose="020B0503020204020204" pitchFamily="34" charset="-122"/>
              </a:rPr>
              <a:t>ip</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ea typeface="宋体" panose="02010600030101010101" pitchFamily="2" charset="-122"/>
                <a:cs typeface="Times New Roman" panose="02020603050405020304" pitchFamily="18" charset="0"/>
              </a:rPr>
              <a:t>實際中，如果</a:t>
            </a:r>
            <a:r>
              <a:rPr lang="en-US" altLang="zh-CN" sz="1800" dirty="0">
                <a:effectLst/>
                <a:ea typeface="宋体" panose="02010600030101010101" pitchFamily="2" charset="-122"/>
                <a:cs typeface="Times New Roman" panose="02020603050405020304" pitchFamily="18" charset="0"/>
              </a:rPr>
              <a:t>example.com</a:t>
            </a:r>
            <a:r>
              <a:rPr lang="zh-CN" altLang="zh-CN" sz="1800" dirty="0">
                <a:effectLst/>
                <a:ea typeface="宋体" panose="02010600030101010101" pitchFamily="2" charset="-122"/>
                <a:cs typeface="Times New Roman" panose="02020603050405020304" pitchFamily="18" charset="0"/>
              </a:rPr>
              <a:t>域有多個域名服務器，則攻擊中需要隨機選擇一個服務器發送回復包，或者同時發送多個回復包</a:t>
            </a:r>
            <a:endParaRPr lang="en-US" altLang="zh-CN" sz="1800" dirty="0">
              <a:effectLst/>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ea typeface="宋体" panose="02010600030101010101" pitchFamily="2" charset="-122"/>
                <a:cs typeface="Times New Roman" panose="02020603050405020304" pitchFamily="18" charset="0"/>
              </a:rPr>
              <a:t>欺騙回復的</a:t>
            </a:r>
            <a:r>
              <a:rPr lang="en-US" altLang="zh-CN" sz="1800" dirty="0">
                <a:effectLst/>
                <a:ea typeface="宋体" panose="02010600030101010101" pitchFamily="2" charset="-122"/>
                <a:cs typeface="Times New Roman" panose="02020603050405020304" pitchFamily="18" charset="0"/>
              </a:rPr>
              <a:t>DNS</a:t>
            </a:r>
            <a:r>
              <a:rPr lang="zh-CN" altLang="zh-CN" sz="1800" dirty="0">
                <a:effectLst/>
                <a:ea typeface="宋体" panose="02010600030101010101" pitchFamily="2" charset="-122"/>
                <a:cs typeface="Times New Roman" panose="02020603050405020304" pitchFamily="18" charset="0"/>
              </a:rPr>
              <a:t>頭中，第一個字段是交易</a:t>
            </a:r>
            <a:r>
              <a:rPr lang="en-US" altLang="zh-CN" sz="1800" dirty="0">
                <a:effectLst/>
                <a:ea typeface="宋体" panose="02010600030101010101" pitchFamily="2" charset="-122"/>
                <a:cs typeface="Times New Roman" panose="02020603050405020304" pitchFamily="18" charset="0"/>
              </a:rPr>
              <a:t>ID</a:t>
            </a:r>
            <a:r>
              <a:rPr lang="zh-CN" altLang="zh-CN" sz="1800" dirty="0">
                <a:effectLst/>
                <a:ea typeface="宋体" panose="02010600030101010101" pitchFamily="2" charset="-122"/>
                <a:cs typeface="Times New Roman" panose="02020603050405020304" pitchFamily="18" charset="0"/>
              </a:rPr>
              <a:t>，需要與請求包的交易</a:t>
            </a:r>
            <a:r>
              <a:rPr lang="en-US" altLang="zh-CN" sz="1800" dirty="0">
                <a:effectLst/>
                <a:ea typeface="宋体" panose="02010600030101010101" pitchFamily="2" charset="-122"/>
                <a:cs typeface="Times New Roman" panose="02020603050405020304" pitchFamily="18" charset="0"/>
              </a:rPr>
              <a:t>ID</a:t>
            </a:r>
            <a:r>
              <a:rPr lang="zh-CN" altLang="zh-CN" sz="1800" dirty="0">
                <a:effectLst/>
                <a:ea typeface="宋体" panose="02010600030101010101" pitchFamily="2" charset="-122"/>
                <a:cs typeface="Times New Roman" panose="02020603050405020304" pitchFamily="18" charset="0"/>
              </a:rPr>
              <a:t>匹配，否則會被服務器丟弃。這個</a:t>
            </a:r>
            <a:r>
              <a:rPr lang="en-US" altLang="zh-CN" sz="1800" dirty="0">
                <a:effectLst/>
                <a:ea typeface="宋体" panose="02010600030101010101" pitchFamily="2" charset="-122"/>
                <a:cs typeface="Times New Roman" panose="02020603050405020304" pitchFamily="18" charset="0"/>
              </a:rPr>
              <a:t>ID</a:t>
            </a:r>
            <a:r>
              <a:rPr lang="zh-CN" altLang="zh-CN" sz="1800" dirty="0">
                <a:effectLst/>
                <a:ea typeface="宋体" panose="02010600030101010101" pitchFamily="2" charset="-122"/>
                <a:cs typeface="Times New Roman" panose="02020603050405020304" pitchFamily="18" charset="0"/>
              </a:rPr>
              <a:t>是隨機産生的</a:t>
            </a:r>
            <a:r>
              <a:rPr lang="en-US" altLang="zh-CN" sz="1800" dirty="0">
                <a:effectLst/>
                <a:ea typeface="宋体" panose="02010600030101010101" pitchFamily="2" charset="-122"/>
                <a:cs typeface="Times New Roman" panose="02020603050405020304" pitchFamily="18" charset="0"/>
              </a:rPr>
              <a:t>16bit</a:t>
            </a:r>
            <a:r>
              <a:rPr lang="zh-CN" altLang="zh-CN" sz="1800" dirty="0">
                <a:effectLst/>
                <a:ea typeface="宋体" panose="02010600030101010101" pitchFamily="2" charset="-122"/>
                <a:cs typeface="Times New Roman" panose="02020603050405020304" pitchFamily="18" charset="0"/>
              </a:rPr>
              <a:t>數字，在看不到請求包的情况下，這個數字需要猜測</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859139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DNS</a:t>
            </a:r>
            <a:r>
              <a:rPr lang="zh-CN" altLang="en-US" sz="1200" dirty="0">
                <a:latin typeface="微软雅黑" panose="020B0503020204020204" pitchFamily="34" charset="-122"/>
                <a:ea typeface="微软雅黑" panose="020B0503020204020204" pitchFamily="34" charset="-122"/>
              </a:rPr>
              <a:t>回復包（</a:t>
            </a:r>
            <a:r>
              <a:rPr lang="en-US" altLang="zh-CN" sz="1200" dirty="0">
                <a:latin typeface="微软雅黑" panose="020B0503020204020204" pitchFamily="34" charset="-122"/>
                <a:ea typeface="微软雅黑" panose="020B0503020204020204" pitchFamily="34" charset="-122"/>
              </a:rPr>
              <a:t>UDP</a:t>
            </a:r>
            <a:r>
              <a:rPr lang="zh-CN" altLang="en-US" sz="1200" dirty="0">
                <a:latin typeface="微软雅黑" panose="020B0503020204020204" pitchFamily="34" charset="-122"/>
                <a:ea typeface="微软雅黑" panose="020B0503020204020204" pitchFamily="34" charset="-122"/>
              </a:rPr>
              <a:t>）頭部如圖所示，頭部許多字段都是標準的，只需要關注攻擊者難以獲取的字段。在回復包的</a:t>
            </a:r>
            <a:r>
              <a:rPr lang="en-US" altLang="zh-CN" sz="1200" dirty="0">
                <a:latin typeface="微软雅黑" panose="020B0503020204020204" pitchFamily="34" charset="-122"/>
                <a:ea typeface="微软雅黑" panose="020B0503020204020204" pitchFamily="34" charset="-122"/>
              </a:rPr>
              <a:t>IP</a:t>
            </a:r>
            <a:r>
              <a:rPr lang="zh-CN" altLang="en-US" sz="1200" dirty="0">
                <a:latin typeface="微软雅黑" panose="020B0503020204020204" pitchFamily="34" charset="-122"/>
                <a:ea typeface="微软雅黑" panose="020B0503020204020204" pitchFamily="34" charset="-122"/>
              </a:rPr>
              <a:t>頭和</a:t>
            </a:r>
            <a:r>
              <a:rPr lang="en-US" altLang="zh-CN" sz="1200" dirty="0">
                <a:latin typeface="微软雅黑" panose="020B0503020204020204" pitchFamily="34" charset="-122"/>
                <a:ea typeface="微软雅黑" panose="020B0503020204020204" pitchFamily="34" charset="-122"/>
              </a:rPr>
              <a:t>UDP</a:t>
            </a:r>
            <a:r>
              <a:rPr lang="zh-CN" altLang="en-US" sz="1200" dirty="0">
                <a:latin typeface="微软雅黑" panose="020B0503020204020204" pitchFamily="34" charset="-122"/>
                <a:ea typeface="微软雅黑" panose="020B0503020204020204" pitchFamily="34" charset="-122"/>
              </a:rPr>
              <a:t>頭，有</a:t>
            </a:r>
            <a:r>
              <a:rPr lang="en-US" altLang="zh-CN" sz="1200" dirty="0">
                <a:latin typeface="微软雅黑" panose="020B0503020204020204" pitchFamily="34" charset="-122"/>
                <a:ea typeface="微软雅黑" panose="020B0503020204020204" pitchFamily="34" charset="-122"/>
              </a:rPr>
              <a:t>4</a:t>
            </a:r>
            <a:r>
              <a:rPr lang="zh-CN" altLang="en-US" sz="1200" dirty="0">
                <a:latin typeface="微软雅黑" panose="020B0503020204020204" pitchFamily="34" charset="-122"/>
                <a:ea typeface="微软雅黑" panose="020B0503020204020204" pitchFamily="34" charset="-122"/>
              </a:rPr>
              <a:t>個字段必須必須與請求包匹配，包括源</a:t>
            </a:r>
            <a:r>
              <a:rPr lang="en-US" altLang="zh-CN" sz="1200" dirty="0">
                <a:latin typeface="微软雅黑" panose="020B0503020204020204" pitchFamily="34" charset="-122"/>
                <a:ea typeface="微软雅黑" panose="020B0503020204020204" pitchFamily="34" charset="-122"/>
              </a:rPr>
              <a:t>IP</a:t>
            </a:r>
            <a:r>
              <a:rPr lang="zh-CN" altLang="en-US" sz="1200" dirty="0">
                <a:latin typeface="微软雅黑" panose="020B0503020204020204" pitchFamily="34" charset="-122"/>
                <a:ea typeface="微软雅黑" panose="020B0503020204020204" pitchFamily="34" charset="-122"/>
              </a:rPr>
              <a:t>地址、目的</a:t>
            </a:r>
            <a:r>
              <a:rPr lang="en-US" altLang="zh-CN" sz="1200" dirty="0">
                <a:latin typeface="微软雅黑" panose="020B0503020204020204" pitchFamily="34" charset="-122"/>
                <a:ea typeface="微软雅黑" panose="020B0503020204020204" pitchFamily="34" charset="-122"/>
              </a:rPr>
              <a:t>IP</a:t>
            </a:r>
            <a:r>
              <a:rPr lang="zh-CN" altLang="en-US" sz="1200" dirty="0">
                <a:latin typeface="微软雅黑" panose="020B0503020204020204" pitchFamily="34" charset="-122"/>
                <a:ea typeface="微软雅黑" panose="020B0503020204020204" pitchFamily="34" charset="-122"/>
              </a:rPr>
              <a:t>地址、源端口號、目的端口號。回復包的源字段與請求包的目的字段相同，反之亦然。請求包的源</a:t>
            </a:r>
            <a:r>
              <a:rPr lang="en-US" altLang="zh-CN" sz="1200" dirty="0">
                <a:latin typeface="微软雅黑" panose="020B0503020204020204" pitchFamily="34" charset="-122"/>
                <a:ea typeface="微软雅黑" panose="020B0503020204020204" pitchFamily="34" charset="-122"/>
              </a:rPr>
              <a:t>IP</a:t>
            </a:r>
            <a:r>
              <a:rPr lang="zh-CN" altLang="en-US" sz="1200" dirty="0">
                <a:latin typeface="微软雅黑" panose="020B0503020204020204" pitchFamily="34" charset="-122"/>
                <a:ea typeface="微软雅黑" panose="020B0503020204020204" pitchFamily="34" charset="-122"/>
              </a:rPr>
              <a:t>地址爲本地</a:t>
            </a:r>
            <a:r>
              <a:rPr lang="en-US" altLang="zh-CN" sz="1200" dirty="0">
                <a:latin typeface="微软雅黑" panose="020B0503020204020204" pitchFamily="34" charset="-122"/>
                <a:ea typeface="微软雅黑" panose="020B0503020204020204" pitchFamily="34" charset="-122"/>
              </a:rPr>
              <a:t>DNS</a:t>
            </a:r>
            <a:r>
              <a:rPr lang="zh-CN" altLang="en-US" sz="1200" dirty="0">
                <a:latin typeface="微软雅黑" panose="020B0503020204020204" pitchFamily="34" charset="-122"/>
                <a:ea typeface="微软雅黑" panose="020B0503020204020204" pitchFamily="34" charset="-122"/>
              </a:rPr>
              <a:t>服務器的地址，目的端口號爲</a:t>
            </a:r>
            <a:r>
              <a:rPr lang="en-US" altLang="zh-CN" sz="1200" dirty="0">
                <a:latin typeface="微软雅黑" panose="020B0503020204020204" pitchFamily="34" charset="-122"/>
                <a:ea typeface="微软雅黑" panose="020B0503020204020204" pitchFamily="34" charset="-122"/>
              </a:rPr>
              <a:t>DNS</a:t>
            </a:r>
            <a:r>
              <a:rPr lang="zh-CN" altLang="en-US" sz="1200" dirty="0">
                <a:latin typeface="微软雅黑" panose="020B0503020204020204" pitchFamily="34" charset="-122"/>
                <a:ea typeface="微软雅黑" panose="020B0503020204020204" pitchFamily="34" charset="-122"/>
              </a:rPr>
              <a:t>的端口號，爲</a:t>
            </a:r>
            <a:r>
              <a:rPr lang="en-US" altLang="zh-CN" sz="1200" dirty="0">
                <a:latin typeface="微软雅黑" panose="020B0503020204020204" pitchFamily="34" charset="-122"/>
                <a:ea typeface="微软雅黑" panose="020B0503020204020204" pitchFamily="34" charset="-122"/>
              </a:rPr>
              <a:t>53</a:t>
            </a:r>
            <a:r>
              <a:rPr lang="zh-CN" altLang="en-US" sz="1200" dirty="0">
                <a:latin typeface="微软雅黑" panose="020B0503020204020204" pitchFamily="34" charset="-122"/>
                <a:ea typeface="微软雅黑" panose="020B0503020204020204" pitchFamily="34" charset="-122"/>
              </a:rPr>
              <a:t>。請求包的源端口號和目的</a:t>
            </a:r>
            <a:r>
              <a:rPr lang="en-US" altLang="zh-CN" sz="1200" dirty="0">
                <a:latin typeface="微软雅黑" panose="020B0503020204020204" pitchFamily="34" charset="-122"/>
                <a:ea typeface="微软雅黑" panose="020B0503020204020204" pitchFamily="34" charset="-122"/>
              </a:rPr>
              <a:t>IP</a:t>
            </a:r>
            <a:r>
              <a:rPr lang="zh-CN" altLang="en-US" sz="1200" dirty="0">
                <a:latin typeface="微软雅黑" panose="020B0503020204020204" pitchFamily="34" charset="-122"/>
                <a:ea typeface="微软雅黑" panose="020B0503020204020204" pitchFamily="34" charset="-122"/>
              </a:rPr>
              <a:t>地址攻擊者很難得到。</a:t>
            </a:r>
            <a:r>
              <a:rPr lang="en-US" altLang="zh-CN" sz="1200" dirty="0">
                <a:latin typeface="微软雅黑" panose="020B0503020204020204" pitchFamily="34" charset="-122"/>
                <a:ea typeface="微软雅黑" panose="020B0503020204020204" pitchFamily="34" charset="-122"/>
              </a:rPr>
              <a:t>TCP</a:t>
            </a:r>
            <a:r>
              <a:rPr lang="zh-CN" altLang="en-US" sz="1200" dirty="0">
                <a:latin typeface="微软雅黑" panose="020B0503020204020204" pitchFamily="34" charset="-122"/>
                <a:ea typeface="微软雅黑" panose="020B0503020204020204" pitchFamily="34" charset="-122"/>
              </a:rPr>
              <a:t>和</a:t>
            </a:r>
            <a:r>
              <a:rPr lang="en-US" altLang="zh-CN" sz="1200" dirty="0">
                <a:latin typeface="微软雅黑" panose="020B0503020204020204" pitchFamily="34" charset="-122"/>
                <a:ea typeface="微软雅黑" panose="020B0503020204020204" pitchFamily="34" charset="-122"/>
              </a:rPr>
              <a:t>UDP</a:t>
            </a:r>
            <a:r>
              <a:rPr lang="zh-CN" altLang="en-US" sz="1200" dirty="0">
                <a:latin typeface="微软雅黑" panose="020B0503020204020204" pitchFamily="34" charset="-122"/>
                <a:ea typeface="微软雅黑" panose="020B0503020204020204" pitchFamily="34" charset="-122"/>
              </a:rPr>
              <a:t>的</a:t>
            </a:r>
            <a:r>
              <a:rPr lang="en-US" altLang="zh-CN" sz="1200" dirty="0">
                <a:latin typeface="微软雅黑" panose="020B0503020204020204" pitchFamily="34" charset="-122"/>
                <a:ea typeface="微软雅黑" panose="020B0503020204020204" pitchFamily="34" charset="-122"/>
              </a:rPr>
              <a:t>16</a:t>
            </a:r>
            <a:r>
              <a:rPr lang="zh-CN" altLang="en-US" sz="1200" dirty="0">
                <a:latin typeface="微软雅黑" panose="020B0503020204020204" pitchFamily="34" charset="-122"/>
                <a:ea typeface="微软雅黑" panose="020B0503020204020204" pitchFamily="34" charset="-122"/>
              </a:rPr>
              <a:t>比特源端口號爲操作系統隨機産生，攻擊者需要猜測該字段。在實際中猜測</a:t>
            </a:r>
            <a:r>
              <a:rPr lang="en-US" altLang="zh-CN" sz="1200" dirty="0">
                <a:latin typeface="微软雅黑" panose="020B0503020204020204" pitchFamily="34" charset="-122"/>
                <a:ea typeface="微软雅黑" panose="020B0503020204020204" pitchFamily="34" charset="-122"/>
              </a:rPr>
              <a:t>16</a:t>
            </a:r>
            <a:r>
              <a:rPr lang="zh-CN" altLang="en-US" sz="1200" dirty="0">
                <a:latin typeface="微软雅黑" panose="020B0503020204020204" pitchFamily="34" charset="-122"/>
                <a:ea typeface="微软雅黑" panose="020B0503020204020204" pitchFamily="34" charset="-122"/>
              </a:rPr>
              <a:t>比特的字段幷不難。</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ea typeface="宋体" panose="02010600030101010101" pitchFamily="2" charset="-122"/>
                <a:cs typeface="Times New Roman" panose="02020603050405020304" pitchFamily="18" charset="0"/>
              </a:rPr>
              <a:t>實際中，如果</a:t>
            </a:r>
            <a:r>
              <a:rPr lang="en-US" altLang="zh-CN" sz="1800" dirty="0">
                <a:effectLst/>
                <a:ea typeface="宋体" panose="02010600030101010101" pitchFamily="2" charset="-122"/>
                <a:cs typeface="Times New Roman" panose="02020603050405020304" pitchFamily="18" charset="0"/>
              </a:rPr>
              <a:t>example.com</a:t>
            </a:r>
            <a:r>
              <a:rPr lang="zh-CN" altLang="zh-CN" sz="1800" dirty="0">
                <a:effectLst/>
                <a:ea typeface="宋体" panose="02010600030101010101" pitchFamily="2" charset="-122"/>
                <a:cs typeface="Times New Roman" panose="02020603050405020304" pitchFamily="18" charset="0"/>
              </a:rPr>
              <a:t>域有多個域名服務器，則攻擊中需要隨機選擇一個服務器發送回復包，或者同時發送多個回復包</a:t>
            </a:r>
            <a:endParaRPr lang="en-US" altLang="zh-CN" sz="12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ea typeface="宋体" panose="02010600030101010101" pitchFamily="2" charset="-122"/>
                <a:cs typeface="Times New Roman" panose="02020603050405020304" pitchFamily="18" charset="0"/>
              </a:rPr>
              <a:t>欺騙回復的</a:t>
            </a:r>
            <a:r>
              <a:rPr lang="en-US" altLang="zh-CN" sz="1800" dirty="0">
                <a:effectLst/>
                <a:ea typeface="宋体" panose="02010600030101010101" pitchFamily="2" charset="-122"/>
                <a:cs typeface="Times New Roman" panose="02020603050405020304" pitchFamily="18" charset="0"/>
              </a:rPr>
              <a:t>DNS</a:t>
            </a:r>
            <a:r>
              <a:rPr lang="zh-CN" altLang="zh-CN" sz="1800" dirty="0">
                <a:effectLst/>
                <a:ea typeface="宋体" panose="02010600030101010101" pitchFamily="2" charset="-122"/>
                <a:cs typeface="Times New Roman" panose="02020603050405020304" pitchFamily="18" charset="0"/>
              </a:rPr>
              <a:t>頭中，第一個字段是交易</a:t>
            </a:r>
            <a:r>
              <a:rPr lang="en-US" altLang="zh-CN" sz="1800" dirty="0">
                <a:effectLst/>
                <a:ea typeface="宋体" panose="02010600030101010101" pitchFamily="2" charset="-122"/>
                <a:cs typeface="Times New Roman" panose="02020603050405020304" pitchFamily="18" charset="0"/>
              </a:rPr>
              <a:t>ID</a:t>
            </a:r>
            <a:r>
              <a:rPr lang="zh-CN" altLang="zh-CN" sz="1800" dirty="0">
                <a:effectLst/>
                <a:ea typeface="宋体" panose="02010600030101010101" pitchFamily="2" charset="-122"/>
                <a:cs typeface="Times New Roman" panose="02020603050405020304" pitchFamily="18" charset="0"/>
              </a:rPr>
              <a:t>，需要與請求包的交易</a:t>
            </a:r>
            <a:r>
              <a:rPr lang="en-US" altLang="zh-CN" sz="1800" dirty="0">
                <a:effectLst/>
                <a:ea typeface="宋体" panose="02010600030101010101" pitchFamily="2" charset="-122"/>
                <a:cs typeface="Times New Roman" panose="02020603050405020304" pitchFamily="18" charset="0"/>
              </a:rPr>
              <a:t>ID</a:t>
            </a:r>
            <a:r>
              <a:rPr lang="zh-CN" altLang="zh-CN" sz="1800" dirty="0">
                <a:effectLst/>
                <a:ea typeface="宋体" panose="02010600030101010101" pitchFamily="2" charset="-122"/>
                <a:cs typeface="Times New Roman" panose="02020603050405020304" pitchFamily="18" charset="0"/>
              </a:rPr>
              <a:t>匹配，否則會被服務器丟弃。這個</a:t>
            </a:r>
            <a:r>
              <a:rPr lang="en-US" altLang="zh-CN" sz="1800" dirty="0">
                <a:effectLst/>
                <a:ea typeface="宋体" panose="02010600030101010101" pitchFamily="2" charset="-122"/>
                <a:cs typeface="Times New Roman" panose="02020603050405020304" pitchFamily="18" charset="0"/>
              </a:rPr>
              <a:t>ID</a:t>
            </a:r>
            <a:r>
              <a:rPr lang="zh-CN" altLang="zh-CN" sz="1800" dirty="0">
                <a:effectLst/>
                <a:ea typeface="宋体" panose="02010600030101010101" pitchFamily="2" charset="-122"/>
                <a:cs typeface="Times New Roman" panose="02020603050405020304" pitchFamily="18" charset="0"/>
              </a:rPr>
              <a:t>是隨機産生的</a:t>
            </a:r>
            <a:r>
              <a:rPr lang="en-US" altLang="zh-CN" sz="1800" dirty="0">
                <a:effectLst/>
                <a:ea typeface="宋体" panose="02010600030101010101" pitchFamily="2" charset="-122"/>
                <a:cs typeface="Times New Roman" panose="02020603050405020304" pitchFamily="18" charset="0"/>
              </a:rPr>
              <a:t>16bit</a:t>
            </a:r>
            <a:r>
              <a:rPr lang="zh-CN" altLang="zh-CN" sz="1800" dirty="0">
                <a:effectLst/>
                <a:ea typeface="宋体" panose="02010600030101010101" pitchFamily="2" charset="-122"/>
                <a:cs typeface="Times New Roman" panose="02020603050405020304" pitchFamily="18" charset="0"/>
              </a:rPr>
              <a:t>數字，在看不到請求包的情况下，這個數字需要猜測</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30307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effectLst/>
                <a:latin typeface="Times New Roman" panose="02020603050405020304" pitchFamily="18" charset="0"/>
                <a:ea typeface="宋体" panose="02010600030101010101" pitchFamily="2" charset="-122"/>
              </a:rPr>
              <a:t>在協議棧中已經講過利用數據包分片發動的攻擊，</a:t>
            </a:r>
            <a:r>
              <a:rPr lang="en-US" altLang="zh-CN" sz="1800" b="0" i="0" dirty="0">
                <a:solidFill>
                  <a:srgbClr val="000000"/>
                </a:solidFill>
                <a:effectLst/>
                <a:latin typeface="LinLibertineT"/>
              </a:rPr>
              <a:t>Brandt</a:t>
            </a:r>
            <a:r>
              <a:rPr lang="en-US" altLang="zh-CN" sz="2800" dirty="0"/>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等人利用</a:t>
            </a:r>
            <a:r>
              <a:rPr lang="en-US" altLang="zh-CN" sz="1800" dirty="0">
                <a:effectLst/>
                <a:latin typeface="Times New Roman" panose="02020603050405020304" pitchFamily="18" charset="0"/>
                <a:ea typeface="宋体" panose="02010600030101010101" pitchFamily="2" charset="-122"/>
              </a:rPr>
              <a:t> UDP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數據包分片重組技術，實現了一種旁路注入攻擊</a:t>
            </a:r>
            <a:r>
              <a:rPr lang="en-US" altLang="zh-CN" sz="1800" baseline="30000" dirty="0">
                <a:effectLst/>
                <a:latin typeface="Times New Roman" panose="02020603050405020304" pitchFamily="18" charset="0"/>
                <a:ea typeface="宋体" panose="02010600030101010101" pitchFamily="2" charset="-122"/>
              </a:rPr>
              <a:t>[9]</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。互聯網連接不同的網絡，每段網絡的最大傳輸單元（</a:t>
            </a:r>
            <a:r>
              <a:rPr lang="en-US" altLang="zh-CN" sz="1800" dirty="0">
                <a:effectLst/>
                <a:latin typeface="Times New Roman" panose="02020603050405020304" pitchFamily="18" charset="0"/>
                <a:ea typeface="宋体" panose="02010600030101010101" pitchFamily="2" charset="-122"/>
              </a:rPr>
              <a:t>Maximum Transmission Unit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MTU</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）不一定相同。當應答報文超出某段網絡</a:t>
            </a:r>
            <a:r>
              <a:rPr lang="en-US" altLang="zh-CN" sz="1800" dirty="0">
                <a:effectLst/>
                <a:latin typeface="Times New Roman" panose="02020603050405020304" pitchFamily="18" charset="0"/>
                <a:ea typeface="宋体" panose="02010600030101010101" pitchFamily="2" charset="-122"/>
              </a:rPr>
              <a:t>MTU</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時會被中間路由器强制分片，幷在遞歸解析服務器上重組。攻擊者提前向遞歸解析服務器注入虛假</a:t>
            </a:r>
            <a:r>
              <a:rPr lang="en-US" altLang="zh-CN" sz="1800" dirty="0">
                <a:effectLst/>
                <a:latin typeface="Times New Roman" panose="02020603050405020304" pitchFamily="18" charset="0"/>
                <a:ea typeface="宋体" panose="02010600030101010101" pitchFamily="2" charset="-122"/>
              </a:rPr>
              <a:t> DNS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響應分片，利用數據包重組過程篡改重組後的域名解析結果，同樣能够實現緩存攻擊。</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0" i="0" dirty="0">
                <a:solidFill>
                  <a:srgbClr val="333333"/>
                </a:solidFill>
                <a:effectLst/>
                <a:latin typeface="Arial" panose="020B0604020202020204" pitchFamily="34" charset="0"/>
              </a:rPr>
              <a:t>圖</a:t>
            </a:r>
            <a:r>
              <a:rPr lang="en-US" altLang="zh-CN" sz="2800" b="0" i="0" dirty="0">
                <a:solidFill>
                  <a:srgbClr val="333333"/>
                </a:solidFill>
                <a:effectLst/>
                <a:latin typeface="Arial" panose="020B0604020202020204" pitchFamily="34" charset="0"/>
              </a:rPr>
              <a:t>5</a:t>
            </a:r>
            <a:r>
              <a:rPr lang="zh-CN" altLang="en-US" sz="2800" b="0" i="0" dirty="0">
                <a:solidFill>
                  <a:srgbClr val="333333"/>
                </a:solidFill>
                <a:effectLst/>
                <a:latin typeface="Arial" panose="020B0604020202020204" pitchFamily="34" charset="0"/>
              </a:rPr>
              <a:t>顯示了一個</a:t>
            </a:r>
            <a:r>
              <a:rPr lang="en-US" altLang="zh-CN" sz="2800" b="0" i="0" dirty="0">
                <a:solidFill>
                  <a:srgbClr val="333333"/>
                </a:solidFill>
                <a:effectLst/>
                <a:latin typeface="Arial" panose="020B0604020202020204" pitchFamily="34" charset="0"/>
              </a:rPr>
              <a:t>ICMP</a:t>
            </a:r>
            <a:r>
              <a:rPr lang="zh-CN" altLang="en-US" sz="2800" b="0" i="0" dirty="0">
                <a:solidFill>
                  <a:srgbClr val="333333"/>
                </a:solidFill>
                <a:effectLst/>
                <a:latin typeface="Arial" panose="020B0604020202020204" pitchFamily="34" charset="0"/>
              </a:rPr>
              <a:t>分片需求的例子，這個錯誤是由</a:t>
            </a:r>
            <a:r>
              <a:rPr lang="en-US" altLang="zh-CN" sz="2800" b="0" i="0" dirty="0">
                <a:solidFill>
                  <a:srgbClr val="333333"/>
                </a:solidFill>
                <a:effectLst/>
                <a:latin typeface="Arial" panose="020B0604020202020204" pitchFamily="34" charset="0"/>
              </a:rPr>
              <a:t>IP</a:t>
            </a:r>
            <a:r>
              <a:rPr lang="zh-CN" altLang="en-US" sz="2800" b="0" i="0" dirty="0">
                <a:solidFill>
                  <a:srgbClr val="333333"/>
                </a:solidFill>
                <a:effectLst/>
                <a:latin typeface="Arial" panose="020B0604020202020204" pitchFamily="34" charset="0"/>
              </a:rPr>
              <a:t>地址爲</a:t>
            </a:r>
            <a:r>
              <a:rPr lang="en-US" altLang="zh-CN" sz="2800" b="0" i="0" dirty="0">
                <a:solidFill>
                  <a:srgbClr val="333333"/>
                </a:solidFill>
                <a:effectLst/>
                <a:latin typeface="Arial" panose="020B0604020202020204" pitchFamily="34" charset="0"/>
              </a:rPr>
              <a:t>6.6.6.6</a:t>
            </a:r>
            <a:r>
              <a:rPr lang="zh-CN" altLang="en-US" sz="2800" b="0" i="0" dirty="0">
                <a:solidFill>
                  <a:srgbClr val="333333"/>
                </a:solidFill>
                <a:effectLst/>
                <a:latin typeface="Arial" panose="020B0604020202020204" pitchFamily="34" charset="0"/>
              </a:rPr>
              <a:t>的攻擊者發送給</a:t>
            </a:r>
            <a:r>
              <a:rPr lang="en-US" altLang="zh-CN" sz="2800" b="0" i="0" dirty="0">
                <a:solidFill>
                  <a:srgbClr val="333333"/>
                </a:solidFill>
                <a:effectLst/>
                <a:latin typeface="Arial" panose="020B0604020202020204" pitchFamily="34" charset="0"/>
              </a:rPr>
              <a:t>IP</a:t>
            </a:r>
            <a:r>
              <a:rPr lang="zh-CN" altLang="en-US" sz="2800" b="0" i="0" dirty="0">
                <a:solidFill>
                  <a:srgbClr val="333333"/>
                </a:solidFill>
                <a:effectLst/>
                <a:latin typeface="Arial" panose="020B0604020202020204" pitchFamily="34" charset="0"/>
              </a:rPr>
              <a:t>地址爲</a:t>
            </a:r>
            <a:r>
              <a:rPr lang="en-US" altLang="zh-CN" sz="2800" b="0" i="0" dirty="0">
                <a:solidFill>
                  <a:srgbClr val="333333"/>
                </a:solidFill>
                <a:effectLst/>
                <a:latin typeface="Arial" panose="020B0604020202020204" pitchFamily="34" charset="0"/>
              </a:rPr>
              <a:t>2.2.2.2</a:t>
            </a:r>
            <a:r>
              <a:rPr lang="zh-CN" altLang="en-US" sz="2800" b="0" i="0" dirty="0">
                <a:solidFill>
                  <a:srgbClr val="333333"/>
                </a:solidFill>
                <a:effectLst/>
                <a:latin typeface="Arial" panose="020B0604020202020204" pitchFamily="34" charset="0"/>
              </a:rPr>
              <a:t>的</a:t>
            </a:r>
            <a:r>
              <a:rPr lang="en-US" altLang="zh-CN" sz="2800" b="0" i="0" dirty="0">
                <a:solidFill>
                  <a:srgbClr val="333333"/>
                </a:solidFill>
                <a:effectLst/>
                <a:latin typeface="Arial" panose="020B0604020202020204" pitchFamily="34" charset="0"/>
              </a:rPr>
              <a:t>nameserver</a:t>
            </a:r>
            <a:r>
              <a:rPr lang="zh-CN" altLang="en-US" sz="2800" b="0" i="0" dirty="0">
                <a:solidFill>
                  <a:srgbClr val="333333"/>
                </a:solidFill>
                <a:effectLst/>
                <a:latin typeface="Arial" panose="020B0604020202020204" pitchFamily="34" charset="0"/>
              </a:rPr>
              <a:t>的，它告訴</a:t>
            </a:r>
            <a:r>
              <a:rPr lang="en-US" altLang="zh-CN" sz="2800" b="0" i="0" dirty="0">
                <a:solidFill>
                  <a:srgbClr val="333333"/>
                </a:solidFill>
                <a:effectLst/>
                <a:latin typeface="Arial" panose="020B0604020202020204" pitchFamily="34" charset="0"/>
              </a:rPr>
              <a:t>nameserver</a:t>
            </a:r>
            <a:r>
              <a:rPr lang="zh-CN" altLang="en-US" sz="2800" b="0" i="0" dirty="0">
                <a:solidFill>
                  <a:srgbClr val="333333"/>
                </a:solidFill>
                <a:effectLst/>
                <a:latin typeface="Arial" panose="020B0604020202020204" pitchFamily="34" charset="0"/>
              </a:rPr>
              <a:t>將發送給</a:t>
            </a:r>
            <a:r>
              <a:rPr lang="en-US" altLang="zh-CN" sz="2800" b="0" i="0" dirty="0">
                <a:solidFill>
                  <a:srgbClr val="333333"/>
                </a:solidFill>
                <a:effectLst/>
                <a:latin typeface="Arial" panose="020B0604020202020204" pitchFamily="34" charset="0"/>
              </a:rPr>
              <a:t>DNS</a:t>
            </a:r>
            <a:r>
              <a:rPr lang="zh-CN" altLang="en-US" sz="2800" b="0" i="0" dirty="0">
                <a:solidFill>
                  <a:srgbClr val="333333"/>
                </a:solidFill>
                <a:effectLst/>
                <a:latin typeface="Arial" panose="020B0604020202020204" pitchFamily="34" charset="0"/>
              </a:rPr>
              <a:t>解析器</a:t>
            </a:r>
            <a:r>
              <a:rPr lang="en-US" altLang="zh-CN" sz="2800" b="0" i="0" dirty="0">
                <a:solidFill>
                  <a:srgbClr val="333333"/>
                </a:solidFill>
                <a:effectLst/>
                <a:latin typeface="Arial" panose="020B0604020202020204" pitchFamily="34" charset="0"/>
              </a:rPr>
              <a:t>7.7.7.7</a:t>
            </a:r>
            <a:r>
              <a:rPr lang="zh-CN" altLang="en-US" sz="2800" b="0" i="0" dirty="0">
                <a:solidFill>
                  <a:srgbClr val="333333"/>
                </a:solidFill>
                <a:effectLst/>
                <a:latin typeface="Arial" panose="020B0604020202020204" pitchFamily="34" charset="0"/>
              </a:rPr>
              <a:t>的所有數據包的</a:t>
            </a:r>
            <a:r>
              <a:rPr lang="en-US" altLang="zh-CN" sz="2800" b="0" i="0" dirty="0">
                <a:solidFill>
                  <a:srgbClr val="333333"/>
                </a:solidFill>
                <a:effectLst/>
                <a:latin typeface="Arial" panose="020B0604020202020204" pitchFamily="34" charset="0"/>
              </a:rPr>
              <a:t>MTU</a:t>
            </a:r>
            <a:r>
              <a:rPr lang="zh-CN" altLang="en-US" sz="2800" b="0" i="0" dirty="0">
                <a:solidFill>
                  <a:srgbClr val="333333"/>
                </a:solidFill>
                <a:effectLst/>
                <a:latin typeface="Arial" panose="020B0604020202020204" pitchFamily="34" charset="0"/>
              </a:rPr>
              <a:t>减少到</a:t>
            </a:r>
            <a:r>
              <a:rPr lang="en-US" altLang="zh-CN" sz="2800" b="0" i="0" dirty="0">
                <a:solidFill>
                  <a:srgbClr val="333333"/>
                </a:solidFill>
                <a:effectLst/>
                <a:latin typeface="Arial" panose="020B0604020202020204" pitchFamily="34" charset="0"/>
              </a:rPr>
              <a:t>100</a:t>
            </a:r>
            <a:r>
              <a:rPr lang="zh-CN" altLang="en-US" sz="2800" b="0" i="0" dirty="0">
                <a:solidFill>
                  <a:srgbClr val="333333"/>
                </a:solidFill>
                <a:effectLst/>
                <a:latin typeface="Arial" panose="020B0604020202020204" pitchFamily="34" charset="0"/>
              </a:rPr>
              <a:t>字節。</a:t>
            </a:r>
            <a:r>
              <a:rPr lang="en-US" altLang="zh-CN" sz="2800" b="0" i="0" dirty="0">
                <a:solidFill>
                  <a:srgbClr val="333333"/>
                </a:solidFill>
                <a:effectLst/>
                <a:latin typeface="Arial" panose="020B0604020202020204" pitchFamily="34" charset="0"/>
              </a:rPr>
              <a:t>ICMP</a:t>
            </a:r>
            <a:r>
              <a:rPr lang="zh-CN" altLang="en-US" sz="2800" b="0" i="0" dirty="0">
                <a:solidFill>
                  <a:srgbClr val="333333"/>
                </a:solidFill>
                <a:effectLst/>
                <a:latin typeface="Arial" panose="020B0604020202020204" pitchFamily="34" charset="0"/>
              </a:rPr>
              <a:t>報文的載荷是</a:t>
            </a:r>
            <a:r>
              <a:rPr lang="en-US" altLang="zh-CN" sz="2800" b="0" i="0" dirty="0">
                <a:solidFill>
                  <a:srgbClr val="333333"/>
                </a:solidFill>
                <a:effectLst/>
                <a:latin typeface="Arial" panose="020B0604020202020204" pitchFamily="34" charset="0"/>
              </a:rPr>
              <a:t>IP</a:t>
            </a:r>
            <a:r>
              <a:rPr lang="zh-CN" altLang="en-US" sz="2800" b="0" i="0" dirty="0">
                <a:solidFill>
                  <a:srgbClr val="333333"/>
                </a:solidFill>
                <a:effectLst/>
                <a:latin typeface="Arial" panose="020B0604020202020204" pitchFamily="34" charset="0"/>
              </a:rPr>
              <a:t>頭和原始報文</a:t>
            </a:r>
            <a:r>
              <a:rPr lang="en-US" altLang="zh-CN" sz="2800" b="0" i="0" dirty="0">
                <a:solidFill>
                  <a:srgbClr val="333333"/>
                </a:solidFill>
                <a:effectLst/>
                <a:latin typeface="Arial" panose="020B0604020202020204" pitchFamily="34" charset="0"/>
              </a:rPr>
              <a:t>(</a:t>
            </a:r>
            <a:r>
              <a:rPr lang="zh-CN" altLang="en-US" sz="2800" b="0" i="0" dirty="0">
                <a:solidFill>
                  <a:srgbClr val="333333"/>
                </a:solidFill>
                <a:effectLst/>
                <a:latin typeface="Arial" panose="020B0604020202020204" pitchFamily="34" charset="0"/>
              </a:rPr>
              <a:t>觸發</a:t>
            </a:r>
            <a:r>
              <a:rPr lang="en-US" altLang="zh-CN" sz="2800" b="0" i="0" dirty="0">
                <a:solidFill>
                  <a:srgbClr val="333333"/>
                </a:solidFill>
                <a:effectLst/>
                <a:latin typeface="Arial" panose="020B0604020202020204" pitchFamily="34" charset="0"/>
              </a:rPr>
              <a:t>ICMP</a:t>
            </a:r>
            <a:r>
              <a:rPr lang="zh-CN" altLang="en-US" sz="2800" b="0" i="0" dirty="0">
                <a:solidFill>
                  <a:srgbClr val="333333"/>
                </a:solidFill>
                <a:effectLst/>
                <a:latin typeface="Arial" panose="020B0604020202020204" pitchFamily="34" charset="0"/>
              </a:rPr>
              <a:t>錯誤消息的報文</a:t>
            </a:r>
            <a:r>
              <a:rPr lang="en-US" altLang="zh-CN" sz="2800" b="0" i="0" dirty="0">
                <a:solidFill>
                  <a:srgbClr val="333333"/>
                </a:solidFill>
                <a:effectLst/>
                <a:latin typeface="Arial" panose="020B0604020202020204" pitchFamily="34" charset="0"/>
              </a:rPr>
              <a:t>)</a:t>
            </a:r>
            <a:r>
              <a:rPr lang="zh-CN" altLang="en-US" sz="2800" b="0" i="0" dirty="0">
                <a:solidFill>
                  <a:srgbClr val="333333"/>
                </a:solidFill>
                <a:effectLst/>
                <a:latin typeface="Arial" panose="020B0604020202020204" pitchFamily="34" charset="0"/>
              </a:rPr>
              <a:t>的前</a:t>
            </a:r>
            <a:r>
              <a:rPr lang="en-US" altLang="zh-CN" sz="2800" b="0" i="0" dirty="0">
                <a:solidFill>
                  <a:srgbClr val="333333"/>
                </a:solidFill>
                <a:effectLst/>
                <a:latin typeface="Arial" panose="020B0604020202020204" pitchFamily="34" charset="0"/>
              </a:rPr>
              <a:t>8</a:t>
            </a:r>
            <a:r>
              <a:rPr lang="zh-CN" altLang="en-US" sz="2800" b="0" i="0" dirty="0">
                <a:solidFill>
                  <a:srgbClr val="333333"/>
                </a:solidFill>
                <a:effectLst/>
                <a:latin typeface="Arial" panose="020B0604020202020204" pitchFamily="34" charset="0"/>
              </a:rPr>
              <a:t>個字節。名稱服務器存儲這個信息，幷使用它來限制</a:t>
            </a:r>
            <a:r>
              <a:rPr lang="en-US" altLang="zh-CN" sz="2800" b="0" i="0" dirty="0">
                <a:solidFill>
                  <a:srgbClr val="333333"/>
                </a:solidFill>
                <a:effectLst/>
                <a:latin typeface="Arial" panose="020B0604020202020204" pitchFamily="34" charset="0"/>
              </a:rPr>
              <a:t>IP</a:t>
            </a:r>
            <a:r>
              <a:rPr lang="zh-CN" altLang="en-US" sz="2800" b="0" i="0" dirty="0">
                <a:solidFill>
                  <a:srgbClr val="333333"/>
                </a:solidFill>
                <a:effectLst/>
                <a:latin typeface="Arial" panose="020B0604020202020204" pitchFamily="34" charset="0"/>
              </a:rPr>
              <a:t>包的大小到目的</a:t>
            </a:r>
            <a:r>
              <a:rPr lang="en-US" altLang="zh-CN" sz="2800" b="0" i="0" dirty="0">
                <a:solidFill>
                  <a:srgbClr val="333333"/>
                </a:solidFill>
                <a:effectLst/>
                <a:latin typeface="Arial" panose="020B0604020202020204" pitchFamily="34" charset="0"/>
              </a:rPr>
              <a:t>IP(7.7.7.7)</a:t>
            </a:r>
            <a:r>
              <a:rPr lang="zh-CN" altLang="en-US" sz="2800" b="0" i="0" dirty="0">
                <a:solidFill>
                  <a:srgbClr val="333333"/>
                </a:solidFill>
                <a:effectLst/>
                <a:latin typeface="Arial" panose="020B0604020202020204" pitchFamily="34" charset="0"/>
              </a:rPr>
              <a:t>和協議</a:t>
            </a:r>
            <a:r>
              <a:rPr lang="en-US" altLang="zh-CN" sz="2800" b="0" i="0" dirty="0">
                <a:solidFill>
                  <a:srgbClr val="333333"/>
                </a:solidFill>
                <a:effectLst/>
                <a:latin typeface="Arial" panose="020B0604020202020204" pitchFamily="34" charset="0"/>
              </a:rPr>
              <a:t>(UDP)</a:t>
            </a:r>
            <a:r>
              <a:rPr lang="zh-CN" altLang="en-US" sz="2800" b="0" i="0" dirty="0">
                <a:solidFill>
                  <a:srgbClr val="333333"/>
                </a:solidFill>
                <a:effectLst/>
                <a:latin typeface="Arial" panose="020B0604020202020204" pitchFamily="34"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0" i="0" dirty="0">
                <a:solidFill>
                  <a:srgbClr val="4A90E2"/>
                </a:solidFill>
                <a:effectLst/>
                <a:latin typeface="Arial" panose="020B0604020202020204" pitchFamily="34" charset="0"/>
              </a:rPr>
              <a:t>第一個片段然後與欺騙的第二片段重新組合，該片段已經在</a:t>
            </a:r>
            <a:r>
              <a:rPr lang="en-US" altLang="zh-CN" sz="2800" b="0" i="0" dirty="0">
                <a:solidFill>
                  <a:srgbClr val="4A90E2"/>
                </a:solidFill>
                <a:effectLst/>
                <a:latin typeface="Arial" panose="020B0604020202020204" pitchFamily="34" charset="0"/>
              </a:rPr>
              <a:t>DNS</a:t>
            </a:r>
            <a:r>
              <a:rPr lang="zh-CN" altLang="en-US" sz="2800" b="0" i="0" dirty="0">
                <a:solidFill>
                  <a:srgbClr val="4A90E2"/>
                </a:solidFill>
                <a:effectLst/>
                <a:latin typeface="Arial" panose="020B0604020202020204" pitchFamily="34" charset="0"/>
              </a:rPr>
              <a:t>解析器的緩存中</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037428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800" b="0" i="0" dirty="0">
                <a:solidFill>
                  <a:srgbClr val="333333"/>
                </a:solidFill>
                <a:effectLst/>
                <a:latin typeface="Arial" panose="020B0604020202020204" pitchFamily="34" charset="0"/>
              </a:rPr>
              <a:t>Sequentially Incrementing IP ID</a:t>
            </a:r>
            <a:r>
              <a:rPr lang="zh-CN" altLang="en-US" sz="2800" b="0" i="0" dirty="0">
                <a:solidFill>
                  <a:srgbClr val="333333"/>
                </a:solidFill>
                <a:effectLst/>
                <a:latin typeface="Arial" panose="020B0604020202020204" pitchFamily="34" charset="0"/>
              </a:rPr>
              <a:t>。超過</a:t>
            </a:r>
            <a:r>
              <a:rPr lang="en-US" altLang="zh-CN" sz="2800" b="0" i="0" dirty="0">
                <a:solidFill>
                  <a:srgbClr val="333333"/>
                </a:solidFill>
                <a:effectLst/>
                <a:latin typeface="Arial" panose="020B0604020202020204" pitchFamily="34" charset="0"/>
              </a:rPr>
              <a:t>60%</a:t>
            </a:r>
            <a:r>
              <a:rPr lang="zh-CN" altLang="en-US" sz="2800" b="0" i="0" dirty="0">
                <a:solidFill>
                  <a:srgbClr val="333333"/>
                </a:solidFill>
                <a:effectLst/>
                <a:latin typeface="Arial" panose="020B0604020202020204" pitchFamily="34" charset="0"/>
              </a:rPr>
              <a:t>的</a:t>
            </a:r>
            <a:r>
              <a:rPr lang="en-US" altLang="zh-CN" sz="2800" b="0" i="0" dirty="0">
                <a:solidFill>
                  <a:srgbClr val="333333"/>
                </a:solidFill>
                <a:effectLst/>
                <a:latin typeface="Arial" panose="020B0604020202020204" pitchFamily="34" charset="0"/>
              </a:rPr>
              <a:t>10K-top Alexa</a:t>
            </a:r>
            <a:r>
              <a:rPr lang="zh-CN" altLang="en-US" sz="2800" b="0" i="0" dirty="0">
                <a:solidFill>
                  <a:srgbClr val="333333"/>
                </a:solidFill>
                <a:effectLst/>
                <a:latin typeface="Arial" panose="020B0604020202020204" pitchFamily="34" charset="0"/>
              </a:rPr>
              <a:t>域名使用順序遞增的</a:t>
            </a:r>
            <a:r>
              <a:rPr lang="en-US" altLang="zh-CN" sz="2800" b="0" i="0" dirty="0">
                <a:solidFill>
                  <a:srgbClr val="333333"/>
                </a:solidFill>
                <a:effectLst/>
                <a:latin typeface="Arial" panose="020B0604020202020204" pitchFamily="34" charset="0"/>
              </a:rPr>
              <a:t>IPID</a:t>
            </a:r>
            <a:r>
              <a:rPr lang="zh-CN" altLang="en-US" sz="2800" b="0" i="0" dirty="0">
                <a:solidFill>
                  <a:srgbClr val="333333"/>
                </a:solidFill>
                <a:effectLst/>
                <a:latin typeface="Arial" panose="020B0604020202020204" pitchFamily="34" charset="0"/>
              </a:rPr>
              <a:t>值分配。</a:t>
            </a:r>
            <a:r>
              <a:rPr lang="en-US" altLang="zh-CN" sz="2800" b="0" i="0" dirty="0">
                <a:solidFill>
                  <a:srgbClr val="333333"/>
                </a:solidFill>
                <a:effectLst/>
                <a:latin typeface="Arial" panose="020B0604020202020204" pitchFamily="34" charset="0"/>
              </a:rPr>
              <a:t>Windows</a:t>
            </a:r>
            <a:r>
              <a:rPr lang="zh-CN" altLang="en-US" sz="2800" b="0" i="0" dirty="0">
                <a:solidFill>
                  <a:srgbClr val="333333"/>
                </a:solidFill>
                <a:effectLst/>
                <a:latin typeface="Arial" panose="020B0604020202020204" pitchFamily="34" charset="0"/>
              </a:rPr>
              <a:t>操作系統使用一個按順序遞增的</a:t>
            </a:r>
            <a:r>
              <a:rPr lang="en-US" altLang="zh-CN" sz="2800" b="0" i="0" dirty="0">
                <a:solidFill>
                  <a:srgbClr val="333333"/>
                </a:solidFill>
                <a:effectLst/>
                <a:latin typeface="Arial" panose="020B0604020202020204" pitchFamily="34" charset="0"/>
              </a:rPr>
              <a:t>IPID</a:t>
            </a:r>
            <a:r>
              <a:rPr lang="zh-CN" altLang="en-US" sz="2800" b="0" i="0" dirty="0">
                <a:solidFill>
                  <a:srgbClr val="333333"/>
                </a:solidFill>
                <a:effectLst/>
                <a:latin typeface="Arial" panose="020B0604020202020204" pitchFamily="34" charset="0"/>
              </a:rPr>
              <a:t>。攻擊者從</a:t>
            </a:r>
            <a:r>
              <a:rPr lang="en-US" altLang="zh-CN" sz="2800" b="0" i="0" dirty="0" err="1">
                <a:solidFill>
                  <a:srgbClr val="333333"/>
                </a:solidFill>
                <a:effectLst/>
                <a:latin typeface="Arial" panose="020B0604020202020204" pitchFamily="34" charset="0"/>
              </a:rPr>
              <a:t>namesserver</a:t>
            </a:r>
            <a:r>
              <a:rPr lang="zh-CN" altLang="en-US" sz="2800" b="0" i="0" dirty="0">
                <a:solidFill>
                  <a:srgbClr val="333333"/>
                </a:solidFill>
                <a:effectLst/>
                <a:latin typeface="Arial" panose="020B0604020202020204" pitchFamily="34" charset="0"/>
              </a:rPr>
              <a:t>中采樣</a:t>
            </a:r>
            <a:r>
              <a:rPr lang="en-US" altLang="zh-CN" sz="2800" b="0" i="0" dirty="0">
                <a:solidFill>
                  <a:srgbClr val="333333"/>
                </a:solidFill>
                <a:effectLst/>
                <a:latin typeface="Arial" panose="020B0604020202020204" pitchFamily="34" charset="0"/>
              </a:rPr>
              <a:t>IP ID</a:t>
            </a:r>
            <a:r>
              <a:rPr lang="zh-CN" altLang="en-US" sz="2800" b="0" i="0" dirty="0">
                <a:solidFill>
                  <a:srgbClr val="333333"/>
                </a:solidFill>
                <a:effectLst/>
                <a:latin typeface="Arial" panose="020B0604020202020204" pitchFamily="34" charset="0"/>
              </a:rPr>
              <a:t>值，幷采樣</a:t>
            </a:r>
            <a:r>
              <a:rPr lang="en-US" altLang="zh-CN" sz="2800" b="0" i="0" dirty="0">
                <a:solidFill>
                  <a:srgbClr val="333333"/>
                </a:solidFill>
                <a:effectLst/>
                <a:latin typeface="Arial" panose="020B0604020202020204" pitchFamily="34" charset="0"/>
              </a:rPr>
              <a:t>IP ID</a:t>
            </a:r>
            <a:r>
              <a:rPr lang="zh-CN" altLang="en-US" sz="2800" b="0" i="0" dirty="0">
                <a:solidFill>
                  <a:srgbClr val="333333"/>
                </a:solidFill>
                <a:effectLst/>
                <a:latin typeface="Arial" panose="020B0604020202020204" pitchFamily="34" charset="0"/>
              </a:rPr>
              <a:t>增長速率。然後攻擊者計算</a:t>
            </a:r>
            <a:r>
              <a:rPr lang="en-US" altLang="zh-CN" sz="2800" b="0" i="0" dirty="0">
                <a:solidFill>
                  <a:srgbClr val="333333"/>
                </a:solidFill>
                <a:effectLst/>
                <a:latin typeface="Arial" panose="020B0604020202020204" pitchFamily="34" charset="0"/>
              </a:rPr>
              <a:t>IP ID</a:t>
            </a:r>
            <a:r>
              <a:rPr lang="zh-CN" altLang="en-US" sz="2800" b="0" i="0" dirty="0">
                <a:solidFill>
                  <a:srgbClr val="333333"/>
                </a:solidFill>
                <a:effectLst/>
                <a:latin typeface="Arial" panose="020B0604020202020204" pitchFamily="34" charset="0"/>
              </a:rPr>
              <a:t>值，這將在名稱服務器向受害</a:t>
            </a:r>
            <a:r>
              <a:rPr lang="en-US" altLang="zh-CN" sz="2800" b="0" i="0" dirty="0">
                <a:solidFill>
                  <a:srgbClr val="333333"/>
                </a:solidFill>
                <a:effectLst/>
                <a:latin typeface="Arial" panose="020B0604020202020204" pitchFamily="34" charset="0"/>
              </a:rPr>
              <a:t>DNS</a:t>
            </a:r>
            <a:r>
              <a:rPr lang="zh-CN" altLang="en-US" sz="2800" b="0" i="0" dirty="0">
                <a:solidFill>
                  <a:srgbClr val="333333"/>
                </a:solidFill>
                <a:effectLst/>
                <a:latin typeface="Arial" panose="020B0604020202020204" pitchFamily="34" charset="0"/>
              </a:rPr>
              <a:t>解析器發送</a:t>
            </a:r>
            <a:r>
              <a:rPr lang="en-US" altLang="zh-CN" sz="2800" b="0" i="0" dirty="0">
                <a:solidFill>
                  <a:srgbClr val="333333"/>
                </a:solidFill>
                <a:effectLst/>
                <a:latin typeface="Arial" panose="020B0604020202020204" pitchFamily="34" charset="0"/>
              </a:rPr>
              <a:t>DNS</a:t>
            </a:r>
            <a:r>
              <a:rPr lang="zh-CN" altLang="en-US" sz="2800" b="0" i="0" dirty="0">
                <a:solidFill>
                  <a:srgbClr val="333333"/>
                </a:solidFill>
                <a:effectLst/>
                <a:latin typeface="Arial" panose="020B0604020202020204" pitchFamily="34" charset="0"/>
              </a:rPr>
              <a:t>響應時分配。攻擊者在第二個欺騙分片中使用這個值。攻擊者還可以發送多個具有不同</a:t>
            </a:r>
            <a:r>
              <a:rPr lang="en-US" altLang="zh-CN" sz="2800" b="0" i="0" dirty="0">
                <a:solidFill>
                  <a:srgbClr val="333333"/>
                </a:solidFill>
                <a:effectLst/>
                <a:latin typeface="Arial" panose="020B0604020202020204" pitchFamily="34" charset="0"/>
              </a:rPr>
              <a:t>IP ID</a:t>
            </a:r>
            <a:r>
              <a:rPr lang="zh-CN" altLang="en-US" sz="2800" b="0" i="0" dirty="0">
                <a:solidFill>
                  <a:srgbClr val="333333"/>
                </a:solidFill>
                <a:effectLst/>
                <a:latin typeface="Arial" panose="020B0604020202020204" pitchFamily="34" charset="0"/>
              </a:rPr>
              <a:t>值的片段，以增加命中正確</a:t>
            </a:r>
            <a:r>
              <a:rPr lang="en-US" altLang="zh-CN" sz="2800" b="0" i="0" dirty="0">
                <a:solidFill>
                  <a:srgbClr val="333333"/>
                </a:solidFill>
                <a:effectLst/>
                <a:latin typeface="Arial" panose="020B0604020202020204" pitchFamily="34" charset="0"/>
              </a:rPr>
              <a:t>IP ID</a:t>
            </a:r>
            <a:r>
              <a:rPr lang="zh-CN" altLang="en-US" sz="2800" b="0" i="0" dirty="0">
                <a:solidFill>
                  <a:srgbClr val="333333"/>
                </a:solidFill>
                <a:effectLst/>
                <a:latin typeface="Arial" panose="020B0604020202020204" pitchFamily="34" charset="0"/>
              </a:rPr>
              <a:t>值的機會。</a:t>
            </a:r>
            <a:endParaRPr lang="en-US" altLang="zh-CN" sz="2800" b="0" i="0" dirty="0">
              <a:solidFill>
                <a:srgbClr val="333333"/>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2800" b="0" i="0" dirty="0">
              <a:solidFill>
                <a:srgbClr val="333333"/>
              </a:solidFill>
              <a:effectLst/>
              <a:latin typeface="Arial" panose="020B0604020202020204" pitchFamily="34" charset="0"/>
              <a:ea typeface="宋体" panose="02010600030101010101" pitchFamily="2" charset="-122"/>
              <a:cs typeface="Times New Roman" panose="02020603050405020304" pitchFamily="18" charset="0"/>
            </a:endParaRPr>
          </a:p>
          <a:p>
            <a:pPr algn="just"/>
            <a:r>
              <a:rPr lang="en-US" altLang="zh-CN" sz="1800" b="0" i="1" dirty="0">
                <a:solidFill>
                  <a:srgbClr val="000000"/>
                </a:solidFill>
                <a:effectLst/>
                <a:latin typeface="LinLibertineTI"/>
              </a:rPr>
              <a:t>Per-Destination</a:t>
            </a:r>
            <a:r>
              <a:rPr lang="en-US" altLang="zh-CN" sz="4000" dirty="0"/>
              <a:t>  </a:t>
            </a:r>
            <a:r>
              <a:rPr lang="en-US" altLang="zh-CN" sz="2800" b="0" i="0" dirty="0">
                <a:solidFill>
                  <a:srgbClr val="333333"/>
                </a:solidFill>
                <a:effectLst/>
                <a:latin typeface="Arial" panose="020B0604020202020204" pitchFamily="34" charset="0"/>
              </a:rPr>
              <a:t>IP ID</a:t>
            </a:r>
            <a:r>
              <a:rPr lang="zh-CN" altLang="en-US" sz="2800" b="0" i="0" dirty="0">
                <a:solidFill>
                  <a:srgbClr val="333333"/>
                </a:solidFill>
                <a:effectLst/>
                <a:latin typeface="Arial" panose="020B0604020202020204" pitchFamily="34" charset="0"/>
              </a:rPr>
              <a:t>。不到</a:t>
            </a:r>
            <a:r>
              <a:rPr lang="en-US" altLang="zh-CN" sz="2800" b="0" i="0" dirty="0">
                <a:solidFill>
                  <a:srgbClr val="333333"/>
                </a:solidFill>
                <a:effectLst/>
                <a:latin typeface="Arial" panose="020B0604020202020204" pitchFamily="34" charset="0"/>
              </a:rPr>
              <a:t>40%</a:t>
            </a:r>
            <a:r>
              <a:rPr lang="zh-CN" altLang="en-US" sz="2800" b="0" i="0" dirty="0">
                <a:solidFill>
                  <a:srgbClr val="333333"/>
                </a:solidFill>
                <a:effectLst/>
                <a:latin typeface="Arial" panose="020B0604020202020204" pitchFamily="34" charset="0"/>
              </a:rPr>
              <a:t>的名稱服務器使用每個目的地遞增的</a:t>
            </a:r>
            <a:r>
              <a:rPr lang="en-US" altLang="zh-CN" sz="2800" b="0" i="0" dirty="0">
                <a:solidFill>
                  <a:srgbClr val="333333"/>
                </a:solidFill>
                <a:effectLst/>
                <a:latin typeface="Arial" panose="020B0604020202020204" pitchFamily="34" charset="0"/>
              </a:rPr>
              <a:t>IP ID</a:t>
            </a:r>
            <a:r>
              <a:rPr lang="zh-CN" altLang="en-US" sz="2800" b="0" i="0" dirty="0">
                <a:solidFill>
                  <a:srgbClr val="333333"/>
                </a:solidFill>
                <a:effectLst/>
                <a:latin typeface="Arial" panose="020B0604020202020204" pitchFamily="34" charset="0"/>
              </a:rPr>
              <a:t>。</a:t>
            </a:r>
            <a:r>
              <a:rPr lang="en-US" altLang="zh-CN" sz="2800" b="0" i="0" dirty="0">
                <a:solidFill>
                  <a:srgbClr val="333333"/>
                </a:solidFill>
                <a:effectLst/>
                <a:latin typeface="Arial" panose="020B0604020202020204" pitchFamily="34" charset="0"/>
              </a:rPr>
              <a:t>Linux</a:t>
            </a:r>
            <a:r>
              <a:rPr lang="zh-CN" altLang="en-US" sz="2800" b="0" i="0" dirty="0">
                <a:solidFill>
                  <a:srgbClr val="333333"/>
                </a:solidFill>
                <a:effectLst/>
                <a:latin typeface="Arial" panose="020B0604020202020204" pitchFamily="34" charset="0"/>
              </a:rPr>
              <a:t>版本使用每個目的地遞增的</a:t>
            </a:r>
            <a:r>
              <a:rPr lang="en-US" altLang="zh-CN" sz="2800" b="0" i="0" dirty="0">
                <a:solidFill>
                  <a:srgbClr val="333333"/>
                </a:solidFill>
                <a:effectLst/>
                <a:latin typeface="Arial" panose="020B0604020202020204" pitchFamily="34" charset="0"/>
              </a:rPr>
              <a:t>IP ID</a:t>
            </a:r>
            <a:r>
              <a:rPr lang="zh-CN" altLang="en-US" sz="2800" b="0" i="0" dirty="0">
                <a:solidFill>
                  <a:srgbClr val="333333"/>
                </a:solidFill>
                <a:effectLst/>
                <a:latin typeface="Arial" panose="020B0604020202020204" pitchFamily="34" charset="0"/>
              </a:rPr>
              <a:t>分配。攻擊者使用</a:t>
            </a:r>
            <a:r>
              <a:rPr lang="en-US" altLang="zh-CN" sz="2800" b="0" i="0" dirty="0">
                <a:solidFill>
                  <a:srgbClr val="333333"/>
                </a:solidFill>
                <a:effectLst/>
                <a:latin typeface="Arial" panose="020B0604020202020204" pitchFamily="34" charset="0"/>
              </a:rPr>
              <a:t>[41]</a:t>
            </a:r>
            <a:r>
              <a:rPr lang="zh-CN" altLang="en-US" sz="2800" b="0" i="0" dirty="0">
                <a:solidFill>
                  <a:srgbClr val="333333"/>
                </a:solidFill>
                <a:effectLst/>
                <a:latin typeface="Arial" panose="020B0604020202020204" pitchFamily="34" charset="0"/>
              </a:rPr>
              <a:t>中提供的技術來預測</a:t>
            </a:r>
            <a:r>
              <a:rPr lang="en-US" altLang="zh-CN" sz="2800" b="0" i="0" dirty="0">
                <a:solidFill>
                  <a:srgbClr val="333333"/>
                </a:solidFill>
                <a:effectLst/>
                <a:latin typeface="Arial" panose="020B0604020202020204" pitchFamily="34" charset="0"/>
              </a:rPr>
              <a:t>IP ID</a:t>
            </a:r>
            <a:r>
              <a:rPr lang="zh-CN" altLang="en-US" sz="2800" b="0" i="0" dirty="0">
                <a:solidFill>
                  <a:srgbClr val="333333"/>
                </a:solidFill>
                <a:effectLst/>
                <a:latin typeface="Arial" panose="020B0604020202020204" pitchFamily="34" charset="0"/>
              </a:rPr>
              <a:t>值。</a:t>
            </a:r>
          </a:p>
          <a:p>
            <a:pPr algn="just"/>
            <a:r>
              <a:rPr lang="zh-CN" altLang="en-US" sz="2800" b="0" i="0" dirty="0">
                <a:solidFill>
                  <a:srgbClr val="333333"/>
                </a:solidFill>
                <a:effectLst/>
                <a:latin typeface="Arial" panose="020B0604020202020204" pitchFamily="34" charset="0"/>
              </a:rPr>
              <a:t>因爲這不是我們工作的重點，所以我們不在這裏描述算法，可以參考</a:t>
            </a:r>
            <a:r>
              <a:rPr lang="en-US" altLang="zh-CN" sz="2800" b="0" i="0" dirty="0">
                <a:solidFill>
                  <a:srgbClr val="333333"/>
                </a:solidFill>
                <a:effectLst/>
                <a:latin typeface="Arial" panose="020B0604020202020204" pitchFamily="34" charset="0"/>
              </a:rPr>
              <a:t>[41]</a:t>
            </a:r>
            <a:r>
              <a:rPr lang="zh-CN" altLang="en-US" sz="2800" b="0" i="0" dirty="0">
                <a:solidFill>
                  <a:srgbClr val="333333"/>
                </a:solidFill>
                <a:effectLst/>
                <a:latin typeface="Arial" panose="020B0604020202020204" pitchFamily="34" charset="0"/>
              </a:rPr>
              <a:t>來瞭解細節</a:t>
            </a:r>
            <a:endParaRPr lang="en-US" altLang="zh-CN" sz="2800" b="0" i="0" dirty="0">
              <a:solidFill>
                <a:srgbClr val="333333"/>
              </a:solidFill>
              <a:effectLst/>
              <a:latin typeface="Arial" panose="020B0604020202020204" pitchFamily="34" charset="0"/>
            </a:endParaRPr>
          </a:p>
          <a:p>
            <a:r>
              <a:rPr lang="en-US" altLang="zh-CN" sz="2800" b="0" i="0" dirty="0">
                <a:solidFill>
                  <a:srgbClr val="333333"/>
                </a:solidFill>
                <a:effectLst/>
                <a:latin typeface="Arial" panose="020B0604020202020204" pitchFamily="34" charset="0"/>
              </a:rPr>
              <a:t>【41】</a:t>
            </a:r>
            <a:r>
              <a:rPr lang="en-US" altLang="zh-CN" sz="1800" b="0" i="0" u="none" strike="noStrike" baseline="0" dirty="0">
                <a:latin typeface="Palatino Linotype" panose="02040502050505030304" pitchFamily="18" charset="0"/>
              </a:rPr>
              <a:t>Jeffrey </a:t>
            </a:r>
            <a:r>
              <a:rPr lang="en-US" altLang="zh-CN" sz="1800" b="0" i="0" u="none" strike="noStrike" baseline="0" dirty="0" err="1">
                <a:latin typeface="Palatino Linotype" panose="02040502050505030304" pitchFamily="18" charset="0"/>
              </a:rPr>
              <a:t>Knockel</a:t>
            </a:r>
            <a:r>
              <a:rPr lang="en-US" altLang="zh-CN" sz="1800" b="0" i="0" u="none" strike="noStrike" baseline="0" dirty="0">
                <a:latin typeface="Palatino Linotype" panose="02040502050505030304" pitchFamily="18" charset="0"/>
              </a:rPr>
              <a:t> and Jedidiah R Crandall. 2014. Counting Packets Sent Between Arbitrary Internet Hosts.. In </a:t>
            </a:r>
            <a:r>
              <a:rPr lang="en-US" altLang="zh-CN" sz="1800" b="0" i="1" u="none" strike="noStrike" baseline="0" dirty="0">
                <a:latin typeface="Calibri" panose="020F0502020204030204" pitchFamily="34" charset="0"/>
              </a:rPr>
              <a:t>FOCI</a:t>
            </a:r>
          </a:p>
          <a:p>
            <a:pPr algn="just"/>
            <a:endParaRPr lang="en-US" altLang="zh-CN" sz="2800" b="0" i="0" dirty="0">
              <a:solidFill>
                <a:srgbClr val="333333"/>
              </a:solidFill>
              <a:effectLst/>
              <a:latin typeface="Arial" panose="020B0604020202020204" pitchFamily="34" charset="0"/>
            </a:endParaRPr>
          </a:p>
          <a:p>
            <a:pPr algn="just"/>
            <a:endParaRPr lang="en-US" altLang="zh-CN" sz="2800" b="0" i="0" dirty="0">
              <a:solidFill>
                <a:srgbClr val="333333"/>
              </a:solidFill>
              <a:effectLst/>
              <a:latin typeface="Arial" panose="020B0604020202020204" pitchFamily="34" charset="0"/>
            </a:endParaRPr>
          </a:p>
          <a:p>
            <a:pPr algn="just"/>
            <a:r>
              <a:rPr lang="en-US" altLang="zh-CN" sz="5400" b="0" i="0" dirty="0">
                <a:solidFill>
                  <a:srgbClr val="333333"/>
                </a:solidFill>
                <a:effectLst/>
                <a:latin typeface="Arial" panose="020B0604020202020204" pitchFamily="34" charset="0"/>
              </a:rPr>
              <a:t>Random IP ID. </a:t>
            </a:r>
            <a:r>
              <a:rPr lang="zh-CN" altLang="en-US" sz="4000" b="0" i="0" dirty="0">
                <a:solidFill>
                  <a:srgbClr val="333333"/>
                </a:solidFill>
                <a:effectLst/>
                <a:latin typeface="Arial" panose="020B0604020202020204" pitchFamily="34" charset="0"/>
              </a:rPr>
              <a:t>很少有服務器使用隨機的</a:t>
            </a:r>
            <a:r>
              <a:rPr lang="en-US" altLang="zh-CN" sz="4000" b="0" i="0" dirty="0">
                <a:solidFill>
                  <a:srgbClr val="333333"/>
                </a:solidFill>
                <a:effectLst/>
                <a:latin typeface="Arial" panose="020B0604020202020204" pitchFamily="34" charset="0"/>
              </a:rPr>
              <a:t>IP ID</a:t>
            </a:r>
            <a:r>
              <a:rPr lang="zh-CN" altLang="en-US" sz="4000" b="0" i="0" dirty="0">
                <a:solidFill>
                  <a:srgbClr val="333333"/>
                </a:solidFill>
                <a:effectLst/>
                <a:latin typeface="Arial" panose="020B0604020202020204" pitchFamily="34" charset="0"/>
              </a:rPr>
              <a:t>值，小于</a:t>
            </a:r>
            <a:r>
              <a:rPr lang="en-US" altLang="zh-CN" sz="4000" b="0" i="0" dirty="0">
                <a:solidFill>
                  <a:srgbClr val="333333"/>
                </a:solidFill>
                <a:effectLst/>
                <a:latin typeface="Arial" panose="020B0604020202020204" pitchFamily="34" charset="0"/>
              </a:rPr>
              <a:t>1%</a:t>
            </a:r>
            <a:r>
              <a:rPr lang="zh-CN" altLang="en-US" sz="4000" b="0" i="0" dirty="0">
                <a:solidFill>
                  <a:srgbClr val="333333"/>
                </a:solidFill>
                <a:effectLst/>
                <a:latin typeface="Arial" panose="020B0604020202020204" pitchFamily="34" charset="0"/>
              </a:rPr>
              <a:t>。原因是它在服務器上引入了開銷。這種情况下</a:t>
            </a:r>
            <a:r>
              <a:rPr lang="en-US" altLang="zh-CN" sz="4000" b="0" i="0" dirty="0">
                <a:solidFill>
                  <a:srgbClr val="333333"/>
                </a:solidFill>
                <a:effectLst/>
                <a:latin typeface="Arial" panose="020B0604020202020204" pitchFamily="34" charset="0"/>
              </a:rPr>
              <a:t>,</a:t>
            </a:r>
            <a:r>
              <a:rPr lang="zh-CN" altLang="en-US" sz="4000" b="0" i="0" dirty="0">
                <a:solidFill>
                  <a:srgbClr val="333333"/>
                </a:solidFill>
                <a:effectLst/>
                <a:latin typeface="Arial" panose="020B0604020202020204" pitchFamily="34" charset="0"/>
              </a:rPr>
              <a:t>服務器需要維護多個計數器</a:t>
            </a:r>
            <a:r>
              <a:rPr lang="en-US" altLang="zh-CN" sz="4000" b="0" i="0" dirty="0">
                <a:solidFill>
                  <a:srgbClr val="333333"/>
                </a:solidFill>
                <a:effectLst/>
                <a:latin typeface="Arial" panose="020B0604020202020204" pitchFamily="34" charset="0"/>
              </a:rPr>
              <a:t>,</a:t>
            </a:r>
            <a:r>
              <a:rPr lang="zh-CN" altLang="en-US" sz="4000" b="0" i="0" dirty="0">
                <a:solidFill>
                  <a:srgbClr val="333333"/>
                </a:solidFill>
                <a:effectLst/>
                <a:latin typeface="Arial" panose="020B0604020202020204" pitchFamily="34" charset="0"/>
              </a:rPr>
              <a:t>幷不斷檢查碰撞</a:t>
            </a:r>
            <a:r>
              <a:rPr lang="en-US" altLang="zh-CN" sz="4000" b="0" i="0" dirty="0">
                <a:solidFill>
                  <a:srgbClr val="333333"/>
                </a:solidFill>
                <a:effectLst/>
                <a:latin typeface="Arial" panose="020B0604020202020204" pitchFamily="34" charset="0"/>
              </a:rPr>
              <a:t>,</a:t>
            </a:r>
            <a:r>
              <a:rPr lang="zh-CN" altLang="en-US" sz="4000" b="0" i="0" dirty="0">
                <a:solidFill>
                  <a:srgbClr val="333333"/>
                </a:solidFill>
                <a:effectLst/>
                <a:latin typeface="Arial" panose="020B0604020202020204" pitchFamily="34" charset="0"/>
              </a:rPr>
              <a:t> 不選擇已經分配一個</a:t>
            </a:r>
            <a:r>
              <a:rPr lang="en-US" altLang="zh-CN" sz="4000" b="0" i="0" dirty="0">
                <a:solidFill>
                  <a:srgbClr val="333333"/>
                </a:solidFill>
                <a:effectLst/>
                <a:latin typeface="Arial" panose="020B0604020202020204" pitchFamily="34" charset="0"/>
              </a:rPr>
              <a:t>IP ID</a:t>
            </a:r>
            <a:r>
              <a:rPr lang="zh-CN" altLang="en-US" sz="4000" b="0" i="0" dirty="0">
                <a:solidFill>
                  <a:srgbClr val="333333"/>
                </a:solidFill>
                <a:effectLst/>
                <a:latin typeface="Arial" panose="020B0604020202020204" pitchFamily="34" charset="0"/>
              </a:rPr>
              <a:t>。</a:t>
            </a:r>
            <a:r>
              <a:rPr lang="zh-CN" altLang="en-US" sz="5400" b="0" i="0" dirty="0">
                <a:solidFill>
                  <a:srgbClr val="333333"/>
                </a:solidFill>
                <a:effectLst/>
                <a:latin typeface="Arial" panose="020B0604020202020204" pitchFamily="34" charset="0"/>
              </a:rPr>
              <a:t>攻擊者可以通過發送多個</a:t>
            </a:r>
            <a:r>
              <a:rPr lang="en-US" altLang="zh-CN" sz="5400" b="0" i="0" dirty="0">
                <a:solidFill>
                  <a:srgbClr val="333333"/>
                </a:solidFill>
                <a:effectLst/>
                <a:latin typeface="Arial" panose="020B0604020202020204" pitchFamily="34" charset="0"/>
              </a:rPr>
              <a:t>IP ID</a:t>
            </a:r>
            <a:r>
              <a:rPr lang="zh-CN" altLang="en-US" sz="5400" b="0" i="0" dirty="0">
                <a:solidFill>
                  <a:srgbClr val="333333"/>
                </a:solidFill>
                <a:effectLst/>
                <a:latin typeface="Arial" panose="020B0604020202020204" pitchFamily="34" charset="0"/>
              </a:rPr>
              <a:t>值不同的分片來增加成功的概率。假設有一個無限大小的分片整理緩存，如果攻擊者發送</a:t>
            </a:r>
            <a:r>
              <a:rPr lang="en-US" altLang="zh-CN" sz="5400" b="0" i="0" dirty="0">
                <a:solidFill>
                  <a:srgbClr val="333333"/>
                </a:solidFill>
                <a:effectLst/>
                <a:latin typeface="Arial" panose="020B0604020202020204" pitchFamily="34" charset="0"/>
              </a:rPr>
              <a:t>2^16</a:t>
            </a:r>
            <a:r>
              <a:rPr lang="zh-CN" altLang="en-US" sz="5400" b="0" i="0" dirty="0">
                <a:solidFill>
                  <a:srgbClr val="333333"/>
                </a:solidFill>
                <a:effectLst/>
                <a:latin typeface="Arial" panose="020B0604020202020204" pitchFamily="34" charset="0"/>
              </a:rPr>
              <a:t>個分片，其成功概率爲</a:t>
            </a:r>
            <a:r>
              <a:rPr lang="en-US" altLang="zh-CN" sz="5400" b="0" i="0" dirty="0">
                <a:solidFill>
                  <a:srgbClr val="333333"/>
                </a:solidFill>
                <a:effectLst/>
                <a:latin typeface="Arial" panose="020B0604020202020204" pitchFamily="34" charset="0"/>
              </a:rPr>
              <a:t>1</a:t>
            </a:r>
            <a:r>
              <a:rPr lang="zh-CN" altLang="en-US" sz="5400" b="0" i="0" dirty="0">
                <a:solidFill>
                  <a:srgbClr val="333333"/>
                </a:solidFill>
                <a:effectLst/>
                <a:latin typeface="Arial" panose="020B0604020202020204" pitchFamily="34" charset="0"/>
              </a:rPr>
              <a:t>。然而，現有的操作系統限制了可以發送的片段的數量，例如，</a:t>
            </a:r>
            <a:r>
              <a:rPr lang="en-US" altLang="zh-CN" sz="5400" b="0" i="0" dirty="0">
                <a:solidFill>
                  <a:srgbClr val="333333"/>
                </a:solidFill>
                <a:effectLst/>
                <a:latin typeface="Arial" panose="020B0604020202020204" pitchFamily="34" charset="0"/>
              </a:rPr>
              <a:t>Windows</a:t>
            </a:r>
            <a:r>
              <a:rPr lang="zh-CN" altLang="en-US" sz="5400" b="0" i="0" dirty="0">
                <a:solidFill>
                  <a:srgbClr val="333333"/>
                </a:solidFill>
                <a:effectLst/>
                <a:latin typeface="Arial" panose="020B0604020202020204" pitchFamily="34" charset="0"/>
              </a:rPr>
              <a:t>的版本爲</a:t>
            </a:r>
            <a:r>
              <a:rPr lang="en-US" altLang="zh-CN" sz="5400" b="0" i="0" dirty="0">
                <a:solidFill>
                  <a:srgbClr val="333333"/>
                </a:solidFill>
                <a:effectLst/>
                <a:latin typeface="Arial" panose="020B0604020202020204" pitchFamily="34" charset="0"/>
              </a:rPr>
              <a:t>100</a:t>
            </a:r>
            <a:r>
              <a:rPr lang="zh-CN" altLang="en-US" sz="5400" b="0" i="0" dirty="0">
                <a:solidFill>
                  <a:srgbClr val="333333"/>
                </a:solidFill>
                <a:effectLst/>
                <a:latin typeface="Arial" panose="020B0604020202020204" pitchFamily="34" charset="0"/>
              </a:rPr>
              <a:t>個，最近的</a:t>
            </a:r>
            <a:r>
              <a:rPr lang="en-US" altLang="zh-CN" sz="5400" b="0" i="0" dirty="0">
                <a:solidFill>
                  <a:srgbClr val="333333"/>
                </a:solidFill>
                <a:effectLst/>
                <a:latin typeface="Arial" panose="020B0604020202020204" pitchFamily="34" charset="0"/>
              </a:rPr>
              <a:t>Linux</a:t>
            </a:r>
            <a:r>
              <a:rPr lang="zh-CN" altLang="en-US" sz="5400" b="0" i="0" dirty="0">
                <a:solidFill>
                  <a:srgbClr val="333333"/>
                </a:solidFill>
                <a:effectLst/>
                <a:latin typeface="Arial" panose="020B0604020202020204" pitchFamily="34" charset="0"/>
              </a:rPr>
              <a:t>版本爲</a:t>
            </a:r>
            <a:r>
              <a:rPr lang="en-US" altLang="zh-CN" sz="5400" b="0" i="0" dirty="0">
                <a:solidFill>
                  <a:srgbClr val="333333"/>
                </a:solidFill>
                <a:effectLst/>
                <a:latin typeface="Arial" panose="020B0604020202020204" pitchFamily="34" charset="0"/>
              </a:rPr>
              <a:t>64</a:t>
            </a:r>
            <a:r>
              <a:rPr lang="zh-CN" altLang="en-US" sz="5400" b="0" i="0" dirty="0">
                <a:solidFill>
                  <a:srgbClr val="333333"/>
                </a:solidFill>
                <a:effectLst/>
                <a:latin typeface="Arial" panose="020B0604020202020204" pitchFamily="34" charset="0"/>
              </a:rPr>
              <a:t>個，舊版本允許數千個片段</a:t>
            </a:r>
            <a:endParaRPr lang="zh-CN" altLang="en-US" sz="2800" b="0" i="0" dirty="0">
              <a:solidFill>
                <a:srgbClr val="333333"/>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007700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Keyu Man</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等人通過側信道實現</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UDP</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端口掃描，先試出端口號，再猜測交易號將需要猜測的</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32</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位數據（</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1/2</a:t>
            </a:r>
            <a:r>
              <a:rPr kumimoji="0" lang="en-US" altLang="zh-CN" sz="1800" b="0" i="0" u="none" strike="noStrike" cap="none" normalizeH="0" baseline="3000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32</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）進一步降低至</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16</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a:t>
            </a: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1/2</a:t>
            </a:r>
            <a:r>
              <a:rPr lang="en-US" altLang="zh-CN" sz="1800" baseline="30000" dirty="0">
                <a:latin typeface="微软雅黑" panose="020B0503020204020204" pitchFamily="34" charset="-122"/>
                <a:ea typeface="微软雅黑" panose="020B0503020204020204" pitchFamily="34" charset="-122"/>
                <a:cs typeface="Times New Roman" panose="02020603050405020304" pitchFamily="18" charset="0"/>
              </a:rPr>
              <a:t>16</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），能够在幾分鐘內成功實現攻擊</a:t>
            </a:r>
            <a:endPar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Arial" panose="020B0604020202020204" pitchFamily="34" charset="0"/>
              </a:rPr>
              <a:t>爲了克服源端口的隨機性，以每秒最多</a:t>
            </a:r>
            <a:r>
              <a:rPr lang="en-US" altLang="zh-CN" b="0" i="0" dirty="0">
                <a:solidFill>
                  <a:srgbClr val="333333"/>
                </a:solidFill>
                <a:effectLst/>
                <a:latin typeface="Arial" panose="020B0604020202020204" pitchFamily="34" charset="0"/>
              </a:rPr>
              <a:t>1000</a:t>
            </a:r>
            <a:r>
              <a:rPr lang="zh-CN" altLang="en-US" b="0" i="0" dirty="0">
                <a:solidFill>
                  <a:srgbClr val="333333"/>
                </a:solidFill>
                <a:effectLst/>
                <a:latin typeface="Arial" panose="020B0604020202020204" pitchFamily="34" charset="0"/>
              </a:rPr>
              <a:t>次猜測的速度，在網絡堆棧中利用一種新穎的、通用的側通道來掃描和發現哪些源端口被用于發起</a:t>
            </a:r>
            <a:r>
              <a:rPr lang="en-US" altLang="zh-CN" b="0" i="0" dirty="0">
                <a:solidFill>
                  <a:srgbClr val="333333"/>
                </a:solidFill>
                <a:effectLst/>
                <a:latin typeface="Arial" panose="020B0604020202020204" pitchFamily="34" charset="0"/>
              </a:rPr>
              <a:t>DNS</a:t>
            </a:r>
            <a:r>
              <a:rPr lang="zh-CN" altLang="en-US" b="0" i="0" dirty="0">
                <a:solidFill>
                  <a:srgbClr val="333333"/>
                </a:solidFill>
                <a:effectLst/>
                <a:latin typeface="Arial" panose="020B0604020202020204" pitchFamily="34" charset="0"/>
              </a:rPr>
              <a:t>查詢，幷將時間限制延長到</a:t>
            </a:r>
            <a:r>
              <a:rPr lang="en-US" altLang="zh-CN" b="0" i="0" dirty="0">
                <a:solidFill>
                  <a:srgbClr val="333333"/>
                </a:solidFill>
                <a:effectLst/>
                <a:latin typeface="Arial" panose="020B0604020202020204" pitchFamily="34" charset="0"/>
              </a:rPr>
              <a:t>10S</a:t>
            </a:r>
            <a:r>
              <a:rPr lang="zh-CN" altLang="en-US" b="0" i="0" dirty="0">
                <a:solidFill>
                  <a:srgbClr val="333333"/>
                </a:solidFill>
                <a:effectLst/>
                <a:latin typeface="Arial" panose="020B0604020202020204" pitchFamily="34" charset="0"/>
              </a:rPr>
              <a:t>甚至更長</a:t>
            </a:r>
            <a:endParaRPr lang="en-US" altLang="zh-CN" b="0" i="0" dirty="0">
              <a:solidFill>
                <a:srgbClr val="333333"/>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333333"/>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Arial" panose="020B0604020202020204" pitchFamily="34" charset="0"/>
              </a:rPr>
              <a:t>圖</a:t>
            </a:r>
            <a:r>
              <a:rPr lang="en-US" altLang="zh-CN" b="0" i="0" dirty="0">
                <a:solidFill>
                  <a:srgbClr val="333333"/>
                </a:solidFill>
                <a:effectLst/>
                <a:latin typeface="Arial" panose="020B0604020202020204" pitchFamily="34" charset="0"/>
              </a:rPr>
              <a:t>7</a:t>
            </a:r>
            <a:r>
              <a:rPr lang="zh-CN" altLang="en-US" b="0" i="0" dirty="0">
                <a:solidFill>
                  <a:srgbClr val="333333"/>
                </a:solidFill>
                <a:effectLst/>
                <a:latin typeface="Arial" panose="020B0604020202020204" pitchFamily="34" charset="0"/>
              </a:rPr>
              <a:t>聲稱</a:t>
            </a:r>
            <a:r>
              <a:rPr lang="en-US" altLang="zh-CN" b="0" i="0" dirty="0">
                <a:solidFill>
                  <a:srgbClr val="333333"/>
                </a:solidFill>
                <a:effectLst/>
                <a:latin typeface="Arial" panose="020B0604020202020204" pitchFamily="34" charset="0"/>
              </a:rPr>
              <a:t>www.victim.com</a:t>
            </a:r>
            <a:r>
              <a:rPr lang="zh-CN" altLang="en-US" b="0" i="0" dirty="0">
                <a:solidFill>
                  <a:srgbClr val="333333"/>
                </a:solidFill>
                <a:effectLst/>
                <a:latin typeface="Arial" panose="020B0604020202020204" pitchFamily="34" charset="0"/>
              </a:rPr>
              <a:t>是一個獨立的區域，有自己的權威服務器</a:t>
            </a:r>
            <a:r>
              <a:rPr lang="en-US" altLang="zh-CN" b="0" i="0" dirty="0">
                <a:solidFill>
                  <a:srgbClr val="333333"/>
                </a:solidFill>
                <a:effectLst/>
                <a:latin typeface="Arial" panose="020B0604020202020204" pitchFamily="34" charset="0"/>
              </a:rPr>
              <a:t>ns.attacker.com</a:t>
            </a:r>
            <a:r>
              <a:rPr lang="zh-CN" altLang="en-US" b="0" i="0" dirty="0">
                <a:solidFill>
                  <a:srgbClr val="333333"/>
                </a:solidFill>
                <a:effectLst/>
                <a:latin typeface="Arial" panose="020B0604020202020204" pitchFamily="34" charset="0"/>
              </a:rPr>
              <a:t>。在原始緩存的記錄過期之後，解析器將查詢</a:t>
            </a:r>
            <a:r>
              <a:rPr lang="en-US" altLang="zh-CN" b="0" i="0" dirty="0">
                <a:solidFill>
                  <a:srgbClr val="333333"/>
                </a:solidFill>
                <a:effectLst/>
                <a:latin typeface="Arial" panose="020B0604020202020204" pitchFamily="34" charset="0"/>
              </a:rPr>
              <a:t>ns.attacker.com</a:t>
            </a:r>
            <a:r>
              <a:rPr lang="zh-CN" altLang="en-US" b="0" i="0" dirty="0">
                <a:solidFill>
                  <a:srgbClr val="333333"/>
                </a:solidFill>
                <a:effectLst/>
                <a:latin typeface="Arial" panose="020B0604020202020204" pitchFamily="34" charset="0"/>
              </a:rPr>
              <a:t>，以獲取將來請求</a:t>
            </a:r>
            <a:r>
              <a:rPr lang="en-US" altLang="zh-CN" b="0" i="0" dirty="0">
                <a:solidFill>
                  <a:srgbClr val="333333"/>
                </a:solidFill>
                <a:effectLst/>
                <a:latin typeface="Arial" panose="020B0604020202020204" pitchFamily="34" charset="0"/>
              </a:rPr>
              <a:t>www.victim.com</a:t>
            </a:r>
            <a:r>
              <a:rPr lang="zh-CN" altLang="en-US" b="0" i="0" dirty="0">
                <a:solidFill>
                  <a:srgbClr val="333333"/>
                </a:solidFill>
                <a:effectLst/>
                <a:latin typeface="Arial" panose="020B0604020202020204" pitchFamily="34" charset="0"/>
              </a:rPr>
              <a:t>記錄的所有請求。這是因爲攻擊有效地插入了</a:t>
            </a:r>
            <a:r>
              <a:rPr lang="en-US" altLang="zh-CN" b="0" i="0" dirty="0">
                <a:solidFill>
                  <a:srgbClr val="333333"/>
                </a:solidFill>
                <a:effectLst/>
                <a:latin typeface="Arial" panose="020B0604020202020204" pitchFamily="34" charset="0"/>
              </a:rPr>
              <a:t>www.victim.com</a:t>
            </a:r>
            <a:r>
              <a:rPr lang="zh-CN" altLang="en-US" b="0" i="0" dirty="0">
                <a:solidFill>
                  <a:srgbClr val="333333"/>
                </a:solidFill>
                <a:effectLst/>
                <a:latin typeface="Arial" panose="020B0604020202020204" pitchFamily="34" charset="0"/>
              </a:rPr>
              <a:t>區域的新的</a:t>
            </a:r>
            <a:r>
              <a:rPr lang="en-US" altLang="zh-CN" b="0" i="0" dirty="0">
                <a:solidFill>
                  <a:srgbClr val="333333"/>
                </a:solidFill>
                <a:effectLst/>
                <a:latin typeface="Arial" panose="020B0604020202020204" pitchFamily="34" charset="0"/>
              </a:rPr>
              <a:t>NS</a:t>
            </a:r>
            <a:r>
              <a:rPr lang="zh-CN" altLang="en-US" b="0" i="0" dirty="0">
                <a:solidFill>
                  <a:srgbClr val="333333"/>
                </a:solidFill>
                <a:effectLst/>
                <a:latin typeface="Arial" panose="020B0604020202020204" pitchFamily="34" charset="0"/>
              </a:rPr>
              <a:t>記錄。而且，解析器在設計上建議使用它在緩存中擁有的最精確的授權，在本例中是</a:t>
            </a:r>
            <a:r>
              <a:rPr lang="en-US" altLang="zh-CN" b="0" i="0" dirty="0">
                <a:solidFill>
                  <a:srgbClr val="333333"/>
                </a:solidFill>
                <a:effectLst/>
                <a:latin typeface="Arial" panose="020B0604020202020204" pitchFamily="34" charset="0"/>
              </a:rPr>
              <a:t>www.victim.com</a:t>
            </a:r>
            <a:r>
              <a:rPr lang="zh-CN" altLang="en-US" b="0" i="0" dirty="0">
                <a:solidFill>
                  <a:srgbClr val="333333"/>
                </a:solidFill>
                <a:effectLst/>
                <a:latin typeface="Arial" panose="020B0604020202020204" pitchFamily="34" charset="0"/>
              </a:rPr>
              <a:t>的</a:t>
            </a:r>
            <a:r>
              <a:rPr lang="en-US" altLang="zh-CN" b="0" i="0" dirty="0">
                <a:solidFill>
                  <a:srgbClr val="333333"/>
                </a:solidFill>
                <a:effectLst/>
                <a:latin typeface="Arial" panose="020B0604020202020204" pitchFamily="34" charset="0"/>
              </a:rPr>
              <a:t>NS</a:t>
            </a:r>
            <a:r>
              <a:rPr lang="zh-CN" altLang="en-US" b="0" i="0" dirty="0">
                <a:solidFill>
                  <a:srgbClr val="333333"/>
                </a:solidFill>
                <a:effectLst/>
                <a:latin typeface="Arial" panose="020B0604020202020204" pitchFamily="34" charset="0"/>
              </a:rPr>
              <a:t>記錄，而不是</a:t>
            </a:r>
            <a:r>
              <a:rPr lang="en-US" altLang="zh-CN" b="0" i="0" dirty="0">
                <a:solidFill>
                  <a:srgbClr val="333333"/>
                </a:solidFill>
                <a:effectLst/>
                <a:latin typeface="Arial" panose="020B0604020202020204" pitchFamily="34" charset="0"/>
              </a:rPr>
              <a:t>victim.com</a:t>
            </a:r>
            <a:r>
              <a:rPr lang="zh-CN" altLang="en-US" b="0" i="0" dirty="0">
                <a:solidFill>
                  <a:srgbClr val="333333"/>
                </a:solidFill>
                <a:effectLst/>
                <a:latin typeface="Arial" panose="020B0604020202020204" pitchFamily="34" charset="0"/>
              </a:rPr>
              <a:t>的記錄</a:t>
            </a:r>
            <a:endParaRPr lang="en-US" altLang="zh-CN" b="0" i="0" dirty="0">
              <a:solidFill>
                <a:srgbClr val="333333"/>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333333"/>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Arial" panose="020B0604020202020204" pitchFamily="34" charset="0"/>
              </a:rPr>
              <a:t>在表三第一個實驗獲得了完美的</a:t>
            </a:r>
            <a:r>
              <a:rPr lang="en-US" altLang="zh-CN" b="0" i="0" dirty="0">
                <a:solidFill>
                  <a:srgbClr val="333333"/>
                </a:solidFill>
                <a:effectLst/>
                <a:latin typeface="Arial" panose="020B0604020202020204" pitchFamily="34" charset="0"/>
              </a:rPr>
              <a:t>100%</a:t>
            </a:r>
            <a:r>
              <a:rPr lang="zh-CN" altLang="en-US" b="0" i="0" dirty="0">
                <a:solidFill>
                  <a:srgbClr val="333333"/>
                </a:solidFill>
                <a:effectLst/>
                <a:latin typeface="Arial" panose="020B0604020202020204" pitchFamily="34" charset="0"/>
              </a:rPr>
              <a:t>成功率，平均成功時間爲</a:t>
            </a:r>
            <a:r>
              <a:rPr lang="en-US" altLang="zh-CN" b="0" i="0" dirty="0">
                <a:solidFill>
                  <a:srgbClr val="333333"/>
                </a:solidFill>
                <a:effectLst/>
                <a:latin typeface="Arial" panose="020B0604020202020204" pitchFamily="34" charset="0"/>
              </a:rPr>
              <a:t>504s</a:t>
            </a:r>
            <a:r>
              <a:rPr lang="zh-CN" altLang="en-US" b="0" i="0" dirty="0">
                <a:solidFill>
                  <a:srgbClr val="333333"/>
                </a:solidFill>
                <a:effectLst/>
                <a:latin typeface="Arial" panose="020B0604020202020204" pitchFamily="34" charset="0"/>
              </a:rPr>
              <a:t>。對于改變後的實驗，我們也達到了</a:t>
            </a:r>
            <a:r>
              <a:rPr lang="en-US" altLang="zh-CN" b="0" i="0" dirty="0">
                <a:solidFill>
                  <a:srgbClr val="333333"/>
                </a:solidFill>
                <a:effectLst/>
                <a:latin typeface="Arial" panose="020B0604020202020204" pitchFamily="34" charset="0"/>
              </a:rPr>
              <a:t>100%</a:t>
            </a:r>
            <a:r>
              <a:rPr lang="zh-CN" altLang="en-US" b="0" i="0" dirty="0">
                <a:solidFill>
                  <a:srgbClr val="333333"/>
                </a:solidFill>
                <a:effectLst/>
                <a:latin typeface="Arial" panose="020B0604020202020204" pitchFamily="34" charset="0"/>
              </a:rPr>
              <a:t>的完美成功率。具體來說，五次攻擊的成功時間分別爲</a:t>
            </a:r>
            <a:r>
              <a:rPr lang="en-US" altLang="zh-CN" b="0" i="0" dirty="0">
                <a:solidFill>
                  <a:srgbClr val="333333"/>
                </a:solidFill>
                <a:effectLst/>
                <a:latin typeface="Arial" panose="020B0604020202020204" pitchFamily="34" charset="0"/>
              </a:rPr>
              <a:t>2005s</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538s</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792s</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1287s</a:t>
            </a:r>
            <a:r>
              <a:rPr lang="zh-CN" altLang="en-US" b="0" i="0" dirty="0">
                <a:solidFill>
                  <a:srgbClr val="333333"/>
                </a:solidFill>
                <a:effectLst/>
                <a:latin typeface="Arial" panose="020B0604020202020204" pitchFamily="34" charset="0"/>
              </a:rPr>
              <a:t>和</a:t>
            </a:r>
            <a:r>
              <a:rPr lang="en-US" altLang="zh-CN" b="0" i="0" dirty="0">
                <a:solidFill>
                  <a:srgbClr val="333333"/>
                </a:solidFill>
                <a:effectLst/>
                <a:latin typeface="Arial" panose="020B0604020202020204" pitchFamily="34" charset="0"/>
              </a:rPr>
              <a:t>29s</a:t>
            </a:r>
            <a:r>
              <a:rPr lang="zh-CN" altLang="en-US" b="0" i="0" dirty="0">
                <a:solidFill>
                  <a:srgbClr val="333333"/>
                </a:solidFill>
                <a:effectLst/>
                <a:latin typeface="Arial" panose="020B0604020202020204" pitchFamily="34" charset="0"/>
              </a:rPr>
              <a:t>。平均攻擊時間爲</a:t>
            </a:r>
            <a:r>
              <a:rPr lang="en-US" altLang="zh-CN" b="0" i="0" dirty="0">
                <a:solidFill>
                  <a:srgbClr val="333333"/>
                </a:solidFill>
                <a:effectLst/>
                <a:latin typeface="Arial" panose="020B0604020202020204" pitchFamily="34" charset="0"/>
              </a:rPr>
              <a:t>930s</a:t>
            </a:r>
            <a:r>
              <a:rPr lang="zh-CN" altLang="en-US" b="0" i="0" dirty="0">
                <a:solidFill>
                  <a:srgbClr val="333333"/>
                </a:solidFill>
                <a:effectLst/>
                <a:latin typeface="Arial" panose="020B0604020202020204" pitchFamily="34" charset="0"/>
              </a:rPr>
              <a:t>，産生流量</a:t>
            </a:r>
            <a:r>
              <a:rPr lang="en-US" altLang="zh-CN" b="0" i="0" dirty="0">
                <a:solidFill>
                  <a:srgbClr val="333333"/>
                </a:solidFill>
                <a:effectLst/>
                <a:latin typeface="Arial" panose="020B0604020202020204" pitchFamily="34" charset="0"/>
              </a:rPr>
              <a:t>131mb</a:t>
            </a:r>
            <a:r>
              <a:rPr lang="zh-CN" altLang="en-US" b="0" i="0" dirty="0">
                <a:solidFill>
                  <a:srgbClr val="333333"/>
                </a:solidFill>
                <a:effectLst/>
                <a:latin typeface="Arial" panose="020B0604020202020204" pitchFamily="34" charset="0"/>
              </a:rPr>
              <a:t>。</a:t>
            </a:r>
            <a:endParaRPr lang="en-US" altLang="zh-CN" b="0" i="0" dirty="0">
              <a:solidFill>
                <a:srgbClr val="333333"/>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333333"/>
                </a:solidFill>
                <a:effectLst/>
                <a:latin typeface="Arial" panose="020B0604020202020204" pitchFamily="34" charset="0"/>
              </a:rPr>
              <a:t>Base</a:t>
            </a:r>
            <a:r>
              <a:rPr lang="zh-CN" altLang="en-US" b="0" i="0" dirty="0">
                <a:solidFill>
                  <a:srgbClr val="333333"/>
                </a:solidFill>
                <a:effectLst/>
                <a:latin typeface="Arial" panose="020B0604020202020204" pitchFamily="34" charset="0"/>
              </a:rPr>
              <a:t>是基準實驗，</a:t>
            </a:r>
            <a:r>
              <a:rPr lang="en-US" altLang="zh-CN" b="0" i="0" dirty="0">
                <a:solidFill>
                  <a:srgbClr val="333333"/>
                </a:solidFill>
                <a:effectLst/>
                <a:latin typeface="Arial" panose="020B0604020202020204" pitchFamily="34" charset="0"/>
              </a:rPr>
              <a:t>D </a:t>
            </a:r>
            <a:r>
              <a:rPr lang="zh-CN" altLang="en-US" b="0" i="0" dirty="0">
                <a:solidFill>
                  <a:srgbClr val="333333"/>
                </a:solidFill>
                <a:effectLst/>
                <a:latin typeface="Arial" panose="020B0604020202020204" pitchFamily="34" charset="0"/>
              </a:rPr>
              <a:t>和</a:t>
            </a:r>
            <a:r>
              <a:rPr lang="en-US" altLang="zh-CN" b="0" i="0" dirty="0">
                <a:solidFill>
                  <a:srgbClr val="333333"/>
                </a:solidFill>
                <a:effectLst/>
                <a:latin typeface="Arial" panose="020B0604020202020204" pitchFamily="34" charset="0"/>
              </a:rPr>
              <a:t>M </a:t>
            </a:r>
            <a:r>
              <a:rPr lang="zh-CN" altLang="en-US" b="0" i="0" dirty="0">
                <a:solidFill>
                  <a:srgbClr val="333333"/>
                </a:solidFill>
                <a:effectLst/>
                <a:latin typeface="Arial" panose="020B0604020202020204" pitchFamily="34" charset="0"/>
              </a:rPr>
              <a:t>分別代表白天和晚上。 </a:t>
            </a:r>
            <a:r>
              <a:rPr lang="en-US" altLang="zh-CN" b="0" i="0" dirty="0">
                <a:solidFill>
                  <a:srgbClr val="333333"/>
                </a:solidFill>
                <a:effectLst/>
                <a:latin typeface="Arial" panose="020B0604020202020204" pitchFamily="34" charset="0"/>
              </a:rPr>
              <a:t>Mute</a:t>
            </a:r>
            <a:r>
              <a:rPr lang="zh-CN" altLang="en-US" b="0" i="0" dirty="0">
                <a:solidFill>
                  <a:srgbClr val="333333"/>
                </a:solidFill>
                <a:effectLst/>
                <a:latin typeface="Arial" panose="020B0604020202020204" pitchFamily="34" charset="0"/>
              </a:rPr>
              <a:t>代表正常回復的丟失率，即正常</a:t>
            </a:r>
            <a:r>
              <a:rPr lang="en-US" altLang="zh-CN" b="0" i="0" dirty="0">
                <a:solidFill>
                  <a:srgbClr val="333333"/>
                </a:solidFill>
                <a:effectLst/>
                <a:latin typeface="Arial" panose="020B0604020202020204" pitchFamily="34" charset="0"/>
              </a:rPr>
              <a:t>response</a:t>
            </a:r>
            <a:r>
              <a:rPr lang="zh-CN" altLang="en-US" b="0" i="0" dirty="0">
                <a:solidFill>
                  <a:srgbClr val="333333"/>
                </a:solidFill>
                <a:effectLst/>
                <a:latin typeface="Arial" panose="020B0604020202020204" pitchFamily="34" charset="0"/>
              </a:rPr>
              <a:t>中有多少回復成功，丟失率越低，攻擊就越難，因爲正常回復被接受的可能性越大。</a:t>
            </a:r>
            <a:endParaRPr lang="en-US" altLang="zh-CN" b="0" i="0" dirty="0">
              <a:solidFill>
                <a:srgbClr val="333333"/>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Arial" panose="020B0604020202020204" pitchFamily="34" charset="0"/>
              </a:rPr>
              <a:t>實驗分別在白天</a:t>
            </a:r>
            <a:r>
              <a:rPr lang="en-US" altLang="zh-CN" b="0" i="0" dirty="0">
                <a:solidFill>
                  <a:srgbClr val="333333"/>
                </a:solidFill>
                <a:effectLst/>
                <a:latin typeface="Arial" panose="020B0604020202020204" pitchFamily="34" charset="0"/>
              </a:rPr>
              <a:t>80%</a:t>
            </a:r>
            <a:r>
              <a:rPr lang="zh-CN" altLang="en-US" b="0" i="0" dirty="0">
                <a:solidFill>
                  <a:srgbClr val="333333"/>
                </a:solidFill>
                <a:effectLst/>
                <a:latin typeface="Arial" panose="020B0604020202020204" pitchFamily="34" charset="0"/>
              </a:rPr>
              <a:t>，夜晚</a:t>
            </a:r>
            <a:r>
              <a:rPr lang="en-US" altLang="zh-CN" b="0" i="0" dirty="0">
                <a:solidFill>
                  <a:srgbClr val="333333"/>
                </a:solidFill>
                <a:effectLst/>
                <a:latin typeface="Arial" panose="020B0604020202020204" pitchFamily="34" charset="0"/>
              </a:rPr>
              <a:t>80%</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75%</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66.7%</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50%</a:t>
            </a:r>
            <a:r>
              <a:rPr lang="zh-CN" altLang="en-US" b="0" i="0" dirty="0">
                <a:solidFill>
                  <a:srgbClr val="333333"/>
                </a:solidFill>
                <a:effectLst/>
                <a:latin typeface="Arial" panose="020B0604020202020204" pitchFamily="34" charset="0"/>
              </a:rPr>
              <a:t>丟失率的情况下進行。當丟失率在</a:t>
            </a:r>
            <a:r>
              <a:rPr lang="en-US" altLang="zh-CN" b="0" i="0" dirty="0">
                <a:solidFill>
                  <a:srgbClr val="333333"/>
                </a:solidFill>
                <a:effectLst/>
                <a:latin typeface="Arial" panose="020B0604020202020204" pitchFamily="34" charset="0"/>
              </a:rPr>
              <a:t>50%</a:t>
            </a:r>
            <a:r>
              <a:rPr lang="zh-CN" altLang="en-US" b="0" i="0" dirty="0">
                <a:solidFill>
                  <a:srgbClr val="333333"/>
                </a:solidFill>
                <a:effectLst/>
                <a:latin typeface="Arial" panose="020B0604020202020204" pitchFamily="34" charset="0"/>
              </a:rPr>
              <a:t>時，成功率降低。</a:t>
            </a:r>
            <a:endParaRPr lang="en-US" altLang="zh-CN" b="0" i="0" dirty="0">
              <a:solidFill>
                <a:srgbClr val="333333"/>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Altered</a:t>
            </a:r>
            <a:r>
              <a:rPr lang="zh-CN" altLang="en-US" dirty="0"/>
              <a:t>表示了攻擊者也會存在</a:t>
            </a:r>
            <a:r>
              <a:rPr lang="zh-CN" altLang="en-US" b="0" i="0" dirty="0">
                <a:solidFill>
                  <a:srgbClr val="333333"/>
                </a:solidFill>
                <a:effectLst/>
                <a:latin typeface="Arial" panose="020B0604020202020204" pitchFamily="34" charset="0"/>
              </a:rPr>
              <a:t>附加的延遲、抖動和數據包丟失的情况（</a:t>
            </a:r>
            <a:r>
              <a:rPr lang="en-US" altLang="zh-CN" b="0" i="0" dirty="0">
                <a:solidFill>
                  <a:srgbClr val="333333"/>
                </a:solidFill>
                <a:effectLst/>
                <a:latin typeface="Arial" panose="020B0604020202020204" pitchFamily="34" charset="0"/>
              </a:rPr>
              <a:t>20%</a:t>
            </a:r>
            <a:r>
              <a:rPr lang="zh-CN" altLang="en-US" b="0" i="0" dirty="0">
                <a:solidFill>
                  <a:srgbClr val="333333"/>
                </a:solidFill>
                <a:effectLst/>
                <a:latin typeface="Arial" panose="020B0604020202020204" pitchFamily="34" charset="0"/>
              </a:rPr>
              <a:t>），此時在域名服務器丟失率</a:t>
            </a:r>
            <a:r>
              <a:rPr lang="en-US" altLang="zh-CN" b="0" i="0" dirty="0">
                <a:solidFill>
                  <a:srgbClr val="333333"/>
                </a:solidFill>
                <a:effectLst/>
                <a:latin typeface="Arial" panose="020B0604020202020204" pitchFamily="34" charset="0"/>
              </a:rPr>
              <a:t>80%</a:t>
            </a:r>
            <a:r>
              <a:rPr lang="zh-CN" altLang="en-US" b="0" i="0" dirty="0">
                <a:solidFill>
                  <a:srgbClr val="333333"/>
                </a:solidFill>
                <a:effectLst/>
                <a:latin typeface="Arial" panose="020B0604020202020204" pitchFamily="34" charset="0"/>
              </a:rPr>
              <a:t>時，也能實現</a:t>
            </a:r>
            <a:r>
              <a:rPr lang="en-US" altLang="zh-CN" b="0" i="0" dirty="0">
                <a:solidFill>
                  <a:srgbClr val="333333"/>
                </a:solidFill>
                <a:effectLst/>
                <a:latin typeface="Arial" panose="020B0604020202020204" pitchFamily="34" charset="0"/>
              </a:rPr>
              <a:t>100%</a:t>
            </a:r>
            <a:r>
              <a:rPr lang="zh-CN" altLang="en-US" b="0" i="0" dirty="0">
                <a:solidFill>
                  <a:srgbClr val="333333"/>
                </a:solidFill>
                <a:effectLst/>
                <a:latin typeface="Arial" panose="020B0604020202020204" pitchFamily="34" charset="0"/>
              </a:rPr>
              <a:t>的成功率。</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001201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759380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https://root-servers.org/media/news/Threat_Mitigation_For_the_Root_Server_System.pdf</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963337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798881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144858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5460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9.1 DNS</a:t>
            </a:r>
            <a:r>
              <a:rPr lang="zh-CN"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概述</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9.1.1 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的</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演進</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9.1.2 DNS</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域名</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結構</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與區域</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組織形式</a:t>
            </a: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9.2 DNS</a:t>
            </a:r>
            <a:r>
              <a:rPr lang="zh-CN"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請求過程</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9.2.1 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使用</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9.2.2 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請求過程</a:t>
            </a: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9.3 DNS</a:t>
            </a:r>
            <a:r>
              <a:rPr lang="zh-CN"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攻擊</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9.3.1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緩存中毒攻擊</a:t>
            </a:r>
          </a:p>
          <a:p>
            <a:pPr marL="30480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9.3.1.1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本地</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緩存中毒攻擊</a:t>
            </a:r>
          </a:p>
          <a:p>
            <a:pPr marL="30480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9.3.1.2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遠程</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緩存中毒攻擊</a:t>
            </a:r>
          </a:p>
          <a:p>
            <a:pPr marL="11049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 9.3.2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來自惡意</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服務器的</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回復僞造</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1049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 9.3.3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拒絕服務攻擊</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9.4 DNS</a:t>
            </a:r>
            <a:r>
              <a:rPr lang="zh-CN" altLang="en-US" sz="1800" b="1" kern="100" dirty="0">
                <a:latin typeface="Microsoft YaHei" panose="020B0503020204020204" pitchFamily="34" charset="-122"/>
                <a:ea typeface="Microsoft YaHei" panose="020B0503020204020204" pitchFamily="34" charset="-122"/>
                <a:cs typeface="Times New Roman" panose="02020603050405020304" pitchFamily="18" charset="0"/>
              </a:rPr>
              <a:t>攻擊預防策略</a:t>
            </a:r>
            <a:endPar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9.4.1 </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基于密碼技術</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   9.4.2 </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基于系統管理</a:t>
            </a:r>
            <a:endPar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9.5 </a:t>
            </a:r>
            <a:r>
              <a:rPr lang="zh-CN" altLang="en-US" sz="1800" b="1" kern="100" dirty="0">
                <a:latin typeface="Microsoft YaHei" panose="020B0503020204020204" pitchFamily="34" charset="-122"/>
                <a:ea typeface="Microsoft YaHei" panose="020B0503020204020204" pitchFamily="34" charset="-122"/>
                <a:cs typeface="Times New Roman" panose="02020603050405020304" pitchFamily="18" charset="0"/>
              </a:rPr>
              <a:t>典型案例分析</a:t>
            </a:r>
            <a:endParaRPr lang="zh-CN" altLang="zh-CN" sz="1800" b="1"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pPr marL="110490" indent="133350" algn="just"/>
            <a:endPar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208041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altLang="zh-CN" sz="1200" kern="0" dirty="0">
                <a:solidFill>
                  <a:srgbClr val="000000"/>
                </a:solidFill>
                <a:effectLst/>
                <a:latin typeface="微软雅黑" panose="020B0503020204020204" pitchFamily="34" charset="-122"/>
                <a:ea typeface="微软雅黑" panose="020B0503020204020204" pitchFamily="34" charset="-122"/>
                <a:cs typeface="TT7ADF8o00536922991"/>
              </a:rPr>
              <a:t>DNSSEC</a:t>
            </a:r>
            <a:r>
              <a:rPr lang="zh-CN" altLang="zh-CN" sz="12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在兼容現有協議基礎上引入公鑰加密</a:t>
            </a:r>
            <a:r>
              <a:rPr lang="x-none" altLang="zh-CN" sz="1200" kern="0" dirty="0">
                <a:solidFill>
                  <a:srgbClr val="000000"/>
                </a:solidFill>
                <a:effectLst/>
                <a:latin typeface="微软雅黑" panose="020B0503020204020204" pitchFamily="34" charset="-122"/>
                <a:ea typeface="微软雅黑" panose="020B0503020204020204" pitchFamily="34" charset="-122"/>
                <a:cs typeface="TT7ADF8o00536922991"/>
              </a:rPr>
              <a:t>/</a:t>
            </a:r>
            <a:r>
              <a:rPr lang="zh-CN" altLang="zh-CN" sz="12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認證體系，通過簽名提供端到端的數據真實性和完整性保護。主要功能包括：密鑰分發；數據完整性和原始性認證；事務和請求認證</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9781416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400" kern="0" dirty="0">
                <a:solidFill>
                  <a:srgbClr val="000000"/>
                </a:solidFill>
                <a:effectLst/>
                <a:latin typeface="微软雅黑" panose="020B0503020204020204" pitchFamily="34" charset="-122"/>
                <a:ea typeface="微软雅黑" panose="020B0503020204020204" pitchFamily="34" charset="-122"/>
                <a:cs typeface="TT7ADF8o00536922991"/>
              </a:rPr>
              <a:t>簽名過程原理</a:t>
            </a:r>
            <a:endParaRPr lang="en-US" altLang="zh-CN" sz="1400" kern="0" dirty="0">
              <a:solidFill>
                <a:srgbClr val="000000"/>
              </a:solidFill>
              <a:latin typeface="微软雅黑" panose="020B0503020204020204" pitchFamily="34" charset="-122"/>
              <a:ea typeface="微软雅黑" panose="020B0503020204020204" pitchFamily="34" charset="-122"/>
              <a:cs typeface="TT7ADF8o00536922991"/>
            </a:endParaRPr>
          </a:p>
          <a:p>
            <a:endParaRPr lang="en-US" altLang="zh-CN" sz="1200" kern="0" dirty="0">
              <a:solidFill>
                <a:srgbClr val="000000"/>
              </a:solidFill>
              <a:effectLst/>
              <a:latin typeface="微软雅黑" panose="020B0503020204020204" pitchFamily="34" charset="-122"/>
              <a:ea typeface="微软雅黑" panose="020B0503020204020204" pitchFamily="34" charset="-122"/>
              <a:cs typeface="TT7ADF8o00536922991"/>
            </a:endParaRPr>
          </a:p>
          <a:p>
            <a:r>
              <a:rPr lang="zh-CN" altLang="en-US" sz="1200" kern="0" dirty="0">
                <a:solidFill>
                  <a:srgbClr val="000000"/>
                </a:solidFill>
                <a:effectLst/>
                <a:latin typeface="微软雅黑" panose="020B0503020204020204" pitchFamily="34" charset="-122"/>
                <a:ea typeface="微软雅黑" panose="020B0503020204020204" pitchFamily="34" charset="-122"/>
                <a:cs typeface="TT7ADF8o00536922991"/>
              </a:rPr>
              <a:t>在域名服務器收到域名注册數據後，用散列函數將要回復 </a:t>
            </a:r>
            <a:r>
              <a:rPr lang="en-US" altLang="zh-CN" sz="1200" kern="0" dirty="0">
                <a:solidFill>
                  <a:srgbClr val="000000"/>
                </a:solidFill>
                <a:effectLst/>
                <a:latin typeface="微软雅黑" panose="020B0503020204020204" pitchFamily="34" charset="-122"/>
                <a:ea typeface="微软雅黑" panose="020B0503020204020204" pitchFamily="34" charset="-122"/>
                <a:cs typeface="TT7ADF8o00536922991"/>
              </a:rPr>
              <a:t>DNS </a:t>
            </a:r>
            <a:r>
              <a:rPr lang="zh-CN" altLang="en-US" sz="1200" kern="0" dirty="0">
                <a:solidFill>
                  <a:srgbClr val="000000"/>
                </a:solidFill>
                <a:effectLst/>
                <a:latin typeface="微软雅黑" panose="020B0503020204020204" pitchFamily="34" charset="-122"/>
                <a:ea typeface="微软雅黑" panose="020B0503020204020204" pitchFamily="34" charset="-122"/>
                <a:cs typeface="TT7ADF8o00536922991"/>
              </a:rPr>
              <a:t>報文的內容進行散列運算， 得到 “內容摘要”，然後使用私鑰對其加密，幷將加密後的信息附加到</a:t>
            </a:r>
            <a:r>
              <a:rPr lang="en-US" altLang="zh-CN" sz="1200" kern="0" dirty="0">
                <a:solidFill>
                  <a:srgbClr val="000000"/>
                </a:solidFill>
                <a:effectLst/>
                <a:latin typeface="微软雅黑" panose="020B0503020204020204" pitchFamily="34" charset="-122"/>
                <a:ea typeface="微软雅黑" panose="020B0503020204020204" pitchFamily="34" charset="-122"/>
                <a:cs typeface="TT7ADF8o00536922991"/>
              </a:rPr>
              <a:t>DNS </a:t>
            </a:r>
            <a:r>
              <a:rPr lang="zh-CN" altLang="en-US" sz="1200" kern="0" dirty="0">
                <a:solidFill>
                  <a:srgbClr val="000000"/>
                </a:solidFill>
                <a:effectLst/>
                <a:latin typeface="微软雅黑" panose="020B0503020204020204" pitchFamily="34" charset="-122"/>
                <a:ea typeface="微软雅黑" panose="020B0503020204020204" pitchFamily="34" charset="-122"/>
                <a:cs typeface="TT7ADF8o00536922991"/>
              </a:rPr>
              <a:t>報文中</a:t>
            </a:r>
            <a:endParaRPr lang="en-US" altLang="zh-CN" sz="1200" kern="0" dirty="0">
              <a:solidFill>
                <a:srgbClr val="000000"/>
              </a:solidFill>
              <a:effectLst/>
              <a:latin typeface="微软雅黑" panose="020B0503020204020204" pitchFamily="34" charset="-122"/>
              <a:ea typeface="微软雅黑" panose="020B0503020204020204" pitchFamily="34" charset="-122"/>
              <a:cs typeface="TT7ADF8o00536922991"/>
            </a:endParaRPr>
          </a:p>
          <a:p>
            <a:endParaRPr lang="en-US" altLang="zh-CN" sz="1200" kern="0" dirty="0">
              <a:solidFill>
                <a:srgbClr val="000000"/>
              </a:solidFill>
              <a:effectLst/>
              <a:latin typeface="微软雅黑" panose="020B0503020204020204" pitchFamily="34" charset="-122"/>
              <a:ea typeface="微软雅黑" panose="020B0503020204020204" pitchFamily="34" charset="-122"/>
              <a:cs typeface="TT7ADF8o00536922991"/>
            </a:endParaRPr>
          </a:p>
          <a:p>
            <a:r>
              <a:rPr lang="zh-CN" altLang="en-US" sz="1400" kern="0" dirty="0">
                <a:solidFill>
                  <a:srgbClr val="000000"/>
                </a:solidFill>
                <a:effectLst/>
                <a:latin typeface="微软雅黑" panose="020B0503020204020204" pitchFamily="34" charset="-122"/>
                <a:ea typeface="微软雅黑" panose="020B0503020204020204" pitchFamily="34" charset="-122"/>
                <a:cs typeface="TT7ADF8o00536922991"/>
              </a:rPr>
              <a:t>驗證過程原理</a:t>
            </a:r>
            <a:endParaRPr lang="en-US" altLang="zh-CN" sz="1400" kern="0" dirty="0">
              <a:solidFill>
                <a:srgbClr val="000000"/>
              </a:solidFill>
              <a:effectLst/>
              <a:latin typeface="微软雅黑" panose="020B0503020204020204" pitchFamily="34" charset="-122"/>
              <a:ea typeface="微软雅黑" panose="020B0503020204020204" pitchFamily="34" charset="-122"/>
              <a:cs typeface="TT7ADF8o00536922991"/>
            </a:endParaRPr>
          </a:p>
          <a:p>
            <a:endParaRPr lang="en-US" altLang="zh-CN" sz="1200" kern="0" dirty="0">
              <a:solidFill>
                <a:srgbClr val="000000"/>
              </a:solidFill>
              <a:effectLst/>
              <a:latin typeface="微软雅黑" panose="020B0503020204020204" pitchFamily="34" charset="-122"/>
              <a:ea typeface="微软雅黑" panose="020B0503020204020204" pitchFamily="34" charset="-122"/>
              <a:cs typeface="TT7ADF8o00536922991"/>
            </a:endParaRPr>
          </a:p>
          <a:p>
            <a:r>
              <a:rPr lang="zh-CN" altLang="en-US" sz="1200" kern="0" dirty="0">
                <a:solidFill>
                  <a:srgbClr val="000000"/>
                </a:solidFill>
                <a:effectLst/>
                <a:latin typeface="微软雅黑" panose="020B0503020204020204" pitchFamily="34" charset="-122"/>
                <a:ea typeface="微软雅黑" panose="020B0503020204020204" pitchFamily="34" charset="-122"/>
                <a:cs typeface="TT7ADF8o00536922991"/>
              </a:rPr>
              <a:t>遞歸服務器收到 </a:t>
            </a:r>
            <a:r>
              <a:rPr lang="en-US" altLang="zh-CN" sz="1200" kern="0" dirty="0">
                <a:solidFill>
                  <a:srgbClr val="000000"/>
                </a:solidFill>
                <a:effectLst/>
                <a:latin typeface="微软雅黑" panose="020B0503020204020204" pitchFamily="34" charset="-122"/>
                <a:ea typeface="微软雅黑" panose="020B0503020204020204" pitchFamily="34" charset="-122"/>
                <a:cs typeface="TT7ADF8o00536922991"/>
              </a:rPr>
              <a:t>DNSSEC </a:t>
            </a:r>
            <a:r>
              <a:rPr lang="zh-CN" altLang="en-US" sz="1200" kern="0" dirty="0">
                <a:solidFill>
                  <a:srgbClr val="000000"/>
                </a:solidFill>
                <a:effectLst/>
                <a:latin typeface="微软雅黑" panose="020B0503020204020204" pitchFamily="34" charset="-122"/>
                <a:ea typeface="微软雅黑" panose="020B0503020204020204" pitchFamily="34" charset="-122"/>
                <a:cs typeface="TT7ADF8o00536922991"/>
              </a:rPr>
              <a:t>報文，利用散列函數計算報文 “內容摘要”，利用公鑰解密收到加密 “內容摘要”。 對比 “摘要”內容，相同則確認收到的 數據正確</a:t>
            </a:r>
          </a:p>
          <a:p>
            <a:endParaRPr lang="zh-CN" altLang="en-US" sz="1200" kern="0" dirty="0">
              <a:solidFill>
                <a:srgbClr val="000000"/>
              </a:solidFill>
              <a:effectLst/>
              <a:latin typeface="微软雅黑" panose="020B0503020204020204" pitchFamily="34" charset="-122"/>
              <a:ea typeface="微软雅黑" panose="020B0503020204020204" pitchFamily="34" charset="-122"/>
              <a:cs typeface="TT7ADF8o00536922991"/>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64189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ea typeface="宋体" panose="02010600030101010101" pitchFamily="2" charset="-122"/>
                <a:cs typeface="宋体" panose="02010600030101010101" pitchFamily="2" charset="-122"/>
              </a:rPr>
              <a:t>一台支持</a:t>
            </a:r>
            <a:r>
              <a:rPr lang="x-none" altLang="zh-CN" sz="1800" kern="0" dirty="0">
                <a:solidFill>
                  <a:srgbClr val="000000"/>
                </a:solidFill>
                <a:effectLst/>
                <a:ea typeface="宋体" panose="02010600030101010101" pitchFamily="2" charset="-122"/>
                <a:cs typeface="宋体" panose="02010600030101010101" pitchFamily="2" charset="-122"/>
              </a:rPr>
              <a:t>dnssec</a:t>
            </a:r>
            <a:r>
              <a:rPr lang="zh-CN" altLang="zh-CN" sz="1800" kern="0" dirty="0">
                <a:solidFill>
                  <a:srgbClr val="000000"/>
                </a:solidFill>
                <a:effectLst/>
                <a:ea typeface="宋体" panose="02010600030101010101" pitchFamily="2" charset="-122"/>
                <a:cs typeface="宋体" panose="02010600030101010101" pitchFamily="2" charset="-122"/>
              </a:rPr>
              <a:t>的遞歸服務器向支持</a:t>
            </a:r>
            <a:r>
              <a:rPr lang="x-none" altLang="zh-CN" sz="1800" kern="0" dirty="0">
                <a:solidFill>
                  <a:srgbClr val="000000"/>
                </a:solidFill>
                <a:effectLst/>
                <a:ea typeface="宋体" panose="02010600030101010101" pitchFamily="2" charset="-122"/>
                <a:cs typeface="宋体" panose="02010600030101010101" pitchFamily="2" charset="-122"/>
              </a:rPr>
              <a:t>dnssec</a:t>
            </a:r>
            <a:r>
              <a:rPr lang="zh-CN" altLang="zh-CN" sz="1800" kern="0" dirty="0">
                <a:solidFill>
                  <a:srgbClr val="000000"/>
                </a:solidFill>
                <a:effectLst/>
                <a:ea typeface="宋体" panose="02010600030101010101" pitchFamily="2" charset="-122"/>
                <a:cs typeface="宋体" panose="02010600030101010101" pitchFamily="2" charset="-122"/>
              </a:rPr>
              <a:t>的權威服務器發起</a:t>
            </a:r>
            <a:r>
              <a:rPr lang="x-none" altLang="zh-CN" sz="1800" kern="0" dirty="0">
                <a:solidFill>
                  <a:srgbClr val="000000"/>
                </a:solidFill>
                <a:effectLst/>
                <a:ea typeface="宋体" panose="02010600030101010101" pitchFamily="2" charset="-122"/>
                <a:cs typeface="宋体" panose="02010600030101010101" pitchFamily="2" charset="-122"/>
              </a:rPr>
              <a:t>paypal.com.</a:t>
            </a:r>
            <a:r>
              <a:rPr lang="zh-CN" altLang="zh-CN" sz="1800" kern="0" dirty="0">
                <a:solidFill>
                  <a:srgbClr val="000000"/>
                </a:solidFill>
                <a:effectLst/>
                <a:ea typeface="宋体" panose="02010600030101010101" pitchFamily="2" charset="-122"/>
                <a:cs typeface="宋体" panose="02010600030101010101" pitchFamily="2" charset="-122"/>
              </a:rPr>
              <a:t>的</a:t>
            </a:r>
            <a:r>
              <a:rPr lang="x-none" altLang="zh-CN" sz="1800" kern="0" dirty="0">
                <a:solidFill>
                  <a:srgbClr val="000000"/>
                </a:solidFill>
                <a:effectLst/>
                <a:ea typeface="宋体" panose="02010600030101010101" pitchFamily="2" charset="-122"/>
                <a:cs typeface="宋体" panose="02010600030101010101" pitchFamily="2" charset="-122"/>
              </a:rPr>
              <a:t>A</a:t>
            </a:r>
            <a:r>
              <a:rPr lang="zh-CN" altLang="zh-CN" sz="1800" kern="0" dirty="0">
                <a:solidFill>
                  <a:srgbClr val="000000"/>
                </a:solidFill>
                <a:effectLst/>
                <a:ea typeface="宋体" panose="02010600030101010101" pitchFamily="2" charset="-122"/>
                <a:cs typeface="宋体" panose="02010600030101010101" pitchFamily="2" charset="-122"/>
              </a:rPr>
              <a:t>記錄請求，它除了得到</a:t>
            </a:r>
            <a:r>
              <a:rPr lang="x-none" altLang="zh-CN" sz="1800" kern="0" dirty="0">
                <a:solidFill>
                  <a:srgbClr val="000000"/>
                </a:solidFill>
                <a:effectLst/>
                <a:ea typeface="宋体" panose="02010600030101010101" pitchFamily="2" charset="-122"/>
                <a:cs typeface="宋体" panose="02010600030101010101" pitchFamily="2" charset="-122"/>
              </a:rPr>
              <a:t>A</a:t>
            </a:r>
            <a:r>
              <a:rPr lang="zh-CN" altLang="zh-CN" sz="1800" kern="0" dirty="0">
                <a:solidFill>
                  <a:srgbClr val="000000"/>
                </a:solidFill>
                <a:effectLst/>
                <a:ea typeface="宋体" panose="02010600030101010101" pitchFamily="2" charset="-122"/>
                <a:cs typeface="宋体" panose="02010600030101010101" pitchFamily="2" charset="-122"/>
              </a:rPr>
              <a:t>記錄以外還得到了同名的</a:t>
            </a:r>
            <a:r>
              <a:rPr lang="x-none" altLang="zh-CN" sz="1800" kern="0" dirty="0">
                <a:solidFill>
                  <a:srgbClr val="000000"/>
                </a:solidFill>
                <a:effectLst/>
                <a:ea typeface="宋体" panose="02010600030101010101" pitchFamily="2" charset="-122"/>
                <a:cs typeface="宋体" panose="02010600030101010101" pitchFamily="2" charset="-122"/>
              </a:rPr>
              <a:t>RRSIG</a:t>
            </a:r>
            <a:r>
              <a:rPr lang="zh-CN" altLang="zh-CN" sz="1800" kern="0" dirty="0">
                <a:solidFill>
                  <a:srgbClr val="000000"/>
                </a:solidFill>
                <a:effectLst/>
                <a:ea typeface="宋体" panose="02010600030101010101" pitchFamily="2" charset="-122"/>
                <a:cs typeface="宋体" panose="02010600030101010101" pitchFamily="2" charset="-122"/>
              </a:rPr>
              <a:t>記錄，其中包含了</a:t>
            </a:r>
            <a:r>
              <a:rPr lang="x-none" altLang="zh-CN" sz="1800" kern="0" dirty="0">
                <a:solidFill>
                  <a:srgbClr val="000000"/>
                </a:solidFill>
                <a:effectLst/>
                <a:ea typeface="宋体" panose="02010600030101010101" pitchFamily="2" charset="-122"/>
                <a:cs typeface="宋体" panose="02010600030101010101" pitchFamily="2" charset="-122"/>
              </a:rPr>
              <a:t>paypal.com.</a:t>
            </a:r>
            <a:r>
              <a:rPr lang="zh-CN" altLang="zh-CN" sz="1800" kern="0" dirty="0">
                <a:solidFill>
                  <a:srgbClr val="000000"/>
                </a:solidFill>
                <a:effectLst/>
                <a:ea typeface="宋体" panose="02010600030101010101" pitchFamily="2" charset="-122"/>
                <a:cs typeface="宋体" panose="02010600030101010101" pitchFamily="2" charset="-122"/>
              </a:rPr>
              <a:t>這個</a:t>
            </a:r>
            <a:r>
              <a:rPr lang="x-none" altLang="zh-CN" sz="1800" kern="0" dirty="0">
                <a:solidFill>
                  <a:srgbClr val="000000"/>
                </a:solidFill>
                <a:effectLst/>
                <a:ea typeface="宋体" panose="02010600030101010101" pitchFamily="2" charset="-122"/>
                <a:cs typeface="宋体" panose="02010600030101010101" pitchFamily="2" charset="-122"/>
              </a:rPr>
              <a:t>ZONE</a:t>
            </a:r>
            <a:r>
              <a:rPr lang="zh-CN" altLang="zh-CN" sz="1800" kern="0" dirty="0">
                <a:solidFill>
                  <a:srgbClr val="000000"/>
                </a:solidFill>
                <a:effectLst/>
                <a:ea typeface="宋体" panose="02010600030101010101" pitchFamily="2" charset="-122"/>
                <a:cs typeface="宋体" panose="02010600030101010101" pitchFamily="2" charset="-122"/>
              </a:rPr>
              <a:t>的權威數字簽名，它使用</a:t>
            </a:r>
            <a:r>
              <a:rPr lang="x-none" altLang="zh-CN" sz="1800" kern="0" dirty="0">
                <a:solidFill>
                  <a:srgbClr val="000000"/>
                </a:solidFill>
                <a:effectLst/>
                <a:ea typeface="宋体" panose="02010600030101010101" pitchFamily="2" charset="-122"/>
                <a:cs typeface="宋体" panose="02010600030101010101" pitchFamily="2" charset="-122"/>
              </a:rPr>
              <a:t>paypal.com.</a:t>
            </a:r>
            <a:r>
              <a:rPr lang="zh-CN" altLang="zh-CN" sz="1800" kern="0" dirty="0">
                <a:solidFill>
                  <a:srgbClr val="000000"/>
                </a:solidFill>
                <a:effectLst/>
                <a:ea typeface="宋体" panose="02010600030101010101" pitchFamily="2" charset="-122"/>
                <a:cs typeface="宋体" panose="02010600030101010101" pitchFamily="2" charset="-122"/>
              </a:rPr>
              <a:t>的私鑰來簽名。爲了驗證這一簽名是否正確，遞歸服務器再次向</a:t>
            </a:r>
            <a:r>
              <a:rPr lang="x-none" altLang="zh-CN" sz="1800" kern="0" dirty="0">
                <a:solidFill>
                  <a:srgbClr val="000000"/>
                </a:solidFill>
                <a:effectLst/>
                <a:ea typeface="宋体" panose="02010600030101010101" pitchFamily="2" charset="-122"/>
                <a:cs typeface="宋体" panose="02010600030101010101" pitchFamily="2" charset="-122"/>
              </a:rPr>
              <a:t>paypal.com.</a:t>
            </a:r>
            <a:r>
              <a:rPr lang="zh-CN" altLang="zh-CN" sz="1800" kern="0" dirty="0">
                <a:solidFill>
                  <a:srgbClr val="000000"/>
                </a:solidFill>
                <a:effectLst/>
                <a:ea typeface="宋体" panose="02010600030101010101" pitchFamily="2" charset="-122"/>
                <a:cs typeface="宋体" panose="02010600030101010101" pitchFamily="2" charset="-122"/>
              </a:rPr>
              <a:t>權威查詢其公鑰，即請求</a:t>
            </a:r>
            <a:r>
              <a:rPr lang="x-none" altLang="zh-CN" sz="1800" kern="0" dirty="0">
                <a:solidFill>
                  <a:srgbClr val="000000"/>
                </a:solidFill>
                <a:effectLst/>
                <a:ea typeface="宋体" panose="02010600030101010101" pitchFamily="2" charset="-122"/>
                <a:cs typeface="宋体" panose="02010600030101010101" pitchFamily="2" charset="-122"/>
              </a:rPr>
              <a:t>paypal.com.</a:t>
            </a:r>
            <a:r>
              <a:rPr lang="zh-CN" altLang="zh-CN" sz="1800" kern="0" dirty="0">
                <a:solidFill>
                  <a:srgbClr val="000000"/>
                </a:solidFill>
                <a:effectLst/>
                <a:ea typeface="宋体" panose="02010600030101010101" pitchFamily="2" charset="-122"/>
                <a:cs typeface="宋体" panose="02010600030101010101" pitchFamily="2" charset="-122"/>
              </a:rPr>
              <a:t>的</a:t>
            </a:r>
            <a:r>
              <a:rPr lang="x-none" altLang="zh-CN" sz="1800" kern="0" dirty="0">
                <a:solidFill>
                  <a:srgbClr val="000000"/>
                </a:solidFill>
                <a:effectLst/>
                <a:ea typeface="宋体" panose="02010600030101010101" pitchFamily="2" charset="-122"/>
                <a:cs typeface="宋体" panose="02010600030101010101" pitchFamily="2" charset="-122"/>
              </a:rPr>
              <a:t>dnskey</a:t>
            </a:r>
            <a:r>
              <a:rPr lang="zh-CN" altLang="zh-CN" sz="1800" kern="0" dirty="0">
                <a:solidFill>
                  <a:srgbClr val="000000"/>
                </a:solidFill>
                <a:effectLst/>
                <a:ea typeface="宋体" panose="02010600030101010101" pitchFamily="2" charset="-122"/>
                <a:cs typeface="宋体" panose="02010600030101010101" pitchFamily="2" charset="-122"/>
              </a:rPr>
              <a:t>類型的記錄。遞歸服務器就可以使用公鑰來驗證收到的</a:t>
            </a:r>
            <a:r>
              <a:rPr lang="x-none" altLang="zh-CN" sz="1800" kern="0" dirty="0">
                <a:solidFill>
                  <a:srgbClr val="000000"/>
                </a:solidFill>
                <a:effectLst/>
                <a:ea typeface="宋体" panose="02010600030101010101" pitchFamily="2" charset="-122"/>
                <a:cs typeface="宋体" panose="02010600030101010101" pitchFamily="2" charset="-122"/>
              </a:rPr>
              <a:t>A</a:t>
            </a:r>
            <a:r>
              <a:rPr lang="zh-CN" altLang="zh-CN" sz="1800" kern="0" dirty="0">
                <a:solidFill>
                  <a:srgbClr val="000000"/>
                </a:solidFill>
                <a:effectLst/>
                <a:ea typeface="宋体" panose="02010600030101010101" pitchFamily="2" charset="-122"/>
                <a:cs typeface="宋体" panose="02010600030101010101" pitchFamily="2" charset="-122"/>
              </a:rPr>
              <a:t>記錄是否是真實且完整的。但是注意：這種狀態下，這台權威服務器可能是假冒的，遞歸服務器請求這台假冒的權威服務器，那麽對于解析結果的正確性和完整性的驗證上認爲是正確的，但其實這個解析結果是假冒的，怎麽發現？</a:t>
            </a:r>
            <a:r>
              <a:rPr lang="x-none" altLang="zh-CN" sz="1800" kern="0" dirty="0">
                <a:solidFill>
                  <a:srgbClr val="000000"/>
                </a:solidFill>
                <a:effectLst/>
                <a:ea typeface="宋体" panose="02010600030101010101" pitchFamily="2" charset="-122"/>
                <a:cs typeface="宋体" panose="02010600030101010101" pitchFamily="2" charset="-122"/>
              </a:rPr>
              <a:t>DNSSEC</a:t>
            </a:r>
            <a:r>
              <a:rPr lang="zh-CN" altLang="zh-CN" sz="1800" kern="0" dirty="0">
                <a:solidFill>
                  <a:srgbClr val="000000"/>
                </a:solidFill>
                <a:effectLst/>
                <a:ea typeface="宋体" panose="02010600030101010101" pitchFamily="2" charset="-122"/>
                <a:cs typeface="宋体" panose="02010600030101010101" pitchFamily="2" charset="-122"/>
              </a:rPr>
              <a:t>需要一條信任鏈，即必須要有一個或者多個相信的公鑰，這些公鑰被稱爲信任錨。</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970384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R="0" algn="l" rtl="0"/>
            <a:r>
              <a:rPr lang="en-US" altLang="zh-CN" sz="1200" b="0" i="0" u="none" strike="noStrike" baseline="0" dirty="0">
                <a:solidFill>
                  <a:srgbClr val="4672C4"/>
                </a:solidFill>
                <a:latin typeface="微软雅黑" panose="020B0503020204020204" pitchFamily="34" charset="-122"/>
                <a:ea typeface="微软雅黑" panose="020B0503020204020204" pitchFamily="34" charset="-122"/>
              </a:rPr>
              <a:t>RRSIG</a:t>
            </a:r>
            <a:endParaRPr lang="zh-CN" altLang="en-US"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r>
              <a:rPr lang="en-US" altLang="zh-CN" sz="1200" b="0" i="0" u="none" strike="noStrike" baseline="0" dirty="0">
                <a:solidFill>
                  <a:srgbClr val="4672C4"/>
                </a:solidFill>
                <a:latin typeface="微软雅黑" panose="020B0503020204020204" pitchFamily="34" charset="-122"/>
                <a:ea typeface="微软雅黑" panose="020B0503020204020204" pitchFamily="34" charset="-122"/>
              </a:rPr>
              <a:t>Resource Record Signature</a:t>
            </a:r>
            <a:endParaRPr lang="zh-CN" altLang="en-US"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r>
              <a:rPr lang="zh-CN" altLang="en-US" sz="1200" b="0" i="0" u="none" strike="noStrike" baseline="0" dirty="0">
                <a:solidFill>
                  <a:srgbClr val="4672C4"/>
                </a:solidFill>
                <a:latin typeface="微软雅黑" panose="020B0503020204020204" pitchFamily="34" charset="-122"/>
                <a:ea typeface="微软雅黑" panose="020B0503020204020204" pitchFamily="34" charset="-122"/>
              </a:rPr>
              <a:t>資源記錄簽名</a:t>
            </a:r>
            <a:endParaRPr lang="en-US" altLang="zh-CN"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endParaRPr lang="zh-CN" altLang="en-US"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r>
              <a:rPr lang="en-US" altLang="zh-CN" sz="1200" b="0" i="0" u="none" strike="noStrike" baseline="0" dirty="0">
                <a:solidFill>
                  <a:srgbClr val="4672C4"/>
                </a:solidFill>
                <a:latin typeface="微软雅黑" panose="020B0503020204020204" pitchFamily="34" charset="-122"/>
                <a:ea typeface="微软雅黑" panose="020B0503020204020204" pitchFamily="34" charset="-122"/>
              </a:rPr>
              <a:t>DS</a:t>
            </a:r>
            <a:endParaRPr lang="zh-CN" altLang="en-US"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r>
              <a:rPr lang="en-US" altLang="zh-CN" sz="1200" b="0" i="0" u="none" strike="noStrike" baseline="0" dirty="0">
                <a:solidFill>
                  <a:srgbClr val="4672C4"/>
                </a:solidFill>
                <a:latin typeface="微软雅黑" panose="020B0503020204020204" pitchFamily="34" charset="-122"/>
                <a:ea typeface="微软雅黑" panose="020B0503020204020204" pitchFamily="34" charset="-122"/>
              </a:rPr>
              <a:t>Delegation Signer</a:t>
            </a:r>
            <a:endParaRPr lang="zh-CN" altLang="en-US"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r>
              <a:rPr lang="en-US" altLang="zh-CN" sz="1200" dirty="0">
                <a:solidFill>
                  <a:srgbClr val="4672C4"/>
                </a:solidFill>
                <a:latin typeface="微软雅黑" panose="020B0503020204020204" pitchFamily="34" charset="-122"/>
                <a:ea typeface="微软雅黑" panose="020B0503020204020204" pitchFamily="34" charset="-122"/>
              </a:rPr>
              <a:t>DNSKEY</a:t>
            </a:r>
            <a:r>
              <a:rPr lang="zh-CN" altLang="en-US" sz="1200" dirty="0">
                <a:solidFill>
                  <a:srgbClr val="4672C4"/>
                </a:solidFill>
                <a:latin typeface="微软雅黑" panose="020B0503020204020204" pitchFamily="34" charset="-122"/>
                <a:ea typeface="微软雅黑" panose="020B0503020204020204" pitchFamily="34" charset="-122"/>
              </a:rPr>
              <a:t>的散列值</a:t>
            </a:r>
            <a:endParaRPr lang="en-US" altLang="zh-CN" sz="1200" dirty="0">
              <a:solidFill>
                <a:srgbClr val="4672C4"/>
              </a:solidFill>
              <a:latin typeface="微软雅黑" panose="020B0503020204020204" pitchFamily="34" charset="-122"/>
              <a:ea typeface="微软雅黑" panose="020B0503020204020204" pitchFamily="34" charset="-122"/>
            </a:endParaRPr>
          </a:p>
          <a:p>
            <a:pPr marR="0" algn="l" rtl="0"/>
            <a:endParaRPr lang="en-US" altLang="zh-CN" sz="1200" dirty="0">
              <a:solidFill>
                <a:srgbClr val="4672C4"/>
              </a:solidFill>
              <a:latin typeface="微软雅黑" panose="020B0503020204020204" pitchFamily="34" charset="-122"/>
              <a:ea typeface="微软雅黑" panose="020B0503020204020204" pitchFamily="34" charset="-122"/>
            </a:endParaRPr>
          </a:p>
          <a:p>
            <a:pPr marR="0" algn="l" rtl="0"/>
            <a:r>
              <a:rPr lang="en-US" altLang="zh-CN" sz="1200" dirty="0">
                <a:solidFill>
                  <a:srgbClr val="4672C4"/>
                </a:solidFill>
                <a:latin typeface="微软雅黑" panose="020B0503020204020204" pitchFamily="34" charset="-122"/>
                <a:ea typeface="微软雅黑" panose="020B0503020204020204" pitchFamily="34" charset="-122"/>
              </a:rPr>
              <a:t>DNSKEY</a:t>
            </a:r>
          </a:p>
          <a:p>
            <a:pPr marR="0" algn="l" rtl="0"/>
            <a:r>
              <a:rPr lang="zh-CN" altLang="en-US" sz="1200" dirty="0">
                <a:solidFill>
                  <a:srgbClr val="4672C4"/>
                </a:solidFill>
                <a:latin typeface="微软雅黑" panose="020B0503020204020204" pitchFamily="34" charset="-122"/>
                <a:ea typeface="微软雅黑" panose="020B0503020204020204" pitchFamily="34" charset="-122"/>
              </a:rPr>
              <a:t>公開密鑰記錄</a:t>
            </a:r>
            <a:endParaRPr lang="en-US" altLang="zh-CN" sz="1200" dirty="0">
              <a:solidFill>
                <a:srgbClr val="4672C4"/>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2167569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R="0" algn="l" rtl="0"/>
            <a:r>
              <a:rPr lang="en-US" altLang="zh-CN" sz="1200" b="0" i="0" u="none" strike="noStrike" baseline="0" dirty="0">
                <a:solidFill>
                  <a:srgbClr val="4672C4"/>
                </a:solidFill>
                <a:latin typeface="微软雅黑" panose="020B0503020204020204" pitchFamily="34" charset="-122"/>
                <a:ea typeface="微软雅黑" panose="020B0503020204020204" pitchFamily="34" charset="-122"/>
              </a:rPr>
              <a:t>RRSIG</a:t>
            </a:r>
            <a:endParaRPr lang="zh-CN" altLang="en-US"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r>
              <a:rPr lang="en-US" altLang="zh-CN" sz="1200" b="0" i="0" u="none" strike="noStrike" baseline="0" dirty="0">
                <a:solidFill>
                  <a:srgbClr val="4672C4"/>
                </a:solidFill>
                <a:latin typeface="微软雅黑" panose="020B0503020204020204" pitchFamily="34" charset="-122"/>
                <a:ea typeface="微软雅黑" panose="020B0503020204020204" pitchFamily="34" charset="-122"/>
              </a:rPr>
              <a:t>Resource Record Signature</a:t>
            </a:r>
            <a:endParaRPr lang="zh-CN" altLang="en-US"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r>
              <a:rPr lang="zh-CN" altLang="en-US" sz="1200" b="0" i="0" u="none" strike="noStrike" baseline="0" dirty="0">
                <a:solidFill>
                  <a:srgbClr val="4672C4"/>
                </a:solidFill>
                <a:latin typeface="微软雅黑" panose="020B0503020204020204" pitchFamily="34" charset="-122"/>
                <a:ea typeface="微软雅黑" panose="020B0503020204020204" pitchFamily="34" charset="-122"/>
              </a:rPr>
              <a:t>資源記錄簽名</a:t>
            </a:r>
            <a:endParaRPr lang="en-US" altLang="zh-CN"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endParaRPr lang="zh-CN" altLang="en-US"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r>
              <a:rPr lang="en-US" altLang="zh-CN" sz="1200" b="0" i="0" u="none" strike="noStrike" baseline="0" dirty="0">
                <a:solidFill>
                  <a:srgbClr val="4672C4"/>
                </a:solidFill>
                <a:latin typeface="微软雅黑" panose="020B0503020204020204" pitchFamily="34" charset="-122"/>
                <a:ea typeface="微软雅黑" panose="020B0503020204020204" pitchFamily="34" charset="-122"/>
              </a:rPr>
              <a:t>DS</a:t>
            </a:r>
            <a:endParaRPr lang="zh-CN" altLang="en-US"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r>
              <a:rPr lang="en-US" altLang="zh-CN" sz="1200" b="0" i="0" u="none" strike="noStrike" baseline="0" dirty="0">
                <a:solidFill>
                  <a:srgbClr val="4672C4"/>
                </a:solidFill>
                <a:latin typeface="微软雅黑" panose="020B0503020204020204" pitchFamily="34" charset="-122"/>
                <a:ea typeface="微软雅黑" panose="020B0503020204020204" pitchFamily="34" charset="-122"/>
              </a:rPr>
              <a:t>Delegation Signer</a:t>
            </a:r>
            <a:endParaRPr lang="zh-CN" altLang="en-US"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r>
              <a:rPr lang="en-US" altLang="zh-CN" sz="1200" dirty="0">
                <a:solidFill>
                  <a:srgbClr val="4672C4"/>
                </a:solidFill>
                <a:latin typeface="微软雅黑" panose="020B0503020204020204" pitchFamily="34" charset="-122"/>
                <a:ea typeface="微软雅黑" panose="020B0503020204020204" pitchFamily="34" charset="-122"/>
              </a:rPr>
              <a:t>DNSKEY</a:t>
            </a:r>
            <a:r>
              <a:rPr lang="zh-CN" altLang="en-US" sz="1200" dirty="0">
                <a:solidFill>
                  <a:srgbClr val="4672C4"/>
                </a:solidFill>
                <a:latin typeface="微软雅黑" panose="020B0503020204020204" pitchFamily="34" charset="-122"/>
                <a:ea typeface="微软雅黑" panose="020B0503020204020204" pitchFamily="34" charset="-122"/>
              </a:rPr>
              <a:t>的散列值</a:t>
            </a:r>
            <a:endParaRPr lang="en-US" altLang="zh-CN" sz="1200" dirty="0">
              <a:solidFill>
                <a:srgbClr val="4672C4"/>
              </a:solidFill>
              <a:latin typeface="微软雅黑" panose="020B0503020204020204" pitchFamily="34" charset="-122"/>
              <a:ea typeface="微软雅黑" panose="020B0503020204020204" pitchFamily="34" charset="-122"/>
            </a:endParaRPr>
          </a:p>
          <a:p>
            <a:pPr marR="0" algn="l" rtl="0"/>
            <a:endParaRPr lang="en-US" altLang="zh-CN" sz="1200" dirty="0">
              <a:solidFill>
                <a:srgbClr val="4672C4"/>
              </a:solidFill>
              <a:latin typeface="微软雅黑" panose="020B0503020204020204" pitchFamily="34" charset="-122"/>
              <a:ea typeface="微软雅黑" panose="020B0503020204020204" pitchFamily="34" charset="-122"/>
            </a:endParaRPr>
          </a:p>
          <a:p>
            <a:pPr marR="0" algn="l" rtl="0"/>
            <a:r>
              <a:rPr lang="en-US" altLang="zh-CN" sz="1200" dirty="0">
                <a:solidFill>
                  <a:srgbClr val="4672C4"/>
                </a:solidFill>
                <a:latin typeface="微软雅黑" panose="020B0503020204020204" pitchFamily="34" charset="-122"/>
                <a:ea typeface="微软雅黑" panose="020B0503020204020204" pitchFamily="34" charset="-122"/>
              </a:rPr>
              <a:t>DNSKEY</a:t>
            </a:r>
          </a:p>
          <a:p>
            <a:pPr marR="0" algn="l" rtl="0"/>
            <a:r>
              <a:rPr lang="zh-CN" altLang="en-US" sz="1200" dirty="0">
                <a:solidFill>
                  <a:srgbClr val="4672C4"/>
                </a:solidFill>
                <a:latin typeface="微软雅黑" panose="020B0503020204020204" pitchFamily="34" charset="-122"/>
                <a:ea typeface="微软雅黑" panose="020B0503020204020204" pitchFamily="34" charset="-122"/>
              </a:rPr>
              <a:t>公開密鑰記錄</a:t>
            </a:r>
            <a:endParaRPr lang="en-US" altLang="zh-CN" sz="1200" dirty="0">
              <a:solidFill>
                <a:srgbClr val="4672C4"/>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7140670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R="0" algn="l" rtl="0"/>
            <a:r>
              <a:rPr lang="en-US" altLang="zh-CN" sz="1200" b="0" i="0" u="none" strike="noStrike" baseline="0" dirty="0">
                <a:solidFill>
                  <a:srgbClr val="4672C4"/>
                </a:solidFill>
                <a:latin typeface="微软雅黑" panose="020B0503020204020204" pitchFamily="34" charset="-122"/>
                <a:ea typeface="微软雅黑" panose="020B0503020204020204" pitchFamily="34" charset="-122"/>
              </a:rPr>
              <a:t>RRSIG</a:t>
            </a:r>
            <a:endParaRPr lang="zh-CN" altLang="en-US"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r>
              <a:rPr lang="en-US" altLang="zh-CN" sz="1200" b="0" i="0" u="none" strike="noStrike" baseline="0" dirty="0">
                <a:solidFill>
                  <a:srgbClr val="4672C4"/>
                </a:solidFill>
                <a:latin typeface="微软雅黑" panose="020B0503020204020204" pitchFamily="34" charset="-122"/>
                <a:ea typeface="微软雅黑" panose="020B0503020204020204" pitchFamily="34" charset="-122"/>
              </a:rPr>
              <a:t>Resource Record Signature</a:t>
            </a:r>
            <a:endParaRPr lang="zh-CN" altLang="en-US"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r>
              <a:rPr lang="zh-CN" altLang="en-US" sz="1200" b="0" i="0" u="none" strike="noStrike" baseline="0" dirty="0">
                <a:solidFill>
                  <a:srgbClr val="4672C4"/>
                </a:solidFill>
                <a:latin typeface="微软雅黑" panose="020B0503020204020204" pitchFamily="34" charset="-122"/>
                <a:ea typeface="微软雅黑" panose="020B0503020204020204" pitchFamily="34" charset="-122"/>
              </a:rPr>
              <a:t>資源記錄簽名</a:t>
            </a:r>
            <a:endParaRPr lang="en-US" altLang="zh-CN"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endParaRPr lang="zh-CN" altLang="en-US"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r>
              <a:rPr lang="en-US" altLang="zh-CN" sz="1200" b="0" i="0" u="none" strike="noStrike" baseline="0" dirty="0">
                <a:solidFill>
                  <a:srgbClr val="4672C4"/>
                </a:solidFill>
                <a:latin typeface="微软雅黑" panose="020B0503020204020204" pitchFamily="34" charset="-122"/>
                <a:ea typeface="微软雅黑" panose="020B0503020204020204" pitchFamily="34" charset="-122"/>
              </a:rPr>
              <a:t>DS</a:t>
            </a:r>
            <a:endParaRPr lang="zh-CN" altLang="en-US"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r>
              <a:rPr lang="en-US" altLang="zh-CN" sz="1200" b="0" i="0" u="none" strike="noStrike" baseline="0" dirty="0">
                <a:solidFill>
                  <a:srgbClr val="4672C4"/>
                </a:solidFill>
                <a:latin typeface="微软雅黑" panose="020B0503020204020204" pitchFamily="34" charset="-122"/>
                <a:ea typeface="微软雅黑" panose="020B0503020204020204" pitchFamily="34" charset="-122"/>
              </a:rPr>
              <a:t>Delegation Signer</a:t>
            </a:r>
            <a:endParaRPr lang="zh-CN" altLang="en-US" sz="1200" b="0" i="0" u="none" strike="noStrike" baseline="0" dirty="0">
              <a:solidFill>
                <a:srgbClr val="4672C4"/>
              </a:solidFill>
              <a:latin typeface="微软雅黑" panose="020B0503020204020204" pitchFamily="34" charset="-122"/>
              <a:ea typeface="微软雅黑" panose="020B0503020204020204" pitchFamily="34" charset="-122"/>
            </a:endParaRPr>
          </a:p>
          <a:p>
            <a:pPr marR="0" algn="l" rtl="0"/>
            <a:r>
              <a:rPr lang="en-US" altLang="zh-CN" sz="1200" dirty="0">
                <a:solidFill>
                  <a:srgbClr val="4672C4"/>
                </a:solidFill>
                <a:latin typeface="微软雅黑" panose="020B0503020204020204" pitchFamily="34" charset="-122"/>
                <a:ea typeface="微软雅黑" panose="020B0503020204020204" pitchFamily="34" charset="-122"/>
              </a:rPr>
              <a:t>DNSKEY</a:t>
            </a:r>
            <a:r>
              <a:rPr lang="zh-CN" altLang="en-US" sz="1200" dirty="0">
                <a:solidFill>
                  <a:srgbClr val="4672C4"/>
                </a:solidFill>
                <a:latin typeface="微软雅黑" panose="020B0503020204020204" pitchFamily="34" charset="-122"/>
                <a:ea typeface="微软雅黑" panose="020B0503020204020204" pitchFamily="34" charset="-122"/>
              </a:rPr>
              <a:t>的散列值</a:t>
            </a:r>
            <a:endParaRPr lang="en-US" altLang="zh-CN" sz="1200" dirty="0">
              <a:solidFill>
                <a:srgbClr val="4672C4"/>
              </a:solidFill>
              <a:latin typeface="微软雅黑" panose="020B0503020204020204" pitchFamily="34" charset="-122"/>
              <a:ea typeface="微软雅黑" panose="020B0503020204020204" pitchFamily="34" charset="-122"/>
            </a:endParaRPr>
          </a:p>
          <a:p>
            <a:pPr marR="0" algn="l" rtl="0"/>
            <a:endParaRPr lang="en-US" altLang="zh-CN" sz="1200" dirty="0">
              <a:solidFill>
                <a:srgbClr val="4672C4"/>
              </a:solidFill>
              <a:latin typeface="微软雅黑" panose="020B0503020204020204" pitchFamily="34" charset="-122"/>
              <a:ea typeface="微软雅黑" panose="020B0503020204020204" pitchFamily="34" charset="-122"/>
            </a:endParaRPr>
          </a:p>
          <a:p>
            <a:pPr marR="0" algn="l" rtl="0"/>
            <a:r>
              <a:rPr lang="en-US" altLang="zh-CN" sz="1200" dirty="0">
                <a:solidFill>
                  <a:srgbClr val="4672C4"/>
                </a:solidFill>
                <a:latin typeface="微软雅黑" panose="020B0503020204020204" pitchFamily="34" charset="-122"/>
                <a:ea typeface="微软雅黑" panose="020B0503020204020204" pitchFamily="34" charset="-122"/>
              </a:rPr>
              <a:t>DNSKEY</a:t>
            </a:r>
          </a:p>
          <a:p>
            <a:pPr marR="0" algn="l" rtl="0"/>
            <a:r>
              <a:rPr lang="zh-CN" altLang="en-US" sz="1200" dirty="0">
                <a:solidFill>
                  <a:srgbClr val="4672C4"/>
                </a:solidFill>
                <a:latin typeface="微软雅黑" panose="020B0503020204020204" pitchFamily="34" charset="-122"/>
                <a:ea typeface="微软雅黑" panose="020B0503020204020204" pitchFamily="34" charset="-122"/>
              </a:rPr>
              <a:t>公開密鑰記錄</a:t>
            </a:r>
            <a:endParaRPr lang="en-US" altLang="zh-CN" sz="1200" dirty="0">
              <a:solidFill>
                <a:srgbClr val="4672C4"/>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64120785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27000" indent="266700" algn="just">
              <a:lnSpc>
                <a:spcPct val="150000"/>
              </a:lnSpc>
            </a:pPr>
            <a:r>
              <a:rPr lang="x-none" altLang="zh-CN" sz="1800" kern="0" dirty="0">
                <a:solidFill>
                  <a:srgbClr val="000000"/>
                </a:solidFill>
                <a:effectLst/>
                <a:latin typeface="微软雅黑" panose="020B0503020204020204" pitchFamily="34" charset="-122"/>
                <a:ea typeface="微软雅黑" panose="020B0503020204020204" pitchFamily="34" charset="-122"/>
                <a:cs typeface="TT7ADF8o00536922991"/>
              </a:rPr>
              <a:t>1) </a:t>
            </a:r>
            <a:r>
              <a:rPr lang="zh-CN" altLang="zh-CN"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效率問題。大量簽名和驗證帶來嚴重的負載</a:t>
            </a:r>
            <a:endPar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127000" indent="266700" algn="just">
              <a:lnSpc>
                <a:spcPct val="150000"/>
              </a:lnSpc>
            </a:pPr>
            <a:r>
              <a:rPr lang="x-none" altLang="zh-CN" sz="1800" kern="0" dirty="0">
                <a:solidFill>
                  <a:srgbClr val="000000"/>
                </a:solidFill>
                <a:effectLst/>
                <a:latin typeface="微软雅黑" panose="020B0503020204020204" pitchFamily="34" charset="-122"/>
                <a:ea typeface="微软雅黑" panose="020B0503020204020204" pitchFamily="34" charset="-122"/>
                <a:cs typeface="TT7ADF8o00536922991"/>
              </a:rPr>
              <a:t>2) </a:t>
            </a:r>
            <a:r>
              <a:rPr lang="zh-CN" altLang="zh-CN"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密鑰系統管理問題。</a:t>
            </a:r>
            <a:r>
              <a:rPr lang="zh-CN" altLang="zh-CN" sz="1800" kern="0" dirty="0">
                <a:solidFill>
                  <a:srgbClr val="000000"/>
                </a:solidFill>
                <a:latin typeface="微软雅黑" panose="020B0503020204020204" pitchFamily="34" charset="-122"/>
                <a:ea typeface="微软雅黑" panose="020B0503020204020204" pitchFamily="34" charset="-122"/>
                <a:cs typeface="宋体" panose="02010600030101010101" pitchFamily="2" charset="-122"/>
              </a:rPr>
              <a:t>離綫存儲密鑰</a:t>
            </a:r>
            <a:r>
              <a:rPr lang="zh-CN" altLang="en-US"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與</a:t>
            </a:r>
            <a:r>
              <a:rPr lang="zh-CN" altLang="zh-CN"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頻繁使用密鑰</a:t>
            </a:r>
            <a:r>
              <a:rPr lang="zh-CN" altLang="en-US"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存在矛盾</a:t>
            </a:r>
            <a:r>
              <a:rPr lang="zh-CN" altLang="zh-CN"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，假定私鑰不被竊取違反了安全管理和域名服務器管理角色分離的原則</a:t>
            </a:r>
            <a:endParaRPr lang="en-US" altLang="zh-CN"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endParaRPr>
          </a:p>
          <a:p>
            <a:pPr marL="127000" indent="266700" algn="just">
              <a:lnSpc>
                <a:spcPct val="150000"/>
              </a:lnSpc>
            </a:pPr>
            <a:r>
              <a:rPr lang="x-none" altLang="zh-CN" sz="1800" kern="0" dirty="0">
                <a:solidFill>
                  <a:srgbClr val="000000"/>
                </a:solidFill>
                <a:effectLst/>
                <a:latin typeface="微软雅黑" panose="020B0503020204020204" pitchFamily="34" charset="-122"/>
                <a:ea typeface="微软雅黑" panose="020B0503020204020204" pitchFamily="34" charset="-122"/>
                <a:cs typeface="TT7ADF8o00536922991"/>
              </a:rPr>
              <a:t>3) </a:t>
            </a:r>
            <a:r>
              <a:rPr lang="zh-CN" altLang="zh-CN"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只提供數據原始性驗證和完整性檢查，沒有提供機密性和一致性檢驗，無法抵禦重放攻擊</a:t>
            </a:r>
            <a:endParaRPr lang="en-US" altLang="zh-CN"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endParaRPr>
          </a:p>
          <a:p>
            <a:pPr marL="127000" indent="266700" algn="just">
              <a:lnSpc>
                <a:spcPct val="150000"/>
              </a:lnSpc>
            </a:pPr>
            <a:r>
              <a:rPr lang="x-none" altLang="zh-CN" sz="1800" kern="0" dirty="0">
                <a:solidFill>
                  <a:srgbClr val="000000"/>
                </a:solidFill>
                <a:effectLst/>
                <a:latin typeface="微软雅黑" panose="020B0503020204020204" pitchFamily="34" charset="-122"/>
                <a:ea typeface="微软雅黑" panose="020B0503020204020204" pitchFamily="34" charset="-122"/>
                <a:cs typeface="TT7ADF8o00536922991"/>
              </a:rPr>
              <a:t>4) </a:t>
            </a:r>
            <a:r>
              <a:rPr lang="zh-CN" altLang="zh-CN"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只提供單向認證，沒有對客戶的認證，不能解决緩存中毒</a:t>
            </a:r>
            <a:endParaRPr lang="en-US" altLang="zh-CN"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endParaRPr>
          </a:p>
          <a:p>
            <a:pPr marL="127000" indent="266700" algn="just">
              <a:lnSpc>
                <a:spcPct val="150000"/>
              </a:lnSpc>
            </a:pPr>
            <a:r>
              <a:rPr lang="x-none" altLang="zh-CN" sz="1800" kern="0" dirty="0">
                <a:solidFill>
                  <a:srgbClr val="000000"/>
                </a:solidFill>
                <a:effectLst/>
                <a:latin typeface="微软雅黑" panose="020B0503020204020204" pitchFamily="34" charset="-122"/>
                <a:ea typeface="微软雅黑" panose="020B0503020204020204" pitchFamily="34" charset="-122"/>
                <a:cs typeface="TT7ADF8o00536922991"/>
              </a:rPr>
              <a:t>5) </a:t>
            </a:r>
            <a:r>
              <a:rPr lang="zh-CN" altLang="zh-CN"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沒有提供</a:t>
            </a:r>
            <a:r>
              <a:rPr lang="x-none" altLang="zh-CN" sz="1800" kern="0" dirty="0">
                <a:solidFill>
                  <a:srgbClr val="000000"/>
                </a:solidFill>
                <a:effectLst/>
                <a:latin typeface="微软雅黑" panose="020B0503020204020204" pitchFamily="34" charset="-122"/>
                <a:ea typeface="微软雅黑" panose="020B0503020204020204" pitchFamily="34" charset="-122"/>
                <a:cs typeface="TT7ADD2o00536922989"/>
              </a:rPr>
              <a:t>DoS</a:t>
            </a:r>
            <a:r>
              <a:rPr lang="zh-CN" altLang="zh-CN"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防護</a:t>
            </a:r>
            <a:endPar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127000" indent="266700" algn="just">
              <a:lnSpc>
                <a:spcPct val="150000"/>
              </a:lnSpc>
            </a:pPr>
            <a:r>
              <a:rPr lang="x-none" altLang="zh-CN" sz="1800" kern="0" dirty="0">
                <a:solidFill>
                  <a:srgbClr val="000000"/>
                </a:solidFill>
                <a:effectLst/>
                <a:latin typeface="微软雅黑" panose="020B0503020204020204" pitchFamily="34" charset="-122"/>
                <a:ea typeface="微软雅黑" panose="020B0503020204020204" pitchFamily="34" charset="-122"/>
                <a:cs typeface="TT7ADD2o00536922989"/>
              </a:rPr>
              <a:t>6) </a:t>
            </a:r>
            <a:r>
              <a:rPr lang="zh-CN" altLang="zh-CN"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增加了新的實現錯誤和配置錯誤機會，如攻擊者能够輕易遍歷區域文件中全部子域名</a:t>
            </a:r>
            <a:endParaRPr lang="en-US" altLang="zh-CN"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endParaRPr>
          </a:p>
          <a:p>
            <a:pPr marL="127000" indent="266700" algn="just">
              <a:lnSpc>
                <a:spcPct val="150000"/>
              </a:lnSpc>
            </a:pPr>
            <a:r>
              <a:rPr lang="en-US" altLang="zh-CN"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7</a:t>
            </a:r>
            <a:r>
              <a:rPr lang="zh-CN" altLang="en-US"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a:t>
            </a:r>
            <a:r>
              <a:rPr lang="zh-CN" altLang="zh-CN"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花費較高，經濟因素制約其部署</a:t>
            </a:r>
            <a:endParaRPr lang="en-US" altLang="zh-CN"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endParaRPr>
          </a:p>
          <a:p>
            <a:pPr marL="127000" indent="266700" algn="just">
              <a:lnSpc>
                <a:spcPct val="150000"/>
              </a:lnSpc>
            </a:pPr>
            <a:r>
              <a:rPr lang="en-US" altLang="zh-CN" sz="1800" kern="0" dirty="0">
                <a:solidFill>
                  <a:srgbClr val="000000"/>
                </a:solidFill>
                <a:latin typeface="微软雅黑" panose="020B0503020204020204" pitchFamily="34" charset="-122"/>
                <a:ea typeface="微软雅黑" panose="020B0503020204020204" pitchFamily="34" charset="-122"/>
                <a:cs typeface="宋体" panose="02010600030101010101" pitchFamily="2" charset="-122"/>
              </a:rPr>
              <a:t>8</a:t>
            </a:r>
            <a:r>
              <a:rPr lang="zh-CN" altLang="en-US" sz="1800" kern="0" dirty="0">
                <a:solidFill>
                  <a:srgbClr val="000000"/>
                </a:solidFill>
                <a:latin typeface="微软雅黑" panose="020B0503020204020204" pitchFamily="34" charset="-122"/>
                <a:ea typeface="微软雅黑" panose="020B0503020204020204" pitchFamily="34" charset="-122"/>
                <a:cs typeface="宋体" panose="02010600030101010101" pitchFamily="2" charset="-122"/>
              </a:rPr>
              <a:t>）</a:t>
            </a:r>
            <a:r>
              <a:rPr lang="zh-CN" altLang="en-US" sz="18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最終仍然取决于遞歸服務器以及客戶端是否對數字簽名記錄做校驗</a:t>
            </a:r>
            <a:endPar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471701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800" kern="0" dirty="0">
              <a:solidFill>
                <a:srgbClr val="000000"/>
              </a:solidFill>
              <a:effectLst/>
              <a:latin typeface="宋体" panose="02010600030101010101" pitchFamily="2" charset="-122"/>
              <a:ea typeface="宋体" panose="02010600030101010101" pitchFamily="2" charset="-122"/>
              <a:cs typeface="TeXGyreTermes-Regular-Identity-"/>
            </a:endParaRPr>
          </a:p>
          <a:p>
            <a:r>
              <a:rPr lang="x-none" altLang="zh-CN" sz="1800" kern="0" dirty="0">
                <a:solidFill>
                  <a:srgbClr val="000000"/>
                </a:solidFill>
                <a:effectLst/>
                <a:latin typeface="宋体" panose="02010600030101010101" pitchFamily="2" charset="-122"/>
                <a:cs typeface="TeXGyreTermes-Regular-Identity-"/>
              </a:rPr>
              <a:t>DNS-over-TLS </a:t>
            </a:r>
            <a:r>
              <a:rPr lang="zh-CN" altLang="zh-CN" sz="1800" kern="0" dirty="0">
                <a:solidFill>
                  <a:srgbClr val="000000"/>
                </a:solidFill>
                <a:effectLst/>
                <a:ea typeface="宋体" panose="02010600030101010101" pitchFamily="2" charset="-122"/>
                <a:cs typeface="宋体" panose="02010600030101010101" pitchFamily="2" charset="-122"/>
              </a:rPr>
              <a:t>協議直接使用傳輸層安全協議（</a:t>
            </a:r>
            <a:r>
              <a:rPr lang="x-none" altLang="zh-CN" sz="1800" kern="0" dirty="0">
                <a:solidFill>
                  <a:srgbClr val="000000"/>
                </a:solidFill>
                <a:effectLst/>
                <a:latin typeface="宋体" panose="02010600030101010101" pitchFamily="2" charset="-122"/>
                <a:cs typeface="TeXGyreTermes-Regular-Identity-"/>
              </a:rPr>
              <a:t>Transport Layer Security</a:t>
            </a:r>
            <a:r>
              <a:rPr lang="zh-CN" altLang="zh-CN" sz="1800" kern="0" dirty="0">
                <a:solidFill>
                  <a:srgbClr val="000000"/>
                </a:solidFill>
                <a:effectLst/>
                <a:ea typeface="宋体" panose="02010600030101010101" pitchFamily="2" charset="-122"/>
                <a:cs typeface="宋体" panose="02010600030101010101" pitchFamily="2" charset="-122"/>
              </a:rPr>
              <a:t>，</a:t>
            </a:r>
            <a:r>
              <a:rPr lang="x-none" altLang="zh-CN" sz="1800" kern="0" dirty="0">
                <a:solidFill>
                  <a:srgbClr val="000000"/>
                </a:solidFill>
                <a:effectLst/>
                <a:latin typeface="宋体" panose="02010600030101010101" pitchFamily="2" charset="-122"/>
                <a:cs typeface="TeXGyreTermes-Regular-Identity-"/>
              </a:rPr>
              <a:t>TLS</a:t>
            </a:r>
            <a:r>
              <a:rPr lang="zh-CN" altLang="zh-CN" sz="1800" kern="0" dirty="0">
                <a:solidFill>
                  <a:srgbClr val="000000"/>
                </a:solidFill>
                <a:effectLst/>
                <a:ea typeface="宋体" panose="02010600030101010101" pitchFamily="2" charset="-122"/>
                <a:cs typeface="宋体" panose="02010600030101010101" pitchFamily="2" charset="-122"/>
              </a:rPr>
              <a:t>）對數據執行加密操作，保證了域名協議交互中信息的完整性與機密性。此外，爲使</a:t>
            </a:r>
            <a:r>
              <a:rPr lang="x-none" altLang="zh-CN" sz="1800" kern="0" dirty="0">
                <a:solidFill>
                  <a:srgbClr val="000000"/>
                </a:solidFill>
                <a:effectLst/>
                <a:latin typeface="宋体" panose="02010600030101010101" pitchFamily="2" charset="-122"/>
                <a:cs typeface="TeXGyreTermes-Regular-Identity-"/>
              </a:rPr>
              <a:t>DNS </a:t>
            </a:r>
            <a:r>
              <a:rPr lang="zh-CN" altLang="zh-CN" sz="1800" kern="0" dirty="0">
                <a:solidFill>
                  <a:srgbClr val="000000"/>
                </a:solidFill>
                <a:effectLst/>
                <a:ea typeface="宋体" panose="02010600030101010101" pitchFamily="2" charset="-122"/>
                <a:cs typeface="宋体" panose="02010600030101010101" pitchFamily="2" charset="-122"/>
              </a:rPr>
              <a:t>加密流量能够與傳統</a:t>
            </a:r>
            <a:r>
              <a:rPr lang="x-none" altLang="zh-CN" sz="1800" kern="0" dirty="0">
                <a:solidFill>
                  <a:srgbClr val="000000"/>
                </a:solidFill>
                <a:effectLst/>
                <a:latin typeface="宋体" panose="02010600030101010101" pitchFamily="2" charset="-122"/>
                <a:cs typeface="TeXGyreTermes-Regular-Identity-"/>
              </a:rPr>
              <a:t>DNS </a:t>
            </a:r>
            <a:r>
              <a:rPr lang="zh-CN" altLang="zh-CN" sz="1800" kern="0" dirty="0">
                <a:solidFill>
                  <a:srgbClr val="000000"/>
                </a:solidFill>
                <a:effectLst/>
                <a:ea typeface="宋体" panose="02010600030101010101" pitchFamily="2" charset="-122"/>
                <a:cs typeface="宋体" panose="02010600030101010101" pitchFamily="2" charset="-122"/>
              </a:rPr>
              <a:t>流量相互區分，</a:t>
            </a:r>
            <a:r>
              <a:rPr lang="x-none" altLang="zh-CN" sz="1800" kern="0" dirty="0">
                <a:solidFill>
                  <a:srgbClr val="000000"/>
                </a:solidFill>
                <a:effectLst/>
                <a:latin typeface="宋体" panose="02010600030101010101" pitchFamily="2" charset="-122"/>
                <a:cs typeface="TeXGyreTermes-Regular-Identity-"/>
              </a:rPr>
              <a:t>DNS-over-TLS </a:t>
            </a:r>
            <a:r>
              <a:rPr lang="zh-CN" altLang="zh-CN" sz="1800" kern="0" dirty="0">
                <a:solidFill>
                  <a:srgbClr val="000000"/>
                </a:solidFill>
                <a:effectLst/>
                <a:ea typeface="宋体" panose="02010600030101010101" pitchFamily="2" charset="-122"/>
                <a:cs typeface="宋体" panose="02010600030101010101" pitchFamily="2" charset="-122"/>
              </a:rPr>
              <a:t>使用了</a:t>
            </a:r>
            <a:r>
              <a:rPr lang="x-none" altLang="zh-CN" sz="1800" kern="0" dirty="0">
                <a:solidFill>
                  <a:srgbClr val="000000"/>
                </a:solidFill>
                <a:effectLst/>
                <a:latin typeface="宋体" panose="02010600030101010101" pitchFamily="2" charset="-122"/>
                <a:cs typeface="TeXGyreTermes-Regular-Identity-"/>
              </a:rPr>
              <a:t>853 </a:t>
            </a:r>
            <a:r>
              <a:rPr lang="zh-CN" altLang="zh-CN" sz="1800" kern="0" dirty="0">
                <a:solidFill>
                  <a:srgbClr val="000000"/>
                </a:solidFill>
                <a:effectLst/>
                <a:ea typeface="宋体" panose="02010600030101010101" pitchFamily="2" charset="-122"/>
                <a:cs typeface="宋体" panose="02010600030101010101" pitchFamily="2" charset="-122"/>
              </a:rPr>
              <a:t>專用端口傳輸數據。</a:t>
            </a:r>
            <a:endParaRPr lang="en-US" altLang="zh-CN" sz="1800" kern="0" dirty="0">
              <a:solidFill>
                <a:srgbClr val="000000"/>
              </a:solidFill>
              <a:effectLst/>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lumMod val="50000"/>
                    <a:lumOff val="50000"/>
                  </a:prstClr>
                </a:solidFill>
                <a:effectLst/>
                <a:uLnTx/>
                <a:uFillTx/>
                <a:latin typeface="Calibri" panose="020F0502020204030204" pitchFamily="34" charset="0"/>
                <a:ea typeface="微软雅黑" panose="020B0503020204020204" pitchFamily="34" charset="-122"/>
              </a:rPr>
              <a:t>DNSSEC</a:t>
            </a:r>
            <a:r>
              <a:rPr kumimoji="0" lang="zh-CN" altLang="en-US" sz="1800" b="0" i="0" u="none" strike="noStrike" kern="0" cap="none" spc="0" normalizeH="0" baseline="0" noProof="0" dirty="0">
                <a:ln>
                  <a:noFill/>
                </a:ln>
                <a:solidFill>
                  <a:prstClr val="black">
                    <a:lumMod val="50000"/>
                    <a:lumOff val="50000"/>
                  </a:prstClr>
                </a:solidFill>
                <a:effectLst/>
                <a:uLnTx/>
                <a:uFillTx/>
                <a:latin typeface="Calibri" panose="020F0502020204030204" pitchFamily="34" charset="0"/>
                <a:ea typeface="微软雅黑" panose="020B0503020204020204" pitchFamily="34" charset="-122"/>
              </a:rPr>
              <a:t>用</a:t>
            </a:r>
            <a:r>
              <a:rPr kumimoji="0" lang="en-US" altLang="zh-CN" sz="1800" b="0" i="0" u="none" strike="noStrike" kern="0" cap="none" spc="0" normalizeH="0" baseline="0" noProof="0" dirty="0">
                <a:ln>
                  <a:noFill/>
                </a:ln>
                <a:solidFill>
                  <a:prstClr val="black">
                    <a:lumMod val="50000"/>
                    <a:lumOff val="50000"/>
                  </a:prstClr>
                </a:solidFill>
                <a:effectLst/>
                <a:uLnTx/>
                <a:uFillTx/>
                <a:latin typeface="Calibri" panose="020F0502020204030204" pitchFamily="34" charset="0"/>
                <a:ea typeface="微软雅黑" panose="020B0503020204020204" pitchFamily="34" charset="-122"/>
              </a:rPr>
              <a:t>DNS</a:t>
            </a:r>
            <a:r>
              <a:rPr kumimoji="0" lang="zh-CN" altLang="en-US" sz="1800" b="0" i="0" u="none" strike="noStrike" kern="0" cap="none" spc="0" normalizeH="0" baseline="0" noProof="0" dirty="0">
                <a:ln>
                  <a:noFill/>
                </a:ln>
                <a:solidFill>
                  <a:prstClr val="black">
                    <a:lumMod val="50000"/>
                    <a:lumOff val="50000"/>
                  </a:prstClr>
                </a:solidFill>
                <a:effectLst/>
                <a:uLnTx/>
                <a:uFillTx/>
                <a:latin typeface="Calibri" panose="020F0502020204030204" pitchFamily="34" charset="0"/>
                <a:ea typeface="微软雅黑" panose="020B0503020204020204" pitchFamily="34" charset="-122"/>
              </a:rPr>
              <a:t>區域層次結構提供信任鏈，</a:t>
            </a:r>
            <a:r>
              <a:rPr kumimoji="0" lang="en-US" altLang="zh-CN" sz="1800" b="0" i="0" u="none" strike="noStrike" kern="0" cap="none" spc="0" normalizeH="0" baseline="0" noProof="0" dirty="0">
                <a:ln>
                  <a:noFill/>
                </a:ln>
                <a:solidFill>
                  <a:prstClr val="black">
                    <a:lumMod val="50000"/>
                    <a:lumOff val="50000"/>
                  </a:prstClr>
                </a:solidFill>
                <a:effectLst/>
                <a:uLnTx/>
                <a:uFillTx/>
                <a:latin typeface="Calibri" panose="020F0502020204030204" pitchFamily="34" charset="0"/>
                <a:ea typeface="微软雅黑" panose="020B0503020204020204" pitchFamily="34" charset="-122"/>
              </a:rPr>
              <a:t>TLS/SSL</a:t>
            </a:r>
            <a:r>
              <a:rPr kumimoji="0" lang="zh-CN" altLang="en-US" sz="1800" b="0" i="0" u="none" strike="noStrike" kern="0" cap="none" spc="0" normalizeH="0" baseline="0" noProof="0" dirty="0">
                <a:ln>
                  <a:noFill/>
                </a:ln>
                <a:solidFill>
                  <a:prstClr val="black">
                    <a:lumMod val="50000"/>
                    <a:lumOff val="50000"/>
                  </a:prstClr>
                </a:solidFill>
                <a:effectLst/>
                <a:uLnTx/>
                <a:uFillTx/>
                <a:latin typeface="Calibri" panose="020F0502020204030204" pitchFamily="34" charset="0"/>
                <a:ea typeface="微软雅黑" panose="020B0503020204020204" pitchFamily="34" charset="-122"/>
              </a:rPr>
              <a:t>協議依賴公鑰基礎設施（</a:t>
            </a:r>
            <a:r>
              <a:rPr kumimoji="0" lang="en-US" altLang="zh-CN" sz="1800" b="0" i="0" u="none" strike="noStrike" kern="0" cap="none" spc="0" normalizeH="0" baseline="0" noProof="0" dirty="0">
                <a:ln>
                  <a:noFill/>
                </a:ln>
                <a:solidFill>
                  <a:prstClr val="black">
                    <a:lumMod val="50000"/>
                    <a:lumOff val="50000"/>
                  </a:prstClr>
                </a:solidFill>
                <a:effectLst/>
                <a:uLnTx/>
                <a:uFillTx/>
                <a:latin typeface="Calibri" panose="020F0502020204030204" pitchFamily="34" charset="0"/>
                <a:ea typeface="微软雅黑" panose="020B0503020204020204" pitchFamily="34" charset="-122"/>
              </a:rPr>
              <a:t>PKI</a:t>
            </a:r>
            <a:r>
              <a:rPr kumimoji="0" lang="zh-CN" altLang="en-US" sz="1800" b="0" i="0" u="none" strike="noStrike" kern="0" cap="none" spc="0" normalizeH="0" baseline="0" noProof="0" dirty="0">
                <a:ln>
                  <a:noFill/>
                </a:ln>
                <a:solidFill>
                  <a:prstClr val="black">
                    <a:lumMod val="50000"/>
                    <a:lumOff val="50000"/>
                  </a:prstClr>
                </a:solidFill>
                <a:effectLst/>
                <a:uLnTx/>
                <a:uFillTx/>
                <a:latin typeface="Calibri" panose="020F0502020204030204" pitchFamily="34" charset="0"/>
                <a:ea typeface="微软雅黑" panose="020B0503020204020204" pitchFamily="34" charset="-122"/>
              </a:rPr>
              <a:t>），這其中包括許多證書授權中心（</a:t>
            </a:r>
            <a:r>
              <a:rPr kumimoji="0" lang="en-US" altLang="zh-CN" sz="1800" b="0" i="0" u="none" strike="noStrike" kern="0" cap="none" spc="0" normalizeH="0" baseline="0" noProof="0" dirty="0">
                <a:ln>
                  <a:noFill/>
                </a:ln>
                <a:solidFill>
                  <a:prstClr val="black">
                    <a:lumMod val="50000"/>
                    <a:lumOff val="50000"/>
                  </a:prstClr>
                </a:solidFill>
                <a:effectLst/>
                <a:uLnTx/>
                <a:uFillTx/>
                <a:latin typeface="Calibri" panose="020F0502020204030204" pitchFamily="34" charset="0"/>
                <a:ea typeface="微软雅黑" panose="020B0503020204020204" pitchFamily="34" charset="-122"/>
              </a:rPr>
              <a:t>CA</a:t>
            </a:r>
            <a:r>
              <a:rPr kumimoji="0" lang="zh-CN" altLang="en-US" sz="1800" b="0" i="0" u="none" strike="noStrike" kern="0" cap="none" spc="0" normalizeH="0" baseline="0" noProof="0" dirty="0">
                <a:ln>
                  <a:noFill/>
                </a:ln>
                <a:solidFill>
                  <a:prstClr val="black">
                    <a:lumMod val="50000"/>
                    <a:lumOff val="50000"/>
                  </a:prstClr>
                </a:solidFill>
                <a:effectLst/>
                <a:uLnTx/>
                <a:uFillTx/>
                <a:latin typeface="Calibri" panose="020F0502020204030204" pitchFamily="34" charset="0"/>
                <a:ea typeface="微软雅黑" panose="020B0503020204020204" pitchFamily="34" charset="-122"/>
              </a:rPr>
              <a:t>）</a:t>
            </a:r>
            <a:endParaRPr kumimoji="0" lang="en-US" altLang="zh-CN" sz="1800" b="0" i="0" u="none" strike="noStrike" kern="0" cap="none" spc="0" normalizeH="0" baseline="0" noProof="0" dirty="0">
              <a:ln>
                <a:noFill/>
              </a:ln>
              <a:solidFill>
                <a:prstClr val="black">
                  <a:lumMod val="50000"/>
                  <a:lumOff val="50000"/>
                </a:prstClr>
              </a:solidFill>
              <a:effectLst/>
              <a:uLnTx/>
              <a:uFillTx/>
              <a:latin typeface="Calibri" panose="020F0502020204030204" pitchFamily="34" charset="0"/>
              <a:ea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448848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800" kern="0" dirty="0">
              <a:solidFill>
                <a:srgbClr val="000000"/>
              </a:solidFill>
              <a:effectLst/>
              <a:latin typeface="宋体" panose="02010600030101010101" pitchFamily="2" charset="-122"/>
              <a:ea typeface="宋体" panose="02010600030101010101" pitchFamily="2" charset="-122"/>
              <a:cs typeface="TeXGyreTermes-Regular-Identity-"/>
            </a:endParaRPr>
          </a:p>
          <a:p>
            <a:endParaRPr lang="en-US" altLang="zh-CN" sz="1800" kern="0" dirty="0">
              <a:solidFill>
                <a:srgbClr val="000000"/>
              </a:solidFill>
              <a:effectLst/>
              <a:latin typeface="宋体" panose="02010600030101010101" pitchFamily="2" charset="-122"/>
              <a:ea typeface="宋体" panose="02010600030101010101" pitchFamily="2" charset="-122"/>
              <a:cs typeface="TeXGyreTermes-Regular-Identity-"/>
            </a:endParaRPr>
          </a:p>
          <a:p>
            <a:r>
              <a:rPr lang="x-none" altLang="zh-CN" sz="1800" kern="0" dirty="0">
                <a:solidFill>
                  <a:srgbClr val="000000"/>
                </a:solidFill>
                <a:effectLst/>
                <a:latin typeface="宋体" panose="02010600030101010101" pitchFamily="2" charset="-122"/>
                <a:cs typeface="TeXGyreTermes-Regular-Identity-"/>
              </a:rPr>
              <a:t>DNS-over-HTTPS </a:t>
            </a:r>
            <a:r>
              <a:rPr lang="zh-CN" altLang="zh-CN" sz="1800" kern="0" dirty="0">
                <a:solidFill>
                  <a:srgbClr val="000000"/>
                </a:solidFill>
                <a:effectLst/>
                <a:latin typeface="Times New Roman" panose="02020603050405020304" pitchFamily="18" charset="0"/>
                <a:ea typeface="宋体" panose="02010600030101010101" pitchFamily="2" charset="-122"/>
                <a:cs typeface="NotoSerifCJKjp-Light-Identity-H"/>
              </a:rPr>
              <a:t>協議</a:t>
            </a:r>
            <a:r>
              <a:rPr lang="zh-CN" altLang="zh-CN" sz="1800" kern="0" dirty="0">
                <a:solidFill>
                  <a:srgbClr val="000000"/>
                </a:solidFill>
                <a:effectLst/>
                <a:ea typeface="宋体" panose="02010600030101010101" pitchFamily="2" charset="-122"/>
                <a:cs typeface="宋体" panose="02010600030101010101" pitchFamily="2" charset="-122"/>
              </a:rPr>
              <a:t>則是采用一種完全顛覆式的域名系統架構，不與現有域名系統相兼容，采用</a:t>
            </a:r>
            <a:r>
              <a:rPr lang="x-none" altLang="zh-CN" sz="1800" kern="0" dirty="0">
                <a:solidFill>
                  <a:srgbClr val="000000"/>
                </a:solidFill>
                <a:effectLst/>
                <a:latin typeface="宋体" panose="02010600030101010101" pitchFamily="2" charset="-122"/>
                <a:cs typeface="TeXGyreTermes-Regular-Identity-"/>
              </a:rPr>
              <a:t>HTTPS </a:t>
            </a:r>
            <a:r>
              <a:rPr lang="zh-CN" altLang="zh-CN" sz="1800" kern="0" dirty="0">
                <a:solidFill>
                  <a:srgbClr val="000000"/>
                </a:solidFill>
                <a:effectLst/>
                <a:ea typeface="宋体" panose="02010600030101010101" pitchFamily="2" charset="-122"/>
                <a:cs typeface="宋体" panose="02010600030101010101" pitchFamily="2" charset="-122"/>
              </a:rPr>
              <a:t>信道傳輸域名協議數據，將控制平面信息混雜在數據平面之中。</a:t>
            </a:r>
            <a:endParaRPr lang="en-US" altLang="zh-CN" sz="1800" kern="0" dirty="0">
              <a:solidFill>
                <a:srgbClr val="000000"/>
              </a:solidFill>
              <a:effectLst/>
              <a:ea typeface="宋体" panose="02010600030101010101" pitchFamily="2" charset="-122"/>
              <a:cs typeface="宋体" panose="02010600030101010101" pitchFamily="2" charset="-122"/>
            </a:endParaRPr>
          </a:p>
          <a:p>
            <a:endParaRPr lang="en-US" altLang="zh-CN" sz="1800" kern="0" dirty="0">
              <a:solidFill>
                <a:srgbClr val="000000"/>
              </a:solidFill>
              <a:effectLst/>
              <a:ea typeface="宋体" panose="02010600030101010101" pitchFamily="2" charset="-122"/>
            </a:endParaRPr>
          </a:p>
          <a:p>
            <a:pPr algn="l"/>
            <a:r>
              <a:rPr lang="en-US" altLang="zh-CN" b="0" i="0" dirty="0">
                <a:solidFill>
                  <a:srgbClr val="121212"/>
                </a:solidFill>
                <a:effectLst/>
                <a:latin typeface="-apple-system"/>
              </a:rPr>
              <a:t>DOT</a:t>
            </a:r>
            <a:r>
              <a:rPr lang="zh-CN" altLang="en-US" b="0" i="0" dirty="0">
                <a:solidFill>
                  <a:srgbClr val="121212"/>
                </a:solidFill>
                <a:effectLst/>
                <a:latin typeface="-apple-system"/>
              </a:rPr>
              <a:t>使用了新的端口，雖然加密了，但是可能被防火墻阻止。</a:t>
            </a:r>
          </a:p>
          <a:p>
            <a:pPr algn="l"/>
            <a:r>
              <a:rPr lang="en-US" altLang="zh-CN" b="0" i="0" dirty="0">
                <a:solidFill>
                  <a:srgbClr val="121212"/>
                </a:solidFill>
                <a:effectLst/>
                <a:latin typeface="-apple-system"/>
              </a:rPr>
              <a:t>DOH</a:t>
            </a:r>
            <a:r>
              <a:rPr lang="zh-CN" altLang="en-US" b="0" i="0" dirty="0">
                <a:solidFill>
                  <a:srgbClr val="121212"/>
                </a:solidFill>
                <a:effectLst/>
                <a:latin typeface="-apple-system"/>
              </a:rPr>
              <a:t>使用</a:t>
            </a:r>
            <a:r>
              <a:rPr lang="en-US" altLang="zh-CN" b="0" i="0" dirty="0">
                <a:solidFill>
                  <a:srgbClr val="121212"/>
                </a:solidFill>
                <a:effectLst/>
                <a:latin typeface="-apple-system"/>
              </a:rPr>
              <a:t>https</a:t>
            </a:r>
            <a:r>
              <a:rPr lang="zh-CN" altLang="en-US" b="0" i="0" dirty="0">
                <a:solidFill>
                  <a:srgbClr val="121212"/>
                </a:solidFill>
                <a:effectLst/>
                <a:latin typeface="-apple-system"/>
              </a:rPr>
              <a:t>協議，端口仍是</a:t>
            </a:r>
            <a:r>
              <a:rPr lang="en-US" altLang="zh-CN" b="0" i="0" dirty="0">
                <a:solidFill>
                  <a:srgbClr val="121212"/>
                </a:solidFill>
                <a:effectLst/>
                <a:latin typeface="-apple-system"/>
              </a:rPr>
              <a:t>443</a:t>
            </a:r>
            <a:r>
              <a:rPr lang="zh-CN" altLang="en-US" b="0" i="0" dirty="0">
                <a:solidFill>
                  <a:srgbClr val="121212"/>
                </a:solidFill>
                <a:effectLst/>
                <a:latin typeface="-apple-system"/>
              </a:rPr>
              <a:t>，不會被阻止，和</a:t>
            </a:r>
            <a:r>
              <a:rPr lang="en-US" altLang="zh-CN" b="0" i="0" dirty="0">
                <a:solidFill>
                  <a:srgbClr val="121212"/>
                </a:solidFill>
                <a:effectLst/>
                <a:latin typeface="-apple-system"/>
              </a:rPr>
              <a:t>DOT</a:t>
            </a:r>
            <a:r>
              <a:rPr lang="zh-CN" altLang="en-US" b="0" i="0" dirty="0">
                <a:solidFill>
                  <a:srgbClr val="121212"/>
                </a:solidFill>
                <a:effectLst/>
                <a:latin typeface="-apple-system"/>
              </a:rPr>
              <a:t>一樣也是加密隧道</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46167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27000" indent="304800" algn="just"/>
            <a:r>
              <a:rPr lang="en-US" altLang="zh-CN" dirty="0"/>
              <a:t>A. Hubert and R. van Mook. 2009. RFC 5452: Measures for Making DNS More Resilient against Forged Answers. Technical Report. https://tools.ietf.org/html/  Rfc5452    </a:t>
            </a:r>
            <a:r>
              <a:rPr lang="zh-CN" altLang="en-US" dirty="0"/>
              <a:t>源端口隨機</a:t>
            </a:r>
            <a:endParaRPr lang="en-US" altLang="zh-CN" dirty="0"/>
          </a:p>
          <a:p>
            <a:pPr marL="127000" indent="304800" algn="just"/>
            <a:endParaRPr lang="en-US" altLang="zh-CN" dirty="0"/>
          </a:p>
          <a:p>
            <a:pPr algn="l"/>
            <a:r>
              <a:rPr lang="zh-CN" altLang="en-US" b="0" i="0" dirty="0">
                <a:solidFill>
                  <a:srgbClr val="000000"/>
                </a:solidFill>
                <a:effectLst/>
                <a:latin typeface="宋体" panose="02010600030101010101" pitchFamily="2" charset="-122"/>
                <a:ea typeface="宋体" panose="02010600030101010101" pitchFamily="2" charset="-122"/>
              </a:rPr>
              <a:t>使用蜜網技術，可以深入跟踪和分析</a:t>
            </a:r>
            <a:r>
              <a:rPr lang="en-US" altLang="zh-CN" b="0" i="0" dirty="0">
                <a:solidFill>
                  <a:srgbClr val="000000"/>
                </a:solidFill>
                <a:effectLst/>
                <a:latin typeface="宋体" panose="02010600030101010101" pitchFamily="2" charset="-122"/>
                <a:ea typeface="宋体" panose="02010600030101010101" pitchFamily="2" charset="-122"/>
              </a:rPr>
              <a:t>Botnet</a:t>
            </a:r>
            <a:r>
              <a:rPr lang="zh-CN" altLang="en-US" b="0" i="0" dirty="0">
                <a:solidFill>
                  <a:srgbClr val="000000"/>
                </a:solidFill>
                <a:effectLst/>
                <a:latin typeface="宋体" panose="02010600030101010101" pitchFamily="2" charset="-122"/>
                <a:ea typeface="宋体" panose="02010600030101010101" pitchFamily="2" charset="-122"/>
              </a:rPr>
              <a:t>的性質和特徵。主要過程是，首先通過密罐等手段盡可能多地獲得各種流傳在網上的</a:t>
            </a:r>
            <a:r>
              <a:rPr lang="en-US" altLang="zh-CN" b="0" i="0" dirty="0">
                <a:solidFill>
                  <a:srgbClr val="000000"/>
                </a:solidFill>
                <a:effectLst/>
                <a:latin typeface="宋体" panose="02010600030101010101" pitchFamily="2" charset="-122"/>
                <a:ea typeface="宋体" panose="02010600030101010101" pitchFamily="2" charset="-122"/>
              </a:rPr>
              <a:t>bot</a:t>
            </a:r>
            <a:r>
              <a:rPr lang="zh-CN" altLang="en-US" b="0" i="0" dirty="0">
                <a:solidFill>
                  <a:srgbClr val="000000"/>
                </a:solidFill>
                <a:effectLst/>
                <a:latin typeface="宋体" panose="02010600030101010101" pitchFamily="2" charset="-122"/>
                <a:ea typeface="宋体" panose="02010600030101010101" pitchFamily="2" charset="-122"/>
              </a:rPr>
              <a:t>程序樣本；當獲得</a:t>
            </a:r>
            <a:r>
              <a:rPr lang="en-US" altLang="zh-CN" b="0" i="0" dirty="0">
                <a:solidFill>
                  <a:srgbClr val="000000"/>
                </a:solidFill>
                <a:effectLst/>
                <a:latin typeface="宋体" panose="02010600030101010101" pitchFamily="2" charset="-122"/>
                <a:ea typeface="宋体" panose="02010600030101010101" pitchFamily="2" charset="-122"/>
              </a:rPr>
              <a:t>bot</a:t>
            </a:r>
            <a:r>
              <a:rPr lang="zh-CN" altLang="en-US" b="0" i="0" dirty="0">
                <a:solidFill>
                  <a:srgbClr val="000000"/>
                </a:solidFill>
                <a:effectLst/>
                <a:latin typeface="宋体" panose="02010600030101010101" pitchFamily="2" charset="-122"/>
                <a:ea typeface="宋体" panose="02010600030101010101" pitchFamily="2" charset="-122"/>
              </a:rPr>
              <a:t>程序樣本後，采用逆向工程等惡意代碼分析手段，獲得隱藏在代碼中的登錄</a:t>
            </a:r>
            <a:r>
              <a:rPr lang="en-US" altLang="zh-CN" b="0" i="0" dirty="0">
                <a:solidFill>
                  <a:srgbClr val="000000"/>
                </a:solidFill>
                <a:effectLst/>
                <a:latin typeface="宋体" panose="02010600030101010101" pitchFamily="2" charset="-122"/>
                <a:ea typeface="宋体" panose="02010600030101010101" pitchFamily="2" charset="-122"/>
              </a:rPr>
              <a:t>Botnet</a:t>
            </a:r>
            <a:r>
              <a:rPr lang="zh-CN" altLang="en-US" b="0" i="0" dirty="0">
                <a:solidFill>
                  <a:srgbClr val="000000"/>
                </a:solidFill>
                <a:effectLst/>
                <a:latin typeface="宋体" panose="02010600030101010101" pitchFamily="2" charset="-122"/>
                <a:ea typeface="宋体" panose="02010600030101010101" pitchFamily="2" charset="-122"/>
              </a:rPr>
              <a:t>所需要的屬性，如</a:t>
            </a:r>
            <a:r>
              <a:rPr lang="en-US" altLang="zh-CN" b="0" i="0" dirty="0">
                <a:solidFill>
                  <a:srgbClr val="000000"/>
                </a:solidFill>
                <a:effectLst/>
                <a:latin typeface="宋体" panose="02010600030101010101" pitchFamily="2" charset="-122"/>
                <a:ea typeface="宋体" panose="02010600030101010101" pitchFamily="2" charset="-122"/>
              </a:rPr>
              <a:t>Botnet </a:t>
            </a:r>
            <a:r>
              <a:rPr lang="zh-CN" altLang="en-US" b="0" i="0" dirty="0">
                <a:solidFill>
                  <a:srgbClr val="000000"/>
                </a:solidFill>
                <a:effectLst/>
                <a:latin typeface="宋体" panose="02010600030101010101" pitchFamily="2" charset="-122"/>
                <a:ea typeface="宋体" panose="02010600030101010101" pitchFamily="2" charset="-122"/>
              </a:rPr>
              <a:t>服務器地址、服務端口、指定的惡意頻道名稱及登錄密碼，以及登錄所使用到的用戶名稱，通過行爲分析中心（</a:t>
            </a:r>
            <a:r>
              <a:rPr lang="en-US" altLang="zh-CN" b="0" i="0" dirty="0">
                <a:solidFill>
                  <a:srgbClr val="000000"/>
                </a:solidFill>
                <a:effectLst/>
                <a:latin typeface="宋体" panose="02010600030101010101" pitchFamily="2" charset="-122"/>
                <a:ea typeface="宋体" panose="02010600030101010101" pitchFamily="2" charset="-122"/>
              </a:rPr>
              <a:t>BAC</a:t>
            </a:r>
            <a:r>
              <a:rPr lang="zh-CN" altLang="en-US" b="0" i="0" dirty="0">
                <a:solidFill>
                  <a:srgbClr val="000000"/>
                </a:solidFill>
                <a:effectLst/>
                <a:latin typeface="宋体" panose="02010600030101010101" pitchFamily="2" charset="-122"/>
                <a:ea typeface="宋体" panose="02010600030101010101" pitchFamily="2" charset="-122"/>
              </a:rPr>
              <a:t>）對這些些信息的分析，可以有效地跟踪</a:t>
            </a:r>
            <a:r>
              <a:rPr lang="en-US" altLang="zh-CN" b="0" i="0" dirty="0">
                <a:solidFill>
                  <a:srgbClr val="000000"/>
                </a:solidFill>
                <a:effectLst/>
                <a:latin typeface="宋体" panose="02010600030101010101" pitchFamily="2" charset="-122"/>
                <a:ea typeface="宋体" panose="02010600030101010101" pitchFamily="2" charset="-122"/>
              </a:rPr>
              <a:t>Botnet</a:t>
            </a:r>
            <a:r>
              <a:rPr lang="zh-CN" altLang="en-US" b="0" i="0" dirty="0">
                <a:solidFill>
                  <a:srgbClr val="000000"/>
                </a:solidFill>
                <a:effectLst/>
                <a:latin typeface="宋体" panose="02010600030101010101" pitchFamily="2" charset="-122"/>
                <a:ea typeface="宋体" panose="02010600030101010101" pitchFamily="2" charset="-122"/>
              </a:rPr>
              <a:t>和獲取</a:t>
            </a:r>
            <a:r>
              <a:rPr lang="en-US" altLang="zh-CN" b="0" i="0" dirty="0">
                <a:solidFill>
                  <a:srgbClr val="000000"/>
                </a:solidFill>
                <a:effectLst/>
                <a:latin typeface="宋体" panose="02010600030101010101" pitchFamily="2" charset="-122"/>
                <a:ea typeface="宋体" panose="02010600030101010101" pitchFamily="2" charset="-122"/>
              </a:rPr>
              <a:t>Botnet</a:t>
            </a:r>
            <a:r>
              <a:rPr lang="zh-CN" altLang="en-US" b="0" i="0" dirty="0">
                <a:solidFill>
                  <a:srgbClr val="000000"/>
                </a:solidFill>
                <a:effectLst/>
                <a:latin typeface="宋体" panose="02010600030101010101" pitchFamily="2" charset="-122"/>
                <a:ea typeface="宋体" panose="02010600030101010101" pitchFamily="2" charset="-122"/>
              </a:rPr>
              <a:t>的特徵。</a:t>
            </a:r>
          </a:p>
          <a:p>
            <a:pPr algn="l"/>
            <a:r>
              <a:rPr lang="zh-CN" altLang="en-US" b="0" i="0" dirty="0">
                <a:solidFill>
                  <a:srgbClr val="000000"/>
                </a:solidFill>
                <a:effectLst/>
                <a:latin typeface="宋体" panose="02010600030101010101" pitchFamily="2" charset="-122"/>
                <a:ea typeface="宋体" panose="02010600030101010101" pitchFamily="2" charset="-122"/>
              </a:rPr>
              <a:t>當用戶訪問網絡時，</a:t>
            </a:r>
            <a:r>
              <a:rPr lang="en-US" altLang="zh-CN" b="0" i="0" dirty="0">
                <a:solidFill>
                  <a:srgbClr val="000000"/>
                </a:solidFill>
                <a:effectLst/>
                <a:latin typeface="宋体" panose="02010600030101010101" pitchFamily="2" charset="-122"/>
                <a:ea typeface="宋体" panose="02010600030101010101" pitchFamily="2" charset="-122"/>
              </a:rPr>
              <a:t>DNS</a:t>
            </a:r>
            <a:r>
              <a:rPr lang="zh-CN" altLang="en-US" b="0" i="0" dirty="0">
                <a:solidFill>
                  <a:srgbClr val="000000"/>
                </a:solidFill>
                <a:effectLst/>
                <a:latin typeface="宋体" panose="02010600030101010101" pitchFamily="2" charset="-122"/>
                <a:ea typeface="宋体" panose="02010600030101010101" pitchFamily="2" charset="-122"/>
              </a:rPr>
              <a:t>專項防護産品會和行爲分析中心（</a:t>
            </a:r>
            <a:r>
              <a:rPr lang="en-US" altLang="zh-CN" b="0" i="0" dirty="0">
                <a:solidFill>
                  <a:srgbClr val="000000"/>
                </a:solidFill>
                <a:effectLst/>
                <a:latin typeface="宋体" panose="02010600030101010101" pitchFamily="2" charset="-122"/>
                <a:ea typeface="宋体" panose="02010600030101010101" pitchFamily="2" charset="-122"/>
              </a:rPr>
              <a:t>BAC</a:t>
            </a:r>
            <a:r>
              <a:rPr lang="zh-CN" altLang="en-US" b="0" i="0" dirty="0">
                <a:solidFill>
                  <a:srgbClr val="000000"/>
                </a:solidFill>
                <a:effectLst/>
                <a:latin typeface="宋体" panose="02010600030101010101" pitchFamily="2" charset="-122"/>
                <a:ea typeface="宋体" panose="02010600030101010101" pitchFamily="2" charset="-122"/>
              </a:rPr>
              <a:t>）互動，</a:t>
            </a:r>
            <a:r>
              <a:rPr lang="en-US" altLang="zh-CN" b="0" i="0" dirty="0">
                <a:solidFill>
                  <a:srgbClr val="000000"/>
                </a:solidFill>
                <a:effectLst/>
                <a:latin typeface="宋体" panose="02010600030101010101" pitchFamily="2" charset="-122"/>
                <a:ea typeface="宋体" panose="02010600030101010101" pitchFamily="2" charset="-122"/>
              </a:rPr>
              <a:t>BAC</a:t>
            </a:r>
            <a:r>
              <a:rPr lang="zh-CN" altLang="en-US" b="0" i="0" dirty="0">
                <a:solidFill>
                  <a:srgbClr val="000000"/>
                </a:solidFill>
                <a:effectLst/>
                <a:latin typeface="宋体" panose="02010600030101010101" pitchFamily="2" charset="-122"/>
                <a:ea typeface="宋体" panose="02010600030101010101" pitchFamily="2" charset="-122"/>
              </a:rPr>
              <a:t>會識別該行爲是否是</a:t>
            </a:r>
            <a:r>
              <a:rPr lang="en-US" altLang="zh-CN" b="0" i="0" dirty="0" err="1">
                <a:solidFill>
                  <a:srgbClr val="000000"/>
                </a:solidFill>
                <a:effectLst/>
                <a:latin typeface="宋体" panose="02010600030101010101" pitchFamily="2" charset="-122"/>
                <a:ea typeface="宋体" panose="02010600030101010101" pitchFamily="2" charset="-122"/>
              </a:rPr>
              <a:t>BotNet</a:t>
            </a:r>
            <a:r>
              <a:rPr lang="zh-CN" altLang="en-US" b="0" i="0" dirty="0">
                <a:solidFill>
                  <a:srgbClr val="000000"/>
                </a:solidFill>
                <a:effectLst/>
                <a:latin typeface="宋体" panose="02010600030101010101" pitchFamily="2" charset="-122"/>
                <a:ea typeface="宋体" panose="02010600030101010101" pitchFamily="2" charset="-122"/>
              </a:rPr>
              <a:t>的行爲，從而可以實現</a:t>
            </a:r>
            <a:r>
              <a:rPr lang="en-US" altLang="zh-CN" b="0" i="0" dirty="0" err="1">
                <a:solidFill>
                  <a:srgbClr val="000000"/>
                </a:solidFill>
                <a:effectLst/>
                <a:latin typeface="宋体" panose="02010600030101010101" pitchFamily="2" charset="-122"/>
                <a:ea typeface="宋体" panose="02010600030101010101" pitchFamily="2" charset="-122"/>
              </a:rPr>
              <a:t>BotNet</a:t>
            </a:r>
            <a:r>
              <a:rPr lang="zh-CN" altLang="en-US" b="0" i="0" dirty="0">
                <a:solidFill>
                  <a:srgbClr val="000000"/>
                </a:solidFill>
                <a:effectLst/>
                <a:latin typeface="宋体" panose="02010600030101010101" pitchFamily="2" charset="-122"/>
                <a:ea typeface="宋体" panose="02010600030101010101" pitchFamily="2" charset="-122"/>
              </a:rPr>
              <a:t>主機的檢測和定位，進而實現流量過濾</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152780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marR="0" lvl="0" indent="-342900" algn="just"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lang="en-US" altLang="zh-CN" b="0" i="0" dirty="0">
                <a:solidFill>
                  <a:srgbClr val="555666"/>
                </a:solidFill>
                <a:effectLst/>
                <a:latin typeface="-apple-system"/>
              </a:rPr>
              <a:t>bailiwick</a:t>
            </a:r>
            <a:r>
              <a:rPr lang="zh-CN" altLang="en-US" b="0" i="0" dirty="0">
                <a:solidFill>
                  <a:srgbClr val="555666"/>
                </a:solidFill>
                <a:effectLst/>
                <a:latin typeface="-apple-system"/>
              </a:rPr>
              <a:t>檢查被設計出來專門防範緩存污染，主要原則是：如果檢查發現附加區</a:t>
            </a:r>
            <a:r>
              <a:rPr lang="en-US" altLang="zh-CN" b="0" i="0" dirty="0">
                <a:solidFill>
                  <a:srgbClr val="555666"/>
                </a:solidFill>
                <a:effectLst/>
                <a:latin typeface="-apple-system"/>
              </a:rPr>
              <a:t>(</a:t>
            </a:r>
            <a:r>
              <a:rPr lang="zh-CN" altLang="en-US" b="0" i="0" dirty="0">
                <a:solidFill>
                  <a:srgbClr val="555666"/>
                </a:solidFill>
                <a:effectLst/>
                <a:latin typeface="-apple-system"/>
              </a:rPr>
              <a:t>或權威區</a:t>
            </a:r>
            <a:r>
              <a:rPr lang="en-US" altLang="zh-CN" b="0" i="0" dirty="0">
                <a:solidFill>
                  <a:srgbClr val="555666"/>
                </a:solidFill>
                <a:effectLst/>
                <a:latin typeface="-apple-system"/>
              </a:rPr>
              <a:t>)</a:t>
            </a:r>
            <a:r>
              <a:rPr lang="zh-CN" altLang="en-US" b="0" i="0" dirty="0">
                <a:solidFill>
                  <a:srgbClr val="555666"/>
                </a:solidFill>
                <a:effectLst/>
                <a:latin typeface="-apple-system"/>
              </a:rPr>
              <a:t>中的記錄和問題區中的問題不在同一個域管轄之下，就會格外謹慎而不會采信（更不會記入緩存）此記錄，這可以防範惡意權威</a:t>
            </a:r>
            <a:r>
              <a:rPr lang="en-US" altLang="zh-CN" b="0" i="0" dirty="0">
                <a:solidFill>
                  <a:srgbClr val="555666"/>
                </a:solidFill>
                <a:effectLst/>
                <a:latin typeface="-apple-system"/>
              </a:rPr>
              <a:t>DNS</a:t>
            </a:r>
            <a:r>
              <a:rPr lang="zh-CN" altLang="en-US" b="0" i="0" dirty="0">
                <a:solidFill>
                  <a:srgbClr val="555666"/>
                </a:solidFill>
                <a:effectLst/>
                <a:latin typeface="-apple-system"/>
              </a:rPr>
              <a:t>發出虛假的記錄以污染緩存。</a:t>
            </a:r>
            <a:r>
              <a:rPr lang="zh-CN" altLang="en-US" sz="1200" kern="0" dirty="0">
                <a:latin typeface="微软雅黑" panose="020B0503020204020204" pitchFamily="34" charset="-122"/>
                <a:ea typeface="微软雅黑" panose="020B0503020204020204" pitchFamily="34" charset="-122"/>
              </a:rPr>
              <a:t>比如，請求</a:t>
            </a:r>
            <a:r>
              <a:rPr lang="en-US" altLang="zh-CN" sz="1200" kern="0" dirty="0">
                <a:latin typeface="微软雅黑" panose="020B0503020204020204" pitchFamily="34" charset="-122"/>
                <a:ea typeface="微软雅黑" panose="020B0503020204020204" pitchFamily="34" charset="-122"/>
              </a:rPr>
              <a:t>www.foo.com</a:t>
            </a:r>
            <a:r>
              <a:rPr lang="zh-CN" altLang="en-US" sz="1200" kern="0" dirty="0">
                <a:latin typeface="微软雅黑" panose="020B0503020204020204" pitchFamily="34" charset="-122"/>
                <a:ea typeface="微软雅黑" panose="020B0503020204020204" pitchFamily="34" charset="-122"/>
              </a:rPr>
              <a:t>的時候，響應包裏出現關于</a:t>
            </a:r>
            <a:r>
              <a:rPr lang="en-US" altLang="zh-CN" sz="1200" kern="0" dirty="0">
                <a:latin typeface="微软雅黑" panose="020B0503020204020204" pitchFamily="34" charset="-122"/>
                <a:ea typeface="微软雅黑" panose="020B0503020204020204" pitchFamily="34" charset="-122"/>
              </a:rPr>
              <a:t>www.bar.com</a:t>
            </a:r>
            <a:r>
              <a:rPr lang="zh-CN" altLang="en-US" sz="1200" kern="0" dirty="0">
                <a:latin typeface="微软雅黑" panose="020B0503020204020204" pitchFamily="34" charset="-122"/>
                <a:ea typeface="微软雅黑" panose="020B0503020204020204" pitchFamily="34" charset="-122"/>
              </a:rPr>
              <a:t>的記錄，根據</a:t>
            </a:r>
            <a:r>
              <a:rPr lang="en-US" altLang="zh-CN" sz="1200" kern="0" dirty="0">
                <a:latin typeface="微软雅黑" panose="020B0503020204020204" pitchFamily="34" charset="-122"/>
                <a:ea typeface="微软雅黑" panose="020B0503020204020204" pitchFamily="34" charset="-122"/>
              </a:rPr>
              <a:t>bailiwick</a:t>
            </a:r>
            <a:r>
              <a:rPr lang="zh-CN" altLang="en-US" sz="1200" kern="0" dirty="0">
                <a:latin typeface="微软雅黑" panose="020B0503020204020204" pitchFamily="34" charset="-122"/>
                <a:ea typeface="微软雅黑" panose="020B0503020204020204" pitchFamily="34" charset="-122"/>
              </a:rPr>
              <a:t>檢查規則，不會接受此</a:t>
            </a:r>
            <a:r>
              <a:rPr lang="en-US" altLang="zh-CN" sz="1200" kern="0" dirty="0">
                <a:latin typeface="微软雅黑" panose="020B0503020204020204" pitchFamily="34" charset="-122"/>
                <a:ea typeface="微软雅黑" panose="020B0503020204020204" pitchFamily="34" charset="-122"/>
              </a:rPr>
              <a:t>A</a:t>
            </a:r>
            <a:r>
              <a:rPr lang="zh-CN" altLang="en-US" sz="1200" kern="0" dirty="0">
                <a:latin typeface="微软雅黑" panose="020B0503020204020204" pitchFamily="34" charset="-122"/>
                <a:ea typeface="微软雅黑" panose="020B0503020204020204" pitchFamily="34" charset="-122"/>
              </a:rPr>
              <a:t>記錄</a:t>
            </a:r>
            <a:endParaRPr lang="en-US" altLang="zh-CN" sz="1200" kern="0" dirty="0">
              <a:latin typeface="微软雅黑" panose="020B0503020204020204" pitchFamily="34" charset="-122"/>
              <a:ea typeface="微软雅黑" panose="020B0503020204020204" pitchFamily="34" charset="-122"/>
            </a:endParaRPr>
          </a:p>
          <a:p>
            <a:pPr algn="l"/>
            <a:r>
              <a:rPr lang="en-US" altLang="zh-CN" b="0" i="0" dirty="0">
                <a:solidFill>
                  <a:srgbClr val="3C3B3B"/>
                </a:solidFill>
                <a:effectLst/>
                <a:latin typeface="Open Sans"/>
              </a:rPr>
              <a:t>In the DNS world, "in-bailiwick" has two formal and not particularly approachable definitions in </a:t>
            </a:r>
            <a:r>
              <a:rPr lang="en-US" altLang="zh-CN" b="0" i="0" u="sng" dirty="0">
                <a:solidFill>
                  <a:srgbClr val="708ECA"/>
                </a:solidFill>
                <a:effectLst/>
                <a:latin typeface="Open Sans"/>
                <a:hlinkClick r:id="rId3"/>
              </a:rPr>
              <a:t>RFC 7719, "DNS Terminology"</a:t>
            </a:r>
            <a:r>
              <a:rPr lang="en-US" altLang="zh-CN" b="0" i="0" dirty="0">
                <a:solidFill>
                  <a:srgbClr val="3C3B3B"/>
                </a:solidFill>
                <a:effectLst/>
                <a:latin typeface="Open Sans"/>
              </a:rPr>
              <a:t>. The first of those reads in part:</a:t>
            </a:r>
          </a:p>
          <a:p>
            <a:pPr algn="l"/>
            <a:r>
              <a:rPr lang="en-US" altLang="zh-CN" b="0" i="0" dirty="0">
                <a:solidFill>
                  <a:srgbClr val="3C3B3B"/>
                </a:solidFill>
                <a:effectLst/>
                <a:latin typeface="Open Sans"/>
              </a:rPr>
              <a:t>In-bailiwick: (a) An adjective to describe a name server whose name is either subordinate to or (rarely) the same as the zone origin. In-bailiwick name servers require glue records in their parent zone [...] </a:t>
            </a:r>
          </a:p>
          <a:p>
            <a:pPr algn="l"/>
            <a:r>
              <a:rPr lang="en-US" altLang="zh-CN" b="0" i="0" dirty="0">
                <a:solidFill>
                  <a:srgbClr val="3C3B3B"/>
                </a:solidFill>
                <a:effectLst/>
                <a:latin typeface="Open Sans"/>
              </a:rPr>
              <a:t>For example, under definition a, ns1.example.com might be an "in-bailiwick" name server for example.com, while ns2.whatever.net would be "out-of-bailiwick" for example.com.</a:t>
            </a:r>
          </a:p>
          <a:p>
            <a:pPr marL="342900" indent="-342900" algn="just">
              <a:lnSpc>
                <a:spcPct val="130000"/>
              </a:lnSpc>
              <a:buFont typeface="Arial" panose="020B0604020202020204" pitchFamily="34" charset="0"/>
              <a:buChar char="•"/>
            </a:pPr>
            <a:endParaRPr lang="en-US" altLang="zh-CN" sz="1200" kern="0" dirty="0">
              <a:latin typeface="微软雅黑" panose="020B0503020204020204" pitchFamily="34" charset="-122"/>
              <a:ea typeface="微软雅黑" panose="020B0503020204020204" pitchFamily="34" charset="-122"/>
            </a:endParaRPr>
          </a:p>
          <a:p>
            <a:pPr marL="127000" indent="304800" algn="just"/>
            <a:endParaRPr lang="en-US" altLang="zh-CN" dirty="0"/>
          </a:p>
          <a:p>
            <a:pPr marL="127000" indent="304800" algn="just"/>
            <a:endParaRPr lang="en-US" altLang="zh-CN" dirty="0"/>
          </a:p>
          <a:p>
            <a:pPr marL="127000" indent="304800" algn="just"/>
            <a:r>
              <a:rPr lang="en-US" altLang="zh-CN" b="1" i="0" dirty="0">
                <a:solidFill>
                  <a:srgbClr val="76549D"/>
                </a:solidFill>
                <a:effectLst/>
                <a:latin typeface="Open Sans"/>
              </a:rPr>
              <a:t>DNSDB</a:t>
            </a:r>
            <a:r>
              <a:rPr lang="en-US" altLang="zh-CN" b="0" i="0" dirty="0">
                <a:solidFill>
                  <a:srgbClr val="6D6279"/>
                </a:solidFill>
                <a:effectLst/>
                <a:latin typeface="Open Sans"/>
              </a:rPr>
              <a:t> is a database that stores and indexes both the passive DNS data available via </a:t>
            </a:r>
            <a:r>
              <a:rPr lang="en-US" altLang="zh-CN" b="0" i="0" dirty="0" err="1">
                <a:solidFill>
                  <a:srgbClr val="6D6279"/>
                </a:solidFill>
                <a:effectLst/>
                <a:latin typeface="Open Sans"/>
              </a:rPr>
              <a:t>Farsight</a:t>
            </a:r>
            <a:r>
              <a:rPr lang="en-US" altLang="zh-CN" b="0" i="0" dirty="0">
                <a:solidFill>
                  <a:srgbClr val="6D6279"/>
                </a:solidFill>
                <a:effectLst/>
                <a:latin typeface="Open Sans"/>
              </a:rPr>
              <a:t> Security’s Security Information Exchange as well as the authoritative DNS data that various zone operators make available. </a:t>
            </a:r>
            <a:r>
              <a:rPr lang="en-US" altLang="zh-CN" b="1" i="0" dirty="0">
                <a:solidFill>
                  <a:srgbClr val="76549D"/>
                </a:solidFill>
                <a:effectLst/>
                <a:latin typeface="Open Sans"/>
              </a:rPr>
              <a:t>DNSDB</a:t>
            </a:r>
            <a:r>
              <a:rPr lang="en-US" altLang="zh-CN" b="0" i="0" dirty="0">
                <a:solidFill>
                  <a:srgbClr val="6D6279"/>
                </a:solidFill>
                <a:effectLst/>
                <a:latin typeface="Open Sans"/>
              </a:rPr>
              <a:t> makes it easy to search for individual DNS </a:t>
            </a:r>
            <a:r>
              <a:rPr lang="en-US" altLang="zh-CN" b="0" i="0" dirty="0" err="1">
                <a:solidFill>
                  <a:srgbClr val="6D6279"/>
                </a:solidFill>
                <a:effectLst/>
                <a:latin typeface="Open Sans"/>
              </a:rPr>
              <a:t>RRsets</a:t>
            </a:r>
            <a:r>
              <a:rPr lang="en-US" altLang="zh-CN" b="0" i="0" dirty="0">
                <a:solidFill>
                  <a:srgbClr val="6D6279"/>
                </a:solidFill>
                <a:effectLst/>
                <a:latin typeface="Open Sans"/>
              </a:rPr>
              <a:t> and provides additional metadata for search results such as first seen and last seen timestamps as well as the DNS bailiwick associated with an </a:t>
            </a:r>
            <a:r>
              <a:rPr lang="en-US" altLang="zh-CN" b="0" i="0" dirty="0" err="1">
                <a:solidFill>
                  <a:srgbClr val="6D6279"/>
                </a:solidFill>
                <a:effectLst/>
                <a:latin typeface="Open Sans"/>
              </a:rPr>
              <a:t>RRset</a:t>
            </a:r>
            <a:r>
              <a:rPr lang="en-US" altLang="zh-CN" b="0" i="0" dirty="0">
                <a:solidFill>
                  <a:srgbClr val="6D6279"/>
                </a:solidFill>
                <a:effectLst/>
                <a:latin typeface="Open Sans"/>
              </a:rPr>
              <a:t>. </a:t>
            </a:r>
            <a:r>
              <a:rPr lang="en-US" altLang="zh-CN" b="1" i="0" dirty="0">
                <a:solidFill>
                  <a:srgbClr val="76549D"/>
                </a:solidFill>
                <a:effectLst/>
                <a:latin typeface="Open Sans"/>
              </a:rPr>
              <a:t>DNSDB</a:t>
            </a:r>
            <a:r>
              <a:rPr lang="en-US" altLang="zh-CN" b="0" i="0" dirty="0">
                <a:solidFill>
                  <a:srgbClr val="6D6279"/>
                </a:solidFill>
                <a:effectLst/>
                <a:latin typeface="Open Sans"/>
              </a:rPr>
              <a:t> also has the ability to perform inverse or </a:t>
            </a:r>
            <a:r>
              <a:rPr lang="en-US" altLang="zh-CN" b="0" i="0" dirty="0" err="1">
                <a:solidFill>
                  <a:srgbClr val="6D6279"/>
                </a:solidFill>
                <a:effectLst/>
                <a:latin typeface="Open Sans"/>
              </a:rPr>
              <a:t>rdata</a:t>
            </a:r>
            <a:r>
              <a:rPr lang="en-US" altLang="zh-CN" b="0" i="0" dirty="0">
                <a:solidFill>
                  <a:srgbClr val="6D6279"/>
                </a:solidFill>
                <a:effectLst/>
                <a:latin typeface="Open Sans"/>
              </a:rPr>
              <a:t> searches. The original </a:t>
            </a:r>
            <a:r>
              <a:rPr lang="en-US" altLang="zh-CN" b="1" i="0" dirty="0">
                <a:solidFill>
                  <a:srgbClr val="76549D"/>
                </a:solidFill>
                <a:effectLst/>
                <a:latin typeface="Open Sans"/>
              </a:rPr>
              <a:t>DNSDB</a:t>
            </a:r>
            <a:r>
              <a:rPr lang="en-US" altLang="zh-CN" b="0" i="0" dirty="0">
                <a:solidFill>
                  <a:srgbClr val="6D6279"/>
                </a:solidFill>
                <a:effectLst/>
                <a:latin typeface="Open Sans"/>
              </a:rPr>
              <a:t> provides our Standard Search capabilities and is accessed with DNSDB API Version 1.</a:t>
            </a:r>
          </a:p>
          <a:p>
            <a:pPr marL="127000" indent="304800" algn="just"/>
            <a:endParaRPr lang="en-US" altLang="zh-CN" b="0" i="0" dirty="0">
              <a:solidFill>
                <a:srgbClr val="6D6279"/>
              </a:solidFill>
              <a:effectLst/>
              <a:latin typeface="Open Sans"/>
            </a:endParaRPr>
          </a:p>
          <a:p>
            <a:pPr marL="127000" indent="304800" algn="just"/>
            <a:r>
              <a:rPr lang="en-US" altLang="zh-CN" dirty="0"/>
              <a:t>https://docs.dnsdb.info/?referrer=Scout</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147595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R="1030" algn="just"/>
            <a:r>
              <a:rPr lang="en-US" altLang="zh-CN" sz="1800" b="0" i="0" u="none" strike="noStrike" baseline="0" dirty="0">
                <a:latin typeface="Times New Roman" panose="02020603050405020304" pitchFamily="18" charset="0"/>
                <a:ea typeface="宋体" panose="02010600030101010101" pitchFamily="2" charset="-122"/>
              </a:rPr>
              <a:t>Ali </a:t>
            </a:r>
            <a:r>
              <a:rPr lang="zh-CN" altLang="en-US" sz="1800" b="0" i="0" u="none" strike="noStrike" baseline="0" dirty="0">
                <a:latin typeface="宋体" panose="02010600030101010101" pitchFamily="2" charset="-122"/>
                <a:ea typeface="宋体" panose="02010600030101010101" pitchFamily="2" charset="-122"/>
              </a:rPr>
              <a:t>等人設計了 </a:t>
            </a:r>
            <a:r>
              <a:rPr lang="en-US" altLang="zh-CN" sz="1800" b="0" i="0" u="none" strike="noStrike" baseline="0" dirty="0" err="1">
                <a:latin typeface="Times New Roman" panose="02020603050405020304" pitchFamily="18" charset="0"/>
                <a:ea typeface="宋体" panose="02010600030101010101" pitchFamily="2" charset="-122"/>
              </a:rPr>
              <a:t>Blockstack</a:t>
            </a:r>
            <a:r>
              <a:rPr lang="zh-CN" altLang="en-US" sz="1800" b="0" i="0" u="none" strike="noStrike" baseline="0" dirty="0">
                <a:latin typeface="宋体" panose="02010600030101010101" pitchFamily="2" charset="-122"/>
                <a:ea typeface="宋体" panose="02010600030101010101" pitchFamily="2" charset="-122"/>
              </a:rPr>
              <a:t>， 幷于 </a:t>
            </a:r>
            <a:r>
              <a:rPr lang="en-US" altLang="zh-CN" sz="1800" b="0" i="0" u="none" strike="noStrike" baseline="0" dirty="0">
                <a:latin typeface="Times New Roman" panose="02020603050405020304" pitchFamily="18" charset="0"/>
                <a:ea typeface="宋体" panose="02010600030101010101" pitchFamily="2" charset="-122"/>
              </a:rPr>
              <a:t>2017 </a:t>
            </a:r>
            <a:r>
              <a:rPr lang="zh-CN" altLang="en-US" sz="1800" b="0" i="0" u="none" strike="noStrike" baseline="0" dirty="0">
                <a:latin typeface="宋体" panose="02010600030101010101" pitchFamily="2" charset="-122"/>
                <a:ea typeface="宋体" panose="02010600030101010101" pitchFamily="2" charset="-122"/>
              </a:rPr>
              <a:t>年 </a:t>
            </a:r>
            <a:r>
              <a:rPr lang="en-US" altLang="zh-CN" sz="1800" b="0" i="0" u="none" strike="noStrike" baseline="0" dirty="0">
                <a:latin typeface="Times New Roman" panose="02020603050405020304" pitchFamily="18" charset="0"/>
                <a:ea typeface="宋体" panose="02010600030101010101" pitchFamily="2" charset="-122"/>
              </a:rPr>
              <a:t>5 </a:t>
            </a:r>
            <a:r>
              <a:rPr lang="zh-CN" altLang="en-US" sz="1800" b="0" i="0" u="none" strike="noStrike" baseline="0" dirty="0">
                <a:latin typeface="宋体" panose="02010600030101010101" pitchFamily="2" charset="-122"/>
                <a:ea typeface="宋体" panose="02010600030101010101" pitchFamily="2" charset="-122"/>
              </a:rPr>
              <a:t>月發布了最新的白皮書，</a:t>
            </a:r>
            <a:r>
              <a:rPr lang="en-US" altLang="zh-CN" sz="1800" b="0" i="0" u="none" strike="noStrike" baseline="0" dirty="0" err="1">
                <a:latin typeface="Times New Roman" panose="02020603050405020304" pitchFamily="18" charset="0"/>
                <a:ea typeface="宋体" panose="02010600030101010101" pitchFamily="2" charset="-122"/>
              </a:rPr>
              <a:t>Blockstack</a:t>
            </a:r>
            <a:r>
              <a:rPr lang="en-US" altLang="zh-CN" sz="1800" b="0" i="0" u="none" strike="noStrike" baseline="0" dirty="0">
                <a:latin typeface="Times New Roman" panose="02020603050405020304" pitchFamily="18" charset="0"/>
                <a:ea typeface="宋体" panose="02010600030101010101" pitchFamily="2" charset="-122"/>
              </a:rPr>
              <a:t> </a:t>
            </a:r>
            <a:r>
              <a:rPr lang="zh-CN" altLang="en-US" sz="1800" b="0" i="0" u="none" strike="noStrike" baseline="0" dirty="0">
                <a:latin typeface="宋体" panose="02010600030101010101" pitchFamily="2" charset="-122"/>
                <a:ea typeface="宋体" panose="02010600030101010101" pitchFamily="2" charset="-122"/>
              </a:rPr>
              <a:t>目的是爲了實現一個去中心化的互聯網環境，支持在其上建立去中心化的應用</a:t>
            </a:r>
            <a:endParaRPr lang="en-US" altLang="zh-CN" sz="1800" b="0" i="0" u="none" strike="noStrike" baseline="0" dirty="0">
              <a:latin typeface="宋体" panose="02010600030101010101" pitchFamily="2" charset="-122"/>
              <a:ea typeface="宋体" panose="02010600030101010101" pitchFamily="2" charset="-122"/>
            </a:endParaRPr>
          </a:p>
          <a:p>
            <a:pPr marR="1030" algn="just"/>
            <a:endParaRPr lang="en-US" altLang="zh-CN" sz="1800" b="0" i="0" u="none" strike="noStrike" baseline="0" dirty="0">
              <a:latin typeface="宋体" panose="02010600030101010101" pitchFamily="2" charset="-122"/>
              <a:ea typeface="宋体" panose="02010600030101010101" pitchFamily="2" charset="-122"/>
            </a:endParaRPr>
          </a:p>
          <a:p>
            <a:pPr marR="1030" algn="just"/>
            <a:endParaRPr lang="en-US" altLang="zh-CN" sz="1800" b="0" i="0" u="none" strike="noStrike" baseline="0" dirty="0">
              <a:latin typeface="宋体" panose="02010600030101010101" pitchFamily="2" charset="-122"/>
              <a:ea typeface="宋体" panose="02010600030101010101" pitchFamily="2" charset="-122"/>
            </a:endParaRPr>
          </a:p>
          <a:p>
            <a:pPr marR="1030" algn="just"/>
            <a:endParaRPr lang="zh-CN" altLang="en-US" sz="1800" b="0" i="0" u="none" strike="noStrike" baseline="0" dirty="0">
              <a:latin typeface="宋体" panose="02010600030101010101" pitchFamily="2" charset="-122"/>
              <a:ea typeface="宋体" panose="02010600030101010101" pitchFamily="2" charset="-122"/>
            </a:endParaRPr>
          </a:p>
          <a:p>
            <a:pPr marL="127000" marR="0" lvl="0" indent="304800" algn="just"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2602394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9.1 DNS</a:t>
            </a:r>
            <a:r>
              <a:rPr lang="zh-CN"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概述</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9.1.1 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的</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演進</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9.1.2 DNS</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域名</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結構</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與區域</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組織形式</a:t>
            </a: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9.2 DNS</a:t>
            </a:r>
            <a:r>
              <a:rPr lang="zh-CN"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請求過程</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9.2.1 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使用</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9.2.2 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請求過程</a:t>
            </a: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9.3 DNS</a:t>
            </a:r>
            <a:r>
              <a:rPr lang="zh-CN"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攻擊</a:t>
            </a:r>
          </a:p>
          <a:p>
            <a:pPr marL="30480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9.3.1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緩存中毒攻擊</a:t>
            </a:r>
          </a:p>
          <a:p>
            <a:pPr marL="30480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9.3.1.1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本地</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緩存中毒攻擊</a:t>
            </a:r>
          </a:p>
          <a:p>
            <a:pPr marL="30480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9.3.1.2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遠程</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緩存中毒攻擊</a:t>
            </a:r>
          </a:p>
          <a:p>
            <a:pPr marL="11049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 9.3.2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來自惡意</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DNS</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服務器的</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回復僞造</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10490" indent="133350" algn="just"/>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 9.3.3 </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拒絕服務攻擊</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9.4 DNS</a:t>
            </a:r>
            <a:r>
              <a:rPr lang="zh-CN" altLang="en-US" sz="1800" b="1" kern="100" dirty="0">
                <a:latin typeface="Microsoft YaHei" panose="020B0503020204020204" pitchFamily="34" charset="-122"/>
                <a:ea typeface="Microsoft YaHei" panose="020B0503020204020204" pitchFamily="34" charset="-122"/>
                <a:cs typeface="Times New Roman" panose="02020603050405020304" pitchFamily="18" charset="0"/>
              </a:rPr>
              <a:t>攻擊預防策略</a:t>
            </a:r>
            <a:endPar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9.4.1 </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基于密碼技術</a:t>
            </a:r>
            <a:endPar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kern="100" dirty="0">
                <a:latin typeface="Microsoft YaHei" panose="020B0503020204020204" pitchFamily="34" charset="-122"/>
                <a:ea typeface="Microsoft YaHei" panose="020B0503020204020204" pitchFamily="34" charset="-122"/>
                <a:cs typeface="Times New Roman" panose="02020603050405020304" pitchFamily="18" charset="0"/>
              </a:rPr>
              <a:t>   9.4.2 </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基于系統管理</a:t>
            </a:r>
            <a:endPar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133350" algn="just">
              <a:lnSpc>
                <a:spcPct val="115000"/>
              </a:lnSpc>
            </a:pPr>
            <a:r>
              <a:rPr lang="en-US" altLang="zh-CN" sz="1800" b="1" kern="100" dirty="0">
                <a:latin typeface="Microsoft YaHei" panose="020B0503020204020204" pitchFamily="34" charset="-122"/>
                <a:ea typeface="Microsoft YaHei" panose="020B0503020204020204" pitchFamily="34" charset="-122"/>
                <a:cs typeface="Times New Roman" panose="02020603050405020304" pitchFamily="18" charset="0"/>
              </a:rPr>
              <a:t>9.5 </a:t>
            </a:r>
            <a:r>
              <a:rPr lang="zh-CN" altLang="en-US" sz="1800" b="1" kern="100" dirty="0">
                <a:latin typeface="Microsoft YaHei" panose="020B0503020204020204" pitchFamily="34" charset="-122"/>
                <a:ea typeface="Microsoft YaHei" panose="020B0503020204020204" pitchFamily="34" charset="-122"/>
                <a:cs typeface="Times New Roman" panose="02020603050405020304" pitchFamily="18" charset="0"/>
              </a:rPr>
              <a:t>典型案例分析</a:t>
            </a:r>
            <a:endParaRPr lang="zh-CN" altLang="zh-CN" sz="1800" b="1"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pPr marL="110490" indent="133350" algn="just"/>
            <a:endPar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endParaRPr>
          </a:p>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0798983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3063980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）現有</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協議修改完善。其中，基于簽名技術、加密技術提升協議機制安全性是提升</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安全的重要途徑。儘管</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DNSSEC</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技術實際部署較爲緩慢，但采用</a:t>
            </a:r>
            <a:r>
              <a:rPr lang="zh-CN" altLang="zh-CN" sz="1800" kern="100" dirty="0">
                <a:solidFill>
                  <a:srgbClr val="000000"/>
                </a:solidFill>
                <a:effectLst/>
                <a:latin typeface="NotoSerifCJKjp-Light-Identity-H"/>
                <a:ea typeface="宋体" panose="02010600030101010101" pitchFamily="2" charset="-122"/>
                <a:cs typeface="Times New Roman" panose="02020603050405020304" pitchFamily="18" charset="0"/>
              </a:rPr>
              <a:t>數字簽名避免終端用戶或遞歸服務器受到</a:t>
            </a:r>
            <a:r>
              <a:rPr lang="en-US" altLang="zh-CN" sz="1800" kern="100" dirty="0">
                <a:solidFill>
                  <a:srgbClr val="000000"/>
                </a:solidFill>
                <a:effectLst/>
                <a:latin typeface="NotoSerifCJKjp-Light-Identity-H"/>
                <a:ea typeface="宋体" panose="02010600030101010101" pitchFamily="2" charset="-122"/>
                <a:cs typeface="Times New Roman" panose="02020603050405020304" pitchFamily="18" charset="0"/>
              </a:rPr>
              <a:t> DNS </a:t>
            </a:r>
            <a:r>
              <a:rPr lang="zh-CN" altLang="zh-CN" sz="1800" kern="100" dirty="0">
                <a:solidFill>
                  <a:srgbClr val="000000"/>
                </a:solidFill>
                <a:effectLst/>
                <a:latin typeface="NotoSerifCJKjp-Light-Identity-H"/>
                <a:ea typeface="宋体" panose="02010600030101010101" pitchFamily="2" charset="-122"/>
                <a:cs typeface="Times New Roman" panose="02020603050405020304" pitchFamily="18" charset="0"/>
              </a:rPr>
              <a:t>緩存污染攻擊的總體思路是正確的，</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同時，也有研究將</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DNSSEC</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作爲輕量級的公鑰基礎設施，通過與</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IP</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前綴綁定實現網絡整體安全性能的提升</a:t>
            </a:r>
            <a:r>
              <a:rPr lang="en-US" altLang="zh-CN" sz="1800" kern="100" baseline="30000" dirty="0">
                <a:effectLst/>
                <a:latin typeface="Times New Roman" panose="02020603050405020304" pitchFamily="18" charset="0"/>
                <a:ea typeface="宋体" panose="02010600030101010101" pitchFamily="2" charset="-122"/>
                <a:cs typeface="Times New Roman" panose="02020603050405020304" pitchFamily="18" charset="0"/>
              </a:rPr>
              <a:t>[21]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加密協議能够以一種更輕量級的方式保護域名協議交互中信息的完整性與機密性，逐步得到部署應用</a:t>
            </a:r>
            <a:r>
              <a:rPr lang="en-US" altLang="zh-CN" sz="1800" kern="100" baseline="30000" dirty="0">
                <a:effectLst/>
                <a:latin typeface="Times New Roman" panose="02020603050405020304" pitchFamily="18" charset="0"/>
                <a:ea typeface="宋体" panose="02010600030101010101" pitchFamily="2" charset="-122"/>
                <a:cs typeface="Times New Roman" panose="02020603050405020304" pitchFamily="18" charset="0"/>
              </a:rPr>
              <a:t>[22]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3048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）針對</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生態系統變化引入的新型安全威脅尋找解决方案。</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系統不斷發展，國際化域名的使用</a:t>
            </a:r>
            <a:r>
              <a:rPr lang="en-US" altLang="zh-CN" sz="1800" kern="100" baseline="30000" dirty="0">
                <a:effectLst/>
                <a:latin typeface="Times New Roman" panose="02020603050405020304" pitchFamily="18" charset="0"/>
                <a:ea typeface="宋体" panose="02010600030101010101" pitchFamily="2" charset="-122"/>
                <a:cs typeface="Times New Roman" panose="02020603050405020304" pitchFamily="18" charset="0"/>
              </a:rPr>
              <a:t>[25]</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，以及</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轉發器（</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 forwarders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）在擴展性能的同時也引入了新的威脅</a:t>
            </a:r>
            <a:r>
              <a:rPr lang="en-US" altLang="zh-CN" sz="1800" kern="100" baseline="30000" dirty="0">
                <a:effectLst/>
                <a:latin typeface="Times New Roman" panose="02020603050405020304" pitchFamily="18" charset="0"/>
                <a:ea typeface="宋体" panose="02010600030101010101" pitchFamily="2" charset="-122"/>
                <a:cs typeface="Times New Roman" panose="02020603050405020304" pitchFamily="18" charset="0"/>
              </a:rPr>
              <a:t>[26]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。這些研究立足于發現幷解决</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發展應用過程中的安全威脅，成爲確保</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生態安全的有力支撑。</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3048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）新型架構設計。儘管難以針對</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系統實現全新設計，仍然有一些新型架構設計被提出，力圖從根源上解决</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安全問題。</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DONA(Data-Oriented Network Architecture)</a:t>
            </a:r>
            <a:r>
              <a:rPr lang="en-US" altLang="zh-CN" sz="1800" kern="100" baseline="30000" dirty="0">
                <a:effectLst/>
                <a:latin typeface="Times New Roman" panose="02020603050405020304" pitchFamily="18" charset="0"/>
                <a:ea typeface="宋体" panose="02010600030101010101" pitchFamily="2" charset="-122"/>
                <a:cs typeface="Times New Roman" panose="02020603050405020304" pitchFamily="18" charset="0"/>
              </a:rPr>
              <a:t>[23]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等以數據爲中心的架構希望通過替換現有</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服務提供更安全可靠的域名解析。此外，作爲一個分布式系統，</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BlockStack</a:t>
            </a:r>
            <a:r>
              <a:rPr lang="en-US" altLang="zh-CN" sz="1800" kern="100" baseline="30000" dirty="0">
                <a:effectLst/>
                <a:latin typeface="Times New Roman" panose="02020603050405020304" pitchFamily="18" charset="0"/>
                <a:ea typeface="宋体" panose="02010600030101010101" pitchFamily="2" charset="-122"/>
                <a:cs typeface="Times New Roman" panose="02020603050405020304" pitchFamily="18" charset="0"/>
              </a:rPr>
              <a:t>[24]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通過去中心化的方式提供較强的安全性能。儘管新型架構設計的難點在于難以在實際中實現部署，但一些思想和策略仍然有助于提升既有</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DNS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系統的安全能力。</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FFF58A-9BE3-E64E-8A3D-8C1B4E5228D0}"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670528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www.rapidbbs.cn/"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www.rapidbbs.cn/" TargetMode="External"/><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1376" y="136525"/>
            <a:ext cx="10222424" cy="725407"/>
          </a:xfrm>
        </p:spPr>
        <p:txBody>
          <a:bodyPr>
            <a:normAutofit/>
          </a:bodyPr>
          <a:lstStyle>
            <a:lvl1pPr>
              <a:defRPr sz="4000" b="1">
                <a:solidFill>
                  <a:schemeClr val="tx1">
                    <a:lumMod val="85000"/>
                    <a:lumOff val="15000"/>
                  </a:schemeClr>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cxnSp>
        <p:nvCxnSpPr>
          <p:cNvPr id="6" name="直接连接符 24">
            <a:extLst>
              <a:ext uri="{FF2B5EF4-FFF2-40B4-BE49-F238E27FC236}">
                <a16:creationId xmlns:a16="http://schemas.microsoft.com/office/drawing/2014/main" id="{C1942919-E2AA-9144-9848-EF0AF6C4B994}"/>
              </a:ext>
            </a:extLst>
          </p:cNvPr>
          <p:cNvCxnSpPr>
            <a:cxnSpLocks/>
          </p:cNvCxnSpPr>
          <p:nvPr userDrawn="1"/>
        </p:nvCxnSpPr>
        <p:spPr>
          <a:xfrm>
            <a:off x="923477" y="801349"/>
            <a:ext cx="10910714" cy="0"/>
          </a:xfrm>
          <a:prstGeom prst="line">
            <a:avLst/>
          </a:prstGeom>
          <a:noFill/>
          <a:ln w="12700" cap="flat" cmpd="sng" algn="ctr">
            <a:solidFill>
              <a:schemeClr val="bg1">
                <a:lumMod val="65000"/>
              </a:schemeClr>
            </a:solidFill>
            <a:prstDash val="solid"/>
            <a:miter lim="800000"/>
          </a:ln>
          <a:effectLst/>
        </p:spPr>
      </p:cxnSp>
      <p:pic>
        <p:nvPicPr>
          <p:cNvPr id="5" name="图片 4">
            <a:extLst>
              <a:ext uri="{FF2B5EF4-FFF2-40B4-BE49-F238E27FC236}">
                <a16:creationId xmlns:a16="http://schemas.microsoft.com/office/drawing/2014/main" id="{466E365A-9A48-4C04-BE65-9651DDDAAE58}"/>
              </a:ext>
            </a:extLst>
          </p:cNvPr>
          <p:cNvPicPr>
            <a:picLocks noChangeAspect="1"/>
          </p:cNvPicPr>
          <p:nvPr userDrawn="1"/>
        </p:nvPicPr>
        <p:blipFill>
          <a:blip r:embed="rId2"/>
          <a:stretch>
            <a:fillRect/>
          </a:stretch>
        </p:blipFill>
        <p:spPr>
          <a:xfrm>
            <a:off x="222609" y="103943"/>
            <a:ext cx="700867" cy="697406"/>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7" name="灯片编号占位符 5">
            <a:extLst>
              <a:ext uri="{FF2B5EF4-FFF2-40B4-BE49-F238E27FC236}">
                <a16:creationId xmlns:a16="http://schemas.microsoft.com/office/drawing/2014/main" id="{01A49193-9A89-4746-A738-22089AED43C5}"/>
              </a:ext>
            </a:extLst>
          </p:cNvPr>
          <p:cNvSpPr>
            <a:spLocks noGrp="1"/>
          </p:cNvSpPr>
          <p:nvPr>
            <p:ph type="sldNum" sz="quarter" idx="4"/>
          </p:nvPr>
        </p:nvSpPr>
        <p:spPr>
          <a:xfrm>
            <a:off x="9448800" y="648613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5CE2E0-6DDF-4FAE-9DBA-F1C48BF5C133}" type="slidenum">
              <a:rPr lang="zh-CN" altLang="en-US" smtClean="0"/>
              <a:t>‹N°›</a:t>
            </a:fld>
            <a:endParaRPr lang="zh-CN" altLang="en-US" dirty="0"/>
          </a:p>
        </p:txBody>
      </p:sp>
    </p:spTree>
    <p:extLst>
      <p:ext uri="{BB962C8B-B14F-4D97-AF65-F5344CB8AC3E}">
        <p14:creationId xmlns:p14="http://schemas.microsoft.com/office/powerpoint/2010/main" val="3507010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15CE2E0-6DDF-4FAE-9DBA-F1C48BF5C133}" type="slidenum">
              <a:rPr lang="zh-CN" altLang="en-US" smtClean="0"/>
              <a:t>‹N°›</a:t>
            </a:fld>
            <a:endParaRPr lang="zh-CN" altLang="en-US" dirty="0"/>
          </a:p>
        </p:txBody>
      </p:sp>
    </p:spTree>
    <p:extLst>
      <p:ext uri="{BB962C8B-B14F-4D97-AF65-F5344CB8AC3E}">
        <p14:creationId xmlns:p14="http://schemas.microsoft.com/office/powerpoint/2010/main" val="566442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矩形 1">
            <a:hlinkClick r:id="rId2"/>
          </p:cNvPr>
          <p:cNvSpPr/>
          <p:nvPr userDrawn="1"/>
        </p:nvSpPr>
        <p:spPr bwMode="auto">
          <a:xfrm>
            <a:off x="0" y="0"/>
            <a:ext cx="12192000" cy="6858000"/>
          </a:xfrm>
          <a:prstGeom prst="rect">
            <a:avLst/>
          </a:prstGeom>
          <a:noFill/>
          <a:ln>
            <a:solidFill>
              <a:schemeClr val="tx1">
                <a:alpha val="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noAutofit/>
          </a:bodyPr>
          <a:lstStyle/>
          <a:p>
            <a:pPr algn="ctr" defTabSz="913765" fontAlgn="base">
              <a:lnSpc>
                <a:spcPct val="90000"/>
              </a:lnSpc>
              <a:spcBef>
                <a:spcPct val="0"/>
              </a:spcBef>
              <a:spcAft>
                <a:spcPct val="0"/>
              </a:spcAft>
            </a:pPr>
            <a:endParaRPr lang="zh-CN" altLang="en-US" sz="2355" dirty="0" err="1">
              <a:gradFill>
                <a:gsLst>
                  <a:gs pos="0">
                    <a:srgbClr val="FFFFFF"/>
                  </a:gs>
                  <a:gs pos="100000">
                    <a:srgbClr val="FFFFFF"/>
                  </a:gs>
                </a:gsLst>
                <a:lin ang="5400000" scaled="0"/>
              </a:gradFill>
              <a:latin typeface="华文细黑" panose="02010600040101010101" pitchFamily="2" charset="-122"/>
              <a:ea typeface="Segoe UI" panose="020B0502040204020203" pitchFamily="34" charset="0"/>
              <a:cs typeface="Segoe UI" panose="020B0502040204020203" pitchFamily="34" charset="0"/>
            </a:endParaRPr>
          </a:p>
        </p:txBody>
      </p:sp>
      <p:sp>
        <p:nvSpPr>
          <p:cNvPr id="3" name="灯片编号占位符 5">
            <a:extLst>
              <a:ext uri="{FF2B5EF4-FFF2-40B4-BE49-F238E27FC236}">
                <a16:creationId xmlns:a16="http://schemas.microsoft.com/office/drawing/2014/main" id="{D63C309C-D6D0-413B-91D5-6DA22D9BD832}"/>
              </a:ext>
            </a:extLst>
          </p:cNvPr>
          <p:cNvSpPr>
            <a:spLocks noGrp="1"/>
          </p:cNvSpPr>
          <p:nvPr>
            <p:ph type="sldNum" sz="quarter" idx="4"/>
          </p:nvPr>
        </p:nvSpPr>
        <p:spPr>
          <a:xfrm>
            <a:off x="9448800" y="648613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5CE2E0-6DDF-4FAE-9DBA-F1C48BF5C133}" type="slidenum">
              <a:rPr lang="zh-CN" altLang="en-US" smtClean="0"/>
              <a:t>‹N°›</a:t>
            </a:fld>
            <a:endParaRPr lang="zh-CN" altLang="en-US" dirty="0"/>
          </a:p>
        </p:txBody>
      </p:sp>
    </p:spTree>
    <p:extLst>
      <p:ext uri="{BB962C8B-B14F-4D97-AF65-F5344CB8AC3E}">
        <p14:creationId xmlns:p14="http://schemas.microsoft.com/office/powerpoint/2010/main" val="4207196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A04EDDA3-E2AB-904A-BB85-4CC282BF9173}"/>
              </a:ext>
            </a:extLst>
          </p:cNvPr>
          <p:cNvSpPr/>
          <p:nvPr userDrawn="1"/>
        </p:nvSpPr>
        <p:spPr>
          <a:xfrm>
            <a:off x="3503376" y="1836078"/>
            <a:ext cx="8688625" cy="279632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14" name="矩形 13">
            <a:extLst>
              <a:ext uri="{FF2B5EF4-FFF2-40B4-BE49-F238E27FC236}">
                <a16:creationId xmlns:a16="http://schemas.microsoft.com/office/drawing/2014/main" id="{F51A0AAD-98DC-B248-9BA5-E40C2E1B5E7E}"/>
              </a:ext>
            </a:extLst>
          </p:cNvPr>
          <p:cNvSpPr/>
          <p:nvPr userDrawn="1"/>
        </p:nvSpPr>
        <p:spPr>
          <a:xfrm>
            <a:off x="4815704" y="1481206"/>
            <a:ext cx="7376296" cy="354873"/>
          </a:xfrm>
          <a:prstGeom prst="rect">
            <a:avLst/>
          </a:prstGeom>
          <a:pattFill prst="ltUpDiag">
            <a:fgClr>
              <a:schemeClr val="accent1"/>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a:ea typeface="微软雅黑 Light"/>
              <a:cs typeface="+mn-cs"/>
            </a:endParaRPr>
          </a:p>
        </p:txBody>
      </p:sp>
      <p:pic>
        <p:nvPicPr>
          <p:cNvPr id="15" name="Picture 3">
            <a:extLst>
              <a:ext uri="{FF2B5EF4-FFF2-40B4-BE49-F238E27FC236}">
                <a16:creationId xmlns:a16="http://schemas.microsoft.com/office/drawing/2014/main" id="{9FD70DE7-28CD-E242-B63B-A52835CB736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1088" y="1488810"/>
            <a:ext cx="4835696" cy="3143587"/>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5087756" y="2486887"/>
            <a:ext cx="6923430" cy="1470025"/>
          </a:xfrm>
          <a:prstGeom prst="rect">
            <a:avLst/>
          </a:prstGeom>
        </p:spPr>
        <p:txBody>
          <a:bodyPr/>
          <a:lstStyle>
            <a:lvl1pPr>
              <a:defRPr b="1">
                <a:solidFill>
                  <a:schemeClr val="bg1"/>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5258597" y="5194231"/>
            <a:ext cx="6581747" cy="365125"/>
          </a:xfrm>
          <a:prstGeom prst="rect">
            <a:avLst/>
          </a:prstGeom>
        </p:spPr>
        <p:txBody>
          <a:bodyPr>
            <a:normAutofit/>
          </a:bodyPr>
          <a:lstStyle>
            <a:lvl1pPr marL="0" indent="0" algn="ctr">
              <a:buNone/>
              <a:defRPr sz="2400">
                <a:solidFill>
                  <a:schemeClr val="tx1">
                    <a:lumMod val="85000"/>
                    <a:lumOff val="15000"/>
                  </a:schemeClr>
                </a:solidFill>
                <a:latin typeface="Microsoft YaHei" panose="020B0503020204020204" pitchFamily="34" charset="-122"/>
                <a:ea typeface="Microsoft YaHei" panose="020B0503020204020204" pitchFamily="34" charset="-122"/>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200" indent="0" algn="ctr">
              <a:buNone/>
              <a:defRPr>
                <a:solidFill>
                  <a:schemeClr val="tx1">
                    <a:tint val="75000"/>
                  </a:schemeClr>
                </a:solidFill>
              </a:defRPr>
            </a:lvl8pPr>
            <a:lvl9pPr marL="48768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Tree>
    <p:extLst>
      <p:ext uri="{BB962C8B-B14F-4D97-AF65-F5344CB8AC3E}">
        <p14:creationId xmlns:p14="http://schemas.microsoft.com/office/powerpoint/2010/main" val="814166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1376" y="136525"/>
            <a:ext cx="10222424" cy="725407"/>
          </a:xfrm>
        </p:spPr>
        <p:txBody>
          <a:bodyPr>
            <a:normAutofit/>
          </a:bodyPr>
          <a:lstStyle>
            <a:lvl1pPr>
              <a:defRPr sz="4000" b="1">
                <a:solidFill>
                  <a:srgbClr val="C0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cxnSp>
        <p:nvCxnSpPr>
          <p:cNvPr id="6" name="直接连接符 24">
            <a:extLst>
              <a:ext uri="{FF2B5EF4-FFF2-40B4-BE49-F238E27FC236}">
                <a16:creationId xmlns:a16="http://schemas.microsoft.com/office/drawing/2014/main" id="{C1942919-E2AA-9144-9848-EF0AF6C4B994}"/>
              </a:ext>
            </a:extLst>
          </p:cNvPr>
          <p:cNvCxnSpPr>
            <a:cxnSpLocks/>
          </p:cNvCxnSpPr>
          <p:nvPr userDrawn="1"/>
        </p:nvCxnSpPr>
        <p:spPr>
          <a:xfrm>
            <a:off x="923477" y="801349"/>
            <a:ext cx="10910714" cy="0"/>
          </a:xfrm>
          <a:prstGeom prst="line">
            <a:avLst/>
          </a:prstGeom>
          <a:noFill/>
          <a:ln w="12700" cap="flat" cmpd="sng" algn="ctr">
            <a:solidFill>
              <a:schemeClr val="bg1">
                <a:lumMod val="65000"/>
              </a:schemeClr>
            </a:solidFill>
            <a:prstDash val="solid"/>
            <a:miter lim="800000"/>
          </a:ln>
          <a:effectLst/>
        </p:spPr>
      </p:cxnSp>
      <p:pic>
        <p:nvPicPr>
          <p:cNvPr id="5" name="图片 4">
            <a:extLst>
              <a:ext uri="{FF2B5EF4-FFF2-40B4-BE49-F238E27FC236}">
                <a16:creationId xmlns:a16="http://schemas.microsoft.com/office/drawing/2014/main" id="{0FE6FCD0-FA89-B441-A733-B32B5C383245}"/>
              </a:ext>
            </a:extLst>
          </p:cNvPr>
          <p:cNvPicPr>
            <a:picLocks noChangeAspect="1"/>
          </p:cNvPicPr>
          <p:nvPr userDrawn="1"/>
        </p:nvPicPr>
        <p:blipFill>
          <a:blip r:embed="rId2"/>
          <a:stretch>
            <a:fillRect/>
          </a:stretch>
        </p:blipFill>
        <p:spPr>
          <a:xfrm>
            <a:off x="222609" y="103943"/>
            <a:ext cx="700867" cy="697406"/>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7" name="灯片编号占位符 5">
            <a:extLst>
              <a:ext uri="{FF2B5EF4-FFF2-40B4-BE49-F238E27FC236}">
                <a16:creationId xmlns:a16="http://schemas.microsoft.com/office/drawing/2014/main" id="{46CD7BBC-56D0-FD43-9C5F-5C922CE5EB7C}"/>
              </a:ext>
            </a:extLst>
          </p:cNvPr>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5CE2E0-6DDF-4FAE-9DBA-F1C48BF5C133}" type="slidenum">
              <a:rPr lang="zh-CN" altLang="en-US" smtClean="0"/>
              <a:t>‹N°›</a:t>
            </a:fld>
            <a:endParaRPr lang="zh-CN" altLang="en-US" dirty="0"/>
          </a:p>
        </p:txBody>
      </p:sp>
    </p:spTree>
    <p:extLst>
      <p:ext uri="{BB962C8B-B14F-4D97-AF65-F5344CB8AC3E}">
        <p14:creationId xmlns:p14="http://schemas.microsoft.com/office/powerpoint/2010/main" val="806511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15CE2E0-6DDF-4FAE-9DBA-F1C48BF5C133}" type="slidenum">
              <a:rPr lang="zh-CN" altLang="en-US" smtClean="0"/>
              <a:t>‹N°›</a:t>
            </a:fld>
            <a:endParaRPr lang="zh-CN" altLang="en-US" dirty="0"/>
          </a:p>
        </p:txBody>
      </p:sp>
    </p:spTree>
    <p:extLst>
      <p:ext uri="{BB962C8B-B14F-4D97-AF65-F5344CB8AC3E}">
        <p14:creationId xmlns:p14="http://schemas.microsoft.com/office/powerpoint/2010/main" val="473132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矩形 1">
            <a:hlinkClick r:id="rId2"/>
          </p:cNvPr>
          <p:cNvSpPr/>
          <p:nvPr userDrawn="1"/>
        </p:nvSpPr>
        <p:spPr bwMode="auto">
          <a:xfrm>
            <a:off x="0" y="0"/>
            <a:ext cx="12192000" cy="6858000"/>
          </a:xfrm>
          <a:prstGeom prst="rect">
            <a:avLst/>
          </a:prstGeom>
          <a:noFill/>
          <a:ln>
            <a:solidFill>
              <a:schemeClr val="tx1">
                <a:alpha val="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noAutofit/>
          </a:bodyPr>
          <a:lstStyle/>
          <a:p>
            <a:pPr algn="ctr" defTabSz="913765" fontAlgn="base">
              <a:lnSpc>
                <a:spcPct val="90000"/>
              </a:lnSpc>
              <a:spcBef>
                <a:spcPct val="0"/>
              </a:spcBef>
              <a:spcAft>
                <a:spcPct val="0"/>
              </a:spcAft>
            </a:pPr>
            <a:endParaRPr lang="zh-CN" altLang="en-US" sz="2355" dirty="0" err="1">
              <a:gradFill>
                <a:gsLst>
                  <a:gs pos="0">
                    <a:srgbClr val="FFFFFF"/>
                  </a:gs>
                  <a:gs pos="100000">
                    <a:srgbClr val="FFFFFF"/>
                  </a:gs>
                </a:gsLst>
                <a:lin ang="5400000" scaled="0"/>
              </a:gradFill>
              <a:latin typeface="华文细黑" panose="02010600040101010101" pitchFamily="2" charset="-122"/>
              <a:ea typeface="Segoe UI" panose="020B0502040204020203" pitchFamily="34" charset="0"/>
              <a:cs typeface="Segoe UI" panose="020B0502040204020203" pitchFamily="34" charset="0"/>
            </a:endParaRPr>
          </a:p>
        </p:txBody>
      </p:sp>
      <p:sp>
        <p:nvSpPr>
          <p:cNvPr id="3" name="灯片编号占位符 5">
            <a:extLst>
              <a:ext uri="{FF2B5EF4-FFF2-40B4-BE49-F238E27FC236}">
                <a16:creationId xmlns:a16="http://schemas.microsoft.com/office/drawing/2014/main" id="{DCD12FFE-C88F-4B1A-B085-671C95F8781F}"/>
              </a:ext>
            </a:extLst>
          </p:cNvPr>
          <p:cNvSpPr>
            <a:spLocks noGrp="1"/>
          </p:cNvSpPr>
          <p:nvPr>
            <p:ph type="sldNum" sz="quarter" idx="4"/>
          </p:nvPr>
        </p:nvSpPr>
        <p:spPr>
          <a:xfrm>
            <a:off x="9448800" y="648613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5CE2E0-6DDF-4FAE-9DBA-F1C48BF5C133}" type="slidenum">
              <a:rPr lang="zh-CN" altLang="en-US" smtClean="0"/>
              <a:t>‹N°›</a:t>
            </a:fld>
            <a:endParaRPr lang="zh-CN" altLang="en-US" dirty="0"/>
          </a:p>
        </p:txBody>
      </p:sp>
    </p:spTree>
    <p:extLst>
      <p:ext uri="{BB962C8B-B14F-4D97-AF65-F5344CB8AC3E}">
        <p14:creationId xmlns:p14="http://schemas.microsoft.com/office/powerpoint/2010/main" val="1472815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A04EDDA3-E2AB-904A-BB85-4CC282BF9173}"/>
              </a:ext>
            </a:extLst>
          </p:cNvPr>
          <p:cNvSpPr/>
          <p:nvPr userDrawn="1"/>
        </p:nvSpPr>
        <p:spPr>
          <a:xfrm>
            <a:off x="3503376" y="1836078"/>
            <a:ext cx="8688625" cy="279632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14" name="矩形 13">
            <a:extLst>
              <a:ext uri="{FF2B5EF4-FFF2-40B4-BE49-F238E27FC236}">
                <a16:creationId xmlns:a16="http://schemas.microsoft.com/office/drawing/2014/main" id="{F51A0AAD-98DC-B248-9BA5-E40C2E1B5E7E}"/>
              </a:ext>
            </a:extLst>
          </p:cNvPr>
          <p:cNvSpPr/>
          <p:nvPr userDrawn="1"/>
        </p:nvSpPr>
        <p:spPr>
          <a:xfrm>
            <a:off x="4804608" y="1481205"/>
            <a:ext cx="7376296" cy="354873"/>
          </a:xfrm>
          <a:prstGeom prst="rect">
            <a:avLst/>
          </a:prstGeom>
          <a:pattFill prst="ltUpDiag">
            <a:fgClr>
              <a:schemeClr val="accent1"/>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a:ea typeface="微软雅黑 Light"/>
              <a:cs typeface="+mn-cs"/>
            </a:endParaRPr>
          </a:p>
        </p:txBody>
      </p:sp>
      <p:pic>
        <p:nvPicPr>
          <p:cNvPr id="15" name="Picture 3">
            <a:extLst>
              <a:ext uri="{FF2B5EF4-FFF2-40B4-BE49-F238E27FC236}">
                <a16:creationId xmlns:a16="http://schemas.microsoft.com/office/drawing/2014/main" id="{9FD70DE7-28CD-E242-B63B-A52835CB736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1088" y="1488810"/>
            <a:ext cx="4835696" cy="3143587"/>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5087756" y="2486887"/>
            <a:ext cx="6923430" cy="1470025"/>
          </a:xfrm>
          <a:prstGeom prst="rect">
            <a:avLst/>
          </a:prstGeom>
        </p:spPr>
        <p:txBody>
          <a:bodyPr/>
          <a:lstStyle>
            <a:lvl1pPr>
              <a:defRPr b="1">
                <a:solidFill>
                  <a:schemeClr val="bg1"/>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5258597" y="5194231"/>
            <a:ext cx="6581747" cy="365125"/>
          </a:xfrm>
          <a:prstGeom prst="rect">
            <a:avLst/>
          </a:prstGeom>
        </p:spPr>
        <p:txBody>
          <a:bodyPr>
            <a:normAutofit/>
          </a:bodyPr>
          <a:lstStyle>
            <a:lvl1pPr marL="0" indent="0" algn="ctr">
              <a:buNone/>
              <a:defRPr sz="2400">
                <a:solidFill>
                  <a:schemeClr val="tx1">
                    <a:lumMod val="85000"/>
                    <a:lumOff val="15000"/>
                  </a:schemeClr>
                </a:solidFill>
                <a:latin typeface="Microsoft YaHei" panose="020B0503020204020204" pitchFamily="34" charset="-122"/>
                <a:ea typeface="Microsoft YaHei" panose="020B0503020204020204" pitchFamily="34" charset="-122"/>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200" indent="0" algn="ctr">
              <a:buNone/>
              <a:defRPr>
                <a:solidFill>
                  <a:schemeClr val="tx1">
                    <a:tint val="75000"/>
                  </a:schemeClr>
                </a:solidFill>
              </a:defRPr>
            </a:lvl8pPr>
            <a:lvl9pPr marL="48768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Tree>
    <p:extLst>
      <p:ext uri="{BB962C8B-B14F-4D97-AF65-F5344CB8AC3E}">
        <p14:creationId xmlns:p14="http://schemas.microsoft.com/office/powerpoint/2010/main" val="26302105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448800" y="648613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5CE2E0-6DDF-4FAE-9DBA-F1C48BF5C133}" type="slidenum">
              <a:rPr lang="zh-CN" altLang="en-US" smtClean="0"/>
              <a:t>‹N°›</a:t>
            </a:fld>
            <a:endParaRPr lang="zh-CN" altLang="en-US" dirty="0"/>
          </a:p>
        </p:txBody>
      </p:sp>
    </p:spTree>
    <p:extLst>
      <p:ext uri="{BB962C8B-B14F-4D97-AF65-F5344CB8AC3E}">
        <p14:creationId xmlns:p14="http://schemas.microsoft.com/office/powerpoint/2010/main" val="402967582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5CE2E0-6DDF-4FAE-9DBA-F1C48BF5C133}" type="slidenum">
              <a:rPr lang="zh-CN" altLang="en-US" smtClean="0"/>
              <a:t>‹N°›</a:t>
            </a:fld>
            <a:endParaRPr lang="zh-CN" altLang="en-US" dirty="0"/>
          </a:p>
        </p:txBody>
      </p:sp>
    </p:spTree>
    <p:extLst>
      <p:ext uri="{BB962C8B-B14F-4D97-AF65-F5344CB8AC3E}">
        <p14:creationId xmlns:p14="http://schemas.microsoft.com/office/powerpoint/2010/main" val="1180018191"/>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3.jpe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9.emf"/></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24.emf"/><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7.jpeg"/><Relationship Id="rId4" Type="http://schemas.openxmlformats.org/officeDocument/2006/relationships/image" Target="../media/image26.jpeg"/></Relationships>
</file>

<file path=ppt/slides/_rels/slide13.xml.rels><?xml version="1.0" encoding="UTF-8" standalone="yes"?>
<Relationships xmlns="http://schemas.openxmlformats.org/package/2006/relationships"><Relationship Id="rId3" Type="http://schemas.openxmlformats.org/officeDocument/2006/relationships/hyperlink" Target="https://www.internic.net/domain/root.zone"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9.tmp"/><Relationship Id="rId4" Type="http://schemas.openxmlformats.org/officeDocument/2006/relationships/image" Target="../media/image28.jpeg"/></Relationships>
</file>

<file path=ppt/slides/_rels/slide1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1.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42.emf"/><Relationship Id="rId4" Type="http://schemas.openxmlformats.org/officeDocument/2006/relationships/image" Target="../media/image41.emf"/></Relationships>
</file>

<file path=ppt/slides/_rels/slide30.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3.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41.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tags" Target="../tags/tag6.xml"/><Relationship Id="rId7" Type="http://schemas.openxmlformats.org/officeDocument/2006/relationships/notesSlide" Target="../notesSlides/notesSlide40.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slideLayout" Target="../slideLayouts/slideLayout1.xml"/><Relationship Id="rId5" Type="http://schemas.openxmlformats.org/officeDocument/2006/relationships/tags" Target="../tags/tag8.xml"/><Relationship Id="rId4" Type="http://schemas.openxmlformats.org/officeDocument/2006/relationships/tags" Target="../tags/tag7.xml"/><Relationship Id="rId9" Type="http://schemas.openxmlformats.org/officeDocument/2006/relationships/image" Target="../media/image54.jpeg"/></Relationships>
</file>

<file path=ppt/slides/_rels/slide4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4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jpeg"/></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jpe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66.emf"/><Relationship Id="rId5" Type="http://schemas.openxmlformats.org/officeDocument/2006/relationships/image" Target="../media/image65.jpeg"/><Relationship Id="rId4" Type="http://schemas.openxmlformats.org/officeDocument/2006/relationships/image" Target="../media/image64.emf"/></Relationships>
</file>

<file path=ppt/slides/_rels/slide4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68.emf"/><Relationship Id="rId4" Type="http://schemas.openxmlformats.org/officeDocument/2006/relationships/package" Target="../embeddings/Microsoft_Visio_Drawing.vsdx"/></Relationships>
</file>

<file path=ppt/slides/_rels/slide49.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8" Type="http://schemas.openxmlformats.org/officeDocument/2006/relationships/notesSlide" Target="../notesSlides/notesSlide52.xml"/><Relationship Id="rId3" Type="http://schemas.openxmlformats.org/officeDocument/2006/relationships/tags" Target="../tags/tag11.xml"/><Relationship Id="rId7" Type="http://schemas.openxmlformats.org/officeDocument/2006/relationships/slideLayout" Target="../slideLayouts/slideLayout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75.png"/></Relationships>
</file>

<file path=ppt/slides/_rels/slide5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78.emf"/><Relationship Id="rId4" Type="http://schemas.openxmlformats.org/officeDocument/2006/relationships/image" Target="../media/image77.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F59D9-F20D-8045-B8AD-C6513098F6BA}"/>
              </a:ext>
            </a:extLst>
          </p:cNvPr>
          <p:cNvSpPr>
            <a:spLocks noGrp="1"/>
          </p:cNvSpPr>
          <p:nvPr>
            <p:ph type="ctrTitle"/>
          </p:nvPr>
        </p:nvSpPr>
        <p:spPr/>
        <p:txBody>
          <a:bodyPr/>
          <a:lstStyle/>
          <a:p>
            <a:pPr algn="ctr"/>
            <a:r>
              <a:rPr kumimoji="1" lang="en-US" altLang="zh-CN" dirty="0">
                <a:solidFill>
                  <a:schemeClr val="bg1">
                    <a:lumMod val="95000"/>
                  </a:schemeClr>
                </a:solidFill>
              </a:rPr>
              <a:t>DNS</a:t>
            </a:r>
            <a:r>
              <a:rPr kumimoji="1" lang="zh-CN" altLang="en-US" dirty="0">
                <a:solidFill>
                  <a:schemeClr val="bg1">
                    <a:lumMod val="95000"/>
                  </a:schemeClr>
                </a:solidFill>
              </a:rPr>
              <a:t>安全</a:t>
            </a:r>
          </a:p>
        </p:txBody>
      </p:sp>
      <p:sp>
        <p:nvSpPr>
          <p:cNvPr id="3" name="矩形 2"/>
          <p:cNvSpPr/>
          <p:nvPr/>
        </p:nvSpPr>
        <p:spPr>
          <a:xfrm>
            <a:off x="565266" y="169250"/>
            <a:ext cx="210826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1" i="0" u="none" strike="noStrike" kern="1200" cap="none" spc="0" normalizeH="0" baseline="0" noProof="0" dirty="0">
                <a:ln>
                  <a:noFill/>
                </a:ln>
                <a:solidFill>
                  <a:srgbClr val="FFFFFF">
                    <a:lumMod val="50000"/>
                  </a:srgbClr>
                </a:solidFill>
                <a:effectLst/>
                <a:uLnTx/>
                <a:uFillTx/>
                <a:latin typeface="Arial"/>
                <a:ea typeface="微软雅黑 Light"/>
                <a:cs typeface="+mn-cs"/>
              </a:rPr>
              <a:t>網絡空間安全導論</a:t>
            </a:r>
            <a:endParaRPr kumimoji="0" lang="zh-CN" altLang="en-US" sz="1800" b="1" i="0" u="none" strike="noStrike" kern="1200" cap="none" spc="0" normalizeH="0" baseline="0" noProof="0" dirty="0">
              <a:ln>
                <a:noFill/>
              </a:ln>
              <a:solidFill>
                <a:srgbClr val="FFFFFF">
                  <a:lumMod val="50000"/>
                </a:srgbClr>
              </a:solidFill>
              <a:effectLst/>
              <a:uLnTx/>
              <a:uFillTx/>
              <a:latin typeface="Arial"/>
              <a:ea typeface="微软雅黑 Light"/>
              <a:cs typeface="+mn-cs"/>
            </a:endParaRPr>
          </a:p>
        </p:txBody>
      </p:sp>
      <p:pic>
        <p:nvPicPr>
          <p:cNvPr id="5" name="图片 4">
            <a:extLst>
              <a:ext uri="{FF2B5EF4-FFF2-40B4-BE49-F238E27FC236}">
                <a16:creationId xmlns:a16="http://schemas.microsoft.com/office/drawing/2014/main" id="{0FE6FCD0-FA89-B441-A733-B32B5C383245}"/>
              </a:ext>
            </a:extLst>
          </p:cNvPr>
          <p:cNvPicPr>
            <a:picLocks noChangeAspect="1"/>
          </p:cNvPicPr>
          <p:nvPr/>
        </p:nvPicPr>
        <p:blipFill>
          <a:blip r:embed="rId3"/>
          <a:stretch>
            <a:fillRect/>
          </a:stretch>
        </p:blipFill>
        <p:spPr>
          <a:xfrm>
            <a:off x="239235" y="191706"/>
            <a:ext cx="326031" cy="324421"/>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4" name="副标题 2">
            <a:extLst>
              <a:ext uri="{FF2B5EF4-FFF2-40B4-BE49-F238E27FC236}">
                <a16:creationId xmlns:a16="http://schemas.microsoft.com/office/drawing/2014/main" id="{6D95D5A1-602E-70F6-8ACD-205BEF407172}"/>
              </a:ext>
            </a:extLst>
          </p:cNvPr>
          <p:cNvSpPr txBox="1">
            <a:spLocks/>
          </p:cNvSpPr>
          <p:nvPr/>
        </p:nvSpPr>
        <p:spPr>
          <a:xfrm>
            <a:off x="4693328" y="5244602"/>
            <a:ext cx="2805343" cy="89585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lumMod val="85000"/>
                    <a:lumOff val="15000"/>
                  </a:schemeClr>
                </a:solidFill>
                <a:latin typeface="Microsoft YaHei" panose="020B0503020204020204" pitchFamily="34" charset="-122"/>
                <a:ea typeface="Microsoft YaHei" panose="020B0503020204020204" pitchFamily="34" charset="-122"/>
                <a:cs typeface="+mn-cs"/>
              </a:defRPr>
            </a:lvl1pPr>
            <a:lvl2pPr marL="609600"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1219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828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2438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30480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42672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4876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r>
              <a:rPr kumimoji="1" lang="zh-CN" altLang="en-CN" dirty="0">
                <a:solidFill>
                  <a:srgbClr val="000000">
                    <a:lumMod val="85000"/>
                    <a:lumOff val="15000"/>
                  </a:srgbClr>
                </a:solidFill>
              </a:rPr>
              <a:t>李</a:t>
            </a:r>
            <a:r>
              <a:rPr kumimoji="1" lang="zh-CN" altLang="en-US" dirty="0">
                <a:solidFill>
                  <a:srgbClr val="000000">
                    <a:lumMod val="85000"/>
                    <a:lumOff val="15000"/>
                  </a:srgbClr>
                </a:solidFill>
              </a:rPr>
              <a:t>琦</a:t>
            </a:r>
            <a:endParaRPr kumimoji="1" lang="en-US" altLang="zh-CN" dirty="0">
              <a:solidFill>
                <a:srgbClr val="000000">
                  <a:lumMod val="85000"/>
                  <a:lumOff val="15000"/>
                </a:srgbClr>
              </a:solidFill>
            </a:endParaRPr>
          </a:p>
          <a:p>
            <a:r>
              <a:rPr kumimoji="1" lang="zh-CN" altLang="en-US" dirty="0">
                <a:solidFill>
                  <a:srgbClr val="000000">
                    <a:lumMod val="85000"/>
                    <a:lumOff val="15000"/>
                  </a:srgbClr>
                </a:solidFill>
              </a:rPr>
              <a:t>清華大學網研院</a:t>
            </a:r>
          </a:p>
        </p:txBody>
      </p:sp>
    </p:spTree>
    <p:extLst>
      <p:ext uri="{BB962C8B-B14F-4D97-AF65-F5344CB8AC3E}">
        <p14:creationId xmlns:p14="http://schemas.microsoft.com/office/powerpoint/2010/main" val="510375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a:extLst>
              <a:ext uri="{FF2B5EF4-FFF2-40B4-BE49-F238E27FC236}">
                <a16:creationId xmlns:a16="http://schemas.microsoft.com/office/drawing/2014/main" id="{A8EE7D31-DFFD-4169-B45A-0971C52FA01B}"/>
              </a:ext>
            </a:extLst>
          </p:cNvPr>
          <p:cNvSpPr>
            <a:spLocks/>
          </p:cNvSpPr>
          <p:nvPr/>
        </p:nvSpPr>
        <p:spPr bwMode="auto">
          <a:xfrm>
            <a:off x="567736" y="1148291"/>
            <a:ext cx="10938464" cy="1033912"/>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9218" name="思想气泡: 云 9217">
            <a:extLst>
              <a:ext uri="{FF2B5EF4-FFF2-40B4-BE49-F238E27FC236}">
                <a16:creationId xmlns:a16="http://schemas.microsoft.com/office/drawing/2014/main" id="{09F54066-D5FC-4D54-BE76-14521C02C78E}"/>
              </a:ext>
            </a:extLst>
          </p:cNvPr>
          <p:cNvSpPr/>
          <p:nvPr/>
        </p:nvSpPr>
        <p:spPr>
          <a:xfrm>
            <a:off x="7678877" y="4413014"/>
            <a:ext cx="2171700" cy="1030310"/>
          </a:xfrm>
          <a:prstGeom prst="cloudCallout">
            <a:avLst/>
          </a:prstGeom>
          <a:ln/>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a:ea typeface="微软雅黑 Light"/>
                <a:cs typeface="+mn-cs"/>
              </a:rPr>
              <a:t>Internet</a:t>
            </a:r>
            <a:endParaRPr kumimoji="0"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2" name="标题 1">
            <a:extLst>
              <a:ext uri="{FF2B5EF4-FFF2-40B4-BE49-F238E27FC236}">
                <a16:creationId xmlns:a16="http://schemas.microsoft.com/office/drawing/2014/main" id="{3033C31A-10E5-1546-85B5-8CD14BAB4837}"/>
              </a:ext>
            </a:extLst>
          </p:cNvPr>
          <p:cNvSpPr>
            <a:spLocks noGrp="1"/>
          </p:cNvSpPr>
          <p:nvPr>
            <p:ph type="title"/>
          </p:nvPr>
        </p:nvSpPr>
        <p:spPr/>
        <p:txBody>
          <a:bodyPr/>
          <a:lstStyle/>
          <a:p>
            <a:r>
              <a:rPr kumimoji="1" lang="zh-CN" altLang="en-US" dirty="0"/>
              <a:t>域名系統</a:t>
            </a:r>
            <a:r>
              <a:rPr kumimoji="1" lang="en-US" altLang="zh-CN" dirty="0"/>
              <a:t>--</a:t>
            </a:r>
            <a:r>
              <a:rPr lang="zh-CN" altLang="zh-CN" sz="4000" dirty="0">
                <a:latin typeface="微软雅黑" panose="020B0503020204020204" pitchFamily="34" charset="-122"/>
                <a:ea typeface="微软雅黑" panose="020B0503020204020204" pitchFamily="34" charset="-122"/>
                <a:cs typeface="Times New Roman" panose="02020603050405020304" pitchFamily="18" charset="0"/>
              </a:rPr>
              <a:t>互聯網關鍵基礎設施</a:t>
            </a:r>
            <a:endParaRPr kumimoji="1" lang="zh-CN" altLang="en-US" dirty="0"/>
          </a:p>
        </p:txBody>
      </p:sp>
      <p:sp>
        <p:nvSpPr>
          <p:cNvPr id="3" name="矩形 2">
            <a:extLst>
              <a:ext uri="{FF2B5EF4-FFF2-40B4-BE49-F238E27FC236}">
                <a16:creationId xmlns:a16="http://schemas.microsoft.com/office/drawing/2014/main" id="{6DF46573-FF0C-5F4F-8166-9C19E268108F}"/>
              </a:ext>
            </a:extLst>
          </p:cNvPr>
          <p:cNvSpPr/>
          <p:nvPr/>
        </p:nvSpPr>
        <p:spPr>
          <a:xfrm>
            <a:off x="568343" y="1163256"/>
            <a:ext cx="11072038" cy="929678"/>
          </a:xfrm>
          <a:prstGeom prst="rect">
            <a:avLst/>
          </a:prstGeom>
        </p:spPr>
        <p:txBody>
          <a:bodyPr wrap="square">
            <a:spAutoFit/>
          </a:bodyPr>
          <a:lstStyle/>
          <a:p>
            <a:pPr marL="0" marR="0" lvl="0" indent="0" algn="l" defTabSz="914400" rtl="0" eaLnBrk="1" fontAlgn="auto" latinLnBrk="1" hangingPunct="1">
              <a:lnSpc>
                <a:spcPct val="130000"/>
              </a:lnSpc>
              <a:spcBef>
                <a:spcPts val="0"/>
              </a:spcBef>
              <a:spcAft>
                <a:spcPts val="0"/>
              </a:spcAft>
              <a:buClrTx/>
              <a:buSzTx/>
              <a:buFontTx/>
              <a:buNone/>
              <a:tabLst/>
              <a:defRPr/>
            </a:pP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域名系統（</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a:t>
            </a: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2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位于協議棧應用層</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爲互聯網提供核心服務，包括</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web</a:t>
            </a: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頁面訪問，收發郵件等互聯網應用通過</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a:t>
            </a: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查詢</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IP</a:t>
            </a: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地址後獲取資源</a:t>
            </a:r>
            <a:r>
              <a:rPr kumimoji="0" lang="zh-CN" altLang="en-US" sz="22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已成爲</a:t>
            </a: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互聯網關鍵基礎設施</a:t>
            </a:r>
            <a:endPar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0" name="图片 9">
            <a:extLst>
              <a:ext uri="{FF2B5EF4-FFF2-40B4-BE49-F238E27FC236}">
                <a16:creationId xmlns:a16="http://schemas.microsoft.com/office/drawing/2014/main" id="{7738F0B3-9F2A-4607-9964-9E2B4F69CD7D}"/>
              </a:ext>
            </a:extLst>
          </p:cNvPr>
          <p:cNvPicPr>
            <a:picLocks noChangeAspect="1"/>
          </p:cNvPicPr>
          <p:nvPr/>
        </p:nvPicPr>
        <p:blipFill>
          <a:blip r:embed="rId3"/>
          <a:stretch>
            <a:fillRect/>
          </a:stretch>
        </p:blipFill>
        <p:spPr>
          <a:xfrm>
            <a:off x="804304" y="3136008"/>
            <a:ext cx="4396904" cy="2647473"/>
          </a:xfrm>
          <a:prstGeom prst="rect">
            <a:avLst/>
          </a:prstGeom>
        </p:spPr>
      </p:pic>
      <p:sp>
        <p:nvSpPr>
          <p:cNvPr id="15" name="矩形 14">
            <a:extLst>
              <a:ext uri="{FF2B5EF4-FFF2-40B4-BE49-F238E27FC236}">
                <a16:creationId xmlns:a16="http://schemas.microsoft.com/office/drawing/2014/main" id="{B2887AB9-2B97-41F0-A66C-D9E6C3131819}"/>
              </a:ext>
            </a:extLst>
          </p:cNvPr>
          <p:cNvSpPr/>
          <p:nvPr/>
        </p:nvSpPr>
        <p:spPr>
          <a:xfrm>
            <a:off x="1597363" y="5936453"/>
            <a:ext cx="2787943" cy="453457"/>
          </a:xfrm>
          <a:prstGeom prst="rect">
            <a:avLst/>
          </a:prstGeom>
        </p:spPr>
        <p:txBody>
          <a:bodyPr wrap="none">
            <a:spAutoFit/>
          </a:bodyPr>
          <a:lstStyle/>
          <a:p>
            <a:pPr marL="0" marR="0" lvl="0" indent="0" algn="l" defTabSz="914400" rtl="0" eaLnBrk="1" fontAlgn="auto" latinLnBrk="1" hangingPunct="1">
              <a:lnSpc>
                <a:spcPct val="13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位于協議棧應用層</a:t>
            </a:r>
          </a:p>
        </p:txBody>
      </p:sp>
      <p:pic>
        <p:nvPicPr>
          <p:cNvPr id="1026" name="Picture 2" descr="See the source image">
            <a:extLst>
              <a:ext uri="{FF2B5EF4-FFF2-40B4-BE49-F238E27FC236}">
                <a16:creationId xmlns:a16="http://schemas.microsoft.com/office/drawing/2014/main" id="{DC4E77B1-865D-42E3-8C51-24FDE79C75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53340" y="2385716"/>
            <a:ext cx="1711036" cy="1711036"/>
          </a:xfrm>
          <a:prstGeom prst="rect">
            <a:avLst/>
          </a:prstGeom>
          <a:noFill/>
          <a:extLst>
            <a:ext uri="{909E8E84-426E-40DD-AFC4-6F175D3DCCD1}">
              <a14:hiddenFill xmlns:a14="http://schemas.microsoft.com/office/drawing/2010/main">
                <a:solidFill>
                  <a:srgbClr val="FFFFFF"/>
                </a:solidFill>
              </a14:hiddenFill>
            </a:ext>
          </a:extLst>
        </p:spPr>
      </p:pic>
      <p:pic>
        <p:nvPicPr>
          <p:cNvPr id="13" name="图片 12">
            <a:extLst>
              <a:ext uri="{FF2B5EF4-FFF2-40B4-BE49-F238E27FC236}">
                <a16:creationId xmlns:a16="http://schemas.microsoft.com/office/drawing/2014/main" id="{50B4F859-02B8-43D7-9242-69AF51C28427}"/>
              </a:ext>
            </a:extLst>
          </p:cNvPr>
          <p:cNvPicPr>
            <a:picLocks noChangeAspect="1"/>
          </p:cNvPicPr>
          <p:nvPr/>
        </p:nvPicPr>
        <p:blipFill>
          <a:blip r:embed="rId5"/>
          <a:stretch>
            <a:fillRect/>
          </a:stretch>
        </p:blipFill>
        <p:spPr>
          <a:xfrm>
            <a:off x="5818367" y="4675797"/>
            <a:ext cx="1552792" cy="1600423"/>
          </a:xfrm>
          <a:prstGeom prst="rect">
            <a:avLst/>
          </a:prstGeom>
        </p:spPr>
      </p:pic>
      <p:cxnSp>
        <p:nvCxnSpPr>
          <p:cNvPr id="17" name="直接箭头连接符 16">
            <a:extLst>
              <a:ext uri="{FF2B5EF4-FFF2-40B4-BE49-F238E27FC236}">
                <a16:creationId xmlns:a16="http://schemas.microsoft.com/office/drawing/2014/main" id="{69E695C5-EC69-4EB6-B67C-E5ED84F3F6E9}"/>
              </a:ext>
            </a:extLst>
          </p:cNvPr>
          <p:cNvCxnSpPr>
            <a:cxnSpLocks/>
          </p:cNvCxnSpPr>
          <p:nvPr/>
        </p:nvCxnSpPr>
        <p:spPr>
          <a:xfrm flipV="1">
            <a:off x="7117946" y="3291068"/>
            <a:ext cx="1508489" cy="130982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0" name="矩形 19">
            <a:extLst>
              <a:ext uri="{FF2B5EF4-FFF2-40B4-BE49-F238E27FC236}">
                <a16:creationId xmlns:a16="http://schemas.microsoft.com/office/drawing/2014/main" id="{FA4CC9EC-BE6D-4C1C-B584-9C4BBAA71037}"/>
              </a:ext>
            </a:extLst>
          </p:cNvPr>
          <p:cNvSpPr/>
          <p:nvPr/>
        </p:nvSpPr>
        <p:spPr>
          <a:xfrm rot="19077407">
            <a:off x="6681552" y="3461572"/>
            <a:ext cx="2126095" cy="453457"/>
          </a:xfrm>
          <a:prstGeom prst="rect">
            <a:avLst/>
          </a:prstGeom>
        </p:spPr>
        <p:txBody>
          <a:bodyPr wrap="none">
            <a:spAutoFit/>
          </a:bodyPr>
          <a:lstStyle/>
          <a:p>
            <a:pPr marL="0" marR="0" lvl="0" indent="0" algn="l" defTabSz="914400" rtl="0" eaLnBrk="1" fontAlgn="auto" latinLnBrk="1" hangingPunct="1">
              <a:lnSpc>
                <a:spcPct val="13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www.baidu.com</a:t>
            </a:r>
            <a:endPar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cxnSp>
        <p:nvCxnSpPr>
          <p:cNvPr id="21" name="直接箭头连接符 20">
            <a:extLst>
              <a:ext uri="{FF2B5EF4-FFF2-40B4-BE49-F238E27FC236}">
                <a16:creationId xmlns:a16="http://schemas.microsoft.com/office/drawing/2014/main" id="{505BA2EB-B6DD-4509-BFF9-2487B7218B00}"/>
              </a:ext>
            </a:extLst>
          </p:cNvPr>
          <p:cNvCxnSpPr>
            <a:cxnSpLocks/>
          </p:cNvCxnSpPr>
          <p:nvPr/>
        </p:nvCxnSpPr>
        <p:spPr>
          <a:xfrm flipH="1">
            <a:off x="7265941" y="3431084"/>
            <a:ext cx="1437731" cy="129673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7" name="矩形 26">
            <a:extLst>
              <a:ext uri="{FF2B5EF4-FFF2-40B4-BE49-F238E27FC236}">
                <a16:creationId xmlns:a16="http://schemas.microsoft.com/office/drawing/2014/main" id="{962EA29D-8F53-42BE-92D1-244073C493D8}"/>
              </a:ext>
            </a:extLst>
          </p:cNvPr>
          <p:cNvSpPr/>
          <p:nvPr/>
        </p:nvSpPr>
        <p:spPr>
          <a:xfrm rot="19078353">
            <a:off x="7225278" y="3989366"/>
            <a:ext cx="1705916" cy="453457"/>
          </a:xfrm>
          <a:prstGeom prst="rect">
            <a:avLst/>
          </a:prstGeom>
        </p:spPr>
        <p:txBody>
          <a:bodyPr wrap="none">
            <a:spAutoFit/>
          </a:bodyPr>
          <a:lstStyle/>
          <a:p>
            <a:pPr marL="0" marR="0" lvl="0" indent="0" algn="l" defTabSz="914400" rtl="0" eaLnBrk="1" fontAlgn="auto" latinLnBrk="1" hangingPunct="1">
              <a:lnSpc>
                <a:spcPct val="130000"/>
              </a:lnSpc>
              <a:spcBef>
                <a:spcPts val="0"/>
              </a:spcBef>
              <a:spcAft>
                <a:spcPts val="0"/>
              </a:spcAft>
              <a:buClrTx/>
              <a:buSzTx/>
              <a:buFontTx/>
              <a:buNone/>
              <a:tabLst/>
              <a:defRPr/>
            </a:pPr>
            <a:r>
              <a:rPr kumimoji="0" lang="en-US" altLang="zh-CN" sz="20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rPr>
              <a:t>IP:xx:xx:xx:xx</a:t>
            </a:r>
            <a:endPar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cxnSp>
        <p:nvCxnSpPr>
          <p:cNvPr id="30" name="直接箭头连接符 29">
            <a:extLst>
              <a:ext uri="{FF2B5EF4-FFF2-40B4-BE49-F238E27FC236}">
                <a16:creationId xmlns:a16="http://schemas.microsoft.com/office/drawing/2014/main" id="{74DA168C-73CA-402E-B962-5CECE599AABE}"/>
              </a:ext>
            </a:extLst>
          </p:cNvPr>
          <p:cNvCxnSpPr>
            <a:cxnSpLocks/>
          </p:cNvCxnSpPr>
          <p:nvPr/>
        </p:nvCxnSpPr>
        <p:spPr>
          <a:xfrm>
            <a:off x="7592675" y="5639987"/>
            <a:ext cx="2067519"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grpSp>
        <p:nvGrpSpPr>
          <p:cNvPr id="9217" name="组合 9216">
            <a:extLst>
              <a:ext uri="{FF2B5EF4-FFF2-40B4-BE49-F238E27FC236}">
                <a16:creationId xmlns:a16="http://schemas.microsoft.com/office/drawing/2014/main" id="{36B039CD-8F33-4CC8-B5BD-DC9E796E4642}"/>
              </a:ext>
            </a:extLst>
          </p:cNvPr>
          <p:cNvGrpSpPr/>
          <p:nvPr/>
        </p:nvGrpSpPr>
        <p:grpSpPr>
          <a:xfrm>
            <a:off x="9738373" y="4383111"/>
            <a:ext cx="2453627" cy="2143503"/>
            <a:chOff x="9738373" y="4383111"/>
            <a:chExt cx="2453627" cy="2143503"/>
          </a:xfrm>
        </p:grpSpPr>
        <p:pic>
          <p:nvPicPr>
            <p:cNvPr id="9216" name="图片 9215">
              <a:extLst>
                <a:ext uri="{FF2B5EF4-FFF2-40B4-BE49-F238E27FC236}">
                  <a16:creationId xmlns:a16="http://schemas.microsoft.com/office/drawing/2014/main" id="{6A437B53-CC83-4EE2-AA37-FA2466A18C6F}"/>
                </a:ext>
              </a:extLst>
            </p:cNvPr>
            <p:cNvPicPr>
              <a:picLocks noChangeAspect="1"/>
            </p:cNvPicPr>
            <p:nvPr/>
          </p:nvPicPr>
          <p:blipFill>
            <a:blip r:embed="rId6"/>
            <a:stretch>
              <a:fillRect/>
            </a:stretch>
          </p:blipFill>
          <p:spPr>
            <a:xfrm>
              <a:off x="9850577" y="4383111"/>
              <a:ext cx="1400370" cy="1400370"/>
            </a:xfrm>
            <a:prstGeom prst="rect">
              <a:avLst/>
            </a:prstGeom>
          </p:spPr>
        </p:pic>
        <p:pic>
          <p:nvPicPr>
            <p:cNvPr id="26" name="图片 25">
              <a:extLst>
                <a:ext uri="{FF2B5EF4-FFF2-40B4-BE49-F238E27FC236}">
                  <a16:creationId xmlns:a16="http://schemas.microsoft.com/office/drawing/2014/main" id="{590F1E3F-02D2-4EC4-9209-FCBE6D982141}"/>
                </a:ext>
              </a:extLst>
            </p:cNvPr>
            <p:cNvPicPr>
              <a:picLocks noChangeAspect="1"/>
            </p:cNvPicPr>
            <p:nvPr/>
          </p:nvPicPr>
          <p:blipFill rotWithShape="1">
            <a:blip r:embed="rId7"/>
            <a:srcRect l="10878" t="12398"/>
            <a:stretch/>
          </p:blipFill>
          <p:spPr>
            <a:xfrm>
              <a:off x="9738373" y="5642018"/>
              <a:ext cx="2453627" cy="884596"/>
            </a:xfrm>
            <a:prstGeom prst="rect">
              <a:avLst/>
            </a:prstGeom>
          </p:spPr>
        </p:pic>
      </p:grpSp>
      <p:sp>
        <p:nvSpPr>
          <p:cNvPr id="37" name="矩形 36">
            <a:extLst>
              <a:ext uri="{FF2B5EF4-FFF2-40B4-BE49-F238E27FC236}">
                <a16:creationId xmlns:a16="http://schemas.microsoft.com/office/drawing/2014/main" id="{CCA50BD4-8281-49CB-8AEE-802F26022999}"/>
              </a:ext>
            </a:extLst>
          </p:cNvPr>
          <p:cNvSpPr/>
          <p:nvPr/>
        </p:nvSpPr>
        <p:spPr>
          <a:xfrm>
            <a:off x="9933858" y="6163182"/>
            <a:ext cx="1705916" cy="453457"/>
          </a:xfrm>
          <a:prstGeom prst="rect">
            <a:avLst/>
          </a:prstGeom>
        </p:spPr>
        <p:txBody>
          <a:bodyPr wrap="none">
            <a:spAutoFit/>
          </a:bodyPr>
          <a:lstStyle/>
          <a:p>
            <a:pPr marL="0" marR="0" lvl="0" indent="0" algn="l" defTabSz="914400" rtl="0" eaLnBrk="1" fontAlgn="auto" latinLnBrk="1" hangingPunct="1">
              <a:lnSpc>
                <a:spcPct val="130000"/>
              </a:lnSpc>
              <a:spcBef>
                <a:spcPts val="0"/>
              </a:spcBef>
              <a:spcAft>
                <a:spcPts val="0"/>
              </a:spcAft>
              <a:buClrTx/>
              <a:buSzTx/>
              <a:buFontTx/>
              <a:buNone/>
              <a:tabLst/>
              <a:defRPr/>
            </a:pPr>
            <a:r>
              <a:rPr kumimoji="0" lang="en-US" altLang="zh-CN" sz="20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rPr>
              <a:t>IP:xx:xx:xx:xx</a:t>
            </a:r>
            <a:endPar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9219" name="矩形 9218">
            <a:extLst>
              <a:ext uri="{FF2B5EF4-FFF2-40B4-BE49-F238E27FC236}">
                <a16:creationId xmlns:a16="http://schemas.microsoft.com/office/drawing/2014/main" id="{D154B3AA-6A61-46F9-AD6F-4C4641B21932}"/>
              </a:ext>
            </a:extLst>
          </p:cNvPr>
          <p:cNvSpPr/>
          <p:nvPr/>
        </p:nvSpPr>
        <p:spPr>
          <a:xfrm>
            <a:off x="3342300" y="3921818"/>
            <a:ext cx="544154" cy="2880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4" name="灯片编号占位符 3">
            <a:extLst>
              <a:ext uri="{FF2B5EF4-FFF2-40B4-BE49-F238E27FC236}">
                <a16:creationId xmlns:a16="http://schemas.microsoft.com/office/drawing/2014/main" id="{F9C4B081-EB25-484A-834E-C9EE8D67CE38}"/>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39530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ee the source image">
            <a:extLst>
              <a:ext uri="{FF2B5EF4-FFF2-40B4-BE49-F238E27FC236}">
                <a16:creationId xmlns:a16="http://schemas.microsoft.com/office/drawing/2014/main" id="{9ECA00C3-52EA-47D7-B432-E6F8E6863D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500" y="2217576"/>
            <a:ext cx="4286250" cy="3438525"/>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0EFABB36-75BA-4FBD-B9A0-1CF32C6CBAEE}"/>
              </a:ext>
            </a:extLst>
          </p:cNvPr>
          <p:cNvPicPr>
            <a:picLocks noChangeAspect="1"/>
          </p:cNvPicPr>
          <p:nvPr/>
        </p:nvPicPr>
        <p:blipFill>
          <a:blip r:embed="rId4"/>
          <a:stretch>
            <a:fillRect/>
          </a:stretch>
        </p:blipFill>
        <p:spPr>
          <a:xfrm>
            <a:off x="4351879" y="5177263"/>
            <a:ext cx="7497221" cy="1057423"/>
          </a:xfrm>
          <a:prstGeom prst="rect">
            <a:avLst/>
          </a:prstGeom>
          <a:ln>
            <a:noFill/>
          </a:ln>
          <a:effectLst>
            <a:outerShdw blurRad="292100" dist="139700" dir="2700000" algn="tl" rotWithShape="0">
              <a:srgbClr val="333333">
                <a:alpha val="65000"/>
              </a:srgbClr>
            </a:outerShdw>
          </a:effectLst>
        </p:spPr>
      </p:pic>
      <p:sp>
        <p:nvSpPr>
          <p:cNvPr id="41" name="矩形 40">
            <a:extLst>
              <a:ext uri="{FF2B5EF4-FFF2-40B4-BE49-F238E27FC236}">
                <a16:creationId xmlns:a16="http://schemas.microsoft.com/office/drawing/2014/main" id="{899E8363-426B-416D-B629-1A342638B035}"/>
              </a:ext>
            </a:extLst>
          </p:cNvPr>
          <p:cNvSpPr>
            <a:spLocks/>
          </p:cNvSpPr>
          <p:nvPr/>
        </p:nvSpPr>
        <p:spPr bwMode="auto">
          <a:xfrm>
            <a:off x="5492750" y="1369534"/>
            <a:ext cx="6356350" cy="3733553"/>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5" name="弧形 4">
            <a:extLst>
              <a:ext uri="{FF2B5EF4-FFF2-40B4-BE49-F238E27FC236}">
                <a16:creationId xmlns:a16="http://schemas.microsoft.com/office/drawing/2014/main" id="{FD36CE9E-8D33-4EC6-AAB8-6436F0A4DF7E}"/>
              </a:ext>
            </a:extLst>
          </p:cNvPr>
          <p:cNvSpPr/>
          <p:nvPr/>
        </p:nvSpPr>
        <p:spPr>
          <a:xfrm>
            <a:off x="342900" y="1782414"/>
            <a:ext cx="4113724" cy="4377085"/>
          </a:xfrm>
          <a:prstGeom prst="arc">
            <a:avLst>
              <a:gd name="adj1" fmla="val 4655529"/>
              <a:gd name="adj2" fmla="val 16340202"/>
            </a:avLst>
          </a:prstGeom>
          <a:ln w="28575"/>
        </p:spPr>
        <p:style>
          <a:lnRef idx="1">
            <a:schemeClr val="accent3"/>
          </a:lnRef>
          <a:fillRef idx="0">
            <a:schemeClr val="accent3"/>
          </a:fillRef>
          <a:effectRef idx="0">
            <a:schemeClr val="accent3"/>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2" name="标题 1">
            <a:extLst>
              <a:ext uri="{FF2B5EF4-FFF2-40B4-BE49-F238E27FC236}">
                <a16:creationId xmlns:a16="http://schemas.microsoft.com/office/drawing/2014/main" id="{63852AA2-A5BC-4D49-806C-5207DE5B40A6}"/>
              </a:ext>
            </a:extLst>
          </p:cNvPr>
          <p:cNvSpPr>
            <a:spLocks noGrp="1"/>
          </p:cNvSpPr>
          <p:nvPr>
            <p:ph type="title"/>
          </p:nvPr>
        </p:nvSpPr>
        <p:spPr/>
        <p:txBody>
          <a:bodyPr/>
          <a:lstStyle/>
          <a:p>
            <a:r>
              <a:rPr kumimoji="1" lang="zh-CN" altLang="en-US" dirty="0"/>
              <a:t>域名系統</a:t>
            </a:r>
            <a:r>
              <a:rPr kumimoji="1" lang="en-US" altLang="zh-CN" dirty="0"/>
              <a:t>—</a:t>
            </a:r>
            <a:r>
              <a:rPr kumimoji="1" lang="zh-CN" altLang="en-US" dirty="0"/>
              <a:t>超大規模分布式數據庫</a:t>
            </a:r>
          </a:p>
        </p:txBody>
      </p:sp>
      <p:pic>
        <p:nvPicPr>
          <p:cNvPr id="52" name="图片 51">
            <a:extLst>
              <a:ext uri="{FF2B5EF4-FFF2-40B4-BE49-F238E27FC236}">
                <a16:creationId xmlns:a16="http://schemas.microsoft.com/office/drawing/2014/main" id="{EC5C5E59-2ADC-E64C-A220-C997712E3BE4}"/>
              </a:ext>
            </a:extLst>
          </p:cNvPr>
          <p:cNvPicPr>
            <a:picLocks noChangeAspect="1"/>
          </p:cNvPicPr>
          <p:nvPr/>
        </p:nvPicPr>
        <p:blipFill rotWithShape="1">
          <a:blip r:embed="rId5"/>
          <a:srcRect t="4728" b="64862"/>
          <a:stretch/>
        </p:blipFill>
        <p:spPr>
          <a:xfrm>
            <a:off x="0" y="3060398"/>
            <a:ext cx="749300" cy="764706"/>
          </a:xfrm>
          <a:prstGeom prst="rect">
            <a:avLst/>
          </a:prstGeom>
        </p:spPr>
      </p:pic>
      <p:sp>
        <p:nvSpPr>
          <p:cNvPr id="3" name="文本框 2">
            <a:extLst>
              <a:ext uri="{FF2B5EF4-FFF2-40B4-BE49-F238E27FC236}">
                <a16:creationId xmlns:a16="http://schemas.microsoft.com/office/drawing/2014/main" id="{4CE62472-F344-BC4A-95C0-10FEBFF80802}"/>
              </a:ext>
            </a:extLst>
          </p:cNvPr>
          <p:cNvSpPr txBox="1"/>
          <p:nvPr/>
        </p:nvSpPr>
        <p:spPr>
          <a:xfrm>
            <a:off x="5702717" y="1886574"/>
            <a:ext cx="6208322" cy="2926314"/>
          </a:xfrm>
          <a:prstGeom prst="rect">
            <a:avLst/>
          </a:prstGeom>
          <a:noFill/>
        </p:spPr>
        <p:txBody>
          <a:bodyPr wrap="square" rtlCol="0">
            <a:spAutoFit/>
          </a:bodyPr>
          <a:lstStyle/>
          <a:p>
            <a:pPr marL="457200" marR="0" lvl="0" indent="-4572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作爲一個分布式數據庫，域名系統使得任意聯網計算機能够通過域名訪問互聯網</a:t>
            </a:r>
            <a:endPar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457200" marR="0" lvl="0" indent="-4572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457200" marR="0" lvl="0" indent="-457200" algn="just"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靈活的擴展性和優异的解析性能，能够持續高效地支持數億規模的域名解析，</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2022</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年三季度末，全球域名</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3.58</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億</a:t>
            </a:r>
            <a:endPar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pic>
        <p:nvPicPr>
          <p:cNvPr id="32" name="图片 31">
            <a:extLst>
              <a:ext uri="{FF2B5EF4-FFF2-40B4-BE49-F238E27FC236}">
                <a16:creationId xmlns:a16="http://schemas.microsoft.com/office/drawing/2014/main" id="{02720ABC-D58E-4837-B594-49D9E6890393}"/>
              </a:ext>
            </a:extLst>
          </p:cNvPr>
          <p:cNvPicPr>
            <a:picLocks noChangeAspect="1"/>
          </p:cNvPicPr>
          <p:nvPr/>
        </p:nvPicPr>
        <p:blipFill rotWithShape="1">
          <a:blip r:embed="rId5"/>
          <a:srcRect t="4728" b="64862"/>
          <a:stretch/>
        </p:blipFill>
        <p:spPr>
          <a:xfrm>
            <a:off x="236928" y="4338382"/>
            <a:ext cx="749300" cy="764706"/>
          </a:xfrm>
          <a:prstGeom prst="rect">
            <a:avLst/>
          </a:prstGeom>
        </p:spPr>
      </p:pic>
      <p:pic>
        <p:nvPicPr>
          <p:cNvPr id="33" name="图片 32">
            <a:extLst>
              <a:ext uri="{FF2B5EF4-FFF2-40B4-BE49-F238E27FC236}">
                <a16:creationId xmlns:a16="http://schemas.microsoft.com/office/drawing/2014/main" id="{DA26A0BD-3CA2-48B9-B888-5C7D257F1BF7}"/>
              </a:ext>
            </a:extLst>
          </p:cNvPr>
          <p:cNvPicPr>
            <a:picLocks noChangeAspect="1"/>
          </p:cNvPicPr>
          <p:nvPr/>
        </p:nvPicPr>
        <p:blipFill rotWithShape="1">
          <a:blip r:embed="rId5"/>
          <a:srcRect t="4728" b="64862"/>
          <a:stretch/>
        </p:blipFill>
        <p:spPr>
          <a:xfrm>
            <a:off x="1276350" y="5419002"/>
            <a:ext cx="749300" cy="764706"/>
          </a:xfrm>
          <a:prstGeom prst="rect">
            <a:avLst/>
          </a:prstGeom>
        </p:spPr>
      </p:pic>
      <p:sp>
        <p:nvSpPr>
          <p:cNvPr id="6" name="爆炸形: 8 pt  5">
            <a:extLst>
              <a:ext uri="{FF2B5EF4-FFF2-40B4-BE49-F238E27FC236}">
                <a16:creationId xmlns:a16="http://schemas.microsoft.com/office/drawing/2014/main" id="{4C70C909-CB70-4530-8DB3-EEDFB82F4737}"/>
              </a:ext>
            </a:extLst>
          </p:cNvPr>
          <p:cNvSpPr/>
          <p:nvPr/>
        </p:nvSpPr>
        <p:spPr>
          <a:xfrm>
            <a:off x="9773478" y="5603332"/>
            <a:ext cx="2408047" cy="1672936"/>
          </a:xfrm>
          <a:prstGeom prst="irregularSeal1">
            <a:avLst/>
          </a:prstGeom>
          <a:solidFill>
            <a:srgbClr val="C0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pic>
        <p:nvPicPr>
          <p:cNvPr id="34" name="图片 33">
            <a:extLst>
              <a:ext uri="{FF2B5EF4-FFF2-40B4-BE49-F238E27FC236}">
                <a16:creationId xmlns:a16="http://schemas.microsoft.com/office/drawing/2014/main" id="{F8BBDAAE-1791-4BB7-AF48-1409FCCDA3D7}"/>
              </a:ext>
            </a:extLst>
          </p:cNvPr>
          <p:cNvPicPr>
            <a:picLocks noChangeAspect="1"/>
          </p:cNvPicPr>
          <p:nvPr/>
        </p:nvPicPr>
        <p:blipFill rotWithShape="1">
          <a:blip r:embed="rId5"/>
          <a:srcRect t="4728" b="64862"/>
          <a:stretch/>
        </p:blipFill>
        <p:spPr>
          <a:xfrm>
            <a:off x="952500" y="1776864"/>
            <a:ext cx="749300" cy="764706"/>
          </a:xfrm>
          <a:prstGeom prst="rect">
            <a:avLst/>
          </a:prstGeom>
        </p:spPr>
      </p:pic>
      <p:pic>
        <p:nvPicPr>
          <p:cNvPr id="35" name="图片 34">
            <a:extLst>
              <a:ext uri="{FF2B5EF4-FFF2-40B4-BE49-F238E27FC236}">
                <a16:creationId xmlns:a16="http://schemas.microsoft.com/office/drawing/2014/main" id="{F7F0962C-372D-4F0F-97BB-A2B9F76DDA33}"/>
              </a:ext>
            </a:extLst>
          </p:cNvPr>
          <p:cNvPicPr>
            <a:picLocks noChangeAspect="1"/>
          </p:cNvPicPr>
          <p:nvPr/>
        </p:nvPicPr>
        <p:blipFill rotWithShape="1">
          <a:blip r:embed="rId5"/>
          <a:srcRect t="4728" b="64862"/>
          <a:stretch/>
        </p:blipFill>
        <p:spPr>
          <a:xfrm>
            <a:off x="2076450" y="1380760"/>
            <a:ext cx="749300" cy="764706"/>
          </a:xfrm>
          <a:prstGeom prst="rect">
            <a:avLst/>
          </a:prstGeom>
        </p:spPr>
      </p:pic>
      <p:pic>
        <p:nvPicPr>
          <p:cNvPr id="36" name="图片 35">
            <a:extLst>
              <a:ext uri="{FF2B5EF4-FFF2-40B4-BE49-F238E27FC236}">
                <a16:creationId xmlns:a16="http://schemas.microsoft.com/office/drawing/2014/main" id="{A6C3C0D8-2763-4012-81EA-BBA2A2D16F87}"/>
              </a:ext>
            </a:extLst>
          </p:cNvPr>
          <p:cNvPicPr>
            <a:picLocks noChangeAspect="1"/>
          </p:cNvPicPr>
          <p:nvPr/>
        </p:nvPicPr>
        <p:blipFill rotWithShape="1">
          <a:blip r:embed="rId5"/>
          <a:srcRect t="4728" b="64862"/>
          <a:stretch/>
        </p:blipFill>
        <p:spPr>
          <a:xfrm>
            <a:off x="2774950" y="5755132"/>
            <a:ext cx="749300" cy="764706"/>
          </a:xfrm>
          <a:prstGeom prst="rect">
            <a:avLst/>
          </a:prstGeom>
        </p:spPr>
      </p:pic>
      <p:sp>
        <p:nvSpPr>
          <p:cNvPr id="4" name="文本框 3">
            <a:extLst>
              <a:ext uri="{FF2B5EF4-FFF2-40B4-BE49-F238E27FC236}">
                <a16:creationId xmlns:a16="http://schemas.microsoft.com/office/drawing/2014/main" id="{17F8162E-B40A-40B1-BB19-894738D18B58}"/>
              </a:ext>
            </a:extLst>
          </p:cNvPr>
          <p:cNvSpPr txBox="1"/>
          <p:nvPr/>
        </p:nvSpPr>
        <p:spPr>
          <a:xfrm>
            <a:off x="10202508" y="6032453"/>
            <a:ext cx="165182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難以采用</a:t>
            </a:r>
            <a:endPar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集中式數據庫</a:t>
            </a:r>
          </a:p>
        </p:txBody>
      </p:sp>
      <p:sp>
        <p:nvSpPr>
          <p:cNvPr id="8" name="灯片编号占位符 7">
            <a:extLst>
              <a:ext uri="{FF2B5EF4-FFF2-40B4-BE49-F238E27FC236}">
                <a16:creationId xmlns:a16="http://schemas.microsoft.com/office/drawing/2014/main" id="{66268655-0FEE-4AC6-B3FE-B8F1D9C38D2F}"/>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117121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BDC40AE5-4199-42EB-9FCB-78ECB7635478}"/>
              </a:ext>
            </a:extLst>
          </p:cNvPr>
          <p:cNvSpPr>
            <a:spLocks/>
          </p:cNvSpPr>
          <p:nvPr/>
        </p:nvSpPr>
        <p:spPr bwMode="auto">
          <a:xfrm>
            <a:off x="407461" y="3749748"/>
            <a:ext cx="3478739" cy="2689571"/>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13" name="矩形 12">
            <a:extLst>
              <a:ext uri="{FF2B5EF4-FFF2-40B4-BE49-F238E27FC236}">
                <a16:creationId xmlns:a16="http://schemas.microsoft.com/office/drawing/2014/main" id="{3DD49DC8-5552-460C-BF6E-8961F64CFC6C}"/>
              </a:ext>
            </a:extLst>
          </p:cNvPr>
          <p:cNvSpPr>
            <a:spLocks/>
          </p:cNvSpPr>
          <p:nvPr/>
        </p:nvSpPr>
        <p:spPr bwMode="auto">
          <a:xfrm>
            <a:off x="4030106" y="1126744"/>
            <a:ext cx="7754433" cy="2164364"/>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2" name="标题 1">
            <a:extLst>
              <a:ext uri="{FF2B5EF4-FFF2-40B4-BE49-F238E27FC236}">
                <a16:creationId xmlns:a16="http://schemas.microsoft.com/office/drawing/2014/main" id="{33CB06FC-0A68-424C-9E0C-A75E601EFE81}"/>
              </a:ext>
            </a:extLst>
          </p:cNvPr>
          <p:cNvSpPr>
            <a:spLocks noGrp="1"/>
          </p:cNvSpPr>
          <p:nvPr>
            <p:ph type="title"/>
          </p:nvPr>
        </p:nvSpPr>
        <p:spPr/>
        <p:txBody>
          <a:bodyPr/>
          <a:lstStyle/>
          <a:p>
            <a:r>
              <a:rPr kumimoji="1" lang="zh-CN" altLang="en-US" dirty="0"/>
              <a:t>域名系統安全對抗不斷升級</a:t>
            </a:r>
            <a:endParaRPr kumimoji="1" lang="zh-CN" altLang="en-US" dirty="0">
              <a:solidFill>
                <a:srgbClr val="C00000"/>
              </a:solidFill>
            </a:endParaRPr>
          </a:p>
        </p:txBody>
      </p:sp>
      <p:sp>
        <p:nvSpPr>
          <p:cNvPr id="18" name="矩形 17">
            <a:extLst>
              <a:ext uri="{FF2B5EF4-FFF2-40B4-BE49-F238E27FC236}">
                <a16:creationId xmlns:a16="http://schemas.microsoft.com/office/drawing/2014/main" id="{AAA1D821-4552-184D-8A27-167324959C26}"/>
              </a:ext>
            </a:extLst>
          </p:cNvPr>
          <p:cNvSpPr/>
          <p:nvPr/>
        </p:nvSpPr>
        <p:spPr>
          <a:xfrm>
            <a:off x="5813363" y="6323291"/>
            <a:ext cx="18473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19" name="矩形 18">
            <a:extLst>
              <a:ext uri="{FF2B5EF4-FFF2-40B4-BE49-F238E27FC236}">
                <a16:creationId xmlns:a16="http://schemas.microsoft.com/office/drawing/2014/main" id="{5D4B8560-BAA5-DB4E-A0CC-C8813ED200B0}"/>
              </a:ext>
            </a:extLst>
          </p:cNvPr>
          <p:cNvSpPr/>
          <p:nvPr/>
        </p:nvSpPr>
        <p:spPr>
          <a:xfrm>
            <a:off x="4030106" y="1149226"/>
            <a:ext cx="7724678" cy="2381742"/>
          </a:xfrm>
          <a:prstGeom prst="rect">
            <a:avLst/>
          </a:prstGeom>
        </p:spPr>
        <p:txBody>
          <a:bodyPr wrap="square">
            <a:spAutoFit/>
          </a:bodyPr>
          <a:lstStyle/>
          <a:p>
            <a:pPr marL="285750" marR="0" lvl="0" indent="-285750" algn="just" defTabSz="914400" rtl="0" eaLnBrk="1" fontAlgn="auto" latinLnBrk="0" hangingPunct="1">
              <a:lnSpc>
                <a:spcPct val="130000"/>
              </a:lnSpc>
              <a:spcBef>
                <a:spcPts val="0"/>
              </a:spcBef>
              <a:spcAft>
                <a:spcPts val="0"/>
              </a:spcAft>
              <a:buClr>
                <a:srgbClr val="0000CC"/>
              </a:buClr>
              <a:buSzPct val="60000"/>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緩存污染、</a:t>
            </a: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DDoS</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攻擊等</a:t>
            </a: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DNS</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安全威脅層出不窮，顯示了全球</a:t>
            </a: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DNS</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安全的脆弱性</a:t>
            </a:r>
            <a:endPar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just" defTabSz="914400" rtl="0" eaLnBrk="1" fontAlgn="auto" latinLnBrk="0" hangingPunct="1">
              <a:lnSpc>
                <a:spcPct val="130000"/>
              </a:lnSpc>
              <a:spcBef>
                <a:spcPts val="0"/>
              </a:spcBef>
              <a:spcAft>
                <a:spcPts val="0"/>
              </a:spcAft>
              <a:buClr>
                <a:srgbClr val="0000CC"/>
              </a:buClr>
              <a:buSzPct val="60000"/>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與此同時，各類安全方案也致力于提升</a:t>
            </a: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DNS</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安全性，互聯網廠商如果有足够的針對自身信息系統的安全預案，就足以應對全面而複雜的威脅</a:t>
            </a:r>
            <a:endPar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30000"/>
              </a:lnSpc>
              <a:spcBef>
                <a:spcPts val="0"/>
              </a:spcBef>
              <a:spcAft>
                <a:spcPts val="0"/>
              </a:spcAft>
              <a:buClr>
                <a:srgbClr val="0000CC"/>
              </a:buClr>
              <a:buSzPct val="60000"/>
              <a:buFont typeface="Arial" panose="020B0604020202020204" pitchFamily="34" charset="0"/>
              <a:buChar char="•"/>
              <a:tabLst/>
              <a:defRPr/>
            </a:pPr>
            <a:endParaRPr kumimoji="0" lang="en-US" altLang="zh-CN" sz="2400" b="0" i="0" u="none" strike="noStrike" kern="1200" cap="none" spc="0" normalizeH="0" baseline="3000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p:txBody>
      </p:sp>
      <p:sp>
        <p:nvSpPr>
          <p:cNvPr id="3" name="矩形 2">
            <a:extLst>
              <a:ext uri="{FF2B5EF4-FFF2-40B4-BE49-F238E27FC236}">
                <a16:creationId xmlns:a16="http://schemas.microsoft.com/office/drawing/2014/main" id="{089DDF87-3D4A-284B-B2C2-8CB0A8B140D8}"/>
              </a:ext>
            </a:extLst>
          </p:cNvPr>
          <p:cNvSpPr/>
          <p:nvPr/>
        </p:nvSpPr>
        <p:spPr>
          <a:xfrm>
            <a:off x="391994" y="3922769"/>
            <a:ext cx="3478739" cy="2453942"/>
          </a:xfrm>
          <a:prstGeom prst="rect">
            <a:avLst/>
          </a:prstGeom>
        </p:spPr>
        <p:txBody>
          <a:bodyPr wrap="square">
            <a:spAutoFit/>
          </a:bodyPr>
          <a:lstStyle/>
          <a:p>
            <a:pPr marL="285750" marR="0" lvl="0" indent="-285750" algn="just" defTabSz="914400" rtl="0" eaLnBrk="1" fontAlgn="auto" latinLnBrk="0" hangingPunct="1">
              <a:lnSpc>
                <a:spcPct val="130000"/>
              </a:lnSpc>
              <a:spcBef>
                <a:spcPts val="0"/>
              </a:spcBef>
              <a:spcAft>
                <a:spcPts val="0"/>
              </a:spcAft>
              <a:buClr>
                <a:srgbClr val="0000CC"/>
              </a:buClr>
              <a:buSzPct val="60000"/>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美國國家安全局</a:t>
            </a: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(NSA)</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 發布企業加密域名系統協議指南</a:t>
            </a:r>
            <a:endPar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just" defTabSz="914400" rtl="0" eaLnBrk="1" fontAlgn="auto" latinLnBrk="0" hangingPunct="1">
              <a:lnSpc>
                <a:spcPct val="130000"/>
              </a:lnSpc>
              <a:spcBef>
                <a:spcPts val="0"/>
              </a:spcBef>
              <a:spcAft>
                <a:spcPts val="0"/>
              </a:spcAft>
              <a:buClr>
                <a:srgbClr val="0000CC"/>
              </a:buClr>
              <a:buSzPct val="60000"/>
              <a:buFont typeface="Arial" panose="020B0604020202020204" pitchFamily="34" charset="0"/>
              <a:buChar char="•"/>
              <a:tabLst/>
              <a:defRPr/>
            </a:pP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NSA</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指出，加密</a:t>
            </a: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DNS</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請求的支持對于確保本地隱私和完整性保護至關重要</a:t>
            </a:r>
          </a:p>
        </p:txBody>
      </p:sp>
      <p:pic>
        <p:nvPicPr>
          <p:cNvPr id="5" name="图片 4">
            <a:extLst>
              <a:ext uri="{FF2B5EF4-FFF2-40B4-BE49-F238E27FC236}">
                <a16:creationId xmlns:a16="http://schemas.microsoft.com/office/drawing/2014/main" id="{8502F800-D899-4304-B90D-E9EDEFBBCD60}"/>
              </a:ext>
            </a:extLst>
          </p:cNvPr>
          <p:cNvPicPr>
            <a:picLocks noChangeAspect="1"/>
          </p:cNvPicPr>
          <p:nvPr/>
        </p:nvPicPr>
        <p:blipFill>
          <a:blip r:embed="rId3"/>
          <a:stretch>
            <a:fillRect/>
          </a:stretch>
        </p:blipFill>
        <p:spPr>
          <a:xfrm>
            <a:off x="4030107" y="3429000"/>
            <a:ext cx="7754432" cy="3010320"/>
          </a:xfrm>
          <a:prstGeom prst="rect">
            <a:avLst/>
          </a:prstGeom>
        </p:spPr>
      </p:pic>
      <p:pic>
        <p:nvPicPr>
          <p:cNvPr id="2050" name="Picture 2">
            <a:extLst>
              <a:ext uri="{FF2B5EF4-FFF2-40B4-BE49-F238E27FC236}">
                <a16:creationId xmlns:a16="http://schemas.microsoft.com/office/drawing/2014/main" id="{62794930-9A1C-45BC-BC93-C62637D2E9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42256" y="5414398"/>
            <a:ext cx="2165233" cy="121661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22F6637F-F8F4-49FA-8F4B-7851840FC2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7214" y="1149226"/>
            <a:ext cx="3448985" cy="2141882"/>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a:extLst>
              <a:ext uri="{FF2B5EF4-FFF2-40B4-BE49-F238E27FC236}">
                <a16:creationId xmlns:a16="http://schemas.microsoft.com/office/drawing/2014/main" id="{D1AB98DB-AC11-41E5-98DE-BF151A8B8288}"/>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1975157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682921-2E62-F14E-AEC0-07548EBCA810}"/>
              </a:ext>
            </a:extLst>
          </p:cNvPr>
          <p:cNvSpPr>
            <a:spLocks noGrp="1"/>
          </p:cNvSpPr>
          <p:nvPr>
            <p:ph type="title"/>
          </p:nvPr>
        </p:nvSpPr>
        <p:spPr/>
        <p:txBody>
          <a:bodyPr/>
          <a:lstStyle/>
          <a:p>
            <a:r>
              <a:rPr kumimoji="1" lang="zh-CN" altLang="en-US" dirty="0"/>
              <a:t>暢所欲言</a:t>
            </a:r>
          </a:p>
        </p:txBody>
      </p:sp>
      <p:sp>
        <p:nvSpPr>
          <p:cNvPr id="3" name="矩形 2">
            <a:extLst>
              <a:ext uri="{FF2B5EF4-FFF2-40B4-BE49-F238E27FC236}">
                <a16:creationId xmlns:a16="http://schemas.microsoft.com/office/drawing/2014/main" id="{00EC6ABE-0B33-2345-94F9-BBAA77C0BB64}"/>
              </a:ext>
            </a:extLst>
          </p:cNvPr>
          <p:cNvSpPr>
            <a:spLocks/>
          </p:cNvSpPr>
          <p:nvPr/>
        </p:nvSpPr>
        <p:spPr bwMode="auto">
          <a:xfrm>
            <a:off x="928177" y="2336800"/>
            <a:ext cx="10529713" cy="2286000"/>
          </a:xfrm>
          <a:prstGeom prst="rect">
            <a:avLst/>
          </a:prstGeom>
          <a:solidFill>
            <a:schemeClr val="accent3">
              <a:lumMod val="20000"/>
              <a:lumOff val="80000"/>
              <a:alpha val="40000"/>
            </a:schemeClr>
          </a:solidFill>
          <a:ln w="19050">
            <a:solidFill>
              <a:schemeClr val="accent3">
                <a:lumMod val="60000"/>
                <a:lumOff val="40000"/>
              </a:schemeClr>
            </a:solidFill>
          </a:ln>
          <a:effectLst>
            <a:reflection blurRad="6350" stA="50000" endA="300" endPos="55000" dir="5400000" sy="-100000" algn="bl" rotWithShape="0"/>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Arial" panose="020B0604020202020204" pitchFamily="34" charset="0"/>
            </a:endParaRPr>
          </a:p>
        </p:txBody>
      </p:sp>
      <p:sp>
        <p:nvSpPr>
          <p:cNvPr id="5" name="文本框 4">
            <a:extLst>
              <a:ext uri="{FF2B5EF4-FFF2-40B4-BE49-F238E27FC236}">
                <a16:creationId xmlns:a16="http://schemas.microsoft.com/office/drawing/2014/main" id="{284B39EC-445F-7E4A-8D6E-15747251C290}"/>
              </a:ext>
            </a:extLst>
          </p:cNvPr>
          <p:cNvSpPr txBox="1"/>
          <p:nvPr/>
        </p:nvSpPr>
        <p:spPr>
          <a:xfrm>
            <a:off x="978438" y="2760751"/>
            <a:ext cx="10528300" cy="927818"/>
          </a:xfrm>
          <a:prstGeom prst="rect">
            <a:avLst/>
          </a:prstGeom>
          <a:noFill/>
        </p:spPr>
        <p:txBody>
          <a:bodyPr wrap="square">
            <a:spAutoFit/>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kumimoji="0" lang="zh-CN" altLang="en-US" sz="3200" b="1"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rPr>
              <a:t>你覺得  </a:t>
            </a:r>
            <a:r>
              <a:rPr kumimoji="0" lang="zh-CN" altLang="en-US" sz="3200" b="1" i="0" u="none" strike="noStrike" kern="0" cap="none" spc="0" normalizeH="0" baseline="0" noProof="0" dirty="0">
                <a:ln>
                  <a:noFill/>
                </a:ln>
                <a:solidFill>
                  <a:srgbClr val="C00000"/>
                </a:solidFill>
                <a:effectLst/>
                <a:uLnTx/>
                <a:uFillTx/>
                <a:latin typeface="Arial"/>
                <a:ea typeface="微软雅黑" panose="020B0503020204020204" pitchFamily="34" charset="-122"/>
                <a:cs typeface="+mn-cs"/>
                <a:sym typeface="Arial" panose="020B0604020202020204" pitchFamily="34" charset="0"/>
              </a:rPr>
              <a:t>域名系統如果停止服務，互聯網還能正常運行嗎？</a:t>
            </a:r>
            <a:endParaRPr kumimoji="0" lang="en-US" altLang="zh-CN" sz="3200" b="1"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Tree>
    <p:extLst>
      <p:ext uri="{BB962C8B-B14F-4D97-AF65-F5344CB8AC3E}">
        <p14:creationId xmlns:p14="http://schemas.microsoft.com/office/powerpoint/2010/main" val="4200473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13F207A8-03CB-0B42-A6C8-E5AC02D7CC77}"/>
              </a:ext>
            </a:extLst>
          </p:cNvPr>
          <p:cNvSpPr>
            <a:spLocks/>
          </p:cNvSpPr>
          <p:nvPr/>
        </p:nvSpPr>
        <p:spPr bwMode="auto">
          <a:xfrm>
            <a:off x="469260" y="2415601"/>
            <a:ext cx="2287732" cy="1195315"/>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的演進 </a:t>
            </a:r>
            <a:endPar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0" lang="zh-CN" altLang="e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域名結構</a:t>
            </a: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及區域組織形式 </a:t>
            </a:r>
            <a:endPar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2" name="标题 1"/>
          <p:cNvSpPr>
            <a:spLocks noGrp="1"/>
          </p:cNvSpPr>
          <p:nvPr>
            <p:ph type="title"/>
          </p:nvPr>
        </p:nvSpPr>
        <p:spPr/>
        <p:txBody>
          <a:bodyPr/>
          <a:lstStyle/>
          <a:p>
            <a:r>
              <a:rPr kumimoji="1" lang="zh-CN" altLang="en-US" dirty="0"/>
              <a:t>本章的內容組織</a:t>
            </a:r>
          </a:p>
        </p:txBody>
      </p:sp>
      <p:sp>
        <p:nvSpPr>
          <p:cNvPr id="13" name="灯片编号占位符 2">
            <a:extLst>
              <a:ext uri="{FF2B5EF4-FFF2-40B4-BE49-F238E27FC236}">
                <a16:creationId xmlns:a16="http://schemas.microsoft.com/office/drawing/2014/main" id="{A6F8482A-DAE6-5B44-9CF4-35D7DC9969C5}"/>
              </a:ext>
            </a:extLst>
          </p:cNvPr>
          <p:cNvSpPr>
            <a:spLocks noGrp="1"/>
          </p:cNvSpPr>
          <p:nvPr>
            <p:ph type="sldNum" sz="quarter" idx="12"/>
          </p:nvPr>
        </p:nvSpPr>
        <p:spPr>
          <a:xfrm>
            <a:off x="9321914" y="6473403"/>
            <a:ext cx="28448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kumimoji="0" lang="zh-CN" altLang="en-US" sz="1200" b="0" i="0" u="none" strike="noStrike" kern="1200" cap="none" spc="0" normalizeH="0" baseline="0" noProof="0" smtClean="0">
                <a:ln>
                  <a:noFill/>
                </a:ln>
                <a:solidFill>
                  <a:srgbClr val="000000">
                    <a:tint val="75000"/>
                  </a:srgbClr>
                </a:solidFill>
                <a:effectLst/>
                <a:uLnTx/>
                <a:uFillTx/>
                <a:latin typeface="Comic Sans MS"/>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dirty="0">
              <a:ln>
                <a:noFill/>
              </a:ln>
              <a:solidFill>
                <a:srgbClr val="000000">
                  <a:tint val="75000"/>
                </a:srgbClr>
              </a:solidFill>
              <a:effectLst/>
              <a:uLnTx/>
              <a:uFillTx/>
              <a:latin typeface="Comic Sans MS"/>
              <a:ea typeface="微软雅黑 Light"/>
              <a:cs typeface="+mn-cs"/>
            </a:endParaRPr>
          </a:p>
        </p:txBody>
      </p:sp>
      <p:sp>
        <p:nvSpPr>
          <p:cNvPr id="21" name="矩形 20">
            <a:extLst>
              <a:ext uri="{FF2B5EF4-FFF2-40B4-BE49-F238E27FC236}">
                <a16:creationId xmlns:a16="http://schemas.microsoft.com/office/drawing/2014/main" id="{757D01B2-9DEA-3941-AD6F-6551BBD1B460}"/>
              </a:ext>
            </a:extLst>
          </p:cNvPr>
          <p:cNvSpPr>
            <a:spLocks/>
          </p:cNvSpPr>
          <p:nvPr/>
        </p:nvSpPr>
        <p:spPr bwMode="auto">
          <a:xfrm>
            <a:off x="4609915" y="3470826"/>
            <a:ext cx="3090474" cy="1195316"/>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緩存中毒攻擊 </a:t>
            </a:r>
            <a:endPar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惡意</a:t>
            </a: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服務器回復僞造</a:t>
            </a:r>
            <a:endPar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拒絕服務攻擊</a:t>
            </a:r>
          </a:p>
        </p:txBody>
      </p:sp>
      <p:sp>
        <p:nvSpPr>
          <p:cNvPr id="22" name="文本框 21">
            <a:extLst>
              <a:ext uri="{FF2B5EF4-FFF2-40B4-BE49-F238E27FC236}">
                <a16:creationId xmlns:a16="http://schemas.microsoft.com/office/drawing/2014/main" id="{CE1694C8-0F08-6A45-8925-6B92183E05E7}"/>
              </a:ext>
            </a:extLst>
          </p:cNvPr>
          <p:cNvSpPr txBox="1"/>
          <p:nvPr/>
        </p:nvSpPr>
        <p:spPr>
          <a:xfrm>
            <a:off x="628388" y="1669023"/>
            <a:ext cx="196947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第一節</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概述</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文本框 23">
            <a:extLst>
              <a:ext uri="{FF2B5EF4-FFF2-40B4-BE49-F238E27FC236}">
                <a16:creationId xmlns:a16="http://schemas.microsoft.com/office/drawing/2014/main" id="{92FE1A20-9B4B-0946-91D1-2427729B1ADB}"/>
              </a:ext>
            </a:extLst>
          </p:cNvPr>
          <p:cNvSpPr txBox="1"/>
          <p:nvPr/>
        </p:nvSpPr>
        <p:spPr>
          <a:xfrm>
            <a:off x="5101484" y="2723528"/>
            <a:ext cx="212971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第三節</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19">
            <a:extLst>
              <a:ext uri="{FF2B5EF4-FFF2-40B4-BE49-F238E27FC236}">
                <a16:creationId xmlns:a16="http://schemas.microsoft.com/office/drawing/2014/main" id="{98F7BED7-6D62-69CA-481C-1E301DE3A1B8}"/>
              </a:ext>
            </a:extLst>
          </p:cNvPr>
          <p:cNvSpPr>
            <a:spLocks/>
          </p:cNvSpPr>
          <p:nvPr/>
        </p:nvSpPr>
        <p:spPr bwMode="auto">
          <a:xfrm>
            <a:off x="469260" y="5509098"/>
            <a:ext cx="2287732" cy="1193915"/>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使用</a:t>
            </a:r>
            <a:endPar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解析過程</a:t>
            </a:r>
          </a:p>
        </p:txBody>
      </p:sp>
      <p:sp>
        <p:nvSpPr>
          <p:cNvPr id="6" name="文本框 22">
            <a:extLst>
              <a:ext uri="{FF2B5EF4-FFF2-40B4-BE49-F238E27FC236}">
                <a16:creationId xmlns:a16="http://schemas.microsoft.com/office/drawing/2014/main" id="{573B10FE-4F8F-8594-3D03-90585F45FFB3}"/>
              </a:ext>
            </a:extLst>
          </p:cNvPr>
          <p:cNvSpPr txBox="1"/>
          <p:nvPr/>
        </p:nvSpPr>
        <p:spPr>
          <a:xfrm>
            <a:off x="298167" y="4729514"/>
            <a:ext cx="2534856"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第二節</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使用及解析過程</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矩形 20">
            <a:extLst>
              <a:ext uri="{FF2B5EF4-FFF2-40B4-BE49-F238E27FC236}">
                <a16:creationId xmlns:a16="http://schemas.microsoft.com/office/drawing/2014/main" id="{6CD616E2-7B30-BD18-7B01-0FE7D9161F9E}"/>
              </a:ext>
            </a:extLst>
          </p:cNvPr>
          <p:cNvSpPr>
            <a:spLocks/>
          </p:cNvSpPr>
          <p:nvPr/>
        </p:nvSpPr>
        <p:spPr bwMode="auto">
          <a:xfrm>
            <a:off x="9416914" y="3470827"/>
            <a:ext cx="2316647" cy="1195315"/>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基于密碼技術 </a:t>
            </a:r>
            <a:endPar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基于系統管理</a:t>
            </a:r>
            <a:endPar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新型架構設計</a:t>
            </a:r>
          </a:p>
        </p:txBody>
      </p:sp>
      <p:sp>
        <p:nvSpPr>
          <p:cNvPr id="14" name="文本框 23">
            <a:extLst>
              <a:ext uri="{FF2B5EF4-FFF2-40B4-BE49-F238E27FC236}">
                <a16:creationId xmlns:a16="http://schemas.microsoft.com/office/drawing/2014/main" id="{556E412B-A610-6AB1-4299-20CE8AA06E5E}"/>
              </a:ext>
            </a:extLst>
          </p:cNvPr>
          <p:cNvSpPr txBox="1"/>
          <p:nvPr/>
        </p:nvSpPr>
        <p:spPr>
          <a:xfrm>
            <a:off x="9505293" y="2723529"/>
            <a:ext cx="231664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第四節</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攻擊預防策略</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4" name="Rectangle 43">
            <a:extLst>
              <a:ext uri="{FF2B5EF4-FFF2-40B4-BE49-F238E27FC236}">
                <a16:creationId xmlns:a16="http://schemas.microsoft.com/office/drawing/2014/main" id="{D03EF8EB-C72B-3261-E10C-ABA13CB251C3}"/>
              </a:ext>
            </a:extLst>
          </p:cNvPr>
          <p:cNvSpPr/>
          <p:nvPr/>
        </p:nvSpPr>
        <p:spPr>
          <a:xfrm>
            <a:off x="324092" y="881513"/>
            <a:ext cx="2534856" cy="5922289"/>
          </a:xfrm>
          <a:prstGeom prst="rect">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45" name="Rectangle 44">
            <a:extLst>
              <a:ext uri="{FF2B5EF4-FFF2-40B4-BE49-F238E27FC236}">
                <a16:creationId xmlns:a16="http://schemas.microsoft.com/office/drawing/2014/main" id="{AEBDD238-B59F-1488-6AE7-D1F052BA5EC6}"/>
              </a:ext>
            </a:extLst>
          </p:cNvPr>
          <p:cNvSpPr/>
          <p:nvPr/>
        </p:nvSpPr>
        <p:spPr>
          <a:xfrm>
            <a:off x="4493559" y="881513"/>
            <a:ext cx="3296204" cy="5922290"/>
          </a:xfrm>
          <a:prstGeom prst="rect">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微软雅黑 Light"/>
              <a:cs typeface="+mn-cs"/>
            </a:endParaRPr>
          </a:p>
        </p:txBody>
      </p:sp>
      <p:cxnSp>
        <p:nvCxnSpPr>
          <p:cNvPr id="49" name="Straight Arrow Connector 48">
            <a:extLst>
              <a:ext uri="{FF2B5EF4-FFF2-40B4-BE49-F238E27FC236}">
                <a16:creationId xmlns:a16="http://schemas.microsoft.com/office/drawing/2014/main" id="{C064FF88-855F-0593-633A-B21EA03C484E}"/>
              </a:ext>
            </a:extLst>
          </p:cNvPr>
          <p:cNvCxnSpPr>
            <a:cxnSpLocks/>
            <a:stCxn id="44" idx="3"/>
            <a:endCxn id="45" idx="1"/>
          </p:cNvCxnSpPr>
          <p:nvPr/>
        </p:nvCxnSpPr>
        <p:spPr>
          <a:xfrm>
            <a:off x="2858948" y="3842658"/>
            <a:ext cx="16346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7A5DFEE9-FDFD-5903-70FD-20FA01B22D87}"/>
              </a:ext>
            </a:extLst>
          </p:cNvPr>
          <p:cNvCxnSpPr>
            <a:cxnSpLocks/>
            <a:stCxn id="45" idx="3"/>
            <a:endCxn id="61" idx="1"/>
          </p:cNvCxnSpPr>
          <p:nvPr/>
        </p:nvCxnSpPr>
        <p:spPr>
          <a:xfrm>
            <a:off x="7789763" y="3842658"/>
            <a:ext cx="1537777" cy="97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矩形 35">
            <a:extLst>
              <a:ext uri="{FF2B5EF4-FFF2-40B4-BE49-F238E27FC236}">
                <a16:creationId xmlns:a16="http://schemas.microsoft.com/office/drawing/2014/main" id="{A7EEF1BD-AAB7-2E00-8F48-1EDCC87F5920}"/>
              </a:ext>
            </a:extLst>
          </p:cNvPr>
          <p:cNvSpPr>
            <a:spLocks/>
          </p:cNvSpPr>
          <p:nvPr/>
        </p:nvSpPr>
        <p:spPr bwMode="auto">
          <a:xfrm>
            <a:off x="3069245" y="3044503"/>
            <a:ext cx="1214017" cy="594577"/>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熟悉</a:t>
            </a:r>
            <a:r>
              <a:rPr kumimoji="1"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1"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運行原理</a:t>
            </a:r>
          </a:p>
        </p:txBody>
      </p:sp>
      <p:sp>
        <p:nvSpPr>
          <p:cNvPr id="54" name="矩形 35">
            <a:extLst>
              <a:ext uri="{FF2B5EF4-FFF2-40B4-BE49-F238E27FC236}">
                <a16:creationId xmlns:a16="http://schemas.microsoft.com/office/drawing/2014/main" id="{8F6751B3-A642-E4D1-1381-1145C94ECF42}"/>
              </a:ext>
            </a:extLst>
          </p:cNvPr>
          <p:cNvSpPr>
            <a:spLocks/>
          </p:cNvSpPr>
          <p:nvPr/>
        </p:nvSpPr>
        <p:spPr bwMode="auto">
          <a:xfrm>
            <a:off x="3069245" y="4046237"/>
            <a:ext cx="1214017" cy="594577"/>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思考</a:t>
            </a:r>
            <a:r>
              <a:rPr kumimoji="1"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1"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安全問題</a:t>
            </a:r>
          </a:p>
        </p:txBody>
      </p:sp>
      <p:sp>
        <p:nvSpPr>
          <p:cNvPr id="55" name="矩形 35">
            <a:extLst>
              <a:ext uri="{FF2B5EF4-FFF2-40B4-BE49-F238E27FC236}">
                <a16:creationId xmlns:a16="http://schemas.microsoft.com/office/drawing/2014/main" id="{582CE081-191C-78AD-C942-924BB8560060}"/>
              </a:ext>
            </a:extLst>
          </p:cNvPr>
          <p:cNvSpPr>
            <a:spLocks/>
          </p:cNvSpPr>
          <p:nvPr/>
        </p:nvSpPr>
        <p:spPr bwMode="auto">
          <a:xfrm>
            <a:off x="7952748" y="3044718"/>
            <a:ext cx="1214017" cy="594577"/>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掌握</a:t>
            </a:r>
            <a:r>
              <a:rPr kumimoji="1"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1"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攻擊技術</a:t>
            </a:r>
          </a:p>
        </p:txBody>
      </p:sp>
      <p:sp>
        <p:nvSpPr>
          <p:cNvPr id="59" name="矩形 35">
            <a:extLst>
              <a:ext uri="{FF2B5EF4-FFF2-40B4-BE49-F238E27FC236}">
                <a16:creationId xmlns:a16="http://schemas.microsoft.com/office/drawing/2014/main" id="{D847AEA5-B342-FA0F-B51F-83906D18C30F}"/>
              </a:ext>
            </a:extLst>
          </p:cNvPr>
          <p:cNvSpPr>
            <a:spLocks/>
          </p:cNvSpPr>
          <p:nvPr/>
        </p:nvSpPr>
        <p:spPr bwMode="auto">
          <a:xfrm>
            <a:off x="7952748" y="4046237"/>
            <a:ext cx="1214017" cy="594577"/>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瞭解</a:t>
            </a:r>
            <a:r>
              <a:rPr kumimoji="1"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1"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防禦策略</a:t>
            </a:r>
          </a:p>
        </p:txBody>
      </p:sp>
      <p:sp>
        <p:nvSpPr>
          <p:cNvPr id="61" name="Rectangle 60">
            <a:extLst>
              <a:ext uri="{FF2B5EF4-FFF2-40B4-BE49-F238E27FC236}">
                <a16:creationId xmlns:a16="http://schemas.microsoft.com/office/drawing/2014/main" id="{80199886-8F1B-5DBD-30CD-F335E434EDD4}"/>
              </a:ext>
            </a:extLst>
          </p:cNvPr>
          <p:cNvSpPr/>
          <p:nvPr/>
        </p:nvSpPr>
        <p:spPr>
          <a:xfrm>
            <a:off x="9327540" y="881513"/>
            <a:ext cx="2533728" cy="5941761"/>
          </a:xfrm>
          <a:prstGeom prst="rect">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微软雅黑 Light"/>
              <a:cs typeface="+mn-cs"/>
            </a:endParaRPr>
          </a:p>
        </p:txBody>
      </p:sp>
      <p:cxnSp>
        <p:nvCxnSpPr>
          <p:cNvPr id="50177" name="Straight Arrow Connector 50176">
            <a:extLst>
              <a:ext uri="{FF2B5EF4-FFF2-40B4-BE49-F238E27FC236}">
                <a16:creationId xmlns:a16="http://schemas.microsoft.com/office/drawing/2014/main" id="{62EC3D1E-0E9E-1106-6687-EEA198B2DC22}"/>
              </a:ext>
            </a:extLst>
          </p:cNvPr>
          <p:cNvCxnSpPr>
            <a:cxnSpLocks/>
          </p:cNvCxnSpPr>
          <p:nvPr/>
        </p:nvCxnSpPr>
        <p:spPr>
          <a:xfrm>
            <a:off x="3020896" y="5530000"/>
            <a:ext cx="1310714" cy="0"/>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0178" name="Straight Arrow Connector 50177">
            <a:extLst>
              <a:ext uri="{FF2B5EF4-FFF2-40B4-BE49-F238E27FC236}">
                <a16:creationId xmlns:a16="http://schemas.microsoft.com/office/drawing/2014/main" id="{97196230-65F8-B8F4-ACF0-1E6371D119DD}"/>
              </a:ext>
            </a:extLst>
          </p:cNvPr>
          <p:cNvCxnSpPr>
            <a:cxnSpLocks/>
          </p:cNvCxnSpPr>
          <p:nvPr/>
        </p:nvCxnSpPr>
        <p:spPr>
          <a:xfrm>
            <a:off x="7903294" y="5527301"/>
            <a:ext cx="1310714" cy="0"/>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0179" name="文本框 57">
            <a:extLst>
              <a:ext uri="{FF2B5EF4-FFF2-40B4-BE49-F238E27FC236}">
                <a16:creationId xmlns:a16="http://schemas.microsoft.com/office/drawing/2014/main" id="{8A19A2C2-A880-6E2F-393B-BE6BE08E030C}"/>
              </a:ext>
            </a:extLst>
          </p:cNvPr>
          <p:cNvSpPr txBox="1"/>
          <p:nvPr/>
        </p:nvSpPr>
        <p:spPr>
          <a:xfrm>
            <a:off x="2820626" y="5697381"/>
            <a:ext cx="176179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在設計之初</a:t>
            </a: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缺乏安全考慮</a:t>
            </a:r>
          </a:p>
        </p:txBody>
      </p:sp>
      <p:sp>
        <p:nvSpPr>
          <p:cNvPr id="50180" name="文本框 57">
            <a:extLst>
              <a:ext uri="{FF2B5EF4-FFF2-40B4-BE49-F238E27FC236}">
                <a16:creationId xmlns:a16="http://schemas.microsoft.com/office/drawing/2014/main" id="{8DBBC17D-5805-517C-317E-77F48FD164EC}"/>
              </a:ext>
            </a:extLst>
          </p:cNvPr>
          <p:cNvSpPr txBox="1"/>
          <p:nvPr/>
        </p:nvSpPr>
        <p:spPr>
          <a:xfrm>
            <a:off x="7738360" y="5699225"/>
            <a:ext cx="1640581"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多種攻擊技術</a:t>
            </a:r>
            <a:endParaRPr kumimoji="0" lang="en-US" altLang="zh-CN"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需要特定的防禦策略進行防護</a:t>
            </a:r>
          </a:p>
        </p:txBody>
      </p:sp>
      <p:pic>
        <p:nvPicPr>
          <p:cNvPr id="50183" name="Picture 50182" descr="Icon&#10;&#10;Description automatically generated">
            <a:extLst>
              <a:ext uri="{FF2B5EF4-FFF2-40B4-BE49-F238E27FC236}">
                <a16:creationId xmlns:a16="http://schemas.microsoft.com/office/drawing/2014/main" id="{8C9269CE-A86F-684E-FE44-D119DF15A158}"/>
              </a:ext>
            </a:extLst>
          </p:cNvPr>
          <p:cNvPicPr>
            <a:picLocks noChangeAspect="1"/>
          </p:cNvPicPr>
          <p:nvPr/>
        </p:nvPicPr>
        <p:blipFill>
          <a:blip r:embed="rId3"/>
          <a:stretch>
            <a:fillRect/>
          </a:stretch>
        </p:blipFill>
        <p:spPr>
          <a:xfrm>
            <a:off x="1190936" y="3980196"/>
            <a:ext cx="749318" cy="749318"/>
          </a:xfrm>
          <a:prstGeom prst="rect">
            <a:avLst/>
          </a:prstGeom>
        </p:spPr>
      </p:pic>
      <p:pic>
        <p:nvPicPr>
          <p:cNvPr id="50194" name="Picture 50193" descr="Graphical user interface, text&#10;&#10;Description automatically generated">
            <a:extLst>
              <a:ext uri="{FF2B5EF4-FFF2-40B4-BE49-F238E27FC236}">
                <a16:creationId xmlns:a16="http://schemas.microsoft.com/office/drawing/2014/main" id="{1AA87FD7-BC71-89CF-539A-AA4F5ED777A2}"/>
              </a:ext>
            </a:extLst>
          </p:cNvPr>
          <p:cNvPicPr>
            <a:picLocks noChangeAspect="1"/>
          </p:cNvPicPr>
          <p:nvPr/>
        </p:nvPicPr>
        <p:blipFill>
          <a:blip r:embed="rId4"/>
          <a:stretch>
            <a:fillRect/>
          </a:stretch>
        </p:blipFill>
        <p:spPr>
          <a:xfrm>
            <a:off x="1256091" y="955514"/>
            <a:ext cx="752201" cy="752201"/>
          </a:xfrm>
          <a:prstGeom prst="rect">
            <a:avLst/>
          </a:prstGeom>
        </p:spPr>
      </p:pic>
      <p:pic>
        <p:nvPicPr>
          <p:cNvPr id="50196" name="Picture 50195" descr="Icon&#10;&#10;Description automatically generated">
            <a:extLst>
              <a:ext uri="{FF2B5EF4-FFF2-40B4-BE49-F238E27FC236}">
                <a16:creationId xmlns:a16="http://schemas.microsoft.com/office/drawing/2014/main" id="{E27CE39B-0ACF-58D2-2134-B08F5AD169A5}"/>
              </a:ext>
            </a:extLst>
          </p:cNvPr>
          <p:cNvPicPr>
            <a:picLocks noChangeAspect="1"/>
          </p:cNvPicPr>
          <p:nvPr/>
        </p:nvPicPr>
        <p:blipFill>
          <a:blip r:embed="rId5"/>
          <a:stretch>
            <a:fillRect/>
          </a:stretch>
        </p:blipFill>
        <p:spPr>
          <a:xfrm>
            <a:off x="5765402" y="1975666"/>
            <a:ext cx="779500" cy="779500"/>
          </a:xfrm>
          <a:prstGeom prst="rect">
            <a:avLst/>
          </a:prstGeom>
        </p:spPr>
      </p:pic>
      <p:pic>
        <p:nvPicPr>
          <p:cNvPr id="3" name="Picture 50197" descr="Icon&#10;&#10;Description automatically generated">
            <a:extLst>
              <a:ext uri="{FF2B5EF4-FFF2-40B4-BE49-F238E27FC236}">
                <a16:creationId xmlns:a16="http://schemas.microsoft.com/office/drawing/2014/main" id="{D4B5A651-CC67-6323-65A3-BC2C78E6663F}"/>
              </a:ext>
            </a:extLst>
          </p:cNvPr>
          <p:cNvPicPr>
            <a:picLocks noChangeAspect="1"/>
          </p:cNvPicPr>
          <p:nvPr/>
        </p:nvPicPr>
        <p:blipFill>
          <a:blip r:embed="rId6"/>
          <a:stretch>
            <a:fillRect/>
          </a:stretch>
        </p:blipFill>
        <p:spPr>
          <a:xfrm>
            <a:off x="10182265" y="1964111"/>
            <a:ext cx="732047" cy="732047"/>
          </a:xfrm>
          <a:prstGeom prst="rect">
            <a:avLst/>
          </a:prstGeom>
        </p:spPr>
      </p:pic>
    </p:spTree>
    <p:extLst>
      <p:ext uri="{BB962C8B-B14F-4D97-AF65-F5344CB8AC3E}">
        <p14:creationId xmlns:p14="http://schemas.microsoft.com/office/powerpoint/2010/main" val="1703730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1EE29A1-C89A-8644-9C6C-B4B5595B99BE}"/>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 name="矩形 2">
            <a:extLst>
              <a:ext uri="{FF2B5EF4-FFF2-40B4-BE49-F238E27FC236}">
                <a16:creationId xmlns:a16="http://schemas.microsoft.com/office/drawing/2014/main" id="{95390BD7-9E9C-0D4E-A92D-6F6196C9DABC}"/>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4" name="椭圆 3">
            <a:extLst>
              <a:ext uri="{FF2B5EF4-FFF2-40B4-BE49-F238E27FC236}">
                <a16:creationId xmlns:a16="http://schemas.microsoft.com/office/drawing/2014/main" id="{BF9CDFA6-B029-6B4C-B9E4-7CF16FFE8CAE}"/>
              </a:ext>
            </a:extLst>
          </p:cNvPr>
          <p:cNvSpPr/>
          <p:nvPr/>
        </p:nvSpPr>
        <p:spPr>
          <a:xfrm>
            <a:off x="2038665" y="124711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pic>
        <p:nvPicPr>
          <p:cNvPr id="23" name="图片 22">
            <a:extLst>
              <a:ext uri="{FF2B5EF4-FFF2-40B4-BE49-F238E27FC236}">
                <a16:creationId xmlns:a16="http://schemas.microsoft.com/office/drawing/2014/main" id="{0FE6FCD0-FA89-B441-A733-B32B5C383245}"/>
              </a:ext>
            </a:extLst>
          </p:cNvPr>
          <p:cNvPicPr>
            <a:picLocks noChangeAspect="1"/>
          </p:cNvPicPr>
          <p:nvPr/>
        </p:nvPicPr>
        <p:blipFill>
          <a:blip r:embed="rId3"/>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24" name="矩形 23">
            <a:extLst>
              <a:ext uri="{FF2B5EF4-FFF2-40B4-BE49-F238E27FC236}">
                <a16:creationId xmlns:a16="http://schemas.microsoft.com/office/drawing/2014/main" id="{3FCEB227-503D-45F9-949B-6355E355F25A}"/>
              </a:ext>
            </a:extLst>
          </p:cNvPr>
          <p:cNvSpPr/>
          <p:nvPr/>
        </p:nvSpPr>
        <p:spPr>
          <a:xfrm>
            <a:off x="4711535" y="2044858"/>
            <a:ext cx="4051109" cy="70788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第一節 </a:t>
            </a:r>
            <a:r>
              <a:rPr kumimoji="0" lang="en-US" altLang="zh-CN" sz="4000" b="1" i="0" u="none" strike="noStrike" kern="1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DNS</a:t>
            </a:r>
            <a:r>
              <a:rPr kumimoji="0" lang="zh-CN" altLang="en-US" sz="4000" b="1" i="0" u="none" strike="noStrike" kern="1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概述</a:t>
            </a:r>
          </a:p>
        </p:txBody>
      </p:sp>
      <p:grpSp>
        <p:nvGrpSpPr>
          <p:cNvPr id="25" name="Group 5">
            <a:extLst>
              <a:ext uri="{FF2B5EF4-FFF2-40B4-BE49-F238E27FC236}">
                <a16:creationId xmlns:a16="http://schemas.microsoft.com/office/drawing/2014/main" id="{2061F4E3-8411-4DD6-98FA-598F64B75C0D}"/>
              </a:ext>
            </a:extLst>
          </p:cNvPr>
          <p:cNvGrpSpPr/>
          <p:nvPr/>
        </p:nvGrpSpPr>
        <p:grpSpPr>
          <a:xfrm>
            <a:off x="5457021" y="3901094"/>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6" name="Oval 6">
              <a:extLst>
                <a:ext uri="{FF2B5EF4-FFF2-40B4-BE49-F238E27FC236}">
                  <a16:creationId xmlns:a16="http://schemas.microsoft.com/office/drawing/2014/main" id="{45121B5E-B2A8-4348-8B87-F8D0075DA3C8}"/>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27" name="Freeform 7">
              <a:extLst>
                <a:ext uri="{FF2B5EF4-FFF2-40B4-BE49-F238E27FC236}">
                  <a16:creationId xmlns:a16="http://schemas.microsoft.com/office/drawing/2014/main" id="{378C56C4-37E4-4DBF-9D5B-79A0372C7ED1}"/>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grpSp>
      <p:sp>
        <p:nvSpPr>
          <p:cNvPr id="32" name="TextBox 9">
            <a:extLst>
              <a:ext uri="{FF2B5EF4-FFF2-40B4-BE49-F238E27FC236}">
                <a16:creationId xmlns:a16="http://schemas.microsoft.com/office/drawing/2014/main" id="{70B519C5-071A-4A7E-9A20-34EF72F69798}"/>
              </a:ext>
            </a:extLst>
          </p:cNvPr>
          <p:cNvSpPr txBox="1">
            <a:spLocks noChangeArrowheads="1"/>
          </p:cNvSpPr>
          <p:nvPr/>
        </p:nvSpPr>
        <p:spPr bwMode="auto">
          <a:xfrm>
            <a:off x="5915416" y="3874248"/>
            <a:ext cx="1770036" cy="461665"/>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的演進</a:t>
            </a:r>
          </a:p>
        </p:txBody>
      </p:sp>
      <p:grpSp>
        <p:nvGrpSpPr>
          <p:cNvPr id="33" name="Group 11">
            <a:extLst>
              <a:ext uri="{FF2B5EF4-FFF2-40B4-BE49-F238E27FC236}">
                <a16:creationId xmlns:a16="http://schemas.microsoft.com/office/drawing/2014/main" id="{76128366-ADAD-4ABD-8C08-E2F818F85775}"/>
              </a:ext>
            </a:extLst>
          </p:cNvPr>
          <p:cNvGrpSpPr/>
          <p:nvPr/>
        </p:nvGrpSpPr>
        <p:grpSpPr>
          <a:xfrm>
            <a:off x="5457021" y="4781642"/>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34" name="Oval 12">
              <a:extLst>
                <a:ext uri="{FF2B5EF4-FFF2-40B4-BE49-F238E27FC236}">
                  <a16:creationId xmlns:a16="http://schemas.microsoft.com/office/drawing/2014/main" id="{3AE2120F-843C-48CF-BF61-4AC8EDE2F3D3}"/>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35" name="Freeform 13">
              <a:extLst>
                <a:ext uri="{FF2B5EF4-FFF2-40B4-BE49-F238E27FC236}">
                  <a16:creationId xmlns:a16="http://schemas.microsoft.com/office/drawing/2014/main" id="{8DBAB252-4CDD-4BDB-84B3-1372FC51708E}"/>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grpSp>
      <p:sp>
        <p:nvSpPr>
          <p:cNvPr id="36" name="TextBox 15">
            <a:extLst>
              <a:ext uri="{FF2B5EF4-FFF2-40B4-BE49-F238E27FC236}">
                <a16:creationId xmlns:a16="http://schemas.microsoft.com/office/drawing/2014/main" id="{45C9F178-9E3C-4711-A744-F05A95301F72}"/>
              </a:ext>
            </a:extLst>
          </p:cNvPr>
          <p:cNvSpPr txBox="1">
            <a:spLocks noChangeArrowheads="1"/>
          </p:cNvSpPr>
          <p:nvPr/>
        </p:nvSpPr>
        <p:spPr bwMode="auto">
          <a:xfrm>
            <a:off x="5915416" y="4757996"/>
            <a:ext cx="4232249" cy="461665"/>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域名結構與區域組織形式</a:t>
            </a:r>
          </a:p>
        </p:txBody>
      </p:sp>
      <p:sp>
        <p:nvSpPr>
          <p:cNvPr id="2" name="灯片编号占位符 1">
            <a:extLst>
              <a:ext uri="{FF2B5EF4-FFF2-40B4-BE49-F238E27FC236}">
                <a16:creationId xmlns:a16="http://schemas.microsoft.com/office/drawing/2014/main" id="{0889B6A8-5E1D-46D0-AF64-614C16C4D39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2225646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EC0CE659-6BAF-4F62-8123-C68872838228}"/>
              </a:ext>
            </a:extLst>
          </p:cNvPr>
          <p:cNvSpPr>
            <a:spLocks/>
          </p:cNvSpPr>
          <p:nvPr/>
        </p:nvSpPr>
        <p:spPr bwMode="auto">
          <a:xfrm>
            <a:off x="997527" y="3729103"/>
            <a:ext cx="10436436" cy="2297900"/>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20" name="矩形 19">
            <a:extLst>
              <a:ext uri="{FF2B5EF4-FFF2-40B4-BE49-F238E27FC236}">
                <a16:creationId xmlns:a16="http://schemas.microsoft.com/office/drawing/2014/main" id="{617EAA2F-8940-4567-A6F5-96213724AE04}"/>
              </a:ext>
            </a:extLst>
          </p:cNvPr>
          <p:cNvSpPr>
            <a:spLocks/>
          </p:cNvSpPr>
          <p:nvPr/>
        </p:nvSpPr>
        <p:spPr bwMode="auto">
          <a:xfrm>
            <a:off x="7851970" y="2117559"/>
            <a:ext cx="3581993" cy="1126118"/>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15" name="矩形 14">
            <a:extLst>
              <a:ext uri="{FF2B5EF4-FFF2-40B4-BE49-F238E27FC236}">
                <a16:creationId xmlns:a16="http://schemas.microsoft.com/office/drawing/2014/main" id="{6F708F57-3FB9-42A6-A0DC-642333B22BAC}"/>
              </a:ext>
            </a:extLst>
          </p:cNvPr>
          <p:cNvSpPr>
            <a:spLocks/>
          </p:cNvSpPr>
          <p:nvPr/>
        </p:nvSpPr>
        <p:spPr bwMode="auto">
          <a:xfrm>
            <a:off x="997527" y="1082104"/>
            <a:ext cx="4390064" cy="1671488"/>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en-US" altLang="zh-CN" dirty="0">
                <a:solidFill>
                  <a:srgbClr val="C00000"/>
                </a:solidFill>
              </a:rPr>
              <a:t>DNS</a:t>
            </a:r>
            <a:r>
              <a:rPr kumimoji="1" lang="zh-CN" altLang="en-US" dirty="0">
                <a:solidFill>
                  <a:srgbClr val="C00000"/>
                </a:solidFill>
              </a:rPr>
              <a:t>的演進</a:t>
            </a:r>
          </a:p>
        </p:txBody>
      </p:sp>
      <p:sp>
        <p:nvSpPr>
          <p:cNvPr id="2" name="矩形 1">
            <a:extLst>
              <a:ext uri="{FF2B5EF4-FFF2-40B4-BE49-F238E27FC236}">
                <a16:creationId xmlns:a16="http://schemas.microsoft.com/office/drawing/2014/main" id="{1D37DB15-DF76-45B4-BCD0-A2011BD89F3B}"/>
              </a:ext>
            </a:extLst>
          </p:cNvPr>
          <p:cNvSpPr/>
          <p:nvPr/>
        </p:nvSpPr>
        <p:spPr>
          <a:xfrm>
            <a:off x="7531069" y="2096931"/>
            <a:ext cx="4048290" cy="1596719"/>
          </a:xfrm>
          <a:prstGeom prst="rect">
            <a:avLst/>
          </a:prstGeom>
        </p:spPr>
        <p:txBody>
          <a:bodyPr wrap="square">
            <a:spAutoFit/>
          </a:bodyPr>
          <a:lstStyle/>
          <a:p>
            <a:pPr marL="30480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域名系統（</a:t>
            </a:r>
            <a:r>
              <a:rPr kumimoji="0" lang="en-US" altLang="zh-CN" sz="22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DNS</a:t>
            </a:r>
            <a:r>
              <a:rPr kumimoji="0" lang="zh-CN" altLang="en-US" sz="22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a:t>
            </a:r>
            <a:r>
              <a:rPr kumimoji="0" lang="zh-CN" altLang="en-US" sz="22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功能</a:t>
            </a:r>
            <a:r>
              <a:rPr kumimoji="0" lang="zh-CN" altLang="en-US" sz="24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a:t>
            </a:r>
            <a:endParaRPr kumimoji="0" lang="en-US" altLang="zh-CN" sz="24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a:p>
            <a:pPr marL="30480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實現域名與</a:t>
            </a:r>
            <a:r>
              <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IP</a:t>
            </a:r>
            <a:r>
              <a:rPr kumimoji="0" lang="zh-CN" altLang="en-US"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間轉換</a:t>
            </a:r>
            <a:endPar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a:p>
            <a:pPr marL="304800" marR="0" lvl="0" indent="0" algn="just" defTabSz="914400" rtl="0" eaLnBrk="1" fontAlgn="auto" latinLnBrk="0" hangingPunct="1">
              <a:lnSpc>
                <a:spcPct val="150000"/>
              </a:lnSpc>
              <a:spcBef>
                <a:spcPts val="0"/>
              </a:spcBef>
              <a:spcAft>
                <a:spcPts val="0"/>
              </a:spcAft>
              <a:buClrTx/>
              <a:buSzTx/>
              <a:buFontTx/>
              <a:buNone/>
              <a:tabLst/>
              <a:defRPr/>
            </a:pPr>
            <a:endParaRPr kumimoji="0" lang="en-US" altLang="zh-CN" sz="24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6" name="矩形 51">
            <a:extLst>
              <a:ext uri="{FF2B5EF4-FFF2-40B4-BE49-F238E27FC236}">
                <a16:creationId xmlns:a16="http://schemas.microsoft.com/office/drawing/2014/main" id="{65371626-FFF8-4588-99BB-5C7CBA19CD82}"/>
              </a:ext>
            </a:extLst>
          </p:cNvPr>
          <p:cNvSpPr>
            <a:spLocks noChangeArrowheads="1"/>
          </p:cNvSpPr>
          <p:nvPr/>
        </p:nvSpPr>
        <p:spPr bwMode="auto">
          <a:xfrm>
            <a:off x="0" y="6143749"/>
            <a:ext cx="12192000" cy="784830"/>
          </a:xfrm>
          <a:prstGeom prst="rect">
            <a:avLst/>
          </a:prstGeom>
          <a:solidFill>
            <a:srgbClr val="00B0F0"/>
          </a:solidFill>
          <a:ln>
            <a:noFill/>
          </a:ln>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US" altLang="zh-CN" sz="9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HelveticaNeueLT Pro 67 MdCn" pitchFamily="2" charset="-122"/>
            </a:endParaRPr>
          </a:p>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zh-CN" altLang="en-US" sz="2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沒有</a:t>
            </a:r>
            <a:r>
              <a:rPr kumimoji="0" lang="en-US" altLang="zh-CN" sz="2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DNS</a:t>
            </a:r>
            <a:r>
              <a:rPr kumimoji="0" lang="zh-CN" altLang="en-US" sz="2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，用戶很難正常使用互聯網</a:t>
            </a:r>
            <a:endParaRPr kumimoji="0" lang="en-US" altLang="zh-CN" sz="2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HelveticaNeueLT Pro 67 MdCn" pitchFamily="2" charset="-122"/>
            </a:endParaRPr>
          </a:p>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zh-CN" altLang="en-US" sz="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HelveticaNeueLT Pro 67 MdCn" pitchFamily="2" charset="-122"/>
            </a:endParaRPr>
          </a:p>
        </p:txBody>
      </p:sp>
      <p:sp>
        <p:nvSpPr>
          <p:cNvPr id="7" name="椭圆 6">
            <a:extLst>
              <a:ext uri="{FF2B5EF4-FFF2-40B4-BE49-F238E27FC236}">
                <a16:creationId xmlns:a16="http://schemas.microsoft.com/office/drawing/2014/main" id="{8B5F0532-E8A1-440A-ACFE-B6CF018C165D}"/>
              </a:ext>
            </a:extLst>
          </p:cNvPr>
          <p:cNvSpPr/>
          <p:nvPr/>
        </p:nvSpPr>
        <p:spPr>
          <a:xfrm>
            <a:off x="5686878" y="1490124"/>
            <a:ext cx="1999345" cy="1884242"/>
          </a:xfrm>
          <a:prstGeom prst="ellipse">
            <a:avLst/>
          </a:prstGeom>
          <a:solidFill>
            <a:srgbClr val="4675BA"/>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cxnSp>
        <p:nvCxnSpPr>
          <p:cNvPr id="10" name="直接连接符 9">
            <a:extLst>
              <a:ext uri="{FF2B5EF4-FFF2-40B4-BE49-F238E27FC236}">
                <a16:creationId xmlns:a16="http://schemas.microsoft.com/office/drawing/2014/main" id="{8ADA10F2-8FE8-487B-8F78-D308771E1723}"/>
              </a:ext>
            </a:extLst>
          </p:cNvPr>
          <p:cNvCxnSpPr>
            <a:cxnSpLocks/>
          </p:cNvCxnSpPr>
          <p:nvPr/>
        </p:nvCxnSpPr>
        <p:spPr>
          <a:xfrm flipH="1">
            <a:off x="8336795" y="1735016"/>
            <a:ext cx="197966" cy="14228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19CD9ADE-BBAB-430B-8A7F-1422BDB332C9}"/>
              </a:ext>
            </a:extLst>
          </p:cNvPr>
          <p:cNvCxnSpPr>
            <a:cxnSpLocks/>
          </p:cNvCxnSpPr>
          <p:nvPr/>
        </p:nvCxnSpPr>
        <p:spPr>
          <a:xfrm flipH="1">
            <a:off x="5639610" y="3139563"/>
            <a:ext cx="69755" cy="5013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474444E2-D22E-4253-B559-AF508AEE8E42}"/>
              </a:ext>
            </a:extLst>
          </p:cNvPr>
          <p:cNvSpPr/>
          <p:nvPr/>
        </p:nvSpPr>
        <p:spPr>
          <a:xfrm>
            <a:off x="794510" y="1082900"/>
            <a:ext cx="4513750" cy="1515287"/>
          </a:xfrm>
          <a:prstGeom prst="rect">
            <a:avLst/>
          </a:prstGeom>
        </p:spPr>
        <p:txBody>
          <a:bodyPr wrap="square">
            <a:spAutoFit/>
          </a:bodyPr>
          <a:lstStyle/>
          <a:p>
            <a:pPr marL="30480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網絡空間兩套命名體系</a:t>
            </a:r>
            <a:r>
              <a:rPr kumimoji="0" lang="zh-CN" altLang="en-US" sz="24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a:t>
            </a:r>
            <a:endParaRPr kumimoji="0" lang="en-US" altLang="zh-CN" sz="24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a:p>
            <a:pPr marL="30480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用于路由尋址的</a:t>
            </a:r>
            <a:r>
              <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IP</a:t>
            </a:r>
            <a:r>
              <a:rPr kumimoji="0" lang="zh-CN" altLang="en-US"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地址和便于人類記憶的域名（</a:t>
            </a:r>
            <a:r>
              <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Domain Name</a:t>
            </a:r>
            <a:r>
              <a:rPr kumimoji="0" lang="zh-CN" altLang="en-US"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a:t>
            </a:r>
            <a:endPar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122" name="Picture 2">
            <a:extLst>
              <a:ext uri="{FF2B5EF4-FFF2-40B4-BE49-F238E27FC236}">
                <a16:creationId xmlns:a16="http://schemas.microsoft.com/office/drawing/2014/main" id="{CC09C71F-0832-40DB-A7E3-FC5B1D14A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2625" y="1572762"/>
            <a:ext cx="1714727" cy="1670915"/>
          </a:xfrm>
          <a:prstGeom prst="ellipse">
            <a:avLst/>
          </a:prstGeom>
          <a:solidFill>
            <a:schemeClr val="bg1">
              <a:alpha val="20000"/>
            </a:schemeClr>
          </a:solidFill>
          <a:ln>
            <a:noFill/>
          </a:ln>
        </p:spPr>
      </p:pic>
      <p:sp>
        <p:nvSpPr>
          <p:cNvPr id="9" name="椭圆 8">
            <a:extLst>
              <a:ext uri="{FF2B5EF4-FFF2-40B4-BE49-F238E27FC236}">
                <a16:creationId xmlns:a16="http://schemas.microsoft.com/office/drawing/2014/main" id="{9C458F98-45EB-4955-BBA1-6FD92C0DA363}"/>
              </a:ext>
            </a:extLst>
          </p:cNvPr>
          <p:cNvSpPr/>
          <p:nvPr/>
        </p:nvSpPr>
        <p:spPr>
          <a:xfrm>
            <a:off x="5434466" y="1490124"/>
            <a:ext cx="776378" cy="731682"/>
          </a:xfrm>
          <a:prstGeom prst="ellipse">
            <a:avLst/>
          </a:prstGeom>
          <a:solidFill>
            <a:srgbClr val="E52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命名體系</a:t>
            </a:r>
          </a:p>
        </p:txBody>
      </p:sp>
      <p:sp>
        <p:nvSpPr>
          <p:cNvPr id="23" name="椭圆 22">
            <a:extLst>
              <a:ext uri="{FF2B5EF4-FFF2-40B4-BE49-F238E27FC236}">
                <a16:creationId xmlns:a16="http://schemas.microsoft.com/office/drawing/2014/main" id="{9DDC95F9-7F24-4F41-A0ED-917823879ED3}"/>
              </a:ext>
            </a:extLst>
          </p:cNvPr>
          <p:cNvSpPr/>
          <p:nvPr/>
        </p:nvSpPr>
        <p:spPr>
          <a:xfrm>
            <a:off x="7042171" y="2587350"/>
            <a:ext cx="690928" cy="737632"/>
          </a:xfrm>
          <a:prstGeom prst="ellipse">
            <a:avLst/>
          </a:prstGeom>
          <a:solidFill>
            <a:srgbClr val="E52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域名系統</a:t>
            </a:r>
          </a:p>
        </p:txBody>
      </p:sp>
      <p:pic>
        <p:nvPicPr>
          <p:cNvPr id="8" name="图片 7">
            <a:extLst>
              <a:ext uri="{FF2B5EF4-FFF2-40B4-BE49-F238E27FC236}">
                <a16:creationId xmlns:a16="http://schemas.microsoft.com/office/drawing/2014/main" id="{D651B611-6A41-47CB-A967-4E467968CA5E}"/>
              </a:ext>
            </a:extLst>
          </p:cNvPr>
          <p:cNvPicPr>
            <a:picLocks noChangeAspect="1"/>
          </p:cNvPicPr>
          <p:nvPr/>
        </p:nvPicPr>
        <p:blipFill>
          <a:blip r:embed="rId4"/>
          <a:stretch>
            <a:fillRect/>
          </a:stretch>
        </p:blipFill>
        <p:spPr>
          <a:xfrm>
            <a:off x="1131376" y="3884507"/>
            <a:ext cx="10302587" cy="2144035"/>
          </a:xfrm>
          <a:prstGeom prst="rect">
            <a:avLst/>
          </a:prstGeom>
        </p:spPr>
      </p:pic>
      <p:sp>
        <p:nvSpPr>
          <p:cNvPr id="14" name="爆炸形: 8 pt  13">
            <a:extLst>
              <a:ext uri="{FF2B5EF4-FFF2-40B4-BE49-F238E27FC236}">
                <a16:creationId xmlns:a16="http://schemas.microsoft.com/office/drawing/2014/main" id="{DC3E41E4-E241-4BF9-87BF-9701C1F2B051}"/>
              </a:ext>
            </a:extLst>
          </p:cNvPr>
          <p:cNvSpPr/>
          <p:nvPr/>
        </p:nvSpPr>
        <p:spPr>
          <a:xfrm>
            <a:off x="3051385" y="4257368"/>
            <a:ext cx="1347395" cy="830997"/>
          </a:xfrm>
          <a:prstGeom prst="irregularSeal1">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2" name="爆炸形: 8 pt  21">
            <a:extLst>
              <a:ext uri="{FF2B5EF4-FFF2-40B4-BE49-F238E27FC236}">
                <a16:creationId xmlns:a16="http://schemas.microsoft.com/office/drawing/2014/main" id="{ECAC0AFB-3882-42AB-A03D-98256C523F7B}"/>
              </a:ext>
            </a:extLst>
          </p:cNvPr>
          <p:cNvSpPr/>
          <p:nvPr/>
        </p:nvSpPr>
        <p:spPr>
          <a:xfrm>
            <a:off x="8797558" y="4111395"/>
            <a:ext cx="1347395" cy="830997"/>
          </a:xfrm>
          <a:prstGeom prst="irregularSeal1">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a:extLst>
              <a:ext uri="{FF2B5EF4-FFF2-40B4-BE49-F238E27FC236}">
                <a16:creationId xmlns:a16="http://schemas.microsoft.com/office/drawing/2014/main" id="{22A045D3-98A0-4490-9850-43F392FD772C}"/>
              </a:ext>
            </a:extLst>
          </p:cNvPr>
          <p:cNvSpPr txBox="1"/>
          <p:nvPr/>
        </p:nvSpPr>
        <p:spPr>
          <a:xfrm>
            <a:off x="3234170" y="4458977"/>
            <a:ext cx="95336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IP</a:t>
            </a:r>
            <a:r>
              <a:rPr kumimoji="0" lang="zh-CN" altLang="en-US" sz="2000" b="1" i="0" u="none" strike="noStrike" kern="1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地址</a:t>
            </a: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9" name="文本框 18">
            <a:extLst>
              <a:ext uri="{FF2B5EF4-FFF2-40B4-BE49-F238E27FC236}">
                <a16:creationId xmlns:a16="http://schemas.microsoft.com/office/drawing/2014/main" id="{33BF3C4E-665A-4FB3-A803-8D68AD2AD30E}"/>
              </a:ext>
            </a:extLst>
          </p:cNvPr>
          <p:cNvSpPr txBox="1"/>
          <p:nvPr/>
        </p:nvSpPr>
        <p:spPr>
          <a:xfrm>
            <a:off x="8994572" y="4331352"/>
            <a:ext cx="95336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域名</a:t>
            </a: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4" name="灯片编号占位符 3">
            <a:extLst>
              <a:ext uri="{FF2B5EF4-FFF2-40B4-BE49-F238E27FC236}">
                <a16:creationId xmlns:a16="http://schemas.microsoft.com/office/drawing/2014/main" id="{581B567B-E930-4158-A043-8094BD964B85}"/>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3249342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a:extLst>
              <a:ext uri="{FF2B5EF4-FFF2-40B4-BE49-F238E27FC236}">
                <a16:creationId xmlns:a16="http://schemas.microsoft.com/office/drawing/2014/main" id="{91CEFE34-FADF-4B91-A792-A024DA5147AA}"/>
              </a:ext>
            </a:extLst>
          </p:cNvPr>
          <p:cNvSpPr>
            <a:spLocks/>
          </p:cNvSpPr>
          <p:nvPr/>
        </p:nvSpPr>
        <p:spPr bwMode="auto">
          <a:xfrm>
            <a:off x="915576" y="1088160"/>
            <a:ext cx="10909279" cy="769947"/>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6" name="矩形 51">
            <a:extLst>
              <a:ext uri="{FF2B5EF4-FFF2-40B4-BE49-F238E27FC236}">
                <a16:creationId xmlns:a16="http://schemas.microsoft.com/office/drawing/2014/main" id="{65371626-FFF8-4588-99BB-5C7CBA19CD82}"/>
              </a:ext>
            </a:extLst>
          </p:cNvPr>
          <p:cNvSpPr>
            <a:spLocks noChangeArrowheads="1"/>
          </p:cNvSpPr>
          <p:nvPr/>
        </p:nvSpPr>
        <p:spPr bwMode="auto">
          <a:xfrm>
            <a:off x="132779" y="1092505"/>
            <a:ext cx="12192000" cy="707886"/>
          </a:xfrm>
          <a:prstGeom prst="rect">
            <a:avLst/>
          </a:prstGeom>
          <a:noFill/>
          <a:ln>
            <a:noFill/>
          </a:ln>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endParaRPr>
          </a:p>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從</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host.txt</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文件到大型分布式系統，</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DNS</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用于地址與域名的映射</a:t>
            </a:r>
            <a:endPar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endParaRPr>
          </a:p>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endParaRPr>
          </a:p>
        </p:txBody>
      </p:sp>
      <p:grpSp>
        <p:nvGrpSpPr>
          <p:cNvPr id="15" name="淘宝网Chenying0907出品 46">
            <a:extLst>
              <a:ext uri="{FF2B5EF4-FFF2-40B4-BE49-F238E27FC236}">
                <a16:creationId xmlns:a16="http://schemas.microsoft.com/office/drawing/2014/main" id="{C26710EC-A276-42F3-A69A-3825502145D9}"/>
              </a:ext>
            </a:extLst>
          </p:cNvPr>
          <p:cNvGrpSpPr/>
          <p:nvPr/>
        </p:nvGrpSpPr>
        <p:grpSpPr>
          <a:xfrm>
            <a:off x="9933553" y="3640902"/>
            <a:ext cx="849821" cy="635481"/>
            <a:chOff x="6054436" y="2405136"/>
            <a:chExt cx="849821" cy="635481"/>
          </a:xfrm>
          <a:effectLst>
            <a:outerShdw blurRad="50800" dist="38100" dir="5400000" algn="t" rotWithShape="0">
              <a:prstClr val="black">
                <a:alpha val="40000"/>
              </a:prstClr>
            </a:outerShdw>
          </a:effectLst>
        </p:grpSpPr>
        <p:sp>
          <p:nvSpPr>
            <p:cNvPr id="16" name="淘宝网Chenying0907出品 133">
              <a:extLst>
                <a:ext uri="{FF2B5EF4-FFF2-40B4-BE49-F238E27FC236}">
                  <a16:creationId xmlns:a16="http://schemas.microsoft.com/office/drawing/2014/main" id="{AA1DDF7B-4314-4299-87E0-7D991027777E}"/>
                </a:ext>
              </a:extLst>
            </p:cNvPr>
            <p:cNvSpPr/>
            <p:nvPr/>
          </p:nvSpPr>
          <p:spPr bwMode="auto">
            <a:xfrm rot="2700000" flipH="1">
              <a:off x="6116557" y="2789035"/>
              <a:ext cx="189461" cy="313703"/>
            </a:xfrm>
            <a:custGeom>
              <a:avLst/>
              <a:gdLst>
                <a:gd name="T0" fmla="*/ 7566 w 397"/>
                <a:gd name="T1" fmla="*/ 1009717 h 659"/>
                <a:gd name="T2" fmla="*/ 0 w 397"/>
                <a:gd name="T3" fmla="*/ 1009717 h 659"/>
                <a:gd name="T4" fmla="*/ 0 w 397"/>
                <a:gd name="T5" fmla="*/ 1009717 h 659"/>
                <a:gd name="T6" fmla="*/ 11348 w 397"/>
                <a:gd name="T7" fmla="*/ 1021020 h 659"/>
                <a:gd name="T8" fmla="*/ 15131 w 397"/>
                <a:gd name="T9" fmla="*/ 1062464 h 659"/>
                <a:gd name="T10" fmla="*/ 18914 w 397"/>
                <a:gd name="T11" fmla="*/ 1069999 h 659"/>
                <a:gd name="T12" fmla="*/ 181575 w 397"/>
                <a:gd name="T13" fmla="*/ 1574858 h 659"/>
                <a:gd name="T14" fmla="*/ 348019 w 397"/>
                <a:gd name="T15" fmla="*/ 1092605 h 659"/>
                <a:gd name="T16" fmla="*/ 650644 w 397"/>
                <a:gd name="T17" fmla="*/ 1661513 h 659"/>
                <a:gd name="T18" fmla="*/ 548508 w 397"/>
                <a:gd name="T19" fmla="*/ 2124928 h 659"/>
                <a:gd name="T20" fmla="*/ 760345 w 397"/>
                <a:gd name="T21" fmla="*/ 2482850 h 659"/>
                <a:gd name="T22" fmla="*/ 650644 w 397"/>
                <a:gd name="T23" fmla="*/ 2275632 h 659"/>
                <a:gd name="T24" fmla="*/ 688472 w 397"/>
                <a:gd name="T25" fmla="*/ 1989294 h 659"/>
                <a:gd name="T26" fmla="*/ 866264 w 397"/>
                <a:gd name="T27" fmla="*/ 1740632 h 659"/>
                <a:gd name="T28" fmla="*/ 1028925 w 397"/>
                <a:gd name="T29" fmla="*/ 1454295 h 659"/>
                <a:gd name="T30" fmla="*/ 1059187 w 397"/>
                <a:gd name="T31" fmla="*/ 1363872 h 659"/>
                <a:gd name="T32" fmla="*/ 1161323 w 397"/>
                <a:gd name="T33" fmla="*/ 1823520 h 659"/>
                <a:gd name="T34" fmla="*/ 1229414 w 397"/>
                <a:gd name="T35" fmla="*/ 1529647 h 659"/>
                <a:gd name="T36" fmla="*/ 1399640 w 397"/>
                <a:gd name="T37" fmla="*/ 745985 h 659"/>
                <a:gd name="T38" fmla="*/ 714951 w 397"/>
                <a:gd name="T39" fmla="*/ 0 h 659"/>
                <a:gd name="T40" fmla="*/ 11348 w 397"/>
                <a:gd name="T41" fmla="*/ 956971 h 659"/>
                <a:gd name="T42" fmla="*/ 7566 w 397"/>
                <a:gd name="T43" fmla="*/ 1009717 h 65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97" h="659">
                  <a:moveTo>
                    <a:pt x="2" y="268"/>
                  </a:moveTo>
                  <a:cubicBezTo>
                    <a:pt x="2" y="267"/>
                    <a:pt x="0" y="264"/>
                    <a:pt x="0" y="268"/>
                  </a:cubicBezTo>
                  <a:cubicBezTo>
                    <a:pt x="0" y="268"/>
                    <a:pt x="0" y="268"/>
                    <a:pt x="0" y="268"/>
                  </a:cubicBezTo>
                  <a:cubicBezTo>
                    <a:pt x="0" y="269"/>
                    <a:pt x="2" y="270"/>
                    <a:pt x="3" y="271"/>
                  </a:cubicBezTo>
                  <a:cubicBezTo>
                    <a:pt x="3" y="275"/>
                    <a:pt x="4" y="278"/>
                    <a:pt x="4" y="282"/>
                  </a:cubicBezTo>
                  <a:cubicBezTo>
                    <a:pt x="5" y="283"/>
                    <a:pt x="5" y="283"/>
                    <a:pt x="5" y="284"/>
                  </a:cubicBezTo>
                  <a:cubicBezTo>
                    <a:pt x="10" y="335"/>
                    <a:pt x="25" y="381"/>
                    <a:pt x="48" y="418"/>
                  </a:cubicBezTo>
                  <a:cubicBezTo>
                    <a:pt x="23" y="377"/>
                    <a:pt x="37" y="299"/>
                    <a:pt x="92" y="290"/>
                  </a:cubicBezTo>
                  <a:cubicBezTo>
                    <a:pt x="158" y="280"/>
                    <a:pt x="169" y="399"/>
                    <a:pt x="172" y="441"/>
                  </a:cubicBezTo>
                  <a:cubicBezTo>
                    <a:pt x="174" y="484"/>
                    <a:pt x="145" y="521"/>
                    <a:pt x="145" y="564"/>
                  </a:cubicBezTo>
                  <a:cubicBezTo>
                    <a:pt x="145" y="613"/>
                    <a:pt x="170" y="653"/>
                    <a:pt x="201" y="659"/>
                  </a:cubicBezTo>
                  <a:cubicBezTo>
                    <a:pt x="187" y="656"/>
                    <a:pt x="174" y="616"/>
                    <a:pt x="172" y="604"/>
                  </a:cubicBezTo>
                  <a:cubicBezTo>
                    <a:pt x="168" y="580"/>
                    <a:pt x="175" y="551"/>
                    <a:pt x="182" y="528"/>
                  </a:cubicBezTo>
                  <a:cubicBezTo>
                    <a:pt x="190" y="501"/>
                    <a:pt x="211" y="483"/>
                    <a:pt x="229" y="462"/>
                  </a:cubicBezTo>
                  <a:cubicBezTo>
                    <a:pt x="247" y="440"/>
                    <a:pt x="262" y="414"/>
                    <a:pt x="272" y="386"/>
                  </a:cubicBezTo>
                  <a:cubicBezTo>
                    <a:pt x="275" y="378"/>
                    <a:pt x="278" y="370"/>
                    <a:pt x="280" y="362"/>
                  </a:cubicBezTo>
                  <a:cubicBezTo>
                    <a:pt x="284" y="420"/>
                    <a:pt x="307" y="484"/>
                    <a:pt x="307" y="484"/>
                  </a:cubicBezTo>
                  <a:cubicBezTo>
                    <a:pt x="299" y="437"/>
                    <a:pt x="325" y="406"/>
                    <a:pt x="325" y="406"/>
                  </a:cubicBezTo>
                  <a:cubicBezTo>
                    <a:pt x="397" y="291"/>
                    <a:pt x="370" y="198"/>
                    <a:pt x="370" y="198"/>
                  </a:cubicBezTo>
                  <a:cubicBezTo>
                    <a:pt x="351" y="85"/>
                    <a:pt x="277" y="0"/>
                    <a:pt x="189" y="0"/>
                  </a:cubicBezTo>
                  <a:cubicBezTo>
                    <a:pt x="87" y="0"/>
                    <a:pt x="3" y="114"/>
                    <a:pt x="3" y="254"/>
                  </a:cubicBezTo>
                  <a:cubicBezTo>
                    <a:pt x="3" y="258"/>
                    <a:pt x="2" y="263"/>
                    <a:pt x="2" y="268"/>
                  </a:cubicBezTo>
                  <a:close/>
                </a:path>
              </a:pathLst>
            </a:custGeom>
            <a:solidFill>
              <a:srgbClr val="F15A24"/>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17" name="淘宝网Chenying0907出品 134">
              <a:extLst>
                <a:ext uri="{FF2B5EF4-FFF2-40B4-BE49-F238E27FC236}">
                  <a16:creationId xmlns:a16="http://schemas.microsoft.com/office/drawing/2014/main" id="{900B6268-C478-45E5-8FD6-4B12EE681457}"/>
                </a:ext>
              </a:extLst>
            </p:cNvPr>
            <p:cNvSpPr/>
            <p:nvPr/>
          </p:nvSpPr>
          <p:spPr bwMode="auto">
            <a:xfrm rot="2700000" flipH="1">
              <a:off x="6176406" y="2803550"/>
              <a:ext cx="154413" cy="197568"/>
            </a:xfrm>
            <a:custGeom>
              <a:avLst/>
              <a:gdLst>
                <a:gd name="T0" fmla="*/ 581760 w 324"/>
                <a:gd name="T1" fmla="*/ 0 h 415"/>
                <a:gd name="T2" fmla="*/ 1148410 w 324"/>
                <a:gd name="T3" fmla="*/ 648083 h 415"/>
                <a:gd name="T4" fmla="*/ 1152187 w 324"/>
                <a:gd name="T5" fmla="*/ 655619 h 415"/>
                <a:gd name="T6" fmla="*/ 1152187 w 324"/>
                <a:gd name="T7" fmla="*/ 663154 h 415"/>
                <a:gd name="T8" fmla="*/ 1042635 w 324"/>
                <a:gd name="T9" fmla="*/ 1273558 h 415"/>
                <a:gd name="T10" fmla="*/ 963304 w 324"/>
                <a:gd name="T11" fmla="*/ 983428 h 415"/>
                <a:gd name="T12" fmla="*/ 868863 w 324"/>
                <a:gd name="T13" fmla="*/ 1137913 h 415"/>
                <a:gd name="T14" fmla="*/ 642203 w 324"/>
                <a:gd name="T15" fmla="*/ 1552384 h 415"/>
                <a:gd name="T16" fmla="*/ 630870 w 324"/>
                <a:gd name="T17" fmla="*/ 1563688 h 415"/>
                <a:gd name="T18" fmla="*/ 630870 w 324"/>
                <a:gd name="T19" fmla="*/ 1541080 h 415"/>
                <a:gd name="T20" fmla="*/ 245548 w 324"/>
                <a:gd name="T21" fmla="*/ 859086 h 415"/>
                <a:gd name="T22" fmla="*/ 196439 w 324"/>
                <a:gd name="T23" fmla="*/ 862854 h 415"/>
                <a:gd name="T24" fmla="*/ 7555 w 324"/>
                <a:gd name="T25" fmla="*/ 964588 h 415"/>
                <a:gd name="T26" fmla="*/ 3778 w 324"/>
                <a:gd name="T27" fmla="*/ 945749 h 415"/>
                <a:gd name="T28" fmla="*/ 3778 w 324"/>
                <a:gd name="T29" fmla="*/ 938213 h 415"/>
                <a:gd name="T30" fmla="*/ 0 w 324"/>
                <a:gd name="T31" fmla="*/ 900534 h 415"/>
                <a:gd name="T32" fmla="*/ 0 w 324"/>
                <a:gd name="T33" fmla="*/ 889230 h 415"/>
                <a:gd name="T34" fmla="*/ 0 w 324"/>
                <a:gd name="T35" fmla="*/ 840247 h 415"/>
                <a:gd name="T36" fmla="*/ 581760 w 324"/>
                <a:gd name="T37" fmla="*/ 0 h 4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24" h="415">
                  <a:moveTo>
                    <a:pt x="154" y="0"/>
                  </a:moveTo>
                  <a:cubicBezTo>
                    <a:pt x="225" y="0"/>
                    <a:pt x="288" y="73"/>
                    <a:pt x="304" y="172"/>
                  </a:cubicBezTo>
                  <a:cubicBezTo>
                    <a:pt x="305" y="174"/>
                    <a:pt x="305" y="174"/>
                    <a:pt x="305" y="174"/>
                  </a:cubicBezTo>
                  <a:cubicBezTo>
                    <a:pt x="305" y="176"/>
                    <a:pt x="305" y="176"/>
                    <a:pt x="305" y="176"/>
                  </a:cubicBezTo>
                  <a:cubicBezTo>
                    <a:pt x="306" y="179"/>
                    <a:pt x="324" y="248"/>
                    <a:pt x="276" y="338"/>
                  </a:cubicBezTo>
                  <a:cubicBezTo>
                    <a:pt x="276" y="335"/>
                    <a:pt x="256" y="263"/>
                    <a:pt x="255" y="261"/>
                  </a:cubicBezTo>
                  <a:cubicBezTo>
                    <a:pt x="256" y="270"/>
                    <a:pt x="235" y="292"/>
                    <a:pt x="230" y="302"/>
                  </a:cubicBezTo>
                  <a:cubicBezTo>
                    <a:pt x="209" y="338"/>
                    <a:pt x="198" y="379"/>
                    <a:pt x="170" y="412"/>
                  </a:cubicBezTo>
                  <a:cubicBezTo>
                    <a:pt x="169" y="413"/>
                    <a:pt x="168" y="414"/>
                    <a:pt x="167" y="415"/>
                  </a:cubicBezTo>
                  <a:cubicBezTo>
                    <a:pt x="167" y="413"/>
                    <a:pt x="167" y="411"/>
                    <a:pt x="167" y="409"/>
                  </a:cubicBezTo>
                  <a:cubicBezTo>
                    <a:pt x="159" y="260"/>
                    <a:pt x="107" y="228"/>
                    <a:pt x="65" y="228"/>
                  </a:cubicBezTo>
                  <a:cubicBezTo>
                    <a:pt x="61" y="228"/>
                    <a:pt x="57" y="229"/>
                    <a:pt x="52" y="229"/>
                  </a:cubicBezTo>
                  <a:cubicBezTo>
                    <a:pt x="33" y="232"/>
                    <a:pt x="15" y="242"/>
                    <a:pt x="2" y="256"/>
                  </a:cubicBezTo>
                  <a:cubicBezTo>
                    <a:pt x="2" y="254"/>
                    <a:pt x="1" y="253"/>
                    <a:pt x="1" y="251"/>
                  </a:cubicBezTo>
                  <a:cubicBezTo>
                    <a:pt x="1" y="249"/>
                    <a:pt x="1" y="249"/>
                    <a:pt x="1" y="249"/>
                  </a:cubicBezTo>
                  <a:cubicBezTo>
                    <a:pt x="1" y="246"/>
                    <a:pt x="1" y="242"/>
                    <a:pt x="0" y="239"/>
                  </a:cubicBezTo>
                  <a:cubicBezTo>
                    <a:pt x="0" y="239"/>
                    <a:pt x="0" y="236"/>
                    <a:pt x="0" y="236"/>
                  </a:cubicBezTo>
                  <a:cubicBezTo>
                    <a:pt x="0" y="231"/>
                    <a:pt x="0" y="227"/>
                    <a:pt x="0" y="223"/>
                  </a:cubicBezTo>
                  <a:cubicBezTo>
                    <a:pt x="0" y="100"/>
                    <a:pt x="69" y="0"/>
                    <a:pt x="154" y="0"/>
                  </a:cubicBezTo>
                  <a:close/>
                </a:path>
              </a:pathLst>
            </a:custGeom>
            <a:solidFill>
              <a:srgbClr val="F7931E"/>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18" name="淘宝网Chenying0907出品 135">
              <a:extLst>
                <a:ext uri="{FF2B5EF4-FFF2-40B4-BE49-F238E27FC236}">
                  <a16:creationId xmlns:a16="http://schemas.microsoft.com/office/drawing/2014/main" id="{6EFB47EC-C482-4500-946C-F8E611A214BE}"/>
                </a:ext>
              </a:extLst>
            </p:cNvPr>
            <p:cNvSpPr/>
            <p:nvPr/>
          </p:nvSpPr>
          <p:spPr bwMode="auto">
            <a:xfrm rot="2700000" flipH="1">
              <a:off x="6216128" y="2815389"/>
              <a:ext cx="101140" cy="142811"/>
            </a:xfrm>
            <a:custGeom>
              <a:avLst/>
              <a:gdLst>
                <a:gd name="T0" fmla="*/ 162607 w 212"/>
                <a:gd name="T1" fmla="*/ 535009 h 300"/>
                <a:gd name="T2" fmla="*/ 128573 w 212"/>
                <a:gd name="T3" fmla="*/ 535009 h 300"/>
                <a:gd name="T4" fmla="*/ 3782 w 212"/>
                <a:gd name="T5" fmla="*/ 599059 h 300"/>
                <a:gd name="T6" fmla="*/ 3782 w 212"/>
                <a:gd name="T7" fmla="*/ 587756 h 300"/>
                <a:gd name="T8" fmla="*/ 3782 w 212"/>
                <a:gd name="T9" fmla="*/ 583988 h 300"/>
                <a:gd name="T10" fmla="*/ 0 w 212"/>
                <a:gd name="T11" fmla="*/ 557615 h 300"/>
                <a:gd name="T12" fmla="*/ 0 w 212"/>
                <a:gd name="T13" fmla="*/ 550079 h 300"/>
                <a:gd name="T14" fmla="*/ 0 w 212"/>
                <a:gd name="T15" fmla="*/ 523706 h 300"/>
                <a:gd name="T16" fmla="*/ 381936 w 212"/>
                <a:gd name="T17" fmla="*/ 0 h 300"/>
                <a:gd name="T18" fmla="*/ 752528 w 212"/>
                <a:gd name="T19" fmla="*/ 403140 h 300"/>
                <a:gd name="T20" fmla="*/ 756309 w 212"/>
                <a:gd name="T21" fmla="*/ 406908 h 300"/>
                <a:gd name="T22" fmla="*/ 756309 w 212"/>
                <a:gd name="T23" fmla="*/ 410676 h 300"/>
                <a:gd name="T24" fmla="*/ 684460 w 212"/>
                <a:gd name="T25" fmla="*/ 791210 h 300"/>
                <a:gd name="T26" fmla="*/ 631518 w 212"/>
                <a:gd name="T27" fmla="*/ 610362 h 300"/>
                <a:gd name="T28" fmla="*/ 567232 w 212"/>
                <a:gd name="T29" fmla="*/ 704554 h 300"/>
                <a:gd name="T30" fmla="*/ 457567 w 212"/>
                <a:gd name="T31" fmla="*/ 1130300 h 300"/>
                <a:gd name="T32" fmla="*/ 162607 w 212"/>
                <a:gd name="T33" fmla="*/ 535009 h 3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300">
                  <a:moveTo>
                    <a:pt x="43" y="142"/>
                  </a:moveTo>
                  <a:cubicBezTo>
                    <a:pt x="40" y="142"/>
                    <a:pt x="37" y="142"/>
                    <a:pt x="34" y="142"/>
                  </a:cubicBezTo>
                  <a:cubicBezTo>
                    <a:pt x="21" y="144"/>
                    <a:pt x="10" y="150"/>
                    <a:pt x="1" y="159"/>
                  </a:cubicBezTo>
                  <a:cubicBezTo>
                    <a:pt x="1" y="158"/>
                    <a:pt x="1" y="157"/>
                    <a:pt x="1" y="156"/>
                  </a:cubicBezTo>
                  <a:cubicBezTo>
                    <a:pt x="1" y="155"/>
                    <a:pt x="1" y="155"/>
                    <a:pt x="1" y="155"/>
                  </a:cubicBezTo>
                  <a:cubicBezTo>
                    <a:pt x="0" y="152"/>
                    <a:pt x="0" y="150"/>
                    <a:pt x="0" y="148"/>
                  </a:cubicBezTo>
                  <a:cubicBezTo>
                    <a:pt x="0" y="146"/>
                    <a:pt x="0" y="146"/>
                    <a:pt x="0" y="146"/>
                  </a:cubicBezTo>
                  <a:cubicBezTo>
                    <a:pt x="0" y="143"/>
                    <a:pt x="0" y="141"/>
                    <a:pt x="0" y="139"/>
                  </a:cubicBezTo>
                  <a:cubicBezTo>
                    <a:pt x="0" y="62"/>
                    <a:pt x="45" y="0"/>
                    <a:pt x="101" y="0"/>
                  </a:cubicBezTo>
                  <a:cubicBezTo>
                    <a:pt x="147" y="0"/>
                    <a:pt x="189" y="45"/>
                    <a:pt x="199" y="107"/>
                  </a:cubicBezTo>
                  <a:cubicBezTo>
                    <a:pt x="200" y="108"/>
                    <a:pt x="200" y="108"/>
                    <a:pt x="200" y="108"/>
                  </a:cubicBezTo>
                  <a:cubicBezTo>
                    <a:pt x="200" y="109"/>
                    <a:pt x="200" y="109"/>
                    <a:pt x="200" y="109"/>
                  </a:cubicBezTo>
                  <a:cubicBezTo>
                    <a:pt x="201" y="111"/>
                    <a:pt x="212" y="154"/>
                    <a:pt x="181" y="210"/>
                  </a:cubicBezTo>
                  <a:cubicBezTo>
                    <a:pt x="181" y="208"/>
                    <a:pt x="167" y="164"/>
                    <a:pt x="167" y="162"/>
                  </a:cubicBezTo>
                  <a:cubicBezTo>
                    <a:pt x="168" y="168"/>
                    <a:pt x="154" y="181"/>
                    <a:pt x="150" y="187"/>
                  </a:cubicBezTo>
                  <a:cubicBezTo>
                    <a:pt x="137" y="210"/>
                    <a:pt x="126" y="275"/>
                    <a:pt x="121" y="300"/>
                  </a:cubicBezTo>
                  <a:cubicBezTo>
                    <a:pt x="121" y="300"/>
                    <a:pt x="94" y="134"/>
                    <a:pt x="43" y="142"/>
                  </a:cubicBezTo>
                  <a:close/>
                </a:path>
              </a:pathLst>
            </a:custGeom>
            <a:solidFill>
              <a:srgbClr val="FBB03B"/>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19" name="淘宝网Chenying0907出品 107">
              <a:extLst>
                <a:ext uri="{FF2B5EF4-FFF2-40B4-BE49-F238E27FC236}">
                  <a16:creationId xmlns:a16="http://schemas.microsoft.com/office/drawing/2014/main" id="{783BAF1C-95DE-493A-B651-1D5011B16744}"/>
                </a:ext>
              </a:extLst>
            </p:cNvPr>
            <p:cNvSpPr/>
            <p:nvPr/>
          </p:nvSpPr>
          <p:spPr bwMode="auto">
            <a:xfrm rot="2700000" flipH="1">
              <a:off x="6219230" y="2554544"/>
              <a:ext cx="183510" cy="293579"/>
            </a:xfrm>
            <a:custGeom>
              <a:avLst/>
              <a:gdLst>
                <a:gd name="T0" fmla="*/ 587375 w 312"/>
                <a:gd name="T1" fmla="*/ 0 h 495"/>
                <a:gd name="T2" fmla="*/ 1174750 w 312"/>
                <a:gd name="T3" fmla="*/ 597631 h 495"/>
                <a:gd name="T4" fmla="*/ 1174750 w 312"/>
                <a:gd name="T5" fmla="*/ 612666 h 495"/>
                <a:gd name="T6" fmla="*/ 1174750 w 312"/>
                <a:gd name="T7" fmla="*/ 612666 h 495"/>
                <a:gd name="T8" fmla="*/ 798228 w 312"/>
                <a:gd name="T9" fmla="*/ 1804170 h 495"/>
                <a:gd name="T10" fmla="*/ 779401 w 312"/>
                <a:gd name="T11" fmla="*/ 1826722 h 495"/>
                <a:gd name="T12" fmla="*/ 779401 w 312"/>
                <a:gd name="T13" fmla="*/ 1826722 h 495"/>
                <a:gd name="T14" fmla="*/ 779401 w 312"/>
                <a:gd name="T15" fmla="*/ 1826722 h 495"/>
                <a:gd name="T16" fmla="*/ 692801 w 312"/>
                <a:gd name="T17" fmla="*/ 1860550 h 495"/>
                <a:gd name="T18" fmla="*/ 579845 w 312"/>
                <a:gd name="T19" fmla="*/ 1762824 h 495"/>
                <a:gd name="T20" fmla="*/ 587375 w 312"/>
                <a:gd name="T21" fmla="*/ 1740272 h 495"/>
                <a:gd name="T22" fmla="*/ 587375 w 312"/>
                <a:gd name="T23" fmla="*/ 1740272 h 495"/>
                <a:gd name="T24" fmla="*/ 621262 w 312"/>
                <a:gd name="T25" fmla="*/ 1559855 h 495"/>
                <a:gd name="T26" fmla="*/ 459357 w 312"/>
                <a:gd name="T27" fmla="*/ 1168952 h 495"/>
                <a:gd name="T28" fmla="*/ 459357 w 312"/>
                <a:gd name="T29" fmla="*/ 1165193 h 495"/>
                <a:gd name="T30" fmla="*/ 158139 w 312"/>
                <a:gd name="T31" fmla="*/ 992293 h 495"/>
                <a:gd name="T32" fmla="*/ 0 w 312"/>
                <a:gd name="T33" fmla="*/ 590114 h 495"/>
                <a:gd name="T34" fmla="*/ 587375 w 312"/>
                <a:gd name="T35" fmla="*/ 0 h 49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connsiteX0" fmla="*/ 5000 w 10000"/>
                <a:gd name="connsiteY0" fmla="*/ 0 h 10000"/>
                <a:gd name="connsiteX1" fmla="*/ 10000 w 10000"/>
                <a:gd name="connsiteY1" fmla="*/ 3212 h 10000"/>
                <a:gd name="connsiteX2" fmla="*/ 10000 w 10000"/>
                <a:gd name="connsiteY2" fmla="*/ 3293 h 10000"/>
                <a:gd name="connsiteX3" fmla="*/ 10000 w 10000"/>
                <a:gd name="connsiteY3" fmla="*/ 3293 h 10000"/>
                <a:gd name="connsiteX4" fmla="*/ 6795 w 10000"/>
                <a:gd name="connsiteY4" fmla="*/ 9697 h 10000"/>
                <a:gd name="connsiteX5" fmla="*/ 6635 w 10000"/>
                <a:gd name="connsiteY5" fmla="*/ 9818 h 10000"/>
                <a:gd name="connsiteX6" fmla="*/ 6635 w 10000"/>
                <a:gd name="connsiteY6" fmla="*/ 9818 h 10000"/>
                <a:gd name="connsiteX7" fmla="*/ 6635 w 10000"/>
                <a:gd name="connsiteY7" fmla="*/ 9818 h 10000"/>
                <a:gd name="connsiteX8" fmla="*/ 5897 w 10000"/>
                <a:gd name="connsiteY8" fmla="*/ 10000 h 10000"/>
                <a:gd name="connsiteX9" fmla="*/ 4936 w 10000"/>
                <a:gd name="connsiteY9" fmla="*/ 9475 h 10000"/>
                <a:gd name="connsiteX10" fmla="*/ 5000 w 10000"/>
                <a:gd name="connsiteY10" fmla="*/ 9354 h 10000"/>
                <a:gd name="connsiteX11" fmla="*/ 5288 w 10000"/>
                <a:gd name="connsiteY11" fmla="*/ 8384 h 10000"/>
                <a:gd name="connsiteX12" fmla="*/ 3910 w 10000"/>
                <a:gd name="connsiteY12" fmla="*/ 6283 h 10000"/>
                <a:gd name="connsiteX13" fmla="*/ 3910 w 10000"/>
                <a:gd name="connsiteY13" fmla="*/ 6263 h 10000"/>
                <a:gd name="connsiteX14" fmla="*/ 1346 w 10000"/>
                <a:gd name="connsiteY14" fmla="*/ 5333 h 10000"/>
                <a:gd name="connsiteX15" fmla="*/ 0 w 10000"/>
                <a:gd name="connsiteY15" fmla="*/ 3172 h 10000"/>
                <a:gd name="connsiteX16" fmla="*/ 5000 w 10000"/>
                <a:gd name="connsiteY16" fmla="*/ 0 h 10000"/>
                <a:gd name="connsiteX0-1" fmla="*/ 5000 w 10000"/>
                <a:gd name="connsiteY0-2" fmla="*/ 0 h 10000"/>
                <a:gd name="connsiteX1-3" fmla="*/ 10000 w 10000"/>
                <a:gd name="connsiteY1-4" fmla="*/ 3212 h 10000"/>
                <a:gd name="connsiteX2-5" fmla="*/ 10000 w 10000"/>
                <a:gd name="connsiteY2-6" fmla="*/ 3293 h 10000"/>
                <a:gd name="connsiteX3-7" fmla="*/ 10000 w 10000"/>
                <a:gd name="connsiteY3-8" fmla="*/ 3293 h 10000"/>
                <a:gd name="connsiteX4-9" fmla="*/ 6795 w 10000"/>
                <a:gd name="connsiteY4-10" fmla="*/ 9697 h 10000"/>
                <a:gd name="connsiteX5-11" fmla="*/ 6635 w 10000"/>
                <a:gd name="connsiteY5-12" fmla="*/ 9818 h 10000"/>
                <a:gd name="connsiteX6-13" fmla="*/ 6635 w 10000"/>
                <a:gd name="connsiteY6-14" fmla="*/ 9818 h 10000"/>
                <a:gd name="connsiteX7-15" fmla="*/ 6635 w 10000"/>
                <a:gd name="connsiteY7-16" fmla="*/ 9818 h 10000"/>
                <a:gd name="connsiteX8-17" fmla="*/ 5897 w 10000"/>
                <a:gd name="connsiteY8-18" fmla="*/ 10000 h 10000"/>
                <a:gd name="connsiteX9-19" fmla="*/ 4936 w 10000"/>
                <a:gd name="connsiteY9-20" fmla="*/ 9475 h 10000"/>
                <a:gd name="connsiteX10-21" fmla="*/ 5288 w 10000"/>
                <a:gd name="connsiteY10-22" fmla="*/ 8384 h 10000"/>
                <a:gd name="connsiteX11-23" fmla="*/ 3910 w 10000"/>
                <a:gd name="connsiteY11-24" fmla="*/ 6283 h 10000"/>
                <a:gd name="connsiteX12-25" fmla="*/ 3910 w 10000"/>
                <a:gd name="connsiteY12-26" fmla="*/ 6263 h 10000"/>
                <a:gd name="connsiteX13-27" fmla="*/ 1346 w 10000"/>
                <a:gd name="connsiteY13-28" fmla="*/ 5333 h 10000"/>
                <a:gd name="connsiteX14-29" fmla="*/ 0 w 10000"/>
                <a:gd name="connsiteY14-30" fmla="*/ 3172 h 10000"/>
                <a:gd name="connsiteX15-31" fmla="*/ 5000 w 10000"/>
                <a:gd name="connsiteY15-32" fmla="*/ 0 h 10000"/>
                <a:gd name="connsiteX0-33" fmla="*/ 5000 w 10000"/>
                <a:gd name="connsiteY0-34" fmla="*/ 0 h 10086"/>
                <a:gd name="connsiteX1-35" fmla="*/ 10000 w 10000"/>
                <a:gd name="connsiteY1-36" fmla="*/ 3212 h 10086"/>
                <a:gd name="connsiteX2-37" fmla="*/ 10000 w 10000"/>
                <a:gd name="connsiteY2-38" fmla="*/ 3293 h 10086"/>
                <a:gd name="connsiteX3-39" fmla="*/ 10000 w 10000"/>
                <a:gd name="connsiteY3-40" fmla="*/ 3293 h 10086"/>
                <a:gd name="connsiteX4-41" fmla="*/ 6795 w 10000"/>
                <a:gd name="connsiteY4-42" fmla="*/ 9697 h 10086"/>
                <a:gd name="connsiteX5-43" fmla="*/ 6635 w 10000"/>
                <a:gd name="connsiteY5-44" fmla="*/ 9818 h 10086"/>
                <a:gd name="connsiteX6-45" fmla="*/ 6635 w 10000"/>
                <a:gd name="connsiteY6-46" fmla="*/ 9818 h 10086"/>
                <a:gd name="connsiteX7-47" fmla="*/ 6635 w 10000"/>
                <a:gd name="connsiteY7-48" fmla="*/ 9818 h 10086"/>
                <a:gd name="connsiteX8-49" fmla="*/ 5897 w 10000"/>
                <a:gd name="connsiteY8-50" fmla="*/ 10000 h 10086"/>
                <a:gd name="connsiteX9-51" fmla="*/ 5288 w 10000"/>
                <a:gd name="connsiteY9-52" fmla="*/ 8384 h 10086"/>
                <a:gd name="connsiteX10-53" fmla="*/ 3910 w 10000"/>
                <a:gd name="connsiteY10-54" fmla="*/ 6283 h 10086"/>
                <a:gd name="connsiteX11-55" fmla="*/ 3910 w 10000"/>
                <a:gd name="connsiteY11-56" fmla="*/ 6263 h 10086"/>
                <a:gd name="connsiteX12-57" fmla="*/ 1346 w 10000"/>
                <a:gd name="connsiteY12-58" fmla="*/ 5333 h 10086"/>
                <a:gd name="connsiteX13-59" fmla="*/ 0 w 10000"/>
                <a:gd name="connsiteY13-60" fmla="*/ 3172 h 10086"/>
                <a:gd name="connsiteX14-61" fmla="*/ 5000 w 10000"/>
                <a:gd name="connsiteY14-62" fmla="*/ 0 h 1008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10000" h="10086">
                  <a:moveTo>
                    <a:pt x="5000" y="0"/>
                  </a:moveTo>
                  <a:cubicBezTo>
                    <a:pt x="7756" y="0"/>
                    <a:pt x="10000" y="1455"/>
                    <a:pt x="10000" y="3212"/>
                  </a:cubicBezTo>
                  <a:lnTo>
                    <a:pt x="10000" y="3293"/>
                  </a:lnTo>
                  <a:lnTo>
                    <a:pt x="10000" y="3293"/>
                  </a:lnTo>
                  <a:cubicBezTo>
                    <a:pt x="10000" y="5717"/>
                    <a:pt x="8814" y="7859"/>
                    <a:pt x="6795" y="9697"/>
                  </a:cubicBezTo>
                  <a:cubicBezTo>
                    <a:pt x="6731" y="9737"/>
                    <a:pt x="6699" y="9778"/>
                    <a:pt x="6635" y="9818"/>
                  </a:cubicBezTo>
                  <a:lnTo>
                    <a:pt x="6635" y="9818"/>
                  </a:lnTo>
                  <a:lnTo>
                    <a:pt x="6635" y="9818"/>
                  </a:lnTo>
                  <a:cubicBezTo>
                    <a:pt x="6442" y="9919"/>
                    <a:pt x="6121" y="10239"/>
                    <a:pt x="5897" y="10000"/>
                  </a:cubicBezTo>
                  <a:cubicBezTo>
                    <a:pt x="5673" y="9761"/>
                    <a:pt x="5619" y="9003"/>
                    <a:pt x="5288" y="8384"/>
                  </a:cubicBezTo>
                  <a:cubicBezTo>
                    <a:pt x="5064" y="7556"/>
                    <a:pt x="4744" y="6848"/>
                    <a:pt x="3910" y="6283"/>
                  </a:cubicBezTo>
                  <a:lnTo>
                    <a:pt x="3910" y="6263"/>
                  </a:lnTo>
                  <a:cubicBezTo>
                    <a:pt x="3237" y="5818"/>
                    <a:pt x="2340" y="5475"/>
                    <a:pt x="1346" y="5333"/>
                  </a:cubicBezTo>
                  <a:cubicBezTo>
                    <a:pt x="513" y="4768"/>
                    <a:pt x="0" y="4000"/>
                    <a:pt x="0" y="3172"/>
                  </a:cubicBezTo>
                  <a:cubicBezTo>
                    <a:pt x="0" y="1414"/>
                    <a:pt x="2244" y="0"/>
                    <a:pt x="5000" y="0"/>
                  </a:cubicBezTo>
                  <a:close/>
                </a:path>
              </a:pathLst>
            </a:custGeom>
            <a:solidFill>
              <a:srgbClr val="EB6949">
                <a:alpha val="73000"/>
              </a:srgb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20" name="淘宝网Chenying0907出品 107">
              <a:extLst>
                <a:ext uri="{FF2B5EF4-FFF2-40B4-BE49-F238E27FC236}">
                  <a16:creationId xmlns:a16="http://schemas.microsoft.com/office/drawing/2014/main" id="{26125FA5-07DA-48AA-9DE1-47AD233DD485}"/>
                </a:ext>
              </a:extLst>
            </p:cNvPr>
            <p:cNvSpPr/>
            <p:nvPr/>
          </p:nvSpPr>
          <p:spPr bwMode="auto">
            <a:xfrm rot="2700000">
              <a:off x="6369742" y="2705056"/>
              <a:ext cx="183510" cy="293579"/>
            </a:xfrm>
            <a:custGeom>
              <a:avLst/>
              <a:gdLst>
                <a:gd name="T0" fmla="*/ 587375 w 312"/>
                <a:gd name="T1" fmla="*/ 0 h 495"/>
                <a:gd name="T2" fmla="*/ 1174750 w 312"/>
                <a:gd name="T3" fmla="*/ 597631 h 495"/>
                <a:gd name="T4" fmla="*/ 1174750 w 312"/>
                <a:gd name="T5" fmla="*/ 612666 h 495"/>
                <a:gd name="T6" fmla="*/ 1174750 w 312"/>
                <a:gd name="T7" fmla="*/ 612666 h 495"/>
                <a:gd name="T8" fmla="*/ 798228 w 312"/>
                <a:gd name="T9" fmla="*/ 1804170 h 495"/>
                <a:gd name="T10" fmla="*/ 779401 w 312"/>
                <a:gd name="T11" fmla="*/ 1826722 h 495"/>
                <a:gd name="T12" fmla="*/ 779401 w 312"/>
                <a:gd name="T13" fmla="*/ 1826722 h 495"/>
                <a:gd name="T14" fmla="*/ 779401 w 312"/>
                <a:gd name="T15" fmla="*/ 1826722 h 495"/>
                <a:gd name="T16" fmla="*/ 692801 w 312"/>
                <a:gd name="T17" fmla="*/ 1860550 h 495"/>
                <a:gd name="T18" fmla="*/ 579845 w 312"/>
                <a:gd name="T19" fmla="*/ 1762824 h 495"/>
                <a:gd name="T20" fmla="*/ 587375 w 312"/>
                <a:gd name="T21" fmla="*/ 1740272 h 495"/>
                <a:gd name="T22" fmla="*/ 587375 w 312"/>
                <a:gd name="T23" fmla="*/ 1740272 h 495"/>
                <a:gd name="T24" fmla="*/ 621262 w 312"/>
                <a:gd name="T25" fmla="*/ 1559855 h 495"/>
                <a:gd name="T26" fmla="*/ 459357 w 312"/>
                <a:gd name="T27" fmla="*/ 1168952 h 495"/>
                <a:gd name="T28" fmla="*/ 459357 w 312"/>
                <a:gd name="T29" fmla="*/ 1165193 h 495"/>
                <a:gd name="T30" fmla="*/ 158139 w 312"/>
                <a:gd name="T31" fmla="*/ 992293 h 495"/>
                <a:gd name="T32" fmla="*/ 0 w 312"/>
                <a:gd name="T33" fmla="*/ 590114 h 495"/>
                <a:gd name="T34" fmla="*/ 587375 w 312"/>
                <a:gd name="T35" fmla="*/ 0 h 49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connsiteX0" fmla="*/ 5000 w 10000"/>
                <a:gd name="connsiteY0" fmla="*/ 0 h 10000"/>
                <a:gd name="connsiteX1" fmla="*/ 10000 w 10000"/>
                <a:gd name="connsiteY1" fmla="*/ 3212 h 10000"/>
                <a:gd name="connsiteX2" fmla="*/ 10000 w 10000"/>
                <a:gd name="connsiteY2" fmla="*/ 3293 h 10000"/>
                <a:gd name="connsiteX3" fmla="*/ 10000 w 10000"/>
                <a:gd name="connsiteY3" fmla="*/ 3293 h 10000"/>
                <a:gd name="connsiteX4" fmla="*/ 6795 w 10000"/>
                <a:gd name="connsiteY4" fmla="*/ 9697 h 10000"/>
                <a:gd name="connsiteX5" fmla="*/ 6635 w 10000"/>
                <a:gd name="connsiteY5" fmla="*/ 9818 h 10000"/>
                <a:gd name="connsiteX6" fmla="*/ 6635 w 10000"/>
                <a:gd name="connsiteY6" fmla="*/ 9818 h 10000"/>
                <a:gd name="connsiteX7" fmla="*/ 6635 w 10000"/>
                <a:gd name="connsiteY7" fmla="*/ 9818 h 10000"/>
                <a:gd name="connsiteX8" fmla="*/ 5897 w 10000"/>
                <a:gd name="connsiteY8" fmla="*/ 10000 h 10000"/>
                <a:gd name="connsiteX9" fmla="*/ 4936 w 10000"/>
                <a:gd name="connsiteY9" fmla="*/ 9475 h 10000"/>
                <a:gd name="connsiteX10" fmla="*/ 5000 w 10000"/>
                <a:gd name="connsiteY10" fmla="*/ 9354 h 10000"/>
                <a:gd name="connsiteX11" fmla="*/ 5288 w 10000"/>
                <a:gd name="connsiteY11" fmla="*/ 8384 h 10000"/>
                <a:gd name="connsiteX12" fmla="*/ 3910 w 10000"/>
                <a:gd name="connsiteY12" fmla="*/ 6283 h 10000"/>
                <a:gd name="connsiteX13" fmla="*/ 3910 w 10000"/>
                <a:gd name="connsiteY13" fmla="*/ 6263 h 10000"/>
                <a:gd name="connsiteX14" fmla="*/ 1346 w 10000"/>
                <a:gd name="connsiteY14" fmla="*/ 5333 h 10000"/>
                <a:gd name="connsiteX15" fmla="*/ 0 w 10000"/>
                <a:gd name="connsiteY15" fmla="*/ 3172 h 10000"/>
                <a:gd name="connsiteX16" fmla="*/ 5000 w 10000"/>
                <a:gd name="connsiteY16" fmla="*/ 0 h 10000"/>
                <a:gd name="connsiteX0-1" fmla="*/ 5000 w 10000"/>
                <a:gd name="connsiteY0-2" fmla="*/ 0 h 10000"/>
                <a:gd name="connsiteX1-3" fmla="*/ 10000 w 10000"/>
                <a:gd name="connsiteY1-4" fmla="*/ 3212 h 10000"/>
                <a:gd name="connsiteX2-5" fmla="*/ 10000 w 10000"/>
                <a:gd name="connsiteY2-6" fmla="*/ 3293 h 10000"/>
                <a:gd name="connsiteX3-7" fmla="*/ 10000 w 10000"/>
                <a:gd name="connsiteY3-8" fmla="*/ 3293 h 10000"/>
                <a:gd name="connsiteX4-9" fmla="*/ 6795 w 10000"/>
                <a:gd name="connsiteY4-10" fmla="*/ 9697 h 10000"/>
                <a:gd name="connsiteX5-11" fmla="*/ 6635 w 10000"/>
                <a:gd name="connsiteY5-12" fmla="*/ 9818 h 10000"/>
                <a:gd name="connsiteX6-13" fmla="*/ 6635 w 10000"/>
                <a:gd name="connsiteY6-14" fmla="*/ 9818 h 10000"/>
                <a:gd name="connsiteX7-15" fmla="*/ 6635 w 10000"/>
                <a:gd name="connsiteY7-16" fmla="*/ 9818 h 10000"/>
                <a:gd name="connsiteX8-17" fmla="*/ 5897 w 10000"/>
                <a:gd name="connsiteY8-18" fmla="*/ 10000 h 10000"/>
                <a:gd name="connsiteX9-19" fmla="*/ 4936 w 10000"/>
                <a:gd name="connsiteY9-20" fmla="*/ 9475 h 10000"/>
                <a:gd name="connsiteX10-21" fmla="*/ 5288 w 10000"/>
                <a:gd name="connsiteY10-22" fmla="*/ 8384 h 10000"/>
                <a:gd name="connsiteX11-23" fmla="*/ 3910 w 10000"/>
                <a:gd name="connsiteY11-24" fmla="*/ 6283 h 10000"/>
                <a:gd name="connsiteX12-25" fmla="*/ 3910 w 10000"/>
                <a:gd name="connsiteY12-26" fmla="*/ 6263 h 10000"/>
                <a:gd name="connsiteX13-27" fmla="*/ 1346 w 10000"/>
                <a:gd name="connsiteY13-28" fmla="*/ 5333 h 10000"/>
                <a:gd name="connsiteX14-29" fmla="*/ 0 w 10000"/>
                <a:gd name="connsiteY14-30" fmla="*/ 3172 h 10000"/>
                <a:gd name="connsiteX15-31" fmla="*/ 5000 w 10000"/>
                <a:gd name="connsiteY15-32" fmla="*/ 0 h 10000"/>
                <a:gd name="connsiteX0-33" fmla="*/ 5000 w 10000"/>
                <a:gd name="connsiteY0-34" fmla="*/ 0 h 10086"/>
                <a:gd name="connsiteX1-35" fmla="*/ 10000 w 10000"/>
                <a:gd name="connsiteY1-36" fmla="*/ 3212 h 10086"/>
                <a:gd name="connsiteX2-37" fmla="*/ 10000 w 10000"/>
                <a:gd name="connsiteY2-38" fmla="*/ 3293 h 10086"/>
                <a:gd name="connsiteX3-39" fmla="*/ 10000 w 10000"/>
                <a:gd name="connsiteY3-40" fmla="*/ 3293 h 10086"/>
                <a:gd name="connsiteX4-41" fmla="*/ 6795 w 10000"/>
                <a:gd name="connsiteY4-42" fmla="*/ 9697 h 10086"/>
                <a:gd name="connsiteX5-43" fmla="*/ 6635 w 10000"/>
                <a:gd name="connsiteY5-44" fmla="*/ 9818 h 10086"/>
                <a:gd name="connsiteX6-45" fmla="*/ 6635 w 10000"/>
                <a:gd name="connsiteY6-46" fmla="*/ 9818 h 10086"/>
                <a:gd name="connsiteX7-47" fmla="*/ 6635 w 10000"/>
                <a:gd name="connsiteY7-48" fmla="*/ 9818 h 10086"/>
                <a:gd name="connsiteX8-49" fmla="*/ 5897 w 10000"/>
                <a:gd name="connsiteY8-50" fmla="*/ 10000 h 10086"/>
                <a:gd name="connsiteX9-51" fmla="*/ 5288 w 10000"/>
                <a:gd name="connsiteY9-52" fmla="*/ 8384 h 10086"/>
                <a:gd name="connsiteX10-53" fmla="*/ 3910 w 10000"/>
                <a:gd name="connsiteY10-54" fmla="*/ 6283 h 10086"/>
                <a:gd name="connsiteX11-55" fmla="*/ 3910 w 10000"/>
                <a:gd name="connsiteY11-56" fmla="*/ 6263 h 10086"/>
                <a:gd name="connsiteX12-57" fmla="*/ 1346 w 10000"/>
                <a:gd name="connsiteY12-58" fmla="*/ 5333 h 10086"/>
                <a:gd name="connsiteX13-59" fmla="*/ 0 w 10000"/>
                <a:gd name="connsiteY13-60" fmla="*/ 3172 h 10086"/>
                <a:gd name="connsiteX14-61" fmla="*/ 5000 w 10000"/>
                <a:gd name="connsiteY14-62" fmla="*/ 0 h 1008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10000" h="10086">
                  <a:moveTo>
                    <a:pt x="5000" y="0"/>
                  </a:moveTo>
                  <a:cubicBezTo>
                    <a:pt x="7756" y="0"/>
                    <a:pt x="10000" y="1455"/>
                    <a:pt x="10000" y="3212"/>
                  </a:cubicBezTo>
                  <a:lnTo>
                    <a:pt x="10000" y="3293"/>
                  </a:lnTo>
                  <a:lnTo>
                    <a:pt x="10000" y="3293"/>
                  </a:lnTo>
                  <a:cubicBezTo>
                    <a:pt x="10000" y="5717"/>
                    <a:pt x="8814" y="7859"/>
                    <a:pt x="6795" y="9697"/>
                  </a:cubicBezTo>
                  <a:cubicBezTo>
                    <a:pt x="6731" y="9737"/>
                    <a:pt x="6699" y="9778"/>
                    <a:pt x="6635" y="9818"/>
                  </a:cubicBezTo>
                  <a:lnTo>
                    <a:pt x="6635" y="9818"/>
                  </a:lnTo>
                  <a:lnTo>
                    <a:pt x="6635" y="9818"/>
                  </a:lnTo>
                  <a:cubicBezTo>
                    <a:pt x="6442" y="9919"/>
                    <a:pt x="6121" y="10239"/>
                    <a:pt x="5897" y="10000"/>
                  </a:cubicBezTo>
                  <a:cubicBezTo>
                    <a:pt x="5673" y="9761"/>
                    <a:pt x="5619" y="9003"/>
                    <a:pt x="5288" y="8384"/>
                  </a:cubicBezTo>
                  <a:cubicBezTo>
                    <a:pt x="5064" y="7556"/>
                    <a:pt x="4744" y="6848"/>
                    <a:pt x="3910" y="6283"/>
                  </a:cubicBezTo>
                  <a:lnTo>
                    <a:pt x="3910" y="6263"/>
                  </a:lnTo>
                  <a:cubicBezTo>
                    <a:pt x="3237" y="5818"/>
                    <a:pt x="2340" y="5475"/>
                    <a:pt x="1346" y="5333"/>
                  </a:cubicBezTo>
                  <a:cubicBezTo>
                    <a:pt x="513" y="4768"/>
                    <a:pt x="0" y="4000"/>
                    <a:pt x="0" y="3172"/>
                  </a:cubicBezTo>
                  <a:cubicBezTo>
                    <a:pt x="0" y="1414"/>
                    <a:pt x="2244" y="0"/>
                    <a:pt x="5000" y="0"/>
                  </a:cubicBezTo>
                  <a:close/>
                </a:path>
              </a:pathLst>
            </a:custGeom>
            <a:solidFill>
              <a:srgbClr val="EB6949">
                <a:alpha val="73000"/>
              </a:srgb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22" name="淘宝网Chenying0907出品 108">
              <a:extLst>
                <a:ext uri="{FF2B5EF4-FFF2-40B4-BE49-F238E27FC236}">
                  <a16:creationId xmlns:a16="http://schemas.microsoft.com/office/drawing/2014/main" id="{BE9EFF8A-E06B-478B-B716-3D9D3E7AD160}"/>
                </a:ext>
              </a:extLst>
            </p:cNvPr>
            <p:cNvSpPr/>
            <p:nvPr/>
          </p:nvSpPr>
          <p:spPr bwMode="auto">
            <a:xfrm rot="2700000">
              <a:off x="6407803" y="2259335"/>
              <a:ext cx="350653" cy="642255"/>
            </a:xfrm>
            <a:custGeom>
              <a:avLst/>
              <a:gdLst>
                <a:gd name="T0" fmla="*/ 1122363 w 596"/>
                <a:gd name="T1" fmla="*/ 4105275 h 1092"/>
                <a:gd name="T2" fmla="*/ 598844 w 596"/>
                <a:gd name="T3" fmla="*/ 4105275 h 1092"/>
                <a:gd name="T4" fmla="*/ 79093 w 596"/>
                <a:gd name="T5" fmla="*/ 1928577 h 1092"/>
                <a:gd name="T6" fmla="*/ 1122363 w 596"/>
                <a:gd name="T7" fmla="*/ 0 h 1092"/>
                <a:gd name="T8" fmla="*/ 1126129 w 596"/>
                <a:gd name="T9" fmla="*/ 0 h 1092"/>
                <a:gd name="T10" fmla="*/ 2165632 w 596"/>
                <a:gd name="T11" fmla="*/ 1928577 h 1092"/>
                <a:gd name="T12" fmla="*/ 1645881 w 596"/>
                <a:gd name="T13" fmla="*/ 4105275 h 1092"/>
                <a:gd name="T14" fmla="*/ 1122363 w 596"/>
                <a:gd name="T15" fmla="*/ 4105275 h 109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96" h="1092">
                  <a:moveTo>
                    <a:pt x="298" y="1092"/>
                  </a:moveTo>
                  <a:cubicBezTo>
                    <a:pt x="159" y="1092"/>
                    <a:pt x="159" y="1092"/>
                    <a:pt x="159" y="1092"/>
                  </a:cubicBezTo>
                  <a:cubicBezTo>
                    <a:pt x="31" y="824"/>
                    <a:pt x="21" y="513"/>
                    <a:pt x="21" y="513"/>
                  </a:cubicBezTo>
                  <a:cubicBezTo>
                    <a:pt x="0" y="212"/>
                    <a:pt x="298" y="0"/>
                    <a:pt x="298" y="0"/>
                  </a:cubicBezTo>
                  <a:cubicBezTo>
                    <a:pt x="299" y="0"/>
                    <a:pt x="299" y="0"/>
                    <a:pt x="299" y="0"/>
                  </a:cubicBezTo>
                  <a:cubicBezTo>
                    <a:pt x="299" y="0"/>
                    <a:pt x="596" y="212"/>
                    <a:pt x="575" y="513"/>
                  </a:cubicBezTo>
                  <a:cubicBezTo>
                    <a:pt x="575" y="513"/>
                    <a:pt x="566" y="824"/>
                    <a:pt x="437" y="1092"/>
                  </a:cubicBezTo>
                  <a:lnTo>
                    <a:pt x="298" y="1092"/>
                  </a:lnTo>
                  <a:close/>
                </a:path>
              </a:pathLst>
            </a:custGeom>
            <a:solidFill>
              <a:srgbClr val="EB694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24" name="Oval 113">
              <a:extLst>
                <a:ext uri="{FF2B5EF4-FFF2-40B4-BE49-F238E27FC236}">
                  <a16:creationId xmlns:a16="http://schemas.microsoft.com/office/drawing/2014/main" id="{978891CA-4F25-4512-BA4F-5E125BD7C0A6}"/>
                </a:ext>
              </a:extLst>
            </p:cNvPr>
            <p:cNvSpPr>
              <a:spLocks noChangeArrowheads="1"/>
            </p:cNvSpPr>
            <p:nvPr/>
          </p:nvSpPr>
          <p:spPr bwMode="auto">
            <a:xfrm rot="2700000">
              <a:off x="6568043" y="2481147"/>
              <a:ext cx="117123" cy="114085"/>
            </a:xfrm>
            <a:prstGeom prst="ellipse">
              <a:avLst/>
            </a:prstGeom>
            <a:solidFill>
              <a:schemeClr val="bg1">
                <a:alpha val="77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25" name="Oval 116">
              <a:extLst>
                <a:ext uri="{FF2B5EF4-FFF2-40B4-BE49-F238E27FC236}">
                  <a16:creationId xmlns:a16="http://schemas.microsoft.com/office/drawing/2014/main" id="{EF8174CD-5C71-48EA-AC69-187E644F11EC}"/>
                </a:ext>
              </a:extLst>
            </p:cNvPr>
            <p:cNvSpPr>
              <a:spLocks noChangeArrowheads="1"/>
            </p:cNvSpPr>
            <p:nvPr/>
          </p:nvSpPr>
          <p:spPr bwMode="auto">
            <a:xfrm rot="2700000">
              <a:off x="6500229" y="2593093"/>
              <a:ext cx="70303" cy="72640"/>
            </a:xfrm>
            <a:prstGeom prst="ellipse">
              <a:avLst/>
            </a:prstGeom>
            <a:solidFill>
              <a:schemeClr val="bg1">
                <a:alpha val="77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26" name="Oval 119">
              <a:extLst>
                <a:ext uri="{FF2B5EF4-FFF2-40B4-BE49-F238E27FC236}">
                  <a16:creationId xmlns:a16="http://schemas.microsoft.com/office/drawing/2014/main" id="{C96F944F-7A46-4756-BBCF-8609EBF98122}"/>
                </a:ext>
              </a:extLst>
            </p:cNvPr>
            <p:cNvSpPr>
              <a:spLocks noChangeArrowheads="1"/>
            </p:cNvSpPr>
            <p:nvPr/>
          </p:nvSpPr>
          <p:spPr bwMode="auto">
            <a:xfrm rot="2700000">
              <a:off x="6447912" y="2674106"/>
              <a:ext cx="43239" cy="42313"/>
            </a:xfrm>
            <a:prstGeom prst="ellipse">
              <a:avLst/>
            </a:prstGeom>
            <a:solidFill>
              <a:schemeClr val="bg1">
                <a:alpha val="77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27" name="淘宝网Chenying0907出品 27">
              <a:extLst>
                <a:ext uri="{FF2B5EF4-FFF2-40B4-BE49-F238E27FC236}">
                  <a16:creationId xmlns:a16="http://schemas.microsoft.com/office/drawing/2014/main" id="{07E62459-3BB5-46CE-B434-0AE927442C21}"/>
                </a:ext>
              </a:extLst>
            </p:cNvPr>
            <p:cNvSpPr/>
            <p:nvPr/>
          </p:nvSpPr>
          <p:spPr>
            <a:xfrm rot="2700000">
              <a:off x="6301683" y="2797997"/>
              <a:ext cx="71523" cy="43830"/>
            </a:xfrm>
            <a:prstGeom prst="rect">
              <a:avLst/>
            </a:prstGeom>
            <a:solidFill>
              <a:srgbClr val="EB6949">
                <a:alpha val="73000"/>
              </a:srgbClr>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grpSp>
      <p:sp>
        <p:nvSpPr>
          <p:cNvPr id="34" name="淘宝网Chenying0907出品 50">
            <a:extLst>
              <a:ext uri="{FF2B5EF4-FFF2-40B4-BE49-F238E27FC236}">
                <a16:creationId xmlns:a16="http://schemas.microsoft.com/office/drawing/2014/main" id="{AEC8A696-93BE-4D04-9EFC-C7523FEBFDCE}"/>
              </a:ext>
            </a:extLst>
          </p:cNvPr>
          <p:cNvSpPr>
            <a:spLocks noEditPoints="1"/>
          </p:cNvSpPr>
          <p:nvPr/>
        </p:nvSpPr>
        <p:spPr bwMode="auto">
          <a:xfrm>
            <a:off x="1495876" y="5960304"/>
            <a:ext cx="261823" cy="329775"/>
          </a:xfrm>
          <a:custGeom>
            <a:avLst/>
            <a:gdLst/>
            <a:ahLst/>
            <a:cxnLst>
              <a:cxn ang="0">
                <a:pos x="187" y="135"/>
              </a:cxn>
              <a:cxn ang="0">
                <a:pos x="44" y="135"/>
              </a:cxn>
              <a:cxn ang="0">
                <a:pos x="44" y="156"/>
              </a:cxn>
              <a:cxn ang="0">
                <a:pos x="187" y="156"/>
              </a:cxn>
              <a:cxn ang="0">
                <a:pos x="187" y="135"/>
              </a:cxn>
              <a:cxn ang="0">
                <a:pos x="187" y="95"/>
              </a:cxn>
              <a:cxn ang="0">
                <a:pos x="44" y="95"/>
              </a:cxn>
              <a:cxn ang="0">
                <a:pos x="44" y="115"/>
              </a:cxn>
              <a:cxn ang="0">
                <a:pos x="187" y="115"/>
              </a:cxn>
              <a:cxn ang="0">
                <a:pos x="187" y="95"/>
              </a:cxn>
              <a:cxn ang="0">
                <a:pos x="187" y="54"/>
              </a:cxn>
              <a:cxn ang="0">
                <a:pos x="44" y="54"/>
              </a:cxn>
              <a:cxn ang="0">
                <a:pos x="44" y="75"/>
              </a:cxn>
              <a:cxn ang="0">
                <a:pos x="187" y="75"/>
              </a:cxn>
              <a:cxn ang="0">
                <a:pos x="187" y="54"/>
              </a:cxn>
              <a:cxn ang="0">
                <a:pos x="44" y="196"/>
              </a:cxn>
              <a:cxn ang="0">
                <a:pos x="116" y="196"/>
              </a:cxn>
              <a:cxn ang="0">
                <a:pos x="116" y="176"/>
              </a:cxn>
              <a:cxn ang="0">
                <a:pos x="44" y="176"/>
              </a:cxn>
              <a:cxn ang="0">
                <a:pos x="44" y="196"/>
              </a:cxn>
              <a:cxn ang="0">
                <a:pos x="233" y="29"/>
              </a:cxn>
              <a:cxn ang="0">
                <a:pos x="233" y="0"/>
              </a:cxn>
              <a:cxn ang="0">
                <a:pos x="0" y="0"/>
              </a:cxn>
              <a:cxn ang="0">
                <a:pos x="0" y="301"/>
              </a:cxn>
              <a:cxn ang="0">
                <a:pos x="29" y="301"/>
              </a:cxn>
              <a:cxn ang="0">
                <a:pos x="29" y="330"/>
              </a:cxn>
              <a:cxn ang="0">
                <a:pos x="262" y="330"/>
              </a:cxn>
              <a:cxn ang="0">
                <a:pos x="262" y="29"/>
              </a:cxn>
              <a:cxn ang="0">
                <a:pos x="233" y="29"/>
              </a:cxn>
              <a:cxn ang="0">
                <a:pos x="15" y="286"/>
              </a:cxn>
              <a:cxn ang="0">
                <a:pos x="15" y="16"/>
              </a:cxn>
              <a:cxn ang="0">
                <a:pos x="216" y="16"/>
              </a:cxn>
              <a:cxn ang="0">
                <a:pos x="216" y="216"/>
              </a:cxn>
              <a:cxn ang="0">
                <a:pos x="148" y="216"/>
              </a:cxn>
              <a:cxn ang="0">
                <a:pos x="148" y="286"/>
              </a:cxn>
              <a:cxn ang="0">
                <a:pos x="15" y="286"/>
              </a:cxn>
              <a:cxn ang="0">
                <a:pos x="245" y="315"/>
              </a:cxn>
              <a:cxn ang="0">
                <a:pos x="44" y="315"/>
              </a:cxn>
              <a:cxn ang="0">
                <a:pos x="44" y="301"/>
              </a:cxn>
              <a:cxn ang="0">
                <a:pos x="155" y="301"/>
              </a:cxn>
              <a:cxn ang="0">
                <a:pos x="233" y="225"/>
              </a:cxn>
              <a:cxn ang="0">
                <a:pos x="233" y="45"/>
              </a:cxn>
              <a:cxn ang="0">
                <a:pos x="245" y="45"/>
              </a:cxn>
              <a:cxn ang="0">
                <a:pos x="245" y="315"/>
              </a:cxn>
            </a:cxnLst>
            <a:rect l="0" t="0" r="r" b="b"/>
            <a:pathLst>
              <a:path w="262" h="330">
                <a:moveTo>
                  <a:pt x="187" y="135"/>
                </a:moveTo>
                <a:lnTo>
                  <a:pt x="44" y="135"/>
                </a:lnTo>
                <a:lnTo>
                  <a:pt x="44" y="156"/>
                </a:lnTo>
                <a:lnTo>
                  <a:pt x="187" y="156"/>
                </a:lnTo>
                <a:lnTo>
                  <a:pt x="187" y="135"/>
                </a:lnTo>
                <a:close/>
                <a:moveTo>
                  <a:pt x="187" y="95"/>
                </a:moveTo>
                <a:lnTo>
                  <a:pt x="44" y="95"/>
                </a:lnTo>
                <a:lnTo>
                  <a:pt x="44" y="115"/>
                </a:lnTo>
                <a:lnTo>
                  <a:pt x="187" y="115"/>
                </a:lnTo>
                <a:lnTo>
                  <a:pt x="187" y="95"/>
                </a:lnTo>
                <a:close/>
                <a:moveTo>
                  <a:pt x="187" y="54"/>
                </a:moveTo>
                <a:lnTo>
                  <a:pt x="44" y="54"/>
                </a:lnTo>
                <a:lnTo>
                  <a:pt x="44" y="75"/>
                </a:lnTo>
                <a:lnTo>
                  <a:pt x="187" y="75"/>
                </a:lnTo>
                <a:lnTo>
                  <a:pt x="187" y="54"/>
                </a:lnTo>
                <a:close/>
                <a:moveTo>
                  <a:pt x="44" y="196"/>
                </a:moveTo>
                <a:lnTo>
                  <a:pt x="116" y="196"/>
                </a:lnTo>
                <a:lnTo>
                  <a:pt x="116" y="176"/>
                </a:lnTo>
                <a:lnTo>
                  <a:pt x="44" y="176"/>
                </a:lnTo>
                <a:lnTo>
                  <a:pt x="44" y="196"/>
                </a:lnTo>
                <a:close/>
                <a:moveTo>
                  <a:pt x="233" y="29"/>
                </a:moveTo>
                <a:lnTo>
                  <a:pt x="233" y="0"/>
                </a:lnTo>
                <a:lnTo>
                  <a:pt x="0" y="0"/>
                </a:lnTo>
                <a:lnTo>
                  <a:pt x="0" y="301"/>
                </a:lnTo>
                <a:lnTo>
                  <a:pt x="29" y="301"/>
                </a:lnTo>
                <a:lnTo>
                  <a:pt x="29" y="330"/>
                </a:lnTo>
                <a:lnTo>
                  <a:pt x="262" y="330"/>
                </a:lnTo>
                <a:lnTo>
                  <a:pt x="262" y="29"/>
                </a:lnTo>
                <a:lnTo>
                  <a:pt x="233" y="29"/>
                </a:lnTo>
                <a:close/>
                <a:moveTo>
                  <a:pt x="15" y="286"/>
                </a:moveTo>
                <a:lnTo>
                  <a:pt x="15" y="16"/>
                </a:lnTo>
                <a:lnTo>
                  <a:pt x="216" y="16"/>
                </a:lnTo>
                <a:lnTo>
                  <a:pt x="216" y="216"/>
                </a:lnTo>
                <a:lnTo>
                  <a:pt x="148" y="216"/>
                </a:lnTo>
                <a:lnTo>
                  <a:pt x="148" y="286"/>
                </a:lnTo>
                <a:lnTo>
                  <a:pt x="15" y="286"/>
                </a:lnTo>
                <a:close/>
                <a:moveTo>
                  <a:pt x="245" y="315"/>
                </a:moveTo>
                <a:lnTo>
                  <a:pt x="44" y="315"/>
                </a:lnTo>
                <a:lnTo>
                  <a:pt x="44" y="301"/>
                </a:lnTo>
                <a:lnTo>
                  <a:pt x="155" y="301"/>
                </a:lnTo>
                <a:lnTo>
                  <a:pt x="233" y="225"/>
                </a:lnTo>
                <a:lnTo>
                  <a:pt x="233" y="45"/>
                </a:lnTo>
                <a:lnTo>
                  <a:pt x="245" y="45"/>
                </a:lnTo>
                <a:lnTo>
                  <a:pt x="245" y="315"/>
                </a:lnTo>
                <a:close/>
              </a:path>
            </a:pathLst>
          </a:custGeom>
          <a:solidFill>
            <a:schemeClr val="accent3">
              <a:lumMod val="50000"/>
            </a:schemeClr>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000000"/>
              </a:solidFill>
              <a:effectLst/>
              <a:uLnTx/>
              <a:uFillTx/>
              <a:latin typeface="Arial"/>
              <a:cs typeface="+mn-cs"/>
            </a:endParaRPr>
          </a:p>
        </p:txBody>
      </p:sp>
      <p:sp>
        <p:nvSpPr>
          <p:cNvPr id="35" name="淘宝网Chenying0907出品 48">
            <a:extLst>
              <a:ext uri="{FF2B5EF4-FFF2-40B4-BE49-F238E27FC236}">
                <a16:creationId xmlns:a16="http://schemas.microsoft.com/office/drawing/2014/main" id="{1C9C0D2C-7517-4ADF-8683-5894CDA519EB}"/>
              </a:ext>
            </a:extLst>
          </p:cNvPr>
          <p:cNvSpPr>
            <a:spLocks noEditPoints="1"/>
          </p:cNvSpPr>
          <p:nvPr/>
        </p:nvSpPr>
        <p:spPr bwMode="auto">
          <a:xfrm>
            <a:off x="3469802" y="3246324"/>
            <a:ext cx="242125" cy="35428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accent3">
              <a:lumMod val="50000"/>
            </a:schemeClr>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000000"/>
              </a:solidFill>
              <a:effectLst/>
              <a:uLnTx/>
              <a:uFillTx/>
              <a:latin typeface="Arial"/>
              <a:cs typeface="+mn-cs"/>
            </a:endParaRPr>
          </a:p>
        </p:txBody>
      </p:sp>
      <p:sp>
        <p:nvSpPr>
          <p:cNvPr id="41" name="TextBox 41">
            <a:extLst>
              <a:ext uri="{FF2B5EF4-FFF2-40B4-BE49-F238E27FC236}">
                <a16:creationId xmlns:a16="http://schemas.microsoft.com/office/drawing/2014/main" id="{14AA6517-4015-4296-B026-75AF8A4300ED}"/>
              </a:ext>
            </a:extLst>
          </p:cNvPr>
          <p:cNvSpPr txBox="1"/>
          <p:nvPr/>
        </p:nvSpPr>
        <p:spPr>
          <a:xfrm>
            <a:off x="2549487" y="3235890"/>
            <a:ext cx="1613932" cy="1200329"/>
          </a:xfrm>
          <a:prstGeom prst="rect">
            <a:avLst/>
          </a:prstGeom>
          <a:noFill/>
        </p:spPr>
        <p:txBody>
          <a:bodyPr wrap="square">
            <a:spAutoFit/>
          </a:bodyPr>
          <a:lstStyle>
            <a:defPPr>
              <a:defRPr lang="zh-CN"/>
            </a:defPPr>
            <a:lvl1pPr>
              <a:defRPr>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Paul </a:t>
            </a: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Moakapetris</a:t>
            </a:r>
            <a:r>
              <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完成域名系統</a:t>
            </a:r>
            <a:r>
              <a:rPr kumimoji="0" lang="zh-CN"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初步設計</a:t>
            </a:r>
            <a:endPar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2" name="TextBox 42">
            <a:extLst>
              <a:ext uri="{FF2B5EF4-FFF2-40B4-BE49-F238E27FC236}">
                <a16:creationId xmlns:a16="http://schemas.microsoft.com/office/drawing/2014/main" id="{4CC690C3-B370-4B30-9A01-A8072D439DBA}"/>
              </a:ext>
            </a:extLst>
          </p:cNvPr>
          <p:cNvSpPr txBox="1"/>
          <p:nvPr/>
        </p:nvSpPr>
        <p:spPr>
          <a:xfrm>
            <a:off x="4497569" y="4169326"/>
            <a:ext cx="1731210" cy="1200329"/>
          </a:xfrm>
          <a:prstGeom prst="rect">
            <a:avLst/>
          </a:prstGeom>
          <a:noFill/>
        </p:spPr>
        <p:txBody>
          <a:bodyPr wrap="square">
            <a:spAutoFit/>
          </a:bodyPr>
          <a:lstStyle>
            <a:defPPr>
              <a:defRPr lang="zh-CN"/>
            </a:defPPr>
            <a:lvl1pPr>
              <a:defRPr>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系統</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不斷擴展</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ICANN</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引入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13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個新型通用頂級域</a:t>
            </a:r>
          </a:p>
        </p:txBody>
      </p:sp>
      <p:pic>
        <p:nvPicPr>
          <p:cNvPr id="50" name="淘宝网Chenying0907出品 2" descr="C:\Users\Administrator\Desktop\微立体创业计划\001.png">
            <a:extLst>
              <a:ext uri="{FF2B5EF4-FFF2-40B4-BE49-F238E27FC236}">
                <a16:creationId xmlns:a16="http://schemas.microsoft.com/office/drawing/2014/main" id="{A7BB884F-325B-4132-8B71-B7CD6E89FE8C}"/>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3000"/>
                    </a14:imgEffect>
                  </a14:imgLayer>
                </a14:imgProps>
              </a:ext>
              <a:ext uri="{28A0092B-C50C-407E-A947-70E740481C1C}">
                <a14:useLocalDpi xmlns:a14="http://schemas.microsoft.com/office/drawing/2010/main" val="0"/>
              </a:ext>
            </a:extLst>
          </a:blip>
          <a:srcRect/>
          <a:stretch>
            <a:fillRect/>
          </a:stretch>
        </p:blipFill>
        <p:spPr bwMode="auto">
          <a:xfrm>
            <a:off x="10191593" y="2452153"/>
            <a:ext cx="1375510" cy="1375509"/>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51" name="淘宝网Chenying0907出品 3" descr="C:\Users\Administrator\Desktop\微立体创业计划\002.png">
            <a:extLst>
              <a:ext uri="{FF2B5EF4-FFF2-40B4-BE49-F238E27FC236}">
                <a16:creationId xmlns:a16="http://schemas.microsoft.com/office/drawing/2014/main" id="{7E7AAC68-B2FC-41E1-8109-3CF9AE262B9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335872" y="2375538"/>
            <a:ext cx="1630578" cy="1630578"/>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sp>
        <p:nvSpPr>
          <p:cNvPr id="54" name="文本框 53">
            <a:extLst>
              <a:ext uri="{FF2B5EF4-FFF2-40B4-BE49-F238E27FC236}">
                <a16:creationId xmlns:a16="http://schemas.microsoft.com/office/drawing/2014/main" id="{C7DEFD15-A1B0-42E5-954A-5B8AFAE3325B}"/>
              </a:ext>
            </a:extLst>
          </p:cNvPr>
          <p:cNvSpPr txBox="1"/>
          <p:nvPr/>
        </p:nvSpPr>
        <p:spPr>
          <a:xfrm>
            <a:off x="1723527" y="5629068"/>
            <a:ext cx="1915874"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通過</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host.txt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文件記錄</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地址與域名的映射</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62" name="TextBox 42">
            <a:extLst>
              <a:ext uri="{FF2B5EF4-FFF2-40B4-BE49-F238E27FC236}">
                <a16:creationId xmlns:a16="http://schemas.microsoft.com/office/drawing/2014/main" id="{41B22CB3-4F48-4D17-A7BB-36C83AE03547}"/>
              </a:ext>
            </a:extLst>
          </p:cNvPr>
          <p:cNvSpPr txBox="1"/>
          <p:nvPr/>
        </p:nvSpPr>
        <p:spPr>
          <a:xfrm>
            <a:off x="6242139" y="2978640"/>
            <a:ext cx="1471802" cy="646331"/>
          </a:xfrm>
          <a:prstGeom prst="rect">
            <a:avLst/>
          </a:prstGeom>
          <a:noFill/>
        </p:spPr>
        <p:txBody>
          <a:bodyPr wrap="square">
            <a:spAutoFit/>
          </a:bodyPr>
          <a:lstStyle>
            <a:defPPr>
              <a:defRPr lang="zh-CN"/>
            </a:defPPr>
            <a:lvl1pPr>
              <a:defRPr>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逐步支持</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國際化域名</a:t>
            </a:r>
          </a:p>
        </p:txBody>
      </p:sp>
      <p:grpSp>
        <p:nvGrpSpPr>
          <p:cNvPr id="64" name="淘宝网Chenying0907出品 49">
            <a:extLst>
              <a:ext uri="{FF2B5EF4-FFF2-40B4-BE49-F238E27FC236}">
                <a16:creationId xmlns:a16="http://schemas.microsoft.com/office/drawing/2014/main" id="{91C6D99F-C205-431B-B077-F76A173A4E3D}"/>
              </a:ext>
            </a:extLst>
          </p:cNvPr>
          <p:cNvGrpSpPr/>
          <p:nvPr/>
        </p:nvGrpSpPr>
        <p:grpSpPr>
          <a:xfrm>
            <a:off x="8584317" y="4128177"/>
            <a:ext cx="1077642" cy="1385911"/>
            <a:chOff x="7605650" y="2874170"/>
            <a:chExt cx="1077642" cy="1385911"/>
          </a:xfrm>
          <a:solidFill>
            <a:srgbClr val="00B0F0"/>
          </a:solidFill>
        </p:grpSpPr>
        <p:sp>
          <p:nvSpPr>
            <p:cNvPr id="65" name="淘宝网Chenying0907出品 34">
              <a:extLst>
                <a:ext uri="{FF2B5EF4-FFF2-40B4-BE49-F238E27FC236}">
                  <a16:creationId xmlns:a16="http://schemas.microsoft.com/office/drawing/2014/main" id="{D1E923D1-B553-4FF3-97E7-74246540B679}"/>
                </a:ext>
              </a:extLst>
            </p:cNvPr>
            <p:cNvSpPr/>
            <p:nvPr/>
          </p:nvSpPr>
          <p:spPr>
            <a:xfrm rot="312616">
              <a:off x="7605650" y="2874170"/>
              <a:ext cx="1077642" cy="1385911"/>
            </a:xfrm>
            <a:custGeom>
              <a:avLst/>
              <a:gdLst/>
              <a:ahLst/>
              <a:cxnLst/>
              <a:rect l="l" t="t" r="r" b="b"/>
              <a:pathLst>
                <a:path w="1118836" h="1438889">
                  <a:moveTo>
                    <a:pt x="548270" y="0"/>
                  </a:moveTo>
                  <a:lnTo>
                    <a:pt x="721662" y="346785"/>
                  </a:lnTo>
                  <a:cubicBezTo>
                    <a:pt x="951885" y="413972"/>
                    <a:pt x="1118836" y="627225"/>
                    <a:pt x="1118836" y="879471"/>
                  </a:cubicBezTo>
                  <a:cubicBezTo>
                    <a:pt x="1118836" y="1188429"/>
                    <a:pt x="868376" y="1438889"/>
                    <a:pt x="559418" y="1438889"/>
                  </a:cubicBezTo>
                  <a:cubicBezTo>
                    <a:pt x="250460" y="1438889"/>
                    <a:pt x="0" y="1188429"/>
                    <a:pt x="0" y="879471"/>
                  </a:cubicBezTo>
                  <a:cubicBezTo>
                    <a:pt x="0" y="636984"/>
                    <a:pt x="154283" y="430531"/>
                    <a:pt x="370781" y="354978"/>
                  </a:cubicBezTo>
                  <a:close/>
                </a:path>
              </a:pathLst>
            </a:custGeom>
            <a:grp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66" name="淘宝网Chenying0907出品 48">
              <a:extLst>
                <a:ext uri="{FF2B5EF4-FFF2-40B4-BE49-F238E27FC236}">
                  <a16:creationId xmlns:a16="http://schemas.microsoft.com/office/drawing/2014/main" id="{229BD361-074A-4D3E-8DB2-DAC29154F6E7}"/>
                </a:ext>
              </a:extLst>
            </p:cNvPr>
            <p:cNvSpPr/>
            <p:nvPr/>
          </p:nvSpPr>
          <p:spPr>
            <a:xfrm rot="6300000">
              <a:off x="7660538" y="3227993"/>
              <a:ext cx="967866" cy="967866"/>
            </a:xfrm>
            <a:prstGeom prst="ellipse">
              <a:avLst/>
            </a:prstGeom>
            <a:grp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grpSp>
      <p:grpSp>
        <p:nvGrpSpPr>
          <p:cNvPr id="67" name="淘宝网Chenying0907出品 44">
            <a:extLst>
              <a:ext uri="{FF2B5EF4-FFF2-40B4-BE49-F238E27FC236}">
                <a16:creationId xmlns:a16="http://schemas.microsoft.com/office/drawing/2014/main" id="{6A2F1D8D-BA20-4D9A-BE20-69BAAA8C3B16}"/>
              </a:ext>
            </a:extLst>
          </p:cNvPr>
          <p:cNvGrpSpPr/>
          <p:nvPr/>
        </p:nvGrpSpPr>
        <p:grpSpPr>
          <a:xfrm>
            <a:off x="4370264" y="2417903"/>
            <a:ext cx="1077642" cy="1385911"/>
            <a:chOff x="3102484" y="1163896"/>
            <a:chExt cx="1077642" cy="1385911"/>
          </a:xfrm>
          <a:solidFill>
            <a:srgbClr val="7E46A9"/>
          </a:solidFill>
        </p:grpSpPr>
        <p:sp>
          <p:nvSpPr>
            <p:cNvPr id="68" name="淘宝网Chenying0907出品 34">
              <a:extLst>
                <a:ext uri="{FF2B5EF4-FFF2-40B4-BE49-F238E27FC236}">
                  <a16:creationId xmlns:a16="http://schemas.microsoft.com/office/drawing/2014/main" id="{6269EC34-DEB9-4DE7-9FCB-065006C1D95D}"/>
                </a:ext>
              </a:extLst>
            </p:cNvPr>
            <p:cNvSpPr/>
            <p:nvPr/>
          </p:nvSpPr>
          <p:spPr>
            <a:xfrm rot="10094606">
              <a:off x="3102484" y="1163896"/>
              <a:ext cx="1077642" cy="1385911"/>
            </a:xfrm>
            <a:custGeom>
              <a:avLst/>
              <a:gdLst/>
              <a:ahLst/>
              <a:cxnLst/>
              <a:rect l="l" t="t" r="r" b="b"/>
              <a:pathLst>
                <a:path w="1118836" h="1438889">
                  <a:moveTo>
                    <a:pt x="548270" y="0"/>
                  </a:moveTo>
                  <a:lnTo>
                    <a:pt x="721662" y="346785"/>
                  </a:lnTo>
                  <a:cubicBezTo>
                    <a:pt x="951885" y="413972"/>
                    <a:pt x="1118836" y="627225"/>
                    <a:pt x="1118836" y="879471"/>
                  </a:cubicBezTo>
                  <a:cubicBezTo>
                    <a:pt x="1118836" y="1188429"/>
                    <a:pt x="868376" y="1438889"/>
                    <a:pt x="559418" y="1438889"/>
                  </a:cubicBezTo>
                  <a:cubicBezTo>
                    <a:pt x="250460" y="1438889"/>
                    <a:pt x="0" y="1188429"/>
                    <a:pt x="0" y="879471"/>
                  </a:cubicBezTo>
                  <a:cubicBezTo>
                    <a:pt x="0" y="636984"/>
                    <a:pt x="154283" y="430531"/>
                    <a:pt x="370781" y="354978"/>
                  </a:cubicBezTo>
                  <a:close/>
                </a:path>
              </a:pathLst>
            </a:custGeom>
            <a:solidFill>
              <a:srgbClr val="00B0F0"/>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69" name="淘宝网Chenying0907出品 42">
              <a:extLst>
                <a:ext uri="{FF2B5EF4-FFF2-40B4-BE49-F238E27FC236}">
                  <a16:creationId xmlns:a16="http://schemas.microsoft.com/office/drawing/2014/main" id="{97F5EB57-902D-416F-ADF8-2DB5FAAA8725}"/>
                </a:ext>
              </a:extLst>
            </p:cNvPr>
            <p:cNvSpPr/>
            <p:nvPr/>
          </p:nvSpPr>
          <p:spPr>
            <a:xfrm rot="16200000">
              <a:off x="3123442" y="1198146"/>
              <a:ext cx="967866" cy="967866"/>
            </a:xfrm>
            <a:prstGeom prst="ellipse">
              <a:avLst/>
            </a:prstGeom>
            <a:solidFill>
              <a:srgbClr val="00B0F0"/>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grpSp>
      <p:grpSp>
        <p:nvGrpSpPr>
          <p:cNvPr id="70" name="淘宝网Chenying0907出品 43">
            <a:extLst>
              <a:ext uri="{FF2B5EF4-FFF2-40B4-BE49-F238E27FC236}">
                <a16:creationId xmlns:a16="http://schemas.microsoft.com/office/drawing/2014/main" id="{1736A3B7-3133-4DF2-8516-76AA5D090CDB}"/>
              </a:ext>
            </a:extLst>
          </p:cNvPr>
          <p:cNvGrpSpPr/>
          <p:nvPr/>
        </p:nvGrpSpPr>
        <p:grpSpPr>
          <a:xfrm>
            <a:off x="3386050" y="4589029"/>
            <a:ext cx="1101413" cy="1385911"/>
            <a:chOff x="2407383" y="3335022"/>
            <a:chExt cx="1101413" cy="1385911"/>
          </a:xfrm>
          <a:solidFill>
            <a:srgbClr val="7E46A9"/>
          </a:solidFill>
        </p:grpSpPr>
        <p:sp>
          <p:nvSpPr>
            <p:cNvPr id="71" name="淘宝网Chenying0907出品 34">
              <a:extLst>
                <a:ext uri="{FF2B5EF4-FFF2-40B4-BE49-F238E27FC236}">
                  <a16:creationId xmlns:a16="http://schemas.microsoft.com/office/drawing/2014/main" id="{696BA1D0-1B58-42C9-B10E-0DFBEDEBD0E4}"/>
                </a:ext>
              </a:extLst>
            </p:cNvPr>
            <p:cNvSpPr/>
            <p:nvPr/>
          </p:nvSpPr>
          <p:spPr>
            <a:xfrm rot="19800000">
              <a:off x="2407383" y="3335022"/>
              <a:ext cx="1077642" cy="1385911"/>
            </a:xfrm>
            <a:custGeom>
              <a:avLst/>
              <a:gdLst/>
              <a:ahLst/>
              <a:cxnLst/>
              <a:rect l="l" t="t" r="r" b="b"/>
              <a:pathLst>
                <a:path w="1118836" h="1438889">
                  <a:moveTo>
                    <a:pt x="548270" y="0"/>
                  </a:moveTo>
                  <a:lnTo>
                    <a:pt x="721662" y="346785"/>
                  </a:lnTo>
                  <a:cubicBezTo>
                    <a:pt x="951885" y="413972"/>
                    <a:pt x="1118836" y="627225"/>
                    <a:pt x="1118836" y="879471"/>
                  </a:cubicBezTo>
                  <a:cubicBezTo>
                    <a:pt x="1118836" y="1188429"/>
                    <a:pt x="868376" y="1438889"/>
                    <a:pt x="559418" y="1438889"/>
                  </a:cubicBezTo>
                  <a:cubicBezTo>
                    <a:pt x="250460" y="1438889"/>
                    <a:pt x="0" y="1188429"/>
                    <a:pt x="0" y="879471"/>
                  </a:cubicBezTo>
                  <a:cubicBezTo>
                    <a:pt x="0" y="636984"/>
                    <a:pt x="154283" y="430531"/>
                    <a:pt x="370781" y="354978"/>
                  </a:cubicBezTo>
                  <a:close/>
                </a:path>
              </a:pathLst>
            </a:custGeom>
            <a:solidFill>
              <a:srgbClr val="00B0F0"/>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72" name="淘宝网Chenying0907出品 41">
              <a:extLst>
                <a:ext uri="{FF2B5EF4-FFF2-40B4-BE49-F238E27FC236}">
                  <a16:creationId xmlns:a16="http://schemas.microsoft.com/office/drawing/2014/main" id="{A33159E2-274D-462A-B721-968B92625A03}"/>
                </a:ext>
              </a:extLst>
            </p:cNvPr>
            <p:cNvSpPr/>
            <p:nvPr/>
          </p:nvSpPr>
          <p:spPr>
            <a:xfrm rot="3600000">
              <a:off x="2540930" y="3679354"/>
              <a:ext cx="967866" cy="967866"/>
            </a:xfrm>
            <a:prstGeom prst="ellipse">
              <a:avLst/>
            </a:prstGeom>
            <a:solidFill>
              <a:srgbClr val="00B0F0"/>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grpSp>
      <p:grpSp>
        <p:nvGrpSpPr>
          <p:cNvPr id="73" name="淘宝网Chenying0907出品 11">
            <a:extLst>
              <a:ext uri="{FF2B5EF4-FFF2-40B4-BE49-F238E27FC236}">
                <a16:creationId xmlns:a16="http://schemas.microsoft.com/office/drawing/2014/main" id="{8C3F619E-70FC-4A55-BEA3-79D614F03787}"/>
              </a:ext>
            </a:extLst>
          </p:cNvPr>
          <p:cNvGrpSpPr/>
          <p:nvPr/>
        </p:nvGrpSpPr>
        <p:grpSpPr>
          <a:xfrm rot="10102117">
            <a:off x="1336210" y="3843213"/>
            <a:ext cx="1061672" cy="1379360"/>
            <a:chOff x="4020870" y="2194485"/>
            <a:chExt cx="1102258" cy="1432090"/>
          </a:xfrm>
          <a:effectLst>
            <a:outerShdw blurRad="444500" dist="254000" dir="8100000" algn="tr" rotWithShape="0">
              <a:prstClr val="black">
                <a:alpha val="50000"/>
              </a:prstClr>
            </a:outerShdw>
          </a:effectLst>
        </p:grpSpPr>
        <p:sp>
          <p:nvSpPr>
            <p:cNvPr id="74" name="等腰三角形 43">
              <a:extLst>
                <a:ext uri="{FF2B5EF4-FFF2-40B4-BE49-F238E27FC236}">
                  <a16:creationId xmlns:a16="http://schemas.microsoft.com/office/drawing/2014/main" id="{E9D99CD9-6662-4B1A-9A82-E791B6421F7B}"/>
                </a:ext>
              </a:extLst>
            </p:cNvPr>
            <p:cNvSpPr/>
            <p:nvPr/>
          </p:nvSpPr>
          <p:spPr>
            <a:xfrm>
              <a:off x="4020870" y="2194485"/>
              <a:ext cx="1102258" cy="1432090"/>
            </a:xfrm>
            <a:custGeom>
              <a:avLst/>
              <a:gdLst/>
              <a:ahLst/>
              <a:cxnLst/>
              <a:rect l="l" t="t" r="r" b="b"/>
              <a:pathLst>
                <a:path w="1102258" h="1432090">
                  <a:moveTo>
                    <a:pt x="761620" y="431870"/>
                  </a:moveTo>
                  <a:lnTo>
                    <a:pt x="856659" y="621949"/>
                  </a:lnTo>
                  <a:lnTo>
                    <a:pt x="234710" y="621949"/>
                  </a:lnTo>
                  <a:lnTo>
                    <a:pt x="325695" y="439980"/>
                  </a:lnTo>
                  <a:cubicBezTo>
                    <a:pt x="163858" y="520416"/>
                    <a:pt x="53779" y="687834"/>
                    <a:pt x="53779" y="880961"/>
                  </a:cubicBezTo>
                  <a:cubicBezTo>
                    <a:pt x="53779" y="1155639"/>
                    <a:pt x="276450" y="1378310"/>
                    <a:pt x="551128" y="1378310"/>
                  </a:cubicBezTo>
                  <a:cubicBezTo>
                    <a:pt x="825806" y="1378310"/>
                    <a:pt x="1048477" y="1155639"/>
                    <a:pt x="1048477" y="880961"/>
                  </a:cubicBezTo>
                  <a:cubicBezTo>
                    <a:pt x="1048477" y="681767"/>
                    <a:pt x="931374" y="509923"/>
                    <a:pt x="761620" y="431870"/>
                  </a:cubicBezTo>
                  <a:close/>
                  <a:moveTo>
                    <a:pt x="545685" y="0"/>
                  </a:moveTo>
                  <a:lnTo>
                    <a:pt x="726120" y="360871"/>
                  </a:lnTo>
                  <a:cubicBezTo>
                    <a:pt x="945108" y="431845"/>
                    <a:pt x="1102258" y="638051"/>
                    <a:pt x="1102258" y="880961"/>
                  </a:cubicBezTo>
                  <a:cubicBezTo>
                    <a:pt x="1102258" y="1185341"/>
                    <a:pt x="855509" y="1432090"/>
                    <a:pt x="551129" y="1432090"/>
                  </a:cubicBezTo>
                  <a:cubicBezTo>
                    <a:pt x="246749" y="1432090"/>
                    <a:pt x="0" y="1185341"/>
                    <a:pt x="0" y="880961"/>
                  </a:cubicBezTo>
                  <a:cubicBezTo>
                    <a:pt x="0" y="642821"/>
                    <a:pt x="151038" y="439958"/>
                    <a:pt x="363249" y="364872"/>
                  </a:cubicBezTo>
                  <a:close/>
                </a:path>
              </a:pathLst>
            </a:custGeom>
            <a:gradFill>
              <a:gsLst>
                <a:gs pos="0">
                  <a:schemeClr val="bg1"/>
                </a:gs>
                <a:gs pos="55000">
                  <a:schemeClr val="bg1">
                    <a:lumMod val="95000"/>
                  </a:schemeClr>
                </a:gs>
                <a:gs pos="100000">
                  <a:schemeClr val="bg1">
                    <a:lumMod val="6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5" name="等腰三角形 42">
              <a:extLst>
                <a:ext uri="{FF2B5EF4-FFF2-40B4-BE49-F238E27FC236}">
                  <a16:creationId xmlns:a16="http://schemas.microsoft.com/office/drawing/2014/main" id="{802EAE6A-B7AA-4822-BD57-D2BB9FE4CB5A}"/>
                </a:ext>
              </a:extLst>
            </p:cNvPr>
            <p:cNvSpPr/>
            <p:nvPr/>
          </p:nvSpPr>
          <p:spPr>
            <a:xfrm>
              <a:off x="4044928" y="2251925"/>
              <a:ext cx="1054142" cy="1350592"/>
            </a:xfrm>
            <a:custGeom>
              <a:avLst/>
              <a:gdLst/>
              <a:ahLst/>
              <a:cxnLst/>
              <a:rect l="l" t="t" r="r" b="b"/>
              <a:pathLst>
                <a:path w="1054142" h="1350592">
                  <a:moveTo>
                    <a:pt x="521627" y="0"/>
                  </a:moveTo>
                  <a:lnTo>
                    <a:pt x="682907" y="322559"/>
                  </a:lnTo>
                  <a:cubicBezTo>
                    <a:pt x="898294" y="386795"/>
                    <a:pt x="1054142" y="586958"/>
                    <a:pt x="1054142" y="823521"/>
                  </a:cubicBezTo>
                  <a:cubicBezTo>
                    <a:pt x="1054142" y="1114614"/>
                    <a:pt x="818164" y="1350592"/>
                    <a:pt x="527071" y="1350592"/>
                  </a:cubicBezTo>
                  <a:cubicBezTo>
                    <a:pt x="235978" y="1350592"/>
                    <a:pt x="0" y="1114614"/>
                    <a:pt x="0" y="823521"/>
                  </a:cubicBezTo>
                  <a:cubicBezTo>
                    <a:pt x="0" y="591722"/>
                    <a:pt x="149634" y="394871"/>
                    <a:pt x="358347" y="326560"/>
                  </a:cubicBezTo>
                  <a:close/>
                </a:path>
              </a:pathLst>
            </a:custGeom>
            <a:gradFill>
              <a:gsLst>
                <a:gs pos="0">
                  <a:schemeClr val="bg1"/>
                </a:gs>
                <a:gs pos="43000">
                  <a:schemeClr val="bg1">
                    <a:lumMod val="95000"/>
                  </a:schemeClr>
                </a:gs>
                <a:gs pos="100000">
                  <a:schemeClr val="bg1">
                    <a:lumMod val="75000"/>
                  </a:schemeClr>
                </a:gs>
              </a:gsLst>
              <a:lin ang="14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grpSp>
      <p:grpSp>
        <p:nvGrpSpPr>
          <p:cNvPr id="76" name="淘宝网Chenying0907出品 15">
            <a:extLst>
              <a:ext uri="{FF2B5EF4-FFF2-40B4-BE49-F238E27FC236}">
                <a16:creationId xmlns:a16="http://schemas.microsoft.com/office/drawing/2014/main" id="{957F7021-C722-403A-A08B-1D12689A7E70}"/>
              </a:ext>
            </a:extLst>
          </p:cNvPr>
          <p:cNvGrpSpPr/>
          <p:nvPr/>
        </p:nvGrpSpPr>
        <p:grpSpPr>
          <a:xfrm rot="21194888">
            <a:off x="6367147" y="3848270"/>
            <a:ext cx="1061672" cy="1379360"/>
            <a:chOff x="4020870" y="2194485"/>
            <a:chExt cx="1102258" cy="1432090"/>
          </a:xfrm>
          <a:effectLst>
            <a:outerShdw blurRad="444500" dist="254000" dir="8100000" algn="tr" rotWithShape="0">
              <a:prstClr val="black">
                <a:alpha val="50000"/>
              </a:prstClr>
            </a:outerShdw>
          </a:effectLst>
        </p:grpSpPr>
        <p:sp>
          <p:nvSpPr>
            <p:cNvPr id="77" name="等腰三角形 43">
              <a:extLst>
                <a:ext uri="{FF2B5EF4-FFF2-40B4-BE49-F238E27FC236}">
                  <a16:creationId xmlns:a16="http://schemas.microsoft.com/office/drawing/2014/main" id="{E37CDFCF-92C4-41DD-94C0-34D6D47AA8FE}"/>
                </a:ext>
              </a:extLst>
            </p:cNvPr>
            <p:cNvSpPr/>
            <p:nvPr/>
          </p:nvSpPr>
          <p:spPr>
            <a:xfrm>
              <a:off x="4020870" y="2194485"/>
              <a:ext cx="1102258" cy="1432090"/>
            </a:xfrm>
            <a:custGeom>
              <a:avLst/>
              <a:gdLst/>
              <a:ahLst/>
              <a:cxnLst/>
              <a:rect l="l" t="t" r="r" b="b"/>
              <a:pathLst>
                <a:path w="1102258" h="1432090">
                  <a:moveTo>
                    <a:pt x="761620" y="431870"/>
                  </a:moveTo>
                  <a:lnTo>
                    <a:pt x="856659" y="621949"/>
                  </a:lnTo>
                  <a:lnTo>
                    <a:pt x="234710" y="621949"/>
                  </a:lnTo>
                  <a:lnTo>
                    <a:pt x="325695" y="439980"/>
                  </a:lnTo>
                  <a:cubicBezTo>
                    <a:pt x="163858" y="520416"/>
                    <a:pt x="53779" y="687834"/>
                    <a:pt x="53779" y="880961"/>
                  </a:cubicBezTo>
                  <a:cubicBezTo>
                    <a:pt x="53779" y="1155639"/>
                    <a:pt x="276450" y="1378310"/>
                    <a:pt x="551128" y="1378310"/>
                  </a:cubicBezTo>
                  <a:cubicBezTo>
                    <a:pt x="825806" y="1378310"/>
                    <a:pt x="1048477" y="1155639"/>
                    <a:pt x="1048477" y="880961"/>
                  </a:cubicBezTo>
                  <a:cubicBezTo>
                    <a:pt x="1048477" y="681767"/>
                    <a:pt x="931374" y="509923"/>
                    <a:pt x="761620" y="431870"/>
                  </a:cubicBezTo>
                  <a:close/>
                  <a:moveTo>
                    <a:pt x="545685" y="0"/>
                  </a:moveTo>
                  <a:lnTo>
                    <a:pt x="726120" y="360871"/>
                  </a:lnTo>
                  <a:cubicBezTo>
                    <a:pt x="945108" y="431845"/>
                    <a:pt x="1102258" y="638051"/>
                    <a:pt x="1102258" y="880961"/>
                  </a:cubicBezTo>
                  <a:cubicBezTo>
                    <a:pt x="1102258" y="1185341"/>
                    <a:pt x="855509" y="1432090"/>
                    <a:pt x="551129" y="1432090"/>
                  </a:cubicBezTo>
                  <a:cubicBezTo>
                    <a:pt x="246749" y="1432090"/>
                    <a:pt x="0" y="1185341"/>
                    <a:pt x="0" y="880961"/>
                  </a:cubicBezTo>
                  <a:cubicBezTo>
                    <a:pt x="0" y="642821"/>
                    <a:pt x="151038" y="439958"/>
                    <a:pt x="363249" y="364872"/>
                  </a:cubicBezTo>
                  <a:close/>
                </a:path>
              </a:pathLst>
            </a:custGeom>
            <a:gradFill>
              <a:gsLst>
                <a:gs pos="0">
                  <a:schemeClr val="bg1"/>
                </a:gs>
                <a:gs pos="55000">
                  <a:schemeClr val="bg1">
                    <a:lumMod val="95000"/>
                  </a:schemeClr>
                </a:gs>
                <a:gs pos="100000">
                  <a:schemeClr val="bg1">
                    <a:lumMod val="6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8" name="等腰三角形 42">
              <a:extLst>
                <a:ext uri="{FF2B5EF4-FFF2-40B4-BE49-F238E27FC236}">
                  <a16:creationId xmlns:a16="http://schemas.microsoft.com/office/drawing/2014/main" id="{750BCB1E-F26F-4476-A3E4-F67945725BB2}"/>
                </a:ext>
              </a:extLst>
            </p:cNvPr>
            <p:cNvSpPr/>
            <p:nvPr/>
          </p:nvSpPr>
          <p:spPr>
            <a:xfrm>
              <a:off x="4044928" y="2251925"/>
              <a:ext cx="1054142" cy="1350592"/>
            </a:xfrm>
            <a:custGeom>
              <a:avLst/>
              <a:gdLst/>
              <a:ahLst/>
              <a:cxnLst/>
              <a:rect l="l" t="t" r="r" b="b"/>
              <a:pathLst>
                <a:path w="1054142" h="1350592">
                  <a:moveTo>
                    <a:pt x="521627" y="0"/>
                  </a:moveTo>
                  <a:lnTo>
                    <a:pt x="682907" y="322559"/>
                  </a:lnTo>
                  <a:cubicBezTo>
                    <a:pt x="898294" y="386795"/>
                    <a:pt x="1054142" y="586958"/>
                    <a:pt x="1054142" y="823521"/>
                  </a:cubicBezTo>
                  <a:cubicBezTo>
                    <a:pt x="1054142" y="1114614"/>
                    <a:pt x="818164" y="1350592"/>
                    <a:pt x="527071" y="1350592"/>
                  </a:cubicBezTo>
                  <a:cubicBezTo>
                    <a:pt x="235978" y="1350592"/>
                    <a:pt x="0" y="1114614"/>
                    <a:pt x="0" y="823521"/>
                  </a:cubicBezTo>
                  <a:cubicBezTo>
                    <a:pt x="0" y="591722"/>
                    <a:pt x="149634" y="394871"/>
                    <a:pt x="358347" y="326560"/>
                  </a:cubicBezTo>
                  <a:close/>
                </a:path>
              </a:pathLst>
            </a:custGeom>
            <a:gradFill>
              <a:gsLst>
                <a:gs pos="0">
                  <a:schemeClr val="bg1"/>
                </a:gs>
                <a:gs pos="43000">
                  <a:schemeClr val="bg1">
                    <a:lumMod val="95000"/>
                  </a:schemeClr>
                </a:gs>
                <a:gs pos="100000">
                  <a:schemeClr val="bg1">
                    <a:lumMod val="75000"/>
                  </a:schemeClr>
                </a:gs>
              </a:gsLst>
              <a:lin ang="14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grpSp>
      <p:sp>
        <p:nvSpPr>
          <p:cNvPr id="79" name="淘宝网Chenying0907出品 6">
            <a:extLst>
              <a:ext uri="{FF2B5EF4-FFF2-40B4-BE49-F238E27FC236}">
                <a16:creationId xmlns:a16="http://schemas.microsoft.com/office/drawing/2014/main" id="{49FB7C2D-E2A5-41A7-83E4-7D5CFD4DBCBD}"/>
              </a:ext>
            </a:extLst>
          </p:cNvPr>
          <p:cNvSpPr/>
          <p:nvPr/>
        </p:nvSpPr>
        <p:spPr bwMode="auto">
          <a:xfrm>
            <a:off x="978667" y="3744676"/>
            <a:ext cx="9145588" cy="2654419"/>
          </a:xfrm>
          <a:custGeom>
            <a:avLst/>
            <a:gdLst>
              <a:gd name="T0" fmla="*/ 3078 w 4268"/>
              <a:gd name="T1" fmla="*/ 3 h 1326"/>
              <a:gd name="T2" fmla="*/ 3355 w 4268"/>
              <a:gd name="T3" fmla="*/ 18 h 1326"/>
              <a:gd name="T4" fmla="*/ 3647 w 4268"/>
              <a:gd name="T5" fmla="*/ 50 h 1326"/>
              <a:gd name="T6" fmla="*/ 3951 w 4268"/>
              <a:gd name="T7" fmla="*/ 100 h 1326"/>
              <a:gd name="T8" fmla="*/ 4268 w 4268"/>
              <a:gd name="T9" fmla="*/ 168 h 1326"/>
              <a:gd name="T10" fmla="*/ 4106 w 4268"/>
              <a:gd name="T11" fmla="*/ 140 h 1326"/>
              <a:gd name="T12" fmla="*/ 3795 w 4268"/>
              <a:gd name="T13" fmla="*/ 80 h 1326"/>
              <a:gd name="T14" fmla="*/ 3499 w 4268"/>
              <a:gd name="T15" fmla="*/ 40 h 1326"/>
              <a:gd name="T16" fmla="*/ 3215 w 4268"/>
              <a:gd name="T17" fmla="*/ 16 h 1326"/>
              <a:gd name="T18" fmla="*/ 2943 w 4268"/>
              <a:gd name="T19" fmla="*/ 9 h 1326"/>
              <a:gd name="T20" fmla="*/ 2636 w 4268"/>
              <a:gd name="T21" fmla="*/ 18 h 1326"/>
              <a:gd name="T22" fmla="*/ 2348 w 4268"/>
              <a:gd name="T23" fmla="*/ 48 h 1326"/>
              <a:gd name="T24" fmla="*/ 2077 w 4268"/>
              <a:gd name="T25" fmla="*/ 93 h 1326"/>
              <a:gd name="T26" fmla="*/ 1825 w 4268"/>
              <a:gd name="T27" fmla="*/ 153 h 1326"/>
              <a:gd name="T28" fmla="*/ 1589 w 4268"/>
              <a:gd name="T29" fmla="*/ 225 h 1326"/>
              <a:gd name="T30" fmla="*/ 1370 w 4268"/>
              <a:gd name="T31" fmla="*/ 308 h 1326"/>
              <a:gd name="T32" fmla="*/ 1169 w 4268"/>
              <a:gd name="T33" fmla="*/ 398 h 1326"/>
              <a:gd name="T34" fmla="*/ 985 w 4268"/>
              <a:gd name="T35" fmla="*/ 494 h 1326"/>
              <a:gd name="T36" fmla="*/ 817 w 4268"/>
              <a:gd name="T37" fmla="*/ 595 h 1326"/>
              <a:gd name="T38" fmla="*/ 666 w 4268"/>
              <a:gd name="T39" fmla="*/ 696 h 1326"/>
              <a:gd name="T40" fmla="*/ 531 w 4268"/>
              <a:gd name="T41" fmla="*/ 797 h 1326"/>
              <a:gd name="T42" fmla="*/ 412 w 4268"/>
              <a:gd name="T43" fmla="*/ 895 h 1326"/>
              <a:gd name="T44" fmla="*/ 308 w 4268"/>
              <a:gd name="T45" fmla="*/ 988 h 1326"/>
              <a:gd name="T46" fmla="*/ 221 w 4268"/>
              <a:gd name="T47" fmla="*/ 1075 h 1326"/>
              <a:gd name="T48" fmla="*/ 149 w 4268"/>
              <a:gd name="T49" fmla="*/ 1151 h 1326"/>
              <a:gd name="T50" fmla="*/ 91 w 4268"/>
              <a:gd name="T51" fmla="*/ 1217 h 1326"/>
              <a:gd name="T52" fmla="*/ 49 w 4268"/>
              <a:gd name="T53" fmla="*/ 1269 h 1326"/>
              <a:gd name="T54" fmla="*/ 22 w 4268"/>
              <a:gd name="T55" fmla="*/ 1305 h 1326"/>
              <a:gd name="T56" fmla="*/ 8 w 4268"/>
              <a:gd name="T57" fmla="*/ 1323 h 1326"/>
              <a:gd name="T58" fmla="*/ 6 w 4268"/>
              <a:gd name="T59" fmla="*/ 1326 h 1326"/>
              <a:gd name="T60" fmla="*/ 1 w 4268"/>
              <a:gd name="T61" fmla="*/ 1318 h 1326"/>
              <a:gd name="T62" fmla="*/ 17 w 4268"/>
              <a:gd name="T63" fmla="*/ 1298 h 1326"/>
              <a:gd name="T64" fmla="*/ 47 w 4268"/>
              <a:gd name="T65" fmla="*/ 1259 h 1326"/>
              <a:gd name="T66" fmla="*/ 93 w 4268"/>
              <a:gd name="T67" fmla="*/ 1203 h 1326"/>
              <a:gd name="T68" fmla="*/ 154 w 4268"/>
              <a:gd name="T69" fmla="*/ 1135 h 1326"/>
              <a:gd name="T70" fmla="*/ 230 w 4268"/>
              <a:gd name="T71" fmla="*/ 1053 h 1326"/>
              <a:gd name="T72" fmla="*/ 324 w 4268"/>
              <a:gd name="T73" fmla="*/ 964 h 1326"/>
              <a:gd name="T74" fmla="*/ 434 w 4268"/>
              <a:gd name="T75" fmla="*/ 867 h 1326"/>
              <a:gd name="T76" fmla="*/ 561 w 4268"/>
              <a:gd name="T77" fmla="*/ 765 h 1326"/>
              <a:gd name="T78" fmla="*/ 703 w 4268"/>
              <a:gd name="T79" fmla="*/ 661 h 1326"/>
              <a:gd name="T80" fmla="*/ 864 w 4268"/>
              <a:gd name="T81" fmla="*/ 556 h 1326"/>
              <a:gd name="T82" fmla="*/ 1040 w 4268"/>
              <a:gd name="T83" fmla="*/ 455 h 1326"/>
              <a:gd name="T84" fmla="*/ 1235 w 4268"/>
              <a:gd name="T85" fmla="*/ 358 h 1326"/>
              <a:gd name="T86" fmla="*/ 1448 w 4268"/>
              <a:gd name="T87" fmla="*/ 268 h 1326"/>
              <a:gd name="T88" fmla="*/ 1678 w 4268"/>
              <a:gd name="T89" fmla="*/ 188 h 1326"/>
              <a:gd name="T90" fmla="*/ 1927 w 4268"/>
              <a:gd name="T91" fmla="*/ 119 h 1326"/>
              <a:gd name="T92" fmla="*/ 2194 w 4268"/>
              <a:gd name="T93" fmla="*/ 63 h 1326"/>
              <a:gd name="T94" fmla="*/ 2480 w 4268"/>
              <a:gd name="T95" fmla="*/ 23 h 1326"/>
              <a:gd name="T96" fmla="*/ 2784 w 4268"/>
              <a:gd name="T97" fmla="*/ 3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68" h="1326">
                <a:moveTo>
                  <a:pt x="2943" y="0"/>
                </a:moveTo>
                <a:lnTo>
                  <a:pt x="3078" y="3"/>
                </a:lnTo>
                <a:lnTo>
                  <a:pt x="3215" y="8"/>
                </a:lnTo>
                <a:lnTo>
                  <a:pt x="3355" y="18"/>
                </a:lnTo>
                <a:lnTo>
                  <a:pt x="3500" y="31"/>
                </a:lnTo>
                <a:lnTo>
                  <a:pt x="3647" y="50"/>
                </a:lnTo>
                <a:lnTo>
                  <a:pt x="3797" y="72"/>
                </a:lnTo>
                <a:lnTo>
                  <a:pt x="3951" y="100"/>
                </a:lnTo>
                <a:lnTo>
                  <a:pt x="4109" y="132"/>
                </a:lnTo>
                <a:lnTo>
                  <a:pt x="4268" y="168"/>
                </a:lnTo>
                <a:lnTo>
                  <a:pt x="4267" y="176"/>
                </a:lnTo>
                <a:lnTo>
                  <a:pt x="4106" y="140"/>
                </a:lnTo>
                <a:lnTo>
                  <a:pt x="3950" y="107"/>
                </a:lnTo>
                <a:lnTo>
                  <a:pt x="3795" y="80"/>
                </a:lnTo>
                <a:lnTo>
                  <a:pt x="3645" y="58"/>
                </a:lnTo>
                <a:lnTo>
                  <a:pt x="3499" y="40"/>
                </a:lnTo>
                <a:lnTo>
                  <a:pt x="3355" y="26"/>
                </a:lnTo>
                <a:lnTo>
                  <a:pt x="3215" y="16"/>
                </a:lnTo>
                <a:lnTo>
                  <a:pt x="3078" y="10"/>
                </a:lnTo>
                <a:lnTo>
                  <a:pt x="2943" y="9"/>
                </a:lnTo>
                <a:lnTo>
                  <a:pt x="2788" y="12"/>
                </a:lnTo>
                <a:lnTo>
                  <a:pt x="2636" y="18"/>
                </a:lnTo>
                <a:lnTo>
                  <a:pt x="2490" y="31"/>
                </a:lnTo>
                <a:lnTo>
                  <a:pt x="2348" y="48"/>
                </a:lnTo>
                <a:lnTo>
                  <a:pt x="2210" y="69"/>
                </a:lnTo>
                <a:lnTo>
                  <a:pt x="2077" y="93"/>
                </a:lnTo>
                <a:lnTo>
                  <a:pt x="1949" y="122"/>
                </a:lnTo>
                <a:lnTo>
                  <a:pt x="1825" y="153"/>
                </a:lnTo>
                <a:lnTo>
                  <a:pt x="1704" y="188"/>
                </a:lnTo>
                <a:lnTo>
                  <a:pt x="1589" y="225"/>
                </a:lnTo>
                <a:lnTo>
                  <a:pt x="1478" y="265"/>
                </a:lnTo>
                <a:lnTo>
                  <a:pt x="1370" y="308"/>
                </a:lnTo>
                <a:lnTo>
                  <a:pt x="1268" y="352"/>
                </a:lnTo>
                <a:lnTo>
                  <a:pt x="1169" y="398"/>
                </a:lnTo>
                <a:lnTo>
                  <a:pt x="1075" y="446"/>
                </a:lnTo>
                <a:lnTo>
                  <a:pt x="985" y="494"/>
                </a:lnTo>
                <a:lnTo>
                  <a:pt x="899" y="545"/>
                </a:lnTo>
                <a:lnTo>
                  <a:pt x="817" y="595"/>
                </a:lnTo>
                <a:lnTo>
                  <a:pt x="739" y="646"/>
                </a:lnTo>
                <a:lnTo>
                  <a:pt x="666" y="696"/>
                </a:lnTo>
                <a:lnTo>
                  <a:pt x="597" y="748"/>
                </a:lnTo>
                <a:lnTo>
                  <a:pt x="531" y="797"/>
                </a:lnTo>
                <a:lnTo>
                  <a:pt x="470" y="847"/>
                </a:lnTo>
                <a:lnTo>
                  <a:pt x="412" y="895"/>
                </a:lnTo>
                <a:lnTo>
                  <a:pt x="359" y="943"/>
                </a:lnTo>
                <a:lnTo>
                  <a:pt x="308" y="988"/>
                </a:lnTo>
                <a:lnTo>
                  <a:pt x="263" y="1032"/>
                </a:lnTo>
                <a:lnTo>
                  <a:pt x="221" y="1075"/>
                </a:lnTo>
                <a:lnTo>
                  <a:pt x="183" y="1115"/>
                </a:lnTo>
                <a:lnTo>
                  <a:pt x="149" y="1151"/>
                </a:lnTo>
                <a:lnTo>
                  <a:pt x="118" y="1186"/>
                </a:lnTo>
                <a:lnTo>
                  <a:pt x="91" y="1217"/>
                </a:lnTo>
                <a:lnTo>
                  <a:pt x="69" y="1246"/>
                </a:lnTo>
                <a:lnTo>
                  <a:pt x="49" y="1269"/>
                </a:lnTo>
                <a:lnTo>
                  <a:pt x="34" y="1288"/>
                </a:lnTo>
                <a:lnTo>
                  <a:pt x="22" y="1305"/>
                </a:lnTo>
                <a:lnTo>
                  <a:pt x="13" y="1317"/>
                </a:lnTo>
                <a:lnTo>
                  <a:pt x="8" y="1323"/>
                </a:lnTo>
                <a:lnTo>
                  <a:pt x="6" y="1326"/>
                </a:lnTo>
                <a:lnTo>
                  <a:pt x="6" y="1326"/>
                </a:lnTo>
                <a:lnTo>
                  <a:pt x="0" y="1321"/>
                </a:lnTo>
                <a:lnTo>
                  <a:pt x="1" y="1318"/>
                </a:lnTo>
                <a:lnTo>
                  <a:pt x="8" y="1310"/>
                </a:lnTo>
                <a:lnTo>
                  <a:pt x="17" y="1298"/>
                </a:lnTo>
                <a:lnTo>
                  <a:pt x="30" y="1281"/>
                </a:lnTo>
                <a:lnTo>
                  <a:pt x="47" y="1259"/>
                </a:lnTo>
                <a:lnTo>
                  <a:pt x="67" y="1233"/>
                </a:lnTo>
                <a:lnTo>
                  <a:pt x="93" y="1203"/>
                </a:lnTo>
                <a:lnTo>
                  <a:pt x="122" y="1171"/>
                </a:lnTo>
                <a:lnTo>
                  <a:pt x="154" y="1135"/>
                </a:lnTo>
                <a:lnTo>
                  <a:pt x="190" y="1094"/>
                </a:lnTo>
                <a:lnTo>
                  <a:pt x="230" y="1053"/>
                </a:lnTo>
                <a:lnTo>
                  <a:pt x="276" y="1009"/>
                </a:lnTo>
                <a:lnTo>
                  <a:pt x="324" y="964"/>
                </a:lnTo>
                <a:lnTo>
                  <a:pt x="377" y="916"/>
                </a:lnTo>
                <a:lnTo>
                  <a:pt x="434" y="867"/>
                </a:lnTo>
                <a:lnTo>
                  <a:pt x="495" y="816"/>
                </a:lnTo>
                <a:lnTo>
                  <a:pt x="561" y="765"/>
                </a:lnTo>
                <a:lnTo>
                  <a:pt x="629" y="713"/>
                </a:lnTo>
                <a:lnTo>
                  <a:pt x="703" y="661"/>
                </a:lnTo>
                <a:lnTo>
                  <a:pt x="781" y="609"/>
                </a:lnTo>
                <a:lnTo>
                  <a:pt x="864" y="556"/>
                </a:lnTo>
                <a:lnTo>
                  <a:pt x="949" y="506"/>
                </a:lnTo>
                <a:lnTo>
                  <a:pt x="1040" y="455"/>
                </a:lnTo>
                <a:lnTo>
                  <a:pt x="1136" y="406"/>
                </a:lnTo>
                <a:lnTo>
                  <a:pt x="1235" y="358"/>
                </a:lnTo>
                <a:lnTo>
                  <a:pt x="1339" y="312"/>
                </a:lnTo>
                <a:lnTo>
                  <a:pt x="1448" y="268"/>
                </a:lnTo>
                <a:lnTo>
                  <a:pt x="1560" y="226"/>
                </a:lnTo>
                <a:lnTo>
                  <a:pt x="1678" y="188"/>
                </a:lnTo>
                <a:lnTo>
                  <a:pt x="1800" y="151"/>
                </a:lnTo>
                <a:lnTo>
                  <a:pt x="1927" y="119"/>
                </a:lnTo>
                <a:lnTo>
                  <a:pt x="2058" y="89"/>
                </a:lnTo>
                <a:lnTo>
                  <a:pt x="2194" y="63"/>
                </a:lnTo>
                <a:lnTo>
                  <a:pt x="2335" y="41"/>
                </a:lnTo>
                <a:lnTo>
                  <a:pt x="2480" y="23"/>
                </a:lnTo>
                <a:lnTo>
                  <a:pt x="2630" y="12"/>
                </a:lnTo>
                <a:lnTo>
                  <a:pt x="2784" y="3"/>
                </a:lnTo>
                <a:lnTo>
                  <a:pt x="2943" y="0"/>
                </a:lnTo>
                <a:close/>
              </a:path>
            </a:pathLst>
          </a:custGeom>
          <a:solidFill>
            <a:srgbClr val="969696"/>
          </a:solidFill>
          <a:ln w="28575">
            <a:solidFill>
              <a:srgbClr val="969696"/>
            </a:solidFill>
            <a:prstDash val="solid"/>
            <a:round/>
          </a:ln>
        </p:spPr>
        <p:txBody>
          <a:bodyPr vert="horz" wrap="square" lIns="98207" tIns="49104" rIns="98207" bIns="49104"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Gill Sans" charset="0"/>
            </a:endParaRPr>
          </a:p>
        </p:txBody>
      </p:sp>
      <p:sp>
        <p:nvSpPr>
          <p:cNvPr id="80" name="Oval 9">
            <a:extLst>
              <a:ext uri="{FF2B5EF4-FFF2-40B4-BE49-F238E27FC236}">
                <a16:creationId xmlns:a16="http://schemas.microsoft.com/office/drawing/2014/main" id="{41624D45-82F4-4076-8498-5A86923C89B9}"/>
              </a:ext>
            </a:extLst>
          </p:cNvPr>
          <p:cNvSpPr/>
          <p:nvPr/>
        </p:nvSpPr>
        <p:spPr bwMode="auto">
          <a:xfrm>
            <a:off x="1866236" y="5271998"/>
            <a:ext cx="273034" cy="269726"/>
          </a:xfrm>
          <a:prstGeom prst="ellipse">
            <a:avLst/>
          </a:prstGeom>
          <a:solidFill>
            <a:srgbClr val="00B0F0"/>
          </a:solidFill>
          <a:ln w="25400" cap="flat" cmpd="sng" algn="ctr">
            <a:noFill/>
            <a:prstDash val="solid"/>
            <a:round/>
            <a:headEnd type="none" w="med" len="med"/>
            <a:tailEnd type="none" w="med" len="med"/>
          </a:ln>
          <a:effectLst/>
        </p:spPr>
        <p:txBody>
          <a:bodyPr vert="horz" wrap="square" lIns="98207" tIns="49104" rIns="98207" bIns="49104" numCol="1" rtlCol="0" anchor="t" anchorCtr="0" compatLnSpc="1"/>
          <a:lstStyle/>
          <a:p>
            <a:pPr marL="0" marR="0" lvl="0" indent="0" algn="ctr" defTabSz="981710" rtl="0" eaLnBrk="1" fontAlgn="base" latinLnBrk="0" hangingPunct="1">
              <a:lnSpc>
                <a:spcPct val="100000"/>
              </a:lnSpc>
              <a:spcBef>
                <a:spcPct val="0"/>
              </a:spcBef>
              <a:spcAft>
                <a:spcPct val="0"/>
              </a:spcAft>
              <a:buClrTx/>
              <a:buSzTx/>
              <a:buFontTx/>
              <a:buNone/>
              <a:tabLst/>
              <a:defRPr/>
            </a:pPr>
            <a:endParaRPr kumimoji="0" lang="en-US" sz="60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Gill Sans" charset="0"/>
            </a:endParaRPr>
          </a:p>
        </p:txBody>
      </p:sp>
      <p:sp>
        <p:nvSpPr>
          <p:cNvPr id="81" name="Oval 86">
            <a:extLst>
              <a:ext uri="{FF2B5EF4-FFF2-40B4-BE49-F238E27FC236}">
                <a16:creationId xmlns:a16="http://schemas.microsoft.com/office/drawing/2014/main" id="{13CBCA90-E593-424D-9207-2D67D81EF568}"/>
              </a:ext>
            </a:extLst>
          </p:cNvPr>
          <p:cNvSpPr/>
          <p:nvPr/>
        </p:nvSpPr>
        <p:spPr bwMode="auto">
          <a:xfrm rot="8637565">
            <a:off x="3337328" y="4395635"/>
            <a:ext cx="273034" cy="269726"/>
          </a:xfrm>
          <a:prstGeom prst="ellipse">
            <a:avLst/>
          </a:prstGeom>
          <a:solidFill>
            <a:srgbClr val="C00000"/>
          </a:solidFill>
          <a:ln w="25400" cap="flat" cmpd="sng" algn="ctr">
            <a:noFill/>
            <a:prstDash val="solid"/>
            <a:round/>
            <a:headEnd type="none" w="med" len="med"/>
            <a:tailEnd type="none" w="med" len="med"/>
          </a:ln>
          <a:effectLst/>
        </p:spPr>
        <p:txBody>
          <a:bodyPr vert="horz" wrap="square" lIns="98207" tIns="49104" rIns="98207" bIns="49104" numCol="1" rtlCol="0" anchor="t" anchorCtr="0" compatLnSpc="1"/>
          <a:lstStyle/>
          <a:p>
            <a:pPr marL="0" marR="0" lvl="0" indent="0" algn="ctr" defTabSz="981710" rtl="0" eaLnBrk="1" fontAlgn="base" latinLnBrk="0" hangingPunct="1">
              <a:lnSpc>
                <a:spcPct val="100000"/>
              </a:lnSpc>
              <a:spcBef>
                <a:spcPct val="0"/>
              </a:spcBef>
              <a:spcAft>
                <a:spcPct val="0"/>
              </a:spcAft>
              <a:buClrTx/>
              <a:buSzTx/>
              <a:buFontTx/>
              <a:buNone/>
              <a:tabLst/>
              <a:defRPr/>
            </a:pPr>
            <a:endParaRPr kumimoji="0" lang="en-US" sz="60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Gill Sans" charset="0"/>
            </a:endParaRPr>
          </a:p>
        </p:txBody>
      </p:sp>
      <p:sp>
        <p:nvSpPr>
          <p:cNvPr id="82" name="Oval 94">
            <a:extLst>
              <a:ext uri="{FF2B5EF4-FFF2-40B4-BE49-F238E27FC236}">
                <a16:creationId xmlns:a16="http://schemas.microsoft.com/office/drawing/2014/main" id="{DC1D8543-9589-4225-A706-D9F1F01EA27C}"/>
              </a:ext>
            </a:extLst>
          </p:cNvPr>
          <p:cNvSpPr/>
          <p:nvPr/>
        </p:nvSpPr>
        <p:spPr bwMode="auto">
          <a:xfrm rot="9824873">
            <a:off x="6625137" y="3633421"/>
            <a:ext cx="273034" cy="269726"/>
          </a:xfrm>
          <a:prstGeom prst="ellipse">
            <a:avLst/>
          </a:prstGeom>
          <a:solidFill>
            <a:srgbClr val="00B0F0"/>
          </a:solidFill>
          <a:ln w="25400" cap="flat" cmpd="sng" algn="ctr">
            <a:noFill/>
            <a:prstDash val="solid"/>
            <a:round/>
            <a:headEnd type="none" w="med" len="med"/>
            <a:tailEnd type="none" w="med" len="med"/>
          </a:ln>
          <a:effectLst/>
        </p:spPr>
        <p:txBody>
          <a:bodyPr vert="horz" wrap="square" lIns="98207" tIns="49104" rIns="98207" bIns="49104" numCol="1" rtlCol="0" anchor="t" anchorCtr="0" compatLnSpc="1"/>
          <a:lstStyle/>
          <a:p>
            <a:pPr marL="0" marR="0" lvl="0" indent="0" algn="ctr" defTabSz="981710" rtl="0" eaLnBrk="1" fontAlgn="base" latinLnBrk="0" hangingPunct="1">
              <a:lnSpc>
                <a:spcPct val="100000"/>
              </a:lnSpc>
              <a:spcBef>
                <a:spcPct val="0"/>
              </a:spcBef>
              <a:spcAft>
                <a:spcPct val="0"/>
              </a:spcAft>
              <a:buClrTx/>
              <a:buSzTx/>
              <a:buFontTx/>
              <a:buNone/>
              <a:tabLst/>
              <a:defRPr/>
            </a:pPr>
            <a:endParaRPr kumimoji="0" lang="en-US" sz="60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Gill Sans" charset="0"/>
            </a:endParaRPr>
          </a:p>
        </p:txBody>
      </p:sp>
      <p:sp>
        <p:nvSpPr>
          <p:cNvPr id="83" name="Oval 99">
            <a:extLst>
              <a:ext uri="{FF2B5EF4-FFF2-40B4-BE49-F238E27FC236}">
                <a16:creationId xmlns:a16="http://schemas.microsoft.com/office/drawing/2014/main" id="{FA5BEFE8-0A95-4388-86B0-D8F96CEEC618}"/>
              </a:ext>
            </a:extLst>
          </p:cNvPr>
          <p:cNvSpPr/>
          <p:nvPr/>
        </p:nvSpPr>
        <p:spPr bwMode="auto">
          <a:xfrm>
            <a:off x="4945113" y="3878792"/>
            <a:ext cx="273034" cy="269726"/>
          </a:xfrm>
          <a:prstGeom prst="ellipse">
            <a:avLst/>
          </a:prstGeom>
          <a:solidFill>
            <a:srgbClr val="C00000"/>
          </a:solidFill>
          <a:ln w="25400" cap="flat" cmpd="sng" algn="ctr">
            <a:noFill/>
            <a:prstDash val="solid"/>
            <a:round/>
            <a:headEnd type="none" w="med" len="med"/>
            <a:tailEnd type="none" w="med" len="med"/>
          </a:ln>
          <a:effectLst/>
        </p:spPr>
        <p:txBody>
          <a:bodyPr vert="horz" wrap="square" lIns="98207" tIns="49104" rIns="98207" bIns="49104" numCol="1" rtlCol="0" anchor="t" anchorCtr="0" compatLnSpc="1"/>
          <a:lstStyle/>
          <a:p>
            <a:pPr marL="0" marR="0" lvl="0" indent="0" algn="ctr" defTabSz="981710" rtl="0" eaLnBrk="1" fontAlgn="base" latinLnBrk="0" hangingPunct="1">
              <a:lnSpc>
                <a:spcPct val="100000"/>
              </a:lnSpc>
              <a:spcBef>
                <a:spcPct val="0"/>
              </a:spcBef>
              <a:spcAft>
                <a:spcPct val="0"/>
              </a:spcAft>
              <a:buClrTx/>
              <a:buSzTx/>
              <a:buFontTx/>
              <a:buNone/>
              <a:tabLst/>
              <a:defRPr/>
            </a:pPr>
            <a:endParaRPr kumimoji="0" lang="en-US" sz="60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Gill Sans" charset="0"/>
            </a:endParaRPr>
          </a:p>
        </p:txBody>
      </p:sp>
      <p:sp>
        <p:nvSpPr>
          <p:cNvPr id="85" name="Oval 99">
            <a:extLst>
              <a:ext uri="{FF2B5EF4-FFF2-40B4-BE49-F238E27FC236}">
                <a16:creationId xmlns:a16="http://schemas.microsoft.com/office/drawing/2014/main" id="{08795039-8389-4D28-90DD-23E225AC22CC}"/>
              </a:ext>
            </a:extLst>
          </p:cNvPr>
          <p:cNvSpPr/>
          <p:nvPr/>
        </p:nvSpPr>
        <p:spPr bwMode="auto">
          <a:xfrm>
            <a:off x="9032575" y="3769379"/>
            <a:ext cx="273034" cy="269726"/>
          </a:xfrm>
          <a:prstGeom prst="ellipse">
            <a:avLst/>
          </a:prstGeom>
          <a:solidFill>
            <a:srgbClr val="C00000"/>
          </a:solidFill>
          <a:ln w="25400" cap="flat" cmpd="sng" algn="ctr">
            <a:noFill/>
            <a:prstDash val="solid"/>
            <a:round/>
            <a:headEnd type="none" w="med" len="med"/>
            <a:tailEnd type="none" w="med" len="med"/>
          </a:ln>
          <a:effectLst/>
        </p:spPr>
        <p:txBody>
          <a:bodyPr vert="horz" wrap="square" lIns="98207" tIns="49104" rIns="98207" bIns="49104" numCol="1" rtlCol="0" anchor="t" anchorCtr="0" compatLnSpc="1"/>
          <a:lstStyle/>
          <a:p>
            <a:pPr marL="0" marR="0" lvl="0" indent="0" algn="ctr" defTabSz="981710" rtl="0" eaLnBrk="1" fontAlgn="base" latinLnBrk="0" hangingPunct="1">
              <a:lnSpc>
                <a:spcPct val="100000"/>
              </a:lnSpc>
              <a:spcBef>
                <a:spcPct val="0"/>
              </a:spcBef>
              <a:spcAft>
                <a:spcPct val="0"/>
              </a:spcAft>
              <a:buClrTx/>
              <a:buSzTx/>
              <a:buFontTx/>
              <a:buNone/>
              <a:tabLst/>
              <a:defRPr/>
            </a:pPr>
            <a:endParaRPr kumimoji="0" lang="en-US" sz="60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Gill Sans" charset="0"/>
            </a:endParaRPr>
          </a:p>
        </p:txBody>
      </p:sp>
      <p:sp>
        <p:nvSpPr>
          <p:cNvPr id="91" name="淘宝网Chenying0907出品 17">
            <a:extLst>
              <a:ext uri="{FF2B5EF4-FFF2-40B4-BE49-F238E27FC236}">
                <a16:creationId xmlns:a16="http://schemas.microsoft.com/office/drawing/2014/main" id="{9438435C-8545-468F-8DD5-FC5B77DD2D4A}"/>
              </a:ext>
            </a:extLst>
          </p:cNvPr>
          <p:cNvSpPr/>
          <p:nvPr/>
        </p:nvSpPr>
        <p:spPr bwMode="auto">
          <a:xfrm>
            <a:off x="8556590" y="2677169"/>
            <a:ext cx="1370368"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Lato Light" charset="0"/>
              </a:rPr>
              <a:t>擴展協議</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Lato Light" charset="0"/>
              </a:rPr>
              <a:t>，交互時可附加網絡子網信息</a:t>
            </a:r>
            <a:endParaRPr kumimoji="0" 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Lato Light" charset="0"/>
            </a:endParaRPr>
          </a:p>
        </p:txBody>
      </p:sp>
      <p:sp>
        <p:nvSpPr>
          <p:cNvPr id="92" name="淘宝网Chenying0907出品 37">
            <a:extLst>
              <a:ext uri="{FF2B5EF4-FFF2-40B4-BE49-F238E27FC236}">
                <a16:creationId xmlns:a16="http://schemas.microsoft.com/office/drawing/2014/main" id="{B67986F2-7526-4312-8D6A-504B1909629E}"/>
              </a:ext>
            </a:extLst>
          </p:cNvPr>
          <p:cNvSpPr>
            <a:spLocks noChangeArrowheads="1"/>
          </p:cNvSpPr>
          <p:nvPr/>
        </p:nvSpPr>
        <p:spPr bwMode="auto">
          <a:xfrm>
            <a:off x="1342188" y="4093837"/>
            <a:ext cx="998991"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zh-CN" sz="1900" b="0" i="0" u="none" strike="noStrike" kern="1200" cap="none" spc="0" normalizeH="0" baseline="0" noProof="0" dirty="0">
                <a:ln>
                  <a:noFill/>
                </a:ln>
                <a:solidFill>
                  <a:srgbClr val="0070C0">
                    <a:lumMod val="5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1983</a:t>
            </a:r>
            <a:r>
              <a:rPr kumimoji="0" lang="zh-CN" altLang="en-US" sz="1900" b="0" i="0" u="none" strike="noStrike" kern="1200" cap="none" spc="0" normalizeH="0" baseline="0" noProof="0" dirty="0">
                <a:ln>
                  <a:noFill/>
                </a:ln>
                <a:solidFill>
                  <a:srgbClr val="0070C0">
                    <a:lumMod val="5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年</a:t>
            </a:r>
            <a:endParaRPr kumimoji="0" lang="en-US" altLang="zh-CN" sz="1900" b="0" i="0" u="none" strike="noStrike" kern="1200" cap="none" spc="0" normalizeH="0" baseline="0" noProof="0" dirty="0">
              <a:ln>
                <a:noFill/>
              </a:ln>
              <a:solidFill>
                <a:srgbClr val="0070C0">
                  <a:lumMod val="5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zh-CN" altLang="en-US" sz="1900" b="0" i="0" u="none" strike="noStrike" kern="1200" cap="none" spc="0" normalizeH="0" baseline="0" noProof="0" dirty="0">
                <a:ln>
                  <a:noFill/>
                </a:ln>
                <a:solidFill>
                  <a:srgbClr val="0070C0">
                    <a:lumMod val="5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以前</a:t>
            </a:r>
          </a:p>
        </p:txBody>
      </p:sp>
      <p:sp>
        <p:nvSpPr>
          <p:cNvPr id="93" name="淘宝网Chenying0907出品 37">
            <a:extLst>
              <a:ext uri="{FF2B5EF4-FFF2-40B4-BE49-F238E27FC236}">
                <a16:creationId xmlns:a16="http://schemas.microsoft.com/office/drawing/2014/main" id="{97139A51-E8F5-4AC2-BFB6-507752247882}"/>
              </a:ext>
            </a:extLst>
          </p:cNvPr>
          <p:cNvSpPr>
            <a:spLocks noChangeArrowheads="1"/>
          </p:cNvSpPr>
          <p:nvPr/>
        </p:nvSpPr>
        <p:spPr bwMode="auto">
          <a:xfrm>
            <a:off x="3552272" y="5198151"/>
            <a:ext cx="998991"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zh-CN" sz="19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1983</a:t>
            </a:r>
            <a:r>
              <a:rPr kumimoji="0" lang="zh-CN" altLang="en-US" sz="19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年</a:t>
            </a:r>
            <a:endParaRPr kumimoji="0" lang="en-US" altLang="zh-CN" sz="19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4" name="淘宝网Chenying0907出品 37">
            <a:extLst>
              <a:ext uri="{FF2B5EF4-FFF2-40B4-BE49-F238E27FC236}">
                <a16:creationId xmlns:a16="http://schemas.microsoft.com/office/drawing/2014/main" id="{211D5204-7982-42A7-99ED-89ABC56D8699}"/>
              </a:ext>
            </a:extLst>
          </p:cNvPr>
          <p:cNvSpPr>
            <a:spLocks noChangeArrowheads="1"/>
          </p:cNvSpPr>
          <p:nvPr/>
        </p:nvSpPr>
        <p:spPr bwMode="auto">
          <a:xfrm>
            <a:off x="4409588" y="2738688"/>
            <a:ext cx="998991"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zh-CN" sz="19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2000</a:t>
            </a:r>
            <a:r>
              <a:rPr kumimoji="0" lang="zh-CN" altLang="en-US" sz="19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年</a:t>
            </a:r>
            <a:endParaRPr kumimoji="0" lang="en-US" altLang="zh-CN" sz="19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5" name="淘宝网Chenying0907出品 37">
            <a:extLst>
              <a:ext uri="{FF2B5EF4-FFF2-40B4-BE49-F238E27FC236}">
                <a16:creationId xmlns:a16="http://schemas.microsoft.com/office/drawing/2014/main" id="{67C98A1C-A4DC-4AF6-B1AA-47B0BC63DCBA}"/>
              </a:ext>
            </a:extLst>
          </p:cNvPr>
          <p:cNvSpPr>
            <a:spLocks noChangeArrowheads="1"/>
          </p:cNvSpPr>
          <p:nvPr/>
        </p:nvSpPr>
        <p:spPr bwMode="auto">
          <a:xfrm>
            <a:off x="6398487" y="4496507"/>
            <a:ext cx="998991"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zh-CN" sz="1900" b="0" i="0" u="none" strike="noStrike" kern="1200" cap="none" spc="0" normalizeH="0" baseline="0" noProof="0" dirty="0">
                <a:ln>
                  <a:noFill/>
                </a:ln>
                <a:solidFill>
                  <a:srgbClr val="0070C0">
                    <a:lumMod val="5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2003</a:t>
            </a:r>
            <a:r>
              <a:rPr kumimoji="0" lang="zh-CN" altLang="en-US" sz="1900" b="0" i="0" u="none" strike="noStrike" kern="1200" cap="none" spc="0" normalizeH="0" baseline="0" noProof="0" dirty="0">
                <a:ln>
                  <a:noFill/>
                </a:ln>
                <a:solidFill>
                  <a:srgbClr val="0070C0">
                    <a:lumMod val="5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年</a:t>
            </a:r>
            <a:endParaRPr kumimoji="0" lang="en-US" altLang="zh-CN" sz="1900" b="0" i="0" u="none" strike="noStrike" kern="1200" cap="none" spc="0" normalizeH="0" baseline="0" noProof="0" dirty="0">
              <a:ln>
                <a:noFill/>
              </a:ln>
              <a:solidFill>
                <a:srgbClr val="0070C0">
                  <a:lumMod val="5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7" name="淘宝网Chenying0907出品 37">
            <a:extLst>
              <a:ext uri="{FF2B5EF4-FFF2-40B4-BE49-F238E27FC236}">
                <a16:creationId xmlns:a16="http://schemas.microsoft.com/office/drawing/2014/main" id="{B37584A6-3B02-44EF-B671-17F11E5447B9}"/>
              </a:ext>
            </a:extLst>
          </p:cNvPr>
          <p:cNvSpPr>
            <a:spLocks noChangeArrowheads="1"/>
          </p:cNvSpPr>
          <p:nvPr/>
        </p:nvSpPr>
        <p:spPr bwMode="auto">
          <a:xfrm>
            <a:off x="8611908" y="4740951"/>
            <a:ext cx="998991"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zh-CN" sz="19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2016</a:t>
            </a:r>
            <a:r>
              <a:rPr kumimoji="0" lang="zh-CN" altLang="en-US" sz="19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年</a:t>
            </a:r>
          </a:p>
        </p:txBody>
      </p:sp>
      <p:sp>
        <p:nvSpPr>
          <p:cNvPr id="99" name="文本框 98">
            <a:extLst>
              <a:ext uri="{FF2B5EF4-FFF2-40B4-BE49-F238E27FC236}">
                <a16:creationId xmlns:a16="http://schemas.microsoft.com/office/drawing/2014/main" id="{F448BC65-FC2C-4455-BE9D-821F02964E72}"/>
              </a:ext>
            </a:extLst>
          </p:cNvPr>
          <p:cNvSpPr txBox="1"/>
          <p:nvPr/>
        </p:nvSpPr>
        <p:spPr>
          <a:xfrm>
            <a:off x="10552805" y="2768881"/>
            <a:ext cx="1601990" cy="923330"/>
          </a:xfrm>
          <a:prstGeom prst="rect">
            <a:avLst/>
          </a:prstGeom>
          <a:noFill/>
        </p:spPr>
        <p:txBody>
          <a:bodyPr wrap="square">
            <a:spAutoFit/>
          </a:bodyPr>
          <a:lstStyle>
            <a:defPPr>
              <a:defRPr lang="zh-CN"/>
            </a:defPPr>
            <a:lvl1pPr>
              <a:defRPr>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2020</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注册域名超</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3.70 </a:t>
            </a:r>
            <a:r>
              <a:rPr kumimoji="0" lang="zh-CN"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億</a:t>
            </a:r>
            <a:endPar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2" name="灯片编号占位符 1">
            <a:extLst>
              <a:ext uri="{FF2B5EF4-FFF2-40B4-BE49-F238E27FC236}">
                <a16:creationId xmlns:a16="http://schemas.microsoft.com/office/drawing/2014/main" id="{F5308AC6-76A2-4C71-9972-B073413AA3DB}"/>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
        <p:nvSpPr>
          <p:cNvPr id="7" name="标题 1">
            <a:extLst>
              <a:ext uri="{FF2B5EF4-FFF2-40B4-BE49-F238E27FC236}">
                <a16:creationId xmlns:a16="http://schemas.microsoft.com/office/drawing/2014/main" id="{486D86B9-4729-7BCB-0015-C59C296D7205}"/>
              </a:ext>
            </a:extLst>
          </p:cNvPr>
          <p:cNvSpPr>
            <a:spLocks noGrp="1"/>
          </p:cNvSpPr>
          <p:nvPr>
            <p:ph type="title"/>
          </p:nvPr>
        </p:nvSpPr>
        <p:spPr>
          <a:xfrm>
            <a:off x="1131376" y="136525"/>
            <a:ext cx="10222424" cy="725407"/>
          </a:xfrm>
        </p:spPr>
        <p:txBody>
          <a:bodyPr/>
          <a:lstStyle/>
          <a:p>
            <a:r>
              <a:rPr kumimoji="1" lang="en-US" altLang="zh-CN" dirty="0">
                <a:solidFill>
                  <a:srgbClr val="C00000"/>
                </a:solidFill>
              </a:rPr>
              <a:t>DNS</a:t>
            </a:r>
            <a:r>
              <a:rPr kumimoji="1" lang="zh-CN" altLang="en-US" dirty="0">
                <a:solidFill>
                  <a:srgbClr val="C00000"/>
                </a:solidFill>
              </a:rPr>
              <a:t>的演進</a:t>
            </a:r>
          </a:p>
        </p:txBody>
      </p:sp>
      <p:pic>
        <p:nvPicPr>
          <p:cNvPr id="4" name="图片 3">
            <a:extLst>
              <a:ext uri="{FF2B5EF4-FFF2-40B4-BE49-F238E27FC236}">
                <a16:creationId xmlns:a16="http://schemas.microsoft.com/office/drawing/2014/main" id="{F9EC517C-9544-A979-25D5-7C5988E96CB5}"/>
              </a:ext>
            </a:extLst>
          </p:cNvPr>
          <p:cNvPicPr>
            <a:picLocks noChangeAspect="1"/>
          </p:cNvPicPr>
          <p:nvPr/>
        </p:nvPicPr>
        <p:blipFill>
          <a:blip r:embed="rId6"/>
          <a:stretch>
            <a:fillRect/>
          </a:stretch>
        </p:blipFill>
        <p:spPr>
          <a:xfrm>
            <a:off x="125149" y="2703202"/>
            <a:ext cx="2374847" cy="901727"/>
          </a:xfrm>
          <a:prstGeom prst="rect">
            <a:avLst/>
          </a:prstGeom>
          <a:ln w="25400">
            <a:solidFill>
              <a:srgbClr val="0070C0"/>
            </a:solidFill>
          </a:ln>
        </p:spPr>
      </p:pic>
    </p:spTree>
    <p:extLst>
      <p:ext uri="{BB962C8B-B14F-4D97-AF65-F5344CB8AC3E}">
        <p14:creationId xmlns:p14="http://schemas.microsoft.com/office/powerpoint/2010/main" val="1802807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4DC8C194-615A-44E0-A0C3-F137CDE19D63}"/>
              </a:ext>
            </a:extLst>
          </p:cNvPr>
          <p:cNvSpPr>
            <a:spLocks/>
          </p:cNvSpPr>
          <p:nvPr/>
        </p:nvSpPr>
        <p:spPr bwMode="auto">
          <a:xfrm>
            <a:off x="6307618" y="1436473"/>
            <a:ext cx="5668700" cy="4366708"/>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12" name="矩形 11">
            <a:extLst>
              <a:ext uri="{FF2B5EF4-FFF2-40B4-BE49-F238E27FC236}">
                <a16:creationId xmlns:a16="http://schemas.microsoft.com/office/drawing/2014/main" id="{05CABA41-AAE8-432C-BE65-5704C2EB3113}"/>
              </a:ext>
            </a:extLst>
          </p:cNvPr>
          <p:cNvSpPr>
            <a:spLocks/>
          </p:cNvSpPr>
          <p:nvPr/>
        </p:nvSpPr>
        <p:spPr bwMode="auto">
          <a:xfrm>
            <a:off x="669094" y="1456676"/>
            <a:ext cx="5256693" cy="4331051"/>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en-US" altLang="zh-CN" dirty="0">
                <a:solidFill>
                  <a:srgbClr val="C00000"/>
                </a:solidFill>
              </a:rPr>
              <a:t>DNS</a:t>
            </a:r>
            <a:r>
              <a:rPr kumimoji="1" lang="zh-CN" altLang="en-US" dirty="0">
                <a:solidFill>
                  <a:srgbClr val="C00000"/>
                </a:solidFill>
              </a:rPr>
              <a:t>域名結構</a:t>
            </a:r>
          </a:p>
        </p:txBody>
      </p:sp>
      <p:sp>
        <p:nvSpPr>
          <p:cNvPr id="4" name="Rectangle 2">
            <a:extLst>
              <a:ext uri="{FF2B5EF4-FFF2-40B4-BE49-F238E27FC236}">
                <a16:creationId xmlns:a16="http://schemas.microsoft.com/office/drawing/2014/main" id="{029C09EC-41E6-413C-911B-4D3B9EBF325B}"/>
              </a:ext>
            </a:extLst>
          </p:cNvPr>
          <p:cNvSpPr>
            <a:spLocks noChangeArrowheads="1"/>
          </p:cNvSpPr>
          <p:nvPr/>
        </p:nvSpPr>
        <p:spPr bwMode="auto">
          <a:xfrm>
            <a:off x="1755495" y="1319751"/>
            <a:ext cx="139068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文本框 6">
            <a:extLst>
              <a:ext uri="{FF2B5EF4-FFF2-40B4-BE49-F238E27FC236}">
                <a16:creationId xmlns:a16="http://schemas.microsoft.com/office/drawing/2014/main" id="{E2D0B702-0095-4078-945D-58E2C67136C0}"/>
              </a:ext>
            </a:extLst>
          </p:cNvPr>
          <p:cNvSpPr txBox="1"/>
          <p:nvPr/>
        </p:nvSpPr>
        <p:spPr>
          <a:xfrm>
            <a:off x="753780" y="5326062"/>
            <a:ext cx="5023413"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NotoSerifCJKjp-Light-Identity-H"/>
              </a:rPr>
              <a:t>域名空間層次化授權結構</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0" name="矩形 19">
            <a:extLst>
              <a:ext uri="{FF2B5EF4-FFF2-40B4-BE49-F238E27FC236}">
                <a16:creationId xmlns:a16="http://schemas.microsoft.com/office/drawing/2014/main" id="{5CB1BF96-8599-4385-81B9-3169EBEFE961}"/>
              </a:ext>
            </a:extLst>
          </p:cNvPr>
          <p:cNvSpPr/>
          <p:nvPr/>
        </p:nvSpPr>
        <p:spPr>
          <a:xfrm>
            <a:off x="6242588" y="1434330"/>
            <a:ext cx="5532865" cy="5186805"/>
          </a:xfrm>
          <a:prstGeom prst="rect">
            <a:avLst/>
          </a:prstGeom>
        </p:spPr>
        <p:txBody>
          <a:bodyPr wrap="square">
            <a:spAutoFit/>
          </a:bodyPr>
          <a:lstStyle/>
          <a:p>
            <a:pPr marL="6477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域名系統采用</a:t>
            </a:r>
            <a:r>
              <a:rPr kumimoji="0" lang="zh-CN" altLang="en-US" sz="2400" b="0" i="0" u="none" strike="noStrike" kern="1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層次化樹形結構</a:t>
            </a:r>
            <a:endParaRPr kumimoji="0" lang="en-US" altLang="zh-CN" sz="2400" b="0" i="0" u="none" strike="noStrike" kern="1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a:p>
            <a:pPr marL="6477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altLang="zh-CN" sz="2400" b="0" i="0" u="none" strike="noStrike" kern="1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a:p>
            <a:pPr marL="6477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樹形最頂層爲根（</a:t>
            </a:r>
            <a:r>
              <a:rPr kumimoji="0" lang="en-US" altLang="zh-CN" sz="2400" b="0" i="0" u="none" strike="noStrike" kern="1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Root</a:t>
            </a:r>
            <a:r>
              <a:rPr kumimoji="0" lang="zh-CN" altLang="en-US" sz="24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），進一步劃分頂級域（</a:t>
            </a:r>
            <a:r>
              <a:rPr kumimoji="0" lang="en-US" altLang="zh-CN" sz="2400" b="0" i="0" u="none" strike="noStrike" kern="1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TLD</a:t>
            </a:r>
            <a:r>
              <a:rPr kumimoji="0" lang="zh-CN" altLang="en-US" sz="24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），頂級域管理機構授權給二級域名（</a:t>
            </a:r>
            <a:r>
              <a:rPr kumimoji="0" lang="en-US" altLang="zh-CN" sz="2400" b="0" i="0" u="none" strike="noStrike" kern="1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SLD</a:t>
            </a:r>
            <a:r>
              <a:rPr kumimoji="0" lang="zh-CN" altLang="en-US" sz="24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a:t>
            </a:r>
            <a:endParaRPr kumimoji="0" lang="en-US" altLang="zh-CN" sz="24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a:p>
            <a:pPr marL="6477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altLang="zh-CN" sz="24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a:p>
            <a:pPr marL="6477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層次化授權行爲最多可迭代</a:t>
            </a:r>
            <a:r>
              <a:rPr kumimoji="0" lang="en-US" altLang="zh-CN" sz="2400" b="0" i="0" u="none" strike="noStrike" kern="1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127</a:t>
            </a:r>
            <a:r>
              <a:rPr kumimoji="0" lang="en-US" altLang="zh-CN" sz="24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 </a:t>
            </a:r>
            <a:r>
              <a:rPr kumimoji="0" lang="zh-CN" altLang="en-US" sz="24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次</a:t>
            </a:r>
            <a:endParaRPr kumimoji="0" lang="zh-CN" altLang="zh-CN" sz="24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a:p>
            <a:pPr marL="6477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zh-CN" altLang="zh-CN" sz="2800" b="1"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a:p>
            <a:pPr marL="6477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altLang="zh-CN" sz="2800" b="1"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BDD8B801-AA0C-4950-AB87-31A0F94FE95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pic>
        <p:nvPicPr>
          <p:cNvPr id="11" name="Picture 10">
            <a:extLst>
              <a:ext uri="{FF2B5EF4-FFF2-40B4-BE49-F238E27FC236}">
                <a16:creationId xmlns:a16="http://schemas.microsoft.com/office/drawing/2014/main" id="{045471B2-E2DF-5B74-607A-13EFD9EED457}"/>
              </a:ext>
            </a:extLst>
          </p:cNvPr>
          <p:cNvPicPr>
            <a:picLocks noChangeAspect="1"/>
          </p:cNvPicPr>
          <p:nvPr/>
        </p:nvPicPr>
        <p:blipFill rotWithShape="1">
          <a:blip r:embed="rId3"/>
          <a:srcRect l="7452" r="7254"/>
          <a:stretch/>
        </p:blipFill>
        <p:spPr>
          <a:xfrm>
            <a:off x="784239" y="1871663"/>
            <a:ext cx="4962494" cy="2820369"/>
          </a:xfrm>
          <a:prstGeom prst="rect">
            <a:avLst/>
          </a:prstGeom>
        </p:spPr>
      </p:pic>
    </p:spTree>
    <p:extLst>
      <p:ext uri="{BB962C8B-B14F-4D97-AF65-F5344CB8AC3E}">
        <p14:creationId xmlns:p14="http://schemas.microsoft.com/office/powerpoint/2010/main" val="4228154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a:extLst>
              <a:ext uri="{FF2B5EF4-FFF2-40B4-BE49-F238E27FC236}">
                <a16:creationId xmlns:a16="http://schemas.microsoft.com/office/drawing/2014/main" id="{A6DED4BD-E84F-48E0-8AF7-548E0DC0191F}"/>
              </a:ext>
            </a:extLst>
          </p:cNvPr>
          <p:cNvSpPr/>
          <p:nvPr/>
        </p:nvSpPr>
        <p:spPr>
          <a:xfrm>
            <a:off x="1042988" y="4989288"/>
            <a:ext cx="10401300" cy="1514694"/>
          </a:xfrm>
          <a:prstGeom prst="roundRect">
            <a:avLst>
              <a:gd name="adj" fmla="val 0"/>
            </a:avLst>
          </a:prstGeom>
          <a:solidFill>
            <a:schemeClr val="accent3">
              <a:lumMod val="20000"/>
              <a:lumOff val="80000"/>
            </a:schemeClr>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a:ea typeface="微软雅黑" panose="020B0503020204020204" pitchFamily="34" charset="-122"/>
              <a:cs typeface="+mn-cs"/>
            </a:endParaRPr>
          </a:p>
        </p:txBody>
      </p:sp>
      <p:sp>
        <p:nvSpPr>
          <p:cNvPr id="15" name="矩形 14">
            <a:extLst>
              <a:ext uri="{FF2B5EF4-FFF2-40B4-BE49-F238E27FC236}">
                <a16:creationId xmlns:a16="http://schemas.microsoft.com/office/drawing/2014/main" id="{06C04FB0-CA54-4A3C-AF9E-3F364769A514}"/>
              </a:ext>
            </a:extLst>
          </p:cNvPr>
          <p:cNvSpPr>
            <a:spLocks/>
          </p:cNvSpPr>
          <p:nvPr/>
        </p:nvSpPr>
        <p:spPr bwMode="auto">
          <a:xfrm>
            <a:off x="1057275" y="1188937"/>
            <a:ext cx="5644861" cy="3575499"/>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en-US" altLang="zh-CN" dirty="0">
                <a:solidFill>
                  <a:srgbClr val="C00000"/>
                </a:solidFill>
              </a:rPr>
              <a:t>DNS</a:t>
            </a:r>
            <a:r>
              <a:rPr kumimoji="1" lang="zh-CN" altLang="en-US" dirty="0">
                <a:solidFill>
                  <a:srgbClr val="C00000"/>
                </a:solidFill>
              </a:rPr>
              <a:t>區域組織形式</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8" name="文本框 7">
            <a:extLst>
              <a:ext uri="{FF2B5EF4-FFF2-40B4-BE49-F238E27FC236}">
                <a16:creationId xmlns:a16="http://schemas.microsoft.com/office/drawing/2014/main" id="{E30FA07F-72B0-49DA-B14A-93CCCB8463F8}"/>
              </a:ext>
            </a:extLst>
          </p:cNvPr>
          <p:cNvSpPr txBox="1"/>
          <p:nvPr/>
        </p:nvSpPr>
        <p:spPr>
          <a:xfrm>
            <a:off x="2409841" y="4336550"/>
            <a:ext cx="3136740"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區域</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組織</a:t>
            </a: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示意圖</a:t>
            </a:r>
            <a:endPar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4" name="文本框 20">
            <a:extLst>
              <a:ext uri="{FF2B5EF4-FFF2-40B4-BE49-F238E27FC236}">
                <a16:creationId xmlns:a16="http://schemas.microsoft.com/office/drawing/2014/main" id="{007FD85C-3648-4B7C-9D9B-9C531A6DD6B5}"/>
              </a:ext>
            </a:extLst>
          </p:cNvPr>
          <p:cNvSpPr txBox="1"/>
          <p:nvPr/>
        </p:nvSpPr>
        <p:spPr>
          <a:xfrm>
            <a:off x="1159951" y="5186309"/>
            <a:ext cx="10380022" cy="1423467"/>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一個域名沒有被分割成子域或包含了子域全部數據，則域名和區域相同</a:t>
            </a:r>
            <a:endPar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一個域名被分割成子域，每個子域有自己的區域時，域名和區域具有不同的意義</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en-US" sz="2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cxnSp>
        <p:nvCxnSpPr>
          <p:cNvPr id="37" name="肘形连接符 39">
            <a:extLst>
              <a:ext uri="{FF2B5EF4-FFF2-40B4-BE49-F238E27FC236}">
                <a16:creationId xmlns:a16="http://schemas.microsoft.com/office/drawing/2014/main" id="{CA17938F-1D6F-4E0E-A1D4-061175E44E90}"/>
              </a:ext>
            </a:extLst>
          </p:cNvPr>
          <p:cNvCxnSpPr>
            <a:cxnSpLocks/>
          </p:cNvCxnSpPr>
          <p:nvPr>
            <p:custDataLst>
              <p:tags r:id="rId1"/>
            </p:custDataLst>
          </p:nvPr>
        </p:nvCxnSpPr>
        <p:spPr>
          <a:xfrm flipV="1">
            <a:off x="6702136" y="1721338"/>
            <a:ext cx="3579114" cy="1102532"/>
          </a:xfrm>
          <a:prstGeom prst="bentConnector3">
            <a:avLst>
              <a:gd name="adj1" fmla="val 19516"/>
            </a:avLst>
          </a:prstGeom>
          <a:noFill/>
          <a:ln w="25400" cap="flat" cmpd="sng" algn="ctr">
            <a:solidFill>
              <a:srgbClr val="297FD5"/>
            </a:solidFill>
            <a:prstDash val="solid"/>
            <a:miter lim="800000"/>
          </a:ln>
          <a:effectLst/>
        </p:spPr>
      </p:cxnSp>
      <p:cxnSp>
        <p:nvCxnSpPr>
          <p:cNvPr id="38" name="肘形连接符 45">
            <a:extLst>
              <a:ext uri="{FF2B5EF4-FFF2-40B4-BE49-F238E27FC236}">
                <a16:creationId xmlns:a16="http://schemas.microsoft.com/office/drawing/2014/main" id="{70FBABFE-3F63-4976-B05E-4A354E77DDA3}"/>
              </a:ext>
            </a:extLst>
          </p:cNvPr>
          <p:cNvCxnSpPr>
            <a:cxnSpLocks/>
          </p:cNvCxnSpPr>
          <p:nvPr>
            <p:custDataLst>
              <p:tags r:id="rId2"/>
            </p:custDataLst>
          </p:nvPr>
        </p:nvCxnSpPr>
        <p:spPr>
          <a:xfrm>
            <a:off x="6702136" y="3150875"/>
            <a:ext cx="3579114" cy="1212581"/>
          </a:xfrm>
          <a:prstGeom prst="bentConnector3">
            <a:avLst>
              <a:gd name="adj1" fmla="val 19226"/>
            </a:avLst>
          </a:prstGeom>
          <a:noFill/>
          <a:ln w="25400" cap="flat" cmpd="sng" algn="ctr">
            <a:solidFill>
              <a:srgbClr val="1F5FA0"/>
            </a:solidFill>
            <a:prstDash val="solid"/>
            <a:miter lim="800000"/>
          </a:ln>
          <a:effectLst/>
        </p:spPr>
      </p:cxnSp>
      <p:sp>
        <p:nvSpPr>
          <p:cNvPr id="44" name="文本框 31">
            <a:extLst>
              <a:ext uri="{FF2B5EF4-FFF2-40B4-BE49-F238E27FC236}">
                <a16:creationId xmlns:a16="http://schemas.microsoft.com/office/drawing/2014/main" id="{4AAF81E4-941A-4CC7-8F3D-A8D6BA568F0B}"/>
              </a:ext>
            </a:extLst>
          </p:cNvPr>
          <p:cNvSpPr txBox="1"/>
          <p:nvPr/>
        </p:nvSpPr>
        <p:spPr>
          <a:xfrm>
            <a:off x="7400236" y="3252465"/>
            <a:ext cx="3176937" cy="1114472"/>
          </a:xfrm>
          <a:prstGeom prst="rect">
            <a:avLst/>
          </a:prstGeom>
          <a:noFill/>
        </p:spPr>
        <p:txBody>
          <a:bodyPr wrap="square" lIns="68580" tIns="34290" rIns="68580" bIns="3429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ea"/>
                <a:sym typeface="+mn-lt"/>
              </a:rPr>
              <a:t>每個</a:t>
            </a:r>
            <a:r>
              <a:rPr kumimoji="0" lang="en-US" altLang="zh-CN" sz="180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ea"/>
                <a:sym typeface="+mn-lt"/>
              </a:rPr>
              <a:t>DNS</a:t>
            </a:r>
            <a:r>
              <a:rPr kumimoji="0" lang="zh-CN" altLang="en-US" sz="180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ea"/>
                <a:sym typeface="+mn-lt"/>
              </a:rPr>
              <a:t>區域至少有一個</a:t>
            </a:r>
            <a:r>
              <a:rPr kumimoji="0" lang="zh-CN" altLang="en-US" sz="1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rPr>
              <a:t>權威域名服務器</a:t>
            </a:r>
            <a:r>
              <a:rPr kumimoji="0" lang="zh-CN" altLang="en-US" sz="180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ea"/>
                <a:sym typeface="+mn-lt"/>
              </a:rPr>
              <a:t>發布關于這個區域的信息</a:t>
            </a:r>
          </a:p>
        </p:txBody>
      </p:sp>
      <p:sp>
        <p:nvSpPr>
          <p:cNvPr id="46" name="文本框 31">
            <a:extLst>
              <a:ext uri="{FF2B5EF4-FFF2-40B4-BE49-F238E27FC236}">
                <a16:creationId xmlns:a16="http://schemas.microsoft.com/office/drawing/2014/main" id="{A05081E6-526E-4366-91F6-154CCFB50C96}"/>
              </a:ext>
            </a:extLst>
          </p:cNvPr>
          <p:cNvSpPr txBox="1"/>
          <p:nvPr/>
        </p:nvSpPr>
        <p:spPr>
          <a:xfrm>
            <a:off x="7400236" y="1676304"/>
            <a:ext cx="3734489" cy="1474571"/>
          </a:xfrm>
          <a:prstGeom prst="rect">
            <a:avLst/>
          </a:prstGeom>
          <a:noFill/>
        </p:spPr>
        <p:txBody>
          <a:bodyPr wrap="square" lIns="68580" tIns="34290" rIns="68580" bIns="3429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ea"/>
                <a:sym typeface="+mn-lt"/>
              </a:rPr>
              <a:t>thucsnet.com</a:t>
            </a:r>
            <a:r>
              <a:rPr kumimoji="0" lang="zh-CN" altLang="en-US" sz="180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ea"/>
                <a:sym typeface="+mn-lt"/>
              </a:rPr>
              <a:t>分配</a:t>
            </a:r>
            <a:r>
              <a:rPr kumimoji="0" lang="en-US" altLang="zh-CN" sz="180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ea"/>
                <a:sym typeface="+mn-lt"/>
              </a:rPr>
              <a:t>cn.thucsnet.com</a:t>
            </a:r>
            <a:r>
              <a:rPr kumimoji="0" lang="zh-CN" altLang="en-US" sz="180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ea"/>
                <a:sym typeface="+mn-lt"/>
              </a:rPr>
              <a:t>，</a:t>
            </a:r>
            <a:r>
              <a:rPr kumimoji="0" lang="en-US" altLang="zh-CN" sz="180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ea"/>
                <a:sym typeface="+mn-lt"/>
              </a:rPr>
              <a:t>uk.thucsnet.com</a:t>
            </a:r>
            <a:r>
              <a:rPr kumimoji="0" lang="zh-CN" altLang="en-US" sz="180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ea"/>
                <a:sym typeface="+mn-lt"/>
              </a:rPr>
              <a:t>兩個子域，</a:t>
            </a:r>
            <a:r>
              <a:rPr kumimoji="0" lang="en-US" altLang="zh-CN" sz="180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ea"/>
                <a:sym typeface="+mn-lt"/>
              </a:rPr>
              <a:t>cn.thucsnet.com</a:t>
            </a:r>
            <a:r>
              <a:rPr kumimoji="0" lang="zh-CN" altLang="en-US" sz="180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ea"/>
                <a:sym typeface="+mn-lt"/>
              </a:rPr>
              <a:t>包含兩個區域</a:t>
            </a:r>
          </a:p>
        </p:txBody>
      </p:sp>
      <p:sp>
        <p:nvSpPr>
          <p:cNvPr id="2" name="灯片编号占位符 1">
            <a:extLst>
              <a:ext uri="{FF2B5EF4-FFF2-40B4-BE49-F238E27FC236}">
                <a16:creationId xmlns:a16="http://schemas.microsoft.com/office/drawing/2014/main" id="{FF739AEC-29C1-4CA8-97FA-FD332BC9640F}"/>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pic>
        <p:nvPicPr>
          <p:cNvPr id="10" name="Picture 9">
            <a:extLst>
              <a:ext uri="{FF2B5EF4-FFF2-40B4-BE49-F238E27FC236}">
                <a16:creationId xmlns:a16="http://schemas.microsoft.com/office/drawing/2014/main" id="{3B51E9B4-624B-58CE-6531-4BCD81756801}"/>
              </a:ext>
            </a:extLst>
          </p:cNvPr>
          <p:cNvPicPr>
            <a:picLocks noChangeAspect="1"/>
          </p:cNvPicPr>
          <p:nvPr/>
        </p:nvPicPr>
        <p:blipFill rotWithShape="1">
          <a:blip r:embed="rId5"/>
          <a:srcRect l="2592" r="3290"/>
          <a:stretch/>
        </p:blipFill>
        <p:spPr>
          <a:xfrm>
            <a:off x="1255027" y="1671638"/>
            <a:ext cx="5323458" cy="1936491"/>
          </a:xfrm>
          <a:prstGeom prst="rect">
            <a:avLst/>
          </a:prstGeom>
        </p:spPr>
      </p:pic>
    </p:spTree>
    <p:extLst>
      <p:ext uri="{BB962C8B-B14F-4D97-AF65-F5344CB8AC3E}">
        <p14:creationId xmlns:p14="http://schemas.microsoft.com/office/powerpoint/2010/main" val="1961493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DB01ED77-9249-4109-B43D-BB5E2283BD50}"/>
              </a:ext>
            </a:extLst>
          </p:cNvPr>
          <p:cNvSpPr>
            <a:spLocks/>
          </p:cNvSpPr>
          <p:nvPr/>
        </p:nvSpPr>
        <p:spPr bwMode="auto">
          <a:xfrm>
            <a:off x="700068" y="4139569"/>
            <a:ext cx="11085040" cy="2275609"/>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15" name="矩形 14">
            <a:extLst>
              <a:ext uri="{FF2B5EF4-FFF2-40B4-BE49-F238E27FC236}">
                <a16:creationId xmlns:a16="http://schemas.microsoft.com/office/drawing/2014/main" id="{06C04FB0-CA54-4A3C-AF9E-3F364769A514}"/>
              </a:ext>
            </a:extLst>
          </p:cNvPr>
          <p:cNvSpPr>
            <a:spLocks/>
          </p:cNvSpPr>
          <p:nvPr/>
        </p:nvSpPr>
        <p:spPr bwMode="auto">
          <a:xfrm>
            <a:off x="707157" y="1736495"/>
            <a:ext cx="11085040" cy="2002644"/>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en-US" altLang="zh-CN" dirty="0">
                <a:solidFill>
                  <a:srgbClr val="C00000"/>
                </a:solidFill>
              </a:rPr>
              <a:t>DNS</a:t>
            </a:r>
            <a:r>
              <a:rPr kumimoji="1" lang="zh-CN" altLang="en-US" dirty="0">
                <a:solidFill>
                  <a:srgbClr val="C00000"/>
                </a:solidFill>
              </a:rPr>
              <a:t>區域組織形式</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24" name="文本框 20">
            <a:extLst>
              <a:ext uri="{FF2B5EF4-FFF2-40B4-BE49-F238E27FC236}">
                <a16:creationId xmlns:a16="http://schemas.microsoft.com/office/drawing/2014/main" id="{007FD85C-3648-4B7C-9D9B-9C531A6DD6B5}"/>
              </a:ext>
            </a:extLst>
          </p:cNvPr>
          <p:cNvSpPr txBox="1"/>
          <p:nvPr/>
        </p:nvSpPr>
        <p:spPr>
          <a:xfrm>
            <a:off x="905989" y="1917628"/>
            <a:ext cx="10380022" cy="1685270"/>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marR="0" lvl="0" indent="-342900" algn="just"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每個</a:t>
            </a:r>
            <a:r>
              <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DNS</a:t>
            </a: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區域的</a:t>
            </a:r>
            <a:r>
              <a:rPr kumimoji="0" lang="zh-CN" altLang="en-US" sz="22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權威域名服務器</a:t>
            </a: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，發布關于該區域的信息，幷響應</a:t>
            </a:r>
            <a:r>
              <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DNS</a:t>
            </a: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查詢請求</a:t>
            </a:r>
            <a:endPar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342900" marR="0" lvl="0" indent="-342900" algn="just"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22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權威域名服務器</a:t>
            </a: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可以配置主從服務器，主服務器存儲所有區域記錄的記錄，而從服務器使用自動更新機制維護主記錄的副本</a:t>
            </a:r>
          </a:p>
        </p:txBody>
      </p:sp>
      <p:pic>
        <p:nvPicPr>
          <p:cNvPr id="1028" name="Picture 4">
            <a:extLst>
              <a:ext uri="{FF2B5EF4-FFF2-40B4-BE49-F238E27FC236}">
                <a16:creationId xmlns:a16="http://schemas.microsoft.com/office/drawing/2014/main" id="{9CF81CB0-24E7-4E13-A753-0275DA8C1D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6617" y="4294856"/>
            <a:ext cx="3494290" cy="196845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3B82A63C-30D0-47B2-9D77-7835223FFA7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73" t="5688" r="4588" b="9233"/>
          <a:stretch/>
        </p:blipFill>
        <p:spPr bwMode="auto">
          <a:xfrm>
            <a:off x="8559781" y="4303424"/>
            <a:ext cx="3047390" cy="198379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5308FE48-6AB3-4428-8275-A06222C87E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676" y="4294856"/>
            <a:ext cx="3267119" cy="198379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18" name="文本框 17">
            <a:extLst>
              <a:ext uri="{FF2B5EF4-FFF2-40B4-BE49-F238E27FC236}">
                <a16:creationId xmlns:a16="http://schemas.microsoft.com/office/drawing/2014/main" id="{BCB4AED6-BECC-4E13-90EF-E318E72FDCAD}"/>
              </a:ext>
            </a:extLst>
          </p:cNvPr>
          <p:cNvSpPr txBox="1"/>
          <p:nvPr/>
        </p:nvSpPr>
        <p:spPr>
          <a:xfrm>
            <a:off x="3465700" y="4896282"/>
            <a:ext cx="117862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權威域名服務器</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19" name="文本框 20">
            <a:extLst>
              <a:ext uri="{FF2B5EF4-FFF2-40B4-BE49-F238E27FC236}">
                <a16:creationId xmlns:a16="http://schemas.microsoft.com/office/drawing/2014/main" id="{09A9DF7B-DF7A-4E09-8C4A-76538B8F13FB}"/>
              </a:ext>
            </a:extLst>
          </p:cNvPr>
          <p:cNvSpPr txBox="1"/>
          <p:nvPr/>
        </p:nvSpPr>
        <p:spPr>
          <a:xfrm>
            <a:off x="700068" y="1017219"/>
            <a:ext cx="10380022" cy="438582"/>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權威域名服務器</a:t>
            </a:r>
          </a:p>
        </p:txBody>
      </p:sp>
      <p:sp>
        <p:nvSpPr>
          <p:cNvPr id="2" name="灯片编号占位符 1">
            <a:extLst>
              <a:ext uri="{FF2B5EF4-FFF2-40B4-BE49-F238E27FC236}">
                <a16:creationId xmlns:a16="http://schemas.microsoft.com/office/drawing/2014/main" id="{BF46E995-A7B5-45EA-8B9D-D2EACF06D7DE}"/>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468657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06C04FB0-CA54-4A3C-AF9E-3F364769A514}"/>
              </a:ext>
            </a:extLst>
          </p:cNvPr>
          <p:cNvSpPr>
            <a:spLocks/>
          </p:cNvSpPr>
          <p:nvPr/>
        </p:nvSpPr>
        <p:spPr bwMode="auto">
          <a:xfrm>
            <a:off x="1131376" y="4769426"/>
            <a:ext cx="10259096" cy="1706767"/>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en-US" altLang="zh-CN" dirty="0">
                <a:solidFill>
                  <a:srgbClr val="C00000"/>
                </a:solidFill>
              </a:rPr>
              <a:t>DNS</a:t>
            </a:r>
            <a:r>
              <a:rPr kumimoji="1" lang="zh-CN" altLang="en-US" dirty="0">
                <a:solidFill>
                  <a:srgbClr val="C00000"/>
                </a:solidFill>
              </a:rPr>
              <a:t>區域組織形式</a:t>
            </a:r>
          </a:p>
        </p:txBody>
      </p:sp>
      <p:sp>
        <p:nvSpPr>
          <p:cNvPr id="24" name="文本框 20">
            <a:extLst>
              <a:ext uri="{FF2B5EF4-FFF2-40B4-BE49-F238E27FC236}">
                <a16:creationId xmlns:a16="http://schemas.microsoft.com/office/drawing/2014/main" id="{007FD85C-3648-4B7C-9D9B-9C531A6DD6B5}"/>
              </a:ext>
            </a:extLst>
          </p:cNvPr>
          <p:cNvSpPr txBox="1"/>
          <p:nvPr/>
        </p:nvSpPr>
        <p:spPr>
          <a:xfrm>
            <a:off x="973778" y="967811"/>
            <a:ext cx="10380022" cy="500137"/>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DNS</a:t>
            </a:r>
            <a:r>
              <a:rPr kumimoji="0" lang="zh-CN" altLang="en-US" sz="2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根服務器（</a:t>
            </a:r>
            <a:r>
              <a:rPr kumimoji="0" lang="en-US" altLang="zh-CN" sz="2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ROOT</a:t>
            </a:r>
            <a:r>
              <a:rPr kumimoji="0" lang="zh-CN" altLang="en-US" sz="2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a:t>
            </a:r>
          </a:p>
        </p:txBody>
      </p:sp>
      <p:sp>
        <p:nvSpPr>
          <p:cNvPr id="11" name="文本框 10">
            <a:extLst>
              <a:ext uri="{FF2B5EF4-FFF2-40B4-BE49-F238E27FC236}">
                <a16:creationId xmlns:a16="http://schemas.microsoft.com/office/drawing/2014/main" id="{BB9C247B-2FDF-42C3-A728-542C254D6183}"/>
              </a:ext>
            </a:extLst>
          </p:cNvPr>
          <p:cNvSpPr txBox="1"/>
          <p:nvPr/>
        </p:nvSpPr>
        <p:spPr>
          <a:xfrm>
            <a:off x="-406730" y="6476194"/>
            <a:ext cx="6858000" cy="369332"/>
          </a:xfrm>
          <a:prstGeom prst="rect">
            <a:avLst/>
          </a:prstGeom>
          <a:noFill/>
        </p:spPr>
        <p:txBody>
          <a:bodyPr wrap="square">
            <a:spAutoFit/>
          </a:bodyPr>
          <a:lstStyle/>
          <a:p>
            <a:pPr marL="798513" marR="0" lvl="4" indent="-287338" algn="l" defTabSz="914400" rtl="0" eaLnBrk="1" fontAlgn="auto" latinLnBrk="0" hangingPunct="1">
              <a:lnSpc>
                <a:spcPct val="100000"/>
              </a:lnSpc>
              <a:spcBef>
                <a:spcPts val="0"/>
              </a:spcBef>
              <a:spcAft>
                <a:spcPts val="600"/>
              </a:spcAft>
              <a:buClr>
                <a:srgbClr val="000000"/>
              </a:buClr>
              <a:buSzPts val="1800"/>
              <a:buFontTx/>
              <a:buNone/>
              <a:tabLst/>
              <a:defRPr/>
            </a:pPr>
            <a:r>
              <a:rPr kumimoji="0" lang="en-GB" altLang="zh-CN" sz="1800" b="0" i="0" u="none" strike="noStrike" kern="1200" cap="none" spc="0" normalizeH="0" baseline="0" noProof="0" dirty="0">
                <a:ln>
                  <a:noFill/>
                </a:ln>
                <a:solidFill>
                  <a:srgbClr val="000000"/>
                </a:solidFill>
                <a:effectLst/>
                <a:uLnTx/>
                <a:uFillTx/>
                <a:latin typeface="Arial"/>
                <a:ea typeface="微软雅黑 Light"/>
                <a:cs typeface="+mn-cs"/>
                <a:hlinkClick r:id="rId3"/>
              </a:rPr>
              <a:t>https://www.internic.net/domain/root.zone</a:t>
            </a:r>
            <a:endParaRPr kumimoji="0" lang="en-GB" altLang="zh-CN"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13" name="文本框 20">
            <a:extLst>
              <a:ext uri="{FF2B5EF4-FFF2-40B4-BE49-F238E27FC236}">
                <a16:creationId xmlns:a16="http://schemas.microsoft.com/office/drawing/2014/main" id="{CFA528EB-8085-4CFA-864B-7EE6FB1165E6}"/>
              </a:ext>
            </a:extLst>
          </p:cNvPr>
          <p:cNvSpPr txBox="1"/>
          <p:nvPr/>
        </p:nvSpPr>
        <p:spPr>
          <a:xfrm>
            <a:off x="1297276" y="4909486"/>
            <a:ext cx="9852169" cy="1346715"/>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根服務器管理互聯網主目錄，</a:t>
            </a:r>
            <a:r>
              <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13</a:t>
            </a: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台</a:t>
            </a:r>
            <a:r>
              <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IPv4</a:t>
            </a: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（名爲“</a:t>
            </a:r>
            <a:r>
              <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A”</a:t>
            </a: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至“</a:t>
            </a:r>
            <a:r>
              <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M”</a:t>
            </a: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r>
              <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1</a:t>
            </a: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個主根服務器由美國</a:t>
            </a:r>
            <a:r>
              <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VeriSign</a:t>
            </a: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公司運營，</a:t>
            </a:r>
            <a:r>
              <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12</a:t>
            </a: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個輔根服務器，</a:t>
            </a:r>
            <a:r>
              <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9</a:t>
            </a: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個由美國運營，英國和瑞典、日本各</a:t>
            </a:r>
            <a:r>
              <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1</a:t>
            </a: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個</a:t>
            </a:r>
            <a:r>
              <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每個根服務器通過</a:t>
            </a:r>
            <a:r>
              <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anycast</a:t>
            </a:r>
            <a:r>
              <a:rPr kumimoji="0" lang="zh-CN" altLang="en-US"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方式在多個國家和地區部署</a:t>
            </a:r>
            <a:endParaRPr kumimoji="0" lang="en-US" altLang="zh-CN" sz="2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pic>
        <p:nvPicPr>
          <p:cNvPr id="2054" name="Picture 6">
            <a:extLst>
              <a:ext uri="{FF2B5EF4-FFF2-40B4-BE49-F238E27FC236}">
                <a16:creationId xmlns:a16="http://schemas.microsoft.com/office/drawing/2014/main" id="{9F166F60-B2F9-4A7B-9B73-0FF1DE45AC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5883" y="1587212"/>
            <a:ext cx="4817917" cy="26095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6" name="Picture 3" descr="Screen Clipping">
            <a:extLst>
              <a:ext uri="{FF2B5EF4-FFF2-40B4-BE49-F238E27FC236}">
                <a16:creationId xmlns:a16="http://schemas.microsoft.com/office/drawing/2014/main" id="{2C3C1C01-8B2B-423C-82E0-040DA56849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4759" y="1587212"/>
            <a:ext cx="5097829" cy="2609542"/>
          </a:xfrm>
          <a:prstGeom prst="rect">
            <a:avLst/>
          </a:prstGeom>
          <a:ln>
            <a:noFill/>
          </a:ln>
          <a:effectLst>
            <a:outerShdw blurRad="292100" dist="139700" dir="2700000" algn="tl" rotWithShape="0">
              <a:srgbClr val="333333">
                <a:alpha val="65000"/>
              </a:srgbClr>
            </a:outerShdw>
          </a:effectLst>
        </p:spPr>
      </p:pic>
      <p:sp>
        <p:nvSpPr>
          <p:cNvPr id="2" name="灯片编号占位符 1">
            <a:extLst>
              <a:ext uri="{FF2B5EF4-FFF2-40B4-BE49-F238E27FC236}">
                <a16:creationId xmlns:a16="http://schemas.microsoft.com/office/drawing/2014/main" id="{B223A746-8C1A-4A1B-9102-F414B5510AE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4186602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ACB3B96-757F-4DA9-8F09-5CA272DEB02C}"/>
              </a:ext>
            </a:extLst>
          </p:cNvPr>
          <p:cNvSpPr>
            <a:spLocks/>
          </p:cNvSpPr>
          <p:nvPr/>
        </p:nvSpPr>
        <p:spPr bwMode="auto">
          <a:xfrm>
            <a:off x="766323" y="3841015"/>
            <a:ext cx="11085040" cy="3010242"/>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15" name="矩形 14">
            <a:extLst>
              <a:ext uri="{FF2B5EF4-FFF2-40B4-BE49-F238E27FC236}">
                <a16:creationId xmlns:a16="http://schemas.microsoft.com/office/drawing/2014/main" id="{06C04FB0-CA54-4A3C-AF9E-3F364769A514}"/>
              </a:ext>
            </a:extLst>
          </p:cNvPr>
          <p:cNvSpPr>
            <a:spLocks/>
          </p:cNvSpPr>
          <p:nvPr/>
        </p:nvSpPr>
        <p:spPr bwMode="auto">
          <a:xfrm>
            <a:off x="766323" y="1647693"/>
            <a:ext cx="11085040" cy="204108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en-US" altLang="zh-CN" dirty="0">
                <a:solidFill>
                  <a:srgbClr val="C00000"/>
                </a:solidFill>
              </a:rPr>
              <a:t>DNS</a:t>
            </a:r>
            <a:r>
              <a:rPr kumimoji="1" lang="zh-CN" altLang="en-US" dirty="0">
                <a:solidFill>
                  <a:srgbClr val="C00000"/>
                </a:solidFill>
              </a:rPr>
              <a:t>區域組織形式</a:t>
            </a:r>
          </a:p>
        </p:txBody>
      </p:sp>
      <p:sp>
        <p:nvSpPr>
          <p:cNvPr id="24" name="文本框 20">
            <a:extLst>
              <a:ext uri="{FF2B5EF4-FFF2-40B4-BE49-F238E27FC236}">
                <a16:creationId xmlns:a16="http://schemas.microsoft.com/office/drawing/2014/main" id="{007FD85C-3648-4B7C-9D9B-9C531A6DD6B5}"/>
              </a:ext>
            </a:extLst>
          </p:cNvPr>
          <p:cNvSpPr txBox="1"/>
          <p:nvPr/>
        </p:nvSpPr>
        <p:spPr>
          <a:xfrm>
            <a:off x="905989" y="1028593"/>
            <a:ext cx="10380022" cy="438582"/>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a:t>
            </a:r>
            <a:r>
              <a:rPr kumimoji="0" lang="zh-CN" altLang="en-US" sz="2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雪人計劃”</a:t>
            </a:r>
          </a:p>
        </p:txBody>
      </p:sp>
      <p:sp>
        <p:nvSpPr>
          <p:cNvPr id="13" name="文本框 20">
            <a:extLst>
              <a:ext uri="{FF2B5EF4-FFF2-40B4-BE49-F238E27FC236}">
                <a16:creationId xmlns:a16="http://schemas.microsoft.com/office/drawing/2014/main" id="{CFA528EB-8085-4CFA-864B-7EE6FB1165E6}"/>
              </a:ext>
            </a:extLst>
          </p:cNvPr>
          <p:cNvSpPr txBox="1"/>
          <p:nvPr/>
        </p:nvSpPr>
        <p:spPr>
          <a:xfrm>
            <a:off x="905989" y="1890630"/>
            <a:ext cx="10639806" cy="1538370"/>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2015</a:t>
            </a:r>
            <a:r>
              <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年</a:t>
            </a:r>
            <a:r>
              <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6</a:t>
            </a:r>
            <a:r>
              <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月，我國下一代互聯網工程中心領銜發布運營</a:t>
            </a:r>
            <a:r>
              <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IPv6</a:t>
            </a:r>
            <a:r>
              <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根服務器的</a:t>
            </a:r>
            <a:r>
              <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r>
              <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雪人計劃”</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2016</a:t>
            </a:r>
            <a:r>
              <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年在美國、日本等</a:t>
            </a:r>
            <a:r>
              <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16</a:t>
            </a:r>
            <a:r>
              <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個國家架設</a:t>
            </a:r>
            <a:r>
              <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25</a:t>
            </a:r>
            <a:r>
              <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台</a:t>
            </a:r>
            <a:r>
              <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IPv6</a:t>
            </a:r>
            <a:r>
              <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根服務器，形成</a:t>
            </a:r>
            <a:r>
              <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13</a:t>
            </a:r>
            <a:r>
              <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台原有根加</a:t>
            </a:r>
            <a:r>
              <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25</a:t>
            </a:r>
            <a:r>
              <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台</a:t>
            </a:r>
            <a:r>
              <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IPv6</a:t>
            </a:r>
            <a:r>
              <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根（</a:t>
            </a:r>
            <a:r>
              <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3</a:t>
            </a:r>
            <a:r>
              <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台主根）的新格局。中國部署其中</a:t>
            </a:r>
            <a:r>
              <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4</a:t>
            </a:r>
            <a:r>
              <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台（</a:t>
            </a:r>
            <a:r>
              <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1</a:t>
            </a:r>
            <a:r>
              <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台主根和</a:t>
            </a:r>
            <a:r>
              <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3</a:t>
            </a:r>
            <a:r>
              <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台輔根服務器）</a:t>
            </a:r>
          </a:p>
        </p:txBody>
      </p:sp>
      <p:sp>
        <p:nvSpPr>
          <p:cNvPr id="2" name="灯片编号占位符 1">
            <a:extLst>
              <a:ext uri="{FF2B5EF4-FFF2-40B4-BE49-F238E27FC236}">
                <a16:creationId xmlns:a16="http://schemas.microsoft.com/office/drawing/2014/main" id="{7DAA2752-1DE8-44F2-92A2-D0A111B0026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pic>
        <p:nvPicPr>
          <p:cNvPr id="5" name="Picture 2">
            <a:extLst>
              <a:ext uri="{FF2B5EF4-FFF2-40B4-BE49-F238E27FC236}">
                <a16:creationId xmlns:a16="http://schemas.microsoft.com/office/drawing/2014/main" id="{CEBE8886-80DA-498C-8772-F2736371F4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3062" y="3931710"/>
            <a:ext cx="6096000" cy="284797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63CCF9DF-885B-4A46-85A0-C8C51CFCFB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2728" y="3931710"/>
            <a:ext cx="3774883" cy="2837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2124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1EE29A1-C89A-8644-9C6C-B4B5595B99BE}"/>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 name="矩形 2">
            <a:extLst>
              <a:ext uri="{FF2B5EF4-FFF2-40B4-BE49-F238E27FC236}">
                <a16:creationId xmlns:a16="http://schemas.microsoft.com/office/drawing/2014/main" id="{95390BD7-9E9C-0D4E-A92D-6F6196C9DABC}"/>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4" name="椭圆 3">
            <a:extLst>
              <a:ext uri="{FF2B5EF4-FFF2-40B4-BE49-F238E27FC236}">
                <a16:creationId xmlns:a16="http://schemas.microsoft.com/office/drawing/2014/main" id="{BF9CDFA6-B029-6B4C-B9E4-7CF16FFE8CAE}"/>
              </a:ext>
            </a:extLst>
          </p:cNvPr>
          <p:cNvSpPr/>
          <p:nvPr/>
        </p:nvSpPr>
        <p:spPr>
          <a:xfrm>
            <a:off x="2038665" y="124711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pic>
        <p:nvPicPr>
          <p:cNvPr id="23" name="图片 22">
            <a:extLst>
              <a:ext uri="{FF2B5EF4-FFF2-40B4-BE49-F238E27FC236}">
                <a16:creationId xmlns:a16="http://schemas.microsoft.com/office/drawing/2014/main" id="{0FE6FCD0-FA89-B441-A733-B32B5C383245}"/>
              </a:ext>
            </a:extLst>
          </p:cNvPr>
          <p:cNvPicPr>
            <a:picLocks noChangeAspect="1"/>
          </p:cNvPicPr>
          <p:nvPr/>
        </p:nvPicPr>
        <p:blipFill>
          <a:blip r:embed="rId3"/>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24" name="矩形 23">
            <a:extLst>
              <a:ext uri="{FF2B5EF4-FFF2-40B4-BE49-F238E27FC236}">
                <a16:creationId xmlns:a16="http://schemas.microsoft.com/office/drawing/2014/main" id="{3FCEB227-503D-45F9-949B-6355E355F25A}"/>
              </a:ext>
            </a:extLst>
          </p:cNvPr>
          <p:cNvSpPr/>
          <p:nvPr/>
        </p:nvSpPr>
        <p:spPr>
          <a:xfrm>
            <a:off x="4711535" y="2044858"/>
            <a:ext cx="6615914" cy="70788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第二節 </a:t>
            </a:r>
            <a:r>
              <a:rPr kumimoji="0" lang="en-US" altLang="zh-CN" sz="4000" b="1" i="0" u="none" strike="noStrike" kern="1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DNS</a:t>
            </a:r>
            <a:r>
              <a:rPr kumimoji="0" lang="zh-CN" altLang="en-US" sz="4000" b="1" i="0" u="none" strike="noStrike" kern="1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使用及解析過程</a:t>
            </a:r>
          </a:p>
        </p:txBody>
      </p:sp>
      <p:grpSp>
        <p:nvGrpSpPr>
          <p:cNvPr id="25" name="Group 5">
            <a:extLst>
              <a:ext uri="{FF2B5EF4-FFF2-40B4-BE49-F238E27FC236}">
                <a16:creationId xmlns:a16="http://schemas.microsoft.com/office/drawing/2014/main" id="{2061F4E3-8411-4DD6-98FA-598F64B75C0D}"/>
              </a:ext>
            </a:extLst>
          </p:cNvPr>
          <p:cNvGrpSpPr/>
          <p:nvPr/>
        </p:nvGrpSpPr>
        <p:grpSpPr>
          <a:xfrm>
            <a:off x="5457021" y="3901094"/>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6" name="Oval 6">
              <a:extLst>
                <a:ext uri="{FF2B5EF4-FFF2-40B4-BE49-F238E27FC236}">
                  <a16:creationId xmlns:a16="http://schemas.microsoft.com/office/drawing/2014/main" id="{45121B5E-B2A8-4348-8B87-F8D0075DA3C8}"/>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27" name="Freeform 7">
              <a:extLst>
                <a:ext uri="{FF2B5EF4-FFF2-40B4-BE49-F238E27FC236}">
                  <a16:creationId xmlns:a16="http://schemas.microsoft.com/office/drawing/2014/main" id="{378C56C4-37E4-4DBF-9D5B-79A0372C7ED1}"/>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grpSp>
      <p:sp>
        <p:nvSpPr>
          <p:cNvPr id="32" name="TextBox 9">
            <a:extLst>
              <a:ext uri="{FF2B5EF4-FFF2-40B4-BE49-F238E27FC236}">
                <a16:creationId xmlns:a16="http://schemas.microsoft.com/office/drawing/2014/main" id="{70B519C5-071A-4A7E-9A20-34EF72F69798}"/>
              </a:ext>
            </a:extLst>
          </p:cNvPr>
          <p:cNvSpPr txBox="1">
            <a:spLocks noChangeArrowheads="1"/>
          </p:cNvSpPr>
          <p:nvPr/>
        </p:nvSpPr>
        <p:spPr bwMode="auto">
          <a:xfrm>
            <a:off x="5915416" y="3874248"/>
            <a:ext cx="1462260" cy="461665"/>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使用</a:t>
            </a:r>
          </a:p>
        </p:txBody>
      </p:sp>
      <p:grpSp>
        <p:nvGrpSpPr>
          <p:cNvPr id="33" name="Group 11">
            <a:extLst>
              <a:ext uri="{FF2B5EF4-FFF2-40B4-BE49-F238E27FC236}">
                <a16:creationId xmlns:a16="http://schemas.microsoft.com/office/drawing/2014/main" id="{76128366-ADAD-4ABD-8C08-E2F818F85775}"/>
              </a:ext>
            </a:extLst>
          </p:cNvPr>
          <p:cNvGrpSpPr/>
          <p:nvPr/>
        </p:nvGrpSpPr>
        <p:grpSpPr>
          <a:xfrm>
            <a:off x="5457021" y="4781642"/>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34" name="Oval 12">
              <a:extLst>
                <a:ext uri="{FF2B5EF4-FFF2-40B4-BE49-F238E27FC236}">
                  <a16:creationId xmlns:a16="http://schemas.microsoft.com/office/drawing/2014/main" id="{3AE2120F-843C-48CF-BF61-4AC8EDE2F3D3}"/>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35" name="Freeform 13">
              <a:extLst>
                <a:ext uri="{FF2B5EF4-FFF2-40B4-BE49-F238E27FC236}">
                  <a16:creationId xmlns:a16="http://schemas.microsoft.com/office/drawing/2014/main" id="{8DBAB252-4CDD-4BDB-84B3-1372FC51708E}"/>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grpSp>
      <p:sp>
        <p:nvSpPr>
          <p:cNvPr id="36" name="TextBox 15">
            <a:extLst>
              <a:ext uri="{FF2B5EF4-FFF2-40B4-BE49-F238E27FC236}">
                <a16:creationId xmlns:a16="http://schemas.microsoft.com/office/drawing/2014/main" id="{45C9F178-9E3C-4711-A744-F05A95301F72}"/>
              </a:ext>
            </a:extLst>
          </p:cNvPr>
          <p:cNvSpPr txBox="1">
            <a:spLocks noChangeArrowheads="1"/>
          </p:cNvSpPr>
          <p:nvPr/>
        </p:nvSpPr>
        <p:spPr bwMode="auto">
          <a:xfrm>
            <a:off x="5915416" y="4757996"/>
            <a:ext cx="2077813" cy="461665"/>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解析過程</a:t>
            </a:r>
          </a:p>
        </p:txBody>
      </p:sp>
      <p:sp>
        <p:nvSpPr>
          <p:cNvPr id="2" name="灯片编号占位符 1">
            <a:extLst>
              <a:ext uri="{FF2B5EF4-FFF2-40B4-BE49-F238E27FC236}">
                <a16:creationId xmlns:a16="http://schemas.microsoft.com/office/drawing/2014/main" id="{AEC893ED-C171-4EE8-AFCD-101A14A9C0A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233072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en-US" altLang="zh-CN" dirty="0">
                <a:solidFill>
                  <a:srgbClr val="C00000"/>
                </a:solidFill>
              </a:rPr>
              <a:t>DNS</a:t>
            </a:r>
            <a:r>
              <a:rPr kumimoji="1" lang="zh-CN" altLang="en-US" dirty="0">
                <a:solidFill>
                  <a:srgbClr val="C00000"/>
                </a:solidFill>
              </a:rPr>
              <a:t>使用</a:t>
            </a:r>
          </a:p>
        </p:txBody>
      </p:sp>
      <p:sp>
        <p:nvSpPr>
          <p:cNvPr id="2" name="矩形 1">
            <a:extLst>
              <a:ext uri="{FF2B5EF4-FFF2-40B4-BE49-F238E27FC236}">
                <a16:creationId xmlns:a16="http://schemas.microsoft.com/office/drawing/2014/main" id="{1D37DB15-DF76-45B4-BCD0-A2011BD89F3B}"/>
              </a:ext>
            </a:extLst>
          </p:cNvPr>
          <p:cNvSpPr/>
          <p:nvPr/>
        </p:nvSpPr>
        <p:spPr>
          <a:xfrm>
            <a:off x="1790219" y="4705837"/>
            <a:ext cx="4190035" cy="1689052"/>
          </a:xfrm>
          <a:prstGeom prst="rect">
            <a:avLst/>
          </a:prstGeom>
        </p:spPr>
        <p:txBody>
          <a:bodyPr wrap="square">
            <a:spAutoFit/>
          </a:bodyPr>
          <a:lstStyle/>
          <a:p>
            <a:pPr marL="762000" marR="0" lvl="0" indent="-457200" algn="just" defTabSz="914400" rtl="0" eaLnBrk="1" fontAlgn="auto" latinLnBrk="0" hangingPunct="1">
              <a:lnSpc>
                <a:spcPct val="150000"/>
              </a:lnSpc>
              <a:spcBef>
                <a:spcPts val="0"/>
              </a:spcBef>
              <a:spcAft>
                <a:spcPts val="0"/>
              </a:spcAft>
              <a:buClrTx/>
              <a:buSzTx/>
              <a:buFontTx/>
              <a:buAutoNum type="arabicPeriod"/>
              <a:tabLst/>
              <a:defRPr/>
            </a:pPr>
            <a:r>
              <a:rPr kumimoji="0" lang="zh-CN" altLang="en-US" sz="24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瀏覽器輸入 </a:t>
            </a:r>
            <a:endParaRPr kumimoji="0" lang="en-US" altLang="zh-CN" sz="24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a:p>
            <a:pPr marL="304800" marR="0" lvl="0" indent="0" algn="just" defTabSz="914400" rtl="0" eaLnBrk="1" fontAlgn="auto" latinLnBrk="0" hangingPunct="1">
              <a:lnSpc>
                <a:spcPct val="150000"/>
              </a:lnSpc>
              <a:spcBef>
                <a:spcPts val="0"/>
              </a:spcBef>
              <a:spcAft>
                <a:spcPts val="0"/>
              </a:spcAft>
              <a:buClrTx/>
              <a:buSzTx/>
              <a:buFontTx/>
              <a:buNone/>
              <a:tabLst/>
              <a:defRPr/>
            </a:pPr>
            <a:r>
              <a:rPr kumimoji="0" lang="en-US" altLang="zh-CN" sz="24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2.  </a:t>
            </a:r>
            <a:r>
              <a:rPr kumimoji="0" lang="zh-CN" altLang="en-US" sz="24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請求到達</a:t>
            </a:r>
            <a:r>
              <a:rPr kumimoji="0" lang="en-US" altLang="zh-CN" sz="24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DNS</a:t>
            </a:r>
            <a:r>
              <a:rPr kumimoji="0" lang="zh-CN" altLang="en-US" sz="24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解析程序</a:t>
            </a:r>
          </a:p>
          <a:p>
            <a:pPr marL="304800" marR="0" lvl="0" indent="0" algn="just" defTabSz="914400" rtl="0" eaLnBrk="1" fontAlgn="auto" latinLnBrk="0" hangingPunct="1">
              <a:lnSpc>
                <a:spcPct val="150000"/>
              </a:lnSpc>
              <a:spcBef>
                <a:spcPts val="0"/>
              </a:spcBef>
              <a:spcAft>
                <a:spcPts val="0"/>
              </a:spcAft>
              <a:buClrTx/>
              <a:buSzTx/>
              <a:buFontTx/>
              <a:buNone/>
              <a:tabLst/>
              <a:defRPr/>
            </a:pPr>
            <a:r>
              <a:rPr kumimoji="0" lang="en-US" altLang="zh-CN" sz="24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3.  </a:t>
            </a:r>
            <a:r>
              <a:rPr kumimoji="0" lang="zh-CN" altLang="en-US" sz="24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查詢獲得</a:t>
            </a:r>
            <a:r>
              <a:rPr kumimoji="0" lang="en-US" altLang="zh-CN" sz="24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IP </a:t>
            </a:r>
            <a:r>
              <a:rPr kumimoji="0" lang="zh-CN" altLang="en-US" sz="2400" b="0" i="0" u="none" strike="noStrike" kern="1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地址</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5" name="Rectangle 2">
            <a:extLst>
              <a:ext uri="{FF2B5EF4-FFF2-40B4-BE49-F238E27FC236}">
                <a16:creationId xmlns:a16="http://schemas.microsoft.com/office/drawing/2014/main" id="{6F8D030D-5083-4E4F-A339-15C9A90BB826}"/>
              </a:ext>
            </a:extLst>
          </p:cNvPr>
          <p:cNvSpPr>
            <a:spLocks noChangeArrowheads="1"/>
          </p:cNvSpPr>
          <p:nvPr/>
        </p:nvSpPr>
        <p:spPr bwMode="auto">
          <a:xfrm>
            <a:off x="2168894" y="726443"/>
            <a:ext cx="149009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grpSp>
        <p:nvGrpSpPr>
          <p:cNvPr id="16" name="组合 15">
            <a:extLst>
              <a:ext uri="{FF2B5EF4-FFF2-40B4-BE49-F238E27FC236}">
                <a16:creationId xmlns:a16="http://schemas.microsoft.com/office/drawing/2014/main" id="{3767BAC9-E999-49E1-AA7E-CF15D17F2A31}"/>
              </a:ext>
            </a:extLst>
          </p:cNvPr>
          <p:cNvGrpSpPr/>
          <p:nvPr/>
        </p:nvGrpSpPr>
        <p:grpSpPr>
          <a:xfrm>
            <a:off x="6130784" y="1165239"/>
            <a:ext cx="4635738" cy="2990138"/>
            <a:chOff x="5674229" y="1125466"/>
            <a:chExt cx="4635738" cy="2990138"/>
          </a:xfrm>
        </p:grpSpPr>
        <p:pic>
          <p:nvPicPr>
            <p:cNvPr id="11" name="图片 10">
              <a:extLst>
                <a:ext uri="{FF2B5EF4-FFF2-40B4-BE49-F238E27FC236}">
                  <a16:creationId xmlns:a16="http://schemas.microsoft.com/office/drawing/2014/main" id="{69B7BA7A-D244-4F4D-9FBD-F6C975FD090F}"/>
                </a:ext>
              </a:extLst>
            </p:cNvPr>
            <p:cNvPicPr>
              <a:picLocks noChangeAspect="1"/>
            </p:cNvPicPr>
            <p:nvPr/>
          </p:nvPicPr>
          <p:blipFill>
            <a:blip r:embed="rId3"/>
            <a:stretch>
              <a:fillRect/>
            </a:stretch>
          </p:blipFill>
          <p:spPr>
            <a:xfrm>
              <a:off x="5674229" y="1125466"/>
              <a:ext cx="4635738" cy="2952902"/>
            </a:xfrm>
            <a:prstGeom prst="rect">
              <a:avLst/>
            </a:prstGeom>
            <a:ln>
              <a:noFill/>
            </a:ln>
            <a:effectLst>
              <a:outerShdw blurRad="292100" dist="139700" dir="2700000" algn="tl" rotWithShape="0">
                <a:srgbClr val="333333">
                  <a:alpha val="65000"/>
                </a:srgbClr>
              </a:outerShdw>
            </a:effectLst>
          </p:spPr>
        </p:pic>
        <p:sp>
          <p:nvSpPr>
            <p:cNvPr id="12" name="矩形 11">
              <a:extLst>
                <a:ext uri="{FF2B5EF4-FFF2-40B4-BE49-F238E27FC236}">
                  <a16:creationId xmlns:a16="http://schemas.microsoft.com/office/drawing/2014/main" id="{651DE766-CCF5-40EC-956A-9EA28D2A232F}"/>
                </a:ext>
              </a:extLst>
            </p:cNvPr>
            <p:cNvSpPr/>
            <p:nvPr/>
          </p:nvSpPr>
          <p:spPr>
            <a:xfrm>
              <a:off x="5813908" y="3422785"/>
              <a:ext cx="4356380" cy="69281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grpSp>
      <p:grpSp>
        <p:nvGrpSpPr>
          <p:cNvPr id="15" name="组合 14">
            <a:extLst>
              <a:ext uri="{FF2B5EF4-FFF2-40B4-BE49-F238E27FC236}">
                <a16:creationId xmlns:a16="http://schemas.microsoft.com/office/drawing/2014/main" id="{0B546C8F-A3CB-4C8D-BE7D-2BB4A5794972}"/>
              </a:ext>
            </a:extLst>
          </p:cNvPr>
          <p:cNvGrpSpPr/>
          <p:nvPr/>
        </p:nvGrpSpPr>
        <p:grpSpPr>
          <a:xfrm>
            <a:off x="752072" y="1336433"/>
            <a:ext cx="4356380" cy="5443913"/>
            <a:chOff x="918434" y="1095775"/>
            <a:chExt cx="4356380" cy="5443913"/>
          </a:xfrm>
        </p:grpSpPr>
        <p:pic>
          <p:nvPicPr>
            <p:cNvPr id="7" name="图片 6">
              <a:extLst>
                <a:ext uri="{FF2B5EF4-FFF2-40B4-BE49-F238E27FC236}">
                  <a16:creationId xmlns:a16="http://schemas.microsoft.com/office/drawing/2014/main" id="{8AFB48AC-4E10-4EE8-8698-752C41B1AAC1}"/>
                </a:ext>
              </a:extLst>
            </p:cNvPr>
            <p:cNvPicPr>
              <a:picLocks noChangeAspect="1"/>
            </p:cNvPicPr>
            <p:nvPr/>
          </p:nvPicPr>
          <p:blipFill>
            <a:blip r:embed="rId4"/>
            <a:stretch>
              <a:fillRect/>
            </a:stretch>
          </p:blipFill>
          <p:spPr>
            <a:xfrm>
              <a:off x="918434" y="1095775"/>
              <a:ext cx="4356380" cy="5443913"/>
            </a:xfrm>
            <a:prstGeom prst="rect">
              <a:avLst/>
            </a:prstGeom>
            <a:ln>
              <a:noFill/>
            </a:ln>
            <a:effectLst>
              <a:outerShdw blurRad="292100" dist="139700" dir="2700000" algn="tl" rotWithShape="0">
                <a:srgbClr val="333333">
                  <a:alpha val="65000"/>
                </a:srgbClr>
              </a:outerShdw>
            </a:effectLst>
          </p:spPr>
        </p:pic>
        <p:sp>
          <p:nvSpPr>
            <p:cNvPr id="14" name="矩形 13">
              <a:extLst>
                <a:ext uri="{FF2B5EF4-FFF2-40B4-BE49-F238E27FC236}">
                  <a16:creationId xmlns:a16="http://schemas.microsoft.com/office/drawing/2014/main" id="{BF78A352-5A45-41C6-B396-553C2C68EC22}"/>
                </a:ext>
              </a:extLst>
            </p:cNvPr>
            <p:cNvSpPr/>
            <p:nvPr/>
          </p:nvSpPr>
          <p:spPr>
            <a:xfrm>
              <a:off x="1131376" y="4468862"/>
              <a:ext cx="3979243" cy="10801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grpSp>
      <p:sp>
        <p:nvSpPr>
          <p:cNvPr id="17" name="文本框 20">
            <a:extLst>
              <a:ext uri="{FF2B5EF4-FFF2-40B4-BE49-F238E27FC236}">
                <a16:creationId xmlns:a16="http://schemas.microsoft.com/office/drawing/2014/main" id="{8F09D957-9EDD-449E-85EC-DD64E342139F}"/>
              </a:ext>
            </a:extLst>
          </p:cNvPr>
          <p:cNvSpPr txBox="1"/>
          <p:nvPr/>
        </p:nvSpPr>
        <p:spPr>
          <a:xfrm>
            <a:off x="752072" y="819270"/>
            <a:ext cx="5046043" cy="500137"/>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設置</a:t>
            </a:r>
            <a:r>
              <a:rPr kumimoji="0" lang="en-US" altLang="zh-CN"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DNS</a:t>
            </a:r>
            <a:r>
              <a:rPr kumimoji="0" lang="zh-CN" altLang="en-US"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服務器</a:t>
            </a:r>
          </a:p>
        </p:txBody>
      </p:sp>
      <p:sp>
        <p:nvSpPr>
          <p:cNvPr id="18" name="文本框 20">
            <a:extLst>
              <a:ext uri="{FF2B5EF4-FFF2-40B4-BE49-F238E27FC236}">
                <a16:creationId xmlns:a16="http://schemas.microsoft.com/office/drawing/2014/main" id="{C2C59AB0-DCF2-4259-83AD-A1A37CF49DBD}"/>
              </a:ext>
            </a:extLst>
          </p:cNvPr>
          <p:cNvSpPr txBox="1"/>
          <p:nvPr/>
        </p:nvSpPr>
        <p:spPr>
          <a:xfrm>
            <a:off x="6056914" y="4486546"/>
            <a:ext cx="6282729" cy="438582"/>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Windows</a:t>
            </a:r>
            <a:r>
              <a:rPr kumimoji="0" lang="zh-CN" altLang="en-US" sz="2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中設置及查看</a:t>
            </a:r>
            <a:r>
              <a:rPr kumimoji="0" lang="en-US" altLang="zh-CN" sz="2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DNS</a:t>
            </a:r>
            <a:r>
              <a:rPr kumimoji="0" lang="zh-CN" altLang="en-US" sz="2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服務器</a:t>
            </a:r>
          </a:p>
        </p:txBody>
      </p:sp>
      <p:pic>
        <p:nvPicPr>
          <p:cNvPr id="19" name="图片 18">
            <a:extLst>
              <a:ext uri="{FF2B5EF4-FFF2-40B4-BE49-F238E27FC236}">
                <a16:creationId xmlns:a16="http://schemas.microsoft.com/office/drawing/2014/main" id="{FF0A013E-E6C1-4FA6-BF11-D1EBC1137A16}"/>
              </a:ext>
            </a:extLst>
          </p:cNvPr>
          <p:cNvPicPr>
            <a:picLocks noChangeAspect="1"/>
          </p:cNvPicPr>
          <p:nvPr/>
        </p:nvPicPr>
        <p:blipFill>
          <a:blip r:embed="rId5"/>
          <a:stretch>
            <a:fillRect/>
          </a:stretch>
        </p:blipFill>
        <p:spPr>
          <a:xfrm>
            <a:off x="6211748" y="5070211"/>
            <a:ext cx="4919583" cy="902489"/>
          </a:xfrm>
          <a:prstGeom prst="rect">
            <a:avLst/>
          </a:prstGeom>
        </p:spPr>
      </p:pic>
      <p:sp>
        <p:nvSpPr>
          <p:cNvPr id="20" name="文本框 20">
            <a:extLst>
              <a:ext uri="{FF2B5EF4-FFF2-40B4-BE49-F238E27FC236}">
                <a16:creationId xmlns:a16="http://schemas.microsoft.com/office/drawing/2014/main" id="{3621F7FC-0312-476A-9A0E-0BF1A9BEE872}"/>
              </a:ext>
            </a:extLst>
          </p:cNvPr>
          <p:cNvSpPr txBox="1"/>
          <p:nvPr/>
        </p:nvSpPr>
        <p:spPr>
          <a:xfrm>
            <a:off x="6095998" y="6136015"/>
            <a:ext cx="6204560" cy="807913"/>
          </a:xfrm>
          <a:prstGeom prst="rect">
            <a:avLst/>
          </a:prstGeom>
          <a:noFill/>
        </p:spPr>
        <p:txBody>
          <a:bodyPr wrap="square" lIns="68580" tIns="34290" rIns="68580" bIns="34290" rtlCol="0">
            <a:spAutoFit/>
          </a:bodyPr>
          <a:lstStyle>
            <a:defPPr>
              <a:defRPr lang="zh-CN"/>
            </a:defPPr>
            <a:lvl1pPr>
              <a:defRPr sz="2400" b="1">
                <a:latin typeface="微软雅黑" panose="020B0503020204020204" charset="-122"/>
                <a:ea typeface="微软雅黑" panose="020B0503020204020204"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err="1">
                <a:ln>
                  <a:noFill/>
                </a:ln>
                <a:solidFill>
                  <a:srgbClr val="000000"/>
                </a:solidFill>
                <a:effectLst/>
                <a:uLnTx/>
                <a:uFillTx/>
                <a:latin typeface="微软雅黑" panose="020B0503020204020204" charset="-122"/>
                <a:ea typeface="微软雅黑" panose="020B0503020204020204" charset="-122"/>
                <a:cs typeface="+mn-cs"/>
              </a:rPr>
              <a:t>Ubutun</a:t>
            </a:r>
            <a:r>
              <a:rPr kumimoji="0" lang="zh-CN" altLang="en-US" sz="2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直接修改</a:t>
            </a:r>
            <a:r>
              <a:rPr kumimoji="0" lang="en-GB" altLang="zh-CN" sz="2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/etc/</a:t>
            </a:r>
            <a:r>
              <a:rPr kumimoji="0" lang="en-GB" altLang="zh-CN" sz="2400" b="0" i="0" u="none" strike="noStrike" kern="1200" cap="none" spc="0" normalizeH="0" baseline="0" noProof="0" dirty="0" err="1">
                <a:ln>
                  <a:noFill/>
                </a:ln>
                <a:solidFill>
                  <a:srgbClr val="000000"/>
                </a:solidFill>
                <a:effectLst/>
                <a:uLnTx/>
                <a:uFillTx/>
                <a:latin typeface="微软雅黑" panose="020B0503020204020204" charset="-122"/>
                <a:ea typeface="微软雅黑" panose="020B0503020204020204" charset="-122"/>
                <a:cs typeface="+mn-cs"/>
              </a:rPr>
              <a:t>resolv.conf</a:t>
            </a:r>
            <a:endParaRPr kumimoji="0" lang="en-GB" altLang="zh-CN" sz="2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1" name="箭头: 左 20">
            <a:extLst>
              <a:ext uri="{FF2B5EF4-FFF2-40B4-BE49-F238E27FC236}">
                <a16:creationId xmlns:a16="http://schemas.microsoft.com/office/drawing/2014/main" id="{69831458-A977-48F3-901C-9E813E5CB552}"/>
              </a:ext>
            </a:extLst>
          </p:cNvPr>
          <p:cNvSpPr/>
          <p:nvPr/>
        </p:nvSpPr>
        <p:spPr>
          <a:xfrm>
            <a:off x="5403219" y="4571924"/>
            <a:ext cx="435869" cy="215608"/>
          </a:xfrm>
          <a:prstGeom prst="leftArrow">
            <a:avLst/>
          </a:prstGeom>
          <a:solidFill>
            <a:srgbClr val="7E46A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22" name="箭头: 左 21">
            <a:extLst>
              <a:ext uri="{FF2B5EF4-FFF2-40B4-BE49-F238E27FC236}">
                <a16:creationId xmlns:a16="http://schemas.microsoft.com/office/drawing/2014/main" id="{5514247C-AFF6-45F4-8E44-2C14C94572C4}"/>
              </a:ext>
            </a:extLst>
          </p:cNvPr>
          <p:cNvSpPr/>
          <p:nvPr/>
        </p:nvSpPr>
        <p:spPr>
          <a:xfrm rot="5400000">
            <a:off x="8445428" y="4195568"/>
            <a:ext cx="366348" cy="215608"/>
          </a:xfrm>
          <a:prstGeom prst="leftArrow">
            <a:avLst/>
          </a:prstGeom>
          <a:solidFill>
            <a:srgbClr val="7E46A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6" name="灯片编号占位符 5">
            <a:extLst>
              <a:ext uri="{FF2B5EF4-FFF2-40B4-BE49-F238E27FC236}">
                <a16:creationId xmlns:a16="http://schemas.microsoft.com/office/drawing/2014/main" id="{E90FB5BC-05F2-46D6-B48A-D626FF52837F}"/>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20261994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3F60D838-DE7A-4763-891E-9D6D278FEFAD}"/>
              </a:ext>
            </a:extLst>
          </p:cNvPr>
          <p:cNvSpPr>
            <a:spLocks/>
          </p:cNvSpPr>
          <p:nvPr/>
        </p:nvSpPr>
        <p:spPr bwMode="auto">
          <a:xfrm>
            <a:off x="1367268" y="1109317"/>
            <a:ext cx="9351099" cy="3367433"/>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8" name="矩形: 圆角 7">
            <a:extLst>
              <a:ext uri="{FF2B5EF4-FFF2-40B4-BE49-F238E27FC236}">
                <a16:creationId xmlns:a16="http://schemas.microsoft.com/office/drawing/2014/main" id="{A6DED4BD-E84F-48E0-8AF7-548E0DC0191F}"/>
              </a:ext>
            </a:extLst>
          </p:cNvPr>
          <p:cNvSpPr/>
          <p:nvPr/>
        </p:nvSpPr>
        <p:spPr>
          <a:xfrm>
            <a:off x="1367270" y="4705836"/>
            <a:ext cx="9351098" cy="1811575"/>
          </a:xfrm>
          <a:prstGeom prst="roundRect">
            <a:avLst>
              <a:gd name="adj" fmla="val 0"/>
            </a:avLst>
          </a:prstGeom>
          <a:solidFill>
            <a:schemeClr val="accent3">
              <a:lumMod val="20000"/>
              <a:lumOff val="80000"/>
            </a:schemeClr>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a:ea typeface="微软雅黑" panose="020B0503020204020204" pitchFamily="34" charset="-122"/>
              <a:cs typeface="+mn-cs"/>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en-US" altLang="zh-CN" dirty="0">
                <a:solidFill>
                  <a:srgbClr val="C00000"/>
                </a:solidFill>
              </a:rPr>
              <a:t>DNS</a:t>
            </a:r>
            <a:r>
              <a:rPr kumimoji="1" lang="zh-CN" altLang="en-US" dirty="0">
                <a:solidFill>
                  <a:srgbClr val="C00000"/>
                </a:solidFill>
              </a:rPr>
              <a:t>使用</a:t>
            </a:r>
          </a:p>
        </p:txBody>
      </p:sp>
      <p:sp>
        <p:nvSpPr>
          <p:cNvPr id="2" name="矩形 1">
            <a:extLst>
              <a:ext uri="{FF2B5EF4-FFF2-40B4-BE49-F238E27FC236}">
                <a16:creationId xmlns:a16="http://schemas.microsoft.com/office/drawing/2014/main" id="{1D37DB15-DF76-45B4-BCD0-A2011BD89F3B}"/>
              </a:ext>
            </a:extLst>
          </p:cNvPr>
          <p:cNvSpPr/>
          <p:nvPr/>
        </p:nvSpPr>
        <p:spPr>
          <a:xfrm>
            <a:off x="1796628" y="4900146"/>
            <a:ext cx="4190035" cy="1422954"/>
          </a:xfrm>
          <a:prstGeom prst="rect">
            <a:avLst/>
          </a:prstGeom>
        </p:spPr>
        <p:txBody>
          <a:bodyPr wrap="square">
            <a:spAutoFit/>
          </a:bodyPr>
          <a:lstStyle/>
          <a:p>
            <a:pPr marL="304800" marR="0" lvl="0" indent="0" algn="just" defTabSz="9144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1.  </a:t>
            </a:r>
            <a:r>
              <a:rPr kumimoji="0" lang="zh-CN" altLang="en-US"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瀏覽器輸入域名</a:t>
            </a:r>
            <a:endPar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a:p>
            <a:pPr marL="304800" marR="0" lvl="0" indent="0" algn="just" defTabSz="9144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2.  </a:t>
            </a:r>
            <a:r>
              <a:rPr kumimoji="0" lang="zh-CN" altLang="en-US"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請求到達</a:t>
            </a:r>
            <a:r>
              <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DNS</a:t>
            </a:r>
            <a:r>
              <a:rPr kumimoji="0" lang="zh-CN" altLang="en-US"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解析程序</a:t>
            </a:r>
          </a:p>
          <a:p>
            <a:pPr marL="304800" marR="0" lvl="0" indent="0" algn="just" defTabSz="9144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3.  </a:t>
            </a:r>
            <a:r>
              <a:rPr kumimoji="0" lang="zh-CN" altLang="en-US"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查詢獲得</a:t>
            </a:r>
            <a:r>
              <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IP</a:t>
            </a:r>
            <a:r>
              <a:rPr kumimoji="0" lang="zh-CN" altLang="en-US"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地址</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5" name="Rectangle 2">
            <a:extLst>
              <a:ext uri="{FF2B5EF4-FFF2-40B4-BE49-F238E27FC236}">
                <a16:creationId xmlns:a16="http://schemas.microsoft.com/office/drawing/2014/main" id="{6F8D030D-5083-4E4F-A339-15C9A90BB826}"/>
              </a:ext>
            </a:extLst>
          </p:cNvPr>
          <p:cNvSpPr>
            <a:spLocks noChangeArrowheads="1"/>
          </p:cNvSpPr>
          <p:nvPr/>
        </p:nvSpPr>
        <p:spPr bwMode="auto">
          <a:xfrm>
            <a:off x="2168894" y="726443"/>
            <a:ext cx="149009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9" name="矩形 8">
            <a:extLst>
              <a:ext uri="{FF2B5EF4-FFF2-40B4-BE49-F238E27FC236}">
                <a16:creationId xmlns:a16="http://schemas.microsoft.com/office/drawing/2014/main" id="{F858F21D-ED6A-4AA1-A275-326012CBC3A4}"/>
              </a:ext>
            </a:extLst>
          </p:cNvPr>
          <p:cNvSpPr/>
          <p:nvPr/>
        </p:nvSpPr>
        <p:spPr>
          <a:xfrm>
            <a:off x="6416021" y="4900146"/>
            <a:ext cx="4190035" cy="1422954"/>
          </a:xfrm>
          <a:prstGeom prst="rect">
            <a:avLst/>
          </a:prstGeom>
        </p:spPr>
        <p:txBody>
          <a:bodyPr wrap="square">
            <a:spAutoFit/>
          </a:bodyPr>
          <a:lstStyle/>
          <a:p>
            <a:pPr marL="304800" marR="0" lvl="0" indent="0" algn="just" defTabSz="9144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4. </a:t>
            </a:r>
            <a:r>
              <a:rPr kumimoji="0" lang="zh-CN" altLang="en-US"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返回</a:t>
            </a:r>
            <a:r>
              <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IP</a:t>
            </a:r>
            <a:r>
              <a:rPr kumimoji="0" lang="zh-CN" altLang="en-US"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至</a:t>
            </a:r>
            <a:r>
              <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Web</a:t>
            </a:r>
            <a:r>
              <a:rPr kumimoji="0" lang="zh-CN" altLang="en-US"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瀏覽器</a:t>
            </a:r>
            <a:endPar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a:p>
            <a:pPr marL="304800" marR="0" lvl="0" indent="0" algn="just" defTabSz="9144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5. </a:t>
            </a:r>
            <a:r>
              <a:rPr kumimoji="0" lang="zh-CN" altLang="en-US"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訪問</a:t>
            </a:r>
            <a:r>
              <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IP</a:t>
            </a:r>
            <a:r>
              <a:rPr kumimoji="0" lang="zh-CN" altLang="en-US"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地址</a:t>
            </a:r>
          </a:p>
          <a:p>
            <a:pPr marL="304800" marR="0" lvl="0" indent="0" algn="just" defTabSz="9144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6. </a:t>
            </a:r>
            <a:r>
              <a:rPr kumimoji="0" lang="zh-CN" altLang="en-US" sz="2000" b="0" i="0" u="none" strike="noStrike" kern="1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瀏覽器顯示該頁面</a:t>
            </a:r>
          </a:p>
        </p:txBody>
      </p:sp>
      <p:sp>
        <p:nvSpPr>
          <p:cNvPr id="6" name="灯片编号占位符 5">
            <a:extLst>
              <a:ext uri="{FF2B5EF4-FFF2-40B4-BE49-F238E27FC236}">
                <a16:creationId xmlns:a16="http://schemas.microsoft.com/office/drawing/2014/main" id="{ECBEC61D-3657-4DB8-9E31-D415AEBFD324}"/>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pic>
        <p:nvPicPr>
          <p:cNvPr id="14" name="Picture 13">
            <a:extLst>
              <a:ext uri="{FF2B5EF4-FFF2-40B4-BE49-F238E27FC236}">
                <a16:creationId xmlns:a16="http://schemas.microsoft.com/office/drawing/2014/main" id="{0F9D00F6-6A7E-F292-6F29-D9B76C101014}"/>
              </a:ext>
            </a:extLst>
          </p:cNvPr>
          <p:cNvPicPr>
            <a:picLocks noChangeAspect="1"/>
          </p:cNvPicPr>
          <p:nvPr/>
        </p:nvPicPr>
        <p:blipFill>
          <a:blip r:embed="rId3"/>
          <a:stretch>
            <a:fillRect/>
          </a:stretch>
        </p:blipFill>
        <p:spPr>
          <a:xfrm>
            <a:off x="1473633" y="1358553"/>
            <a:ext cx="9144811" cy="2868960"/>
          </a:xfrm>
          <a:prstGeom prst="rect">
            <a:avLst/>
          </a:prstGeom>
        </p:spPr>
      </p:pic>
    </p:spTree>
    <p:extLst>
      <p:ext uri="{BB962C8B-B14F-4D97-AF65-F5344CB8AC3E}">
        <p14:creationId xmlns:p14="http://schemas.microsoft.com/office/powerpoint/2010/main" val="1163539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a:extLst>
              <a:ext uri="{FF2B5EF4-FFF2-40B4-BE49-F238E27FC236}">
                <a16:creationId xmlns:a16="http://schemas.microsoft.com/office/drawing/2014/main" id="{A6DED4BD-E84F-48E0-8AF7-548E0DC0191F}"/>
              </a:ext>
            </a:extLst>
          </p:cNvPr>
          <p:cNvSpPr/>
          <p:nvPr/>
        </p:nvSpPr>
        <p:spPr>
          <a:xfrm>
            <a:off x="7287492" y="1397068"/>
            <a:ext cx="4782588" cy="3999885"/>
          </a:xfrm>
          <a:prstGeom prst="roundRect">
            <a:avLst>
              <a:gd name="adj" fmla="val 0"/>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a:ea typeface="微软雅黑" panose="020B0503020204020204" pitchFamily="34" charset="-122"/>
              <a:cs typeface="+mn-cs"/>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en-US" altLang="zh-CN" dirty="0">
                <a:solidFill>
                  <a:srgbClr val="C00000"/>
                </a:solidFill>
              </a:rPr>
              <a:t>DNS</a:t>
            </a:r>
            <a:r>
              <a:rPr kumimoji="1" lang="zh-CN" altLang="en-US" dirty="0">
                <a:solidFill>
                  <a:srgbClr val="C00000"/>
                </a:solidFill>
              </a:rPr>
              <a:t>請求過程</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8" name="矩形 51">
            <a:extLst>
              <a:ext uri="{FF2B5EF4-FFF2-40B4-BE49-F238E27FC236}">
                <a16:creationId xmlns:a16="http://schemas.microsoft.com/office/drawing/2014/main" id="{138514DA-1687-4450-98FD-107D460810D4}"/>
              </a:ext>
            </a:extLst>
          </p:cNvPr>
          <p:cNvSpPr>
            <a:spLocks noChangeArrowheads="1"/>
          </p:cNvSpPr>
          <p:nvPr/>
        </p:nvSpPr>
        <p:spPr bwMode="auto">
          <a:xfrm>
            <a:off x="0" y="5737205"/>
            <a:ext cx="12192000" cy="600164"/>
          </a:xfrm>
          <a:prstGeom prst="rect">
            <a:avLst/>
          </a:prstGeom>
          <a:solidFill>
            <a:srgbClr val="00B0F0"/>
          </a:solidFill>
          <a:ln>
            <a:noFill/>
          </a:ln>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US" altLang="zh-CN" sz="9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HelveticaNeueLT Pro 67 MdCn" pitchFamily="2" charset="-122"/>
            </a:endParaRPr>
          </a:p>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zh-CN" altLang="en-US" sz="2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幷不是每一次域名解析都完成整個查詢流程</a:t>
            </a:r>
          </a:p>
        </p:txBody>
      </p:sp>
      <p:sp>
        <p:nvSpPr>
          <p:cNvPr id="10" name="文本框 9">
            <a:extLst>
              <a:ext uri="{FF2B5EF4-FFF2-40B4-BE49-F238E27FC236}">
                <a16:creationId xmlns:a16="http://schemas.microsoft.com/office/drawing/2014/main" id="{768792C4-A745-406C-965B-0F123954B46E}"/>
              </a:ext>
            </a:extLst>
          </p:cNvPr>
          <p:cNvSpPr txBox="1"/>
          <p:nvPr/>
        </p:nvSpPr>
        <p:spPr>
          <a:xfrm>
            <a:off x="7355694" y="1555129"/>
            <a:ext cx="4719571" cy="3631763"/>
          </a:xfrm>
          <a:prstGeom prst="rect">
            <a:avLst/>
          </a:prstGeom>
          <a:noFill/>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客戶端</a:t>
            </a: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查詢本機</a:t>
            </a: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緩存及</a:t>
            </a:r>
            <a:r>
              <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hosts</a:t>
            </a:r>
            <a:r>
              <a:rPr kumimoji="0" lang="zh-CN"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文件</a:t>
            </a:r>
            <a:endPar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just" defTabSz="914400" rtl="0" eaLnBrk="1" fontAlgn="auto" latinLnBrk="0" hangingPunct="1">
              <a:lnSpc>
                <a:spcPct val="100000"/>
              </a:lnSpc>
              <a:spcBef>
                <a:spcPts val="0"/>
              </a:spcBef>
              <a:spcAft>
                <a:spcPts val="0"/>
              </a:spcAft>
              <a:buClrTx/>
              <a:buSzTx/>
              <a:buFontTx/>
              <a:buNone/>
              <a:tabLst/>
              <a:defRPr/>
            </a:pPr>
            <a:endParaRPr kumimoji="0" lang="zh-CN"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向本地</a:t>
            </a:r>
            <a:r>
              <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服務器發送請求</a:t>
            </a:r>
            <a:endPar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本地</a:t>
            </a:r>
            <a:r>
              <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查找緩存，有結果就返回</a:t>
            </a:r>
            <a:endPar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zh-CN"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4-6. </a:t>
            </a: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本地</a:t>
            </a:r>
            <a:r>
              <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查找根服務器</a:t>
            </a: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com</a:t>
            </a:r>
            <a:r>
              <a:rPr kumimoji="0" lang="zh-CN"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頂級域</a:t>
            </a: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thucsnet.com</a:t>
            </a:r>
            <a:r>
              <a:rPr lang="zh-CN" altLang="en-US"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域</a:t>
            </a: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獲取結果</a:t>
            </a:r>
            <a:endPar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30000"/>
              </a:lnSpc>
              <a:spcBef>
                <a:spcPts val="0"/>
              </a:spcBef>
              <a:spcAft>
                <a:spcPts val="0"/>
              </a:spcAft>
              <a:buClrTx/>
              <a:buSzTx/>
              <a:buFontTx/>
              <a:buNone/>
              <a:tabLst/>
              <a:defRPr/>
            </a:pPr>
            <a:endPar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7.</a:t>
            </a: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本機獲取</a:t>
            </a:r>
            <a:r>
              <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IP</a:t>
            </a: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地址</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灯片编号占位符 1">
            <a:extLst>
              <a:ext uri="{FF2B5EF4-FFF2-40B4-BE49-F238E27FC236}">
                <a16:creationId xmlns:a16="http://schemas.microsoft.com/office/drawing/2014/main" id="{729DBEF6-ED3F-4819-B774-67F256DC15E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pic>
        <p:nvPicPr>
          <p:cNvPr id="14" name="Picture 13">
            <a:extLst>
              <a:ext uri="{FF2B5EF4-FFF2-40B4-BE49-F238E27FC236}">
                <a16:creationId xmlns:a16="http://schemas.microsoft.com/office/drawing/2014/main" id="{B1112E7E-4EE3-383F-3A45-65C48D4EFA6C}"/>
              </a:ext>
            </a:extLst>
          </p:cNvPr>
          <p:cNvPicPr>
            <a:picLocks noChangeAspect="1"/>
          </p:cNvPicPr>
          <p:nvPr/>
        </p:nvPicPr>
        <p:blipFill>
          <a:blip r:embed="rId3"/>
          <a:stretch>
            <a:fillRect/>
          </a:stretch>
        </p:blipFill>
        <p:spPr>
          <a:xfrm>
            <a:off x="0" y="1924894"/>
            <a:ext cx="7211291" cy="2949155"/>
          </a:xfrm>
          <a:prstGeom prst="rect">
            <a:avLst/>
          </a:prstGeom>
        </p:spPr>
      </p:pic>
    </p:spTree>
    <p:extLst>
      <p:ext uri="{BB962C8B-B14F-4D97-AF65-F5344CB8AC3E}">
        <p14:creationId xmlns:p14="http://schemas.microsoft.com/office/powerpoint/2010/main" val="1976564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A40EFFD7-17C0-0A4A-9569-51EB7AFC43A6}"/>
              </a:ext>
            </a:extLst>
          </p:cNvPr>
          <p:cNvSpPr>
            <a:spLocks/>
          </p:cNvSpPr>
          <p:nvPr/>
        </p:nvSpPr>
        <p:spPr bwMode="auto">
          <a:xfrm>
            <a:off x="864296" y="1067815"/>
            <a:ext cx="10861537" cy="3629445"/>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9" name="矩形: 圆角 8">
            <a:extLst>
              <a:ext uri="{FF2B5EF4-FFF2-40B4-BE49-F238E27FC236}">
                <a16:creationId xmlns:a16="http://schemas.microsoft.com/office/drawing/2014/main" id="{A6DED4BD-E84F-48E0-8AF7-548E0DC0191F}"/>
              </a:ext>
            </a:extLst>
          </p:cNvPr>
          <p:cNvSpPr/>
          <p:nvPr/>
        </p:nvSpPr>
        <p:spPr>
          <a:xfrm>
            <a:off x="864296" y="5077609"/>
            <a:ext cx="10861538" cy="1387737"/>
          </a:xfrm>
          <a:prstGeom prst="roundRect">
            <a:avLst>
              <a:gd name="adj" fmla="val 0"/>
            </a:avLst>
          </a:prstGeom>
          <a:solidFill>
            <a:schemeClr val="accent3">
              <a:lumMod val="20000"/>
              <a:lumOff val="80000"/>
            </a:schemeClr>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a:ea typeface="微软雅黑" panose="020B0503020204020204" pitchFamily="34" charset="-122"/>
              <a:cs typeface="+mn-cs"/>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en-US" altLang="zh-CN" dirty="0">
                <a:solidFill>
                  <a:srgbClr val="C00000"/>
                </a:solidFill>
              </a:rPr>
              <a:t>DNS</a:t>
            </a:r>
            <a:r>
              <a:rPr kumimoji="1" lang="zh-CN" altLang="en-US" dirty="0">
                <a:solidFill>
                  <a:srgbClr val="C00000"/>
                </a:solidFill>
              </a:rPr>
              <a:t>迭代查詢過程交互信息格式</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8" name="矩形 51">
            <a:extLst>
              <a:ext uri="{FF2B5EF4-FFF2-40B4-BE49-F238E27FC236}">
                <a16:creationId xmlns:a16="http://schemas.microsoft.com/office/drawing/2014/main" id="{138514DA-1687-4450-98FD-107D460810D4}"/>
              </a:ext>
            </a:extLst>
          </p:cNvPr>
          <p:cNvSpPr>
            <a:spLocks noChangeArrowheads="1"/>
          </p:cNvSpPr>
          <p:nvPr/>
        </p:nvSpPr>
        <p:spPr bwMode="auto">
          <a:xfrm>
            <a:off x="2344736" y="1258569"/>
            <a:ext cx="7502526" cy="461665"/>
          </a:xfrm>
          <a:prstGeom prst="rect">
            <a:avLst/>
          </a:prstGeom>
          <a:solidFill>
            <a:srgbClr val="00B0F0"/>
          </a:solidFill>
          <a:ln>
            <a:noFill/>
          </a:ln>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zh-CN" altLang="en-US" sz="2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常見資源記錄類型及其含義</a:t>
            </a:r>
          </a:p>
        </p:txBody>
      </p:sp>
      <p:graphicFrame>
        <p:nvGraphicFramePr>
          <p:cNvPr id="11" name="表格 10">
            <a:extLst>
              <a:ext uri="{FF2B5EF4-FFF2-40B4-BE49-F238E27FC236}">
                <a16:creationId xmlns:a16="http://schemas.microsoft.com/office/drawing/2014/main" id="{CB020304-51FA-4C5D-B293-4B4487D99DBA}"/>
              </a:ext>
            </a:extLst>
          </p:cNvPr>
          <p:cNvGraphicFramePr>
            <a:graphicFrameLocks noGrp="1"/>
          </p:cNvGraphicFramePr>
          <p:nvPr>
            <p:extLst>
              <p:ext uri="{D42A27DB-BD31-4B8C-83A1-F6EECF244321}">
                <p14:modId xmlns:p14="http://schemas.microsoft.com/office/powerpoint/2010/main" val="2745885906"/>
              </p:ext>
            </p:extLst>
          </p:nvPr>
        </p:nvGraphicFramePr>
        <p:xfrm>
          <a:off x="2427356" y="2157209"/>
          <a:ext cx="7337287" cy="2324262"/>
        </p:xfrm>
        <a:graphic>
          <a:graphicData uri="http://schemas.openxmlformats.org/drawingml/2006/table">
            <a:tbl>
              <a:tblPr firstRow="1" firstCol="1" bandRow="1"/>
              <a:tblGrid>
                <a:gridCol w="2484649">
                  <a:extLst>
                    <a:ext uri="{9D8B030D-6E8A-4147-A177-3AD203B41FA5}">
                      <a16:colId xmlns:a16="http://schemas.microsoft.com/office/drawing/2014/main" val="2991082814"/>
                    </a:ext>
                  </a:extLst>
                </a:gridCol>
                <a:gridCol w="4852638">
                  <a:extLst>
                    <a:ext uri="{9D8B030D-6E8A-4147-A177-3AD203B41FA5}">
                      <a16:colId xmlns:a16="http://schemas.microsoft.com/office/drawing/2014/main" val="1324972338"/>
                    </a:ext>
                  </a:extLst>
                </a:gridCol>
              </a:tblGrid>
              <a:tr h="387377">
                <a:tc>
                  <a:txBody>
                    <a:bodyPr/>
                    <a:lstStyle/>
                    <a:p>
                      <a:pPr marL="127000" algn="ctr"/>
                      <a:r>
                        <a:rPr lang="zh-CN" sz="2200" b="0" kern="0" cap="all"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資源記錄類型</a:t>
                      </a:r>
                      <a:endParaRPr lang="zh-CN" sz="22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a:noFill/>
                    </a:lnL>
                    <a:lnR>
                      <a:noFill/>
                    </a:lnR>
                    <a:lnT>
                      <a:noFill/>
                    </a:lnT>
                    <a:lnB w="12700" cap="flat" cmpd="sng" algn="ctr">
                      <a:solidFill>
                        <a:srgbClr val="7F7F7F"/>
                      </a:solidFill>
                      <a:prstDash val="solid"/>
                      <a:round/>
                      <a:headEnd type="none" w="med" len="med"/>
                      <a:tailEnd type="none" w="med" len="med"/>
                    </a:lnB>
                  </a:tcPr>
                </a:tc>
                <a:tc>
                  <a:txBody>
                    <a:bodyPr/>
                    <a:lstStyle/>
                    <a:p>
                      <a:pPr marL="127000" algn="ctr"/>
                      <a:r>
                        <a:rPr lang="zh-CN" sz="2200" b="0" kern="0" cap="all"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含義</a:t>
                      </a:r>
                      <a:endParaRPr lang="zh-CN" sz="22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a:noFill/>
                    </a:lnL>
                    <a:lnR>
                      <a:noFill/>
                    </a:lnR>
                    <a:lnT>
                      <a:noFill/>
                    </a:lnT>
                    <a:lnB w="1270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3974585340"/>
                  </a:ext>
                </a:extLst>
              </a:tr>
              <a:tr h="387377">
                <a:tc>
                  <a:txBody>
                    <a:bodyPr/>
                    <a:lstStyle/>
                    <a:p>
                      <a:pPr marL="127000" algn="ctr"/>
                      <a:r>
                        <a:rPr lang="en-CN" sz="2200" b="0" kern="0" cap="all"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A</a:t>
                      </a:r>
                      <a:endParaRPr lang="zh-CN" sz="22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a:noFill/>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a:noFill/>
                    </a:lnB>
                    <a:solidFill>
                      <a:srgbClr val="F2F2F2"/>
                    </a:solidFill>
                  </a:tcPr>
                </a:tc>
                <a:tc>
                  <a:txBody>
                    <a:bodyPr/>
                    <a:lstStyle/>
                    <a:p>
                      <a:pPr marL="127000" algn="l"/>
                      <a:r>
                        <a:rPr lang="zh-CN" sz="20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域名對應主機的</a:t>
                      </a:r>
                      <a:r>
                        <a:rPr lang="x-none" sz="20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IPv4</a:t>
                      </a:r>
                      <a:r>
                        <a:rPr lang="zh-CN" sz="20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地址</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7F7F7F"/>
                      </a:solidFill>
                      <a:prstDash val="solid"/>
                      <a:round/>
                      <a:headEnd type="none" w="med" len="med"/>
                      <a:tailEnd type="none" w="med" len="med"/>
                    </a:lnL>
                    <a:lnR>
                      <a:noFill/>
                    </a:lnR>
                    <a:lnT w="12700" cap="flat" cmpd="sng" algn="ctr">
                      <a:solidFill>
                        <a:srgbClr val="7F7F7F"/>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1624153111"/>
                  </a:ext>
                </a:extLst>
              </a:tr>
              <a:tr h="387377">
                <a:tc>
                  <a:txBody>
                    <a:bodyPr/>
                    <a:lstStyle/>
                    <a:p>
                      <a:pPr marL="127000" algn="ctr"/>
                      <a:r>
                        <a:rPr lang="en-US" altLang="zh-CN" sz="2200" b="0" kern="0" cap="all"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AAAA</a:t>
                      </a:r>
                      <a:endParaRPr lang="zh-CN" sz="22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a:noFill/>
                    </a:lnL>
                    <a:lnR w="12700" cap="flat" cmpd="sng" algn="ctr">
                      <a:solidFill>
                        <a:srgbClr val="7F7F7F"/>
                      </a:solidFill>
                      <a:prstDash val="solid"/>
                      <a:round/>
                      <a:headEnd type="none" w="med" len="med"/>
                      <a:tailEnd type="none" w="med" len="med"/>
                    </a:lnR>
                    <a:lnT>
                      <a:noFill/>
                    </a:lnT>
                    <a:lnB>
                      <a:noFill/>
                    </a:lnB>
                  </a:tcPr>
                </a:tc>
                <a:tc>
                  <a:txBody>
                    <a:bodyPr/>
                    <a:lstStyle/>
                    <a:p>
                      <a:pPr marL="127000" algn="l"/>
                      <a:r>
                        <a:rPr lang="zh-CN" sz="20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域名對應主機的</a:t>
                      </a:r>
                      <a:r>
                        <a:rPr lang="x-none" sz="20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IPv6</a:t>
                      </a:r>
                      <a:r>
                        <a:rPr lang="zh-CN" sz="20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地址</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7F7F7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4094719265"/>
                  </a:ext>
                </a:extLst>
              </a:tr>
              <a:tr h="387377">
                <a:tc>
                  <a:txBody>
                    <a:bodyPr/>
                    <a:lstStyle/>
                    <a:p>
                      <a:pPr marL="127000" algn="ctr"/>
                      <a:r>
                        <a:rPr lang="en-US" sz="2200" b="0" kern="0" cap="all"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MX</a:t>
                      </a:r>
                      <a:endParaRPr lang="zh-CN" sz="22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a:noFill/>
                    </a:lnL>
                    <a:lnR w="12700" cap="flat" cmpd="sng" algn="ctr">
                      <a:solidFill>
                        <a:srgbClr val="7F7F7F"/>
                      </a:solidFill>
                      <a:prstDash val="solid"/>
                      <a:round/>
                      <a:headEnd type="none" w="med" len="med"/>
                      <a:tailEnd type="none" w="med" len="med"/>
                    </a:lnR>
                    <a:lnT>
                      <a:noFill/>
                    </a:lnT>
                    <a:lnB>
                      <a:noFill/>
                    </a:lnB>
                    <a:solidFill>
                      <a:srgbClr val="F2F2F2"/>
                    </a:solidFill>
                  </a:tcPr>
                </a:tc>
                <a:tc>
                  <a:txBody>
                    <a:bodyPr/>
                    <a:lstStyle/>
                    <a:p>
                      <a:pPr marL="127000" algn="l"/>
                      <a:r>
                        <a:rPr lang="zh-CN" sz="20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域名對應郵件服務器地址</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7F7F7F"/>
                      </a:solidFill>
                      <a:prstDash val="solid"/>
                      <a:round/>
                      <a:headEnd type="none" w="med" len="med"/>
                      <a:tailEnd type="none" w="med" len="med"/>
                    </a:lnL>
                    <a:lnR>
                      <a:noFill/>
                    </a:lnR>
                    <a:lnT>
                      <a:noFill/>
                    </a:lnT>
                    <a:lnB>
                      <a:noFill/>
                    </a:lnB>
                    <a:solidFill>
                      <a:srgbClr val="F2F2F2"/>
                    </a:solidFill>
                  </a:tcPr>
                </a:tc>
                <a:extLst>
                  <a:ext uri="{0D108BD9-81ED-4DB2-BD59-A6C34878D82A}">
                    <a16:rowId xmlns:a16="http://schemas.microsoft.com/office/drawing/2014/main" val="3089552410"/>
                  </a:ext>
                </a:extLst>
              </a:tr>
              <a:tr h="387377">
                <a:tc>
                  <a:txBody>
                    <a:bodyPr/>
                    <a:lstStyle/>
                    <a:p>
                      <a:pPr marL="127000" algn="ctr"/>
                      <a:r>
                        <a:rPr lang="en-CN" sz="2200" b="0" kern="0" cap="all"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NS</a:t>
                      </a:r>
                      <a:endParaRPr lang="zh-CN" sz="22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a:noFill/>
                    </a:lnL>
                    <a:lnR w="12700" cap="flat" cmpd="sng" algn="ctr">
                      <a:solidFill>
                        <a:srgbClr val="7F7F7F"/>
                      </a:solidFill>
                      <a:prstDash val="solid"/>
                      <a:round/>
                      <a:headEnd type="none" w="med" len="med"/>
                      <a:tailEnd type="none" w="med" len="med"/>
                    </a:lnR>
                    <a:lnT>
                      <a:noFill/>
                    </a:lnT>
                    <a:lnB>
                      <a:noFill/>
                    </a:lnB>
                  </a:tcPr>
                </a:tc>
                <a:tc>
                  <a:txBody>
                    <a:bodyPr/>
                    <a:lstStyle/>
                    <a:p>
                      <a:pPr marL="127000" algn="l"/>
                      <a:r>
                        <a:rPr lang="zh-CN" sz="20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域名對應權威服務器名稱</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7F7F7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675946094"/>
                  </a:ext>
                </a:extLst>
              </a:tr>
              <a:tr h="387377">
                <a:tc>
                  <a:txBody>
                    <a:bodyPr/>
                    <a:lstStyle/>
                    <a:p>
                      <a:pPr marL="127000" algn="ctr"/>
                      <a:r>
                        <a:rPr lang="en-CN" sz="2200" b="0" kern="0" cap="all"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CNAME</a:t>
                      </a:r>
                      <a:endParaRPr lang="zh-CN" sz="22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a:noFill/>
                    </a:lnL>
                    <a:lnR w="12700" cap="flat" cmpd="sng" algn="ctr">
                      <a:solidFill>
                        <a:srgbClr val="7F7F7F"/>
                      </a:solidFill>
                      <a:prstDash val="solid"/>
                      <a:round/>
                      <a:headEnd type="none" w="med" len="med"/>
                      <a:tailEnd type="none" w="med" len="med"/>
                    </a:lnR>
                    <a:lnT>
                      <a:noFill/>
                    </a:lnT>
                    <a:lnB>
                      <a:noFill/>
                    </a:lnB>
                    <a:solidFill>
                      <a:srgbClr val="F2F2F2"/>
                    </a:solidFill>
                  </a:tcPr>
                </a:tc>
                <a:tc>
                  <a:txBody>
                    <a:bodyPr/>
                    <a:lstStyle/>
                    <a:p>
                      <a:pPr marL="127000" algn="l"/>
                      <a:r>
                        <a:rPr lang="zh-CN" sz="2000" kern="0" dirty="0">
                          <a:solidFill>
                            <a:srgbClr val="000000"/>
                          </a:solidFill>
                          <a:effectLst/>
                          <a:latin typeface="微软雅黑" panose="020B0503020204020204" pitchFamily="34" charset="-122"/>
                          <a:ea typeface="微软雅黑" panose="020B0503020204020204" pitchFamily="34" charset="-122"/>
                          <a:cs typeface="宋体" panose="02010600030101010101" pitchFamily="2" charset="-122"/>
                        </a:rPr>
                        <a:t>域名指向的別名記錄</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7F7F7F"/>
                      </a:solidFill>
                      <a:prstDash val="solid"/>
                      <a:round/>
                      <a:headEnd type="none" w="med" len="med"/>
                      <a:tailEnd type="none" w="med" len="med"/>
                    </a:lnL>
                    <a:lnR>
                      <a:noFill/>
                    </a:lnR>
                    <a:lnT>
                      <a:noFill/>
                    </a:lnT>
                    <a:lnB>
                      <a:noFill/>
                    </a:lnB>
                    <a:solidFill>
                      <a:srgbClr val="F2F2F2"/>
                    </a:solidFill>
                  </a:tcPr>
                </a:tc>
                <a:extLst>
                  <a:ext uri="{0D108BD9-81ED-4DB2-BD59-A6C34878D82A}">
                    <a16:rowId xmlns:a16="http://schemas.microsoft.com/office/drawing/2014/main" val="540698797"/>
                  </a:ext>
                </a:extLst>
              </a:tr>
            </a:tbl>
          </a:graphicData>
        </a:graphic>
      </p:graphicFrame>
      <p:sp>
        <p:nvSpPr>
          <p:cNvPr id="12" name="文本框 11">
            <a:extLst>
              <a:ext uri="{FF2B5EF4-FFF2-40B4-BE49-F238E27FC236}">
                <a16:creationId xmlns:a16="http://schemas.microsoft.com/office/drawing/2014/main" id="{E879E271-2B87-4464-B6A4-D313AC86A0C7}"/>
              </a:ext>
            </a:extLst>
          </p:cNvPr>
          <p:cNvSpPr txBox="1"/>
          <p:nvPr/>
        </p:nvSpPr>
        <p:spPr>
          <a:xfrm>
            <a:off x="1131374" y="5228708"/>
            <a:ext cx="10594459" cy="1166666"/>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域名解析應答</a:t>
            </a:r>
            <a:r>
              <a:rPr kumimoji="0" lang="zh-CN" altLang="en-US"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a:t>
            </a:r>
            <a:r>
              <a:rPr kumimoji="0" lang="zh-CN"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每個數據條目稱爲一個資源記錄（</a:t>
            </a:r>
            <a:r>
              <a:rPr kumimoji="0" lang="x-none"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eXGyreTermes-Regular-Identity-"/>
              </a:rPr>
              <a:t>Resource Record, RR</a:t>
            </a:r>
            <a:r>
              <a:rPr kumimoji="0" lang="zh-CN"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a:t>
            </a:r>
            <a:endParaRPr kumimoji="0" lang="en-US"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資源記錄的數據格式爲標準五元組：域名、類別、類型、生存時間（</a:t>
            </a:r>
            <a:r>
              <a:rPr kumimoji="0" lang="x-none"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eXGyreTermes-Regular-Identity-"/>
              </a:rPr>
              <a:t>TTL</a:t>
            </a:r>
            <a:r>
              <a:rPr kumimoji="0" lang="zh-CN"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）與數據</a:t>
            </a:r>
            <a:endPar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灯片编号占位符 1">
            <a:extLst>
              <a:ext uri="{FF2B5EF4-FFF2-40B4-BE49-F238E27FC236}">
                <a16:creationId xmlns:a16="http://schemas.microsoft.com/office/drawing/2014/main" id="{7D510B67-2B04-4417-B802-C533FBE8A2E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688158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en-US" altLang="zh-CN" dirty="0">
                <a:solidFill>
                  <a:srgbClr val="C00000"/>
                </a:solidFill>
              </a:rPr>
              <a:t>DNS</a:t>
            </a:r>
            <a:r>
              <a:rPr kumimoji="1" lang="zh-CN" altLang="en-US" dirty="0">
                <a:solidFill>
                  <a:srgbClr val="C00000"/>
                </a:solidFill>
              </a:rPr>
              <a:t>迭代查詢過程交互信息格式</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10" name="文本框 9">
            <a:extLst>
              <a:ext uri="{FF2B5EF4-FFF2-40B4-BE49-F238E27FC236}">
                <a16:creationId xmlns:a16="http://schemas.microsoft.com/office/drawing/2014/main" id="{768792C4-A745-406C-965B-0F123954B46E}"/>
              </a:ext>
            </a:extLst>
          </p:cNvPr>
          <p:cNvSpPr txBox="1"/>
          <p:nvPr/>
        </p:nvSpPr>
        <p:spPr>
          <a:xfrm>
            <a:off x="2335244" y="1140569"/>
            <a:ext cx="9160767" cy="592965"/>
          </a:xfrm>
          <a:prstGeom prst="rect">
            <a:avLst/>
          </a:prstGeom>
          <a:solidFill>
            <a:schemeClr val="accent3">
              <a:lumMod val="20000"/>
              <a:lumOff val="80000"/>
            </a:schemeClr>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algn="just">
              <a:lnSpc>
                <a:spcPct val="125000"/>
              </a:lnSpc>
              <a:defRPr sz="1600" kern="0">
                <a:solidFill>
                  <a:srgbClr val="000000"/>
                </a:solidFill>
                <a:ea typeface="微软雅黑" panose="020B0503020204020204" pitchFamily="34" charset="-122"/>
              </a:defRPr>
            </a:lvl1pP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rPr>
              <a:t>DNS</a:t>
            </a:r>
            <a:r>
              <a:rPr kumimoji="0" lang="zh-CN" altLang="en-US" sz="24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rPr>
              <a:t>應答包括問題、回復、授權和附加部分</a:t>
            </a:r>
          </a:p>
        </p:txBody>
      </p:sp>
      <p:sp>
        <p:nvSpPr>
          <p:cNvPr id="30" name="Freeform 46">
            <a:extLst>
              <a:ext uri="{FF2B5EF4-FFF2-40B4-BE49-F238E27FC236}">
                <a16:creationId xmlns:a16="http://schemas.microsoft.com/office/drawing/2014/main" id="{3006318D-DF00-4ECC-9B64-C76C1FB28CA2}"/>
              </a:ext>
            </a:extLst>
          </p:cNvPr>
          <p:cNvSpPr>
            <a:spLocks noEditPoints="1"/>
          </p:cNvSpPr>
          <p:nvPr/>
        </p:nvSpPr>
        <p:spPr bwMode="auto">
          <a:xfrm>
            <a:off x="2980547" y="2052744"/>
            <a:ext cx="662480" cy="662480"/>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00B0F0"/>
          </a:solidFill>
          <a:ln w="9525">
            <a:noFill/>
            <a:round/>
          </a:ln>
        </p:spPr>
        <p:txBody>
          <a:bodyPr vert="horz" wrap="square" lIns="121912" tIns="60956" rIns="121912" bIns="60956"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0" cap="none" spc="0" normalizeH="0" baseline="0" noProof="0">
              <a:ln>
                <a:noFill/>
              </a:ln>
              <a:solidFill>
                <a:prstClr val="black"/>
              </a:solidFill>
              <a:effectLst/>
              <a:uLnTx/>
              <a:uFillTx/>
              <a:latin typeface="Arial"/>
              <a:ea typeface="微软雅黑" panose="020B0503020204020204" charset="-122"/>
              <a:cs typeface="+mn-cs"/>
              <a:sym typeface="Arial" panose="020B0604020202020204" pitchFamily="34" charset="0"/>
            </a:endParaRPr>
          </a:p>
        </p:txBody>
      </p:sp>
      <p:sp>
        <p:nvSpPr>
          <p:cNvPr id="31" name="Freeform 46">
            <a:extLst>
              <a:ext uri="{FF2B5EF4-FFF2-40B4-BE49-F238E27FC236}">
                <a16:creationId xmlns:a16="http://schemas.microsoft.com/office/drawing/2014/main" id="{166F2345-3E0A-4D20-A556-EF4954C6A9F0}"/>
              </a:ext>
            </a:extLst>
          </p:cNvPr>
          <p:cNvSpPr>
            <a:spLocks noEditPoints="1"/>
          </p:cNvSpPr>
          <p:nvPr/>
        </p:nvSpPr>
        <p:spPr bwMode="auto">
          <a:xfrm>
            <a:off x="2972013" y="3208904"/>
            <a:ext cx="662480" cy="662480"/>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00B0F0"/>
          </a:solidFill>
          <a:ln w="9525">
            <a:noFill/>
            <a:round/>
          </a:ln>
        </p:spPr>
        <p:txBody>
          <a:bodyPr vert="horz" wrap="square" lIns="121912" tIns="60956" rIns="121912" bIns="60956"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0" cap="none" spc="0" normalizeH="0" baseline="0" noProof="0">
              <a:ln>
                <a:noFill/>
              </a:ln>
              <a:solidFill>
                <a:prstClr val="black"/>
              </a:solidFill>
              <a:effectLst/>
              <a:uLnTx/>
              <a:uFillTx/>
              <a:latin typeface="Arial"/>
              <a:ea typeface="微软雅黑" panose="020B0503020204020204" charset="-122"/>
              <a:cs typeface="+mn-cs"/>
              <a:sym typeface="Arial" panose="020B0604020202020204" pitchFamily="34" charset="0"/>
            </a:endParaRPr>
          </a:p>
        </p:txBody>
      </p:sp>
      <p:sp>
        <p:nvSpPr>
          <p:cNvPr id="32" name="Freeform 46">
            <a:extLst>
              <a:ext uri="{FF2B5EF4-FFF2-40B4-BE49-F238E27FC236}">
                <a16:creationId xmlns:a16="http://schemas.microsoft.com/office/drawing/2014/main" id="{CF35605D-EA77-4FE6-9AD1-FA29D8FEED99}"/>
              </a:ext>
            </a:extLst>
          </p:cNvPr>
          <p:cNvSpPr>
            <a:spLocks noEditPoints="1"/>
          </p:cNvSpPr>
          <p:nvPr/>
        </p:nvSpPr>
        <p:spPr bwMode="auto">
          <a:xfrm>
            <a:off x="2980547" y="4324999"/>
            <a:ext cx="662480" cy="662480"/>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00B0F0"/>
          </a:solidFill>
          <a:ln w="9525">
            <a:noFill/>
            <a:round/>
          </a:ln>
        </p:spPr>
        <p:txBody>
          <a:bodyPr vert="horz" wrap="square" lIns="121912" tIns="60956" rIns="121912" bIns="60956"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0" cap="none" spc="0" normalizeH="0" baseline="0" noProof="0">
              <a:ln>
                <a:noFill/>
              </a:ln>
              <a:solidFill>
                <a:prstClr val="black"/>
              </a:solidFill>
              <a:effectLst/>
              <a:uLnTx/>
              <a:uFillTx/>
              <a:latin typeface="Arial"/>
              <a:ea typeface="微软雅黑" panose="020B0503020204020204" charset="-122"/>
              <a:cs typeface="+mn-cs"/>
              <a:sym typeface="Arial" panose="020B0604020202020204" pitchFamily="34" charset="0"/>
            </a:endParaRPr>
          </a:p>
        </p:txBody>
      </p:sp>
      <p:sp>
        <p:nvSpPr>
          <p:cNvPr id="33" name="Freeform 46">
            <a:extLst>
              <a:ext uri="{FF2B5EF4-FFF2-40B4-BE49-F238E27FC236}">
                <a16:creationId xmlns:a16="http://schemas.microsoft.com/office/drawing/2014/main" id="{8547623B-D7E6-4F47-AC7B-1A15D7BD3071}"/>
              </a:ext>
            </a:extLst>
          </p:cNvPr>
          <p:cNvSpPr>
            <a:spLocks noEditPoints="1"/>
          </p:cNvSpPr>
          <p:nvPr/>
        </p:nvSpPr>
        <p:spPr bwMode="auto">
          <a:xfrm>
            <a:off x="2980547" y="5442892"/>
            <a:ext cx="662480" cy="662480"/>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00B0F0"/>
          </a:solidFill>
          <a:ln w="9525">
            <a:noFill/>
            <a:round/>
          </a:ln>
        </p:spPr>
        <p:txBody>
          <a:bodyPr vert="horz" wrap="square" lIns="121912" tIns="60956" rIns="121912" bIns="60956"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0" cap="none" spc="0" normalizeH="0" baseline="0" noProof="0">
              <a:ln>
                <a:noFill/>
              </a:ln>
              <a:solidFill>
                <a:prstClr val="black"/>
              </a:solidFill>
              <a:effectLst/>
              <a:uLnTx/>
              <a:uFillTx/>
              <a:latin typeface="Arial"/>
              <a:ea typeface="微软雅黑" panose="020B0503020204020204" charset="-122"/>
              <a:cs typeface="+mn-cs"/>
              <a:sym typeface="Arial" panose="020B0604020202020204" pitchFamily="34" charset="0"/>
            </a:endParaRPr>
          </a:p>
        </p:txBody>
      </p:sp>
      <p:grpSp>
        <p:nvGrpSpPr>
          <p:cNvPr id="34" name="组合 33">
            <a:extLst>
              <a:ext uri="{FF2B5EF4-FFF2-40B4-BE49-F238E27FC236}">
                <a16:creationId xmlns:a16="http://schemas.microsoft.com/office/drawing/2014/main" id="{B2573822-4807-4D80-ACBB-31F42AC80F9D}"/>
              </a:ext>
            </a:extLst>
          </p:cNvPr>
          <p:cNvGrpSpPr/>
          <p:nvPr/>
        </p:nvGrpSpPr>
        <p:grpSpPr>
          <a:xfrm>
            <a:off x="4056740" y="1997478"/>
            <a:ext cx="7203562" cy="762635"/>
            <a:chOff x="11716" y="3005"/>
            <a:chExt cx="9760" cy="1201"/>
          </a:xfrm>
        </p:grpSpPr>
        <p:sp>
          <p:nvSpPr>
            <p:cNvPr id="35" name="Rectangle 8">
              <a:extLst>
                <a:ext uri="{FF2B5EF4-FFF2-40B4-BE49-F238E27FC236}">
                  <a16:creationId xmlns:a16="http://schemas.microsoft.com/office/drawing/2014/main" id="{C80C8847-9424-444E-BF90-7D00A3BABE44}"/>
                </a:ext>
              </a:extLst>
            </p:cNvPr>
            <p:cNvSpPr/>
            <p:nvPr/>
          </p:nvSpPr>
          <p:spPr>
            <a:xfrm>
              <a:off x="11782" y="3695"/>
              <a:ext cx="9694" cy="511"/>
            </a:xfrm>
            <a:prstGeom prst="rect">
              <a:avLst/>
            </a:prstGeom>
          </p:spPr>
          <p:txBody>
            <a:bodyPr wrap="square" lIns="0" tIns="0" rIns="0" bIns="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lumMod val="75000"/>
                      <a:lumOff val="25000"/>
                    </a:prstClr>
                  </a:solidFill>
                  <a:effectLst/>
                  <a:uLnTx/>
                  <a:uFillTx/>
                  <a:latin typeface="Arial"/>
                  <a:ea typeface="微软雅黑" panose="020B0503020204020204" charset="-122"/>
                  <a:cs typeface="+mn-cs"/>
                  <a:sym typeface="Arial" panose="020B0604020202020204" pitchFamily="34" charset="0"/>
                </a:rPr>
                <a:t>查詢內容，如</a:t>
              </a:r>
              <a:r>
                <a:rPr kumimoji="0" lang="en-US" altLang="zh-CN" sz="1800" b="0" i="0" u="none" strike="noStrike" kern="1200" cap="none" spc="0" normalizeH="0" baseline="0" noProof="0" dirty="0">
                  <a:ln>
                    <a:noFill/>
                  </a:ln>
                  <a:solidFill>
                    <a:prstClr val="black">
                      <a:lumMod val="75000"/>
                      <a:lumOff val="25000"/>
                    </a:prstClr>
                  </a:solidFill>
                  <a:effectLst/>
                  <a:uLnTx/>
                  <a:uFillTx/>
                  <a:latin typeface="Arial"/>
                  <a:ea typeface="微软雅黑" panose="020B0503020204020204" charset="-122"/>
                  <a:cs typeface="+mn-cs"/>
                  <a:sym typeface="Arial" panose="020B0604020202020204" pitchFamily="34" charset="0"/>
                </a:rPr>
                <a:t>www.thucsnet.com. IN A</a:t>
              </a:r>
              <a:r>
                <a:rPr kumimoji="0" lang="zh-CN" altLang="en-US" sz="1800" b="0" i="0" u="none" strike="noStrike" kern="1200" cap="none" spc="0" normalizeH="0" baseline="0" noProof="0" dirty="0">
                  <a:ln>
                    <a:noFill/>
                  </a:ln>
                  <a:solidFill>
                    <a:prstClr val="black">
                      <a:lumMod val="75000"/>
                      <a:lumOff val="25000"/>
                    </a:prstClr>
                  </a:solidFill>
                  <a:effectLst/>
                  <a:uLnTx/>
                  <a:uFillTx/>
                  <a:latin typeface="Arial"/>
                  <a:ea typeface="微软雅黑" panose="020B0503020204020204" charset="-122"/>
                  <a:cs typeface="+mn-cs"/>
                  <a:sym typeface="Arial" panose="020B0604020202020204" pitchFamily="34" charset="0"/>
                </a:rPr>
                <a:t>表示查</a:t>
              </a:r>
              <a:r>
                <a:rPr kumimoji="0" lang="en-US" altLang="zh-CN" sz="1800" b="0" i="0" u="none" strike="noStrike" kern="1200" cap="none" spc="0" normalizeH="0" baseline="0" noProof="0" dirty="0">
                  <a:ln>
                    <a:noFill/>
                  </a:ln>
                  <a:solidFill>
                    <a:prstClr val="black">
                      <a:lumMod val="75000"/>
                      <a:lumOff val="25000"/>
                    </a:prstClr>
                  </a:solidFill>
                  <a:effectLst/>
                  <a:uLnTx/>
                  <a:uFillTx/>
                  <a:latin typeface="Arial"/>
                  <a:ea typeface="微软雅黑" panose="020B0503020204020204" charset="-122"/>
                  <a:cs typeface="+mn-cs"/>
                  <a:sym typeface="Arial" panose="020B0604020202020204" pitchFamily="34" charset="0"/>
                </a:rPr>
                <a:t>www.baidu.com</a:t>
              </a:r>
              <a:r>
                <a:rPr kumimoji="0" lang="zh-CN" altLang="en-US" sz="1800" b="0" i="0" u="none" strike="noStrike" kern="1200" cap="none" spc="0" normalizeH="0" baseline="0" noProof="0" dirty="0">
                  <a:ln>
                    <a:noFill/>
                  </a:ln>
                  <a:solidFill>
                    <a:prstClr val="black">
                      <a:lumMod val="75000"/>
                      <a:lumOff val="25000"/>
                    </a:prstClr>
                  </a:solidFill>
                  <a:effectLst/>
                  <a:uLnTx/>
                  <a:uFillTx/>
                  <a:latin typeface="Arial"/>
                  <a:ea typeface="微软雅黑" panose="020B0503020204020204" charset="-122"/>
                  <a:cs typeface="+mn-cs"/>
                  <a:sym typeface="Arial" panose="020B0604020202020204" pitchFamily="34" charset="0"/>
                </a:rPr>
                <a:t>的</a:t>
              </a:r>
              <a:r>
                <a:rPr kumimoji="0" lang="en-US" altLang="zh-CN" sz="1800" b="0" i="0" u="none" strike="noStrike" kern="1200" cap="none" spc="0" normalizeH="0" baseline="0" noProof="0" dirty="0">
                  <a:ln>
                    <a:noFill/>
                  </a:ln>
                  <a:solidFill>
                    <a:prstClr val="black">
                      <a:lumMod val="75000"/>
                      <a:lumOff val="25000"/>
                    </a:prstClr>
                  </a:solidFill>
                  <a:effectLst/>
                  <a:uLnTx/>
                  <a:uFillTx/>
                  <a:latin typeface="Arial"/>
                  <a:ea typeface="微软雅黑" panose="020B0503020204020204" charset="-122"/>
                  <a:cs typeface="+mn-cs"/>
                  <a:sym typeface="Arial" panose="020B0604020202020204" pitchFamily="34" charset="0"/>
                </a:rPr>
                <a:t>A</a:t>
              </a:r>
              <a:r>
                <a:rPr kumimoji="0" lang="zh-CN" altLang="en-US" sz="1800" b="0" i="0" u="none" strike="noStrike" kern="1200" cap="none" spc="0" normalizeH="0" baseline="0" noProof="0" dirty="0">
                  <a:ln>
                    <a:noFill/>
                  </a:ln>
                  <a:solidFill>
                    <a:prstClr val="black">
                      <a:lumMod val="75000"/>
                      <a:lumOff val="25000"/>
                    </a:prstClr>
                  </a:solidFill>
                  <a:effectLst/>
                  <a:uLnTx/>
                  <a:uFillTx/>
                  <a:latin typeface="Arial"/>
                  <a:ea typeface="微软雅黑" panose="020B0503020204020204" charset="-122"/>
                  <a:cs typeface="+mn-cs"/>
                  <a:sym typeface="Arial" panose="020B0604020202020204" pitchFamily="34" charset="0"/>
                </a:rPr>
                <a:t>記錄 </a:t>
              </a:r>
            </a:p>
          </p:txBody>
        </p:sp>
        <p:sp>
          <p:nvSpPr>
            <p:cNvPr id="36" name="文本框 20">
              <a:extLst>
                <a:ext uri="{FF2B5EF4-FFF2-40B4-BE49-F238E27FC236}">
                  <a16:creationId xmlns:a16="http://schemas.microsoft.com/office/drawing/2014/main" id="{6094DC9B-3419-46A8-BACA-A5C8816F3440}"/>
                </a:ext>
              </a:extLst>
            </p:cNvPr>
            <p:cNvSpPr txBox="1"/>
            <p:nvPr/>
          </p:nvSpPr>
          <p:spPr>
            <a:xfrm>
              <a:off x="11716" y="3005"/>
              <a:ext cx="7675" cy="642"/>
            </a:xfrm>
            <a:prstGeom prst="rect">
              <a:avLst/>
            </a:prstGeom>
            <a:noFill/>
          </p:spPr>
          <p:txBody>
            <a:bodyPr wrap="squar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rPr>
                <a:t>問題區（</a:t>
              </a:r>
              <a:r>
                <a:rPr kumimoji="0" lang="en-US" altLang="zh-CN" sz="2200" b="1"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rPr>
                <a:t>Question Section</a:t>
              </a:r>
              <a:r>
                <a:rPr kumimoji="0" lang="zh-CN" altLang="en-US" sz="2200" b="1"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rPr>
                <a:t>）</a:t>
              </a:r>
            </a:p>
          </p:txBody>
        </p:sp>
      </p:grpSp>
      <p:grpSp>
        <p:nvGrpSpPr>
          <p:cNvPr id="46" name="组合 45">
            <a:extLst>
              <a:ext uri="{FF2B5EF4-FFF2-40B4-BE49-F238E27FC236}">
                <a16:creationId xmlns:a16="http://schemas.microsoft.com/office/drawing/2014/main" id="{E81E2D6A-B73E-41A0-B23B-BFA8957F01D6}"/>
              </a:ext>
            </a:extLst>
          </p:cNvPr>
          <p:cNvGrpSpPr/>
          <p:nvPr/>
        </p:nvGrpSpPr>
        <p:grpSpPr>
          <a:xfrm>
            <a:off x="4056740" y="3169218"/>
            <a:ext cx="7020521" cy="778510"/>
            <a:chOff x="11716" y="2938"/>
            <a:chExt cx="9512" cy="1226"/>
          </a:xfrm>
        </p:grpSpPr>
        <p:sp>
          <p:nvSpPr>
            <p:cNvPr id="47" name="Rectangle 8">
              <a:extLst>
                <a:ext uri="{FF2B5EF4-FFF2-40B4-BE49-F238E27FC236}">
                  <a16:creationId xmlns:a16="http://schemas.microsoft.com/office/drawing/2014/main" id="{07C26FFF-5545-411C-B9AD-9C3800E61062}"/>
                </a:ext>
              </a:extLst>
            </p:cNvPr>
            <p:cNvSpPr/>
            <p:nvPr/>
          </p:nvSpPr>
          <p:spPr>
            <a:xfrm>
              <a:off x="11848" y="3728"/>
              <a:ext cx="9380" cy="436"/>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lumMod val="75000"/>
                      <a:lumOff val="25000"/>
                    </a:prstClr>
                  </a:solidFill>
                  <a:effectLst/>
                  <a:uLnTx/>
                  <a:uFillTx/>
                  <a:latin typeface="Arial"/>
                  <a:ea typeface="微软雅黑" panose="020B0503020204020204" charset="-122"/>
                  <a:cs typeface="+mn-cs"/>
                  <a:sym typeface="Arial" panose="020B0604020202020204" pitchFamily="34" charset="0"/>
                </a:rPr>
                <a:t>A/ CNAME/ NS</a:t>
              </a:r>
              <a:r>
                <a:rPr kumimoji="0" lang="zh-CN" altLang="en-US" sz="1800" b="0" i="0" u="none" strike="noStrike" kern="1200" cap="none" spc="0" normalizeH="0" baseline="0" noProof="0" dirty="0">
                  <a:ln>
                    <a:noFill/>
                  </a:ln>
                  <a:solidFill>
                    <a:prstClr val="black">
                      <a:lumMod val="75000"/>
                      <a:lumOff val="25000"/>
                    </a:prstClr>
                  </a:solidFill>
                  <a:effectLst/>
                  <a:uLnTx/>
                  <a:uFillTx/>
                  <a:latin typeface="Arial"/>
                  <a:ea typeface="微软雅黑" panose="020B0503020204020204" charset="-122"/>
                  <a:cs typeface="+mn-cs"/>
                  <a:sym typeface="Arial" panose="020B0604020202020204" pitchFamily="34" charset="0"/>
                </a:rPr>
                <a:t>等記錄查詢的答案 </a:t>
              </a:r>
            </a:p>
          </p:txBody>
        </p:sp>
        <p:sp>
          <p:nvSpPr>
            <p:cNvPr id="48" name="文本框 20">
              <a:extLst>
                <a:ext uri="{FF2B5EF4-FFF2-40B4-BE49-F238E27FC236}">
                  <a16:creationId xmlns:a16="http://schemas.microsoft.com/office/drawing/2014/main" id="{877E5032-2939-4533-A805-BF30D7CC3F80}"/>
                </a:ext>
              </a:extLst>
            </p:cNvPr>
            <p:cNvSpPr txBox="1"/>
            <p:nvPr/>
          </p:nvSpPr>
          <p:spPr>
            <a:xfrm>
              <a:off x="11716" y="2938"/>
              <a:ext cx="7675" cy="642"/>
            </a:xfrm>
            <a:prstGeom prst="rect">
              <a:avLst/>
            </a:prstGeom>
            <a:noFill/>
          </p:spPr>
          <p:txBody>
            <a:bodyPr wrap="squar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rPr>
                <a:t>應答區（</a:t>
              </a:r>
              <a:r>
                <a:rPr kumimoji="0" lang="en-US" altLang="zh-CN" sz="2200" b="1"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rPr>
                <a:t>Answer Section</a:t>
              </a:r>
              <a:r>
                <a:rPr kumimoji="0" lang="zh-CN" altLang="en-US" sz="2200" b="1"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rPr>
                <a:t>）</a:t>
              </a:r>
            </a:p>
          </p:txBody>
        </p:sp>
      </p:grpSp>
      <p:grpSp>
        <p:nvGrpSpPr>
          <p:cNvPr id="49" name="组合 48">
            <a:extLst>
              <a:ext uri="{FF2B5EF4-FFF2-40B4-BE49-F238E27FC236}">
                <a16:creationId xmlns:a16="http://schemas.microsoft.com/office/drawing/2014/main" id="{EFA35E3C-B75C-489E-B6E6-00ED717D022E}"/>
              </a:ext>
            </a:extLst>
          </p:cNvPr>
          <p:cNvGrpSpPr/>
          <p:nvPr/>
        </p:nvGrpSpPr>
        <p:grpSpPr>
          <a:xfrm>
            <a:off x="4049228" y="4276697"/>
            <a:ext cx="7020521" cy="777240"/>
            <a:chOff x="11716" y="2938"/>
            <a:chExt cx="9512" cy="1224"/>
          </a:xfrm>
        </p:grpSpPr>
        <p:sp>
          <p:nvSpPr>
            <p:cNvPr id="50" name="Rectangle 8">
              <a:extLst>
                <a:ext uri="{FF2B5EF4-FFF2-40B4-BE49-F238E27FC236}">
                  <a16:creationId xmlns:a16="http://schemas.microsoft.com/office/drawing/2014/main" id="{1DC235D2-878F-4664-9EDA-5CB3AFD9A2A5}"/>
                </a:ext>
              </a:extLst>
            </p:cNvPr>
            <p:cNvSpPr/>
            <p:nvPr/>
          </p:nvSpPr>
          <p:spPr>
            <a:xfrm>
              <a:off x="11848" y="3726"/>
              <a:ext cx="9380" cy="436"/>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lumMod val="75000"/>
                      <a:lumOff val="25000"/>
                    </a:prstClr>
                  </a:solidFill>
                  <a:effectLst/>
                  <a:uLnTx/>
                  <a:uFillTx/>
                  <a:latin typeface="Arial"/>
                  <a:ea typeface="微软雅黑" panose="020B0503020204020204" charset="-122"/>
                  <a:cs typeface="+mn-cs"/>
                  <a:sym typeface="Arial" panose="020B0604020202020204" pitchFamily="34" charset="0"/>
                </a:rPr>
                <a:t>通知本地</a:t>
              </a:r>
              <a:r>
                <a:rPr kumimoji="0" lang="en-US" altLang="zh-CN" sz="1800" b="0" i="0" u="none" strike="noStrike" kern="1200" cap="none" spc="0" normalizeH="0" baseline="0" noProof="0" dirty="0">
                  <a:ln>
                    <a:noFill/>
                  </a:ln>
                  <a:solidFill>
                    <a:prstClr val="black">
                      <a:lumMod val="75000"/>
                      <a:lumOff val="25000"/>
                    </a:prstClr>
                  </a:solidFill>
                  <a:effectLst/>
                  <a:uLnTx/>
                  <a:uFillTx/>
                  <a:latin typeface="Arial"/>
                  <a:ea typeface="微软雅黑" panose="020B0503020204020204" charset="-122"/>
                  <a:cs typeface="+mn-cs"/>
                  <a:sym typeface="Arial" panose="020B0604020202020204" pitchFamily="34" charset="0"/>
                </a:rPr>
                <a:t>DNS</a:t>
              </a:r>
              <a:r>
                <a:rPr kumimoji="0" lang="zh-CN" altLang="en-US" sz="1800" b="0" i="0" u="none" strike="noStrike" kern="1200" cap="none" spc="0" normalizeH="0" baseline="0" noProof="0" dirty="0">
                  <a:ln>
                    <a:noFill/>
                  </a:ln>
                  <a:solidFill>
                    <a:prstClr val="black">
                      <a:lumMod val="75000"/>
                      <a:lumOff val="25000"/>
                    </a:prstClr>
                  </a:solidFill>
                  <a:effectLst/>
                  <a:uLnTx/>
                  <a:uFillTx/>
                  <a:latin typeface="Arial"/>
                  <a:ea typeface="微软雅黑" panose="020B0503020204020204" charset="-122"/>
                  <a:cs typeface="+mn-cs"/>
                  <a:sym typeface="Arial" panose="020B0604020202020204" pitchFamily="34" charset="0"/>
                </a:rPr>
                <a:t>服務器問誰會更接近答案 </a:t>
              </a:r>
            </a:p>
          </p:txBody>
        </p:sp>
        <p:sp>
          <p:nvSpPr>
            <p:cNvPr id="51" name="文本框 20">
              <a:extLst>
                <a:ext uri="{FF2B5EF4-FFF2-40B4-BE49-F238E27FC236}">
                  <a16:creationId xmlns:a16="http://schemas.microsoft.com/office/drawing/2014/main" id="{57744519-492F-46F7-8CBA-216882FA6A5E}"/>
                </a:ext>
              </a:extLst>
            </p:cNvPr>
            <p:cNvSpPr txBox="1"/>
            <p:nvPr/>
          </p:nvSpPr>
          <p:spPr>
            <a:xfrm>
              <a:off x="11716" y="2938"/>
              <a:ext cx="7675" cy="642"/>
            </a:xfrm>
            <a:prstGeom prst="rect">
              <a:avLst/>
            </a:prstGeom>
            <a:noFill/>
          </p:spPr>
          <p:txBody>
            <a:bodyPr wrap="squar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rPr>
                <a:t>授權區（</a:t>
              </a:r>
              <a:r>
                <a:rPr kumimoji="0" lang="en-US" altLang="zh-CN" sz="2200" b="1"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rPr>
                <a:t>Authority Section</a:t>
              </a:r>
              <a:r>
                <a:rPr kumimoji="0" lang="zh-CN" altLang="en-US" sz="2200" b="1"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rPr>
                <a:t>）</a:t>
              </a:r>
            </a:p>
          </p:txBody>
        </p:sp>
      </p:grpSp>
      <p:grpSp>
        <p:nvGrpSpPr>
          <p:cNvPr id="52" name="组合 51">
            <a:extLst>
              <a:ext uri="{FF2B5EF4-FFF2-40B4-BE49-F238E27FC236}">
                <a16:creationId xmlns:a16="http://schemas.microsoft.com/office/drawing/2014/main" id="{F7D6424B-B8AE-4F09-804D-25922606285B}"/>
              </a:ext>
            </a:extLst>
          </p:cNvPr>
          <p:cNvGrpSpPr/>
          <p:nvPr/>
        </p:nvGrpSpPr>
        <p:grpSpPr>
          <a:xfrm>
            <a:off x="4056740" y="5391640"/>
            <a:ext cx="7531265" cy="826135"/>
            <a:chOff x="11716" y="2938"/>
            <a:chExt cx="10204" cy="1301"/>
          </a:xfrm>
        </p:grpSpPr>
        <p:sp>
          <p:nvSpPr>
            <p:cNvPr id="53" name="Rectangle 8">
              <a:extLst>
                <a:ext uri="{FF2B5EF4-FFF2-40B4-BE49-F238E27FC236}">
                  <a16:creationId xmlns:a16="http://schemas.microsoft.com/office/drawing/2014/main" id="{B2D61B93-DC35-4078-ADA1-6E9268CA3B29}"/>
                </a:ext>
              </a:extLst>
            </p:cNvPr>
            <p:cNvSpPr/>
            <p:nvPr/>
          </p:nvSpPr>
          <p:spPr>
            <a:xfrm>
              <a:off x="11848" y="3803"/>
              <a:ext cx="10072" cy="436"/>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lumMod val="75000"/>
                      <a:lumOff val="25000"/>
                    </a:prstClr>
                  </a:solidFill>
                  <a:effectLst/>
                  <a:uLnTx/>
                  <a:uFillTx/>
                  <a:latin typeface="Arial"/>
                  <a:ea typeface="微软雅黑" panose="020B0503020204020204" charset="-122"/>
                  <a:cs typeface="+mn-cs"/>
                  <a:sym typeface="Arial" panose="020B0604020202020204" pitchFamily="34" charset="0"/>
                </a:rPr>
                <a:t>存放附加記錄，如給出權威</a:t>
              </a:r>
              <a:r>
                <a:rPr kumimoji="0" lang="en-US" altLang="zh-CN" sz="1800" b="0" i="0" u="none" strike="noStrike" kern="1200" cap="none" spc="0" normalizeH="0" baseline="0" noProof="0" dirty="0">
                  <a:ln>
                    <a:noFill/>
                  </a:ln>
                  <a:solidFill>
                    <a:prstClr val="black">
                      <a:lumMod val="75000"/>
                      <a:lumOff val="25000"/>
                    </a:prstClr>
                  </a:solidFill>
                  <a:effectLst/>
                  <a:uLnTx/>
                  <a:uFillTx/>
                  <a:latin typeface="Arial"/>
                  <a:ea typeface="微软雅黑" panose="020B0503020204020204" charset="-122"/>
                  <a:cs typeface="+mn-cs"/>
                  <a:sym typeface="Arial" panose="020B0604020202020204" pitchFamily="34" charset="0"/>
                </a:rPr>
                <a:t>NS</a:t>
              </a:r>
              <a:r>
                <a:rPr kumimoji="0" lang="zh-CN" altLang="en-US" sz="1800" b="0" i="0" u="none" strike="noStrike" kern="1200" cap="none" spc="0" normalizeH="0" baseline="0" noProof="0" dirty="0">
                  <a:ln>
                    <a:noFill/>
                  </a:ln>
                  <a:solidFill>
                    <a:prstClr val="black">
                      <a:lumMod val="75000"/>
                      <a:lumOff val="25000"/>
                    </a:prstClr>
                  </a:solidFill>
                  <a:effectLst/>
                  <a:uLnTx/>
                  <a:uFillTx/>
                  <a:latin typeface="Arial"/>
                  <a:ea typeface="微软雅黑" panose="020B0503020204020204" charset="-122"/>
                  <a:cs typeface="+mn-cs"/>
                  <a:sym typeface="Arial" panose="020B0604020202020204" pitchFamily="34" charset="0"/>
                </a:rPr>
                <a:t>記錄相應的</a:t>
              </a:r>
              <a:r>
                <a:rPr kumimoji="0" lang="en-US" altLang="zh-CN" sz="1800" b="0" i="0" u="none" strike="noStrike" kern="1200" cap="none" spc="0" normalizeH="0" baseline="0" noProof="0" dirty="0">
                  <a:ln>
                    <a:noFill/>
                  </a:ln>
                  <a:solidFill>
                    <a:prstClr val="black">
                      <a:lumMod val="75000"/>
                      <a:lumOff val="25000"/>
                    </a:prstClr>
                  </a:solidFill>
                  <a:effectLst/>
                  <a:uLnTx/>
                  <a:uFillTx/>
                  <a:latin typeface="Arial"/>
                  <a:ea typeface="微软雅黑" panose="020B0503020204020204" charset="-122"/>
                  <a:cs typeface="+mn-cs"/>
                  <a:sym typeface="Arial" panose="020B0604020202020204" pitchFamily="34" charset="0"/>
                </a:rPr>
                <a:t>A</a:t>
              </a:r>
              <a:r>
                <a:rPr kumimoji="0" lang="zh-CN" altLang="en-US" sz="1800" b="0" i="0" u="none" strike="noStrike" kern="1200" cap="none" spc="0" normalizeH="0" baseline="0" noProof="0" dirty="0">
                  <a:ln>
                    <a:noFill/>
                  </a:ln>
                  <a:solidFill>
                    <a:prstClr val="black">
                      <a:lumMod val="75000"/>
                      <a:lumOff val="25000"/>
                    </a:prstClr>
                  </a:solidFill>
                  <a:effectLst/>
                  <a:uLnTx/>
                  <a:uFillTx/>
                  <a:latin typeface="Arial"/>
                  <a:ea typeface="微软雅黑" panose="020B0503020204020204" charset="-122"/>
                  <a:cs typeface="+mn-cs"/>
                  <a:sym typeface="Arial" panose="020B0604020202020204" pitchFamily="34" charset="0"/>
                </a:rPr>
                <a:t>記錄</a:t>
              </a:r>
            </a:p>
          </p:txBody>
        </p:sp>
        <p:sp>
          <p:nvSpPr>
            <p:cNvPr id="54" name="文本框 20">
              <a:extLst>
                <a:ext uri="{FF2B5EF4-FFF2-40B4-BE49-F238E27FC236}">
                  <a16:creationId xmlns:a16="http://schemas.microsoft.com/office/drawing/2014/main" id="{815BF7A0-F218-4639-9A28-9B200696A642}"/>
                </a:ext>
              </a:extLst>
            </p:cNvPr>
            <p:cNvSpPr txBox="1"/>
            <p:nvPr/>
          </p:nvSpPr>
          <p:spPr>
            <a:xfrm>
              <a:off x="11716" y="2938"/>
              <a:ext cx="7675" cy="642"/>
            </a:xfrm>
            <a:prstGeom prst="rect">
              <a:avLst/>
            </a:prstGeom>
            <a:noFill/>
          </p:spPr>
          <p:txBody>
            <a:bodyPr wrap="squar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rPr>
                <a:t>附加區（</a:t>
              </a:r>
              <a:r>
                <a:rPr kumimoji="0" lang="en-US" altLang="zh-CN" sz="2200" b="1"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rPr>
                <a:t>Additional Section</a:t>
              </a:r>
              <a:r>
                <a:rPr kumimoji="0" lang="zh-CN" altLang="en-US" sz="2200" b="1"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rPr>
                <a:t>）</a:t>
              </a:r>
            </a:p>
          </p:txBody>
        </p:sp>
      </p:grpSp>
      <p:grpSp>
        <p:nvGrpSpPr>
          <p:cNvPr id="161" name="Group 148">
            <a:extLst>
              <a:ext uri="{FF2B5EF4-FFF2-40B4-BE49-F238E27FC236}">
                <a16:creationId xmlns:a16="http://schemas.microsoft.com/office/drawing/2014/main" id="{BD2A9D54-FE49-4277-9506-30922BBCFAD4}"/>
              </a:ext>
            </a:extLst>
          </p:cNvPr>
          <p:cNvGrpSpPr/>
          <p:nvPr/>
        </p:nvGrpSpPr>
        <p:grpSpPr>
          <a:xfrm>
            <a:off x="1307020" y="1545442"/>
            <a:ext cx="683647" cy="1686891"/>
            <a:chOff x="2000250" y="1211262"/>
            <a:chExt cx="512763" cy="1265238"/>
          </a:xfrm>
          <a:solidFill>
            <a:srgbClr val="00B0F0"/>
          </a:solidFill>
        </p:grpSpPr>
        <p:grpSp>
          <p:nvGrpSpPr>
            <p:cNvPr id="189" name="Group 145">
              <a:extLst>
                <a:ext uri="{FF2B5EF4-FFF2-40B4-BE49-F238E27FC236}">
                  <a16:creationId xmlns:a16="http://schemas.microsoft.com/office/drawing/2014/main" id="{5869EBD8-9871-4F86-9C4E-9035BF4B7147}"/>
                </a:ext>
              </a:extLst>
            </p:cNvPr>
            <p:cNvGrpSpPr/>
            <p:nvPr/>
          </p:nvGrpSpPr>
          <p:grpSpPr>
            <a:xfrm>
              <a:off x="2000250" y="1279525"/>
              <a:ext cx="512763" cy="1196975"/>
              <a:chOff x="2000250" y="982663"/>
              <a:chExt cx="512763" cy="1196975"/>
            </a:xfrm>
            <a:grpFill/>
          </p:grpSpPr>
          <p:sp>
            <p:nvSpPr>
              <p:cNvPr id="202" name="Oval 7">
                <a:extLst>
                  <a:ext uri="{FF2B5EF4-FFF2-40B4-BE49-F238E27FC236}">
                    <a16:creationId xmlns:a16="http://schemas.microsoft.com/office/drawing/2014/main" id="{1FDBCEC2-1289-48E9-AAEF-806136805A1C}"/>
                  </a:ext>
                </a:extLst>
              </p:cNvPr>
              <p:cNvSpPr>
                <a:spLocks noChangeArrowheads="1"/>
              </p:cNvSpPr>
              <p:nvPr/>
            </p:nvSpPr>
            <p:spPr bwMode="auto">
              <a:xfrm>
                <a:off x="2192338" y="1081088"/>
                <a:ext cx="23813" cy="25400"/>
              </a:xfrm>
              <a:prstGeom prst="ellipse">
                <a:avLst/>
              </a:pr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03" name="Freeform 9">
                <a:extLst>
                  <a:ext uri="{FF2B5EF4-FFF2-40B4-BE49-F238E27FC236}">
                    <a16:creationId xmlns:a16="http://schemas.microsoft.com/office/drawing/2014/main" id="{B2AB9CA3-7153-47F2-BEE6-7B6043A13A99}"/>
                  </a:ext>
                </a:extLst>
              </p:cNvPr>
              <p:cNvSpPr/>
              <p:nvPr/>
            </p:nvSpPr>
            <p:spPr bwMode="auto">
              <a:xfrm>
                <a:off x="2201863" y="1497013"/>
                <a:ext cx="58738" cy="61912"/>
              </a:xfrm>
              <a:custGeom>
                <a:avLst/>
                <a:gdLst/>
                <a:ahLst/>
                <a:cxnLst>
                  <a:cxn ang="0">
                    <a:pos x="0" y="0"/>
                  </a:cxn>
                  <a:cxn ang="0">
                    <a:pos x="17" y="5"/>
                  </a:cxn>
                  <a:cxn ang="0">
                    <a:pos x="32" y="25"/>
                  </a:cxn>
                  <a:cxn ang="0">
                    <a:pos x="10" y="36"/>
                  </a:cxn>
                  <a:cxn ang="0">
                    <a:pos x="0" y="34"/>
                  </a:cxn>
                  <a:cxn ang="0">
                    <a:pos x="0" y="0"/>
                  </a:cxn>
                </a:cxnLst>
                <a:rect l="0" t="0" r="r" b="b"/>
                <a:pathLst>
                  <a:path w="36" h="38">
                    <a:moveTo>
                      <a:pt x="0" y="0"/>
                    </a:moveTo>
                    <a:cubicBezTo>
                      <a:pt x="17" y="5"/>
                      <a:pt x="17" y="5"/>
                      <a:pt x="17" y="5"/>
                    </a:cubicBezTo>
                    <a:cubicBezTo>
                      <a:pt x="27" y="8"/>
                      <a:pt x="36" y="12"/>
                      <a:pt x="32" y="25"/>
                    </a:cubicBezTo>
                    <a:cubicBezTo>
                      <a:pt x="30" y="33"/>
                      <a:pt x="20" y="38"/>
                      <a:pt x="10" y="36"/>
                    </a:cubicBezTo>
                    <a:cubicBezTo>
                      <a:pt x="0" y="34"/>
                      <a:pt x="0" y="34"/>
                      <a:pt x="0" y="34"/>
                    </a:cubicBezTo>
                    <a:cubicBezTo>
                      <a:pt x="0" y="0"/>
                      <a:pt x="0" y="0"/>
                      <a:pt x="0" y="0"/>
                    </a:cubicBezTo>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04" name="Freeform 10">
                <a:extLst>
                  <a:ext uri="{FF2B5EF4-FFF2-40B4-BE49-F238E27FC236}">
                    <a16:creationId xmlns:a16="http://schemas.microsoft.com/office/drawing/2014/main" id="{9A3C8DFC-1DCC-4D6F-A7A7-0633368FABF5}"/>
                  </a:ext>
                </a:extLst>
              </p:cNvPr>
              <p:cNvSpPr/>
              <p:nvPr/>
            </p:nvSpPr>
            <p:spPr bwMode="auto">
              <a:xfrm>
                <a:off x="2197100" y="1490663"/>
                <a:ext cx="33338" cy="14287"/>
              </a:xfrm>
              <a:custGeom>
                <a:avLst/>
                <a:gdLst/>
                <a:ahLst/>
                <a:cxnLst>
                  <a:cxn ang="0">
                    <a:pos x="0" y="4"/>
                  </a:cxn>
                  <a:cxn ang="0">
                    <a:pos x="4" y="8"/>
                  </a:cxn>
                  <a:cxn ang="0">
                    <a:pos x="16" y="8"/>
                  </a:cxn>
                  <a:cxn ang="0">
                    <a:pos x="20" y="4"/>
                  </a:cxn>
                  <a:cxn ang="0">
                    <a:pos x="16" y="0"/>
                  </a:cxn>
                  <a:cxn ang="0">
                    <a:pos x="4" y="0"/>
                  </a:cxn>
                  <a:cxn ang="0">
                    <a:pos x="0" y="4"/>
                  </a:cxn>
                </a:cxnLst>
                <a:rect l="0" t="0" r="r" b="b"/>
                <a:pathLst>
                  <a:path w="20" h="8">
                    <a:moveTo>
                      <a:pt x="0" y="4"/>
                    </a:moveTo>
                    <a:cubicBezTo>
                      <a:pt x="0" y="6"/>
                      <a:pt x="2" y="8"/>
                      <a:pt x="4" y="8"/>
                    </a:cubicBezTo>
                    <a:cubicBezTo>
                      <a:pt x="16" y="8"/>
                      <a:pt x="16" y="8"/>
                      <a:pt x="16" y="8"/>
                    </a:cubicBezTo>
                    <a:cubicBezTo>
                      <a:pt x="18" y="8"/>
                      <a:pt x="20" y="6"/>
                      <a:pt x="20" y="4"/>
                    </a:cubicBezTo>
                    <a:cubicBezTo>
                      <a:pt x="20" y="2"/>
                      <a:pt x="18" y="0"/>
                      <a:pt x="16" y="0"/>
                    </a:cubicBezTo>
                    <a:cubicBezTo>
                      <a:pt x="4" y="0"/>
                      <a:pt x="4" y="0"/>
                      <a:pt x="4" y="0"/>
                    </a:cubicBezTo>
                    <a:cubicBezTo>
                      <a:pt x="2" y="0"/>
                      <a:pt x="0" y="2"/>
                      <a:pt x="0" y="4"/>
                    </a:cubicBezTo>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05" name="Freeform 16">
                <a:extLst>
                  <a:ext uri="{FF2B5EF4-FFF2-40B4-BE49-F238E27FC236}">
                    <a16:creationId xmlns:a16="http://schemas.microsoft.com/office/drawing/2014/main" id="{E2EF6168-8335-4460-841A-551035551B7E}"/>
                  </a:ext>
                </a:extLst>
              </p:cNvPr>
              <p:cNvSpPr/>
              <p:nvPr/>
            </p:nvSpPr>
            <p:spPr bwMode="auto">
              <a:xfrm>
                <a:off x="2197100" y="1490663"/>
                <a:ext cx="33338" cy="14287"/>
              </a:xfrm>
              <a:custGeom>
                <a:avLst/>
                <a:gdLst/>
                <a:ahLst/>
                <a:cxnLst>
                  <a:cxn ang="0">
                    <a:pos x="16" y="0"/>
                  </a:cxn>
                  <a:cxn ang="0">
                    <a:pos x="4" y="0"/>
                  </a:cxn>
                  <a:cxn ang="0">
                    <a:pos x="0" y="4"/>
                  </a:cxn>
                  <a:cxn ang="0">
                    <a:pos x="3" y="8"/>
                  </a:cxn>
                  <a:cxn ang="0">
                    <a:pos x="4" y="8"/>
                  </a:cxn>
                  <a:cxn ang="0">
                    <a:pos x="16" y="8"/>
                  </a:cxn>
                  <a:cxn ang="0">
                    <a:pos x="17" y="8"/>
                  </a:cxn>
                  <a:cxn ang="0">
                    <a:pos x="20" y="4"/>
                  </a:cxn>
                  <a:cxn ang="0">
                    <a:pos x="16" y="0"/>
                  </a:cxn>
                </a:cxnLst>
                <a:rect l="0" t="0" r="r" b="b"/>
                <a:pathLst>
                  <a:path w="20" h="8">
                    <a:moveTo>
                      <a:pt x="16" y="0"/>
                    </a:moveTo>
                    <a:cubicBezTo>
                      <a:pt x="4" y="0"/>
                      <a:pt x="4" y="0"/>
                      <a:pt x="4" y="0"/>
                    </a:cubicBezTo>
                    <a:cubicBezTo>
                      <a:pt x="2" y="0"/>
                      <a:pt x="0" y="2"/>
                      <a:pt x="0" y="4"/>
                    </a:cubicBezTo>
                    <a:cubicBezTo>
                      <a:pt x="0" y="6"/>
                      <a:pt x="1" y="7"/>
                      <a:pt x="3" y="8"/>
                    </a:cubicBezTo>
                    <a:cubicBezTo>
                      <a:pt x="3" y="8"/>
                      <a:pt x="4" y="8"/>
                      <a:pt x="4" y="8"/>
                    </a:cubicBezTo>
                    <a:cubicBezTo>
                      <a:pt x="16" y="8"/>
                      <a:pt x="16" y="8"/>
                      <a:pt x="16" y="8"/>
                    </a:cubicBezTo>
                    <a:cubicBezTo>
                      <a:pt x="16" y="8"/>
                      <a:pt x="17" y="8"/>
                      <a:pt x="17" y="8"/>
                    </a:cubicBezTo>
                    <a:cubicBezTo>
                      <a:pt x="19" y="7"/>
                      <a:pt x="20" y="6"/>
                      <a:pt x="20" y="4"/>
                    </a:cubicBezTo>
                    <a:cubicBezTo>
                      <a:pt x="20" y="2"/>
                      <a:pt x="18" y="0"/>
                      <a:pt x="16" y="0"/>
                    </a:cubicBezTo>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06" name="Freeform 18">
                <a:extLst>
                  <a:ext uri="{FF2B5EF4-FFF2-40B4-BE49-F238E27FC236}">
                    <a16:creationId xmlns:a16="http://schemas.microsoft.com/office/drawing/2014/main" id="{AFFD638D-1F15-4EE3-9146-B558F34D296D}"/>
                  </a:ext>
                </a:extLst>
              </p:cNvPr>
              <p:cNvSpPr/>
              <p:nvPr/>
            </p:nvSpPr>
            <p:spPr bwMode="auto">
              <a:xfrm>
                <a:off x="2195513" y="1081088"/>
                <a:ext cx="19050" cy="6350"/>
              </a:xfrm>
              <a:custGeom>
                <a:avLst/>
                <a:gdLst/>
                <a:ahLst/>
                <a:cxnLst>
                  <a:cxn ang="0">
                    <a:pos x="6" y="0"/>
                  </a:cxn>
                  <a:cxn ang="0">
                    <a:pos x="0" y="4"/>
                  </a:cxn>
                  <a:cxn ang="0">
                    <a:pos x="12" y="4"/>
                  </a:cxn>
                  <a:cxn ang="0">
                    <a:pos x="6" y="0"/>
                  </a:cxn>
                </a:cxnLst>
                <a:rect l="0" t="0" r="r" b="b"/>
                <a:pathLst>
                  <a:path w="12" h="4">
                    <a:moveTo>
                      <a:pt x="6" y="0"/>
                    </a:moveTo>
                    <a:cubicBezTo>
                      <a:pt x="4" y="0"/>
                      <a:pt x="2" y="1"/>
                      <a:pt x="0" y="4"/>
                    </a:cubicBezTo>
                    <a:cubicBezTo>
                      <a:pt x="12" y="4"/>
                      <a:pt x="12" y="4"/>
                      <a:pt x="12" y="4"/>
                    </a:cubicBezTo>
                    <a:cubicBezTo>
                      <a:pt x="11" y="1"/>
                      <a:pt x="8" y="0"/>
                      <a:pt x="6" y="0"/>
                    </a:cubicBezTo>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07" name="Freeform 19">
                <a:extLst>
                  <a:ext uri="{FF2B5EF4-FFF2-40B4-BE49-F238E27FC236}">
                    <a16:creationId xmlns:a16="http://schemas.microsoft.com/office/drawing/2014/main" id="{924E6222-72C4-40BF-B923-F46BEACF7EF5}"/>
                  </a:ext>
                </a:extLst>
              </p:cNvPr>
              <p:cNvSpPr/>
              <p:nvPr/>
            </p:nvSpPr>
            <p:spPr bwMode="auto">
              <a:xfrm>
                <a:off x="2201863" y="1504950"/>
                <a:ext cx="42863" cy="6350"/>
              </a:xfrm>
              <a:custGeom>
                <a:avLst/>
                <a:gdLst/>
                <a:ahLst/>
                <a:cxnLst>
                  <a:cxn ang="0">
                    <a:pos x="14" y="0"/>
                  </a:cxn>
                  <a:cxn ang="0">
                    <a:pos x="13" y="0"/>
                  </a:cxn>
                  <a:cxn ang="0">
                    <a:pos x="1" y="0"/>
                  </a:cxn>
                  <a:cxn ang="0">
                    <a:pos x="0" y="0"/>
                  </a:cxn>
                  <a:cxn ang="0">
                    <a:pos x="0" y="4"/>
                  </a:cxn>
                  <a:cxn ang="0">
                    <a:pos x="26" y="4"/>
                  </a:cxn>
                  <a:cxn ang="0">
                    <a:pos x="17" y="0"/>
                  </a:cxn>
                  <a:cxn ang="0">
                    <a:pos x="14" y="0"/>
                  </a:cxn>
                </a:cxnLst>
                <a:rect l="0" t="0" r="r" b="b"/>
                <a:pathLst>
                  <a:path w="26" h="4">
                    <a:moveTo>
                      <a:pt x="14" y="0"/>
                    </a:moveTo>
                    <a:cubicBezTo>
                      <a:pt x="14" y="0"/>
                      <a:pt x="13" y="0"/>
                      <a:pt x="13" y="0"/>
                    </a:cubicBezTo>
                    <a:cubicBezTo>
                      <a:pt x="1" y="0"/>
                      <a:pt x="1" y="0"/>
                      <a:pt x="1" y="0"/>
                    </a:cubicBezTo>
                    <a:cubicBezTo>
                      <a:pt x="1" y="0"/>
                      <a:pt x="0" y="0"/>
                      <a:pt x="0" y="0"/>
                    </a:cubicBezTo>
                    <a:cubicBezTo>
                      <a:pt x="0" y="4"/>
                      <a:pt x="0" y="4"/>
                      <a:pt x="0" y="4"/>
                    </a:cubicBezTo>
                    <a:cubicBezTo>
                      <a:pt x="26" y="4"/>
                      <a:pt x="26" y="4"/>
                      <a:pt x="26" y="4"/>
                    </a:cubicBezTo>
                    <a:cubicBezTo>
                      <a:pt x="24" y="2"/>
                      <a:pt x="20" y="1"/>
                      <a:pt x="17" y="0"/>
                    </a:cubicBezTo>
                    <a:cubicBezTo>
                      <a:pt x="14" y="0"/>
                      <a:pt x="14" y="0"/>
                      <a:pt x="14" y="0"/>
                    </a:cubicBezTo>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08" name="Freeform 21">
                <a:extLst>
                  <a:ext uri="{FF2B5EF4-FFF2-40B4-BE49-F238E27FC236}">
                    <a16:creationId xmlns:a16="http://schemas.microsoft.com/office/drawing/2014/main" id="{6815B051-76DB-47B2-9BA7-39D329052169}"/>
                  </a:ext>
                </a:extLst>
              </p:cNvPr>
              <p:cNvSpPr/>
              <p:nvPr/>
            </p:nvSpPr>
            <p:spPr bwMode="auto">
              <a:xfrm>
                <a:off x="2192338" y="1087438"/>
                <a:ext cx="23813" cy="19050"/>
              </a:xfrm>
              <a:custGeom>
                <a:avLst/>
                <a:gdLst/>
                <a:ahLst/>
                <a:cxnLst>
                  <a:cxn ang="0">
                    <a:pos x="13" y="0"/>
                  </a:cxn>
                  <a:cxn ang="0">
                    <a:pos x="1" y="0"/>
                  </a:cxn>
                  <a:cxn ang="0">
                    <a:pos x="0" y="4"/>
                  </a:cxn>
                  <a:cxn ang="0">
                    <a:pos x="7" y="12"/>
                  </a:cxn>
                  <a:cxn ang="0">
                    <a:pos x="14" y="4"/>
                  </a:cxn>
                  <a:cxn ang="0">
                    <a:pos x="13" y="0"/>
                  </a:cxn>
                </a:cxnLst>
                <a:rect l="0" t="0" r="r" b="b"/>
                <a:pathLst>
                  <a:path w="14" h="12">
                    <a:moveTo>
                      <a:pt x="13" y="0"/>
                    </a:moveTo>
                    <a:cubicBezTo>
                      <a:pt x="1" y="0"/>
                      <a:pt x="1" y="0"/>
                      <a:pt x="1" y="0"/>
                    </a:cubicBezTo>
                    <a:cubicBezTo>
                      <a:pt x="1" y="1"/>
                      <a:pt x="0" y="2"/>
                      <a:pt x="0" y="4"/>
                    </a:cubicBezTo>
                    <a:cubicBezTo>
                      <a:pt x="0" y="8"/>
                      <a:pt x="3" y="12"/>
                      <a:pt x="7" y="12"/>
                    </a:cubicBezTo>
                    <a:cubicBezTo>
                      <a:pt x="11" y="12"/>
                      <a:pt x="14" y="8"/>
                      <a:pt x="14" y="4"/>
                    </a:cubicBezTo>
                    <a:cubicBezTo>
                      <a:pt x="14" y="2"/>
                      <a:pt x="13" y="1"/>
                      <a:pt x="13" y="0"/>
                    </a:cubicBezTo>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09" name="Freeform 36">
                <a:extLst>
                  <a:ext uri="{FF2B5EF4-FFF2-40B4-BE49-F238E27FC236}">
                    <a16:creationId xmlns:a16="http://schemas.microsoft.com/office/drawing/2014/main" id="{07A4B586-9DBA-4902-BF9A-59B4FCD54AD7}"/>
                  </a:ext>
                </a:extLst>
              </p:cNvPr>
              <p:cNvSpPr/>
              <p:nvPr/>
            </p:nvSpPr>
            <p:spPr bwMode="auto">
              <a:xfrm>
                <a:off x="2149475" y="1600200"/>
                <a:ext cx="363538" cy="531812"/>
              </a:xfrm>
              <a:custGeom>
                <a:avLst/>
                <a:gdLst/>
                <a:ahLst/>
                <a:cxnLst>
                  <a:cxn ang="0">
                    <a:pos x="128" y="222"/>
                  </a:cxn>
                  <a:cxn ang="0">
                    <a:pos x="126" y="256"/>
                  </a:cxn>
                  <a:cxn ang="0">
                    <a:pos x="218" y="256"/>
                  </a:cxn>
                  <a:cxn ang="0">
                    <a:pos x="181" y="224"/>
                  </a:cxn>
                  <a:cxn ang="0">
                    <a:pos x="208" y="110"/>
                  </a:cxn>
                  <a:cxn ang="0">
                    <a:pos x="143" y="4"/>
                  </a:cxn>
                  <a:cxn ang="0">
                    <a:pos x="39" y="7"/>
                  </a:cxn>
                  <a:cxn ang="0">
                    <a:pos x="0" y="0"/>
                  </a:cxn>
                  <a:cxn ang="0">
                    <a:pos x="9" y="38"/>
                  </a:cxn>
                  <a:cxn ang="0">
                    <a:pos x="35" y="180"/>
                  </a:cxn>
                  <a:cxn ang="0">
                    <a:pos x="37" y="320"/>
                  </a:cxn>
                  <a:cxn ang="0">
                    <a:pos x="84" y="320"/>
                  </a:cxn>
                  <a:cxn ang="0">
                    <a:pos x="93" y="188"/>
                  </a:cxn>
                  <a:cxn ang="0">
                    <a:pos x="87" y="64"/>
                  </a:cxn>
                  <a:cxn ang="0">
                    <a:pos x="145" y="110"/>
                  </a:cxn>
                  <a:cxn ang="0">
                    <a:pos x="129" y="222"/>
                  </a:cxn>
                  <a:cxn ang="0">
                    <a:pos x="128" y="222"/>
                  </a:cxn>
                </a:cxnLst>
                <a:rect l="0" t="0" r="r" b="b"/>
                <a:pathLst>
                  <a:path w="218" h="320">
                    <a:moveTo>
                      <a:pt x="128" y="222"/>
                    </a:moveTo>
                    <a:cubicBezTo>
                      <a:pt x="126" y="256"/>
                      <a:pt x="126" y="256"/>
                      <a:pt x="126" y="256"/>
                    </a:cubicBezTo>
                    <a:cubicBezTo>
                      <a:pt x="218" y="256"/>
                      <a:pt x="218" y="256"/>
                      <a:pt x="218" y="256"/>
                    </a:cubicBezTo>
                    <a:cubicBezTo>
                      <a:pt x="218" y="256"/>
                      <a:pt x="210" y="230"/>
                      <a:pt x="181" y="224"/>
                    </a:cubicBezTo>
                    <a:cubicBezTo>
                      <a:pt x="208" y="110"/>
                      <a:pt x="208" y="110"/>
                      <a:pt x="208" y="110"/>
                    </a:cubicBezTo>
                    <a:cubicBezTo>
                      <a:pt x="190" y="59"/>
                      <a:pt x="143" y="4"/>
                      <a:pt x="143" y="4"/>
                    </a:cubicBezTo>
                    <a:cubicBezTo>
                      <a:pt x="39" y="7"/>
                      <a:pt x="39" y="7"/>
                      <a:pt x="39" y="7"/>
                    </a:cubicBezTo>
                    <a:cubicBezTo>
                      <a:pt x="0" y="0"/>
                      <a:pt x="0" y="0"/>
                      <a:pt x="0" y="0"/>
                    </a:cubicBezTo>
                    <a:cubicBezTo>
                      <a:pt x="0" y="0"/>
                      <a:pt x="8" y="34"/>
                      <a:pt x="9" y="38"/>
                    </a:cubicBezTo>
                    <a:cubicBezTo>
                      <a:pt x="18" y="76"/>
                      <a:pt x="30" y="137"/>
                      <a:pt x="35" y="180"/>
                    </a:cubicBezTo>
                    <a:cubicBezTo>
                      <a:pt x="40" y="214"/>
                      <a:pt x="37" y="320"/>
                      <a:pt x="37" y="320"/>
                    </a:cubicBezTo>
                    <a:cubicBezTo>
                      <a:pt x="84" y="320"/>
                      <a:pt x="84" y="320"/>
                      <a:pt x="84" y="320"/>
                    </a:cubicBezTo>
                    <a:cubicBezTo>
                      <a:pt x="84" y="320"/>
                      <a:pt x="93" y="225"/>
                      <a:pt x="93" y="188"/>
                    </a:cubicBezTo>
                    <a:cubicBezTo>
                      <a:pt x="93" y="168"/>
                      <a:pt x="90" y="108"/>
                      <a:pt x="87" y="64"/>
                    </a:cubicBezTo>
                    <a:cubicBezTo>
                      <a:pt x="145" y="110"/>
                      <a:pt x="145" y="110"/>
                      <a:pt x="145" y="110"/>
                    </a:cubicBezTo>
                    <a:cubicBezTo>
                      <a:pt x="145" y="151"/>
                      <a:pt x="131" y="212"/>
                      <a:pt x="129" y="222"/>
                    </a:cubicBezTo>
                    <a:lnTo>
                      <a:pt x="128" y="222"/>
                    </a:lnTo>
                    <a:close/>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10" name="Freeform 37">
                <a:extLst>
                  <a:ext uri="{FF2B5EF4-FFF2-40B4-BE49-F238E27FC236}">
                    <a16:creationId xmlns:a16="http://schemas.microsoft.com/office/drawing/2014/main" id="{7CB85F1E-822A-4FCD-A917-47A332579276}"/>
                  </a:ext>
                </a:extLst>
              </p:cNvPr>
              <p:cNvSpPr/>
              <p:nvPr/>
            </p:nvSpPr>
            <p:spPr bwMode="auto">
              <a:xfrm>
                <a:off x="2208213" y="2132013"/>
                <a:ext cx="149225" cy="47625"/>
              </a:xfrm>
              <a:custGeom>
                <a:avLst/>
                <a:gdLst/>
                <a:ahLst/>
                <a:cxnLst>
                  <a:cxn ang="0">
                    <a:pos x="53" y="0"/>
                  </a:cxn>
                  <a:cxn ang="0">
                    <a:pos x="0" y="0"/>
                  </a:cxn>
                  <a:cxn ang="0">
                    <a:pos x="0" y="29"/>
                  </a:cxn>
                  <a:cxn ang="0">
                    <a:pos x="83" y="29"/>
                  </a:cxn>
                  <a:cxn ang="0">
                    <a:pos x="53" y="0"/>
                  </a:cxn>
                </a:cxnLst>
                <a:rect l="0" t="0" r="r" b="b"/>
                <a:pathLst>
                  <a:path w="90" h="29">
                    <a:moveTo>
                      <a:pt x="53" y="0"/>
                    </a:moveTo>
                    <a:cubicBezTo>
                      <a:pt x="0" y="0"/>
                      <a:pt x="0" y="0"/>
                      <a:pt x="0" y="0"/>
                    </a:cubicBezTo>
                    <a:cubicBezTo>
                      <a:pt x="0" y="29"/>
                      <a:pt x="0" y="29"/>
                      <a:pt x="0" y="29"/>
                    </a:cubicBezTo>
                    <a:cubicBezTo>
                      <a:pt x="83" y="29"/>
                      <a:pt x="83" y="29"/>
                      <a:pt x="83" y="29"/>
                    </a:cubicBezTo>
                    <a:cubicBezTo>
                      <a:pt x="83" y="29"/>
                      <a:pt x="90" y="8"/>
                      <a:pt x="53" y="0"/>
                    </a:cubicBezTo>
                    <a:close/>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11" name="Freeform 38">
                <a:extLst>
                  <a:ext uri="{FF2B5EF4-FFF2-40B4-BE49-F238E27FC236}">
                    <a16:creationId xmlns:a16="http://schemas.microsoft.com/office/drawing/2014/main" id="{942814EC-8CDE-45FF-A1C4-5B24B2F3ED02}"/>
                  </a:ext>
                </a:extLst>
              </p:cNvPr>
              <p:cNvSpPr/>
              <p:nvPr/>
            </p:nvSpPr>
            <p:spPr bwMode="auto">
              <a:xfrm>
                <a:off x="2000250" y="982663"/>
                <a:ext cx="449263" cy="635000"/>
              </a:xfrm>
              <a:custGeom>
                <a:avLst/>
                <a:gdLst/>
                <a:ahLst/>
                <a:cxnLst>
                  <a:cxn ang="0">
                    <a:pos x="68" y="63"/>
                  </a:cxn>
                  <a:cxn ang="0">
                    <a:pos x="98" y="111"/>
                  </a:cxn>
                  <a:cxn ang="0">
                    <a:pos x="98" y="121"/>
                  </a:cxn>
                  <a:cxn ang="0">
                    <a:pos x="98" y="135"/>
                  </a:cxn>
                  <a:cxn ang="0">
                    <a:pos x="50" y="160"/>
                  </a:cxn>
                  <a:cxn ang="0">
                    <a:pos x="5" y="281"/>
                  </a:cxn>
                  <a:cxn ang="0">
                    <a:pos x="73" y="326"/>
                  </a:cxn>
                  <a:cxn ang="0">
                    <a:pos x="75" y="382"/>
                  </a:cxn>
                  <a:cxn ang="0">
                    <a:pos x="252" y="375"/>
                  </a:cxn>
                  <a:cxn ang="0">
                    <a:pos x="221" y="255"/>
                  </a:cxn>
                  <a:cxn ang="0">
                    <a:pos x="199" y="167"/>
                  </a:cxn>
                  <a:cxn ang="0">
                    <a:pos x="200" y="168"/>
                  </a:cxn>
                  <a:cxn ang="0">
                    <a:pos x="265" y="148"/>
                  </a:cxn>
                  <a:cxn ang="0">
                    <a:pos x="251" y="8"/>
                  </a:cxn>
                  <a:cxn ang="0">
                    <a:pos x="221" y="15"/>
                  </a:cxn>
                  <a:cxn ang="0">
                    <a:pos x="229" y="117"/>
                  </a:cxn>
                  <a:cxn ang="0">
                    <a:pos x="189" y="126"/>
                  </a:cxn>
                  <a:cxn ang="0">
                    <a:pos x="189" y="125"/>
                  </a:cxn>
                  <a:cxn ang="0">
                    <a:pos x="149" y="108"/>
                  </a:cxn>
                  <a:cxn ang="0">
                    <a:pos x="149" y="104"/>
                  </a:cxn>
                  <a:cxn ang="0">
                    <a:pos x="165" y="94"/>
                  </a:cxn>
                  <a:cxn ang="0">
                    <a:pos x="159" y="62"/>
                  </a:cxn>
                  <a:cxn ang="0">
                    <a:pos x="166" y="57"/>
                  </a:cxn>
                  <a:cxn ang="0">
                    <a:pos x="154" y="45"/>
                  </a:cxn>
                  <a:cxn ang="0">
                    <a:pos x="147" y="24"/>
                  </a:cxn>
                  <a:cxn ang="0">
                    <a:pos x="152" y="15"/>
                  </a:cxn>
                  <a:cxn ang="0">
                    <a:pos x="156" y="0"/>
                  </a:cxn>
                  <a:cxn ang="0">
                    <a:pos x="123" y="4"/>
                  </a:cxn>
                  <a:cxn ang="0">
                    <a:pos x="85" y="8"/>
                  </a:cxn>
                  <a:cxn ang="0">
                    <a:pos x="71" y="24"/>
                  </a:cxn>
                  <a:cxn ang="0">
                    <a:pos x="68" y="63"/>
                  </a:cxn>
                </a:cxnLst>
                <a:rect l="0" t="0" r="r" b="b"/>
                <a:pathLst>
                  <a:path w="270" h="382">
                    <a:moveTo>
                      <a:pt x="68" y="63"/>
                    </a:moveTo>
                    <a:cubicBezTo>
                      <a:pt x="73" y="87"/>
                      <a:pt x="98" y="111"/>
                      <a:pt x="98" y="111"/>
                    </a:cubicBezTo>
                    <a:cubicBezTo>
                      <a:pt x="98" y="121"/>
                      <a:pt x="98" y="121"/>
                      <a:pt x="98" y="121"/>
                    </a:cubicBezTo>
                    <a:cubicBezTo>
                      <a:pt x="98" y="135"/>
                      <a:pt x="98" y="135"/>
                      <a:pt x="98" y="135"/>
                    </a:cubicBezTo>
                    <a:cubicBezTo>
                      <a:pt x="98" y="135"/>
                      <a:pt x="54" y="156"/>
                      <a:pt x="50" y="160"/>
                    </a:cubicBezTo>
                    <a:cubicBezTo>
                      <a:pt x="36" y="174"/>
                      <a:pt x="12" y="253"/>
                      <a:pt x="5" y="281"/>
                    </a:cubicBezTo>
                    <a:cubicBezTo>
                      <a:pt x="0" y="299"/>
                      <a:pt x="39" y="315"/>
                      <a:pt x="73" y="326"/>
                    </a:cubicBezTo>
                    <a:cubicBezTo>
                      <a:pt x="75" y="382"/>
                      <a:pt x="75" y="382"/>
                      <a:pt x="75" y="382"/>
                    </a:cubicBezTo>
                    <a:cubicBezTo>
                      <a:pt x="252" y="375"/>
                      <a:pt x="252" y="375"/>
                      <a:pt x="252" y="375"/>
                    </a:cubicBezTo>
                    <a:cubicBezTo>
                      <a:pt x="252" y="375"/>
                      <a:pt x="233" y="304"/>
                      <a:pt x="221" y="255"/>
                    </a:cubicBezTo>
                    <a:cubicBezTo>
                      <a:pt x="212" y="216"/>
                      <a:pt x="204" y="188"/>
                      <a:pt x="199" y="167"/>
                    </a:cubicBezTo>
                    <a:cubicBezTo>
                      <a:pt x="200" y="168"/>
                      <a:pt x="200" y="168"/>
                      <a:pt x="200" y="168"/>
                    </a:cubicBezTo>
                    <a:cubicBezTo>
                      <a:pt x="200" y="168"/>
                      <a:pt x="261" y="157"/>
                      <a:pt x="265" y="148"/>
                    </a:cubicBezTo>
                    <a:cubicBezTo>
                      <a:pt x="270" y="135"/>
                      <a:pt x="251" y="8"/>
                      <a:pt x="251" y="8"/>
                    </a:cubicBezTo>
                    <a:cubicBezTo>
                      <a:pt x="221" y="15"/>
                      <a:pt x="221" y="15"/>
                      <a:pt x="221" y="15"/>
                    </a:cubicBezTo>
                    <a:cubicBezTo>
                      <a:pt x="221" y="15"/>
                      <a:pt x="229" y="109"/>
                      <a:pt x="229" y="117"/>
                    </a:cubicBezTo>
                    <a:cubicBezTo>
                      <a:pt x="229" y="120"/>
                      <a:pt x="204" y="124"/>
                      <a:pt x="189" y="126"/>
                    </a:cubicBezTo>
                    <a:cubicBezTo>
                      <a:pt x="189" y="125"/>
                      <a:pt x="189" y="125"/>
                      <a:pt x="189" y="125"/>
                    </a:cubicBezTo>
                    <a:cubicBezTo>
                      <a:pt x="149" y="131"/>
                      <a:pt x="149" y="110"/>
                      <a:pt x="149" y="108"/>
                    </a:cubicBezTo>
                    <a:cubicBezTo>
                      <a:pt x="149" y="106"/>
                      <a:pt x="149" y="104"/>
                      <a:pt x="149" y="104"/>
                    </a:cubicBezTo>
                    <a:cubicBezTo>
                      <a:pt x="149" y="104"/>
                      <a:pt x="161" y="103"/>
                      <a:pt x="165" y="94"/>
                    </a:cubicBezTo>
                    <a:cubicBezTo>
                      <a:pt x="167" y="91"/>
                      <a:pt x="163" y="77"/>
                      <a:pt x="159" y="62"/>
                    </a:cubicBezTo>
                    <a:cubicBezTo>
                      <a:pt x="166" y="57"/>
                      <a:pt x="166" y="57"/>
                      <a:pt x="166" y="57"/>
                    </a:cubicBezTo>
                    <a:cubicBezTo>
                      <a:pt x="154" y="45"/>
                      <a:pt x="154" y="45"/>
                      <a:pt x="154" y="45"/>
                    </a:cubicBezTo>
                    <a:cubicBezTo>
                      <a:pt x="152" y="40"/>
                      <a:pt x="148" y="27"/>
                      <a:pt x="147" y="24"/>
                    </a:cubicBezTo>
                    <a:cubicBezTo>
                      <a:pt x="147" y="24"/>
                      <a:pt x="149" y="21"/>
                      <a:pt x="152" y="15"/>
                    </a:cubicBezTo>
                    <a:cubicBezTo>
                      <a:pt x="155" y="8"/>
                      <a:pt x="156" y="0"/>
                      <a:pt x="156" y="0"/>
                    </a:cubicBezTo>
                    <a:cubicBezTo>
                      <a:pt x="156" y="0"/>
                      <a:pt x="140" y="6"/>
                      <a:pt x="123" y="4"/>
                    </a:cubicBezTo>
                    <a:cubicBezTo>
                      <a:pt x="114" y="2"/>
                      <a:pt x="91" y="4"/>
                      <a:pt x="85" y="8"/>
                    </a:cubicBezTo>
                    <a:cubicBezTo>
                      <a:pt x="80" y="11"/>
                      <a:pt x="74" y="16"/>
                      <a:pt x="71" y="24"/>
                    </a:cubicBezTo>
                    <a:cubicBezTo>
                      <a:pt x="68" y="33"/>
                      <a:pt x="64" y="46"/>
                      <a:pt x="68" y="63"/>
                    </a:cubicBezTo>
                    <a:close/>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12" name="Freeform 39">
                <a:extLst>
                  <a:ext uri="{FF2B5EF4-FFF2-40B4-BE49-F238E27FC236}">
                    <a16:creationId xmlns:a16="http://schemas.microsoft.com/office/drawing/2014/main" id="{1729D5FB-3509-4849-8A59-C117A91FF419}"/>
                  </a:ext>
                </a:extLst>
              </p:cNvPr>
              <p:cNvSpPr/>
              <p:nvPr/>
            </p:nvSpPr>
            <p:spPr bwMode="auto">
              <a:xfrm>
                <a:off x="2082800" y="1374775"/>
                <a:ext cx="34925" cy="93662"/>
              </a:xfrm>
              <a:custGeom>
                <a:avLst/>
                <a:gdLst/>
                <a:ahLst/>
                <a:cxnLst>
                  <a:cxn ang="0">
                    <a:pos x="3" y="33"/>
                  </a:cxn>
                  <a:cxn ang="0">
                    <a:pos x="19" y="0"/>
                  </a:cxn>
                  <a:cxn ang="0">
                    <a:pos x="21" y="56"/>
                  </a:cxn>
                  <a:cxn ang="0">
                    <a:pos x="3" y="33"/>
                  </a:cxn>
                </a:cxnLst>
                <a:rect l="0" t="0" r="r" b="b"/>
                <a:pathLst>
                  <a:path w="21" h="56">
                    <a:moveTo>
                      <a:pt x="3" y="33"/>
                    </a:moveTo>
                    <a:cubicBezTo>
                      <a:pt x="4" y="27"/>
                      <a:pt x="10" y="12"/>
                      <a:pt x="19" y="0"/>
                    </a:cubicBezTo>
                    <a:cubicBezTo>
                      <a:pt x="20" y="22"/>
                      <a:pt x="20" y="41"/>
                      <a:pt x="21" y="56"/>
                    </a:cubicBezTo>
                    <a:cubicBezTo>
                      <a:pt x="9" y="51"/>
                      <a:pt x="0" y="43"/>
                      <a:pt x="3" y="33"/>
                    </a:cubicBezTo>
                    <a:close/>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13" name="Freeform 40">
                <a:extLst>
                  <a:ext uri="{FF2B5EF4-FFF2-40B4-BE49-F238E27FC236}">
                    <a16:creationId xmlns:a16="http://schemas.microsoft.com/office/drawing/2014/main" id="{BDC294A5-F194-422A-B0F8-90537B1F4916}"/>
                  </a:ext>
                </a:extLst>
              </p:cNvPr>
              <p:cNvSpPr/>
              <p:nvPr/>
            </p:nvSpPr>
            <p:spPr bwMode="auto">
              <a:xfrm>
                <a:off x="2200275" y="1155700"/>
                <a:ext cx="1588" cy="1587"/>
              </a:xfrm>
              <a:custGeom>
                <a:avLst/>
                <a:gdLst/>
                <a:ahLst/>
                <a:cxnLst>
                  <a:cxn ang="0">
                    <a:pos x="0" y="1"/>
                  </a:cxn>
                  <a:cxn ang="0">
                    <a:pos x="0" y="0"/>
                  </a:cxn>
                  <a:cxn ang="0">
                    <a:pos x="0" y="1"/>
                  </a:cxn>
                  <a:cxn ang="0">
                    <a:pos x="0" y="1"/>
                  </a:cxn>
                </a:cxnLst>
                <a:rect l="0" t="0" r="r" b="b"/>
                <a:pathLst>
                  <a:path h="1">
                    <a:moveTo>
                      <a:pt x="0" y="1"/>
                    </a:moveTo>
                    <a:lnTo>
                      <a:pt x="0" y="0"/>
                    </a:lnTo>
                    <a:lnTo>
                      <a:pt x="0" y="1"/>
                    </a:lnTo>
                    <a:lnTo>
                      <a:pt x="0" y="1"/>
                    </a:lnTo>
                    <a:close/>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190" name="Group 143">
              <a:extLst>
                <a:ext uri="{FF2B5EF4-FFF2-40B4-BE49-F238E27FC236}">
                  <a16:creationId xmlns:a16="http://schemas.microsoft.com/office/drawing/2014/main" id="{BEC4C150-7A9E-4E93-96A9-0B482C991EEC}"/>
                </a:ext>
              </a:extLst>
            </p:cNvPr>
            <p:cNvGrpSpPr/>
            <p:nvPr/>
          </p:nvGrpSpPr>
          <p:grpSpPr>
            <a:xfrm>
              <a:off x="2265363" y="1211262"/>
              <a:ext cx="246062" cy="158750"/>
              <a:chOff x="2265363" y="914400"/>
              <a:chExt cx="246062" cy="158750"/>
            </a:xfrm>
            <a:grpFill/>
          </p:grpSpPr>
          <p:sp>
            <p:nvSpPr>
              <p:cNvPr id="191" name="Freeform 8">
                <a:extLst>
                  <a:ext uri="{FF2B5EF4-FFF2-40B4-BE49-F238E27FC236}">
                    <a16:creationId xmlns:a16="http://schemas.microsoft.com/office/drawing/2014/main" id="{38E97270-61F5-4B34-8D54-5EBD4E8BDCA8}"/>
                  </a:ext>
                </a:extLst>
              </p:cNvPr>
              <p:cNvSpPr/>
              <p:nvPr/>
            </p:nvSpPr>
            <p:spPr bwMode="auto">
              <a:xfrm>
                <a:off x="2446338" y="1003300"/>
                <a:ext cx="46038" cy="12700"/>
              </a:xfrm>
              <a:custGeom>
                <a:avLst/>
                <a:gdLst/>
                <a:ahLst/>
                <a:cxnLst>
                  <a:cxn ang="0">
                    <a:pos x="21" y="0"/>
                  </a:cxn>
                  <a:cxn ang="0">
                    <a:pos x="1" y="3"/>
                  </a:cxn>
                  <a:cxn ang="0">
                    <a:pos x="0" y="7"/>
                  </a:cxn>
                  <a:cxn ang="0">
                    <a:pos x="28" y="1"/>
                  </a:cxn>
                  <a:cxn ang="0">
                    <a:pos x="21" y="0"/>
                  </a:cxn>
                </a:cxnLst>
                <a:rect l="0" t="0" r="r" b="b"/>
                <a:pathLst>
                  <a:path w="28" h="7">
                    <a:moveTo>
                      <a:pt x="21" y="0"/>
                    </a:moveTo>
                    <a:cubicBezTo>
                      <a:pt x="1" y="3"/>
                      <a:pt x="1" y="3"/>
                      <a:pt x="1" y="3"/>
                    </a:cubicBezTo>
                    <a:cubicBezTo>
                      <a:pt x="1" y="3"/>
                      <a:pt x="1" y="3"/>
                      <a:pt x="0" y="7"/>
                    </a:cubicBezTo>
                    <a:cubicBezTo>
                      <a:pt x="28" y="1"/>
                      <a:pt x="28" y="1"/>
                      <a:pt x="28" y="1"/>
                    </a:cubicBezTo>
                    <a:cubicBezTo>
                      <a:pt x="28" y="1"/>
                      <a:pt x="23" y="1"/>
                      <a:pt x="21" y="0"/>
                    </a:cubicBezTo>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92" name="Freeform 15">
                <a:extLst>
                  <a:ext uri="{FF2B5EF4-FFF2-40B4-BE49-F238E27FC236}">
                    <a16:creationId xmlns:a16="http://schemas.microsoft.com/office/drawing/2014/main" id="{41983FE5-5D2B-4634-AE0C-959562BEE498}"/>
                  </a:ext>
                </a:extLst>
              </p:cNvPr>
              <p:cNvSpPr/>
              <p:nvPr/>
            </p:nvSpPr>
            <p:spPr bwMode="auto">
              <a:xfrm>
                <a:off x="2446338" y="1003300"/>
                <a:ext cx="46038" cy="12700"/>
              </a:xfrm>
              <a:custGeom>
                <a:avLst/>
                <a:gdLst/>
                <a:ahLst/>
                <a:cxnLst>
                  <a:cxn ang="0">
                    <a:pos x="21" y="0"/>
                  </a:cxn>
                  <a:cxn ang="0">
                    <a:pos x="1" y="3"/>
                  </a:cxn>
                  <a:cxn ang="0">
                    <a:pos x="0" y="7"/>
                  </a:cxn>
                  <a:cxn ang="0">
                    <a:pos x="28" y="1"/>
                  </a:cxn>
                  <a:cxn ang="0">
                    <a:pos x="21" y="0"/>
                  </a:cxn>
                </a:cxnLst>
                <a:rect l="0" t="0" r="r" b="b"/>
                <a:pathLst>
                  <a:path w="28" h="7">
                    <a:moveTo>
                      <a:pt x="21" y="0"/>
                    </a:moveTo>
                    <a:cubicBezTo>
                      <a:pt x="1" y="3"/>
                      <a:pt x="1" y="3"/>
                      <a:pt x="1" y="3"/>
                    </a:cubicBezTo>
                    <a:cubicBezTo>
                      <a:pt x="1" y="3"/>
                      <a:pt x="1" y="3"/>
                      <a:pt x="0" y="7"/>
                    </a:cubicBezTo>
                    <a:cubicBezTo>
                      <a:pt x="28" y="1"/>
                      <a:pt x="28" y="1"/>
                      <a:pt x="28" y="1"/>
                    </a:cubicBezTo>
                    <a:cubicBezTo>
                      <a:pt x="28" y="1"/>
                      <a:pt x="23" y="1"/>
                      <a:pt x="21" y="0"/>
                    </a:cubicBezTo>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93" name="Freeform 76">
                <a:extLst>
                  <a:ext uri="{FF2B5EF4-FFF2-40B4-BE49-F238E27FC236}">
                    <a16:creationId xmlns:a16="http://schemas.microsoft.com/office/drawing/2014/main" id="{205B18F6-CD48-4BCC-927C-074559274F88}"/>
                  </a:ext>
                </a:extLst>
              </p:cNvPr>
              <p:cNvSpPr/>
              <p:nvPr/>
            </p:nvSpPr>
            <p:spPr bwMode="auto">
              <a:xfrm>
                <a:off x="2395538" y="919163"/>
                <a:ext cx="100013" cy="103187"/>
              </a:xfrm>
              <a:custGeom>
                <a:avLst/>
                <a:gdLst/>
                <a:ahLst/>
                <a:cxnLst>
                  <a:cxn ang="0">
                    <a:pos x="42" y="0"/>
                  </a:cxn>
                  <a:cxn ang="0">
                    <a:pos x="0" y="34"/>
                  </a:cxn>
                  <a:cxn ang="0">
                    <a:pos x="15" y="65"/>
                  </a:cxn>
                  <a:cxn ang="0">
                    <a:pos x="63" y="54"/>
                  </a:cxn>
                  <a:cxn ang="0">
                    <a:pos x="42" y="0"/>
                  </a:cxn>
                </a:cxnLst>
                <a:rect l="0" t="0" r="r" b="b"/>
                <a:pathLst>
                  <a:path w="63" h="65">
                    <a:moveTo>
                      <a:pt x="42" y="0"/>
                    </a:moveTo>
                    <a:lnTo>
                      <a:pt x="0" y="34"/>
                    </a:lnTo>
                    <a:lnTo>
                      <a:pt x="15" y="65"/>
                    </a:lnTo>
                    <a:lnTo>
                      <a:pt x="63" y="54"/>
                    </a:lnTo>
                    <a:lnTo>
                      <a:pt x="42" y="0"/>
                    </a:lnTo>
                    <a:close/>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94" name="Freeform 77">
                <a:extLst>
                  <a:ext uri="{FF2B5EF4-FFF2-40B4-BE49-F238E27FC236}">
                    <a16:creationId xmlns:a16="http://schemas.microsoft.com/office/drawing/2014/main" id="{632F310C-C616-4BC4-9DA5-572218616F92}"/>
                  </a:ext>
                </a:extLst>
              </p:cNvPr>
              <p:cNvSpPr/>
              <p:nvPr/>
            </p:nvSpPr>
            <p:spPr bwMode="auto">
              <a:xfrm>
                <a:off x="2395538" y="919163"/>
                <a:ext cx="100013" cy="103187"/>
              </a:xfrm>
              <a:custGeom>
                <a:avLst/>
                <a:gdLst/>
                <a:ahLst/>
                <a:cxnLst>
                  <a:cxn ang="0">
                    <a:pos x="42" y="0"/>
                  </a:cxn>
                  <a:cxn ang="0">
                    <a:pos x="0" y="34"/>
                  </a:cxn>
                  <a:cxn ang="0">
                    <a:pos x="15" y="65"/>
                  </a:cxn>
                  <a:cxn ang="0">
                    <a:pos x="63" y="54"/>
                  </a:cxn>
                </a:cxnLst>
                <a:rect l="0" t="0" r="r" b="b"/>
                <a:pathLst>
                  <a:path w="63" h="65">
                    <a:moveTo>
                      <a:pt x="42" y="0"/>
                    </a:moveTo>
                    <a:lnTo>
                      <a:pt x="0" y="34"/>
                    </a:lnTo>
                    <a:lnTo>
                      <a:pt x="15" y="65"/>
                    </a:lnTo>
                    <a:lnTo>
                      <a:pt x="63" y="54"/>
                    </a:lnTo>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95" name="Freeform 78">
                <a:extLst>
                  <a:ext uri="{FF2B5EF4-FFF2-40B4-BE49-F238E27FC236}">
                    <a16:creationId xmlns:a16="http://schemas.microsoft.com/office/drawing/2014/main" id="{D102F221-0A5E-45FB-8612-9B61AF3A4081}"/>
                  </a:ext>
                </a:extLst>
              </p:cNvPr>
              <p:cNvSpPr/>
              <p:nvPr/>
            </p:nvSpPr>
            <p:spPr bwMode="auto">
              <a:xfrm>
                <a:off x="2447925" y="914400"/>
                <a:ext cx="63500" cy="96837"/>
              </a:xfrm>
              <a:custGeom>
                <a:avLst/>
                <a:gdLst/>
                <a:ahLst/>
                <a:cxnLst>
                  <a:cxn ang="0">
                    <a:pos x="5" y="34"/>
                  </a:cxn>
                  <a:cxn ang="0">
                    <a:pos x="29" y="55"/>
                  </a:cxn>
                  <a:cxn ang="0">
                    <a:pos x="32" y="24"/>
                  </a:cxn>
                  <a:cxn ang="0">
                    <a:pos x="9" y="3"/>
                  </a:cxn>
                  <a:cxn ang="0">
                    <a:pos x="5" y="34"/>
                  </a:cxn>
                </a:cxnLst>
                <a:rect l="0" t="0" r="r" b="b"/>
                <a:pathLst>
                  <a:path w="38" h="58">
                    <a:moveTo>
                      <a:pt x="5" y="34"/>
                    </a:moveTo>
                    <a:cubicBezTo>
                      <a:pt x="11" y="49"/>
                      <a:pt x="21" y="58"/>
                      <a:pt x="29" y="55"/>
                    </a:cubicBezTo>
                    <a:cubicBezTo>
                      <a:pt x="37" y="52"/>
                      <a:pt x="38" y="38"/>
                      <a:pt x="32" y="24"/>
                    </a:cubicBezTo>
                    <a:cubicBezTo>
                      <a:pt x="27" y="9"/>
                      <a:pt x="16" y="0"/>
                      <a:pt x="9" y="3"/>
                    </a:cubicBezTo>
                    <a:cubicBezTo>
                      <a:pt x="1" y="6"/>
                      <a:pt x="0" y="20"/>
                      <a:pt x="5" y="34"/>
                    </a:cubicBezTo>
                    <a:close/>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96" name="Freeform 79">
                <a:extLst>
                  <a:ext uri="{FF2B5EF4-FFF2-40B4-BE49-F238E27FC236}">
                    <a16:creationId xmlns:a16="http://schemas.microsoft.com/office/drawing/2014/main" id="{0817B7CD-8532-4379-9EED-B3D7EAFF6F30}"/>
                  </a:ext>
                </a:extLst>
              </p:cNvPr>
              <p:cNvSpPr/>
              <p:nvPr/>
            </p:nvSpPr>
            <p:spPr bwMode="auto">
              <a:xfrm>
                <a:off x="2284413" y="946150"/>
                <a:ext cx="150813" cy="123825"/>
              </a:xfrm>
              <a:custGeom>
                <a:avLst/>
                <a:gdLst/>
                <a:ahLst/>
                <a:cxnLst>
                  <a:cxn ang="0">
                    <a:pos x="91" y="52"/>
                  </a:cxn>
                  <a:cxn ang="0">
                    <a:pos x="18" y="75"/>
                  </a:cxn>
                  <a:cxn ang="0">
                    <a:pos x="4" y="40"/>
                  </a:cxn>
                  <a:cxn ang="0">
                    <a:pos x="71" y="0"/>
                  </a:cxn>
                </a:cxnLst>
                <a:rect l="0" t="0" r="r" b="b"/>
                <a:pathLst>
                  <a:path w="91" h="75">
                    <a:moveTo>
                      <a:pt x="91" y="52"/>
                    </a:moveTo>
                    <a:cubicBezTo>
                      <a:pt x="18" y="75"/>
                      <a:pt x="18" y="75"/>
                      <a:pt x="18" y="75"/>
                    </a:cubicBezTo>
                    <a:cubicBezTo>
                      <a:pt x="18" y="75"/>
                      <a:pt x="0" y="67"/>
                      <a:pt x="4" y="40"/>
                    </a:cubicBezTo>
                    <a:cubicBezTo>
                      <a:pt x="71" y="0"/>
                      <a:pt x="71" y="0"/>
                      <a:pt x="71" y="0"/>
                    </a:cubicBezTo>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97" name="Freeform 80">
                <a:extLst>
                  <a:ext uri="{FF2B5EF4-FFF2-40B4-BE49-F238E27FC236}">
                    <a16:creationId xmlns:a16="http://schemas.microsoft.com/office/drawing/2014/main" id="{7416FCD4-1641-4CF5-9380-CEC532CC5BD5}"/>
                  </a:ext>
                </a:extLst>
              </p:cNvPr>
              <p:cNvSpPr/>
              <p:nvPr/>
            </p:nvSpPr>
            <p:spPr bwMode="auto">
              <a:xfrm>
                <a:off x="2387600" y="939800"/>
                <a:ext cx="63500" cy="96837"/>
              </a:xfrm>
              <a:custGeom>
                <a:avLst/>
                <a:gdLst/>
                <a:ahLst/>
                <a:cxnLst>
                  <a:cxn ang="0">
                    <a:pos x="5" y="34"/>
                  </a:cxn>
                  <a:cxn ang="0">
                    <a:pos x="29" y="55"/>
                  </a:cxn>
                  <a:cxn ang="0">
                    <a:pos x="33" y="24"/>
                  </a:cxn>
                  <a:cxn ang="0">
                    <a:pos x="9" y="3"/>
                  </a:cxn>
                  <a:cxn ang="0">
                    <a:pos x="5" y="34"/>
                  </a:cxn>
                </a:cxnLst>
                <a:rect l="0" t="0" r="r" b="b"/>
                <a:pathLst>
                  <a:path w="38" h="58">
                    <a:moveTo>
                      <a:pt x="5" y="34"/>
                    </a:moveTo>
                    <a:cubicBezTo>
                      <a:pt x="11" y="48"/>
                      <a:pt x="22" y="58"/>
                      <a:pt x="29" y="55"/>
                    </a:cubicBezTo>
                    <a:cubicBezTo>
                      <a:pt x="37" y="52"/>
                      <a:pt x="38" y="38"/>
                      <a:pt x="33" y="24"/>
                    </a:cubicBezTo>
                    <a:cubicBezTo>
                      <a:pt x="27" y="9"/>
                      <a:pt x="16" y="0"/>
                      <a:pt x="9" y="3"/>
                    </a:cubicBezTo>
                    <a:cubicBezTo>
                      <a:pt x="1" y="6"/>
                      <a:pt x="0" y="20"/>
                      <a:pt x="5" y="34"/>
                    </a:cubicBezTo>
                    <a:close/>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98" name="Freeform 82">
                <a:extLst>
                  <a:ext uri="{FF2B5EF4-FFF2-40B4-BE49-F238E27FC236}">
                    <a16:creationId xmlns:a16="http://schemas.microsoft.com/office/drawing/2014/main" id="{3E3E1B38-9B35-48CA-814C-BB20C9EA9F78}"/>
                  </a:ext>
                </a:extLst>
              </p:cNvPr>
              <p:cNvSpPr/>
              <p:nvPr/>
            </p:nvSpPr>
            <p:spPr bwMode="auto">
              <a:xfrm>
                <a:off x="2282825" y="1030288"/>
                <a:ext cx="25400" cy="30162"/>
              </a:xfrm>
              <a:custGeom>
                <a:avLst/>
                <a:gdLst/>
                <a:ahLst/>
                <a:cxnLst>
                  <a:cxn ang="0">
                    <a:pos x="16" y="16"/>
                  </a:cxn>
                  <a:cxn ang="0">
                    <a:pos x="5" y="19"/>
                  </a:cxn>
                  <a:cxn ang="0">
                    <a:pos x="0" y="4"/>
                  </a:cxn>
                  <a:cxn ang="0">
                    <a:pos x="8" y="0"/>
                  </a:cxn>
                </a:cxnLst>
                <a:rect l="0" t="0" r="r" b="b"/>
                <a:pathLst>
                  <a:path w="16" h="19">
                    <a:moveTo>
                      <a:pt x="16" y="16"/>
                    </a:moveTo>
                    <a:lnTo>
                      <a:pt x="5" y="19"/>
                    </a:lnTo>
                    <a:lnTo>
                      <a:pt x="0" y="4"/>
                    </a:lnTo>
                    <a:lnTo>
                      <a:pt x="8" y="0"/>
                    </a:lnTo>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99" name="Freeform 83">
                <a:extLst>
                  <a:ext uri="{FF2B5EF4-FFF2-40B4-BE49-F238E27FC236}">
                    <a16:creationId xmlns:a16="http://schemas.microsoft.com/office/drawing/2014/main" id="{0C258160-1F86-4CAC-A8A2-C80FCB2D2777}"/>
                  </a:ext>
                </a:extLst>
              </p:cNvPr>
              <p:cNvSpPr/>
              <p:nvPr/>
            </p:nvSpPr>
            <p:spPr bwMode="auto">
              <a:xfrm>
                <a:off x="2265363" y="1033463"/>
                <a:ext cx="25400" cy="39687"/>
              </a:xfrm>
              <a:custGeom>
                <a:avLst/>
                <a:gdLst/>
                <a:ahLst/>
                <a:cxnLst>
                  <a:cxn ang="0">
                    <a:pos x="11" y="2"/>
                  </a:cxn>
                  <a:cxn ang="0">
                    <a:pos x="2" y="0"/>
                  </a:cxn>
                  <a:cxn ang="0">
                    <a:pos x="11" y="24"/>
                  </a:cxn>
                  <a:cxn ang="0">
                    <a:pos x="16" y="16"/>
                  </a:cxn>
                </a:cxnLst>
                <a:rect l="0" t="0" r="r" b="b"/>
                <a:pathLst>
                  <a:path w="16" h="24">
                    <a:moveTo>
                      <a:pt x="11" y="2"/>
                    </a:moveTo>
                    <a:cubicBezTo>
                      <a:pt x="2" y="0"/>
                      <a:pt x="2" y="0"/>
                      <a:pt x="2" y="0"/>
                    </a:cubicBezTo>
                    <a:cubicBezTo>
                      <a:pt x="0" y="13"/>
                      <a:pt x="11" y="24"/>
                      <a:pt x="11" y="24"/>
                    </a:cubicBezTo>
                    <a:cubicBezTo>
                      <a:pt x="16" y="16"/>
                      <a:pt x="16" y="16"/>
                      <a:pt x="16" y="16"/>
                    </a:cubicBezTo>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00" name="Freeform 84">
                <a:extLst>
                  <a:ext uri="{FF2B5EF4-FFF2-40B4-BE49-F238E27FC236}">
                    <a16:creationId xmlns:a16="http://schemas.microsoft.com/office/drawing/2014/main" id="{A9019AB9-B697-448C-93E0-DA6B2CDF5273}"/>
                  </a:ext>
                </a:extLst>
              </p:cNvPr>
              <p:cNvSpPr/>
              <p:nvPr/>
            </p:nvSpPr>
            <p:spPr bwMode="auto">
              <a:xfrm>
                <a:off x="2289175" y="1012825"/>
                <a:ext cx="25400" cy="57150"/>
              </a:xfrm>
              <a:custGeom>
                <a:avLst/>
                <a:gdLst/>
                <a:ahLst/>
                <a:cxnLst>
                  <a:cxn ang="0">
                    <a:pos x="15" y="35"/>
                  </a:cxn>
                  <a:cxn ang="0">
                    <a:pos x="14" y="34"/>
                  </a:cxn>
                  <a:cxn ang="0">
                    <a:pos x="12" y="33"/>
                  </a:cxn>
                  <a:cxn ang="0">
                    <a:pos x="10" y="31"/>
                  </a:cxn>
                  <a:cxn ang="0">
                    <a:pos x="8" y="29"/>
                  </a:cxn>
                  <a:cxn ang="0">
                    <a:pos x="6" y="26"/>
                  </a:cxn>
                  <a:cxn ang="0">
                    <a:pos x="4" y="23"/>
                  </a:cxn>
                  <a:cxn ang="0">
                    <a:pos x="2" y="20"/>
                  </a:cxn>
                  <a:cxn ang="0">
                    <a:pos x="1" y="13"/>
                  </a:cxn>
                  <a:cxn ang="0">
                    <a:pos x="0" y="6"/>
                  </a:cxn>
                  <a:cxn ang="0">
                    <a:pos x="1" y="0"/>
                  </a:cxn>
                  <a:cxn ang="0">
                    <a:pos x="1" y="6"/>
                  </a:cxn>
                  <a:cxn ang="0">
                    <a:pos x="3" y="19"/>
                  </a:cxn>
                  <a:cxn ang="0">
                    <a:pos x="5" y="23"/>
                  </a:cxn>
                  <a:cxn ang="0">
                    <a:pos x="7" y="26"/>
                  </a:cxn>
                  <a:cxn ang="0">
                    <a:pos x="8" y="29"/>
                  </a:cxn>
                  <a:cxn ang="0">
                    <a:pos x="10" y="31"/>
                  </a:cxn>
                  <a:cxn ang="0">
                    <a:pos x="12" y="33"/>
                  </a:cxn>
                  <a:cxn ang="0">
                    <a:pos x="14" y="34"/>
                  </a:cxn>
                  <a:cxn ang="0">
                    <a:pos x="15" y="35"/>
                  </a:cxn>
                </a:cxnLst>
                <a:rect l="0" t="0" r="r" b="b"/>
                <a:pathLst>
                  <a:path w="15" h="35">
                    <a:moveTo>
                      <a:pt x="15" y="35"/>
                    </a:moveTo>
                    <a:cubicBezTo>
                      <a:pt x="15" y="35"/>
                      <a:pt x="15" y="34"/>
                      <a:pt x="14" y="34"/>
                    </a:cubicBezTo>
                    <a:cubicBezTo>
                      <a:pt x="13" y="34"/>
                      <a:pt x="13" y="33"/>
                      <a:pt x="12" y="33"/>
                    </a:cubicBezTo>
                    <a:cubicBezTo>
                      <a:pt x="11" y="32"/>
                      <a:pt x="11" y="32"/>
                      <a:pt x="10" y="31"/>
                    </a:cubicBezTo>
                    <a:cubicBezTo>
                      <a:pt x="9" y="31"/>
                      <a:pt x="9" y="30"/>
                      <a:pt x="8" y="29"/>
                    </a:cubicBezTo>
                    <a:cubicBezTo>
                      <a:pt x="7" y="28"/>
                      <a:pt x="6" y="27"/>
                      <a:pt x="6" y="26"/>
                    </a:cubicBezTo>
                    <a:cubicBezTo>
                      <a:pt x="5" y="25"/>
                      <a:pt x="5" y="24"/>
                      <a:pt x="4" y="23"/>
                    </a:cubicBezTo>
                    <a:cubicBezTo>
                      <a:pt x="3" y="22"/>
                      <a:pt x="3" y="21"/>
                      <a:pt x="2" y="20"/>
                    </a:cubicBezTo>
                    <a:cubicBezTo>
                      <a:pt x="2" y="17"/>
                      <a:pt x="1" y="15"/>
                      <a:pt x="1" y="13"/>
                    </a:cubicBezTo>
                    <a:cubicBezTo>
                      <a:pt x="0" y="10"/>
                      <a:pt x="0" y="8"/>
                      <a:pt x="0" y="6"/>
                    </a:cubicBezTo>
                    <a:cubicBezTo>
                      <a:pt x="1" y="2"/>
                      <a:pt x="1" y="0"/>
                      <a:pt x="1" y="0"/>
                    </a:cubicBezTo>
                    <a:cubicBezTo>
                      <a:pt x="1" y="0"/>
                      <a:pt x="1" y="2"/>
                      <a:pt x="1" y="6"/>
                    </a:cubicBezTo>
                    <a:cubicBezTo>
                      <a:pt x="1" y="10"/>
                      <a:pt x="2" y="15"/>
                      <a:pt x="3" y="19"/>
                    </a:cubicBezTo>
                    <a:cubicBezTo>
                      <a:pt x="4" y="21"/>
                      <a:pt x="4" y="22"/>
                      <a:pt x="5" y="23"/>
                    </a:cubicBezTo>
                    <a:cubicBezTo>
                      <a:pt x="5" y="24"/>
                      <a:pt x="6" y="25"/>
                      <a:pt x="7" y="26"/>
                    </a:cubicBezTo>
                    <a:cubicBezTo>
                      <a:pt x="7" y="27"/>
                      <a:pt x="8" y="28"/>
                      <a:pt x="8" y="29"/>
                    </a:cubicBezTo>
                    <a:cubicBezTo>
                      <a:pt x="9" y="29"/>
                      <a:pt x="10" y="30"/>
                      <a:pt x="10" y="31"/>
                    </a:cubicBezTo>
                    <a:cubicBezTo>
                      <a:pt x="11" y="31"/>
                      <a:pt x="12" y="32"/>
                      <a:pt x="12" y="33"/>
                    </a:cubicBezTo>
                    <a:cubicBezTo>
                      <a:pt x="13" y="33"/>
                      <a:pt x="13" y="33"/>
                      <a:pt x="14" y="34"/>
                    </a:cubicBezTo>
                    <a:cubicBezTo>
                      <a:pt x="15" y="34"/>
                      <a:pt x="15" y="35"/>
                      <a:pt x="15" y="35"/>
                    </a:cubicBezTo>
                    <a:close/>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01" name="Freeform 86">
                <a:extLst>
                  <a:ext uri="{FF2B5EF4-FFF2-40B4-BE49-F238E27FC236}">
                    <a16:creationId xmlns:a16="http://schemas.microsoft.com/office/drawing/2014/main" id="{47D737A8-11FB-4251-9DFB-82FCBA9F0282}"/>
                  </a:ext>
                </a:extLst>
              </p:cNvPr>
              <p:cNvSpPr/>
              <p:nvPr/>
            </p:nvSpPr>
            <p:spPr bwMode="auto">
              <a:xfrm>
                <a:off x="2282825" y="1036638"/>
                <a:ext cx="7938" cy="23812"/>
              </a:xfrm>
              <a:custGeom>
                <a:avLst/>
                <a:gdLst/>
                <a:ahLst/>
                <a:cxnLst>
                  <a:cxn ang="0">
                    <a:pos x="5" y="14"/>
                  </a:cxn>
                  <a:cxn ang="0">
                    <a:pos x="3" y="12"/>
                  </a:cxn>
                  <a:cxn ang="0">
                    <a:pos x="2" y="10"/>
                  </a:cxn>
                  <a:cxn ang="0">
                    <a:pos x="1" y="7"/>
                  </a:cxn>
                  <a:cxn ang="0">
                    <a:pos x="0" y="2"/>
                  </a:cxn>
                  <a:cxn ang="0">
                    <a:pos x="0" y="0"/>
                  </a:cxn>
                  <a:cxn ang="0">
                    <a:pos x="0" y="2"/>
                  </a:cxn>
                  <a:cxn ang="0">
                    <a:pos x="1" y="4"/>
                  </a:cxn>
                  <a:cxn ang="0">
                    <a:pos x="2" y="7"/>
                  </a:cxn>
                  <a:cxn ang="0">
                    <a:pos x="4" y="12"/>
                  </a:cxn>
                  <a:cxn ang="0">
                    <a:pos x="5" y="14"/>
                  </a:cxn>
                </a:cxnLst>
                <a:rect l="0" t="0" r="r" b="b"/>
                <a:pathLst>
                  <a:path w="5" h="14">
                    <a:moveTo>
                      <a:pt x="5" y="14"/>
                    </a:moveTo>
                    <a:cubicBezTo>
                      <a:pt x="5" y="14"/>
                      <a:pt x="4" y="13"/>
                      <a:pt x="3" y="12"/>
                    </a:cubicBezTo>
                    <a:cubicBezTo>
                      <a:pt x="3" y="11"/>
                      <a:pt x="2" y="11"/>
                      <a:pt x="2" y="10"/>
                    </a:cubicBezTo>
                    <a:cubicBezTo>
                      <a:pt x="2" y="9"/>
                      <a:pt x="1" y="8"/>
                      <a:pt x="1" y="7"/>
                    </a:cubicBezTo>
                    <a:cubicBezTo>
                      <a:pt x="0" y="5"/>
                      <a:pt x="0" y="4"/>
                      <a:pt x="0" y="2"/>
                    </a:cubicBezTo>
                    <a:cubicBezTo>
                      <a:pt x="0" y="1"/>
                      <a:pt x="0" y="0"/>
                      <a:pt x="0" y="0"/>
                    </a:cubicBezTo>
                    <a:cubicBezTo>
                      <a:pt x="0" y="0"/>
                      <a:pt x="0" y="1"/>
                      <a:pt x="0" y="2"/>
                    </a:cubicBezTo>
                    <a:cubicBezTo>
                      <a:pt x="0" y="3"/>
                      <a:pt x="1" y="4"/>
                      <a:pt x="1" y="4"/>
                    </a:cubicBezTo>
                    <a:cubicBezTo>
                      <a:pt x="1" y="5"/>
                      <a:pt x="1" y="6"/>
                      <a:pt x="2" y="7"/>
                    </a:cubicBezTo>
                    <a:cubicBezTo>
                      <a:pt x="2" y="9"/>
                      <a:pt x="3" y="10"/>
                      <a:pt x="4" y="12"/>
                    </a:cubicBezTo>
                    <a:cubicBezTo>
                      <a:pt x="4" y="13"/>
                      <a:pt x="5" y="14"/>
                      <a:pt x="5" y="14"/>
                    </a:cubicBezTo>
                    <a:close/>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grpSp>
        <p:nvGrpSpPr>
          <p:cNvPr id="162" name="Group 144">
            <a:extLst>
              <a:ext uri="{FF2B5EF4-FFF2-40B4-BE49-F238E27FC236}">
                <a16:creationId xmlns:a16="http://schemas.microsoft.com/office/drawing/2014/main" id="{D387DA08-B548-410A-A661-B9E97493B5B7}"/>
              </a:ext>
            </a:extLst>
          </p:cNvPr>
          <p:cNvGrpSpPr/>
          <p:nvPr/>
        </p:nvGrpSpPr>
        <p:grpSpPr>
          <a:xfrm>
            <a:off x="1535599" y="2099979"/>
            <a:ext cx="524903" cy="4205585"/>
            <a:chOff x="2171701" y="1331914"/>
            <a:chExt cx="393700" cy="3154362"/>
          </a:xfrm>
          <a:solidFill>
            <a:srgbClr val="00B0F0"/>
          </a:solidFill>
        </p:grpSpPr>
        <p:sp>
          <p:nvSpPr>
            <p:cNvPr id="169" name="Freeform 54">
              <a:extLst>
                <a:ext uri="{FF2B5EF4-FFF2-40B4-BE49-F238E27FC236}">
                  <a16:creationId xmlns:a16="http://schemas.microsoft.com/office/drawing/2014/main" id="{7DB43F62-BC1C-40DD-A512-963BDE205D54}"/>
                </a:ext>
              </a:extLst>
            </p:cNvPr>
            <p:cNvSpPr/>
            <p:nvPr/>
          </p:nvSpPr>
          <p:spPr bwMode="auto">
            <a:xfrm>
              <a:off x="2492376" y="1331914"/>
              <a:ext cx="73025" cy="3154362"/>
            </a:xfrm>
            <a:custGeom>
              <a:avLst/>
              <a:gdLst/>
              <a:ahLst/>
              <a:cxnLst>
                <a:cxn ang="0">
                  <a:pos x="0" y="2063"/>
                </a:cxn>
                <a:cxn ang="0">
                  <a:pos x="12" y="2073"/>
                </a:cxn>
                <a:cxn ang="0">
                  <a:pos x="24" y="2063"/>
                </a:cxn>
                <a:cxn ang="0">
                  <a:pos x="24" y="10"/>
                </a:cxn>
                <a:cxn ang="0">
                  <a:pos x="12" y="0"/>
                </a:cxn>
                <a:cxn ang="0">
                  <a:pos x="0" y="10"/>
                </a:cxn>
                <a:cxn ang="0">
                  <a:pos x="0" y="2063"/>
                </a:cxn>
              </a:cxnLst>
              <a:rect l="0" t="0" r="r" b="b"/>
              <a:pathLst>
                <a:path w="24" h="2073">
                  <a:moveTo>
                    <a:pt x="0" y="2063"/>
                  </a:moveTo>
                  <a:cubicBezTo>
                    <a:pt x="0" y="2069"/>
                    <a:pt x="6" y="2073"/>
                    <a:pt x="12" y="2073"/>
                  </a:cubicBezTo>
                  <a:cubicBezTo>
                    <a:pt x="19" y="2073"/>
                    <a:pt x="24" y="2069"/>
                    <a:pt x="24" y="2063"/>
                  </a:cubicBezTo>
                  <a:cubicBezTo>
                    <a:pt x="24" y="10"/>
                    <a:pt x="24" y="10"/>
                    <a:pt x="24" y="10"/>
                  </a:cubicBezTo>
                  <a:cubicBezTo>
                    <a:pt x="24" y="5"/>
                    <a:pt x="19" y="0"/>
                    <a:pt x="12" y="0"/>
                  </a:cubicBezTo>
                  <a:cubicBezTo>
                    <a:pt x="6" y="0"/>
                    <a:pt x="0" y="5"/>
                    <a:pt x="0" y="10"/>
                  </a:cubicBezTo>
                  <a:lnTo>
                    <a:pt x="0" y="2063"/>
                  </a:lnTo>
                  <a:close/>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70" name="Rectangle 55">
              <a:extLst>
                <a:ext uri="{FF2B5EF4-FFF2-40B4-BE49-F238E27FC236}">
                  <a16:creationId xmlns:a16="http://schemas.microsoft.com/office/drawing/2014/main" id="{6C71E654-E690-479C-8477-61F31EFDF467}"/>
                </a:ext>
              </a:extLst>
            </p:cNvPr>
            <p:cNvSpPr>
              <a:spLocks noChangeArrowheads="1"/>
            </p:cNvSpPr>
            <p:nvPr/>
          </p:nvSpPr>
          <p:spPr bwMode="auto">
            <a:xfrm>
              <a:off x="2225675" y="2030413"/>
              <a:ext cx="320675" cy="31750"/>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71" name="Rectangle 56">
              <a:extLst>
                <a:ext uri="{FF2B5EF4-FFF2-40B4-BE49-F238E27FC236}">
                  <a16:creationId xmlns:a16="http://schemas.microsoft.com/office/drawing/2014/main" id="{FB5678FE-48AA-4A9A-A249-8F9FB602B8C5}"/>
                </a:ext>
              </a:extLst>
            </p:cNvPr>
            <p:cNvSpPr>
              <a:spLocks noChangeArrowheads="1"/>
            </p:cNvSpPr>
            <p:nvPr/>
          </p:nvSpPr>
          <p:spPr bwMode="auto">
            <a:xfrm>
              <a:off x="2225675" y="2179638"/>
              <a:ext cx="320675" cy="33337"/>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72" name="Rectangle 57">
              <a:extLst>
                <a:ext uri="{FF2B5EF4-FFF2-40B4-BE49-F238E27FC236}">
                  <a16:creationId xmlns:a16="http://schemas.microsoft.com/office/drawing/2014/main" id="{9B22E885-8AED-4A06-A14D-B1A780C73B58}"/>
                </a:ext>
              </a:extLst>
            </p:cNvPr>
            <p:cNvSpPr>
              <a:spLocks noChangeArrowheads="1"/>
            </p:cNvSpPr>
            <p:nvPr/>
          </p:nvSpPr>
          <p:spPr bwMode="auto">
            <a:xfrm>
              <a:off x="2225675" y="1662113"/>
              <a:ext cx="320675" cy="33337"/>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73" name="Rectangle 58">
              <a:extLst>
                <a:ext uri="{FF2B5EF4-FFF2-40B4-BE49-F238E27FC236}">
                  <a16:creationId xmlns:a16="http://schemas.microsoft.com/office/drawing/2014/main" id="{5B23CAB6-924A-463B-9E7F-D010C10CB8AC}"/>
                </a:ext>
              </a:extLst>
            </p:cNvPr>
            <p:cNvSpPr>
              <a:spLocks noChangeArrowheads="1"/>
            </p:cNvSpPr>
            <p:nvPr/>
          </p:nvSpPr>
          <p:spPr bwMode="auto">
            <a:xfrm>
              <a:off x="2225675" y="1497013"/>
              <a:ext cx="320675" cy="33337"/>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74" name="Rectangle 59">
              <a:extLst>
                <a:ext uri="{FF2B5EF4-FFF2-40B4-BE49-F238E27FC236}">
                  <a16:creationId xmlns:a16="http://schemas.microsoft.com/office/drawing/2014/main" id="{8FF10D7F-1514-409A-8D71-B9FFDE05CA61}"/>
                </a:ext>
              </a:extLst>
            </p:cNvPr>
            <p:cNvSpPr>
              <a:spLocks noChangeArrowheads="1"/>
            </p:cNvSpPr>
            <p:nvPr/>
          </p:nvSpPr>
          <p:spPr bwMode="auto">
            <a:xfrm>
              <a:off x="2225675" y="1814513"/>
              <a:ext cx="320675" cy="31750"/>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75" name="Rectangle 60">
              <a:extLst>
                <a:ext uri="{FF2B5EF4-FFF2-40B4-BE49-F238E27FC236}">
                  <a16:creationId xmlns:a16="http://schemas.microsoft.com/office/drawing/2014/main" id="{F1EC68C7-5838-492B-85E3-107DEB0BA5D3}"/>
                </a:ext>
              </a:extLst>
            </p:cNvPr>
            <p:cNvSpPr>
              <a:spLocks noChangeArrowheads="1"/>
            </p:cNvSpPr>
            <p:nvPr/>
          </p:nvSpPr>
          <p:spPr bwMode="auto">
            <a:xfrm>
              <a:off x="2225675" y="2344738"/>
              <a:ext cx="320675" cy="33337"/>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76" name="Rectangle 61">
              <a:extLst>
                <a:ext uri="{FF2B5EF4-FFF2-40B4-BE49-F238E27FC236}">
                  <a16:creationId xmlns:a16="http://schemas.microsoft.com/office/drawing/2014/main" id="{B796FF45-963D-4E7D-81BF-ED1CAD75FDBC}"/>
                </a:ext>
              </a:extLst>
            </p:cNvPr>
            <p:cNvSpPr>
              <a:spLocks noChangeArrowheads="1"/>
            </p:cNvSpPr>
            <p:nvPr/>
          </p:nvSpPr>
          <p:spPr bwMode="auto">
            <a:xfrm>
              <a:off x="2225675" y="2497138"/>
              <a:ext cx="320675" cy="33337"/>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77" name="Rectangle 62">
              <a:extLst>
                <a:ext uri="{FF2B5EF4-FFF2-40B4-BE49-F238E27FC236}">
                  <a16:creationId xmlns:a16="http://schemas.microsoft.com/office/drawing/2014/main" id="{C6B90F38-62D4-4406-BB20-D65EA6FCE9B1}"/>
                </a:ext>
              </a:extLst>
            </p:cNvPr>
            <p:cNvSpPr>
              <a:spLocks noChangeArrowheads="1"/>
            </p:cNvSpPr>
            <p:nvPr/>
          </p:nvSpPr>
          <p:spPr bwMode="auto">
            <a:xfrm>
              <a:off x="2225675" y="2660650"/>
              <a:ext cx="320675" cy="33337"/>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78" name="Rectangle 63">
              <a:extLst>
                <a:ext uri="{FF2B5EF4-FFF2-40B4-BE49-F238E27FC236}">
                  <a16:creationId xmlns:a16="http://schemas.microsoft.com/office/drawing/2014/main" id="{18A41FA8-BC81-4FAC-83FB-36455ACB2237}"/>
                </a:ext>
              </a:extLst>
            </p:cNvPr>
            <p:cNvSpPr>
              <a:spLocks noChangeArrowheads="1"/>
            </p:cNvSpPr>
            <p:nvPr/>
          </p:nvSpPr>
          <p:spPr bwMode="auto">
            <a:xfrm>
              <a:off x="2225675" y="2813050"/>
              <a:ext cx="320675" cy="33337"/>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79" name="Rectangle 64">
              <a:extLst>
                <a:ext uri="{FF2B5EF4-FFF2-40B4-BE49-F238E27FC236}">
                  <a16:creationId xmlns:a16="http://schemas.microsoft.com/office/drawing/2014/main" id="{DA90D3AF-226A-4A68-88AB-BE4B3E00734A}"/>
                </a:ext>
              </a:extLst>
            </p:cNvPr>
            <p:cNvSpPr>
              <a:spLocks noChangeArrowheads="1"/>
            </p:cNvSpPr>
            <p:nvPr/>
          </p:nvSpPr>
          <p:spPr bwMode="auto">
            <a:xfrm>
              <a:off x="2225675" y="2978150"/>
              <a:ext cx="320675" cy="33337"/>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80" name="Rectangle 65">
              <a:extLst>
                <a:ext uri="{FF2B5EF4-FFF2-40B4-BE49-F238E27FC236}">
                  <a16:creationId xmlns:a16="http://schemas.microsoft.com/office/drawing/2014/main" id="{777F4241-1A68-48EF-9CEA-5D3D441C3B64}"/>
                </a:ext>
              </a:extLst>
            </p:cNvPr>
            <p:cNvSpPr>
              <a:spLocks noChangeArrowheads="1"/>
            </p:cNvSpPr>
            <p:nvPr/>
          </p:nvSpPr>
          <p:spPr bwMode="auto">
            <a:xfrm>
              <a:off x="2225675" y="3127375"/>
              <a:ext cx="320675" cy="33337"/>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81" name="Rectangle 66">
              <a:extLst>
                <a:ext uri="{FF2B5EF4-FFF2-40B4-BE49-F238E27FC236}">
                  <a16:creationId xmlns:a16="http://schemas.microsoft.com/office/drawing/2014/main" id="{8707F7A5-09D5-4D88-A339-E8CA8C83B0D4}"/>
                </a:ext>
              </a:extLst>
            </p:cNvPr>
            <p:cNvSpPr>
              <a:spLocks noChangeArrowheads="1"/>
            </p:cNvSpPr>
            <p:nvPr/>
          </p:nvSpPr>
          <p:spPr bwMode="auto">
            <a:xfrm>
              <a:off x="2225675" y="3294063"/>
              <a:ext cx="320675" cy="33337"/>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82" name="Rectangle 67">
              <a:extLst>
                <a:ext uri="{FF2B5EF4-FFF2-40B4-BE49-F238E27FC236}">
                  <a16:creationId xmlns:a16="http://schemas.microsoft.com/office/drawing/2014/main" id="{A29FA682-E8D6-4B6A-BBBD-D6E336708E4F}"/>
                </a:ext>
              </a:extLst>
            </p:cNvPr>
            <p:cNvSpPr>
              <a:spLocks noChangeArrowheads="1"/>
            </p:cNvSpPr>
            <p:nvPr/>
          </p:nvSpPr>
          <p:spPr bwMode="auto">
            <a:xfrm>
              <a:off x="2225675" y="3443288"/>
              <a:ext cx="320675" cy="33337"/>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83" name="Rectangle 68">
              <a:extLst>
                <a:ext uri="{FF2B5EF4-FFF2-40B4-BE49-F238E27FC236}">
                  <a16:creationId xmlns:a16="http://schemas.microsoft.com/office/drawing/2014/main" id="{B41C18B3-6EE7-4F48-81F3-3630ACE3F8EC}"/>
                </a:ext>
              </a:extLst>
            </p:cNvPr>
            <p:cNvSpPr>
              <a:spLocks noChangeArrowheads="1"/>
            </p:cNvSpPr>
            <p:nvPr/>
          </p:nvSpPr>
          <p:spPr bwMode="auto">
            <a:xfrm>
              <a:off x="2225675" y="3609975"/>
              <a:ext cx="320675" cy="31750"/>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84" name="Rectangle 69">
              <a:extLst>
                <a:ext uri="{FF2B5EF4-FFF2-40B4-BE49-F238E27FC236}">
                  <a16:creationId xmlns:a16="http://schemas.microsoft.com/office/drawing/2014/main" id="{2958AFC8-318C-4798-A821-4FE725F02D30}"/>
                </a:ext>
              </a:extLst>
            </p:cNvPr>
            <p:cNvSpPr>
              <a:spLocks noChangeArrowheads="1"/>
            </p:cNvSpPr>
            <p:nvPr/>
          </p:nvSpPr>
          <p:spPr bwMode="auto">
            <a:xfrm>
              <a:off x="2225675" y="3759200"/>
              <a:ext cx="320675" cy="33337"/>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85" name="Rectangle 70">
              <a:extLst>
                <a:ext uri="{FF2B5EF4-FFF2-40B4-BE49-F238E27FC236}">
                  <a16:creationId xmlns:a16="http://schemas.microsoft.com/office/drawing/2014/main" id="{328815D4-65FD-4E2E-9CF6-C6A5E75FADEC}"/>
                </a:ext>
              </a:extLst>
            </p:cNvPr>
            <p:cNvSpPr>
              <a:spLocks noChangeArrowheads="1"/>
            </p:cNvSpPr>
            <p:nvPr/>
          </p:nvSpPr>
          <p:spPr bwMode="auto">
            <a:xfrm>
              <a:off x="2225675" y="3924300"/>
              <a:ext cx="320675" cy="33337"/>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86" name="Rectangle 71">
              <a:extLst>
                <a:ext uri="{FF2B5EF4-FFF2-40B4-BE49-F238E27FC236}">
                  <a16:creationId xmlns:a16="http://schemas.microsoft.com/office/drawing/2014/main" id="{83CF0176-EC74-4FF0-89A3-0E84B9B9E568}"/>
                </a:ext>
              </a:extLst>
            </p:cNvPr>
            <p:cNvSpPr>
              <a:spLocks noChangeArrowheads="1"/>
            </p:cNvSpPr>
            <p:nvPr/>
          </p:nvSpPr>
          <p:spPr bwMode="auto">
            <a:xfrm>
              <a:off x="2225675" y="4076700"/>
              <a:ext cx="320675" cy="33337"/>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87" name="Rectangle 72">
              <a:extLst>
                <a:ext uri="{FF2B5EF4-FFF2-40B4-BE49-F238E27FC236}">
                  <a16:creationId xmlns:a16="http://schemas.microsoft.com/office/drawing/2014/main" id="{B64902D4-4397-46BA-B2DB-9F500EF091A0}"/>
                </a:ext>
              </a:extLst>
            </p:cNvPr>
            <p:cNvSpPr>
              <a:spLocks noChangeArrowheads="1"/>
            </p:cNvSpPr>
            <p:nvPr/>
          </p:nvSpPr>
          <p:spPr bwMode="auto">
            <a:xfrm>
              <a:off x="2225675" y="4240213"/>
              <a:ext cx="320675" cy="33337"/>
            </a:xfrm>
            <a:prstGeom prst="rect">
              <a:avLst/>
            </a:prstGeom>
            <a:grpFill/>
            <a:ln w="9525">
              <a:noFill/>
              <a:miter lim="800000"/>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88" name="Freeform 75">
              <a:extLst>
                <a:ext uri="{FF2B5EF4-FFF2-40B4-BE49-F238E27FC236}">
                  <a16:creationId xmlns:a16="http://schemas.microsoft.com/office/drawing/2014/main" id="{444C5699-5AFD-42C8-BAB1-B308C93FDF02}"/>
                </a:ext>
              </a:extLst>
            </p:cNvPr>
            <p:cNvSpPr/>
            <p:nvPr/>
          </p:nvSpPr>
          <p:spPr bwMode="auto">
            <a:xfrm>
              <a:off x="2171701" y="1331914"/>
              <a:ext cx="73025" cy="3154362"/>
            </a:xfrm>
            <a:custGeom>
              <a:avLst/>
              <a:gdLst/>
              <a:ahLst/>
              <a:cxnLst>
                <a:cxn ang="0">
                  <a:pos x="0" y="2063"/>
                </a:cxn>
                <a:cxn ang="0">
                  <a:pos x="12" y="2073"/>
                </a:cxn>
                <a:cxn ang="0">
                  <a:pos x="24" y="2063"/>
                </a:cxn>
                <a:cxn ang="0">
                  <a:pos x="24" y="10"/>
                </a:cxn>
                <a:cxn ang="0">
                  <a:pos x="12" y="0"/>
                </a:cxn>
                <a:cxn ang="0">
                  <a:pos x="0" y="10"/>
                </a:cxn>
                <a:cxn ang="0">
                  <a:pos x="0" y="2063"/>
                </a:cxn>
              </a:cxnLst>
              <a:rect l="0" t="0" r="r" b="b"/>
              <a:pathLst>
                <a:path w="24" h="2073">
                  <a:moveTo>
                    <a:pt x="0" y="2063"/>
                  </a:moveTo>
                  <a:cubicBezTo>
                    <a:pt x="0" y="2069"/>
                    <a:pt x="5" y="2073"/>
                    <a:pt x="12" y="2073"/>
                  </a:cubicBezTo>
                  <a:cubicBezTo>
                    <a:pt x="18" y="2073"/>
                    <a:pt x="24" y="2069"/>
                    <a:pt x="24" y="2063"/>
                  </a:cubicBezTo>
                  <a:cubicBezTo>
                    <a:pt x="24" y="10"/>
                    <a:pt x="24" y="10"/>
                    <a:pt x="24" y="10"/>
                  </a:cubicBezTo>
                  <a:cubicBezTo>
                    <a:pt x="24" y="5"/>
                    <a:pt x="18" y="0"/>
                    <a:pt x="12" y="0"/>
                  </a:cubicBezTo>
                  <a:cubicBezTo>
                    <a:pt x="5" y="0"/>
                    <a:pt x="0" y="5"/>
                    <a:pt x="0" y="10"/>
                  </a:cubicBezTo>
                  <a:lnTo>
                    <a:pt x="0" y="2063"/>
                  </a:lnTo>
                  <a:close/>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a:ln>
                  <a:noFill/>
                </a:ln>
                <a:solidFill>
                  <a:sysClr val="windowText" lastClr="0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163" name="Group 23">
            <a:extLst>
              <a:ext uri="{FF2B5EF4-FFF2-40B4-BE49-F238E27FC236}">
                <a16:creationId xmlns:a16="http://schemas.microsoft.com/office/drawing/2014/main" id="{1E3B8A0A-F7EF-4EDB-B890-17F9744158DE}"/>
              </a:ext>
            </a:extLst>
          </p:cNvPr>
          <p:cNvGrpSpPr/>
          <p:nvPr/>
        </p:nvGrpSpPr>
        <p:grpSpPr>
          <a:xfrm>
            <a:off x="50001" y="2503040"/>
            <a:ext cx="1257014" cy="790028"/>
            <a:chOff x="686838" y="2184398"/>
            <a:chExt cx="1192213" cy="749301"/>
          </a:xfrm>
          <a:solidFill>
            <a:srgbClr val="7F8FA9"/>
          </a:solidFill>
        </p:grpSpPr>
        <p:sp>
          <p:nvSpPr>
            <p:cNvPr id="167" name="Freeform 7">
              <a:extLst>
                <a:ext uri="{FF2B5EF4-FFF2-40B4-BE49-F238E27FC236}">
                  <a16:creationId xmlns:a16="http://schemas.microsoft.com/office/drawing/2014/main" id="{603573D1-8D5A-4387-85C8-B896D9F7B5E2}"/>
                </a:ext>
              </a:extLst>
            </p:cNvPr>
            <p:cNvSpPr>
              <a:spLocks noEditPoints="1"/>
            </p:cNvSpPr>
            <p:nvPr/>
          </p:nvSpPr>
          <p:spPr bwMode="auto">
            <a:xfrm>
              <a:off x="686838" y="2198686"/>
              <a:ext cx="609600" cy="735013"/>
            </a:xfrm>
            <a:custGeom>
              <a:avLst/>
              <a:gdLst/>
              <a:ahLst/>
              <a:cxnLst>
                <a:cxn ang="0">
                  <a:pos x="128" y="28"/>
                </a:cxn>
                <a:cxn ang="0">
                  <a:pos x="94" y="16"/>
                </a:cxn>
                <a:cxn ang="0">
                  <a:pos x="39" y="70"/>
                </a:cxn>
                <a:cxn ang="0">
                  <a:pos x="40" y="80"/>
                </a:cxn>
                <a:cxn ang="0">
                  <a:pos x="0" y="136"/>
                </a:cxn>
                <a:cxn ang="0">
                  <a:pos x="59" y="195"/>
                </a:cxn>
                <a:cxn ang="0">
                  <a:pos x="67" y="194"/>
                </a:cxn>
                <a:cxn ang="0">
                  <a:pos x="162" y="194"/>
                </a:cxn>
                <a:cxn ang="0">
                  <a:pos x="162" y="0"/>
                </a:cxn>
                <a:cxn ang="0">
                  <a:pos x="128" y="28"/>
                </a:cxn>
                <a:cxn ang="0">
                  <a:pos x="134" y="107"/>
                </a:cxn>
                <a:cxn ang="0">
                  <a:pos x="134" y="106"/>
                </a:cxn>
                <a:cxn ang="0">
                  <a:pos x="134" y="107"/>
                </a:cxn>
              </a:cxnLst>
              <a:rect l="0" t="0" r="r" b="b"/>
              <a:pathLst>
                <a:path w="162" h="195">
                  <a:moveTo>
                    <a:pt x="128" y="28"/>
                  </a:moveTo>
                  <a:cubicBezTo>
                    <a:pt x="119" y="20"/>
                    <a:pt x="107" y="16"/>
                    <a:pt x="94" y="16"/>
                  </a:cubicBezTo>
                  <a:cubicBezTo>
                    <a:pt x="64" y="16"/>
                    <a:pt x="39" y="40"/>
                    <a:pt x="39" y="70"/>
                  </a:cubicBezTo>
                  <a:cubicBezTo>
                    <a:pt x="39" y="73"/>
                    <a:pt x="40" y="77"/>
                    <a:pt x="40" y="80"/>
                  </a:cubicBezTo>
                  <a:cubicBezTo>
                    <a:pt x="17" y="88"/>
                    <a:pt x="0" y="110"/>
                    <a:pt x="0" y="136"/>
                  </a:cubicBezTo>
                  <a:cubicBezTo>
                    <a:pt x="0" y="169"/>
                    <a:pt x="26" y="195"/>
                    <a:pt x="59" y="195"/>
                  </a:cubicBezTo>
                  <a:cubicBezTo>
                    <a:pt x="61" y="195"/>
                    <a:pt x="64" y="195"/>
                    <a:pt x="67" y="194"/>
                  </a:cubicBezTo>
                  <a:cubicBezTo>
                    <a:pt x="162" y="194"/>
                    <a:pt x="162" y="194"/>
                    <a:pt x="162" y="194"/>
                  </a:cubicBezTo>
                  <a:cubicBezTo>
                    <a:pt x="162" y="0"/>
                    <a:pt x="162" y="0"/>
                    <a:pt x="162" y="0"/>
                  </a:cubicBezTo>
                  <a:cubicBezTo>
                    <a:pt x="148" y="5"/>
                    <a:pt x="136" y="15"/>
                    <a:pt x="128" y="28"/>
                  </a:cubicBezTo>
                  <a:close/>
                  <a:moveTo>
                    <a:pt x="134" y="107"/>
                  </a:moveTo>
                  <a:cubicBezTo>
                    <a:pt x="134" y="107"/>
                    <a:pt x="134" y="107"/>
                    <a:pt x="134" y="106"/>
                  </a:cubicBezTo>
                  <a:cubicBezTo>
                    <a:pt x="134" y="107"/>
                    <a:pt x="134" y="107"/>
                    <a:pt x="134" y="107"/>
                  </a:cubicBezTo>
                  <a:close/>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dirty="0">
                <a:ln>
                  <a:noFill/>
                </a:ln>
                <a:solidFill>
                  <a:srgbClr val="4A66AC">
                    <a:lumMod val="50000"/>
                  </a:srgb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68" name="Freeform 8">
              <a:extLst>
                <a:ext uri="{FF2B5EF4-FFF2-40B4-BE49-F238E27FC236}">
                  <a16:creationId xmlns:a16="http://schemas.microsoft.com/office/drawing/2014/main" id="{94881937-6E92-4BB9-9FE1-BCF9C6413253}"/>
                </a:ext>
              </a:extLst>
            </p:cNvPr>
            <p:cNvSpPr/>
            <p:nvPr/>
          </p:nvSpPr>
          <p:spPr bwMode="auto">
            <a:xfrm>
              <a:off x="1296438" y="2184398"/>
              <a:ext cx="582613" cy="749300"/>
            </a:xfrm>
            <a:custGeom>
              <a:avLst/>
              <a:gdLst/>
              <a:ahLst/>
              <a:cxnLst>
                <a:cxn ang="0">
                  <a:pos x="90" y="65"/>
                </a:cxn>
                <a:cxn ang="0">
                  <a:pos x="23" y="0"/>
                </a:cxn>
                <a:cxn ang="0">
                  <a:pos x="1" y="4"/>
                </a:cxn>
                <a:cxn ang="0">
                  <a:pos x="0" y="4"/>
                </a:cxn>
                <a:cxn ang="0">
                  <a:pos x="0" y="198"/>
                </a:cxn>
                <a:cxn ang="0">
                  <a:pos x="1" y="198"/>
                </a:cxn>
                <a:cxn ang="0">
                  <a:pos x="81" y="198"/>
                </a:cxn>
                <a:cxn ang="0">
                  <a:pos x="88" y="199"/>
                </a:cxn>
                <a:cxn ang="0">
                  <a:pos x="155" y="132"/>
                </a:cxn>
                <a:cxn ang="0">
                  <a:pos x="90" y="65"/>
                </a:cxn>
              </a:cxnLst>
              <a:rect l="0" t="0" r="r" b="b"/>
              <a:pathLst>
                <a:path w="155" h="199">
                  <a:moveTo>
                    <a:pt x="90" y="65"/>
                  </a:moveTo>
                  <a:cubicBezTo>
                    <a:pt x="89" y="29"/>
                    <a:pt x="60" y="0"/>
                    <a:pt x="23" y="0"/>
                  </a:cubicBezTo>
                  <a:cubicBezTo>
                    <a:pt x="15" y="0"/>
                    <a:pt x="8" y="1"/>
                    <a:pt x="1" y="4"/>
                  </a:cubicBezTo>
                  <a:cubicBezTo>
                    <a:pt x="0" y="4"/>
                    <a:pt x="0" y="4"/>
                    <a:pt x="0" y="4"/>
                  </a:cubicBezTo>
                  <a:cubicBezTo>
                    <a:pt x="0" y="198"/>
                    <a:pt x="0" y="198"/>
                    <a:pt x="0" y="198"/>
                  </a:cubicBezTo>
                  <a:cubicBezTo>
                    <a:pt x="1" y="198"/>
                    <a:pt x="1" y="198"/>
                    <a:pt x="1" y="198"/>
                  </a:cubicBezTo>
                  <a:cubicBezTo>
                    <a:pt x="81" y="198"/>
                    <a:pt x="81" y="198"/>
                    <a:pt x="81" y="198"/>
                  </a:cubicBezTo>
                  <a:cubicBezTo>
                    <a:pt x="83" y="199"/>
                    <a:pt x="85" y="199"/>
                    <a:pt x="88" y="199"/>
                  </a:cubicBezTo>
                  <a:cubicBezTo>
                    <a:pt x="125" y="199"/>
                    <a:pt x="155" y="169"/>
                    <a:pt x="155" y="132"/>
                  </a:cubicBezTo>
                  <a:cubicBezTo>
                    <a:pt x="155" y="95"/>
                    <a:pt x="126" y="66"/>
                    <a:pt x="90" y="65"/>
                  </a:cubicBezTo>
                  <a:close/>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dirty="0">
                <a:ln>
                  <a:noFill/>
                </a:ln>
                <a:solidFill>
                  <a:srgbClr val="4A66AC">
                    <a:lumMod val="50000"/>
                  </a:srgb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164" name="Group 32">
            <a:extLst>
              <a:ext uri="{FF2B5EF4-FFF2-40B4-BE49-F238E27FC236}">
                <a16:creationId xmlns:a16="http://schemas.microsoft.com/office/drawing/2014/main" id="{A483AF1F-DF6D-4DFF-9DFD-0720F9E2C3D0}"/>
              </a:ext>
            </a:extLst>
          </p:cNvPr>
          <p:cNvGrpSpPr/>
          <p:nvPr/>
        </p:nvGrpSpPr>
        <p:grpSpPr>
          <a:xfrm>
            <a:off x="432047" y="3765175"/>
            <a:ext cx="985031" cy="619088"/>
            <a:chOff x="686838" y="2184398"/>
            <a:chExt cx="1192213" cy="749301"/>
          </a:xfrm>
          <a:solidFill>
            <a:srgbClr val="00B0F0"/>
          </a:solidFill>
        </p:grpSpPr>
        <p:sp>
          <p:nvSpPr>
            <p:cNvPr id="165" name="Freeform 7">
              <a:extLst>
                <a:ext uri="{FF2B5EF4-FFF2-40B4-BE49-F238E27FC236}">
                  <a16:creationId xmlns:a16="http://schemas.microsoft.com/office/drawing/2014/main" id="{7E5CA469-8D69-4E33-A327-D5364920256A}"/>
                </a:ext>
              </a:extLst>
            </p:cNvPr>
            <p:cNvSpPr>
              <a:spLocks noEditPoints="1"/>
            </p:cNvSpPr>
            <p:nvPr/>
          </p:nvSpPr>
          <p:spPr bwMode="auto">
            <a:xfrm>
              <a:off x="686838" y="2198686"/>
              <a:ext cx="609600" cy="735013"/>
            </a:xfrm>
            <a:custGeom>
              <a:avLst/>
              <a:gdLst/>
              <a:ahLst/>
              <a:cxnLst>
                <a:cxn ang="0">
                  <a:pos x="128" y="28"/>
                </a:cxn>
                <a:cxn ang="0">
                  <a:pos x="94" y="16"/>
                </a:cxn>
                <a:cxn ang="0">
                  <a:pos x="39" y="70"/>
                </a:cxn>
                <a:cxn ang="0">
                  <a:pos x="40" y="80"/>
                </a:cxn>
                <a:cxn ang="0">
                  <a:pos x="0" y="136"/>
                </a:cxn>
                <a:cxn ang="0">
                  <a:pos x="59" y="195"/>
                </a:cxn>
                <a:cxn ang="0">
                  <a:pos x="67" y="194"/>
                </a:cxn>
                <a:cxn ang="0">
                  <a:pos x="162" y="194"/>
                </a:cxn>
                <a:cxn ang="0">
                  <a:pos x="162" y="0"/>
                </a:cxn>
                <a:cxn ang="0">
                  <a:pos x="128" y="28"/>
                </a:cxn>
                <a:cxn ang="0">
                  <a:pos x="134" y="107"/>
                </a:cxn>
                <a:cxn ang="0">
                  <a:pos x="134" y="106"/>
                </a:cxn>
                <a:cxn ang="0">
                  <a:pos x="134" y="107"/>
                </a:cxn>
              </a:cxnLst>
              <a:rect l="0" t="0" r="r" b="b"/>
              <a:pathLst>
                <a:path w="162" h="195">
                  <a:moveTo>
                    <a:pt x="128" y="28"/>
                  </a:moveTo>
                  <a:cubicBezTo>
                    <a:pt x="119" y="20"/>
                    <a:pt x="107" y="16"/>
                    <a:pt x="94" y="16"/>
                  </a:cubicBezTo>
                  <a:cubicBezTo>
                    <a:pt x="64" y="16"/>
                    <a:pt x="39" y="40"/>
                    <a:pt x="39" y="70"/>
                  </a:cubicBezTo>
                  <a:cubicBezTo>
                    <a:pt x="39" y="73"/>
                    <a:pt x="40" y="77"/>
                    <a:pt x="40" y="80"/>
                  </a:cubicBezTo>
                  <a:cubicBezTo>
                    <a:pt x="17" y="88"/>
                    <a:pt x="0" y="110"/>
                    <a:pt x="0" y="136"/>
                  </a:cubicBezTo>
                  <a:cubicBezTo>
                    <a:pt x="0" y="169"/>
                    <a:pt x="26" y="195"/>
                    <a:pt x="59" y="195"/>
                  </a:cubicBezTo>
                  <a:cubicBezTo>
                    <a:pt x="61" y="195"/>
                    <a:pt x="64" y="195"/>
                    <a:pt x="67" y="194"/>
                  </a:cubicBezTo>
                  <a:cubicBezTo>
                    <a:pt x="162" y="194"/>
                    <a:pt x="162" y="194"/>
                    <a:pt x="162" y="194"/>
                  </a:cubicBezTo>
                  <a:cubicBezTo>
                    <a:pt x="162" y="0"/>
                    <a:pt x="162" y="0"/>
                    <a:pt x="162" y="0"/>
                  </a:cubicBezTo>
                  <a:cubicBezTo>
                    <a:pt x="148" y="5"/>
                    <a:pt x="136" y="15"/>
                    <a:pt x="128" y="28"/>
                  </a:cubicBezTo>
                  <a:close/>
                  <a:moveTo>
                    <a:pt x="134" y="107"/>
                  </a:moveTo>
                  <a:cubicBezTo>
                    <a:pt x="134" y="107"/>
                    <a:pt x="134" y="107"/>
                    <a:pt x="134" y="106"/>
                  </a:cubicBezTo>
                  <a:cubicBezTo>
                    <a:pt x="134" y="107"/>
                    <a:pt x="134" y="107"/>
                    <a:pt x="134" y="107"/>
                  </a:cubicBezTo>
                  <a:close/>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dirty="0">
                <a:ln>
                  <a:noFill/>
                </a:ln>
                <a:solidFill>
                  <a:srgbClr val="4A66AC">
                    <a:lumMod val="50000"/>
                  </a:srgb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166" name="Freeform 8">
              <a:extLst>
                <a:ext uri="{FF2B5EF4-FFF2-40B4-BE49-F238E27FC236}">
                  <a16:creationId xmlns:a16="http://schemas.microsoft.com/office/drawing/2014/main" id="{C2E97463-9AD7-4E13-A18A-AFE9978ED7E9}"/>
                </a:ext>
              </a:extLst>
            </p:cNvPr>
            <p:cNvSpPr/>
            <p:nvPr/>
          </p:nvSpPr>
          <p:spPr bwMode="auto">
            <a:xfrm>
              <a:off x="1296438" y="2184398"/>
              <a:ext cx="582613" cy="749300"/>
            </a:xfrm>
            <a:custGeom>
              <a:avLst/>
              <a:gdLst/>
              <a:ahLst/>
              <a:cxnLst>
                <a:cxn ang="0">
                  <a:pos x="90" y="65"/>
                </a:cxn>
                <a:cxn ang="0">
                  <a:pos x="23" y="0"/>
                </a:cxn>
                <a:cxn ang="0">
                  <a:pos x="1" y="4"/>
                </a:cxn>
                <a:cxn ang="0">
                  <a:pos x="0" y="4"/>
                </a:cxn>
                <a:cxn ang="0">
                  <a:pos x="0" y="198"/>
                </a:cxn>
                <a:cxn ang="0">
                  <a:pos x="1" y="198"/>
                </a:cxn>
                <a:cxn ang="0">
                  <a:pos x="81" y="198"/>
                </a:cxn>
                <a:cxn ang="0">
                  <a:pos x="88" y="199"/>
                </a:cxn>
                <a:cxn ang="0">
                  <a:pos x="155" y="132"/>
                </a:cxn>
                <a:cxn ang="0">
                  <a:pos x="90" y="65"/>
                </a:cxn>
              </a:cxnLst>
              <a:rect l="0" t="0" r="r" b="b"/>
              <a:pathLst>
                <a:path w="155" h="199">
                  <a:moveTo>
                    <a:pt x="90" y="65"/>
                  </a:moveTo>
                  <a:cubicBezTo>
                    <a:pt x="89" y="29"/>
                    <a:pt x="60" y="0"/>
                    <a:pt x="23" y="0"/>
                  </a:cubicBezTo>
                  <a:cubicBezTo>
                    <a:pt x="15" y="0"/>
                    <a:pt x="8" y="1"/>
                    <a:pt x="1" y="4"/>
                  </a:cubicBezTo>
                  <a:cubicBezTo>
                    <a:pt x="0" y="4"/>
                    <a:pt x="0" y="4"/>
                    <a:pt x="0" y="4"/>
                  </a:cubicBezTo>
                  <a:cubicBezTo>
                    <a:pt x="0" y="198"/>
                    <a:pt x="0" y="198"/>
                    <a:pt x="0" y="198"/>
                  </a:cubicBezTo>
                  <a:cubicBezTo>
                    <a:pt x="1" y="198"/>
                    <a:pt x="1" y="198"/>
                    <a:pt x="1" y="198"/>
                  </a:cubicBezTo>
                  <a:cubicBezTo>
                    <a:pt x="81" y="198"/>
                    <a:pt x="81" y="198"/>
                    <a:pt x="81" y="198"/>
                  </a:cubicBezTo>
                  <a:cubicBezTo>
                    <a:pt x="83" y="199"/>
                    <a:pt x="85" y="199"/>
                    <a:pt x="88" y="199"/>
                  </a:cubicBezTo>
                  <a:cubicBezTo>
                    <a:pt x="125" y="199"/>
                    <a:pt x="155" y="169"/>
                    <a:pt x="155" y="132"/>
                  </a:cubicBezTo>
                  <a:cubicBezTo>
                    <a:pt x="155" y="95"/>
                    <a:pt x="126" y="66"/>
                    <a:pt x="90" y="65"/>
                  </a:cubicBezTo>
                  <a:close/>
                </a:path>
              </a:pathLst>
            </a:custGeom>
            <a:grpFill/>
            <a:ln w="9525">
              <a:noFill/>
              <a:round/>
            </a:ln>
          </p:spPr>
          <p:txBody>
            <a:bodyPr vert="horz" wrap="square" lIns="121912" tIns="60956" rIns="121912"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760" b="0" i="0" u="none" strike="noStrike" kern="1200" cap="none" spc="0" normalizeH="0" baseline="0" noProof="0" dirty="0">
                <a:ln>
                  <a:noFill/>
                </a:ln>
                <a:solidFill>
                  <a:srgbClr val="4A66AC">
                    <a:lumMod val="50000"/>
                  </a:srgb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sp>
        <p:nvSpPr>
          <p:cNvPr id="2" name="灯片编号占位符 1">
            <a:extLst>
              <a:ext uri="{FF2B5EF4-FFF2-40B4-BE49-F238E27FC236}">
                <a16:creationId xmlns:a16="http://schemas.microsoft.com/office/drawing/2014/main" id="{006C7B1C-9739-4852-934D-0137C0E046DC}"/>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963813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C0677FE4-790F-4659-9416-DB568D082950}"/>
              </a:ext>
            </a:extLst>
          </p:cNvPr>
          <p:cNvSpPr>
            <a:spLocks/>
          </p:cNvSpPr>
          <p:nvPr/>
        </p:nvSpPr>
        <p:spPr bwMode="auto">
          <a:xfrm>
            <a:off x="1172674" y="1003920"/>
            <a:ext cx="10181126" cy="1337955"/>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en-US" altLang="zh-CN" dirty="0">
                <a:solidFill>
                  <a:srgbClr val="C00000"/>
                </a:solidFill>
              </a:rPr>
              <a:t>DNS</a:t>
            </a:r>
            <a:r>
              <a:rPr kumimoji="1" lang="zh-CN" altLang="en-US" dirty="0">
                <a:solidFill>
                  <a:srgbClr val="C00000"/>
                </a:solidFill>
              </a:rPr>
              <a:t>迭代查詢過程交互信息格式</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8" name="矩形 51">
            <a:extLst>
              <a:ext uri="{FF2B5EF4-FFF2-40B4-BE49-F238E27FC236}">
                <a16:creationId xmlns:a16="http://schemas.microsoft.com/office/drawing/2014/main" id="{138514DA-1687-4450-98FD-107D460810D4}"/>
              </a:ext>
            </a:extLst>
          </p:cNvPr>
          <p:cNvSpPr>
            <a:spLocks noChangeArrowheads="1"/>
          </p:cNvSpPr>
          <p:nvPr/>
        </p:nvSpPr>
        <p:spPr bwMode="auto">
          <a:xfrm>
            <a:off x="1616366" y="1064522"/>
            <a:ext cx="9204034" cy="1107996"/>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ltLang="zh-CN" sz="2200" dirty="0">
                <a:solidFill>
                  <a:srgbClr val="000000"/>
                </a:solidFill>
                <a:latin typeface="微软雅黑" panose="020B0503020204020204" pitchFamily="34" charset="-122"/>
                <a:ea typeface="微软雅黑" panose="020B0503020204020204" pitchFamily="34" charset="-122"/>
                <a:sym typeface="HelveticaNeueLT Pro 67 MdCn" pitchFamily="2" charset="-122"/>
              </a:rPr>
              <a:t>d</a:t>
            </a:r>
            <a:r>
              <a:rPr kumimoji="0" lang="en-US" altLang="zh-CN" sz="22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ig</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 DNS information Groper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發送“</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dig @a.root-servers.net  www. thucsnet.com”</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命令，根服務器在授權部分提供</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.com</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區域權威域名服務器，</a:t>
            </a: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對應地址在附加部分</a:t>
            </a:r>
            <a:endPar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endParaRPr>
          </a:p>
        </p:txBody>
      </p:sp>
      <p:sp>
        <p:nvSpPr>
          <p:cNvPr id="11" name="文本框 2">
            <a:extLst>
              <a:ext uri="{FF2B5EF4-FFF2-40B4-BE49-F238E27FC236}">
                <a16:creationId xmlns:a16="http://schemas.microsoft.com/office/drawing/2014/main" id="{84789DE1-3F74-4ECF-9EFE-0A7631DD8CB1}"/>
              </a:ext>
            </a:extLst>
          </p:cNvPr>
          <p:cNvSpPr txBox="1">
            <a:spLocks noChangeArrowheads="1"/>
          </p:cNvSpPr>
          <p:nvPr/>
        </p:nvSpPr>
        <p:spPr bwMode="auto">
          <a:xfrm>
            <a:off x="1172674" y="2666743"/>
            <a:ext cx="10181126" cy="3970318"/>
          </a:xfrm>
          <a:prstGeom prst="rect">
            <a:avLst/>
          </a:prstGeom>
          <a:solidFill>
            <a:srgbClr val="FFFFFF"/>
          </a:solidFill>
          <a:ln w="9525">
            <a:solidFill>
              <a:srgbClr val="00B0F0"/>
            </a:solidFill>
            <a:miter lim="800000"/>
            <a:headEnd/>
            <a:tailEnd/>
          </a:ln>
        </p:spPr>
        <p:txBody>
          <a:bodyPr rot="0" vert="horz" wrap="square" lIns="91440" tIns="45720" rIns="91440" bIns="45720" anchor="t" anchorCtr="0">
            <a:spAutoFit/>
          </a:bodyPr>
          <a:lstStyle/>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 QUESTION SECTION:</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;thucsnet.com.			IN	A</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 </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 AUTHORITY SECTION:</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com.			172800	IN	NS	h.gtld-servers.net.</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com.			172800	IN	NS	d.gtld-servers.net.</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com.			172800	IN	NS	f.gtld-servers.net.</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com.			172800	IN	NS	b.gtld-servers.net.</a:t>
            </a:r>
            <a:endParaRPr kumimoji="0" 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a:p>
            <a:pPr marL="12700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ADDITIONAL SECTION:</a:t>
            </a: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h.gtld-servers.net.	172800	IN	A	192.54.112.30</a:t>
            </a: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d.gtld-servers.net.	172800	IN	A	192.31.80.30</a:t>
            </a: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f.gtld-servers.net.	172800	IN	A	192.35.51.30</a:t>
            </a: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b.gtld-servers.net.	172800	IN	A	192.33.14.30</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5FCBFD83-380C-498B-B671-AA9E63F8175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2859868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1C1D1656-F2E3-419C-805A-F4A39EC0EDB1}"/>
              </a:ext>
            </a:extLst>
          </p:cNvPr>
          <p:cNvSpPr>
            <a:spLocks/>
          </p:cNvSpPr>
          <p:nvPr/>
        </p:nvSpPr>
        <p:spPr bwMode="auto">
          <a:xfrm>
            <a:off x="1131374" y="1329606"/>
            <a:ext cx="9648451" cy="1100994"/>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en-US" altLang="zh-CN" dirty="0">
                <a:solidFill>
                  <a:srgbClr val="C00000"/>
                </a:solidFill>
              </a:rPr>
              <a:t>DNS</a:t>
            </a:r>
            <a:r>
              <a:rPr kumimoji="1" lang="zh-CN" altLang="en-US" dirty="0">
                <a:solidFill>
                  <a:srgbClr val="C00000"/>
                </a:solidFill>
              </a:rPr>
              <a:t>迭代查詢過程交互信息格式</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8" name="矩形 51">
            <a:extLst>
              <a:ext uri="{FF2B5EF4-FFF2-40B4-BE49-F238E27FC236}">
                <a16:creationId xmlns:a16="http://schemas.microsoft.com/office/drawing/2014/main" id="{138514DA-1687-4450-98FD-107D460810D4}"/>
              </a:ext>
            </a:extLst>
          </p:cNvPr>
          <p:cNvSpPr>
            <a:spLocks noChangeArrowheads="1"/>
          </p:cNvSpPr>
          <p:nvPr/>
        </p:nvSpPr>
        <p:spPr bwMode="auto">
          <a:xfrm>
            <a:off x="1260468" y="1415264"/>
            <a:ext cx="9247512" cy="929678"/>
          </a:xfrm>
          <a:prstGeom prst="rect">
            <a:avLst/>
          </a:prstGeom>
          <a:noFill/>
          <a:ln>
            <a:noFill/>
          </a:ln>
        </p:spPr>
        <p:txBody>
          <a:bodyPr wrap="square">
            <a:spAutoFit/>
          </a:bodyPr>
          <a:lstStyle/>
          <a:p>
            <a:pPr marL="0" marR="0" lvl="0" indent="0" algn="l" defTabSz="914400" rtl="0" eaLnBrk="1" fontAlgn="auto" latinLnBrk="0" hangingPunct="1">
              <a:lnSpc>
                <a:spcPct val="130000"/>
              </a:lnSpc>
              <a:spcBef>
                <a:spcPct val="0"/>
              </a:spcBef>
              <a:spcAft>
                <a:spcPts val="0"/>
              </a:spcAft>
              <a:buClrTx/>
              <a:buSzTx/>
              <a:buFontTx/>
              <a:buNone/>
              <a:tabLst/>
              <a:defRPr/>
            </a:pP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本地</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DNS</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服務器通過“</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dig @f.gtld-servers.net  www.thucsnet.com”</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 得到</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thucsnet.com</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區域的權威域名服務器及地址</a:t>
            </a:r>
          </a:p>
        </p:txBody>
      </p:sp>
      <p:sp>
        <p:nvSpPr>
          <p:cNvPr id="9" name="文本框 5">
            <a:extLst>
              <a:ext uri="{FF2B5EF4-FFF2-40B4-BE49-F238E27FC236}">
                <a16:creationId xmlns:a16="http://schemas.microsoft.com/office/drawing/2014/main" id="{5F266B94-7BC9-4ECF-BE72-E2A8A40D185C}"/>
              </a:ext>
            </a:extLst>
          </p:cNvPr>
          <p:cNvSpPr txBox="1">
            <a:spLocks noChangeArrowheads="1"/>
          </p:cNvSpPr>
          <p:nvPr/>
        </p:nvSpPr>
        <p:spPr bwMode="auto">
          <a:xfrm>
            <a:off x="1131376" y="2885721"/>
            <a:ext cx="9648451" cy="2308324"/>
          </a:xfrm>
          <a:prstGeom prst="rect">
            <a:avLst/>
          </a:prstGeom>
          <a:solidFill>
            <a:srgbClr val="FFFFFF"/>
          </a:solidFill>
          <a:ln w="9525">
            <a:solidFill>
              <a:srgbClr val="00B0F0"/>
            </a:solidFill>
            <a:miter lim="800000"/>
            <a:headEnd/>
            <a:tailEnd/>
          </a:ln>
        </p:spPr>
        <p:txBody>
          <a:bodyPr rot="0" vert="horz" wrap="square" lIns="91440" tIns="45720" rIns="91440" bIns="45720" anchor="t" anchorCtr="0">
            <a:spAutoFit/>
          </a:bodyPr>
          <a:lstStyle/>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 AUTHORITY SECTION:</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thucsnet.com.		172800	IN	NS	dns2.hichina.com.</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thucsnet.com.		172800	IN	NS	dns1.hichina.com.</a:t>
            </a:r>
            <a:endParaRPr kumimoji="0" 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a:p>
            <a:pPr marL="12700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ADDITIONAL SECTION:</a:t>
            </a: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dns2.hichina.com.	172800	IN	A	106.11.141.114</a:t>
            </a: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dns2.hichina.com.	172800	IN	AAAA	2400:3200:2000:21::1</a:t>
            </a: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dns1.hichina.com.	172800	IN	A	106.11.141.113</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6952ECBC-EC94-4B1B-9781-7BAFDCF5C1A8}"/>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13916170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en-US" altLang="zh-CN" dirty="0">
                <a:solidFill>
                  <a:srgbClr val="C00000"/>
                </a:solidFill>
              </a:rPr>
              <a:t>DNS</a:t>
            </a:r>
            <a:r>
              <a:rPr kumimoji="1" lang="zh-CN" altLang="en-US" dirty="0">
                <a:solidFill>
                  <a:srgbClr val="C00000"/>
                </a:solidFill>
              </a:rPr>
              <a:t>迭代查詢過程交互信息格式</a:t>
            </a: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13" name="文本框 2">
            <a:extLst>
              <a:ext uri="{FF2B5EF4-FFF2-40B4-BE49-F238E27FC236}">
                <a16:creationId xmlns:a16="http://schemas.microsoft.com/office/drawing/2014/main" id="{D3B89E68-430B-47C6-86A7-DBCD19A4C424}"/>
              </a:ext>
            </a:extLst>
          </p:cNvPr>
          <p:cNvSpPr txBox="1">
            <a:spLocks noChangeArrowheads="1"/>
          </p:cNvSpPr>
          <p:nvPr/>
        </p:nvSpPr>
        <p:spPr bwMode="auto">
          <a:xfrm>
            <a:off x="990862" y="3093375"/>
            <a:ext cx="9582914" cy="1477328"/>
          </a:xfrm>
          <a:prstGeom prst="rect">
            <a:avLst/>
          </a:prstGeom>
          <a:solidFill>
            <a:srgbClr val="FFFFFF"/>
          </a:solidFill>
          <a:ln w="9525">
            <a:solidFill>
              <a:srgbClr val="00B0F0"/>
            </a:solidFill>
            <a:miter lim="800000"/>
            <a:headEnd/>
            <a:tailEnd/>
          </a:ln>
        </p:spPr>
        <p:txBody>
          <a:bodyPr rot="0" vert="horz" wrap="square" lIns="91440" tIns="45720" rIns="91440" bIns="45720" anchor="t" anchorCtr="0">
            <a:spAutoFit/>
          </a:bodyPr>
          <a:lstStyle/>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 QUESTION SECTION:</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;www.thucsnet.com.		IN	A</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 </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 ANSWER SECTION:</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www.thucsnet.com.	600	IN	A	47.94.221.113</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矩形 11">
            <a:extLst>
              <a:ext uri="{FF2B5EF4-FFF2-40B4-BE49-F238E27FC236}">
                <a16:creationId xmlns:a16="http://schemas.microsoft.com/office/drawing/2014/main" id="{E34905DC-DB4E-4E95-A517-F980F199BC86}"/>
              </a:ext>
            </a:extLst>
          </p:cNvPr>
          <p:cNvSpPr>
            <a:spLocks/>
          </p:cNvSpPr>
          <p:nvPr/>
        </p:nvSpPr>
        <p:spPr bwMode="auto">
          <a:xfrm>
            <a:off x="990862" y="1516380"/>
            <a:ext cx="9582914" cy="1165289"/>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10" name="矩形 51">
            <a:extLst>
              <a:ext uri="{FF2B5EF4-FFF2-40B4-BE49-F238E27FC236}">
                <a16:creationId xmlns:a16="http://schemas.microsoft.com/office/drawing/2014/main" id="{2F9B8DA8-E9FD-4D5E-A72B-C956C821454F}"/>
              </a:ext>
            </a:extLst>
          </p:cNvPr>
          <p:cNvSpPr>
            <a:spLocks noChangeArrowheads="1"/>
          </p:cNvSpPr>
          <p:nvPr/>
        </p:nvSpPr>
        <p:spPr bwMode="auto">
          <a:xfrm>
            <a:off x="1215613" y="1660551"/>
            <a:ext cx="9358163" cy="929678"/>
          </a:xfrm>
          <a:prstGeom prst="rect">
            <a:avLst/>
          </a:prstGeom>
          <a:noFill/>
          <a:ln>
            <a:noFill/>
          </a:ln>
        </p:spPr>
        <p:txBody>
          <a:bodyPr wrap="square">
            <a:spAutoFit/>
          </a:bodyPr>
          <a:lstStyle/>
          <a:p>
            <a:pPr marL="0" marR="0" lvl="0" indent="0" algn="l" defTabSz="914400" rtl="0" eaLnBrk="1" fontAlgn="auto" latinLnBrk="0" hangingPunct="1">
              <a:lnSpc>
                <a:spcPct val="130000"/>
              </a:lnSpc>
              <a:spcBef>
                <a:spcPct val="0"/>
              </a:spcBef>
              <a:spcAft>
                <a:spcPts val="0"/>
              </a:spcAft>
              <a:buClrTx/>
              <a:buSzTx/>
              <a:buFontTx/>
              <a:buNone/>
              <a:tabLst/>
              <a:defRPr/>
            </a:pPr>
            <a:r>
              <a:rPr lang="zh-CN" altLang="en-US" sz="2200" dirty="0">
                <a:solidFill>
                  <a:srgbClr val="000000"/>
                </a:solidFill>
                <a:latin typeface="微软雅黑" panose="020B0503020204020204" pitchFamily="34" charset="-122"/>
                <a:ea typeface="微软雅黑" panose="020B0503020204020204" pitchFamily="34" charset="-122"/>
                <a:sym typeface="HelveticaNeueLT Pro 67 MdCn" pitchFamily="2" charset="-122"/>
              </a:rPr>
              <a:t>本地</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DNS</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服務器通過</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“dig @dns1.hichina.com   www.thucsnet.com”</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得到</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IP</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地址</a:t>
            </a:r>
          </a:p>
        </p:txBody>
      </p:sp>
      <p:sp>
        <p:nvSpPr>
          <p:cNvPr id="2" name="灯片编号占位符 1">
            <a:extLst>
              <a:ext uri="{FF2B5EF4-FFF2-40B4-BE49-F238E27FC236}">
                <a16:creationId xmlns:a16="http://schemas.microsoft.com/office/drawing/2014/main" id="{01449991-634C-4626-BFDB-BD75A40BAE1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4047845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en-US" altLang="zh-CN" dirty="0">
                <a:solidFill>
                  <a:srgbClr val="C00000"/>
                </a:solidFill>
              </a:rPr>
              <a:t>DNS</a:t>
            </a:r>
            <a:r>
              <a:rPr kumimoji="1" lang="zh-CN" altLang="en-US" dirty="0">
                <a:solidFill>
                  <a:srgbClr val="C00000"/>
                </a:solidFill>
              </a:rPr>
              <a:t>反向查詢</a:t>
            </a: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9" name="文本框 2">
            <a:extLst>
              <a:ext uri="{FF2B5EF4-FFF2-40B4-BE49-F238E27FC236}">
                <a16:creationId xmlns:a16="http://schemas.microsoft.com/office/drawing/2014/main" id="{0ADC0667-1393-45AA-9EAD-60F1662B42CA}"/>
              </a:ext>
            </a:extLst>
          </p:cNvPr>
          <p:cNvSpPr txBox="1">
            <a:spLocks noChangeArrowheads="1"/>
          </p:cNvSpPr>
          <p:nvPr/>
        </p:nvSpPr>
        <p:spPr bwMode="auto">
          <a:xfrm>
            <a:off x="1239731" y="3399556"/>
            <a:ext cx="9633156" cy="2031325"/>
          </a:xfrm>
          <a:prstGeom prst="rect">
            <a:avLst/>
          </a:prstGeom>
          <a:solidFill>
            <a:srgbClr val="FFFFFF"/>
          </a:solidFill>
          <a:ln w="9525">
            <a:solidFill>
              <a:srgbClr val="00B0F0"/>
            </a:solidFill>
            <a:miter lim="800000"/>
            <a:headEnd/>
            <a:tailEnd/>
          </a:ln>
        </p:spPr>
        <p:txBody>
          <a:bodyPr rot="0" vert="horz" wrap="square" lIns="91440" tIns="45720" rIns="91440" bIns="45720" anchor="t" anchorCtr="0">
            <a:spAutoFit/>
          </a:bodyPr>
          <a:lstStyle/>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dig -x 8.8.8.8</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QUESTION SECTION:</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;8.8.8.8.in-addr.arpa.		IN	PTR</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ANSWER SECTION:</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127000" marR="0" lvl="0" indent="0" algn="l" defTabSz="914400" rtl="0" eaLnBrk="1" fontAlgn="auto" latinLnBrk="0" hangingPunct="1">
              <a:lnSpc>
                <a:spcPct val="100000"/>
              </a:lnSpc>
              <a:spcBef>
                <a:spcPts val="0"/>
              </a:spcBef>
              <a:spcAft>
                <a:spcPts val="0"/>
              </a:spcAft>
              <a:buClrTx/>
              <a:buSzTx/>
              <a:buFontTx/>
              <a:buNone/>
              <a:tabLst/>
              <a:defRPr/>
            </a:pPr>
            <a:r>
              <a:rPr kumimoji="0" lang="x-none"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8.8.8.8.in-addr.arpa.	5	IN	PTR	dns.google.</a:t>
            </a:r>
            <a:endPar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矩形 9">
            <a:extLst>
              <a:ext uri="{FF2B5EF4-FFF2-40B4-BE49-F238E27FC236}">
                <a16:creationId xmlns:a16="http://schemas.microsoft.com/office/drawing/2014/main" id="{C85A5970-A2F8-402C-AB0C-3E0B0997F3AA}"/>
              </a:ext>
            </a:extLst>
          </p:cNvPr>
          <p:cNvSpPr>
            <a:spLocks/>
          </p:cNvSpPr>
          <p:nvPr/>
        </p:nvSpPr>
        <p:spPr bwMode="auto">
          <a:xfrm>
            <a:off x="1239731" y="1329605"/>
            <a:ext cx="9633157" cy="1574959"/>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8" name="矩形 51">
            <a:extLst>
              <a:ext uri="{FF2B5EF4-FFF2-40B4-BE49-F238E27FC236}">
                <a16:creationId xmlns:a16="http://schemas.microsoft.com/office/drawing/2014/main" id="{138514DA-1687-4450-98FD-107D460810D4}"/>
              </a:ext>
            </a:extLst>
          </p:cNvPr>
          <p:cNvSpPr>
            <a:spLocks noChangeArrowheads="1"/>
          </p:cNvSpPr>
          <p:nvPr/>
        </p:nvSpPr>
        <p:spPr bwMode="auto">
          <a:xfrm>
            <a:off x="1319112" y="1427119"/>
            <a:ext cx="9384748" cy="1369799"/>
          </a:xfrm>
          <a:prstGeom prst="rect">
            <a:avLst/>
          </a:prstGeom>
          <a:noFill/>
          <a:ln>
            <a:noFill/>
          </a:ln>
        </p:spPr>
        <p:txBody>
          <a:bodyPr wrap="square">
            <a:spAutoFit/>
          </a:bodyPr>
          <a:lstStyle/>
          <a:p>
            <a:pPr marL="342900" marR="0" lvl="0" indent="-342900" algn="l" defTabSz="914400" rtl="0" eaLnBrk="1" fontAlgn="auto" latinLnBrk="0" hangingPunct="1">
              <a:lnSpc>
                <a:spcPct val="130000"/>
              </a:lnSpc>
              <a:spcBef>
                <a:spcPct val="0"/>
              </a:spcBef>
              <a:spcAft>
                <a:spcPts val="0"/>
              </a:spcAft>
              <a:buClrTx/>
              <a:buSzTx/>
              <a:buFont typeface="Arial" panose="020B0604020202020204" pitchFamily="34" charset="0"/>
              <a:buChar char="•"/>
              <a:tabLst/>
              <a:defRPr/>
            </a:pP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使用</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dig -x IP</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DNS</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解析器通過迭代查詢發送請求，使用</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IP</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地址獲得相關域名或主機名</a:t>
            </a:r>
            <a:endPar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endParaRPr>
          </a:p>
          <a:p>
            <a:pPr marL="342900" marR="0" lvl="0" indent="-342900" algn="l" defTabSz="914400" rtl="0" eaLnBrk="1" fontAlgn="auto" latinLnBrk="0" hangingPunct="1">
              <a:lnSpc>
                <a:spcPct val="130000"/>
              </a:lnSpc>
              <a:spcBef>
                <a:spcPct val="0"/>
              </a:spcBef>
              <a:spcAft>
                <a:spcPts val="0"/>
              </a:spcAft>
              <a:buClrTx/>
              <a:buSzTx/>
              <a:buFont typeface="Arial" panose="020B0604020202020204" pitchFamily="34" charset="0"/>
              <a:buChar char="•"/>
              <a:tabLst/>
              <a:defRPr/>
            </a:pP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如對地址</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8.8.8.8</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發起查詢，則</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ANSWER SECTION</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得到地址對應的域名</a:t>
            </a:r>
          </a:p>
        </p:txBody>
      </p:sp>
      <p:sp>
        <p:nvSpPr>
          <p:cNvPr id="2" name="灯片编号占位符 1">
            <a:extLst>
              <a:ext uri="{FF2B5EF4-FFF2-40B4-BE49-F238E27FC236}">
                <a16:creationId xmlns:a16="http://schemas.microsoft.com/office/drawing/2014/main" id="{EC7AAC35-2BBC-4388-9942-A5523FB0208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3392973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1EE29A1-C89A-8644-9C6C-B4B5595B99BE}"/>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 name="矩形 2">
            <a:extLst>
              <a:ext uri="{FF2B5EF4-FFF2-40B4-BE49-F238E27FC236}">
                <a16:creationId xmlns:a16="http://schemas.microsoft.com/office/drawing/2014/main" id="{95390BD7-9E9C-0D4E-A92D-6F6196C9DABC}"/>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4" name="椭圆 3">
            <a:extLst>
              <a:ext uri="{FF2B5EF4-FFF2-40B4-BE49-F238E27FC236}">
                <a16:creationId xmlns:a16="http://schemas.microsoft.com/office/drawing/2014/main" id="{BF9CDFA6-B029-6B4C-B9E4-7CF16FFE8CAE}"/>
              </a:ext>
            </a:extLst>
          </p:cNvPr>
          <p:cNvSpPr/>
          <p:nvPr/>
        </p:nvSpPr>
        <p:spPr>
          <a:xfrm>
            <a:off x="2038665" y="124711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pic>
        <p:nvPicPr>
          <p:cNvPr id="23" name="图片 22">
            <a:extLst>
              <a:ext uri="{FF2B5EF4-FFF2-40B4-BE49-F238E27FC236}">
                <a16:creationId xmlns:a16="http://schemas.microsoft.com/office/drawing/2014/main" id="{0FE6FCD0-FA89-B441-A733-B32B5C383245}"/>
              </a:ext>
            </a:extLst>
          </p:cNvPr>
          <p:cNvPicPr>
            <a:picLocks noChangeAspect="1"/>
          </p:cNvPicPr>
          <p:nvPr/>
        </p:nvPicPr>
        <p:blipFill>
          <a:blip r:embed="rId3"/>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24" name="矩形 23">
            <a:extLst>
              <a:ext uri="{FF2B5EF4-FFF2-40B4-BE49-F238E27FC236}">
                <a16:creationId xmlns:a16="http://schemas.microsoft.com/office/drawing/2014/main" id="{3FCEB227-503D-45F9-949B-6355E355F25A}"/>
              </a:ext>
            </a:extLst>
          </p:cNvPr>
          <p:cNvSpPr/>
          <p:nvPr/>
        </p:nvSpPr>
        <p:spPr>
          <a:xfrm>
            <a:off x="4711535" y="2044858"/>
            <a:ext cx="4051109" cy="70788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第三節 </a:t>
            </a:r>
            <a:r>
              <a:rPr kumimoji="0" lang="en-US" altLang="zh-CN" sz="4000" b="1" i="0" u="none" strike="noStrike" kern="1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DNS</a:t>
            </a:r>
            <a:r>
              <a:rPr kumimoji="0" lang="zh-CN" altLang="en-US" sz="4000" b="1" i="0" u="none" strike="noStrike" kern="1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攻擊</a:t>
            </a:r>
          </a:p>
        </p:txBody>
      </p:sp>
      <p:grpSp>
        <p:nvGrpSpPr>
          <p:cNvPr id="25" name="Group 5">
            <a:extLst>
              <a:ext uri="{FF2B5EF4-FFF2-40B4-BE49-F238E27FC236}">
                <a16:creationId xmlns:a16="http://schemas.microsoft.com/office/drawing/2014/main" id="{2061F4E3-8411-4DD6-98FA-598F64B75C0D}"/>
              </a:ext>
            </a:extLst>
          </p:cNvPr>
          <p:cNvGrpSpPr/>
          <p:nvPr/>
        </p:nvGrpSpPr>
        <p:grpSpPr>
          <a:xfrm>
            <a:off x="5457021" y="3901094"/>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6" name="Oval 6">
              <a:extLst>
                <a:ext uri="{FF2B5EF4-FFF2-40B4-BE49-F238E27FC236}">
                  <a16:creationId xmlns:a16="http://schemas.microsoft.com/office/drawing/2014/main" id="{45121B5E-B2A8-4348-8B87-F8D0075DA3C8}"/>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27" name="Freeform 7">
              <a:extLst>
                <a:ext uri="{FF2B5EF4-FFF2-40B4-BE49-F238E27FC236}">
                  <a16:creationId xmlns:a16="http://schemas.microsoft.com/office/drawing/2014/main" id="{378C56C4-37E4-4DBF-9D5B-79A0372C7ED1}"/>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grpSp>
      <p:sp>
        <p:nvSpPr>
          <p:cNvPr id="32" name="TextBox 9">
            <a:extLst>
              <a:ext uri="{FF2B5EF4-FFF2-40B4-BE49-F238E27FC236}">
                <a16:creationId xmlns:a16="http://schemas.microsoft.com/office/drawing/2014/main" id="{70B519C5-071A-4A7E-9A20-34EF72F69798}"/>
              </a:ext>
            </a:extLst>
          </p:cNvPr>
          <p:cNvSpPr txBox="1">
            <a:spLocks noChangeArrowheads="1"/>
          </p:cNvSpPr>
          <p:nvPr/>
        </p:nvSpPr>
        <p:spPr bwMode="auto">
          <a:xfrm>
            <a:off x="5915416" y="3874248"/>
            <a:ext cx="2031325" cy="461665"/>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緩存中毒攻擊</a:t>
            </a:r>
          </a:p>
        </p:txBody>
      </p:sp>
      <p:grpSp>
        <p:nvGrpSpPr>
          <p:cNvPr id="33" name="Group 11">
            <a:extLst>
              <a:ext uri="{FF2B5EF4-FFF2-40B4-BE49-F238E27FC236}">
                <a16:creationId xmlns:a16="http://schemas.microsoft.com/office/drawing/2014/main" id="{76128366-ADAD-4ABD-8C08-E2F818F85775}"/>
              </a:ext>
            </a:extLst>
          </p:cNvPr>
          <p:cNvGrpSpPr/>
          <p:nvPr/>
        </p:nvGrpSpPr>
        <p:grpSpPr>
          <a:xfrm>
            <a:off x="5457021" y="4781642"/>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34" name="Oval 12">
              <a:extLst>
                <a:ext uri="{FF2B5EF4-FFF2-40B4-BE49-F238E27FC236}">
                  <a16:creationId xmlns:a16="http://schemas.microsoft.com/office/drawing/2014/main" id="{3AE2120F-843C-48CF-BF61-4AC8EDE2F3D3}"/>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35" name="Freeform 13">
              <a:extLst>
                <a:ext uri="{FF2B5EF4-FFF2-40B4-BE49-F238E27FC236}">
                  <a16:creationId xmlns:a16="http://schemas.microsoft.com/office/drawing/2014/main" id="{8DBAB252-4CDD-4BDB-84B3-1372FC51708E}"/>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grpSp>
      <p:sp>
        <p:nvSpPr>
          <p:cNvPr id="36" name="TextBox 15">
            <a:extLst>
              <a:ext uri="{FF2B5EF4-FFF2-40B4-BE49-F238E27FC236}">
                <a16:creationId xmlns:a16="http://schemas.microsoft.com/office/drawing/2014/main" id="{45C9F178-9E3C-4711-A744-F05A95301F72}"/>
              </a:ext>
            </a:extLst>
          </p:cNvPr>
          <p:cNvSpPr txBox="1">
            <a:spLocks noChangeArrowheads="1"/>
          </p:cNvSpPr>
          <p:nvPr/>
        </p:nvSpPr>
        <p:spPr bwMode="auto">
          <a:xfrm>
            <a:off x="5915416" y="4757996"/>
            <a:ext cx="3616696" cy="461665"/>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惡意</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DNS</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服務器回復僞造</a:t>
            </a:r>
          </a:p>
        </p:txBody>
      </p:sp>
      <p:grpSp>
        <p:nvGrpSpPr>
          <p:cNvPr id="15" name="Group 5">
            <a:extLst>
              <a:ext uri="{FF2B5EF4-FFF2-40B4-BE49-F238E27FC236}">
                <a16:creationId xmlns:a16="http://schemas.microsoft.com/office/drawing/2014/main" id="{3832C21F-142F-4574-A225-5AA5B40405FE}"/>
              </a:ext>
            </a:extLst>
          </p:cNvPr>
          <p:cNvGrpSpPr/>
          <p:nvPr/>
        </p:nvGrpSpPr>
        <p:grpSpPr>
          <a:xfrm>
            <a:off x="5457021" y="5575514"/>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6" name="Oval 6">
              <a:extLst>
                <a:ext uri="{FF2B5EF4-FFF2-40B4-BE49-F238E27FC236}">
                  <a16:creationId xmlns:a16="http://schemas.microsoft.com/office/drawing/2014/main" id="{9CB4EF5C-EEE7-4AAF-BCD6-18D686E8FACD}"/>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17" name="Freeform 7">
              <a:extLst>
                <a:ext uri="{FF2B5EF4-FFF2-40B4-BE49-F238E27FC236}">
                  <a16:creationId xmlns:a16="http://schemas.microsoft.com/office/drawing/2014/main" id="{5D902C61-1DE3-480D-9DBF-E744DE999D23}"/>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grpSp>
      <p:sp>
        <p:nvSpPr>
          <p:cNvPr id="19" name="文本框 18">
            <a:extLst>
              <a:ext uri="{FF2B5EF4-FFF2-40B4-BE49-F238E27FC236}">
                <a16:creationId xmlns:a16="http://schemas.microsoft.com/office/drawing/2014/main" id="{F1DDA56F-FCE2-4DC4-AB04-045A10FD8D40}"/>
              </a:ext>
            </a:extLst>
          </p:cNvPr>
          <p:cNvSpPr txBox="1"/>
          <p:nvPr/>
        </p:nvSpPr>
        <p:spPr>
          <a:xfrm>
            <a:off x="5959428" y="5575514"/>
            <a:ext cx="610391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拒絕服務攻擊</a:t>
            </a:r>
          </a:p>
        </p:txBody>
      </p:sp>
      <p:sp>
        <p:nvSpPr>
          <p:cNvPr id="2" name="灯片编号占位符 1">
            <a:extLst>
              <a:ext uri="{FF2B5EF4-FFF2-40B4-BE49-F238E27FC236}">
                <a16:creationId xmlns:a16="http://schemas.microsoft.com/office/drawing/2014/main" id="{EB74371E-2A17-4AA3-9EE3-FF22444A685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646125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12702D1-E305-BA5C-E7A8-5F5E4A2A77F1}"/>
              </a:ext>
            </a:extLst>
          </p:cNvPr>
          <p:cNvPicPr>
            <a:picLocks noChangeAspect="1"/>
          </p:cNvPicPr>
          <p:nvPr/>
        </p:nvPicPr>
        <p:blipFill>
          <a:blip r:embed="rId3"/>
          <a:stretch>
            <a:fillRect/>
          </a:stretch>
        </p:blipFill>
        <p:spPr>
          <a:xfrm>
            <a:off x="309904" y="1494862"/>
            <a:ext cx="11572192" cy="4570530"/>
          </a:xfrm>
          <a:prstGeom prst="rect">
            <a:avLst/>
          </a:prstGeom>
        </p:spPr>
      </p:pic>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en-US" altLang="zh-CN" dirty="0">
                <a:solidFill>
                  <a:srgbClr val="C00000"/>
                </a:solidFill>
              </a:rPr>
              <a:t>DNS</a:t>
            </a:r>
            <a:r>
              <a:rPr kumimoji="1" lang="zh-CN" altLang="en-US" dirty="0">
                <a:solidFill>
                  <a:srgbClr val="C00000"/>
                </a:solidFill>
              </a:rPr>
              <a:t>攻擊面</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grpSp>
        <p:nvGrpSpPr>
          <p:cNvPr id="85" name="组合 84">
            <a:extLst>
              <a:ext uri="{FF2B5EF4-FFF2-40B4-BE49-F238E27FC236}">
                <a16:creationId xmlns:a16="http://schemas.microsoft.com/office/drawing/2014/main" id="{42E21351-99DC-49D9-8CE9-B6D624B86608}"/>
              </a:ext>
            </a:extLst>
          </p:cNvPr>
          <p:cNvGrpSpPr/>
          <p:nvPr/>
        </p:nvGrpSpPr>
        <p:grpSpPr>
          <a:xfrm>
            <a:off x="5117351" y="2802762"/>
            <a:ext cx="6705600" cy="765175"/>
            <a:chOff x="11560" y="2889"/>
            <a:chExt cx="10560" cy="1205"/>
          </a:xfrm>
        </p:grpSpPr>
        <p:sp>
          <p:nvSpPr>
            <p:cNvPr id="86" name="Rectangle 8">
              <a:extLst>
                <a:ext uri="{FF2B5EF4-FFF2-40B4-BE49-F238E27FC236}">
                  <a16:creationId xmlns:a16="http://schemas.microsoft.com/office/drawing/2014/main" id="{6513C2D0-44EE-459E-8282-34EAB9C42C15}"/>
                </a:ext>
              </a:extLst>
            </p:cNvPr>
            <p:cNvSpPr/>
            <p:nvPr/>
          </p:nvSpPr>
          <p:spPr>
            <a:xfrm>
              <a:off x="11748" y="3453"/>
              <a:ext cx="10372" cy="641"/>
            </a:xfrm>
            <a:prstGeom prst="rect">
              <a:avLst/>
            </a:prstGeom>
          </p:spPr>
          <p:txBody>
            <a:bodyPr wrap="square" lIns="0" tIns="0" rIns="0" bIns="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87" name="文本框 20">
              <a:extLst>
                <a:ext uri="{FF2B5EF4-FFF2-40B4-BE49-F238E27FC236}">
                  <a16:creationId xmlns:a16="http://schemas.microsoft.com/office/drawing/2014/main" id="{13F5BE8E-02CB-4A8C-BA6B-35D21396757A}"/>
                </a:ext>
              </a:extLst>
            </p:cNvPr>
            <p:cNvSpPr txBox="1"/>
            <p:nvPr/>
          </p:nvSpPr>
          <p:spPr>
            <a:xfrm>
              <a:off x="11560" y="2889"/>
              <a:ext cx="3621" cy="691"/>
            </a:xfrm>
            <a:prstGeom prst="rect">
              <a:avLst/>
            </a:prstGeom>
            <a:noFill/>
          </p:spPr>
          <p:txBody>
            <a:bodyPr wrap="square" lIns="68580" tIns="34290" rIns="68580" bIns="3429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endParaRPr>
            </a:p>
          </p:txBody>
        </p:sp>
      </p:grpSp>
      <p:sp>
        <p:nvSpPr>
          <p:cNvPr id="2" name="灯片编号占位符 1">
            <a:extLst>
              <a:ext uri="{FF2B5EF4-FFF2-40B4-BE49-F238E27FC236}">
                <a16:creationId xmlns:a16="http://schemas.microsoft.com/office/drawing/2014/main" id="{9BB0E13E-93AE-43E2-AECE-4F5E13E70D25}"/>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18920651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5546FE27-49B0-4D59-9D27-7F109A6C65BC}"/>
              </a:ext>
            </a:extLst>
          </p:cNvPr>
          <p:cNvSpPr>
            <a:spLocks/>
          </p:cNvSpPr>
          <p:nvPr/>
        </p:nvSpPr>
        <p:spPr bwMode="auto">
          <a:xfrm>
            <a:off x="680605" y="1183123"/>
            <a:ext cx="6627985" cy="5131616"/>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18" name="矩形 17">
            <a:extLst>
              <a:ext uri="{FF2B5EF4-FFF2-40B4-BE49-F238E27FC236}">
                <a16:creationId xmlns:a16="http://schemas.microsoft.com/office/drawing/2014/main" id="{10C64A0C-99CC-45B7-B0C6-8F6CD0325A35}"/>
              </a:ext>
            </a:extLst>
          </p:cNvPr>
          <p:cNvSpPr>
            <a:spLocks/>
          </p:cNvSpPr>
          <p:nvPr/>
        </p:nvSpPr>
        <p:spPr bwMode="auto">
          <a:xfrm>
            <a:off x="7494567" y="1183123"/>
            <a:ext cx="4532482" cy="5131616"/>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操控本地用戶主機</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grpSp>
        <p:nvGrpSpPr>
          <p:cNvPr id="73" name="组合 72">
            <a:extLst>
              <a:ext uri="{FF2B5EF4-FFF2-40B4-BE49-F238E27FC236}">
                <a16:creationId xmlns:a16="http://schemas.microsoft.com/office/drawing/2014/main" id="{E48BD710-CE8F-4A7F-92F9-BEFB31700896}"/>
              </a:ext>
            </a:extLst>
          </p:cNvPr>
          <p:cNvGrpSpPr/>
          <p:nvPr/>
        </p:nvGrpSpPr>
        <p:grpSpPr>
          <a:xfrm>
            <a:off x="796322" y="1254443"/>
            <a:ext cx="6590665" cy="1449705"/>
            <a:chOff x="11560" y="2889"/>
            <a:chExt cx="10379" cy="2283"/>
          </a:xfrm>
        </p:grpSpPr>
        <p:sp>
          <p:nvSpPr>
            <p:cNvPr id="74" name="Rectangle 8">
              <a:extLst>
                <a:ext uri="{FF2B5EF4-FFF2-40B4-BE49-F238E27FC236}">
                  <a16:creationId xmlns:a16="http://schemas.microsoft.com/office/drawing/2014/main" id="{11474C90-76E9-4E1B-815A-3742ABDB0EA3}"/>
                </a:ext>
              </a:extLst>
            </p:cNvPr>
            <p:cNvSpPr/>
            <p:nvPr/>
          </p:nvSpPr>
          <p:spPr>
            <a:xfrm>
              <a:off x="11690" y="3804"/>
              <a:ext cx="10249" cy="1368"/>
            </a:xfrm>
            <a:prstGeom prst="rect">
              <a:avLst/>
            </a:prstGeom>
          </p:spPr>
          <p:txBody>
            <a:bodyPr wrap="square" lIns="0" tIns="0" rIns="0" bIns="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charset="-122"/>
                  <a:cs typeface="+mn-cs"/>
                  <a:sym typeface="Arial" panose="020B0604020202020204" pitchFamily="34" charset="0"/>
                </a:rPr>
                <a:t>將主機</a:t>
              </a:r>
              <a:r>
                <a:rPr kumimoji="0" lang="en-US" altLang="zh-CN" sz="20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charset="-122"/>
                  <a:cs typeface="+mn-cs"/>
                  <a:sym typeface="Arial" panose="020B0604020202020204" pitchFamily="34" charset="0"/>
                </a:rPr>
                <a:t>DNS</a:t>
              </a:r>
              <a:r>
                <a:rPr kumimoji="0" lang="zh-CN" altLang="en-US" sz="20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charset="-122"/>
                  <a:cs typeface="+mn-cs"/>
                  <a:sym typeface="Arial" panose="020B0604020202020204" pitchFamily="34" charset="0"/>
                </a:rPr>
                <a:t>服務器修改成攻擊者控制的服務器，攻擊者回復惡意內容</a:t>
              </a:r>
            </a:p>
          </p:txBody>
        </p:sp>
        <p:sp>
          <p:nvSpPr>
            <p:cNvPr id="75" name="文本框 20">
              <a:extLst>
                <a:ext uri="{FF2B5EF4-FFF2-40B4-BE49-F238E27FC236}">
                  <a16:creationId xmlns:a16="http://schemas.microsoft.com/office/drawing/2014/main" id="{F096567E-8CE9-4362-B2E7-C8116A7005E1}"/>
                </a:ext>
              </a:extLst>
            </p:cNvPr>
            <p:cNvSpPr txBox="1"/>
            <p:nvPr/>
          </p:nvSpPr>
          <p:spPr>
            <a:xfrm>
              <a:off x="11560" y="2889"/>
              <a:ext cx="6228" cy="594"/>
            </a:xfrm>
            <a:prstGeom prst="rect">
              <a:avLst/>
            </a:prstGeom>
            <a:noFill/>
          </p:spPr>
          <p:txBody>
            <a:bodyPr wrap="squar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修改</a:t>
              </a:r>
              <a:r>
                <a:rPr kumimoji="0" lang="en-US" altLang="zh-CN" sz="20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a:t>
              </a:r>
              <a:r>
                <a:rPr kumimoji="0" lang="en-US" altLang="zh-CN" sz="2000" b="1" i="0" u="none" strike="noStrike" kern="1200" cap="none" spc="0" normalizeH="0" baseline="0" noProof="0" dirty="0" err="1">
                  <a:ln>
                    <a:noFill/>
                  </a:ln>
                  <a:solidFill>
                    <a:srgbClr val="C00000"/>
                  </a:solidFill>
                  <a:effectLst/>
                  <a:uLnTx/>
                  <a:uFillTx/>
                  <a:latin typeface="微软雅黑" panose="020B0503020204020204" charset="-122"/>
                  <a:ea typeface="微软雅黑" panose="020B0503020204020204" charset="-122"/>
                  <a:cs typeface="+mn-cs"/>
                </a:rPr>
                <a:t>etc</a:t>
              </a:r>
              <a:r>
                <a:rPr kumimoji="0" lang="en-US" altLang="zh-CN" sz="20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a:t>
              </a:r>
              <a:r>
                <a:rPr kumimoji="0" lang="en-US" altLang="zh-CN" sz="2000" b="1" i="0" u="none" strike="noStrike" kern="1200" cap="none" spc="0" normalizeH="0" baseline="0" noProof="0" dirty="0" err="1">
                  <a:ln>
                    <a:noFill/>
                  </a:ln>
                  <a:solidFill>
                    <a:srgbClr val="C00000"/>
                  </a:solidFill>
                  <a:effectLst/>
                  <a:uLnTx/>
                  <a:uFillTx/>
                  <a:latin typeface="微软雅黑" panose="020B0503020204020204" charset="-122"/>
                  <a:ea typeface="微软雅黑" panose="020B0503020204020204" charset="-122"/>
                  <a:cs typeface="+mn-cs"/>
                </a:rPr>
                <a:t>resolv.conf</a:t>
              </a:r>
              <a:endParaRPr kumimoji="0" lang="zh-CN" altLang="en-US" sz="20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29" name="组合 28">
            <a:extLst>
              <a:ext uri="{FF2B5EF4-FFF2-40B4-BE49-F238E27FC236}">
                <a16:creationId xmlns:a16="http://schemas.microsoft.com/office/drawing/2014/main" id="{7040AB61-8A72-4490-AFBA-E28EFEC48033}"/>
              </a:ext>
            </a:extLst>
          </p:cNvPr>
          <p:cNvGrpSpPr/>
          <p:nvPr/>
        </p:nvGrpSpPr>
        <p:grpSpPr>
          <a:xfrm>
            <a:off x="796322" y="3066421"/>
            <a:ext cx="6590665" cy="1449705"/>
            <a:chOff x="11560" y="2889"/>
            <a:chExt cx="10379" cy="2283"/>
          </a:xfrm>
        </p:grpSpPr>
        <p:sp>
          <p:nvSpPr>
            <p:cNvPr id="30" name="Rectangle 8">
              <a:extLst>
                <a:ext uri="{FF2B5EF4-FFF2-40B4-BE49-F238E27FC236}">
                  <a16:creationId xmlns:a16="http://schemas.microsoft.com/office/drawing/2014/main" id="{4221EDE0-FC6C-4B26-A8D0-C98257963438}"/>
                </a:ext>
              </a:extLst>
            </p:cNvPr>
            <p:cNvSpPr/>
            <p:nvPr/>
          </p:nvSpPr>
          <p:spPr>
            <a:xfrm>
              <a:off x="11690" y="3804"/>
              <a:ext cx="10249" cy="1368"/>
            </a:xfrm>
            <a:prstGeom prst="rect">
              <a:avLst/>
            </a:prstGeom>
          </p:spPr>
          <p:txBody>
            <a:bodyPr wrap="square" lIns="0" tIns="0" rIns="0" bIns="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直接修改地址與域名映射關係，如將“</a:t>
              </a:r>
              <a:r>
                <a:rPr kumimoji="0" lang="en-US" altLang="zh-CN" sz="20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charset="-122"/>
                  <a:cs typeface="+mn-cs"/>
                  <a:sym typeface="Arial" panose="020B0604020202020204" pitchFamily="34" charset="0"/>
                </a:rPr>
                <a:t>www.taobao.com</a:t>
              </a:r>
              <a:r>
                <a:rPr kumimoji="0" lang="zh-CN" altLang="en-US" sz="20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charset="-122"/>
                  <a:cs typeface="+mn-cs"/>
                  <a:sym typeface="Arial" panose="020B0604020202020204" pitchFamily="34" charset="0"/>
                </a:rPr>
                <a:t>”修改爲攻擊者控制的</a:t>
              </a:r>
              <a:r>
                <a:rPr kumimoji="0" lang="en-US" altLang="zh-CN" sz="20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charset="-122"/>
                  <a:cs typeface="+mn-cs"/>
                  <a:sym typeface="Arial" panose="020B0604020202020204" pitchFamily="34" charset="0"/>
                </a:rPr>
                <a:t>IP</a:t>
              </a:r>
              <a:r>
                <a:rPr kumimoji="0" lang="zh-CN" altLang="en-US" sz="20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charset="-122"/>
                  <a:cs typeface="+mn-cs"/>
                  <a:sym typeface="Arial" panose="020B0604020202020204" pitchFamily="34" charset="0"/>
                </a:rPr>
                <a:t>地址</a:t>
              </a:r>
            </a:p>
          </p:txBody>
        </p:sp>
        <p:sp>
          <p:nvSpPr>
            <p:cNvPr id="31" name="文本框 20">
              <a:extLst>
                <a:ext uri="{FF2B5EF4-FFF2-40B4-BE49-F238E27FC236}">
                  <a16:creationId xmlns:a16="http://schemas.microsoft.com/office/drawing/2014/main" id="{195E4E23-11D9-4532-A250-E229B63E16EC}"/>
                </a:ext>
              </a:extLst>
            </p:cNvPr>
            <p:cNvSpPr txBox="1"/>
            <p:nvPr/>
          </p:nvSpPr>
          <p:spPr>
            <a:xfrm>
              <a:off x="11560" y="2889"/>
              <a:ext cx="6228" cy="642"/>
            </a:xfrm>
            <a:prstGeom prst="rect">
              <a:avLst/>
            </a:prstGeom>
            <a:noFill/>
          </p:spPr>
          <p:txBody>
            <a:bodyPr wrap="squar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修改</a:t>
              </a:r>
              <a:r>
                <a:rPr kumimoji="0" lang="en-US" altLang="zh-CN" sz="2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a:t>
              </a:r>
              <a:r>
                <a:rPr kumimoji="0" lang="en-US" altLang="zh-CN" sz="2200" b="1" i="0" u="none" strike="noStrike" kern="1200" cap="none" spc="0" normalizeH="0" baseline="0" noProof="0" dirty="0" err="1">
                  <a:ln>
                    <a:noFill/>
                  </a:ln>
                  <a:solidFill>
                    <a:srgbClr val="C00000"/>
                  </a:solidFill>
                  <a:effectLst/>
                  <a:uLnTx/>
                  <a:uFillTx/>
                  <a:latin typeface="微软雅黑" panose="020B0503020204020204" charset="-122"/>
                  <a:ea typeface="微软雅黑" panose="020B0503020204020204" charset="-122"/>
                  <a:cs typeface="+mn-cs"/>
                </a:rPr>
                <a:t>etc</a:t>
              </a:r>
              <a:r>
                <a:rPr kumimoji="0" lang="en-US" altLang="zh-CN" sz="2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/hosts</a:t>
              </a:r>
              <a:endParaRPr kumimoji="0" lang="zh-CN" altLang="en-US" sz="2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32" name="组合 31">
            <a:extLst>
              <a:ext uri="{FF2B5EF4-FFF2-40B4-BE49-F238E27FC236}">
                <a16:creationId xmlns:a16="http://schemas.microsoft.com/office/drawing/2014/main" id="{77FA155A-E625-47E5-9806-11011BD3F35E}"/>
              </a:ext>
            </a:extLst>
          </p:cNvPr>
          <p:cNvGrpSpPr/>
          <p:nvPr/>
        </p:nvGrpSpPr>
        <p:grpSpPr>
          <a:xfrm>
            <a:off x="878872" y="4878399"/>
            <a:ext cx="6590665" cy="988060"/>
            <a:chOff x="11560" y="2889"/>
            <a:chExt cx="10379" cy="1556"/>
          </a:xfrm>
        </p:grpSpPr>
        <p:sp>
          <p:nvSpPr>
            <p:cNvPr id="33" name="Rectangle 8">
              <a:extLst>
                <a:ext uri="{FF2B5EF4-FFF2-40B4-BE49-F238E27FC236}">
                  <a16:creationId xmlns:a16="http://schemas.microsoft.com/office/drawing/2014/main" id="{622AE44A-C464-4542-A385-5585FD441EDC}"/>
                </a:ext>
              </a:extLst>
            </p:cNvPr>
            <p:cNvSpPr/>
            <p:nvPr/>
          </p:nvSpPr>
          <p:spPr>
            <a:xfrm>
              <a:off x="11690" y="3804"/>
              <a:ext cx="10249" cy="641"/>
            </a:xfrm>
            <a:prstGeom prst="rect">
              <a:avLst/>
            </a:prstGeom>
          </p:spPr>
          <p:txBody>
            <a:bodyPr wrap="square" lIns="0" tIns="0" rIns="0" bIns="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監聽主機發出的</a:t>
              </a:r>
              <a:r>
                <a:rPr kumimoji="0" lang="en-US" altLang="zh-CN" sz="20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charset="-122"/>
                  <a:cs typeface="+mn-cs"/>
                  <a:sym typeface="Arial" panose="020B0604020202020204" pitchFamily="34" charset="0"/>
                </a:rPr>
                <a:t>DNS</a:t>
              </a:r>
              <a:r>
                <a:rPr kumimoji="0" lang="zh-CN" altLang="en-US" sz="20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charset="-122"/>
                  <a:cs typeface="+mn-cs"/>
                  <a:sym typeface="Arial" panose="020B0604020202020204" pitchFamily="34" charset="0"/>
                </a:rPr>
                <a:t>查詢請求，注入惡意回復</a:t>
              </a:r>
            </a:p>
          </p:txBody>
        </p:sp>
        <p:sp>
          <p:nvSpPr>
            <p:cNvPr id="34" name="文本框 20">
              <a:extLst>
                <a:ext uri="{FF2B5EF4-FFF2-40B4-BE49-F238E27FC236}">
                  <a16:creationId xmlns:a16="http://schemas.microsoft.com/office/drawing/2014/main" id="{EDB9522C-0896-4F6A-8076-0D019706B575}"/>
                </a:ext>
              </a:extLst>
            </p:cNvPr>
            <p:cNvSpPr txBox="1"/>
            <p:nvPr/>
          </p:nvSpPr>
          <p:spPr>
            <a:xfrm>
              <a:off x="11560" y="2889"/>
              <a:ext cx="6228" cy="642"/>
            </a:xfrm>
            <a:prstGeom prst="rect">
              <a:avLst/>
            </a:prstGeom>
            <a:noFill/>
          </p:spPr>
          <p:txBody>
            <a:bodyPr wrap="squar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嗅探回復</a:t>
              </a:r>
            </a:p>
          </p:txBody>
        </p:sp>
      </p:grpSp>
      <p:sp>
        <p:nvSpPr>
          <p:cNvPr id="36" name="Oval 11">
            <a:extLst>
              <a:ext uri="{FF2B5EF4-FFF2-40B4-BE49-F238E27FC236}">
                <a16:creationId xmlns:a16="http://schemas.microsoft.com/office/drawing/2014/main" id="{24BC2AC1-E9C5-4694-81D7-C1017E0686C3}"/>
              </a:ext>
            </a:extLst>
          </p:cNvPr>
          <p:cNvSpPr/>
          <p:nvPr/>
        </p:nvSpPr>
        <p:spPr>
          <a:xfrm>
            <a:off x="7718978" y="4107735"/>
            <a:ext cx="2002632" cy="183968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Roboto Light"/>
              </a:rPr>
              <a:t>攻擊面小</a:t>
            </a:r>
            <a:endParaRPr kumimoji="0" lang="en-US" altLang="zh-CN" sz="2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Roboto Ligh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Roboto Light"/>
              </a:rPr>
              <a:t>收益低</a:t>
            </a:r>
          </a:p>
        </p:txBody>
      </p:sp>
      <p:sp>
        <p:nvSpPr>
          <p:cNvPr id="37" name="Oval 12">
            <a:extLst>
              <a:ext uri="{FF2B5EF4-FFF2-40B4-BE49-F238E27FC236}">
                <a16:creationId xmlns:a16="http://schemas.microsoft.com/office/drawing/2014/main" id="{815B77A6-82E4-42E2-8B3D-3C11AFA3B5AA}"/>
              </a:ext>
            </a:extLst>
          </p:cNvPr>
          <p:cNvSpPr/>
          <p:nvPr/>
        </p:nvSpPr>
        <p:spPr>
          <a:xfrm>
            <a:off x="9463030" y="4068943"/>
            <a:ext cx="2012075" cy="1964180"/>
          </a:xfrm>
          <a:prstGeom prst="ellipse">
            <a:avLst/>
          </a:prstGeom>
          <a:solidFill>
            <a:srgbClr val="7E46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距離限制</a:t>
            </a:r>
            <a:endParaRPr kumimoji="0" lang="en-US" altLang="zh-CN" sz="2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難度大</a:t>
            </a:r>
            <a:endParaRPr kumimoji="0" lang="en-US" altLang="zh-CN" sz="2400" b="0"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endParaRPr>
          </a:p>
        </p:txBody>
      </p:sp>
      <p:pic>
        <p:nvPicPr>
          <p:cNvPr id="1026" name="Picture 2" descr="查看源图像">
            <a:extLst>
              <a:ext uri="{FF2B5EF4-FFF2-40B4-BE49-F238E27FC236}">
                <a16:creationId xmlns:a16="http://schemas.microsoft.com/office/drawing/2014/main" id="{DBD2F582-FED7-48C0-8471-5B5667C84C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9251" y="1682415"/>
            <a:ext cx="4084718" cy="2250763"/>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1E0FBB44-00DB-4D59-839D-3B0AA336C4C5}"/>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33662896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a:extLst>
              <a:ext uri="{FF2B5EF4-FFF2-40B4-BE49-F238E27FC236}">
                <a16:creationId xmlns:a16="http://schemas.microsoft.com/office/drawing/2014/main" id="{A6DED4BD-E84F-48E0-8AF7-548E0DC0191F}"/>
              </a:ext>
            </a:extLst>
          </p:cNvPr>
          <p:cNvSpPr/>
          <p:nvPr/>
        </p:nvSpPr>
        <p:spPr>
          <a:xfrm>
            <a:off x="1032144" y="1011955"/>
            <a:ext cx="10220355" cy="1745418"/>
          </a:xfrm>
          <a:prstGeom prst="roundRect">
            <a:avLst>
              <a:gd name="adj" fmla="val 0"/>
            </a:avLst>
          </a:prstGeom>
          <a:noFill/>
          <a:ln/>
        </p:spPr>
        <p:style>
          <a:lnRef idx="2">
            <a:schemeClr val="accent6"/>
          </a:lnRef>
          <a:fillRef idx="1">
            <a:schemeClr val="lt1"/>
          </a:fillRef>
          <a:effectRef idx="0">
            <a:schemeClr val="accent6"/>
          </a:effectRef>
          <a:fontRef idx="minor">
            <a:schemeClr val="dk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11" name="矩形 10">
            <a:extLst>
              <a:ext uri="{FF2B5EF4-FFF2-40B4-BE49-F238E27FC236}">
                <a16:creationId xmlns:a16="http://schemas.microsoft.com/office/drawing/2014/main" id="{A40EFFD7-17C0-0A4A-9569-51EB7AFC43A6}"/>
              </a:ext>
            </a:extLst>
          </p:cNvPr>
          <p:cNvSpPr>
            <a:spLocks/>
          </p:cNvSpPr>
          <p:nvPr/>
        </p:nvSpPr>
        <p:spPr bwMode="auto">
          <a:xfrm>
            <a:off x="1032144" y="2885274"/>
            <a:ext cx="10220355" cy="3393715"/>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本地</a:t>
            </a:r>
            <a:r>
              <a:rPr kumimoji="1" lang="zh-CN" altLang="zh-CN" dirty="0">
                <a:solidFill>
                  <a:srgbClr val="C00000"/>
                </a:solidFill>
              </a:rPr>
              <a:t>緩存中毒攻擊</a:t>
            </a:r>
            <a:endParaRPr kumimoji="1" lang="zh-CN" altLang="en-US" dirty="0">
              <a:solidFill>
                <a:srgbClr val="C00000"/>
              </a:solidFill>
            </a:endParaRP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2" name="Rectangle 2">
            <a:extLst>
              <a:ext uri="{FF2B5EF4-FFF2-40B4-BE49-F238E27FC236}">
                <a16:creationId xmlns:a16="http://schemas.microsoft.com/office/drawing/2014/main" id="{50E33959-EC61-4A2C-BA41-AB900E31EE21}"/>
              </a:ext>
            </a:extLst>
          </p:cNvPr>
          <p:cNvSpPr>
            <a:spLocks noChangeArrowheads="1"/>
          </p:cNvSpPr>
          <p:nvPr/>
        </p:nvSpPr>
        <p:spPr bwMode="auto">
          <a:xfrm>
            <a:off x="2059307" y="132863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33" name="文本框 32">
            <a:extLst>
              <a:ext uri="{FF2B5EF4-FFF2-40B4-BE49-F238E27FC236}">
                <a16:creationId xmlns:a16="http://schemas.microsoft.com/office/drawing/2014/main" id="{FF31DF50-4393-4AF7-89E5-52F8C4590012}"/>
              </a:ext>
            </a:extLst>
          </p:cNvPr>
          <p:cNvSpPr txBox="1"/>
          <p:nvPr/>
        </p:nvSpPr>
        <p:spPr>
          <a:xfrm>
            <a:off x="1032144" y="6064676"/>
            <a:ext cx="10220355" cy="461665"/>
          </a:xfrm>
          <a:prstGeom prst="rect">
            <a:avLst/>
          </a:prstGeom>
          <a:solidFill>
            <a:srgbClr val="00B0F0"/>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srgbClr val="FFFFFF">
                    <a:lumMod val="95000"/>
                  </a:srgbClr>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本地</a:t>
            </a:r>
            <a:r>
              <a:rPr kumimoji="0" lang="en-US" altLang="zh-CN" sz="2400" b="1" i="0" u="none" strike="noStrike" kern="1200" cap="none" spc="0" normalizeH="0" baseline="0" noProof="0" dirty="0">
                <a:ln>
                  <a:noFill/>
                </a:ln>
                <a:solidFill>
                  <a:srgbClr val="FFFFFF">
                    <a:lumMod val="95000"/>
                  </a:srgbClr>
                </a:solidFill>
                <a:effectLst/>
                <a:uLnTx/>
                <a:uFillTx/>
                <a:latin typeface="Microsoft YaHei" panose="020B0503020204020204" pitchFamily="34" charset="-122"/>
                <a:ea typeface="Microsoft YaHei" panose="020B0503020204020204" pitchFamily="34" charset="-122"/>
                <a:cs typeface="+mn-cs"/>
              </a:rPr>
              <a:t>DNS</a:t>
            </a:r>
            <a:r>
              <a:rPr kumimoji="0" lang="zh-CN" altLang="zh-CN" sz="2400" b="1" i="0" u="none" strike="noStrike" kern="1200" cap="none" spc="0" normalizeH="0" baseline="0" noProof="0" dirty="0">
                <a:ln>
                  <a:noFill/>
                </a:ln>
                <a:solidFill>
                  <a:srgbClr val="FFFFFF">
                    <a:lumMod val="95000"/>
                  </a:srgbClr>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緩存中毒示意圖</a:t>
            </a:r>
            <a:endParaRPr kumimoji="0" lang="zh-CN" altLang="en-US" sz="2400" b="1" i="0" u="none" strike="noStrike" kern="1200" cap="none" spc="0" normalizeH="0" baseline="0" noProof="0" dirty="0">
              <a:ln>
                <a:noFill/>
              </a:ln>
              <a:solidFill>
                <a:srgbClr val="FFFFFF">
                  <a:lumMod val="95000"/>
                </a:srgbClr>
              </a:solidFill>
              <a:effectLst/>
              <a:uLnTx/>
              <a:uFillTx/>
              <a:latin typeface="Microsoft YaHei" panose="020B0503020204020204" pitchFamily="34" charset="-122"/>
              <a:ea typeface="Microsoft YaHei" panose="020B0503020204020204" pitchFamily="34" charset="-122"/>
              <a:cs typeface="+mn-cs"/>
            </a:endParaRPr>
          </a:p>
        </p:txBody>
      </p:sp>
      <p:sp>
        <p:nvSpPr>
          <p:cNvPr id="35" name="文本框 34">
            <a:extLst>
              <a:ext uri="{FF2B5EF4-FFF2-40B4-BE49-F238E27FC236}">
                <a16:creationId xmlns:a16="http://schemas.microsoft.com/office/drawing/2014/main" id="{82880CDE-3BB9-48EA-8045-85331316B198}"/>
              </a:ext>
            </a:extLst>
          </p:cNvPr>
          <p:cNvSpPr txBox="1"/>
          <p:nvPr/>
        </p:nvSpPr>
        <p:spPr>
          <a:xfrm>
            <a:off x="1218975" y="1237438"/>
            <a:ext cx="10033524" cy="1311128"/>
          </a:xfrm>
          <a:prstGeom prst="rect">
            <a:avLst/>
          </a:prstGeom>
          <a:noFill/>
        </p:spPr>
        <p:txBody>
          <a:bodyPr wrap="square">
            <a:spAutoFit/>
          </a:bodyPr>
          <a:lstStyle/>
          <a:p>
            <a:pPr marL="342900" marR="0" lvl="0" indent="-342900" algn="just"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僞造</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回復，攻擊者需要知道請求中的一些參數，如</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UDP</a:t>
            </a: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源端口號、請求</a:t>
            </a:r>
            <a:r>
              <a:rPr lang="zh-CN" altLang="en-US" sz="22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事務</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ID</a:t>
            </a: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、請求問題等</a:t>
            </a:r>
            <a:endPar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由于</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UDP</a:t>
            </a: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包沒有加密，攻擊者可以</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在局域網</a:t>
            </a: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直接捕獲</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幷解析</a:t>
            </a: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請求</a:t>
            </a:r>
            <a:endPar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灯片编号占位符 7">
            <a:extLst>
              <a:ext uri="{FF2B5EF4-FFF2-40B4-BE49-F238E27FC236}">
                <a16:creationId xmlns:a16="http://schemas.microsoft.com/office/drawing/2014/main" id="{63A73653-D781-4532-91DD-679DE8A6B0F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pic>
        <p:nvPicPr>
          <p:cNvPr id="14" name="Picture 13">
            <a:extLst>
              <a:ext uri="{FF2B5EF4-FFF2-40B4-BE49-F238E27FC236}">
                <a16:creationId xmlns:a16="http://schemas.microsoft.com/office/drawing/2014/main" id="{0DF3F174-FDD5-56B9-9B82-00CBF3B3DE94}"/>
              </a:ext>
            </a:extLst>
          </p:cNvPr>
          <p:cNvPicPr>
            <a:picLocks noChangeAspect="1"/>
          </p:cNvPicPr>
          <p:nvPr/>
        </p:nvPicPr>
        <p:blipFill>
          <a:blip r:embed="rId3"/>
          <a:stretch>
            <a:fillRect/>
          </a:stretch>
        </p:blipFill>
        <p:spPr>
          <a:xfrm>
            <a:off x="1544615" y="3390016"/>
            <a:ext cx="9395946" cy="2395045"/>
          </a:xfrm>
          <a:prstGeom prst="rect">
            <a:avLst/>
          </a:prstGeom>
        </p:spPr>
      </p:pic>
    </p:spTree>
    <p:extLst>
      <p:ext uri="{BB962C8B-B14F-4D97-AF65-F5344CB8AC3E}">
        <p14:creationId xmlns:p14="http://schemas.microsoft.com/office/powerpoint/2010/main" val="14614430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915DD3BD-A3F6-4E12-A5C4-D713346FABBE}"/>
              </a:ext>
            </a:extLst>
          </p:cNvPr>
          <p:cNvSpPr>
            <a:spLocks/>
          </p:cNvSpPr>
          <p:nvPr/>
        </p:nvSpPr>
        <p:spPr bwMode="auto">
          <a:xfrm>
            <a:off x="3263181" y="4135172"/>
            <a:ext cx="8799383" cy="1726822"/>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20" name="矩形 19">
            <a:extLst>
              <a:ext uri="{FF2B5EF4-FFF2-40B4-BE49-F238E27FC236}">
                <a16:creationId xmlns:a16="http://schemas.microsoft.com/office/drawing/2014/main" id="{A18D6D60-D409-4989-815B-E1DF9E050FF8}"/>
              </a:ext>
            </a:extLst>
          </p:cNvPr>
          <p:cNvSpPr>
            <a:spLocks/>
          </p:cNvSpPr>
          <p:nvPr/>
        </p:nvSpPr>
        <p:spPr bwMode="auto">
          <a:xfrm>
            <a:off x="3263181" y="1513298"/>
            <a:ext cx="8799383" cy="1640061"/>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25" name="矩形: 圆角 24">
            <a:extLst>
              <a:ext uri="{FF2B5EF4-FFF2-40B4-BE49-F238E27FC236}">
                <a16:creationId xmlns:a16="http://schemas.microsoft.com/office/drawing/2014/main" id="{67348450-955B-46DE-9D78-2865776319D6}"/>
              </a:ext>
            </a:extLst>
          </p:cNvPr>
          <p:cNvSpPr/>
          <p:nvPr/>
        </p:nvSpPr>
        <p:spPr>
          <a:xfrm>
            <a:off x="263047" y="4221933"/>
            <a:ext cx="2768252" cy="1640061"/>
          </a:xfrm>
          <a:prstGeom prst="roundRect">
            <a:avLst>
              <a:gd name="adj" fmla="val 9029"/>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6" name="矩形: 圆角 5">
            <a:extLst>
              <a:ext uri="{FF2B5EF4-FFF2-40B4-BE49-F238E27FC236}">
                <a16:creationId xmlns:a16="http://schemas.microsoft.com/office/drawing/2014/main" id="{22027900-BF41-4E8C-A978-3CD33B4F873A}"/>
              </a:ext>
            </a:extLst>
          </p:cNvPr>
          <p:cNvSpPr/>
          <p:nvPr/>
        </p:nvSpPr>
        <p:spPr>
          <a:xfrm>
            <a:off x="263047" y="1513298"/>
            <a:ext cx="2768252" cy="1640061"/>
          </a:xfrm>
          <a:prstGeom prst="roundRect">
            <a:avLst>
              <a:gd name="adj" fmla="val 9029"/>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本地</a:t>
            </a:r>
            <a:r>
              <a:rPr kumimoji="1" lang="zh-CN" altLang="zh-CN" dirty="0">
                <a:solidFill>
                  <a:srgbClr val="C00000"/>
                </a:solidFill>
              </a:rPr>
              <a:t>緩存中毒攻擊</a:t>
            </a:r>
            <a:endParaRPr kumimoji="1" lang="zh-CN" altLang="en-US" dirty="0">
              <a:solidFill>
                <a:srgbClr val="C00000"/>
              </a:solidFill>
            </a:endParaRP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2" name="Rectangle 2">
            <a:extLst>
              <a:ext uri="{FF2B5EF4-FFF2-40B4-BE49-F238E27FC236}">
                <a16:creationId xmlns:a16="http://schemas.microsoft.com/office/drawing/2014/main" id="{50E33959-EC61-4A2C-BA41-AB900E31EE21}"/>
              </a:ext>
            </a:extLst>
          </p:cNvPr>
          <p:cNvSpPr>
            <a:spLocks noChangeArrowheads="1"/>
          </p:cNvSpPr>
          <p:nvPr/>
        </p:nvSpPr>
        <p:spPr bwMode="auto">
          <a:xfrm>
            <a:off x="1795462" y="138733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35" name="文本框 34">
            <a:extLst>
              <a:ext uri="{FF2B5EF4-FFF2-40B4-BE49-F238E27FC236}">
                <a16:creationId xmlns:a16="http://schemas.microsoft.com/office/drawing/2014/main" id="{82880CDE-3BB9-48EA-8045-85331316B198}"/>
              </a:ext>
            </a:extLst>
          </p:cNvPr>
          <p:cNvSpPr txBox="1"/>
          <p:nvPr/>
        </p:nvSpPr>
        <p:spPr>
          <a:xfrm>
            <a:off x="3263181" y="2174183"/>
            <a:ext cx="8520371" cy="853567"/>
          </a:xfrm>
          <a:prstGeom prst="rect">
            <a:avLst/>
          </a:prstGeom>
          <a:noFill/>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在僞造回復中，把主機名映射到攻擊地址，告訴本地</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服務器域名對應地址是攻擊者的計算機</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a:extLst>
              <a:ext uri="{FF2B5EF4-FFF2-40B4-BE49-F238E27FC236}">
                <a16:creationId xmlns:a16="http://schemas.microsoft.com/office/drawing/2014/main" id="{0C8CBC4D-28B9-4D2E-ACFF-A6F16148F27C}"/>
              </a:ext>
            </a:extLst>
          </p:cNvPr>
          <p:cNvSpPr txBox="1"/>
          <p:nvPr/>
        </p:nvSpPr>
        <p:spPr>
          <a:xfrm>
            <a:off x="3435869" y="1513298"/>
            <a:ext cx="973029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13" name="文本框 12">
            <a:extLst>
              <a:ext uri="{FF2B5EF4-FFF2-40B4-BE49-F238E27FC236}">
                <a16:creationId xmlns:a16="http://schemas.microsoft.com/office/drawing/2014/main" id="{86444170-A40E-4540-8616-731E81DF540B}"/>
              </a:ext>
            </a:extLst>
          </p:cNvPr>
          <p:cNvSpPr txBox="1"/>
          <p:nvPr/>
        </p:nvSpPr>
        <p:spPr>
          <a:xfrm>
            <a:off x="3263181" y="4260143"/>
            <a:ext cx="9730292"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針對授權部分攻擊</a:t>
            </a:r>
            <a:r>
              <a:rPr kumimoji="0" lang="zh-CN" altLang="en-US" sz="2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，影響面：整個域</a:t>
            </a:r>
          </a:p>
        </p:txBody>
      </p:sp>
      <p:sp>
        <p:nvSpPr>
          <p:cNvPr id="14" name="文本框 13">
            <a:extLst>
              <a:ext uri="{FF2B5EF4-FFF2-40B4-BE49-F238E27FC236}">
                <a16:creationId xmlns:a16="http://schemas.microsoft.com/office/drawing/2014/main" id="{CFEBBFD6-C239-4ED2-9853-F82AD312B0F0}"/>
              </a:ext>
            </a:extLst>
          </p:cNvPr>
          <p:cNvSpPr txBox="1"/>
          <p:nvPr/>
        </p:nvSpPr>
        <p:spPr>
          <a:xfrm>
            <a:off x="3263181" y="4857812"/>
            <a:ext cx="8656735" cy="853567"/>
          </a:xfrm>
          <a:prstGeom prst="rect">
            <a:avLst/>
          </a:prstGeom>
          <a:noFill/>
        </p:spPr>
        <p:txBody>
          <a:bodyPr wrap="square">
            <a:spAutoFit/>
          </a:bodyPr>
          <a:lstStyle>
            <a:defPPr>
              <a:defRPr lang="zh-CN"/>
            </a:defPPr>
            <a:lvl1pPr algn="just">
              <a:lnSpc>
                <a:spcPct val="130000"/>
              </a:lnSpc>
              <a:defRPr sz="2400">
                <a:latin typeface="微软雅黑" panose="020B0503020204020204" pitchFamily="34" charset="-122"/>
                <a:ea typeface="微软雅黑" panose="020B0503020204020204" pitchFamily="34" charset="-122"/>
                <a:cs typeface="Times New Roman" panose="02020603050405020304" pitchFamily="18" charset="0"/>
              </a:defRPr>
            </a:lvl1p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將</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ns.attack.com</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放在授權部分，查詢目標域內任何一個主機名時，本地</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服務器把請求發給</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ns.attack.com</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8" name="组合 7">
            <a:extLst>
              <a:ext uri="{FF2B5EF4-FFF2-40B4-BE49-F238E27FC236}">
                <a16:creationId xmlns:a16="http://schemas.microsoft.com/office/drawing/2014/main" id="{FD2BD51B-02E9-4476-928C-22A1451BD7A5}"/>
              </a:ext>
            </a:extLst>
          </p:cNvPr>
          <p:cNvGrpSpPr/>
          <p:nvPr/>
        </p:nvGrpSpPr>
        <p:grpSpPr>
          <a:xfrm>
            <a:off x="819887" y="1807085"/>
            <a:ext cx="1742244" cy="1069580"/>
            <a:chOff x="975904" y="2173692"/>
            <a:chExt cx="1090692" cy="615925"/>
          </a:xfrm>
        </p:grpSpPr>
        <p:pic>
          <p:nvPicPr>
            <p:cNvPr id="12" name="图片 11">
              <a:extLst>
                <a:ext uri="{FF2B5EF4-FFF2-40B4-BE49-F238E27FC236}">
                  <a16:creationId xmlns:a16="http://schemas.microsoft.com/office/drawing/2014/main" id="{0C0B657B-5C54-4CF7-BF33-B43CF0FF5D02}"/>
                </a:ext>
              </a:extLst>
            </p:cNvPr>
            <p:cNvPicPr>
              <a:picLocks noChangeAspect="1"/>
            </p:cNvPicPr>
            <p:nvPr/>
          </p:nvPicPr>
          <p:blipFill>
            <a:blip r:embed="rId3"/>
            <a:stretch>
              <a:fillRect/>
            </a:stretch>
          </p:blipFill>
          <p:spPr>
            <a:xfrm>
              <a:off x="1523671" y="2265742"/>
              <a:ext cx="542925" cy="523875"/>
            </a:xfrm>
            <a:prstGeom prst="rect">
              <a:avLst/>
            </a:prstGeom>
          </p:spPr>
        </p:pic>
        <p:pic>
          <p:nvPicPr>
            <p:cNvPr id="48" name="图片 47">
              <a:extLst>
                <a:ext uri="{FF2B5EF4-FFF2-40B4-BE49-F238E27FC236}">
                  <a16:creationId xmlns:a16="http://schemas.microsoft.com/office/drawing/2014/main" id="{A77F55F6-BDAC-4F9B-8BDB-0C86E89161CC}"/>
                </a:ext>
              </a:extLst>
            </p:cNvPr>
            <p:cNvPicPr>
              <a:picLocks noChangeAspect="1"/>
            </p:cNvPicPr>
            <p:nvPr/>
          </p:nvPicPr>
          <p:blipFill>
            <a:blip r:embed="rId4"/>
            <a:stretch>
              <a:fillRect/>
            </a:stretch>
          </p:blipFill>
          <p:spPr>
            <a:xfrm>
              <a:off x="975904" y="2173692"/>
              <a:ext cx="447675" cy="609600"/>
            </a:xfrm>
            <a:prstGeom prst="rect">
              <a:avLst/>
            </a:prstGeom>
          </p:spPr>
        </p:pic>
      </p:grpSp>
      <p:pic>
        <p:nvPicPr>
          <p:cNvPr id="50" name="图片 49">
            <a:extLst>
              <a:ext uri="{FF2B5EF4-FFF2-40B4-BE49-F238E27FC236}">
                <a16:creationId xmlns:a16="http://schemas.microsoft.com/office/drawing/2014/main" id="{B0846D81-27C9-4DAC-B859-3DCD73FE24E5}"/>
              </a:ext>
            </a:extLst>
          </p:cNvPr>
          <p:cNvPicPr>
            <a:picLocks noChangeAspect="1"/>
          </p:cNvPicPr>
          <p:nvPr/>
        </p:nvPicPr>
        <p:blipFill>
          <a:blip r:embed="rId5"/>
          <a:stretch>
            <a:fillRect/>
          </a:stretch>
        </p:blipFill>
        <p:spPr>
          <a:xfrm>
            <a:off x="729995" y="4418653"/>
            <a:ext cx="1772742" cy="1383983"/>
          </a:xfrm>
          <a:prstGeom prst="rect">
            <a:avLst/>
          </a:prstGeom>
        </p:spPr>
      </p:pic>
      <p:sp>
        <p:nvSpPr>
          <p:cNvPr id="52" name="文本框 20">
            <a:extLst>
              <a:ext uri="{FF2B5EF4-FFF2-40B4-BE49-F238E27FC236}">
                <a16:creationId xmlns:a16="http://schemas.microsoft.com/office/drawing/2014/main" id="{BE5DE8B4-1ACB-4F7A-AA56-6AEFA4385848}"/>
              </a:ext>
            </a:extLst>
          </p:cNvPr>
          <p:cNvSpPr txBox="1"/>
          <p:nvPr/>
        </p:nvSpPr>
        <p:spPr>
          <a:xfrm>
            <a:off x="3349235" y="1584133"/>
            <a:ext cx="7712270" cy="438582"/>
          </a:xfrm>
          <a:prstGeom prst="rect">
            <a:avLst/>
          </a:prstGeom>
          <a:noFill/>
        </p:spPr>
        <p:txBody>
          <a:bodyPr wrap="squar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只針對回復部分僞造，影響面：一個主機名</a:t>
            </a:r>
          </a:p>
        </p:txBody>
      </p:sp>
      <p:sp>
        <p:nvSpPr>
          <p:cNvPr id="9" name="灯片编号占位符 8">
            <a:extLst>
              <a:ext uri="{FF2B5EF4-FFF2-40B4-BE49-F238E27FC236}">
                <a16:creationId xmlns:a16="http://schemas.microsoft.com/office/drawing/2014/main" id="{F0E1192A-FD19-4219-9389-1F496BFC7D7C}"/>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1084538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A647C32-6A5E-FE46-06E7-ADBC2E9AD62D}"/>
              </a:ext>
            </a:extLst>
          </p:cNvPr>
          <p:cNvPicPr>
            <a:picLocks noChangeAspect="1"/>
          </p:cNvPicPr>
          <p:nvPr/>
        </p:nvPicPr>
        <p:blipFill>
          <a:blip r:embed="rId3"/>
          <a:stretch>
            <a:fillRect/>
          </a:stretch>
        </p:blipFill>
        <p:spPr>
          <a:xfrm>
            <a:off x="872653" y="2125654"/>
            <a:ext cx="7928446" cy="4447665"/>
          </a:xfrm>
          <a:prstGeom prst="rect">
            <a:avLst/>
          </a:prstGeom>
        </p:spPr>
      </p:pic>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本地</a:t>
            </a:r>
            <a:r>
              <a:rPr kumimoji="1" lang="zh-CN" altLang="zh-CN" dirty="0">
                <a:solidFill>
                  <a:srgbClr val="C00000"/>
                </a:solidFill>
              </a:rPr>
              <a:t>緩存中毒攻擊</a:t>
            </a:r>
            <a:endParaRPr kumimoji="1" lang="zh-CN" altLang="en-US" dirty="0">
              <a:solidFill>
                <a:srgbClr val="C00000"/>
              </a:solidFill>
            </a:endParaRP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11" name="文本框 10">
            <a:extLst>
              <a:ext uri="{FF2B5EF4-FFF2-40B4-BE49-F238E27FC236}">
                <a16:creationId xmlns:a16="http://schemas.microsoft.com/office/drawing/2014/main" id="{0C8CBC4D-28B9-4D2E-ACFF-A6F16148F27C}"/>
              </a:ext>
            </a:extLst>
          </p:cNvPr>
          <p:cNvSpPr txBox="1"/>
          <p:nvPr/>
        </p:nvSpPr>
        <p:spPr>
          <a:xfrm>
            <a:off x="3435869" y="1513298"/>
            <a:ext cx="973029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22" name="文本框 21">
            <a:extLst>
              <a:ext uri="{FF2B5EF4-FFF2-40B4-BE49-F238E27FC236}">
                <a16:creationId xmlns:a16="http://schemas.microsoft.com/office/drawing/2014/main" id="{F89081C4-771E-401D-8505-9C8EB7C1950D}"/>
              </a:ext>
            </a:extLst>
          </p:cNvPr>
          <p:cNvSpPr txBox="1"/>
          <p:nvPr/>
        </p:nvSpPr>
        <p:spPr>
          <a:xfrm>
            <a:off x="9119026" y="4829481"/>
            <a:ext cx="3072974" cy="1005788"/>
          </a:xfrm>
          <a:prstGeom prst="rect">
            <a:avLst/>
          </a:prstGeom>
          <a:noFill/>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查詢用戶從本地</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服務器得到惡意回復</a:t>
            </a:r>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矩形 9">
            <a:extLst>
              <a:ext uri="{FF2B5EF4-FFF2-40B4-BE49-F238E27FC236}">
                <a16:creationId xmlns:a16="http://schemas.microsoft.com/office/drawing/2014/main" id="{98E592E8-FA73-4637-8F34-41D557F47D17}"/>
              </a:ext>
            </a:extLst>
          </p:cNvPr>
          <p:cNvSpPr/>
          <p:nvPr/>
        </p:nvSpPr>
        <p:spPr>
          <a:xfrm>
            <a:off x="989704" y="4882278"/>
            <a:ext cx="7598711" cy="6724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15" name="箭头: 左 14">
            <a:extLst>
              <a:ext uri="{FF2B5EF4-FFF2-40B4-BE49-F238E27FC236}">
                <a16:creationId xmlns:a16="http://schemas.microsoft.com/office/drawing/2014/main" id="{CD891A3F-C6A3-4F8E-B109-D8CF02320DD6}"/>
              </a:ext>
            </a:extLst>
          </p:cNvPr>
          <p:cNvSpPr/>
          <p:nvPr/>
        </p:nvSpPr>
        <p:spPr>
          <a:xfrm>
            <a:off x="8801099" y="5105125"/>
            <a:ext cx="224567" cy="205732"/>
          </a:xfrm>
          <a:prstGeom prst="lef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2" name="灯片编号占位符 1">
            <a:extLst>
              <a:ext uri="{FF2B5EF4-FFF2-40B4-BE49-F238E27FC236}">
                <a16:creationId xmlns:a16="http://schemas.microsoft.com/office/drawing/2014/main" id="{E200302B-8D3F-4A5C-ADE0-FF1ADB65C2D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
        <p:nvSpPr>
          <p:cNvPr id="6" name="矩形: 圆角 22">
            <a:extLst>
              <a:ext uri="{FF2B5EF4-FFF2-40B4-BE49-F238E27FC236}">
                <a16:creationId xmlns:a16="http://schemas.microsoft.com/office/drawing/2014/main" id="{233E350B-6526-4E87-E8AE-833DC463BCAD}"/>
              </a:ext>
            </a:extLst>
          </p:cNvPr>
          <p:cNvSpPr/>
          <p:nvPr/>
        </p:nvSpPr>
        <p:spPr>
          <a:xfrm>
            <a:off x="920975" y="1038195"/>
            <a:ext cx="9730291" cy="1010904"/>
          </a:xfrm>
          <a:prstGeom prst="roundRect">
            <a:avLst>
              <a:gd name="adj" fmla="val 0"/>
            </a:avLst>
          </a:prstGeom>
          <a:solidFill>
            <a:schemeClr val="accent3">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9" name="文本框 8">
            <a:extLst>
              <a:ext uri="{FF2B5EF4-FFF2-40B4-BE49-F238E27FC236}">
                <a16:creationId xmlns:a16="http://schemas.microsoft.com/office/drawing/2014/main" id="{63D455DE-27BC-DBDF-068E-784F00928D9E}"/>
              </a:ext>
            </a:extLst>
          </p:cNvPr>
          <p:cNvSpPr txBox="1"/>
          <p:nvPr/>
        </p:nvSpPr>
        <p:spPr>
          <a:xfrm>
            <a:off x="1013341" y="1298108"/>
            <a:ext cx="9764230" cy="453457"/>
          </a:xfrm>
          <a:prstGeom prst="rect">
            <a:avLst/>
          </a:prstGeom>
          <a:noFill/>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由于能够嗅探到請求數據包，無需猜測端口號等信息，可采用</a:t>
            </a:r>
            <a:r>
              <a:rPr kumimoji="0" lang="en-US" altLang="zh-CN" sz="20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scapy</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組裝僞造數據包</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0430449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89675232-E8A1-4EEF-AFD9-1E2783E96669}"/>
              </a:ext>
            </a:extLst>
          </p:cNvPr>
          <p:cNvSpPr>
            <a:spLocks/>
          </p:cNvSpPr>
          <p:nvPr/>
        </p:nvSpPr>
        <p:spPr bwMode="auto">
          <a:xfrm>
            <a:off x="719879" y="908003"/>
            <a:ext cx="11173217" cy="1064540"/>
          </a:xfrm>
          <a:prstGeom prst="rect">
            <a:avLst/>
          </a:prstGeom>
          <a:solidFill>
            <a:schemeClr val="accent3">
              <a:lumMod val="20000"/>
              <a:lumOff val="80000"/>
            </a:schemeClr>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kumimoji="0" lang="en-US" sz="1600" kern="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5" name="矩形 14">
            <a:extLst>
              <a:ext uri="{FF2B5EF4-FFF2-40B4-BE49-F238E27FC236}">
                <a16:creationId xmlns:a16="http://schemas.microsoft.com/office/drawing/2014/main" id="{E2C99F86-B0A6-4943-9B6C-CCCE226A5EDB}"/>
              </a:ext>
            </a:extLst>
          </p:cNvPr>
          <p:cNvSpPr>
            <a:spLocks/>
          </p:cNvSpPr>
          <p:nvPr/>
        </p:nvSpPr>
        <p:spPr bwMode="auto">
          <a:xfrm>
            <a:off x="719879" y="2276401"/>
            <a:ext cx="11173217" cy="3849089"/>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5000"/>
              </a:lnSpc>
              <a:defRPr/>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遠程</a:t>
            </a:r>
            <a:r>
              <a:rPr kumimoji="1" lang="zh-CN" altLang="zh-CN" dirty="0">
                <a:solidFill>
                  <a:srgbClr val="C00000"/>
                </a:solidFill>
              </a:rPr>
              <a:t>緩存中毒攻擊</a:t>
            </a:r>
            <a:r>
              <a:rPr kumimoji="1" lang="zh-CN" altLang="en-US" dirty="0">
                <a:solidFill>
                  <a:srgbClr val="C00000"/>
                </a:solidFill>
              </a:rPr>
              <a:t>：</a:t>
            </a:r>
            <a:r>
              <a:rPr kumimoji="1" lang="en-US" altLang="zh-CN" dirty="0">
                <a:solidFill>
                  <a:srgbClr val="C00000"/>
                </a:solidFill>
              </a:rPr>
              <a:t>Kaminsky</a:t>
            </a:r>
            <a:r>
              <a:rPr kumimoji="1" lang="zh-CN" altLang="en-US" dirty="0">
                <a:solidFill>
                  <a:srgbClr val="C00000"/>
                </a:solidFill>
              </a:rPr>
              <a:t>攻擊</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151672"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2">
            <a:extLst>
              <a:ext uri="{FF2B5EF4-FFF2-40B4-BE49-F238E27FC236}">
                <a16:creationId xmlns:a16="http://schemas.microsoft.com/office/drawing/2014/main" id="{50E33959-EC61-4A2C-BA41-AB900E31EE21}"/>
              </a:ext>
            </a:extLst>
          </p:cNvPr>
          <p:cNvSpPr>
            <a:spLocks noChangeArrowheads="1"/>
          </p:cNvSpPr>
          <p:nvPr/>
        </p:nvSpPr>
        <p:spPr bwMode="auto">
          <a:xfrm>
            <a:off x="2059307" y="132863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文本框 11">
            <a:extLst>
              <a:ext uri="{FF2B5EF4-FFF2-40B4-BE49-F238E27FC236}">
                <a16:creationId xmlns:a16="http://schemas.microsoft.com/office/drawing/2014/main" id="{78CBB0F2-483F-402D-8255-6068B20DA568}"/>
              </a:ext>
            </a:extLst>
          </p:cNvPr>
          <p:cNvSpPr txBox="1"/>
          <p:nvPr/>
        </p:nvSpPr>
        <p:spPr>
          <a:xfrm>
            <a:off x="830317" y="937379"/>
            <a:ext cx="10943166" cy="1005788"/>
          </a:xfrm>
          <a:prstGeom prst="rect">
            <a:avLst/>
          </a:prstGeom>
          <a:noFill/>
        </p:spPr>
        <p:txBody>
          <a:bodyPr wrap="square">
            <a:spAutoFit/>
          </a:bodyPr>
          <a:lstStyle/>
          <a:p>
            <a:pPr>
              <a:lnSpc>
                <a:spcPct val="130000"/>
              </a:lnSpc>
            </a:pPr>
            <a:r>
              <a:rPr lang="en-US" altLang="zh-CN" sz="2400" dirty="0">
                <a:latin typeface="微软雅黑" panose="020B0503020204020204" pitchFamily="34" charset="-122"/>
                <a:ea typeface="微软雅黑" panose="020B0503020204020204" pitchFamily="34" charset="-122"/>
              </a:rPr>
              <a:t>2008</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7</a:t>
            </a:r>
            <a:r>
              <a:rPr lang="zh-CN" altLang="en-US" sz="2400" dirty="0">
                <a:latin typeface="微软雅黑" panose="020B0503020204020204" pitchFamily="34" charset="-122"/>
                <a:ea typeface="微软雅黑" panose="020B0503020204020204" pitchFamily="34" charset="-122"/>
              </a:rPr>
              <a:t>月，</a:t>
            </a:r>
            <a:r>
              <a:rPr lang="en-US" altLang="zh-CN" sz="2400" dirty="0">
                <a:latin typeface="微软雅黑" panose="020B0503020204020204" pitchFamily="34" charset="-122"/>
                <a:ea typeface="微软雅黑" panose="020B0503020204020204" pitchFamily="34" charset="-122"/>
              </a:rPr>
              <a:t>Dan Kaminsky</a:t>
            </a:r>
            <a:r>
              <a:rPr lang="zh-CN" altLang="en-US" sz="2400" dirty="0">
                <a:latin typeface="微软雅黑" panose="020B0503020204020204" pitchFamily="34" charset="-122"/>
                <a:ea typeface="微软雅黑" panose="020B0503020204020204" pitchFamily="34" charset="-122"/>
              </a:rPr>
              <a:t>精心構造了緩存投毒攻擊，有專家認爲這可能是互聯網歷史上最大的一次</a:t>
            </a:r>
            <a:r>
              <a:rPr lang="en-US" altLang="zh-CN" sz="2400" dirty="0">
                <a:latin typeface="微软雅黑" panose="020B0503020204020204" pitchFamily="34" charset="-122"/>
                <a:ea typeface="微软雅黑" panose="020B0503020204020204" pitchFamily="34" charset="-122"/>
              </a:rPr>
              <a:t>DNS</a:t>
            </a:r>
            <a:r>
              <a:rPr lang="zh-CN" altLang="en-US" sz="2400" dirty="0">
                <a:latin typeface="微软雅黑" panose="020B0503020204020204" pitchFamily="34" charset="-122"/>
                <a:ea typeface="微软雅黑" panose="020B0503020204020204" pitchFamily="34" charset="-122"/>
              </a:rPr>
              <a:t>安全事件</a:t>
            </a:r>
          </a:p>
        </p:txBody>
      </p:sp>
      <p:pic>
        <p:nvPicPr>
          <p:cNvPr id="9" name="图片 8">
            <a:extLst>
              <a:ext uri="{FF2B5EF4-FFF2-40B4-BE49-F238E27FC236}">
                <a16:creationId xmlns:a16="http://schemas.microsoft.com/office/drawing/2014/main" id="{10081769-A359-4D4B-93CD-5453945CB29E}"/>
              </a:ext>
            </a:extLst>
          </p:cNvPr>
          <p:cNvPicPr>
            <a:picLocks noChangeAspect="1"/>
          </p:cNvPicPr>
          <p:nvPr/>
        </p:nvPicPr>
        <p:blipFill>
          <a:blip r:embed="rId3"/>
          <a:stretch>
            <a:fillRect/>
          </a:stretch>
        </p:blipFill>
        <p:spPr>
          <a:xfrm>
            <a:off x="1131376" y="2479179"/>
            <a:ext cx="4879190" cy="3509007"/>
          </a:xfrm>
          <a:prstGeom prst="rect">
            <a:avLst/>
          </a:prstGeom>
        </p:spPr>
      </p:pic>
      <p:pic>
        <p:nvPicPr>
          <p:cNvPr id="3074" name="Picture 2" descr="查看源图像">
            <a:extLst>
              <a:ext uri="{FF2B5EF4-FFF2-40B4-BE49-F238E27FC236}">
                <a16:creationId xmlns:a16="http://schemas.microsoft.com/office/drawing/2014/main" id="{F93BCAB0-2320-4B24-91FB-55C8149FED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0091" y="2479179"/>
            <a:ext cx="5503392" cy="3219828"/>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5">
            <a:extLst>
              <a:ext uri="{FF2B5EF4-FFF2-40B4-BE49-F238E27FC236}">
                <a16:creationId xmlns:a16="http://schemas.microsoft.com/office/drawing/2014/main" id="{21FEF1DE-35DF-4386-BD9E-DF8EEF18B9B1}"/>
              </a:ext>
            </a:extLst>
          </p:cNvPr>
          <p:cNvSpPr>
            <a:spLocks noGrp="1"/>
          </p:cNvSpPr>
          <p:nvPr>
            <p:ph type="sldNum" sz="quarter" idx="4"/>
          </p:nvPr>
        </p:nvSpPr>
        <p:spPr/>
        <p:txBody>
          <a:bodyPr/>
          <a:lstStyle/>
          <a:p>
            <a:fld id="{015CE2E0-6DDF-4FAE-9DBA-F1C48BF5C133}" type="slidenum">
              <a:rPr lang="zh-CN" altLang="en-US" smtClean="0"/>
              <a:t>31</a:t>
            </a:fld>
            <a:endParaRPr lang="zh-CN" altLang="en-US" dirty="0"/>
          </a:p>
        </p:txBody>
      </p:sp>
    </p:spTree>
    <p:extLst>
      <p:ext uri="{BB962C8B-B14F-4D97-AF65-F5344CB8AC3E}">
        <p14:creationId xmlns:p14="http://schemas.microsoft.com/office/powerpoint/2010/main" val="1718647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53">
            <a:extLst>
              <a:ext uri="{FF2B5EF4-FFF2-40B4-BE49-F238E27FC236}">
                <a16:creationId xmlns:a16="http://schemas.microsoft.com/office/drawing/2014/main" id="{8A23DFEF-9A12-4403-9036-9AFEBF78E796}"/>
              </a:ext>
            </a:extLst>
          </p:cNvPr>
          <p:cNvSpPr>
            <a:spLocks/>
          </p:cNvSpPr>
          <p:nvPr/>
        </p:nvSpPr>
        <p:spPr bwMode="auto">
          <a:xfrm>
            <a:off x="6460261" y="2117666"/>
            <a:ext cx="5416067" cy="4405892"/>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遠程</a:t>
            </a:r>
            <a:r>
              <a:rPr kumimoji="1" lang="zh-CN" altLang="zh-CN" dirty="0">
                <a:solidFill>
                  <a:srgbClr val="C00000"/>
                </a:solidFill>
              </a:rPr>
              <a:t>緩存中毒攻擊</a:t>
            </a:r>
            <a:endParaRPr kumimoji="1" lang="zh-CN" altLang="en-US" dirty="0">
              <a:solidFill>
                <a:srgbClr val="C00000"/>
              </a:solidFill>
            </a:endParaRP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8" name="Rectangle 4">
            <a:extLst>
              <a:ext uri="{FF2B5EF4-FFF2-40B4-BE49-F238E27FC236}">
                <a16:creationId xmlns:a16="http://schemas.microsoft.com/office/drawing/2014/main" id="{3D82C593-AD9D-4FAD-AA46-FF15D7F34E74}"/>
              </a:ext>
            </a:extLst>
          </p:cNvPr>
          <p:cNvSpPr>
            <a:spLocks noChangeArrowheads="1"/>
          </p:cNvSpPr>
          <p:nvPr/>
        </p:nvSpPr>
        <p:spPr bwMode="auto">
          <a:xfrm>
            <a:off x="2425298" y="1158993"/>
            <a:ext cx="12126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grpSp>
        <p:nvGrpSpPr>
          <p:cNvPr id="6" name="组合 5">
            <a:extLst>
              <a:ext uri="{FF2B5EF4-FFF2-40B4-BE49-F238E27FC236}">
                <a16:creationId xmlns:a16="http://schemas.microsoft.com/office/drawing/2014/main" id="{44B82F7A-1AD5-4C3A-9338-33EE2AE83830}"/>
              </a:ext>
            </a:extLst>
          </p:cNvPr>
          <p:cNvGrpSpPr/>
          <p:nvPr/>
        </p:nvGrpSpPr>
        <p:grpSpPr>
          <a:xfrm>
            <a:off x="315672" y="2129385"/>
            <a:ext cx="6144589" cy="4405892"/>
            <a:chOff x="316708" y="1029165"/>
            <a:chExt cx="6144589" cy="4405892"/>
          </a:xfrm>
        </p:grpSpPr>
        <p:sp>
          <p:nvSpPr>
            <p:cNvPr id="22" name="矩形 21">
              <a:extLst>
                <a:ext uri="{FF2B5EF4-FFF2-40B4-BE49-F238E27FC236}">
                  <a16:creationId xmlns:a16="http://schemas.microsoft.com/office/drawing/2014/main" id="{B6B51FE8-D042-4BEF-82BF-43CAC5F5CAAD}"/>
                </a:ext>
              </a:extLst>
            </p:cNvPr>
            <p:cNvSpPr>
              <a:spLocks/>
            </p:cNvSpPr>
            <p:nvPr/>
          </p:nvSpPr>
          <p:spPr bwMode="auto">
            <a:xfrm>
              <a:off x="316708" y="1029165"/>
              <a:ext cx="5781623" cy="4405892"/>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26" name="TextBox 39">
              <a:extLst>
                <a:ext uri="{FF2B5EF4-FFF2-40B4-BE49-F238E27FC236}">
                  <a16:creationId xmlns:a16="http://schemas.microsoft.com/office/drawing/2014/main" id="{81ED1F44-4F26-4738-970D-387DE63C937E}"/>
                </a:ext>
              </a:extLst>
            </p:cNvPr>
            <p:cNvSpPr txBox="1"/>
            <p:nvPr/>
          </p:nvSpPr>
          <p:spPr>
            <a:xfrm>
              <a:off x="1303111" y="1822564"/>
              <a:ext cx="4057428" cy="1253677"/>
            </a:xfrm>
            <a:prstGeom prst="rect">
              <a:avLst/>
            </a:prstGeom>
            <a:noFill/>
          </p:spPr>
          <p:txBody>
            <a:bodyPr wrap="square">
              <a:spAutoFit/>
            </a:bodyPr>
            <a:lstStyle>
              <a:defPPr>
                <a:defRPr lang="zh-CN"/>
              </a:defPPr>
              <a:lvl1pPr marL="127000" algn="just">
                <a:defRPr sz="2800" kern="100">
                  <a:latin typeface="微软雅黑" panose="020B0503020204020204" pitchFamily="34" charset="-122"/>
                  <a:ea typeface="微软雅黑" panose="020B0503020204020204" pitchFamily="34" charset="-122"/>
                  <a:cs typeface="Times New Roman" panose="02020603050405020304" pitchFamily="18" charset="0"/>
                </a:defRPr>
              </a:lvl1pPr>
            </a:lstStyle>
            <a:p>
              <a:pPr marL="12700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srgbClr val="7E46A9"/>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緩存時限約束</a:t>
              </a:r>
              <a:endParaRPr kumimoji="0" lang="en-US" altLang="zh-CN" sz="2000" b="0" i="0" u="none" strike="noStrike" kern="100" cap="none" spc="0" normalizeH="0" baseline="0" noProof="0" dirty="0">
                <a:ln>
                  <a:noFill/>
                </a:ln>
                <a:solidFill>
                  <a:srgbClr val="7E46A9"/>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12700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域名不能在緩存中</a:t>
              </a:r>
              <a:r>
                <a:rPr lang="zh-CN" altLang="en-US" sz="2000" dirty="0">
                  <a:solidFill>
                    <a:srgbClr val="000000"/>
                  </a:solidFill>
                  <a:sym typeface="Arial" panose="020B0604020202020204" pitchFamily="34" charset="0"/>
                </a:rPr>
                <a:t>，</a:t>
              </a:r>
              <a:r>
                <a:rPr lang="zh-CN" altLang="en-US" sz="2000" b="1" dirty="0">
                  <a:solidFill>
                    <a:srgbClr val="C00000"/>
                  </a:solidFill>
                  <a:sym typeface="Arial" panose="020B0604020202020204" pitchFamily="34" charset="0"/>
                </a:rPr>
                <a:t>這是個難點（域名緩存時間長達一天）</a:t>
              </a:r>
              <a:endParaRPr kumimoji="0" lang="en-US" sz="2000" b="1" i="0" u="none" strike="noStrike" kern="1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27" name="TextBox 40">
              <a:extLst>
                <a:ext uri="{FF2B5EF4-FFF2-40B4-BE49-F238E27FC236}">
                  <a16:creationId xmlns:a16="http://schemas.microsoft.com/office/drawing/2014/main" id="{780218E8-B83C-417A-A9BE-17FF2E604229}"/>
                </a:ext>
              </a:extLst>
            </p:cNvPr>
            <p:cNvSpPr txBox="1"/>
            <p:nvPr/>
          </p:nvSpPr>
          <p:spPr>
            <a:xfrm>
              <a:off x="1258409" y="3201399"/>
              <a:ext cx="3941580" cy="853567"/>
            </a:xfrm>
            <a:prstGeom prst="rect">
              <a:avLst/>
            </a:prstGeom>
            <a:noFill/>
          </p:spPr>
          <p:txBody>
            <a:bodyPr wrap="square">
              <a:spAutoFit/>
            </a:bodyPr>
            <a:lstStyle>
              <a:defPPr>
                <a:defRPr lang="zh-CN"/>
              </a:defPPr>
              <a:lvl1pPr marL="127000" algn="just">
                <a:defRPr sz="2800" kern="100">
                  <a:latin typeface="微软雅黑" panose="020B0503020204020204" pitchFamily="34" charset="-122"/>
                  <a:ea typeface="微软雅黑" panose="020B0503020204020204" pitchFamily="34" charset="-122"/>
                  <a:cs typeface="Times New Roman" panose="02020603050405020304" pitchFamily="18" charset="0"/>
                </a:defRPr>
              </a:lvl1pPr>
            </a:lstStyle>
            <a:p>
              <a:pPr marL="12700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應答包匹配約束</a:t>
              </a:r>
              <a:endParaRPr kumimoji="0" lang="en-US" altLang="zh-CN" sz="2000" b="0" i="0" u="none" strike="noStrike" kern="1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12700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端口號、</a:t>
              </a:r>
              <a:r>
                <a:rPr lang="zh-CN" altLang="en-US" sz="2000" dirty="0">
                  <a:solidFill>
                    <a:srgbClr val="000000"/>
                  </a:solidFill>
                  <a:sym typeface="Arial" panose="020B0604020202020204" pitchFamily="34" charset="0"/>
                </a:rPr>
                <a:t>事務</a:t>
              </a:r>
              <a:r>
                <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ID</a:t>
              </a: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匹配</a:t>
              </a:r>
              <a:endParaRPr kumimoji="0" 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21" name="TextBox 41">
              <a:extLst>
                <a:ext uri="{FF2B5EF4-FFF2-40B4-BE49-F238E27FC236}">
                  <a16:creationId xmlns:a16="http://schemas.microsoft.com/office/drawing/2014/main" id="{BA9269BB-937A-4673-AE46-5DA9353A5CF9}"/>
                </a:ext>
              </a:extLst>
            </p:cNvPr>
            <p:cNvSpPr txBox="1"/>
            <p:nvPr/>
          </p:nvSpPr>
          <p:spPr>
            <a:xfrm>
              <a:off x="1282160" y="4425820"/>
              <a:ext cx="5179137" cy="853567"/>
            </a:xfrm>
            <a:prstGeom prst="rect">
              <a:avLst/>
            </a:prstGeom>
            <a:noFill/>
          </p:spPr>
          <p:txBody>
            <a:bodyPr wrap="square">
              <a:spAutoFit/>
            </a:bodyPr>
            <a:lstStyle>
              <a:defPPr>
                <a:defRPr lang="zh-CN"/>
              </a:defPPr>
              <a:lvl1pPr marL="127000" algn="just">
                <a:defRPr sz="2800" kern="100">
                  <a:latin typeface="微软雅黑" panose="020B0503020204020204" pitchFamily="34" charset="-122"/>
                  <a:ea typeface="微软雅黑" panose="020B0503020204020204" pitchFamily="34" charset="-122"/>
                  <a:cs typeface="Times New Roman" panose="02020603050405020304" pitchFamily="18" charset="0"/>
                </a:defRPr>
              </a:lvl1pPr>
            </a:lstStyle>
            <a:p>
              <a:pPr>
                <a:lnSpc>
                  <a:spcPct val="130000"/>
                </a:lnSpc>
                <a:defRPr/>
              </a:pPr>
              <a:r>
                <a:rPr lang="zh-CN" altLang="en-US" sz="2000" dirty="0">
                  <a:solidFill>
                    <a:srgbClr val="7030A0"/>
                  </a:solidFill>
                  <a:sym typeface="Arial" panose="020B0604020202020204" pitchFamily="34" charset="0"/>
                </a:rPr>
                <a:t>時間約束</a:t>
              </a:r>
              <a:endParaRPr lang="en-US" altLang="zh-CN" sz="2000" dirty="0">
                <a:solidFill>
                  <a:srgbClr val="7030A0"/>
                </a:solidFill>
                <a:sym typeface="Arial" panose="020B0604020202020204" pitchFamily="34" charset="0"/>
              </a:endParaRPr>
            </a:p>
            <a:p>
              <a:pPr marL="12700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僞造包比正常</a:t>
              </a:r>
              <a:r>
                <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DNS</a:t>
              </a:r>
              <a:r>
                <a:rPr kumimoji="0" lang="zh-CN" altLang="en-US"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應答快</a:t>
              </a:r>
              <a:endParaRPr kumimoji="0" lang="en-US"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28" name="文本框 27">
              <a:extLst>
                <a:ext uri="{FF2B5EF4-FFF2-40B4-BE49-F238E27FC236}">
                  <a16:creationId xmlns:a16="http://schemas.microsoft.com/office/drawing/2014/main" id="{E876B59A-0BB2-4ED5-BE3A-7227450960CC}"/>
                </a:ext>
              </a:extLst>
            </p:cNvPr>
            <p:cNvSpPr txBox="1"/>
            <p:nvPr/>
          </p:nvSpPr>
          <p:spPr>
            <a:xfrm>
              <a:off x="316708" y="1183123"/>
              <a:ext cx="540601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接受欺騙應答面臨的</a:t>
              </a:r>
              <a:r>
                <a:rPr kumimoji="0" lang="zh-CN" altLang="en-US" sz="2400" b="1" i="0" u="none" strike="noStrike" kern="1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約束</a:t>
              </a:r>
            </a:p>
          </p:txBody>
        </p:sp>
        <p:sp>
          <p:nvSpPr>
            <p:cNvPr id="30" name="Rounded Rectangle 27">
              <a:extLst>
                <a:ext uri="{FF2B5EF4-FFF2-40B4-BE49-F238E27FC236}">
                  <a16:creationId xmlns:a16="http://schemas.microsoft.com/office/drawing/2014/main" id="{D907889A-1D23-4F0C-BDD7-2BF4D4145556}"/>
                </a:ext>
              </a:extLst>
            </p:cNvPr>
            <p:cNvSpPr>
              <a:spLocks noChangeAspect="1"/>
            </p:cNvSpPr>
            <p:nvPr/>
          </p:nvSpPr>
          <p:spPr>
            <a:xfrm>
              <a:off x="505399" y="2046808"/>
              <a:ext cx="564319" cy="564791"/>
            </a:xfrm>
            <a:prstGeom prst="roundRect">
              <a:avLst>
                <a:gd name="adj" fmla="val 0"/>
              </a:avLst>
            </a:prstGeom>
            <a:noFill/>
            <a:ln>
              <a:noFill/>
            </a:ln>
            <a:effectLst/>
          </p:spPr>
          <p:style>
            <a:lnRef idx="2">
              <a:srgbClr val="1471AE">
                <a:shade val="50000"/>
              </a:srgbClr>
            </a:lnRef>
            <a:fillRef idx="1">
              <a:srgbClr val="1471AE"/>
            </a:fillRef>
            <a:effectRef idx="0">
              <a:srgbClr val="1471AE"/>
            </a:effectRef>
            <a:fontRef idx="minor">
              <a:sysClr val="window" lastClr="FFFFFF"/>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7E46A9"/>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01</a:t>
              </a:r>
            </a:p>
          </p:txBody>
        </p:sp>
        <p:sp>
          <p:nvSpPr>
            <p:cNvPr id="31" name="Rounded Rectangle 16">
              <a:extLst>
                <a:ext uri="{FF2B5EF4-FFF2-40B4-BE49-F238E27FC236}">
                  <a16:creationId xmlns:a16="http://schemas.microsoft.com/office/drawing/2014/main" id="{BB4D3A5A-6CA4-4724-ADB1-392921CFD6D5}"/>
                </a:ext>
              </a:extLst>
            </p:cNvPr>
            <p:cNvSpPr>
              <a:spLocks noChangeAspect="1"/>
            </p:cNvSpPr>
            <p:nvPr/>
          </p:nvSpPr>
          <p:spPr>
            <a:xfrm>
              <a:off x="505399" y="3257398"/>
              <a:ext cx="564319" cy="564791"/>
            </a:xfrm>
            <a:prstGeom prst="roundRect">
              <a:avLst>
                <a:gd name="adj" fmla="val 0"/>
              </a:avLst>
            </a:prstGeom>
            <a:noFill/>
            <a:ln>
              <a:noFill/>
            </a:ln>
            <a:effectLst/>
          </p:spPr>
          <p:style>
            <a:lnRef idx="2">
              <a:srgbClr val="1471AE">
                <a:shade val="50000"/>
              </a:srgbClr>
            </a:lnRef>
            <a:fillRef idx="1">
              <a:srgbClr val="1471AE"/>
            </a:fillRef>
            <a:effectRef idx="0">
              <a:srgbClr val="1471AE"/>
            </a:effectRef>
            <a:fontRef idx="minor">
              <a:sysClr val="window" lastClr="FFFFFF"/>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7E46A9"/>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02</a:t>
              </a:r>
            </a:p>
          </p:txBody>
        </p:sp>
        <p:sp>
          <p:nvSpPr>
            <p:cNvPr id="32" name="Rounded Rectangle 27">
              <a:extLst>
                <a:ext uri="{FF2B5EF4-FFF2-40B4-BE49-F238E27FC236}">
                  <a16:creationId xmlns:a16="http://schemas.microsoft.com/office/drawing/2014/main" id="{FB4F1421-D759-413A-8D40-028DA37F2FA2}"/>
                </a:ext>
              </a:extLst>
            </p:cNvPr>
            <p:cNvSpPr>
              <a:spLocks noChangeAspect="1"/>
            </p:cNvSpPr>
            <p:nvPr/>
          </p:nvSpPr>
          <p:spPr>
            <a:xfrm>
              <a:off x="505399" y="4618511"/>
              <a:ext cx="564319" cy="564791"/>
            </a:xfrm>
            <a:prstGeom prst="roundRect">
              <a:avLst>
                <a:gd name="adj" fmla="val 0"/>
              </a:avLst>
            </a:prstGeom>
            <a:noFill/>
            <a:ln>
              <a:noFill/>
            </a:ln>
            <a:effectLst/>
          </p:spPr>
          <p:style>
            <a:lnRef idx="2">
              <a:srgbClr val="1471AE">
                <a:shade val="50000"/>
              </a:srgbClr>
            </a:lnRef>
            <a:fillRef idx="1">
              <a:srgbClr val="1471AE"/>
            </a:fillRef>
            <a:effectRef idx="0">
              <a:srgbClr val="1471AE"/>
            </a:effectRef>
            <a:fontRef idx="minor">
              <a:sysClr val="window" lastClr="FFFFFF"/>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7E46A9"/>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03</a:t>
              </a:r>
            </a:p>
          </p:txBody>
        </p:sp>
      </p:grpSp>
      <p:sp>
        <p:nvSpPr>
          <p:cNvPr id="33" name="矩形 32">
            <a:extLst>
              <a:ext uri="{FF2B5EF4-FFF2-40B4-BE49-F238E27FC236}">
                <a16:creationId xmlns:a16="http://schemas.microsoft.com/office/drawing/2014/main" id="{C716841F-E415-452D-A2D3-29209576C52C}"/>
              </a:ext>
            </a:extLst>
          </p:cNvPr>
          <p:cNvSpPr>
            <a:spLocks/>
          </p:cNvSpPr>
          <p:nvPr/>
        </p:nvSpPr>
        <p:spPr bwMode="auto">
          <a:xfrm>
            <a:off x="315672" y="1107792"/>
            <a:ext cx="11560656" cy="719497"/>
          </a:xfrm>
          <a:prstGeom prst="rect">
            <a:avLst/>
          </a:prstGeom>
          <a:solidFill>
            <a:srgbClr val="00B0F0"/>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4" name="矩形 51">
            <a:extLst>
              <a:ext uri="{FF2B5EF4-FFF2-40B4-BE49-F238E27FC236}">
                <a16:creationId xmlns:a16="http://schemas.microsoft.com/office/drawing/2014/main" id="{758C9FAC-161C-4AE6-8B60-700F8E945145}"/>
              </a:ext>
            </a:extLst>
          </p:cNvPr>
          <p:cNvSpPr>
            <a:spLocks noChangeArrowheads="1"/>
          </p:cNvSpPr>
          <p:nvPr/>
        </p:nvSpPr>
        <p:spPr bwMode="auto">
          <a:xfrm>
            <a:off x="0" y="1208782"/>
            <a:ext cx="12192000" cy="461665"/>
          </a:xfrm>
          <a:prstGeom prst="rect">
            <a:avLst/>
          </a:prstGeom>
          <a:noFill/>
          <a:ln>
            <a:noFill/>
          </a:ln>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zh-CN" altLang="en-US" sz="2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HelveticaNeueLT Pro 67 MdCn" pitchFamily="2" charset="-122"/>
              </a:rPr>
              <a:t>如何僞造一個被受害者接收的應答包？</a:t>
            </a:r>
          </a:p>
        </p:txBody>
      </p:sp>
      <p:sp>
        <p:nvSpPr>
          <p:cNvPr id="37" name="computer-tower_17231">
            <a:extLst>
              <a:ext uri="{FF2B5EF4-FFF2-40B4-BE49-F238E27FC236}">
                <a16:creationId xmlns:a16="http://schemas.microsoft.com/office/drawing/2014/main" id="{1C458E64-34BF-4FE0-B8A7-407EE070239F}"/>
              </a:ext>
            </a:extLst>
          </p:cNvPr>
          <p:cNvSpPr/>
          <p:nvPr/>
        </p:nvSpPr>
        <p:spPr>
          <a:xfrm>
            <a:off x="9776334" y="2751005"/>
            <a:ext cx="1010189" cy="970230"/>
          </a:xfrm>
          <a:custGeom>
            <a:avLst/>
            <a:gdLst>
              <a:gd name="connsiteX0" fmla="*/ 160113 w 601429"/>
              <a:gd name="connsiteY0" fmla="*/ 356699 h 607019"/>
              <a:gd name="connsiteX1" fmla="*/ 132185 w 601429"/>
              <a:gd name="connsiteY1" fmla="*/ 384557 h 607019"/>
              <a:gd name="connsiteX2" fmla="*/ 160113 w 601429"/>
              <a:gd name="connsiteY2" fmla="*/ 412285 h 607019"/>
              <a:gd name="connsiteX3" fmla="*/ 188041 w 601429"/>
              <a:gd name="connsiteY3" fmla="*/ 384557 h 607019"/>
              <a:gd name="connsiteX4" fmla="*/ 160113 w 601429"/>
              <a:gd name="connsiteY4" fmla="*/ 356699 h 607019"/>
              <a:gd name="connsiteX5" fmla="*/ 160113 w 601429"/>
              <a:gd name="connsiteY5" fmla="*/ 340141 h 607019"/>
              <a:gd name="connsiteX6" fmla="*/ 204640 w 601429"/>
              <a:gd name="connsiteY6" fmla="*/ 384557 h 607019"/>
              <a:gd name="connsiteX7" fmla="*/ 160113 w 601429"/>
              <a:gd name="connsiteY7" fmla="*/ 428842 h 607019"/>
              <a:gd name="connsiteX8" fmla="*/ 115586 w 601429"/>
              <a:gd name="connsiteY8" fmla="*/ 384557 h 607019"/>
              <a:gd name="connsiteX9" fmla="*/ 160113 w 601429"/>
              <a:gd name="connsiteY9" fmla="*/ 340141 h 607019"/>
              <a:gd name="connsiteX10" fmla="*/ 160135 w 601429"/>
              <a:gd name="connsiteY10" fmla="*/ 317115 h 607019"/>
              <a:gd name="connsiteX11" fmla="*/ 92578 w 601429"/>
              <a:gd name="connsiteY11" fmla="*/ 384562 h 607019"/>
              <a:gd name="connsiteX12" fmla="*/ 160135 w 601429"/>
              <a:gd name="connsiteY12" fmla="*/ 451878 h 607019"/>
              <a:gd name="connsiteX13" fmla="*/ 227692 w 601429"/>
              <a:gd name="connsiteY13" fmla="*/ 384562 h 607019"/>
              <a:gd name="connsiteX14" fmla="*/ 160135 w 601429"/>
              <a:gd name="connsiteY14" fmla="*/ 317115 h 607019"/>
              <a:gd name="connsiteX15" fmla="*/ 57370 w 601429"/>
              <a:gd name="connsiteY15" fmla="*/ 159493 h 607019"/>
              <a:gd name="connsiteX16" fmla="*/ 249802 w 601429"/>
              <a:gd name="connsiteY16" fmla="*/ 159493 h 607019"/>
              <a:gd name="connsiteX17" fmla="*/ 249802 w 601429"/>
              <a:gd name="connsiteY17" fmla="*/ 184614 h 607019"/>
              <a:gd name="connsiteX18" fmla="*/ 57370 w 601429"/>
              <a:gd name="connsiteY18" fmla="*/ 184614 h 607019"/>
              <a:gd name="connsiteX19" fmla="*/ 45828 w 601429"/>
              <a:gd name="connsiteY19" fmla="*/ 141595 h 607019"/>
              <a:gd name="connsiteX20" fmla="*/ 39244 w 601429"/>
              <a:gd name="connsiteY20" fmla="*/ 148169 h 607019"/>
              <a:gd name="connsiteX21" fmla="*/ 39244 w 601429"/>
              <a:gd name="connsiteY21" fmla="*/ 198261 h 607019"/>
              <a:gd name="connsiteX22" fmla="*/ 45828 w 601429"/>
              <a:gd name="connsiteY22" fmla="*/ 204704 h 607019"/>
              <a:gd name="connsiteX23" fmla="*/ 264302 w 601429"/>
              <a:gd name="connsiteY23" fmla="*/ 204704 h 607019"/>
              <a:gd name="connsiteX24" fmla="*/ 270755 w 601429"/>
              <a:gd name="connsiteY24" fmla="*/ 198261 h 607019"/>
              <a:gd name="connsiteX25" fmla="*/ 270755 w 601429"/>
              <a:gd name="connsiteY25" fmla="*/ 148169 h 607019"/>
              <a:gd name="connsiteX26" fmla="*/ 264302 w 601429"/>
              <a:gd name="connsiteY26" fmla="*/ 141595 h 607019"/>
              <a:gd name="connsiteX27" fmla="*/ 57370 w 601429"/>
              <a:gd name="connsiteY27" fmla="*/ 79401 h 607019"/>
              <a:gd name="connsiteX28" fmla="*/ 249802 w 601429"/>
              <a:gd name="connsiteY28" fmla="*/ 79401 h 607019"/>
              <a:gd name="connsiteX29" fmla="*/ 249802 w 601429"/>
              <a:gd name="connsiteY29" fmla="*/ 104522 h 607019"/>
              <a:gd name="connsiteX30" fmla="*/ 57370 w 601429"/>
              <a:gd name="connsiteY30" fmla="*/ 104522 h 607019"/>
              <a:gd name="connsiteX31" fmla="*/ 39244 w 601429"/>
              <a:gd name="connsiteY31" fmla="*/ 60475 h 607019"/>
              <a:gd name="connsiteX32" fmla="*/ 39244 w 601429"/>
              <a:gd name="connsiteY32" fmla="*/ 123583 h 607019"/>
              <a:gd name="connsiteX33" fmla="*/ 270755 w 601429"/>
              <a:gd name="connsiteY33" fmla="*/ 123583 h 607019"/>
              <a:gd name="connsiteX34" fmla="*/ 270755 w 601429"/>
              <a:gd name="connsiteY34" fmla="*/ 60475 h 607019"/>
              <a:gd name="connsiteX35" fmla="*/ 323826 w 601429"/>
              <a:gd name="connsiteY35" fmla="*/ 15905 h 607019"/>
              <a:gd name="connsiteX36" fmla="*/ 323826 w 601429"/>
              <a:gd name="connsiteY36" fmla="*/ 592688 h 607019"/>
              <a:gd name="connsiteX37" fmla="*/ 588392 w 601429"/>
              <a:gd name="connsiteY37" fmla="*/ 542202 h 607019"/>
              <a:gd name="connsiteX38" fmla="*/ 588392 w 601429"/>
              <a:gd name="connsiteY38" fmla="*/ 118982 h 607019"/>
              <a:gd name="connsiteX39" fmla="*/ 6585 w 601429"/>
              <a:gd name="connsiteY39" fmla="*/ 259 h 607019"/>
              <a:gd name="connsiteX40" fmla="*/ 313686 w 601429"/>
              <a:gd name="connsiteY40" fmla="*/ 259 h 607019"/>
              <a:gd name="connsiteX41" fmla="*/ 315003 w 601429"/>
              <a:gd name="connsiteY41" fmla="*/ 522 h 607019"/>
              <a:gd name="connsiteX42" fmla="*/ 319744 w 601429"/>
              <a:gd name="connsiteY42" fmla="*/ 391 h 607019"/>
              <a:gd name="connsiteX43" fmla="*/ 597347 w 601429"/>
              <a:gd name="connsiteY43" fmla="*/ 108464 h 607019"/>
              <a:gd name="connsiteX44" fmla="*/ 601429 w 601429"/>
              <a:gd name="connsiteY44" fmla="*/ 114511 h 607019"/>
              <a:gd name="connsiteX45" fmla="*/ 601429 w 601429"/>
              <a:gd name="connsiteY45" fmla="*/ 547592 h 607019"/>
              <a:gd name="connsiteX46" fmla="*/ 596161 w 601429"/>
              <a:gd name="connsiteY46" fmla="*/ 554035 h 607019"/>
              <a:gd name="connsiteX47" fmla="*/ 318559 w 601429"/>
              <a:gd name="connsiteY47" fmla="*/ 607019 h 607019"/>
              <a:gd name="connsiteX48" fmla="*/ 317242 w 601429"/>
              <a:gd name="connsiteY48" fmla="*/ 607019 h 607019"/>
              <a:gd name="connsiteX49" fmla="*/ 315135 w 601429"/>
              <a:gd name="connsiteY49" fmla="*/ 606756 h 607019"/>
              <a:gd name="connsiteX50" fmla="*/ 313686 w 601429"/>
              <a:gd name="connsiteY50" fmla="*/ 607019 h 607019"/>
              <a:gd name="connsiteX51" fmla="*/ 6585 w 601429"/>
              <a:gd name="connsiteY51" fmla="*/ 607019 h 607019"/>
              <a:gd name="connsiteX52" fmla="*/ 0 w 601429"/>
              <a:gd name="connsiteY52" fmla="*/ 600445 h 607019"/>
              <a:gd name="connsiteX53" fmla="*/ 0 w 601429"/>
              <a:gd name="connsiteY53" fmla="*/ 6701 h 607019"/>
              <a:gd name="connsiteX54" fmla="*/ 6585 w 601429"/>
              <a:gd name="connsiteY54" fmla="*/ 259 h 607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429" h="607019">
                <a:moveTo>
                  <a:pt x="160113" y="356699"/>
                </a:moveTo>
                <a:cubicBezTo>
                  <a:pt x="144700" y="356699"/>
                  <a:pt x="132185" y="369183"/>
                  <a:pt x="132185" y="384557"/>
                </a:cubicBezTo>
                <a:cubicBezTo>
                  <a:pt x="132185" y="399932"/>
                  <a:pt x="144700" y="412285"/>
                  <a:pt x="160113" y="412285"/>
                </a:cubicBezTo>
                <a:cubicBezTo>
                  <a:pt x="175526" y="412285"/>
                  <a:pt x="188041" y="399801"/>
                  <a:pt x="188041" y="384557"/>
                </a:cubicBezTo>
                <a:cubicBezTo>
                  <a:pt x="188041" y="369183"/>
                  <a:pt x="175526" y="356699"/>
                  <a:pt x="160113" y="356699"/>
                </a:cubicBezTo>
                <a:close/>
                <a:moveTo>
                  <a:pt x="160113" y="340141"/>
                </a:moveTo>
                <a:cubicBezTo>
                  <a:pt x="184616" y="340141"/>
                  <a:pt x="204640" y="359984"/>
                  <a:pt x="204640" y="384557"/>
                </a:cubicBezTo>
                <a:cubicBezTo>
                  <a:pt x="204640" y="409000"/>
                  <a:pt x="184616" y="428842"/>
                  <a:pt x="160113" y="428842"/>
                </a:cubicBezTo>
                <a:cubicBezTo>
                  <a:pt x="135610" y="428842"/>
                  <a:pt x="115586" y="409000"/>
                  <a:pt x="115586" y="384557"/>
                </a:cubicBezTo>
                <a:cubicBezTo>
                  <a:pt x="115586" y="359984"/>
                  <a:pt x="135610" y="340141"/>
                  <a:pt x="160113" y="340141"/>
                </a:cubicBezTo>
                <a:close/>
                <a:moveTo>
                  <a:pt x="160135" y="317115"/>
                </a:moveTo>
                <a:cubicBezTo>
                  <a:pt x="122867" y="317115"/>
                  <a:pt x="92578" y="347355"/>
                  <a:pt x="92578" y="384562"/>
                </a:cubicBezTo>
                <a:cubicBezTo>
                  <a:pt x="92578" y="421639"/>
                  <a:pt x="122867" y="451878"/>
                  <a:pt x="160135" y="451878"/>
                </a:cubicBezTo>
                <a:cubicBezTo>
                  <a:pt x="197404" y="451878"/>
                  <a:pt x="227692" y="421639"/>
                  <a:pt x="227692" y="384562"/>
                </a:cubicBezTo>
                <a:cubicBezTo>
                  <a:pt x="227692" y="347355"/>
                  <a:pt x="197404" y="317115"/>
                  <a:pt x="160135" y="317115"/>
                </a:cubicBezTo>
                <a:close/>
                <a:moveTo>
                  <a:pt x="57370" y="159493"/>
                </a:moveTo>
                <a:lnTo>
                  <a:pt x="249802" y="159493"/>
                </a:lnTo>
                <a:lnTo>
                  <a:pt x="249802" y="184614"/>
                </a:lnTo>
                <a:lnTo>
                  <a:pt x="57370" y="184614"/>
                </a:lnTo>
                <a:close/>
                <a:moveTo>
                  <a:pt x="45828" y="141595"/>
                </a:moveTo>
                <a:cubicBezTo>
                  <a:pt x="42141" y="141595"/>
                  <a:pt x="39244" y="144488"/>
                  <a:pt x="39244" y="148169"/>
                </a:cubicBezTo>
                <a:lnTo>
                  <a:pt x="39244" y="198261"/>
                </a:lnTo>
                <a:cubicBezTo>
                  <a:pt x="39244" y="201811"/>
                  <a:pt x="42141" y="204704"/>
                  <a:pt x="45828" y="204704"/>
                </a:cubicBezTo>
                <a:lnTo>
                  <a:pt x="264302" y="204704"/>
                </a:lnTo>
                <a:cubicBezTo>
                  <a:pt x="267858" y="204704"/>
                  <a:pt x="270755" y="201811"/>
                  <a:pt x="270755" y="198261"/>
                </a:cubicBezTo>
                <a:lnTo>
                  <a:pt x="270755" y="148169"/>
                </a:lnTo>
                <a:cubicBezTo>
                  <a:pt x="270755" y="144488"/>
                  <a:pt x="267858" y="141595"/>
                  <a:pt x="264302" y="141595"/>
                </a:cubicBezTo>
                <a:close/>
                <a:moveTo>
                  <a:pt x="57370" y="79401"/>
                </a:moveTo>
                <a:lnTo>
                  <a:pt x="249802" y="79401"/>
                </a:lnTo>
                <a:lnTo>
                  <a:pt x="249802" y="104522"/>
                </a:lnTo>
                <a:lnTo>
                  <a:pt x="57370" y="104522"/>
                </a:lnTo>
                <a:close/>
                <a:moveTo>
                  <a:pt x="39244" y="60475"/>
                </a:moveTo>
                <a:lnTo>
                  <a:pt x="39244" y="123583"/>
                </a:lnTo>
                <a:lnTo>
                  <a:pt x="270755" y="123583"/>
                </a:lnTo>
                <a:lnTo>
                  <a:pt x="270755" y="60475"/>
                </a:lnTo>
                <a:close/>
                <a:moveTo>
                  <a:pt x="323826" y="15905"/>
                </a:moveTo>
                <a:lnTo>
                  <a:pt x="323826" y="592688"/>
                </a:lnTo>
                <a:lnTo>
                  <a:pt x="588392" y="542202"/>
                </a:lnTo>
                <a:lnTo>
                  <a:pt x="588392" y="118982"/>
                </a:lnTo>
                <a:close/>
                <a:moveTo>
                  <a:pt x="6585" y="259"/>
                </a:moveTo>
                <a:lnTo>
                  <a:pt x="313686" y="259"/>
                </a:lnTo>
                <a:cubicBezTo>
                  <a:pt x="314213" y="259"/>
                  <a:pt x="314608" y="391"/>
                  <a:pt x="315003" y="522"/>
                </a:cubicBezTo>
                <a:cubicBezTo>
                  <a:pt x="316583" y="-4"/>
                  <a:pt x="318163" y="-267"/>
                  <a:pt x="319744" y="391"/>
                </a:cubicBezTo>
                <a:lnTo>
                  <a:pt x="597347" y="108464"/>
                </a:lnTo>
                <a:cubicBezTo>
                  <a:pt x="599849" y="109515"/>
                  <a:pt x="601429" y="111882"/>
                  <a:pt x="601429" y="114511"/>
                </a:cubicBezTo>
                <a:lnTo>
                  <a:pt x="601429" y="547592"/>
                </a:lnTo>
                <a:cubicBezTo>
                  <a:pt x="601429" y="550748"/>
                  <a:pt x="599190" y="553509"/>
                  <a:pt x="596161" y="554035"/>
                </a:cubicBezTo>
                <a:lnTo>
                  <a:pt x="318559" y="607019"/>
                </a:lnTo>
                <a:cubicBezTo>
                  <a:pt x="318163" y="607019"/>
                  <a:pt x="317637" y="607019"/>
                  <a:pt x="317242" y="607019"/>
                </a:cubicBezTo>
                <a:cubicBezTo>
                  <a:pt x="316583" y="607019"/>
                  <a:pt x="315793" y="606888"/>
                  <a:pt x="315135" y="606756"/>
                </a:cubicBezTo>
                <a:cubicBezTo>
                  <a:pt x="314740" y="606756"/>
                  <a:pt x="314213" y="607019"/>
                  <a:pt x="313686" y="607019"/>
                </a:cubicBezTo>
                <a:lnTo>
                  <a:pt x="6585" y="607019"/>
                </a:lnTo>
                <a:cubicBezTo>
                  <a:pt x="2897" y="607019"/>
                  <a:pt x="0" y="604127"/>
                  <a:pt x="0" y="600445"/>
                </a:cubicBezTo>
                <a:lnTo>
                  <a:pt x="0" y="6701"/>
                </a:lnTo>
                <a:cubicBezTo>
                  <a:pt x="0" y="3152"/>
                  <a:pt x="2897" y="259"/>
                  <a:pt x="6585" y="259"/>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38" name="文本框 37">
            <a:extLst>
              <a:ext uri="{FF2B5EF4-FFF2-40B4-BE49-F238E27FC236}">
                <a16:creationId xmlns:a16="http://schemas.microsoft.com/office/drawing/2014/main" id="{DB90A801-910E-4681-BA8E-FB995206CBF2}"/>
              </a:ext>
            </a:extLst>
          </p:cNvPr>
          <p:cNvSpPr txBox="1"/>
          <p:nvPr/>
        </p:nvSpPr>
        <p:spPr>
          <a:xfrm>
            <a:off x="9382635" y="3768039"/>
            <a:ext cx="1917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本地</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服務器</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9" name="文本框 38">
            <a:extLst>
              <a:ext uri="{FF2B5EF4-FFF2-40B4-BE49-F238E27FC236}">
                <a16:creationId xmlns:a16="http://schemas.microsoft.com/office/drawing/2014/main" id="{B0CD9831-365A-4809-82EF-8D1110737A51}"/>
              </a:ext>
            </a:extLst>
          </p:cNvPr>
          <p:cNvSpPr txBox="1"/>
          <p:nvPr/>
        </p:nvSpPr>
        <p:spPr>
          <a:xfrm>
            <a:off x="9590047" y="5610432"/>
            <a:ext cx="1382761"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攻擊者</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5" name="criminal-with-stolen-computers_40168">
            <a:extLst>
              <a:ext uri="{FF2B5EF4-FFF2-40B4-BE49-F238E27FC236}">
                <a16:creationId xmlns:a16="http://schemas.microsoft.com/office/drawing/2014/main" id="{FF923259-3E72-4AA3-BC66-DF24C776AF48}"/>
              </a:ext>
            </a:extLst>
          </p:cNvPr>
          <p:cNvSpPr/>
          <p:nvPr/>
        </p:nvSpPr>
        <p:spPr>
          <a:xfrm>
            <a:off x="9976583" y="5036691"/>
            <a:ext cx="609685" cy="536960"/>
          </a:xfrm>
          <a:custGeom>
            <a:avLst/>
            <a:gdLst>
              <a:gd name="T0" fmla="*/ 496 w 1644"/>
              <a:gd name="T1" fmla="*/ 183 h 1450"/>
              <a:gd name="T2" fmla="*/ 188 w 1644"/>
              <a:gd name="T3" fmla="*/ 183 h 1450"/>
              <a:gd name="T4" fmla="*/ 1644 w 1644"/>
              <a:gd name="T5" fmla="*/ 723 h 1450"/>
              <a:gd name="T6" fmla="*/ 1495 w 1644"/>
              <a:gd name="T7" fmla="*/ 796 h 1450"/>
              <a:gd name="T8" fmla="*/ 1495 w 1644"/>
              <a:gd name="T9" fmla="*/ 1405 h 1450"/>
              <a:gd name="T10" fmla="*/ 642 w 1644"/>
              <a:gd name="T11" fmla="*/ 796 h 1450"/>
              <a:gd name="T12" fmla="*/ 615 w 1644"/>
              <a:gd name="T13" fmla="*/ 923 h 1450"/>
              <a:gd name="T14" fmla="*/ 538 w 1644"/>
              <a:gd name="T15" fmla="*/ 796 h 1450"/>
              <a:gd name="T16" fmla="*/ 560 w 1644"/>
              <a:gd name="T17" fmla="*/ 1205 h 1450"/>
              <a:gd name="T18" fmla="*/ 474 w 1644"/>
              <a:gd name="T19" fmla="*/ 1398 h 1450"/>
              <a:gd name="T20" fmla="*/ 374 w 1644"/>
              <a:gd name="T21" fmla="*/ 1402 h 1450"/>
              <a:gd name="T22" fmla="*/ 348 w 1644"/>
              <a:gd name="T23" fmla="*/ 1205 h 1450"/>
              <a:gd name="T24" fmla="*/ 325 w 1644"/>
              <a:gd name="T25" fmla="*/ 1205 h 1450"/>
              <a:gd name="T26" fmla="*/ 291 w 1644"/>
              <a:gd name="T27" fmla="*/ 1402 h 1450"/>
              <a:gd name="T28" fmla="*/ 191 w 1644"/>
              <a:gd name="T29" fmla="*/ 1398 h 1450"/>
              <a:gd name="T30" fmla="*/ 87 w 1644"/>
              <a:gd name="T31" fmla="*/ 1205 h 1450"/>
              <a:gd name="T32" fmla="*/ 93 w 1644"/>
              <a:gd name="T33" fmla="*/ 881 h 1450"/>
              <a:gd name="T34" fmla="*/ 4 w 1644"/>
              <a:gd name="T35" fmla="*/ 862 h 1450"/>
              <a:gd name="T36" fmla="*/ 40 w 1644"/>
              <a:gd name="T37" fmla="*/ 624 h 1450"/>
              <a:gd name="T38" fmla="*/ 46 w 1644"/>
              <a:gd name="T39" fmla="*/ 609 h 1450"/>
              <a:gd name="T40" fmla="*/ 59 w 1644"/>
              <a:gd name="T41" fmla="*/ 578 h 1450"/>
              <a:gd name="T42" fmla="*/ 122 w 1644"/>
              <a:gd name="T43" fmla="*/ 457 h 1450"/>
              <a:gd name="T44" fmla="*/ 194 w 1644"/>
              <a:gd name="T45" fmla="*/ 372 h 1450"/>
              <a:gd name="T46" fmla="*/ 183 w 1644"/>
              <a:gd name="T47" fmla="*/ 276 h 1450"/>
              <a:gd name="T48" fmla="*/ 331 w 1644"/>
              <a:gd name="T49" fmla="*/ 328 h 1450"/>
              <a:gd name="T50" fmla="*/ 364 w 1644"/>
              <a:gd name="T51" fmla="*/ 521 h 1450"/>
              <a:gd name="T52" fmla="*/ 501 w 1644"/>
              <a:gd name="T53" fmla="*/ 276 h 1450"/>
              <a:gd name="T54" fmla="*/ 470 w 1644"/>
              <a:gd name="T55" fmla="*/ 387 h 1450"/>
              <a:gd name="T56" fmla="*/ 530 w 1644"/>
              <a:gd name="T57" fmla="*/ 401 h 1450"/>
              <a:gd name="T58" fmla="*/ 654 w 1644"/>
              <a:gd name="T59" fmla="*/ 433 h 1450"/>
              <a:gd name="T60" fmla="*/ 625 w 1644"/>
              <a:gd name="T61" fmla="*/ 681 h 1450"/>
              <a:gd name="T62" fmla="*/ 633 w 1644"/>
              <a:gd name="T63" fmla="*/ 626 h 1450"/>
              <a:gd name="T64" fmla="*/ 623 w 1644"/>
              <a:gd name="T65" fmla="*/ 422 h 1450"/>
              <a:gd name="T66" fmla="*/ 520 w 1644"/>
              <a:gd name="T67" fmla="*/ 433 h 1450"/>
              <a:gd name="T68" fmla="*/ 535 w 1644"/>
              <a:gd name="T69" fmla="*/ 466 h 1450"/>
              <a:gd name="T70" fmla="*/ 599 w 1644"/>
              <a:gd name="T71" fmla="*/ 587 h 1450"/>
              <a:gd name="T72" fmla="*/ 611 w 1644"/>
              <a:gd name="T73" fmla="*/ 618 h 1450"/>
              <a:gd name="T74" fmla="*/ 633 w 1644"/>
              <a:gd name="T75" fmla="*/ 626 h 1450"/>
              <a:gd name="T76" fmla="*/ 94 w 1644"/>
              <a:gd name="T77" fmla="*/ 172 h 1450"/>
              <a:gd name="T78" fmla="*/ 579 w 1644"/>
              <a:gd name="T79" fmla="*/ 385 h 1450"/>
              <a:gd name="T80" fmla="*/ 612 w 1644"/>
              <a:gd name="T81" fmla="*/ 129 h 1450"/>
              <a:gd name="T82" fmla="*/ 1226 w 1644"/>
              <a:gd name="T83" fmla="*/ 307 h 1450"/>
              <a:gd name="T84" fmla="*/ 1260 w 1644"/>
              <a:gd name="T85" fmla="*/ 95 h 1450"/>
              <a:gd name="T86" fmla="*/ 579 w 1644"/>
              <a:gd name="T87" fmla="*/ 146 h 1450"/>
              <a:gd name="T88" fmla="*/ 507 w 1644"/>
              <a:gd name="T89" fmla="*/ 84 h 1450"/>
              <a:gd name="T90" fmla="*/ 260 w 1644"/>
              <a:gd name="T91" fmla="*/ 0 h 1450"/>
              <a:gd name="T92" fmla="*/ 187 w 1644"/>
              <a:gd name="T93" fmla="*/ 146 h 1450"/>
              <a:gd name="T94" fmla="*/ 82 w 1644"/>
              <a:gd name="T95" fmla="*/ 159 h 1450"/>
              <a:gd name="T96" fmla="*/ 1136 w 1644"/>
              <a:gd name="T97" fmla="*/ 475 h 1450"/>
              <a:gd name="T98" fmla="*/ 669 w 1644"/>
              <a:gd name="T99" fmla="*/ 509 h 1450"/>
              <a:gd name="T100" fmla="*/ 1136 w 1644"/>
              <a:gd name="T101" fmla="*/ 475 h 1450"/>
              <a:gd name="T102" fmla="*/ 855 w 1644"/>
              <a:gd name="T103" fmla="*/ 617 h 1450"/>
              <a:gd name="T104" fmla="*/ 763 w 1644"/>
              <a:gd name="T105" fmla="*/ 651 h 1450"/>
              <a:gd name="T106" fmla="*/ 1076 w 1644"/>
              <a:gd name="T107" fmla="*/ 617 h 1450"/>
              <a:gd name="T108" fmla="*/ 984 w 1644"/>
              <a:gd name="T109" fmla="*/ 521 h 1450"/>
              <a:gd name="T110" fmla="*/ 1159 w 1644"/>
              <a:gd name="T111" fmla="*/ 328 h 1450"/>
              <a:gd name="T112" fmla="*/ 1623 w 1644"/>
              <a:gd name="T113" fmla="*/ 641 h 1450"/>
              <a:gd name="T114" fmla="*/ 1159 w 1644"/>
              <a:gd name="T115" fmla="*/ 328 h 1450"/>
              <a:gd name="T116" fmla="*/ 1606 w 1644"/>
              <a:gd name="T117" fmla="*/ 625 h 1450"/>
              <a:gd name="T118" fmla="*/ 1176 w 1644"/>
              <a:gd name="T119" fmla="*/ 345 h 1450"/>
              <a:gd name="T120" fmla="*/ 1139 w 1644"/>
              <a:gd name="T121" fmla="*/ 656 h 1450"/>
              <a:gd name="T122" fmla="*/ 1390 w 1644"/>
              <a:gd name="T123" fmla="*/ 689 h 1450"/>
              <a:gd name="T124" fmla="*/ 1644 w 1644"/>
              <a:gd name="T125" fmla="*/ 656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44" h="1450">
                <a:moveTo>
                  <a:pt x="188" y="183"/>
                </a:moveTo>
                <a:lnTo>
                  <a:pt x="496" y="183"/>
                </a:lnTo>
                <a:cubicBezTo>
                  <a:pt x="485" y="247"/>
                  <a:pt x="435" y="301"/>
                  <a:pt x="368" y="312"/>
                </a:cubicBezTo>
                <a:cubicBezTo>
                  <a:pt x="283" y="326"/>
                  <a:pt x="203" y="268"/>
                  <a:pt x="188" y="183"/>
                </a:cubicBezTo>
                <a:close/>
                <a:moveTo>
                  <a:pt x="631" y="723"/>
                </a:moveTo>
                <a:lnTo>
                  <a:pt x="1644" y="723"/>
                </a:lnTo>
                <a:lnTo>
                  <a:pt x="1644" y="796"/>
                </a:lnTo>
                <a:lnTo>
                  <a:pt x="1495" y="796"/>
                </a:lnTo>
                <a:lnTo>
                  <a:pt x="1560" y="1405"/>
                </a:lnTo>
                <a:lnTo>
                  <a:pt x="1495" y="1405"/>
                </a:lnTo>
                <a:lnTo>
                  <a:pt x="1430" y="796"/>
                </a:lnTo>
                <a:lnTo>
                  <a:pt x="642" y="796"/>
                </a:lnTo>
                <a:lnTo>
                  <a:pt x="654" y="871"/>
                </a:lnTo>
                <a:cubicBezTo>
                  <a:pt x="658" y="896"/>
                  <a:pt x="640" y="920"/>
                  <a:pt x="615" y="923"/>
                </a:cubicBezTo>
                <a:cubicBezTo>
                  <a:pt x="592" y="927"/>
                  <a:pt x="570" y="912"/>
                  <a:pt x="564" y="890"/>
                </a:cubicBezTo>
                <a:lnTo>
                  <a:pt x="538" y="796"/>
                </a:lnTo>
                <a:lnTo>
                  <a:pt x="538" y="796"/>
                </a:lnTo>
                <a:cubicBezTo>
                  <a:pt x="560" y="999"/>
                  <a:pt x="560" y="1205"/>
                  <a:pt x="560" y="1205"/>
                </a:cubicBezTo>
                <a:lnTo>
                  <a:pt x="475" y="1205"/>
                </a:lnTo>
                <a:cubicBezTo>
                  <a:pt x="474" y="1309"/>
                  <a:pt x="474" y="1398"/>
                  <a:pt x="474" y="1398"/>
                </a:cubicBezTo>
                <a:cubicBezTo>
                  <a:pt x="474" y="1425"/>
                  <a:pt x="451" y="1447"/>
                  <a:pt x="424" y="1447"/>
                </a:cubicBezTo>
                <a:cubicBezTo>
                  <a:pt x="398" y="1447"/>
                  <a:pt x="377" y="1427"/>
                  <a:pt x="374" y="1402"/>
                </a:cubicBezTo>
                <a:cubicBezTo>
                  <a:pt x="374" y="1402"/>
                  <a:pt x="366" y="1311"/>
                  <a:pt x="356" y="1205"/>
                </a:cubicBezTo>
                <a:lnTo>
                  <a:pt x="348" y="1205"/>
                </a:lnTo>
                <a:lnTo>
                  <a:pt x="330" y="995"/>
                </a:lnTo>
                <a:lnTo>
                  <a:pt x="325" y="1205"/>
                </a:lnTo>
                <a:lnTo>
                  <a:pt x="309" y="1205"/>
                </a:lnTo>
                <a:cubicBezTo>
                  <a:pt x="299" y="1311"/>
                  <a:pt x="291" y="1402"/>
                  <a:pt x="291" y="1402"/>
                </a:cubicBezTo>
                <a:cubicBezTo>
                  <a:pt x="288" y="1429"/>
                  <a:pt x="264" y="1450"/>
                  <a:pt x="236" y="1447"/>
                </a:cubicBezTo>
                <a:cubicBezTo>
                  <a:pt x="211" y="1445"/>
                  <a:pt x="191" y="1423"/>
                  <a:pt x="191" y="1398"/>
                </a:cubicBezTo>
                <a:cubicBezTo>
                  <a:pt x="191" y="1398"/>
                  <a:pt x="191" y="1309"/>
                  <a:pt x="190" y="1205"/>
                </a:cubicBezTo>
                <a:lnTo>
                  <a:pt x="87" y="1205"/>
                </a:lnTo>
                <a:cubicBezTo>
                  <a:pt x="83" y="1142"/>
                  <a:pt x="101" y="951"/>
                  <a:pt x="119" y="787"/>
                </a:cubicBezTo>
                <a:lnTo>
                  <a:pt x="93" y="881"/>
                </a:lnTo>
                <a:cubicBezTo>
                  <a:pt x="87" y="903"/>
                  <a:pt x="65" y="918"/>
                  <a:pt x="42" y="914"/>
                </a:cubicBezTo>
                <a:cubicBezTo>
                  <a:pt x="17" y="911"/>
                  <a:pt x="0" y="887"/>
                  <a:pt x="4" y="862"/>
                </a:cubicBezTo>
                <a:lnTo>
                  <a:pt x="39" y="630"/>
                </a:lnTo>
                <a:cubicBezTo>
                  <a:pt x="39" y="628"/>
                  <a:pt x="40" y="626"/>
                  <a:pt x="40" y="624"/>
                </a:cubicBezTo>
                <a:lnTo>
                  <a:pt x="41" y="623"/>
                </a:lnTo>
                <a:lnTo>
                  <a:pt x="46" y="609"/>
                </a:lnTo>
                <a:lnTo>
                  <a:pt x="50" y="599"/>
                </a:lnTo>
                <a:lnTo>
                  <a:pt x="59" y="578"/>
                </a:lnTo>
                <a:cubicBezTo>
                  <a:pt x="65" y="564"/>
                  <a:pt x="71" y="550"/>
                  <a:pt x="77" y="537"/>
                </a:cubicBezTo>
                <a:cubicBezTo>
                  <a:pt x="91" y="510"/>
                  <a:pt x="105" y="483"/>
                  <a:pt x="122" y="457"/>
                </a:cubicBezTo>
                <a:cubicBezTo>
                  <a:pt x="140" y="430"/>
                  <a:pt x="159" y="404"/>
                  <a:pt x="187" y="378"/>
                </a:cubicBezTo>
                <a:cubicBezTo>
                  <a:pt x="189" y="376"/>
                  <a:pt x="192" y="374"/>
                  <a:pt x="194" y="372"/>
                </a:cubicBezTo>
                <a:lnTo>
                  <a:pt x="156" y="266"/>
                </a:lnTo>
                <a:lnTo>
                  <a:pt x="183" y="276"/>
                </a:lnTo>
                <a:lnTo>
                  <a:pt x="183" y="276"/>
                </a:lnTo>
                <a:lnTo>
                  <a:pt x="331" y="328"/>
                </a:lnTo>
                <a:lnTo>
                  <a:pt x="332" y="522"/>
                </a:lnTo>
                <a:lnTo>
                  <a:pt x="364" y="521"/>
                </a:lnTo>
                <a:lnTo>
                  <a:pt x="364" y="323"/>
                </a:lnTo>
                <a:lnTo>
                  <a:pt x="501" y="276"/>
                </a:lnTo>
                <a:lnTo>
                  <a:pt x="463" y="381"/>
                </a:lnTo>
                <a:cubicBezTo>
                  <a:pt x="466" y="383"/>
                  <a:pt x="468" y="385"/>
                  <a:pt x="470" y="387"/>
                </a:cubicBezTo>
                <a:cubicBezTo>
                  <a:pt x="482" y="398"/>
                  <a:pt x="492" y="409"/>
                  <a:pt x="501" y="420"/>
                </a:cubicBezTo>
                <a:cubicBezTo>
                  <a:pt x="506" y="409"/>
                  <a:pt x="517" y="401"/>
                  <a:pt x="530" y="401"/>
                </a:cubicBezTo>
                <a:lnTo>
                  <a:pt x="623" y="401"/>
                </a:lnTo>
                <a:cubicBezTo>
                  <a:pt x="640" y="401"/>
                  <a:pt x="654" y="415"/>
                  <a:pt x="654" y="433"/>
                </a:cubicBezTo>
                <a:lnTo>
                  <a:pt x="654" y="649"/>
                </a:lnTo>
                <a:cubicBezTo>
                  <a:pt x="654" y="666"/>
                  <a:pt x="641" y="680"/>
                  <a:pt x="625" y="681"/>
                </a:cubicBezTo>
                <a:lnTo>
                  <a:pt x="631" y="723"/>
                </a:lnTo>
                <a:close/>
                <a:moveTo>
                  <a:pt x="633" y="626"/>
                </a:moveTo>
                <a:lnTo>
                  <a:pt x="633" y="433"/>
                </a:lnTo>
                <a:cubicBezTo>
                  <a:pt x="633" y="427"/>
                  <a:pt x="628" y="422"/>
                  <a:pt x="623" y="422"/>
                </a:cubicBezTo>
                <a:lnTo>
                  <a:pt x="530" y="422"/>
                </a:lnTo>
                <a:cubicBezTo>
                  <a:pt x="524" y="422"/>
                  <a:pt x="520" y="427"/>
                  <a:pt x="520" y="433"/>
                </a:cubicBezTo>
                <a:lnTo>
                  <a:pt x="520" y="443"/>
                </a:lnTo>
                <a:cubicBezTo>
                  <a:pt x="525" y="451"/>
                  <a:pt x="530" y="458"/>
                  <a:pt x="535" y="466"/>
                </a:cubicBezTo>
                <a:cubicBezTo>
                  <a:pt x="552" y="492"/>
                  <a:pt x="567" y="519"/>
                  <a:pt x="580" y="546"/>
                </a:cubicBezTo>
                <a:cubicBezTo>
                  <a:pt x="586" y="560"/>
                  <a:pt x="593" y="573"/>
                  <a:pt x="599" y="587"/>
                </a:cubicBezTo>
                <a:lnTo>
                  <a:pt x="607" y="608"/>
                </a:lnTo>
                <a:lnTo>
                  <a:pt x="611" y="618"/>
                </a:lnTo>
                <a:lnTo>
                  <a:pt x="614" y="626"/>
                </a:lnTo>
                <a:lnTo>
                  <a:pt x="633" y="626"/>
                </a:lnTo>
                <a:lnTo>
                  <a:pt x="633" y="626"/>
                </a:lnTo>
                <a:close/>
                <a:moveTo>
                  <a:pt x="94" y="172"/>
                </a:moveTo>
                <a:lnTo>
                  <a:pt x="579" y="172"/>
                </a:lnTo>
                <a:lnTo>
                  <a:pt x="579" y="385"/>
                </a:lnTo>
                <a:lnTo>
                  <a:pt x="612" y="385"/>
                </a:lnTo>
                <a:lnTo>
                  <a:pt x="612" y="129"/>
                </a:lnTo>
                <a:lnTo>
                  <a:pt x="1226" y="129"/>
                </a:lnTo>
                <a:lnTo>
                  <a:pt x="1226" y="307"/>
                </a:lnTo>
                <a:lnTo>
                  <a:pt x="1260" y="307"/>
                </a:lnTo>
                <a:lnTo>
                  <a:pt x="1260" y="95"/>
                </a:lnTo>
                <a:lnTo>
                  <a:pt x="579" y="95"/>
                </a:lnTo>
                <a:lnTo>
                  <a:pt x="579" y="146"/>
                </a:lnTo>
                <a:lnTo>
                  <a:pt x="507" y="146"/>
                </a:lnTo>
                <a:lnTo>
                  <a:pt x="507" y="84"/>
                </a:lnTo>
                <a:cubicBezTo>
                  <a:pt x="507" y="28"/>
                  <a:pt x="484" y="0"/>
                  <a:pt x="428" y="0"/>
                </a:cubicBezTo>
                <a:lnTo>
                  <a:pt x="260" y="0"/>
                </a:lnTo>
                <a:cubicBezTo>
                  <a:pt x="204" y="0"/>
                  <a:pt x="187" y="28"/>
                  <a:pt x="187" y="84"/>
                </a:cubicBezTo>
                <a:lnTo>
                  <a:pt x="187" y="146"/>
                </a:lnTo>
                <a:lnTo>
                  <a:pt x="94" y="146"/>
                </a:lnTo>
                <a:cubicBezTo>
                  <a:pt x="87" y="146"/>
                  <a:pt x="82" y="152"/>
                  <a:pt x="82" y="159"/>
                </a:cubicBezTo>
                <a:cubicBezTo>
                  <a:pt x="82" y="166"/>
                  <a:pt x="87" y="172"/>
                  <a:pt x="94" y="172"/>
                </a:cubicBezTo>
                <a:close/>
                <a:moveTo>
                  <a:pt x="1136" y="475"/>
                </a:moveTo>
                <a:lnTo>
                  <a:pt x="669" y="475"/>
                </a:lnTo>
                <a:lnTo>
                  <a:pt x="669" y="509"/>
                </a:lnTo>
                <a:lnTo>
                  <a:pt x="1136" y="509"/>
                </a:lnTo>
                <a:lnTo>
                  <a:pt x="1136" y="475"/>
                </a:lnTo>
                <a:close/>
                <a:moveTo>
                  <a:pt x="855" y="521"/>
                </a:moveTo>
                <a:lnTo>
                  <a:pt x="855" y="617"/>
                </a:lnTo>
                <a:lnTo>
                  <a:pt x="763" y="617"/>
                </a:lnTo>
                <a:lnTo>
                  <a:pt x="763" y="651"/>
                </a:lnTo>
                <a:lnTo>
                  <a:pt x="1076" y="651"/>
                </a:lnTo>
                <a:lnTo>
                  <a:pt x="1076" y="617"/>
                </a:lnTo>
                <a:lnTo>
                  <a:pt x="984" y="617"/>
                </a:lnTo>
                <a:lnTo>
                  <a:pt x="984" y="521"/>
                </a:lnTo>
                <a:lnTo>
                  <a:pt x="855" y="521"/>
                </a:lnTo>
                <a:close/>
                <a:moveTo>
                  <a:pt x="1159" y="328"/>
                </a:moveTo>
                <a:lnTo>
                  <a:pt x="1623" y="328"/>
                </a:lnTo>
                <a:lnTo>
                  <a:pt x="1623" y="641"/>
                </a:lnTo>
                <a:lnTo>
                  <a:pt x="1159" y="641"/>
                </a:lnTo>
                <a:lnTo>
                  <a:pt x="1159" y="328"/>
                </a:lnTo>
                <a:close/>
                <a:moveTo>
                  <a:pt x="1176" y="625"/>
                </a:moveTo>
                <a:lnTo>
                  <a:pt x="1606" y="625"/>
                </a:lnTo>
                <a:lnTo>
                  <a:pt x="1606" y="345"/>
                </a:lnTo>
                <a:lnTo>
                  <a:pt x="1176" y="345"/>
                </a:lnTo>
                <a:lnTo>
                  <a:pt x="1176" y="625"/>
                </a:lnTo>
                <a:close/>
                <a:moveTo>
                  <a:pt x="1139" y="656"/>
                </a:moveTo>
                <a:lnTo>
                  <a:pt x="1139" y="681"/>
                </a:lnTo>
                <a:cubicBezTo>
                  <a:pt x="1139" y="681"/>
                  <a:pt x="1271" y="689"/>
                  <a:pt x="1390" y="689"/>
                </a:cubicBezTo>
                <a:cubicBezTo>
                  <a:pt x="1510" y="689"/>
                  <a:pt x="1644" y="681"/>
                  <a:pt x="1644" y="681"/>
                </a:cubicBezTo>
                <a:lnTo>
                  <a:pt x="1644" y="656"/>
                </a:lnTo>
                <a:lnTo>
                  <a:pt x="1139" y="6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41" name="iconfont-11899-5651347">
            <a:extLst>
              <a:ext uri="{FF2B5EF4-FFF2-40B4-BE49-F238E27FC236}">
                <a16:creationId xmlns:a16="http://schemas.microsoft.com/office/drawing/2014/main" id="{034412B4-2931-49AB-AD5A-0A11FDCF6D4B}"/>
              </a:ext>
            </a:extLst>
          </p:cNvPr>
          <p:cNvSpPr/>
          <p:nvPr/>
        </p:nvSpPr>
        <p:spPr>
          <a:xfrm>
            <a:off x="6786917" y="2865040"/>
            <a:ext cx="796924" cy="742159"/>
          </a:xfrm>
          <a:custGeom>
            <a:avLst/>
            <a:gdLst>
              <a:gd name="T0" fmla="*/ 649 w 9079"/>
              <a:gd name="T1" fmla="*/ 1 h 10376"/>
              <a:gd name="T2" fmla="*/ 8430 w 9079"/>
              <a:gd name="T3" fmla="*/ 1 h 10376"/>
              <a:gd name="T4" fmla="*/ 9079 w 9079"/>
              <a:gd name="T5" fmla="*/ 649 h 10376"/>
              <a:gd name="T6" fmla="*/ 9079 w 9079"/>
              <a:gd name="T7" fmla="*/ 1946 h 10376"/>
              <a:gd name="T8" fmla="*/ 8430 w 9079"/>
              <a:gd name="T9" fmla="*/ 2594 h 10376"/>
              <a:gd name="T10" fmla="*/ 649 w 9079"/>
              <a:gd name="T11" fmla="*/ 2594 h 10376"/>
              <a:gd name="T12" fmla="*/ 0 w 9079"/>
              <a:gd name="T13" fmla="*/ 1946 h 10376"/>
              <a:gd name="T14" fmla="*/ 0 w 9079"/>
              <a:gd name="T15" fmla="*/ 649 h 10376"/>
              <a:gd name="T16" fmla="*/ 649 w 9079"/>
              <a:gd name="T17" fmla="*/ 1 h 10376"/>
              <a:gd name="T18" fmla="*/ 2162 w 9079"/>
              <a:gd name="T19" fmla="*/ 649 h 10376"/>
              <a:gd name="T20" fmla="*/ 1513 w 9079"/>
              <a:gd name="T21" fmla="*/ 1298 h 10376"/>
              <a:gd name="T22" fmla="*/ 2162 w 9079"/>
              <a:gd name="T23" fmla="*/ 1947 h 10376"/>
              <a:gd name="T24" fmla="*/ 2810 w 9079"/>
              <a:gd name="T25" fmla="*/ 1298 h 10376"/>
              <a:gd name="T26" fmla="*/ 2162 w 9079"/>
              <a:gd name="T27" fmla="*/ 649 h 10376"/>
              <a:gd name="T28" fmla="*/ 649 w 9079"/>
              <a:gd name="T29" fmla="*/ 3892 h 10376"/>
              <a:gd name="T30" fmla="*/ 8430 w 9079"/>
              <a:gd name="T31" fmla="*/ 3892 h 10376"/>
              <a:gd name="T32" fmla="*/ 9079 w 9079"/>
              <a:gd name="T33" fmla="*/ 4541 h 10376"/>
              <a:gd name="T34" fmla="*/ 9079 w 9079"/>
              <a:gd name="T35" fmla="*/ 5837 h 10376"/>
              <a:gd name="T36" fmla="*/ 8430 w 9079"/>
              <a:gd name="T37" fmla="*/ 6486 h 10376"/>
              <a:gd name="T38" fmla="*/ 649 w 9079"/>
              <a:gd name="T39" fmla="*/ 6486 h 10376"/>
              <a:gd name="T40" fmla="*/ 0 w 9079"/>
              <a:gd name="T41" fmla="*/ 5837 h 10376"/>
              <a:gd name="T42" fmla="*/ 0 w 9079"/>
              <a:gd name="T43" fmla="*/ 4539 h 10376"/>
              <a:gd name="T44" fmla="*/ 649 w 9079"/>
              <a:gd name="T45" fmla="*/ 3892 h 10376"/>
              <a:gd name="T46" fmla="*/ 2162 w 9079"/>
              <a:gd name="T47" fmla="*/ 4539 h 10376"/>
              <a:gd name="T48" fmla="*/ 1513 w 9079"/>
              <a:gd name="T49" fmla="*/ 5188 h 10376"/>
              <a:gd name="T50" fmla="*/ 2162 w 9079"/>
              <a:gd name="T51" fmla="*/ 5837 h 10376"/>
              <a:gd name="T52" fmla="*/ 2810 w 9079"/>
              <a:gd name="T53" fmla="*/ 5188 h 10376"/>
              <a:gd name="T54" fmla="*/ 2162 w 9079"/>
              <a:gd name="T55" fmla="*/ 4539 h 10376"/>
              <a:gd name="T56" fmla="*/ 649 w 9079"/>
              <a:gd name="T57" fmla="*/ 7782 h 10376"/>
              <a:gd name="T58" fmla="*/ 8430 w 9079"/>
              <a:gd name="T59" fmla="*/ 7782 h 10376"/>
              <a:gd name="T60" fmla="*/ 9079 w 9079"/>
              <a:gd name="T61" fmla="*/ 8431 h 10376"/>
              <a:gd name="T62" fmla="*/ 9079 w 9079"/>
              <a:gd name="T63" fmla="*/ 9727 h 10376"/>
              <a:gd name="T64" fmla="*/ 8430 w 9079"/>
              <a:gd name="T65" fmla="*/ 10376 h 10376"/>
              <a:gd name="T66" fmla="*/ 649 w 9079"/>
              <a:gd name="T67" fmla="*/ 10376 h 10376"/>
              <a:gd name="T68" fmla="*/ 0 w 9079"/>
              <a:gd name="T69" fmla="*/ 9727 h 10376"/>
              <a:gd name="T70" fmla="*/ 0 w 9079"/>
              <a:gd name="T71" fmla="*/ 8431 h 10376"/>
              <a:gd name="T72" fmla="*/ 649 w 9079"/>
              <a:gd name="T73" fmla="*/ 7782 h 10376"/>
              <a:gd name="T74" fmla="*/ 2162 w 9079"/>
              <a:gd name="T75" fmla="*/ 8431 h 10376"/>
              <a:gd name="T76" fmla="*/ 1513 w 9079"/>
              <a:gd name="T77" fmla="*/ 9079 h 10376"/>
              <a:gd name="T78" fmla="*/ 2162 w 9079"/>
              <a:gd name="T79" fmla="*/ 9728 h 10376"/>
              <a:gd name="T80" fmla="*/ 2810 w 9079"/>
              <a:gd name="T81" fmla="*/ 9079 h 10376"/>
              <a:gd name="T82" fmla="*/ 2162 w 9079"/>
              <a:gd name="T83" fmla="*/ 8431 h 10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079" h="10376">
                <a:moveTo>
                  <a:pt x="649" y="1"/>
                </a:moveTo>
                <a:lnTo>
                  <a:pt x="8430" y="1"/>
                </a:lnTo>
                <a:cubicBezTo>
                  <a:pt x="8788" y="1"/>
                  <a:pt x="9079" y="291"/>
                  <a:pt x="9079" y="649"/>
                </a:cubicBezTo>
                <a:lnTo>
                  <a:pt x="9079" y="1946"/>
                </a:lnTo>
                <a:cubicBezTo>
                  <a:pt x="9079" y="2303"/>
                  <a:pt x="8789" y="2594"/>
                  <a:pt x="8430" y="2594"/>
                </a:cubicBezTo>
                <a:lnTo>
                  <a:pt x="649" y="2594"/>
                </a:lnTo>
                <a:cubicBezTo>
                  <a:pt x="292" y="2594"/>
                  <a:pt x="0" y="2304"/>
                  <a:pt x="0" y="1946"/>
                </a:cubicBezTo>
                <a:lnTo>
                  <a:pt x="0" y="649"/>
                </a:lnTo>
                <a:cubicBezTo>
                  <a:pt x="0" y="292"/>
                  <a:pt x="290" y="0"/>
                  <a:pt x="649" y="1"/>
                </a:cubicBezTo>
                <a:close/>
                <a:moveTo>
                  <a:pt x="2162" y="649"/>
                </a:moveTo>
                <a:cubicBezTo>
                  <a:pt x="1804" y="649"/>
                  <a:pt x="1513" y="939"/>
                  <a:pt x="1513" y="1298"/>
                </a:cubicBezTo>
                <a:cubicBezTo>
                  <a:pt x="1513" y="1657"/>
                  <a:pt x="1803" y="1947"/>
                  <a:pt x="2162" y="1947"/>
                </a:cubicBezTo>
                <a:cubicBezTo>
                  <a:pt x="2519" y="1947"/>
                  <a:pt x="2810" y="1657"/>
                  <a:pt x="2810" y="1298"/>
                </a:cubicBezTo>
                <a:cubicBezTo>
                  <a:pt x="2810" y="939"/>
                  <a:pt x="2519" y="649"/>
                  <a:pt x="2162" y="649"/>
                </a:cubicBezTo>
                <a:close/>
                <a:moveTo>
                  <a:pt x="649" y="3892"/>
                </a:moveTo>
                <a:lnTo>
                  <a:pt x="8430" y="3892"/>
                </a:lnTo>
                <a:cubicBezTo>
                  <a:pt x="8788" y="3892"/>
                  <a:pt x="9079" y="4182"/>
                  <a:pt x="9079" y="4541"/>
                </a:cubicBezTo>
                <a:lnTo>
                  <a:pt x="9079" y="5837"/>
                </a:lnTo>
                <a:cubicBezTo>
                  <a:pt x="9079" y="6194"/>
                  <a:pt x="8789" y="6486"/>
                  <a:pt x="8430" y="6486"/>
                </a:cubicBezTo>
                <a:lnTo>
                  <a:pt x="649" y="6486"/>
                </a:lnTo>
                <a:cubicBezTo>
                  <a:pt x="292" y="6486"/>
                  <a:pt x="0" y="6195"/>
                  <a:pt x="0" y="5837"/>
                </a:cubicBezTo>
                <a:lnTo>
                  <a:pt x="0" y="4539"/>
                </a:lnTo>
                <a:cubicBezTo>
                  <a:pt x="0" y="4182"/>
                  <a:pt x="290" y="3892"/>
                  <a:pt x="649" y="3892"/>
                </a:cubicBezTo>
                <a:close/>
                <a:moveTo>
                  <a:pt x="2162" y="4539"/>
                </a:moveTo>
                <a:cubicBezTo>
                  <a:pt x="1804" y="4539"/>
                  <a:pt x="1513" y="4829"/>
                  <a:pt x="1513" y="5188"/>
                </a:cubicBezTo>
                <a:cubicBezTo>
                  <a:pt x="1513" y="5546"/>
                  <a:pt x="1803" y="5837"/>
                  <a:pt x="2162" y="5837"/>
                </a:cubicBezTo>
                <a:cubicBezTo>
                  <a:pt x="2519" y="5837"/>
                  <a:pt x="2810" y="5547"/>
                  <a:pt x="2810" y="5188"/>
                </a:cubicBezTo>
                <a:cubicBezTo>
                  <a:pt x="2810" y="4831"/>
                  <a:pt x="2519" y="4539"/>
                  <a:pt x="2162" y="4539"/>
                </a:cubicBezTo>
                <a:close/>
                <a:moveTo>
                  <a:pt x="649" y="7782"/>
                </a:moveTo>
                <a:lnTo>
                  <a:pt x="8430" y="7782"/>
                </a:lnTo>
                <a:cubicBezTo>
                  <a:pt x="8788" y="7782"/>
                  <a:pt x="9079" y="8072"/>
                  <a:pt x="9079" y="8431"/>
                </a:cubicBezTo>
                <a:lnTo>
                  <a:pt x="9079" y="9727"/>
                </a:lnTo>
                <a:cubicBezTo>
                  <a:pt x="9079" y="10084"/>
                  <a:pt x="8789" y="10376"/>
                  <a:pt x="8430" y="10376"/>
                </a:cubicBezTo>
                <a:lnTo>
                  <a:pt x="649" y="10376"/>
                </a:lnTo>
                <a:cubicBezTo>
                  <a:pt x="292" y="10376"/>
                  <a:pt x="0" y="10086"/>
                  <a:pt x="0" y="9727"/>
                </a:cubicBezTo>
                <a:lnTo>
                  <a:pt x="0" y="8431"/>
                </a:lnTo>
                <a:cubicBezTo>
                  <a:pt x="0" y="8072"/>
                  <a:pt x="290" y="7782"/>
                  <a:pt x="649" y="7782"/>
                </a:cubicBezTo>
                <a:close/>
                <a:moveTo>
                  <a:pt x="2162" y="8431"/>
                </a:moveTo>
                <a:cubicBezTo>
                  <a:pt x="1804" y="8431"/>
                  <a:pt x="1513" y="8721"/>
                  <a:pt x="1513" y="9079"/>
                </a:cubicBezTo>
                <a:cubicBezTo>
                  <a:pt x="1513" y="9437"/>
                  <a:pt x="1803" y="9728"/>
                  <a:pt x="2162" y="9728"/>
                </a:cubicBezTo>
                <a:cubicBezTo>
                  <a:pt x="2519" y="9728"/>
                  <a:pt x="2810" y="9438"/>
                  <a:pt x="2810" y="9079"/>
                </a:cubicBezTo>
                <a:cubicBezTo>
                  <a:pt x="2810" y="8721"/>
                  <a:pt x="2519" y="8431"/>
                  <a:pt x="2162" y="843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42" name="箭头: 右 41">
            <a:extLst>
              <a:ext uri="{FF2B5EF4-FFF2-40B4-BE49-F238E27FC236}">
                <a16:creationId xmlns:a16="http://schemas.microsoft.com/office/drawing/2014/main" id="{C1CBF115-96AE-474C-B6FB-077C0D16D73D}"/>
              </a:ext>
            </a:extLst>
          </p:cNvPr>
          <p:cNvSpPr/>
          <p:nvPr/>
        </p:nvSpPr>
        <p:spPr>
          <a:xfrm rot="10800000">
            <a:off x="8435169" y="2836136"/>
            <a:ext cx="563888" cy="369332"/>
          </a:xfrm>
          <a:prstGeom prst="rightArrow">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43" name="文本框 42">
            <a:extLst>
              <a:ext uri="{FF2B5EF4-FFF2-40B4-BE49-F238E27FC236}">
                <a16:creationId xmlns:a16="http://schemas.microsoft.com/office/drawing/2014/main" id="{26CAB12A-C8B0-4F97-B4E3-BD73D6470EBB}"/>
              </a:ext>
            </a:extLst>
          </p:cNvPr>
          <p:cNvSpPr txBox="1"/>
          <p:nvPr/>
        </p:nvSpPr>
        <p:spPr>
          <a:xfrm>
            <a:off x="8163605" y="2516336"/>
            <a:ext cx="138276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正常請求</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44" name="文本框 43">
            <a:extLst>
              <a:ext uri="{FF2B5EF4-FFF2-40B4-BE49-F238E27FC236}">
                <a16:creationId xmlns:a16="http://schemas.microsoft.com/office/drawing/2014/main" id="{D4FBC5BA-84F6-49E8-B1E7-901E83DE6346}"/>
              </a:ext>
            </a:extLst>
          </p:cNvPr>
          <p:cNvSpPr txBox="1"/>
          <p:nvPr/>
        </p:nvSpPr>
        <p:spPr>
          <a:xfrm>
            <a:off x="10512818" y="4471295"/>
            <a:ext cx="138276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欺騙應答</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45" name="箭头: 右 44">
            <a:extLst>
              <a:ext uri="{FF2B5EF4-FFF2-40B4-BE49-F238E27FC236}">
                <a16:creationId xmlns:a16="http://schemas.microsoft.com/office/drawing/2014/main" id="{1335A8E1-677A-435B-8A38-439FFE0B80D9}"/>
              </a:ext>
            </a:extLst>
          </p:cNvPr>
          <p:cNvSpPr/>
          <p:nvPr/>
        </p:nvSpPr>
        <p:spPr>
          <a:xfrm rot="16200000">
            <a:off x="9999482" y="4362872"/>
            <a:ext cx="563888" cy="369332"/>
          </a:xfrm>
          <a:prstGeom prst="righ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46" name="箭头: 右 45">
            <a:extLst>
              <a:ext uri="{FF2B5EF4-FFF2-40B4-BE49-F238E27FC236}">
                <a16:creationId xmlns:a16="http://schemas.microsoft.com/office/drawing/2014/main" id="{DE0EA0C1-79EA-4716-AD38-078D887543C7}"/>
              </a:ext>
            </a:extLst>
          </p:cNvPr>
          <p:cNvSpPr/>
          <p:nvPr/>
        </p:nvSpPr>
        <p:spPr>
          <a:xfrm>
            <a:off x="8456344" y="3438839"/>
            <a:ext cx="563888" cy="369332"/>
          </a:xfrm>
          <a:prstGeom prst="rightArrow">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47" name="文本框 46">
            <a:extLst>
              <a:ext uri="{FF2B5EF4-FFF2-40B4-BE49-F238E27FC236}">
                <a16:creationId xmlns:a16="http://schemas.microsoft.com/office/drawing/2014/main" id="{6C09C275-6C84-4A0F-9A8F-5325692FADE2}"/>
              </a:ext>
            </a:extLst>
          </p:cNvPr>
          <p:cNvSpPr txBox="1"/>
          <p:nvPr/>
        </p:nvSpPr>
        <p:spPr>
          <a:xfrm>
            <a:off x="8199904" y="3810637"/>
            <a:ext cx="138276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正常應答</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49" name="iconfont-11592-5504296">
            <a:extLst>
              <a:ext uri="{FF2B5EF4-FFF2-40B4-BE49-F238E27FC236}">
                <a16:creationId xmlns:a16="http://schemas.microsoft.com/office/drawing/2014/main" id="{19EF342C-A405-45BA-864B-9588744A2820}"/>
              </a:ext>
            </a:extLst>
          </p:cNvPr>
          <p:cNvSpPr/>
          <p:nvPr/>
        </p:nvSpPr>
        <p:spPr>
          <a:xfrm>
            <a:off x="10743226" y="4137371"/>
            <a:ext cx="425102" cy="410166"/>
          </a:xfrm>
          <a:custGeom>
            <a:avLst/>
            <a:gdLst>
              <a:gd name="connsiteX0" fmla="*/ 447070 w 468862"/>
              <a:gd name="connsiteY0" fmla="*/ 132212 h 475467"/>
              <a:gd name="connsiteX1" fmla="*/ 448762 w 468862"/>
              <a:gd name="connsiteY1" fmla="*/ 136215 h 475467"/>
              <a:gd name="connsiteX2" fmla="*/ 443047 w 468862"/>
              <a:gd name="connsiteY2" fmla="*/ 149738 h 475467"/>
              <a:gd name="connsiteX3" fmla="*/ 257113 w 468862"/>
              <a:gd name="connsiteY3" fmla="*/ 335637 h 475467"/>
              <a:gd name="connsiteX4" fmla="*/ 225489 w 468862"/>
              <a:gd name="connsiteY4" fmla="*/ 348589 h 475467"/>
              <a:gd name="connsiteX5" fmla="*/ 194246 w 468862"/>
              <a:gd name="connsiteY5" fmla="*/ 335637 h 475467"/>
              <a:gd name="connsiteX6" fmla="*/ 111185 w 468862"/>
              <a:gd name="connsiteY6" fmla="*/ 252211 h 475467"/>
              <a:gd name="connsiteX7" fmla="*/ 111185 w 468862"/>
              <a:gd name="connsiteY7" fmla="*/ 225164 h 475467"/>
              <a:gd name="connsiteX8" fmla="*/ 138237 w 468862"/>
              <a:gd name="connsiteY8" fmla="*/ 225164 h 475467"/>
              <a:gd name="connsiteX9" fmla="*/ 221679 w 468862"/>
              <a:gd name="connsiteY9" fmla="*/ 308590 h 475467"/>
              <a:gd name="connsiteX10" fmla="*/ 230061 w 468862"/>
              <a:gd name="connsiteY10" fmla="*/ 308590 h 475467"/>
              <a:gd name="connsiteX11" fmla="*/ 406127 w 468862"/>
              <a:gd name="connsiteY11" fmla="*/ 132557 h 475467"/>
              <a:gd name="connsiteX12" fmla="*/ 412613 w 468862"/>
              <a:gd name="connsiteY12" fmla="*/ 141345 h 475467"/>
              <a:gd name="connsiteX13" fmla="*/ 438520 w 468862"/>
              <a:gd name="connsiteY13" fmla="*/ 148965 h 475467"/>
              <a:gd name="connsiteX14" fmla="*/ 447616 w 468862"/>
              <a:gd name="connsiteY14" fmla="*/ 137583 h 475467"/>
              <a:gd name="connsiteX15" fmla="*/ 237738 w 468862"/>
              <a:gd name="connsiteY15" fmla="*/ 0 h 475467"/>
              <a:gd name="connsiteX16" fmla="*/ 446140 w 468862"/>
              <a:gd name="connsiteY16" fmla="*/ 123058 h 475467"/>
              <a:gd name="connsiteX17" fmla="*/ 447070 w 468862"/>
              <a:gd name="connsiteY17" fmla="*/ 132212 h 475467"/>
              <a:gd name="connsiteX18" fmla="*/ 443047 w 468862"/>
              <a:gd name="connsiteY18" fmla="*/ 122691 h 475467"/>
              <a:gd name="connsiteX19" fmla="*/ 415995 w 468862"/>
              <a:gd name="connsiteY19" fmla="*/ 122691 h 475467"/>
              <a:gd name="connsiteX20" fmla="*/ 406127 w 468862"/>
              <a:gd name="connsiteY20" fmla="*/ 132557 h 475467"/>
              <a:gd name="connsiteX21" fmla="*/ 380734 w 468862"/>
              <a:gd name="connsiteY21" fmla="*/ 98151 h 475467"/>
              <a:gd name="connsiteX22" fmla="*/ 237738 w 468862"/>
              <a:gd name="connsiteY22" fmla="*/ 37717 h 475467"/>
              <a:gd name="connsiteX23" fmla="*/ 38099 w 468862"/>
              <a:gd name="connsiteY23" fmla="*/ 237353 h 475467"/>
              <a:gd name="connsiteX24" fmla="*/ 237738 w 468862"/>
              <a:gd name="connsiteY24" fmla="*/ 436988 h 475467"/>
              <a:gd name="connsiteX25" fmla="*/ 431281 w 468862"/>
              <a:gd name="connsiteY25" fmla="*/ 286119 h 475467"/>
              <a:gd name="connsiteX26" fmla="*/ 454521 w 468862"/>
              <a:gd name="connsiteY26" fmla="*/ 272403 h 475467"/>
              <a:gd name="connsiteX27" fmla="*/ 468237 w 468862"/>
              <a:gd name="connsiteY27" fmla="*/ 295643 h 475467"/>
              <a:gd name="connsiteX28" fmla="*/ 237738 w 468862"/>
              <a:gd name="connsiteY28" fmla="*/ 475467 h 475467"/>
              <a:gd name="connsiteX29" fmla="*/ 0 w 468862"/>
              <a:gd name="connsiteY29" fmla="*/ 237734 h 475467"/>
              <a:gd name="connsiteX30" fmla="*/ 237738 w 468862"/>
              <a:gd name="connsiteY30" fmla="*/ 0 h 475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68862" h="475467">
                <a:moveTo>
                  <a:pt x="447070" y="132212"/>
                </a:moveTo>
                <a:lnTo>
                  <a:pt x="448762" y="136215"/>
                </a:lnTo>
                <a:cubicBezTo>
                  <a:pt x="448762" y="141072"/>
                  <a:pt x="446857" y="145929"/>
                  <a:pt x="443047" y="149738"/>
                </a:cubicBezTo>
                <a:lnTo>
                  <a:pt x="257113" y="335637"/>
                </a:lnTo>
                <a:cubicBezTo>
                  <a:pt x="247969" y="344018"/>
                  <a:pt x="236919" y="348589"/>
                  <a:pt x="225489" y="348589"/>
                </a:cubicBezTo>
                <a:cubicBezTo>
                  <a:pt x="214059" y="348589"/>
                  <a:pt x="203009" y="344399"/>
                  <a:pt x="194246" y="335637"/>
                </a:cubicBezTo>
                <a:lnTo>
                  <a:pt x="111185" y="252211"/>
                </a:lnTo>
                <a:cubicBezTo>
                  <a:pt x="103565" y="244592"/>
                  <a:pt x="103565" y="232783"/>
                  <a:pt x="111185" y="225164"/>
                </a:cubicBezTo>
                <a:cubicBezTo>
                  <a:pt x="118805" y="217545"/>
                  <a:pt x="130617" y="217545"/>
                  <a:pt x="138237" y="225164"/>
                </a:cubicBezTo>
                <a:lnTo>
                  <a:pt x="221679" y="308590"/>
                </a:lnTo>
                <a:cubicBezTo>
                  <a:pt x="223965" y="310876"/>
                  <a:pt x="227775" y="310876"/>
                  <a:pt x="230061" y="308590"/>
                </a:cubicBezTo>
                <a:lnTo>
                  <a:pt x="406127" y="132557"/>
                </a:lnTo>
                <a:lnTo>
                  <a:pt x="412613" y="141345"/>
                </a:lnTo>
                <a:cubicBezTo>
                  <a:pt x="417565" y="150489"/>
                  <a:pt x="429376" y="153917"/>
                  <a:pt x="438520" y="148965"/>
                </a:cubicBezTo>
                <a:cubicBezTo>
                  <a:pt x="443092" y="146488"/>
                  <a:pt x="446235" y="142297"/>
                  <a:pt x="447616" y="137583"/>
                </a:cubicBezTo>
                <a:close/>
                <a:moveTo>
                  <a:pt x="237738" y="0"/>
                </a:moveTo>
                <a:cubicBezTo>
                  <a:pt x="324223" y="0"/>
                  <a:pt x="404231" y="47242"/>
                  <a:pt x="446140" y="123058"/>
                </a:cubicBezTo>
                <a:lnTo>
                  <a:pt x="447070" y="132212"/>
                </a:lnTo>
                <a:lnTo>
                  <a:pt x="443047" y="122691"/>
                </a:lnTo>
                <a:cubicBezTo>
                  <a:pt x="435427" y="115072"/>
                  <a:pt x="423615" y="115072"/>
                  <a:pt x="415995" y="122691"/>
                </a:cubicBezTo>
                <a:lnTo>
                  <a:pt x="406127" y="132557"/>
                </a:lnTo>
                <a:lnTo>
                  <a:pt x="380734" y="98151"/>
                </a:lnTo>
                <a:cubicBezTo>
                  <a:pt x="343677" y="60005"/>
                  <a:pt x="292315" y="37717"/>
                  <a:pt x="237738" y="37717"/>
                </a:cubicBezTo>
                <a:cubicBezTo>
                  <a:pt x="127632" y="37717"/>
                  <a:pt x="38099" y="127249"/>
                  <a:pt x="38099" y="237353"/>
                </a:cubicBezTo>
                <a:cubicBezTo>
                  <a:pt x="38099" y="347457"/>
                  <a:pt x="127632" y="436988"/>
                  <a:pt x="237738" y="436988"/>
                </a:cubicBezTo>
                <a:cubicBezTo>
                  <a:pt x="329557" y="436988"/>
                  <a:pt x="409184" y="374888"/>
                  <a:pt x="431281" y="286119"/>
                </a:cubicBezTo>
                <a:cubicBezTo>
                  <a:pt x="433948" y="275832"/>
                  <a:pt x="444235" y="269736"/>
                  <a:pt x="454521" y="272403"/>
                </a:cubicBezTo>
                <a:cubicBezTo>
                  <a:pt x="464808" y="275070"/>
                  <a:pt x="470904" y="285357"/>
                  <a:pt x="468237" y="295643"/>
                </a:cubicBezTo>
                <a:cubicBezTo>
                  <a:pt x="441949" y="401556"/>
                  <a:pt x="347082" y="475467"/>
                  <a:pt x="237738" y="475467"/>
                </a:cubicBezTo>
                <a:cubicBezTo>
                  <a:pt x="106677" y="475467"/>
                  <a:pt x="0" y="368792"/>
                  <a:pt x="0" y="237734"/>
                </a:cubicBezTo>
                <a:cubicBezTo>
                  <a:pt x="0" y="106675"/>
                  <a:pt x="106677" y="0"/>
                  <a:pt x="237738" y="0"/>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51" name="cancel-mark_17124">
            <a:extLst>
              <a:ext uri="{FF2B5EF4-FFF2-40B4-BE49-F238E27FC236}">
                <a16:creationId xmlns:a16="http://schemas.microsoft.com/office/drawing/2014/main" id="{858E4511-1DAD-45A1-95B6-EFAB12E1D155}"/>
              </a:ext>
            </a:extLst>
          </p:cNvPr>
          <p:cNvSpPr/>
          <p:nvPr/>
        </p:nvSpPr>
        <p:spPr>
          <a:xfrm>
            <a:off x="9005642" y="3319436"/>
            <a:ext cx="489116" cy="512904"/>
          </a:xfrm>
          <a:custGeom>
            <a:avLst/>
            <a:gdLst>
              <a:gd name="T0" fmla="*/ 6166 w 11200"/>
              <a:gd name="T1" fmla="*/ 5600 h 11200"/>
              <a:gd name="T2" fmla="*/ 8148 w 11200"/>
              <a:gd name="T3" fmla="*/ 7582 h 11200"/>
              <a:gd name="T4" fmla="*/ 8146 w 11200"/>
              <a:gd name="T5" fmla="*/ 8146 h 11200"/>
              <a:gd name="T6" fmla="*/ 7582 w 11200"/>
              <a:gd name="T7" fmla="*/ 8148 h 11200"/>
              <a:gd name="T8" fmla="*/ 5600 w 11200"/>
              <a:gd name="T9" fmla="*/ 6166 h 11200"/>
              <a:gd name="T10" fmla="*/ 3618 w 11200"/>
              <a:gd name="T11" fmla="*/ 8148 h 11200"/>
              <a:gd name="T12" fmla="*/ 3054 w 11200"/>
              <a:gd name="T13" fmla="*/ 8146 h 11200"/>
              <a:gd name="T14" fmla="*/ 3052 w 11200"/>
              <a:gd name="T15" fmla="*/ 7582 h 11200"/>
              <a:gd name="T16" fmla="*/ 5034 w 11200"/>
              <a:gd name="T17" fmla="*/ 5600 h 11200"/>
              <a:gd name="T18" fmla="*/ 3052 w 11200"/>
              <a:gd name="T19" fmla="*/ 3618 h 11200"/>
              <a:gd name="T20" fmla="*/ 3054 w 11200"/>
              <a:gd name="T21" fmla="*/ 3054 h 11200"/>
              <a:gd name="T22" fmla="*/ 3618 w 11200"/>
              <a:gd name="T23" fmla="*/ 3052 h 11200"/>
              <a:gd name="T24" fmla="*/ 5600 w 11200"/>
              <a:gd name="T25" fmla="*/ 5034 h 11200"/>
              <a:gd name="T26" fmla="*/ 7582 w 11200"/>
              <a:gd name="T27" fmla="*/ 3052 h 11200"/>
              <a:gd name="T28" fmla="*/ 8146 w 11200"/>
              <a:gd name="T29" fmla="*/ 3054 h 11200"/>
              <a:gd name="T30" fmla="*/ 8148 w 11200"/>
              <a:gd name="T31" fmla="*/ 3618 h 11200"/>
              <a:gd name="T32" fmla="*/ 6166 w 11200"/>
              <a:gd name="T33" fmla="*/ 5600 h 11200"/>
              <a:gd name="T34" fmla="*/ 5600 w 11200"/>
              <a:gd name="T35" fmla="*/ 11200 h 11200"/>
              <a:gd name="T36" fmla="*/ 0 w 11200"/>
              <a:gd name="T37" fmla="*/ 5600 h 11200"/>
              <a:gd name="T38" fmla="*/ 5600 w 11200"/>
              <a:gd name="T39" fmla="*/ 0 h 11200"/>
              <a:gd name="T40" fmla="*/ 11200 w 11200"/>
              <a:gd name="T41" fmla="*/ 5600 h 11200"/>
              <a:gd name="T42" fmla="*/ 5600 w 11200"/>
              <a:gd name="T43" fmla="*/ 11200 h 11200"/>
              <a:gd name="T44" fmla="*/ 5600 w 11200"/>
              <a:gd name="T45" fmla="*/ 10400 h 11200"/>
              <a:gd name="T46" fmla="*/ 10400 w 11200"/>
              <a:gd name="T47" fmla="*/ 5600 h 11200"/>
              <a:gd name="T48" fmla="*/ 5600 w 11200"/>
              <a:gd name="T49" fmla="*/ 800 h 11200"/>
              <a:gd name="T50" fmla="*/ 800 w 11200"/>
              <a:gd name="T51" fmla="*/ 5600 h 11200"/>
              <a:gd name="T52" fmla="*/ 5600 w 11200"/>
              <a:gd name="T53" fmla="*/ 10400 h 1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200" h="11200">
                <a:moveTo>
                  <a:pt x="6166" y="5600"/>
                </a:moveTo>
                <a:lnTo>
                  <a:pt x="8148" y="7582"/>
                </a:lnTo>
                <a:cubicBezTo>
                  <a:pt x="8303" y="7738"/>
                  <a:pt x="8303" y="7991"/>
                  <a:pt x="8146" y="8146"/>
                </a:cubicBezTo>
                <a:cubicBezTo>
                  <a:pt x="7990" y="8302"/>
                  <a:pt x="7738" y="8303"/>
                  <a:pt x="7582" y="8148"/>
                </a:cubicBezTo>
                <a:lnTo>
                  <a:pt x="5600" y="6166"/>
                </a:lnTo>
                <a:lnTo>
                  <a:pt x="3618" y="8148"/>
                </a:lnTo>
                <a:cubicBezTo>
                  <a:pt x="3462" y="8303"/>
                  <a:pt x="3209" y="8303"/>
                  <a:pt x="3054" y="8146"/>
                </a:cubicBezTo>
                <a:cubicBezTo>
                  <a:pt x="2898" y="7990"/>
                  <a:pt x="2897" y="7738"/>
                  <a:pt x="3052" y="7582"/>
                </a:cubicBezTo>
                <a:lnTo>
                  <a:pt x="5034" y="5600"/>
                </a:lnTo>
                <a:lnTo>
                  <a:pt x="3052" y="3618"/>
                </a:lnTo>
                <a:cubicBezTo>
                  <a:pt x="2896" y="3462"/>
                  <a:pt x="2897" y="3209"/>
                  <a:pt x="3054" y="3054"/>
                </a:cubicBezTo>
                <a:cubicBezTo>
                  <a:pt x="3209" y="2898"/>
                  <a:pt x="3462" y="2897"/>
                  <a:pt x="3618" y="3052"/>
                </a:cubicBezTo>
                <a:lnTo>
                  <a:pt x="5600" y="5034"/>
                </a:lnTo>
                <a:lnTo>
                  <a:pt x="7582" y="3052"/>
                </a:lnTo>
                <a:cubicBezTo>
                  <a:pt x="7738" y="2897"/>
                  <a:pt x="7991" y="2897"/>
                  <a:pt x="8146" y="3054"/>
                </a:cubicBezTo>
                <a:cubicBezTo>
                  <a:pt x="8302" y="3210"/>
                  <a:pt x="8303" y="3462"/>
                  <a:pt x="8148" y="3618"/>
                </a:cubicBezTo>
                <a:lnTo>
                  <a:pt x="6166" y="5600"/>
                </a:lnTo>
                <a:close/>
                <a:moveTo>
                  <a:pt x="5600" y="11200"/>
                </a:moveTo>
                <a:cubicBezTo>
                  <a:pt x="2507" y="11200"/>
                  <a:pt x="0" y="8693"/>
                  <a:pt x="0" y="5600"/>
                </a:cubicBezTo>
                <a:cubicBezTo>
                  <a:pt x="0" y="2507"/>
                  <a:pt x="2507" y="0"/>
                  <a:pt x="5600" y="0"/>
                </a:cubicBezTo>
                <a:cubicBezTo>
                  <a:pt x="8693" y="0"/>
                  <a:pt x="11200" y="2507"/>
                  <a:pt x="11200" y="5600"/>
                </a:cubicBezTo>
                <a:cubicBezTo>
                  <a:pt x="11200" y="8693"/>
                  <a:pt x="8693" y="11200"/>
                  <a:pt x="5600" y="11200"/>
                </a:cubicBezTo>
                <a:close/>
                <a:moveTo>
                  <a:pt x="5600" y="10400"/>
                </a:moveTo>
                <a:cubicBezTo>
                  <a:pt x="8251" y="10400"/>
                  <a:pt x="10400" y="8251"/>
                  <a:pt x="10400" y="5600"/>
                </a:cubicBezTo>
                <a:cubicBezTo>
                  <a:pt x="10400" y="2949"/>
                  <a:pt x="8251" y="800"/>
                  <a:pt x="5600" y="800"/>
                </a:cubicBezTo>
                <a:cubicBezTo>
                  <a:pt x="2949" y="800"/>
                  <a:pt x="800" y="2949"/>
                  <a:pt x="800" y="5600"/>
                </a:cubicBezTo>
                <a:cubicBezTo>
                  <a:pt x="800" y="8251"/>
                  <a:pt x="2949" y="10400"/>
                  <a:pt x="5600" y="10400"/>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52" name="cancel-mark_17124">
            <a:extLst>
              <a:ext uri="{FF2B5EF4-FFF2-40B4-BE49-F238E27FC236}">
                <a16:creationId xmlns:a16="http://schemas.microsoft.com/office/drawing/2014/main" id="{23B48687-562B-4210-ABA1-11F4D0317F23}"/>
              </a:ext>
            </a:extLst>
          </p:cNvPr>
          <p:cNvSpPr/>
          <p:nvPr/>
        </p:nvSpPr>
        <p:spPr>
          <a:xfrm>
            <a:off x="10884694" y="2828234"/>
            <a:ext cx="489116" cy="512904"/>
          </a:xfrm>
          <a:custGeom>
            <a:avLst/>
            <a:gdLst>
              <a:gd name="T0" fmla="*/ 6166 w 11200"/>
              <a:gd name="T1" fmla="*/ 5600 h 11200"/>
              <a:gd name="T2" fmla="*/ 8148 w 11200"/>
              <a:gd name="T3" fmla="*/ 7582 h 11200"/>
              <a:gd name="T4" fmla="*/ 8146 w 11200"/>
              <a:gd name="T5" fmla="*/ 8146 h 11200"/>
              <a:gd name="T6" fmla="*/ 7582 w 11200"/>
              <a:gd name="T7" fmla="*/ 8148 h 11200"/>
              <a:gd name="T8" fmla="*/ 5600 w 11200"/>
              <a:gd name="T9" fmla="*/ 6166 h 11200"/>
              <a:gd name="T10" fmla="*/ 3618 w 11200"/>
              <a:gd name="T11" fmla="*/ 8148 h 11200"/>
              <a:gd name="T12" fmla="*/ 3054 w 11200"/>
              <a:gd name="T13" fmla="*/ 8146 h 11200"/>
              <a:gd name="T14" fmla="*/ 3052 w 11200"/>
              <a:gd name="T15" fmla="*/ 7582 h 11200"/>
              <a:gd name="T16" fmla="*/ 5034 w 11200"/>
              <a:gd name="T17" fmla="*/ 5600 h 11200"/>
              <a:gd name="T18" fmla="*/ 3052 w 11200"/>
              <a:gd name="T19" fmla="*/ 3618 h 11200"/>
              <a:gd name="T20" fmla="*/ 3054 w 11200"/>
              <a:gd name="T21" fmla="*/ 3054 h 11200"/>
              <a:gd name="T22" fmla="*/ 3618 w 11200"/>
              <a:gd name="T23" fmla="*/ 3052 h 11200"/>
              <a:gd name="T24" fmla="*/ 5600 w 11200"/>
              <a:gd name="T25" fmla="*/ 5034 h 11200"/>
              <a:gd name="T26" fmla="*/ 7582 w 11200"/>
              <a:gd name="T27" fmla="*/ 3052 h 11200"/>
              <a:gd name="T28" fmla="*/ 8146 w 11200"/>
              <a:gd name="T29" fmla="*/ 3054 h 11200"/>
              <a:gd name="T30" fmla="*/ 8148 w 11200"/>
              <a:gd name="T31" fmla="*/ 3618 h 11200"/>
              <a:gd name="T32" fmla="*/ 6166 w 11200"/>
              <a:gd name="T33" fmla="*/ 5600 h 11200"/>
              <a:gd name="T34" fmla="*/ 5600 w 11200"/>
              <a:gd name="T35" fmla="*/ 11200 h 11200"/>
              <a:gd name="T36" fmla="*/ 0 w 11200"/>
              <a:gd name="T37" fmla="*/ 5600 h 11200"/>
              <a:gd name="T38" fmla="*/ 5600 w 11200"/>
              <a:gd name="T39" fmla="*/ 0 h 11200"/>
              <a:gd name="T40" fmla="*/ 11200 w 11200"/>
              <a:gd name="T41" fmla="*/ 5600 h 11200"/>
              <a:gd name="T42" fmla="*/ 5600 w 11200"/>
              <a:gd name="T43" fmla="*/ 11200 h 11200"/>
              <a:gd name="T44" fmla="*/ 5600 w 11200"/>
              <a:gd name="T45" fmla="*/ 10400 h 11200"/>
              <a:gd name="T46" fmla="*/ 10400 w 11200"/>
              <a:gd name="T47" fmla="*/ 5600 h 11200"/>
              <a:gd name="T48" fmla="*/ 5600 w 11200"/>
              <a:gd name="T49" fmla="*/ 800 h 11200"/>
              <a:gd name="T50" fmla="*/ 800 w 11200"/>
              <a:gd name="T51" fmla="*/ 5600 h 11200"/>
              <a:gd name="T52" fmla="*/ 5600 w 11200"/>
              <a:gd name="T53" fmla="*/ 10400 h 1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200" h="11200">
                <a:moveTo>
                  <a:pt x="6166" y="5600"/>
                </a:moveTo>
                <a:lnTo>
                  <a:pt x="8148" y="7582"/>
                </a:lnTo>
                <a:cubicBezTo>
                  <a:pt x="8303" y="7738"/>
                  <a:pt x="8303" y="7991"/>
                  <a:pt x="8146" y="8146"/>
                </a:cubicBezTo>
                <a:cubicBezTo>
                  <a:pt x="7990" y="8302"/>
                  <a:pt x="7738" y="8303"/>
                  <a:pt x="7582" y="8148"/>
                </a:cubicBezTo>
                <a:lnTo>
                  <a:pt x="5600" y="6166"/>
                </a:lnTo>
                <a:lnTo>
                  <a:pt x="3618" y="8148"/>
                </a:lnTo>
                <a:cubicBezTo>
                  <a:pt x="3462" y="8303"/>
                  <a:pt x="3209" y="8303"/>
                  <a:pt x="3054" y="8146"/>
                </a:cubicBezTo>
                <a:cubicBezTo>
                  <a:pt x="2898" y="7990"/>
                  <a:pt x="2897" y="7738"/>
                  <a:pt x="3052" y="7582"/>
                </a:cubicBezTo>
                <a:lnTo>
                  <a:pt x="5034" y="5600"/>
                </a:lnTo>
                <a:lnTo>
                  <a:pt x="3052" y="3618"/>
                </a:lnTo>
                <a:cubicBezTo>
                  <a:pt x="2896" y="3462"/>
                  <a:pt x="2897" y="3209"/>
                  <a:pt x="3054" y="3054"/>
                </a:cubicBezTo>
                <a:cubicBezTo>
                  <a:pt x="3209" y="2898"/>
                  <a:pt x="3462" y="2897"/>
                  <a:pt x="3618" y="3052"/>
                </a:cubicBezTo>
                <a:lnTo>
                  <a:pt x="5600" y="5034"/>
                </a:lnTo>
                <a:lnTo>
                  <a:pt x="7582" y="3052"/>
                </a:lnTo>
                <a:cubicBezTo>
                  <a:pt x="7738" y="2897"/>
                  <a:pt x="7991" y="2897"/>
                  <a:pt x="8146" y="3054"/>
                </a:cubicBezTo>
                <a:cubicBezTo>
                  <a:pt x="8302" y="3210"/>
                  <a:pt x="8303" y="3462"/>
                  <a:pt x="8148" y="3618"/>
                </a:cubicBezTo>
                <a:lnTo>
                  <a:pt x="6166" y="5600"/>
                </a:lnTo>
                <a:close/>
                <a:moveTo>
                  <a:pt x="5600" y="11200"/>
                </a:moveTo>
                <a:cubicBezTo>
                  <a:pt x="2507" y="11200"/>
                  <a:pt x="0" y="8693"/>
                  <a:pt x="0" y="5600"/>
                </a:cubicBezTo>
                <a:cubicBezTo>
                  <a:pt x="0" y="2507"/>
                  <a:pt x="2507" y="0"/>
                  <a:pt x="5600" y="0"/>
                </a:cubicBezTo>
                <a:cubicBezTo>
                  <a:pt x="8693" y="0"/>
                  <a:pt x="11200" y="2507"/>
                  <a:pt x="11200" y="5600"/>
                </a:cubicBezTo>
                <a:cubicBezTo>
                  <a:pt x="11200" y="8693"/>
                  <a:pt x="8693" y="11200"/>
                  <a:pt x="5600" y="11200"/>
                </a:cubicBezTo>
                <a:close/>
                <a:moveTo>
                  <a:pt x="5600" y="10400"/>
                </a:moveTo>
                <a:cubicBezTo>
                  <a:pt x="8251" y="10400"/>
                  <a:pt x="10400" y="8251"/>
                  <a:pt x="10400" y="5600"/>
                </a:cubicBezTo>
                <a:cubicBezTo>
                  <a:pt x="10400" y="2949"/>
                  <a:pt x="8251" y="800"/>
                  <a:pt x="5600" y="800"/>
                </a:cubicBezTo>
                <a:cubicBezTo>
                  <a:pt x="2949" y="800"/>
                  <a:pt x="800" y="2949"/>
                  <a:pt x="800" y="5600"/>
                </a:cubicBezTo>
                <a:cubicBezTo>
                  <a:pt x="800" y="8251"/>
                  <a:pt x="2949" y="10400"/>
                  <a:pt x="5600" y="10400"/>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53" name="文本框 52">
            <a:extLst>
              <a:ext uri="{FF2B5EF4-FFF2-40B4-BE49-F238E27FC236}">
                <a16:creationId xmlns:a16="http://schemas.microsoft.com/office/drawing/2014/main" id="{91AB1AE1-6F28-44DA-983D-159793280062}"/>
              </a:ext>
            </a:extLst>
          </p:cNvPr>
          <p:cNvSpPr txBox="1"/>
          <p:nvPr/>
        </p:nvSpPr>
        <p:spPr>
          <a:xfrm>
            <a:off x="10770755" y="3227652"/>
            <a:ext cx="100217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cache</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2" name="灯片编号占位符 1">
            <a:extLst>
              <a:ext uri="{FF2B5EF4-FFF2-40B4-BE49-F238E27FC236}">
                <a16:creationId xmlns:a16="http://schemas.microsoft.com/office/drawing/2014/main" id="{16A3DF1F-7E2D-4840-BAE0-6D8EA79087C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
        <p:nvSpPr>
          <p:cNvPr id="35" name="文本框 34">
            <a:extLst>
              <a:ext uri="{FF2B5EF4-FFF2-40B4-BE49-F238E27FC236}">
                <a16:creationId xmlns:a16="http://schemas.microsoft.com/office/drawing/2014/main" id="{43A39B31-6414-4FC2-85A3-53D1E78DFF63}"/>
              </a:ext>
            </a:extLst>
          </p:cNvPr>
          <p:cNvSpPr txBox="1"/>
          <p:nvPr/>
        </p:nvSpPr>
        <p:spPr>
          <a:xfrm>
            <a:off x="6235478" y="3786385"/>
            <a:ext cx="191770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互聯網</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服務器</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Tree>
    <p:custDataLst>
      <p:tags r:id="rId1"/>
    </p:custDataLst>
    <p:extLst>
      <p:ext uri="{BB962C8B-B14F-4D97-AF65-F5344CB8AC3E}">
        <p14:creationId xmlns:p14="http://schemas.microsoft.com/office/powerpoint/2010/main" val="3999492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89675232-E8A1-4EEF-AFD9-1E2783E96669}"/>
              </a:ext>
            </a:extLst>
          </p:cNvPr>
          <p:cNvSpPr>
            <a:spLocks/>
          </p:cNvSpPr>
          <p:nvPr/>
        </p:nvSpPr>
        <p:spPr bwMode="auto">
          <a:xfrm>
            <a:off x="538619" y="5656936"/>
            <a:ext cx="11173217" cy="1064540"/>
          </a:xfrm>
          <a:prstGeom prst="rect">
            <a:avLst/>
          </a:prstGeom>
          <a:solidFill>
            <a:schemeClr val="accent3">
              <a:lumMod val="60000"/>
              <a:lumOff val="40000"/>
            </a:schemeClr>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kumimoji="0" lang="en-US" sz="1600" kern="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5" name="矩形 14">
            <a:extLst>
              <a:ext uri="{FF2B5EF4-FFF2-40B4-BE49-F238E27FC236}">
                <a16:creationId xmlns:a16="http://schemas.microsoft.com/office/drawing/2014/main" id="{E2C99F86-B0A6-4943-9B6C-CCCE226A5EDB}"/>
              </a:ext>
            </a:extLst>
          </p:cNvPr>
          <p:cNvSpPr>
            <a:spLocks/>
          </p:cNvSpPr>
          <p:nvPr/>
        </p:nvSpPr>
        <p:spPr bwMode="auto">
          <a:xfrm>
            <a:off x="538619" y="1075317"/>
            <a:ext cx="11173217" cy="4513807"/>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5000"/>
              </a:lnSpc>
              <a:defRPr/>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normAutofit fontScale="90000"/>
          </a:bodyPr>
          <a:lstStyle/>
          <a:p>
            <a:r>
              <a:rPr kumimoji="1" lang="zh-CN" altLang="en-US" dirty="0">
                <a:solidFill>
                  <a:srgbClr val="C00000"/>
                </a:solidFill>
              </a:rPr>
              <a:t>遠程緩存中毒攻擊</a:t>
            </a:r>
            <a:r>
              <a:rPr kumimoji="1" lang="en-US" altLang="zh-CN" dirty="0">
                <a:solidFill>
                  <a:srgbClr val="C00000"/>
                </a:solidFill>
              </a:rPr>
              <a:t>—</a:t>
            </a:r>
            <a:r>
              <a:rPr kumimoji="1" lang="zh-CN" altLang="en-US" dirty="0">
                <a:solidFill>
                  <a:srgbClr val="C00000"/>
                </a:solidFill>
              </a:rPr>
              <a:t>持續發起不存在的域名請求</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2">
            <a:extLst>
              <a:ext uri="{FF2B5EF4-FFF2-40B4-BE49-F238E27FC236}">
                <a16:creationId xmlns:a16="http://schemas.microsoft.com/office/drawing/2014/main" id="{50E33959-EC61-4A2C-BA41-AB900E31EE21}"/>
              </a:ext>
            </a:extLst>
          </p:cNvPr>
          <p:cNvSpPr>
            <a:spLocks noChangeArrowheads="1"/>
          </p:cNvSpPr>
          <p:nvPr/>
        </p:nvSpPr>
        <p:spPr bwMode="auto">
          <a:xfrm>
            <a:off x="2059307" y="132863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a:extLst>
              <a:ext uri="{FF2B5EF4-FFF2-40B4-BE49-F238E27FC236}">
                <a16:creationId xmlns:a16="http://schemas.microsoft.com/office/drawing/2014/main" id="{3D82C593-AD9D-4FAD-AA46-FF15D7F34E74}"/>
              </a:ext>
            </a:extLst>
          </p:cNvPr>
          <p:cNvSpPr>
            <a:spLocks noChangeArrowheads="1"/>
          </p:cNvSpPr>
          <p:nvPr/>
        </p:nvSpPr>
        <p:spPr bwMode="auto">
          <a:xfrm>
            <a:off x="2425298" y="1158993"/>
            <a:ext cx="12126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3" name="文本框 12">
            <a:extLst>
              <a:ext uri="{FF2B5EF4-FFF2-40B4-BE49-F238E27FC236}">
                <a16:creationId xmlns:a16="http://schemas.microsoft.com/office/drawing/2014/main" id="{C1F92510-FA43-4C81-8CB7-ED026619CD56}"/>
              </a:ext>
            </a:extLst>
          </p:cNvPr>
          <p:cNvSpPr txBox="1"/>
          <p:nvPr/>
        </p:nvSpPr>
        <p:spPr>
          <a:xfrm>
            <a:off x="4523516" y="5127459"/>
            <a:ext cx="2908300" cy="400110"/>
          </a:xfrm>
          <a:prstGeom prst="rect">
            <a:avLst/>
          </a:prstGeom>
          <a:noFill/>
        </p:spPr>
        <p:txBody>
          <a:bodyPr wrap="square">
            <a:spAutoFit/>
          </a:bodyPr>
          <a:lstStyle/>
          <a:p>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Kaminsky</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攻擊過程</a:t>
            </a:r>
            <a:endParaRPr lang="zh-CN" altLang="en-US" sz="200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78CBB0F2-483F-402D-8255-6068B20DA568}"/>
              </a:ext>
            </a:extLst>
          </p:cNvPr>
          <p:cNvSpPr txBox="1"/>
          <p:nvPr/>
        </p:nvSpPr>
        <p:spPr>
          <a:xfrm>
            <a:off x="534352" y="6004725"/>
            <a:ext cx="11414760" cy="461665"/>
          </a:xfrm>
          <a:prstGeom prst="rect">
            <a:avLst/>
          </a:prstGeom>
          <a:noFill/>
        </p:spPr>
        <p:txBody>
          <a:bodyPr wrap="square">
            <a:spAutoFit/>
          </a:bodyPr>
          <a:lstStyle/>
          <a:p>
            <a:r>
              <a:rPr lang="zh-CN" altLang="en-US" sz="2400" b="1"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關鍵點：</a:t>
            </a:r>
            <a:r>
              <a:rPr lang="zh-CN" altLang="en-US" sz="2400" b="1" dirty="0">
                <a:solidFill>
                  <a:schemeClr val="bg1"/>
                </a:solidFill>
                <a:latin typeface="微软雅黑" panose="020B0503020204020204" pitchFamily="34" charset="-122"/>
                <a:ea typeface="微软雅黑" panose="020B0503020204020204" pitchFamily="34" charset="-122"/>
              </a:rPr>
              <a:t>主動訪問不存在的域名，這種域名在本地</a:t>
            </a:r>
            <a:r>
              <a:rPr lang="en-US" altLang="zh-CN" sz="2400" b="1" dirty="0">
                <a:solidFill>
                  <a:schemeClr val="bg1"/>
                </a:solidFill>
                <a:latin typeface="微软雅黑" panose="020B0503020204020204" pitchFamily="34" charset="-122"/>
                <a:ea typeface="微软雅黑" panose="020B0503020204020204" pitchFamily="34" charset="-122"/>
              </a:rPr>
              <a:t>DNS</a:t>
            </a:r>
            <a:r>
              <a:rPr lang="zh-CN" altLang="en-US" sz="2400" b="1" dirty="0">
                <a:solidFill>
                  <a:schemeClr val="bg1"/>
                </a:solidFill>
                <a:latin typeface="微软雅黑" panose="020B0503020204020204" pitchFamily="34" charset="-122"/>
                <a:ea typeface="微软雅黑" panose="020B0503020204020204" pitchFamily="34" charset="-122"/>
              </a:rPr>
              <a:t>服務器沒有緩存</a:t>
            </a:r>
          </a:p>
        </p:txBody>
      </p:sp>
      <p:sp>
        <p:nvSpPr>
          <p:cNvPr id="6" name="灯片编号占位符 5">
            <a:extLst>
              <a:ext uri="{FF2B5EF4-FFF2-40B4-BE49-F238E27FC236}">
                <a16:creationId xmlns:a16="http://schemas.microsoft.com/office/drawing/2014/main" id="{F985284C-0D84-4E49-B179-B9EB0A776AFF}"/>
              </a:ext>
            </a:extLst>
          </p:cNvPr>
          <p:cNvSpPr>
            <a:spLocks noGrp="1"/>
          </p:cNvSpPr>
          <p:nvPr>
            <p:ph type="sldNum" sz="quarter" idx="4"/>
          </p:nvPr>
        </p:nvSpPr>
        <p:spPr/>
        <p:txBody>
          <a:bodyPr/>
          <a:lstStyle/>
          <a:p>
            <a:fld id="{015CE2E0-6DDF-4FAE-9DBA-F1C48BF5C133}" type="slidenum">
              <a:rPr lang="zh-CN" altLang="en-US" smtClean="0"/>
              <a:t>33</a:t>
            </a:fld>
            <a:endParaRPr lang="zh-CN" altLang="en-US" dirty="0"/>
          </a:p>
        </p:txBody>
      </p:sp>
      <p:pic>
        <p:nvPicPr>
          <p:cNvPr id="17" name="Picture 16">
            <a:extLst>
              <a:ext uri="{FF2B5EF4-FFF2-40B4-BE49-F238E27FC236}">
                <a16:creationId xmlns:a16="http://schemas.microsoft.com/office/drawing/2014/main" id="{9ADFEB09-060A-A8BD-D6CD-3E0717A2C350}"/>
              </a:ext>
            </a:extLst>
          </p:cNvPr>
          <p:cNvPicPr>
            <a:picLocks noChangeAspect="1"/>
          </p:cNvPicPr>
          <p:nvPr/>
        </p:nvPicPr>
        <p:blipFill>
          <a:blip r:embed="rId3"/>
          <a:stretch>
            <a:fillRect/>
          </a:stretch>
        </p:blipFill>
        <p:spPr>
          <a:xfrm>
            <a:off x="773025" y="1575050"/>
            <a:ext cx="10409282" cy="3119869"/>
          </a:xfrm>
          <a:prstGeom prst="rect">
            <a:avLst/>
          </a:prstGeom>
        </p:spPr>
      </p:pic>
    </p:spTree>
    <p:extLst>
      <p:ext uri="{BB962C8B-B14F-4D97-AF65-F5344CB8AC3E}">
        <p14:creationId xmlns:p14="http://schemas.microsoft.com/office/powerpoint/2010/main" val="32346559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3D1B8FF0-4DCA-4D66-95A3-7DC71679E5F9}"/>
              </a:ext>
            </a:extLst>
          </p:cNvPr>
          <p:cNvSpPr>
            <a:spLocks/>
          </p:cNvSpPr>
          <p:nvPr/>
        </p:nvSpPr>
        <p:spPr bwMode="auto">
          <a:xfrm>
            <a:off x="6826589" y="1953120"/>
            <a:ext cx="4914142" cy="3466642"/>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5000"/>
              </a:lnSpc>
              <a:defRPr/>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16" name="矩形 15">
            <a:extLst>
              <a:ext uri="{FF2B5EF4-FFF2-40B4-BE49-F238E27FC236}">
                <a16:creationId xmlns:a16="http://schemas.microsoft.com/office/drawing/2014/main" id="{89675232-E8A1-4EEF-AFD9-1E2783E96669}"/>
              </a:ext>
            </a:extLst>
          </p:cNvPr>
          <p:cNvSpPr>
            <a:spLocks/>
          </p:cNvSpPr>
          <p:nvPr/>
        </p:nvSpPr>
        <p:spPr bwMode="auto">
          <a:xfrm>
            <a:off x="538619" y="1020450"/>
            <a:ext cx="11173217" cy="821390"/>
          </a:xfrm>
          <a:prstGeom prst="rect">
            <a:avLst/>
          </a:prstGeom>
          <a:solidFill>
            <a:schemeClr val="accent3">
              <a:lumMod val="60000"/>
              <a:lumOff val="40000"/>
            </a:schemeClr>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kumimoji="0" lang="en-US" sz="1600" kern="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5" name="矩形 14">
            <a:extLst>
              <a:ext uri="{FF2B5EF4-FFF2-40B4-BE49-F238E27FC236}">
                <a16:creationId xmlns:a16="http://schemas.microsoft.com/office/drawing/2014/main" id="{E2C99F86-B0A6-4943-9B6C-CCCE226A5EDB}"/>
              </a:ext>
            </a:extLst>
          </p:cNvPr>
          <p:cNvSpPr>
            <a:spLocks/>
          </p:cNvSpPr>
          <p:nvPr/>
        </p:nvSpPr>
        <p:spPr bwMode="auto">
          <a:xfrm>
            <a:off x="538619" y="1953120"/>
            <a:ext cx="6088093" cy="3476746"/>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5000"/>
              </a:lnSpc>
              <a:defRPr/>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遠程緩存中毒攻擊</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2">
            <a:extLst>
              <a:ext uri="{FF2B5EF4-FFF2-40B4-BE49-F238E27FC236}">
                <a16:creationId xmlns:a16="http://schemas.microsoft.com/office/drawing/2014/main" id="{50E33959-EC61-4A2C-BA41-AB900E31EE21}"/>
              </a:ext>
            </a:extLst>
          </p:cNvPr>
          <p:cNvSpPr>
            <a:spLocks noChangeArrowheads="1"/>
          </p:cNvSpPr>
          <p:nvPr/>
        </p:nvSpPr>
        <p:spPr bwMode="auto">
          <a:xfrm>
            <a:off x="2059307" y="132863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a:extLst>
              <a:ext uri="{FF2B5EF4-FFF2-40B4-BE49-F238E27FC236}">
                <a16:creationId xmlns:a16="http://schemas.microsoft.com/office/drawing/2014/main" id="{3D82C593-AD9D-4FAD-AA46-FF15D7F34E74}"/>
              </a:ext>
            </a:extLst>
          </p:cNvPr>
          <p:cNvSpPr>
            <a:spLocks noChangeArrowheads="1"/>
          </p:cNvSpPr>
          <p:nvPr/>
        </p:nvSpPr>
        <p:spPr bwMode="auto">
          <a:xfrm>
            <a:off x="2425298" y="1158993"/>
            <a:ext cx="12126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2" name="文本框 11">
            <a:extLst>
              <a:ext uri="{FF2B5EF4-FFF2-40B4-BE49-F238E27FC236}">
                <a16:creationId xmlns:a16="http://schemas.microsoft.com/office/drawing/2014/main" id="{78CBB0F2-483F-402D-8255-6068B20DA568}"/>
              </a:ext>
            </a:extLst>
          </p:cNvPr>
          <p:cNvSpPr txBox="1"/>
          <p:nvPr/>
        </p:nvSpPr>
        <p:spPr>
          <a:xfrm>
            <a:off x="4499400" y="1248328"/>
            <a:ext cx="5755003" cy="461665"/>
          </a:xfrm>
          <a:prstGeom prst="rect">
            <a:avLst/>
          </a:prstGeom>
          <a:noFill/>
        </p:spPr>
        <p:txBody>
          <a:bodyPr wrap="square">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在權威區和附加區實施欺騙</a:t>
            </a:r>
          </a:p>
        </p:txBody>
      </p:sp>
      <p:sp>
        <p:nvSpPr>
          <p:cNvPr id="14" name="文本框 13">
            <a:extLst>
              <a:ext uri="{FF2B5EF4-FFF2-40B4-BE49-F238E27FC236}">
                <a16:creationId xmlns:a16="http://schemas.microsoft.com/office/drawing/2014/main" id="{0C7AFB4B-5184-4EEC-8244-7368EE802373}"/>
              </a:ext>
            </a:extLst>
          </p:cNvPr>
          <p:cNvSpPr txBox="1"/>
          <p:nvPr/>
        </p:nvSpPr>
        <p:spPr>
          <a:xfrm>
            <a:off x="971148" y="1242251"/>
            <a:ext cx="2908300" cy="430887"/>
          </a:xfrm>
          <a:prstGeom prst="rect">
            <a:avLst/>
          </a:prstGeom>
          <a:noFill/>
        </p:spPr>
        <p:txBody>
          <a:bodyPr wrap="square">
            <a:spAutoFit/>
          </a:bodyPr>
          <a:lstStyle/>
          <a:p>
            <a:r>
              <a:rPr lang="zh-CN" altLang="en-US" sz="2200" b="1"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成功原因：</a:t>
            </a:r>
            <a:endParaRPr lang="zh-CN" altLang="en-US" sz="2200" b="1" dirty="0">
              <a:solidFill>
                <a:srgbClr val="FFFF00"/>
              </a:solidFill>
              <a:latin typeface="微软雅黑" panose="020B0503020204020204" pitchFamily="34" charset="-122"/>
              <a:ea typeface="微软雅黑" panose="020B0503020204020204" pitchFamily="34" charset="-122"/>
            </a:endParaRPr>
          </a:p>
        </p:txBody>
      </p:sp>
      <p:sp>
        <p:nvSpPr>
          <p:cNvPr id="6" name="灯片编号占位符 5">
            <a:extLst>
              <a:ext uri="{FF2B5EF4-FFF2-40B4-BE49-F238E27FC236}">
                <a16:creationId xmlns:a16="http://schemas.microsoft.com/office/drawing/2014/main" id="{F985284C-0D84-4E49-B179-B9EB0A776AFF}"/>
              </a:ext>
            </a:extLst>
          </p:cNvPr>
          <p:cNvSpPr>
            <a:spLocks noGrp="1"/>
          </p:cNvSpPr>
          <p:nvPr>
            <p:ph type="sldNum" sz="quarter" idx="4"/>
          </p:nvPr>
        </p:nvSpPr>
        <p:spPr>
          <a:xfrm>
            <a:off x="9448800" y="6538912"/>
            <a:ext cx="2743200" cy="365125"/>
          </a:xfrm>
        </p:spPr>
        <p:txBody>
          <a:bodyPr/>
          <a:lstStyle/>
          <a:p>
            <a:fld id="{015CE2E0-6DDF-4FAE-9DBA-F1C48BF5C133}" type="slidenum">
              <a:rPr lang="zh-CN" altLang="en-US" smtClean="0"/>
              <a:t>34</a:t>
            </a:fld>
            <a:endParaRPr lang="zh-CN" altLang="en-US" dirty="0"/>
          </a:p>
        </p:txBody>
      </p:sp>
      <p:sp>
        <p:nvSpPr>
          <p:cNvPr id="9" name="Rectangle 1">
            <a:extLst>
              <a:ext uri="{FF2B5EF4-FFF2-40B4-BE49-F238E27FC236}">
                <a16:creationId xmlns:a16="http://schemas.microsoft.com/office/drawing/2014/main" id="{E65F53C4-7EBC-4556-B2DC-F920B55B5A42}"/>
              </a:ext>
            </a:extLst>
          </p:cNvPr>
          <p:cNvSpPr>
            <a:spLocks noChangeArrowheads="1"/>
          </p:cNvSpPr>
          <p:nvPr/>
        </p:nvSpPr>
        <p:spPr bwMode="auto">
          <a:xfrm>
            <a:off x="738496" y="2018831"/>
            <a:ext cx="5746125" cy="2802498"/>
          </a:xfrm>
          <a:prstGeom prst="rect">
            <a:avLst/>
          </a:prstGeom>
          <a:noFill/>
          <a:ln>
            <a:noFill/>
          </a:ln>
          <a:effectLst/>
        </p:spPr>
        <p:txBody>
          <a:bodyPr vert="horz" wrap="none" lIns="0" tIns="0" rIns="0" bIns="0" numCol="1" anchor="ctr" anchorCtr="0" compatLnSpc="1">
            <a:prstTxWarp prst="textNoShape">
              <a:avLst/>
            </a:prstTxWarp>
            <a:spAutoFit/>
          </a:bodyPr>
          <a:lstStyle/>
          <a:p>
            <a:pPr marL="72000" marR="0" lvl="0" indent="0" algn="l" defTabSz="914400" rtl="0" eaLnBrk="0" fontAlgn="base" latinLnBrk="0" hangingPunct="0">
              <a:lnSpc>
                <a:spcPct val="150000"/>
              </a:lnSpc>
              <a:spcBef>
                <a:spcPct val="0"/>
              </a:spcBef>
              <a:spcAft>
                <a:spcPct val="0"/>
              </a:spcAft>
              <a:buClrTx/>
              <a:buSzTx/>
              <a:buFontTx/>
              <a:buNone/>
              <a:tabLst/>
            </a:pPr>
            <a:endParaRPr lang="en-US" altLang="zh-CN" sz="2200" dirty="0">
              <a:latin typeface="微软雅黑" panose="020B0503020204020204" pitchFamily="34" charset="-122"/>
              <a:ea typeface="微软雅黑" panose="020B0503020204020204" pitchFamily="34" charset="-122"/>
            </a:endParaRPr>
          </a:p>
          <a:p>
            <a:pPr marL="72000" marR="0" lvl="0" indent="0" algn="l" defTabSz="914400" rtl="0" eaLnBrk="0" fontAlgn="base" latinLnBrk="0" hangingPunct="0">
              <a:lnSpc>
                <a:spcPct val="150000"/>
              </a:lnSpc>
              <a:spcBef>
                <a:spcPct val="0"/>
              </a:spcBef>
              <a:spcAft>
                <a:spcPct val="0"/>
              </a:spcAft>
              <a:buClrTx/>
              <a:buSzTx/>
              <a:buFontTx/>
              <a:buNone/>
              <a:tabLst/>
            </a:pPr>
            <a:r>
              <a:rPr lang="zh-CN" altLang="zh-CN" sz="2000" dirty="0">
                <a:latin typeface="微软雅黑" panose="020B0503020204020204" pitchFamily="34" charset="-122"/>
                <a:ea typeface="微软雅黑" panose="020B0503020204020204" pitchFamily="34" charset="-122"/>
              </a:rPr>
              <a:t>問題區：</a:t>
            </a:r>
            <a:r>
              <a:rPr lang="en-US" altLang="zh-CN" sz="2000" dirty="0" err="1">
                <a:latin typeface="微软雅黑" panose="020B0503020204020204" pitchFamily="34" charset="-122"/>
                <a:ea typeface="微软雅黑" panose="020B0503020204020204" pitchFamily="34" charset="-122"/>
              </a:rPr>
              <a:t>abc</a:t>
            </a: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example</a:t>
            </a:r>
            <a:r>
              <a:rPr lang="zh-CN" altLang="zh-CN" sz="2000" dirty="0">
                <a:latin typeface="微软雅黑" panose="020B0503020204020204" pitchFamily="34" charset="-122"/>
                <a:ea typeface="微软雅黑" panose="020B0503020204020204" pitchFamily="34" charset="-122"/>
              </a:rPr>
              <a:t>.com </a:t>
            </a:r>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A </a:t>
            </a:r>
            <a:endParaRPr lang="en-US" altLang="zh-CN" sz="2000" dirty="0">
              <a:latin typeface="微软雅黑" panose="020B0503020204020204" pitchFamily="34" charset="-122"/>
              <a:ea typeface="微软雅黑" panose="020B0503020204020204" pitchFamily="34" charset="-122"/>
            </a:endParaRPr>
          </a:p>
          <a:p>
            <a:pPr marL="72000" marR="0" lvl="0" indent="0" algn="l" defTabSz="914400" rtl="0" eaLnBrk="0" fontAlgn="base" latinLnBrk="0" hangingPunct="0">
              <a:lnSpc>
                <a:spcPct val="150000"/>
              </a:lnSpc>
              <a:spcBef>
                <a:spcPct val="0"/>
              </a:spcBef>
              <a:spcAft>
                <a:spcPct val="0"/>
              </a:spcAft>
              <a:buClrTx/>
              <a:buSzTx/>
              <a:buFontTx/>
              <a:buNone/>
              <a:tabLst/>
            </a:pPr>
            <a:r>
              <a:rPr lang="zh-CN" altLang="zh-CN" sz="2000" dirty="0">
                <a:latin typeface="微软雅黑" panose="020B0503020204020204" pitchFamily="34" charset="-122"/>
                <a:ea typeface="微软雅黑" panose="020B0503020204020204" pitchFamily="34" charset="-122"/>
              </a:rPr>
              <a:t>應答區：（空） </a:t>
            </a:r>
            <a:endParaRPr lang="en-US" altLang="zh-CN" sz="2000" dirty="0">
              <a:latin typeface="微软雅黑" panose="020B0503020204020204" pitchFamily="34" charset="-122"/>
              <a:ea typeface="微软雅黑" panose="020B0503020204020204" pitchFamily="34" charset="-122"/>
            </a:endParaRPr>
          </a:p>
          <a:p>
            <a:pPr marL="72000" marR="0" lvl="0" indent="0" algn="l" defTabSz="914400" rtl="0" eaLnBrk="0" fontAlgn="base" latinLnBrk="0" hangingPunct="0">
              <a:lnSpc>
                <a:spcPct val="150000"/>
              </a:lnSpc>
              <a:spcBef>
                <a:spcPct val="0"/>
              </a:spcBef>
              <a:spcAft>
                <a:spcPct val="0"/>
              </a:spcAft>
              <a:buClrTx/>
              <a:buSzTx/>
              <a:buFontTx/>
              <a:buNone/>
              <a:tabLst/>
            </a:pPr>
            <a:r>
              <a:rPr lang="zh-CN" altLang="zh-CN" sz="2000" dirty="0">
                <a:latin typeface="微软雅黑" panose="020B0503020204020204" pitchFamily="34" charset="-122"/>
                <a:ea typeface="微软雅黑" panose="020B0503020204020204" pitchFamily="34" charset="-122"/>
              </a:rPr>
              <a:t>權威區：</a:t>
            </a:r>
            <a:r>
              <a:rPr lang="en-US" altLang="zh-CN" sz="2000" dirty="0">
                <a:latin typeface="微软雅黑" panose="020B0503020204020204" pitchFamily="34" charset="-122"/>
                <a:ea typeface="微软雅黑" panose="020B0503020204020204" pitchFamily="34" charset="-122"/>
              </a:rPr>
              <a:t> example</a:t>
            </a:r>
            <a:r>
              <a:rPr lang="zh-CN" altLang="zh-CN" sz="2000" dirty="0">
                <a:latin typeface="微软雅黑" panose="020B0503020204020204" pitchFamily="34" charset="-122"/>
                <a:ea typeface="微软雅黑" panose="020B0503020204020204" pitchFamily="34" charset="-122"/>
              </a:rPr>
              <a:t>.com NS www.</a:t>
            </a:r>
            <a:r>
              <a:rPr lang="en-US" altLang="zh-CN" sz="2000" dirty="0">
                <a:latin typeface="微软雅黑" panose="020B0503020204020204" pitchFamily="34" charset="-122"/>
                <a:ea typeface="微软雅黑" panose="020B0503020204020204" pitchFamily="34" charset="-122"/>
              </a:rPr>
              <a:t> example</a:t>
            </a:r>
            <a:r>
              <a:rPr lang="zh-CN" altLang="zh-CN" sz="2000" dirty="0">
                <a:latin typeface="微软雅黑" panose="020B0503020204020204" pitchFamily="34" charset="-122"/>
                <a:ea typeface="微软雅黑" panose="020B0503020204020204" pitchFamily="34" charset="-122"/>
              </a:rPr>
              <a:t>.com </a:t>
            </a:r>
            <a:endParaRPr lang="en-US" altLang="zh-CN" sz="2000" dirty="0">
              <a:latin typeface="微软雅黑" panose="020B0503020204020204" pitchFamily="34" charset="-122"/>
              <a:ea typeface="微软雅黑" panose="020B0503020204020204" pitchFamily="34" charset="-122"/>
            </a:endParaRPr>
          </a:p>
          <a:p>
            <a:pPr marL="72000" marR="0" lvl="0" indent="0" algn="l" defTabSz="914400" rtl="0" eaLnBrk="0" fontAlgn="base" latinLnBrk="0" hangingPunct="0">
              <a:lnSpc>
                <a:spcPct val="150000"/>
              </a:lnSpc>
              <a:spcBef>
                <a:spcPct val="0"/>
              </a:spcBef>
              <a:spcAft>
                <a:spcPct val="0"/>
              </a:spcAft>
              <a:buClrTx/>
              <a:buSzTx/>
              <a:buFontTx/>
              <a:buNone/>
              <a:tabLst/>
            </a:pPr>
            <a:r>
              <a:rPr lang="zh-CN" altLang="zh-CN" sz="2000" dirty="0">
                <a:latin typeface="微软雅黑" panose="020B0503020204020204" pitchFamily="34" charset="-122"/>
                <a:ea typeface="微软雅黑" panose="020B0503020204020204" pitchFamily="34" charset="-122"/>
              </a:rPr>
              <a:t>附加區：www.</a:t>
            </a:r>
            <a:r>
              <a:rPr lang="en-US" altLang="zh-CN" sz="2000" dirty="0">
                <a:latin typeface="微软雅黑" panose="020B0503020204020204" pitchFamily="34" charset="-122"/>
                <a:ea typeface="微软雅黑" panose="020B0503020204020204" pitchFamily="34" charset="-122"/>
              </a:rPr>
              <a:t> example</a:t>
            </a:r>
            <a:r>
              <a:rPr lang="zh-CN" altLang="zh-CN" sz="2000" dirty="0">
                <a:latin typeface="微软雅黑" panose="020B0503020204020204" pitchFamily="34" charset="-122"/>
                <a:ea typeface="微软雅黑" panose="020B0503020204020204" pitchFamily="34" charset="-122"/>
              </a:rPr>
              <a:t>.com A </a:t>
            </a:r>
            <a:r>
              <a:rPr lang="en-US" altLang="zh-CN" sz="2000" dirty="0">
                <a:solidFill>
                  <a:srgbClr val="C00000"/>
                </a:solidFill>
                <a:latin typeface="微软雅黑" panose="020B0503020204020204" pitchFamily="34" charset="-122"/>
                <a:ea typeface="微软雅黑" panose="020B0503020204020204" pitchFamily="34" charset="-122"/>
              </a:rPr>
              <a:t>1</a:t>
            </a:r>
            <a:r>
              <a:rPr lang="zh-CN" altLang="zh-CN" sz="2000" dirty="0">
                <a:solidFill>
                  <a:srgbClr val="C00000"/>
                </a:solidFill>
                <a:latin typeface="微软雅黑" panose="020B0503020204020204" pitchFamily="34" charset="-122"/>
                <a:ea typeface="微软雅黑" panose="020B0503020204020204" pitchFamily="34" charset="-122"/>
              </a:rPr>
              <a:t>.</a:t>
            </a:r>
            <a:r>
              <a:rPr lang="en-US" altLang="zh-CN" sz="2000" dirty="0">
                <a:solidFill>
                  <a:srgbClr val="C00000"/>
                </a:solidFill>
                <a:latin typeface="微软雅黑" panose="020B0503020204020204" pitchFamily="34" charset="-122"/>
                <a:ea typeface="微软雅黑" panose="020B0503020204020204" pitchFamily="34" charset="-122"/>
              </a:rPr>
              <a:t>2</a:t>
            </a:r>
            <a:r>
              <a:rPr lang="zh-CN" altLang="zh-CN" sz="2000" dirty="0">
                <a:solidFill>
                  <a:srgbClr val="C00000"/>
                </a:solidFill>
                <a:latin typeface="微软雅黑" panose="020B0503020204020204" pitchFamily="34" charset="-122"/>
                <a:ea typeface="微软雅黑" panose="020B0503020204020204" pitchFamily="34" charset="-122"/>
              </a:rPr>
              <a:t>.</a:t>
            </a:r>
            <a:r>
              <a:rPr lang="en-US" altLang="zh-CN" sz="2000" dirty="0">
                <a:solidFill>
                  <a:srgbClr val="C00000"/>
                </a:solidFill>
                <a:latin typeface="微软雅黑" panose="020B0503020204020204" pitchFamily="34" charset="-122"/>
                <a:ea typeface="微软雅黑" panose="020B0503020204020204" pitchFamily="34" charset="-122"/>
              </a:rPr>
              <a:t>3</a:t>
            </a:r>
            <a:r>
              <a:rPr lang="zh-CN" altLang="zh-CN" sz="2000" dirty="0">
                <a:solidFill>
                  <a:srgbClr val="C00000"/>
                </a:solidFill>
                <a:latin typeface="微软雅黑" panose="020B0503020204020204" pitchFamily="34" charset="-122"/>
                <a:ea typeface="微软雅黑" panose="020B0503020204020204" pitchFamily="34" charset="-122"/>
              </a:rPr>
              <a:t>.</a:t>
            </a:r>
            <a:r>
              <a:rPr lang="en-US" altLang="zh-CN" sz="2000" dirty="0">
                <a:solidFill>
                  <a:srgbClr val="C00000"/>
                </a:solidFill>
                <a:latin typeface="微软雅黑" panose="020B0503020204020204" pitchFamily="34" charset="-122"/>
                <a:ea typeface="微软雅黑" panose="020B0503020204020204" pitchFamily="34" charset="-122"/>
              </a:rPr>
              <a:t>4</a:t>
            </a: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2200" dirty="0">
                <a:latin typeface="微软雅黑" panose="020B0503020204020204" pitchFamily="34" charset="-122"/>
                <a:ea typeface="微软雅黑" panose="020B0503020204020204" pitchFamily="34" charset="-122"/>
              </a:rPr>
              <a:t> </a:t>
            </a:r>
          </a:p>
        </p:txBody>
      </p:sp>
      <p:sp>
        <p:nvSpPr>
          <p:cNvPr id="17" name="文本框 16">
            <a:extLst>
              <a:ext uri="{FF2B5EF4-FFF2-40B4-BE49-F238E27FC236}">
                <a16:creationId xmlns:a16="http://schemas.microsoft.com/office/drawing/2014/main" id="{90563565-D999-4580-AF1E-0E9BEAA67E6C}"/>
              </a:ext>
            </a:extLst>
          </p:cNvPr>
          <p:cNvSpPr txBox="1"/>
          <p:nvPr/>
        </p:nvSpPr>
        <p:spPr>
          <a:xfrm>
            <a:off x="7045680" y="2393257"/>
            <a:ext cx="4465561" cy="2305568"/>
          </a:xfrm>
          <a:prstGeom prst="rect">
            <a:avLst/>
          </a:prstGeom>
          <a:noFill/>
        </p:spPr>
        <p:txBody>
          <a:bodyPr wrap="square">
            <a:spAutoFit/>
          </a:bodyPr>
          <a:lstStyle/>
          <a:p>
            <a:pPr>
              <a:lnSpc>
                <a:spcPct val="150000"/>
              </a:lnSpc>
            </a:pPr>
            <a:r>
              <a:rPr lang="zh-CN" altLang="en-US" sz="2000" dirty="0">
                <a:solidFill>
                  <a:srgbClr val="121212"/>
                </a:solidFill>
                <a:latin typeface="微软雅黑" panose="020B0503020204020204" pitchFamily="34" charset="-122"/>
                <a:ea typeface="微软雅黑" panose="020B0503020204020204" pitchFamily="34" charset="-122"/>
              </a:rPr>
              <a:t>僞造包幷沒有包含</a:t>
            </a:r>
            <a:r>
              <a:rPr lang="en-US" altLang="zh-CN" sz="2000" dirty="0" err="1">
                <a:latin typeface="微软雅黑" panose="020B0503020204020204" pitchFamily="34" charset="-122"/>
                <a:ea typeface="微软雅黑" panose="020B0503020204020204" pitchFamily="34" charset="-122"/>
              </a:rPr>
              <a:t>abc</a:t>
            </a: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example</a:t>
            </a:r>
            <a:r>
              <a:rPr lang="zh-CN" altLang="zh-CN" sz="2000" dirty="0">
                <a:latin typeface="微软雅黑" panose="020B0503020204020204" pitchFamily="34" charset="-122"/>
                <a:ea typeface="微软雅黑" panose="020B0503020204020204" pitchFamily="34" charset="-122"/>
              </a:rPr>
              <a:t>.com</a:t>
            </a:r>
            <a:r>
              <a:rPr lang="zh-CN" altLang="en-US" sz="2000" b="0" i="0" dirty="0">
                <a:solidFill>
                  <a:srgbClr val="121212"/>
                </a:solidFill>
                <a:effectLst/>
                <a:latin typeface="微软雅黑" panose="020B0503020204020204" pitchFamily="34" charset="-122"/>
                <a:ea typeface="微软雅黑" panose="020B0503020204020204" pitchFamily="34" charset="-122"/>
              </a:rPr>
              <a:t>的</a:t>
            </a:r>
            <a:r>
              <a:rPr lang="en-US" altLang="zh-CN" sz="2000" b="0" i="0" dirty="0">
                <a:solidFill>
                  <a:srgbClr val="121212"/>
                </a:solidFill>
                <a:effectLst/>
                <a:latin typeface="微软雅黑" panose="020B0503020204020204" pitchFamily="34" charset="-122"/>
                <a:ea typeface="微软雅黑" panose="020B0503020204020204" pitchFamily="34" charset="-122"/>
              </a:rPr>
              <a:t>A</a:t>
            </a:r>
            <a:r>
              <a:rPr lang="zh-CN" altLang="en-US" sz="2000" b="0" i="0" dirty="0">
                <a:solidFill>
                  <a:srgbClr val="121212"/>
                </a:solidFill>
                <a:effectLst/>
                <a:latin typeface="微软雅黑" panose="020B0503020204020204" pitchFamily="34" charset="-122"/>
                <a:ea typeface="微软雅黑" panose="020B0503020204020204" pitchFamily="34" charset="-122"/>
              </a:rPr>
              <a:t>記錄，但告訴</a:t>
            </a:r>
            <a:r>
              <a:rPr lang="en-US" altLang="zh-CN" sz="2000" b="0" i="0" dirty="0">
                <a:solidFill>
                  <a:srgbClr val="121212"/>
                </a:solidFill>
                <a:effectLst/>
                <a:latin typeface="微软雅黑" panose="020B0503020204020204" pitchFamily="34" charset="-122"/>
                <a:ea typeface="微软雅黑" panose="020B0503020204020204" pitchFamily="34" charset="-122"/>
              </a:rPr>
              <a:t>LDNS</a:t>
            </a:r>
            <a:r>
              <a:rPr lang="zh-CN" altLang="en-US" sz="2000" b="0" i="0" dirty="0">
                <a:solidFill>
                  <a:srgbClr val="121212"/>
                </a:solidFill>
                <a:effectLst/>
                <a:latin typeface="微软雅黑" panose="020B0503020204020204" pitchFamily="34" charset="-122"/>
                <a:ea typeface="微软雅黑" panose="020B0503020204020204" pitchFamily="34" charset="-122"/>
              </a:rPr>
              <a:t>可以去</a:t>
            </a:r>
            <a:r>
              <a:rPr lang="zh-CN" altLang="zh-CN" sz="2000" dirty="0">
                <a:latin typeface="微软雅黑" panose="020B0503020204020204" pitchFamily="34" charset="-122"/>
                <a:ea typeface="微软雅黑" panose="020B0503020204020204" pitchFamily="34" charset="-122"/>
              </a:rPr>
              <a:t>www.</a:t>
            </a:r>
            <a:r>
              <a:rPr lang="en-US" altLang="zh-CN" sz="2000" dirty="0">
                <a:latin typeface="微软雅黑" panose="020B0503020204020204" pitchFamily="34" charset="-122"/>
                <a:ea typeface="微软雅黑" panose="020B0503020204020204" pitchFamily="34" charset="-122"/>
              </a:rPr>
              <a:t> example</a:t>
            </a:r>
            <a:r>
              <a:rPr lang="zh-CN" altLang="zh-CN" sz="2000" dirty="0">
                <a:latin typeface="微软雅黑" panose="020B0503020204020204" pitchFamily="34" charset="-122"/>
                <a:ea typeface="微软雅黑" panose="020B0503020204020204" pitchFamily="34" charset="-122"/>
              </a:rPr>
              <a:t>.com</a:t>
            </a:r>
            <a:r>
              <a:rPr lang="zh-CN" altLang="en-US" sz="2000" b="0" i="0" dirty="0">
                <a:solidFill>
                  <a:srgbClr val="121212"/>
                </a:solidFill>
                <a:effectLst/>
                <a:latin typeface="微软雅黑" panose="020B0503020204020204" pitchFamily="34" charset="-122"/>
                <a:ea typeface="微软雅黑" panose="020B0503020204020204" pitchFamily="34" charset="-122"/>
              </a:rPr>
              <a:t>查詢，幷且</a:t>
            </a:r>
            <a:r>
              <a:rPr lang="zh-CN" altLang="zh-CN" sz="2000" dirty="0">
                <a:latin typeface="微软雅黑" panose="020B0503020204020204" pitchFamily="34" charset="-122"/>
                <a:ea typeface="微软雅黑" panose="020B0503020204020204" pitchFamily="34" charset="-122"/>
              </a:rPr>
              <a:t>www.</a:t>
            </a:r>
            <a:r>
              <a:rPr lang="en-US" altLang="zh-CN" sz="2000" dirty="0">
                <a:latin typeface="微软雅黑" panose="020B0503020204020204" pitchFamily="34" charset="-122"/>
                <a:ea typeface="微软雅黑" panose="020B0503020204020204" pitchFamily="34" charset="-122"/>
              </a:rPr>
              <a:t> example</a:t>
            </a:r>
            <a:r>
              <a:rPr lang="zh-CN" altLang="zh-CN" sz="2000" dirty="0">
                <a:latin typeface="微软雅黑" panose="020B0503020204020204" pitchFamily="34" charset="-122"/>
                <a:ea typeface="微软雅黑" panose="020B0503020204020204" pitchFamily="34" charset="-122"/>
              </a:rPr>
              <a:t>.com </a:t>
            </a:r>
            <a:r>
              <a:rPr lang="zh-CN" altLang="en-US" sz="2000" dirty="0">
                <a:latin typeface="微软雅黑" panose="020B0503020204020204" pitchFamily="34" charset="-122"/>
                <a:ea typeface="微软雅黑" panose="020B0503020204020204" pitchFamily="34" charset="-122"/>
              </a:rPr>
              <a:t>對應的</a:t>
            </a:r>
            <a:r>
              <a:rPr lang="en-US" altLang="zh-CN" sz="2000" b="0" i="0" dirty="0">
                <a:solidFill>
                  <a:srgbClr val="121212"/>
                </a:solidFill>
                <a:effectLst/>
                <a:latin typeface="微软雅黑" panose="020B0503020204020204" pitchFamily="34" charset="-122"/>
                <a:ea typeface="微软雅黑" panose="020B0503020204020204" pitchFamily="34" charset="-122"/>
              </a:rPr>
              <a:t>IP</a:t>
            </a:r>
            <a:r>
              <a:rPr lang="zh-CN" altLang="en-US" sz="2000" b="0" i="0" dirty="0">
                <a:solidFill>
                  <a:srgbClr val="121212"/>
                </a:solidFill>
                <a:effectLst/>
                <a:latin typeface="微软雅黑" panose="020B0503020204020204" pitchFamily="34" charset="-122"/>
                <a:ea typeface="微软雅黑" panose="020B0503020204020204" pitchFamily="34" charset="-122"/>
              </a:rPr>
              <a:t>是</a:t>
            </a:r>
            <a:r>
              <a:rPr lang="en-US" altLang="zh-CN" sz="2000" b="0" i="0" dirty="0">
                <a:solidFill>
                  <a:srgbClr val="121212"/>
                </a:solidFill>
                <a:effectLst/>
                <a:latin typeface="微软雅黑" panose="020B0503020204020204" pitchFamily="34" charset="-122"/>
                <a:ea typeface="微软雅黑" panose="020B0503020204020204" pitchFamily="34" charset="-122"/>
              </a:rPr>
              <a:t>1.2.3.4</a:t>
            </a:r>
          </a:p>
          <a:p>
            <a:pPr>
              <a:lnSpc>
                <a:spcPct val="150000"/>
              </a:lnSpc>
            </a:pPr>
            <a:endParaRPr lang="zh-CN" altLang="en-US" dirty="0">
              <a:latin typeface="微软雅黑" panose="020B0503020204020204" pitchFamily="34" charset="-122"/>
              <a:ea typeface="微软雅黑" panose="020B0503020204020204" pitchFamily="34" charset="-122"/>
            </a:endParaRPr>
          </a:p>
        </p:txBody>
      </p:sp>
      <p:sp>
        <p:nvSpPr>
          <p:cNvPr id="18" name="爆炸形: 14 pt  17">
            <a:extLst>
              <a:ext uri="{FF2B5EF4-FFF2-40B4-BE49-F238E27FC236}">
                <a16:creationId xmlns:a16="http://schemas.microsoft.com/office/drawing/2014/main" id="{8D4F180E-95CD-4003-B281-99B9687078B0}"/>
              </a:ext>
            </a:extLst>
          </p:cNvPr>
          <p:cNvSpPr/>
          <p:nvPr/>
        </p:nvSpPr>
        <p:spPr>
          <a:xfrm>
            <a:off x="5055108" y="3767953"/>
            <a:ext cx="2664284" cy="2106752"/>
          </a:xfrm>
          <a:prstGeom prst="irregularSeal2">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去</a:t>
            </a:r>
            <a:r>
              <a:rPr lang="en-US" altLang="zh-CN" sz="2000" b="1" dirty="0">
                <a:solidFill>
                  <a:srgbClr val="FFFF00"/>
                </a:solidFill>
                <a:latin typeface="微软雅黑" panose="020B0503020204020204" pitchFamily="34" charset="-122"/>
                <a:ea typeface="微软雅黑" panose="020B0503020204020204" pitchFamily="34" charset="-122"/>
              </a:rPr>
              <a:t>1.2.3.4</a:t>
            </a:r>
            <a:r>
              <a:rPr lang="zh-CN" altLang="en-US" sz="2000" dirty="0">
                <a:latin typeface="微软雅黑" panose="020B0503020204020204" pitchFamily="34" charset="-122"/>
                <a:ea typeface="微软雅黑" panose="020B0503020204020204" pitchFamily="34" charset="-122"/>
              </a:rPr>
              <a:t>查詢</a:t>
            </a:r>
          </a:p>
        </p:txBody>
      </p:sp>
      <p:sp>
        <p:nvSpPr>
          <p:cNvPr id="5" name="矩形 4">
            <a:extLst>
              <a:ext uri="{FF2B5EF4-FFF2-40B4-BE49-F238E27FC236}">
                <a16:creationId xmlns:a16="http://schemas.microsoft.com/office/drawing/2014/main" id="{BFC75888-84AC-F762-A5D0-2C687E9F5C2F}"/>
              </a:ext>
            </a:extLst>
          </p:cNvPr>
          <p:cNvSpPr>
            <a:spLocks/>
          </p:cNvSpPr>
          <p:nvPr/>
        </p:nvSpPr>
        <p:spPr bwMode="auto">
          <a:xfrm>
            <a:off x="538619" y="5855748"/>
            <a:ext cx="11173217" cy="821390"/>
          </a:xfrm>
          <a:prstGeom prst="rect">
            <a:avLst/>
          </a:prstGeom>
          <a:solidFill>
            <a:schemeClr val="accent3">
              <a:lumMod val="60000"/>
              <a:lumOff val="40000"/>
            </a:schemeClr>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kumimoji="0" lang="en-US" sz="1600" kern="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0" name="文本框 9">
            <a:extLst>
              <a:ext uri="{FF2B5EF4-FFF2-40B4-BE49-F238E27FC236}">
                <a16:creationId xmlns:a16="http://schemas.microsoft.com/office/drawing/2014/main" id="{AAB256C1-8137-CB97-3AB4-A6E76245F050}"/>
              </a:ext>
            </a:extLst>
          </p:cNvPr>
          <p:cNvSpPr txBox="1"/>
          <p:nvPr/>
        </p:nvSpPr>
        <p:spPr>
          <a:xfrm>
            <a:off x="3384109" y="6069754"/>
            <a:ext cx="7076374" cy="461665"/>
          </a:xfrm>
          <a:prstGeom prst="rect">
            <a:avLst/>
          </a:prstGeom>
          <a:noFill/>
        </p:spPr>
        <p:txBody>
          <a:bodyPr wrap="square">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源端口隨機化，域名大小寫增加攻擊者猜測難度等</a:t>
            </a:r>
          </a:p>
        </p:txBody>
      </p:sp>
      <p:sp>
        <p:nvSpPr>
          <p:cNvPr id="11" name="文本框 10">
            <a:extLst>
              <a:ext uri="{FF2B5EF4-FFF2-40B4-BE49-F238E27FC236}">
                <a16:creationId xmlns:a16="http://schemas.microsoft.com/office/drawing/2014/main" id="{9425EEC4-C14D-BF99-01C4-37296DD7E291}"/>
              </a:ext>
            </a:extLst>
          </p:cNvPr>
          <p:cNvSpPr txBox="1"/>
          <p:nvPr/>
        </p:nvSpPr>
        <p:spPr>
          <a:xfrm>
            <a:off x="971148" y="6077549"/>
            <a:ext cx="2908300" cy="430887"/>
          </a:xfrm>
          <a:prstGeom prst="rect">
            <a:avLst/>
          </a:prstGeom>
          <a:noFill/>
        </p:spPr>
        <p:txBody>
          <a:bodyPr wrap="square">
            <a:spAutoFit/>
          </a:bodyPr>
          <a:lstStyle/>
          <a:p>
            <a:r>
              <a:rPr lang="zh-CN" altLang="en-US" sz="2200" b="1"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解决方案：</a:t>
            </a:r>
            <a:endParaRPr lang="zh-CN" altLang="en-US" sz="2200" b="1"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486467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C73A7F8F-63B4-4B4F-8CFD-61241E2BF0F1}"/>
              </a:ext>
            </a:extLst>
          </p:cNvPr>
          <p:cNvSpPr>
            <a:spLocks/>
          </p:cNvSpPr>
          <p:nvPr/>
        </p:nvSpPr>
        <p:spPr bwMode="auto">
          <a:xfrm>
            <a:off x="138226" y="1423913"/>
            <a:ext cx="6607786" cy="4741794"/>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13" name="矩形: 圆角 12">
            <a:extLst>
              <a:ext uri="{FF2B5EF4-FFF2-40B4-BE49-F238E27FC236}">
                <a16:creationId xmlns:a16="http://schemas.microsoft.com/office/drawing/2014/main" id="{4C6EA560-FBC9-41AB-9F47-673BEC887147}"/>
              </a:ext>
            </a:extLst>
          </p:cNvPr>
          <p:cNvSpPr/>
          <p:nvPr/>
        </p:nvSpPr>
        <p:spPr>
          <a:xfrm>
            <a:off x="6978827" y="1423913"/>
            <a:ext cx="5069363" cy="4741794"/>
          </a:xfrm>
          <a:prstGeom prst="roundRect">
            <a:avLst>
              <a:gd name="adj" fmla="val 0"/>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a:ea typeface="微软雅黑" panose="020B0503020204020204" pitchFamily="34" charset="-122"/>
              <a:cs typeface="+mn-cs"/>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遠程</a:t>
            </a:r>
            <a:r>
              <a:rPr kumimoji="1" lang="zh-CN" altLang="zh-CN" dirty="0">
                <a:solidFill>
                  <a:srgbClr val="C00000"/>
                </a:solidFill>
              </a:rPr>
              <a:t>緩存中毒攻擊</a:t>
            </a:r>
            <a:r>
              <a:rPr kumimoji="1" lang="en-US" altLang="zh-CN" dirty="0">
                <a:solidFill>
                  <a:srgbClr val="C00000"/>
                </a:solidFill>
              </a:rPr>
              <a:t>—</a:t>
            </a:r>
            <a:r>
              <a:rPr kumimoji="1" lang="zh-CN" altLang="en-US" dirty="0">
                <a:solidFill>
                  <a:srgbClr val="C00000"/>
                </a:solidFill>
              </a:rPr>
              <a:t>構建回復包頭</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2" name="Rectangle 2">
            <a:extLst>
              <a:ext uri="{FF2B5EF4-FFF2-40B4-BE49-F238E27FC236}">
                <a16:creationId xmlns:a16="http://schemas.microsoft.com/office/drawing/2014/main" id="{50E33959-EC61-4A2C-BA41-AB900E31EE21}"/>
              </a:ext>
            </a:extLst>
          </p:cNvPr>
          <p:cNvSpPr>
            <a:spLocks noChangeArrowheads="1"/>
          </p:cNvSpPr>
          <p:nvPr/>
        </p:nvSpPr>
        <p:spPr bwMode="auto">
          <a:xfrm>
            <a:off x="2059307" y="132863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12" name="文本框 11">
            <a:extLst>
              <a:ext uri="{FF2B5EF4-FFF2-40B4-BE49-F238E27FC236}">
                <a16:creationId xmlns:a16="http://schemas.microsoft.com/office/drawing/2014/main" id="{78CBB0F2-483F-402D-8255-6068B20DA568}"/>
              </a:ext>
            </a:extLst>
          </p:cNvPr>
          <p:cNvSpPr txBox="1"/>
          <p:nvPr/>
        </p:nvSpPr>
        <p:spPr>
          <a:xfrm>
            <a:off x="7029745" y="1672506"/>
            <a:ext cx="4938950" cy="4364272"/>
          </a:xfrm>
          <a:prstGeom prst="rect">
            <a:avLst/>
          </a:prstGeom>
          <a:noFill/>
        </p:spPr>
        <p:txBody>
          <a:bodyPr wrap="square">
            <a:spAutoFit/>
          </a:bodyPr>
          <a:lstStyle/>
          <a:p>
            <a:pPr marL="342900" marR="0" lvl="0" indent="-342900" algn="just"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回復包有</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個字段必須必須與請求包匹配，包括源</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IP</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地址、目的</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IP</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地址、</a:t>
            </a:r>
            <a:r>
              <a:rPr kumimoji="0" lang="zh-CN" altLang="en-US"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源端口號</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、目的端口號、</a:t>
            </a:r>
            <a:r>
              <a:rPr lang="zh-CN" altLang="en-US" sz="2400" dirty="0">
                <a:solidFill>
                  <a:srgbClr val="C00000"/>
                </a:solidFill>
                <a:latin typeface="微软雅黑" panose="020B0503020204020204" pitchFamily="34" charset="-122"/>
                <a:ea typeface="微软雅黑" panose="020B0503020204020204" pitchFamily="34" charset="-122"/>
              </a:rPr>
              <a:t>事務</a:t>
            </a:r>
            <a:r>
              <a:rPr kumimoji="0" lang="en-US" altLang="zh-CN"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ID</a:t>
            </a:r>
          </a:p>
          <a:p>
            <a:pPr marL="342900" marR="0" lvl="0" indent="-342900" algn="just"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0" lang="en-US" altLang="zh-CN"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just"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如所攻擊的域有</a:t>
            </a:r>
            <a:r>
              <a:rPr kumimoji="0" lang="zh-CN" altLang="en-US"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多個域名服務器</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，則隨機選擇一個服務器發送回復包，或同時發送多個回復包</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4" name="文本框 13">
            <a:extLst>
              <a:ext uri="{FF2B5EF4-FFF2-40B4-BE49-F238E27FC236}">
                <a16:creationId xmlns:a16="http://schemas.microsoft.com/office/drawing/2014/main" id="{788884A0-96F7-45A8-824C-E6BA35A8AFC5}"/>
              </a:ext>
            </a:extLst>
          </p:cNvPr>
          <p:cNvSpPr txBox="1"/>
          <p:nvPr/>
        </p:nvSpPr>
        <p:spPr>
          <a:xfrm>
            <a:off x="1987841" y="5535920"/>
            <a:ext cx="3325832"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a:t>
            </a:r>
            <a:r>
              <a:rPr kumimoji="0" lang="zh-CN"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回復包頭格式</a:t>
            </a:r>
            <a:endPar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灯片编号占位符 8">
            <a:extLst>
              <a:ext uri="{FF2B5EF4-FFF2-40B4-BE49-F238E27FC236}">
                <a16:creationId xmlns:a16="http://schemas.microsoft.com/office/drawing/2014/main" id="{9201E0F5-603E-4CA1-A0AC-B6055C8AAEB4}"/>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pic>
        <p:nvPicPr>
          <p:cNvPr id="17" name="Picture 16">
            <a:extLst>
              <a:ext uri="{FF2B5EF4-FFF2-40B4-BE49-F238E27FC236}">
                <a16:creationId xmlns:a16="http://schemas.microsoft.com/office/drawing/2014/main" id="{4F367E6E-BB84-69FA-FF7B-676520F53F8C}"/>
              </a:ext>
            </a:extLst>
          </p:cNvPr>
          <p:cNvPicPr>
            <a:picLocks noChangeAspect="1"/>
          </p:cNvPicPr>
          <p:nvPr/>
        </p:nvPicPr>
        <p:blipFill rotWithShape="1">
          <a:blip r:embed="rId3"/>
          <a:srcRect l="3940" r="4263"/>
          <a:stretch/>
        </p:blipFill>
        <p:spPr>
          <a:xfrm>
            <a:off x="209017" y="2437156"/>
            <a:ext cx="6386808" cy="2182722"/>
          </a:xfrm>
          <a:prstGeom prst="rect">
            <a:avLst/>
          </a:prstGeom>
        </p:spPr>
      </p:pic>
    </p:spTree>
    <p:extLst>
      <p:ext uri="{BB962C8B-B14F-4D97-AF65-F5344CB8AC3E}">
        <p14:creationId xmlns:p14="http://schemas.microsoft.com/office/powerpoint/2010/main" val="2518754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矩形 56">
            <a:extLst>
              <a:ext uri="{FF2B5EF4-FFF2-40B4-BE49-F238E27FC236}">
                <a16:creationId xmlns:a16="http://schemas.microsoft.com/office/drawing/2014/main" id="{C792BB9A-1691-4DB3-AA4F-42201835FB66}"/>
              </a:ext>
            </a:extLst>
          </p:cNvPr>
          <p:cNvSpPr>
            <a:spLocks/>
          </p:cNvSpPr>
          <p:nvPr/>
        </p:nvSpPr>
        <p:spPr bwMode="auto">
          <a:xfrm>
            <a:off x="4662418" y="2984808"/>
            <a:ext cx="7169830" cy="3182880"/>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55" name="矩形 54">
            <a:extLst>
              <a:ext uri="{FF2B5EF4-FFF2-40B4-BE49-F238E27FC236}">
                <a16:creationId xmlns:a16="http://schemas.microsoft.com/office/drawing/2014/main" id="{650A6B60-0C6B-446F-9F69-6CDBC8EF6E40}"/>
              </a:ext>
            </a:extLst>
          </p:cNvPr>
          <p:cNvSpPr>
            <a:spLocks/>
          </p:cNvSpPr>
          <p:nvPr/>
        </p:nvSpPr>
        <p:spPr bwMode="auto">
          <a:xfrm>
            <a:off x="4651525" y="1289866"/>
            <a:ext cx="7169830" cy="1529774"/>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56" name="矩形 55">
            <a:extLst>
              <a:ext uri="{FF2B5EF4-FFF2-40B4-BE49-F238E27FC236}">
                <a16:creationId xmlns:a16="http://schemas.microsoft.com/office/drawing/2014/main" id="{9EB6A9AC-6265-4660-B01C-F8C01C98EE08}"/>
              </a:ext>
            </a:extLst>
          </p:cNvPr>
          <p:cNvSpPr>
            <a:spLocks/>
          </p:cNvSpPr>
          <p:nvPr/>
        </p:nvSpPr>
        <p:spPr bwMode="auto">
          <a:xfrm>
            <a:off x="370645" y="1309604"/>
            <a:ext cx="4091452" cy="4858084"/>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遠程</a:t>
            </a:r>
            <a:r>
              <a:rPr kumimoji="1" lang="zh-CN" altLang="zh-CN" dirty="0">
                <a:solidFill>
                  <a:srgbClr val="C00000"/>
                </a:solidFill>
              </a:rPr>
              <a:t>緩存中毒攻擊</a:t>
            </a:r>
            <a:r>
              <a:rPr kumimoji="1" lang="en-US" altLang="zh-CN" dirty="0">
                <a:solidFill>
                  <a:srgbClr val="C00000"/>
                </a:solidFill>
              </a:rPr>
              <a:t>—</a:t>
            </a:r>
            <a:r>
              <a:rPr kumimoji="1" lang="zh-CN" altLang="en-US" dirty="0">
                <a:solidFill>
                  <a:srgbClr val="C00000"/>
                </a:solidFill>
              </a:rPr>
              <a:t>包頭參數猜測</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2" name="Rectangle 2">
            <a:extLst>
              <a:ext uri="{FF2B5EF4-FFF2-40B4-BE49-F238E27FC236}">
                <a16:creationId xmlns:a16="http://schemas.microsoft.com/office/drawing/2014/main" id="{50E33959-EC61-4A2C-BA41-AB900E31EE21}"/>
              </a:ext>
            </a:extLst>
          </p:cNvPr>
          <p:cNvSpPr>
            <a:spLocks noChangeArrowheads="1"/>
          </p:cNvSpPr>
          <p:nvPr/>
        </p:nvSpPr>
        <p:spPr bwMode="auto">
          <a:xfrm>
            <a:off x="2228332" y="19263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6" name="Rectangle 2">
            <a:extLst>
              <a:ext uri="{FF2B5EF4-FFF2-40B4-BE49-F238E27FC236}">
                <a16:creationId xmlns:a16="http://schemas.microsoft.com/office/drawing/2014/main" id="{65502313-BB16-4AC2-9EA7-0EDFE9EAEE31}"/>
              </a:ext>
            </a:extLst>
          </p:cNvPr>
          <p:cNvSpPr>
            <a:spLocks noChangeArrowheads="1"/>
          </p:cNvSpPr>
          <p:nvPr/>
        </p:nvSpPr>
        <p:spPr bwMode="auto">
          <a:xfrm>
            <a:off x="-566194" y="453509"/>
            <a:ext cx="1731391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64" name="Freeform 9">
            <a:extLst>
              <a:ext uri="{FF2B5EF4-FFF2-40B4-BE49-F238E27FC236}">
                <a16:creationId xmlns:a16="http://schemas.microsoft.com/office/drawing/2014/main" id="{EA21217D-10F9-4301-B044-580B9E19518B}"/>
              </a:ext>
            </a:extLst>
          </p:cNvPr>
          <p:cNvSpPr>
            <a:spLocks noEditPoints="1"/>
          </p:cNvSpPr>
          <p:nvPr/>
        </p:nvSpPr>
        <p:spPr bwMode="auto">
          <a:xfrm rot="20049179">
            <a:off x="1835992" y="2463065"/>
            <a:ext cx="1220225" cy="2818211"/>
          </a:xfrm>
          <a:custGeom>
            <a:avLst/>
            <a:gdLst/>
            <a:ahLst/>
            <a:cxnLst>
              <a:cxn ang="0">
                <a:pos x="0" y="84"/>
              </a:cxn>
              <a:cxn ang="0">
                <a:pos x="50" y="134"/>
              </a:cxn>
              <a:cxn ang="0">
                <a:pos x="61" y="133"/>
              </a:cxn>
              <a:cxn ang="0">
                <a:pos x="61" y="148"/>
              </a:cxn>
              <a:cxn ang="0">
                <a:pos x="73" y="154"/>
              </a:cxn>
              <a:cxn ang="0">
                <a:pos x="73" y="278"/>
              </a:cxn>
              <a:cxn ang="0">
                <a:pos x="61" y="284"/>
              </a:cxn>
              <a:cxn ang="0">
                <a:pos x="61" y="377"/>
              </a:cxn>
              <a:cxn ang="0">
                <a:pos x="75" y="392"/>
              </a:cxn>
              <a:cxn ang="0">
                <a:pos x="93" y="392"/>
              </a:cxn>
              <a:cxn ang="0">
                <a:pos x="107" y="377"/>
              </a:cxn>
              <a:cxn ang="0">
                <a:pos x="107" y="357"/>
              </a:cxn>
              <a:cxn ang="0">
                <a:pos x="143" y="357"/>
              </a:cxn>
              <a:cxn ang="0">
                <a:pos x="157" y="343"/>
              </a:cxn>
              <a:cxn ang="0">
                <a:pos x="143" y="329"/>
              </a:cxn>
              <a:cxn ang="0">
                <a:pos x="107" y="329"/>
              </a:cxn>
              <a:cxn ang="0">
                <a:pos x="107" y="321"/>
              </a:cxn>
              <a:cxn ang="0">
                <a:pos x="143" y="321"/>
              </a:cxn>
              <a:cxn ang="0">
                <a:pos x="157" y="307"/>
              </a:cxn>
              <a:cxn ang="0">
                <a:pos x="143" y="293"/>
              </a:cxn>
              <a:cxn ang="0">
                <a:pos x="107" y="293"/>
              </a:cxn>
              <a:cxn ang="0">
                <a:pos x="107" y="283"/>
              </a:cxn>
              <a:cxn ang="0">
                <a:pos x="95" y="277"/>
              </a:cxn>
              <a:cxn ang="0">
                <a:pos x="95" y="156"/>
              </a:cxn>
              <a:cxn ang="0">
                <a:pos x="107" y="150"/>
              </a:cxn>
              <a:cxn ang="0">
                <a:pos x="107" y="133"/>
              </a:cxn>
              <a:cxn ang="0">
                <a:pos x="117" y="134"/>
              </a:cxn>
              <a:cxn ang="0">
                <a:pos x="168" y="84"/>
              </a:cxn>
              <a:cxn ang="0">
                <a:pos x="132" y="36"/>
              </a:cxn>
              <a:cxn ang="0">
                <a:pos x="84" y="0"/>
              </a:cxn>
              <a:cxn ang="0">
                <a:pos x="36" y="36"/>
              </a:cxn>
              <a:cxn ang="0">
                <a:pos x="0" y="84"/>
              </a:cxn>
              <a:cxn ang="0">
                <a:pos x="84" y="31"/>
              </a:cxn>
              <a:cxn ang="0">
                <a:pos x="107" y="54"/>
              </a:cxn>
              <a:cxn ang="0">
                <a:pos x="106" y="62"/>
              </a:cxn>
              <a:cxn ang="0">
                <a:pos x="129" y="87"/>
              </a:cxn>
              <a:cxn ang="0">
                <a:pos x="105" y="111"/>
              </a:cxn>
              <a:cxn ang="0">
                <a:pos x="84" y="100"/>
              </a:cxn>
              <a:cxn ang="0">
                <a:pos x="63" y="111"/>
              </a:cxn>
              <a:cxn ang="0">
                <a:pos x="38" y="87"/>
              </a:cxn>
              <a:cxn ang="0">
                <a:pos x="62" y="62"/>
              </a:cxn>
              <a:cxn ang="0">
                <a:pos x="61" y="54"/>
              </a:cxn>
              <a:cxn ang="0">
                <a:pos x="84" y="31"/>
              </a:cxn>
              <a:cxn ang="0">
                <a:pos x="84" y="31"/>
              </a:cxn>
              <a:cxn ang="0">
                <a:pos x="84" y="31"/>
              </a:cxn>
            </a:cxnLst>
            <a:rect l="0" t="0" r="r" b="b"/>
            <a:pathLst>
              <a:path w="168" h="392">
                <a:moveTo>
                  <a:pt x="0" y="84"/>
                </a:moveTo>
                <a:cubicBezTo>
                  <a:pt x="0" y="112"/>
                  <a:pt x="23" y="134"/>
                  <a:pt x="50" y="134"/>
                </a:cubicBezTo>
                <a:cubicBezTo>
                  <a:pt x="54" y="134"/>
                  <a:pt x="57" y="134"/>
                  <a:pt x="61" y="133"/>
                </a:cubicBezTo>
                <a:cubicBezTo>
                  <a:pt x="61" y="148"/>
                  <a:pt x="61" y="148"/>
                  <a:pt x="61" y="148"/>
                </a:cubicBezTo>
                <a:cubicBezTo>
                  <a:pt x="73" y="154"/>
                  <a:pt x="73" y="154"/>
                  <a:pt x="73" y="154"/>
                </a:cubicBezTo>
                <a:cubicBezTo>
                  <a:pt x="73" y="278"/>
                  <a:pt x="73" y="278"/>
                  <a:pt x="73" y="278"/>
                </a:cubicBezTo>
                <a:cubicBezTo>
                  <a:pt x="61" y="284"/>
                  <a:pt x="61" y="284"/>
                  <a:pt x="61" y="284"/>
                </a:cubicBezTo>
                <a:cubicBezTo>
                  <a:pt x="61" y="377"/>
                  <a:pt x="61" y="377"/>
                  <a:pt x="61" y="377"/>
                </a:cubicBezTo>
                <a:cubicBezTo>
                  <a:pt x="61" y="385"/>
                  <a:pt x="67" y="392"/>
                  <a:pt x="75" y="392"/>
                </a:cubicBezTo>
                <a:cubicBezTo>
                  <a:pt x="93" y="392"/>
                  <a:pt x="93" y="392"/>
                  <a:pt x="93" y="392"/>
                </a:cubicBezTo>
                <a:cubicBezTo>
                  <a:pt x="101" y="392"/>
                  <a:pt x="107" y="385"/>
                  <a:pt x="107" y="377"/>
                </a:cubicBezTo>
                <a:cubicBezTo>
                  <a:pt x="107" y="357"/>
                  <a:pt x="107" y="357"/>
                  <a:pt x="107" y="357"/>
                </a:cubicBezTo>
                <a:cubicBezTo>
                  <a:pt x="143" y="357"/>
                  <a:pt x="143" y="357"/>
                  <a:pt x="143" y="357"/>
                </a:cubicBezTo>
                <a:cubicBezTo>
                  <a:pt x="150" y="357"/>
                  <a:pt x="157" y="350"/>
                  <a:pt x="157" y="343"/>
                </a:cubicBezTo>
                <a:cubicBezTo>
                  <a:pt x="157" y="335"/>
                  <a:pt x="150" y="329"/>
                  <a:pt x="143" y="329"/>
                </a:cubicBezTo>
                <a:cubicBezTo>
                  <a:pt x="107" y="329"/>
                  <a:pt x="107" y="329"/>
                  <a:pt x="107" y="329"/>
                </a:cubicBezTo>
                <a:cubicBezTo>
                  <a:pt x="107" y="321"/>
                  <a:pt x="107" y="321"/>
                  <a:pt x="107" y="321"/>
                </a:cubicBezTo>
                <a:cubicBezTo>
                  <a:pt x="143" y="321"/>
                  <a:pt x="143" y="321"/>
                  <a:pt x="143" y="321"/>
                </a:cubicBezTo>
                <a:cubicBezTo>
                  <a:pt x="150" y="321"/>
                  <a:pt x="157" y="314"/>
                  <a:pt x="157" y="307"/>
                </a:cubicBezTo>
                <a:cubicBezTo>
                  <a:pt x="157" y="299"/>
                  <a:pt x="150" y="293"/>
                  <a:pt x="143" y="293"/>
                </a:cubicBezTo>
                <a:cubicBezTo>
                  <a:pt x="107" y="293"/>
                  <a:pt x="107" y="293"/>
                  <a:pt x="107" y="293"/>
                </a:cubicBezTo>
                <a:cubicBezTo>
                  <a:pt x="107" y="283"/>
                  <a:pt x="107" y="283"/>
                  <a:pt x="107" y="283"/>
                </a:cubicBezTo>
                <a:cubicBezTo>
                  <a:pt x="95" y="277"/>
                  <a:pt x="95" y="277"/>
                  <a:pt x="95" y="277"/>
                </a:cubicBezTo>
                <a:cubicBezTo>
                  <a:pt x="95" y="156"/>
                  <a:pt x="95" y="156"/>
                  <a:pt x="95" y="156"/>
                </a:cubicBezTo>
                <a:cubicBezTo>
                  <a:pt x="107" y="150"/>
                  <a:pt x="107" y="150"/>
                  <a:pt x="107" y="150"/>
                </a:cubicBezTo>
                <a:cubicBezTo>
                  <a:pt x="107" y="133"/>
                  <a:pt x="107" y="133"/>
                  <a:pt x="107" y="133"/>
                </a:cubicBezTo>
                <a:cubicBezTo>
                  <a:pt x="110" y="134"/>
                  <a:pt x="114" y="134"/>
                  <a:pt x="117" y="134"/>
                </a:cubicBezTo>
                <a:cubicBezTo>
                  <a:pt x="145" y="134"/>
                  <a:pt x="168" y="112"/>
                  <a:pt x="168" y="84"/>
                </a:cubicBezTo>
                <a:cubicBezTo>
                  <a:pt x="168" y="61"/>
                  <a:pt x="153" y="42"/>
                  <a:pt x="132" y="36"/>
                </a:cubicBezTo>
                <a:cubicBezTo>
                  <a:pt x="126" y="15"/>
                  <a:pt x="107" y="0"/>
                  <a:pt x="84" y="0"/>
                </a:cubicBezTo>
                <a:cubicBezTo>
                  <a:pt x="61" y="0"/>
                  <a:pt x="42" y="15"/>
                  <a:pt x="36" y="36"/>
                </a:cubicBezTo>
                <a:cubicBezTo>
                  <a:pt x="15" y="42"/>
                  <a:pt x="0" y="61"/>
                  <a:pt x="0" y="84"/>
                </a:cubicBezTo>
                <a:close/>
                <a:moveTo>
                  <a:pt x="84" y="31"/>
                </a:moveTo>
                <a:cubicBezTo>
                  <a:pt x="97" y="31"/>
                  <a:pt x="107" y="41"/>
                  <a:pt x="107" y="54"/>
                </a:cubicBezTo>
                <a:cubicBezTo>
                  <a:pt x="107" y="57"/>
                  <a:pt x="106" y="59"/>
                  <a:pt x="106" y="62"/>
                </a:cubicBezTo>
                <a:cubicBezTo>
                  <a:pt x="119" y="62"/>
                  <a:pt x="129" y="73"/>
                  <a:pt x="129" y="87"/>
                </a:cubicBezTo>
                <a:cubicBezTo>
                  <a:pt x="129" y="100"/>
                  <a:pt x="118" y="111"/>
                  <a:pt x="105" y="111"/>
                </a:cubicBezTo>
                <a:cubicBezTo>
                  <a:pt x="96" y="111"/>
                  <a:pt x="88" y="107"/>
                  <a:pt x="84" y="100"/>
                </a:cubicBezTo>
                <a:cubicBezTo>
                  <a:pt x="79" y="107"/>
                  <a:pt x="72" y="111"/>
                  <a:pt x="63" y="111"/>
                </a:cubicBezTo>
                <a:cubicBezTo>
                  <a:pt x="49" y="111"/>
                  <a:pt x="38" y="100"/>
                  <a:pt x="38" y="87"/>
                </a:cubicBezTo>
                <a:cubicBezTo>
                  <a:pt x="38" y="73"/>
                  <a:pt x="49" y="62"/>
                  <a:pt x="62" y="62"/>
                </a:cubicBezTo>
                <a:cubicBezTo>
                  <a:pt x="61" y="59"/>
                  <a:pt x="61" y="57"/>
                  <a:pt x="61" y="54"/>
                </a:cubicBezTo>
                <a:cubicBezTo>
                  <a:pt x="61" y="41"/>
                  <a:pt x="71" y="31"/>
                  <a:pt x="84" y="31"/>
                </a:cubicBezTo>
                <a:close/>
                <a:moveTo>
                  <a:pt x="84" y="31"/>
                </a:moveTo>
                <a:cubicBezTo>
                  <a:pt x="84" y="31"/>
                  <a:pt x="84" y="31"/>
                  <a:pt x="84" y="31"/>
                </a:cubicBezTo>
              </a:path>
            </a:pathLst>
          </a:custGeom>
          <a:solidFill>
            <a:sysClr val="windowText" lastClr="000000">
              <a:lumMod val="50000"/>
              <a:lumOff val="50000"/>
            </a:sysClr>
          </a:solidFill>
          <a:ln w="9525">
            <a:noFill/>
            <a:round/>
            <a:headEnd/>
            <a:tailEnd/>
          </a:ln>
        </p:spPr>
        <p:txBody>
          <a:bodyPr lIns="68559" tIns="34280" rIns="68559" bIns="34280"/>
          <a:lstStyle/>
          <a:p>
            <a:pPr marL="0" marR="0" lvl="0" indent="0" algn="l" defTabSz="685560" rtl="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prstClr val="black"/>
              </a:solidFill>
              <a:effectLst/>
              <a:uLnTx/>
              <a:uFillTx/>
              <a:latin typeface="Calibri" panose="020F0502020204030204"/>
              <a:ea typeface="微软雅黑 Light"/>
              <a:cs typeface="+mn-cs"/>
            </a:endParaRPr>
          </a:p>
        </p:txBody>
      </p:sp>
      <p:grpSp>
        <p:nvGrpSpPr>
          <p:cNvPr id="65" name="Group 17">
            <a:extLst>
              <a:ext uri="{FF2B5EF4-FFF2-40B4-BE49-F238E27FC236}">
                <a16:creationId xmlns:a16="http://schemas.microsoft.com/office/drawing/2014/main" id="{D57E85A7-E46E-4B0A-8D20-BD63F8ECB6CC}"/>
              </a:ext>
            </a:extLst>
          </p:cNvPr>
          <p:cNvGrpSpPr>
            <a:grpSpLocks/>
          </p:cNvGrpSpPr>
          <p:nvPr/>
        </p:nvGrpSpPr>
        <p:grpSpPr bwMode="auto">
          <a:xfrm rot="1568449">
            <a:off x="2255676" y="3351282"/>
            <a:ext cx="1961451" cy="560847"/>
            <a:chOff x="3047999" y="2196748"/>
            <a:chExt cx="2626886" cy="751437"/>
          </a:xfrm>
        </p:grpSpPr>
        <p:sp>
          <p:nvSpPr>
            <p:cNvPr id="66" name="Rounded Rectangle 7">
              <a:extLst>
                <a:ext uri="{FF2B5EF4-FFF2-40B4-BE49-F238E27FC236}">
                  <a16:creationId xmlns:a16="http://schemas.microsoft.com/office/drawing/2014/main" id="{E2CE1D9A-B9BC-4C66-922C-97481AC0564F}"/>
                </a:ext>
              </a:extLst>
            </p:cNvPr>
            <p:cNvSpPr/>
            <p:nvPr/>
          </p:nvSpPr>
          <p:spPr bwMode="auto">
            <a:xfrm>
              <a:off x="3580633" y="2196748"/>
              <a:ext cx="2094252" cy="751437"/>
            </a:xfrm>
            <a:prstGeom prst="roundRect">
              <a:avLst/>
            </a:prstGeom>
            <a:solidFill>
              <a:srgbClr val="9900CC"/>
            </a:solidFill>
            <a:ln w="9525">
              <a:noFill/>
              <a:round/>
              <a:headEnd/>
              <a:tailEnd/>
            </a:ln>
          </p:spPr>
          <p:txBody>
            <a:bodyPr anchor="ctr"/>
            <a:lstStyle/>
            <a:p>
              <a:pPr marL="0" marR="0" lvl="0" indent="0" algn="r" defTabSz="685560" rtl="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white">
                      <a:lumMod val="20000"/>
                      <a:lumOff val="80000"/>
                    </a:prstClr>
                  </a:solidFill>
                  <a:effectLst/>
                  <a:uLnTx/>
                  <a:uFillTx/>
                  <a:latin typeface="微软雅黑" panose="020B0503020204020204" pitchFamily="34" charset="-122"/>
                  <a:ea typeface="微软雅黑" panose="020B0503020204020204" pitchFamily="34" charset="-122"/>
                  <a:cs typeface="Clear Sans" panose="020B0503030202020304" pitchFamily="34" charset="0"/>
                </a:rPr>
                <a:t>目的</a:t>
              </a:r>
              <a:r>
                <a:rPr kumimoji="0" lang="en-US" altLang="zh-CN" sz="1400" b="0" i="0" u="none" strike="noStrike" kern="0" cap="none" spc="0" normalizeH="0" baseline="0" noProof="0" dirty="0">
                  <a:ln>
                    <a:noFill/>
                  </a:ln>
                  <a:solidFill>
                    <a:prstClr val="white">
                      <a:lumMod val="20000"/>
                      <a:lumOff val="80000"/>
                    </a:prstClr>
                  </a:solidFill>
                  <a:effectLst/>
                  <a:uLnTx/>
                  <a:uFillTx/>
                  <a:latin typeface="微软雅黑" panose="020B0503020204020204" pitchFamily="34" charset="-122"/>
                  <a:ea typeface="微软雅黑" panose="020B0503020204020204" pitchFamily="34" charset="-122"/>
                  <a:cs typeface="Clear Sans" panose="020B0503030202020304" pitchFamily="34" charset="0"/>
                </a:rPr>
                <a:t>IP</a:t>
              </a:r>
              <a:r>
                <a:rPr kumimoji="0" lang="zh-CN" altLang="en-US" sz="1400" b="0" i="0" u="none" strike="noStrike" kern="0" cap="none" spc="0" normalizeH="0" baseline="0" noProof="0" dirty="0">
                  <a:ln>
                    <a:noFill/>
                  </a:ln>
                  <a:solidFill>
                    <a:prstClr val="white">
                      <a:lumMod val="20000"/>
                      <a:lumOff val="80000"/>
                    </a:prstClr>
                  </a:solidFill>
                  <a:effectLst/>
                  <a:uLnTx/>
                  <a:uFillTx/>
                  <a:latin typeface="微软雅黑" panose="020B0503020204020204" pitchFamily="34" charset="-122"/>
                  <a:ea typeface="微软雅黑" panose="020B0503020204020204" pitchFamily="34" charset="-122"/>
                  <a:cs typeface="Clear Sans" panose="020B0503030202020304" pitchFamily="34" charset="0"/>
                </a:rPr>
                <a:t>地址</a:t>
              </a:r>
              <a:r>
                <a:rPr kumimoji="0" lang="zh-CN" altLang="en-US" sz="28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Clear Sans" panose="020B0503030202020304" pitchFamily="34" charset="0"/>
                </a:rPr>
                <a:t>╳</a:t>
              </a:r>
              <a:endParaRPr kumimoji="0" lang="en-GB" altLang="zh-CN" sz="28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Clear Sans" panose="020B0503030202020304" pitchFamily="34" charset="0"/>
              </a:endParaRPr>
            </a:p>
          </p:txBody>
        </p:sp>
        <p:grpSp>
          <p:nvGrpSpPr>
            <p:cNvPr id="67" name="Group 22">
              <a:extLst>
                <a:ext uri="{FF2B5EF4-FFF2-40B4-BE49-F238E27FC236}">
                  <a16:creationId xmlns:a16="http://schemas.microsoft.com/office/drawing/2014/main" id="{01269A2E-60BE-40AA-8AFE-8BE5B135DE11}"/>
                </a:ext>
              </a:extLst>
            </p:cNvPr>
            <p:cNvGrpSpPr>
              <a:grpSpLocks/>
            </p:cNvGrpSpPr>
            <p:nvPr/>
          </p:nvGrpSpPr>
          <p:grpSpPr bwMode="auto">
            <a:xfrm rot="-5400000">
              <a:off x="3369279" y="2174269"/>
              <a:ext cx="195640" cy="838200"/>
              <a:chOff x="3686186" y="1166322"/>
              <a:chExt cx="152400" cy="652944"/>
            </a:xfrm>
          </p:grpSpPr>
          <p:sp>
            <p:nvSpPr>
              <p:cNvPr id="68" name="Oval 9">
                <a:extLst>
                  <a:ext uri="{FF2B5EF4-FFF2-40B4-BE49-F238E27FC236}">
                    <a16:creationId xmlns:a16="http://schemas.microsoft.com/office/drawing/2014/main" id="{072850A3-5C63-4747-A319-0CCA3ED5A265}"/>
                  </a:ext>
                </a:extLst>
              </p:cNvPr>
              <p:cNvSpPr/>
              <p:nvPr/>
            </p:nvSpPr>
            <p:spPr>
              <a:xfrm>
                <a:off x="3686869" y="1665402"/>
                <a:ext cx="151690" cy="152536"/>
              </a:xfrm>
              <a:prstGeom prst="ellipse">
                <a:avLst/>
              </a:prstGeom>
              <a:solidFill>
                <a:sysClr val="window" lastClr="FFFFFF"/>
              </a:solidFill>
              <a:ln w="12700" cap="flat" cmpd="sng" algn="ctr">
                <a:noFill/>
                <a:prstDash val="solid"/>
                <a:miter lim="800000"/>
              </a:ln>
              <a:effectLst/>
            </p:spPr>
            <p:txBody>
              <a:bodyPr anchor="ct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zh-CN" sz="1050" b="0" i="0" u="none" strike="noStrike" kern="0" cap="none" spc="0" normalizeH="0" baseline="0" noProof="0">
                  <a:ln>
                    <a:noFill/>
                  </a:ln>
                  <a:solidFill>
                    <a:srgbClr val="FFFFFF"/>
                  </a:solidFill>
                  <a:effectLst/>
                  <a:uLnTx/>
                  <a:uFillTx/>
                  <a:latin typeface="Calibri" pitchFamily="34" charset="0"/>
                  <a:ea typeface="等线" panose="02010600030101010101" pitchFamily="2" charset="-122"/>
                  <a:cs typeface="+mn-cs"/>
                </a:endParaRPr>
              </a:p>
            </p:txBody>
          </p:sp>
          <p:sp>
            <p:nvSpPr>
              <p:cNvPr id="69" name="Rounded Rectangle 10">
                <a:extLst>
                  <a:ext uri="{FF2B5EF4-FFF2-40B4-BE49-F238E27FC236}">
                    <a16:creationId xmlns:a16="http://schemas.microsoft.com/office/drawing/2014/main" id="{3037718C-DBBF-497D-8CFE-FE3B97EFEF97}"/>
                  </a:ext>
                </a:extLst>
              </p:cNvPr>
              <p:cNvSpPr/>
              <p:nvPr/>
            </p:nvSpPr>
            <p:spPr>
              <a:xfrm>
                <a:off x="3737770" y="1165339"/>
                <a:ext cx="49323" cy="611072"/>
              </a:xfrm>
              <a:prstGeom prst="roundRect">
                <a:avLst>
                  <a:gd name="adj" fmla="val 38542"/>
                </a:avLst>
              </a:prstGeom>
              <a:gradFill>
                <a:gsLst>
                  <a:gs pos="2000">
                    <a:sysClr val="windowText" lastClr="000000">
                      <a:lumMod val="50000"/>
                      <a:lumOff val="50000"/>
                    </a:sysClr>
                  </a:gs>
                  <a:gs pos="100000">
                    <a:sysClr val="window" lastClr="FFFFFF"/>
                  </a:gs>
                </a:gsLst>
                <a:lin ang="5400000" scaled="0"/>
              </a:gradFill>
              <a:ln w="12700" cap="flat" cmpd="sng" algn="ctr">
                <a:noFill/>
                <a:prstDash val="solid"/>
                <a:miter lim="800000"/>
              </a:ln>
              <a:effectLst/>
            </p:spPr>
            <p:txBody>
              <a:bodyPr anchor="ct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zh-CN" sz="1050" b="0" i="0" u="none" strike="noStrike" kern="0" cap="none" spc="0" normalizeH="0" baseline="0" noProof="0">
                  <a:ln>
                    <a:noFill/>
                  </a:ln>
                  <a:solidFill>
                    <a:srgbClr val="FFFFFF"/>
                  </a:solidFill>
                  <a:effectLst/>
                  <a:uLnTx/>
                  <a:uFillTx/>
                  <a:latin typeface="Calibri" pitchFamily="34" charset="0"/>
                  <a:ea typeface="等线" panose="02010600030101010101" pitchFamily="2" charset="-122"/>
                  <a:cs typeface="+mn-cs"/>
                </a:endParaRPr>
              </a:p>
            </p:txBody>
          </p:sp>
        </p:grpSp>
      </p:grpSp>
      <p:grpSp>
        <p:nvGrpSpPr>
          <p:cNvPr id="70" name="Group 18">
            <a:extLst>
              <a:ext uri="{FF2B5EF4-FFF2-40B4-BE49-F238E27FC236}">
                <a16:creationId xmlns:a16="http://schemas.microsoft.com/office/drawing/2014/main" id="{EB4A3AAF-C065-4353-8722-DC3C1D7970E0}"/>
              </a:ext>
            </a:extLst>
          </p:cNvPr>
          <p:cNvGrpSpPr>
            <a:grpSpLocks/>
          </p:cNvGrpSpPr>
          <p:nvPr/>
        </p:nvGrpSpPr>
        <p:grpSpPr bwMode="auto">
          <a:xfrm rot="140878">
            <a:off x="2354341" y="2759182"/>
            <a:ext cx="1962642" cy="561739"/>
            <a:chOff x="3047997" y="2195590"/>
            <a:chExt cx="2627731" cy="751192"/>
          </a:xfrm>
        </p:grpSpPr>
        <p:sp>
          <p:nvSpPr>
            <p:cNvPr id="71" name="Rounded Rectangle 13">
              <a:extLst>
                <a:ext uri="{FF2B5EF4-FFF2-40B4-BE49-F238E27FC236}">
                  <a16:creationId xmlns:a16="http://schemas.microsoft.com/office/drawing/2014/main" id="{72AB7A77-49E6-4DB3-B815-5ECF6E7784BC}"/>
                </a:ext>
              </a:extLst>
            </p:cNvPr>
            <p:cNvSpPr/>
            <p:nvPr/>
          </p:nvSpPr>
          <p:spPr bwMode="auto">
            <a:xfrm>
              <a:off x="3580882" y="2195590"/>
              <a:ext cx="2094846" cy="751192"/>
            </a:xfrm>
            <a:prstGeom prst="roundRect">
              <a:avLst/>
            </a:prstGeom>
            <a:solidFill>
              <a:srgbClr val="9900CC"/>
            </a:solidFill>
            <a:ln w="9525">
              <a:noFill/>
              <a:round/>
              <a:headEnd/>
              <a:tailEnd/>
            </a:ln>
          </p:spPr>
          <p:txBody>
            <a:bodyPr anchor="ctr"/>
            <a:lstStyle/>
            <a:p>
              <a:pPr marL="0" marR="0" lvl="0" indent="0" algn="r" defTabSz="685560" rtl="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white">
                      <a:lumMod val="20000"/>
                      <a:lumOff val="80000"/>
                    </a:prstClr>
                  </a:solidFill>
                  <a:effectLst/>
                  <a:uLnTx/>
                  <a:uFillTx/>
                  <a:latin typeface="微软雅黑" panose="020B0503020204020204" pitchFamily="34" charset="-122"/>
                  <a:ea typeface="微软雅黑" panose="020B0503020204020204" pitchFamily="34" charset="-122"/>
                  <a:cs typeface="Clear Sans" panose="020B0503030202020304" pitchFamily="34" charset="0"/>
                </a:rPr>
                <a:t>源端口號</a:t>
              </a:r>
              <a:r>
                <a:rPr kumimoji="0" lang="zh-CN" altLang="en-US" sz="28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Clear Sans" panose="020B0503030202020304" pitchFamily="34" charset="0"/>
                </a:rPr>
                <a:t>╳</a:t>
              </a:r>
              <a:endParaRPr kumimoji="0" lang="en-GB" altLang="zh-CN" sz="1400" b="0" i="0" u="none" strike="noStrike" kern="0" cap="none" spc="0" normalizeH="0" baseline="0" noProof="0" dirty="0">
                <a:ln>
                  <a:noFill/>
                </a:ln>
                <a:solidFill>
                  <a:prstClr val="white">
                    <a:lumMod val="20000"/>
                    <a:lumOff val="80000"/>
                  </a:prstClr>
                </a:solidFill>
                <a:effectLst/>
                <a:uLnTx/>
                <a:uFillTx/>
                <a:latin typeface="微软雅黑" panose="020B0503020204020204" pitchFamily="34" charset="-122"/>
                <a:ea typeface="微软雅黑" panose="020B0503020204020204" pitchFamily="34" charset="-122"/>
                <a:cs typeface="Clear Sans" panose="020B0503030202020304" pitchFamily="34" charset="0"/>
              </a:endParaRPr>
            </a:p>
          </p:txBody>
        </p:sp>
        <p:grpSp>
          <p:nvGrpSpPr>
            <p:cNvPr id="72" name="Group 22">
              <a:extLst>
                <a:ext uri="{FF2B5EF4-FFF2-40B4-BE49-F238E27FC236}">
                  <a16:creationId xmlns:a16="http://schemas.microsoft.com/office/drawing/2014/main" id="{C94ADF9B-39AB-403D-8A3A-B83C5A04EFCC}"/>
                </a:ext>
              </a:extLst>
            </p:cNvPr>
            <p:cNvGrpSpPr>
              <a:grpSpLocks/>
            </p:cNvGrpSpPr>
            <p:nvPr/>
          </p:nvGrpSpPr>
          <p:grpSpPr bwMode="auto">
            <a:xfrm rot="-5400000">
              <a:off x="3369277" y="2174270"/>
              <a:ext cx="195640" cy="838199"/>
              <a:chOff x="3686186" y="1166322"/>
              <a:chExt cx="152400" cy="652944"/>
            </a:xfrm>
          </p:grpSpPr>
          <p:sp>
            <p:nvSpPr>
              <p:cNvPr id="73" name="Oval 15">
                <a:extLst>
                  <a:ext uri="{FF2B5EF4-FFF2-40B4-BE49-F238E27FC236}">
                    <a16:creationId xmlns:a16="http://schemas.microsoft.com/office/drawing/2014/main" id="{23081DFD-3030-4C3D-B340-F236AC50B54D}"/>
                  </a:ext>
                </a:extLst>
              </p:cNvPr>
              <p:cNvSpPr/>
              <p:nvPr/>
            </p:nvSpPr>
            <p:spPr>
              <a:xfrm>
                <a:off x="3686865" y="1665247"/>
                <a:ext cx="152329" cy="152492"/>
              </a:xfrm>
              <a:prstGeom prst="ellipse">
                <a:avLst/>
              </a:prstGeom>
              <a:solidFill>
                <a:sysClr val="window" lastClr="FFFFFF"/>
              </a:solidFill>
              <a:ln w="12700" cap="flat" cmpd="sng" algn="ctr">
                <a:noFill/>
                <a:prstDash val="solid"/>
                <a:miter lim="800000"/>
              </a:ln>
              <a:effectLst/>
            </p:spPr>
            <p:txBody>
              <a:bodyPr anchor="ct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zh-CN" sz="1050" b="0" i="0" u="none" strike="noStrike" kern="0" cap="none" spc="0" normalizeH="0" baseline="0" noProof="0">
                  <a:ln>
                    <a:noFill/>
                  </a:ln>
                  <a:solidFill>
                    <a:srgbClr val="FFFFFF"/>
                  </a:solidFill>
                  <a:effectLst/>
                  <a:uLnTx/>
                  <a:uFillTx/>
                  <a:latin typeface="Calibri" pitchFamily="34" charset="0"/>
                  <a:ea typeface="等线" panose="02010600030101010101" pitchFamily="2" charset="-122"/>
                  <a:cs typeface="+mn-cs"/>
                </a:endParaRPr>
              </a:p>
            </p:txBody>
          </p:sp>
          <p:sp>
            <p:nvSpPr>
              <p:cNvPr id="74" name="Rounded Rectangle 16">
                <a:extLst>
                  <a:ext uri="{FF2B5EF4-FFF2-40B4-BE49-F238E27FC236}">
                    <a16:creationId xmlns:a16="http://schemas.microsoft.com/office/drawing/2014/main" id="{0328934B-5AA1-440B-96A6-8BC8ED6597C7}"/>
                  </a:ext>
                </a:extLst>
              </p:cNvPr>
              <p:cNvSpPr/>
              <p:nvPr/>
            </p:nvSpPr>
            <p:spPr>
              <a:xfrm>
                <a:off x="3738962" y="1165698"/>
                <a:ext cx="48299" cy="610898"/>
              </a:xfrm>
              <a:prstGeom prst="roundRect">
                <a:avLst>
                  <a:gd name="adj" fmla="val 38542"/>
                </a:avLst>
              </a:prstGeom>
              <a:gradFill>
                <a:gsLst>
                  <a:gs pos="2000">
                    <a:sysClr val="windowText" lastClr="000000">
                      <a:lumMod val="50000"/>
                      <a:lumOff val="50000"/>
                    </a:sysClr>
                  </a:gs>
                  <a:gs pos="100000">
                    <a:sysClr val="window" lastClr="FFFFFF"/>
                  </a:gs>
                </a:gsLst>
                <a:lin ang="5400000" scaled="0"/>
              </a:gradFill>
              <a:ln w="12700" cap="flat" cmpd="sng" algn="ctr">
                <a:noFill/>
                <a:prstDash val="solid"/>
                <a:miter lim="800000"/>
              </a:ln>
              <a:effectLst/>
            </p:spPr>
            <p:txBody>
              <a:bodyPr anchor="ct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zh-CN" sz="1050" b="0" i="0" u="none" strike="noStrike" kern="0" cap="none" spc="0" normalizeH="0" baseline="0" noProof="0">
                  <a:ln>
                    <a:noFill/>
                  </a:ln>
                  <a:solidFill>
                    <a:srgbClr val="FFFFFF"/>
                  </a:solidFill>
                  <a:effectLst/>
                  <a:uLnTx/>
                  <a:uFillTx/>
                  <a:latin typeface="Calibri" pitchFamily="34" charset="0"/>
                  <a:ea typeface="等线" panose="02010600030101010101" pitchFamily="2" charset="-122"/>
                  <a:cs typeface="+mn-cs"/>
                </a:endParaRPr>
              </a:p>
            </p:txBody>
          </p:sp>
        </p:grpSp>
      </p:grpSp>
      <p:grpSp>
        <p:nvGrpSpPr>
          <p:cNvPr id="75" name="Group 28">
            <a:extLst>
              <a:ext uri="{FF2B5EF4-FFF2-40B4-BE49-F238E27FC236}">
                <a16:creationId xmlns:a16="http://schemas.microsoft.com/office/drawing/2014/main" id="{9993388B-4292-4B48-9676-502DE9692212}"/>
              </a:ext>
            </a:extLst>
          </p:cNvPr>
          <p:cNvGrpSpPr>
            <a:grpSpLocks/>
          </p:cNvGrpSpPr>
          <p:nvPr/>
        </p:nvGrpSpPr>
        <p:grpSpPr bwMode="auto">
          <a:xfrm rot="20152241">
            <a:off x="2005867" y="2151504"/>
            <a:ext cx="1963139" cy="560847"/>
            <a:chOff x="3047997" y="2196180"/>
            <a:chExt cx="2628114" cy="750636"/>
          </a:xfrm>
          <a:solidFill>
            <a:srgbClr val="00B0F0"/>
          </a:solidFill>
        </p:grpSpPr>
        <p:sp>
          <p:nvSpPr>
            <p:cNvPr id="76" name="Rounded Rectangle 19">
              <a:extLst>
                <a:ext uri="{FF2B5EF4-FFF2-40B4-BE49-F238E27FC236}">
                  <a16:creationId xmlns:a16="http://schemas.microsoft.com/office/drawing/2014/main" id="{09BAAA9A-7B10-4A4B-805E-884360B30CBF}"/>
                </a:ext>
              </a:extLst>
            </p:cNvPr>
            <p:cNvSpPr/>
            <p:nvPr/>
          </p:nvSpPr>
          <p:spPr bwMode="auto">
            <a:xfrm>
              <a:off x="3581490" y="2196180"/>
              <a:ext cx="2094621" cy="750636"/>
            </a:xfrm>
            <a:prstGeom prst="roundRect">
              <a:avLst/>
            </a:prstGeom>
            <a:grpFill/>
            <a:ln w="9525">
              <a:noFill/>
              <a:round/>
              <a:headEnd/>
              <a:tailEnd/>
            </a:ln>
          </p:spPr>
          <p:txBody>
            <a:bodyPr anchor="ctr"/>
            <a:lstStyle/>
            <a:p>
              <a:pPr marL="0" marR="0" lvl="0" indent="0" algn="r" defTabSz="685560" rtl="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white">
                      <a:lumMod val="20000"/>
                      <a:lumOff val="80000"/>
                    </a:prstClr>
                  </a:solidFill>
                  <a:effectLst/>
                  <a:uLnTx/>
                  <a:uFillTx/>
                  <a:latin typeface="微软雅黑" panose="020B0503020204020204" pitchFamily="34" charset="-122"/>
                  <a:ea typeface="微软雅黑" panose="020B0503020204020204" pitchFamily="34" charset="-122"/>
                  <a:cs typeface="Clear Sans" panose="020B0503030202020304" pitchFamily="34" charset="0"/>
                </a:rPr>
                <a:t>目的端口號</a:t>
              </a:r>
              <a:r>
                <a:rPr kumimoji="0" lang="zh-CN" altLang="en-US" sz="28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Clear Sans" panose="020B0503030202020304" pitchFamily="34" charset="0"/>
                </a:rPr>
                <a:t>√</a:t>
              </a:r>
              <a:endParaRPr kumimoji="0" lang="en-GB" altLang="zh-CN" sz="2800" b="0" i="0" u="none" strike="noStrike" kern="0" cap="none" spc="0" normalizeH="0" baseline="0" noProof="0" dirty="0">
                <a:ln>
                  <a:noFill/>
                </a:ln>
                <a:solidFill>
                  <a:prstClr val="white">
                    <a:lumMod val="20000"/>
                    <a:lumOff val="80000"/>
                  </a:prstClr>
                </a:solidFill>
                <a:effectLst/>
                <a:uLnTx/>
                <a:uFillTx/>
                <a:latin typeface="微软雅黑" panose="020B0503020204020204" pitchFamily="34" charset="-122"/>
                <a:ea typeface="微软雅黑" panose="020B0503020204020204" pitchFamily="34" charset="-122"/>
                <a:cs typeface="Clear Sans" panose="020B0503030202020304" pitchFamily="34" charset="0"/>
              </a:endParaRPr>
            </a:p>
          </p:txBody>
        </p:sp>
        <p:grpSp>
          <p:nvGrpSpPr>
            <p:cNvPr id="77" name="Group 22">
              <a:extLst>
                <a:ext uri="{FF2B5EF4-FFF2-40B4-BE49-F238E27FC236}">
                  <a16:creationId xmlns:a16="http://schemas.microsoft.com/office/drawing/2014/main" id="{BA664649-582A-4C79-B702-CC2FEC596806}"/>
                </a:ext>
              </a:extLst>
            </p:cNvPr>
            <p:cNvGrpSpPr>
              <a:grpSpLocks/>
            </p:cNvGrpSpPr>
            <p:nvPr/>
          </p:nvGrpSpPr>
          <p:grpSpPr bwMode="auto">
            <a:xfrm rot="-5400000">
              <a:off x="3369277" y="2174271"/>
              <a:ext cx="195640" cy="838199"/>
              <a:chOff x="3686186" y="1166322"/>
              <a:chExt cx="152400" cy="652944"/>
            </a:xfrm>
            <a:grpFill/>
          </p:grpSpPr>
          <p:sp>
            <p:nvSpPr>
              <p:cNvPr id="78" name="Oval 21">
                <a:extLst>
                  <a:ext uri="{FF2B5EF4-FFF2-40B4-BE49-F238E27FC236}">
                    <a16:creationId xmlns:a16="http://schemas.microsoft.com/office/drawing/2014/main" id="{6313AED6-92E6-4DFE-B2A3-0425934B3B43}"/>
                  </a:ext>
                </a:extLst>
              </p:cNvPr>
              <p:cNvSpPr/>
              <p:nvPr/>
            </p:nvSpPr>
            <p:spPr>
              <a:xfrm>
                <a:off x="3686744" y="1666339"/>
                <a:ext cx="152458" cy="152476"/>
              </a:xfrm>
              <a:prstGeom prst="ellipse">
                <a:avLst/>
              </a:prstGeom>
              <a:grpFill/>
              <a:ln w="12700" cap="flat" cmpd="sng" algn="ctr">
                <a:noFill/>
                <a:prstDash val="solid"/>
                <a:miter lim="800000"/>
              </a:ln>
              <a:effectLst/>
            </p:spPr>
            <p:txBody>
              <a:bodyPr anchor="ct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zh-CN" sz="1050" b="0" i="0" u="none" strike="noStrike" kern="0" cap="none" spc="0" normalizeH="0" baseline="0" noProof="0">
                  <a:ln>
                    <a:noFill/>
                  </a:ln>
                  <a:solidFill>
                    <a:srgbClr val="FFFFFF"/>
                  </a:solidFill>
                  <a:effectLst/>
                  <a:uLnTx/>
                  <a:uFillTx/>
                  <a:latin typeface="Calibri" pitchFamily="34" charset="0"/>
                  <a:ea typeface="等线" panose="02010600030101010101" pitchFamily="2" charset="-122"/>
                  <a:cs typeface="+mn-cs"/>
                </a:endParaRPr>
              </a:p>
            </p:txBody>
          </p:sp>
          <p:sp>
            <p:nvSpPr>
              <p:cNvPr id="79" name="Rounded Rectangle 22">
                <a:extLst>
                  <a:ext uri="{FF2B5EF4-FFF2-40B4-BE49-F238E27FC236}">
                    <a16:creationId xmlns:a16="http://schemas.microsoft.com/office/drawing/2014/main" id="{A58EB548-570D-436D-9618-ECA365BE4479}"/>
                  </a:ext>
                </a:extLst>
              </p:cNvPr>
              <p:cNvSpPr/>
              <p:nvPr/>
            </p:nvSpPr>
            <p:spPr>
              <a:xfrm>
                <a:off x="3738648" y="1166499"/>
                <a:ext cx="48340" cy="610833"/>
              </a:xfrm>
              <a:prstGeom prst="roundRect">
                <a:avLst>
                  <a:gd name="adj" fmla="val 38542"/>
                </a:avLst>
              </a:prstGeom>
              <a:grpFill/>
              <a:ln w="12700" cap="flat" cmpd="sng" algn="ctr">
                <a:noFill/>
                <a:prstDash val="solid"/>
                <a:miter lim="800000"/>
              </a:ln>
              <a:effectLst/>
            </p:spPr>
            <p:txBody>
              <a:bodyPr anchor="ct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zh-CN" sz="1050" b="0" i="0" u="none" strike="noStrike" kern="0" cap="none" spc="0" normalizeH="0" baseline="0" noProof="0">
                  <a:ln>
                    <a:noFill/>
                  </a:ln>
                  <a:solidFill>
                    <a:srgbClr val="FFFFFF"/>
                  </a:solidFill>
                  <a:effectLst/>
                  <a:uLnTx/>
                  <a:uFillTx/>
                  <a:latin typeface="Calibri" pitchFamily="34" charset="0"/>
                  <a:ea typeface="等线" panose="02010600030101010101" pitchFamily="2" charset="-122"/>
                  <a:cs typeface="+mn-cs"/>
                </a:endParaRPr>
              </a:p>
            </p:txBody>
          </p:sp>
        </p:grpSp>
      </p:grpSp>
      <p:grpSp>
        <p:nvGrpSpPr>
          <p:cNvPr id="80" name="Group 17">
            <a:extLst>
              <a:ext uri="{FF2B5EF4-FFF2-40B4-BE49-F238E27FC236}">
                <a16:creationId xmlns:a16="http://schemas.microsoft.com/office/drawing/2014/main" id="{DD829C59-7B03-4C52-9F23-2C8085A3AFB7}"/>
              </a:ext>
            </a:extLst>
          </p:cNvPr>
          <p:cNvGrpSpPr>
            <a:grpSpLocks/>
          </p:cNvGrpSpPr>
          <p:nvPr/>
        </p:nvGrpSpPr>
        <p:grpSpPr bwMode="auto">
          <a:xfrm rot="18174686" flipH="1">
            <a:off x="293308" y="3810414"/>
            <a:ext cx="1963548" cy="561663"/>
            <a:chOff x="3047999" y="2195672"/>
            <a:chExt cx="2628163" cy="751505"/>
          </a:xfrm>
        </p:grpSpPr>
        <p:sp>
          <p:nvSpPr>
            <p:cNvPr id="81" name="Rounded Rectangle 50">
              <a:extLst>
                <a:ext uri="{FF2B5EF4-FFF2-40B4-BE49-F238E27FC236}">
                  <a16:creationId xmlns:a16="http://schemas.microsoft.com/office/drawing/2014/main" id="{E270F426-1A49-49EE-948C-8CA957743574}"/>
                </a:ext>
              </a:extLst>
            </p:cNvPr>
            <p:cNvSpPr/>
            <p:nvPr/>
          </p:nvSpPr>
          <p:spPr bwMode="auto">
            <a:xfrm>
              <a:off x="3581655" y="2195672"/>
              <a:ext cx="2094507" cy="751505"/>
            </a:xfrm>
            <a:prstGeom prst="roundRect">
              <a:avLst/>
            </a:prstGeom>
            <a:solidFill>
              <a:srgbClr val="3181D1"/>
            </a:solidFill>
            <a:ln w="9525">
              <a:noFill/>
              <a:round/>
              <a:headEnd/>
              <a:tailEnd/>
            </a:ln>
          </p:spPr>
          <p:txBody>
            <a:bodyPr anchor="ctr"/>
            <a:lstStyle/>
            <a:p>
              <a:pPr marL="0" marR="0" lvl="0" indent="0" algn="l" defTabSz="685560" rtl="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white">
                      <a:lumMod val="20000"/>
                      <a:lumOff val="80000"/>
                    </a:prstClr>
                  </a:solidFill>
                  <a:effectLst/>
                  <a:uLnTx/>
                  <a:uFillTx/>
                  <a:latin typeface="微软雅黑" panose="020B0503020204020204" pitchFamily="34" charset="-122"/>
                  <a:ea typeface="微软雅黑" panose="020B0503020204020204" pitchFamily="34" charset="-122"/>
                  <a:cs typeface="Clear Sans" panose="020B0503030202020304" pitchFamily="34" charset="0"/>
                </a:rPr>
                <a:t>源</a:t>
              </a:r>
              <a:r>
                <a:rPr kumimoji="0" lang="en-US" altLang="zh-CN" sz="1400" b="0" i="0" u="none" strike="noStrike" kern="0" cap="none" spc="0" normalizeH="0" baseline="0" noProof="0" dirty="0">
                  <a:ln>
                    <a:noFill/>
                  </a:ln>
                  <a:solidFill>
                    <a:prstClr val="white">
                      <a:lumMod val="20000"/>
                      <a:lumOff val="80000"/>
                    </a:prstClr>
                  </a:solidFill>
                  <a:effectLst/>
                  <a:uLnTx/>
                  <a:uFillTx/>
                  <a:latin typeface="微软雅黑" panose="020B0503020204020204" pitchFamily="34" charset="-122"/>
                  <a:ea typeface="微软雅黑" panose="020B0503020204020204" pitchFamily="34" charset="-122"/>
                  <a:cs typeface="Clear Sans" panose="020B0503030202020304" pitchFamily="34" charset="0"/>
                </a:rPr>
                <a:t>IP</a:t>
              </a:r>
              <a:r>
                <a:rPr kumimoji="0" lang="zh-CN" altLang="en-US" sz="1400" b="0" i="0" u="none" strike="noStrike" kern="0" cap="none" spc="0" normalizeH="0" baseline="0" noProof="0" dirty="0">
                  <a:ln>
                    <a:noFill/>
                  </a:ln>
                  <a:solidFill>
                    <a:prstClr val="white">
                      <a:lumMod val="20000"/>
                      <a:lumOff val="80000"/>
                    </a:prstClr>
                  </a:solidFill>
                  <a:effectLst/>
                  <a:uLnTx/>
                  <a:uFillTx/>
                  <a:latin typeface="微软雅黑" panose="020B0503020204020204" pitchFamily="34" charset="-122"/>
                  <a:ea typeface="微软雅黑" panose="020B0503020204020204" pitchFamily="34" charset="-122"/>
                  <a:cs typeface="Clear Sans" panose="020B0503030202020304" pitchFamily="34" charset="0"/>
                </a:rPr>
                <a:t>地址</a:t>
              </a:r>
              <a:r>
                <a:rPr kumimoji="0" lang="zh-CN" altLang="en-US" sz="24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Clear Sans" panose="020B0503030202020304" pitchFamily="34" charset="0"/>
                </a:rPr>
                <a:t>√</a:t>
              </a:r>
              <a:endParaRPr kumimoji="0" lang="en-GB" altLang="zh-CN" sz="24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Clear Sans" panose="020B0503030202020304" pitchFamily="34" charset="0"/>
              </a:endParaRPr>
            </a:p>
          </p:txBody>
        </p:sp>
        <p:grpSp>
          <p:nvGrpSpPr>
            <p:cNvPr id="82" name="Group 22">
              <a:extLst>
                <a:ext uri="{FF2B5EF4-FFF2-40B4-BE49-F238E27FC236}">
                  <a16:creationId xmlns:a16="http://schemas.microsoft.com/office/drawing/2014/main" id="{0BFC3C0E-92B2-4399-BA12-597160DA04B1}"/>
                </a:ext>
              </a:extLst>
            </p:cNvPr>
            <p:cNvGrpSpPr>
              <a:grpSpLocks/>
            </p:cNvGrpSpPr>
            <p:nvPr/>
          </p:nvGrpSpPr>
          <p:grpSpPr bwMode="auto">
            <a:xfrm rot="-5400000">
              <a:off x="3369279" y="2174269"/>
              <a:ext cx="195640" cy="838200"/>
              <a:chOff x="3686186" y="1166322"/>
              <a:chExt cx="152400" cy="652944"/>
            </a:xfrm>
          </p:grpSpPr>
          <p:sp>
            <p:nvSpPr>
              <p:cNvPr id="83" name="Oval 52">
                <a:extLst>
                  <a:ext uri="{FF2B5EF4-FFF2-40B4-BE49-F238E27FC236}">
                    <a16:creationId xmlns:a16="http://schemas.microsoft.com/office/drawing/2014/main" id="{FF080A7D-39F7-43AE-9597-D5AB6C46FE83}"/>
                  </a:ext>
                </a:extLst>
              </p:cNvPr>
              <p:cNvSpPr/>
              <p:nvPr/>
            </p:nvSpPr>
            <p:spPr>
              <a:xfrm>
                <a:off x="3687178" y="1667206"/>
                <a:ext cx="152392" cy="152467"/>
              </a:xfrm>
              <a:prstGeom prst="ellipse">
                <a:avLst/>
              </a:prstGeom>
              <a:solidFill>
                <a:sysClr val="window" lastClr="FFFFFF"/>
              </a:solidFill>
              <a:ln w="12700" cap="flat" cmpd="sng" algn="ctr">
                <a:noFill/>
                <a:prstDash val="solid"/>
                <a:miter lim="800000"/>
              </a:ln>
              <a:effectLst/>
            </p:spPr>
            <p:txBody>
              <a:bodyPr anchor="ct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zh-CN" sz="1050" b="0" i="0" u="none" strike="noStrike" kern="0" cap="none" spc="0" normalizeH="0" baseline="0" noProof="0">
                  <a:ln>
                    <a:noFill/>
                  </a:ln>
                  <a:solidFill>
                    <a:srgbClr val="FFFFFF"/>
                  </a:solidFill>
                  <a:effectLst/>
                  <a:uLnTx/>
                  <a:uFillTx/>
                  <a:latin typeface="Calibri" pitchFamily="34" charset="0"/>
                  <a:ea typeface="等线" panose="02010600030101010101" pitchFamily="2" charset="-122"/>
                  <a:cs typeface="+mn-cs"/>
                </a:endParaRPr>
              </a:p>
            </p:txBody>
          </p:sp>
          <p:sp>
            <p:nvSpPr>
              <p:cNvPr id="84" name="Rounded Rectangle 53">
                <a:extLst>
                  <a:ext uri="{FF2B5EF4-FFF2-40B4-BE49-F238E27FC236}">
                    <a16:creationId xmlns:a16="http://schemas.microsoft.com/office/drawing/2014/main" id="{FE69EA04-53EB-4802-9384-477B865FB830}"/>
                  </a:ext>
                </a:extLst>
              </p:cNvPr>
              <p:cNvSpPr/>
              <p:nvPr/>
            </p:nvSpPr>
            <p:spPr>
              <a:xfrm>
                <a:off x="3739404" y="1167403"/>
                <a:ext cx="48320" cy="610798"/>
              </a:xfrm>
              <a:prstGeom prst="roundRect">
                <a:avLst>
                  <a:gd name="adj" fmla="val 38542"/>
                </a:avLst>
              </a:prstGeom>
              <a:gradFill>
                <a:gsLst>
                  <a:gs pos="2000">
                    <a:sysClr val="windowText" lastClr="000000">
                      <a:lumMod val="50000"/>
                      <a:lumOff val="50000"/>
                    </a:sysClr>
                  </a:gs>
                  <a:gs pos="100000">
                    <a:sysClr val="window" lastClr="FFFFFF"/>
                  </a:gs>
                </a:gsLst>
                <a:lin ang="5400000" scaled="0"/>
              </a:gradFill>
              <a:ln w="12700" cap="flat" cmpd="sng" algn="ctr">
                <a:noFill/>
                <a:prstDash val="solid"/>
                <a:miter lim="800000"/>
              </a:ln>
              <a:effectLst/>
            </p:spPr>
            <p:txBody>
              <a:bodyPr anchor="ct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zh-CN" sz="1050" b="0" i="0" u="none" strike="noStrike" kern="0" cap="none" spc="0" normalizeH="0" baseline="0" noProof="0">
                  <a:ln>
                    <a:noFill/>
                  </a:ln>
                  <a:solidFill>
                    <a:srgbClr val="FFFFFF"/>
                  </a:solidFill>
                  <a:effectLst/>
                  <a:uLnTx/>
                  <a:uFillTx/>
                  <a:latin typeface="Calibri" pitchFamily="34" charset="0"/>
                  <a:ea typeface="等线" panose="02010600030101010101" pitchFamily="2" charset="-122"/>
                  <a:cs typeface="+mn-cs"/>
                </a:endParaRPr>
              </a:p>
            </p:txBody>
          </p:sp>
        </p:grpSp>
      </p:grpSp>
      <p:sp>
        <p:nvSpPr>
          <p:cNvPr id="111" name="矩形 110">
            <a:extLst>
              <a:ext uri="{FF2B5EF4-FFF2-40B4-BE49-F238E27FC236}">
                <a16:creationId xmlns:a16="http://schemas.microsoft.com/office/drawing/2014/main" id="{D8F1799D-8E1C-42FF-A933-B2EF3E877AB7}"/>
              </a:ext>
            </a:extLst>
          </p:cNvPr>
          <p:cNvSpPr>
            <a:spLocks noChangeArrowheads="1"/>
          </p:cNvSpPr>
          <p:nvPr/>
        </p:nvSpPr>
        <p:spPr bwMode="auto">
          <a:xfrm>
            <a:off x="5249500" y="1676529"/>
            <a:ext cx="53579" cy="620508"/>
          </a:xfrm>
          <a:prstGeom prst="rect">
            <a:avLst/>
          </a:prstGeom>
          <a:solidFill>
            <a:srgbClr val="7E46A9"/>
          </a:solidFill>
          <a:ln w="9525">
            <a:noFill/>
            <a:miter lim="800000"/>
            <a:headEnd/>
            <a:tailEnd/>
          </a:ln>
        </p:spPr>
        <p:txBody>
          <a:bodyPr lIns="68580" tIns="34290" rIns="68580" bIns="3429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Arial"/>
              <a:ea typeface="微软雅黑 Light"/>
              <a:cs typeface="+mn-cs"/>
            </a:endParaRPr>
          </a:p>
        </p:txBody>
      </p:sp>
      <p:sp>
        <p:nvSpPr>
          <p:cNvPr id="112" name="矩形 70">
            <a:extLst>
              <a:ext uri="{FF2B5EF4-FFF2-40B4-BE49-F238E27FC236}">
                <a16:creationId xmlns:a16="http://schemas.microsoft.com/office/drawing/2014/main" id="{85FC449B-1BE3-4160-B143-C7AD31D7955E}"/>
              </a:ext>
            </a:extLst>
          </p:cNvPr>
          <p:cNvSpPr>
            <a:spLocks noChangeArrowheads="1"/>
          </p:cNvSpPr>
          <p:nvPr/>
        </p:nvSpPr>
        <p:spPr bwMode="auto">
          <a:xfrm>
            <a:off x="8387701" y="1664406"/>
            <a:ext cx="53579" cy="619316"/>
          </a:xfrm>
          <a:prstGeom prst="rect">
            <a:avLst/>
          </a:prstGeom>
          <a:solidFill>
            <a:srgbClr val="7E46A9"/>
          </a:solidFill>
          <a:ln w="9525">
            <a:noFill/>
            <a:miter lim="800000"/>
            <a:headEnd/>
            <a:tailEnd/>
          </a:ln>
        </p:spPr>
        <p:txBody>
          <a:bodyPr lIns="68580" tIns="34290" rIns="68580" bIns="3429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Arial"/>
              <a:ea typeface="微软雅黑 Light"/>
              <a:cs typeface="+mn-cs"/>
            </a:endParaRPr>
          </a:p>
        </p:txBody>
      </p:sp>
      <p:sp>
        <p:nvSpPr>
          <p:cNvPr id="113" name="矩形 75">
            <a:extLst>
              <a:ext uri="{FF2B5EF4-FFF2-40B4-BE49-F238E27FC236}">
                <a16:creationId xmlns:a16="http://schemas.microsoft.com/office/drawing/2014/main" id="{B0179F7B-4732-4EC9-B312-68E4BF0DDB45}"/>
              </a:ext>
            </a:extLst>
          </p:cNvPr>
          <p:cNvSpPr>
            <a:spLocks noChangeArrowheads="1"/>
          </p:cNvSpPr>
          <p:nvPr/>
        </p:nvSpPr>
        <p:spPr bwMode="auto">
          <a:xfrm>
            <a:off x="5377723" y="4664782"/>
            <a:ext cx="53579" cy="619316"/>
          </a:xfrm>
          <a:prstGeom prst="rect">
            <a:avLst/>
          </a:prstGeom>
          <a:solidFill>
            <a:srgbClr val="FF0000"/>
          </a:solidFill>
          <a:ln w="9525">
            <a:noFill/>
            <a:miter lim="800000"/>
            <a:headEnd/>
            <a:tailEnd/>
          </a:ln>
        </p:spPr>
        <p:txBody>
          <a:bodyPr lIns="68580" tIns="34290" rIns="68580" bIns="3429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Arial"/>
              <a:ea typeface="微软雅黑 Light"/>
              <a:cs typeface="+mn-cs"/>
            </a:endParaRPr>
          </a:p>
        </p:txBody>
      </p:sp>
      <p:grpSp>
        <p:nvGrpSpPr>
          <p:cNvPr id="114" name="Group 18">
            <a:extLst>
              <a:ext uri="{FF2B5EF4-FFF2-40B4-BE49-F238E27FC236}">
                <a16:creationId xmlns:a16="http://schemas.microsoft.com/office/drawing/2014/main" id="{CD0BA38D-F500-4D33-BA23-EE7B020D2734}"/>
              </a:ext>
            </a:extLst>
          </p:cNvPr>
          <p:cNvGrpSpPr>
            <a:grpSpLocks/>
          </p:cNvGrpSpPr>
          <p:nvPr/>
        </p:nvGrpSpPr>
        <p:grpSpPr bwMode="auto">
          <a:xfrm>
            <a:off x="5411894" y="1517469"/>
            <a:ext cx="3098618" cy="837748"/>
            <a:chOff x="0" y="-101955"/>
            <a:chExt cx="4132363" cy="1118260"/>
          </a:xfrm>
        </p:grpSpPr>
        <p:sp>
          <p:nvSpPr>
            <p:cNvPr id="115" name="文本框 44">
              <a:extLst>
                <a:ext uri="{FF2B5EF4-FFF2-40B4-BE49-F238E27FC236}">
                  <a16:creationId xmlns:a16="http://schemas.microsoft.com/office/drawing/2014/main" id="{3A02B1ED-C5E6-4C6D-BA3D-F2B2957B9265}"/>
                </a:ext>
              </a:extLst>
            </p:cNvPr>
            <p:cNvSpPr txBox="1">
              <a:spLocks noChangeArrowheads="1"/>
            </p:cNvSpPr>
            <p:nvPr/>
          </p:nvSpPr>
          <p:spPr bwMode="auto">
            <a:xfrm>
              <a:off x="0" y="-101955"/>
              <a:ext cx="4132363" cy="61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44546A"/>
                  </a:solidFill>
                  <a:effectLst/>
                  <a:uLnTx/>
                  <a:uFillTx/>
                  <a:latin typeface="微软雅黑" pitchFamily="34" charset="-122"/>
                  <a:ea typeface="微软雅黑" pitchFamily="34" charset="-122"/>
                  <a:cs typeface="+mn-cs"/>
                </a:rPr>
                <a:t>請求包源</a:t>
              </a:r>
              <a:r>
                <a:rPr kumimoji="0" lang="en-US" altLang="zh-CN" sz="2400" b="1" i="0" u="none" strike="noStrike" kern="0" cap="none" spc="0" normalizeH="0" baseline="0" noProof="0" dirty="0">
                  <a:ln>
                    <a:noFill/>
                  </a:ln>
                  <a:solidFill>
                    <a:srgbClr val="44546A"/>
                  </a:solidFill>
                  <a:effectLst/>
                  <a:uLnTx/>
                  <a:uFillTx/>
                  <a:latin typeface="微软雅黑" pitchFamily="34" charset="-122"/>
                  <a:ea typeface="微软雅黑" pitchFamily="34" charset="-122"/>
                  <a:cs typeface="+mn-cs"/>
                </a:rPr>
                <a:t>IP</a:t>
              </a:r>
              <a:r>
                <a:rPr kumimoji="0" lang="zh-CN" altLang="en-US" sz="2400" b="1" i="0" u="none" strike="noStrike" kern="0" cap="none" spc="0" normalizeH="0" baseline="0" noProof="0" dirty="0">
                  <a:ln>
                    <a:noFill/>
                  </a:ln>
                  <a:solidFill>
                    <a:srgbClr val="44546A"/>
                  </a:solidFill>
                  <a:effectLst/>
                  <a:uLnTx/>
                  <a:uFillTx/>
                  <a:latin typeface="微软雅黑" pitchFamily="34" charset="-122"/>
                  <a:ea typeface="微软雅黑" pitchFamily="34" charset="-122"/>
                  <a:cs typeface="+mn-cs"/>
                </a:rPr>
                <a:t>地址</a:t>
              </a:r>
            </a:p>
          </p:txBody>
        </p:sp>
        <p:sp>
          <p:nvSpPr>
            <p:cNvPr id="116" name="文本框 14">
              <a:extLst>
                <a:ext uri="{FF2B5EF4-FFF2-40B4-BE49-F238E27FC236}">
                  <a16:creationId xmlns:a16="http://schemas.microsoft.com/office/drawing/2014/main" id="{B6F9596A-F97F-470E-94C4-3230183B8870}"/>
                </a:ext>
              </a:extLst>
            </p:cNvPr>
            <p:cNvSpPr txBox="1">
              <a:spLocks noChangeArrowheads="1"/>
            </p:cNvSpPr>
            <p:nvPr/>
          </p:nvSpPr>
          <p:spPr bwMode="auto">
            <a:xfrm>
              <a:off x="0" y="482222"/>
              <a:ext cx="3823463" cy="534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546A"/>
                  </a:solidFill>
                  <a:effectLst/>
                  <a:uLnTx/>
                  <a:uFillTx/>
                  <a:latin typeface="微软雅黑" panose="020B0503020204020204" pitchFamily="34" charset="-122"/>
                  <a:ea typeface="微软雅黑" panose="020B0503020204020204" pitchFamily="34" charset="-122"/>
                  <a:cs typeface="+mn-cs"/>
                </a:rPr>
                <a:t>DNS</a:t>
              </a:r>
              <a:r>
                <a:rPr kumimoji="0" lang="zh-CN" altLang="en-US" sz="2000" b="0" i="0" u="none" strike="noStrike" kern="1200" cap="none" spc="0" normalizeH="0" baseline="0" noProof="0" dirty="0">
                  <a:ln>
                    <a:noFill/>
                  </a:ln>
                  <a:solidFill>
                    <a:srgbClr val="44546A"/>
                  </a:solidFill>
                  <a:effectLst/>
                  <a:uLnTx/>
                  <a:uFillTx/>
                  <a:latin typeface="微软雅黑" panose="020B0503020204020204" pitchFamily="34" charset="-122"/>
                  <a:ea typeface="微软雅黑" panose="020B0503020204020204" pitchFamily="34" charset="-122"/>
                  <a:cs typeface="+mn-cs"/>
                </a:rPr>
                <a:t>服務器地址</a:t>
              </a:r>
            </a:p>
          </p:txBody>
        </p:sp>
      </p:grpSp>
      <p:grpSp>
        <p:nvGrpSpPr>
          <p:cNvPr id="117" name="Group 21">
            <a:extLst>
              <a:ext uri="{FF2B5EF4-FFF2-40B4-BE49-F238E27FC236}">
                <a16:creationId xmlns:a16="http://schemas.microsoft.com/office/drawing/2014/main" id="{EF1A4F6D-61FA-46FB-B072-EE3C2DE28D74}"/>
              </a:ext>
            </a:extLst>
          </p:cNvPr>
          <p:cNvGrpSpPr>
            <a:grpSpLocks/>
          </p:cNvGrpSpPr>
          <p:nvPr/>
        </p:nvGrpSpPr>
        <p:grpSpPr bwMode="auto">
          <a:xfrm>
            <a:off x="8550095" y="1516149"/>
            <a:ext cx="5607410" cy="848656"/>
            <a:chOff x="0" y="-146267"/>
            <a:chExt cx="7478126" cy="1130903"/>
          </a:xfrm>
        </p:grpSpPr>
        <p:sp>
          <p:nvSpPr>
            <p:cNvPr id="118" name="文本框 47">
              <a:extLst>
                <a:ext uri="{FF2B5EF4-FFF2-40B4-BE49-F238E27FC236}">
                  <a16:creationId xmlns:a16="http://schemas.microsoft.com/office/drawing/2014/main" id="{48D76C58-D711-4E86-9B6B-8CE56BC56E29}"/>
                </a:ext>
              </a:extLst>
            </p:cNvPr>
            <p:cNvSpPr txBox="1">
              <a:spLocks noChangeArrowheads="1"/>
            </p:cNvSpPr>
            <p:nvPr/>
          </p:nvSpPr>
          <p:spPr bwMode="auto">
            <a:xfrm>
              <a:off x="9510" y="-146267"/>
              <a:ext cx="3792882" cy="615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44546A"/>
                  </a:solidFill>
                  <a:effectLst/>
                  <a:uLnTx/>
                  <a:uFillTx/>
                  <a:latin typeface="微软雅黑" pitchFamily="34" charset="-122"/>
                  <a:ea typeface="微软雅黑" pitchFamily="34" charset="-122"/>
                  <a:cs typeface="+mn-cs"/>
                </a:rPr>
                <a:t>請求包目的端口號</a:t>
              </a:r>
            </a:p>
          </p:txBody>
        </p:sp>
        <p:sp>
          <p:nvSpPr>
            <p:cNvPr id="119" name="文本框 14">
              <a:extLst>
                <a:ext uri="{FF2B5EF4-FFF2-40B4-BE49-F238E27FC236}">
                  <a16:creationId xmlns:a16="http://schemas.microsoft.com/office/drawing/2014/main" id="{0719EAE2-68AF-4A17-AC85-B84AEA442821}"/>
                </a:ext>
              </a:extLst>
            </p:cNvPr>
            <p:cNvSpPr txBox="1">
              <a:spLocks noChangeArrowheads="1"/>
            </p:cNvSpPr>
            <p:nvPr/>
          </p:nvSpPr>
          <p:spPr bwMode="auto">
            <a:xfrm>
              <a:off x="0" y="451457"/>
              <a:ext cx="7478126" cy="533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546A"/>
                  </a:solidFill>
                  <a:effectLst/>
                  <a:uLnTx/>
                  <a:uFillTx/>
                  <a:latin typeface="微软雅黑" panose="020B0503020204020204" pitchFamily="34" charset="-122"/>
                  <a:ea typeface="微软雅黑" panose="020B0503020204020204" pitchFamily="34" charset="-122"/>
                  <a:cs typeface="+mn-cs"/>
                </a:rPr>
                <a:t>DNS </a:t>
              </a:r>
              <a:r>
                <a:rPr kumimoji="0" lang="zh-CN" altLang="en-US" sz="2000" b="0" i="0" u="none" strike="noStrike" kern="1200" cap="none" spc="0" normalizeH="0" baseline="0" noProof="0" dirty="0">
                  <a:ln>
                    <a:noFill/>
                  </a:ln>
                  <a:solidFill>
                    <a:srgbClr val="44546A"/>
                  </a:solidFill>
                  <a:effectLst/>
                  <a:uLnTx/>
                  <a:uFillTx/>
                  <a:latin typeface="微软雅黑" panose="020B0503020204020204" pitchFamily="34" charset="-122"/>
                  <a:ea typeface="微软雅黑" panose="020B0503020204020204" pitchFamily="34" charset="-122"/>
                  <a:cs typeface="+mn-cs"/>
                </a:rPr>
                <a:t>端口號，</a:t>
              </a:r>
              <a:r>
                <a:rPr kumimoji="0" lang="en-US" altLang="zh-CN" sz="2000" b="0" i="0" u="none" strike="noStrike" kern="1200" cap="none" spc="0" normalizeH="0" baseline="0" noProof="0" dirty="0">
                  <a:ln>
                    <a:noFill/>
                  </a:ln>
                  <a:solidFill>
                    <a:srgbClr val="44546A"/>
                  </a:solidFill>
                  <a:effectLst/>
                  <a:uLnTx/>
                  <a:uFillTx/>
                  <a:latin typeface="微软雅黑" panose="020B0503020204020204" pitchFamily="34" charset="-122"/>
                  <a:ea typeface="微软雅黑" panose="020B0503020204020204" pitchFamily="34" charset="-122"/>
                  <a:cs typeface="+mn-cs"/>
                </a:rPr>
                <a:t>53</a:t>
              </a:r>
              <a:endParaRPr kumimoji="0" lang="zh-CN" altLang="en-US" sz="2000" b="0" i="0" u="none" strike="noStrike" kern="1200" cap="none" spc="0" normalizeH="0" baseline="0" noProof="0" dirty="0">
                <a:ln>
                  <a:noFill/>
                </a:ln>
                <a:solidFill>
                  <a:srgbClr val="44546A"/>
                </a:solidFill>
                <a:effectLst/>
                <a:uLnTx/>
                <a:uFillTx/>
                <a:latin typeface="微软雅黑" panose="020B0503020204020204" pitchFamily="34" charset="-122"/>
                <a:ea typeface="微软雅黑" panose="020B0503020204020204" pitchFamily="34" charset="-122"/>
                <a:cs typeface="+mn-cs"/>
              </a:endParaRPr>
            </a:p>
          </p:txBody>
        </p:sp>
      </p:grpSp>
      <p:grpSp>
        <p:nvGrpSpPr>
          <p:cNvPr id="120" name="Group 24">
            <a:extLst>
              <a:ext uri="{FF2B5EF4-FFF2-40B4-BE49-F238E27FC236}">
                <a16:creationId xmlns:a16="http://schemas.microsoft.com/office/drawing/2014/main" id="{38C0BB2D-F45D-463A-9DDE-E0B44284EE41}"/>
              </a:ext>
            </a:extLst>
          </p:cNvPr>
          <p:cNvGrpSpPr>
            <a:grpSpLocks/>
          </p:cNvGrpSpPr>
          <p:nvPr/>
        </p:nvGrpSpPr>
        <p:grpSpPr bwMode="auto">
          <a:xfrm>
            <a:off x="5540117" y="4475542"/>
            <a:ext cx="5607410" cy="828044"/>
            <a:chOff x="0" y="-217057"/>
            <a:chExt cx="7478126" cy="1103436"/>
          </a:xfrm>
        </p:grpSpPr>
        <p:sp>
          <p:nvSpPr>
            <p:cNvPr id="121" name="文本框 50">
              <a:extLst>
                <a:ext uri="{FF2B5EF4-FFF2-40B4-BE49-F238E27FC236}">
                  <a16:creationId xmlns:a16="http://schemas.microsoft.com/office/drawing/2014/main" id="{EC84AE96-F71A-4E42-B3B2-EA25E97BA274}"/>
                </a:ext>
              </a:extLst>
            </p:cNvPr>
            <p:cNvSpPr txBox="1">
              <a:spLocks noChangeArrowheads="1"/>
            </p:cNvSpPr>
            <p:nvPr/>
          </p:nvSpPr>
          <p:spPr bwMode="auto">
            <a:xfrm>
              <a:off x="44927" y="-217057"/>
              <a:ext cx="4859214" cy="615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44546A"/>
                  </a:solidFill>
                  <a:effectLst/>
                  <a:uLnTx/>
                  <a:uFillTx/>
                  <a:latin typeface="微软雅黑" pitchFamily="34" charset="-122"/>
                  <a:ea typeface="微软雅黑" pitchFamily="34" charset="-122"/>
                  <a:cs typeface="+mn-cs"/>
                </a:rPr>
                <a:t>請求包的源端口號</a:t>
              </a:r>
            </a:p>
          </p:txBody>
        </p:sp>
        <p:sp>
          <p:nvSpPr>
            <p:cNvPr id="122" name="文本框 14">
              <a:extLst>
                <a:ext uri="{FF2B5EF4-FFF2-40B4-BE49-F238E27FC236}">
                  <a16:creationId xmlns:a16="http://schemas.microsoft.com/office/drawing/2014/main" id="{03221F13-BC54-4CEF-BE3B-545B6BACEF2B}"/>
                </a:ext>
              </a:extLst>
            </p:cNvPr>
            <p:cNvSpPr txBox="1">
              <a:spLocks noChangeArrowheads="1"/>
            </p:cNvSpPr>
            <p:nvPr/>
          </p:nvSpPr>
          <p:spPr bwMode="auto">
            <a:xfrm>
              <a:off x="0" y="353200"/>
              <a:ext cx="7478126" cy="533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546A"/>
                  </a:solidFill>
                  <a:effectLst/>
                  <a:uLnTx/>
                  <a:uFillTx/>
                  <a:latin typeface="微软雅黑" panose="020B0503020204020204" pitchFamily="34" charset="-122"/>
                  <a:ea typeface="微软雅黑" panose="020B0503020204020204" pitchFamily="34" charset="-122"/>
                  <a:cs typeface="+mn-cs"/>
                </a:rPr>
                <a:t>16bit</a:t>
              </a:r>
              <a:r>
                <a:rPr kumimoji="0" lang="zh-CN" altLang="en-US" sz="2000" b="0" i="0" u="none" strike="noStrike" kern="1200" cap="none" spc="0" normalizeH="0" baseline="0" noProof="0" dirty="0">
                  <a:ln>
                    <a:noFill/>
                  </a:ln>
                  <a:solidFill>
                    <a:srgbClr val="44546A"/>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隨機猜測</a:t>
              </a:r>
            </a:p>
          </p:txBody>
        </p:sp>
      </p:grpSp>
      <p:sp>
        <p:nvSpPr>
          <p:cNvPr id="123" name="矩形 75">
            <a:extLst>
              <a:ext uri="{FF2B5EF4-FFF2-40B4-BE49-F238E27FC236}">
                <a16:creationId xmlns:a16="http://schemas.microsoft.com/office/drawing/2014/main" id="{525885FD-408A-4096-AB33-841778BA761B}"/>
              </a:ext>
            </a:extLst>
          </p:cNvPr>
          <p:cNvSpPr>
            <a:spLocks noChangeArrowheads="1"/>
          </p:cNvSpPr>
          <p:nvPr/>
        </p:nvSpPr>
        <p:spPr bwMode="auto">
          <a:xfrm>
            <a:off x="8405725" y="4635055"/>
            <a:ext cx="53579" cy="619316"/>
          </a:xfrm>
          <a:prstGeom prst="rect">
            <a:avLst/>
          </a:prstGeom>
          <a:solidFill>
            <a:srgbClr val="FF0000"/>
          </a:solidFill>
          <a:ln w="9525">
            <a:noFill/>
            <a:miter lim="800000"/>
            <a:headEnd/>
            <a:tailEnd/>
          </a:ln>
        </p:spPr>
        <p:txBody>
          <a:bodyPr lIns="68580" tIns="34290" rIns="68580" bIns="3429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Arial"/>
              <a:ea typeface="微软雅黑 Light"/>
              <a:cs typeface="+mn-cs"/>
            </a:endParaRPr>
          </a:p>
        </p:txBody>
      </p:sp>
      <p:grpSp>
        <p:nvGrpSpPr>
          <p:cNvPr id="124" name="Group 24">
            <a:extLst>
              <a:ext uri="{FF2B5EF4-FFF2-40B4-BE49-F238E27FC236}">
                <a16:creationId xmlns:a16="http://schemas.microsoft.com/office/drawing/2014/main" id="{7DD90ECD-A7D1-4A6B-8B26-DC1C28CC0443}"/>
              </a:ext>
            </a:extLst>
          </p:cNvPr>
          <p:cNvGrpSpPr>
            <a:grpSpLocks/>
          </p:cNvGrpSpPr>
          <p:nvPr/>
        </p:nvGrpSpPr>
        <p:grpSpPr bwMode="auto">
          <a:xfrm>
            <a:off x="8568119" y="4475542"/>
            <a:ext cx="5607410" cy="798317"/>
            <a:chOff x="0" y="-177444"/>
            <a:chExt cx="7478126" cy="1063822"/>
          </a:xfrm>
        </p:grpSpPr>
        <p:sp>
          <p:nvSpPr>
            <p:cNvPr id="125" name="文本框 50">
              <a:extLst>
                <a:ext uri="{FF2B5EF4-FFF2-40B4-BE49-F238E27FC236}">
                  <a16:creationId xmlns:a16="http://schemas.microsoft.com/office/drawing/2014/main" id="{E7BC4DC4-369D-43E9-97C1-1BC338934E06}"/>
                </a:ext>
              </a:extLst>
            </p:cNvPr>
            <p:cNvSpPr txBox="1">
              <a:spLocks noChangeArrowheads="1"/>
            </p:cNvSpPr>
            <p:nvPr/>
          </p:nvSpPr>
          <p:spPr bwMode="auto">
            <a:xfrm>
              <a:off x="22463" y="-177444"/>
              <a:ext cx="4859214" cy="615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0" dirty="0">
                  <a:solidFill>
                    <a:srgbClr val="44546A"/>
                  </a:solidFill>
                  <a:latin typeface="微软雅黑" pitchFamily="34" charset="-122"/>
                  <a:ea typeface="微软雅黑" pitchFamily="34" charset="-122"/>
                </a:rPr>
                <a:t>事務</a:t>
              </a:r>
              <a:r>
                <a:rPr kumimoji="0" lang="en-US" altLang="zh-CN" sz="2400" b="1" i="0" u="none" strike="noStrike" kern="0" cap="none" spc="0" normalizeH="0" baseline="0" noProof="0" dirty="0">
                  <a:ln>
                    <a:noFill/>
                  </a:ln>
                  <a:solidFill>
                    <a:srgbClr val="44546A"/>
                  </a:solidFill>
                  <a:effectLst/>
                  <a:uLnTx/>
                  <a:uFillTx/>
                  <a:latin typeface="微软雅黑" pitchFamily="34" charset="-122"/>
                  <a:ea typeface="微软雅黑" pitchFamily="34" charset="-122"/>
                  <a:cs typeface="+mn-cs"/>
                </a:rPr>
                <a:t>ID</a:t>
              </a:r>
              <a:endParaRPr kumimoji="0" lang="zh-CN" altLang="en-US" sz="2400" b="1" i="0" u="none" strike="noStrike" kern="0" cap="none" spc="0" normalizeH="0" baseline="0" noProof="0" dirty="0">
                <a:ln>
                  <a:noFill/>
                </a:ln>
                <a:solidFill>
                  <a:srgbClr val="44546A"/>
                </a:solidFill>
                <a:effectLst/>
                <a:uLnTx/>
                <a:uFillTx/>
                <a:latin typeface="微软雅黑" pitchFamily="34" charset="-122"/>
                <a:ea typeface="微软雅黑" pitchFamily="34" charset="-122"/>
                <a:cs typeface="+mn-cs"/>
              </a:endParaRPr>
            </a:p>
          </p:txBody>
        </p:sp>
        <p:sp>
          <p:nvSpPr>
            <p:cNvPr id="126" name="文本框 14">
              <a:extLst>
                <a:ext uri="{FF2B5EF4-FFF2-40B4-BE49-F238E27FC236}">
                  <a16:creationId xmlns:a16="http://schemas.microsoft.com/office/drawing/2014/main" id="{6AD40E2B-1135-4E5B-AAE2-A0DEF59D5C15}"/>
                </a:ext>
              </a:extLst>
            </p:cNvPr>
            <p:cNvSpPr txBox="1">
              <a:spLocks noChangeArrowheads="1"/>
            </p:cNvSpPr>
            <p:nvPr/>
          </p:nvSpPr>
          <p:spPr bwMode="auto">
            <a:xfrm>
              <a:off x="0" y="353199"/>
              <a:ext cx="7478126" cy="533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546A"/>
                  </a:solidFill>
                  <a:effectLst/>
                  <a:uLnTx/>
                  <a:uFillTx/>
                  <a:latin typeface="微软雅黑" panose="020B0503020204020204" pitchFamily="34" charset="-122"/>
                  <a:ea typeface="微软雅黑" panose="020B0503020204020204" pitchFamily="34" charset="-122"/>
                  <a:cs typeface="+mn-cs"/>
                </a:rPr>
                <a:t>16bit</a:t>
              </a:r>
              <a:r>
                <a:rPr kumimoji="0" lang="zh-CN" altLang="en-US" sz="2000" b="0" i="0" u="none" strike="noStrike" kern="1200" cap="none" spc="0" normalizeH="0" baseline="0" noProof="0" dirty="0">
                  <a:ln>
                    <a:noFill/>
                  </a:ln>
                  <a:solidFill>
                    <a:srgbClr val="44546A"/>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隨機猜測</a:t>
              </a:r>
            </a:p>
          </p:txBody>
        </p:sp>
      </p:grpSp>
      <p:sp>
        <p:nvSpPr>
          <p:cNvPr id="127" name="矩形 75">
            <a:extLst>
              <a:ext uri="{FF2B5EF4-FFF2-40B4-BE49-F238E27FC236}">
                <a16:creationId xmlns:a16="http://schemas.microsoft.com/office/drawing/2014/main" id="{D592D7C2-15B9-4E7F-9D88-D02D0FB503A7}"/>
              </a:ext>
            </a:extLst>
          </p:cNvPr>
          <p:cNvSpPr>
            <a:spLocks noChangeArrowheads="1"/>
          </p:cNvSpPr>
          <p:nvPr/>
        </p:nvSpPr>
        <p:spPr bwMode="auto">
          <a:xfrm>
            <a:off x="5379525" y="3500781"/>
            <a:ext cx="53579" cy="619316"/>
          </a:xfrm>
          <a:prstGeom prst="rect">
            <a:avLst/>
          </a:prstGeom>
          <a:solidFill>
            <a:srgbClr val="FF0000"/>
          </a:solidFill>
          <a:ln w="9525">
            <a:noFill/>
            <a:miter lim="800000"/>
            <a:headEnd/>
            <a:tailEnd/>
          </a:ln>
        </p:spPr>
        <p:txBody>
          <a:bodyPr lIns="68580" tIns="34290" rIns="68580" bIns="3429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Arial"/>
              <a:ea typeface="微软雅黑 Light"/>
              <a:cs typeface="+mn-cs"/>
            </a:endParaRPr>
          </a:p>
        </p:txBody>
      </p:sp>
      <p:grpSp>
        <p:nvGrpSpPr>
          <p:cNvPr id="128" name="Group 24">
            <a:extLst>
              <a:ext uri="{FF2B5EF4-FFF2-40B4-BE49-F238E27FC236}">
                <a16:creationId xmlns:a16="http://schemas.microsoft.com/office/drawing/2014/main" id="{15BD8A11-1F6B-45BB-9EC8-B6EED9A147AB}"/>
              </a:ext>
            </a:extLst>
          </p:cNvPr>
          <p:cNvGrpSpPr>
            <a:grpSpLocks/>
          </p:cNvGrpSpPr>
          <p:nvPr/>
        </p:nvGrpSpPr>
        <p:grpSpPr bwMode="auto">
          <a:xfrm>
            <a:off x="5553498" y="3406901"/>
            <a:ext cx="5607410" cy="828044"/>
            <a:chOff x="44927" y="-217057"/>
            <a:chExt cx="7478126" cy="1103434"/>
          </a:xfrm>
        </p:grpSpPr>
        <p:sp>
          <p:nvSpPr>
            <p:cNvPr id="129" name="文本框 50">
              <a:extLst>
                <a:ext uri="{FF2B5EF4-FFF2-40B4-BE49-F238E27FC236}">
                  <a16:creationId xmlns:a16="http://schemas.microsoft.com/office/drawing/2014/main" id="{1D65DBCB-5759-42C1-9FD6-48C64887BBF1}"/>
                </a:ext>
              </a:extLst>
            </p:cNvPr>
            <p:cNvSpPr txBox="1">
              <a:spLocks noChangeArrowheads="1"/>
            </p:cNvSpPr>
            <p:nvPr/>
          </p:nvSpPr>
          <p:spPr bwMode="auto">
            <a:xfrm>
              <a:off x="44927" y="-217057"/>
              <a:ext cx="4859214" cy="615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44546A"/>
                  </a:solidFill>
                  <a:effectLst/>
                  <a:uLnTx/>
                  <a:uFillTx/>
                  <a:latin typeface="微软雅黑" pitchFamily="34" charset="-122"/>
                  <a:ea typeface="微软雅黑" pitchFamily="34" charset="-122"/>
                  <a:cs typeface="+mn-cs"/>
                </a:rPr>
                <a:t>請求包的目的</a:t>
              </a:r>
              <a:r>
                <a:rPr kumimoji="0" lang="en-US" altLang="zh-CN" sz="2400" b="1" i="0" u="none" strike="noStrike" kern="0" cap="none" spc="0" normalizeH="0" baseline="0" noProof="0" dirty="0">
                  <a:ln>
                    <a:noFill/>
                  </a:ln>
                  <a:solidFill>
                    <a:srgbClr val="44546A"/>
                  </a:solidFill>
                  <a:effectLst/>
                  <a:uLnTx/>
                  <a:uFillTx/>
                  <a:latin typeface="微软雅黑" pitchFamily="34" charset="-122"/>
                  <a:ea typeface="微软雅黑" pitchFamily="34" charset="-122"/>
                  <a:cs typeface="+mn-cs"/>
                </a:rPr>
                <a:t>IP</a:t>
              </a:r>
              <a:r>
                <a:rPr kumimoji="0" lang="zh-CN" altLang="en-US" sz="2400" b="1" i="0" u="none" strike="noStrike" kern="0" cap="none" spc="0" normalizeH="0" baseline="0" noProof="0" dirty="0">
                  <a:ln>
                    <a:noFill/>
                  </a:ln>
                  <a:solidFill>
                    <a:srgbClr val="44546A"/>
                  </a:solidFill>
                  <a:effectLst/>
                  <a:uLnTx/>
                  <a:uFillTx/>
                  <a:latin typeface="微软雅黑" pitchFamily="34" charset="-122"/>
                  <a:ea typeface="微软雅黑" pitchFamily="34" charset="-122"/>
                  <a:cs typeface="+mn-cs"/>
                </a:rPr>
                <a:t>地址</a:t>
              </a:r>
            </a:p>
          </p:txBody>
        </p:sp>
        <p:sp>
          <p:nvSpPr>
            <p:cNvPr id="130" name="文本框 14">
              <a:extLst>
                <a:ext uri="{FF2B5EF4-FFF2-40B4-BE49-F238E27FC236}">
                  <a16:creationId xmlns:a16="http://schemas.microsoft.com/office/drawing/2014/main" id="{F5320565-B0AA-4D6E-9217-C62440C4AB92}"/>
                </a:ext>
              </a:extLst>
            </p:cNvPr>
            <p:cNvSpPr txBox="1">
              <a:spLocks noChangeArrowheads="1"/>
            </p:cNvSpPr>
            <p:nvPr/>
          </p:nvSpPr>
          <p:spPr bwMode="auto">
            <a:xfrm>
              <a:off x="44927" y="353199"/>
              <a:ext cx="7478126" cy="5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44546A"/>
                  </a:solidFill>
                  <a:effectLst/>
                  <a:uLnTx/>
                  <a:uFillTx/>
                  <a:latin typeface="微软雅黑" panose="020B0503020204020204" pitchFamily="34" charset="-122"/>
                  <a:ea typeface="微软雅黑" panose="020B0503020204020204" pitchFamily="34" charset="-122"/>
                  <a:cs typeface="+mn-cs"/>
                </a:rPr>
                <a:t>權威域名服務器（</a:t>
              </a:r>
              <a:r>
                <a:rPr kumimoji="0"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可能有多個</a:t>
              </a:r>
              <a:r>
                <a:rPr kumimoji="0" lang="zh-CN" altLang="en-US" sz="2000" b="0" i="0" u="none" strike="noStrike" kern="1200" cap="none" spc="0" normalizeH="0" baseline="0" noProof="0" dirty="0">
                  <a:ln>
                    <a:noFill/>
                  </a:ln>
                  <a:solidFill>
                    <a:srgbClr val="44546A"/>
                  </a:solidFill>
                  <a:effectLst/>
                  <a:uLnTx/>
                  <a:uFillTx/>
                  <a:latin typeface="微软雅黑" panose="020B0503020204020204" pitchFamily="34" charset="-122"/>
                  <a:ea typeface="微软雅黑" panose="020B0503020204020204" pitchFamily="34" charset="-122"/>
                  <a:cs typeface="+mn-cs"/>
                </a:rPr>
                <a:t>）</a:t>
              </a:r>
            </a:p>
          </p:txBody>
        </p:sp>
      </p:grpSp>
      <p:grpSp>
        <p:nvGrpSpPr>
          <p:cNvPr id="131" name="Group 17">
            <a:extLst>
              <a:ext uri="{FF2B5EF4-FFF2-40B4-BE49-F238E27FC236}">
                <a16:creationId xmlns:a16="http://schemas.microsoft.com/office/drawing/2014/main" id="{4783BFA5-FB58-4237-BEC4-C65D9BCBD215}"/>
              </a:ext>
            </a:extLst>
          </p:cNvPr>
          <p:cNvGrpSpPr>
            <a:grpSpLocks/>
          </p:cNvGrpSpPr>
          <p:nvPr/>
        </p:nvGrpSpPr>
        <p:grpSpPr bwMode="auto">
          <a:xfrm rot="5044232">
            <a:off x="1123707" y="4263525"/>
            <a:ext cx="1961451" cy="560847"/>
            <a:chOff x="3047999" y="2196748"/>
            <a:chExt cx="2626886" cy="751437"/>
          </a:xfrm>
          <a:solidFill>
            <a:srgbClr val="9900CC"/>
          </a:solidFill>
        </p:grpSpPr>
        <p:sp>
          <p:nvSpPr>
            <p:cNvPr id="132" name="Rounded Rectangle 7">
              <a:extLst>
                <a:ext uri="{FF2B5EF4-FFF2-40B4-BE49-F238E27FC236}">
                  <a16:creationId xmlns:a16="http://schemas.microsoft.com/office/drawing/2014/main" id="{EC755D76-58AD-4C6D-8428-3B60FC1CD601}"/>
                </a:ext>
              </a:extLst>
            </p:cNvPr>
            <p:cNvSpPr/>
            <p:nvPr/>
          </p:nvSpPr>
          <p:spPr bwMode="auto">
            <a:xfrm>
              <a:off x="3580633" y="2196748"/>
              <a:ext cx="2094252" cy="751437"/>
            </a:xfrm>
            <a:prstGeom prst="roundRect">
              <a:avLst/>
            </a:prstGeom>
            <a:grpFill/>
            <a:ln w="9525">
              <a:noFill/>
              <a:round/>
              <a:headEnd/>
              <a:tailEnd/>
            </a:ln>
          </p:spPr>
          <p:txBody>
            <a:bodyPr anchor="ctr"/>
            <a:lstStyle/>
            <a:p>
              <a:pPr marL="0" marR="0" lvl="0" indent="0" algn="r" defTabSz="685560" rtl="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white">
                      <a:lumMod val="20000"/>
                      <a:lumOff val="80000"/>
                    </a:prstClr>
                  </a:solidFill>
                  <a:effectLst/>
                  <a:uLnTx/>
                  <a:uFillTx/>
                  <a:latin typeface="微软雅黑" panose="020B0503020204020204" pitchFamily="34" charset="-122"/>
                  <a:ea typeface="微软雅黑" panose="020B0503020204020204" pitchFamily="34" charset="-122"/>
                  <a:cs typeface="Clear Sans" panose="020B0503030202020304" pitchFamily="34" charset="0"/>
                </a:rPr>
                <a:t>交易</a:t>
              </a:r>
              <a:r>
                <a:rPr kumimoji="0" lang="en-US" altLang="zh-CN" sz="1400" b="0" i="0" u="none" strike="noStrike" kern="0" cap="none" spc="0" normalizeH="0" baseline="0" noProof="0" dirty="0">
                  <a:ln>
                    <a:noFill/>
                  </a:ln>
                  <a:solidFill>
                    <a:prstClr val="white">
                      <a:lumMod val="20000"/>
                      <a:lumOff val="80000"/>
                    </a:prstClr>
                  </a:solidFill>
                  <a:effectLst/>
                  <a:uLnTx/>
                  <a:uFillTx/>
                  <a:latin typeface="微软雅黑" panose="020B0503020204020204" pitchFamily="34" charset="-122"/>
                  <a:ea typeface="微软雅黑" panose="020B0503020204020204" pitchFamily="34" charset="-122"/>
                  <a:cs typeface="Clear Sans" panose="020B0503030202020304" pitchFamily="34" charset="0"/>
                </a:rPr>
                <a:t>ID </a:t>
              </a:r>
              <a:r>
                <a:rPr kumimoji="0" lang="zh-CN" altLang="en-US" sz="28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Clear Sans" panose="020B0503030202020304" pitchFamily="34" charset="0"/>
                </a:rPr>
                <a:t>╳</a:t>
              </a:r>
              <a:endParaRPr kumimoji="0" lang="en-GB" altLang="zh-CN" sz="28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Clear Sans" panose="020B0503030202020304" pitchFamily="34" charset="0"/>
              </a:endParaRPr>
            </a:p>
          </p:txBody>
        </p:sp>
        <p:grpSp>
          <p:nvGrpSpPr>
            <p:cNvPr id="133" name="Group 22">
              <a:extLst>
                <a:ext uri="{FF2B5EF4-FFF2-40B4-BE49-F238E27FC236}">
                  <a16:creationId xmlns:a16="http://schemas.microsoft.com/office/drawing/2014/main" id="{FC4C909E-42ED-47D6-887B-66193D29C601}"/>
                </a:ext>
              </a:extLst>
            </p:cNvPr>
            <p:cNvGrpSpPr>
              <a:grpSpLocks/>
            </p:cNvGrpSpPr>
            <p:nvPr/>
          </p:nvGrpSpPr>
          <p:grpSpPr bwMode="auto">
            <a:xfrm rot="-5400000">
              <a:off x="3369279" y="2174269"/>
              <a:ext cx="195640" cy="838200"/>
              <a:chOff x="3686186" y="1166322"/>
              <a:chExt cx="152400" cy="652944"/>
            </a:xfrm>
            <a:grpFill/>
          </p:grpSpPr>
          <p:sp>
            <p:nvSpPr>
              <p:cNvPr id="134" name="Oval 9">
                <a:extLst>
                  <a:ext uri="{FF2B5EF4-FFF2-40B4-BE49-F238E27FC236}">
                    <a16:creationId xmlns:a16="http://schemas.microsoft.com/office/drawing/2014/main" id="{A9ABE111-9D02-4351-B480-46D2E35B463B}"/>
                  </a:ext>
                </a:extLst>
              </p:cNvPr>
              <p:cNvSpPr/>
              <p:nvPr/>
            </p:nvSpPr>
            <p:spPr>
              <a:xfrm>
                <a:off x="3686869" y="1665402"/>
                <a:ext cx="151690" cy="152536"/>
              </a:xfrm>
              <a:prstGeom prst="ellipse">
                <a:avLst/>
              </a:prstGeom>
              <a:grpFill/>
              <a:ln w="12700" cap="flat" cmpd="sng" algn="ctr">
                <a:noFill/>
                <a:prstDash val="solid"/>
                <a:miter lim="800000"/>
              </a:ln>
              <a:effectLst/>
            </p:spPr>
            <p:txBody>
              <a:bodyPr anchor="ct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zh-CN" sz="1050" b="0" i="0" u="none" strike="noStrike" kern="0" cap="none" spc="0" normalizeH="0" baseline="0" noProof="0">
                  <a:ln>
                    <a:noFill/>
                  </a:ln>
                  <a:solidFill>
                    <a:srgbClr val="FFFFFF"/>
                  </a:solidFill>
                  <a:effectLst/>
                  <a:uLnTx/>
                  <a:uFillTx/>
                  <a:latin typeface="Calibri" pitchFamily="34" charset="0"/>
                  <a:ea typeface="等线" panose="02010600030101010101" pitchFamily="2" charset="-122"/>
                  <a:cs typeface="+mn-cs"/>
                </a:endParaRPr>
              </a:p>
            </p:txBody>
          </p:sp>
          <p:sp>
            <p:nvSpPr>
              <p:cNvPr id="135" name="Rounded Rectangle 10">
                <a:extLst>
                  <a:ext uri="{FF2B5EF4-FFF2-40B4-BE49-F238E27FC236}">
                    <a16:creationId xmlns:a16="http://schemas.microsoft.com/office/drawing/2014/main" id="{9827CDCC-A64C-40CD-A912-0C1301636C18}"/>
                  </a:ext>
                </a:extLst>
              </p:cNvPr>
              <p:cNvSpPr/>
              <p:nvPr/>
            </p:nvSpPr>
            <p:spPr>
              <a:xfrm>
                <a:off x="3737770" y="1165339"/>
                <a:ext cx="49323" cy="611072"/>
              </a:xfrm>
              <a:prstGeom prst="roundRect">
                <a:avLst>
                  <a:gd name="adj" fmla="val 38542"/>
                </a:avLst>
              </a:prstGeom>
              <a:grpFill/>
              <a:ln w="12700" cap="flat" cmpd="sng" algn="ctr">
                <a:noFill/>
                <a:prstDash val="solid"/>
                <a:miter lim="800000"/>
              </a:ln>
              <a:effectLst/>
            </p:spPr>
            <p:txBody>
              <a:bodyPr anchor="ct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zh-CN" sz="1050" b="0" i="0" u="none" strike="noStrike" kern="0" cap="none" spc="0" normalizeH="0" baseline="0" noProof="0">
                  <a:ln>
                    <a:noFill/>
                  </a:ln>
                  <a:solidFill>
                    <a:srgbClr val="FFFFFF"/>
                  </a:solidFill>
                  <a:effectLst/>
                  <a:uLnTx/>
                  <a:uFillTx/>
                  <a:latin typeface="Calibri" pitchFamily="34" charset="0"/>
                  <a:ea typeface="等线" panose="02010600030101010101" pitchFamily="2" charset="-122"/>
                  <a:cs typeface="+mn-cs"/>
                </a:endParaRPr>
              </a:p>
            </p:txBody>
          </p:sp>
        </p:grpSp>
      </p:grpSp>
      <p:sp>
        <p:nvSpPr>
          <p:cNvPr id="5" name="爆炸形: 14 pt  4">
            <a:extLst>
              <a:ext uri="{FF2B5EF4-FFF2-40B4-BE49-F238E27FC236}">
                <a16:creationId xmlns:a16="http://schemas.microsoft.com/office/drawing/2014/main" id="{35587820-54FE-4C07-922E-6AD48DAAF6A3}"/>
              </a:ext>
            </a:extLst>
          </p:cNvPr>
          <p:cNvSpPr/>
          <p:nvPr/>
        </p:nvSpPr>
        <p:spPr>
          <a:xfrm>
            <a:off x="10529335" y="1999659"/>
            <a:ext cx="1289619" cy="1056107"/>
          </a:xfrm>
          <a:prstGeom prst="irregularSeal2">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已知</a:t>
            </a:r>
          </a:p>
        </p:txBody>
      </p:sp>
      <p:sp>
        <p:nvSpPr>
          <p:cNvPr id="58" name="爆炸形: 14 pt  57">
            <a:extLst>
              <a:ext uri="{FF2B5EF4-FFF2-40B4-BE49-F238E27FC236}">
                <a16:creationId xmlns:a16="http://schemas.microsoft.com/office/drawing/2014/main" id="{F211EB84-11AE-4BD0-91A3-AB0B90721FB8}"/>
              </a:ext>
            </a:extLst>
          </p:cNvPr>
          <p:cNvSpPr/>
          <p:nvPr/>
        </p:nvSpPr>
        <p:spPr>
          <a:xfrm>
            <a:off x="10708990" y="4223417"/>
            <a:ext cx="1289619" cy="1056107"/>
          </a:xfrm>
          <a:prstGeom prst="irregularSeal2">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未知</a:t>
            </a:r>
          </a:p>
        </p:txBody>
      </p:sp>
      <p:sp>
        <p:nvSpPr>
          <p:cNvPr id="8" name="灯片编号占位符 7">
            <a:extLst>
              <a:ext uri="{FF2B5EF4-FFF2-40B4-BE49-F238E27FC236}">
                <a16:creationId xmlns:a16="http://schemas.microsoft.com/office/drawing/2014/main" id="{43AAEE78-4699-4ACE-BBE7-1554DCA773F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
        <p:nvSpPr>
          <p:cNvPr id="12" name="文本框 14">
            <a:extLst>
              <a:ext uri="{FF2B5EF4-FFF2-40B4-BE49-F238E27FC236}">
                <a16:creationId xmlns:a16="http://schemas.microsoft.com/office/drawing/2014/main" id="{9B4E4B03-866A-3FE8-DE85-FDA47C1B59B9}"/>
              </a:ext>
            </a:extLst>
          </p:cNvPr>
          <p:cNvSpPr txBox="1">
            <a:spLocks noChangeArrowheads="1"/>
          </p:cNvSpPr>
          <p:nvPr/>
        </p:nvSpPr>
        <p:spPr bwMode="auto">
          <a:xfrm>
            <a:off x="5332691" y="5389261"/>
            <a:ext cx="56074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just">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難點</a:t>
            </a:r>
            <a:r>
              <a:rPr kumimoji="0" lang="zh-CN" altLang="en-US" sz="2000" b="0" i="0" u="none" strike="noStrike" kern="1200" cap="none" spc="0" normalizeH="0" baseline="0" noProof="0" dirty="0">
                <a:ln>
                  <a:noFill/>
                </a:ln>
                <a:solidFill>
                  <a:srgbClr val="44546A"/>
                </a:solidFill>
                <a:effectLst/>
                <a:uLnTx/>
                <a:uFillTx/>
                <a:latin typeface="微软雅黑" panose="020B0503020204020204" pitchFamily="34" charset="-122"/>
                <a:ea typeface="微软雅黑" panose="020B0503020204020204" pitchFamily="34" charset="-122"/>
                <a:cs typeface="+mn-cs"/>
              </a:rPr>
              <a:t>：遠程攻擊者猜測準確的概率爲</a:t>
            </a:r>
            <a:r>
              <a:rPr kumimoji="0" lang="en-US" altLang="zh-CN"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1/2^32</a:t>
            </a:r>
            <a:r>
              <a:rPr kumimoji="0" lang="zh-CN" altLang="en-US" sz="2000" b="0" i="0" u="none" strike="noStrike" kern="1200" cap="none" spc="0" normalizeH="0" baseline="0" noProof="0" dirty="0">
                <a:ln>
                  <a:noFill/>
                </a:ln>
                <a:solidFill>
                  <a:srgbClr val="44546A"/>
                </a:solidFill>
                <a:effectLst/>
                <a:uLnTx/>
                <a:uFillTx/>
                <a:latin typeface="微软雅黑" panose="020B0503020204020204" pitchFamily="34" charset="-122"/>
                <a:ea typeface="微软雅黑" panose="020B0503020204020204" pitchFamily="34" charset="-122"/>
                <a:cs typeface="+mn-cs"/>
              </a:rPr>
              <a:t>，成功概率極低</a:t>
            </a:r>
          </a:p>
        </p:txBody>
      </p:sp>
    </p:spTree>
    <p:extLst>
      <p:ext uri="{BB962C8B-B14F-4D97-AF65-F5344CB8AC3E}">
        <p14:creationId xmlns:p14="http://schemas.microsoft.com/office/powerpoint/2010/main" val="16097001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角 12">
            <a:extLst>
              <a:ext uri="{FF2B5EF4-FFF2-40B4-BE49-F238E27FC236}">
                <a16:creationId xmlns:a16="http://schemas.microsoft.com/office/drawing/2014/main" id="{F001E80D-BA70-4313-BD05-10EBD793339A}"/>
              </a:ext>
            </a:extLst>
          </p:cNvPr>
          <p:cNvSpPr/>
          <p:nvPr/>
        </p:nvSpPr>
        <p:spPr>
          <a:xfrm>
            <a:off x="917985" y="5166336"/>
            <a:ext cx="10789921" cy="1403900"/>
          </a:xfrm>
          <a:prstGeom prst="roundRect">
            <a:avLst>
              <a:gd name="adj" fmla="val 0"/>
            </a:avLst>
          </a:prstGeom>
          <a:solidFill>
            <a:schemeClr val="accent3">
              <a:lumMod val="20000"/>
              <a:lumOff val="80000"/>
            </a:schemeClr>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a:ea typeface="微软雅黑" panose="020B0503020204020204" pitchFamily="34" charset="-122"/>
              <a:cs typeface="+mn-cs"/>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遠程</a:t>
            </a:r>
            <a:r>
              <a:rPr kumimoji="1" lang="zh-CN" altLang="zh-CN" dirty="0">
                <a:solidFill>
                  <a:srgbClr val="C00000"/>
                </a:solidFill>
              </a:rPr>
              <a:t>緩存中毒攻擊</a:t>
            </a:r>
            <a:r>
              <a:rPr kumimoji="1" lang="en-US" altLang="zh-CN" dirty="0">
                <a:solidFill>
                  <a:srgbClr val="C00000"/>
                </a:solidFill>
              </a:rPr>
              <a:t>—</a:t>
            </a:r>
            <a:r>
              <a:rPr kumimoji="1" lang="zh-CN" altLang="en-US" dirty="0">
                <a:solidFill>
                  <a:srgbClr val="C00000"/>
                </a:solidFill>
              </a:rPr>
              <a:t>構建回復包負載</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2" name="Rectangle 2">
            <a:extLst>
              <a:ext uri="{FF2B5EF4-FFF2-40B4-BE49-F238E27FC236}">
                <a16:creationId xmlns:a16="http://schemas.microsoft.com/office/drawing/2014/main" id="{50E33959-EC61-4A2C-BA41-AB900E31EE21}"/>
              </a:ext>
            </a:extLst>
          </p:cNvPr>
          <p:cNvSpPr>
            <a:spLocks noChangeArrowheads="1"/>
          </p:cNvSpPr>
          <p:nvPr/>
        </p:nvSpPr>
        <p:spPr bwMode="auto">
          <a:xfrm>
            <a:off x="2059307" y="132863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8" name="Rectangle 4">
            <a:extLst>
              <a:ext uri="{FF2B5EF4-FFF2-40B4-BE49-F238E27FC236}">
                <a16:creationId xmlns:a16="http://schemas.microsoft.com/office/drawing/2014/main" id="{3D82C593-AD9D-4FAD-AA46-FF15D7F34E74}"/>
              </a:ext>
            </a:extLst>
          </p:cNvPr>
          <p:cNvSpPr>
            <a:spLocks noChangeArrowheads="1"/>
          </p:cNvSpPr>
          <p:nvPr/>
        </p:nvSpPr>
        <p:spPr bwMode="auto">
          <a:xfrm>
            <a:off x="2425298" y="1158993"/>
            <a:ext cx="12126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6" name="Rectangle 2">
            <a:extLst>
              <a:ext uri="{FF2B5EF4-FFF2-40B4-BE49-F238E27FC236}">
                <a16:creationId xmlns:a16="http://schemas.microsoft.com/office/drawing/2014/main" id="{65502313-BB16-4AC2-9EA7-0EDFE9EAEE31}"/>
              </a:ext>
            </a:extLst>
          </p:cNvPr>
          <p:cNvSpPr>
            <a:spLocks noChangeArrowheads="1"/>
          </p:cNvSpPr>
          <p:nvPr/>
        </p:nvSpPr>
        <p:spPr bwMode="auto">
          <a:xfrm>
            <a:off x="143810" y="419524"/>
            <a:ext cx="1731391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15" name="文本框 14">
            <a:extLst>
              <a:ext uri="{FF2B5EF4-FFF2-40B4-BE49-F238E27FC236}">
                <a16:creationId xmlns:a16="http://schemas.microsoft.com/office/drawing/2014/main" id="{60AA2E4E-EFE5-4D20-A41E-425E8DDA9110}"/>
              </a:ext>
            </a:extLst>
          </p:cNvPr>
          <p:cNvSpPr txBox="1"/>
          <p:nvPr/>
        </p:nvSpPr>
        <p:spPr>
          <a:xfrm>
            <a:off x="1028701" y="5221932"/>
            <a:ext cx="10858500" cy="1200329"/>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問題記錄和回復記錄的名字應該與請求包相匹配，否則記錄不會被接受</a:t>
            </a:r>
            <a:endPar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授權記錄，域名必須和回復記錄中的域名相關聯，否則授權記錄會被忽略</a:t>
            </a:r>
          </a:p>
        </p:txBody>
      </p:sp>
      <p:sp>
        <p:nvSpPr>
          <p:cNvPr id="14" name="文本框 13">
            <a:extLst>
              <a:ext uri="{FF2B5EF4-FFF2-40B4-BE49-F238E27FC236}">
                <a16:creationId xmlns:a16="http://schemas.microsoft.com/office/drawing/2014/main" id="{788884A0-96F7-45A8-824C-E6BA35A8AFC5}"/>
              </a:ext>
            </a:extLst>
          </p:cNvPr>
          <p:cNvSpPr txBox="1"/>
          <p:nvPr/>
        </p:nvSpPr>
        <p:spPr>
          <a:xfrm>
            <a:off x="4846199" y="4576329"/>
            <a:ext cx="3325832"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a:t>
            </a:r>
            <a:r>
              <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回復</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負載</a:t>
            </a:r>
            <a:r>
              <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格式</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Rectangle 2">
            <a:extLst>
              <a:ext uri="{FF2B5EF4-FFF2-40B4-BE49-F238E27FC236}">
                <a16:creationId xmlns:a16="http://schemas.microsoft.com/office/drawing/2014/main" id="{82DBCB0D-C797-4B53-99C4-DDF8A0E07DBA}"/>
              </a:ext>
            </a:extLst>
          </p:cNvPr>
          <p:cNvSpPr>
            <a:spLocks noChangeArrowheads="1"/>
          </p:cNvSpPr>
          <p:nvPr/>
        </p:nvSpPr>
        <p:spPr bwMode="auto">
          <a:xfrm>
            <a:off x="484094" y="2278116"/>
            <a:ext cx="1137632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pic>
        <p:nvPicPr>
          <p:cNvPr id="12" name="图片 11">
            <a:extLst>
              <a:ext uri="{FF2B5EF4-FFF2-40B4-BE49-F238E27FC236}">
                <a16:creationId xmlns:a16="http://schemas.microsoft.com/office/drawing/2014/main" id="{94525CD8-FAC7-4395-8B31-C296BF2545E3}"/>
              </a:ext>
            </a:extLst>
          </p:cNvPr>
          <p:cNvPicPr>
            <a:picLocks noChangeAspect="1"/>
          </p:cNvPicPr>
          <p:nvPr/>
        </p:nvPicPr>
        <p:blipFill>
          <a:blip r:embed="rId3"/>
          <a:stretch>
            <a:fillRect/>
          </a:stretch>
        </p:blipFill>
        <p:spPr>
          <a:xfrm>
            <a:off x="1322388" y="1092374"/>
            <a:ext cx="9507937" cy="3435126"/>
          </a:xfrm>
          <a:prstGeom prst="rect">
            <a:avLst/>
          </a:prstGeom>
        </p:spPr>
      </p:pic>
      <p:sp>
        <p:nvSpPr>
          <p:cNvPr id="9" name="灯片编号占位符 8">
            <a:extLst>
              <a:ext uri="{FF2B5EF4-FFF2-40B4-BE49-F238E27FC236}">
                <a16:creationId xmlns:a16="http://schemas.microsoft.com/office/drawing/2014/main" id="{98097603-3D3C-429C-A218-6FE451F709E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4128997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90A185D9-F0EE-477F-A2A7-1E3A5030CA80}"/>
              </a:ext>
            </a:extLst>
          </p:cNvPr>
          <p:cNvSpPr>
            <a:spLocks/>
          </p:cNvSpPr>
          <p:nvPr/>
        </p:nvSpPr>
        <p:spPr bwMode="auto">
          <a:xfrm>
            <a:off x="677730" y="3491017"/>
            <a:ext cx="11158072" cy="2605873"/>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15" name="矩形 14">
            <a:extLst>
              <a:ext uri="{FF2B5EF4-FFF2-40B4-BE49-F238E27FC236}">
                <a16:creationId xmlns:a16="http://schemas.microsoft.com/office/drawing/2014/main" id="{9256319C-1321-4DEE-99F6-B242BE20155D}"/>
              </a:ext>
            </a:extLst>
          </p:cNvPr>
          <p:cNvSpPr>
            <a:spLocks/>
          </p:cNvSpPr>
          <p:nvPr/>
        </p:nvSpPr>
        <p:spPr bwMode="auto">
          <a:xfrm>
            <a:off x="673993" y="1965825"/>
            <a:ext cx="11186428" cy="1354148"/>
          </a:xfrm>
          <a:prstGeom prst="rect">
            <a:avLst/>
          </a:prstGeom>
          <a:solidFill>
            <a:schemeClr val="accent3">
              <a:lumMod val="20000"/>
              <a:lumOff val="80000"/>
            </a:schemeClr>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遠程</a:t>
            </a:r>
            <a:r>
              <a:rPr kumimoji="1" lang="zh-CN" altLang="zh-CN" dirty="0">
                <a:solidFill>
                  <a:srgbClr val="C00000"/>
                </a:solidFill>
              </a:rPr>
              <a:t>緩存中毒攻擊</a:t>
            </a:r>
            <a:r>
              <a:rPr kumimoji="1" lang="en-US" altLang="zh-CN" dirty="0">
                <a:solidFill>
                  <a:srgbClr val="C00000"/>
                </a:solidFill>
              </a:rPr>
              <a:t>—</a:t>
            </a:r>
            <a:r>
              <a:rPr kumimoji="1" lang="zh-CN" altLang="en-US" dirty="0">
                <a:solidFill>
                  <a:srgbClr val="C00000"/>
                </a:solidFill>
              </a:rPr>
              <a:t>側信道攻擊</a:t>
            </a: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8" name="Rectangle 4">
            <a:extLst>
              <a:ext uri="{FF2B5EF4-FFF2-40B4-BE49-F238E27FC236}">
                <a16:creationId xmlns:a16="http://schemas.microsoft.com/office/drawing/2014/main" id="{3D82C593-AD9D-4FAD-AA46-FF15D7F34E74}"/>
              </a:ext>
            </a:extLst>
          </p:cNvPr>
          <p:cNvSpPr>
            <a:spLocks noChangeArrowheads="1"/>
          </p:cNvSpPr>
          <p:nvPr/>
        </p:nvSpPr>
        <p:spPr bwMode="auto">
          <a:xfrm>
            <a:off x="2425298" y="1158993"/>
            <a:ext cx="12126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6" name="Rectangle 2">
            <a:extLst>
              <a:ext uri="{FF2B5EF4-FFF2-40B4-BE49-F238E27FC236}">
                <a16:creationId xmlns:a16="http://schemas.microsoft.com/office/drawing/2014/main" id="{65502313-BB16-4AC2-9EA7-0EDFE9EAEE31}"/>
              </a:ext>
            </a:extLst>
          </p:cNvPr>
          <p:cNvSpPr>
            <a:spLocks noChangeArrowheads="1"/>
          </p:cNvSpPr>
          <p:nvPr/>
        </p:nvSpPr>
        <p:spPr bwMode="auto">
          <a:xfrm>
            <a:off x="143810" y="419524"/>
            <a:ext cx="1731391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10" name="Rectangle 2">
            <a:extLst>
              <a:ext uri="{FF2B5EF4-FFF2-40B4-BE49-F238E27FC236}">
                <a16:creationId xmlns:a16="http://schemas.microsoft.com/office/drawing/2014/main" id="{82DBCB0D-C797-4B53-99C4-DDF8A0E07DBA}"/>
              </a:ext>
            </a:extLst>
          </p:cNvPr>
          <p:cNvSpPr>
            <a:spLocks noChangeArrowheads="1"/>
          </p:cNvSpPr>
          <p:nvPr/>
        </p:nvSpPr>
        <p:spPr bwMode="auto">
          <a:xfrm>
            <a:off x="484094" y="2105988"/>
            <a:ext cx="1137632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9" name="Rectangle 1">
            <a:extLst>
              <a:ext uri="{FF2B5EF4-FFF2-40B4-BE49-F238E27FC236}">
                <a16:creationId xmlns:a16="http://schemas.microsoft.com/office/drawing/2014/main" id="{D477B5D5-2198-48C3-B220-FC95A89A1025}"/>
              </a:ext>
            </a:extLst>
          </p:cNvPr>
          <p:cNvSpPr>
            <a:spLocks noChangeArrowheads="1"/>
          </p:cNvSpPr>
          <p:nvPr/>
        </p:nvSpPr>
        <p:spPr bwMode="auto">
          <a:xfrm>
            <a:off x="781904" y="2110736"/>
            <a:ext cx="11182691" cy="1005788"/>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3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利用 </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UDP </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數據包分片重組技術，攻擊者提前向遞歸解析服務器注入虛假 </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 </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響應分片，利用數據包重組過程篡改重組後的域名解析結果，實現緩存中毒攻擊</a:t>
            </a:r>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a:extLst>
              <a:ext uri="{FF2B5EF4-FFF2-40B4-BE49-F238E27FC236}">
                <a16:creationId xmlns:a16="http://schemas.microsoft.com/office/drawing/2014/main" id="{0B4AB79D-C2D3-4376-AFCB-EE79D548FF99}"/>
              </a:ext>
            </a:extLst>
          </p:cNvPr>
          <p:cNvSpPr txBox="1"/>
          <p:nvPr/>
        </p:nvSpPr>
        <p:spPr>
          <a:xfrm>
            <a:off x="71731" y="6477603"/>
            <a:ext cx="12201052" cy="307777"/>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altLang="zh-CN" sz="1400" b="0" i="0" u="none" strike="noStrike" kern="100" cap="none" spc="0" normalizeH="0" baseline="0" noProof="0" dirty="0">
                <a:ln>
                  <a:noFill/>
                </a:ln>
                <a:solidFill>
                  <a:srgbClr val="222222"/>
                </a:solidFill>
                <a:effectLst/>
                <a:uLnTx/>
                <a:uFillTx/>
                <a:latin typeface="Times New Roman" panose="02020603050405020304" pitchFamily="18" charset="0"/>
                <a:ea typeface="宋体" panose="02010600030101010101" pitchFamily="2" charset="-122"/>
                <a:cs typeface="Times New Roman" panose="02020603050405020304" pitchFamily="18" charset="0"/>
              </a:rPr>
              <a:t>Brandt M, et al. Domain validation++ for </a:t>
            </a:r>
            <a:r>
              <a:rPr kumimoji="0" lang="en-US" altLang="zh-CN" sz="1400" b="0" i="0" u="none" strike="noStrike" kern="100" cap="none" spc="0" normalizeH="0" baseline="0" noProof="0" dirty="0" err="1">
                <a:ln>
                  <a:noFill/>
                </a:ln>
                <a:solidFill>
                  <a:srgbClr val="222222"/>
                </a:solidFill>
                <a:effectLst/>
                <a:uLnTx/>
                <a:uFillTx/>
                <a:latin typeface="Times New Roman" panose="02020603050405020304" pitchFamily="18" charset="0"/>
                <a:ea typeface="宋体" panose="02010600030101010101" pitchFamily="2" charset="-122"/>
                <a:cs typeface="Times New Roman" panose="02020603050405020304" pitchFamily="18" charset="0"/>
              </a:rPr>
              <a:t>mitm</a:t>
            </a:r>
            <a:r>
              <a:rPr kumimoji="0" lang="en-US" altLang="zh-CN" sz="1400" b="0" i="0" u="none" strike="noStrike" kern="100" cap="none" spc="0" normalizeH="0" baseline="0" noProof="0" dirty="0">
                <a:ln>
                  <a:noFill/>
                </a:ln>
                <a:solidFill>
                  <a:srgbClr val="222222"/>
                </a:solidFill>
                <a:effectLst/>
                <a:uLnTx/>
                <a:uFillTx/>
                <a:latin typeface="Times New Roman" panose="02020603050405020304" pitchFamily="18" charset="0"/>
                <a:ea typeface="宋体" panose="02010600030101010101" pitchFamily="2" charset="-122"/>
                <a:cs typeface="Times New Roman" panose="02020603050405020304" pitchFamily="18" charset="0"/>
              </a:rPr>
              <a:t>-resilient PKI [C]  CCS 2018: 2060-2076.</a:t>
            </a:r>
            <a:endParaRPr kumimoji="0" lang="zh-CN" altLang="zh-CN" sz="1400" b="0" i="0" u="none" strike="noStrike" kern="1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B1AC9577-EDE5-4ADE-A292-DEE68F6265E0}"/>
              </a:ext>
            </a:extLst>
          </p:cNvPr>
          <p:cNvSpPr txBox="1"/>
          <p:nvPr/>
        </p:nvSpPr>
        <p:spPr>
          <a:xfrm>
            <a:off x="673993" y="1335172"/>
            <a:ext cx="9795352"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利用數據包分片重組技術注入虛假分片</a:t>
            </a:r>
            <a:endParaRPr kumimoji="0" lang="zh-CN" altLang="en-US" sz="2400" b="1" i="0" u="none" strike="noStrike" kern="1200" cap="none" spc="0" normalizeH="0" baseline="0" noProof="0" dirty="0">
              <a:ln>
                <a:noFill/>
              </a:ln>
              <a:solidFill>
                <a:srgbClr val="C00000"/>
              </a:solidFill>
              <a:effectLst/>
              <a:uLnTx/>
              <a:uFillTx/>
              <a:latin typeface="Arial"/>
              <a:ea typeface="微软雅黑 Light"/>
              <a:cs typeface="+mn-cs"/>
            </a:endParaRPr>
          </a:p>
        </p:txBody>
      </p:sp>
      <p:pic>
        <p:nvPicPr>
          <p:cNvPr id="12" name="图片 11">
            <a:extLst>
              <a:ext uri="{FF2B5EF4-FFF2-40B4-BE49-F238E27FC236}">
                <a16:creationId xmlns:a16="http://schemas.microsoft.com/office/drawing/2014/main" id="{0A5BEBB5-BBD8-4B74-8248-C5C556D21BF0}"/>
              </a:ext>
            </a:extLst>
          </p:cNvPr>
          <p:cNvPicPr>
            <a:picLocks noChangeAspect="1"/>
          </p:cNvPicPr>
          <p:nvPr/>
        </p:nvPicPr>
        <p:blipFill rotWithShape="1">
          <a:blip r:embed="rId3"/>
          <a:srcRect b="19119"/>
          <a:stretch/>
        </p:blipFill>
        <p:spPr>
          <a:xfrm>
            <a:off x="7000886" y="3547420"/>
            <a:ext cx="3599760" cy="2027190"/>
          </a:xfrm>
          <a:prstGeom prst="rect">
            <a:avLst/>
          </a:prstGeom>
        </p:spPr>
      </p:pic>
      <p:sp>
        <p:nvSpPr>
          <p:cNvPr id="2" name="灯片编号占位符 1">
            <a:extLst>
              <a:ext uri="{FF2B5EF4-FFF2-40B4-BE49-F238E27FC236}">
                <a16:creationId xmlns:a16="http://schemas.microsoft.com/office/drawing/2014/main" id="{517CFA7A-DF9A-435D-96AF-DBECFB31BAD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
        <p:nvSpPr>
          <p:cNvPr id="18" name="文本框 17">
            <a:extLst>
              <a:ext uri="{FF2B5EF4-FFF2-40B4-BE49-F238E27FC236}">
                <a16:creationId xmlns:a16="http://schemas.microsoft.com/office/drawing/2014/main" id="{2DC69CF7-2D26-4DE4-A164-90982325916F}"/>
              </a:ext>
            </a:extLst>
          </p:cNvPr>
          <p:cNvSpPr txBox="1"/>
          <p:nvPr/>
        </p:nvSpPr>
        <p:spPr>
          <a:xfrm>
            <a:off x="1307542" y="5483497"/>
            <a:ext cx="4708261" cy="646331"/>
          </a:xfrm>
          <a:prstGeom prst="rect">
            <a:avLst/>
          </a:prstGeom>
          <a:noFill/>
        </p:spPr>
        <p:txBody>
          <a:bodyPr wrap="square">
            <a:spAutoFit/>
          </a:bodyPr>
          <a:lstStyle/>
          <a:p>
            <a:pPr marL="0" marR="4633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Fig. 1  ICMP fragmentation needed packet from attacker at 6.6.6.6 to nameserver at 2.2.2.2 indicating an MTU of 100 bytes for resolver at 7.7.7.7</a:t>
            </a:r>
          </a:p>
        </p:txBody>
      </p:sp>
      <p:sp>
        <p:nvSpPr>
          <p:cNvPr id="19" name="文本框 18">
            <a:extLst>
              <a:ext uri="{FF2B5EF4-FFF2-40B4-BE49-F238E27FC236}">
                <a16:creationId xmlns:a16="http://schemas.microsoft.com/office/drawing/2014/main" id="{6107C447-4E36-44A4-B62A-7087BCE5204D}"/>
              </a:ext>
            </a:extLst>
          </p:cNvPr>
          <p:cNvSpPr txBox="1"/>
          <p:nvPr/>
        </p:nvSpPr>
        <p:spPr>
          <a:xfrm>
            <a:off x="6645615" y="5621603"/>
            <a:ext cx="4708261" cy="461665"/>
          </a:xfrm>
          <a:prstGeom prst="rect">
            <a:avLst/>
          </a:prstGeom>
          <a:noFill/>
        </p:spPr>
        <p:txBody>
          <a:bodyPr wrap="square">
            <a:spAutoFit/>
          </a:bodyPr>
          <a:lstStyle/>
          <a:p>
            <a:pPr marL="0" marR="4633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Fig. 2  First fragment sent by the nameserver at 2.2.2.2 to the DNS resolver at 7.7.7.7, assuming MTU of 68 bytes</a:t>
            </a:r>
          </a:p>
        </p:txBody>
      </p:sp>
      <p:grpSp>
        <p:nvGrpSpPr>
          <p:cNvPr id="22" name="组合 21">
            <a:extLst>
              <a:ext uri="{FF2B5EF4-FFF2-40B4-BE49-F238E27FC236}">
                <a16:creationId xmlns:a16="http://schemas.microsoft.com/office/drawing/2014/main" id="{0DC54B8B-1681-4BF0-88A5-2BD2599A1974}"/>
              </a:ext>
            </a:extLst>
          </p:cNvPr>
          <p:cNvGrpSpPr/>
          <p:nvPr/>
        </p:nvGrpSpPr>
        <p:grpSpPr>
          <a:xfrm>
            <a:off x="1607335" y="3774466"/>
            <a:ext cx="3957006" cy="1534871"/>
            <a:chOff x="1607335" y="3774466"/>
            <a:chExt cx="3957006" cy="1534871"/>
          </a:xfrm>
        </p:grpSpPr>
        <p:pic>
          <p:nvPicPr>
            <p:cNvPr id="4" name="图片 3">
              <a:extLst>
                <a:ext uri="{FF2B5EF4-FFF2-40B4-BE49-F238E27FC236}">
                  <a16:creationId xmlns:a16="http://schemas.microsoft.com/office/drawing/2014/main" id="{CA3DDDAF-55E7-4CF3-A957-5502253D9640}"/>
                </a:ext>
              </a:extLst>
            </p:cNvPr>
            <p:cNvPicPr>
              <a:picLocks noChangeAspect="1"/>
            </p:cNvPicPr>
            <p:nvPr/>
          </p:nvPicPr>
          <p:blipFill rotWithShape="1">
            <a:blip r:embed="rId4"/>
            <a:srcRect b="30030"/>
            <a:stretch/>
          </p:blipFill>
          <p:spPr>
            <a:xfrm>
              <a:off x="1607335" y="3774466"/>
              <a:ext cx="3957006" cy="1534871"/>
            </a:xfrm>
            <a:prstGeom prst="rect">
              <a:avLst/>
            </a:prstGeom>
          </p:spPr>
        </p:pic>
        <p:sp>
          <p:nvSpPr>
            <p:cNvPr id="13" name="矩形 12">
              <a:extLst>
                <a:ext uri="{FF2B5EF4-FFF2-40B4-BE49-F238E27FC236}">
                  <a16:creationId xmlns:a16="http://schemas.microsoft.com/office/drawing/2014/main" id="{BE0BAD17-280C-4E18-9D46-0839F71412DC}"/>
                </a:ext>
              </a:extLst>
            </p:cNvPr>
            <p:cNvSpPr/>
            <p:nvPr/>
          </p:nvSpPr>
          <p:spPr>
            <a:xfrm>
              <a:off x="2559499" y="4139190"/>
              <a:ext cx="549350" cy="1317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grpSp>
      <p:sp>
        <p:nvSpPr>
          <p:cNvPr id="21" name="矩形 20">
            <a:extLst>
              <a:ext uri="{FF2B5EF4-FFF2-40B4-BE49-F238E27FC236}">
                <a16:creationId xmlns:a16="http://schemas.microsoft.com/office/drawing/2014/main" id="{D4871F9E-C32A-4C46-B9F5-B6E8365826E0}"/>
              </a:ext>
            </a:extLst>
          </p:cNvPr>
          <p:cNvSpPr/>
          <p:nvPr/>
        </p:nvSpPr>
        <p:spPr>
          <a:xfrm>
            <a:off x="7939285" y="3838251"/>
            <a:ext cx="549350" cy="1317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Tree>
    <p:extLst>
      <p:ext uri="{BB962C8B-B14F-4D97-AF65-F5344CB8AC3E}">
        <p14:creationId xmlns:p14="http://schemas.microsoft.com/office/powerpoint/2010/main" val="3703905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90A185D9-F0EE-477F-A2A7-1E3A5030CA80}"/>
              </a:ext>
            </a:extLst>
          </p:cNvPr>
          <p:cNvSpPr>
            <a:spLocks/>
          </p:cNvSpPr>
          <p:nvPr/>
        </p:nvSpPr>
        <p:spPr bwMode="auto">
          <a:xfrm>
            <a:off x="487832" y="3909572"/>
            <a:ext cx="3700632" cy="1538343"/>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15" name="矩形 14">
            <a:extLst>
              <a:ext uri="{FF2B5EF4-FFF2-40B4-BE49-F238E27FC236}">
                <a16:creationId xmlns:a16="http://schemas.microsoft.com/office/drawing/2014/main" id="{9256319C-1321-4DEE-99F6-B242BE20155D}"/>
              </a:ext>
            </a:extLst>
          </p:cNvPr>
          <p:cNvSpPr>
            <a:spLocks/>
          </p:cNvSpPr>
          <p:nvPr/>
        </p:nvSpPr>
        <p:spPr bwMode="auto">
          <a:xfrm>
            <a:off x="497535" y="1278505"/>
            <a:ext cx="11376327" cy="1354148"/>
          </a:xfrm>
          <a:prstGeom prst="rect">
            <a:avLst/>
          </a:prstGeom>
          <a:solidFill>
            <a:schemeClr val="accent3">
              <a:lumMod val="20000"/>
              <a:lumOff val="80000"/>
            </a:schemeClr>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遠程</a:t>
            </a:r>
            <a:r>
              <a:rPr kumimoji="1" lang="zh-CN" altLang="zh-CN" dirty="0">
                <a:solidFill>
                  <a:srgbClr val="C00000"/>
                </a:solidFill>
              </a:rPr>
              <a:t>緩存中毒攻擊</a:t>
            </a:r>
            <a:r>
              <a:rPr kumimoji="1" lang="en-US" altLang="zh-CN" dirty="0">
                <a:solidFill>
                  <a:srgbClr val="C00000"/>
                </a:solidFill>
              </a:rPr>
              <a:t>—</a:t>
            </a:r>
            <a:r>
              <a:rPr kumimoji="1" lang="zh-CN" altLang="en-US" dirty="0">
                <a:solidFill>
                  <a:srgbClr val="C00000"/>
                </a:solidFill>
              </a:rPr>
              <a:t>基于</a:t>
            </a:r>
            <a:r>
              <a:rPr kumimoji="1" lang="en-US" altLang="zh-CN" dirty="0">
                <a:solidFill>
                  <a:srgbClr val="C00000"/>
                </a:solidFill>
              </a:rPr>
              <a:t>IPID</a:t>
            </a:r>
            <a:r>
              <a:rPr kumimoji="1" lang="zh-CN" altLang="en-US" dirty="0">
                <a:solidFill>
                  <a:srgbClr val="C00000"/>
                </a:solidFill>
              </a:rPr>
              <a:t>的攻擊</a:t>
            </a: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8" name="Rectangle 4">
            <a:extLst>
              <a:ext uri="{FF2B5EF4-FFF2-40B4-BE49-F238E27FC236}">
                <a16:creationId xmlns:a16="http://schemas.microsoft.com/office/drawing/2014/main" id="{3D82C593-AD9D-4FAD-AA46-FF15D7F34E74}"/>
              </a:ext>
            </a:extLst>
          </p:cNvPr>
          <p:cNvSpPr>
            <a:spLocks noChangeArrowheads="1"/>
          </p:cNvSpPr>
          <p:nvPr/>
        </p:nvSpPr>
        <p:spPr bwMode="auto">
          <a:xfrm>
            <a:off x="2425298" y="1158993"/>
            <a:ext cx="12126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6" name="Rectangle 2">
            <a:extLst>
              <a:ext uri="{FF2B5EF4-FFF2-40B4-BE49-F238E27FC236}">
                <a16:creationId xmlns:a16="http://schemas.microsoft.com/office/drawing/2014/main" id="{65502313-BB16-4AC2-9EA7-0EDFE9EAEE31}"/>
              </a:ext>
            </a:extLst>
          </p:cNvPr>
          <p:cNvSpPr>
            <a:spLocks noChangeArrowheads="1"/>
          </p:cNvSpPr>
          <p:nvPr/>
        </p:nvSpPr>
        <p:spPr bwMode="auto">
          <a:xfrm>
            <a:off x="143810" y="419524"/>
            <a:ext cx="1731391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10" name="Rectangle 2">
            <a:extLst>
              <a:ext uri="{FF2B5EF4-FFF2-40B4-BE49-F238E27FC236}">
                <a16:creationId xmlns:a16="http://schemas.microsoft.com/office/drawing/2014/main" id="{82DBCB0D-C797-4B53-99C4-DDF8A0E07DBA}"/>
              </a:ext>
            </a:extLst>
          </p:cNvPr>
          <p:cNvSpPr>
            <a:spLocks noChangeArrowheads="1"/>
          </p:cNvSpPr>
          <p:nvPr/>
        </p:nvSpPr>
        <p:spPr bwMode="auto">
          <a:xfrm>
            <a:off x="307637" y="1418668"/>
            <a:ext cx="1137632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9" name="Rectangle 1">
            <a:extLst>
              <a:ext uri="{FF2B5EF4-FFF2-40B4-BE49-F238E27FC236}">
                <a16:creationId xmlns:a16="http://schemas.microsoft.com/office/drawing/2014/main" id="{D477B5D5-2198-48C3-B220-FC95A89A1025}"/>
              </a:ext>
            </a:extLst>
          </p:cNvPr>
          <p:cNvSpPr>
            <a:spLocks noChangeArrowheads="1"/>
          </p:cNvSpPr>
          <p:nvPr/>
        </p:nvSpPr>
        <p:spPr bwMode="auto">
          <a:xfrm>
            <a:off x="646221" y="1529288"/>
            <a:ext cx="11182691" cy="929678"/>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30000"/>
              </a:lnSpc>
              <a:spcBef>
                <a:spcPct val="0"/>
              </a:spcBef>
              <a:spcAft>
                <a:spcPct val="0"/>
              </a:spcAft>
              <a:buClrTx/>
              <a:buSzTx/>
              <a:buFontTx/>
              <a:buNone/>
              <a:tabLst/>
              <a:defRPr/>
            </a:pP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攻擊成功的前提是受害者接受該</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IPID</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，即僞造的第二個分片與真實的第一個分片具有相同</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IPID</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值，攻擊者可以采取不同的操作實現</a:t>
            </a:r>
          </a:p>
        </p:txBody>
      </p:sp>
      <p:sp>
        <p:nvSpPr>
          <p:cNvPr id="2" name="灯片编号占位符 1">
            <a:extLst>
              <a:ext uri="{FF2B5EF4-FFF2-40B4-BE49-F238E27FC236}">
                <a16:creationId xmlns:a16="http://schemas.microsoft.com/office/drawing/2014/main" id="{517CFA7A-DF9A-435D-96AF-DBECFB31BAD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
        <p:nvSpPr>
          <p:cNvPr id="11" name="矩形 10">
            <a:extLst>
              <a:ext uri="{FF2B5EF4-FFF2-40B4-BE49-F238E27FC236}">
                <a16:creationId xmlns:a16="http://schemas.microsoft.com/office/drawing/2014/main" id="{C6119EFE-8394-449A-BEB4-4274E775CB35}"/>
              </a:ext>
            </a:extLst>
          </p:cNvPr>
          <p:cNvSpPr/>
          <p:nvPr/>
        </p:nvSpPr>
        <p:spPr>
          <a:xfrm>
            <a:off x="487832" y="3113506"/>
            <a:ext cx="3700632" cy="591671"/>
          </a:xfrm>
          <a:prstGeom prst="rect">
            <a:avLst/>
          </a:prstGeom>
          <a:ln>
            <a:noFill/>
          </a:ln>
        </p:spPr>
        <p:style>
          <a:lnRef idx="3">
            <a:schemeClr val="lt1"/>
          </a:lnRef>
          <a:fillRef idx="1">
            <a:schemeClr val="accent4"/>
          </a:fillRef>
          <a:effectRef idx="1">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微软雅黑 Light"/>
                <a:cs typeface="+mn-cs"/>
              </a:rPr>
              <a:t>Sequentially Incrementing</a:t>
            </a:r>
            <a:endParaRPr kumimoji="0"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18" name="Rectangle 1">
            <a:extLst>
              <a:ext uri="{FF2B5EF4-FFF2-40B4-BE49-F238E27FC236}">
                <a16:creationId xmlns:a16="http://schemas.microsoft.com/office/drawing/2014/main" id="{645B33FF-EDE6-4203-A5B7-4311BA0EFE6B}"/>
              </a:ext>
            </a:extLst>
          </p:cNvPr>
          <p:cNvSpPr>
            <a:spLocks noChangeArrowheads="1"/>
          </p:cNvSpPr>
          <p:nvPr/>
        </p:nvSpPr>
        <p:spPr bwMode="auto">
          <a:xfrm>
            <a:off x="677731" y="4113510"/>
            <a:ext cx="3338611" cy="125367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3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攻擊者從域名服務器中采樣</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IP ID</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值及增長速率，然後計算可能的</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IP ID</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值</a:t>
            </a:r>
          </a:p>
        </p:txBody>
      </p:sp>
      <p:sp>
        <p:nvSpPr>
          <p:cNvPr id="19" name="矩形 18">
            <a:extLst>
              <a:ext uri="{FF2B5EF4-FFF2-40B4-BE49-F238E27FC236}">
                <a16:creationId xmlns:a16="http://schemas.microsoft.com/office/drawing/2014/main" id="{6D77F25F-1FB6-41FB-A285-E3525A2026BD}"/>
              </a:ext>
            </a:extLst>
          </p:cNvPr>
          <p:cNvSpPr>
            <a:spLocks/>
          </p:cNvSpPr>
          <p:nvPr/>
        </p:nvSpPr>
        <p:spPr bwMode="auto">
          <a:xfrm>
            <a:off x="487832" y="3912626"/>
            <a:ext cx="3700632" cy="1538343"/>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21" name="矩形 20">
            <a:extLst>
              <a:ext uri="{FF2B5EF4-FFF2-40B4-BE49-F238E27FC236}">
                <a16:creationId xmlns:a16="http://schemas.microsoft.com/office/drawing/2014/main" id="{6204D3F9-BA64-42B7-A199-DDB0D79FA2B2}"/>
              </a:ext>
            </a:extLst>
          </p:cNvPr>
          <p:cNvSpPr/>
          <p:nvPr/>
        </p:nvSpPr>
        <p:spPr>
          <a:xfrm>
            <a:off x="487832" y="3116560"/>
            <a:ext cx="3700632" cy="591671"/>
          </a:xfrm>
          <a:prstGeom prst="rect">
            <a:avLst/>
          </a:prstGeom>
          <a:ln>
            <a:noFill/>
          </a:ln>
        </p:spPr>
        <p:style>
          <a:lnRef idx="3">
            <a:schemeClr val="lt1"/>
          </a:lnRef>
          <a:fillRef idx="1">
            <a:schemeClr val="accent4"/>
          </a:fillRef>
          <a:effectRef idx="1">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Sequentially Incrementing</a:t>
            </a: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2" name="Rectangle 1">
            <a:extLst>
              <a:ext uri="{FF2B5EF4-FFF2-40B4-BE49-F238E27FC236}">
                <a16:creationId xmlns:a16="http://schemas.microsoft.com/office/drawing/2014/main" id="{6E89B243-A414-4A01-B5EB-4FC78977E8DD}"/>
              </a:ext>
            </a:extLst>
          </p:cNvPr>
          <p:cNvSpPr>
            <a:spLocks noChangeArrowheads="1"/>
          </p:cNvSpPr>
          <p:nvPr/>
        </p:nvSpPr>
        <p:spPr bwMode="auto">
          <a:xfrm>
            <a:off x="677731" y="4116564"/>
            <a:ext cx="3338611" cy="125367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3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攻擊者從域名服務器中采樣</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IPID</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值及增長速率，然後計算可能的</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IPID</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矩形 22">
            <a:extLst>
              <a:ext uri="{FF2B5EF4-FFF2-40B4-BE49-F238E27FC236}">
                <a16:creationId xmlns:a16="http://schemas.microsoft.com/office/drawing/2014/main" id="{5CC4C73E-B14A-4F6A-A25A-0146BB14B255}"/>
              </a:ext>
            </a:extLst>
          </p:cNvPr>
          <p:cNvSpPr>
            <a:spLocks/>
          </p:cNvSpPr>
          <p:nvPr/>
        </p:nvSpPr>
        <p:spPr bwMode="auto">
          <a:xfrm>
            <a:off x="4378363" y="3902130"/>
            <a:ext cx="3700632" cy="1538343"/>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24" name="矩形 23">
            <a:extLst>
              <a:ext uri="{FF2B5EF4-FFF2-40B4-BE49-F238E27FC236}">
                <a16:creationId xmlns:a16="http://schemas.microsoft.com/office/drawing/2014/main" id="{6054FE11-464A-4CBC-838C-8DDAE4CA7AC8}"/>
              </a:ext>
            </a:extLst>
          </p:cNvPr>
          <p:cNvSpPr/>
          <p:nvPr/>
        </p:nvSpPr>
        <p:spPr>
          <a:xfrm>
            <a:off x="4378363" y="3106064"/>
            <a:ext cx="3700632" cy="591671"/>
          </a:xfrm>
          <a:prstGeom prst="rect">
            <a:avLst/>
          </a:prstGeom>
          <a:ln>
            <a:noFill/>
          </a:ln>
        </p:spPr>
        <p:style>
          <a:lnRef idx="3">
            <a:schemeClr val="lt1"/>
          </a:lnRef>
          <a:fillRef idx="1">
            <a:schemeClr val="accent4"/>
          </a:fillRef>
          <a:effectRef idx="1">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Per-Destination</a:t>
            </a: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5" name="Rectangle 1">
            <a:extLst>
              <a:ext uri="{FF2B5EF4-FFF2-40B4-BE49-F238E27FC236}">
                <a16:creationId xmlns:a16="http://schemas.microsoft.com/office/drawing/2014/main" id="{917AE3A5-04FD-4916-9F6E-1A7053B7FF3B}"/>
              </a:ext>
            </a:extLst>
          </p:cNvPr>
          <p:cNvSpPr>
            <a:spLocks noChangeArrowheads="1"/>
          </p:cNvSpPr>
          <p:nvPr/>
        </p:nvSpPr>
        <p:spPr bwMode="auto">
          <a:xfrm>
            <a:off x="4568262" y="4106068"/>
            <a:ext cx="3338611" cy="125367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3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對每個目的地遞增的</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IPID</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，攻擊者采用算法預測可能的</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IPID</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 name="矩形 25">
            <a:extLst>
              <a:ext uri="{FF2B5EF4-FFF2-40B4-BE49-F238E27FC236}">
                <a16:creationId xmlns:a16="http://schemas.microsoft.com/office/drawing/2014/main" id="{6E765FD5-4B73-43C2-B936-172AD7005839}"/>
              </a:ext>
            </a:extLst>
          </p:cNvPr>
          <p:cNvSpPr>
            <a:spLocks/>
          </p:cNvSpPr>
          <p:nvPr/>
        </p:nvSpPr>
        <p:spPr bwMode="auto">
          <a:xfrm>
            <a:off x="8186570" y="3912626"/>
            <a:ext cx="3700632" cy="1538343"/>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27" name="矩形 26">
            <a:extLst>
              <a:ext uri="{FF2B5EF4-FFF2-40B4-BE49-F238E27FC236}">
                <a16:creationId xmlns:a16="http://schemas.microsoft.com/office/drawing/2014/main" id="{C572320F-2FB6-41CF-981E-C8115653B5B9}"/>
              </a:ext>
            </a:extLst>
          </p:cNvPr>
          <p:cNvSpPr/>
          <p:nvPr/>
        </p:nvSpPr>
        <p:spPr>
          <a:xfrm>
            <a:off x="8186570" y="3116560"/>
            <a:ext cx="3700632" cy="591671"/>
          </a:xfrm>
          <a:prstGeom prst="rect">
            <a:avLst/>
          </a:prstGeom>
          <a:ln>
            <a:noFill/>
          </a:ln>
        </p:spPr>
        <p:style>
          <a:lnRef idx="3">
            <a:schemeClr val="lt1"/>
          </a:lnRef>
          <a:fillRef idx="1">
            <a:schemeClr val="accent4"/>
          </a:fillRef>
          <a:effectRef idx="1">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Random</a:t>
            </a: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8" name="Rectangle 1">
            <a:extLst>
              <a:ext uri="{FF2B5EF4-FFF2-40B4-BE49-F238E27FC236}">
                <a16:creationId xmlns:a16="http://schemas.microsoft.com/office/drawing/2014/main" id="{11C5DDD9-F465-4411-A116-6942739C284C}"/>
              </a:ext>
            </a:extLst>
          </p:cNvPr>
          <p:cNvSpPr>
            <a:spLocks noChangeArrowheads="1"/>
          </p:cNvSpPr>
          <p:nvPr/>
        </p:nvSpPr>
        <p:spPr bwMode="auto">
          <a:xfrm>
            <a:off x="8345353" y="4016139"/>
            <a:ext cx="3338611" cy="125367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3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發送多個分片按概率命中，目前</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Windows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版本支持</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100</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個，</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Linux</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版本</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64</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個分片</a:t>
            </a:r>
          </a:p>
        </p:txBody>
      </p:sp>
      <p:sp>
        <p:nvSpPr>
          <p:cNvPr id="13" name="爆炸形: 8 pt  12">
            <a:extLst>
              <a:ext uri="{FF2B5EF4-FFF2-40B4-BE49-F238E27FC236}">
                <a16:creationId xmlns:a16="http://schemas.microsoft.com/office/drawing/2014/main" id="{E2788C18-39DD-455B-BB45-66CD810987D7}"/>
              </a:ext>
            </a:extLst>
          </p:cNvPr>
          <p:cNvSpPr/>
          <p:nvPr/>
        </p:nvSpPr>
        <p:spPr>
          <a:xfrm>
            <a:off x="2657443" y="5135449"/>
            <a:ext cx="1484558" cy="855751"/>
          </a:xfrm>
          <a:prstGeom prst="irregularSeal1">
            <a:avLst/>
          </a:prstGeom>
          <a:solidFill>
            <a:srgbClr val="00B0F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&gt;60%</a:t>
            </a: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9" name="爆炸形: 8 pt  28">
            <a:extLst>
              <a:ext uri="{FF2B5EF4-FFF2-40B4-BE49-F238E27FC236}">
                <a16:creationId xmlns:a16="http://schemas.microsoft.com/office/drawing/2014/main" id="{02BD9A6A-0298-4F3D-8317-2676F6D1CE4D}"/>
              </a:ext>
            </a:extLst>
          </p:cNvPr>
          <p:cNvSpPr/>
          <p:nvPr/>
        </p:nvSpPr>
        <p:spPr>
          <a:xfrm>
            <a:off x="6648226" y="5154855"/>
            <a:ext cx="1484557" cy="855751"/>
          </a:xfrm>
          <a:prstGeom prst="irregularSeal1">
            <a:avLst/>
          </a:prstGeom>
          <a:solidFill>
            <a:srgbClr val="00B0F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&lt;40%</a:t>
            </a: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0" name="爆炸形: 8 pt  29">
            <a:extLst>
              <a:ext uri="{FF2B5EF4-FFF2-40B4-BE49-F238E27FC236}">
                <a16:creationId xmlns:a16="http://schemas.microsoft.com/office/drawing/2014/main" id="{D758337F-36CF-44A3-A46A-C39A446414C1}"/>
              </a:ext>
            </a:extLst>
          </p:cNvPr>
          <p:cNvSpPr/>
          <p:nvPr/>
        </p:nvSpPr>
        <p:spPr>
          <a:xfrm>
            <a:off x="10366635" y="5154855"/>
            <a:ext cx="1544542" cy="855751"/>
          </a:xfrm>
          <a:prstGeom prst="irregularSeal1">
            <a:avLst/>
          </a:prstGeom>
          <a:solidFill>
            <a:srgbClr val="00B0F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少量</a:t>
            </a:r>
          </a:p>
        </p:txBody>
      </p:sp>
    </p:spTree>
    <p:extLst>
      <p:ext uri="{BB962C8B-B14F-4D97-AF65-F5344CB8AC3E}">
        <p14:creationId xmlns:p14="http://schemas.microsoft.com/office/powerpoint/2010/main" val="30951075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DE134CE0-A92A-40BE-A25A-FC0B3A3EB658}"/>
              </a:ext>
            </a:extLst>
          </p:cNvPr>
          <p:cNvSpPr>
            <a:spLocks/>
          </p:cNvSpPr>
          <p:nvPr/>
        </p:nvSpPr>
        <p:spPr bwMode="auto">
          <a:xfrm>
            <a:off x="480355" y="3473793"/>
            <a:ext cx="11186428" cy="2785033"/>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18" name="矩形 17">
            <a:extLst>
              <a:ext uri="{FF2B5EF4-FFF2-40B4-BE49-F238E27FC236}">
                <a16:creationId xmlns:a16="http://schemas.microsoft.com/office/drawing/2014/main" id="{2F434D59-85AC-4F5A-BD69-5B67E42543B5}"/>
              </a:ext>
            </a:extLst>
          </p:cNvPr>
          <p:cNvSpPr>
            <a:spLocks/>
          </p:cNvSpPr>
          <p:nvPr/>
        </p:nvSpPr>
        <p:spPr bwMode="auto">
          <a:xfrm>
            <a:off x="484092" y="1843155"/>
            <a:ext cx="11186428" cy="1354148"/>
          </a:xfrm>
          <a:prstGeom prst="rect">
            <a:avLst/>
          </a:prstGeom>
          <a:solidFill>
            <a:schemeClr val="accent3">
              <a:lumMod val="20000"/>
              <a:lumOff val="80000"/>
            </a:schemeClr>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遠程</a:t>
            </a:r>
            <a:r>
              <a:rPr kumimoji="1" lang="zh-CN" altLang="zh-CN" dirty="0">
                <a:solidFill>
                  <a:srgbClr val="C00000"/>
                </a:solidFill>
              </a:rPr>
              <a:t>緩存中毒攻擊</a:t>
            </a:r>
            <a:r>
              <a:rPr kumimoji="1" lang="en-US" altLang="zh-CN" dirty="0">
                <a:solidFill>
                  <a:srgbClr val="C00000"/>
                </a:solidFill>
              </a:rPr>
              <a:t>—</a:t>
            </a:r>
            <a:r>
              <a:rPr kumimoji="1" lang="zh-CN" altLang="en-CN" dirty="0">
                <a:solidFill>
                  <a:srgbClr val="C00000"/>
                </a:solidFill>
              </a:rPr>
              <a:t>基于</a:t>
            </a:r>
            <a:r>
              <a:rPr kumimoji="1" lang="zh-CN" altLang="en-US" dirty="0">
                <a:solidFill>
                  <a:srgbClr val="C00000"/>
                </a:solidFill>
              </a:rPr>
              <a:t>交易</a:t>
            </a:r>
            <a:r>
              <a:rPr kumimoji="1" lang="en-US" altLang="zh-CN" dirty="0">
                <a:solidFill>
                  <a:srgbClr val="C00000"/>
                </a:solidFill>
              </a:rPr>
              <a:t>ID</a:t>
            </a:r>
            <a:r>
              <a:rPr kumimoji="1" lang="zh-CN" altLang="en-US" dirty="0">
                <a:solidFill>
                  <a:srgbClr val="C00000"/>
                </a:solidFill>
              </a:rPr>
              <a:t>的攻擊</a:t>
            </a: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6" name="Rectangle 2">
            <a:extLst>
              <a:ext uri="{FF2B5EF4-FFF2-40B4-BE49-F238E27FC236}">
                <a16:creationId xmlns:a16="http://schemas.microsoft.com/office/drawing/2014/main" id="{65502313-BB16-4AC2-9EA7-0EDFE9EAEE31}"/>
              </a:ext>
            </a:extLst>
          </p:cNvPr>
          <p:cNvSpPr>
            <a:spLocks noChangeArrowheads="1"/>
          </p:cNvSpPr>
          <p:nvPr/>
        </p:nvSpPr>
        <p:spPr bwMode="auto">
          <a:xfrm>
            <a:off x="143810" y="419524"/>
            <a:ext cx="1731391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16" name="Rectangle 1">
            <a:extLst>
              <a:ext uri="{FF2B5EF4-FFF2-40B4-BE49-F238E27FC236}">
                <a16:creationId xmlns:a16="http://schemas.microsoft.com/office/drawing/2014/main" id="{66CB5267-E0AB-4EA2-A7EF-73AE55EFCDC0}"/>
              </a:ext>
            </a:extLst>
          </p:cNvPr>
          <p:cNvSpPr>
            <a:spLocks noChangeArrowheads="1"/>
          </p:cNvSpPr>
          <p:nvPr/>
        </p:nvSpPr>
        <p:spPr bwMode="auto">
          <a:xfrm>
            <a:off x="842963" y="1996109"/>
            <a:ext cx="10732606" cy="929678"/>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30000"/>
              </a:lnSpc>
              <a:spcBef>
                <a:spcPct val="0"/>
              </a:spcBef>
              <a:spcAft>
                <a:spcPct val="0"/>
              </a:spcAft>
              <a:buClrTx/>
              <a:buSzTx/>
              <a:buFontTx/>
              <a:buNone/>
              <a:tabLst/>
              <a:defRPr/>
            </a:pP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通過側信道實現</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UDP</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端口掃描，將需要猜測的</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32</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位空間（</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1/2</a:t>
            </a:r>
            <a:r>
              <a:rPr kumimoji="0" lang="en-US" altLang="zh-CN" sz="2200" b="0" i="0" u="none" strike="noStrike" kern="1200" cap="none" spc="0" normalizeH="0" baseline="300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32</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）進一步降低至</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16</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位（</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1/2</a:t>
            </a:r>
            <a:r>
              <a:rPr kumimoji="0" lang="en-US" altLang="zh-CN" sz="2200" b="0" i="0" u="none" strike="noStrike" kern="1200" cap="none" spc="0" normalizeH="0" baseline="300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16</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），能够在幾分鐘內成功實現攻擊</a:t>
            </a:r>
          </a:p>
        </p:txBody>
      </p:sp>
      <p:sp>
        <p:nvSpPr>
          <p:cNvPr id="17" name="文本框 16">
            <a:extLst>
              <a:ext uri="{FF2B5EF4-FFF2-40B4-BE49-F238E27FC236}">
                <a16:creationId xmlns:a16="http://schemas.microsoft.com/office/drawing/2014/main" id="{0B4AB79D-C2D3-4376-AFCB-EE79D548FF99}"/>
              </a:ext>
            </a:extLst>
          </p:cNvPr>
          <p:cNvSpPr txBox="1"/>
          <p:nvPr/>
        </p:nvSpPr>
        <p:spPr>
          <a:xfrm>
            <a:off x="-26957" y="6550223"/>
            <a:ext cx="12201052" cy="307777"/>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altLang="zh-CN" sz="1400" b="0" i="0" u="none" strike="noStrike" kern="100" cap="none" spc="0" normalizeH="0" baseline="0" noProof="0" dirty="0">
                <a:ln>
                  <a:noFill/>
                </a:ln>
                <a:solidFill>
                  <a:srgbClr val="222222"/>
                </a:solidFill>
                <a:effectLst/>
                <a:uLnTx/>
                <a:uFillTx/>
                <a:latin typeface="Times New Roman" panose="02020603050405020304" pitchFamily="18" charset="0"/>
                <a:ea typeface="宋体" panose="02010600030101010101" pitchFamily="2" charset="-122"/>
                <a:cs typeface="Times New Roman" panose="02020603050405020304" pitchFamily="18" charset="0"/>
              </a:rPr>
              <a:t>Keyu Man,</a:t>
            </a:r>
            <a:r>
              <a:rPr kumimoji="0" lang="zh-CN" altLang="en-US" sz="1400" b="0" i="0" u="none" strike="noStrike" kern="100" cap="none" spc="0" normalizeH="0" baseline="0" noProof="0" dirty="0">
                <a:ln>
                  <a:noFill/>
                </a:ln>
                <a:solidFill>
                  <a:srgbClr val="222222"/>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400" b="0" i="0" u="none" strike="noStrike" kern="100" cap="none" spc="0" normalizeH="0" baseline="0" noProof="0" dirty="0">
                <a:ln>
                  <a:noFill/>
                </a:ln>
                <a:solidFill>
                  <a:srgbClr val="222222"/>
                </a:solidFill>
                <a:effectLst/>
                <a:uLnTx/>
                <a:uFillTx/>
                <a:latin typeface="Times New Roman" panose="02020603050405020304" pitchFamily="18" charset="0"/>
                <a:ea typeface="宋体" panose="02010600030101010101" pitchFamily="2" charset="-122"/>
                <a:cs typeface="Times New Roman" panose="02020603050405020304" pitchFamily="18" charset="0"/>
              </a:rPr>
              <a:t>et al. DNS Cache Poisoning Attack Reloaded: Revolutions with Side Channels [C]  CCS 2020: 1337-1350</a:t>
            </a:r>
            <a:endParaRPr kumimoji="0" lang="zh-CN" altLang="zh-CN" sz="1400" b="0" i="0" u="none" strike="noStrike" kern="1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19" name="文本框 18">
            <a:extLst>
              <a:ext uri="{FF2B5EF4-FFF2-40B4-BE49-F238E27FC236}">
                <a16:creationId xmlns:a16="http://schemas.microsoft.com/office/drawing/2014/main" id="{79219021-1DD2-4C39-A2B9-760B41485678}"/>
              </a:ext>
            </a:extLst>
          </p:cNvPr>
          <p:cNvSpPr txBox="1"/>
          <p:nvPr/>
        </p:nvSpPr>
        <p:spPr>
          <a:xfrm>
            <a:off x="480355" y="1294072"/>
            <a:ext cx="9795352"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利用端口掃描先得到源端口號，再猜測交易</a:t>
            </a:r>
            <a:r>
              <a:rPr kumimoji="0"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ID</a:t>
            </a:r>
            <a:endParaRPr kumimoji="0" lang="zh-CN" altLang="en-US" sz="2400" b="1" i="0" u="none" strike="noStrike" kern="1200" cap="none" spc="0" normalizeH="0" baseline="0" noProof="0" dirty="0">
              <a:ln>
                <a:noFill/>
              </a:ln>
              <a:solidFill>
                <a:srgbClr val="C00000"/>
              </a:solidFill>
              <a:effectLst/>
              <a:uLnTx/>
              <a:uFillTx/>
              <a:latin typeface="Arial"/>
              <a:ea typeface="微软雅黑 Light"/>
              <a:cs typeface="+mn-cs"/>
            </a:endParaRPr>
          </a:p>
        </p:txBody>
      </p:sp>
      <p:pic>
        <p:nvPicPr>
          <p:cNvPr id="4" name="图片 3">
            <a:extLst>
              <a:ext uri="{FF2B5EF4-FFF2-40B4-BE49-F238E27FC236}">
                <a16:creationId xmlns:a16="http://schemas.microsoft.com/office/drawing/2014/main" id="{1FE9B638-D85F-48B9-B5BD-FA8ED12EF447}"/>
              </a:ext>
            </a:extLst>
          </p:cNvPr>
          <p:cNvPicPr>
            <a:picLocks noChangeAspect="1"/>
          </p:cNvPicPr>
          <p:nvPr/>
        </p:nvPicPr>
        <p:blipFill>
          <a:blip r:embed="rId3"/>
          <a:stretch>
            <a:fillRect/>
          </a:stretch>
        </p:blipFill>
        <p:spPr>
          <a:xfrm>
            <a:off x="1007799" y="3882405"/>
            <a:ext cx="4530722" cy="172725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2" name="图片 11">
            <a:extLst>
              <a:ext uri="{FF2B5EF4-FFF2-40B4-BE49-F238E27FC236}">
                <a16:creationId xmlns:a16="http://schemas.microsoft.com/office/drawing/2014/main" id="{831F967B-E2CE-4F2B-A70B-EECFEFBD1812}"/>
              </a:ext>
            </a:extLst>
          </p:cNvPr>
          <p:cNvPicPr>
            <a:picLocks noChangeAspect="1"/>
          </p:cNvPicPr>
          <p:nvPr/>
        </p:nvPicPr>
        <p:blipFill>
          <a:blip r:embed="rId4"/>
          <a:stretch>
            <a:fillRect/>
          </a:stretch>
        </p:blipFill>
        <p:spPr>
          <a:xfrm>
            <a:off x="6569079" y="3831950"/>
            <a:ext cx="3839111" cy="188621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灯片编号占位符 1">
            <a:extLst>
              <a:ext uri="{FF2B5EF4-FFF2-40B4-BE49-F238E27FC236}">
                <a16:creationId xmlns:a16="http://schemas.microsoft.com/office/drawing/2014/main" id="{DF24D0B6-1394-4A67-85CA-BEC15F670AD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864458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normAutofit/>
          </a:bodyPr>
          <a:lstStyle/>
          <a:p>
            <a:r>
              <a:rPr kumimoji="1" lang="zh-CN" altLang="en-US" dirty="0">
                <a:solidFill>
                  <a:srgbClr val="C00000"/>
                </a:solidFill>
              </a:rPr>
              <a:t>拒絕服務攻擊</a:t>
            </a:r>
          </a:p>
        </p:txBody>
      </p:sp>
      <p:sp>
        <p:nvSpPr>
          <p:cNvPr id="4" name="Rectangle 2">
            <a:extLst>
              <a:ext uri="{FF2B5EF4-FFF2-40B4-BE49-F238E27FC236}">
                <a16:creationId xmlns:a16="http://schemas.microsoft.com/office/drawing/2014/main" id="{04BAF8B3-7DA3-41F3-9398-D124234BEFD9}"/>
              </a:ext>
            </a:extLst>
          </p:cNvPr>
          <p:cNvSpPr>
            <a:spLocks noChangeArrowheads="1"/>
          </p:cNvSpPr>
          <p:nvPr/>
        </p:nvSpPr>
        <p:spPr bwMode="auto">
          <a:xfrm>
            <a:off x="2222099" y="3089112"/>
            <a:ext cx="113694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2" name="Rectangle 2">
            <a:extLst>
              <a:ext uri="{FF2B5EF4-FFF2-40B4-BE49-F238E27FC236}">
                <a16:creationId xmlns:a16="http://schemas.microsoft.com/office/drawing/2014/main" id="{50E33959-EC61-4A2C-BA41-AB900E31EE21}"/>
              </a:ext>
            </a:extLst>
          </p:cNvPr>
          <p:cNvSpPr>
            <a:spLocks noChangeArrowheads="1"/>
          </p:cNvSpPr>
          <p:nvPr/>
        </p:nvSpPr>
        <p:spPr bwMode="auto">
          <a:xfrm>
            <a:off x="2059307" y="132863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6" name="Rectangle 2">
            <a:extLst>
              <a:ext uri="{FF2B5EF4-FFF2-40B4-BE49-F238E27FC236}">
                <a16:creationId xmlns:a16="http://schemas.microsoft.com/office/drawing/2014/main" id="{65502313-BB16-4AC2-9EA7-0EDFE9EAEE31}"/>
              </a:ext>
            </a:extLst>
          </p:cNvPr>
          <p:cNvSpPr>
            <a:spLocks noChangeArrowheads="1"/>
          </p:cNvSpPr>
          <p:nvPr/>
        </p:nvSpPr>
        <p:spPr bwMode="auto">
          <a:xfrm>
            <a:off x="143810" y="419524"/>
            <a:ext cx="1731391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14" name="文本框 13">
            <a:extLst>
              <a:ext uri="{FF2B5EF4-FFF2-40B4-BE49-F238E27FC236}">
                <a16:creationId xmlns:a16="http://schemas.microsoft.com/office/drawing/2014/main" id="{788884A0-96F7-45A8-824C-E6BA35A8AFC5}"/>
              </a:ext>
            </a:extLst>
          </p:cNvPr>
          <p:cNvSpPr txBox="1"/>
          <p:nvPr/>
        </p:nvSpPr>
        <p:spPr>
          <a:xfrm>
            <a:off x="5217060" y="2281877"/>
            <a:ext cx="6830377" cy="1253677"/>
          </a:xfrm>
          <a:prstGeom prst="rect">
            <a:avLst/>
          </a:prstGeom>
          <a:noFill/>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如果攻擊者可以成功攻破</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root</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區域的服務器，則整個互聯網將會崩潰。但是由于</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root</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域名服務器基礎設施采用分布式部署方式，很難被全部攻破</a:t>
            </a:r>
          </a:p>
        </p:txBody>
      </p:sp>
      <p:sp>
        <p:nvSpPr>
          <p:cNvPr id="10" name="Rectangle 2">
            <a:extLst>
              <a:ext uri="{FF2B5EF4-FFF2-40B4-BE49-F238E27FC236}">
                <a16:creationId xmlns:a16="http://schemas.microsoft.com/office/drawing/2014/main" id="{82DBCB0D-C797-4B53-99C4-DDF8A0E07DBA}"/>
              </a:ext>
            </a:extLst>
          </p:cNvPr>
          <p:cNvSpPr>
            <a:spLocks noChangeArrowheads="1"/>
          </p:cNvSpPr>
          <p:nvPr/>
        </p:nvSpPr>
        <p:spPr bwMode="auto">
          <a:xfrm>
            <a:off x="484094" y="2278116"/>
            <a:ext cx="1137632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13" name="文本框 12">
            <a:extLst>
              <a:ext uri="{FF2B5EF4-FFF2-40B4-BE49-F238E27FC236}">
                <a16:creationId xmlns:a16="http://schemas.microsoft.com/office/drawing/2014/main" id="{9E241461-90AB-4A1E-A3B4-137AF61E769E}"/>
              </a:ext>
            </a:extLst>
          </p:cNvPr>
          <p:cNvSpPr txBox="1"/>
          <p:nvPr/>
        </p:nvSpPr>
        <p:spPr>
          <a:xfrm>
            <a:off x="5310567" y="4796506"/>
            <a:ext cx="6643361" cy="1253677"/>
          </a:xfrm>
          <a:prstGeom prst="rect">
            <a:avLst/>
          </a:prstGeom>
          <a:noFill/>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2019</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年亞馬遜的雲計算部門</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AWS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遭受了持續了大約八小時的</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DDoS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攻擊，</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AWS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通過</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Shield Advanced</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提供了緩解措施，但無法完全阻止攻擊</a:t>
            </a:r>
          </a:p>
        </p:txBody>
      </p:sp>
      <p:cxnSp>
        <p:nvCxnSpPr>
          <p:cNvPr id="29" name="肘形连接符 3">
            <a:extLst>
              <a:ext uri="{FF2B5EF4-FFF2-40B4-BE49-F238E27FC236}">
                <a16:creationId xmlns:a16="http://schemas.microsoft.com/office/drawing/2014/main" id="{D2D4ACC1-74D4-4D9B-8D05-5DFE059A41E9}"/>
              </a:ext>
            </a:extLst>
          </p:cNvPr>
          <p:cNvCxnSpPr>
            <a:endCxn id="36" idx="2"/>
          </p:cNvCxnSpPr>
          <p:nvPr>
            <p:custDataLst>
              <p:tags r:id="rId1"/>
            </p:custDataLst>
          </p:nvPr>
        </p:nvCxnSpPr>
        <p:spPr>
          <a:xfrm>
            <a:off x="2560880" y="3140044"/>
            <a:ext cx="2161295" cy="1380472"/>
          </a:xfrm>
          <a:prstGeom prst="bentConnector3">
            <a:avLst>
              <a:gd name="adj1" fmla="val 38329"/>
            </a:avLst>
          </a:prstGeom>
          <a:noFill/>
          <a:ln w="41275" cap="flat" cmpd="sng" algn="ctr">
            <a:solidFill>
              <a:srgbClr val="297FD5">
                <a:lumMod val="60000"/>
                <a:lumOff val="40000"/>
              </a:srgbClr>
            </a:solidFill>
            <a:prstDash val="solid"/>
            <a:miter lim="800000"/>
            <a:tailEnd type="triangle"/>
          </a:ln>
          <a:effectLst/>
        </p:spPr>
      </p:cxnSp>
      <p:cxnSp>
        <p:nvCxnSpPr>
          <p:cNvPr id="30" name="肘形连接符 5">
            <a:extLst>
              <a:ext uri="{FF2B5EF4-FFF2-40B4-BE49-F238E27FC236}">
                <a16:creationId xmlns:a16="http://schemas.microsoft.com/office/drawing/2014/main" id="{66B7AAB3-F4C0-4CE9-BD0B-D974A816B6A3}"/>
              </a:ext>
            </a:extLst>
          </p:cNvPr>
          <p:cNvCxnSpPr/>
          <p:nvPr>
            <p:custDataLst>
              <p:tags r:id="rId2"/>
            </p:custDataLst>
          </p:nvPr>
        </p:nvCxnSpPr>
        <p:spPr>
          <a:xfrm flipV="1">
            <a:off x="2747896" y="2045581"/>
            <a:ext cx="1943367" cy="1814610"/>
          </a:xfrm>
          <a:prstGeom prst="bentConnector3">
            <a:avLst>
              <a:gd name="adj1" fmla="val 50000"/>
            </a:avLst>
          </a:prstGeom>
          <a:noFill/>
          <a:ln w="41275" cap="flat" cmpd="sng" algn="ctr">
            <a:solidFill>
              <a:srgbClr val="ACCBF9">
                <a:lumMod val="25000"/>
              </a:srgbClr>
            </a:solidFill>
            <a:prstDash val="solid"/>
            <a:miter lim="800000"/>
            <a:tailEnd type="triangle"/>
          </a:ln>
          <a:effectLst/>
        </p:spPr>
      </p:cxnSp>
      <p:sp>
        <p:nvSpPr>
          <p:cNvPr id="31" name="椭圆 30">
            <a:extLst>
              <a:ext uri="{FF2B5EF4-FFF2-40B4-BE49-F238E27FC236}">
                <a16:creationId xmlns:a16="http://schemas.microsoft.com/office/drawing/2014/main" id="{37DCBC92-3E04-4E19-B848-BC1B5F1EEBB6}"/>
              </a:ext>
            </a:extLst>
          </p:cNvPr>
          <p:cNvSpPr/>
          <p:nvPr>
            <p:custDataLst>
              <p:tags r:id="rId3"/>
            </p:custDataLst>
          </p:nvPr>
        </p:nvSpPr>
        <p:spPr>
          <a:xfrm>
            <a:off x="1131376" y="2687935"/>
            <a:ext cx="1685925" cy="1685925"/>
          </a:xfrm>
          <a:prstGeom prst="ellipse">
            <a:avLst/>
          </a:prstGeom>
          <a:solidFill>
            <a:srgbClr val="00B0F0"/>
          </a:solidFill>
          <a:ln w="28575" cap="flat" cmpd="sng" algn="ctr">
            <a:no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Arial" panose="020B0604020202020204" pitchFamily="34" charset="0"/>
              </a:rPr>
              <a:t>拒絕服務</a:t>
            </a:r>
          </a:p>
        </p:txBody>
      </p:sp>
      <p:sp>
        <p:nvSpPr>
          <p:cNvPr id="33" name="椭圆 32">
            <a:extLst>
              <a:ext uri="{FF2B5EF4-FFF2-40B4-BE49-F238E27FC236}">
                <a16:creationId xmlns:a16="http://schemas.microsoft.com/office/drawing/2014/main" id="{8FA91BFD-F384-4223-AD7B-A851E0F2082E}"/>
              </a:ext>
            </a:extLst>
          </p:cNvPr>
          <p:cNvSpPr/>
          <p:nvPr>
            <p:custDataLst>
              <p:tags r:id="rId4"/>
            </p:custDataLst>
          </p:nvPr>
        </p:nvSpPr>
        <p:spPr>
          <a:xfrm>
            <a:off x="4707154" y="1703368"/>
            <a:ext cx="645795" cy="645795"/>
          </a:xfrm>
          <a:prstGeom prst="ellipse">
            <a:avLst/>
          </a:prstGeom>
          <a:solidFill>
            <a:schemeClr val="accent3"/>
          </a:solidFill>
          <a:ln w="12700" cap="flat" cmpd="sng" algn="ctr">
            <a:noFill/>
            <a:prstDash val="solid"/>
            <a:miter lim="800000"/>
          </a:ln>
          <a:effectLst/>
        </p:spPr>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宋体" panose="02010600030101010101" pitchFamily="2" charset="-122"/>
              <a:cs typeface="+mn-cs"/>
              <a:sym typeface="Arial" panose="020B0604020202020204" pitchFamily="34" charset="0"/>
            </a:endParaRPr>
          </a:p>
        </p:txBody>
      </p:sp>
      <p:sp>
        <p:nvSpPr>
          <p:cNvPr id="36" name="椭圆 35">
            <a:extLst>
              <a:ext uri="{FF2B5EF4-FFF2-40B4-BE49-F238E27FC236}">
                <a16:creationId xmlns:a16="http://schemas.microsoft.com/office/drawing/2014/main" id="{0248D42C-6B31-48E6-A8FE-A760325BCD25}"/>
              </a:ext>
            </a:extLst>
          </p:cNvPr>
          <p:cNvSpPr/>
          <p:nvPr>
            <p:custDataLst>
              <p:tags r:id="rId5"/>
            </p:custDataLst>
          </p:nvPr>
        </p:nvSpPr>
        <p:spPr>
          <a:xfrm>
            <a:off x="4722394" y="4197013"/>
            <a:ext cx="645795" cy="645795"/>
          </a:xfrm>
          <a:prstGeom prst="ellipse">
            <a:avLst/>
          </a:prstGeom>
          <a:solidFill>
            <a:schemeClr val="accent3">
              <a:lumMod val="60000"/>
              <a:lumOff val="40000"/>
            </a:schemeClr>
          </a:solidFill>
          <a:ln w="12700" cap="flat" cmpd="sng" algn="ctr">
            <a:solidFill>
              <a:srgbClr val="00B0F0"/>
            </a:solidFill>
            <a:prstDash val="solid"/>
            <a:miter lim="800000"/>
          </a:ln>
          <a:effectLst/>
        </p:spPr>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宋体" panose="02010600030101010101" pitchFamily="2" charset="-122"/>
              <a:cs typeface="+mn-cs"/>
              <a:sym typeface="Arial" panose="020B0604020202020204" pitchFamily="34" charset="0"/>
            </a:endParaRPr>
          </a:p>
        </p:txBody>
      </p:sp>
      <p:sp>
        <p:nvSpPr>
          <p:cNvPr id="40" name="文本框 31">
            <a:extLst>
              <a:ext uri="{FF2B5EF4-FFF2-40B4-BE49-F238E27FC236}">
                <a16:creationId xmlns:a16="http://schemas.microsoft.com/office/drawing/2014/main" id="{DC0D44C7-A860-4704-8F6A-C8BD536A6488}"/>
              </a:ext>
            </a:extLst>
          </p:cNvPr>
          <p:cNvSpPr txBox="1"/>
          <p:nvPr/>
        </p:nvSpPr>
        <p:spPr>
          <a:xfrm>
            <a:off x="5368189" y="1745812"/>
            <a:ext cx="7167104" cy="438582"/>
          </a:xfrm>
          <a:prstGeom prst="rect">
            <a:avLst/>
          </a:prstGeom>
          <a:noFill/>
        </p:spPr>
        <p:txBody>
          <a:bodyPr wrap="squar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rPr>
              <a:t>對</a:t>
            </a:r>
            <a:r>
              <a:rPr kumimoji="0" lang="en-US" altLang="zh-CN" sz="2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rPr>
              <a:t>root</a:t>
            </a:r>
            <a:r>
              <a:rPr kumimoji="0" lang="zh-CN" altLang="en-US" sz="2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rPr>
              <a:t>和</a:t>
            </a:r>
            <a:r>
              <a:rPr kumimoji="0" lang="en-US" altLang="zh-CN" sz="2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rPr>
              <a:t>TLD</a:t>
            </a:r>
            <a:r>
              <a:rPr kumimoji="0" lang="zh-CN" altLang="en-US" sz="2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rPr>
              <a:t>服務器的拒絕服務攻擊</a:t>
            </a:r>
          </a:p>
        </p:txBody>
      </p:sp>
      <p:sp>
        <p:nvSpPr>
          <p:cNvPr id="43" name="文本框 31">
            <a:extLst>
              <a:ext uri="{FF2B5EF4-FFF2-40B4-BE49-F238E27FC236}">
                <a16:creationId xmlns:a16="http://schemas.microsoft.com/office/drawing/2014/main" id="{EA6569A9-8B2A-4A41-A02F-036620D9EA13}"/>
              </a:ext>
            </a:extLst>
          </p:cNvPr>
          <p:cNvSpPr txBox="1"/>
          <p:nvPr/>
        </p:nvSpPr>
        <p:spPr>
          <a:xfrm>
            <a:off x="5383692" y="4220775"/>
            <a:ext cx="6808307" cy="438582"/>
          </a:xfrm>
          <a:prstGeom prst="rect">
            <a:avLst/>
          </a:prstGeom>
          <a:noFill/>
        </p:spPr>
        <p:txBody>
          <a:bodyPr wrap="squar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rPr>
              <a:t>對特定域名服務器的拒絕服務攻擊</a:t>
            </a:r>
          </a:p>
        </p:txBody>
      </p:sp>
      <p:pic>
        <p:nvPicPr>
          <p:cNvPr id="1026" name="Picture 2">
            <a:extLst>
              <a:ext uri="{FF2B5EF4-FFF2-40B4-BE49-F238E27FC236}">
                <a16:creationId xmlns:a16="http://schemas.microsoft.com/office/drawing/2014/main" id="{5B423080-7EAB-49C2-AAAB-79DEDDF4B55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3810" y="5395309"/>
            <a:ext cx="2256995" cy="1260918"/>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9" name="Picture 2">
            <a:extLst>
              <a:ext uri="{FF2B5EF4-FFF2-40B4-BE49-F238E27FC236}">
                <a16:creationId xmlns:a16="http://schemas.microsoft.com/office/drawing/2014/main" id="{6DDAA721-A1C0-4E72-A954-0BB99A1D40D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37323" y="5395309"/>
            <a:ext cx="2619177" cy="1326166"/>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
        <p:nvSpPr>
          <p:cNvPr id="11" name="灯片编号占位符 10">
            <a:extLst>
              <a:ext uri="{FF2B5EF4-FFF2-40B4-BE49-F238E27FC236}">
                <a16:creationId xmlns:a16="http://schemas.microsoft.com/office/drawing/2014/main" id="{ED9C378F-DFC8-42A0-8270-D89F79CF5090}"/>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24489381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BA10F94F-BCA0-4172-89D3-0BA2C8116186}"/>
              </a:ext>
            </a:extLst>
          </p:cNvPr>
          <p:cNvSpPr>
            <a:spLocks/>
          </p:cNvSpPr>
          <p:nvPr/>
        </p:nvSpPr>
        <p:spPr bwMode="auto">
          <a:xfrm>
            <a:off x="580913" y="1028267"/>
            <a:ext cx="11134837" cy="1108885"/>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normAutofit/>
          </a:bodyPr>
          <a:lstStyle/>
          <a:p>
            <a:r>
              <a:rPr kumimoji="1" lang="zh-CN" altLang="en-US" dirty="0">
                <a:solidFill>
                  <a:srgbClr val="C00000"/>
                </a:solidFill>
              </a:rPr>
              <a:t>攻擊根服務器</a:t>
            </a:r>
            <a:r>
              <a:rPr kumimoji="1" lang="en-US" altLang="zh-CN" dirty="0">
                <a:solidFill>
                  <a:srgbClr val="C00000"/>
                </a:solidFill>
              </a:rPr>
              <a:t>—</a:t>
            </a:r>
            <a:r>
              <a:rPr kumimoji="1" lang="zh-CN" altLang="en-US" dirty="0">
                <a:solidFill>
                  <a:srgbClr val="C00000"/>
                </a:solidFill>
              </a:rPr>
              <a:t>難以成功</a:t>
            </a: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6" name="Rectangle 2">
            <a:extLst>
              <a:ext uri="{FF2B5EF4-FFF2-40B4-BE49-F238E27FC236}">
                <a16:creationId xmlns:a16="http://schemas.microsoft.com/office/drawing/2014/main" id="{65502313-BB16-4AC2-9EA7-0EDFE9EAEE31}"/>
              </a:ext>
            </a:extLst>
          </p:cNvPr>
          <p:cNvSpPr>
            <a:spLocks noChangeArrowheads="1"/>
          </p:cNvSpPr>
          <p:nvPr/>
        </p:nvSpPr>
        <p:spPr bwMode="auto">
          <a:xfrm>
            <a:off x="143810" y="419524"/>
            <a:ext cx="1731391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14" name="文本框 13">
            <a:extLst>
              <a:ext uri="{FF2B5EF4-FFF2-40B4-BE49-F238E27FC236}">
                <a16:creationId xmlns:a16="http://schemas.microsoft.com/office/drawing/2014/main" id="{86F633AF-1F96-4276-97EF-BC1B5CC28D37}"/>
              </a:ext>
            </a:extLst>
          </p:cNvPr>
          <p:cNvSpPr txBox="1"/>
          <p:nvPr/>
        </p:nvSpPr>
        <p:spPr>
          <a:xfrm>
            <a:off x="634701" y="1092576"/>
            <a:ext cx="11155679" cy="853567"/>
          </a:xfrm>
          <a:prstGeom prst="rect">
            <a:avLst/>
          </a:prstGeom>
          <a:noFill/>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根服務器技術：</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IP Anycast</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BGP</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通過</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BGP</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在多個不同地點同時廣播一個</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IP</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地址，</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BGP</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路由器從中選擇（最近）一個作爲路由</a:t>
            </a:r>
          </a:p>
        </p:txBody>
      </p:sp>
      <p:pic>
        <p:nvPicPr>
          <p:cNvPr id="4" name="图片 3">
            <a:extLst>
              <a:ext uri="{FF2B5EF4-FFF2-40B4-BE49-F238E27FC236}">
                <a16:creationId xmlns:a16="http://schemas.microsoft.com/office/drawing/2014/main" id="{4B98CC92-0A03-49C1-ADC9-84EA4442858C}"/>
              </a:ext>
            </a:extLst>
          </p:cNvPr>
          <p:cNvPicPr>
            <a:picLocks noChangeAspect="1"/>
          </p:cNvPicPr>
          <p:nvPr/>
        </p:nvPicPr>
        <p:blipFill>
          <a:blip r:embed="rId3"/>
          <a:stretch>
            <a:fillRect/>
          </a:stretch>
        </p:blipFill>
        <p:spPr>
          <a:xfrm>
            <a:off x="580913" y="2509167"/>
            <a:ext cx="6144482" cy="2143424"/>
          </a:xfrm>
          <a:prstGeom prst="rect">
            <a:avLst/>
          </a:prstGeom>
        </p:spPr>
      </p:pic>
      <p:pic>
        <p:nvPicPr>
          <p:cNvPr id="10" name="图片 9">
            <a:extLst>
              <a:ext uri="{FF2B5EF4-FFF2-40B4-BE49-F238E27FC236}">
                <a16:creationId xmlns:a16="http://schemas.microsoft.com/office/drawing/2014/main" id="{EA68DBA1-8947-4BFB-8D86-C4D571BC6CDC}"/>
              </a:ext>
            </a:extLst>
          </p:cNvPr>
          <p:cNvPicPr>
            <a:picLocks noChangeAspect="1"/>
          </p:cNvPicPr>
          <p:nvPr/>
        </p:nvPicPr>
        <p:blipFill>
          <a:blip r:embed="rId4"/>
          <a:stretch>
            <a:fillRect/>
          </a:stretch>
        </p:blipFill>
        <p:spPr>
          <a:xfrm>
            <a:off x="3660326" y="3007429"/>
            <a:ext cx="7474518" cy="3714046"/>
          </a:xfrm>
          <a:prstGeom prst="rect">
            <a:avLst/>
          </a:prstGeom>
        </p:spPr>
      </p:pic>
      <p:sp>
        <p:nvSpPr>
          <p:cNvPr id="16" name="文本框 15">
            <a:extLst>
              <a:ext uri="{FF2B5EF4-FFF2-40B4-BE49-F238E27FC236}">
                <a16:creationId xmlns:a16="http://schemas.microsoft.com/office/drawing/2014/main" id="{53806BFD-C8ED-4C5A-A278-46985F9A00B2}"/>
              </a:ext>
            </a:extLst>
          </p:cNvPr>
          <p:cNvSpPr txBox="1"/>
          <p:nvPr/>
        </p:nvSpPr>
        <p:spPr>
          <a:xfrm>
            <a:off x="580913" y="5904643"/>
            <a:ext cx="9789458"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As of 02/28/2021 3:53 a.m., the root server system consists of 1370 instances operated by the 12 independent root server operators</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 name="灯片编号占位符 1">
            <a:extLst>
              <a:ext uri="{FF2B5EF4-FFF2-40B4-BE49-F238E27FC236}">
                <a16:creationId xmlns:a16="http://schemas.microsoft.com/office/drawing/2014/main" id="{7FBA5408-965B-4A9E-AC2D-EAD4FD24E4C7}"/>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37983150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3654BDBE-AE16-4D16-B457-6C57D08150E9}"/>
              </a:ext>
            </a:extLst>
          </p:cNvPr>
          <p:cNvSpPr>
            <a:spLocks/>
          </p:cNvSpPr>
          <p:nvPr/>
        </p:nvSpPr>
        <p:spPr bwMode="auto">
          <a:xfrm>
            <a:off x="580913" y="1028267"/>
            <a:ext cx="11263256" cy="1108885"/>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normAutofit/>
          </a:bodyPr>
          <a:lstStyle/>
          <a:p>
            <a:r>
              <a:rPr kumimoji="1" lang="zh-CN" altLang="en-US" dirty="0">
                <a:solidFill>
                  <a:srgbClr val="C00000"/>
                </a:solidFill>
              </a:rPr>
              <a:t>攻擊頂級服務器</a:t>
            </a:r>
            <a:r>
              <a:rPr kumimoji="1" lang="en-US" altLang="zh-CN" dirty="0">
                <a:solidFill>
                  <a:srgbClr val="C00000"/>
                </a:solidFill>
              </a:rPr>
              <a:t>—</a:t>
            </a:r>
            <a:r>
              <a:rPr kumimoji="1" lang="zh-CN" altLang="en-US" dirty="0">
                <a:solidFill>
                  <a:srgbClr val="C00000"/>
                </a:solidFill>
              </a:rPr>
              <a:t>巨大威脅</a:t>
            </a: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6" name="Rectangle 2">
            <a:extLst>
              <a:ext uri="{FF2B5EF4-FFF2-40B4-BE49-F238E27FC236}">
                <a16:creationId xmlns:a16="http://schemas.microsoft.com/office/drawing/2014/main" id="{65502313-BB16-4AC2-9EA7-0EDFE9EAEE31}"/>
              </a:ext>
            </a:extLst>
          </p:cNvPr>
          <p:cNvSpPr>
            <a:spLocks noChangeArrowheads="1"/>
          </p:cNvSpPr>
          <p:nvPr/>
        </p:nvSpPr>
        <p:spPr bwMode="auto">
          <a:xfrm>
            <a:off x="143810" y="419524"/>
            <a:ext cx="1731391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pic>
        <p:nvPicPr>
          <p:cNvPr id="8" name="图片 7">
            <a:extLst>
              <a:ext uri="{FF2B5EF4-FFF2-40B4-BE49-F238E27FC236}">
                <a16:creationId xmlns:a16="http://schemas.microsoft.com/office/drawing/2014/main" id="{317AC7E9-404E-48C5-BF68-72F759B4084F}"/>
              </a:ext>
            </a:extLst>
          </p:cNvPr>
          <p:cNvPicPr>
            <a:picLocks noChangeAspect="1"/>
          </p:cNvPicPr>
          <p:nvPr/>
        </p:nvPicPr>
        <p:blipFill>
          <a:blip r:embed="rId3"/>
          <a:stretch>
            <a:fillRect/>
          </a:stretch>
        </p:blipFill>
        <p:spPr>
          <a:xfrm>
            <a:off x="5704710" y="2254932"/>
            <a:ext cx="6163535" cy="4001058"/>
          </a:xfrm>
          <a:prstGeom prst="rect">
            <a:avLst/>
          </a:prstGeom>
          <a:ln>
            <a:solidFill>
              <a:schemeClr val="bg1">
                <a:lumMod val="85000"/>
              </a:schemeClr>
            </a:solidFill>
          </a:ln>
        </p:spPr>
      </p:pic>
      <p:sp>
        <p:nvSpPr>
          <p:cNvPr id="14" name="文本框 13">
            <a:extLst>
              <a:ext uri="{FF2B5EF4-FFF2-40B4-BE49-F238E27FC236}">
                <a16:creationId xmlns:a16="http://schemas.microsoft.com/office/drawing/2014/main" id="{86F633AF-1F96-4276-97EF-BC1B5CC28D37}"/>
              </a:ext>
            </a:extLst>
          </p:cNvPr>
          <p:cNvSpPr txBox="1"/>
          <p:nvPr/>
        </p:nvSpPr>
        <p:spPr>
          <a:xfrm>
            <a:off x="709501" y="1173506"/>
            <a:ext cx="11155679" cy="853567"/>
          </a:xfrm>
          <a:prstGeom prst="rect">
            <a:avLst/>
          </a:prstGeom>
          <a:noFill/>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2013</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8</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25</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日淩晨，</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.CN</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域名淩晨出現大範圍解析故障，導致大面積</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.CN</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域名無法解析，直到當日淩晨</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點左右，</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CN</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根域名服務器解析才開始部分恢復</a:t>
            </a:r>
          </a:p>
        </p:txBody>
      </p:sp>
      <p:pic>
        <p:nvPicPr>
          <p:cNvPr id="2050" name="Picture 2" descr="查看源图像">
            <a:extLst>
              <a:ext uri="{FF2B5EF4-FFF2-40B4-BE49-F238E27FC236}">
                <a16:creationId xmlns:a16="http://schemas.microsoft.com/office/drawing/2014/main" id="{6CB8F726-BC78-4520-BC8B-0358F37B75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913" y="3740150"/>
            <a:ext cx="4886325" cy="2981325"/>
          </a:xfrm>
          <a:prstGeom prst="rect">
            <a:avLst/>
          </a:prstGeom>
          <a:noFill/>
          <a:extLst>
            <a:ext uri="{909E8E84-426E-40DD-AFC4-6F175D3DCCD1}">
              <a14:hiddenFill xmlns:a14="http://schemas.microsoft.com/office/drawing/2010/main">
                <a:solidFill>
                  <a:srgbClr val="FFFFFF"/>
                </a:solidFill>
              </a14:hiddenFill>
            </a:ext>
          </a:extLst>
        </p:spPr>
      </p:pic>
      <p:pic>
        <p:nvPicPr>
          <p:cNvPr id="13" name="图片 12">
            <a:extLst>
              <a:ext uri="{FF2B5EF4-FFF2-40B4-BE49-F238E27FC236}">
                <a16:creationId xmlns:a16="http://schemas.microsoft.com/office/drawing/2014/main" id="{8C6FC29D-ED4A-43BF-B681-58089F60C833}"/>
              </a:ext>
            </a:extLst>
          </p:cNvPr>
          <p:cNvPicPr>
            <a:picLocks noChangeAspect="1"/>
          </p:cNvPicPr>
          <p:nvPr/>
        </p:nvPicPr>
        <p:blipFill>
          <a:blip r:embed="rId5"/>
          <a:stretch>
            <a:fillRect/>
          </a:stretch>
        </p:blipFill>
        <p:spPr>
          <a:xfrm>
            <a:off x="580913" y="2259861"/>
            <a:ext cx="4886325" cy="1480289"/>
          </a:xfrm>
          <a:prstGeom prst="rect">
            <a:avLst/>
          </a:prstGeom>
          <a:ln>
            <a:solidFill>
              <a:schemeClr val="bg1">
                <a:lumMod val="85000"/>
              </a:schemeClr>
            </a:solidFill>
          </a:ln>
        </p:spPr>
      </p:pic>
      <p:sp>
        <p:nvSpPr>
          <p:cNvPr id="2" name="灯片编号占位符 1">
            <a:extLst>
              <a:ext uri="{FF2B5EF4-FFF2-40B4-BE49-F238E27FC236}">
                <a16:creationId xmlns:a16="http://schemas.microsoft.com/office/drawing/2014/main" id="{722E8C50-00F1-4FEB-B8E8-4E064484C2E0}"/>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8937710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AD8C89FA-B6CC-4B80-A422-D077178423C1}"/>
              </a:ext>
            </a:extLst>
          </p:cNvPr>
          <p:cNvSpPr>
            <a:spLocks/>
          </p:cNvSpPr>
          <p:nvPr/>
        </p:nvSpPr>
        <p:spPr bwMode="auto">
          <a:xfrm>
            <a:off x="266598" y="1028267"/>
            <a:ext cx="11658804" cy="740191"/>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normAutofit/>
          </a:bodyPr>
          <a:lstStyle/>
          <a:p>
            <a:r>
              <a:rPr kumimoji="1" lang="zh-CN" altLang="en-US" dirty="0">
                <a:solidFill>
                  <a:srgbClr val="C00000"/>
                </a:solidFill>
              </a:rPr>
              <a:t>攻擊特定域名服務器</a:t>
            </a:r>
            <a:r>
              <a:rPr kumimoji="1" lang="en-US" altLang="zh-CN" dirty="0">
                <a:solidFill>
                  <a:srgbClr val="C00000"/>
                </a:solidFill>
              </a:rPr>
              <a:t>—</a:t>
            </a:r>
            <a:r>
              <a:rPr kumimoji="1" lang="zh-CN" altLang="en-US" dirty="0">
                <a:solidFill>
                  <a:srgbClr val="C00000"/>
                </a:solidFill>
              </a:rPr>
              <a:t>影響深遠</a:t>
            </a: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2152650"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2" name="Rectangle 2">
            <a:extLst>
              <a:ext uri="{FF2B5EF4-FFF2-40B4-BE49-F238E27FC236}">
                <a16:creationId xmlns:a16="http://schemas.microsoft.com/office/drawing/2014/main" id="{50E33959-EC61-4A2C-BA41-AB900E31EE21}"/>
              </a:ext>
            </a:extLst>
          </p:cNvPr>
          <p:cNvSpPr>
            <a:spLocks noChangeArrowheads="1"/>
          </p:cNvSpPr>
          <p:nvPr/>
        </p:nvSpPr>
        <p:spPr bwMode="auto">
          <a:xfrm>
            <a:off x="2059307" y="132863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6" name="Rectangle 2">
            <a:extLst>
              <a:ext uri="{FF2B5EF4-FFF2-40B4-BE49-F238E27FC236}">
                <a16:creationId xmlns:a16="http://schemas.microsoft.com/office/drawing/2014/main" id="{65502313-BB16-4AC2-9EA7-0EDFE9EAEE31}"/>
              </a:ext>
            </a:extLst>
          </p:cNvPr>
          <p:cNvSpPr>
            <a:spLocks noChangeArrowheads="1"/>
          </p:cNvSpPr>
          <p:nvPr/>
        </p:nvSpPr>
        <p:spPr bwMode="auto">
          <a:xfrm>
            <a:off x="143810" y="419524"/>
            <a:ext cx="1731391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pic>
        <p:nvPicPr>
          <p:cNvPr id="12" name="图片 11">
            <a:extLst>
              <a:ext uri="{FF2B5EF4-FFF2-40B4-BE49-F238E27FC236}">
                <a16:creationId xmlns:a16="http://schemas.microsoft.com/office/drawing/2014/main" id="{AF8421D4-21EC-40B0-A156-51D867D7DE18}"/>
              </a:ext>
            </a:extLst>
          </p:cNvPr>
          <p:cNvPicPr>
            <a:picLocks noChangeAspect="1"/>
          </p:cNvPicPr>
          <p:nvPr/>
        </p:nvPicPr>
        <p:blipFill>
          <a:blip r:embed="rId3"/>
          <a:stretch>
            <a:fillRect/>
          </a:stretch>
        </p:blipFill>
        <p:spPr>
          <a:xfrm>
            <a:off x="5676130" y="1825386"/>
            <a:ext cx="6249272" cy="4820323"/>
          </a:xfrm>
          <a:prstGeom prst="rect">
            <a:avLst/>
          </a:prstGeom>
          <a:ln>
            <a:noFill/>
          </a:ln>
          <a:effectLst>
            <a:outerShdw blurRad="292100" dist="139700" dir="2700000" algn="tl" rotWithShape="0">
              <a:srgbClr val="333333">
                <a:alpha val="65000"/>
              </a:srgbClr>
            </a:outerShdw>
          </a:effectLst>
        </p:spPr>
      </p:pic>
      <p:pic>
        <p:nvPicPr>
          <p:cNvPr id="11" name="Picture 2" descr="查看源图像">
            <a:extLst>
              <a:ext uri="{FF2B5EF4-FFF2-40B4-BE49-F238E27FC236}">
                <a16:creationId xmlns:a16="http://schemas.microsoft.com/office/drawing/2014/main" id="{E4D22259-B4F7-48C2-A787-EE3A741D8F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598" y="4350080"/>
            <a:ext cx="5175049" cy="22310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27089BA-393C-4907-A1A5-0812409D71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597" y="2206174"/>
            <a:ext cx="5175049" cy="20293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4" name="Shape 489">
            <a:extLst>
              <a:ext uri="{FF2B5EF4-FFF2-40B4-BE49-F238E27FC236}">
                <a16:creationId xmlns:a16="http://schemas.microsoft.com/office/drawing/2014/main" id="{58D5467B-A640-4421-AD80-DCA390FBAE7E}"/>
              </a:ext>
            </a:extLst>
          </p:cNvPr>
          <p:cNvSpPr txBox="1">
            <a:spLocks/>
          </p:cNvSpPr>
          <p:nvPr/>
        </p:nvSpPr>
        <p:spPr>
          <a:xfrm>
            <a:off x="609477" y="1057651"/>
            <a:ext cx="11582523" cy="1625700"/>
          </a:xfrm>
          <a:prstGeom prst="rect">
            <a:avLst/>
          </a:prstGeom>
        </p:spPr>
        <p:txBody>
          <a:bodyPr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en-GB"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2016</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年，攻擊者控制大量物聯網設備發起</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DDoS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攻擊，造成</a:t>
            </a:r>
            <a:r>
              <a:rPr kumimoji="0" lang="en-GB"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CNN,BBC</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GB"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PayPal</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等網站無法訪問</a:t>
            </a:r>
            <a:endParaRPr kumimoji="0" lang="en-GB"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 name="灯片编号占位符 3">
            <a:extLst>
              <a:ext uri="{FF2B5EF4-FFF2-40B4-BE49-F238E27FC236}">
                <a16:creationId xmlns:a16="http://schemas.microsoft.com/office/drawing/2014/main" id="{908A40E7-7392-40F3-BFA2-E79FE260E03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38907227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06F9E909-0BEA-4B95-B906-E1AC9C174C58}"/>
              </a:ext>
            </a:extLst>
          </p:cNvPr>
          <p:cNvSpPr>
            <a:spLocks/>
          </p:cNvSpPr>
          <p:nvPr/>
        </p:nvSpPr>
        <p:spPr bwMode="auto">
          <a:xfrm>
            <a:off x="3551891" y="3734595"/>
            <a:ext cx="7493645" cy="2354478"/>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22" name="矩形 21">
            <a:extLst>
              <a:ext uri="{FF2B5EF4-FFF2-40B4-BE49-F238E27FC236}">
                <a16:creationId xmlns:a16="http://schemas.microsoft.com/office/drawing/2014/main" id="{7D1CAD41-C85A-47EB-A8D4-F01EE48670FF}"/>
              </a:ext>
            </a:extLst>
          </p:cNvPr>
          <p:cNvSpPr>
            <a:spLocks/>
          </p:cNvSpPr>
          <p:nvPr/>
        </p:nvSpPr>
        <p:spPr bwMode="auto">
          <a:xfrm>
            <a:off x="3551891" y="1744181"/>
            <a:ext cx="7493645" cy="1861551"/>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2" name="标题 1">
            <a:extLst>
              <a:ext uri="{FF2B5EF4-FFF2-40B4-BE49-F238E27FC236}">
                <a16:creationId xmlns:a16="http://schemas.microsoft.com/office/drawing/2014/main" id="{2223D1E2-29B0-CD4E-B1BB-E88463B03E2E}"/>
              </a:ext>
            </a:extLst>
          </p:cNvPr>
          <p:cNvSpPr>
            <a:spLocks noGrp="1"/>
          </p:cNvSpPr>
          <p:nvPr>
            <p:ph type="title"/>
          </p:nvPr>
        </p:nvSpPr>
        <p:spPr>
          <a:xfrm>
            <a:off x="1131376" y="136525"/>
            <a:ext cx="10222424" cy="725407"/>
          </a:xfrm>
        </p:spPr>
        <p:txBody>
          <a:bodyPr>
            <a:normAutofit/>
          </a:bodyPr>
          <a:lstStyle/>
          <a:p>
            <a:r>
              <a:rPr kumimoji="1" lang="en-US" altLang="zh-CN" dirty="0">
                <a:solidFill>
                  <a:srgbClr val="C00000"/>
                </a:solidFill>
              </a:rPr>
              <a:t>DNS</a:t>
            </a:r>
            <a:r>
              <a:rPr kumimoji="1" lang="zh-CN" altLang="en-US" dirty="0">
                <a:solidFill>
                  <a:srgbClr val="C00000"/>
                </a:solidFill>
              </a:rPr>
              <a:t>安全問題的原因及特徵</a:t>
            </a:r>
          </a:p>
        </p:txBody>
      </p:sp>
      <p:sp>
        <p:nvSpPr>
          <p:cNvPr id="4" name="矩形 3">
            <a:extLst>
              <a:ext uri="{FF2B5EF4-FFF2-40B4-BE49-F238E27FC236}">
                <a16:creationId xmlns:a16="http://schemas.microsoft.com/office/drawing/2014/main" id="{C737D66F-D525-7742-A502-5B8379210E83}"/>
              </a:ext>
            </a:extLst>
          </p:cNvPr>
          <p:cNvSpPr/>
          <p:nvPr/>
        </p:nvSpPr>
        <p:spPr>
          <a:xfrm>
            <a:off x="3775826" y="1882792"/>
            <a:ext cx="6096000" cy="484107"/>
          </a:xfrm>
          <a:prstGeom prst="rect">
            <a:avLst/>
          </a:prstGeom>
        </p:spPr>
        <p:txBody>
          <a:bodyPr>
            <a:spAutoFit/>
          </a:bodyPr>
          <a:lstStyle/>
          <a:p>
            <a:pPr marL="133350" marR="0" lvl="0" indent="0" algn="just" defTabSz="914400" rtl="0" eaLnBrk="1" fontAlgn="auto" latinLnBrk="0" hangingPunct="1">
              <a:lnSpc>
                <a:spcPct val="115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DNS</a:t>
            </a:r>
            <a:r>
              <a:rPr kumimoji="0" lang="zh-CN" altLang="en-US" sz="2400" b="1" i="0" u="none" strike="noStrike" kern="1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安全問題的本質原因？</a:t>
            </a:r>
            <a:endParaRPr kumimoji="0" lang="zh-CN" altLang="zh-CN" sz="2400" b="1" i="0" u="none" strike="noStrike" kern="1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6" name="TextBox 9">
            <a:extLst>
              <a:ext uri="{FF2B5EF4-FFF2-40B4-BE49-F238E27FC236}">
                <a16:creationId xmlns:a16="http://schemas.microsoft.com/office/drawing/2014/main" id="{969F9498-5D33-4392-AB6C-4D73D4B1E926}"/>
              </a:ext>
            </a:extLst>
          </p:cNvPr>
          <p:cNvSpPr txBox="1">
            <a:spLocks noChangeArrowheads="1"/>
          </p:cNvSpPr>
          <p:nvPr/>
        </p:nvSpPr>
        <p:spPr bwMode="auto">
          <a:xfrm>
            <a:off x="3884496" y="2313926"/>
            <a:ext cx="6572876" cy="1253677"/>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0" lang="zh-CN"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客觀上</a:t>
            </a:r>
            <a:r>
              <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協議</a:t>
            </a:r>
            <a:r>
              <a:rPr kumimoji="0" lang="zh-CN"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設計的不</a:t>
            </a:r>
            <a:r>
              <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完備，緩存等面向性能優化的設計帶來了安全風險</a:t>
            </a:r>
            <a:endPar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2.</a:t>
            </a:r>
            <a:r>
              <a:rPr kumimoji="0" lang="zh-CN"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主觀上</a:t>
            </a:r>
            <a:r>
              <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基于利益驅動，</a:t>
            </a:r>
            <a:r>
              <a:rPr kumimoji="0" lang="zh-CN"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攻擊者不斷挖掘</a:t>
            </a:r>
            <a:r>
              <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漏洞</a:t>
            </a:r>
          </a:p>
        </p:txBody>
      </p:sp>
      <p:sp>
        <p:nvSpPr>
          <p:cNvPr id="7" name="矩形 6">
            <a:extLst>
              <a:ext uri="{FF2B5EF4-FFF2-40B4-BE49-F238E27FC236}">
                <a16:creationId xmlns:a16="http://schemas.microsoft.com/office/drawing/2014/main" id="{FE5335A8-E0E2-455E-B5A8-A2CACA865C5D}"/>
              </a:ext>
            </a:extLst>
          </p:cNvPr>
          <p:cNvSpPr/>
          <p:nvPr/>
        </p:nvSpPr>
        <p:spPr>
          <a:xfrm>
            <a:off x="3824415" y="4047181"/>
            <a:ext cx="6096000" cy="484107"/>
          </a:xfrm>
          <a:prstGeom prst="rect">
            <a:avLst/>
          </a:prstGeom>
        </p:spPr>
        <p:txBody>
          <a:bodyPr>
            <a:spAutoFit/>
          </a:bodyPr>
          <a:lstStyle/>
          <a:p>
            <a:pPr marL="133350" marR="0" lvl="0" indent="0" algn="just" defTabSz="914400" rtl="0" eaLnBrk="1" fontAlgn="auto" latinLnBrk="0" hangingPunct="1">
              <a:lnSpc>
                <a:spcPct val="115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DNS</a:t>
            </a:r>
            <a:r>
              <a:rPr kumimoji="0" lang="zh-CN" altLang="en-US" sz="2400" b="1" i="0" u="none" strike="noStrike" kern="1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攻擊有哪些共有特徵？</a:t>
            </a:r>
            <a:endParaRPr kumimoji="0" lang="zh-CN" altLang="zh-CN" sz="2400" b="1" i="0" u="none" strike="noStrike" kern="1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TextBox 9">
            <a:extLst>
              <a:ext uri="{FF2B5EF4-FFF2-40B4-BE49-F238E27FC236}">
                <a16:creationId xmlns:a16="http://schemas.microsoft.com/office/drawing/2014/main" id="{FCD01F2E-E60E-49D2-A5AC-9F6F4C352663}"/>
              </a:ext>
            </a:extLst>
          </p:cNvPr>
          <p:cNvSpPr txBox="1">
            <a:spLocks noChangeArrowheads="1"/>
          </p:cNvSpPr>
          <p:nvPr/>
        </p:nvSpPr>
        <p:spPr bwMode="auto">
          <a:xfrm>
            <a:off x="3933085" y="4504139"/>
            <a:ext cx="6809878" cy="1253677"/>
          </a:xfrm>
          <a:prstGeom prst="rect">
            <a:avLst/>
          </a:prstGeom>
          <a:noFill/>
          <a:ln w="9525">
            <a:noFill/>
            <a:miter lim="800000"/>
            <a:headEnd/>
            <a:tailEnd/>
          </a:ln>
        </p:spPr>
        <p:txBody>
          <a:bodyPr wrap="none">
            <a:spAutoFit/>
          </a:bodyPr>
          <a:lstStyle>
            <a:defPPr>
              <a:defRPr lang="zh-CN"/>
            </a:defPPr>
            <a:lvl1pPr>
              <a:lnSpc>
                <a:spcPct val="130000"/>
              </a:lnSpc>
              <a:defRPr sz="2400">
                <a:latin typeface="Microsoft YaHei" panose="020B0503020204020204" pitchFamily="34" charset="-122"/>
                <a:ea typeface="Microsoft YaHei" panose="020B0503020204020204" pitchFamily="34" charset="-122"/>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針對明文傳輸和無身份認證的實體進行欺騙性攻擊</a:t>
            </a:r>
            <a:endPar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2.</a:t>
            </a:r>
            <a:r>
              <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尋找幷突破域名間複雜依賴關係，實現對域名服務器攻擊</a:t>
            </a:r>
            <a:endPar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3.</a:t>
            </a:r>
            <a:r>
              <a:rPr kumimoji="0" lang="zh-CN" altLang="en-US"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針對防護措施不足的服務器發起拒絕服務攻擊</a:t>
            </a:r>
          </a:p>
        </p:txBody>
      </p:sp>
      <p:sp>
        <p:nvSpPr>
          <p:cNvPr id="12" name="Arc 41">
            <a:extLst>
              <a:ext uri="{FF2B5EF4-FFF2-40B4-BE49-F238E27FC236}">
                <a16:creationId xmlns:a16="http://schemas.microsoft.com/office/drawing/2014/main" id="{C2661353-76FE-4A34-9895-5938671E543A}"/>
              </a:ext>
            </a:extLst>
          </p:cNvPr>
          <p:cNvSpPr/>
          <p:nvPr/>
        </p:nvSpPr>
        <p:spPr bwMode="auto">
          <a:xfrm rot="7200000">
            <a:off x="367488" y="2431444"/>
            <a:ext cx="2722563" cy="2724150"/>
          </a:xfrm>
          <a:prstGeom prst="arc">
            <a:avLst>
              <a:gd name="adj1" fmla="val 13037108"/>
              <a:gd name="adj2" fmla="val 20341672"/>
            </a:avLst>
          </a:prstGeom>
          <a:ln w="307975">
            <a:solidFill>
              <a:srgbClr val="00B0F0"/>
            </a:solidFill>
            <a:tailEnd type="none" w="med" len="sm"/>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微软雅黑 Light"/>
              <a:cs typeface="+mn-ea"/>
              <a:sym typeface="+mn-lt"/>
            </a:endParaRPr>
          </a:p>
        </p:txBody>
      </p:sp>
      <p:sp>
        <p:nvSpPr>
          <p:cNvPr id="13" name="Arc 44">
            <a:extLst>
              <a:ext uri="{FF2B5EF4-FFF2-40B4-BE49-F238E27FC236}">
                <a16:creationId xmlns:a16="http://schemas.microsoft.com/office/drawing/2014/main" id="{F851029D-DB9E-4343-8B7F-945B23C7B890}"/>
              </a:ext>
            </a:extLst>
          </p:cNvPr>
          <p:cNvSpPr/>
          <p:nvPr/>
        </p:nvSpPr>
        <p:spPr bwMode="auto">
          <a:xfrm>
            <a:off x="366694" y="2432238"/>
            <a:ext cx="2724150" cy="2722563"/>
          </a:xfrm>
          <a:prstGeom prst="arc">
            <a:avLst>
              <a:gd name="adj1" fmla="val 13124794"/>
              <a:gd name="adj2" fmla="val 20775230"/>
            </a:avLst>
          </a:prstGeom>
          <a:ln w="307975">
            <a:solidFill>
              <a:schemeClr val="accent1"/>
            </a:solidFill>
            <a:tailEnd type="none" w="med" len="sm"/>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微软雅黑 Light"/>
              <a:cs typeface="+mn-ea"/>
              <a:sym typeface="+mn-lt"/>
            </a:endParaRPr>
          </a:p>
        </p:txBody>
      </p:sp>
      <p:sp>
        <p:nvSpPr>
          <p:cNvPr id="14" name="Arc 45">
            <a:extLst>
              <a:ext uri="{FF2B5EF4-FFF2-40B4-BE49-F238E27FC236}">
                <a16:creationId xmlns:a16="http://schemas.microsoft.com/office/drawing/2014/main" id="{B00388A7-CDD4-4CD5-A32E-17494BE52BCC}"/>
              </a:ext>
            </a:extLst>
          </p:cNvPr>
          <p:cNvSpPr/>
          <p:nvPr/>
        </p:nvSpPr>
        <p:spPr bwMode="auto">
          <a:xfrm rot="14400000">
            <a:off x="367488" y="2431444"/>
            <a:ext cx="2722563" cy="2724150"/>
          </a:xfrm>
          <a:prstGeom prst="arc">
            <a:avLst>
              <a:gd name="adj1" fmla="val 13009644"/>
              <a:gd name="adj2" fmla="val 20438234"/>
            </a:avLst>
          </a:prstGeom>
          <a:ln w="307975">
            <a:solidFill>
              <a:schemeClr val="accent3"/>
            </a:solidFill>
            <a:tailEnd type="none" w="med" len="sm"/>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微软雅黑 Light"/>
              <a:cs typeface="+mn-ea"/>
              <a:sym typeface="+mn-lt"/>
            </a:endParaRPr>
          </a:p>
        </p:txBody>
      </p:sp>
      <p:sp>
        <p:nvSpPr>
          <p:cNvPr id="15" name="Isosceles Triangle 46">
            <a:extLst>
              <a:ext uri="{FF2B5EF4-FFF2-40B4-BE49-F238E27FC236}">
                <a16:creationId xmlns:a16="http://schemas.microsoft.com/office/drawing/2014/main" id="{88B589BA-64F9-490D-92E0-9BB9E2BB9565}"/>
              </a:ext>
            </a:extLst>
          </p:cNvPr>
          <p:cNvSpPr/>
          <p:nvPr/>
        </p:nvSpPr>
        <p:spPr bwMode="auto">
          <a:xfrm rot="9936452">
            <a:off x="2587607" y="3429187"/>
            <a:ext cx="1006475" cy="661987"/>
          </a:xfrm>
          <a:prstGeom prst="triangle">
            <a:avLst>
              <a:gd name="adj" fmla="val 48198"/>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微软雅黑 Light"/>
              <a:cs typeface="+mn-ea"/>
              <a:sym typeface="+mn-lt"/>
            </a:endParaRPr>
          </a:p>
        </p:txBody>
      </p:sp>
      <p:sp>
        <p:nvSpPr>
          <p:cNvPr id="16" name="Isosceles Triangle 47">
            <a:extLst>
              <a:ext uri="{FF2B5EF4-FFF2-40B4-BE49-F238E27FC236}">
                <a16:creationId xmlns:a16="http://schemas.microsoft.com/office/drawing/2014/main" id="{6FF120B5-7DAA-4DF0-B5C9-FA6B928B5C5F}"/>
              </a:ext>
            </a:extLst>
          </p:cNvPr>
          <p:cNvSpPr/>
          <p:nvPr/>
        </p:nvSpPr>
        <p:spPr bwMode="auto">
          <a:xfrm rot="2734381">
            <a:off x="305576" y="2518757"/>
            <a:ext cx="1006475" cy="661987"/>
          </a:xfrm>
          <a:prstGeom prst="triangl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微软雅黑 Light"/>
              <a:cs typeface="+mn-ea"/>
              <a:sym typeface="+mn-lt"/>
            </a:endParaRPr>
          </a:p>
        </p:txBody>
      </p:sp>
      <p:sp>
        <p:nvSpPr>
          <p:cNvPr id="17" name="Isosceles Triangle 48">
            <a:extLst>
              <a:ext uri="{FF2B5EF4-FFF2-40B4-BE49-F238E27FC236}">
                <a16:creationId xmlns:a16="http://schemas.microsoft.com/office/drawing/2014/main" id="{C21C032E-8C12-4A2F-AAA4-CF3D5366E0DA}"/>
              </a:ext>
            </a:extLst>
          </p:cNvPr>
          <p:cNvSpPr/>
          <p:nvPr/>
        </p:nvSpPr>
        <p:spPr bwMode="auto">
          <a:xfrm rot="17179612">
            <a:off x="875488" y="4725381"/>
            <a:ext cx="1006475" cy="661988"/>
          </a:xfrm>
          <a:prstGeom prst="triangle">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微软雅黑 Light"/>
              <a:cs typeface="+mn-ea"/>
              <a:sym typeface="+mn-lt"/>
            </a:endParaRPr>
          </a:p>
        </p:txBody>
      </p:sp>
      <p:sp>
        <p:nvSpPr>
          <p:cNvPr id="18" name="Round Same Side Corner Rectangle 49">
            <a:extLst>
              <a:ext uri="{FF2B5EF4-FFF2-40B4-BE49-F238E27FC236}">
                <a16:creationId xmlns:a16="http://schemas.microsoft.com/office/drawing/2014/main" id="{48670B50-67B7-4FBC-857E-6CA04809F28D}"/>
              </a:ext>
            </a:extLst>
          </p:cNvPr>
          <p:cNvSpPr/>
          <p:nvPr/>
        </p:nvSpPr>
        <p:spPr>
          <a:xfrm rot="10800000" flipH="1">
            <a:off x="3712326" y="1889031"/>
            <a:ext cx="66675" cy="1608012"/>
          </a:xfrm>
          <a:prstGeom prst="round2SameRect">
            <a:avLst>
              <a:gd name="adj1" fmla="val 50000"/>
              <a:gd name="adj2" fmla="val 50000"/>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lIns="109710" tIns="54855" rIns="109710" bIns="54855" anchor="ct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bg-BG" sz="900" b="0" i="0" u="none" strike="noStrike" kern="1200" cap="none" spc="0" normalizeH="0" baseline="0" noProof="0" dirty="0">
              <a:ln>
                <a:noFill/>
              </a:ln>
              <a:solidFill>
                <a:srgbClr val="FFFFFF"/>
              </a:solidFill>
              <a:effectLst/>
              <a:uLnTx/>
              <a:uFillTx/>
              <a:latin typeface="Arial"/>
              <a:ea typeface="微软雅黑 Light"/>
              <a:cs typeface="+mn-ea"/>
              <a:sym typeface="+mn-lt"/>
            </a:endParaRPr>
          </a:p>
        </p:txBody>
      </p:sp>
      <p:sp>
        <p:nvSpPr>
          <p:cNvPr id="19" name="Round Same Side Corner Rectangle 50">
            <a:extLst>
              <a:ext uri="{FF2B5EF4-FFF2-40B4-BE49-F238E27FC236}">
                <a16:creationId xmlns:a16="http://schemas.microsoft.com/office/drawing/2014/main" id="{BBE197B5-1623-4F49-AA0C-DBEB8B8D0C1B}"/>
              </a:ext>
            </a:extLst>
          </p:cNvPr>
          <p:cNvSpPr/>
          <p:nvPr/>
        </p:nvSpPr>
        <p:spPr>
          <a:xfrm rot="10800000" flipH="1">
            <a:off x="3709151" y="4057758"/>
            <a:ext cx="66675" cy="1608012"/>
          </a:xfrm>
          <a:prstGeom prst="round2SameRect">
            <a:avLst>
              <a:gd name="adj1" fmla="val 50000"/>
              <a:gd name="adj2"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9710" tIns="54855" rIns="109710" bIns="54855" anchor="ct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bg-BG" sz="900" b="0" i="0" u="none" strike="noStrike" kern="1200" cap="none" spc="0" normalizeH="0" baseline="0" noProof="0" dirty="0">
              <a:ln>
                <a:noFill/>
              </a:ln>
              <a:solidFill>
                <a:srgbClr val="FFFFFF"/>
              </a:solidFill>
              <a:effectLst/>
              <a:uLnTx/>
              <a:uFillTx/>
              <a:latin typeface="Arial"/>
              <a:ea typeface="微软雅黑 Light"/>
              <a:cs typeface="+mn-ea"/>
              <a:sym typeface="+mn-lt"/>
            </a:endParaRPr>
          </a:p>
        </p:txBody>
      </p:sp>
      <p:sp>
        <p:nvSpPr>
          <p:cNvPr id="3" name="灯片编号占位符 2">
            <a:extLst>
              <a:ext uri="{FF2B5EF4-FFF2-40B4-BE49-F238E27FC236}">
                <a16:creationId xmlns:a16="http://schemas.microsoft.com/office/drawing/2014/main" id="{28FEEBF9-7D11-4FF7-9869-22CDF9756B2C}"/>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23065727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1EE29A1-C89A-8644-9C6C-B4B5595B99BE}"/>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 name="矩形 2">
            <a:extLst>
              <a:ext uri="{FF2B5EF4-FFF2-40B4-BE49-F238E27FC236}">
                <a16:creationId xmlns:a16="http://schemas.microsoft.com/office/drawing/2014/main" id="{95390BD7-9E9C-0D4E-A92D-6F6196C9DABC}"/>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4" name="椭圆 3">
            <a:extLst>
              <a:ext uri="{FF2B5EF4-FFF2-40B4-BE49-F238E27FC236}">
                <a16:creationId xmlns:a16="http://schemas.microsoft.com/office/drawing/2014/main" id="{BF9CDFA6-B029-6B4C-B9E4-7CF16FFE8CAE}"/>
              </a:ext>
            </a:extLst>
          </p:cNvPr>
          <p:cNvSpPr/>
          <p:nvPr/>
        </p:nvSpPr>
        <p:spPr>
          <a:xfrm>
            <a:off x="2038665" y="124711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pic>
        <p:nvPicPr>
          <p:cNvPr id="23" name="图片 22">
            <a:extLst>
              <a:ext uri="{FF2B5EF4-FFF2-40B4-BE49-F238E27FC236}">
                <a16:creationId xmlns:a16="http://schemas.microsoft.com/office/drawing/2014/main" id="{0FE6FCD0-FA89-B441-A733-B32B5C383245}"/>
              </a:ext>
            </a:extLst>
          </p:cNvPr>
          <p:cNvPicPr>
            <a:picLocks noChangeAspect="1"/>
          </p:cNvPicPr>
          <p:nvPr/>
        </p:nvPicPr>
        <p:blipFill>
          <a:blip r:embed="rId3"/>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24" name="矩形 23">
            <a:extLst>
              <a:ext uri="{FF2B5EF4-FFF2-40B4-BE49-F238E27FC236}">
                <a16:creationId xmlns:a16="http://schemas.microsoft.com/office/drawing/2014/main" id="{3FCEB227-503D-45F9-949B-6355E355F25A}"/>
              </a:ext>
            </a:extLst>
          </p:cNvPr>
          <p:cNvSpPr/>
          <p:nvPr/>
        </p:nvSpPr>
        <p:spPr>
          <a:xfrm>
            <a:off x="4711535" y="2044858"/>
            <a:ext cx="6102953" cy="70788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第四節 </a:t>
            </a:r>
            <a:r>
              <a:rPr kumimoji="0" lang="en-US" altLang="zh-CN" sz="4000" b="1" i="0" u="none" strike="noStrike" kern="1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DNS</a:t>
            </a:r>
            <a:r>
              <a:rPr kumimoji="0" lang="zh-CN" altLang="en-US" sz="4000" b="1" i="0" u="none" strike="noStrike" kern="1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攻擊預防策略</a:t>
            </a:r>
          </a:p>
        </p:txBody>
      </p:sp>
      <p:grpSp>
        <p:nvGrpSpPr>
          <p:cNvPr id="25" name="Group 5">
            <a:extLst>
              <a:ext uri="{FF2B5EF4-FFF2-40B4-BE49-F238E27FC236}">
                <a16:creationId xmlns:a16="http://schemas.microsoft.com/office/drawing/2014/main" id="{2061F4E3-8411-4DD6-98FA-598F64B75C0D}"/>
              </a:ext>
            </a:extLst>
          </p:cNvPr>
          <p:cNvGrpSpPr/>
          <p:nvPr/>
        </p:nvGrpSpPr>
        <p:grpSpPr>
          <a:xfrm>
            <a:off x="5457021" y="3901094"/>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6" name="Oval 6">
              <a:extLst>
                <a:ext uri="{FF2B5EF4-FFF2-40B4-BE49-F238E27FC236}">
                  <a16:creationId xmlns:a16="http://schemas.microsoft.com/office/drawing/2014/main" id="{45121B5E-B2A8-4348-8B87-F8D0075DA3C8}"/>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27" name="Freeform 7">
              <a:extLst>
                <a:ext uri="{FF2B5EF4-FFF2-40B4-BE49-F238E27FC236}">
                  <a16:creationId xmlns:a16="http://schemas.microsoft.com/office/drawing/2014/main" id="{378C56C4-37E4-4DBF-9D5B-79A0372C7ED1}"/>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grpSp>
      <p:sp>
        <p:nvSpPr>
          <p:cNvPr id="32" name="TextBox 9">
            <a:extLst>
              <a:ext uri="{FF2B5EF4-FFF2-40B4-BE49-F238E27FC236}">
                <a16:creationId xmlns:a16="http://schemas.microsoft.com/office/drawing/2014/main" id="{70B519C5-071A-4A7E-9A20-34EF72F69798}"/>
              </a:ext>
            </a:extLst>
          </p:cNvPr>
          <p:cNvSpPr txBox="1">
            <a:spLocks noChangeArrowheads="1"/>
          </p:cNvSpPr>
          <p:nvPr/>
        </p:nvSpPr>
        <p:spPr bwMode="auto">
          <a:xfrm>
            <a:off x="5915416" y="3874248"/>
            <a:ext cx="2031325" cy="461665"/>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基于密碼技術</a:t>
            </a:r>
          </a:p>
        </p:txBody>
      </p:sp>
      <p:grpSp>
        <p:nvGrpSpPr>
          <p:cNvPr id="33" name="Group 11">
            <a:extLst>
              <a:ext uri="{FF2B5EF4-FFF2-40B4-BE49-F238E27FC236}">
                <a16:creationId xmlns:a16="http://schemas.microsoft.com/office/drawing/2014/main" id="{76128366-ADAD-4ABD-8C08-E2F818F85775}"/>
              </a:ext>
            </a:extLst>
          </p:cNvPr>
          <p:cNvGrpSpPr/>
          <p:nvPr/>
        </p:nvGrpSpPr>
        <p:grpSpPr>
          <a:xfrm>
            <a:off x="5457021" y="4781642"/>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34" name="Oval 12">
              <a:extLst>
                <a:ext uri="{FF2B5EF4-FFF2-40B4-BE49-F238E27FC236}">
                  <a16:creationId xmlns:a16="http://schemas.microsoft.com/office/drawing/2014/main" id="{3AE2120F-843C-48CF-BF61-4AC8EDE2F3D3}"/>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35" name="Freeform 13">
              <a:extLst>
                <a:ext uri="{FF2B5EF4-FFF2-40B4-BE49-F238E27FC236}">
                  <a16:creationId xmlns:a16="http://schemas.microsoft.com/office/drawing/2014/main" id="{8DBAB252-4CDD-4BDB-84B3-1372FC51708E}"/>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grpSp>
      <p:sp>
        <p:nvSpPr>
          <p:cNvPr id="36" name="TextBox 15">
            <a:extLst>
              <a:ext uri="{FF2B5EF4-FFF2-40B4-BE49-F238E27FC236}">
                <a16:creationId xmlns:a16="http://schemas.microsoft.com/office/drawing/2014/main" id="{45C9F178-9E3C-4711-A744-F05A95301F72}"/>
              </a:ext>
            </a:extLst>
          </p:cNvPr>
          <p:cNvSpPr txBox="1">
            <a:spLocks noChangeArrowheads="1"/>
          </p:cNvSpPr>
          <p:nvPr/>
        </p:nvSpPr>
        <p:spPr bwMode="auto">
          <a:xfrm>
            <a:off x="5915416" y="4757996"/>
            <a:ext cx="2031325" cy="461665"/>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基于系統管理</a:t>
            </a:r>
          </a:p>
        </p:txBody>
      </p:sp>
      <p:sp>
        <p:nvSpPr>
          <p:cNvPr id="2" name="灯片编号占位符 1">
            <a:extLst>
              <a:ext uri="{FF2B5EF4-FFF2-40B4-BE49-F238E27FC236}">
                <a16:creationId xmlns:a16="http://schemas.microsoft.com/office/drawing/2014/main" id="{23621C34-40A4-4E8C-9A3C-B5C35EAFBC5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grpSp>
        <p:nvGrpSpPr>
          <p:cNvPr id="20" name="Group 11">
            <a:extLst>
              <a:ext uri="{FF2B5EF4-FFF2-40B4-BE49-F238E27FC236}">
                <a16:creationId xmlns:a16="http://schemas.microsoft.com/office/drawing/2014/main" id="{57241095-AC23-4026-B51D-88782E737C8F}"/>
              </a:ext>
            </a:extLst>
          </p:cNvPr>
          <p:cNvGrpSpPr/>
          <p:nvPr/>
        </p:nvGrpSpPr>
        <p:grpSpPr>
          <a:xfrm>
            <a:off x="5457021" y="566539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1" name="Oval 12">
              <a:extLst>
                <a:ext uri="{FF2B5EF4-FFF2-40B4-BE49-F238E27FC236}">
                  <a16:creationId xmlns:a16="http://schemas.microsoft.com/office/drawing/2014/main" id="{F0990E41-3D35-462D-B588-5705BB3F411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22" name="Freeform 13">
              <a:extLst>
                <a:ext uri="{FF2B5EF4-FFF2-40B4-BE49-F238E27FC236}">
                  <a16:creationId xmlns:a16="http://schemas.microsoft.com/office/drawing/2014/main" id="{A3CC807F-9112-4786-BEB1-76747D3DD03F}"/>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grpSp>
      <p:sp>
        <p:nvSpPr>
          <p:cNvPr id="28" name="TextBox 15">
            <a:extLst>
              <a:ext uri="{FF2B5EF4-FFF2-40B4-BE49-F238E27FC236}">
                <a16:creationId xmlns:a16="http://schemas.microsoft.com/office/drawing/2014/main" id="{98AC8C77-3E42-4048-9EEF-E1F442803C9E}"/>
              </a:ext>
            </a:extLst>
          </p:cNvPr>
          <p:cNvSpPr txBox="1">
            <a:spLocks noChangeArrowheads="1"/>
          </p:cNvSpPr>
          <p:nvPr/>
        </p:nvSpPr>
        <p:spPr bwMode="auto">
          <a:xfrm>
            <a:off x="5915416" y="5641744"/>
            <a:ext cx="2031325" cy="461665"/>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新型架構設計</a:t>
            </a:r>
          </a:p>
        </p:txBody>
      </p:sp>
    </p:spTree>
    <p:extLst>
      <p:ext uri="{BB962C8B-B14F-4D97-AF65-F5344CB8AC3E}">
        <p14:creationId xmlns:p14="http://schemas.microsoft.com/office/powerpoint/2010/main" val="25308405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0E586417-237D-4A45-8743-31B715C4DEA8}"/>
              </a:ext>
            </a:extLst>
          </p:cNvPr>
          <p:cNvSpPr>
            <a:spLocks/>
          </p:cNvSpPr>
          <p:nvPr/>
        </p:nvSpPr>
        <p:spPr bwMode="auto">
          <a:xfrm>
            <a:off x="6395605" y="4722953"/>
            <a:ext cx="4485703" cy="1809086"/>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9" name="矩形 18">
            <a:extLst>
              <a:ext uri="{FF2B5EF4-FFF2-40B4-BE49-F238E27FC236}">
                <a16:creationId xmlns:a16="http://schemas.microsoft.com/office/drawing/2014/main" id="{8D50035C-E81B-443C-85DF-DE93B782A5C6}"/>
              </a:ext>
            </a:extLst>
          </p:cNvPr>
          <p:cNvSpPr>
            <a:spLocks/>
          </p:cNvSpPr>
          <p:nvPr/>
        </p:nvSpPr>
        <p:spPr bwMode="auto">
          <a:xfrm>
            <a:off x="1024448" y="4721521"/>
            <a:ext cx="4485703" cy="1809919"/>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通過非對稱加密驗證身份</a:t>
            </a:r>
            <a:r>
              <a:rPr kumimoji="1" lang="en-US" altLang="zh-CN" dirty="0">
                <a:solidFill>
                  <a:srgbClr val="C00000"/>
                </a:solidFill>
              </a:rPr>
              <a:t>--DNSSEC</a:t>
            </a:r>
            <a:endParaRPr kumimoji="1" lang="zh-CN" altLang="en-US" dirty="0">
              <a:solidFill>
                <a:srgbClr val="C00000"/>
              </a:solidFill>
            </a:endParaRPr>
          </a:p>
        </p:txBody>
      </p:sp>
      <p:sp>
        <p:nvSpPr>
          <p:cNvPr id="6" name="文本框 5">
            <a:extLst>
              <a:ext uri="{FF2B5EF4-FFF2-40B4-BE49-F238E27FC236}">
                <a16:creationId xmlns:a16="http://schemas.microsoft.com/office/drawing/2014/main" id="{2100371E-0E40-4991-8DF3-41B20B6EE23C}"/>
              </a:ext>
            </a:extLst>
          </p:cNvPr>
          <p:cNvSpPr txBox="1"/>
          <p:nvPr/>
        </p:nvSpPr>
        <p:spPr>
          <a:xfrm>
            <a:off x="1128172" y="4722120"/>
            <a:ext cx="4242569" cy="1809919"/>
          </a:xfrm>
          <a:prstGeom prst="rect">
            <a:avLst/>
          </a:prstGeom>
          <a:noFill/>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部署</a:t>
            </a:r>
            <a:r>
              <a:rPr kumimoji="0" lang="x-none"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eXGyreTermes-Regular-Identity-"/>
              </a:rPr>
              <a:t>DNSSEC</a:t>
            </a:r>
            <a:r>
              <a:rPr kumimoji="0" lang="zh-CN"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的權威域名服務器對其區域文件中資源記錄</a:t>
            </a:r>
            <a:r>
              <a:rPr kumimoji="0" lang="zh-CN" altLang="en-US"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用私鑰（</a:t>
            </a:r>
            <a:r>
              <a:rPr kumimoji="0" lang="en-US"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Zone signing key</a:t>
            </a:r>
            <a:r>
              <a:rPr kumimoji="0" lang="zh-CN" altLang="en-US"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a:t>
            </a:r>
            <a:r>
              <a:rPr kumimoji="0" lang="en-US"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ZSK</a:t>
            </a:r>
            <a:r>
              <a:rPr kumimoji="0" lang="zh-CN" altLang="en-US"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a:t>
            </a:r>
            <a:r>
              <a:rPr kumimoji="0" lang="zh-CN"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進行數字簽名</a:t>
            </a:r>
            <a:endPar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056ECC8B-DB16-4D06-B531-887EB415D145}"/>
              </a:ext>
            </a:extLst>
          </p:cNvPr>
          <p:cNvSpPr txBox="1"/>
          <p:nvPr/>
        </p:nvSpPr>
        <p:spPr>
          <a:xfrm>
            <a:off x="6488167" y="4722150"/>
            <a:ext cx="4229100" cy="1485920"/>
          </a:xfrm>
          <a:prstGeom prst="rect">
            <a:avLst/>
          </a:prstGeom>
          <a:noFill/>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接收方</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用公鑰</a:t>
            </a:r>
            <a:r>
              <a:rPr kumimoji="0" lang="zh-CN"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驗證簽名，判定域名解析結果是否在傳輸過程</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a:t>
            </a:r>
            <a:r>
              <a:rPr kumimoji="0" lang="zh-CN"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被篡改</a:t>
            </a:r>
            <a:endPar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492A5E39-35C4-4940-81AE-18B818E4A991}"/>
              </a:ext>
            </a:extLst>
          </p:cNvPr>
          <p:cNvSpPr txBox="1"/>
          <p:nvPr/>
        </p:nvSpPr>
        <p:spPr>
          <a:xfrm>
            <a:off x="542985" y="1250194"/>
            <a:ext cx="11201339" cy="892041"/>
          </a:xfrm>
          <a:prstGeom prst="rect">
            <a:avLst/>
          </a:prstGeom>
          <a:solidFill>
            <a:schemeClr val="accent3">
              <a:lumMod val="60000"/>
              <a:lumOff val="40000"/>
            </a:schemeClr>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algn="just">
              <a:lnSpc>
                <a:spcPct val="125000"/>
              </a:lnSpc>
              <a:defRPr sz="1600" kern="0">
                <a:solidFill>
                  <a:srgbClr val="000000"/>
                </a:solidFill>
                <a:ea typeface="微软雅黑" panose="020B0503020204020204" pitchFamily="34" charset="-122"/>
              </a:defRPr>
            </a:lvl1pPr>
          </a:lstStyle>
          <a:p>
            <a:pPr marL="0" marR="0" lvl="0" indent="0" algn="ctr" defTabSz="914400" rtl="0" eaLnBrk="1" fontAlgn="auto" latinLnBrk="0" hangingPunct="1">
              <a:lnSpc>
                <a:spcPct val="125000"/>
              </a:lnSpc>
              <a:spcBef>
                <a:spcPts val="0"/>
              </a:spcBef>
              <a:spcAft>
                <a:spcPts val="0"/>
              </a:spcAft>
              <a:buClrTx/>
              <a:buSzTx/>
              <a:buFontTx/>
              <a:buNone/>
              <a:tabLst/>
              <a:defRPr/>
            </a:pP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25000"/>
              </a:lnSpc>
              <a:spcBef>
                <a:spcPts val="0"/>
              </a:spcBef>
              <a:spcAft>
                <a:spcPts val="0"/>
              </a:spcAft>
              <a:buClrTx/>
              <a:buSzTx/>
              <a:buFontTx/>
              <a:buNone/>
              <a:tabLst/>
              <a:defRPr/>
            </a:pPr>
            <a:r>
              <a:rPr kumimoji="0" lang="x-none" altLang="zh-CN" sz="2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DNSSEC</a:t>
            </a:r>
            <a:r>
              <a:rPr kumimoji="0" lang="zh-CN" altLang="zh-CN" sz="2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引入公鑰加密</a:t>
            </a:r>
            <a:r>
              <a:rPr kumimoji="0" lang="x-none" altLang="zh-CN" sz="2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a:t>
            </a:r>
            <a:r>
              <a:rPr kumimoji="0" lang="zh-CN" altLang="zh-CN" sz="2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認證體系，通過簽名提供端到端數據真實性和完整性保護</a:t>
            </a:r>
            <a:endParaRPr kumimoji="0" lang="en-US" altLang="zh-CN" sz="2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endParaRPr>
          </a:p>
        </p:txBody>
      </p:sp>
      <p:sp>
        <p:nvSpPr>
          <p:cNvPr id="13" name="六边形 12">
            <a:extLst>
              <a:ext uri="{FF2B5EF4-FFF2-40B4-BE49-F238E27FC236}">
                <a16:creationId xmlns:a16="http://schemas.microsoft.com/office/drawing/2014/main" id="{8703F85B-BFC2-4DEF-AECA-5D442D455151}"/>
              </a:ext>
            </a:extLst>
          </p:cNvPr>
          <p:cNvSpPr/>
          <p:nvPr/>
        </p:nvSpPr>
        <p:spPr>
          <a:xfrm>
            <a:off x="2089265" y="2525169"/>
            <a:ext cx="2026285" cy="1746885"/>
          </a:xfrm>
          <a:prstGeom prst="hexagon">
            <a:avLst/>
          </a:prstGeom>
          <a:solidFill>
            <a:srgbClr val="7E46A9"/>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10" name="六边形 9">
            <a:extLst>
              <a:ext uri="{FF2B5EF4-FFF2-40B4-BE49-F238E27FC236}">
                <a16:creationId xmlns:a16="http://schemas.microsoft.com/office/drawing/2014/main" id="{E6BDA8D6-ABD7-4BEE-A323-ADFFFBEF6FF3}"/>
              </a:ext>
            </a:extLst>
          </p:cNvPr>
          <p:cNvSpPr/>
          <p:nvPr/>
        </p:nvSpPr>
        <p:spPr>
          <a:xfrm>
            <a:off x="7625316" y="2469454"/>
            <a:ext cx="2026285" cy="1746885"/>
          </a:xfrm>
          <a:prstGeom prst="hexagon">
            <a:avLst/>
          </a:prstGeom>
          <a:solidFill>
            <a:srgbClr val="7E46A9"/>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pic>
        <p:nvPicPr>
          <p:cNvPr id="2050" name="Picture 2" descr="查看源图像">
            <a:extLst>
              <a:ext uri="{FF2B5EF4-FFF2-40B4-BE49-F238E27FC236}">
                <a16:creationId xmlns:a16="http://schemas.microsoft.com/office/drawing/2014/main" id="{775A0B56-3E97-49F7-AF3C-85F80B2A25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3989" y="3310129"/>
            <a:ext cx="1710051" cy="1049111"/>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6" name="图片 15">
            <a:extLst>
              <a:ext uri="{FF2B5EF4-FFF2-40B4-BE49-F238E27FC236}">
                <a16:creationId xmlns:a16="http://schemas.microsoft.com/office/drawing/2014/main" id="{698C475C-7D96-49F4-B251-BD9A26B49D35}"/>
              </a:ext>
            </a:extLst>
          </p:cNvPr>
          <p:cNvPicPr>
            <a:picLocks noChangeAspect="1"/>
          </p:cNvPicPr>
          <p:nvPr/>
        </p:nvPicPr>
        <p:blipFill>
          <a:blip r:embed="rId4"/>
          <a:stretch>
            <a:fillRect/>
          </a:stretch>
        </p:blipFill>
        <p:spPr>
          <a:xfrm>
            <a:off x="2618288" y="2788625"/>
            <a:ext cx="722313" cy="983575"/>
          </a:xfrm>
          <a:prstGeom prst="rect">
            <a:avLst/>
          </a:prstGeom>
        </p:spPr>
      </p:pic>
      <p:pic>
        <p:nvPicPr>
          <p:cNvPr id="2052" name="Picture 4" descr="查看源图像">
            <a:extLst>
              <a:ext uri="{FF2B5EF4-FFF2-40B4-BE49-F238E27FC236}">
                <a16:creationId xmlns:a16="http://schemas.microsoft.com/office/drawing/2014/main" id="{DB4B49AA-9C81-4481-8C4C-C6FD5E4435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8281" y="3479598"/>
            <a:ext cx="1675101" cy="792456"/>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8" name="图片 17">
            <a:extLst>
              <a:ext uri="{FF2B5EF4-FFF2-40B4-BE49-F238E27FC236}">
                <a16:creationId xmlns:a16="http://schemas.microsoft.com/office/drawing/2014/main" id="{868E7FD6-CA8B-4048-9E1E-76EBFCCAEAA8}"/>
              </a:ext>
            </a:extLst>
          </p:cNvPr>
          <p:cNvPicPr>
            <a:picLocks noChangeAspect="1"/>
          </p:cNvPicPr>
          <p:nvPr/>
        </p:nvPicPr>
        <p:blipFill>
          <a:blip r:embed="rId6"/>
          <a:stretch>
            <a:fillRect/>
          </a:stretch>
        </p:blipFill>
        <p:spPr>
          <a:xfrm>
            <a:off x="8085769" y="2593134"/>
            <a:ext cx="1148195" cy="1107907"/>
          </a:xfrm>
          <a:prstGeom prst="rect">
            <a:avLst/>
          </a:prstGeom>
        </p:spPr>
      </p:pic>
      <p:sp>
        <p:nvSpPr>
          <p:cNvPr id="2" name="灯片编号占位符 1">
            <a:extLst>
              <a:ext uri="{FF2B5EF4-FFF2-40B4-BE49-F238E27FC236}">
                <a16:creationId xmlns:a16="http://schemas.microsoft.com/office/drawing/2014/main" id="{F64EE375-32EC-48A6-8855-587B21553910}"/>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5327150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21332C1-C1BE-4A80-8037-9282AF3C03E2}"/>
              </a:ext>
            </a:extLst>
          </p:cNvPr>
          <p:cNvPicPr>
            <a:picLocks noChangeAspect="1"/>
          </p:cNvPicPr>
          <p:nvPr/>
        </p:nvPicPr>
        <p:blipFill>
          <a:blip r:embed="rId3"/>
          <a:stretch>
            <a:fillRect/>
          </a:stretch>
        </p:blipFill>
        <p:spPr>
          <a:xfrm>
            <a:off x="288099" y="1168196"/>
            <a:ext cx="5647691" cy="5553279"/>
          </a:xfrm>
          <a:prstGeom prst="rect">
            <a:avLst/>
          </a:prstGeom>
        </p:spPr>
      </p:pic>
      <p:sp>
        <p:nvSpPr>
          <p:cNvPr id="11" name="矩形: 圆角 10">
            <a:extLst>
              <a:ext uri="{FF2B5EF4-FFF2-40B4-BE49-F238E27FC236}">
                <a16:creationId xmlns:a16="http://schemas.microsoft.com/office/drawing/2014/main" id="{1DCDFAC8-25E2-4932-8D8A-843698C88CCE}"/>
              </a:ext>
            </a:extLst>
          </p:cNvPr>
          <p:cNvSpPr/>
          <p:nvPr/>
        </p:nvSpPr>
        <p:spPr>
          <a:xfrm>
            <a:off x="6096000" y="1168196"/>
            <a:ext cx="5949412" cy="5061458"/>
          </a:xfrm>
          <a:prstGeom prst="roundRect">
            <a:avLst>
              <a:gd name="adj" fmla="val 0"/>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通過非對稱加密驗證身份</a:t>
            </a:r>
            <a:r>
              <a:rPr kumimoji="1" lang="en-US" altLang="zh-CN" dirty="0">
                <a:solidFill>
                  <a:srgbClr val="C00000"/>
                </a:solidFill>
              </a:rPr>
              <a:t>--DNSSEC</a:t>
            </a:r>
            <a:endParaRPr kumimoji="1" lang="zh-CN" altLang="en-US" dirty="0">
              <a:solidFill>
                <a:srgbClr val="C00000"/>
              </a:solidFill>
            </a:endParaRPr>
          </a:p>
        </p:txBody>
      </p:sp>
      <p:sp>
        <p:nvSpPr>
          <p:cNvPr id="8" name="文本框 7">
            <a:extLst>
              <a:ext uri="{FF2B5EF4-FFF2-40B4-BE49-F238E27FC236}">
                <a16:creationId xmlns:a16="http://schemas.microsoft.com/office/drawing/2014/main" id="{492A5E39-35C4-4940-81AE-18B818E4A991}"/>
              </a:ext>
            </a:extLst>
          </p:cNvPr>
          <p:cNvSpPr txBox="1"/>
          <p:nvPr/>
        </p:nvSpPr>
        <p:spPr>
          <a:xfrm>
            <a:off x="6136056" y="1333646"/>
            <a:ext cx="5508257" cy="169482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2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簽名過程原理</a:t>
            </a:r>
            <a:endParaRPr kumimoji="0" lang="en-US" altLang="zh-CN" sz="22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ts val="800"/>
              </a:lnSpc>
              <a:spcBef>
                <a:spcPts val="0"/>
              </a:spcBef>
              <a:spcAft>
                <a:spcPts val="0"/>
              </a:spcAft>
              <a:buClrTx/>
              <a:buSzTx/>
              <a:buFontTx/>
              <a:buNone/>
              <a:tabLst/>
              <a:defRPr/>
            </a:pPr>
            <a:endPar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endParaRPr>
          </a:p>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域名服務器用散列函數計算回復</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報文內容的散列值，即“內容摘要”，使用私鑰對其加密（簽名），加密後的信息附加到</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報文</a:t>
            </a:r>
          </a:p>
        </p:txBody>
      </p:sp>
      <p:sp>
        <p:nvSpPr>
          <p:cNvPr id="2" name="Rectangle 2">
            <a:extLst>
              <a:ext uri="{FF2B5EF4-FFF2-40B4-BE49-F238E27FC236}">
                <a16:creationId xmlns:a16="http://schemas.microsoft.com/office/drawing/2014/main" id="{3ACE3021-4047-486D-AC8A-C70BAC39CCFD}"/>
              </a:ext>
            </a:extLst>
          </p:cNvPr>
          <p:cNvSpPr>
            <a:spLocks noChangeArrowheads="1"/>
          </p:cNvSpPr>
          <p:nvPr/>
        </p:nvSpPr>
        <p:spPr bwMode="auto">
          <a:xfrm>
            <a:off x="540327" y="1628085"/>
            <a:ext cx="2023097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graphicFrame>
        <p:nvGraphicFramePr>
          <p:cNvPr id="4" name="对象 3">
            <a:extLst>
              <a:ext uri="{FF2B5EF4-FFF2-40B4-BE49-F238E27FC236}">
                <a16:creationId xmlns:a16="http://schemas.microsoft.com/office/drawing/2014/main" id="{1B57F504-DAF2-410C-BF19-6A97BFA31A98}"/>
              </a:ext>
            </a:extLst>
          </p:cNvPr>
          <p:cNvGraphicFramePr>
            <a:graphicFrameLocks noChangeAspect="1"/>
          </p:cNvGraphicFramePr>
          <p:nvPr/>
        </p:nvGraphicFramePr>
        <p:xfrm>
          <a:off x="443507" y="1466203"/>
          <a:ext cx="5247409" cy="4109417"/>
        </p:xfrm>
        <a:graphic>
          <a:graphicData uri="http://schemas.openxmlformats.org/presentationml/2006/ole">
            <mc:AlternateContent xmlns:mc="http://schemas.openxmlformats.org/markup-compatibility/2006">
              <mc:Choice xmlns:v="urn:schemas-microsoft-com:vml" Requires="v">
                <p:oleObj name="Visio" r:id="rId4" imgW="3162252" imgH="2476557" progId="Visio.Drawing.15">
                  <p:embed/>
                </p:oleObj>
              </mc:Choice>
              <mc:Fallback>
                <p:oleObj name="Visio" r:id="rId4" imgW="3162252" imgH="2476557" progId="Visio.Drawing.15">
                  <p:embed/>
                  <p:pic>
                    <p:nvPicPr>
                      <p:cNvPr id="4" name="对象 3">
                        <a:extLst>
                          <a:ext uri="{FF2B5EF4-FFF2-40B4-BE49-F238E27FC236}">
                            <a16:creationId xmlns:a16="http://schemas.microsoft.com/office/drawing/2014/main" id="{1B57F504-DAF2-410C-BF19-6A97BFA31A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3507" y="1466203"/>
                        <a:ext cx="5247409" cy="4109417"/>
                      </a:xfrm>
                      <a:prstGeom prst="rect">
                        <a:avLst/>
                      </a:prstGeom>
                      <a:noFill/>
                    </p:spPr>
                  </p:pic>
                </p:oleObj>
              </mc:Fallback>
            </mc:AlternateContent>
          </a:graphicData>
        </a:graphic>
      </p:graphicFrame>
      <p:sp>
        <p:nvSpPr>
          <p:cNvPr id="9" name="文本框 8">
            <a:extLst>
              <a:ext uri="{FF2B5EF4-FFF2-40B4-BE49-F238E27FC236}">
                <a16:creationId xmlns:a16="http://schemas.microsoft.com/office/drawing/2014/main" id="{4A2955BB-6DC4-48DA-BF4D-F3625C628B8E}"/>
              </a:ext>
            </a:extLst>
          </p:cNvPr>
          <p:cNvSpPr txBox="1"/>
          <p:nvPr/>
        </p:nvSpPr>
        <p:spPr>
          <a:xfrm>
            <a:off x="916845" y="5767989"/>
            <a:ext cx="4139249"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a:t>
            </a:r>
            <a:r>
              <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簽名及驗證過程示意圖</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文本框 9">
            <a:extLst>
              <a:ext uri="{FF2B5EF4-FFF2-40B4-BE49-F238E27FC236}">
                <a16:creationId xmlns:a16="http://schemas.microsoft.com/office/drawing/2014/main" id="{09F4BB39-6CFA-4AB4-A393-C84E96FADC59}"/>
              </a:ext>
            </a:extLst>
          </p:cNvPr>
          <p:cNvSpPr txBox="1"/>
          <p:nvPr/>
        </p:nvSpPr>
        <p:spPr>
          <a:xfrm>
            <a:off x="6136056" y="4055097"/>
            <a:ext cx="5508257" cy="172560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rPr>
              <a:t>驗證過程原理</a:t>
            </a:r>
            <a:endParaRPr kumimoji="0" lang="en-US" altLang="zh-CN" sz="22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endParaRPr>
          </a:p>
          <a:p>
            <a:pPr marL="0" marR="0" lvl="0" indent="0" algn="l" defTabSz="914400" rtl="0" eaLnBrk="1" fontAlgn="auto" latinLnBrk="0" hangingPunct="1">
              <a:lnSpc>
                <a:spcPts val="800"/>
              </a:lnSpc>
              <a:spcBef>
                <a:spcPts val="0"/>
              </a:spcBef>
              <a:spcAft>
                <a:spcPts val="0"/>
              </a:spcAft>
              <a:buClrTx/>
              <a:buSzTx/>
              <a:buFontTx/>
              <a:buNone/>
              <a:tabLst/>
              <a:defRPr/>
            </a:pPr>
            <a:endPar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endParaRPr>
          </a:p>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本地</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服務器收到</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DNSSEC</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報文，計算報文“內容摘要”，利用公鑰解密收到加密“摘要”， 對比 “摘要”內容</a:t>
            </a:r>
          </a:p>
        </p:txBody>
      </p:sp>
      <p:sp>
        <p:nvSpPr>
          <p:cNvPr id="6" name="灯片编号占位符 5">
            <a:extLst>
              <a:ext uri="{FF2B5EF4-FFF2-40B4-BE49-F238E27FC236}">
                <a16:creationId xmlns:a16="http://schemas.microsoft.com/office/drawing/2014/main" id="{9429A9C5-6EA7-4F1B-A6F9-2E182E7901B8}"/>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10117859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id="{89B6CC74-49A7-459E-B544-AACDF6159CD5}"/>
              </a:ext>
            </a:extLst>
          </p:cNvPr>
          <p:cNvSpPr/>
          <p:nvPr/>
        </p:nvSpPr>
        <p:spPr>
          <a:xfrm>
            <a:off x="6495284" y="1423554"/>
            <a:ext cx="5593798" cy="4623955"/>
          </a:xfrm>
          <a:prstGeom prst="roundRect">
            <a:avLst>
              <a:gd name="adj" fmla="val 0"/>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9" name="矩形 8">
            <a:extLst>
              <a:ext uri="{FF2B5EF4-FFF2-40B4-BE49-F238E27FC236}">
                <a16:creationId xmlns:a16="http://schemas.microsoft.com/office/drawing/2014/main" id="{86B8E00A-0D74-4737-B9CF-431C73E540C7}"/>
              </a:ext>
            </a:extLst>
          </p:cNvPr>
          <p:cNvSpPr>
            <a:spLocks/>
          </p:cNvSpPr>
          <p:nvPr/>
        </p:nvSpPr>
        <p:spPr bwMode="auto">
          <a:xfrm>
            <a:off x="286779" y="1423555"/>
            <a:ext cx="5949412" cy="4623954"/>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a:xfrm>
            <a:off x="1131375" y="136525"/>
            <a:ext cx="10859063" cy="848406"/>
          </a:xfrm>
        </p:spPr>
        <p:txBody>
          <a:bodyPr>
            <a:normAutofit/>
          </a:bodyPr>
          <a:lstStyle/>
          <a:p>
            <a:r>
              <a:rPr kumimoji="1" lang="zh-CN" altLang="en-US" dirty="0">
                <a:solidFill>
                  <a:srgbClr val="C00000"/>
                </a:solidFill>
              </a:rPr>
              <a:t>通過非對稱加密驗證身份</a:t>
            </a:r>
            <a:r>
              <a:rPr kumimoji="1" lang="en-US" altLang="zh-CN" dirty="0">
                <a:solidFill>
                  <a:srgbClr val="C00000"/>
                </a:solidFill>
              </a:rPr>
              <a:t>—DNSSEC</a:t>
            </a:r>
            <a:r>
              <a:rPr kumimoji="1" lang="zh-CN" altLang="en-US" dirty="0">
                <a:solidFill>
                  <a:srgbClr val="C00000"/>
                </a:solidFill>
              </a:rPr>
              <a:t>驗證</a:t>
            </a:r>
            <a:r>
              <a:rPr kumimoji="1" lang="zh-CN" altLang="en-CN" dirty="0">
                <a:solidFill>
                  <a:srgbClr val="C00000"/>
                </a:solidFill>
              </a:rPr>
              <a:t>公鑰</a:t>
            </a:r>
            <a:endParaRPr kumimoji="1" lang="zh-CN" altLang="en-US" dirty="0">
              <a:solidFill>
                <a:srgbClr val="C00000"/>
              </a:solidFill>
            </a:endParaRPr>
          </a:p>
        </p:txBody>
      </p:sp>
      <p:sp>
        <p:nvSpPr>
          <p:cNvPr id="8" name="文本框 7">
            <a:extLst>
              <a:ext uri="{FF2B5EF4-FFF2-40B4-BE49-F238E27FC236}">
                <a16:creationId xmlns:a16="http://schemas.microsoft.com/office/drawing/2014/main" id="{492A5E39-35C4-4940-81AE-18B818E4A991}"/>
              </a:ext>
            </a:extLst>
          </p:cNvPr>
          <p:cNvSpPr txBox="1"/>
          <p:nvPr/>
        </p:nvSpPr>
        <p:spPr>
          <a:xfrm>
            <a:off x="6578413" y="1954564"/>
            <a:ext cx="5510669" cy="3254224"/>
          </a:xfrm>
          <a:prstGeom prst="rect">
            <a:avLst/>
          </a:prstGeom>
          <a:noFill/>
        </p:spPr>
        <p:txBody>
          <a:bodyPr wrap="square">
            <a:spAutoFit/>
          </a:bodyPr>
          <a:lstStyle/>
          <a:p>
            <a:pPr marL="342900" marR="0" lvl="0" indent="-342900" algn="just"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DNSSEC</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需要一條信任鏈：支持</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DNSSEC</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的本地</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DNS</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服務器向支持</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DNSSEC</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的權威服務器發起記錄請求，得到權威服務器數字簽名，簽名的正確性（公鑰）由上級服務器保證</a:t>
            </a:r>
            <a:endPar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endParaRPr>
          </a:p>
          <a:p>
            <a:pPr marL="342900" marR="0" lvl="0" indent="-342900" algn="just"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endParaRPr>
          </a:p>
          <a:p>
            <a:pPr marL="342900" marR="0" lvl="0" indent="-342900" algn="just"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假設</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DNSSEC </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實現了全部署，每個遞歸服務器只需保留根域名服務器的</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DNSKEY</a:t>
            </a:r>
            <a:endPar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endParaRPr>
          </a:p>
        </p:txBody>
      </p:sp>
      <p:pic>
        <p:nvPicPr>
          <p:cNvPr id="12" name="图片 11">
            <a:extLst>
              <a:ext uri="{FF2B5EF4-FFF2-40B4-BE49-F238E27FC236}">
                <a16:creationId xmlns:a16="http://schemas.microsoft.com/office/drawing/2014/main" id="{D826A72F-684F-4626-9C96-9107FC20D0B5}"/>
              </a:ext>
            </a:extLst>
          </p:cNvPr>
          <p:cNvPicPr>
            <a:picLocks noChangeAspect="1"/>
          </p:cNvPicPr>
          <p:nvPr/>
        </p:nvPicPr>
        <p:blipFill>
          <a:blip r:embed="rId3"/>
          <a:stretch>
            <a:fillRect/>
          </a:stretch>
        </p:blipFill>
        <p:spPr>
          <a:xfrm>
            <a:off x="556516" y="1575920"/>
            <a:ext cx="5409937" cy="3632868"/>
          </a:xfrm>
          <a:prstGeom prst="rect">
            <a:avLst/>
          </a:prstGeom>
        </p:spPr>
      </p:pic>
      <p:sp>
        <p:nvSpPr>
          <p:cNvPr id="5" name="文本框 4">
            <a:extLst>
              <a:ext uri="{FF2B5EF4-FFF2-40B4-BE49-F238E27FC236}">
                <a16:creationId xmlns:a16="http://schemas.microsoft.com/office/drawing/2014/main" id="{18FC7591-4D64-4D09-BB15-33F4A346B838}"/>
              </a:ext>
            </a:extLst>
          </p:cNvPr>
          <p:cNvSpPr txBox="1"/>
          <p:nvPr/>
        </p:nvSpPr>
        <p:spPr>
          <a:xfrm>
            <a:off x="1131376" y="5406171"/>
            <a:ext cx="413924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SEC</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驗證需要公鑰信任鏈</a:t>
            </a:r>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 name="灯片编号占位符 1">
            <a:extLst>
              <a:ext uri="{FF2B5EF4-FFF2-40B4-BE49-F238E27FC236}">
                <a16:creationId xmlns:a16="http://schemas.microsoft.com/office/drawing/2014/main" id="{939361FA-8BF1-4733-A924-AB416DDA939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
        <p:nvSpPr>
          <p:cNvPr id="4" name="爆炸形: 8 pt  3">
            <a:extLst>
              <a:ext uri="{FF2B5EF4-FFF2-40B4-BE49-F238E27FC236}">
                <a16:creationId xmlns:a16="http://schemas.microsoft.com/office/drawing/2014/main" id="{1B53E8E8-3117-406B-A221-2A3E45193FA3}"/>
              </a:ext>
            </a:extLst>
          </p:cNvPr>
          <p:cNvSpPr/>
          <p:nvPr/>
        </p:nvSpPr>
        <p:spPr>
          <a:xfrm>
            <a:off x="2867892" y="2313985"/>
            <a:ext cx="1787236" cy="1267691"/>
          </a:xfrm>
          <a:prstGeom prst="irregularSeal1">
            <a:avLst/>
          </a:prstGeom>
        </p:spPr>
        <p:style>
          <a:lnRef idx="1">
            <a:schemeClr val="accent4"/>
          </a:lnRef>
          <a:fillRef idx="3">
            <a:schemeClr val="accent4"/>
          </a:fillRef>
          <a:effectRef idx="2">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公鑰的真實性？</a:t>
            </a:r>
          </a:p>
        </p:txBody>
      </p:sp>
    </p:spTree>
    <p:extLst>
      <p:ext uri="{BB962C8B-B14F-4D97-AF65-F5344CB8AC3E}">
        <p14:creationId xmlns:p14="http://schemas.microsoft.com/office/powerpoint/2010/main" val="40706611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7FD76D66-9371-2346-A334-ABB6364EDE98}"/>
              </a:ext>
            </a:extLst>
          </p:cNvPr>
          <p:cNvSpPr>
            <a:spLocks/>
          </p:cNvSpPr>
          <p:nvPr/>
        </p:nvSpPr>
        <p:spPr bwMode="auto">
          <a:xfrm>
            <a:off x="359982" y="912969"/>
            <a:ext cx="7278414" cy="789707"/>
          </a:xfrm>
          <a:prstGeom prst="rect">
            <a:avLst/>
          </a:prstGeom>
          <a:solidFill>
            <a:schemeClr val="accent3">
              <a:lumMod val="20000"/>
              <a:lumOff val="80000"/>
            </a:schemeClr>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通過非對稱加密驗證身份</a:t>
            </a:r>
            <a:r>
              <a:rPr kumimoji="1" lang="en-US" altLang="zh-CN" dirty="0">
                <a:solidFill>
                  <a:srgbClr val="C00000"/>
                </a:solidFill>
              </a:rPr>
              <a:t>--DNSSEC</a:t>
            </a:r>
            <a:endParaRPr kumimoji="1" lang="zh-CN" altLang="en-US" dirty="0">
              <a:solidFill>
                <a:srgbClr val="C00000"/>
              </a:solidFill>
            </a:endParaRPr>
          </a:p>
        </p:txBody>
      </p:sp>
      <p:sp>
        <p:nvSpPr>
          <p:cNvPr id="7" name="文本框 6">
            <a:extLst>
              <a:ext uri="{FF2B5EF4-FFF2-40B4-BE49-F238E27FC236}">
                <a16:creationId xmlns:a16="http://schemas.microsoft.com/office/drawing/2014/main" id="{EAE92C17-47FF-499B-9B3F-25FD8C8EA2F6}"/>
              </a:ext>
            </a:extLst>
          </p:cNvPr>
          <p:cNvSpPr txBox="1"/>
          <p:nvPr/>
        </p:nvSpPr>
        <p:spPr>
          <a:xfrm>
            <a:off x="1019924" y="986098"/>
            <a:ext cx="5791200" cy="581057"/>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RRSIG</a:t>
            </a:r>
            <a:r>
              <a:rPr kumimoji="0" lang="zh-CN" altLang="en-US"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en-US" altLang="zh-CN"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Resource Record Signature</a:t>
            </a:r>
            <a:r>
              <a:rPr kumimoji="0" lang="zh-CN" altLang="en-US"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en-US" altLang="zh-CN"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p>
        </p:txBody>
      </p:sp>
      <p:sp>
        <p:nvSpPr>
          <p:cNvPr id="45" name="矩形 44">
            <a:extLst>
              <a:ext uri="{FF2B5EF4-FFF2-40B4-BE49-F238E27FC236}">
                <a16:creationId xmlns:a16="http://schemas.microsoft.com/office/drawing/2014/main" id="{FF4DA978-9875-4B01-A52C-B51F46AB0801}"/>
              </a:ext>
            </a:extLst>
          </p:cNvPr>
          <p:cNvSpPr>
            <a:spLocks/>
          </p:cNvSpPr>
          <p:nvPr/>
        </p:nvSpPr>
        <p:spPr bwMode="auto">
          <a:xfrm>
            <a:off x="276318" y="1886608"/>
            <a:ext cx="7383517" cy="4753798"/>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12" name="文本框 11">
            <a:extLst>
              <a:ext uri="{FF2B5EF4-FFF2-40B4-BE49-F238E27FC236}">
                <a16:creationId xmlns:a16="http://schemas.microsoft.com/office/drawing/2014/main" id="{3CC795CE-8408-1515-CECF-FD19760F2479}"/>
              </a:ext>
            </a:extLst>
          </p:cNvPr>
          <p:cNvSpPr txBox="1"/>
          <p:nvPr/>
        </p:nvSpPr>
        <p:spPr>
          <a:xfrm>
            <a:off x="399406" y="2114412"/>
            <a:ext cx="7383517" cy="419858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121212"/>
                </a:solidFill>
                <a:effectLst/>
                <a:uLnTx/>
                <a:uFillTx/>
                <a:latin typeface="-apple-system"/>
                <a:ea typeface="微软雅黑 Light"/>
                <a:cs typeface="+mn-cs"/>
              </a:rPr>
              <a:t>Type covered</a:t>
            </a:r>
            <a:r>
              <a:rPr kumimoji="0" lang="zh-CN" altLang="en-US" sz="2000" b="0" i="0" u="none" strike="noStrike" kern="1200" cap="none" spc="0" normalizeH="0" baseline="0" noProof="0" dirty="0">
                <a:ln>
                  <a:noFill/>
                </a:ln>
                <a:solidFill>
                  <a:srgbClr val="121212"/>
                </a:solidFill>
                <a:effectLst/>
                <a:uLnTx/>
                <a:uFillTx/>
                <a:latin typeface="-apple-system"/>
                <a:ea typeface="微软雅黑 Light"/>
                <a:cs typeface="+mn-cs"/>
              </a:rPr>
              <a:t>：該</a:t>
            </a:r>
            <a:r>
              <a:rPr kumimoji="0" lang="en-US" altLang="zh-CN" sz="2000" b="0" i="0" u="none" strike="noStrike" kern="1200" cap="none" spc="0" normalizeH="0" baseline="0" noProof="0" dirty="0">
                <a:ln>
                  <a:noFill/>
                </a:ln>
                <a:solidFill>
                  <a:srgbClr val="121212"/>
                </a:solidFill>
                <a:effectLst/>
                <a:uLnTx/>
                <a:uFillTx/>
                <a:latin typeface="-apple-system"/>
                <a:ea typeface="微软雅黑 Light"/>
                <a:cs typeface="+mn-cs"/>
              </a:rPr>
              <a:t>RRSIG</a:t>
            </a:r>
            <a:r>
              <a:rPr kumimoji="0" lang="zh-CN" altLang="en-US" sz="2000" b="0" i="0" u="none" strike="noStrike" kern="1200" cap="none" spc="0" normalizeH="0" baseline="0" noProof="0" dirty="0">
                <a:ln>
                  <a:noFill/>
                </a:ln>
                <a:solidFill>
                  <a:srgbClr val="121212"/>
                </a:solidFill>
                <a:effectLst/>
                <a:uLnTx/>
                <a:uFillTx/>
                <a:latin typeface="-apple-system"/>
                <a:ea typeface="微软雅黑 Light"/>
                <a:cs typeface="+mn-cs"/>
              </a:rPr>
              <a:t>涉及的</a:t>
            </a:r>
            <a:r>
              <a:rPr kumimoji="0" lang="en-US" altLang="zh-CN" sz="2000" b="0" i="0" u="none" strike="noStrike" kern="1200" cap="none" spc="0" normalizeH="0" baseline="0" noProof="0" dirty="0">
                <a:ln>
                  <a:noFill/>
                </a:ln>
                <a:solidFill>
                  <a:srgbClr val="121212"/>
                </a:solidFill>
                <a:effectLst/>
                <a:uLnTx/>
                <a:uFillTx/>
                <a:latin typeface="-apple-system"/>
                <a:ea typeface="微软雅黑 Light"/>
                <a:cs typeface="+mn-cs"/>
              </a:rPr>
              <a:t>DNS</a:t>
            </a:r>
            <a:r>
              <a:rPr kumimoji="0" lang="zh-CN" altLang="en-US" sz="2000" b="0" i="0" u="none" strike="noStrike" kern="1200" cap="none" spc="0" normalizeH="0" baseline="0" noProof="0" dirty="0">
                <a:ln>
                  <a:noFill/>
                </a:ln>
                <a:solidFill>
                  <a:srgbClr val="121212"/>
                </a:solidFill>
                <a:effectLst/>
                <a:uLnTx/>
                <a:uFillTx/>
                <a:latin typeface="-apple-system"/>
                <a:ea typeface="微软雅黑 Light"/>
                <a:cs typeface="+mn-cs"/>
              </a:rPr>
              <a:t>記錄類型</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121212"/>
                </a:solidFill>
                <a:effectLst/>
                <a:uLnTx/>
                <a:uFillTx/>
                <a:latin typeface="-apple-system"/>
                <a:ea typeface="微软雅黑 Light"/>
                <a:cs typeface="+mn-cs"/>
              </a:rPr>
              <a:t>Algorithm</a:t>
            </a:r>
            <a:r>
              <a:rPr kumimoji="0" lang="zh-CN" altLang="en-US" sz="2000" b="0" i="0" u="none" strike="noStrike" kern="1200" cap="none" spc="0" normalizeH="0" baseline="0" noProof="0" dirty="0">
                <a:ln>
                  <a:noFill/>
                </a:ln>
                <a:solidFill>
                  <a:srgbClr val="121212"/>
                </a:solidFill>
                <a:effectLst/>
                <a:uLnTx/>
                <a:uFillTx/>
                <a:latin typeface="-apple-system"/>
                <a:ea typeface="微软雅黑 Light"/>
                <a:cs typeface="+mn-cs"/>
              </a:rPr>
              <a:t>：生成最終簽名所用的加密算法</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121212"/>
                </a:solidFill>
                <a:effectLst/>
                <a:uLnTx/>
                <a:uFillTx/>
                <a:latin typeface="-apple-system"/>
                <a:ea typeface="微软雅黑 Light"/>
                <a:cs typeface="+mn-cs"/>
              </a:rPr>
              <a:t>Label count</a:t>
            </a:r>
            <a:r>
              <a:rPr kumimoji="0" lang="zh-CN" altLang="en-US" sz="2000" b="0" i="0" u="none" strike="noStrike" kern="1200" cap="none" spc="0" normalizeH="0" baseline="0" noProof="0" dirty="0">
                <a:ln>
                  <a:noFill/>
                </a:ln>
                <a:solidFill>
                  <a:srgbClr val="121212"/>
                </a:solidFill>
                <a:effectLst/>
                <a:uLnTx/>
                <a:uFillTx/>
                <a:latin typeface="-apple-system"/>
                <a:ea typeface="微软雅黑 Light"/>
                <a:cs typeface="+mn-cs"/>
              </a:rPr>
              <a:t>：原始</a:t>
            </a:r>
            <a:r>
              <a:rPr kumimoji="0" lang="en-US" altLang="zh-CN" sz="2000" b="0" i="0" u="none" strike="noStrike" kern="1200" cap="none" spc="0" normalizeH="0" baseline="0" noProof="0" dirty="0">
                <a:ln>
                  <a:noFill/>
                </a:ln>
                <a:solidFill>
                  <a:srgbClr val="121212"/>
                </a:solidFill>
                <a:effectLst/>
                <a:uLnTx/>
                <a:uFillTx/>
                <a:latin typeface="-apple-system"/>
                <a:ea typeface="微软雅黑 Light"/>
                <a:cs typeface="+mn-cs"/>
              </a:rPr>
              <a:t>RRSIG</a:t>
            </a:r>
            <a:r>
              <a:rPr kumimoji="0" lang="zh-CN" altLang="en-US" sz="2000" b="0" i="0" u="none" strike="noStrike" kern="1200" cap="none" spc="0" normalizeH="0" baseline="0" noProof="0" dirty="0">
                <a:ln>
                  <a:noFill/>
                </a:ln>
                <a:solidFill>
                  <a:srgbClr val="121212"/>
                </a:solidFill>
                <a:effectLst/>
                <a:uLnTx/>
                <a:uFillTx/>
                <a:latin typeface="-apple-system"/>
                <a:ea typeface="微软雅黑 Light"/>
                <a:cs typeface="+mn-cs"/>
              </a:rPr>
              <a:t>記錄名中的標簽數（用于驗證通配符）</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121212"/>
                </a:solidFill>
                <a:effectLst/>
                <a:uLnTx/>
                <a:uFillTx/>
                <a:latin typeface="-apple-system"/>
                <a:ea typeface="微软雅黑 Light"/>
                <a:cs typeface="+mn-cs"/>
              </a:rPr>
              <a:t>Original TTL</a:t>
            </a:r>
            <a:r>
              <a:rPr kumimoji="0" lang="zh-CN" altLang="en-US" sz="2000" b="0" i="0" u="none" strike="noStrike" kern="1200" cap="none" spc="0" normalizeH="0" baseline="0" noProof="0" dirty="0">
                <a:ln>
                  <a:noFill/>
                </a:ln>
                <a:solidFill>
                  <a:srgbClr val="121212"/>
                </a:solidFill>
                <a:effectLst/>
                <a:uLnTx/>
                <a:uFillTx/>
                <a:latin typeface="-apple-system"/>
                <a:ea typeface="微软雅黑 Light"/>
                <a:cs typeface="+mn-cs"/>
              </a:rPr>
              <a:t>：所涉及記錄集的</a:t>
            </a:r>
            <a:r>
              <a:rPr kumimoji="0" lang="en-US" altLang="zh-CN" sz="2000" b="0" i="0" u="none" strike="noStrike" kern="1200" cap="none" spc="0" normalizeH="0" baseline="0" noProof="0" dirty="0">
                <a:ln>
                  <a:noFill/>
                </a:ln>
                <a:solidFill>
                  <a:srgbClr val="121212"/>
                </a:solidFill>
                <a:effectLst/>
                <a:uLnTx/>
                <a:uFillTx/>
                <a:latin typeface="-apple-system"/>
                <a:ea typeface="微软雅黑 Light"/>
                <a:cs typeface="+mn-cs"/>
              </a:rPr>
              <a:t>TTL</a:t>
            </a:r>
            <a:r>
              <a:rPr kumimoji="0" lang="zh-CN" altLang="en-US" sz="2000" b="0" i="0" u="none" strike="noStrike" kern="1200" cap="none" spc="0" normalizeH="0" baseline="0" noProof="0" dirty="0">
                <a:ln>
                  <a:noFill/>
                </a:ln>
                <a:solidFill>
                  <a:srgbClr val="121212"/>
                </a:solidFill>
                <a:effectLst/>
                <a:uLnTx/>
                <a:uFillTx/>
                <a:latin typeface="-apple-system"/>
                <a:ea typeface="微软雅黑 Light"/>
                <a:cs typeface="+mn-cs"/>
              </a:rPr>
              <a:t>值</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121212"/>
                </a:solidFill>
                <a:effectLst/>
                <a:uLnTx/>
                <a:uFillTx/>
                <a:latin typeface="-apple-system"/>
                <a:ea typeface="微软雅黑 Light"/>
                <a:cs typeface="+mn-cs"/>
              </a:rPr>
              <a:t>Signature expiration</a:t>
            </a:r>
            <a:r>
              <a:rPr kumimoji="0" lang="zh-CN" altLang="en-US" sz="2000" b="0" i="0" u="none" strike="noStrike" kern="1200" cap="none" spc="0" normalizeH="0" baseline="0" noProof="0" dirty="0">
                <a:ln>
                  <a:noFill/>
                </a:ln>
                <a:solidFill>
                  <a:srgbClr val="121212"/>
                </a:solidFill>
                <a:effectLst/>
                <a:uLnTx/>
                <a:uFillTx/>
                <a:latin typeface="-apple-system"/>
                <a:ea typeface="微软雅黑 Light"/>
                <a:cs typeface="+mn-cs"/>
              </a:rPr>
              <a:t>：簽名的過期時間</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121212"/>
                </a:solidFill>
                <a:effectLst/>
                <a:uLnTx/>
                <a:uFillTx/>
                <a:latin typeface="-apple-system"/>
                <a:ea typeface="微软雅黑 Light"/>
                <a:cs typeface="+mn-cs"/>
              </a:rPr>
              <a:t>Signature inception</a:t>
            </a:r>
            <a:r>
              <a:rPr kumimoji="0" lang="zh-CN" altLang="en-US" sz="2000" b="0" i="0" u="none" strike="noStrike" kern="1200" cap="none" spc="0" normalizeH="0" baseline="0" noProof="0" dirty="0">
                <a:ln>
                  <a:noFill/>
                </a:ln>
                <a:solidFill>
                  <a:srgbClr val="121212"/>
                </a:solidFill>
                <a:effectLst/>
                <a:uLnTx/>
                <a:uFillTx/>
                <a:latin typeface="-apple-system"/>
                <a:ea typeface="微软雅黑 Light"/>
                <a:cs typeface="+mn-cs"/>
              </a:rPr>
              <a:t>：最初創建簽名的時間</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121212"/>
                </a:solidFill>
                <a:effectLst/>
                <a:uLnTx/>
                <a:uFillTx/>
                <a:latin typeface="-apple-system"/>
                <a:ea typeface="微软雅黑 Light"/>
                <a:cs typeface="+mn-cs"/>
              </a:rPr>
              <a:t>Key tag</a:t>
            </a:r>
            <a:r>
              <a:rPr kumimoji="0" lang="zh-CN" altLang="en-US" sz="2000" b="0" i="0" u="none" strike="noStrike" kern="1200" cap="none" spc="0" normalizeH="0" baseline="0" noProof="0" dirty="0">
                <a:ln>
                  <a:noFill/>
                </a:ln>
                <a:solidFill>
                  <a:srgbClr val="121212"/>
                </a:solidFill>
                <a:effectLst/>
                <a:uLnTx/>
                <a:uFillTx/>
                <a:latin typeface="-apple-system"/>
                <a:ea typeface="微软雅黑 Light"/>
                <a:cs typeface="+mn-cs"/>
              </a:rPr>
              <a:t>：一個數字值，用于識別驗證該</a:t>
            </a:r>
            <a:r>
              <a:rPr kumimoji="0" lang="en-US" altLang="zh-CN" sz="2000" b="0" i="0" u="none" strike="noStrike" kern="1200" cap="none" spc="0" normalizeH="0" baseline="0" noProof="0" dirty="0">
                <a:ln>
                  <a:noFill/>
                </a:ln>
                <a:solidFill>
                  <a:srgbClr val="121212"/>
                </a:solidFill>
                <a:effectLst/>
                <a:uLnTx/>
                <a:uFillTx/>
                <a:latin typeface="-apple-system"/>
                <a:ea typeface="微软雅黑 Light"/>
                <a:cs typeface="+mn-cs"/>
              </a:rPr>
              <a:t>RRSIG</a:t>
            </a:r>
            <a:r>
              <a:rPr kumimoji="0" lang="zh-CN" altLang="en-US" sz="2000" b="0" i="0" u="none" strike="noStrike" kern="1200" cap="none" spc="0" normalizeH="0" baseline="0" noProof="0" dirty="0">
                <a:ln>
                  <a:noFill/>
                </a:ln>
                <a:solidFill>
                  <a:srgbClr val="121212"/>
                </a:solidFill>
                <a:effectLst/>
                <a:uLnTx/>
                <a:uFillTx/>
                <a:latin typeface="-apple-system"/>
                <a:ea typeface="微软雅黑 Light"/>
                <a:cs typeface="+mn-cs"/>
              </a:rPr>
              <a:t>簽名的</a:t>
            </a:r>
            <a:r>
              <a:rPr kumimoji="0" lang="en-US" altLang="zh-CN" sz="2000" b="0" i="0" u="none" strike="noStrike" kern="1200" cap="none" spc="0" normalizeH="0" baseline="0" noProof="0" dirty="0">
                <a:ln>
                  <a:noFill/>
                </a:ln>
                <a:solidFill>
                  <a:srgbClr val="121212"/>
                </a:solidFill>
                <a:effectLst/>
                <a:uLnTx/>
                <a:uFillTx/>
                <a:latin typeface="-apple-system"/>
                <a:ea typeface="微软雅黑 Light"/>
                <a:cs typeface="+mn-cs"/>
              </a:rPr>
              <a:t>DNSKEY</a:t>
            </a:r>
            <a:r>
              <a:rPr kumimoji="0" lang="zh-CN" altLang="en-US" sz="2000" b="0" i="0" u="none" strike="noStrike" kern="1200" cap="none" spc="0" normalizeH="0" baseline="0" noProof="0" dirty="0">
                <a:ln>
                  <a:noFill/>
                </a:ln>
                <a:solidFill>
                  <a:srgbClr val="121212"/>
                </a:solidFill>
                <a:effectLst/>
                <a:uLnTx/>
                <a:uFillTx/>
                <a:latin typeface="-apple-system"/>
                <a:ea typeface="微软雅黑 Light"/>
                <a:cs typeface="+mn-cs"/>
              </a:rPr>
              <a:t>記錄</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121212"/>
                </a:solidFill>
                <a:effectLst/>
                <a:uLnTx/>
                <a:uFillTx/>
                <a:latin typeface="-apple-system"/>
                <a:ea typeface="微软雅黑 Light"/>
                <a:cs typeface="+mn-cs"/>
              </a:rPr>
              <a:t>Signer name</a:t>
            </a:r>
            <a:r>
              <a:rPr kumimoji="0" lang="zh-CN" altLang="en-US" sz="2000" b="0" i="0" u="none" strike="noStrike" kern="1200" cap="none" spc="0" normalizeH="0" baseline="0" noProof="0" dirty="0">
                <a:ln>
                  <a:noFill/>
                </a:ln>
                <a:solidFill>
                  <a:srgbClr val="121212"/>
                </a:solidFill>
                <a:effectLst/>
                <a:uLnTx/>
                <a:uFillTx/>
                <a:latin typeface="-apple-system"/>
                <a:ea typeface="微软雅黑 Light"/>
                <a:cs typeface="+mn-cs"/>
              </a:rPr>
              <a:t>：用于驗證該簽名的</a:t>
            </a:r>
            <a:r>
              <a:rPr kumimoji="0" lang="en-US" altLang="zh-CN" sz="2000" b="0" i="0" u="none" strike="noStrike" kern="1200" cap="none" spc="0" normalizeH="0" baseline="0" noProof="0" dirty="0">
                <a:ln>
                  <a:noFill/>
                </a:ln>
                <a:solidFill>
                  <a:srgbClr val="121212"/>
                </a:solidFill>
                <a:effectLst/>
                <a:uLnTx/>
                <a:uFillTx/>
                <a:latin typeface="-apple-system"/>
                <a:ea typeface="微软雅黑 Light"/>
                <a:cs typeface="+mn-cs"/>
              </a:rPr>
              <a:t>DNSKEY</a:t>
            </a:r>
            <a:r>
              <a:rPr kumimoji="0" lang="zh-CN" altLang="en-US" sz="2000" b="0" i="0" u="none" strike="noStrike" kern="1200" cap="none" spc="0" normalizeH="0" baseline="0" noProof="0" dirty="0">
                <a:ln>
                  <a:noFill/>
                </a:ln>
                <a:solidFill>
                  <a:srgbClr val="121212"/>
                </a:solidFill>
                <a:effectLst/>
                <a:uLnTx/>
                <a:uFillTx/>
                <a:latin typeface="-apple-system"/>
                <a:ea typeface="微软雅黑 Light"/>
                <a:cs typeface="+mn-cs"/>
              </a:rPr>
              <a:t>記錄名稱</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121212"/>
                </a:solidFill>
                <a:effectLst/>
                <a:uLnTx/>
                <a:uFillTx/>
                <a:latin typeface="-apple-system"/>
                <a:ea typeface="微软雅黑 Light"/>
                <a:cs typeface="+mn-cs"/>
              </a:rPr>
              <a:t>Signature</a:t>
            </a:r>
            <a:r>
              <a:rPr kumimoji="0" lang="zh-CN" altLang="en-US" sz="2000" b="0" i="0" u="none" strike="noStrike" kern="1200" cap="none" spc="0" normalizeH="0" baseline="0" noProof="0" dirty="0">
                <a:ln>
                  <a:noFill/>
                </a:ln>
                <a:solidFill>
                  <a:srgbClr val="121212"/>
                </a:solidFill>
                <a:effectLst/>
                <a:uLnTx/>
                <a:uFillTx/>
                <a:latin typeface="-apple-system"/>
                <a:ea typeface="微软雅黑 Light"/>
                <a:cs typeface="+mn-cs"/>
              </a:rPr>
              <a:t>：用于驗證傳輸的密碼學簽名</a:t>
            </a:r>
          </a:p>
        </p:txBody>
      </p:sp>
      <p:pic>
        <p:nvPicPr>
          <p:cNvPr id="14" name="图片 13">
            <a:extLst>
              <a:ext uri="{FF2B5EF4-FFF2-40B4-BE49-F238E27FC236}">
                <a16:creationId xmlns:a16="http://schemas.microsoft.com/office/drawing/2014/main" id="{58433643-D3AB-A9CC-B68D-A36056C278DA}"/>
              </a:ext>
            </a:extLst>
          </p:cNvPr>
          <p:cNvPicPr>
            <a:picLocks noChangeAspect="1"/>
          </p:cNvPicPr>
          <p:nvPr/>
        </p:nvPicPr>
        <p:blipFill>
          <a:blip r:embed="rId3"/>
          <a:stretch>
            <a:fillRect/>
          </a:stretch>
        </p:blipFill>
        <p:spPr>
          <a:xfrm>
            <a:off x="7761484" y="912969"/>
            <a:ext cx="4331554" cy="5671762"/>
          </a:xfrm>
          <a:prstGeom prst="rect">
            <a:avLst/>
          </a:prstGeom>
        </p:spPr>
      </p:pic>
    </p:spTree>
    <p:extLst>
      <p:ext uri="{BB962C8B-B14F-4D97-AF65-F5344CB8AC3E}">
        <p14:creationId xmlns:p14="http://schemas.microsoft.com/office/powerpoint/2010/main" val="17109265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7FD76D66-9371-2346-A334-ABB6364EDE98}"/>
              </a:ext>
            </a:extLst>
          </p:cNvPr>
          <p:cNvSpPr>
            <a:spLocks/>
          </p:cNvSpPr>
          <p:nvPr/>
        </p:nvSpPr>
        <p:spPr bwMode="auto">
          <a:xfrm>
            <a:off x="271463" y="1028268"/>
            <a:ext cx="11444287" cy="729096"/>
          </a:xfrm>
          <a:prstGeom prst="rect">
            <a:avLst/>
          </a:prstGeom>
          <a:solidFill>
            <a:schemeClr val="accent3">
              <a:lumMod val="20000"/>
              <a:lumOff val="80000"/>
            </a:schemeClr>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80" name="矩形 79">
            <a:extLst>
              <a:ext uri="{FF2B5EF4-FFF2-40B4-BE49-F238E27FC236}">
                <a16:creationId xmlns:a16="http://schemas.microsoft.com/office/drawing/2014/main" id="{B52C54A8-75B0-41A5-9A09-BC24FC51FE00}"/>
              </a:ext>
            </a:extLst>
          </p:cNvPr>
          <p:cNvSpPr>
            <a:spLocks/>
          </p:cNvSpPr>
          <p:nvPr/>
        </p:nvSpPr>
        <p:spPr bwMode="auto">
          <a:xfrm>
            <a:off x="6407025" y="4527488"/>
            <a:ext cx="5376266" cy="1993357"/>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44" name="矩形 43">
            <a:extLst>
              <a:ext uri="{FF2B5EF4-FFF2-40B4-BE49-F238E27FC236}">
                <a16:creationId xmlns:a16="http://schemas.microsoft.com/office/drawing/2014/main" id="{6EC83B25-A68A-4620-9782-310C23D7B43E}"/>
              </a:ext>
            </a:extLst>
          </p:cNvPr>
          <p:cNvSpPr>
            <a:spLocks/>
          </p:cNvSpPr>
          <p:nvPr/>
        </p:nvSpPr>
        <p:spPr bwMode="auto">
          <a:xfrm>
            <a:off x="286779" y="1896891"/>
            <a:ext cx="5949412" cy="4623954"/>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通過非對稱加密驗證身份</a:t>
            </a:r>
            <a:r>
              <a:rPr kumimoji="1" lang="en-US" altLang="zh-CN" dirty="0">
                <a:solidFill>
                  <a:srgbClr val="C00000"/>
                </a:solidFill>
              </a:rPr>
              <a:t>--DNSSEC</a:t>
            </a:r>
            <a:endParaRPr kumimoji="1" lang="zh-CN" altLang="en-US" dirty="0">
              <a:solidFill>
                <a:srgbClr val="C00000"/>
              </a:solidFill>
            </a:endParaRPr>
          </a:p>
        </p:txBody>
      </p:sp>
      <p:sp>
        <p:nvSpPr>
          <p:cNvPr id="8" name="文本框 7">
            <a:extLst>
              <a:ext uri="{FF2B5EF4-FFF2-40B4-BE49-F238E27FC236}">
                <a16:creationId xmlns:a16="http://schemas.microsoft.com/office/drawing/2014/main" id="{492A5E39-35C4-4940-81AE-18B818E4A991}"/>
              </a:ext>
            </a:extLst>
          </p:cNvPr>
          <p:cNvSpPr txBox="1"/>
          <p:nvPr/>
        </p:nvSpPr>
        <p:spPr>
          <a:xfrm>
            <a:off x="499302" y="1932137"/>
            <a:ext cx="5426366" cy="460299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RRSIG</a:t>
            </a:r>
            <a:r>
              <a:rPr kumimoji="0" lang="zh-CN" altLang="en-US"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en-US" altLang="zh-CN"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Resource Record Signature</a:t>
            </a:r>
            <a:r>
              <a:rPr kumimoji="0" lang="zh-CN" altLang="en-US"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en-US" altLang="zh-CN"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資源記錄簽名</a:t>
            </a:r>
            <a:endPar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DNSKEY</a:t>
            </a:r>
            <a:r>
              <a:rPr kumimoji="0" lang="zh-CN" altLang="en-US"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en-US" altLang="zh-CN"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DNS Public Key</a:t>
            </a:r>
            <a:r>
              <a:rPr kumimoji="0" lang="zh-CN" altLang="en-US"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endParaRPr kumimoji="0" lang="en-US" altLang="zh-CN"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公鑰記錄</a:t>
            </a:r>
            <a:endPar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DS</a:t>
            </a:r>
            <a:r>
              <a:rPr kumimoji="0" lang="zh-CN" altLang="en-US"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en-US" altLang="zh-CN"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Delegation Signer</a:t>
            </a:r>
            <a:r>
              <a:rPr kumimoji="0" lang="zh-CN" altLang="en-US"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en-US" altLang="zh-CN" sz="2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DNSKEY</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的散列值，</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DS</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記錄存儲在上級域名服務器，用于建立信任鏈</a:t>
            </a:r>
            <a:endPar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EAE92C17-47FF-499B-9B3F-25FD8C8EA2F6}"/>
              </a:ext>
            </a:extLst>
          </p:cNvPr>
          <p:cNvSpPr txBox="1"/>
          <p:nvPr/>
        </p:nvSpPr>
        <p:spPr>
          <a:xfrm>
            <a:off x="3963057" y="1115163"/>
            <a:ext cx="463075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DNSSEC</a:t>
            </a:r>
            <a:r>
              <a:rPr kumimoji="0" lang="zh-CN" altLang="en-US" sz="28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請求及驗證過程</a:t>
            </a:r>
          </a:p>
        </p:txBody>
      </p:sp>
      <p:sp>
        <p:nvSpPr>
          <p:cNvPr id="45" name="矩形 44">
            <a:extLst>
              <a:ext uri="{FF2B5EF4-FFF2-40B4-BE49-F238E27FC236}">
                <a16:creationId xmlns:a16="http://schemas.microsoft.com/office/drawing/2014/main" id="{FF4DA978-9875-4B01-A52C-B51F46AB0801}"/>
              </a:ext>
            </a:extLst>
          </p:cNvPr>
          <p:cNvSpPr>
            <a:spLocks/>
          </p:cNvSpPr>
          <p:nvPr/>
        </p:nvSpPr>
        <p:spPr bwMode="auto">
          <a:xfrm>
            <a:off x="6407025" y="1896891"/>
            <a:ext cx="5376266" cy="2497309"/>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2" name="矩形: 圆角 1">
            <a:extLst>
              <a:ext uri="{FF2B5EF4-FFF2-40B4-BE49-F238E27FC236}">
                <a16:creationId xmlns:a16="http://schemas.microsoft.com/office/drawing/2014/main" id="{3CCC7D2F-C0C5-494A-A82D-869826B19088}"/>
              </a:ext>
            </a:extLst>
          </p:cNvPr>
          <p:cNvSpPr/>
          <p:nvPr/>
        </p:nvSpPr>
        <p:spPr>
          <a:xfrm>
            <a:off x="7276576" y="2220665"/>
            <a:ext cx="1257300" cy="581891"/>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解析結果</a:t>
            </a:r>
            <a:r>
              <a:rPr kumimoji="0" lang="en-US" altLang="zh-CN"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+RRSIG</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0" name="矩形: 圆角 49">
            <a:extLst>
              <a:ext uri="{FF2B5EF4-FFF2-40B4-BE49-F238E27FC236}">
                <a16:creationId xmlns:a16="http://schemas.microsoft.com/office/drawing/2014/main" id="{AF3BC94B-467A-4D6B-BC61-E7E563C71231}"/>
              </a:ext>
            </a:extLst>
          </p:cNvPr>
          <p:cNvSpPr/>
          <p:nvPr/>
        </p:nvSpPr>
        <p:spPr>
          <a:xfrm>
            <a:off x="9702854" y="2220665"/>
            <a:ext cx="1257300" cy="581891"/>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DNSKEY + RRSIG</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2" name="矩形: 圆角 51">
            <a:extLst>
              <a:ext uri="{FF2B5EF4-FFF2-40B4-BE49-F238E27FC236}">
                <a16:creationId xmlns:a16="http://schemas.microsoft.com/office/drawing/2014/main" id="{9681244A-FCBD-4668-B9EA-CCA674F853D0}"/>
              </a:ext>
            </a:extLst>
          </p:cNvPr>
          <p:cNvSpPr/>
          <p:nvPr/>
        </p:nvSpPr>
        <p:spPr>
          <a:xfrm>
            <a:off x="7276576" y="3415433"/>
            <a:ext cx="1257300" cy="581891"/>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上層</a:t>
            </a:r>
            <a:r>
              <a:rPr kumimoji="0" lang="en-US" altLang="zh-CN"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DS+ RRSIG</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3" name="矩形: 圆角 52">
            <a:extLst>
              <a:ext uri="{FF2B5EF4-FFF2-40B4-BE49-F238E27FC236}">
                <a16:creationId xmlns:a16="http://schemas.microsoft.com/office/drawing/2014/main" id="{058409BA-D7AC-45A5-800C-0031BA66207C}"/>
              </a:ext>
            </a:extLst>
          </p:cNvPr>
          <p:cNvSpPr/>
          <p:nvPr/>
        </p:nvSpPr>
        <p:spPr>
          <a:xfrm>
            <a:off x="9702852" y="3400910"/>
            <a:ext cx="1412781" cy="581891"/>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根</a:t>
            </a:r>
            <a:r>
              <a:rPr kumimoji="0" lang="en-US" altLang="zh-CN"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DNSKEY + RRSIG</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cxnSp>
        <p:nvCxnSpPr>
          <p:cNvPr id="5" name="直接箭头连接符 4">
            <a:extLst>
              <a:ext uri="{FF2B5EF4-FFF2-40B4-BE49-F238E27FC236}">
                <a16:creationId xmlns:a16="http://schemas.microsoft.com/office/drawing/2014/main" id="{4DB98845-9513-4A5C-83C1-099F9A0CD589}"/>
              </a:ext>
            </a:extLst>
          </p:cNvPr>
          <p:cNvCxnSpPr>
            <a:stCxn id="2" idx="3"/>
            <a:endCxn id="50" idx="1"/>
          </p:cNvCxnSpPr>
          <p:nvPr/>
        </p:nvCxnSpPr>
        <p:spPr>
          <a:xfrm>
            <a:off x="8533876" y="2511611"/>
            <a:ext cx="11689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E4D4239D-98A5-4B54-A2BB-081098875F37}"/>
              </a:ext>
            </a:extLst>
          </p:cNvPr>
          <p:cNvSpPr txBox="1"/>
          <p:nvPr/>
        </p:nvSpPr>
        <p:spPr>
          <a:xfrm>
            <a:off x="8788964" y="2188444"/>
            <a:ext cx="74712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驗證</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cxnSp>
        <p:nvCxnSpPr>
          <p:cNvPr id="10" name="连接符: 肘形 9">
            <a:extLst>
              <a:ext uri="{FF2B5EF4-FFF2-40B4-BE49-F238E27FC236}">
                <a16:creationId xmlns:a16="http://schemas.microsoft.com/office/drawing/2014/main" id="{2D16F785-3F52-4120-94EB-6636A97D8DDA}"/>
              </a:ext>
            </a:extLst>
          </p:cNvPr>
          <p:cNvCxnSpPr>
            <a:cxnSpLocks/>
            <a:endCxn id="52" idx="1"/>
          </p:cNvCxnSpPr>
          <p:nvPr/>
        </p:nvCxnSpPr>
        <p:spPr>
          <a:xfrm rot="10800000" flipV="1">
            <a:off x="7276577" y="3047337"/>
            <a:ext cx="3054927" cy="659042"/>
          </a:xfrm>
          <a:prstGeom prst="bentConnector3">
            <a:avLst>
              <a:gd name="adj1" fmla="val 10748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866E9302-8158-4397-BCB0-E7AB9FAA48D9}"/>
              </a:ext>
            </a:extLst>
          </p:cNvPr>
          <p:cNvCxnSpPr/>
          <p:nvPr/>
        </p:nvCxnSpPr>
        <p:spPr>
          <a:xfrm flipV="1">
            <a:off x="10331503" y="2802556"/>
            <a:ext cx="0" cy="244781"/>
          </a:xfrm>
          <a:prstGeom prst="line">
            <a:avLst/>
          </a:prstGeom>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8A46AFE3-2F95-4598-B91E-DCFDE1DB1ECC}"/>
              </a:ext>
            </a:extLst>
          </p:cNvPr>
          <p:cNvSpPr txBox="1"/>
          <p:nvPr/>
        </p:nvSpPr>
        <p:spPr>
          <a:xfrm>
            <a:off x="7097743" y="3031578"/>
            <a:ext cx="74712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驗證</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cxnSp>
        <p:nvCxnSpPr>
          <p:cNvPr id="72" name="直接箭头连接符 71">
            <a:extLst>
              <a:ext uri="{FF2B5EF4-FFF2-40B4-BE49-F238E27FC236}">
                <a16:creationId xmlns:a16="http://schemas.microsoft.com/office/drawing/2014/main" id="{24F22C18-289B-4784-9B23-4A44D9A90001}"/>
              </a:ext>
            </a:extLst>
          </p:cNvPr>
          <p:cNvCxnSpPr>
            <a:cxnSpLocks/>
          </p:cNvCxnSpPr>
          <p:nvPr/>
        </p:nvCxnSpPr>
        <p:spPr>
          <a:xfrm>
            <a:off x="8524440" y="3701777"/>
            <a:ext cx="6989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592CE328-F9AF-4EFB-8FEF-871578AA7E3F}"/>
              </a:ext>
            </a:extLst>
          </p:cNvPr>
          <p:cNvSpPr txBox="1"/>
          <p:nvPr/>
        </p:nvSpPr>
        <p:spPr>
          <a:xfrm>
            <a:off x="9223340" y="3442454"/>
            <a:ext cx="74712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77" name="文本框 76">
            <a:extLst>
              <a:ext uri="{FF2B5EF4-FFF2-40B4-BE49-F238E27FC236}">
                <a16:creationId xmlns:a16="http://schemas.microsoft.com/office/drawing/2014/main" id="{743FA229-BC8C-4BB9-B60E-9588FF24D09F}"/>
              </a:ext>
            </a:extLst>
          </p:cNvPr>
          <p:cNvSpPr txBox="1"/>
          <p:nvPr/>
        </p:nvSpPr>
        <p:spPr>
          <a:xfrm>
            <a:off x="8552759" y="3323317"/>
            <a:ext cx="74712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驗證</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78" name="文本框 77">
            <a:extLst>
              <a:ext uri="{FF2B5EF4-FFF2-40B4-BE49-F238E27FC236}">
                <a16:creationId xmlns:a16="http://schemas.microsoft.com/office/drawing/2014/main" id="{1D49C9A2-F2FD-4A13-B663-6A9845E1E88B}"/>
              </a:ext>
            </a:extLst>
          </p:cNvPr>
          <p:cNvSpPr txBox="1"/>
          <p:nvPr/>
        </p:nvSpPr>
        <p:spPr>
          <a:xfrm>
            <a:off x="6456806" y="4789317"/>
            <a:ext cx="5323117" cy="1369221"/>
          </a:xfrm>
          <a:prstGeom prst="rect">
            <a:avLst/>
          </a:prstGeom>
          <a:noFill/>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解析結果通過簽名（</a:t>
            </a:r>
            <a:r>
              <a:rPr kumimoji="0" lang="en-US"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RRSIG</a:t>
            </a:r>
            <a:r>
              <a:rPr kumimoji="0" lang="zh-CN" altLang="en-US"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）驗證，</a:t>
            </a:r>
            <a:r>
              <a:rPr kumimoji="0" lang="en-US"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RRSIG</a:t>
            </a:r>
            <a:r>
              <a:rPr kumimoji="0" lang="zh-CN" altLang="en-US"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通過公鑰（</a:t>
            </a:r>
            <a:r>
              <a:rPr kumimoji="0" lang="en-US"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DNSKEY</a:t>
            </a:r>
            <a:r>
              <a:rPr kumimoji="0" lang="zh-CN" altLang="en-US"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）驗證，公鑰通過上級公鑰散列（</a:t>
            </a:r>
            <a:r>
              <a:rPr kumimoji="0" lang="en-US" altLang="zh-CN"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DS</a:t>
            </a:r>
            <a:r>
              <a:rPr kumimoji="0" lang="zh-CN" altLang="en-US" sz="2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）及簽名驗證</a:t>
            </a:r>
            <a:endParaRPr kumimoji="0" lang="zh-CN" altLang="en-US" sz="2200" b="0" i="0" u="none" strike="noStrike" kern="1200" cap="none" spc="0" normalizeH="0" baseline="0" noProof="0" dirty="0">
              <a:ln>
                <a:noFill/>
              </a:ln>
              <a:solidFill>
                <a:srgbClr val="000000"/>
              </a:solidFill>
              <a:effectLst/>
              <a:uLnTx/>
              <a:uFillTx/>
              <a:latin typeface="Arial"/>
              <a:ea typeface="微软雅黑 Light"/>
              <a:cs typeface="+mn-cs"/>
            </a:endParaRPr>
          </a:p>
        </p:txBody>
      </p:sp>
    </p:spTree>
    <p:extLst>
      <p:ext uri="{BB962C8B-B14F-4D97-AF65-F5344CB8AC3E}">
        <p14:creationId xmlns:p14="http://schemas.microsoft.com/office/powerpoint/2010/main" val="38462420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通過非對稱加密驗證身份</a:t>
            </a:r>
            <a:r>
              <a:rPr kumimoji="1" lang="en-US" altLang="zh-CN" dirty="0">
                <a:solidFill>
                  <a:srgbClr val="C00000"/>
                </a:solidFill>
              </a:rPr>
              <a:t>--DNSSEC</a:t>
            </a:r>
            <a:endParaRPr kumimoji="1" lang="zh-CN" altLang="en-US" dirty="0">
              <a:solidFill>
                <a:srgbClr val="C00000"/>
              </a:solidFill>
            </a:endParaRPr>
          </a:p>
        </p:txBody>
      </p:sp>
      <p:sp>
        <p:nvSpPr>
          <p:cNvPr id="6" name="矩形 5">
            <a:extLst>
              <a:ext uri="{FF2B5EF4-FFF2-40B4-BE49-F238E27FC236}">
                <a16:creationId xmlns:a16="http://schemas.microsoft.com/office/drawing/2014/main" id="{86F74426-B5A7-5044-B842-AC8704D36BAF}"/>
              </a:ext>
            </a:extLst>
          </p:cNvPr>
          <p:cNvSpPr>
            <a:spLocks/>
          </p:cNvSpPr>
          <p:nvPr/>
        </p:nvSpPr>
        <p:spPr bwMode="auto">
          <a:xfrm>
            <a:off x="271463" y="1028268"/>
            <a:ext cx="11444287" cy="729096"/>
          </a:xfrm>
          <a:prstGeom prst="rect">
            <a:avLst/>
          </a:prstGeom>
          <a:solidFill>
            <a:schemeClr val="accent3">
              <a:lumMod val="20000"/>
              <a:lumOff val="80000"/>
            </a:schemeClr>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8" name="文本框 7">
            <a:extLst>
              <a:ext uri="{FF2B5EF4-FFF2-40B4-BE49-F238E27FC236}">
                <a16:creationId xmlns:a16="http://schemas.microsoft.com/office/drawing/2014/main" id="{D62022BE-8D5E-9047-9028-384EBCC67992}"/>
              </a:ext>
            </a:extLst>
          </p:cNvPr>
          <p:cNvSpPr txBox="1"/>
          <p:nvPr/>
        </p:nvSpPr>
        <p:spPr>
          <a:xfrm>
            <a:off x="3963057" y="1115163"/>
            <a:ext cx="463075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DNSSEC</a:t>
            </a:r>
            <a:r>
              <a:rPr kumimoji="0" lang="zh-CN" altLang="en-US" sz="28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請求及驗證過程</a:t>
            </a:r>
          </a:p>
        </p:txBody>
      </p:sp>
      <p:pic>
        <p:nvPicPr>
          <p:cNvPr id="5" name="图片 4">
            <a:extLst>
              <a:ext uri="{FF2B5EF4-FFF2-40B4-BE49-F238E27FC236}">
                <a16:creationId xmlns:a16="http://schemas.microsoft.com/office/drawing/2014/main" id="{CDAF0AD3-0404-0F2B-2FF4-BE0C4CFABE98}"/>
              </a:ext>
            </a:extLst>
          </p:cNvPr>
          <p:cNvPicPr>
            <a:picLocks noChangeAspect="1"/>
          </p:cNvPicPr>
          <p:nvPr/>
        </p:nvPicPr>
        <p:blipFill>
          <a:blip r:embed="rId3"/>
          <a:stretch>
            <a:fillRect/>
          </a:stretch>
        </p:blipFill>
        <p:spPr>
          <a:xfrm>
            <a:off x="271463" y="2043041"/>
            <a:ext cx="11353874" cy="4377637"/>
          </a:xfrm>
          <a:prstGeom prst="rect">
            <a:avLst/>
          </a:prstGeom>
        </p:spPr>
      </p:pic>
    </p:spTree>
    <p:extLst>
      <p:ext uri="{BB962C8B-B14F-4D97-AF65-F5344CB8AC3E}">
        <p14:creationId xmlns:p14="http://schemas.microsoft.com/office/powerpoint/2010/main" val="20156530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5A35E263-CB3F-48C0-BD2E-7C10F7A8E9FD}"/>
              </a:ext>
            </a:extLst>
          </p:cNvPr>
          <p:cNvSpPr>
            <a:spLocks/>
          </p:cNvSpPr>
          <p:nvPr/>
        </p:nvSpPr>
        <p:spPr bwMode="auto">
          <a:xfrm>
            <a:off x="2918314" y="5353492"/>
            <a:ext cx="8967361" cy="678233"/>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18" name="矩形 17">
            <a:extLst>
              <a:ext uri="{FF2B5EF4-FFF2-40B4-BE49-F238E27FC236}">
                <a16:creationId xmlns:a16="http://schemas.microsoft.com/office/drawing/2014/main" id="{8847BAA9-7653-4561-9EEE-1263F491E8B4}"/>
              </a:ext>
            </a:extLst>
          </p:cNvPr>
          <p:cNvSpPr>
            <a:spLocks/>
          </p:cNvSpPr>
          <p:nvPr/>
        </p:nvSpPr>
        <p:spPr bwMode="auto">
          <a:xfrm>
            <a:off x="3107038" y="3058163"/>
            <a:ext cx="8778638" cy="159398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15" name="矩形 14">
            <a:extLst>
              <a:ext uri="{FF2B5EF4-FFF2-40B4-BE49-F238E27FC236}">
                <a16:creationId xmlns:a16="http://schemas.microsoft.com/office/drawing/2014/main" id="{E5287490-6906-4291-9FF0-BC2540E3951D}"/>
              </a:ext>
            </a:extLst>
          </p:cNvPr>
          <p:cNvSpPr>
            <a:spLocks/>
          </p:cNvSpPr>
          <p:nvPr/>
        </p:nvSpPr>
        <p:spPr bwMode="auto">
          <a:xfrm>
            <a:off x="3445630" y="1336506"/>
            <a:ext cx="8440046" cy="1240439"/>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通過非對稱加密驗證身份</a:t>
            </a:r>
            <a:r>
              <a:rPr kumimoji="1" lang="en-US" altLang="zh-CN" dirty="0">
                <a:solidFill>
                  <a:srgbClr val="C00000"/>
                </a:solidFill>
              </a:rPr>
              <a:t>—DNSSEC</a:t>
            </a:r>
            <a:r>
              <a:rPr kumimoji="1" lang="zh-CN" altLang="en-US" dirty="0">
                <a:solidFill>
                  <a:srgbClr val="C00000"/>
                </a:solidFill>
              </a:rPr>
              <a:t>的不足</a:t>
            </a:r>
          </a:p>
        </p:txBody>
      </p:sp>
      <p:sp>
        <p:nvSpPr>
          <p:cNvPr id="8" name="文本框 7">
            <a:extLst>
              <a:ext uri="{FF2B5EF4-FFF2-40B4-BE49-F238E27FC236}">
                <a16:creationId xmlns:a16="http://schemas.microsoft.com/office/drawing/2014/main" id="{492A5E39-35C4-4940-81AE-18B818E4A991}"/>
              </a:ext>
            </a:extLst>
          </p:cNvPr>
          <p:cNvSpPr txBox="1"/>
          <p:nvPr/>
        </p:nvSpPr>
        <p:spPr>
          <a:xfrm>
            <a:off x="3387776" y="1434228"/>
            <a:ext cx="8440047" cy="961289"/>
          </a:xfrm>
          <a:prstGeom prst="rect">
            <a:avLst/>
          </a:prstGeom>
          <a:noFill/>
        </p:spPr>
        <p:txBody>
          <a:bodyPr wrap="square">
            <a:spAutoFit/>
          </a:bodyPr>
          <a:lstStyle/>
          <a:p>
            <a:pPr marL="127000" marR="0" lvl="0" indent="0" algn="just" defTabSz="914400" rtl="0" eaLnBrk="1" fontAlgn="auto" latinLnBrk="0" hangingPunct="1">
              <a:lnSpc>
                <a:spcPct val="150000"/>
              </a:lnSpc>
              <a:spcBef>
                <a:spcPts val="0"/>
              </a:spcBef>
              <a:spcAft>
                <a:spcPts val="0"/>
              </a:spcAft>
              <a:buClrTx/>
              <a:buSzTx/>
              <a:buFontTx/>
              <a:buNone/>
              <a:tabLst/>
              <a:defRPr/>
            </a:pPr>
            <a:r>
              <a:rPr kumimoji="0" lang="zh-CN"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經濟因素制約其部署</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a:t>
            </a:r>
            <a:r>
              <a:rPr kumimoji="0" lang="zh-CN"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大量簽名和驗證帶來嚴重的負載</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，影響</a:t>
            </a:r>
            <a:r>
              <a:rPr kumimoji="0" lang="zh-CN"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效率</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，驗證能力取决于遞歸服務器以及客戶端是否對數字簽名記錄做校驗</a:t>
            </a:r>
            <a:endParaRPr kumimoji="0" lang="zh-CN"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4" name="MH_Other_4">
            <a:extLst>
              <a:ext uri="{FF2B5EF4-FFF2-40B4-BE49-F238E27FC236}">
                <a16:creationId xmlns:a16="http://schemas.microsoft.com/office/drawing/2014/main" id="{48AD916C-C1FC-4F72-A115-BA164BD055AC}"/>
              </a:ext>
            </a:extLst>
          </p:cNvPr>
          <p:cNvCxnSpPr>
            <a:cxnSpLocks/>
          </p:cNvCxnSpPr>
          <p:nvPr>
            <p:custDataLst>
              <p:tags r:id="rId1"/>
            </p:custDataLst>
          </p:nvPr>
        </p:nvCxnSpPr>
        <p:spPr>
          <a:xfrm>
            <a:off x="2456111" y="1898849"/>
            <a:ext cx="989519" cy="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MH_Other_1">
            <a:extLst>
              <a:ext uri="{FF2B5EF4-FFF2-40B4-BE49-F238E27FC236}">
                <a16:creationId xmlns:a16="http://schemas.microsoft.com/office/drawing/2014/main" id="{0CBC10A9-2A2B-4527-9522-3853AA2DA94F}"/>
              </a:ext>
            </a:extLst>
          </p:cNvPr>
          <p:cNvSpPr/>
          <p:nvPr>
            <p:custDataLst>
              <p:tags r:id="rId2"/>
            </p:custDataLst>
          </p:nvPr>
        </p:nvSpPr>
        <p:spPr>
          <a:xfrm rot="21439215">
            <a:off x="1855021" y="3374348"/>
            <a:ext cx="990128" cy="1002970"/>
          </a:xfrm>
          <a:prstGeom prst="roundRect">
            <a:avLst>
              <a:gd name="adj" fmla="val 18567"/>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設計能力</a:t>
            </a:r>
          </a:p>
        </p:txBody>
      </p:sp>
      <p:sp>
        <p:nvSpPr>
          <p:cNvPr id="6" name="MH_Other_3">
            <a:extLst>
              <a:ext uri="{FF2B5EF4-FFF2-40B4-BE49-F238E27FC236}">
                <a16:creationId xmlns:a16="http://schemas.microsoft.com/office/drawing/2014/main" id="{B9487AEE-68F2-4976-BDE9-9A968A1D7707}"/>
              </a:ext>
            </a:extLst>
          </p:cNvPr>
          <p:cNvSpPr/>
          <p:nvPr>
            <p:custDataLst>
              <p:tags r:id="rId3"/>
            </p:custDataLst>
          </p:nvPr>
        </p:nvSpPr>
        <p:spPr>
          <a:xfrm rot="183635">
            <a:off x="1438630" y="1459980"/>
            <a:ext cx="991412" cy="1002970"/>
          </a:xfrm>
          <a:prstGeom prst="roundRect">
            <a:avLst>
              <a:gd name="adj" fmla="val 18567"/>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可部署性</a:t>
            </a:r>
          </a:p>
        </p:txBody>
      </p:sp>
      <p:sp>
        <p:nvSpPr>
          <p:cNvPr id="7" name="MH_Other_1">
            <a:extLst>
              <a:ext uri="{FF2B5EF4-FFF2-40B4-BE49-F238E27FC236}">
                <a16:creationId xmlns:a16="http://schemas.microsoft.com/office/drawing/2014/main" id="{298A3EBB-FD17-4A9A-A090-BB442307B069}"/>
              </a:ext>
            </a:extLst>
          </p:cNvPr>
          <p:cNvSpPr/>
          <p:nvPr>
            <p:custDataLst>
              <p:tags r:id="rId4"/>
            </p:custDataLst>
          </p:nvPr>
        </p:nvSpPr>
        <p:spPr>
          <a:xfrm>
            <a:off x="1593132" y="5192833"/>
            <a:ext cx="990128" cy="1002970"/>
          </a:xfrm>
          <a:prstGeom prst="roundRect">
            <a:avLst>
              <a:gd name="adj" fmla="val 18567"/>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引入錯誤</a:t>
            </a:r>
          </a:p>
        </p:txBody>
      </p:sp>
      <p:cxnSp>
        <p:nvCxnSpPr>
          <p:cNvPr id="13" name="MH_Other_4">
            <a:extLst>
              <a:ext uri="{FF2B5EF4-FFF2-40B4-BE49-F238E27FC236}">
                <a16:creationId xmlns:a16="http://schemas.microsoft.com/office/drawing/2014/main" id="{EC15A439-8B62-405D-AF6E-4FD5C5A05146}"/>
              </a:ext>
            </a:extLst>
          </p:cNvPr>
          <p:cNvCxnSpPr>
            <a:cxnSpLocks/>
          </p:cNvCxnSpPr>
          <p:nvPr>
            <p:custDataLst>
              <p:tags r:id="rId5"/>
            </p:custDataLst>
          </p:nvPr>
        </p:nvCxnSpPr>
        <p:spPr>
          <a:xfrm>
            <a:off x="2858075" y="3821506"/>
            <a:ext cx="248963" cy="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MH_Other_4">
            <a:extLst>
              <a:ext uri="{FF2B5EF4-FFF2-40B4-BE49-F238E27FC236}">
                <a16:creationId xmlns:a16="http://schemas.microsoft.com/office/drawing/2014/main" id="{3A2113D1-FC5E-4380-8EC1-8B1F52D11151}"/>
              </a:ext>
            </a:extLst>
          </p:cNvPr>
          <p:cNvCxnSpPr>
            <a:cxnSpLocks/>
          </p:cNvCxnSpPr>
          <p:nvPr>
            <p:custDataLst>
              <p:tags r:id="rId6"/>
            </p:custDataLst>
          </p:nvPr>
        </p:nvCxnSpPr>
        <p:spPr>
          <a:xfrm>
            <a:off x="2583260" y="5627863"/>
            <a:ext cx="335055" cy="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CB3D07EB-E6C2-4F01-8400-AF5224A6E94B}"/>
              </a:ext>
            </a:extLst>
          </p:cNvPr>
          <p:cNvSpPr txBox="1"/>
          <p:nvPr/>
        </p:nvSpPr>
        <p:spPr>
          <a:xfrm>
            <a:off x="2982556" y="3087117"/>
            <a:ext cx="8909508" cy="1422954"/>
          </a:xfrm>
          <a:prstGeom prst="rect">
            <a:avLst/>
          </a:prstGeom>
          <a:noFill/>
        </p:spPr>
        <p:txBody>
          <a:bodyPr wrap="square">
            <a:spAutoFit/>
          </a:bodyPr>
          <a:lstStyle/>
          <a:p>
            <a:pPr marL="127000" marR="0" lvl="0" indent="0" algn="just" defTabSz="914400" rtl="0" eaLnBrk="1" fontAlgn="auto" latinLnBrk="0" hangingPunct="1">
              <a:lnSpc>
                <a:spcPct val="150000"/>
              </a:lnSpc>
              <a:spcBef>
                <a:spcPts val="0"/>
              </a:spcBef>
              <a:spcAft>
                <a:spcPts val="0"/>
              </a:spcAft>
              <a:buClrTx/>
              <a:buSzTx/>
              <a:buFontTx/>
              <a:buNone/>
              <a:tabLst/>
              <a:defRPr/>
            </a:pPr>
            <a:r>
              <a:rPr kumimoji="0" lang="zh-CN"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離綫存儲</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與</a:t>
            </a:r>
            <a:r>
              <a:rPr kumimoji="0" lang="zh-CN"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頻繁使用密鑰</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，私鑰的安全無法保證；</a:t>
            </a:r>
            <a:r>
              <a:rPr kumimoji="0" lang="zh-CN"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沒有提供機密性和一致性檢驗，無法抵禦重放攻擊</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a:t>
            </a:r>
            <a:r>
              <a:rPr kumimoji="0" lang="zh-CN"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只提供單向認證，沒有對客戶的認證，不能解决緩存中毒</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a:t>
            </a:r>
            <a:r>
              <a:rPr kumimoji="0" lang="x-none"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 </a:t>
            </a:r>
            <a:r>
              <a:rPr kumimoji="0" lang="zh-CN"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沒有提供</a:t>
            </a:r>
            <a:r>
              <a:rPr kumimoji="0" lang="x-none"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D2o00536922989"/>
              </a:rPr>
              <a:t>DoS</a:t>
            </a:r>
            <a:r>
              <a:rPr kumimoji="0" lang="zh-CN"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防護</a:t>
            </a:r>
            <a:endParaRPr kumimoji="0" lang="zh-CN"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文本框 16">
            <a:extLst>
              <a:ext uri="{FF2B5EF4-FFF2-40B4-BE49-F238E27FC236}">
                <a16:creationId xmlns:a16="http://schemas.microsoft.com/office/drawing/2014/main" id="{0A36BEF2-47F0-4B42-A404-1308E8A5EC38}"/>
              </a:ext>
            </a:extLst>
          </p:cNvPr>
          <p:cNvSpPr txBox="1"/>
          <p:nvPr/>
        </p:nvSpPr>
        <p:spPr>
          <a:xfrm>
            <a:off x="2583260" y="5353492"/>
            <a:ext cx="5490786" cy="499624"/>
          </a:xfrm>
          <a:prstGeom prst="rect">
            <a:avLst/>
          </a:prstGeom>
          <a:noFill/>
        </p:spPr>
        <p:txBody>
          <a:bodyPr wrap="square">
            <a:spAutoFit/>
          </a:bodyPr>
          <a:lstStyle/>
          <a:p>
            <a:pPr marL="127000" marR="0" lvl="0" indent="266700" algn="just"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引入</a:t>
            </a:r>
            <a:r>
              <a:rPr kumimoji="0" lang="zh-CN"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了新的實現和配置錯誤</a:t>
            </a:r>
            <a:endParaRPr kumimoji="0" lang="zh-CN" altLang="zh-CN" sz="20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 name="灯片编号占位符 19">
            <a:extLst>
              <a:ext uri="{FF2B5EF4-FFF2-40B4-BE49-F238E27FC236}">
                <a16:creationId xmlns:a16="http://schemas.microsoft.com/office/drawing/2014/main" id="{E1236018-8BDB-4E9D-BB05-0AFCCD0EA8A5}"/>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9452980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B2004568-3C53-4B30-B4FB-D1110F010A27}"/>
              </a:ext>
            </a:extLst>
          </p:cNvPr>
          <p:cNvSpPr>
            <a:spLocks/>
          </p:cNvSpPr>
          <p:nvPr/>
        </p:nvSpPr>
        <p:spPr bwMode="auto">
          <a:xfrm>
            <a:off x="917520" y="5185210"/>
            <a:ext cx="11060624" cy="1205018"/>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2" name="矩形 11">
            <a:extLst>
              <a:ext uri="{FF2B5EF4-FFF2-40B4-BE49-F238E27FC236}">
                <a16:creationId xmlns:a16="http://schemas.microsoft.com/office/drawing/2014/main" id="{8F9937CD-CB0E-47D0-AB2F-2624F22FAD59}"/>
              </a:ext>
            </a:extLst>
          </p:cNvPr>
          <p:cNvSpPr>
            <a:spLocks/>
          </p:cNvSpPr>
          <p:nvPr/>
        </p:nvSpPr>
        <p:spPr bwMode="auto">
          <a:xfrm>
            <a:off x="917520" y="3254165"/>
            <a:ext cx="11060624" cy="1205018"/>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1" name="矩形 10">
            <a:extLst>
              <a:ext uri="{FF2B5EF4-FFF2-40B4-BE49-F238E27FC236}">
                <a16:creationId xmlns:a16="http://schemas.microsoft.com/office/drawing/2014/main" id="{C99115BE-2887-4482-8538-3FE8A728C5F6}"/>
              </a:ext>
            </a:extLst>
          </p:cNvPr>
          <p:cNvSpPr>
            <a:spLocks/>
          </p:cNvSpPr>
          <p:nvPr/>
        </p:nvSpPr>
        <p:spPr bwMode="auto">
          <a:xfrm>
            <a:off x="917521" y="1407382"/>
            <a:ext cx="11041118" cy="106154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a:xfrm>
            <a:off x="1131376" y="136525"/>
            <a:ext cx="10930444" cy="725407"/>
          </a:xfrm>
        </p:spPr>
        <p:txBody>
          <a:bodyPr>
            <a:normAutofit/>
          </a:bodyPr>
          <a:lstStyle/>
          <a:p>
            <a:r>
              <a:rPr kumimoji="1" lang="en-US" altLang="zh-CN" dirty="0">
                <a:solidFill>
                  <a:srgbClr val="C00000"/>
                </a:solidFill>
              </a:rPr>
              <a:t>DNS-over-TLS</a:t>
            </a:r>
            <a:r>
              <a:rPr kumimoji="1" lang="zh-CN" altLang="en-US" dirty="0">
                <a:solidFill>
                  <a:srgbClr val="C00000"/>
                </a:solidFill>
              </a:rPr>
              <a:t>（</a:t>
            </a:r>
            <a:r>
              <a:rPr kumimoji="1" lang="en-US" altLang="zh-CN" dirty="0">
                <a:solidFill>
                  <a:srgbClr val="C00000"/>
                </a:solidFill>
              </a:rPr>
              <a:t>DoT</a:t>
            </a:r>
            <a:r>
              <a:rPr kumimoji="1" lang="zh-CN" altLang="en-US" dirty="0">
                <a:solidFill>
                  <a:srgbClr val="C00000"/>
                </a:solidFill>
              </a:rPr>
              <a:t>）</a:t>
            </a:r>
          </a:p>
        </p:txBody>
      </p:sp>
      <p:sp>
        <p:nvSpPr>
          <p:cNvPr id="8" name="文本框 7">
            <a:extLst>
              <a:ext uri="{FF2B5EF4-FFF2-40B4-BE49-F238E27FC236}">
                <a16:creationId xmlns:a16="http://schemas.microsoft.com/office/drawing/2014/main" id="{492A5E39-35C4-4940-81AE-18B818E4A991}"/>
              </a:ext>
            </a:extLst>
          </p:cNvPr>
          <p:cNvSpPr txBox="1"/>
          <p:nvPr/>
        </p:nvSpPr>
        <p:spPr>
          <a:xfrm>
            <a:off x="1024448" y="1601251"/>
            <a:ext cx="11060624"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在</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DNSSEC</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被廣泛接受之前（全球頂級域</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DNSSEC</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部署已經超過</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93%</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需要找到其它解决方案有效阻止</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DNS</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攻擊造成破壞</a:t>
            </a:r>
            <a:endPar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endParaRPr>
          </a:p>
        </p:txBody>
      </p:sp>
      <p:sp>
        <p:nvSpPr>
          <p:cNvPr id="16" name="文本框 15">
            <a:extLst>
              <a:ext uri="{FF2B5EF4-FFF2-40B4-BE49-F238E27FC236}">
                <a16:creationId xmlns:a16="http://schemas.microsoft.com/office/drawing/2014/main" id="{F91970C4-A0C0-4C5A-984D-0E3F65D7D94D}"/>
              </a:ext>
            </a:extLst>
          </p:cNvPr>
          <p:cNvSpPr txBox="1"/>
          <p:nvPr/>
        </p:nvSpPr>
        <p:spPr>
          <a:xfrm>
            <a:off x="1131376" y="5360935"/>
            <a:ext cx="10703869" cy="853567"/>
          </a:xfrm>
          <a:prstGeom prst="rect">
            <a:avLst/>
          </a:prstGeom>
          <a:noFill/>
        </p:spPr>
        <p:txBody>
          <a:bodyPr wrap="square">
            <a:spAutoFit/>
          </a:bodyPr>
          <a:lstStyle>
            <a:defPPr>
              <a:defRPr lang="zh-CN"/>
            </a:defPPr>
            <a:lvl1pPr>
              <a:lnSpc>
                <a:spcPct val="130000"/>
              </a:lnSpc>
              <a:defRPr sz="2400" kern="0">
                <a:latin typeface="微软雅黑" panose="020B0503020204020204" pitchFamily="34" charset="-122"/>
                <a:ea typeface="微软雅黑" panose="020B0503020204020204" pitchFamily="34" charset="-122"/>
              </a:defRPr>
            </a:lvl1p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DNS-over-TLS </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協議直接使用傳輸層安全協議對數據執行加密操作，保證了域名協議交互中信息的完整性與機密性</a:t>
            </a:r>
          </a:p>
        </p:txBody>
      </p:sp>
      <p:sp>
        <p:nvSpPr>
          <p:cNvPr id="17" name="文本框 16">
            <a:extLst>
              <a:ext uri="{FF2B5EF4-FFF2-40B4-BE49-F238E27FC236}">
                <a16:creationId xmlns:a16="http://schemas.microsoft.com/office/drawing/2014/main" id="{F6DC7564-73B7-448B-BBCB-A222C19D5284}"/>
              </a:ext>
            </a:extLst>
          </p:cNvPr>
          <p:cNvSpPr txBox="1"/>
          <p:nvPr/>
        </p:nvSpPr>
        <p:spPr>
          <a:xfrm>
            <a:off x="1131376" y="3402658"/>
            <a:ext cx="10846768" cy="853567"/>
          </a:xfrm>
          <a:prstGeom prst="rect">
            <a:avLst/>
          </a:prstGeom>
          <a:noFill/>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DNSSEC</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用</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區域層次結構提供信任鏈，</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TLS</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協議依賴公鑰基礎設施（</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PKI</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），包括證書授權中心（</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CA</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p>
        </p:txBody>
      </p:sp>
      <p:sp>
        <p:nvSpPr>
          <p:cNvPr id="14" name="文本框 13">
            <a:extLst>
              <a:ext uri="{FF2B5EF4-FFF2-40B4-BE49-F238E27FC236}">
                <a16:creationId xmlns:a16="http://schemas.microsoft.com/office/drawing/2014/main" id="{11E1FA3F-3140-40D7-AEA6-9F30A40200FC}"/>
              </a:ext>
            </a:extLst>
          </p:cNvPr>
          <p:cNvSpPr txBox="1"/>
          <p:nvPr/>
        </p:nvSpPr>
        <p:spPr>
          <a:xfrm>
            <a:off x="815440" y="903824"/>
            <a:ext cx="615735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rPr>
              <a:t>可部署性</a:t>
            </a:r>
            <a:endParaRPr kumimoji="0" lang="en-US" altLang="zh-CN" sz="2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endParaRPr>
          </a:p>
        </p:txBody>
      </p:sp>
      <p:sp>
        <p:nvSpPr>
          <p:cNvPr id="19" name="文本框 18">
            <a:extLst>
              <a:ext uri="{FF2B5EF4-FFF2-40B4-BE49-F238E27FC236}">
                <a16:creationId xmlns:a16="http://schemas.microsoft.com/office/drawing/2014/main" id="{D9696C5A-1581-468D-B7CA-B01810EE00D7}"/>
              </a:ext>
            </a:extLst>
          </p:cNvPr>
          <p:cNvSpPr txBox="1"/>
          <p:nvPr/>
        </p:nvSpPr>
        <p:spPr>
          <a:xfrm>
            <a:off x="815440" y="2556738"/>
            <a:ext cx="615735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rPr>
              <a:t>信任鏈</a:t>
            </a:r>
            <a:endParaRPr kumimoji="0" lang="en-US" altLang="zh-CN" sz="2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endParaRPr>
          </a:p>
        </p:txBody>
      </p:sp>
      <p:sp>
        <p:nvSpPr>
          <p:cNvPr id="20" name="文本框 19">
            <a:extLst>
              <a:ext uri="{FF2B5EF4-FFF2-40B4-BE49-F238E27FC236}">
                <a16:creationId xmlns:a16="http://schemas.microsoft.com/office/drawing/2014/main" id="{C8A525F4-0A65-4319-858D-9E7A01C5D85D}"/>
              </a:ext>
            </a:extLst>
          </p:cNvPr>
          <p:cNvSpPr txBox="1"/>
          <p:nvPr/>
        </p:nvSpPr>
        <p:spPr>
          <a:xfrm>
            <a:off x="815440" y="4625393"/>
            <a:ext cx="615735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rPr>
              <a:t>數據封裝</a:t>
            </a:r>
            <a:endParaRPr kumimoji="0" lang="en-US" altLang="zh-CN" sz="2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endParaRPr>
          </a:p>
        </p:txBody>
      </p:sp>
      <p:sp>
        <p:nvSpPr>
          <p:cNvPr id="2" name="灯片编号占位符 1">
            <a:extLst>
              <a:ext uri="{FF2B5EF4-FFF2-40B4-BE49-F238E27FC236}">
                <a16:creationId xmlns:a16="http://schemas.microsoft.com/office/drawing/2014/main" id="{D9408A04-5C23-42AB-95A9-3DBFEBCAC2A4}"/>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25493329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C9198AB8-618F-452E-8610-212A9D55F08C}"/>
              </a:ext>
            </a:extLst>
          </p:cNvPr>
          <p:cNvSpPr>
            <a:spLocks/>
          </p:cNvSpPr>
          <p:nvPr/>
        </p:nvSpPr>
        <p:spPr bwMode="auto">
          <a:xfrm>
            <a:off x="1131374" y="1474402"/>
            <a:ext cx="10436279" cy="1048689"/>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1" name="矩形 10">
            <a:extLst>
              <a:ext uri="{FF2B5EF4-FFF2-40B4-BE49-F238E27FC236}">
                <a16:creationId xmlns:a16="http://schemas.microsoft.com/office/drawing/2014/main" id="{F717962B-8EC2-4635-B054-11E5B9AB1089}"/>
              </a:ext>
            </a:extLst>
          </p:cNvPr>
          <p:cNvSpPr>
            <a:spLocks/>
          </p:cNvSpPr>
          <p:nvPr/>
        </p:nvSpPr>
        <p:spPr bwMode="auto">
          <a:xfrm>
            <a:off x="1131375" y="3182586"/>
            <a:ext cx="10436279" cy="1048689"/>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a:xfrm>
            <a:off x="1131375" y="136525"/>
            <a:ext cx="10998585" cy="725407"/>
          </a:xfrm>
        </p:spPr>
        <p:txBody>
          <a:bodyPr>
            <a:noAutofit/>
          </a:bodyPr>
          <a:lstStyle/>
          <a:p>
            <a:r>
              <a:rPr kumimoji="1" lang="en-US" altLang="zh-CN" dirty="0">
                <a:solidFill>
                  <a:srgbClr val="C00000"/>
                </a:solidFill>
              </a:rPr>
              <a:t>DNS-over-HTTPS (</a:t>
            </a:r>
            <a:r>
              <a:rPr kumimoji="1" lang="en-US" altLang="zh-CN" dirty="0" err="1">
                <a:solidFill>
                  <a:srgbClr val="C00000"/>
                </a:solidFill>
              </a:rPr>
              <a:t>DoH</a:t>
            </a:r>
            <a:r>
              <a:rPr kumimoji="1" lang="en-US" altLang="zh-CN" dirty="0">
                <a:solidFill>
                  <a:srgbClr val="C00000"/>
                </a:solidFill>
              </a:rPr>
              <a:t>)</a:t>
            </a:r>
            <a:endParaRPr kumimoji="1" lang="zh-CN" altLang="en-US" dirty="0">
              <a:solidFill>
                <a:srgbClr val="C00000"/>
              </a:solidFill>
            </a:endParaRPr>
          </a:p>
        </p:txBody>
      </p:sp>
      <p:sp>
        <p:nvSpPr>
          <p:cNvPr id="8" name="文本框 7">
            <a:extLst>
              <a:ext uri="{FF2B5EF4-FFF2-40B4-BE49-F238E27FC236}">
                <a16:creationId xmlns:a16="http://schemas.microsoft.com/office/drawing/2014/main" id="{492A5E39-35C4-4940-81AE-18B818E4A991}"/>
              </a:ext>
            </a:extLst>
          </p:cNvPr>
          <p:cNvSpPr txBox="1"/>
          <p:nvPr/>
        </p:nvSpPr>
        <p:spPr>
          <a:xfrm>
            <a:off x="1234401" y="1203831"/>
            <a:ext cx="9904653" cy="12228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DNS-over-HTTPS</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a:t>
            </a:r>
            <a:r>
              <a:rPr kumimoji="0" lang="en-US" altLang="zh-CN" sz="2000" b="0"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DoH</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）協議與現有域名系統不兼容，采用</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HTTPS </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信道傳輸域名協議數據</a:t>
            </a:r>
          </a:p>
        </p:txBody>
      </p:sp>
      <p:sp>
        <p:nvSpPr>
          <p:cNvPr id="17" name="文本框 16">
            <a:extLst>
              <a:ext uri="{FF2B5EF4-FFF2-40B4-BE49-F238E27FC236}">
                <a16:creationId xmlns:a16="http://schemas.microsoft.com/office/drawing/2014/main" id="{12262BD8-3395-4335-BE67-083E832710DF}"/>
              </a:ext>
            </a:extLst>
          </p:cNvPr>
          <p:cNvSpPr txBox="1"/>
          <p:nvPr/>
        </p:nvSpPr>
        <p:spPr>
          <a:xfrm>
            <a:off x="1234400" y="3476097"/>
            <a:ext cx="9447453"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客戶端 </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-&gt; </a:t>
            </a:r>
            <a:r>
              <a:rPr kumimoji="0" lang="en-US" altLang="zh-CN" sz="2000" b="0"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DoH</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服務器 </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-&gt; DNS</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服務器 </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-&gt; </a:t>
            </a:r>
            <a:r>
              <a:rPr kumimoji="0" lang="en-US" altLang="zh-CN" sz="2000" b="0"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DoH</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服務器 </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-&gt; </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客戶端</a:t>
            </a:r>
          </a:p>
        </p:txBody>
      </p:sp>
      <p:sp>
        <p:nvSpPr>
          <p:cNvPr id="18" name="文本框 17">
            <a:extLst>
              <a:ext uri="{FF2B5EF4-FFF2-40B4-BE49-F238E27FC236}">
                <a16:creationId xmlns:a16="http://schemas.microsoft.com/office/drawing/2014/main" id="{4DF99764-FD7B-47DC-9D3B-568A9100942B}"/>
              </a:ext>
            </a:extLst>
          </p:cNvPr>
          <p:cNvSpPr txBox="1"/>
          <p:nvPr/>
        </p:nvSpPr>
        <p:spPr>
          <a:xfrm>
            <a:off x="1032521" y="4421995"/>
            <a:ext cx="944745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rPr>
              <a:t>通用性</a:t>
            </a:r>
            <a:endPar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endParaRPr>
          </a:p>
        </p:txBody>
      </p:sp>
      <p:pic>
        <p:nvPicPr>
          <p:cNvPr id="18434" name="Picture 2">
            <a:extLst>
              <a:ext uri="{FF2B5EF4-FFF2-40B4-BE49-F238E27FC236}">
                <a16:creationId xmlns:a16="http://schemas.microsoft.com/office/drawing/2014/main" id="{83CFFE20-473E-4A47-87A0-CF098E9376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0139" y="5074379"/>
            <a:ext cx="5713786" cy="1643751"/>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pic>
      <p:sp>
        <p:nvSpPr>
          <p:cNvPr id="12" name="文本框 11">
            <a:extLst>
              <a:ext uri="{FF2B5EF4-FFF2-40B4-BE49-F238E27FC236}">
                <a16:creationId xmlns:a16="http://schemas.microsoft.com/office/drawing/2014/main" id="{A06F076B-A192-4F86-A6D1-A71B98C3C627}"/>
              </a:ext>
            </a:extLst>
          </p:cNvPr>
          <p:cNvSpPr txBox="1"/>
          <p:nvPr/>
        </p:nvSpPr>
        <p:spPr>
          <a:xfrm>
            <a:off x="1052946" y="2573486"/>
            <a:ext cx="615735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err="1">
                <a:ln>
                  <a:noFill/>
                </a:ln>
                <a:solidFill>
                  <a:srgbClr val="C00000"/>
                </a:solidFill>
                <a:effectLst/>
                <a:uLnTx/>
                <a:uFillTx/>
                <a:latin typeface="微软雅黑" panose="020B0503020204020204" pitchFamily="34" charset="-122"/>
                <a:ea typeface="微软雅黑" panose="020B0503020204020204" pitchFamily="34" charset="-122"/>
                <a:cs typeface="TT7ADF8o00536922991"/>
              </a:rPr>
              <a:t>DoH</a:t>
            </a:r>
            <a:r>
              <a:rPr kumimoji="0" lang="zh-CN" altLang="en-US" sz="2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rPr>
              <a:t>協議流量傳輸路徑</a:t>
            </a:r>
            <a:endParaRPr kumimoji="0" lang="en-US" altLang="zh-CN" sz="2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endParaRPr>
          </a:p>
        </p:txBody>
      </p:sp>
      <p:sp>
        <p:nvSpPr>
          <p:cNvPr id="16" name="文本框 15">
            <a:extLst>
              <a:ext uri="{FF2B5EF4-FFF2-40B4-BE49-F238E27FC236}">
                <a16:creationId xmlns:a16="http://schemas.microsoft.com/office/drawing/2014/main" id="{4912067A-0D9E-41A2-9019-E3D07662DA60}"/>
              </a:ext>
            </a:extLst>
          </p:cNvPr>
          <p:cNvSpPr txBox="1"/>
          <p:nvPr/>
        </p:nvSpPr>
        <p:spPr>
          <a:xfrm>
            <a:off x="1052946" y="881624"/>
            <a:ext cx="615735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rPr>
              <a:t>數據封裝</a:t>
            </a:r>
            <a:endParaRPr kumimoji="0" lang="en-US" altLang="zh-CN" sz="2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endParaRPr>
          </a:p>
        </p:txBody>
      </p:sp>
      <p:sp>
        <p:nvSpPr>
          <p:cNvPr id="13" name="矩形 12">
            <a:extLst>
              <a:ext uri="{FF2B5EF4-FFF2-40B4-BE49-F238E27FC236}">
                <a16:creationId xmlns:a16="http://schemas.microsoft.com/office/drawing/2014/main" id="{74B0116E-7B3F-47A6-99CB-1375A4D3E430}"/>
              </a:ext>
            </a:extLst>
          </p:cNvPr>
          <p:cNvSpPr>
            <a:spLocks/>
          </p:cNvSpPr>
          <p:nvPr/>
        </p:nvSpPr>
        <p:spPr bwMode="auto">
          <a:xfrm>
            <a:off x="7013986" y="5074379"/>
            <a:ext cx="4553667" cy="1647095"/>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4" name="文本框 13">
            <a:extLst>
              <a:ext uri="{FF2B5EF4-FFF2-40B4-BE49-F238E27FC236}">
                <a16:creationId xmlns:a16="http://schemas.microsoft.com/office/drawing/2014/main" id="{38B448B7-8C67-4ABC-9422-602264FAEA7C}"/>
              </a:ext>
            </a:extLst>
          </p:cNvPr>
          <p:cNvSpPr txBox="1"/>
          <p:nvPr/>
        </p:nvSpPr>
        <p:spPr>
          <a:xfrm>
            <a:off x="7210300" y="5690138"/>
            <a:ext cx="4364428"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部分瀏覽器或操作系統直接支持</a:t>
            </a:r>
            <a:r>
              <a:rPr kumimoji="0" lang="en-US" altLang="zh-CN" sz="2000" b="0"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DoH</a:t>
            </a:r>
            <a:endParaRPr kumimoji="0" lang="zh-CN" altLang="en-US" sz="20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2" name="灯片编号占位符 1">
            <a:extLst>
              <a:ext uri="{FF2B5EF4-FFF2-40B4-BE49-F238E27FC236}">
                <a16:creationId xmlns:a16="http://schemas.microsoft.com/office/drawing/2014/main" id="{6078ABCD-7E59-4F37-B004-222E8451029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30609609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F01E42CB-9FBE-456D-8B1F-710FAB0C88EF}"/>
              </a:ext>
            </a:extLst>
          </p:cNvPr>
          <p:cNvSpPr>
            <a:spLocks/>
          </p:cNvSpPr>
          <p:nvPr/>
        </p:nvSpPr>
        <p:spPr bwMode="auto">
          <a:xfrm>
            <a:off x="9326683" y="1836776"/>
            <a:ext cx="2743199" cy="4103374"/>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4" name="矩形 13">
            <a:extLst>
              <a:ext uri="{FF2B5EF4-FFF2-40B4-BE49-F238E27FC236}">
                <a16:creationId xmlns:a16="http://schemas.microsoft.com/office/drawing/2014/main" id="{F127467F-0446-4FC9-B0B9-63E59F38A347}"/>
              </a:ext>
            </a:extLst>
          </p:cNvPr>
          <p:cNvSpPr>
            <a:spLocks/>
          </p:cNvSpPr>
          <p:nvPr/>
        </p:nvSpPr>
        <p:spPr bwMode="auto">
          <a:xfrm>
            <a:off x="1052604" y="3720392"/>
            <a:ext cx="8060224" cy="2219758"/>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2" name="矩形 11">
            <a:extLst>
              <a:ext uri="{FF2B5EF4-FFF2-40B4-BE49-F238E27FC236}">
                <a16:creationId xmlns:a16="http://schemas.microsoft.com/office/drawing/2014/main" id="{BE98BBC4-7292-4AB7-86FE-6364BCC3E3C5}"/>
              </a:ext>
            </a:extLst>
          </p:cNvPr>
          <p:cNvSpPr>
            <a:spLocks/>
          </p:cNvSpPr>
          <p:nvPr/>
        </p:nvSpPr>
        <p:spPr bwMode="auto">
          <a:xfrm>
            <a:off x="1052602" y="1836776"/>
            <a:ext cx="8060225" cy="942982"/>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基于系統管理</a:t>
            </a:r>
          </a:p>
        </p:txBody>
      </p:sp>
      <p:sp>
        <p:nvSpPr>
          <p:cNvPr id="9" name="文本框 8">
            <a:extLst>
              <a:ext uri="{FF2B5EF4-FFF2-40B4-BE49-F238E27FC236}">
                <a16:creationId xmlns:a16="http://schemas.microsoft.com/office/drawing/2014/main" id="{B579448E-70EF-4CB6-B625-654276B58F38}"/>
              </a:ext>
            </a:extLst>
          </p:cNvPr>
          <p:cNvSpPr txBox="1"/>
          <p:nvPr/>
        </p:nvSpPr>
        <p:spPr>
          <a:xfrm>
            <a:off x="1266460" y="3724158"/>
            <a:ext cx="7732068" cy="221599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1.</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限制用戶在短時間內發起大量</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DNS</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查詢</a:t>
            </a:r>
            <a:endPar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endParaRPr>
          </a:p>
          <a:p>
            <a:pPr marL="0" marR="0" lvl="0" indent="0" algn="just" defTabSz="914400" rtl="0" eaLnBrk="1" fontAlgn="auto" latinLnBrk="0" hangingPunct="1">
              <a:lnSpc>
                <a:spcPct val="130000"/>
              </a:lnSpc>
              <a:spcBef>
                <a:spcPts val="0"/>
              </a:spcBef>
              <a:spcAft>
                <a:spcPts val="0"/>
              </a:spcAft>
              <a:buClrTx/>
              <a:buSzTx/>
              <a:buFontTx/>
              <a:buNone/>
              <a:tabLst/>
              <a:defRPr/>
            </a:pPr>
            <a:endPar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endParaRPr>
          </a:p>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2.</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增加端口猜測難度，如用于查詢的</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UDP</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端口不再是默認的</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53</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，而在</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UDP</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端口範圍內隨機選擇（排除預留端口）</a:t>
            </a:r>
            <a:endPar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kumimoji="0" lang="zh-CN"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分布式部署、惡意流量過濾等方案</a:t>
            </a:r>
            <a:endPar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F2FF6BD3-20EC-45A0-995D-FE84C753162E}"/>
              </a:ext>
            </a:extLst>
          </p:cNvPr>
          <p:cNvSpPr txBox="1"/>
          <p:nvPr/>
        </p:nvSpPr>
        <p:spPr>
          <a:xfrm>
            <a:off x="951382" y="1104849"/>
            <a:ext cx="3696323" cy="52322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規範配置過程</a:t>
            </a:r>
            <a:endParaRPr kumimoji="0" lang="en-US" altLang="zh-CN" sz="28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a:extLst>
              <a:ext uri="{FF2B5EF4-FFF2-40B4-BE49-F238E27FC236}">
                <a16:creationId xmlns:a16="http://schemas.microsoft.com/office/drawing/2014/main" id="{32E3515F-1F75-47CC-9B22-12057F9821B0}"/>
              </a:ext>
            </a:extLst>
          </p:cNvPr>
          <p:cNvSpPr txBox="1"/>
          <p:nvPr/>
        </p:nvSpPr>
        <p:spPr>
          <a:xfrm>
            <a:off x="1266458" y="2062612"/>
            <a:ext cx="6468959" cy="40011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1.</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規範幷梳理</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DNS</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配置過程中出現的漏洞</a:t>
            </a:r>
            <a:endPar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6" name="文本框 15">
            <a:extLst>
              <a:ext uri="{FF2B5EF4-FFF2-40B4-BE49-F238E27FC236}">
                <a16:creationId xmlns:a16="http://schemas.microsoft.com/office/drawing/2014/main" id="{27CE7AFB-F881-40FF-AC97-B3B88616FDC5}"/>
              </a:ext>
            </a:extLst>
          </p:cNvPr>
          <p:cNvSpPr txBox="1"/>
          <p:nvPr/>
        </p:nvSpPr>
        <p:spPr>
          <a:xfrm>
            <a:off x="1012497" y="2988465"/>
            <a:ext cx="5365173" cy="52322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降低攻擊影響</a:t>
            </a:r>
            <a:endParaRPr kumimoji="0" lang="en-US" altLang="zh-CN" sz="28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 name="灯片编号占位符 1">
            <a:extLst>
              <a:ext uri="{FF2B5EF4-FFF2-40B4-BE49-F238E27FC236}">
                <a16:creationId xmlns:a16="http://schemas.microsoft.com/office/drawing/2014/main" id="{2AB8DD92-988C-40BC-889C-D89D4E35B90A}"/>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pic>
        <p:nvPicPr>
          <p:cNvPr id="6148" name="Picture 4">
            <a:extLst>
              <a:ext uri="{FF2B5EF4-FFF2-40B4-BE49-F238E27FC236}">
                <a16:creationId xmlns:a16="http://schemas.microsoft.com/office/drawing/2014/main" id="{4D2E6F51-042F-4B37-A01A-D1A9B7C896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26683" y="2262667"/>
            <a:ext cx="2748226" cy="1975669"/>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77210796-E0EC-4DC1-A243-E46F15CE9A83}"/>
              </a:ext>
            </a:extLst>
          </p:cNvPr>
          <p:cNvSpPr txBox="1"/>
          <p:nvPr/>
        </p:nvSpPr>
        <p:spPr>
          <a:xfrm>
            <a:off x="9653156" y="4537233"/>
            <a:ext cx="2273832"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蜜網和</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防護系統聯合實現</a:t>
            </a: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BotNet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檢測及惡意流量過濾</a:t>
            </a:r>
          </a:p>
        </p:txBody>
      </p:sp>
    </p:spTree>
    <p:extLst>
      <p:ext uri="{BB962C8B-B14F-4D97-AF65-F5344CB8AC3E}">
        <p14:creationId xmlns:p14="http://schemas.microsoft.com/office/powerpoint/2010/main" val="16478779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77E93297-89CC-4430-B3B6-450E62B5E29E}"/>
              </a:ext>
            </a:extLst>
          </p:cNvPr>
          <p:cNvSpPr>
            <a:spLocks/>
          </p:cNvSpPr>
          <p:nvPr/>
        </p:nvSpPr>
        <p:spPr bwMode="auto">
          <a:xfrm>
            <a:off x="9500217" y="1509328"/>
            <a:ext cx="2580622" cy="4931001"/>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5" name="矩形 14">
            <a:extLst>
              <a:ext uri="{FF2B5EF4-FFF2-40B4-BE49-F238E27FC236}">
                <a16:creationId xmlns:a16="http://schemas.microsoft.com/office/drawing/2014/main" id="{3239AFBF-078E-4CB1-94C1-68ECAE79D0F1}"/>
              </a:ext>
            </a:extLst>
          </p:cNvPr>
          <p:cNvSpPr>
            <a:spLocks/>
          </p:cNvSpPr>
          <p:nvPr/>
        </p:nvSpPr>
        <p:spPr bwMode="auto">
          <a:xfrm>
            <a:off x="1216813" y="4074364"/>
            <a:ext cx="8128000" cy="2365966"/>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7" name="直接箭头连接符 16">
            <a:extLst>
              <a:ext uri="{FF2B5EF4-FFF2-40B4-BE49-F238E27FC236}">
                <a16:creationId xmlns:a16="http://schemas.microsoft.com/office/drawing/2014/main" id="{E1972783-16D7-4A6D-9068-08F17C0E14A6}"/>
              </a:ext>
            </a:extLst>
          </p:cNvPr>
          <p:cNvCxnSpPr>
            <a:cxnSpLocks/>
          </p:cNvCxnSpPr>
          <p:nvPr/>
        </p:nvCxnSpPr>
        <p:spPr>
          <a:xfrm flipH="1">
            <a:off x="5278582" y="5707232"/>
            <a:ext cx="817418" cy="4402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7205BF83-5D58-4242-9B07-518885E52A1B}"/>
              </a:ext>
            </a:extLst>
          </p:cNvPr>
          <p:cNvSpPr>
            <a:spLocks/>
          </p:cNvSpPr>
          <p:nvPr/>
        </p:nvSpPr>
        <p:spPr bwMode="auto">
          <a:xfrm>
            <a:off x="1216813" y="1520233"/>
            <a:ext cx="8128000" cy="2365966"/>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基于系統管理</a:t>
            </a:r>
          </a:p>
        </p:txBody>
      </p:sp>
      <p:sp>
        <p:nvSpPr>
          <p:cNvPr id="8" name="文本框 7">
            <a:extLst>
              <a:ext uri="{FF2B5EF4-FFF2-40B4-BE49-F238E27FC236}">
                <a16:creationId xmlns:a16="http://schemas.microsoft.com/office/drawing/2014/main" id="{492A5E39-35C4-4940-81AE-18B818E4A991}"/>
              </a:ext>
            </a:extLst>
          </p:cNvPr>
          <p:cNvSpPr txBox="1"/>
          <p:nvPr/>
        </p:nvSpPr>
        <p:spPr>
          <a:xfrm>
            <a:off x="1216813" y="1733983"/>
            <a:ext cx="8128000" cy="2053896"/>
          </a:xfrm>
          <a:prstGeom prst="rect">
            <a:avLst/>
          </a:prstGeom>
          <a:noFill/>
        </p:spPr>
        <p:txBody>
          <a:bodyPr wrap="square">
            <a:spAutoFit/>
          </a:bodyPr>
          <a:lstStyle/>
          <a:p>
            <a:pPr marL="342900" marR="0" lvl="0" indent="-342900" algn="just"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附加區記錄和問題區問題不在同一域管轄，則不會采信，防範惡意權威</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DNS</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T7ADF8o00536922991"/>
              </a:rPr>
              <a:t>虛假記錄污染緩存</a:t>
            </a:r>
            <a:endPar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just"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比如，請求</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www.foo.com</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時，應答包裏出現關于</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www.bar.com</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的記錄，根據</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bailiwick</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檢查規則，不會接受此</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記錄</a:t>
            </a:r>
            <a:endPar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30000"/>
              </a:lnSpc>
              <a:spcBef>
                <a:spcPts val="0"/>
              </a:spcBef>
              <a:spcAft>
                <a:spcPts val="0"/>
              </a:spcAft>
              <a:buClrTx/>
              <a:buSzTx/>
              <a:buFontTx/>
              <a:buNone/>
              <a:tabLst/>
              <a:defRPr/>
            </a:pPr>
            <a:endPar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文本框 5">
            <a:extLst>
              <a:ext uri="{FF2B5EF4-FFF2-40B4-BE49-F238E27FC236}">
                <a16:creationId xmlns:a16="http://schemas.microsoft.com/office/drawing/2014/main" id="{B4C2BCBC-1564-47B5-A15E-87685B517FD7}"/>
              </a:ext>
            </a:extLst>
          </p:cNvPr>
          <p:cNvSpPr txBox="1"/>
          <p:nvPr/>
        </p:nvSpPr>
        <p:spPr>
          <a:xfrm>
            <a:off x="1131376" y="986109"/>
            <a:ext cx="5365173" cy="52322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rPr>
              <a:t>嚴格檢查（如</a:t>
            </a:r>
            <a:r>
              <a:rPr kumimoji="0" lang="en-US" altLang="zh-CN" sz="28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rPr>
              <a:t>Bailiwick</a:t>
            </a:r>
            <a:r>
              <a:rPr kumimoji="0" lang="zh-CN" altLang="en-US" sz="28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rPr>
              <a:t>）</a:t>
            </a:r>
            <a:endParaRPr kumimoji="0" lang="en-US" altLang="zh-CN" sz="28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2" name="表格 3">
            <a:extLst>
              <a:ext uri="{FF2B5EF4-FFF2-40B4-BE49-F238E27FC236}">
                <a16:creationId xmlns:a16="http://schemas.microsoft.com/office/drawing/2014/main" id="{FAE46763-DA33-4399-B3E0-5431B826AE4F}"/>
              </a:ext>
            </a:extLst>
          </p:cNvPr>
          <p:cNvGraphicFramePr>
            <a:graphicFrameLocks noGrp="1"/>
          </p:cNvGraphicFramePr>
          <p:nvPr/>
        </p:nvGraphicFramePr>
        <p:xfrm>
          <a:off x="1216813" y="4302741"/>
          <a:ext cx="8128000" cy="2011680"/>
        </p:xfrm>
        <a:graphic>
          <a:graphicData uri="http://schemas.openxmlformats.org/drawingml/2006/table">
            <a:tbl>
              <a:tblPr firstRow="1" bandRow="1">
                <a:tableStyleId>{2D5ABB26-0587-4C30-8999-92F81FD0307C}</a:tableStyleId>
              </a:tblPr>
              <a:tblGrid>
                <a:gridCol w="8128000">
                  <a:extLst>
                    <a:ext uri="{9D8B030D-6E8A-4147-A177-3AD203B41FA5}">
                      <a16:colId xmlns:a16="http://schemas.microsoft.com/office/drawing/2014/main" val="1894562242"/>
                    </a:ext>
                  </a:extLst>
                </a:gridCol>
              </a:tblGrid>
              <a:tr h="370840">
                <a:tc>
                  <a:txBody>
                    <a:bodyPr/>
                    <a:lstStyle/>
                    <a:p>
                      <a:pPr marL="1080000"/>
                      <a:r>
                        <a:rPr lang="zh-CN" altLang="zh-CN" sz="1800" b="0" kern="1200" dirty="0">
                          <a:solidFill>
                            <a:schemeClr val="tx1"/>
                          </a:solidFill>
                          <a:effectLst/>
                        </a:rPr>
                        <a:t>問題區</a:t>
                      </a:r>
                      <a:r>
                        <a:rPr lang="en-US" altLang="zh-CN" sz="1800" b="0" kern="1200" dirty="0">
                          <a:solidFill>
                            <a:schemeClr val="tx1"/>
                          </a:solidFill>
                          <a:effectLst/>
                        </a:rPr>
                        <a:t>:</a:t>
                      </a:r>
                      <a:endParaRPr lang="zh-CN" altLang="zh-CN" sz="1800" b="0" kern="1200" dirty="0">
                        <a:solidFill>
                          <a:schemeClr val="tx1"/>
                        </a:solidFill>
                        <a:effectLst/>
                      </a:endParaRPr>
                    </a:p>
                    <a:p>
                      <a:pPr marL="1080000"/>
                      <a:r>
                        <a:rPr lang="en-US" altLang="zh-CN" sz="1800" b="0" kern="1200" dirty="0">
                          <a:solidFill>
                            <a:schemeClr val="tx1"/>
                          </a:solidFill>
                          <a:effectLst/>
                        </a:rPr>
                        <a:t>    www.foo.com  A</a:t>
                      </a:r>
                      <a:endParaRPr lang="zh-CN" altLang="zh-CN" sz="1800" b="0" kern="1200" dirty="0">
                        <a:solidFill>
                          <a:schemeClr val="tx1"/>
                        </a:solidFill>
                        <a:effectLst/>
                      </a:endParaRPr>
                    </a:p>
                    <a:p>
                      <a:pPr marL="1080000"/>
                      <a:r>
                        <a:rPr lang="zh-CN" altLang="zh-CN" sz="1800" b="0" kern="1200" dirty="0">
                          <a:solidFill>
                            <a:schemeClr val="tx1"/>
                          </a:solidFill>
                          <a:effectLst/>
                        </a:rPr>
                        <a:t>權威區</a:t>
                      </a:r>
                      <a:r>
                        <a:rPr lang="en-US" altLang="zh-CN" sz="1800" b="0" kern="1200" dirty="0">
                          <a:solidFill>
                            <a:schemeClr val="tx1"/>
                          </a:solidFill>
                          <a:effectLst/>
                        </a:rPr>
                        <a:t>:</a:t>
                      </a:r>
                      <a:endParaRPr lang="zh-CN" altLang="zh-CN" sz="1800" b="0" kern="1200" dirty="0">
                        <a:solidFill>
                          <a:schemeClr val="tx1"/>
                        </a:solidFill>
                        <a:effectLst/>
                      </a:endParaRPr>
                    </a:p>
                    <a:p>
                      <a:pPr marL="1080000"/>
                      <a:r>
                        <a:rPr lang="en-US" altLang="zh-CN" sz="1800" b="0" kern="1200" dirty="0">
                          <a:solidFill>
                            <a:schemeClr val="tx1"/>
                          </a:solidFill>
                          <a:effectLst/>
                        </a:rPr>
                        <a:t>    foo.com  NS  ns1.foo.com</a:t>
                      </a:r>
                      <a:endParaRPr lang="zh-CN" altLang="zh-CN" sz="1800" b="0" kern="1200" dirty="0">
                        <a:solidFill>
                          <a:schemeClr val="tx1"/>
                        </a:solidFill>
                        <a:effectLst/>
                      </a:endParaRPr>
                    </a:p>
                    <a:p>
                      <a:pPr marL="1080000"/>
                      <a:r>
                        <a:rPr lang="zh-CN" altLang="zh-CN" sz="1800" b="0" kern="1200" dirty="0">
                          <a:solidFill>
                            <a:schemeClr val="tx1"/>
                          </a:solidFill>
                          <a:effectLst/>
                        </a:rPr>
                        <a:t>附加區</a:t>
                      </a:r>
                      <a:r>
                        <a:rPr lang="en-US" altLang="zh-CN" sz="1800" b="0" kern="1200" dirty="0">
                          <a:solidFill>
                            <a:schemeClr val="tx1"/>
                          </a:solidFill>
                          <a:effectLst/>
                        </a:rPr>
                        <a:t>:</a:t>
                      </a:r>
                      <a:endParaRPr lang="zh-CN" altLang="zh-CN" sz="1800" b="0" kern="1200" dirty="0">
                        <a:solidFill>
                          <a:schemeClr val="tx1"/>
                        </a:solidFill>
                        <a:effectLst/>
                      </a:endParaRPr>
                    </a:p>
                    <a:p>
                      <a:pPr marL="1080000"/>
                      <a:r>
                        <a:rPr lang="en-US" altLang="zh-CN" sz="1800" b="0" kern="1200" dirty="0">
                          <a:solidFill>
                            <a:schemeClr val="tx1"/>
                          </a:solidFill>
                          <a:effectLst/>
                        </a:rPr>
                        <a:t>    ns1.foo.com A 2.3.4.5</a:t>
                      </a:r>
                      <a:endParaRPr lang="zh-CN" altLang="zh-CN" sz="1800" b="0" kern="1200" dirty="0">
                        <a:solidFill>
                          <a:schemeClr val="tx1"/>
                        </a:solidFill>
                        <a:effectLst/>
                      </a:endParaRPr>
                    </a:p>
                    <a:p>
                      <a:pPr marL="1080000"/>
                      <a:r>
                        <a:rPr lang="en-US" altLang="zh-CN" sz="1800" b="0" kern="1200" dirty="0">
                          <a:solidFill>
                            <a:schemeClr val="tx1"/>
                          </a:solidFill>
                          <a:effectLst/>
                        </a:rPr>
                        <a:t>    www.bar.com A 6.6.6.6</a:t>
                      </a:r>
                      <a:endParaRPr lang="zh-CN" altLang="en-US" b="0" dirty="0">
                        <a:solidFill>
                          <a:schemeClr val="tx1"/>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642156750"/>
                  </a:ext>
                </a:extLst>
              </a:tr>
            </a:tbl>
          </a:graphicData>
        </a:graphic>
      </p:graphicFrame>
      <p:sp>
        <p:nvSpPr>
          <p:cNvPr id="4" name="矩形 3">
            <a:extLst>
              <a:ext uri="{FF2B5EF4-FFF2-40B4-BE49-F238E27FC236}">
                <a16:creationId xmlns:a16="http://schemas.microsoft.com/office/drawing/2014/main" id="{9D076231-7681-453E-888F-9C07912CA5BE}"/>
              </a:ext>
            </a:extLst>
          </p:cNvPr>
          <p:cNvSpPr/>
          <p:nvPr/>
        </p:nvSpPr>
        <p:spPr>
          <a:xfrm>
            <a:off x="2337954" y="5980562"/>
            <a:ext cx="2940628" cy="3338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5" name="爆炸形: 8 pt  4">
            <a:extLst>
              <a:ext uri="{FF2B5EF4-FFF2-40B4-BE49-F238E27FC236}">
                <a16:creationId xmlns:a16="http://schemas.microsoft.com/office/drawing/2014/main" id="{3D85FBF3-B0F6-458F-939B-D63600D92910}"/>
              </a:ext>
            </a:extLst>
          </p:cNvPr>
          <p:cNvSpPr/>
          <p:nvPr/>
        </p:nvSpPr>
        <p:spPr>
          <a:xfrm>
            <a:off x="5663509" y="5181904"/>
            <a:ext cx="1675746" cy="945572"/>
          </a:xfrm>
          <a:prstGeom prst="irregularSeal1">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16" name="文本框 15">
            <a:extLst>
              <a:ext uri="{FF2B5EF4-FFF2-40B4-BE49-F238E27FC236}">
                <a16:creationId xmlns:a16="http://schemas.microsoft.com/office/drawing/2014/main" id="{BF219F30-813B-41D5-8744-ACA603943172}"/>
              </a:ext>
            </a:extLst>
          </p:cNvPr>
          <p:cNvSpPr txBox="1"/>
          <p:nvPr/>
        </p:nvSpPr>
        <p:spPr>
          <a:xfrm>
            <a:off x="5962146" y="5392320"/>
            <a:ext cx="157511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不采信</a:t>
            </a:r>
            <a:endParaRPr kumimoji="0" lang="zh-CN" altLang="en-US" sz="24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7" name="灯片编号占位符 6">
            <a:extLst>
              <a:ext uri="{FF2B5EF4-FFF2-40B4-BE49-F238E27FC236}">
                <a16:creationId xmlns:a16="http://schemas.microsoft.com/office/drawing/2014/main" id="{EA181AA2-1D3A-4EB4-999F-70BC317CBED7}"/>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pic>
        <p:nvPicPr>
          <p:cNvPr id="7172" name="Picture 4" descr="Sample DNSDB Search Web Interface">
            <a:extLst>
              <a:ext uri="{FF2B5EF4-FFF2-40B4-BE49-F238E27FC236}">
                <a16:creationId xmlns:a16="http://schemas.microsoft.com/office/drawing/2014/main" id="{2831C8D7-374B-4D9C-B623-D00669022D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2274" y="4723806"/>
            <a:ext cx="2458565" cy="983426"/>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99001789-1DCD-4068-BD17-7B9EE80F95A6}"/>
              </a:ext>
            </a:extLst>
          </p:cNvPr>
          <p:cNvPicPr>
            <a:picLocks noChangeAspect="1"/>
          </p:cNvPicPr>
          <p:nvPr/>
        </p:nvPicPr>
        <p:blipFill>
          <a:blip r:embed="rId4"/>
          <a:stretch>
            <a:fillRect/>
          </a:stretch>
        </p:blipFill>
        <p:spPr>
          <a:xfrm>
            <a:off x="9679591" y="2003967"/>
            <a:ext cx="2281617" cy="1300344"/>
          </a:xfrm>
          <a:prstGeom prst="rect">
            <a:avLst/>
          </a:prstGeom>
        </p:spPr>
      </p:pic>
      <p:sp>
        <p:nvSpPr>
          <p:cNvPr id="19" name="文本框 18">
            <a:extLst>
              <a:ext uri="{FF2B5EF4-FFF2-40B4-BE49-F238E27FC236}">
                <a16:creationId xmlns:a16="http://schemas.microsoft.com/office/drawing/2014/main" id="{12A912D5-26EC-4780-BCB2-911BAA006BCD}"/>
              </a:ext>
            </a:extLst>
          </p:cNvPr>
          <p:cNvSpPr txBox="1"/>
          <p:nvPr/>
        </p:nvSpPr>
        <p:spPr>
          <a:xfrm>
            <a:off x="9743954" y="3628541"/>
            <a:ext cx="233688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DNSDB</a:t>
            </a:r>
            <a:r>
              <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提供</a:t>
            </a:r>
            <a:r>
              <a:rPr kumimoji="0" lang="en-US" altLang="zh-CN"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bailiwick</a:t>
            </a:r>
            <a:r>
              <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檢查接口</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Tree>
    <p:extLst>
      <p:ext uri="{BB962C8B-B14F-4D97-AF65-F5344CB8AC3E}">
        <p14:creationId xmlns:p14="http://schemas.microsoft.com/office/powerpoint/2010/main" val="16254431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E05E9541-F7B7-4942-BBD2-180BCB958B50}"/>
              </a:ext>
            </a:extLst>
          </p:cNvPr>
          <p:cNvSpPr>
            <a:spLocks/>
          </p:cNvSpPr>
          <p:nvPr/>
        </p:nvSpPr>
        <p:spPr bwMode="auto">
          <a:xfrm>
            <a:off x="256058" y="4357954"/>
            <a:ext cx="11679883" cy="706142"/>
          </a:xfrm>
          <a:prstGeom prst="rect">
            <a:avLst/>
          </a:prstGeom>
          <a:solidFill>
            <a:schemeClr val="accent3">
              <a:lumMod val="20000"/>
              <a:lumOff val="80000"/>
            </a:schemeClr>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11" name="矩形 10">
            <a:extLst>
              <a:ext uri="{FF2B5EF4-FFF2-40B4-BE49-F238E27FC236}">
                <a16:creationId xmlns:a16="http://schemas.microsoft.com/office/drawing/2014/main" id="{0DBB30F1-A173-49F5-8EB9-A55C7311CF0D}"/>
              </a:ext>
            </a:extLst>
          </p:cNvPr>
          <p:cNvSpPr>
            <a:spLocks/>
          </p:cNvSpPr>
          <p:nvPr/>
        </p:nvSpPr>
        <p:spPr bwMode="auto">
          <a:xfrm>
            <a:off x="260460" y="1103846"/>
            <a:ext cx="7784083" cy="2887690"/>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a:ea typeface="微软雅黑" panose="020B0503020204020204" pitchFamily="34" charset="-122"/>
              <a:cs typeface="+mn-cs"/>
              <a:sym typeface="Arial" panose="020B0604020202020204" pitchFamily="34" charset="0"/>
            </a:endParaRPr>
          </a:p>
        </p:txBody>
      </p:sp>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lstStyle/>
          <a:p>
            <a:r>
              <a:rPr kumimoji="1" lang="zh-CN" altLang="en-US" dirty="0">
                <a:solidFill>
                  <a:srgbClr val="C00000"/>
                </a:solidFill>
              </a:rPr>
              <a:t>新型架構設計</a:t>
            </a:r>
            <a:r>
              <a:rPr kumimoji="1" lang="en-US" altLang="zh-CN" dirty="0">
                <a:solidFill>
                  <a:srgbClr val="C00000"/>
                </a:solidFill>
              </a:rPr>
              <a:t>-</a:t>
            </a:r>
            <a:r>
              <a:rPr kumimoji="1" lang="en-US" altLang="zh-CN" dirty="0" err="1">
                <a:solidFill>
                  <a:srgbClr val="C00000"/>
                </a:solidFill>
              </a:rPr>
              <a:t>Blockstack</a:t>
            </a:r>
            <a:endParaRPr kumimoji="1" lang="zh-CN" altLang="en-US" dirty="0">
              <a:solidFill>
                <a:srgbClr val="C00000"/>
              </a:solidFill>
            </a:endParaRPr>
          </a:p>
        </p:txBody>
      </p:sp>
      <p:sp>
        <p:nvSpPr>
          <p:cNvPr id="2" name="Rectangle 2">
            <a:extLst>
              <a:ext uri="{FF2B5EF4-FFF2-40B4-BE49-F238E27FC236}">
                <a16:creationId xmlns:a16="http://schemas.microsoft.com/office/drawing/2014/main" id="{768FBC25-C9DE-4C10-97C9-374BD6CAAA60}"/>
              </a:ext>
            </a:extLst>
          </p:cNvPr>
          <p:cNvSpPr>
            <a:spLocks noChangeArrowheads="1"/>
          </p:cNvSpPr>
          <p:nvPr/>
        </p:nvSpPr>
        <p:spPr bwMode="auto">
          <a:xfrm>
            <a:off x="88324" y="2185592"/>
            <a:ext cx="1093558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6" name="Rectangle 5">
            <a:extLst>
              <a:ext uri="{FF2B5EF4-FFF2-40B4-BE49-F238E27FC236}">
                <a16:creationId xmlns:a16="http://schemas.microsoft.com/office/drawing/2014/main" id="{B2CD6BA3-9FF9-4F92-9B46-9DB22E820979}"/>
              </a:ext>
            </a:extLst>
          </p:cNvPr>
          <p:cNvSpPr>
            <a:spLocks noChangeArrowheads="1"/>
          </p:cNvSpPr>
          <p:nvPr/>
        </p:nvSpPr>
        <p:spPr bwMode="auto">
          <a:xfrm>
            <a:off x="-77931" y="1739098"/>
            <a:ext cx="1448875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4" name="灯片编号占位符 3">
            <a:extLst>
              <a:ext uri="{FF2B5EF4-FFF2-40B4-BE49-F238E27FC236}">
                <a16:creationId xmlns:a16="http://schemas.microsoft.com/office/drawing/2014/main" id="{D815EC22-3148-4806-B719-162632525B2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pic>
        <p:nvPicPr>
          <p:cNvPr id="7" name="图片 6">
            <a:extLst>
              <a:ext uri="{FF2B5EF4-FFF2-40B4-BE49-F238E27FC236}">
                <a16:creationId xmlns:a16="http://schemas.microsoft.com/office/drawing/2014/main" id="{06473A04-3E3D-471F-B9B8-14FFC3D71430}"/>
              </a:ext>
            </a:extLst>
          </p:cNvPr>
          <p:cNvPicPr>
            <a:picLocks noChangeAspect="1"/>
          </p:cNvPicPr>
          <p:nvPr/>
        </p:nvPicPr>
        <p:blipFill>
          <a:blip r:embed="rId3"/>
          <a:stretch>
            <a:fillRect/>
          </a:stretch>
        </p:blipFill>
        <p:spPr>
          <a:xfrm>
            <a:off x="4722847" y="1332388"/>
            <a:ext cx="3136640" cy="2184056"/>
          </a:xfrm>
          <a:prstGeom prst="rect">
            <a:avLst/>
          </a:prstGeom>
          <a:ln>
            <a:noFill/>
          </a:ln>
          <a:effectLst>
            <a:outerShdw blurRad="190500" algn="tl" rotWithShape="0">
              <a:srgbClr val="000000">
                <a:alpha val="70000"/>
              </a:srgbClr>
            </a:outerShdw>
          </a:effectLst>
        </p:spPr>
      </p:pic>
      <p:pic>
        <p:nvPicPr>
          <p:cNvPr id="9" name="图片 8">
            <a:extLst>
              <a:ext uri="{FF2B5EF4-FFF2-40B4-BE49-F238E27FC236}">
                <a16:creationId xmlns:a16="http://schemas.microsoft.com/office/drawing/2014/main" id="{57652304-6C78-478D-8D6E-387B7C1F0334}"/>
              </a:ext>
            </a:extLst>
          </p:cNvPr>
          <p:cNvPicPr>
            <a:picLocks noChangeAspect="1"/>
          </p:cNvPicPr>
          <p:nvPr/>
        </p:nvPicPr>
        <p:blipFill rotWithShape="1">
          <a:blip r:embed="rId4"/>
          <a:srcRect t="2680"/>
          <a:stretch/>
        </p:blipFill>
        <p:spPr>
          <a:xfrm>
            <a:off x="719221" y="1362589"/>
            <a:ext cx="3275010" cy="2169961"/>
          </a:xfrm>
          <a:prstGeom prst="rect">
            <a:avLst/>
          </a:prstGeom>
          <a:ln>
            <a:noFill/>
          </a:ln>
          <a:effectLst>
            <a:outerShdw blurRad="190500" algn="tl" rotWithShape="0">
              <a:srgbClr val="000000">
                <a:alpha val="70000"/>
              </a:srgbClr>
            </a:outerShdw>
          </a:effectLst>
        </p:spPr>
      </p:pic>
      <p:sp>
        <p:nvSpPr>
          <p:cNvPr id="12" name="箭头: 右 11">
            <a:extLst>
              <a:ext uri="{FF2B5EF4-FFF2-40B4-BE49-F238E27FC236}">
                <a16:creationId xmlns:a16="http://schemas.microsoft.com/office/drawing/2014/main" id="{D191EF36-00CC-4059-9997-EFFEC2FC597A}"/>
              </a:ext>
            </a:extLst>
          </p:cNvPr>
          <p:cNvSpPr/>
          <p:nvPr/>
        </p:nvSpPr>
        <p:spPr>
          <a:xfrm>
            <a:off x="4166367" y="2312765"/>
            <a:ext cx="462579" cy="371140"/>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14" name="文本框 13">
            <a:extLst>
              <a:ext uri="{FF2B5EF4-FFF2-40B4-BE49-F238E27FC236}">
                <a16:creationId xmlns:a16="http://schemas.microsoft.com/office/drawing/2014/main" id="{5EABEA17-BA49-401D-917A-F080C7C3D684}"/>
              </a:ext>
            </a:extLst>
          </p:cNvPr>
          <p:cNvSpPr txBox="1"/>
          <p:nvPr/>
        </p:nvSpPr>
        <p:spPr>
          <a:xfrm>
            <a:off x="1564427" y="3603901"/>
            <a:ext cx="135815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當前設計</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15" name="文本框 14">
            <a:extLst>
              <a:ext uri="{FF2B5EF4-FFF2-40B4-BE49-F238E27FC236}">
                <a16:creationId xmlns:a16="http://schemas.microsoft.com/office/drawing/2014/main" id="{5C528EC8-F128-48AA-AD0D-D581069BAF46}"/>
              </a:ext>
            </a:extLst>
          </p:cNvPr>
          <p:cNvSpPr txBox="1"/>
          <p:nvPr/>
        </p:nvSpPr>
        <p:spPr>
          <a:xfrm>
            <a:off x="5584700" y="3622203"/>
            <a:ext cx="170867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去中心化設計</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16" name="文本框 15">
            <a:extLst>
              <a:ext uri="{FF2B5EF4-FFF2-40B4-BE49-F238E27FC236}">
                <a16:creationId xmlns:a16="http://schemas.microsoft.com/office/drawing/2014/main" id="{D5AA72AF-82D7-4A6D-98F6-64E115DDE32E}"/>
              </a:ext>
            </a:extLst>
          </p:cNvPr>
          <p:cNvSpPr txBox="1"/>
          <p:nvPr/>
        </p:nvSpPr>
        <p:spPr>
          <a:xfrm>
            <a:off x="1928607" y="4462596"/>
            <a:ext cx="8891793" cy="46166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err="1">
                <a:ln>
                  <a:noFill/>
                </a:ln>
                <a:solidFill>
                  <a:srgbClr val="C00000"/>
                </a:solidFill>
                <a:effectLst/>
                <a:uLnTx/>
                <a:uFillTx/>
                <a:latin typeface="微软雅黑" panose="020B0503020204020204" pitchFamily="34" charset="-122"/>
                <a:ea typeface="微软雅黑" panose="020B0503020204020204" pitchFamily="34" charset="-122"/>
                <a:cs typeface="TT7ADF8o00536922991"/>
              </a:rPr>
              <a:t>Blockstack</a:t>
            </a:r>
            <a:r>
              <a:rPr kumimoji="0" lang="en-US" altLang="zh-CN"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rPr>
              <a:t> </a:t>
            </a:r>
            <a:r>
              <a:rPr kumimoji="0" lang="zh-CN" altLang="en-US"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T7ADF8o00536922991"/>
              </a:rPr>
              <a:t>旨在建立一個去中心化的域名系統及公鑰基礎設施</a:t>
            </a:r>
            <a:endParaRPr kumimoji="0" lang="en-US" altLang="zh-CN"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a:extLst>
              <a:ext uri="{FF2B5EF4-FFF2-40B4-BE49-F238E27FC236}">
                <a16:creationId xmlns:a16="http://schemas.microsoft.com/office/drawing/2014/main" id="{8401D866-2419-45CE-BAF7-929B219451FF}"/>
              </a:ext>
            </a:extLst>
          </p:cNvPr>
          <p:cNvSpPr txBox="1"/>
          <p:nvPr/>
        </p:nvSpPr>
        <p:spPr>
          <a:xfrm>
            <a:off x="-77931" y="6567586"/>
            <a:ext cx="1303393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1.Muneeb Ali, et.al. </a:t>
            </a:r>
            <a:r>
              <a:rPr kumimoji="0"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Blockstack</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 Global Naming and Storage System Secured by Blockchains[C] USENIX ATC 2016: 181-194</a:t>
            </a:r>
            <a:endPar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8" name="Picture 8">
            <a:extLst>
              <a:ext uri="{FF2B5EF4-FFF2-40B4-BE49-F238E27FC236}">
                <a16:creationId xmlns:a16="http://schemas.microsoft.com/office/drawing/2014/main" id="{54D73F1D-D692-1826-E8CA-BC735C9855D2}"/>
              </a:ext>
            </a:extLst>
          </p:cNvPr>
          <p:cNvPicPr>
            <a:picLocks noChangeAspect="1"/>
          </p:cNvPicPr>
          <p:nvPr/>
        </p:nvPicPr>
        <p:blipFill rotWithShape="1">
          <a:blip r:embed="rId5"/>
          <a:srcRect l="10790" r="19163" b="402"/>
          <a:stretch/>
        </p:blipFill>
        <p:spPr>
          <a:xfrm>
            <a:off x="8138444" y="1834759"/>
            <a:ext cx="3936693" cy="1567915"/>
          </a:xfrm>
          <a:prstGeom prst="rect">
            <a:avLst/>
          </a:prstGeom>
        </p:spPr>
      </p:pic>
      <p:sp>
        <p:nvSpPr>
          <p:cNvPr id="10" name="矩形 9">
            <a:extLst>
              <a:ext uri="{FF2B5EF4-FFF2-40B4-BE49-F238E27FC236}">
                <a16:creationId xmlns:a16="http://schemas.microsoft.com/office/drawing/2014/main" id="{60AB1B89-4C4C-5C37-2B5B-A6C6977392C3}"/>
              </a:ext>
            </a:extLst>
          </p:cNvPr>
          <p:cNvSpPr>
            <a:spLocks/>
          </p:cNvSpPr>
          <p:nvPr/>
        </p:nvSpPr>
        <p:spPr bwMode="auto">
          <a:xfrm>
            <a:off x="1741538" y="5213090"/>
            <a:ext cx="8060225" cy="942982"/>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marR="1030" lvl="0" indent="0" algn="just" defTabSz="914400" rtl="0" eaLnBrk="1" fontAlgn="auto" latinLnBrk="0" hangingPunct="1">
              <a:lnSpc>
                <a:spcPct val="150000"/>
              </a:lnSpc>
              <a:spcBef>
                <a:spcPts val="0"/>
              </a:spcBef>
              <a:spcAft>
                <a:spcPts val="0"/>
              </a:spcAft>
              <a:buClrTx/>
              <a:buSzTx/>
              <a:buFontTx/>
              <a:buNone/>
              <a:tabLst/>
              <a:defRPr/>
            </a:pPr>
            <a:r>
              <a:rPr kumimoji="0" lang="zh-CN"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底層采用區塊鏈搭建，通過將域名哈希值以交易形式存儲在</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區塊鏈</a:t>
            </a:r>
            <a:r>
              <a:rPr kumimoji="0" lang="zh-CN"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，以分布式方式避免篡改，提供可靠</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DNS</a:t>
            </a:r>
            <a:r>
              <a:rPr kumimoji="0" lang="zh-CN"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服務</a:t>
            </a:r>
            <a:endPar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9541600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1EE29A1-C89A-8644-9C6C-B4B5595B99BE}"/>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 name="矩形 2">
            <a:extLst>
              <a:ext uri="{FF2B5EF4-FFF2-40B4-BE49-F238E27FC236}">
                <a16:creationId xmlns:a16="http://schemas.microsoft.com/office/drawing/2014/main" id="{95390BD7-9E9C-0D4E-A92D-6F6196C9DABC}"/>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4" name="椭圆 3">
            <a:extLst>
              <a:ext uri="{FF2B5EF4-FFF2-40B4-BE49-F238E27FC236}">
                <a16:creationId xmlns:a16="http://schemas.microsoft.com/office/drawing/2014/main" id="{BF9CDFA6-B029-6B4C-B9E4-7CF16FFE8CAE}"/>
              </a:ext>
            </a:extLst>
          </p:cNvPr>
          <p:cNvSpPr/>
          <p:nvPr/>
        </p:nvSpPr>
        <p:spPr>
          <a:xfrm>
            <a:off x="2038665" y="124711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pic>
        <p:nvPicPr>
          <p:cNvPr id="23" name="图片 22">
            <a:extLst>
              <a:ext uri="{FF2B5EF4-FFF2-40B4-BE49-F238E27FC236}">
                <a16:creationId xmlns:a16="http://schemas.microsoft.com/office/drawing/2014/main" id="{0FE6FCD0-FA89-B441-A733-B32B5C383245}"/>
              </a:ext>
            </a:extLst>
          </p:cNvPr>
          <p:cNvPicPr>
            <a:picLocks noChangeAspect="1"/>
          </p:cNvPicPr>
          <p:nvPr/>
        </p:nvPicPr>
        <p:blipFill>
          <a:blip r:embed="rId3"/>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24" name="矩形 23">
            <a:extLst>
              <a:ext uri="{FF2B5EF4-FFF2-40B4-BE49-F238E27FC236}">
                <a16:creationId xmlns:a16="http://schemas.microsoft.com/office/drawing/2014/main" id="{3FCEB227-503D-45F9-949B-6355E355F25A}"/>
              </a:ext>
            </a:extLst>
          </p:cNvPr>
          <p:cNvSpPr/>
          <p:nvPr/>
        </p:nvSpPr>
        <p:spPr>
          <a:xfrm>
            <a:off x="4711535" y="2044858"/>
            <a:ext cx="4440639" cy="70788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第五節 總結和展望</a:t>
            </a:r>
          </a:p>
        </p:txBody>
      </p:sp>
      <p:sp>
        <p:nvSpPr>
          <p:cNvPr id="2" name="灯片编号占位符 1">
            <a:extLst>
              <a:ext uri="{FF2B5EF4-FFF2-40B4-BE49-F238E27FC236}">
                <a16:creationId xmlns:a16="http://schemas.microsoft.com/office/drawing/2014/main" id="{5A1057DE-43AA-4C07-9A7C-BCE2882850B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Tree>
    <p:extLst>
      <p:ext uri="{BB962C8B-B14F-4D97-AF65-F5344CB8AC3E}">
        <p14:creationId xmlns:p14="http://schemas.microsoft.com/office/powerpoint/2010/main" val="26666960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solidFill>
                  <a:srgbClr val="C00000"/>
                </a:solidFill>
              </a:rPr>
              <a:t>總結</a:t>
            </a:r>
          </a:p>
        </p:txBody>
      </p:sp>
      <p:sp>
        <p:nvSpPr>
          <p:cNvPr id="13" name="灯片编号占位符 2">
            <a:extLst>
              <a:ext uri="{FF2B5EF4-FFF2-40B4-BE49-F238E27FC236}">
                <a16:creationId xmlns:a16="http://schemas.microsoft.com/office/drawing/2014/main" id="{A6F8482A-DAE6-5B44-9CF4-35D7DC9969C5}"/>
              </a:ext>
            </a:extLst>
          </p:cNvPr>
          <p:cNvSpPr>
            <a:spLocks noGrp="1"/>
          </p:cNvSpPr>
          <p:nvPr>
            <p:ph type="sldNum" sz="quarter" idx="4294967295"/>
          </p:nvPr>
        </p:nvSpPr>
        <p:spPr>
          <a:xfrm>
            <a:off x="9347200" y="6473825"/>
            <a:ext cx="28448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kumimoji="0" lang="zh-CN" altLang="en-US" sz="1200" b="0" i="0" u="none" strike="noStrike" kern="1200" cap="none" spc="0" normalizeH="0" baseline="0" noProof="0" smtClean="0">
                <a:ln>
                  <a:noFill/>
                </a:ln>
                <a:solidFill>
                  <a:srgbClr val="000000">
                    <a:tint val="75000"/>
                  </a:srgbClr>
                </a:solidFill>
                <a:effectLst/>
                <a:uLnTx/>
                <a:uFillTx/>
                <a:latin typeface="Comic Sans MS"/>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zh-CN" altLang="en-US" sz="1200" b="0" i="0" u="none" strike="noStrike" kern="1200" cap="none" spc="0" normalizeH="0" baseline="0" noProof="0" dirty="0">
              <a:ln>
                <a:noFill/>
              </a:ln>
              <a:solidFill>
                <a:srgbClr val="000000">
                  <a:tint val="75000"/>
                </a:srgbClr>
              </a:solidFill>
              <a:effectLst/>
              <a:uLnTx/>
              <a:uFillTx/>
              <a:latin typeface="Comic Sans MS"/>
              <a:ea typeface="微软雅黑 Light"/>
              <a:cs typeface="+mn-cs"/>
            </a:endParaRPr>
          </a:p>
        </p:txBody>
      </p:sp>
      <p:sp>
        <p:nvSpPr>
          <p:cNvPr id="7" name="矩形 37">
            <a:extLst>
              <a:ext uri="{FF2B5EF4-FFF2-40B4-BE49-F238E27FC236}">
                <a16:creationId xmlns:a16="http://schemas.microsoft.com/office/drawing/2014/main" id="{4F036E8B-B123-4112-AFC9-19337916B355}"/>
              </a:ext>
            </a:extLst>
          </p:cNvPr>
          <p:cNvSpPr>
            <a:spLocks/>
          </p:cNvSpPr>
          <p:nvPr/>
        </p:nvSpPr>
        <p:spPr bwMode="auto">
          <a:xfrm>
            <a:off x="917520" y="1012677"/>
            <a:ext cx="10436279" cy="944139"/>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2100" b="1" i="0" u="none" strike="noStrike" kern="0" cap="none" spc="0" normalizeH="0" baseline="0" noProof="0" dirty="0">
                <a:ln>
                  <a:noFill/>
                </a:ln>
                <a:solidFill>
                  <a:srgbClr val="000000"/>
                </a:solidFill>
                <a:effectLst/>
                <a:uLnTx/>
                <a:uFillTx/>
                <a:latin typeface="Microsoft YaHei" charset="-122"/>
                <a:ea typeface="Microsoft YaHei" charset="-122"/>
                <a:cs typeface="Microsoft YaHei" charset="-122"/>
              </a:rPr>
              <a:t>熟悉了</a:t>
            </a:r>
            <a:r>
              <a:rPr kumimoji="0" lang="en-US" altLang="zh-CN" sz="2100" b="1" i="0" u="none" strike="noStrike" kern="0" cap="none" spc="0" normalizeH="0" baseline="0" noProof="0" dirty="0">
                <a:ln>
                  <a:noFill/>
                </a:ln>
                <a:solidFill>
                  <a:srgbClr val="000000"/>
                </a:solidFill>
                <a:effectLst/>
                <a:uLnTx/>
                <a:uFillTx/>
                <a:latin typeface="Microsoft YaHei" charset="-122"/>
                <a:ea typeface="Microsoft YaHei" charset="-122"/>
                <a:cs typeface="Microsoft YaHei" charset="-122"/>
              </a:rPr>
              <a:t>DNS</a:t>
            </a:r>
            <a:r>
              <a:rPr kumimoji="0" lang="zh-CN" altLang="en-US" sz="2100" b="1" i="0" u="none" strike="noStrike" kern="0" cap="none" spc="0" normalizeH="0" baseline="0" noProof="0" dirty="0">
                <a:ln>
                  <a:noFill/>
                </a:ln>
                <a:solidFill>
                  <a:srgbClr val="000000"/>
                </a:solidFill>
                <a:effectLst/>
                <a:uLnTx/>
                <a:uFillTx/>
                <a:latin typeface="Microsoft YaHei" charset="-122"/>
                <a:ea typeface="Microsoft YaHei" charset="-122"/>
                <a:cs typeface="Microsoft YaHei" charset="-122"/>
              </a:rPr>
              <a:t>的演進歷史、域名結構、區域形式、使用原理及基本解析過程，思考了</a:t>
            </a:r>
            <a:r>
              <a:rPr kumimoji="0" lang="en-US" altLang="zh-CN" sz="2100" b="1" i="0" u="none" strike="noStrike" kern="0" cap="none" spc="0" normalizeH="0" baseline="0" noProof="0" dirty="0">
                <a:ln>
                  <a:noFill/>
                </a:ln>
                <a:solidFill>
                  <a:srgbClr val="000000"/>
                </a:solidFill>
                <a:effectLst/>
                <a:uLnTx/>
                <a:uFillTx/>
                <a:latin typeface="Microsoft YaHei" charset="-122"/>
                <a:ea typeface="Microsoft YaHei" charset="-122"/>
                <a:cs typeface="Microsoft YaHei" charset="-122"/>
              </a:rPr>
              <a:t>DNS</a:t>
            </a:r>
            <a:r>
              <a:rPr kumimoji="0" lang="zh-CN" altLang="en-US" sz="2100" b="1" i="0" u="none" strike="noStrike" kern="0" cap="none" spc="0" normalizeH="0" baseline="0" noProof="0" dirty="0">
                <a:ln>
                  <a:noFill/>
                </a:ln>
                <a:solidFill>
                  <a:srgbClr val="000000"/>
                </a:solidFill>
                <a:effectLst/>
                <a:uLnTx/>
                <a:uFillTx/>
                <a:latin typeface="Microsoft YaHei" charset="-122"/>
                <a:ea typeface="Microsoft YaHei" charset="-122"/>
                <a:cs typeface="Microsoft YaHei" charset="-122"/>
              </a:rPr>
              <a:t>潜在的安全問題，學習了常見的</a:t>
            </a:r>
            <a:r>
              <a:rPr kumimoji="0" lang="en-US" altLang="zh-CN" sz="2100" b="1" i="0" u="none" strike="noStrike" kern="0" cap="none" spc="0" normalizeH="0" baseline="0" noProof="0" dirty="0">
                <a:ln>
                  <a:noFill/>
                </a:ln>
                <a:solidFill>
                  <a:srgbClr val="000000"/>
                </a:solidFill>
                <a:effectLst/>
                <a:uLnTx/>
                <a:uFillTx/>
                <a:latin typeface="Microsoft YaHei" charset="-122"/>
                <a:ea typeface="Microsoft YaHei" charset="-122"/>
                <a:cs typeface="Microsoft YaHei" charset="-122"/>
              </a:rPr>
              <a:t>DNS</a:t>
            </a:r>
            <a:r>
              <a:rPr kumimoji="0" lang="zh-CN" altLang="en-US" sz="2100" b="1" i="0" u="none" strike="noStrike" kern="0" cap="none" spc="0" normalizeH="0" baseline="0" noProof="0" dirty="0">
                <a:ln>
                  <a:noFill/>
                </a:ln>
                <a:solidFill>
                  <a:srgbClr val="000000"/>
                </a:solidFill>
                <a:effectLst/>
                <a:uLnTx/>
                <a:uFillTx/>
                <a:latin typeface="Microsoft YaHei" charset="-122"/>
                <a:ea typeface="Microsoft YaHei" charset="-122"/>
                <a:cs typeface="Microsoft YaHei" charset="-122"/>
              </a:rPr>
              <a:t>攻擊技術和防禦手段</a:t>
            </a:r>
            <a:endParaRPr kumimoji="0" lang="zh-CN" altLang="en-US" sz="2100" b="1" i="0" u="none" strike="noStrike" kern="1200" cap="none" spc="0" normalizeH="0" baseline="0" noProof="0" dirty="0">
              <a:ln>
                <a:noFill/>
              </a:ln>
              <a:solidFill>
                <a:srgbClr val="000000"/>
              </a:solidFill>
              <a:effectLst/>
              <a:uLnTx/>
              <a:uFillTx/>
              <a:latin typeface="Microsoft YaHei" charset="-122"/>
              <a:ea typeface="Microsoft YaHei" charset="-122"/>
              <a:cs typeface="Microsoft YaHei" charset="-122"/>
            </a:endParaRPr>
          </a:p>
        </p:txBody>
      </p:sp>
      <p:pic>
        <p:nvPicPr>
          <p:cNvPr id="3" name="图片 2">
            <a:extLst>
              <a:ext uri="{FF2B5EF4-FFF2-40B4-BE49-F238E27FC236}">
                <a16:creationId xmlns:a16="http://schemas.microsoft.com/office/drawing/2014/main" id="{814BA326-3826-1DD9-03AD-13FAA6FB1BFA}"/>
              </a:ext>
            </a:extLst>
          </p:cNvPr>
          <p:cNvPicPr>
            <a:picLocks noChangeAspect="1"/>
          </p:cNvPicPr>
          <p:nvPr/>
        </p:nvPicPr>
        <p:blipFill>
          <a:blip r:embed="rId3"/>
          <a:stretch>
            <a:fillRect/>
          </a:stretch>
        </p:blipFill>
        <p:spPr>
          <a:xfrm>
            <a:off x="1602075" y="2107561"/>
            <a:ext cx="8987849" cy="4635759"/>
          </a:xfrm>
          <a:prstGeom prst="rect">
            <a:avLst/>
          </a:prstGeom>
        </p:spPr>
      </p:pic>
    </p:spTree>
    <p:extLst>
      <p:ext uri="{BB962C8B-B14F-4D97-AF65-F5344CB8AC3E}">
        <p14:creationId xmlns:p14="http://schemas.microsoft.com/office/powerpoint/2010/main" val="32082346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23E66B0-18E0-E449-898D-0B47F5EF1509}"/>
              </a:ext>
            </a:extLst>
          </p:cNvPr>
          <p:cNvSpPr>
            <a:spLocks noGrp="1"/>
          </p:cNvSpPr>
          <p:nvPr>
            <p:ph type="title"/>
          </p:nvPr>
        </p:nvSpPr>
        <p:spPr/>
        <p:txBody>
          <a:bodyPr>
            <a:normAutofit/>
          </a:bodyPr>
          <a:lstStyle/>
          <a:p>
            <a:r>
              <a:rPr kumimoji="1" lang="zh-CN" altLang="en-US" dirty="0">
                <a:solidFill>
                  <a:srgbClr val="C00000"/>
                </a:solidFill>
              </a:rPr>
              <a:t>展望</a:t>
            </a:r>
          </a:p>
        </p:txBody>
      </p:sp>
      <p:sp>
        <p:nvSpPr>
          <p:cNvPr id="4" name="灯片编号占位符 3">
            <a:extLst>
              <a:ext uri="{FF2B5EF4-FFF2-40B4-BE49-F238E27FC236}">
                <a16:creationId xmlns:a16="http://schemas.microsoft.com/office/drawing/2014/main" id="{D7071964-49E8-4194-9B56-923908C67DAA}"/>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5CE2E0-6DDF-4FAE-9DBA-F1C48BF5C133}"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zh-CN" altLang="en-US" sz="1200" b="0" i="0" u="none" strike="noStrike" kern="1200" cap="none" spc="0" normalizeH="0" baseline="0" noProof="0" dirty="0">
              <a:ln>
                <a:noFill/>
              </a:ln>
              <a:solidFill>
                <a:srgbClr val="000000">
                  <a:tint val="75000"/>
                </a:srgbClr>
              </a:solidFill>
              <a:effectLst/>
              <a:uLnTx/>
              <a:uFillTx/>
              <a:latin typeface="Arial"/>
              <a:ea typeface="微软雅黑 Light"/>
              <a:cs typeface="+mn-cs"/>
            </a:endParaRPr>
          </a:p>
        </p:txBody>
      </p:sp>
      <p:sp>
        <p:nvSpPr>
          <p:cNvPr id="5" name="Rectangle 2">
            <a:extLst>
              <a:ext uri="{FF2B5EF4-FFF2-40B4-BE49-F238E27FC236}">
                <a16:creationId xmlns:a16="http://schemas.microsoft.com/office/drawing/2014/main" id="{FA93EFFB-0480-4B96-BA82-DEAB3E0A857E}"/>
              </a:ext>
            </a:extLst>
          </p:cNvPr>
          <p:cNvSpPr>
            <a:spLocks noChangeArrowheads="1"/>
          </p:cNvSpPr>
          <p:nvPr/>
        </p:nvSpPr>
        <p:spPr bwMode="auto">
          <a:xfrm>
            <a:off x="1576454" y="1972543"/>
            <a:ext cx="17308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7" name="Rectangle 4">
            <a:extLst>
              <a:ext uri="{FF2B5EF4-FFF2-40B4-BE49-F238E27FC236}">
                <a16:creationId xmlns:a16="http://schemas.microsoft.com/office/drawing/2014/main" id="{F860669D-C8F6-4F61-9EB8-0E32557C81FF}"/>
              </a:ext>
            </a:extLst>
          </p:cNvPr>
          <p:cNvSpPr>
            <a:spLocks noChangeArrowheads="1"/>
          </p:cNvSpPr>
          <p:nvPr/>
        </p:nvSpPr>
        <p:spPr bwMode="auto">
          <a:xfrm>
            <a:off x="947805"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2" name="Rectangle 2">
            <a:extLst>
              <a:ext uri="{FF2B5EF4-FFF2-40B4-BE49-F238E27FC236}">
                <a16:creationId xmlns:a16="http://schemas.microsoft.com/office/drawing/2014/main" id="{50E33959-EC61-4A2C-BA41-AB900E31EE21}"/>
              </a:ext>
            </a:extLst>
          </p:cNvPr>
          <p:cNvSpPr>
            <a:spLocks noChangeArrowheads="1"/>
          </p:cNvSpPr>
          <p:nvPr/>
        </p:nvSpPr>
        <p:spPr bwMode="auto">
          <a:xfrm>
            <a:off x="6971724" y="1584051"/>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6" name="Rectangle 2">
            <a:extLst>
              <a:ext uri="{FF2B5EF4-FFF2-40B4-BE49-F238E27FC236}">
                <a16:creationId xmlns:a16="http://schemas.microsoft.com/office/drawing/2014/main" id="{E8E81731-EF5E-4B34-B535-87DD478560AC}"/>
              </a:ext>
            </a:extLst>
          </p:cNvPr>
          <p:cNvSpPr>
            <a:spLocks noChangeArrowheads="1"/>
          </p:cNvSpPr>
          <p:nvPr/>
        </p:nvSpPr>
        <p:spPr bwMode="auto">
          <a:xfrm>
            <a:off x="155324" y="1859211"/>
            <a:ext cx="171064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11" name="Rectangle 2">
            <a:extLst>
              <a:ext uri="{FF2B5EF4-FFF2-40B4-BE49-F238E27FC236}">
                <a16:creationId xmlns:a16="http://schemas.microsoft.com/office/drawing/2014/main" id="{11FFDC39-2E84-4CCA-9215-2B4E125B9782}"/>
              </a:ext>
            </a:extLst>
          </p:cNvPr>
          <p:cNvSpPr>
            <a:spLocks noChangeArrowheads="1"/>
          </p:cNvSpPr>
          <p:nvPr/>
        </p:nvSpPr>
        <p:spPr bwMode="auto">
          <a:xfrm>
            <a:off x="6971724" y="1584051"/>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Light"/>
              <a:cs typeface="+mn-cs"/>
            </a:endParaRPr>
          </a:p>
        </p:txBody>
      </p:sp>
      <p:sp>
        <p:nvSpPr>
          <p:cNvPr id="12" name="Rectangle 1">
            <a:extLst>
              <a:ext uri="{FF2B5EF4-FFF2-40B4-BE49-F238E27FC236}">
                <a16:creationId xmlns:a16="http://schemas.microsoft.com/office/drawing/2014/main" id="{52B2A28C-2CDB-47AA-A3A8-2FE9B9D8D6AD}"/>
              </a:ext>
            </a:extLst>
          </p:cNvPr>
          <p:cNvSpPr>
            <a:spLocks noChangeArrowheads="1"/>
          </p:cNvSpPr>
          <p:nvPr/>
        </p:nvSpPr>
        <p:spPr bwMode="auto">
          <a:xfrm>
            <a:off x="5735620" y="2147936"/>
            <a:ext cx="61288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基于簽名、加密技術提升協議機制安全性</a:t>
            </a:r>
          </a:p>
        </p:txBody>
      </p:sp>
      <p:sp>
        <p:nvSpPr>
          <p:cNvPr id="13" name="Rectangle 1">
            <a:extLst>
              <a:ext uri="{FF2B5EF4-FFF2-40B4-BE49-F238E27FC236}">
                <a16:creationId xmlns:a16="http://schemas.microsoft.com/office/drawing/2014/main" id="{A308EB7A-2165-4ECA-BC5C-E97E4638DEE7}"/>
              </a:ext>
            </a:extLst>
          </p:cNvPr>
          <p:cNvSpPr>
            <a:spLocks noChangeArrowheads="1"/>
          </p:cNvSpPr>
          <p:nvPr/>
        </p:nvSpPr>
        <p:spPr bwMode="auto">
          <a:xfrm>
            <a:off x="5761431" y="2975848"/>
            <a:ext cx="55330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C00000"/>
                </a:solidFill>
                <a:effectLst/>
                <a:uLnTx/>
                <a:uFillTx/>
                <a:latin typeface="Calibri "/>
                <a:ea typeface="微软雅黑"/>
                <a:cs typeface="+mn-cs"/>
              </a:rPr>
              <a:t>針對新型安全威脅尋找解决方案</a:t>
            </a:r>
          </a:p>
        </p:txBody>
      </p:sp>
      <p:sp>
        <p:nvSpPr>
          <p:cNvPr id="15" name="Rectangle 1">
            <a:extLst>
              <a:ext uri="{FF2B5EF4-FFF2-40B4-BE49-F238E27FC236}">
                <a16:creationId xmlns:a16="http://schemas.microsoft.com/office/drawing/2014/main" id="{75868892-7722-404B-9B18-4D1DE4DB66DD}"/>
              </a:ext>
            </a:extLst>
          </p:cNvPr>
          <p:cNvSpPr>
            <a:spLocks noChangeArrowheads="1"/>
          </p:cNvSpPr>
          <p:nvPr/>
        </p:nvSpPr>
        <p:spPr bwMode="auto">
          <a:xfrm>
            <a:off x="5761431" y="1618508"/>
            <a:ext cx="43303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C00000"/>
                </a:solidFill>
                <a:effectLst/>
                <a:uLnTx/>
                <a:uFillTx/>
                <a:latin typeface="Calibri "/>
                <a:ea typeface="微软雅黑"/>
                <a:cs typeface="+mn-cs"/>
              </a:rPr>
              <a:t>現有</a:t>
            </a:r>
            <a:r>
              <a:rPr kumimoji="1" lang="en-US" altLang="zh-CN" sz="2400" b="1" i="0" u="none" strike="noStrike" kern="1200" cap="none" spc="0" normalizeH="0" baseline="0" noProof="0" dirty="0">
                <a:ln>
                  <a:noFill/>
                </a:ln>
                <a:solidFill>
                  <a:srgbClr val="C00000"/>
                </a:solidFill>
                <a:effectLst/>
                <a:uLnTx/>
                <a:uFillTx/>
                <a:latin typeface="Calibri "/>
                <a:ea typeface="微软雅黑"/>
                <a:cs typeface="+mn-cs"/>
              </a:rPr>
              <a:t>DNS</a:t>
            </a:r>
            <a:r>
              <a:rPr kumimoji="1" lang="zh-CN" altLang="en-US" sz="2400" b="1" i="0" u="none" strike="noStrike" kern="1200" cap="none" spc="0" normalizeH="0" baseline="0" noProof="0" dirty="0">
                <a:ln>
                  <a:noFill/>
                </a:ln>
                <a:solidFill>
                  <a:srgbClr val="C00000"/>
                </a:solidFill>
                <a:effectLst/>
                <a:uLnTx/>
                <a:uFillTx/>
                <a:latin typeface="Calibri "/>
                <a:ea typeface="微软雅黑"/>
                <a:cs typeface="+mn-cs"/>
              </a:rPr>
              <a:t>協議修改完善</a:t>
            </a:r>
          </a:p>
        </p:txBody>
      </p:sp>
      <p:sp>
        <p:nvSpPr>
          <p:cNvPr id="16" name="Rectangle 1">
            <a:extLst>
              <a:ext uri="{FF2B5EF4-FFF2-40B4-BE49-F238E27FC236}">
                <a16:creationId xmlns:a16="http://schemas.microsoft.com/office/drawing/2014/main" id="{8F041F97-7025-4C4F-A03A-94D66D03B12D}"/>
              </a:ext>
            </a:extLst>
          </p:cNvPr>
          <p:cNvSpPr>
            <a:spLocks noChangeArrowheads="1"/>
          </p:cNvSpPr>
          <p:nvPr/>
        </p:nvSpPr>
        <p:spPr bwMode="auto">
          <a:xfrm>
            <a:off x="5761431" y="3498873"/>
            <a:ext cx="5960107" cy="853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3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研究國際化域名，以及</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轉發器等引入</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3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的新威脅</a:t>
            </a:r>
          </a:p>
        </p:txBody>
      </p:sp>
      <p:sp>
        <p:nvSpPr>
          <p:cNvPr id="14" name="Rectangle 1">
            <a:extLst>
              <a:ext uri="{FF2B5EF4-FFF2-40B4-BE49-F238E27FC236}">
                <a16:creationId xmlns:a16="http://schemas.microsoft.com/office/drawing/2014/main" id="{70191E1F-EE31-42E1-A89B-4C90D27395C6}"/>
              </a:ext>
            </a:extLst>
          </p:cNvPr>
          <p:cNvSpPr>
            <a:spLocks noChangeArrowheads="1"/>
          </p:cNvSpPr>
          <p:nvPr/>
        </p:nvSpPr>
        <p:spPr bwMode="auto">
          <a:xfrm>
            <a:off x="5735620" y="4643802"/>
            <a:ext cx="62416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C00000"/>
                </a:solidFill>
                <a:effectLst/>
                <a:uLnTx/>
                <a:uFillTx/>
                <a:latin typeface="Calibri "/>
                <a:ea typeface="微软雅黑"/>
                <a:cs typeface="+mn-cs"/>
              </a:rPr>
              <a:t>新型架構設計</a:t>
            </a:r>
          </a:p>
        </p:txBody>
      </p:sp>
      <p:sp>
        <p:nvSpPr>
          <p:cNvPr id="17" name="Rectangle 1">
            <a:extLst>
              <a:ext uri="{FF2B5EF4-FFF2-40B4-BE49-F238E27FC236}">
                <a16:creationId xmlns:a16="http://schemas.microsoft.com/office/drawing/2014/main" id="{CB9A3FD7-03C3-4EAC-9F98-A52965426A26}"/>
              </a:ext>
            </a:extLst>
          </p:cNvPr>
          <p:cNvSpPr>
            <a:spLocks noChangeArrowheads="1"/>
          </p:cNvSpPr>
          <p:nvPr/>
        </p:nvSpPr>
        <p:spPr bwMode="auto">
          <a:xfrm>
            <a:off x="5692574" y="5152359"/>
            <a:ext cx="6397392" cy="853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3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從根源上解决</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安全問題，部署較爲困難，</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3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但部分思想有助于提升</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DNS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系統的安全能力</a:t>
            </a:r>
          </a:p>
        </p:txBody>
      </p:sp>
      <p:sp>
        <p:nvSpPr>
          <p:cNvPr id="24" name="淘宝网Chenying0907出品 2">
            <a:extLst>
              <a:ext uri="{FF2B5EF4-FFF2-40B4-BE49-F238E27FC236}">
                <a16:creationId xmlns:a16="http://schemas.microsoft.com/office/drawing/2014/main" id="{11C3F53A-A489-4C55-BED9-E69DA100A144}"/>
              </a:ext>
            </a:extLst>
          </p:cNvPr>
          <p:cNvSpPr/>
          <p:nvPr/>
        </p:nvSpPr>
        <p:spPr>
          <a:xfrm>
            <a:off x="691905" y="2489299"/>
            <a:ext cx="2251744" cy="1926802"/>
          </a:xfrm>
          <a:custGeom>
            <a:avLst/>
            <a:gdLst/>
            <a:ahLst/>
            <a:cxnLst/>
            <a:rect l="l" t="t" r="r" b="b"/>
            <a:pathLst>
              <a:path w="1036365" h="886811">
                <a:moveTo>
                  <a:pt x="754039" y="0"/>
                </a:moveTo>
                <a:lnTo>
                  <a:pt x="1036365" y="429554"/>
                </a:lnTo>
                <a:lnTo>
                  <a:pt x="784530" y="883036"/>
                </a:lnTo>
                <a:lnTo>
                  <a:pt x="783106" y="880650"/>
                </a:lnTo>
                <a:lnTo>
                  <a:pt x="264749" y="886811"/>
                </a:lnTo>
                <a:lnTo>
                  <a:pt x="0" y="443416"/>
                </a:lnTo>
                <a:lnTo>
                  <a:pt x="242827" y="5981"/>
                </a:lnTo>
                <a:lnTo>
                  <a:pt x="241773" y="4216"/>
                </a:lnTo>
                <a:lnTo>
                  <a:pt x="243839" y="4190"/>
                </a:lnTo>
                <a:close/>
              </a:path>
            </a:pathLst>
          </a:custGeom>
          <a:solidFill>
            <a:schemeClr val="accent3">
              <a:lumMod val="60000"/>
              <a:lumOff val="40000"/>
            </a:schemeClr>
          </a:solidFill>
          <a:ln w="12700">
            <a:gradFill flip="none" rotWithShape="1">
              <a:gsLst>
                <a:gs pos="0">
                  <a:srgbClr val="FCFDFD"/>
                </a:gs>
                <a:gs pos="100000">
                  <a:srgbClr val="CFD4D0"/>
                </a:gs>
              </a:gsLst>
              <a:lin ang="8100000" scaled="1"/>
              <a:tileRect/>
            </a:gradFill>
          </a:ln>
          <a:effectLst>
            <a:outerShdw blurRad="342900" dist="1524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DNS</a:t>
            </a:r>
            <a:r>
              <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安全</a:t>
            </a:r>
          </a:p>
        </p:txBody>
      </p:sp>
      <p:cxnSp>
        <p:nvCxnSpPr>
          <p:cNvPr id="25" name="淘宝网Chenying0907出品 4">
            <a:extLst>
              <a:ext uri="{FF2B5EF4-FFF2-40B4-BE49-F238E27FC236}">
                <a16:creationId xmlns:a16="http://schemas.microsoft.com/office/drawing/2014/main" id="{DF8D0195-742C-4434-82D8-CA9199F95027}"/>
              </a:ext>
            </a:extLst>
          </p:cNvPr>
          <p:cNvCxnSpPr/>
          <p:nvPr/>
        </p:nvCxnSpPr>
        <p:spPr>
          <a:xfrm flipV="1">
            <a:off x="2943649" y="2132845"/>
            <a:ext cx="1676705" cy="97500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淘宝网Chenying0907出品 7">
            <a:extLst>
              <a:ext uri="{FF2B5EF4-FFF2-40B4-BE49-F238E27FC236}">
                <a16:creationId xmlns:a16="http://schemas.microsoft.com/office/drawing/2014/main" id="{EEDCC184-86D1-42CC-A20B-05637BC8B9D2}"/>
              </a:ext>
            </a:extLst>
          </p:cNvPr>
          <p:cNvCxnSpPr/>
          <p:nvPr/>
        </p:nvCxnSpPr>
        <p:spPr>
          <a:xfrm>
            <a:off x="3045306" y="3479988"/>
            <a:ext cx="1807736" cy="6593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7" name="淘宝网Chenying0907出品 2">
            <a:extLst>
              <a:ext uri="{FF2B5EF4-FFF2-40B4-BE49-F238E27FC236}">
                <a16:creationId xmlns:a16="http://schemas.microsoft.com/office/drawing/2014/main" id="{941516C8-8DE6-4869-898E-C04F4EBE2877}"/>
              </a:ext>
            </a:extLst>
          </p:cNvPr>
          <p:cNvSpPr/>
          <p:nvPr/>
        </p:nvSpPr>
        <p:spPr>
          <a:xfrm>
            <a:off x="4722011" y="1747448"/>
            <a:ext cx="672790" cy="575702"/>
          </a:xfrm>
          <a:custGeom>
            <a:avLst/>
            <a:gdLst/>
            <a:ahLst/>
            <a:cxnLst/>
            <a:rect l="l" t="t" r="r" b="b"/>
            <a:pathLst>
              <a:path w="1036365" h="886811">
                <a:moveTo>
                  <a:pt x="754039" y="0"/>
                </a:moveTo>
                <a:lnTo>
                  <a:pt x="1036365" y="429554"/>
                </a:lnTo>
                <a:lnTo>
                  <a:pt x="784530" y="883036"/>
                </a:lnTo>
                <a:lnTo>
                  <a:pt x="783106" y="880650"/>
                </a:lnTo>
                <a:lnTo>
                  <a:pt x="264749" y="886811"/>
                </a:lnTo>
                <a:lnTo>
                  <a:pt x="0" y="443416"/>
                </a:lnTo>
                <a:lnTo>
                  <a:pt x="242827" y="5981"/>
                </a:lnTo>
                <a:lnTo>
                  <a:pt x="241773" y="4216"/>
                </a:lnTo>
                <a:lnTo>
                  <a:pt x="243839" y="4190"/>
                </a:lnTo>
                <a:close/>
              </a:path>
            </a:pathLst>
          </a:custGeom>
          <a:solidFill>
            <a:schemeClr val="accent3"/>
          </a:solidFill>
          <a:ln w="12700">
            <a:gradFill flip="none" rotWithShape="1">
              <a:gsLst>
                <a:gs pos="0">
                  <a:srgbClr val="FCFDFD"/>
                </a:gs>
                <a:gs pos="100000">
                  <a:srgbClr val="CFD4D0"/>
                </a:gs>
              </a:gsLst>
              <a:lin ang="8100000" scaled="1"/>
              <a:tileRect/>
            </a:gradFill>
          </a:ln>
          <a:effectLst>
            <a:outerShdw blurRad="342900" dist="1524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1</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cxnSp>
        <p:nvCxnSpPr>
          <p:cNvPr id="29" name="淘宝网Chenying0907出品 13">
            <a:extLst>
              <a:ext uri="{FF2B5EF4-FFF2-40B4-BE49-F238E27FC236}">
                <a16:creationId xmlns:a16="http://schemas.microsoft.com/office/drawing/2014/main" id="{B0962FA5-674E-4FA2-B791-08018E689B2D}"/>
              </a:ext>
            </a:extLst>
          </p:cNvPr>
          <p:cNvCxnSpPr/>
          <p:nvPr/>
        </p:nvCxnSpPr>
        <p:spPr>
          <a:xfrm>
            <a:off x="2935264" y="4016503"/>
            <a:ext cx="1870399" cy="79919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0" name="淘宝网Chenying0907出品 2">
            <a:extLst>
              <a:ext uri="{FF2B5EF4-FFF2-40B4-BE49-F238E27FC236}">
                <a16:creationId xmlns:a16="http://schemas.microsoft.com/office/drawing/2014/main" id="{AFE39B2E-15FF-4D1F-9DDD-5561F9B9549E}"/>
              </a:ext>
            </a:extLst>
          </p:cNvPr>
          <p:cNvSpPr/>
          <p:nvPr/>
        </p:nvSpPr>
        <p:spPr>
          <a:xfrm>
            <a:off x="4722011" y="3217660"/>
            <a:ext cx="672790" cy="575702"/>
          </a:xfrm>
          <a:custGeom>
            <a:avLst/>
            <a:gdLst/>
            <a:ahLst/>
            <a:cxnLst/>
            <a:rect l="l" t="t" r="r" b="b"/>
            <a:pathLst>
              <a:path w="1036365" h="886811">
                <a:moveTo>
                  <a:pt x="754039" y="0"/>
                </a:moveTo>
                <a:lnTo>
                  <a:pt x="1036365" y="429554"/>
                </a:lnTo>
                <a:lnTo>
                  <a:pt x="784530" y="883036"/>
                </a:lnTo>
                <a:lnTo>
                  <a:pt x="783106" y="880650"/>
                </a:lnTo>
                <a:lnTo>
                  <a:pt x="264749" y="886811"/>
                </a:lnTo>
                <a:lnTo>
                  <a:pt x="0" y="443416"/>
                </a:lnTo>
                <a:lnTo>
                  <a:pt x="242827" y="5981"/>
                </a:lnTo>
                <a:lnTo>
                  <a:pt x="241773" y="4216"/>
                </a:lnTo>
                <a:lnTo>
                  <a:pt x="243839" y="4190"/>
                </a:lnTo>
                <a:close/>
              </a:path>
            </a:pathLst>
          </a:custGeom>
          <a:solidFill>
            <a:schemeClr val="accent3"/>
          </a:solidFill>
          <a:ln w="12700">
            <a:gradFill flip="none" rotWithShape="1">
              <a:gsLst>
                <a:gs pos="0">
                  <a:srgbClr val="FCFDFD"/>
                </a:gs>
                <a:gs pos="100000">
                  <a:srgbClr val="CFD4D0"/>
                </a:gs>
              </a:gsLst>
              <a:lin ang="8100000" scaled="1"/>
              <a:tileRect/>
            </a:gradFill>
          </a:ln>
          <a:effectLst>
            <a:outerShdw blurRad="342900" dist="1524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2</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2" name="淘宝网Chenying0907出品 2">
            <a:extLst>
              <a:ext uri="{FF2B5EF4-FFF2-40B4-BE49-F238E27FC236}">
                <a16:creationId xmlns:a16="http://schemas.microsoft.com/office/drawing/2014/main" id="{93333D06-1A10-47A5-9CE3-52174B43A111}"/>
              </a:ext>
            </a:extLst>
          </p:cNvPr>
          <p:cNvSpPr/>
          <p:nvPr/>
        </p:nvSpPr>
        <p:spPr>
          <a:xfrm>
            <a:off x="4722011" y="4644716"/>
            <a:ext cx="672790" cy="575702"/>
          </a:xfrm>
          <a:custGeom>
            <a:avLst/>
            <a:gdLst/>
            <a:ahLst/>
            <a:cxnLst/>
            <a:rect l="l" t="t" r="r" b="b"/>
            <a:pathLst>
              <a:path w="1036365" h="886811">
                <a:moveTo>
                  <a:pt x="754039" y="0"/>
                </a:moveTo>
                <a:lnTo>
                  <a:pt x="1036365" y="429554"/>
                </a:lnTo>
                <a:lnTo>
                  <a:pt x="784530" y="883036"/>
                </a:lnTo>
                <a:lnTo>
                  <a:pt x="783106" y="880650"/>
                </a:lnTo>
                <a:lnTo>
                  <a:pt x="264749" y="886811"/>
                </a:lnTo>
                <a:lnTo>
                  <a:pt x="0" y="443416"/>
                </a:lnTo>
                <a:lnTo>
                  <a:pt x="242827" y="5981"/>
                </a:lnTo>
                <a:lnTo>
                  <a:pt x="241773" y="4216"/>
                </a:lnTo>
                <a:lnTo>
                  <a:pt x="243839" y="4190"/>
                </a:lnTo>
                <a:close/>
              </a:path>
            </a:pathLst>
          </a:custGeom>
          <a:solidFill>
            <a:schemeClr val="accent3"/>
          </a:solidFill>
          <a:ln w="12700">
            <a:gradFill flip="none" rotWithShape="1">
              <a:gsLst>
                <a:gs pos="0">
                  <a:srgbClr val="FCFDFD"/>
                </a:gs>
                <a:gs pos="100000">
                  <a:srgbClr val="CFD4D0"/>
                </a:gs>
              </a:gsLst>
              <a:lin ang="8100000" scaled="1"/>
              <a:tileRect/>
            </a:gradFill>
          </a:ln>
          <a:effectLst>
            <a:outerShdw blurRad="342900" dist="1524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3</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8136119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60"/>
  <p:tag name="KSO_WM_UNIT_TYPE" val="m_i"/>
  <p:tag name="KSO_WM_UNIT_INDEX" val="1_7"/>
  <p:tag name="KSO_WM_UNIT_ID" val="diagram760_3*m_i*1_7"/>
  <p:tag name="KSO_WM_UNIT_CLEAR" val="1"/>
  <p:tag name="KSO_WM_UNIT_LAYERLEVEL" val="1_1"/>
  <p:tag name="KSO_WM_DIAGRAM_GROUP_CODE" val="m1-1"/>
  <p:tag name="KSO_WM_UNIT_LINE_FORE_SCHEMECOLOR_INDEX" val="6"/>
  <p:tag name="KSO_WM_UNIT_LINE_FILL_TYPE" val="2"/>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60"/>
  <p:tag name="KSO_WM_UNIT_TYPE" val="m_i"/>
  <p:tag name="KSO_WM_UNIT_INDEX" val="1_8"/>
  <p:tag name="KSO_WM_UNIT_ID" val="diagram760_3*m_i*1_8"/>
  <p:tag name="KSO_WM_UNIT_CLEAR" val="1"/>
  <p:tag name="KSO_WM_UNIT_LAYERLEVEL" val="1_1"/>
  <p:tag name="KSO_WM_DIAGRAM_GROUP_CODE" val="m1-1"/>
  <p:tag name="KSO_WM_UNIT_LINE_FORE_SCHEMECOLOR_INDEX" val="7"/>
  <p:tag name="KSO_WM_UNIT_LINE_FILL_TYPE" val="2"/>
</p:tagLst>
</file>

<file path=ppt/tags/tag3.xml><?xml version="1.0" encoding="utf-8"?>
<p:tagLst xmlns:a="http://schemas.openxmlformats.org/drawingml/2006/main" xmlns:r="http://schemas.openxmlformats.org/officeDocument/2006/relationships" xmlns:p="http://schemas.openxmlformats.org/presentationml/2006/main">
  <p:tag name="ISLIDE.ICON" val="#399965;#394140;#17580;#370611;#73195;"/>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63"/>
  <p:tag name="KSO_WM_UNIT_TYPE" val="p_i"/>
  <p:tag name="KSO_WM_UNIT_INDEX" val="1_2"/>
  <p:tag name="KSO_WM_UNIT_ID" val="diagram763_3*p_i*1_2"/>
  <p:tag name="KSO_WM_UNIT_CLEAR" val="1"/>
  <p:tag name="KSO_WM_UNIT_LAYERLEVEL" val="1_1"/>
  <p:tag name="KSO_WM_DIAGRAM_GROUP_CODE" val="p1-1"/>
  <p:tag name="KSO_WM_UNIT_LINE_FORE_SCHEMECOLOR_INDEX" val="5"/>
  <p:tag name="KSO_WM_UNIT_LINE_FILL_TYPE" val="2"/>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63"/>
  <p:tag name="KSO_WM_UNIT_TYPE" val="p_i"/>
  <p:tag name="KSO_WM_UNIT_INDEX" val="1_4"/>
  <p:tag name="KSO_WM_UNIT_ID" val="diagram763_3*p_i*1_4"/>
  <p:tag name="KSO_WM_UNIT_CLEAR" val="1"/>
  <p:tag name="KSO_WM_UNIT_LAYERLEVEL" val="1_1"/>
  <p:tag name="KSO_WM_DIAGRAM_GROUP_CODE" val="p1-1"/>
  <p:tag name="KSO_WM_UNIT_LINE_FORE_SCHEMECOLOR_INDEX" val="7"/>
  <p:tag name="KSO_WM_UNIT_LINE_FILL_TYPE" val="2"/>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63"/>
  <p:tag name="KSO_WM_UNIT_ISCONTENTSTITLE" val="0"/>
  <p:tag name="KSO_WM_UNIT_PRESET_TEXT_LEN" val="12"/>
  <p:tag name="KSO_WM_UNIT_TYPE" val="p_h_f"/>
  <p:tag name="KSO_WM_UNIT_INDEX" val="1_1_1"/>
  <p:tag name="KSO_WM_UNIT_ID" val="diagram763_3*p_h_f*1_1_1"/>
  <p:tag name="KSO_WM_UNIT_CLEAR" val="1"/>
  <p:tag name="KSO_WM_UNIT_LAYERLEVEL" val="1_1_1"/>
  <p:tag name="KSO_WM_UNIT_VALUE" val="25"/>
  <p:tag name="KSO_WM_UNIT_HIGHLIGHT" val="0"/>
  <p:tag name="KSO_WM_UNIT_COMPATIBLE" val="0"/>
  <p:tag name="KSO_WM_UNIT_PRESET_TEXT_INDEX" val="3"/>
  <p:tag name="KSO_WM_DIAGRAM_GROUP_CODE" val="p1-1"/>
  <p:tag name="KSO_WM_UNIT_FILL_FORE_SCHEMECOLOR_INDEX" val="10"/>
  <p:tag name="KSO_WM_UNIT_FILL_TYPE" val="1"/>
  <p:tag name="KSO_WM_UNIT_TEXT_FILL_FORE_SCHEMECOLOR_INDEX" val="2"/>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63"/>
  <p:tag name="KSO_WM_UNIT_TYPE" val="p_i"/>
  <p:tag name="KSO_WM_UNIT_INDEX" val="1_7"/>
  <p:tag name="KSO_WM_UNIT_ID" val="diagram763_3*p_i*1_7"/>
  <p:tag name="KSO_WM_UNIT_CLEAR" val="1"/>
  <p:tag name="KSO_WM_UNIT_LAYERLEVEL" val="1_1"/>
  <p:tag name="KSO_WM_DIAGRAM_GROUP_CODE" val="p1-1"/>
  <p:tag name="KSO_WM_UNIT_FILL_FORE_SCHEMECOLOR_INDEX" val="7"/>
  <p:tag name="KSO_WM_UNIT_FILL_TYPE" val="1"/>
  <p:tag name="KSO_WM_UNIT_TEXT_FILL_FORE_SCHEMECOLOR_INDEX" val="2"/>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63"/>
  <p:tag name="KSO_WM_UNIT_TYPE" val="p_i"/>
  <p:tag name="KSO_WM_UNIT_INDEX" val="1_8"/>
  <p:tag name="KSO_WM_UNIT_ID" val="diagram763_3*p_i*1_8"/>
  <p:tag name="KSO_WM_UNIT_CLEAR" val="1"/>
  <p:tag name="KSO_WM_UNIT_LAYERLEVEL" val="1_1"/>
  <p:tag name="KSO_WM_DIAGRAM_GROUP_CODE" val="p1-1"/>
  <p:tag name="KSO_WM_UNIT_FILL_FORE_SCHEMECOLOR_INDEX" val="5"/>
  <p:tag name="KSO_WM_UNIT_FILL_TYPE" val="1"/>
  <p:tag name="KSO_WM_UNIT_TEXT_FILL_FORE_SCHEMECOLOR_INDEX" val="2"/>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MH" val="20151107092852"/>
  <p:tag name="MH_LIBRARY" val="GRAPHIC"/>
  <p:tag name="MH_TYPE" val="Other"/>
  <p:tag name="MH_ORDER" val="4"/>
</p:tagLst>
</file>

<file path=ppt/tags/tag10.xml><?xml version="1.0" encoding="utf-8"?>
<p:tagLst xmlns:a="http://schemas.openxmlformats.org/drawingml/2006/main" xmlns:r="http://schemas.openxmlformats.org/officeDocument/2006/relationships" xmlns:p="http://schemas.openxmlformats.org/presentationml/2006/main">
  <p:tag name="MH" val="20151107092852"/>
  <p:tag name="MH_LIBRARY" val="GRAPHIC"/>
  <p:tag name="MH_TYPE" val="Other"/>
  <p:tag name="MH_ORDER" val="1"/>
</p:tagLst>
</file>

<file path=ppt/tags/tag11.xml><?xml version="1.0" encoding="utf-8"?>
<p:tagLst xmlns:a="http://schemas.openxmlformats.org/drawingml/2006/main" xmlns:r="http://schemas.openxmlformats.org/officeDocument/2006/relationships" xmlns:p="http://schemas.openxmlformats.org/presentationml/2006/main">
  <p:tag name="MH" val="20151107092852"/>
  <p:tag name="MH_LIBRARY" val="GRAPHIC"/>
  <p:tag name="MH_TYPE" val="Other"/>
  <p:tag name="MH_ORDER" val="3"/>
</p:tagLst>
</file>

<file path=ppt/tags/tag12.xml><?xml version="1.0" encoding="utf-8"?>
<p:tagLst xmlns:a="http://schemas.openxmlformats.org/drawingml/2006/main" xmlns:r="http://schemas.openxmlformats.org/officeDocument/2006/relationships" xmlns:p="http://schemas.openxmlformats.org/presentationml/2006/main">
  <p:tag name="MH" val="20151107092852"/>
  <p:tag name="MH_LIBRARY" val="GRAPHIC"/>
  <p:tag name="MH_TYPE" val="Other"/>
  <p:tag name="MH_ORDER" val="1"/>
</p:tagLst>
</file>

<file path=ppt/tags/tag13.xml><?xml version="1.0" encoding="utf-8"?>
<p:tagLst xmlns:a="http://schemas.openxmlformats.org/drawingml/2006/main" xmlns:r="http://schemas.openxmlformats.org/officeDocument/2006/relationships" xmlns:p="http://schemas.openxmlformats.org/presentationml/2006/main">
  <p:tag name="MH" val="20151107092852"/>
  <p:tag name="MH_LIBRARY" val="GRAPHIC"/>
  <p:tag name="MH_TYPE" val="Other"/>
  <p:tag name="MH_ORDER" val="4"/>
</p:tagLst>
</file>

<file path=ppt/tags/tag14.xml><?xml version="1.0" encoding="utf-8"?>
<p:tagLst xmlns:a="http://schemas.openxmlformats.org/drawingml/2006/main" xmlns:r="http://schemas.openxmlformats.org/officeDocument/2006/relationships" xmlns:p="http://schemas.openxmlformats.org/presentationml/2006/main">
  <p:tag name="MH" val="20151107092852"/>
  <p:tag name="MH_LIBRARY" val="GRAPHIC"/>
  <p:tag name="MH_TYPE" val="Other"/>
  <p:tag name="MH_ORDER" val="4"/>
</p:tagLst>
</file>

<file path=ppt/theme/theme1.xml><?xml version="1.0" encoding="utf-8"?>
<a:theme xmlns:a="http://schemas.openxmlformats.org/drawingml/2006/main" name="2_Office 主题">
  <a:themeElements>
    <a:clrScheme name="达芬奇的左手">
      <a:dk1>
        <a:srgbClr val="000000"/>
      </a:dk1>
      <a:lt1>
        <a:srgbClr val="FFFFFF"/>
      </a:lt1>
      <a:dk2>
        <a:srgbClr val="44546A"/>
      </a:dk2>
      <a:lt2>
        <a:srgbClr val="E7E6E6"/>
      </a:lt2>
      <a:accent1>
        <a:srgbClr val="2A3D52"/>
      </a:accent1>
      <a:accent2>
        <a:srgbClr val="FEBA01"/>
      </a:accent2>
      <a:accent3>
        <a:srgbClr val="0070C0"/>
      </a:accent3>
      <a:accent4>
        <a:srgbClr val="C00000"/>
      </a:accent4>
      <a:accent5>
        <a:srgbClr val="38526E"/>
      </a:accent5>
      <a:accent6>
        <a:srgbClr val="BFBFBF"/>
      </a:accent6>
      <a:hlink>
        <a:srgbClr val="2A3D52"/>
      </a:hlink>
      <a:folHlink>
        <a:srgbClr val="C4AF99"/>
      </a:folHlink>
    </a:clrScheme>
    <a:fontScheme name="自定义 6">
      <a:majorFont>
        <a:latin typeface="Arial"/>
        <a:ea typeface="微软雅黑 Light"/>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达芬奇的左手">
      <a:dk1>
        <a:srgbClr val="000000"/>
      </a:dk1>
      <a:lt1>
        <a:srgbClr val="FFFFFF"/>
      </a:lt1>
      <a:dk2>
        <a:srgbClr val="44546A"/>
      </a:dk2>
      <a:lt2>
        <a:srgbClr val="E7E6E6"/>
      </a:lt2>
      <a:accent1>
        <a:srgbClr val="2A3D52"/>
      </a:accent1>
      <a:accent2>
        <a:srgbClr val="FEBA01"/>
      </a:accent2>
      <a:accent3>
        <a:srgbClr val="0070C0"/>
      </a:accent3>
      <a:accent4>
        <a:srgbClr val="C00000"/>
      </a:accent4>
      <a:accent5>
        <a:srgbClr val="38526E"/>
      </a:accent5>
      <a:accent6>
        <a:srgbClr val="BFBFBF"/>
      </a:accent6>
      <a:hlink>
        <a:srgbClr val="2A3D52"/>
      </a:hlink>
      <a:folHlink>
        <a:srgbClr val="C4AF99"/>
      </a:folHlink>
    </a:clrScheme>
    <a:fontScheme name="自定义 6">
      <a:majorFont>
        <a:latin typeface="Arial"/>
        <a:ea typeface="微软雅黑 Light"/>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41005</TotalTime>
  <Words>13485</Words>
  <Application>Microsoft Office PowerPoint</Application>
  <PresentationFormat>Grand écran</PresentationFormat>
  <Paragraphs>858</Paragraphs>
  <Slides>61</Slides>
  <Notes>60</Notes>
  <HiddenSlides>0</HiddenSlides>
  <MMClips>0</MMClips>
  <ScaleCrop>false</ScaleCrop>
  <HeadingPairs>
    <vt:vector size="8" baseType="variant">
      <vt:variant>
        <vt:lpstr>Polices utilisées</vt:lpstr>
      </vt:variant>
      <vt:variant>
        <vt:i4>18</vt:i4>
      </vt:variant>
      <vt:variant>
        <vt:lpstr>Thème</vt:lpstr>
      </vt:variant>
      <vt:variant>
        <vt:i4>2</vt:i4>
      </vt:variant>
      <vt:variant>
        <vt:lpstr>Serveurs OLE incorporés</vt:lpstr>
      </vt:variant>
      <vt:variant>
        <vt:i4>1</vt:i4>
      </vt:variant>
      <vt:variant>
        <vt:lpstr>Titres des diapositives</vt:lpstr>
      </vt:variant>
      <vt:variant>
        <vt:i4>61</vt:i4>
      </vt:variant>
    </vt:vector>
  </HeadingPairs>
  <TitlesOfParts>
    <vt:vector size="82" baseType="lpstr">
      <vt:lpstr>-apple-system</vt:lpstr>
      <vt:lpstr>Calibri </vt:lpstr>
      <vt:lpstr>LinLibertineT</vt:lpstr>
      <vt:lpstr>LinLibertineTI</vt:lpstr>
      <vt:lpstr>NotoSerifCJKjp-Light-Identity-H</vt:lpstr>
      <vt:lpstr>PingFang SC</vt:lpstr>
      <vt:lpstr>华文细黑</vt:lpstr>
      <vt:lpstr>宋体</vt:lpstr>
      <vt:lpstr>微软雅黑</vt:lpstr>
      <vt:lpstr>微软雅黑</vt:lpstr>
      <vt:lpstr>DengXian</vt:lpstr>
      <vt:lpstr>DengXian</vt:lpstr>
      <vt:lpstr>Arial</vt:lpstr>
      <vt:lpstr>Calibri</vt:lpstr>
      <vt:lpstr>Comic Sans MS</vt:lpstr>
      <vt:lpstr>Open Sans</vt:lpstr>
      <vt:lpstr>Palatino Linotype</vt:lpstr>
      <vt:lpstr>Times New Roman</vt:lpstr>
      <vt:lpstr>2_Office 主题</vt:lpstr>
      <vt:lpstr>3_Office 主题</vt:lpstr>
      <vt:lpstr>Visio</vt:lpstr>
      <vt:lpstr>DNS安全</vt:lpstr>
      <vt:lpstr>域名系統--互聯網關鍵基礎設施</vt:lpstr>
      <vt:lpstr>域名系統—超大規模分布式數據庫</vt:lpstr>
      <vt:lpstr>域名系統安全對抗不斷升級</vt:lpstr>
      <vt:lpstr>暢所欲言</vt:lpstr>
      <vt:lpstr>本章的內容組織</vt:lpstr>
      <vt:lpstr>Présentation PowerPoint</vt:lpstr>
      <vt:lpstr>DNS的演進</vt:lpstr>
      <vt:lpstr>DNS的演進</vt:lpstr>
      <vt:lpstr>DNS域名結構</vt:lpstr>
      <vt:lpstr>DNS區域組織形式</vt:lpstr>
      <vt:lpstr>DNS區域組織形式</vt:lpstr>
      <vt:lpstr>DNS區域組織形式</vt:lpstr>
      <vt:lpstr>DNS區域組織形式</vt:lpstr>
      <vt:lpstr>Présentation PowerPoint</vt:lpstr>
      <vt:lpstr>DNS使用</vt:lpstr>
      <vt:lpstr>DNS使用</vt:lpstr>
      <vt:lpstr>DNS請求過程</vt:lpstr>
      <vt:lpstr>DNS迭代查詢過程交互信息格式</vt:lpstr>
      <vt:lpstr>DNS迭代查詢過程交互信息格式</vt:lpstr>
      <vt:lpstr>DNS迭代查詢過程交互信息格式</vt:lpstr>
      <vt:lpstr>DNS迭代查詢過程交互信息格式</vt:lpstr>
      <vt:lpstr>DNS迭代查詢過程交互信息格式</vt:lpstr>
      <vt:lpstr>DNS反向查詢</vt:lpstr>
      <vt:lpstr>Présentation PowerPoint</vt:lpstr>
      <vt:lpstr>DNS攻擊面</vt:lpstr>
      <vt:lpstr>操控本地用戶主機</vt:lpstr>
      <vt:lpstr>本地緩存中毒攻擊</vt:lpstr>
      <vt:lpstr>本地緩存中毒攻擊</vt:lpstr>
      <vt:lpstr>本地緩存中毒攻擊</vt:lpstr>
      <vt:lpstr>遠程緩存中毒攻擊：Kaminsky攻擊</vt:lpstr>
      <vt:lpstr>遠程緩存中毒攻擊</vt:lpstr>
      <vt:lpstr>遠程緩存中毒攻擊—持續發起不存在的域名請求</vt:lpstr>
      <vt:lpstr>遠程緩存中毒攻擊</vt:lpstr>
      <vt:lpstr>遠程緩存中毒攻擊—構建回復包頭</vt:lpstr>
      <vt:lpstr>遠程緩存中毒攻擊—包頭參數猜測</vt:lpstr>
      <vt:lpstr>遠程緩存中毒攻擊—構建回復包負載</vt:lpstr>
      <vt:lpstr>遠程緩存中毒攻擊—側信道攻擊</vt:lpstr>
      <vt:lpstr>遠程緩存中毒攻擊—基于IPID的攻擊</vt:lpstr>
      <vt:lpstr>遠程緩存中毒攻擊—基于交易ID的攻擊</vt:lpstr>
      <vt:lpstr>拒絕服務攻擊</vt:lpstr>
      <vt:lpstr>攻擊根服務器—難以成功</vt:lpstr>
      <vt:lpstr>攻擊頂級服務器—巨大威脅</vt:lpstr>
      <vt:lpstr>攻擊特定域名服務器—影響深遠</vt:lpstr>
      <vt:lpstr>DNS安全問題的原因及特徵</vt:lpstr>
      <vt:lpstr>Présentation PowerPoint</vt:lpstr>
      <vt:lpstr>通過非對稱加密驗證身份--DNSSEC</vt:lpstr>
      <vt:lpstr>通過非對稱加密驗證身份--DNSSEC</vt:lpstr>
      <vt:lpstr>通過非對稱加密驗證身份—DNSSEC驗證公鑰</vt:lpstr>
      <vt:lpstr>通過非對稱加密驗證身份--DNSSEC</vt:lpstr>
      <vt:lpstr>通過非對稱加密驗證身份--DNSSEC</vt:lpstr>
      <vt:lpstr>通過非對稱加密驗證身份--DNSSEC</vt:lpstr>
      <vt:lpstr>通過非對稱加密驗證身份—DNSSEC的不足</vt:lpstr>
      <vt:lpstr>DNS-over-TLS（DoT）</vt:lpstr>
      <vt:lpstr>DNS-over-HTTPS (DoH)</vt:lpstr>
      <vt:lpstr>基于系統管理</vt:lpstr>
      <vt:lpstr>基于系統管理</vt:lpstr>
      <vt:lpstr>新型架構設計-Blockstack</vt:lpstr>
      <vt:lpstr>Présentation PowerPoint</vt:lpstr>
      <vt:lpstr>總結</vt:lpstr>
      <vt:lpstr>展望</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Terry C.</cp:lastModifiedBy>
  <cp:revision>2255</cp:revision>
  <dcterms:created xsi:type="dcterms:W3CDTF">2020-08-30T11:20:13Z</dcterms:created>
  <dcterms:modified xsi:type="dcterms:W3CDTF">2025-06-11T08:40:19Z</dcterms:modified>
</cp:coreProperties>
</file>