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3">
  <p:sldMasterIdLst>
    <p:sldMasterId id="2147483672" r:id="rId1"/>
  </p:sldMasterIdLst>
  <p:notesMasterIdLst>
    <p:notesMasterId r:id="rId136"/>
  </p:notesMasterIdLst>
  <p:sldIdLst>
    <p:sldId id="4001" r:id="rId2"/>
    <p:sldId id="4133" r:id="rId3"/>
    <p:sldId id="14484170" r:id="rId4"/>
    <p:sldId id="4217" r:id="rId5"/>
    <p:sldId id="3828" r:id="rId6"/>
    <p:sldId id="14484165" r:id="rId7"/>
    <p:sldId id="4132" r:id="rId8"/>
    <p:sldId id="4117" r:id="rId9"/>
    <p:sldId id="14484169" r:id="rId10"/>
    <p:sldId id="3848" r:id="rId11"/>
    <p:sldId id="14484172" r:id="rId12"/>
    <p:sldId id="4005" r:id="rId13"/>
    <p:sldId id="4237" r:id="rId14"/>
    <p:sldId id="4013" r:id="rId15"/>
    <p:sldId id="4222" r:id="rId16"/>
    <p:sldId id="4225" r:id="rId17"/>
    <p:sldId id="4119" r:id="rId18"/>
    <p:sldId id="4030" r:id="rId19"/>
    <p:sldId id="4118" r:id="rId20"/>
    <p:sldId id="4041" r:id="rId21"/>
    <p:sldId id="4196" r:id="rId22"/>
    <p:sldId id="4040" r:id="rId23"/>
    <p:sldId id="4122" r:id="rId24"/>
    <p:sldId id="4126" r:id="rId25"/>
    <p:sldId id="4223" r:id="rId26"/>
    <p:sldId id="4033" r:id="rId27"/>
    <p:sldId id="4198" r:id="rId28"/>
    <p:sldId id="4195" r:id="rId29"/>
    <p:sldId id="4031" r:id="rId30"/>
    <p:sldId id="4032" r:id="rId31"/>
    <p:sldId id="4077" r:id="rId32"/>
    <p:sldId id="4078" r:id="rId33"/>
    <p:sldId id="4079" r:id="rId34"/>
    <p:sldId id="4038" r:id="rId35"/>
    <p:sldId id="4071" r:id="rId36"/>
    <p:sldId id="4080" r:id="rId37"/>
    <p:sldId id="4137" r:id="rId38"/>
    <p:sldId id="4081" r:id="rId39"/>
    <p:sldId id="4082" r:id="rId40"/>
    <p:sldId id="4146" r:id="rId41"/>
    <p:sldId id="4147" r:id="rId42"/>
    <p:sldId id="4148" r:id="rId43"/>
    <p:sldId id="4057" r:id="rId44"/>
    <p:sldId id="4220" r:id="rId45"/>
    <p:sldId id="4134" r:id="rId46"/>
    <p:sldId id="4042" r:id="rId47"/>
    <p:sldId id="4214" r:id="rId48"/>
    <p:sldId id="4074" r:id="rId49"/>
    <p:sldId id="14484166" r:id="rId50"/>
    <p:sldId id="4103" r:id="rId51"/>
    <p:sldId id="4017" r:id="rId52"/>
    <p:sldId id="4105" r:id="rId53"/>
    <p:sldId id="4107" r:id="rId54"/>
    <p:sldId id="4112" r:id="rId55"/>
    <p:sldId id="4193" r:id="rId56"/>
    <p:sldId id="4113" r:id="rId57"/>
    <p:sldId id="4228" r:id="rId58"/>
    <p:sldId id="4115" r:id="rId59"/>
    <p:sldId id="4199" r:id="rId60"/>
    <p:sldId id="4047" r:id="rId61"/>
    <p:sldId id="3958" r:id="rId62"/>
    <p:sldId id="4028" r:id="rId63"/>
    <p:sldId id="4018" r:id="rId64"/>
    <p:sldId id="4019" r:id="rId65"/>
    <p:sldId id="14484167" r:id="rId66"/>
    <p:sldId id="4022" r:id="rId67"/>
    <p:sldId id="4023" r:id="rId68"/>
    <p:sldId id="4239" r:id="rId69"/>
    <p:sldId id="4024" r:id="rId70"/>
    <p:sldId id="4089" r:id="rId71"/>
    <p:sldId id="4025" r:id="rId72"/>
    <p:sldId id="4026" r:id="rId73"/>
    <p:sldId id="4138" r:id="rId74"/>
    <p:sldId id="4010" r:id="rId75"/>
    <p:sldId id="4189" r:id="rId76"/>
    <p:sldId id="4139" r:id="rId77"/>
    <p:sldId id="3857" r:id="rId78"/>
    <p:sldId id="4127" r:id="rId79"/>
    <p:sldId id="4128" r:id="rId80"/>
    <p:sldId id="4131" r:id="rId81"/>
    <p:sldId id="3858" r:id="rId82"/>
    <p:sldId id="4072" r:id="rId83"/>
    <p:sldId id="4073" r:id="rId84"/>
    <p:sldId id="4202" r:id="rId85"/>
    <p:sldId id="4215" r:id="rId86"/>
    <p:sldId id="4216" r:id="rId87"/>
    <p:sldId id="4087" r:id="rId88"/>
    <p:sldId id="4088" r:id="rId89"/>
    <p:sldId id="3934" r:id="rId90"/>
    <p:sldId id="4090" r:id="rId91"/>
    <p:sldId id="4312" r:id="rId92"/>
    <p:sldId id="4296" r:id="rId93"/>
    <p:sldId id="4297" r:id="rId94"/>
    <p:sldId id="4298" r:id="rId95"/>
    <p:sldId id="4299" r:id="rId96"/>
    <p:sldId id="3936" r:id="rId97"/>
    <p:sldId id="4091" r:id="rId98"/>
    <p:sldId id="4190" r:id="rId99"/>
    <p:sldId id="3937" r:id="rId100"/>
    <p:sldId id="4095" r:id="rId101"/>
    <p:sldId id="4094" r:id="rId102"/>
    <p:sldId id="4096" r:id="rId103"/>
    <p:sldId id="4098" r:id="rId104"/>
    <p:sldId id="4099" r:id="rId105"/>
    <p:sldId id="4304" r:id="rId106"/>
    <p:sldId id="4305" r:id="rId107"/>
    <p:sldId id="4306" r:id="rId108"/>
    <p:sldId id="4307" r:id="rId109"/>
    <p:sldId id="4308" r:id="rId110"/>
    <p:sldId id="4309" r:id="rId111"/>
    <p:sldId id="3974" r:id="rId112"/>
    <p:sldId id="4205" r:id="rId113"/>
    <p:sldId id="3938" r:id="rId114"/>
    <p:sldId id="4209" r:id="rId115"/>
    <p:sldId id="3975" r:id="rId116"/>
    <p:sldId id="4101" r:id="rId117"/>
    <p:sldId id="4045" r:id="rId118"/>
    <p:sldId id="4207" r:id="rId119"/>
    <p:sldId id="14484171" r:id="rId120"/>
    <p:sldId id="4048" r:id="rId121"/>
    <p:sldId id="4213" r:id="rId122"/>
    <p:sldId id="4212" r:id="rId123"/>
    <p:sldId id="4208" r:id="rId124"/>
    <p:sldId id="4049" r:id="rId125"/>
    <p:sldId id="4050" r:id="rId126"/>
    <p:sldId id="4210" r:id="rId127"/>
    <p:sldId id="4140" r:id="rId128"/>
    <p:sldId id="4141" r:id="rId129"/>
    <p:sldId id="4142" r:id="rId130"/>
    <p:sldId id="4143" r:id="rId131"/>
    <p:sldId id="4144" r:id="rId132"/>
    <p:sldId id="4108" r:id="rId133"/>
    <p:sldId id="14484168" r:id="rId134"/>
    <p:sldId id="3935" r:id="rId13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5E28"/>
    <a:srgbClr val="CCFFFF"/>
    <a:srgbClr val="BA6B60"/>
    <a:srgbClr val="A64838"/>
    <a:srgbClr val="7F7F7F"/>
    <a:srgbClr val="B54E3D"/>
    <a:srgbClr val="B4B4B4"/>
    <a:srgbClr val="7F807E"/>
    <a:srgbClr val="000000"/>
    <a:srgbClr val="FFA79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06799F8-075E-4A3A-A7F6-7FBC6576F1A4}" styleName="主题样式 2 - 强调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D113A9D2-9D6B-4929-AA2D-F23B5EE8CBE7}" styleName="主题样式 2 - 强调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主题样式 2 - 强调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27F97BB-C833-4FB7-BDE5-3F7075034690}" styleName="主题样式 2 - 强调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中度样式 3 - 强调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71" autoAdjust="0"/>
    <p:restoredTop sz="89680" autoAdjust="0"/>
  </p:normalViewPr>
  <p:slideViewPr>
    <p:cSldViewPr snapToGrid="0" snapToObjects="1">
      <p:cViewPr varScale="1">
        <p:scale>
          <a:sx n="140" d="100"/>
          <a:sy n="140" d="100"/>
        </p:scale>
        <p:origin x="888" y="126"/>
      </p:cViewPr>
      <p:guideLst/>
    </p:cSldViewPr>
  </p:slideViewPr>
  <p:notesTextViewPr>
    <p:cViewPr>
      <p:scale>
        <a:sx n="85" d="100"/>
        <a:sy n="85"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BCCE95-9802-FF4D-BF14-C0BADA9BA38E}" type="datetimeFigureOut">
              <a:rPr kumimoji="1" lang="zh-CN" altLang="en-US" smtClean="0"/>
              <a:t>2025/6/11</a:t>
            </a:fld>
            <a:endParaRPr kumimoji="1"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905F7E-8FCD-B247-8658-9B89ABB1145E}" type="slidenum">
              <a:rPr kumimoji="1" lang="zh-CN" altLang="en-US" smtClean="0"/>
              <a:t>‹N°›</a:t>
            </a:fld>
            <a:endParaRPr kumimoji="1" lang="zh-CN" altLang="en-US" dirty="0"/>
          </a:p>
        </p:txBody>
      </p:sp>
    </p:spTree>
    <p:extLst>
      <p:ext uri="{BB962C8B-B14F-4D97-AF65-F5344CB8AC3E}">
        <p14:creationId xmlns:p14="http://schemas.microsoft.com/office/powerpoint/2010/main" val="1889690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3" Type="http://schemas.openxmlformats.org/officeDocument/2006/relationships/hyperlink" Target="http://lib.csdn.net/base/javase" TargetMode="External"/><Relationship Id="rId2" Type="http://schemas.openxmlformats.org/officeDocument/2006/relationships/slide" Target="../slides/slide124.xml"/><Relationship Id="rId1" Type="http://schemas.openxmlformats.org/officeDocument/2006/relationships/notesMaster" Target="../notesMasters/notesMaster1.xml"/><Relationship Id="rId4" Type="http://schemas.openxmlformats.org/officeDocument/2006/relationships/hyperlink" Target="http://lib.csdn.net/base/python" TargetMode="Externa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a:t>
            </a:fld>
            <a:endParaRPr kumimoji="1" lang="zh-CN" altLang="en-US" dirty="0"/>
          </a:p>
        </p:txBody>
      </p:sp>
    </p:spTree>
    <p:extLst>
      <p:ext uri="{BB962C8B-B14F-4D97-AF65-F5344CB8AC3E}">
        <p14:creationId xmlns:p14="http://schemas.microsoft.com/office/powerpoint/2010/main" val="14009332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2</a:t>
            </a:fld>
            <a:endParaRPr kumimoji="1" lang="zh-CN" altLang="en-US" dirty="0"/>
          </a:p>
        </p:txBody>
      </p:sp>
    </p:spTree>
    <p:extLst>
      <p:ext uri="{BB962C8B-B14F-4D97-AF65-F5344CB8AC3E}">
        <p14:creationId xmlns:p14="http://schemas.microsoft.com/office/powerpoint/2010/main" val="34743990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62626"/>
                </a:solidFill>
                <a:effectLst/>
                <a:latin typeface="PingFang SC" panose="020B0400000000000000" pitchFamily="34" charset="-122"/>
                <a:ea typeface="PingFang SC" panose="020B0400000000000000" pitchFamily="34" charset="-122"/>
              </a:rPr>
              <a:t>國家技術獎章、</a:t>
            </a:r>
            <a:r>
              <a:rPr lang="en" altLang="zh-CN" b="0" i="0" dirty="0">
                <a:solidFill>
                  <a:srgbClr val="262626"/>
                </a:solidFill>
                <a:effectLst/>
                <a:latin typeface="PingFang SC" panose="020B0400000000000000" pitchFamily="34" charset="-122"/>
                <a:ea typeface="PingFang SC" panose="020B0400000000000000" pitchFamily="34" charset="-122"/>
              </a:rPr>
              <a:t>IEEE </a:t>
            </a:r>
            <a:r>
              <a:rPr lang="zh-CN" altLang="en-US" b="0" i="0" dirty="0">
                <a:solidFill>
                  <a:srgbClr val="262626"/>
                </a:solidFill>
                <a:effectLst/>
                <a:latin typeface="PingFang SC" panose="020B0400000000000000" pitchFamily="34" charset="-122"/>
                <a:ea typeface="PingFang SC" panose="020B0400000000000000" pitchFamily="34" charset="-122"/>
              </a:rPr>
              <a:t>榮譽勛章、馬可尼獎、日本計算機與通信獎、</a:t>
            </a:r>
            <a:r>
              <a:rPr lang="en" altLang="zh-CN" b="0" i="0" dirty="0">
                <a:solidFill>
                  <a:srgbClr val="262626"/>
                </a:solidFill>
                <a:effectLst/>
                <a:latin typeface="PingFang SC" panose="020B0400000000000000" pitchFamily="34" charset="-122"/>
                <a:ea typeface="PingFang SC" panose="020B0400000000000000" pitchFamily="34" charset="-122"/>
              </a:rPr>
              <a:t>ACM Grace Murray Hopper </a:t>
            </a:r>
            <a:r>
              <a:rPr lang="zh-CN" altLang="en-US" b="0" i="0" dirty="0">
                <a:solidFill>
                  <a:srgbClr val="262626"/>
                </a:solidFill>
                <a:effectLst/>
                <a:latin typeface="PingFang SC" panose="020B0400000000000000" pitchFamily="34" charset="-122"/>
                <a:ea typeface="PingFang SC" panose="020B0400000000000000" pitchFamily="34" charset="-122"/>
              </a:rPr>
              <a:t>獎和 </a:t>
            </a:r>
            <a:r>
              <a:rPr lang="en" altLang="zh-CN" b="0" i="0" dirty="0">
                <a:solidFill>
                  <a:srgbClr val="262626"/>
                </a:solidFill>
                <a:effectLst/>
                <a:latin typeface="PingFang SC" panose="020B0400000000000000" pitchFamily="34" charset="-122"/>
                <a:ea typeface="PingFang SC" panose="020B0400000000000000" pitchFamily="34" charset="-122"/>
              </a:rPr>
              <a:t>IEEE Alexander Graham Bell </a:t>
            </a:r>
            <a:r>
              <a:rPr lang="zh-CN" altLang="en-US" b="0" i="0" dirty="0">
                <a:solidFill>
                  <a:srgbClr val="262626"/>
                </a:solidFill>
                <a:effectLst/>
                <a:latin typeface="PingFang SC" panose="020B0400000000000000" pitchFamily="34" charset="-122"/>
                <a:ea typeface="PingFang SC" panose="020B0400000000000000" pitchFamily="34" charset="-122"/>
              </a:rPr>
              <a:t>獎章。他是美國國家工程院院士、美國藝術與科學院院士，以及國家發明家、消費電子和互聯網名人堂的院士</a:t>
            </a:r>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1302278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4</a:t>
            </a:fld>
            <a:endParaRPr kumimoji="1" lang="zh-CN" altLang="en-US" dirty="0"/>
          </a:p>
        </p:txBody>
      </p:sp>
    </p:spTree>
    <p:extLst>
      <p:ext uri="{BB962C8B-B14F-4D97-AF65-F5344CB8AC3E}">
        <p14:creationId xmlns:p14="http://schemas.microsoft.com/office/powerpoint/2010/main" val="11415252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我們每天都在和分布式系統打交道</a:t>
            </a:r>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5</a:t>
            </a:fld>
            <a:endParaRPr kumimoji="1" lang="zh-CN" altLang="en-US" dirty="0"/>
          </a:p>
        </p:txBody>
      </p:sp>
    </p:spTree>
    <p:extLst>
      <p:ext uri="{BB962C8B-B14F-4D97-AF65-F5344CB8AC3E}">
        <p14:creationId xmlns:p14="http://schemas.microsoft.com/office/powerpoint/2010/main" val="3955271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10</a:t>
            </a:fld>
            <a:endParaRPr kumimoji="1" lang="zh-CN" altLang="en-US" dirty="0"/>
          </a:p>
        </p:txBody>
      </p:sp>
    </p:spTree>
    <p:extLst>
      <p:ext uri="{BB962C8B-B14F-4D97-AF65-F5344CB8AC3E}">
        <p14:creationId xmlns:p14="http://schemas.microsoft.com/office/powerpoint/2010/main" val="18701391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嚴格的版權監管與執法；</a:t>
            </a:r>
          </a:p>
          <a:p>
            <a:r>
              <a:rPr lang="zh-CN" altLang="en-US" dirty="0"/>
              <a:t>音樂流媒體服務（如</a:t>
            </a:r>
            <a:r>
              <a:rPr lang="en-US" dirty="0" err="1"/>
              <a:t>Spotify、Apple</a:t>
            </a:r>
            <a:r>
              <a:rPr lang="en-US" dirty="0"/>
              <a:t> Music）</a:t>
            </a:r>
            <a:r>
              <a:rPr lang="zh-CN" altLang="en-US" dirty="0"/>
              <a:t>的興起；</a:t>
            </a:r>
          </a:p>
          <a:p>
            <a:r>
              <a:rPr lang="zh-CN" altLang="en-US" dirty="0"/>
              <a:t>雲存儲和高帶寬使傳統</a:t>
            </a:r>
            <a:r>
              <a:rPr lang="en-US" dirty="0"/>
              <a:t>P2P</a:t>
            </a:r>
            <a:r>
              <a:rPr lang="zh-CN" altLang="en-US" dirty="0"/>
              <a:t>模型不再是首選。</a:t>
            </a:r>
          </a:p>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11</a:t>
            </a:fld>
            <a:endParaRPr kumimoji="1" lang="zh-CN" altLang="en-US" dirty="0"/>
          </a:p>
        </p:txBody>
      </p:sp>
    </p:spTree>
    <p:extLst>
      <p:ext uri="{BB962C8B-B14F-4D97-AF65-F5344CB8AC3E}">
        <p14:creationId xmlns:p14="http://schemas.microsoft.com/office/powerpoint/2010/main" val="19855286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C0905F7E-8FCD-B247-8658-9B89ABB1145E}" type="slidenum">
              <a:rPr kumimoji="1" lang="zh-CN" altLang="en-US" smtClean="0"/>
              <a:t>12</a:t>
            </a:fld>
            <a:endParaRPr kumimoji="1" lang="zh-CN" altLang="en-US" dirty="0"/>
          </a:p>
        </p:txBody>
      </p:sp>
    </p:spTree>
    <p:extLst>
      <p:ext uri="{BB962C8B-B14F-4D97-AF65-F5344CB8AC3E}">
        <p14:creationId xmlns:p14="http://schemas.microsoft.com/office/powerpoint/2010/main" val="4165909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13</a:t>
            </a:fld>
            <a:endParaRPr kumimoji="1" lang="zh-CN" altLang="en-US" dirty="0"/>
          </a:p>
        </p:txBody>
      </p:sp>
    </p:spTree>
    <p:extLst>
      <p:ext uri="{BB962C8B-B14F-4D97-AF65-F5344CB8AC3E}">
        <p14:creationId xmlns:p14="http://schemas.microsoft.com/office/powerpoint/2010/main" val="20000451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15</a:t>
            </a:fld>
            <a:endParaRPr kumimoji="1" lang="zh-CN" altLang="en-US" dirty="0"/>
          </a:p>
        </p:txBody>
      </p:sp>
    </p:spTree>
    <p:extLst>
      <p:ext uri="{BB962C8B-B14F-4D97-AF65-F5344CB8AC3E}">
        <p14:creationId xmlns:p14="http://schemas.microsoft.com/office/powerpoint/2010/main" val="36749415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19</a:t>
            </a:fld>
            <a:endParaRPr kumimoji="1" lang="zh-CN" altLang="en-US" dirty="0"/>
          </a:p>
        </p:txBody>
      </p:sp>
    </p:spTree>
    <p:extLst>
      <p:ext uri="{BB962C8B-B14F-4D97-AF65-F5344CB8AC3E}">
        <p14:creationId xmlns:p14="http://schemas.microsoft.com/office/powerpoint/2010/main" val="8860635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23</a:t>
            </a:fld>
            <a:endParaRPr kumimoji="1" lang="zh-CN" altLang="en-US" dirty="0"/>
          </a:p>
        </p:txBody>
      </p:sp>
    </p:spTree>
    <p:extLst>
      <p:ext uri="{BB962C8B-B14F-4D97-AF65-F5344CB8AC3E}">
        <p14:creationId xmlns:p14="http://schemas.microsoft.com/office/powerpoint/2010/main" val="40145531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24</a:t>
            </a:fld>
            <a:endParaRPr kumimoji="1" lang="zh-CN" altLang="en-US" dirty="0"/>
          </a:p>
        </p:txBody>
      </p:sp>
    </p:spTree>
    <p:extLst>
      <p:ext uri="{BB962C8B-B14F-4D97-AF65-F5344CB8AC3E}">
        <p14:creationId xmlns:p14="http://schemas.microsoft.com/office/powerpoint/2010/main" val="31806817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25</a:t>
            </a:fld>
            <a:endParaRPr kumimoji="1" lang="zh-CN" altLang="en-US" dirty="0"/>
          </a:p>
        </p:txBody>
      </p:sp>
    </p:spTree>
    <p:extLst>
      <p:ext uri="{BB962C8B-B14F-4D97-AF65-F5344CB8AC3E}">
        <p14:creationId xmlns:p14="http://schemas.microsoft.com/office/powerpoint/2010/main" val="34246895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26</a:t>
            </a:fld>
            <a:endParaRPr kumimoji="1" lang="zh-CN" altLang="en-US" dirty="0"/>
          </a:p>
        </p:txBody>
      </p:sp>
    </p:spTree>
    <p:extLst>
      <p:ext uri="{BB962C8B-B14F-4D97-AF65-F5344CB8AC3E}">
        <p14:creationId xmlns:p14="http://schemas.microsoft.com/office/powerpoint/2010/main" val="6725793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27</a:t>
            </a:fld>
            <a:endParaRPr kumimoji="1" lang="zh-CN" altLang="en-US" dirty="0"/>
          </a:p>
        </p:txBody>
      </p:sp>
    </p:spTree>
    <p:extLst>
      <p:ext uri="{BB962C8B-B14F-4D97-AF65-F5344CB8AC3E}">
        <p14:creationId xmlns:p14="http://schemas.microsoft.com/office/powerpoint/2010/main" val="48213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28</a:t>
            </a:fld>
            <a:endParaRPr kumimoji="1" lang="zh-CN" altLang="en-US" dirty="0"/>
          </a:p>
        </p:txBody>
      </p:sp>
    </p:spTree>
    <p:extLst>
      <p:ext uri="{BB962C8B-B14F-4D97-AF65-F5344CB8AC3E}">
        <p14:creationId xmlns:p14="http://schemas.microsoft.com/office/powerpoint/2010/main" val="24960156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30</a:t>
            </a:fld>
            <a:endParaRPr kumimoji="1" lang="zh-CN" altLang="en-US" dirty="0"/>
          </a:p>
        </p:txBody>
      </p:sp>
    </p:spTree>
    <p:extLst>
      <p:ext uri="{BB962C8B-B14F-4D97-AF65-F5344CB8AC3E}">
        <p14:creationId xmlns:p14="http://schemas.microsoft.com/office/powerpoint/2010/main" val="17179883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lnSpc>
                <a:spcPct val="130000"/>
              </a:lnSpc>
            </a:pPr>
            <a:r>
              <a:rPr lang="zh-CN" altLang="en-US" sz="2000" dirty="0">
                <a:latin typeface="微软雅黑" panose="020B0503020204020204" pitchFamily="34" charset="-122"/>
                <a:ea typeface="微软雅黑" panose="020B0503020204020204" pitchFamily="34" charset="-122"/>
              </a:rPr>
              <a:t>二者在結構和構成上有</a:t>
            </a:r>
            <a:r>
              <a:rPr lang="zh-CN" altLang="en-US" sz="2000" dirty="0">
                <a:solidFill>
                  <a:schemeClr val="accent2"/>
                </a:solidFill>
                <a:latin typeface="微软雅黑" panose="020B0503020204020204" pitchFamily="34" charset="-122"/>
                <a:ea typeface="微软雅黑" panose="020B0503020204020204" pitchFamily="34" charset="-122"/>
              </a:rPr>
              <a:t>很大區別</a:t>
            </a:r>
          </a:p>
          <a:p>
            <a:pPr lvl="1" algn="just" eaLnBrk="1" hangingPunct="1">
              <a:lnSpc>
                <a:spcPct val="130000"/>
              </a:lnSpc>
            </a:pPr>
            <a:r>
              <a:rPr lang="zh-CN" altLang="en-US" sz="1800" dirty="0">
                <a:latin typeface="微软雅黑" panose="020B0503020204020204" pitchFamily="34" charset="-122"/>
                <a:ea typeface="微软雅黑" panose="020B0503020204020204" pitchFamily="34" charset="-122"/>
              </a:rPr>
              <a:t>管理能力、構態能力、功能（查找或發現）、組織、元素（</a:t>
            </a:r>
            <a:r>
              <a:rPr lang="en-US" altLang="zh-CN" sz="1800" dirty="0">
                <a:latin typeface="微软雅黑" panose="020B0503020204020204" pitchFamily="34" charset="-122"/>
                <a:ea typeface="微软雅黑" panose="020B0503020204020204" pitchFamily="34" charset="-122"/>
              </a:rPr>
              <a:t>DNS</a:t>
            </a:r>
            <a:r>
              <a:rPr lang="zh-CN" altLang="en-US" sz="1800" dirty="0">
                <a:latin typeface="微软雅黑" panose="020B0503020204020204" pitchFamily="34" charset="-122"/>
                <a:ea typeface="微软雅黑" panose="020B0503020204020204" pitchFamily="34" charset="-122"/>
              </a:rPr>
              <a:t>）和協議</a:t>
            </a:r>
          </a:p>
          <a:p>
            <a:pPr algn="just" eaLnBrk="1" hangingPunct="1">
              <a:lnSpc>
                <a:spcPct val="130000"/>
              </a:lnSpc>
            </a:pPr>
            <a:r>
              <a:rPr lang="zh-CN" altLang="en-US" sz="2000" dirty="0">
                <a:latin typeface="微软雅黑" panose="020B0503020204020204" pitchFamily="34" charset="-122"/>
                <a:ea typeface="微软雅黑" panose="020B0503020204020204" pitchFamily="34" charset="-122"/>
              </a:rPr>
              <a:t>但又</a:t>
            </a:r>
            <a:r>
              <a:rPr lang="zh-CN" altLang="en-US" sz="2000" dirty="0">
                <a:solidFill>
                  <a:schemeClr val="accent2"/>
                </a:solidFill>
                <a:latin typeface="微软雅黑" panose="020B0503020204020204" pitchFamily="34" charset="-122"/>
                <a:ea typeface="微软雅黑" panose="020B0503020204020204" pitchFamily="34" charset="-122"/>
              </a:rPr>
              <a:t>無明顯邊界</a:t>
            </a:r>
          </a:p>
          <a:p>
            <a:pPr lvl="1" algn="just" eaLnBrk="1" hangingPunct="1">
              <a:lnSpc>
                <a:spcPct val="130000"/>
              </a:lnSpc>
            </a:pPr>
            <a:r>
              <a:rPr lang="zh-CN" altLang="en-US" sz="1800" dirty="0">
                <a:latin typeface="微软雅黑" panose="020B0503020204020204" pitchFamily="34" charset="-122"/>
                <a:ea typeface="微软雅黑" panose="020B0503020204020204" pitchFamily="34" charset="-122"/>
              </a:rPr>
              <a:t>都能運行在不同的（</a:t>
            </a:r>
            <a:r>
              <a:rPr lang="en-US" altLang="zh-CN" sz="1800" dirty="0">
                <a:latin typeface="微软雅黑" panose="020B0503020204020204" pitchFamily="34" charset="-122"/>
                <a:ea typeface="微软雅黑" panose="020B0503020204020204" pitchFamily="34" charset="-122"/>
              </a:rPr>
              <a:t>Internet / Intranet</a:t>
            </a:r>
            <a:r>
              <a:rPr lang="zh-CN" altLang="en-US" sz="1800" dirty="0">
                <a:latin typeface="微软雅黑" panose="020B0503020204020204" pitchFamily="34" charset="-122"/>
                <a:ea typeface="微软雅黑" panose="020B0503020204020204" pitchFamily="34" charset="-122"/>
              </a:rPr>
              <a:t>）平臺上</a:t>
            </a:r>
          </a:p>
          <a:p>
            <a:pPr lvl="1" algn="just" eaLnBrk="1" hangingPunct="1">
              <a:lnSpc>
                <a:spcPct val="130000"/>
              </a:lnSpc>
            </a:pPr>
            <a:r>
              <a:rPr lang="zh-CN" altLang="en-US" sz="1800" dirty="0">
                <a:latin typeface="微软雅黑" panose="020B0503020204020204" pitchFamily="34" charset="-122"/>
                <a:ea typeface="微软雅黑" panose="020B0503020204020204" pitchFamily="34" charset="-122"/>
              </a:rPr>
              <a:t>都能服務傳統或新的應用：</a:t>
            </a:r>
            <a:r>
              <a:rPr lang="en-US" altLang="zh-CN" sz="1800" dirty="0">
                <a:latin typeface="微软雅黑" panose="020B0503020204020204" pitchFamily="34" charset="-122"/>
                <a:ea typeface="微软雅黑" panose="020B0503020204020204" pitchFamily="34" charset="-122"/>
              </a:rPr>
              <a:t>eBusiness </a:t>
            </a:r>
            <a:r>
              <a:rPr lang="en-US" altLang="zh-CN" sz="1800" dirty="0" err="1">
                <a:latin typeface="微软雅黑" panose="020B0503020204020204" pitchFamily="34" charset="-122"/>
                <a:ea typeface="微软雅黑" panose="020B0503020204020204" pitchFamily="34" charset="-122"/>
              </a:rPr>
              <a:t>eServices</a:t>
            </a:r>
            <a:r>
              <a:rPr lang="en-US" altLang="zh-CN" sz="1800" dirty="0">
                <a:latin typeface="微软雅黑" panose="020B0503020204020204" pitchFamily="34" charset="-122"/>
                <a:ea typeface="微软雅黑" panose="020B0503020204020204" pitchFamily="34" charset="-122"/>
              </a:rPr>
              <a:t> …</a:t>
            </a:r>
          </a:p>
          <a:p>
            <a:endParaRPr lang="zh-CN" altLang="en-US" dirty="0"/>
          </a:p>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35</a:t>
            </a:fld>
            <a:endParaRPr kumimoji="1" lang="zh-CN" altLang="en-US" dirty="0"/>
          </a:p>
        </p:txBody>
      </p:sp>
    </p:spTree>
    <p:extLst>
      <p:ext uri="{BB962C8B-B14F-4D97-AF65-F5344CB8AC3E}">
        <p14:creationId xmlns:p14="http://schemas.microsoft.com/office/powerpoint/2010/main" val="17121299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36</a:t>
            </a:fld>
            <a:endParaRPr kumimoji="1" lang="zh-CN" altLang="en-US" dirty="0"/>
          </a:p>
        </p:txBody>
      </p:sp>
    </p:spTree>
    <p:extLst>
      <p:ext uri="{BB962C8B-B14F-4D97-AF65-F5344CB8AC3E}">
        <p14:creationId xmlns:p14="http://schemas.microsoft.com/office/powerpoint/2010/main" val="17880595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39</a:t>
            </a:fld>
            <a:endParaRPr kumimoji="1" lang="zh-CN" altLang="en-US" dirty="0"/>
          </a:p>
        </p:txBody>
      </p:sp>
    </p:spTree>
    <p:extLst>
      <p:ext uri="{BB962C8B-B14F-4D97-AF65-F5344CB8AC3E}">
        <p14:creationId xmlns:p14="http://schemas.microsoft.com/office/powerpoint/2010/main" val="30989672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海濱</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43</a:t>
            </a:fld>
            <a:endParaRPr kumimoji="1" lang="zh-CN" altLang="en-US" dirty="0"/>
          </a:p>
        </p:txBody>
      </p:sp>
    </p:spTree>
    <p:extLst>
      <p:ext uri="{BB962C8B-B14F-4D97-AF65-F5344CB8AC3E}">
        <p14:creationId xmlns:p14="http://schemas.microsoft.com/office/powerpoint/2010/main" val="11843020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46</a:t>
            </a:fld>
            <a:endParaRPr kumimoji="1" lang="zh-CN" altLang="en-US" dirty="0"/>
          </a:p>
        </p:txBody>
      </p:sp>
    </p:spTree>
    <p:extLst>
      <p:ext uri="{BB962C8B-B14F-4D97-AF65-F5344CB8AC3E}">
        <p14:creationId xmlns:p14="http://schemas.microsoft.com/office/powerpoint/2010/main" val="34070030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50</a:t>
            </a:fld>
            <a:endParaRPr kumimoji="1" lang="zh-CN" altLang="en-US" dirty="0"/>
          </a:p>
        </p:txBody>
      </p:sp>
    </p:spTree>
    <p:extLst>
      <p:ext uri="{BB962C8B-B14F-4D97-AF65-F5344CB8AC3E}">
        <p14:creationId xmlns:p14="http://schemas.microsoft.com/office/powerpoint/2010/main" val="32175344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51</a:t>
            </a:fld>
            <a:endParaRPr kumimoji="1" lang="zh-CN" altLang="en-US" dirty="0"/>
          </a:p>
        </p:txBody>
      </p:sp>
    </p:spTree>
    <p:extLst>
      <p:ext uri="{BB962C8B-B14F-4D97-AF65-F5344CB8AC3E}">
        <p14:creationId xmlns:p14="http://schemas.microsoft.com/office/powerpoint/2010/main" val="42127202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52</a:t>
            </a:fld>
            <a:endParaRPr kumimoji="1" lang="zh-CN" altLang="en-US" dirty="0"/>
          </a:p>
        </p:txBody>
      </p:sp>
    </p:spTree>
    <p:extLst>
      <p:ext uri="{BB962C8B-B14F-4D97-AF65-F5344CB8AC3E}">
        <p14:creationId xmlns:p14="http://schemas.microsoft.com/office/powerpoint/2010/main" val="38350879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53</a:t>
            </a:fld>
            <a:endParaRPr kumimoji="1" lang="zh-CN" altLang="en-US" dirty="0"/>
          </a:p>
        </p:txBody>
      </p:sp>
    </p:spTree>
    <p:extLst>
      <p:ext uri="{BB962C8B-B14F-4D97-AF65-F5344CB8AC3E}">
        <p14:creationId xmlns:p14="http://schemas.microsoft.com/office/powerpoint/2010/main" val="28943499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54</a:t>
            </a:fld>
            <a:endParaRPr kumimoji="1" lang="zh-CN" altLang="en-US" dirty="0"/>
          </a:p>
        </p:txBody>
      </p:sp>
    </p:spTree>
    <p:extLst>
      <p:ext uri="{BB962C8B-B14F-4D97-AF65-F5344CB8AC3E}">
        <p14:creationId xmlns:p14="http://schemas.microsoft.com/office/powerpoint/2010/main" val="28994870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55</a:t>
            </a:fld>
            <a:endParaRPr kumimoji="1" lang="zh-CN" altLang="en-US" dirty="0"/>
          </a:p>
        </p:txBody>
      </p:sp>
    </p:spTree>
    <p:extLst>
      <p:ext uri="{BB962C8B-B14F-4D97-AF65-F5344CB8AC3E}">
        <p14:creationId xmlns:p14="http://schemas.microsoft.com/office/powerpoint/2010/main" val="36258090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56</a:t>
            </a:fld>
            <a:endParaRPr kumimoji="1" lang="zh-CN" altLang="en-US" dirty="0"/>
          </a:p>
        </p:txBody>
      </p:sp>
    </p:spTree>
    <p:extLst>
      <p:ext uri="{BB962C8B-B14F-4D97-AF65-F5344CB8AC3E}">
        <p14:creationId xmlns:p14="http://schemas.microsoft.com/office/powerpoint/2010/main" val="41363065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57</a:t>
            </a:fld>
            <a:endParaRPr kumimoji="1" lang="zh-CN" altLang="en-US" dirty="0"/>
          </a:p>
        </p:txBody>
      </p:sp>
    </p:spTree>
    <p:extLst>
      <p:ext uri="{BB962C8B-B14F-4D97-AF65-F5344CB8AC3E}">
        <p14:creationId xmlns:p14="http://schemas.microsoft.com/office/powerpoint/2010/main" val="28181916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58</a:t>
            </a:fld>
            <a:endParaRPr kumimoji="1" lang="zh-CN" altLang="en-US" dirty="0"/>
          </a:p>
        </p:txBody>
      </p:sp>
    </p:spTree>
    <p:extLst>
      <p:ext uri="{BB962C8B-B14F-4D97-AF65-F5344CB8AC3E}">
        <p14:creationId xmlns:p14="http://schemas.microsoft.com/office/powerpoint/2010/main" val="9449630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59</a:t>
            </a:fld>
            <a:endParaRPr kumimoji="1" lang="zh-CN" altLang="en-US" dirty="0"/>
          </a:p>
        </p:txBody>
      </p:sp>
    </p:spTree>
    <p:extLst>
      <p:ext uri="{BB962C8B-B14F-4D97-AF65-F5344CB8AC3E}">
        <p14:creationId xmlns:p14="http://schemas.microsoft.com/office/powerpoint/2010/main" val="2427238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Leslie</a:t>
            </a:r>
            <a:r>
              <a:rPr lang="zh-CN" altLang="en-US" dirty="0"/>
              <a:t>很有幽默感的把論文寫成一個考古發現，至始至終都在虛構他的“考古發現”。他說在考古中發現了失落的文明：希臘的</a:t>
            </a:r>
            <a:r>
              <a:rPr lang="en-US" altLang="zh-CN" dirty="0" err="1"/>
              <a:t>paxos</a:t>
            </a:r>
            <a:r>
              <a:rPr lang="zh-CN" altLang="en-US" dirty="0"/>
              <a:t>小島。這裏的議員通過郵遞員傳遞消息，議會中一個議員提出法案，多數議員批准後法案獲得通過。當然無論議員還是郵遞員，都是兼職的，他們不可靠，隨時可能走人，呵，典型的分布式環境，</a:t>
            </a:r>
            <a:r>
              <a:rPr lang="en-US" altLang="zh-CN" dirty="0"/>
              <a:t>server</a:t>
            </a:r>
            <a:r>
              <a:rPr lang="zh-CN" altLang="en-US" dirty="0"/>
              <a:t>可以挂，消息可以丟。</a:t>
            </a:r>
            <a:r>
              <a:rPr lang="en-US" altLang="zh-CN" dirty="0"/>
              <a:t>Leslie</a:t>
            </a:r>
            <a:r>
              <a:rPr lang="zh-CN" altLang="en-US" dirty="0"/>
              <a:t>根據考古文獻反推出了</a:t>
            </a:r>
            <a:r>
              <a:rPr lang="en-US" altLang="zh-CN" dirty="0" err="1"/>
              <a:t>paxos</a:t>
            </a:r>
            <a:r>
              <a:rPr lang="zh-CN" altLang="en-US" dirty="0"/>
              <a:t>議會如何搞定法案一致性的問題。發表論文時，</a:t>
            </a:r>
            <a:r>
              <a:rPr lang="en-US" altLang="zh-CN" dirty="0"/>
              <a:t>Leslie</a:t>
            </a:r>
            <a:r>
              <a:rPr lang="zh-CN" altLang="en-US" dirty="0"/>
              <a:t>一直用這種語氣在寫論文，于是</a:t>
            </a:r>
            <a:r>
              <a:rPr lang="en-US" altLang="zh-CN" dirty="0"/>
              <a:t>《ACM Transactions on Computer Systems》</a:t>
            </a:r>
            <a:r>
              <a:rPr lang="zh-CN" altLang="en-US" dirty="0"/>
              <a:t>編輯們認爲太荒誕了，不能從頭到尾虛構故事吧？畢竟是嚴謹的科學雜志，于是打回。</a:t>
            </a:r>
            <a:r>
              <a:rPr lang="en-US" altLang="zh-CN" dirty="0"/>
              <a:t>Leslie</a:t>
            </a:r>
            <a:r>
              <a:rPr lang="zh-CN" altLang="en-US" dirty="0"/>
              <a:t>同學身爲牛人，堅持自己的看法，同時認爲編輯們沒有幽默感，拒絕修改。時間流逝，一晃九年過去，九年後有團隊根據該論文開發出一個</a:t>
            </a:r>
            <a:r>
              <a:rPr lang="en-US" altLang="zh-CN" dirty="0" err="1"/>
              <a:t>paxos</a:t>
            </a:r>
            <a:r>
              <a:rPr lang="zh-CN" altLang="en-US" dirty="0"/>
              <a:t>實現，終于，編輯們低頭了，允許發布</a:t>
            </a:r>
            <a:r>
              <a:rPr lang="en-US" altLang="zh-CN" dirty="0"/>
              <a:t>Leslie</a:t>
            </a:r>
            <a:r>
              <a:rPr lang="zh-CN" altLang="en-US" dirty="0"/>
              <a:t>的論文，但還是加了段編者著，在其中表示</a:t>
            </a:r>
            <a:r>
              <a:rPr lang="en-US" altLang="zh-CN" dirty="0"/>
              <a:t>Leslie</a:t>
            </a:r>
            <a:r>
              <a:rPr lang="zh-CN" altLang="en-US" dirty="0"/>
              <a:t>其實是個熱愛計算機技術的考古學家！也算稍事解嘲。</a:t>
            </a:r>
          </a:p>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62</a:t>
            </a:fld>
            <a:endParaRPr kumimoji="1" lang="zh-CN" altLang="en-US" dirty="0"/>
          </a:p>
        </p:txBody>
      </p:sp>
    </p:spTree>
    <p:extLst>
      <p:ext uri="{BB962C8B-B14F-4D97-AF65-F5344CB8AC3E}">
        <p14:creationId xmlns:p14="http://schemas.microsoft.com/office/powerpoint/2010/main" val="25224825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63</a:t>
            </a:fld>
            <a:endParaRPr kumimoji="1" lang="zh-CN" altLang="en-US" dirty="0"/>
          </a:p>
        </p:txBody>
      </p:sp>
    </p:spTree>
    <p:extLst>
      <p:ext uri="{BB962C8B-B14F-4D97-AF65-F5344CB8AC3E}">
        <p14:creationId xmlns:p14="http://schemas.microsoft.com/office/powerpoint/2010/main" val="20923164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64</a:t>
            </a:fld>
            <a:endParaRPr kumimoji="1" lang="zh-CN" altLang="en-US" dirty="0"/>
          </a:p>
        </p:txBody>
      </p:sp>
    </p:spTree>
    <p:extLst>
      <p:ext uri="{BB962C8B-B14F-4D97-AF65-F5344CB8AC3E}">
        <p14:creationId xmlns:p14="http://schemas.microsoft.com/office/powerpoint/2010/main" val="19161792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獲取一個</a:t>
            </a:r>
            <a:r>
              <a:rPr lang="en-US" altLang="zh-CN" sz="1200" b="0" i="0" kern="1200" dirty="0" err="1">
                <a:solidFill>
                  <a:schemeClr val="tx1"/>
                </a:solidFill>
                <a:effectLst/>
                <a:latin typeface="+mn-lt"/>
                <a:ea typeface="+mn-ea"/>
                <a:cs typeface="+mn-cs"/>
              </a:rPr>
              <a:t>ProposalId</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爲了保證</a:t>
            </a:r>
            <a:r>
              <a:rPr lang="en-US" altLang="zh-CN" sz="1200" b="0" i="0" kern="1200" dirty="0" err="1">
                <a:solidFill>
                  <a:schemeClr val="tx1"/>
                </a:solidFill>
                <a:effectLst/>
                <a:latin typeface="+mn-lt"/>
                <a:ea typeface="+mn-ea"/>
                <a:cs typeface="+mn-cs"/>
              </a:rPr>
              <a:t>ProposalId</a:t>
            </a:r>
            <a:r>
              <a:rPr lang="zh-CN" altLang="en-US" sz="1200" b="0" i="0" kern="1200" dirty="0">
                <a:solidFill>
                  <a:schemeClr val="tx1"/>
                </a:solidFill>
                <a:effectLst/>
                <a:latin typeface="+mn-lt"/>
                <a:ea typeface="+mn-ea"/>
                <a:cs typeface="+mn-cs"/>
              </a:rPr>
              <a:t>遞增，可以采用時間戳</a:t>
            </a:r>
            <a:r>
              <a:rPr lang="en-US" altLang="zh-CN"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serverId</a:t>
            </a:r>
            <a:r>
              <a:rPr lang="zh-CN" altLang="en-US" sz="1200" b="0" i="0" kern="1200" dirty="0">
                <a:solidFill>
                  <a:schemeClr val="tx1"/>
                </a:solidFill>
                <a:effectLst/>
                <a:latin typeface="+mn-lt"/>
                <a:ea typeface="+mn-ea"/>
                <a:cs typeface="+mn-cs"/>
              </a:rPr>
              <a:t>方式生成；</a:t>
            </a:r>
            <a:br>
              <a:rPr lang="zh-CN" altLang="en-US" dirty="0"/>
            </a:b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提議者向所有節點廣播</a:t>
            </a:r>
            <a:r>
              <a:rPr lang="en-US" altLang="zh-CN" sz="1200" b="0" i="0" kern="1200" dirty="0">
                <a:solidFill>
                  <a:schemeClr val="tx1"/>
                </a:solidFill>
                <a:effectLst/>
                <a:latin typeface="+mn-lt"/>
                <a:ea typeface="+mn-ea"/>
                <a:cs typeface="+mn-cs"/>
              </a:rPr>
              <a:t>prepare(n)</a:t>
            </a:r>
            <a:r>
              <a:rPr lang="zh-CN" altLang="en-US" sz="1200" b="0" i="0" kern="1200" dirty="0">
                <a:solidFill>
                  <a:schemeClr val="tx1"/>
                </a:solidFill>
                <a:effectLst/>
                <a:latin typeface="+mn-lt"/>
                <a:ea typeface="+mn-ea"/>
                <a:cs typeface="+mn-cs"/>
              </a:rPr>
              <a:t>請求；</a:t>
            </a:r>
            <a:br>
              <a:rPr lang="zh-CN" altLang="en-US" dirty="0"/>
            </a:b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接收者比較</a:t>
            </a:r>
            <a:r>
              <a:rPr lang="en-US" altLang="zh-CN" sz="1200" b="0" i="0" kern="1200" dirty="0">
                <a:solidFill>
                  <a:schemeClr val="tx1"/>
                </a:solidFill>
                <a:effectLst/>
                <a:latin typeface="+mn-lt"/>
                <a:ea typeface="+mn-ea"/>
                <a:cs typeface="+mn-cs"/>
              </a:rPr>
              <a:t>n</a:t>
            </a:r>
            <a:r>
              <a:rPr lang="zh-CN" altLang="en-US" sz="1200" b="0" i="0" kern="1200" dirty="0">
                <a:solidFill>
                  <a:schemeClr val="tx1"/>
                </a:solidFill>
                <a:effectLst/>
                <a:latin typeface="+mn-lt"/>
                <a:ea typeface="+mn-ea"/>
                <a:cs typeface="+mn-cs"/>
              </a:rPr>
              <a:t>和</a:t>
            </a:r>
            <a:r>
              <a:rPr lang="en-US" altLang="zh-CN" sz="1200" b="0" i="0" kern="1200" dirty="0" err="1">
                <a:solidFill>
                  <a:schemeClr val="tx1"/>
                </a:solidFill>
                <a:effectLst/>
                <a:latin typeface="+mn-lt"/>
                <a:ea typeface="+mn-ea"/>
                <a:cs typeface="+mn-cs"/>
              </a:rPr>
              <a:t>minProposal</a:t>
            </a:r>
            <a:r>
              <a:rPr lang="zh-CN" altLang="en-US" sz="1200" b="0" i="0" kern="1200" dirty="0">
                <a:solidFill>
                  <a:schemeClr val="tx1"/>
                </a:solidFill>
                <a:effectLst/>
                <a:latin typeface="+mn-lt"/>
                <a:ea typeface="+mn-ea"/>
                <a:cs typeface="+mn-cs"/>
              </a:rPr>
              <a:t>，如果</a:t>
            </a:r>
            <a:r>
              <a:rPr lang="en-US" altLang="zh-CN" sz="1200" b="0" i="0" kern="1200" dirty="0">
                <a:solidFill>
                  <a:schemeClr val="tx1"/>
                </a:solidFill>
                <a:effectLst/>
                <a:latin typeface="+mn-lt"/>
                <a:ea typeface="+mn-ea"/>
                <a:cs typeface="+mn-cs"/>
              </a:rPr>
              <a:t>n&gt;</a:t>
            </a:r>
            <a:r>
              <a:rPr lang="en-US" altLang="zh-CN" sz="1200" b="0" i="0" kern="1200" dirty="0" err="1">
                <a:solidFill>
                  <a:schemeClr val="tx1"/>
                </a:solidFill>
                <a:effectLst/>
                <a:latin typeface="+mn-lt"/>
                <a:ea typeface="+mn-ea"/>
                <a:cs typeface="+mn-cs"/>
              </a:rPr>
              <a:t>minProposal</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表示有更新的提議，</a:t>
            </a:r>
            <a:r>
              <a:rPr lang="en-US" altLang="zh-CN" sz="1200" b="0" i="0" kern="1200" dirty="0" err="1">
                <a:solidFill>
                  <a:schemeClr val="tx1"/>
                </a:solidFill>
                <a:effectLst/>
                <a:latin typeface="+mn-lt"/>
                <a:ea typeface="+mn-ea"/>
                <a:cs typeface="+mn-cs"/>
              </a:rPr>
              <a:t>minProposal</a:t>
            </a:r>
            <a:r>
              <a:rPr lang="en-US" altLang="zh-CN" sz="1200" b="0" i="0" kern="1200" dirty="0">
                <a:solidFill>
                  <a:schemeClr val="tx1"/>
                </a:solidFill>
                <a:effectLst/>
                <a:latin typeface="+mn-lt"/>
                <a:ea typeface="+mn-ea"/>
                <a:cs typeface="+mn-cs"/>
              </a:rPr>
              <a:t>=n</a:t>
            </a:r>
            <a:r>
              <a:rPr lang="zh-CN" altLang="en-US" sz="1200" b="0" i="0" kern="1200" dirty="0">
                <a:solidFill>
                  <a:schemeClr val="tx1"/>
                </a:solidFill>
                <a:effectLst/>
                <a:latin typeface="+mn-lt"/>
                <a:ea typeface="+mn-ea"/>
                <a:cs typeface="+mn-cs"/>
              </a:rPr>
              <a:t>；否則將</a:t>
            </a:r>
            <a:r>
              <a:rPr lang="en-US" altLang="zh-CN"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acceptedProposal,acceptedValue</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返回；</a:t>
            </a:r>
            <a:br>
              <a:rPr lang="zh-CN" altLang="en-US" dirty="0"/>
            </a:br>
            <a:r>
              <a:rPr lang="en-US" altLang="zh-CN" sz="1200" b="0" i="0" kern="1200" dirty="0">
                <a:solidFill>
                  <a:schemeClr val="tx1"/>
                </a:solidFill>
                <a:effectLst/>
                <a:latin typeface="+mn-lt"/>
                <a:ea typeface="+mn-ea"/>
                <a:cs typeface="+mn-cs"/>
              </a:rPr>
              <a:t>4.</a:t>
            </a:r>
            <a:r>
              <a:rPr lang="zh-CN" altLang="en-US" sz="1200" b="0" i="0" kern="1200" dirty="0">
                <a:solidFill>
                  <a:schemeClr val="tx1"/>
                </a:solidFill>
                <a:effectLst/>
                <a:latin typeface="+mn-lt"/>
                <a:ea typeface="+mn-ea"/>
                <a:cs typeface="+mn-cs"/>
              </a:rPr>
              <a:t>提議者接收到過半數響應後，保存最大的</a:t>
            </a:r>
            <a:r>
              <a:rPr lang="en-US" altLang="zh-CN" sz="1200" b="0" i="0" kern="1200" dirty="0" err="1">
                <a:solidFill>
                  <a:schemeClr val="tx1"/>
                </a:solidFill>
                <a:effectLst/>
                <a:latin typeface="+mn-lt"/>
                <a:ea typeface="+mn-ea"/>
                <a:cs typeface="+mn-cs"/>
              </a:rPr>
              <a:t>acceptedValue</a:t>
            </a:r>
            <a:r>
              <a:rPr lang="zh-CN" altLang="en-US" sz="1200" b="0" i="0" kern="1200" dirty="0">
                <a:solidFill>
                  <a:schemeClr val="tx1"/>
                </a:solidFill>
                <a:effectLst/>
                <a:latin typeface="+mn-lt"/>
                <a:ea typeface="+mn-ea"/>
                <a:cs typeface="+mn-cs"/>
              </a:rPr>
              <a:t>到本地。如果沒有收到半數的響應將然後跳轉</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，生成一個更高的提議；</a:t>
            </a:r>
            <a:br>
              <a:rPr lang="zh-CN" altLang="en-US" dirty="0"/>
            </a:br>
            <a:r>
              <a:rPr lang="en-US" altLang="zh-CN" sz="1200" b="0" i="0" kern="1200" dirty="0">
                <a:solidFill>
                  <a:schemeClr val="tx1"/>
                </a:solidFill>
                <a:effectLst/>
                <a:latin typeface="+mn-lt"/>
                <a:ea typeface="+mn-ea"/>
                <a:cs typeface="+mn-cs"/>
              </a:rPr>
              <a:t>5.</a:t>
            </a:r>
            <a:r>
              <a:rPr lang="zh-CN" altLang="en-US" sz="1200" b="0" i="0" kern="1200" dirty="0">
                <a:solidFill>
                  <a:schemeClr val="tx1"/>
                </a:solidFill>
                <a:effectLst/>
                <a:latin typeface="+mn-lt"/>
                <a:ea typeface="+mn-ea"/>
                <a:cs typeface="+mn-cs"/>
              </a:rPr>
              <a:t>到這裏表示在當前</a:t>
            </a:r>
            <a:r>
              <a:rPr lang="en-US" altLang="zh-CN" sz="1200" b="0" i="0" kern="1200" dirty="0" err="1">
                <a:solidFill>
                  <a:schemeClr val="tx1"/>
                </a:solidFill>
                <a:effectLst/>
                <a:latin typeface="+mn-lt"/>
                <a:ea typeface="+mn-ea"/>
                <a:cs typeface="+mn-cs"/>
              </a:rPr>
              <a:t>paxos</a:t>
            </a:r>
            <a:r>
              <a:rPr lang="en-US" altLang="zh-CN" sz="1200" b="0" i="0" kern="1200" dirty="0">
                <a:solidFill>
                  <a:schemeClr val="tx1"/>
                </a:solidFill>
                <a:effectLst/>
                <a:latin typeface="+mn-lt"/>
                <a:ea typeface="+mn-ea"/>
                <a:cs typeface="+mn-cs"/>
              </a:rPr>
              <a:t> instance</a:t>
            </a:r>
            <a:r>
              <a:rPr lang="zh-CN" altLang="en-US" sz="1200" b="0" i="0" kern="1200" dirty="0">
                <a:solidFill>
                  <a:schemeClr val="tx1"/>
                </a:solidFill>
                <a:effectLst/>
                <a:latin typeface="+mn-lt"/>
                <a:ea typeface="+mn-ea"/>
                <a:cs typeface="+mn-cs"/>
              </a:rPr>
              <a:t>內，沒有優先級更高的提議，可以進入第二階段，廣播</a:t>
            </a:r>
            <a:r>
              <a:rPr lang="en-US" altLang="zh-CN" sz="1200" b="0" i="0" kern="1200" dirty="0">
                <a:solidFill>
                  <a:schemeClr val="tx1"/>
                </a:solidFill>
                <a:effectLst/>
                <a:latin typeface="+mn-lt"/>
                <a:ea typeface="+mn-ea"/>
                <a:cs typeface="+mn-cs"/>
              </a:rPr>
              <a:t>accept(</a:t>
            </a:r>
            <a:r>
              <a:rPr lang="en-US" altLang="zh-CN" sz="1200" b="0" i="0" kern="1200" dirty="0" err="1">
                <a:solidFill>
                  <a:schemeClr val="tx1"/>
                </a:solidFill>
                <a:effectLst/>
                <a:latin typeface="+mn-lt"/>
                <a:ea typeface="+mn-ea"/>
                <a:cs typeface="+mn-cs"/>
              </a:rPr>
              <a:t>n,value</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到所有節點；</a:t>
            </a:r>
            <a:br>
              <a:rPr lang="zh-CN" altLang="en-US" dirty="0"/>
            </a:br>
            <a:r>
              <a:rPr lang="en-US" altLang="zh-CN" sz="1200" b="0" i="0" kern="1200" dirty="0">
                <a:solidFill>
                  <a:schemeClr val="tx1"/>
                </a:solidFill>
                <a:effectLst/>
                <a:latin typeface="+mn-lt"/>
                <a:ea typeface="+mn-ea"/>
                <a:cs typeface="+mn-cs"/>
              </a:rPr>
              <a:t>6.</a:t>
            </a:r>
            <a:r>
              <a:rPr lang="zh-CN" altLang="en-US" sz="1200" b="0" i="0" kern="1200" dirty="0">
                <a:solidFill>
                  <a:schemeClr val="tx1"/>
                </a:solidFill>
                <a:effectLst/>
                <a:latin typeface="+mn-lt"/>
                <a:ea typeface="+mn-ea"/>
                <a:cs typeface="+mn-cs"/>
              </a:rPr>
              <a:t>接收者比較</a:t>
            </a:r>
            <a:r>
              <a:rPr lang="en-US" altLang="zh-CN" sz="1200" b="0" i="0" kern="1200" dirty="0">
                <a:solidFill>
                  <a:schemeClr val="tx1"/>
                </a:solidFill>
                <a:effectLst/>
                <a:latin typeface="+mn-lt"/>
                <a:ea typeface="+mn-ea"/>
                <a:cs typeface="+mn-cs"/>
              </a:rPr>
              <a:t>n</a:t>
            </a:r>
            <a:r>
              <a:rPr lang="zh-CN" altLang="en-US" sz="1200" b="0" i="0" kern="1200" dirty="0">
                <a:solidFill>
                  <a:schemeClr val="tx1"/>
                </a:solidFill>
                <a:effectLst/>
                <a:latin typeface="+mn-lt"/>
                <a:ea typeface="+mn-ea"/>
                <a:cs typeface="+mn-cs"/>
              </a:rPr>
              <a:t>和</a:t>
            </a:r>
            <a:r>
              <a:rPr lang="en-US" altLang="zh-CN" sz="1200" b="0" i="0" kern="1200" dirty="0" err="1">
                <a:solidFill>
                  <a:schemeClr val="tx1"/>
                </a:solidFill>
                <a:effectLst/>
                <a:latin typeface="+mn-lt"/>
                <a:ea typeface="+mn-ea"/>
                <a:cs typeface="+mn-cs"/>
              </a:rPr>
              <a:t>minProposal</a:t>
            </a:r>
            <a:r>
              <a:rPr lang="zh-CN" altLang="en-US" sz="1200" b="0" i="0" kern="1200" dirty="0">
                <a:solidFill>
                  <a:schemeClr val="tx1"/>
                </a:solidFill>
                <a:effectLst/>
                <a:latin typeface="+mn-lt"/>
                <a:ea typeface="+mn-ea"/>
                <a:cs typeface="+mn-cs"/>
              </a:rPr>
              <a:t>，如果</a:t>
            </a:r>
            <a:r>
              <a:rPr lang="en-US" altLang="zh-CN" sz="1200" b="0" i="0" kern="1200" dirty="0">
                <a:solidFill>
                  <a:schemeClr val="tx1"/>
                </a:solidFill>
                <a:effectLst/>
                <a:latin typeface="+mn-lt"/>
                <a:ea typeface="+mn-ea"/>
                <a:cs typeface="+mn-cs"/>
              </a:rPr>
              <a:t>n&gt;=</a:t>
            </a:r>
            <a:r>
              <a:rPr lang="en-US" altLang="zh-CN" sz="1200" b="0" i="0" kern="1200" dirty="0" err="1">
                <a:solidFill>
                  <a:schemeClr val="tx1"/>
                </a:solidFill>
                <a:effectLst/>
                <a:latin typeface="+mn-lt"/>
                <a:ea typeface="+mn-ea"/>
                <a:cs typeface="+mn-cs"/>
              </a:rPr>
              <a:t>minProposal</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則</a:t>
            </a:r>
            <a:r>
              <a:rPr lang="en-US" altLang="zh-CN" sz="1200" b="0" i="0" kern="1200" dirty="0" err="1">
                <a:solidFill>
                  <a:schemeClr val="tx1"/>
                </a:solidFill>
                <a:effectLst/>
                <a:latin typeface="+mn-lt"/>
                <a:ea typeface="+mn-ea"/>
                <a:cs typeface="+mn-cs"/>
              </a:rPr>
              <a:t>acceptedProposal</a:t>
            </a:r>
            <a:r>
              <a:rPr lang="en-US" altLang="zh-CN"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minProposal</a:t>
            </a:r>
            <a:r>
              <a:rPr lang="en-US" altLang="zh-CN" sz="1200" b="0" i="0" kern="1200" dirty="0">
                <a:solidFill>
                  <a:schemeClr val="tx1"/>
                </a:solidFill>
                <a:effectLst/>
                <a:latin typeface="+mn-lt"/>
                <a:ea typeface="+mn-ea"/>
                <a:cs typeface="+mn-cs"/>
              </a:rPr>
              <a:t>=n</a:t>
            </a:r>
            <a:r>
              <a:rPr lang="zh-CN" altLang="en-US"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acceptedValue</a:t>
            </a:r>
            <a:r>
              <a:rPr lang="en-US" altLang="zh-CN" sz="1200" b="0" i="0" kern="1200" dirty="0">
                <a:solidFill>
                  <a:schemeClr val="tx1"/>
                </a:solidFill>
                <a:effectLst/>
                <a:latin typeface="+mn-lt"/>
                <a:ea typeface="+mn-ea"/>
                <a:cs typeface="+mn-cs"/>
              </a:rPr>
              <a:t>=value</a:t>
            </a:r>
            <a:r>
              <a:rPr lang="zh-CN" altLang="en-US" sz="1200" b="0" i="0" kern="1200" dirty="0">
                <a:solidFill>
                  <a:schemeClr val="tx1"/>
                </a:solidFill>
                <a:effectLst/>
                <a:latin typeface="+mn-lt"/>
                <a:ea typeface="+mn-ea"/>
                <a:cs typeface="+mn-cs"/>
              </a:rPr>
              <a:t>，本地持久化後，返回；</a:t>
            </a:r>
            <a:br>
              <a:rPr lang="zh-CN" altLang="en-US" dirty="0"/>
            </a:br>
            <a:r>
              <a:rPr lang="zh-CN" altLang="en-US" sz="1200" b="0" i="0" kern="1200" dirty="0">
                <a:solidFill>
                  <a:schemeClr val="tx1"/>
                </a:solidFill>
                <a:effectLst/>
                <a:latin typeface="+mn-lt"/>
                <a:ea typeface="+mn-ea"/>
                <a:cs typeface="+mn-cs"/>
              </a:rPr>
              <a:t>否則，返回</a:t>
            </a:r>
            <a:r>
              <a:rPr lang="en-US" altLang="zh-CN" sz="1200" b="0" i="0" kern="1200" dirty="0" err="1">
                <a:solidFill>
                  <a:schemeClr val="tx1"/>
                </a:solidFill>
                <a:effectLst/>
                <a:latin typeface="+mn-lt"/>
                <a:ea typeface="+mn-ea"/>
                <a:cs typeface="+mn-cs"/>
              </a:rPr>
              <a:t>minProposal</a:t>
            </a:r>
            <a:br>
              <a:rPr lang="en-US" altLang="zh-CN" dirty="0"/>
            </a:br>
            <a:r>
              <a:rPr lang="en-US" altLang="zh-CN" sz="1200" b="0" i="0" kern="1200" dirty="0">
                <a:solidFill>
                  <a:schemeClr val="tx1"/>
                </a:solidFill>
                <a:effectLst/>
                <a:latin typeface="+mn-lt"/>
                <a:ea typeface="+mn-ea"/>
                <a:cs typeface="+mn-cs"/>
              </a:rPr>
              <a:t>7.</a:t>
            </a:r>
            <a:r>
              <a:rPr lang="zh-CN" altLang="en-US" sz="1200" b="0" i="0" kern="1200" dirty="0">
                <a:solidFill>
                  <a:schemeClr val="tx1"/>
                </a:solidFill>
                <a:effectLst/>
                <a:latin typeface="+mn-lt"/>
                <a:ea typeface="+mn-ea"/>
                <a:cs typeface="+mn-cs"/>
              </a:rPr>
              <a:t>提議者接收到過半數請求後，如果發現有返回值</a:t>
            </a:r>
            <a:r>
              <a:rPr lang="en-US" altLang="zh-CN" sz="1200" b="0" i="0" kern="1200" dirty="0">
                <a:solidFill>
                  <a:schemeClr val="tx1"/>
                </a:solidFill>
                <a:effectLst/>
                <a:latin typeface="+mn-lt"/>
                <a:ea typeface="+mn-ea"/>
                <a:cs typeface="+mn-cs"/>
              </a:rPr>
              <a:t>&gt;n</a:t>
            </a:r>
            <a:r>
              <a:rPr lang="zh-CN" altLang="en-US" sz="1200" b="0" i="0" kern="1200" dirty="0">
                <a:solidFill>
                  <a:schemeClr val="tx1"/>
                </a:solidFill>
                <a:effectLst/>
                <a:latin typeface="+mn-lt"/>
                <a:ea typeface="+mn-ea"/>
                <a:cs typeface="+mn-cs"/>
              </a:rPr>
              <a:t>，表示有更新的提議，跳轉</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；否則</a:t>
            </a:r>
            <a:r>
              <a:rPr lang="en-US" altLang="zh-CN" sz="1200" b="0" i="0" kern="1200" dirty="0">
                <a:solidFill>
                  <a:schemeClr val="tx1"/>
                </a:solidFill>
                <a:effectLst/>
                <a:latin typeface="+mn-lt"/>
                <a:ea typeface="+mn-ea"/>
                <a:cs typeface="+mn-cs"/>
              </a:rPr>
              <a:t>value</a:t>
            </a:r>
            <a:r>
              <a:rPr lang="zh-CN" altLang="en-US" sz="1200" b="0" i="0" kern="1200" dirty="0">
                <a:solidFill>
                  <a:schemeClr val="tx1"/>
                </a:solidFill>
                <a:effectLst/>
                <a:latin typeface="+mn-lt"/>
                <a:ea typeface="+mn-ea"/>
                <a:cs typeface="+mn-cs"/>
              </a:rPr>
              <a:t>達成一致。</a:t>
            </a:r>
            <a:br>
              <a:rPr lang="zh-CN" altLang="en-US" dirty="0"/>
            </a:br>
            <a:r>
              <a:rPr lang="zh-CN" altLang="en-US" sz="1200" b="0" i="0" kern="1200" dirty="0">
                <a:solidFill>
                  <a:schemeClr val="tx1"/>
                </a:solidFill>
                <a:effectLst/>
                <a:latin typeface="+mn-lt"/>
                <a:ea typeface="+mn-ea"/>
                <a:cs typeface="+mn-cs"/>
              </a:rPr>
              <a:t>從上述流程可知，幷發情况下，可能會出現第</a:t>
            </a:r>
            <a:r>
              <a:rPr lang="en-US" altLang="zh-CN" sz="1200" b="0" i="0" kern="1200" dirty="0">
                <a:solidFill>
                  <a:schemeClr val="tx1"/>
                </a:solidFill>
                <a:effectLst/>
                <a:latin typeface="+mn-lt"/>
                <a:ea typeface="+mn-ea"/>
                <a:cs typeface="+mn-cs"/>
              </a:rPr>
              <a:t>4</a:t>
            </a:r>
            <a:r>
              <a:rPr lang="zh-CN" altLang="en-US" sz="1200" b="0" i="0" kern="1200" dirty="0">
                <a:solidFill>
                  <a:schemeClr val="tx1"/>
                </a:solidFill>
                <a:effectLst/>
                <a:latin typeface="+mn-lt"/>
                <a:ea typeface="+mn-ea"/>
                <a:cs typeface="+mn-cs"/>
              </a:rPr>
              <a:t>步或者第</a:t>
            </a:r>
            <a:r>
              <a:rPr lang="en-US" altLang="zh-CN" sz="1200" b="0" i="0" kern="1200" dirty="0">
                <a:solidFill>
                  <a:schemeClr val="tx1"/>
                </a:solidFill>
                <a:effectLst/>
                <a:latin typeface="+mn-lt"/>
                <a:ea typeface="+mn-ea"/>
                <a:cs typeface="+mn-cs"/>
              </a:rPr>
              <a:t>7</a:t>
            </a:r>
            <a:r>
              <a:rPr lang="zh-CN" altLang="en-US" sz="1200" b="0" i="0" kern="1200" dirty="0">
                <a:solidFill>
                  <a:schemeClr val="tx1"/>
                </a:solidFill>
                <a:effectLst/>
                <a:latin typeface="+mn-lt"/>
                <a:ea typeface="+mn-ea"/>
                <a:cs typeface="+mn-cs"/>
              </a:rPr>
              <a:t>步頻繁重試的情况，導致性能低下，更嚴重者可能導致永遠都無法達成一致的情况，就是所謂的“活鎖”，如下頁所示。</a:t>
            </a:r>
            <a:endParaRPr lang="zh-CN" altLang="en-US" dirty="0"/>
          </a:p>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65</a:t>
            </a:fld>
            <a:endParaRPr kumimoji="1" lang="zh-CN" altLang="en-US" dirty="0"/>
          </a:p>
        </p:txBody>
      </p:sp>
    </p:spTree>
    <p:extLst>
      <p:ext uri="{BB962C8B-B14F-4D97-AF65-F5344CB8AC3E}">
        <p14:creationId xmlns:p14="http://schemas.microsoft.com/office/powerpoint/2010/main" val="19008032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1.S1</a:t>
            </a:r>
            <a:r>
              <a:rPr lang="zh-CN" altLang="en-US" sz="1200" b="0" i="0" kern="1200" dirty="0">
                <a:solidFill>
                  <a:schemeClr val="tx1"/>
                </a:solidFill>
                <a:effectLst/>
                <a:latin typeface="+mn-lt"/>
                <a:ea typeface="+mn-ea"/>
                <a:cs typeface="+mn-cs"/>
              </a:rPr>
              <a:t>作爲提議者，發起</a:t>
            </a:r>
            <a:r>
              <a:rPr lang="en-US" altLang="zh-CN" sz="1200" b="0" i="0" kern="1200" dirty="0">
                <a:solidFill>
                  <a:schemeClr val="tx1"/>
                </a:solidFill>
                <a:effectLst/>
                <a:latin typeface="+mn-lt"/>
                <a:ea typeface="+mn-ea"/>
                <a:cs typeface="+mn-cs"/>
              </a:rPr>
              <a:t>prepare(3.1),</a:t>
            </a:r>
            <a:r>
              <a:rPr lang="zh-CN" altLang="en-US" sz="1200" b="0" i="0" kern="1200" dirty="0">
                <a:solidFill>
                  <a:schemeClr val="tx1"/>
                </a:solidFill>
                <a:effectLst/>
                <a:latin typeface="+mn-lt"/>
                <a:ea typeface="+mn-ea"/>
                <a:cs typeface="+mn-cs"/>
              </a:rPr>
              <a:t>幷在</a:t>
            </a:r>
            <a:r>
              <a:rPr lang="en-US" altLang="zh-CN" sz="1200" b="0" i="0" kern="1200" dirty="0">
                <a:solidFill>
                  <a:schemeClr val="tx1"/>
                </a:solidFill>
                <a:effectLst/>
                <a:latin typeface="+mn-lt"/>
                <a:ea typeface="+mn-ea"/>
                <a:cs typeface="+mn-cs"/>
              </a:rPr>
              <a:t>S1,S2</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S3</a:t>
            </a:r>
            <a:r>
              <a:rPr lang="zh-CN" altLang="en-US" sz="1200" b="0" i="0" kern="1200" dirty="0">
                <a:solidFill>
                  <a:schemeClr val="tx1"/>
                </a:solidFill>
                <a:effectLst/>
                <a:latin typeface="+mn-lt"/>
                <a:ea typeface="+mn-ea"/>
                <a:cs typeface="+mn-cs"/>
              </a:rPr>
              <a:t>達成多數派；</a:t>
            </a:r>
            <a:br>
              <a:rPr lang="zh-CN" altLang="en-US" dirty="0"/>
            </a:b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隨後</a:t>
            </a:r>
            <a:r>
              <a:rPr lang="en-US" altLang="zh-CN" sz="1200" b="0" i="0" kern="1200" dirty="0">
                <a:solidFill>
                  <a:schemeClr val="tx1"/>
                </a:solidFill>
                <a:effectLst/>
                <a:latin typeface="+mn-lt"/>
                <a:ea typeface="+mn-ea"/>
                <a:cs typeface="+mn-cs"/>
              </a:rPr>
              <a:t>S5</a:t>
            </a:r>
            <a:r>
              <a:rPr lang="zh-CN" altLang="en-US" sz="1200" b="0" i="0" kern="1200" dirty="0">
                <a:solidFill>
                  <a:schemeClr val="tx1"/>
                </a:solidFill>
                <a:effectLst/>
                <a:latin typeface="+mn-lt"/>
                <a:ea typeface="+mn-ea"/>
                <a:cs typeface="+mn-cs"/>
              </a:rPr>
              <a:t>作爲提議者 ，發起了</a:t>
            </a:r>
            <a:r>
              <a:rPr lang="en-US" altLang="zh-CN" sz="1200" b="0" i="0" kern="1200" dirty="0">
                <a:solidFill>
                  <a:schemeClr val="tx1"/>
                </a:solidFill>
                <a:effectLst/>
                <a:latin typeface="+mn-lt"/>
                <a:ea typeface="+mn-ea"/>
                <a:cs typeface="+mn-cs"/>
              </a:rPr>
              <a:t>prepare(3.5)</a:t>
            </a:r>
            <a:r>
              <a:rPr lang="zh-CN" altLang="en-US" sz="1200" b="0" i="0" kern="1200" dirty="0">
                <a:solidFill>
                  <a:schemeClr val="tx1"/>
                </a:solidFill>
                <a:effectLst/>
                <a:latin typeface="+mn-lt"/>
                <a:ea typeface="+mn-ea"/>
                <a:cs typeface="+mn-cs"/>
              </a:rPr>
              <a:t>，幷在</a:t>
            </a:r>
            <a:r>
              <a:rPr lang="en-US" altLang="zh-CN" sz="1200" b="0" i="0" kern="1200" dirty="0">
                <a:solidFill>
                  <a:schemeClr val="tx1"/>
                </a:solidFill>
                <a:effectLst/>
                <a:latin typeface="+mn-lt"/>
                <a:ea typeface="+mn-ea"/>
                <a:cs typeface="+mn-cs"/>
              </a:rPr>
              <a:t>S3,S4</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S5</a:t>
            </a:r>
            <a:r>
              <a:rPr lang="zh-CN" altLang="en-US" sz="1200" b="0" i="0" kern="1200" dirty="0">
                <a:solidFill>
                  <a:schemeClr val="tx1"/>
                </a:solidFill>
                <a:effectLst/>
                <a:latin typeface="+mn-lt"/>
                <a:ea typeface="+mn-ea"/>
                <a:cs typeface="+mn-cs"/>
              </a:rPr>
              <a:t>達成多數派；</a:t>
            </a:r>
            <a:br>
              <a:rPr lang="zh-CN" altLang="en-US" dirty="0"/>
            </a:br>
            <a:r>
              <a:rPr lang="en-US" altLang="zh-CN" sz="1200" b="0" i="0" kern="1200" dirty="0">
                <a:solidFill>
                  <a:schemeClr val="tx1"/>
                </a:solidFill>
                <a:effectLst/>
                <a:latin typeface="+mn-lt"/>
                <a:ea typeface="+mn-ea"/>
                <a:cs typeface="+mn-cs"/>
              </a:rPr>
              <a:t>3.S1</a:t>
            </a:r>
            <a:r>
              <a:rPr lang="zh-CN" altLang="en-US" sz="1200" b="0" i="0" kern="1200" dirty="0">
                <a:solidFill>
                  <a:schemeClr val="tx1"/>
                </a:solidFill>
                <a:effectLst/>
                <a:latin typeface="+mn-lt"/>
                <a:ea typeface="+mn-ea"/>
                <a:cs typeface="+mn-cs"/>
              </a:rPr>
              <a:t>發起</a:t>
            </a:r>
            <a:r>
              <a:rPr lang="en-US" altLang="zh-CN" sz="1200" b="0" i="0" kern="1200" dirty="0">
                <a:solidFill>
                  <a:schemeClr val="tx1"/>
                </a:solidFill>
                <a:effectLst/>
                <a:latin typeface="+mn-lt"/>
                <a:ea typeface="+mn-ea"/>
                <a:cs typeface="+mn-cs"/>
              </a:rPr>
              <a:t>accept(3.1,value1)</a:t>
            </a:r>
            <a:r>
              <a:rPr lang="zh-CN" altLang="en-US" sz="1200" b="0" i="0" kern="1200" dirty="0">
                <a:solidFill>
                  <a:schemeClr val="tx1"/>
                </a:solidFill>
                <a:effectLst/>
                <a:latin typeface="+mn-lt"/>
                <a:ea typeface="+mn-ea"/>
                <a:cs typeface="+mn-cs"/>
              </a:rPr>
              <a:t>，由于</a:t>
            </a:r>
            <a:r>
              <a:rPr lang="en-US" altLang="zh-CN" sz="1200" b="0" i="0" kern="1200" dirty="0">
                <a:solidFill>
                  <a:schemeClr val="tx1"/>
                </a:solidFill>
                <a:effectLst/>
                <a:latin typeface="+mn-lt"/>
                <a:ea typeface="+mn-ea"/>
                <a:cs typeface="+mn-cs"/>
              </a:rPr>
              <a:t>S3</a:t>
            </a:r>
            <a:r>
              <a:rPr lang="zh-CN" altLang="en-US" sz="1200" b="0" i="0" kern="1200" dirty="0">
                <a:solidFill>
                  <a:schemeClr val="tx1"/>
                </a:solidFill>
                <a:effectLst/>
                <a:latin typeface="+mn-lt"/>
                <a:ea typeface="+mn-ea"/>
                <a:cs typeface="+mn-cs"/>
              </a:rPr>
              <a:t>上提議 </a:t>
            </a:r>
            <a:r>
              <a:rPr lang="en-US" altLang="zh-CN" sz="1200" b="0" i="0" kern="1200" dirty="0">
                <a:solidFill>
                  <a:schemeClr val="tx1"/>
                </a:solidFill>
                <a:effectLst/>
                <a:latin typeface="+mn-lt"/>
                <a:ea typeface="+mn-ea"/>
                <a:cs typeface="+mn-cs"/>
              </a:rPr>
              <a:t>3.5&gt;3.1,</a:t>
            </a:r>
            <a:r>
              <a:rPr lang="zh-CN" altLang="en-US" sz="1200" b="0" i="0" kern="1200" dirty="0">
                <a:solidFill>
                  <a:schemeClr val="tx1"/>
                </a:solidFill>
                <a:effectLst/>
                <a:latin typeface="+mn-lt"/>
                <a:ea typeface="+mn-ea"/>
                <a:cs typeface="+mn-cs"/>
              </a:rPr>
              <a:t>導致</a:t>
            </a:r>
            <a:r>
              <a:rPr lang="en-US" altLang="zh-CN" sz="1200" b="0" i="0" kern="1200" dirty="0">
                <a:solidFill>
                  <a:schemeClr val="tx1"/>
                </a:solidFill>
                <a:effectLst/>
                <a:latin typeface="+mn-lt"/>
                <a:ea typeface="+mn-ea"/>
                <a:cs typeface="+mn-cs"/>
              </a:rPr>
              <a:t>accept</a:t>
            </a:r>
            <a:r>
              <a:rPr lang="zh-CN" altLang="en-US" sz="1200" b="0" i="0" kern="1200" dirty="0">
                <a:solidFill>
                  <a:schemeClr val="tx1"/>
                </a:solidFill>
                <a:effectLst/>
                <a:latin typeface="+mn-lt"/>
                <a:ea typeface="+mn-ea"/>
                <a:cs typeface="+mn-cs"/>
              </a:rPr>
              <a:t>請求無法達成多數派，</a:t>
            </a:r>
            <a:r>
              <a:rPr lang="en-US" altLang="zh-CN" sz="1200" b="0" i="0" kern="1200" dirty="0">
                <a:solidFill>
                  <a:schemeClr val="tx1"/>
                </a:solidFill>
                <a:effectLst/>
                <a:latin typeface="+mn-lt"/>
                <a:ea typeface="+mn-ea"/>
                <a:cs typeface="+mn-cs"/>
              </a:rPr>
              <a:t>S1</a:t>
            </a:r>
            <a:r>
              <a:rPr lang="zh-CN" altLang="en-US" sz="1200" b="0" i="0" kern="1200" dirty="0">
                <a:solidFill>
                  <a:schemeClr val="tx1"/>
                </a:solidFill>
                <a:effectLst/>
                <a:latin typeface="+mn-lt"/>
                <a:ea typeface="+mn-ea"/>
                <a:cs typeface="+mn-cs"/>
              </a:rPr>
              <a:t>嘗試重新生成提議</a:t>
            </a:r>
            <a:br>
              <a:rPr lang="zh-CN" altLang="en-US" dirty="0"/>
            </a:br>
            <a:r>
              <a:rPr lang="en-US" altLang="zh-CN" sz="1200" b="0" i="0" kern="1200" dirty="0">
                <a:solidFill>
                  <a:schemeClr val="tx1"/>
                </a:solidFill>
                <a:effectLst/>
                <a:latin typeface="+mn-lt"/>
                <a:ea typeface="+mn-ea"/>
                <a:cs typeface="+mn-cs"/>
              </a:rPr>
              <a:t>4.S1</a:t>
            </a:r>
            <a:r>
              <a:rPr lang="zh-CN" altLang="en-US" sz="1200" b="0" i="0" kern="1200" dirty="0">
                <a:solidFill>
                  <a:schemeClr val="tx1"/>
                </a:solidFill>
                <a:effectLst/>
                <a:latin typeface="+mn-lt"/>
                <a:ea typeface="+mn-ea"/>
                <a:cs typeface="+mn-cs"/>
              </a:rPr>
              <a:t>發起</a:t>
            </a:r>
            <a:r>
              <a:rPr lang="en-US" altLang="zh-CN" sz="1200" b="0" i="0" kern="1200" dirty="0">
                <a:solidFill>
                  <a:schemeClr val="tx1"/>
                </a:solidFill>
                <a:effectLst/>
                <a:latin typeface="+mn-lt"/>
                <a:ea typeface="+mn-ea"/>
                <a:cs typeface="+mn-cs"/>
              </a:rPr>
              <a:t>prepare(4.1),</a:t>
            </a:r>
            <a:r>
              <a:rPr lang="zh-CN" altLang="en-US" sz="1200" b="0" i="0" kern="1200" dirty="0">
                <a:solidFill>
                  <a:schemeClr val="tx1"/>
                </a:solidFill>
                <a:effectLst/>
                <a:latin typeface="+mn-lt"/>
                <a:ea typeface="+mn-ea"/>
                <a:cs typeface="+mn-cs"/>
              </a:rPr>
              <a:t>幷在</a:t>
            </a:r>
            <a:r>
              <a:rPr lang="en-US" altLang="zh-CN" sz="1200" b="0" i="0" kern="1200" dirty="0">
                <a:solidFill>
                  <a:schemeClr val="tx1"/>
                </a:solidFill>
                <a:effectLst/>
                <a:latin typeface="+mn-lt"/>
                <a:ea typeface="+mn-ea"/>
                <a:cs typeface="+mn-cs"/>
              </a:rPr>
              <a:t>S1</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S2</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S3</a:t>
            </a:r>
            <a:r>
              <a:rPr lang="zh-CN" altLang="en-US" sz="1200" b="0" i="0" kern="1200" dirty="0">
                <a:solidFill>
                  <a:schemeClr val="tx1"/>
                </a:solidFill>
                <a:effectLst/>
                <a:latin typeface="+mn-lt"/>
                <a:ea typeface="+mn-ea"/>
                <a:cs typeface="+mn-cs"/>
              </a:rPr>
              <a:t>達成多數派</a:t>
            </a:r>
            <a:br>
              <a:rPr lang="zh-CN" altLang="en-US" dirty="0"/>
            </a:br>
            <a:r>
              <a:rPr lang="en-US" altLang="zh-CN" sz="1200" b="0" i="0" kern="1200" dirty="0">
                <a:solidFill>
                  <a:schemeClr val="tx1"/>
                </a:solidFill>
                <a:effectLst/>
                <a:latin typeface="+mn-lt"/>
                <a:ea typeface="+mn-ea"/>
                <a:cs typeface="+mn-cs"/>
              </a:rPr>
              <a:t>5.S5</a:t>
            </a:r>
            <a:r>
              <a:rPr lang="zh-CN" altLang="en-US" sz="1200" b="0" i="0" kern="1200" dirty="0">
                <a:solidFill>
                  <a:schemeClr val="tx1"/>
                </a:solidFill>
                <a:effectLst/>
                <a:latin typeface="+mn-lt"/>
                <a:ea typeface="+mn-ea"/>
                <a:cs typeface="+mn-cs"/>
              </a:rPr>
              <a:t>發起</a:t>
            </a:r>
            <a:r>
              <a:rPr lang="en-US" altLang="zh-CN" sz="1200" b="0" i="0" kern="1200" dirty="0" err="1">
                <a:solidFill>
                  <a:schemeClr val="tx1"/>
                </a:solidFill>
                <a:effectLst/>
                <a:latin typeface="+mn-lt"/>
                <a:ea typeface="+mn-ea"/>
                <a:cs typeface="+mn-cs"/>
              </a:rPr>
              <a:t>accpet</a:t>
            </a:r>
            <a:r>
              <a:rPr lang="en-US" altLang="zh-CN" sz="1200" b="0" i="0" kern="1200" dirty="0">
                <a:solidFill>
                  <a:schemeClr val="tx1"/>
                </a:solidFill>
                <a:effectLst/>
                <a:latin typeface="+mn-lt"/>
                <a:ea typeface="+mn-ea"/>
                <a:cs typeface="+mn-cs"/>
              </a:rPr>
              <a:t>(3.5,value5)</a:t>
            </a:r>
            <a:r>
              <a:rPr lang="zh-CN" altLang="en-US" sz="1200" b="0" i="0" kern="1200" dirty="0">
                <a:solidFill>
                  <a:schemeClr val="tx1"/>
                </a:solidFill>
                <a:effectLst/>
                <a:latin typeface="+mn-lt"/>
                <a:ea typeface="+mn-ea"/>
                <a:cs typeface="+mn-cs"/>
              </a:rPr>
              <a:t>，由于</a:t>
            </a:r>
            <a:r>
              <a:rPr lang="en-US" altLang="zh-CN" sz="1200" b="0" i="0" kern="1200" dirty="0">
                <a:solidFill>
                  <a:schemeClr val="tx1"/>
                </a:solidFill>
                <a:effectLst/>
                <a:latin typeface="+mn-lt"/>
                <a:ea typeface="+mn-ea"/>
                <a:cs typeface="+mn-cs"/>
              </a:rPr>
              <a:t>S3</a:t>
            </a:r>
            <a:r>
              <a:rPr lang="zh-CN" altLang="en-US" sz="1200" b="0" i="0" kern="1200" dirty="0">
                <a:solidFill>
                  <a:schemeClr val="tx1"/>
                </a:solidFill>
                <a:effectLst/>
                <a:latin typeface="+mn-lt"/>
                <a:ea typeface="+mn-ea"/>
                <a:cs typeface="+mn-cs"/>
              </a:rPr>
              <a:t>上提議</a:t>
            </a:r>
            <a:r>
              <a:rPr lang="en-US" altLang="zh-CN" sz="1200" b="0" i="0" kern="1200" dirty="0">
                <a:solidFill>
                  <a:schemeClr val="tx1"/>
                </a:solidFill>
                <a:effectLst/>
                <a:latin typeface="+mn-lt"/>
                <a:ea typeface="+mn-ea"/>
                <a:cs typeface="+mn-cs"/>
              </a:rPr>
              <a:t>4.1&gt;3.5</a:t>
            </a:r>
            <a:r>
              <a:rPr lang="zh-CN" altLang="en-US" sz="1200" b="0" i="0" kern="1200" dirty="0">
                <a:solidFill>
                  <a:schemeClr val="tx1"/>
                </a:solidFill>
                <a:effectLst/>
                <a:latin typeface="+mn-lt"/>
                <a:ea typeface="+mn-ea"/>
                <a:cs typeface="+mn-cs"/>
              </a:rPr>
              <a:t>，導致</a:t>
            </a:r>
            <a:r>
              <a:rPr lang="en-US" altLang="zh-CN" sz="1200" b="0" i="0" kern="1200" dirty="0">
                <a:solidFill>
                  <a:schemeClr val="tx1"/>
                </a:solidFill>
                <a:effectLst/>
                <a:latin typeface="+mn-lt"/>
                <a:ea typeface="+mn-ea"/>
                <a:cs typeface="+mn-cs"/>
              </a:rPr>
              <a:t>accept</a:t>
            </a:r>
            <a:r>
              <a:rPr lang="zh-CN" altLang="en-US" sz="1200" b="0" i="0" kern="1200" dirty="0">
                <a:solidFill>
                  <a:schemeClr val="tx1"/>
                </a:solidFill>
                <a:effectLst/>
                <a:latin typeface="+mn-lt"/>
                <a:ea typeface="+mn-ea"/>
                <a:cs typeface="+mn-cs"/>
              </a:rPr>
              <a:t>請求無法達成多數派，</a:t>
            </a:r>
            <a:r>
              <a:rPr lang="en-US" altLang="zh-CN" sz="1200" b="0" i="0" kern="1200" dirty="0">
                <a:solidFill>
                  <a:schemeClr val="tx1"/>
                </a:solidFill>
                <a:effectLst/>
                <a:latin typeface="+mn-lt"/>
                <a:ea typeface="+mn-ea"/>
                <a:cs typeface="+mn-cs"/>
              </a:rPr>
              <a:t>S5</a:t>
            </a:r>
            <a:r>
              <a:rPr lang="zh-CN" altLang="en-US" sz="1200" b="0" i="0" kern="1200" dirty="0">
                <a:solidFill>
                  <a:schemeClr val="tx1"/>
                </a:solidFill>
                <a:effectLst/>
                <a:latin typeface="+mn-lt"/>
                <a:ea typeface="+mn-ea"/>
                <a:cs typeface="+mn-cs"/>
              </a:rPr>
              <a:t>嘗試重新生成提議</a:t>
            </a:r>
            <a:br>
              <a:rPr lang="zh-CN" altLang="en-US" dirty="0"/>
            </a:br>
            <a:r>
              <a:rPr lang="en-US" altLang="zh-CN" sz="1200" b="0" i="0" kern="1200" dirty="0">
                <a:solidFill>
                  <a:schemeClr val="tx1"/>
                </a:solidFill>
                <a:effectLst/>
                <a:latin typeface="+mn-lt"/>
                <a:ea typeface="+mn-ea"/>
                <a:cs typeface="+mn-cs"/>
              </a:rPr>
              <a:t>6.S5</a:t>
            </a:r>
            <a:r>
              <a:rPr lang="zh-CN" altLang="en-US" sz="1200" b="0" i="0" kern="1200" dirty="0">
                <a:solidFill>
                  <a:schemeClr val="tx1"/>
                </a:solidFill>
                <a:effectLst/>
                <a:latin typeface="+mn-lt"/>
                <a:ea typeface="+mn-ea"/>
                <a:cs typeface="+mn-cs"/>
              </a:rPr>
              <a:t>發起</a:t>
            </a:r>
            <a:r>
              <a:rPr lang="en-US" altLang="zh-CN" sz="1200" b="0" i="0" kern="1200" dirty="0">
                <a:solidFill>
                  <a:schemeClr val="tx1"/>
                </a:solidFill>
                <a:effectLst/>
                <a:latin typeface="+mn-lt"/>
                <a:ea typeface="+mn-ea"/>
                <a:cs typeface="+mn-cs"/>
              </a:rPr>
              <a:t>prepare(5.5),</a:t>
            </a:r>
            <a:r>
              <a:rPr lang="zh-CN" altLang="en-US" sz="1200" b="0" i="0" kern="1200" dirty="0">
                <a:solidFill>
                  <a:schemeClr val="tx1"/>
                </a:solidFill>
                <a:effectLst/>
                <a:latin typeface="+mn-lt"/>
                <a:ea typeface="+mn-ea"/>
                <a:cs typeface="+mn-cs"/>
              </a:rPr>
              <a:t>幷在</a:t>
            </a:r>
            <a:r>
              <a:rPr lang="en-US" altLang="zh-CN" sz="1200" b="0" i="0" kern="1200" dirty="0">
                <a:solidFill>
                  <a:schemeClr val="tx1"/>
                </a:solidFill>
                <a:effectLst/>
                <a:latin typeface="+mn-lt"/>
                <a:ea typeface="+mn-ea"/>
                <a:cs typeface="+mn-cs"/>
              </a:rPr>
              <a:t>S3,S4</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S5</a:t>
            </a:r>
            <a:r>
              <a:rPr lang="zh-CN" altLang="en-US" sz="1200" b="0" i="0" kern="1200" dirty="0">
                <a:solidFill>
                  <a:schemeClr val="tx1"/>
                </a:solidFill>
                <a:effectLst/>
                <a:latin typeface="+mn-lt"/>
                <a:ea typeface="+mn-ea"/>
                <a:cs typeface="+mn-cs"/>
              </a:rPr>
              <a:t>達成多數派，導致後續的</a:t>
            </a:r>
            <a:r>
              <a:rPr lang="en-US" altLang="zh-CN" sz="1200" b="0" i="0" kern="1200" dirty="0">
                <a:solidFill>
                  <a:schemeClr val="tx1"/>
                </a:solidFill>
                <a:effectLst/>
                <a:latin typeface="+mn-lt"/>
                <a:ea typeface="+mn-ea"/>
                <a:cs typeface="+mn-cs"/>
              </a:rPr>
              <a:t>S1</a:t>
            </a:r>
            <a:r>
              <a:rPr lang="zh-CN" altLang="en-US" sz="1200" b="0" i="0" kern="1200" dirty="0">
                <a:solidFill>
                  <a:schemeClr val="tx1"/>
                </a:solidFill>
                <a:effectLst/>
                <a:latin typeface="+mn-lt"/>
                <a:ea typeface="+mn-ea"/>
                <a:cs typeface="+mn-cs"/>
              </a:rPr>
              <a:t>發起的</a:t>
            </a:r>
            <a:r>
              <a:rPr lang="en-US" altLang="zh-CN" sz="1200" b="0" i="0" kern="1200" dirty="0">
                <a:solidFill>
                  <a:schemeClr val="tx1"/>
                </a:solidFill>
                <a:effectLst/>
                <a:latin typeface="+mn-lt"/>
                <a:ea typeface="+mn-ea"/>
                <a:cs typeface="+mn-cs"/>
              </a:rPr>
              <a:t>accept(4.1,value1)</a:t>
            </a:r>
            <a:r>
              <a:rPr lang="zh-CN" altLang="en-US" sz="1200" b="0" i="0" kern="1200" dirty="0">
                <a:solidFill>
                  <a:schemeClr val="tx1"/>
                </a:solidFill>
                <a:effectLst/>
                <a:latin typeface="+mn-lt"/>
                <a:ea typeface="+mn-ea"/>
                <a:cs typeface="+mn-cs"/>
              </a:rPr>
              <a:t>失敗</a:t>
            </a:r>
            <a:endParaRPr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66</a:t>
            </a:fld>
            <a:endParaRPr kumimoji="1" lang="zh-CN" altLang="en-US" dirty="0"/>
          </a:p>
        </p:txBody>
      </p:sp>
    </p:spTree>
    <p:extLst>
      <p:ext uri="{BB962C8B-B14F-4D97-AF65-F5344CB8AC3E}">
        <p14:creationId xmlns:p14="http://schemas.microsoft.com/office/powerpoint/2010/main" val="24863421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67</a:t>
            </a:fld>
            <a:endParaRPr kumimoji="1" lang="zh-CN" altLang="en-US" dirty="0"/>
          </a:p>
        </p:txBody>
      </p:sp>
    </p:spTree>
    <p:extLst>
      <p:ext uri="{BB962C8B-B14F-4D97-AF65-F5344CB8AC3E}">
        <p14:creationId xmlns:p14="http://schemas.microsoft.com/office/powerpoint/2010/main" val="326254013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事實上，</a:t>
            </a:r>
            <a:r>
              <a:rPr lang="en-US" altLang="zh-CN" dirty="0"/>
              <a:t>Lamport</a:t>
            </a:r>
            <a:r>
              <a:rPr lang="zh-CN" altLang="en-US" dirty="0"/>
              <a:t>早期爲了回應大家所說的</a:t>
            </a:r>
            <a:r>
              <a:rPr lang="en-US" altLang="zh-CN" dirty="0" err="1"/>
              <a:t>paxos</a:t>
            </a:r>
            <a:r>
              <a:rPr lang="zh-CN" altLang="en-US" dirty="0"/>
              <a:t>難理解，親自寫了篇</a:t>
            </a:r>
            <a:r>
              <a:rPr lang="en-US" altLang="zh-CN" dirty="0"/>
              <a:t>Paxos Made Simple</a:t>
            </a:r>
            <a:endParaRPr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68</a:t>
            </a:fld>
            <a:endParaRPr kumimoji="1" lang="zh-CN" altLang="en-US" dirty="0"/>
          </a:p>
        </p:txBody>
      </p:sp>
    </p:spTree>
    <p:extLst>
      <p:ext uri="{BB962C8B-B14F-4D97-AF65-F5344CB8AC3E}">
        <p14:creationId xmlns:p14="http://schemas.microsoft.com/office/powerpoint/2010/main" val="15701352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69</a:t>
            </a:fld>
            <a:endParaRPr kumimoji="1" lang="zh-CN" altLang="en-US" dirty="0"/>
          </a:p>
        </p:txBody>
      </p:sp>
    </p:spTree>
    <p:extLst>
      <p:ext uri="{BB962C8B-B14F-4D97-AF65-F5344CB8AC3E}">
        <p14:creationId xmlns:p14="http://schemas.microsoft.com/office/powerpoint/2010/main" val="35349352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70</a:t>
            </a:fld>
            <a:endParaRPr kumimoji="1" lang="zh-CN" altLang="en-US" dirty="0"/>
          </a:p>
        </p:txBody>
      </p:sp>
    </p:spTree>
    <p:extLst>
      <p:ext uri="{BB962C8B-B14F-4D97-AF65-F5344CB8AC3E}">
        <p14:creationId xmlns:p14="http://schemas.microsoft.com/office/powerpoint/2010/main" val="74417019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71</a:t>
            </a:fld>
            <a:endParaRPr kumimoji="1" lang="zh-CN" altLang="en-US" dirty="0"/>
          </a:p>
        </p:txBody>
      </p:sp>
    </p:spTree>
    <p:extLst>
      <p:ext uri="{BB962C8B-B14F-4D97-AF65-F5344CB8AC3E}">
        <p14:creationId xmlns:p14="http://schemas.microsoft.com/office/powerpoint/2010/main" val="51452350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72</a:t>
            </a:fld>
            <a:endParaRPr kumimoji="1" lang="zh-CN" altLang="en-US" dirty="0"/>
          </a:p>
        </p:txBody>
      </p:sp>
    </p:spTree>
    <p:extLst>
      <p:ext uri="{BB962C8B-B14F-4D97-AF65-F5344CB8AC3E}">
        <p14:creationId xmlns:p14="http://schemas.microsoft.com/office/powerpoint/2010/main" val="42220439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73</a:t>
            </a:fld>
            <a:endParaRPr kumimoji="1" lang="zh-CN" altLang="en-US" dirty="0"/>
          </a:p>
        </p:txBody>
      </p:sp>
    </p:spTree>
    <p:extLst>
      <p:ext uri="{BB962C8B-B14F-4D97-AF65-F5344CB8AC3E}">
        <p14:creationId xmlns:p14="http://schemas.microsoft.com/office/powerpoint/2010/main" val="144758988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海濱</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74</a:t>
            </a:fld>
            <a:endParaRPr kumimoji="1" lang="zh-CN" altLang="en-US" dirty="0"/>
          </a:p>
        </p:txBody>
      </p:sp>
    </p:spTree>
    <p:extLst>
      <p:ext uri="{BB962C8B-B14F-4D97-AF65-F5344CB8AC3E}">
        <p14:creationId xmlns:p14="http://schemas.microsoft.com/office/powerpoint/2010/main" val="249335071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75</a:t>
            </a:fld>
            <a:endParaRPr kumimoji="1" lang="zh-CN" altLang="en-US" dirty="0"/>
          </a:p>
        </p:txBody>
      </p:sp>
    </p:spTree>
    <p:extLst>
      <p:ext uri="{BB962C8B-B14F-4D97-AF65-F5344CB8AC3E}">
        <p14:creationId xmlns:p14="http://schemas.microsoft.com/office/powerpoint/2010/main" val="281311945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79</a:t>
            </a:fld>
            <a:endParaRPr kumimoji="1" lang="zh-CN" altLang="en-US" dirty="0"/>
          </a:p>
        </p:txBody>
      </p:sp>
    </p:spTree>
    <p:extLst>
      <p:ext uri="{BB962C8B-B14F-4D97-AF65-F5344CB8AC3E}">
        <p14:creationId xmlns:p14="http://schemas.microsoft.com/office/powerpoint/2010/main" val="269391531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90</a:t>
            </a:fld>
            <a:endParaRPr kumimoji="1" lang="zh-CN" altLang="en-US" dirty="0"/>
          </a:p>
        </p:txBody>
      </p:sp>
    </p:spTree>
    <p:extLst>
      <p:ext uri="{BB962C8B-B14F-4D97-AF65-F5344CB8AC3E}">
        <p14:creationId xmlns:p14="http://schemas.microsoft.com/office/powerpoint/2010/main" val="406388294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91</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31193226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92</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63508048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假設</a:t>
            </a:r>
            <a:r>
              <a:rPr kumimoji="1" lang="en-US" altLang="zh-CN" dirty="0"/>
              <a:t>A</a:t>
            </a:r>
            <a:r>
              <a:rPr kumimoji="1" lang="zh-CN" altLang="en-US" dirty="0"/>
              <a:t>軍和</a:t>
            </a:r>
            <a:r>
              <a:rPr kumimoji="1" lang="en-US" altLang="zh-CN" dirty="0"/>
              <a:t>B</a:t>
            </a:r>
            <a:r>
              <a:rPr kumimoji="1" lang="zh-CN" altLang="en-US" dirty="0"/>
              <a:t>軍互相確認了</a:t>
            </a:r>
            <a:r>
              <a:rPr kumimoji="1" lang="en-US" altLang="zh-CN" dirty="0"/>
              <a:t>50</a:t>
            </a:r>
            <a:r>
              <a:rPr kumimoji="1" lang="zh-CN" altLang="en-US" dirty="0"/>
              <a:t>輪，此時按題主所說，</a:t>
            </a:r>
            <a:r>
              <a:rPr kumimoji="1" lang="en-US" altLang="zh-CN" dirty="0"/>
              <a:t>AB</a:t>
            </a:r>
            <a:r>
              <a:rPr kumimoji="1" lang="zh-CN" altLang="en-US" dirty="0"/>
              <a:t>雙方對于“對方到底收沒收到進攻消息”確實早已一目了然，但這却不足以解决兩軍問題。</a:t>
            </a:r>
            <a:endParaRPr kumimoji="1" lang="en-US" altLang="zh-CN" dirty="0"/>
          </a:p>
          <a:p>
            <a:r>
              <a:rPr kumimoji="1" lang="zh-CN" altLang="en-US" dirty="0"/>
              <a:t>事實上在第一次消息來回之後，“對方到底收沒收到進攻消息”這一知識已經能被雙方所確認：</a:t>
            </a:r>
            <a:r>
              <a:rPr kumimoji="1" lang="en-US" altLang="zh-CN" dirty="0"/>
              <a:t>A</a:t>
            </a:r>
            <a:r>
              <a:rPr kumimoji="1" lang="zh-CN" altLang="en-US" dirty="0"/>
              <a:t>知道</a:t>
            </a:r>
            <a:r>
              <a:rPr kumimoji="1" lang="en-US" altLang="zh-CN" dirty="0"/>
              <a:t>B</a:t>
            </a:r>
            <a:r>
              <a:rPr kumimoji="1" lang="zh-CN" altLang="en-US" dirty="0"/>
              <a:t>掌握了進攻的時間，</a:t>
            </a:r>
            <a:r>
              <a:rPr kumimoji="1" lang="en-US" altLang="zh-CN" dirty="0"/>
              <a:t>B</a:t>
            </a:r>
            <a:r>
              <a:rPr kumimoji="1" lang="zh-CN" altLang="en-US" dirty="0"/>
              <a:t>當然也知道</a:t>
            </a:r>
            <a:r>
              <a:rPr kumimoji="1" lang="en-US" altLang="zh-CN" dirty="0"/>
              <a:t>A</a:t>
            </a:r>
            <a:r>
              <a:rPr kumimoji="1" lang="zh-CN" altLang="en-US" dirty="0"/>
              <a:t>掌握了進攻的時間。然而這幷不足以給予雙方</a:t>
            </a:r>
            <a:r>
              <a:rPr kumimoji="1" lang="en-US" altLang="zh-CN" dirty="0"/>
              <a:t>100%</a:t>
            </a:r>
            <a:r>
              <a:rPr kumimoji="1" lang="zh-CN" altLang="en-US" dirty="0"/>
              <a:t>的信心來發動進攻，因爲</a:t>
            </a:r>
            <a:r>
              <a:rPr kumimoji="1" lang="en-US" altLang="zh-CN" dirty="0"/>
              <a:t>A</a:t>
            </a:r>
            <a:r>
              <a:rPr kumimoji="1" lang="zh-CN" altLang="en-US" dirty="0"/>
              <a:t>和</a:t>
            </a:r>
            <a:r>
              <a:rPr kumimoji="1" lang="en-US" altLang="zh-CN" dirty="0"/>
              <a:t>B</a:t>
            </a:r>
            <a:r>
              <a:rPr kumimoji="1" lang="zh-CN" altLang="en-US" dirty="0"/>
              <a:t>還需要掌握更多”關于知識的知識“，比如：</a:t>
            </a:r>
            <a:r>
              <a:rPr kumimoji="1" lang="en-US" altLang="zh-CN" dirty="0"/>
              <a:t>B</a:t>
            </a:r>
            <a:r>
              <a:rPr kumimoji="1" lang="zh-CN" altLang="en-US" dirty="0"/>
              <a:t>需要確定</a:t>
            </a:r>
            <a:r>
              <a:rPr kumimoji="1" lang="en-US" altLang="zh-CN" dirty="0"/>
              <a:t>A</a:t>
            </a:r>
            <a:r>
              <a:rPr kumimoji="1" lang="zh-CN" altLang="en-US" dirty="0"/>
              <a:t>瞭解了”</a:t>
            </a:r>
            <a:r>
              <a:rPr kumimoji="1" lang="en-US" altLang="zh-CN" dirty="0"/>
              <a:t>B</a:t>
            </a:r>
            <a:r>
              <a:rPr kumimoji="1" lang="zh-CN" altLang="en-US" dirty="0"/>
              <a:t>已經掌握進攻時間“，畢竟如果</a:t>
            </a:r>
            <a:r>
              <a:rPr kumimoji="1" lang="en-US" altLang="zh-CN" dirty="0"/>
              <a:t>B</a:t>
            </a:r>
            <a:r>
              <a:rPr kumimoji="1" lang="zh-CN" altLang="en-US" dirty="0"/>
              <a:t>的確認消息丟失，</a:t>
            </a:r>
            <a:r>
              <a:rPr kumimoji="1" lang="en-US" altLang="zh-CN" dirty="0"/>
              <a:t>A</a:t>
            </a:r>
            <a:r>
              <a:rPr kumimoji="1" lang="zh-CN" altLang="en-US" dirty="0"/>
              <a:t>就不能確認</a:t>
            </a:r>
            <a:r>
              <a:rPr kumimoji="1" lang="en-US" altLang="zh-CN" dirty="0"/>
              <a:t>B</a:t>
            </a:r>
            <a:r>
              <a:rPr kumimoji="1" lang="zh-CN" altLang="en-US" dirty="0"/>
              <a:t>是否已經得知了進攻時間，也就不會發起進攻。爲此，</a:t>
            </a:r>
            <a:r>
              <a:rPr kumimoji="1" lang="en-US" altLang="zh-CN" dirty="0"/>
              <a:t>A</a:t>
            </a:r>
            <a:r>
              <a:rPr kumimoji="1" lang="zh-CN" altLang="en-US" dirty="0"/>
              <a:t>不得不再次發送一個關于”確認消息“的確認消息給</a:t>
            </a:r>
            <a:r>
              <a:rPr kumimoji="1" lang="en-US" altLang="zh-CN" dirty="0"/>
              <a:t>B </a:t>
            </a:r>
            <a:r>
              <a:rPr kumimoji="1" lang="zh-CN" altLang="en-US" dirty="0"/>
              <a:t>再進一步，</a:t>
            </a:r>
            <a:r>
              <a:rPr kumimoji="1" lang="en-US" altLang="zh-CN" dirty="0"/>
              <a:t>A</a:t>
            </a:r>
            <a:r>
              <a:rPr kumimoji="1" lang="zh-CN" altLang="en-US" dirty="0"/>
              <a:t>還需要得知</a:t>
            </a:r>
            <a:r>
              <a:rPr kumimoji="1" lang="en-US" altLang="zh-CN" dirty="0"/>
              <a:t>B</a:t>
            </a:r>
            <a:r>
              <a:rPr kumimoji="1" lang="zh-CN" altLang="en-US" dirty="0"/>
              <a:t>已經掌握了自己上一個確認消息所確認的知識，即“</a:t>
            </a:r>
            <a:r>
              <a:rPr kumimoji="1" lang="en-US" altLang="zh-CN" dirty="0"/>
              <a:t>A</a:t>
            </a:r>
            <a:r>
              <a:rPr kumimoji="1" lang="zh-CN" altLang="en-US" dirty="0"/>
              <a:t>已瞭解</a:t>
            </a:r>
            <a:r>
              <a:rPr kumimoji="1" lang="en-US" altLang="zh-CN" dirty="0"/>
              <a:t>B</a:t>
            </a:r>
            <a:r>
              <a:rPr kumimoji="1" lang="zh-CN" altLang="en-US" dirty="0"/>
              <a:t>已經掌握進攻時間“，所以</a:t>
            </a:r>
            <a:r>
              <a:rPr kumimoji="1" lang="en-US" altLang="zh-CN" dirty="0"/>
              <a:t>B</a:t>
            </a:r>
            <a:r>
              <a:rPr kumimoji="1" lang="zh-CN" altLang="en-US" dirty="0"/>
              <a:t>需要再次對</a:t>
            </a:r>
            <a:r>
              <a:rPr kumimoji="1" lang="en-US" altLang="zh-CN" dirty="0"/>
              <a:t>A</a:t>
            </a:r>
            <a:r>
              <a:rPr kumimoji="1" lang="zh-CN" altLang="en-US" dirty="0"/>
              <a:t>的關于”確認消息“的確認消息進行確認，即再發一個確認給</a:t>
            </a:r>
            <a:r>
              <a:rPr kumimoji="1" lang="en-US" altLang="zh-CN" dirty="0"/>
              <a:t>A </a:t>
            </a:r>
            <a:r>
              <a:rPr kumimoji="1" lang="zh-CN" altLang="en-US" dirty="0"/>
              <a:t>如此循環確認下去以至無窮。</a:t>
            </a:r>
            <a:endParaRPr kumimoji="1" lang="en-US" altLang="zh-CN" dirty="0"/>
          </a:p>
          <a:p>
            <a:r>
              <a:rPr kumimoji="1" lang="zh-CN" altLang="en-US" dirty="0"/>
              <a:t>這裏的關鍵在于後續的確認消息幷非對是對“進攻消息”本身的確認，而是對于“進攻消息的確認的確認的確認</a:t>
            </a:r>
            <a:r>
              <a:rPr kumimoji="1" lang="en-US" altLang="zh-CN" dirty="0"/>
              <a:t>…“</a:t>
            </a:r>
            <a:r>
              <a:rPr kumimoji="1" lang="zh-CN" altLang="en-US" dirty="0"/>
              <a:t>這些更高階知識的確認。一旦開始追求這種高階知識就無法停下來了，畢竟沒有理由只需要得知”關于知識的知識的</a:t>
            </a:r>
            <a:r>
              <a:rPr kumimoji="1" lang="en-US" altLang="zh-CN" dirty="0"/>
              <a:t>…</a:t>
            </a:r>
            <a:r>
              <a:rPr kumimoji="1" lang="zh-CN" altLang="en-US" dirty="0"/>
              <a:t>（循環</a:t>
            </a:r>
            <a:r>
              <a:rPr kumimoji="1" lang="en-US" altLang="zh-CN" dirty="0"/>
              <a:t>N</a:t>
            </a:r>
            <a:r>
              <a:rPr kumimoji="1" lang="zh-CN" altLang="en-US" dirty="0"/>
              <a:t>次）知識“，却不需要進一步得知”關于知識的知識的</a:t>
            </a:r>
            <a:r>
              <a:rPr kumimoji="1" lang="en-US" altLang="zh-CN" dirty="0"/>
              <a:t>…</a:t>
            </a:r>
            <a:r>
              <a:rPr kumimoji="1" lang="zh-CN" altLang="en-US" dirty="0"/>
              <a:t>（循環</a:t>
            </a:r>
            <a:r>
              <a:rPr kumimoji="1" lang="en-US" altLang="zh-CN" dirty="0"/>
              <a:t>N+1</a:t>
            </a:r>
            <a:r>
              <a:rPr kumimoji="1" lang="zh-CN" altLang="en-US" dirty="0"/>
              <a:t>次）知識“。所有這些高階知識加在一起就構成了所謂“共同知識”（</a:t>
            </a:r>
            <a:r>
              <a:rPr kumimoji="1" lang="en-US" altLang="zh-CN" dirty="0"/>
              <a:t>common knowledge</a:t>
            </a:r>
            <a:r>
              <a:rPr kumimoji="1" lang="zh-CN" altLang="en-US" dirty="0"/>
              <a:t>）。對于兩軍問題而言</a:t>
            </a:r>
            <a:r>
              <a:rPr kumimoji="1" lang="en-US" altLang="zh-CN" dirty="0"/>
              <a:t>common knowledge</a:t>
            </a:r>
            <a:r>
              <a:rPr kumimoji="1" lang="zh-CN" altLang="en-US" dirty="0"/>
              <a:t>是必要的，而</a:t>
            </a:r>
            <a:r>
              <a:rPr kumimoji="1" lang="en-US" altLang="zh-CN" dirty="0"/>
              <a:t>common knowledge</a:t>
            </a:r>
            <a:r>
              <a:rPr kumimoji="1" lang="zh-CN" altLang="en-US" dirty="0"/>
              <a:t>這一概念的定義本身就是無窮遞歸的，因此按照上述方案來實現</a:t>
            </a:r>
            <a:r>
              <a:rPr kumimoji="1" lang="en-US" altLang="zh-CN" dirty="0"/>
              <a:t>common knowledge</a:t>
            </a:r>
            <a:r>
              <a:rPr kumimoji="1" lang="zh-CN" altLang="en-US" dirty="0"/>
              <a:t>就不得不陷入題主所說的“無限迭代過程”。</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93</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79929626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94</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79605396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95</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80644942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99</a:t>
            </a:fld>
            <a:endParaRPr kumimoji="1" lang="zh-CN" altLang="en-US" dirty="0"/>
          </a:p>
        </p:txBody>
      </p:sp>
    </p:spTree>
    <p:extLst>
      <p:ext uri="{BB962C8B-B14F-4D97-AF65-F5344CB8AC3E}">
        <p14:creationId xmlns:p14="http://schemas.microsoft.com/office/powerpoint/2010/main" val="170960141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100</a:t>
            </a:fld>
            <a:endParaRPr kumimoji="1" lang="zh-CN" altLang="en-US" dirty="0"/>
          </a:p>
        </p:txBody>
      </p:sp>
    </p:spTree>
    <p:extLst>
      <p:ext uri="{BB962C8B-B14F-4D97-AF65-F5344CB8AC3E}">
        <p14:creationId xmlns:p14="http://schemas.microsoft.com/office/powerpoint/2010/main" val="96046358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101</a:t>
            </a:fld>
            <a:endParaRPr kumimoji="1" lang="zh-CN" altLang="en-US" dirty="0"/>
          </a:p>
        </p:txBody>
      </p:sp>
    </p:spTree>
    <p:extLst>
      <p:ext uri="{BB962C8B-B14F-4D97-AF65-F5344CB8AC3E}">
        <p14:creationId xmlns:p14="http://schemas.microsoft.com/office/powerpoint/2010/main" val="22666389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102</a:t>
            </a:fld>
            <a:endParaRPr kumimoji="1" lang="zh-CN" altLang="en-US" dirty="0"/>
          </a:p>
        </p:txBody>
      </p:sp>
    </p:spTree>
    <p:extLst>
      <p:ext uri="{BB962C8B-B14F-4D97-AF65-F5344CB8AC3E}">
        <p14:creationId xmlns:p14="http://schemas.microsoft.com/office/powerpoint/2010/main" val="397111074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F378FDA-5675-7149-9D9B-9E76C3CDB022}" type="slidenum">
              <a:rPr kumimoji="1" lang="zh-CN" altLang="en-US" smtClean="0"/>
              <a:t>103</a:t>
            </a:fld>
            <a:endParaRPr kumimoji="1" lang="zh-CN" altLang="en-US" dirty="0"/>
          </a:p>
        </p:txBody>
      </p:sp>
    </p:spTree>
    <p:extLst>
      <p:ext uri="{BB962C8B-B14F-4D97-AF65-F5344CB8AC3E}">
        <p14:creationId xmlns:p14="http://schemas.microsoft.com/office/powerpoint/2010/main" val="325379459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F378FDA-5675-7149-9D9B-9E76C3CDB022}" type="slidenum">
              <a:rPr kumimoji="1" lang="zh-CN" altLang="en-US" smtClean="0"/>
              <a:t>104</a:t>
            </a:fld>
            <a:endParaRPr kumimoji="1" lang="zh-CN" altLang="en-US" dirty="0"/>
          </a:p>
        </p:txBody>
      </p:sp>
    </p:spTree>
    <p:extLst>
      <p:ext uri="{BB962C8B-B14F-4D97-AF65-F5344CB8AC3E}">
        <p14:creationId xmlns:p14="http://schemas.microsoft.com/office/powerpoint/2010/main" val="234591073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F378FDA-5675-7149-9D9B-9E76C3CDB022}"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106</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99473489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F378FDA-5675-7149-9D9B-9E76C3CDB022}"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107</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76736952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F378FDA-5675-7149-9D9B-9E76C3CDB022}"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108</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20901397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A448CA78-7E42-4BC0-BED3-94CF2210A2F9}" type="slidenum">
              <a:rPr lang="zh-CN" altLang="en-US" smtClean="0"/>
              <a:pPr>
                <a:defRPr/>
              </a:pPr>
              <a:t>109</a:t>
            </a:fld>
            <a:endParaRPr lang="en-US" altLang="zh-CN" dirty="0"/>
          </a:p>
        </p:txBody>
      </p:sp>
    </p:spTree>
    <p:extLst>
      <p:ext uri="{BB962C8B-B14F-4D97-AF65-F5344CB8AC3E}">
        <p14:creationId xmlns:p14="http://schemas.microsoft.com/office/powerpoint/2010/main" val="323703140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110</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47311236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116</a:t>
            </a:fld>
            <a:endParaRPr kumimoji="1" lang="zh-CN" altLang="en-US" dirty="0"/>
          </a:p>
        </p:txBody>
      </p:sp>
    </p:spTree>
    <p:extLst>
      <p:ext uri="{BB962C8B-B14F-4D97-AF65-F5344CB8AC3E}">
        <p14:creationId xmlns:p14="http://schemas.microsoft.com/office/powerpoint/2010/main" val="47023788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i="0" kern="1200" dirty="0">
                <a:solidFill>
                  <a:schemeClr val="tx1"/>
                </a:solidFill>
                <a:effectLst/>
                <a:latin typeface="+mn-lt"/>
                <a:ea typeface="+mn-ea"/>
                <a:cs typeface="+mn-cs"/>
              </a:rPr>
              <a:t>芭芭拉</a:t>
            </a:r>
            <a:r>
              <a:rPr lang="en-US" altLang="zh-CN" sz="1200" b="1"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利斯科夫</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1939</a:t>
            </a:r>
            <a:r>
              <a:rPr lang="zh-CN" altLang="en-US" sz="1200" b="0" i="0" kern="1200" dirty="0">
                <a:solidFill>
                  <a:schemeClr val="tx1"/>
                </a:solidFill>
                <a:effectLst/>
                <a:latin typeface="+mn-lt"/>
                <a:ea typeface="+mn-ea"/>
                <a:cs typeface="+mn-cs"/>
              </a:rPr>
              <a:t>年</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），本名</a:t>
            </a:r>
            <a:r>
              <a:rPr lang="en-US" altLang="zh-CN" sz="1200" b="0" i="0" kern="1200" dirty="0">
                <a:solidFill>
                  <a:schemeClr val="tx1"/>
                </a:solidFill>
                <a:effectLst/>
                <a:latin typeface="+mn-lt"/>
                <a:ea typeface="+mn-ea"/>
                <a:cs typeface="+mn-cs"/>
              </a:rPr>
              <a:t>Barbara Jane Huberman</a:t>
            </a:r>
            <a:r>
              <a:rPr lang="zh-CN" altLang="en-US" sz="1200" b="0" i="0" kern="1200" dirty="0">
                <a:solidFill>
                  <a:schemeClr val="tx1"/>
                </a:solidFill>
                <a:effectLst/>
                <a:latin typeface="+mn-lt"/>
                <a:ea typeface="+mn-ea"/>
                <a:cs typeface="+mn-cs"/>
              </a:rPr>
              <a:t>。美國計算機科學家，</a:t>
            </a:r>
            <a:r>
              <a:rPr lang="en-US" altLang="zh-CN" sz="1200" b="0" i="0" kern="1200" dirty="0">
                <a:solidFill>
                  <a:schemeClr val="tx1"/>
                </a:solidFill>
                <a:effectLst/>
                <a:latin typeface="+mn-lt"/>
                <a:ea typeface="+mn-ea"/>
                <a:cs typeface="+mn-cs"/>
              </a:rPr>
              <a:t>2008</a:t>
            </a:r>
            <a:r>
              <a:rPr lang="zh-CN" altLang="en-US" sz="1200" b="0" i="0" kern="1200" dirty="0">
                <a:solidFill>
                  <a:schemeClr val="tx1"/>
                </a:solidFill>
                <a:effectLst/>
                <a:latin typeface="+mn-lt"/>
                <a:ea typeface="+mn-ea"/>
                <a:cs typeface="+mn-cs"/>
              </a:rPr>
              <a:t>年圖靈獎得主，</a:t>
            </a:r>
            <a:r>
              <a:rPr lang="en-US" altLang="zh-CN" sz="1200" b="0" i="0" kern="1200" dirty="0">
                <a:solidFill>
                  <a:schemeClr val="tx1"/>
                </a:solidFill>
                <a:effectLst/>
                <a:latin typeface="+mn-lt"/>
                <a:ea typeface="+mn-ea"/>
                <a:cs typeface="+mn-cs"/>
              </a:rPr>
              <a:t>2004</a:t>
            </a:r>
            <a:r>
              <a:rPr lang="zh-CN" altLang="en-US" sz="1200" b="0" i="0" kern="1200" dirty="0">
                <a:solidFill>
                  <a:schemeClr val="tx1"/>
                </a:solidFill>
                <a:effectLst/>
                <a:latin typeface="+mn-lt"/>
                <a:ea typeface="+mn-ea"/>
                <a:cs typeface="+mn-cs"/>
              </a:rPr>
              <a:t>年約翰</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馮諾依曼獎得主。美國工程院院士，美國藝術與科學院院士。</a:t>
            </a:r>
            <a:r>
              <a:rPr lang="en-US" altLang="zh-CN" sz="1200" b="0" i="0" kern="1200" dirty="0">
                <a:solidFill>
                  <a:schemeClr val="tx1"/>
                </a:solidFill>
                <a:effectLst/>
                <a:latin typeface="+mn-lt"/>
                <a:ea typeface="+mn-ea"/>
                <a:cs typeface="+mn-cs"/>
              </a:rPr>
              <a:t>ACM</a:t>
            </a:r>
            <a:r>
              <a:rPr lang="zh-CN" altLang="en-US" sz="1200" b="0" i="0" kern="1200" dirty="0">
                <a:solidFill>
                  <a:schemeClr val="tx1"/>
                </a:solidFill>
                <a:effectLst/>
                <a:latin typeface="+mn-lt"/>
                <a:ea typeface="+mn-ea"/>
                <a:cs typeface="+mn-cs"/>
              </a:rPr>
              <a:t>會士。現任麻省理工學院電子電氣與計算機科學系教授。</a:t>
            </a:r>
            <a:br>
              <a:rPr lang="zh-CN" altLang="en-US" dirty="0"/>
            </a:br>
            <a:br>
              <a:rPr lang="zh-CN" altLang="en-US" dirty="0"/>
            </a:br>
            <a:r>
              <a:rPr lang="en-US" altLang="zh-CN" sz="1200" b="0" i="0" kern="1200" dirty="0">
                <a:solidFill>
                  <a:schemeClr val="tx1"/>
                </a:solidFill>
                <a:effectLst/>
                <a:latin typeface="+mn-lt"/>
                <a:ea typeface="+mn-ea"/>
                <a:cs typeface="+mn-cs"/>
              </a:rPr>
              <a:t>1961</a:t>
            </a:r>
            <a:r>
              <a:rPr lang="zh-CN" altLang="en-US" sz="1200" b="0" i="0" kern="1200" dirty="0">
                <a:solidFill>
                  <a:schemeClr val="tx1"/>
                </a:solidFill>
                <a:effectLst/>
                <a:latin typeface="+mn-lt"/>
                <a:ea typeface="+mn-ea"/>
                <a:cs typeface="+mn-cs"/>
              </a:rPr>
              <a:t>年在加州大學伯克利分校獲得數學學士學位。</a:t>
            </a:r>
            <a:r>
              <a:rPr lang="en-US" altLang="zh-CN" sz="1200" b="0" i="0" kern="1200" dirty="0">
                <a:solidFill>
                  <a:schemeClr val="tx1"/>
                </a:solidFill>
                <a:effectLst/>
                <a:latin typeface="+mn-lt"/>
                <a:ea typeface="+mn-ea"/>
                <a:cs typeface="+mn-cs"/>
              </a:rPr>
              <a:t>1968</a:t>
            </a:r>
            <a:r>
              <a:rPr lang="zh-CN" altLang="en-US" sz="1200" b="0" i="0" kern="1200" dirty="0">
                <a:solidFill>
                  <a:schemeClr val="tx1"/>
                </a:solidFill>
                <a:effectLst/>
                <a:latin typeface="+mn-lt"/>
                <a:ea typeface="+mn-ea"/>
                <a:cs typeface="+mn-cs"/>
              </a:rPr>
              <a:t>年在斯坦福大學獲得博士學位，她是美國第一個計算機科學女博士。導師爲</a:t>
            </a:r>
            <a:r>
              <a:rPr lang="en-US" altLang="zh-CN" sz="1200" b="0" i="0" kern="1200" dirty="0">
                <a:solidFill>
                  <a:schemeClr val="tx1"/>
                </a:solidFill>
                <a:effectLst/>
                <a:latin typeface="+mn-lt"/>
                <a:ea typeface="+mn-ea"/>
                <a:cs typeface="+mn-cs"/>
              </a:rPr>
              <a:t>1971</a:t>
            </a:r>
            <a:r>
              <a:rPr lang="zh-CN" altLang="en-US" sz="1200" b="0" i="0" kern="1200" dirty="0">
                <a:solidFill>
                  <a:schemeClr val="tx1"/>
                </a:solidFill>
                <a:effectLst/>
                <a:latin typeface="+mn-lt"/>
                <a:ea typeface="+mn-ea"/>
                <a:cs typeface="+mn-cs"/>
              </a:rPr>
              <a:t>年圖靈獎得主約翰</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麥卡錫，論文題目是國際象棋殘局程序。</a:t>
            </a:r>
            <a:br>
              <a:rPr lang="zh-CN" altLang="en-US" dirty="0"/>
            </a:br>
            <a:br>
              <a:rPr lang="zh-CN" altLang="en-US" dirty="0"/>
            </a:br>
            <a:r>
              <a:rPr lang="zh-CN" altLang="en-US" sz="1200" b="0" i="0" kern="1200" dirty="0">
                <a:solidFill>
                  <a:schemeClr val="tx1"/>
                </a:solidFill>
                <a:effectLst/>
                <a:latin typeface="+mn-lt"/>
                <a:ea typeface="+mn-ea"/>
                <a:cs typeface="+mn-cs"/>
              </a:rPr>
              <a:t>利斯科夫領導了許多重要的項目，包括小型低成本交互式的分時操作系統</a:t>
            </a:r>
            <a:r>
              <a:rPr lang="en-US" altLang="zh-CN" sz="1200" b="0" i="0" kern="1200" dirty="0">
                <a:solidFill>
                  <a:schemeClr val="tx1"/>
                </a:solidFill>
                <a:effectLst/>
                <a:latin typeface="+mn-lt"/>
                <a:ea typeface="+mn-ea"/>
                <a:cs typeface="+mn-cs"/>
              </a:rPr>
              <a:t>Venus</a:t>
            </a:r>
            <a:r>
              <a:rPr lang="zh-CN" altLang="en-US" sz="1200" b="0" i="0" kern="1200" dirty="0">
                <a:solidFill>
                  <a:schemeClr val="tx1"/>
                </a:solidFill>
                <a:effectLst/>
                <a:latin typeface="+mn-lt"/>
                <a:ea typeface="+mn-ea"/>
                <a:cs typeface="+mn-cs"/>
              </a:rPr>
              <a:t>，第一個支持數據抽象的面向對象編程語言</a:t>
            </a:r>
            <a:r>
              <a:rPr lang="en-US" altLang="zh-CN" sz="1200" b="0" i="0" kern="1200" dirty="0">
                <a:solidFill>
                  <a:schemeClr val="tx1"/>
                </a:solidFill>
                <a:effectLst/>
                <a:latin typeface="+mn-lt"/>
                <a:ea typeface="+mn-ea"/>
                <a:cs typeface="+mn-cs"/>
              </a:rPr>
              <a:t>CLU</a:t>
            </a:r>
            <a:r>
              <a:rPr lang="zh-CN" altLang="en-US" sz="1200" b="0" i="0" kern="1200" dirty="0">
                <a:solidFill>
                  <a:schemeClr val="tx1"/>
                </a:solidFill>
                <a:effectLst/>
                <a:latin typeface="+mn-lt"/>
                <a:ea typeface="+mn-ea"/>
                <a:cs typeface="+mn-cs"/>
              </a:rPr>
              <a:t>的設計與實現，第一個支持分布式程序實現的高級語言</a:t>
            </a:r>
            <a:r>
              <a:rPr lang="en-US" altLang="zh-CN" sz="1200" b="0" i="0" kern="1200" dirty="0">
                <a:solidFill>
                  <a:schemeClr val="tx1"/>
                </a:solidFill>
                <a:effectLst/>
                <a:latin typeface="+mn-lt"/>
                <a:ea typeface="+mn-ea"/>
                <a:cs typeface="+mn-cs"/>
              </a:rPr>
              <a:t>Argus</a:t>
            </a:r>
            <a:r>
              <a:rPr lang="zh-CN" altLang="en-US" sz="1200" b="0" i="0" kern="1200" dirty="0">
                <a:solidFill>
                  <a:schemeClr val="tx1"/>
                </a:solidFill>
                <a:effectLst/>
                <a:latin typeface="+mn-lt"/>
                <a:ea typeface="+mn-ea"/>
                <a:cs typeface="+mn-cs"/>
              </a:rPr>
              <a:t>，面向對象數據庫系統</a:t>
            </a:r>
            <a:r>
              <a:rPr lang="en-US" altLang="zh-CN" sz="1200" b="0" i="0" kern="1200" dirty="0">
                <a:solidFill>
                  <a:schemeClr val="tx1"/>
                </a:solidFill>
                <a:effectLst/>
                <a:latin typeface="+mn-lt"/>
                <a:ea typeface="+mn-ea"/>
                <a:cs typeface="+mn-cs"/>
              </a:rPr>
              <a:t>Thor</a:t>
            </a:r>
            <a:r>
              <a:rPr lang="zh-CN" altLang="en-US" sz="1200" b="0" i="0" kern="1200" dirty="0">
                <a:solidFill>
                  <a:schemeClr val="tx1"/>
                </a:solidFill>
                <a:effectLst/>
                <a:latin typeface="+mn-lt"/>
                <a:ea typeface="+mn-ea"/>
                <a:cs typeface="+mn-cs"/>
              </a:rPr>
              <a:t>，還有最近的</a:t>
            </a:r>
            <a:r>
              <a:rPr lang="en-US" altLang="zh-CN" sz="1200" b="0" i="0" kern="1200" dirty="0">
                <a:solidFill>
                  <a:schemeClr val="tx1"/>
                </a:solidFill>
                <a:effectLst/>
                <a:latin typeface="+mn-lt"/>
                <a:ea typeface="+mn-ea"/>
                <a:cs typeface="+mn-cs"/>
              </a:rPr>
              <a:t>Byzantine</a:t>
            </a:r>
            <a:r>
              <a:rPr lang="zh-CN" altLang="en-US" sz="1200" b="0" i="0" kern="1200" dirty="0">
                <a:solidFill>
                  <a:schemeClr val="tx1"/>
                </a:solidFill>
                <a:effectLst/>
                <a:latin typeface="+mn-lt"/>
                <a:ea typeface="+mn-ea"/>
                <a:cs typeface="+mn-cs"/>
              </a:rPr>
              <a:t>分布式容錯系統。其中，</a:t>
            </a:r>
            <a:r>
              <a:rPr lang="en-US" altLang="zh-CN" sz="1200" b="0" i="0" kern="1200" dirty="0">
                <a:solidFill>
                  <a:schemeClr val="tx1"/>
                </a:solidFill>
                <a:effectLst/>
                <a:latin typeface="+mn-lt"/>
                <a:ea typeface="+mn-ea"/>
                <a:cs typeface="+mn-cs"/>
              </a:rPr>
              <a:t>CLU</a:t>
            </a:r>
            <a:r>
              <a:rPr lang="zh-CN" altLang="en-US" sz="1200" b="0" i="0" kern="1200" dirty="0">
                <a:solidFill>
                  <a:schemeClr val="tx1"/>
                </a:solidFill>
                <a:effectLst/>
                <a:latin typeface="+mn-lt"/>
                <a:ea typeface="+mn-ea"/>
                <a:cs typeface="+mn-cs"/>
              </a:rPr>
              <a:t>語言對現代主流語言如</a:t>
            </a:r>
            <a:r>
              <a:rPr lang="en-US" altLang="zh-CN" sz="1200" b="0" i="0" kern="1200" dirty="0">
                <a:solidFill>
                  <a:schemeClr val="tx1"/>
                </a:solidFill>
                <a:effectLst/>
                <a:latin typeface="+mn-lt"/>
                <a:ea typeface="+mn-ea"/>
                <a:cs typeface="+mn-cs"/>
              </a:rPr>
              <a:t>C++/</a:t>
            </a:r>
            <a:r>
              <a:rPr lang="en-US" altLang="zh-CN" sz="1200" b="1" i="0" u="none" strike="noStrike" kern="1200" dirty="0">
                <a:solidFill>
                  <a:schemeClr val="tx1"/>
                </a:solidFill>
                <a:effectLst/>
                <a:latin typeface="+mn-lt"/>
                <a:ea typeface="+mn-ea"/>
                <a:cs typeface="+mn-cs"/>
                <a:hlinkClick r:id="rId3" tooltip="Java SE知识库"/>
              </a:rPr>
              <a:t>Java</a:t>
            </a:r>
            <a:r>
              <a:rPr lang="en-US" altLang="zh-CN" sz="1200" b="0" i="0" kern="1200" dirty="0">
                <a:solidFill>
                  <a:schemeClr val="tx1"/>
                </a:solidFill>
                <a:effectLst/>
                <a:latin typeface="+mn-lt"/>
                <a:ea typeface="+mn-ea"/>
                <a:cs typeface="+mn-cs"/>
              </a:rPr>
              <a:t>/</a:t>
            </a:r>
            <a:r>
              <a:rPr lang="en-US" altLang="zh-CN" sz="1200" b="1" i="0" u="none" strike="noStrike" kern="1200" dirty="0">
                <a:solidFill>
                  <a:schemeClr val="tx1"/>
                </a:solidFill>
                <a:effectLst/>
                <a:latin typeface="+mn-lt"/>
                <a:ea typeface="+mn-ea"/>
                <a:cs typeface="+mn-cs"/>
                <a:hlinkClick r:id="rId4" tooltip="Python知识库"/>
              </a:rPr>
              <a:t>Python</a:t>
            </a:r>
            <a:r>
              <a:rPr lang="en-US" altLang="zh-CN" sz="1200" b="0" i="0" kern="1200" dirty="0">
                <a:solidFill>
                  <a:schemeClr val="tx1"/>
                </a:solidFill>
                <a:effectLst/>
                <a:latin typeface="+mn-lt"/>
                <a:ea typeface="+mn-ea"/>
                <a:cs typeface="+mn-cs"/>
              </a:rPr>
              <a:t>/Ruby/C#</a:t>
            </a:r>
            <a:r>
              <a:rPr lang="zh-CN" altLang="en-US" sz="1200" b="0" i="0" kern="1200" dirty="0">
                <a:solidFill>
                  <a:schemeClr val="tx1"/>
                </a:solidFill>
                <a:effectLst/>
                <a:latin typeface="+mn-lt"/>
                <a:ea typeface="+mn-ea"/>
                <a:cs typeface="+mn-cs"/>
              </a:rPr>
              <a:t>都有比較深遠的影響。而她從這些實際項目中提煉出來的數據抽象思想，已經成爲軟件工程中最重要的精髓之一。</a:t>
            </a:r>
            <a:br>
              <a:rPr lang="zh-CN" altLang="en-US" dirty="0"/>
            </a:br>
            <a:br>
              <a:rPr lang="zh-CN" altLang="en-US" dirty="0"/>
            </a:br>
            <a:r>
              <a:rPr lang="zh-CN" altLang="en-US" sz="1200" b="0" i="0" kern="1200" dirty="0">
                <a:solidFill>
                  <a:schemeClr val="tx1"/>
                </a:solidFill>
                <a:effectLst/>
                <a:latin typeface="+mn-lt"/>
                <a:ea typeface="+mn-ea"/>
                <a:cs typeface="+mn-cs"/>
              </a:rPr>
              <a:t>她另外一個在程序設計中有廣泛應用的成就，是與周以真（</a:t>
            </a:r>
            <a:r>
              <a:rPr lang="en-US" altLang="zh-CN" sz="1200" b="0" i="0" kern="1200" dirty="0">
                <a:solidFill>
                  <a:schemeClr val="tx1"/>
                </a:solidFill>
                <a:effectLst/>
                <a:latin typeface="+mn-lt"/>
                <a:ea typeface="+mn-ea"/>
                <a:cs typeface="+mn-cs"/>
              </a:rPr>
              <a:t>Jeannette Wing</a:t>
            </a:r>
            <a:r>
              <a:rPr lang="zh-CN" altLang="en-US" sz="1200" b="0" i="0" kern="1200" dirty="0">
                <a:solidFill>
                  <a:schemeClr val="tx1"/>
                </a:solidFill>
                <a:effectLst/>
                <a:latin typeface="+mn-lt"/>
                <a:ea typeface="+mn-ea"/>
                <a:cs typeface="+mn-cs"/>
              </a:rPr>
              <a:t>）一起提出的</a:t>
            </a:r>
            <a:r>
              <a:rPr lang="en-US" altLang="zh-CN" sz="1200" b="0" i="0" kern="1200" dirty="0" err="1">
                <a:solidFill>
                  <a:schemeClr val="tx1"/>
                </a:solidFill>
                <a:effectLst/>
                <a:latin typeface="+mn-lt"/>
                <a:ea typeface="+mn-ea"/>
                <a:cs typeface="+mn-cs"/>
              </a:rPr>
              <a:t>Liskov</a:t>
            </a:r>
            <a:r>
              <a:rPr lang="zh-CN" altLang="en-US" sz="1200" b="0" i="0" kern="1200" dirty="0">
                <a:solidFill>
                  <a:schemeClr val="tx1"/>
                </a:solidFill>
                <a:effectLst/>
                <a:latin typeface="+mn-lt"/>
                <a:ea typeface="+mn-ea"/>
                <a:cs typeface="+mn-cs"/>
              </a:rPr>
              <a:t>替代原則，是面向對象最重要的幾大原則之一。</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124</a:t>
            </a:fld>
            <a:endParaRPr kumimoji="1" lang="zh-CN" altLang="en-US" dirty="0"/>
          </a:p>
        </p:txBody>
      </p:sp>
    </p:spTree>
    <p:extLst>
      <p:ext uri="{BB962C8B-B14F-4D97-AF65-F5344CB8AC3E}">
        <p14:creationId xmlns:p14="http://schemas.microsoft.com/office/powerpoint/2010/main" val="48142211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C</a:t>
            </a:r>
            <a:r>
              <a:rPr lang="zh-CN" altLang="en-US" sz="1200" b="0" i="0" kern="1200" dirty="0">
                <a:solidFill>
                  <a:schemeClr val="tx1"/>
                </a:solidFill>
                <a:effectLst/>
                <a:latin typeface="+mn-lt"/>
                <a:ea typeface="+mn-ea"/>
                <a:cs typeface="+mn-cs"/>
              </a:rPr>
              <a:t>爲客戶端，</a:t>
            </a:r>
            <a:r>
              <a:rPr lang="en-US" altLang="zh-CN" sz="1200" b="0" i="0" kern="1200" dirty="0">
                <a:solidFill>
                  <a:schemeClr val="tx1"/>
                </a:solidFill>
                <a:effectLst/>
                <a:latin typeface="+mn-lt"/>
                <a:ea typeface="+mn-ea"/>
                <a:cs typeface="+mn-cs"/>
              </a:rPr>
              <a:t>N0</a:t>
            </a:r>
            <a:r>
              <a:rPr lang="zh-CN" altLang="en-US" sz="1200" b="0" i="0" kern="1200" dirty="0">
                <a:solidFill>
                  <a:schemeClr val="tx1"/>
                </a:solidFill>
                <a:effectLst/>
                <a:latin typeface="+mn-lt"/>
                <a:ea typeface="+mn-ea"/>
                <a:cs typeface="+mn-cs"/>
              </a:rPr>
              <a:t>爲主服務節點，</a:t>
            </a:r>
            <a:r>
              <a:rPr lang="en-US" altLang="zh-CN" sz="1200" b="0" i="0" kern="1200" dirty="0">
                <a:solidFill>
                  <a:schemeClr val="tx1"/>
                </a:solidFill>
                <a:effectLst/>
                <a:latin typeface="+mn-lt"/>
                <a:ea typeface="+mn-ea"/>
                <a:cs typeface="+mn-cs"/>
              </a:rPr>
              <a:t>N3</a:t>
            </a:r>
            <a:r>
              <a:rPr lang="zh-CN" altLang="en-US" sz="1200" b="0" i="0" kern="1200" dirty="0">
                <a:solidFill>
                  <a:schemeClr val="tx1"/>
                </a:solidFill>
                <a:effectLst/>
                <a:latin typeface="+mn-lt"/>
                <a:ea typeface="+mn-ea"/>
                <a:cs typeface="+mn-cs"/>
              </a:rPr>
              <a:t>爲故障節點。</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客戶端發送請求，激活主節點的服務操作。</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主節點接受請求後，啓動三階段協議向各個從節點廣播請求。</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）序號分配階段，主節點給請求賦值一個序列號</a:t>
            </a:r>
            <a:r>
              <a:rPr lang="en-US" altLang="zh-CN" sz="1200" b="0" i="0" kern="1200" dirty="0">
                <a:solidFill>
                  <a:schemeClr val="tx1"/>
                </a:solidFill>
                <a:effectLst/>
                <a:latin typeface="+mn-lt"/>
                <a:ea typeface="+mn-ea"/>
                <a:cs typeface="+mn-cs"/>
              </a:rPr>
              <a:t>n</a:t>
            </a:r>
            <a:r>
              <a:rPr lang="zh-CN" altLang="en-US" sz="1200" b="0" i="0" kern="1200" dirty="0">
                <a:solidFill>
                  <a:schemeClr val="tx1"/>
                </a:solidFill>
                <a:effectLst/>
                <a:latin typeface="+mn-lt"/>
                <a:ea typeface="+mn-ea"/>
                <a:cs typeface="+mn-cs"/>
              </a:rPr>
              <a:t>，廣播序號分配消息和客戶端的請求消息</a:t>
            </a:r>
            <a:r>
              <a:rPr lang="en-US" altLang="zh-CN" sz="1200" b="0" i="0" kern="1200" dirty="0">
                <a:solidFill>
                  <a:schemeClr val="tx1"/>
                </a:solidFill>
                <a:effectLst/>
                <a:latin typeface="+mn-lt"/>
                <a:ea typeface="+mn-ea"/>
                <a:cs typeface="+mn-cs"/>
              </a:rPr>
              <a:t>m</a:t>
            </a:r>
            <a:r>
              <a:rPr lang="zh-CN" altLang="en-US" sz="1200" b="0" i="0" kern="1200" dirty="0">
                <a:solidFill>
                  <a:schemeClr val="tx1"/>
                </a:solidFill>
                <a:effectLst/>
                <a:latin typeface="+mn-lt"/>
                <a:ea typeface="+mn-ea"/>
                <a:cs typeface="+mn-cs"/>
              </a:rPr>
              <a:t>，構造</a:t>
            </a:r>
            <a:r>
              <a:rPr lang="en-US" altLang="zh-CN" sz="1200" b="0" i="0" kern="1200" dirty="0">
                <a:solidFill>
                  <a:schemeClr val="tx1"/>
                </a:solidFill>
                <a:effectLst/>
                <a:latin typeface="+mn-lt"/>
                <a:ea typeface="+mn-ea"/>
                <a:cs typeface="+mn-cs"/>
              </a:rPr>
              <a:t>pre-prepare</a:t>
            </a:r>
            <a:r>
              <a:rPr lang="zh-CN" altLang="en-US" sz="1200" b="0" i="0" kern="1200" dirty="0">
                <a:solidFill>
                  <a:schemeClr val="tx1"/>
                </a:solidFill>
                <a:effectLst/>
                <a:latin typeface="+mn-lt"/>
                <a:ea typeface="+mn-ea"/>
                <a:cs typeface="+mn-cs"/>
              </a:rPr>
              <a:t>消息給各個從節點。</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）交互階段，從節點接收</a:t>
            </a:r>
            <a:r>
              <a:rPr lang="en-US" altLang="zh-CN" sz="1200" b="0" i="0" kern="1200" dirty="0">
                <a:solidFill>
                  <a:schemeClr val="tx1"/>
                </a:solidFill>
                <a:effectLst/>
                <a:latin typeface="+mn-lt"/>
                <a:ea typeface="+mn-ea"/>
                <a:cs typeface="+mn-cs"/>
              </a:rPr>
              <a:t>pre-prepare</a:t>
            </a:r>
            <a:r>
              <a:rPr lang="zh-CN" altLang="en-US" sz="1200" b="0" i="0" kern="1200" dirty="0">
                <a:solidFill>
                  <a:schemeClr val="tx1"/>
                </a:solidFill>
                <a:effectLst/>
                <a:latin typeface="+mn-lt"/>
                <a:ea typeface="+mn-ea"/>
                <a:cs typeface="+mn-cs"/>
              </a:rPr>
              <a:t>消息，向其他節點廣播</a:t>
            </a:r>
            <a:r>
              <a:rPr lang="en-US" altLang="zh-CN" sz="1200" b="0" i="0" kern="1200" dirty="0">
                <a:solidFill>
                  <a:schemeClr val="tx1"/>
                </a:solidFill>
                <a:effectLst/>
                <a:latin typeface="+mn-lt"/>
                <a:ea typeface="+mn-ea"/>
                <a:cs typeface="+mn-cs"/>
              </a:rPr>
              <a:t>prepare</a:t>
            </a:r>
            <a:r>
              <a:rPr lang="zh-CN" altLang="en-US" sz="1200" b="0" i="0" kern="1200" dirty="0">
                <a:solidFill>
                  <a:schemeClr val="tx1"/>
                </a:solidFill>
                <a:effectLst/>
                <a:latin typeface="+mn-lt"/>
                <a:ea typeface="+mn-ea"/>
                <a:cs typeface="+mn-cs"/>
              </a:rPr>
              <a:t>消息。</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）序號確認階段，各個節點對請求和次序進行驗證後，廣播</a:t>
            </a:r>
            <a:r>
              <a:rPr lang="en-US" altLang="zh-CN" sz="1200" b="0" i="0" kern="1200" dirty="0">
                <a:solidFill>
                  <a:schemeClr val="tx1"/>
                </a:solidFill>
                <a:effectLst/>
                <a:latin typeface="+mn-lt"/>
                <a:ea typeface="+mn-ea"/>
                <a:cs typeface="+mn-cs"/>
              </a:rPr>
              <a:t>commit</a:t>
            </a:r>
            <a:r>
              <a:rPr lang="zh-CN" altLang="en-US" sz="1200" b="0" i="0" kern="1200" dirty="0">
                <a:solidFill>
                  <a:schemeClr val="tx1"/>
                </a:solidFill>
                <a:effectLst/>
                <a:latin typeface="+mn-lt"/>
                <a:ea typeface="+mn-ea"/>
                <a:cs typeface="+mn-cs"/>
              </a:rPr>
              <a:t>消息，執行收到的客戶端請求幷給客戶端響應。</a:t>
            </a:r>
            <a:endParaRPr lang="en-US" altLang="zh-CN" sz="1200" b="0" i="0" kern="1200" dirty="0">
              <a:solidFill>
                <a:schemeClr val="tx1"/>
              </a:solidFill>
              <a:effectLst/>
              <a:latin typeface="+mn-lt"/>
              <a:ea typeface="+mn-ea"/>
              <a:cs typeface="+mn-cs"/>
            </a:endParaRPr>
          </a:p>
          <a:p>
            <a:r>
              <a:rPr lang="zh-CN" altLang="en-US" dirty="0"/>
              <a:t>客戶端等待來自不同節點的響應，若有</a:t>
            </a:r>
            <a:r>
              <a:rPr lang="en-US" altLang="zh-CN" dirty="0"/>
              <a:t>m+1</a:t>
            </a:r>
            <a:r>
              <a:rPr lang="zh-CN" altLang="en-US" dirty="0"/>
              <a:t>個響應相同，則該響應爲計算結果。</a:t>
            </a:r>
          </a:p>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125</a:t>
            </a:fld>
            <a:endParaRPr kumimoji="1" lang="zh-CN" altLang="en-US" dirty="0"/>
          </a:p>
        </p:txBody>
      </p:sp>
    </p:spTree>
    <p:extLst>
      <p:ext uri="{BB962C8B-B14F-4D97-AF65-F5344CB8AC3E}">
        <p14:creationId xmlns:p14="http://schemas.microsoft.com/office/powerpoint/2010/main" val="80949688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C</a:t>
            </a:r>
            <a:r>
              <a:rPr lang="zh-CN" altLang="en-US" sz="1200" b="0" i="0" kern="1200" dirty="0">
                <a:solidFill>
                  <a:schemeClr val="tx1"/>
                </a:solidFill>
                <a:effectLst/>
                <a:latin typeface="+mn-lt"/>
                <a:ea typeface="+mn-ea"/>
                <a:cs typeface="+mn-cs"/>
              </a:rPr>
              <a:t>爲客戶端，</a:t>
            </a:r>
            <a:r>
              <a:rPr lang="en-US" altLang="zh-CN" sz="1200" b="0" i="0" kern="1200" dirty="0">
                <a:solidFill>
                  <a:schemeClr val="tx1"/>
                </a:solidFill>
                <a:effectLst/>
                <a:latin typeface="+mn-lt"/>
                <a:ea typeface="+mn-ea"/>
                <a:cs typeface="+mn-cs"/>
              </a:rPr>
              <a:t>N0</a:t>
            </a:r>
            <a:r>
              <a:rPr lang="zh-CN" altLang="en-US" sz="1200" b="0" i="0" kern="1200" dirty="0">
                <a:solidFill>
                  <a:schemeClr val="tx1"/>
                </a:solidFill>
                <a:effectLst/>
                <a:latin typeface="+mn-lt"/>
                <a:ea typeface="+mn-ea"/>
                <a:cs typeface="+mn-cs"/>
              </a:rPr>
              <a:t>爲主服務節點，</a:t>
            </a:r>
            <a:r>
              <a:rPr lang="en-US" altLang="zh-CN" sz="1200" b="0" i="0" kern="1200" dirty="0">
                <a:solidFill>
                  <a:schemeClr val="tx1"/>
                </a:solidFill>
                <a:effectLst/>
                <a:latin typeface="+mn-lt"/>
                <a:ea typeface="+mn-ea"/>
                <a:cs typeface="+mn-cs"/>
              </a:rPr>
              <a:t>N3</a:t>
            </a:r>
            <a:r>
              <a:rPr lang="zh-CN" altLang="en-US" sz="1200" b="0" i="0" kern="1200" dirty="0">
                <a:solidFill>
                  <a:schemeClr val="tx1"/>
                </a:solidFill>
                <a:effectLst/>
                <a:latin typeface="+mn-lt"/>
                <a:ea typeface="+mn-ea"/>
                <a:cs typeface="+mn-cs"/>
              </a:rPr>
              <a:t>爲故障節點。</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客戶端發送請求，激活主節點的服務操作。</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主節點接受請求後，啓動三階段協議向各個從節點廣播請求。</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）序號分配階段，主節點給請求賦值一個序列號</a:t>
            </a:r>
            <a:r>
              <a:rPr lang="en-US" altLang="zh-CN" sz="1200" b="0" i="0" kern="1200" dirty="0">
                <a:solidFill>
                  <a:schemeClr val="tx1"/>
                </a:solidFill>
                <a:effectLst/>
                <a:latin typeface="+mn-lt"/>
                <a:ea typeface="+mn-ea"/>
                <a:cs typeface="+mn-cs"/>
              </a:rPr>
              <a:t>n</a:t>
            </a:r>
            <a:r>
              <a:rPr lang="zh-CN" altLang="en-US" sz="1200" b="0" i="0" kern="1200" dirty="0">
                <a:solidFill>
                  <a:schemeClr val="tx1"/>
                </a:solidFill>
                <a:effectLst/>
                <a:latin typeface="+mn-lt"/>
                <a:ea typeface="+mn-ea"/>
                <a:cs typeface="+mn-cs"/>
              </a:rPr>
              <a:t>，廣播序號分配消息和客戶端的請求消息</a:t>
            </a:r>
            <a:r>
              <a:rPr lang="en-US" altLang="zh-CN" sz="1200" b="0" i="0" kern="1200" dirty="0">
                <a:solidFill>
                  <a:schemeClr val="tx1"/>
                </a:solidFill>
                <a:effectLst/>
                <a:latin typeface="+mn-lt"/>
                <a:ea typeface="+mn-ea"/>
                <a:cs typeface="+mn-cs"/>
              </a:rPr>
              <a:t>m</a:t>
            </a:r>
            <a:r>
              <a:rPr lang="zh-CN" altLang="en-US" sz="1200" b="0" i="0" kern="1200" dirty="0">
                <a:solidFill>
                  <a:schemeClr val="tx1"/>
                </a:solidFill>
                <a:effectLst/>
                <a:latin typeface="+mn-lt"/>
                <a:ea typeface="+mn-ea"/>
                <a:cs typeface="+mn-cs"/>
              </a:rPr>
              <a:t>，構造</a:t>
            </a:r>
            <a:r>
              <a:rPr lang="en-US" altLang="zh-CN" sz="1200" b="0" i="0" kern="1200" dirty="0">
                <a:solidFill>
                  <a:schemeClr val="tx1"/>
                </a:solidFill>
                <a:effectLst/>
                <a:latin typeface="+mn-lt"/>
                <a:ea typeface="+mn-ea"/>
                <a:cs typeface="+mn-cs"/>
              </a:rPr>
              <a:t>pre-prepare</a:t>
            </a:r>
            <a:r>
              <a:rPr lang="zh-CN" altLang="en-US" sz="1200" b="0" i="0" kern="1200" dirty="0">
                <a:solidFill>
                  <a:schemeClr val="tx1"/>
                </a:solidFill>
                <a:effectLst/>
                <a:latin typeface="+mn-lt"/>
                <a:ea typeface="+mn-ea"/>
                <a:cs typeface="+mn-cs"/>
              </a:rPr>
              <a:t>消息給各個從節點。</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）交互階段，從節點接收</a:t>
            </a:r>
            <a:r>
              <a:rPr lang="en-US" altLang="zh-CN" sz="1200" b="0" i="0" kern="1200" dirty="0">
                <a:solidFill>
                  <a:schemeClr val="tx1"/>
                </a:solidFill>
                <a:effectLst/>
                <a:latin typeface="+mn-lt"/>
                <a:ea typeface="+mn-ea"/>
                <a:cs typeface="+mn-cs"/>
              </a:rPr>
              <a:t>pre-prepare</a:t>
            </a:r>
            <a:r>
              <a:rPr lang="zh-CN" altLang="en-US" sz="1200" b="0" i="0" kern="1200" dirty="0">
                <a:solidFill>
                  <a:schemeClr val="tx1"/>
                </a:solidFill>
                <a:effectLst/>
                <a:latin typeface="+mn-lt"/>
                <a:ea typeface="+mn-ea"/>
                <a:cs typeface="+mn-cs"/>
              </a:rPr>
              <a:t>消息，向其他節點廣播</a:t>
            </a:r>
            <a:r>
              <a:rPr lang="en-US" altLang="zh-CN" sz="1200" b="0" i="0" kern="1200" dirty="0">
                <a:solidFill>
                  <a:schemeClr val="tx1"/>
                </a:solidFill>
                <a:effectLst/>
                <a:latin typeface="+mn-lt"/>
                <a:ea typeface="+mn-ea"/>
                <a:cs typeface="+mn-cs"/>
              </a:rPr>
              <a:t>prepare</a:t>
            </a:r>
            <a:r>
              <a:rPr lang="zh-CN" altLang="en-US" sz="1200" b="0" i="0" kern="1200" dirty="0">
                <a:solidFill>
                  <a:schemeClr val="tx1"/>
                </a:solidFill>
                <a:effectLst/>
                <a:latin typeface="+mn-lt"/>
                <a:ea typeface="+mn-ea"/>
                <a:cs typeface="+mn-cs"/>
              </a:rPr>
              <a:t>消息。</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）序號確認階段，各個節點對請求和次序進行驗證後，廣播</a:t>
            </a:r>
            <a:r>
              <a:rPr lang="en-US" altLang="zh-CN" sz="1200" b="0" i="0" kern="1200" dirty="0">
                <a:solidFill>
                  <a:schemeClr val="tx1"/>
                </a:solidFill>
                <a:effectLst/>
                <a:latin typeface="+mn-lt"/>
                <a:ea typeface="+mn-ea"/>
                <a:cs typeface="+mn-cs"/>
              </a:rPr>
              <a:t>commit</a:t>
            </a:r>
            <a:r>
              <a:rPr lang="zh-CN" altLang="en-US" sz="1200" b="0" i="0" kern="1200" dirty="0">
                <a:solidFill>
                  <a:schemeClr val="tx1"/>
                </a:solidFill>
                <a:effectLst/>
                <a:latin typeface="+mn-lt"/>
                <a:ea typeface="+mn-ea"/>
                <a:cs typeface="+mn-cs"/>
              </a:rPr>
              <a:t>消息，執行收到的客戶端請求幷給客戶端響應。</a:t>
            </a:r>
            <a:endParaRPr lang="en-US" altLang="zh-CN" sz="1200" b="0" i="0" kern="1200" dirty="0">
              <a:solidFill>
                <a:schemeClr val="tx1"/>
              </a:solidFill>
              <a:effectLst/>
              <a:latin typeface="+mn-lt"/>
              <a:ea typeface="+mn-ea"/>
              <a:cs typeface="+mn-cs"/>
            </a:endParaRPr>
          </a:p>
          <a:p>
            <a:r>
              <a:rPr lang="zh-CN" altLang="en-US" dirty="0"/>
              <a:t>客戶端等待來自不同節點的響應，若有</a:t>
            </a:r>
            <a:r>
              <a:rPr lang="en-US" altLang="zh-CN" dirty="0"/>
              <a:t>m+1</a:t>
            </a:r>
            <a:r>
              <a:rPr lang="zh-CN" altLang="en-US" dirty="0"/>
              <a:t>個響應相同，則該響應爲計算結果。</a:t>
            </a:r>
          </a:p>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126</a:t>
            </a:fld>
            <a:endParaRPr kumimoji="1" lang="zh-CN" altLang="en-US" dirty="0"/>
          </a:p>
        </p:txBody>
      </p:sp>
    </p:spTree>
    <p:extLst>
      <p:ext uri="{BB962C8B-B14F-4D97-AF65-F5344CB8AC3E}">
        <p14:creationId xmlns:p14="http://schemas.microsoft.com/office/powerpoint/2010/main" val="194494047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127</a:t>
            </a:fld>
            <a:endParaRPr kumimoji="1" lang="zh-CN" altLang="en-US" dirty="0"/>
          </a:p>
        </p:txBody>
      </p:sp>
    </p:spTree>
    <p:extLst>
      <p:ext uri="{BB962C8B-B14F-4D97-AF65-F5344CB8AC3E}">
        <p14:creationId xmlns:p14="http://schemas.microsoft.com/office/powerpoint/2010/main" val="405808972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128</a:t>
            </a:fld>
            <a:endParaRPr kumimoji="1" lang="zh-CN" altLang="en-US" dirty="0"/>
          </a:p>
        </p:txBody>
      </p:sp>
    </p:spTree>
    <p:extLst>
      <p:ext uri="{BB962C8B-B14F-4D97-AF65-F5344CB8AC3E}">
        <p14:creationId xmlns:p14="http://schemas.microsoft.com/office/powerpoint/2010/main" val="54461838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針對</a:t>
            </a:r>
            <a:r>
              <a:rPr lang="en-US" altLang="zh-CN" sz="1200" b="0" i="0" kern="1200" dirty="0">
                <a:solidFill>
                  <a:schemeClr val="tx1"/>
                </a:solidFill>
                <a:effectLst/>
                <a:latin typeface="+mn-lt"/>
                <a:ea typeface="+mn-ea"/>
                <a:cs typeface="+mn-cs"/>
              </a:rPr>
              <a:t>PBFT</a:t>
            </a:r>
            <a:r>
              <a:rPr lang="zh-CN" altLang="en-US" sz="1200" b="0" i="0" kern="1200" dirty="0">
                <a:solidFill>
                  <a:schemeClr val="tx1"/>
                </a:solidFill>
                <a:effectLst/>
                <a:latin typeface="+mn-lt"/>
                <a:ea typeface="+mn-ea"/>
                <a:cs typeface="+mn-cs"/>
              </a:rPr>
              <a:t>的每個階段，由所有節點廣播投票變爲節點通過部分簽名投票只發給</a:t>
            </a:r>
            <a:r>
              <a:rPr lang="en-US" altLang="zh-CN" sz="1200" b="0" i="0" kern="1200" dirty="0">
                <a:solidFill>
                  <a:schemeClr val="tx1"/>
                </a:solidFill>
                <a:effectLst/>
                <a:latin typeface="+mn-lt"/>
                <a:ea typeface="+mn-ea"/>
                <a:cs typeface="+mn-cs"/>
              </a:rPr>
              <a:t>leader</a:t>
            </a:r>
            <a:r>
              <a:rPr lang="zh-CN" altLang="en-US" sz="1200" b="0" i="0" kern="1200" dirty="0">
                <a:solidFill>
                  <a:schemeClr val="tx1"/>
                </a:solidFill>
                <a:effectLst/>
                <a:latin typeface="+mn-lt"/>
                <a:ea typeface="+mn-ea"/>
                <a:cs typeface="+mn-cs"/>
              </a:rPr>
              <a:t>節點，然後由</a:t>
            </a:r>
            <a:r>
              <a:rPr lang="en-US" altLang="zh-CN" sz="1200" b="0" i="0" kern="1200" dirty="0">
                <a:solidFill>
                  <a:schemeClr val="tx1"/>
                </a:solidFill>
                <a:effectLst/>
                <a:latin typeface="+mn-lt"/>
                <a:ea typeface="+mn-ea"/>
                <a:cs typeface="+mn-cs"/>
              </a:rPr>
              <a:t>leader</a:t>
            </a:r>
            <a:r>
              <a:rPr lang="zh-CN" altLang="en-US" sz="1200" b="0" i="0" kern="1200" dirty="0">
                <a:solidFill>
                  <a:schemeClr val="tx1"/>
                </a:solidFill>
                <a:effectLst/>
                <a:latin typeface="+mn-lt"/>
                <a:ea typeface="+mn-ea"/>
                <a:cs typeface="+mn-cs"/>
              </a:rPr>
              <a:t>節點合成簽名後發給所有節點從而進入下一階段。</a:t>
            </a:r>
            <a:endParaRPr lang="en-US" altLang="zh-CN" sz="1200" b="0" i="0" kern="1200" dirty="0">
              <a:solidFill>
                <a:schemeClr val="tx1"/>
              </a:solidFill>
              <a:effectLst/>
              <a:latin typeface="+mn-lt"/>
              <a:ea typeface="+mn-ea"/>
              <a:cs typeface="+mn-cs"/>
            </a:endParaRPr>
          </a:p>
          <a:p>
            <a:pPr marL="342900" indent="-342900">
              <a:lnSpc>
                <a:spcPct val="150000"/>
              </a:lnSpc>
              <a:buFont typeface="Wingdings" panose="05000000000000000000" pitchFamily="2" charset="2"/>
              <a:buChar char="l"/>
            </a:pPr>
            <a:r>
              <a:rPr lang="zh-CN" altLang="en-US" sz="1200" dirty="0"/>
              <a:t>新視圖階段：節點對新</a:t>
            </a:r>
            <a:r>
              <a:rPr lang="en-US" altLang="zh-CN" sz="1200" dirty="0"/>
              <a:t>Leader</a:t>
            </a:r>
            <a:r>
              <a:rPr lang="zh-CN" altLang="en-US" sz="1200" dirty="0"/>
              <a:t>投票，新</a:t>
            </a:r>
            <a:r>
              <a:rPr lang="en-US" altLang="zh-CN" sz="1200" dirty="0"/>
              <a:t>Leader</a:t>
            </a:r>
            <a:r>
              <a:rPr lang="zh-CN" altLang="en-US" sz="1200" dirty="0"/>
              <a:t>合成全域簽名幷結合新提案給所有節點</a:t>
            </a:r>
            <a:endParaRPr lang="en-US" altLang="zh-CN" sz="1200" dirty="0"/>
          </a:p>
          <a:p>
            <a:pPr marL="342900" indent="-342900">
              <a:lnSpc>
                <a:spcPct val="150000"/>
              </a:lnSpc>
              <a:buFont typeface="Wingdings" panose="05000000000000000000" pitchFamily="2" charset="2"/>
              <a:buChar char="l"/>
            </a:pPr>
            <a:r>
              <a:rPr lang="zh-CN" altLang="en-US" sz="1200" dirty="0"/>
              <a:t>準備階段：節點對提案投票，</a:t>
            </a:r>
            <a:r>
              <a:rPr lang="en-US" altLang="zh-CN" sz="1200" dirty="0"/>
              <a:t>leader</a:t>
            </a:r>
            <a:r>
              <a:rPr lang="zh-CN" altLang="en-US" sz="1200" dirty="0"/>
              <a:t>合成全域簽名發給所有節點</a:t>
            </a:r>
            <a:endParaRPr lang="en-US" altLang="zh-CN" sz="1200" dirty="0"/>
          </a:p>
          <a:p>
            <a:pPr marL="342900" indent="-342900">
              <a:lnSpc>
                <a:spcPct val="150000"/>
              </a:lnSpc>
              <a:buFont typeface="Wingdings" panose="05000000000000000000" pitchFamily="2" charset="2"/>
              <a:buChar char="l"/>
            </a:pPr>
            <a:r>
              <a:rPr lang="zh-CN" altLang="en-US" sz="1200" dirty="0"/>
              <a:t>預提交階段：節點對預提交投票，</a:t>
            </a:r>
            <a:r>
              <a:rPr lang="en-US" altLang="zh-CN" sz="1200" dirty="0"/>
              <a:t>leader</a:t>
            </a:r>
            <a:r>
              <a:rPr lang="zh-CN" altLang="en-US" sz="1200" dirty="0"/>
              <a:t>合成全域簽名發給所有節點</a:t>
            </a:r>
            <a:endParaRPr lang="en-US" altLang="zh-CN" sz="1200" dirty="0"/>
          </a:p>
          <a:p>
            <a:pPr marL="342900" indent="-342900">
              <a:lnSpc>
                <a:spcPct val="150000"/>
              </a:lnSpc>
              <a:buFont typeface="Wingdings" panose="05000000000000000000" pitchFamily="2" charset="2"/>
              <a:buChar char="l"/>
            </a:pPr>
            <a:r>
              <a:rPr lang="zh-CN" altLang="en-US" sz="1200" dirty="0"/>
              <a:t>提交執行階段：節點對提交確認投票，</a:t>
            </a:r>
            <a:r>
              <a:rPr lang="en-US" altLang="zh-CN" sz="1200" dirty="0"/>
              <a:t>leader</a:t>
            </a:r>
            <a:r>
              <a:rPr lang="zh-CN" altLang="en-US" sz="1200" dirty="0"/>
              <a:t>合成全域簽名發給所有節點，節點驗證簽名後執行</a:t>
            </a:r>
            <a:r>
              <a:rPr lang="zh-CN" altLang="en-US" sz="1600" dirty="0"/>
              <a:t>。</a:t>
            </a:r>
            <a:endParaRPr lang="zh-CN" altLang="en-US" sz="16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129</a:t>
            </a:fld>
            <a:endParaRPr kumimoji="1" lang="zh-CN" altLang="en-US" dirty="0"/>
          </a:p>
        </p:txBody>
      </p:sp>
    </p:spTree>
    <p:extLst>
      <p:ext uri="{BB962C8B-B14F-4D97-AF65-F5344CB8AC3E}">
        <p14:creationId xmlns:p14="http://schemas.microsoft.com/office/powerpoint/2010/main" val="328761334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130</a:t>
            </a:fld>
            <a:endParaRPr kumimoji="1" lang="zh-CN" altLang="en-US" dirty="0"/>
          </a:p>
        </p:txBody>
      </p:sp>
    </p:spTree>
    <p:extLst>
      <p:ext uri="{BB962C8B-B14F-4D97-AF65-F5344CB8AC3E}">
        <p14:creationId xmlns:p14="http://schemas.microsoft.com/office/powerpoint/2010/main" val="69206488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131</a:t>
            </a:fld>
            <a:endParaRPr kumimoji="1" lang="zh-CN" altLang="en-US" dirty="0"/>
          </a:p>
        </p:txBody>
      </p:sp>
    </p:spTree>
    <p:extLst>
      <p:ext uri="{BB962C8B-B14F-4D97-AF65-F5344CB8AC3E}">
        <p14:creationId xmlns:p14="http://schemas.microsoft.com/office/powerpoint/2010/main" val="78103707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海濱</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132</a:t>
            </a:fld>
            <a:endParaRPr kumimoji="1" lang="zh-CN" altLang="en-US" dirty="0"/>
          </a:p>
        </p:txBody>
      </p:sp>
    </p:spTree>
    <p:extLst>
      <p:ext uri="{BB962C8B-B14F-4D97-AF65-F5344CB8AC3E}">
        <p14:creationId xmlns:p14="http://schemas.microsoft.com/office/powerpoint/2010/main" val="224602065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C0905F7E-8FCD-B247-8658-9B89ABB1145E}" type="slidenum">
              <a:rPr kumimoji="1" lang="zh-CN" altLang="en-US" smtClean="0"/>
              <a:t>133</a:t>
            </a:fld>
            <a:endParaRPr kumimoji="1" lang="zh-CN" altLang="en-US" dirty="0"/>
          </a:p>
        </p:txBody>
      </p:sp>
    </p:spTree>
    <p:extLst>
      <p:ext uri="{BB962C8B-B14F-4D97-AF65-F5344CB8AC3E}">
        <p14:creationId xmlns:p14="http://schemas.microsoft.com/office/powerpoint/2010/main" val="13806755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這裏需要一個內存堆噴射的圖</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134</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094051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www.rapidbbs.cn/"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1376" y="136525"/>
            <a:ext cx="10222424" cy="725407"/>
          </a:xfrm>
        </p:spPr>
        <p:txBody>
          <a:bodyPr>
            <a:normAutofit/>
          </a:bodyPr>
          <a:lstStyle>
            <a:lvl1pPr>
              <a:defRPr sz="4000" b="1">
                <a:solidFill>
                  <a:srgbClr val="C00000"/>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cxnSp>
        <p:nvCxnSpPr>
          <p:cNvPr id="6" name="直接连接符 24">
            <a:extLst>
              <a:ext uri="{FF2B5EF4-FFF2-40B4-BE49-F238E27FC236}">
                <a16:creationId xmlns:a16="http://schemas.microsoft.com/office/drawing/2014/main" id="{C1942919-E2AA-9144-9848-EF0AF6C4B994}"/>
              </a:ext>
            </a:extLst>
          </p:cNvPr>
          <p:cNvCxnSpPr>
            <a:cxnSpLocks/>
          </p:cNvCxnSpPr>
          <p:nvPr userDrawn="1"/>
        </p:nvCxnSpPr>
        <p:spPr>
          <a:xfrm>
            <a:off x="923477" y="801349"/>
            <a:ext cx="10910714" cy="0"/>
          </a:xfrm>
          <a:prstGeom prst="line">
            <a:avLst/>
          </a:prstGeom>
          <a:noFill/>
          <a:ln w="12700" cap="flat" cmpd="sng" algn="ctr">
            <a:solidFill>
              <a:schemeClr val="bg1">
                <a:lumMod val="65000"/>
              </a:schemeClr>
            </a:solidFill>
            <a:prstDash val="solid"/>
            <a:miter lim="800000"/>
          </a:ln>
          <a:effectLst/>
        </p:spPr>
      </p:cxnSp>
      <p:pic>
        <p:nvPicPr>
          <p:cNvPr id="5" name="图片 4">
            <a:extLst>
              <a:ext uri="{FF2B5EF4-FFF2-40B4-BE49-F238E27FC236}">
                <a16:creationId xmlns:a16="http://schemas.microsoft.com/office/drawing/2014/main" id="{0FE6FCD0-FA89-B441-A733-B32B5C383245}"/>
              </a:ext>
            </a:extLst>
          </p:cNvPr>
          <p:cNvPicPr>
            <a:picLocks noChangeAspect="1"/>
          </p:cNvPicPr>
          <p:nvPr userDrawn="1"/>
        </p:nvPicPr>
        <p:blipFill>
          <a:blip r:embed="rId2"/>
          <a:stretch>
            <a:fillRect/>
          </a:stretch>
        </p:blipFill>
        <p:spPr>
          <a:xfrm>
            <a:off x="222609" y="103943"/>
            <a:ext cx="700867" cy="697406"/>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sp>
        <p:nvSpPr>
          <p:cNvPr id="7" name="灯片编号占位符 5">
            <a:extLst>
              <a:ext uri="{FF2B5EF4-FFF2-40B4-BE49-F238E27FC236}">
                <a16:creationId xmlns:a16="http://schemas.microsoft.com/office/drawing/2014/main" id="{46CD7BBC-56D0-FD43-9C5F-5C922CE5EB7C}"/>
              </a:ext>
            </a:extLst>
          </p:cNvPr>
          <p:cNvSpPr>
            <a:spLocks noGrp="1"/>
          </p:cNvSpPr>
          <p:nvPr>
            <p:ph type="sldNum" sz="quarter" idx="4"/>
          </p:nvPr>
        </p:nvSpPr>
        <p:spPr>
          <a:xfrm>
            <a:off x="94488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5CE2E0-6DDF-4FAE-9DBA-F1C48BF5C133}" type="slidenum">
              <a:rPr lang="zh-CN" altLang="en-US" smtClean="0"/>
              <a:t>‹N°›</a:t>
            </a:fld>
            <a:endParaRPr lang="zh-CN" altLang="en-US" dirty="0"/>
          </a:p>
        </p:txBody>
      </p:sp>
    </p:spTree>
    <p:extLst>
      <p:ext uri="{BB962C8B-B14F-4D97-AF65-F5344CB8AC3E}">
        <p14:creationId xmlns:p14="http://schemas.microsoft.com/office/powerpoint/2010/main" val="1024636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15CE2E0-6DDF-4FAE-9DBA-F1C48BF5C133}" type="slidenum">
              <a:rPr lang="zh-CN" altLang="en-US" smtClean="0"/>
              <a:t>‹N°›</a:t>
            </a:fld>
            <a:endParaRPr lang="zh-CN" altLang="en-US" dirty="0"/>
          </a:p>
        </p:txBody>
      </p:sp>
    </p:spTree>
    <p:extLst>
      <p:ext uri="{BB962C8B-B14F-4D97-AF65-F5344CB8AC3E}">
        <p14:creationId xmlns:p14="http://schemas.microsoft.com/office/powerpoint/2010/main" val="3192423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 name="矩形 1">
            <a:hlinkClick r:id="rId2"/>
          </p:cNvPr>
          <p:cNvSpPr/>
          <p:nvPr userDrawn="1"/>
        </p:nvSpPr>
        <p:spPr bwMode="auto">
          <a:xfrm>
            <a:off x="0" y="0"/>
            <a:ext cx="12192000" cy="6858000"/>
          </a:xfrm>
          <a:prstGeom prst="rect">
            <a:avLst/>
          </a:prstGeom>
          <a:noFill/>
          <a:ln>
            <a:solidFill>
              <a:schemeClr val="tx1">
                <a:alpha val="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noAutofit/>
          </a:bodyPr>
          <a:lstStyle/>
          <a:p>
            <a:pPr algn="ctr" defTabSz="913765" fontAlgn="base">
              <a:lnSpc>
                <a:spcPct val="90000"/>
              </a:lnSpc>
              <a:spcBef>
                <a:spcPct val="0"/>
              </a:spcBef>
              <a:spcAft>
                <a:spcPct val="0"/>
              </a:spcAft>
            </a:pPr>
            <a:endParaRPr lang="zh-CN" altLang="en-US" sz="2355" dirty="0" err="1">
              <a:gradFill>
                <a:gsLst>
                  <a:gs pos="0">
                    <a:srgbClr val="FFFFFF"/>
                  </a:gs>
                  <a:gs pos="100000">
                    <a:srgbClr val="FFFFFF"/>
                  </a:gs>
                </a:gsLst>
                <a:lin ang="5400000" scaled="0"/>
              </a:gradFill>
              <a:latin typeface="华文细黑" panose="02010600040101010101" pitchFamily="2" charset="-122"/>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154995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A04EDDA3-E2AB-904A-BB85-4CC282BF9173}"/>
              </a:ext>
            </a:extLst>
          </p:cNvPr>
          <p:cNvSpPr/>
          <p:nvPr userDrawn="1"/>
        </p:nvSpPr>
        <p:spPr>
          <a:xfrm>
            <a:off x="3503376" y="1836078"/>
            <a:ext cx="8688625" cy="279632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a:ea typeface="微软雅黑 Light"/>
              <a:cs typeface="+mn-cs"/>
            </a:endParaRPr>
          </a:p>
        </p:txBody>
      </p:sp>
      <p:sp>
        <p:nvSpPr>
          <p:cNvPr id="14" name="矩形 13">
            <a:extLst>
              <a:ext uri="{FF2B5EF4-FFF2-40B4-BE49-F238E27FC236}">
                <a16:creationId xmlns:a16="http://schemas.microsoft.com/office/drawing/2014/main" id="{F51A0AAD-98DC-B248-9BA5-E40C2E1B5E7E}"/>
              </a:ext>
            </a:extLst>
          </p:cNvPr>
          <p:cNvSpPr/>
          <p:nvPr userDrawn="1"/>
        </p:nvSpPr>
        <p:spPr>
          <a:xfrm>
            <a:off x="4815704" y="1481206"/>
            <a:ext cx="7376296" cy="354873"/>
          </a:xfrm>
          <a:prstGeom prst="rect">
            <a:avLst/>
          </a:prstGeom>
          <a:pattFill prst="ltUpDiag">
            <a:fgClr>
              <a:schemeClr val="accent1"/>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a:ea typeface="微软雅黑 Light"/>
              <a:cs typeface="+mn-cs"/>
            </a:endParaRPr>
          </a:p>
        </p:txBody>
      </p:sp>
      <p:pic>
        <p:nvPicPr>
          <p:cNvPr id="15" name="Picture 3">
            <a:extLst>
              <a:ext uri="{FF2B5EF4-FFF2-40B4-BE49-F238E27FC236}">
                <a16:creationId xmlns:a16="http://schemas.microsoft.com/office/drawing/2014/main" id="{9FD70DE7-28CD-E242-B63B-A52835CB736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1088" y="1488810"/>
            <a:ext cx="4835696" cy="3143587"/>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ctrTitle"/>
          </p:nvPr>
        </p:nvSpPr>
        <p:spPr>
          <a:xfrm>
            <a:off x="5087756" y="2486887"/>
            <a:ext cx="6923430" cy="1470025"/>
          </a:xfrm>
          <a:prstGeom prst="rect">
            <a:avLst/>
          </a:prstGeom>
        </p:spPr>
        <p:txBody>
          <a:bodyPr/>
          <a:lstStyle>
            <a:lvl1pPr>
              <a:defRPr b="1">
                <a:solidFill>
                  <a:schemeClr val="bg1"/>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
        <p:nvSpPr>
          <p:cNvPr id="3" name="副标题 2"/>
          <p:cNvSpPr>
            <a:spLocks noGrp="1"/>
          </p:cNvSpPr>
          <p:nvPr>
            <p:ph type="subTitle" idx="1"/>
          </p:nvPr>
        </p:nvSpPr>
        <p:spPr>
          <a:xfrm>
            <a:off x="5258597" y="5194231"/>
            <a:ext cx="6581747" cy="365125"/>
          </a:xfrm>
          <a:prstGeom prst="rect">
            <a:avLst/>
          </a:prstGeom>
        </p:spPr>
        <p:txBody>
          <a:bodyPr>
            <a:normAutofit/>
          </a:bodyPr>
          <a:lstStyle>
            <a:lvl1pPr marL="0" indent="0" algn="ctr">
              <a:buNone/>
              <a:defRPr sz="2400">
                <a:solidFill>
                  <a:schemeClr val="tx1">
                    <a:lumMod val="85000"/>
                    <a:lumOff val="15000"/>
                  </a:schemeClr>
                </a:solidFill>
                <a:latin typeface="Microsoft YaHei" panose="020B0503020204020204" pitchFamily="34" charset="-122"/>
                <a:ea typeface="Microsoft YaHei" panose="020B0503020204020204" pitchFamily="34" charset="-122"/>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8400" indent="0" algn="ctr">
              <a:buNone/>
              <a:defRPr>
                <a:solidFill>
                  <a:schemeClr val="tx1">
                    <a:tint val="75000"/>
                  </a:schemeClr>
                </a:solidFill>
              </a:defRPr>
            </a:lvl5pPr>
            <a:lvl6pPr marL="3048000" indent="0" algn="ctr">
              <a:buNone/>
              <a:defRPr>
                <a:solidFill>
                  <a:schemeClr val="tx1">
                    <a:tint val="75000"/>
                  </a:schemeClr>
                </a:solidFill>
              </a:defRPr>
            </a:lvl6pPr>
            <a:lvl7pPr marL="3657600" indent="0" algn="ctr">
              <a:buNone/>
              <a:defRPr>
                <a:solidFill>
                  <a:schemeClr val="tx1">
                    <a:tint val="75000"/>
                  </a:schemeClr>
                </a:solidFill>
              </a:defRPr>
            </a:lvl7pPr>
            <a:lvl8pPr marL="4267200" indent="0" algn="ctr">
              <a:buNone/>
              <a:defRPr>
                <a:solidFill>
                  <a:schemeClr val="tx1">
                    <a:tint val="75000"/>
                  </a:schemeClr>
                </a:solidFill>
              </a:defRPr>
            </a:lvl8pPr>
            <a:lvl9pPr marL="48768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Tree>
    <p:extLst>
      <p:ext uri="{BB962C8B-B14F-4D97-AF65-F5344CB8AC3E}">
        <p14:creationId xmlns:p14="http://schemas.microsoft.com/office/powerpoint/2010/main" val="41569634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5CE2E0-6DDF-4FAE-9DBA-F1C48BF5C133}" type="slidenum">
              <a:rPr lang="zh-CN" altLang="en-US" smtClean="0"/>
              <a:t>‹N°›</a:t>
            </a:fld>
            <a:r>
              <a:rPr lang="en-US" altLang="zh-CN" dirty="0"/>
              <a:t>v</a:t>
            </a:r>
            <a:endParaRPr lang="zh-CN" altLang="en-US" dirty="0"/>
          </a:p>
        </p:txBody>
      </p:sp>
    </p:spTree>
    <p:extLst>
      <p:ext uri="{BB962C8B-B14F-4D97-AF65-F5344CB8AC3E}">
        <p14:creationId xmlns:p14="http://schemas.microsoft.com/office/powerpoint/2010/main" val="62120442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1.jpeg"/><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12.jpeg"/><Relationship Id="rId7" Type="http://schemas.openxmlformats.org/officeDocument/2006/relationships/image" Target="../media/image16.jpe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png"/><Relationship Id="rId9" Type="http://schemas.openxmlformats.org/officeDocument/2006/relationships/image" Target="../media/image18.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1.xml"/><Relationship Id="rId4" Type="http://schemas.openxmlformats.org/officeDocument/2006/relationships/image" Target="../media/image21.jpeg"/></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jpe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40.jpg"/><Relationship Id="rId3" Type="http://schemas.openxmlformats.org/officeDocument/2006/relationships/image" Target="../media/image35.png"/><Relationship Id="rId7" Type="http://schemas.openxmlformats.org/officeDocument/2006/relationships/image" Target="../media/image39.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emf"/><Relationship Id="rId4" Type="http://schemas.openxmlformats.org/officeDocument/2006/relationships/image" Target="../media/image36.svg"/></Relationships>
</file>

<file path=ppt/slides/_rels/slide16.xml.rels><?xml version="1.0" encoding="UTF-8" standalone="yes"?>
<Relationships xmlns="http://schemas.openxmlformats.org/package/2006/relationships"><Relationship Id="rId3" Type="http://schemas.openxmlformats.org/officeDocument/2006/relationships/image" Target="../media/image36.svg"/><Relationship Id="rId7" Type="http://schemas.openxmlformats.org/officeDocument/2006/relationships/image" Target="../media/image40.jpg"/><Relationship Id="rId2" Type="http://schemas.openxmlformats.org/officeDocument/2006/relationships/image" Target="../media/image35.png"/><Relationship Id="rId1" Type="http://schemas.openxmlformats.org/officeDocument/2006/relationships/slideLayout" Target="../slideLayouts/slideLayout1.xml"/><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emf"/></Relationships>
</file>

<file path=ppt/slides/_rels/slide17.xml.rels><?xml version="1.0" encoding="UTF-8" standalone="yes"?>
<Relationships xmlns="http://schemas.openxmlformats.org/package/2006/relationships"><Relationship Id="rId3" Type="http://schemas.openxmlformats.org/officeDocument/2006/relationships/image" Target="../media/image36.svg"/><Relationship Id="rId7" Type="http://schemas.openxmlformats.org/officeDocument/2006/relationships/image" Target="../media/image40.jpg"/><Relationship Id="rId2" Type="http://schemas.openxmlformats.org/officeDocument/2006/relationships/image" Target="../media/image35.png"/><Relationship Id="rId1" Type="http://schemas.openxmlformats.org/officeDocument/2006/relationships/slideLayout" Target="../slideLayouts/slideLayout1.xml"/><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emf"/></Relationships>
</file>

<file path=ppt/slides/_rels/slide18.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1.xml"/><Relationship Id="rId5" Type="http://schemas.openxmlformats.org/officeDocument/2006/relationships/image" Target="../media/image37.emf"/><Relationship Id="rId4" Type="http://schemas.openxmlformats.org/officeDocument/2006/relationships/image" Target="../media/image40.jpg"/></Relationships>
</file>

<file path=ppt/slides/_rels/slide1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42.jpeg"/></Relationships>
</file>

<file path=ppt/slides/_rels/slide2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8.jpeg"/><Relationship Id="rId7" Type="http://schemas.openxmlformats.org/officeDocument/2006/relationships/image" Target="../media/image36.sv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50.svg"/><Relationship Id="rId4" Type="http://schemas.openxmlformats.org/officeDocument/2006/relationships/image" Target="../media/image4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6.svg"/></Relationships>
</file>

<file path=ppt/slides/_rels/slide37.x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7.svg"/><Relationship Id="rId5" Type="http://schemas.openxmlformats.org/officeDocument/2006/relationships/image" Target="../media/image56.png"/><Relationship Id="rId4" Type="http://schemas.openxmlformats.org/officeDocument/2006/relationships/image" Target="../media/image36.svg"/></Relationships>
</file>

<file path=ppt/slides/_rels/slide40.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37.emf"/><Relationship Id="rId1" Type="http://schemas.openxmlformats.org/officeDocument/2006/relationships/slideLayout" Target="../slideLayouts/slideLayout1.xml"/><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60.svg"/></Relationships>
</file>

<file path=ppt/slides/_rels/slide4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37.emf"/><Relationship Id="rId1" Type="http://schemas.openxmlformats.org/officeDocument/2006/relationships/slideLayout" Target="../slideLayouts/slideLayout1.xml"/><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62.svg"/></Relationships>
</file>

<file path=ppt/slides/_rels/slide46.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media/image68.png"/><Relationship Id="rId3" Type="http://schemas.openxmlformats.org/officeDocument/2006/relationships/image" Target="../media/image37.emf"/><Relationship Id="rId21" Type="http://schemas.openxmlformats.org/officeDocument/2006/relationships/image" Target="../media/image62.png"/><Relationship Id="rId12" Type="http://schemas.openxmlformats.org/officeDocument/2006/relationships/image" Target="../media/image67.png"/><Relationship Id="rId2" Type="http://schemas.openxmlformats.org/officeDocument/2006/relationships/notesSlide" Target="../notesSlides/notesSlide24.xml"/><Relationship Id="rId20" Type="http://schemas.openxmlformats.org/officeDocument/2006/relationships/image" Target="../media/image610.png"/><Relationship Id="rId1" Type="http://schemas.openxmlformats.org/officeDocument/2006/relationships/slideLayout" Target="../slideLayouts/slideLayout1.xml"/><Relationship Id="rId6" Type="http://schemas.openxmlformats.org/officeDocument/2006/relationships/image" Target="NULL"/><Relationship Id="rId11" Type="http://schemas.openxmlformats.org/officeDocument/2006/relationships/image" Target="../media/image66.png"/><Relationship Id="rId15" Type="http://schemas.openxmlformats.org/officeDocument/2006/relationships/image" Target="../media/image62.svg"/><Relationship Id="rId10" Type="http://schemas.openxmlformats.org/officeDocument/2006/relationships/image" Target="../media/image36.svg"/><Relationship Id="rId19" Type="http://schemas.openxmlformats.org/officeDocument/2006/relationships/image" Target="../media/image590.png"/><Relationship Id="rId9" Type="http://schemas.openxmlformats.org/officeDocument/2006/relationships/image" Target="../media/image35.png"/><Relationship Id="rId14" Type="http://schemas.openxmlformats.org/officeDocument/2006/relationships/image" Target="../media/image61.png"/><Relationship Id="rId22" Type="http://schemas.openxmlformats.org/officeDocument/2006/relationships/image" Target="../media/image630.png"/></Relationships>
</file>

<file path=ppt/slides/_rels/slide51.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media/image71.png"/><Relationship Id="rId3" Type="http://schemas.openxmlformats.org/officeDocument/2006/relationships/image" Target="../media/image37.emf"/><Relationship Id="rId21" Type="http://schemas.openxmlformats.org/officeDocument/2006/relationships/image" Target="../media/image62.png"/><Relationship Id="rId7" Type="http://schemas.openxmlformats.org/officeDocument/2006/relationships/image" Target="NULL"/><Relationship Id="rId12" Type="http://schemas.openxmlformats.org/officeDocument/2006/relationships/image" Target="../media/image70.png"/><Relationship Id="rId2" Type="http://schemas.openxmlformats.org/officeDocument/2006/relationships/notesSlide" Target="../notesSlides/notesSlide25.xml"/><Relationship Id="rId20" Type="http://schemas.openxmlformats.org/officeDocument/2006/relationships/image" Target="../media/image610.png"/><Relationship Id="rId1" Type="http://schemas.openxmlformats.org/officeDocument/2006/relationships/slideLayout" Target="../slideLayouts/slideLayout1.xml"/><Relationship Id="rId6" Type="http://schemas.openxmlformats.org/officeDocument/2006/relationships/image" Target="NULL"/><Relationship Id="rId11" Type="http://schemas.openxmlformats.org/officeDocument/2006/relationships/image" Target="../media/image69.png"/><Relationship Id="rId15" Type="http://schemas.openxmlformats.org/officeDocument/2006/relationships/image" Target="../media/image62.svg"/><Relationship Id="rId10" Type="http://schemas.openxmlformats.org/officeDocument/2006/relationships/image" Target="../media/image36.svg"/><Relationship Id="rId19" Type="http://schemas.openxmlformats.org/officeDocument/2006/relationships/image" Target="../media/image590.png"/><Relationship Id="rId9" Type="http://schemas.openxmlformats.org/officeDocument/2006/relationships/image" Target="../media/image35.png"/><Relationship Id="rId14" Type="http://schemas.openxmlformats.org/officeDocument/2006/relationships/image" Target="../media/image61.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8" Type="http://schemas.openxmlformats.org/officeDocument/2006/relationships/image" Target="../media/image611.png"/><Relationship Id="rId3" Type="http://schemas.openxmlformats.org/officeDocument/2006/relationships/image" Target="../media/image72.png"/><Relationship Id="rId7" Type="http://schemas.openxmlformats.org/officeDocument/2006/relationships/image" Target="NULL"/><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37.emf"/><Relationship Id="rId5" Type="http://schemas.openxmlformats.org/officeDocument/2006/relationships/image" Target="../media/image62.svg"/><Relationship Id="rId10" Type="http://schemas.openxmlformats.org/officeDocument/2006/relationships/image" Target="../media/image65.png"/><Relationship Id="rId4" Type="http://schemas.openxmlformats.org/officeDocument/2006/relationships/image" Target="../media/image61.png"/><Relationship Id="rId9" Type="http://schemas.openxmlformats.org/officeDocument/2006/relationships/image" Target="../media/image640.png"/></Relationships>
</file>

<file path=ppt/slides/_rels/slide54.xml.rels><?xml version="1.0" encoding="UTF-8" standalone="yes"?>
<Relationships xmlns="http://schemas.openxmlformats.org/package/2006/relationships"><Relationship Id="rId8" Type="http://schemas.openxmlformats.org/officeDocument/2006/relationships/image" Target="../media/image62.svg"/><Relationship Id="rId3" Type="http://schemas.openxmlformats.org/officeDocument/2006/relationships/image" Target="../media/image660.png"/><Relationship Id="rId7" Type="http://schemas.openxmlformats.org/officeDocument/2006/relationships/image" Target="../media/image61.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73.png"/><Relationship Id="rId5" Type="http://schemas.openxmlformats.org/officeDocument/2006/relationships/image" Target="../media/image680.png"/><Relationship Id="rId10" Type="http://schemas.openxmlformats.org/officeDocument/2006/relationships/image" Target="NULL"/><Relationship Id="rId4" Type="http://schemas.openxmlformats.org/officeDocument/2006/relationships/image" Target="../media/image670.png"/><Relationship Id="rId9" Type="http://schemas.openxmlformats.org/officeDocument/2006/relationships/image" Target="../media/image37.emf"/></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8" Type="http://schemas.openxmlformats.org/officeDocument/2006/relationships/image" Target="../media/image37.emf"/><Relationship Id="rId3" Type="http://schemas.openxmlformats.org/officeDocument/2006/relationships/image" Target="../media/image61.png"/><Relationship Id="rId7" Type="http://schemas.openxmlformats.org/officeDocument/2006/relationships/image" Target="NULL"/><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media/image62.svg"/><Relationship Id="rId9" Type="http://schemas.openxmlformats.org/officeDocument/2006/relationships/image" Target="../media/image74.png"/></Relationships>
</file>

<file path=ppt/slides/_rels/slide57.xml.rels><?xml version="1.0" encoding="UTF-8" standalone="yes"?>
<Relationships xmlns="http://schemas.openxmlformats.org/package/2006/relationships"><Relationship Id="rId8" Type="http://schemas.openxmlformats.org/officeDocument/2006/relationships/image" Target="../media/image37.emf"/><Relationship Id="rId3" Type="http://schemas.openxmlformats.org/officeDocument/2006/relationships/image" Target="../media/image61.png"/><Relationship Id="rId7" Type="http://schemas.openxmlformats.org/officeDocument/2006/relationships/image" Target="NULL"/><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media/image62.svg"/></Relationships>
</file>

<file path=ppt/slides/_rels/slide58.xml.rels><?xml version="1.0" encoding="UTF-8" standalone="yes"?>
<Relationships xmlns="http://schemas.openxmlformats.org/package/2006/relationships"><Relationship Id="rId8" Type="http://schemas.openxmlformats.org/officeDocument/2006/relationships/image" Target="../media/image37.emf"/><Relationship Id="rId3" Type="http://schemas.openxmlformats.org/officeDocument/2006/relationships/image" Target="../media/image61.png"/><Relationship Id="rId7" Type="http://schemas.openxmlformats.org/officeDocument/2006/relationships/image" Target="NULL"/><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media/image62.svg"/><Relationship Id="rId9" Type="http://schemas.openxmlformats.org/officeDocument/2006/relationships/image" Target="../media/image75.png"/></Relationships>
</file>

<file path=ppt/slides/_rels/slide5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77.png"/></Relationships>
</file>

<file path=ppt/slides/_rels/slide60.xml.rels><?xml version="1.0" encoding="UTF-8" standalone="yes"?>
<Relationships xmlns="http://schemas.openxmlformats.org/package/2006/relationships"><Relationship Id="rId2" Type="http://schemas.openxmlformats.org/officeDocument/2006/relationships/image" Target="../media/image78.jp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80.svg"/><Relationship Id="rId7" Type="http://schemas.openxmlformats.org/officeDocument/2006/relationships/image" Target="../media/image84.svg"/><Relationship Id="rId2" Type="http://schemas.openxmlformats.org/officeDocument/2006/relationships/image" Target="../media/image79.png"/><Relationship Id="rId1" Type="http://schemas.openxmlformats.org/officeDocument/2006/relationships/slideLayout" Target="../slideLayouts/slideLayout1.xml"/><Relationship Id="rId6" Type="http://schemas.openxmlformats.org/officeDocument/2006/relationships/image" Target="../media/image83.png"/><Relationship Id="rId11" Type="http://schemas.openxmlformats.org/officeDocument/2006/relationships/image" Target="../media/image88.svg"/><Relationship Id="rId5" Type="http://schemas.openxmlformats.org/officeDocument/2006/relationships/image" Target="../media/image82.svg"/><Relationship Id="rId10" Type="http://schemas.openxmlformats.org/officeDocument/2006/relationships/image" Target="../media/image87.png"/><Relationship Id="rId4" Type="http://schemas.openxmlformats.org/officeDocument/2006/relationships/image" Target="../media/image81.png"/><Relationship Id="rId9" Type="http://schemas.openxmlformats.org/officeDocument/2006/relationships/image" Target="../media/image86.svg"/></Relationships>
</file>

<file path=ppt/slides/_rels/slide62.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90.tiff"/></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91.emf"/><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94.jpeg"/></Relationships>
</file>

<file path=ppt/slides/_rels/slide68.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40.xml"/><Relationship Id="rId1" Type="http://schemas.openxmlformats.org/officeDocument/2006/relationships/slideLayout" Target="../slideLayouts/slideLayout1.xml"/><Relationship Id="rId5" Type="http://schemas.openxmlformats.org/officeDocument/2006/relationships/image" Target="../media/image97.png"/><Relationship Id="rId4" Type="http://schemas.openxmlformats.org/officeDocument/2006/relationships/image" Target="../media/image96.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98.emf"/><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99.emf"/><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910.png"/><Relationship Id="rId7" Type="http://schemas.openxmlformats.org/officeDocument/2006/relationships/image" Target="../media/image930.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920.png"/><Relationship Id="rId5" Type="http://schemas.openxmlformats.org/officeDocument/2006/relationships/image" Target="../media/image100.jpeg"/><Relationship Id="rId4" Type="http://schemas.openxmlformats.org/officeDocument/2006/relationships/image" Target="../media/image921.png"/></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1.xml"/><Relationship Id="rId4" Type="http://schemas.openxmlformats.org/officeDocument/2006/relationships/image" Target="../media/image37.emf"/></Relationships>
</file>

<file path=ppt/slides/_rels/slide77.xml.rels><?xml version="1.0" encoding="UTF-8" standalone="yes"?>
<Relationships xmlns="http://schemas.openxmlformats.org/package/2006/relationships"><Relationship Id="rId3" Type="http://schemas.openxmlformats.org/officeDocument/2006/relationships/image" Target="../media/image103.svg"/><Relationship Id="rId2" Type="http://schemas.openxmlformats.org/officeDocument/2006/relationships/image" Target="../media/image102.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jpg"/><Relationship Id="rId1" Type="http://schemas.openxmlformats.org/officeDocument/2006/relationships/slideLayout" Target="../slideLayouts/slideLayout1.xml"/><Relationship Id="rId6" Type="http://schemas.openxmlformats.org/officeDocument/2006/relationships/image" Target="../media/image108.jpeg"/><Relationship Id="rId5" Type="http://schemas.openxmlformats.org/officeDocument/2006/relationships/image" Target="../media/image107.jpeg"/><Relationship Id="rId4" Type="http://schemas.openxmlformats.org/officeDocument/2006/relationships/image" Target="../media/image106.jpg"/></Relationships>
</file>

<file path=ppt/slides/_rels/slide82.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49.png"/><Relationship Id="rId7" Type="http://schemas.openxmlformats.org/officeDocument/2006/relationships/image" Target="NULL"/><Relationship Id="rId2" Type="http://schemas.openxmlformats.org/officeDocument/2006/relationships/image" Target="../media/image110.png"/><Relationship Id="rId1" Type="http://schemas.openxmlformats.org/officeDocument/2006/relationships/slideLayout" Target="../slideLayouts/slideLayout1.xml"/><Relationship Id="rId6"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media/image50.svg"/><Relationship Id="rId9" Type="http://schemas.openxmlformats.org/officeDocument/2006/relationships/image" Target="NULL"/></Relationships>
</file>

<file path=ppt/slides/_rels/slide86.xml.rels><?xml version="1.0" encoding="UTF-8" standalone="yes"?>
<Relationships xmlns="http://schemas.openxmlformats.org/package/2006/relationships"><Relationship Id="rId8" Type="http://schemas.openxmlformats.org/officeDocument/2006/relationships/image" Target="../media/image114.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image" Target="../media/image111.png"/><Relationship Id="rId1" Type="http://schemas.openxmlformats.org/officeDocument/2006/relationships/slideLayout" Target="../slideLayouts/slideLayout1.xml"/><Relationship Id="rId6" Type="http://schemas.openxmlformats.org/officeDocument/2006/relationships/image" Target="../media/image113.emf"/><Relationship Id="rId5" Type="http://schemas.openxmlformats.org/officeDocument/2006/relationships/oleObject" Target="../embeddings/oleObject2.bin"/><Relationship Id="rId4" Type="http://schemas.openxmlformats.org/officeDocument/2006/relationships/image" Target="../media/image112.emf"/><Relationship Id="rId9" Type="http://schemas.openxmlformats.org/officeDocument/2006/relationships/image" Target="../media/image115.png"/></Relationships>
</file>

<file path=ppt/slides/_rels/slide87.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1.xml"/><Relationship Id="rId4" Type="http://schemas.openxmlformats.org/officeDocument/2006/relationships/image" Target="../media/image118.png"/></Relationships>
</file>

<file path=ppt/slides/_rels/slide88.xml.rels><?xml version="1.0" encoding="UTF-8" standalone="yes"?>
<Relationships xmlns="http://schemas.openxmlformats.org/package/2006/relationships"><Relationship Id="rId3" Type="http://schemas.openxmlformats.org/officeDocument/2006/relationships/image" Target="../media/image117.emf"/><Relationship Id="rId2" Type="http://schemas.openxmlformats.org/officeDocument/2006/relationships/oleObject" Target="../embeddings/oleObject4.bin"/><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50.xml"/><Relationship Id="rId1" Type="http://schemas.openxmlformats.org/officeDocument/2006/relationships/slideLayout" Target="../slideLayouts/slideLayout1.xml"/><Relationship Id="rId5" Type="http://schemas.openxmlformats.org/officeDocument/2006/relationships/image" Target="../media/image90.tiff"/><Relationship Id="rId4" Type="http://schemas.openxmlformats.org/officeDocument/2006/relationships/image" Target="../media/image122.png"/></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129.jpeg"/><Relationship Id="rId5" Type="http://schemas.openxmlformats.org/officeDocument/2006/relationships/image" Target="../media/image128.jpeg"/><Relationship Id="rId4" Type="http://schemas.openxmlformats.org/officeDocument/2006/relationships/image" Target="../media/image127.jpeg"/></Relationships>
</file>

<file path=ppt/slides/_rels/slide104.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60.xml"/><Relationship Id="rId1" Type="http://schemas.openxmlformats.org/officeDocument/2006/relationships/slideLayout" Target="../slideLayouts/slideLayout1.xml"/><Relationship Id="rId6" Type="http://schemas.openxmlformats.org/officeDocument/2006/relationships/image" Target="../media/image129.jpeg"/><Relationship Id="rId5" Type="http://schemas.openxmlformats.org/officeDocument/2006/relationships/image" Target="../media/image128.jpeg"/><Relationship Id="rId4" Type="http://schemas.openxmlformats.org/officeDocument/2006/relationships/image" Target="../media/image127.jpe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3" Type="http://schemas.openxmlformats.org/officeDocument/2006/relationships/image" Target="../media/image132.jpg"/><Relationship Id="rId7" Type="http://schemas.openxmlformats.org/officeDocument/2006/relationships/image" Target="../media/image136.jpeg"/><Relationship Id="rId2" Type="http://schemas.openxmlformats.org/officeDocument/2006/relationships/image" Target="../media/image131.jpg"/><Relationship Id="rId1" Type="http://schemas.openxmlformats.org/officeDocument/2006/relationships/slideLayout" Target="../slideLayouts/slideLayout1.xml"/><Relationship Id="rId6" Type="http://schemas.openxmlformats.org/officeDocument/2006/relationships/image" Target="../media/image135.jpeg"/><Relationship Id="rId5" Type="http://schemas.openxmlformats.org/officeDocument/2006/relationships/image" Target="../media/image134.jpeg"/><Relationship Id="rId4" Type="http://schemas.openxmlformats.org/officeDocument/2006/relationships/image" Target="../media/image133.jpeg"/></Relationships>
</file>

<file path=ppt/slides/_rels/slide118.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9.png"/><Relationship Id="rId1" Type="http://schemas.openxmlformats.org/officeDocument/2006/relationships/slideLayout" Target="../slideLayouts/slideLayout1.xml"/><Relationship Id="rId6" Type="http://schemas.openxmlformats.org/officeDocument/2006/relationships/image" Target="../media/image40.jpg"/><Relationship Id="rId5" Type="http://schemas.openxmlformats.org/officeDocument/2006/relationships/image" Target="../media/image36.svg"/><Relationship Id="rId4" Type="http://schemas.openxmlformats.org/officeDocument/2006/relationships/image" Target="../media/image35.png"/></Relationships>
</file>

<file path=ppt/slides/_rels/slide119.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80.svg"/><Relationship Id="rId7" Type="http://schemas.openxmlformats.org/officeDocument/2006/relationships/image" Target="../media/image84.svg"/><Relationship Id="rId2" Type="http://schemas.openxmlformats.org/officeDocument/2006/relationships/image" Target="../media/image79.png"/><Relationship Id="rId1" Type="http://schemas.openxmlformats.org/officeDocument/2006/relationships/slideLayout" Target="../slideLayouts/slideLayout1.xml"/><Relationship Id="rId6" Type="http://schemas.openxmlformats.org/officeDocument/2006/relationships/image" Target="../media/image83.png"/><Relationship Id="rId11" Type="http://schemas.openxmlformats.org/officeDocument/2006/relationships/image" Target="../media/image88.svg"/><Relationship Id="rId5" Type="http://schemas.openxmlformats.org/officeDocument/2006/relationships/image" Target="../media/image82.svg"/><Relationship Id="rId10" Type="http://schemas.openxmlformats.org/officeDocument/2006/relationships/image" Target="../media/image87.png"/><Relationship Id="rId4" Type="http://schemas.openxmlformats.org/officeDocument/2006/relationships/image" Target="../media/image81.png"/><Relationship Id="rId9" Type="http://schemas.openxmlformats.org/officeDocument/2006/relationships/image" Target="../media/image86.svg"/></Relationships>
</file>

<file path=ppt/slides/_rels/slide120.xml.rels><?xml version="1.0" encoding="UTF-8" standalone="yes"?>
<Relationships xmlns="http://schemas.openxmlformats.org/package/2006/relationships"><Relationship Id="rId8" Type="http://schemas.openxmlformats.org/officeDocument/2006/relationships/image" Target="../media/image143.svg"/><Relationship Id="rId3" Type="http://schemas.openxmlformats.org/officeDocument/2006/relationships/image" Target="../media/image138.png"/><Relationship Id="rId7" Type="http://schemas.openxmlformats.org/officeDocument/2006/relationships/image" Target="../media/image142.png"/><Relationship Id="rId2" Type="http://schemas.openxmlformats.org/officeDocument/2006/relationships/image" Target="../media/image137.png"/><Relationship Id="rId1" Type="http://schemas.openxmlformats.org/officeDocument/2006/relationships/slideLayout" Target="../slideLayouts/slideLayout1.xml"/><Relationship Id="rId6" Type="http://schemas.openxmlformats.org/officeDocument/2006/relationships/image" Target="../media/image141.svg"/><Relationship Id="rId5" Type="http://schemas.openxmlformats.org/officeDocument/2006/relationships/image" Target="../media/image140.png"/><Relationship Id="rId4" Type="http://schemas.openxmlformats.org/officeDocument/2006/relationships/image" Target="../media/image139.svg"/></Relationships>
</file>

<file path=ppt/slides/_rels/slide121.xml.rels><?xml version="1.0" encoding="UTF-8" standalone="yes"?>
<Relationships xmlns="http://schemas.openxmlformats.org/package/2006/relationships"><Relationship Id="rId3" Type="http://schemas.openxmlformats.org/officeDocument/2006/relationships/image" Target="../media/image139.svg"/><Relationship Id="rId7" Type="http://schemas.openxmlformats.org/officeDocument/2006/relationships/image" Target="../media/image143.svg"/><Relationship Id="rId2" Type="http://schemas.openxmlformats.org/officeDocument/2006/relationships/image" Target="../media/image138.png"/><Relationship Id="rId1" Type="http://schemas.openxmlformats.org/officeDocument/2006/relationships/slideLayout" Target="../slideLayouts/slideLayout1.xml"/><Relationship Id="rId6" Type="http://schemas.openxmlformats.org/officeDocument/2006/relationships/image" Target="../media/image142.png"/><Relationship Id="rId5" Type="http://schemas.openxmlformats.org/officeDocument/2006/relationships/image" Target="../media/image141.svg"/><Relationship Id="rId4" Type="http://schemas.openxmlformats.org/officeDocument/2006/relationships/image" Target="../media/image140.png"/></Relationships>
</file>

<file path=ppt/slides/_rels/slide122.xml.rels><?xml version="1.0" encoding="UTF-8" standalone="yes"?>
<Relationships xmlns="http://schemas.openxmlformats.org/package/2006/relationships"><Relationship Id="rId3" Type="http://schemas.openxmlformats.org/officeDocument/2006/relationships/image" Target="../media/image145.emf"/><Relationship Id="rId2" Type="http://schemas.openxmlformats.org/officeDocument/2006/relationships/image" Target="../media/image144.emf"/><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3" Type="http://schemas.openxmlformats.org/officeDocument/2006/relationships/image" Target="../media/image139.svg"/><Relationship Id="rId7" Type="http://schemas.openxmlformats.org/officeDocument/2006/relationships/image" Target="../media/image143.svg"/><Relationship Id="rId2" Type="http://schemas.openxmlformats.org/officeDocument/2006/relationships/image" Target="../media/image138.png"/><Relationship Id="rId1" Type="http://schemas.openxmlformats.org/officeDocument/2006/relationships/slideLayout" Target="../slideLayouts/slideLayout1.xml"/><Relationship Id="rId6" Type="http://schemas.openxmlformats.org/officeDocument/2006/relationships/image" Target="../media/image142.png"/><Relationship Id="rId5" Type="http://schemas.openxmlformats.org/officeDocument/2006/relationships/image" Target="../media/image141.svg"/><Relationship Id="rId4" Type="http://schemas.openxmlformats.org/officeDocument/2006/relationships/image" Target="../media/image140.png"/></Relationships>
</file>

<file path=ppt/slides/_rels/slide124.xml.rels><?xml version="1.0" encoding="UTF-8" standalone="yes"?>
<Relationships xmlns="http://schemas.openxmlformats.org/package/2006/relationships"><Relationship Id="rId3" Type="http://schemas.openxmlformats.org/officeDocument/2006/relationships/image" Target="../media/image146.tiff"/><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3" Type="http://schemas.openxmlformats.org/officeDocument/2006/relationships/image" Target="../media/image147.jpe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3" Type="http://schemas.openxmlformats.org/officeDocument/2006/relationships/image" Target="../media/image148.jpg"/><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1.xml"/><Relationship Id="rId1" Type="http://schemas.openxmlformats.org/officeDocument/2006/relationships/slideLayout" Target="../slideLayouts/slideLayout1.xml"/><Relationship Id="rId4" Type="http://schemas.openxmlformats.org/officeDocument/2006/relationships/image" Target="../media/image36.svg"/></Relationships>
</file>

<file path=ppt/slides/_rels/slide129.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6.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134.xml.rels><?xml version="1.0" encoding="UTF-8" standalone="yes"?>
<Relationships xmlns="http://schemas.openxmlformats.org/package/2006/relationships"><Relationship Id="rId3" Type="http://schemas.openxmlformats.org/officeDocument/2006/relationships/image" Target="../media/image151.jpeg"/><Relationship Id="rId2" Type="http://schemas.openxmlformats.org/officeDocument/2006/relationships/notesSlide" Target="../notesSlides/notesSlide77.xml"/><Relationship Id="rId1" Type="http://schemas.openxmlformats.org/officeDocument/2006/relationships/slideLayout" Target="../slideLayouts/slideLayout1.xml"/><Relationship Id="rId5" Type="http://schemas.openxmlformats.org/officeDocument/2006/relationships/image" Target="../media/image153.jpeg"/><Relationship Id="rId4" Type="http://schemas.openxmlformats.org/officeDocument/2006/relationships/image" Target="../media/image15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AF59D9-F20D-8045-B8AD-C6513098F6BA}"/>
              </a:ext>
            </a:extLst>
          </p:cNvPr>
          <p:cNvSpPr>
            <a:spLocks noGrp="1"/>
          </p:cNvSpPr>
          <p:nvPr>
            <p:ph type="ctrTitle"/>
          </p:nvPr>
        </p:nvSpPr>
        <p:spPr/>
        <p:txBody>
          <a:bodyPr/>
          <a:lstStyle/>
          <a:p>
            <a:pPr algn="ctr"/>
            <a:r>
              <a:rPr kumimoji="1" lang="zh-CN" altLang="en-US" dirty="0">
                <a:solidFill>
                  <a:schemeClr val="bg1">
                    <a:lumMod val="95000"/>
                  </a:schemeClr>
                </a:solidFill>
              </a:rPr>
              <a:t>分布式系統安全</a:t>
            </a:r>
          </a:p>
        </p:txBody>
      </p:sp>
      <p:sp>
        <p:nvSpPr>
          <p:cNvPr id="3" name="矩形 2"/>
          <p:cNvSpPr/>
          <p:nvPr/>
        </p:nvSpPr>
        <p:spPr>
          <a:xfrm>
            <a:off x="565266" y="169250"/>
            <a:ext cx="2108269" cy="369332"/>
          </a:xfrm>
          <a:prstGeom prst="rect">
            <a:avLst/>
          </a:prstGeom>
        </p:spPr>
        <p:txBody>
          <a:bodyPr wrap="none">
            <a:spAutoFit/>
          </a:bodyPr>
          <a:lstStyle/>
          <a:p>
            <a:r>
              <a:rPr kumimoji="1" lang="zh-CN" altLang="en-US" b="1" dirty="0">
                <a:solidFill>
                  <a:schemeClr val="bg1">
                    <a:lumMod val="50000"/>
                  </a:schemeClr>
                </a:solidFill>
              </a:rPr>
              <a:t>網絡空間安全導論</a:t>
            </a:r>
            <a:endParaRPr lang="zh-CN" altLang="en-US" b="1" dirty="0">
              <a:solidFill>
                <a:schemeClr val="bg1">
                  <a:lumMod val="50000"/>
                </a:schemeClr>
              </a:solidFill>
            </a:endParaRPr>
          </a:p>
        </p:txBody>
      </p:sp>
      <p:pic>
        <p:nvPicPr>
          <p:cNvPr id="5" name="图片 4">
            <a:extLst>
              <a:ext uri="{FF2B5EF4-FFF2-40B4-BE49-F238E27FC236}">
                <a16:creationId xmlns:a16="http://schemas.microsoft.com/office/drawing/2014/main" id="{0FE6FCD0-FA89-B441-A733-B32B5C383245}"/>
              </a:ext>
            </a:extLst>
          </p:cNvPr>
          <p:cNvPicPr>
            <a:picLocks noChangeAspect="1"/>
          </p:cNvPicPr>
          <p:nvPr/>
        </p:nvPicPr>
        <p:blipFill>
          <a:blip r:embed="rId3"/>
          <a:stretch>
            <a:fillRect/>
          </a:stretch>
        </p:blipFill>
        <p:spPr>
          <a:xfrm>
            <a:off x="239235" y="191706"/>
            <a:ext cx="326031" cy="324421"/>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sp>
        <p:nvSpPr>
          <p:cNvPr id="4" name="副标题 2">
            <a:extLst>
              <a:ext uri="{FF2B5EF4-FFF2-40B4-BE49-F238E27FC236}">
                <a16:creationId xmlns:a16="http://schemas.microsoft.com/office/drawing/2014/main" id="{FB59FF11-54A7-27E2-5E7B-B4ADE69EC76F}"/>
              </a:ext>
            </a:extLst>
          </p:cNvPr>
          <p:cNvSpPr txBox="1">
            <a:spLocks/>
          </p:cNvSpPr>
          <p:nvPr/>
        </p:nvSpPr>
        <p:spPr>
          <a:xfrm>
            <a:off x="4693328" y="5244602"/>
            <a:ext cx="2805343" cy="89585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lumMod val="85000"/>
                    <a:lumOff val="15000"/>
                  </a:schemeClr>
                </a:solidFill>
                <a:latin typeface="Microsoft YaHei" panose="020B0503020204020204" pitchFamily="34" charset="-122"/>
                <a:ea typeface="Microsoft YaHei" panose="020B0503020204020204" pitchFamily="34" charset="-122"/>
                <a:cs typeface="+mn-cs"/>
              </a:defRPr>
            </a:lvl1pPr>
            <a:lvl2pPr marL="609600"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1219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8288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2438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30480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36576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42672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48768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r>
              <a:rPr kumimoji="1" lang="zh-CN" altLang="en-CN" dirty="0">
                <a:solidFill>
                  <a:srgbClr val="000000">
                    <a:lumMod val="85000"/>
                    <a:lumOff val="15000"/>
                  </a:srgbClr>
                </a:solidFill>
              </a:rPr>
              <a:t>李</a:t>
            </a:r>
            <a:r>
              <a:rPr kumimoji="1" lang="zh-CN" altLang="en-US" dirty="0">
                <a:solidFill>
                  <a:srgbClr val="000000">
                    <a:lumMod val="85000"/>
                    <a:lumOff val="15000"/>
                  </a:srgbClr>
                </a:solidFill>
              </a:rPr>
              <a:t>琦</a:t>
            </a:r>
            <a:endParaRPr kumimoji="1" lang="en-US" altLang="zh-CN" dirty="0">
              <a:solidFill>
                <a:srgbClr val="000000">
                  <a:lumMod val="85000"/>
                  <a:lumOff val="15000"/>
                </a:srgbClr>
              </a:solidFill>
            </a:endParaRPr>
          </a:p>
          <a:p>
            <a:r>
              <a:rPr kumimoji="1" lang="zh-CN" altLang="en-US" dirty="0">
                <a:solidFill>
                  <a:srgbClr val="000000">
                    <a:lumMod val="85000"/>
                    <a:lumOff val="15000"/>
                  </a:srgbClr>
                </a:solidFill>
              </a:rPr>
              <a:t>清華大學網研院</a:t>
            </a:r>
          </a:p>
        </p:txBody>
      </p:sp>
    </p:spTree>
    <p:extLst>
      <p:ext uri="{BB962C8B-B14F-4D97-AF65-F5344CB8AC3E}">
        <p14:creationId xmlns:p14="http://schemas.microsoft.com/office/powerpoint/2010/main" val="38116558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solidFill>
                  <a:srgbClr val="C00000"/>
                </a:solidFill>
              </a:rPr>
              <a:t>分布式系統的起源</a:t>
            </a:r>
          </a:p>
        </p:txBody>
      </p:sp>
      <p:sp>
        <p:nvSpPr>
          <p:cNvPr id="11" name="文本框 14">
            <a:extLst>
              <a:ext uri="{FF2B5EF4-FFF2-40B4-BE49-F238E27FC236}">
                <a16:creationId xmlns:a16="http://schemas.microsoft.com/office/drawing/2014/main" id="{686DCF52-9F11-5949-AE40-60D080C4ABE7}"/>
              </a:ext>
            </a:extLst>
          </p:cNvPr>
          <p:cNvSpPr txBox="1"/>
          <p:nvPr/>
        </p:nvSpPr>
        <p:spPr>
          <a:xfrm>
            <a:off x="606946" y="1140035"/>
            <a:ext cx="11100372" cy="2358466"/>
          </a:xfrm>
          <a:prstGeom prst="rect">
            <a:avLst/>
          </a:prstGeom>
          <a:noFill/>
          <a:ln>
            <a:solidFill>
              <a:srgbClr val="00B0F0"/>
            </a:solidFill>
          </a:ln>
        </p:spPr>
        <p:txBody>
          <a:bodyPr wrap="square" rtlCol="0">
            <a:spAutoFit/>
          </a:bodyPr>
          <a:lstStyle/>
          <a:p>
            <a:pPr marL="342900" indent="-342900" algn="just">
              <a:lnSpc>
                <a:spcPts val="3600"/>
              </a:lnSpc>
              <a:buFont typeface="Arial" panose="020B0604020202020204" pitchFamily="34" charset="0"/>
              <a:buChar char="•"/>
            </a:pPr>
            <a:r>
              <a:rPr lang="zh-CN" altLang="en-US" sz="2400" b="1" dirty="0">
                <a:solidFill>
                  <a:schemeClr val="bg2">
                    <a:lumMod val="10000"/>
                  </a:schemeClr>
                </a:solidFill>
                <a:latin typeface="Microsoft YaHei" panose="020B0503020204020204" pitchFamily="34" charset="-122"/>
                <a:ea typeface="Microsoft YaHei" panose="020B0503020204020204" pitchFamily="34" charset="-122"/>
              </a:rPr>
              <a:t>幷行計算</a:t>
            </a:r>
            <a:r>
              <a:rPr lang="zh-CN" altLang="en-US" sz="2400" dirty="0">
                <a:solidFill>
                  <a:schemeClr val="bg2">
                    <a:lumMod val="10000"/>
                  </a:schemeClr>
                </a:solidFill>
                <a:latin typeface="Microsoft YaHei" panose="020B0503020204020204" pitchFamily="34" charset="-122"/>
                <a:ea typeface="Microsoft YaHei" panose="020B0503020204020204" pitchFamily="34" charset="-122"/>
              </a:rPr>
              <a:t>：</a:t>
            </a:r>
            <a:r>
              <a:rPr lang="en" altLang="zh-CN" sz="2400" dirty="0">
                <a:solidFill>
                  <a:schemeClr val="bg2">
                    <a:lumMod val="10000"/>
                  </a:schemeClr>
                </a:solidFill>
                <a:latin typeface="Microsoft YaHei" panose="020B0503020204020204" pitchFamily="34" charset="-122"/>
                <a:ea typeface="Microsoft YaHei" panose="020B0503020204020204" pitchFamily="34" charset="-122"/>
              </a:rPr>
              <a:t>Burroughs Corporation</a:t>
            </a:r>
            <a:r>
              <a:rPr lang="zh-CN" altLang="en-US" sz="2400" dirty="0">
                <a:solidFill>
                  <a:schemeClr val="bg2">
                    <a:lumMod val="10000"/>
                  </a:schemeClr>
                </a:solidFill>
                <a:latin typeface="Microsoft YaHei" panose="020B0503020204020204" pitchFamily="34" charset="-122"/>
                <a:ea typeface="Microsoft YaHei" panose="020B0503020204020204" pitchFamily="34" charset="-122"/>
              </a:rPr>
              <a:t>在</a:t>
            </a:r>
            <a:r>
              <a:rPr lang="en-US" altLang="zh-CN" sz="2400" dirty="0">
                <a:solidFill>
                  <a:schemeClr val="bg2">
                    <a:lumMod val="10000"/>
                  </a:schemeClr>
                </a:solidFill>
                <a:latin typeface="Microsoft YaHei" panose="020B0503020204020204" pitchFamily="34" charset="-122"/>
                <a:ea typeface="Microsoft YaHei" panose="020B0503020204020204" pitchFamily="34" charset="-122"/>
              </a:rPr>
              <a:t>1962</a:t>
            </a:r>
            <a:r>
              <a:rPr lang="zh-CN" altLang="en-US" sz="2400" dirty="0">
                <a:solidFill>
                  <a:schemeClr val="bg2">
                    <a:lumMod val="10000"/>
                  </a:schemeClr>
                </a:solidFill>
                <a:latin typeface="Microsoft YaHei" panose="020B0503020204020204" pitchFamily="34" charset="-122"/>
                <a:ea typeface="Microsoft YaHei" panose="020B0503020204020204" pitchFamily="34" charset="-122"/>
              </a:rPr>
              <a:t>年推出了</a:t>
            </a:r>
            <a:r>
              <a:rPr lang="en" altLang="zh-CN" sz="2400" dirty="0">
                <a:solidFill>
                  <a:schemeClr val="bg2">
                    <a:lumMod val="10000"/>
                  </a:schemeClr>
                </a:solidFill>
                <a:latin typeface="Microsoft YaHei" panose="020B0503020204020204" pitchFamily="34" charset="-122"/>
                <a:ea typeface="Microsoft YaHei" panose="020B0503020204020204" pitchFamily="34" charset="-122"/>
              </a:rPr>
              <a:t>D825</a:t>
            </a:r>
            <a:r>
              <a:rPr lang="zh-CN" altLang="en" sz="2400" dirty="0">
                <a:solidFill>
                  <a:schemeClr val="bg2">
                    <a:lumMod val="10000"/>
                  </a:schemeClr>
                </a:solidFill>
                <a:latin typeface="Microsoft YaHei" panose="020B0503020204020204" pitchFamily="34" charset="-122"/>
                <a:ea typeface="Microsoft YaHei" panose="020B0503020204020204" pitchFamily="34" charset="-122"/>
              </a:rPr>
              <a:t>，</a:t>
            </a:r>
            <a:r>
              <a:rPr lang="zh-CN" altLang="en-US" sz="2400" dirty="0">
                <a:solidFill>
                  <a:schemeClr val="bg2">
                    <a:lumMod val="10000"/>
                  </a:schemeClr>
                </a:solidFill>
                <a:latin typeface="Microsoft YaHei" panose="020B0503020204020204" pitchFamily="34" charset="-122"/>
                <a:ea typeface="Microsoft YaHei" panose="020B0503020204020204" pitchFamily="34" charset="-122"/>
              </a:rPr>
              <a:t>這是一種四處理器計算機，可以訪問多達</a:t>
            </a:r>
            <a:r>
              <a:rPr lang="en-US" altLang="zh-CN" sz="2400" dirty="0">
                <a:solidFill>
                  <a:schemeClr val="bg2">
                    <a:lumMod val="10000"/>
                  </a:schemeClr>
                </a:solidFill>
                <a:latin typeface="Microsoft YaHei" panose="020B0503020204020204" pitchFamily="34" charset="-122"/>
                <a:ea typeface="Microsoft YaHei" panose="020B0503020204020204" pitchFamily="34" charset="-122"/>
              </a:rPr>
              <a:t>16</a:t>
            </a:r>
            <a:r>
              <a:rPr lang="zh-CN" altLang="en-US" sz="2400" dirty="0">
                <a:solidFill>
                  <a:schemeClr val="bg2">
                    <a:lumMod val="10000"/>
                  </a:schemeClr>
                </a:solidFill>
                <a:latin typeface="Microsoft YaHei" panose="020B0503020204020204" pitchFamily="34" charset="-122"/>
                <a:ea typeface="Microsoft YaHei" panose="020B0503020204020204" pitchFamily="34" charset="-122"/>
              </a:rPr>
              <a:t>個共享的內存模塊</a:t>
            </a:r>
            <a:endParaRPr lang="en-US" altLang="zh-CN" sz="2400" dirty="0">
              <a:solidFill>
                <a:schemeClr val="bg2">
                  <a:lumMod val="10000"/>
                </a:schemeClr>
              </a:solidFill>
              <a:latin typeface="Microsoft YaHei" panose="020B0503020204020204" pitchFamily="34" charset="-122"/>
              <a:ea typeface="Microsoft YaHei" panose="020B0503020204020204" pitchFamily="34" charset="-122"/>
            </a:endParaRPr>
          </a:p>
          <a:p>
            <a:pPr marL="342900" indent="-342900" algn="just">
              <a:lnSpc>
                <a:spcPts val="3600"/>
              </a:lnSpc>
              <a:buFont typeface="Arial" panose="020B0604020202020204" pitchFamily="34" charset="0"/>
              <a:buChar char="•"/>
            </a:pPr>
            <a:r>
              <a:rPr lang="en-US" altLang="zh-CN" sz="2400" b="1" dirty="0">
                <a:solidFill>
                  <a:schemeClr val="bg2">
                    <a:lumMod val="10000"/>
                  </a:schemeClr>
                </a:solidFill>
                <a:latin typeface="Microsoft YaHei" panose="020B0503020204020204" pitchFamily="34" charset="-122"/>
                <a:ea typeface="Microsoft YaHei" panose="020B0503020204020204" pitchFamily="34" charset="-122"/>
              </a:rPr>
              <a:t>ARPANET</a:t>
            </a:r>
            <a:r>
              <a:rPr lang="zh-CN" altLang="en-US" sz="2400" dirty="0">
                <a:solidFill>
                  <a:schemeClr val="bg2">
                    <a:lumMod val="10000"/>
                  </a:schemeClr>
                </a:solidFill>
                <a:latin typeface="Microsoft YaHei" panose="020B0503020204020204" pitchFamily="34" charset="-122"/>
                <a:ea typeface="Microsoft YaHei" panose="020B0503020204020204" pitchFamily="34" charset="-122"/>
              </a:rPr>
              <a:t>：互聯網的前身之一，于</a:t>
            </a:r>
            <a:r>
              <a:rPr lang="en-US" altLang="zh-CN" sz="2400" dirty="0">
                <a:solidFill>
                  <a:schemeClr val="bg2">
                    <a:lumMod val="10000"/>
                  </a:schemeClr>
                </a:solidFill>
                <a:latin typeface="Microsoft YaHei" panose="020B0503020204020204" pitchFamily="34" charset="-122"/>
                <a:ea typeface="Microsoft YaHei" panose="020B0503020204020204" pitchFamily="34" charset="-122"/>
              </a:rPr>
              <a:t>20</a:t>
            </a:r>
            <a:r>
              <a:rPr lang="zh-CN" altLang="en-US" sz="2400" dirty="0">
                <a:solidFill>
                  <a:schemeClr val="bg2">
                    <a:lumMod val="10000"/>
                  </a:schemeClr>
                </a:solidFill>
                <a:latin typeface="Microsoft YaHei" panose="020B0503020204020204" pitchFamily="34" charset="-122"/>
                <a:ea typeface="Microsoft YaHei" panose="020B0503020204020204" pitchFamily="34" charset="-122"/>
              </a:rPr>
              <a:t>世紀</a:t>
            </a:r>
            <a:r>
              <a:rPr lang="en-US" altLang="zh-CN" sz="2400" dirty="0">
                <a:solidFill>
                  <a:schemeClr val="bg2">
                    <a:lumMod val="10000"/>
                  </a:schemeClr>
                </a:solidFill>
                <a:latin typeface="Microsoft YaHei" panose="020B0503020204020204" pitchFamily="34" charset="-122"/>
                <a:ea typeface="Microsoft YaHei" panose="020B0503020204020204" pitchFamily="34" charset="-122"/>
              </a:rPr>
              <a:t>60</a:t>
            </a:r>
            <a:r>
              <a:rPr lang="zh-CN" altLang="en-US" sz="2400" dirty="0">
                <a:solidFill>
                  <a:schemeClr val="bg2">
                    <a:lumMod val="10000"/>
                  </a:schemeClr>
                </a:solidFill>
                <a:latin typeface="Microsoft YaHei" panose="020B0503020204020204" pitchFamily="34" charset="-122"/>
                <a:ea typeface="Microsoft YaHei" panose="020B0503020204020204" pitchFamily="34" charset="-122"/>
              </a:rPr>
              <a:t>年代末被推出，分布式系統開始拓展到主機這一粒度</a:t>
            </a:r>
            <a:endParaRPr lang="en-US" altLang="zh-CN" sz="2400" dirty="0">
              <a:solidFill>
                <a:schemeClr val="bg2">
                  <a:lumMod val="10000"/>
                </a:schemeClr>
              </a:solidFill>
              <a:latin typeface="Microsoft YaHei" panose="020B0503020204020204" pitchFamily="34" charset="-122"/>
              <a:ea typeface="Microsoft YaHei" panose="020B0503020204020204" pitchFamily="34" charset="-122"/>
            </a:endParaRPr>
          </a:p>
          <a:p>
            <a:pPr marL="342900" indent="-342900" algn="just">
              <a:lnSpc>
                <a:spcPts val="3600"/>
              </a:lnSpc>
              <a:buFont typeface="Arial" panose="020B0604020202020204" pitchFamily="34" charset="0"/>
              <a:buChar char="•"/>
            </a:pPr>
            <a:r>
              <a:rPr lang="en-US" altLang="zh-CN" sz="2400" b="1" dirty="0">
                <a:solidFill>
                  <a:schemeClr val="bg2">
                    <a:lumMod val="10000"/>
                  </a:schemeClr>
                </a:solidFill>
                <a:latin typeface="Microsoft YaHei" panose="020B0503020204020204" pitchFamily="34" charset="-122"/>
                <a:ea typeface="Microsoft YaHei" panose="020B0503020204020204" pitchFamily="34" charset="-122"/>
              </a:rPr>
              <a:t>LAN</a:t>
            </a:r>
            <a:r>
              <a:rPr lang="zh-CN" altLang="en-US" sz="2400" dirty="0">
                <a:solidFill>
                  <a:schemeClr val="bg2">
                    <a:lumMod val="10000"/>
                  </a:schemeClr>
                </a:solidFill>
                <a:latin typeface="Microsoft YaHei" panose="020B0503020204020204" pitchFamily="34" charset="-122"/>
                <a:ea typeface="Microsoft YaHei" panose="020B0503020204020204" pitchFamily="34" charset="-122"/>
              </a:rPr>
              <a:t>：</a:t>
            </a:r>
            <a:r>
              <a:rPr lang="en-US" altLang="zh-CN" sz="2400" dirty="0">
                <a:solidFill>
                  <a:schemeClr val="bg2">
                    <a:lumMod val="10000"/>
                  </a:schemeClr>
                </a:solidFill>
                <a:latin typeface="Microsoft YaHei" panose="020B0503020204020204" pitchFamily="34" charset="-122"/>
                <a:ea typeface="Microsoft YaHei" panose="020B0503020204020204" pitchFamily="34" charset="-122"/>
              </a:rPr>
              <a:t>1970</a:t>
            </a:r>
            <a:r>
              <a:rPr lang="zh-CN" altLang="en-US" sz="2400" dirty="0">
                <a:solidFill>
                  <a:schemeClr val="bg2">
                    <a:lumMod val="10000"/>
                  </a:schemeClr>
                </a:solidFill>
                <a:latin typeface="Microsoft YaHei" panose="020B0503020204020204" pitchFamily="34" charset="-122"/>
                <a:ea typeface="Microsoft YaHei" panose="020B0503020204020204" pitchFamily="34" charset="-122"/>
              </a:rPr>
              <a:t>年，以太網等局域網技術的出現，標識著分布式系統開始廣泛部署</a:t>
            </a:r>
            <a:endParaRPr lang="en-US" altLang="zh-CN" sz="2400" baseline="30000" dirty="0">
              <a:solidFill>
                <a:schemeClr val="bg2">
                  <a:lumMod val="10000"/>
                </a:schemeClr>
              </a:solidFill>
              <a:latin typeface="Microsoft YaHei" panose="020B0503020204020204" pitchFamily="34" charset="-122"/>
              <a:ea typeface="Microsoft YaHei" panose="020B0503020204020204" pitchFamily="34" charset="-122"/>
            </a:endParaRPr>
          </a:p>
        </p:txBody>
      </p:sp>
      <p:grpSp>
        <p:nvGrpSpPr>
          <p:cNvPr id="21" name="组合 20">
            <a:extLst>
              <a:ext uri="{FF2B5EF4-FFF2-40B4-BE49-F238E27FC236}">
                <a16:creationId xmlns:a16="http://schemas.microsoft.com/office/drawing/2014/main" id="{8E9E0938-7D20-7940-AE4B-D8913BB7AF93}"/>
              </a:ext>
            </a:extLst>
          </p:cNvPr>
          <p:cNvGrpSpPr/>
          <p:nvPr/>
        </p:nvGrpSpPr>
        <p:grpSpPr>
          <a:xfrm>
            <a:off x="600891" y="3927422"/>
            <a:ext cx="11064240" cy="2747698"/>
            <a:chOff x="1378493" y="4292761"/>
            <a:chExt cx="9869729" cy="2248829"/>
          </a:xfrm>
        </p:grpSpPr>
        <p:pic>
          <p:nvPicPr>
            <p:cNvPr id="8" name="图片 7" descr="厨房的摆设布局&#10;&#10;描述已自动生成">
              <a:extLst>
                <a:ext uri="{FF2B5EF4-FFF2-40B4-BE49-F238E27FC236}">
                  <a16:creationId xmlns:a16="http://schemas.microsoft.com/office/drawing/2014/main" id="{D896B24B-9C78-4146-A133-DE89394792BF}"/>
                </a:ext>
              </a:extLst>
            </p:cNvPr>
            <p:cNvPicPr>
              <a:picLocks noChangeAspect="1"/>
            </p:cNvPicPr>
            <p:nvPr/>
          </p:nvPicPr>
          <p:blipFill>
            <a:blip r:embed="rId3"/>
            <a:stretch>
              <a:fillRect/>
            </a:stretch>
          </p:blipFill>
          <p:spPr>
            <a:xfrm>
              <a:off x="1378493" y="4292761"/>
              <a:ext cx="2962190" cy="2248829"/>
            </a:xfrm>
            <a:prstGeom prst="rect">
              <a:avLst/>
            </a:prstGeom>
          </p:spPr>
        </p:pic>
        <p:pic>
          <p:nvPicPr>
            <p:cNvPr id="17" name="图片 16" descr="图表&#10;&#10;描述已自动生成">
              <a:extLst>
                <a:ext uri="{FF2B5EF4-FFF2-40B4-BE49-F238E27FC236}">
                  <a16:creationId xmlns:a16="http://schemas.microsoft.com/office/drawing/2014/main" id="{6315A622-4EB8-8E46-A3C9-CF673CE78BAC}"/>
                </a:ext>
              </a:extLst>
            </p:cNvPr>
            <p:cNvPicPr>
              <a:picLocks noChangeAspect="1"/>
            </p:cNvPicPr>
            <p:nvPr/>
          </p:nvPicPr>
          <p:blipFill rotWithShape="1">
            <a:blip r:embed="rId4"/>
            <a:srcRect l="11346" r="10818"/>
            <a:stretch/>
          </p:blipFill>
          <p:spPr>
            <a:xfrm>
              <a:off x="4841823" y="4292761"/>
              <a:ext cx="2683239" cy="2248829"/>
            </a:xfrm>
            <a:prstGeom prst="rect">
              <a:avLst/>
            </a:prstGeom>
          </p:spPr>
        </p:pic>
        <p:pic>
          <p:nvPicPr>
            <p:cNvPr id="19" name="图片 18" descr="图示&#10;&#10;描述已自动生成">
              <a:extLst>
                <a:ext uri="{FF2B5EF4-FFF2-40B4-BE49-F238E27FC236}">
                  <a16:creationId xmlns:a16="http://schemas.microsoft.com/office/drawing/2014/main" id="{0927676C-1279-E54C-97BD-9A5F451A5E49}"/>
                </a:ext>
              </a:extLst>
            </p:cNvPr>
            <p:cNvPicPr>
              <a:picLocks noChangeAspect="1"/>
            </p:cNvPicPr>
            <p:nvPr/>
          </p:nvPicPr>
          <p:blipFill>
            <a:blip r:embed="rId5"/>
            <a:stretch>
              <a:fillRect/>
            </a:stretch>
          </p:blipFill>
          <p:spPr>
            <a:xfrm>
              <a:off x="7847331" y="4292761"/>
              <a:ext cx="3400891" cy="2248828"/>
            </a:xfrm>
            <a:prstGeom prst="rect">
              <a:avLst/>
            </a:prstGeom>
            <a:ln>
              <a:solidFill>
                <a:schemeClr val="tx1">
                  <a:lumMod val="50000"/>
                  <a:lumOff val="50000"/>
                </a:schemeClr>
              </a:solidFill>
            </a:ln>
          </p:spPr>
        </p:pic>
      </p:grpSp>
      <p:sp>
        <p:nvSpPr>
          <p:cNvPr id="9" name="灯片编号占位符 2">
            <a:extLst>
              <a:ext uri="{FF2B5EF4-FFF2-40B4-BE49-F238E27FC236}">
                <a16:creationId xmlns:a16="http://schemas.microsoft.com/office/drawing/2014/main" id="{6D18995E-5A95-9743-89C6-637507B95A59}"/>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2</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3248066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33C31A-10E5-1546-85B5-8CD14BAB4837}"/>
              </a:ext>
            </a:extLst>
          </p:cNvPr>
          <p:cNvSpPr>
            <a:spLocks noGrp="1"/>
          </p:cNvSpPr>
          <p:nvPr>
            <p:ph type="title"/>
          </p:nvPr>
        </p:nvSpPr>
        <p:spPr/>
        <p:txBody>
          <a:bodyPr>
            <a:normAutofit/>
          </a:bodyPr>
          <a:lstStyle/>
          <a:p>
            <a:pPr defTabSz="913943">
              <a:defRPr/>
            </a:pPr>
            <a:r>
              <a:rPr kumimoji="0" lang="zh-CN" altLang="en-US" sz="4000" b="1"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以太網之父</a:t>
            </a:r>
            <a:r>
              <a:rPr kumimoji="0" lang="en" altLang="zh-CN" sz="4000" b="1"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Bob Metcalfe</a:t>
            </a:r>
            <a:endParaRPr kumimoji="0" lang="zh-CN" altLang="en-US" sz="4000" b="1"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endParaRPr>
          </a:p>
        </p:txBody>
      </p:sp>
      <p:sp>
        <p:nvSpPr>
          <p:cNvPr id="13" name="圆角矩形 12">
            <a:extLst>
              <a:ext uri="{FF2B5EF4-FFF2-40B4-BE49-F238E27FC236}">
                <a16:creationId xmlns:a16="http://schemas.microsoft.com/office/drawing/2014/main" id="{908842B0-C97F-A646-8756-4BE11576B0C3}"/>
              </a:ext>
            </a:extLst>
          </p:cNvPr>
          <p:cNvSpPr/>
          <p:nvPr/>
        </p:nvSpPr>
        <p:spPr>
          <a:xfrm>
            <a:off x="430307" y="3553007"/>
            <a:ext cx="11321280" cy="1114839"/>
          </a:xfrm>
          <a:prstGeom prst="round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t="100000" r="100000"/>
            </a:path>
            <a:tileRect l="-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20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15" name="图片 14">
            <a:extLst>
              <a:ext uri="{FF2B5EF4-FFF2-40B4-BE49-F238E27FC236}">
                <a16:creationId xmlns:a16="http://schemas.microsoft.com/office/drawing/2014/main" id="{3B3776FE-6E48-1746-9DBE-DE76A0588406}"/>
              </a:ext>
            </a:extLst>
          </p:cNvPr>
          <p:cNvPicPr>
            <a:picLocks noChangeAspect="1"/>
          </p:cNvPicPr>
          <p:nvPr/>
        </p:nvPicPr>
        <p:blipFill>
          <a:blip r:embed="rId3"/>
          <a:stretch>
            <a:fillRect/>
          </a:stretch>
        </p:blipFill>
        <p:spPr>
          <a:xfrm>
            <a:off x="655730" y="3640924"/>
            <a:ext cx="1315576" cy="911506"/>
          </a:xfrm>
          <a:prstGeom prst="rect">
            <a:avLst/>
          </a:prstGeom>
        </p:spPr>
      </p:pic>
      <p:sp>
        <p:nvSpPr>
          <p:cNvPr id="16" name="矩形 15">
            <a:extLst>
              <a:ext uri="{FF2B5EF4-FFF2-40B4-BE49-F238E27FC236}">
                <a16:creationId xmlns:a16="http://schemas.microsoft.com/office/drawing/2014/main" id="{777AE609-3232-DB4A-ABC6-3C67DF9D1654}"/>
              </a:ext>
            </a:extLst>
          </p:cNvPr>
          <p:cNvSpPr/>
          <p:nvPr/>
        </p:nvSpPr>
        <p:spPr>
          <a:xfrm>
            <a:off x="3185337" y="1151625"/>
            <a:ext cx="1779654"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2000" b="1" i="0" dirty="0">
                <a:solidFill>
                  <a:srgbClr val="333333"/>
                </a:solidFill>
                <a:effectLst/>
                <a:ea typeface="Cambria Math" panose="02040503050406030204" pitchFamily="18" charset="0"/>
              </a:rPr>
              <a:t>Bob Metcalfe</a:t>
            </a:r>
            <a:endParaRPr kumimoji="0" lang="en" altLang="zh-CN" sz="2000" b="1" i="0" u="none" strike="noStrike" kern="1200" cap="none" spc="0" normalizeH="0" baseline="0" noProof="0" dirty="0">
              <a:ln>
                <a:noFill/>
              </a:ln>
              <a:solidFill>
                <a:srgbClr val="000000"/>
              </a:solidFill>
              <a:effectLst/>
              <a:uLnTx/>
              <a:uFillTx/>
              <a:ea typeface="Cambria Math" panose="02040503050406030204" pitchFamily="18" charset="0"/>
              <a:cs typeface="Calibri" panose="020F0502020204030204" pitchFamily="34" charset="0"/>
            </a:endParaRPr>
          </a:p>
        </p:txBody>
      </p:sp>
      <p:sp>
        <p:nvSpPr>
          <p:cNvPr id="17" name="矩形 16">
            <a:extLst>
              <a:ext uri="{FF2B5EF4-FFF2-40B4-BE49-F238E27FC236}">
                <a16:creationId xmlns:a16="http://schemas.microsoft.com/office/drawing/2014/main" id="{15630374-9C3A-8444-941D-80548902FBB6}"/>
              </a:ext>
            </a:extLst>
          </p:cNvPr>
          <p:cNvSpPr/>
          <p:nvPr/>
        </p:nvSpPr>
        <p:spPr>
          <a:xfrm>
            <a:off x="3128963" y="1477547"/>
            <a:ext cx="12101512" cy="1884555"/>
          </a:xfrm>
          <a:prstGeom prst="rect">
            <a:avLst/>
          </a:prstGeom>
        </p:spPr>
        <p:txBody>
          <a:bodyPr wrap="square">
            <a:spAutoFit/>
          </a:bodyPr>
          <a:lstStyle/>
          <a:p>
            <a:pPr>
              <a:lnSpc>
                <a:spcPct val="150000"/>
              </a:lnSpc>
              <a:defRPr/>
            </a:pPr>
            <a:r>
              <a:rPr lang="zh-CN" altLang="en-US" sz="2000" dirty="0">
                <a:solidFill>
                  <a:prstClr val="black"/>
                </a:solidFill>
                <a:latin typeface="Microsoft YaHei" panose="020B0503020204020204" pitchFamily="34" charset="-122"/>
                <a:ea typeface="Microsoft YaHei" panose="020B0503020204020204" pitchFamily="34" charset="-122"/>
              </a:rPr>
              <a:t>美國國家工程院院士、美國藝術與科學院院士，以太網之父，</a:t>
            </a:r>
            <a:r>
              <a:rPr lang="en-US" altLang="zh-CN" sz="2000" dirty="0">
                <a:solidFill>
                  <a:prstClr val="black"/>
                </a:solidFill>
                <a:latin typeface="Microsoft YaHei" panose="020B0503020204020204" pitchFamily="34" charset="-122"/>
                <a:ea typeface="Microsoft YaHei" panose="020B0503020204020204" pitchFamily="34" charset="-122"/>
              </a:rPr>
              <a:t>3</a:t>
            </a:r>
            <a:r>
              <a:rPr lang="en" altLang="zh-CN" sz="2000" dirty="0">
                <a:solidFill>
                  <a:prstClr val="black"/>
                </a:solidFill>
                <a:latin typeface="Microsoft YaHei" panose="020B0503020204020204" pitchFamily="34" charset="-122"/>
                <a:ea typeface="Microsoft YaHei" panose="020B0503020204020204" pitchFamily="34" charset="-122"/>
              </a:rPr>
              <a:t>Com</a:t>
            </a:r>
            <a:r>
              <a:rPr lang="zh-CN" altLang="en-US" sz="2000" dirty="0">
                <a:solidFill>
                  <a:prstClr val="black"/>
                </a:solidFill>
                <a:latin typeface="Microsoft YaHei" panose="020B0503020204020204" pitchFamily="34" charset="-122"/>
                <a:ea typeface="Microsoft YaHei" panose="020B0503020204020204" pitchFamily="34" charset="-122"/>
              </a:rPr>
              <a:t>公司創始人</a:t>
            </a:r>
            <a:endParaRPr lang="en-US" altLang="zh-CN" sz="2000" dirty="0">
              <a:solidFill>
                <a:prstClr val="black"/>
              </a:solidFill>
              <a:latin typeface="Microsoft YaHei" panose="020B0503020204020204" pitchFamily="34" charset="-122"/>
              <a:ea typeface="Microsoft YaHei" panose="020B0503020204020204" pitchFamily="34" charset="-122"/>
            </a:endParaRPr>
          </a:p>
          <a:p>
            <a:pPr>
              <a:lnSpc>
                <a:spcPct val="150000"/>
              </a:lnSpc>
              <a:defRPr/>
            </a:pPr>
            <a:r>
              <a:rPr lang="zh-CN" altLang="en-US" sz="2000" dirty="0">
                <a:solidFill>
                  <a:prstClr val="black"/>
                </a:solidFill>
                <a:latin typeface="Microsoft YaHei" panose="020B0503020204020204" pitchFamily="34" charset="-122"/>
                <a:ea typeface="Microsoft YaHei" panose="020B0503020204020204" pitchFamily="34" charset="-122"/>
              </a:rPr>
              <a:t>德克薩斯大學奧斯汀分校電氣與計算機工程名譽教授</a:t>
            </a:r>
            <a:endParaRPr lang="en-US" altLang="zh-CN" sz="2000" dirty="0">
              <a:solidFill>
                <a:prstClr val="black"/>
              </a:solidFill>
              <a:latin typeface="Microsoft YaHei" panose="020B0503020204020204" pitchFamily="34" charset="-122"/>
              <a:ea typeface="Microsoft YaHei" panose="020B0503020204020204" pitchFamily="34" charset="-122"/>
            </a:endParaRPr>
          </a:p>
          <a:p>
            <a:pPr>
              <a:lnSpc>
                <a:spcPct val="150000"/>
              </a:lnSpc>
              <a:defRPr/>
            </a:pPr>
            <a:r>
              <a:rPr lang="zh-CN" altLang="en-US" sz="2000" dirty="0">
                <a:solidFill>
                  <a:prstClr val="black"/>
                </a:solidFill>
                <a:latin typeface="Microsoft YaHei" panose="020B0503020204020204" pitchFamily="34" charset="-122"/>
                <a:ea typeface="Microsoft YaHei" panose="020B0503020204020204" pitchFamily="34" charset="-122"/>
              </a:rPr>
              <a:t>麻省理工學院計算機科學與人工智能計算工程研究助理</a:t>
            </a:r>
            <a:endParaRPr lang="en-US" altLang="zh-CN" sz="2000" dirty="0">
              <a:solidFill>
                <a:prstClr val="black"/>
              </a:solidFill>
              <a:latin typeface="Microsoft YaHei" panose="020B0503020204020204" pitchFamily="34" charset="-122"/>
              <a:ea typeface="Microsoft YaHei" panose="020B0503020204020204" pitchFamily="34" charset="-122"/>
            </a:endParaRPr>
          </a:p>
          <a:p>
            <a:pPr>
              <a:lnSpc>
                <a:spcPct val="150000"/>
              </a:lnSpc>
              <a:defRPr/>
            </a:pPr>
            <a:r>
              <a:rPr lang="en-US" altLang="zh-CN" sz="2000" b="1" dirty="0">
                <a:solidFill>
                  <a:srgbClr val="C00000"/>
                </a:solidFill>
                <a:latin typeface="Microsoft YaHei" panose="020B0503020204020204" pitchFamily="34" charset="-122"/>
                <a:ea typeface="Microsoft YaHei" panose="020B0503020204020204" pitchFamily="34" charset="-122"/>
              </a:rPr>
              <a:t>2022</a:t>
            </a:r>
            <a:r>
              <a:rPr lang="zh-CN" altLang="en-US" sz="2000" b="1" dirty="0">
                <a:solidFill>
                  <a:srgbClr val="C00000"/>
                </a:solidFill>
                <a:latin typeface="Microsoft YaHei" panose="020B0503020204020204" pitchFamily="34" charset="-122"/>
                <a:ea typeface="Microsoft YaHei" panose="020B0503020204020204" pitchFamily="34" charset="-122"/>
              </a:rPr>
              <a:t>年圖靈獎獲得者</a:t>
            </a:r>
            <a:r>
              <a:rPr lang="zh-CN" altLang="en-US" sz="2000" dirty="0">
                <a:solidFill>
                  <a:prstClr val="black"/>
                </a:solidFill>
                <a:latin typeface="Microsoft YaHei" panose="020B0503020204020204" pitchFamily="34" charset="-122"/>
                <a:ea typeface="Microsoft YaHei" panose="020B0503020204020204" pitchFamily="34" charset="-122"/>
              </a:rPr>
              <a:t>，曾獲國家技術獎章、</a:t>
            </a:r>
            <a:r>
              <a:rPr lang="en" altLang="zh-CN" sz="2000" dirty="0">
                <a:solidFill>
                  <a:prstClr val="black"/>
                </a:solidFill>
                <a:latin typeface="Microsoft YaHei" panose="020B0503020204020204" pitchFamily="34" charset="-122"/>
                <a:ea typeface="Microsoft YaHei" panose="020B0503020204020204" pitchFamily="34" charset="-122"/>
              </a:rPr>
              <a:t>IEEE</a:t>
            </a:r>
            <a:r>
              <a:rPr lang="zh-CN" altLang="en-US" sz="2000" dirty="0">
                <a:solidFill>
                  <a:prstClr val="black"/>
                </a:solidFill>
                <a:latin typeface="Microsoft YaHei" panose="020B0503020204020204" pitchFamily="34" charset="-122"/>
                <a:ea typeface="Microsoft YaHei" panose="020B0503020204020204" pitchFamily="34" charset="-122"/>
              </a:rPr>
              <a:t>榮譽勛章、馬可尼獎等</a:t>
            </a:r>
          </a:p>
        </p:txBody>
      </p:sp>
      <p:sp>
        <p:nvSpPr>
          <p:cNvPr id="18" name="矩形 17">
            <a:extLst>
              <a:ext uri="{FF2B5EF4-FFF2-40B4-BE49-F238E27FC236}">
                <a16:creationId xmlns:a16="http://schemas.microsoft.com/office/drawing/2014/main" id="{0C2E1855-06DD-4647-893A-5FF89A96300A}"/>
              </a:ext>
            </a:extLst>
          </p:cNvPr>
          <p:cNvSpPr/>
          <p:nvPr/>
        </p:nvSpPr>
        <p:spPr>
          <a:xfrm>
            <a:off x="2187747" y="3648448"/>
            <a:ext cx="9398832"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2000" b="1" i="1" dirty="0">
                <a:solidFill>
                  <a:schemeClr val="bg1"/>
                </a:solidFill>
                <a:latin typeface="Arial" panose="020B0604020202020204" pitchFamily="34" charset="0"/>
              </a:rPr>
              <a:t>F</a:t>
            </a:r>
            <a:r>
              <a:rPr lang="en" altLang="zh-CN" sz="2000" b="1" i="1" dirty="0">
                <a:solidFill>
                  <a:schemeClr val="bg1"/>
                </a:solidFill>
                <a:effectLst/>
                <a:latin typeface="Arial" panose="020B0604020202020204" pitchFamily="34" charset="0"/>
              </a:rPr>
              <a:t>or the invention, standardization, and commercialization of Ethernet</a:t>
            </a:r>
            <a:endParaRPr kumimoji="0" lang="zh-CN" altLang="en-US" b="1" i="1" u="none" strike="noStrike" kern="1200" cap="none" spc="0" normalizeH="0" baseline="0" noProof="0" dirty="0">
              <a:ln>
                <a:noFill/>
              </a:ln>
              <a:solidFill>
                <a:schemeClr val="bg1"/>
              </a:solidFill>
              <a:effectLst/>
              <a:uLnTx/>
              <a:uFillTx/>
              <a:latin typeface="等线" panose="020F0502020204030204"/>
              <a:ea typeface="等线" panose="02010600030101010101" pitchFamily="2" charset="-122"/>
              <a:cs typeface="+mn-cs"/>
            </a:endParaRPr>
          </a:p>
        </p:txBody>
      </p:sp>
      <p:sp>
        <p:nvSpPr>
          <p:cNvPr id="20" name="矩形 19">
            <a:extLst>
              <a:ext uri="{FF2B5EF4-FFF2-40B4-BE49-F238E27FC236}">
                <a16:creationId xmlns:a16="http://schemas.microsoft.com/office/drawing/2014/main" id="{ACEE8F62-9F4B-F544-8C19-98D64EC1F015}"/>
              </a:ext>
            </a:extLst>
          </p:cNvPr>
          <p:cNvSpPr/>
          <p:nvPr/>
        </p:nvSpPr>
        <p:spPr>
          <a:xfrm>
            <a:off x="6382897" y="4076103"/>
            <a:ext cx="5314275"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mn-cs"/>
              </a:rPr>
              <a:t>以太網“發明、標準化、商業化”方面的貢獻</a:t>
            </a:r>
          </a:p>
        </p:txBody>
      </p:sp>
      <p:sp>
        <p:nvSpPr>
          <p:cNvPr id="21" name="矩形 20">
            <a:extLst>
              <a:ext uri="{FF2B5EF4-FFF2-40B4-BE49-F238E27FC236}">
                <a16:creationId xmlns:a16="http://schemas.microsoft.com/office/drawing/2014/main" id="{5AE7AABA-30DE-E64D-BCA1-DECF434C7F9B}"/>
              </a:ext>
            </a:extLst>
          </p:cNvPr>
          <p:cNvSpPr/>
          <p:nvPr/>
        </p:nvSpPr>
        <p:spPr>
          <a:xfrm>
            <a:off x="394076" y="4642803"/>
            <a:ext cx="8875432" cy="2053832"/>
          </a:xfrm>
          <a:prstGeom prst="rect">
            <a:avLst/>
          </a:prstGeom>
        </p:spPr>
        <p:txBody>
          <a:bodyPr wrap="square">
            <a:spAutoFit/>
          </a:bodyPr>
          <a:lstStyle/>
          <a:p>
            <a:pPr marL="285750" marR="0" lvl="0" indent="-285750" algn="just"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lang="en-US" altLang="zh-CN" sz="2000" dirty="0">
                <a:solidFill>
                  <a:prstClr val="black"/>
                </a:solidFill>
                <a:latin typeface="Microsoft YaHei" panose="020B0503020204020204" pitchFamily="34" charset="-122"/>
                <a:ea typeface="Microsoft YaHei" panose="020B0503020204020204" pitchFamily="34" charset="-122"/>
              </a:rPr>
              <a:t>1976</a:t>
            </a:r>
            <a:r>
              <a:rPr lang="zh-CN" altLang="en-US" sz="2000" dirty="0">
                <a:solidFill>
                  <a:prstClr val="black"/>
                </a:solidFill>
                <a:latin typeface="Microsoft YaHei" panose="020B0503020204020204" pitchFamily="34" charset="-122"/>
                <a:ea typeface="Microsoft YaHei" panose="020B0503020204020204" pitchFamily="34" charset="-122"/>
              </a:rPr>
              <a:t>年</a:t>
            </a:r>
            <a:r>
              <a:rPr lang="en-US" altLang="zh-CN" sz="2000" dirty="0">
                <a:solidFill>
                  <a:prstClr val="black"/>
                </a:solidFill>
                <a:latin typeface="Microsoft YaHei" panose="020B0503020204020204" pitchFamily="34" charset="-122"/>
                <a:ea typeface="Microsoft YaHei" panose="020B0503020204020204" pitchFamily="34" charset="-122"/>
              </a:rPr>
              <a:t>7</a:t>
            </a:r>
            <a:r>
              <a:rPr lang="zh-CN" altLang="en-US" sz="2000" dirty="0">
                <a:solidFill>
                  <a:prstClr val="black"/>
                </a:solidFill>
                <a:latin typeface="Microsoft YaHei" panose="020B0503020204020204" pitchFamily="34" charset="-122"/>
                <a:ea typeface="Microsoft YaHei" panose="020B0503020204020204" pitchFamily="34" charset="-122"/>
              </a:rPr>
              <a:t>月，發表具有里程碑意義的論文“</a:t>
            </a:r>
            <a:r>
              <a:rPr lang="en" altLang="zh-CN" sz="2000" dirty="0">
                <a:solidFill>
                  <a:prstClr val="black"/>
                </a:solidFill>
                <a:latin typeface="Microsoft YaHei" panose="020B0503020204020204" pitchFamily="34" charset="-122"/>
                <a:ea typeface="Microsoft YaHei" panose="020B0503020204020204" pitchFamily="34" charset="-122"/>
              </a:rPr>
              <a:t>Ethernet: Distributed Packet Switching for Local Computer Networks</a:t>
            </a:r>
            <a:r>
              <a:rPr lang="zh-CN" altLang="en-US" sz="2000" dirty="0">
                <a:solidFill>
                  <a:prstClr val="black"/>
                </a:solidFill>
                <a:latin typeface="Microsoft YaHei" panose="020B0503020204020204" pitchFamily="34" charset="-122"/>
                <a:ea typeface="Microsoft YaHei" panose="020B0503020204020204" pitchFamily="34" charset="-122"/>
              </a:rPr>
              <a:t>”</a:t>
            </a:r>
            <a:r>
              <a:rPr lang="zh-CN" altLang="en" sz="2000" dirty="0">
                <a:solidFill>
                  <a:prstClr val="black"/>
                </a:solidFill>
                <a:latin typeface="Microsoft YaHei" panose="020B0503020204020204" pitchFamily="34" charset="-122"/>
                <a:ea typeface="Microsoft YaHei" panose="020B0503020204020204" pitchFamily="34" charset="-122"/>
              </a:rPr>
              <a:t>，</a:t>
            </a:r>
            <a:r>
              <a:rPr lang="zh-CN" altLang="en-US" sz="2000" dirty="0">
                <a:solidFill>
                  <a:prstClr val="black"/>
                </a:solidFill>
                <a:latin typeface="Microsoft YaHei" panose="020B0503020204020204" pitchFamily="34" charset="-122"/>
                <a:ea typeface="Microsoft YaHei" panose="020B0503020204020204" pitchFamily="34" charset="-122"/>
              </a:rPr>
              <a:t>對以太網的設計進行了描述</a:t>
            </a:r>
            <a:endParaRPr lang="en-US" altLang="zh-CN" sz="2000" dirty="0">
              <a:solidFill>
                <a:prstClr val="black"/>
              </a:solidFill>
              <a:latin typeface="Microsoft YaHei" panose="020B0503020204020204" pitchFamily="34" charset="-122"/>
              <a:ea typeface="Microsoft YaHei" panose="020B0503020204020204" pitchFamily="34" charset="-122"/>
            </a:endParaRPr>
          </a:p>
          <a:p>
            <a:pPr marL="285750" marR="0" lvl="0" indent="-285750" algn="just" defTabSz="91440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1980</a:t>
            </a: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年，聯合</a:t>
            </a:r>
            <a:r>
              <a:rPr kumimoji="0" lang="en-US" altLang="zh-CN"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Digital Equipment Corporation</a:t>
            </a: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a:t>
            </a:r>
            <a:r>
              <a:rPr kumimoji="0" lang="en-US" altLang="zh-CN"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Intel</a:t>
            </a: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和</a:t>
            </a:r>
            <a:r>
              <a:rPr kumimoji="0" lang="en-US" altLang="zh-CN"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Xerox</a:t>
            </a: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聯合創建了基于以太網的本地網絡標準</a:t>
            </a:r>
            <a:r>
              <a:rPr kumimoji="0" lang="en-US" altLang="zh-CN"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DIX</a:t>
            </a: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，同時還創建了</a:t>
            </a:r>
            <a:r>
              <a:rPr kumimoji="0" lang="en-US" altLang="zh-CN"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IEEE 802.3</a:t>
            </a:r>
            <a:r>
              <a:rPr kumimoji="0" lang="zh-CN" altLang="en-US"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工作組，推動了以太網標準的發展</a:t>
            </a:r>
            <a:endParaRPr kumimoji="0" lang="en-US" altLang="zh-CN" sz="20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endParaRPr>
          </a:p>
        </p:txBody>
      </p:sp>
      <p:cxnSp>
        <p:nvCxnSpPr>
          <p:cNvPr id="23" name="直接连接符 11">
            <a:extLst>
              <a:ext uri="{FF2B5EF4-FFF2-40B4-BE49-F238E27FC236}">
                <a16:creationId xmlns:a16="http://schemas.microsoft.com/office/drawing/2014/main" id="{01BC56CC-546B-B54F-B16B-C1BB67B0E88B}"/>
              </a:ext>
            </a:extLst>
          </p:cNvPr>
          <p:cNvCxnSpPr/>
          <p:nvPr/>
        </p:nvCxnSpPr>
        <p:spPr bwMode="auto">
          <a:xfrm>
            <a:off x="3082429" y="1130168"/>
            <a:ext cx="8640000" cy="0"/>
          </a:xfrm>
          <a:prstGeom prst="line">
            <a:avLst/>
          </a:prstGeom>
          <a:noFill/>
          <a:ln w="28575" cap="flat" cmpd="sng" algn="ctr">
            <a:gradFill flip="none" rotWithShape="1">
              <a:gsLst>
                <a:gs pos="0">
                  <a:srgbClr val="0046F0"/>
                </a:gs>
                <a:gs pos="100000">
                  <a:srgbClr val="0046F0">
                    <a:lumMod val="60000"/>
                    <a:lumOff val="40000"/>
                  </a:srgbClr>
                </a:gs>
              </a:gsLst>
              <a:lin ang="0" scaled="1"/>
              <a:tileRect/>
            </a:gradFill>
            <a:prstDash val="solid"/>
          </a:ln>
          <a:effectLst/>
        </p:spPr>
      </p:cxnSp>
      <p:cxnSp>
        <p:nvCxnSpPr>
          <p:cNvPr id="24" name="直接连接符 11">
            <a:extLst>
              <a:ext uri="{FF2B5EF4-FFF2-40B4-BE49-F238E27FC236}">
                <a16:creationId xmlns:a16="http://schemas.microsoft.com/office/drawing/2014/main" id="{5CF7CBB9-E8B9-BC4F-86CD-1D5B3F270226}"/>
              </a:ext>
            </a:extLst>
          </p:cNvPr>
          <p:cNvCxnSpPr/>
          <p:nvPr/>
        </p:nvCxnSpPr>
        <p:spPr bwMode="auto">
          <a:xfrm>
            <a:off x="3060915" y="3380870"/>
            <a:ext cx="8640000" cy="0"/>
          </a:xfrm>
          <a:prstGeom prst="line">
            <a:avLst/>
          </a:prstGeom>
          <a:noFill/>
          <a:ln w="28575" cap="flat" cmpd="sng" algn="ctr">
            <a:gradFill flip="none" rotWithShape="1">
              <a:gsLst>
                <a:gs pos="0">
                  <a:srgbClr val="0046F0"/>
                </a:gs>
                <a:gs pos="100000">
                  <a:srgbClr val="0046F0">
                    <a:lumMod val="60000"/>
                    <a:lumOff val="40000"/>
                  </a:srgbClr>
                </a:gs>
              </a:gsLst>
              <a:lin ang="0" scaled="1"/>
              <a:tileRect/>
            </a:gradFill>
            <a:prstDash val="solid"/>
          </a:ln>
          <a:effectLst/>
        </p:spPr>
      </p:cxnSp>
      <p:pic>
        <p:nvPicPr>
          <p:cNvPr id="1026" name="Picture 2">
            <a:extLst>
              <a:ext uri="{FF2B5EF4-FFF2-40B4-BE49-F238E27FC236}">
                <a16:creationId xmlns:a16="http://schemas.microsoft.com/office/drawing/2014/main" id="{09D15E17-E471-E646-82CB-E6553607AA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098" y="1159775"/>
            <a:ext cx="2524815" cy="2155204"/>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28E30F0D-BE36-4F44-AAA9-CB5AF4997FF9}"/>
              </a:ext>
            </a:extLst>
          </p:cNvPr>
          <p:cNvPicPr>
            <a:picLocks noChangeAspect="1"/>
          </p:cNvPicPr>
          <p:nvPr/>
        </p:nvPicPr>
        <p:blipFill rotWithShape="1">
          <a:blip r:embed="rId5"/>
          <a:srcRect r="50714" b="68487"/>
          <a:stretch/>
        </p:blipFill>
        <p:spPr>
          <a:xfrm>
            <a:off x="9627554" y="4786515"/>
            <a:ext cx="2031045" cy="1733478"/>
          </a:xfrm>
          <a:prstGeom prst="rect">
            <a:avLst/>
          </a:prstGeom>
          <a:solidFill>
            <a:schemeClr val="accent2">
              <a:lumMod val="20000"/>
              <a:lumOff val="80000"/>
            </a:schemeClr>
          </a:solidFill>
          <a:ln>
            <a:solidFill>
              <a:srgbClr val="00B0F0"/>
            </a:solidFill>
          </a:ln>
        </p:spPr>
      </p:pic>
    </p:spTree>
    <p:extLst>
      <p:ext uri="{BB962C8B-B14F-4D97-AF65-F5344CB8AC3E}">
        <p14:creationId xmlns:p14="http://schemas.microsoft.com/office/powerpoint/2010/main" val="3572408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solidFill>
                  <a:srgbClr val="C00000"/>
                </a:solidFill>
              </a:rPr>
              <a:t>分布式系統飛速發展</a:t>
            </a:r>
          </a:p>
        </p:txBody>
      </p:sp>
      <p:pic>
        <p:nvPicPr>
          <p:cNvPr id="5" name="图片 4" descr="舞台上的人&#10;&#10;中度可信度描述已自动生成">
            <a:extLst>
              <a:ext uri="{FF2B5EF4-FFF2-40B4-BE49-F238E27FC236}">
                <a16:creationId xmlns:a16="http://schemas.microsoft.com/office/drawing/2014/main" id="{9B0B94D5-485D-AD4B-A7AB-62575DB50DC7}"/>
              </a:ext>
            </a:extLst>
          </p:cNvPr>
          <p:cNvPicPr>
            <a:picLocks noChangeAspect="1"/>
          </p:cNvPicPr>
          <p:nvPr/>
        </p:nvPicPr>
        <p:blipFill rotWithShape="1">
          <a:blip r:embed="rId3"/>
          <a:srcRect t="12199"/>
          <a:stretch/>
        </p:blipFill>
        <p:spPr>
          <a:xfrm>
            <a:off x="6779619" y="1064154"/>
            <a:ext cx="4867014" cy="3115959"/>
          </a:xfrm>
          <a:prstGeom prst="rect">
            <a:avLst/>
          </a:prstGeom>
        </p:spPr>
      </p:pic>
      <p:pic>
        <p:nvPicPr>
          <p:cNvPr id="6" name="图片 5">
            <a:extLst>
              <a:ext uri="{FF2B5EF4-FFF2-40B4-BE49-F238E27FC236}">
                <a16:creationId xmlns:a16="http://schemas.microsoft.com/office/drawing/2014/main" id="{0D075C11-645A-FB4A-97BE-FF1FC3EF3FF7}"/>
              </a:ext>
            </a:extLst>
          </p:cNvPr>
          <p:cNvPicPr>
            <a:picLocks noChangeAspect="1"/>
          </p:cNvPicPr>
          <p:nvPr/>
        </p:nvPicPr>
        <p:blipFill>
          <a:blip r:embed="rId4"/>
          <a:stretch>
            <a:fillRect/>
          </a:stretch>
        </p:blipFill>
        <p:spPr>
          <a:xfrm>
            <a:off x="647299" y="4373140"/>
            <a:ext cx="5608937" cy="1875600"/>
          </a:xfrm>
          <a:prstGeom prst="rect">
            <a:avLst/>
          </a:prstGeom>
        </p:spPr>
      </p:pic>
      <p:pic>
        <p:nvPicPr>
          <p:cNvPr id="13" name="图片 12">
            <a:extLst>
              <a:ext uri="{FF2B5EF4-FFF2-40B4-BE49-F238E27FC236}">
                <a16:creationId xmlns:a16="http://schemas.microsoft.com/office/drawing/2014/main" id="{0782080D-7CB8-024D-B84D-1E3012711042}"/>
              </a:ext>
            </a:extLst>
          </p:cNvPr>
          <p:cNvPicPr>
            <a:picLocks noChangeAspect="1"/>
          </p:cNvPicPr>
          <p:nvPr/>
        </p:nvPicPr>
        <p:blipFill>
          <a:blip r:embed="rId5"/>
          <a:stretch>
            <a:fillRect/>
          </a:stretch>
        </p:blipFill>
        <p:spPr>
          <a:xfrm>
            <a:off x="6389145" y="4332196"/>
            <a:ext cx="5714074" cy="1869743"/>
          </a:xfrm>
          <a:prstGeom prst="rect">
            <a:avLst/>
          </a:prstGeom>
        </p:spPr>
      </p:pic>
      <p:grpSp>
        <p:nvGrpSpPr>
          <p:cNvPr id="16" name="组合 15">
            <a:extLst>
              <a:ext uri="{FF2B5EF4-FFF2-40B4-BE49-F238E27FC236}">
                <a16:creationId xmlns:a16="http://schemas.microsoft.com/office/drawing/2014/main" id="{804B45BD-37B5-D84B-A285-BB1D2FF4F986}"/>
              </a:ext>
            </a:extLst>
          </p:cNvPr>
          <p:cNvGrpSpPr/>
          <p:nvPr/>
        </p:nvGrpSpPr>
        <p:grpSpPr>
          <a:xfrm>
            <a:off x="719171" y="1064155"/>
            <a:ext cx="5714074" cy="3118915"/>
            <a:chOff x="978576" y="965751"/>
            <a:chExt cx="10599014" cy="1107696"/>
          </a:xfrm>
        </p:grpSpPr>
        <p:sp>
          <p:nvSpPr>
            <p:cNvPr id="14" name="矩形 13">
              <a:extLst>
                <a:ext uri="{FF2B5EF4-FFF2-40B4-BE49-F238E27FC236}">
                  <a16:creationId xmlns:a16="http://schemas.microsoft.com/office/drawing/2014/main" id="{960056AF-18CC-4545-AC39-04F9CF197D52}"/>
                </a:ext>
              </a:extLst>
            </p:cNvPr>
            <p:cNvSpPr>
              <a:spLocks/>
            </p:cNvSpPr>
            <p:nvPr/>
          </p:nvSpPr>
          <p:spPr bwMode="auto">
            <a:xfrm>
              <a:off x="978576" y="965751"/>
              <a:ext cx="10599014" cy="1107696"/>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defRPr/>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15" name="矩形 14">
              <a:extLst>
                <a:ext uri="{FF2B5EF4-FFF2-40B4-BE49-F238E27FC236}">
                  <a16:creationId xmlns:a16="http://schemas.microsoft.com/office/drawing/2014/main" id="{1A906E56-309F-9A4A-BB35-351FDD162826}"/>
                </a:ext>
              </a:extLst>
            </p:cNvPr>
            <p:cNvSpPr/>
            <p:nvPr/>
          </p:nvSpPr>
          <p:spPr>
            <a:xfrm>
              <a:off x="1101394" y="1013359"/>
              <a:ext cx="10371262" cy="1039293"/>
            </a:xfrm>
            <a:prstGeom prst="rect">
              <a:avLst/>
            </a:prstGeom>
          </p:spPr>
          <p:txBody>
            <a:bodyPr wrap="square">
              <a:spAutoFit/>
            </a:bodyPr>
            <a:lstStyle/>
            <a:p>
              <a:pPr marL="342900" indent="-342900" algn="just">
                <a:lnSpc>
                  <a:spcPct val="130000"/>
                </a:lnSpc>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隨著互聯網技術的不斷演進與用戶數量的“爆炸式”增長，導致用戶需求不斷增加</a:t>
              </a:r>
              <a:endParaRPr lang="en-US" altLang="zh-CN" sz="2400" dirty="0">
                <a:latin typeface="Microsoft YaHei" panose="020B0503020204020204" pitchFamily="34" charset="-122"/>
                <a:ea typeface="Microsoft YaHei" panose="020B0503020204020204" pitchFamily="34" charset="-122"/>
              </a:endParaRPr>
            </a:p>
            <a:p>
              <a:pPr marL="342900" indent="-342900" algn="just">
                <a:lnSpc>
                  <a:spcPct val="130000"/>
                </a:lnSpc>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基于單一節點的</a:t>
              </a:r>
              <a:r>
                <a:rPr lang="en-US" altLang="zh-CN" sz="2400" dirty="0">
                  <a:latin typeface="Microsoft YaHei" panose="020B0503020204020204" pitchFamily="34" charset="-122"/>
                  <a:ea typeface="Microsoft YaHei" panose="020B0503020204020204" pitchFamily="34" charset="-122"/>
                </a:rPr>
                <a:t>C/S</a:t>
              </a:r>
              <a:r>
                <a:rPr lang="zh-CN" altLang="en-US" sz="2400" dirty="0">
                  <a:latin typeface="Microsoft YaHei" panose="020B0503020204020204" pitchFamily="34" charset="-122"/>
                  <a:ea typeface="Microsoft YaHei" panose="020B0503020204020204" pitchFamily="34" charset="-122"/>
                </a:rPr>
                <a:t>架構所構建的服務無法承受如今的用戶規模，分布式系統規模也在不斷擴張</a:t>
              </a:r>
              <a:endParaRPr lang="en-US" altLang="zh-CN" sz="2400" dirty="0">
                <a:latin typeface="Microsoft YaHei" panose="020B0503020204020204" pitchFamily="34" charset="-122"/>
                <a:ea typeface="Microsoft YaHei" panose="020B0503020204020204" pitchFamily="34" charset="-122"/>
              </a:endParaRPr>
            </a:p>
          </p:txBody>
        </p:sp>
      </p:grpSp>
      <p:sp>
        <p:nvSpPr>
          <p:cNvPr id="9" name="灯片编号占位符 2">
            <a:extLst>
              <a:ext uri="{FF2B5EF4-FFF2-40B4-BE49-F238E27FC236}">
                <a16:creationId xmlns:a16="http://schemas.microsoft.com/office/drawing/2014/main" id="{87987C51-6EFF-0646-BC0F-DBB51CFDE2CB}"/>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4</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820835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solidFill>
                  <a:srgbClr val="C00000"/>
                </a:solidFill>
              </a:rPr>
              <a:t>分布式系統無處不在</a:t>
            </a:r>
          </a:p>
        </p:txBody>
      </p:sp>
      <p:grpSp>
        <p:nvGrpSpPr>
          <p:cNvPr id="24" name="组合 23">
            <a:extLst>
              <a:ext uri="{FF2B5EF4-FFF2-40B4-BE49-F238E27FC236}">
                <a16:creationId xmlns:a16="http://schemas.microsoft.com/office/drawing/2014/main" id="{6FE2F4F6-20D9-CF43-83DA-12A195C72DFA}"/>
              </a:ext>
            </a:extLst>
          </p:cNvPr>
          <p:cNvGrpSpPr/>
          <p:nvPr/>
        </p:nvGrpSpPr>
        <p:grpSpPr>
          <a:xfrm>
            <a:off x="7040879" y="2408597"/>
            <a:ext cx="4461759" cy="4109769"/>
            <a:chOff x="6610662" y="1329115"/>
            <a:chExt cx="5492750" cy="5139078"/>
          </a:xfrm>
        </p:grpSpPr>
        <p:pic>
          <p:nvPicPr>
            <p:cNvPr id="12" name="Picture 2" descr="See the source image">
              <a:extLst>
                <a:ext uri="{FF2B5EF4-FFF2-40B4-BE49-F238E27FC236}">
                  <a16:creationId xmlns:a16="http://schemas.microsoft.com/office/drawing/2014/main" id="{D2323AB6-D0A3-2347-9D8C-3928372DB6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7162" y="2165931"/>
              <a:ext cx="4286250" cy="3438525"/>
            </a:xfrm>
            <a:prstGeom prst="rect">
              <a:avLst/>
            </a:prstGeom>
            <a:noFill/>
            <a:extLst>
              <a:ext uri="{909E8E84-426E-40DD-AFC4-6F175D3DCCD1}">
                <a14:hiddenFill xmlns:a14="http://schemas.microsoft.com/office/drawing/2010/main">
                  <a:solidFill>
                    <a:srgbClr val="FFFFFF"/>
                  </a:solidFill>
                </a14:hiddenFill>
              </a:ext>
            </a:extLst>
          </p:spPr>
        </p:pic>
        <p:sp>
          <p:nvSpPr>
            <p:cNvPr id="14" name="弧形 4">
              <a:extLst>
                <a:ext uri="{FF2B5EF4-FFF2-40B4-BE49-F238E27FC236}">
                  <a16:creationId xmlns:a16="http://schemas.microsoft.com/office/drawing/2014/main" id="{F0CF1E79-114A-9C4B-ABD9-219136906EED}"/>
                </a:ext>
              </a:extLst>
            </p:cNvPr>
            <p:cNvSpPr/>
            <p:nvPr/>
          </p:nvSpPr>
          <p:spPr>
            <a:xfrm>
              <a:off x="6953562" y="1730769"/>
              <a:ext cx="4113724" cy="4377085"/>
            </a:xfrm>
            <a:prstGeom prst="arc">
              <a:avLst>
                <a:gd name="adj1" fmla="val 4655529"/>
                <a:gd name="adj2" fmla="val 16340202"/>
              </a:avLst>
            </a:prstGeom>
            <a:ln w="28575"/>
          </p:spPr>
          <p:style>
            <a:lnRef idx="1">
              <a:schemeClr val="accent3"/>
            </a:lnRef>
            <a:fillRef idx="0">
              <a:schemeClr val="accent3"/>
            </a:fillRef>
            <a:effectRef idx="0">
              <a:schemeClr val="accent3"/>
            </a:effectRef>
            <a:fontRef idx="minor">
              <a:schemeClr val="tx1"/>
            </a:fontRef>
          </p:style>
          <p:txBody>
            <a:bodyPr rtlCol="0" anchor="ctr"/>
            <a:lstStyle/>
            <a:p>
              <a:pPr algn="ctr"/>
              <a:endParaRPr lang="zh-CN" altLang="en-US"/>
            </a:p>
          </p:txBody>
        </p:sp>
        <p:pic>
          <p:nvPicPr>
            <p:cNvPr id="15" name="图片 14">
              <a:extLst>
                <a:ext uri="{FF2B5EF4-FFF2-40B4-BE49-F238E27FC236}">
                  <a16:creationId xmlns:a16="http://schemas.microsoft.com/office/drawing/2014/main" id="{7E45A674-39C9-624E-9975-51229BED63D6}"/>
                </a:ext>
              </a:extLst>
            </p:cNvPr>
            <p:cNvPicPr>
              <a:picLocks noChangeAspect="1"/>
            </p:cNvPicPr>
            <p:nvPr/>
          </p:nvPicPr>
          <p:blipFill rotWithShape="1">
            <a:blip r:embed="rId4"/>
            <a:srcRect t="4728" b="64862"/>
            <a:stretch/>
          </p:blipFill>
          <p:spPr>
            <a:xfrm>
              <a:off x="6610662" y="3008753"/>
              <a:ext cx="749300" cy="764706"/>
            </a:xfrm>
            <a:prstGeom prst="rect">
              <a:avLst/>
            </a:prstGeom>
          </p:spPr>
        </p:pic>
        <p:pic>
          <p:nvPicPr>
            <p:cNvPr id="16" name="图片 15">
              <a:extLst>
                <a:ext uri="{FF2B5EF4-FFF2-40B4-BE49-F238E27FC236}">
                  <a16:creationId xmlns:a16="http://schemas.microsoft.com/office/drawing/2014/main" id="{53EEB774-1100-5E4A-8F35-06380DB62DFA}"/>
                </a:ext>
              </a:extLst>
            </p:cNvPr>
            <p:cNvPicPr>
              <a:picLocks noChangeAspect="1"/>
            </p:cNvPicPr>
            <p:nvPr/>
          </p:nvPicPr>
          <p:blipFill rotWithShape="1">
            <a:blip r:embed="rId4"/>
            <a:srcRect t="4728" b="64862"/>
            <a:stretch/>
          </p:blipFill>
          <p:spPr>
            <a:xfrm>
              <a:off x="6847590" y="4286737"/>
              <a:ext cx="749300" cy="764706"/>
            </a:xfrm>
            <a:prstGeom prst="rect">
              <a:avLst/>
            </a:prstGeom>
          </p:spPr>
        </p:pic>
        <p:pic>
          <p:nvPicPr>
            <p:cNvPr id="17" name="图片 16">
              <a:extLst>
                <a:ext uri="{FF2B5EF4-FFF2-40B4-BE49-F238E27FC236}">
                  <a16:creationId xmlns:a16="http://schemas.microsoft.com/office/drawing/2014/main" id="{9535D443-7571-F343-8678-A6BD6AA0F0BB}"/>
                </a:ext>
              </a:extLst>
            </p:cNvPr>
            <p:cNvPicPr>
              <a:picLocks noChangeAspect="1"/>
            </p:cNvPicPr>
            <p:nvPr/>
          </p:nvPicPr>
          <p:blipFill rotWithShape="1">
            <a:blip r:embed="rId4"/>
            <a:srcRect t="4728" b="64862"/>
            <a:stretch/>
          </p:blipFill>
          <p:spPr>
            <a:xfrm>
              <a:off x="7887012" y="5367357"/>
              <a:ext cx="749300" cy="764706"/>
            </a:xfrm>
            <a:prstGeom prst="rect">
              <a:avLst/>
            </a:prstGeom>
          </p:spPr>
        </p:pic>
        <p:pic>
          <p:nvPicPr>
            <p:cNvPr id="18" name="图片 17">
              <a:extLst>
                <a:ext uri="{FF2B5EF4-FFF2-40B4-BE49-F238E27FC236}">
                  <a16:creationId xmlns:a16="http://schemas.microsoft.com/office/drawing/2014/main" id="{92A876B4-1DEC-1543-9EE5-BCAEB6515700}"/>
                </a:ext>
              </a:extLst>
            </p:cNvPr>
            <p:cNvPicPr>
              <a:picLocks noChangeAspect="1"/>
            </p:cNvPicPr>
            <p:nvPr/>
          </p:nvPicPr>
          <p:blipFill rotWithShape="1">
            <a:blip r:embed="rId4"/>
            <a:srcRect t="4728" b="64862"/>
            <a:stretch/>
          </p:blipFill>
          <p:spPr>
            <a:xfrm>
              <a:off x="7563162" y="1725219"/>
              <a:ext cx="749300" cy="764706"/>
            </a:xfrm>
            <a:prstGeom prst="rect">
              <a:avLst/>
            </a:prstGeom>
          </p:spPr>
        </p:pic>
        <p:pic>
          <p:nvPicPr>
            <p:cNvPr id="19" name="图片 18">
              <a:extLst>
                <a:ext uri="{FF2B5EF4-FFF2-40B4-BE49-F238E27FC236}">
                  <a16:creationId xmlns:a16="http://schemas.microsoft.com/office/drawing/2014/main" id="{07E06C88-334B-5143-9412-1AA616EF40F0}"/>
                </a:ext>
              </a:extLst>
            </p:cNvPr>
            <p:cNvPicPr>
              <a:picLocks noChangeAspect="1"/>
            </p:cNvPicPr>
            <p:nvPr/>
          </p:nvPicPr>
          <p:blipFill rotWithShape="1">
            <a:blip r:embed="rId4"/>
            <a:srcRect t="4728" b="64862"/>
            <a:stretch/>
          </p:blipFill>
          <p:spPr>
            <a:xfrm>
              <a:off x="8687112" y="1329115"/>
              <a:ext cx="749300" cy="764706"/>
            </a:xfrm>
            <a:prstGeom prst="rect">
              <a:avLst/>
            </a:prstGeom>
          </p:spPr>
        </p:pic>
        <p:pic>
          <p:nvPicPr>
            <p:cNvPr id="20" name="图片 19">
              <a:extLst>
                <a:ext uri="{FF2B5EF4-FFF2-40B4-BE49-F238E27FC236}">
                  <a16:creationId xmlns:a16="http://schemas.microsoft.com/office/drawing/2014/main" id="{CC756B4D-CBBD-2F44-8A47-3D5B6042E0EE}"/>
                </a:ext>
              </a:extLst>
            </p:cNvPr>
            <p:cNvPicPr>
              <a:picLocks noChangeAspect="1"/>
            </p:cNvPicPr>
            <p:nvPr/>
          </p:nvPicPr>
          <p:blipFill rotWithShape="1">
            <a:blip r:embed="rId4"/>
            <a:srcRect t="4728" b="64862"/>
            <a:stretch/>
          </p:blipFill>
          <p:spPr>
            <a:xfrm>
              <a:off x="9385612" y="5703487"/>
              <a:ext cx="749300" cy="764706"/>
            </a:xfrm>
            <a:prstGeom prst="rect">
              <a:avLst/>
            </a:prstGeom>
          </p:spPr>
        </p:pic>
      </p:grpSp>
      <p:grpSp>
        <p:nvGrpSpPr>
          <p:cNvPr id="31" name="组合 30">
            <a:extLst>
              <a:ext uri="{FF2B5EF4-FFF2-40B4-BE49-F238E27FC236}">
                <a16:creationId xmlns:a16="http://schemas.microsoft.com/office/drawing/2014/main" id="{CBA7B73E-48B1-5748-A1C4-C0A45D0B3D0F}"/>
              </a:ext>
            </a:extLst>
          </p:cNvPr>
          <p:cNvGrpSpPr/>
          <p:nvPr/>
        </p:nvGrpSpPr>
        <p:grpSpPr>
          <a:xfrm>
            <a:off x="1567542" y="2122054"/>
            <a:ext cx="4361471" cy="4069740"/>
            <a:chOff x="884420" y="1013791"/>
            <a:chExt cx="5690136" cy="5603230"/>
          </a:xfrm>
        </p:grpSpPr>
        <p:pic>
          <p:nvPicPr>
            <p:cNvPr id="3" name="图片 2">
              <a:extLst>
                <a:ext uri="{FF2B5EF4-FFF2-40B4-BE49-F238E27FC236}">
                  <a16:creationId xmlns:a16="http://schemas.microsoft.com/office/drawing/2014/main" id="{557C0CFA-6BBD-4440-B67D-8C167DDA2FA7}"/>
                </a:ext>
              </a:extLst>
            </p:cNvPr>
            <p:cNvPicPr>
              <a:picLocks noChangeAspect="1"/>
            </p:cNvPicPr>
            <p:nvPr/>
          </p:nvPicPr>
          <p:blipFill rotWithShape="1">
            <a:blip r:embed="rId5"/>
            <a:srcRect l="5200" r="3699" b="9524"/>
            <a:stretch/>
          </p:blipFill>
          <p:spPr>
            <a:xfrm>
              <a:off x="884420" y="1013791"/>
              <a:ext cx="5690136" cy="1697563"/>
            </a:xfrm>
            <a:prstGeom prst="rect">
              <a:avLst/>
            </a:prstGeom>
          </p:spPr>
        </p:pic>
        <p:pic>
          <p:nvPicPr>
            <p:cNvPr id="21" name="图片 20" descr="图标&#10;&#10;描述已自动生成">
              <a:extLst>
                <a:ext uri="{FF2B5EF4-FFF2-40B4-BE49-F238E27FC236}">
                  <a16:creationId xmlns:a16="http://schemas.microsoft.com/office/drawing/2014/main" id="{C3F6CCCC-F3E6-C24F-AB83-BFC85C838FBE}"/>
                </a:ext>
              </a:extLst>
            </p:cNvPr>
            <p:cNvPicPr>
              <a:picLocks noChangeAspect="1"/>
            </p:cNvPicPr>
            <p:nvPr/>
          </p:nvPicPr>
          <p:blipFill>
            <a:blip r:embed="rId6"/>
            <a:stretch>
              <a:fillRect/>
            </a:stretch>
          </p:blipFill>
          <p:spPr>
            <a:xfrm>
              <a:off x="1314096" y="2956860"/>
              <a:ext cx="1698927" cy="1620957"/>
            </a:xfrm>
            <a:prstGeom prst="rect">
              <a:avLst/>
            </a:prstGeom>
          </p:spPr>
        </p:pic>
        <p:pic>
          <p:nvPicPr>
            <p:cNvPr id="23" name="图片 22" descr="徽标&#10;&#10;描述已自动生成">
              <a:extLst>
                <a:ext uri="{FF2B5EF4-FFF2-40B4-BE49-F238E27FC236}">
                  <a16:creationId xmlns:a16="http://schemas.microsoft.com/office/drawing/2014/main" id="{B102EB7A-109B-7C49-8585-D4A32C6A6ED7}"/>
                </a:ext>
              </a:extLst>
            </p:cNvPr>
            <p:cNvPicPr>
              <a:picLocks noChangeAspect="1"/>
            </p:cNvPicPr>
            <p:nvPr/>
          </p:nvPicPr>
          <p:blipFill>
            <a:blip r:embed="rId7"/>
            <a:stretch>
              <a:fillRect/>
            </a:stretch>
          </p:blipFill>
          <p:spPr>
            <a:xfrm>
              <a:off x="4538147" y="3020528"/>
              <a:ext cx="1508827" cy="1362163"/>
            </a:xfrm>
            <a:prstGeom prst="rect">
              <a:avLst/>
            </a:prstGeom>
          </p:spPr>
        </p:pic>
        <p:pic>
          <p:nvPicPr>
            <p:cNvPr id="28" name="图片 27" descr="形状, 徽标&#10;&#10;描述已自动生成">
              <a:extLst>
                <a:ext uri="{FF2B5EF4-FFF2-40B4-BE49-F238E27FC236}">
                  <a16:creationId xmlns:a16="http://schemas.microsoft.com/office/drawing/2014/main" id="{09C8039D-D181-C14F-A226-390757C4DF70}"/>
                </a:ext>
              </a:extLst>
            </p:cNvPr>
            <p:cNvPicPr>
              <a:picLocks noChangeAspect="1"/>
            </p:cNvPicPr>
            <p:nvPr/>
          </p:nvPicPr>
          <p:blipFill>
            <a:blip r:embed="rId8"/>
            <a:stretch>
              <a:fillRect/>
            </a:stretch>
          </p:blipFill>
          <p:spPr>
            <a:xfrm>
              <a:off x="1131376" y="5092386"/>
              <a:ext cx="2285167" cy="1524635"/>
            </a:xfrm>
            <a:prstGeom prst="rect">
              <a:avLst/>
            </a:prstGeom>
          </p:spPr>
        </p:pic>
        <p:pic>
          <p:nvPicPr>
            <p:cNvPr id="30" name="图片 29" descr="图标&#10;&#10;描述已自动生成">
              <a:extLst>
                <a:ext uri="{FF2B5EF4-FFF2-40B4-BE49-F238E27FC236}">
                  <a16:creationId xmlns:a16="http://schemas.microsoft.com/office/drawing/2014/main" id="{379E527C-8023-CB4B-BEFB-EB23114F3D5B}"/>
                </a:ext>
              </a:extLst>
            </p:cNvPr>
            <p:cNvPicPr>
              <a:picLocks noChangeAspect="1"/>
            </p:cNvPicPr>
            <p:nvPr/>
          </p:nvPicPr>
          <p:blipFill rotWithShape="1">
            <a:blip r:embed="rId9"/>
            <a:srcRect l="21168" r="19385"/>
            <a:stretch/>
          </p:blipFill>
          <p:spPr>
            <a:xfrm>
              <a:off x="4188307" y="4695017"/>
              <a:ext cx="2285167" cy="1922004"/>
            </a:xfrm>
            <a:prstGeom prst="rect">
              <a:avLst/>
            </a:prstGeom>
          </p:spPr>
        </p:pic>
      </p:grpSp>
      <p:grpSp>
        <p:nvGrpSpPr>
          <p:cNvPr id="4" name="组合 3">
            <a:extLst>
              <a:ext uri="{FF2B5EF4-FFF2-40B4-BE49-F238E27FC236}">
                <a16:creationId xmlns:a16="http://schemas.microsoft.com/office/drawing/2014/main" id="{FE6A7195-2C08-524C-BCFE-F2E8F74CA59D}"/>
              </a:ext>
            </a:extLst>
          </p:cNvPr>
          <p:cNvGrpSpPr/>
          <p:nvPr/>
        </p:nvGrpSpPr>
        <p:grpSpPr>
          <a:xfrm>
            <a:off x="769568" y="965751"/>
            <a:ext cx="10699620" cy="1107696"/>
            <a:chOff x="939387" y="965751"/>
            <a:chExt cx="10699620" cy="1107696"/>
          </a:xfrm>
        </p:grpSpPr>
        <p:sp>
          <p:nvSpPr>
            <p:cNvPr id="32" name="矩形 31">
              <a:extLst>
                <a:ext uri="{FF2B5EF4-FFF2-40B4-BE49-F238E27FC236}">
                  <a16:creationId xmlns:a16="http://schemas.microsoft.com/office/drawing/2014/main" id="{E5D751C5-2FA7-104E-84D6-01DDE6A39B44}"/>
                </a:ext>
              </a:extLst>
            </p:cNvPr>
            <p:cNvSpPr>
              <a:spLocks/>
            </p:cNvSpPr>
            <p:nvPr/>
          </p:nvSpPr>
          <p:spPr bwMode="auto">
            <a:xfrm>
              <a:off x="939387" y="965751"/>
              <a:ext cx="10699620" cy="1107696"/>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defRPr/>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33" name="矩形 32">
              <a:extLst>
                <a:ext uri="{FF2B5EF4-FFF2-40B4-BE49-F238E27FC236}">
                  <a16:creationId xmlns:a16="http://schemas.microsoft.com/office/drawing/2014/main" id="{0FAB6FFA-1E27-ED4C-A0DE-9045D0039E50}"/>
                </a:ext>
              </a:extLst>
            </p:cNvPr>
            <p:cNvSpPr/>
            <p:nvPr/>
          </p:nvSpPr>
          <p:spPr>
            <a:xfrm>
              <a:off x="1049144" y="987233"/>
              <a:ext cx="10371263" cy="1005788"/>
            </a:xfrm>
            <a:prstGeom prst="rect">
              <a:avLst/>
            </a:prstGeom>
          </p:spPr>
          <p:txBody>
            <a:bodyPr wrap="square">
              <a:spAutoFit/>
            </a:bodyPr>
            <a:lstStyle/>
            <a:p>
              <a:pPr algn="just">
                <a:lnSpc>
                  <a:spcPct val="130000"/>
                </a:lnSpc>
              </a:pPr>
              <a:r>
                <a:rPr lang="zh-CN" altLang="en-US" sz="2400" dirty="0">
                  <a:latin typeface="Microsoft YaHei" panose="020B0503020204020204" pitchFamily="34" charset="-122"/>
                  <a:ea typeface="Microsoft YaHei" panose="020B0503020204020204" pitchFamily="34" charset="-122"/>
                </a:rPr>
                <a:t>如今的我們每天都在和分布式系統打交道，例如：瀏覽網頁用到的</a:t>
              </a:r>
              <a:r>
                <a:rPr lang="en-US" altLang="zh-CN" sz="2400" dirty="0">
                  <a:latin typeface="Microsoft YaHei" panose="020B0503020204020204" pitchFamily="34" charset="-122"/>
                  <a:ea typeface="Microsoft YaHei" panose="020B0503020204020204" pitchFamily="34" charset="-122"/>
                </a:rPr>
                <a:t>DNS</a:t>
              </a:r>
              <a:r>
                <a:rPr lang="zh-CN" altLang="en-US" sz="2400" dirty="0">
                  <a:latin typeface="Microsoft YaHei" panose="020B0503020204020204" pitchFamily="34" charset="-122"/>
                  <a:ea typeface="Microsoft YaHei" panose="020B0503020204020204" pitchFamily="34" charset="-122"/>
                </a:rPr>
                <a:t>系統，微信、搜索引擎以及淘寶、京東等購物平臺，比特幣、以太坊等區塊鏈平臺</a:t>
              </a:r>
            </a:p>
          </p:txBody>
        </p:sp>
      </p:grpSp>
      <p:sp>
        <p:nvSpPr>
          <p:cNvPr id="22" name="灯片编号占位符 2">
            <a:extLst>
              <a:ext uri="{FF2B5EF4-FFF2-40B4-BE49-F238E27FC236}">
                <a16:creationId xmlns:a16="http://schemas.microsoft.com/office/drawing/2014/main" id="{29A58C3E-C4B0-BF42-94C1-A1C766D2C492}"/>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5</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1726644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682921-2E62-F14E-AEC0-07548EBCA810}"/>
              </a:ext>
            </a:extLst>
          </p:cNvPr>
          <p:cNvSpPr>
            <a:spLocks noGrp="1"/>
          </p:cNvSpPr>
          <p:nvPr>
            <p:ph type="title"/>
          </p:nvPr>
        </p:nvSpPr>
        <p:spPr/>
        <p:txBody>
          <a:bodyPr/>
          <a:lstStyle/>
          <a:p>
            <a:r>
              <a:rPr kumimoji="1" lang="zh-CN" altLang="en-US" dirty="0"/>
              <a:t>討論</a:t>
            </a:r>
          </a:p>
        </p:txBody>
      </p:sp>
      <p:sp>
        <p:nvSpPr>
          <p:cNvPr id="3" name="矩形 2">
            <a:extLst>
              <a:ext uri="{FF2B5EF4-FFF2-40B4-BE49-F238E27FC236}">
                <a16:creationId xmlns:a16="http://schemas.microsoft.com/office/drawing/2014/main" id="{00EC6ABE-0B33-2345-94F9-BBAA77C0BB64}"/>
              </a:ext>
            </a:extLst>
          </p:cNvPr>
          <p:cNvSpPr>
            <a:spLocks/>
          </p:cNvSpPr>
          <p:nvPr/>
        </p:nvSpPr>
        <p:spPr bwMode="auto">
          <a:xfrm>
            <a:off x="928177" y="2336800"/>
            <a:ext cx="10529713" cy="2286000"/>
          </a:xfrm>
          <a:prstGeom prst="rect">
            <a:avLst/>
          </a:prstGeom>
          <a:solidFill>
            <a:schemeClr val="accent3">
              <a:lumMod val="20000"/>
              <a:lumOff val="80000"/>
              <a:alpha val="40000"/>
            </a:schemeClr>
          </a:solidFill>
          <a:ln w="19050">
            <a:solidFill>
              <a:schemeClr val="accent3">
                <a:lumMod val="60000"/>
                <a:lumOff val="40000"/>
              </a:schemeClr>
            </a:solidFill>
          </a:ln>
          <a:effectLst>
            <a:reflection blurRad="6350" stA="50000" endA="300" endPos="55000" dir="5400000" sy="-100000" algn="bl" rotWithShape="0"/>
          </a:effectLst>
        </p:spPr>
        <p:txBody>
          <a:bodyPr lIns="144000" tIns="108000" rIns="90000" bIns="108000" anchor="ctr"/>
          <a:lstStyle/>
          <a:p>
            <a:pPr algn="ctr"/>
            <a:endParaRPr kumimoji="1" lang="en-US" dirty="0">
              <a:latin typeface="Microsoft YaHei" panose="020B0503020204020204" pitchFamily="34" charset="-122"/>
              <a:ea typeface="Microsoft YaHei" panose="020B0503020204020204" pitchFamily="34" charset="-122"/>
              <a:sym typeface="Arial" panose="020B0604020202020204" pitchFamily="34" charset="0"/>
            </a:endParaRPr>
          </a:p>
        </p:txBody>
      </p:sp>
      <p:sp>
        <p:nvSpPr>
          <p:cNvPr id="5" name="文本框 4">
            <a:extLst>
              <a:ext uri="{FF2B5EF4-FFF2-40B4-BE49-F238E27FC236}">
                <a16:creationId xmlns:a16="http://schemas.microsoft.com/office/drawing/2014/main" id="{284B39EC-445F-7E4A-8D6E-15747251C290}"/>
              </a:ext>
            </a:extLst>
          </p:cNvPr>
          <p:cNvSpPr txBox="1"/>
          <p:nvPr/>
        </p:nvSpPr>
        <p:spPr>
          <a:xfrm>
            <a:off x="928177" y="2797195"/>
            <a:ext cx="10528300" cy="927818"/>
          </a:xfrm>
          <a:prstGeom prst="rect">
            <a:avLst/>
          </a:prstGeom>
          <a:noFill/>
        </p:spPr>
        <p:txBody>
          <a:bodyPr wrap="square">
            <a:spAutoFit/>
          </a:bodyPr>
          <a:lstStyle/>
          <a:p>
            <a:pPr algn="ctr">
              <a:lnSpc>
                <a:spcPct val="200000"/>
              </a:lnSpc>
              <a:defRPr/>
            </a:pPr>
            <a:r>
              <a:rPr lang="zh-CN" altLang="en-US" sz="3200" b="1" kern="0" dirty="0">
                <a:solidFill>
                  <a:srgbClr val="000000"/>
                </a:solidFill>
                <a:ea typeface="微软雅黑" panose="020B0503020204020204" pitchFamily="34" charset="-122"/>
                <a:sym typeface="Arial" panose="020B0604020202020204" pitchFamily="34" charset="0"/>
              </a:rPr>
              <a:t>你認爲  </a:t>
            </a:r>
            <a:r>
              <a:rPr lang="zh-CN" altLang="en-US" sz="3200" b="1" kern="0" dirty="0">
                <a:solidFill>
                  <a:srgbClr val="C00000"/>
                </a:solidFill>
                <a:ea typeface="微软雅黑" panose="020B0503020204020204" pitchFamily="34" charset="-122"/>
                <a:sym typeface="Arial" panose="020B0604020202020204" pitchFamily="34" charset="0"/>
              </a:rPr>
              <a:t>分布式系統安全包含哪些內容 </a:t>
            </a:r>
            <a:r>
              <a:rPr lang="zh-CN" altLang="en-US" sz="3200" b="1" kern="0" dirty="0">
                <a:solidFill>
                  <a:srgbClr val="000000"/>
                </a:solidFill>
                <a:ea typeface="微软雅黑" panose="020B0503020204020204" pitchFamily="34" charset="-122"/>
                <a:sym typeface="Arial" panose="020B0604020202020204" pitchFamily="34" charset="0"/>
              </a:rPr>
              <a:t>？</a:t>
            </a:r>
            <a:endParaRPr lang="en-US" altLang="zh-CN" sz="3200" b="1" kern="0" dirty="0">
              <a:solidFill>
                <a:srgbClr val="000000"/>
              </a:solidFill>
              <a:ea typeface="微软雅黑" panose="020B0503020204020204" pitchFamily="34" charset="-122"/>
              <a:sym typeface="Arial" panose="020B0604020202020204" pitchFamily="34" charset="0"/>
            </a:endParaRPr>
          </a:p>
        </p:txBody>
      </p:sp>
      <p:sp>
        <p:nvSpPr>
          <p:cNvPr id="6" name="灯片编号占位符 2">
            <a:extLst>
              <a:ext uri="{FF2B5EF4-FFF2-40B4-BE49-F238E27FC236}">
                <a16:creationId xmlns:a16="http://schemas.microsoft.com/office/drawing/2014/main" id="{FEC6AE0C-D58D-5D4A-868D-4130E9CFF365}"/>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6</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3697169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分布式系統是什麽？</a:t>
            </a:r>
            <a:endParaRPr kumimoji="1" lang="zh-CN" altLang="en-US" dirty="0">
              <a:solidFill>
                <a:srgbClr val="C00000"/>
              </a:solidFill>
            </a:endParaRPr>
          </a:p>
        </p:txBody>
      </p:sp>
      <p:sp>
        <p:nvSpPr>
          <p:cNvPr id="4" name="文本框 3">
            <a:extLst>
              <a:ext uri="{FF2B5EF4-FFF2-40B4-BE49-F238E27FC236}">
                <a16:creationId xmlns:a16="http://schemas.microsoft.com/office/drawing/2014/main" id="{656C4675-2C8B-5445-BC9C-4B73BA07C3C2}"/>
              </a:ext>
            </a:extLst>
          </p:cNvPr>
          <p:cNvSpPr txBox="1"/>
          <p:nvPr/>
        </p:nvSpPr>
        <p:spPr>
          <a:xfrm>
            <a:off x="769567" y="2322582"/>
            <a:ext cx="10869987" cy="2118400"/>
          </a:xfrm>
          <a:prstGeom prst="rect">
            <a:avLst/>
          </a:prstGeom>
          <a:noFill/>
          <a:ln>
            <a:solidFill>
              <a:srgbClr val="00B0F0"/>
            </a:solidFill>
          </a:ln>
        </p:spPr>
        <p:txBody>
          <a:bodyPr wrap="square" rtlCol="0">
            <a:spAutoFit/>
          </a:bodyPr>
          <a:lstStyle/>
          <a:p>
            <a:pPr marL="342900" lvl="1" indent="-342900" fontAlgn="base">
              <a:lnSpc>
                <a:spcPts val="3600"/>
              </a:lnSpc>
              <a:spcBef>
                <a:spcPct val="20000"/>
              </a:spcBef>
              <a:spcAft>
                <a:spcPct val="0"/>
              </a:spcAft>
              <a:buSzPct val="100000"/>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分布式系統的組成：</a:t>
            </a:r>
            <a:endParaRPr lang="en-US" altLang="zh-CN" sz="2400" dirty="0">
              <a:latin typeface="Microsoft YaHei" panose="020B0503020204020204" pitchFamily="34" charset="-122"/>
              <a:ea typeface="Microsoft YaHei" panose="020B0503020204020204" pitchFamily="34" charset="-122"/>
            </a:endParaRPr>
          </a:p>
          <a:p>
            <a:pPr marL="684000" lvl="1" indent="-342900" fontAlgn="base">
              <a:lnSpc>
                <a:spcPts val="3600"/>
              </a:lnSpc>
              <a:spcBef>
                <a:spcPct val="20000"/>
              </a:spcBef>
              <a:spcAft>
                <a:spcPct val="0"/>
              </a:spcAft>
              <a:buSzPct val="100000"/>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交互網絡 </a:t>
            </a:r>
            <a:r>
              <a:rPr lang="en-US" altLang="zh-CN" sz="2400" dirty="0">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 實現協作的前提，系統組件基于交互網絡實現消息交互</a:t>
            </a:r>
            <a:endParaRPr lang="en-US" altLang="zh-CN" sz="2400" dirty="0">
              <a:latin typeface="Microsoft YaHei" panose="020B0503020204020204" pitchFamily="34" charset="-122"/>
              <a:ea typeface="Microsoft YaHei" panose="020B0503020204020204" pitchFamily="34" charset="-122"/>
            </a:endParaRPr>
          </a:p>
          <a:p>
            <a:pPr marL="684000" lvl="1" indent="-342900" fontAlgn="base">
              <a:lnSpc>
                <a:spcPts val="3600"/>
              </a:lnSpc>
              <a:spcBef>
                <a:spcPct val="20000"/>
              </a:spcBef>
              <a:spcAft>
                <a:spcPct val="0"/>
              </a:spcAft>
              <a:buSzPct val="100000"/>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分布式算法 </a:t>
            </a:r>
            <a:r>
              <a:rPr lang="en-US" altLang="zh-CN" sz="2400" dirty="0">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協調分布式組建之間的交互，確保系統穩定運行</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marL="684000" lvl="1" indent="-342900" fontAlgn="base">
              <a:lnSpc>
                <a:spcPts val="3600"/>
              </a:lnSpc>
              <a:spcBef>
                <a:spcPct val="20000"/>
              </a:spcBef>
              <a:spcAft>
                <a:spcPct val="0"/>
              </a:spcAft>
              <a:buSzPct val="100000"/>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信任機制 </a:t>
            </a:r>
            <a:r>
              <a:rPr lang="en-US" altLang="zh-CN" sz="2400" dirty="0">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 解决不同系統組件之間的信任問題，實現可信協作</a:t>
            </a:r>
            <a:endParaRPr lang="en-US" altLang="zh-CN" sz="2400" dirty="0">
              <a:latin typeface="Microsoft YaHei" panose="020B0503020204020204" pitchFamily="34" charset="-122"/>
              <a:ea typeface="Microsoft YaHei" panose="020B0503020204020204" pitchFamily="34" charset="-122"/>
            </a:endParaRPr>
          </a:p>
        </p:txBody>
      </p:sp>
      <p:sp>
        <p:nvSpPr>
          <p:cNvPr id="13" name="矩形 12">
            <a:extLst>
              <a:ext uri="{FF2B5EF4-FFF2-40B4-BE49-F238E27FC236}">
                <a16:creationId xmlns:a16="http://schemas.microsoft.com/office/drawing/2014/main" id="{08FE0F32-A6ED-ED49-9066-6123884F1C40}"/>
              </a:ext>
            </a:extLst>
          </p:cNvPr>
          <p:cNvSpPr>
            <a:spLocks/>
          </p:cNvSpPr>
          <p:nvPr/>
        </p:nvSpPr>
        <p:spPr bwMode="auto">
          <a:xfrm>
            <a:off x="769568" y="965751"/>
            <a:ext cx="10869986" cy="1107696"/>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defRPr/>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14" name="矩形 13">
            <a:extLst>
              <a:ext uri="{FF2B5EF4-FFF2-40B4-BE49-F238E27FC236}">
                <a16:creationId xmlns:a16="http://schemas.microsoft.com/office/drawing/2014/main" id="{D382B8E3-C62A-D74E-B3C5-9F2A9BF2AC11}"/>
              </a:ext>
            </a:extLst>
          </p:cNvPr>
          <p:cNvSpPr/>
          <p:nvPr/>
        </p:nvSpPr>
        <p:spPr>
          <a:xfrm>
            <a:off x="892387" y="1013359"/>
            <a:ext cx="10656851" cy="1005788"/>
          </a:xfrm>
          <a:prstGeom prst="rect">
            <a:avLst/>
          </a:prstGeom>
        </p:spPr>
        <p:txBody>
          <a:bodyPr wrap="square">
            <a:spAutoFit/>
          </a:bodyPr>
          <a:lstStyle/>
          <a:p>
            <a:pPr algn="just">
              <a:lnSpc>
                <a:spcPct val="130000"/>
              </a:lnSpc>
            </a:pPr>
            <a:r>
              <a:rPr lang="zh-CN" altLang="en-US" sz="2400" b="1" dirty="0">
                <a:latin typeface="Microsoft YaHei" panose="020B0503020204020204" pitchFamily="34" charset="-122"/>
                <a:ea typeface="Microsoft YaHei" panose="020B0503020204020204" pitchFamily="34" charset="-122"/>
              </a:rPr>
              <a:t>如今所說的分布式系統通常是由分布在不同地理位置的系統組件所構成，這些系統組件通過網絡傳遞消息完成動作協調，從而相互協作完成共同的任務 </a:t>
            </a:r>
          </a:p>
        </p:txBody>
      </p:sp>
      <p:pic>
        <p:nvPicPr>
          <p:cNvPr id="6" name="图片 5" descr="形状, 箭头&#10;&#10;描述已自动生成">
            <a:extLst>
              <a:ext uri="{FF2B5EF4-FFF2-40B4-BE49-F238E27FC236}">
                <a16:creationId xmlns:a16="http://schemas.microsoft.com/office/drawing/2014/main" id="{C79FBA55-7F7D-8143-A7F3-94A8D4B60BF5}"/>
              </a:ext>
            </a:extLst>
          </p:cNvPr>
          <p:cNvPicPr>
            <a:picLocks noChangeAspect="1"/>
          </p:cNvPicPr>
          <p:nvPr/>
        </p:nvPicPr>
        <p:blipFill>
          <a:blip r:embed="rId2"/>
          <a:stretch>
            <a:fillRect/>
          </a:stretch>
        </p:blipFill>
        <p:spPr>
          <a:xfrm>
            <a:off x="795325" y="4638461"/>
            <a:ext cx="2943265" cy="2083014"/>
          </a:xfrm>
          <a:prstGeom prst="rect">
            <a:avLst/>
          </a:prstGeom>
        </p:spPr>
      </p:pic>
      <p:pic>
        <p:nvPicPr>
          <p:cNvPr id="8" name="图片 7" descr="卡通人物&#10;&#10;中度可信度描述已自动生成">
            <a:extLst>
              <a:ext uri="{FF2B5EF4-FFF2-40B4-BE49-F238E27FC236}">
                <a16:creationId xmlns:a16="http://schemas.microsoft.com/office/drawing/2014/main" id="{903DD2B6-CAE4-874D-8E28-6C70CC0A751F}"/>
              </a:ext>
            </a:extLst>
          </p:cNvPr>
          <p:cNvPicPr>
            <a:picLocks noChangeAspect="1"/>
          </p:cNvPicPr>
          <p:nvPr/>
        </p:nvPicPr>
        <p:blipFill>
          <a:blip r:embed="rId3"/>
          <a:stretch>
            <a:fillRect/>
          </a:stretch>
        </p:blipFill>
        <p:spPr>
          <a:xfrm>
            <a:off x="4338038" y="4638461"/>
            <a:ext cx="3768877" cy="2083014"/>
          </a:xfrm>
          <a:prstGeom prst="rect">
            <a:avLst/>
          </a:prstGeom>
        </p:spPr>
      </p:pic>
      <p:pic>
        <p:nvPicPr>
          <p:cNvPr id="10" name="图片 9" descr="图片包含 桌子, 游戏机, 覆盖, 床&#10;&#10;描述已自动生成">
            <a:extLst>
              <a:ext uri="{FF2B5EF4-FFF2-40B4-BE49-F238E27FC236}">
                <a16:creationId xmlns:a16="http://schemas.microsoft.com/office/drawing/2014/main" id="{0915536C-3676-454F-96DB-3CA8447AA58F}"/>
              </a:ext>
            </a:extLst>
          </p:cNvPr>
          <p:cNvPicPr>
            <a:picLocks noChangeAspect="1"/>
          </p:cNvPicPr>
          <p:nvPr/>
        </p:nvPicPr>
        <p:blipFill>
          <a:blip r:embed="rId4"/>
          <a:stretch>
            <a:fillRect/>
          </a:stretch>
        </p:blipFill>
        <p:spPr>
          <a:xfrm>
            <a:off x="8520900" y="4639174"/>
            <a:ext cx="3118654" cy="2082302"/>
          </a:xfrm>
          <a:prstGeom prst="rect">
            <a:avLst/>
          </a:prstGeom>
        </p:spPr>
      </p:pic>
      <p:sp>
        <p:nvSpPr>
          <p:cNvPr id="9" name="灯片编号占位符 2">
            <a:extLst>
              <a:ext uri="{FF2B5EF4-FFF2-40B4-BE49-F238E27FC236}">
                <a16:creationId xmlns:a16="http://schemas.microsoft.com/office/drawing/2014/main" id="{81119943-F285-CC44-B796-367ADACE6A38}"/>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7</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843659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solidFill>
                  <a:srgbClr val="C00000"/>
                </a:solidFill>
              </a:rPr>
              <a:t>分布式系統的三個屬性</a:t>
            </a:r>
          </a:p>
        </p:txBody>
      </p:sp>
      <p:sp>
        <p:nvSpPr>
          <p:cNvPr id="4" name="矩形 3">
            <a:extLst>
              <a:ext uri="{FF2B5EF4-FFF2-40B4-BE49-F238E27FC236}">
                <a16:creationId xmlns:a16="http://schemas.microsoft.com/office/drawing/2014/main" id="{33E3BE5D-3B95-AC42-A116-2F401C4CCDC6}"/>
              </a:ext>
            </a:extLst>
          </p:cNvPr>
          <p:cNvSpPr/>
          <p:nvPr/>
        </p:nvSpPr>
        <p:spPr>
          <a:xfrm>
            <a:off x="2226375" y="6040636"/>
            <a:ext cx="1433406" cy="461665"/>
          </a:xfrm>
          <a:prstGeom prst="rect">
            <a:avLst/>
          </a:prstGeom>
        </p:spPr>
        <p:txBody>
          <a:bodyPr wrap="none">
            <a:spAutoFit/>
          </a:bodyPr>
          <a:lstStyle/>
          <a:p>
            <a:r>
              <a:rPr kumimoji="1" lang="en-US" altLang="zh-CN" sz="2400" dirty="0">
                <a:latin typeface="Microsoft YaHei" panose="020B0503020204020204" pitchFamily="34" charset="-122"/>
                <a:ea typeface="Microsoft YaHei" panose="020B0503020204020204" pitchFamily="34" charset="-122"/>
              </a:rPr>
              <a:t>CAP</a:t>
            </a:r>
            <a:r>
              <a:rPr kumimoji="1" lang="zh-CN" altLang="en-US" sz="2400" dirty="0">
                <a:latin typeface="Microsoft YaHei" panose="020B0503020204020204" pitchFamily="34" charset="-122"/>
                <a:ea typeface="Microsoft YaHei" panose="020B0503020204020204" pitchFamily="34" charset="-122"/>
              </a:rPr>
              <a:t>定理</a:t>
            </a:r>
            <a:endParaRPr lang="zh-CN" altLang="en-US" sz="2400" dirty="0">
              <a:latin typeface="Microsoft YaHei" panose="020B0503020204020204" pitchFamily="34" charset="-122"/>
              <a:ea typeface="Microsoft YaHei" panose="020B0503020204020204" pitchFamily="34" charset="-122"/>
            </a:endParaRPr>
          </a:p>
        </p:txBody>
      </p:sp>
      <p:sp>
        <p:nvSpPr>
          <p:cNvPr id="24" name="矩形 23">
            <a:extLst>
              <a:ext uri="{FF2B5EF4-FFF2-40B4-BE49-F238E27FC236}">
                <a16:creationId xmlns:a16="http://schemas.microsoft.com/office/drawing/2014/main" id="{FF41C108-95F3-C240-ADC4-73AEB8BFC2FD}"/>
              </a:ext>
            </a:extLst>
          </p:cNvPr>
          <p:cNvSpPr/>
          <p:nvPr/>
        </p:nvSpPr>
        <p:spPr>
          <a:xfrm>
            <a:off x="5486401" y="1089698"/>
            <a:ext cx="6008914" cy="5423921"/>
          </a:xfrm>
          <a:prstGeom prst="rect">
            <a:avLst/>
          </a:prstGeom>
          <a:ln>
            <a:solidFill>
              <a:srgbClr val="00B0F0"/>
            </a:solidFill>
          </a:ln>
        </p:spPr>
        <p:txBody>
          <a:bodyPr wrap="square">
            <a:spAutoFit/>
          </a:bodyPr>
          <a:lstStyle/>
          <a:p>
            <a:pPr marL="3429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b="1" dirty="0">
                <a:latin typeface="Microsoft YaHei" panose="020B0503020204020204" pitchFamily="34" charset="-122"/>
                <a:ea typeface="Microsoft YaHei" panose="020B0503020204020204" pitchFamily="34" charset="-122"/>
              </a:rPr>
              <a:t>一致性</a:t>
            </a:r>
            <a:r>
              <a:rPr lang="zh-CN" altLang="en-US" sz="2400" dirty="0">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cs typeface="+mn-ea"/>
                <a:sym typeface="+mn-lt"/>
              </a:rPr>
              <a:t>分布式系統中各正確節點所保存的同一變量狀態信息都是一致的</a:t>
            </a:r>
          </a:p>
          <a:p>
            <a:pPr marL="342900" lvl="1" indent="-342900" algn="just" fontAlgn="base">
              <a:lnSpc>
                <a:spcPts val="3600"/>
              </a:lnSpc>
              <a:spcBef>
                <a:spcPct val="20000"/>
              </a:spcBef>
              <a:spcAft>
                <a:spcPct val="0"/>
              </a:spcAft>
              <a:buSzPct val="100000"/>
              <a:buFont typeface="Arial" panose="020B0604020202020204" pitchFamily="34" charset="0"/>
              <a:buChar char="•"/>
            </a:pPr>
            <a:endParaRPr lang="en-US" altLang="zh-CN" sz="2400" dirty="0">
              <a:latin typeface="Microsoft YaHei" panose="020B0503020204020204" pitchFamily="34" charset="-122"/>
              <a:ea typeface="Microsoft YaHei" panose="020B0503020204020204" pitchFamily="34" charset="-122"/>
              <a:cs typeface="+mn-ea"/>
              <a:sym typeface="+mn-lt"/>
            </a:endParaRPr>
          </a:p>
          <a:p>
            <a:pPr marL="3429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b="1" dirty="0">
                <a:latin typeface="Microsoft YaHei" panose="020B0503020204020204" pitchFamily="34" charset="-122"/>
                <a:ea typeface="Microsoft YaHei" panose="020B0503020204020204" pitchFamily="34" charset="-122"/>
              </a:rPr>
              <a:t>可用性</a:t>
            </a:r>
            <a:r>
              <a:rPr lang="zh-CN" altLang="en-US" sz="2400" dirty="0">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cs typeface="+mn-ea"/>
                <a:sym typeface="+mn-lt"/>
              </a:rPr>
              <a:t>分布式系統在收到客戶端的請求後，必須給出回應，不能讓客戶端陷入無限等待過程中</a:t>
            </a:r>
            <a:endParaRPr lang="en-US" altLang="zh-CN" sz="2400" dirty="0">
              <a:latin typeface="Microsoft YaHei" panose="020B0503020204020204" pitchFamily="34" charset="-122"/>
              <a:ea typeface="Microsoft YaHei" panose="020B0503020204020204" pitchFamily="34" charset="-122"/>
              <a:cs typeface="+mn-ea"/>
              <a:sym typeface="+mn-lt"/>
            </a:endParaRPr>
          </a:p>
          <a:p>
            <a:pPr marL="342900" lvl="1" indent="-342900" algn="just" fontAlgn="base">
              <a:lnSpc>
                <a:spcPts val="3600"/>
              </a:lnSpc>
              <a:spcBef>
                <a:spcPct val="20000"/>
              </a:spcBef>
              <a:spcAft>
                <a:spcPct val="0"/>
              </a:spcAft>
              <a:buSzPct val="100000"/>
              <a:buFont typeface="Arial" panose="020B0604020202020204" pitchFamily="34" charset="0"/>
              <a:buChar char="•"/>
            </a:pPr>
            <a:endParaRPr lang="zh-CN" altLang="en-US" sz="2400" dirty="0">
              <a:solidFill>
                <a:schemeClr val="tx1">
                  <a:lumMod val="65000"/>
                  <a:lumOff val="35000"/>
                </a:schemeClr>
              </a:solidFill>
              <a:latin typeface="Microsoft YaHei" panose="020B0503020204020204" pitchFamily="34" charset="-122"/>
              <a:ea typeface="Microsoft YaHei" panose="020B0503020204020204" pitchFamily="34" charset="-122"/>
              <a:cs typeface="+mn-ea"/>
              <a:sym typeface="+mn-lt"/>
            </a:endParaRPr>
          </a:p>
          <a:p>
            <a:pPr marL="3429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b="1" dirty="0">
                <a:latin typeface="Microsoft YaHei" panose="020B0503020204020204" pitchFamily="34" charset="-122"/>
                <a:ea typeface="Microsoft YaHei" panose="020B0503020204020204" pitchFamily="34" charset="-122"/>
              </a:rPr>
              <a:t>分區容錯性</a:t>
            </a:r>
            <a:r>
              <a:rPr lang="zh-CN" altLang="en-US" sz="2400" dirty="0">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cs typeface="+mn-ea"/>
                <a:sym typeface="+mn-lt"/>
              </a:rPr>
              <a:t>分布式系統容忍其中節點出現分區，當分區出現時，一個區域中節點發往另一個區域中節點的數據包全部丟失，即區域間無法進行通信</a:t>
            </a:r>
          </a:p>
        </p:txBody>
      </p:sp>
      <p:sp>
        <p:nvSpPr>
          <p:cNvPr id="19" name="灯片编号占位符 2">
            <a:extLst>
              <a:ext uri="{FF2B5EF4-FFF2-40B4-BE49-F238E27FC236}">
                <a16:creationId xmlns:a16="http://schemas.microsoft.com/office/drawing/2014/main" id="{39F67484-256C-4A4A-B77A-0C46E6B82FE4}"/>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8</a:t>
            </a:fld>
            <a:endParaRPr lang="zh-CN" altLang="en-US" sz="1200" dirty="0">
              <a:solidFill>
                <a:srgbClr val="000000">
                  <a:tint val="75000"/>
                </a:srgbClr>
              </a:solidFill>
              <a:latin typeface="Comic Sans MS"/>
              <a:ea typeface="微软雅黑 Light"/>
            </a:endParaRPr>
          </a:p>
        </p:txBody>
      </p:sp>
      <p:pic>
        <p:nvPicPr>
          <p:cNvPr id="5" name="图片 4">
            <a:extLst>
              <a:ext uri="{FF2B5EF4-FFF2-40B4-BE49-F238E27FC236}">
                <a16:creationId xmlns:a16="http://schemas.microsoft.com/office/drawing/2014/main" id="{A7DC2FA6-DB70-1C42-BC69-7AA365501D73}"/>
              </a:ext>
            </a:extLst>
          </p:cNvPr>
          <p:cNvPicPr>
            <a:picLocks noChangeAspect="1"/>
          </p:cNvPicPr>
          <p:nvPr/>
        </p:nvPicPr>
        <p:blipFill>
          <a:blip r:embed="rId2"/>
          <a:stretch>
            <a:fillRect/>
          </a:stretch>
        </p:blipFill>
        <p:spPr>
          <a:xfrm>
            <a:off x="412750" y="1327150"/>
            <a:ext cx="4902200" cy="4414014"/>
          </a:xfrm>
          <a:prstGeom prst="rect">
            <a:avLst/>
          </a:prstGeom>
        </p:spPr>
      </p:pic>
    </p:spTree>
    <p:extLst>
      <p:ext uri="{BB962C8B-B14F-4D97-AF65-F5344CB8AC3E}">
        <p14:creationId xmlns:p14="http://schemas.microsoft.com/office/powerpoint/2010/main" val="1347261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solidFill>
                  <a:srgbClr val="C00000"/>
                </a:solidFill>
              </a:rPr>
              <a:t>分布式系統的三個屬性</a:t>
            </a:r>
          </a:p>
        </p:txBody>
      </p:sp>
      <p:sp>
        <p:nvSpPr>
          <p:cNvPr id="4" name="矩形 3">
            <a:extLst>
              <a:ext uri="{FF2B5EF4-FFF2-40B4-BE49-F238E27FC236}">
                <a16:creationId xmlns:a16="http://schemas.microsoft.com/office/drawing/2014/main" id="{33E3BE5D-3B95-AC42-A116-2F401C4CCDC6}"/>
              </a:ext>
            </a:extLst>
          </p:cNvPr>
          <p:cNvSpPr/>
          <p:nvPr/>
        </p:nvSpPr>
        <p:spPr>
          <a:xfrm>
            <a:off x="2226375" y="6040636"/>
            <a:ext cx="1433406" cy="461665"/>
          </a:xfrm>
          <a:prstGeom prst="rect">
            <a:avLst/>
          </a:prstGeom>
        </p:spPr>
        <p:txBody>
          <a:bodyPr wrap="none">
            <a:spAutoFit/>
          </a:bodyPr>
          <a:lstStyle/>
          <a:p>
            <a:r>
              <a:rPr kumimoji="1" lang="en-US" altLang="zh-CN" sz="2400" dirty="0">
                <a:latin typeface="Microsoft YaHei" panose="020B0503020204020204" pitchFamily="34" charset="-122"/>
                <a:ea typeface="Microsoft YaHei" panose="020B0503020204020204" pitchFamily="34" charset="-122"/>
              </a:rPr>
              <a:t>CAP</a:t>
            </a:r>
            <a:r>
              <a:rPr kumimoji="1" lang="zh-CN" altLang="en-US" sz="2400" dirty="0">
                <a:latin typeface="Microsoft YaHei" panose="020B0503020204020204" pitchFamily="34" charset="-122"/>
                <a:ea typeface="Microsoft YaHei" panose="020B0503020204020204" pitchFamily="34" charset="-122"/>
              </a:rPr>
              <a:t>定理</a:t>
            </a:r>
            <a:endParaRPr lang="zh-CN" altLang="en-US" sz="2400" dirty="0">
              <a:latin typeface="Microsoft YaHei" panose="020B0503020204020204" pitchFamily="34" charset="-122"/>
              <a:ea typeface="Microsoft YaHei" panose="020B0503020204020204" pitchFamily="34" charset="-122"/>
            </a:endParaRPr>
          </a:p>
        </p:txBody>
      </p:sp>
      <p:sp>
        <p:nvSpPr>
          <p:cNvPr id="19" name="灯片编号占位符 2">
            <a:extLst>
              <a:ext uri="{FF2B5EF4-FFF2-40B4-BE49-F238E27FC236}">
                <a16:creationId xmlns:a16="http://schemas.microsoft.com/office/drawing/2014/main" id="{39F67484-256C-4A4A-B77A-0C46E6B82FE4}"/>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9</a:t>
            </a:fld>
            <a:endParaRPr lang="zh-CN" altLang="en-US" sz="1200" dirty="0">
              <a:solidFill>
                <a:srgbClr val="000000">
                  <a:tint val="75000"/>
                </a:srgbClr>
              </a:solidFill>
              <a:latin typeface="Comic Sans MS"/>
              <a:ea typeface="微软雅黑 Light"/>
            </a:endParaRPr>
          </a:p>
        </p:txBody>
      </p:sp>
      <p:pic>
        <p:nvPicPr>
          <p:cNvPr id="5" name="图片 4">
            <a:extLst>
              <a:ext uri="{FF2B5EF4-FFF2-40B4-BE49-F238E27FC236}">
                <a16:creationId xmlns:a16="http://schemas.microsoft.com/office/drawing/2014/main" id="{A7DC2FA6-DB70-1C42-BC69-7AA365501D73}"/>
              </a:ext>
            </a:extLst>
          </p:cNvPr>
          <p:cNvPicPr>
            <a:picLocks noChangeAspect="1"/>
          </p:cNvPicPr>
          <p:nvPr/>
        </p:nvPicPr>
        <p:blipFill>
          <a:blip r:embed="rId2"/>
          <a:stretch>
            <a:fillRect/>
          </a:stretch>
        </p:blipFill>
        <p:spPr>
          <a:xfrm>
            <a:off x="412750" y="1327150"/>
            <a:ext cx="4902200" cy="4414014"/>
          </a:xfrm>
          <a:prstGeom prst="rect">
            <a:avLst/>
          </a:prstGeom>
        </p:spPr>
      </p:pic>
      <p:sp>
        <p:nvSpPr>
          <p:cNvPr id="3" name="矩形 2">
            <a:extLst>
              <a:ext uri="{FF2B5EF4-FFF2-40B4-BE49-F238E27FC236}">
                <a16:creationId xmlns:a16="http://schemas.microsoft.com/office/drawing/2014/main" id="{4D5DC5AA-4254-22C1-67C5-730FF5EA68D4}"/>
              </a:ext>
            </a:extLst>
          </p:cNvPr>
          <p:cNvSpPr/>
          <p:nvPr/>
        </p:nvSpPr>
        <p:spPr>
          <a:xfrm>
            <a:off x="5830957" y="4686588"/>
            <a:ext cx="5744798" cy="1815882"/>
          </a:xfrm>
          <a:prstGeom prst="rect">
            <a:avLst/>
          </a:prstGeom>
        </p:spPr>
        <p:txBody>
          <a:bodyPr wrap="square">
            <a:spAutoFit/>
          </a:bodyPr>
          <a:lstStyle/>
          <a:p>
            <a:pPr algn="just"/>
            <a:r>
              <a:rPr lang="zh-CN" altLang="en-US" sz="2800" dirty="0">
                <a:solidFill>
                  <a:srgbClr val="404040"/>
                </a:solidFill>
                <a:latin typeface="Comic Sans MS" panose="030F0702030302020204" pitchFamily="66" charset="0"/>
                <a:ea typeface="微软雅黑" pitchFamily="34" charset="-122"/>
              </a:rPr>
              <a:t>在一個分布式系統中，一致性、 可用性、分區容錯性，三者不可得兼</a:t>
            </a:r>
            <a:endParaRPr lang="en-US" altLang="zh-CN" sz="2800" dirty="0">
              <a:solidFill>
                <a:srgbClr val="404040"/>
              </a:solidFill>
              <a:latin typeface="Comic Sans MS" panose="030F0702030302020204" pitchFamily="66" charset="0"/>
              <a:ea typeface="微软雅黑" pitchFamily="34" charset="-122"/>
            </a:endParaRPr>
          </a:p>
          <a:p>
            <a:pPr algn="just"/>
            <a:endParaRPr lang="en-US" altLang="zh-CN" sz="2800" dirty="0">
              <a:solidFill>
                <a:srgbClr val="404040"/>
              </a:solidFill>
              <a:latin typeface="Comic Sans MS" panose="030F0702030302020204" pitchFamily="66" charset="0"/>
              <a:ea typeface="微软雅黑" pitchFamily="34" charset="-122"/>
            </a:endParaRPr>
          </a:p>
          <a:p>
            <a:pPr algn="just"/>
            <a:r>
              <a:rPr lang="en-US" altLang="zh-CN" sz="2800" dirty="0">
                <a:solidFill>
                  <a:srgbClr val="C00000"/>
                </a:solidFill>
                <a:latin typeface="Comic Sans MS" panose="030F0702030302020204" pitchFamily="66" charset="0"/>
                <a:ea typeface="微软雅黑" pitchFamily="34" charset="-122"/>
              </a:rPr>
              <a:t>P</a:t>
            </a:r>
            <a:r>
              <a:rPr lang="zh-CN" altLang="en-US" sz="2800" dirty="0">
                <a:solidFill>
                  <a:srgbClr val="C00000"/>
                </a:solidFill>
                <a:latin typeface="Comic Sans MS" panose="030F0702030302020204" pitchFamily="66" charset="0"/>
                <a:ea typeface="微软雅黑" pitchFamily="34" charset="-122"/>
              </a:rPr>
              <a:t>總需要滿足，而</a:t>
            </a:r>
            <a:r>
              <a:rPr lang="en-US" altLang="zh-CN" sz="2800" dirty="0">
                <a:solidFill>
                  <a:srgbClr val="C00000"/>
                </a:solidFill>
                <a:latin typeface="Comic Sans MS" panose="030F0702030302020204" pitchFamily="66" charset="0"/>
                <a:ea typeface="微软雅黑" pitchFamily="34" charset="-122"/>
              </a:rPr>
              <a:t>C</a:t>
            </a:r>
            <a:r>
              <a:rPr lang="zh-CN" altLang="en-US" sz="2800" dirty="0">
                <a:solidFill>
                  <a:srgbClr val="C00000"/>
                </a:solidFill>
                <a:latin typeface="Comic Sans MS" panose="030F0702030302020204" pitchFamily="66" charset="0"/>
                <a:ea typeface="微软雅黑" pitchFamily="34" charset="-122"/>
              </a:rPr>
              <a:t>和</a:t>
            </a:r>
            <a:r>
              <a:rPr lang="en-US" altLang="zh-CN" sz="2800" dirty="0">
                <a:solidFill>
                  <a:srgbClr val="C00000"/>
                </a:solidFill>
                <a:latin typeface="Comic Sans MS" panose="030F0702030302020204" pitchFamily="66" charset="0"/>
                <a:ea typeface="微软雅黑" pitchFamily="34" charset="-122"/>
              </a:rPr>
              <a:t>A</a:t>
            </a:r>
            <a:r>
              <a:rPr lang="zh-CN" altLang="en-US" sz="2800" dirty="0">
                <a:solidFill>
                  <a:srgbClr val="C00000"/>
                </a:solidFill>
                <a:latin typeface="Comic Sans MS" panose="030F0702030302020204" pitchFamily="66" charset="0"/>
                <a:ea typeface="微软雅黑" pitchFamily="34" charset="-122"/>
              </a:rPr>
              <a:t>矛盾</a:t>
            </a:r>
          </a:p>
        </p:txBody>
      </p:sp>
      <p:pic>
        <p:nvPicPr>
          <p:cNvPr id="6" name="图片 5">
            <a:extLst>
              <a:ext uri="{FF2B5EF4-FFF2-40B4-BE49-F238E27FC236}">
                <a16:creationId xmlns:a16="http://schemas.microsoft.com/office/drawing/2014/main" id="{C01C2309-5360-866D-161F-6764F3007F68}"/>
              </a:ext>
            </a:extLst>
          </p:cNvPr>
          <p:cNvPicPr>
            <a:picLocks noChangeAspect="1"/>
          </p:cNvPicPr>
          <p:nvPr/>
        </p:nvPicPr>
        <p:blipFill>
          <a:blip r:embed="rId3"/>
          <a:stretch>
            <a:fillRect/>
          </a:stretch>
        </p:blipFill>
        <p:spPr>
          <a:xfrm>
            <a:off x="5830957" y="1447381"/>
            <a:ext cx="3695160" cy="2746042"/>
          </a:xfrm>
          <a:prstGeom prst="rect">
            <a:avLst/>
          </a:prstGeom>
        </p:spPr>
      </p:pic>
      <p:pic>
        <p:nvPicPr>
          <p:cNvPr id="7" name="图片 6">
            <a:extLst>
              <a:ext uri="{FF2B5EF4-FFF2-40B4-BE49-F238E27FC236}">
                <a16:creationId xmlns:a16="http://schemas.microsoft.com/office/drawing/2014/main" id="{8322AD85-8092-576B-AFAA-FF9A7592D835}"/>
              </a:ext>
            </a:extLst>
          </p:cNvPr>
          <p:cNvPicPr>
            <a:picLocks noChangeAspect="1"/>
          </p:cNvPicPr>
          <p:nvPr/>
        </p:nvPicPr>
        <p:blipFill>
          <a:blip r:embed="rId4"/>
          <a:stretch>
            <a:fillRect/>
          </a:stretch>
        </p:blipFill>
        <p:spPr>
          <a:xfrm>
            <a:off x="9632086" y="1521620"/>
            <a:ext cx="1937865" cy="1811208"/>
          </a:xfrm>
          <a:prstGeom prst="rect">
            <a:avLst/>
          </a:prstGeom>
        </p:spPr>
      </p:pic>
      <p:sp>
        <p:nvSpPr>
          <p:cNvPr id="8" name="矩形 7">
            <a:extLst>
              <a:ext uri="{FF2B5EF4-FFF2-40B4-BE49-F238E27FC236}">
                <a16:creationId xmlns:a16="http://schemas.microsoft.com/office/drawing/2014/main" id="{E694D688-303F-D36C-2E52-FC3E6B0A8603}"/>
              </a:ext>
            </a:extLst>
          </p:cNvPr>
          <p:cNvSpPr/>
          <p:nvPr/>
        </p:nvSpPr>
        <p:spPr>
          <a:xfrm>
            <a:off x="9920999" y="3515559"/>
            <a:ext cx="1625766" cy="707886"/>
          </a:xfrm>
          <a:prstGeom prst="rect">
            <a:avLst/>
          </a:prstGeom>
        </p:spPr>
        <p:txBody>
          <a:bodyPr wrap="none">
            <a:spAutoFit/>
          </a:bodyPr>
          <a:lstStyle/>
          <a:p>
            <a:r>
              <a:rPr lang="en-US" altLang="zh-CN" sz="2000" b="0" dirty="0">
                <a:solidFill>
                  <a:srgbClr val="222222"/>
                </a:solidFill>
                <a:latin typeface="Arial" panose="020B0604020202020204" pitchFamily="34" charset="0"/>
              </a:rPr>
              <a:t>Eric Brewer</a:t>
            </a:r>
          </a:p>
          <a:p>
            <a:r>
              <a:rPr lang="en-US" altLang="zh-CN" sz="2000" b="0" dirty="0">
                <a:solidFill>
                  <a:srgbClr val="222222"/>
                </a:solidFill>
                <a:latin typeface="Arial" panose="020B0604020202020204" pitchFamily="34" charset="0"/>
              </a:rPr>
              <a:t>UC Berkeley</a:t>
            </a:r>
            <a:endParaRPr lang="zh-CN" altLang="en-US" sz="2000" dirty="0"/>
          </a:p>
        </p:txBody>
      </p:sp>
    </p:spTree>
    <p:extLst>
      <p:ext uri="{BB962C8B-B14F-4D97-AF65-F5344CB8AC3E}">
        <p14:creationId xmlns:p14="http://schemas.microsoft.com/office/powerpoint/2010/main" val="1211750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solidFill>
                  <a:srgbClr val="C00000"/>
                </a:solidFill>
              </a:rPr>
              <a:t>分布式系統安全問題的根源</a:t>
            </a:r>
          </a:p>
        </p:txBody>
      </p:sp>
      <p:sp>
        <p:nvSpPr>
          <p:cNvPr id="81" name="矩形 80">
            <a:extLst>
              <a:ext uri="{FF2B5EF4-FFF2-40B4-BE49-F238E27FC236}">
                <a16:creationId xmlns:a16="http://schemas.microsoft.com/office/drawing/2014/main" id="{661BC4E2-A49A-6F4D-AFF7-1858CBFAF7C2}"/>
              </a:ext>
            </a:extLst>
          </p:cNvPr>
          <p:cNvSpPr/>
          <p:nvPr/>
        </p:nvSpPr>
        <p:spPr>
          <a:xfrm>
            <a:off x="1166709" y="1091736"/>
            <a:ext cx="10371263" cy="525657"/>
          </a:xfrm>
          <a:prstGeom prst="rect">
            <a:avLst/>
          </a:prstGeom>
        </p:spPr>
        <p:txBody>
          <a:bodyPr wrap="square">
            <a:spAutoFit/>
          </a:bodyPr>
          <a:lstStyle/>
          <a:p>
            <a:pPr algn="just">
              <a:lnSpc>
                <a:spcPct val="130000"/>
              </a:lnSpc>
            </a:pPr>
            <a:r>
              <a:rPr lang="zh-CN" altLang="en-US" sz="2400" b="1" dirty="0">
                <a:solidFill>
                  <a:srgbClr val="C00000"/>
                </a:solidFill>
                <a:latin typeface="Microsoft YaHei" panose="020B0503020204020204" pitchFamily="34" charset="-122"/>
                <a:ea typeface="Microsoft YaHei" panose="020B0503020204020204" pitchFamily="34" charset="-122"/>
              </a:rPr>
              <a:t>安全問題可能會造成系統分區，或是危害系統的一致性、有效性和隱私性</a:t>
            </a:r>
          </a:p>
        </p:txBody>
      </p:sp>
      <p:sp>
        <p:nvSpPr>
          <p:cNvPr id="95" name="文本框 94">
            <a:extLst>
              <a:ext uri="{FF2B5EF4-FFF2-40B4-BE49-F238E27FC236}">
                <a16:creationId xmlns:a16="http://schemas.microsoft.com/office/drawing/2014/main" id="{DC854FB5-668A-9B4F-8D4B-4E6251881151}"/>
              </a:ext>
            </a:extLst>
          </p:cNvPr>
          <p:cNvSpPr txBox="1"/>
          <p:nvPr/>
        </p:nvSpPr>
        <p:spPr>
          <a:xfrm>
            <a:off x="978575" y="1874716"/>
            <a:ext cx="10494083" cy="2580065"/>
          </a:xfrm>
          <a:prstGeom prst="rect">
            <a:avLst/>
          </a:prstGeom>
          <a:noFill/>
          <a:ln>
            <a:solidFill>
              <a:srgbClr val="00B0F0"/>
            </a:solidFill>
          </a:ln>
        </p:spPr>
        <p:txBody>
          <a:bodyPr wrap="square" rtlCol="0">
            <a:spAutoFit/>
          </a:bodyPr>
          <a:lstStyle/>
          <a:p>
            <a:pPr marL="342900" lvl="1" indent="-342900" fontAlgn="base">
              <a:lnSpc>
                <a:spcPts val="3600"/>
              </a:lnSpc>
              <a:spcBef>
                <a:spcPct val="20000"/>
              </a:spcBef>
              <a:spcAft>
                <a:spcPct val="0"/>
              </a:spcAft>
              <a:buSzPct val="100000"/>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從分布式系統的組成來看，其安全問題的根源體現在交互網絡、分布式算法和信任三個方面：</a:t>
            </a:r>
            <a:endParaRPr lang="en-US" altLang="zh-CN" sz="2400" dirty="0">
              <a:latin typeface="Microsoft YaHei" panose="020B0503020204020204" pitchFamily="34" charset="-122"/>
              <a:ea typeface="Microsoft YaHei" panose="020B0503020204020204" pitchFamily="34" charset="-122"/>
            </a:endParaRPr>
          </a:p>
          <a:p>
            <a:pPr marL="684000" lvl="1" indent="-342900" fontAlgn="base">
              <a:lnSpc>
                <a:spcPts val="3600"/>
              </a:lnSpc>
              <a:spcBef>
                <a:spcPct val="20000"/>
              </a:spcBef>
              <a:spcAft>
                <a:spcPct val="0"/>
              </a:spcAft>
              <a:buSzPct val="100000"/>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攻擊者可以攻擊交互網絡，監聽交互過程中的隱私信息或造成網絡分區</a:t>
            </a:r>
            <a:endParaRPr lang="en-US" altLang="zh-CN" sz="2400" dirty="0">
              <a:latin typeface="Microsoft YaHei" panose="020B0503020204020204" pitchFamily="34" charset="-122"/>
              <a:ea typeface="Microsoft YaHei" panose="020B0503020204020204" pitchFamily="34" charset="-122"/>
            </a:endParaRPr>
          </a:p>
          <a:p>
            <a:pPr marL="684000" lvl="1" indent="-342900" fontAlgn="base">
              <a:lnSpc>
                <a:spcPts val="3600"/>
              </a:lnSpc>
              <a:spcBef>
                <a:spcPct val="20000"/>
              </a:spcBef>
              <a:spcAft>
                <a:spcPct val="0"/>
              </a:spcAft>
              <a:buSzPct val="100000"/>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協作過程中可能會出現衝突，故障等問題，從而影響一致性和可用性</a:t>
            </a:r>
            <a:endParaRPr lang="en-US" altLang="zh-CN" sz="2400" dirty="0">
              <a:latin typeface="Microsoft YaHei" panose="020B0503020204020204" pitchFamily="34" charset="-122"/>
              <a:ea typeface="Microsoft YaHei" panose="020B0503020204020204" pitchFamily="34" charset="-122"/>
            </a:endParaRPr>
          </a:p>
          <a:p>
            <a:pPr marL="684000" lvl="1" indent="-342900" fontAlgn="base">
              <a:lnSpc>
                <a:spcPts val="3600"/>
              </a:lnSpc>
              <a:spcBef>
                <a:spcPct val="20000"/>
              </a:spcBef>
              <a:spcAft>
                <a:spcPct val="0"/>
              </a:spcAft>
              <a:buSzPct val="100000"/>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系統內部可能存在惡意組件，系統和客戶端交互時也存在信任問題</a:t>
            </a:r>
            <a:endParaRPr lang="en-US" altLang="zh-CN" sz="2400" dirty="0">
              <a:latin typeface="Microsoft YaHei" panose="020B0503020204020204" pitchFamily="34" charset="-122"/>
              <a:ea typeface="Microsoft YaHei" panose="020B0503020204020204" pitchFamily="34" charset="-122"/>
            </a:endParaRPr>
          </a:p>
        </p:txBody>
      </p:sp>
      <p:pic>
        <p:nvPicPr>
          <p:cNvPr id="6" name="图片 5" descr="网站&#10;&#10;中度可信度描述已自动生成">
            <a:extLst>
              <a:ext uri="{FF2B5EF4-FFF2-40B4-BE49-F238E27FC236}">
                <a16:creationId xmlns:a16="http://schemas.microsoft.com/office/drawing/2014/main" id="{AFF94793-0E04-744D-855A-ED8F4312BD80}"/>
              </a:ext>
            </a:extLst>
          </p:cNvPr>
          <p:cNvPicPr>
            <a:picLocks noChangeAspect="1"/>
          </p:cNvPicPr>
          <p:nvPr/>
        </p:nvPicPr>
        <p:blipFill>
          <a:blip r:embed="rId3"/>
          <a:stretch>
            <a:fillRect/>
          </a:stretch>
        </p:blipFill>
        <p:spPr>
          <a:xfrm>
            <a:off x="8527526" y="4611189"/>
            <a:ext cx="2943265" cy="1987122"/>
          </a:xfrm>
          <a:prstGeom prst="rect">
            <a:avLst/>
          </a:prstGeom>
        </p:spPr>
      </p:pic>
      <p:pic>
        <p:nvPicPr>
          <p:cNvPr id="24" name="图片 23" descr="男人躺在床上的电脑&#10;&#10;中度可信度描述已自动生成">
            <a:extLst>
              <a:ext uri="{FF2B5EF4-FFF2-40B4-BE49-F238E27FC236}">
                <a16:creationId xmlns:a16="http://schemas.microsoft.com/office/drawing/2014/main" id="{C6FB0DC7-74EF-B140-92D8-392ED89FFF0B}"/>
              </a:ext>
            </a:extLst>
          </p:cNvPr>
          <p:cNvPicPr>
            <a:picLocks noChangeAspect="1"/>
          </p:cNvPicPr>
          <p:nvPr/>
        </p:nvPicPr>
        <p:blipFill>
          <a:blip r:embed="rId4"/>
          <a:stretch>
            <a:fillRect/>
          </a:stretch>
        </p:blipFill>
        <p:spPr>
          <a:xfrm>
            <a:off x="958392" y="4618686"/>
            <a:ext cx="3581883" cy="2016194"/>
          </a:xfrm>
          <a:prstGeom prst="rect">
            <a:avLst/>
          </a:prstGeom>
        </p:spPr>
      </p:pic>
      <p:pic>
        <p:nvPicPr>
          <p:cNvPr id="26" name="图片 25" descr="图形用户界面, 应用程序&#10;&#10;描述已自动生成">
            <a:extLst>
              <a:ext uri="{FF2B5EF4-FFF2-40B4-BE49-F238E27FC236}">
                <a16:creationId xmlns:a16="http://schemas.microsoft.com/office/drawing/2014/main" id="{34E525F1-A9B2-1247-92A8-E92E90D6E402}"/>
              </a:ext>
            </a:extLst>
          </p:cNvPr>
          <p:cNvPicPr>
            <a:picLocks noChangeAspect="1"/>
          </p:cNvPicPr>
          <p:nvPr/>
        </p:nvPicPr>
        <p:blipFill>
          <a:blip r:embed="rId5"/>
          <a:stretch>
            <a:fillRect/>
          </a:stretch>
        </p:blipFill>
        <p:spPr>
          <a:xfrm>
            <a:off x="4911634" y="4592559"/>
            <a:ext cx="3239589" cy="2014393"/>
          </a:xfrm>
          <a:prstGeom prst="rect">
            <a:avLst/>
          </a:prstGeom>
        </p:spPr>
      </p:pic>
      <p:sp>
        <p:nvSpPr>
          <p:cNvPr id="9" name="灯片编号占位符 2">
            <a:extLst>
              <a:ext uri="{FF2B5EF4-FFF2-40B4-BE49-F238E27FC236}">
                <a16:creationId xmlns:a16="http://schemas.microsoft.com/office/drawing/2014/main" id="{6CD601F4-F9CA-674A-8185-C44CF6A2D68E}"/>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10</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897659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solidFill>
                  <a:srgbClr val="C00000"/>
                </a:solidFill>
              </a:rPr>
              <a:t>經典的分布式系統</a:t>
            </a:r>
          </a:p>
        </p:txBody>
      </p:sp>
      <p:sp>
        <p:nvSpPr>
          <p:cNvPr id="9" name="灯片编号占位符 2">
            <a:extLst>
              <a:ext uri="{FF2B5EF4-FFF2-40B4-BE49-F238E27FC236}">
                <a16:creationId xmlns:a16="http://schemas.microsoft.com/office/drawing/2014/main" id="{6CD601F4-F9CA-674A-8185-C44CF6A2D68E}"/>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11</a:t>
            </a:fld>
            <a:endParaRPr lang="zh-CN" altLang="en-US" sz="1200" dirty="0">
              <a:solidFill>
                <a:srgbClr val="000000">
                  <a:tint val="75000"/>
                </a:srgbClr>
              </a:solidFill>
              <a:latin typeface="Comic Sans MS"/>
              <a:ea typeface="微软雅黑 Light"/>
            </a:endParaRPr>
          </a:p>
        </p:txBody>
      </p:sp>
      <p:pic>
        <p:nvPicPr>
          <p:cNvPr id="1026" name="Picture 2" descr="Napster – Logo — Sam Hanks Design">
            <a:extLst>
              <a:ext uri="{FF2B5EF4-FFF2-40B4-BE49-F238E27FC236}">
                <a16:creationId xmlns:a16="http://schemas.microsoft.com/office/drawing/2014/main" id="{6446387E-0A0F-0EF1-45C2-0CCD5FCBBB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8661" y="861932"/>
            <a:ext cx="3102429" cy="310242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itTorrent®- Torrent Downloads - Apps on Google Play">
            <a:extLst>
              <a:ext uri="{FF2B5EF4-FFF2-40B4-BE49-F238E27FC236}">
                <a16:creationId xmlns:a16="http://schemas.microsoft.com/office/drawing/2014/main" id="{BD325AEE-2F15-6768-2644-88068C10AD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43389" y="861932"/>
            <a:ext cx="2913743" cy="2913743"/>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undefined">
            <a:extLst>
              <a:ext uri="{FF2B5EF4-FFF2-40B4-BE49-F238E27FC236}">
                <a16:creationId xmlns:a16="http://schemas.microsoft.com/office/drawing/2014/main" id="{04A45434-19AD-DBCD-9446-E6BC1552D43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66361" y="3916454"/>
            <a:ext cx="1807028" cy="2556949"/>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undefined">
            <a:extLst>
              <a:ext uri="{FF2B5EF4-FFF2-40B4-BE49-F238E27FC236}">
                <a16:creationId xmlns:a16="http://schemas.microsoft.com/office/drawing/2014/main" id="{000BF524-B422-E564-F0C5-1E83D3C8855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88421" y="4501082"/>
            <a:ext cx="3538627" cy="189275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5098F87-E008-8513-8DBE-6D2AB5C2F1C6}"/>
              </a:ext>
            </a:extLst>
          </p:cNvPr>
          <p:cNvSpPr txBox="1"/>
          <p:nvPr/>
        </p:nvSpPr>
        <p:spPr>
          <a:xfrm>
            <a:off x="6893012" y="3406343"/>
            <a:ext cx="1529443" cy="369332"/>
          </a:xfrm>
          <a:prstGeom prst="rect">
            <a:avLst/>
          </a:prstGeom>
          <a:noFill/>
        </p:spPr>
        <p:txBody>
          <a:bodyPr wrap="square">
            <a:spAutoFit/>
          </a:bodyPr>
          <a:lstStyle/>
          <a:p>
            <a:r>
              <a:rPr lang="en-US" b="1" i="1" dirty="0"/>
              <a:t>BitTo</a:t>
            </a:r>
            <a:r>
              <a:rPr lang="en-US" altLang="zh-CN" b="1" i="1" dirty="0"/>
              <a:t>rrent</a:t>
            </a:r>
            <a:endParaRPr lang="en-CN" b="1" i="1" dirty="0"/>
          </a:p>
        </p:txBody>
      </p:sp>
      <p:sp>
        <p:nvSpPr>
          <p:cNvPr id="10" name="TextBox 9">
            <a:extLst>
              <a:ext uri="{FF2B5EF4-FFF2-40B4-BE49-F238E27FC236}">
                <a16:creationId xmlns:a16="http://schemas.microsoft.com/office/drawing/2014/main" id="{3EA2D1C1-C543-C5DF-C4ED-64EE591BC487}"/>
              </a:ext>
            </a:extLst>
          </p:cNvPr>
          <p:cNvSpPr txBox="1"/>
          <p:nvPr/>
        </p:nvSpPr>
        <p:spPr>
          <a:xfrm>
            <a:off x="3318597" y="3459495"/>
            <a:ext cx="1529443" cy="369332"/>
          </a:xfrm>
          <a:prstGeom prst="rect">
            <a:avLst/>
          </a:prstGeom>
          <a:noFill/>
        </p:spPr>
        <p:txBody>
          <a:bodyPr wrap="square">
            <a:spAutoFit/>
          </a:bodyPr>
          <a:lstStyle/>
          <a:p>
            <a:r>
              <a:rPr lang="en-US" b="1" i="1" dirty="0"/>
              <a:t>Napster</a:t>
            </a:r>
            <a:endParaRPr lang="en-CN" b="1" i="1" dirty="0"/>
          </a:p>
        </p:txBody>
      </p:sp>
      <p:sp>
        <p:nvSpPr>
          <p:cNvPr id="11" name="TextBox 10">
            <a:extLst>
              <a:ext uri="{FF2B5EF4-FFF2-40B4-BE49-F238E27FC236}">
                <a16:creationId xmlns:a16="http://schemas.microsoft.com/office/drawing/2014/main" id="{CB496361-6E8A-3ADA-1A84-F1F84DB55FA3}"/>
              </a:ext>
            </a:extLst>
          </p:cNvPr>
          <p:cNvSpPr txBox="1"/>
          <p:nvPr/>
        </p:nvSpPr>
        <p:spPr>
          <a:xfrm>
            <a:off x="3270787" y="6469196"/>
            <a:ext cx="1529443" cy="369332"/>
          </a:xfrm>
          <a:prstGeom prst="rect">
            <a:avLst/>
          </a:prstGeom>
          <a:noFill/>
        </p:spPr>
        <p:txBody>
          <a:bodyPr wrap="square">
            <a:spAutoFit/>
          </a:bodyPr>
          <a:lstStyle/>
          <a:p>
            <a:r>
              <a:rPr lang="en-US" altLang="zh-CN" b="1" i="1" dirty="0" err="1"/>
              <a:t>eMule</a:t>
            </a:r>
            <a:endParaRPr lang="en-CN" b="1" i="1" dirty="0"/>
          </a:p>
        </p:txBody>
      </p:sp>
      <p:sp>
        <p:nvSpPr>
          <p:cNvPr id="12" name="TextBox 11">
            <a:extLst>
              <a:ext uri="{FF2B5EF4-FFF2-40B4-BE49-F238E27FC236}">
                <a16:creationId xmlns:a16="http://schemas.microsoft.com/office/drawing/2014/main" id="{4EE217B8-B952-DFA6-F42D-E86CA1F90E6E}"/>
              </a:ext>
            </a:extLst>
          </p:cNvPr>
          <p:cNvSpPr txBox="1"/>
          <p:nvPr/>
        </p:nvSpPr>
        <p:spPr>
          <a:xfrm>
            <a:off x="7113444" y="6469196"/>
            <a:ext cx="1529443" cy="369332"/>
          </a:xfrm>
          <a:prstGeom prst="rect">
            <a:avLst/>
          </a:prstGeom>
          <a:noFill/>
        </p:spPr>
        <p:txBody>
          <a:bodyPr wrap="square">
            <a:spAutoFit/>
          </a:bodyPr>
          <a:lstStyle/>
          <a:p>
            <a:r>
              <a:rPr lang="en-US" altLang="zh-CN" b="1" i="1" dirty="0" err="1"/>
              <a:t>KaZaA</a:t>
            </a:r>
            <a:endParaRPr lang="en-CN" b="1" i="1" dirty="0"/>
          </a:p>
        </p:txBody>
      </p:sp>
    </p:spTree>
    <p:extLst>
      <p:ext uri="{BB962C8B-B14F-4D97-AF65-F5344CB8AC3E}">
        <p14:creationId xmlns:p14="http://schemas.microsoft.com/office/powerpoint/2010/main" val="571669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矩形 35">
            <a:extLst>
              <a:ext uri="{FF2B5EF4-FFF2-40B4-BE49-F238E27FC236}">
                <a16:creationId xmlns:a16="http://schemas.microsoft.com/office/drawing/2014/main" id="{C631CF44-859D-B349-B903-5EAB8473B2F8}"/>
              </a:ext>
            </a:extLst>
          </p:cNvPr>
          <p:cNvSpPr>
            <a:spLocks/>
          </p:cNvSpPr>
          <p:nvPr/>
        </p:nvSpPr>
        <p:spPr bwMode="auto">
          <a:xfrm>
            <a:off x="835937" y="4621237"/>
            <a:ext cx="3119908" cy="789613"/>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dirty="0">
                <a:latin typeface="Microsoft YaHei" panose="020B0503020204020204" pitchFamily="34" charset="-122"/>
                <a:ea typeface="Microsoft YaHei" panose="020B0503020204020204" pitchFamily="34" charset="-122"/>
              </a:rPr>
              <a:t>瞭解交互網絡的組成以及如何構建安全的交互網絡</a:t>
            </a:r>
          </a:p>
        </p:txBody>
      </p:sp>
      <p:sp>
        <p:nvSpPr>
          <p:cNvPr id="37" name="矩形 36">
            <a:extLst>
              <a:ext uri="{FF2B5EF4-FFF2-40B4-BE49-F238E27FC236}">
                <a16:creationId xmlns:a16="http://schemas.microsoft.com/office/drawing/2014/main" id="{2E7DE1D5-1B52-7E4D-B223-88F832E032B4}"/>
              </a:ext>
            </a:extLst>
          </p:cNvPr>
          <p:cNvSpPr>
            <a:spLocks/>
          </p:cNvSpPr>
          <p:nvPr/>
        </p:nvSpPr>
        <p:spPr bwMode="auto">
          <a:xfrm>
            <a:off x="4377825" y="4621237"/>
            <a:ext cx="3377641" cy="789613"/>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dirty="0">
                <a:latin typeface="Microsoft YaHei" panose="020B0503020204020204" pitchFamily="34" charset="-122"/>
                <a:ea typeface="Microsoft YaHei" panose="020B0503020204020204" pitchFamily="34" charset="-122"/>
              </a:rPr>
              <a:t>挖掘分布式系統各組件之間如何進行協同</a:t>
            </a:r>
          </a:p>
        </p:txBody>
      </p:sp>
      <p:sp>
        <p:nvSpPr>
          <p:cNvPr id="38" name="矩形 37">
            <a:extLst>
              <a:ext uri="{FF2B5EF4-FFF2-40B4-BE49-F238E27FC236}">
                <a16:creationId xmlns:a16="http://schemas.microsoft.com/office/drawing/2014/main" id="{992A77CB-64B3-994E-991E-0ADCC752FF53}"/>
              </a:ext>
            </a:extLst>
          </p:cNvPr>
          <p:cNvSpPr>
            <a:spLocks/>
          </p:cNvSpPr>
          <p:nvPr/>
        </p:nvSpPr>
        <p:spPr bwMode="auto">
          <a:xfrm>
            <a:off x="8176537" y="4621237"/>
            <a:ext cx="3225242" cy="789613"/>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lang="zh-CN" altLang="en-US" sz="1800" kern="0" dirty="0">
                <a:latin typeface="Microsoft YaHei" panose="020B0503020204020204" pitchFamily="34" charset="-122"/>
                <a:ea typeface="Microsoft YaHei" panose="020B0503020204020204" pitchFamily="34" charset="-122"/>
                <a:cs typeface="Microsoft YaHei" charset="-122"/>
              </a:rPr>
              <a:t>瞭解分布式系統中的信任問題及解决方案</a:t>
            </a:r>
            <a:endParaRPr kumimoji="1" lang="zh-CN" altLang="en-US" dirty="0">
              <a:latin typeface="Microsoft YaHei" panose="020B0503020204020204" pitchFamily="34" charset="-122"/>
              <a:ea typeface="Microsoft YaHei" panose="020B0503020204020204" pitchFamily="34" charset="-122"/>
            </a:endParaRPr>
          </a:p>
        </p:txBody>
      </p:sp>
      <p:sp>
        <p:nvSpPr>
          <p:cNvPr id="15" name="矩形 14">
            <a:extLst>
              <a:ext uri="{FF2B5EF4-FFF2-40B4-BE49-F238E27FC236}">
                <a16:creationId xmlns:a16="http://schemas.microsoft.com/office/drawing/2014/main" id="{13F207A8-03CB-0B42-A6C8-E5AC02D7CC77}"/>
              </a:ext>
            </a:extLst>
          </p:cNvPr>
          <p:cNvSpPr>
            <a:spLocks/>
          </p:cNvSpPr>
          <p:nvPr/>
        </p:nvSpPr>
        <p:spPr bwMode="auto">
          <a:xfrm>
            <a:off x="835937" y="2487852"/>
            <a:ext cx="3119908" cy="1635261"/>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US" dirty="0">
                <a:solidFill>
                  <a:srgbClr val="000000"/>
                </a:solidFill>
                <a:effectLst/>
                <a:latin typeface="Microsoft YaHei" panose="020B0503020204020204" pitchFamily="34" charset="-122"/>
                <a:ea typeface="Microsoft YaHei" panose="020B0503020204020204" pitchFamily="34" charset="-122"/>
              </a:rPr>
              <a:t>交互網絡的組成</a:t>
            </a:r>
            <a:endParaRPr lang="en-US" altLang="zh-CN"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effectLst/>
                <a:latin typeface="Microsoft YaHei" panose="020B0503020204020204" pitchFamily="34" charset="-122"/>
                <a:ea typeface="Microsoft YaHei" panose="020B0503020204020204" pitchFamily="34" charset="-122"/>
              </a:rPr>
              <a:t>交互信道安全</a:t>
            </a:r>
            <a:endParaRPr lang="en-US" altLang="zh-CN"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effectLst/>
                <a:latin typeface="Microsoft YaHei" panose="020B0503020204020204" pitchFamily="34" charset="-122"/>
                <a:ea typeface="Microsoft YaHei" panose="020B0503020204020204" pitchFamily="34" charset="-122"/>
              </a:rPr>
              <a:t>彈性覆蓋網絡</a:t>
            </a:r>
            <a:endParaRPr lang="en-US" altLang="zh-CN"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latin typeface="Microsoft YaHei" panose="020B0503020204020204" pitchFamily="34" charset="-122"/>
                <a:ea typeface="Microsoft YaHei" panose="020B0503020204020204" pitchFamily="34" charset="-122"/>
              </a:rPr>
              <a:t>防禦日蝕攻擊</a:t>
            </a:r>
            <a:endParaRPr lang="zh-CN" altLang="en-US" dirty="0">
              <a:solidFill>
                <a:srgbClr val="000000"/>
              </a:solidFill>
              <a:effectLst/>
              <a:latin typeface="Microsoft YaHei" panose="020B0503020204020204" pitchFamily="34" charset="-122"/>
              <a:ea typeface="Microsoft YaHei" panose="020B0503020204020204" pitchFamily="34" charset="-122"/>
            </a:endParaRPr>
          </a:p>
        </p:txBody>
      </p:sp>
      <p:sp>
        <p:nvSpPr>
          <p:cNvPr id="2" name="标题 1"/>
          <p:cNvSpPr>
            <a:spLocks noGrp="1"/>
          </p:cNvSpPr>
          <p:nvPr>
            <p:ph type="title"/>
          </p:nvPr>
        </p:nvSpPr>
        <p:spPr/>
        <p:txBody>
          <a:bodyPr/>
          <a:lstStyle/>
          <a:p>
            <a:r>
              <a:rPr kumimoji="1" lang="zh-CN" altLang="en-US" dirty="0"/>
              <a:t>本章的內容組織</a:t>
            </a:r>
          </a:p>
        </p:txBody>
      </p:sp>
      <p:sp>
        <p:nvSpPr>
          <p:cNvPr id="13" name="灯片编号占位符 2">
            <a:extLst>
              <a:ext uri="{FF2B5EF4-FFF2-40B4-BE49-F238E27FC236}">
                <a16:creationId xmlns:a16="http://schemas.microsoft.com/office/drawing/2014/main" id="{A6F8482A-DAE6-5B44-9CF4-35D7DC9969C5}"/>
              </a:ext>
            </a:extLst>
          </p:cNvPr>
          <p:cNvSpPr>
            <a:spLocks noGrp="1"/>
          </p:cNvSpPr>
          <p:nvPr>
            <p:ph type="sldNum" sz="quarter" idx="12"/>
          </p:nvPr>
        </p:nvSpPr>
        <p:spPr>
          <a:xfrm>
            <a:off x="9321914" y="6473403"/>
            <a:ext cx="28448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23CBF4B4-C160-4F55-AC7D-1C8FF5BA05FA}" type="slidenum">
              <a:rPr lang="zh-CN" altLang="en-US" smtClean="0">
                <a:solidFill>
                  <a:srgbClr val="000000">
                    <a:tint val="75000"/>
                  </a:srgbClr>
                </a:solidFill>
                <a:latin typeface="Comic Sans MS"/>
                <a:ea typeface="微软雅黑 Light"/>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dirty="0">
              <a:ln>
                <a:noFill/>
              </a:ln>
              <a:solidFill>
                <a:srgbClr val="000000">
                  <a:tint val="75000"/>
                </a:srgbClr>
              </a:solidFill>
              <a:effectLst/>
              <a:uLnTx/>
              <a:uFillTx/>
              <a:latin typeface="Comic Sans MS"/>
              <a:ea typeface="微软雅黑 Light"/>
              <a:cs typeface="+mn-cs"/>
            </a:endParaRPr>
          </a:p>
        </p:txBody>
      </p:sp>
      <p:sp>
        <p:nvSpPr>
          <p:cNvPr id="20" name="矩形 19">
            <a:extLst>
              <a:ext uri="{FF2B5EF4-FFF2-40B4-BE49-F238E27FC236}">
                <a16:creationId xmlns:a16="http://schemas.microsoft.com/office/drawing/2014/main" id="{6EDBBC5E-4F70-F642-B8A2-B5E6CA7366E3}"/>
              </a:ext>
            </a:extLst>
          </p:cNvPr>
          <p:cNvSpPr>
            <a:spLocks/>
          </p:cNvSpPr>
          <p:nvPr/>
        </p:nvSpPr>
        <p:spPr bwMode="auto">
          <a:xfrm>
            <a:off x="4363799" y="2487852"/>
            <a:ext cx="3390314" cy="1635261"/>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US" dirty="0">
                <a:solidFill>
                  <a:srgbClr val="000000"/>
                </a:solidFill>
                <a:effectLst/>
                <a:latin typeface="Microsoft YaHei" panose="020B0503020204020204" pitchFamily="34" charset="-122"/>
                <a:ea typeface="Microsoft YaHei" panose="020B0503020204020204" pitchFamily="34" charset="-122"/>
              </a:rPr>
              <a:t>協作過程中的安全隱患</a:t>
            </a:r>
            <a:endParaRPr lang="en-US" altLang="zh-CN"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effectLst/>
                <a:latin typeface="Microsoft YaHei" panose="020B0503020204020204" pitchFamily="34" charset="-122"/>
                <a:ea typeface="Microsoft YaHei" panose="020B0503020204020204" pitchFamily="34" charset="-122"/>
              </a:rPr>
              <a:t>時鐘同步算法</a:t>
            </a:r>
            <a:endParaRPr lang="en-US" altLang="zh-CN"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effectLst/>
                <a:latin typeface="Microsoft YaHei" panose="020B0503020204020204" pitchFamily="34" charset="-122"/>
                <a:ea typeface="Microsoft YaHei" panose="020B0503020204020204" pitchFamily="34" charset="-122"/>
              </a:rPr>
              <a:t>幷發問題</a:t>
            </a:r>
            <a:endParaRPr lang="en-US" altLang="zh-CN"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effectLst/>
                <a:latin typeface="Microsoft YaHei" panose="020B0503020204020204" pitchFamily="34" charset="-122"/>
                <a:ea typeface="Microsoft YaHei" panose="020B0503020204020204" pitchFamily="34" charset="-122"/>
              </a:rPr>
              <a:t>故障容錯的一致性算法</a:t>
            </a:r>
          </a:p>
        </p:txBody>
      </p:sp>
      <p:sp>
        <p:nvSpPr>
          <p:cNvPr id="21" name="矩形 20">
            <a:extLst>
              <a:ext uri="{FF2B5EF4-FFF2-40B4-BE49-F238E27FC236}">
                <a16:creationId xmlns:a16="http://schemas.microsoft.com/office/drawing/2014/main" id="{757D01B2-9DEA-3941-AD6F-6551BBD1B460}"/>
              </a:ext>
            </a:extLst>
          </p:cNvPr>
          <p:cNvSpPr>
            <a:spLocks/>
          </p:cNvSpPr>
          <p:nvPr/>
        </p:nvSpPr>
        <p:spPr bwMode="auto">
          <a:xfrm>
            <a:off x="8152493" y="2487852"/>
            <a:ext cx="3248861" cy="1635261"/>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US" dirty="0">
                <a:solidFill>
                  <a:srgbClr val="000000"/>
                </a:solidFill>
                <a:effectLst/>
                <a:latin typeface="Microsoft YaHei" panose="020B0503020204020204" pitchFamily="34" charset="-122"/>
                <a:ea typeface="Microsoft YaHei" panose="020B0503020204020204" pitchFamily="34" charset="-122"/>
              </a:rPr>
              <a:t>訪問控制</a:t>
            </a:r>
            <a:endParaRPr lang="en-US" altLang="zh-CN"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latin typeface="Microsoft YaHei" panose="020B0503020204020204" pitchFamily="34" charset="-122"/>
                <a:ea typeface="Microsoft YaHei" panose="020B0503020204020204" pitchFamily="34" charset="-122"/>
              </a:rPr>
              <a:t>信任評價模型</a:t>
            </a:r>
            <a:endParaRPr lang="en-US" altLang="zh-CN" dirty="0">
              <a:solidFill>
                <a:srgbClr val="00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effectLst/>
                <a:latin typeface="Microsoft YaHei" panose="020B0503020204020204" pitchFamily="34" charset="-122"/>
                <a:ea typeface="Microsoft YaHei" panose="020B0503020204020204" pitchFamily="34" charset="-122"/>
              </a:rPr>
              <a:t>拜占庭容錯</a:t>
            </a:r>
          </a:p>
        </p:txBody>
      </p:sp>
      <p:sp>
        <p:nvSpPr>
          <p:cNvPr id="22" name="文本框 21">
            <a:extLst>
              <a:ext uri="{FF2B5EF4-FFF2-40B4-BE49-F238E27FC236}">
                <a16:creationId xmlns:a16="http://schemas.microsoft.com/office/drawing/2014/main" id="{CE1694C8-0F08-6A45-8925-6B92183E05E7}"/>
              </a:ext>
            </a:extLst>
          </p:cNvPr>
          <p:cNvSpPr txBox="1"/>
          <p:nvPr/>
        </p:nvSpPr>
        <p:spPr>
          <a:xfrm>
            <a:off x="651164" y="1716504"/>
            <a:ext cx="3527827"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第一節</a:t>
            </a:r>
            <a:endParaRPr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建立安全、穩定的交互網絡</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 name="文本框 22">
            <a:extLst>
              <a:ext uri="{FF2B5EF4-FFF2-40B4-BE49-F238E27FC236}">
                <a16:creationId xmlns:a16="http://schemas.microsoft.com/office/drawing/2014/main" id="{C07CD88F-C5F5-CD44-B2ED-ACAAE1F2D759}"/>
              </a:ext>
            </a:extLst>
          </p:cNvPr>
          <p:cNvSpPr txBox="1"/>
          <p:nvPr/>
        </p:nvSpPr>
        <p:spPr>
          <a:xfrm>
            <a:off x="4488794" y="1716504"/>
            <a:ext cx="3140325" cy="707886"/>
          </a:xfrm>
          <a:prstGeom prst="rect">
            <a:avLst/>
          </a:prstGeom>
          <a:noFill/>
        </p:spPr>
        <p:txBody>
          <a:bodyPr wrap="square" rtlCol="0">
            <a:spAutoFit/>
          </a:bodyPr>
          <a:lstStyle/>
          <a:p>
            <a:pPr marL="0" marR="0" lvl="0" indent="0" algn="ctr" defTabSz="914400" rtl="0" eaLnBrk="1" fontAlgn="auto" latinLnBrk="0" hangingPunct="1">
              <a:spcBef>
                <a:spcPts val="0"/>
              </a:spcBef>
              <a:spcAft>
                <a:spcPts val="0"/>
              </a:spcAft>
              <a:buClrTx/>
              <a:buSzTx/>
              <a:buFontTx/>
              <a:buNone/>
              <a:tabLst/>
              <a:defRPr/>
            </a:pP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第二節</a:t>
            </a:r>
            <a:endParaRPr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spcBef>
                <a:spcPts val="0"/>
              </a:spcBef>
              <a:spcAft>
                <a:spcPts val="0"/>
              </a:spcAft>
              <a:buClrTx/>
              <a:buSzTx/>
              <a:buFontTx/>
              <a:buNone/>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分布式算法</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 name="文本框 23">
            <a:extLst>
              <a:ext uri="{FF2B5EF4-FFF2-40B4-BE49-F238E27FC236}">
                <a16:creationId xmlns:a16="http://schemas.microsoft.com/office/drawing/2014/main" id="{92FE1A20-9B4B-0946-91D1-2427729B1ADB}"/>
              </a:ext>
            </a:extLst>
          </p:cNvPr>
          <p:cNvSpPr txBox="1"/>
          <p:nvPr/>
        </p:nvSpPr>
        <p:spPr>
          <a:xfrm>
            <a:off x="8013010" y="1716504"/>
            <a:ext cx="3527826"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第三節</a:t>
            </a:r>
            <a:endParaRPr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信任問題</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文本框 8">
            <a:extLst>
              <a:ext uri="{FF2B5EF4-FFF2-40B4-BE49-F238E27FC236}">
                <a16:creationId xmlns:a16="http://schemas.microsoft.com/office/drawing/2014/main" id="{72AB0E4A-76D7-4B44-A357-B626D0470E95}"/>
              </a:ext>
            </a:extLst>
          </p:cNvPr>
          <p:cNvSpPr txBox="1"/>
          <p:nvPr/>
        </p:nvSpPr>
        <p:spPr>
          <a:xfrm>
            <a:off x="6456987" y="5855276"/>
            <a:ext cx="3537244" cy="646331"/>
          </a:xfrm>
          <a:prstGeom prst="rect">
            <a:avLst/>
          </a:prstGeom>
          <a:noFill/>
        </p:spPr>
        <p:txBody>
          <a:bodyPr wrap="square" rtlCol="0">
            <a:spAutoFit/>
          </a:bodyPr>
          <a:lstStyle/>
          <a:p>
            <a:pPr algn="ctr"/>
            <a:r>
              <a:rPr lang="zh-CN" altLang="en-US" dirty="0">
                <a:solidFill>
                  <a:srgbClr val="000000"/>
                </a:solidFill>
                <a:effectLst/>
                <a:latin typeface="Microsoft YaHei" panose="020B0503020204020204" pitchFamily="34" charset="-122"/>
                <a:ea typeface="Microsoft YaHei" panose="020B0503020204020204" pitchFamily="34" charset="-122"/>
              </a:rPr>
              <a:t>爲分布式系統添加信任面，實現可信協同</a:t>
            </a:r>
          </a:p>
        </p:txBody>
      </p:sp>
      <p:pic>
        <p:nvPicPr>
          <p:cNvPr id="50182" name="Picture 6" descr="Types Of Cybersecurity Threats Clipart (726x500), Png Download">
            <a:extLst>
              <a:ext uri="{FF2B5EF4-FFF2-40B4-BE49-F238E27FC236}">
                <a16:creationId xmlns:a16="http://schemas.microsoft.com/office/drawing/2014/main" id="{0C28AE79-0C70-6648-ADFA-0C3DC38328FD}"/>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668346" y="1011216"/>
            <a:ext cx="731608" cy="702015"/>
          </a:xfrm>
          <a:prstGeom prst="rect">
            <a:avLst/>
          </a:prstGeom>
          <a:noFill/>
          <a:extLst>
            <a:ext uri="{909E8E84-426E-40DD-AFC4-6F175D3DCCD1}">
              <a14:hiddenFill xmlns:a14="http://schemas.microsoft.com/office/drawing/2010/main">
                <a:solidFill>
                  <a:srgbClr val="FFFFFF"/>
                </a:solidFill>
              </a14:hiddenFill>
            </a:ext>
          </a:extLst>
        </p:spPr>
      </p:pic>
      <p:pic>
        <p:nvPicPr>
          <p:cNvPr id="50184" name="Picture 8" descr="Internet Clipart (800x500), Png Download">
            <a:extLst>
              <a:ext uri="{FF2B5EF4-FFF2-40B4-BE49-F238E27FC236}">
                <a16:creationId xmlns:a16="http://schemas.microsoft.com/office/drawing/2014/main" id="{BCF57C33-3253-FB45-A823-92A246F83D8F}"/>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908962" y="979711"/>
            <a:ext cx="973859" cy="736381"/>
          </a:xfrm>
          <a:prstGeom prst="rect">
            <a:avLst/>
          </a:prstGeom>
          <a:noFill/>
          <a:extLst>
            <a:ext uri="{909E8E84-426E-40DD-AFC4-6F175D3DCCD1}">
              <a14:hiddenFill xmlns:a14="http://schemas.microsoft.com/office/drawing/2010/main">
                <a:solidFill>
                  <a:srgbClr val="FFFFFF"/>
                </a:solidFill>
              </a14:hiddenFill>
            </a:ext>
          </a:extLst>
        </p:spPr>
      </p:pic>
      <p:pic>
        <p:nvPicPr>
          <p:cNvPr id="50190" name="Picture 14" descr="查看源图像">
            <a:extLst>
              <a:ext uri="{FF2B5EF4-FFF2-40B4-BE49-F238E27FC236}">
                <a16:creationId xmlns:a16="http://schemas.microsoft.com/office/drawing/2014/main" id="{40658C9E-DC5C-8940-B54C-4E0F33892F97}"/>
              </a:ext>
            </a:extLst>
          </p:cNvPr>
          <p:cNvPicPr>
            <a:picLocks noChangeAspect="1" noChangeArrowheads="1"/>
          </p:cNvPicPr>
          <p:nvPr/>
        </p:nvPicPr>
        <p:blipFill rotWithShape="1">
          <a:blip r:embed="rId5">
            <a:extLst>
              <a:ext uri="{28A0092B-C50C-407E-A947-70E740481C1C}">
                <a14:useLocalDpi xmlns:a14="http://schemas.microsoft.com/office/drawing/2010/main"/>
              </a:ext>
            </a:extLst>
          </a:blip>
          <a:srcRect r="45652" b="1407"/>
          <a:stretch/>
        </p:blipFill>
        <p:spPr bwMode="auto">
          <a:xfrm>
            <a:off x="9426646" y="1047405"/>
            <a:ext cx="730229" cy="689956"/>
          </a:xfrm>
          <a:prstGeom prst="rect">
            <a:avLst/>
          </a:prstGeom>
          <a:noFill/>
          <a:extLst>
            <a:ext uri="{909E8E84-426E-40DD-AFC4-6F175D3DCCD1}">
              <a14:hiddenFill xmlns:a14="http://schemas.microsoft.com/office/drawing/2010/main">
                <a:solidFill>
                  <a:srgbClr val="FFFFFF"/>
                </a:solidFill>
              </a14:hiddenFill>
            </a:ext>
          </a:extLst>
        </p:spPr>
      </p:pic>
      <p:cxnSp>
        <p:nvCxnSpPr>
          <p:cNvPr id="39" name="直接箭头连接符 33">
            <a:extLst>
              <a:ext uri="{FF2B5EF4-FFF2-40B4-BE49-F238E27FC236}">
                <a16:creationId xmlns:a16="http://schemas.microsoft.com/office/drawing/2014/main" id="{F26ACEBD-59BA-0643-AAB2-CE094BAA32FA}"/>
              </a:ext>
            </a:extLst>
          </p:cNvPr>
          <p:cNvCxnSpPr>
            <a:cxnSpLocks/>
          </p:cNvCxnSpPr>
          <p:nvPr/>
        </p:nvCxnSpPr>
        <p:spPr>
          <a:xfrm>
            <a:off x="3955845" y="3244523"/>
            <a:ext cx="40795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33">
            <a:extLst>
              <a:ext uri="{FF2B5EF4-FFF2-40B4-BE49-F238E27FC236}">
                <a16:creationId xmlns:a16="http://schemas.microsoft.com/office/drawing/2014/main" id="{79FB7900-811F-384A-8050-7FAD62F6DCF8}"/>
              </a:ext>
            </a:extLst>
          </p:cNvPr>
          <p:cNvCxnSpPr>
            <a:cxnSpLocks/>
          </p:cNvCxnSpPr>
          <p:nvPr/>
        </p:nvCxnSpPr>
        <p:spPr>
          <a:xfrm>
            <a:off x="7751678" y="3255793"/>
            <a:ext cx="413412" cy="497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33">
            <a:extLst>
              <a:ext uri="{FF2B5EF4-FFF2-40B4-BE49-F238E27FC236}">
                <a16:creationId xmlns:a16="http://schemas.microsoft.com/office/drawing/2014/main" id="{170AC0BC-F033-1241-ADCA-C161EA574A14}"/>
              </a:ext>
            </a:extLst>
          </p:cNvPr>
          <p:cNvCxnSpPr>
            <a:cxnSpLocks/>
            <a:stCxn id="15" idx="2"/>
            <a:endCxn id="36" idx="0"/>
          </p:cNvCxnSpPr>
          <p:nvPr/>
        </p:nvCxnSpPr>
        <p:spPr>
          <a:xfrm>
            <a:off x="2395891" y="4123113"/>
            <a:ext cx="0" cy="4981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33">
            <a:extLst>
              <a:ext uri="{FF2B5EF4-FFF2-40B4-BE49-F238E27FC236}">
                <a16:creationId xmlns:a16="http://schemas.microsoft.com/office/drawing/2014/main" id="{F7364948-6B90-D44B-9B32-95700D0F63AB}"/>
              </a:ext>
            </a:extLst>
          </p:cNvPr>
          <p:cNvCxnSpPr>
            <a:cxnSpLocks/>
            <a:stCxn id="20" idx="2"/>
            <a:endCxn id="37" idx="0"/>
          </p:cNvCxnSpPr>
          <p:nvPr/>
        </p:nvCxnSpPr>
        <p:spPr>
          <a:xfrm>
            <a:off x="6058956" y="4123113"/>
            <a:ext cx="7690" cy="4981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33">
            <a:extLst>
              <a:ext uri="{FF2B5EF4-FFF2-40B4-BE49-F238E27FC236}">
                <a16:creationId xmlns:a16="http://schemas.microsoft.com/office/drawing/2014/main" id="{3C8EECBF-92E8-D749-BE58-3CFF8E4FD844}"/>
              </a:ext>
            </a:extLst>
          </p:cNvPr>
          <p:cNvCxnSpPr>
            <a:cxnSpLocks/>
            <a:stCxn id="21" idx="2"/>
          </p:cNvCxnSpPr>
          <p:nvPr/>
        </p:nvCxnSpPr>
        <p:spPr>
          <a:xfrm>
            <a:off x="9776924" y="4123113"/>
            <a:ext cx="3440" cy="50089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任意多边形: 形状 25">
            <a:extLst>
              <a:ext uri="{FF2B5EF4-FFF2-40B4-BE49-F238E27FC236}">
                <a16:creationId xmlns:a16="http://schemas.microsoft.com/office/drawing/2014/main" id="{D1F63626-21F4-BF44-92EB-D7EDBF87BC0D}"/>
              </a:ext>
            </a:extLst>
          </p:cNvPr>
          <p:cNvSpPr/>
          <p:nvPr/>
        </p:nvSpPr>
        <p:spPr>
          <a:xfrm flipH="1">
            <a:off x="2422356" y="5411842"/>
            <a:ext cx="3256547" cy="365503"/>
          </a:xfrm>
          <a:custGeom>
            <a:avLst/>
            <a:gdLst>
              <a:gd name="connsiteX0" fmla="*/ 7563173 w 7563173"/>
              <a:gd name="connsiteY0" fmla="*/ 30997 h 395207"/>
              <a:gd name="connsiteX1" fmla="*/ 7563173 w 7563173"/>
              <a:gd name="connsiteY1" fmla="*/ 395207 h 395207"/>
              <a:gd name="connsiteX2" fmla="*/ 0 w 7563173"/>
              <a:gd name="connsiteY2" fmla="*/ 395207 h 395207"/>
              <a:gd name="connsiteX3" fmla="*/ 0 w 7563173"/>
              <a:gd name="connsiteY3" fmla="*/ 0 h 395207"/>
            </a:gdLst>
            <a:ahLst/>
            <a:cxnLst>
              <a:cxn ang="0">
                <a:pos x="connsiteX0" y="connsiteY0"/>
              </a:cxn>
              <a:cxn ang="0">
                <a:pos x="connsiteX1" y="connsiteY1"/>
              </a:cxn>
              <a:cxn ang="0">
                <a:pos x="connsiteX2" y="connsiteY2"/>
              </a:cxn>
              <a:cxn ang="0">
                <a:pos x="connsiteX3" y="connsiteY3"/>
              </a:cxn>
            </a:cxnLst>
            <a:rect l="l" t="t" r="r" b="b"/>
            <a:pathLst>
              <a:path w="7563173" h="395207">
                <a:moveTo>
                  <a:pt x="7563173" y="30997"/>
                </a:moveTo>
                <a:lnTo>
                  <a:pt x="7563173" y="395207"/>
                </a:lnTo>
                <a:lnTo>
                  <a:pt x="0" y="395207"/>
                </a:lnTo>
                <a:lnTo>
                  <a:pt x="0" y="0"/>
                </a:lnTo>
              </a:path>
            </a:pathLst>
          </a:cu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7" name="任意多边形: 形状 25">
            <a:extLst>
              <a:ext uri="{FF2B5EF4-FFF2-40B4-BE49-F238E27FC236}">
                <a16:creationId xmlns:a16="http://schemas.microsoft.com/office/drawing/2014/main" id="{A1E2FC24-17BF-4848-AF0D-CFF5D20ABF74}"/>
              </a:ext>
            </a:extLst>
          </p:cNvPr>
          <p:cNvSpPr/>
          <p:nvPr/>
        </p:nvSpPr>
        <p:spPr>
          <a:xfrm>
            <a:off x="6513095" y="5429097"/>
            <a:ext cx="3296653" cy="348248"/>
          </a:xfrm>
          <a:custGeom>
            <a:avLst/>
            <a:gdLst>
              <a:gd name="connsiteX0" fmla="*/ 7563173 w 7563173"/>
              <a:gd name="connsiteY0" fmla="*/ 30997 h 395207"/>
              <a:gd name="connsiteX1" fmla="*/ 7563173 w 7563173"/>
              <a:gd name="connsiteY1" fmla="*/ 395207 h 395207"/>
              <a:gd name="connsiteX2" fmla="*/ 0 w 7563173"/>
              <a:gd name="connsiteY2" fmla="*/ 395207 h 395207"/>
              <a:gd name="connsiteX3" fmla="*/ 0 w 7563173"/>
              <a:gd name="connsiteY3" fmla="*/ 0 h 395207"/>
            </a:gdLst>
            <a:ahLst/>
            <a:cxnLst>
              <a:cxn ang="0">
                <a:pos x="connsiteX0" y="connsiteY0"/>
              </a:cxn>
              <a:cxn ang="0">
                <a:pos x="connsiteX1" y="connsiteY1"/>
              </a:cxn>
              <a:cxn ang="0">
                <a:pos x="connsiteX2" y="connsiteY2"/>
              </a:cxn>
              <a:cxn ang="0">
                <a:pos x="connsiteX3" y="connsiteY3"/>
              </a:cxn>
            </a:cxnLst>
            <a:rect l="l" t="t" r="r" b="b"/>
            <a:pathLst>
              <a:path w="7563173" h="395207">
                <a:moveTo>
                  <a:pt x="7563173" y="30997"/>
                </a:moveTo>
                <a:lnTo>
                  <a:pt x="7563173" y="395207"/>
                </a:lnTo>
                <a:lnTo>
                  <a:pt x="0" y="395207"/>
                </a:lnTo>
                <a:lnTo>
                  <a:pt x="0" y="0"/>
                </a:lnTo>
              </a:path>
            </a:pathLst>
          </a:cu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8" name="文本框 57">
            <a:extLst>
              <a:ext uri="{FF2B5EF4-FFF2-40B4-BE49-F238E27FC236}">
                <a16:creationId xmlns:a16="http://schemas.microsoft.com/office/drawing/2014/main" id="{C6ABAC75-D912-5745-8213-C410D3ECB96F}"/>
              </a:ext>
            </a:extLst>
          </p:cNvPr>
          <p:cNvSpPr txBox="1"/>
          <p:nvPr/>
        </p:nvSpPr>
        <p:spPr>
          <a:xfrm>
            <a:off x="2396835" y="5803188"/>
            <a:ext cx="3214253" cy="646331"/>
          </a:xfrm>
          <a:prstGeom prst="rect">
            <a:avLst/>
          </a:prstGeom>
          <a:noFill/>
        </p:spPr>
        <p:txBody>
          <a:bodyPr wrap="square" rtlCol="0">
            <a:spAutoFit/>
          </a:bodyPr>
          <a:lstStyle/>
          <a:p>
            <a:pPr algn="ctr"/>
            <a:r>
              <a:rPr lang="zh-CN" altLang="en-US" dirty="0">
                <a:solidFill>
                  <a:srgbClr val="000000"/>
                </a:solidFill>
                <a:effectLst/>
                <a:latin typeface="Microsoft YaHei" panose="020B0503020204020204" pitchFamily="34" charset="-122"/>
                <a:ea typeface="Microsoft YaHei" panose="020B0503020204020204" pitchFamily="34" charset="-122"/>
              </a:rPr>
              <a:t>爲分布式系統各組件之間的協同提供交互基礎</a:t>
            </a:r>
          </a:p>
        </p:txBody>
      </p:sp>
    </p:spTree>
    <p:extLst>
      <p:ext uri="{BB962C8B-B14F-4D97-AF65-F5344CB8AC3E}">
        <p14:creationId xmlns:p14="http://schemas.microsoft.com/office/powerpoint/2010/main" val="18955397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31EE29A1-C89A-8644-9C6C-B4B5595B99BE}"/>
              </a:ext>
            </a:extLst>
          </p:cNvPr>
          <p:cNvSpPr/>
          <p:nvPr/>
        </p:nvSpPr>
        <p:spPr>
          <a:xfrm>
            <a:off x="3792512" y="1518858"/>
            <a:ext cx="8399488" cy="17598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3" name="矩形 2">
            <a:extLst>
              <a:ext uri="{FF2B5EF4-FFF2-40B4-BE49-F238E27FC236}">
                <a16:creationId xmlns:a16="http://schemas.microsoft.com/office/drawing/2014/main" id="{95390BD7-9E9C-0D4E-A92D-6F6196C9DABC}"/>
              </a:ext>
            </a:extLst>
          </p:cNvPr>
          <p:cNvSpPr/>
          <p:nvPr/>
        </p:nvSpPr>
        <p:spPr>
          <a:xfrm>
            <a:off x="0" y="1518857"/>
            <a:ext cx="3312826" cy="1759889"/>
          </a:xfrm>
          <a:prstGeom prst="rect">
            <a:avLst/>
          </a:prstGeom>
          <a:solidFill>
            <a:srgbClr val="521B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4" name="椭圆 3">
            <a:extLst>
              <a:ext uri="{FF2B5EF4-FFF2-40B4-BE49-F238E27FC236}">
                <a16:creationId xmlns:a16="http://schemas.microsoft.com/office/drawing/2014/main" id="{BF9CDFA6-B029-6B4C-B9E4-7CF16FFE8CAE}"/>
              </a:ext>
            </a:extLst>
          </p:cNvPr>
          <p:cNvSpPr/>
          <p:nvPr/>
        </p:nvSpPr>
        <p:spPr>
          <a:xfrm>
            <a:off x="2038665" y="1219057"/>
            <a:ext cx="2353456" cy="2398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6" name="矩形 5">
            <a:extLst>
              <a:ext uri="{FF2B5EF4-FFF2-40B4-BE49-F238E27FC236}">
                <a16:creationId xmlns:a16="http://schemas.microsoft.com/office/drawing/2014/main" id="{10EE77B9-CAAB-9D47-886F-1F13DC4A4E9F}"/>
              </a:ext>
            </a:extLst>
          </p:cNvPr>
          <p:cNvSpPr/>
          <p:nvPr/>
        </p:nvSpPr>
        <p:spPr>
          <a:xfrm>
            <a:off x="5109912" y="1823689"/>
            <a:ext cx="6364297" cy="1323439"/>
          </a:xfrm>
          <a:prstGeom prst="rect">
            <a:avLst/>
          </a:prstGeom>
        </p:spPr>
        <p:txBody>
          <a:bodyPr wrap="square">
            <a:spAutoFit/>
          </a:bodyPr>
          <a:lstStyle/>
          <a:p>
            <a:pPr>
              <a:defRPr/>
            </a:pPr>
            <a:r>
              <a:rPr lang="zh-CN" altLang="en-US" sz="4000" b="1" kern="100" dirty="0">
                <a:solidFill>
                  <a:prstClr val="white"/>
                </a:solidFill>
                <a:latin typeface="Microsoft YaHei" panose="020B0503020204020204" pitchFamily="34" charset="-122"/>
                <a:ea typeface="Microsoft YaHei" panose="020B0503020204020204" pitchFamily="34" charset="-122"/>
                <a:cs typeface="Times New Roman" panose="02020603050405020304" pitchFamily="18" charset="0"/>
              </a:rPr>
              <a:t>第</a:t>
            </a:r>
            <a:r>
              <a:rPr lang="en-US" altLang="zh-CN" sz="4000" b="1" kern="100" dirty="0">
                <a:solidFill>
                  <a:prstClr val="white"/>
                </a:solidFill>
                <a:latin typeface="Microsoft YaHei" panose="020B0503020204020204" pitchFamily="34" charset="-122"/>
                <a:ea typeface="Microsoft YaHei" panose="020B0503020204020204" pitchFamily="34" charset="-122"/>
                <a:cs typeface="Times New Roman" panose="02020603050405020304" pitchFamily="18" charset="0"/>
              </a:rPr>
              <a:t>1</a:t>
            </a:r>
            <a:r>
              <a:rPr lang="zh-CN" altLang="en-US" sz="4000" b="1" kern="100" dirty="0">
                <a:solidFill>
                  <a:prstClr val="white"/>
                </a:solidFill>
                <a:latin typeface="Microsoft YaHei" panose="020B0503020204020204" pitchFamily="34" charset="-122"/>
                <a:ea typeface="Microsoft YaHei" panose="020B0503020204020204" pitchFamily="34" charset="-122"/>
                <a:cs typeface="Times New Roman" panose="02020603050405020304" pitchFamily="18" charset="0"/>
              </a:rPr>
              <a:t>節  建立安全、穩定的交互網絡 </a:t>
            </a:r>
          </a:p>
        </p:txBody>
      </p:sp>
      <p:pic>
        <p:nvPicPr>
          <p:cNvPr id="30" name="图片 29">
            <a:extLst>
              <a:ext uri="{FF2B5EF4-FFF2-40B4-BE49-F238E27FC236}">
                <a16:creationId xmlns:a16="http://schemas.microsoft.com/office/drawing/2014/main" id="{AB98545E-E3B1-184A-A592-112BF839A9DC}"/>
              </a:ext>
            </a:extLst>
          </p:cNvPr>
          <p:cNvPicPr>
            <a:picLocks noChangeAspect="1"/>
          </p:cNvPicPr>
          <p:nvPr/>
        </p:nvPicPr>
        <p:blipFill>
          <a:blip r:embed="rId3"/>
          <a:stretch>
            <a:fillRect/>
          </a:stretch>
        </p:blipFill>
        <p:spPr>
          <a:xfrm>
            <a:off x="2107662" y="1303280"/>
            <a:ext cx="2220910" cy="2209943"/>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grpSp>
        <p:nvGrpSpPr>
          <p:cNvPr id="36" name="Group 5">
            <a:extLst>
              <a:ext uri="{FF2B5EF4-FFF2-40B4-BE49-F238E27FC236}">
                <a16:creationId xmlns:a16="http://schemas.microsoft.com/office/drawing/2014/main" id="{B2A3C502-34C0-F34D-8690-7964DF7AE0CE}"/>
              </a:ext>
            </a:extLst>
          </p:cNvPr>
          <p:cNvGrpSpPr/>
          <p:nvPr/>
        </p:nvGrpSpPr>
        <p:grpSpPr>
          <a:xfrm>
            <a:off x="5434508" y="4473535"/>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37" name="Oval 6">
              <a:extLst>
                <a:ext uri="{FF2B5EF4-FFF2-40B4-BE49-F238E27FC236}">
                  <a16:creationId xmlns:a16="http://schemas.microsoft.com/office/drawing/2014/main" id="{56A27727-27B1-8D4C-93A3-F8C89B29EF79}"/>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38" name="Freeform 7">
              <a:extLst>
                <a:ext uri="{FF2B5EF4-FFF2-40B4-BE49-F238E27FC236}">
                  <a16:creationId xmlns:a16="http://schemas.microsoft.com/office/drawing/2014/main" id="{D85F2643-EEAF-E047-8DD0-DDCC3C28AA8E}"/>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39" name="TextBox 9">
            <a:extLst>
              <a:ext uri="{FF2B5EF4-FFF2-40B4-BE49-F238E27FC236}">
                <a16:creationId xmlns:a16="http://schemas.microsoft.com/office/drawing/2014/main" id="{935374EC-BF1E-CF4B-BEB4-B033C3F6FA39}"/>
              </a:ext>
            </a:extLst>
          </p:cNvPr>
          <p:cNvSpPr txBox="1">
            <a:spLocks noChangeArrowheads="1"/>
          </p:cNvSpPr>
          <p:nvPr/>
        </p:nvSpPr>
        <p:spPr bwMode="auto">
          <a:xfrm>
            <a:off x="5892904" y="4446689"/>
            <a:ext cx="2031325" cy="461665"/>
          </a:xfrm>
          <a:prstGeom prst="rect">
            <a:avLst/>
          </a:prstGeom>
          <a:noFill/>
          <a:ln w="9525">
            <a:noFill/>
            <a:miter lim="800000"/>
            <a:headEnd/>
            <a:tailEnd/>
          </a:ln>
        </p:spPr>
        <p:txBody>
          <a:bodyPr wrap="none">
            <a:spAutoFit/>
          </a:bodyPr>
          <a:lstStyle/>
          <a:p>
            <a:pPr>
              <a:defRPr/>
            </a:pPr>
            <a:r>
              <a:rPr lang="zh-CN" altLang="en-US" sz="2400" dirty="0">
                <a:latin typeface="Microsoft YaHei" panose="020B0503020204020204" pitchFamily="34" charset="-122"/>
                <a:ea typeface="Microsoft YaHei" panose="020B0503020204020204" pitchFamily="34" charset="-122"/>
              </a:rPr>
              <a:t>交互信道安全</a:t>
            </a:r>
          </a:p>
        </p:txBody>
      </p:sp>
      <p:grpSp>
        <p:nvGrpSpPr>
          <p:cNvPr id="40" name="Group 17">
            <a:extLst>
              <a:ext uri="{FF2B5EF4-FFF2-40B4-BE49-F238E27FC236}">
                <a16:creationId xmlns:a16="http://schemas.microsoft.com/office/drawing/2014/main" id="{948A034F-72CC-AA44-893A-D664F34DAD63}"/>
              </a:ext>
            </a:extLst>
          </p:cNvPr>
          <p:cNvGrpSpPr/>
          <p:nvPr/>
        </p:nvGrpSpPr>
        <p:grpSpPr>
          <a:xfrm>
            <a:off x="5434508" y="5098388"/>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41" name="Oval 18">
              <a:extLst>
                <a:ext uri="{FF2B5EF4-FFF2-40B4-BE49-F238E27FC236}">
                  <a16:creationId xmlns:a16="http://schemas.microsoft.com/office/drawing/2014/main" id="{B8888F49-B377-164F-BAC5-628D4817C3F0}"/>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42" name="Freeform 19">
              <a:extLst>
                <a:ext uri="{FF2B5EF4-FFF2-40B4-BE49-F238E27FC236}">
                  <a16:creationId xmlns:a16="http://schemas.microsoft.com/office/drawing/2014/main" id="{26FEBD12-5DE0-5844-81D5-F4333E9B7A79}"/>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43" name="TextBox 21">
            <a:extLst>
              <a:ext uri="{FF2B5EF4-FFF2-40B4-BE49-F238E27FC236}">
                <a16:creationId xmlns:a16="http://schemas.microsoft.com/office/drawing/2014/main" id="{DCD92A23-0D6F-8247-A873-52F1EEE0318C}"/>
              </a:ext>
            </a:extLst>
          </p:cNvPr>
          <p:cNvSpPr txBox="1"/>
          <p:nvPr/>
        </p:nvSpPr>
        <p:spPr bwMode="auto">
          <a:xfrm>
            <a:off x="5892903" y="5077942"/>
            <a:ext cx="2031325" cy="461665"/>
          </a:xfrm>
          <a:prstGeom prst="rect">
            <a:avLst/>
          </a:prstGeom>
          <a:noFill/>
        </p:spPr>
        <p:txBody>
          <a:bodyPr wrap="none">
            <a:spAutoFit/>
          </a:bodyPr>
          <a:lstStyle/>
          <a:p>
            <a:pPr>
              <a:defRPr/>
            </a:pPr>
            <a:r>
              <a:rPr lang="zh-CN" altLang="en-US" sz="2400" dirty="0">
                <a:latin typeface="Microsoft YaHei" panose="020B0503020204020204" pitchFamily="34" charset="-122"/>
                <a:ea typeface="Microsoft YaHei" panose="020B0503020204020204" pitchFamily="34" charset="-122"/>
              </a:rPr>
              <a:t>彈性覆蓋網絡</a:t>
            </a:r>
          </a:p>
        </p:txBody>
      </p:sp>
      <p:grpSp>
        <p:nvGrpSpPr>
          <p:cNvPr id="44" name="Group 17">
            <a:extLst>
              <a:ext uri="{FF2B5EF4-FFF2-40B4-BE49-F238E27FC236}">
                <a16:creationId xmlns:a16="http://schemas.microsoft.com/office/drawing/2014/main" id="{A6D2DD1C-6141-7B44-A3C4-967F6319AD6E}"/>
              </a:ext>
            </a:extLst>
          </p:cNvPr>
          <p:cNvGrpSpPr/>
          <p:nvPr/>
        </p:nvGrpSpPr>
        <p:grpSpPr>
          <a:xfrm>
            <a:off x="5434508" y="5703437"/>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45" name="Oval 18">
              <a:extLst>
                <a:ext uri="{FF2B5EF4-FFF2-40B4-BE49-F238E27FC236}">
                  <a16:creationId xmlns:a16="http://schemas.microsoft.com/office/drawing/2014/main" id="{10C209A1-769A-A143-9F69-FE172879C1FB}"/>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46" name="Freeform 19">
              <a:extLst>
                <a:ext uri="{FF2B5EF4-FFF2-40B4-BE49-F238E27FC236}">
                  <a16:creationId xmlns:a16="http://schemas.microsoft.com/office/drawing/2014/main" id="{5A05603E-80B4-CA49-BB31-1F4BAEAD1F4A}"/>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47" name="TextBox 21">
            <a:extLst>
              <a:ext uri="{FF2B5EF4-FFF2-40B4-BE49-F238E27FC236}">
                <a16:creationId xmlns:a16="http://schemas.microsoft.com/office/drawing/2014/main" id="{058AA834-ABD9-3749-8BE7-D2F7CD2D19CF}"/>
              </a:ext>
            </a:extLst>
          </p:cNvPr>
          <p:cNvSpPr txBox="1"/>
          <p:nvPr/>
        </p:nvSpPr>
        <p:spPr bwMode="auto">
          <a:xfrm>
            <a:off x="5892903" y="5682991"/>
            <a:ext cx="2031325" cy="461665"/>
          </a:xfrm>
          <a:prstGeom prst="rect">
            <a:avLst/>
          </a:prstGeom>
          <a:noFill/>
        </p:spPr>
        <p:txBody>
          <a:bodyPr wrap="none">
            <a:spAutoFit/>
          </a:bodyPr>
          <a:lstStyle/>
          <a:p>
            <a:pPr>
              <a:defRPr/>
            </a:pPr>
            <a:r>
              <a:rPr lang="zh-CN" altLang="en-US" sz="2400" dirty="0">
                <a:latin typeface="Microsoft YaHei" panose="020B0503020204020204" pitchFamily="34" charset="-122"/>
                <a:ea typeface="Microsoft YaHei" panose="020B0503020204020204" pitchFamily="34" charset="-122"/>
              </a:rPr>
              <a:t>防禦日蝕攻擊</a:t>
            </a:r>
          </a:p>
        </p:txBody>
      </p:sp>
      <p:grpSp>
        <p:nvGrpSpPr>
          <p:cNvPr id="48" name="Group 5">
            <a:extLst>
              <a:ext uri="{FF2B5EF4-FFF2-40B4-BE49-F238E27FC236}">
                <a16:creationId xmlns:a16="http://schemas.microsoft.com/office/drawing/2014/main" id="{77964743-2E82-294A-AF80-BAB59D89F66F}"/>
              </a:ext>
            </a:extLst>
          </p:cNvPr>
          <p:cNvGrpSpPr/>
          <p:nvPr/>
        </p:nvGrpSpPr>
        <p:grpSpPr>
          <a:xfrm>
            <a:off x="5434508" y="3864078"/>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49" name="Oval 6">
              <a:extLst>
                <a:ext uri="{FF2B5EF4-FFF2-40B4-BE49-F238E27FC236}">
                  <a16:creationId xmlns:a16="http://schemas.microsoft.com/office/drawing/2014/main" id="{05FBAB0A-507A-4148-B547-21CCEFC4A8E9}"/>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50" name="Freeform 7">
              <a:extLst>
                <a:ext uri="{FF2B5EF4-FFF2-40B4-BE49-F238E27FC236}">
                  <a16:creationId xmlns:a16="http://schemas.microsoft.com/office/drawing/2014/main" id="{5E98F7D4-0D78-ED43-A559-19ACC5C3543B}"/>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51" name="TextBox 9">
            <a:extLst>
              <a:ext uri="{FF2B5EF4-FFF2-40B4-BE49-F238E27FC236}">
                <a16:creationId xmlns:a16="http://schemas.microsoft.com/office/drawing/2014/main" id="{E7006BA3-9C78-AD48-88B9-5AE8114D8FEF}"/>
              </a:ext>
            </a:extLst>
          </p:cNvPr>
          <p:cNvSpPr txBox="1">
            <a:spLocks noChangeArrowheads="1"/>
          </p:cNvSpPr>
          <p:nvPr/>
        </p:nvSpPr>
        <p:spPr bwMode="auto">
          <a:xfrm>
            <a:off x="5892904" y="3837232"/>
            <a:ext cx="2339102" cy="461665"/>
          </a:xfrm>
          <a:prstGeom prst="rect">
            <a:avLst/>
          </a:prstGeom>
          <a:noFill/>
          <a:ln w="9525">
            <a:noFill/>
            <a:miter lim="800000"/>
            <a:headEnd/>
            <a:tailEnd/>
          </a:ln>
        </p:spPr>
        <p:txBody>
          <a:bodyPr wrap="none">
            <a:spAutoFit/>
          </a:bodyPr>
          <a:lstStyle/>
          <a:p>
            <a:pPr>
              <a:defRPr/>
            </a:pPr>
            <a:r>
              <a:rPr lang="zh-CN" altLang="en-US" sz="2400" dirty="0">
                <a:latin typeface="Microsoft YaHei" panose="020B0503020204020204" pitchFamily="34" charset="-122"/>
                <a:ea typeface="Microsoft YaHei" panose="020B0503020204020204" pitchFamily="34" charset="-122"/>
              </a:rPr>
              <a:t>交互網絡的組成</a:t>
            </a:r>
          </a:p>
        </p:txBody>
      </p:sp>
    </p:spTree>
    <p:extLst>
      <p:ext uri="{BB962C8B-B14F-4D97-AF65-F5344CB8AC3E}">
        <p14:creationId xmlns:p14="http://schemas.microsoft.com/office/powerpoint/2010/main" val="2897376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交互網絡的組成</a:t>
            </a:r>
          </a:p>
        </p:txBody>
      </p:sp>
      <p:sp>
        <p:nvSpPr>
          <p:cNvPr id="3" name="矩形 2">
            <a:extLst>
              <a:ext uri="{FF2B5EF4-FFF2-40B4-BE49-F238E27FC236}">
                <a16:creationId xmlns:a16="http://schemas.microsoft.com/office/drawing/2014/main" id="{5380C687-80E0-8A4F-83D4-23D6900EBF5A}"/>
              </a:ext>
            </a:extLst>
          </p:cNvPr>
          <p:cNvSpPr/>
          <p:nvPr/>
        </p:nvSpPr>
        <p:spPr>
          <a:xfrm>
            <a:off x="895412" y="2448420"/>
            <a:ext cx="5699440" cy="3817327"/>
          </a:xfrm>
          <a:prstGeom prst="rect">
            <a:avLst/>
          </a:prstGeom>
          <a:ln>
            <a:solidFill>
              <a:srgbClr val="00B0F0"/>
            </a:solidFill>
          </a:ln>
        </p:spPr>
        <p:txBody>
          <a:bodyPr wrap="square">
            <a:spAutoFit/>
          </a:bodyPr>
          <a:lstStyle/>
          <a:p>
            <a:pPr marL="6840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b="1" dirty="0">
                <a:solidFill>
                  <a:srgbClr val="C00000"/>
                </a:solidFill>
                <a:latin typeface="Microsoft YaHei" panose="020B0503020204020204" pitchFamily="34" charset="-122"/>
                <a:ea typeface="Microsoft YaHei" panose="020B0503020204020204" pitchFamily="34" charset="-122"/>
              </a:rPr>
              <a:t>交互信道：</a:t>
            </a:r>
            <a:r>
              <a:rPr lang="zh-CN" altLang="en-US" sz="2400" dirty="0">
                <a:latin typeface="Microsoft YaHei" panose="020B0503020204020204" pitchFamily="34" charset="-122"/>
                <a:ea typeface="Microsoft YaHei" panose="020B0503020204020204" pitchFamily="34" charset="-122"/>
              </a:rPr>
              <a:t>兩個主機通過交互信道實現</a:t>
            </a:r>
            <a:r>
              <a:rPr lang="en-US" altLang="zh-CN" sz="2400" dirty="0">
                <a:latin typeface="Microsoft YaHei" panose="020B0503020204020204" pitchFamily="34" charset="-122"/>
                <a:ea typeface="Microsoft YaHei" panose="020B0503020204020204" pitchFamily="34" charset="-122"/>
              </a:rPr>
              <a:t>host-to-host</a:t>
            </a:r>
            <a:r>
              <a:rPr lang="zh-CN" altLang="en-US" sz="2400" dirty="0">
                <a:latin typeface="Microsoft YaHei" panose="020B0503020204020204" pitchFamily="34" charset="-122"/>
                <a:ea typeface="Microsoft YaHei" panose="020B0503020204020204" pitchFamily="34" charset="-122"/>
              </a:rPr>
              <a:t>的通信，常見的交互信道有</a:t>
            </a:r>
            <a:r>
              <a:rPr lang="en-US" altLang="zh-CN" sz="2400" dirty="0">
                <a:latin typeface="Microsoft YaHei" panose="020B0503020204020204" pitchFamily="34" charset="-122"/>
                <a:ea typeface="Microsoft YaHei" panose="020B0503020204020204" pitchFamily="34" charset="-122"/>
              </a:rPr>
              <a:t>UDP</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TCP</a:t>
            </a:r>
            <a:r>
              <a:rPr lang="zh-CN" altLang="en-US" sz="2400" dirty="0">
                <a:latin typeface="Microsoft YaHei" panose="020B0503020204020204" pitchFamily="34" charset="-122"/>
                <a:ea typeface="Microsoft YaHei" panose="020B0503020204020204" pitchFamily="34" charset="-122"/>
              </a:rPr>
              <a:t>和</a:t>
            </a:r>
            <a:r>
              <a:rPr lang="en-US" altLang="zh-CN" sz="2400" dirty="0">
                <a:latin typeface="Microsoft YaHei" panose="020B0503020204020204" pitchFamily="34" charset="-122"/>
                <a:ea typeface="Microsoft YaHei" panose="020B0503020204020204" pitchFamily="34" charset="-122"/>
              </a:rPr>
              <a:t>TLS</a:t>
            </a:r>
            <a:r>
              <a:rPr lang="zh-CN" altLang="en-US" sz="2400" dirty="0">
                <a:latin typeface="Microsoft YaHei" panose="020B0503020204020204" pitchFamily="34" charset="-122"/>
                <a:ea typeface="Microsoft YaHei" panose="020B0503020204020204" pitchFamily="34" charset="-122"/>
              </a:rPr>
              <a:t>等</a:t>
            </a:r>
            <a:endParaRPr lang="en-US" altLang="zh-CN" sz="2400" dirty="0">
              <a:latin typeface="Microsoft YaHei" panose="020B0503020204020204" pitchFamily="34" charset="-122"/>
              <a:ea typeface="Microsoft YaHei" panose="020B0503020204020204" pitchFamily="34" charset="-122"/>
            </a:endParaRPr>
          </a:p>
          <a:p>
            <a:pPr marL="6840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b="1" dirty="0">
                <a:solidFill>
                  <a:srgbClr val="C00000"/>
                </a:solidFill>
                <a:latin typeface="Microsoft YaHei" panose="020B0503020204020204" pitchFamily="34" charset="-122"/>
                <a:ea typeface="Microsoft YaHei" panose="020B0503020204020204" pitchFamily="34" charset="-122"/>
              </a:rPr>
              <a:t>鄰居選擇機制：</a:t>
            </a:r>
            <a:r>
              <a:rPr lang="zh-CN" altLang="en-US" sz="2400" dirty="0">
                <a:latin typeface="Microsoft YaHei" panose="020B0503020204020204" pitchFamily="34" charset="-122"/>
                <a:ea typeface="Microsoft YaHei" panose="020B0503020204020204" pitchFamily="34" charset="-122"/>
              </a:rPr>
              <a:t>每個節點依靠鄰居選擇機制選取系統中的部分或全部節點建立交互信道，從而建立鄰居關係，節點可通過鄰居節點與其它非鄰居節點交互</a:t>
            </a:r>
            <a:endParaRPr lang="en-US" altLang="zh-CN" sz="2400" dirty="0">
              <a:latin typeface="Microsoft YaHei" panose="020B0503020204020204" pitchFamily="34" charset="-122"/>
              <a:ea typeface="Microsoft YaHei" panose="020B0503020204020204" pitchFamily="34" charset="-122"/>
            </a:endParaRPr>
          </a:p>
        </p:txBody>
      </p:sp>
      <p:sp>
        <p:nvSpPr>
          <p:cNvPr id="59" name="矩形 58">
            <a:extLst>
              <a:ext uri="{FF2B5EF4-FFF2-40B4-BE49-F238E27FC236}">
                <a16:creationId xmlns:a16="http://schemas.microsoft.com/office/drawing/2014/main" id="{94BA01E8-C33A-5547-9303-5C7508DB8039}"/>
              </a:ext>
            </a:extLst>
          </p:cNvPr>
          <p:cNvSpPr/>
          <p:nvPr/>
        </p:nvSpPr>
        <p:spPr>
          <a:xfrm>
            <a:off x="853427" y="1075304"/>
            <a:ext cx="10550448" cy="1005787"/>
          </a:xfrm>
          <a:prstGeom prst="rect">
            <a:avLst/>
          </a:prstGeom>
        </p:spPr>
        <p:txBody>
          <a:bodyPr wrap="square">
            <a:spAutoFit/>
          </a:bodyPr>
          <a:lstStyle/>
          <a:p>
            <a:pPr algn="just">
              <a:lnSpc>
                <a:spcPct val="130000"/>
              </a:lnSpc>
            </a:pPr>
            <a:r>
              <a:rPr lang="zh-CN" altLang="en-US" sz="2400" b="1" dirty="0">
                <a:solidFill>
                  <a:srgbClr val="C00000"/>
                </a:solidFill>
                <a:latin typeface="Microsoft YaHei" panose="020B0503020204020204" pitchFamily="34" charset="-122"/>
                <a:ea typeface="Microsoft YaHei" panose="020B0503020204020204" pitchFamily="34" charset="-122"/>
              </a:rPr>
              <a:t>在分布式系統中，節點之間可以通過交互信道實現消息傳遞；分布式節點選擇鄰居節點幷建立交互信道，從而構成一個交互網絡</a:t>
            </a:r>
            <a:endParaRPr lang="en-US" altLang="zh-CN" sz="2400" b="1" dirty="0">
              <a:solidFill>
                <a:srgbClr val="C00000"/>
              </a:solidFill>
              <a:latin typeface="Microsoft YaHei" panose="020B0503020204020204" pitchFamily="34" charset="-122"/>
              <a:ea typeface="Microsoft YaHei" panose="020B0503020204020204" pitchFamily="34" charset="-122"/>
            </a:endParaRPr>
          </a:p>
        </p:txBody>
      </p:sp>
      <p:grpSp>
        <p:nvGrpSpPr>
          <p:cNvPr id="38" name="组合 37">
            <a:extLst>
              <a:ext uri="{FF2B5EF4-FFF2-40B4-BE49-F238E27FC236}">
                <a16:creationId xmlns:a16="http://schemas.microsoft.com/office/drawing/2014/main" id="{96C69576-1596-1741-9499-6DC3D3CCB553}"/>
              </a:ext>
            </a:extLst>
          </p:cNvPr>
          <p:cNvGrpSpPr/>
          <p:nvPr/>
        </p:nvGrpSpPr>
        <p:grpSpPr>
          <a:xfrm>
            <a:off x="7288239" y="2147098"/>
            <a:ext cx="4039513" cy="828220"/>
            <a:chOff x="7291360" y="2657440"/>
            <a:chExt cx="4039513" cy="828220"/>
          </a:xfrm>
        </p:grpSpPr>
        <p:pic>
          <p:nvPicPr>
            <p:cNvPr id="19" name="图形 18" descr="Internet">
              <a:extLst>
                <a:ext uri="{FF2B5EF4-FFF2-40B4-BE49-F238E27FC236}">
                  <a16:creationId xmlns:a16="http://schemas.microsoft.com/office/drawing/2014/main" id="{4A434EC1-53F8-8344-9348-6576FD3ED14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91360" y="2657440"/>
              <a:ext cx="771764" cy="821292"/>
            </a:xfrm>
            <a:prstGeom prst="rect">
              <a:avLst/>
            </a:prstGeom>
          </p:spPr>
        </p:pic>
        <p:cxnSp>
          <p:nvCxnSpPr>
            <p:cNvPr id="20" name="直线箭头连接符 19">
              <a:extLst>
                <a:ext uri="{FF2B5EF4-FFF2-40B4-BE49-F238E27FC236}">
                  <a16:creationId xmlns:a16="http://schemas.microsoft.com/office/drawing/2014/main" id="{945DE6C0-CDFF-324E-85DA-10C503E4D871}"/>
                </a:ext>
              </a:extLst>
            </p:cNvPr>
            <p:cNvCxnSpPr>
              <a:cxnSpLocks/>
              <a:stCxn id="19" idx="3"/>
              <a:endCxn id="21" idx="1"/>
            </p:cNvCxnSpPr>
            <p:nvPr/>
          </p:nvCxnSpPr>
          <p:spPr>
            <a:xfrm>
              <a:off x="8063124" y="3068086"/>
              <a:ext cx="2495985" cy="6928"/>
            </a:xfrm>
            <a:prstGeom prst="straightConnector1">
              <a:avLst/>
            </a:prstGeom>
            <a:ln>
              <a:prstDash val="dash"/>
              <a:headEnd type="triangle" w="med" len="lg"/>
              <a:tailEnd type="triangle" w="med" len="lg"/>
            </a:ln>
          </p:spPr>
          <p:style>
            <a:lnRef idx="1">
              <a:schemeClr val="accent1"/>
            </a:lnRef>
            <a:fillRef idx="0">
              <a:schemeClr val="accent1"/>
            </a:fillRef>
            <a:effectRef idx="0">
              <a:schemeClr val="accent1"/>
            </a:effectRef>
            <a:fontRef idx="minor">
              <a:schemeClr val="tx1"/>
            </a:fontRef>
          </p:style>
        </p:cxnSp>
        <p:pic>
          <p:nvPicPr>
            <p:cNvPr id="21" name="图形 20" descr="Internet">
              <a:extLst>
                <a:ext uri="{FF2B5EF4-FFF2-40B4-BE49-F238E27FC236}">
                  <a16:creationId xmlns:a16="http://schemas.microsoft.com/office/drawing/2014/main" id="{9E4E7F0E-F972-5544-B1CC-52E68393BA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59109" y="2664368"/>
              <a:ext cx="771764" cy="821292"/>
            </a:xfrm>
            <a:prstGeom prst="rect">
              <a:avLst/>
            </a:prstGeom>
          </p:spPr>
        </p:pic>
      </p:grpSp>
      <p:grpSp>
        <p:nvGrpSpPr>
          <p:cNvPr id="36" name="组合 35">
            <a:extLst>
              <a:ext uri="{FF2B5EF4-FFF2-40B4-BE49-F238E27FC236}">
                <a16:creationId xmlns:a16="http://schemas.microsoft.com/office/drawing/2014/main" id="{0078B4F7-0EDB-3445-9C22-F676B696CADF}"/>
              </a:ext>
            </a:extLst>
          </p:cNvPr>
          <p:cNvGrpSpPr/>
          <p:nvPr/>
        </p:nvGrpSpPr>
        <p:grpSpPr>
          <a:xfrm>
            <a:off x="7335924" y="3530546"/>
            <a:ext cx="4039513" cy="2542039"/>
            <a:chOff x="7291361" y="4103058"/>
            <a:chExt cx="4039513" cy="2542039"/>
          </a:xfrm>
        </p:grpSpPr>
        <p:pic>
          <p:nvPicPr>
            <p:cNvPr id="22" name="图形 21" descr="Internet">
              <a:extLst>
                <a:ext uri="{FF2B5EF4-FFF2-40B4-BE49-F238E27FC236}">
                  <a16:creationId xmlns:a16="http://schemas.microsoft.com/office/drawing/2014/main" id="{DB934583-BCA6-A641-BA9D-12A0F2A1E20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38950" y="4103058"/>
              <a:ext cx="771764" cy="821292"/>
            </a:xfrm>
            <a:prstGeom prst="rect">
              <a:avLst/>
            </a:prstGeom>
          </p:spPr>
        </p:pic>
        <p:cxnSp>
          <p:nvCxnSpPr>
            <p:cNvPr id="23" name="直线箭头连接符 22">
              <a:extLst>
                <a:ext uri="{FF2B5EF4-FFF2-40B4-BE49-F238E27FC236}">
                  <a16:creationId xmlns:a16="http://schemas.microsoft.com/office/drawing/2014/main" id="{6A8F4B19-0A83-3749-BFB3-C34844A7CEAE}"/>
                </a:ext>
              </a:extLst>
            </p:cNvPr>
            <p:cNvCxnSpPr>
              <a:cxnSpLocks/>
              <a:stCxn id="22" idx="3"/>
              <a:endCxn id="24" idx="1"/>
            </p:cNvCxnSpPr>
            <p:nvPr/>
          </p:nvCxnSpPr>
          <p:spPr>
            <a:xfrm>
              <a:off x="9010714" y="4513704"/>
              <a:ext cx="705466" cy="0"/>
            </a:xfrm>
            <a:prstGeom prst="straightConnector1">
              <a:avLst/>
            </a:prstGeom>
            <a:ln>
              <a:prstDash val="dash"/>
              <a:headEnd type="triangle" w="med" len="lg"/>
              <a:tailEnd type="triangle" w="med" len="lg"/>
            </a:ln>
          </p:spPr>
          <p:style>
            <a:lnRef idx="1">
              <a:schemeClr val="accent1"/>
            </a:lnRef>
            <a:fillRef idx="0">
              <a:schemeClr val="accent1"/>
            </a:fillRef>
            <a:effectRef idx="0">
              <a:schemeClr val="accent1"/>
            </a:effectRef>
            <a:fontRef idx="minor">
              <a:schemeClr val="tx1"/>
            </a:fontRef>
          </p:style>
        </p:cxnSp>
        <p:pic>
          <p:nvPicPr>
            <p:cNvPr id="24" name="图形 23" descr="Internet">
              <a:extLst>
                <a:ext uri="{FF2B5EF4-FFF2-40B4-BE49-F238E27FC236}">
                  <a16:creationId xmlns:a16="http://schemas.microsoft.com/office/drawing/2014/main" id="{3EA61890-286D-6542-9CC6-147E00B4EEC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716180" y="4103058"/>
              <a:ext cx="771764" cy="821292"/>
            </a:xfrm>
            <a:prstGeom prst="rect">
              <a:avLst/>
            </a:prstGeom>
          </p:spPr>
        </p:pic>
        <p:pic>
          <p:nvPicPr>
            <p:cNvPr id="25" name="图形 24" descr="Internet">
              <a:extLst>
                <a:ext uri="{FF2B5EF4-FFF2-40B4-BE49-F238E27FC236}">
                  <a16:creationId xmlns:a16="http://schemas.microsoft.com/office/drawing/2014/main" id="{CA4BC750-FBE8-3146-9327-EB3BEC2CA3E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91361" y="4964252"/>
              <a:ext cx="771764" cy="821292"/>
            </a:xfrm>
            <a:prstGeom prst="rect">
              <a:avLst/>
            </a:prstGeom>
          </p:spPr>
        </p:pic>
        <p:pic>
          <p:nvPicPr>
            <p:cNvPr id="26" name="图形 25" descr="Internet">
              <a:extLst>
                <a:ext uri="{FF2B5EF4-FFF2-40B4-BE49-F238E27FC236}">
                  <a16:creationId xmlns:a16="http://schemas.microsoft.com/office/drawing/2014/main" id="{0003801E-4A41-4945-92F4-675F8C0BA3F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59110" y="4973748"/>
              <a:ext cx="771764" cy="821292"/>
            </a:xfrm>
            <a:prstGeom prst="rect">
              <a:avLst/>
            </a:prstGeom>
          </p:spPr>
        </p:pic>
        <p:pic>
          <p:nvPicPr>
            <p:cNvPr id="32" name="图形 31" descr="Internet">
              <a:extLst>
                <a:ext uri="{FF2B5EF4-FFF2-40B4-BE49-F238E27FC236}">
                  <a16:creationId xmlns:a16="http://schemas.microsoft.com/office/drawing/2014/main" id="{B2805197-B042-8A43-AFE8-D153B2DA44B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38950" y="5823805"/>
              <a:ext cx="771764" cy="821292"/>
            </a:xfrm>
            <a:prstGeom prst="rect">
              <a:avLst/>
            </a:prstGeom>
          </p:spPr>
        </p:pic>
        <p:pic>
          <p:nvPicPr>
            <p:cNvPr id="33" name="图形 32" descr="Internet">
              <a:extLst>
                <a:ext uri="{FF2B5EF4-FFF2-40B4-BE49-F238E27FC236}">
                  <a16:creationId xmlns:a16="http://schemas.microsoft.com/office/drawing/2014/main" id="{DF6AEBD4-96D1-EE46-A4CE-73F69BA096E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768237" y="5823805"/>
              <a:ext cx="771764" cy="821292"/>
            </a:xfrm>
            <a:prstGeom prst="rect">
              <a:avLst/>
            </a:prstGeom>
          </p:spPr>
        </p:pic>
        <p:cxnSp>
          <p:nvCxnSpPr>
            <p:cNvPr id="34" name="直线箭头连接符 33">
              <a:extLst>
                <a:ext uri="{FF2B5EF4-FFF2-40B4-BE49-F238E27FC236}">
                  <a16:creationId xmlns:a16="http://schemas.microsoft.com/office/drawing/2014/main" id="{02E67F61-1CE7-7343-9321-B8C2B43E23DA}"/>
                </a:ext>
              </a:extLst>
            </p:cNvPr>
            <p:cNvCxnSpPr>
              <a:cxnSpLocks/>
              <a:stCxn id="22" idx="2"/>
              <a:endCxn id="26" idx="1"/>
            </p:cNvCxnSpPr>
            <p:nvPr/>
          </p:nvCxnSpPr>
          <p:spPr>
            <a:xfrm>
              <a:off x="8624832" y="4924350"/>
              <a:ext cx="1934278" cy="460044"/>
            </a:xfrm>
            <a:prstGeom prst="straightConnector1">
              <a:avLst/>
            </a:prstGeom>
            <a:ln>
              <a:prstDash val="dash"/>
              <a:headEnd type="triangle" w="med" len="lg"/>
              <a:tailEnd type="triangle" w="med" len="lg"/>
            </a:ln>
          </p:spPr>
          <p:style>
            <a:lnRef idx="1">
              <a:schemeClr val="accent1"/>
            </a:lnRef>
            <a:fillRef idx="0">
              <a:schemeClr val="accent1"/>
            </a:fillRef>
            <a:effectRef idx="0">
              <a:schemeClr val="accent1"/>
            </a:effectRef>
            <a:fontRef idx="minor">
              <a:schemeClr val="tx1"/>
            </a:fontRef>
          </p:style>
        </p:cxnSp>
        <p:cxnSp>
          <p:nvCxnSpPr>
            <p:cNvPr id="37" name="直线箭头连接符 36">
              <a:extLst>
                <a:ext uri="{FF2B5EF4-FFF2-40B4-BE49-F238E27FC236}">
                  <a16:creationId xmlns:a16="http://schemas.microsoft.com/office/drawing/2014/main" id="{489194AB-3A03-F342-A108-FFE070CDF8F5}"/>
                </a:ext>
              </a:extLst>
            </p:cNvPr>
            <p:cNvCxnSpPr>
              <a:cxnSpLocks/>
              <a:stCxn id="25" idx="3"/>
              <a:endCxn id="33" idx="0"/>
            </p:cNvCxnSpPr>
            <p:nvPr/>
          </p:nvCxnSpPr>
          <p:spPr>
            <a:xfrm>
              <a:off x="8063125" y="5374898"/>
              <a:ext cx="2090994" cy="448907"/>
            </a:xfrm>
            <a:prstGeom prst="straightConnector1">
              <a:avLst/>
            </a:prstGeom>
            <a:ln>
              <a:prstDash val="dash"/>
              <a:headEnd type="triangle" w="med" len="lg"/>
              <a:tailEnd type="triangle" w="med" len="lg"/>
            </a:ln>
          </p:spPr>
          <p:style>
            <a:lnRef idx="1">
              <a:schemeClr val="accent1"/>
            </a:lnRef>
            <a:fillRef idx="0">
              <a:schemeClr val="accent1"/>
            </a:fillRef>
            <a:effectRef idx="0">
              <a:schemeClr val="accent1"/>
            </a:effectRef>
            <a:fontRef idx="minor">
              <a:schemeClr val="tx1"/>
            </a:fontRef>
          </p:style>
        </p:cxnSp>
        <p:cxnSp>
          <p:nvCxnSpPr>
            <p:cNvPr id="41" name="直线箭头连接符 40">
              <a:extLst>
                <a:ext uri="{FF2B5EF4-FFF2-40B4-BE49-F238E27FC236}">
                  <a16:creationId xmlns:a16="http://schemas.microsoft.com/office/drawing/2014/main" id="{B61F772F-B935-2542-9440-781B2B64B71C}"/>
                </a:ext>
              </a:extLst>
            </p:cNvPr>
            <p:cNvCxnSpPr>
              <a:cxnSpLocks/>
              <a:stCxn id="32" idx="0"/>
              <a:endCxn id="24" idx="2"/>
            </p:cNvCxnSpPr>
            <p:nvPr/>
          </p:nvCxnSpPr>
          <p:spPr>
            <a:xfrm flipV="1">
              <a:off x="8624832" y="4924350"/>
              <a:ext cx="1477230" cy="899455"/>
            </a:xfrm>
            <a:prstGeom prst="straightConnector1">
              <a:avLst/>
            </a:prstGeom>
            <a:ln>
              <a:prstDash val="dash"/>
              <a:headEnd type="triangle" w="med" len="lg"/>
              <a:tailEnd type="triangle" w="med" len="lg"/>
            </a:ln>
          </p:spPr>
          <p:style>
            <a:lnRef idx="1">
              <a:schemeClr val="accent1"/>
            </a:lnRef>
            <a:fillRef idx="0">
              <a:schemeClr val="accent1"/>
            </a:fillRef>
            <a:effectRef idx="0">
              <a:schemeClr val="accent1"/>
            </a:effectRef>
            <a:fontRef idx="minor">
              <a:schemeClr val="tx1"/>
            </a:fontRef>
          </p:style>
        </p:cxnSp>
        <p:cxnSp>
          <p:nvCxnSpPr>
            <p:cNvPr id="49" name="直线箭头连接符 48">
              <a:extLst>
                <a:ext uri="{FF2B5EF4-FFF2-40B4-BE49-F238E27FC236}">
                  <a16:creationId xmlns:a16="http://schemas.microsoft.com/office/drawing/2014/main" id="{EDB710E6-163F-6543-9151-8F39F3A8344E}"/>
                </a:ext>
              </a:extLst>
            </p:cNvPr>
            <p:cNvCxnSpPr>
              <a:cxnSpLocks/>
              <a:stCxn id="32" idx="3"/>
              <a:endCxn id="33" idx="1"/>
            </p:cNvCxnSpPr>
            <p:nvPr/>
          </p:nvCxnSpPr>
          <p:spPr>
            <a:xfrm>
              <a:off x="9010714" y="6234451"/>
              <a:ext cx="757523" cy="0"/>
            </a:xfrm>
            <a:prstGeom prst="straightConnector1">
              <a:avLst/>
            </a:prstGeom>
            <a:ln>
              <a:prstDash val="dash"/>
              <a:headEnd type="triangle" w="med" len="lg"/>
              <a:tailEnd type="triangle" w="med" len="lg"/>
            </a:ln>
          </p:spPr>
          <p:style>
            <a:lnRef idx="1">
              <a:schemeClr val="accent1"/>
            </a:lnRef>
            <a:fillRef idx="0">
              <a:schemeClr val="accent1"/>
            </a:fillRef>
            <a:effectRef idx="0">
              <a:schemeClr val="accent1"/>
            </a:effectRef>
            <a:fontRef idx="minor">
              <a:schemeClr val="tx1"/>
            </a:fontRef>
          </p:style>
        </p:cxnSp>
        <p:cxnSp>
          <p:nvCxnSpPr>
            <p:cNvPr id="60" name="直线箭头连接符 59">
              <a:extLst>
                <a:ext uri="{FF2B5EF4-FFF2-40B4-BE49-F238E27FC236}">
                  <a16:creationId xmlns:a16="http://schemas.microsoft.com/office/drawing/2014/main" id="{0867A8A1-1F7F-0741-9C3C-707489E5F760}"/>
                </a:ext>
              </a:extLst>
            </p:cNvPr>
            <p:cNvCxnSpPr>
              <a:cxnSpLocks/>
              <a:stCxn id="25" idx="3"/>
              <a:endCxn id="26" idx="1"/>
            </p:cNvCxnSpPr>
            <p:nvPr/>
          </p:nvCxnSpPr>
          <p:spPr>
            <a:xfrm>
              <a:off x="8063125" y="5374898"/>
              <a:ext cx="2495985" cy="9496"/>
            </a:xfrm>
            <a:prstGeom prst="straightConnector1">
              <a:avLst/>
            </a:prstGeom>
            <a:ln>
              <a:prstDash val="dash"/>
              <a:headEnd type="triangle" w="med" len="lg"/>
              <a:tailEnd type="triangle" w="med" len="lg"/>
            </a:ln>
          </p:spPr>
          <p:style>
            <a:lnRef idx="1">
              <a:schemeClr val="accent1"/>
            </a:lnRef>
            <a:fillRef idx="0">
              <a:schemeClr val="accent1"/>
            </a:fillRef>
            <a:effectRef idx="0">
              <a:schemeClr val="accent1"/>
            </a:effectRef>
            <a:fontRef idx="minor">
              <a:schemeClr val="tx1"/>
            </a:fontRef>
          </p:style>
        </p:cxnSp>
      </p:grpSp>
      <p:sp>
        <p:nvSpPr>
          <p:cNvPr id="39" name="矩形 38">
            <a:extLst>
              <a:ext uri="{FF2B5EF4-FFF2-40B4-BE49-F238E27FC236}">
                <a16:creationId xmlns:a16="http://schemas.microsoft.com/office/drawing/2014/main" id="{6C64DFFD-8F1E-594D-B6AD-365F302275EF}"/>
              </a:ext>
            </a:extLst>
          </p:cNvPr>
          <p:cNvSpPr/>
          <p:nvPr/>
        </p:nvSpPr>
        <p:spPr>
          <a:xfrm>
            <a:off x="8831767" y="2781156"/>
            <a:ext cx="1107996" cy="369332"/>
          </a:xfrm>
          <a:prstGeom prst="rect">
            <a:avLst/>
          </a:prstGeom>
        </p:spPr>
        <p:txBody>
          <a:bodyPr wrap="none">
            <a:spAutoFit/>
          </a:bodyPr>
          <a:lstStyle/>
          <a:p>
            <a:r>
              <a:rPr lang="zh-CN" altLang="en-US" dirty="0">
                <a:latin typeface="Microsoft YaHei" panose="020B0503020204020204" pitchFamily="34" charset="-122"/>
                <a:ea typeface="Microsoft YaHei" panose="020B0503020204020204" pitchFamily="34" charset="-122"/>
              </a:rPr>
              <a:t>交互信道</a:t>
            </a:r>
            <a:endParaRPr lang="zh-CN" altLang="en-US" dirty="0"/>
          </a:p>
        </p:txBody>
      </p:sp>
      <p:sp>
        <p:nvSpPr>
          <p:cNvPr id="61" name="矩形 60">
            <a:extLst>
              <a:ext uri="{FF2B5EF4-FFF2-40B4-BE49-F238E27FC236}">
                <a16:creationId xmlns:a16="http://schemas.microsoft.com/office/drawing/2014/main" id="{B8747966-0362-AD4A-A265-633C89F48284}"/>
              </a:ext>
            </a:extLst>
          </p:cNvPr>
          <p:cNvSpPr/>
          <p:nvPr/>
        </p:nvSpPr>
        <p:spPr>
          <a:xfrm>
            <a:off x="8931781" y="6001168"/>
            <a:ext cx="1107996" cy="369332"/>
          </a:xfrm>
          <a:prstGeom prst="rect">
            <a:avLst/>
          </a:prstGeom>
        </p:spPr>
        <p:txBody>
          <a:bodyPr wrap="none">
            <a:spAutoFit/>
          </a:bodyPr>
          <a:lstStyle/>
          <a:p>
            <a:r>
              <a:rPr lang="zh-CN" altLang="en-US" dirty="0">
                <a:latin typeface="Microsoft YaHei" panose="020B0503020204020204" pitchFamily="34" charset="-122"/>
                <a:ea typeface="Microsoft YaHei" panose="020B0503020204020204" pitchFamily="34" charset="-122"/>
              </a:rPr>
              <a:t>交互網絡</a:t>
            </a:r>
            <a:endParaRPr lang="zh-CN" altLang="en-US" dirty="0"/>
          </a:p>
        </p:txBody>
      </p:sp>
      <p:sp>
        <p:nvSpPr>
          <p:cNvPr id="35" name="灯片编号占位符 2">
            <a:extLst>
              <a:ext uri="{FF2B5EF4-FFF2-40B4-BE49-F238E27FC236}">
                <a16:creationId xmlns:a16="http://schemas.microsoft.com/office/drawing/2014/main" id="{F2E6079B-26D0-DB4C-A69C-51F0B6896980}"/>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14</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17413927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交互信道中的安全隱患</a:t>
            </a:r>
          </a:p>
        </p:txBody>
      </p:sp>
      <p:sp>
        <p:nvSpPr>
          <p:cNvPr id="3" name="矩形 2">
            <a:extLst>
              <a:ext uri="{FF2B5EF4-FFF2-40B4-BE49-F238E27FC236}">
                <a16:creationId xmlns:a16="http://schemas.microsoft.com/office/drawing/2014/main" id="{5380C687-80E0-8A4F-83D4-23D6900EBF5A}"/>
              </a:ext>
            </a:extLst>
          </p:cNvPr>
          <p:cNvSpPr/>
          <p:nvPr/>
        </p:nvSpPr>
        <p:spPr>
          <a:xfrm>
            <a:off x="674684" y="1024624"/>
            <a:ext cx="11040347" cy="1582869"/>
          </a:xfrm>
          <a:prstGeom prst="rect">
            <a:avLst/>
          </a:prstGeom>
          <a:ln>
            <a:solidFill>
              <a:srgbClr val="00B0F0"/>
            </a:solidFill>
          </a:ln>
        </p:spPr>
        <p:txBody>
          <a:bodyPr wrap="square">
            <a:spAutoFit/>
          </a:bodyPr>
          <a:lstStyle/>
          <a:p>
            <a:pPr marL="3429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根據網絡體系結構的不同層面進行分類</a:t>
            </a:r>
            <a:endParaRPr lang="en-US" altLang="zh-CN" sz="2400" dirty="0">
              <a:latin typeface="Microsoft YaHei" panose="020B0503020204020204" pitchFamily="34" charset="-122"/>
              <a:ea typeface="Microsoft YaHei" panose="020B0503020204020204" pitchFamily="34" charset="-122"/>
            </a:endParaRPr>
          </a:p>
          <a:p>
            <a:pPr marL="6840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網絡層面：網絡中傳輸的數據包可能出現</a:t>
            </a:r>
            <a:r>
              <a:rPr lang="zh-CN" altLang="en-US" sz="2400" b="1" dirty="0">
                <a:solidFill>
                  <a:srgbClr val="C00000"/>
                </a:solidFill>
                <a:latin typeface="Microsoft YaHei" panose="020B0503020204020204" pitchFamily="34" charset="-122"/>
                <a:ea typeface="Microsoft YaHei" panose="020B0503020204020204" pitchFamily="34" charset="-122"/>
              </a:rPr>
              <a:t>丟失</a:t>
            </a:r>
            <a:r>
              <a:rPr lang="zh-CN" altLang="en-US" sz="2400" dirty="0">
                <a:latin typeface="Microsoft YaHei" panose="020B0503020204020204" pitchFamily="34" charset="-122"/>
                <a:ea typeface="Microsoft YaHei" panose="020B0503020204020204" pitchFamily="34" charset="-122"/>
              </a:rPr>
              <a:t>、</a:t>
            </a:r>
            <a:r>
              <a:rPr lang="zh-CN" altLang="en-US" sz="2400" b="1" dirty="0">
                <a:solidFill>
                  <a:srgbClr val="C00000"/>
                </a:solidFill>
                <a:latin typeface="Microsoft YaHei" panose="020B0503020204020204" pitchFamily="34" charset="-122"/>
                <a:ea typeface="Microsoft YaHei" panose="020B0503020204020204" pitchFamily="34" charset="-122"/>
              </a:rPr>
              <a:t>重複</a:t>
            </a:r>
            <a:r>
              <a:rPr lang="zh-CN" altLang="en-US" sz="2400" dirty="0">
                <a:latin typeface="Microsoft YaHei" panose="020B0503020204020204" pitchFamily="34" charset="-122"/>
                <a:ea typeface="Microsoft YaHei" panose="020B0503020204020204" pitchFamily="34" charset="-122"/>
              </a:rPr>
              <a:t>和</a:t>
            </a:r>
            <a:r>
              <a:rPr lang="zh-CN" altLang="en-US" sz="2400" b="1" dirty="0">
                <a:solidFill>
                  <a:srgbClr val="C00000"/>
                </a:solidFill>
                <a:latin typeface="Microsoft YaHei" panose="020B0503020204020204" pitchFamily="34" charset="-122"/>
                <a:ea typeface="Microsoft YaHei" panose="020B0503020204020204" pitchFamily="34" charset="-122"/>
              </a:rPr>
              <a:t>泄漏</a:t>
            </a:r>
            <a:endParaRPr lang="en-US" altLang="zh-CN" sz="2400" b="1" dirty="0">
              <a:solidFill>
                <a:srgbClr val="C00000"/>
              </a:solidFill>
              <a:latin typeface="Microsoft YaHei" panose="020B0503020204020204" pitchFamily="34" charset="-122"/>
              <a:ea typeface="Microsoft YaHei" panose="020B0503020204020204" pitchFamily="34" charset="-122"/>
            </a:endParaRPr>
          </a:p>
          <a:p>
            <a:pPr marL="6840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應用層面：節點間的交易請求可能出現</a:t>
            </a:r>
            <a:r>
              <a:rPr lang="zh-CN" altLang="en-US" sz="2400" b="1" dirty="0">
                <a:solidFill>
                  <a:srgbClr val="C00000"/>
                </a:solidFill>
                <a:latin typeface="Microsoft YaHei" panose="020B0503020204020204" pitchFamily="34" charset="-122"/>
                <a:ea typeface="Microsoft YaHei" panose="020B0503020204020204" pitchFamily="34" charset="-122"/>
              </a:rPr>
              <a:t>泄漏</a:t>
            </a:r>
            <a:r>
              <a:rPr lang="zh-CN" altLang="en-US" sz="2400" dirty="0">
                <a:latin typeface="Microsoft YaHei" panose="020B0503020204020204" pitchFamily="34" charset="-122"/>
                <a:ea typeface="Microsoft YaHei" panose="020B0503020204020204" pitchFamily="34" charset="-122"/>
              </a:rPr>
              <a:t>、</a:t>
            </a:r>
            <a:r>
              <a:rPr lang="zh-CN" altLang="en-US" sz="2400" b="1" dirty="0">
                <a:solidFill>
                  <a:srgbClr val="C00000"/>
                </a:solidFill>
                <a:latin typeface="Microsoft YaHei" panose="020B0503020204020204" pitchFamily="34" charset="-122"/>
                <a:ea typeface="Microsoft YaHei" panose="020B0503020204020204" pitchFamily="34" charset="-122"/>
              </a:rPr>
              <a:t>重放</a:t>
            </a:r>
            <a:r>
              <a:rPr lang="zh-CN" altLang="en-US" sz="2400" dirty="0">
                <a:latin typeface="Microsoft YaHei" panose="020B0503020204020204" pitchFamily="34" charset="-122"/>
                <a:ea typeface="Microsoft YaHei" panose="020B0503020204020204" pitchFamily="34" charset="-122"/>
              </a:rPr>
              <a:t>、</a:t>
            </a:r>
            <a:r>
              <a:rPr lang="zh-CN" altLang="en-US" sz="2400" b="1" dirty="0">
                <a:solidFill>
                  <a:srgbClr val="C00000"/>
                </a:solidFill>
                <a:latin typeface="Microsoft YaHei" panose="020B0503020204020204" pitchFamily="34" charset="-122"/>
                <a:ea typeface="Microsoft YaHei" panose="020B0503020204020204" pitchFamily="34" charset="-122"/>
              </a:rPr>
              <a:t>篡改和僞造</a:t>
            </a:r>
            <a:endParaRPr lang="en-US" altLang="zh-CN" sz="2400" b="1" dirty="0">
              <a:solidFill>
                <a:srgbClr val="C00000"/>
              </a:solidFill>
              <a:latin typeface="Microsoft YaHei" panose="020B0503020204020204" pitchFamily="34" charset="-122"/>
              <a:ea typeface="Microsoft YaHei" panose="020B0503020204020204" pitchFamily="34" charset="-122"/>
            </a:endParaRPr>
          </a:p>
        </p:txBody>
      </p:sp>
      <p:grpSp>
        <p:nvGrpSpPr>
          <p:cNvPr id="91" name="组合 90">
            <a:extLst>
              <a:ext uri="{FF2B5EF4-FFF2-40B4-BE49-F238E27FC236}">
                <a16:creationId xmlns:a16="http://schemas.microsoft.com/office/drawing/2014/main" id="{DB283408-47E8-384E-8E37-121C9C5C7B63}"/>
              </a:ext>
            </a:extLst>
          </p:cNvPr>
          <p:cNvGrpSpPr/>
          <p:nvPr/>
        </p:nvGrpSpPr>
        <p:grpSpPr>
          <a:xfrm>
            <a:off x="6739280" y="2970946"/>
            <a:ext cx="4706187" cy="3855219"/>
            <a:chOff x="7086531" y="1393643"/>
            <a:chExt cx="4417960" cy="3619109"/>
          </a:xfrm>
        </p:grpSpPr>
        <p:pic>
          <p:nvPicPr>
            <p:cNvPr id="92" name="图形 91" descr="Internet">
              <a:extLst>
                <a:ext uri="{FF2B5EF4-FFF2-40B4-BE49-F238E27FC236}">
                  <a16:creationId xmlns:a16="http://schemas.microsoft.com/office/drawing/2014/main" id="{4F439862-984F-BF45-A195-3A1717B976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86531" y="1404647"/>
              <a:ext cx="696072" cy="740743"/>
            </a:xfrm>
            <a:prstGeom prst="rect">
              <a:avLst/>
            </a:prstGeom>
          </p:spPr>
        </p:pic>
        <p:pic>
          <p:nvPicPr>
            <p:cNvPr id="93" name="图片 92">
              <a:extLst>
                <a:ext uri="{FF2B5EF4-FFF2-40B4-BE49-F238E27FC236}">
                  <a16:creationId xmlns:a16="http://schemas.microsoft.com/office/drawing/2014/main" id="{D3BC0BBE-78B2-174A-A181-E324513B3606}"/>
                </a:ext>
              </a:extLst>
            </p:cNvPr>
            <p:cNvPicPr>
              <a:picLocks noChangeAspect="1"/>
            </p:cNvPicPr>
            <p:nvPr/>
          </p:nvPicPr>
          <p:blipFill>
            <a:blip r:embed="rId5"/>
            <a:stretch>
              <a:fillRect/>
            </a:stretch>
          </p:blipFill>
          <p:spPr>
            <a:xfrm>
              <a:off x="10884806" y="1393643"/>
              <a:ext cx="439372" cy="598293"/>
            </a:xfrm>
            <a:prstGeom prst="rect">
              <a:avLst/>
            </a:prstGeom>
          </p:spPr>
        </p:pic>
        <p:pic>
          <p:nvPicPr>
            <p:cNvPr id="94" name="图形 93">
              <a:extLst>
                <a:ext uri="{FF2B5EF4-FFF2-40B4-BE49-F238E27FC236}">
                  <a16:creationId xmlns:a16="http://schemas.microsoft.com/office/drawing/2014/main" id="{9F0E1503-B3D9-3D4C-AD9D-D2521D6AC96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985668" y="1404647"/>
              <a:ext cx="696073" cy="696073"/>
            </a:xfrm>
            <a:prstGeom prst="rect">
              <a:avLst/>
            </a:prstGeom>
          </p:spPr>
        </p:pic>
        <p:cxnSp>
          <p:nvCxnSpPr>
            <p:cNvPr id="95" name="直线箭头连接符 94">
              <a:extLst>
                <a:ext uri="{FF2B5EF4-FFF2-40B4-BE49-F238E27FC236}">
                  <a16:creationId xmlns:a16="http://schemas.microsoft.com/office/drawing/2014/main" id="{9FA4D875-4BBA-F045-A402-8E22CA217BCE}"/>
                </a:ext>
              </a:extLst>
            </p:cNvPr>
            <p:cNvCxnSpPr>
              <a:cxnSpLocks/>
            </p:cNvCxnSpPr>
            <p:nvPr/>
          </p:nvCxnSpPr>
          <p:spPr>
            <a:xfrm flipV="1">
              <a:off x="7782603" y="1740509"/>
              <a:ext cx="1203065" cy="1"/>
            </a:xfrm>
            <a:prstGeom prst="straightConnector1">
              <a:avLst/>
            </a:prstGeom>
            <a:ln>
              <a:tailEnd type="triangle" w="med" len="lg"/>
            </a:ln>
          </p:spPr>
          <p:style>
            <a:lnRef idx="1">
              <a:schemeClr val="accent1"/>
            </a:lnRef>
            <a:fillRef idx="0">
              <a:schemeClr val="accent1"/>
            </a:fillRef>
            <a:effectRef idx="0">
              <a:schemeClr val="accent1"/>
            </a:effectRef>
            <a:fontRef idx="minor">
              <a:schemeClr val="tx1"/>
            </a:fontRef>
          </p:style>
        </p:cxnSp>
        <p:cxnSp>
          <p:nvCxnSpPr>
            <p:cNvPr id="96" name="直线箭头连接符 95">
              <a:extLst>
                <a:ext uri="{FF2B5EF4-FFF2-40B4-BE49-F238E27FC236}">
                  <a16:creationId xmlns:a16="http://schemas.microsoft.com/office/drawing/2014/main" id="{FBD64615-A8D4-684A-B96A-69E76DEC8D3C}"/>
                </a:ext>
              </a:extLst>
            </p:cNvPr>
            <p:cNvCxnSpPr>
              <a:cxnSpLocks/>
            </p:cNvCxnSpPr>
            <p:nvPr/>
          </p:nvCxnSpPr>
          <p:spPr>
            <a:xfrm flipV="1">
              <a:off x="9673348" y="1709805"/>
              <a:ext cx="1203065" cy="1"/>
            </a:xfrm>
            <a:prstGeom prst="straightConnector1">
              <a:avLst/>
            </a:prstGeom>
            <a:ln>
              <a:tailEnd type="triangle" w="med" len="lg"/>
            </a:ln>
          </p:spPr>
          <p:style>
            <a:lnRef idx="1">
              <a:schemeClr val="accent1"/>
            </a:lnRef>
            <a:fillRef idx="0">
              <a:schemeClr val="accent1"/>
            </a:fillRef>
            <a:effectRef idx="0">
              <a:schemeClr val="accent1"/>
            </a:effectRef>
            <a:fontRef idx="minor">
              <a:schemeClr val="tx1"/>
            </a:fontRef>
          </p:style>
        </p:cxnSp>
        <p:sp>
          <p:nvSpPr>
            <p:cNvPr id="97" name="矩形 96">
              <a:extLst>
                <a:ext uri="{FF2B5EF4-FFF2-40B4-BE49-F238E27FC236}">
                  <a16:creationId xmlns:a16="http://schemas.microsoft.com/office/drawing/2014/main" id="{B7BC498F-01E1-A848-B113-D89A5B177E35}"/>
                </a:ext>
              </a:extLst>
            </p:cNvPr>
            <p:cNvSpPr/>
            <p:nvPr/>
          </p:nvSpPr>
          <p:spPr>
            <a:xfrm>
              <a:off x="7159115" y="2050127"/>
              <a:ext cx="606747" cy="260034"/>
            </a:xfrm>
            <a:prstGeom prst="rect">
              <a:avLst/>
            </a:prstGeom>
          </p:spPr>
          <p:txBody>
            <a:bodyPr wrap="none">
              <a:spAutoFit/>
            </a:bodyPr>
            <a:lstStyle/>
            <a:p>
              <a:r>
                <a:rPr lang="zh-CN" altLang="en-US" sz="1200" dirty="0">
                  <a:latin typeface="Microsoft YaHei" panose="020B0503020204020204" pitchFamily="34" charset="-122"/>
                  <a:ea typeface="Microsoft YaHei" panose="020B0503020204020204" pitchFamily="34" charset="-122"/>
                </a:rPr>
                <a:t>客戶端</a:t>
              </a:r>
              <a:endParaRPr lang="zh-CN" altLang="en-US" sz="1200" dirty="0"/>
            </a:p>
          </p:txBody>
        </p:sp>
        <p:sp>
          <p:nvSpPr>
            <p:cNvPr id="98" name="矩形 97">
              <a:extLst>
                <a:ext uri="{FF2B5EF4-FFF2-40B4-BE49-F238E27FC236}">
                  <a16:creationId xmlns:a16="http://schemas.microsoft.com/office/drawing/2014/main" id="{E12CBE6D-F91E-F945-AA57-EB1B08844BAC}"/>
                </a:ext>
              </a:extLst>
            </p:cNvPr>
            <p:cNvSpPr/>
            <p:nvPr/>
          </p:nvSpPr>
          <p:spPr>
            <a:xfrm>
              <a:off x="8964786" y="2022417"/>
              <a:ext cx="751210" cy="260034"/>
            </a:xfrm>
            <a:prstGeom prst="rect">
              <a:avLst/>
            </a:prstGeom>
          </p:spPr>
          <p:txBody>
            <a:bodyPr wrap="none">
              <a:spAutoFit/>
            </a:bodyPr>
            <a:lstStyle/>
            <a:p>
              <a:r>
                <a:rPr lang="zh-CN" altLang="en-US" sz="1200" dirty="0">
                  <a:latin typeface="Microsoft YaHei" panose="020B0503020204020204" pitchFamily="34" charset="-122"/>
                  <a:ea typeface="Microsoft YaHei" panose="020B0503020204020204" pitchFamily="34" charset="-122"/>
                </a:rPr>
                <a:t>中間節點</a:t>
              </a:r>
              <a:endParaRPr lang="zh-CN" altLang="en-US" sz="1200" dirty="0"/>
            </a:p>
          </p:txBody>
        </p:sp>
        <p:pic>
          <p:nvPicPr>
            <p:cNvPr id="99" name="图片 98">
              <a:extLst>
                <a:ext uri="{FF2B5EF4-FFF2-40B4-BE49-F238E27FC236}">
                  <a16:creationId xmlns:a16="http://schemas.microsoft.com/office/drawing/2014/main" id="{0D6821B0-5B7D-B945-82FC-E093DA439B32}"/>
                </a:ext>
              </a:extLst>
            </p:cNvPr>
            <p:cNvPicPr>
              <a:picLocks noChangeAspect="1"/>
            </p:cNvPicPr>
            <p:nvPr/>
          </p:nvPicPr>
          <p:blipFill>
            <a:blip r:embed="rId8"/>
            <a:stretch>
              <a:fillRect/>
            </a:stretch>
          </p:blipFill>
          <p:spPr>
            <a:xfrm>
              <a:off x="9176587" y="1548635"/>
              <a:ext cx="374426" cy="344349"/>
            </a:xfrm>
            <a:prstGeom prst="rect">
              <a:avLst/>
            </a:prstGeom>
          </p:spPr>
        </p:pic>
        <p:pic>
          <p:nvPicPr>
            <p:cNvPr id="100" name="图形 99" descr="Internet">
              <a:extLst>
                <a:ext uri="{FF2B5EF4-FFF2-40B4-BE49-F238E27FC236}">
                  <a16:creationId xmlns:a16="http://schemas.microsoft.com/office/drawing/2014/main" id="{91FDE17D-0290-F440-B6B8-AD4A1862CB1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96631" y="2659440"/>
              <a:ext cx="696072" cy="740743"/>
            </a:xfrm>
            <a:prstGeom prst="rect">
              <a:avLst/>
            </a:prstGeom>
          </p:spPr>
        </p:pic>
        <p:pic>
          <p:nvPicPr>
            <p:cNvPr id="101" name="图片 100">
              <a:extLst>
                <a:ext uri="{FF2B5EF4-FFF2-40B4-BE49-F238E27FC236}">
                  <a16:creationId xmlns:a16="http://schemas.microsoft.com/office/drawing/2014/main" id="{F94772E8-3738-9047-95A5-34AA55F5E477}"/>
                </a:ext>
              </a:extLst>
            </p:cNvPr>
            <p:cNvPicPr>
              <a:picLocks noChangeAspect="1"/>
            </p:cNvPicPr>
            <p:nvPr/>
          </p:nvPicPr>
          <p:blipFill>
            <a:blip r:embed="rId5"/>
            <a:stretch>
              <a:fillRect/>
            </a:stretch>
          </p:blipFill>
          <p:spPr>
            <a:xfrm>
              <a:off x="10894906" y="2648436"/>
              <a:ext cx="439372" cy="598293"/>
            </a:xfrm>
            <a:prstGeom prst="rect">
              <a:avLst/>
            </a:prstGeom>
          </p:spPr>
        </p:pic>
        <p:pic>
          <p:nvPicPr>
            <p:cNvPr id="102" name="图形 101">
              <a:extLst>
                <a:ext uri="{FF2B5EF4-FFF2-40B4-BE49-F238E27FC236}">
                  <a16:creationId xmlns:a16="http://schemas.microsoft.com/office/drawing/2014/main" id="{2E3369D0-24CD-A64C-B725-912A818E1BD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995768" y="2659440"/>
              <a:ext cx="696073" cy="696073"/>
            </a:xfrm>
            <a:prstGeom prst="rect">
              <a:avLst/>
            </a:prstGeom>
          </p:spPr>
        </p:pic>
        <p:cxnSp>
          <p:nvCxnSpPr>
            <p:cNvPr id="103" name="直线箭头连接符 102">
              <a:extLst>
                <a:ext uri="{FF2B5EF4-FFF2-40B4-BE49-F238E27FC236}">
                  <a16:creationId xmlns:a16="http://schemas.microsoft.com/office/drawing/2014/main" id="{F7C8B130-1F2E-4747-A3F7-5C1A09B2E7BD}"/>
                </a:ext>
              </a:extLst>
            </p:cNvPr>
            <p:cNvCxnSpPr>
              <a:cxnSpLocks/>
            </p:cNvCxnSpPr>
            <p:nvPr/>
          </p:nvCxnSpPr>
          <p:spPr>
            <a:xfrm flipV="1">
              <a:off x="7792703" y="2995302"/>
              <a:ext cx="1203065" cy="1"/>
            </a:xfrm>
            <a:prstGeom prst="straightConnector1">
              <a:avLst/>
            </a:prstGeom>
            <a:ln>
              <a:tailEnd type="triangle" w="med" len="lg"/>
            </a:ln>
          </p:spPr>
          <p:style>
            <a:lnRef idx="1">
              <a:schemeClr val="accent1"/>
            </a:lnRef>
            <a:fillRef idx="0">
              <a:schemeClr val="accent1"/>
            </a:fillRef>
            <a:effectRef idx="0">
              <a:schemeClr val="accent1"/>
            </a:effectRef>
            <a:fontRef idx="minor">
              <a:schemeClr val="tx1"/>
            </a:fontRef>
          </p:style>
        </p:cxnSp>
        <p:cxnSp>
          <p:nvCxnSpPr>
            <p:cNvPr id="104" name="直线箭头连接符 103">
              <a:extLst>
                <a:ext uri="{FF2B5EF4-FFF2-40B4-BE49-F238E27FC236}">
                  <a16:creationId xmlns:a16="http://schemas.microsoft.com/office/drawing/2014/main" id="{E8362873-90BD-2A4B-AB49-6BA162183D34}"/>
                </a:ext>
              </a:extLst>
            </p:cNvPr>
            <p:cNvCxnSpPr>
              <a:cxnSpLocks/>
            </p:cNvCxnSpPr>
            <p:nvPr/>
          </p:nvCxnSpPr>
          <p:spPr>
            <a:xfrm flipV="1">
              <a:off x="9683448" y="2964598"/>
              <a:ext cx="1203065" cy="1"/>
            </a:xfrm>
            <a:prstGeom prst="straightConnector1">
              <a:avLst/>
            </a:prstGeom>
            <a:ln>
              <a:tailEnd type="triangle" w="med" len="lg"/>
            </a:ln>
          </p:spPr>
          <p:style>
            <a:lnRef idx="1">
              <a:schemeClr val="accent1"/>
            </a:lnRef>
            <a:fillRef idx="0">
              <a:schemeClr val="accent1"/>
            </a:fillRef>
            <a:effectRef idx="0">
              <a:schemeClr val="accent1"/>
            </a:effectRef>
            <a:fontRef idx="minor">
              <a:schemeClr val="tx1"/>
            </a:fontRef>
          </p:style>
        </p:cxnSp>
        <p:sp>
          <p:nvSpPr>
            <p:cNvPr id="105" name="矩形 104">
              <a:extLst>
                <a:ext uri="{FF2B5EF4-FFF2-40B4-BE49-F238E27FC236}">
                  <a16:creationId xmlns:a16="http://schemas.microsoft.com/office/drawing/2014/main" id="{3865EAC6-1244-9340-916D-CB0F834748DA}"/>
                </a:ext>
              </a:extLst>
            </p:cNvPr>
            <p:cNvSpPr/>
            <p:nvPr/>
          </p:nvSpPr>
          <p:spPr>
            <a:xfrm>
              <a:off x="7169215" y="3304920"/>
              <a:ext cx="606747" cy="260034"/>
            </a:xfrm>
            <a:prstGeom prst="rect">
              <a:avLst/>
            </a:prstGeom>
          </p:spPr>
          <p:txBody>
            <a:bodyPr wrap="none">
              <a:spAutoFit/>
            </a:bodyPr>
            <a:lstStyle/>
            <a:p>
              <a:r>
                <a:rPr lang="zh-CN" altLang="en-US" sz="1200" dirty="0">
                  <a:latin typeface="Microsoft YaHei" panose="020B0503020204020204" pitchFamily="34" charset="-122"/>
                  <a:ea typeface="Microsoft YaHei" panose="020B0503020204020204" pitchFamily="34" charset="-122"/>
                </a:rPr>
                <a:t>客戶端</a:t>
              </a:r>
              <a:endParaRPr lang="zh-CN" altLang="en-US" sz="1200" dirty="0"/>
            </a:p>
          </p:txBody>
        </p:sp>
        <p:sp>
          <p:nvSpPr>
            <p:cNvPr id="106" name="矩形 105">
              <a:extLst>
                <a:ext uri="{FF2B5EF4-FFF2-40B4-BE49-F238E27FC236}">
                  <a16:creationId xmlns:a16="http://schemas.microsoft.com/office/drawing/2014/main" id="{25AA844B-02AC-9144-BAAA-3E647DCF72BE}"/>
                </a:ext>
              </a:extLst>
            </p:cNvPr>
            <p:cNvSpPr/>
            <p:nvPr/>
          </p:nvSpPr>
          <p:spPr>
            <a:xfrm>
              <a:off x="8974887" y="3277210"/>
              <a:ext cx="751210" cy="260034"/>
            </a:xfrm>
            <a:prstGeom prst="rect">
              <a:avLst/>
            </a:prstGeom>
          </p:spPr>
          <p:txBody>
            <a:bodyPr wrap="none">
              <a:spAutoFit/>
            </a:bodyPr>
            <a:lstStyle/>
            <a:p>
              <a:r>
                <a:rPr lang="zh-CN" altLang="en-US" sz="1200" dirty="0">
                  <a:latin typeface="Microsoft YaHei" panose="020B0503020204020204" pitchFamily="34" charset="-122"/>
                  <a:ea typeface="Microsoft YaHei" panose="020B0503020204020204" pitchFamily="34" charset="-122"/>
                </a:rPr>
                <a:t>中間節點</a:t>
              </a:r>
              <a:endParaRPr lang="zh-CN" altLang="en-US" sz="1200" dirty="0"/>
            </a:p>
          </p:txBody>
        </p:sp>
        <p:pic>
          <p:nvPicPr>
            <p:cNvPr id="107" name="图片 106">
              <a:extLst>
                <a:ext uri="{FF2B5EF4-FFF2-40B4-BE49-F238E27FC236}">
                  <a16:creationId xmlns:a16="http://schemas.microsoft.com/office/drawing/2014/main" id="{D410CF63-C7FC-EC4E-A177-9ABABF688AC7}"/>
                </a:ext>
              </a:extLst>
            </p:cNvPr>
            <p:cNvPicPr>
              <a:picLocks noChangeAspect="1"/>
            </p:cNvPicPr>
            <p:nvPr/>
          </p:nvPicPr>
          <p:blipFill>
            <a:blip r:embed="rId8"/>
            <a:stretch>
              <a:fillRect/>
            </a:stretch>
          </p:blipFill>
          <p:spPr>
            <a:xfrm>
              <a:off x="9752305" y="4339391"/>
              <a:ext cx="374426" cy="344349"/>
            </a:xfrm>
            <a:prstGeom prst="rect">
              <a:avLst/>
            </a:prstGeom>
          </p:spPr>
        </p:pic>
        <p:pic>
          <p:nvPicPr>
            <p:cNvPr id="108" name="图形 107" descr="Internet">
              <a:extLst>
                <a:ext uri="{FF2B5EF4-FFF2-40B4-BE49-F238E27FC236}">
                  <a16:creationId xmlns:a16="http://schemas.microsoft.com/office/drawing/2014/main" id="{BC020AA0-9010-AE4C-897E-49E86938A5F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34467" y="4140232"/>
              <a:ext cx="696072" cy="740743"/>
            </a:xfrm>
            <a:prstGeom prst="rect">
              <a:avLst/>
            </a:prstGeom>
          </p:spPr>
        </p:pic>
        <p:sp>
          <p:nvSpPr>
            <p:cNvPr id="109" name="矩形 108">
              <a:extLst>
                <a:ext uri="{FF2B5EF4-FFF2-40B4-BE49-F238E27FC236}">
                  <a16:creationId xmlns:a16="http://schemas.microsoft.com/office/drawing/2014/main" id="{538DDA2C-770D-8948-BC19-B25C9BB91CCF}"/>
                </a:ext>
              </a:extLst>
            </p:cNvPr>
            <p:cNvSpPr/>
            <p:nvPr/>
          </p:nvSpPr>
          <p:spPr>
            <a:xfrm>
              <a:off x="9039193" y="4752718"/>
              <a:ext cx="751210" cy="260034"/>
            </a:xfrm>
            <a:prstGeom prst="rect">
              <a:avLst/>
            </a:prstGeom>
          </p:spPr>
          <p:txBody>
            <a:bodyPr wrap="none">
              <a:spAutoFit/>
            </a:bodyPr>
            <a:lstStyle/>
            <a:p>
              <a:r>
                <a:rPr lang="zh-CN" altLang="en-US" sz="1200" dirty="0">
                  <a:latin typeface="Microsoft YaHei" panose="020B0503020204020204" pitchFamily="34" charset="-122"/>
                  <a:ea typeface="Microsoft YaHei" panose="020B0503020204020204" pitchFamily="34" charset="-122"/>
                </a:rPr>
                <a:t>其它節點</a:t>
              </a:r>
              <a:endParaRPr lang="zh-CN" altLang="en-US" sz="1200" dirty="0"/>
            </a:p>
          </p:txBody>
        </p:sp>
        <p:sp>
          <p:nvSpPr>
            <p:cNvPr id="110" name="矩形 109">
              <a:extLst>
                <a:ext uri="{FF2B5EF4-FFF2-40B4-BE49-F238E27FC236}">
                  <a16:creationId xmlns:a16="http://schemas.microsoft.com/office/drawing/2014/main" id="{91B2F9C4-7A28-554C-BC7A-BA4A730CF4C4}"/>
                </a:ext>
              </a:extLst>
            </p:cNvPr>
            <p:cNvSpPr/>
            <p:nvPr/>
          </p:nvSpPr>
          <p:spPr>
            <a:xfrm>
              <a:off x="10710617" y="1993040"/>
              <a:ext cx="751210" cy="433391"/>
            </a:xfrm>
            <a:prstGeom prst="rect">
              <a:avLst/>
            </a:prstGeom>
          </p:spPr>
          <p:txBody>
            <a:bodyPr wrap="none">
              <a:spAutoFit/>
            </a:bodyPr>
            <a:lstStyle/>
            <a:p>
              <a:pPr algn="ctr"/>
              <a:r>
                <a:rPr lang="zh-CN" altLang="en-US" sz="1200" dirty="0">
                  <a:latin typeface="Microsoft YaHei" panose="020B0503020204020204" pitchFamily="34" charset="-122"/>
                  <a:ea typeface="Microsoft YaHei" panose="020B0503020204020204" pitchFamily="34" charset="-122"/>
                </a:rPr>
                <a:t>服務端</a:t>
              </a:r>
              <a:r>
                <a:rPr lang="en-US" altLang="zh-CN" sz="1200" dirty="0">
                  <a:latin typeface="Microsoft YaHei" panose="020B0503020204020204" pitchFamily="34" charset="-122"/>
                  <a:ea typeface="Microsoft YaHei" panose="020B0503020204020204" pitchFamily="34" charset="-122"/>
                </a:rPr>
                <a:t>/</a:t>
              </a:r>
            </a:p>
            <a:p>
              <a:pPr algn="ctr"/>
              <a:r>
                <a:rPr lang="zh-CN" altLang="en-US" sz="1200" dirty="0">
                  <a:latin typeface="Microsoft YaHei" panose="020B0503020204020204" pitchFamily="34" charset="-122"/>
                  <a:ea typeface="Microsoft YaHei" panose="020B0503020204020204" pitchFamily="34" charset="-122"/>
                </a:rPr>
                <a:t>對等節點</a:t>
              </a:r>
              <a:endParaRPr lang="zh-CN" altLang="en-US" sz="1200" dirty="0"/>
            </a:p>
          </p:txBody>
        </p:sp>
        <p:sp>
          <p:nvSpPr>
            <p:cNvPr id="111" name="矩形 110">
              <a:extLst>
                <a:ext uri="{FF2B5EF4-FFF2-40B4-BE49-F238E27FC236}">
                  <a16:creationId xmlns:a16="http://schemas.microsoft.com/office/drawing/2014/main" id="{FC3B53BB-83C9-5F4D-9DA9-EFA5EA8762D6}"/>
                </a:ext>
              </a:extLst>
            </p:cNvPr>
            <p:cNvSpPr/>
            <p:nvPr/>
          </p:nvSpPr>
          <p:spPr>
            <a:xfrm>
              <a:off x="10753281" y="3274763"/>
              <a:ext cx="751210" cy="433391"/>
            </a:xfrm>
            <a:prstGeom prst="rect">
              <a:avLst/>
            </a:prstGeom>
          </p:spPr>
          <p:txBody>
            <a:bodyPr wrap="none">
              <a:spAutoFit/>
            </a:bodyPr>
            <a:lstStyle/>
            <a:p>
              <a:pPr algn="ctr"/>
              <a:r>
                <a:rPr lang="zh-CN" altLang="en-US" sz="1200" dirty="0">
                  <a:latin typeface="Microsoft YaHei" panose="020B0503020204020204" pitchFamily="34" charset="-122"/>
                  <a:ea typeface="Microsoft YaHei" panose="020B0503020204020204" pitchFamily="34" charset="-122"/>
                </a:rPr>
                <a:t>服務端</a:t>
              </a:r>
              <a:r>
                <a:rPr lang="en-US" altLang="zh-CN" sz="1200" dirty="0">
                  <a:latin typeface="Microsoft YaHei" panose="020B0503020204020204" pitchFamily="34" charset="-122"/>
                  <a:ea typeface="Microsoft YaHei" panose="020B0503020204020204" pitchFamily="34" charset="-122"/>
                </a:rPr>
                <a:t>/</a:t>
              </a:r>
            </a:p>
            <a:p>
              <a:pPr algn="ctr"/>
              <a:r>
                <a:rPr lang="zh-CN" altLang="en-US" sz="1200" dirty="0">
                  <a:latin typeface="Microsoft YaHei" panose="020B0503020204020204" pitchFamily="34" charset="-122"/>
                  <a:ea typeface="Microsoft YaHei" panose="020B0503020204020204" pitchFamily="34" charset="-122"/>
                </a:rPr>
                <a:t>對等節點</a:t>
              </a:r>
              <a:endParaRPr lang="zh-CN" altLang="en-US" sz="1200" dirty="0"/>
            </a:p>
          </p:txBody>
        </p:sp>
        <p:cxnSp>
          <p:nvCxnSpPr>
            <p:cNvPr id="112" name="直线箭头连接符 111">
              <a:extLst>
                <a:ext uri="{FF2B5EF4-FFF2-40B4-BE49-F238E27FC236}">
                  <a16:creationId xmlns:a16="http://schemas.microsoft.com/office/drawing/2014/main" id="{C13AD935-C229-F146-86BE-54762BAC61FA}"/>
                </a:ext>
              </a:extLst>
            </p:cNvPr>
            <p:cNvCxnSpPr>
              <a:cxnSpLocks/>
              <a:stCxn id="108" idx="0"/>
              <a:endCxn id="106" idx="2"/>
            </p:cNvCxnSpPr>
            <p:nvPr/>
          </p:nvCxnSpPr>
          <p:spPr>
            <a:xfrm flipH="1" flipV="1">
              <a:off x="9350492" y="3537245"/>
              <a:ext cx="32011" cy="602987"/>
            </a:xfrm>
            <a:prstGeom prst="straightConnector1">
              <a:avLst/>
            </a:prstGeom>
            <a:ln>
              <a:tailEnd type="triangle" w="med" len="lg"/>
            </a:ln>
          </p:spPr>
          <p:style>
            <a:lnRef idx="1">
              <a:schemeClr val="accent4"/>
            </a:lnRef>
            <a:fillRef idx="0">
              <a:schemeClr val="accent4"/>
            </a:fillRef>
            <a:effectRef idx="0">
              <a:schemeClr val="accent4"/>
            </a:effectRef>
            <a:fontRef idx="minor">
              <a:schemeClr val="tx1"/>
            </a:fontRef>
          </p:style>
        </p:cxnSp>
        <p:sp>
          <p:nvSpPr>
            <p:cNvPr id="113" name="矩形 112">
              <a:extLst>
                <a:ext uri="{FF2B5EF4-FFF2-40B4-BE49-F238E27FC236}">
                  <a16:creationId xmlns:a16="http://schemas.microsoft.com/office/drawing/2014/main" id="{C7882322-9868-7E4E-8A93-1A3941CD17F6}"/>
                </a:ext>
              </a:extLst>
            </p:cNvPr>
            <p:cNvSpPr/>
            <p:nvPr/>
          </p:nvSpPr>
          <p:spPr>
            <a:xfrm>
              <a:off x="8749632" y="3673839"/>
              <a:ext cx="652166" cy="276999"/>
            </a:xfrm>
            <a:prstGeom prst="rect">
              <a:avLst/>
            </a:prstGeom>
          </p:spPr>
          <p:txBody>
            <a:bodyPr wrap="none">
              <a:spAutoFit/>
            </a:bodyPr>
            <a:lstStyle/>
            <a:p>
              <a:r>
                <a:rPr lang="en-US" altLang="zh-CN" sz="1200" dirty="0">
                  <a:latin typeface="Microsoft YaHei" panose="020B0503020204020204" pitchFamily="34" charset="-122"/>
                  <a:ea typeface="Microsoft YaHei" panose="020B0503020204020204" pitchFamily="34" charset="-122"/>
                </a:rPr>
                <a:t>Attack</a:t>
              </a:r>
              <a:endParaRPr lang="zh-CN" altLang="en-US" sz="1200" dirty="0"/>
            </a:p>
          </p:txBody>
        </p:sp>
        <p:cxnSp>
          <p:nvCxnSpPr>
            <p:cNvPr id="114" name="直线箭头连接符 113">
              <a:extLst>
                <a:ext uri="{FF2B5EF4-FFF2-40B4-BE49-F238E27FC236}">
                  <a16:creationId xmlns:a16="http://schemas.microsoft.com/office/drawing/2014/main" id="{C39665F3-78E2-C94A-940A-C4578646F80D}"/>
                </a:ext>
              </a:extLst>
            </p:cNvPr>
            <p:cNvCxnSpPr>
              <a:cxnSpLocks/>
              <a:stCxn id="108" idx="0"/>
              <a:endCxn id="105" idx="3"/>
            </p:cNvCxnSpPr>
            <p:nvPr/>
          </p:nvCxnSpPr>
          <p:spPr>
            <a:xfrm flipH="1" flipV="1">
              <a:off x="7775962" y="3434937"/>
              <a:ext cx="1606541" cy="705295"/>
            </a:xfrm>
            <a:prstGeom prst="straightConnector1">
              <a:avLst/>
            </a:prstGeom>
            <a:ln>
              <a:tailEnd type="triangle" w="med" len="lg"/>
            </a:ln>
          </p:spPr>
          <p:style>
            <a:lnRef idx="1">
              <a:schemeClr val="accent4"/>
            </a:lnRef>
            <a:fillRef idx="0">
              <a:schemeClr val="accent4"/>
            </a:fillRef>
            <a:effectRef idx="0">
              <a:schemeClr val="accent4"/>
            </a:effectRef>
            <a:fontRef idx="minor">
              <a:schemeClr val="tx1"/>
            </a:fontRef>
          </p:style>
        </p:cxnSp>
        <p:cxnSp>
          <p:nvCxnSpPr>
            <p:cNvPr id="115" name="直线箭头连接符 114">
              <a:extLst>
                <a:ext uri="{FF2B5EF4-FFF2-40B4-BE49-F238E27FC236}">
                  <a16:creationId xmlns:a16="http://schemas.microsoft.com/office/drawing/2014/main" id="{342F3EC0-0636-7249-AA08-AFD3D262AB0D}"/>
                </a:ext>
              </a:extLst>
            </p:cNvPr>
            <p:cNvCxnSpPr>
              <a:cxnSpLocks/>
              <a:stCxn id="108" idx="0"/>
            </p:cNvCxnSpPr>
            <p:nvPr/>
          </p:nvCxnSpPr>
          <p:spPr>
            <a:xfrm flipV="1">
              <a:off x="9382503" y="3355512"/>
              <a:ext cx="1427529" cy="784720"/>
            </a:xfrm>
            <a:prstGeom prst="straightConnector1">
              <a:avLst/>
            </a:prstGeom>
            <a:ln>
              <a:tailEnd type="triangle" w="med" len="lg"/>
            </a:ln>
          </p:spPr>
          <p:style>
            <a:lnRef idx="1">
              <a:schemeClr val="accent4"/>
            </a:lnRef>
            <a:fillRef idx="0">
              <a:schemeClr val="accent4"/>
            </a:fillRef>
            <a:effectRef idx="0">
              <a:schemeClr val="accent4"/>
            </a:effectRef>
            <a:fontRef idx="minor">
              <a:schemeClr val="tx1"/>
            </a:fontRef>
          </p:style>
        </p:cxnSp>
      </p:grpSp>
      <p:sp>
        <p:nvSpPr>
          <p:cNvPr id="116" name="矩形 115">
            <a:extLst>
              <a:ext uri="{FF2B5EF4-FFF2-40B4-BE49-F238E27FC236}">
                <a16:creationId xmlns:a16="http://schemas.microsoft.com/office/drawing/2014/main" id="{FF507BDE-B7C3-024F-A77F-EDDF3A4A6A47}"/>
              </a:ext>
            </a:extLst>
          </p:cNvPr>
          <p:cNvSpPr/>
          <p:nvPr/>
        </p:nvSpPr>
        <p:spPr>
          <a:xfrm>
            <a:off x="672414" y="2924993"/>
            <a:ext cx="5899352" cy="3429529"/>
          </a:xfrm>
          <a:prstGeom prst="rect">
            <a:avLst/>
          </a:prstGeom>
          <a:ln>
            <a:solidFill>
              <a:srgbClr val="00B0F0"/>
            </a:solidFill>
          </a:ln>
        </p:spPr>
        <p:txBody>
          <a:bodyPr wrap="square">
            <a:spAutoFit/>
          </a:bodyPr>
          <a:lstStyle/>
          <a:p>
            <a:pPr marL="3429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根據攻擊者的位置分類</a:t>
            </a:r>
            <a:endParaRPr lang="en-US" altLang="zh-CN" sz="2400" dirty="0">
              <a:latin typeface="Microsoft YaHei" panose="020B0503020204020204" pitchFamily="34" charset="-122"/>
              <a:ea typeface="Microsoft YaHei" panose="020B0503020204020204" pitchFamily="34" charset="-122"/>
            </a:endParaRPr>
          </a:p>
          <a:p>
            <a:pPr marL="6840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b="1" dirty="0">
                <a:solidFill>
                  <a:srgbClr val="C00000"/>
                </a:solidFill>
                <a:latin typeface="Microsoft YaHei" panose="020B0503020204020204" pitchFamily="34" charset="-122"/>
                <a:ea typeface="Microsoft YaHei" panose="020B0503020204020204" pitchFamily="34" charset="-122"/>
              </a:rPr>
              <a:t>中間轉發節點：</a:t>
            </a:r>
            <a:r>
              <a:rPr lang="zh-CN" altLang="en-US" sz="2400" dirty="0">
                <a:latin typeface="Microsoft YaHei" panose="020B0503020204020204" pitchFamily="34" charset="-122"/>
                <a:ea typeface="Microsoft YaHei" panose="020B0503020204020204" pitchFamily="34" charset="-122"/>
              </a:rPr>
              <a:t>直接參與轉發數據包，攻擊能力强，可以監聽、篡改、僞造、重放、延遲甚至丟弃轉發信息</a:t>
            </a:r>
            <a:endParaRPr lang="en-US" altLang="zh-CN" sz="2400" dirty="0">
              <a:latin typeface="Microsoft YaHei" panose="020B0503020204020204" pitchFamily="34" charset="-122"/>
              <a:ea typeface="Microsoft YaHei" panose="020B0503020204020204" pitchFamily="34" charset="-122"/>
            </a:endParaRPr>
          </a:p>
          <a:p>
            <a:pPr marL="6840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b="1" dirty="0">
                <a:solidFill>
                  <a:srgbClr val="C00000"/>
                </a:solidFill>
                <a:latin typeface="Microsoft YaHei" panose="020B0503020204020204" pitchFamily="34" charset="-122"/>
                <a:ea typeface="Microsoft YaHei" panose="020B0503020204020204" pitchFamily="34" charset="-122"/>
              </a:rPr>
              <a:t>其它節點：</a:t>
            </a:r>
            <a:r>
              <a:rPr lang="zh-CN" altLang="en-US" sz="2400" dirty="0">
                <a:latin typeface="Microsoft YaHei" panose="020B0503020204020204" pitchFamily="34" charset="-122"/>
                <a:ea typeface="Microsoft YaHei" panose="020B0503020204020204" pitchFamily="34" charset="-122"/>
              </a:rPr>
              <a:t>攻擊能力較弱，但能够通過</a:t>
            </a:r>
            <a:r>
              <a:rPr lang="en-US" altLang="zh-CN" sz="2400" dirty="0">
                <a:latin typeface="Microsoft YaHei" panose="020B0503020204020204" pitchFamily="34" charset="-122"/>
                <a:ea typeface="Microsoft YaHei" panose="020B0503020204020204" pitchFamily="34" charset="-122"/>
              </a:rPr>
              <a:t>DDoS</a:t>
            </a:r>
            <a:r>
              <a:rPr lang="zh-CN" altLang="en-US" sz="2400" dirty="0">
                <a:latin typeface="Microsoft YaHei" panose="020B0503020204020204" pitchFamily="34" charset="-122"/>
                <a:ea typeface="Microsoft YaHei" panose="020B0503020204020204" pitchFamily="34" charset="-122"/>
              </a:rPr>
              <a:t>、中間人等攻擊影響交互信道</a:t>
            </a:r>
            <a:endParaRPr lang="en-US" altLang="zh-CN" sz="2400" dirty="0">
              <a:latin typeface="Microsoft YaHei" panose="020B0503020204020204" pitchFamily="34" charset="-122"/>
              <a:ea typeface="Microsoft YaHei" panose="020B0503020204020204" pitchFamily="34" charset="-122"/>
            </a:endParaRPr>
          </a:p>
        </p:txBody>
      </p:sp>
      <p:sp>
        <p:nvSpPr>
          <p:cNvPr id="30" name="灯片编号占位符 2">
            <a:extLst>
              <a:ext uri="{FF2B5EF4-FFF2-40B4-BE49-F238E27FC236}">
                <a16:creationId xmlns:a16="http://schemas.microsoft.com/office/drawing/2014/main" id="{E0E322F0-F446-774F-BFA9-D5D0AE6D3D6B}"/>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15</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3429367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41">
            <a:extLst>
              <a:ext uri="{FF2B5EF4-FFF2-40B4-BE49-F238E27FC236}">
                <a16:creationId xmlns:a16="http://schemas.microsoft.com/office/drawing/2014/main" id="{81916A74-5CD4-7D41-A460-B6D3A5BDD153}"/>
              </a:ext>
            </a:extLst>
          </p:cNvPr>
          <p:cNvSpPr/>
          <p:nvPr/>
        </p:nvSpPr>
        <p:spPr>
          <a:xfrm>
            <a:off x="749496" y="1122466"/>
            <a:ext cx="4694701" cy="2797048"/>
          </a:xfrm>
          <a:prstGeom prst="rect">
            <a:avLst/>
          </a:prstGeom>
          <a:ln>
            <a:solidFill>
              <a:srgbClr val="00B0F0"/>
            </a:solidFill>
          </a:ln>
        </p:spPr>
        <p:txBody>
          <a:bodyPr wrap="square">
            <a:spAutoFit/>
          </a:bodyPr>
          <a:lstStyle/>
          <a:p>
            <a:pPr marL="342900" lvl="1" indent="-342900" algn="just" fontAlgn="base">
              <a:lnSpc>
                <a:spcPct val="150000"/>
              </a:lnSpc>
              <a:spcBef>
                <a:spcPct val="20000"/>
              </a:spcBef>
              <a:spcAft>
                <a:spcPct val="0"/>
              </a:spcAft>
              <a:buSzPct val="100000"/>
              <a:buFont typeface="Arial" panose="020B0604020202020204" pitchFamily="34" charset="0"/>
              <a:buChar char="•"/>
            </a:pPr>
            <a:r>
              <a:rPr lang="zh-CN" altLang="en-US" sz="2400" b="1" dirty="0">
                <a:solidFill>
                  <a:srgbClr val="C00000"/>
                </a:solidFill>
                <a:latin typeface="Microsoft YaHei" panose="020B0503020204020204" pitchFamily="34" charset="-122"/>
                <a:ea typeface="Microsoft YaHei" panose="020B0503020204020204" pitchFamily="34" charset="-122"/>
              </a:rPr>
              <a:t>數據包丟失和重複：</a:t>
            </a:r>
            <a:r>
              <a:rPr lang="zh-CN" altLang="en-US" sz="2400" dirty="0">
                <a:latin typeface="Microsoft YaHei" panose="020B0503020204020204" pitchFamily="34" charset="-122"/>
                <a:ea typeface="Microsoft YaHei" panose="020B0503020204020204" pitchFamily="34" charset="-122"/>
              </a:rPr>
              <a:t>當網絡出現擁塞或被攻擊時，客戶端發送的數據包可能會丟失；此時客戶端重傳數據包可能導致服務端收到重複數據包</a:t>
            </a:r>
            <a:endParaRPr lang="en-US" altLang="zh-CN" sz="2400" dirty="0">
              <a:latin typeface="Microsoft YaHei" panose="020B0503020204020204" pitchFamily="34" charset="-122"/>
              <a:ea typeface="Microsoft YaHei" panose="020B0503020204020204" pitchFamily="34" charset="-122"/>
            </a:endParaRPr>
          </a:p>
        </p:txBody>
      </p:sp>
      <p:pic>
        <p:nvPicPr>
          <p:cNvPr id="7" name="图形 6" descr="Internet">
            <a:extLst>
              <a:ext uri="{FF2B5EF4-FFF2-40B4-BE49-F238E27FC236}">
                <a16:creationId xmlns:a16="http://schemas.microsoft.com/office/drawing/2014/main" id="{9D2316E2-E747-1640-8139-B0E8DFC21B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03017" y="1405664"/>
            <a:ext cx="959069" cy="1020617"/>
          </a:xfrm>
          <a:prstGeom prst="rect">
            <a:avLst/>
          </a:prstGeom>
        </p:spPr>
      </p:pic>
      <p:pic>
        <p:nvPicPr>
          <p:cNvPr id="8" name="图片 7">
            <a:extLst>
              <a:ext uri="{FF2B5EF4-FFF2-40B4-BE49-F238E27FC236}">
                <a16:creationId xmlns:a16="http://schemas.microsoft.com/office/drawing/2014/main" id="{0D210C44-1558-854B-8FA7-9B19EB34DC77}"/>
              </a:ext>
            </a:extLst>
          </p:cNvPr>
          <p:cNvPicPr>
            <a:picLocks noChangeAspect="1"/>
          </p:cNvPicPr>
          <p:nvPr/>
        </p:nvPicPr>
        <p:blipFill>
          <a:blip r:embed="rId4"/>
          <a:stretch>
            <a:fillRect/>
          </a:stretch>
        </p:blipFill>
        <p:spPr>
          <a:xfrm>
            <a:off x="11036391" y="1390503"/>
            <a:ext cx="605379" cy="824346"/>
          </a:xfrm>
          <a:prstGeom prst="rect">
            <a:avLst/>
          </a:prstGeom>
        </p:spPr>
      </p:pic>
      <p:pic>
        <p:nvPicPr>
          <p:cNvPr id="17" name="图形 16">
            <a:extLst>
              <a:ext uri="{FF2B5EF4-FFF2-40B4-BE49-F238E27FC236}">
                <a16:creationId xmlns:a16="http://schemas.microsoft.com/office/drawing/2014/main" id="{2D1E5512-11D7-4A43-99CE-9ADD9A3B986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419704" y="1405664"/>
            <a:ext cx="959070" cy="959070"/>
          </a:xfrm>
          <a:prstGeom prst="rect">
            <a:avLst/>
          </a:prstGeom>
        </p:spPr>
      </p:pic>
      <p:cxnSp>
        <p:nvCxnSpPr>
          <p:cNvPr id="20" name="直线箭头连接符 19">
            <a:extLst>
              <a:ext uri="{FF2B5EF4-FFF2-40B4-BE49-F238E27FC236}">
                <a16:creationId xmlns:a16="http://schemas.microsoft.com/office/drawing/2014/main" id="{D765825A-B956-5B4C-9891-127421A627BB}"/>
              </a:ext>
            </a:extLst>
          </p:cNvPr>
          <p:cNvCxnSpPr>
            <a:cxnSpLocks/>
          </p:cNvCxnSpPr>
          <p:nvPr/>
        </p:nvCxnSpPr>
        <p:spPr>
          <a:xfrm flipV="1">
            <a:off x="6762086" y="1868425"/>
            <a:ext cx="1657618" cy="1"/>
          </a:xfrm>
          <a:prstGeom prst="straightConnector1">
            <a:avLst/>
          </a:prstGeom>
          <a:ln>
            <a:tailEnd type="triangle" w="med" len="lg"/>
          </a:ln>
        </p:spPr>
        <p:style>
          <a:lnRef idx="1">
            <a:schemeClr val="accent1"/>
          </a:lnRef>
          <a:fillRef idx="0">
            <a:schemeClr val="accent1"/>
          </a:fillRef>
          <a:effectRef idx="0">
            <a:schemeClr val="accent1"/>
          </a:effectRef>
          <a:fontRef idx="minor">
            <a:schemeClr val="tx1"/>
          </a:fontRef>
        </p:style>
      </p:cxnSp>
      <p:cxnSp>
        <p:nvCxnSpPr>
          <p:cNvPr id="22" name="直线箭头连接符 21">
            <a:extLst>
              <a:ext uri="{FF2B5EF4-FFF2-40B4-BE49-F238E27FC236}">
                <a16:creationId xmlns:a16="http://schemas.microsoft.com/office/drawing/2014/main" id="{6212E0DF-25A2-1840-83AF-D7CF629A096D}"/>
              </a:ext>
            </a:extLst>
          </p:cNvPr>
          <p:cNvCxnSpPr>
            <a:cxnSpLocks/>
          </p:cNvCxnSpPr>
          <p:nvPr/>
        </p:nvCxnSpPr>
        <p:spPr>
          <a:xfrm flipV="1">
            <a:off x="9367209" y="1826120"/>
            <a:ext cx="1657618" cy="1"/>
          </a:xfrm>
          <a:prstGeom prst="straightConnector1">
            <a:avLst/>
          </a:prstGeom>
          <a:ln>
            <a:tailEnd type="triangle" w="med" len="lg"/>
          </a:ln>
        </p:spPr>
        <p:style>
          <a:lnRef idx="1">
            <a:schemeClr val="accent4"/>
          </a:lnRef>
          <a:fillRef idx="0">
            <a:schemeClr val="accent4"/>
          </a:fillRef>
          <a:effectRef idx="0">
            <a:schemeClr val="accent4"/>
          </a:effectRef>
          <a:fontRef idx="minor">
            <a:schemeClr val="tx1"/>
          </a:fontRef>
        </p:style>
      </p:cxnSp>
      <p:sp>
        <p:nvSpPr>
          <p:cNvPr id="36" name="矩形 35">
            <a:extLst>
              <a:ext uri="{FF2B5EF4-FFF2-40B4-BE49-F238E27FC236}">
                <a16:creationId xmlns:a16="http://schemas.microsoft.com/office/drawing/2014/main" id="{B3590DD3-9740-8942-857A-0446602AAA5A}"/>
              </a:ext>
            </a:extLst>
          </p:cNvPr>
          <p:cNvSpPr/>
          <p:nvPr/>
        </p:nvSpPr>
        <p:spPr>
          <a:xfrm>
            <a:off x="5903025" y="2295025"/>
            <a:ext cx="877163" cy="369332"/>
          </a:xfrm>
          <a:prstGeom prst="rect">
            <a:avLst/>
          </a:prstGeom>
        </p:spPr>
        <p:txBody>
          <a:bodyPr wrap="none">
            <a:spAutoFit/>
          </a:bodyPr>
          <a:lstStyle/>
          <a:p>
            <a:r>
              <a:rPr lang="zh-CN" altLang="en-US" dirty="0">
                <a:latin typeface="Microsoft YaHei" panose="020B0503020204020204" pitchFamily="34" charset="-122"/>
                <a:ea typeface="Microsoft YaHei" panose="020B0503020204020204" pitchFamily="34" charset="-122"/>
              </a:rPr>
              <a:t>客戶端</a:t>
            </a:r>
            <a:endParaRPr lang="zh-CN" altLang="en-US" dirty="0"/>
          </a:p>
        </p:txBody>
      </p:sp>
      <p:sp>
        <p:nvSpPr>
          <p:cNvPr id="37" name="矩形 36">
            <a:extLst>
              <a:ext uri="{FF2B5EF4-FFF2-40B4-BE49-F238E27FC236}">
                <a16:creationId xmlns:a16="http://schemas.microsoft.com/office/drawing/2014/main" id="{7B98A087-C0B6-0046-9147-830429E855D3}"/>
              </a:ext>
            </a:extLst>
          </p:cNvPr>
          <p:cNvSpPr/>
          <p:nvPr/>
        </p:nvSpPr>
        <p:spPr>
          <a:xfrm>
            <a:off x="10841948" y="2236923"/>
            <a:ext cx="1107997" cy="646331"/>
          </a:xfrm>
          <a:prstGeom prst="rect">
            <a:avLst/>
          </a:prstGeom>
        </p:spPr>
        <p:txBody>
          <a:bodyPr wrap="none">
            <a:spAutoFit/>
          </a:bodyPr>
          <a:lstStyle/>
          <a:p>
            <a:pPr algn="ctr"/>
            <a:r>
              <a:rPr lang="zh-CN" altLang="en-US" dirty="0">
                <a:latin typeface="Microsoft YaHei" panose="020B0503020204020204" pitchFamily="34" charset="-122"/>
                <a:ea typeface="Microsoft YaHei" panose="020B0503020204020204" pitchFamily="34" charset="-122"/>
              </a:rPr>
              <a:t>服務端</a:t>
            </a:r>
            <a:r>
              <a:rPr lang="en-US" altLang="zh-CN" dirty="0">
                <a:latin typeface="Microsoft YaHei" panose="020B0503020204020204" pitchFamily="34" charset="-122"/>
                <a:ea typeface="Microsoft YaHei" panose="020B0503020204020204" pitchFamily="34" charset="-122"/>
              </a:rPr>
              <a:t>/</a:t>
            </a:r>
          </a:p>
          <a:p>
            <a:pPr algn="ctr"/>
            <a:r>
              <a:rPr lang="zh-CN" altLang="en-US" dirty="0">
                <a:latin typeface="Microsoft YaHei" panose="020B0503020204020204" pitchFamily="34" charset="-122"/>
                <a:ea typeface="Microsoft YaHei" panose="020B0503020204020204" pitchFamily="34" charset="-122"/>
              </a:rPr>
              <a:t>對等節點</a:t>
            </a:r>
            <a:endParaRPr lang="zh-CN" altLang="en-US" dirty="0"/>
          </a:p>
        </p:txBody>
      </p:sp>
      <p:sp>
        <p:nvSpPr>
          <p:cNvPr id="38" name="矩形 37">
            <a:extLst>
              <a:ext uri="{FF2B5EF4-FFF2-40B4-BE49-F238E27FC236}">
                <a16:creationId xmlns:a16="http://schemas.microsoft.com/office/drawing/2014/main" id="{1D26B4A3-BD6F-8849-ABE0-8096FEBF1453}"/>
              </a:ext>
            </a:extLst>
          </p:cNvPr>
          <p:cNvSpPr/>
          <p:nvPr/>
        </p:nvSpPr>
        <p:spPr>
          <a:xfrm>
            <a:off x="8390931" y="2256845"/>
            <a:ext cx="1107996" cy="369332"/>
          </a:xfrm>
          <a:prstGeom prst="rect">
            <a:avLst/>
          </a:prstGeom>
        </p:spPr>
        <p:txBody>
          <a:bodyPr wrap="none">
            <a:spAutoFit/>
          </a:bodyPr>
          <a:lstStyle/>
          <a:p>
            <a:r>
              <a:rPr lang="zh-CN" altLang="en-US" dirty="0">
                <a:latin typeface="Microsoft YaHei" panose="020B0503020204020204" pitchFamily="34" charset="-122"/>
                <a:ea typeface="Microsoft YaHei" panose="020B0503020204020204" pitchFamily="34" charset="-122"/>
              </a:rPr>
              <a:t>中間節點</a:t>
            </a:r>
            <a:endParaRPr lang="zh-CN" altLang="en-US" dirty="0"/>
          </a:p>
        </p:txBody>
      </p:sp>
      <p:sp>
        <p:nvSpPr>
          <p:cNvPr id="43" name="圆角矩形 42">
            <a:extLst>
              <a:ext uri="{FF2B5EF4-FFF2-40B4-BE49-F238E27FC236}">
                <a16:creationId xmlns:a16="http://schemas.microsoft.com/office/drawing/2014/main" id="{B2A09290-FE38-FA48-9BDA-E03A8F9C6041}"/>
              </a:ext>
            </a:extLst>
          </p:cNvPr>
          <p:cNvSpPr/>
          <p:nvPr/>
        </p:nvSpPr>
        <p:spPr>
          <a:xfrm>
            <a:off x="7169024" y="1306630"/>
            <a:ext cx="912011" cy="409370"/>
          </a:xfrm>
          <a:prstGeom prst="roundRect">
            <a:avLst/>
          </a:prstGeom>
          <a:solidFill>
            <a:srgbClr val="92D05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zh-CN" altLang="en-US" dirty="0">
              <a:highlight>
                <a:srgbClr val="FF0000"/>
              </a:highlight>
            </a:endParaRPr>
          </a:p>
        </p:txBody>
      </p:sp>
      <p:sp>
        <p:nvSpPr>
          <p:cNvPr id="44" name="矩形 43">
            <a:extLst>
              <a:ext uri="{FF2B5EF4-FFF2-40B4-BE49-F238E27FC236}">
                <a16:creationId xmlns:a16="http://schemas.microsoft.com/office/drawing/2014/main" id="{82B7CCFF-EAAD-4B46-A5EA-A865FDAAD36C}"/>
              </a:ext>
            </a:extLst>
          </p:cNvPr>
          <p:cNvSpPr/>
          <p:nvPr/>
        </p:nvSpPr>
        <p:spPr>
          <a:xfrm>
            <a:off x="7193109" y="1315741"/>
            <a:ext cx="835529" cy="338871"/>
          </a:xfrm>
          <a:prstGeom prst="rect">
            <a:avLst/>
          </a:prstGeom>
        </p:spPr>
        <p:txBody>
          <a:bodyPr wrap="none">
            <a:spAutoFit/>
          </a:bodyPr>
          <a:lstStyle/>
          <a:p>
            <a:r>
              <a:rPr lang="en-US" altLang="zh-CN" dirty="0">
                <a:solidFill>
                  <a:schemeClr val="bg1"/>
                </a:solidFill>
                <a:latin typeface="Microsoft YaHei" panose="020B0503020204020204" pitchFamily="34" charset="-122"/>
                <a:ea typeface="Microsoft YaHei" panose="020B0503020204020204" pitchFamily="34" charset="-122"/>
              </a:rPr>
              <a:t>packet</a:t>
            </a:r>
            <a:endParaRPr lang="zh-CN" altLang="en-US" baseline="-25000" dirty="0">
              <a:solidFill>
                <a:schemeClr val="bg1"/>
              </a:solidFill>
            </a:endParaRPr>
          </a:p>
        </p:txBody>
      </p:sp>
      <p:grpSp>
        <p:nvGrpSpPr>
          <p:cNvPr id="28" name="组合 27">
            <a:extLst>
              <a:ext uri="{FF2B5EF4-FFF2-40B4-BE49-F238E27FC236}">
                <a16:creationId xmlns:a16="http://schemas.microsoft.com/office/drawing/2014/main" id="{56D1C9B3-1BBB-124B-8275-D5B0A7D64D6C}"/>
              </a:ext>
            </a:extLst>
          </p:cNvPr>
          <p:cNvGrpSpPr/>
          <p:nvPr/>
        </p:nvGrpSpPr>
        <p:grpSpPr>
          <a:xfrm>
            <a:off x="5838374" y="3344512"/>
            <a:ext cx="5823084" cy="1330871"/>
            <a:chOff x="4497055" y="1547532"/>
            <a:chExt cx="6886725" cy="1573967"/>
          </a:xfrm>
        </p:grpSpPr>
        <p:pic>
          <p:nvPicPr>
            <p:cNvPr id="58" name="图形 57" descr="Internet">
              <a:extLst>
                <a:ext uri="{FF2B5EF4-FFF2-40B4-BE49-F238E27FC236}">
                  <a16:creationId xmlns:a16="http://schemas.microsoft.com/office/drawing/2014/main" id="{3E6381A2-EB1D-D54D-BAB0-0C6D9CBDBA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497055" y="1731676"/>
              <a:ext cx="1134252" cy="1207043"/>
            </a:xfrm>
            <a:prstGeom prst="rect">
              <a:avLst/>
            </a:prstGeom>
          </p:spPr>
        </p:pic>
        <p:pic>
          <p:nvPicPr>
            <p:cNvPr id="59" name="图片 58">
              <a:extLst>
                <a:ext uri="{FF2B5EF4-FFF2-40B4-BE49-F238E27FC236}">
                  <a16:creationId xmlns:a16="http://schemas.microsoft.com/office/drawing/2014/main" id="{8D82A985-29FD-164D-83F1-A3003EFFB967}"/>
                </a:ext>
              </a:extLst>
            </p:cNvPr>
            <p:cNvPicPr>
              <a:picLocks noChangeAspect="1"/>
            </p:cNvPicPr>
            <p:nvPr/>
          </p:nvPicPr>
          <p:blipFill>
            <a:blip r:embed="rId4"/>
            <a:stretch>
              <a:fillRect/>
            </a:stretch>
          </p:blipFill>
          <p:spPr>
            <a:xfrm>
              <a:off x="10667822" y="1847647"/>
              <a:ext cx="715958" cy="974920"/>
            </a:xfrm>
            <a:prstGeom prst="rect">
              <a:avLst/>
            </a:prstGeom>
          </p:spPr>
        </p:pic>
        <p:sp>
          <p:nvSpPr>
            <p:cNvPr id="60" name="云形 59">
              <a:extLst>
                <a:ext uri="{FF2B5EF4-FFF2-40B4-BE49-F238E27FC236}">
                  <a16:creationId xmlns:a16="http://schemas.microsoft.com/office/drawing/2014/main" id="{165EAD3A-2523-0E44-9697-4EFE08514C60}"/>
                </a:ext>
              </a:extLst>
            </p:cNvPr>
            <p:cNvSpPr/>
            <p:nvPr/>
          </p:nvSpPr>
          <p:spPr>
            <a:xfrm>
              <a:off x="6932819" y="1547532"/>
              <a:ext cx="2203554" cy="1573967"/>
            </a:xfrm>
            <a:prstGeom prst="cloud">
              <a:avLst/>
            </a:prstGeom>
            <a:solidFill>
              <a:schemeClr val="bg2"/>
            </a:solidFill>
            <a:effectLst>
              <a:innerShdw blurRad="63500" dist="50800" dir="5400000">
                <a:prstClr val="black">
                  <a:alpha val="50000"/>
                </a:prstClr>
              </a:inn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grpSp>
      <p:pic>
        <p:nvPicPr>
          <p:cNvPr id="29" name="图片 28">
            <a:extLst>
              <a:ext uri="{FF2B5EF4-FFF2-40B4-BE49-F238E27FC236}">
                <a16:creationId xmlns:a16="http://schemas.microsoft.com/office/drawing/2014/main" id="{29E18F29-BBFD-DC49-A3ED-9099DFF88260}"/>
              </a:ext>
            </a:extLst>
          </p:cNvPr>
          <p:cNvPicPr>
            <a:picLocks noChangeAspect="1"/>
          </p:cNvPicPr>
          <p:nvPr/>
        </p:nvPicPr>
        <p:blipFill>
          <a:blip r:embed="rId7"/>
          <a:stretch>
            <a:fillRect/>
          </a:stretch>
        </p:blipFill>
        <p:spPr>
          <a:xfrm>
            <a:off x="9467353" y="5571982"/>
            <a:ext cx="515895" cy="474454"/>
          </a:xfrm>
          <a:prstGeom prst="rect">
            <a:avLst/>
          </a:prstGeom>
        </p:spPr>
      </p:pic>
      <p:sp>
        <p:nvSpPr>
          <p:cNvPr id="30" name="圆角矩形 29">
            <a:extLst>
              <a:ext uri="{FF2B5EF4-FFF2-40B4-BE49-F238E27FC236}">
                <a16:creationId xmlns:a16="http://schemas.microsoft.com/office/drawing/2014/main" id="{71E81DE6-42BB-A743-9155-48979C15EAA7}"/>
              </a:ext>
            </a:extLst>
          </p:cNvPr>
          <p:cNvSpPr/>
          <p:nvPr/>
        </p:nvSpPr>
        <p:spPr>
          <a:xfrm>
            <a:off x="7294399" y="4674001"/>
            <a:ext cx="912011" cy="409370"/>
          </a:xfrm>
          <a:prstGeom prst="roundRect">
            <a:avLst/>
          </a:prstGeom>
          <a:solidFill>
            <a:srgbClr val="FF0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zh-CN" altLang="en-US" dirty="0">
              <a:highlight>
                <a:srgbClr val="FF0000"/>
              </a:highlight>
            </a:endParaRPr>
          </a:p>
        </p:txBody>
      </p:sp>
      <p:sp>
        <p:nvSpPr>
          <p:cNvPr id="31" name="矩形 30">
            <a:extLst>
              <a:ext uri="{FF2B5EF4-FFF2-40B4-BE49-F238E27FC236}">
                <a16:creationId xmlns:a16="http://schemas.microsoft.com/office/drawing/2014/main" id="{B021A57E-D6C0-024E-B4C3-2317A157AD7F}"/>
              </a:ext>
            </a:extLst>
          </p:cNvPr>
          <p:cNvSpPr/>
          <p:nvPr/>
        </p:nvSpPr>
        <p:spPr>
          <a:xfrm>
            <a:off x="7318484" y="4683112"/>
            <a:ext cx="835529" cy="338871"/>
          </a:xfrm>
          <a:prstGeom prst="rect">
            <a:avLst/>
          </a:prstGeom>
        </p:spPr>
        <p:txBody>
          <a:bodyPr wrap="none">
            <a:spAutoFit/>
          </a:bodyPr>
          <a:lstStyle/>
          <a:p>
            <a:r>
              <a:rPr lang="en-US" altLang="zh-CN" dirty="0">
                <a:solidFill>
                  <a:schemeClr val="bg1"/>
                </a:solidFill>
                <a:latin typeface="Microsoft YaHei" panose="020B0503020204020204" pitchFamily="34" charset="-122"/>
                <a:ea typeface="Microsoft YaHei" panose="020B0503020204020204" pitchFamily="34" charset="-122"/>
              </a:rPr>
              <a:t>packet</a:t>
            </a:r>
            <a:endParaRPr lang="zh-CN" altLang="en-US" baseline="-25000" dirty="0">
              <a:solidFill>
                <a:schemeClr val="bg1"/>
              </a:solidFill>
            </a:endParaRPr>
          </a:p>
        </p:txBody>
      </p:sp>
      <p:pic>
        <p:nvPicPr>
          <p:cNvPr id="32" name="图形 31" descr="Internet">
            <a:extLst>
              <a:ext uri="{FF2B5EF4-FFF2-40B4-BE49-F238E27FC236}">
                <a16:creationId xmlns:a16="http://schemas.microsoft.com/office/drawing/2014/main" id="{78955D86-C849-B245-AA48-83C5D38044D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78295" y="5297575"/>
            <a:ext cx="959069" cy="1020617"/>
          </a:xfrm>
          <a:prstGeom prst="rect">
            <a:avLst/>
          </a:prstGeom>
        </p:spPr>
      </p:pic>
      <p:sp>
        <p:nvSpPr>
          <p:cNvPr id="33" name="弧 32">
            <a:extLst>
              <a:ext uri="{FF2B5EF4-FFF2-40B4-BE49-F238E27FC236}">
                <a16:creationId xmlns:a16="http://schemas.microsoft.com/office/drawing/2014/main" id="{B7332C15-A5C9-4C40-9495-6F11BE31C9D0}"/>
              </a:ext>
            </a:extLst>
          </p:cNvPr>
          <p:cNvSpPr/>
          <p:nvPr/>
        </p:nvSpPr>
        <p:spPr>
          <a:xfrm>
            <a:off x="4663685" y="4172603"/>
            <a:ext cx="4278544" cy="2355197"/>
          </a:xfrm>
          <a:prstGeom prst="arc">
            <a:avLst>
              <a:gd name="adj1" fmla="val 16279699"/>
              <a:gd name="adj2" fmla="val 21552104"/>
            </a:avLst>
          </a:prstGeom>
          <a:ln>
            <a:solidFill>
              <a:srgbClr val="FF0000"/>
            </a:solidFill>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dirty="0"/>
          </a:p>
        </p:txBody>
      </p:sp>
      <p:cxnSp>
        <p:nvCxnSpPr>
          <p:cNvPr id="34" name="直线箭头连接符 33">
            <a:extLst>
              <a:ext uri="{FF2B5EF4-FFF2-40B4-BE49-F238E27FC236}">
                <a16:creationId xmlns:a16="http://schemas.microsoft.com/office/drawing/2014/main" id="{4363E940-3180-3040-A3D3-EFC0A1DC9903}"/>
              </a:ext>
            </a:extLst>
          </p:cNvPr>
          <p:cNvCxnSpPr>
            <a:cxnSpLocks/>
          </p:cNvCxnSpPr>
          <p:nvPr/>
        </p:nvCxnSpPr>
        <p:spPr>
          <a:xfrm>
            <a:off x="6802957" y="3999783"/>
            <a:ext cx="4253122" cy="10665"/>
          </a:xfrm>
          <a:prstGeom prst="straightConnector1">
            <a:avLst/>
          </a:prstGeom>
          <a:ln>
            <a:solidFill>
              <a:srgbClr val="92D050"/>
            </a:solidFill>
            <a:tailEnd type="triangle" w="med" len="lg"/>
          </a:ln>
        </p:spPr>
        <p:style>
          <a:lnRef idx="1">
            <a:schemeClr val="accent1"/>
          </a:lnRef>
          <a:fillRef idx="0">
            <a:schemeClr val="accent1"/>
          </a:fillRef>
          <a:effectRef idx="0">
            <a:schemeClr val="accent1"/>
          </a:effectRef>
          <a:fontRef idx="minor">
            <a:schemeClr val="tx1"/>
          </a:fontRef>
        </p:style>
      </p:cxnSp>
      <p:sp>
        <p:nvSpPr>
          <p:cNvPr id="39" name="圆角矩形 38">
            <a:extLst>
              <a:ext uri="{FF2B5EF4-FFF2-40B4-BE49-F238E27FC236}">
                <a16:creationId xmlns:a16="http://schemas.microsoft.com/office/drawing/2014/main" id="{546DDE05-CBDE-CE4E-B725-4E9B32896AFE}"/>
              </a:ext>
            </a:extLst>
          </p:cNvPr>
          <p:cNvSpPr/>
          <p:nvPr/>
        </p:nvSpPr>
        <p:spPr>
          <a:xfrm>
            <a:off x="8338705" y="3494950"/>
            <a:ext cx="912011" cy="409370"/>
          </a:xfrm>
          <a:prstGeom prst="roundRect">
            <a:avLst/>
          </a:prstGeom>
          <a:solidFill>
            <a:srgbClr val="92D05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zh-CN" altLang="en-US" dirty="0">
              <a:highlight>
                <a:srgbClr val="FF0000"/>
              </a:highlight>
            </a:endParaRPr>
          </a:p>
        </p:txBody>
      </p:sp>
      <p:sp>
        <p:nvSpPr>
          <p:cNvPr id="41" name="矩形 40">
            <a:extLst>
              <a:ext uri="{FF2B5EF4-FFF2-40B4-BE49-F238E27FC236}">
                <a16:creationId xmlns:a16="http://schemas.microsoft.com/office/drawing/2014/main" id="{40FDC9D4-429C-9E49-9E63-986EA7074E05}"/>
              </a:ext>
            </a:extLst>
          </p:cNvPr>
          <p:cNvSpPr/>
          <p:nvPr/>
        </p:nvSpPr>
        <p:spPr>
          <a:xfrm>
            <a:off x="8362790" y="3504061"/>
            <a:ext cx="835529" cy="338871"/>
          </a:xfrm>
          <a:prstGeom prst="rect">
            <a:avLst/>
          </a:prstGeom>
        </p:spPr>
        <p:txBody>
          <a:bodyPr wrap="none">
            <a:spAutoFit/>
          </a:bodyPr>
          <a:lstStyle/>
          <a:p>
            <a:r>
              <a:rPr lang="en-US" altLang="zh-CN" dirty="0">
                <a:solidFill>
                  <a:schemeClr val="bg1"/>
                </a:solidFill>
                <a:latin typeface="Microsoft YaHei" panose="020B0503020204020204" pitchFamily="34" charset="-122"/>
                <a:ea typeface="Microsoft YaHei" panose="020B0503020204020204" pitchFamily="34" charset="-122"/>
              </a:rPr>
              <a:t>packet</a:t>
            </a:r>
            <a:endParaRPr lang="zh-CN" altLang="en-US" baseline="-25000" dirty="0">
              <a:solidFill>
                <a:schemeClr val="bg1"/>
              </a:solidFill>
            </a:endParaRPr>
          </a:p>
        </p:txBody>
      </p:sp>
      <p:sp>
        <p:nvSpPr>
          <p:cNvPr id="46" name="矩形 45">
            <a:extLst>
              <a:ext uri="{FF2B5EF4-FFF2-40B4-BE49-F238E27FC236}">
                <a16:creationId xmlns:a16="http://schemas.microsoft.com/office/drawing/2014/main" id="{445CC156-9578-2140-9794-1B68805DE015}"/>
              </a:ext>
            </a:extLst>
          </p:cNvPr>
          <p:cNvSpPr/>
          <p:nvPr/>
        </p:nvSpPr>
        <p:spPr>
          <a:xfrm>
            <a:off x="5939331" y="4393208"/>
            <a:ext cx="877163" cy="369332"/>
          </a:xfrm>
          <a:prstGeom prst="rect">
            <a:avLst/>
          </a:prstGeom>
        </p:spPr>
        <p:txBody>
          <a:bodyPr wrap="none">
            <a:spAutoFit/>
          </a:bodyPr>
          <a:lstStyle/>
          <a:p>
            <a:r>
              <a:rPr lang="zh-CN" altLang="en-US" dirty="0">
                <a:latin typeface="Microsoft YaHei" panose="020B0503020204020204" pitchFamily="34" charset="-122"/>
                <a:ea typeface="Microsoft YaHei" panose="020B0503020204020204" pitchFamily="34" charset="-122"/>
              </a:rPr>
              <a:t>客戶端</a:t>
            </a:r>
            <a:endParaRPr lang="zh-CN" altLang="en-US" dirty="0"/>
          </a:p>
        </p:txBody>
      </p:sp>
      <p:sp>
        <p:nvSpPr>
          <p:cNvPr id="49" name="矩形 48">
            <a:extLst>
              <a:ext uri="{FF2B5EF4-FFF2-40B4-BE49-F238E27FC236}">
                <a16:creationId xmlns:a16="http://schemas.microsoft.com/office/drawing/2014/main" id="{26985E69-3528-8B49-AF63-D054A00900AA}"/>
              </a:ext>
            </a:extLst>
          </p:cNvPr>
          <p:cNvSpPr/>
          <p:nvPr/>
        </p:nvSpPr>
        <p:spPr>
          <a:xfrm>
            <a:off x="8484805" y="6141476"/>
            <a:ext cx="1107996" cy="369332"/>
          </a:xfrm>
          <a:prstGeom prst="rect">
            <a:avLst/>
          </a:prstGeom>
        </p:spPr>
        <p:txBody>
          <a:bodyPr wrap="none">
            <a:spAutoFit/>
          </a:bodyPr>
          <a:lstStyle/>
          <a:p>
            <a:r>
              <a:rPr lang="zh-CN" altLang="en-US" dirty="0">
                <a:latin typeface="Microsoft YaHei" panose="020B0503020204020204" pitchFamily="34" charset="-122"/>
                <a:ea typeface="Microsoft YaHei" panose="020B0503020204020204" pitchFamily="34" charset="-122"/>
              </a:rPr>
              <a:t>監聽節點</a:t>
            </a:r>
            <a:endParaRPr lang="zh-CN" altLang="en-US" dirty="0"/>
          </a:p>
        </p:txBody>
      </p:sp>
      <p:sp>
        <p:nvSpPr>
          <p:cNvPr id="57" name="矩形 56">
            <a:extLst>
              <a:ext uri="{FF2B5EF4-FFF2-40B4-BE49-F238E27FC236}">
                <a16:creationId xmlns:a16="http://schemas.microsoft.com/office/drawing/2014/main" id="{01170E21-E998-914A-82DD-3F2A6ABDC7B1}"/>
              </a:ext>
            </a:extLst>
          </p:cNvPr>
          <p:cNvSpPr/>
          <p:nvPr/>
        </p:nvSpPr>
        <p:spPr>
          <a:xfrm>
            <a:off x="10810450" y="4458576"/>
            <a:ext cx="1107997" cy="646331"/>
          </a:xfrm>
          <a:prstGeom prst="rect">
            <a:avLst/>
          </a:prstGeom>
        </p:spPr>
        <p:txBody>
          <a:bodyPr wrap="none">
            <a:spAutoFit/>
          </a:bodyPr>
          <a:lstStyle/>
          <a:p>
            <a:pPr algn="ctr"/>
            <a:r>
              <a:rPr lang="zh-CN" altLang="en-US" dirty="0">
                <a:latin typeface="Microsoft YaHei" panose="020B0503020204020204" pitchFamily="34" charset="-122"/>
                <a:ea typeface="Microsoft YaHei" panose="020B0503020204020204" pitchFamily="34" charset="-122"/>
              </a:rPr>
              <a:t>服務端</a:t>
            </a:r>
            <a:r>
              <a:rPr lang="en-US" altLang="zh-CN" dirty="0">
                <a:latin typeface="Microsoft YaHei" panose="020B0503020204020204" pitchFamily="34" charset="-122"/>
                <a:ea typeface="Microsoft YaHei" panose="020B0503020204020204" pitchFamily="34" charset="-122"/>
              </a:rPr>
              <a:t>/</a:t>
            </a:r>
          </a:p>
          <a:p>
            <a:pPr algn="ctr"/>
            <a:r>
              <a:rPr lang="zh-CN" altLang="en-US" dirty="0">
                <a:latin typeface="Microsoft YaHei" panose="020B0503020204020204" pitchFamily="34" charset="-122"/>
                <a:ea typeface="Microsoft YaHei" panose="020B0503020204020204" pitchFamily="34" charset="-122"/>
              </a:rPr>
              <a:t>對等節點</a:t>
            </a:r>
            <a:endParaRPr lang="zh-CN" altLang="en-US" dirty="0"/>
          </a:p>
        </p:txBody>
      </p:sp>
      <p:sp>
        <p:nvSpPr>
          <p:cNvPr id="64" name="标题 1">
            <a:extLst>
              <a:ext uri="{FF2B5EF4-FFF2-40B4-BE49-F238E27FC236}">
                <a16:creationId xmlns:a16="http://schemas.microsoft.com/office/drawing/2014/main" id="{1A4AEEE4-070A-7945-9544-89A3DF5FE50E}"/>
              </a:ext>
            </a:extLst>
          </p:cNvPr>
          <p:cNvSpPr>
            <a:spLocks noGrp="1"/>
          </p:cNvSpPr>
          <p:nvPr>
            <p:ph type="title"/>
          </p:nvPr>
        </p:nvSpPr>
        <p:spPr/>
        <p:txBody>
          <a:bodyPr>
            <a:normAutofit/>
          </a:bodyPr>
          <a:lstStyle/>
          <a:p>
            <a:r>
              <a:rPr kumimoji="1" lang="zh-CN" altLang="en-US" dirty="0"/>
              <a:t>交互信道中的安全隱患</a:t>
            </a:r>
          </a:p>
        </p:txBody>
      </p:sp>
      <p:sp>
        <p:nvSpPr>
          <p:cNvPr id="65" name="矩形 64">
            <a:extLst>
              <a:ext uri="{FF2B5EF4-FFF2-40B4-BE49-F238E27FC236}">
                <a16:creationId xmlns:a16="http://schemas.microsoft.com/office/drawing/2014/main" id="{93DF4266-5DF3-B748-A955-C3A13D8AFACA}"/>
              </a:ext>
            </a:extLst>
          </p:cNvPr>
          <p:cNvSpPr/>
          <p:nvPr/>
        </p:nvSpPr>
        <p:spPr>
          <a:xfrm>
            <a:off x="754119" y="4073582"/>
            <a:ext cx="4680029" cy="2243050"/>
          </a:xfrm>
          <a:prstGeom prst="rect">
            <a:avLst/>
          </a:prstGeom>
          <a:ln>
            <a:solidFill>
              <a:srgbClr val="00B0F0"/>
            </a:solidFill>
          </a:ln>
        </p:spPr>
        <p:txBody>
          <a:bodyPr wrap="square">
            <a:spAutoFit/>
          </a:bodyPr>
          <a:lstStyle/>
          <a:p>
            <a:pPr marL="342900" lvl="1" indent="-342900" algn="just" fontAlgn="base">
              <a:lnSpc>
                <a:spcPct val="150000"/>
              </a:lnSpc>
              <a:spcBef>
                <a:spcPct val="20000"/>
              </a:spcBef>
              <a:spcAft>
                <a:spcPct val="0"/>
              </a:spcAft>
              <a:buSzPct val="100000"/>
              <a:buFont typeface="Arial" panose="020B0604020202020204" pitchFamily="34" charset="0"/>
              <a:buChar char="•"/>
            </a:pPr>
            <a:r>
              <a:rPr lang="zh-CN" altLang="en-US" sz="2400" b="1" dirty="0">
                <a:solidFill>
                  <a:srgbClr val="C00000"/>
                </a:solidFill>
                <a:latin typeface="Microsoft YaHei" panose="020B0503020204020204" pitchFamily="34" charset="-122"/>
                <a:ea typeface="Microsoft YaHei" panose="020B0503020204020204" pitchFamily="34" charset="-122"/>
              </a:rPr>
              <a:t>信息泄漏：</a:t>
            </a:r>
            <a:r>
              <a:rPr lang="zh-CN" altLang="en-US" sz="2400" dirty="0">
                <a:latin typeface="Microsoft YaHei" panose="020B0503020204020204" pitchFamily="34" charset="-122"/>
                <a:ea typeface="Microsoft YaHei" panose="020B0503020204020204" pitchFamily="34" charset="-122"/>
              </a:rPr>
              <a:t>明文傳輸數據包時可能會發生，節點可以將監聽到的數據包進行重組，從而獲取應用層數據信息</a:t>
            </a:r>
            <a:endParaRPr lang="en-US" altLang="zh-CN" sz="2400" dirty="0">
              <a:latin typeface="Microsoft YaHei" panose="020B0503020204020204" pitchFamily="34" charset="-122"/>
              <a:ea typeface="Microsoft YaHei" panose="020B0503020204020204" pitchFamily="34" charset="-122"/>
            </a:endParaRPr>
          </a:p>
        </p:txBody>
      </p:sp>
      <p:sp>
        <p:nvSpPr>
          <p:cNvPr id="66" name="圆角矩形 65">
            <a:extLst>
              <a:ext uri="{FF2B5EF4-FFF2-40B4-BE49-F238E27FC236}">
                <a16:creationId xmlns:a16="http://schemas.microsoft.com/office/drawing/2014/main" id="{90D12627-B349-CE4B-B420-97182D08997C}"/>
              </a:ext>
            </a:extLst>
          </p:cNvPr>
          <p:cNvSpPr/>
          <p:nvPr/>
        </p:nvSpPr>
        <p:spPr>
          <a:xfrm>
            <a:off x="9761158" y="1306630"/>
            <a:ext cx="912011" cy="409370"/>
          </a:xfrm>
          <a:prstGeom prst="roundRect">
            <a:avLst/>
          </a:prstGeom>
          <a:solidFill>
            <a:srgbClr val="92D05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zh-CN" altLang="en-US" dirty="0">
              <a:highlight>
                <a:srgbClr val="FF0000"/>
              </a:highlight>
            </a:endParaRPr>
          </a:p>
        </p:txBody>
      </p:sp>
      <p:sp>
        <p:nvSpPr>
          <p:cNvPr id="67" name="矩形 66">
            <a:extLst>
              <a:ext uri="{FF2B5EF4-FFF2-40B4-BE49-F238E27FC236}">
                <a16:creationId xmlns:a16="http://schemas.microsoft.com/office/drawing/2014/main" id="{73325583-C4E9-3441-9D9A-E64A0FCA9C11}"/>
              </a:ext>
            </a:extLst>
          </p:cNvPr>
          <p:cNvSpPr/>
          <p:nvPr/>
        </p:nvSpPr>
        <p:spPr>
          <a:xfrm>
            <a:off x="9785243" y="1315741"/>
            <a:ext cx="835529" cy="338871"/>
          </a:xfrm>
          <a:prstGeom prst="rect">
            <a:avLst/>
          </a:prstGeom>
        </p:spPr>
        <p:txBody>
          <a:bodyPr wrap="none">
            <a:spAutoFit/>
          </a:bodyPr>
          <a:lstStyle/>
          <a:p>
            <a:r>
              <a:rPr lang="en-US" altLang="zh-CN" dirty="0">
                <a:solidFill>
                  <a:schemeClr val="bg1"/>
                </a:solidFill>
                <a:latin typeface="Microsoft YaHei" panose="020B0503020204020204" pitchFamily="34" charset="-122"/>
                <a:ea typeface="Microsoft YaHei" panose="020B0503020204020204" pitchFamily="34" charset="-122"/>
              </a:rPr>
              <a:t>packet</a:t>
            </a:r>
            <a:endParaRPr lang="zh-CN" altLang="en-US" baseline="-25000" dirty="0">
              <a:solidFill>
                <a:schemeClr val="bg1"/>
              </a:solidFill>
            </a:endParaRPr>
          </a:p>
        </p:txBody>
      </p:sp>
      <p:sp>
        <p:nvSpPr>
          <p:cNvPr id="35" name="灯片编号占位符 2">
            <a:extLst>
              <a:ext uri="{FF2B5EF4-FFF2-40B4-BE49-F238E27FC236}">
                <a16:creationId xmlns:a16="http://schemas.microsoft.com/office/drawing/2014/main" id="{A74C4BDD-9AAE-F248-AAD4-7E12057C4A49}"/>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16</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5787335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交互信道中的安全隱患</a:t>
            </a:r>
          </a:p>
        </p:txBody>
      </p:sp>
      <p:pic>
        <p:nvPicPr>
          <p:cNvPr id="12" name="图形 11" descr="Internet">
            <a:extLst>
              <a:ext uri="{FF2B5EF4-FFF2-40B4-BE49-F238E27FC236}">
                <a16:creationId xmlns:a16="http://schemas.microsoft.com/office/drawing/2014/main" id="{BBF72500-0DC3-2140-905E-83FB7134FF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73585" y="1468483"/>
            <a:ext cx="1045278" cy="1112359"/>
          </a:xfrm>
          <a:prstGeom prst="rect">
            <a:avLst/>
          </a:prstGeom>
        </p:spPr>
      </p:pic>
      <p:pic>
        <p:nvPicPr>
          <p:cNvPr id="14" name="图片 13">
            <a:extLst>
              <a:ext uri="{FF2B5EF4-FFF2-40B4-BE49-F238E27FC236}">
                <a16:creationId xmlns:a16="http://schemas.microsoft.com/office/drawing/2014/main" id="{F048DE6A-E1AB-6A40-B7AC-1CC82533F068}"/>
              </a:ext>
            </a:extLst>
          </p:cNvPr>
          <p:cNvPicPr>
            <a:picLocks noChangeAspect="1"/>
          </p:cNvPicPr>
          <p:nvPr/>
        </p:nvPicPr>
        <p:blipFill>
          <a:blip r:embed="rId4"/>
          <a:stretch>
            <a:fillRect/>
          </a:stretch>
        </p:blipFill>
        <p:spPr>
          <a:xfrm>
            <a:off x="10577380" y="1451959"/>
            <a:ext cx="659796" cy="898445"/>
          </a:xfrm>
          <a:prstGeom prst="rect">
            <a:avLst/>
          </a:prstGeom>
        </p:spPr>
      </p:pic>
      <p:pic>
        <p:nvPicPr>
          <p:cNvPr id="15" name="图形 14">
            <a:extLst>
              <a:ext uri="{FF2B5EF4-FFF2-40B4-BE49-F238E27FC236}">
                <a16:creationId xmlns:a16="http://schemas.microsoft.com/office/drawing/2014/main" id="{17E55FD1-0050-9D48-93B6-193668E9BE5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25482" y="1468483"/>
            <a:ext cx="1045279" cy="1045279"/>
          </a:xfrm>
          <a:prstGeom prst="rect">
            <a:avLst/>
          </a:prstGeom>
        </p:spPr>
      </p:pic>
      <p:cxnSp>
        <p:nvCxnSpPr>
          <p:cNvPr id="16" name="直线箭头连接符 15">
            <a:extLst>
              <a:ext uri="{FF2B5EF4-FFF2-40B4-BE49-F238E27FC236}">
                <a16:creationId xmlns:a16="http://schemas.microsoft.com/office/drawing/2014/main" id="{DDA27018-BEBD-2A4E-AE12-D9859FA6EF35}"/>
              </a:ext>
            </a:extLst>
          </p:cNvPr>
          <p:cNvCxnSpPr>
            <a:cxnSpLocks/>
          </p:cNvCxnSpPr>
          <p:nvPr/>
        </p:nvCxnSpPr>
        <p:spPr>
          <a:xfrm flipV="1">
            <a:off x="5918863" y="1972841"/>
            <a:ext cx="1806619" cy="1"/>
          </a:xfrm>
          <a:prstGeom prst="straightConnector1">
            <a:avLst/>
          </a:prstGeom>
          <a:ln>
            <a:tailEnd type="triangle" w="med" len="lg"/>
          </a:ln>
        </p:spPr>
        <p:style>
          <a:lnRef idx="1">
            <a:schemeClr val="accent1"/>
          </a:lnRef>
          <a:fillRef idx="0">
            <a:schemeClr val="accent1"/>
          </a:fillRef>
          <a:effectRef idx="0">
            <a:schemeClr val="accent1"/>
          </a:effectRef>
          <a:fontRef idx="minor">
            <a:schemeClr val="tx1"/>
          </a:fontRef>
        </p:style>
      </p:cxnSp>
      <p:cxnSp>
        <p:nvCxnSpPr>
          <p:cNvPr id="19" name="直线箭头连接符 18">
            <a:extLst>
              <a:ext uri="{FF2B5EF4-FFF2-40B4-BE49-F238E27FC236}">
                <a16:creationId xmlns:a16="http://schemas.microsoft.com/office/drawing/2014/main" id="{2B26D1E1-A70D-1F45-9A68-22DFBCD7251A}"/>
              </a:ext>
            </a:extLst>
          </p:cNvPr>
          <p:cNvCxnSpPr>
            <a:cxnSpLocks/>
          </p:cNvCxnSpPr>
          <p:nvPr/>
        </p:nvCxnSpPr>
        <p:spPr>
          <a:xfrm flipV="1">
            <a:off x="8758157" y="1926733"/>
            <a:ext cx="1806619" cy="1"/>
          </a:xfrm>
          <a:prstGeom prst="straightConnector1">
            <a:avLst/>
          </a:prstGeom>
          <a:ln>
            <a:tailEnd type="triangle" w="med" len="lg"/>
          </a:ln>
        </p:spPr>
        <p:style>
          <a:lnRef idx="1">
            <a:schemeClr val="accent1"/>
          </a:lnRef>
          <a:fillRef idx="0">
            <a:schemeClr val="accent1"/>
          </a:fillRef>
          <a:effectRef idx="0">
            <a:schemeClr val="accent1"/>
          </a:effectRef>
          <a:fontRef idx="minor">
            <a:schemeClr val="tx1"/>
          </a:fontRef>
        </p:style>
      </p:cxnSp>
      <p:grpSp>
        <p:nvGrpSpPr>
          <p:cNvPr id="3" name="组合 2">
            <a:extLst>
              <a:ext uri="{FF2B5EF4-FFF2-40B4-BE49-F238E27FC236}">
                <a16:creationId xmlns:a16="http://schemas.microsoft.com/office/drawing/2014/main" id="{CAB2D771-4138-0A4F-AE98-545E71A66AF8}"/>
              </a:ext>
            </a:extLst>
          </p:cNvPr>
          <p:cNvGrpSpPr/>
          <p:nvPr/>
        </p:nvGrpSpPr>
        <p:grpSpPr>
          <a:xfrm>
            <a:off x="6407253" y="1373207"/>
            <a:ext cx="993990" cy="446168"/>
            <a:chOff x="9087372" y="1159947"/>
            <a:chExt cx="993990" cy="446168"/>
          </a:xfrm>
        </p:grpSpPr>
        <p:sp>
          <p:nvSpPr>
            <p:cNvPr id="21" name="圆角矩形 20">
              <a:extLst>
                <a:ext uri="{FF2B5EF4-FFF2-40B4-BE49-F238E27FC236}">
                  <a16:creationId xmlns:a16="http://schemas.microsoft.com/office/drawing/2014/main" id="{D6055AAB-8808-A94D-98B8-8E057EB928E3}"/>
                </a:ext>
              </a:extLst>
            </p:cNvPr>
            <p:cNvSpPr/>
            <p:nvPr/>
          </p:nvSpPr>
          <p:spPr>
            <a:xfrm>
              <a:off x="9087372" y="1159947"/>
              <a:ext cx="993990" cy="446168"/>
            </a:xfrm>
            <a:prstGeom prst="roundRect">
              <a:avLst/>
            </a:prstGeom>
            <a:solidFill>
              <a:srgbClr val="92D05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zh-CN" altLang="en-US" dirty="0">
                <a:highlight>
                  <a:srgbClr val="FF0000"/>
                </a:highlight>
              </a:endParaRPr>
            </a:p>
          </p:txBody>
        </p:sp>
        <p:sp>
          <p:nvSpPr>
            <p:cNvPr id="22" name="矩形 21">
              <a:extLst>
                <a:ext uri="{FF2B5EF4-FFF2-40B4-BE49-F238E27FC236}">
                  <a16:creationId xmlns:a16="http://schemas.microsoft.com/office/drawing/2014/main" id="{E124E53F-5793-7F40-AD12-E44EFBDC51D3}"/>
                </a:ext>
              </a:extLst>
            </p:cNvPr>
            <p:cNvSpPr/>
            <p:nvPr/>
          </p:nvSpPr>
          <p:spPr>
            <a:xfrm>
              <a:off x="9113622" y="1169877"/>
              <a:ext cx="910634" cy="369332"/>
            </a:xfrm>
            <a:prstGeom prst="rect">
              <a:avLst/>
            </a:prstGeom>
          </p:spPr>
          <p:txBody>
            <a:bodyPr wrap="none">
              <a:spAutoFit/>
            </a:bodyPr>
            <a:lstStyle/>
            <a:p>
              <a:r>
                <a:rPr lang="en-US" altLang="zh-CN" dirty="0">
                  <a:solidFill>
                    <a:schemeClr val="bg1"/>
                  </a:solidFill>
                  <a:latin typeface="Microsoft YaHei" panose="020B0503020204020204" pitchFamily="34" charset="-122"/>
                  <a:ea typeface="Microsoft YaHei" panose="020B0503020204020204" pitchFamily="34" charset="-122"/>
                </a:rPr>
                <a:t>packet</a:t>
              </a:r>
              <a:endParaRPr lang="zh-CN" altLang="en-US" baseline="-25000" dirty="0">
                <a:solidFill>
                  <a:schemeClr val="bg1"/>
                </a:solidFill>
              </a:endParaRPr>
            </a:p>
          </p:txBody>
        </p:sp>
      </p:grpSp>
      <p:sp>
        <p:nvSpPr>
          <p:cNvPr id="23" name="矩形 22">
            <a:extLst>
              <a:ext uri="{FF2B5EF4-FFF2-40B4-BE49-F238E27FC236}">
                <a16:creationId xmlns:a16="http://schemas.microsoft.com/office/drawing/2014/main" id="{9556073E-9EFE-6A4F-8059-D87639A0DB9F}"/>
              </a:ext>
            </a:extLst>
          </p:cNvPr>
          <p:cNvSpPr/>
          <p:nvPr/>
        </p:nvSpPr>
        <p:spPr>
          <a:xfrm>
            <a:off x="4982583" y="2437788"/>
            <a:ext cx="877163" cy="369332"/>
          </a:xfrm>
          <a:prstGeom prst="rect">
            <a:avLst/>
          </a:prstGeom>
        </p:spPr>
        <p:txBody>
          <a:bodyPr wrap="none">
            <a:spAutoFit/>
          </a:bodyPr>
          <a:lstStyle/>
          <a:p>
            <a:r>
              <a:rPr lang="zh-CN" altLang="en-US" dirty="0">
                <a:latin typeface="Microsoft YaHei" panose="020B0503020204020204" pitchFamily="34" charset="-122"/>
                <a:ea typeface="Microsoft YaHei" panose="020B0503020204020204" pitchFamily="34" charset="-122"/>
              </a:rPr>
              <a:t>客戶端</a:t>
            </a:r>
            <a:endParaRPr lang="zh-CN" altLang="en-US" dirty="0"/>
          </a:p>
        </p:txBody>
      </p:sp>
      <p:sp>
        <p:nvSpPr>
          <p:cNvPr id="25" name="矩形 24">
            <a:extLst>
              <a:ext uri="{FF2B5EF4-FFF2-40B4-BE49-F238E27FC236}">
                <a16:creationId xmlns:a16="http://schemas.microsoft.com/office/drawing/2014/main" id="{4A19CD40-D00F-2340-8480-0F57DA1966A9}"/>
              </a:ext>
            </a:extLst>
          </p:cNvPr>
          <p:cNvSpPr/>
          <p:nvPr/>
        </p:nvSpPr>
        <p:spPr>
          <a:xfrm>
            <a:off x="7694123" y="2396176"/>
            <a:ext cx="1107996" cy="369332"/>
          </a:xfrm>
          <a:prstGeom prst="rect">
            <a:avLst/>
          </a:prstGeom>
        </p:spPr>
        <p:txBody>
          <a:bodyPr wrap="none">
            <a:spAutoFit/>
          </a:bodyPr>
          <a:lstStyle/>
          <a:p>
            <a:r>
              <a:rPr lang="zh-CN" altLang="en-US" dirty="0">
                <a:latin typeface="Microsoft YaHei" panose="020B0503020204020204" pitchFamily="34" charset="-122"/>
                <a:ea typeface="Microsoft YaHei" panose="020B0503020204020204" pitchFamily="34" charset="-122"/>
              </a:rPr>
              <a:t>中間節點</a:t>
            </a:r>
            <a:endParaRPr lang="zh-CN" altLang="en-US" dirty="0"/>
          </a:p>
        </p:txBody>
      </p:sp>
      <p:grpSp>
        <p:nvGrpSpPr>
          <p:cNvPr id="26" name="组合 25">
            <a:extLst>
              <a:ext uri="{FF2B5EF4-FFF2-40B4-BE49-F238E27FC236}">
                <a16:creationId xmlns:a16="http://schemas.microsoft.com/office/drawing/2014/main" id="{8E6356CA-88FB-5443-9425-5BD1CE3A4449}"/>
              </a:ext>
            </a:extLst>
          </p:cNvPr>
          <p:cNvGrpSpPr/>
          <p:nvPr/>
        </p:nvGrpSpPr>
        <p:grpSpPr>
          <a:xfrm>
            <a:off x="9151345" y="1359498"/>
            <a:ext cx="993990" cy="446168"/>
            <a:chOff x="9087372" y="1159947"/>
            <a:chExt cx="993990" cy="446168"/>
          </a:xfrm>
          <a:solidFill>
            <a:srgbClr val="FF0000"/>
          </a:solidFill>
        </p:grpSpPr>
        <p:sp>
          <p:nvSpPr>
            <p:cNvPr id="27" name="圆角矩形 26">
              <a:extLst>
                <a:ext uri="{FF2B5EF4-FFF2-40B4-BE49-F238E27FC236}">
                  <a16:creationId xmlns:a16="http://schemas.microsoft.com/office/drawing/2014/main" id="{97996C46-677F-4442-A984-ACBA2DBE81EF}"/>
                </a:ext>
              </a:extLst>
            </p:cNvPr>
            <p:cNvSpPr/>
            <p:nvPr/>
          </p:nvSpPr>
          <p:spPr>
            <a:xfrm>
              <a:off x="9087372" y="1159947"/>
              <a:ext cx="993990" cy="446168"/>
            </a:xfrm>
            <a:prstGeom prst="roundRect">
              <a:avLst/>
            </a:prstGeom>
            <a:grp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zh-CN" altLang="en-US" dirty="0">
                <a:highlight>
                  <a:srgbClr val="FF0000"/>
                </a:highlight>
              </a:endParaRPr>
            </a:p>
          </p:txBody>
        </p:sp>
        <p:sp>
          <p:nvSpPr>
            <p:cNvPr id="28" name="矩形 27">
              <a:extLst>
                <a:ext uri="{FF2B5EF4-FFF2-40B4-BE49-F238E27FC236}">
                  <a16:creationId xmlns:a16="http://schemas.microsoft.com/office/drawing/2014/main" id="{A72F522B-279F-EE49-A62E-1172C36860D0}"/>
                </a:ext>
              </a:extLst>
            </p:cNvPr>
            <p:cNvSpPr/>
            <p:nvPr/>
          </p:nvSpPr>
          <p:spPr>
            <a:xfrm>
              <a:off x="9113622" y="1169877"/>
              <a:ext cx="910634" cy="369332"/>
            </a:xfrm>
            <a:prstGeom prst="rect">
              <a:avLst/>
            </a:prstGeom>
            <a:grpFill/>
          </p:spPr>
          <p:txBody>
            <a:bodyPr wrap="none">
              <a:spAutoFit/>
            </a:bodyPr>
            <a:lstStyle/>
            <a:p>
              <a:r>
                <a:rPr lang="en-US" altLang="zh-CN" dirty="0">
                  <a:solidFill>
                    <a:schemeClr val="bg1"/>
                  </a:solidFill>
                  <a:latin typeface="Microsoft YaHei" panose="020B0503020204020204" pitchFamily="34" charset="-122"/>
                  <a:ea typeface="Microsoft YaHei" panose="020B0503020204020204" pitchFamily="34" charset="-122"/>
                </a:rPr>
                <a:t>packet</a:t>
              </a:r>
              <a:endParaRPr lang="zh-CN" altLang="en-US" baseline="-25000" dirty="0">
                <a:solidFill>
                  <a:schemeClr val="bg1"/>
                </a:solidFill>
              </a:endParaRPr>
            </a:p>
          </p:txBody>
        </p:sp>
      </p:grpSp>
      <p:pic>
        <p:nvPicPr>
          <p:cNvPr id="29" name="图片 28">
            <a:extLst>
              <a:ext uri="{FF2B5EF4-FFF2-40B4-BE49-F238E27FC236}">
                <a16:creationId xmlns:a16="http://schemas.microsoft.com/office/drawing/2014/main" id="{02E5B7C7-4989-C843-896B-277FF4D5F822}"/>
              </a:ext>
            </a:extLst>
          </p:cNvPr>
          <p:cNvPicPr>
            <a:picLocks noChangeAspect="1"/>
          </p:cNvPicPr>
          <p:nvPr/>
        </p:nvPicPr>
        <p:blipFill>
          <a:blip r:embed="rId7"/>
          <a:stretch>
            <a:fillRect/>
          </a:stretch>
        </p:blipFill>
        <p:spPr>
          <a:xfrm>
            <a:off x="8012181" y="1684708"/>
            <a:ext cx="562268" cy="517102"/>
          </a:xfrm>
          <a:prstGeom prst="rect">
            <a:avLst/>
          </a:prstGeom>
        </p:spPr>
      </p:pic>
      <p:pic>
        <p:nvPicPr>
          <p:cNvPr id="45" name="图形 44" descr="Internet">
            <a:extLst>
              <a:ext uri="{FF2B5EF4-FFF2-40B4-BE49-F238E27FC236}">
                <a16:creationId xmlns:a16="http://schemas.microsoft.com/office/drawing/2014/main" id="{31A7A7A5-3FB3-DB4C-A467-F37876677C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88650" y="3522389"/>
            <a:ext cx="1045278" cy="1112359"/>
          </a:xfrm>
          <a:prstGeom prst="rect">
            <a:avLst/>
          </a:prstGeom>
        </p:spPr>
      </p:pic>
      <p:pic>
        <p:nvPicPr>
          <p:cNvPr id="46" name="图片 45">
            <a:extLst>
              <a:ext uri="{FF2B5EF4-FFF2-40B4-BE49-F238E27FC236}">
                <a16:creationId xmlns:a16="http://schemas.microsoft.com/office/drawing/2014/main" id="{80244EC1-D1DB-A643-ADA6-BD6F475F69F9}"/>
              </a:ext>
            </a:extLst>
          </p:cNvPr>
          <p:cNvPicPr>
            <a:picLocks noChangeAspect="1"/>
          </p:cNvPicPr>
          <p:nvPr/>
        </p:nvPicPr>
        <p:blipFill>
          <a:blip r:embed="rId4"/>
          <a:stretch>
            <a:fillRect/>
          </a:stretch>
        </p:blipFill>
        <p:spPr>
          <a:xfrm>
            <a:off x="10592445" y="3505865"/>
            <a:ext cx="659796" cy="898445"/>
          </a:xfrm>
          <a:prstGeom prst="rect">
            <a:avLst/>
          </a:prstGeom>
        </p:spPr>
      </p:pic>
      <p:pic>
        <p:nvPicPr>
          <p:cNvPr id="47" name="图形 46">
            <a:extLst>
              <a:ext uri="{FF2B5EF4-FFF2-40B4-BE49-F238E27FC236}">
                <a16:creationId xmlns:a16="http://schemas.microsoft.com/office/drawing/2014/main" id="{9B6B36C4-7C82-CA4D-A6B6-3B054FAD3A7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40547" y="3522389"/>
            <a:ext cx="1045279" cy="1045279"/>
          </a:xfrm>
          <a:prstGeom prst="rect">
            <a:avLst/>
          </a:prstGeom>
        </p:spPr>
      </p:pic>
      <p:cxnSp>
        <p:nvCxnSpPr>
          <p:cNvPr id="48" name="直线箭头连接符 47">
            <a:extLst>
              <a:ext uri="{FF2B5EF4-FFF2-40B4-BE49-F238E27FC236}">
                <a16:creationId xmlns:a16="http://schemas.microsoft.com/office/drawing/2014/main" id="{AF6BA0DB-0B28-9545-BBCC-D4FE8FDB1CE8}"/>
              </a:ext>
            </a:extLst>
          </p:cNvPr>
          <p:cNvCxnSpPr>
            <a:cxnSpLocks/>
          </p:cNvCxnSpPr>
          <p:nvPr/>
        </p:nvCxnSpPr>
        <p:spPr>
          <a:xfrm flipV="1">
            <a:off x="5933928" y="4026747"/>
            <a:ext cx="1806619" cy="1"/>
          </a:xfrm>
          <a:prstGeom prst="straightConnector1">
            <a:avLst/>
          </a:prstGeom>
          <a:ln>
            <a:tailEnd type="triangle" w="med" len="lg"/>
          </a:ln>
        </p:spPr>
        <p:style>
          <a:lnRef idx="1">
            <a:schemeClr val="accent1"/>
          </a:lnRef>
          <a:fillRef idx="0">
            <a:schemeClr val="accent1"/>
          </a:fillRef>
          <a:effectRef idx="0">
            <a:schemeClr val="accent1"/>
          </a:effectRef>
          <a:fontRef idx="minor">
            <a:schemeClr val="tx1"/>
          </a:fontRef>
        </p:style>
      </p:cxnSp>
      <p:cxnSp>
        <p:nvCxnSpPr>
          <p:cNvPr id="49" name="直线箭头连接符 48">
            <a:extLst>
              <a:ext uri="{FF2B5EF4-FFF2-40B4-BE49-F238E27FC236}">
                <a16:creationId xmlns:a16="http://schemas.microsoft.com/office/drawing/2014/main" id="{F3384C9A-0619-6B4B-8436-A9C5F5FD2899}"/>
              </a:ext>
            </a:extLst>
          </p:cNvPr>
          <p:cNvCxnSpPr>
            <a:cxnSpLocks/>
          </p:cNvCxnSpPr>
          <p:nvPr/>
        </p:nvCxnSpPr>
        <p:spPr>
          <a:xfrm flipV="1">
            <a:off x="8773222" y="3980639"/>
            <a:ext cx="1806619" cy="1"/>
          </a:xfrm>
          <a:prstGeom prst="straightConnector1">
            <a:avLst/>
          </a:prstGeom>
          <a:ln>
            <a:tailEnd type="triangle" w="med" len="lg"/>
          </a:ln>
        </p:spPr>
        <p:style>
          <a:lnRef idx="1">
            <a:schemeClr val="accent1"/>
          </a:lnRef>
          <a:fillRef idx="0">
            <a:schemeClr val="accent1"/>
          </a:fillRef>
          <a:effectRef idx="0">
            <a:schemeClr val="accent1"/>
          </a:effectRef>
          <a:fontRef idx="minor">
            <a:schemeClr val="tx1"/>
          </a:fontRef>
        </p:style>
      </p:cxnSp>
      <p:grpSp>
        <p:nvGrpSpPr>
          <p:cNvPr id="50" name="组合 49">
            <a:extLst>
              <a:ext uri="{FF2B5EF4-FFF2-40B4-BE49-F238E27FC236}">
                <a16:creationId xmlns:a16="http://schemas.microsoft.com/office/drawing/2014/main" id="{DB43ABE1-FFC6-9E4B-A024-9407D74FD1DE}"/>
              </a:ext>
            </a:extLst>
          </p:cNvPr>
          <p:cNvGrpSpPr/>
          <p:nvPr/>
        </p:nvGrpSpPr>
        <p:grpSpPr>
          <a:xfrm>
            <a:off x="9203752" y="3299305"/>
            <a:ext cx="993990" cy="446168"/>
            <a:chOff x="9087372" y="1159947"/>
            <a:chExt cx="993990" cy="446168"/>
          </a:xfrm>
          <a:solidFill>
            <a:srgbClr val="FF0000"/>
          </a:solidFill>
        </p:grpSpPr>
        <p:sp>
          <p:nvSpPr>
            <p:cNvPr id="51" name="圆角矩形 50">
              <a:extLst>
                <a:ext uri="{FF2B5EF4-FFF2-40B4-BE49-F238E27FC236}">
                  <a16:creationId xmlns:a16="http://schemas.microsoft.com/office/drawing/2014/main" id="{89BED30E-02B9-9D41-A351-B9DB04B196AF}"/>
                </a:ext>
              </a:extLst>
            </p:cNvPr>
            <p:cNvSpPr/>
            <p:nvPr/>
          </p:nvSpPr>
          <p:spPr>
            <a:xfrm>
              <a:off x="9087372" y="1159947"/>
              <a:ext cx="993990" cy="446168"/>
            </a:xfrm>
            <a:prstGeom prst="roundRect">
              <a:avLst/>
            </a:prstGeom>
            <a:grp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zh-CN" altLang="en-US" dirty="0">
                <a:highlight>
                  <a:srgbClr val="FF0000"/>
                </a:highlight>
              </a:endParaRPr>
            </a:p>
          </p:txBody>
        </p:sp>
        <p:sp>
          <p:nvSpPr>
            <p:cNvPr id="52" name="矩形 51">
              <a:extLst>
                <a:ext uri="{FF2B5EF4-FFF2-40B4-BE49-F238E27FC236}">
                  <a16:creationId xmlns:a16="http://schemas.microsoft.com/office/drawing/2014/main" id="{96322585-A245-024A-A9D4-6D5E351A3EAD}"/>
                </a:ext>
              </a:extLst>
            </p:cNvPr>
            <p:cNvSpPr/>
            <p:nvPr/>
          </p:nvSpPr>
          <p:spPr>
            <a:xfrm>
              <a:off x="9113622" y="1169877"/>
              <a:ext cx="910634" cy="369332"/>
            </a:xfrm>
            <a:prstGeom prst="rect">
              <a:avLst/>
            </a:prstGeom>
            <a:grpFill/>
          </p:spPr>
          <p:txBody>
            <a:bodyPr wrap="none">
              <a:spAutoFit/>
            </a:bodyPr>
            <a:lstStyle/>
            <a:p>
              <a:r>
                <a:rPr lang="en-US" altLang="zh-CN" dirty="0">
                  <a:solidFill>
                    <a:schemeClr val="bg1"/>
                  </a:solidFill>
                  <a:latin typeface="Microsoft YaHei" panose="020B0503020204020204" pitchFamily="34" charset="-122"/>
                  <a:ea typeface="Microsoft YaHei" panose="020B0503020204020204" pitchFamily="34" charset="-122"/>
                </a:rPr>
                <a:t>packet</a:t>
              </a:r>
              <a:endParaRPr lang="zh-CN" altLang="en-US" baseline="-25000" dirty="0">
                <a:solidFill>
                  <a:schemeClr val="bg1"/>
                </a:solidFill>
              </a:endParaRPr>
            </a:p>
          </p:txBody>
        </p:sp>
      </p:grpSp>
      <p:sp>
        <p:nvSpPr>
          <p:cNvPr id="53" name="矩形 52">
            <a:extLst>
              <a:ext uri="{FF2B5EF4-FFF2-40B4-BE49-F238E27FC236}">
                <a16:creationId xmlns:a16="http://schemas.microsoft.com/office/drawing/2014/main" id="{3006343F-8649-FA4F-B1DD-716BA0AAD57A}"/>
              </a:ext>
            </a:extLst>
          </p:cNvPr>
          <p:cNvSpPr/>
          <p:nvPr/>
        </p:nvSpPr>
        <p:spPr>
          <a:xfrm>
            <a:off x="4997648" y="4491694"/>
            <a:ext cx="877163" cy="369332"/>
          </a:xfrm>
          <a:prstGeom prst="rect">
            <a:avLst/>
          </a:prstGeom>
        </p:spPr>
        <p:txBody>
          <a:bodyPr wrap="none">
            <a:spAutoFit/>
          </a:bodyPr>
          <a:lstStyle/>
          <a:p>
            <a:r>
              <a:rPr lang="zh-CN" altLang="en-US" dirty="0">
                <a:latin typeface="Microsoft YaHei" panose="020B0503020204020204" pitchFamily="34" charset="-122"/>
                <a:ea typeface="Microsoft YaHei" panose="020B0503020204020204" pitchFamily="34" charset="-122"/>
              </a:rPr>
              <a:t>客戶端</a:t>
            </a:r>
            <a:endParaRPr lang="zh-CN" altLang="en-US" dirty="0"/>
          </a:p>
        </p:txBody>
      </p:sp>
      <p:sp>
        <p:nvSpPr>
          <p:cNvPr id="55" name="矩形 54">
            <a:extLst>
              <a:ext uri="{FF2B5EF4-FFF2-40B4-BE49-F238E27FC236}">
                <a16:creationId xmlns:a16="http://schemas.microsoft.com/office/drawing/2014/main" id="{63C8CE82-9D2F-FA4F-AD6B-13811D8FDF3E}"/>
              </a:ext>
            </a:extLst>
          </p:cNvPr>
          <p:cNvSpPr/>
          <p:nvPr/>
        </p:nvSpPr>
        <p:spPr>
          <a:xfrm>
            <a:off x="7709188" y="4450082"/>
            <a:ext cx="1107996" cy="369332"/>
          </a:xfrm>
          <a:prstGeom prst="rect">
            <a:avLst/>
          </a:prstGeom>
        </p:spPr>
        <p:txBody>
          <a:bodyPr wrap="none">
            <a:spAutoFit/>
          </a:bodyPr>
          <a:lstStyle/>
          <a:p>
            <a:r>
              <a:rPr lang="zh-CN" altLang="en-US" dirty="0">
                <a:latin typeface="Microsoft YaHei" panose="020B0503020204020204" pitchFamily="34" charset="-122"/>
                <a:ea typeface="Microsoft YaHei" panose="020B0503020204020204" pitchFamily="34" charset="-122"/>
              </a:rPr>
              <a:t>中間節點</a:t>
            </a:r>
            <a:endParaRPr lang="zh-CN" altLang="en-US" dirty="0"/>
          </a:p>
        </p:txBody>
      </p:sp>
      <p:pic>
        <p:nvPicPr>
          <p:cNvPr id="58" name="图片 57">
            <a:extLst>
              <a:ext uri="{FF2B5EF4-FFF2-40B4-BE49-F238E27FC236}">
                <a16:creationId xmlns:a16="http://schemas.microsoft.com/office/drawing/2014/main" id="{10C2D2B0-61E4-8148-B480-307727AF9568}"/>
              </a:ext>
            </a:extLst>
          </p:cNvPr>
          <p:cNvPicPr>
            <a:picLocks noChangeAspect="1"/>
          </p:cNvPicPr>
          <p:nvPr/>
        </p:nvPicPr>
        <p:blipFill>
          <a:blip r:embed="rId7"/>
          <a:stretch>
            <a:fillRect/>
          </a:stretch>
        </p:blipFill>
        <p:spPr>
          <a:xfrm>
            <a:off x="8027246" y="3696536"/>
            <a:ext cx="562268" cy="517102"/>
          </a:xfrm>
          <a:prstGeom prst="rect">
            <a:avLst/>
          </a:prstGeom>
        </p:spPr>
      </p:pic>
      <p:pic>
        <p:nvPicPr>
          <p:cNvPr id="91" name="图片 90">
            <a:extLst>
              <a:ext uri="{FF2B5EF4-FFF2-40B4-BE49-F238E27FC236}">
                <a16:creationId xmlns:a16="http://schemas.microsoft.com/office/drawing/2014/main" id="{EDC7E9CB-A50E-7D44-8085-1E83B6BD2E25}"/>
              </a:ext>
            </a:extLst>
          </p:cNvPr>
          <p:cNvPicPr>
            <a:picLocks noChangeAspect="1"/>
          </p:cNvPicPr>
          <p:nvPr/>
        </p:nvPicPr>
        <p:blipFill>
          <a:blip r:embed="rId7"/>
          <a:stretch>
            <a:fillRect/>
          </a:stretch>
        </p:blipFill>
        <p:spPr>
          <a:xfrm>
            <a:off x="8818510" y="5587929"/>
            <a:ext cx="562268" cy="517102"/>
          </a:xfrm>
          <a:prstGeom prst="rect">
            <a:avLst/>
          </a:prstGeom>
        </p:spPr>
      </p:pic>
      <p:pic>
        <p:nvPicPr>
          <p:cNvPr id="92" name="图形 91" descr="Internet">
            <a:extLst>
              <a:ext uri="{FF2B5EF4-FFF2-40B4-BE49-F238E27FC236}">
                <a16:creationId xmlns:a16="http://schemas.microsoft.com/office/drawing/2014/main" id="{272686B9-B298-484A-A38C-B070A25271E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740547" y="5288856"/>
            <a:ext cx="1045278" cy="1112359"/>
          </a:xfrm>
          <a:prstGeom prst="rect">
            <a:avLst/>
          </a:prstGeom>
        </p:spPr>
      </p:pic>
      <p:sp>
        <p:nvSpPr>
          <p:cNvPr id="93" name="矩形 92">
            <a:extLst>
              <a:ext uri="{FF2B5EF4-FFF2-40B4-BE49-F238E27FC236}">
                <a16:creationId xmlns:a16="http://schemas.microsoft.com/office/drawing/2014/main" id="{10496233-29C7-3C4E-B457-CFC54F8D3DBA}"/>
              </a:ext>
            </a:extLst>
          </p:cNvPr>
          <p:cNvSpPr/>
          <p:nvPr/>
        </p:nvSpPr>
        <p:spPr>
          <a:xfrm>
            <a:off x="7747642" y="6208614"/>
            <a:ext cx="1138453" cy="369332"/>
          </a:xfrm>
          <a:prstGeom prst="rect">
            <a:avLst/>
          </a:prstGeom>
        </p:spPr>
        <p:txBody>
          <a:bodyPr wrap="none">
            <a:spAutoFit/>
          </a:bodyPr>
          <a:lstStyle/>
          <a:p>
            <a:r>
              <a:rPr lang="zh-CN" altLang="en-US" dirty="0">
                <a:latin typeface="Microsoft YaHei" panose="020B0503020204020204" pitchFamily="34" charset="-122"/>
                <a:ea typeface="Microsoft YaHei" panose="020B0503020204020204" pitchFamily="34" charset="-122"/>
              </a:rPr>
              <a:t>其它節點</a:t>
            </a:r>
            <a:endParaRPr lang="zh-CN" altLang="en-US" dirty="0"/>
          </a:p>
        </p:txBody>
      </p:sp>
      <p:sp>
        <p:nvSpPr>
          <p:cNvPr id="9" name="弧 8">
            <a:extLst>
              <a:ext uri="{FF2B5EF4-FFF2-40B4-BE49-F238E27FC236}">
                <a16:creationId xmlns:a16="http://schemas.microsoft.com/office/drawing/2014/main" id="{4D745037-FAD8-EE49-A529-5ED8C5ED8FDE}"/>
              </a:ext>
            </a:extLst>
          </p:cNvPr>
          <p:cNvSpPr/>
          <p:nvPr/>
        </p:nvSpPr>
        <p:spPr>
          <a:xfrm>
            <a:off x="8304550" y="4044978"/>
            <a:ext cx="4467069" cy="2813022"/>
          </a:xfrm>
          <a:prstGeom prst="arc">
            <a:avLst>
              <a:gd name="adj1" fmla="val 11076771"/>
              <a:gd name="adj2" fmla="val 15997939"/>
            </a:avLst>
          </a:prstGeom>
          <a:ln>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dirty="0"/>
          </a:p>
        </p:txBody>
      </p:sp>
      <p:grpSp>
        <p:nvGrpSpPr>
          <p:cNvPr id="94" name="组合 93">
            <a:extLst>
              <a:ext uri="{FF2B5EF4-FFF2-40B4-BE49-F238E27FC236}">
                <a16:creationId xmlns:a16="http://schemas.microsoft.com/office/drawing/2014/main" id="{53F4702C-8EC9-8F4A-9D7F-FCA25D4CE507}"/>
              </a:ext>
            </a:extLst>
          </p:cNvPr>
          <p:cNvGrpSpPr/>
          <p:nvPr/>
        </p:nvGrpSpPr>
        <p:grpSpPr>
          <a:xfrm>
            <a:off x="9203752" y="4654962"/>
            <a:ext cx="993990" cy="446168"/>
            <a:chOff x="9087372" y="1159947"/>
            <a:chExt cx="993990" cy="446168"/>
          </a:xfrm>
          <a:solidFill>
            <a:srgbClr val="FF0000"/>
          </a:solidFill>
        </p:grpSpPr>
        <p:sp>
          <p:nvSpPr>
            <p:cNvPr id="95" name="圆角矩形 94">
              <a:extLst>
                <a:ext uri="{FF2B5EF4-FFF2-40B4-BE49-F238E27FC236}">
                  <a16:creationId xmlns:a16="http://schemas.microsoft.com/office/drawing/2014/main" id="{7F72EB80-6D59-D340-9C09-2D4B5091DC38}"/>
                </a:ext>
              </a:extLst>
            </p:cNvPr>
            <p:cNvSpPr/>
            <p:nvPr/>
          </p:nvSpPr>
          <p:spPr>
            <a:xfrm>
              <a:off x="9087372" y="1159947"/>
              <a:ext cx="993990" cy="446168"/>
            </a:xfrm>
            <a:prstGeom prst="roundRect">
              <a:avLst/>
            </a:prstGeom>
            <a:grp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zh-CN" altLang="en-US" dirty="0">
                <a:highlight>
                  <a:srgbClr val="FF0000"/>
                </a:highlight>
              </a:endParaRPr>
            </a:p>
          </p:txBody>
        </p:sp>
        <p:sp>
          <p:nvSpPr>
            <p:cNvPr id="96" name="矩形 95">
              <a:extLst>
                <a:ext uri="{FF2B5EF4-FFF2-40B4-BE49-F238E27FC236}">
                  <a16:creationId xmlns:a16="http://schemas.microsoft.com/office/drawing/2014/main" id="{4BD020C3-D019-334B-9CB7-B47F497676E4}"/>
                </a:ext>
              </a:extLst>
            </p:cNvPr>
            <p:cNvSpPr/>
            <p:nvPr/>
          </p:nvSpPr>
          <p:spPr>
            <a:xfrm>
              <a:off x="9113622" y="1169877"/>
              <a:ext cx="910634" cy="369332"/>
            </a:xfrm>
            <a:prstGeom prst="rect">
              <a:avLst/>
            </a:prstGeom>
            <a:grpFill/>
          </p:spPr>
          <p:txBody>
            <a:bodyPr wrap="none">
              <a:spAutoFit/>
            </a:bodyPr>
            <a:lstStyle/>
            <a:p>
              <a:r>
                <a:rPr lang="en-US" altLang="zh-CN" dirty="0">
                  <a:solidFill>
                    <a:schemeClr val="bg1"/>
                  </a:solidFill>
                  <a:latin typeface="Microsoft YaHei" panose="020B0503020204020204" pitchFamily="34" charset="-122"/>
                  <a:ea typeface="Microsoft YaHei" panose="020B0503020204020204" pitchFamily="34" charset="-122"/>
                </a:rPr>
                <a:t>packet</a:t>
              </a:r>
              <a:endParaRPr lang="zh-CN" altLang="en-US" baseline="-25000" dirty="0">
                <a:solidFill>
                  <a:schemeClr val="bg1"/>
                </a:solidFill>
              </a:endParaRPr>
            </a:p>
          </p:txBody>
        </p:sp>
      </p:grpSp>
      <p:sp>
        <p:nvSpPr>
          <p:cNvPr id="97" name="矩形 96">
            <a:extLst>
              <a:ext uri="{FF2B5EF4-FFF2-40B4-BE49-F238E27FC236}">
                <a16:creationId xmlns:a16="http://schemas.microsoft.com/office/drawing/2014/main" id="{5EDA1BF0-66EF-AA4D-8D13-B0028CAEEDF2}"/>
              </a:ext>
            </a:extLst>
          </p:cNvPr>
          <p:cNvSpPr/>
          <p:nvPr/>
        </p:nvSpPr>
        <p:spPr>
          <a:xfrm>
            <a:off x="758157" y="1190478"/>
            <a:ext cx="3965774" cy="2390783"/>
          </a:xfrm>
          <a:prstGeom prst="rect">
            <a:avLst/>
          </a:prstGeom>
          <a:ln>
            <a:solidFill>
              <a:srgbClr val="00B0F0"/>
            </a:solidFill>
          </a:ln>
        </p:spPr>
        <p:txBody>
          <a:bodyPr wrap="square">
            <a:spAutoFit/>
          </a:bodyPr>
          <a:lstStyle/>
          <a:p>
            <a:pPr marL="342900" lvl="1" indent="-342900" algn="just" fontAlgn="base">
              <a:lnSpc>
                <a:spcPct val="150000"/>
              </a:lnSpc>
              <a:spcBef>
                <a:spcPct val="20000"/>
              </a:spcBef>
              <a:spcAft>
                <a:spcPct val="0"/>
              </a:spcAft>
              <a:buSzPct val="100000"/>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數據包篡改</a:t>
            </a:r>
            <a:endParaRPr lang="en-US" altLang="zh-CN" sz="2400" dirty="0">
              <a:latin typeface="Microsoft YaHei" panose="020B0503020204020204" pitchFamily="34" charset="-122"/>
              <a:ea typeface="Microsoft YaHei" panose="020B0503020204020204" pitchFamily="34" charset="-122"/>
            </a:endParaRPr>
          </a:p>
          <a:p>
            <a:pPr marL="684000" lvl="1" indent="-342900" algn="just" fontAlgn="base">
              <a:lnSpc>
                <a:spcPct val="150000"/>
              </a:lnSpc>
              <a:spcBef>
                <a:spcPct val="20000"/>
              </a:spcBef>
              <a:spcAft>
                <a:spcPct val="0"/>
              </a:spcAft>
              <a:buSzPct val="100000"/>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中間轉發節點可能篡改經過的數據包</a:t>
            </a:r>
            <a:endParaRPr lang="en-US" altLang="zh-CN" sz="2400" dirty="0">
              <a:latin typeface="Microsoft YaHei" panose="020B0503020204020204" pitchFamily="34" charset="-122"/>
              <a:ea typeface="Microsoft YaHei" panose="020B0503020204020204" pitchFamily="34" charset="-122"/>
            </a:endParaRPr>
          </a:p>
          <a:p>
            <a:pPr marL="684000" lvl="1" indent="-342900" algn="just" fontAlgn="base">
              <a:lnSpc>
                <a:spcPct val="150000"/>
              </a:lnSpc>
              <a:spcBef>
                <a:spcPct val="20000"/>
              </a:spcBef>
              <a:spcAft>
                <a:spcPct val="0"/>
              </a:spcAft>
              <a:buSzPct val="100000"/>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其它節點僞造</a:t>
            </a:r>
            <a:endParaRPr lang="en-US" altLang="zh-CN" sz="2400" dirty="0">
              <a:latin typeface="Microsoft YaHei" panose="020B0503020204020204" pitchFamily="34" charset="-122"/>
              <a:ea typeface="Microsoft YaHei" panose="020B0503020204020204" pitchFamily="34" charset="-122"/>
            </a:endParaRPr>
          </a:p>
        </p:txBody>
      </p:sp>
      <p:sp>
        <p:nvSpPr>
          <p:cNvPr id="98" name="矩形 97">
            <a:extLst>
              <a:ext uri="{FF2B5EF4-FFF2-40B4-BE49-F238E27FC236}">
                <a16:creationId xmlns:a16="http://schemas.microsoft.com/office/drawing/2014/main" id="{11465AC7-F18C-934C-AD87-C4A3D1CE243F}"/>
              </a:ext>
            </a:extLst>
          </p:cNvPr>
          <p:cNvSpPr/>
          <p:nvPr/>
        </p:nvSpPr>
        <p:spPr>
          <a:xfrm>
            <a:off x="10325847" y="2352061"/>
            <a:ext cx="1107996" cy="646331"/>
          </a:xfrm>
          <a:prstGeom prst="rect">
            <a:avLst/>
          </a:prstGeom>
        </p:spPr>
        <p:txBody>
          <a:bodyPr wrap="none">
            <a:spAutoFit/>
          </a:bodyPr>
          <a:lstStyle/>
          <a:p>
            <a:pPr algn="ctr"/>
            <a:r>
              <a:rPr lang="zh-CN" altLang="en-US" dirty="0">
                <a:latin typeface="Microsoft YaHei" panose="020B0503020204020204" pitchFamily="34" charset="-122"/>
                <a:ea typeface="Microsoft YaHei" panose="020B0503020204020204" pitchFamily="34" charset="-122"/>
              </a:rPr>
              <a:t>服務端</a:t>
            </a:r>
            <a:r>
              <a:rPr lang="en-US" altLang="zh-CN" dirty="0">
                <a:latin typeface="Microsoft YaHei" panose="020B0503020204020204" pitchFamily="34" charset="-122"/>
                <a:ea typeface="Microsoft YaHei" panose="020B0503020204020204" pitchFamily="34" charset="-122"/>
              </a:rPr>
              <a:t>/</a:t>
            </a:r>
          </a:p>
          <a:p>
            <a:pPr algn="ctr"/>
            <a:r>
              <a:rPr lang="zh-CN" altLang="en-US" dirty="0">
                <a:latin typeface="Microsoft YaHei" panose="020B0503020204020204" pitchFamily="34" charset="-122"/>
                <a:ea typeface="Microsoft YaHei" panose="020B0503020204020204" pitchFamily="34" charset="-122"/>
              </a:rPr>
              <a:t>對等節點</a:t>
            </a:r>
            <a:endParaRPr lang="zh-CN" altLang="en-US" dirty="0"/>
          </a:p>
        </p:txBody>
      </p:sp>
      <p:sp>
        <p:nvSpPr>
          <p:cNvPr id="99" name="矩形 98">
            <a:extLst>
              <a:ext uri="{FF2B5EF4-FFF2-40B4-BE49-F238E27FC236}">
                <a16:creationId xmlns:a16="http://schemas.microsoft.com/office/drawing/2014/main" id="{ECABEE5D-0711-6A4E-B1E4-8EA504799890}"/>
              </a:ext>
            </a:extLst>
          </p:cNvPr>
          <p:cNvSpPr/>
          <p:nvPr/>
        </p:nvSpPr>
        <p:spPr>
          <a:xfrm>
            <a:off x="10389809" y="4446408"/>
            <a:ext cx="1107996" cy="646331"/>
          </a:xfrm>
          <a:prstGeom prst="rect">
            <a:avLst/>
          </a:prstGeom>
        </p:spPr>
        <p:txBody>
          <a:bodyPr wrap="none">
            <a:spAutoFit/>
          </a:bodyPr>
          <a:lstStyle/>
          <a:p>
            <a:pPr algn="ctr"/>
            <a:r>
              <a:rPr lang="zh-CN" altLang="en-US" dirty="0">
                <a:latin typeface="Microsoft YaHei" panose="020B0503020204020204" pitchFamily="34" charset="-122"/>
                <a:ea typeface="Microsoft YaHei" panose="020B0503020204020204" pitchFamily="34" charset="-122"/>
              </a:rPr>
              <a:t>服務端</a:t>
            </a:r>
            <a:r>
              <a:rPr lang="en-US" altLang="zh-CN" dirty="0">
                <a:latin typeface="Microsoft YaHei" panose="020B0503020204020204" pitchFamily="34" charset="-122"/>
                <a:ea typeface="Microsoft YaHei" panose="020B0503020204020204" pitchFamily="34" charset="-122"/>
              </a:rPr>
              <a:t>/</a:t>
            </a:r>
          </a:p>
          <a:p>
            <a:pPr algn="ctr"/>
            <a:r>
              <a:rPr lang="zh-CN" altLang="en-US" dirty="0">
                <a:latin typeface="Microsoft YaHei" panose="020B0503020204020204" pitchFamily="34" charset="-122"/>
                <a:ea typeface="Microsoft YaHei" panose="020B0503020204020204" pitchFamily="34" charset="-122"/>
              </a:rPr>
              <a:t>對等節點</a:t>
            </a:r>
            <a:endParaRPr lang="zh-CN" altLang="en-US" dirty="0"/>
          </a:p>
        </p:txBody>
      </p:sp>
      <p:sp>
        <p:nvSpPr>
          <p:cNvPr id="39" name="文本框 38">
            <a:extLst>
              <a:ext uri="{FF2B5EF4-FFF2-40B4-BE49-F238E27FC236}">
                <a16:creationId xmlns:a16="http://schemas.microsoft.com/office/drawing/2014/main" id="{2B4B5DAA-CF20-E840-B443-045C1EF93962}"/>
              </a:ext>
            </a:extLst>
          </p:cNvPr>
          <p:cNvSpPr txBox="1"/>
          <p:nvPr/>
        </p:nvSpPr>
        <p:spPr>
          <a:xfrm>
            <a:off x="768262" y="3706319"/>
            <a:ext cx="3955669" cy="2944781"/>
          </a:xfrm>
          <a:prstGeom prst="rect">
            <a:avLst/>
          </a:prstGeom>
          <a:noFill/>
          <a:ln>
            <a:solidFill>
              <a:srgbClr val="00B0F0"/>
            </a:solidFill>
          </a:ln>
        </p:spPr>
        <p:txBody>
          <a:bodyPr wrap="square">
            <a:spAutoFit/>
          </a:bodyPr>
          <a:lstStyle/>
          <a:p>
            <a:pPr marL="342900" lvl="1" indent="-342900" algn="just" fontAlgn="base">
              <a:lnSpc>
                <a:spcPct val="150000"/>
              </a:lnSpc>
              <a:spcBef>
                <a:spcPct val="20000"/>
              </a:spcBef>
              <a:spcAft>
                <a:spcPct val="0"/>
              </a:spcAft>
              <a:buSzPct val="100000"/>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數據包僞造</a:t>
            </a:r>
            <a:endParaRPr lang="en-US" altLang="zh-CN" sz="2400" dirty="0">
              <a:latin typeface="Microsoft YaHei" panose="020B0503020204020204" pitchFamily="34" charset="-122"/>
              <a:ea typeface="Microsoft YaHei" panose="020B0503020204020204" pitchFamily="34" charset="-122"/>
            </a:endParaRPr>
          </a:p>
          <a:p>
            <a:pPr marL="684000" lvl="1" indent="-342900" algn="just" fontAlgn="base">
              <a:lnSpc>
                <a:spcPct val="150000"/>
              </a:lnSpc>
              <a:spcBef>
                <a:spcPct val="20000"/>
              </a:spcBef>
              <a:spcAft>
                <a:spcPct val="0"/>
              </a:spcAft>
              <a:buSzPct val="100000"/>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中間轉發節點或其它節點僞造數據包</a:t>
            </a:r>
            <a:endParaRPr lang="en-US" altLang="zh-CN" sz="2400" dirty="0">
              <a:latin typeface="Microsoft YaHei" panose="020B0503020204020204" pitchFamily="34" charset="-122"/>
              <a:ea typeface="Microsoft YaHei" panose="020B0503020204020204" pitchFamily="34" charset="-122"/>
            </a:endParaRPr>
          </a:p>
          <a:p>
            <a:pPr marL="684000" lvl="1" indent="-342900" algn="just" fontAlgn="base">
              <a:lnSpc>
                <a:spcPct val="150000"/>
              </a:lnSpc>
              <a:spcBef>
                <a:spcPct val="20000"/>
              </a:spcBef>
              <a:spcAft>
                <a:spcPct val="0"/>
              </a:spcAft>
              <a:buSzPct val="100000"/>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其它節點僞造客戶端發送應用層請求</a:t>
            </a:r>
            <a:endParaRPr lang="en-US" altLang="zh-CN" sz="2400" dirty="0">
              <a:latin typeface="Microsoft YaHei" panose="020B0503020204020204" pitchFamily="34" charset="-122"/>
              <a:ea typeface="Microsoft YaHei" panose="020B0503020204020204" pitchFamily="34" charset="-122"/>
            </a:endParaRPr>
          </a:p>
        </p:txBody>
      </p:sp>
      <p:sp>
        <p:nvSpPr>
          <p:cNvPr id="40" name="灯片编号占位符 2">
            <a:extLst>
              <a:ext uri="{FF2B5EF4-FFF2-40B4-BE49-F238E27FC236}">
                <a16:creationId xmlns:a16="http://schemas.microsoft.com/office/drawing/2014/main" id="{FB8BF329-BCDF-BA42-A72C-90B903513C16}"/>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17</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32640426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云形 36">
            <a:extLst>
              <a:ext uri="{FF2B5EF4-FFF2-40B4-BE49-F238E27FC236}">
                <a16:creationId xmlns:a16="http://schemas.microsoft.com/office/drawing/2014/main" id="{531F3957-1766-6648-868D-25E54FCEA5E2}"/>
              </a:ext>
            </a:extLst>
          </p:cNvPr>
          <p:cNvSpPr/>
          <p:nvPr/>
        </p:nvSpPr>
        <p:spPr>
          <a:xfrm>
            <a:off x="7790425" y="1290188"/>
            <a:ext cx="1590353" cy="1135966"/>
          </a:xfrm>
          <a:prstGeom prst="cloud">
            <a:avLst/>
          </a:prstGeom>
          <a:solidFill>
            <a:schemeClr val="bg2"/>
          </a:solidFill>
          <a:effectLst>
            <a:innerShdw blurRad="63500" dist="50800" dir="5400000">
              <a:prstClr val="black">
                <a:alpha val="50000"/>
              </a:prstClr>
            </a:inn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交互信道中的安全隱患</a:t>
            </a:r>
          </a:p>
        </p:txBody>
      </p:sp>
      <p:cxnSp>
        <p:nvCxnSpPr>
          <p:cNvPr id="6" name="直线箭头连接符 5">
            <a:extLst>
              <a:ext uri="{FF2B5EF4-FFF2-40B4-BE49-F238E27FC236}">
                <a16:creationId xmlns:a16="http://schemas.microsoft.com/office/drawing/2014/main" id="{3CD6AEA0-D59D-E94B-83D0-E80542CD3CDB}"/>
              </a:ext>
            </a:extLst>
          </p:cNvPr>
          <p:cNvCxnSpPr>
            <a:cxnSpLocks/>
          </p:cNvCxnSpPr>
          <p:nvPr/>
        </p:nvCxnSpPr>
        <p:spPr>
          <a:xfrm flipV="1">
            <a:off x="6253716" y="1844052"/>
            <a:ext cx="4470946" cy="1"/>
          </a:xfrm>
          <a:prstGeom prst="straightConnector1">
            <a:avLst/>
          </a:prstGeom>
          <a:ln>
            <a:tailEnd type="triangle" w="med" len="lg"/>
          </a:ln>
        </p:spPr>
        <p:style>
          <a:lnRef idx="1">
            <a:schemeClr val="accent1"/>
          </a:lnRef>
          <a:fillRef idx="0">
            <a:schemeClr val="accent1"/>
          </a:fillRef>
          <a:effectRef idx="0">
            <a:schemeClr val="accent1"/>
          </a:effectRef>
          <a:fontRef idx="minor">
            <a:schemeClr val="tx1"/>
          </a:fontRef>
        </p:style>
      </p:cxnSp>
      <p:grpSp>
        <p:nvGrpSpPr>
          <p:cNvPr id="5" name="组合 4">
            <a:extLst>
              <a:ext uri="{FF2B5EF4-FFF2-40B4-BE49-F238E27FC236}">
                <a16:creationId xmlns:a16="http://schemas.microsoft.com/office/drawing/2014/main" id="{D256ED05-8417-804D-B53B-8EDE58408983}"/>
              </a:ext>
            </a:extLst>
          </p:cNvPr>
          <p:cNvGrpSpPr/>
          <p:nvPr/>
        </p:nvGrpSpPr>
        <p:grpSpPr>
          <a:xfrm>
            <a:off x="7861221" y="1321255"/>
            <a:ext cx="1131703" cy="446168"/>
            <a:chOff x="11060623" y="478222"/>
            <a:chExt cx="1443793" cy="446168"/>
          </a:xfrm>
        </p:grpSpPr>
        <p:sp>
          <p:nvSpPr>
            <p:cNvPr id="9" name="圆角矩形 8">
              <a:extLst>
                <a:ext uri="{FF2B5EF4-FFF2-40B4-BE49-F238E27FC236}">
                  <a16:creationId xmlns:a16="http://schemas.microsoft.com/office/drawing/2014/main" id="{A40F303B-EF5A-0147-BF49-28E739D9AD43}"/>
                </a:ext>
              </a:extLst>
            </p:cNvPr>
            <p:cNvSpPr/>
            <p:nvPr/>
          </p:nvSpPr>
          <p:spPr>
            <a:xfrm>
              <a:off x="11060623" y="478222"/>
              <a:ext cx="1443793" cy="446168"/>
            </a:xfrm>
            <a:prstGeom prst="roundRect">
              <a:avLst/>
            </a:prstGeom>
            <a:solidFill>
              <a:srgbClr val="92D05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zh-CN" altLang="en-US" dirty="0">
                <a:highlight>
                  <a:srgbClr val="FF0000"/>
                </a:highlight>
              </a:endParaRPr>
            </a:p>
          </p:txBody>
        </p:sp>
        <p:sp>
          <p:nvSpPr>
            <p:cNvPr id="10" name="矩形 9">
              <a:extLst>
                <a:ext uri="{FF2B5EF4-FFF2-40B4-BE49-F238E27FC236}">
                  <a16:creationId xmlns:a16="http://schemas.microsoft.com/office/drawing/2014/main" id="{E894932E-9E67-4F4B-8FE3-BE2295FFE463}"/>
                </a:ext>
              </a:extLst>
            </p:cNvPr>
            <p:cNvSpPr/>
            <p:nvPr/>
          </p:nvSpPr>
          <p:spPr>
            <a:xfrm>
              <a:off x="11060624" y="499605"/>
              <a:ext cx="1075359" cy="369332"/>
            </a:xfrm>
            <a:prstGeom prst="rect">
              <a:avLst/>
            </a:prstGeom>
          </p:spPr>
          <p:txBody>
            <a:bodyPr wrap="none">
              <a:spAutoFit/>
            </a:bodyPr>
            <a:lstStyle/>
            <a:p>
              <a:r>
                <a:rPr lang="en-US" altLang="zh-CN" dirty="0">
                  <a:solidFill>
                    <a:schemeClr val="bg1"/>
                  </a:solidFill>
                  <a:latin typeface="Microsoft YaHei" panose="020B0503020204020204" pitchFamily="34" charset="-122"/>
                  <a:ea typeface="Microsoft YaHei" panose="020B0503020204020204" pitchFamily="34" charset="-122"/>
                </a:rPr>
                <a:t>Request</a:t>
              </a:r>
              <a:endParaRPr lang="zh-CN" altLang="en-US" baseline="-25000" dirty="0">
                <a:solidFill>
                  <a:schemeClr val="bg1"/>
                </a:solidFill>
              </a:endParaRPr>
            </a:p>
          </p:txBody>
        </p:sp>
      </p:grpSp>
      <p:grpSp>
        <p:nvGrpSpPr>
          <p:cNvPr id="39" name="组合 38">
            <a:extLst>
              <a:ext uri="{FF2B5EF4-FFF2-40B4-BE49-F238E27FC236}">
                <a16:creationId xmlns:a16="http://schemas.microsoft.com/office/drawing/2014/main" id="{EA925E0C-6A66-7A41-A646-82BF6A00BD10}"/>
              </a:ext>
            </a:extLst>
          </p:cNvPr>
          <p:cNvGrpSpPr/>
          <p:nvPr/>
        </p:nvGrpSpPr>
        <p:grpSpPr>
          <a:xfrm>
            <a:off x="5402466" y="1389041"/>
            <a:ext cx="917104" cy="1121541"/>
            <a:chOff x="4873585" y="1468483"/>
            <a:chExt cx="1145762" cy="1401170"/>
          </a:xfrm>
        </p:grpSpPr>
        <p:pic>
          <p:nvPicPr>
            <p:cNvPr id="3" name="图形 2" descr="Internet">
              <a:extLst>
                <a:ext uri="{FF2B5EF4-FFF2-40B4-BE49-F238E27FC236}">
                  <a16:creationId xmlns:a16="http://schemas.microsoft.com/office/drawing/2014/main" id="{66EB4AE6-D7DE-0D49-BEBC-EA94D37593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73585" y="1468483"/>
              <a:ext cx="1045278" cy="1112359"/>
            </a:xfrm>
            <a:prstGeom prst="rect">
              <a:avLst/>
            </a:prstGeom>
          </p:spPr>
        </p:pic>
        <p:sp>
          <p:nvSpPr>
            <p:cNvPr id="11" name="矩形 10">
              <a:extLst>
                <a:ext uri="{FF2B5EF4-FFF2-40B4-BE49-F238E27FC236}">
                  <a16:creationId xmlns:a16="http://schemas.microsoft.com/office/drawing/2014/main" id="{A488838B-FDAD-944B-ADAE-4980C35021C4}"/>
                </a:ext>
              </a:extLst>
            </p:cNvPr>
            <p:cNvSpPr/>
            <p:nvPr/>
          </p:nvSpPr>
          <p:spPr>
            <a:xfrm>
              <a:off x="4923484" y="2408237"/>
              <a:ext cx="1095863" cy="461416"/>
            </a:xfrm>
            <a:prstGeom prst="rect">
              <a:avLst/>
            </a:prstGeom>
          </p:spPr>
          <p:txBody>
            <a:bodyPr wrap="none">
              <a:spAutoFit/>
            </a:bodyPr>
            <a:lstStyle/>
            <a:p>
              <a:r>
                <a:rPr lang="zh-CN" altLang="en-US" dirty="0">
                  <a:latin typeface="Microsoft YaHei" panose="020B0503020204020204" pitchFamily="34" charset="-122"/>
                  <a:ea typeface="Microsoft YaHei" panose="020B0503020204020204" pitchFamily="34" charset="-122"/>
                </a:rPr>
                <a:t>客戶端</a:t>
              </a:r>
              <a:endParaRPr lang="zh-CN" altLang="en-US" dirty="0"/>
            </a:p>
          </p:txBody>
        </p:sp>
      </p:grpSp>
      <p:pic>
        <p:nvPicPr>
          <p:cNvPr id="28" name="图片 27">
            <a:extLst>
              <a:ext uri="{FF2B5EF4-FFF2-40B4-BE49-F238E27FC236}">
                <a16:creationId xmlns:a16="http://schemas.microsoft.com/office/drawing/2014/main" id="{C29840E3-F90B-9948-AAC6-7C69E1AFDBCB}"/>
              </a:ext>
            </a:extLst>
          </p:cNvPr>
          <p:cNvPicPr>
            <a:picLocks noChangeAspect="1"/>
          </p:cNvPicPr>
          <p:nvPr/>
        </p:nvPicPr>
        <p:blipFill>
          <a:blip r:embed="rId4"/>
          <a:stretch>
            <a:fillRect/>
          </a:stretch>
        </p:blipFill>
        <p:spPr>
          <a:xfrm>
            <a:off x="8992924" y="2981313"/>
            <a:ext cx="562268" cy="517102"/>
          </a:xfrm>
          <a:prstGeom prst="rect">
            <a:avLst/>
          </a:prstGeom>
        </p:spPr>
      </p:pic>
      <p:grpSp>
        <p:nvGrpSpPr>
          <p:cNvPr id="41" name="组合 40">
            <a:extLst>
              <a:ext uri="{FF2B5EF4-FFF2-40B4-BE49-F238E27FC236}">
                <a16:creationId xmlns:a16="http://schemas.microsoft.com/office/drawing/2014/main" id="{0B59B809-02E4-834D-8B59-E4A3A88AFD94}"/>
              </a:ext>
            </a:extLst>
          </p:cNvPr>
          <p:cNvGrpSpPr/>
          <p:nvPr/>
        </p:nvGrpSpPr>
        <p:grpSpPr>
          <a:xfrm>
            <a:off x="8157249" y="2750310"/>
            <a:ext cx="851754" cy="1106897"/>
            <a:chOff x="7904153" y="5354416"/>
            <a:chExt cx="971570" cy="1262605"/>
          </a:xfrm>
        </p:grpSpPr>
        <p:pic>
          <p:nvPicPr>
            <p:cNvPr id="29" name="图形 28" descr="Internet">
              <a:extLst>
                <a:ext uri="{FF2B5EF4-FFF2-40B4-BE49-F238E27FC236}">
                  <a16:creationId xmlns:a16="http://schemas.microsoft.com/office/drawing/2014/main" id="{E732134F-5190-5F4D-8065-E97FB0FEE9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04153" y="5354416"/>
              <a:ext cx="971570" cy="1033920"/>
            </a:xfrm>
            <a:prstGeom prst="rect">
              <a:avLst/>
            </a:prstGeom>
          </p:spPr>
        </p:pic>
        <p:sp>
          <p:nvSpPr>
            <p:cNvPr id="30" name="矩形 29">
              <a:extLst>
                <a:ext uri="{FF2B5EF4-FFF2-40B4-BE49-F238E27FC236}">
                  <a16:creationId xmlns:a16="http://schemas.microsoft.com/office/drawing/2014/main" id="{CB97A92A-4E86-384B-8C56-D4626A4F16FD}"/>
                </a:ext>
              </a:extLst>
            </p:cNvPr>
            <p:cNvSpPr/>
            <p:nvPr/>
          </p:nvSpPr>
          <p:spPr>
            <a:xfrm>
              <a:off x="8034210" y="6195735"/>
              <a:ext cx="711651" cy="421286"/>
            </a:xfrm>
            <a:prstGeom prst="rect">
              <a:avLst/>
            </a:prstGeom>
          </p:spPr>
          <p:txBody>
            <a:bodyPr wrap="none">
              <a:spAutoFit/>
            </a:bodyPr>
            <a:lstStyle/>
            <a:p>
              <a:r>
                <a:rPr lang="en-US" altLang="zh-CN" dirty="0">
                  <a:latin typeface="Microsoft YaHei" panose="020B0503020204020204" pitchFamily="34" charset="-122"/>
                  <a:ea typeface="Microsoft YaHei" panose="020B0503020204020204" pitchFamily="34" charset="-122"/>
                </a:rPr>
                <a:t>Bob</a:t>
              </a:r>
              <a:endParaRPr lang="zh-CN" altLang="en-US" dirty="0"/>
            </a:p>
          </p:txBody>
        </p:sp>
      </p:grpSp>
      <p:sp>
        <p:nvSpPr>
          <p:cNvPr id="34" name="矩形 33">
            <a:extLst>
              <a:ext uri="{FF2B5EF4-FFF2-40B4-BE49-F238E27FC236}">
                <a16:creationId xmlns:a16="http://schemas.microsoft.com/office/drawing/2014/main" id="{3993CDE2-ED8F-8849-A85D-57AD0FFDDD2F}"/>
              </a:ext>
            </a:extLst>
          </p:cNvPr>
          <p:cNvSpPr/>
          <p:nvPr/>
        </p:nvSpPr>
        <p:spPr>
          <a:xfrm>
            <a:off x="418011" y="1345946"/>
            <a:ext cx="4833257" cy="4796121"/>
          </a:xfrm>
          <a:prstGeom prst="rect">
            <a:avLst/>
          </a:prstGeom>
          <a:ln>
            <a:solidFill>
              <a:srgbClr val="00B0F0"/>
            </a:solidFill>
          </a:ln>
        </p:spPr>
        <p:txBody>
          <a:bodyPr wrap="square">
            <a:spAutoFit/>
          </a:bodyPr>
          <a:lstStyle/>
          <a:p>
            <a:pPr marL="342900" lvl="1" indent="-342900" algn="just" fontAlgn="base">
              <a:lnSpc>
                <a:spcPts val="3600"/>
              </a:lnSpc>
              <a:spcBef>
                <a:spcPct val="20000"/>
              </a:spcBef>
              <a:spcAft>
                <a:spcPct val="0"/>
              </a:spcAft>
              <a:buSzPct val="100000"/>
              <a:buFont typeface="Arial" panose="020B0604020202020204" pitchFamily="34" charset="0"/>
              <a:buChar char="•"/>
            </a:pPr>
            <a:r>
              <a:rPr lang="zh-CN" altLang="en-US" sz="2200" dirty="0">
                <a:latin typeface="Microsoft YaHei" panose="020B0503020204020204" pitchFamily="34" charset="-122"/>
                <a:ea typeface="Microsoft YaHei" panose="020B0503020204020204" pitchFamily="34" charset="-122"/>
              </a:rPr>
              <a:t>重放攻擊：惡意節點通過監聽數據包構造客戶端發往服務端的應用層請求，重新將該請求多次發送給服務端</a:t>
            </a:r>
            <a:endParaRPr lang="en-US" altLang="zh-CN" sz="2200" dirty="0">
              <a:latin typeface="Microsoft YaHei" panose="020B0503020204020204" pitchFamily="34" charset="-122"/>
              <a:ea typeface="Microsoft YaHei" panose="020B0503020204020204" pitchFamily="34" charset="-122"/>
            </a:endParaRPr>
          </a:p>
          <a:p>
            <a:pPr marL="684000" lvl="1" indent="-342900" algn="just" fontAlgn="base">
              <a:lnSpc>
                <a:spcPts val="3600"/>
              </a:lnSpc>
              <a:spcBef>
                <a:spcPct val="20000"/>
              </a:spcBef>
              <a:spcAft>
                <a:spcPct val="0"/>
              </a:spcAft>
              <a:buSzPct val="100000"/>
              <a:buFont typeface="Arial" panose="020B0604020202020204" pitchFamily="34" charset="0"/>
              <a:buChar char="•"/>
            </a:pPr>
            <a:r>
              <a:rPr lang="zh-CN" altLang="en-US" sz="2200" dirty="0">
                <a:latin typeface="Microsoft YaHei" panose="020B0503020204020204" pitchFamily="34" charset="-122"/>
                <a:ea typeface="Microsoft YaHei" panose="020B0503020204020204" pitchFamily="34" charset="-122"/>
              </a:rPr>
              <a:t>客戶端發送交易轉帳給</a:t>
            </a:r>
            <a:r>
              <a:rPr lang="en-US" altLang="zh-CN" sz="2200" dirty="0">
                <a:latin typeface="Microsoft YaHei" panose="020B0503020204020204" pitchFamily="34" charset="-122"/>
                <a:ea typeface="Microsoft YaHei" panose="020B0503020204020204" pitchFamily="34" charset="-122"/>
              </a:rPr>
              <a:t>Bob</a:t>
            </a:r>
            <a:r>
              <a:rPr lang="zh-CN" altLang="en-US" sz="2200" dirty="0">
                <a:latin typeface="Microsoft YaHei" panose="020B0503020204020204" pitchFamily="34" charset="-122"/>
                <a:ea typeface="Microsoft YaHei" panose="020B0503020204020204" pitchFamily="34" charset="-122"/>
              </a:rPr>
              <a:t>，</a:t>
            </a:r>
            <a:r>
              <a:rPr lang="en-US" altLang="zh-CN" sz="2200" dirty="0">
                <a:latin typeface="Microsoft YaHei" panose="020B0503020204020204" pitchFamily="34" charset="-122"/>
                <a:ea typeface="Microsoft YaHei" panose="020B0503020204020204" pitchFamily="34" charset="-122"/>
              </a:rPr>
              <a:t>Bob</a:t>
            </a:r>
            <a:r>
              <a:rPr lang="zh-CN" altLang="en-US" sz="2200" dirty="0">
                <a:latin typeface="Microsoft YaHei" panose="020B0503020204020204" pitchFamily="34" charset="-122"/>
                <a:ea typeface="Microsoft YaHei" panose="020B0503020204020204" pitchFamily="34" charset="-122"/>
              </a:rPr>
              <a:t>監聽到該交易後進行重放，從而完成多次轉帳</a:t>
            </a:r>
            <a:endParaRPr lang="en-US" altLang="zh-CN" sz="2200" dirty="0">
              <a:latin typeface="Microsoft YaHei" panose="020B0503020204020204" pitchFamily="34" charset="-122"/>
              <a:ea typeface="Microsoft YaHei" panose="020B0503020204020204" pitchFamily="34" charset="-122"/>
            </a:endParaRPr>
          </a:p>
          <a:p>
            <a:pPr marL="684000" lvl="1" indent="-342900" algn="just" fontAlgn="base">
              <a:lnSpc>
                <a:spcPts val="3600"/>
              </a:lnSpc>
              <a:spcBef>
                <a:spcPct val="20000"/>
              </a:spcBef>
              <a:spcAft>
                <a:spcPct val="0"/>
              </a:spcAft>
              <a:buSzPct val="100000"/>
              <a:buFont typeface="Arial" panose="020B0604020202020204" pitchFamily="34" charset="0"/>
              <a:buChar char="•"/>
            </a:pPr>
            <a:r>
              <a:rPr lang="zh-CN" altLang="en-US" sz="2200" dirty="0">
                <a:latin typeface="Microsoft YaHei" panose="020B0503020204020204" pitchFamily="34" charset="-122"/>
                <a:ea typeface="Microsoft YaHei" panose="020B0503020204020204" pitchFamily="34" charset="-122"/>
              </a:rPr>
              <a:t>客戶端發送密碼登入服務端，惡意節點監聽到消息後進行重放，從而冒充客戶端登入服務端</a:t>
            </a:r>
            <a:endParaRPr lang="en-US" altLang="zh-CN" sz="2200" dirty="0">
              <a:latin typeface="Microsoft YaHei" panose="020B0503020204020204" pitchFamily="34" charset="-122"/>
              <a:ea typeface="Microsoft YaHei" panose="020B0503020204020204" pitchFamily="34" charset="-122"/>
            </a:endParaRPr>
          </a:p>
        </p:txBody>
      </p:sp>
      <p:grpSp>
        <p:nvGrpSpPr>
          <p:cNvPr id="38" name="组合 37">
            <a:extLst>
              <a:ext uri="{FF2B5EF4-FFF2-40B4-BE49-F238E27FC236}">
                <a16:creationId xmlns:a16="http://schemas.microsoft.com/office/drawing/2014/main" id="{417357D4-1A91-8C4E-BC36-7D2481D9EFCF}"/>
              </a:ext>
            </a:extLst>
          </p:cNvPr>
          <p:cNvGrpSpPr/>
          <p:nvPr/>
        </p:nvGrpSpPr>
        <p:grpSpPr>
          <a:xfrm>
            <a:off x="10758649" y="1352982"/>
            <a:ext cx="877163" cy="1414415"/>
            <a:chOff x="10454144" y="1583977"/>
            <a:chExt cx="877163" cy="1414415"/>
          </a:xfrm>
        </p:grpSpPr>
        <p:pic>
          <p:nvPicPr>
            <p:cNvPr id="4" name="图片 3">
              <a:extLst>
                <a:ext uri="{FF2B5EF4-FFF2-40B4-BE49-F238E27FC236}">
                  <a16:creationId xmlns:a16="http://schemas.microsoft.com/office/drawing/2014/main" id="{FBB94CAE-237A-724B-AD2A-63AD0CDC37FB}"/>
                </a:ext>
              </a:extLst>
            </p:cNvPr>
            <p:cNvPicPr>
              <a:picLocks noChangeAspect="1"/>
            </p:cNvPicPr>
            <p:nvPr/>
          </p:nvPicPr>
          <p:blipFill>
            <a:blip r:embed="rId5"/>
            <a:stretch>
              <a:fillRect/>
            </a:stretch>
          </p:blipFill>
          <p:spPr>
            <a:xfrm>
              <a:off x="10577380" y="1583977"/>
              <a:ext cx="562845" cy="766427"/>
            </a:xfrm>
            <a:prstGeom prst="rect">
              <a:avLst/>
            </a:prstGeom>
          </p:spPr>
        </p:pic>
        <p:sp>
          <p:nvSpPr>
            <p:cNvPr id="35" name="矩形 34">
              <a:extLst>
                <a:ext uri="{FF2B5EF4-FFF2-40B4-BE49-F238E27FC236}">
                  <a16:creationId xmlns:a16="http://schemas.microsoft.com/office/drawing/2014/main" id="{33DE8AC5-6905-C04D-BF5A-495A24615148}"/>
                </a:ext>
              </a:extLst>
            </p:cNvPr>
            <p:cNvSpPr/>
            <p:nvPr/>
          </p:nvSpPr>
          <p:spPr>
            <a:xfrm>
              <a:off x="10454144" y="2352061"/>
              <a:ext cx="877163" cy="646331"/>
            </a:xfrm>
            <a:prstGeom prst="rect">
              <a:avLst/>
            </a:prstGeom>
          </p:spPr>
          <p:txBody>
            <a:bodyPr wrap="none">
              <a:spAutoFit/>
            </a:bodyPr>
            <a:lstStyle/>
            <a:p>
              <a:pPr algn="ctr"/>
              <a:r>
                <a:rPr lang="zh-CN" altLang="en-US" dirty="0">
                  <a:latin typeface="Microsoft YaHei" panose="020B0503020204020204" pitchFamily="34" charset="-122"/>
                  <a:ea typeface="Microsoft YaHei" panose="020B0503020204020204" pitchFamily="34" charset="-122"/>
                </a:rPr>
                <a:t>銀行</a:t>
              </a:r>
              <a:endParaRPr lang="en-US" altLang="zh-CN" dirty="0">
                <a:latin typeface="Microsoft YaHei" panose="020B0503020204020204" pitchFamily="34" charset="-122"/>
                <a:ea typeface="Microsoft YaHei" panose="020B0503020204020204" pitchFamily="34" charset="-122"/>
              </a:endParaRPr>
            </a:p>
            <a:p>
              <a:pPr algn="ctr"/>
              <a:r>
                <a:rPr lang="zh-CN" altLang="en-US" dirty="0">
                  <a:latin typeface="Microsoft YaHei" panose="020B0503020204020204" pitchFamily="34" charset="-122"/>
                  <a:ea typeface="Microsoft YaHei" panose="020B0503020204020204" pitchFamily="34" charset="-122"/>
                </a:rPr>
                <a:t>服務端</a:t>
              </a:r>
              <a:endParaRPr lang="zh-CN" altLang="en-US" dirty="0"/>
            </a:p>
          </p:txBody>
        </p:sp>
      </p:grpSp>
      <p:sp>
        <p:nvSpPr>
          <p:cNvPr id="42" name="矩形 41">
            <a:extLst>
              <a:ext uri="{FF2B5EF4-FFF2-40B4-BE49-F238E27FC236}">
                <a16:creationId xmlns:a16="http://schemas.microsoft.com/office/drawing/2014/main" id="{C77C3257-B889-F34F-A8FA-91F337712963}"/>
              </a:ext>
            </a:extLst>
          </p:cNvPr>
          <p:cNvSpPr/>
          <p:nvPr/>
        </p:nvSpPr>
        <p:spPr>
          <a:xfrm>
            <a:off x="7597605" y="874040"/>
            <a:ext cx="1957587" cy="369332"/>
          </a:xfrm>
          <a:prstGeom prst="rect">
            <a:avLst/>
          </a:prstGeom>
        </p:spPr>
        <p:txBody>
          <a:bodyPr wrap="none">
            <a:spAutoFit/>
          </a:bodyPr>
          <a:lstStyle/>
          <a:p>
            <a:r>
              <a:rPr lang="zh-CN" altLang="en-US" dirty="0">
                <a:latin typeface="Microsoft YaHei" panose="020B0503020204020204" pitchFamily="34" charset="-122"/>
                <a:ea typeface="Microsoft YaHei" panose="020B0503020204020204" pitchFamily="34" charset="-122"/>
              </a:rPr>
              <a:t>轉帳給 </a:t>
            </a:r>
            <a:r>
              <a:rPr lang="en-US" altLang="zh-CN" dirty="0">
                <a:latin typeface="Microsoft YaHei" panose="020B0503020204020204" pitchFamily="34" charset="-122"/>
                <a:ea typeface="Microsoft YaHei" panose="020B0503020204020204" pitchFamily="34" charset="-122"/>
              </a:rPr>
              <a:t>Bob</a:t>
            </a:r>
            <a:r>
              <a:rPr lang="zh-CN" altLang="en-US" dirty="0">
                <a:latin typeface="Microsoft YaHei" panose="020B0503020204020204" pitchFamily="34" charset="-122"/>
                <a:ea typeface="Microsoft YaHei" panose="020B0503020204020204" pitchFamily="34" charset="-122"/>
              </a:rPr>
              <a:t> </a:t>
            </a:r>
            <a:r>
              <a:rPr lang="en-US" altLang="zh-CN" dirty="0">
                <a:latin typeface="Microsoft YaHei" panose="020B0503020204020204" pitchFamily="34" charset="-122"/>
                <a:ea typeface="Microsoft YaHei" panose="020B0503020204020204" pitchFamily="34" charset="-122"/>
              </a:rPr>
              <a:t>50</a:t>
            </a:r>
            <a:r>
              <a:rPr lang="zh-CN" altLang="en-US" dirty="0">
                <a:latin typeface="Microsoft YaHei" panose="020B0503020204020204" pitchFamily="34" charset="-122"/>
                <a:ea typeface="Microsoft YaHei" panose="020B0503020204020204" pitchFamily="34" charset="-122"/>
              </a:rPr>
              <a:t>元</a:t>
            </a:r>
            <a:endParaRPr lang="zh-CN" altLang="en-US" dirty="0"/>
          </a:p>
        </p:txBody>
      </p:sp>
      <p:cxnSp>
        <p:nvCxnSpPr>
          <p:cNvPr id="43" name="直线箭头连接符 42">
            <a:extLst>
              <a:ext uri="{FF2B5EF4-FFF2-40B4-BE49-F238E27FC236}">
                <a16:creationId xmlns:a16="http://schemas.microsoft.com/office/drawing/2014/main" id="{920FF252-DFAD-474E-B7B4-025A1F753AE3}"/>
              </a:ext>
            </a:extLst>
          </p:cNvPr>
          <p:cNvCxnSpPr>
            <a:cxnSpLocks/>
          </p:cNvCxnSpPr>
          <p:nvPr/>
        </p:nvCxnSpPr>
        <p:spPr>
          <a:xfrm>
            <a:off x="8583123" y="1862554"/>
            <a:ext cx="0" cy="904843"/>
          </a:xfrm>
          <a:prstGeom prst="straightConnector1">
            <a:avLst/>
          </a:prstGeom>
          <a:ln>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52" name="弧 51">
            <a:extLst>
              <a:ext uri="{FF2B5EF4-FFF2-40B4-BE49-F238E27FC236}">
                <a16:creationId xmlns:a16="http://schemas.microsoft.com/office/drawing/2014/main" id="{7967818A-D690-A44D-B5B1-65DA5218FDB7}"/>
              </a:ext>
            </a:extLst>
          </p:cNvPr>
          <p:cNvSpPr/>
          <p:nvPr/>
        </p:nvSpPr>
        <p:spPr>
          <a:xfrm>
            <a:off x="8583124" y="1967906"/>
            <a:ext cx="4623804" cy="2017988"/>
          </a:xfrm>
          <a:prstGeom prst="arc">
            <a:avLst>
              <a:gd name="adj1" fmla="val 11076771"/>
              <a:gd name="adj2" fmla="val 15997939"/>
            </a:avLst>
          </a:prstGeom>
          <a:ln>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dirty="0"/>
          </a:p>
        </p:txBody>
      </p:sp>
      <p:sp>
        <p:nvSpPr>
          <p:cNvPr id="56" name="云形 55">
            <a:extLst>
              <a:ext uri="{FF2B5EF4-FFF2-40B4-BE49-F238E27FC236}">
                <a16:creationId xmlns:a16="http://schemas.microsoft.com/office/drawing/2014/main" id="{7B9AB2B2-AF36-BF4A-BDE0-449F29FC4244}"/>
              </a:ext>
            </a:extLst>
          </p:cNvPr>
          <p:cNvSpPr/>
          <p:nvPr/>
        </p:nvSpPr>
        <p:spPr>
          <a:xfrm>
            <a:off x="7742721" y="4284594"/>
            <a:ext cx="1590353" cy="1135966"/>
          </a:xfrm>
          <a:prstGeom prst="cloud">
            <a:avLst/>
          </a:prstGeom>
          <a:solidFill>
            <a:schemeClr val="bg2"/>
          </a:solidFill>
          <a:effectLst>
            <a:innerShdw blurRad="63500" dist="50800" dir="5400000">
              <a:prstClr val="black">
                <a:alpha val="50000"/>
              </a:prstClr>
            </a:inn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cxnSp>
        <p:nvCxnSpPr>
          <p:cNvPr id="57" name="直线箭头连接符 56">
            <a:extLst>
              <a:ext uri="{FF2B5EF4-FFF2-40B4-BE49-F238E27FC236}">
                <a16:creationId xmlns:a16="http://schemas.microsoft.com/office/drawing/2014/main" id="{4AB65574-9D1A-A245-A6EF-10EAC9003595}"/>
              </a:ext>
            </a:extLst>
          </p:cNvPr>
          <p:cNvCxnSpPr>
            <a:cxnSpLocks/>
          </p:cNvCxnSpPr>
          <p:nvPr/>
        </p:nvCxnSpPr>
        <p:spPr>
          <a:xfrm flipV="1">
            <a:off x="6253716" y="4827219"/>
            <a:ext cx="4470946" cy="1"/>
          </a:xfrm>
          <a:prstGeom prst="straightConnector1">
            <a:avLst/>
          </a:prstGeom>
          <a:ln>
            <a:tailEnd type="triangle" w="med" len="lg"/>
          </a:ln>
        </p:spPr>
        <p:style>
          <a:lnRef idx="1">
            <a:schemeClr val="accent1"/>
          </a:lnRef>
          <a:fillRef idx="0">
            <a:schemeClr val="accent1"/>
          </a:fillRef>
          <a:effectRef idx="0">
            <a:schemeClr val="accent1"/>
          </a:effectRef>
          <a:fontRef idx="minor">
            <a:schemeClr val="tx1"/>
          </a:fontRef>
        </p:style>
      </p:cxnSp>
      <p:grpSp>
        <p:nvGrpSpPr>
          <p:cNvPr id="61" name="组合 60">
            <a:extLst>
              <a:ext uri="{FF2B5EF4-FFF2-40B4-BE49-F238E27FC236}">
                <a16:creationId xmlns:a16="http://schemas.microsoft.com/office/drawing/2014/main" id="{9FFB7790-09CA-5848-9CC0-3F777A776F2A}"/>
              </a:ext>
            </a:extLst>
          </p:cNvPr>
          <p:cNvGrpSpPr/>
          <p:nvPr/>
        </p:nvGrpSpPr>
        <p:grpSpPr>
          <a:xfrm>
            <a:off x="5402466" y="4372208"/>
            <a:ext cx="917104" cy="1121541"/>
            <a:chOff x="4873585" y="1468483"/>
            <a:chExt cx="1145762" cy="1401170"/>
          </a:xfrm>
        </p:grpSpPr>
        <p:pic>
          <p:nvPicPr>
            <p:cNvPr id="62" name="图形 61" descr="Internet">
              <a:extLst>
                <a:ext uri="{FF2B5EF4-FFF2-40B4-BE49-F238E27FC236}">
                  <a16:creationId xmlns:a16="http://schemas.microsoft.com/office/drawing/2014/main" id="{A930E9E1-7923-3748-B90C-00CA54C09B0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73585" y="1468483"/>
              <a:ext cx="1045278" cy="1112359"/>
            </a:xfrm>
            <a:prstGeom prst="rect">
              <a:avLst/>
            </a:prstGeom>
          </p:spPr>
        </p:pic>
        <p:sp>
          <p:nvSpPr>
            <p:cNvPr id="63" name="矩形 62">
              <a:extLst>
                <a:ext uri="{FF2B5EF4-FFF2-40B4-BE49-F238E27FC236}">
                  <a16:creationId xmlns:a16="http://schemas.microsoft.com/office/drawing/2014/main" id="{69B3E96B-1AAD-524E-AD73-1FFEDF65A22D}"/>
                </a:ext>
              </a:extLst>
            </p:cNvPr>
            <p:cNvSpPr/>
            <p:nvPr/>
          </p:nvSpPr>
          <p:spPr>
            <a:xfrm>
              <a:off x="4923484" y="2408237"/>
              <a:ext cx="1095863" cy="461416"/>
            </a:xfrm>
            <a:prstGeom prst="rect">
              <a:avLst/>
            </a:prstGeom>
          </p:spPr>
          <p:txBody>
            <a:bodyPr wrap="none">
              <a:spAutoFit/>
            </a:bodyPr>
            <a:lstStyle/>
            <a:p>
              <a:r>
                <a:rPr lang="zh-CN" altLang="en-US" dirty="0">
                  <a:latin typeface="Microsoft YaHei" panose="020B0503020204020204" pitchFamily="34" charset="-122"/>
                  <a:ea typeface="Microsoft YaHei" panose="020B0503020204020204" pitchFamily="34" charset="-122"/>
                </a:rPr>
                <a:t>客戶端</a:t>
              </a:r>
              <a:endParaRPr lang="zh-CN" altLang="en-US" dirty="0"/>
            </a:p>
          </p:txBody>
        </p:sp>
      </p:grpSp>
      <p:pic>
        <p:nvPicPr>
          <p:cNvPr id="64" name="图片 63">
            <a:extLst>
              <a:ext uri="{FF2B5EF4-FFF2-40B4-BE49-F238E27FC236}">
                <a16:creationId xmlns:a16="http://schemas.microsoft.com/office/drawing/2014/main" id="{54130B99-5109-384E-9AEC-BD8EDADBA77A}"/>
              </a:ext>
            </a:extLst>
          </p:cNvPr>
          <p:cNvPicPr>
            <a:picLocks noChangeAspect="1"/>
          </p:cNvPicPr>
          <p:nvPr/>
        </p:nvPicPr>
        <p:blipFill>
          <a:blip r:embed="rId4"/>
          <a:stretch>
            <a:fillRect/>
          </a:stretch>
        </p:blipFill>
        <p:spPr>
          <a:xfrm>
            <a:off x="8992924" y="5964480"/>
            <a:ext cx="562268" cy="517102"/>
          </a:xfrm>
          <a:prstGeom prst="rect">
            <a:avLst/>
          </a:prstGeom>
        </p:spPr>
      </p:pic>
      <p:grpSp>
        <p:nvGrpSpPr>
          <p:cNvPr id="65" name="组合 64">
            <a:extLst>
              <a:ext uri="{FF2B5EF4-FFF2-40B4-BE49-F238E27FC236}">
                <a16:creationId xmlns:a16="http://schemas.microsoft.com/office/drawing/2014/main" id="{BB7FE2AF-A1E8-B343-8B3E-74B317A4B232}"/>
              </a:ext>
            </a:extLst>
          </p:cNvPr>
          <p:cNvGrpSpPr/>
          <p:nvPr/>
        </p:nvGrpSpPr>
        <p:grpSpPr>
          <a:xfrm>
            <a:off x="8013679" y="5733477"/>
            <a:ext cx="1107996" cy="1106897"/>
            <a:chOff x="7740395" y="5354416"/>
            <a:chExt cx="1263859" cy="1262605"/>
          </a:xfrm>
        </p:grpSpPr>
        <p:pic>
          <p:nvPicPr>
            <p:cNvPr id="66" name="图形 65" descr="Internet">
              <a:extLst>
                <a:ext uri="{FF2B5EF4-FFF2-40B4-BE49-F238E27FC236}">
                  <a16:creationId xmlns:a16="http://schemas.microsoft.com/office/drawing/2014/main" id="{7399B118-67BB-7544-BE4D-1000F0C2612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04153" y="5354416"/>
              <a:ext cx="971570" cy="1033920"/>
            </a:xfrm>
            <a:prstGeom prst="rect">
              <a:avLst/>
            </a:prstGeom>
          </p:spPr>
        </p:pic>
        <p:sp>
          <p:nvSpPr>
            <p:cNvPr id="67" name="矩形 66">
              <a:extLst>
                <a:ext uri="{FF2B5EF4-FFF2-40B4-BE49-F238E27FC236}">
                  <a16:creationId xmlns:a16="http://schemas.microsoft.com/office/drawing/2014/main" id="{69B89162-3F8E-E040-B17B-ED4C38ACD62D}"/>
                </a:ext>
              </a:extLst>
            </p:cNvPr>
            <p:cNvSpPr/>
            <p:nvPr/>
          </p:nvSpPr>
          <p:spPr>
            <a:xfrm>
              <a:off x="7740395" y="6195735"/>
              <a:ext cx="1263859" cy="421286"/>
            </a:xfrm>
            <a:prstGeom prst="rect">
              <a:avLst/>
            </a:prstGeom>
          </p:spPr>
          <p:txBody>
            <a:bodyPr wrap="none">
              <a:spAutoFit/>
            </a:bodyPr>
            <a:lstStyle/>
            <a:p>
              <a:r>
                <a:rPr lang="zh-CN" altLang="en-US" dirty="0">
                  <a:latin typeface="Microsoft YaHei" panose="020B0503020204020204" pitchFamily="34" charset="-122"/>
                  <a:ea typeface="Microsoft YaHei" panose="020B0503020204020204" pitchFamily="34" charset="-122"/>
                </a:rPr>
                <a:t>惡意節點</a:t>
              </a:r>
              <a:endParaRPr lang="zh-CN" altLang="en-US" dirty="0"/>
            </a:p>
          </p:txBody>
        </p:sp>
      </p:grpSp>
      <p:grpSp>
        <p:nvGrpSpPr>
          <p:cNvPr id="68" name="组合 67">
            <a:extLst>
              <a:ext uri="{FF2B5EF4-FFF2-40B4-BE49-F238E27FC236}">
                <a16:creationId xmlns:a16="http://schemas.microsoft.com/office/drawing/2014/main" id="{51F9A522-793B-C942-8A33-D47F7AF659FD}"/>
              </a:ext>
            </a:extLst>
          </p:cNvPr>
          <p:cNvGrpSpPr/>
          <p:nvPr/>
        </p:nvGrpSpPr>
        <p:grpSpPr>
          <a:xfrm>
            <a:off x="10758648" y="4336149"/>
            <a:ext cx="877163" cy="1137416"/>
            <a:chOff x="10454143" y="1583977"/>
            <a:chExt cx="877163" cy="1137416"/>
          </a:xfrm>
        </p:grpSpPr>
        <p:pic>
          <p:nvPicPr>
            <p:cNvPr id="69" name="图片 68">
              <a:extLst>
                <a:ext uri="{FF2B5EF4-FFF2-40B4-BE49-F238E27FC236}">
                  <a16:creationId xmlns:a16="http://schemas.microsoft.com/office/drawing/2014/main" id="{AEF67AC8-E81E-CF46-BC1A-6D7FC3191A97}"/>
                </a:ext>
              </a:extLst>
            </p:cNvPr>
            <p:cNvPicPr>
              <a:picLocks noChangeAspect="1"/>
            </p:cNvPicPr>
            <p:nvPr/>
          </p:nvPicPr>
          <p:blipFill>
            <a:blip r:embed="rId5"/>
            <a:stretch>
              <a:fillRect/>
            </a:stretch>
          </p:blipFill>
          <p:spPr>
            <a:xfrm>
              <a:off x="10577380" y="1583977"/>
              <a:ext cx="562845" cy="766427"/>
            </a:xfrm>
            <a:prstGeom prst="rect">
              <a:avLst/>
            </a:prstGeom>
          </p:spPr>
        </p:pic>
        <p:sp>
          <p:nvSpPr>
            <p:cNvPr id="70" name="矩形 69">
              <a:extLst>
                <a:ext uri="{FF2B5EF4-FFF2-40B4-BE49-F238E27FC236}">
                  <a16:creationId xmlns:a16="http://schemas.microsoft.com/office/drawing/2014/main" id="{E269185C-1395-B14D-BC40-68ACC544DE85}"/>
                </a:ext>
              </a:extLst>
            </p:cNvPr>
            <p:cNvSpPr/>
            <p:nvPr/>
          </p:nvSpPr>
          <p:spPr>
            <a:xfrm>
              <a:off x="10454143" y="2352061"/>
              <a:ext cx="877163" cy="369332"/>
            </a:xfrm>
            <a:prstGeom prst="rect">
              <a:avLst/>
            </a:prstGeom>
          </p:spPr>
          <p:txBody>
            <a:bodyPr wrap="none">
              <a:spAutoFit/>
            </a:bodyPr>
            <a:lstStyle/>
            <a:p>
              <a:pPr algn="ctr"/>
              <a:r>
                <a:rPr lang="zh-CN" altLang="en-US" dirty="0">
                  <a:latin typeface="Microsoft YaHei" panose="020B0503020204020204" pitchFamily="34" charset="-122"/>
                  <a:ea typeface="Microsoft YaHei" panose="020B0503020204020204" pitchFamily="34" charset="-122"/>
                </a:rPr>
                <a:t>服務端</a:t>
              </a:r>
              <a:endParaRPr lang="zh-CN" altLang="en-US" dirty="0"/>
            </a:p>
          </p:txBody>
        </p:sp>
      </p:grpSp>
      <p:sp>
        <p:nvSpPr>
          <p:cNvPr id="71" name="矩形 70">
            <a:extLst>
              <a:ext uri="{FF2B5EF4-FFF2-40B4-BE49-F238E27FC236}">
                <a16:creationId xmlns:a16="http://schemas.microsoft.com/office/drawing/2014/main" id="{6469E996-0174-C045-A5D0-6616E49EC1B9}"/>
              </a:ext>
            </a:extLst>
          </p:cNvPr>
          <p:cNvSpPr/>
          <p:nvPr/>
        </p:nvSpPr>
        <p:spPr>
          <a:xfrm>
            <a:off x="8473452" y="3974322"/>
            <a:ext cx="1943930" cy="369332"/>
          </a:xfrm>
          <a:prstGeom prst="rect">
            <a:avLst/>
          </a:prstGeom>
        </p:spPr>
        <p:txBody>
          <a:bodyPr wrap="none">
            <a:spAutoFit/>
          </a:bodyPr>
          <a:lstStyle/>
          <a:p>
            <a:r>
              <a:rPr lang="en-US" altLang="zh-CN" dirty="0">
                <a:latin typeface="Microsoft YaHei" panose="020B0503020204020204" pitchFamily="34" charset="-122"/>
                <a:ea typeface="Microsoft YaHei" panose="020B0503020204020204" pitchFamily="34" charset="-122"/>
              </a:rPr>
              <a:t>Hash(password)</a:t>
            </a:r>
            <a:endParaRPr lang="zh-CN" altLang="en-US" dirty="0"/>
          </a:p>
        </p:txBody>
      </p:sp>
      <p:cxnSp>
        <p:nvCxnSpPr>
          <p:cNvPr id="72" name="直线箭头连接符 71">
            <a:extLst>
              <a:ext uri="{FF2B5EF4-FFF2-40B4-BE49-F238E27FC236}">
                <a16:creationId xmlns:a16="http://schemas.microsoft.com/office/drawing/2014/main" id="{779F3A41-A1B6-7141-B645-2A02D689C737}"/>
              </a:ext>
            </a:extLst>
          </p:cNvPr>
          <p:cNvCxnSpPr>
            <a:cxnSpLocks/>
          </p:cNvCxnSpPr>
          <p:nvPr/>
        </p:nvCxnSpPr>
        <p:spPr>
          <a:xfrm>
            <a:off x="8583123" y="4845721"/>
            <a:ext cx="0" cy="904843"/>
          </a:xfrm>
          <a:prstGeom prst="straightConnector1">
            <a:avLst/>
          </a:prstGeom>
          <a:ln>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79" name="矩形 78">
            <a:extLst>
              <a:ext uri="{FF2B5EF4-FFF2-40B4-BE49-F238E27FC236}">
                <a16:creationId xmlns:a16="http://schemas.microsoft.com/office/drawing/2014/main" id="{A21DB512-2E53-9C4F-B033-D039D5834C5B}"/>
              </a:ext>
            </a:extLst>
          </p:cNvPr>
          <p:cNvSpPr/>
          <p:nvPr/>
        </p:nvSpPr>
        <p:spPr>
          <a:xfrm>
            <a:off x="6414756" y="5299213"/>
            <a:ext cx="1943930" cy="369332"/>
          </a:xfrm>
          <a:prstGeom prst="rect">
            <a:avLst/>
          </a:prstGeom>
        </p:spPr>
        <p:txBody>
          <a:bodyPr wrap="none">
            <a:spAutoFit/>
          </a:bodyPr>
          <a:lstStyle/>
          <a:p>
            <a:r>
              <a:rPr lang="en-US" altLang="zh-CN" dirty="0">
                <a:latin typeface="Microsoft YaHei" panose="020B0503020204020204" pitchFamily="34" charset="-122"/>
                <a:ea typeface="Microsoft YaHei" panose="020B0503020204020204" pitchFamily="34" charset="-122"/>
              </a:rPr>
              <a:t>Hash(password)</a:t>
            </a:r>
            <a:endParaRPr lang="zh-CN" altLang="en-US" dirty="0"/>
          </a:p>
        </p:txBody>
      </p:sp>
      <p:sp>
        <p:nvSpPr>
          <p:cNvPr id="80" name="弧 79">
            <a:extLst>
              <a:ext uri="{FF2B5EF4-FFF2-40B4-BE49-F238E27FC236}">
                <a16:creationId xmlns:a16="http://schemas.microsoft.com/office/drawing/2014/main" id="{B23296B3-5438-4842-A390-15583B57C75A}"/>
              </a:ext>
            </a:extLst>
          </p:cNvPr>
          <p:cNvSpPr/>
          <p:nvPr/>
        </p:nvSpPr>
        <p:spPr>
          <a:xfrm>
            <a:off x="8583118" y="4934907"/>
            <a:ext cx="4623804" cy="2017988"/>
          </a:xfrm>
          <a:prstGeom prst="arc">
            <a:avLst>
              <a:gd name="adj1" fmla="val 11076771"/>
              <a:gd name="adj2" fmla="val 15997939"/>
            </a:avLst>
          </a:prstGeom>
          <a:ln>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dirty="0"/>
          </a:p>
        </p:txBody>
      </p:sp>
      <p:sp>
        <p:nvSpPr>
          <p:cNvPr id="81" name="矩形 80">
            <a:extLst>
              <a:ext uri="{FF2B5EF4-FFF2-40B4-BE49-F238E27FC236}">
                <a16:creationId xmlns:a16="http://schemas.microsoft.com/office/drawing/2014/main" id="{43DC94CD-C7F6-6A40-8FA1-ED5186827F56}"/>
              </a:ext>
            </a:extLst>
          </p:cNvPr>
          <p:cNvSpPr/>
          <p:nvPr/>
        </p:nvSpPr>
        <p:spPr>
          <a:xfrm>
            <a:off x="8951093" y="5333579"/>
            <a:ext cx="1943930" cy="369332"/>
          </a:xfrm>
          <a:prstGeom prst="rect">
            <a:avLst/>
          </a:prstGeom>
        </p:spPr>
        <p:txBody>
          <a:bodyPr wrap="none">
            <a:spAutoFit/>
          </a:bodyPr>
          <a:lstStyle/>
          <a:p>
            <a:r>
              <a:rPr lang="en-US" altLang="zh-CN" dirty="0">
                <a:latin typeface="Microsoft YaHei" panose="020B0503020204020204" pitchFamily="34" charset="-122"/>
                <a:ea typeface="Microsoft YaHei" panose="020B0503020204020204" pitchFamily="34" charset="-122"/>
              </a:rPr>
              <a:t>Hash(password)</a:t>
            </a:r>
            <a:endParaRPr lang="zh-CN" altLang="en-US" dirty="0"/>
          </a:p>
        </p:txBody>
      </p:sp>
      <p:grpSp>
        <p:nvGrpSpPr>
          <p:cNvPr id="45" name="组合 44">
            <a:extLst>
              <a:ext uri="{FF2B5EF4-FFF2-40B4-BE49-F238E27FC236}">
                <a16:creationId xmlns:a16="http://schemas.microsoft.com/office/drawing/2014/main" id="{E596DE23-C3A3-364D-B093-5306CF3925CD}"/>
              </a:ext>
            </a:extLst>
          </p:cNvPr>
          <p:cNvGrpSpPr/>
          <p:nvPr/>
        </p:nvGrpSpPr>
        <p:grpSpPr>
          <a:xfrm>
            <a:off x="7342857" y="2065979"/>
            <a:ext cx="1131703" cy="446168"/>
            <a:chOff x="11060623" y="478222"/>
            <a:chExt cx="1443793" cy="446168"/>
          </a:xfrm>
        </p:grpSpPr>
        <p:sp>
          <p:nvSpPr>
            <p:cNvPr id="46" name="圆角矩形 45">
              <a:extLst>
                <a:ext uri="{FF2B5EF4-FFF2-40B4-BE49-F238E27FC236}">
                  <a16:creationId xmlns:a16="http://schemas.microsoft.com/office/drawing/2014/main" id="{FD4B6512-48CF-7B46-9D02-D17A327CB4B5}"/>
                </a:ext>
              </a:extLst>
            </p:cNvPr>
            <p:cNvSpPr/>
            <p:nvPr/>
          </p:nvSpPr>
          <p:spPr>
            <a:xfrm>
              <a:off x="11060623" y="478222"/>
              <a:ext cx="1443793" cy="446168"/>
            </a:xfrm>
            <a:prstGeom prst="roundRect">
              <a:avLst/>
            </a:prstGeom>
            <a:solidFill>
              <a:srgbClr val="92D05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zh-CN" altLang="en-US" dirty="0">
                <a:highlight>
                  <a:srgbClr val="FF0000"/>
                </a:highlight>
              </a:endParaRPr>
            </a:p>
          </p:txBody>
        </p:sp>
        <p:sp>
          <p:nvSpPr>
            <p:cNvPr id="47" name="矩形 46">
              <a:extLst>
                <a:ext uri="{FF2B5EF4-FFF2-40B4-BE49-F238E27FC236}">
                  <a16:creationId xmlns:a16="http://schemas.microsoft.com/office/drawing/2014/main" id="{4E8C3FFB-3293-7C4A-BFF5-A0CC28B7D1E5}"/>
                </a:ext>
              </a:extLst>
            </p:cNvPr>
            <p:cNvSpPr/>
            <p:nvPr/>
          </p:nvSpPr>
          <p:spPr>
            <a:xfrm>
              <a:off x="11060624" y="499605"/>
              <a:ext cx="1075359" cy="369332"/>
            </a:xfrm>
            <a:prstGeom prst="rect">
              <a:avLst/>
            </a:prstGeom>
          </p:spPr>
          <p:txBody>
            <a:bodyPr wrap="none">
              <a:spAutoFit/>
            </a:bodyPr>
            <a:lstStyle/>
            <a:p>
              <a:r>
                <a:rPr lang="en-US" altLang="zh-CN" dirty="0">
                  <a:solidFill>
                    <a:schemeClr val="bg1"/>
                  </a:solidFill>
                  <a:latin typeface="Microsoft YaHei" panose="020B0503020204020204" pitchFamily="34" charset="-122"/>
                  <a:ea typeface="Microsoft YaHei" panose="020B0503020204020204" pitchFamily="34" charset="-122"/>
                </a:rPr>
                <a:t>Request</a:t>
              </a:r>
              <a:endParaRPr lang="zh-CN" altLang="en-US" baseline="-25000" dirty="0">
                <a:solidFill>
                  <a:schemeClr val="bg1"/>
                </a:solidFill>
              </a:endParaRPr>
            </a:p>
          </p:txBody>
        </p:sp>
      </p:grpSp>
      <p:grpSp>
        <p:nvGrpSpPr>
          <p:cNvPr id="48" name="组合 47">
            <a:extLst>
              <a:ext uri="{FF2B5EF4-FFF2-40B4-BE49-F238E27FC236}">
                <a16:creationId xmlns:a16="http://schemas.microsoft.com/office/drawing/2014/main" id="{4B673567-0744-494A-BC01-01208C93C6F5}"/>
              </a:ext>
            </a:extLst>
          </p:cNvPr>
          <p:cNvGrpSpPr/>
          <p:nvPr/>
        </p:nvGrpSpPr>
        <p:grpSpPr>
          <a:xfrm>
            <a:off x="9445417" y="2270750"/>
            <a:ext cx="1131703" cy="446168"/>
            <a:chOff x="11060623" y="478222"/>
            <a:chExt cx="1443793" cy="446168"/>
          </a:xfrm>
        </p:grpSpPr>
        <p:sp>
          <p:nvSpPr>
            <p:cNvPr id="58" name="圆角矩形 57">
              <a:extLst>
                <a:ext uri="{FF2B5EF4-FFF2-40B4-BE49-F238E27FC236}">
                  <a16:creationId xmlns:a16="http://schemas.microsoft.com/office/drawing/2014/main" id="{023AE1A6-83B6-8C47-B4BF-04D1E6AE19C9}"/>
                </a:ext>
              </a:extLst>
            </p:cNvPr>
            <p:cNvSpPr/>
            <p:nvPr/>
          </p:nvSpPr>
          <p:spPr>
            <a:xfrm>
              <a:off x="11060623" y="478222"/>
              <a:ext cx="1443793" cy="446168"/>
            </a:xfrm>
            <a:prstGeom prst="roundRect">
              <a:avLst/>
            </a:prstGeom>
            <a:solidFill>
              <a:srgbClr val="92D05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zh-CN" altLang="en-US" dirty="0">
                <a:highlight>
                  <a:srgbClr val="FF0000"/>
                </a:highlight>
              </a:endParaRPr>
            </a:p>
          </p:txBody>
        </p:sp>
        <p:sp>
          <p:nvSpPr>
            <p:cNvPr id="59" name="矩形 58">
              <a:extLst>
                <a:ext uri="{FF2B5EF4-FFF2-40B4-BE49-F238E27FC236}">
                  <a16:creationId xmlns:a16="http://schemas.microsoft.com/office/drawing/2014/main" id="{B5746D5D-4BF2-604F-BD63-75DEE660D7A7}"/>
                </a:ext>
              </a:extLst>
            </p:cNvPr>
            <p:cNvSpPr/>
            <p:nvPr/>
          </p:nvSpPr>
          <p:spPr>
            <a:xfrm>
              <a:off x="11060624" y="499605"/>
              <a:ext cx="1075359" cy="369332"/>
            </a:xfrm>
            <a:prstGeom prst="rect">
              <a:avLst/>
            </a:prstGeom>
          </p:spPr>
          <p:txBody>
            <a:bodyPr wrap="none">
              <a:spAutoFit/>
            </a:bodyPr>
            <a:lstStyle/>
            <a:p>
              <a:r>
                <a:rPr lang="en-US" altLang="zh-CN" dirty="0">
                  <a:solidFill>
                    <a:schemeClr val="bg1"/>
                  </a:solidFill>
                  <a:latin typeface="Microsoft YaHei" panose="020B0503020204020204" pitchFamily="34" charset="-122"/>
                  <a:ea typeface="Microsoft YaHei" panose="020B0503020204020204" pitchFamily="34" charset="-122"/>
                </a:rPr>
                <a:t>Request</a:t>
              </a:r>
              <a:endParaRPr lang="zh-CN" altLang="en-US" baseline="-25000" dirty="0">
                <a:solidFill>
                  <a:schemeClr val="bg1"/>
                </a:solidFill>
              </a:endParaRPr>
            </a:p>
          </p:txBody>
        </p:sp>
      </p:grpSp>
      <p:sp>
        <p:nvSpPr>
          <p:cNvPr id="49" name="灯片编号占位符 2">
            <a:extLst>
              <a:ext uri="{FF2B5EF4-FFF2-40B4-BE49-F238E27FC236}">
                <a16:creationId xmlns:a16="http://schemas.microsoft.com/office/drawing/2014/main" id="{F9A39A71-F6D3-1342-8A92-C33A5AF2ADA4}"/>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18</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8381588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構建</a:t>
            </a:r>
            <a:r>
              <a:rPr kumimoji="1" lang="en-US" altLang="zh-CN" dirty="0"/>
              <a:t>TCP</a:t>
            </a:r>
            <a:r>
              <a:rPr kumimoji="1" lang="zh-CN" altLang="en-US" dirty="0"/>
              <a:t>交互信道</a:t>
            </a:r>
          </a:p>
        </p:txBody>
      </p:sp>
      <p:sp>
        <p:nvSpPr>
          <p:cNvPr id="8" name="矩形 7">
            <a:extLst>
              <a:ext uri="{FF2B5EF4-FFF2-40B4-BE49-F238E27FC236}">
                <a16:creationId xmlns:a16="http://schemas.microsoft.com/office/drawing/2014/main" id="{D470D0BB-50F9-234A-9679-DDA368492FAF}"/>
              </a:ext>
            </a:extLst>
          </p:cNvPr>
          <p:cNvSpPr/>
          <p:nvPr/>
        </p:nvSpPr>
        <p:spPr>
          <a:xfrm>
            <a:off x="730379" y="2401209"/>
            <a:ext cx="4218457" cy="3424912"/>
          </a:xfrm>
          <a:prstGeom prst="rect">
            <a:avLst/>
          </a:prstGeom>
          <a:ln>
            <a:solidFill>
              <a:srgbClr val="00B0F0"/>
            </a:solidFill>
          </a:ln>
        </p:spPr>
        <p:txBody>
          <a:bodyPr wrap="square">
            <a:spAutoFit/>
          </a:bodyPr>
          <a:lstStyle/>
          <a:p>
            <a:pPr marL="342900" lvl="1" indent="-342900" algn="just" fontAlgn="base">
              <a:lnSpc>
                <a:spcPct val="150000"/>
              </a:lnSpc>
              <a:spcBef>
                <a:spcPct val="20000"/>
              </a:spcBef>
              <a:spcAft>
                <a:spcPct val="0"/>
              </a:spcAft>
              <a:buSzPct val="100000"/>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當未按序接收時，等待前面的數據包完成接收後再將數據包序列提交到上層應用</a:t>
            </a:r>
            <a:endParaRPr lang="en-US" altLang="zh-CN" sz="2400" dirty="0">
              <a:latin typeface="Microsoft YaHei" panose="020B0503020204020204" pitchFamily="34" charset="-122"/>
              <a:ea typeface="Microsoft YaHei" panose="020B0503020204020204" pitchFamily="34" charset="-122"/>
            </a:endParaRPr>
          </a:p>
          <a:p>
            <a:pPr marL="342900" lvl="1" indent="-342900" algn="just" fontAlgn="base">
              <a:lnSpc>
                <a:spcPct val="150000"/>
              </a:lnSpc>
              <a:spcBef>
                <a:spcPct val="20000"/>
              </a:spcBef>
              <a:spcAft>
                <a:spcPct val="0"/>
              </a:spcAft>
              <a:buSzPct val="100000"/>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當長時間未收到數據包時，觸發超時空重傳機制，請求源端超時重傳數據包</a:t>
            </a:r>
            <a:endParaRPr lang="en-US" altLang="zh-CN" sz="2400" dirty="0">
              <a:latin typeface="Microsoft YaHei" panose="020B0503020204020204" pitchFamily="34" charset="-122"/>
              <a:ea typeface="Microsoft YaHei" panose="020B0503020204020204" pitchFamily="34" charset="-122"/>
            </a:endParaRPr>
          </a:p>
        </p:txBody>
      </p:sp>
      <p:grpSp>
        <p:nvGrpSpPr>
          <p:cNvPr id="7" name="组合 6">
            <a:extLst>
              <a:ext uri="{FF2B5EF4-FFF2-40B4-BE49-F238E27FC236}">
                <a16:creationId xmlns:a16="http://schemas.microsoft.com/office/drawing/2014/main" id="{6F74B3CE-7308-AF41-B032-CF2C1EF74E28}"/>
              </a:ext>
            </a:extLst>
          </p:cNvPr>
          <p:cNvGrpSpPr/>
          <p:nvPr/>
        </p:nvGrpSpPr>
        <p:grpSpPr>
          <a:xfrm>
            <a:off x="5345351" y="2300516"/>
            <a:ext cx="6060915" cy="3845521"/>
            <a:chOff x="5150225" y="1058158"/>
            <a:chExt cx="6590820" cy="4181731"/>
          </a:xfrm>
        </p:grpSpPr>
        <p:pic>
          <p:nvPicPr>
            <p:cNvPr id="4" name="图片 3">
              <a:extLst>
                <a:ext uri="{FF2B5EF4-FFF2-40B4-BE49-F238E27FC236}">
                  <a16:creationId xmlns:a16="http://schemas.microsoft.com/office/drawing/2014/main" id="{C79F219F-A700-C343-BF3F-B58F78EA5C8F}"/>
                </a:ext>
              </a:extLst>
            </p:cNvPr>
            <p:cNvPicPr>
              <a:picLocks noChangeAspect="1"/>
            </p:cNvPicPr>
            <p:nvPr/>
          </p:nvPicPr>
          <p:blipFill>
            <a:blip r:embed="rId3"/>
            <a:stretch>
              <a:fillRect/>
            </a:stretch>
          </p:blipFill>
          <p:spPr>
            <a:xfrm>
              <a:off x="5150226" y="1058158"/>
              <a:ext cx="6590819" cy="2686258"/>
            </a:xfrm>
            <a:prstGeom prst="rect">
              <a:avLst/>
            </a:prstGeom>
          </p:spPr>
        </p:pic>
        <p:pic>
          <p:nvPicPr>
            <p:cNvPr id="5" name="图片 4">
              <a:extLst>
                <a:ext uri="{FF2B5EF4-FFF2-40B4-BE49-F238E27FC236}">
                  <a16:creationId xmlns:a16="http://schemas.microsoft.com/office/drawing/2014/main" id="{20FD538E-A190-F049-9725-70C09E2D72AE}"/>
                </a:ext>
              </a:extLst>
            </p:cNvPr>
            <p:cNvPicPr>
              <a:picLocks noChangeAspect="1"/>
            </p:cNvPicPr>
            <p:nvPr/>
          </p:nvPicPr>
          <p:blipFill rotWithShape="1">
            <a:blip r:embed="rId4"/>
            <a:srcRect b="41765"/>
            <a:stretch/>
          </p:blipFill>
          <p:spPr>
            <a:xfrm>
              <a:off x="5150225" y="3710389"/>
              <a:ext cx="6590820" cy="1529500"/>
            </a:xfrm>
            <a:prstGeom prst="rect">
              <a:avLst/>
            </a:prstGeom>
          </p:spPr>
        </p:pic>
      </p:grpSp>
      <p:cxnSp>
        <p:nvCxnSpPr>
          <p:cNvPr id="11" name="直接连接符 8">
            <a:extLst>
              <a:ext uri="{FF2B5EF4-FFF2-40B4-BE49-F238E27FC236}">
                <a16:creationId xmlns:a16="http://schemas.microsoft.com/office/drawing/2014/main" id="{7CB4C1F6-B011-EA4D-89EB-5511868AF85B}"/>
              </a:ext>
            </a:extLst>
          </p:cNvPr>
          <p:cNvCxnSpPr>
            <a:cxnSpLocks/>
          </p:cNvCxnSpPr>
          <p:nvPr/>
        </p:nvCxnSpPr>
        <p:spPr>
          <a:xfrm>
            <a:off x="352967" y="6223861"/>
            <a:ext cx="547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文本框 14">
            <a:extLst>
              <a:ext uri="{FF2B5EF4-FFF2-40B4-BE49-F238E27FC236}">
                <a16:creationId xmlns:a16="http://schemas.microsoft.com/office/drawing/2014/main" id="{50D605A8-CF50-C74D-AAB2-02B98BFDDCC9}"/>
              </a:ext>
            </a:extLst>
          </p:cNvPr>
          <p:cNvSpPr txBox="1"/>
          <p:nvPr/>
        </p:nvSpPr>
        <p:spPr>
          <a:xfrm>
            <a:off x="352967" y="6235648"/>
            <a:ext cx="5472000" cy="523220"/>
          </a:xfrm>
          <a:prstGeom prst="rect">
            <a:avLst/>
          </a:prstGeom>
          <a:noFill/>
        </p:spPr>
        <p:txBody>
          <a:bodyPr wrap="square" rtlCol="0">
            <a:spAutoFit/>
          </a:bodyPr>
          <a:lstStyle/>
          <a:p>
            <a:pPr algn="just"/>
            <a:r>
              <a:rPr kumimoji="1" lang="zh-CN" altLang="en-US" sz="1400" dirty="0">
                <a:latin typeface="微软雅黑" panose="020B0503020204020204" pitchFamily="34" charset="-122"/>
                <a:ea typeface="微软雅黑" panose="020B0503020204020204" pitchFamily="34" charset="-122"/>
                <a:cs typeface="Times New Roman" panose="02020603050405020304" pitchFamily="18" charset="0"/>
              </a:rPr>
              <a:t>注</a:t>
            </a:r>
            <a:r>
              <a:rPr kumimoji="1" lang="en-US" altLang="zh-CN" sz="1400" dirty="0">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1400" dirty="0">
                <a:latin typeface="微软雅黑" panose="020B0503020204020204" pitchFamily="34" charset="-122"/>
                <a:ea typeface="微软雅黑" panose="020B0503020204020204" pitchFamily="34" charset="-122"/>
                <a:cs typeface="Times New Roman" panose="02020603050405020304" pitchFamily="18" charset="0"/>
              </a:rPr>
              <a:t>圖片來自來源：卿萃科技</a:t>
            </a:r>
            <a:r>
              <a:rPr kumimoji="1" lang="en" altLang="zh-CN" sz="1400" dirty="0">
                <a:latin typeface="微软雅黑" panose="020B0503020204020204" pitchFamily="34" charset="-122"/>
                <a:ea typeface="微软雅黑" panose="020B0503020204020204" pitchFamily="34" charset="-122"/>
                <a:cs typeface="Times New Roman" panose="02020603050405020304" pitchFamily="18" charset="0"/>
              </a:rPr>
              <a:t>ALIFPGA </a:t>
            </a:r>
          </a:p>
          <a:p>
            <a:pPr algn="just"/>
            <a:r>
              <a:rPr kumimoji="1" lang="en-US" altLang="zh-CN" sz="1400" dirty="0">
                <a:latin typeface="微软雅黑" panose="020B0503020204020204" pitchFamily="34" charset="-122"/>
                <a:ea typeface="微软雅黑" panose="020B0503020204020204" pitchFamily="34" charset="-122"/>
                <a:cs typeface="Times New Roman" panose="02020603050405020304" pitchFamily="18" charset="0"/>
              </a:rPr>
              <a:t>https://</a:t>
            </a:r>
            <a:r>
              <a:rPr kumimoji="1" lang="en-US" altLang="zh-CN" sz="1400" dirty="0" err="1">
                <a:latin typeface="微软雅黑" panose="020B0503020204020204" pitchFamily="34" charset="-122"/>
                <a:ea typeface="微软雅黑" panose="020B0503020204020204" pitchFamily="34" charset="-122"/>
                <a:cs typeface="Times New Roman" panose="02020603050405020304" pitchFamily="18" charset="0"/>
              </a:rPr>
              <a:t>www.cnblogs.com</a:t>
            </a:r>
            <a:r>
              <a:rPr kumimoji="1" lang="en-US" altLang="zh-CN" sz="14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1400" dirty="0" err="1">
                <a:latin typeface="微软雅黑" panose="020B0503020204020204" pitchFamily="34" charset="-122"/>
                <a:ea typeface="微软雅黑" panose="020B0503020204020204" pitchFamily="34" charset="-122"/>
                <a:cs typeface="Times New Roman" panose="02020603050405020304" pitchFamily="18" charset="0"/>
              </a:rPr>
              <a:t>alifpga</a:t>
            </a:r>
            <a:r>
              <a:rPr kumimoji="1" lang="en-US" altLang="zh-CN" sz="1400" dirty="0">
                <a:latin typeface="微软雅黑" panose="020B0503020204020204" pitchFamily="34" charset="-122"/>
                <a:ea typeface="微软雅黑" panose="020B0503020204020204" pitchFamily="34" charset="-122"/>
                <a:cs typeface="Times New Roman" panose="02020603050405020304" pitchFamily="18" charset="0"/>
              </a:rPr>
              <a:t>/p/7675850.html</a:t>
            </a:r>
          </a:p>
        </p:txBody>
      </p:sp>
      <p:sp>
        <p:nvSpPr>
          <p:cNvPr id="15" name="矩形 14">
            <a:extLst>
              <a:ext uri="{FF2B5EF4-FFF2-40B4-BE49-F238E27FC236}">
                <a16:creationId xmlns:a16="http://schemas.microsoft.com/office/drawing/2014/main" id="{45EF5228-2B5E-3045-9B9C-E595D53A58E5}"/>
              </a:ext>
            </a:extLst>
          </p:cNvPr>
          <p:cNvSpPr/>
          <p:nvPr/>
        </p:nvSpPr>
        <p:spPr>
          <a:xfrm>
            <a:off x="718455" y="1099085"/>
            <a:ext cx="10545195" cy="1005788"/>
          </a:xfrm>
          <a:prstGeom prst="rect">
            <a:avLst/>
          </a:prstGeom>
        </p:spPr>
        <p:txBody>
          <a:bodyPr wrap="square">
            <a:spAutoFit/>
          </a:bodyPr>
          <a:lstStyle/>
          <a:p>
            <a:pPr algn="just">
              <a:lnSpc>
                <a:spcPct val="130000"/>
              </a:lnSpc>
            </a:pPr>
            <a:r>
              <a:rPr lang="en-US" altLang="zh-CN" sz="2400" b="1" dirty="0">
                <a:solidFill>
                  <a:srgbClr val="C00000"/>
                </a:solidFill>
                <a:latin typeface="Microsoft YaHei" panose="020B0503020204020204" pitchFamily="34" charset="-122"/>
                <a:ea typeface="Microsoft YaHei" panose="020B0503020204020204" pitchFamily="34" charset="-122"/>
              </a:rPr>
              <a:t>TCP</a:t>
            </a:r>
            <a:r>
              <a:rPr lang="zh-CN" altLang="en-US" sz="2400" b="1" dirty="0">
                <a:solidFill>
                  <a:srgbClr val="C00000"/>
                </a:solidFill>
                <a:latin typeface="Microsoft YaHei" panose="020B0503020204020204" pitchFamily="34" charset="-122"/>
                <a:ea typeface="Microsoft YaHei" panose="020B0503020204020204" pitchFamily="34" charset="-122"/>
              </a:rPr>
              <a:t>協議采用滑動窗口協議確保數據包有序提交，幷解决重複問題；采用超時重傳機制解决鏈路擁塞導致的數據包丟失問題</a:t>
            </a:r>
            <a:endParaRPr lang="en-US" altLang="zh-CN" sz="2400" b="1" dirty="0">
              <a:solidFill>
                <a:srgbClr val="C00000"/>
              </a:solidFill>
              <a:latin typeface="Microsoft YaHei" panose="020B0503020204020204" pitchFamily="34" charset="-122"/>
              <a:ea typeface="Microsoft YaHei" panose="020B0503020204020204" pitchFamily="34" charset="-122"/>
            </a:endParaRPr>
          </a:p>
        </p:txBody>
      </p:sp>
      <p:sp>
        <p:nvSpPr>
          <p:cNvPr id="16" name="灯片编号占位符 2">
            <a:extLst>
              <a:ext uri="{FF2B5EF4-FFF2-40B4-BE49-F238E27FC236}">
                <a16:creationId xmlns:a16="http://schemas.microsoft.com/office/drawing/2014/main" id="{2D830737-D0D3-A74D-8A9A-FD092FD20646}"/>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19</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3792250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構建</a:t>
            </a:r>
            <a:r>
              <a:rPr kumimoji="1" lang="en-US" altLang="zh-CN" dirty="0"/>
              <a:t>TLS</a:t>
            </a:r>
            <a:r>
              <a:rPr kumimoji="1" lang="zh-CN" altLang="en-US" dirty="0"/>
              <a:t>交互信道</a:t>
            </a:r>
          </a:p>
        </p:txBody>
      </p:sp>
      <p:pic>
        <p:nvPicPr>
          <p:cNvPr id="3" name="图片 2">
            <a:extLst>
              <a:ext uri="{FF2B5EF4-FFF2-40B4-BE49-F238E27FC236}">
                <a16:creationId xmlns:a16="http://schemas.microsoft.com/office/drawing/2014/main" id="{F69EA79D-A855-924A-A5ED-10872EFF1E2B}"/>
              </a:ext>
            </a:extLst>
          </p:cNvPr>
          <p:cNvPicPr>
            <a:picLocks noChangeAspect="1"/>
          </p:cNvPicPr>
          <p:nvPr/>
        </p:nvPicPr>
        <p:blipFill>
          <a:blip r:embed="rId2"/>
          <a:stretch>
            <a:fillRect/>
          </a:stretch>
        </p:blipFill>
        <p:spPr>
          <a:xfrm>
            <a:off x="6616695" y="3435531"/>
            <a:ext cx="4857101" cy="3093074"/>
          </a:xfrm>
          <a:prstGeom prst="rect">
            <a:avLst/>
          </a:prstGeom>
        </p:spPr>
      </p:pic>
      <p:sp>
        <p:nvSpPr>
          <p:cNvPr id="5" name="矩形 4">
            <a:extLst>
              <a:ext uri="{FF2B5EF4-FFF2-40B4-BE49-F238E27FC236}">
                <a16:creationId xmlns:a16="http://schemas.microsoft.com/office/drawing/2014/main" id="{7AA4CC17-2568-0F40-8CEA-8D411CD17C7A}"/>
              </a:ext>
            </a:extLst>
          </p:cNvPr>
          <p:cNvSpPr/>
          <p:nvPr/>
        </p:nvSpPr>
        <p:spPr>
          <a:xfrm>
            <a:off x="733417" y="3429000"/>
            <a:ext cx="5646294" cy="3041730"/>
          </a:xfrm>
          <a:prstGeom prst="rect">
            <a:avLst/>
          </a:prstGeom>
          <a:ln>
            <a:solidFill>
              <a:srgbClr val="00B0F0"/>
            </a:solidFill>
          </a:ln>
        </p:spPr>
        <p:txBody>
          <a:bodyPr wrap="square">
            <a:spAutoFit/>
          </a:bodyPr>
          <a:lstStyle/>
          <a:p>
            <a:pPr marL="3429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基于</a:t>
            </a:r>
            <a:r>
              <a:rPr lang="en-US" altLang="zh-CN" sz="2400" dirty="0">
                <a:latin typeface="Microsoft YaHei" panose="020B0503020204020204" pitchFamily="34" charset="-122"/>
                <a:ea typeface="Microsoft YaHei" panose="020B0503020204020204" pitchFamily="34" charset="-122"/>
              </a:rPr>
              <a:t>PKI</a:t>
            </a:r>
            <a:r>
              <a:rPr lang="zh-CN" altLang="en-US" sz="2400" dirty="0">
                <a:latin typeface="Microsoft YaHei" panose="020B0503020204020204" pitchFamily="34" charset="-122"/>
                <a:ea typeface="Microsoft YaHei" panose="020B0503020204020204" pitchFamily="34" charset="-122"/>
              </a:rPr>
              <a:t>獲取對方公鑰證書</a:t>
            </a:r>
            <a:endParaRPr lang="en-US" altLang="zh-CN" sz="2400" dirty="0">
              <a:latin typeface="Microsoft YaHei" panose="020B0503020204020204" pitchFamily="34" charset="-122"/>
              <a:ea typeface="Microsoft YaHei" panose="020B0503020204020204" pitchFamily="34" charset="-122"/>
            </a:endParaRPr>
          </a:p>
          <a:p>
            <a:pPr marL="3429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基于公鑰非對稱加密協商隨機數</a:t>
            </a:r>
            <a:endParaRPr lang="en-US" altLang="zh-CN" sz="2400" dirty="0">
              <a:latin typeface="Microsoft YaHei" panose="020B0503020204020204" pitchFamily="34" charset="-122"/>
              <a:ea typeface="Microsoft YaHei" panose="020B0503020204020204" pitchFamily="34" charset="-122"/>
            </a:endParaRPr>
          </a:p>
          <a:p>
            <a:pPr marL="3429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基于協商的隨機數生成會話密鑰，從而建立安全信道</a:t>
            </a:r>
            <a:endParaRPr lang="en-US" altLang="zh-CN" sz="2400" dirty="0">
              <a:latin typeface="Microsoft YaHei" panose="020B0503020204020204" pitchFamily="34" charset="-122"/>
              <a:ea typeface="Microsoft YaHei" panose="020B0503020204020204" pitchFamily="34" charset="-122"/>
            </a:endParaRPr>
          </a:p>
          <a:p>
            <a:pPr marL="3429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基于會話密鑰對傳輸數據加密，幷生成消息認證碼對消息完整性進行驗證</a:t>
            </a:r>
            <a:endParaRPr lang="en-US" altLang="zh-CN" sz="2400" dirty="0">
              <a:latin typeface="Microsoft YaHei" panose="020B0503020204020204" pitchFamily="34" charset="-122"/>
              <a:ea typeface="Microsoft YaHei" panose="020B0503020204020204" pitchFamily="34" charset="-122"/>
            </a:endParaRPr>
          </a:p>
        </p:txBody>
      </p:sp>
      <p:sp>
        <p:nvSpPr>
          <p:cNvPr id="7" name="矩形 6">
            <a:extLst>
              <a:ext uri="{FF2B5EF4-FFF2-40B4-BE49-F238E27FC236}">
                <a16:creationId xmlns:a16="http://schemas.microsoft.com/office/drawing/2014/main" id="{49F683BE-3723-3E4C-95DC-47CDB3E26650}"/>
              </a:ext>
            </a:extLst>
          </p:cNvPr>
          <p:cNvSpPr/>
          <p:nvPr/>
        </p:nvSpPr>
        <p:spPr>
          <a:xfrm>
            <a:off x="899625" y="1103698"/>
            <a:ext cx="10467447" cy="1896801"/>
          </a:xfrm>
          <a:prstGeom prst="rect">
            <a:avLst/>
          </a:prstGeom>
        </p:spPr>
        <p:txBody>
          <a:bodyPr wrap="square">
            <a:spAutoFit/>
          </a:bodyPr>
          <a:lstStyle/>
          <a:p>
            <a:pPr>
              <a:lnSpc>
                <a:spcPts val="3600"/>
              </a:lnSpc>
            </a:pPr>
            <a:r>
              <a:rPr lang="en-US" altLang="zh-CN" sz="2400" dirty="0">
                <a:latin typeface="Microsoft YaHei" panose="020B0503020204020204" pitchFamily="34" charset="-122"/>
                <a:ea typeface="Microsoft YaHei" panose="020B0503020204020204" pitchFamily="34" charset="-122"/>
              </a:rPr>
              <a:t>TLS </a:t>
            </a:r>
            <a:r>
              <a:rPr lang="zh-CN" altLang="en-US" sz="2400" dirty="0">
                <a:latin typeface="Microsoft YaHei" panose="020B0503020204020204" pitchFamily="34" charset="-122"/>
                <a:ea typeface="Microsoft YaHei" panose="020B0503020204020204" pitchFamily="34" charset="-122"/>
              </a:rPr>
              <a:t>協議建立在</a:t>
            </a:r>
            <a:r>
              <a:rPr lang="en-US" altLang="zh-CN" sz="2400" dirty="0">
                <a:latin typeface="Microsoft YaHei" panose="020B0503020204020204" pitchFamily="34" charset="-122"/>
                <a:ea typeface="Microsoft YaHei" panose="020B0503020204020204" pitchFamily="34" charset="-122"/>
              </a:rPr>
              <a:t>TCP</a:t>
            </a:r>
            <a:r>
              <a:rPr lang="zh-CN" altLang="en-US" sz="2400" dirty="0">
                <a:latin typeface="Microsoft YaHei" panose="020B0503020204020204" pitchFamily="34" charset="-122"/>
                <a:ea typeface="Microsoft YaHei" panose="020B0503020204020204" pitchFamily="34" charset="-122"/>
              </a:rPr>
              <a:t>協議之上運行，提供以下三個安全功能：</a:t>
            </a:r>
            <a:endParaRPr lang="en-US" altLang="zh-CN" sz="2400" dirty="0">
              <a:latin typeface="Microsoft YaHei" panose="020B0503020204020204" pitchFamily="34" charset="-122"/>
              <a:ea typeface="Microsoft YaHei" panose="020B0503020204020204" pitchFamily="34" charset="-122"/>
            </a:endParaRPr>
          </a:p>
          <a:p>
            <a:pPr marL="684000" indent="-342900">
              <a:lnSpc>
                <a:spcPts val="3600"/>
              </a:lnSpc>
              <a:buFont typeface="Arial" panose="020B0604020202020204" pitchFamily="34" charset="0"/>
              <a:buChar char="•"/>
            </a:pPr>
            <a:r>
              <a:rPr lang="zh-CN" altLang="en-US" sz="2400" b="1" dirty="0">
                <a:solidFill>
                  <a:srgbClr val="C00000"/>
                </a:solidFill>
                <a:latin typeface="Microsoft YaHei" panose="020B0503020204020204" pitchFamily="34" charset="-122"/>
                <a:ea typeface="Microsoft YaHei" panose="020B0503020204020204" pitchFamily="34" charset="-122"/>
              </a:rPr>
              <a:t>數據完整性：</a:t>
            </a:r>
            <a:r>
              <a:rPr lang="zh-CN" altLang="en-US" sz="2400" dirty="0">
                <a:latin typeface="Microsoft YaHei" panose="020B0503020204020204" pitchFamily="34" charset="-122"/>
                <a:ea typeface="Microsoft YaHei" panose="020B0503020204020204" pitchFamily="34" charset="-122"/>
              </a:rPr>
              <a:t>驗證數據是否僞造而來或未遭篡改過</a:t>
            </a:r>
            <a:endParaRPr lang="en-US" altLang="zh-CN" sz="2400" dirty="0">
              <a:latin typeface="Microsoft YaHei" panose="020B0503020204020204" pitchFamily="34" charset="-122"/>
              <a:ea typeface="Microsoft YaHei" panose="020B0503020204020204" pitchFamily="34" charset="-122"/>
            </a:endParaRPr>
          </a:p>
          <a:p>
            <a:pPr marL="684000" indent="-342900">
              <a:lnSpc>
                <a:spcPts val="3600"/>
              </a:lnSpc>
              <a:buFont typeface="Arial" panose="020B0604020202020204" pitchFamily="34" charset="0"/>
              <a:buChar char="•"/>
            </a:pPr>
            <a:r>
              <a:rPr lang="zh-CN" altLang="en-US" sz="2400" b="1" dirty="0">
                <a:solidFill>
                  <a:srgbClr val="C00000"/>
                </a:solidFill>
                <a:latin typeface="Microsoft YaHei" panose="020B0503020204020204" pitchFamily="34" charset="-122"/>
                <a:ea typeface="Microsoft YaHei" panose="020B0503020204020204" pitchFamily="34" charset="-122"/>
              </a:rPr>
              <a:t>身份認證：</a:t>
            </a:r>
            <a:r>
              <a:rPr lang="zh-CN" altLang="en-US" sz="2400" dirty="0">
                <a:latin typeface="Microsoft YaHei" panose="020B0503020204020204" pitchFamily="34" charset="-122"/>
                <a:ea typeface="Microsoft YaHei" panose="020B0503020204020204" pitchFamily="34" charset="-122"/>
              </a:rPr>
              <a:t>獲取通信方的身份，爲訪問控制機制作支撑</a:t>
            </a:r>
            <a:endParaRPr lang="en-US" altLang="zh-CN" sz="2400" dirty="0">
              <a:latin typeface="Microsoft YaHei" panose="020B0503020204020204" pitchFamily="34" charset="-122"/>
              <a:ea typeface="Microsoft YaHei" panose="020B0503020204020204" pitchFamily="34" charset="-122"/>
            </a:endParaRPr>
          </a:p>
          <a:p>
            <a:pPr marL="684000" indent="-342900">
              <a:lnSpc>
                <a:spcPts val="3600"/>
              </a:lnSpc>
              <a:buFont typeface="Arial" panose="020B0604020202020204" pitchFamily="34" charset="0"/>
              <a:buChar char="•"/>
            </a:pPr>
            <a:r>
              <a:rPr lang="zh-CN" altLang="en-US" sz="2400" b="1" dirty="0">
                <a:solidFill>
                  <a:srgbClr val="C00000"/>
                </a:solidFill>
                <a:latin typeface="Microsoft YaHei" panose="020B0503020204020204" pitchFamily="34" charset="-122"/>
                <a:ea typeface="Microsoft YaHei" panose="020B0503020204020204" pitchFamily="34" charset="-122"/>
              </a:rPr>
              <a:t>數據加密：</a:t>
            </a:r>
            <a:r>
              <a:rPr lang="zh-CN" altLang="en-US" sz="2400" dirty="0">
                <a:latin typeface="Microsoft YaHei" panose="020B0503020204020204" pitchFamily="34" charset="-122"/>
                <a:ea typeface="Microsoft YaHei" panose="020B0503020204020204" pitchFamily="34" charset="-122"/>
              </a:rPr>
              <a:t>協商會話密鑰用于數據加密，防止第三方竊聽傳輸數據</a:t>
            </a:r>
            <a:endParaRPr lang="en-US" altLang="zh-CN" sz="2400" dirty="0">
              <a:latin typeface="Microsoft YaHei" panose="020B0503020204020204" pitchFamily="34" charset="-122"/>
              <a:ea typeface="Microsoft YaHei" panose="020B0503020204020204" pitchFamily="34" charset="-122"/>
            </a:endParaRPr>
          </a:p>
        </p:txBody>
      </p:sp>
      <p:sp>
        <p:nvSpPr>
          <p:cNvPr id="9" name="灯片编号占位符 2">
            <a:extLst>
              <a:ext uri="{FF2B5EF4-FFF2-40B4-BE49-F238E27FC236}">
                <a16:creationId xmlns:a16="http://schemas.microsoft.com/office/drawing/2014/main" id="{6D5254BF-56CD-B144-80A1-EA8845FF4B2E}"/>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20</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14106144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en-US" altLang="zh-CN" dirty="0"/>
              <a:t>TLS</a:t>
            </a:r>
            <a:r>
              <a:rPr kumimoji="1" lang="zh-CN" altLang="en-US" dirty="0"/>
              <a:t>防重放攻擊</a:t>
            </a:r>
          </a:p>
        </p:txBody>
      </p:sp>
      <p:sp>
        <p:nvSpPr>
          <p:cNvPr id="9" name="矩形 8">
            <a:extLst>
              <a:ext uri="{FF2B5EF4-FFF2-40B4-BE49-F238E27FC236}">
                <a16:creationId xmlns:a16="http://schemas.microsoft.com/office/drawing/2014/main" id="{6862B712-307D-C248-B416-ACB604D57306}"/>
              </a:ext>
            </a:extLst>
          </p:cNvPr>
          <p:cNvSpPr/>
          <p:nvPr/>
        </p:nvSpPr>
        <p:spPr>
          <a:xfrm>
            <a:off x="846588" y="1131523"/>
            <a:ext cx="10661683" cy="1689052"/>
          </a:xfrm>
          <a:prstGeom prst="rect">
            <a:avLst/>
          </a:prstGeom>
          <a:ln>
            <a:solidFill>
              <a:srgbClr val="00B0F0"/>
            </a:solidFill>
          </a:ln>
        </p:spPr>
        <p:txBody>
          <a:bodyPr wrap="square">
            <a:spAutoFit/>
          </a:bodyPr>
          <a:lstStyle/>
          <a:p>
            <a:pPr marL="342900" lvl="1" indent="-342900" algn="just" fontAlgn="base">
              <a:lnSpc>
                <a:spcPct val="150000"/>
              </a:lnSpc>
              <a:spcBef>
                <a:spcPct val="20000"/>
              </a:spcBef>
              <a:spcAft>
                <a:spcPct val="0"/>
              </a:spcAft>
              <a:buSzPct val="100000"/>
              <a:buFont typeface="Arial" panose="020B0604020202020204" pitchFamily="34" charset="0"/>
              <a:buChar char="•"/>
            </a:pPr>
            <a:r>
              <a:rPr lang="en-US" altLang="zh-CN" sz="2400" dirty="0">
                <a:latin typeface="Microsoft YaHei" panose="020B0503020204020204" pitchFamily="34" charset="-122"/>
                <a:ea typeface="Microsoft YaHei" panose="020B0503020204020204" pitchFamily="34" charset="-122"/>
              </a:rPr>
              <a:t>TLS</a:t>
            </a:r>
            <a:r>
              <a:rPr lang="zh-CN" altLang="en-US" sz="2400" dirty="0">
                <a:latin typeface="Microsoft YaHei" panose="020B0503020204020204" pitchFamily="34" charset="-122"/>
                <a:ea typeface="Microsoft YaHei" panose="020B0503020204020204" pitchFamily="34" charset="-122"/>
              </a:rPr>
              <a:t>交互信道帶來的優勢</a:t>
            </a:r>
            <a:endParaRPr lang="en-US" altLang="zh-CN" sz="2400" dirty="0">
              <a:latin typeface="Microsoft YaHei" panose="020B0503020204020204" pitchFamily="34" charset="-122"/>
              <a:ea typeface="Microsoft YaHei" panose="020B0503020204020204" pitchFamily="34" charset="-122"/>
            </a:endParaRPr>
          </a:p>
          <a:p>
            <a:pPr marL="684000" indent="-342900">
              <a:lnSpc>
                <a:spcPct val="150000"/>
              </a:lnSpc>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基于</a:t>
            </a:r>
            <a:r>
              <a:rPr lang="en-US" altLang="zh-CN" sz="2400" dirty="0">
                <a:latin typeface="Microsoft YaHei" panose="020B0503020204020204" pitchFamily="34" charset="-122"/>
                <a:ea typeface="Microsoft YaHei" panose="020B0503020204020204" pitchFamily="34" charset="-122"/>
              </a:rPr>
              <a:t>TCP</a:t>
            </a:r>
            <a:r>
              <a:rPr lang="zh-CN" altLang="en-US" sz="2400" dirty="0">
                <a:latin typeface="Microsoft YaHei" panose="020B0503020204020204" pitchFamily="34" charset="-122"/>
                <a:ea typeface="Microsoft YaHei" panose="020B0503020204020204" pitchFamily="34" charset="-122"/>
              </a:rPr>
              <a:t>協議確保傳輸層面數據包不會出現重複</a:t>
            </a:r>
            <a:endParaRPr lang="en-US" altLang="zh-CN" sz="2400" dirty="0">
              <a:latin typeface="Microsoft YaHei" panose="020B0503020204020204" pitchFamily="34" charset="-122"/>
              <a:ea typeface="Microsoft YaHei" panose="020B0503020204020204" pitchFamily="34" charset="-122"/>
            </a:endParaRPr>
          </a:p>
          <a:p>
            <a:pPr marL="684000" indent="-342900">
              <a:lnSpc>
                <a:spcPct val="150000"/>
              </a:lnSpc>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通過數據加密確保惡意節點無法通過監聽獲取應用層消息</a:t>
            </a:r>
            <a:endParaRPr lang="en-US" altLang="zh-CN" sz="2400" dirty="0">
              <a:latin typeface="Microsoft YaHei" panose="020B0503020204020204" pitchFamily="34" charset="-122"/>
              <a:ea typeface="Microsoft YaHei" panose="020B0503020204020204" pitchFamily="34" charset="-122"/>
            </a:endParaRPr>
          </a:p>
        </p:txBody>
      </p:sp>
      <p:grpSp>
        <p:nvGrpSpPr>
          <p:cNvPr id="6" name="组合 5">
            <a:extLst>
              <a:ext uri="{FF2B5EF4-FFF2-40B4-BE49-F238E27FC236}">
                <a16:creationId xmlns:a16="http://schemas.microsoft.com/office/drawing/2014/main" id="{AEA24A15-03A0-DD41-8D37-6CD3F895F5A9}"/>
              </a:ext>
            </a:extLst>
          </p:cNvPr>
          <p:cNvGrpSpPr/>
          <p:nvPr/>
        </p:nvGrpSpPr>
        <p:grpSpPr>
          <a:xfrm>
            <a:off x="846588" y="3008825"/>
            <a:ext cx="10665765" cy="823991"/>
            <a:chOff x="928177" y="2667521"/>
            <a:chExt cx="10529713" cy="1132954"/>
          </a:xfrm>
        </p:grpSpPr>
        <p:sp>
          <p:nvSpPr>
            <p:cNvPr id="10" name="矩形 9">
              <a:extLst>
                <a:ext uri="{FF2B5EF4-FFF2-40B4-BE49-F238E27FC236}">
                  <a16:creationId xmlns:a16="http://schemas.microsoft.com/office/drawing/2014/main" id="{0005E540-457E-AC41-9809-755838940D31}"/>
                </a:ext>
              </a:extLst>
            </p:cNvPr>
            <p:cNvSpPr>
              <a:spLocks/>
            </p:cNvSpPr>
            <p:nvPr/>
          </p:nvSpPr>
          <p:spPr bwMode="auto">
            <a:xfrm>
              <a:off x="928177" y="2667521"/>
              <a:ext cx="10529713" cy="1132954"/>
            </a:xfrm>
            <a:prstGeom prst="rect">
              <a:avLst/>
            </a:prstGeom>
            <a:solidFill>
              <a:srgbClr val="00B0F0"/>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defRPr/>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11" name="文本框 10">
              <a:extLst>
                <a:ext uri="{FF2B5EF4-FFF2-40B4-BE49-F238E27FC236}">
                  <a16:creationId xmlns:a16="http://schemas.microsoft.com/office/drawing/2014/main" id="{BE3B8BC8-9DCE-BC4B-9855-2BB33BBB2DCF}"/>
                </a:ext>
              </a:extLst>
            </p:cNvPr>
            <p:cNvSpPr txBox="1"/>
            <p:nvPr/>
          </p:nvSpPr>
          <p:spPr>
            <a:xfrm>
              <a:off x="928178" y="2810117"/>
              <a:ext cx="10529712" cy="779709"/>
            </a:xfrm>
            <a:prstGeom prst="rect">
              <a:avLst/>
            </a:prstGeom>
            <a:noFill/>
          </p:spPr>
          <p:txBody>
            <a:bodyPr wrap="square" rtlCol="0">
              <a:spAutoFit/>
            </a:bodyPr>
            <a:lstStyle/>
            <a:p>
              <a:pPr algn="ctr">
                <a:lnSpc>
                  <a:spcPct val="120000"/>
                </a:lnSpc>
                <a:spcAft>
                  <a:spcPts val="600"/>
                </a:spcAft>
              </a:pPr>
              <a:r>
                <a:rPr lang="zh-CN" altLang="en-US" sz="2800" b="1" dirty="0">
                  <a:solidFill>
                    <a:schemeClr val="bg1"/>
                  </a:solidFill>
                  <a:latin typeface="Microsoft YaHei" panose="020B0503020204020204" pitchFamily="34" charset="-122"/>
                  <a:ea typeface="Microsoft YaHei" panose="020B0503020204020204" pitchFamily="34" charset="-122"/>
                </a:rPr>
                <a:t>問題：</a:t>
              </a:r>
              <a:r>
                <a:rPr lang="en-US" altLang="zh-CN" sz="2800" b="1" dirty="0">
                  <a:solidFill>
                    <a:schemeClr val="bg1"/>
                  </a:solidFill>
                  <a:latin typeface="Microsoft YaHei" panose="020B0503020204020204" pitchFamily="34" charset="-122"/>
                  <a:ea typeface="Microsoft YaHei" panose="020B0503020204020204" pitchFamily="34" charset="-122"/>
                </a:rPr>
                <a:t>TLS</a:t>
              </a:r>
              <a:r>
                <a:rPr lang="zh-CN" altLang="en-US" sz="2800" b="1" dirty="0">
                  <a:solidFill>
                    <a:schemeClr val="bg1"/>
                  </a:solidFill>
                  <a:latin typeface="Microsoft YaHei" panose="020B0503020204020204" pitchFamily="34" charset="-122"/>
                  <a:ea typeface="Microsoft YaHei" panose="020B0503020204020204" pitchFamily="34" charset="-122"/>
                </a:rPr>
                <a:t>是否可以完全解决重放攻擊？</a:t>
              </a:r>
              <a:endParaRPr lang="en-US" altLang="zh-CN" sz="2800" b="1" dirty="0">
                <a:solidFill>
                  <a:schemeClr val="bg1"/>
                </a:solidFill>
                <a:latin typeface="Microsoft YaHei" panose="020B0503020204020204" pitchFamily="34" charset="-122"/>
                <a:ea typeface="Microsoft YaHei" panose="020B0503020204020204" pitchFamily="34" charset="-122"/>
              </a:endParaRPr>
            </a:p>
          </p:txBody>
        </p:sp>
      </p:grpSp>
      <p:cxnSp>
        <p:nvCxnSpPr>
          <p:cNvPr id="12" name="直接连接符 8">
            <a:extLst>
              <a:ext uri="{FF2B5EF4-FFF2-40B4-BE49-F238E27FC236}">
                <a16:creationId xmlns:a16="http://schemas.microsoft.com/office/drawing/2014/main" id="{F6A5442A-C728-A449-9F05-6D71C7FD19C7}"/>
              </a:ext>
            </a:extLst>
          </p:cNvPr>
          <p:cNvCxnSpPr>
            <a:cxnSpLocks/>
          </p:cNvCxnSpPr>
          <p:nvPr/>
        </p:nvCxnSpPr>
        <p:spPr>
          <a:xfrm>
            <a:off x="383071" y="6144348"/>
            <a:ext cx="547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文本框 14">
            <a:extLst>
              <a:ext uri="{FF2B5EF4-FFF2-40B4-BE49-F238E27FC236}">
                <a16:creationId xmlns:a16="http://schemas.microsoft.com/office/drawing/2014/main" id="{45A7E6B4-5FFA-7748-8E68-99D5F7D67071}"/>
              </a:ext>
            </a:extLst>
          </p:cNvPr>
          <p:cNvSpPr txBox="1"/>
          <p:nvPr/>
        </p:nvSpPr>
        <p:spPr>
          <a:xfrm>
            <a:off x="561975" y="6235648"/>
            <a:ext cx="5472000" cy="523220"/>
          </a:xfrm>
          <a:prstGeom prst="rect">
            <a:avLst/>
          </a:prstGeom>
          <a:noFill/>
        </p:spPr>
        <p:txBody>
          <a:bodyPr wrap="square" rtlCol="0">
            <a:spAutoFit/>
          </a:bodyPr>
          <a:lstStyle/>
          <a:p>
            <a:pPr algn="just"/>
            <a:r>
              <a:rPr kumimoji="1" lang="zh-CN" altLang="en-US" sz="1400" dirty="0">
                <a:latin typeface="微软雅黑" panose="020B0503020204020204" pitchFamily="34" charset="-122"/>
                <a:ea typeface="微软雅黑" panose="020B0503020204020204" pitchFamily="34" charset="-122"/>
                <a:cs typeface="Times New Roman" panose="02020603050405020304" pitchFamily="18" charset="0"/>
              </a:rPr>
              <a:t>注</a:t>
            </a:r>
            <a:r>
              <a:rPr kumimoji="1" lang="en-US" altLang="zh-CN" sz="1400" dirty="0">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1400" dirty="0">
                <a:latin typeface="微软雅黑" panose="020B0503020204020204" pitchFamily="34" charset="-122"/>
                <a:ea typeface="微软雅黑" panose="020B0503020204020204" pitchFamily="34" charset="-122"/>
                <a:cs typeface="Times New Roman" panose="02020603050405020304" pitchFamily="18" charset="0"/>
              </a:rPr>
              <a:t>詳細信息可參考</a:t>
            </a:r>
            <a:r>
              <a:rPr kumimoji="1" lang="en-US" altLang="zh-CN" sz="1400" dirty="0">
                <a:latin typeface="微软雅黑" panose="020B0503020204020204" pitchFamily="34" charset="-122"/>
                <a:ea typeface="微软雅黑" panose="020B0503020204020204" pitchFamily="34" charset="-122"/>
                <a:cs typeface="Times New Roman" panose="02020603050405020304" pitchFamily="18" charset="0"/>
              </a:rPr>
              <a:t>RFC8446</a:t>
            </a:r>
            <a:endParaRPr kumimoji="1" lang="en" altLang="zh-CN" sz="1400" dirty="0">
              <a:latin typeface="微软雅黑" panose="020B0503020204020204" pitchFamily="34" charset="-122"/>
              <a:ea typeface="微软雅黑" panose="020B0503020204020204" pitchFamily="34" charset="-122"/>
              <a:cs typeface="Times New Roman" panose="02020603050405020304" pitchFamily="18" charset="0"/>
            </a:endParaRPr>
          </a:p>
          <a:p>
            <a:pPr algn="just"/>
            <a:r>
              <a:rPr kumimoji="1" lang="en-US" altLang="zh-CN" sz="1400" dirty="0">
                <a:latin typeface="微软雅黑" panose="020B0503020204020204" pitchFamily="34" charset="-122"/>
                <a:ea typeface="微软雅黑" panose="020B0503020204020204" pitchFamily="34" charset="-122"/>
                <a:cs typeface="Times New Roman" panose="02020603050405020304" pitchFamily="18" charset="0"/>
              </a:rPr>
              <a:t>The Transport Layer Security (TLS) Protocol Version 1.3</a:t>
            </a:r>
          </a:p>
        </p:txBody>
      </p:sp>
      <p:sp>
        <p:nvSpPr>
          <p:cNvPr id="14" name="矩形 13">
            <a:extLst>
              <a:ext uri="{FF2B5EF4-FFF2-40B4-BE49-F238E27FC236}">
                <a16:creationId xmlns:a16="http://schemas.microsoft.com/office/drawing/2014/main" id="{6A7DE529-A567-1541-8EEF-29809E379AAE}"/>
              </a:ext>
            </a:extLst>
          </p:cNvPr>
          <p:cNvSpPr/>
          <p:nvPr/>
        </p:nvSpPr>
        <p:spPr>
          <a:xfrm>
            <a:off x="846588" y="3996888"/>
            <a:ext cx="10661683" cy="1689052"/>
          </a:xfrm>
          <a:prstGeom prst="rect">
            <a:avLst/>
          </a:prstGeom>
          <a:ln>
            <a:solidFill>
              <a:srgbClr val="00B0F0"/>
            </a:solidFill>
          </a:ln>
        </p:spPr>
        <p:txBody>
          <a:bodyPr wrap="square">
            <a:spAutoFit/>
          </a:bodyPr>
          <a:lstStyle/>
          <a:p>
            <a:pPr marL="342900" lvl="1" indent="-342900" algn="just" fontAlgn="base">
              <a:lnSpc>
                <a:spcPct val="150000"/>
              </a:lnSpc>
              <a:spcBef>
                <a:spcPct val="20000"/>
              </a:spcBef>
              <a:spcAft>
                <a:spcPct val="0"/>
              </a:spcAft>
              <a:buSzPct val="100000"/>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以下消息依然可能遭受重放攻擊</a:t>
            </a:r>
            <a:endParaRPr lang="en-US" altLang="zh-CN" sz="2400" dirty="0">
              <a:latin typeface="Microsoft YaHei" panose="020B0503020204020204" pitchFamily="34" charset="-122"/>
              <a:ea typeface="Microsoft YaHei" panose="020B0503020204020204" pitchFamily="34" charset="-122"/>
            </a:endParaRPr>
          </a:p>
          <a:p>
            <a:pPr marL="684000" indent="-342900">
              <a:lnSpc>
                <a:spcPct val="150000"/>
              </a:lnSpc>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客戶端發起的</a:t>
            </a:r>
            <a:r>
              <a:rPr lang="en-US" altLang="zh-CN" sz="2400" dirty="0">
                <a:latin typeface="Microsoft YaHei" panose="020B0503020204020204" pitchFamily="34" charset="-122"/>
                <a:ea typeface="Microsoft YaHei" panose="020B0503020204020204" pitchFamily="34" charset="-122"/>
              </a:rPr>
              <a:t>TLS</a:t>
            </a:r>
            <a:r>
              <a:rPr lang="zh-CN" altLang="en-US" sz="2400" dirty="0">
                <a:latin typeface="Microsoft YaHei" panose="020B0503020204020204" pitchFamily="34" charset="-122"/>
                <a:ea typeface="Microsoft YaHei" panose="020B0503020204020204" pitchFamily="34" charset="-122"/>
              </a:rPr>
              <a:t>請求建立信息</a:t>
            </a:r>
            <a:r>
              <a:rPr lang="en-US" altLang="zh-CN" sz="2400" dirty="0" err="1">
                <a:latin typeface="Microsoft YaHei" panose="020B0503020204020204" pitchFamily="34" charset="-122"/>
                <a:ea typeface="Microsoft YaHei" panose="020B0503020204020204" pitchFamily="34" charset="-122"/>
              </a:rPr>
              <a:t>ClientHello</a:t>
            </a:r>
            <a:endParaRPr lang="en-US" altLang="zh-CN" sz="2400" dirty="0">
              <a:latin typeface="Microsoft YaHei" panose="020B0503020204020204" pitchFamily="34" charset="-122"/>
              <a:ea typeface="Microsoft YaHei" panose="020B0503020204020204" pitchFamily="34" charset="-122"/>
            </a:endParaRPr>
          </a:p>
          <a:p>
            <a:pPr marL="684000" indent="-342900">
              <a:lnSpc>
                <a:spcPct val="150000"/>
              </a:lnSpc>
              <a:buFont typeface="Arial" panose="020B0604020202020204" pitchFamily="34" charset="0"/>
              <a:buChar char="•"/>
            </a:pPr>
            <a:r>
              <a:rPr lang="en-US" altLang="zh-CN" sz="2400" dirty="0">
                <a:latin typeface="Microsoft YaHei" panose="020B0503020204020204" pitchFamily="34" charset="-122"/>
                <a:ea typeface="Microsoft YaHei" panose="020B0503020204020204" pitchFamily="34" charset="-122"/>
              </a:rPr>
              <a:t>TLS1.3</a:t>
            </a:r>
            <a:r>
              <a:rPr lang="zh-CN" altLang="en-US" sz="2400" dirty="0">
                <a:latin typeface="Microsoft YaHei" panose="020B0503020204020204" pitchFamily="34" charset="-122"/>
                <a:ea typeface="Microsoft YaHei" panose="020B0503020204020204" pitchFamily="34" charset="-122"/>
              </a:rPr>
              <a:t>爲了加速握手過程而引入的</a:t>
            </a:r>
            <a:r>
              <a:rPr lang="en-US" altLang="zh-CN" sz="2400" dirty="0">
                <a:latin typeface="Microsoft YaHei" panose="020B0503020204020204" pitchFamily="34" charset="-122"/>
                <a:ea typeface="Microsoft YaHei" panose="020B0503020204020204" pitchFamily="34" charset="-122"/>
              </a:rPr>
              <a:t>0-RTT</a:t>
            </a:r>
            <a:r>
              <a:rPr lang="zh-CN" altLang="en-US" sz="2400" dirty="0">
                <a:latin typeface="Microsoft YaHei" panose="020B0503020204020204" pitchFamily="34" charset="-122"/>
                <a:ea typeface="Microsoft YaHei" panose="020B0503020204020204" pitchFamily="34" charset="-122"/>
              </a:rPr>
              <a:t>信息</a:t>
            </a:r>
            <a:endParaRPr lang="en-US" altLang="zh-CN" sz="2400" dirty="0">
              <a:latin typeface="Microsoft YaHei" panose="020B0503020204020204" pitchFamily="34" charset="-122"/>
              <a:ea typeface="Microsoft YaHei" panose="020B0503020204020204" pitchFamily="34" charset="-122"/>
            </a:endParaRPr>
          </a:p>
        </p:txBody>
      </p:sp>
      <p:sp>
        <p:nvSpPr>
          <p:cNvPr id="15" name="灯片编号占位符 2">
            <a:extLst>
              <a:ext uri="{FF2B5EF4-FFF2-40B4-BE49-F238E27FC236}">
                <a16:creationId xmlns:a16="http://schemas.microsoft.com/office/drawing/2014/main" id="{67468B86-5B43-714A-960D-3BEDE5BE5F8F}"/>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21</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723720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基于時間戳防禦重放攻擊</a:t>
            </a:r>
          </a:p>
        </p:txBody>
      </p:sp>
      <mc:AlternateContent xmlns:mc="http://schemas.openxmlformats.org/markup-compatibility/2006">
        <mc:Choice xmlns:a14="http://schemas.microsoft.com/office/drawing/2010/main" Requires="a14">
          <p:sp>
            <p:nvSpPr>
              <p:cNvPr id="3" name="矩形 2">
                <a:extLst>
                  <a:ext uri="{FF2B5EF4-FFF2-40B4-BE49-F238E27FC236}">
                    <a16:creationId xmlns:a16="http://schemas.microsoft.com/office/drawing/2014/main" id="{955F1C20-98E3-D441-B302-6EE5505C73EF}"/>
                  </a:ext>
                </a:extLst>
              </p:cNvPr>
              <p:cNvSpPr/>
              <p:nvPr/>
            </p:nvSpPr>
            <p:spPr>
              <a:xfrm>
                <a:off x="757646" y="935972"/>
                <a:ext cx="10776857" cy="1896801"/>
              </a:xfrm>
              <a:prstGeom prst="rect">
                <a:avLst/>
              </a:prstGeom>
              <a:ln>
                <a:solidFill>
                  <a:srgbClr val="00B0F0"/>
                </a:solidFill>
              </a:ln>
            </p:spPr>
            <p:txBody>
              <a:bodyPr wrap="square">
                <a:spAutoFit/>
              </a:bodyPr>
              <a:lstStyle/>
              <a:p>
                <a:pPr marL="144000" indent="-342900">
                  <a:lnSpc>
                    <a:spcPts val="3600"/>
                  </a:lnSpc>
                  <a:buFont typeface="Arial" panose="020B0604020202020204" pitchFamily="34" charset="0"/>
                  <a:buChar char="•"/>
                </a:pPr>
                <a:r>
                  <a:rPr lang="zh-CN" altLang="en-US" sz="2200" dirty="0">
                    <a:latin typeface="Microsoft YaHei" panose="020B0503020204020204" pitchFamily="34" charset="-122"/>
                    <a:ea typeface="Microsoft YaHei" panose="020B0503020204020204" pitchFamily="34" charset="-122"/>
                  </a:rPr>
                  <a:t>交互雙方完成精確時鐘同步</a:t>
                </a:r>
                <a:endParaRPr lang="en-US" altLang="zh-CN" sz="2200" dirty="0">
                  <a:latin typeface="Microsoft YaHei" panose="020B0503020204020204" pitchFamily="34" charset="-122"/>
                  <a:ea typeface="Microsoft YaHei" panose="020B0503020204020204" pitchFamily="34" charset="-122"/>
                </a:endParaRPr>
              </a:p>
              <a:p>
                <a:pPr marL="144000" indent="-342900">
                  <a:lnSpc>
                    <a:spcPts val="3600"/>
                  </a:lnSpc>
                  <a:buFont typeface="Arial" panose="020B0604020202020204" pitchFamily="34" charset="0"/>
                  <a:buChar char="•"/>
                </a:pPr>
                <a:r>
                  <a:rPr lang="zh-CN" altLang="en-US" sz="2200" dirty="0">
                    <a:latin typeface="Microsoft YaHei" panose="020B0503020204020204" pitchFamily="34" charset="-122"/>
                    <a:ea typeface="Microsoft YaHei" panose="020B0503020204020204" pitchFamily="34" charset="-122"/>
                  </a:rPr>
                  <a:t>節點</a:t>
                </a:r>
                <a:r>
                  <a:rPr lang="en-US" altLang="zh-CN" sz="2200" dirty="0">
                    <a:latin typeface="Microsoft YaHei" panose="020B0503020204020204" pitchFamily="34" charset="-122"/>
                    <a:ea typeface="Microsoft YaHei" panose="020B0503020204020204" pitchFamily="34" charset="-122"/>
                  </a:rPr>
                  <a:t>1</a:t>
                </a:r>
                <a:r>
                  <a:rPr lang="zh-CN" altLang="en-US" sz="2200" dirty="0">
                    <a:latin typeface="Microsoft YaHei" panose="020B0503020204020204" pitchFamily="34" charset="-122"/>
                    <a:ea typeface="Microsoft YaHei" panose="020B0503020204020204" pitchFamily="34" charset="-122"/>
                  </a:rPr>
                  <a:t>在發送的消息上附帶本地時間戳</a:t>
                </a:r>
                <a14:m>
                  <m:oMath xmlns:m="http://schemas.openxmlformats.org/officeDocument/2006/math">
                    <m:sSub>
                      <m:sSubPr>
                        <m:ctrlPr>
                          <a:rPr lang="en-US" altLang="zh-CN" sz="2200" i="1" dirty="0">
                            <a:latin typeface="Cambria Math" panose="02040503050406030204" pitchFamily="18" charset="0"/>
                            <a:ea typeface="Microsoft YaHei" panose="020B0503020204020204" pitchFamily="34" charset="-122"/>
                          </a:rPr>
                        </m:ctrlPr>
                      </m:sSubPr>
                      <m:e>
                        <m:r>
                          <a:rPr lang="en-US" altLang="zh-CN" sz="2200" b="0" i="1" dirty="0" smtClean="0">
                            <a:latin typeface="Cambria Math" panose="02040503050406030204" pitchFamily="18" charset="0"/>
                            <a:ea typeface="Microsoft YaHei" panose="020B0503020204020204" pitchFamily="34" charset="-122"/>
                          </a:rPr>
                          <m:t>𝑡</m:t>
                        </m:r>
                      </m:e>
                      <m:sub>
                        <m:r>
                          <a:rPr lang="en-US" altLang="zh-CN" sz="2200" i="1" dirty="0">
                            <a:latin typeface="Cambria Math" panose="02040503050406030204" pitchFamily="18" charset="0"/>
                            <a:ea typeface="Microsoft YaHei" panose="020B0503020204020204" pitchFamily="34" charset="-122"/>
                          </a:rPr>
                          <m:t>0</m:t>
                        </m:r>
                      </m:sub>
                    </m:sSub>
                  </m:oMath>
                </a14:m>
                <a:endParaRPr lang="en-US" altLang="zh-CN" sz="2200" dirty="0">
                  <a:latin typeface="Microsoft YaHei" panose="020B0503020204020204" pitchFamily="34" charset="-122"/>
                  <a:ea typeface="Microsoft YaHei" panose="020B0503020204020204" pitchFamily="34" charset="-122"/>
                </a:endParaRPr>
              </a:p>
              <a:p>
                <a:pPr marL="144000" indent="-342900">
                  <a:lnSpc>
                    <a:spcPts val="3600"/>
                  </a:lnSpc>
                  <a:buFont typeface="Arial" panose="020B0604020202020204" pitchFamily="34" charset="0"/>
                  <a:buChar char="•"/>
                </a:pPr>
                <a:r>
                  <a:rPr lang="zh-CN" altLang="en-US" sz="2200" dirty="0">
                    <a:latin typeface="Microsoft YaHei" panose="020B0503020204020204" pitchFamily="34" charset="-122"/>
                    <a:ea typeface="Microsoft YaHei" panose="020B0503020204020204" pitchFamily="34" charset="-122"/>
                  </a:rPr>
                  <a:t>節點</a:t>
                </a:r>
                <a:r>
                  <a:rPr lang="en-US" altLang="zh-CN" sz="2200" dirty="0">
                    <a:latin typeface="Microsoft YaHei" panose="020B0503020204020204" pitchFamily="34" charset="-122"/>
                    <a:ea typeface="Microsoft YaHei" panose="020B0503020204020204" pitchFamily="34" charset="-122"/>
                  </a:rPr>
                  <a:t>2</a:t>
                </a:r>
                <a:r>
                  <a:rPr lang="zh-CN" altLang="en-US" sz="2200" dirty="0">
                    <a:latin typeface="Microsoft YaHei" panose="020B0503020204020204" pitchFamily="34" charset="-122"/>
                    <a:ea typeface="Microsoft YaHei" panose="020B0503020204020204" pitchFamily="34" charset="-122"/>
                  </a:rPr>
                  <a:t>收到消息後，用本地時間减去消息中所附帶的時間戳得到一個時間差</a:t>
                </a:r>
                <a:endParaRPr lang="en-US" altLang="zh-CN" sz="2200" dirty="0">
                  <a:latin typeface="Microsoft YaHei" panose="020B0503020204020204" pitchFamily="34" charset="-122"/>
                  <a:ea typeface="Microsoft YaHei" panose="020B0503020204020204" pitchFamily="34" charset="-122"/>
                </a:endParaRPr>
              </a:p>
              <a:p>
                <a:pPr marL="144000" indent="-342900">
                  <a:lnSpc>
                    <a:spcPts val="3600"/>
                  </a:lnSpc>
                  <a:buFont typeface="Arial" panose="020B0604020202020204" pitchFamily="34" charset="0"/>
                  <a:buChar char="•"/>
                </a:pPr>
                <a:r>
                  <a:rPr lang="zh-CN" altLang="en-US" sz="2200" dirty="0">
                    <a:latin typeface="Microsoft YaHei" panose="020B0503020204020204" pitchFamily="34" charset="-122"/>
                    <a:ea typeface="Microsoft YaHei" panose="020B0503020204020204" pitchFamily="34" charset="-122"/>
                  </a:rPr>
                  <a:t>若時間差小于允許值</a:t>
                </a:r>
                <a14:m>
                  <m:oMath xmlns:m="http://schemas.openxmlformats.org/officeDocument/2006/math">
                    <m:r>
                      <a:rPr lang="en-US" altLang="zh-CN" sz="2200" i="1" dirty="0">
                        <a:latin typeface="Cambria Math" panose="02040503050406030204" pitchFamily="18" charset="0"/>
                        <a:ea typeface="Cambria Math" panose="02040503050406030204" pitchFamily="18" charset="0"/>
                      </a:rPr>
                      <m:t>𝛿</m:t>
                    </m:r>
                  </m:oMath>
                </a14:m>
                <a:r>
                  <a:rPr lang="zh-CN" altLang="en-US" sz="2200" dirty="0">
                    <a:latin typeface="Microsoft YaHei" panose="020B0503020204020204" pitchFamily="34" charset="-122"/>
                    <a:ea typeface="Microsoft YaHei" panose="020B0503020204020204" pitchFamily="34" charset="-122"/>
                  </a:rPr>
                  <a:t>，則接受該消息；否則丟弃</a:t>
                </a:r>
                <a:endParaRPr lang="en-US" altLang="zh-CN" sz="2200" dirty="0">
                  <a:latin typeface="Microsoft YaHei" panose="020B0503020204020204" pitchFamily="34" charset="-122"/>
                  <a:ea typeface="Microsoft YaHei" panose="020B0503020204020204" pitchFamily="34" charset="-122"/>
                </a:endParaRPr>
              </a:p>
            </p:txBody>
          </p:sp>
        </mc:Choice>
        <mc:Fallback>
          <p:sp>
            <p:nvSpPr>
              <p:cNvPr id="3" name="矩形 2">
                <a:extLst>
                  <a:ext uri="{FF2B5EF4-FFF2-40B4-BE49-F238E27FC236}">
                    <a16:creationId xmlns:a16="http://schemas.microsoft.com/office/drawing/2014/main" id="{955F1C20-98E3-D441-B302-6EE5505C73EF}"/>
                  </a:ext>
                </a:extLst>
              </p:cNvPr>
              <p:cNvSpPr>
                <a:spLocks noRot="1" noChangeAspect="1" noMove="1" noResize="1" noEditPoints="1" noAdjustHandles="1" noChangeArrowheads="1" noChangeShapeType="1" noTextEdit="1"/>
              </p:cNvSpPr>
              <p:nvPr/>
            </p:nvSpPr>
            <p:spPr>
              <a:xfrm>
                <a:off x="757646" y="935972"/>
                <a:ext cx="10776857" cy="1896801"/>
              </a:xfrm>
              <a:prstGeom prst="rect">
                <a:avLst/>
              </a:prstGeom>
              <a:blipFill>
                <a:blip r:embed="rId2"/>
                <a:stretch>
                  <a:fillRect l="-565" b="-4792"/>
                </a:stretch>
              </a:blipFill>
              <a:ln>
                <a:solidFill>
                  <a:srgbClr val="00B0F0"/>
                </a:solidFill>
              </a:ln>
            </p:spPr>
            <p:txBody>
              <a:bodyPr/>
              <a:lstStyle/>
              <a:p>
                <a:r>
                  <a:rPr lang="fr-FR">
                    <a:noFill/>
                  </a:rPr>
                  <a:t> </a:t>
                </a:r>
              </a:p>
            </p:txBody>
          </p:sp>
        </mc:Fallback>
      </mc:AlternateContent>
      <p:sp>
        <p:nvSpPr>
          <p:cNvPr id="4" name="矩形 3">
            <a:extLst>
              <a:ext uri="{FF2B5EF4-FFF2-40B4-BE49-F238E27FC236}">
                <a16:creationId xmlns:a16="http://schemas.microsoft.com/office/drawing/2014/main" id="{AC683F61-D48B-114A-A126-061EA59B83CF}"/>
              </a:ext>
            </a:extLst>
          </p:cNvPr>
          <p:cNvSpPr/>
          <p:nvPr/>
        </p:nvSpPr>
        <p:spPr>
          <a:xfrm>
            <a:off x="731521" y="5656217"/>
            <a:ext cx="10855234" cy="940526"/>
          </a:xfrm>
          <a:prstGeom prst="rect">
            <a:avLst/>
          </a:prstGeom>
          <a:solidFill>
            <a:schemeClr val="accent3">
              <a:lumMod val="60000"/>
              <a:lumOff val="40000"/>
            </a:schemeClr>
          </a:solidFill>
          <a:ln w="19050">
            <a:solidFill>
              <a:schemeClr val="accent3">
                <a:lumMod val="60000"/>
                <a:lumOff val="40000"/>
              </a:schemeClr>
            </a:solidFill>
          </a:ln>
          <a:effectLst>
            <a:outerShdw blurRad="254000" dist="127000" dir="5400000" sx="90000" sy="90000" rotWithShape="0">
              <a:prstClr val="black">
                <a:alpha val="15000"/>
              </a:prstClr>
            </a:outerShdw>
            <a:reflection blurRad="6350" stA="52000" endA="300" endPos="35000" dir="5400000" sy="-100000" algn="bl" rotWithShape="0"/>
          </a:effectLst>
        </p:spPr>
        <p:txBody>
          <a:bodyPr lIns="144000" tIns="108000" rIns="90000" bIns="108000" anchor="ctr"/>
          <a:lstStyle/>
          <a:p>
            <a:pPr lvl="1">
              <a:lnSpc>
                <a:spcPct val="130000"/>
              </a:lnSpc>
            </a:pPr>
            <a:r>
              <a:rPr lang="zh-CN" altLang="en-US" sz="2200" b="1" dirty="0">
                <a:solidFill>
                  <a:schemeClr val="bg1"/>
                </a:solidFill>
                <a:latin typeface="Microsoft YaHei" panose="020B0503020204020204" pitchFamily="34" charset="-122"/>
                <a:ea typeface="Microsoft YaHei" panose="020B0503020204020204" pitchFamily="34" charset="-122"/>
              </a:rPr>
              <a:t>優點：容易實現</a:t>
            </a:r>
            <a:endParaRPr lang="en-US" altLang="zh-CN" sz="2200" b="1" dirty="0">
              <a:solidFill>
                <a:schemeClr val="bg1"/>
              </a:solidFill>
              <a:latin typeface="Microsoft YaHei" panose="020B0503020204020204" pitchFamily="34" charset="-122"/>
              <a:ea typeface="Microsoft YaHei" panose="020B0503020204020204" pitchFamily="34" charset="-122"/>
            </a:endParaRPr>
          </a:p>
          <a:p>
            <a:pPr lvl="1">
              <a:lnSpc>
                <a:spcPct val="130000"/>
              </a:lnSpc>
            </a:pPr>
            <a:r>
              <a:rPr lang="zh-CN" altLang="en-US" sz="2200" b="1" dirty="0">
                <a:solidFill>
                  <a:schemeClr val="bg1"/>
                </a:solidFill>
                <a:latin typeface="Microsoft YaHei" panose="020B0503020204020204" pitchFamily="34" charset="-122"/>
                <a:ea typeface="Microsoft YaHei" panose="020B0503020204020204" pitchFamily="34" charset="-122"/>
              </a:rPr>
              <a:t>缺點：要求交互雙方進行精確的時鐘同步；存在一個可以被攻擊的時間窗口</a:t>
            </a:r>
            <a:endParaRPr lang="en-US" altLang="zh-CN" sz="2200" b="1" dirty="0">
              <a:solidFill>
                <a:schemeClr val="bg1"/>
              </a:solidFill>
              <a:latin typeface="Microsoft YaHei" panose="020B0503020204020204" pitchFamily="34" charset="-122"/>
              <a:ea typeface="Microsoft YaHei" panose="020B0503020204020204" pitchFamily="34" charset="-122"/>
            </a:endParaRPr>
          </a:p>
        </p:txBody>
      </p:sp>
      <p:pic>
        <p:nvPicPr>
          <p:cNvPr id="5" name="图片 4">
            <a:extLst>
              <a:ext uri="{FF2B5EF4-FFF2-40B4-BE49-F238E27FC236}">
                <a16:creationId xmlns:a16="http://schemas.microsoft.com/office/drawing/2014/main" id="{3CDD0964-EF7F-B242-9D34-4B799EE0D551}"/>
              </a:ext>
            </a:extLst>
          </p:cNvPr>
          <p:cNvPicPr>
            <a:picLocks noChangeAspect="1"/>
          </p:cNvPicPr>
          <p:nvPr/>
        </p:nvPicPr>
        <p:blipFill rotWithShape="1">
          <a:blip r:embed="rId3"/>
          <a:srcRect l="1404" t="1153" r="1581" b="2515"/>
          <a:stretch/>
        </p:blipFill>
        <p:spPr>
          <a:xfrm>
            <a:off x="731518" y="3017521"/>
            <a:ext cx="10513563" cy="2599507"/>
          </a:xfrm>
          <a:prstGeom prst="rect">
            <a:avLst/>
          </a:prstGeom>
        </p:spPr>
      </p:pic>
      <p:sp>
        <p:nvSpPr>
          <p:cNvPr id="19" name="灯片编号占位符 2">
            <a:extLst>
              <a:ext uri="{FF2B5EF4-FFF2-40B4-BE49-F238E27FC236}">
                <a16:creationId xmlns:a16="http://schemas.microsoft.com/office/drawing/2014/main" id="{80FE5838-4C36-4A41-90F3-F6B79A3E7736}"/>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22</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8488493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基于隨機數防禦重放攻擊</a:t>
            </a:r>
          </a:p>
        </p:txBody>
      </p:sp>
      <p:sp>
        <p:nvSpPr>
          <p:cNvPr id="3" name="矩形 2">
            <a:extLst>
              <a:ext uri="{FF2B5EF4-FFF2-40B4-BE49-F238E27FC236}">
                <a16:creationId xmlns:a16="http://schemas.microsoft.com/office/drawing/2014/main" id="{955F1C20-98E3-D441-B302-6EE5505C73EF}"/>
              </a:ext>
            </a:extLst>
          </p:cNvPr>
          <p:cNvSpPr/>
          <p:nvPr/>
        </p:nvSpPr>
        <p:spPr>
          <a:xfrm>
            <a:off x="653143" y="1009056"/>
            <a:ext cx="10985864" cy="1435136"/>
          </a:xfrm>
          <a:prstGeom prst="rect">
            <a:avLst/>
          </a:prstGeom>
          <a:ln>
            <a:solidFill>
              <a:srgbClr val="00B0F0"/>
            </a:solidFill>
          </a:ln>
        </p:spPr>
        <p:txBody>
          <a:bodyPr wrap="square">
            <a:spAutoFit/>
          </a:bodyPr>
          <a:lstStyle/>
          <a:p>
            <a:pPr indent="-342900">
              <a:lnSpc>
                <a:spcPts val="3600"/>
              </a:lnSpc>
              <a:buFont typeface="Arial" panose="020B0604020202020204" pitchFamily="34" charset="0"/>
              <a:buChar char="•"/>
            </a:pPr>
            <a:r>
              <a:rPr lang="zh-CN" altLang="en-US" sz="2200" dirty="0">
                <a:latin typeface="Microsoft YaHei" panose="020B0503020204020204" pitchFamily="34" charset="-122"/>
                <a:ea typeface="Microsoft YaHei" panose="020B0503020204020204" pitchFamily="34" charset="-122"/>
              </a:rPr>
              <a:t>節點</a:t>
            </a:r>
            <a:r>
              <a:rPr lang="en-US" altLang="zh-CN" sz="2200" dirty="0">
                <a:latin typeface="Microsoft YaHei" panose="020B0503020204020204" pitchFamily="34" charset="-122"/>
                <a:ea typeface="Microsoft YaHei" panose="020B0503020204020204" pitchFamily="34" charset="-122"/>
              </a:rPr>
              <a:t>1</a:t>
            </a:r>
            <a:r>
              <a:rPr lang="zh-CN" altLang="en-US" sz="2200" dirty="0">
                <a:latin typeface="Microsoft YaHei" panose="020B0503020204020204" pitchFamily="34" charset="-122"/>
                <a:ea typeface="Microsoft YaHei" panose="020B0503020204020204" pitchFamily="34" charset="-122"/>
              </a:rPr>
              <a:t>維護隨機數池，和節點</a:t>
            </a:r>
            <a:r>
              <a:rPr lang="en-US" altLang="zh-CN" sz="2200" dirty="0">
                <a:latin typeface="Microsoft YaHei" panose="020B0503020204020204" pitchFamily="34" charset="-122"/>
                <a:ea typeface="Microsoft YaHei" panose="020B0503020204020204" pitchFamily="34" charset="-122"/>
              </a:rPr>
              <a:t>2</a:t>
            </a:r>
            <a:r>
              <a:rPr lang="zh-CN" altLang="en-US" sz="2200" dirty="0">
                <a:latin typeface="Microsoft YaHei" panose="020B0503020204020204" pitchFamily="34" charset="-122"/>
                <a:ea typeface="Microsoft YaHei" panose="020B0503020204020204" pitchFamily="34" charset="-122"/>
              </a:rPr>
              <a:t>交互的每條消息都附帶新隨機數</a:t>
            </a:r>
            <a:endParaRPr lang="en-US" altLang="zh-CN" sz="2200" dirty="0">
              <a:latin typeface="Microsoft YaHei" panose="020B0503020204020204" pitchFamily="34" charset="-122"/>
              <a:ea typeface="Microsoft YaHei" panose="020B0503020204020204" pitchFamily="34" charset="-122"/>
            </a:endParaRPr>
          </a:p>
          <a:p>
            <a:pPr indent="-342900">
              <a:lnSpc>
                <a:spcPts val="3600"/>
              </a:lnSpc>
              <a:buFont typeface="Arial" panose="020B0604020202020204" pitchFamily="34" charset="0"/>
              <a:buChar char="•"/>
            </a:pPr>
            <a:r>
              <a:rPr lang="zh-CN" altLang="en-US" sz="2200" dirty="0">
                <a:latin typeface="Microsoft YaHei" panose="020B0503020204020204" pitchFamily="34" charset="-122"/>
                <a:ea typeface="Microsoft YaHei" panose="020B0503020204020204" pitchFamily="34" charset="-122"/>
              </a:rPr>
              <a:t>節點</a:t>
            </a:r>
            <a:r>
              <a:rPr lang="en-US" altLang="zh-CN" sz="2200" dirty="0">
                <a:latin typeface="Microsoft YaHei" panose="020B0503020204020204" pitchFamily="34" charset="-122"/>
                <a:ea typeface="Microsoft YaHei" panose="020B0503020204020204" pitchFamily="34" charset="-122"/>
              </a:rPr>
              <a:t>2</a:t>
            </a:r>
            <a:r>
              <a:rPr lang="zh-CN" altLang="en-US" sz="2200" dirty="0">
                <a:latin typeface="Microsoft YaHei" panose="020B0503020204020204" pitchFamily="34" charset="-122"/>
                <a:ea typeface="Microsoft YaHei" panose="020B0503020204020204" pitchFamily="34" charset="-122"/>
              </a:rPr>
              <a:t>收到消息後，判斷該消息所附帶的隨機數是否已在日志</a:t>
            </a:r>
            <a:r>
              <a:rPr lang="en-US" altLang="zh-CN" sz="2200" dirty="0">
                <a:latin typeface="Microsoft YaHei" panose="020B0503020204020204" pitchFamily="34" charset="-122"/>
                <a:ea typeface="Microsoft YaHei" panose="020B0503020204020204" pitchFamily="34" charset="-122"/>
              </a:rPr>
              <a:t>R</a:t>
            </a:r>
            <a:r>
              <a:rPr lang="zh-CN" altLang="en-US" sz="2200" dirty="0">
                <a:latin typeface="Microsoft YaHei" panose="020B0503020204020204" pitchFamily="34" charset="-122"/>
                <a:ea typeface="Microsoft YaHei" panose="020B0503020204020204" pitchFamily="34" charset="-122"/>
              </a:rPr>
              <a:t>中</a:t>
            </a:r>
            <a:endParaRPr lang="en-US" altLang="zh-CN" sz="2200" dirty="0">
              <a:latin typeface="Microsoft YaHei" panose="020B0503020204020204" pitchFamily="34" charset="-122"/>
              <a:ea typeface="Microsoft YaHei" panose="020B0503020204020204" pitchFamily="34" charset="-122"/>
            </a:endParaRPr>
          </a:p>
          <a:p>
            <a:pPr>
              <a:lnSpc>
                <a:spcPts val="3600"/>
              </a:lnSpc>
            </a:pPr>
            <a:r>
              <a:rPr lang="en-US" altLang="zh-CN" sz="2200" dirty="0">
                <a:latin typeface="Microsoft YaHei" panose="020B0503020204020204" pitchFamily="34" charset="-122"/>
                <a:ea typeface="Microsoft YaHei" panose="020B0503020204020204" pitchFamily="34" charset="-122"/>
              </a:rPr>
              <a:t>    </a:t>
            </a:r>
            <a:r>
              <a:rPr lang="zh-CN" altLang="en-US" sz="2200" dirty="0">
                <a:latin typeface="Microsoft YaHei" panose="020B0503020204020204" pitchFamily="34" charset="-122"/>
                <a:ea typeface="Microsoft YaHei" panose="020B0503020204020204" pitchFamily="34" charset="-122"/>
              </a:rPr>
              <a:t>若否，則接受該消息，幷將新隨機數存儲在本地日志；若是，則丟弃該消息</a:t>
            </a:r>
            <a:endParaRPr lang="en-US" altLang="zh-CN" sz="2200" dirty="0">
              <a:latin typeface="Microsoft YaHei" panose="020B0503020204020204" pitchFamily="34" charset="-122"/>
              <a:ea typeface="Microsoft YaHei" panose="020B0503020204020204" pitchFamily="34" charset="-122"/>
            </a:endParaRPr>
          </a:p>
        </p:txBody>
      </p:sp>
      <p:sp>
        <p:nvSpPr>
          <p:cNvPr id="4" name="矩形 3">
            <a:extLst>
              <a:ext uri="{FF2B5EF4-FFF2-40B4-BE49-F238E27FC236}">
                <a16:creationId xmlns:a16="http://schemas.microsoft.com/office/drawing/2014/main" id="{3151FB65-FDBF-9647-B5BD-E7F511971BCD}"/>
              </a:ext>
            </a:extLst>
          </p:cNvPr>
          <p:cNvSpPr/>
          <p:nvPr/>
        </p:nvSpPr>
        <p:spPr>
          <a:xfrm>
            <a:off x="628944" y="5687200"/>
            <a:ext cx="11053266" cy="965777"/>
          </a:xfrm>
          <a:prstGeom prst="rect">
            <a:avLst/>
          </a:prstGeom>
          <a:solidFill>
            <a:schemeClr val="accent3">
              <a:lumMod val="60000"/>
              <a:lumOff val="40000"/>
            </a:schemeClr>
          </a:solidFill>
          <a:ln w="19050">
            <a:solidFill>
              <a:schemeClr val="accent3">
                <a:lumMod val="60000"/>
                <a:lumOff val="40000"/>
              </a:schemeClr>
            </a:solidFill>
          </a:ln>
          <a:effectLst>
            <a:outerShdw blurRad="254000" dist="127000" dir="5400000" sx="90000" sy="90000" rotWithShape="0">
              <a:prstClr val="black">
                <a:alpha val="15000"/>
              </a:prstClr>
            </a:outerShdw>
            <a:reflection blurRad="6350" stA="52000" endA="300" endPos="35000" dir="5400000" sy="-100000" algn="bl" rotWithShape="0"/>
          </a:effectLst>
        </p:spPr>
        <p:txBody>
          <a:bodyPr lIns="144000" tIns="108000" rIns="90000" bIns="108000" anchor="ctr"/>
          <a:lstStyle/>
          <a:p>
            <a:pPr lvl="1">
              <a:lnSpc>
                <a:spcPct val="130000"/>
              </a:lnSpc>
            </a:pPr>
            <a:r>
              <a:rPr lang="zh-CN" altLang="en-US" sz="2200" b="1" dirty="0">
                <a:solidFill>
                  <a:schemeClr val="bg1"/>
                </a:solidFill>
                <a:latin typeface="Microsoft YaHei" panose="020B0503020204020204" pitchFamily="34" charset="-122"/>
                <a:ea typeface="Microsoft YaHei" panose="020B0503020204020204" pitchFamily="34" charset="-122"/>
              </a:rPr>
              <a:t>優點：無需時鐘同步；不存在可被攻擊的時間窗口</a:t>
            </a:r>
            <a:endParaRPr lang="en-US" altLang="zh-CN" sz="2200" b="1" dirty="0">
              <a:solidFill>
                <a:schemeClr val="bg1"/>
              </a:solidFill>
              <a:latin typeface="Microsoft YaHei" panose="020B0503020204020204" pitchFamily="34" charset="-122"/>
              <a:ea typeface="Microsoft YaHei" panose="020B0503020204020204" pitchFamily="34" charset="-122"/>
            </a:endParaRPr>
          </a:p>
          <a:p>
            <a:pPr lvl="1">
              <a:lnSpc>
                <a:spcPct val="130000"/>
              </a:lnSpc>
            </a:pPr>
            <a:r>
              <a:rPr lang="zh-CN" altLang="en-US" sz="2200" b="1" dirty="0">
                <a:solidFill>
                  <a:schemeClr val="bg1"/>
                </a:solidFill>
                <a:latin typeface="Microsoft YaHei" panose="020B0503020204020204" pitchFamily="34" charset="-122"/>
                <a:ea typeface="Microsoft YaHei" panose="020B0503020204020204" pitchFamily="34" charset="-122"/>
              </a:rPr>
              <a:t>缺點：複用之前的數時，可能遭受重放攻擊；需要記錄大量已用過的隨機數</a:t>
            </a:r>
            <a:endParaRPr lang="en-US" altLang="zh-CN" sz="2200" b="1" dirty="0">
              <a:solidFill>
                <a:schemeClr val="bg1"/>
              </a:solidFill>
              <a:latin typeface="Microsoft YaHei" panose="020B0503020204020204" pitchFamily="34" charset="-122"/>
              <a:ea typeface="Microsoft YaHei" panose="020B0503020204020204" pitchFamily="34" charset="-122"/>
            </a:endParaRPr>
          </a:p>
        </p:txBody>
      </p:sp>
      <p:pic>
        <p:nvPicPr>
          <p:cNvPr id="6" name="图片 5">
            <a:extLst>
              <a:ext uri="{FF2B5EF4-FFF2-40B4-BE49-F238E27FC236}">
                <a16:creationId xmlns:a16="http://schemas.microsoft.com/office/drawing/2014/main" id="{C7D779E9-F441-8A40-AC17-7319F3F5BB68}"/>
              </a:ext>
            </a:extLst>
          </p:cNvPr>
          <p:cNvPicPr>
            <a:picLocks noChangeAspect="1"/>
          </p:cNvPicPr>
          <p:nvPr/>
        </p:nvPicPr>
        <p:blipFill rotWithShape="1">
          <a:blip r:embed="rId3"/>
          <a:srcRect l="2738" t="1973" r="1742" b="2570"/>
          <a:stretch/>
        </p:blipFill>
        <p:spPr>
          <a:xfrm>
            <a:off x="1071154" y="2599508"/>
            <a:ext cx="9874165" cy="2913017"/>
          </a:xfrm>
          <a:prstGeom prst="rect">
            <a:avLst/>
          </a:prstGeom>
          <a:ln>
            <a:noFill/>
          </a:ln>
        </p:spPr>
      </p:pic>
      <p:sp>
        <p:nvSpPr>
          <p:cNvPr id="7" name="灯片编号占位符 2">
            <a:extLst>
              <a:ext uri="{FF2B5EF4-FFF2-40B4-BE49-F238E27FC236}">
                <a16:creationId xmlns:a16="http://schemas.microsoft.com/office/drawing/2014/main" id="{3FD74BC0-B374-1E4A-9D37-D2A2231509AF}"/>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23</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6263381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D21A19D7-B8FD-D340-8C89-9DA480A3306A}"/>
              </a:ext>
            </a:extLst>
          </p:cNvPr>
          <p:cNvPicPr>
            <a:picLocks noChangeAspect="1"/>
          </p:cNvPicPr>
          <p:nvPr/>
        </p:nvPicPr>
        <p:blipFill rotWithShape="1">
          <a:blip r:embed="rId3"/>
          <a:srcRect r="1826" b="3369"/>
          <a:stretch/>
        </p:blipFill>
        <p:spPr>
          <a:xfrm>
            <a:off x="1280886" y="3352786"/>
            <a:ext cx="9326154" cy="3215325"/>
          </a:xfrm>
          <a:prstGeom prst="rect">
            <a:avLst/>
          </a:prstGeom>
        </p:spPr>
      </p:pic>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時間戳和隨機數相結合</a:t>
            </a:r>
          </a:p>
        </p:txBody>
      </p:sp>
      <p:sp>
        <p:nvSpPr>
          <p:cNvPr id="3" name="矩形 2">
            <a:extLst>
              <a:ext uri="{FF2B5EF4-FFF2-40B4-BE49-F238E27FC236}">
                <a16:creationId xmlns:a16="http://schemas.microsoft.com/office/drawing/2014/main" id="{955F1C20-98E3-D441-B302-6EE5505C73EF}"/>
              </a:ext>
            </a:extLst>
          </p:cNvPr>
          <p:cNvSpPr/>
          <p:nvPr/>
        </p:nvSpPr>
        <p:spPr>
          <a:xfrm>
            <a:off x="714913" y="976078"/>
            <a:ext cx="11055350" cy="2243050"/>
          </a:xfrm>
          <a:prstGeom prst="rect">
            <a:avLst/>
          </a:prstGeom>
          <a:ln>
            <a:solidFill>
              <a:srgbClr val="00B0F0"/>
            </a:solidFill>
          </a:ln>
        </p:spPr>
        <p:txBody>
          <a:bodyPr wrap="square">
            <a:spAutoFit/>
          </a:bodyPr>
          <a:lstStyle/>
          <a:p>
            <a:pPr indent="-342900">
              <a:lnSpc>
                <a:spcPct val="150000"/>
              </a:lnSpc>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節點</a:t>
            </a:r>
            <a:r>
              <a:rPr lang="en-US" altLang="zh-CN" sz="2400" dirty="0">
                <a:latin typeface="Microsoft YaHei" panose="020B0503020204020204" pitchFamily="34" charset="-122"/>
                <a:ea typeface="Microsoft YaHei" panose="020B0503020204020204" pitchFamily="34" charset="-122"/>
              </a:rPr>
              <a:t>1</a:t>
            </a:r>
            <a:r>
              <a:rPr lang="zh-CN" altLang="en-US" sz="2400" dirty="0">
                <a:latin typeface="Microsoft YaHei" panose="020B0503020204020204" pitchFamily="34" charset="-122"/>
                <a:ea typeface="Microsoft YaHei" panose="020B0503020204020204" pitchFamily="34" charset="-122"/>
              </a:rPr>
              <a:t>和節點</a:t>
            </a:r>
            <a:r>
              <a:rPr lang="en-US" altLang="zh-CN" sz="2400" dirty="0">
                <a:latin typeface="Microsoft YaHei" panose="020B0503020204020204" pitchFamily="34" charset="-122"/>
                <a:ea typeface="Microsoft YaHei" panose="020B0503020204020204" pitchFamily="34" charset="-122"/>
              </a:rPr>
              <a:t>2</a:t>
            </a:r>
            <a:r>
              <a:rPr lang="zh-CN" altLang="en-US" sz="2400" dirty="0">
                <a:latin typeface="Microsoft YaHei" panose="020B0503020204020204" pitchFamily="34" charset="-122"/>
                <a:ea typeface="Microsoft YaHei" panose="020B0503020204020204" pitchFamily="34" charset="-122"/>
              </a:rPr>
              <a:t>時鐘同步，無需非常精確</a:t>
            </a:r>
            <a:endParaRPr lang="en-US" altLang="zh-CN" sz="2400" dirty="0">
              <a:latin typeface="Microsoft YaHei" panose="020B0503020204020204" pitchFamily="34" charset="-122"/>
              <a:ea typeface="Microsoft YaHei" panose="020B0503020204020204" pitchFamily="34" charset="-122"/>
            </a:endParaRPr>
          </a:p>
          <a:p>
            <a:pPr indent="-342900">
              <a:lnSpc>
                <a:spcPct val="150000"/>
              </a:lnSpc>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節點</a:t>
            </a:r>
            <a:r>
              <a:rPr lang="en-US" altLang="zh-CN" sz="2400" dirty="0">
                <a:latin typeface="Microsoft YaHei" panose="020B0503020204020204" pitchFamily="34" charset="-122"/>
                <a:ea typeface="Microsoft YaHei" panose="020B0503020204020204" pitchFamily="34" charset="-122"/>
              </a:rPr>
              <a:t>1</a:t>
            </a:r>
            <a:r>
              <a:rPr lang="zh-CN" altLang="en-US" sz="2400" dirty="0">
                <a:latin typeface="Microsoft YaHei" panose="020B0503020204020204" pitchFamily="34" charset="-122"/>
                <a:ea typeface="Microsoft YaHei" panose="020B0503020204020204" pitchFamily="34" charset="-122"/>
              </a:rPr>
              <a:t>維護隨機數池，隨機數的量確保可以在短時間內不重複</a:t>
            </a:r>
            <a:endParaRPr lang="en-US" altLang="zh-CN" sz="2400" dirty="0">
              <a:latin typeface="Microsoft YaHei" panose="020B0503020204020204" pitchFamily="34" charset="-122"/>
              <a:ea typeface="Microsoft YaHei" panose="020B0503020204020204" pitchFamily="34" charset="-122"/>
            </a:endParaRPr>
          </a:p>
          <a:p>
            <a:pPr indent="-342900">
              <a:lnSpc>
                <a:spcPct val="150000"/>
              </a:lnSpc>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節點</a:t>
            </a:r>
            <a:r>
              <a:rPr lang="en-US" altLang="zh-CN" sz="2400" dirty="0">
                <a:latin typeface="Microsoft YaHei" panose="020B0503020204020204" pitchFamily="34" charset="-122"/>
                <a:ea typeface="Microsoft YaHei" panose="020B0503020204020204" pitchFamily="34" charset="-122"/>
              </a:rPr>
              <a:t>2</a:t>
            </a:r>
            <a:r>
              <a:rPr lang="zh-CN" altLang="en-US" sz="2400" dirty="0">
                <a:latin typeface="Microsoft YaHei" panose="020B0503020204020204" pitchFamily="34" charset="-122"/>
                <a:ea typeface="Microsoft YaHei" panose="020B0503020204020204" pitchFamily="34" charset="-122"/>
              </a:rPr>
              <a:t>只存儲短時間內的隨機數</a:t>
            </a:r>
            <a:endParaRPr lang="en-US" altLang="zh-CN" sz="2400" dirty="0">
              <a:latin typeface="Microsoft YaHei" panose="020B0503020204020204" pitchFamily="34" charset="-122"/>
              <a:ea typeface="Microsoft YaHei" panose="020B0503020204020204" pitchFamily="34" charset="-122"/>
            </a:endParaRPr>
          </a:p>
          <a:p>
            <a:pPr indent="-342900">
              <a:lnSpc>
                <a:spcPct val="150000"/>
              </a:lnSpc>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對消息的判斷需同時判斷時間戳和隨機數</a:t>
            </a:r>
            <a:endParaRPr lang="en-US" altLang="zh-CN" sz="2400" dirty="0">
              <a:latin typeface="Microsoft YaHei" panose="020B0503020204020204" pitchFamily="34" charset="-122"/>
              <a:ea typeface="Microsoft YaHei" panose="020B0503020204020204" pitchFamily="34" charset="-122"/>
            </a:endParaRPr>
          </a:p>
        </p:txBody>
      </p:sp>
      <p:sp>
        <p:nvSpPr>
          <p:cNvPr id="5" name="灯片编号占位符 2">
            <a:extLst>
              <a:ext uri="{FF2B5EF4-FFF2-40B4-BE49-F238E27FC236}">
                <a16:creationId xmlns:a16="http://schemas.microsoft.com/office/drawing/2014/main" id="{8D37B67F-A940-1E47-9962-F98825941140}"/>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24</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6550377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當網絡鏈路出現故障</a:t>
            </a:r>
          </a:p>
        </p:txBody>
      </p:sp>
      <p:sp>
        <p:nvSpPr>
          <p:cNvPr id="80" name="矩形 79">
            <a:extLst>
              <a:ext uri="{FF2B5EF4-FFF2-40B4-BE49-F238E27FC236}">
                <a16:creationId xmlns:a16="http://schemas.microsoft.com/office/drawing/2014/main" id="{C3706D8B-A6DE-234B-A908-AD0CFC15A263}"/>
              </a:ext>
            </a:extLst>
          </p:cNvPr>
          <p:cNvSpPr/>
          <p:nvPr/>
        </p:nvSpPr>
        <p:spPr>
          <a:xfrm>
            <a:off x="6860965" y="4166174"/>
            <a:ext cx="4611632" cy="2358466"/>
          </a:xfrm>
          <a:prstGeom prst="rect">
            <a:avLst/>
          </a:prstGeom>
          <a:ln>
            <a:solidFill>
              <a:srgbClr val="00B0F0"/>
            </a:solidFill>
          </a:ln>
        </p:spPr>
        <p:txBody>
          <a:bodyPr wrap="square">
            <a:spAutoFit/>
          </a:bodyPr>
          <a:lstStyle/>
          <a:p>
            <a:pPr marL="3429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鏈路故障的特徵</a:t>
            </a:r>
            <a:endParaRPr lang="en-US" altLang="zh-CN" sz="2400" dirty="0">
              <a:latin typeface="Microsoft YaHei" panose="020B0503020204020204" pitchFamily="34" charset="-122"/>
              <a:ea typeface="Microsoft YaHei" panose="020B0503020204020204" pitchFamily="34" charset="-122"/>
            </a:endParaRPr>
          </a:p>
          <a:p>
            <a:pPr marL="684000" indent="-342900">
              <a:lnSpc>
                <a:spcPts val="3600"/>
              </a:lnSpc>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無法通過網絡層路由解决</a:t>
            </a:r>
            <a:endParaRPr lang="en-US" altLang="zh-CN" sz="2400" dirty="0">
              <a:latin typeface="Microsoft YaHei" panose="020B0503020204020204" pitchFamily="34" charset="-122"/>
              <a:ea typeface="Microsoft YaHei" panose="020B0503020204020204" pitchFamily="34" charset="-122"/>
            </a:endParaRPr>
          </a:p>
          <a:p>
            <a:pPr marL="684000" indent="-342900">
              <a:lnSpc>
                <a:spcPts val="3600"/>
              </a:lnSpc>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通常只會影響節點與部分節點間的通信信道，不會造成網絡分區</a:t>
            </a:r>
            <a:endParaRPr lang="en-US" altLang="zh-CN" sz="2400" dirty="0">
              <a:latin typeface="Microsoft YaHei" panose="020B0503020204020204" pitchFamily="34" charset="-122"/>
              <a:ea typeface="Microsoft YaHei" panose="020B0503020204020204" pitchFamily="34" charset="-122"/>
            </a:endParaRPr>
          </a:p>
        </p:txBody>
      </p:sp>
      <p:pic>
        <p:nvPicPr>
          <p:cNvPr id="8" name="图片 7" descr="图示&#10;&#10;中度可信度描述已自动生成">
            <a:extLst>
              <a:ext uri="{FF2B5EF4-FFF2-40B4-BE49-F238E27FC236}">
                <a16:creationId xmlns:a16="http://schemas.microsoft.com/office/drawing/2014/main" id="{343E8FF4-9757-474D-8245-C552C111F5D2}"/>
              </a:ext>
            </a:extLst>
          </p:cNvPr>
          <p:cNvPicPr>
            <a:picLocks noChangeAspect="1"/>
          </p:cNvPicPr>
          <p:nvPr/>
        </p:nvPicPr>
        <p:blipFill>
          <a:blip r:embed="rId3"/>
          <a:stretch>
            <a:fillRect/>
          </a:stretch>
        </p:blipFill>
        <p:spPr>
          <a:xfrm>
            <a:off x="6990935" y="959399"/>
            <a:ext cx="4323117" cy="2762743"/>
          </a:xfrm>
          <a:prstGeom prst="rect">
            <a:avLst/>
          </a:prstGeom>
        </p:spPr>
      </p:pic>
      <p:sp>
        <p:nvSpPr>
          <p:cNvPr id="45" name="Rectangle 4">
            <a:extLst>
              <a:ext uri="{FF2B5EF4-FFF2-40B4-BE49-F238E27FC236}">
                <a16:creationId xmlns:a16="http://schemas.microsoft.com/office/drawing/2014/main" id="{757AF53C-6720-424E-9C1F-D6544B874362}"/>
              </a:ext>
            </a:extLst>
          </p:cNvPr>
          <p:cNvSpPr>
            <a:spLocks noChangeArrowheads="1"/>
          </p:cNvSpPr>
          <p:nvPr/>
        </p:nvSpPr>
        <p:spPr bwMode="auto">
          <a:xfrm>
            <a:off x="796466" y="1038417"/>
            <a:ext cx="6015477" cy="2734108"/>
          </a:xfrm>
          <a:prstGeom prst="rect">
            <a:avLst/>
          </a:prstGeom>
          <a:noFill/>
          <a:ln w="9525">
            <a:solidFill>
              <a:srgbClr val="00B0F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685800" eaLnBrk="1" hangingPunct="1">
              <a:lnSpc>
                <a:spcPts val="3600"/>
              </a:lnSpc>
              <a:spcBef>
                <a:spcPct val="20000"/>
              </a:spcBef>
              <a:buClr>
                <a:schemeClr val="tx1"/>
              </a:buClr>
              <a:buSzPct val="100000"/>
              <a:buFont typeface="Arial" panose="020B0604020202020204" pitchFamily="34" charset="0"/>
              <a:buChar char="•"/>
              <a:defRPr/>
            </a:pPr>
            <a:r>
              <a:rPr lang="zh-CN" altLang="en-US" sz="2400" dirty="0">
                <a:latin typeface="Microsoft YaHei" panose="020B0503020204020204" pitchFamily="34" charset="-122"/>
                <a:ea typeface="Microsoft YaHei" panose="020B0503020204020204" pitchFamily="34" charset="-122"/>
              </a:rPr>
              <a:t>鏈路故障類型</a:t>
            </a:r>
            <a:endParaRPr lang="en-US" altLang="zh-CN" sz="2400" dirty="0">
              <a:latin typeface="Microsoft YaHei" panose="020B0503020204020204" pitchFamily="34" charset="-122"/>
              <a:ea typeface="Microsoft YaHei" panose="020B0503020204020204" pitchFamily="34" charset="-122"/>
            </a:endParaRPr>
          </a:p>
          <a:p>
            <a:pPr marL="684000" lvl="1" indent="-342900" defTabSz="685800">
              <a:lnSpc>
                <a:spcPts val="3600"/>
              </a:lnSpc>
              <a:spcBef>
                <a:spcPct val="20000"/>
              </a:spcBef>
              <a:buClr>
                <a:schemeClr val="tx1"/>
              </a:buClr>
              <a:buSzPct val="100000"/>
              <a:buFont typeface="Arial" panose="020B0604020202020204" pitchFamily="34" charset="0"/>
              <a:buChar char="•"/>
              <a:defRPr/>
            </a:pPr>
            <a:r>
              <a:rPr lang="zh-CN" altLang="en-US" sz="2400" b="1" dirty="0">
                <a:solidFill>
                  <a:srgbClr val="C00000"/>
                </a:solidFill>
                <a:latin typeface="Microsoft YaHei" panose="020B0503020204020204" pitchFamily="34" charset="-122"/>
                <a:ea typeface="Microsoft YaHei" panose="020B0503020204020204" pitchFamily="34" charset="-122"/>
              </a:rPr>
              <a:t>鏈路崩潰</a:t>
            </a:r>
            <a:r>
              <a:rPr lang="en-US" altLang="zh-CN" sz="2400" b="1" dirty="0">
                <a:solidFill>
                  <a:srgbClr val="C00000"/>
                </a:solidFill>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路由配置、</a:t>
            </a:r>
            <a:r>
              <a:rPr lang="en-US" altLang="zh-CN" sz="2400" dirty="0">
                <a:latin typeface="Microsoft YaHei" panose="020B0503020204020204" pitchFamily="34" charset="-122"/>
                <a:ea typeface="Microsoft YaHei" panose="020B0503020204020204" pitchFamily="34" charset="-122"/>
              </a:rPr>
              <a:t>BGP</a:t>
            </a:r>
            <a:r>
              <a:rPr lang="zh-CN" altLang="en-US" sz="2400" dirty="0">
                <a:latin typeface="Microsoft YaHei" panose="020B0503020204020204" pitchFamily="34" charset="-122"/>
                <a:ea typeface="Microsoft YaHei" panose="020B0503020204020204" pitchFamily="34" charset="-122"/>
              </a:rPr>
              <a:t>劫持等問題，使主機無法和部分其它域的主機通信</a:t>
            </a:r>
            <a:endParaRPr lang="en-US" altLang="zh-CN" sz="2400" dirty="0">
              <a:latin typeface="Microsoft YaHei" panose="020B0503020204020204" pitchFamily="34" charset="-122"/>
              <a:ea typeface="Microsoft YaHei" panose="020B0503020204020204" pitchFamily="34" charset="-122"/>
            </a:endParaRPr>
          </a:p>
          <a:p>
            <a:pPr marL="684000" lvl="1" indent="-342900" defTabSz="685800">
              <a:lnSpc>
                <a:spcPts val="3600"/>
              </a:lnSpc>
              <a:spcBef>
                <a:spcPct val="20000"/>
              </a:spcBef>
              <a:buClr>
                <a:schemeClr val="tx1"/>
              </a:buClr>
              <a:buSzPct val="100000"/>
              <a:buFont typeface="Arial" panose="020B0604020202020204" pitchFamily="34" charset="0"/>
              <a:buChar char="•"/>
              <a:defRPr/>
            </a:pPr>
            <a:r>
              <a:rPr lang="zh-CN" altLang="en-US" sz="2400" b="1" dirty="0">
                <a:solidFill>
                  <a:srgbClr val="C00000"/>
                </a:solidFill>
                <a:latin typeface="Microsoft YaHei" panose="020B0503020204020204" pitchFamily="34" charset="-122"/>
                <a:ea typeface="Microsoft YaHei" panose="020B0503020204020204" pitchFamily="34" charset="-122"/>
              </a:rPr>
              <a:t>性能問題</a:t>
            </a:r>
            <a:r>
              <a:rPr lang="en-US" altLang="zh-CN" sz="2400" b="1" dirty="0">
                <a:solidFill>
                  <a:srgbClr val="C00000"/>
                </a:solidFill>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網絡攻擊導致主機和部分其它域主機通信的延遲顯著上升</a:t>
            </a:r>
            <a:endParaRPr lang="en-US" altLang="zh-CN" sz="2400" dirty="0">
              <a:latin typeface="Microsoft YaHei" panose="020B0503020204020204" pitchFamily="34" charset="-122"/>
              <a:ea typeface="Microsoft YaHei" panose="020B0503020204020204" pitchFamily="34" charset="-122"/>
            </a:endParaRPr>
          </a:p>
        </p:txBody>
      </p:sp>
      <p:grpSp>
        <p:nvGrpSpPr>
          <p:cNvPr id="46" name="组合 45">
            <a:extLst>
              <a:ext uri="{FF2B5EF4-FFF2-40B4-BE49-F238E27FC236}">
                <a16:creationId xmlns:a16="http://schemas.microsoft.com/office/drawing/2014/main" id="{C8ADE3CA-8B89-FD47-92AB-EED9894FB602}"/>
              </a:ext>
            </a:extLst>
          </p:cNvPr>
          <p:cNvGrpSpPr/>
          <p:nvPr/>
        </p:nvGrpSpPr>
        <p:grpSpPr>
          <a:xfrm>
            <a:off x="1012284" y="4039650"/>
            <a:ext cx="5468264" cy="2582434"/>
            <a:chOff x="7841094" y="1066271"/>
            <a:chExt cx="3719995" cy="1756800"/>
          </a:xfrm>
        </p:grpSpPr>
        <p:grpSp>
          <p:nvGrpSpPr>
            <p:cNvPr id="47" name="组合 46">
              <a:extLst>
                <a:ext uri="{FF2B5EF4-FFF2-40B4-BE49-F238E27FC236}">
                  <a16:creationId xmlns:a16="http://schemas.microsoft.com/office/drawing/2014/main" id="{6F8EB40C-B03E-E942-83CE-0201FD90D6A2}"/>
                </a:ext>
              </a:extLst>
            </p:cNvPr>
            <p:cNvGrpSpPr/>
            <p:nvPr/>
          </p:nvGrpSpPr>
          <p:grpSpPr>
            <a:xfrm>
              <a:off x="7841094" y="1066271"/>
              <a:ext cx="3719995" cy="1756800"/>
              <a:chOff x="7538359" y="4741525"/>
              <a:chExt cx="4185556" cy="1979950"/>
            </a:xfrm>
          </p:grpSpPr>
          <p:cxnSp>
            <p:nvCxnSpPr>
              <p:cNvPr id="51" name="直线连接符 71">
                <a:extLst>
                  <a:ext uri="{FF2B5EF4-FFF2-40B4-BE49-F238E27FC236}">
                    <a16:creationId xmlns:a16="http://schemas.microsoft.com/office/drawing/2014/main" id="{CCC8360C-C7DA-9E40-8C18-A89B957AAA4B}"/>
                  </a:ext>
                </a:extLst>
              </p:cNvPr>
              <p:cNvCxnSpPr>
                <a:cxnSpLocks/>
                <a:stCxn id="54" idx="3"/>
                <a:endCxn id="52" idx="2"/>
              </p:cNvCxnSpPr>
              <p:nvPr/>
            </p:nvCxnSpPr>
            <p:spPr>
              <a:xfrm flipV="1">
                <a:off x="10754565" y="6072280"/>
                <a:ext cx="647616" cy="322789"/>
              </a:xfrm>
              <a:prstGeom prst="line">
                <a:avLst/>
              </a:prstGeom>
            </p:spPr>
            <p:style>
              <a:lnRef idx="1">
                <a:schemeClr val="accent1"/>
              </a:lnRef>
              <a:fillRef idx="0">
                <a:schemeClr val="accent1"/>
              </a:fillRef>
              <a:effectRef idx="0">
                <a:schemeClr val="accent1"/>
              </a:effectRef>
              <a:fontRef idx="minor">
                <a:schemeClr val="tx1"/>
              </a:fontRef>
            </p:style>
          </p:cxnSp>
          <p:pic>
            <p:nvPicPr>
              <p:cNvPr id="52" name="图形 51" descr="计算机">
                <a:extLst>
                  <a:ext uri="{FF2B5EF4-FFF2-40B4-BE49-F238E27FC236}">
                    <a16:creationId xmlns:a16="http://schemas.microsoft.com/office/drawing/2014/main" id="{60506EC8-47CA-8640-B699-34E199C5479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80447" y="5419471"/>
                <a:ext cx="643468" cy="652809"/>
              </a:xfrm>
              <a:prstGeom prst="rect">
                <a:avLst/>
              </a:prstGeom>
            </p:spPr>
          </p:pic>
          <p:pic>
            <p:nvPicPr>
              <p:cNvPr id="53" name="图形 52" descr="计算机">
                <a:extLst>
                  <a:ext uri="{FF2B5EF4-FFF2-40B4-BE49-F238E27FC236}">
                    <a16:creationId xmlns:a16="http://schemas.microsoft.com/office/drawing/2014/main" id="{483BE6F4-C227-9E43-9881-6930D9CF848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11097" y="4741525"/>
                <a:ext cx="643468" cy="652809"/>
              </a:xfrm>
              <a:prstGeom prst="rect">
                <a:avLst/>
              </a:prstGeom>
            </p:spPr>
          </p:pic>
          <p:pic>
            <p:nvPicPr>
              <p:cNvPr id="54" name="图形 53" descr="计算机">
                <a:extLst>
                  <a:ext uri="{FF2B5EF4-FFF2-40B4-BE49-F238E27FC236}">
                    <a16:creationId xmlns:a16="http://schemas.microsoft.com/office/drawing/2014/main" id="{DC5A04B5-4E3D-C548-9B28-69F0B833F2F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11095" y="6068665"/>
                <a:ext cx="643470" cy="652810"/>
              </a:xfrm>
              <a:prstGeom prst="rect">
                <a:avLst/>
              </a:prstGeom>
            </p:spPr>
          </p:pic>
          <p:pic>
            <p:nvPicPr>
              <p:cNvPr id="55" name="图形 54" descr="计算机">
                <a:extLst>
                  <a:ext uri="{FF2B5EF4-FFF2-40B4-BE49-F238E27FC236}">
                    <a16:creationId xmlns:a16="http://schemas.microsoft.com/office/drawing/2014/main" id="{61745A69-BA1D-9948-ADC2-4E4933E57A0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141746" y="5394334"/>
                <a:ext cx="643470" cy="652810"/>
              </a:xfrm>
              <a:prstGeom prst="rect">
                <a:avLst/>
              </a:prstGeom>
            </p:spPr>
          </p:pic>
          <p:cxnSp>
            <p:nvCxnSpPr>
              <p:cNvPr id="56" name="直线连接符 71">
                <a:extLst>
                  <a:ext uri="{FF2B5EF4-FFF2-40B4-BE49-F238E27FC236}">
                    <a16:creationId xmlns:a16="http://schemas.microsoft.com/office/drawing/2014/main" id="{A2279DCE-0F16-8D4D-A8E0-BF5520A88AAF}"/>
                  </a:ext>
                </a:extLst>
              </p:cNvPr>
              <p:cNvCxnSpPr>
                <a:cxnSpLocks/>
                <a:stCxn id="54" idx="1"/>
                <a:endCxn id="55" idx="2"/>
              </p:cNvCxnSpPr>
              <p:nvPr/>
            </p:nvCxnSpPr>
            <p:spPr>
              <a:xfrm flipH="1" flipV="1">
                <a:off x="9463481" y="6047145"/>
                <a:ext cx="647614" cy="347925"/>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直线连接符 71">
                <a:extLst>
                  <a:ext uri="{FF2B5EF4-FFF2-40B4-BE49-F238E27FC236}">
                    <a16:creationId xmlns:a16="http://schemas.microsoft.com/office/drawing/2014/main" id="{97962BFD-E8E5-984B-8545-49ED9D7043A7}"/>
                  </a:ext>
                </a:extLst>
              </p:cNvPr>
              <p:cNvCxnSpPr>
                <a:cxnSpLocks/>
                <a:stCxn id="53" idx="1"/>
                <a:endCxn id="55" idx="0"/>
              </p:cNvCxnSpPr>
              <p:nvPr/>
            </p:nvCxnSpPr>
            <p:spPr>
              <a:xfrm flipH="1">
                <a:off x="9463481" y="5067930"/>
                <a:ext cx="647616" cy="326404"/>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直线连接符 71">
                <a:extLst>
                  <a:ext uri="{FF2B5EF4-FFF2-40B4-BE49-F238E27FC236}">
                    <a16:creationId xmlns:a16="http://schemas.microsoft.com/office/drawing/2014/main" id="{37F94574-1958-6F4A-8421-DF8E5DDFDAAE}"/>
                  </a:ext>
                </a:extLst>
              </p:cNvPr>
              <p:cNvCxnSpPr>
                <a:cxnSpLocks/>
                <a:stCxn id="52" idx="0"/>
                <a:endCxn id="53" idx="3"/>
              </p:cNvCxnSpPr>
              <p:nvPr/>
            </p:nvCxnSpPr>
            <p:spPr>
              <a:xfrm flipH="1" flipV="1">
                <a:off x="10754565" y="5067930"/>
                <a:ext cx="647616" cy="351541"/>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直线箭头连接符 59">
                <a:extLst>
                  <a:ext uri="{FF2B5EF4-FFF2-40B4-BE49-F238E27FC236}">
                    <a16:creationId xmlns:a16="http://schemas.microsoft.com/office/drawing/2014/main" id="{77D709AD-8CD2-B147-B2FB-059B9CE40C95}"/>
                  </a:ext>
                </a:extLst>
              </p:cNvPr>
              <p:cNvCxnSpPr>
                <a:cxnSpLocks/>
              </p:cNvCxnSpPr>
              <p:nvPr/>
            </p:nvCxnSpPr>
            <p:spPr>
              <a:xfrm>
                <a:off x="8181829" y="5720739"/>
                <a:ext cx="877929" cy="0"/>
              </a:xfrm>
              <a:prstGeom prst="straightConnector1">
                <a:avLst/>
              </a:prstGeom>
              <a:ln w="19050">
                <a:headEnd type="stealth" w="lg" len="lg"/>
                <a:tailEnd type="stealth" w="lg" len="lg"/>
              </a:ln>
            </p:spPr>
            <p:style>
              <a:lnRef idx="1">
                <a:schemeClr val="accent1"/>
              </a:lnRef>
              <a:fillRef idx="0">
                <a:schemeClr val="accent1"/>
              </a:fillRef>
              <a:effectRef idx="0">
                <a:schemeClr val="accent1"/>
              </a:effectRef>
              <a:fontRef idx="minor">
                <a:schemeClr val="tx1"/>
              </a:fontRef>
            </p:style>
          </p:cxnSp>
          <p:pic>
            <p:nvPicPr>
              <p:cNvPr id="61" name="图形 60" descr="Internet">
                <a:extLst>
                  <a:ext uri="{FF2B5EF4-FFF2-40B4-BE49-F238E27FC236}">
                    <a16:creationId xmlns:a16="http://schemas.microsoft.com/office/drawing/2014/main" id="{EEA2AA5D-AD6D-B540-9BE0-C4CC66059BC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38359" y="5345653"/>
                <a:ext cx="643470" cy="652810"/>
              </a:xfrm>
              <a:prstGeom prst="rect">
                <a:avLst/>
              </a:prstGeom>
            </p:spPr>
          </p:pic>
          <p:cxnSp>
            <p:nvCxnSpPr>
              <p:cNvPr id="62" name="直线连接符 71">
                <a:extLst>
                  <a:ext uri="{FF2B5EF4-FFF2-40B4-BE49-F238E27FC236}">
                    <a16:creationId xmlns:a16="http://schemas.microsoft.com/office/drawing/2014/main" id="{7ABCEB0E-AA76-5C4A-8857-705DE8C90B3F}"/>
                  </a:ext>
                </a:extLst>
              </p:cNvPr>
              <p:cNvCxnSpPr>
                <a:cxnSpLocks/>
                <a:stCxn id="53" idx="2"/>
                <a:endCxn id="54" idx="0"/>
              </p:cNvCxnSpPr>
              <p:nvPr/>
            </p:nvCxnSpPr>
            <p:spPr>
              <a:xfrm flipH="1">
                <a:off x="10432830" y="5394334"/>
                <a:ext cx="1" cy="674330"/>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直线连接符 71">
                <a:extLst>
                  <a:ext uri="{FF2B5EF4-FFF2-40B4-BE49-F238E27FC236}">
                    <a16:creationId xmlns:a16="http://schemas.microsoft.com/office/drawing/2014/main" id="{AFEC8F51-4D5F-2641-AC1E-A40B1C975AFB}"/>
                  </a:ext>
                </a:extLst>
              </p:cNvPr>
              <p:cNvCxnSpPr>
                <a:cxnSpLocks/>
                <a:stCxn id="55" idx="3"/>
                <a:endCxn id="52" idx="1"/>
              </p:cNvCxnSpPr>
              <p:nvPr/>
            </p:nvCxnSpPr>
            <p:spPr>
              <a:xfrm>
                <a:off x="9785216" y="5720739"/>
                <a:ext cx="1295230" cy="25137"/>
              </a:xfrm>
              <a:prstGeom prst="line">
                <a:avLst/>
              </a:prstGeom>
            </p:spPr>
            <p:style>
              <a:lnRef idx="1">
                <a:schemeClr val="accent1"/>
              </a:lnRef>
              <a:fillRef idx="0">
                <a:schemeClr val="accent1"/>
              </a:fillRef>
              <a:effectRef idx="0">
                <a:schemeClr val="accent1"/>
              </a:effectRef>
              <a:fontRef idx="minor">
                <a:schemeClr val="tx1"/>
              </a:fontRef>
            </p:style>
          </p:cxnSp>
        </p:grpSp>
        <p:sp>
          <p:nvSpPr>
            <p:cNvPr id="48" name="AutoShape 41">
              <a:extLst>
                <a:ext uri="{FF2B5EF4-FFF2-40B4-BE49-F238E27FC236}">
                  <a16:creationId xmlns:a16="http://schemas.microsoft.com/office/drawing/2014/main" id="{2BB20208-0DCA-B649-A8CE-E12D56FEB6C6}"/>
                </a:ext>
              </a:extLst>
            </p:cNvPr>
            <p:cNvSpPr>
              <a:spLocks noChangeArrowheads="1"/>
            </p:cNvSpPr>
            <p:nvPr/>
          </p:nvSpPr>
          <p:spPr bwMode="auto">
            <a:xfrm>
              <a:off x="8645874" y="1732109"/>
              <a:ext cx="378995" cy="425121"/>
            </a:xfrm>
            <a:prstGeom prst="lightningBolt">
              <a:avLst/>
            </a:prstGeom>
            <a:solidFill>
              <a:srgbClr val="9900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endParaRPr lang="zh-CN" altLang="en-US"/>
            </a:p>
          </p:txBody>
        </p:sp>
        <p:sp>
          <p:nvSpPr>
            <p:cNvPr id="49" name="AutoShape 41">
              <a:extLst>
                <a:ext uri="{FF2B5EF4-FFF2-40B4-BE49-F238E27FC236}">
                  <a16:creationId xmlns:a16="http://schemas.microsoft.com/office/drawing/2014/main" id="{3F9B5DA6-4658-8242-AAA6-E3E7D0E0508A}"/>
                </a:ext>
              </a:extLst>
            </p:cNvPr>
            <p:cNvSpPr>
              <a:spLocks noChangeArrowheads="1"/>
            </p:cNvSpPr>
            <p:nvPr/>
          </p:nvSpPr>
          <p:spPr bwMode="auto">
            <a:xfrm>
              <a:off x="9640777" y="1286889"/>
              <a:ext cx="378995" cy="425121"/>
            </a:xfrm>
            <a:prstGeom prst="lightningBolt">
              <a:avLst/>
            </a:prstGeom>
            <a:solidFill>
              <a:srgbClr val="9900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endParaRPr lang="zh-CN" altLang="en-US"/>
            </a:p>
          </p:txBody>
        </p:sp>
        <p:sp>
          <p:nvSpPr>
            <p:cNvPr id="50" name="AutoShape 41">
              <a:extLst>
                <a:ext uri="{FF2B5EF4-FFF2-40B4-BE49-F238E27FC236}">
                  <a16:creationId xmlns:a16="http://schemas.microsoft.com/office/drawing/2014/main" id="{018DEF84-D181-2A49-984E-2CD1873AE427}"/>
                </a:ext>
              </a:extLst>
            </p:cNvPr>
            <p:cNvSpPr>
              <a:spLocks noChangeArrowheads="1"/>
            </p:cNvSpPr>
            <p:nvPr/>
          </p:nvSpPr>
          <p:spPr bwMode="auto">
            <a:xfrm>
              <a:off x="10224114" y="1723043"/>
              <a:ext cx="378995" cy="425121"/>
            </a:xfrm>
            <a:prstGeom prst="lightningBolt">
              <a:avLst/>
            </a:prstGeom>
            <a:solidFill>
              <a:srgbClr val="9900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endParaRPr lang="zh-CN" altLang="en-US"/>
            </a:p>
          </p:txBody>
        </p:sp>
      </p:grpSp>
      <p:sp>
        <p:nvSpPr>
          <p:cNvPr id="23" name="灯片编号占位符 2">
            <a:extLst>
              <a:ext uri="{FF2B5EF4-FFF2-40B4-BE49-F238E27FC236}">
                <a16:creationId xmlns:a16="http://schemas.microsoft.com/office/drawing/2014/main" id="{2B630523-247A-AB46-9642-B158806FAA56}"/>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25</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33763603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造成網絡故障的主要原因</a:t>
            </a:r>
          </a:p>
        </p:txBody>
      </p:sp>
      <p:graphicFrame>
        <p:nvGraphicFramePr>
          <p:cNvPr id="72" name="Group 3">
            <a:extLst>
              <a:ext uri="{FF2B5EF4-FFF2-40B4-BE49-F238E27FC236}">
                <a16:creationId xmlns:a16="http://schemas.microsoft.com/office/drawing/2014/main" id="{98683B11-FD0E-A242-8732-3B6E1418FCDF}"/>
              </a:ext>
            </a:extLst>
          </p:cNvPr>
          <p:cNvGraphicFramePr>
            <a:graphicFrameLocks/>
          </p:cNvGraphicFramePr>
          <p:nvPr>
            <p:extLst>
              <p:ext uri="{D42A27DB-BD31-4B8C-83A1-F6EECF244321}">
                <p14:modId xmlns:p14="http://schemas.microsoft.com/office/powerpoint/2010/main" val="154657519"/>
              </p:ext>
            </p:extLst>
          </p:nvPr>
        </p:nvGraphicFramePr>
        <p:xfrm>
          <a:off x="1076180" y="2355930"/>
          <a:ext cx="10087120" cy="3892469"/>
        </p:xfrm>
        <a:graphic>
          <a:graphicData uri="http://schemas.openxmlformats.org/drawingml/2006/table">
            <a:tbl>
              <a:tblPr>
                <a:tableStyleId>{69CF1AB2-1976-4502-BF36-3FF5EA218861}</a:tableStyleId>
              </a:tblPr>
              <a:tblGrid>
                <a:gridCol w="2373656">
                  <a:extLst>
                    <a:ext uri="{9D8B030D-6E8A-4147-A177-3AD203B41FA5}">
                      <a16:colId xmlns:a16="http://schemas.microsoft.com/office/drawing/2014/main" val="20000"/>
                    </a:ext>
                  </a:extLst>
                </a:gridCol>
                <a:gridCol w="7713464">
                  <a:extLst>
                    <a:ext uri="{9D8B030D-6E8A-4147-A177-3AD203B41FA5}">
                      <a16:colId xmlns:a16="http://schemas.microsoft.com/office/drawing/2014/main" val="20001"/>
                    </a:ext>
                  </a:extLst>
                </a:gridCol>
              </a:tblGrid>
              <a:tr h="869703">
                <a:tc>
                  <a:txBody>
                    <a:bodyPr/>
                    <a:lstStyle/>
                    <a:p>
                      <a:pPr marL="0" marR="0" lvl="0" indent="0" algn="ctr" defTabSz="914400" rtl="0" eaLnBrk="1" fontAlgn="base" latinLnBrk="0" hangingPunct="1">
                        <a:lnSpc>
                          <a:spcPts val="3600"/>
                        </a:lnSpc>
                        <a:spcBef>
                          <a:spcPct val="20000"/>
                        </a:spcBef>
                        <a:spcAft>
                          <a:spcPct val="0"/>
                        </a:spcAft>
                        <a:buClr>
                          <a:schemeClr val="hlink"/>
                        </a:buClr>
                        <a:buSzPct val="90000"/>
                        <a:buFont typeface="Wingdings" pitchFamily="2" charset="2"/>
                        <a:buNone/>
                        <a:tabLst/>
                      </a:pPr>
                      <a:r>
                        <a:rPr kumimoji="1" lang="en-US" altLang="zh-CN" sz="2000" b="1" u="none" strike="noStrike" cap="none" normalizeH="0" baseline="0" dirty="0">
                          <a:ln>
                            <a:noFill/>
                          </a:ln>
                          <a:solidFill>
                            <a:schemeClr val="bg1"/>
                          </a:solidFill>
                          <a:effectLst/>
                          <a:latin typeface="Microsoft YaHei" panose="020B0503020204020204" pitchFamily="34" charset="-122"/>
                          <a:ea typeface="Microsoft YaHei" panose="020B0503020204020204" pitchFamily="34" charset="-122"/>
                        </a:rPr>
                        <a:t>Paxson 95-97</a:t>
                      </a:r>
                      <a:endParaRPr kumimoji="1" lang="en-US" altLang="zh-CN" sz="2000" b="1" i="0" u="none" strike="noStrike" cap="none" normalizeH="0" baseline="0" dirty="0">
                        <a:ln>
                          <a:noFill/>
                        </a:ln>
                        <a:solidFill>
                          <a:schemeClr val="bg1"/>
                        </a:solidFill>
                        <a:effectLst/>
                        <a:latin typeface="Microsoft YaHei" panose="020B0503020204020204" pitchFamily="34" charset="-122"/>
                        <a:ea typeface="Microsoft YaHei" panose="020B0503020204020204" pitchFamily="34" charset="-122"/>
                      </a:endParaRPr>
                    </a:p>
                  </a:txBody>
                  <a:tcPr marL="109342" marR="109342" marT="54679" marB="54679" anchor="ctr" horzOverflow="overflow">
                    <a:solidFill>
                      <a:srgbClr val="00B0F0"/>
                    </a:solidFill>
                  </a:tcPr>
                </a:tc>
                <a:tc>
                  <a:txBody>
                    <a:bodyPr/>
                    <a:lstStyle/>
                    <a:p>
                      <a:pPr marL="342900" marR="0" lvl="0" indent="-342900" algn="l" defTabSz="914400" rtl="0" eaLnBrk="1" fontAlgn="base" latinLnBrk="0" hangingPunct="1">
                        <a:lnSpc>
                          <a:spcPts val="3600"/>
                        </a:lnSpc>
                        <a:spcBef>
                          <a:spcPct val="20000"/>
                        </a:spcBef>
                        <a:spcAft>
                          <a:spcPct val="0"/>
                        </a:spcAft>
                        <a:buClr>
                          <a:schemeClr val="hlink"/>
                        </a:buClr>
                        <a:buSzPct val="90000"/>
                        <a:buFont typeface="Arial" panose="020B0604020202020204" pitchFamily="34" charset="0"/>
                        <a:buChar char="•"/>
                        <a:tabLst/>
                      </a:pPr>
                      <a:r>
                        <a:rPr kumimoji="1" lang="en-US" altLang="zh-CN" sz="2000" b="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3.3% </a:t>
                      </a:r>
                      <a:r>
                        <a:rPr kumimoji="1" lang="zh-CN" altLang="en-US" sz="2000" b="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的路由存在嚴重問題</a:t>
                      </a:r>
                      <a:endParaRPr kumimoji="1" lang="en-US" altLang="zh-CN" sz="20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endParaRPr>
                    </a:p>
                  </a:txBody>
                  <a:tcPr marL="109342" marR="109342" marT="54679" marB="54679" anchor="ctr" horzOverflow="overflow"/>
                </a:tc>
                <a:extLst>
                  <a:ext uri="{0D108BD9-81ED-4DB2-BD59-A6C34878D82A}">
                    <a16:rowId xmlns:a16="http://schemas.microsoft.com/office/drawing/2014/main" val="10000"/>
                  </a:ext>
                </a:extLst>
              </a:tr>
              <a:tr h="2324475">
                <a:tc>
                  <a:txBody>
                    <a:bodyPr/>
                    <a:lstStyle/>
                    <a:p>
                      <a:pPr marL="0" marR="0" lvl="0" indent="0" algn="ctr" defTabSz="914400" rtl="0" eaLnBrk="1" fontAlgn="base" latinLnBrk="0" hangingPunct="1">
                        <a:lnSpc>
                          <a:spcPts val="3600"/>
                        </a:lnSpc>
                        <a:spcBef>
                          <a:spcPct val="20000"/>
                        </a:spcBef>
                        <a:spcAft>
                          <a:spcPct val="0"/>
                        </a:spcAft>
                        <a:buClr>
                          <a:schemeClr val="hlink"/>
                        </a:buClr>
                        <a:buSzPct val="90000"/>
                        <a:buFont typeface="Wingdings" pitchFamily="2" charset="2"/>
                        <a:buNone/>
                        <a:tabLst/>
                      </a:pPr>
                      <a:r>
                        <a:rPr kumimoji="1" lang="en-US" altLang="zh-CN" sz="2000" b="1" u="none" strike="noStrike" cap="none" normalizeH="0" baseline="0" dirty="0" err="1">
                          <a:ln>
                            <a:noFill/>
                          </a:ln>
                          <a:solidFill>
                            <a:schemeClr val="bg1"/>
                          </a:solidFill>
                          <a:effectLst/>
                          <a:latin typeface="Microsoft YaHei" panose="020B0503020204020204" pitchFamily="34" charset="-122"/>
                          <a:ea typeface="Microsoft YaHei" panose="020B0503020204020204" pitchFamily="34" charset="-122"/>
                        </a:rPr>
                        <a:t>Labovitz</a:t>
                      </a:r>
                      <a:r>
                        <a:rPr kumimoji="1" lang="zh-CN" altLang="en-US" sz="2000" b="1" u="none" strike="noStrike" cap="none" normalizeH="0" baseline="0" dirty="0">
                          <a:ln>
                            <a:noFill/>
                          </a:ln>
                          <a:solidFill>
                            <a:schemeClr val="bg1"/>
                          </a:solidFill>
                          <a:effectLst/>
                          <a:latin typeface="Microsoft YaHei" panose="020B0503020204020204" pitchFamily="34" charset="-122"/>
                          <a:ea typeface="Microsoft YaHei" panose="020B0503020204020204" pitchFamily="34" charset="-122"/>
                        </a:rPr>
                        <a:t> </a:t>
                      </a:r>
                      <a:r>
                        <a:rPr kumimoji="1" lang="en-US" altLang="zh-CN" sz="2000" b="1" u="none" strike="noStrike" cap="none" normalizeH="0" baseline="0" dirty="0">
                          <a:ln>
                            <a:noFill/>
                          </a:ln>
                          <a:solidFill>
                            <a:schemeClr val="bg1"/>
                          </a:solidFill>
                          <a:effectLst/>
                          <a:latin typeface="Microsoft YaHei" panose="020B0503020204020204" pitchFamily="34" charset="-122"/>
                          <a:ea typeface="Microsoft YaHei" panose="020B0503020204020204" pitchFamily="34" charset="-122"/>
                        </a:rPr>
                        <a:t>97-00</a:t>
                      </a:r>
                      <a:endParaRPr kumimoji="1" lang="en-US" altLang="zh-CN" sz="2000" b="1" i="0" u="none" strike="noStrike" cap="none" normalizeH="0" baseline="0" dirty="0">
                        <a:ln>
                          <a:noFill/>
                        </a:ln>
                        <a:solidFill>
                          <a:schemeClr val="bg1"/>
                        </a:solidFill>
                        <a:effectLst/>
                        <a:latin typeface="Microsoft YaHei" panose="020B0503020204020204" pitchFamily="34" charset="-122"/>
                        <a:ea typeface="Microsoft YaHei" panose="020B0503020204020204" pitchFamily="34" charset="-122"/>
                      </a:endParaRPr>
                    </a:p>
                  </a:txBody>
                  <a:tcPr marL="109342" marR="109342" marT="54679" marB="54679" anchor="ctr" horzOverflow="overflow">
                    <a:solidFill>
                      <a:srgbClr val="00B0F0"/>
                    </a:solidFill>
                  </a:tcPr>
                </a:tc>
                <a:tc>
                  <a:txBody>
                    <a:bodyPr/>
                    <a:lstStyle/>
                    <a:p>
                      <a:pPr marL="342900" marR="0" lvl="0" indent="-342900" algn="l" defTabSz="914400" rtl="0" eaLnBrk="1" fontAlgn="base" latinLnBrk="0" hangingPunct="1">
                        <a:lnSpc>
                          <a:spcPts val="3600"/>
                        </a:lnSpc>
                        <a:spcBef>
                          <a:spcPct val="20000"/>
                        </a:spcBef>
                        <a:spcAft>
                          <a:spcPct val="0"/>
                        </a:spcAft>
                        <a:buClr>
                          <a:schemeClr val="hlink"/>
                        </a:buClr>
                        <a:buSzPct val="100000"/>
                        <a:buFont typeface="Arial" panose="020B0604020202020204" pitchFamily="34" charset="0"/>
                        <a:buChar char="•"/>
                        <a:tabLst/>
                      </a:pPr>
                      <a:r>
                        <a:rPr kumimoji="1" lang="en-US" altLang="zh-CN" sz="2000" b="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10% </a:t>
                      </a:r>
                      <a:r>
                        <a:rPr kumimoji="1" lang="zh-CN" altLang="en-US" sz="2000" b="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的路由有效時間不超過</a:t>
                      </a:r>
                      <a:r>
                        <a:rPr kumimoji="1" lang="en-US" altLang="zh-CN" sz="2000" b="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 95%</a:t>
                      </a:r>
                    </a:p>
                    <a:p>
                      <a:pPr marL="342900" marR="0" lvl="0" indent="-342900" algn="l" defTabSz="914400" rtl="0" eaLnBrk="1" fontAlgn="base" latinLnBrk="0" hangingPunct="1">
                        <a:lnSpc>
                          <a:spcPts val="3600"/>
                        </a:lnSpc>
                        <a:spcBef>
                          <a:spcPct val="20000"/>
                        </a:spcBef>
                        <a:spcAft>
                          <a:spcPct val="0"/>
                        </a:spcAft>
                        <a:buClr>
                          <a:schemeClr val="hlink"/>
                        </a:buClr>
                        <a:buSzPct val="100000"/>
                        <a:buFont typeface="Arial" panose="020B0604020202020204" pitchFamily="34" charset="0"/>
                        <a:buChar char="•"/>
                        <a:tabLst/>
                      </a:pPr>
                      <a:r>
                        <a:rPr kumimoji="1" lang="en-US" altLang="zh-CN" sz="2000" b="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65%</a:t>
                      </a:r>
                      <a:r>
                        <a:rPr kumimoji="1" lang="zh-CN" altLang="en-US" sz="2000" b="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 的路由有效時間不超過</a:t>
                      </a:r>
                      <a:r>
                        <a:rPr kumimoji="1" lang="en-US" altLang="zh-CN" sz="2000" b="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 99.9% </a:t>
                      </a:r>
                    </a:p>
                    <a:p>
                      <a:pPr marL="342900" marR="0" lvl="0" indent="-342900" algn="l" defTabSz="914400" rtl="0" eaLnBrk="1" fontAlgn="base" latinLnBrk="0" hangingPunct="1">
                        <a:lnSpc>
                          <a:spcPts val="3600"/>
                        </a:lnSpc>
                        <a:spcBef>
                          <a:spcPct val="20000"/>
                        </a:spcBef>
                        <a:spcAft>
                          <a:spcPct val="0"/>
                        </a:spcAft>
                        <a:buClr>
                          <a:schemeClr val="hlink"/>
                        </a:buClr>
                        <a:buSzPct val="100000"/>
                        <a:buFont typeface="Arial" panose="020B0604020202020204" pitchFamily="34" charset="0"/>
                        <a:buChar char="•"/>
                        <a:tabLst/>
                      </a:pPr>
                      <a:r>
                        <a:rPr kumimoji="1" lang="zh-CN" altLang="en-US" sz="2000" b="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路由故障的檢測與恢復至少耗費</a:t>
                      </a:r>
                      <a:r>
                        <a:rPr kumimoji="1" lang="en-US" altLang="zh-CN" sz="2000" b="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3</a:t>
                      </a:r>
                      <a:r>
                        <a:rPr kumimoji="1" lang="zh-CN" altLang="en-US" sz="2000" b="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分鐘，平均花費</a:t>
                      </a:r>
                      <a:r>
                        <a:rPr kumimoji="1" lang="en-US" altLang="zh-CN" sz="2000" b="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15</a:t>
                      </a:r>
                      <a:r>
                        <a:rPr kumimoji="1" lang="zh-CN" altLang="en-US" sz="2000" b="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分鐘</a:t>
                      </a:r>
                      <a:endParaRPr kumimoji="1" lang="en-US" altLang="zh-CN" sz="2000" b="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endParaRPr>
                    </a:p>
                    <a:p>
                      <a:pPr marL="342900" marR="0" lvl="0" indent="-342900" algn="l" defTabSz="914400" rtl="0" eaLnBrk="1" fontAlgn="base" latinLnBrk="0" hangingPunct="1">
                        <a:lnSpc>
                          <a:spcPts val="3600"/>
                        </a:lnSpc>
                        <a:spcBef>
                          <a:spcPct val="20000"/>
                        </a:spcBef>
                        <a:spcAft>
                          <a:spcPct val="0"/>
                        </a:spcAft>
                        <a:buClr>
                          <a:schemeClr val="hlink"/>
                        </a:buClr>
                        <a:buSzPct val="100000"/>
                        <a:buFont typeface="Arial" panose="020B0604020202020204" pitchFamily="34" charset="0"/>
                        <a:buChar char="•"/>
                        <a:tabLst/>
                      </a:pPr>
                      <a:r>
                        <a:rPr kumimoji="1" lang="en-US" altLang="zh-CN" sz="2000" b="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40% </a:t>
                      </a:r>
                      <a:r>
                        <a:rPr kumimoji="1" lang="zh-CN" altLang="en-US" sz="2000" b="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的鏈路崩潰需要至少</a:t>
                      </a:r>
                      <a:r>
                        <a:rPr kumimoji="1" lang="en-US" altLang="zh-CN" sz="2000" b="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30</a:t>
                      </a:r>
                      <a:r>
                        <a:rPr kumimoji="1" lang="zh-CN" altLang="en-US" sz="2000" b="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分鐘才能修復</a:t>
                      </a:r>
                      <a:endParaRPr kumimoji="1" lang="en-US" altLang="zh-CN" sz="20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endParaRPr>
                    </a:p>
                  </a:txBody>
                  <a:tcPr marL="109342" marR="109342" marT="54679" marB="54679" anchor="ctr" horzOverflow="overflow"/>
                </a:tc>
                <a:extLst>
                  <a:ext uri="{0D108BD9-81ED-4DB2-BD59-A6C34878D82A}">
                    <a16:rowId xmlns:a16="http://schemas.microsoft.com/office/drawing/2014/main" val="10001"/>
                  </a:ext>
                </a:extLst>
              </a:tr>
              <a:tr h="698291">
                <a:tc>
                  <a:txBody>
                    <a:bodyPr/>
                    <a:lstStyle/>
                    <a:p>
                      <a:pPr marL="0" marR="0" lvl="0" indent="0" algn="ctr" defTabSz="914400" rtl="0" eaLnBrk="1" fontAlgn="base" latinLnBrk="0" hangingPunct="1">
                        <a:lnSpc>
                          <a:spcPts val="3600"/>
                        </a:lnSpc>
                        <a:spcBef>
                          <a:spcPct val="20000"/>
                        </a:spcBef>
                        <a:spcAft>
                          <a:spcPct val="0"/>
                        </a:spcAft>
                        <a:buClr>
                          <a:schemeClr val="hlink"/>
                        </a:buClr>
                        <a:buSzPct val="90000"/>
                        <a:buFont typeface="Wingdings" pitchFamily="2" charset="2"/>
                        <a:buNone/>
                        <a:tabLst/>
                      </a:pPr>
                      <a:r>
                        <a:rPr kumimoji="1" lang="en-US" altLang="zh-CN" sz="2000" b="1" u="none" strike="noStrike" cap="none" normalizeH="0" baseline="0" dirty="0">
                          <a:ln>
                            <a:noFill/>
                          </a:ln>
                          <a:solidFill>
                            <a:schemeClr val="bg1"/>
                          </a:solidFill>
                          <a:effectLst/>
                          <a:latin typeface="Microsoft YaHei" panose="020B0503020204020204" pitchFamily="34" charset="-122"/>
                          <a:ea typeface="Microsoft YaHei" panose="020B0503020204020204" pitchFamily="34" charset="-122"/>
                        </a:rPr>
                        <a:t>Chandra</a:t>
                      </a:r>
                      <a:r>
                        <a:rPr kumimoji="1" lang="zh-CN" altLang="en-US" sz="2000" b="1" u="none" strike="noStrike" cap="none" normalizeH="0" baseline="0" dirty="0">
                          <a:ln>
                            <a:noFill/>
                          </a:ln>
                          <a:solidFill>
                            <a:schemeClr val="bg1"/>
                          </a:solidFill>
                          <a:effectLst/>
                          <a:latin typeface="Microsoft YaHei" panose="020B0503020204020204" pitchFamily="34" charset="-122"/>
                          <a:ea typeface="Microsoft YaHei" panose="020B0503020204020204" pitchFamily="34" charset="-122"/>
                        </a:rPr>
                        <a:t> </a:t>
                      </a:r>
                      <a:r>
                        <a:rPr kumimoji="1" lang="en-US" altLang="zh-CN" sz="2000" b="1" u="none" strike="noStrike" cap="none" normalizeH="0" baseline="0" dirty="0">
                          <a:ln>
                            <a:noFill/>
                          </a:ln>
                          <a:solidFill>
                            <a:schemeClr val="bg1"/>
                          </a:solidFill>
                          <a:effectLst/>
                          <a:latin typeface="Microsoft YaHei" panose="020B0503020204020204" pitchFamily="34" charset="-122"/>
                          <a:ea typeface="Microsoft YaHei" panose="020B0503020204020204" pitchFamily="34" charset="-122"/>
                        </a:rPr>
                        <a:t>01</a:t>
                      </a:r>
                      <a:endParaRPr kumimoji="1" lang="en-US" altLang="zh-CN" sz="2000" b="1" i="0" u="none" strike="noStrike" cap="none" normalizeH="0" baseline="0" dirty="0">
                        <a:ln>
                          <a:noFill/>
                        </a:ln>
                        <a:solidFill>
                          <a:schemeClr val="bg1"/>
                        </a:solidFill>
                        <a:effectLst/>
                        <a:latin typeface="Microsoft YaHei" panose="020B0503020204020204" pitchFamily="34" charset="-122"/>
                        <a:ea typeface="Microsoft YaHei" panose="020B0503020204020204" pitchFamily="34" charset="-122"/>
                      </a:endParaRPr>
                    </a:p>
                  </a:txBody>
                  <a:tcPr marL="109342" marR="109342" marT="54679" marB="54679" anchor="ctr" horzOverflow="overflow">
                    <a:solidFill>
                      <a:srgbClr val="00B0F0"/>
                    </a:solidFill>
                  </a:tcPr>
                </a:tc>
                <a:tc>
                  <a:txBody>
                    <a:bodyPr/>
                    <a:lstStyle/>
                    <a:p>
                      <a:pPr marL="342900" marR="0" lvl="0" indent="-342900" algn="l" defTabSz="914400" rtl="0" eaLnBrk="1" fontAlgn="base" latinLnBrk="0" hangingPunct="1">
                        <a:lnSpc>
                          <a:spcPts val="3600"/>
                        </a:lnSpc>
                        <a:spcBef>
                          <a:spcPct val="20000"/>
                        </a:spcBef>
                        <a:spcAft>
                          <a:spcPct val="0"/>
                        </a:spcAft>
                        <a:buClr>
                          <a:schemeClr val="hlink"/>
                        </a:buClr>
                        <a:buSzPct val="90000"/>
                        <a:buFont typeface="Arial" panose="020B0604020202020204" pitchFamily="34" charset="0"/>
                        <a:buChar char="•"/>
                        <a:tabLst/>
                      </a:pPr>
                      <a:r>
                        <a:rPr kumimoji="1" lang="en-US" altLang="zh-CN" sz="2000" b="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5% </a:t>
                      </a:r>
                      <a:r>
                        <a:rPr kumimoji="1" lang="zh-CN" altLang="en-US" sz="2000" b="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的鏈路錯誤持續</a:t>
                      </a:r>
                      <a:r>
                        <a:rPr kumimoji="1" lang="en-US" altLang="zh-CN" sz="2000" b="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2.75</a:t>
                      </a:r>
                      <a:r>
                        <a:rPr kumimoji="1" lang="zh-CN" altLang="en-US" sz="2000" b="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rPr>
                        <a:t>小時以上</a:t>
                      </a:r>
                      <a:endParaRPr kumimoji="1" lang="en-US" altLang="zh-CN" sz="2000" b="0" i="0" u="none" strike="noStrike" cap="none" normalizeH="0" baseline="0" dirty="0">
                        <a:ln>
                          <a:noFill/>
                        </a:ln>
                        <a:solidFill>
                          <a:schemeClr val="tx1"/>
                        </a:solidFill>
                        <a:effectLst/>
                        <a:latin typeface="Microsoft YaHei" panose="020B0503020204020204" pitchFamily="34" charset="-122"/>
                        <a:ea typeface="Microsoft YaHei" panose="020B0503020204020204" pitchFamily="34" charset="-122"/>
                      </a:endParaRPr>
                    </a:p>
                  </a:txBody>
                  <a:tcPr marL="109342" marR="109342" marT="54679" marB="54679" anchor="ctr" horzOverflow="overflow"/>
                </a:tc>
                <a:extLst>
                  <a:ext uri="{0D108BD9-81ED-4DB2-BD59-A6C34878D82A}">
                    <a16:rowId xmlns:a16="http://schemas.microsoft.com/office/drawing/2014/main" val="10002"/>
                  </a:ext>
                </a:extLst>
              </a:tr>
            </a:tbl>
          </a:graphicData>
        </a:graphic>
      </p:graphicFrame>
      <p:sp>
        <p:nvSpPr>
          <p:cNvPr id="10" name="矩形 9">
            <a:extLst>
              <a:ext uri="{FF2B5EF4-FFF2-40B4-BE49-F238E27FC236}">
                <a16:creationId xmlns:a16="http://schemas.microsoft.com/office/drawing/2014/main" id="{6A320EF1-D757-584F-B087-F1B6ACCFD858}"/>
              </a:ext>
            </a:extLst>
          </p:cNvPr>
          <p:cNvSpPr/>
          <p:nvPr/>
        </p:nvSpPr>
        <p:spPr>
          <a:xfrm>
            <a:off x="1065900" y="1050012"/>
            <a:ext cx="10371263" cy="1005788"/>
          </a:xfrm>
          <a:prstGeom prst="rect">
            <a:avLst/>
          </a:prstGeom>
        </p:spPr>
        <p:txBody>
          <a:bodyPr wrap="square">
            <a:spAutoFit/>
          </a:bodyPr>
          <a:lstStyle/>
          <a:p>
            <a:pPr algn="just">
              <a:lnSpc>
                <a:spcPct val="130000"/>
              </a:lnSpc>
            </a:pPr>
            <a:r>
              <a:rPr lang="en-US" altLang="zh-CN" sz="2400" b="1" dirty="0">
                <a:solidFill>
                  <a:srgbClr val="C00000"/>
                </a:solidFill>
                <a:latin typeface="Microsoft YaHei" panose="020B0503020204020204" pitchFamily="34" charset="-122"/>
                <a:ea typeface="Microsoft YaHei" panose="020B0503020204020204" pitchFamily="34" charset="-122"/>
              </a:rPr>
              <a:t>Internet</a:t>
            </a:r>
            <a:r>
              <a:rPr lang="zh-CN" altLang="en-US" sz="2400" b="1" dirty="0">
                <a:solidFill>
                  <a:srgbClr val="C00000"/>
                </a:solidFill>
                <a:latin typeface="Microsoft YaHei" panose="020B0503020204020204" pitchFamily="34" charset="-122"/>
                <a:ea typeface="Microsoft YaHei" panose="020B0503020204020204" pitchFamily="34" charset="-122"/>
              </a:rPr>
              <a:t>的不穩定性，分布式系統所依賴的底層網絡隨時都可能出現物理鏈路故障、路由故障等因素</a:t>
            </a:r>
            <a:endParaRPr lang="en-US" altLang="zh-CN" sz="2400" b="1" dirty="0">
              <a:solidFill>
                <a:srgbClr val="C00000"/>
              </a:solidFill>
              <a:latin typeface="Microsoft YaHei" panose="020B0503020204020204" pitchFamily="34" charset="-122"/>
              <a:ea typeface="Microsoft YaHei" panose="020B0503020204020204" pitchFamily="34" charset="-122"/>
            </a:endParaRPr>
          </a:p>
        </p:txBody>
      </p:sp>
      <p:sp>
        <p:nvSpPr>
          <p:cNvPr id="7" name="灯片编号占位符 2">
            <a:extLst>
              <a:ext uri="{FF2B5EF4-FFF2-40B4-BE49-F238E27FC236}">
                <a16:creationId xmlns:a16="http://schemas.microsoft.com/office/drawing/2014/main" id="{5E95F071-C0F9-314B-AD55-DD205BDD31AB}"/>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26</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4200335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normAutofit/>
          </a:bodyPr>
          <a:lstStyle/>
          <a:p>
            <a:r>
              <a:rPr kumimoji="1" lang="zh-CN" altLang="en-US" dirty="0"/>
              <a:t>解决思路</a:t>
            </a:r>
          </a:p>
        </p:txBody>
      </p:sp>
      <p:sp>
        <p:nvSpPr>
          <p:cNvPr id="10" name="矩形 9">
            <a:extLst>
              <a:ext uri="{FF2B5EF4-FFF2-40B4-BE49-F238E27FC236}">
                <a16:creationId xmlns:a16="http://schemas.microsoft.com/office/drawing/2014/main" id="{9435525A-F25C-4C19-B8E4-283882EBC144}"/>
              </a:ext>
            </a:extLst>
          </p:cNvPr>
          <p:cNvSpPr>
            <a:spLocks/>
          </p:cNvSpPr>
          <p:nvPr/>
        </p:nvSpPr>
        <p:spPr bwMode="auto">
          <a:xfrm>
            <a:off x="928177" y="2667521"/>
            <a:ext cx="10529713" cy="1532520"/>
          </a:xfrm>
          <a:prstGeom prst="rect">
            <a:avLst/>
          </a:prstGeom>
          <a:solidFill>
            <a:srgbClr val="00B0F0"/>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ctr">
              <a:lnSpc>
                <a:spcPct val="120000"/>
              </a:lnSpc>
              <a:spcAft>
                <a:spcPts val="600"/>
              </a:spcAft>
            </a:pPr>
            <a:r>
              <a:rPr lang="zh-CN" altLang="en-US" sz="3200" b="1" dirty="0">
                <a:solidFill>
                  <a:schemeClr val="bg1"/>
                </a:solidFill>
                <a:latin typeface="Microsoft YaHei" panose="020B0503020204020204" pitchFamily="34" charset="-122"/>
                <a:ea typeface="Microsoft YaHei" panose="020B0503020204020204" pitchFamily="34" charset="-122"/>
              </a:rPr>
              <a:t>構建一個彈性覆蓋網絡，依靠其它主機實現消息的轉發</a:t>
            </a:r>
            <a:endParaRPr lang="en-US" altLang="zh-CN" sz="3200" b="1" dirty="0">
              <a:solidFill>
                <a:schemeClr val="bg1"/>
              </a:solidFill>
              <a:latin typeface="Microsoft YaHei" panose="020B0503020204020204" pitchFamily="34" charset="-122"/>
              <a:ea typeface="Microsoft YaHei" panose="020B0503020204020204" pitchFamily="34" charset="-122"/>
            </a:endParaRPr>
          </a:p>
        </p:txBody>
      </p:sp>
      <p:sp>
        <p:nvSpPr>
          <p:cNvPr id="5" name="灯片编号占位符 2">
            <a:extLst>
              <a:ext uri="{FF2B5EF4-FFF2-40B4-BE49-F238E27FC236}">
                <a16:creationId xmlns:a16="http://schemas.microsoft.com/office/drawing/2014/main" id="{D50E9978-894D-BD44-9AB8-E04EC61AFBD0}"/>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27</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39767129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Rectangle 8">
            <a:extLst>
              <a:ext uri="{FF2B5EF4-FFF2-40B4-BE49-F238E27FC236}">
                <a16:creationId xmlns:a16="http://schemas.microsoft.com/office/drawing/2014/main" id="{2A0DA432-4120-C04E-A0F0-64F5F13A9D56}"/>
              </a:ext>
            </a:extLst>
          </p:cNvPr>
          <p:cNvSpPr>
            <a:spLocks noChangeArrowheads="1"/>
          </p:cNvSpPr>
          <p:nvPr/>
        </p:nvSpPr>
        <p:spPr bwMode="auto">
          <a:xfrm>
            <a:off x="1045170" y="1447800"/>
            <a:ext cx="6479580" cy="1891873"/>
          </a:xfrm>
          <a:prstGeom prst="rect">
            <a:avLst/>
          </a:prstGeom>
          <a:solidFill>
            <a:schemeClr val="accent3">
              <a:lumMod val="20000"/>
              <a:lumOff val="80000"/>
            </a:schemeClr>
          </a:solidFill>
          <a:ln w="9525">
            <a:solidFill>
              <a:srgbClr val="00B0F0"/>
            </a:solidFill>
            <a:miter lim="800000"/>
            <a:headEnd/>
            <a:tailEnd/>
          </a:ln>
          <a:effectLst/>
        </p:spPr>
        <p:txBody>
          <a:bodyPr/>
          <a:lstStyle>
            <a:lvl1pPr marL="342900" indent="-342900">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indent="0" defTabSz="685800" eaLnBrk="1" hangingPunct="1">
              <a:lnSpc>
                <a:spcPct val="120000"/>
              </a:lnSpc>
              <a:spcBef>
                <a:spcPct val="20000"/>
              </a:spcBef>
              <a:buClr>
                <a:schemeClr val="tx1"/>
              </a:buClr>
              <a:buSzPct val="100000"/>
              <a:defRPr/>
            </a:pPr>
            <a:endParaRPr lang="en-US" altLang="zh-CN" sz="2400" dirty="0">
              <a:latin typeface="Microsoft YaHei" panose="020B0503020204020204" pitchFamily="34" charset="-122"/>
              <a:ea typeface="Microsoft YaHei" panose="020B0503020204020204" pitchFamily="34" charset="-122"/>
            </a:endParaRPr>
          </a:p>
        </p:txBody>
      </p:sp>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覆蓋網絡</a:t>
            </a:r>
          </a:p>
        </p:txBody>
      </p:sp>
      <p:grpSp>
        <p:nvGrpSpPr>
          <p:cNvPr id="44" name="组合 43">
            <a:extLst>
              <a:ext uri="{FF2B5EF4-FFF2-40B4-BE49-F238E27FC236}">
                <a16:creationId xmlns:a16="http://schemas.microsoft.com/office/drawing/2014/main" id="{DAECB1CA-1A64-B84C-B670-360DEC71AE73}"/>
              </a:ext>
            </a:extLst>
          </p:cNvPr>
          <p:cNvGrpSpPr/>
          <p:nvPr/>
        </p:nvGrpSpPr>
        <p:grpSpPr>
          <a:xfrm>
            <a:off x="7832037" y="1074966"/>
            <a:ext cx="3680409" cy="5395887"/>
            <a:chOff x="8382000" y="1530867"/>
            <a:chExt cx="2971800" cy="4343400"/>
          </a:xfrm>
        </p:grpSpPr>
        <p:sp>
          <p:nvSpPr>
            <p:cNvPr id="3" name="Oval 4">
              <a:extLst>
                <a:ext uri="{FF2B5EF4-FFF2-40B4-BE49-F238E27FC236}">
                  <a16:creationId xmlns:a16="http://schemas.microsoft.com/office/drawing/2014/main" id="{E8052054-A479-AC46-91F4-D9705F863CBA}"/>
                </a:ext>
              </a:extLst>
            </p:cNvPr>
            <p:cNvSpPr>
              <a:spLocks noChangeArrowheads="1"/>
            </p:cNvSpPr>
            <p:nvPr/>
          </p:nvSpPr>
          <p:spPr bwMode="auto">
            <a:xfrm>
              <a:off x="10515600" y="4274067"/>
              <a:ext cx="381000" cy="381000"/>
            </a:xfrm>
            <a:prstGeom prst="ellipse">
              <a:avLst/>
            </a:prstGeom>
            <a:solidFill>
              <a:schemeClr val="bg1"/>
            </a:solidFill>
            <a:ln w="12700">
              <a:solidFill>
                <a:schemeClr val="tx1"/>
              </a:solidFill>
              <a:round/>
              <a:headEnd/>
              <a:tailEnd/>
            </a:ln>
            <a:effectLst>
              <a:outerShdw dist="71842" dir="2700000" algn="ctr" rotWithShape="0">
                <a:schemeClr val="bg2"/>
              </a:outerShdw>
            </a:effectLst>
          </p:spPr>
          <p:txBody>
            <a:bodyPr wrap="none" lIns="90488" tIns="44450" rIns="90488" bIns="44450"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endParaRPr lang="zh-CN" altLang="zh-CN" sz="1600">
                <a:latin typeface="Arial" panose="020B0604020202020204" pitchFamily="34" charset="0"/>
              </a:endParaRPr>
            </a:p>
          </p:txBody>
        </p:sp>
        <p:sp>
          <p:nvSpPr>
            <p:cNvPr id="4" name="Oval 5">
              <a:extLst>
                <a:ext uri="{FF2B5EF4-FFF2-40B4-BE49-F238E27FC236}">
                  <a16:creationId xmlns:a16="http://schemas.microsoft.com/office/drawing/2014/main" id="{85762022-D72C-EB4D-A6D6-541F74E8245F}"/>
                </a:ext>
              </a:extLst>
            </p:cNvPr>
            <p:cNvSpPr>
              <a:spLocks noChangeArrowheads="1"/>
            </p:cNvSpPr>
            <p:nvPr/>
          </p:nvSpPr>
          <p:spPr bwMode="auto">
            <a:xfrm>
              <a:off x="8534400" y="3207267"/>
              <a:ext cx="381000" cy="381000"/>
            </a:xfrm>
            <a:prstGeom prst="ellipse">
              <a:avLst/>
            </a:prstGeom>
            <a:solidFill>
              <a:schemeClr val="bg1"/>
            </a:solidFill>
            <a:ln w="12700">
              <a:solidFill>
                <a:schemeClr val="tx1"/>
              </a:solidFill>
              <a:round/>
              <a:headEnd/>
              <a:tailEnd/>
            </a:ln>
            <a:effectLst>
              <a:outerShdw dist="71842" dir="2700000" algn="ctr" rotWithShape="0">
                <a:schemeClr val="bg2"/>
              </a:outerShdw>
            </a:effectLst>
          </p:spPr>
          <p:txBody>
            <a:bodyPr wrap="none" lIns="90488" tIns="44450" rIns="90488" bIns="44450"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endParaRPr lang="zh-CN" altLang="zh-CN" sz="1600">
                <a:latin typeface="Arial" panose="020B0604020202020204" pitchFamily="34" charset="0"/>
              </a:endParaRPr>
            </a:p>
          </p:txBody>
        </p:sp>
        <p:cxnSp>
          <p:nvCxnSpPr>
            <p:cNvPr id="5" name="AutoShape 6">
              <a:extLst>
                <a:ext uri="{FF2B5EF4-FFF2-40B4-BE49-F238E27FC236}">
                  <a16:creationId xmlns:a16="http://schemas.microsoft.com/office/drawing/2014/main" id="{A28E1407-1181-7A4A-9C0F-95AA38B3F6B2}"/>
                </a:ext>
              </a:extLst>
            </p:cNvPr>
            <p:cNvCxnSpPr>
              <a:cxnSpLocks noChangeShapeType="1"/>
              <a:stCxn id="20" idx="9"/>
              <a:endCxn id="4" idx="7"/>
            </p:cNvCxnSpPr>
            <p:nvPr/>
          </p:nvCxnSpPr>
          <p:spPr bwMode="auto">
            <a:xfrm flipH="1">
              <a:off x="8859838" y="2759592"/>
              <a:ext cx="420687" cy="503237"/>
            </a:xfrm>
            <a:prstGeom prst="straightConnector1">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Oval 7">
              <a:extLst>
                <a:ext uri="{FF2B5EF4-FFF2-40B4-BE49-F238E27FC236}">
                  <a16:creationId xmlns:a16="http://schemas.microsoft.com/office/drawing/2014/main" id="{BBAA7ADD-AC4E-AC49-9D09-DA269BA24273}"/>
                </a:ext>
              </a:extLst>
            </p:cNvPr>
            <p:cNvSpPr>
              <a:spLocks noChangeArrowheads="1"/>
            </p:cNvSpPr>
            <p:nvPr/>
          </p:nvSpPr>
          <p:spPr bwMode="auto">
            <a:xfrm>
              <a:off x="9144000" y="3207267"/>
              <a:ext cx="381000" cy="381000"/>
            </a:xfrm>
            <a:prstGeom prst="ellipse">
              <a:avLst/>
            </a:prstGeom>
            <a:solidFill>
              <a:schemeClr val="bg1"/>
            </a:solidFill>
            <a:ln w="12700">
              <a:solidFill>
                <a:schemeClr val="tx1"/>
              </a:solidFill>
              <a:round/>
              <a:headEnd/>
              <a:tailEnd/>
            </a:ln>
            <a:effectLst>
              <a:outerShdw dist="71842" dir="2700000" algn="ctr" rotWithShape="0">
                <a:schemeClr val="bg2"/>
              </a:outerShdw>
            </a:effectLst>
          </p:spPr>
          <p:txBody>
            <a:bodyPr wrap="none" lIns="90488" tIns="44450" rIns="90488" bIns="44450"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endParaRPr lang="zh-CN" altLang="zh-CN" sz="1600">
                <a:latin typeface="Arial" panose="020B0604020202020204" pitchFamily="34" charset="0"/>
              </a:endParaRPr>
            </a:p>
          </p:txBody>
        </p:sp>
        <p:cxnSp>
          <p:nvCxnSpPr>
            <p:cNvPr id="7" name="AutoShape 8">
              <a:extLst>
                <a:ext uri="{FF2B5EF4-FFF2-40B4-BE49-F238E27FC236}">
                  <a16:creationId xmlns:a16="http://schemas.microsoft.com/office/drawing/2014/main" id="{84ED19C3-51C9-DE45-B689-6BEDC3513FED}"/>
                </a:ext>
              </a:extLst>
            </p:cNvPr>
            <p:cNvCxnSpPr>
              <a:cxnSpLocks noChangeShapeType="1"/>
              <a:endCxn id="6" idx="1"/>
            </p:cNvCxnSpPr>
            <p:nvPr/>
          </p:nvCxnSpPr>
          <p:spPr bwMode="auto">
            <a:xfrm>
              <a:off x="8991600" y="3054867"/>
              <a:ext cx="207963" cy="207962"/>
            </a:xfrm>
            <a:prstGeom prst="straightConnector1">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AutoShape 9">
              <a:extLst>
                <a:ext uri="{FF2B5EF4-FFF2-40B4-BE49-F238E27FC236}">
                  <a16:creationId xmlns:a16="http://schemas.microsoft.com/office/drawing/2014/main" id="{E75DFC05-3982-6241-9C02-89AF12A6D15C}"/>
                </a:ext>
              </a:extLst>
            </p:cNvPr>
            <p:cNvCxnSpPr>
              <a:cxnSpLocks noChangeShapeType="1"/>
              <a:stCxn id="17" idx="5"/>
              <a:endCxn id="9" idx="1"/>
            </p:cNvCxnSpPr>
            <p:nvPr/>
          </p:nvCxnSpPr>
          <p:spPr bwMode="auto">
            <a:xfrm>
              <a:off x="10593388" y="2894529"/>
              <a:ext cx="358775" cy="444500"/>
            </a:xfrm>
            <a:prstGeom prst="straightConnector1">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Oval 10">
              <a:extLst>
                <a:ext uri="{FF2B5EF4-FFF2-40B4-BE49-F238E27FC236}">
                  <a16:creationId xmlns:a16="http://schemas.microsoft.com/office/drawing/2014/main" id="{91B85E8A-4875-AE42-84F3-7E4F02DFE413}"/>
                </a:ext>
              </a:extLst>
            </p:cNvPr>
            <p:cNvSpPr>
              <a:spLocks noChangeArrowheads="1"/>
            </p:cNvSpPr>
            <p:nvPr/>
          </p:nvSpPr>
          <p:spPr bwMode="auto">
            <a:xfrm>
              <a:off x="10896600" y="3283467"/>
              <a:ext cx="381000" cy="381000"/>
            </a:xfrm>
            <a:prstGeom prst="ellipse">
              <a:avLst/>
            </a:prstGeom>
            <a:solidFill>
              <a:schemeClr val="bg1"/>
            </a:solidFill>
            <a:ln w="12700">
              <a:solidFill>
                <a:schemeClr val="tx1"/>
              </a:solidFill>
              <a:round/>
              <a:headEnd/>
              <a:tailEnd/>
            </a:ln>
            <a:effectLst>
              <a:outerShdw dist="71842" dir="2700000" algn="ctr" rotWithShape="0">
                <a:schemeClr val="bg2"/>
              </a:outerShdw>
            </a:effectLst>
          </p:spPr>
          <p:txBody>
            <a:bodyPr wrap="none" lIns="90488" tIns="44450" rIns="90488" bIns="44450"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endParaRPr lang="zh-CN" altLang="zh-CN" sz="1600">
                <a:latin typeface="Arial" panose="020B0604020202020204" pitchFamily="34" charset="0"/>
              </a:endParaRPr>
            </a:p>
          </p:txBody>
        </p:sp>
        <p:sp>
          <p:nvSpPr>
            <p:cNvPr id="10" name="Oval 11">
              <a:extLst>
                <a:ext uri="{FF2B5EF4-FFF2-40B4-BE49-F238E27FC236}">
                  <a16:creationId xmlns:a16="http://schemas.microsoft.com/office/drawing/2014/main" id="{10F0027D-536B-6E48-AC8C-27C55702D8B1}"/>
                </a:ext>
              </a:extLst>
            </p:cNvPr>
            <p:cNvSpPr>
              <a:spLocks noChangeArrowheads="1"/>
            </p:cNvSpPr>
            <p:nvPr/>
          </p:nvSpPr>
          <p:spPr bwMode="auto">
            <a:xfrm>
              <a:off x="8458200" y="1530867"/>
              <a:ext cx="381000" cy="381000"/>
            </a:xfrm>
            <a:prstGeom prst="ellipse">
              <a:avLst/>
            </a:prstGeom>
            <a:solidFill>
              <a:schemeClr val="bg1"/>
            </a:solidFill>
            <a:ln w="12700">
              <a:solidFill>
                <a:schemeClr val="tx1"/>
              </a:solidFill>
              <a:round/>
              <a:headEnd/>
              <a:tailEnd/>
            </a:ln>
            <a:effectLst>
              <a:outerShdw dist="71842" dir="2700000" algn="ctr" rotWithShape="0">
                <a:schemeClr val="bg2"/>
              </a:outerShdw>
            </a:effectLst>
          </p:spPr>
          <p:txBody>
            <a:bodyPr wrap="none" lIns="90488" tIns="44450" rIns="90488" bIns="44450"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endParaRPr lang="zh-CN" altLang="zh-CN" sz="1600">
                <a:latin typeface="Arial" panose="020B0604020202020204" pitchFamily="34" charset="0"/>
              </a:endParaRPr>
            </a:p>
          </p:txBody>
        </p:sp>
        <p:cxnSp>
          <p:nvCxnSpPr>
            <p:cNvPr id="11" name="AutoShape 12">
              <a:extLst>
                <a:ext uri="{FF2B5EF4-FFF2-40B4-BE49-F238E27FC236}">
                  <a16:creationId xmlns:a16="http://schemas.microsoft.com/office/drawing/2014/main" id="{A19B9065-41CE-6348-BF40-EB318AD75FE1}"/>
                </a:ext>
              </a:extLst>
            </p:cNvPr>
            <p:cNvCxnSpPr>
              <a:cxnSpLocks noChangeShapeType="1"/>
              <a:stCxn id="10" idx="5"/>
              <a:endCxn id="20" idx="12"/>
            </p:cNvCxnSpPr>
            <p:nvPr/>
          </p:nvCxnSpPr>
          <p:spPr bwMode="auto">
            <a:xfrm>
              <a:off x="8783638" y="1856304"/>
              <a:ext cx="161925" cy="200025"/>
            </a:xfrm>
            <a:prstGeom prst="straightConnector1">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2" name="Group 13">
              <a:extLst>
                <a:ext uri="{FF2B5EF4-FFF2-40B4-BE49-F238E27FC236}">
                  <a16:creationId xmlns:a16="http://schemas.microsoft.com/office/drawing/2014/main" id="{9F6F13F8-20C1-324D-A748-1375E5592203}"/>
                </a:ext>
              </a:extLst>
            </p:cNvPr>
            <p:cNvGrpSpPr>
              <a:grpSpLocks/>
            </p:cNvGrpSpPr>
            <p:nvPr/>
          </p:nvGrpSpPr>
          <p:grpSpPr bwMode="auto">
            <a:xfrm>
              <a:off x="8610600" y="1835667"/>
              <a:ext cx="2743200" cy="1143000"/>
              <a:chOff x="1719" y="1709"/>
              <a:chExt cx="1775" cy="1123"/>
            </a:xfrm>
          </p:grpSpPr>
          <p:sp>
            <p:nvSpPr>
              <p:cNvPr id="13" name="Oval 14">
                <a:extLst>
                  <a:ext uri="{FF2B5EF4-FFF2-40B4-BE49-F238E27FC236}">
                    <a16:creationId xmlns:a16="http://schemas.microsoft.com/office/drawing/2014/main" id="{9363A652-FEAB-484E-A95D-027785953D75}"/>
                  </a:ext>
                </a:extLst>
              </p:cNvPr>
              <p:cNvSpPr>
                <a:spLocks noChangeArrowheads="1"/>
              </p:cNvSpPr>
              <p:nvPr/>
            </p:nvSpPr>
            <p:spPr bwMode="auto">
              <a:xfrm>
                <a:off x="2109" y="1709"/>
                <a:ext cx="736" cy="345"/>
              </a:xfrm>
              <a:prstGeom prst="ellipse">
                <a:avLst/>
              </a:prstGeom>
              <a:solidFill>
                <a:srgbClr val="CCFFFF"/>
              </a:solidFill>
              <a:ln w="9525">
                <a:solidFill>
                  <a:srgbClr val="00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endParaRPr lang="zh-CN" altLang="en-US"/>
              </a:p>
            </p:txBody>
          </p:sp>
          <p:sp>
            <p:nvSpPr>
              <p:cNvPr id="14" name="Oval 15">
                <a:extLst>
                  <a:ext uri="{FF2B5EF4-FFF2-40B4-BE49-F238E27FC236}">
                    <a16:creationId xmlns:a16="http://schemas.microsoft.com/office/drawing/2014/main" id="{07260D64-B4CF-D349-9C91-55B2CEAED3C0}"/>
                  </a:ext>
                </a:extLst>
              </p:cNvPr>
              <p:cNvSpPr>
                <a:spLocks noChangeArrowheads="1"/>
              </p:cNvSpPr>
              <p:nvPr/>
            </p:nvSpPr>
            <p:spPr bwMode="auto">
              <a:xfrm>
                <a:off x="2542" y="1752"/>
                <a:ext cx="692" cy="346"/>
              </a:xfrm>
              <a:prstGeom prst="ellipse">
                <a:avLst/>
              </a:prstGeom>
              <a:solidFill>
                <a:srgbClr val="CCFFFF"/>
              </a:solidFill>
              <a:ln w="9525">
                <a:solidFill>
                  <a:srgbClr val="00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endParaRPr lang="zh-CN" altLang="en-US"/>
              </a:p>
            </p:txBody>
          </p:sp>
          <p:sp>
            <p:nvSpPr>
              <p:cNvPr id="15" name="Oval 16">
                <a:extLst>
                  <a:ext uri="{FF2B5EF4-FFF2-40B4-BE49-F238E27FC236}">
                    <a16:creationId xmlns:a16="http://schemas.microsoft.com/office/drawing/2014/main" id="{691A5D39-7CBB-DC43-84C8-13BEB260E651}"/>
                  </a:ext>
                </a:extLst>
              </p:cNvPr>
              <p:cNvSpPr>
                <a:spLocks noChangeArrowheads="1"/>
              </p:cNvSpPr>
              <p:nvPr/>
            </p:nvSpPr>
            <p:spPr bwMode="auto">
              <a:xfrm>
                <a:off x="2715" y="1925"/>
                <a:ext cx="692" cy="345"/>
              </a:xfrm>
              <a:prstGeom prst="ellipse">
                <a:avLst/>
              </a:prstGeom>
              <a:solidFill>
                <a:srgbClr val="CCFFFF"/>
              </a:solidFill>
              <a:ln w="9525">
                <a:solidFill>
                  <a:srgbClr val="00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2400"/>
              </a:p>
            </p:txBody>
          </p:sp>
          <p:sp>
            <p:nvSpPr>
              <p:cNvPr id="16" name="Oval 17">
                <a:extLst>
                  <a:ext uri="{FF2B5EF4-FFF2-40B4-BE49-F238E27FC236}">
                    <a16:creationId xmlns:a16="http://schemas.microsoft.com/office/drawing/2014/main" id="{A50B42EF-3D0C-3148-B34E-83DA98BC55BB}"/>
                  </a:ext>
                </a:extLst>
              </p:cNvPr>
              <p:cNvSpPr>
                <a:spLocks noChangeArrowheads="1"/>
              </p:cNvSpPr>
              <p:nvPr/>
            </p:nvSpPr>
            <p:spPr bwMode="auto">
              <a:xfrm>
                <a:off x="2801" y="2141"/>
                <a:ext cx="693" cy="518"/>
              </a:xfrm>
              <a:prstGeom prst="ellipse">
                <a:avLst/>
              </a:prstGeom>
              <a:solidFill>
                <a:srgbClr val="CCFFFF"/>
              </a:solidFill>
              <a:ln w="9525">
                <a:solidFill>
                  <a:srgbClr val="00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2400"/>
              </a:p>
            </p:txBody>
          </p:sp>
          <p:sp>
            <p:nvSpPr>
              <p:cNvPr id="17" name="Oval 18">
                <a:extLst>
                  <a:ext uri="{FF2B5EF4-FFF2-40B4-BE49-F238E27FC236}">
                    <a16:creationId xmlns:a16="http://schemas.microsoft.com/office/drawing/2014/main" id="{0B9B14DA-2FF2-8240-9377-B63B32E020B0}"/>
                  </a:ext>
                </a:extLst>
              </p:cNvPr>
              <p:cNvSpPr>
                <a:spLocks noChangeArrowheads="1"/>
              </p:cNvSpPr>
              <p:nvPr/>
            </p:nvSpPr>
            <p:spPr bwMode="auto">
              <a:xfrm>
                <a:off x="2412" y="2270"/>
                <a:ext cx="692" cy="562"/>
              </a:xfrm>
              <a:prstGeom prst="ellipse">
                <a:avLst/>
              </a:prstGeom>
              <a:solidFill>
                <a:srgbClr val="CCFFFF"/>
              </a:solidFill>
              <a:ln w="9525">
                <a:solidFill>
                  <a:srgbClr val="00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2400"/>
              </a:p>
            </p:txBody>
          </p:sp>
          <p:sp>
            <p:nvSpPr>
              <p:cNvPr id="18" name="Oval 19">
                <a:extLst>
                  <a:ext uri="{FF2B5EF4-FFF2-40B4-BE49-F238E27FC236}">
                    <a16:creationId xmlns:a16="http://schemas.microsoft.com/office/drawing/2014/main" id="{8279A874-526A-CC4E-9DF2-28545C691369}"/>
                  </a:ext>
                </a:extLst>
              </p:cNvPr>
              <p:cNvSpPr>
                <a:spLocks noChangeArrowheads="1"/>
              </p:cNvSpPr>
              <p:nvPr/>
            </p:nvSpPr>
            <p:spPr bwMode="auto">
              <a:xfrm>
                <a:off x="1935" y="2141"/>
                <a:ext cx="693" cy="648"/>
              </a:xfrm>
              <a:prstGeom prst="ellipse">
                <a:avLst/>
              </a:prstGeom>
              <a:solidFill>
                <a:srgbClr val="CCFFFF"/>
              </a:solidFill>
              <a:ln w="9525">
                <a:solidFill>
                  <a:srgbClr val="00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2400"/>
              </a:p>
            </p:txBody>
          </p:sp>
          <p:sp>
            <p:nvSpPr>
              <p:cNvPr id="19" name="Oval 20">
                <a:extLst>
                  <a:ext uri="{FF2B5EF4-FFF2-40B4-BE49-F238E27FC236}">
                    <a16:creationId xmlns:a16="http://schemas.microsoft.com/office/drawing/2014/main" id="{D3C4BC99-8890-2948-8B18-4AAFFC3C4556}"/>
                  </a:ext>
                </a:extLst>
              </p:cNvPr>
              <p:cNvSpPr>
                <a:spLocks noChangeArrowheads="1"/>
              </p:cNvSpPr>
              <p:nvPr/>
            </p:nvSpPr>
            <p:spPr bwMode="auto">
              <a:xfrm>
                <a:off x="1719" y="1838"/>
                <a:ext cx="693" cy="605"/>
              </a:xfrm>
              <a:prstGeom prst="ellipse">
                <a:avLst/>
              </a:prstGeom>
              <a:solidFill>
                <a:srgbClr val="CCFFFF"/>
              </a:solidFill>
              <a:ln w="9525">
                <a:solidFill>
                  <a:srgbClr val="00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2400"/>
              </a:p>
            </p:txBody>
          </p:sp>
          <p:sp>
            <p:nvSpPr>
              <p:cNvPr id="20" name="Freeform 21">
                <a:extLst>
                  <a:ext uri="{FF2B5EF4-FFF2-40B4-BE49-F238E27FC236}">
                    <a16:creationId xmlns:a16="http://schemas.microsoft.com/office/drawing/2014/main" id="{0EA750A1-19F5-E447-980B-A79C3A58834F}"/>
                  </a:ext>
                </a:extLst>
              </p:cNvPr>
              <p:cNvSpPr>
                <a:spLocks/>
              </p:cNvSpPr>
              <p:nvPr/>
            </p:nvSpPr>
            <p:spPr bwMode="auto">
              <a:xfrm>
                <a:off x="1893" y="1753"/>
                <a:ext cx="1470" cy="1037"/>
              </a:xfrm>
              <a:custGeom>
                <a:avLst/>
                <a:gdLst>
                  <a:gd name="T0" fmla="*/ 8 w 1632"/>
                  <a:gd name="T1" fmla="*/ 30 h 1152"/>
                  <a:gd name="T2" fmla="*/ 59 w 1632"/>
                  <a:gd name="T3" fmla="*/ 8 h 1152"/>
                  <a:gd name="T4" fmla="*/ 102 w 1632"/>
                  <a:gd name="T5" fmla="*/ 0 h 1152"/>
                  <a:gd name="T6" fmla="*/ 190 w 1632"/>
                  <a:gd name="T7" fmla="*/ 8 h 1152"/>
                  <a:gd name="T8" fmla="*/ 219 w 1632"/>
                  <a:gd name="T9" fmla="*/ 22 h 1152"/>
                  <a:gd name="T10" fmla="*/ 234 w 1632"/>
                  <a:gd name="T11" fmla="*/ 50 h 1152"/>
                  <a:gd name="T12" fmla="*/ 249 w 1632"/>
                  <a:gd name="T13" fmla="*/ 58 h 1152"/>
                  <a:gd name="T14" fmla="*/ 234 w 1632"/>
                  <a:gd name="T15" fmla="*/ 137 h 1152"/>
                  <a:gd name="T16" fmla="*/ 139 w 1632"/>
                  <a:gd name="T17" fmla="*/ 174 h 1152"/>
                  <a:gd name="T18" fmla="*/ 44 w 1632"/>
                  <a:gd name="T19" fmla="*/ 145 h 1152"/>
                  <a:gd name="T20" fmla="*/ 14 w 1632"/>
                  <a:gd name="T21" fmla="*/ 115 h 1152"/>
                  <a:gd name="T22" fmla="*/ 0 w 1632"/>
                  <a:gd name="T23" fmla="*/ 109 h 1152"/>
                  <a:gd name="T24" fmla="*/ 8 w 1632"/>
                  <a:gd name="T25" fmla="*/ 30 h 1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32" h="1152">
                    <a:moveTo>
                      <a:pt x="48" y="192"/>
                    </a:moveTo>
                    <a:lnTo>
                      <a:pt x="384" y="48"/>
                    </a:lnTo>
                    <a:lnTo>
                      <a:pt x="672" y="0"/>
                    </a:lnTo>
                    <a:lnTo>
                      <a:pt x="1248" y="48"/>
                    </a:lnTo>
                    <a:lnTo>
                      <a:pt x="1440" y="144"/>
                    </a:lnTo>
                    <a:lnTo>
                      <a:pt x="1536" y="336"/>
                    </a:lnTo>
                    <a:lnTo>
                      <a:pt x="1632" y="384"/>
                    </a:lnTo>
                    <a:lnTo>
                      <a:pt x="1536" y="912"/>
                    </a:lnTo>
                    <a:lnTo>
                      <a:pt x="912" y="1152"/>
                    </a:lnTo>
                    <a:lnTo>
                      <a:pt x="288" y="960"/>
                    </a:lnTo>
                    <a:lnTo>
                      <a:pt x="96" y="768"/>
                    </a:lnTo>
                    <a:lnTo>
                      <a:pt x="0" y="720"/>
                    </a:lnTo>
                    <a:lnTo>
                      <a:pt x="48" y="192"/>
                    </a:lnTo>
                    <a:close/>
                  </a:path>
                </a:pathLst>
              </a:custGeom>
              <a:solidFill>
                <a:srgbClr val="CC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cxnSp>
          <p:nvCxnSpPr>
            <p:cNvPr id="21" name="AutoShape 22">
              <a:extLst>
                <a:ext uri="{FF2B5EF4-FFF2-40B4-BE49-F238E27FC236}">
                  <a16:creationId xmlns:a16="http://schemas.microsoft.com/office/drawing/2014/main" id="{894C90D0-AD4C-1B4E-986E-ADABE9EA6D54}"/>
                </a:ext>
              </a:extLst>
            </p:cNvPr>
            <p:cNvCxnSpPr>
              <a:cxnSpLocks noChangeShapeType="1"/>
              <a:stCxn id="32" idx="4"/>
              <a:endCxn id="3" idx="4"/>
            </p:cNvCxnSpPr>
            <p:nvPr/>
          </p:nvCxnSpPr>
          <p:spPr bwMode="auto">
            <a:xfrm flipV="1">
              <a:off x="10655300" y="4655067"/>
              <a:ext cx="50800" cy="317500"/>
            </a:xfrm>
            <a:prstGeom prst="straightConnector1">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Oval 23">
              <a:extLst>
                <a:ext uri="{FF2B5EF4-FFF2-40B4-BE49-F238E27FC236}">
                  <a16:creationId xmlns:a16="http://schemas.microsoft.com/office/drawing/2014/main" id="{A3F73915-0723-BD4E-A996-39E5EF03F67E}"/>
                </a:ext>
              </a:extLst>
            </p:cNvPr>
            <p:cNvSpPr>
              <a:spLocks noChangeArrowheads="1"/>
            </p:cNvSpPr>
            <p:nvPr/>
          </p:nvSpPr>
          <p:spPr bwMode="auto">
            <a:xfrm>
              <a:off x="8534400" y="4274067"/>
              <a:ext cx="381000" cy="381000"/>
            </a:xfrm>
            <a:prstGeom prst="ellipse">
              <a:avLst/>
            </a:prstGeom>
            <a:solidFill>
              <a:schemeClr val="bg1"/>
            </a:solidFill>
            <a:ln w="12700">
              <a:solidFill>
                <a:schemeClr val="tx1"/>
              </a:solidFill>
              <a:round/>
              <a:headEnd/>
              <a:tailEnd/>
            </a:ln>
            <a:effectLst>
              <a:outerShdw dist="71842" dir="2700000" algn="ctr" rotWithShape="0">
                <a:schemeClr val="bg2"/>
              </a:outerShdw>
            </a:effectLst>
          </p:spPr>
          <p:txBody>
            <a:bodyPr wrap="none" lIns="90488" tIns="44450" rIns="90488" bIns="44450"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endParaRPr lang="zh-CN" altLang="zh-CN" sz="1600">
                <a:latin typeface="Arial" panose="020B0604020202020204" pitchFamily="34" charset="0"/>
              </a:endParaRPr>
            </a:p>
          </p:txBody>
        </p:sp>
        <p:cxnSp>
          <p:nvCxnSpPr>
            <p:cNvPr id="23" name="AutoShape 24">
              <a:extLst>
                <a:ext uri="{FF2B5EF4-FFF2-40B4-BE49-F238E27FC236}">
                  <a16:creationId xmlns:a16="http://schemas.microsoft.com/office/drawing/2014/main" id="{7D418ED8-5656-494A-8F34-3100F747E2AB}"/>
                </a:ext>
              </a:extLst>
            </p:cNvPr>
            <p:cNvCxnSpPr>
              <a:cxnSpLocks noChangeShapeType="1"/>
              <a:stCxn id="22" idx="4"/>
              <a:endCxn id="32" idx="12"/>
            </p:cNvCxnSpPr>
            <p:nvPr/>
          </p:nvCxnSpPr>
          <p:spPr bwMode="auto">
            <a:xfrm flipH="1">
              <a:off x="8716963" y="4655067"/>
              <a:ext cx="7937" cy="358775"/>
            </a:xfrm>
            <a:prstGeom prst="straightConnector1">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4" name="Group 25">
              <a:extLst>
                <a:ext uri="{FF2B5EF4-FFF2-40B4-BE49-F238E27FC236}">
                  <a16:creationId xmlns:a16="http://schemas.microsoft.com/office/drawing/2014/main" id="{CDB75D6A-892B-414B-930C-1977232BDB6C}"/>
                </a:ext>
              </a:extLst>
            </p:cNvPr>
            <p:cNvGrpSpPr>
              <a:grpSpLocks/>
            </p:cNvGrpSpPr>
            <p:nvPr/>
          </p:nvGrpSpPr>
          <p:grpSpPr bwMode="auto">
            <a:xfrm>
              <a:off x="8382000" y="4807467"/>
              <a:ext cx="2743200" cy="1066800"/>
              <a:chOff x="1719" y="1709"/>
              <a:chExt cx="1775" cy="1123"/>
            </a:xfrm>
          </p:grpSpPr>
          <p:sp>
            <p:nvSpPr>
              <p:cNvPr id="25" name="Oval 26">
                <a:extLst>
                  <a:ext uri="{FF2B5EF4-FFF2-40B4-BE49-F238E27FC236}">
                    <a16:creationId xmlns:a16="http://schemas.microsoft.com/office/drawing/2014/main" id="{40BF4CB7-8FC0-6943-BACC-399FBA969955}"/>
                  </a:ext>
                </a:extLst>
              </p:cNvPr>
              <p:cNvSpPr>
                <a:spLocks noChangeArrowheads="1"/>
              </p:cNvSpPr>
              <p:nvPr/>
            </p:nvSpPr>
            <p:spPr bwMode="auto">
              <a:xfrm>
                <a:off x="2109" y="1709"/>
                <a:ext cx="736" cy="345"/>
              </a:xfrm>
              <a:prstGeom prst="ellipse">
                <a:avLst/>
              </a:prstGeom>
              <a:solidFill>
                <a:srgbClr val="CCFFFF"/>
              </a:solidFill>
              <a:ln w="9525">
                <a:solidFill>
                  <a:srgbClr val="00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endParaRPr lang="zh-CN" altLang="en-US"/>
              </a:p>
            </p:txBody>
          </p:sp>
          <p:sp>
            <p:nvSpPr>
              <p:cNvPr id="26" name="Oval 27">
                <a:extLst>
                  <a:ext uri="{FF2B5EF4-FFF2-40B4-BE49-F238E27FC236}">
                    <a16:creationId xmlns:a16="http://schemas.microsoft.com/office/drawing/2014/main" id="{8E3362D3-4EA0-B44D-B690-21D82BCECB6A}"/>
                  </a:ext>
                </a:extLst>
              </p:cNvPr>
              <p:cNvSpPr>
                <a:spLocks noChangeArrowheads="1"/>
              </p:cNvSpPr>
              <p:nvPr/>
            </p:nvSpPr>
            <p:spPr bwMode="auto">
              <a:xfrm>
                <a:off x="2542" y="1752"/>
                <a:ext cx="692" cy="346"/>
              </a:xfrm>
              <a:prstGeom prst="ellipse">
                <a:avLst/>
              </a:prstGeom>
              <a:solidFill>
                <a:srgbClr val="CCFFFF"/>
              </a:solidFill>
              <a:ln w="9525">
                <a:solidFill>
                  <a:srgbClr val="00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endParaRPr lang="zh-CN" altLang="en-US"/>
              </a:p>
            </p:txBody>
          </p:sp>
          <p:sp>
            <p:nvSpPr>
              <p:cNvPr id="27" name="Oval 28">
                <a:extLst>
                  <a:ext uri="{FF2B5EF4-FFF2-40B4-BE49-F238E27FC236}">
                    <a16:creationId xmlns:a16="http://schemas.microsoft.com/office/drawing/2014/main" id="{C4DB8E1E-09CF-9442-A0FA-8A11D545EFE0}"/>
                  </a:ext>
                </a:extLst>
              </p:cNvPr>
              <p:cNvSpPr>
                <a:spLocks noChangeArrowheads="1"/>
              </p:cNvSpPr>
              <p:nvPr/>
            </p:nvSpPr>
            <p:spPr bwMode="auto">
              <a:xfrm>
                <a:off x="2715" y="1925"/>
                <a:ext cx="692" cy="345"/>
              </a:xfrm>
              <a:prstGeom prst="ellipse">
                <a:avLst/>
              </a:prstGeom>
              <a:solidFill>
                <a:srgbClr val="CCFFFF"/>
              </a:solidFill>
              <a:ln w="9525">
                <a:solidFill>
                  <a:srgbClr val="00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2400"/>
              </a:p>
            </p:txBody>
          </p:sp>
          <p:sp>
            <p:nvSpPr>
              <p:cNvPr id="28" name="Oval 29">
                <a:extLst>
                  <a:ext uri="{FF2B5EF4-FFF2-40B4-BE49-F238E27FC236}">
                    <a16:creationId xmlns:a16="http://schemas.microsoft.com/office/drawing/2014/main" id="{279BADF8-D45D-6C44-A7CF-DF2ED5846151}"/>
                  </a:ext>
                </a:extLst>
              </p:cNvPr>
              <p:cNvSpPr>
                <a:spLocks noChangeArrowheads="1"/>
              </p:cNvSpPr>
              <p:nvPr/>
            </p:nvSpPr>
            <p:spPr bwMode="auto">
              <a:xfrm>
                <a:off x="2801" y="2141"/>
                <a:ext cx="693" cy="518"/>
              </a:xfrm>
              <a:prstGeom prst="ellipse">
                <a:avLst/>
              </a:prstGeom>
              <a:solidFill>
                <a:srgbClr val="CCFFFF"/>
              </a:solidFill>
              <a:ln w="9525">
                <a:solidFill>
                  <a:srgbClr val="00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2400"/>
              </a:p>
            </p:txBody>
          </p:sp>
          <p:sp>
            <p:nvSpPr>
              <p:cNvPr id="29" name="Oval 30">
                <a:extLst>
                  <a:ext uri="{FF2B5EF4-FFF2-40B4-BE49-F238E27FC236}">
                    <a16:creationId xmlns:a16="http://schemas.microsoft.com/office/drawing/2014/main" id="{2B58A95E-CBF3-2341-A2C2-E4497E7DE337}"/>
                  </a:ext>
                </a:extLst>
              </p:cNvPr>
              <p:cNvSpPr>
                <a:spLocks noChangeArrowheads="1"/>
              </p:cNvSpPr>
              <p:nvPr/>
            </p:nvSpPr>
            <p:spPr bwMode="auto">
              <a:xfrm>
                <a:off x="2412" y="2270"/>
                <a:ext cx="692" cy="562"/>
              </a:xfrm>
              <a:prstGeom prst="ellipse">
                <a:avLst/>
              </a:prstGeom>
              <a:solidFill>
                <a:srgbClr val="CCFFFF"/>
              </a:solidFill>
              <a:ln w="9525">
                <a:solidFill>
                  <a:srgbClr val="00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2400"/>
              </a:p>
            </p:txBody>
          </p:sp>
          <p:sp>
            <p:nvSpPr>
              <p:cNvPr id="30" name="Oval 31">
                <a:extLst>
                  <a:ext uri="{FF2B5EF4-FFF2-40B4-BE49-F238E27FC236}">
                    <a16:creationId xmlns:a16="http://schemas.microsoft.com/office/drawing/2014/main" id="{9AC840D3-9AC8-DC44-AA5D-06787F23E1FE}"/>
                  </a:ext>
                </a:extLst>
              </p:cNvPr>
              <p:cNvSpPr>
                <a:spLocks noChangeArrowheads="1"/>
              </p:cNvSpPr>
              <p:nvPr/>
            </p:nvSpPr>
            <p:spPr bwMode="auto">
              <a:xfrm>
                <a:off x="1935" y="2141"/>
                <a:ext cx="693" cy="648"/>
              </a:xfrm>
              <a:prstGeom prst="ellipse">
                <a:avLst/>
              </a:prstGeom>
              <a:solidFill>
                <a:srgbClr val="CCFFFF"/>
              </a:solidFill>
              <a:ln w="9525">
                <a:solidFill>
                  <a:srgbClr val="00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2400"/>
              </a:p>
            </p:txBody>
          </p:sp>
          <p:sp>
            <p:nvSpPr>
              <p:cNvPr id="31" name="Oval 32">
                <a:extLst>
                  <a:ext uri="{FF2B5EF4-FFF2-40B4-BE49-F238E27FC236}">
                    <a16:creationId xmlns:a16="http://schemas.microsoft.com/office/drawing/2014/main" id="{049BEF28-9D63-4948-9266-8160F949C305}"/>
                  </a:ext>
                </a:extLst>
              </p:cNvPr>
              <p:cNvSpPr>
                <a:spLocks noChangeArrowheads="1"/>
              </p:cNvSpPr>
              <p:nvPr/>
            </p:nvSpPr>
            <p:spPr bwMode="auto">
              <a:xfrm>
                <a:off x="1719" y="1838"/>
                <a:ext cx="693" cy="605"/>
              </a:xfrm>
              <a:prstGeom prst="ellipse">
                <a:avLst/>
              </a:prstGeom>
              <a:solidFill>
                <a:srgbClr val="CCFFFF"/>
              </a:solidFill>
              <a:ln w="9525">
                <a:solidFill>
                  <a:srgbClr val="00CC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2400"/>
              </a:p>
            </p:txBody>
          </p:sp>
          <p:sp>
            <p:nvSpPr>
              <p:cNvPr id="32" name="Freeform 33">
                <a:extLst>
                  <a:ext uri="{FF2B5EF4-FFF2-40B4-BE49-F238E27FC236}">
                    <a16:creationId xmlns:a16="http://schemas.microsoft.com/office/drawing/2014/main" id="{EECF7CA6-A5DA-1B45-A6BD-82948B1FFDA8}"/>
                  </a:ext>
                </a:extLst>
              </p:cNvPr>
              <p:cNvSpPr>
                <a:spLocks/>
              </p:cNvSpPr>
              <p:nvPr/>
            </p:nvSpPr>
            <p:spPr bwMode="auto">
              <a:xfrm>
                <a:off x="1893" y="1753"/>
                <a:ext cx="1470" cy="1037"/>
              </a:xfrm>
              <a:custGeom>
                <a:avLst/>
                <a:gdLst>
                  <a:gd name="T0" fmla="*/ 8 w 1632"/>
                  <a:gd name="T1" fmla="*/ 30 h 1152"/>
                  <a:gd name="T2" fmla="*/ 59 w 1632"/>
                  <a:gd name="T3" fmla="*/ 8 h 1152"/>
                  <a:gd name="T4" fmla="*/ 102 w 1632"/>
                  <a:gd name="T5" fmla="*/ 0 h 1152"/>
                  <a:gd name="T6" fmla="*/ 190 w 1632"/>
                  <a:gd name="T7" fmla="*/ 8 h 1152"/>
                  <a:gd name="T8" fmla="*/ 219 w 1632"/>
                  <a:gd name="T9" fmla="*/ 22 h 1152"/>
                  <a:gd name="T10" fmla="*/ 234 w 1632"/>
                  <a:gd name="T11" fmla="*/ 50 h 1152"/>
                  <a:gd name="T12" fmla="*/ 249 w 1632"/>
                  <a:gd name="T13" fmla="*/ 58 h 1152"/>
                  <a:gd name="T14" fmla="*/ 234 w 1632"/>
                  <a:gd name="T15" fmla="*/ 137 h 1152"/>
                  <a:gd name="T16" fmla="*/ 139 w 1632"/>
                  <a:gd name="T17" fmla="*/ 174 h 1152"/>
                  <a:gd name="T18" fmla="*/ 44 w 1632"/>
                  <a:gd name="T19" fmla="*/ 145 h 1152"/>
                  <a:gd name="T20" fmla="*/ 14 w 1632"/>
                  <a:gd name="T21" fmla="*/ 115 h 1152"/>
                  <a:gd name="T22" fmla="*/ 0 w 1632"/>
                  <a:gd name="T23" fmla="*/ 109 h 1152"/>
                  <a:gd name="T24" fmla="*/ 8 w 1632"/>
                  <a:gd name="T25" fmla="*/ 30 h 1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32" h="1152">
                    <a:moveTo>
                      <a:pt x="48" y="192"/>
                    </a:moveTo>
                    <a:lnTo>
                      <a:pt x="384" y="48"/>
                    </a:lnTo>
                    <a:lnTo>
                      <a:pt x="672" y="0"/>
                    </a:lnTo>
                    <a:lnTo>
                      <a:pt x="1248" y="48"/>
                    </a:lnTo>
                    <a:lnTo>
                      <a:pt x="1440" y="144"/>
                    </a:lnTo>
                    <a:lnTo>
                      <a:pt x="1536" y="336"/>
                    </a:lnTo>
                    <a:lnTo>
                      <a:pt x="1632" y="384"/>
                    </a:lnTo>
                    <a:lnTo>
                      <a:pt x="1536" y="912"/>
                    </a:lnTo>
                    <a:lnTo>
                      <a:pt x="912" y="1152"/>
                    </a:lnTo>
                    <a:lnTo>
                      <a:pt x="288" y="960"/>
                    </a:lnTo>
                    <a:lnTo>
                      <a:pt x="96" y="768"/>
                    </a:lnTo>
                    <a:lnTo>
                      <a:pt x="0" y="720"/>
                    </a:lnTo>
                    <a:lnTo>
                      <a:pt x="48" y="192"/>
                    </a:lnTo>
                    <a:close/>
                  </a:path>
                </a:pathLst>
              </a:custGeom>
              <a:solidFill>
                <a:srgbClr val="CC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3" name="Group 34">
              <a:extLst>
                <a:ext uri="{FF2B5EF4-FFF2-40B4-BE49-F238E27FC236}">
                  <a16:creationId xmlns:a16="http://schemas.microsoft.com/office/drawing/2014/main" id="{FA324DB1-40F7-834E-BC70-C70E24572FF8}"/>
                </a:ext>
              </a:extLst>
            </p:cNvPr>
            <p:cNvGrpSpPr>
              <a:grpSpLocks/>
            </p:cNvGrpSpPr>
            <p:nvPr/>
          </p:nvGrpSpPr>
          <p:grpSpPr bwMode="auto">
            <a:xfrm>
              <a:off x="8458200" y="1530867"/>
              <a:ext cx="2819400" cy="3124200"/>
              <a:chOff x="3648" y="1008"/>
              <a:chExt cx="1776" cy="1968"/>
            </a:xfrm>
          </p:grpSpPr>
          <p:sp>
            <p:nvSpPr>
              <p:cNvPr id="34" name="Oval 35">
                <a:extLst>
                  <a:ext uri="{FF2B5EF4-FFF2-40B4-BE49-F238E27FC236}">
                    <a16:creationId xmlns:a16="http://schemas.microsoft.com/office/drawing/2014/main" id="{5625C967-A8F0-ED40-BAAB-6C104B56483F}"/>
                  </a:ext>
                </a:extLst>
              </p:cNvPr>
              <p:cNvSpPr>
                <a:spLocks noChangeArrowheads="1"/>
              </p:cNvSpPr>
              <p:nvPr/>
            </p:nvSpPr>
            <p:spPr bwMode="auto">
              <a:xfrm>
                <a:off x="5184" y="2112"/>
                <a:ext cx="240" cy="240"/>
              </a:xfrm>
              <a:prstGeom prst="ellipse">
                <a:avLst/>
              </a:prstGeom>
              <a:solidFill>
                <a:srgbClr val="99FF66"/>
              </a:solidFill>
              <a:ln w="12700">
                <a:solidFill>
                  <a:srgbClr val="33CC33"/>
                </a:solidFill>
                <a:round/>
                <a:headEnd/>
                <a:tailEnd/>
              </a:ln>
              <a:effectLst/>
              <a:extLst>
                <a:ext uri="{AF507438-7753-43E0-B8FC-AC1667EBCBE1}">
                  <a14:hiddenEffects xmlns:a14="http://schemas.microsoft.com/office/drawing/2010/main">
                    <a:effectLst>
                      <a:outerShdw dist="71842" dir="2700000" algn="ctr" rotWithShape="0">
                        <a:schemeClr val="bg2"/>
                      </a:outerShdw>
                    </a:effectLst>
                  </a14:hiddenEffects>
                </a:ext>
              </a:extLst>
            </p:spPr>
            <p:txBody>
              <a:bodyPr wrap="none" lIns="90488" tIns="44450" rIns="90488" bIns="44450"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endParaRPr lang="zh-CN" altLang="zh-CN" sz="1600">
                  <a:latin typeface="Arial" panose="020B0604020202020204" pitchFamily="34" charset="0"/>
                </a:endParaRPr>
              </a:p>
            </p:txBody>
          </p:sp>
          <p:sp>
            <p:nvSpPr>
              <p:cNvPr id="35" name="Oval 36">
                <a:extLst>
                  <a:ext uri="{FF2B5EF4-FFF2-40B4-BE49-F238E27FC236}">
                    <a16:creationId xmlns:a16="http://schemas.microsoft.com/office/drawing/2014/main" id="{72042DF5-C0E9-5C41-A2C9-20E0DF49F813}"/>
                  </a:ext>
                </a:extLst>
              </p:cNvPr>
              <p:cNvSpPr>
                <a:spLocks noChangeArrowheads="1"/>
              </p:cNvSpPr>
              <p:nvPr/>
            </p:nvSpPr>
            <p:spPr bwMode="auto">
              <a:xfrm>
                <a:off x="3648" y="1008"/>
                <a:ext cx="240" cy="240"/>
              </a:xfrm>
              <a:prstGeom prst="ellipse">
                <a:avLst/>
              </a:prstGeom>
              <a:solidFill>
                <a:srgbClr val="99FF66"/>
              </a:solidFill>
              <a:ln w="12700">
                <a:solidFill>
                  <a:srgbClr val="33CC33"/>
                </a:solidFill>
                <a:round/>
                <a:headEnd/>
                <a:tailEnd/>
              </a:ln>
              <a:effectLst/>
              <a:extLst>
                <a:ext uri="{AF507438-7753-43E0-B8FC-AC1667EBCBE1}">
                  <a14:hiddenEffects xmlns:a14="http://schemas.microsoft.com/office/drawing/2010/main">
                    <a:effectLst>
                      <a:outerShdw dist="71842" dir="2700000" algn="ctr" rotWithShape="0">
                        <a:schemeClr val="bg2"/>
                      </a:outerShdw>
                    </a:effectLst>
                  </a14:hiddenEffects>
                </a:ext>
              </a:extLst>
            </p:spPr>
            <p:txBody>
              <a:bodyPr wrap="none" lIns="90488" tIns="44450" rIns="90488" bIns="44450"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endParaRPr lang="zh-CN" altLang="zh-CN" sz="1600">
                  <a:latin typeface="Arial" panose="020B0604020202020204" pitchFamily="34" charset="0"/>
                </a:endParaRPr>
              </a:p>
            </p:txBody>
          </p:sp>
          <p:sp>
            <p:nvSpPr>
              <p:cNvPr id="36" name="Oval 37">
                <a:extLst>
                  <a:ext uri="{FF2B5EF4-FFF2-40B4-BE49-F238E27FC236}">
                    <a16:creationId xmlns:a16="http://schemas.microsoft.com/office/drawing/2014/main" id="{8B86B65A-7058-6341-BE1C-6929C21C89A9}"/>
                  </a:ext>
                </a:extLst>
              </p:cNvPr>
              <p:cNvSpPr>
                <a:spLocks noChangeArrowheads="1"/>
              </p:cNvSpPr>
              <p:nvPr/>
            </p:nvSpPr>
            <p:spPr bwMode="auto">
              <a:xfrm>
                <a:off x="3696" y="2736"/>
                <a:ext cx="240" cy="240"/>
              </a:xfrm>
              <a:prstGeom prst="ellipse">
                <a:avLst/>
              </a:prstGeom>
              <a:solidFill>
                <a:srgbClr val="99FF66"/>
              </a:solidFill>
              <a:ln w="12700">
                <a:solidFill>
                  <a:srgbClr val="33CC33"/>
                </a:solidFill>
                <a:round/>
                <a:headEnd/>
                <a:tailEnd/>
              </a:ln>
              <a:effectLst/>
              <a:extLst>
                <a:ext uri="{AF507438-7753-43E0-B8FC-AC1667EBCBE1}">
                  <a14:hiddenEffects xmlns:a14="http://schemas.microsoft.com/office/drawing/2010/main">
                    <a:effectLst>
                      <a:outerShdw dist="71842" dir="2700000" algn="ctr" rotWithShape="0">
                        <a:schemeClr val="bg2"/>
                      </a:outerShdw>
                    </a:effectLst>
                  </a14:hiddenEffects>
                </a:ext>
              </a:extLst>
            </p:spPr>
            <p:txBody>
              <a:bodyPr wrap="none" lIns="90488" tIns="44450" rIns="90488" bIns="44450"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endParaRPr lang="zh-CN" altLang="zh-CN" sz="1600">
                  <a:latin typeface="Arial" panose="020B0604020202020204" pitchFamily="34" charset="0"/>
                </a:endParaRPr>
              </a:p>
            </p:txBody>
          </p:sp>
          <p:sp>
            <p:nvSpPr>
              <p:cNvPr id="37" name="Oval 38">
                <a:extLst>
                  <a:ext uri="{FF2B5EF4-FFF2-40B4-BE49-F238E27FC236}">
                    <a16:creationId xmlns:a16="http://schemas.microsoft.com/office/drawing/2014/main" id="{FE486E4C-0194-5D44-8EA3-E27C25472B17}"/>
                  </a:ext>
                </a:extLst>
              </p:cNvPr>
              <p:cNvSpPr>
                <a:spLocks noChangeArrowheads="1"/>
              </p:cNvSpPr>
              <p:nvPr/>
            </p:nvSpPr>
            <p:spPr bwMode="auto">
              <a:xfrm>
                <a:off x="3696" y="2064"/>
                <a:ext cx="240" cy="240"/>
              </a:xfrm>
              <a:prstGeom prst="ellipse">
                <a:avLst/>
              </a:prstGeom>
              <a:solidFill>
                <a:srgbClr val="99FF66"/>
              </a:solidFill>
              <a:ln w="12700">
                <a:solidFill>
                  <a:srgbClr val="33CC33"/>
                </a:solidFill>
                <a:round/>
                <a:headEnd/>
                <a:tailEnd/>
              </a:ln>
              <a:effectLst/>
              <a:extLst>
                <a:ext uri="{AF507438-7753-43E0-B8FC-AC1667EBCBE1}">
                  <a14:hiddenEffects xmlns:a14="http://schemas.microsoft.com/office/drawing/2010/main">
                    <a:effectLst>
                      <a:outerShdw dist="71842" dir="2700000" algn="ctr" rotWithShape="0">
                        <a:schemeClr val="bg2"/>
                      </a:outerShdw>
                    </a:effectLst>
                  </a14:hiddenEffects>
                </a:ext>
              </a:extLst>
            </p:spPr>
            <p:txBody>
              <a:bodyPr wrap="none" lIns="90488" tIns="44450" rIns="90488" bIns="44450"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endParaRPr lang="zh-CN" altLang="zh-CN" sz="1600">
                  <a:latin typeface="Arial" panose="020B0604020202020204" pitchFamily="34" charset="0"/>
                </a:endParaRPr>
              </a:p>
            </p:txBody>
          </p:sp>
          <p:sp>
            <p:nvSpPr>
              <p:cNvPr id="38" name="Line 39">
                <a:extLst>
                  <a:ext uri="{FF2B5EF4-FFF2-40B4-BE49-F238E27FC236}">
                    <a16:creationId xmlns:a16="http://schemas.microsoft.com/office/drawing/2014/main" id="{882CB528-4729-B14F-89B2-6BDBDE31F07B}"/>
                  </a:ext>
                </a:extLst>
              </p:cNvPr>
              <p:cNvSpPr>
                <a:spLocks noChangeShapeType="1"/>
              </p:cNvSpPr>
              <p:nvPr/>
            </p:nvSpPr>
            <p:spPr bwMode="auto">
              <a:xfrm>
                <a:off x="3840" y="1200"/>
                <a:ext cx="1392" cy="960"/>
              </a:xfrm>
              <a:prstGeom prst="line">
                <a:avLst/>
              </a:prstGeom>
              <a:noFill/>
              <a:ln w="28575">
                <a:solidFill>
                  <a:srgbClr val="33CC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a:p>
            </p:txBody>
          </p:sp>
          <p:sp>
            <p:nvSpPr>
              <p:cNvPr id="39" name="Line 40">
                <a:extLst>
                  <a:ext uri="{FF2B5EF4-FFF2-40B4-BE49-F238E27FC236}">
                    <a16:creationId xmlns:a16="http://schemas.microsoft.com/office/drawing/2014/main" id="{6B9F3991-69BB-7647-A73A-189ED32DF562}"/>
                  </a:ext>
                </a:extLst>
              </p:cNvPr>
              <p:cNvSpPr>
                <a:spLocks noChangeShapeType="1"/>
              </p:cNvSpPr>
              <p:nvPr/>
            </p:nvSpPr>
            <p:spPr bwMode="auto">
              <a:xfrm>
                <a:off x="3840" y="1200"/>
                <a:ext cx="0" cy="864"/>
              </a:xfrm>
              <a:prstGeom prst="line">
                <a:avLst/>
              </a:prstGeom>
              <a:noFill/>
              <a:ln w="28575">
                <a:solidFill>
                  <a:srgbClr val="33CC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a:p>
            </p:txBody>
          </p:sp>
          <p:sp>
            <p:nvSpPr>
              <p:cNvPr id="40" name="Line 41">
                <a:extLst>
                  <a:ext uri="{FF2B5EF4-FFF2-40B4-BE49-F238E27FC236}">
                    <a16:creationId xmlns:a16="http://schemas.microsoft.com/office/drawing/2014/main" id="{FB41B60E-431A-914D-AE3F-86D8B083D0CD}"/>
                  </a:ext>
                </a:extLst>
              </p:cNvPr>
              <p:cNvSpPr>
                <a:spLocks noChangeShapeType="1"/>
              </p:cNvSpPr>
              <p:nvPr/>
            </p:nvSpPr>
            <p:spPr bwMode="auto">
              <a:xfrm>
                <a:off x="3840" y="2304"/>
                <a:ext cx="0" cy="432"/>
              </a:xfrm>
              <a:prstGeom prst="line">
                <a:avLst/>
              </a:prstGeom>
              <a:noFill/>
              <a:ln w="28575">
                <a:solidFill>
                  <a:srgbClr val="33CC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a:p>
            </p:txBody>
          </p:sp>
        </p:grpSp>
      </p:grpSp>
      <p:sp>
        <p:nvSpPr>
          <p:cNvPr id="42" name="矩形 41">
            <a:extLst>
              <a:ext uri="{FF2B5EF4-FFF2-40B4-BE49-F238E27FC236}">
                <a16:creationId xmlns:a16="http://schemas.microsoft.com/office/drawing/2014/main" id="{8A0FFF3E-BF37-6645-B185-B080EC8783FD}"/>
              </a:ext>
            </a:extLst>
          </p:cNvPr>
          <p:cNvSpPr/>
          <p:nvPr/>
        </p:nvSpPr>
        <p:spPr>
          <a:xfrm>
            <a:off x="8877737" y="5585298"/>
            <a:ext cx="1217933" cy="400110"/>
          </a:xfrm>
          <a:prstGeom prst="rect">
            <a:avLst/>
          </a:prstGeom>
        </p:spPr>
        <p:txBody>
          <a:bodyPr wrap="square">
            <a:spAutoFit/>
          </a:bodyPr>
          <a:lstStyle/>
          <a:p>
            <a:r>
              <a:rPr lang="en-US" altLang="zh-CN" sz="2000" dirty="0">
                <a:latin typeface="Microsoft YaHei" panose="020B0503020204020204" pitchFamily="34" charset="-122"/>
                <a:ea typeface="Microsoft YaHei" panose="020B0503020204020204" pitchFamily="34" charset="-122"/>
              </a:rPr>
              <a:t>Internet</a:t>
            </a:r>
            <a:endParaRPr lang="zh-CN" altLang="en-US" sz="2000" dirty="0"/>
          </a:p>
        </p:txBody>
      </p:sp>
      <p:sp>
        <p:nvSpPr>
          <p:cNvPr id="45" name="矩形 44">
            <a:extLst>
              <a:ext uri="{FF2B5EF4-FFF2-40B4-BE49-F238E27FC236}">
                <a16:creationId xmlns:a16="http://schemas.microsoft.com/office/drawing/2014/main" id="{55E7FDB0-F82E-A445-92B3-68E2530A3AD4}"/>
              </a:ext>
            </a:extLst>
          </p:cNvPr>
          <p:cNvSpPr/>
          <p:nvPr/>
        </p:nvSpPr>
        <p:spPr>
          <a:xfrm>
            <a:off x="9394176" y="2043643"/>
            <a:ext cx="1217933" cy="400110"/>
          </a:xfrm>
          <a:prstGeom prst="rect">
            <a:avLst/>
          </a:prstGeom>
        </p:spPr>
        <p:txBody>
          <a:bodyPr wrap="square">
            <a:spAutoFit/>
          </a:bodyPr>
          <a:lstStyle/>
          <a:p>
            <a:r>
              <a:rPr lang="en-US" altLang="zh-CN" sz="2000" dirty="0">
                <a:latin typeface="Microsoft YaHei" panose="020B0503020204020204" pitchFamily="34" charset="-122"/>
                <a:ea typeface="Microsoft YaHei" panose="020B0503020204020204" pitchFamily="34" charset="-122"/>
              </a:rPr>
              <a:t>Internet</a:t>
            </a:r>
            <a:endParaRPr lang="zh-CN" altLang="en-US" sz="2000" dirty="0"/>
          </a:p>
        </p:txBody>
      </p:sp>
      <p:sp>
        <p:nvSpPr>
          <p:cNvPr id="46" name="矩形 45">
            <a:extLst>
              <a:ext uri="{FF2B5EF4-FFF2-40B4-BE49-F238E27FC236}">
                <a16:creationId xmlns:a16="http://schemas.microsoft.com/office/drawing/2014/main" id="{2A88B9F7-80F2-A941-BC56-FF45B3727ACE}"/>
              </a:ext>
            </a:extLst>
          </p:cNvPr>
          <p:cNvSpPr/>
          <p:nvPr/>
        </p:nvSpPr>
        <p:spPr>
          <a:xfrm>
            <a:off x="10701204" y="3854629"/>
            <a:ext cx="759900" cy="400110"/>
          </a:xfrm>
          <a:prstGeom prst="rect">
            <a:avLst/>
          </a:prstGeom>
        </p:spPr>
        <p:txBody>
          <a:bodyPr wrap="square">
            <a:spAutoFit/>
          </a:bodyPr>
          <a:lstStyle/>
          <a:p>
            <a:r>
              <a:rPr lang="en-US" altLang="zh-CN" sz="2000" dirty="0">
                <a:latin typeface="Microsoft YaHei" panose="020B0503020204020204" pitchFamily="34" charset="-122"/>
                <a:ea typeface="Microsoft YaHei" panose="020B0503020204020204" pitchFamily="34" charset="-122"/>
              </a:rPr>
              <a:t>host</a:t>
            </a:r>
            <a:endParaRPr lang="zh-CN" altLang="en-US" sz="2000" dirty="0"/>
          </a:p>
        </p:txBody>
      </p:sp>
      <p:sp>
        <p:nvSpPr>
          <p:cNvPr id="47" name="矩形 46">
            <a:extLst>
              <a:ext uri="{FF2B5EF4-FFF2-40B4-BE49-F238E27FC236}">
                <a16:creationId xmlns:a16="http://schemas.microsoft.com/office/drawing/2014/main" id="{7119A1DE-5E23-904C-AA76-E0E8F9FF5BDD}"/>
              </a:ext>
            </a:extLst>
          </p:cNvPr>
          <p:cNvSpPr/>
          <p:nvPr/>
        </p:nvSpPr>
        <p:spPr>
          <a:xfrm>
            <a:off x="8636769" y="3824226"/>
            <a:ext cx="759900" cy="400110"/>
          </a:xfrm>
          <a:prstGeom prst="rect">
            <a:avLst/>
          </a:prstGeom>
        </p:spPr>
        <p:txBody>
          <a:bodyPr wrap="square">
            <a:spAutoFit/>
          </a:bodyPr>
          <a:lstStyle/>
          <a:p>
            <a:r>
              <a:rPr lang="en-US" altLang="zh-CN" sz="2000" dirty="0">
                <a:latin typeface="Microsoft YaHei" panose="020B0503020204020204" pitchFamily="34" charset="-122"/>
                <a:ea typeface="Microsoft YaHei" panose="020B0503020204020204" pitchFamily="34" charset="-122"/>
              </a:rPr>
              <a:t>host</a:t>
            </a:r>
            <a:endParaRPr lang="zh-CN" altLang="en-US" sz="2000" dirty="0"/>
          </a:p>
        </p:txBody>
      </p:sp>
      <p:grpSp>
        <p:nvGrpSpPr>
          <p:cNvPr id="71" name="组合 70">
            <a:extLst>
              <a:ext uri="{FF2B5EF4-FFF2-40B4-BE49-F238E27FC236}">
                <a16:creationId xmlns:a16="http://schemas.microsoft.com/office/drawing/2014/main" id="{02B04AB7-7996-8B41-9408-FE3FAE680963}"/>
              </a:ext>
            </a:extLst>
          </p:cNvPr>
          <p:cNvGrpSpPr/>
          <p:nvPr/>
        </p:nvGrpSpPr>
        <p:grpSpPr>
          <a:xfrm>
            <a:off x="1277331" y="1476299"/>
            <a:ext cx="5891974" cy="4675016"/>
            <a:chOff x="1505931" y="1457249"/>
            <a:chExt cx="5891974" cy="4675016"/>
          </a:xfrm>
        </p:grpSpPr>
        <p:grpSp>
          <p:nvGrpSpPr>
            <p:cNvPr id="60" name="组合 59">
              <a:extLst>
                <a:ext uri="{FF2B5EF4-FFF2-40B4-BE49-F238E27FC236}">
                  <a16:creationId xmlns:a16="http://schemas.microsoft.com/office/drawing/2014/main" id="{371C85BC-DD23-9B44-86BD-AEDB9A5E122D}"/>
                </a:ext>
              </a:extLst>
            </p:cNvPr>
            <p:cNvGrpSpPr/>
            <p:nvPr/>
          </p:nvGrpSpPr>
          <p:grpSpPr>
            <a:xfrm>
              <a:off x="1534348" y="3630442"/>
              <a:ext cx="900343" cy="900343"/>
              <a:chOff x="7525930" y="4366857"/>
              <a:chExt cx="720000" cy="720000"/>
            </a:xfrm>
          </p:grpSpPr>
          <p:sp>
            <p:nvSpPr>
              <p:cNvPr id="61" name="椭圆 60">
                <a:extLst>
                  <a:ext uri="{FF2B5EF4-FFF2-40B4-BE49-F238E27FC236}">
                    <a16:creationId xmlns:a16="http://schemas.microsoft.com/office/drawing/2014/main" id="{B157B4AE-5F71-1140-917A-482A1F42A5BD}"/>
                  </a:ext>
                </a:extLst>
              </p:cNvPr>
              <p:cNvSpPr>
                <a:spLocks noChangeAspect="1"/>
              </p:cNvSpPr>
              <p:nvPr/>
            </p:nvSpPr>
            <p:spPr>
              <a:xfrm>
                <a:off x="7525930" y="4366857"/>
                <a:ext cx="720000" cy="720000"/>
              </a:xfrm>
              <a:prstGeom prst="ellipse">
                <a:avLst/>
              </a:prstGeom>
              <a:noFill/>
              <a:ln w="25400" cap="flat" cmpd="sng" algn="ctr">
                <a:solidFill>
                  <a:srgbClr val="0070C0"/>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2" name="Freeform 36">
                <a:extLst>
                  <a:ext uri="{FF2B5EF4-FFF2-40B4-BE49-F238E27FC236}">
                    <a16:creationId xmlns:a16="http://schemas.microsoft.com/office/drawing/2014/main" id="{FE2D4AFC-E996-DF4F-84B7-B8391BA796CC}"/>
                  </a:ext>
                </a:extLst>
              </p:cNvPr>
              <p:cNvSpPr>
                <a:spLocks noEditPoints="1"/>
              </p:cNvSpPr>
              <p:nvPr/>
            </p:nvSpPr>
            <p:spPr bwMode="auto">
              <a:xfrm>
                <a:off x="7721624" y="4583895"/>
                <a:ext cx="328612" cy="285924"/>
              </a:xfrm>
              <a:custGeom>
                <a:avLst/>
                <a:gdLst>
                  <a:gd name="T0" fmla="*/ 2227 w 3277"/>
                  <a:gd name="T1" fmla="*/ 754 h 2854"/>
                  <a:gd name="T2" fmla="*/ 1177 w 3277"/>
                  <a:gd name="T3" fmla="*/ 1804 h 2854"/>
                  <a:gd name="T4" fmla="*/ 2227 w 3277"/>
                  <a:gd name="T5" fmla="*/ 2854 h 2854"/>
                  <a:gd name="T6" fmla="*/ 3277 w 3277"/>
                  <a:gd name="T7" fmla="*/ 1804 h 2854"/>
                  <a:gd name="T8" fmla="*/ 2227 w 3277"/>
                  <a:gd name="T9" fmla="*/ 754 h 2854"/>
                  <a:gd name="T10" fmla="*/ 2227 w 3277"/>
                  <a:gd name="T11" fmla="*/ 2602 h 2854"/>
                  <a:gd name="T12" fmla="*/ 1429 w 3277"/>
                  <a:gd name="T13" fmla="*/ 1804 h 2854"/>
                  <a:gd name="T14" fmla="*/ 2227 w 3277"/>
                  <a:gd name="T15" fmla="*/ 1006 h 2854"/>
                  <a:gd name="T16" fmla="*/ 3025 w 3277"/>
                  <a:gd name="T17" fmla="*/ 1804 h 2854"/>
                  <a:gd name="T18" fmla="*/ 2227 w 3277"/>
                  <a:gd name="T19" fmla="*/ 2602 h 2854"/>
                  <a:gd name="T20" fmla="*/ 126 w 3277"/>
                  <a:gd name="T21" fmla="*/ 2268 h 2854"/>
                  <a:gd name="T22" fmla="*/ 0 w 3277"/>
                  <a:gd name="T23" fmla="*/ 2394 h 2854"/>
                  <a:gd name="T24" fmla="*/ 126 w 3277"/>
                  <a:gd name="T25" fmla="*/ 2520 h 2854"/>
                  <a:gd name="T26" fmla="*/ 1100 w 3277"/>
                  <a:gd name="T27" fmla="*/ 2520 h 2854"/>
                  <a:gd name="T28" fmla="*/ 975 w 3277"/>
                  <a:gd name="T29" fmla="*/ 2268 h 2854"/>
                  <a:gd name="T30" fmla="*/ 126 w 3277"/>
                  <a:gd name="T31" fmla="*/ 2268 h 2854"/>
                  <a:gd name="T32" fmla="*/ 126 w 3277"/>
                  <a:gd name="T33" fmla="*/ 2268 h 2854"/>
                  <a:gd name="T34" fmla="*/ 126 w 3277"/>
                  <a:gd name="T35" fmla="*/ 252 h 2854"/>
                  <a:gd name="T36" fmla="*/ 2817 w 3277"/>
                  <a:gd name="T37" fmla="*/ 252 h 2854"/>
                  <a:gd name="T38" fmla="*/ 2943 w 3277"/>
                  <a:gd name="T39" fmla="*/ 126 h 2854"/>
                  <a:gd name="T40" fmla="*/ 2817 w 3277"/>
                  <a:gd name="T41" fmla="*/ 0 h 2854"/>
                  <a:gd name="T42" fmla="*/ 126 w 3277"/>
                  <a:gd name="T43" fmla="*/ 0 h 2854"/>
                  <a:gd name="T44" fmla="*/ 0 w 3277"/>
                  <a:gd name="T45" fmla="*/ 126 h 2854"/>
                  <a:gd name="T46" fmla="*/ 126 w 3277"/>
                  <a:gd name="T47" fmla="*/ 252 h 2854"/>
                  <a:gd name="T48" fmla="*/ 126 w 3277"/>
                  <a:gd name="T49" fmla="*/ 1764 h 2854"/>
                  <a:gd name="T50" fmla="*/ 893 w 3277"/>
                  <a:gd name="T51" fmla="*/ 1764 h 2854"/>
                  <a:gd name="T52" fmla="*/ 924 w 3277"/>
                  <a:gd name="T53" fmla="*/ 1512 h 2854"/>
                  <a:gd name="T54" fmla="*/ 126 w 3277"/>
                  <a:gd name="T55" fmla="*/ 1512 h 2854"/>
                  <a:gd name="T56" fmla="*/ 0 w 3277"/>
                  <a:gd name="T57" fmla="*/ 1638 h 2854"/>
                  <a:gd name="T58" fmla="*/ 126 w 3277"/>
                  <a:gd name="T59" fmla="*/ 1764 h 2854"/>
                  <a:gd name="T60" fmla="*/ 1399 w 3277"/>
                  <a:gd name="T61" fmla="*/ 756 h 2854"/>
                  <a:gd name="T62" fmla="*/ 126 w 3277"/>
                  <a:gd name="T63" fmla="*/ 756 h 2854"/>
                  <a:gd name="T64" fmla="*/ 0 w 3277"/>
                  <a:gd name="T65" fmla="*/ 882 h 2854"/>
                  <a:gd name="T66" fmla="*/ 126 w 3277"/>
                  <a:gd name="T67" fmla="*/ 1008 h 2854"/>
                  <a:gd name="T68" fmla="*/ 1155 w 3277"/>
                  <a:gd name="T69" fmla="*/ 1008 h 2854"/>
                  <a:gd name="T70" fmla="*/ 1399 w 3277"/>
                  <a:gd name="T71" fmla="*/ 756 h 2854"/>
                  <a:gd name="T72" fmla="*/ 1399 w 3277"/>
                  <a:gd name="T73" fmla="*/ 756 h 2854"/>
                  <a:gd name="T74" fmla="*/ 2596 w 3277"/>
                  <a:gd name="T75" fmla="*/ 1680 h 2854"/>
                  <a:gd name="T76" fmla="*/ 2353 w 3277"/>
                  <a:gd name="T77" fmla="*/ 1680 h 2854"/>
                  <a:gd name="T78" fmla="*/ 2353 w 3277"/>
                  <a:gd name="T79" fmla="*/ 1345 h 2854"/>
                  <a:gd name="T80" fmla="*/ 2227 w 3277"/>
                  <a:gd name="T81" fmla="*/ 1219 h 2854"/>
                  <a:gd name="T82" fmla="*/ 2101 w 3277"/>
                  <a:gd name="T83" fmla="*/ 1345 h 2854"/>
                  <a:gd name="T84" fmla="*/ 2101 w 3277"/>
                  <a:gd name="T85" fmla="*/ 1806 h 2854"/>
                  <a:gd name="T86" fmla="*/ 2227 w 3277"/>
                  <a:gd name="T87" fmla="*/ 1932 h 2854"/>
                  <a:gd name="T88" fmla="*/ 2596 w 3277"/>
                  <a:gd name="T89" fmla="*/ 1932 h 2854"/>
                  <a:gd name="T90" fmla="*/ 2722 w 3277"/>
                  <a:gd name="T91" fmla="*/ 1806 h 2854"/>
                  <a:gd name="T92" fmla="*/ 2596 w 3277"/>
                  <a:gd name="T93" fmla="*/ 1680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77" h="2854">
                    <a:moveTo>
                      <a:pt x="2227" y="754"/>
                    </a:moveTo>
                    <a:cubicBezTo>
                      <a:pt x="1648" y="754"/>
                      <a:pt x="1177" y="1225"/>
                      <a:pt x="1177" y="1804"/>
                    </a:cubicBezTo>
                    <a:cubicBezTo>
                      <a:pt x="1177" y="2383"/>
                      <a:pt x="1648" y="2854"/>
                      <a:pt x="2227" y="2854"/>
                    </a:cubicBezTo>
                    <a:cubicBezTo>
                      <a:pt x="2806" y="2854"/>
                      <a:pt x="3277" y="2383"/>
                      <a:pt x="3277" y="1804"/>
                    </a:cubicBezTo>
                    <a:cubicBezTo>
                      <a:pt x="3277" y="1225"/>
                      <a:pt x="2806" y="754"/>
                      <a:pt x="2227" y="754"/>
                    </a:cubicBezTo>
                    <a:close/>
                    <a:moveTo>
                      <a:pt x="2227" y="2602"/>
                    </a:moveTo>
                    <a:cubicBezTo>
                      <a:pt x="1787" y="2602"/>
                      <a:pt x="1429" y="2244"/>
                      <a:pt x="1429" y="1804"/>
                    </a:cubicBezTo>
                    <a:cubicBezTo>
                      <a:pt x="1429" y="1364"/>
                      <a:pt x="1787" y="1006"/>
                      <a:pt x="2227" y="1006"/>
                    </a:cubicBezTo>
                    <a:cubicBezTo>
                      <a:pt x="2667" y="1006"/>
                      <a:pt x="3025" y="1364"/>
                      <a:pt x="3025" y="1804"/>
                    </a:cubicBezTo>
                    <a:cubicBezTo>
                      <a:pt x="3025" y="2244"/>
                      <a:pt x="2667" y="2602"/>
                      <a:pt x="2227" y="2602"/>
                    </a:cubicBezTo>
                    <a:close/>
                    <a:moveTo>
                      <a:pt x="126" y="2268"/>
                    </a:moveTo>
                    <a:cubicBezTo>
                      <a:pt x="56" y="2268"/>
                      <a:pt x="0" y="2324"/>
                      <a:pt x="0" y="2394"/>
                    </a:cubicBezTo>
                    <a:cubicBezTo>
                      <a:pt x="0" y="2463"/>
                      <a:pt x="56" y="2520"/>
                      <a:pt x="126" y="2520"/>
                    </a:cubicBezTo>
                    <a:cubicBezTo>
                      <a:pt x="1100" y="2520"/>
                      <a:pt x="1100" y="2520"/>
                      <a:pt x="1100" y="2520"/>
                    </a:cubicBezTo>
                    <a:cubicBezTo>
                      <a:pt x="1050" y="2441"/>
                      <a:pt x="1008" y="2357"/>
                      <a:pt x="975" y="2268"/>
                    </a:cubicBezTo>
                    <a:cubicBezTo>
                      <a:pt x="126" y="2268"/>
                      <a:pt x="126" y="2268"/>
                      <a:pt x="126" y="2268"/>
                    </a:cubicBezTo>
                    <a:cubicBezTo>
                      <a:pt x="126" y="2268"/>
                      <a:pt x="126" y="2268"/>
                      <a:pt x="126" y="2268"/>
                    </a:cubicBezTo>
                    <a:close/>
                    <a:moveTo>
                      <a:pt x="126" y="252"/>
                    </a:moveTo>
                    <a:cubicBezTo>
                      <a:pt x="2817" y="252"/>
                      <a:pt x="2817" y="252"/>
                      <a:pt x="2817" y="252"/>
                    </a:cubicBezTo>
                    <a:cubicBezTo>
                      <a:pt x="2887" y="252"/>
                      <a:pt x="2943" y="196"/>
                      <a:pt x="2943" y="126"/>
                    </a:cubicBezTo>
                    <a:cubicBezTo>
                      <a:pt x="2943" y="56"/>
                      <a:pt x="2887" y="0"/>
                      <a:pt x="2817" y="0"/>
                    </a:cubicBezTo>
                    <a:cubicBezTo>
                      <a:pt x="126" y="0"/>
                      <a:pt x="126" y="0"/>
                      <a:pt x="126" y="0"/>
                    </a:cubicBezTo>
                    <a:cubicBezTo>
                      <a:pt x="56" y="0"/>
                      <a:pt x="0" y="56"/>
                      <a:pt x="0" y="126"/>
                    </a:cubicBezTo>
                    <a:cubicBezTo>
                      <a:pt x="0" y="196"/>
                      <a:pt x="56" y="252"/>
                      <a:pt x="126" y="252"/>
                    </a:cubicBezTo>
                    <a:close/>
                    <a:moveTo>
                      <a:pt x="126" y="1764"/>
                    </a:moveTo>
                    <a:cubicBezTo>
                      <a:pt x="893" y="1764"/>
                      <a:pt x="893" y="1764"/>
                      <a:pt x="893" y="1764"/>
                    </a:cubicBezTo>
                    <a:cubicBezTo>
                      <a:pt x="895" y="1678"/>
                      <a:pt x="905" y="1593"/>
                      <a:pt x="924" y="1512"/>
                    </a:cubicBezTo>
                    <a:cubicBezTo>
                      <a:pt x="126" y="1512"/>
                      <a:pt x="126" y="1512"/>
                      <a:pt x="126" y="1512"/>
                    </a:cubicBezTo>
                    <a:cubicBezTo>
                      <a:pt x="56" y="1512"/>
                      <a:pt x="0" y="1568"/>
                      <a:pt x="0" y="1638"/>
                    </a:cubicBezTo>
                    <a:cubicBezTo>
                      <a:pt x="0" y="1707"/>
                      <a:pt x="56" y="1764"/>
                      <a:pt x="126" y="1764"/>
                    </a:cubicBezTo>
                    <a:close/>
                    <a:moveTo>
                      <a:pt x="1399" y="756"/>
                    </a:moveTo>
                    <a:cubicBezTo>
                      <a:pt x="126" y="756"/>
                      <a:pt x="126" y="756"/>
                      <a:pt x="126" y="756"/>
                    </a:cubicBezTo>
                    <a:cubicBezTo>
                      <a:pt x="56" y="756"/>
                      <a:pt x="0" y="812"/>
                      <a:pt x="0" y="882"/>
                    </a:cubicBezTo>
                    <a:cubicBezTo>
                      <a:pt x="0" y="951"/>
                      <a:pt x="56" y="1008"/>
                      <a:pt x="126" y="1008"/>
                    </a:cubicBezTo>
                    <a:cubicBezTo>
                      <a:pt x="1155" y="1008"/>
                      <a:pt x="1155" y="1008"/>
                      <a:pt x="1155" y="1008"/>
                    </a:cubicBezTo>
                    <a:cubicBezTo>
                      <a:pt x="1225" y="914"/>
                      <a:pt x="1307" y="829"/>
                      <a:pt x="1399" y="756"/>
                    </a:cubicBezTo>
                    <a:cubicBezTo>
                      <a:pt x="1399" y="756"/>
                      <a:pt x="1399" y="756"/>
                      <a:pt x="1399" y="756"/>
                    </a:cubicBezTo>
                    <a:close/>
                    <a:moveTo>
                      <a:pt x="2596" y="1680"/>
                    </a:moveTo>
                    <a:cubicBezTo>
                      <a:pt x="2353" y="1680"/>
                      <a:pt x="2353" y="1680"/>
                      <a:pt x="2353" y="1680"/>
                    </a:cubicBezTo>
                    <a:cubicBezTo>
                      <a:pt x="2353" y="1345"/>
                      <a:pt x="2353" y="1345"/>
                      <a:pt x="2353" y="1345"/>
                    </a:cubicBezTo>
                    <a:cubicBezTo>
                      <a:pt x="2353" y="1275"/>
                      <a:pt x="2297" y="1219"/>
                      <a:pt x="2227" y="1219"/>
                    </a:cubicBezTo>
                    <a:cubicBezTo>
                      <a:pt x="2157" y="1219"/>
                      <a:pt x="2101" y="1275"/>
                      <a:pt x="2101" y="1345"/>
                    </a:cubicBezTo>
                    <a:cubicBezTo>
                      <a:pt x="2101" y="1806"/>
                      <a:pt x="2101" y="1806"/>
                      <a:pt x="2101" y="1806"/>
                    </a:cubicBezTo>
                    <a:cubicBezTo>
                      <a:pt x="2101" y="1876"/>
                      <a:pt x="2157" y="1932"/>
                      <a:pt x="2227" y="1932"/>
                    </a:cubicBezTo>
                    <a:cubicBezTo>
                      <a:pt x="2596" y="1932"/>
                      <a:pt x="2596" y="1932"/>
                      <a:pt x="2596" y="1932"/>
                    </a:cubicBezTo>
                    <a:cubicBezTo>
                      <a:pt x="2666" y="1932"/>
                      <a:pt x="2722" y="1876"/>
                      <a:pt x="2722" y="1806"/>
                    </a:cubicBezTo>
                    <a:cubicBezTo>
                      <a:pt x="2722" y="1737"/>
                      <a:pt x="2666" y="1680"/>
                      <a:pt x="2596" y="1680"/>
                    </a:cubicBezTo>
                    <a:close/>
                  </a:path>
                </a:pathLst>
              </a:custGeom>
              <a:solidFill>
                <a:srgbClr val="FFFFFF"/>
              </a:solidFill>
              <a:ln>
                <a:solidFill>
                  <a:srgbClr val="0070C0"/>
                </a:solidFill>
              </a:ln>
            </p:spPr>
            <p:txBody>
              <a:bodyPr vert="horz" wrap="square" lIns="91440" tIns="45720" rIns="91440" bIns="45720" numCol="1" anchor="t"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latin typeface="Arial Black" pitchFamily="34" charset="0"/>
                  <a:ea typeface="宋体" pitchFamily="2" charset="-122"/>
                </a:endParaRPr>
              </a:p>
            </p:txBody>
          </p:sp>
        </p:grpSp>
        <p:grpSp>
          <p:nvGrpSpPr>
            <p:cNvPr id="63" name="组合 62">
              <a:extLst>
                <a:ext uri="{FF2B5EF4-FFF2-40B4-BE49-F238E27FC236}">
                  <a16:creationId xmlns:a16="http://schemas.microsoft.com/office/drawing/2014/main" id="{6CAE4824-7116-C449-A00E-32E9F5E5D3D1}"/>
                </a:ext>
              </a:extLst>
            </p:cNvPr>
            <p:cNvGrpSpPr/>
            <p:nvPr/>
          </p:nvGrpSpPr>
          <p:grpSpPr>
            <a:xfrm>
              <a:off x="1534348" y="5128669"/>
              <a:ext cx="900343" cy="900343"/>
              <a:chOff x="7525930" y="5564981"/>
              <a:chExt cx="720000" cy="720000"/>
            </a:xfrm>
          </p:grpSpPr>
          <p:sp>
            <p:nvSpPr>
              <p:cNvPr id="64" name="椭圆 63">
                <a:extLst>
                  <a:ext uri="{FF2B5EF4-FFF2-40B4-BE49-F238E27FC236}">
                    <a16:creationId xmlns:a16="http://schemas.microsoft.com/office/drawing/2014/main" id="{E10E77B2-2494-B74F-9343-B71329033094}"/>
                  </a:ext>
                </a:extLst>
              </p:cNvPr>
              <p:cNvSpPr>
                <a:spLocks noChangeAspect="1"/>
              </p:cNvSpPr>
              <p:nvPr/>
            </p:nvSpPr>
            <p:spPr>
              <a:xfrm>
                <a:off x="7525930" y="5564981"/>
                <a:ext cx="720000" cy="720000"/>
              </a:xfrm>
              <a:prstGeom prst="ellipse">
                <a:avLst/>
              </a:prstGeom>
              <a:noFill/>
              <a:ln w="25400" cap="flat" cmpd="sng" algn="ctr">
                <a:solidFill>
                  <a:srgbClr val="0070C0"/>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5" name="Freeform 9">
                <a:extLst>
                  <a:ext uri="{FF2B5EF4-FFF2-40B4-BE49-F238E27FC236}">
                    <a16:creationId xmlns:a16="http://schemas.microsoft.com/office/drawing/2014/main" id="{14450A2C-6680-B44F-A292-A07329801A53}"/>
                  </a:ext>
                </a:extLst>
              </p:cNvPr>
              <p:cNvSpPr>
                <a:spLocks noEditPoints="1"/>
              </p:cNvSpPr>
              <p:nvPr/>
            </p:nvSpPr>
            <p:spPr bwMode="auto">
              <a:xfrm>
                <a:off x="7702633" y="5742447"/>
                <a:ext cx="374650" cy="355599"/>
              </a:xfrm>
              <a:custGeom>
                <a:avLst/>
                <a:gdLst>
                  <a:gd name="T0" fmla="*/ 2767 w 2790"/>
                  <a:gd name="T1" fmla="*/ 1015 h 2636"/>
                  <a:gd name="T2" fmla="*/ 2606 w 2790"/>
                  <a:gd name="T3" fmla="*/ 878 h 2636"/>
                  <a:gd name="T4" fmla="*/ 1894 w 2790"/>
                  <a:gd name="T5" fmla="*/ 753 h 2636"/>
                  <a:gd name="T6" fmla="*/ 1576 w 2790"/>
                  <a:gd name="T7" fmla="*/ 113 h 2636"/>
                  <a:gd name="T8" fmla="*/ 1395 w 2790"/>
                  <a:gd name="T9" fmla="*/ 0 h 2636"/>
                  <a:gd name="T10" fmla="*/ 1214 w 2790"/>
                  <a:gd name="T11" fmla="*/ 113 h 2636"/>
                  <a:gd name="T12" fmla="*/ 896 w 2790"/>
                  <a:gd name="T13" fmla="*/ 753 h 2636"/>
                  <a:gd name="T14" fmla="*/ 186 w 2790"/>
                  <a:gd name="T15" fmla="*/ 882 h 2636"/>
                  <a:gd name="T16" fmla="*/ 24 w 2790"/>
                  <a:gd name="T17" fmla="*/ 1019 h 2636"/>
                  <a:gd name="T18" fmla="*/ 76 w 2790"/>
                  <a:gd name="T19" fmla="*/ 1228 h 2636"/>
                  <a:gd name="T20" fmla="*/ 588 w 2790"/>
                  <a:gd name="T21" fmla="*/ 1700 h 2636"/>
                  <a:gd name="T22" fmla="*/ 454 w 2790"/>
                  <a:gd name="T23" fmla="*/ 2389 h 2636"/>
                  <a:gd name="T24" fmla="*/ 534 w 2790"/>
                  <a:gd name="T25" fmla="*/ 2586 h 2636"/>
                  <a:gd name="T26" fmla="*/ 745 w 2790"/>
                  <a:gd name="T27" fmla="*/ 2603 h 2636"/>
                  <a:gd name="T28" fmla="*/ 1395 w 2790"/>
                  <a:gd name="T29" fmla="*/ 2285 h 2636"/>
                  <a:gd name="T30" fmla="*/ 2040 w 2790"/>
                  <a:gd name="T31" fmla="*/ 2602 h 2636"/>
                  <a:gd name="T32" fmla="*/ 2133 w 2790"/>
                  <a:gd name="T33" fmla="*/ 2625 h 2636"/>
                  <a:gd name="T34" fmla="*/ 2133 w 2790"/>
                  <a:gd name="T35" fmla="*/ 2625 h 2636"/>
                  <a:gd name="T36" fmla="*/ 2252 w 2790"/>
                  <a:gd name="T37" fmla="*/ 2587 h 2636"/>
                  <a:gd name="T38" fmla="*/ 2332 w 2790"/>
                  <a:gd name="T39" fmla="*/ 2388 h 2636"/>
                  <a:gd name="T40" fmla="*/ 2203 w 2790"/>
                  <a:gd name="T41" fmla="*/ 1700 h 2636"/>
                  <a:gd name="T42" fmla="*/ 2716 w 2790"/>
                  <a:gd name="T43" fmla="*/ 1222 h 2636"/>
                  <a:gd name="T44" fmla="*/ 2767 w 2790"/>
                  <a:gd name="T45" fmla="*/ 1015 h 2636"/>
                  <a:gd name="T46" fmla="*/ 2767 w 2790"/>
                  <a:gd name="T47" fmla="*/ 1015 h 2636"/>
                  <a:gd name="T48" fmla="*/ 2653 w 2790"/>
                  <a:gd name="T49" fmla="*/ 1114 h 2636"/>
                  <a:gd name="T50" fmla="*/ 2068 w 2790"/>
                  <a:gd name="T51" fmla="*/ 1659 h 2636"/>
                  <a:gd name="T52" fmla="*/ 2216 w 2790"/>
                  <a:gd name="T53" fmla="*/ 2444 h 2636"/>
                  <a:gd name="T54" fmla="*/ 2190 w 2790"/>
                  <a:gd name="T55" fmla="*/ 2505 h 2636"/>
                  <a:gd name="T56" fmla="*/ 2123 w 2790"/>
                  <a:gd name="T57" fmla="*/ 2509 h 2636"/>
                  <a:gd name="T58" fmla="*/ 1395 w 2790"/>
                  <a:gd name="T59" fmla="*/ 2150 h 2636"/>
                  <a:gd name="T60" fmla="*/ 661 w 2790"/>
                  <a:gd name="T61" fmla="*/ 2510 h 2636"/>
                  <a:gd name="T62" fmla="*/ 595 w 2790"/>
                  <a:gd name="T63" fmla="*/ 2504 h 2636"/>
                  <a:gd name="T64" fmla="*/ 570 w 2790"/>
                  <a:gd name="T65" fmla="*/ 2446 h 2636"/>
                  <a:gd name="T66" fmla="*/ 723 w 2790"/>
                  <a:gd name="T67" fmla="*/ 1659 h 2636"/>
                  <a:gd name="T68" fmla="*/ 139 w 2790"/>
                  <a:gd name="T69" fmla="*/ 1120 h 2636"/>
                  <a:gd name="T70" fmla="*/ 124 w 2790"/>
                  <a:gd name="T71" fmla="*/ 1056 h 2636"/>
                  <a:gd name="T72" fmla="*/ 176 w 2790"/>
                  <a:gd name="T73" fmla="*/ 1013 h 2636"/>
                  <a:gd name="T74" fmla="*/ 980 w 2790"/>
                  <a:gd name="T75" fmla="*/ 867 h 2636"/>
                  <a:gd name="T76" fmla="*/ 1339 w 2790"/>
                  <a:gd name="T77" fmla="*/ 143 h 2636"/>
                  <a:gd name="T78" fmla="*/ 1450 w 2790"/>
                  <a:gd name="T79" fmla="*/ 143 h 2636"/>
                  <a:gd name="T80" fmla="*/ 1811 w 2790"/>
                  <a:gd name="T81" fmla="*/ 868 h 2636"/>
                  <a:gd name="T82" fmla="*/ 2617 w 2790"/>
                  <a:gd name="T83" fmla="*/ 1009 h 2636"/>
                  <a:gd name="T84" fmla="*/ 2667 w 2790"/>
                  <a:gd name="T85" fmla="*/ 1052 h 2636"/>
                  <a:gd name="T86" fmla="*/ 2653 w 2790"/>
                  <a:gd name="T87" fmla="*/ 1114 h 2636"/>
                  <a:gd name="T88" fmla="*/ 2653 w 2790"/>
                  <a:gd name="T89" fmla="*/ 1114 h 2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790" h="2636">
                    <a:moveTo>
                      <a:pt x="2767" y="1015"/>
                    </a:moveTo>
                    <a:cubicBezTo>
                      <a:pt x="2743" y="942"/>
                      <a:pt x="2681" y="889"/>
                      <a:pt x="2606" y="878"/>
                    </a:cubicBezTo>
                    <a:cubicBezTo>
                      <a:pt x="1894" y="753"/>
                      <a:pt x="1894" y="753"/>
                      <a:pt x="1894" y="753"/>
                    </a:cubicBezTo>
                    <a:cubicBezTo>
                      <a:pt x="1576" y="113"/>
                      <a:pt x="1576" y="113"/>
                      <a:pt x="1576" y="113"/>
                    </a:cubicBezTo>
                    <a:cubicBezTo>
                      <a:pt x="1543" y="44"/>
                      <a:pt x="1472" y="0"/>
                      <a:pt x="1395" y="0"/>
                    </a:cubicBezTo>
                    <a:cubicBezTo>
                      <a:pt x="1318" y="0"/>
                      <a:pt x="1249" y="43"/>
                      <a:pt x="1214" y="113"/>
                    </a:cubicBezTo>
                    <a:cubicBezTo>
                      <a:pt x="896" y="753"/>
                      <a:pt x="896" y="753"/>
                      <a:pt x="896" y="753"/>
                    </a:cubicBezTo>
                    <a:cubicBezTo>
                      <a:pt x="186" y="882"/>
                      <a:pt x="186" y="882"/>
                      <a:pt x="186" y="882"/>
                    </a:cubicBezTo>
                    <a:cubicBezTo>
                      <a:pt x="109" y="893"/>
                      <a:pt x="47" y="946"/>
                      <a:pt x="24" y="1019"/>
                    </a:cubicBezTo>
                    <a:cubicBezTo>
                      <a:pt x="0" y="1092"/>
                      <a:pt x="20" y="1173"/>
                      <a:pt x="76" y="1228"/>
                    </a:cubicBezTo>
                    <a:cubicBezTo>
                      <a:pt x="588" y="1700"/>
                      <a:pt x="588" y="1700"/>
                      <a:pt x="588" y="1700"/>
                    </a:cubicBezTo>
                    <a:cubicBezTo>
                      <a:pt x="454" y="2389"/>
                      <a:pt x="454" y="2389"/>
                      <a:pt x="454" y="2389"/>
                    </a:cubicBezTo>
                    <a:cubicBezTo>
                      <a:pt x="441" y="2465"/>
                      <a:pt x="473" y="2542"/>
                      <a:pt x="534" y="2586"/>
                    </a:cubicBezTo>
                    <a:cubicBezTo>
                      <a:pt x="595" y="2630"/>
                      <a:pt x="682" y="2636"/>
                      <a:pt x="745" y="2603"/>
                    </a:cubicBezTo>
                    <a:cubicBezTo>
                      <a:pt x="1395" y="2285"/>
                      <a:pt x="1395" y="2285"/>
                      <a:pt x="1395" y="2285"/>
                    </a:cubicBezTo>
                    <a:cubicBezTo>
                      <a:pt x="2040" y="2602"/>
                      <a:pt x="2040" y="2602"/>
                      <a:pt x="2040" y="2602"/>
                    </a:cubicBezTo>
                    <a:cubicBezTo>
                      <a:pt x="2069" y="2617"/>
                      <a:pt x="2101" y="2625"/>
                      <a:pt x="2133" y="2625"/>
                    </a:cubicBezTo>
                    <a:cubicBezTo>
                      <a:pt x="2133" y="2625"/>
                      <a:pt x="2133" y="2625"/>
                      <a:pt x="2133" y="2625"/>
                    </a:cubicBezTo>
                    <a:cubicBezTo>
                      <a:pt x="2176" y="2625"/>
                      <a:pt x="2218" y="2611"/>
                      <a:pt x="2252" y="2587"/>
                    </a:cubicBezTo>
                    <a:cubicBezTo>
                      <a:pt x="2314" y="2542"/>
                      <a:pt x="2346" y="2464"/>
                      <a:pt x="2332" y="2388"/>
                    </a:cubicBezTo>
                    <a:cubicBezTo>
                      <a:pt x="2203" y="1700"/>
                      <a:pt x="2203" y="1700"/>
                      <a:pt x="2203" y="1700"/>
                    </a:cubicBezTo>
                    <a:cubicBezTo>
                      <a:pt x="2716" y="1222"/>
                      <a:pt x="2716" y="1222"/>
                      <a:pt x="2716" y="1222"/>
                    </a:cubicBezTo>
                    <a:cubicBezTo>
                      <a:pt x="2770" y="1168"/>
                      <a:pt x="2790" y="1087"/>
                      <a:pt x="2767" y="1015"/>
                    </a:cubicBezTo>
                    <a:cubicBezTo>
                      <a:pt x="2767" y="1015"/>
                      <a:pt x="2767" y="1015"/>
                      <a:pt x="2767" y="1015"/>
                    </a:cubicBezTo>
                    <a:close/>
                    <a:moveTo>
                      <a:pt x="2653" y="1114"/>
                    </a:moveTo>
                    <a:cubicBezTo>
                      <a:pt x="2068" y="1659"/>
                      <a:pt x="2068" y="1659"/>
                      <a:pt x="2068" y="1659"/>
                    </a:cubicBezTo>
                    <a:cubicBezTo>
                      <a:pt x="2216" y="2444"/>
                      <a:pt x="2216" y="2444"/>
                      <a:pt x="2216" y="2444"/>
                    </a:cubicBezTo>
                    <a:cubicBezTo>
                      <a:pt x="2220" y="2467"/>
                      <a:pt x="2210" y="2491"/>
                      <a:pt x="2190" y="2505"/>
                    </a:cubicBezTo>
                    <a:cubicBezTo>
                      <a:pt x="2171" y="2518"/>
                      <a:pt x="2147" y="2521"/>
                      <a:pt x="2123" y="2509"/>
                    </a:cubicBezTo>
                    <a:cubicBezTo>
                      <a:pt x="1395" y="2150"/>
                      <a:pt x="1395" y="2150"/>
                      <a:pt x="1395" y="2150"/>
                    </a:cubicBezTo>
                    <a:cubicBezTo>
                      <a:pt x="661" y="2510"/>
                      <a:pt x="661" y="2510"/>
                      <a:pt x="661" y="2510"/>
                    </a:cubicBezTo>
                    <a:cubicBezTo>
                      <a:pt x="640" y="2521"/>
                      <a:pt x="615" y="2519"/>
                      <a:pt x="595" y="2504"/>
                    </a:cubicBezTo>
                    <a:cubicBezTo>
                      <a:pt x="576" y="2491"/>
                      <a:pt x="566" y="2467"/>
                      <a:pt x="570" y="2446"/>
                    </a:cubicBezTo>
                    <a:cubicBezTo>
                      <a:pt x="723" y="1659"/>
                      <a:pt x="723" y="1659"/>
                      <a:pt x="723" y="1659"/>
                    </a:cubicBezTo>
                    <a:cubicBezTo>
                      <a:pt x="139" y="1120"/>
                      <a:pt x="139" y="1120"/>
                      <a:pt x="139" y="1120"/>
                    </a:cubicBezTo>
                    <a:cubicBezTo>
                      <a:pt x="122" y="1103"/>
                      <a:pt x="116" y="1079"/>
                      <a:pt x="124" y="1056"/>
                    </a:cubicBezTo>
                    <a:cubicBezTo>
                      <a:pt x="131" y="1033"/>
                      <a:pt x="150" y="1017"/>
                      <a:pt x="176" y="1013"/>
                    </a:cubicBezTo>
                    <a:cubicBezTo>
                      <a:pt x="980" y="867"/>
                      <a:pt x="980" y="867"/>
                      <a:pt x="980" y="867"/>
                    </a:cubicBezTo>
                    <a:cubicBezTo>
                      <a:pt x="1339" y="143"/>
                      <a:pt x="1339" y="143"/>
                      <a:pt x="1339" y="143"/>
                    </a:cubicBezTo>
                    <a:cubicBezTo>
                      <a:pt x="1361" y="100"/>
                      <a:pt x="1430" y="100"/>
                      <a:pt x="1450" y="143"/>
                    </a:cubicBezTo>
                    <a:cubicBezTo>
                      <a:pt x="1811" y="868"/>
                      <a:pt x="1811" y="868"/>
                      <a:pt x="1811" y="868"/>
                    </a:cubicBezTo>
                    <a:cubicBezTo>
                      <a:pt x="2617" y="1009"/>
                      <a:pt x="2617" y="1009"/>
                      <a:pt x="2617" y="1009"/>
                    </a:cubicBezTo>
                    <a:cubicBezTo>
                      <a:pt x="2640" y="1012"/>
                      <a:pt x="2660" y="1029"/>
                      <a:pt x="2667" y="1052"/>
                    </a:cubicBezTo>
                    <a:cubicBezTo>
                      <a:pt x="2674" y="1074"/>
                      <a:pt x="2668" y="1099"/>
                      <a:pt x="2653" y="1114"/>
                    </a:cubicBezTo>
                    <a:cubicBezTo>
                      <a:pt x="2653" y="1114"/>
                      <a:pt x="2653" y="1114"/>
                      <a:pt x="2653" y="1114"/>
                    </a:cubicBezTo>
                    <a:close/>
                  </a:path>
                </a:pathLst>
              </a:custGeom>
              <a:solidFill>
                <a:srgbClr val="FFFFFF"/>
              </a:solidFill>
              <a:ln>
                <a:solidFill>
                  <a:srgbClr val="0070C0"/>
                </a:solidFill>
              </a:ln>
            </p:spPr>
            <p:txBody>
              <a:bodyPr vert="horz" wrap="square" lIns="91440" tIns="45720" rIns="91440" bIns="45720" numCol="1" anchor="t"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latin typeface="Arial Black" pitchFamily="34" charset="0"/>
                  <a:ea typeface="宋体" pitchFamily="2" charset="-122"/>
                </a:endParaRPr>
              </a:p>
            </p:txBody>
          </p:sp>
          <p:sp>
            <p:nvSpPr>
              <p:cNvPr id="66" name="Freeform 10">
                <a:extLst>
                  <a:ext uri="{FF2B5EF4-FFF2-40B4-BE49-F238E27FC236}">
                    <a16:creationId xmlns:a16="http://schemas.microsoft.com/office/drawing/2014/main" id="{9E13D912-F908-1841-B2BD-0006B09DD499}"/>
                  </a:ext>
                </a:extLst>
              </p:cNvPr>
              <p:cNvSpPr>
                <a:spLocks/>
              </p:cNvSpPr>
              <p:nvPr/>
            </p:nvSpPr>
            <p:spPr bwMode="auto">
              <a:xfrm>
                <a:off x="7722781" y="6118684"/>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latin typeface="Arial Black" pitchFamily="34" charset="0"/>
                  <a:ea typeface="宋体" pitchFamily="2" charset="-122"/>
                </a:endParaRPr>
              </a:p>
            </p:txBody>
          </p:sp>
        </p:grpSp>
        <p:sp>
          <p:nvSpPr>
            <p:cNvPr id="67" name="TextBox 81">
              <a:extLst>
                <a:ext uri="{FF2B5EF4-FFF2-40B4-BE49-F238E27FC236}">
                  <a16:creationId xmlns:a16="http://schemas.microsoft.com/office/drawing/2014/main" id="{DD2C8E69-0EFF-0549-AC52-E8131670A581}"/>
                </a:ext>
              </a:extLst>
            </p:cNvPr>
            <p:cNvSpPr txBox="1"/>
            <p:nvPr/>
          </p:nvSpPr>
          <p:spPr>
            <a:xfrm>
              <a:off x="2580385" y="3630442"/>
              <a:ext cx="4817520" cy="1036608"/>
            </a:xfrm>
            <a:prstGeom prst="rect">
              <a:avLst/>
            </a:prstGeom>
            <a:noFill/>
            <a:ln>
              <a:noFill/>
            </a:ln>
          </p:spPr>
          <p:txBody>
            <a:bodyPr wrap="square" lIns="121963" tIns="60981" rIns="121963" bIns="60981" rtlCol="0">
              <a:spAutoFit/>
            </a:bodyPr>
            <a:lstStyle/>
            <a:p>
              <a:pPr eaLnBrk="0" fontAlgn="base" hangingPunct="0">
                <a:lnSpc>
                  <a:spcPct val="130000"/>
                </a:lnSpc>
                <a:spcBef>
                  <a:spcPct val="0"/>
                </a:spcBef>
                <a:spcAft>
                  <a:spcPct val="0"/>
                </a:spcAft>
              </a:pPr>
              <a:r>
                <a:rPr lang="zh-CN" altLang="en-US" sz="2400" dirty="0">
                  <a:solidFill>
                    <a:srgbClr val="000000"/>
                  </a:solidFill>
                  <a:latin typeface="微软雅黑" panose="020B0503020204020204" pitchFamily="34" charset="-122"/>
                  <a:ea typeface="微软雅黑" panose="020B0503020204020204" pitchFamily="34" charset="-122"/>
                </a:rPr>
                <a:t>拓撲發現，路由等功能完全由應用層完成，不依賴網絡層</a:t>
              </a:r>
            </a:p>
          </p:txBody>
        </p:sp>
        <p:sp>
          <p:nvSpPr>
            <p:cNvPr id="68" name="TextBox 81">
              <a:extLst>
                <a:ext uri="{FF2B5EF4-FFF2-40B4-BE49-F238E27FC236}">
                  <a16:creationId xmlns:a16="http://schemas.microsoft.com/office/drawing/2014/main" id="{855A4622-A4E7-8E43-B863-48A44864E4E5}"/>
                </a:ext>
              </a:extLst>
            </p:cNvPr>
            <p:cNvSpPr txBox="1"/>
            <p:nvPr/>
          </p:nvSpPr>
          <p:spPr>
            <a:xfrm>
              <a:off x="2633992" y="5095657"/>
              <a:ext cx="4757408" cy="1036608"/>
            </a:xfrm>
            <a:prstGeom prst="rect">
              <a:avLst/>
            </a:prstGeom>
            <a:noFill/>
            <a:ln>
              <a:noFill/>
            </a:ln>
          </p:spPr>
          <p:txBody>
            <a:bodyPr wrap="square" lIns="121963" tIns="60981" rIns="121963" bIns="60981" rtlCol="0">
              <a:spAutoFit/>
            </a:bodyPr>
            <a:lstStyle/>
            <a:p>
              <a:pPr eaLnBrk="0" fontAlgn="base" hangingPunct="0">
                <a:lnSpc>
                  <a:spcPct val="130000"/>
                </a:lnSpc>
                <a:spcBef>
                  <a:spcPct val="0"/>
                </a:spcBef>
                <a:spcAft>
                  <a:spcPct val="0"/>
                </a:spcAft>
              </a:pPr>
              <a:r>
                <a:rPr lang="zh-CN" altLang="en-US" sz="2400" dirty="0">
                  <a:solidFill>
                    <a:srgbClr val="000000"/>
                  </a:solidFill>
                  <a:latin typeface="微软雅黑" panose="020B0503020204020204" pitchFamily="34" charset="-122"/>
                  <a:ea typeface="微软雅黑" panose="020B0503020204020204" pitchFamily="34" charset="-122"/>
                </a:rPr>
                <a:t>基于</a:t>
              </a:r>
              <a:r>
                <a:rPr lang="en-US" altLang="zh-CN" sz="2400" dirty="0">
                  <a:solidFill>
                    <a:srgbClr val="000000"/>
                  </a:solidFill>
                  <a:latin typeface="微软雅黑" panose="020B0503020204020204" pitchFamily="34" charset="-122"/>
                  <a:ea typeface="微软雅黑" panose="020B0503020204020204" pitchFamily="34" charset="-122"/>
                </a:rPr>
                <a:t>Internet</a:t>
              </a:r>
              <a:r>
                <a:rPr lang="zh-CN" altLang="en-US" sz="2400" dirty="0">
                  <a:solidFill>
                    <a:srgbClr val="000000"/>
                  </a:solidFill>
                  <a:latin typeface="微软雅黑" panose="020B0503020204020204" pitchFamily="34" charset="-122"/>
                  <a:ea typeface="微软雅黑" panose="020B0503020204020204" pitchFamily="34" charset="-122"/>
                </a:rPr>
                <a:t>網絡的大規模分布式應用</a:t>
              </a:r>
            </a:p>
          </p:txBody>
        </p:sp>
        <p:sp>
          <p:nvSpPr>
            <p:cNvPr id="69" name="文本框 68">
              <a:extLst>
                <a:ext uri="{FF2B5EF4-FFF2-40B4-BE49-F238E27FC236}">
                  <a16:creationId xmlns:a16="http://schemas.microsoft.com/office/drawing/2014/main" id="{20A0E5F6-9B02-324E-9A03-AB51B7762179}"/>
                </a:ext>
              </a:extLst>
            </p:cNvPr>
            <p:cNvSpPr txBox="1"/>
            <p:nvPr/>
          </p:nvSpPr>
          <p:spPr>
            <a:xfrm>
              <a:off x="1505931" y="1457249"/>
              <a:ext cx="5535693" cy="1661352"/>
            </a:xfrm>
            <a:prstGeom prst="rect">
              <a:avLst/>
            </a:prstGeom>
            <a:noFill/>
          </p:spPr>
          <p:txBody>
            <a:bodyPr wrap="square">
              <a:spAutoFit/>
            </a:bodyPr>
            <a:lstStyle/>
            <a:p>
              <a:pPr algn="ctr" fontAlgn="base">
                <a:lnSpc>
                  <a:spcPct val="140000"/>
                </a:lnSpc>
                <a:spcBef>
                  <a:spcPct val="20000"/>
                </a:spcBef>
                <a:spcAft>
                  <a:spcPct val="0"/>
                </a:spcAft>
                <a:buClr>
                  <a:srgbClr val="3333CC"/>
                </a:buClr>
                <a:buSzPct val="85000"/>
                <a:defRPr/>
              </a:pPr>
              <a:r>
                <a:rPr lang="en-US" altLang="zh-CN" sz="2400" b="1" dirty="0">
                  <a:solidFill>
                    <a:srgbClr val="C00000"/>
                  </a:solidFill>
                  <a:latin typeface="微软雅黑" panose="020B0503020204020204" pitchFamily="34" charset="-122"/>
                  <a:ea typeface="微软雅黑" panose="020B0503020204020204" pitchFamily="34" charset="-122"/>
                </a:rPr>
                <a:t>Overlay Network</a:t>
              </a:r>
            </a:p>
            <a:p>
              <a:pPr algn="ctr" fontAlgn="base">
                <a:lnSpc>
                  <a:spcPct val="140000"/>
                </a:lnSpc>
                <a:spcBef>
                  <a:spcPct val="20000"/>
                </a:spcBef>
                <a:spcAft>
                  <a:spcPct val="0"/>
                </a:spcAft>
                <a:buClr>
                  <a:srgbClr val="3333CC"/>
                </a:buClr>
                <a:buSzPct val="85000"/>
                <a:defRPr/>
              </a:pPr>
              <a:r>
                <a:rPr lang="zh-CN" altLang="en-US" sz="2400" dirty="0">
                  <a:solidFill>
                    <a:srgbClr val="000000"/>
                  </a:solidFill>
                  <a:latin typeface="微软雅黑" panose="020B0503020204020204" pitchFamily="34" charset="-122"/>
                  <a:ea typeface="微软雅黑" panose="020B0503020204020204" pitchFamily="34" charset="-122"/>
                </a:rPr>
                <a:t>現有</a:t>
              </a:r>
              <a:r>
                <a:rPr lang="en-US" altLang="zh-CN" sz="2400" dirty="0">
                  <a:solidFill>
                    <a:srgbClr val="000000"/>
                  </a:solidFill>
                  <a:latin typeface="微软雅黑" panose="020B0503020204020204" pitchFamily="34" charset="-122"/>
                  <a:ea typeface="微软雅黑" panose="020B0503020204020204" pitchFamily="34" charset="-122"/>
                </a:rPr>
                <a:t>Internet</a:t>
              </a:r>
              <a:r>
                <a:rPr lang="zh-CN" altLang="en-US" sz="2400" dirty="0">
                  <a:solidFill>
                    <a:srgbClr val="000000"/>
                  </a:solidFill>
                  <a:latin typeface="微软雅黑" panose="020B0503020204020204" pitchFamily="34" charset="-122"/>
                  <a:ea typeface="微软雅黑" panose="020B0503020204020204" pitchFamily="34" charset="-122"/>
                </a:rPr>
                <a:t>網絡上構建一個完全位于應用層的網絡系統</a:t>
              </a:r>
            </a:p>
          </p:txBody>
        </p:sp>
      </p:grpSp>
      <p:sp>
        <p:nvSpPr>
          <p:cNvPr id="58" name="灯片编号占位符 2">
            <a:extLst>
              <a:ext uri="{FF2B5EF4-FFF2-40B4-BE49-F238E27FC236}">
                <a16:creationId xmlns:a16="http://schemas.microsoft.com/office/drawing/2014/main" id="{565EF57B-F676-9048-A32A-06E5E0ACF53B}"/>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28</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6197748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彈性覆蓋網絡</a:t>
            </a:r>
            <a:r>
              <a:rPr kumimoji="1" lang="en-US" altLang="zh-CN" dirty="0"/>
              <a:t>RON</a:t>
            </a:r>
            <a:endParaRPr kumimoji="1" lang="zh-CN" altLang="en-US" dirty="0"/>
          </a:p>
        </p:txBody>
      </p:sp>
      <p:sp>
        <p:nvSpPr>
          <p:cNvPr id="45" name="Rectangle 3">
            <a:extLst>
              <a:ext uri="{FF2B5EF4-FFF2-40B4-BE49-F238E27FC236}">
                <a16:creationId xmlns:a16="http://schemas.microsoft.com/office/drawing/2014/main" id="{C20831CE-2E72-184D-97A4-11D305B7267A}"/>
              </a:ext>
            </a:extLst>
          </p:cNvPr>
          <p:cNvSpPr txBox="1">
            <a:spLocks noChangeArrowheads="1"/>
          </p:cNvSpPr>
          <p:nvPr/>
        </p:nvSpPr>
        <p:spPr>
          <a:xfrm>
            <a:off x="670316" y="1124744"/>
            <a:ext cx="4537243" cy="3884578"/>
          </a:xfrm>
          <a:prstGeom prst="rect">
            <a:avLst/>
          </a:prstGeom>
          <a:ln>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3600"/>
              </a:lnSpc>
              <a:spcBef>
                <a:spcPct val="20000"/>
              </a:spcBef>
              <a:buClr>
                <a:schemeClr val="tx1"/>
              </a:buClr>
              <a:buSzPct val="100000"/>
            </a:pPr>
            <a:r>
              <a:rPr lang="zh-CN" altLang="en-US" sz="2400" dirty="0">
                <a:latin typeface="Microsoft YaHei" panose="020B0503020204020204" pitchFamily="34" charset="-122"/>
                <a:ea typeface="Microsoft YaHei" panose="020B0503020204020204" pitchFamily="34" charset="-122"/>
              </a:rPr>
              <a:t>彈性覆蓋網絡是一種分布式覆蓋網絡體系結構，它可以使分布式應用檢測到</a:t>
            </a:r>
            <a:r>
              <a:rPr lang="zh-CN" altLang="en-US" sz="2400" b="1" dirty="0">
                <a:solidFill>
                  <a:srgbClr val="C00000"/>
                </a:solidFill>
                <a:latin typeface="Microsoft YaHei" panose="020B0503020204020204" pitchFamily="34" charset="-122"/>
                <a:ea typeface="Microsoft YaHei" panose="020B0503020204020204" pitchFamily="34" charset="-122"/>
              </a:rPr>
              <a:t>路徑的失效和周期性的性能降低現象</a:t>
            </a:r>
            <a:r>
              <a:rPr lang="zh-CN" altLang="en-US" sz="2400" dirty="0">
                <a:latin typeface="Microsoft YaHei" panose="020B0503020204020204" pitchFamily="34" charset="-122"/>
                <a:ea typeface="Microsoft YaHei" panose="020B0503020204020204" pitchFamily="34" charset="-122"/>
              </a:rPr>
              <a:t>幷能够迅速恢復</a:t>
            </a:r>
          </a:p>
          <a:p>
            <a:pPr marL="686700" lvl="1" indent="-342900">
              <a:lnSpc>
                <a:spcPts val="3600"/>
              </a:lnSpc>
              <a:spcBef>
                <a:spcPct val="20000"/>
              </a:spcBef>
              <a:buClr>
                <a:schemeClr val="tx1"/>
              </a:buClr>
              <a:buSzPct val="100000"/>
            </a:pPr>
            <a:r>
              <a:rPr lang="zh-CN" altLang="en-US" dirty="0">
                <a:latin typeface="Microsoft YaHei" panose="020B0503020204020204" pitchFamily="34" charset="-122"/>
                <a:ea typeface="Microsoft YaHei" panose="020B0503020204020204" pitchFamily="34" charset="-122"/>
              </a:rPr>
              <a:t>恢復時間少于</a:t>
            </a:r>
            <a:r>
              <a:rPr lang="en-US" altLang="zh-CN" dirty="0">
                <a:latin typeface="Microsoft YaHei" panose="020B0503020204020204" pitchFamily="34" charset="-122"/>
                <a:ea typeface="Microsoft YaHei" panose="020B0503020204020204" pitchFamily="34" charset="-122"/>
              </a:rPr>
              <a:t>20</a:t>
            </a:r>
            <a:r>
              <a:rPr lang="zh-CN" altLang="en-US" dirty="0">
                <a:latin typeface="Microsoft YaHei" panose="020B0503020204020204" pitchFamily="34" charset="-122"/>
                <a:ea typeface="Microsoft YaHei" panose="020B0503020204020204" pitchFamily="34" charset="-122"/>
              </a:rPr>
              <a:t>秒</a:t>
            </a:r>
          </a:p>
          <a:p>
            <a:pPr marL="686700" lvl="1" indent="-342900">
              <a:lnSpc>
                <a:spcPts val="3600"/>
              </a:lnSpc>
              <a:spcBef>
                <a:spcPct val="20000"/>
              </a:spcBef>
              <a:buClr>
                <a:schemeClr val="tx1"/>
              </a:buClr>
              <a:buSzPct val="100000"/>
            </a:pPr>
            <a:r>
              <a:rPr lang="zh-CN" altLang="en-US" b="1" dirty="0">
                <a:solidFill>
                  <a:srgbClr val="C00000"/>
                </a:solidFill>
                <a:latin typeface="Microsoft YaHei" panose="020B0503020204020204" pitchFamily="34" charset="-122"/>
                <a:ea typeface="Microsoft YaHei" panose="020B0503020204020204" pitchFamily="34" charset="-122"/>
              </a:rPr>
              <a:t>對比：</a:t>
            </a:r>
            <a:r>
              <a:rPr lang="zh-CN" altLang="en-US" dirty="0">
                <a:latin typeface="Microsoft YaHei" panose="020B0503020204020204" pitchFamily="34" charset="-122"/>
                <a:ea typeface="Microsoft YaHei" panose="020B0503020204020204" pitchFamily="34" charset="-122"/>
              </a:rPr>
              <a:t>在目前的</a:t>
            </a:r>
            <a:r>
              <a:rPr lang="en-US" altLang="zh-CN" dirty="0">
                <a:latin typeface="Microsoft YaHei" panose="020B0503020204020204" pitchFamily="34" charset="-122"/>
                <a:ea typeface="Microsoft YaHei" panose="020B0503020204020204" pitchFamily="34" charset="-122"/>
              </a:rPr>
              <a:t>Internet</a:t>
            </a:r>
            <a:r>
              <a:rPr lang="zh-CN" altLang="en-US" dirty="0">
                <a:latin typeface="Microsoft YaHei" panose="020B0503020204020204" pitchFamily="34" charset="-122"/>
                <a:ea typeface="Microsoft YaHei" panose="020B0503020204020204" pitchFamily="34" charset="-122"/>
              </a:rPr>
              <a:t>中，</a:t>
            </a:r>
            <a:r>
              <a:rPr lang="en-US" altLang="zh-CN" dirty="0">
                <a:latin typeface="Microsoft YaHei" panose="020B0503020204020204" pitchFamily="34" charset="-122"/>
                <a:ea typeface="Microsoft YaHei" panose="020B0503020204020204" pitchFamily="34" charset="-122"/>
              </a:rPr>
              <a:t>BGP</a:t>
            </a:r>
            <a:r>
              <a:rPr lang="zh-CN" altLang="en-US" dirty="0">
                <a:latin typeface="Microsoft YaHei" panose="020B0503020204020204" pitchFamily="34" charset="-122"/>
                <a:ea typeface="Microsoft YaHei" panose="020B0503020204020204" pitchFamily="34" charset="-122"/>
              </a:rPr>
              <a:t>恢復時間爲幾分鐘</a:t>
            </a:r>
          </a:p>
        </p:txBody>
      </p:sp>
      <p:grpSp>
        <p:nvGrpSpPr>
          <p:cNvPr id="113" name="组合 112">
            <a:extLst>
              <a:ext uri="{FF2B5EF4-FFF2-40B4-BE49-F238E27FC236}">
                <a16:creationId xmlns:a16="http://schemas.microsoft.com/office/drawing/2014/main" id="{FC895DF5-724D-C84B-AF2F-EF2DF589FA31}"/>
              </a:ext>
            </a:extLst>
          </p:cNvPr>
          <p:cNvGrpSpPr/>
          <p:nvPr/>
        </p:nvGrpSpPr>
        <p:grpSpPr>
          <a:xfrm>
            <a:off x="4914076" y="861932"/>
            <a:ext cx="6929019" cy="4147390"/>
            <a:chOff x="912813" y="1782763"/>
            <a:chExt cx="7683500" cy="4598987"/>
          </a:xfrm>
        </p:grpSpPr>
        <p:grpSp>
          <p:nvGrpSpPr>
            <p:cNvPr id="114" name="Group 3">
              <a:extLst>
                <a:ext uri="{FF2B5EF4-FFF2-40B4-BE49-F238E27FC236}">
                  <a16:creationId xmlns:a16="http://schemas.microsoft.com/office/drawing/2014/main" id="{486B91F2-422D-CB40-B547-5525E22DDDF5}"/>
                </a:ext>
              </a:extLst>
            </p:cNvPr>
            <p:cNvGrpSpPr>
              <a:grpSpLocks/>
            </p:cNvGrpSpPr>
            <p:nvPr/>
          </p:nvGrpSpPr>
          <p:grpSpPr bwMode="auto">
            <a:xfrm>
              <a:off x="3787775" y="3592513"/>
              <a:ext cx="2292350" cy="1195387"/>
              <a:chOff x="2250" y="2127"/>
              <a:chExt cx="1444" cy="753"/>
            </a:xfrm>
          </p:grpSpPr>
          <p:sp>
            <p:nvSpPr>
              <p:cNvPr id="176" name="Line 4">
                <a:extLst>
                  <a:ext uri="{FF2B5EF4-FFF2-40B4-BE49-F238E27FC236}">
                    <a16:creationId xmlns:a16="http://schemas.microsoft.com/office/drawing/2014/main" id="{F3FF1A0D-669E-8A41-BDBD-48D0DB2A8FB2}"/>
                  </a:ext>
                </a:extLst>
              </p:cNvPr>
              <p:cNvSpPr>
                <a:spLocks noChangeShapeType="1"/>
              </p:cNvSpPr>
              <p:nvPr/>
            </p:nvSpPr>
            <p:spPr bwMode="auto">
              <a:xfrm flipV="1">
                <a:off x="2250" y="2404"/>
                <a:ext cx="231" cy="368"/>
              </a:xfrm>
              <a:prstGeom prst="line">
                <a:avLst/>
              </a:prstGeom>
              <a:noFill/>
              <a:ln w="2857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77" name="Line 5">
                <a:extLst>
                  <a:ext uri="{FF2B5EF4-FFF2-40B4-BE49-F238E27FC236}">
                    <a16:creationId xmlns:a16="http://schemas.microsoft.com/office/drawing/2014/main" id="{B8BD08C5-E9BB-8A42-B1CF-0D987F63F27C}"/>
                  </a:ext>
                </a:extLst>
              </p:cNvPr>
              <p:cNvSpPr>
                <a:spLocks noChangeShapeType="1"/>
              </p:cNvSpPr>
              <p:nvPr/>
            </p:nvSpPr>
            <p:spPr bwMode="auto">
              <a:xfrm>
                <a:off x="3218" y="2757"/>
                <a:ext cx="476" cy="123"/>
              </a:xfrm>
              <a:prstGeom prst="line">
                <a:avLst/>
              </a:prstGeom>
              <a:noFill/>
              <a:ln w="2857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78" name="Line 6">
                <a:extLst>
                  <a:ext uri="{FF2B5EF4-FFF2-40B4-BE49-F238E27FC236}">
                    <a16:creationId xmlns:a16="http://schemas.microsoft.com/office/drawing/2014/main" id="{FDB9A33C-44C6-6C42-AF6F-848694DFC813}"/>
                  </a:ext>
                </a:extLst>
              </p:cNvPr>
              <p:cNvSpPr>
                <a:spLocks noChangeShapeType="1"/>
              </p:cNvSpPr>
              <p:nvPr/>
            </p:nvSpPr>
            <p:spPr bwMode="auto">
              <a:xfrm flipV="1">
                <a:off x="2504" y="2127"/>
                <a:ext cx="376" cy="284"/>
              </a:xfrm>
              <a:prstGeom prst="line">
                <a:avLst/>
              </a:prstGeom>
              <a:noFill/>
              <a:ln w="2857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79" name="Line 7">
                <a:extLst>
                  <a:ext uri="{FF2B5EF4-FFF2-40B4-BE49-F238E27FC236}">
                    <a16:creationId xmlns:a16="http://schemas.microsoft.com/office/drawing/2014/main" id="{9906FBCA-496C-8047-8237-48DF416D303F}"/>
                  </a:ext>
                </a:extLst>
              </p:cNvPr>
              <p:cNvSpPr>
                <a:spLocks noChangeShapeType="1"/>
              </p:cNvSpPr>
              <p:nvPr/>
            </p:nvSpPr>
            <p:spPr bwMode="auto">
              <a:xfrm>
                <a:off x="2934" y="2142"/>
                <a:ext cx="284" cy="576"/>
              </a:xfrm>
              <a:prstGeom prst="line">
                <a:avLst/>
              </a:prstGeom>
              <a:noFill/>
              <a:ln w="28575">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pSp>
        <p:grpSp>
          <p:nvGrpSpPr>
            <p:cNvPr id="115" name="Group 8">
              <a:extLst>
                <a:ext uri="{FF2B5EF4-FFF2-40B4-BE49-F238E27FC236}">
                  <a16:creationId xmlns:a16="http://schemas.microsoft.com/office/drawing/2014/main" id="{656ECB71-C6BE-1F4A-95E0-C53AFF80ABDD}"/>
                </a:ext>
              </a:extLst>
            </p:cNvPr>
            <p:cNvGrpSpPr>
              <a:grpSpLocks/>
            </p:cNvGrpSpPr>
            <p:nvPr/>
          </p:nvGrpSpPr>
          <p:grpSpPr bwMode="auto">
            <a:xfrm>
              <a:off x="2519363" y="2430463"/>
              <a:ext cx="4730750" cy="3090862"/>
              <a:chOff x="1920" y="2160"/>
              <a:chExt cx="1488" cy="960"/>
            </a:xfrm>
          </p:grpSpPr>
          <p:sp>
            <p:nvSpPr>
              <p:cNvPr id="166" name="Oval 9">
                <a:extLst>
                  <a:ext uri="{FF2B5EF4-FFF2-40B4-BE49-F238E27FC236}">
                    <a16:creationId xmlns:a16="http://schemas.microsoft.com/office/drawing/2014/main" id="{C7CC5764-F44B-4644-AAA9-203FE12653C2}"/>
                  </a:ext>
                </a:extLst>
              </p:cNvPr>
              <p:cNvSpPr>
                <a:spLocks noChangeArrowheads="1"/>
              </p:cNvSpPr>
              <p:nvPr/>
            </p:nvSpPr>
            <p:spPr bwMode="auto">
              <a:xfrm>
                <a:off x="2112" y="2352"/>
                <a:ext cx="576" cy="336"/>
              </a:xfrm>
              <a:prstGeom prst="ellipse">
                <a:avLst/>
              </a:prstGeom>
              <a:solidFill>
                <a:srgbClr val="4F81BD"/>
              </a:solid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endParaRPr>
              </a:p>
            </p:txBody>
          </p:sp>
          <p:sp>
            <p:nvSpPr>
              <p:cNvPr id="167" name="Oval 10">
                <a:extLst>
                  <a:ext uri="{FF2B5EF4-FFF2-40B4-BE49-F238E27FC236}">
                    <a16:creationId xmlns:a16="http://schemas.microsoft.com/office/drawing/2014/main" id="{E242BF96-08C6-7748-BF35-E2A3FBAD7717}"/>
                  </a:ext>
                </a:extLst>
              </p:cNvPr>
              <p:cNvSpPr>
                <a:spLocks noChangeArrowheads="1"/>
              </p:cNvSpPr>
              <p:nvPr/>
            </p:nvSpPr>
            <p:spPr bwMode="auto">
              <a:xfrm>
                <a:off x="2352" y="2160"/>
                <a:ext cx="576" cy="336"/>
              </a:xfrm>
              <a:prstGeom prst="ellipse">
                <a:avLst/>
              </a:prstGeom>
              <a:solidFill>
                <a:srgbClr val="4F81BD"/>
              </a:solid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endParaRPr>
              </a:p>
            </p:txBody>
          </p:sp>
          <p:sp>
            <p:nvSpPr>
              <p:cNvPr id="168" name="Oval 11">
                <a:extLst>
                  <a:ext uri="{FF2B5EF4-FFF2-40B4-BE49-F238E27FC236}">
                    <a16:creationId xmlns:a16="http://schemas.microsoft.com/office/drawing/2014/main" id="{09FFA373-E250-0E44-BA36-6E392A9181BD}"/>
                  </a:ext>
                </a:extLst>
              </p:cNvPr>
              <p:cNvSpPr>
                <a:spLocks noChangeArrowheads="1"/>
              </p:cNvSpPr>
              <p:nvPr/>
            </p:nvSpPr>
            <p:spPr bwMode="auto">
              <a:xfrm>
                <a:off x="2640" y="2304"/>
                <a:ext cx="576" cy="336"/>
              </a:xfrm>
              <a:prstGeom prst="ellipse">
                <a:avLst/>
              </a:prstGeom>
              <a:solidFill>
                <a:srgbClr val="4F81BD"/>
              </a:solid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endParaRPr>
              </a:p>
            </p:txBody>
          </p:sp>
          <p:sp>
            <p:nvSpPr>
              <p:cNvPr id="169" name="Oval 12">
                <a:extLst>
                  <a:ext uri="{FF2B5EF4-FFF2-40B4-BE49-F238E27FC236}">
                    <a16:creationId xmlns:a16="http://schemas.microsoft.com/office/drawing/2014/main" id="{C119FA62-EA4B-7A44-AEA2-B7F0D67F3DD7}"/>
                  </a:ext>
                </a:extLst>
              </p:cNvPr>
              <p:cNvSpPr>
                <a:spLocks noChangeArrowheads="1"/>
              </p:cNvSpPr>
              <p:nvPr/>
            </p:nvSpPr>
            <p:spPr bwMode="auto">
              <a:xfrm>
                <a:off x="2736" y="2448"/>
                <a:ext cx="576" cy="336"/>
              </a:xfrm>
              <a:prstGeom prst="ellipse">
                <a:avLst/>
              </a:prstGeom>
              <a:solidFill>
                <a:srgbClr val="4F81BD"/>
              </a:solid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endParaRPr>
              </a:p>
            </p:txBody>
          </p:sp>
          <p:sp>
            <p:nvSpPr>
              <p:cNvPr id="170" name="Oval 13">
                <a:extLst>
                  <a:ext uri="{FF2B5EF4-FFF2-40B4-BE49-F238E27FC236}">
                    <a16:creationId xmlns:a16="http://schemas.microsoft.com/office/drawing/2014/main" id="{28A10ECD-26B6-3246-8077-38D64F0D5594}"/>
                  </a:ext>
                </a:extLst>
              </p:cNvPr>
              <p:cNvSpPr>
                <a:spLocks noChangeArrowheads="1"/>
              </p:cNvSpPr>
              <p:nvPr/>
            </p:nvSpPr>
            <p:spPr bwMode="auto">
              <a:xfrm>
                <a:off x="2832" y="2448"/>
                <a:ext cx="576" cy="336"/>
              </a:xfrm>
              <a:prstGeom prst="ellipse">
                <a:avLst/>
              </a:prstGeom>
              <a:solidFill>
                <a:srgbClr val="4F81BD"/>
              </a:solid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endParaRPr>
              </a:p>
            </p:txBody>
          </p:sp>
          <p:sp>
            <p:nvSpPr>
              <p:cNvPr id="171" name="Oval 14">
                <a:extLst>
                  <a:ext uri="{FF2B5EF4-FFF2-40B4-BE49-F238E27FC236}">
                    <a16:creationId xmlns:a16="http://schemas.microsoft.com/office/drawing/2014/main" id="{1F7634CF-5C92-4144-A15A-66B094FC5B36}"/>
                  </a:ext>
                </a:extLst>
              </p:cNvPr>
              <p:cNvSpPr>
                <a:spLocks noChangeArrowheads="1"/>
              </p:cNvSpPr>
              <p:nvPr/>
            </p:nvSpPr>
            <p:spPr bwMode="auto">
              <a:xfrm>
                <a:off x="2736" y="2640"/>
                <a:ext cx="576" cy="336"/>
              </a:xfrm>
              <a:prstGeom prst="ellipse">
                <a:avLst/>
              </a:prstGeom>
              <a:solidFill>
                <a:srgbClr val="4F81BD"/>
              </a:solid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endParaRPr>
              </a:p>
            </p:txBody>
          </p:sp>
          <p:sp>
            <p:nvSpPr>
              <p:cNvPr id="172" name="Oval 15">
                <a:extLst>
                  <a:ext uri="{FF2B5EF4-FFF2-40B4-BE49-F238E27FC236}">
                    <a16:creationId xmlns:a16="http://schemas.microsoft.com/office/drawing/2014/main" id="{70B8AC53-8504-9D49-BB97-EB0FE5CFFE1E}"/>
                  </a:ext>
                </a:extLst>
              </p:cNvPr>
              <p:cNvSpPr>
                <a:spLocks noChangeArrowheads="1"/>
              </p:cNvSpPr>
              <p:nvPr/>
            </p:nvSpPr>
            <p:spPr bwMode="auto">
              <a:xfrm>
                <a:off x="2400" y="2784"/>
                <a:ext cx="576" cy="336"/>
              </a:xfrm>
              <a:prstGeom prst="ellipse">
                <a:avLst/>
              </a:prstGeom>
              <a:solidFill>
                <a:srgbClr val="4F81BD"/>
              </a:solid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endParaRPr>
              </a:p>
            </p:txBody>
          </p:sp>
          <p:sp>
            <p:nvSpPr>
              <p:cNvPr id="173" name="Oval 16">
                <a:extLst>
                  <a:ext uri="{FF2B5EF4-FFF2-40B4-BE49-F238E27FC236}">
                    <a16:creationId xmlns:a16="http://schemas.microsoft.com/office/drawing/2014/main" id="{1F828C2E-17CD-4541-91DD-C7A872EF4DF0}"/>
                  </a:ext>
                </a:extLst>
              </p:cNvPr>
              <p:cNvSpPr>
                <a:spLocks noChangeArrowheads="1"/>
              </p:cNvSpPr>
              <p:nvPr/>
            </p:nvSpPr>
            <p:spPr bwMode="auto">
              <a:xfrm>
                <a:off x="1920" y="2448"/>
                <a:ext cx="576" cy="336"/>
              </a:xfrm>
              <a:prstGeom prst="ellipse">
                <a:avLst/>
              </a:prstGeom>
              <a:solidFill>
                <a:srgbClr val="4F81BD"/>
              </a:solid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endParaRPr>
              </a:p>
            </p:txBody>
          </p:sp>
          <p:sp>
            <p:nvSpPr>
              <p:cNvPr id="174" name="Oval 17">
                <a:extLst>
                  <a:ext uri="{FF2B5EF4-FFF2-40B4-BE49-F238E27FC236}">
                    <a16:creationId xmlns:a16="http://schemas.microsoft.com/office/drawing/2014/main" id="{80C1A526-883C-5A41-9624-6AEF81D765AF}"/>
                  </a:ext>
                </a:extLst>
              </p:cNvPr>
              <p:cNvSpPr>
                <a:spLocks noChangeArrowheads="1"/>
              </p:cNvSpPr>
              <p:nvPr/>
            </p:nvSpPr>
            <p:spPr bwMode="auto">
              <a:xfrm>
                <a:off x="2352" y="2496"/>
                <a:ext cx="576" cy="336"/>
              </a:xfrm>
              <a:prstGeom prst="ellipse">
                <a:avLst/>
              </a:prstGeom>
              <a:solidFill>
                <a:srgbClr val="4F81BD"/>
              </a:solid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endParaRPr>
              </a:p>
            </p:txBody>
          </p:sp>
          <p:sp>
            <p:nvSpPr>
              <p:cNvPr id="175" name="Oval 18">
                <a:extLst>
                  <a:ext uri="{FF2B5EF4-FFF2-40B4-BE49-F238E27FC236}">
                    <a16:creationId xmlns:a16="http://schemas.microsoft.com/office/drawing/2014/main" id="{FAC7E780-44E3-B540-83E3-FB8834BB798E}"/>
                  </a:ext>
                </a:extLst>
              </p:cNvPr>
              <p:cNvSpPr>
                <a:spLocks noChangeArrowheads="1"/>
              </p:cNvSpPr>
              <p:nvPr/>
            </p:nvSpPr>
            <p:spPr bwMode="auto">
              <a:xfrm>
                <a:off x="2064" y="2688"/>
                <a:ext cx="576" cy="336"/>
              </a:xfrm>
              <a:prstGeom prst="ellipse">
                <a:avLst/>
              </a:prstGeom>
              <a:solidFill>
                <a:srgbClr val="4F81BD"/>
              </a:solid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endParaRPr>
              </a:p>
            </p:txBody>
          </p:sp>
        </p:grpSp>
        <p:sp>
          <p:nvSpPr>
            <p:cNvPr id="116" name="computr2">
              <a:extLst>
                <a:ext uri="{FF2B5EF4-FFF2-40B4-BE49-F238E27FC236}">
                  <a16:creationId xmlns:a16="http://schemas.microsoft.com/office/drawing/2014/main" id="{2CAB9C70-234D-5F45-833E-877F0BDB0239}"/>
                </a:ext>
              </a:extLst>
            </p:cNvPr>
            <p:cNvSpPr>
              <a:spLocks noEditPoints="1" noChangeArrowheads="1"/>
            </p:cNvSpPr>
            <p:nvPr/>
          </p:nvSpPr>
          <p:spPr bwMode="auto">
            <a:xfrm>
              <a:off x="7250113" y="5259388"/>
              <a:ext cx="676275" cy="447675"/>
            </a:xfrm>
            <a:custGeom>
              <a:avLst/>
              <a:gdLst>
                <a:gd name="T0" fmla="*/ 2147483646 w 21600"/>
                <a:gd name="T1" fmla="*/ 0 h 21600"/>
                <a:gd name="T2" fmla="*/ 2147483646 w 21600"/>
                <a:gd name="T3" fmla="*/ 2147483646 h 21600"/>
                <a:gd name="T4" fmla="*/ 2147483646 w 21600"/>
                <a:gd name="T5" fmla="*/ 0 h 21600"/>
                <a:gd name="T6" fmla="*/ 2147483646 w 21600"/>
                <a:gd name="T7" fmla="*/ 0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2147483646 w 21600"/>
                <a:gd name="T17" fmla="*/ 2147483646 h 21600"/>
                <a:gd name="T18" fmla="*/ 2147483646 w 21600"/>
                <a:gd name="T19" fmla="*/ 2147483646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6194 w 21600"/>
                <a:gd name="T31" fmla="*/ 1913 h 21600"/>
                <a:gd name="T32" fmla="*/ 15565 w 21600"/>
                <a:gd name="T33" fmla="*/ 97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17" name="computr2">
              <a:extLst>
                <a:ext uri="{FF2B5EF4-FFF2-40B4-BE49-F238E27FC236}">
                  <a16:creationId xmlns:a16="http://schemas.microsoft.com/office/drawing/2014/main" id="{1F3C8E9A-C5C5-E74A-94C6-47221F37B934}"/>
                </a:ext>
              </a:extLst>
            </p:cNvPr>
            <p:cNvSpPr>
              <a:spLocks noEditPoints="1" noChangeArrowheads="1"/>
            </p:cNvSpPr>
            <p:nvPr/>
          </p:nvSpPr>
          <p:spPr bwMode="auto">
            <a:xfrm>
              <a:off x="1843088" y="2197100"/>
              <a:ext cx="676275" cy="447675"/>
            </a:xfrm>
            <a:custGeom>
              <a:avLst/>
              <a:gdLst>
                <a:gd name="T0" fmla="*/ 2147483646 w 21600"/>
                <a:gd name="T1" fmla="*/ 0 h 21600"/>
                <a:gd name="T2" fmla="*/ 2147483646 w 21600"/>
                <a:gd name="T3" fmla="*/ 2147483646 h 21600"/>
                <a:gd name="T4" fmla="*/ 2147483646 w 21600"/>
                <a:gd name="T5" fmla="*/ 0 h 21600"/>
                <a:gd name="T6" fmla="*/ 2147483646 w 21600"/>
                <a:gd name="T7" fmla="*/ 0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2147483646 w 21600"/>
                <a:gd name="T17" fmla="*/ 2147483646 h 21600"/>
                <a:gd name="T18" fmla="*/ 2147483646 w 21600"/>
                <a:gd name="T19" fmla="*/ 2147483646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6194 w 21600"/>
                <a:gd name="T31" fmla="*/ 1913 h 21600"/>
                <a:gd name="T32" fmla="*/ 15565 w 21600"/>
                <a:gd name="T33" fmla="*/ 97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18" name="computr2">
              <a:extLst>
                <a:ext uri="{FF2B5EF4-FFF2-40B4-BE49-F238E27FC236}">
                  <a16:creationId xmlns:a16="http://schemas.microsoft.com/office/drawing/2014/main" id="{CC81994C-2B95-7B4A-B083-40B7A1756AD3}"/>
                </a:ext>
              </a:extLst>
            </p:cNvPr>
            <p:cNvSpPr>
              <a:spLocks noEditPoints="1" noChangeArrowheads="1"/>
            </p:cNvSpPr>
            <p:nvPr/>
          </p:nvSpPr>
          <p:spPr bwMode="auto">
            <a:xfrm>
              <a:off x="1843088" y="5259388"/>
              <a:ext cx="676275" cy="523875"/>
            </a:xfrm>
            <a:custGeom>
              <a:avLst/>
              <a:gdLst>
                <a:gd name="T0" fmla="*/ 2147483646 w 21600"/>
                <a:gd name="T1" fmla="*/ 0 h 21600"/>
                <a:gd name="T2" fmla="*/ 2147483646 w 21600"/>
                <a:gd name="T3" fmla="*/ 2147483646 h 21600"/>
                <a:gd name="T4" fmla="*/ 2147483646 w 21600"/>
                <a:gd name="T5" fmla="*/ 0 h 21600"/>
                <a:gd name="T6" fmla="*/ 2147483646 w 21600"/>
                <a:gd name="T7" fmla="*/ 0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2147483646 w 21600"/>
                <a:gd name="T17" fmla="*/ 2147483646 h 21600"/>
                <a:gd name="T18" fmla="*/ 2147483646 w 21600"/>
                <a:gd name="T19" fmla="*/ 2147483646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6194 w 21600"/>
                <a:gd name="T31" fmla="*/ 1913 h 21600"/>
                <a:gd name="T32" fmla="*/ 15565 w 21600"/>
                <a:gd name="T33" fmla="*/ 97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19" name="computr2">
              <a:extLst>
                <a:ext uri="{FF2B5EF4-FFF2-40B4-BE49-F238E27FC236}">
                  <a16:creationId xmlns:a16="http://schemas.microsoft.com/office/drawing/2014/main" id="{15E13570-9A2A-C546-A5B1-AB5B509E3C08}"/>
                </a:ext>
              </a:extLst>
            </p:cNvPr>
            <p:cNvSpPr>
              <a:spLocks noEditPoints="1" noChangeArrowheads="1"/>
            </p:cNvSpPr>
            <p:nvPr/>
          </p:nvSpPr>
          <p:spPr bwMode="auto">
            <a:xfrm>
              <a:off x="7326313" y="2260600"/>
              <a:ext cx="676275" cy="447675"/>
            </a:xfrm>
            <a:custGeom>
              <a:avLst/>
              <a:gdLst>
                <a:gd name="T0" fmla="*/ 2147483646 w 21600"/>
                <a:gd name="T1" fmla="*/ 0 h 21600"/>
                <a:gd name="T2" fmla="*/ 2147483646 w 21600"/>
                <a:gd name="T3" fmla="*/ 2147483646 h 21600"/>
                <a:gd name="T4" fmla="*/ 2147483646 w 21600"/>
                <a:gd name="T5" fmla="*/ 0 h 21600"/>
                <a:gd name="T6" fmla="*/ 2147483646 w 21600"/>
                <a:gd name="T7" fmla="*/ 0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2147483646 w 21600"/>
                <a:gd name="T17" fmla="*/ 2147483646 h 21600"/>
                <a:gd name="T18" fmla="*/ 2147483646 w 21600"/>
                <a:gd name="T19" fmla="*/ 2147483646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6194 w 21600"/>
                <a:gd name="T31" fmla="*/ 1913 h 21600"/>
                <a:gd name="T32" fmla="*/ 15565 w 21600"/>
                <a:gd name="T33" fmla="*/ 97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20" name="Line 23">
              <a:extLst>
                <a:ext uri="{FF2B5EF4-FFF2-40B4-BE49-F238E27FC236}">
                  <a16:creationId xmlns:a16="http://schemas.microsoft.com/office/drawing/2014/main" id="{42C72CEE-CB8D-7549-BE68-F21AC7261A88}"/>
                </a:ext>
              </a:extLst>
            </p:cNvPr>
            <p:cNvSpPr>
              <a:spLocks noChangeShapeType="1"/>
            </p:cNvSpPr>
            <p:nvPr/>
          </p:nvSpPr>
          <p:spPr bwMode="auto">
            <a:xfrm flipV="1">
              <a:off x="2417763" y="5095875"/>
              <a:ext cx="877887" cy="495300"/>
            </a:xfrm>
            <a:prstGeom prst="line">
              <a:avLst/>
            </a:prstGeom>
            <a:noFill/>
            <a:ln w="1270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21" name="Line 24">
              <a:extLst>
                <a:ext uri="{FF2B5EF4-FFF2-40B4-BE49-F238E27FC236}">
                  <a16:creationId xmlns:a16="http://schemas.microsoft.com/office/drawing/2014/main" id="{FC4FB64E-B193-394A-9085-F50683FE7264}"/>
                </a:ext>
              </a:extLst>
            </p:cNvPr>
            <p:cNvSpPr>
              <a:spLocks noChangeShapeType="1"/>
            </p:cNvSpPr>
            <p:nvPr/>
          </p:nvSpPr>
          <p:spPr bwMode="auto">
            <a:xfrm>
              <a:off x="2417763" y="2581275"/>
              <a:ext cx="877887" cy="712788"/>
            </a:xfrm>
            <a:prstGeom prst="line">
              <a:avLst/>
            </a:prstGeom>
            <a:noFill/>
            <a:ln w="1270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22" name="Line 25">
              <a:extLst>
                <a:ext uri="{FF2B5EF4-FFF2-40B4-BE49-F238E27FC236}">
                  <a16:creationId xmlns:a16="http://schemas.microsoft.com/office/drawing/2014/main" id="{1B890D11-DE86-5742-9D8C-09B7C9A46B34}"/>
                </a:ext>
              </a:extLst>
            </p:cNvPr>
            <p:cNvSpPr>
              <a:spLocks noChangeShapeType="1"/>
            </p:cNvSpPr>
            <p:nvPr/>
          </p:nvSpPr>
          <p:spPr bwMode="auto">
            <a:xfrm flipV="1">
              <a:off x="6448425" y="2571750"/>
              <a:ext cx="976313" cy="539750"/>
            </a:xfrm>
            <a:prstGeom prst="line">
              <a:avLst/>
            </a:prstGeom>
            <a:noFill/>
            <a:ln w="1270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23" name="Line 26">
              <a:extLst>
                <a:ext uri="{FF2B5EF4-FFF2-40B4-BE49-F238E27FC236}">
                  <a16:creationId xmlns:a16="http://schemas.microsoft.com/office/drawing/2014/main" id="{D57658B1-088F-5A4A-89B8-EE25E9CCA2E2}"/>
                </a:ext>
              </a:extLst>
            </p:cNvPr>
            <p:cNvSpPr>
              <a:spLocks noChangeShapeType="1"/>
            </p:cNvSpPr>
            <p:nvPr/>
          </p:nvSpPr>
          <p:spPr bwMode="auto">
            <a:xfrm flipH="1" flipV="1">
              <a:off x="6238875" y="4959350"/>
              <a:ext cx="1146175" cy="584200"/>
            </a:xfrm>
            <a:prstGeom prst="line">
              <a:avLst/>
            </a:prstGeom>
            <a:noFill/>
            <a:ln w="12700">
              <a:solidFill>
                <a:sysClr val="windowText" lastClr="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24" name="Freeform 27">
              <a:extLst>
                <a:ext uri="{FF2B5EF4-FFF2-40B4-BE49-F238E27FC236}">
                  <a16:creationId xmlns:a16="http://schemas.microsoft.com/office/drawing/2014/main" id="{1DF82BDC-C938-6943-B615-8D8781827218}"/>
                </a:ext>
              </a:extLst>
            </p:cNvPr>
            <p:cNvSpPr>
              <a:spLocks/>
            </p:cNvSpPr>
            <p:nvPr/>
          </p:nvSpPr>
          <p:spPr bwMode="auto">
            <a:xfrm>
              <a:off x="3155950" y="2728913"/>
              <a:ext cx="1004888" cy="2668587"/>
            </a:xfrm>
            <a:custGeom>
              <a:avLst/>
              <a:gdLst>
                <a:gd name="T0" fmla="*/ 2147483646 w 632"/>
                <a:gd name="T1" fmla="*/ 2147483646 h 1680"/>
                <a:gd name="T2" fmla="*/ 2147483646 w 632"/>
                <a:gd name="T3" fmla="*/ 2147483646 h 1680"/>
                <a:gd name="T4" fmla="*/ 0 w 632"/>
                <a:gd name="T5" fmla="*/ 0 h 1680"/>
                <a:gd name="T6" fmla="*/ 0 60000 65536"/>
                <a:gd name="T7" fmla="*/ 0 60000 65536"/>
                <a:gd name="T8" fmla="*/ 0 60000 65536"/>
              </a:gdLst>
              <a:ahLst/>
              <a:cxnLst>
                <a:cxn ang="T6">
                  <a:pos x="T0" y="T1"/>
                </a:cxn>
                <a:cxn ang="T7">
                  <a:pos x="T2" y="T3"/>
                </a:cxn>
                <a:cxn ang="T8">
                  <a:pos x="T4" y="T5"/>
                </a:cxn>
              </a:cxnLst>
              <a:rect l="0" t="0" r="r" b="b"/>
              <a:pathLst>
                <a:path w="632" h="1680">
                  <a:moveTo>
                    <a:pt x="48" y="1680"/>
                  </a:moveTo>
                  <a:cubicBezTo>
                    <a:pt x="340" y="1364"/>
                    <a:pt x="632" y="1048"/>
                    <a:pt x="624" y="768"/>
                  </a:cubicBezTo>
                  <a:cubicBezTo>
                    <a:pt x="616" y="488"/>
                    <a:pt x="308" y="244"/>
                    <a:pt x="0" y="0"/>
                  </a:cubicBezTo>
                </a:path>
              </a:pathLst>
            </a:custGeom>
            <a:noFill/>
            <a:ln w="63500" cap="flat" cmpd="sng">
              <a:solidFill>
                <a:srgbClr val="3333CC"/>
              </a:solidFill>
              <a:prstDash val="solid"/>
              <a:round/>
              <a:headEnd type="triangle" w="med" len="med"/>
              <a:tailEnd type="triangl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25" name="Freeform 28">
              <a:extLst>
                <a:ext uri="{FF2B5EF4-FFF2-40B4-BE49-F238E27FC236}">
                  <a16:creationId xmlns:a16="http://schemas.microsoft.com/office/drawing/2014/main" id="{A8AF190C-8C26-6646-B6D4-8CDCCD658E6B}"/>
                </a:ext>
              </a:extLst>
            </p:cNvPr>
            <p:cNvSpPr>
              <a:spLocks/>
            </p:cNvSpPr>
            <p:nvPr/>
          </p:nvSpPr>
          <p:spPr bwMode="auto">
            <a:xfrm>
              <a:off x="5580063" y="2730500"/>
              <a:ext cx="774700" cy="2514600"/>
            </a:xfrm>
            <a:custGeom>
              <a:avLst/>
              <a:gdLst>
                <a:gd name="T0" fmla="*/ 2147483646 w 488"/>
                <a:gd name="T1" fmla="*/ 2147483646 h 1584"/>
                <a:gd name="T2" fmla="*/ 2147483646 w 488"/>
                <a:gd name="T3" fmla="*/ 2147483646 h 1584"/>
                <a:gd name="T4" fmla="*/ 2147483646 w 488"/>
                <a:gd name="T5" fmla="*/ 0 h 1584"/>
                <a:gd name="T6" fmla="*/ 0 60000 65536"/>
                <a:gd name="T7" fmla="*/ 0 60000 65536"/>
                <a:gd name="T8" fmla="*/ 0 60000 65536"/>
              </a:gdLst>
              <a:ahLst/>
              <a:cxnLst>
                <a:cxn ang="T6">
                  <a:pos x="T0" y="T1"/>
                </a:cxn>
                <a:cxn ang="T7">
                  <a:pos x="T2" y="T3"/>
                </a:cxn>
                <a:cxn ang="T8">
                  <a:pos x="T4" y="T5"/>
                </a:cxn>
              </a:cxnLst>
              <a:rect l="0" t="0" r="r" b="b"/>
              <a:pathLst>
                <a:path w="488" h="1584">
                  <a:moveTo>
                    <a:pt x="488" y="1584"/>
                  </a:moveTo>
                  <a:cubicBezTo>
                    <a:pt x="252" y="1332"/>
                    <a:pt x="16" y="1080"/>
                    <a:pt x="8" y="816"/>
                  </a:cubicBezTo>
                  <a:cubicBezTo>
                    <a:pt x="0" y="552"/>
                    <a:pt x="220" y="276"/>
                    <a:pt x="440" y="0"/>
                  </a:cubicBezTo>
                </a:path>
              </a:pathLst>
            </a:custGeom>
            <a:noFill/>
            <a:ln w="63500" cap="flat" cmpd="sng">
              <a:solidFill>
                <a:srgbClr val="3333CC"/>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26" name="Freeform 29">
              <a:extLst>
                <a:ext uri="{FF2B5EF4-FFF2-40B4-BE49-F238E27FC236}">
                  <a16:creationId xmlns:a16="http://schemas.microsoft.com/office/drawing/2014/main" id="{798BEF20-7C35-0940-8A70-B76A27A2B6E4}"/>
                </a:ext>
              </a:extLst>
            </p:cNvPr>
            <p:cNvSpPr>
              <a:spLocks/>
            </p:cNvSpPr>
            <p:nvPr/>
          </p:nvSpPr>
          <p:spPr bwMode="auto">
            <a:xfrm>
              <a:off x="3535363" y="2654300"/>
              <a:ext cx="2438400" cy="1003300"/>
            </a:xfrm>
            <a:custGeom>
              <a:avLst/>
              <a:gdLst>
                <a:gd name="T0" fmla="*/ 0 w 1536"/>
                <a:gd name="T1" fmla="*/ 2147483646 h 632"/>
                <a:gd name="T2" fmla="*/ 2147483646 w 1536"/>
                <a:gd name="T3" fmla="*/ 2147483646 h 632"/>
                <a:gd name="T4" fmla="*/ 2147483646 w 1536"/>
                <a:gd name="T5" fmla="*/ 0 h 632"/>
                <a:gd name="T6" fmla="*/ 0 60000 65536"/>
                <a:gd name="T7" fmla="*/ 0 60000 65536"/>
                <a:gd name="T8" fmla="*/ 0 60000 65536"/>
              </a:gdLst>
              <a:ahLst/>
              <a:cxnLst>
                <a:cxn ang="T6">
                  <a:pos x="T0" y="T1"/>
                </a:cxn>
                <a:cxn ang="T7">
                  <a:pos x="T2" y="T3"/>
                </a:cxn>
                <a:cxn ang="T8">
                  <a:pos x="T4" y="T5"/>
                </a:cxn>
              </a:cxnLst>
              <a:rect l="0" t="0" r="r" b="b"/>
              <a:pathLst>
                <a:path w="1536" h="632">
                  <a:moveTo>
                    <a:pt x="0" y="48"/>
                  </a:moveTo>
                  <a:cubicBezTo>
                    <a:pt x="256" y="340"/>
                    <a:pt x="512" y="632"/>
                    <a:pt x="768" y="624"/>
                  </a:cubicBezTo>
                  <a:cubicBezTo>
                    <a:pt x="1024" y="616"/>
                    <a:pt x="1280" y="308"/>
                    <a:pt x="1536" y="0"/>
                  </a:cubicBezTo>
                </a:path>
              </a:pathLst>
            </a:custGeom>
            <a:noFill/>
            <a:ln w="63500" cap="flat" cmpd="sng">
              <a:solidFill>
                <a:srgbClr val="3333CC"/>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27" name="Freeform 30">
              <a:extLst>
                <a:ext uri="{FF2B5EF4-FFF2-40B4-BE49-F238E27FC236}">
                  <a16:creationId xmlns:a16="http://schemas.microsoft.com/office/drawing/2014/main" id="{A29F5E64-3345-1742-AA1B-5615136232AD}"/>
                </a:ext>
              </a:extLst>
            </p:cNvPr>
            <p:cNvSpPr>
              <a:spLocks/>
            </p:cNvSpPr>
            <p:nvPr/>
          </p:nvSpPr>
          <p:spPr bwMode="auto">
            <a:xfrm>
              <a:off x="3611563" y="4394200"/>
              <a:ext cx="2514600" cy="1003300"/>
            </a:xfrm>
            <a:custGeom>
              <a:avLst/>
              <a:gdLst>
                <a:gd name="T0" fmla="*/ 0 w 1584"/>
                <a:gd name="T1" fmla="*/ 2147483646 h 632"/>
                <a:gd name="T2" fmla="*/ 2147483646 w 1584"/>
                <a:gd name="T3" fmla="*/ 2147483646 h 632"/>
                <a:gd name="T4" fmla="*/ 2147483646 w 1584"/>
                <a:gd name="T5" fmla="*/ 2147483646 h 632"/>
                <a:gd name="T6" fmla="*/ 0 60000 65536"/>
                <a:gd name="T7" fmla="*/ 0 60000 65536"/>
                <a:gd name="T8" fmla="*/ 0 60000 65536"/>
              </a:gdLst>
              <a:ahLst/>
              <a:cxnLst>
                <a:cxn ang="T6">
                  <a:pos x="T0" y="T1"/>
                </a:cxn>
                <a:cxn ang="T7">
                  <a:pos x="T2" y="T3"/>
                </a:cxn>
                <a:cxn ang="T8">
                  <a:pos x="T4" y="T5"/>
                </a:cxn>
              </a:cxnLst>
              <a:rect l="0" t="0" r="r" b="b"/>
              <a:pathLst>
                <a:path w="1584" h="632">
                  <a:moveTo>
                    <a:pt x="0" y="584"/>
                  </a:moveTo>
                  <a:cubicBezTo>
                    <a:pt x="228" y="292"/>
                    <a:pt x="456" y="0"/>
                    <a:pt x="720" y="8"/>
                  </a:cubicBezTo>
                  <a:cubicBezTo>
                    <a:pt x="984" y="16"/>
                    <a:pt x="1284" y="324"/>
                    <a:pt x="1584" y="632"/>
                  </a:cubicBezTo>
                </a:path>
              </a:pathLst>
            </a:custGeom>
            <a:noFill/>
            <a:ln w="63500" cap="flat" cmpd="sng">
              <a:solidFill>
                <a:srgbClr val="3333CC"/>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28" name="AutoShape 31">
              <a:extLst>
                <a:ext uri="{FF2B5EF4-FFF2-40B4-BE49-F238E27FC236}">
                  <a16:creationId xmlns:a16="http://schemas.microsoft.com/office/drawing/2014/main" id="{0538B40B-6236-9541-A62A-10BCA1228E2A}"/>
                </a:ext>
              </a:extLst>
            </p:cNvPr>
            <p:cNvSpPr>
              <a:spLocks noChangeArrowheads="1"/>
            </p:cNvSpPr>
            <p:nvPr/>
          </p:nvSpPr>
          <p:spPr bwMode="auto">
            <a:xfrm>
              <a:off x="4486275" y="4170363"/>
              <a:ext cx="609600" cy="838200"/>
            </a:xfrm>
            <a:prstGeom prst="lightningBolt">
              <a:avLst/>
            </a:prstGeom>
            <a:solidFill>
              <a:srgbClr val="9900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endParaRPr>
            </a:p>
          </p:txBody>
        </p:sp>
        <p:grpSp>
          <p:nvGrpSpPr>
            <p:cNvPr id="129" name="Group 32">
              <a:extLst>
                <a:ext uri="{FF2B5EF4-FFF2-40B4-BE49-F238E27FC236}">
                  <a16:creationId xmlns:a16="http://schemas.microsoft.com/office/drawing/2014/main" id="{DA034CAD-2359-C54B-B13F-F2A2399A24BB}"/>
                </a:ext>
              </a:extLst>
            </p:cNvPr>
            <p:cNvGrpSpPr>
              <a:grpSpLocks/>
            </p:cNvGrpSpPr>
            <p:nvPr/>
          </p:nvGrpSpPr>
          <p:grpSpPr bwMode="auto">
            <a:xfrm>
              <a:off x="3751263" y="3330575"/>
              <a:ext cx="1871662" cy="1262063"/>
              <a:chOff x="2227" y="1962"/>
              <a:chExt cx="1179" cy="795"/>
            </a:xfrm>
          </p:grpSpPr>
          <p:sp>
            <p:nvSpPr>
              <p:cNvPr id="162" name="Line 33">
                <a:extLst>
                  <a:ext uri="{FF2B5EF4-FFF2-40B4-BE49-F238E27FC236}">
                    <a16:creationId xmlns:a16="http://schemas.microsoft.com/office/drawing/2014/main" id="{108788AD-F8FF-8344-89B9-1A3BDAA0DEBD}"/>
                  </a:ext>
                </a:extLst>
              </p:cNvPr>
              <p:cNvSpPr>
                <a:spLocks noChangeShapeType="1"/>
              </p:cNvSpPr>
              <p:nvPr/>
            </p:nvSpPr>
            <p:spPr bwMode="auto">
              <a:xfrm flipH="1" flipV="1">
                <a:off x="3352" y="1962"/>
                <a:ext cx="54" cy="422"/>
              </a:xfrm>
              <a:prstGeom prst="line">
                <a:avLst/>
              </a:prstGeom>
              <a:noFill/>
              <a:ln w="12700">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63" name="Line 34">
                <a:extLst>
                  <a:ext uri="{FF2B5EF4-FFF2-40B4-BE49-F238E27FC236}">
                    <a16:creationId xmlns:a16="http://schemas.microsoft.com/office/drawing/2014/main" id="{08A6F8A3-13F2-5545-96CF-3C0B850D286A}"/>
                  </a:ext>
                </a:extLst>
              </p:cNvPr>
              <p:cNvSpPr>
                <a:spLocks noChangeShapeType="1"/>
              </p:cNvSpPr>
              <p:nvPr/>
            </p:nvSpPr>
            <p:spPr bwMode="auto">
              <a:xfrm>
                <a:off x="2227" y="2757"/>
                <a:ext cx="353" cy="0"/>
              </a:xfrm>
              <a:prstGeom prst="line">
                <a:avLst/>
              </a:prstGeom>
              <a:noFill/>
              <a:ln w="12700">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64" name="Line 35">
                <a:extLst>
                  <a:ext uri="{FF2B5EF4-FFF2-40B4-BE49-F238E27FC236}">
                    <a16:creationId xmlns:a16="http://schemas.microsoft.com/office/drawing/2014/main" id="{AB8D965B-BC97-8340-885B-764A9B0ED574}"/>
                  </a:ext>
                </a:extLst>
              </p:cNvPr>
              <p:cNvSpPr>
                <a:spLocks noChangeShapeType="1"/>
              </p:cNvSpPr>
              <p:nvPr/>
            </p:nvSpPr>
            <p:spPr bwMode="auto">
              <a:xfrm flipV="1">
                <a:off x="2504" y="2135"/>
                <a:ext cx="376" cy="284"/>
              </a:xfrm>
              <a:prstGeom prst="line">
                <a:avLst/>
              </a:prstGeom>
              <a:noFill/>
              <a:ln w="12700">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65" name="Line 36">
                <a:extLst>
                  <a:ext uri="{FF2B5EF4-FFF2-40B4-BE49-F238E27FC236}">
                    <a16:creationId xmlns:a16="http://schemas.microsoft.com/office/drawing/2014/main" id="{F75EB14A-D916-6B40-A200-A1A7923F9546}"/>
                  </a:ext>
                </a:extLst>
              </p:cNvPr>
              <p:cNvSpPr>
                <a:spLocks noChangeShapeType="1"/>
              </p:cNvSpPr>
              <p:nvPr/>
            </p:nvSpPr>
            <p:spPr bwMode="auto">
              <a:xfrm>
                <a:off x="2934" y="2150"/>
                <a:ext cx="284" cy="576"/>
              </a:xfrm>
              <a:prstGeom prst="line">
                <a:avLst/>
              </a:prstGeom>
              <a:noFill/>
              <a:ln w="12700">
                <a:solidFill>
                  <a:srgbClr val="99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pSp>
        <p:grpSp>
          <p:nvGrpSpPr>
            <p:cNvPr id="130" name="Group 37">
              <a:extLst>
                <a:ext uri="{FF2B5EF4-FFF2-40B4-BE49-F238E27FC236}">
                  <a16:creationId xmlns:a16="http://schemas.microsoft.com/office/drawing/2014/main" id="{0BBBA67D-DDA0-2C46-A7A7-5CF1B612DD40}"/>
                </a:ext>
              </a:extLst>
            </p:cNvPr>
            <p:cNvGrpSpPr>
              <a:grpSpLocks/>
            </p:cNvGrpSpPr>
            <p:nvPr/>
          </p:nvGrpSpPr>
          <p:grpSpPr bwMode="auto">
            <a:xfrm>
              <a:off x="3536950" y="3001963"/>
              <a:ext cx="2736850" cy="1981200"/>
              <a:chOff x="2092" y="1755"/>
              <a:chExt cx="1724" cy="1248"/>
            </a:xfrm>
          </p:grpSpPr>
          <p:grpSp>
            <p:nvGrpSpPr>
              <p:cNvPr id="151" name="Group 38">
                <a:extLst>
                  <a:ext uri="{FF2B5EF4-FFF2-40B4-BE49-F238E27FC236}">
                    <a16:creationId xmlns:a16="http://schemas.microsoft.com/office/drawing/2014/main" id="{54FAAD23-8CAE-D141-9D21-C1B1A4C54646}"/>
                  </a:ext>
                </a:extLst>
              </p:cNvPr>
              <p:cNvGrpSpPr>
                <a:grpSpLocks/>
              </p:cNvGrpSpPr>
              <p:nvPr/>
            </p:nvGrpSpPr>
            <p:grpSpPr bwMode="auto">
              <a:xfrm>
                <a:off x="2092" y="1755"/>
                <a:ext cx="1724" cy="1248"/>
                <a:chOff x="2092" y="1755"/>
                <a:chExt cx="1724" cy="1248"/>
              </a:xfrm>
            </p:grpSpPr>
            <p:sp>
              <p:nvSpPr>
                <p:cNvPr id="153" name="Rectangle 39">
                  <a:extLst>
                    <a:ext uri="{FF2B5EF4-FFF2-40B4-BE49-F238E27FC236}">
                      <a16:creationId xmlns:a16="http://schemas.microsoft.com/office/drawing/2014/main" id="{77A981D1-77DF-3347-BB8C-5DB44200A4D0}"/>
                    </a:ext>
                  </a:extLst>
                </p:cNvPr>
                <p:cNvSpPr>
                  <a:spLocks noChangeArrowheads="1"/>
                </p:cNvSpPr>
                <p:nvPr/>
              </p:nvSpPr>
              <p:spPr bwMode="auto">
                <a:xfrm>
                  <a:off x="2757" y="1997"/>
                  <a:ext cx="261" cy="246"/>
                </a:xfrm>
                <a:prstGeom prst="rect">
                  <a:avLst/>
                </a:prstGeom>
                <a:solidFill>
                  <a:srgbClr val="000080"/>
                </a:solidFill>
                <a:ln w="12700">
                  <a:solidFill>
                    <a:srgbClr val="EEECE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endParaRPr>
                </a:p>
              </p:txBody>
            </p:sp>
            <p:sp>
              <p:nvSpPr>
                <p:cNvPr id="154" name="Rectangle 40">
                  <a:extLst>
                    <a:ext uri="{FF2B5EF4-FFF2-40B4-BE49-F238E27FC236}">
                      <a16:creationId xmlns:a16="http://schemas.microsoft.com/office/drawing/2014/main" id="{0035EE66-ADD6-1D40-A80F-4E3BA682ED6F}"/>
                    </a:ext>
                  </a:extLst>
                </p:cNvPr>
                <p:cNvSpPr>
                  <a:spLocks noChangeArrowheads="1"/>
                </p:cNvSpPr>
                <p:nvPr/>
              </p:nvSpPr>
              <p:spPr bwMode="auto">
                <a:xfrm>
                  <a:off x="3214" y="1755"/>
                  <a:ext cx="261" cy="246"/>
                </a:xfrm>
                <a:prstGeom prst="rect">
                  <a:avLst/>
                </a:prstGeom>
                <a:solidFill>
                  <a:srgbClr val="000080"/>
                </a:solidFill>
                <a:ln w="12700">
                  <a:solidFill>
                    <a:srgbClr val="EEECE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endParaRPr>
                </a:p>
              </p:txBody>
            </p:sp>
            <p:sp>
              <p:nvSpPr>
                <p:cNvPr id="155" name="Rectangle 41">
                  <a:extLst>
                    <a:ext uri="{FF2B5EF4-FFF2-40B4-BE49-F238E27FC236}">
                      <a16:creationId xmlns:a16="http://schemas.microsoft.com/office/drawing/2014/main" id="{47713D96-1F48-8C4E-9FED-5ADBF61BFE55}"/>
                    </a:ext>
                  </a:extLst>
                </p:cNvPr>
                <p:cNvSpPr>
                  <a:spLocks noChangeArrowheads="1"/>
                </p:cNvSpPr>
                <p:nvPr/>
              </p:nvSpPr>
              <p:spPr bwMode="auto">
                <a:xfrm>
                  <a:off x="2341" y="1765"/>
                  <a:ext cx="261" cy="246"/>
                </a:xfrm>
                <a:prstGeom prst="rect">
                  <a:avLst/>
                </a:prstGeom>
                <a:solidFill>
                  <a:srgbClr val="000080"/>
                </a:solidFill>
                <a:ln w="12700">
                  <a:solidFill>
                    <a:srgbClr val="EEECE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endParaRPr>
                </a:p>
              </p:txBody>
            </p:sp>
            <p:sp>
              <p:nvSpPr>
                <p:cNvPr id="156" name="Rectangle 42">
                  <a:extLst>
                    <a:ext uri="{FF2B5EF4-FFF2-40B4-BE49-F238E27FC236}">
                      <a16:creationId xmlns:a16="http://schemas.microsoft.com/office/drawing/2014/main" id="{D73995ED-7C70-0B4F-9C7D-B74B1EC4C878}"/>
                    </a:ext>
                  </a:extLst>
                </p:cNvPr>
                <p:cNvSpPr>
                  <a:spLocks noChangeArrowheads="1"/>
                </p:cNvSpPr>
                <p:nvPr/>
              </p:nvSpPr>
              <p:spPr bwMode="auto">
                <a:xfrm>
                  <a:off x="2353" y="2283"/>
                  <a:ext cx="261" cy="246"/>
                </a:xfrm>
                <a:prstGeom prst="rect">
                  <a:avLst/>
                </a:prstGeom>
                <a:solidFill>
                  <a:srgbClr val="000080"/>
                </a:solidFill>
                <a:ln w="12700">
                  <a:solidFill>
                    <a:srgbClr val="EEECE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endParaRPr>
                </a:p>
              </p:txBody>
            </p:sp>
            <p:sp>
              <p:nvSpPr>
                <p:cNvPr id="157" name="Rectangle 43">
                  <a:extLst>
                    <a:ext uri="{FF2B5EF4-FFF2-40B4-BE49-F238E27FC236}">
                      <a16:creationId xmlns:a16="http://schemas.microsoft.com/office/drawing/2014/main" id="{8D16F7FC-3BD5-524D-850A-154AD517383C}"/>
                    </a:ext>
                  </a:extLst>
                </p:cNvPr>
                <p:cNvSpPr>
                  <a:spLocks noChangeArrowheads="1"/>
                </p:cNvSpPr>
                <p:nvPr/>
              </p:nvSpPr>
              <p:spPr bwMode="auto">
                <a:xfrm>
                  <a:off x="3279" y="2295"/>
                  <a:ext cx="261" cy="246"/>
                </a:xfrm>
                <a:prstGeom prst="rect">
                  <a:avLst/>
                </a:prstGeom>
                <a:solidFill>
                  <a:srgbClr val="000080"/>
                </a:solidFill>
                <a:ln w="12700">
                  <a:solidFill>
                    <a:srgbClr val="EEECE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endParaRPr>
                </a:p>
              </p:txBody>
            </p:sp>
            <p:sp>
              <p:nvSpPr>
                <p:cNvPr id="158" name="Rectangle 44">
                  <a:extLst>
                    <a:ext uri="{FF2B5EF4-FFF2-40B4-BE49-F238E27FC236}">
                      <a16:creationId xmlns:a16="http://schemas.microsoft.com/office/drawing/2014/main" id="{A749AA5C-CE73-3241-BD14-9B570BE367BD}"/>
                    </a:ext>
                  </a:extLst>
                </p:cNvPr>
                <p:cNvSpPr>
                  <a:spLocks noChangeArrowheads="1"/>
                </p:cNvSpPr>
                <p:nvPr/>
              </p:nvSpPr>
              <p:spPr bwMode="auto">
                <a:xfrm>
                  <a:off x="2092" y="2653"/>
                  <a:ext cx="261" cy="246"/>
                </a:xfrm>
                <a:prstGeom prst="rect">
                  <a:avLst/>
                </a:prstGeom>
                <a:solidFill>
                  <a:srgbClr val="000080"/>
                </a:solidFill>
                <a:ln w="12700">
                  <a:solidFill>
                    <a:srgbClr val="EEECE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endParaRPr>
                </a:p>
              </p:txBody>
            </p:sp>
            <p:sp>
              <p:nvSpPr>
                <p:cNvPr id="159" name="Rectangle 45">
                  <a:extLst>
                    <a:ext uri="{FF2B5EF4-FFF2-40B4-BE49-F238E27FC236}">
                      <a16:creationId xmlns:a16="http://schemas.microsoft.com/office/drawing/2014/main" id="{A2C1154B-8BC3-6D48-93F9-79F4636CB1F9}"/>
                    </a:ext>
                  </a:extLst>
                </p:cNvPr>
                <p:cNvSpPr>
                  <a:spLocks noChangeArrowheads="1"/>
                </p:cNvSpPr>
                <p:nvPr/>
              </p:nvSpPr>
              <p:spPr bwMode="auto">
                <a:xfrm>
                  <a:off x="2449" y="2632"/>
                  <a:ext cx="261" cy="246"/>
                </a:xfrm>
                <a:prstGeom prst="rect">
                  <a:avLst/>
                </a:prstGeom>
                <a:solidFill>
                  <a:srgbClr val="000080"/>
                </a:solidFill>
                <a:ln w="12700">
                  <a:solidFill>
                    <a:srgbClr val="EEECE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endParaRPr>
                </a:p>
              </p:txBody>
            </p:sp>
            <p:sp>
              <p:nvSpPr>
                <p:cNvPr id="160" name="Rectangle 46">
                  <a:extLst>
                    <a:ext uri="{FF2B5EF4-FFF2-40B4-BE49-F238E27FC236}">
                      <a16:creationId xmlns:a16="http://schemas.microsoft.com/office/drawing/2014/main" id="{2E481A01-F933-3E41-9EC6-595A6D0C1DC3}"/>
                    </a:ext>
                  </a:extLst>
                </p:cNvPr>
                <p:cNvSpPr>
                  <a:spLocks noChangeArrowheads="1"/>
                </p:cNvSpPr>
                <p:nvPr/>
              </p:nvSpPr>
              <p:spPr bwMode="auto">
                <a:xfrm>
                  <a:off x="3090" y="2644"/>
                  <a:ext cx="261" cy="246"/>
                </a:xfrm>
                <a:prstGeom prst="rect">
                  <a:avLst/>
                </a:prstGeom>
                <a:solidFill>
                  <a:srgbClr val="000080"/>
                </a:solidFill>
                <a:ln w="12700">
                  <a:solidFill>
                    <a:srgbClr val="EEECE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endParaRPr>
                </a:p>
              </p:txBody>
            </p:sp>
            <p:sp>
              <p:nvSpPr>
                <p:cNvPr id="161" name="Rectangle 47">
                  <a:extLst>
                    <a:ext uri="{FF2B5EF4-FFF2-40B4-BE49-F238E27FC236}">
                      <a16:creationId xmlns:a16="http://schemas.microsoft.com/office/drawing/2014/main" id="{9AE97399-D3A7-7C41-8591-D675FBB14357}"/>
                    </a:ext>
                  </a:extLst>
                </p:cNvPr>
                <p:cNvSpPr>
                  <a:spLocks noChangeArrowheads="1"/>
                </p:cNvSpPr>
                <p:nvPr/>
              </p:nvSpPr>
              <p:spPr bwMode="auto">
                <a:xfrm>
                  <a:off x="3555" y="2757"/>
                  <a:ext cx="261" cy="246"/>
                </a:xfrm>
                <a:prstGeom prst="rect">
                  <a:avLst/>
                </a:prstGeom>
                <a:solidFill>
                  <a:srgbClr val="000080"/>
                </a:solidFill>
                <a:ln w="12700">
                  <a:solidFill>
                    <a:srgbClr val="EEECE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endParaRPr>
                </a:p>
              </p:txBody>
            </p:sp>
          </p:grpSp>
          <p:sp>
            <p:nvSpPr>
              <p:cNvPr id="152" name="Text Box 48">
                <a:extLst>
                  <a:ext uri="{FF2B5EF4-FFF2-40B4-BE49-F238E27FC236}">
                    <a16:creationId xmlns:a16="http://schemas.microsoft.com/office/drawing/2014/main" id="{845C046C-7B3A-8444-84D4-9F194C21A4C0}"/>
                  </a:ext>
                </a:extLst>
              </p:cNvPr>
              <p:cNvSpPr txBox="1">
                <a:spLocks noChangeArrowheads="1"/>
              </p:cNvSpPr>
              <p:nvPr/>
            </p:nvSpPr>
            <p:spPr bwMode="auto">
              <a:xfrm>
                <a:off x="2571" y="2265"/>
                <a:ext cx="747" cy="250"/>
              </a:xfrm>
              <a:prstGeom prst="rect">
                <a:avLst/>
              </a:prstGeom>
              <a:noFill/>
              <a:ln>
                <a:noFill/>
              </a:ln>
              <a:effectLst/>
              <a:extLst>
                <a:ext uri="{909E8E84-426E-40DD-AFC4-6F175D3DCCD1}">
                  <a14:hiddenFill xmlns:a14="http://schemas.microsoft.com/office/drawing/2010/main">
                    <a:solidFill>
                      <a:srgbClr val="00008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a:ln>
                      <a:noFill/>
                    </a:ln>
                    <a:solidFill>
                      <a:srgbClr val="EEECE1"/>
                    </a:solidFill>
                    <a:effectLst/>
                    <a:uLnTx/>
                    <a:uFillTx/>
                    <a:latin typeface="Helvetica" panose="020B0604020202020204" pitchFamily="34" charset="0"/>
                    <a:ea typeface="宋体" panose="02010600030101010101" pitchFamily="2" charset="-122"/>
                  </a:rPr>
                  <a:t>Network</a:t>
                </a:r>
              </a:p>
            </p:txBody>
          </p:sp>
        </p:grpSp>
        <p:grpSp>
          <p:nvGrpSpPr>
            <p:cNvPr id="131" name="Group 49">
              <a:extLst>
                <a:ext uri="{FF2B5EF4-FFF2-40B4-BE49-F238E27FC236}">
                  <a16:creationId xmlns:a16="http://schemas.microsoft.com/office/drawing/2014/main" id="{78A8DA5A-481D-214A-86F2-6A9F8BCD318D}"/>
                </a:ext>
              </a:extLst>
            </p:cNvPr>
            <p:cNvGrpSpPr>
              <a:grpSpLocks/>
            </p:cNvGrpSpPr>
            <p:nvPr/>
          </p:nvGrpSpPr>
          <p:grpSpPr bwMode="auto">
            <a:xfrm>
              <a:off x="3787775" y="3203575"/>
              <a:ext cx="2316163" cy="1597025"/>
              <a:chOff x="2250" y="1882"/>
              <a:chExt cx="1459" cy="1006"/>
            </a:xfrm>
          </p:grpSpPr>
          <p:grpSp>
            <p:nvGrpSpPr>
              <p:cNvPr id="142" name="Group 50">
                <a:extLst>
                  <a:ext uri="{FF2B5EF4-FFF2-40B4-BE49-F238E27FC236}">
                    <a16:creationId xmlns:a16="http://schemas.microsoft.com/office/drawing/2014/main" id="{A0D3C1C0-B636-7942-8312-DF8C4587F23F}"/>
                  </a:ext>
                </a:extLst>
              </p:cNvPr>
              <p:cNvGrpSpPr>
                <a:grpSpLocks/>
              </p:cNvGrpSpPr>
              <p:nvPr/>
            </p:nvGrpSpPr>
            <p:grpSpPr bwMode="auto">
              <a:xfrm>
                <a:off x="2250" y="1882"/>
                <a:ext cx="1459" cy="1006"/>
                <a:chOff x="2250" y="1882"/>
                <a:chExt cx="1459" cy="1006"/>
              </a:xfrm>
            </p:grpSpPr>
            <p:sp>
              <p:nvSpPr>
                <p:cNvPr id="144" name="Line 51">
                  <a:extLst>
                    <a:ext uri="{FF2B5EF4-FFF2-40B4-BE49-F238E27FC236}">
                      <a16:creationId xmlns:a16="http://schemas.microsoft.com/office/drawing/2014/main" id="{4073263B-CADC-E24F-BF8B-039530102AA8}"/>
                    </a:ext>
                  </a:extLst>
                </p:cNvPr>
                <p:cNvSpPr>
                  <a:spLocks noChangeShapeType="1"/>
                </p:cNvSpPr>
                <p:nvPr/>
              </p:nvSpPr>
              <p:spPr bwMode="auto">
                <a:xfrm flipV="1">
                  <a:off x="2488" y="1912"/>
                  <a:ext cx="0" cy="453"/>
                </a:xfrm>
                <a:prstGeom prst="line">
                  <a:avLst/>
                </a:prstGeom>
                <a:noFill/>
                <a:ln w="12700">
                  <a:solidFill>
                    <a:srgbClr val="EEECE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45" name="Line 52">
                  <a:extLst>
                    <a:ext uri="{FF2B5EF4-FFF2-40B4-BE49-F238E27FC236}">
                      <a16:creationId xmlns:a16="http://schemas.microsoft.com/office/drawing/2014/main" id="{2F5D7E3E-5559-1E40-970E-9B852D8150C5}"/>
                    </a:ext>
                  </a:extLst>
                </p:cNvPr>
                <p:cNvSpPr>
                  <a:spLocks noChangeShapeType="1"/>
                </p:cNvSpPr>
                <p:nvPr/>
              </p:nvSpPr>
              <p:spPr bwMode="auto">
                <a:xfrm flipV="1">
                  <a:off x="2888" y="1882"/>
                  <a:ext cx="460" cy="230"/>
                </a:xfrm>
                <a:prstGeom prst="line">
                  <a:avLst/>
                </a:prstGeom>
                <a:noFill/>
                <a:ln w="12700">
                  <a:solidFill>
                    <a:srgbClr val="EEECE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46" name="Line 53">
                  <a:extLst>
                    <a:ext uri="{FF2B5EF4-FFF2-40B4-BE49-F238E27FC236}">
                      <a16:creationId xmlns:a16="http://schemas.microsoft.com/office/drawing/2014/main" id="{29F3433E-1BCD-124E-AB6D-E14DE92B454E}"/>
                    </a:ext>
                  </a:extLst>
                </p:cNvPr>
                <p:cNvSpPr>
                  <a:spLocks noChangeShapeType="1"/>
                </p:cNvSpPr>
                <p:nvPr/>
              </p:nvSpPr>
              <p:spPr bwMode="auto">
                <a:xfrm flipH="1" flipV="1">
                  <a:off x="2473" y="1882"/>
                  <a:ext cx="415" cy="230"/>
                </a:xfrm>
                <a:prstGeom prst="line">
                  <a:avLst/>
                </a:prstGeom>
                <a:noFill/>
                <a:ln w="12700">
                  <a:solidFill>
                    <a:srgbClr val="EEECE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47" name="Line 54">
                  <a:extLst>
                    <a:ext uri="{FF2B5EF4-FFF2-40B4-BE49-F238E27FC236}">
                      <a16:creationId xmlns:a16="http://schemas.microsoft.com/office/drawing/2014/main" id="{BD4ED803-58D5-D646-9982-8CBD8E6AD668}"/>
                    </a:ext>
                  </a:extLst>
                </p:cNvPr>
                <p:cNvSpPr>
                  <a:spLocks noChangeShapeType="1"/>
                </p:cNvSpPr>
                <p:nvPr/>
              </p:nvSpPr>
              <p:spPr bwMode="auto">
                <a:xfrm flipV="1">
                  <a:off x="2250" y="2412"/>
                  <a:ext cx="231" cy="368"/>
                </a:xfrm>
                <a:prstGeom prst="line">
                  <a:avLst/>
                </a:prstGeom>
                <a:noFill/>
                <a:ln w="12700">
                  <a:solidFill>
                    <a:srgbClr val="EEECE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48" name="Line 55">
                  <a:extLst>
                    <a:ext uri="{FF2B5EF4-FFF2-40B4-BE49-F238E27FC236}">
                      <a16:creationId xmlns:a16="http://schemas.microsoft.com/office/drawing/2014/main" id="{05E9809B-1ADE-2C44-96F3-4E1EBBCA7395}"/>
                    </a:ext>
                  </a:extLst>
                </p:cNvPr>
                <p:cNvSpPr>
                  <a:spLocks noChangeShapeType="1"/>
                </p:cNvSpPr>
                <p:nvPr/>
              </p:nvSpPr>
              <p:spPr bwMode="auto">
                <a:xfrm>
                  <a:off x="2565" y="2772"/>
                  <a:ext cx="630" cy="1"/>
                </a:xfrm>
                <a:prstGeom prst="line">
                  <a:avLst/>
                </a:prstGeom>
                <a:noFill/>
                <a:ln w="12700">
                  <a:solidFill>
                    <a:srgbClr val="EEECE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49" name="Line 56">
                  <a:extLst>
                    <a:ext uri="{FF2B5EF4-FFF2-40B4-BE49-F238E27FC236}">
                      <a16:creationId xmlns:a16="http://schemas.microsoft.com/office/drawing/2014/main" id="{719E4DCA-7366-D04F-8929-1EC1CA761AD6}"/>
                    </a:ext>
                  </a:extLst>
                </p:cNvPr>
                <p:cNvSpPr>
                  <a:spLocks noChangeShapeType="1"/>
                </p:cNvSpPr>
                <p:nvPr/>
              </p:nvSpPr>
              <p:spPr bwMode="auto">
                <a:xfrm>
                  <a:off x="3218" y="2765"/>
                  <a:ext cx="476" cy="123"/>
                </a:xfrm>
                <a:prstGeom prst="line">
                  <a:avLst/>
                </a:prstGeom>
                <a:noFill/>
                <a:ln w="12700">
                  <a:solidFill>
                    <a:srgbClr val="EEECE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50" name="Line 57">
                  <a:extLst>
                    <a:ext uri="{FF2B5EF4-FFF2-40B4-BE49-F238E27FC236}">
                      <a16:creationId xmlns:a16="http://schemas.microsoft.com/office/drawing/2014/main" id="{ECCEBF9F-7AA4-D049-BA79-60B5C5A95188}"/>
                    </a:ext>
                  </a:extLst>
                </p:cNvPr>
                <p:cNvSpPr>
                  <a:spLocks noChangeShapeType="1"/>
                </p:cNvSpPr>
                <p:nvPr/>
              </p:nvSpPr>
              <p:spPr bwMode="auto">
                <a:xfrm>
                  <a:off x="3433" y="2419"/>
                  <a:ext cx="276" cy="469"/>
                </a:xfrm>
                <a:prstGeom prst="line">
                  <a:avLst/>
                </a:prstGeom>
                <a:noFill/>
                <a:ln w="12700">
                  <a:solidFill>
                    <a:srgbClr val="EEECE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pSp>
          <p:sp>
            <p:nvSpPr>
              <p:cNvPr id="143" name="Line 58">
                <a:extLst>
                  <a:ext uri="{FF2B5EF4-FFF2-40B4-BE49-F238E27FC236}">
                    <a16:creationId xmlns:a16="http://schemas.microsoft.com/office/drawing/2014/main" id="{796680FF-3211-2143-A21E-E07147E35ED2}"/>
                  </a:ext>
                </a:extLst>
              </p:cNvPr>
              <p:cNvSpPr>
                <a:spLocks noChangeShapeType="1"/>
              </p:cNvSpPr>
              <p:nvPr/>
            </p:nvSpPr>
            <p:spPr bwMode="auto">
              <a:xfrm>
                <a:off x="2312" y="2757"/>
                <a:ext cx="346" cy="1"/>
              </a:xfrm>
              <a:prstGeom prst="line">
                <a:avLst/>
              </a:prstGeom>
              <a:noFill/>
              <a:ln w="12700">
                <a:solidFill>
                  <a:srgbClr val="EEECE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pSp>
        <p:grpSp>
          <p:nvGrpSpPr>
            <p:cNvPr id="132" name="Group 59">
              <a:extLst>
                <a:ext uri="{FF2B5EF4-FFF2-40B4-BE49-F238E27FC236}">
                  <a16:creationId xmlns:a16="http://schemas.microsoft.com/office/drawing/2014/main" id="{641CBEBA-5E85-014B-817A-4BD612B56561}"/>
                </a:ext>
              </a:extLst>
            </p:cNvPr>
            <p:cNvGrpSpPr>
              <a:grpSpLocks/>
            </p:cNvGrpSpPr>
            <p:nvPr/>
          </p:nvGrpSpPr>
          <p:grpSpPr bwMode="auto">
            <a:xfrm>
              <a:off x="3776663" y="3592513"/>
              <a:ext cx="2290762" cy="1209675"/>
              <a:chOff x="2243" y="2127"/>
              <a:chExt cx="1443" cy="762"/>
            </a:xfrm>
          </p:grpSpPr>
          <p:sp>
            <p:nvSpPr>
              <p:cNvPr id="138" name="Line 60">
                <a:extLst>
                  <a:ext uri="{FF2B5EF4-FFF2-40B4-BE49-F238E27FC236}">
                    <a16:creationId xmlns:a16="http://schemas.microsoft.com/office/drawing/2014/main" id="{A5D8E32C-44E3-FB48-BB88-1B282799CF2F}"/>
                  </a:ext>
                </a:extLst>
              </p:cNvPr>
              <p:cNvSpPr>
                <a:spLocks noChangeShapeType="1"/>
              </p:cNvSpPr>
              <p:nvPr/>
            </p:nvSpPr>
            <p:spPr bwMode="auto">
              <a:xfrm flipV="1">
                <a:off x="2243" y="2412"/>
                <a:ext cx="245" cy="353"/>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39" name="Line 61">
                <a:extLst>
                  <a:ext uri="{FF2B5EF4-FFF2-40B4-BE49-F238E27FC236}">
                    <a16:creationId xmlns:a16="http://schemas.microsoft.com/office/drawing/2014/main" id="{F0A0DCE3-6281-4D48-B336-D8310562DF7B}"/>
                  </a:ext>
                </a:extLst>
              </p:cNvPr>
              <p:cNvSpPr>
                <a:spLocks noChangeShapeType="1"/>
              </p:cNvSpPr>
              <p:nvPr/>
            </p:nvSpPr>
            <p:spPr bwMode="auto">
              <a:xfrm flipV="1">
                <a:off x="2496" y="2127"/>
                <a:ext cx="399" cy="277"/>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40" name="Line 62">
                <a:extLst>
                  <a:ext uri="{FF2B5EF4-FFF2-40B4-BE49-F238E27FC236}">
                    <a16:creationId xmlns:a16="http://schemas.microsoft.com/office/drawing/2014/main" id="{99100149-D285-D14B-9119-8695A38C987D}"/>
                  </a:ext>
                </a:extLst>
              </p:cNvPr>
              <p:cNvSpPr>
                <a:spLocks noChangeShapeType="1"/>
              </p:cNvSpPr>
              <p:nvPr/>
            </p:nvSpPr>
            <p:spPr bwMode="auto">
              <a:xfrm>
                <a:off x="2903" y="2127"/>
                <a:ext cx="346" cy="630"/>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41" name="Line 63">
                <a:extLst>
                  <a:ext uri="{FF2B5EF4-FFF2-40B4-BE49-F238E27FC236}">
                    <a16:creationId xmlns:a16="http://schemas.microsoft.com/office/drawing/2014/main" id="{B80BD5AE-5DB9-534A-AFCC-1ED78CA86649}"/>
                  </a:ext>
                </a:extLst>
              </p:cNvPr>
              <p:cNvSpPr>
                <a:spLocks noChangeShapeType="1"/>
              </p:cNvSpPr>
              <p:nvPr/>
            </p:nvSpPr>
            <p:spPr bwMode="auto">
              <a:xfrm>
                <a:off x="3256" y="2773"/>
                <a:ext cx="430" cy="116"/>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grpSp>
        <p:sp>
          <p:nvSpPr>
            <p:cNvPr id="133" name="Text Box 64">
              <a:extLst>
                <a:ext uri="{FF2B5EF4-FFF2-40B4-BE49-F238E27FC236}">
                  <a16:creationId xmlns:a16="http://schemas.microsoft.com/office/drawing/2014/main" id="{441245D8-F103-374F-892A-D178C9249E6B}"/>
                </a:ext>
              </a:extLst>
            </p:cNvPr>
            <p:cNvSpPr txBox="1">
              <a:spLocks noChangeArrowheads="1"/>
            </p:cNvSpPr>
            <p:nvPr/>
          </p:nvSpPr>
          <p:spPr bwMode="auto">
            <a:xfrm>
              <a:off x="2009775" y="1803400"/>
              <a:ext cx="368300" cy="396875"/>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a:ln>
                    <a:noFill/>
                  </a:ln>
                  <a:solidFill>
                    <a:prstClr val="black"/>
                  </a:solidFill>
                  <a:effectLst/>
                  <a:uLnTx/>
                  <a:uFillTx/>
                  <a:latin typeface="Helvetica" panose="020B0604020202020204" pitchFamily="34" charset="0"/>
                  <a:ea typeface="宋体" panose="02010600030101010101" pitchFamily="2" charset="-122"/>
                </a:rPr>
                <a:t>A</a:t>
              </a:r>
            </a:p>
          </p:txBody>
        </p:sp>
        <p:sp>
          <p:nvSpPr>
            <p:cNvPr id="134" name="Text Box 65">
              <a:extLst>
                <a:ext uri="{FF2B5EF4-FFF2-40B4-BE49-F238E27FC236}">
                  <a16:creationId xmlns:a16="http://schemas.microsoft.com/office/drawing/2014/main" id="{F4CC730F-55F7-614B-8150-D56ACABD950A}"/>
                </a:ext>
              </a:extLst>
            </p:cNvPr>
            <p:cNvSpPr txBox="1">
              <a:spLocks noChangeArrowheads="1"/>
            </p:cNvSpPr>
            <p:nvPr/>
          </p:nvSpPr>
          <p:spPr bwMode="auto">
            <a:xfrm>
              <a:off x="7469188" y="1782763"/>
              <a:ext cx="368300" cy="396875"/>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a:ln>
                    <a:noFill/>
                  </a:ln>
                  <a:solidFill>
                    <a:prstClr val="black"/>
                  </a:solidFill>
                  <a:effectLst/>
                  <a:uLnTx/>
                  <a:uFillTx/>
                  <a:latin typeface="Helvetica" panose="020B0604020202020204" pitchFamily="34" charset="0"/>
                  <a:ea typeface="宋体" panose="02010600030101010101" pitchFamily="2" charset="-122"/>
                </a:rPr>
                <a:t>B</a:t>
              </a:r>
            </a:p>
          </p:txBody>
        </p:sp>
        <p:sp>
          <p:nvSpPr>
            <p:cNvPr id="135" name="Text Box 66">
              <a:extLst>
                <a:ext uri="{FF2B5EF4-FFF2-40B4-BE49-F238E27FC236}">
                  <a16:creationId xmlns:a16="http://schemas.microsoft.com/office/drawing/2014/main" id="{DD96FBCD-14E9-4449-BD6A-EFF38CF0D35A}"/>
                </a:ext>
              </a:extLst>
            </p:cNvPr>
            <p:cNvSpPr txBox="1">
              <a:spLocks noChangeArrowheads="1"/>
            </p:cNvSpPr>
            <p:nvPr/>
          </p:nvSpPr>
          <p:spPr bwMode="auto">
            <a:xfrm>
              <a:off x="1995488" y="4906963"/>
              <a:ext cx="368300" cy="396875"/>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a:ln>
                    <a:noFill/>
                  </a:ln>
                  <a:solidFill>
                    <a:prstClr val="black"/>
                  </a:solidFill>
                  <a:effectLst/>
                  <a:uLnTx/>
                  <a:uFillTx/>
                  <a:latin typeface="Helvetica" panose="020B0604020202020204" pitchFamily="34" charset="0"/>
                  <a:ea typeface="宋体" panose="02010600030101010101" pitchFamily="2" charset="-122"/>
                </a:rPr>
                <a:t>C</a:t>
              </a:r>
            </a:p>
          </p:txBody>
        </p:sp>
        <p:sp>
          <p:nvSpPr>
            <p:cNvPr id="136" name="Text Box 67">
              <a:extLst>
                <a:ext uri="{FF2B5EF4-FFF2-40B4-BE49-F238E27FC236}">
                  <a16:creationId xmlns:a16="http://schemas.microsoft.com/office/drawing/2014/main" id="{19272F6B-083E-3C48-87E7-CBB519986B89}"/>
                </a:ext>
              </a:extLst>
            </p:cNvPr>
            <p:cNvSpPr txBox="1">
              <a:spLocks noChangeArrowheads="1"/>
            </p:cNvSpPr>
            <p:nvPr/>
          </p:nvSpPr>
          <p:spPr bwMode="auto">
            <a:xfrm>
              <a:off x="7397750" y="4921250"/>
              <a:ext cx="368300" cy="396875"/>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000" b="1" i="0" u="none" strike="noStrike" kern="0" cap="none" spc="0" normalizeH="0" baseline="0" noProof="0" dirty="0">
                  <a:ln>
                    <a:noFill/>
                  </a:ln>
                  <a:solidFill>
                    <a:prstClr val="black"/>
                  </a:solidFill>
                  <a:effectLst/>
                  <a:uLnTx/>
                  <a:uFillTx/>
                  <a:latin typeface="Helvetica" panose="020B0604020202020204" pitchFamily="34" charset="0"/>
                  <a:ea typeface="宋体" panose="02010600030101010101" pitchFamily="2" charset="-122"/>
                </a:rPr>
                <a:t>D</a:t>
              </a:r>
            </a:p>
          </p:txBody>
        </p:sp>
        <p:sp>
          <p:nvSpPr>
            <p:cNvPr id="137" name="Text Box 68">
              <a:extLst>
                <a:ext uri="{FF2B5EF4-FFF2-40B4-BE49-F238E27FC236}">
                  <a16:creationId xmlns:a16="http://schemas.microsoft.com/office/drawing/2014/main" id="{92AF5BC4-4721-F943-9F17-052BD5E6B840}"/>
                </a:ext>
              </a:extLst>
            </p:cNvPr>
            <p:cNvSpPr txBox="1">
              <a:spLocks noChangeArrowheads="1"/>
            </p:cNvSpPr>
            <p:nvPr/>
          </p:nvSpPr>
          <p:spPr bwMode="auto">
            <a:xfrm>
              <a:off x="912813" y="5919788"/>
              <a:ext cx="768350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685800" eaLnBrk="1" fontAlgn="auto" latinLnBrk="0" hangingPunct="1">
                <a:lnSpc>
                  <a:spcPct val="100000"/>
                </a:lnSpc>
                <a:spcBef>
                  <a:spcPct val="20000"/>
                </a:spcBef>
                <a:spcAft>
                  <a:spcPts val="0"/>
                </a:spcAft>
                <a:buClr>
                  <a:srgbClr val="3333CC"/>
                </a:buClr>
                <a:buSzPct val="85000"/>
                <a:buFontTx/>
                <a:buNone/>
                <a:tabLst/>
                <a:defRPr/>
              </a:pPr>
              <a:r>
                <a:rPr kumimoji="0" lang="en-US" altLang="zh-CN" sz="2400" b="0" i="0" u="none" strike="noStrike" kern="0" cap="none" spc="0" normalizeH="0" baseline="0" noProof="0" dirty="0">
                  <a:ln>
                    <a:noFill/>
                  </a:ln>
                  <a:solidFill>
                    <a:prstClr val="black"/>
                  </a:solidFill>
                  <a:effectLst/>
                  <a:uLnTx/>
                  <a:uFillTx/>
                  <a:latin typeface="Comic Sans MS" panose="030F0702030302020204" pitchFamily="66" charset="0"/>
                  <a:ea typeface="宋体" panose="02010600030101010101" pitchFamily="2" charset="-122"/>
                </a:rPr>
                <a:t>Packet switching and route around failures</a:t>
              </a:r>
            </a:p>
          </p:txBody>
        </p:sp>
      </p:grpSp>
      <p:sp>
        <p:nvSpPr>
          <p:cNvPr id="42" name="矩形 41">
            <a:extLst>
              <a:ext uri="{FF2B5EF4-FFF2-40B4-BE49-F238E27FC236}">
                <a16:creationId xmlns:a16="http://schemas.microsoft.com/office/drawing/2014/main" id="{787CBE72-B389-374F-87F1-596061973806}"/>
              </a:ext>
            </a:extLst>
          </p:cNvPr>
          <p:cNvSpPr/>
          <p:nvPr/>
        </p:nvSpPr>
        <p:spPr>
          <a:xfrm>
            <a:off x="711445" y="5189705"/>
            <a:ext cx="10864469" cy="1535805"/>
          </a:xfrm>
          <a:prstGeom prst="rect">
            <a:avLst/>
          </a:prstGeom>
          <a:ln>
            <a:solidFill>
              <a:srgbClr val="00B0F0"/>
            </a:solidFill>
          </a:ln>
        </p:spPr>
        <p:txBody>
          <a:bodyPr wrap="square">
            <a:spAutoFit/>
          </a:bodyPr>
          <a:lstStyle/>
          <a:p>
            <a:pPr marL="342900" indent="-342900" algn="just">
              <a:lnSpc>
                <a:spcPct val="120000"/>
              </a:lnSpc>
              <a:spcBef>
                <a:spcPct val="20000"/>
              </a:spcBef>
              <a:buClr>
                <a:schemeClr val="tx1"/>
              </a:buClr>
              <a:buSzPct val="100000"/>
              <a:buFont typeface="Arial" panose="020B0604020202020204" pitchFamily="34" charset="0"/>
              <a:buChar char="•"/>
            </a:pPr>
            <a:r>
              <a:rPr lang="en-US" altLang="zh-CN" sz="2400" dirty="0">
                <a:latin typeface="Microsoft YaHei" panose="020B0503020204020204" pitchFamily="34" charset="-122"/>
                <a:ea typeface="Microsoft YaHei" panose="020B0503020204020204" pitchFamily="34" charset="-122"/>
              </a:rPr>
              <a:t>RON</a:t>
            </a:r>
            <a:r>
              <a:rPr lang="zh-CN" altLang="en-US" sz="2400" dirty="0">
                <a:latin typeface="Microsoft YaHei" panose="020B0503020204020204" pitchFamily="34" charset="-122"/>
                <a:ea typeface="Microsoft YaHei" panose="020B0503020204020204" pitchFamily="34" charset="-122"/>
              </a:rPr>
              <a:t>節點監控它們之間的路徑的質量幷根據這些信息决定</a:t>
            </a:r>
          </a:p>
          <a:p>
            <a:pPr marL="684000" lvl="1" indent="-342900">
              <a:lnSpc>
                <a:spcPct val="120000"/>
              </a:lnSpc>
              <a:spcBef>
                <a:spcPct val="20000"/>
              </a:spcBef>
              <a:buClr>
                <a:schemeClr val="tx1"/>
              </a:buClr>
              <a:buSzPct val="100000"/>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直接利用</a:t>
            </a:r>
            <a:r>
              <a:rPr lang="en-US" altLang="zh-CN" sz="2400" dirty="0">
                <a:latin typeface="Microsoft YaHei" panose="020B0503020204020204" pitchFamily="34" charset="-122"/>
                <a:ea typeface="Microsoft YaHei" panose="020B0503020204020204" pitchFamily="34" charset="-122"/>
              </a:rPr>
              <a:t>Internet</a:t>
            </a:r>
            <a:r>
              <a:rPr lang="zh-CN" altLang="en-US" sz="2400" dirty="0">
                <a:latin typeface="Microsoft YaHei" panose="020B0503020204020204" pitchFamily="34" charset="-122"/>
                <a:ea typeface="Microsoft YaHei" panose="020B0503020204020204" pitchFamily="34" charset="-122"/>
              </a:rPr>
              <a:t>轉發分組</a:t>
            </a:r>
          </a:p>
          <a:p>
            <a:pPr marL="684000" lvl="1" indent="-342900">
              <a:lnSpc>
                <a:spcPct val="120000"/>
              </a:lnSpc>
              <a:spcBef>
                <a:spcPct val="20000"/>
              </a:spcBef>
              <a:buClr>
                <a:schemeClr val="tx1"/>
              </a:buClr>
              <a:buSzPct val="100000"/>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通過其他</a:t>
            </a:r>
            <a:r>
              <a:rPr lang="en-US" altLang="zh-CN" sz="2400" dirty="0">
                <a:latin typeface="Microsoft YaHei" panose="020B0503020204020204" pitchFamily="34" charset="-122"/>
                <a:ea typeface="Microsoft YaHei" panose="020B0503020204020204" pitchFamily="34" charset="-122"/>
              </a:rPr>
              <a:t>RON</a:t>
            </a:r>
            <a:r>
              <a:rPr lang="zh-CN" altLang="en-US" sz="2400" dirty="0">
                <a:latin typeface="Microsoft YaHei" panose="020B0503020204020204" pitchFamily="34" charset="-122"/>
                <a:ea typeface="Microsoft YaHei" panose="020B0503020204020204" pitchFamily="34" charset="-122"/>
              </a:rPr>
              <a:t>節點轉發分組</a:t>
            </a:r>
          </a:p>
        </p:txBody>
      </p:sp>
      <p:sp>
        <p:nvSpPr>
          <p:cNvPr id="72" name="灯片编号占位符 2">
            <a:extLst>
              <a:ext uri="{FF2B5EF4-FFF2-40B4-BE49-F238E27FC236}">
                <a16:creationId xmlns:a16="http://schemas.microsoft.com/office/drawing/2014/main" id="{B930A2FA-68E2-4744-B9E8-46CDAF6910B4}"/>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29</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39200639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en-US" altLang="zh-CN" dirty="0"/>
              <a:t>RON</a:t>
            </a:r>
            <a:r>
              <a:rPr kumimoji="1" lang="zh-CN" altLang="en-US" dirty="0"/>
              <a:t>的目標</a:t>
            </a:r>
          </a:p>
        </p:txBody>
      </p:sp>
      <p:sp>
        <p:nvSpPr>
          <p:cNvPr id="50" name="Rectangle 8">
            <a:extLst>
              <a:ext uri="{FF2B5EF4-FFF2-40B4-BE49-F238E27FC236}">
                <a16:creationId xmlns:a16="http://schemas.microsoft.com/office/drawing/2014/main" id="{2691F5D9-D507-F44A-9D0B-47C4B8555BAC}"/>
              </a:ext>
            </a:extLst>
          </p:cNvPr>
          <p:cNvSpPr>
            <a:spLocks noChangeArrowheads="1"/>
          </p:cNvSpPr>
          <p:nvPr/>
        </p:nvSpPr>
        <p:spPr bwMode="auto">
          <a:xfrm>
            <a:off x="778470" y="3754360"/>
            <a:ext cx="4768614" cy="277979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685800" eaLnBrk="1" hangingPunct="1">
              <a:lnSpc>
                <a:spcPct val="150000"/>
              </a:lnSpc>
              <a:spcBef>
                <a:spcPct val="20000"/>
              </a:spcBef>
              <a:buClr>
                <a:schemeClr val="tx1"/>
              </a:buClr>
              <a:buSzPct val="100000"/>
              <a:buFont typeface="Arial" panose="020B0604020202020204" pitchFamily="34" charset="0"/>
              <a:buChar char="•"/>
              <a:defRPr/>
            </a:pPr>
            <a:r>
              <a:rPr lang="zh-CN" altLang="en-US" sz="2400" b="1" dirty="0">
                <a:latin typeface="Microsoft YaHei" panose="020B0503020204020204" pitchFamily="34" charset="-122"/>
                <a:ea typeface="Microsoft YaHei" panose="020B0503020204020204" pitchFamily="34" charset="-122"/>
              </a:rPr>
              <a:t>應用場景</a:t>
            </a:r>
            <a:endParaRPr lang="en-US" altLang="zh-CN" sz="2400" b="1" dirty="0">
              <a:latin typeface="Microsoft YaHei" panose="020B0503020204020204" pitchFamily="34" charset="-122"/>
              <a:ea typeface="Microsoft YaHei" panose="020B0503020204020204" pitchFamily="34" charset="-122"/>
            </a:endParaRPr>
          </a:p>
          <a:p>
            <a:pPr marL="800100" lvl="1" indent="-342900" defTabSz="685800">
              <a:lnSpc>
                <a:spcPct val="150000"/>
              </a:lnSpc>
              <a:spcBef>
                <a:spcPct val="20000"/>
              </a:spcBef>
              <a:buClr>
                <a:schemeClr val="tx1"/>
              </a:buClr>
              <a:buSzPct val="100000"/>
              <a:buFont typeface="Arial" panose="020B0604020202020204" pitchFamily="34" charset="0"/>
              <a:buChar char="•"/>
              <a:defRPr/>
            </a:pPr>
            <a:r>
              <a:rPr lang="zh-CN" altLang="en-US" sz="2400" dirty="0">
                <a:latin typeface="Microsoft YaHei" panose="020B0503020204020204" pitchFamily="34" charset="-122"/>
                <a:ea typeface="Microsoft YaHei" panose="020B0503020204020204" pitchFamily="34" charset="-122"/>
              </a:rPr>
              <a:t>協同服務和視頻會議</a:t>
            </a:r>
            <a:endParaRPr lang="en-US" altLang="zh-CN" sz="2400" dirty="0">
              <a:latin typeface="Microsoft YaHei" panose="020B0503020204020204" pitchFamily="34" charset="-122"/>
              <a:ea typeface="Microsoft YaHei" panose="020B0503020204020204" pitchFamily="34" charset="-122"/>
            </a:endParaRPr>
          </a:p>
          <a:p>
            <a:pPr marL="800100" lvl="1" indent="-342900" defTabSz="685800">
              <a:lnSpc>
                <a:spcPct val="150000"/>
              </a:lnSpc>
              <a:spcBef>
                <a:spcPct val="20000"/>
              </a:spcBef>
              <a:buClr>
                <a:schemeClr val="tx1"/>
              </a:buClr>
              <a:buSzPct val="100000"/>
              <a:buFont typeface="Arial" panose="020B0604020202020204" pitchFamily="34" charset="0"/>
              <a:buChar char="•"/>
              <a:defRPr/>
            </a:pPr>
            <a:r>
              <a:rPr lang="zh-CN" altLang="en-US" sz="2400" dirty="0">
                <a:latin typeface="Microsoft YaHei" panose="020B0503020204020204" pitchFamily="34" charset="-122"/>
                <a:ea typeface="Microsoft YaHei" panose="020B0503020204020204" pitchFamily="34" charset="-122"/>
              </a:rPr>
              <a:t>構建跨越互聯網的</a:t>
            </a:r>
            <a:r>
              <a:rPr lang="en-US" altLang="zh-CN" sz="2400" dirty="0">
                <a:latin typeface="Microsoft YaHei" panose="020B0503020204020204" pitchFamily="34" charset="-122"/>
                <a:ea typeface="Microsoft YaHei" panose="020B0503020204020204" pitchFamily="34" charset="-122"/>
              </a:rPr>
              <a:t>VPN</a:t>
            </a:r>
          </a:p>
          <a:p>
            <a:pPr marL="800100" lvl="1" indent="-342900" defTabSz="685800">
              <a:lnSpc>
                <a:spcPct val="150000"/>
              </a:lnSpc>
              <a:spcBef>
                <a:spcPct val="20000"/>
              </a:spcBef>
              <a:buClr>
                <a:schemeClr val="tx1"/>
              </a:buClr>
              <a:buSzPct val="100000"/>
              <a:buFont typeface="Arial" panose="020B0604020202020204" pitchFamily="34" charset="0"/>
              <a:buChar char="•"/>
              <a:defRPr/>
            </a:pPr>
            <a:r>
              <a:rPr lang="zh-CN" altLang="en-US" sz="2400" dirty="0">
                <a:latin typeface="Microsoft YaHei" panose="020B0503020204020204" pitchFamily="34" charset="-122"/>
                <a:ea typeface="Microsoft YaHei" panose="020B0503020204020204" pitchFamily="34" charset="-122"/>
              </a:rPr>
              <a:t>可靠的</a:t>
            </a:r>
            <a:r>
              <a:rPr lang="en-US" altLang="zh-CN" sz="2400" dirty="0">
                <a:latin typeface="Microsoft YaHei" panose="020B0503020204020204" pitchFamily="34" charset="-122"/>
                <a:ea typeface="Microsoft YaHei" panose="020B0503020204020204" pitchFamily="34" charset="-122"/>
              </a:rPr>
              <a:t>overlay</a:t>
            </a:r>
            <a:r>
              <a:rPr lang="zh-CN" altLang="en-US" sz="2400" dirty="0">
                <a:latin typeface="Microsoft YaHei" panose="020B0503020204020204" pitchFamily="34" charset="-122"/>
                <a:ea typeface="Microsoft YaHei" panose="020B0503020204020204" pitchFamily="34" charset="-122"/>
              </a:rPr>
              <a:t>網絡服務</a:t>
            </a:r>
            <a:endParaRPr lang="en-US" altLang="zh-CN" sz="2400" dirty="0">
              <a:latin typeface="Microsoft YaHei" panose="020B0503020204020204" pitchFamily="34" charset="-122"/>
              <a:ea typeface="Microsoft YaHei" panose="020B0503020204020204" pitchFamily="34" charset="-122"/>
            </a:endParaRPr>
          </a:p>
        </p:txBody>
      </p:sp>
      <p:grpSp>
        <p:nvGrpSpPr>
          <p:cNvPr id="42" name="组合 41">
            <a:extLst>
              <a:ext uri="{FF2B5EF4-FFF2-40B4-BE49-F238E27FC236}">
                <a16:creationId xmlns:a16="http://schemas.microsoft.com/office/drawing/2014/main" id="{56A8F317-3256-944B-8018-FBEE849C3A75}"/>
              </a:ext>
            </a:extLst>
          </p:cNvPr>
          <p:cNvGrpSpPr/>
          <p:nvPr/>
        </p:nvGrpSpPr>
        <p:grpSpPr>
          <a:xfrm>
            <a:off x="6096000" y="3295983"/>
            <a:ext cx="5749171" cy="3003892"/>
            <a:chOff x="5397500" y="2034884"/>
            <a:chExt cx="5505450" cy="2876550"/>
          </a:xfrm>
        </p:grpSpPr>
        <p:sp>
          <p:nvSpPr>
            <p:cNvPr id="46" name="computr2">
              <a:extLst>
                <a:ext uri="{FF2B5EF4-FFF2-40B4-BE49-F238E27FC236}">
                  <a16:creationId xmlns:a16="http://schemas.microsoft.com/office/drawing/2014/main" id="{7F9C03D1-5567-694D-A980-844D900FBE10}"/>
                </a:ext>
              </a:extLst>
            </p:cNvPr>
            <p:cNvSpPr>
              <a:spLocks noEditPoints="1" noChangeArrowheads="1"/>
            </p:cNvSpPr>
            <p:nvPr/>
          </p:nvSpPr>
          <p:spPr bwMode="auto">
            <a:xfrm>
              <a:off x="10207625" y="4208172"/>
              <a:ext cx="676275" cy="447675"/>
            </a:xfrm>
            <a:custGeom>
              <a:avLst/>
              <a:gdLst>
                <a:gd name="T0" fmla="*/ 2147483646 w 21600"/>
                <a:gd name="T1" fmla="*/ 0 h 21600"/>
                <a:gd name="T2" fmla="*/ 2147483646 w 21600"/>
                <a:gd name="T3" fmla="*/ 2147483646 h 21600"/>
                <a:gd name="T4" fmla="*/ 2147483646 w 21600"/>
                <a:gd name="T5" fmla="*/ 0 h 21600"/>
                <a:gd name="T6" fmla="*/ 2147483646 w 21600"/>
                <a:gd name="T7" fmla="*/ 0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2147483646 w 21600"/>
                <a:gd name="T17" fmla="*/ 2147483646 h 21600"/>
                <a:gd name="T18" fmla="*/ 2147483646 w 21600"/>
                <a:gd name="T19" fmla="*/ 2147483646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6194 w 21600"/>
                <a:gd name="T31" fmla="*/ 1913 h 21600"/>
                <a:gd name="T32" fmla="*/ 15565 w 21600"/>
                <a:gd name="T33" fmla="*/ 97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endParaRPr lang="zh-CN" altLang="en-US"/>
            </a:p>
          </p:txBody>
        </p:sp>
        <p:sp>
          <p:nvSpPr>
            <p:cNvPr id="47" name="computr2">
              <a:extLst>
                <a:ext uri="{FF2B5EF4-FFF2-40B4-BE49-F238E27FC236}">
                  <a16:creationId xmlns:a16="http://schemas.microsoft.com/office/drawing/2014/main" id="{92C0E47C-D5D7-D947-8F90-B2E4EAC45878}"/>
                </a:ext>
              </a:extLst>
            </p:cNvPr>
            <p:cNvSpPr>
              <a:spLocks noEditPoints="1" noChangeArrowheads="1"/>
            </p:cNvSpPr>
            <p:nvPr/>
          </p:nvSpPr>
          <p:spPr bwMode="auto">
            <a:xfrm>
              <a:off x="5459413" y="2517484"/>
              <a:ext cx="676275" cy="447675"/>
            </a:xfrm>
            <a:custGeom>
              <a:avLst/>
              <a:gdLst>
                <a:gd name="T0" fmla="*/ 2147483646 w 21600"/>
                <a:gd name="T1" fmla="*/ 0 h 21600"/>
                <a:gd name="T2" fmla="*/ 2147483646 w 21600"/>
                <a:gd name="T3" fmla="*/ 2147483646 h 21600"/>
                <a:gd name="T4" fmla="*/ 2147483646 w 21600"/>
                <a:gd name="T5" fmla="*/ 0 h 21600"/>
                <a:gd name="T6" fmla="*/ 2147483646 w 21600"/>
                <a:gd name="T7" fmla="*/ 0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2147483646 w 21600"/>
                <a:gd name="T17" fmla="*/ 2147483646 h 21600"/>
                <a:gd name="T18" fmla="*/ 2147483646 w 21600"/>
                <a:gd name="T19" fmla="*/ 2147483646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6194 w 21600"/>
                <a:gd name="T31" fmla="*/ 1913 h 21600"/>
                <a:gd name="T32" fmla="*/ 15565 w 21600"/>
                <a:gd name="T33" fmla="*/ 97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endParaRPr lang="zh-CN" altLang="en-US"/>
            </a:p>
          </p:txBody>
        </p:sp>
        <p:sp>
          <p:nvSpPr>
            <p:cNvPr id="48" name="computr2">
              <a:extLst>
                <a:ext uri="{FF2B5EF4-FFF2-40B4-BE49-F238E27FC236}">
                  <a16:creationId xmlns:a16="http://schemas.microsoft.com/office/drawing/2014/main" id="{4F1FC4E3-5420-874A-AFA4-6D89697608B3}"/>
                </a:ext>
              </a:extLst>
            </p:cNvPr>
            <p:cNvSpPr>
              <a:spLocks noEditPoints="1" noChangeArrowheads="1"/>
            </p:cNvSpPr>
            <p:nvPr/>
          </p:nvSpPr>
          <p:spPr bwMode="auto">
            <a:xfrm>
              <a:off x="5397500" y="4209759"/>
              <a:ext cx="676275" cy="523875"/>
            </a:xfrm>
            <a:custGeom>
              <a:avLst/>
              <a:gdLst>
                <a:gd name="T0" fmla="*/ 2147483646 w 21600"/>
                <a:gd name="T1" fmla="*/ 0 h 21600"/>
                <a:gd name="T2" fmla="*/ 2147483646 w 21600"/>
                <a:gd name="T3" fmla="*/ 2147483646 h 21600"/>
                <a:gd name="T4" fmla="*/ 2147483646 w 21600"/>
                <a:gd name="T5" fmla="*/ 0 h 21600"/>
                <a:gd name="T6" fmla="*/ 2147483646 w 21600"/>
                <a:gd name="T7" fmla="*/ 0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2147483646 w 21600"/>
                <a:gd name="T17" fmla="*/ 2147483646 h 21600"/>
                <a:gd name="T18" fmla="*/ 2147483646 w 21600"/>
                <a:gd name="T19" fmla="*/ 2147483646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6194 w 21600"/>
                <a:gd name="T31" fmla="*/ 1913 h 21600"/>
                <a:gd name="T32" fmla="*/ 15565 w 21600"/>
                <a:gd name="T33" fmla="*/ 97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endParaRPr lang="zh-CN" altLang="en-US"/>
            </a:p>
          </p:txBody>
        </p:sp>
        <p:sp>
          <p:nvSpPr>
            <p:cNvPr id="49" name="computr2">
              <a:extLst>
                <a:ext uri="{FF2B5EF4-FFF2-40B4-BE49-F238E27FC236}">
                  <a16:creationId xmlns:a16="http://schemas.microsoft.com/office/drawing/2014/main" id="{FBA49837-7D9F-7F49-AECA-753B739D3A1A}"/>
                </a:ext>
              </a:extLst>
            </p:cNvPr>
            <p:cNvSpPr>
              <a:spLocks noEditPoints="1" noChangeArrowheads="1"/>
            </p:cNvSpPr>
            <p:nvPr/>
          </p:nvSpPr>
          <p:spPr bwMode="auto">
            <a:xfrm>
              <a:off x="7796213" y="2034884"/>
              <a:ext cx="676275" cy="447675"/>
            </a:xfrm>
            <a:custGeom>
              <a:avLst/>
              <a:gdLst>
                <a:gd name="T0" fmla="*/ 2147483646 w 21600"/>
                <a:gd name="T1" fmla="*/ 0 h 21600"/>
                <a:gd name="T2" fmla="*/ 2147483646 w 21600"/>
                <a:gd name="T3" fmla="*/ 2147483646 h 21600"/>
                <a:gd name="T4" fmla="*/ 2147483646 w 21600"/>
                <a:gd name="T5" fmla="*/ 0 h 21600"/>
                <a:gd name="T6" fmla="*/ 2147483646 w 21600"/>
                <a:gd name="T7" fmla="*/ 0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2147483646 w 21600"/>
                <a:gd name="T17" fmla="*/ 2147483646 h 21600"/>
                <a:gd name="T18" fmla="*/ 2147483646 w 21600"/>
                <a:gd name="T19" fmla="*/ 2147483646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6194 w 21600"/>
                <a:gd name="T31" fmla="*/ 1913 h 21600"/>
                <a:gd name="T32" fmla="*/ 15565 w 21600"/>
                <a:gd name="T33" fmla="*/ 97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endParaRPr lang="zh-CN" altLang="en-US"/>
            </a:p>
          </p:txBody>
        </p:sp>
        <p:sp>
          <p:nvSpPr>
            <p:cNvPr id="51" name="computr2">
              <a:extLst>
                <a:ext uri="{FF2B5EF4-FFF2-40B4-BE49-F238E27FC236}">
                  <a16:creationId xmlns:a16="http://schemas.microsoft.com/office/drawing/2014/main" id="{1A20CA49-17FC-E54C-A5AD-A25BD3B212EA}"/>
                </a:ext>
              </a:extLst>
            </p:cNvPr>
            <p:cNvSpPr>
              <a:spLocks noEditPoints="1" noChangeArrowheads="1"/>
            </p:cNvSpPr>
            <p:nvPr/>
          </p:nvSpPr>
          <p:spPr bwMode="auto">
            <a:xfrm>
              <a:off x="10226675" y="2428584"/>
              <a:ext cx="676275" cy="447675"/>
            </a:xfrm>
            <a:custGeom>
              <a:avLst/>
              <a:gdLst>
                <a:gd name="T0" fmla="*/ 2147483646 w 21600"/>
                <a:gd name="T1" fmla="*/ 0 h 21600"/>
                <a:gd name="T2" fmla="*/ 2147483646 w 21600"/>
                <a:gd name="T3" fmla="*/ 2147483646 h 21600"/>
                <a:gd name="T4" fmla="*/ 2147483646 w 21600"/>
                <a:gd name="T5" fmla="*/ 0 h 21600"/>
                <a:gd name="T6" fmla="*/ 2147483646 w 21600"/>
                <a:gd name="T7" fmla="*/ 0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2147483646 w 21600"/>
                <a:gd name="T17" fmla="*/ 2147483646 h 21600"/>
                <a:gd name="T18" fmla="*/ 2147483646 w 21600"/>
                <a:gd name="T19" fmla="*/ 2147483646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6194 w 21600"/>
                <a:gd name="T31" fmla="*/ 1913 h 21600"/>
                <a:gd name="T32" fmla="*/ 15565 w 21600"/>
                <a:gd name="T33" fmla="*/ 97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endParaRPr lang="zh-CN" altLang="en-US"/>
            </a:p>
          </p:txBody>
        </p:sp>
        <p:sp>
          <p:nvSpPr>
            <p:cNvPr id="52" name="Line 10">
              <a:extLst>
                <a:ext uri="{FF2B5EF4-FFF2-40B4-BE49-F238E27FC236}">
                  <a16:creationId xmlns:a16="http://schemas.microsoft.com/office/drawing/2014/main" id="{EF904E17-A862-BE4B-B179-A1F414D1DE85}"/>
                </a:ext>
              </a:extLst>
            </p:cNvPr>
            <p:cNvSpPr>
              <a:spLocks noChangeShapeType="1"/>
            </p:cNvSpPr>
            <p:nvPr/>
          </p:nvSpPr>
          <p:spPr bwMode="auto">
            <a:xfrm flipV="1">
              <a:off x="8112125" y="2449222"/>
              <a:ext cx="0" cy="6223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3" name="Line 11">
              <a:extLst>
                <a:ext uri="{FF2B5EF4-FFF2-40B4-BE49-F238E27FC236}">
                  <a16:creationId xmlns:a16="http://schemas.microsoft.com/office/drawing/2014/main" id="{7A2090E0-992E-E74F-A70C-531A1547E8A1}"/>
                </a:ext>
              </a:extLst>
            </p:cNvPr>
            <p:cNvSpPr>
              <a:spLocks noChangeShapeType="1"/>
            </p:cNvSpPr>
            <p:nvPr/>
          </p:nvSpPr>
          <p:spPr bwMode="auto">
            <a:xfrm flipH="1" flipV="1">
              <a:off x="5978525" y="2839747"/>
              <a:ext cx="962025" cy="596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4" name="Line 12">
              <a:extLst>
                <a:ext uri="{FF2B5EF4-FFF2-40B4-BE49-F238E27FC236}">
                  <a16:creationId xmlns:a16="http://schemas.microsoft.com/office/drawing/2014/main" id="{7873B779-A6EC-B44B-82F5-5CDBBCE4FFDE}"/>
                </a:ext>
              </a:extLst>
            </p:cNvPr>
            <p:cNvSpPr>
              <a:spLocks noChangeShapeType="1"/>
            </p:cNvSpPr>
            <p:nvPr/>
          </p:nvSpPr>
          <p:spPr bwMode="auto">
            <a:xfrm flipV="1">
              <a:off x="5965825" y="4108159"/>
              <a:ext cx="1122363" cy="5365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5" name="Line 13">
              <a:extLst>
                <a:ext uri="{FF2B5EF4-FFF2-40B4-BE49-F238E27FC236}">
                  <a16:creationId xmlns:a16="http://schemas.microsoft.com/office/drawing/2014/main" id="{C7DBC3B9-3E05-2C40-A277-7907BB9964D1}"/>
                </a:ext>
              </a:extLst>
            </p:cNvPr>
            <p:cNvSpPr>
              <a:spLocks noChangeShapeType="1"/>
            </p:cNvSpPr>
            <p:nvPr/>
          </p:nvSpPr>
          <p:spPr bwMode="auto">
            <a:xfrm flipH="1" flipV="1">
              <a:off x="9305925" y="4204997"/>
              <a:ext cx="107315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6" name="Line 14">
              <a:extLst>
                <a:ext uri="{FF2B5EF4-FFF2-40B4-BE49-F238E27FC236}">
                  <a16:creationId xmlns:a16="http://schemas.microsoft.com/office/drawing/2014/main" id="{02FAA609-DDAA-684B-A3EB-A0EE16D2D5C3}"/>
                </a:ext>
              </a:extLst>
            </p:cNvPr>
            <p:cNvSpPr>
              <a:spLocks noChangeShapeType="1"/>
            </p:cNvSpPr>
            <p:nvPr/>
          </p:nvSpPr>
          <p:spPr bwMode="auto">
            <a:xfrm flipV="1">
              <a:off x="9221788" y="2803234"/>
              <a:ext cx="1096962" cy="596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57" name="Group 15">
              <a:extLst>
                <a:ext uri="{FF2B5EF4-FFF2-40B4-BE49-F238E27FC236}">
                  <a16:creationId xmlns:a16="http://schemas.microsoft.com/office/drawing/2014/main" id="{2E193073-5B62-7248-8DEB-5F43789D3DE4}"/>
                </a:ext>
              </a:extLst>
            </p:cNvPr>
            <p:cNvGrpSpPr>
              <a:grpSpLocks/>
            </p:cNvGrpSpPr>
            <p:nvPr/>
          </p:nvGrpSpPr>
          <p:grpSpPr bwMode="auto">
            <a:xfrm>
              <a:off x="6429375" y="2796884"/>
              <a:ext cx="3500438" cy="2114550"/>
              <a:chOff x="1920" y="2160"/>
              <a:chExt cx="1488" cy="960"/>
            </a:xfrm>
            <a:solidFill>
              <a:srgbClr val="92D050"/>
            </a:solidFill>
          </p:grpSpPr>
          <p:sp>
            <p:nvSpPr>
              <p:cNvPr id="58" name="Oval 16">
                <a:extLst>
                  <a:ext uri="{FF2B5EF4-FFF2-40B4-BE49-F238E27FC236}">
                    <a16:creationId xmlns:a16="http://schemas.microsoft.com/office/drawing/2014/main" id="{98108472-FA05-B148-BB02-ACCEA4ADE410}"/>
                  </a:ext>
                </a:extLst>
              </p:cNvPr>
              <p:cNvSpPr>
                <a:spLocks noChangeArrowheads="1"/>
              </p:cNvSpPr>
              <p:nvPr/>
            </p:nvSpPr>
            <p:spPr bwMode="auto">
              <a:xfrm>
                <a:off x="2112" y="2352"/>
                <a:ext cx="576" cy="336"/>
              </a:xfrm>
              <a:prstGeom prst="ellipse">
                <a:avLst/>
              </a:prstGeom>
              <a:grp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defRPr/>
                </a:pPr>
                <a:endParaRPr lang="zh-CN" altLang="en-US"/>
              </a:p>
            </p:txBody>
          </p:sp>
          <p:sp>
            <p:nvSpPr>
              <p:cNvPr id="59" name="Oval 17">
                <a:extLst>
                  <a:ext uri="{FF2B5EF4-FFF2-40B4-BE49-F238E27FC236}">
                    <a16:creationId xmlns:a16="http://schemas.microsoft.com/office/drawing/2014/main" id="{849E171E-5A1D-9F4B-AC85-1CF4B8F1442B}"/>
                  </a:ext>
                </a:extLst>
              </p:cNvPr>
              <p:cNvSpPr>
                <a:spLocks noChangeArrowheads="1"/>
              </p:cNvSpPr>
              <p:nvPr/>
            </p:nvSpPr>
            <p:spPr bwMode="auto">
              <a:xfrm>
                <a:off x="2352" y="2160"/>
                <a:ext cx="576" cy="336"/>
              </a:xfrm>
              <a:prstGeom prst="ellipse">
                <a:avLst/>
              </a:prstGeom>
              <a:grp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defRPr/>
                </a:pPr>
                <a:endParaRPr lang="zh-CN" altLang="en-US"/>
              </a:p>
            </p:txBody>
          </p:sp>
          <p:sp>
            <p:nvSpPr>
              <p:cNvPr id="60" name="Oval 18">
                <a:extLst>
                  <a:ext uri="{FF2B5EF4-FFF2-40B4-BE49-F238E27FC236}">
                    <a16:creationId xmlns:a16="http://schemas.microsoft.com/office/drawing/2014/main" id="{8D318416-FC58-044B-8126-4A220FB75381}"/>
                  </a:ext>
                </a:extLst>
              </p:cNvPr>
              <p:cNvSpPr>
                <a:spLocks noChangeArrowheads="1"/>
              </p:cNvSpPr>
              <p:nvPr/>
            </p:nvSpPr>
            <p:spPr bwMode="auto">
              <a:xfrm>
                <a:off x="2640" y="2304"/>
                <a:ext cx="576" cy="336"/>
              </a:xfrm>
              <a:prstGeom prst="ellipse">
                <a:avLst/>
              </a:prstGeom>
              <a:grp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defRPr/>
                </a:pPr>
                <a:endParaRPr lang="zh-CN" altLang="en-US"/>
              </a:p>
            </p:txBody>
          </p:sp>
          <p:sp>
            <p:nvSpPr>
              <p:cNvPr id="61" name="Oval 19">
                <a:extLst>
                  <a:ext uri="{FF2B5EF4-FFF2-40B4-BE49-F238E27FC236}">
                    <a16:creationId xmlns:a16="http://schemas.microsoft.com/office/drawing/2014/main" id="{B6D71AC2-A273-7042-8DE3-87113CFF7370}"/>
                  </a:ext>
                </a:extLst>
              </p:cNvPr>
              <p:cNvSpPr>
                <a:spLocks noChangeArrowheads="1"/>
              </p:cNvSpPr>
              <p:nvPr/>
            </p:nvSpPr>
            <p:spPr bwMode="auto">
              <a:xfrm>
                <a:off x="2736" y="2448"/>
                <a:ext cx="576" cy="336"/>
              </a:xfrm>
              <a:prstGeom prst="ellipse">
                <a:avLst/>
              </a:prstGeom>
              <a:grp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defRPr/>
                </a:pPr>
                <a:endParaRPr lang="zh-CN" altLang="en-US"/>
              </a:p>
            </p:txBody>
          </p:sp>
          <p:sp>
            <p:nvSpPr>
              <p:cNvPr id="62" name="Oval 20">
                <a:extLst>
                  <a:ext uri="{FF2B5EF4-FFF2-40B4-BE49-F238E27FC236}">
                    <a16:creationId xmlns:a16="http://schemas.microsoft.com/office/drawing/2014/main" id="{C9FE6384-3402-9E49-AF6F-68258CD1D5A4}"/>
                  </a:ext>
                </a:extLst>
              </p:cNvPr>
              <p:cNvSpPr>
                <a:spLocks noChangeArrowheads="1"/>
              </p:cNvSpPr>
              <p:nvPr/>
            </p:nvSpPr>
            <p:spPr bwMode="auto">
              <a:xfrm>
                <a:off x="2832" y="2448"/>
                <a:ext cx="576" cy="336"/>
              </a:xfrm>
              <a:prstGeom prst="ellipse">
                <a:avLst/>
              </a:prstGeom>
              <a:grp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defRPr/>
                </a:pPr>
                <a:endParaRPr lang="zh-CN" altLang="en-US"/>
              </a:p>
            </p:txBody>
          </p:sp>
          <p:sp>
            <p:nvSpPr>
              <p:cNvPr id="63" name="Oval 21">
                <a:extLst>
                  <a:ext uri="{FF2B5EF4-FFF2-40B4-BE49-F238E27FC236}">
                    <a16:creationId xmlns:a16="http://schemas.microsoft.com/office/drawing/2014/main" id="{7D088566-2895-494B-90AF-E9399EFFAB87}"/>
                  </a:ext>
                </a:extLst>
              </p:cNvPr>
              <p:cNvSpPr>
                <a:spLocks noChangeArrowheads="1"/>
              </p:cNvSpPr>
              <p:nvPr/>
            </p:nvSpPr>
            <p:spPr bwMode="auto">
              <a:xfrm>
                <a:off x="2736" y="2640"/>
                <a:ext cx="576" cy="336"/>
              </a:xfrm>
              <a:prstGeom prst="ellipse">
                <a:avLst/>
              </a:prstGeom>
              <a:grp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defRPr/>
                </a:pPr>
                <a:endParaRPr lang="zh-CN" altLang="en-US"/>
              </a:p>
            </p:txBody>
          </p:sp>
          <p:sp>
            <p:nvSpPr>
              <p:cNvPr id="64" name="Oval 22">
                <a:extLst>
                  <a:ext uri="{FF2B5EF4-FFF2-40B4-BE49-F238E27FC236}">
                    <a16:creationId xmlns:a16="http://schemas.microsoft.com/office/drawing/2014/main" id="{A8061446-4B84-A745-B2D0-A5E51BEABBC2}"/>
                  </a:ext>
                </a:extLst>
              </p:cNvPr>
              <p:cNvSpPr>
                <a:spLocks noChangeArrowheads="1"/>
              </p:cNvSpPr>
              <p:nvPr/>
            </p:nvSpPr>
            <p:spPr bwMode="auto">
              <a:xfrm>
                <a:off x="2400" y="2784"/>
                <a:ext cx="576" cy="336"/>
              </a:xfrm>
              <a:prstGeom prst="ellipse">
                <a:avLst/>
              </a:prstGeom>
              <a:grp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defRPr/>
                </a:pPr>
                <a:endParaRPr lang="zh-CN" altLang="en-US"/>
              </a:p>
            </p:txBody>
          </p:sp>
          <p:sp>
            <p:nvSpPr>
              <p:cNvPr id="65" name="Oval 23">
                <a:extLst>
                  <a:ext uri="{FF2B5EF4-FFF2-40B4-BE49-F238E27FC236}">
                    <a16:creationId xmlns:a16="http://schemas.microsoft.com/office/drawing/2014/main" id="{8D18E292-B5E1-B141-8F8A-C85D0F1BD306}"/>
                  </a:ext>
                </a:extLst>
              </p:cNvPr>
              <p:cNvSpPr>
                <a:spLocks noChangeArrowheads="1"/>
              </p:cNvSpPr>
              <p:nvPr/>
            </p:nvSpPr>
            <p:spPr bwMode="auto">
              <a:xfrm>
                <a:off x="1920" y="2448"/>
                <a:ext cx="576" cy="336"/>
              </a:xfrm>
              <a:prstGeom prst="ellipse">
                <a:avLst/>
              </a:prstGeom>
              <a:grp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defRPr/>
                </a:pPr>
                <a:endParaRPr lang="zh-CN" altLang="en-US"/>
              </a:p>
            </p:txBody>
          </p:sp>
          <p:sp>
            <p:nvSpPr>
              <p:cNvPr id="66" name="Oval 24">
                <a:extLst>
                  <a:ext uri="{FF2B5EF4-FFF2-40B4-BE49-F238E27FC236}">
                    <a16:creationId xmlns:a16="http://schemas.microsoft.com/office/drawing/2014/main" id="{DAA42997-4AE4-FF45-8ED8-F114253D3775}"/>
                  </a:ext>
                </a:extLst>
              </p:cNvPr>
              <p:cNvSpPr>
                <a:spLocks noChangeArrowheads="1"/>
              </p:cNvSpPr>
              <p:nvPr/>
            </p:nvSpPr>
            <p:spPr bwMode="auto">
              <a:xfrm>
                <a:off x="2352" y="2496"/>
                <a:ext cx="576" cy="336"/>
              </a:xfrm>
              <a:prstGeom prst="ellipse">
                <a:avLst/>
              </a:prstGeom>
              <a:grp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defRPr/>
                </a:pPr>
                <a:endParaRPr lang="zh-CN" altLang="en-US"/>
              </a:p>
            </p:txBody>
          </p:sp>
          <p:sp>
            <p:nvSpPr>
              <p:cNvPr id="67" name="Oval 25">
                <a:extLst>
                  <a:ext uri="{FF2B5EF4-FFF2-40B4-BE49-F238E27FC236}">
                    <a16:creationId xmlns:a16="http://schemas.microsoft.com/office/drawing/2014/main" id="{E8FE9062-9CDD-1C4D-9BAC-1BE5F779B91B}"/>
                  </a:ext>
                </a:extLst>
              </p:cNvPr>
              <p:cNvSpPr>
                <a:spLocks noChangeArrowheads="1"/>
              </p:cNvSpPr>
              <p:nvPr/>
            </p:nvSpPr>
            <p:spPr bwMode="auto">
              <a:xfrm>
                <a:off x="2064" y="2688"/>
                <a:ext cx="576" cy="336"/>
              </a:xfrm>
              <a:prstGeom prst="ellipse">
                <a:avLst/>
              </a:prstGeom>
              <a:grp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defRPr/>
                </a:pPr>
                <a:endParaRPr lang="zh-CN" altLang="en-US"/>
              </a:p>
            </p:txBody>
          </p:sp>
        </p:grpSp>
      </p:grpSp>
      <p:sp>
        <p:nvSpPr>
          <p:cNvPr id="70" name="Rectangle 8">
            <a:extLst>
              <a:ext uri="{FF2B5EF4-FFF2-40B4-BE49-F238E27FC236}">
                <a16:creationId xmlns:a16="http://schemas.microsoft.com/office/drawing/2014/main" id="{D13D5A40-28BF-3B49-89F3-1F16D266A2B0}"/>
              </a:ext>
            </a:extLst>
          </p:cNvPr>
          <p:cNvSpPr>
            <a:spLocks noChangeArrowheads="1"/>
          </p:cNvSpPr>
          <p:nvPr/>
        </p:nvSpPr>
        <p:spPr bwMode="auto">
          <a:xfrm>
            <a:off x="799946" y="938992"/>
            <a:ext cx="10873246" cy="262335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685800" eaLnBrk="1" hangingPunct="1">
              <a:lnSpc>
                <a:spcPct val="150000"/>
              </a:lnSpc>
              <a:spcBef>
                <a:spcPct val="20000"/>
              </a:spcBef>
              <a:buClr>
                <a:schemeClr val="tx1"/>
              </a:buClr>
              <a:buSzPct val="100000"/>
              <a:buFont typeface="Arial" panose="020B0604020202020204" pitchFamily="34" charset="0"/>
              <a:buChar char="•"/>
              <a:defRPr/>
            </a:pPr>
            <a:r>
              <a:rPr lang="zh-CN" altLang="en-US" sz="2400" b="1" dirty="0">
                <a:latin typeface="Microsoft YaHei" panose="020B0503020204020204" pitchFamily="34" charset="-122"/>
                <a:ea typeface="Microsoft YaHei" panose="020B0503020204020204" pitchFamily="34" charset="-122"/>
              </a:rPr>
              <a:t>設計目標</a:t>
            </a:r>
            <a:endParaRPr lang="en-US" altLang="zh-CN" sz="2400" b="1" dirty="0">
              <a:latin typeface="Microsoft YaHei" panose="020B0503020204020204" pitchFamily="34" charset="-122"/>
              <a:ea typeface="Microsoft YaHei" panose="020B0503020204020204" pitchFamily="34" charset="-122"/>
            </a:endParaRPr>
          </a:p>
          <a:p>
            <a:pPr marL="800100" lvl="1" indent="-342900" defTabSz="685800">
              <a:lnSpc>
                <a:spcPct val="150000"/>
              </a:lnSpc>
              <a:spcBef>
                <a:spcPct val="20000"/>
              </a:spcBef>
              <a:buClr>
                <a:schemeClr val="tx1"/>
              </a:buClr>
              <a:buSzPct val="100000"/>
              <a:buFont typeface="Arial" panose="020B0604020202020204" pitchFamily="34" charset="0"/>
              <a:buChar char="•"/>
              <a:defRPr/>
            </a:pPr>
            <a:r>
              <a:rPr lang="zh-CN" altLang="en-US" sz="2400" dirty="0">
                <a:latin typeface="Microsoft YaHei" panose="020B0503020204020204" pitchFamily="34" charset="-122"/>
                <a:ea typeface="Microsoft YaHei" panose="020B0503020204020204" pitchFamily="34" charset="-122"/>
              </a:rPr>
              <a:t>在</a:t>
            </a:r>
            <a:r>
              <a:rPr lang="en-US" altLang="zh-CN" sz="2400" dirty="0">
                <a:latin typeface="Microsoft YaHei" panose="020B0503020204020204" pitchFamily="34" charset="-122"/>
                <a:ea typeface="Microsoft YaHei" panose="020B0503020204020204" pitchFamily="34" charset="-122"/>
              </a:rPr>
              <a:t>20</a:t>
            </a:r>
            <a:r>
              <a:rPr lang="zh-CN" altLang="en-US" sz="2400" dirty="0">
                <a:latin typeface="Microsoft YaHei" panose="020B0503020204020204" pitchFamily="34" charset="-122"/>
                <a:ea typeface="Microsoft YaHei" panose="020B0503020204020204" pitchFamily="34" charset="-122"/>
              </a:rPr>
              <a:t>秒內完成故障檢測和恢復，將通信的可靠性提升至少十倍</a:t>
            </a:r>
          </a:p>
          <a:p>
            <a:pPr marL="800100" lvl="1" indent="-342900" defTabSz="685800">
              <a:lnSpc>
                <a:spcPct val="150000"/>
              </a:lnSpc>
              <a:spcBef>
                <a:spcPct val="20000"/>
              </a:spcBef>
              <a:buClr>
                <a:schemeClr val="tx1"/>
              </a:buClr>
              <a:buSzPct val="100000"/>
              <a:buFont typeface="Arial" panose="020B0604020202020204" pitchFamily="34" charset="0"/>
              <a:buChar char="•"/>
              <a:defRPr/>
            </a:pPr>
            <a:r>
              <a:rPr lang="zh-CN" altLang="en-US" sz="2400" dirty="0">
                <a:latin typeface="Microsoft YaHei" panose="020B0503020204020204" pitchFamily="34" charset="-122"/>
                <a:ea typeface="Microsoft YaHei" panose="020B0503020204020204" pitchFamily="34" charset="-122"/>
              </a:rPr>
              <a:t>將路由和路徑選擇與應用更緊密地結合起來</a:t>
            </a:r>
          </a:p>
          <a:p>
            <a:pPr marL="800100" lvl="1" indent="-342900" defTabSz="685800">
              <a:lnSpc>
                <a:spcPct val="150000"/>
              </a:lnSpc>
              <a:spcBef>
                <a:spcPct val="20000"/>
              </a:spcBef>
              <a:buClr>
                <a:schemeClr val="tx1"/>
              </a:buClr>
              <a:buSzPct val="100000"/>
              <a:buFont typeface="Arial" panose="020B0604020202020204" pitchFamily="34" charset="0"/>
              <a:buChar char="•"/>
              <a:defRPr/>
            </a:pPr>
            <a:r>
              <a:rPr lang="zh-CN" altLang="en-US" sz="2400" dirty="0">
                <a:latin typeface="Microsoft YaHei" panose="020B0503020204020204" pitchFamily="34" charset="-122"/>
                <a:ea typeface="Microsoft YaHei" panose="020B0503020204020204" pitchFamily="34" charset="-122"/>
              </a:rPr>
              <a:t>在應用層實現表達能力豐富的策略路由</a:t>
            </a:r>
          </a:p>
        </p:txBody>
      </p:sp>
      <p:sp>
        <p:nvSpPr>
          <p:cNvPr id="3" name="矩形 2">
            <a:extLst>
              <a:ext uri="{FF2B5EF4-FFF2-40B4-BE49-F238E27FC236}">
                <a16:creationId xmlns:a16="http://schemas.microsoft.com/office/drawing/2014/main" id="{FB29E35F-CD0B-4F4A-96BE-2E5ED3196A18}"/>
              </a:ext>
            </a:extLst>
          </p:cNvPr>
          <p:cNvSpPr/>
          <p:nvPr/>
        </p:nvSpPr>
        <p:spPr>
          <a:xfrm>
            <a:off x="8412898" y="4940210"/>
            <a:ext cx="1247136" cy="461665"/>
          </a:xfrm>
          <a:prstGeom prst="rect">
            <a:avLst/>
          </a:prstGeom>
        </p:spPr>
        <p:txBody>
          <a:bodyPr wrap="none">
            <a:spAutoFit/>
          </a:bodyPr>
          <a:lstStyle/>
          <a:p>
            <a:r>
              <a:rPr lang="en-US" altLang="zh-CN" sz="2400" dirty="0">
                <a:latin typeface="Microsoft YaHei" panose="020B0503020204020204" pitchFamily="34" charset="-122"/>
                <a:ea typeface="Microsoft YaHei" panose="020B0503020204020204" pitchFamily="34" charset="-122"/>
              </a:rPr>
              <a:t>overlay</a:t>
            </a:r>
            <a:endParaRPr lang="zh-CN" altLang="en-US" sz="2400" dirty="0"/>
          </a:p>
        </p:txBody>
      </p:sp>
      <p:sp>
        <p:nvSpPr>
          <p:cNvPr id="28" name="灯片编号占位符 2">
            <a:extLst>
              <a:ext uri="{FF2B5EF4-FFF2-40B4-BE49-F238E27FC236}">
                <a16:creationId xmlns:a16="http://schemas.microsoft.com/office/drawing/2014/main" id="{12E77CB7-E963-6543-A8DC-E6FC70A83C02}"/>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30</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15858270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en-US" altLang="zh-CN" dirty="0"/>
              <a:t>RON</a:t>
            </a:r>
            <a:r>
              <a:rPr kumimoji="1" lang="zh-CN" altLang="en-US" dirty="0"/>
              <a:t>的設計</a:t>
            </a:r>
          </a:p>
        </p:txBody>
      </p:sp>
      <p:sp>
        <p:nvSpPr>
          <p:cNvPr id="111" name="Rectangle 3">
            <a:extLst>
              <a:ext uri="{FF2B5EF4-FFF2-40B4-BE49-F238E27FC236}">
                <a16:creationId xmlns:a16="http://schemas.microsoft.com/office/drawing/2014/main" id="{E16ECE2A-4E3B-6F4E-80DB-718785139FC9}"/>
              </a:ext>
            </a:extLst>
          </p:cNvPr>
          <p:cNvSpPr txBox="1">
            <a:spLocks noChangeArrowheads="1"/>
          </p:cNvSpPr>
          <p:nvPr/>
        </p:nvSpPr>
        <p:spPr>
          <a:xfrm>
            <a:off x="690203" y="1155789"/>
            <a:ext cx="11006497" cy="1269256"/>
          </a:xfrm>
          <a:prstGeom prst="rect">
            <a:avLst/>
          </a:prstGeom>
          <a:ln>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ct val="20000"/>
              </a:spcBef>
              <a:buClr>
                <a:schemeClr val="tx1"/>
              </a:buClr>
              <a:buSzPct val="100000"/>
              <a:buNone/>
            </a:pPr>
            <a:r>
              <a:rPr lang="zh-CN" altLang="en-US" sz="2400" b="1" dirty="0">
                <a:solidFill>
                  <a:srgbClr val="C00000"/>
                </a:solidFill>
                <a:latin typeface="Microsoft YaHei" panose="020B0503020204020204" pitchFamily="34" charset="-122"/>
                <a:ea typeface="Microsoft YaHei" panose="020B0503020204020204" pitchFamily="34" charset="-122"/>
              </a:rPr>
              <a:t>主要思路：不同路由域的終端合作完成信息的傳遞，這些終端在廣域網之上實現主機與主機之間的路由，從而實現更强的穩定性</a:t>
            </a:r>
            <a:endParaRPr lang="en-US" altLang="zh-CN" sz="2400" b="1" dirty="0">
              <a:solidFill>
                <a:srgbClr val="C00000"/>
              </a:solidFill>
              <a:latin typeface="Microsoft YaHei" panose="020B0503020204020204" pitchFamily="34" charset="-122"/>
              <a:ea typeface="Microsoft YaHei" panose="020B0503020204020204" pitchFamily="34" charset="-122"/>
            </a:endParaRPr>
          </a:p>
        </p:txBody>
      </p:sp>
      <p:grpSp>
        <p:nvGrpSpPr>
          <p:cNvPr id="6" name="组合 5">
            <a:extLst>
              <a:ext uri="{FF2B5EF4-FFF2-40B4-BE49-F238E27FC236}">
                <a16:creationId xmlns:a16="http://schemas.microsoft.com/office/drawing/2014/main" id="{AADB77BB-7F69-4349-A35A-78130E6597C8}"/>
              </a:ext>
            </a:extLst>
          </p:cNvPr>
          <p:cNvGrpSpPr/>
          <p:nvPr/>
        </p:nvGrpSpPr>
        <p:grpSpPr>
          <a:xfrm>
            <a:off x="601165" y="2606892"/>
            <a:ext cx="11082335" cy="3908631"/>
            <a:chOff x="581710" y="2238373"/>
            <a:chExt cx="11082335" cy="2966824"/>
          </a:xfrm>
        </p:grpSpPr>
        <p:grpSp>
          <p:nvGrpSpPr>
            <p:cNvPr id="113" name="Group 5">
              <a:extLst>
                <a:ext uri="{FF2B5EF4-FFF2-40B4-BE49-F238E27FC236}">
                  <a16:creationId xmlns:a16="http://schemas.microsoft.com/office/drawing/2014/main" id="{DDBFC148-7C94-B944-9BBB-24F2C438C5EA}"/>
                </a:ext>
              </a:extLst>
            </p:cNvPr>
            <p:cNvGrpSpPr>
              <a:grpSpLocks/>
            </p:cNvGrpSpPr>
            <p:nvPr/>
          </p:nvGrpSpPr>
          <p:grpSpPr bwMode="auto">
            <a:xfrm>
              <a:off x="3712785" y="3042225"/>
              <a:ext cx="4290878" cy="2072700"/>
              <a:chOff x="1920" y="2179"/>
              <a:chExt cx="1488" cy="941"/>
            </a:xfrm>
            <a:solidFill>
              <a:srgbClr val="92D050"/>
            </a:solidFill>
          </p:grpSpPr>
          <p:sp>
            <p:nvSpPr>
              <p:cNvPr id="114" name="Oval 6">
                <a:extLst>
                  <a:ext uri="{FF2B5EF4-FFF2-40B4-BE49-F238E27FC236}">
                    <a16:creationId xmlns:a16="http://schemas.microsoft.com/office/drawing/2014/main" id="{C56E3717-C7EB-FE47-A87B-7BD551364FF0}"/>
                  </a:ext>
                </a:extLst>
              </p:cNvPr>
              <p:cNvSpPr>
                <a:spLocks noChangeArrowheads="1"/>
              </p:cNvSpPr>
              <p:nvPr/>
            </p:nvSpPr>
            <p:spPr bwMode="auto">
              <a:xfrm>
                <a:off x="2112" y="2352"/>
                <a:ext cx="576" cy="336"/>
              </a:xfrm>
              <a:prstGeom prst="ellipse">
                <a:avLst/>
              </a:prstGeom>
              <a:grp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defRPr/>
                </a:pPr>
                <a:endParaRPr lang="zh-CN" altLang="en-US"/>
              </a:p>
            </p:txBody>
          </p:sp>
          <p:sp>
            <p:nvSpPr>
              <p:cNvPr id="115" name="Oval 7">
                <a:extLst>
                  <a:ext uri="{FF2B5EF4-FFF2-40B4-BE49-F238E27FC236}">
                    <a16:creationId xmlns:a16="http://schemas.microsoft.com/office/drawing/2014/main" id="{8632EE55-87DA-D34D-9DF2-7947F12D7184}"/>
                  </a:ext>
                </a:extLst>
              </p:cNvPr>
              <p:cNvSpPr>
                <a:spLocks noChangeArrowheads="1"/>
              </p:cNvSpPr>
              <p:nvPr/>
            </p:nvSpPr>
            <p:spPr bwMode="auto">
              <a:xfrm>
                <a:off x="2353" y="2179"/>
                <a:ext cx="576" cy="336"/>
              </a:xfrm>
              <a:prstGeom prst="ellipse">
                <a:avLst/>
              </a:prstGeom>
              <a:grp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defRPr/>
                </a:pPr>
                <a:endParaRPr lang="zh-CN" altLang="en-US"/>
              </a:p>
            </p:txBody>
          </p:sp>
          <p:sp>
            <p:nvSpPr>
              <p:cNvPr id="116" name="Oval 8">
                <a:extLst>
                  <a:ext uri="{FF2B5EF4-FFF2-40B4-BE49-F238E27FC236}">
                    <a16:creationId xmlns:a16="http://schemas.microsoft.com/office/drawing/2014/main" id="{92FDA29F-042C-7A49-A1D8-0532E27F64C7}"/>
                  </a:ext>
                </a:extLst>
              </p:cNvPr>
              <p:cNvSpPr>
                <a:spLocks noChangeArrowheads="1"/>
              </p:cNvSpPr>
              <p:nvPr/>
            </p:nvSpPr>
            <p:spPr bwMode="auto">
              <a:xfrm>
                <a:off x="2640" y="2304"/>
                <a:ext cx="576" cy="336"/>
              </a:xfrm>
              <a:prstGeom prst="ellipse">
                <a:avLst/>
              </a:prstGeom>
              <a:grp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defRPr/>
                </a:pPr>
                <a:endParaRPr lang="zh-CN" altLang="en-US"/>
              </a:p>
            </p:txBody>
          </p:sp>
          <p:sp>
            <p:nvSpPr>
              <p:cNvPr id="117" name="Oval 9">
                <a:extLst>
                  <a:ext uri="{FF2B5EF4-FFF2-40B4-BE49-F238E27FC236}">
                    <a16:creationId xmlns:a16="http://schemas.microsoft.com/office/drawing/2014/main" id="{23C0E8FC-1282-004E-89C9-0140C2AC1488}"/>
                  </a:ext>
                </a:extLst>
              </p:cNvPr>
              <p:cNvSpPr>
                <a:spLocks noChangeArrowheads="1"/>
              </p:cNvSpPr>
              <p:nvPr/>
            </p:nvSpPr>
            <p:spPr bwMode="auto">
              <a:xfrm>
                <a:off x="2736" y="2448"/>
                <a:ext cx="576" cy="336"/>
              </a:xfrm>
              <a:prstGeom prst="ellipse">
                <a:avLst/>
              </a:prstGeom>
              <a:grp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defRPr/>
                </a:pPr>
                <a:endParaRPr lang="zh-CN" altLang="en-US"/>
              </a:p>
            </p:txBody>
          </p:sp>
          <p:sp>
            <p:nvSpPr>
              <p:cNvPr id="118" name="Oval 10">
                <a:extLst>
                  <a:ext uri="{FF2B5EF4-FFF2-40B4-BE49-F238E27FC236}">
                    <a16:creationId xmlns:a16="http://schemas.microsoft.com/office/drawing/2014/main" id="{7883D5CC-7DAE-834A-B154-931FDBD299AA}"/>
                  </a:ext>
                </a:extLst>
              </p:cNvPr>
              <p:cNvSpPr>
                <a:spLocks noChangeArrowheads="1"/>
              </p:cNvSpPr>
              <p:nvPr/>
            </p:nvSpPr>
            <p:spPr bwMode="auto">
              <a:xfrm>
                <a:off x="2832" y="2448"/>
                <a:ext cx="576" cy="336"/>
              </a:xfrm>
              <a:prstGeom prst="ellipse">
                <a:avLst/>
              </a:prstGeom>
              <a:grp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defRPr/>
                </a:pPr>
                <a:endParaRPr lang="zh-CN" altLang="en-US"/>
              </a:p>
            </p:txBody>
          </p:sp>
          <p:sp>
            <p:nvSpPr>
              <p:cNvPr id="119" name="Oval 11">
                <a:extLst>
                  <a:ext uri="{FF2B5EF4-FFF2-40B4-BE49-F238E27FC236}">
                    <a16:creationId xmlns:a16="http://schemas.microsoft.com/office/drawing/2014/main" id="{9540B667-75FF-594D-B447-D3800E08702B}"/>
                  </a:ext>
                </a:extLst>
              </p:cNvPr>
              <p:cNvSpPr>
                <a:spLocks noChangeArrowheads="1"/>
              </p:cNvSpPr>
              <p:nvPr/>
            </p:nvSpPr>
            <p:spPr bwMode="auto">
              <a:xfrm>
                <a:off x="2736" y="2640"/>
                <a:ext cx="576" cy="336"/>
              </a:xfrm>
              <a:prstGeom prst="ellipse">
                <a:avLst/>
              </a:prstGeom>
              <a:grp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defRPr/>
                </a:pPr>
                <a:endParaRPr lang="zh-CN" altLang="en-US"/>
              </a:p>
            </p:txBody>
          </p:sp>
          <p:sp>
            <p:nvSpPr>
              <p:cNvPr id="120" name="Oval 12">
                <a:extLst>
                  <a:ext uri="{FF2B5EF4-FFF2-40B4-BE49-F238E27FC236}">
                    <a16:creationId xmlns:a16="http://schemas.microsoft.com/office/drawing/2014/main" id="{4E9EC8DE-2A37-2540-B0A6-CC247685F775}"/>
                  </a:ext>
                </a:extLst>
              </p:cNvPr>
              <p:cNvSpPr>
                <a:spLocks noChangeArrowheads="1"/>
              </p:cNvSpPr>
              <p:nvPr/>
            </p:nvSpPr>
            <p:spPr bwMode="auto">
              <a:xfrm>
                <a:off x="2400" y="2784"/>
                <a:ext cx="576" cy="336"/>
              </a:xfrm>
              <a:prstGeom prst="ellipse">
                <a:avLst/>
              </a:prstGeom>
              <a:grp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defRPr/>
                </a:pPr>
                <a:endParaRPr lang="zh-CN" altLang="en-US"/>
              </a:p>
            </p:txBody>
          </p:sp>
          <p:sp>
            <p:nvSpPr>
              <p:cNvPr id="121" name="Oval 13">
                <a:extLst>
                  <a:ext uri="{FF2B5EF4-FFF2-40B4-BE49-F238E27FC236}">
                    <a16:creationId xmlns:a16="http://schemas.microsoft.com/office/drawing/2014/main" id="{3C332AB3-3319-D042-BD3E-E24DB40035EB}"/>
                  </a:ext>
                </a:extLst>
              </p:cNvPr>
              <p:cNvSpPr>
                <a:spLocks noChangeArrowheads="1"/>
              </p:cNvSpPr>
              <p:nvPr/>
            </p:nvSpPr>
            <p:spPr bwMode="auto">
              <a:xfrm>
                <a:off x="1920" y="2448"/>
                <a:ext cx="576" cy="336"/>
              </a:xfrm>
              <a:prstGeom prst="ellipse">
                <a:avLst/>
              </a:prstGeom>
              <a:grp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defRPr/>
                </a:pPr>
                <a:endParaRPr lang="zh-CN" altLang="en-US"/>
              </a:p>
            </p:txBody>
          </p:sp>
          <p:sp>
            <p:nvSpPr>
              <p:cNvPr id="122" name="Oval 14">
                <a:extLst>
                  <a:ext uri="{FF2B5EF4-FFF2-40B4-BE49-F238E27FC236}">
                    <a16:creationId xmlns:a16="http://schemas.microsoft.com/office/drawing/2014/main" id="{1DF41F0B-7B9E-B04A-865C-0E04F00C0720}"/>
                  </a:ext>
                </a:extLst>
              </p:cNvPr>
              <p:cNvSpPr>
                <a:spLocks noChangeArrowheads="1"/>
              </p:cNvSpPr>
              <p:nvPr/>
            </p:nvSpPr>
            <p:spPr bwMode="auto">
              <a:xfrm>
                <a:off x="2352" y="2496"/>
                <a:ext cx="576" cy="336"/>
              </a:xfrm>
              <a:prstGeom prst="ellipse">
                <a:avLst/>
              </a:prstGeom>
              <a:grp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defRPr/>
                </a:pPr>
                <a:endParaRPr lang="zh-CN" altLang="en-US"/>
              </a:p>
            </p:txBody>
          </p:sp>
          <p:sp>
            <p:nvSpPr>
              <p:cNvPr id="123" name="Oval 15">
                <a:extLst>
                  <a:ext uri="{FF2B5EF4-FFF2-40B4-BE49-F238E27FC236}">
                    <a16:creationId xmlns:a16="http://schemas.microsoft.com/office/drawing/2014/main" id="{E6CC3037-1C14-A648-B51C-68EE2163C66B}"/>
                  </a:ext>
                </a:extLst>
              </p:cNvPr>
              <p:cNvSpPr>
                <a:spLocks noChangeArrowheads="1"/>
              </p:cNvSpPr>
              <p:nvPr/>
            </p:nvSpPr>
            <p:spPr bwMode="auto">
              <a:xfrm>
                <a:off x="2064" y="2688"/>
                <a:ext cx="576" cy="336"/>
              </a:xfrm>
              <a:prstGeom prst="ellipse">
                <a:avLst/>
              </a:prstGeom>
              <a:grp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defRPr/>
                </a:pPr>
                <a:endParaRPr lang="zh-CN" altLang="en-US"/>
              </a:p>
            </p:txBody>
          </p:sp>
        </p:grpSp>
        <p:sp>
          <p:nvSpPr>
            <p:cNvPr id="124" name="computr2">
              <a:extLst>
                <a:ext uri="{FF2B5EF4-FFF2-40B4-BE49-F238E27FC236}">
                  <a16:creationId xmlns:a16="http://schemas.microsoft.com/office/drawing/2014/main" id="{7B64B375-4543-FB49-9DAC-2B0A0F15DFDD}"/>
                </a:ext>
              </a:extLst>
            </p:cNvPr>
            <p:cNvSpPr>
              <a:spLocks noEditPoints="1" noChangeArrowheads="1"/>
            </p:cNvSpPr>
            <p:nvPr/>
          </p:nvSpPr>
          <p:spPr bwMode="auto">
            <a:xfrm>
              <a:off x="8344209" y="4411661"/>
              <a:ext cx="828986" cy="447675"/>
            </a:xfrm>
            <a:custGeom>
              <a:avLst/>
              <a:gdLst>
                <a:gd name="T0" fmla="*/ 2147483646 w 21600"/>
                <a:gd name="T1" fmla="*/ 0 h 21600"/>
                <a:gd name="T2" fmla="*/ 2147483646 w 21600"/>
                <a:gd name="T3" fmla="*/ 2147483646 h 21600"/>
                <a:gd name="T4" fmla="*/ 2147483646 w 21600"/>
                <a:gd name="T5" fmla="*/ 0 h 21600"/>
                <a:gd name="T6" fmla="*/ 2147483646 w 21600"/>
                <a:gd name="T7" fmla="*/ 0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2147483646 w 21600"/>
                <a:gd name="T17" fmla="*/ 2147483646 h 21600"/>
                <a:gd name="T18" fmla="*/ 2147483646 w 21600"/>
                <a:gd name="T19" fmla="*/ 2147483646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6194 w 21600"/>
                <a:gd name="T31" fmla="*/ 1913 h 21600"/>
                <a:gd name="T32" fmla="*/ 15565 w 21600"/>
                <a:gd name="T33" fmla="*/ 97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endParaRPr lang="zh-CN" altLang="en-US"/>
            </a:p>
          </p:txBody>
        </p:sp>
        <p:sp>
          <p:nvSpPr>
            <p:cNvPr id="125" name="computr2">
              <a:extLst>
                <a:ext uri="{FF2B5EF4-FFF2-40B4-BE49-F238E27FC236}">
                  <a16:creationId xmlns:a16="http://schemas.microsoft.com/office/drawing/2014/main" id="{530962AF-07EC-4C4C-9E00-FCE9412C563A}"/>
                </a:ext>
              </a:extLst>
            </p:cNvPr>
            <p:cNvSpPr>
              <a:spLocks noEditPoints="1" noChangeArrowheads="1"/>
            </p:cNvSpPr>
            <p:nvPr/>
          </p:nvSpPr>
          <p:spPr bwMode="auto">
            <a:xfrm>
              <a:off x="2523794" y="2720973"/>
              <a:ext cx="828986" cy="447675"/>
            </a:xfrm>
            <a:custGeom>
              <a:avLst/>
              <a:gdLst>
                <a:gd name="T0" fmla="*/ 2147483646 w 21600"/>
                <a:gd name="T1" fmla="*/ 0 h 21600"/>
                <a:gd name="T2" fmla="*/ 2147483646 w 21600"/>
                <a:gd name="T3" fmla="*/ 2147483646 h 21600"/>
                <a:gd name="T4" fmla="*/ 2147483646 w 21600"/>
                <a:gd name="T5" fmla="*/ 0 h 21600"/>
                <a:gd name="T6" fmla="*/ 2147483646 w 21600"/>
                <a:gd name="T7" fmla="*/ 0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2147483646 w 21600"/>
                <a:gd name="T17" fmla="*/ 2147483646 h 21600"/>
                <a:gd name="T18" fmla="*/ 2147483646 w 21600"/>
                <a:gd name="T19" fmla="*/ 2147483646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6194 w 21600"/>
                <a:gd name="T31" fmla="*/ 1913 h 21600"/>
                <a:gd name="T32" fmla="*/ 15565 w 21600"/>
                <a:gd name="T33" fmla="*/ 97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endParaRPr lang="zh-CN" altLang="en-US"/>
            </a:p>
          </p:txBody>
        </p:sp>
        <p:sp>
          <p:nvSpPr>
            <p:cNvPr id="126" name="computr2">
              <a:extLst>
                <a:ext uri="{FF2B5EF4-FFF2-40B4-BE49-F238E27FC236}">
                  <a16:creationId xmlns:a16="http://schemas.microsoft.com/office/drawing/2014/main" id="{5C59A59B-7343-7347-8AAC-794B9BC88CB3}"/>
                </a:ext>
              </a:extLst>
            </p:cNvPr>
            <p:cNvSpPr>
              <a:spLocks noEditPoints="1" noChangeArrowheads="1"/>
            </p:cNvSpPr>
            <p:nvPr/>
          </p:nvSpPr>
          <p:spPr bwMode="auto">
            <a:xfrm>
              <a:off x="2447901" y="4413248"/>
              <a:ext cx="828986" cy="523875"/>
            </a:xfrm>
            <a:custGeom>
              <a:avLst/>
              <a:gdLst>
                <a:gd name="T0" fmla="*/ 2147483646 w 21600"/>
                <a:gd name="T1" fmla="*/ 0 h 21600"/>
                <a:gd name="T2" fmla="*/ 2147483646 w 21600"/>
                <a:gd name="T3" fmla="*/ 2147483646 h 21600"/>
                <a:gd name="T4" fmla="*/ 2147483646 w 21600"/>
                <a:gd name="T5" fmla="*/ 0 h 21600"/>
                <a:gd name="T6" fmla="*/ 2147483646 w 21600"/>
                <a:gd name="T7" fmla="*/ 0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2147483646 w 21600"/>
                <a:gd name="T17" fmla="*/ 2147483646 h 21600"/>
                <a:gd name="T18" fmla="*/ 2147483646 w 21600"/>
                <a:gd name="T19" fmla="*/ 2147483646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6194 w 21600"/>
                <a:gd name="T31" fmla="*/ 1913 h 21600"/>
                <a:gd name="T32" fmla="*/ 15565 w 21600"/>
                <a:gd name="T33" fmla="*/ 97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endParaRPr lang="zh-CN" altLang="en-US"/>
            </a:p>
          </p:txBody>
        </p:sp>
        <p:sp>
          <p:nvSpPr>
            <p:cNvPr id="127" name="computr2">
              <a:extLst>
                <a:ext uri="{FF2B5EF4-FFF2-40B4-BE49-F238E27FC236}">
                  <a16:creationId xmlns:a16="http://schemas.microsoft.com/office/drawing/2014/main" id="{E200DB07-A3B5-984D-963C-097BC2A77AC2}"/>
                </a:ext>
              </a:extLst>
            </p:cNvPr>
            <p:cNvSpPr>
              <a:spLocks noEditPoints="1" noChangeArrowheads="1"/>
            </p:cNvSpPr>
            <p:nvPr/>
          </p:nvSpPr>
          <p:spPr bwMode="auto">
            <a:xfrm>
              <a:off x="5388271" y="2238373"/>
              <a:ext cx="828986" cy="447675"/>
            </a:xfrm>
            <a:custGeom>
              <a:avLst/>
              <a:gdLst>
                <a:gd name="T0" fmla="*/ 2147483646 w 21600"/>
                <a:gd name="T1" fmla="*/ 0 h 21600"/>
                <a:gd name="T2" fmla="*/ 2147483646 w 21600"/>
                <a:gd name="T3" fmla="*/ 2147483646 h 21600"/>
                <a:gd name="T4" fmla="*/ 2147483646 w 21600"/>
                <a:gd name="T5" fmla="*/ 0 h 21600"/>
                <a:gd name="T6" fmla="*/ 2147483646 w 21600"/>
                <a:gd name="T7" fmla="*/ 0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2147483646 w 21600"/>
                <a:gd name="T17" fmla="*/ 2147483646 h 21600"/>
                <a:gd name="T18" fmla="*/ 2147483646 w 21600"/>
                <a:gd name="T19" fmla="*/ 2147483646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6194 w 21600"/>
                <a:gd name="T31" fmla="*/ 1913 h 21600"/>
                <a:gd name="T32" fmla="*/ 15565 w 21600"/>
                <a:gd name="T33" fmla="*/ 97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endParaRPr lang="zh-CN" altLang="en-US"/>
            </a:p>
          </p:txBody>
        </p:sp>
        <p:sp>
          <p:nvSpPr>
            <p:cNvPr id="128" name="computr2">
              <a:extLst>
                <a:ext uri="{FF2B5EF4-FFF2-40B4-BE49-F238E27FC236}">
                  <a16:creationId xmlns:a16="http://schemas.microsoft.com/office/drawing/2014/main" id="{59347187-AEA6-284D-BF34-D331DB50FD12}"/>
                </a:ext>
              </a:extLst>
            </p:cNvPr>
            <p:cNvSpPr>
              <a:spLocks noEditPoints="1" noChangeArrowheads="1"/>
            </p:cNvSpPr>
            <p:nvPr/>
          </p:nvSpPr>
          <p:spPr bwMode="auto">
            <a:xfrm>
              <a:off x="8367560" y="2632073"/>
              <a:ext cx="828986" cy="447675"/>
            </a:xfrm>
            <a:custGeom>
              <a:avLst/>
              <a:gdLst>
                <a:gd name="T0" fmla="*/ 2147483646 w 21600"/>
                <a:gd name="T1" fmla="*/ 0 h 21600"/>
                <a:gd name="T2" fmla="*/ 2147483646 w 21600"/>
                <a:gd name="T3" fmla="*/ 2147483646 h 21600"/>
                <a:gd name="T4" fmla="*/ 2147483646 w 21600"/>
                <a:gd name="T5" fmla="*/ 0 h 21600"/>
                <a:gd name="T6" fmla="*/ 2147483646 w 21600"/>
                <a:gd name="T7" fmla="*/ 0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2147483646 w 21600"/>
                <a:gd name="T17" fmla="*/ 2147483646 h 21600"/>
                <a:gd name="T18" fmla="*/ 2147483646 w 21600"/>
                <a:gd name="T19" fmla="*/ 2147483646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6194 w 21600"/>
                <a:gd name="T31" fmla="*/ 1913 h 21600"/>
                <a:gd name="T32" fmla="*/ 15565 w 21600"/>
                <a:gd name="T33" fmla="*/ 97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endParaRPr lang="zh-CN" altLang="en-US"/>
            </a:p>
          </p:txBody>
        </p:sp>
        <p:sp>
          <p:nvSpPr>
            <p:cNvPr id="129" name="Line 21">
              <a:extLst>
                <a:ext uri="{FF2B5EF4-FFF2-40B4-BE49-F238E27FC236}">
                  <a16:creationId xmlns:a16="http://schemas.microsoft.com/office/drawing/2014/main" id="{19E6D388-06E6-6A41-9636-22B39028175C}"/>
                </a:ext>
              </a:extLst>
            </p:cNvPr>
            <p:cNvSpPr>
              <a:spLocks noChangeShapeType="1"/>
            </p:cNvSpPr>
            <p:nvPr/>
          </p:nvSpPr>
          <p:spPr bwMode="auto">
            <a:xfrm flipV="1">
              <a:off x="5775520" y="2652711"/>
              <a:ext cx="0" cy="6223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30" name="Line 22">
              <a:extLst>
                <a:ext uri="{FF2B5EF4-FFF2-40B4-BE49-F238E27FC236}">
                  <a16:creationId xmlns:a16="http://schemas.microsoft.com/office/drawing/2014/main" id="{F3218635-5DCE-8A4F-8E61-E662E00ADDE9}"/>
                </a:ext>
              </a:extLst>
            </p:cNvPr>
            <p:cNvSpPr>
              <a:spLocks noChangeShapeType="1"/>
            </p:cNvSpPr>
            <p:nvPr/>
          </p:nvSpPr>
          <p:spPr bwMode="auto">
            <a:xfrm flipH="1" flipV="1">
              <a:off x="3160128" y="3043236"/>
              <a:ext cx="1179262" cy="596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31" name="Line 23">
              <a:extLst>
                <a:ext uri="{FF2B5EF4-FFF2-40B4-BE49-F238E27FC236}">
                  <a16:creationId xmlns:a16="http://schemas.microsoft.com/office/drawing/2014/main" id="{98D615C5-A152-794A-A067-414481521DDF}"/>
                </a:ext>
              </a:extLst>
            </p:cNvPr>
            <p:cNvSpPr>
              <a:spLocks noChangeShapeType="1"/>
            </p:cNvSpPr>
            <p:nvPr/>
          </p:nvSpPr>
          <p:spPr bwMode="auto">
            <a:xfrm flipV="1">
              <a:off x="3144560" y="4311648"/>
              <a:ext cx="1375806" cy="5365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32" name="Line 24">
              <a:extLst>
                <a:ext uri="{FF2B5EF4-FFF2-40B4-BE49-F238E27FC236}">
                  <a16:creationId xmlns:a16="http://schemas.microsoft.com/office/drawing/2014/main" id="{D04521F6-9B89-7E41-8139-E3D1803F3493}"/>
                </a:ext>
              </a:extLst>
            </p:cNvPr>
            <p:cNvSpPr>
              <a:spLocks noChangeShapeType="1"/>
            </p:cNvSpPr>
            <p:nvPr/>
          </p:nvSpPr>
          <p:spPr bwMode="auto">
            <a:xfrm flipH="1" flipV="1">
              <a:off x="7238894" y="4408486"/>
              <a:ext cx="131548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33" name="Line 25">
              <a:extLst>
                <a:ext uri="{FF2B5EF4-FFF2-40B4-BE49-F238E27FC236}">
                  <a16:creationId xmlns:a16="http://schemas.microsoft.com/office/drawing/2014/main" id="{9C933415-2F52-7942-9A33-A280F30C16DA}"/>
                </a:ext>
              </a:extLst>
            </p:cNvPr>
            <p:cNvSpPr>
              <a:spLocks noChangeShapeType="1"/>
            </p:cNvSpPr>
            <p:nvPr/>
          </p:nvSpPr>
          <p:spPr bwMode="auto">
            <a:xfrm flipV="1">
              <a:off x="7135758" y="3006723"/>
              <a:ext cx="1344669" cy="596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34" name="Text Box 26">
              <a:extLst>
                <a:ext uri="{FF2B5EF4-FFF2-40B4-BE49-F238E27FC236}">
                  <a16:creationId xmlns:a16="http://schemas.microsoft.com/office/drawing/2014/main" id="{65925470-8064-D546-8D53-CD346EEBBA4D}"/>
                </a:ext>
              </a:extLst>
            </p:cNvPr>
            <p:cNvSpPr txBox="1">
              <a:spLocks noChangeArrowheads="1"/>
            </p:cNvSpPr>
            <p:nvPr/>
          </p:nvSpPr>
          <p:spPr bwMode="auto">
            <a:xfrm>
              <a:off x="4350482" y="3995439"/>
              <a:ext cx="3032678" cy="537487"/>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r>
                <a:rPr kumimoji="1" lang="en-US" altLang="zh-CN" b="1" dirty="0">
                  <a:solidFill>
                    <a:srgbClr val="C00000"/>
                  </a:solidFill>
                  <a:latin typeface="Helvetica" panose="020B0604020202020204" pitchFamily="34" charset="0"/>
                </a:rPr>
                <a:t>Scalable BGP-based </a:t>
              </a:r>
            </a:p>
            <a:p>
              <a:pPr algn="ctr"/>
              <a:r>
                <a:rPr kumimoji="1" lang="en-US" altLang="zh-CN" b="1" dirty="0">
                  <a:solidFill>
                    <a:srgbClr val="C00000"/>
                  </a:solidFill>
                  <a:latin typeface="Helvetica" panose="020B0604020202020204" pitchFamily="34" charset="0"/>
                </a:rPr>
                <a:t>IP routing substrate</a:t>
              </a:r>
            </a:p>
          </p:txBody>
        </p:sp>
        <p:grpSp>
          <p:nvGrpSpPr>
            <p:cNvPr id="135" name="Group 27">
              <a:extLst>
                <a:ext uri="{FF2B5EF4-FFF2-40B4-BE49-F238E27FC236}">
                  <a16:creationId xmlns:a16="http://schemas.microsoft.com/office/drawing/2014/main" id="{3A16CF53-869F-A14F-A28A-4944D6BAA097}"/>
                </a:ext>
              </a:extLst>
            </p:cNvPr>
            <p:cNvGrpSpPr>
              <a:grpSpLocks/>
            </p:cNvGrpSpPr>
            <p:nvPr/>
          </p:nvGrpSpPr>
          <p:grpSpPr bwMode="auto">
            <a:xfrm>
              <a:off x="3280778" y="2492375"/>
              <a:ext cx="5028403" cy="2422526"/>
              <a:chOff x="1414" y="1642"/>
              <a:chExt cx="2584" cy="1526"/>
            </a:xfrm>
          </p:grpSpPr>
          <p:sp>
            <p:nvSpPr>
              <p:cNvPr id="136" name="Freeform 28">
                <a:extLst>
                  <a:ext uri="{FF2B5EF4-FFF2-40B4-BE49-F238E27FC236}">
                    <a16:creationId xmlns:a16="http://schemas.microsoft.com/office/drawing/2014/main" id="{AE25556A-3A8E-6347-B3F9-CD92B62C6F24}"/>
                  </a:ext>
                </a:extLst>
              </p:cNvPr>
              <p:cNvSpPr>
                <a:spLocks/>
              </p:cNvSpPr>
              <p:nvPr/>
            </p:nvSpPr>
            <p:spPr bwMode="auto">
              <a:xfrm>
                <a:off x="1414" y="1913"/>
                <a:ext cx="810" cy="1121"/>
              </a:xfrm>
              <a:custGeom>
                <a:avLst/>
                <a:gdLst>
                  <a:gd name="T0" fmla="*/ 4136 w 632"/>
                  <a:gd name="T1" fmla="*/ 1 h 1680"/>
                  <a:gd name="T2" fmla="*/ 54333 w 632"/>
                  <a:gd name="T3" fmla="*/ 1 h 1680"/>
                  <a:gd name="T4" fmla="*/ 0 w 632"/>
                  <a:gd name="T5" fmla="*/ 0 h 1680"/>
                  <a:gd name="T6" fmla="*/ 0 60000 65536"/>
                  <a:gd name="T7" fmla="*/ 0 60000 65536"/>
                  <a:gd name="T8" fmla="*/ 0 60000 65536"/>
                </a:gdLst>
                <a:ahLst/>
                <a:cxnLst>
                  <a:cxn ang="T6">
                    <a:pos x="T0" y="T1"/>
                  </a:cxn>
                  <a:cxn ang="T7">
                    <a:pos x="T2" y="T3"/>
                  </a:cxn>
                  <a:cxn ang="T8">
                    <a:pos x="T4" y="T5"/>
                  </a:cxn>
                </a:cxnLst>
                <a:rect l="0" t="0" r="r" b="b"/>
                <a:pathLst>
                  <a:path w="632" h="1680">
                    <a:moveTo>
                      <a:pt x="48" y="1680"/>
                    </a:moveTo>
                    <a:cubicBezTo>
                      <a:pt x="340" y="1364"/>
                      <a:pt x="632" y="1048"/>
                      <a:pt x="624" y="768"/>
                    </a:cubicBezTo>
                    <a:cubicBezTo>
                      <a:pt x="616" y="488"/>
                      <a:pt x="308" y="244"/>
                      <a:pt x="0" y="0"/>
                    </a:cubicBezTo>
                  </a:path>
                </a:pathLst>
              </a:custGeom>
              <a:noFill/>
              <a:ln w="63500" cap="flat" cmpd="sng">
                <a:solidFill>
                  <a:srgbClr val="3333CC"/>
                </a:solidFill>
                <a:prstDash val="solid"/>
                <a:round/>
                <a:headEnd type="triangle" w="med" len="med"/>
                <a:tailEnd type="triangl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7" name="Freeform 29">
                <a:extLst>
                  <a:ext uri="{FF2B5EF4-FFF2-40B4-BE49-F238E27FC236}">
                    <a16:creationId xmlns:a16="http://schemas.microsoft.com/office/drawing/2014/main" id="{FE09B7B6-3BCD-454E-A877-E27535E4F5D8}"/>
                  </a:ext>
                </a:extLst>
              </p:cNvPr>
              <p:cNvSpPr>
                <a:spLocks/>
              </p:cNvSpPr>
              <p:nvPr/>
            </p:nvSpPr>
            <p:spPr bwMode="auto">
              <a:xfrm>
                <a:off x="3379" y="1868"/>
                <a:ext cx="619" cy="1300"/>
              </a:xfrm>
              <a:custGeom>
                <a:avLst/>
                <a:gdLst>
                  <a:gd name="T0" fmla="*/ 35250 w 488"/>
                  <a:gd name="T1" fmla="*/ 45 h 1584"/>
                  <a:gd name="T2" fmla="*/ 568 w 488"/>
                  <a:gd name="T3" fmla="*/ 23 h 1584"/>
                  <a:gd name="T4" fmla="*/ 31802 w 488"/>
                  <a:gd name="T5" fmla="*/ 0 h 1584"/>
                  <a:gd name="T6" fmla="*/ 0 60000 65536"/>
                  <a:gd name="T7" fmla="*/ 0 60000 65536"/>
                  <a:gd name="T8" fmla="*/ 0 60000 65536"/>
                </a:gdLst>
                <a:ahLst/>
                <a:cxnLst>
                  <a:cxn ang="T6">
                    <a:pos x="T0" y="T1"/>
                  </a:cxn>
                  <a:cxn ang="T7">
                    <a:pos x="T2" y="T3"/>
                  </a:cxn>
                  <a:cxn ang="T8">
                    <a:pos x="T4" y="T5"/>
                  </a:cxn>
                </a:cxnLst>
                <a:rect l="0" t="0" r="r" b="b"/>
                <a:pathLst>
                  <a:path w="488" h="1584">
                    <a:moveTo>
                      <a:pt x="488" y="1584"/>
                    </a:moveTo>
                    <a:cubicBezTo>
                      <a:pt x="252" y="1332"/>
                      <a:pt x="16" y="1080"/>
                      <a:pt x="8" y="816"/>
                    </a:cubicBezTo>
                    <a:cubicBezTo>
                      <a:pt x="0" y="552"/>
                      <a:pt x="220" y="276"/>
                      <a:pt x="440" y="0"/>
                    </a:cubicBezTo>
                  </a:path>
                </a:pathLst>
              </a:custGeom>
              <a:noFill/>
              <a:ln w="63500" cap="flat" cmpd="sng">
                <a:solidFill>
                  <a:srgbClr val="3333CC"/>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8" name="Freeform 30">
                <a:extLst>
                  <a:ext uri="{FF2B5EF4-FFF2-40B4-BE49-F238E27FC236}">
                    <a16:creationId xmlns:a16="http://schemas.microsoft.com/office/drawing/2014/main" id="{A7A43FDF-7E76-4E48-BAC5-84B724D1AE6B}"/>
                  </a:ext>
                </a:extLst>
              </p:cNvPr>
              <p:cNvSpPr>
                <a:spLocks/>
              </p:cNvSpPr>
              <p:nvPr/>
            </p:nvSpPr>
            <p:spPr bwMode="auto">
              <a:xfrm rot="20524379">
                <a:off x="1485" y="1642"/>
                <a:ext cx="1075" cy="173"/>
              </a:xfrm>
              <a:custGeom>
                <a:avLst/>
                <a:gdLst>
                  <a:gd name="T0" fmla="*/ 0 w 1536"/>
                  <a:gd name="T1" fmla="*/ 0 h 632"/>
                  <a:gd name="T2" fmla="*/ 1 w 1536"/>
                  <a:gd name="T3" fmla="*/ 0 h 632"/>
                  <a:gd name="T4" fmla="*/ 1 w 1536"/>
                  <a:gd name="T5" fmla="*/ 0 h 632"/>
                  <a:gd name="T6" fmla="*/ 0 60000 65536"/>
                  <a:gd name="T7" fmla="*/ 0 60000 65536"/>
                  <a:gd name="T8" fmla="*/ 0 60000 65536"/>
                </a:gdLst>
                <a:ahLst/>
                <a:cxnLst>
                  <a:cxn ang="T6">
                    <a:pos x="T0" y="T1"/>
                  </a:cxn>
                  <a:cxn ang="T7">
                    <a:pos x="T2" y="T3"/>
                  </a:cxn>
                  <a:cxn ang="T8">
                    <a:pos x="T4" y="T5"/>
                  </a:cxn>
                </a:cxnLst>
                <a:rect l="0" t="0" r="r" b="b"/>
                <a:pathLst>
                  <a:path w="1536" h="632">
                    <a:moveTo>
                      <a:pt x="0" y="48"/>
                    </a:moveTo>
                    <a:cubicBezTo>
                      <a:pt x="256" y="340"/>
                      <a:pt x="512" y="632"/>
                      <a:pt x="768" y="624"/>
                    </a:cubicBezTo>
                    <a:cubicBezTo>
                      <a:pt x="1024" y="616"/>
                      <a:pt x="1280" y="308"/>
                      <a:pt x="1536" y="0"/>
                    </a:cubicBezTo>
                  </a:path>
                </a:pathLst>
              </a:custGeom>
              <a:noFill/>
              <a:ln w="63500" cap="flat" cmpd="sng">
                <a:solidFill>
                  <a:srgbClr val="3333CC"/>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9" name="Freeform 31">
                <a:extLst>
                  <a:ext uri="{FF2B5EF4-FFF2-40B4-BE49-F238E27FC236}">
                    <a16:creationId xmlns:a16="http://schemas.microsoft.com/office/drawing/2014/main" id="{9A67B7AF-5812-1948-BCCA-727E973FE5C3}"/>
                  </a:ext>
                </a:extLst>
              </p:cNvPr>
              <p:cNvSpPr>
                <a:spLocks/>
              </p:cNvSpPr>
              <p:nvPr/>
            </p:nvSpPr>
            <p:spPr bwMode="auto">
              <a:xfrm>
                <a:off x="1482" y="2961"/>
                <a:ext cx="2287" cy="195"/>
              </a:xfrm>
              <a:custGeom>
                <a:avLst/>
                <a:gdLst>
                  <a:gd name="T0" fmla="*/ 0 w 1584"/>
                  <a:gd name="T1" fmla="*/ 300 h 632"/>
                  <a:gd name="T2" fmla="*/ 76052 w 1584"/>
                  <a:gd name="T3" fmla="*/ 8 h 632"/>
                  <a:gd name="T4" fmla="*/ 167203 w 1584"/>
                  <a:gd name="T5" fmla="*/ 325 h 632"/>
                  <a:gd name="T6" fmla="*/ 0 60000 65536"/>
                  <a:gd name="T7" fmla="*/ 0 60000 65536"/>
                  <a:gd name="T8" fmla="*/ 0 60000 65536"/>
                </a:gdLst>
                <a:ahLst/>
                <a:cxnLst>
                  <a:cxn ang="T6">
                    <a:pos x="T0" y="T1"/>
                  </a:cxn>
                  <a:cxn ang="T7">
                    <a:pos x="T2" y="T3"/>
                  </a:cxn>
                  <a:cxn ang="T8">
                    <a:pos x="T4" y="T5"/>
                  </a:cxn>
                </a:cxnLst>
                <a:rect l="0" t="0" r="r" b="b"/>
                <a:pathLst>
                  <a:path w="1584" h="632">
                    <a:moveTo>
                      <a:pt x="0" y="584"/>
                    </a:moveTo>
                    <a:cubicBezTo>
                      <a:pt x="228" y="292"/>
                      <a:pt x="456" y="0"/>
                      <a:pt x="720" y="8"/>
                    </a:cubicBezTo>
                    <a:cubicBezTo>
                      <a:pt x="984" y="16"/>
                      <a:pt x="1284" y="324"/>
                      <a:pt x="1584" y="632"/>
                    </a:cubicBezTo>
                  </a:path>
                </a:pathLst>
              </a:custGeom>
              <a:noFill/>
              <a:ln w="63500" cap="flat" cmpd="sng">
                <a:solidFill>
                  <a:srgbClr val="3333CC"/>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0" name="Freeform 32">
                <a:extLst>
                  <a:ext uri="{FF2B5EF4-FFF2-40B4-BE49-F238E27FC236}">
                    <a16:creationId xmlns:a16="http://schemas.microsoft.com/office/drawing/2014/main" id="{FAAF448D-920C-A34D-9797-610FC2385362}"/>
                  </a:ext>
                </a:extLst>
              </p:cNvPr>
              <p:cNvSpPr>
                <a:spLocks/>
              </p:cNvSpPr>
              <p:nvPr/>
            </p:nvSpPr>
            <p:spPr bwMode="auto">
              <a:xfrm rot="867880" flipH="1">
                <a:off x="2886" y="1643"/>
                <a:ext cx="1075" cy="173"/>
              </a:xfrm>
              <a:custGeom>
                <a:avLst/>
                <a:gdLst>
                  <a:gd name="T0" fmla="*/ 0 w 1536"/>
                  <a:gd name="T1" fmla="*/ 0 h 632"/>
                  <a:gd name="T2" fmla="*/ 1 w 1536"/>
                  <a:gd name="T3" fmla="*/ 0 h 632"/>
                  <a:gd name="T4" fmla="*/ 1 w 1536"/>
                  <a:gd name="T5" fmla="*/ 0 h 632"/>
                  <a:gd name="T6" fmla="*/ 0 60000 65536"/>
                  <a:gd name="T7" fmla="*/ 0 60000 65536"/>
                  <a:gd name="T8" fmla="*/ 0 60000 65536"/>
                </a:gdLst>
                <a:ahLst/>
                <a:cxnLst>
                  <a:cxn ang="T6">
                    <a:pos x="T0" y="T1"/>
                  </a:cxn>
                  <a:cxn ang="T7">
                    <a:pos x="T2" y="T3"/>
                  </a:cxn>
                  <a:cxn ang="T8">
                    <a:pos x="T4" y="T5"/>
                  </a:cxn>
                </a:cxnLst>
                <a:rect l="0" t="0" r="r" b="b"/>
                <a:pathLst>
                  <a:path w="1536" h="632">
                    <a:moveTo>
                      <a:pt x="0" y="48"/>
                    </a:moveTo>
                    <a:cubicBezTo>
                      <a:pt x="256" y="340"/>
                      <a:pt x="512" y="632"/>
                      <a:pt x="768" y="624"/>
                    </a:cubicBezTo>
                    <a:cubicBezTo>
                      <a:pt x="1024" y="616"/>
                      <a:pt x="1280" y="308"/>
                      <a:pt x="1536" y="0"/>
                    </a:cubicBezTo>
                  </a:path>
                </a:pathLst>
              </a:custGeom>
              <a:noFill/>
              <a:ln w="63500" cap="flat" cmpd="sng">
                <a:solidFill>
                  <a:srgbClr val="3333CC"/>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41" name="Group 33">
              <a:extLst>
                <a:ext uri="{FF2B5EF4-FFF2-40B4-BE49-F238E27FC236}">
                  <a16:creationId xmlns:a16="http://schemas.microsoft.com/office/drawing/2014/main" id="{E4FDD01C-2C8D-0145-964F-6BDFC7AC6FE0}"/>
                </a:ext>
              </a:extLst>
            </p:cNvPr>
            <p:cNvGrpSpPr>
              <a:grpSpLocks/>
            </p:cNvGrpSpPr>
            <p:nvPr/>
          </p:nvGrpSpPr>
          <p:grpSpPr bwMode="auto">
            <a:xfrm>
              <a:off x="581710" y="2847973"/>
              <a:ext cx="11082335" cy="1781175"/>
              <a:chOff x="27" y="1866"/>
              <a:chExt cx="5695" cy="1122"/>
            </a:xfrm>
          </p:grpSpPr>
          <p:sp>
            <p:nvSpPr>
              <p:cNvPr id="142" name="Text Box 34">
                <a:extLst>
                  <a:ext uri="{FF2B5EF4-FFF2-40B4-BE49-F238E27FC236}">
                    <a16:creationId xmlns:a16="http://schemas.microsoft.com/office/drawing/2014/main" id="{9FD7313C-3CC6-C944-837B-1A6613D19717}"/>
                  </a:ext>
                </a:extLst>
              </p:cNvPr>
              <p:cNvSpPr txBox="1">
                <a:spLocks noChangeArrowheads="1"/>
              </p:cNvSpPr>
              <p:nvPr/>
            </p:nvSpPr>
            <p:spPr bwMode="auto">
              <a:xfrm>
                <a:off x="4389" y="2091"/>
                <a:ext cx="1333" cy="634"/>
              </a:xfrm>
              <a:prstGeom prst="rect">
                <a:avLst/>
              </a:prstGeom>
              <a:solidFill>
                <a:srgbClr val="990000"/>
              </a:solidFill>
              <a:ln>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r>
                  <a:rPr kumimoji="1" lang="en-US" altLang="zh-CN" sz="2000" b="1" dirty="0">
                    <a:solidFill>
                      <a:schemeClr val="bg1"/>
                    </a:solidFill>
                    <a:latin typeface="Helvetica" panose="020B0604020202020204" pitchFamily="34" charset="0"/>
                  </a:rPr>
                  <a:t>Reliability via </a:t>
                </a:r>
              </a:p>
              <a:p>
                <a:pPr algn="ctr"/>
                <a:r>
                  <a:rPr kumimoji="1" lang="en-US" altLang="zh-CN" sz="2000" b="1" dirty="0">
                    <a:solidFill>
                      <a:schemeClr val="bg1"/>
                    </a:solidFill>
                    <a:latin typeface="Helvetica" panose="020B0604020202020204" pitchFamily="34" charset="0"/>
                  </a:rPr>
                  <a:t>path monitoring</a:t>
                </a:r>
              </a:p>
              <a:p>
                <a:pPr algn="ctr"/>
                <a:r>
                  <a:rPr kumimoji="1" lang="en-US" altLang="zh-CN" sz="2000" b="1" dirty="0">
                    <a:solidFill>
                      <a:schemeClr val="bg1"/>
                    </a:solidFill>
                    <a:latin typeface="Helvetica" panose="020B0604020202020204" pitchFamily="34" charset="0"/>
                  </a:rPr>
                  <a:t>and re-routing</a:t>
                </a:r>
              </a:p>
            </p:txBody>
          </p:sp>
          <p:sp>
            <p:nvSpPr>
              <p:cNvPr id="143" name="Text Box 35">
                <a:extLst>
                  <a:ext uri="{FF2B5EF4-FFF2-40B4-BE49-F238E27FC236}">
                    <a16:creationId xmlns:a16="http://schemas.microsoft.com/office/drawing/2014/main" id="{3315442B-4D70-F945-A537-6CE14D74E85F}"/>
                  </a:ext>
                </a:extLst>
              </p:cNvPr>
              <p:cNvSpPr txBox="1">
                <a:spLocks noChangeArrowheads="1"/>
              </p:cNvSpPr>
              <p:nvPr/>
            </p:nvSpPr>
            <p:spPr bwMode="auto">
              <a:xfrm>
                <a:off x="27" y="2122"/>
                <a:ext cx="1333" cy="634"/>
              </a:xfrm>
              <a:prstGeom prst="rect">
                <a:avLst/>
              </a:prstGeom>
              <a:solidFill>
                <a:srgbClr val="990000"/>
              </a:solidFill>
              <a:ln>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r>
                  <a:rPr kumimoji="1" lang="en-US" altLang="zh-CN" sz="2000" b="1" dirty="0">
                    <a:solidFill>
                      <a:schemeClr val="bg1"/>
                    </a:solidFill>
                    <a:latin typeface="Helvetica" panose="020B0604020202020204" pitchFamily="34" charset="0"/>
                  </a:rPr>
                  <a:t>Reliability via </a:t>
                </a:r>
              </a:p>
              <a:p>
                <a:pPr algn="ctr"/>
                <a:r>
                  <a:rPr kumimoji="1" lang="en-US" altLang="zh-CN" sz="2000" b="1" dirty="0">
                    <a:solidFill>
                      <a:schemeClr val="bg1"/>
                    </a:solidFill>
                    <a:latin typeface="Helvetica" panose="020B0604020202020204" pitchFamily="34" charset="0"/>
                  </a:rPr>
                  <a:t>path monitoring</a:t>
                </a:r>
              </a:p>
              <a:p>
                <a:pPr algn="ctr"/>
                <a:r>
                  <a:rPr kumimoji="1" lang="en-US" altLang="zh-CN" sz="2000" b="1" dirty="0">
                    <a:solidFill>
                      <a:schemeClr val="bg1"/>
                    </a:solidFill>
                    <a:latin typeface="Helvetica" panose="020B0604020202020204" pitchFamily="34" charset="0"/>
                  </a:rPr>
                  <a:t>and re-routing</a:t>
                </a:r>
              </a:p>
            </p:txBody>
          </p:sp>
          <p:sp>
            <p:nvSpPr>
              <p:cNvPr id="144" name="Line 36">
                <a:extLst>
                  <a:ext uri="{FF2B5EF4-FFF2-40B4-BE49-F238E27FC236}">
                    <a16:creationId xmlns:a16="http://schemas.microsoft.com/office/drawing/2014/main" id="{5D032F2D-2BAD-7A41-8A68-2B6B864857FA}"/>
                  </a:ext>
                </a:extLst>
              </p:cNvPr>
              <p:cNvSpPr>
                <a:spLocks noChangeShapeType="1"/>
              </p:cNvSpPr>
              <p:nvPr/>
            </p:nvSpPr>
            <p:spPr bwMode="auto">
              <a:xfrm flipH="1" flipV="1">
                <a:off x="4447" y="1866"/>
                <a:ext cx="629" cy="177"/>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45" name="Line 37">
                <a:extLst>
                  <a:ext uri="{FF2B5EF4-FFF2-40B4-BE49-F238E27FC236}">
                    <a16:creationId xmlns:a16="http://schemas.microsoft.com/office/drawing/2014/main" id="{F11D8324-242A-FE48-BFFE-FDEACFB3CC92}"/>
                  </a:ext>
                </a:extLst>
              </p:cNvPr>
              <p:cNvSpPr>
                <a:spLocks noChangeShapeType="1"/>
              </p:cNvSpPr>
              <p:nvPr/>
            </p:nvSpPr>
            <p:spPr bwMode="auto">
              <a:xfrm flipH="1">
                <a:off x="4508" y="2757"/>
                <a:ext cx="630" cy="18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46" name="Line 38">
                <a:extLst>
                  <a:ext uri="{FF2B5EF4-FFF2-40B4-BE49-F238E27FC236}">
                    <a16:creationId xmlns:a16="http://schemas.microsoft.com/office/drawing/2014/main" id="{C23289A2-9721-1C43-AD32-1A2B6C08677D}"/>
                  </a:ext>
                </a:extLst>
              </p:cNvPr>
              <p:cNvSpPr>
                <a:spLocks noChangeShapeType="1"/>
              </p:cNvSpPr>
              <p:nvPr/>
            </p:nvSpPr>
            <p:spPr bwMode="auto">
              <a:xfrm flipV="1">
                <a:off x="676" y="1889"/>
                <a:ext cx="368"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47" name="Line 39">
                <a:extLst>
                  <a:ext uri="{FF2B5EF4-FFF2-40B4-BE49-F238E27FC236}">
                    <a16:creationId xmlns:a16="http://schemas.microsoft.com/office/drawing/2014/main" id="{23C15E24-05FB-944B-91E9-71FBF75B4D43}"/>
                  </a:ext>
                </a:extLst>
              </p:cNvPr>
              <p:cNvSpPr>
                <a:spLocks noChangeShapeType="1"/>
              </p:cNvSpPr>
              <p:nvPr/>
            </p:nvSpPr>
            <p:spPr bwMode="auto">
              <a:xfrm>
                <a:off x="653" y="2819"/>
                <a:ext cx="345" cy="169"/>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149" name="AutoShape 41">
              <a:extLst>
                <a:ext uri="{FF2B5EF4-FFF2-40B4-BE49-F238E27FC236}">
                  <a16:creationId xmlns:a16="http://schemas.microsoft.com/office/drawing/2014/main" id="{842DBD33-6476-5440-A2CF-E6EE08415E85}"/>
                </a:ext>
              </a:extLst>
            </p:cNvPr>
            <p:cNvSpPr>
              <a:spLocks noChangeArrowheads="1"/>
            </p:cNvSpPr>
            <p:nvPr/>
          </p:nvSpPr>
          <p:spPr bwMode="auto">
            <a:xfrm>
              <a:off x="4210956" y="4366997"/>
              <a:ext cx="747255" cy="838200"/>
            </a:xfrm>
            <a:prstGeom prst="lightningBolt">
              <a:avLst/>
            </a:prstGeom>
            <a:solidFill>
              <a:srgbClr val="9900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endParaRPr lang="zh-CN" altLang="en-US"/>
            </a:p>
          </p:txBody>
        </p:sp>
        <p:sp>
          <p:nvSpPr>
            <p:cNvPr id="150" name="Freeform 42">
              <a:extLst>
                <a:ext uri="{FF2B5EF4-FFF2-40B4-BE49-F238E27FC236}">
                  <a16:creationId xmlns:a16="http://schemas.microsoft.com/office/drawing/2014/main" id="{4BD329CC-42FC-854D-95A8-4A7C5286D8FF}"/>
                </a:ext>
              </a:extLst>
            </p:cNvPr>
            <p:cNvSpPr>
              <a:spLocks/>
            </p:cNvSpPr>
            <p:nvPr/>
          </p:nvSpPr>
          <p:spPr bwMode="auto">
            <a:xfrm>
              <a:off x="2006269" y="2509902"/>
              <a:ext cx="6361291" cy="1867480"/>
            </a:xfrm>
            <a:custGeom>
              <a:avLst/>
              <a:gdLst>
                <a:gd name="T0" fmla="*/ 2147483646 w 2910"/>
                <a:gd name="T1" fmla="*/ 2147483646 h 2025"/>
                <a:gd name="T2" fmla="*/ 2147483646 w 2910"/>
                <a:gd name="T3" fmla="*/ 2147483646 h 2025"/>
                <a:gd name="T4" fmla="*/ 2147483646 w 2910"/>
                <a:gd name="T5" fmla="*/ 2147483646 h 2025"/>
                <a:gd name="T6" fmla="*/ 0 60000 65536"/>
                <a:gd name="T7" fmla="*/ 0 60000 65536"/>
                <a:gd name="T8" fmla="*/ 0 60000 65536"/>
              </a:gdLst>
              <a:ahLst/>
              <a:cxnLst>
                <a:cxn ang="T6">
                  <a:pos x="T0" y="T1"/>
                </a:cxn>
                <a:cxn ang="T7">
                  <a:pos x="T2" y="T3"/>
                </a:cxn>
                <a:cxn ang="T8">
                  <a:pos x="T4" y="T5"/>
                </a:cxn>
              </a:cxnLst>
              <a:rect l="0" t="0" r="r" b="b"/>
              <a:pathLst>
                <a:path w="2910" h="2025">
                  <a:moveTo>
                    <a:pt x="606" y="1977"/>
                  </a:moveTo>
                  <a:cubicBezTo>
                    <a:pt x="569" y="1649"/>
                    <a:pt x="0" y="0"/>
                    <a:pt x="384" y="8"/>
                  </a:cubicBezTo>
                  <a:cubicBezTo>
                    <a:pt x="768" y="16"/>
                    <a:pt x="2384" y="1605"/>
                    <a:pt x="2910" y="2025"/>
                  </a:cubicBezTo>
                </a:path>
              </a:pathLst>
            </a:custGeom>
            <a:noFill/>
            <a:ln w="63500" cap="flat" cmpd="sng">
              <a:solidFill>
                <a:srgbClr val="FF0000"/>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bg2">
                    <a:lumMod val="25000"/>
                  </a:schemeClr>
                </a:solidFill>
              </a:endParaRPr>
            </a:p>
          </p:txBody>
        </p:sp>
      </p:grpSp>
      <p:sp>
        <p:nvSpPr>
          <p:cNvPr id="43" name="灯片编号占位符 2">
            <a:extLst>
              <a:ext uri="{FF2B5EF4-FFF2-40B4-BE49-F238E27FC236}">
                <a16:creationId xmlns:a16="http://schemas.microsoft.com/office/drawing/2014/main" id="{E43C22A9-3796-5646-8682-163C1814ABA5}"/>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31</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4075603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en-US" altLang="zh-CN" dirty="0"/>
              <a:t>RON</a:t>
            </a:r>
            <a:r>
              <a:rPr kumimoji="1" lang="zh-CN" altLang="en-US" dirty="0"/>
              <a:t>的設計</a:t>
            </a:r>
          </a:p>
        </p:txBody>
      </p:sp>
      <p:grpSp>
        <p:nvGrpSpPr>
          <p:cNvPr id="3" name="组合 2">
            <a:extLst>
              <a:ext uri="{FF2B5EF4-FFF2-40B4-BE49-F238E27FC236}">
                <a16:creationId xmlns:a16="http://schemas.microsoft.com/office/drawing/2014/main" id="{4AA506EF-D0F5-3F40-BFCD-05BAFCD4144E}"/>
              </a:ext>
            </a:extLst>
          </p:cNvPr>
          <p:cNvGrpSpPr/>
          <p:nvPr/>
        </p:nvGrpSpPr>
        <p:grpSpPr>
          <a:xfrm>
            <a:off x="1420763" y="1152525"/>
            <a:ext cx="9645381" cy="5439494"/>
            <a:chOff x="796925" y="1152525"/>
            <a:chExt cx="7591425" cy="5439494"/>
          </a:xfrm>
        </p:grpSpPr>
        <p:grpSp>
          <p:nvGrpSpPr>
            <p:cNvPr id="26" name="Group 3">
              <a:extLst>
                <a:ext uri="{FF2B5EF4-FFF2-40B4-BE49-F238E27FC236}">
                  <a16:creationId xmlns:a16="http://schemas.microsoft.com/office/drawing/2014/main" id="{A057F18E-1222-9647-B322-E2701B9A2C06}"/>
                </a:ext>
              </a:extLst>
            </p:cNvPr>
            <p:cNvGrpSpPr>
              <a:grpSpLocks/>
            </p:cNvGrpSpPr>
            <p:nvPr/>
          </p:nvGrpSpPr>
          <p:grpSpPr bwMode="auto">
            <a:xfrm>
              <a:off x="2293938" y="2127250"/>
              <a:ext cx="3500437" cy="2114550"/>
              <a:chOff x="1920" y="2160"/>
              <a:chExt cx="1488" cy="960"/>
            </a:xfrm>
            <a:solidFill>
              <a:srgbClr val="92D050"/>
            </a:solidFill>
          </p:grpSpPr>
          <p:sp>
            <p:nvSpPr>
              <p:cNvPr id="27" name="Oval 4">
                <a:extLst>
                  <a:ext uri="{FF2B5EF4-FFF2-40B4-BE49-F238E27FC236}">
                    <a16:creationId xmlns:a16="http://schemas.microsoft.com/office/drawing/2014/main" id="{659F0869-D0CD-9041-A0C4-CC1A20F2EBE3}"/>
                  </a:ext>
                </a:extLst>
              </p:cNvPr>
              <p:cNvSpPr>
                <a:spLocks noChangeArrowheads="1"/>
              </p:cNvSpPr>
              <p:nvPr/>
            </p:nvSpPr>
            <p:spPr bwMode="auto">
              <a:xfrm>
                <a:off x="2112" y="2352"/>
                <a:ext cx="576" cy="336"/>
              </a:xfrm>
              <a:prstGeom prst="ellipse">
                <a:avLst/>
              </a:prstGeom>
              <a:grp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defRPr/>
                </a:pPr>
                <a:endParaRPr lang="zh-CN" altLang="en-US"/>
              </a:p>
            </p:txBody>
          </p:sp>
          <p:sp>
            <p:nvSpPr>
              <p:cNvPr id="28" name="Oval 5">
                <a:extLst>
                  <a:ext uri="{FF2B5EF4-FFF2-40B4-BE49-F238E27FC236}">
                    <a16:creationId xmlns:a16="http://schemas.microsoft.com/office/drawing/2014/main" id="{9770F099-A510-1148-AF23-18AEB4FE40E0}"/>
                  </a:ext>
                </a:extLst>
              </p:cNvPr>
              <p:cNvSpPr>
                <a:spLocks noChangeArrowheads="1"/>
              </p:cNvSpPr>
              <p:nvPr/>
            </p:nvSpPr>
            <p:spPr bwMode="auto">
              <a:xfrm>
                <a:off x="2352" y="2160"/>
                <a:ext cx="576" cy="336"/>
              </a:xfrm>
              <a:prstGeom prst="ellipse">
                <a:avLst/>
              </a:prstGeom>
              <a:grp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defRPr/>
                </a:pPr>
                <a:endParaRPr lang="zh-CN" altLang="en-US"/>
              </a:p>
            </p:txBody>
          </p:sp>
          <p:sp>
            <p:nvSpPr>
              <p:cNvPr id="29" name="Oval 6">
                <a:extLst>
                  <a:ext uri="{FF2B5EF4-FFF2-40B4-BE49-F238E27FC236}">
                    <a16:creationId xmlns:a16="http://schemas.microsoft.com/office/drawing/2014/main" id="{F6221485-AD0E-F34E-996F-CD2F55653D98}"/>
                  </a:ext>
                </a:extLst>
              </p:cNvPr>
              <p:cNvSpPr>
                <a:spLocks noChangeArrowheads="1"/>
              </p:cNvSpPr>
              <p:nvPr/>
            </p:nvSpPr>
            <p:spPr bwMode="auto">
              <a:xfrm>
                <a:off x="2640" y="2304"/>
                <a:ext cx="576" cy="336"/>
              </a:xfrm>
              <a:prstGeom prst="ellipse">
                <a:avLst/>
              </a:prstGeom>
              <a:grp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defRPr/>
                </a:pPr>
                <a:endParaRPr lang="zh-CN" altLang="en-US"/>
              </a:p>
            </p:txBody>
          </p:sp>
          <p:sp>
            <p:nvSpPr>
              <p:cNvPr id="30" name="Oval 7">
                <a:extLst>
                  <a:ext uri="{FF2B5EF4-FFF2-40B4-BE49-F238E27FC236}">
                    <a16:creationId xmlns:a16="http://schemas.microsoft.com/office/drawing/2014/main" id="{0F98AD36-DD02-954F-A3C4-A79DA6455F52}"/>
                  </a:ext>
                </a:extLst>
              </p:cNvPr>
              <p:cNvSpPr>
                <a:spLocks noChangeArrowheads="1"/>
              </p:cNvSpPr>
              <p:nvPr/>
            </p:nvSpPr>
            <p:spPr bwMode="auto">
              <a:xfrm>
                <a:off x="2736" y="2448"/>
                <a:ext cx="576" cy="336"/>
              </a:xfrm>
              <a:prstGeom prst="ellipse">
                <a:avLst/>
              </a:prstGeom>
              <a:grp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defRPr/>
                </a:pPr>
                <a:endParaRPr lang="zh-CN" altLang="en-US"/>
              </a:p>
            </p:txBody>
          </p:sp>
          <p:sp>
            <p:nvSpPr>
              <p:cNvPr id="31" name="Oval 8">
                <a:extLst>
                  <a:ext uri="{FF2B5EF4-FFF2-40B4-BE49-F238E27FC236}">
                    <a16:creationId xmlns:a16="http://schemas.microsoft.com/office/drawing/2014/main" id="{2ACBC1E2-CCD3-004C-BD12-89A6BC66BF60}"/>
                  </a:ext>
                </a:extLst>
              </p:cNvPr>
              <p:cNvSpPr>
                <a:spLocks noChangeArrowheads="1"/>
              </p:cNvSpPr>
              <p:nvPr/>
            </p:nvSpPr>
            <p:spPr bwMode="auto">
              <a:xfrm>
                <a:off x="2832" y="2448"/>
                <a:ext cx="576" cy="336"/>
              </a:xfrm>
              <a:prstGeom prst="ellipse">
                <a:avLst/>
              </a:prstGeom>
              <a:grp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defRPr/>
                </a:pPr>
                <a:endParaRPr lang="zh-CN" altLang="en-US"/>
              </a:p>
            </p:txBody>
          </p:sp>
          <p:sp>
            <p:nvSpPr>
              <p:cNvPr id="32" name="Oval 9">
                <a:extLst>
                  <a:ext uri="{FF2B5EF4-FFF2-40B4-BE49-F238E27FC236}">
                    <a16:creationId xmlns:a16="http://schemas.microsoft.com/office/drawing/2014/main" id="{4EDC78AD-9221-2F46-B788-FEF0F57CA6BA}"/>
                  </a:ext>
                </a:extLst>
              </p:cNvPr>
              <p:cNvSpPr>
                <a:spLocks noChangeArrowheads="1"/>
              </p:cNvSpPr>
              <p:nvPr/>
            </p:nvSpPr>
            <p:spPr bwMode="auto">
              <a:xfrm>
                <a:off x="2736" y="2640"/>
                <a:ext cx="576" cy="336"/>
              </a:xfrm>
              <a:prstGeom prst="ellipse">
                <a:avLst/>
              </a:prstGeom>
              <a:grp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defRPr/>
                </a:pPr>
                <a:endParaRPr lang="zh-CN" altLang="en-US"/>
              </a:p>
            </p:txBody>
          </p:sp>
          <p:sp>
            <p:nvSpPr>
              <p:cNvPr id="33" name="Oval 10">
                <a:extLst>
                  <a:ext uri="{FF2B5EF4-FFF2-40B4-BE49-F238E27FC236}">
                    <a16:creationId xmlns:a16="http://schemas.microsoft.com/office/drawing/2014/main" id="{23774ACB-B93E-B246-8104-2EA5DF1AB87E}"/>
                  </a:ext>
                </a:extLst>
              </p:cNvPr>
              <p:cNvSpPr>
                <a:spLocks noChangeArrowheads="1"/>
              </p:cNvSpPr>
              <p:nvPr/>
            </p:nvSpPr>
            <p:spPr bwMode="auto">
              <a:xfrm>
                <a:off x="2400" y="2784"/>
                <a:ext cx="576" cy="336"/>
              </a:xfrm>
              <a:prstGeom prst="ellipse">
                <a:avLst/>
              </a:prstGeom>
              <a:grp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defRPr/>
                </a:pPr>
                <a:endParaRPr lang="zh-CN" altLang="en-US"/>
              </a:p>
            </p:txBody>
          </p:sp>
          <p:sp>
            <p:nvSpPr>
              <p:cNvPr id="34" name="Oval 11">
                <a:extLst>
                  <a:ext uri="{FF2B5EF4-FFF2-40B4-BE49-F238E27FC236}">
                    <a16:creationId xmlns:a16="http://schemas.microsoft.com/office/drawing/2014/main" id="{38AB9118-1EFF-5043-8E94-DEDEAC8ED6BD}"/>
                  </a:ext>
                </a:extLst>
              </p:cNvPr>
              <p:cNvSpPr>
                <a:spLocks noChangeArrowheads="1"/>
              </p:cNvSpPr>
              <p:nvPr/>
            </p:nvSpPr>
            <p:spPr bwMode="auto">
              <a:xfrm>
                <a:off x="1920" y="2448"/>
                <a:ext cx="576" cy="336"/>
              </a:xfrm>
              <a:prstGeom prst="ellipse">
                <a:avLst/>
              </a:prstGeom>
              <a:grp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defRPr/>
                </a:pPr>
                <a:endParaRPr lang="zh-CN" altLang="en-US"/>
              </a:p>
            </p:txBody>
          </p:sp>
          <p:sp>
            <p:nvSpPr>
              <p:cNvPr id="35" name="Oval 12">
                <a:extLst>
                  <a:ext uri="{FF2B5EF4-FFF2-40B4-BE49-F238E27FC236}">
                    <a16:creationId xmlns:a16="http://schemas.microsoft.com/office/drawing/2014/main" id="{AACAEBA6-301F-3F48-AEEE-AE601D0B8689}"/>
                  </a:ext>
                </a:extLst>
              </p:cNvPr>
              <p:cNvSpPr>
                <a:spLocks noChangeArrowheads="1"/>
              </p:cNvSpPr>
              <p:nvPr/>
            </p:nvSpPr>
            <p:spPr bwMode="auto">
              <a:xfrm>
                <a:off x="2352" y="2496"/>
                <a:ext cx="576" cy="336"/>
              </a:xfrm>
              <a:prstGeom prst="ellipse">
                <a:avLst/>
              </a:prstGeom>
              <a:grp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defRPr/>
                </a:pPr>
                <a:endParaRPr lang="zh-CN" altLang="en-US"/>
              </a:p>
            </p:txBody>
          </p:sp>
          <p:sp>
            <p:nvSpPr>
              <p:cNvPr id="36" name="Oval 13">
                <a:extLst>
                  <a:ext uri="{FF2B5EF4-FFF2-40B4-BE49-F238E27FC236}">
                    <a16:creationId xmlns:a16="http://schemas.microsoft.com/office/drawing/2014/main" id="{87806599-D8E9-7745-AF48-A128A21BD94B}"/>
                  </a:ext>
                </a:extLst>
              </p:cNvPr>
              <p:cNvSpPr>
                <a:spLocks noChangeArrowheads="1"/>
              </p:cNvSpPr>
              <p:nvPr/>
            </p:nvSpPr>
            <p:spPr bwMode="auto">
              <a:xfrm>
                <a:off x="2064" y="2688"/>
                <a:ext cx="576" cy="336"/>
              </a:xfrm>
              <a:prstGeom prst="ellipse">
                <a:avLst/>
              </a:prstGeom>
              <a:grpFill/>
              <a:ln>
                <a:noFill/>
              </a:ln>
              <a:effectLst/>
              <a:extLst>
                <a:ext uri="{91240B29-F687-4F45-9708-019B960494DF}">
                  <a14:hiddenLine xmlns:a14="http://schemas.microsoft.com/office/drawing/2010/main" w="12700">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defRPr/>
                </a:pPr>
                <a:endParaRPr lang="zh-CN" altLang="en-US"/>
              </a:p>
            </p:txBody>
          </p:sp>
        </p:grpSp>
        <p:sp>
          <p:nvSpPr>
            <p:cNvPr id="37" name="computr2">
              <a:extLst>
                <a:ext uri="{FF2B5EF4-FFF2-40B4-BE49-F238E27FC236}">
                  <a16:creationId xmlns:a16="http://schemas.microsoft.com/office/drawing/2014/main" id="{5CFF2666-588D-3547-B68E-A12924F3A95D}"/>
                </a:ext>
              </a:extLst>
            </p:cNvPr>
            <p:cNvSpPr>
              <a:spLocks noEditPoints="1" noChangeArrowheads="1"/>
            </p:cNvSpPr>
            <p:nvPr/>
          </p:nvSpPr>
          <p:spPr bwMode="auto">
            <a:xfrm>
              <a:off x="6072188" y="3538538"/>
              <a:ext cx="676275" cy="447675"/>
            </a:xfrm>
            <a:custGeom>
              <a:avLst/>
              <a:gdLst>
                <a:gd name="T0" fmla="*/ 2147483646 w 21600"/>
                <a:gd name="T1" fmla="*/ 0 h 21600"/>
                <a:gd name="T2" fmla="*/ 2147483646 w 21600"/>
                <a:gd name="T3" fmla="*/ 2147483646 h 21600"/>
                <a:gd name="T4" fmla="*/ 2147483646 w 21600"/>
                <a:gd name="T5" fmla="*/ 0 h 21600"/>
                <a:gd name="T6" fmla="*/ 2147483646 w 21600"/>
                <a:gd name="T7" fmla="*/ 0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2147483646 w 21600"/>
                <a:gd name="T17" fmla="*/ 2147483646 h 21600"/>
                <a:gd name="T18" fmla="*/ 2147483646 w 21600"/>
                <a:gd name="T19" fmla="*/ 2147483646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6194 w 21600"/>
                <a:gd name="T31" fmla="*/ 1913 h 21600"/>
                <a:gd name="T32" fmla="*/ 15565 w 21600"/>
                <a:gd name="T33" fmla="*/ 97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endParaRPr lang="zh-CN" altLang="en-US"/>
            </a:p>
          </p:txBody>
        </p:sp>
        <p:sp>
          <p:nvSpPr>
            <p:cNvPr id="38" name="computr2">
              <a:extLst>
                <a:ext uri="{FF2B5EF4-FFF2-40B4-BE49-F238E27FC236}">
                  <a16:creationId xmlns:a16="http://schemas.microsoft.com/office/drawing/2014/main" id="{0CFAD72B-E0A5-574C-97C3-FA11F3A6A79D}"/>
                </a:ext>
              </a:extLst>
            </p:cNvPr>
            <p:cNvSpPr>
              <a:spLocks noEditPoints="1" noChangeArrowheads="1"/>
            </p:cNvSpPr>
            <p:nvPr/>
          </p:nvSpPr>
          <p:spPr bwMode="auto">
            <a:xfrm>
              <a:off x="1323975" y="1847850"/>
              <a:ext cx="676275" cy="447675"/>
            </a:xfrm>
            <a:custGeom>
              <a:avLst/>
              <a:gdLst>
                <a:gd name="T0" fmla="*/ 2147483646 w 21600"/>
                <a:gd name="T1" fmla="*/ 0 h 21600"/>
                <a:gd name="T2" fmla="*/ 2147483646 w 21600"/>
                <a:gd name="T3" fmla="*/ 2147483646 h 21600"/>
                <a:gd name="T4" fmla="*/ 2147483646 w 21600"/>
                <a:gd name="T5" fmla="*/ 0 h 21600"/>
                <a:gd name="T6" fmla="*/ 2147483646 w 21600"/>
                <a:gd name="T7" fmla="*/ 0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2147483646 w 21600"/>
                <a:gd name="T17" fmla="*/ 2147483646 h 21600"/>
                <a:gd name="T18" fmla="*/ 2147483646 w 21600"/>
                <a:gd name="T19" fmla="*/ 2147483646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6194 w 21600"/>
                <a:gd name="T31" fmla="*/ 1913 h 21600"/>
                <a:gd name="T32" fmla="*/ 15565 w 21600"/>
                <a:gd name="T33" fmla="*/ 97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endParaRPr lang="zh-CN" altLang="en-US"/>
            </a:p>
          </p:txBody>
        </p:sp>
        <p:sp>
          <p:nvSpPr>
            <p:cNvPr id="39" name="computr2">
              <a:extLst>
                <a:ext uri="{FF2B5EF4-FFF2-40B4-BE49-F238E27FC236}">
                  <a16:creationId xmlns:a16="http://schemas.microsoft.com/office/drawing/2014/main" id="{FD966022-C22E-5A4A-B294-1DA5C88ABA28}"/>
                </a:ext>
              </a:extLst>
            </p:cNvPr>
            <p:cNvSpPr>
              <a:spLocks noEditPoints="1" noChangeArrowheads="1"/>
            </p:cNvSpPr>
            <p:nvPr/>
          </p:nvSpPr>
          <p:spPr bwMode="auto">
            <a:xfrm>
              <a:off x="1262063" y="3540125"/>
              <a:ext cx="676275" cy="523875"/>
            </a:xfrm>
            <a:custGeom>
              <a:avLst/>
              <a:gdLst>
                <a:gd name="T0" fmla="*/ 2147483646 w 21600"/>
                <a:gd name="T1" fmla="*/ 0 h 21600"/>
                <a:gd name="T2" fmla="*/ 2147483646 w 21600"/>
                <a:gd name="T3" fmla="*/ 2147483646 h 21600"/>
                <a:gd name="T4" fmla="*/ 2147483646 w 21600"/>
                <a:gd name="T5" fmla="*/ 0 h 21600"/>
                <a:gd name="T6" fmla="*/ 2147483646 w 21600"/>
                <a:gd name="T7" fmla="*/ 0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2147483646 w 21600"/>
                <a:gd name="T17" fmla="*/ 2147483646 h 21600"/>
                <a:gd name="T18" fmla="*/ 2147483646 w 21600"/>
                <a:gd name="T19" fmla="*/ 2147483646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6194 w 21600"/>
                <a:gd name="T31" fmla="*/ 1913 h 21600"/>
                <a:gd name="T32" fmla="*/ 15565 w 21600"/>
                <a:gd name="T33" fmla="*/ 97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endParaRPr lang="zh-CN" altLang="en-US"/>
            </a:p>
          </p:txBody>
        </p:sp>
        <p:sp>
          <p:nvSpPr>
            <p:cNvPr id="40" name="computr2">
              <a:extLst>
                <a:ext uri="{FF2B5EF4-FFF2-40B4-BE49-F238E27FC236}">
                  <a16:creationId xmlns:a16="http://schemas.microsoft.com/office/drawing/2014/main" id="{8ED10810-A5C4-FE47-A85B-1D8573D408A4}"/>
                </a:ext>
              </a:extLst>
            </p:cNvPr>
            <p:cNvSpPr>
              <a:spLocks noEditPoints="1" noChangeArrowheads="1"/>
            </p:cNvSpPr>
            <p:nvPr/>
          </p:nvSpPr>
          <p:spPr bwMode="auto">
            <a:xfrm>
              <a:off x="6091238" y="1758950"/>
              <a:ext cx="676275" cy="447675"/>
            </a:xfrm>
            <a:custGeom>
              <a:avLst/>
              <a:gdLst>
                <a:gd name="T0" fmla="*/ 2147483646 w 21600"/>
                <a:gd name="T1" fmla="*/ 0 h 21600"/>
                <a:gd name="T2" fmla="*/ 2147483646 w 21600"/>
                <a:gd name="T3" fmla="*/ 2147483646 h 21600"/>
                <a:gd name="T4" fmla="*/ 2147483646 w 21600"/>
                <a:gd name="T5" fmla="*/ 0 h 21600"/>
                <a:gd name="T6" fmla="*/ 2147483646 w 21600"/>
                <a:gd name="T7" fmla="*/ 0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2147483646 w 21600"/>
                <a:gd name="T17" fmla="*/ 2147483646 h 21600"/>
                <a:gd name="T18" fmla="*/ 2147483646 w 21600"/>
                <a:gd name="T19" fmla="*/ 2147483646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6194 w 21600"/>
                <a:gd name="T31" fmla="*/ 1913 h 21600"/>
                <a:gd name="T32" fmla="*/ 15565 w 21600"/>
                <a:gd name="T33" fmla="*/ 97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endParaRPr lang="zh-CN" altLang="en-US"/>
            </a:p>
          </p:txBody>
        </p:sp>
        <p:grpSp>
          <p:nvGrpSpPr>
            <p:cNvPr id="41" name="Group 18">
              <a:extLst>
                <a:ext uri="{FF2B5EF4-FFF2-40B4-BE49-F238E27FC236}">
                  <a16:creationId xmlns:a16="http://schemas.microsoft.com/office/drawing/2014/main" id="{37412B6E-4818-064C-A018-D26D5D0C266D}"/>
                </a:ext>
              </a:extLst>
            </p:cNvPr>
            <p:cNvGrpSpPr>
              <a:grpSpLocks/>
            </p:cNvGrpSpPr>
            <p:nvPr/>
          </p:nvGrpSpPr>
          <p:grpSpPr bwMode="auto">
            <a:xfrm>
              <a:off x="1941513" y="1763713"/>
              <a:ext cx="4102100" cy="2278062"/>
              <a:chOff x="1414" y="1733"/>
              <a:chExt cx="2584" cy="1435"/>
            </a:xfrm>
          </p:grpSpPr>
          <p:sp>
            <p:nvSpPr>
              <p:cNvPr id="42" name="Freeform 19">
                <a:extLst>
                  <a:ext uri="{FF2B5EF4-FFF2-40B4-BE49-F238E27FC236}">
                    <a16:creationId xmlns:a16="http://schemas.microsoft.com/office/drawing/2014/main" id="{16AF7C43-0795-1B45-8951-B4D7713BEFC7}"/>
                  </a:ext>
                </a:extLst>
              </p:cNvPr>
              <p:cNvSpPr>
                <a:spLocks/>
              </p:cNvSpPr>
              <p:nvPr/>
            </p:nvSpPr>
            <p:spPr bwMode="auto">
              <a:xfrm>
                <a:off x="1414" y="1913"/>
                <a:ext cx="810" cy="1121"/>
              </a:xfrm>
              <a:custGeom>
                <a:avLst/>
                <a:gdLst>
                  <a:gd name="T0" fmla="*/ 4136 w 632"/>
                  <a:gd name="T1" fmla="*/ 1 h 1680"/>
                  <a:gd name="T2" fmla="*/ 54333 w 632"/>
                  <a:gd name="T3" fmla="*/ 1 h 1680"/>
                  <a:gd name="T4" fmla="*/ 0 w 632"/>
                  <a:gd name="T5" fmla="*/ 0 h 1680"/>
                  <a:gd name="T6" fmla="*/ 0 60000 65536"/>
                  <a:gd name="T7" fmla="*/ 0 60000 65536"/>
                  <a:gd name="T8" fmla="*/ 0 60000 65536"/>
                </a:gdLst>
                <a:ahLst/>
                <a:cxnLst>
                  <a:cxn ang="T6">
                    <a:pos x="T0" y="T1"/>
                  </a:cxn>
                  <a:cxn ang="T7">
                    <a:pos x="T2" y="T3"/>
                  </a:cxn>
                  <a:cxn ang="T8">
                    <a:pos x="T4" y="T5"/>
                  </a:cxn>
                </a:cxnLst>
                <a:rect l="0" t="0" r="r" b="b"/>
                <a:pathLst>
                  <a:path w="632" h="1680">
                    <a:moveTo>
                      <a:pt x="48" y="1680"/>
                    </a:moveTo>
                    <a:cubicBezTo>
                      <a:pt x="340" y="1364"/>
                      <a:pt x="632" y="1048"/>
                      <a:pt x="624" y="768"/>
                    </a:cubicBezTo>
                    <a:cubicBezTo>
                      <a:pt x="616" y="488"/>
                      <a:pt x="308" y="244"/>
                      <a:pt x="0" y="0"/>
                    </a:cubicBezTo>
                  </a:path>
                </a:pathLst>
              </a:custGeom>
              <a:noFill/>
              <a:ln w="63500" cap="flat" cmpd="sng">
                <a:solidFill>
                  <a:srgbClr val="3333CC"/>
                </a:solidFill>
                <a:prstDash val="solid"/>
                <a:round/>
                <a:headEnd type="triangle" w="med" len="med"/>
                <a:tailEnd type="triangl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Freeform 20">
                <a:extLst>
                  <a:ext uri="{FF2B5EF4-FFF2-40B4-BE49-F238E27FC236}">
                    <a16:creationId xmlns:a16="http://schemas.microsoft.com/office/drawing/2014/main" id="{B7A7460C-A989-F240-9016-35B4E97A5600}"/>
                  </a:ext>
                </a:extLst>
              </p:cNvPr>
              <p:cNvSpPr>
                <a:spLocks/>
              </p:cNvSpPr>
              <p:nvPr/>
            </p:nvSpPr>
            <p:spPr bwMode="auto">
              <a:xfrm>
                <a:off x="3379" y="1868"/>
                <a:ext cx="619" cy="1300"/>
              </a:xfrm>
              <a:custGeom>
                <a:avLst/>
                <a:gdLst>
                  <a:gd name="T0" fmla="*/ 35250 w 488"/>
                  <a:gd name="T1" fmla="*/ 45 h 1584"/>
                  <a:gd name="T2" fmla="*/ 568 w 488"/>
                  <a:gd name="T3" fmla="*/ 23 h 1584"/>
                  <a:gd name="T4" fmla="*/ 31802 w 488"/>
                  <a:gd name="T5" fmla="*/ 0 h 1584"/>
                  <a:gd name="T6" fmla="*/ 0 60000 65536"/>
                  <a:gd name="T7" fmla="*/ 0 60000 65536"/>
                  <a:gd name="T8" fmla="*/ 0 60000 65536"/>
                </a:gdLst>
                <a:ahLst/>
                <a:cxnLst>
                  <a:cxn ang="T6">
                    <a:pos x="T0" y="T1"/>
                  </a:cxn>
                  <a:cxn ang="T7">
                    <a:pos x="T2" y="T3"/>
                  </a:cxn>
                  <a:cxn ang="T8">
                    <a:pos x="T4" y="T5"/>
                  </a:cxn>
                </a:cxnLst>
                <a:rect l="0" t="0" r="r" b="b"/>
                <a:pathLst>
                  <a:path w="488" h="1584">
                    <a:moveTo>
                      <a:pt x="488" y="1584"/>
                    </a:moveTo>
                    <a:cubicBezTo>
                      <a:pt x="252" y="1332"/>
                      <a:pt x="16" y="1080"/>
                      <a:pt x="8" y="816"/>
                    </a:cubicBezTo>
                    <a:cubicBezTo>
                      <a:pt x="0" y="552"/>
                      <a:pt x="220" y="276"/>
                      <a:pt x="440" y="0"/>
                    </a:cubicBezTo>
                  </a:path>
                </a:pathLst>
              </a:custGeom>
              <a:noFill/>
              <a:ln w="63500" cap="flat" cmpd="sng">
                <a:solidFill>
                  <a:srgbClr val="3333CC"/>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Freeform 21">
                <a:extLst>
                  <a:ext uri="{FF2B5EF4-FFF2-40B4-BE49-F238E27FC236}">
                    <a16:creationId xmlns:a16="http://schemas.microsoft.com/office/drawing/2014/main" id="{848310EF-C685-3240-AE66-E1EA855F58EE}"/>
                  </a:ext>
                </a:extLst>
              </p:cNvPr>
              <p:cNvSpPr>
                <a:spLocks/>
              </p:cNvSpPr>
              <p:nvPr/>
            </p:nvSpPr>
            <p:spPr bwMode="auto">
              <a:xfrm rot="-1548069">
                <a:off x="1671" y="1798"/>
                <a:ext cx="963" cy="173"/>
              </a:xfrm>
              <a:custGeom>
                <a:avLst/>
                <a:gdLst>
                  <a:gd name="T0" fmla="*/ 0 w 1536"/>
                  <a:gd name="T1" fmla="*/ 0 h 632"/>
                  <a:gd name="T2" fmla="*/ 1 w 1536"/>
                  <a:gd name="T3" fmla="*/ 0 h 632"/>
                  <a:gd name="T4" fmla="*/ 1 w 1536"/>
                  <a:gd name="T5" fmla="*/ 0 h 632"/>
                  <a:gd name="T6" fmla="*/ 0 60000 65536"/>
                  <a:gd name="T7" fmla="*/ 0 60000 65536"/>
                  <a:gd name="T8" fmla="*/ 0 60000 65536"/>
                </a:gdLst>
                <a:ahLst/>
                <a:cxnLst>
                  <a:cxn ang="T6">
                    <a:pos x="T0" y="T1"/>
                  </a:cxn>
                  <a:cxn ang="T7">
                    <a:pos x="T2" y="T3"/>
                  </a:cxn>
                  <a:cxn ang="T8">
                    <a:pos x="T4" y="T5"/>
                  </a:cxn>
                </a:cxnLst>
                <a:rect l="0" t="0" r="r" b="b"/>
                <a:pathLst>
                  <a:path w="1536" h="632">
                    <a:moveTo>
                      <a:pt x="0" y="48"/>
                    </a:moveTo>
                    <a:cubicBezTo>
                      <a:pt x="256" y="340"/>
                      <a:pt x="512" y="632"/>
                      <a:pt x="768" y="624"/>
                    </a:cubicBezTo>
                    <a:cubicBezTo>
                      <a:pt x="1024" y="616"/>
                      <a:pt x="1280" y="308"/>
                      <a:pt x="1536" y="0"/>
                    </a:cubicBezTo>
                  </a:path>
                </a:pathLst>
              </a:custGeom>
              <a:noFill/>
              <a:ln w="63500" cap="flat" cmpd="sng">
                <a:solidFill>
                  <a:srgbClr val="3333CC"/>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 name="Freeform 22">
                <a:extLst>
                  <a:ext uri="{FF2B5EF4-FFF2-40B4-BE49-F238E27FC236}">
                    <a16:creationId xmlns:a16="http://schemas.microsoft.com/office/drawing/2014/main" id="{2182B281-218D-E546-A11E-8546AE5A3FA3}"/>
                  </a:ext>
                </a:extLst>
              </p:cNvPr>
              <p:cNvSpPr>
                <a:spLocks/>
              </p:cNvSpPr>
              <p:nvPr/>
            </p:nvSpPr>
            <p:spPr bwMode="auto">
              <a:xfrm>
                <a:off x="1717" y="2449"/>
                <a:ext cx="2052" cy="609"/>
              </a:xfrm>
              <a:custGeom>
                <a:avLst/>
                <a:gdLst>
                  <a:gd name="T0" fmla="*/ 0 w 1584"/>
                  <a:gd name="T1" fmla="*/ 300 h 632"/>
                  <a:gd name="T2" fmla="*/ 76052 w 1584"/>
                  <a:gd name="T3" fmla="*/ 8 h 632"/>
                  <a:gd name="T4" fmla="*/ 167203 w 1584"/>
                  <a:gd name="T5" fmla="*/ 325 h 632"/>
                  <a:gd name="T6" fmla="*/ 0 60000 65536"/>
                  <a:gd name="T7" fmla="*/ 0 60000 65536"/>
                  <a:gd name="T8" fmla="*/ 0 60000 65536"/>
                </a:gdLst>
                <a:ahLst/>
                <a:cxnLst>
                  <a:cxn ang="T6">
                    <a:pos x="T0" y="T1"/>
                  </a:cxn>
                  <a:cxn ang="T7">
                    <a:pos x="T2" y="T3"/>
                  </a:cxn>
                  <a:cxn ang="T8">
                    <a:pos x="T4" y="T5"/>
                  </a:cxn>
                </a:cxnLst>
                <a:rect l="0" t="0" r="r" b="b"/>
                <a:pathLst>
                  <a:path w="1584" h="632">
                    <a:moveTo>
                      <a:pt x="0" y="584"/>
                    </a:moveTo>
                    <a:cubicBezTo>
                      <a:pt x="228" y="292"/>
                      <a:pt x="456" y="0"/>
                      <a:pt x="720" y="8"/>
                    </a:cubicBezTo>
                    <a:cubicBezTo>
                      <a:pt x="984" y="16"/>
                      <a:pt x="1284" y="324"/>
                      <a:pt x="1584" y="632"/>
                    </a:cubicBezTo>
                  </a:path>
                </a:pathLst>
              </a:custGeom>
              <a:noFill/>
              <a:ln w="63500" cap="flat" cmpd="sng">
                <a:solidFill>
                  <a:srgbClr val="3333CC"/>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 name="Freeform 23">
                <a:extLst>
                  <a:ext uri="{FF2B5EF4-FFF2-40B4-BE49-F238E27FC236}">
                    <a16:creationId xmlns:a16="http://schemas.microsoft.com/office/drawing/2014/main" id="{50F404FB-1505-4946-B663-B19A395AE0FF}"/>
                  </a:ext>
                </a:extLst>
              </p:cNvPr>
              <p:cNvSpPr>
                <a:spLocks/>
              </p:cNvSpPr>
              <p:nvPr/>
            </p:nvSpPr>
            <p:spPr bwMode="auto">
              <a:xfrm rot="1548069" flipH="1">
                <a:off x="2788" y="1733"/>
                <a:ext cx="963" cy="173"/>
              </a:xfrm>
              <a:custGeom>
                <a:avLst/>
                <a:gdLst>
                  <a:gd name="T0" fmla="*/ 0 w 1536"/>
                  <a:gd name="T1" fmla="*/ 0 h 632"/>
                  <a:gd name="T2" fmla="*/ 1 w 1536"/>
                  <a:gd name="T3" fmla="*/ 0 h 632"/>
                  <a:gd name="T4" fmla="*/ 1 w 1536"/>
                  <a:gd name="T5" fmla="*/ 0 h 632"/>
                  <a:gd name="T6" fmla="*/ 0 60000 65536"/>
                  <a:gd name="T7" fmla="*/ 0 60000 65536"/>
                  <a:gd name="T8" fmla="*/ 0 60000 65536"/>
                </a:gdLst>
                <a:ahLst/>
                <a:cxnLst>
                  <a:cxn ang="T6">
                    <a:pos x="T0" y="T1"/>
                  </a:cxn>
                  <a:cxn ang="T7">
                    <a:pos x="T2" y="T3"/>
                  </a:cxn>
                  <a:cxn ang="T8">
                    <a:pos x="T4" y="T5"/>
                  </a:cxn>
                </a:cxnLst>
                <a:rect l="0" t="0" r="r" b="b"/>
                <a:pathLst>
                  <a:path w="1536" h="632">
                    <a:moveTo>
                      <a:pt x="0" y="48"/>
                    </a:moveTo>
                    <a:cubicBezTo>
                      <a:pt x="256" y="340"/>
                      <a:pt x="512" y="632"/>
                      <a:pt x="768" y="624"/>
                    </a:cubicBezTo>
                    <a:cubicBezTo>
                      <a:pt x="1024" y="616"/>
                      <a:pt x="1280" y="308"/>
                      <a:pt x="1536" y="0"/>
                    </a:cubicBezTo>
                  </a:path>
                </a:pathLst>
              </a:custGeom>
              <a:noFill/>
              <a:ln w="63500" cap="flat" cmpd="sng">
                <a:solidFill>
                  <a:srgbClr val="3333CC"/>
                </a:solidFill>
                <a:prstDash val="solid"/>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0" name="computr2">
              <a:extLst>
                <a:ext uri="{FF2B5EF4-FFF2-40B4-BE49-F238E27FC236}">
                  <a16:creationId xmlns:a16="http://schemas.microsoft.com/office/drawing/2014/main" id="{A4B204B3-C2C8-5D49-9529-3F0D3D47A102}"/>
                </a:ext>
              </a:extLst>
            </p:cNvPr>
            <p:cNvSpPr>
              <a:spLocks noEditPoints="1" noChangeArrowheads="1"/>
            </p:cNvSpPr>
            <p:nvPr/>
          </p:nvSpPr>
          <p:spPr bwMode="auto">
            <a:xfrm>
              <a:off x="3646488" y="1152525"/>
              <a:ext cx="676275" cy="447675"/>
            </a:xfrm>
            <a:custGeom>
              <a:avLst/>
              <a:gdLst>
                <a:gd name="T0" fmla="*/ 2147483646 w 21600"/>
                <a:gd name="T1" fmla="*/ 0 h 21600"/>
                <a:gd name="T2" fmla="*/ 2147483646 w 21600"/>
                <a:gd name="T3" fmla="*/ 2147483646 h 21600"/>
                <a:gd name="T4" fmla="*/ 2147483646 w 21600"/>
                <a:gd name="T5" fmla="*/ 0 h 21600"/>
                <a:gd name="T6" fmla="*/ 2147483646 w 21600"/>
                <a:gd name="T7" fmla="*/ 0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2147483646 w 21600"/>
                <a:gd name="T17" fmla="*/ 2147483646 h 21600"/>
                <a:gd name="T18" fmla="*/ 2147483646 w 21600"/>
                <a:gd name="T19" fmla="*/ 2147483646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6194 w 21600"/>
                <a:gd name="T31" fmla="*/ 1913 h 21600"/>
                <a:gd name="T32" fmla="*/ 15565 w 21600"/>
                <a:gd name="T33" fmla="*/ 9747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21022" y="20295"/>
                  </a:moveTo>
                  <a:lnTo>
                    <a:pt x="18828" y="18396"/>
                  </a:lnTo>
                  <a:lnTo>
                    <a:pt x="18828" y="13174"/>
                  </a:lnTo>
                  <a:lnTo>
                    <a:pt x="15478" y="13174"/>
                  </a:lnTo>
                  <a:lnTo>
                    <a:pt x="15478" y="11631"/>
                  </a:lnTo>
                  <a:lnTo>
                    <a:pt x="17326" y="11631"/>
                  </a:lnTo>
                  <a:lnTo>
                    <a:pt x="17326" y="11156"/>
                  </a:lnTo>
                  <a:lnTo>
                    <a:pt x="17326" y="0"/>
                  </a:lnTo>
                  <a:lnTo>
                    <a:pt x="10858" y="0"/>
                  </a:lnTo>
                  <a:lnTo>
                    <a:pt x="4274" y="0"/>
                  </a:lnTo>
                  <a:lnTo>
                    <a:pt x="4274" y="11037"/>
                  </a:lnTo>
                  <a:lnTo>
                    <a:pt x="4274" y="11631"/>
                  </a:lnTo>
                  <a:lnTo>
                    <a:pt x="6122" y="11631"/>
                  </a:lnTo>
                  <a:lnTo>
                    <a:pt x="6122" y="13174"/>
                  </a:lnTo>
                  <a:lnTo>
                    <a:pt x="2772" y="13174"/>
                  </a:lnTo>
                  <a:lnTo>
                    <a:pt x="2772" y="18514"/>
                  </a:lnTo>
                  <a:lnTo>
                    <a:pt x="693" y="20295"/>
                  </a:lnTo>
                  <a:lnTo>
                    <a:pt x="462" y="20413"/>
                  </a:lnTo>
                  <a:lnTo>
                    <a:pt x="231" y="20651"/>
                  </a:lnTo>
                  <a:lnTo>
                    <a:pt x="116" y="20888"/>
                  </a:lnTo>
                  <a:lnTo>
                    <a:pt x="0" y="21125"/>
                  </a:lnTo>
                  <a:lnTo>
                    <a:pt x="0" y="21244"/>
                  </a:lnTo>
                  <a:lnTo>
                    <a:pt x="116" y="21363"/>
                  </a:lnTo>
                  <a:lnTo>
                    <a:pt x="116" y="21481"/>
                  </a:lnTo>
                  <a:lnTo>
                    <a:pt x="231" y="21481"/>
                  </a:lnTo>
                  <a:lnTo>
                    <a:pt x="347" y="21600"/>
                  </a:lnTo>
                  <a:lnTo>
                    <a:pt x="578" y="21600"/>
                  </a:lnTo>
                  <a:lnTo>
                    <a:pt x="693" y="21600"/>
                  </a:lnTo>
                  <a:lnTo>
                    <a:pt x="10858" y="21600"/>
                  </a:lnTo>
                  <a:lnTo>
                    <a:pt x="20907" y="21600"/>
                  </a:lnTo>
                  <a:lnTo>
                    <a:pt x="21138" y="21600"/>
                  </a:lnTo>
                  <a:lnTo>
                    <a:pt x="21253" y="21600"/>
                  </a:lnTo>
                  <a:lnTo>
                    <a:pt x="21369" y="21481"/>
                  </a:lnTo>
                  <a:lnTo>
                    <a:pt x="21484" y="21481"/>
                  </a:lnTo>
                  <a:lnTo>
                    <a:pt x="21600" y="21363"/>
                  </a:lnTo>
                  <a:lnTo>
                    <a:pt x="21600" y="21244"/>
                  </a:lnTo>
                  <a:lnTo>
                    <a:pt x="21600" y="21125"/>
                  </a:lnTo>
                  <a:lnTo>
                    <a:pt x="21484" y="20888"/>
                  </a:lnTo>
                  <a:lnTo>
                    <a:pt x="21369" y="20651"/>
                  </a:lnTo>
                  <a:lnTo>
                    <a:pt x="21253" y="20413"/>
                  </a:lnTo>
                  <a:lnTo>
                    <a:pt x="21022" y="20295"/>
                  </a:lnTo>
                  <a:close/>
                </a:path>
                <a:path w="21600" h="21600" extrusionOk="0">
                  <a:moveTo>
                    <a:pt x="18019" y="18514"/>
                  </a:moveTo>
                  <a:lnTo>
                    <a:pt x="17326" y="17921"/>
                  </a:lnTo>
                  <a:lnTo>
                    <a:pt x="4389" y="17921"/>
                  </a:lnTo>
                  <a:lnTo>
                    <a:pt x="3696" y="18514"/>
                  </a:lnTo>
                  <a:lnTo>
                    <a:pt x="18019" y="18514"/>
                  </a:lnTo>
                  <a:close/>
                </a:path>
                <a:path w="21600" h="21600" extrusionOk="0">
                  <a:moveTo>
                    <a:pt x="19174" y="19701"/>
                  </a:moveTo>
                  <a:lnTo>
                    <a:pt x="18481" y="19108"/>
                  </a:lnTo>
                  <a:lnTo>
                    <a:pt x="3119" y="19108"/>
                  </a:lnTo>
                  <a:lnTo>
                    <a:pt x="2426" y="19701"/>
                  </a:lnTo>
                  <a:lnTo>
                    <a:pt x="19174" y="19701"/>
                  </a:lnTo>
                  <a:close/>
                </a:path>
                <a:path w="21600" h="21600" extrusionOk="0">
                  <a:moveTo>
                    <a:pt x="20560" y="20769"/>
                  </a:moveTo>
                  <a:lnTo>
                    <a:pt x="19867" y="20176"/>
                  </a:lnTo>
                  <a:lnTo>
                    <a:pt x="1848" y="20176"/>
                  </a:lnTo>
                  <a:lnTo>
                    <a:pt x="1155" y="20769"/>
                  </a:lnTo>
                  <a:lnTo>
                    <a:pt x="20560" y="20769"/>
                  </a:lnTo>
                  <a:close/>
                </a:path>
                <a:path w="21600" h="21600" extrusionOk="0">
                  <a:moveTo>
                    <a:pt x="18828" y="18396"/>
                  </a:moveTo>
                  <a:lnTo>
                    <a:pt x="17442" y="17209"/>
                  </a:lnTo>
                  <a:lnTo>
                    <a:pt x="4158" y="17209"/>
                  </a:lnTo>
                  <a:lnTo>
                    <a:pt x="2772" y="18514"/>
                  </a:lnTo>
                  <a:moveTo>
                    <a:pt x="13168" y="14123"/>
                  </a:moveTo>
                  <a:lnTo>
                    <a:pt x="13168" y="14716"/>
                  </a:lnTo>
                  <a:lnTo>
                    <a:pt x="17788" y="14716"/>
                  </a:lnTo>
                  <a:lnTo>
                    <a:pt x="17788" y="14123"/>
                  </a:lnTo>
                  <a:lnTo>
                    <a:pt x="13168" y="14123"/>
                  </a:lnTo>
                  <a:close/>
                </a:path>
                <a:path w="21600" h="21600" extrusionOk="0">
                  <a:moveTo>
                    <a:pt x="6122" y="1899"/>
                  </a:moveTo>
                  <a:lnTo>
                    <a:pt x="6122" y="9732"/>
                  </a:lnTo>
                  <a:lnTo>
                    <a:pt x="15478" y="9732"/>
                  </a:lnTo>
                  <a:lnTo>
                    <a:pt x="15478" y="1899"/>
                  </a:lnTo>
                  <a:lnTo>
                    <a:pt x="6122" y="1899"/>
                  </a:lnTo>
                  <a:moveTo>
                    <a:pt x="6122" y="11631"/>
                  </a:moveTo>
                  <a:lnTo>
                    <a:pt x="15478" y="11631"/>
                  </a:lnTo>
                  <a:lnTo>
                    <a:pt x="15478" y="13174"/>
                  </a:lnTo>
                  <a:lnTo>
                    <a:pt x="6122" y="13174"/>
                  </a:lnTo>
                  <a:lnTo>
                    <a:pt x="6122" y="11631"/>
                  </a:lnTo>
                  <a:close/>
                </a:path>
              </a:pathLst>
            </a:custGeom>
            <a:solidFill>
              <a:srgbClr val="FFFFCC"/>
            </a:solidFill>
            <a:ln w="9525">
              <a:solidFill>
                <a:srgbClr val="000000"/>
              </a:solidFill>
              <a:miter lim="800000"/>
              <a:headEnd/>
              <a:tailEnd/>
            </a:ln>
          </p:spPr>
          <p:txBody>
            <a:bodyPr/>
            <a:lstStyle/>
            <a:p>
              <a:endParaRPr lang="zh-CN" altLang="en-US"/>
            </a:p>
          </p:txBody>
        </p:sp>
        <p:grpSp>
          <p:nvGrpSpPr>
            <p:cNvPr id="71" name="Group 25">
              <a:extLst>
                <a:ext uri="{FF2B5EF4-FFF2-40B4-BE49-F238E27FC236}">
                  <a16:creationId xmlns:a16="http://schemas.microsoft.com/office/drawing/2014/main" id="{B149A953-8501-494F-99EE-1CF93B5EB21B}"/>
                </a:ext>
              </a:extLst>
            </p:cNvPr>
            <p:cNvGrpSpPr>
              <a:grpSpLocks/>
            </p:cNvGrpSpPr>
            <p:nvPr/>
          </p:nvGrpSpPr>
          <p:grpSpPr bwMode="auto">
            <a:xfrm>
              <a:off x="2128838" y="3916383"/>
              <a:ext cx="3476625" cy="160338"/>
              <a:chOff x="1341" y="2467"/>
              <a:chExt cx="2190" cy="101"/>
            </a:xfrm>
          </p:grpSpPr>
          <p:cxnSp>
            <p:nvCxnSpPr>
              <p:cNvPr id="72" name="AutoShape 26">
                <a:extLst>
                  <a:ext uri="{FF2B5EF4-FFF2-40B4-BE49-F238E27FC236}">
                    <a16:creationId xmlns:a16="http://schemas.microsoft.com/office/drawing/2014/main" id="{68FE5B73-33C2-0243-8324-FDA0577DFF82}"/>
                  </a:ext>
                </a:extLst>
              </p:cNvPr>
              <p:cNvCxnSpPr>
                <a:cxnSpLocks noChangeShapeType="1"/>
              </p:cNvCxnSpPr>
              <p:nvPr/>
            </p:nvCxnSpPr>
            <p:spPr bwMode="auto">
              <a:xfrm flipV="1">
                <a:off x="1341" y="2503"/>
                <a:ext cx="2190" cy="48"/>
              </a:xfrm>
              <a:prstGeom prst="straightConnector1">
                <a:avLst/>
              </a:prstGeom>
              <a:noFill/>
              <a:ln w="635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Line 27">
                <a:extLst>
                  <a:ext uri="{FF2B5EF4-FFF2-40B4-BE49-F238E27FC236}">
                    <a16:creationId xmlns:a16="http://schemas.microsoft.com/office/drawing/2014/main" id="{76D396FD-A521-B848-861E-BF22A9F03061}"/>
                  </a:ext>
                </a:extLst>
              </p:cNvPr>
              <p:cNvSpPr>
                <a:spLocks noChangeShapeType="1"/>
              </p:cNvSpPr>
              <p:nvPr/>
            </p:nvSpPr>
            <p:spPr bwMode="auto">
              <a:xfrm>
                <a:off x="1479" y="2467"/>
                <a:ext cx="192" cy="0"/>
              </a:xfrm>
              <a:prstGeom prst="line">
                <a:avLst/>
              </a:prstGeom>
              <a:noFill/>
              <a:ln w="635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 name="Line 28">
                <a:extLst>
                  <a:ext uri="{FF2B5EF4-FFF2-40B4-BE49-F238E27FC236}">
                    <a16:creationId xmlns:a16="http://schemas.microsoft.com/office/drawing/2014/main" id="{23C1DDFA-ED10-2C47-95E6-73B52E818F83}"/>
                  </a:ext>
                </a:extLst>
              </p:cNvPr>
              <p:cNvSpPr>
                <a:spLocks noChangeShapeType="1"/>
              </p:cNvSpPr>
              <p:nvPr/>
            </p:nvSpPr>
            <p:spPr bwMode="auto">
              <a:xfrm>
                <a:off x="1767" y="2467"/>
                <a:ext cx="192" cy="0"/>
              </a:xfrm>
              <a:prstGeom prst="line">
                <a:avLst/>
              </a:prstGeom>
              <a:noFill/>
              <a:ln w="635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 name="Line 29">
                <a:extLst>
                  <a:ext uri="{FF2B5EF4-FFF2-40B4-BE49-F238E27FC236}">
                    <a16:creationId xmlns:a16="http://schemas.microsoft.com/office/drawing/2014/main" id="{C916E441-8EEA-6349-8A65-525FECFEFEF9}"/>
                  </a:ext>
                </a:extLst>
              </p:cNvPr>
              <p:cNvSpPr>
                <a:spLocks noChangeShapeType="1"/>
              </p:cNvSpPr>
              <p:nvPr/>
            </p:nvSpPr>
            <p:spPr bwMode="auto">
              <a:xfrm>
                <a:off x="2055" y="2467"/>
                <a:ext cx="192" cy="0"/>
              </a:xfrm>
              <a:prstGeom prst="line">
                <a:avLst/>
              </a:prstGeom>
              <a:noFill/>
              <a:ln w="635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 name="Line 30">
                <a:extLst>
                  <a:ext uri="{FF2B5EF4-FFF2-40B4-BE49-F238E27FC236}">
                    <a16:creationId xmlns:a16="http://schemas.microsoft.com/office/drawing/2014/main" id="{25642E55-BA36-924D-8B66-61A7F2C0E4C9}"/>
                  </a:ext>
                </a:extLst>
              </p:cNvPr>
              <p:cNvSpPr>
                <a:spLocks noChangeShapeType="1"/>
              </p:cNvSpPr>
              <p:nvPr/>
            </p:nvSpPr>
            <p:spPr bwMode="auto">
              <a:xfrm>
                <a:off x="2343" y="2467"/>
                <a:ext cx="192" cy="0"/>
              </a:xfrm>
              <a:prstGeom prst="line">
                <a:avLst/>
              </a:prstGeom>
              <a:noFill/>
              <a:ln w="635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 name="Line 31">
                <a:extLst>
                  <a:ext uri="{FF2B5EF4-FFF2-40B4-BE49-F238E27FC236}">
                    <a16:creationId xmlns:a16="http://schemas.microsoft.com/office/drawing/2014/main" id="{B50527C0-EB29-B645-B4BA-044BAFB7BA26}"/>
                  </a:ext>
                </a:extLst>
              </p:cNvPr>
              <p:cNvSpPr>
                <a:spLocks noChangeShapeType="1"/>
              </p:cNvSpPr>
              <p:nvPr/>
            </p:nvSpPr>
            <p:spPr bwMode="auto">
              <a:xfrm>
                <a:off x="2631" y="2467"/>
                <a:ext cx="192" cy="0"/>
              </a:xfrm>
              <a:prstGeom prst="line">
                <a:avLst/>
              </a:prstGeom>
              <a:noFill/>
              <a:ln w="635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 name="Line 32">
                <a:extLst>
                  <a:ext uri="{FF2B5EF4-FFF2-40B4-BE49-F238E27FC236}">
                    <a16:creationId xmlns:a16="http://schemas.microsoft.com/office/drawing/2014/main" id="{2A181B3F-1958-5946-87F3-58198486A5A2}"/>
                  </a:ext>
                </a:extLst>
              </p:cNvPr>
              <p:cNvSpPr>
                <a:spLocks noChangeShapeType="1"/>
              </p:cNvSpPr>
              <p:nvPr/>
            </p:nvSpPr>
            <p:spPr bwMode="auto">
              <a:xfrm>
                <a:off x="2967" y="2467"/>
                <a:ext cx="192" cy="0"/>
              </a:xfrm>
              <a:prstGeom prst="line">
                <a:avLst/>
              </a:prstGeom>
              <a:noFill/>
              <a:ln w="635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 name="Line 33">
                <a:extLst>
                  <a:ext uri="{FF2B5EF4-FFF2-40B4-BE49-F238E27FC236}">
                    <a16:creationId xmlns:a16="http://schemas.microsoft.com/office/drawing/2014/main" id="{3D2C4F9A-333A-F64B-B02C-223104DB3822}"/>
                  </a:ext>
                </a:extLst>
              </p:cNvPr>
              <p:cNvSpPr>
                <a:spLocks noChangeShapeType="1"/>
              </p:cNvSpPr>
              <p:nvPr/>
            </p:nvSpPr>
            <p:spPr bwMode="auto">
              <a:xfrm>
                <a:off x="3303" y="2467"/>
                <a:ext cx="192" cy="0"/>
              </a:xfrm>
              <a:prstGeom prst="line">
                <a:avLst/>
              </a:prstGeom>
              <a:noFill/>
              <a:ln w="635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 name="Line 34">
                <a:extLst>
                  <a:ext uri="{FF2B5EF4-FFF2-40B4-BE49-F238E27FC236}">
                    <a16:creationId xmlns:a16="http://schemas.microsoft.com/office/drawing/2014/main" id="{4DEFF0C1-ECDA-F343-8968-8B0335D96E74}"/>
                  </a:ext>
                </a:extLst>
              </p:cNvPr>
              <p:cNvSpPr>
                <a:spLocks noChangeShapeType="1"/>
              </p:cNvSpPr>
              <p:nvPr/>
            </p:nvSpPr>
            <p:spPr bwMode="auto">
              <a:xfrm>
                <a:off x="3303" y="2568"/>
                <a:ext cx="192" cy="0"/>
              </a:xfrm>
              <a:prstGeom prst="line">
                <a:avLst/>
              </a:prstGeom>
              <a:noFill/>
              <a:ln w="635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 name="Line 35">
                <a:extLst>
                  <a:ext uri="{FF2B5EF4-FFF2-40B4-BE49-F238E27FC236}">
                    <a16:creationId xmlns:a16="http://schemas.microsoft.com/office/drawing/2014/main" id="{29A446DE-68EC-2F4C-B5C8-218C5C5BB8FD}"/>
                  </a:ext>
                </a:extLst>
              </p:cNvPr>
              <p:cNvSpPr>
                <a:spLocks noChangeShapeType="1"/>
              </p:cNvSpPr>
              <p:nvPr/>
            </p:nvSpPr>
            <p:spPr bwMode="auto">
              <a:xfrm>
                <a:off x="3015" y="2563"/>
                <a:ext cx="192" cy="0"/>
              </a:xfrm>
              <a:prstGeom prst="line">
                <a:avLst/>
              </a:prstGeom>
              <a:noFill/>
              <a:ln w="635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 name="Line 36">
                <a:extLst>
                  <a:ext uri="{FF2B5EF4-FFF2-40B4-BE49-F238E27FC236}">
                    <a16:creationId xmlns:a16="http://schemas.microsoft.com/office/drawing/2014/main" id="{DA014638-D3B8-CF42-A925-4AB37ADFC4D5}"/>
                  </a:ext>
                </a:extLst>
              </p:cNvPr>
              <p:cNvSpPr>
                <a:spLocks noChangeShapeType="1"/>
              </p:cNvSpPr>
              <p:nvPr/>
            </p:nvSpPr>
            <p:spPr bwMode="auto">
              <a:xfrm>
                <a:off x="1479" y="2568"/>
                <a:ext cx="192" cy="0"/>
              </a:xfrm>
              <a:prstGeom prst="line">
                <a:avLst/>
              </a:prstGeom>
              <a:noFill/>
              <a:ln w="635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 name="Line 37">
                <a:extLst>
                  <a:ext uri="{FF2B5EF4-FFF2-40B4-BE49-F238E27FC236}">
                    <a16:creationId xmlns:a16="http://schemas.microsoft.com/office/drawing/2014/main" id="{E441A1F4-F5F8-0F4B-9410-C6421CD9AF73}"/>
                  </a:ext>
                </a:extLst>
              </p:cNvPr>
              <p:cNvSpPr>
                <a:spLocks noChangeShapeType="1"/>
              </p:cNvSpPr>
              <p:nvPr/>
            </p:nvSpPr>
            <p:spPr bwMode="auto">
              <a:xfrm>
                <a:off x="1767" y="2568"/>
                <a:ext cx="192" cy="0"/>
              </a:xfrm>
              <a:prstGeom prst="line">
                <a:avLst/>
              </a:prstGeom>
              <a:noFill/>
              <a:ln w="635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4" name="Line 38">
                <a:extLst>
                  <a:ext uri="{FF2B5EF4-FFF2-40B4-BE49-F238E27FC236}">
                    <a16:creationId xmlns:a16="http://schemas.microsoft.com/office/drawing/2014/main" id="{6C75C918-B2F5-4E48-8A5A-D2E15E807B1F}"/>
                  </a:ext>
                </a:extLst>
              </p:cNvPr>
              <p:cNvSpPr>
                <a:spLocks noChangeShapeType="1"/>
              </p:cNvSpPr>
              <p:nvPr/>
            </p:nvSpPr>
            <p:spPr bwMode="auto">
              <a:xfrm>
                <a:off x="2055" y="2568"/>
                <a:ext cx="192" cy="0"/>
              </a:xfrm>
              <a:prstGeom prst="line">
                <a:avLst/>
              </a:prstGeom>
              <a:noFill/>
              <a:ln w="635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 name="Line 39">
                <a:extLst>
                  <a:ext uri="{FF2B5EF4-FFF2-40B4-BE49-F238E27FC236}">
                    <a16:creationId xmlns:a16="http://schemas.microsoft.com/office/drawing/2014/main" id="{DC82D1B1-2F54-204C-A776-CDBC45F34ACF}"/>
                  </a:ext>
                </a:extLst>
              </p:cNvPr>
              <p:cNvSpPr>
                <a:spLocks noChangeShapeType="1"/>
              </p:cNvSpPr>
              <p:nvPr/>
            </p:nvSpPr>
            <p:spPr bwMode="auto">
              <a:xfrm>
                <a:off x="2295" y="2568"/>
                <a:ext cx="192" cy="0"/>
              </a:xfrm>
              <a:prstGeom prst="line">
                <a:avLst/>
              </a:prstGeom>
              <a:noFill/>
              <a:ln w="635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6" name="Line 40">
                <a:extLst>
                  <a:ext uri="{FF2B5EF4-FFF2-40B4-BE49-F238E27FC236}">
                    <a16:creationId xmlns:a16="http://schemas.microsoft.com/office/drawing/2014/main" id="{19402625-B9AA-F44D-B1D4-EF8980E90221}"/>
                  </a:ext>
                </a:extLst>
              </p:cNvPr>
              <p:cNvSpPr>
                <a:spLocks noChangeShapeType="1"/>
              </p:cNvSpPr>
              <p:nvPr/>
            </p:nvSpPr>
            <p:spPr bwMode="auto">
              <a:xfrm>
                <a:off x="2535" y="2568"/>
                <a:ext cx="192" cy="0"/>
              </a:xfrm>
              <a:prstGeom prst="line">
                <a:avLst/>
              </a:prstGeom>
              <a:noFill/>
              <a:ln w="635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 name="Line 41">
                <a:extLst>
                  <a:ext uri="{FF2B5EF4-FFF2-40B4-BE49-F238E27FC236}">
                    <a16:creationId xmlns:a16="http://schemas.microsoft.com/office/drawing/2014/main" id="{CEC1EE58-C5D3-AE4A-BD31-6F32D6ABC315}"/>
                  </a:ext>
                </a:extLst>
              </p:cNvPr>
              <p:cNvSpPr>
                <a:spLocks noChangeShapeType="1"/>
              </p:cNvSpPr>
              <p:nvPr/>
            </p:nvSpPr>
            <p:spPr bwMode="auto">
              <a:xfrm>
                <a:off x="2775" y="2563"/>
                <a:ext cx="192" cy="0"/>
              </a:xfrm>
              <a:prstGeom prst="line">
                <a:avLst/>
              </a:prstGeom>
              <a:noFill/>
              <a:ln w="635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88" name="Group 42">
              <a:extLst>
                <a:ext uri="{FF2B5EF4-FFF2-40B4-BE49-F238E27FC236}">
                  <a16:creationId xmlns:a16="http://schemas.microsoft.com/office/drawing/2014/main" id="{D87F7BB5-85C6-4140-BDEE-84449420E380}"/>
                </a:ext>
              </a:extLst>
            </p:cNvPr>
            <p:cNvGrpSpPr>
              <a:grpSpLocks/>
            </p:cNvGrpSpPr>
            <p:nvPr/>
          </p:nvGrpSpPr>
          <p:grpSpPr bwMode="auto">
            <a:xfrm>
              <a:off x="804863" y="4957763"/>
              <a:ext cx="6492875" cy="536575"/>
              <a:chOff x="507" y="3123"/>
              <a:chExt cx="4090" cy="338"/>
            </a:xfrm>
          </p:grpSpPr>
          <p:sp>
            <p:nvSpPr>
              <p:cNvPr id="89" name="Rectangle 43">
                <a:extLst>
                  <a:ext uri="{FF2B5EF4-FFF2-40B4-BE49-F238E27FC236}">
                    <a16:creationId xmlns:a16="http://schemas.microsoft.com/office/drawing/2014/main" id="{43C9D785-6006-F743-BF0A-1CCB2AB56BC6}"/>
                  </a:ext>
                </a:extLst>
              </p:cNvPr>
              <p:cNvSpPr>
                <a:spLocks noChangeArrowheads="1"/>
              </p:cNvSpPr>
              <p:nvPr/>
            </p:nvSpPr>
            <p:spPr bwMode="auto">
              <a:xfrm>
                <a:off x="507" y="3203"/>
                <a:ext cx="640" cy="258"/>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r>
                  <a:rPr kumimoji="1" lang="en-US" altLang="zh-CN" sz="2000" b="1" dirty="0">
                    <a:solidFill>
                      <a:schemeClr val="bg2"/>
                    </a:solidFill>
                    <a:latin typeface="Helvetica" panose="020B0604020202020204" pitchFamily="34" charset="0"/>
                  </a:rPr>
                  <a:t>Prober</a:t>
                </a:r>
              </a:p>
            </p:txBody>
          </p:sp>
          <p:sp>
            <p:nvSpPr>
              <p:cNvPr id="90" name="Rectangle 44">
                <a:extLst>
                  <a:ext uri="{FF2B5EF4-FFF2-40B4-BE49-F238E27FC236}">
                    <a16:creationId xmlns:a16="http://schemas.microsoft.com/office/drawing/2014/main" id="{80568BF2-4E11-3447-BAA6-F6A517A7279E}"/>
                  </a:ext>
                </a:extLst>
              </p:cNvPr>
              <p:cNvSpPr>
                <a:spLocks noChangeArrowheads="1"/>
              </p:cNvSpPr>
              <p:nvPr/>
            </p:nvSpPr>
            <p:spPr bwMode="auto">
              <a:xfrm>
                <a:off x="3957" y="3123"/>
                <a:ext cx="640" cy="258"/>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r>
                  <a:rPr kumimoji="1" lang="en-US" altLang="zh-CN" sz="2000" b="1" dirty="0">
                    <a:solidFill>
                      <a:schemeClr val="bg2"/>
                    </a:solidFill>
                    <a:latin typeface="Helvetica" panose="020B0604020202020204" pitchFamily="34" charset="0"/>
                  </a:rPr>
                  <a:t>Prober</a:t>
                </a:r>
              </a:p>
            </p:txBody>
          </p:sp>
        </p:grpSp>
        <p:grpSp>
          <p:nvGrpSpPr>
            <p:cNvPr id="91" name="Group 45">
              <a:extLst>
                <a:ext uri="{FF2B5EF4-FFF2-40B4-BE49-F238E27FC236}">
                  <a16:creationId xmlns:a16="http://schemas.microsoft.com/office/drawing/2014/main" id="{23BF0054-001A-EA41-9FCB-39D0E93C087F}"/>
                </a:ext>
              </a:extLst>
            </p:cNvPr>
            <p:cNvGrpSpPr>
              <a:grpSpLocks/>
            </p:cNvGrpSpPr>
            <p:nvPr/>
          </p:nvGrpSpPr>
          <p:grpSpPr bwMode="auto">
            <a:xfrm>
              <a:off x="1811338" y="4954588"/>
              <a:ext cx="6508750" cy="538162"/>
              <a:chOff x="1141" y="3121"/>
              <a:chExt cx="4100" cy="339"/>
            </a:xfrm>
          </p:grpSpPr>
          <p:sp>
            <p:nvSpPr>
              <p:cNvPr id="92" name="Rectangle 46">
                <a:extLst>
                  <a:ext uri="{FF2B5EF4-FFF2-40B4-BE49-F238E27FC236}">
                    <a16:creationId xmlns:a16="http://schemas.microsoft.com/office/drawing/2014/main" id="{ED08A718-C28B-EC40-9A54-98F994B8AD8F}"/>
                  </a:ext>
                </a:extLst>
              </p:cNvPr>
              <p:cNvSpPr>
                <a:spLocks noChangeArrowheads="1"/>
              </p:cNvSpPr>
              <p:nvPr/>
            </p:nvSpPr>
            <p:spPr bwMode="auto">
              <a:xfrm>
                <a:off x="1141" y="3202"/>
                <a:ext cx="640" cy="258"/>
              </a:xfrm>
              <a:prstGeom prst="rect">
                <a:avLst/>
              </a:prstGeom>
              <a:solidFill>
                <a:srgbClr val="99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r>
                  <a:rPr kumimoji="1" lang="en-US" altLang="zh-CN" sz="2000" b="1" dirty="0">
                    <a:solidFill>
                      <a:schemeClr val="bg1"/>
                    </a:solidFill>
                    <a:latin typeface="Helvetica" panose="020B0604020202020204" pitchFamily="34" charset="0"/>
                  </a:rPr>
                  <a:t>Router</a:t>
                </a:r>
              </a:p>
            </p:txBody>
          </p:sp>
          <p:sp>
            <p:nvSpPr>
              <p:cNvPr id="93" name="Rectangle 47">
                <a:extLst>
                  <a:ext uri="{FF2B5EF4-FFF2-40B4-BE49-F238E27FC236}">
                    <a16:creationId xmlns:a16="http://schemas.microsoft.com/office/drawing/2014/main" id="{1F3DEE0B-9127-9D46-809C-81584B7F3488}"/>
                  </a:ext>
                </a:extLst>
              </p:cNvPr>
              <p:cNvSpPr>
                <a:spLocks noChangeArrowheads="1"/>
              </p:cNvSpPr>
              <p:nvPr/>
            </p:nvSpPr>
            <p:spPr bwMode="auto">
              <a:xfrm>
                <a:off x="4601" y="3121"/>
                <a:ext cx="640" cy="258"/>
              </a:xfrm>
              <a:prstGeom prst="rect">
                <a:avLst/>
              </a:prstGeom>
              <a:solidFill>
                <a:srgbClr val="99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r>
                  <a:rPr kumimoji="1" lang="en-US" altLang="zh-CN" sz="2000" b="1" dirty="0">
                    <a:solidFill>
                      <a:schemeClr val="bg1"/>
                    </a:solidFill>
                    <a:latin typeface="Helvetica" panose="020B0604020202020204" pitchFamily="34" charset="0"/>
                  </a:rPr>
                  <a:t>Router</a:t>
                </a:r>
              </a:p>
            </p:txBody>
          </p:sp>
        </p:grpSp>
        <p:grpSp>
          <p:nvGrpSpPr>
            <p:cNvPr id="94" name="Group 48">
              <a:extLst>
                <a:ext uri="{FF2B5EF4-FFF2-40B4-BE49-F238E27FC236}">
                  <a16:creationId xmlns:a16="http://schemas.microsoft.com/office/drawing/2014/main" id="{941F0CC9-6787-6641-87BF-B8BD2A64D55F}"/>
                </a:ext>
              </a:extLst>
            </p:cNvPr>
            <p:cNvGrpSpPr>
              <a:grpSpLocks/>
            </p:cNvGrpSpPr>
            <p:nvPr/>
          </p:nvGrpSpPr>
          <p:grpSpPr bwMode="auto">
            <a:xfrm>
              <a:off x="796925" y="4152900"/>
              <a:ext cx="7519988" cy="935038"/>
              <a:chOff x="505" y="2616"/>
              <a:chExt cx="4737" cy="589"/>
            </a:xfrm>
          </p:grpSpPr>
          <p:sp>
            <p:nvSpPr>
              <p:cNvPr id="95" name="Rectangle 49">
                <a:extLst>
                  <a:ext uri="{FF2B5EF4-FFF2-40B4-BE49-F238E27FC236}">
                    <a16:creationId xmlns:a16="http://schemas.microsoft.com/office/drawing/2014/main" id="{FD5DA8EE-FAB5-E740-8F38-3369F20128D3}"/>
                  </a:ext>
                </a:extLst>
              </p:cNvPr>
              <p:cNvSpPr>
                <a:spLocks noChangeArrowheads="1"/>
              </p:cNvSpPr>
              <p:nvPr/>
            </p:nvSpPr>
            <p:spPr bwMode="auto">
              <a:xfrm>
                <a:off x="508" y="2947"/>
                <a:ext cx="1282" cy="258"/>
              </a:xfrm>
              <a:prstGeom prst="rect">
                <a:avLst/>
              </a:prstGeom>
              <a:solidFill>
                <a:schemeClr val="tx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r>
                  <a:rPr kumimoji="1" lang="en-US" altLang="zh-CN" sz="2000" b="1" dirty="0">
                    <a:solidFill>
                      <a:schemeClr val="bg2"/>
                    </a:solidFill>
                    <a:latin typeface="Helvetica" panose="020B0604020202020204" pitchFamily="34" charset="0"/>
                  </a:rPr>
                  <a:t>Forwarder</a:t>
                </a:r>
              </a:p>
            </p:txBody>
          </p:sp>
          <p:sp>
            <p:nvSpPr>
              <p:cNvPr id="96" name="Rectangle 50">
                <a:extLst>
                  <a:ext uri="{FF2B5EF4-FFF2-40B4-BE49-F238E27FC236}">
                    <a16:creationId xmlns:a16="http://schemas.microsoft.com/office/drawing/2014/main" id="{36CF75F6-F18B-7A40-B7EB-07988FBFD657}"/>
                  </a:ext>
                </a:extLst>
              </p:cNvPr>
              <p:cNvSpPr>
                <a:spLocks noChangeArrowheads="1"/>
              </p:cNvSpPr>
              <p:nvPr/>
            </p:nvSpPr>
            <p:spPr bwMode="auto">
              <a:xfrm>
                <a:off x="3960" y="2866"/>
                <a:ext cx="1282" cy="258"/>
              </a:xfrm>
              <a:prstGeom prst="rect">
                <a:avLst/>
              </a:prstGeom>
              <a:solidFill>
                <a:schemeClr val="tx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r>
                  <a:rPr kumimoji="1" lang="en-US" altLang="zh-CN" sz="2000" b="1" dirty="0">
                    <a:solidFill>
                      <a:schemeClr val="bg2"/>
                    </a:solidFill>
                    <a:latin typeface="Helvetica" panose="020B0604020202020204" pitchFamily="34" charset="0"/>
                  </a:rPr>
                  <a:t>Forwarder</a:t>
                </a:r>
              </a:p>
            </p:txBody>
          </p:sp>
          <p:sp>
            <p:nvSpPr>
              <p:cNvPr id="97" name="Rectangle 51">
                <a:extLst>
                  <a:ext uri="{FF2B5EF4-FFF2-40B4-BE49-F238E27FC236}">
                    <a16:creationId xmlns:a16="http://schemas.microsoft.com/office/drawing/2014/main" id="{6EBC9EBA-CF24-1542-A525-7AB6667A8D38}"/>
                  </a:ext>
                </a:extLst>
              </p:cNvPr>
              <p:cNvSpPr>
                <a:spLocks noChangeArrowheads="1"/>
              </p:cNvSpPr>
              <p:nvPr/>
            </p:nvSpPr>
            <p:spPr bwMode="auto">
              <a:xfrm>
                <a:off x="505" y="2689"/>
                <a:ext cx="1282" cy="258"/>
              </a:xfrm>
              <a:prstGeom prst="rect">
                <a:avLst/>
              </a:prstGeom>
              <a:solidFill>
                <a:srgbClr val="66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r>
                  <a:rPr kumimoji="1" lang="en-US" altLang="zh-CN" sz="2000" b="1" dirty="0">
                    <a:latin typeface="Helvetica" panose="020B0604020202020204" pitchFamily="34" charset="0"/>
                  </a:rPr>
                  <a:t>Conduit</a:t>
                </a:r>
              </a:p>
            </p:txBody>
          </p:sp>
          <p:sp>
            <p:nvSpPr>
              <p:cNvPr id="98" name="Rectangle 52">
                <a:extLst>
                  <a:ext uri="{FF2B5EF4-FFF2-40B4-BE49-F238E27FC236}">
                    <a16:creationId xmlns:a16="http://schemas.microsoft.com/office/drawing/2014/main" id="{F3B80A26-84A8-5D4C-9615-0644ADA864B8}"/>
                  </a:ext>
                </a:extLst>
              </p:cNvPr>
              <p:cNvSpPr>
                <a:spLocks noChangeArrowheads="1"/>
              </p:cNvSpPr>
              <p:nvPr/>
            </p:nvSpPr>
            <p:spPr bwMode="auto">
              <a:xfrm>
                <a:off x="3957" y="2616"/>
                <a:ext cx="1282" cy="258"/>
              </a:xfrm>
              <a:prstGeom prst="rect">
                <a:avLst/>
              </a:prstGeom>
              <a:solidFill>
                <a:srgbClr val="66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r>
                  <a:rPr kumimoji="1" lang="en-US" altLang="zh-CN" sz="2000" b="1" dirty="0">
                    <a:latin typeface="Helvetica" panose="020B0604020202020204" pitchFamily="34" charset="0"/>
                  </a:rPr>
                  <a:t>Conduit</a:t>
                </a:r>
              </a:p>
            </p:txBody>
          </p:sp>
        </p:grpSp>
        <p:grpSp>
          <p:nvGrpSpPr>
            <p:cNvPr id="99" name="Group 53">
              <a:extLst>
                <a:ext uri="{FF2B5EF4-FFF2-40B4-BE49-F238E27FC236}">
                  <a16:creationId xmlns:a16="http://schemas.microsoft.com/office/drawing/2014/main" id="{C0683478-6493-594C-BD7E-AD8E390D875E}"/>
                </a:ext>
              </a:extLst>
            </p:cNvPr>
            <p:cNvGrpSpPr>
              <a:grpSpLocks/>
            </p:cNvGrpSpPr>
            <p:nvPr/>
          </p:nvGrpSpPr>
          <p:grpSpPr bwMode="auto">
            <a:xfrm>
              <a:off x="2693988" y="5347419"/>
              <a:ext cx="5230812" cy="1244600"/>
              <a:chOff x="1697" y="3302"/>
              <a:chExt cx="3295" cy="784"/>
            </a:xfrm>
          </p:grpSpPr>
          <p:sp>
            <p:nvSpPr>
              <p:cNvPr id="100" name="Line 54">
                <a:extLst>
                  <a:ext uri="{FF2B5EF4-FFF2-40B4-BE49-F238E27FC236}">
                    <a16:creationId xmlns:a16="http://schemas.microsoft.com/office/drawing/2014/main" id="{7D2125A6-72C9-B148-BDD1-373D653E3ABB}"/>
                  </a:ext>
                </a:extLst>
              </p:cNvPr>
              <p:cNvSpPr>
                <a:spLocks noChangeShapeType="1"/>
              </p:cNvSpPr>
              <p:nvPr/>
            </p:nvSpPr>
            <p:spPr bwMode="auto">
              <a:xfrm>
                <a:off x="1698" y="3425"/>
                <a:ext cx="0" cy="407"/>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01" name="Line 55">
                <a:extLst>
                  <a:ext uri="{FF2B5EF4-FFF2-40B4-BE49-F238E27FC236}">
                    <a16:creationId xmlns:a16="http://schemas.microsoft.com/office/drawing/2014/main" id="{BD8F5332-8177-D441-BEA4-C0F20DE90C7F}"/>
                  </a:ext>
                </a:extLst>
              </p:cNvPr>
              <p:cNvSpPr>
                <a:spLocks noChangeShapeType="1"/>
              </p:cNvSpPr>
              <p:nvPr/>
            </p:nvSpPr>
            <p:spPr bwMode="auto">
              <a:xfrm>
                <a:off x="1697" y="3832"/>
                <a:ext cx="3288" cy="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02" name="Line 56">
                <a:extLst>
                  <a:ext uri="{FF2B5EF4-FFF2-40B4-BE49-F238E27FC236}">
                    <a16:creationId xmlns:a16="http://schemas.microsoft.com/office/drawing/2014/main" id="{6B6C46DD-D328-1442-BEEE-81221C8F5E8C}"/>
                  </a:ext>
                </a:extLst>
              </p:cNvPr>
              <p:cNvSpPr>
                <a:spLocks noChangeShapeType="1"/>
              </p:cNvSpPr>
              <p:nvPr/>
            </p:nvSpPr>
            <p:spPr bwMode="auto">
              <a:xfrm flipV="1">
                <a:off x="4992" y="3302"/>
                <a:ext cx="0" cy="53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03" name="Text Box 57">
                <a:extLst>
                  <a:ext uri="{FF2B5EF4-FFF2-40B4-BE49-F238E27FC236}">
                    <a16:creationId xmlns:a16="http://schemas.microsoft.com/office/drawing/2014/main" id="{2E834AB5-AFC5-D742-BB59-8CA6E5127BAC}"/>
                  </a:ext>
                </a:extLst>
              </p:cNvPr>
              <p:cNvSpPr txBox="1">
                <a:spLocks noChangeArrowheads="1"/>
              </p:cNvSpPr>
              <p:nvPr/>
            </p:nvSpPr>
            <p:spPr bwMode="auto">
              <a:xfrm>
                <a:off x="1857" y="3582"/>
                <a:ext cx="2366" cy="504"/>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nSpc>
                    <a:spcPct val="120000"/>
                  </a:lnSpc>
                </a:pPr>
                <a:r>
                  <a:rPr kumimoji="1" lang="en-US" altLang="zh-CN" sz="2000" b="1" dirty="0">
                    <a:latin typeface="Microsoft YaHei" panose="020B0503020204020204" pitchFamily="34" charset="-122"/>
                    <a:ea typeface="Microsoft YaHei" panose="020B0503020204020204" pitchFamily="34" charset="-122"/>
                  </a:rPr>
                  <a:t>           </a:t>
                </a:r>
                <a:r>
                  <a:rPr kumimoji="1" lang="zh-CN" altLang="en-US" sz="2000" b="1" dirty="0">
                    <a:latin typeface="Microsoft YaHei" panose="020B0503020204020204" pitchFamily="34" charset="-122"/>
                    <a:ea typeface="Microsoft YaHei" panose="020B0503020204020204" pitchFamily="34" charset="-122"/>
                  </a:rPr>
                  <a:t>在應用層實現鏈路狀態路由協議</a:t>
                </a:r>
                <a:r>
                  <a:rPr kumimoji="1" lang="en-US" altLang="zh-CN" sz="2000" b="1" dirty="0">
                    <a:latin typeface="Microsoft YaHei" panose="020B0503020204020204" pitchFamily="34" charset="-122"/>
                    <a:ea typeface="Microsoft YaHei" panose="020B0503020204020204" pitchFamily="34" charset="-122"/>
                  </a:rPr>
                  <a:t>, </a:t>
                </a:r>
              </a:p>
              <a:p>
                <a:pPr>
                  <a:lnSpc>
                    <a:spcPct val="120000"/>
                  </a:lnSpc>
                </a:pPr>
                <a:r>
                  <a:rPr kumimoji="1" lang="en-US" altLang="zh-CN" sz="2000" b="1" dirty="0">
                    <a:latin typeface="Microsoft YaHei" panose="020B0503020204020204" pitchFamily="34" charset="-122"/>
                    <a:ea typeface="Microsoft YaHei" panose="020B0503020204020204" pitchFamily="34" charset="-122"/>
                  </a:rPr>
                  <a:t>          </a:t>
                </a:r>
                <a:r>
                  <a:rPr kumimoji="1" lang="zh-CN" altLang="en-US" sz="2000" b="1" dirty="0">
                    <a:latin typeface="Microsoft YaHei" panose="020B0503020204020204" pitchFamily="34" charset="-122"/>
                    <a:ea typeface="Microsoft YaHei" panose="020B0503020204020204" pitchFamily="34" charset="-122"/>
                  </a:rPr>
                  <a:t> 通過</a:t>
                </a:r>
                <a:r>
                  <a:rPr kumimoji="1" lang="en-US" altLang="zh-CN" sz="2000" b="1" dirty="0">
                    <a:latin typeface="Microsoft YaHei" panose="020B0503020204020204" pitchFamily="34" charset="-122"/>
                    <a:ea typeface="Microsoft YaHei" panose="020B0503020204020204" pitchFamily="34" charset="-122"/>
                  </a:rPr>
                  <a:t>RON</a:t>
                </a:r>
                <a:r>
                  <a:rPr kumimoji="1" lang="zh-CN" altLang="en-US" sz="2000" b="1" dirty="0">
                    <a:latin typeface="Microsoft YaHei" panose="020B0503020204020204" pitchFamily="34" charset="-122"/>
                    <a:ea typeface="Microsoft YaHei" panose="020B0503020204020204" pitchFamily="34" charset="-122"/>
                  </a:rPr>
                  <a:t>傳播應用層的路由信息</a:t>
                </a:r>
                <a:endParaRPr kumimoji="1" lang="en-US" altLang="zh-CN" sz="2000" b="1" dirty="0">
                  <a:latin typeface="Microsoft YaHei" panose="020B0503020204020204" pitchFamily="34" charset="-122"/>
                  <a:ea typeface="Microsoft YaHei" panose="020B0503020204020204" pitchFamily="34" charset="-122"/>
                </a:endParaRPr>
              </a:p>
            </p:txBody>
          </p:sp>
        </p:grpSp>
        <p:sp>
          <p:nvSpPr>
            <p:cNvPr id="104" name="Oval 58">
              <a:extLst>
                <a:ext uri="{FF2B5EF4-FFF2-40B4-BE49-F238E27FC236}">
                  <a16:creationId xmlns:a16="http://schemas.microsoft.com/office/drawing/2014/main" id="{EE1D0F06-B61C-7C4E-A726-115EAD494EB2}"/>
                </a:ext>
              </a:extLst>
            </p:cNvPr>
            <p:cNvSpPr>
              <a:spLocks noChangeArrowheads="1"/>
            </p:cNvSpPr>
            <p:nvPr/>
          </p:nvSpPr>
          <p:spPr bwMode="auto">
            <a:xfrm>
              <a:off x="3427413" y="4397375"/>
              <a:ext cx="2393950" cy="968375"/>
            </a:xfrm>
            <a:prstGeom prst="ellipse">
              <a:avLst/>
            </a:prstGeom>
            <a:solidFill>
              <a:schemeClr val="fo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r>
                <a:rPr kumimoji="1" lang="en-US" altLang="zh-CN" sz="2000" b="1" dirty="0">
                  <a:solidFill>
                    <a:schemeClr val="bg2"/>
                  </a:solidFill>
                  <a:latin typeface="Helvetica" panose="020B0604020202020204" pitchFamily="34" charset="0"/>
                </a:rPr>
                <a:t>Performance</a:t>
              </a:r>
            </a:p>
            <a:p>
              <a:pPr algn="ctr"/>
              <a:r>
                <a:rPr kumimoji="1" lang="en-US" altLang="zh-CN" sz="2000" b="1" dirty="0">
                  <a:solidFill>
                    <a:schemeClr val="bg2"/>
                  </a:solidFill>
                  <a:latin typeface="Helvetica" panose="020B0604020202020204" pitchFamily="34" charset="0"/>
                </a:rPr>
                <a:t>Database</a:t>
              </a:r>
            </a:p>
          </p:txBody>
        </p:sp>
        <p:grpSp>
          <p:nvGrpSpPr>
            <p:cNvPr id="105" name="Group 59">
              <a:extLst>
                <a:ext uri="{FF2B5EF4-FFF2-40B4-BE49-F238E27FC236}">
                  <a16:creationId xmlns:a16="http://schemas.microsoft.com/office/drawing/2014/main" id="{D3BD70F8-F96C-8946-ABAD-7136EC02FEA6}"/>
                </a:ext>
              </a:extLst>
            </p:cNvPr>
            <p:cNvGrpSpPr>
              <a:grpSpLocks/>
            </p:cNvGrpSpPr>
            <p:nvPr/>
          </p:nvGrpSpPr>
          <p:grpSpPr bwMode="auto">
            <a:xfrm>
              <a:off x="1536700" y="4900613"/>
              <a:ext cx="4803775" cy="292100"/>
              <a:chOff x="968" y="3087"/>
              <a:chExt cx="3026" cy="184"/>
            </a:xfrm>
          </p:grpSpPr>
          <p:sp>
            <p:nvSpPr>
              <p:cNvPr id="106" name="Line 60">
                <a:extLst>
                  <a:ext uri="{FF2B5EF4-FFF2-40B4-BE49-F238E27FC236}">
                    <a16:creationId xmlns:a16="http://schemas.microsoft.com/office/drawing/2014/main" id="{80026C6D-31F4-E443-A29A-6A373EB3C7F2}"/>
                  </a:ext>
                </a:extLst>
              </p:cNvPr>
              <p:cNvSpPr>
                <a:spLocks noChangeShapeType="1"/>
              </p:cNvSpPr>
              <p:nvPr/>
            </p:nvSpPr>
            <p:spPr bwMode="auto">
              <a:xfrm flipH="1" flipV="1">
                <a:off x="3649" y="3125"/>
                <a:ext cx="345" cy="10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07" name="Line 61">
                <a:extLst>
                  <a:ext uri="{FF2B5EF4-FFF2-40B4-BE49-F238E27FC236}">
                    <a16:creationId xmlns:a16="http://schemas.microsoft.com/office/drawing/2014/main" id="{20C46B0B-0FB2-1747-934E-C598F506840F}"/>
                  </a:ext>
                </a:extLst>
              </p:cNvPr>
              <p:cNvSpPr>
                <a:spLocks noChangeShapeType="1"/>
              </p:cNvSpPr>
              <p:nvPr/>
            </p:nvSpPr>
            <p:spPr bwMode="auto">
              <a:xfrm flipV="1">
                <a:off x="968" y="3087"/>
                <a:ext cx="1137" cy="18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108" name="Text Box 62">
              <a:extLst>
                <a:ext uri="{FF2B5EF4-FFF2-40B4-BE49-F238E27FC236}">
                  <a16:creationId xmlns:a16="http://schemas.microsoft.com/office/drawing/2014/main" id="{172041B4-8627-B34D-89B7-068CECE6DCB4}"/>
                </a:ext>
              </a:extLst>
            </p:cNvPr>
            <p:cNvSpPr txBox="1">
              <a:spLocks noChangeArrowheads="1"/>
            </p:cNvSpPr>
            <p:nvPr/>
          </p:nvSpPr>
          <p:spPr bwMode="auto">
            <a:xfrm>
              <a:off x="862346" y="5707970"/>
              <a:ext cx="1770344" cy="803618"/>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lnSpc>
                  <a:spcPct val="120000"/>
                </a:lnSpc>
              </a:pPr>
              <a:r>
                <a:rPr kumimoji="1" lang="zh-CN" altLang="en-US" sz="2000" b="1" dirty="0">
                  <a:latin typeface="Microsoft YaHei" panose="020B0503020204020204" pitchFamily="34" charset="-122"/>
                  <a:ea typeface="Microsoft YaHei" panose="020B0503020204020204" pitchFamily="34" charset="-122"/>
                </a:rPr>
                <a:t>應用層面的路由表</a:t>
              </a:r>
              <a:endParaRPr kumimoji="1" lang="en-US" altLang="zh-CN" sz="2000" b="1" dirty="0">
                <a:latin typeface="Microsoft YaHei" panose="020B0503020204020204" pitchFamily="34" charset="-122"/>
                <a:ea typeface="Microsoft YaHei" panose="020B0503020204020204" pitchFamily="34" charset="-122"/>
              </a:endParaRPr>
            </a:p>
            <a:p>
              <a:pPr algn="ctr">
                <a:lnSpc>
                  <a:spcPct val="120000"/>
                </a:lnSpc>
              </a:pPr>
              <a:r>
                <a:rPr kumimoji="1" lang="zh-CN" altLang="en-US" sz="2000" b="1" dirty="0">
                  <a:latin typeface="Microsoft YaHei" panose="020B0503020204020204" pitchFamily="34" charset="-122"/>
                  <a:ea typeface="Microsoft YaHei" panose="020B0503020204020204" pitchFamily="34" charset="-122"/>
                </a:rPr>
                <a:t>策略路由模塊</a:t>
              </a:r>
              <a:endParaRPr kumimoji="1" lang="en-US" altLang="zh-CN" sz="2000" b="1" dirty="0">
                <a:latin typeface="Microsoft YaHei" panose="020B0503020204020204" pitchFamily="34" charset="-122"/>
                <a:ea typeface="Microsoft YaHei" panose="020B0503020204020204" pitchFamily="34" charset="-122"/>
              </a:endParaRPr>
            </a:p>
          </p:txBody>
        </p:sp>
        <p:sp>
          <p:nvSpPr>
            <p:cNvPr id="109" name="Text Box 63">
              <a:extLst>
                <a:ext uri="{FF2B5EF4-FFF2-40B4-BE49-F238E27FC236}">
                  <a16:creationId xmlns:a16="http://schemas.microsoft.com/office/drawing/2014/main" id="{6AEAFE01-820C-4940-BBF1-59CECC03BA07}"/>
                </a:ext>
              </a:extLst>
            </p:cNvPr>
            <p:cNvSpPr txBox="1">
              <a:spLocks noChangeArrowheads="1"/>
            </p:cNvSpPr>
            <p:nvPr/>
          </p:nvSpPr>
          <p:spPr bwMode="auto">
            <a:xfrm>
              <a:off x="6794500" y="3743325"/>
              <a:ext cx="1593850" cy="396875"/>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r>
                <a:rPr kumimoji="1" lang="en-US" altLang="zh-CN" sz="2000" b="1" dirty="0">
                  <a:latin typeface="Helvetica" panose="020B0604020202020204" pitchFamily="34" charset="0"/>
                </a:rPr>
                <a:t>RON library</a:t>
              </a:r>
            </a:p>
          </p:txBody>
        </p:sp>
        <p:sp>
          <p:nvSpPr>
            <p:cNvPr id="110" name="Text Box 64">
              <a:extLst>
                <a:ext uri="{FF2B5EF4-FFF2-40B4-BE49-F238E27FC236}">
                  <a16:creationId xmlns:a16="http://schemas.microsoft.com/office/drawing/2014/main" id="{105BC556-8AF9-E44C-80AF-B2D10D104BF9}"/>
                </a:ext>
              </a:extLst>
            </p:cNvPr>
            <p:cNvSpPr txBox="1">
              <a:spLocks noChangeArrowheads="1"/>
            </p:cNvSpPr>
            <p:nvPr/>
          </p:nvSpPr>
          <p:spPr bwMode="auto">
            <a:xfrm>
              <a:off x="6748463" y="1411587"/>
              <a:ext cx="1393077" cy="1178784"/>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lnSpc>
                  <a:spcPct val="120000"/>
                </a:lnSpc>
              </a:pPr>
              <a:r>
                <a:rPr kumimoji="1" lang="zh-CN" altLang="en-US" sz="2000" b="1" dirty="0">
                  <a:latin typeface="Microsoft YaHei" panose="020B0503020204020204" pitchFamily="34" charset="-122"/>
                  <a:ea typeface="Microsoft YaHei" panose="020B0503020204020204" pitchFamily="34" charset="-122"/>
                </a:rPr>
                <a:t>不同路由域</a:t>
              </a:r>
              <a:endParaRPr kumimoji="1" lang="en-US" altLang="zh-CN" sz="2000" b="1" dirty="0">
                <a:latin typeface="Microsoft YaHei" panose="020B0503020204020204" pitchFamily="34" charset="-122"/>
                <a:ea typeface="Microsoft YaHei" panose="020B0503020204020204" pitchFamily="34" charset="-122"/>
              </a:endParaRPr>
            </a:p>
            <a:p>
              <a:pPr algn="ctr">
                <a:lnSpc>
                  <a:spcPct val="120000"/>
                </a:lnSpc>
              </a:pPr>
              <a:r>
                <a:rPr kumimoji="1" lang="zh-CN" altLang="en-US" sz="2000" b="1" dirty="0">
                  <a:latin typeface="Microsoft YaHei" panose="020B0503020204020204" pitchFamily="34" charset="-122"/>
                  <a:ea typeface="Microsoft YaHei" panose="020B0503020204020204" pitchFamily="34" charset="-122"/>
                </a:rPr>
                <a:t>的節點</a:t>
              </a:r>
              <a:endParaRPr kumimoji="1" lang="en-US" altLang="zh-CN" sz="2000" b="1" dirty="0">
                <a:latin typeface="Microsoft YaHei" panose="020B0503020204020204" pitchFamily="34" charset="-122"/>
                <a:ea typeface="Microsoft YaHei" panose="020B0503020204020204" pitchFamily="34" charset="-122"/>
              </a:endParaRPr>
            </a:p>
            <a:p>
              <a:pPr algn="ctr">
                <a:lnSpc>
                  <a:spcPct val="120000"/>
                </a:lnSpc>
              </a:pPr>
              <a:r>
                <a:rPr kumimoji="1" lang="en-US" altLang="zh-CN" sz="2000" b="1" dirty="0">
                  <a:latin typeface="Microsoft YaHei" panose="020B0503020204020204" pitchFamily="34" charset="-122"/>
                  <a:ea typeface="Microsoft YaHei" panose="020B0503020204020204" pitchFamily="34" charset="-122"/>
                </a:rPr>
                <a:t>(</a:t>
              </a:r>
              <a:r>
                <a:rPr kumimoji="1" lang="en-US" altLang="zh-CN" sz="2000" b="1" dirty="0" err="1">
                  <a:latin typeface="Microsoft YaHei" panose="020B0503020204020204" pitchFamily="34" charset="-122"/>
                  <a:ea typeface="Microsoft YaHei" panose="020B0503020204020204" pitchFamily="34" charset="-122"/>
                </a:rPr>
                <a:t>ASes</a:t>
              </a:r>
              <a:r>
                <a:rPr kumimoji="1" lang="en-US" altLang="zh-CN" sz="2000" b="1" dirty="0">
                  <a:latin typeface="Microsoft YaHei" panose="020B0503020204020204" pitchFamily="34" charset="-122"/>
                  <a:ea typeface="Microsoft YaHei" panose="020B0503020204020204" pitchFamily="34" charset="-122"/>
                </a:rPr>
                <a:t>)</a:t>
              </a:r>
            </a:p>
          </p:txBody>
        </p:sp>
      </p:grpSp>
      <p:sp>
        <p:nvSpPr>
          <p:cNvPr id="66" name="灯片编号占位符 2">
            <a:extLst>
              <a:ext uri="{FF2B5EF4-FFF2-40B4-BE49-F238E27FC236}">
                <a16:creationId xmlns:a16="http://schemas.microsoft.com/office/drawing/2014/main" id="{8044DA6E-D35A-7A44-B26C-78319D133CCB}"/>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32</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705813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en-US" altLang="zh-CN" dirty="0"/>
              <a:t>RON</a:t>
            </a:r>
            <a:r>
              <a:rPr kumimoji="1" lang="zh-CN" altLang="en-US" dirty="0"/>
              <a:t>的穩定性分析</a:t>
            </a:r>
          </a:p>
        </p:txBody>
      </p:sp>
      <p:grpSp>
        <p:nvGrpSpPr>
          <p:cNvPr id="3" name="组合 2">
            <a:extLst>
              <a:ext uri="{FF2B5EF4-FFF2-40B4-BE49-F238E27FC236}">
                <a16:creationId xmlns:a16="http://schemas.microsoft.com/office/drawing/2014/main" id="{CC0B06C1-F6AD-E740-9EFB-FE2E9325FAB3}"/>
              </a:ext>
            </a:extLst>
          </p:cNvPr>
          <p:cNvGrpSpPr/>
          <p:nvPr/>
        </p:nvGrpSpPr>
        <p:grpSpPr>
          <a:xfrm>
            <a:off x="6537266" y="1347716"/>
            <a:ext cx="5569295" cy="3983192"/>
            <a:chOff x="5767754" y="1367656"/>
            <a:chExt cx="6260956" cy="4215639"/>
          </a:xfrm>
        </p:grpSpPr>
        <p:sp>
          <p:nvSpPr>
            <p:cNvPr id="38" name="Text Box 16">
              <a:extLst>
                <a:ext uri="{FF2B5EF4-FFF2-40B4-BE49-F238E27FC236}">
                  <a16:creationId xmlns:a16="http://schemas.microsoft.com/office/drawing/2014/main" id="{4A772C07-0D5D-AB4B-B362-AAA2F57A84C1}"/>
                </a:ext>
              </a:extLst>
            </p:cNvPr>
            <p:cNvSpPr txBox="1">
              <a:spLocks noChangeArrowheads="1"/>
            </p:cNvSpPr>
            <p:nvPr/>
          </p:nvSpPr>
          <p:spPr bwMode="auto">
            <a:xfrm>
              <a:off x="7407307" y="1367656"/>
              <a:ext cx="2452972" cy="42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6" rIns="91430" bIns="45716">
              <a:spAutoFit/>
            </a:bodyPr>
            <a:lstStyle>
              <a:lvl1pPr defTabSz="915988">
                <a:defRPr>
                  <a:solidFill>
                    <a:schemeClr val="tx1"/>
                  </a:solidFill>
                  <a:latin typeface="Times New Roman" panose="02020603050405020304" pitchFamily="18" charset="0"/>
                  <a:ea typeface="宋体" panose="02010600030101010101" pitchFamily="2" charset="-122"/>
                </a:defRPr>
              </a:lvl1pPr>
              <a:lvl2pPr marL="742950" indent="-285750" defTabSz="915988">
                <a:defRPr>
                  <a:solidFill>
                    <a:schemeClr val="tx1"/>
                  </a:solidFill>
                  <a:latin typeface="Times New Roman" panose="02020603050405020304" pitchFamily="18" charset="0"/>
                  <a:ea typeface="宋体" panose="02010600030101010101" pitchFamily="2" charset="-122"/>
                </a:defRPr>
              </a:lvl2pPr>
              <a:lvl3pPr marL="1143000" indent="-228600" defTabSz="915988">
                <a:defRPr>
                  <a:solidFill>
                    <a:schemeClr val="tx1"/>
                  </a:solidFill>
                  <a:latin typeface="Times New Roman" panose="02020603050405020304" pitchFamily="18" charset="0"/>
                  <a:ea typeface="宋体" panose="02010600030101010101" pitchFamily="2" charset="-122"/>
                </a:defRPr>
              </a:lvl3pPr>
              <a:lvl4pPr marL="1600200" indent="-228600" defTabSz="915988">
                <a:defRPr>
                  <a:solidFill>
                    <a:schemeClr val="tx1"/>
                  </a:solidFill>
                  <a:latin typeface="Times New Roman" panose="02020603050405020304" pitchFamily="18" charset="0"/>
                  <a:ea typeface="宋体" panose="02010600030101010101" pitchFamily="2" charset="-122"/>
                </a:defRPr>
              </a:lvl4pPr>
              <a:lvl5pPr marL="2057400" indent="-228600" defTabSz="915988">
                <a:defRPr>
                  <a:solidFill>
                    <a:schemeClr val="tx1"/>
                  </a:solidFill>
                  <a:latin typeface="Times New Roman" panose="02020603050405020304" pitchFamily="18" charset="0"/>
                  <a:ea typeface="宋体" panose="02010600030101010101" pitchFamily="2" charset="-122"/>
                </a:defRPr>
              </a:lvl5pPr>
              <a:lvl6pPr marL="2514600" indent="-228600" defTabSz="915988"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defTabSz="915988"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defTabSz="915988"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defTabSz="915988"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5988"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rPr>
                <a:t>RON</a:t>
              </a:r>
              <a:r>
                <a:rPr kumimoji="0" lang="zh-CN"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rPr>
                <a:t>節點個數：</a:t>
              </a: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rPr>
                <a:t>R</a:t>
              </a:r>
            </a:p>
          </p:txBody>
        </p:sp>
        <p:grpSp>
          <p:nvGrpSpPr>
            <p:cNvPr id="4" name="组合 3">
              <a:extLst>
                <a:ext uri="{FF2B5EF4-FFF2-40B4-BE49-F238E27FC236}">
                  <a16:creationId xmlns:a16="http://schemas.microsoft.com/office/drawing/2014/main" id="{E8737F25-403B-9B4C-AB0F-384AFAC8447D}"/>
                </a:ext>
              </a:extLst>
            </p:cNvPr>
            <p:cNvGrpSpPr/>
            <p:nvPr/>
          </p:nvGrpSpPr>
          <p:grpSpPr>
            <a:xfrm>
              <a:off x="5767754" y="1946497"/>
              <a:ext cx="6260956" cy="3636798"/>
              <a:chOff x="4831129" y="1621972"/>
              <a:chExt cx="6811144" cy="3581400"/>
            </a:xfrm>
          </p:grpSpPr>
          <p:sp>
            <p:nvSpPr>
              <p:cNvPr id="24" name="Oval 4">
                <a:extLst>
                  <a:ext uri="{FF2B5EF4-FFF2-40B4-BE49-F238E27FC236}">
                    <a16:creationId xmlns:a16="http://schemas.microsoft.com/office/drawing/2014/main" id="{1C149416-33F7-0A47-86D5-AC07844E1EDF}"/>
                  </a:ext>
                </a:extLst>
              </p:cNvPr>
              <p:cNvSpPr>
                <a:spLocks noChangeArrowheads="1"/>
              </p:cNvSpPr>
              <p:nvPr/>
            </p:nvSpPr>
            <p:spPr bwMode="auto">
              <a:xfrm>
                <a:off x="4831129" y="2917372"/>
                <a:ext cx="1412066" cy="838200"/>
              </a:xfrm>
              <a:prstGeom prst="ellipse">
                <a:avLst/>
              </a:prstGeom>
              <a:solidFill>
                <a:srgbClr val="4F81BD"/>
              </a:solidFill>
              <a:ln w="9525">
                <a:solidFill>
                  <a:sysClr val="windowText" lastClr="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6" rIns="91430" bIns="45716"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rPr>
                  <a:t>source</a:t>
                </a:r>
              </a:p>
            </p:txBody>
          </p:sp>
          <p:sp>
            <p:nvSpPr>
              <p:cNvPr id="25" name="Oval 5">
                <a:extLst>
                  <a:ext uri="{FF2B5EF4-FFF2-40B4-BE49-F238E27FC236}">
                    <a16:creationId xmlns:a16="http://schemas.microsoft.com/office/drawing/2014/main" id="{23B223AA-E4FC-2147-BFB3-16ACEE2A2B7F}"/>
                  </a:ext>
                </a:extLst>
              </p:cNvPr>
              <p:cNvSpPr>
                <a:spLocks noChangeArrowheads="1"/>
              </p:cNvSpPr>
              <p:nvPr/>
            </p:nvSpPr>
            <p:spPr bwMode="auto">
              <a:xfrm>
                <a:off x="10230207" y="2917372"/>
                <a:ext cx="1412066" cy="838200"/>
              </a:xfrm>
              <a:prstGeom prst="ellipse">
                <a:avLst/>
              </a:prstGeom>
              <a:solidFill>
                <a:srgbClr val="4F81BD"/>
              </a:solidFill>
              <a:ln w="9525">
                <a:solidFill>
                  <a:sysClr val="windowText" lastClr="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6" rIns="91430" bIns="45716"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rPr>
                  <a:t>target</a:t>
                </a:r>
              </a:p>
            </p:txBody>
          </p:sp>
          <p:sp>
            <p:nvSpPr>
              <p:cNvPr id="28" name="Oval 6">
                <a:extLst>
                  <a:ext uri="{FF2B5EF4-FFF2-40B4-BE49-F238E27FC236}">
                    <a16:creationId xmlns:a16="http://schemas.microsoft.com/office/drawing/2014/main" id="{0915646F-501D-E54F-BC03-CFE5A6A17D68}"/>
                  </a:ext>
                </a:extLst>
              </p:cNvPr>
              <p:cNvSpPr>
                <a:spLocks noChangeArrowheads="1"/>
              </p:cNvSpPr>
              <p:nvPr/>
            </p:nvSpPr>
            <p:spPr bwMode="auto">
              <a:xfrm>
                <a:off x="7406074" y="1621972"/>
                <a:ext cx="1412066" cy="838200"/>
              </a:xfrm>
              <a:prstGeom prst="ellipse">
                <a:avLst/>
              </a:prstGeom>
              <a:solidFill>
                <a:srgbClr val="4F81BD"/>
              </a:solidFill>
              <a:ln w="9525">
                <a:solidFill>
                  <a:sysClr val="windowText" lastClr="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6" rIns="91430" bIns="45716"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rPr>
                  <a:t>RON</a:t>
                </a:r>
              </a:p>
            </p:txBody>
          </p:sp>
          <p:sp>
            <p:nvSpPr>
              <p:cNvPr id="29" name="Oval 7">
                <a:extLst>
                  <a:ext uri="{FF2B5EF4-FFF2-40B4-BE49-F238E27FC236}">
                    <a16:creationId xmlns:a16="http://schemas.microsoft.com/office/drawing/2014/main" id="{16F624F7-426E-F24A-B2BC-6D5E06CB7DE2}"/>
                  </a:ext>
                </a:extLst>
              </p:cNvPr>
              <p:cNvSpPr>
                <a:spLocks noChangeArrowheads="1"/>
              </p:cNvSpPr>
              <p:nvPr/>
            </p:nvSpPr>
            <p:spPr bwMode="auto">
              <a:xfrm>
                <a:off x="7406074" y="2688772"/>
                <a:ext cx="1412066" cy="838200"/>
              </a:xfrm>
              <a:prstGeom prst="ellipse">
                <a:avLst/>
              </a:prstGeom>
              <a:solidFill>
                <a:srgbClr val="4F81BD"/>
              </a:solidFill>
              <a:ln w="9525">
                <a:solidFill>
                  <a:sysClr val="windowText" lastClr="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6" rIns="91430" bIns="45716"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rPr>
                  <a:t>RON</a:t>
                </a:r>
              </a:p>
            </p:txBody>
          </p:sp>
          <p:sp>
            <p:nvSpPr>
              <p:cNvPr id="30" name="Oval 8">
                <a:extLst>
                  <a:ext uri="{FF2B5EF4-FFF2-40B4-BE49-F238E27FC236}">
                    <a16:creationId xmlns:a16="http://schemas.microsoft.com/office/drawing/2014/main" id="{AE03CB90-F08D-A346-81C8-144DFD973809}"/>
                  </a:ext>
                </a:extLst>
              </p:cNvPr>
              <p:cNvSpPr>
                <a:spLocks noChangeArrowheads="1"/>
              </p:cNvSpPr>
              <p:nvPr/>
            </p:nvSpPr>
            <p:spPr bwMode="auto">
              <a:xfrm>
                <a:off x="7489136" y="4365172"/>
                <a:ext cx="1412066" cy="838200"/>
              </a:xfrm>
              <a:prstGeom prst="ellipse">
                <a:avLst/>
              </a:prstGeom>
              <a:solidFill>
                <a:srgbClr val="4F81BD"/>
              </a:solidFill>
              <a:ln w="9525">
                <a:solidFill>
                  <a:sysClr val="windowText" lastClr="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6" rIns="91430" bIns="45716"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rPr>
                  <a:t>RON</a:t>
                </a:r>
              </a:p>
            </p:txBody>
          </p:sp>
          <p:sp>
            <p:nvSpPr>
              <p:cNvPr id="31" name="Text Box 9">
                <a:extLst>
                  <a:ext uri="{FF2B5EF4-FFF2-40B4-BE49-F238E27FC236}">
                    <a16:creationId xmlns:a16="http://schemas.microsoft.com/office/drawing/2014/main" id="{52AE5D2D-72A2-784F-9ACE-ED2D1A749703}"/>
                  </a:ext>
                </a:extLst>
              </p:cNvPr>
              <p:cNvSpPr txBox="1">
                <a:spLocks noChangeArrowheads="1"/>
              </p:cNvSpPr>
              <p:nvPr/>
            </p:nvSpPr>
            <p:spPr bwMode="auto">
              <a:xfrm>
                <a:off x="7821387" y="3679372"/>
                <a:ext cx="555172" cy="41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6" rIns="91430" bIns="45716">
                <a:spAutoFit/>
              </a:bodyPr>
              <a:lstStyle>
                <a:lvl1pPr defTabSz="915988">
                  <a:defRPr>
                    <a:solidFill>
                      <a:schemeClr val="tx1"/>
                    </a:solidFill>
                    <a:latin typeface="Times New Roman" panose="02020603050405020304" pitchFamily="18" charset="0"/>
                    <a:ea typeface="宋体" panose="02010600030101010101" pitchFamily="2" charset="-122"/>
                  </a:defRPr>
                </a:lvl1pPr>
                <a:lvl2pPr marL="742950" indent="-285750" defTabSz="915988">
                  <a:defRPr>
                    <a:solidFill>
                      <a:schemeClr val="tx1"/>
                    </a:solidFill>
                    <a:latin typeface="Times New Roman" panose="02020603050405020304" pitchFamily="18" charset="0"/>
                    <a:ea typeface="宋体" panose="02010600030101010101" pitchFamily="2" charset="-122"/>
                  </a:defRPr>
                </a:lvl2pPr>
                <a:lvl3pPr marL="1143000" indent="-228600" defTabSz="915988">
                  <a:defRPr>
                    <a:solidFill>
                      <a:schemeClr val="tx1"/>
                    </a:solidFill>
                    <a:latin typeface="Times New Roman" panose="02020603050405020304" pitchFamily="18" charset="0"/>
                    <a:ea typeface="宋体" panose="02010600030101010101" pitchFamily="2" charset="-122"/>
                  </a:defRPr>
                </a:lvl3pPr>
                <a:lvl4pPr marL="1600200" indent="-228600" defTabSz="915988">
                  <a:defRPr>
                    <a:solidFill>
                      <a:schemeClr val="tx1"/>
                    </a:solidFill>
                    <a:latin typeface="Times New Roman" panose="02020603050405020304" pitchFamily="18" charset="0"/>
                    <a:ea typeface="宋体" panose="02010600030101010101" pitchFamily="2" charset="-122"/>
                  </a:defRPr>
                </a:lvl4pPr>
                <a:lvl5pPr marL="2057400" indent="-228600" defTabSz="915988">
                  <a:defRPr>
                    <a:solidFill>
                      <a:schemeClr val="tx1"/>
                    </a:solidFill>
                    <a:latin typeface="Times New Roman" panose="02020603050405020304" pitchFamily="18" charset="0"/>
                    <a:ea typeface="宋体" panose="02010600030101010101" pitchFamily="2" charset="-122"/>
                  </a:defRPr>
                </a:lvl5pPr>
                <a:lvl6pPr marL="2514600" indent="-228600" defTabSz="915988"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defTabSz="915988"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defTabSz="915988"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defTabSz="915988"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r>
                  <a:rPr lang="en-US" altLang="zh-CN" sz="2000" dirty="0">
                    <a:solidFill>
                      <a:prstClr val="black"/>
                    </a:solidFill>
                    <a:cs typeface="Times New Roman" panose="02020603050405020304" pitchFamily="18" charset="0"/>
                  </a:rPr>
                  <a:t>•••</a:t>
                </a:r>
              </a:p>
            </p:txBody>
          </p:sp>
          <p:sp>
            <p:nvSpPr>
              <p:cNvPr id="32" name="Line 10">
                <a:extLst>
                  <a:ext uri="{FF2B5EF4-FFF2-40B4-BE49-F238E27FC236}">
                    <a16:creationId xmlns:a16="http://schemas.microsoft.com/office/drawing/2014/main" id="{55AEBB1E-7777-F940-8F78-B1B325207285}"/>
                  </a:ext>
                </a:extLst>
              </p:cNvPr>
              <p:cNvSpPr>
                <a:spLocks noChangeShapeType="1"/>
              </p:cNvSpPr>
              <p:nvPr/>
            </p:nvSpPr>
            <p:spPr bwMode="auto">
              <a:xfrm flipV="1">
                <a:off x="6077070" y="2155372"/>
                <a:ext cx="1329004" cy="83820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3" name="Line 11">
                <a:extLst>
                  <a:ext uri="{FF2B5EF4-FFF2-40B4-BE49-F238E27FC236}">
                    <a16:creationId xmlns:a16="http://schemas.microsoft.com/office/drawing/2014/main" id="{8A3253F1-6F77-D943-A458-9752A17B505A}"/>
                  </a:ext>
                </a:extLst>
              </p:cNvPr>
              <p:cNvSpPr>
                <a:spLocks noChangeShapeType="1"/>
              </p:cNvSpPr>
              <p:nvPr/>
            </p:nvSpPr>
            <p:spPr bwMode="auto">
              <a:xfrm>
                <a:off x="8818140" y="2079172"/>
                <a:ext cx="1827380" cy="91440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4" name="Line 12">
                <a:extLst>
                  <a:ext uri="{FF2B5EF4-FFF2-40B4-BE49-F238E27FC236}">
                    <a16:creationId xmlns:a16="http://schemas.microsoft.com/office/drawing/2014/main" id="{823D2E8C-C5AC-844D-9C37-F18018E6E1D8}"/>
                  </a:ext>
                </a:extLst>
              </p:cNvPr>
              <p:cNvSpPr>
                <a:spLocks noChangeShapeType="1"/>
              </p:cNvSpPr>
              <p:nvPr/>
            </p:nvSpPr>
            <p:spPr bwMode="auto">
              <a:xfrm flipV="1">
                <a:off x="6243196" y="3145972"/>
                <a:ext cx="1162878" cy="15240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5" name="Line 13">
                <a:extLst>
                  <a:ext uri="{FF2B5EF4-FFF2-40B4-BE49-F238E27FC236}">
                    <a16:creationId xmlns:a16="http://schemas.microsoft.com/office/drawing/2014/main" id="{BDC451B3-F671-524A-9451-0E357D298663}"/>
                  </a:ext>
                </a:extLst>
              </p:cNvPr>
              <p:cNvSpPr>
                <a:spLocks noChangeShapeType="1"/>
              </p:cNvSpPr>
              <p:nvPr/>
            </p:nvSpPr>
            <p:spPr bwMode="auto">
              <a:xfrm>
                <a:off x="5827882" y="3679372"/>
                <a:ext cx="1744317" cy="91440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6" name="Line 14">
                <a:extLst>
                  <a:ext uri="{FF2B5EF4-FFF2-40B4-BE49-F238E27FC236}">
                    <a16:creationId xmlns:a16="http://schemas.microsoft.com/office/drawing/2014/main" id="{A1686A51-DBDB-DD4A-91E2-9BA624751C83}"/>
                  </a:ext>
                </a:extLst>
              </p:cNvPr>
              <p:cNvSpPr>
                <a:spLocks noChangeShapeType="1"/>
              </p:cNvSpPr>
              <p:nvPr/>
            </p:nvSpPr>
            <p:spPr bwMode="auto">
              <a:xfrm>
                <a:off x="8818140" y="3069772"/>
                <a:ext cx="1412066" cy="30480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7" name="Line 15">
                <a:extLst>
                  <a:ext uri="{FF2B5EF4-FFF2-40B4-BE49-F238E27FC236}">
                    <a16:creationId xmlns:a16="http://schemas.microsoft.com/office/drawing/2014/main" id="{47FA6053-C9C0-A440-BC55-31938F4E9FC9}"/>
                  </a:ext>
                </a:extLst>
              </p:cNvPr>
              <p:cNvSpPr>
                <a:spLocks noChangeShapeType="1"/>
              </p:cNvSpPr>
              <p:nvPr/>
            </p:nvSpPr>
            <p:spPr bwMode="auto">
              <a:xfrm flipV="1">
                <a:off x="8901203" y="3679372"/>
                <a:ext cx="1578192" cy="990600"/>
              </a:xfrm>
              <a:prstGeom prst="line">
                <a:avLst/>
              </a:prstGeom>
              <a:noFill/>
              <a:ln w="9525">
                <a:solidFill>
                  <a:sysClr val="windowText" lastClr="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9" name="Text Box 17">
                <a:extLst>
                  <a:ext uri="{FF2B5EF4-FFF2-40B4-BE49-F238E27FC236}">
                    <a16:creationId xmlns:a16="http://schemas.microsoft.com/office/drawing/2014/main" id="{D4D45182-17AF-E04B-90D1-CA04F56EF577}"/>
                  </a:ext>
                </a:extLst>
              </p:cNvPr>
              <p:cNvSpPr txBox="1">
                <a:spLocks noChangeArrowheads="1"/>
              </p:cNvSpPr>
              <p:nvPr/>
            </p:nvSpPr>
            <p:spPr bwMode="auto">
              <a:xfrm rot="1606730">
                <a:off x="9309595" y="2103191"/>
                <a:ext cx="996753" cy="73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0" tIns="45716" rIns="91430" bIns="45716">
                <a:spAutoFit/>
              </a:bodyPr>
              <a:lstStyle>
                <a:lvl1pPr defTabSz="915988">
                  <a:defRPr>
                    <a:solidFill>
                      <a:schemeClr val="tx1"/>
                    </a:solidFill>
                    <a:latin typeface="Times New Roman" panose="02020603050405020304" pitchFamily="18" charset="0"/>
                    <a:ea typeface="宋体" panose="02010600030101010101" pitchFamily="2" charset="-122"/>
                  </a:defRPr>
                </a:lvl1pPr>
                <a:lvl2pPr marL="742950" indent="-285750" defTabSz="915988">
                  <a:defRPr>
                    <a:solidFill>
                      <a:schemeClr val="tx1"/>
                    </a:solidFill>
                    <a:latin typeface="Times New Roman" panose="02020603050405020304" pitchFamily="18" charset="0"/>
                    <a:ea typeface="宋体" panose="02010600030101010101" pitchFamily="2" charset="-122"/>
                  </a:defRPr>
                </a:lvl2pPr>
                <a:lvl3pPr marL="1143000" indent="-228600" defTabSz="915988">
                  <a:defRPr>
                    <a:solidFill>
                      <a:schemeClr val="tx1"/>
                    </a:solidFill>
                    <a:latin typeface="Times New Roman" panose="02020603050405020304" pitchFamily="18" charset="0"/>
                    <a:ea typeface="宋体" panose="02010600030101010101" pitchFamily="2" charset="-122"/>
                  </a:defRPr>
                </a:lvl3pPr>
                <a:lvl4pPr marL="1600200" indent="-228600" defTabSz="915988">
                  <a:defRPr>
                    <a:solidFill>
                      <a:schemeClr val="tx1"/>
                    </a:solidFill>
                    <a:latin typeface="Times New Roman" panose="02020603050405020304" pitchFamily="18" charset="0"/>
                    <a:ea typeface="宋体" panose="02010600030101010101" pitchFamily="2" charset="-122"/>
                  </a:defRPr>
                </a:lvl4pPr>
                <a:lvl5pPr marL="2057400" indent="-228600" defTabSz="915988">
                  <a:defRPr>
                    <a:solidFill>
                      <a:schemeClr val="tx1"/>
                    </a:solidFill>
                    <a:latin typeface="Times New Roman" panose="02020603050405020304" pitchFamily="18" charset="0"/>
                    <a:ea typeface="宋体" panose="02010600030101010101" pitchFamily="2" charset="-122"/>
                  </a:defRPr>
                </a:lvl5pPr>
                <a:lvl6pPr marL="2514600" indent="-228600" defTabSz="915988"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defTabSz="915988"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defTabSz="915988"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defTabSz="915988"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5988"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rPr>
                  <a:t>Good (p)</a:t>
                </a:r>
              </a:p>
            </p:txBody>
          </p:sp>
          <p:sp>
            <p:nvSpPr>
              <p:cNvPr id="40" name="Text Box 18">
                <a:extLst>
                  <a:ext uri="{FF2B5EF4-FFF2-40B4-BE49-F238E27FC236}">
                    <a16:creationId xmlns:a16="http://schemas.microsoft.com/office/drawing/2014/main" id="{18A08B71-00ED-B54D-942D-4429A585108E}"/>
                  </a:ext>
                </a:extLst>
              </p:cNvPr>
              <p:cNvSpPr txBox="1">
                <a:spLocks noChangeArrowheads="1"/>
              </p:cNvSpPr>
              <p:nvPr/>
            </p:nvSpPr>
            <p:spPr bwMode="auto">
              <a:xfrm rot="19458248">
                <a:off x="6137638" y="2207966"/>
                <a:ext cx="1081545" cy="73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0" tIns="45716" rIns="91430" bIns="45716">
                <a:spAutoFit/>
              </a:bodyPr>
              <a:lstStyle>
                <a:lvl1pPr defTabSz="915988">
                  <a:defRPr>
                    <a:solidFill>
                      <a:schemeClr val="tx1"/>
                    </a:solidFill>
                    <a:latin typeface="Times New Roman" panose="02020603050405020304" pitchFamily="18" charset="0"/>
                    <a:ea typeface="宋体" panose="02010600030101010101" pitchFamily="2" charset="-122"/>
                  </a:defRPr>
                </a:lvl1pPr>
                <a:lvl2pPr marL="742950" indent="-285750" defTabSz="915988">
                  <a:defRPr>
                    <a:solidFill>
                      <a:schemeClr val="tx1"/>
                    </a:solidFill>
                    <a:latin typeface="Times New Roman" panose="02020603050405020304" pitchFamily="18" charset="0"/>
                    <a:ea typeface="宋体" panose="02010600030101010101" pitchFamily="2" charset="-122"/>
                  </a:defRPr>
                </a:lvl2pPr>
                <a:lvl3pPr marL="1143000" indent="-228600" defTabSz="915988">
                  <a:defRPr>
                    <a:solidFill>
                      <a:schemeClr val="tx1"/>
                    </a:solidFill>
                    <a:latin typeface="Times New Roman" panose="02020603050405020304" pitchFamily="18" charset="0"/>
                    <a:ea typeface="宋体" panose="02010600030101010101" pitchFamily="2" charset="-122"/>
                  </a:defRPr>
                </a:lvl3pPr>
                <a:lvl4pPr marL="1600200" indent="-228600" defTabSz="915988">
                  <a:defRPr>
                    <a:solidFill>
                      <a:schemeClr val="tx1"/>
                    </a:solidFill>
                    <a:latin typeface="Times New Roman" panose="02020603050405020304" pitchFamily="18" charset="0"/>
                    <a:ea typeface="宋体" panose="02010600030101010101" pitchFamily="2" charset="-122"/>
                  </a:defRPr>
                </a:lvl4pPr>
                <a:lvl5pPr marL="2057400" indent="-228600" defTabSz="915988">
                  <a:defRPr>
                    <a:solidFill>
                      <a:schemeClr val="tx1"/>
                    </a:solidFill>
                    <a:latin typeface="Times New Roman" panose="02020603050405020304" pitchFamily="18" charset="0"/>
                    <a:ea typeface="宋体" panose="02010600030101010101" pitchFamily="2" charset="-122"/>
                  </a:defRPr>
                </a:lvl5pPr>
                <a:lvl6pPr marL="2514600" indent="-228600" defTabSz="915988"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defTabSz="915988"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defTabSz="915988"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defTabSz="915988"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defTabSz="915988"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rPr>
                  <a:t>Bad (1-p)</a:t>
                </a:r>
              </a:p>
            </p:txBody>
          </p:sp>
        </p:grpSp>
      </p:grpSp>
      <mc:AlternateContent xmlns:mc="http://schemas.openxmlformats.org/markup-compatibility/2006">
        <mc:Choice xmlns:a14="http://schemas.microsoft.com/office/drawing/2010/main" Requires="a14">
          <p:sp>
            <p:nvSpPr>
              <p:cNvPr id="42" name="Text Box 20">
                <a:extLst>
                  <a:ext uri="{FF2B5EF4-FFF2-40B4-BE49-F238E27FC236}">
                    <a16:creationId xmlns:a16="http://schemas.microsoft.com/office/drawing/2014/main" id="{7226AC1A-C585-9149-BE87-D6CAD00CE9FC}"/>
                  </a:ext>
                </a:extLst>
              </p:cNvPr>
              <p:cNvSpPr txBox="1">
                <a:spLocks noChangeArrowheads="1"/>
              </p:cNvSpPr>
              <p:nvPr/>
            </p:nvSpPr>
            <p:spPr bwMode="auto">
              <a:xfrm>
                <a:off x="527787" y="1347716"/>
                <a:ext cx="5935474" cy="4722182"/>
              </a:xfrm>
              <a:prstGeom prst="rect">
                <a:avLst/>
              </a:prstGeom>
              <a:noFill/>
              <a:ln w="9525">
                <a:solidFill>
                  <a:srgbClr val="00B0F0"/>
                </a:solidFill>
                <a:miter lim="800000"/>
                <a:headEnd/>
                <a:tailEnd/>
              </a:ln>
              <a:effectLst/>
              <a:extLst>
                <a:ext uri="{909E8E84-426E-40DD-AFC4-6F175D3DCCD1}">
                  <a14:hiddenFill>
                    <a:solidFill>
                      <a:schemeClr val="accent1"/>
                    </a:solidFill>
                  </a14:hiddenFill>
                </a:ext>
                <a:ext uri="{AF507438-7753-43E0-B8FC-AC1667EBCBE1}">
                  <a14:hiddenEffects>
                    <a:effectLst>
                      <a:outerShdw dist="35921" dir="2700000" algn="ctr" rotWithShape="0">
                        <a:schemeClr val="bg2"/>
                      </a:outerShdw>
                    </a:effectLst>
                  </a14:hiddenEffects>
                </a:ext>
              </a:extLst>
            </p:spPr>
            <p:txBody>
              <a:bodyPr wrap="square" lIns="91430" tIns="45716" rIns="91430" bIns="45716">
                <a:spAutoFit/>
              </a:bodyPr>
              <a:lstStyle>
                <a:lvl1pPr defTabSz="915988">
                  <a:defRPr>
                    <a:solidFill>
                      <a:schemeClr val="tx1"/>
                    </a:solidFill>
                    <a:latin typeface="Times New Roman" panose="02020603050405020304" pitchFamily="18" charset="0"/>
                    <a:ea typeface="宋体" panose="02010600030101010101" pitchFamily="2" charset="-122"/>
                  </a:defRPr>
                </a:lvl1pPr>
                <a:lvl2pPr marL="742950" indent="-285750" defTabSz="915988">
                  <a:defRPr>
                    <a:solidFill>
                      <a:schemeClr val="tx1"/>
                    </a:solidFill>
                    <a:latin typeface="Times New Roman" panose="02020603050405020304" pitchFamily="18" charset="0"/>
                    <a:ea typeface="宋体" panose="02010600030101010101" pitchFamily="2" charset="-122"/>
                  </a:defRPr>
                </a:lvl2pPr>
                <a:lvl3pPr marL="1143000" indent="-228600" defTabSz="915988">
                  <a:defRPr>
                    <a:solidFill>
                      <a:schemeClr val="tx1"/>
                    </a:solidFill>
                    <a:latin typeface="Times New Roman" panose="02020603050405020304" pitchFamily="18" charset="0"/>
                    <a:ea typeface="宋体" panose="02010600030101010101" pitchFamily="2" charset="-122"/>
                  </a:defRPr>
                </a:lvl3pPr>
                <a:lvl4pPr marL="1600200" indent="-228600" defTabSz="915988">
                  <a:defRPr>
                    <a:solidFill>
                      <a:schemeClr val="tx1"/>
                    </a:solidFill>
                    <a:latin typeface="Times New Roman" panose="02020603050405020304" pitchFamily="18" charset="0"/>
                    <a:ea typeface="宋体" panose="02010600030101010101" pitchFamily="2" charset="-122"/>
                  </a:defRPr>
                </a:lvl4pPr>
                <a:lvl5pPr marL="2057400" indent="-228600" defTabSz="915988">
                  <a:defRPr>
                    <a:solidFill>
                      <a:schemeClr val="tx1"/>
                    </a:solidFill>
                    <a:latin typeface="Times New Roman" panose="02020603050405020304" pitchFamily="18" charset="0"/>
                    <a:ea typeface="宋体" panose="02010600030101010101" pitchFamily="2" charset="-122"/>
                  </a:defRPr>
                </a:lvl5pPr>
                <a:lvl6pPr marL="2514600" indent="-228600" defTabSz="915988"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defTabSz="915988"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defTabSz="915988"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defTabSz="915988"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342900" marR="0" lvl="0" indent="-342900" defTabSz="915988" eaLnBrk="1" fontAlgn="auto" latinLnBrk="0" hangingPunct="1">
                  <a:lnSpc>
                    <a:spcPts val="3600"/>
                  </a:lnSpc>
                  <a:spcBef>
                    <a:spcPts val="0"/>
                  </a:spcBef>
                  <a:spcAft>
                    <a:spcPts val="0"/>
                  </a:spcAft>
                  <a:buClrTx/>
                  <a:buSzTx/>
                  <a:buFont typeface="Arial" panose="020B0604020202020204" pitchFamily="34" charset="0"/>
                  <a:buChar char="•"/>
                  <a:tabLst/>
                  <a:defRPr/>
                </a:pPr>
                <a:r>
                  <a:rPr kumimoji="0" lang="zh-CN" altLang="en-US" sz="2400" b="0" i="0" u="none" strike="noStrike" kern="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rPr>
                  <a:t>兩個主機間</a:t>
                </a:r>
                <a:r>
                  <a:rPr lang="zh-CN" altLang="en-US" sz="2400" kern="0" dirty="0">
                    <a:solidFill>
                      <a:prstClr val="black"/>
                    </a:solidFill>
                    <a:latin typeface="Microsoft YaHei" panose="020B0503020204020204" pitchFamily="34" charset="-122"/>
                    <a:ea typeface="Microsoft YaHei" panose="020B0503020204020204" pitchFamily="34" charset="-122"/>
                  </a:rPr>
                  <a:t>無法正常通信</a:t>
                </a:r>
                <a:r>
                  <a:rPr kumimoji="0" lang="zh-CN" altLang="en-US" sz="2400" b="0" i="0" u="none" strike="noStrike" kern="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rPr>
                  <a:t>的概率</a:t>
                </a:r>
                <a:r>
                  <a:rPr kumimoji="0" lang="zh-CN" altLang="en-US" sz="2400" b="0" i="0" u="none" strike="noStrike" kern="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sym typeface="Wingdings" pitchFamily="2" charset="2"/>
                  </a:rPr>
                  <a:t>爲</a:t>
                </a:r>
                <a:r>
                  <a:rPr kumimoji="0" lang="en-US" altLang="zh-CN" sz="2400" b="0" i="0" u="none" strike="noStrike" kern="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sym typeface="Wingdings" pitchFamily="2" charset="2"/>
                  </a:rPr>
                  <a:t> (</a:t>
                </a:r>
                <a:r>
                  <a:rPr lang="en-US" altLang="zh-CN" sz="2400" kern="0" dirty="0">
                    <a:solidFill>
                      <a:prstClr val="black"/>
                    </a:solidFill>
                    <a:latin typeface="Microsoft YaHei" panose="020B0503020204020204" pitchFamily="34" charset="-122"/>
                    <a:ea typeface="Microsoft YaHei" panose="020B0503020204020204" pitchFamily="34" charset="-122"/>
                    <a:sym typeface="Wingdings" pitchFamily="2" charset="2"/>
                  </a:rPr>
                  <a:t>1-p)</a:t>
                </a:r>
              </a:p>
              <a:p>
                <a:pPr marL="342900" marR="0" lvl="0" indent="-342900" defTabSz="915988" eaLnBrk="1" fontAlgn="auto" latinLnBrk="0" hangingPunct="1">
                  <a:lnSpc>
                    <a:spcPts val="3600"/>
                  </a:lnSpc>
                  <a:spcBef>
                    <a:spcPts val="0"/>
                  </a:spcBef>
                  <a:spcAft>
                    <a:spcPts val="0"/>
                  </a:spcAft>
                  <a:buClrTx/>
                  <a:buSzTx/>
                  <a:buFont typeface="Arial" panose="020B0604020202020204" pitchFamily="34" charset="0"/>
                  <a:buChar char="•"/>
                  <a:tabLst/>
                  <a:defRPr/>
                </a:pPr>
                <a:r>
                  <a:rPr lang="zh-CN" altLang="en-US" sz="2400" kern="0" dirty="0">
                    <a:solidFill>
                      <a:prstClr val="black"/>
                    </a:solidFill>
                    <a:latin typeface="Microsoft YaHei" panose="020B0503020204020204" pitchFamily="34" charset="-122"/>
                    <a:ea typeface="Microsoft YaHei" panose="020B0503020204020204" pitchFamily="34" charset="-122"/>
                    <a:sym typeface="Wingdings" pitchFamily="2" charset="2"/>
                  </a:rPr>
                  <a:t>兩個主機間能正常通信的概率爲 </a:t>
                </a:r>
                <a:r>
                  <a:rPr lang="en-US" altLang="zh-CN" sz="2400" kern="0" dirty="0">
                    <a:solidFill>
                      <a:prstClr val="black"/>
                    </a:solidFill>
                    <a:latin typeface="Microsoft YaHei" panose="020B0503020204020204" pitchFamily="34" charset="-122"/>
                    <a:ea typeface="Microsoft YaHei" panose="020B0503020204020204" pitchFamily="34" charset="-122"/>
                    <a:sym typeface="Wingdings" pitchFamily="2" charset="2"/>
                  </a:rPr>
                  <a:t>p</a:t>
                </a:r>
                <a:endParaRPr kumimoji="0" lang="en-US" altLang="zh-CN" sz="2400" b="0" i="0" u="none" strike="noStrike" kern="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a:p>
                <a:pPr marL="342900" marR="0" lvl="0" indent="-342900" defTabSz="915988" eaLnBrk="1" fontAlgn="auto" latinLnBrk="0" hangingPunct="1">
                  <a:lnSpc>
                    <a:spcPts val="3600"/>
                  </a:lnSpc>
                  <a:spcBef>
                    <a:spcPct val="20000"/>
                  </a:spcBef>
                  <a:spcAft>
                    <a:spcPts val="0"/>
                  </a:spcAft>
                  <a:buClrTx/>
                  <a:buSzTx/>
                  <a:buFont typeface="Arial" panose="020B0604020202020204" pitchFamily="34" charset="0"/>
                  <a:buChar char="•"/>
                  <a:tabLst/>
                  <a:defRPr/>
                </a:pPr>
                <a:r>
                  <a:rPr kumimoji="0" lang="zh-CN" altLang="en-US" sz="2400" b="0" i="0" u="none" strike="noStrike" kern="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rPr>
                  <a:t>只考慮一跳路由時，存在正確路徑的概率爲：</a:t>
                </a:r>
                <a:endParaRPr kumimoji="0" lang="en-US" altLang="zh-CN" sz="2400" b="0" i="0" u="none" strike="noStrike" kern="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endParaRPr>
              </a:p>
              <a:p>
                <a:pPr marL="0" marR="0" lvl="0" indent="0" defTabSz="915988" eaLnBrk="1" fontAlgn="auto" latinLnBrk="0" hangingPunct="1">
                  <a:lnSpc>
                    <a:spcPct val="120000"/>
                  </a:lnSpc>
                  <a:spcBef>
                    <a:spcPct val="2000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400" b="0" i="1" u="none" strike="noStrike" kern="0" cap="none" spc="0" normalizeH="0" baseline="0" noProof="0" dirty="0" smtClean="0">
                          <a:ln>
                            <a:noFill/>
                          </a:ln>
                          <a:solidFill>
                            <a:prstClr val="black"/>
                          </a:solidFill>
                          <a:effectLst/>
                          <a:uLnTx/>
                          <a:uFillTx/>
                          <a:latin typeface="Cambria Math" panose="02040503050406030204" pitchFamily="18" charset="0"/>
                          <a:ea typeface="宋体" panose="02010600030101010101" pitchFamily="2" charset="-122"/>
                        </a:rPr>
                        <m:t>𝑃</m:t>
                      </m:r>
                      <m:r>
                        <a:rPr kumimoji="0" lang="en-US" altLang="zh-CN" sz="2400" b="0" i="1" u="none" strike="noStrike" kern="0" cap="none" spc="0" normalizeH="0" baseline="0" noProof="0" dirty="0">
                          <a:ln>
                            <a:noFill/>
                          </a:ln>
                          <a:solidFill>
                            <a:prstClr val="black"/>
                          </a:solidFill>
                          <a:effectLst/>
                          <a:uLnTx/>
                          <a:uFillTx/>
                          <a:latin typeface="Cambria Math" panose="02040503050406030204" pitchFamily="18" charset="0"/>
                          <a:ea typeface="宋体" panose="02010600030101010101" pitchFamily="2" charset="-122"/>
                        </a:rPr>
                        <m:t>(</m:t>
                      </m:r>
                      <m:r>
                        <a:rPr kumimoji="0" lang="en-US" altLang="zh-CN" sz="2400" b="0" i="1" u="none" strike="noStrike" kern="0" cap="none" spc="0" normalizeH="0" baseline="0" noProof="0" dirty="0">
                          <a:ln>
                            <a:noFill/>
                          </a:ln>
                          <a:solidFill>
                            <a:prstClr val="black"/>
                          </a:solidFill>
                          <a:effectLst/>
                          <a:uLnTx/>
                          <a:uFillTx/>
                          <a:latin typeface="Cambria Math" panose="02040503050406030204" pitchFamily="18" charset="0"/>
                          <a:ea typeface="宋体" panose="02010600030101010101" pitchFamily="2" charset="-122"/>
                        </a:rPr>
                        <m:t>𝑔𝑜𝑜𝑑</m:t>
                      </m:r>
                      <m:r>
                        <a:rPr kumimoji="0" lang="en-US" altLang="zh-CN" sz="2400" b="0" i="1" u="none" strike="noStrike" kern="0" cap="none" spc="0" normalizeH="0" baseline="0" noProof="0" dirty="0">
                          <a:ln>
                            <a:noFill/>
                          </a:ln>
                          <a:solidFill>
                            <a:prstClr val="black"/>
                          </a:solidFill>
                          <a:effectLst/>
                          <a:uLnTx/>
                          <a:uFillTx/>
                          <a:latin typeface="Cambria Math" panose="02040503050406030204" pitchFamily="18" charset="0"/>
                          <a:ea typeface="宋体" panose="02010600030101010101" pitchFamily="2" charset="-122"/>
                        </a:rPr>
                        <m:t> </m:t>
                      </m:r>
                      <m:r>
                        <a:rPr kumimoji="0" lang="en-US" altLang="zh-CN" sz="2400" b="0" i="1" u="none" strike="noStrike" kern="0" cap="none" spc="0" normalizeH="0" baseline="0" noProof="0" dirty="0">
                          <a:ln>
                            <a:noFill/>
                          </a:ln>
                          <a:solidFill>
                            <a:prstClr val="black"/>
                          </a:solidFill>
                          <a:effectLst/>
                          <a:uLnTx/>
                          <a:uFillTx/>
                          <a:latin typeface="Cambria Math" panose="02040503050406030204" pitchFamily="18" charset="0"/>
                          <a:ea typeface="宋体" panose="02010600030101010101" pitchFamily="2" charset="-122"/>
                        </a:rPr>
                        <m:t>𝑝𝑎𝑡h</m:t>
                      </m:r>
                      <m:r>
                        <a:rPr kumimoji="0" lang="en-US" altLang="zh-CN" sz="2400" b="0" i="1" u="none" strike="noStrike" kern="0" cap="none" spc="0" normalizeH="0" baseline="0" noProof="0" dirty="0">
                          <a:ln>
                            <a:noFill/>
                          </a:ln>
                          <a:solidFill>
                            <a:prstClr val="black"/>
                          </a:solidFill>
                          <a:effectLst/>
                          <a:uLnTx/>
                          <a:uFillTx/>
                          <a:latin typeface="Cambria Math" panose="02040503050406030204" pitchFamily="18" charset="0"/>
                          <a:ea typeface="宋体" panose="02010600030101010101" pitchFamily="2" charset="-122"/>
                        </a:rPr>
                        <m:t>) = 1− (1−</m:t>
                      </m:r>
                      <m:r>
                        <a:rPr kumimoji="0" lang="en-US" altLang="zh-CN" sz="2400" b="0" i="1" u="none" strike="noStrike" kern="0" cap="none" spc="0" normalizeH="0" baseline="0" noProof="0" dirty="0">
                          <a:ln>
                            <a:noFill/>
                          </a:ln>
                          <a:solidFill>
                            <a:prstClr val="black"/>
                          </a:solidFill>
                          <a:effectLst/>
                          <a:uLnTx/>
                          <a:uFillTx/>
                          <a:latin typeface="Cambria Math" panose="02040503050406030204" pitchFamily="18" charset="0"/>
                          <a:ea typeface="宋体" panose="02010600030101010101" pitchFamily="2" charset="-122"/>
                        </a:rPr>
                        <m:t>𝑝</m:t>
                      </m:r>
                      <m:r>
                        <a:rPr kumimoji="0" lang="en-US" altLang="zh-CN" sz="2400" b="0" i="1" u="none" strike="noStrike" kern="0" cap="none" spc="0" normalizeH="0" baseline="30000" noProof="0" dirty="0">
                          <a:ln>
                            <a:noFill/>
                          </a:ln>
                          <a:solidFill>
                            <a:prstClr val="black"/>
                          </a:solidFill>
                          <a:effectLst/>
                          <a:uLnTx/>
                          <a:uFillTx/>
                          <a:latin typeface="Cambria Math" panose="02040503050406030204" pitchFamily="18" charset="0"/>
                          <a:ea typeface="宋体" panose="02010600030101010101" pitchFamily="2" charset="-122"/>
                        </a:rPr>
                        <m:t>2</m:t>
                      </m:r>
                      <m:r>
                        <a:rPr kumimoji="0" lang="en-US" altLang="zh-CN" sz="2400" b="0" i="1" u="none" strike="noStrike" kern="0" cap="none" spc="0" normalizeH="0" baseline="0" noProof="0" dirty="0">
                          <a:ln>
                            <a:noFill/>
                          </a:ln>
                          <a:solidFill>
                            <a:prstClr val="black"/>
                          </a:solidFill>
                          <a:effectLst/>
                          <a:uLnTx/>
                          <a:uFillTx/>
                          <a:latin typeface="Cambria Math" panose="02040503050406030204" pitchFamily="18" charset="0"/>
                          <a:ea typeface="宋体" panose="02010600030101010101" pitchFamily="2" charset="-122"/>
                        </a:rPr>
                        <m:t>)</m:t>
                      </m:r>
                      <m:r>
                        <a:rPr kumimoji="0" lang="en-US" altLang="zh-CN" sz="2400" b="0" i="1" u="none" strike="noStrike" kern="0" cap="none" spc="0" normalizeH="0" baseline="30000" noProof="0" dirty="0">
                          <a:ln>
                            <a:noFill/>
                          </a:ln>
                          <a:solidFill>
                            <a:prstClr val="black"/>
                          </a:solidFill>
                          <a:effectLst/>
                          <a:uLnTx/>
                          <a:uFillTx/>
                          <a:latin typeface="Cambria Math" panose="02040503050406030204" pitchFamily="18" charset="0"/>
                          <a:ea typeface="宋体" panose="02010600030101010101" pitchFamily="2" charset="-122"/>
                        </a:rPr>
                        <m:t>𝑅</m:t>
                      </m:r>
                    </m:oMath>
                  </m:oMathPara>
                </a14:m>
                <a:endParaRPr kumimoji="0"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endParaRPr>
              </a:p>
              <a:p>
                <a:pPr marL="342900" marR="0" lvl="0" indent="-342900" algn="l"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在</a:t>
                </a:r>
                <a:r>
                  <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RON</a:t>
                </a: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的測試環境中</a:t>
                </a:r>
                <a:r>
                  <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 </a:t>
                </a:r>
              </a:p>
              <a:p>
                <a:pPr marL="684000" marR="0" lvl="2" indent="-342900" algn="l" defTabSz="914400" rtl="0" eaLnBrk="1" fontAlgn="auto" latinLnBrk="0" hangingPunct="1">
                  <a:lnSpc>
                    <a:spcPts val="3600"/>
                  </a:lnSpc>
                  <a:spcBef>
                    <a:spcPts val="0"/>
                  </a:spcBef>
                  <a:spcAft>
                    <a:spcPts val="0"/>
                  </a:spcAft>
                  <a:buClr>
                    <a:srgbClr val="000000"/>
                  </a:buClr>
                  <a:buSzPct val="100000"/>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P(</a:t>
                </a: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兩個主機間能正常通信</a:t>
                </a:r>
                <a:r>
                  <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a:t>
                </a: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 </a:t>
                </a:r>
                <a:r>
                  <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a:t>
                </a: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 </a:t>
                </a:r>
                <a:r>
                  <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48.8%</a:t>
                </a:r>
              </a:p>
              <a:p>
                <a:pPr marL="684000" marR="0" lvl="2" indent="-342900" algn="l" defTabSz="914400" rtl="0" eaLnBrk="1" fontAlgn="auto" latinLnBrk="0" hangingPunct="1">
                  <a:lnSpc>
                    <a:spcPts val="3600"/>
                  </a:lnSpc>
                  <a:spcBef>
                    <a:spcPts val="0"/>
                  </a:spcBef>
                  <a:spcAft>
                    <a:spcPts val="0"/>
                  </a:spcAft>
                  <a:buClr>
                    <a:srgbClr val="000000"/>
                  </a:buClr>
                  <a:buSzPct val="100000"/>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P(</a:t>
                </a: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兩個主機能通過一跳路由間接通信</a:t>
                </a:r>
                <a:r>
                  <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 = 51%</a:t>
                </a:r>
              </a:p>
              <a:p>
                <a:pPr marL="684000" marR="0" lvl="2" indent="-342900" algn="l" defTabSz="914400" rtl="0" eaLnBrk="1" fontAlgn="auto" latinLnBrk="0" hangingPunct="1">
                  <a:lnSpc>
                    <a:spcPts val="3600"/>
                  </a:lnSpc>
                  <a:spcBef>
                    <a:spcPts val="0"/>
                  </a:spcBef>
                  <a:spcAft>
                    <a:spcPts val="0"/>
                  </a:spcAft>
                  <a:buClr>
                    <a:srgbClr val="000000"/>
                  </a:buClr>
                  <a:buSzPct val="100000"/>
                  <a:buFont typeface="Arial" panose="020B0604020202020204" pitchFamily="34" charset="0"/>
                  <a:buChar char="•"/>
                  <a:tabLst/>
                  <a:defRPr/>
                </a:pP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無法找到正確路徑的概率只有 </a:t>
                </a:r>
                <a:r>
                  <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0.2%</a:t>
                </a:r>
              </a:p>
            </p:txBody>
          </p:sp>
        </mc:Choice>
        <mc:Fallback>
          <p:sp>
            <p:nvSpPr>
              <p:cNvPr id="42" name="Text Box 20">
                <a:extLst>
                  <a:ext uri="{FF2B5EF4-FFF2-40B4-BE49-F238E27FC236}">
                    <a16:creationId xmlns:a16="http://schemas.microsoft.com/office/drawing/2014/main" id="{7226AC1A-C585-9149-BE87-D6CAD00CE9FC}"/>
                  </a:ext>
                </a:extLst>
              </p:cNvPr>
              <p:cNvSpPr txBox="1">
                <a:spLocks noRot="1" noChangeAspect="1" noMove="1" noResize="1" noEditPoints="1" noAdjustHandles="1" noChangeArrowheads="1" noChangeShapeType="1" noTextEdit="1"/>
              </p:cNvSpPr>
              <p:nvPr/>
            </p:nvSpPr>
            <p:spPr bwMode="auto">
              <a:xfrm>
                <a:off x="527787" y="1347716"/>
                <a:ext cx="5935474" cy="4722182"/>
              </a:xfrm>
              <a:prstGeom prst="rect">
                <a:avLst/>
              </a:prstGeom>
              <a:blipFill>
                <a:blip r:embed="rId2"/>
                <a:stretch>
                  <a:fillRect l="-1333" r="-1231" b="-1802"/>
                </a:stretch>
              </a:blipFill>
              <a:ln w="9525">
                <a:solidFill>
                  <a:srgbClr val="00B0F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fr-FR">
                    <a:noFill/>
                  </a:rPr>
                  <a:t> </a:t>
                </a:r>
              </a:p>
            </p:txBody>
          </p:sp>
        </mc:Fallback>
      </mc:AlternateContent>
      <p:sp>
        <p:nvSpPr>
          <p:cNvPr id="27" name="灯片编号占位符 2">
            <a:extLst>
              <a:ext uri="{FF2B5EF4-FFF2-40B4-BE49-F238E27FC236}">
                <a16:creationId xmlns:a16="http://schemas.microsoft.com/office/drawing/2014/main" id="{2644E93A-29D9-844E-A798-4C4DDD58CE9C}"/>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33</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9850359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部署與測試</a:t>
            </a:r>
          </a:p>
        </p:txBody>
      </p:sp>
      <p:sp>
        <p:nvSpPr>
          <p:cNvPr id="26" name="Rectangle 3">
            <a:extLst>
              <a:ext uri="{FF2B5EF4-FFF2-40B4-BE49-F238E27FC236}">
                <a16:creationId xmlns:a16="http://schemas.microsoft.com/office/drawing/2014/main" id="{B31A7CFD-A37D-FF4F-992D-AA4FD65E2C59}"/>
              </a:ext>
            </a:extLst>
          </p:cNvPr>
          <p:cNvSpPr txBox="1">
            <a:spLocks noChangeArrowheads="1"/>
          </p:cNvSpPr>
          <p:nvPr/>
        </p:nvSpPr>
        <p:spPr>
          <a:xfrm>
            <a:off x="587729" y="1116456"/>
            <a:ext cx="4441472" cy="5449378"/>
          </a:xfrm>
          <a:prstGeom prst="rect">
            <a:avLst/>
          </a:prstGeom>
          <a:ln>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3600"/>
              </a:lnSpc>
              <a:spcBef>
                <a:spcPct val="20000"/>
              </a:spcBef>
              <a:buClr>
                <a:schemeClr val="tx1"/>
              </a:buClr>
              <a:buSzPct val="100000"/>
            </a:pPr>
            <a:r>
              <a:rPr lang="zh-CN" altLang="en-US" sz="2200" dirty="0">
                <a:latin typeface="Microsoft YaHei" panose="020B0503020204020204" pitchFamily="34" charset="-122"/>
                <a:ea typeface="Microsoft YaHei" panose="020B0503020204020204" pitchFamily="34" charset="-122"/>
              </a:rPr>
              <a:t>作者對有</a:t>
            </a:r>
            <a:r>
              <a:rPr lang="en-US" altLang="zh-CN" sz="2200" dirty="0">
                <a:latin typeface="Microsoft YaHei" panose="020B0503020204020204" pitchFamily="34" charset="-122"/>
                <a:ea typeface="Microsoft YaHei" panose="020B0503020204020204" pitchFamily="34" charset="-122"/>
              </a:rPr>
              <a:t>12</a:t>
            </a:r>
            <a:r>
              <a:rPr lang="zh-CN" altLang="en-US" sz="2200" dirty="0">
                <a:latin typeface="Microsoft YaHei" panose="020B0503020204020204" pitchFamily="34" charset="-122"/>
                <a:ea typeface="Microsoft YaHei" panose="020B0503020204020204" pitchFamily="34" charset="-122"/>
              </a:rPr>
              <a:t>個節點和</a:t>
            </a:r>
            <a:r>
              <a:rPr lang="en-US" altLang="zh-CN" sz="2200" dirty="0">
                <a:latin typeface="Microsoft YaHei" panose="020B0503020204020204" pitchFamily="34" charset="-122"/>
                <a:ea typeface="Microsoft YaHei" panose="020B0503020204020204" pitchFamily="34" charset="-122"/>
              </a:rPr>
              <a:t>132</a:t>
            </a:r>
            <a:r>
              <a:rPr lang="zh-CN" altLang="en-US" sz="2200" dirty="0">
                <a:latin typeface="Microsoft YaHei" panose="020B0503020204020204" pitchFamily="34" charset="-122"/>
                <a:ea typeface="Microsoft YaHei" panose="020B0503020204020204" pitchFamily="34" charset="-122"/>
              </a:rPr>
              <a:t>條路徑的</a:t>
            </a:r>
            <a:r>
              <a:rPr lang="en-US" altLang="zh-CN" sz="2200" dirty="0">
                <a:latin typeface="Microsoft YaHei" panose="020B0503020204020204" pitchFamily="34" charset="-122"/>
                <a:ea typeface="Microsoft YaHei" panose="020B0503020204020204" pitchFamily="34" charset="-122"/>
              </a:rPr>
              <a:t>RON</a:t>
            </a:r>
            <a:r>
              <a:rPr lang="zh-CN" altLang="en-US" sz="2200" dirty="0">
                <a:latin typeface="Microsoft YaHei" panose="020B0503020204020204" pitchFamily="34" charset="-122"/>
                <a:ea typeface="Microsoft YaHei" panose="020B0503020204020204" pitchFamily="34" charset="-122"/>
              </a:rPr>
              <a:t>進行了</a:t>
            </a:r>
            <a:r>
              <a:rPr lang="en-US" altLang="zh-CN" sz="2200" dirty="0">
                <a:latin typeface="Microsoft YaHei" panose="020B0503020204020204" pitchFamily="34" charset="-122"/>
                <a:ea typeface="Microsoft YaHei" panose="020B0503020204020204" pitchFamily="34" charset="-122"/>
              </a:rPr>
              <a:t>64</a:t>
            </a:r>
            <a:r>
              <a:rPr lang="zh-CN" altLang="en-US" sz="2200" dirty="0">
                <a:latin typeface="Microsoft YaHei" panose="020B0503020204020204" pitchFamily="34" charset="-122"/>
                <a:ea typeface="Microsoft YaHei" panose="020B0503020204020204" pitchFamily="34" charset="-122"/>
              </a:rPr>
              <a:t>個小時的實際運行測試</a:t>
            </a:r>
          </a:p>
          <a:p>
            <a:pPr algn="just">
              <a:lnSpc>
                <a:spcPts val="3600"/>
              </a:lnSpc>
              <a:spcBef>
                <a:spcPct val="20000"/>
              </a:spcBef>
              <a:buClr>
                <a:schemeClr val="tx1"/>
              </a:buClr>
              <a:buSzPct val="100000"/>
            </a:pPr>
            <a:r>
              <a:rPr lang="zh-CN" altLang="en-US" sz="2200" dirty="0">
                <a:latin typeface="Microsoft YaHei" panose="020B0503020204020204" pitchFamily="34" charset="-122"/>
                <a:ea typeface="Microsoft YaHei" panose="020B0503020204020204" pitchFamily="34" charset="-122"/>
              </a:rPr>
              <a:t>測試過程中經歷了</a:t>
            </a:r>
            <a:r>
              <a:rPr lang="en-US" altLang="zh-CN" sz="2200" dirty="0">
                <a:latin typeface="Microsoft YaHei" panose="020B0503020204020204" pitchFamily="34" charset="-122"/>
                <a:ea typeface="Microsoft YaHei" panose="020B0503020204020204" pitchFamily="34" charset="-122"/>
              </a:rPr>
              <a:t>32</a:t>
            </a:r>
            <a:r>
              <a:rPr lang="zh-CN" altLang="en-US" sz="2200" dirty="0">
                <a:latin typeface="Microsoft YaHei" panose="020B0503020204020204" pitchFamily="34" charset="-122"/>
                <a:ea typeface="Microsoft YaHei" panose="020B0503020204020204" pitchFamily="34" charset="-122"/>
              </a:rPr>
              <a:t>次嚴重的路徑失效，平均每次的持續時間超過</a:t>
            </a:r>
            <a:r>
              <a:rPr lang="en-US" altLang="zh-CN" sz="2200" dirty="0">
                <a:latin typeface="Microsoft YaHei" panose="020B0503020204020204" pitchFamily="34" charset="-122"/>
                <a:ea typeface="Microsoft YaHei" panose="020B0503020204020204" pitchFamily="34" charset="-122"/>
              </a:rPr>
              <a:t>30</a:t>
            </a:r>
            <a:r>
              <a:rPr lang="zh-CN" altLang="en-US" sz="2200" dirty="0">
                <a:latin typeface="Microsoft YaHei" panose="020B0503020204020204" pitchFamily="34" charset="-122"/>
                <a:ea typeface="Microsoft YaHei" panose="020B0503020204020204" pitchFamily="34" charset="-122"/>
              </a:rPr>
              <a:t>分鐘</a:t>
            </a:r>
          </a:p>
          <a:p>
            <a:pPr algn="just">
              <a:lnSpc>
                <a:spcPts val="3600"/>
              </a:lnSpc>
              <a:spcBef>
                <a:spcPct val="20000"/>
              </a:spcBef>
              <a:buClr>
                <a:schemeClr val="tx1"/>
              </a:buClr>
              <a:buSzPct val="100000"/>
            </a:pPr>
            <a:r>
              <a:rPr lang="en-US" altLang="zh-CN" sz="2200" dirty="0">
                <a:latin typeface="Microsoft YaHei" panose="020B0503020204020204" pitchFamily="34" charset="-122"/>
                <a:ea typeface="Microsoft YaHei" panose="020B0503020204020204" pitchFamily="34" charset="-122"/>
              </a:rPr>
              <a:t>RON</a:t>
            </a:r>
            <a:r>
              <a:rPr lang="zh-CN" altLang="en-US" sz="2200" dirty="0">
                <a:latin typeface="Microsoft YaHei" panose="020B0503020204020204" pitchFamily="34" charset="-122"/>
                <a:ea typeface="Microsoft YaHei" panose="020B0503020204020204" pitchFamily="34" charset="-122"/>
              </a:rPr>
              <a:t>用平均不到</a:t>
            </a:r>
            <a:r>
              <a:rPr lang="en-US" altLang="zh-CN" sz="2200" dirty="0">
                <a:latin typeface="Microsoft YaHei" panose="020B0503020204020204" pitchFamily="34" charset="-122"/>
                <a:ea typeface="Microsoft YaHei" panose="020B0503020204020204" pitchFamily="34" charset="-122"/>
              </a:rPr>
              <a:t>20</a:t>
            </a:r>
            <a:r>
              <a:rPr lang="zh-CN" altLang="en-US" sz="2200" dirty="0">
                <a:latin typeface="Microsoft YaHei" panose="020B0503020204020204" pitchFamily="34" charset="-122"/>
                <a:ea typeface="Microsoft YaHei" panose="020B0503020204020204" pitchFamily="34" charset="-122"/>
              </a:rPr>
              <a:t>秒的時間就可以檢測出這些失效情况幷從中恢復</a:t>
            </a:r>
          </a:p>
          <a:p>
            <a:pPr algn="just">
              <a:lnSpc>
                <a:spcPts val="3600"/>
              </a:lnSpc>
              <a:spcBef>
                <a:spcPct val="20000"/>
              </a:spcBef>
              <a:buClr>
                <a:schemeClr val="tx1"/>
              </a:buClr>
              <a:buSzPct val="100000"/>
            </a:pPr>
            <a:r>
              <a:rPr lang="en-US" altLang="zh-CN" sz="2200" dirty="0">
                <a:latin typeface="Microsoft YaHei" panose="020B0503020204020204" pitchFamily="34" charset="-122"/>
                <a:ea typeface="Microsoft YaHei" panose="020B0503020204020204" pitchFamily="34" charset="-122"/>
              </a:rPr>
              <a:t>RON</a:t>
            </a:r>
            <a:r>
              <a:rPr lang="zh-CN" altLang="en-US" sz="2200" dirty="0">
                <a:latin typeface="Microsoft YaHei" panose="020B0503020204020204" pitchFamily="34" charset="-122"/>
                <a:ea typeface="Microsoft YaHei" panose="020B0503020204020204" pitchFamily="34" charset="-122"/>
              </a:rPr>
              <a:t>還改善了應用的丟失率，延遲和吞吐率等性能指標</a:t>
            </a:r>
          </a:p>
        </p:txBody>
      </p:sp>
      <p:pic>
        <p:nvPicPr>
          <p:cNvPr id="27" name="图片 26">
            <a:extLst>
              <a:ext uri="{FF2B5EF4-FFF2-40B4-BE49-F238E27FC236}">
                <a16:creationId xmlns:a16="http://schemas.microsoft.com/office/drawing/2014/main" id="{10C15967-38BB-2648-97BA-FFB9422347F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47507" y="1198240"/>
            <a:ext cx="6281429" cy="5163991"/>
          </a:xfrm>
          <a:prstGeom prst="rect">
            <a:avLst/>
          </a:prstGeom>
        </p:spPr>
      </p:pic>
      <p:sp>
        <p:nvSpPr>
          <p:cNvPr id="5" name="灯片编号占位符 2">
            <a:extLst>
              <a:ext uri="{FF2B5EF4-FFF2-40B4-BE49-F238E27FC236}">
                <a16:creationId xmlns:a16="http://schemas.microsoft.com/office/drawing/2014/main" id="{A432AF9A-E2A6-FA4E-AD9A-C934BA58C98F}"/>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34</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8859868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lang="en-US" altLang="zh-CN" dirty="0"/>
              <a:t>P2P vs C/S</a:t>
            </a:r>
            <a:endParaRPr kumimoji="1" lang="zh-CN" altLang="en-US" dirty="0"/>
          </a:p>
        </p:txBody>
      </p:sp>
      <p:sp>
        <p:nvSpPr>
          <p:cNvPr id="7" name="矩形 6">
            <a:extLst>
              <a:ext uri="{FF2B5EF4-FFF2-40B4-BE49-F238E27FC236}">
                <a16:creationId xmlns:a16="http://schemas.microsoft.com/office/drawing/2014/main" id="{2E23121C-48FD-2B4C-9670-F278C7D79D21}"/>
              </a:ext>
            </a:extLst>
          </p:cNvPr>
          <p:cNvSpPr/>
          <p:nvPr/>
        </p:nvSpPr>
        <p:spPr>
          <a:xfrm>
            <a:off x="1002003" y="1116563"/>
            <a:ext cx="10371263" cy="973472"/>
          </a:xfrm>
          <a:prstGeom prst="rect">
            <a:avLst/>
          </a:prstGeom>
        </p:spPr>
        <p:txBody>
          <a:bodyPr wrap="square">
            <a:spAutoFit/>
          </a:bodyPr>
          <a:lstStyle/>
          <a:p>
            <a:pPr>
              <a:lnSpc>
                <a:spcPts val="3600"/>
              </a:lnSpc>
            </a:pPr>
            <a:r>
              <a:rPr lang="en-US" altLang="zh-CN" sz="2400" b="1" dirty="0">
                <a:solidFill>
                  <a:srgbClr val="C00000"/>
                </a:solidFill>
                <a:latin typeface="Microsoft YaHei" panose="020B0503020204020204" pitchFamily="34" charset="-122"/>
                <a:ea typeface="Microsoft YaHei" panose="020B0503020204020204" pitchFamily="34" charset="-122"/>
              </a:rPr>
              <a:t>P2P (Peer-to-Peer)</a:t>
            </a:r>
            <a:r>
              <a:rPr lang="zh-CN" altLang="zh-CN" sz="24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又稱對等網絡技術，</a:t>
            </a:r>
            <a:r>
              <a:rPr lang="zh-CN" altLang="en-US" sz="24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也</a:t>
            </a:r>
            <a:r>
              <a:rPr lang="zh-CN" altLang="zh-CN" sz="24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是</a:t>
            </a:r>
            <a:r>
              <a:rPr lang="zh-CN" altLang="en-US" sz="24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建立在</a:t>
            </a:r>
            <a:r>
              <a:rPr lang="en-US" altLang="zh-CN" sz="24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Internet</a:t>
            </a:r>
            <a:r>
              <a:rPr lang="zh-CN" altLang="en-US" sz="24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之上的分布式</a:t>
            </a:r>
            <a:r>
              <a:rPr lang="en-US" altLang="zh-CN" sz="24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Overlay</a:t>
            </a:r>
            <a:r>
              <a:rPr lang="zh-CN" altLang="en-US" sz="24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網絡</a:t>
            </a:r>
            <a:r>
              <a:rPr lang="zh-CN" altLang="zh-CN" sz="24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，能够不依賴中心節點而</a:t>
            </a:r>
            <a:r>
              <a:rPr lang="zh-CN" altLang="en-US" sz="24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只依靠</a:t>
            </a:r>
            <a:r>
              <a:rPr lang="zh-CN" altLang="zh-CN" sz="24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對等協作</a:t>
            </a:r>
            <a:r>
              <a:rPr lang="zh-CN" altLang="en-US" sz="24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實現</a:t>
            </a:r>
            <a:r>
              <a:rPr lang="zh-CN" altLang="zh-CN" sz="24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資源發現與共享</a:t>
            </a:r>
            <a:endParaRPr lang="zh-CN" altLang="en-US" sz="2400" b="1" dirty="0">
              <a:solidFill>
                <a:srgbClr val="C00000"/>
              </a:solidFill>
              <a:latin typeface="Microsoft YaHei" panose="020B0503020204020204" pitchFamily="34" charset="-122"/>
              <a:ea typeface="Microsoft YaHei" panose="020B0503020204020204" pitchFamily="34" charset="-122"/>
            </a:endParaRPr>
          </a:p>
        </p:txBody>
      </p:sp>
      <p:sp>
        <p:nvSpPr>
          <p:cNvPr id="11" name="椭圆 54">
            <a:extLst>
              <a:ext uri="{FF2B5EF4-FFF2-40B4-BE49-F238E27FC236}">
                <a16:creationId xmlns:a16="http://schemas.microsoft.com/office/drawing/2014/main" id="{53425A34-9F98-FF44-BA71-0408223E4266}"/>
              </a:ext>
            </a:extLst>
          </p:cNvPr>
          <p:cNvSpPr/>
          <p:nvPr/>
        </p:nvSpPr>
        <p:spPr>
          <a:xfrm>
            <a:off x="1203799" y="3596444"/>
            <a:ext cx="4636869" cy="2402897"/>
          </a:xfrm>
          <a:custGeom>
            <a:avLst/>
            <a:gdLst>
              <a:gd name="connsiteX0" fmla="*/ 0 w 3439659"/>
              <a:gd name="connsiteY0" fmla="*/ 1719830 h 3439659"/>
              <a:gd name="connsiteX1" fmla="*/ 1719830 w 3439659"/>
              <a:gd name="connsiteY1" fmla="*/ 0 h 3439659"/>
              <a:gd name="connsiteX2" fmla="*/ 3439660 w 3439659"/>
              <a:gd name="connsiteY2" fmla="*/ 1719830 h 3439659"/>
              <a:gd name="connsiteX3" fmla="*/ 1719830 w 3439659"/>
              <a:gd name="connsiteY3" fmla="*/ 3439660 h 3439659"/>
              <a:gd name="connsiteX4" fmla="*/ 0 w 3439659"/>
              <a:gd name="connsiteY4" fmla="*/ 1719830 h 3439659"/>
              <a:gd name="connsiteX0" fmla="*/ 0 w 3487467"/>
              <a:gd name="connsiteY0" fmla="*/ 0 h 1719830"/>
              <a:gd name="connsiteX1" fmla="*/ 3439660 w 3487467"/>
              <a:gd name="connsiteY1" fmla="*/ 0 h 1719830"/>
              <a:gd name="connsiteX2" fmla="*/ 1719830 w 3487467"/>
              <a:gd name="connsiteY2" fmla="*/ 1719830 h 1719830"/>
              <a:gd name="connsiteX3" fmla="*/ 0 w 3487467"/>
              <a:gd name="connsiteY3" fmla="*/ 0 h 1719830"/>
              <a:gd name="connsiteX0" fmla="*/ 6132 w 3493599"/>
              <a:gd name="connsiteY0" fmla="*/ 130018 h 1849848"/>
              <a:gd name="connsiteX1" fmla="*/ 3445792 w 3493599"/>
              <a:gd name="connsiteY1" fmla="*/ 130018 h 1849848"/>
              <a:gd name="connsiteX2" fmla="*/ 1725962 w 3493599"/>
              <a:gd name="connsiteY2" fmla="*/ 1849848 h 1849848"/>
              <a:gd name="connsiteX3" fmla="*/ 6132 w 3493599"/>
              <a:gd name="connsiteY3" fmla="*/ 130018 h 1849848"/>
              <a:gd name="connsiteX0" fmla="*/ 6132 w 3493599"/>
              <a:gd name="connsiteY0" fmla="*/ 35412 h 1755242"/>
              <a:gd name="connsiteX1" fmla="*/ 3445792 w 3493599"/>
              <a:gd name="connsiteY1" fmla="*/ 35412 h 1755242"/>
              <a:gd name="connsiteX2" fmla="*/ 1725962 w 3493599"/>
              <a:gd name="connsiteY2" fmla="*/ 1755242 h 1755242"/>
              <a:gd name="connsiteX3" fmla="*/ 6132 w 3493599"/>
              <a:gd name="connsiteY3" fmla="*/ 35412 h 1755242"/>
              <a:gd name="connsiteX0" fmla="*/ 4377 w 3488420"/>
              <a:gd name="connsiteY0" fmla="*/ 11795 h 1772900"/>
              <a:gd name="connsiteX1" fmla="*/ 3450912 w 3488420"/>
              <a:gd name="connsiteY1" fmla="*/ 53046 h 1772900"/>
              <a:gd name="connsiteX2" fmla="*/ 1731082 w 3488420"/>
              <a:gd name="connsiteY2" fmla="*/ 1772876 h 1772900"/>
              <a:gd name="connsiteX3" fmla="*/ 4377 w 3488420"/>
              <a:gd name="connsiteY3" fmla="*/ 11795 h 1772900"/>
              <a:gd name="connsiteX0" fmla="*/ 39013 w 3522446"/>
              <a:gd name="connsiteY0" fmla="*/ 134148 h 1909003"/>
              <a:gd name="connsiteX1" fmla="*/ 3485548 w 3522446"/>
              <a:gd name="connsiteY1" fmla="*/ 175399 h 1909003"/>
              <a:gd name="connsiteX2" fmla="*/ 1738217 w 3522446"/>
              <a:gd name="connsiteY2" fmla="*/ 1908979 h 1909003"/>
              <a:gd name="connsiteX3" fmla="*/ 39013 w 3522446"/>
              <a:gd name="connsiteY3" fmla="*/ 134148 h 1909003"/>
              <a:gd name="connsiteX0" fmla="*/ 55067 w 3553265"/>
              <a:gd name="connsiteY0" fmla="*/ 134148 h 1909002"/>
              <a:gd name="connsiteX1" fmla="*/ 3501602 w 3553265"/>
              <a:gd name="connsiteY1" fmla="*/ 175399 h 1909002"/>
              <a:gd name="connsiteX2" fmla="*/ 1754271 w 3553265"/>
              <a:gd name="connsiteY2" fmla="*/ 1908979 h 1909002"/>
              <a:gd name="connsiteX3" fmla="*/ 55067 w 3553265"/>
              <a:gd name="connsiteY3" fmla="*/ 134148 h 1909002"/>
              <a:gd name="connsiteX0" fmla="*/ 39426 w 3502160"/>
              <a:gd name="connsiteY0" fmla="*/ 134148 h 1909003"/>
              <a:gd name="connsiteX1" fmla="*/ 3465335 w 3502160"/>
              <a:gd name="connsiteY1" fmla="*/ 175399 h 1909003"/>
              <a:gd name="connsiteX2" fmla="*/ 1718004 w 3502160"/>
              <a:gd name="connsiteY2" fmla="*/ 1908979 h 1909003"/>
              <a:gd name="connsiteX3" fmla="*/ 39426 w 3502160"/>
              <a:gd name="connsiteY3" fmla="*/ 134148 h 1909003"/>
              <a:gd name="connsiteX0" fmla="*/ 8999 w 3471733"/>
              <a:gd name="connsiteY0" fmla="*/ 21578 h 1796433"/>
              <a:gd name="connsiteX1" fmla="*/ 3434908 w 3471733"/>
              <a:gd name="connsiteY1" fmla="*/ 62829 h 1796433"/>
              <a:gd name="connsiteX2" fmla="*/ 1687577 w 3471733"/>
              <a:gd name="connsiteY2" fmla="*/ 1796409 h 1796433"/>
              <a:gd name="connsiteX3" fmla="*/ 8999 w 3471733"/>
              <a:gd name="connsiteY3" fmla="*/ 21578 h 1796433"/>
              <a:gd name="connsiteX0" fmla="*/ 39425 w 3502159"/>
              <a:gd name="connsiteY0" fmla="*/ 135675 h 1931154"/>
              <a:gd name="connsiteX1" fmla="*/ 3465334 w 3502159"/>
              <a:gd name="connsiteY1" fmla="*/ 176926 h 1931154"/>
              <a:gd name="connsiteX2" fmla="*/ 1718003 w 3502159"/>
              <a:gd name="connsiteY2" fmla="*/ 1931131 h 1931154"/>
              <a:gd name="connsiteX3" fmla="*/ 39425 w 3502159"/>
              <a:gd name="connsiteY3" fmla="*/ 135675 h 1931154"/>
              <a:gd name="connsiteX0" fmla="*/ 7276 w 3470010"/>
              <a:gd name="connsiteY0" fmla="*/ 26065 h 1821544"/>
              <a:gd name="connsiteX1" fmla="*/ 3433185 w 3470010"/>
              <a:gd name="connsiteY1" fmla="*/ 67316 h 1821544"/>
              <a:gd name="connsiteX2" fmla="*/ 1685854 w 3470010"/>
              <a:gd name="connsiteY2" fmla="*/ 1821521 h 1821544"/>
              <a:gd name="connsiteX3" fmla="*/ 7276 w 3470010"/>
              <a:gd name="connsiteY3" fmla="*/ 26065 h 1821544"/>
              <a:gd name="connsiteX0" fmla="*/ 12669 w 3492943"/>
              <a:gd name="connsiteY0" fmla="*/ 26065 h 1822469"/>
              <a:gd name="connsiteX1" fmla="*/ 3438578 w 3492943"/>
              <a:gd name="connsiteY1" fmla="*/ 67316 h 1822469"/>
              <a:gd name="connsiteX2" fmla="*/ 1691247 w 3492943"/>
              <a:gd name="connsiteY2" fmla="*/ 1821521 h 1822469"/>
              <a:gd name="connsiteX3" fmla="*/ 12669 w 3492943"/>
              <a:gd name="connsiteY3" fmla="*/ 26065 h 1822469"/>
              <a:gd name="connsiteX0" fmla="*/ 48756 w 3529030"/>
              <a:gd name="connsiteY0" fmla="*/ 3139 h 1799516"/>
              <a:gd name="connsiteX1" fmla="*/ 3474665 w 3529030"/>
              <a:gd name="connsiteY1" fmla="*/ 44390 h 1799516"/>
              <a:gd name="connsiteX2" fmla="*/ 1727334 w 3529030"/>
              <a:gd name="connsiteY2" fmla="*/ 1798595 h 1799516"/>
              <a:gd name="connsiteX3" fmla="*/ 48756 w 3529030"/>
              <a:gd name="connsiteY3" fmla="*/ 3139 h 1799516"/>
              <a:gd name="connsiteX0" fmla="*/ 48756 w 3529030"/>
              <a:gd name="connsiteY0" fmla="*/ 5796 h 1802173"/>
              <a:gd name="connsiteX1" fmla="*/ 3474665 w 3529030"/>
              <a:gd name="connsiteY1" fmla="*/ 47047 h 1802173"/>
              <a:gd name="connsiteX2" fmla="*/ 1727334 w 3529030"/>
              <a:gd name="connsiteY2" fmla="*/ 1801252 h 1802173"/>
              <a:gd name="connsiteX3" fmla="*/ 48756 w 3529030"/>
              <a:gd name="connsiteY3" fmla="*/ 5796 h 1802173"/>
              <a:gd name="connsiteX0" fmla="*/ 48756 w 3477652"/>
              <a:gd name="connsiteY0" fmla="*/ 5796 h 1802173"/>
              <a:gd name="connsiteX1" fmla="*/ 3474665 w 3477652"/>
              <a:gd name="connsiteY1" fmla="*/ 47047 h 1802173"/>
              <a:gd name="connsiteX2" fmla="*/ 1727334 w 3477652"/>
              <a:gd name="connsiteY2" fmla="*/ 1801252 h 1802173"/>
              <a:gd name="connsiteX3" fmla="*/ 48756 w 3477652"/>
              <a:gd name="connsiteY3" fmla="*/ 5796 h 1802173"/>
            </a:gdLst>
            <a:ahLst/>
            <a:cxnLst>
              <a:cxn ang="0">
                <a:pos x="connsiteX0" y="connsiteY0"/>
              </a:cxn>
              <a:cxn ang="0">
                <a:pos x="connsiteX1" y="connsiteY1"/>
              </a:cxn>
              <a:cxn ang="0">
                <a:pos x="connsiteX2" y="connsiteY2"/>
              </a:cxn>
              <a:cxn ang="0">
                <a:pos x="connsiteX3" y="connsiteY3"/>
              </a:cxn>
            </a:cxnLst>
            <a:rect l="l" t="t" r="r" b="b"/>
            <a:pathLst>
              <a:path w="3477652" h="1802173">
                <a:moveTo>
                  <a:pt x="48756" y="5796"/>
                </a:moveTo>
                <a:cubicBezTo>
                  <a:pt x="305602" y="15937"/>
                  <a:pt x="3181151" y="-33335"/>
                  <a:pt x="3474665" y="47047"/>
                </a:cubicBezTo>
                <a:cubicBezTo>
                  <a:pt x="3527547" y="271809"/>
                  <a:pt x="2875835" y="1753126"/>
                  <a:pt x="1727334" y="1801252"/>
                </a:cubicBezTo>
                <a:cubicBezTo>
                  <a:pt x="578833" y="1849378"/>
                  <a:pt x="-208090" y="-4345"/>
                  <a:pt x="48756" y="5796"/>
                </a:cubicBezTo>
                <a:close/>
              </a:path>
            </a:pathLst>
          </a:cu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prstClr val="white"/>
              </a:solidFill>
              <a:latin typeface="微软雅黑" panose="020B0503020204020204" pitchFamily="34" charset="-122"/>
              <a:ea typeface="微软雅黑" panose="020B0503020204020204" pitchFamily="34" charset="-122"/>
            </a:endParaRPr>
          </a:p>
        </p:txBody>
      </p:sp>
      <p:cxnSp>
        <p:nvCxnSpPr>
          <p:cNvPr id="12" name="直接连接符 8">
            <a:extLst>
              <a:ext uri="{FF2B5EF4-FFF2-40B4-BE49-F238E27FC236}">
                <a16:creationId xmlns:a16="http://schemas.microsoft.com/office/drawing/2014/main" id="{BB1D555F-B70F-6B41-90D0-D04BE46BDD35}"/>
              </a:ext>
            </a:extLst>
          </p:cNvPr>
          <p:cNvCxnSpPr>
            <a:cxnSpLocks/>
          </p:cNvCxnSpPr>
          <p:nvPr/>
        </p:nvCxnSpPr>
        <p:spPr>
          <a:xfrm flipV="1">
            <a:off x="1494139" y="3591136"/>
            <a:ext cx="1998864" cy="14057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9">
            <a:extLst>
              <a:ext uri="{FF2B5EF4-FFF2-40B4-BE49-F238E27FC236}">
                <a16:creationId xmlns:a16="http://schemas.microsoft.com/office/drawing/2014/main" id="{3C69FD58-8123-5140-9C1E-3C7D9E393C2C}"/>
              </a:ext>
            </a:extLst>
          </p:cNvPr>
          <p:cNvCxnSpPr>
            <a:cxnSpLocks/>
          </p:cNvCxnSpPr>
          <p:nvPr/>
        </p:nvCxnSpPr>
        <p:spPr>
          <a:xfrm flipV="1">
            <a:off x="3465683" y="3591138"/>
            <a:ext cx="27320" cy="259000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0">
            <a:extLst>
              <a:ext uri="{FF2B5EF4-FFF2-40B4-BE49-F238E27FC236}">
                <a16:creationId xmlns:a16="http://schemas.microsoft.com/office/drawing/2014/main" id="{CD71ABA9-C282-3A4B-877B-DF426081A8BA}"/>
              </a:ext>
            </a:extLst>
          </p:cNvPr>
          <p:cNvCxnSpPr>
            <a:cxnSpLocks/>
          </p:cNvCxnSpPr>
          <p:nvPr/>
        </p:nvCxnSpPr>
        <p:spPr>
          <a:xfrm flipH="1" flipV="1">
            <a:off x="3493006" y="3591138"/>
            <a:ext cx="2135764" cy="157783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椭圆 14">
            <a:extLst>
              <a:ext uri="{FF2B5EF4-FFF2-40B4-BE49-F238E27FC236}">
                <a16:creationId xmlns:a16="http://schemas.microsoft.com/office/drawing/2014/main" id="{877E285E-5BE0-454B-A70F-421BEFA5849C}"/>
              </a:ext>
            </a:extLst>
          </p:cNvPr>
          <p:cNvSpPr/>
          <p:nvPr/>
        </p:nvSpPr>
        <p:spPr>
          <a:xfrm>
            <a:off x="853990" y="3165201"/>
            <a:ext cx="1022211" cy="880176"/>
          </a:xfrm>
          <a:prstGeom prst="ellipse">
            <a:avLst/>
          </a:prstGeom>
          <a:solidFill>
            <a:srgbClr val="0E80C9"/>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prstClr val="white"/>
                </a:solidFill>
                <a:latin typeface="微软雅黑" panose="020B0503020204020204" pitchFamily="34" charset="-122"/>
                <a:ea typeface="微软雅黑" panose="020B0503020204020204" pitchFamily="34" charset="-122"/>
              </a:rPr>
              <a:t>管理能力</a:t>
            </a:r>
          </a:p>
        </p:txBody>
      </p:sp>
      <p:grpSp>
        <p:nvGrpSpPr>
          <p:cNvPr id="16" name="组合 15">
            <a:extLst>
              <a:ext uri="{FF2B5EF4-FFF2-40B4-BE49-F238E27FC236}">
                <a16:creationId xmlns:a16="http://schemas.microsoft.com/office/drawing/2014/main" id="{9ACCB895-5F13-1F44-AEAC-E056EEB8507A}"/>
              </a:ext>
            </a:extLst>
          </p:cNvPr>
          <p:cNvGrpSpPr/>
          <p:nvPr/>
        </p:nvGrpSpPr>
        <p:grpSpPr>
          <a:xfrm>
            <a:off x="2558098" y="2656229"/>
            <a:ext cx="1869811" cy="1869811"/>
            <a:chOff x="3851771" y="1163107"/>
            <a:chExt cx="1402358" cy="1402358"/>
          </a:xfrm>
        </p:grpSpPr>
        <p:grpSp>
          <p:nvGrpSpPr>
            <p:cNvPr id="17" name="组合 16">
              <a:extLst>
                <a:ext uri="{FF2B5EF4-FFF2-40B4-BE49-F238E27FC236}">
                  <a16:creationId xmlns:a16="http://schemas.microsoft.com/office/drawing/2014/main" id="{F6AADAA8-A021-1240-87D3-6287362534B0}"/>
                </a:ext>
              </a:extLst>
            </p:cNvPr>
            <p:cNvGrpSpPr/>
            <p:nvPr/>
          </p:nvGrpSpPr>
          <p:grpSpPr>
            <a:xfrm>
              <a:off x="3851771" y="1163107"/>
              <a:ext cx="1402358" cy="1402358"/>
              <a:chOff x="304800" y="673100"/>
              <a:chExt cx="4000500" cy="4000500"/>
            </a:xfrm>
            <a:effectLst>
              <a:outerShdw blurRad="444500" dist="254000" dir="8100000" algn="tr" rotWithShape="0">
                <a:prstClr val="black">
                  <a:alpha val="50000"/>
                </a:prstClr>
              </a:outerShdw>
            </a:effectLst>
          </p:grpSpPr>
          <p:sp>
            <p:nvSpPr>
              <p:cNvPr id="19" name="同心圆 60">
                <a:extLst>
                  <a:ext uri="{FF2B5EF4-FFF2-40B4-BE49-F238E27FC236}">
                    <a16:creationId xmlns:a16="http://schemas.microsoft.com/office/drawing/2014/main" id="{7DC0D1C3-9F7C-914B-896D-18EBF207C960}"/>
                  </a:ext>
                </a:extLst>
              </p:cNvPr>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prstClr val="black"/>
                  </a:solidFill>
                  <a:latin typeface="微软雅黑" panose="020B0503020204020204" pitchFamily="34" charset="-122"/>
                  <a:ea typeface="微软雅黑" panose="020B0503020204020204" pitchFamily="34" charset="-122"/>
                </a:endParaRPr>
              </a:p>
            </p:txBody>
          </p:sp>
          <p:sp>
            <p:nvSpPr>
              <p:cNvPr id="20" name="椭圆 19">
                <a:extLst>
                  <a:ext uri="{FF2B5EF4-FFF2-40B4-BE49-F238E27FC236}">
                    <a16:creationId xmlns:a16="http://schemas.microsoft.com/office/drawing/2014/main" id="{B3906434-36DE-AA41-B9D2-99C54772919C}"/>
                  </a:ext>
                </a:extLst>
              </p:cNvPr>
              <p:cNvSpPr/>
              <p:nvPr/>
            </p:nvSpPr>
            <p:spPr>
              <a:xfrm>
                <a:off x="392112" y="760412"/>
                <a:ext cx="3825874" cy="3825874"/>
              </a:xfrm>
              <a:prstGeom prst="ellipse">
                <a:avLst/>
              </a:prstGeom>
              <a:solidFill>
                <a:srgbClr val="0E80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prstClr val="white"/>
                  </a:solidFill>
                  <a:latin typeface="微软雅黑" panose="020B0503020204020204" pitchFamily="34" charset="-122"/>
                  <a:ea typeface="微软雅黑" panose="020B0503020204020204" pitchFamily="34" charset="-122"/>
                </a:endParaRPr>
              </a:p>
            </p:txBody>
          </p:sp>
        </p:grpSp>
        <p:sp>
          <p:nvSpPr>
            <p:cNvPr id="18" name="TextBox 21">
              <a:extLst>
                <a:ext uri="{FF2B5EF4-FFF2-40B4-BE49-F238E27FC236}">
                  <a16:creationId xmlns:a16="http://schemas.microsoft.com/office/drawing/2014/main" id="{7F3BD08A-38A6-4242-AB40-A1962CE271F9}"/>
                </a:ext>
              </a:extLst>
            </p:cNvPr>
            <p:cNvSpPr txBox="1"/>
            <p:nvPr/>
          </p:nvSpPr>
          <p:spPr>
            <a:xfrm>
              <a:off x="4207131" y="1389534"/>
              <a:ext cx="650659" cy="992724"/>
            </a:xfrm>
            <a:prstGeom prst="rect">
              <a:avLst/>
            </a:prstGeom>
            <a:noFill/>
          </p:spPr>
          <p:txBody>
            <a:bodyPr wrap="none" rtlCol="0">
              <a:spAutoFit/>
            </a:bodyPr>
            <a:lstStyle/>
            <a:p>
              <a:pPr algn="ctr">
                <a:defRPr/>
              </a:pPr>
              <a:r>
                <a:rPr lang="zh-CN" altLang="en-US" sz="2667" b="1" dirty="0">
                  <a:solidFill>
                    <a:schemeClr val="bg1"/>
                  </a:solidFill>
                  <a:latin typeface="微软雅黑" panose="020B0503020204020204" pitchFamily="34" charset="-122"/>
                  <a:ea typeface="微软雅黑" panose="020B0503020204020204" pitchFamily="34" charset="-122"/>
                </a:rPr>
                <a:t>結構</a:t>
              </a:r>
              <a:endParaRPr lang="en-US" altLang="zh-CN" sz="2667" b="1" dirty="0">
                <a:solidFill>
                  <a:schemeClr val="bg1"/>
                </a:solidFill>
                <a:latin typeface="微软雅黑" panose="020B0503020204020204" pitchFamily="34" charset="-122"/>
                <a:ea typeface="微软雅黑" panose="020B0503020204020204" pitchFamily="34" charset="-122"/>
              </a:endParaRPr>
            </a:p>
            <a:p>
              <a:pPr algn="ctr">
                <a:defRPr/>
              </a:pPr>
              <a:r>
                <a:rPr lang="zh-CN" altLang="en-US" sz="2667" b="1" dirty="0">
                  <a:solidFill>
                    <a:schemeClr val="bg1"/>
                  </a:solidFill>
                  <a:latin typeface="微软雅黑" panose="020B0503020204020204" pitchFamily="34" charset="-122"/>
                  <a:ea typeface="微软雅黑" panose="020B0503020204020204" pitchFamily="34" charset="-122"/>
                </a:rPr>
                <a:t>構成</a:t>
              </a:r>
              <a:endParaRPr lang="en-US" altLang="zh-CN" sz="2667" b="1" dirty="0">
                <a:solidFill>
                  <a:schemeClr val="bg1"/>
                </a:solidFill>
                <a:latin typeface="微软雅黑" panose="020B0503020204020204" pitchFamily="34" charset="-122"/>
                <a:ea typeface="微软雅黑" panose="020B0503020204020204" pitchFamily="34" charset="-122"/>
              </a:endParaRPr>
            </a:p>
            <a:p>
              <a:pPr algn="ctr">
                <a:defRPr/>
              </a:pPr>
              <a:r>
                <a:rPr lang="zh-CN" altLang="en-US" sz="2667" b="1" dirty="0">
                  <a:solidFill>
                    <a:schemeClr val="accent2"/>
                  </a:solidFill>
                  <a:latin typeface="微软雅黑" panose="020B0503020204020204" pitchFamily="34" charset="-122"/>
                  <a:ea typeface="微软雅黑" panose="020B0503020204020204" pitchFamily="34" charset="-122"/>
                </a:rPr>
                <a:t>區別</a:t>
              </a:r>
            </a:p>
          </p:txBody>
        </p:sp>
      </p:grpSp>
      <p:sp>
        <p:nvSpPr>
          <p:cNvPr id="21" name="椭圆 20">
            <a:extLst>
              <a:ext uri="{FF2B5EF4-FFF2-40B4-BE49-F238E27FC236}">
                <a16:creationId xmlns:a16="http://schemas.microsoft.com/office/drawing/2014/main" id="{7442A833-9232-1043-87D6-0350916A5CA7}"/>
              </a:ext>
            </a:extLst>
          </p:cNvPr>
          <p:cNvSpPr/>
          <p:nvPr/>
        </p:nvSpPr>
        <p:spPr>
          <a:xfrm>
            <a:off x="1241697" y="4556838"/>
            <a:ext cx="1022211" cy="880176"/>
          </a:xfrm>
          <a:prstGeom prst="ellipse">
            <a:avLst/>
          </a:prstGeom>
          <a:solidFill>
            <a:srgbClr val="0E80C9"/>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prstClr val="white"/>
                </a:solidFill>
                <a:latin typeface="微软雅黑" panose="020B0503020204020204" pitchFamily="34" charset="-122"/>
                <a:ea typeface="微软雅黑" panose="020B0503020204020204" pitchFamily="34" charset="-122"/>
              </a:rPr>
              <a:t>構態能力</a:t>
            </a:r>
          </a:p>
        </p:txBody>
      </p:sp>
      <p:sp>
        <p:nvSpPr>
          <p:cNvPr id="22" name="椭圆 21">
            <a:extLst>
              <a:ext uri="{FF2B5EF4-FFF2-40B4-BE49-F238E27FC236}">
                <a16:creationId xmlns:a16="http://schemas.microsoft.com/office/drawing/2014/main" id="{CF14B6F2-DA02-744A-963B-C68A29BE51D2}"/>
              </a:ext>
            </a:extLst>
          </p:cNvPr>
          <p:cNvSpPr/>
          <p:nvPr/>
        </p:nvSpPr>
        <p:spPr>
          <a:xfrm>
            <a:off x="2941090" y="5404248"/>
            <a:ext cx="1022211" cy="880176"/>
          </a:xfrm>
          <a:prstGeom prst="ellipse">
            <a:avLst/>
          </a:prstGeom>
          <a:solidFill>
            <a:srgbClr val="0E80C9"/>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prstClr val="white"/>
                </a:solidFill>
                <a:latin typeface="微软雅黑" panose="020B0503020204020204" pitchFamily="34" charset="-122"/>
                <a:ea typeface="微软雅黑" panose="020B0503020204020204" pitchFamily="34" charset="-122"/>
              </a:rPr>
              <a:t>查找發現</a:t>
            </a:r>
          </a:p>
        </p:txBody>
      </p:sp>
      <p:sp>
        <p:nvSpPr>
          <p:cNvPr id="23" name="椭圆 22">
            <a:extLst>
              <a:ext uri="{FF2B5EF4-FFF2-40B4-BE49-F238E27FC236}">
                <a16:creationId xmlns:a16="http://schemas.microsoft.com/office/drawing/2014/main" id="{716BE99A-4DF8-6842-8DE8-F48F4D6DCF0A}"/>
              </a:ext>
            </a:extLst>
          </p:cNvPr>
          <p:cNvSpPr/>
          <p:nvPr/>
        </p:nvSpPr>
        <p:spPr>
          <a:xfrm>
            <a:off x="4904417" y="4556837"/>
            <a:ext cx="1022211" cy="880176"/>
          </a:xfrm>
          <a:prstGeom prst="ellipse">
            <a:avLst/>
          </a:prstGeom>
          <a:solidFill>
            <a:srgbClr val="0E80C9"/>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prstClr val="white"/>
                </a:solidFill>
                <a:latin typeface="微软雅黑" panose="020B0503020204020204" pitchFamily="34" charset="-122"/>
                <a:ea typeface="微软雅黑" panose="020B0503020204020204" pitchFamily="34" charset="-122"/>
              </a:rPr>
              <a:t>組織</a:t>
            </a:r>
          </a:p>
        </p:txBody>
      </p:sp>
      <p:sp>
        <p:nvSpPr>
          <p:cNvPr id="24" name="椭圆 23">
            <a:extLst>
              <a:ext uri="{FF2B5EF4-FFF2-40B4-BE49-F238E27FC236}">
                <a16:creationId xmlns:a16="http://schemas.microsoft.com/office/drawing/2014/main" id="{638B00D6-5E7B-4F49-8A80-C080F601E776}"/>
              </a:ext>
            </a:extLst>
          </p:cNvPr>
          <p:cNvSpPr/>
          <p:nvPr/>
        </p:nvSpPr>
        <p:spPr>
          <a:xfrm>
            <a:off x="5307019" y="3270634"/>
            <a:ext cx="1022211" cy="880176"/>
          </a:xfrm>
          <a:prstGeom prst="ellipse">
            <a:avLst/>
          </a:prstGeom>
          <a:solidFill>
            <a:srgbClr val="0E80C9"/>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prstClr val="white"/>
                </a:solidFill>
                <a:latin typeface="微软雅黑" panose="020B0503020204020204" pitchFamily="34" charset="-122"/>
                <a:ea typeface="微软雅黑" panose="020B0503020204020204" pitchFamily="34" charset="-122"/>
              </a:rPr>
              <a:t>元素協議</a:t>
            </a:r>
          </a:p>
        </p:txBody>
      </p:sp>
      <p:sp>
        <p:nvSpPr>
          <p:cNvPr id="25" name="矩形 24">
            <a:extLst>
              <a:ext uri="{FF2B5EF4-FFF2-40B4-BE49-F238E27FC236}">
                <a16:creationId xmlns:a16="http://schemas.microsoft.com/office/drawing/2014/main" id="{6E05AE2B-CEF4-4841-90ED-C9A5EFBD2799}"/>
              </a:ext>
            </a:extLst>
          </p:cNvPr>
          <p:cNvSpPr>
            <a:spLocks/>
          </p:cNvSpPr>
          <p:nvPr/>
        </p:nvSpPr>
        <p:spPr bwMode="auto">
          <a:xfrm>
            <a:off x="6904627" y="2552727"/>
            <a:ext cx="4679523" cy="3760088"/>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defRPr/>
            </a:pPr>
            <a:endParaRPr lang="en-US" sz="1600" kern="0" dirty="0">
              <a:solidFill>
                <a:srgbClr val="000000"/>
              </a:solidFill>
              <a:ea typeface="微软雅黑" panose="020B0503020204020204" pitchFamily="34" charset="-122"/>
              <a:sym typeface="Arial" panose="020B0604020202020204" pitchFamily="34" charset="0"/>
            </a:endParaRPr>
          </a:p>
        </p:txBody>
      </p:sp>
      <p:grpSp>
        <p:nvGrpSpPr>
          <p:cNvPr id="26" name="组合 25">
            <a:extLst>
              <a:ext uri="{FF2B5EF4-FFF2-40B4-BE49-F238E27FC236}">
                <a16:creationId xmlns:a16="http://schemas.microsoft.com/office/drawing/2014/main" id="{67661898-EFEC-F14F-9515-B25356837DCF}"/>
              </a:ext>
            </a:extLst>
          </p:cNvPr>
          <p:cNvGrpSpPr/>
          <p:nvPr/>
        </p:nvGrpSpPr>
        <p:grpSpPr>
          <a:xfrm>
            <a:off x="7077696" y="3656922"/>
            <a:ext cx="720000" cy="720000"/>
            <a:chOff x="7525930" y="4366857"/>
            <a:chExt cx="720000" cy="720000"/>
          </a:xfrm>
          <a:solidFill>
            <a:schemeClr val="bg1"/>
          </a:solidFill>
        </p:grpSpPr>
        <p:sp>
          <p:nvSpPr>
            <p:cNvPr id="27" name="椭圆 26">
              <a:extLst>
                <a:ext uri="{FF2B5EF4-FFF2-40B4-BE49-F238E27FC236}">
                  <a16:creationId xmlns:a16="http://schemas.microsoft.com/office/drawing/2014/main" id="{3B201F72-78F4-E544-8CF2-C1D2B43554CC}"/>
                </a:ext>
              </a:extLst>
            </p:cNvPr>
            <p:cNvSpPr>
              <a:spLocks noChangeAspect="1"/>
            </p:cNvSpPr>
            <p:nvPr/>
          </p:nvSpPr>
          <p:spPr>
            <a:xfrm>
              <a:off x="7525930" y="4366857"/>
              <a:ext cx="720000" cy="720000"/>
            </a:xfrm>
            <a:prstGeom prst="ellipse">
              <a:avLst/>
            </a:prstGeom>
            <a:grpFill/>
            <a:ln w="25400">
              <a:solidFill>
                <a:srgbClr val="0E80C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Freeform 36">
              <a:extLst>
                <a:ext uri="{FF2B5EF4-FFF2-40B4-BE49-F238E27FC236}">
                  <a16:creationId xmlns:a16="http://schemas.microsoft.com/office/drawing/2014/main" id="{D132840E-2E00-D343-BC5C-00687D49DB13}"/>
                </a:ext>
              </a:extLst>
            </p:cNvPr>
            <p:cNvSpPr>
              <a:spLocks noEditPoints="1"/>
            </p:cNvSpPr>
            <p:nvPr/>
          </p:nvSpPr>
          <p:spPr bwMode="auto">
            <a:xfrm>
              <a:off x="7721624" y="4583895"/>
              <a:ext cx="328612" cy="285924"/>
            </a:xfrm>
            <a:custGeom>
              <a:avLst/>
              <a:gdLst>
                <a:gd name="T0" fmla="*/ 2227 w 3277"/>
                <a:gd name="T1" fmla="*/ 754 h 2854"/>
                <a:gd name="T2" fmla="*/ 1177 w 3277"/>
                <a:gd name="T3" fmla="*/ 1804 h 2854"/>
                <a:gd name="T4" fmla="*/ 2227 w 3277"/>
                <a:gd name="T5" fmla="*/ 2854 h 2854"/>
                <a:gd name="T6" fmla="*/ 3277 w 3277"/>
                <a:gd name="T7" fmla="*/ 1804 h 2854"/>
                <a:gd name="T8" fmla="*/ 2227 w 3277"/>
                <a:gd name="T9" fmla="*/ 754 h 2854"/>
                <a:gd name="T10" fmla="*/ 2227 w 3277"/>
                <a:gd name="T11" fmla="*/ 2602 h 2854"/>
                <a:gd name="T12" fmla="*/ 1429 w 3277"/>
                <a:gd name="T13" fmla="*/ 1804 h 2854"/>
                <a:gd name="T14" fmla="*/ 2227 w 3277"/>
                <a:gd name="T15" fmla="*/ 1006 h 2854"/>
                <a:gd name="T16" fmla="*/ 3025 w 3277"/>
                <a:gd name="T17" fmla="*/ 1804 h 2854"/>
                <a:gd name="T18" fmla="*/ 2227 w 3277"/>
                <a:gd name="T19" fmla="*/ 2602 h 2854"/>
                <a:gd name="T20" fmla="*/ 126 w 3277"/>
                <a:gd name="T21" fmla="*/ 2268 h 2854"/>
                <a:gd name="T22" fmla="*/ 0 w 3277"/>
                <a:gd name="T23" fmla="*/ 2394 h 2854"/>
                <a:gd name="T24" fmla="*/ 126 w 3277"/>
                <a:gd name="T25" fmla="*/ 2520 h 2854"/>
                <a:gd name="T26" fmla="*/ 1100 w 3277"/>
                <a:gd name="T27" fmla="*/ 2520 h 2854"/>
                <a:gd name="T28" fmla="*/ 975 w 3277"/>
                <a:gd name="T29" fmla="*/ 2268 h 2854"/>
                <a:gd name="T30" fmla="*/ 126 w 3277"/>
                <a:gd name="T31" fmla="*/ 2268 h 2854"/>
                <a:gd name="T32" fmla="*/ 126 w 3277"/>
                <a:gd name="T33" fmla="*/ 2268 h 2854"/>
                <a:gd name="T34" fmla="*/ 126 w 3277"/>
                <a:gd name="T35" fmla="*/ 252 h 2854"/>
                <a:gd name="T36" fmla="*/ 2817 w 3277"/>
                <a:gd name="T37" fmla="*/ 252 h 2854"/>
                <a:gd name="T38" fmla="*/ 2943 w 3277"/>
                <a:gd name="T39" fmla="*/ 126 h 2854"/>
                <a:gd name="T40" fmla="*/ 2817 w 3277"/>
                <a:gd name="T41" fmla="*/ 0 h 2854"/>
                <a:gd name="T42" fmla="*/ 126 w 3277"/>
                <a:gd name="T43" fmla="*/ 0 h 2854"/>
                <a:gd name="T44" fmla="*/ 0 w 3277"/>
                <a:gd name="T45" fmla="*/ 126 h 2854"/>
                <a:gd name="T46" fmla="*/ 126 w 3277"/>
                <a:gd name="T47" fmla="*/ 252 h 2854"/>
                <a:gd name="T48" fmla="*/ 126 w 3277"/>
                <a:gd name="T49" fmla="*/ 1764 h 2854"/>
                <a:gd name="T50" fmla="*/ 893 w 3277"/>
                <a:gd name="T51" fmla="*/ 1764 h 2854"/>
                <a:gd name="T52" fmla="*/ 924 w 3277"/>
                <a:gd name="T53" fmla="*/ 1512 h 2854"/>
                <a:gd name="T54" fmla="*/ 126 w 3277"/>
                <a:gd name="T55" fmla="*/ 1512 h 2854"/>
                <a:gd name="T56" fmla="*/ 0 w 3277"/>
                <a:gd name="T57" fmla="*/ 1638 h 2854"/>
                <a:gd name="T58" fmla="*/ 126 w 3277"/>
                <a:gd name="T59" fmla="*/ 1764 h 2854"/>
                <a:gd name="T60" fmla="*/ 1399 w 3277"/>
                <a:gd name="T61" fmla="*/ 756 h 2854"/>
                <a:gd name="T62" fmla="*/ 126 w 3277"/>
                <a:gd name="T63" fmla="*/ 756 h 2854"/>
                <a:gd name="T64" fmla="*/ 0 w 3277"/>
                <a:gd name="T65" fmla="*/ 882 h 2854"/>
                <a:gd name="T66" fmla="*/ 126 w 3277"/>
                <a:gd name="T67" fmla="*/ 1008 h 2854"/>
                <a:gd name="T68" fmla="*/ 1155 w 3277"/>
                <a:gd name="T69" fmla="*/ 1008 h 2854"/>
                <a:gd name="T70" fmla="*/ 1399 w 3277"/>
                <a:gd name="T71" fmla="*/ 756 h 2854"/>
                <a:gd name="T72" fmla="*/ 1399 w 3277"/>
                <a:gd name="T73" fmla="*/ 756 h 2854"/>
                <a:gd name="T74" fmla="*/ 2596 w 3277"/>
                <a:gd name="T75" fmla="*/ 1680 h 2854"/>
                <a:gd name="T76" fmla="*/ 2353 w 3277"/>
                <a:gd name="T77" fmla="*/ 1680 h 2854"/>
                <a:gd name="T78" fmla="*/ 2353 w 3277"/>
                <a:gd name="T79" fmla="*/ 1345 h 2854"/>
                <a:gd name="T80" fmla="*/ 2227 w 3277"/>
                <a:gd name="T81" fmla="*/ 1219 h 2854"/>
                <a:gd name="T82" fmla="*/ 2101 w 3277"/>
                <a:gd name="T83" fmla="*/ 1345 h 2854"/>
                <a:gd name="T84" fmla="*/ 2101 w 3277"/>
                <a:gd name="T85" fmla="*/ 1806 h 2854"/>
                <a:gd name="T86" fmla="*/ 2227 w 3277"/>
                <a:gd name="T87" fmla="*/ 1932 h 2854"/>
                <a:gd name="T88" fmla="*/ 2596 w 3277"/>
                <a:gd name="T89" fmla="*/ 1932 h 2854"/>
                <a:gd name="T90" fmla="*/ 2722 w 3277"/>
                <a:gd name="T91" fmla="*/ 1806 h 2854"/>
                <a:gd name="T92" fmla="*/ 2596 w 3277"/>
                <a:gd name="T93" fmla="*/ 1680 h 2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77" h="2854">
                  <a:moveTo>
                    <a:pt x="2227" y="754"/>
                  </a:moveTo>
                  <a:cubicBezTo>
                    <a:pt x="1648" y="754"/>
                    <a:pt x="1177" y="1225"/>
                    <a:pt x="1177" y="1804"/>
                  </a:cubicBezTo>
                  <a:cubicBezTo>
                    <a:pt x="1177" y="2383"/>
                    <a:pt x="1648" y="2854"/>
                    <a:pt x="2227" y="2854"/>
                  </a:cubicBezTo>
                  <a:cubicBezTo>
                    <a:pt x="2806" y="2854"/>
                    <a:pt x="3277" y="2383"/>
                    <a:pt x="3277" y="1804"/>
                  </a:cubicBezTo>
                  <a:cubicBezTo>
                    <a:pt x="3277" y="1225"/>
                    <a:pt x="2806" y="754"/>
                    <a:pt x="2227" y="754"/>
                  </a:cubicBezTo>
                  <a:close/>
                  <a:moveTo>
                    <a:pt x="2227" y="2602"/>
                  </a:moveTo>
                  <a:cubicBezTo>
                    <a:pt x="1787" y="2602"/>
                    <a:pt x="1429" y="2244"/>
                    <a:pt x="1429" y="1804"/>
                  </a:cubicBezTo>
                  <a:cubicBezTo>
                    <a:pt x="1429" y="1364"/>
                    <a:pt x="1787" y="1006"/>
                    <a:pt x="2227" y="1006"/>
                  </a:cubicBezTo>
                  <a:cubicBezTo>
                    <a:pt x="2667" y="1006"/>
                    <a:pt x="3025" y="1364"/>
                    <a:pt x="3025" y="1804"/>
                  </a:cubicBezTo>
                  <a:cubicBezTo>
                    <a:pt x="3025" y="2244"/>
                    <a:pt x="2667" y="2602"/>
                    <a:pt x="2227" y="2602"/>
                  </a:cubicBezTo>
                  <a:close/>
                  <a:moveTo>
                    <a:pt x="126" y="2268"/>
                  </a:moveTo>
                  <a:cubicBezTo>
                    <a:pt x="56" y="2268"/>
                    <a:pt x="0" y="2324"/>
                    <a:pt x="0" y="2394"/>
                  </a:cubicBezTo>
                  <a:cubicBezTo>
                    <a:pt x="0" y="2463"/>
                    <a:pt x="56" y="2520"/>
                    <a:pt x="126" y="2520"/>
                  </a:cubicBezTo>
                  <a:cubicBezTo>
                    <a:pt x="1100" y="2520"/>
                    <a:pt x="1100" y="2520"/>
                    <a:pt x="1100" y="2520"/>
                  </a:cubicBezTo>
                  <a:cubicBezTo>
                    <a:pt x="1050" y="2441"/>
                    <a:pt x="1008" y="2357"/>
                    <a:pt x="975" y="2268"/>
                  </a:cubicBezTo>
                  <a:cubicBezTo>
                    <a:pt x="126" y="2268"/>
                    <a:pt x="126" y="2268"/>
                    <a:pt x="126" y="2268"/>
                  </a:cubicBezTo>
                  <a:cubicBezTo>
                    <a:pt x="126" y="2268"/>
                    <a:pt x="126" y="2268"/>
                    <a:pt x="126" y="2268"/>
                  </a:cubicBezTo>
                  <a:close/>
                  <a:moveTo>
                    <a:pt x="126" y="252"/>
                  </a:moveTo>
                  <a:cubicBezTo>
                    <a:pt x="2817" y="252"/>
                    <a:pt x="2817" y="252"/>
                    <a:pt x="2817" y="252"/>
                  </a:cubicBezTo>
                  <a:cubicBezTo>
                    <a:pt x="2887" y="252"/>
                    <a:pt x="2943" y="196"/>
                    <a:pt x="2943" y="126"/>
                  </a:cubicBezTo>
                  <a:cubicBezTo>
                    <a:pt x="2943" y="56"/>
                    <a:pt x="2887" y="0"/>
                    <a:pt x="2817" y="0"/>
                  </a:cubicBezTo>
                  <a:cubicBezTo>
                    <a:pt x="126" y="0"/>
                    <a:pt x="126" y="0"/>
                    <a:pt x="126" y="0"/>
                  </a:cubicBezTo>
                  <a:cubicBezTo>
                    <a:pt x="56" y="0"/>
                    <a:pt x="0" y="56"/>
                    <a:pt x="0" y="126"/>
                  </a:cubicBezTo>
                  <a:cubicBezTo>
                    <a:pt x="0" y="196"/>
                    <a:pt x="56" y="252"/>
                    <a:pt x="126" y="252"/>
                  </a:cubicBezTo>
                  <a:close/>
                  <a:moveTo>
                    <a:pt x="126" y="1764"/>
                  </a:moveTo>
                  <a:cubicBezTo>
                    <a:pt x="893" y="1764"/>
                    <a:pt x="893" y="1764"/>
                    <a:pt x="893" y="1764"/>
                  </a:cubicBezTo>
                  <a:cubicBezTo>
                    <a:pt x="895" y="1678"/>
                    <a:pt x="905" y="1593"/>
                    <a:pt x="924" y="1512"/>
                  </a:cubicBezTo>
                  <a:cubicBezTo>
                    <a:pt x="126" y="1512"/>
                    <a:pt x="126" y="1512"/>
                    <a:pt x="126" y="1512"/>
                  </a:cubicBezTo>
                  <a:cubicBezTo>
                    <a:pt x="56" y="1512"/>
                    <a:pt x="0" y="1568"/>
                    <a:pt x="0" y="1638"/>
                  </a:cubicBezTo>
                  <a:cubicBezTo>
                    <a:pt x="0" y="1707"/>
                    <a:pt x="56" y="1764"/>
                    <a:pt x="126" y="1764"/>
                  </a:cubicBezTo>
                  <a:close/>
                  <a:moveTo>
                    <a:pt x="1399" y="756"/>
                  </a:moveTo>
                  <a:cubicBezTo>
                    <a:pt x="126" y="756"/>
                    <a:pt x="126" y="756"/>
                    <a:pt x="126" y="756"/>
                  </a:cubicBezTo>
                  <a:cubicBezTo>
                    <a:pt x="56" y="756"/>
                    <a:pt x="0" y="812"/>
                    <a:pt x="0" y="882"/>
                  </a:cubicBezTo>
                  <a:cubicBezTo>
                    <a:pt x="0" y="951"/>
                    <a:pt x="56" y="1008"/>
                    <a:pt x="126" y="1008"/>
                  </a:cubicBezTo>
                  <a:cubicBezTo>
                    <a:pt x="1155" y="1008"/>
                    <a:pt x="1155" y="1008"/>
                    <a:pt x="1155" y="1008"/>
                  </a:cubicBezTo>
                  <a:cubicBezTo>
                    <a:pt x="1225" y="914"/>
                    <a:pt x="1307" y="829"/>
                    <a:pt x="1399" y="756"/>
                  </a:cubicBezTo>
                  <a:cubicBezTo>
                    <a:pt x="1399" y="756"/>
                    <a:pt x="1399" y="756"/>
                    <a:pt x="1399" y="756"/>
                  </a:cubicBezTo>
                  <a:close/>
                  <a:moveTo>
                    <a:pt x="2596" y="1680"/>
                  </a:moveTo>
                  <a:cubicBezTo>
                    <a:pt x="2353" y="1680"/>
                    <a:pt x="2353" y="1680"/>
                    <a:pt x="2353" y="1680"/>
                  </a:cubicBezTo>
                  <a:cubicBezTo>
                    <a:pt x="2353" y="1345"/>
                    <a:pt x="2353" y="1345"/>
                    <a:pt x="2353" y="1345"/>
                  </a:cubicBezTo>
                  <a:cubicBezTo>
                    <a:pt x="2353" y="1275"/>
                    <a:pt x="2297" y="1219"/>
                    <a:pt x="2227" y="1219"/>
                  </a:cubicBezTo>
                  <a:cubicBezTo>
                    <a:pt x="2157" y="1219"/>
                    <a:pt x="2101" y="1275"/>
                    <a:pt x="2101" y="1345"/>
                  </a:cubicBezTo>
                  <a:cubicBezTo>
                    <a:pt x="2101" y="1806"/>
                    <a:pt x="2101" y="1806"/>
                    <a:pt x="2101" y="1806"/>
                  </a:cubicBezTo>
                  <a:cubicBezTo>
                    <a:pt x="2101" y="1876"/>
                    <a:pt x="2157" y="1932"/>
                    <a:pt x="2227" y="1932"/>
                  </a:cubicBezTo>
                  <a:cubicBezTo>
                    <a:pt x="2596" y="1932"/>
                    <a:pt x="2596" y="1932"/>
                    <a:pt x="2596" y="1932"/>
                  </a:cubicBezTo>
                  <a:cubicBezTo>
                    <a:pt x="2666" y="1932"/>
                    <a:pt x="2722" y="1876"/>
                    <a:pt x="2722" y="1806"/>
                  </a:cubicBezTo>
                  <a:cubicBezTo>
                    <a:pt x="2722" y="1737"/>
                    <a:pt x="2666" y="1680"/>
                    <a:pt x="2596" y="1680"/>
                  </a:cubicBezTo>
                  <a:close/>
                </a:path>
              </a:pathLst>
            </a:custGeom>
            <a:grpFill/>
            <a:ln>
              <a:solidFill>
                <a:srgbClr val="0E80C9"/>
              </a:solid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29" name="组合 28">
            <a:extLst>
              <a:ext uri="{FF2B5EF4-FFF2-40B4-BE49-F238E27FC236}">
                <a16:creationId xmlns:a16="http://schemas.microsoft.com/office/drawing/2014/main" id="{D881F9C2-1BD5-8D41-B8BB-F1A79A829E99}"/>
              </a:ext>
            </a:extLst>
          </p:cNvPr>
          <p:cNvGrpSpPr/>
          <p:nvPr/>
        </p:nvGrpSpPr>
        <p:grpSpPr>
          <a:xfrm>
            <a:off x="7077696" y="4855046"/>
            <a:ext cx="720000" cy="720000"/>
            <a:chOff x="7525930" y="5564981"/>
            <a:chExt cx="720000" cy="720000"/>
          </a:xfrm>
          <a:solidFill>
            <a:schemeClr val="bg1"/>
          </a:solidFill>
        </p:grpSpPr>
        <p:sp>
          <p:nvSpPr>
            <p:cNvPr id="30" name="椭圆 29">
              <a:extLst>
                <a:ext uri="{FF2B5EF4-FFF2-40B4-BE49-F238E27FC236}">
                  <a16:creationId xmlns:a16="http://schemas.microsoft.com/office/drawing/2014/main" id="{F71C755B-9F3C-D442-97D6-F43D04D1ABC1}"/>
                </a:ext>
              </a:extLst>
            </p:cNvPr>
            <p:cNvSpPr>
              <a:spLocks noChangeAspect="1"/>
            </p:cNvSpPr>
            <p:nvPr/>
          </p:nvSpPr>
          <p:spPr>
            <a:xfrm>
              <a:off x="7525930" y="5564981"/>
              <a:ext cx="720000" cy="720000"/>
            </a:xfrm>
            <a:prstGeom prst="ellipse">
              <a:avLst/>
            </a:prstGeom>
            <a:grpFill/>
            <a:ln w="25400">
              <a:solidFill>
                <a:srgbClr val="0E80C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1" name="Freeform 9">
              <a:extLst>
                <a:ext uri="{FF2B5EF4-FFF2-40B4-BE49-F238E27FC236}">
                  <a16:creationId xmlns:a16="http://schemas.microsoft.com/office/drawing/2014/main" id="{90C3EFA4-F193-AB48-AAAE-E3C161A3A967}"/>
                </a:ext>
              </a:extLst>
            </p:cNvPr>
            <p:cNvSpPr>
              <a:spLocks noEditPoints="1"/>
            </p:cNvSpPr>
            <p:nvPr/>
          </p:nvSpPr>
          <p:spPr bwMode="auto">
            <a:xfrm>
              <a:off x="7702633" y="5742447"/>
              <a:ext cx="374650" cy="355599"/>
            </a:xfrm>
            <a:custGeom>
              <a:avLst/>
              <a:gdLst>
                <a:gd name="T0" fmla="*/ 2767 w 2790"/>
                <a:gd name="T1" fmla="*/ 1015 h 2636"/>
                <a:gd name="T2" fmla="*/ 2606 w 2790"/>
                <a:gd name="T3" fmla="*/ 878 h 2636"/>
                <a:gd name="T4" fmla="*/ 1894 w 2790"/>
                <a:gd name="T5" fmla="*/ 753 h 2636"/>
                <a:gd name="T6" fmla="*/ 1576 w 2790"/>
                <a:gd name="T7" fmla="*/ 113 h 2636"/>
                <a:gd name="T8" fmla="*/ 1395 w 2790"/>
                <a:gd name="T9" fmla="*/ 0 h 2636"/>
                <a:gd name="T10" fmla="*/ 1214 w 2790"/>
                <a:gd name="T11" fmla="*/ 113 h 2636"/>
                <a:gd name="T12" fmla="*/ 896 w 2790"/>
                <a:gd name="T13" fmla="*/ 753 h 2636"/>
                <a:gd name="T14" fmla="*/ 186 w 2790"/>
                <a:gd name="T15" fmla="*/ 882 h 2636"/>
                <a:gd name="T16" fmla="*/ 24 w 2790"/>
                <a:gd name="T17" fmla="*/ 1019 h 2636"/>
                <a:gd name="T18" fmla="*/ 76 w 2790"/>
                <a:gd name="T19" fmla="*/ 1228 h 2636"/>
                <a:gd name="T20" fmla="*/ 588 w 2790"/>
                <a:gd name="T21" fmla="*/ 1700 h 2636"/>
                <a:gd name="T22" fmla="*/ 454 w 2790"/>
                <a:gd name="T23" fmla="*/ 2389 h 2636"/>
                <a:gd name="T24" fmla="*/ 534 w 2790"/>
                <a:gd name="T25" fmla="*/ 2586 h 2636"/>
                <a:gd name="T26" fmla="*/ 745 w 2790"/>
                <a:gd name="T27" fmla="*/ 2603 h 2636"/>
                <a:gd name="T28" fmla="*/ 1395 w 2790"/>
                <a:gd name="T29" fmla="*/ 2285 h 2636"/>
                <a:gd name="T30" fmla="*/ 2040 w 2790"/>
                <a:gd name="T31" fmla="*/ 2602 h 2636"/>
                <a:gd name="T32" fmla="*/ 2133 w 2790"/>
                <a:gd name="T33" fmla="*/ 2625 h 2636"/>
                <a:gd name="T34" fmla="*/ 2133 w 2790"/>
                <a:gd name="T35" fmla="*/ 2625 h 2636"/>
                <a:gd name="T36" fmla="*/ 2252 w 2790"/>
                <a:gd name="T37" fmla="*/ 2587 h 2636"/>
                <a:gd name="T38" fmla="*/ 2332 w 2790"/>
                <a:gd name="T39" fmla="*/ 2388 h 2636"/>
                <a:gd name="T40" fmla="*/ 2203 w 2790"/>
                <a:gd name="T41" fmla="*/ 1700 h 2636"/>
                <a:gd name="T42" fmla="*/ 2716 w 2790"/>
                <a:gd name="T43" fmla="*/ 1222 h 2636"/>
                <a:gd name="T44" fmla="*/ 2767 w 2790"/>
                <a:gd name="T45" fmla="*/ 1015 h 2636"/>
                <a:gd name="T46" fmla="*/ 2767 w 2790"/>
                <a:gd name="T47" fmla="*/ 1015 h 2636"/>
                <a:gd name="T48" fmla="*/ 2653 w 2790"/>
                <a:gd name="T49" fmla="*/ 1114 h 2636"/>
                <a:gd name="T50" fmla="*/ 2068 w 2790"/>
                <a:gd name="T51" fmla="*/ 1659 h 2636"/>
                <a:gd name="T52" fmla="*/ 2216 w 2790"/>
                <a:gd name="T53" fmla="*/ 2444 h 2636"/>
                <a:gd name="T54" fmla="*/ 2190 w 2790"/>
                <a:gd name="T55" fmla="*/ 2505 h 2636"/>
                <a:gd name="T56" fmla="*/ 2123 w 2790"/>
                <a:gd name="T57" fmla="*/ 2509 h 2636"/>
                <a:gd name="T58" fmla="*/ 1395 w 2790"/>
                <a:gd name="T59" fmla="*/ 2150 h 2636"/>
                <a:gd name="T60" fmla="*/ 661 w 2790"/>
                <a:gd name="T61" fmla="*/ 2510 h 2636"/>
                <a:gd name="T62" fmla="*/ 595 w 2790"/>
                <a:gd name="T63" fmla="*/ 2504 h 2636"/>
                <a:gd name="T64" fmla="*/ 570 w 2790"/>
                <a:gd name="T65" fmla="*/ 2446 h 2636"/>
                <a:gd name="T66" fmla="*/ 723 w 2790"/>
                <a:gd name="T67" fmla="*/ 1659 h 2636"/>
                <a:gd name="T68" fmla="*/ 139 w 2790"/>
                <a:gd name="T69" fmla="*/ 1120 h 2636"/>
                <a:gd name="T70" fmla="*/ 124 w 2790"/>
                <a:gd name="T71" fmla="*/ 1056 h 2636"/>
                <a:gd name="T72" fmla="*/ 176 w 2790"/>
                <a:gd name="T73" fmla="*/ 1013 h 2636"/>
                <a:gd name="T74" fmla="*/ 980 w 2790"/>
                <a:gd name="T75" fmla="*/ 867 h 2636"/>
                <a:gd name="T76" fmla="*/ 1339 w 2790"/>
                <a:gd name="T77" fmla="*/ 143 h 2636"/>
                <a:gd name="T78" fmla="*/ 1450 w 2790"/>
                <a:gd name="T79" fmla="*/ 143 h 2636"/>
                <a:gd name="T80" fmla="*/ 1811 w 2790"/>
                <a:gd name="T81" fmla="*/ 868 h 2636"/>
                <a:gd name="T82" fmla="*/ 2617 w 2790"/>
                <a:gd name="T83" fmla="*/ 1009 h 2636"/>
                <a:gd name="T84" fmla="*/ 2667 w 2790"/>
                <a:gd name="T85" fmla="*/ 1052 h 2636"/>
                <a:gd name="T86" fmla="*/ 2653 w 2790"/>
                <a:gd name="T87" fmla="*/ 1114 h 2636"/>
                <a:gd name="T88" fmla="*/ 2653 w 2790"/>
                <a:gd name="T89" fmla="*/ 1114 h 2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790" h="2636">
                  <a:moveTo>
                    <a:pt x="2767" y="1015"/>
                  </a:moveTo>
                  <a:cubicBezTo>
                    <a:pt x="2743" y="942"/>
                    <a:pt x="2681" y="889"/>
                    <a:pt x="2606" y="878"/>
                  </a:cubicBezTo>
                  <a:cubicBezTo>
                    <a:pt x="1894" y="753"/>
                    <a:pt x="1894" y="753"/>
                    <a:pt x="1894" y="753"/>
                  </a:cubicBezTo>
                  <a:cubicBezTo>
                    <a:pt x="1576" y="113"/>
                    <a:pt x="1576" y="113"/>
                    <a:pt x="1576" y="113"/>
                  </a:cubicBezTo>
                  <a:cubicBezTo>
                    <a:pt x="1543" y="44"/>
                    <a:pt x="1472" y="0"/>
                    <a:pt x="1395" y="0"/>
                  </a:cubicBezTo>
                  <a:cubicBezTo>
                    <a:pt x="1318" y="0"/>
                    <a:pt x="1249" y="43"/>
                    <a:pt x="1214" y="113"/>
                  </a:cubicBezTo>
                  <a:cubicBezTo>
                    <a:pt x="896" y="753"/>
                    <a:pt x="896" y="753"/>
                    <a:pt x="896" y="753"/>
                  </a:cubicBezTo>
                  <a:cubicBezTo>
                    <a:pt x="186" y="882"/>
                    <a:pt x="186" y="882"/>
                    <a:pt x="186" y="882"/>
                  </a:cubicBezTo>
                  <a:cubicBezTo>
                    <a:pt x="109" y="893"/>
                    <a:pt x="47" y="946"/>
                    <a:pt x="24" y="1019"/>
                  </a:cubicBezTo>
                  <a:cubicBezTo>
                    <a:pt x="0" y="1092"/>
                    <a:pt x="20" y="1173"/>
                    <a:pt x="76" y="1228"/>
                  </a:cubicBezTo>
                  <a:cubicBezTo>
                    <a:pt x="588" y="1700"/>
                    <a:pt x="588" y="1700"/>
                    <a:pt x="588" y="1700"/>
                  </a:cubicBezTo>
                  <a:cubicBezTo>
                    <a:pt x="454" y="2389"/>
                    <a:pt x="454" y="2389"/>
                    <a:pt x="454" y="2389"/>
                  </a:cubicBezTo>
                  <a:cubicBezTo>
                    <a:pt x="441" y="2465"/>
                    <a:pt x="473" y="2542"/>
                    <a:pt x="534" y="2586"/>
                  </a:cubicBezTo>
                  <a:cubicBezTo>
                    <a:pt x="595" y="2630"/>
                    <a:pt x="682" y="2636"/>
                    <a:pt x="745" y="2603"/>
                  </a:cubicBezTo>
                  <a:cubicBezTo>
                    <a:pt x="1395" y="2285"/>
                    <a:pt x="1395" y="2285"/>
                    <a:pt x="1395" y="2285"/>
                  </a:cubicBezTo>
                  <a:cubicBezTo>
                    <a:pt x="2040" y="2602"/>
                    <a:pt x="2040" y="2602"/>
                    <a:pt x="2040" y="2602"/>
                  </a:cubicBezTo>
                  <a:cubicBezTo>
                    <a:pt x="2069" y="2617"/>
                    <a:pt x="2101" y="2625"/>
                    <a:pt x="2133" y="2625"/>
                  </a:cubicBezTo>
                  <a:cubicBezTo>
                    <a:pt x="2133" y="2625"/>
                    <a:pt x="2133" y="2625"/>
                    <a:pt x="2133" y="2625"/>
                  </a:cubicBezTo>
                  <a:cubicBezTo>
                    <a:pt x="2176" y="2625"/>
                    <a:pt x="2218" y="2611"/>
                    <a:pt x="2252" y="2587"/>
                  </a:cubicBezTo>
                  <a:cubicBezTo>
                    <a:pt x="2314" y="2542"/>
                    <a:pt x="2346" y="2464"/>
                    <a:pt x="2332" y="2388"/>
                  </a:cubicBezTo>
                  <a:cubicBezTo>
                    <a:pt x="2203" y="1700"/>
                    <a:pt x="2203" y="1700"/>
                    <a:pt x="2203" y="1700"/>
                  </a:cubicBezTo>
                  <a:cubicBezTo>
                    <a:pt x="2716" y="1222"/>
                    <a:pt x="2716" y="1222"/>
                    <a:pt x="2716" y="1222"/>
                  </a:cubicBezTo>
                  <a:cubicBezTo>
                    <a:pt x="2770" y="1168"/>
                    <a:pt x="2790" y="1087"/>
                    <a:pt x="2767" y="1015"/>
                  </a:cubicBezTo>
                  <a:cubicBezTo>
                    <a:pt x="2767" y="1015"/>
                    <a:pt x="2767" y="1015"/>
                    <a:pt x="2767" y="1015"/>
                  </a:cubicBezTo>
                  <a:close/>
                  <a:moveTo>
                    <a:pt x="2653" y="1114"/>
                  </a:moveTo>
                  <a:cubicBezTo>
                    <a:pt x="2068" y="1659"/>
                    <a:pt x="2068" y="1659"/>
                    <a:pt x="2068" y="1659"/>
                  </a:cubicBezTo>
                  <a:cubicBezTo>
                    <a:pt x="2216" y="2444"/>
                    <a:pt x="2216" y="2444"/>
                    <a:pt x="2216" y="2444"/>
                  </a:cubicBezTo>
                  <a:cubicBezTo>
                    <a:pt x="2220" y="2467"/>
                    <a:pt x="2210" y="2491"/>
                    <a:pt x="2190" y="2505"/>
                  </a:cubicBezTo>
                  <a:cubicBezTo>
                    <a:pt x="2171" y="2518"/>
                    <a:pt x="2147" y="2521"/>
                    <a:pt x="2123" y="2509"/>
                  </a:cubicBezTo>
                  <a:cubicBezTo>
                    <a:pt x="1395" y="2150"/>
                    <a:pt x="1395" y="2150"/>
                    <a:pt x="1395" y="2150"/>
                  </a:cubicBezTo>
                  <a:cubicBezTo>
                    <a:pt x="661" y="2510"/>
                    <a:pt x="661" y="2510"/>
                    <a:pt x="661" y="2510"/>
                  </a:cubicBezTo>
                  <a:cubicBezTo>
                    <a:pt x="640" y="2521"/>
                    <a:pt x="615" y="2519"/>
                    <a:pt x="595" y="2504"/>
                  </a:cubicBezTo>
                  <a:cubicBezTo>
                    <a:pt x="576" y="2491"/>
                    <a:pt x="566" y="2467"/>
                    <a:pt x="570" y="2446"/>
                  </a:cubicBezTo>
                  <a:cubicBezTo>
                    <a:pt x="723" y="1659"/>
                    <a:pt x="723" y="1659"/>
                    <a:pt x="723" y="1659"/>
                  </a:cubicBezTo>
                  <a:cubicBezTo>
                    <a:pt x="139" y="1120"/>
                    <a:pt x="139" y="1120"/>
                    <a:pt x="139" y="1120"/>
                  </a:cubicBezTo>
                  <a:cubicBezTo>
                    <a:pt x="122" y="1103"/>
                    <a:pt x="116" y="1079"/>
                    <a:pt x="124" y="1056"/>
                  </a:cubicBezTo>
                  <a:cubicBezTo>
                    <a:pt x="131" y="1033"/>
                    <a:pt x="150" y="1017"/>
                    <a:pt x="176" y="1013"/>
                  </a:cubicBezTo>
                  <a:cubicBezTo>
                    <a:pt x="980" y="867"/>
                    <a:pt x="980" y="867"/>
                    <a:pt x="980" y="867"/>
                  </a:cubicBezTo>
                  <a:cubicBezTo>
                    <a:pt x="1339" y="143"/>
                    <a:pt x="1339" y="143"/>
                    <a:pt x="1339" y="143"/>
                  </a:cubicBezTo>
                  <a:cubicBezTo>
                    <a:pt x="1361" y="100"/>
                    <a:pt x="1430" y="100"/>
                    <a:pt x="1450" y="143"/>
                  </a:cubicBezTo>
                  <a:cubicBezTo>
                    <a:pt x="1811" y="868"/>
                    <a:pt x="1811" y="868"/>
                    <a:pt x="1811" y="868"/>
                  </a:cubicBezTo>
                  <a:cubicBezTo>
                    <a:pt x="2617" y="1009"/>
                    <a:pt x="2617" y="1009"/>
                    <a:pt x="2617" y="1009"/>
                  </a:cubicBezTo>
                  <a:cubicBezTo>
                    <a:pt x="2640" y="1012"/>
                    <a:pt x="2660" y="1029"/>
                    <a:pt x="2667" y="1052"/>
                  </a:cubicBezTo>
                  <a:cubicBezTo>
                    <a:pt x="2674" y="1074"/>
                    <a:pt x="2668" y="1099"/>
                    <a:pt x="2653" y="1114"/>
                  </a:cubicBezTo>
                  <a:cubicBezTo>
                    <a:pt x="2653" y="1114"/>
                    <a:pt x="2653" y="1114"/>
                    <a:pt x="2653" y="1114"/>
                  </a:cubicBezTo>
                  <a:close/>
                </a:path>
              </a:pathLst>
            </a:custGeom>
            <a:grpFill/>
            <a:ln>
              <a:solidFill>
                <a:srgbClr val="0E80C9"/>
              </a:solidFill>
            </a:ln>
          </p:spPr>
          <p:txBody>
            <a:bodyPr vert="horz" wrap="square" lIns="91440" tIns="45720" rIns="91440" bIns="45720" numCol="1" anchor="t" anchorCtr="0" compatLnSpc="1">
              <a:prstTxWarp prst="textNoShape">
                <a:avLst/>
              </a:prstTxWarp>
            </a:bodyPr>
            <a:lstStyle/>
            <a:p>
              <a:endParaRPr lang="zh-CN" altLang="en-US"/>
            </a:p>
          </p:txBody>
        </p:sp>
        <p:sp>
          <p:nvSpPr>
            <p:cNvPr id="32" name="Freeform 10">
              <a:extLst>
                <a:ext uri="{FF2B5EF4-FFF2-40B4-BE49-F238E27FC236}">
                  <a16:creationId xmlns:a16="http://schemas.microsoft.com/office/drawing/2014/main" id="{72C569E4-14FE-1E41-9CA3-598CB678E1DD}"/>
                </a:ext>
              </a:extLst>
            </p:cNvPr>
            <p:cNvSpPr>
              <a:spLocks/>
            </p:cNvSpPr>
            <p:nvPr/>
          </p:nvSpPr>
          <p:spPr bwMode="auto">
            <a:xfrm>
              <a:off x="7722781" y="6118684"/>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33" name="TextBox 81">
            <a:extLst>
              <a:ext uri="{FF2B5EF4-FFF2-40B4-BE49-F238E27FC236}">
                <a16:creationId xmlns:a16="http://schemas.microsoft.com/office/drawing/2014/main" id="{0FD06125-A4FB-8B4B-8BB4-072C2DFF5E92}"/>
              </a:ext>
            </a:extLst>
          </p:cNvPr>
          <p:cNvSpPr txBox="1"/>
          <p:nvPr/>
        </p:nvSpPr>
        <p:spPr>
          <a:xfrm>
            <a:off x="7970765" y="3574728"/>
            <a:ext cx="3518870" cy="884387"/>
          </a:xfrm>
          <a:prstGeom prst="rect">
            <a:avLst/>
          </a:prstGeom>
          <a:solidFill>
            <a:schemeClr val="bg1"/>
          </a:solidFill>
          <a:ln>
            <a:noFill/>
          </a:ln>
        </p:spPr>
        <p:txBody>
          <a:bodyPr wrap="square" lIns="121963" tIns="60981" rIns="121963" bIns="60981" rtlCol="0">
            <a:spAutoFit/>
          </a:bodyPr>
          <a:lstStyle/>
          <a:p>
            <a:pPr algn="l">
              <a:lnSpc>
                <a:spcPct val="130000"/>
              </a:lnSpc>
            </a:pPr>
            <a:r>
              <a:rPr lang="zh-CN" altLang="en-US" sz="2000" dirty="0">
                <a:latin typeface="微软雅黑" panose="020B0503020204020204" pitchFamily="34" charset="-122"/>
                <a:ea typeface="微软雅黑" panose="020B0503020204020204" pitchFamily="34" charset="-122"/>
              </a:rPr>
              <a:t>都能運行在不同（</a:t>
            </a:r>
            <a:r>
              <a:rPr lang="en-US" altLang="zh-CN" sz="2000" dirty="0">
                <a:latin typeface="微软雅黑" panose="020B0503020204020204" pitchFamily="34" charset="-122"/>
                <a:ea typeface="微软雅黑" panose="020B0503020204020204" pitchFamily="34" charset="-122"/>
              </a:rPr>
              <a:t>Internet / Intranet</a:t>
            </a:r>
            <a:r>
              <a:rPr lang="zh-CN" altLang="en-US" sz="2000" dirty="0">
                <a:latin typeface="微软雅黑" panose="020B0503020204020204" pitchFamily="34" charset="-122"/>
                <a:ea typeface="微软雅黑" panose="020B0503020204020204" pitchFamily="34" charset="-122"/>
              </a:rPr>
              <a:t>）平臺</a:t>
            </a:r>
          </a:p>
        </p:txBody>
      </p:sp>
      <p:sp>
        <p:nvSpPr>
          <p:cNvPr id="34" name="TextBox 81">
            <a:extLst>
              <a:ext uri="{FF2B5EF4-FFF2-40B4-BE49-F238E27FC236}">
                <a16:creationId xmlns:a16="http://schemas.microsoft.com/office/drawing/2014/main" id="{A9CEC31E-204C-624E-A405-4567B717FFF8}"/>
              </a:ext>
            </a:extLst>
          </p:cNvPr>
          <p:cNvSpPr txBox="1"/>
          <p:nvPr/>
        </p:nvSpPr>
        <p:spPr>
          <a:xfrm>
            <a:off x="7957076" y="4968172"/>
            <a:ext cx="3404470" cy="884387"/>
          </a:xfrm>
          <a:prstGeom prst="rect">
            <a:avLst/>
          </a:prstGeom>
          <a:solidFill>
            <a:schemeClr val="bg1"/>
          </a:solidFill>
          <a:ln>
            <a:noFill/>
          </a:ln>
        </p:spPr>
        <p:txBody>
          <a:bodyPr wrap="square" lIns="121963" tIns="60981" rIns="121963" bIns="60981" rtlCol="0">
            <a:spAutoFit/>
          </a:bodyPr>
          <a:lstStyle/>
          <a:p>
            <a:pPr algn="l">
              <a:lnSpc>
                <a:spcPct val="130000"/>
              </a:lnSpc>
            </a:pPr>
            <a:r>
              <a:rPr lang="zh-CN" altLang="en-US" sz="2000" dirty="0">
                <a:latin typeface="微软雅黑" panose="020B0503020204020204" pitchFamily="34" charset="-122"/>
                <a:ea typeface="微软雅黑" panose="020B0503020204020204" pitchFamily="34" charset="-122"/>
              </a:rPr>
              <a:t>都能服務傳統或新的應用：</a:t>
            </a:r>
            <a:r>
              <a:rPr lang="en-US" altLang="zh-CN" sz="2000" dirty="0">
                <a:latin typeface="微软雅黑" panose="020B0503020204020204" pitchFamily="34" charset="-122"/>
                <a:ea typeface="微软雅黑" panose="020B0503020204020204" pitchFamily="34" charset="-122"/>
              </a:rPr>
              <a:t>eBusiness </a:t>
            </a:r>
            <a:r>
              <a:rPr lang="en-US" altLang="zh-CN" sz="2000" dirty="0" err="1">
                <a:latin typeface="微软雅黑" panose="020B0503020204020204" pitchFamily="34" charset="-122"/>
                <a:ea typeface="微软雅黑" panose="020B0503020204020204" pitchFamily="34" charset="-122"/>
              </a:rPr>
              <a:t>eServices</a:t>
            </a:r>
            <a:r>
              <a:rPr lang="en-US" altLang="zh-CN" sz="2000" dirty="0">
                <a:latin typeface="微软雅黑" panose="020B0503020204020204" pitchFamily="34" charset="-122"/>
                <a:ea typeface="微软雅黑" panose="020B0503020204020204" pitchFamily="34" charset="-122"/>
              </a:rPr>
              <a:t> …</a:t>
            </a:r>
          </a:p>
        </p:txBody>
      </p:sp>
      <p:sp>
        <p:nvSpPr>
          <p:cNvPr id="35" name="文本框 34">
            <a:extLst>
              <a:ext uri="{FF2B5EF4-FFF2-40B4-BE49-F238E27FC236}">
                <a16:creationId xmlns:a16="http://schemas.microsoft.com/office/drawing/2014/main" id="{513B91C9-F334-C549-A8B1-D707E42B7776}"/>
              </a:ext>
            </a:extLst>
          </p:cNvPr>
          <p:cNvSpPr txBox="1"/>
          <p:nvPr/>
        </p:nvSpPr>
        <p:spPr>
          <a:xfrm>
            <a:off x="7152277" y="2658755"/>
            <a:ext cx="1550456" cy="461665"/>
          </a:xfrm>
          <a:prstGeom prst="rect">
            <a:avLst/>
          </a:prstGeom>
          <a:noFill/>
        </p:spPr>
        <p:txBody>
          <a:bodyPr wrap="square">
            <a:spAutoFit/>
          </a:bodyPr>
          <a:lstStyle/>
          <a:p>
            <a:pPr algn="l"/>
            <a:r>
              <a:rPr lang="zh-CN" altLang="en-US" sz="2400" b="1" dirty="0">
                <a:solidFill>
                  <a:srgbClr val="C00000"/>
                </a:solidFill>
                <a:latin typeface="微软雅黑" panose="020B0503020204020204" pitchFamily="34" charset="-122"/>
                <a:ea typeface="微软雅黑" panose="020B0503020204020204" pitchFamily="34" charset="-122"/>
              </a:rPr>
              <a:t>相同</a:t>
            </a:r>
            <a:endParaRPr lang="zh-CN" altLang="en-US" sz="2400" b="1" dirty="0">
              <a:solidFill>
                <a:srgbClr val="C00000"/>
              </a:solidFill>
            </a:endParaRPr>
          </a:p>
        </p:txBody>
      </p:sp>
      <p:sp>
        <p:nvSpPr>
          <p:cNvPr id="36" name="灯片编号占位符 2">
            <a:extLst>
              <a:ext uri="{FF2B5EF4-FFF2-40B4-BE49-F238E27FC236}">
                <a16:creationId xmlns:a16="http://schemas.microsoft.com/office/drawing/2014/main" id="{A8A8FB46-0BEA-AE4D-8EF6-C24CAA86EAC5}"/>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35</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41765337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en-US" altLang="zh-CN" dirty="0"/>
              <a:t>P2P</a:t>
            </a:r>
            <a:r>
              <a:rPr kumimoji="1" lang="zh-CN" altLang="en-US" dirty="0"/>
              <a:t>網絡的建立流程</a:t>
            </a:r>
          </a:p>
        </p:txBody>
      </p:sp>
      <p:sp>
        <p:nvSpPr>
          <p:cNvPr id="5" name="矩形 4">
            <a:extLst>
              <a:ext uri="{FF2B5EF4-FFF2-40B4-BE49-F238E27FC236}">
                <a16:creationId xmlns:a16="http://schemas.microsoft.com/office/drawing/2014/main" id="{B9164292-30F5-AA44-BC79-7BA142DCE6D9}"/>
              </a:ext>
            </a:extLst>
          </p:cNvPr>
          <p:cNvSpPr/>
          <p:nvPr/>
        </p:nvSpPr>
        <p:spPr>
          <a:xfrm>
            <a:off x="1101395" y="1176197"/>
            <a:ext cx="10371263" cy="511807"/>
          </a:xfrm>
          <a:prstGeom prst="rect">
            <a:avLst/>
          </a:prstGeom>
        </p:spPr>
        <p:txBody>
          <a:bodyPr wrap="square">
            <a:spAutoFit/>
          </a:bodyPr>
          <a:lstStyle/>
          <a:p>
            <a:pPr algn="ctr">
              <a:lnSpc>
                <a:spcPts val="3600"/>
              </a:lnSpc>
            </a:pPr>
            <a:r>
              <a:rPr lang="en-US" altLang="zh-CN" sz="2400" b="1" dirty="0">
                <a:solidFill>
                  <a:srgbClr val="C00000"/>
                </a:solidFill>
                <a:latin typeface="Microsoft YaHei" panose="020B0503020204020204" pitchFamily="34" charset="-122"/>
                <a:ea typeface="Microsoft YaHei" panose="020B0503020204020204" pitchFamily="34" charset="-122"/>
              </a:rPr>
              <a:t>P2P</a:t>
            </a:r>
            <a:r>
              <a:rPr lang="zh-CN" altLang="en-US" sz="2400" b="1" dirty="0">
                <a:solidFill>
                  <a:srgbClr val="C00000"/>
                </a:solidFill>
                <a:latin typeface="Microsoft YaHei" panose="020B0503020204020204" pitchFamily="34" charset="-122"/>
                <a:ea typeface="Microsoft YaHei" panose="020B0503020204020204" pitchFamily="34" charset="-122"/>
              </a:rPr>
              <a:t>網絡的建立主要包含網絡節點發現和鄰居節點維護兩部分</a:t>
            </a:r>
          </a:p>
        </p:txBody>
      </p:sp>
      <p:sp>
        <p:nvSpPr>
          <p:cNvPr id="18" name="矩形 17">
            <a:extLst>
              <a:ext uri="{FF2B5EF4-FFF2-40B4-BE49-F238E27FC236}">
                <a16:creationId xmlns:a16="http://schemas.microsoft.com/office/drawing/2014/main" id="{6E3C776E-C1FE-C146-89A6-09AA68AB4F8A}"/>
              </a:ext>
            </a:extLst>
          </p:cNvPr>
          <p:cNvSpPr/>
          <p:nvPr/>
        </p:nvSpPr>
        <p:spPr>
          <a:xfrm>
            <a:off x="918461" y="2175651"/>
            <a:ext cx="5126702" cy="2243050"/>
          </a:xfrm>
          <a:prstGeom prst="rect">
            <a:avLst/>
          </a:prstGeom>
          <a:ln>
            <a:solidFill>
              <a:srgbClr val="00B0F0"/>
            </a:solidFill>
          </a:ln>
        </p:spPr>
        <p:txBody>
          <a:bodyPr wrap="square">
            <a:spAutoFit/>
          </a:bodyPr>
          <a:lstStyle/>
          <a:p>
            <a:pPr marL="342900" indent="-342900">
              <a:lnSpc>
                <a:spcPct val="150000"/>
              </a:lnSpc>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網絡節點發現</a:t>
            </a:r>
            <a:endParaRPr lang="en-US" altLang="zh-CN" sz="2400" dirty="0">
              <a:latin typeface="Microsoft YaHei" panose="020B0503020204020204" pitchFamily="34" charset="-122"/>
              <a:ea typeface="Microsoft YaHei" panose="020B0503020204020204" pitchFamily="34" charset="-122"/>
            </a:endParaRPr>
          </a:p>
          <a:p>
            <a:pPr marL="684000" indent="-342900" algn="just">
              <a:lnSpc>
                <a:spcPct val="150000"/>
              </a:lnSpc>
              <a:buFont typeface="Arial" panose="020B0604020202020204" pitchFamily="34" charset="0"/>
              <a:buChar char="•"/>
            </a:pPr>
            <a:r>
              <a:rPr kumimoji="1"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新加入的節點獲取系統中其它節點的</a:t>
            </a:r>
            <a:r>
              <a:rPr kumimoji="1"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IP</a:t>
            </a:r>
            <a:r>
              <a:rPr kumimoji="1"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地址，幷存儲在本地的網絡信息表中</a:t>
            </a:r>
            <a:endParaRPr kumimoji="1" lang="en-US" altLang="zh-CN" sz="2400" dirty="0">
              <a:latin typeface="Microsoft YaHei" panose="020B0503020204020204" pitchFamily="34" charset="-122"/>
              <a:ea typeface="Microsoft YaHei" panose="020B0503020204020204" pitchFamily="34" charset="-122"/>
            </a:endParaRPr>
          </a:p>
        </p:txBody>
      </p:sp>
      <p:pic>
        <p:nvPicPr>
          <p:cNvPr id="19" name="图形 18" descr="Internet">
            <a:extLst>
              <a:ext uri="{FF2B5EF4-FFF2-40B4-BE49-F238E27FC236}">
                <a16:creationId xmlns:a16="http://schemas.microsoft.com/office/drawing/2014/main" id="{C87B0D46-2ADF-9647-B0BE-C73FD63B049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37827" y="2030325"/>
            <a:ext cx="761776" cy="810663"/>
          </a:xfrm>
          <a:prstGeom prst="rect">
            <a:avLst/>
          </a:prstGeom>
        </p:spPr>
      </p:pic>
      <p:pic>
        <p:nvPicPr>
          <p:cNvPr id="20" name="图形 19" descr="Internet">
            <a:extLst>
              <a:ext uri="{FF2B5EF4-FFF2-40B4-BE49-F238E27FC236}">
                <a16:creationId xmlns:a16="http://schemas.microsoft.com/office/drawing/2014/main" id="{A5BDFC43-EE50-9A4A-B4E5-2D5480775FE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03046" y="2047331"/>
            <a:ext cx="761776" cy="810663"/>
          </a:xfrm>
          <a:prstGeom prst="rect">
            <a:avLst/>
          </a:prstGeom>
        </p:spPr>
      </p:pic>
      <p:pic>
        <p:nvPicPr>
          <p:cNvPr id="21" name="图形 20" descr="Internet">
            <a:extLst>
              <a:ext uri="{FF2B5EF4-FFF2-40B4-BE49-F238E27FC236}">
                <a16:creationId xmlns:a16="http://schemas.microsoft.com/office/drawing/2014/main" id="{8BBD1E02-2953-1346-8628-711819D4881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544929" y="2047331"/>
            <a:ext cx="761776" cy="810663"/>
          </a:xfrm>
          <a:prstGeom prst="rect">
            <a:avLst/>
          </a:prstGeom>
        </p:spPr>
      </p:pic>
      <p:pic>
        <p:nvPicPr>
          <p:cNvPr id="22" name="图形 21" descr="Internet">
            <a:extLst>
              <a:ext uri="{FF2B5EF4-FFF2-40B4-BE49-F238E27FC236}">
                <a16:creationId xmlns:a16="http://schemas.microsoft.com/office/drawing/2014/main" id="{9F860E9C-4242-C04F-95D3-81FEEAFFF65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575185" y="3368113"/>
            <a:ext cx="761776" cy="810663"/>
          </a:xfrm>
          <a:prstGeom prst="rect">
            <a:avLst/>
          </a:prstGeom>
        </p:spPr>
      </p:pic>
      <p:pic>
        <p:nvPicPr>
          <p:cNvPr id="23" name="图形 22" descr="Internet">
            <a:extLst>
              <a:ext uri="{FF2B5EF4-FFF2-40B4-BE49-F238E27FC236}">
                <a16:creationId xmlns:a16="http://schemas.microsoft.com/office/drawing/2014/main" id="{88552AD7-4F09-4A4F-B2FF-BBA37465ED8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59773" y="3377351"/>
            <a:ext cx="761776" cy="810663"/>
          </a:xfrm>
          <a:prstGeom prst="rect">
            <a:avLst/>
          </a:prstGeom>
        </p:spPr>
      </p:pic>
      <p:pic>
        <p:nvPicPr>
          <p:cNvPr id="24" name="图形 23" descr="Internet">
            <a:extLst>
              <a:ext uri="{FF2B5EF4-FFF2-40B4-BE49-F238E27FC236}">
                <a16:creationId xmlns:a16="http://schemas.microsoft.com/office/drawing/2014/main" id="{32E8CB64-909F-4445-BCCA-936786E4BB4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39792" y="3380514"/>
            <a:ext cx="761776" cy="810663"/>
          </a:xfrm>
          <a:prstGeom prst="rect">
            <a:avLst/>
          </a:prstGeom>
        </p:spPr>
      </p:pic>
      <p:sp>
        <p:nvSpPr>
          <p:cNvPr id="25" name="Line 13">
            <a:extLst>
              <a:ext uri="{FF2B5EF4-FFF2-40B4-BE49-F238E27FC236}">
                <a16:creationId xmlns:a16="http://schemas.microsoft.com/office/drawing/2014/main" id="{4E16B315-7965-414B-AEA7-9885023A3C06}"/>
              </a:ext>
            </a:extLst>
          </p:cNvPr>
          <p:cNvSpPr>
            <a:spLocks noChangeShapeType="1"/>
          </p:cNvSpPr>
          <p:nvPr/>
        </p:nvSpPr>
        <p:spPr bwMode="auto">
          <a:xfrm>
            <a:off x="9836909" y="2410539"/>
            <a:ext cx="761776" cy="0"/>
          </a:xfrm>
          <a:prstGeom prst="line">
            <a:avLst/>
          </a:prstGeom>
          <a:noFill/>
          <a:ln w="9525">
            <a:solidFill>
              <a:sysClr val="windowText" lastClr="000000"/>
            </a:solidFill>
            <a:prstDash val="dash"/>
            <a:round/>
            <a:headEnd type="triangl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3" name="Line 13">
            <a:extLst>
              <a:ext uri="{FF2B5EF4-FFF2-40B4-BE49-F238E27FC236}">
                <a16:creationId xmlns:a16="http://schemas.microsoft.com/office/drawing/2014/main" id="{0B14D598-9096-194F-9101-447D7CED5569}"/>
              </a:ext>
            </a:extLst>
          </p:cNvPr>
          <p:cNvSpPr>
            <a:spLocks noChangeShapeType="1"/>
          </p:cNvSpPr>
          <p:nvPr/>
        </p:nvSpPr>
        <p:spPr bwMode="auto">
          <a:xfrm>
            <a:off x="9868882" y="3757888"/>
            <a:ext cx="761776" cy="0"/>
          </a:xfrm>
          <a:prstGeom prst="line">
            <a:avLst/>
          </a:prstGeom>
          <a:noFill/>
          <a:ln w="9525">
            <a:solidFill>
              <a:sysClr val="windowText" lastClr="000000"/>
            </a:solidFill>
            <a:prstDash val="dash"/>
            <a:round/>
            <a:headEnd type="triangl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4" name="Line 13">
            <a:extLst>
              <a:ext uri="{FF2B5EF4-FFF2-40B4-BE49-F238E27FC236}">
                <a16:creationId xmlns:a16="http://schemas.microsoft.com/office/drawing/2014/main" id="{B993661C-20BD-444D-BD1E-675CFE19A766}"/>
              </a:ext>
            </a:extLst>
          </p:cNvPr>
          <p:cNvSpPr>
            <a:spLocks noChangeShapeType="1"/>
          </p:cNvSpPr>
          <p:nvPr/>
        </p:nvSpPr>
        <p:spPr bwMode="auto">
          <a:xfrm>
            <a:off x="8434573" y="3767461"/>
            <a:ext cx="761776" cy="0"/>
          </a:xfrm>
          <a:prstGeom prst="line">
            <a:avLst/>
          </a:prstGeom>
          <a:noFill/>
          <a:ln w="9525">
            <a:solidFill>
              <a:sysClr val="windowText" lastClr="000000"/>
            </a:solidFill>
            <a:prstDash val="dash"/>
            <a:round/>
            <a:headEnd type="triangl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5" name="Line 13">
            <a:extLst>
              <a:ext uri="{FF2B5EF4-FFF2-40B4-BE49-F238E27FC236}">
                <a16:creationId xmlns:a16="http://schemas.microsoft.com/office/drawing/2014/main" id="{4024AF99-A526-A740-8DDA-BE51AF3A0B9B}"/>
              </a:ext>
            </a:extLst>
          </p:cNvPr>
          <p:cNvSpPr>
            <a:spLocks noChangeShapeType="1"/>
          </p:cNvSpPr>
          <p:nvPr/>
        </p:nvSpPr>
        <p:spPr bwMode="auto">
          <a:xfrm>
            <a:off x="9485374" y="2747485"/>
            <a:ext cx="1" cy="681515"/>
          </a:xfrm>
          <a:prstGeom prst="line">
            <a:avLst/>
          </a:prstGeom>
          <a:noFill/>
          <a:ln w="9525">
            <a:solidFill>
              <a:sysClr val="windowText" lastClr="000000"/>
            </a:solidFill>
            <a:prstDash val="dash"/>
            <a:round/>
            <a:headEnd type="triangl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6" name="Line 13">
            <a:extLst>
              <a:ext uri="{FF2B5EF4-FFF2-40B4-BE49-F238E27FC236}">
                <a16:creationId xmlns:a16="http://schemas.microsoft.com/office/drawing/2014/main" id="{DCB512BB-3515-604C-97C0-4312944E30DE}"/>
              </a:ext>
            </a:extLst>
          </p:cNvPr>
          <p:cNvSpPr>
            <a:spLocks noChangeShapeType="1"/>
          </p:cNvSpPr>
          <p:nvPr/>
        </p:nvSpPr>
        <p:spPr bwMode="auto">
          <a:xfrm flipH="1">
            <a:off x="8382901" y="2741950"/>
            <a:ext cx="2162027" cy="734944"/>
          </a:xfrm>
          <a:prstGeom prst="line">
            <a:avLst/>
          </a:prstGeom>
          <a:noFill/>
          <a:ln w="9525">
            <a:solidFill>
              <a:sysClr val="windowText" lastClr="000000"/>
            </a:solidFill>
            <a:prstDash val="dash"/>
            <a:round/>
            <a:headEnd type="triangl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7" name="Line 13">
            <a:extLst>
              <a:ext uri="{FF2B5EF4-FFF2-40B4-BE49-F238E27FC236}">
                <a16:creationId xmlns:a16="http://schemas.microsoft.com/office/drawing/2014/main" id="{34FBB66D-30AD-E441-8BF2-D268CA7ADE2B}"/>
              </a:ext>
            </a:extLst>
          </p:cNvPr>
          <p:cNvSpPr>
            <a:spLocks noChangeShapeType="1"/>
          </p:cNvSpPr>
          <p:nvPr/>
        </p:nvSpPr>
        <p:spPr bwMode="auto">
          <a:xfrm>
            <a:off x="10905355" y="2741950"/>
            <a:ext cx="21900" cy="751897"/>
          </a:xfrm>
          <a:prstGeom prst="line">
            <a:avLst/>
          </a:prstGeom>
          <a:noFill/>
          <a:ln w="9525">
            <a:solidFill>
              <a:sysClr val="windowText" lastClr="000000"/>
            </a:solidFill>
            <a:prstDash val="dash"/>
            <a:round/>
            <a:headEnd type="triangl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1" name="矩形 30">
            <a:extLst>
              <a:ext uri="{FF2B5EF4-FFF2-40B4-BE49-F238E27FC236}">
                <a16:creationId xmlns:a16="http://schemas.microsoft.com/office/drawing/2014/main" id="{B6A45749-4E6C-994C-B58C-89110B274D1F}"/>
              </a:ext>
            </a:extLst>
          </p:cNvPr>
          <p:cNvSpPr/>
          <p:nvPr/>
        </p:nvSpPr>
        <p:spPr>
          <a:xfrm>
            <a:off x="7733809" y="2688717"/>
            <a:ext cx="800219" cy="338554"/>
          </a:xfrm>
          <a:prstGeom prst="rect">
            <a:avLst/>
          </a:prstGeom>
        </p:spPr>
        <p:txBody>
          <a:bodyPr wrap="square">
            <a:spAutoFit/>
          </a:bodyPr>
          <a:lstStyle/>
          <a:p>
            <a:r>
              <a:rPr kumimoji="1" lang="zh-CN" altLang="en-US" sz="1600" dirty="0">
                <a:solidFill>
                  <a:schemeClr val="tx1">
                    <a:lumMod val="75000"/>
                    <a:lumOff val="25000"/>
                  </a:schemeClr>
                </a:solidFill>
                <a:latin typeface="Microsoft YaHei" panose="020B0503020204020204" pitchFamily="34" charset="-122"/>
                <a:ea typeface="Microsoft YaHei" panose="020B0503020204020204" pitchFamily="34" charset="-122"/>
              </a:rPr>
              <a:t>新節點</a:t>
            </a:r>
            <a:endParaRPr lang="zh-CN" altLang="en-US" sz="1600" dirty="0"/>
          </a:p>
        </p:txBody>
      </p:sp>
      <p:sp>
        <p:nvSpPr>
          <p:cNvPr id="58" name="矩形 57">
            <a:extLst>
              <a:ext uri="{FF2B5EF4-FFF2-40B4-BE49-F238E27FC236}">
                <a16:creationId xmlns:a16="http://schemas.microsoft.com/office/drawing/2014/main" id="{DC9B99C8-F251-EF41-8A3C-0B5E33AACD59}"/>
              </a:ext>
            </a:extLst>
          </p:cNvPr>
          <p:cNvSpPr/>
          <p:nvPr/>
        </p:nvSpPr>
        <p:spPr>
          <a:xfrm>
            <a:off x="6977569" y="2379867"/>
            <a:ext cx="710405" cy="1477328"/>
          </a:xfrm>
          <a:prstGeom prst="rect">
            <a:avLst/>
          </a:prstGeom>
        </p:spPr>
        <p:txBody>
          <a:bodyPr wrap="square">
            <a:spAutoFit/>
          </a:bodyPr>
          <a:lstStyle/>
          <a:p>
            <a:pPr algn="ctr"/>
            <a:r>
              <a:rPr kumimoji="1"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獲取系統中節點的</a:t>
            </a:r>
            <a:endParaRPr kumimoji="1" lang="en-US" altLang="zh-CN" dirty="0">
              <a:solidFill>
                <a:schemeClr val="tx1">
                  <a:lumMod val="75000"/>
                  <a:lumOff val="25000"/>
                </a:schemeClr>
              </a:solidFill>
              <a:latin typeface="Microsoft YaHei" panose="020B0503020204020204" pitchFamily="34" charset="-122"/>
              <a:ea typeface="Microsoft YaHei" panose="020B0503020204020204" pitchFamily="34" charset="-122"/>
            </a:endParaRPr>
          </a:p>
          <a:p>
            <a:pPr algn="ctr"/>
            <a:r>
              <a:rPr kumimoji="1"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IP</a:t>
            </a:r>
            <a:endParaRPr lang="zh-CN" altLang="en-US" dirty="0"/>
          </a:p>
        </p:txBody>
      </p:sp>
      <p:pic>
        <p:nvPicPr>
          <p:cNvPr id="62" name="图形 61" descr="Internet">
            <a:extLst>
              <a:ext uri="{FF2B5EF4-FFF2-40B4-BE49-F238E27FC236}">
                <a16:creationId xmlns:a16="http://schemas.microsoft.com/office/drawing/2014/main" id="{C352BBE3-71FE-0747-89CD-299EE737147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54117" y="4568551"/>
            <a:ext cx="761776" cy="810663"/>
          </a:xfrm>
          <a:prstGeom prst="rect">
            <a:avLst/>
          </a:prstGeom>
        </p:spPr>
      </p:pic>
      <p:pic>
        <p:nvPicPr>
          <p:cNvPr id="63" name="图形 62" descr="Internet">
            <a:extLst>
              <a:ext uri="{FF2B5EF4-FFF2-40B4-BE49-F238E27FC236}">
                <a16:creationId xmlns:a16="http://schemas.microsoft.com/office/drawing/2014/main" id="{65900425-011C-AF40-B9B0-71D27E09E34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19336" y="4585557"/>
            <a:ext cx="761776" cy="810663"/>
          </a:xfrm>
          <a:prstGeom prst="rect">
            <a:avLst/>
          </a:prstGeom>
        </p:spPr>
      </p:pic>
      <p:pic>
        <p:nvPicPr>
          <p:cNvPr id="64" name="图形 63" descr="Internet">
            <a:extLst>
              <a:ext uri="{FF2B5EF4-FFF2-40B4-BE49-F238E27FC236}">
                <a16:creationId xmlns:a16="http://schemas.microsoft.com/office/drawing/2014/main" id="{BF1F4D50-97BD-9343-BFD7-819213DC913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61219" y="4585557"/>
            <a:ext cx="761776" cy="810663"/>
          </a:xfrm>
          <a:prstGeom prst="rect">
            <a:avLst/>
          </a:prstGeom>
        </p:spPr>
      </p:pic>
      <p:pic>
        <p:nvPicPr>
          <p:cNvPr id="65" name="图形 64" descr="Internet">
            <a:extLst>
              <a:ext uri="{FF2B5EF4-FFF2-40B4-BE49-F238E27FC236}">
                <a16:creationId xmlns:a16="http://schemas.microsoft.com/office/drawing/2014/main" id="{CD8E93C7-FFA3-0046-A2C0-D7443FC4576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91475" y="5906339"/>
            <a:ext cx="761776" cy="810663"/>
          </a:xfrm>
          <a:prstGeom prst="rect">
            <a:avLst/>
          </a:prstGeom>
        </p:spPr>
      </p:pic>
      <p:pic>
        <p:nvPicPr>
          <p:cNvPr id="66" name="图形 65" descr="Internet">
            <a:extLst>
              <a:ext uri="{FF2B5EF4-FFF2-40B4-BE49-F238E27FC236}">
                <a16:creationId xmlns:a16="http://schemas.microsoft.com/office/drawing/2014/main" id="{07898E55-0CC3-EC4B-A23D-AD9A54BA1C6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76063" y="5915577"/>
            <a:ext cx="761776" cy="810663"/>
          </a:xfrm>
          <a:prstGeom prst="rect">
            <a:avLst/>
          </a:prstGeom>
        </p:spPr>
      </p:pic>
      <p:pic>
        <p:nvPicPr>
          <p:cNvPr id="67" name="图形 66" descr="Internet">
            <a:extLst>
              <a:ext uri="{FF2B5EF4-FFF2-40B4-BE49-F238E27FC236}">
                <a16:creationId xmlns:a16="http://schemas.microsoft.com/office/drawing/2014/main" id="{48936DD8-4C04-5F43-9DB7-3DA5AA90F0D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56082" y="5918740"/>
            <a:ext cx="761776" cy="810663"/>
          </a:xfrm>
          <a:prstGeom prst="rect">
            <a:avLst/>
          </a:prstGeom>
        </p:spPr>
      </p:pic>
      <p:sp>
        <p:nvSpPr>
          <p:cNvPr id="68" name="Line 13">
            <a:extLst>
              <a:ext uri="{FF2B5EF4-FFF2-40B4-BE49-F238E27FC236}">
                <a16:creationId xmlns:a16="http://schemas.microsoft.com/office/drawing/2014/main" id="{2C7BCAC8-12C2-5E40-9E27-5CCA5C152FD5}"/>
              </a:ext>
            </a:extLst>
          </p:cNvPr>
          <p:cNvSpPr>
            <a:spLocks noChangeShapeType="1"/>
          </p:cNvSpPr>
          <p:nvPr/>
        </p:nvSpPr>
        <p:spPr bwMode="auto">
          <a:xfrm>
            <a:off x="9953199" y="4948765"/>
            <a:ext cx="761776" cy="0"/>
          </a:xfrm>
          <a:prstGeom prst="line">
            <a:avLst/>
          </a:prstGeom>
          <a:noFill/>
          <a:ln w="9525">
            <a:solidFill>
              <a:sysClr val="windowText" lastClr="000000"/>
            </a:solidFill>
            <a:prstDash val="dash"/>
            <a:round/>
            <a:headEnd type="triangl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69" name="Line 13">
            <a:extLst>
              <a:ext uri="{FF2B5EF4-FFF2-40B4-BE49-F238E27FC236}">
                <a16:creationId xmlns:a16="http://schemas.microsoft.com/office/drawing/2014/main" id="{68904F3A-3812-6645-9BD4-00040FE7B938}"/>
              </a:ext>
            </a:extLst>
          </p:cNvPr>
          <p:cNvSpPr>
            <a:spLocks noChangeShapeType="1"/>
          </p:cNvSpPr>
          <p:nvPr/>
        </p:nvSpPr>
        <p:spPr bwMode="auto">
          <a:xfrm>
            <a:off x="9985172" y="6296114"/>
            <a:ext cx="761776" cy="0"/>
          </a:xfrm>
          <a:prstGeom prst="line">
            <a:avLst/>
          </a:prstGeom>
          <a:noFill/>
          <a:ln w="9525">
            <a:solidFill>
              <a:sysClr val="windowText" lastClr="000000"/>
            </a:solidFill>
            <a:prstDash val="dash"/>
            <a:round/>
            <a:headEnd type="triangl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0" name="Line 13">
            <a:extLst>
              <a:ext uri="{FF2B5EF4-FFF2-40B4-BE49-F238E27FC236}">
                <a16:creationId xmlns:a16="http://schemas.microsoft.com/office/drawing/2014/main" id="{2EDD038C-2D9D-B54F-8B7E-6A12495F4D8A}"/>
              </a:ext>
            </a:extLst>
          </p:cNvPr>
          <p:cNvSpPr>
            <a:spLocks noChangeShapeType="1"/>
          </p:cNvSpPr>
          <p:nvPr/>
        </p:nvSpPr>
        <p:spPr bwMode="auto">
          <a:xfrm>
            <a:off x="8550863" y="6305687"/>
            <a:ext cx="761776" cy="0"/>
          </a:xfrm>
          <a:prstGeom prst="line">
            <a:avLst/>
          </a:prstGeom>
          <a:noFill/>
          <a:ln w="9525">
            <a:solidFill>
              <a:sysClr val="windowText" lastClr="000000"/>
            </a:solidFill>
            <a:prstDash val="dash"/>
            <a:round/>
            <a:headEnd type="triangl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1" name="Line 13">
            <a:extLst>
              <a:ext uri="{FF2B5EF4-FFF2-40B4-BE49-F238E27FC236}">
                <a16:creationId xmlns:a16="http://schemas.microsoft.com/office/drawing/2014/main" id="{746341C1-BBDC-FA40-BCA9-35E241AB929E}"/>
              </a:ext>
            </a:extLst>
          </p:cNvPr>
          <p:cNvSpPr>
            <a:spLocks noChangeShapeType="1"/>
          </p:cNvSpPr>
          <p:nvPr/>
        </p:nvSpPr>
        <p:spPr bwMode="auto">
          <a:xfrm>
            <a:off x="9601664" y="5285711"/>
            <a:ext cx="1" cy="681515"/>
          </a:xfrm>
          <a:prstGeom prst="line">
            <a:avLst/>
          </a:prstGeom>
          <a:noFill/>
          <a:ln w="9525">
            <a:solidFill>
              <a:sysClr val="windowText" lastClr="000000"/>
            </a:solidFill>
            <a:prstDash val="dash"/>
            <a:round/>
            <a:headEnd type="triangl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2" name="Line 13">
            <a:extLst>
              <a:ext uri="{FF2B5EF4-FFF2-40B4-BE49-F238E27FC236}">
                <a16:creationId xmlns:a16="http://schemas.microsoft.com/office/drawing/2014/main" id="{A8E4B76C-7258-7D41-9021-8B8F7C0DE10F}"/>
              </a:ext>
            </a:extLst>
          </p:cNvPr>
          <p:cNvSpPr>
            <a:spLocks noChangeShapeType="1"/>
          </p:cNvSpPr>
          <p:nvPr/>
        </p:nvSpPr>
        <p:spPr bwMode="auto">
          <a:xfrm flipH="1">
            <a:off x="8499191" y="5280176"/>
            <a:ext cx="2162027" cy="734944"/>
          </a:xfrm>
          <a:prstGeom prst="line">
            <a:avLst/>
          </a:prstGeom>
          <a:noFill/>
          <a:ln w="9525">
            <a:solidFill>
              <a:sysClr val="windowText" lastClr="000000"/>
            </a:solidFill>
            <a:prstDash val="dash"/>
            <a:round/>
            <a:headEnd type="triangl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3" name="Line 13">
            <a:extLst>
              <a:ext uri="{FF2B5EF4-FFF2-40B4-BE49-F238E27FC236}">
                <a16:creationId xmlns:a16="http://schemas.microsoft.com/office/drawing/2014/main" id="{40B58525-56D9-7F46-9F7E-F9711F2154C4}"/>
              </a:ext>
            </a:extLst>
          </p:cNvPr>
          <p:cNvSpPr>
            <a:spLocks noChangeShapeType="1"/>
          </p:cNvSpPr>
          <p:nvPr/>
        </p:nvSpPr>
        <p:spPr bwMode="auto">
          <a:xfrm>
            <a:off x="11021645" y="5280176"/>
            <a:ext cx="21900" cy="751897"/>
          </a:xfrm>
          <a:prstGeom prst="line">
            <a:avLst/>
          </a:prstGeom>
          <a:noFill/>
          <a:ln w="9525">
            <a:solidFill>
              <a:sysClr val="windowText" lastClr="000000"/>
            </a:solidFill>
            <a:prstDash val="dash"/>
            <a:round/>
            <a:headEnd type="triangl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4" name="矩形 73">
            <a:extLst>
              <a:ext uri="{FF2B5EF4-FFF2-40B4-BE49-F238E27FC236}">
                <a16:creationId xmlns:a16="http://schemas.microsoft.com/office/drawing/2014/main" id="{0580D1DF-1BCC-3C44-B551-D1BD883241C2}"/>
              </a:ext>
            </a:extLst>
          </p:cNvPr>
          <p:cNvSpPr/>
          <p:nvPr/>
        </p:nvSpPr>
        <p:spPr>
          <a:xfrm>
            <a:off x="7850099" y="5226943"/>
            <a:ext cx="800219" cy="338554"/>
          </a:xfrm>
          <a:prstGeom prst="rect">
            <a:avLst/>
          </a:prstGeom>
        </p:spPr>
        <p:txBody>
          <a:bodyPr wrap="square">
            <a:spAutoFit/>
          </a:bodyPr>
          <a:lstStyle/>
          <a:p>
            <a:r>
              <a:rPr kumimoji="1" lang="zh-CN" altLang="en-US" sz="1600" dirty="0">
                <a:solidFill>
                  <a:schemeClr val="tx1">
                    <a:lumMod val="75000"/>
                    <a:lumOff val="25000"/>
                  </a:schemeClr>
                </a:solidFill>
                <a:latin typeface="Microsoft YaHei" panose="020B0503020204020204" pitchFamily="34" charset="-122"/>
                <a:ea typeface="Microsoft YaHei" panose="020B0503020204020204" pitchFamily="34" charset="-122"/>
              </a:rPr>
              <a:t>新節點</a:t>
            </a:r>
            <a:endParaRPr lang="zh-CN" altLang="en-US" sz="1600" dirty="0"/>
          </a:p>
        </p:txBody>
      </p:sp>
      <p:sp>
        <p:nvSpPr>
          <p:cNvPr id="75" name="矩形 74">
            <a:extLst>
              <a:ext uri="{FF2B5EF4-FFF2-40B4-BE49-F238E27FC236}">
                <a16:creationId xmlns:a16="http://schemas.microsoft.com/office/drawing/2014/main" id="{E6C5A63C-2811-B149-BC2D-8C8AEE0F988E}"/>
              </a:ext>
            </a:extLst>
          </p:cNvPr>
          <p:cNvSpPr/>
          <p:nvPr/>
        </p:nvSpPr>
        <p:spPr>
          <a:xfrm>
            <a:off x="7058037" y="4804640"/>
            <a:ext cx="643654" cy="1754326"/>
          </a:xfrm>
          <a:prstGeom prst="rect">
            <a:avLst/>
          </a:prstGeom>
        </p:spPr>
        <p:txBody>
          <a:bodyPr wrap="square">
            <a:spAutoFit/>
          </a:bodyPr>
          <a:lstStyle/>
          <a:p>
            <a:pPr algn="ctr"/>
            <a:r>
              <a:rPr kumimoji="1"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選擇鄰居節點建立交互信道</a:t>
            </a:r>
            <a:endParaRPr lang="zh-CN" altLang="en-US" dirty="0"/>
          </a:p>
        </p:txBody>
      </p:sp>
      <p:sp>
        <p:nvSpPr>
          <p:cNvPr id="76" name="Line 13">
            <a:extLst>
              <a:ext uri="{FF2B5EF4-FFF2-40B4-BE49-F238E27FC236}">
                <a16:creationId xmlns:a16="http://schemas.microsoft.com/office/drawing/2014/main" id="{DDA648DD-A065-9E45-A9DD-3677F4015639}"/>
              </a:ext>
            </a:extLst>
          </p:cNvPr>
          <p:cNvSpPr>
            <a:spLocks noChangeShapeType="1"/>
          </p:cNvSpPr>
          <p:nvPr/>
        </p:nvSpPr>
        <p:spPr bwMode="auto">
          <a:xfrm flipH="1" flipV="1">
            <a:off x="8680574" y="5215421"/>
            <a:ext cx="2066373" cy="816187"/>
          </a:xfrm>
          <a:prstGeom prst="line">
            <a:avLst/>
          </a:prstGeom>
          <a:noFill/>
          <a:ln w="9525">
            <a:solidFill>
              <a:sysClr val="windowText" lastClr="000000"/>
            </a:solidFill>
            <a:prstDash val="dash"/>
            <a:round/>
            <a:headEnd type="triangl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8" name="Line 13">
            <a:extLst>
              <a:ext uri="{FF2B5EF4-FFF2-40B4-BE49-F238E27FC236}">
                <a16:creationId xmlns:a16="http://schemas.microsoft.com/office/drawing/2014/main" id="{1E424F56-C68B-AB4C-80CD-748A935B0CFD}"/>
              </a:ext>
            </a:extLst>
          </p:cNvPr>
          <p:cNvSpPr>
            <a:spLocks noChangeShapeType="1"/>
          </p:cNvSpPr>
          <p:nvPr/>
        </p:nvSpPr>
        <p:spPr bwMode="auto">
          <a:xfrm flipV="1">
            <a:off x="8224494" y="5535362"/>
            <a:ext cx="4430" cy="431864"/>
          </a:xfrm>
          <a:prstGeom prst="line">
            <a:avLst/>
          </a:prstGeom>
          <a:noFill/>
          <a:ln w="9525">
            <a:solidFill>
              <a:sysClr val="windowText" lastClr="000000"/>
            </a:solidFill>
            <a:prstDash val="dash"/>
            <a:round/>
            <a:headEnd type="triangl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79" name="矩形 78">
            <a:extLst>
              <a:ext uri="{FF2B5EF4-FFF2-40B4-BE49-F238E27FC236}">
                <a16:creationId xmlns:a16="http://schemas.microsoft.com/office/drawing/2014/main" id="{479DF1CC-7438-8D43-9BD2-F2B37D2A19AF}"/>
              </a:ext>
            </a:extLst>
          </p:cNvPr>
          <p:cNvSpPr/>
          <p:nvPr/>
        </p:nvSpPr>
        <p:spPr>
          <a:xfrm>
            <a:off x="918461" y="4624160"/>
            <a:ext cx="5126702" cy="1689052"/>
          </a:xfrm>
          <a:prstGeom prst="rect">
            <a:avLst/>
          </a:prstGeom>
          <a:ln>
            <a:solidFill>
              <a:srgbClr val="00B0F0"/>
            </a:solidFill>
          </a:ln>
        </p:spPr>
        <p:txBody>
          <a:bodyPr wrap="square">
            <a:spAutoFit/>
          </a:bodyPr>
          <a:lstStyle/>
          <a:p>
            <a:pPr marL="342900" indent="-342900">
              <a:lnSpc>
                <a:spcPct val="150000"/>
              </a:lnSpc>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鄰居節點維護</a:t>
            </a:r>
            <a:endParaRPr lang="en-US" altLang="zh-CN" sz="2400" dirty="0">
              <a:latin typeface="Microsoft YaHei" panose="020B0503020204020204" pitchFamily="34" charset="-122"/>
              <a:ea typeface="Microsoft YaHei" panose="020B0503020204020204" pitchFamily="34" charset="-122"/>
            </a:endParaRPr>
          </a:p>
          <a:p>
            <a:pPr marL="684000" indent="-342900" algn="just">
              <a:lnSpc>
                <a:spcPct val="150000"/>
              </a:lnSpc>
              <a:buFont typeface="Arial" panose="020B0604020202020204" pitchFamily="34" charset="0"/>
              <a:buChar char="•"/>
            </a:pPr>
            <a:r>
              <a:rPr kumimoji="1"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節點從本地的網絡信息表中選擇</a:t>
            </a:r>
            <a:r>
              <a:rPr kumimoji="1"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IP</a:t>
            </a:r>
            <a:r>
              <a:rPr kumimoji="1"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地址，幷請求建立鄰居關係</a:t>
            </a:r>
            <a:endParaRPr kumimoji="1" lang="en-US" altLang="zh-CN" sz="2400" dirty="0">
              <a:latin typeface="Microsoft YaHei" panose="020B0503020204020204" pitchFamily="34" charset="-122"/>
              <a:ea typeface="Microsoft YaHei" panose="020B0503020204020204" pitchFamily="34" charset="-122"/>
            </a:endParaRPr>
          </a:p>
        </p:txBody>
      </p:sp>
      <p:sp>
        <p:nvSpPr>
          <p:cNvPr id="37" name="灯片编号占位符 2">
            <a:extLst>
              <a:ext uri="{FF2B5EF4-FFF2-40B4-BE49-F238E27FC236}">
                <a16:creationId xmlns:a16="http://schemas.microsoft.com/office/drawing/2014/main" id="{5851EEF8-8E12-3E4F-8578-E6069F64A9D6}"/>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36</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56628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網絡節點發現</a:t>
            </a:r>
          </a:p>
        </p:txBody>
      </p:sp>
      <p:pic>
        <p:nvPicPr>
          <p:cNvPr id="4" name="图片 3">
            <a:extLst>
              <a:ext uri="{FF2B5EF4-FFF2-40B4-BE49-F238E27FC236}">
                <a16:creationId xmlns:a16="http://schemas.microsoft.com/office/drawing/2014/main" id="{9DA1C2B5-F1B4-3244-9EB9-D63A176F11BE}"/>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6990955" y="1052828"/>
            <a:ext cx="4847105" cy="5668647"/>
          </a:xfrm>
          <a:prstGeom prst="rect">
            <a:avLst/>
          </a:prstGeom>
          <a:noFill/>
          <a:ln>
            <a:noFill/>
          </a:ln>
        </p:spPr>
      </p:pic>
      <p:sp>
        <p:nvSpPr>
          <p:cNvPr id="7" name="矩形 6">
            <a:extLst>
              <a:ext uri="{FF2B5EF4-FFF2-40B4-BE49-F238E27FC236}">
                <a16:creationId xmlns:a16="http://schemas.microsoft.com/office/drawing/2014/main" id="{8D09BC3F-6105-2E4C-89F9-7B15D0B256E9}"/>
              </a:ext>
            </a:extLst>
          </p:cNvPr>
          <p:cNvSpPr/>
          <p:nvPr/>
        </p:nvSpPr>
        <p:spPr>
          <a:xfrm>
            <a:off x="647058" y="1031051"/>
            <a:ext cx="6145537" cy="5447004"/>
          </a:xfrm>
          <a:prstGeom prst="rect">
            <a:avLst/>
          </a:prstGeom>
          <a:ln>
            <a:solidFill>
              <a:srgbClr val="00B0F0"/>
            </a:solidFill>
          </a:ln>
        </p:spPr>
        <p:txBody>
          <a:bodyPr wrap="square">
            <a:spAutoFit/>
          </a:bodyPr>
          <a:lstStyle/>
          <a:p>
            <a:pPr marL="342900" indent="-342900" defTabSz="685800">
              <a:lnSpc>
                <a:spcPct val="120000"/>
              </a:lnSpc>
              <a:spcBef>
                <a:spcPct val="20000"/>
              </a:spcBef>
              <a:buClr>
                <a:schemeClr val="tx1"/>
              </a:buClr>
              <a:buSzPct val="100000"/>
              <a:buFont typeface="Arial" panose="020B0604020202020204" pitchFamily="34" charset="0"/>
              <a:buChar char="•"/>
              <a:defRPr/>
            </a:pPr>
            <a:r>
              <a:rPr lang="zh-CN" altLang="en-US" sz="2400" dirty="0">
                <a:latin typeface="Microsoft YaHei" panose="020B0503020204020204" pitchFamily="34" charset="-122"/>
                <a:ea typeface="Microsoft YaHei" panose="020B0503020204020204" pitchFamily="34" charset="-122"/>
              </a:rPr>
              <a:t>程序硬編碼</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marL="684900" indent="-342900" defTabSz="685800">
              <a:lnSpc>
                <a:spcPct val="120000"/>
              </a:lnSpc>
              <a:spcBef>
                <a:spcPct val="20000"/>
              </a:spcBef>
              <a:buClr>
                <a:schemeClr val="tx1"/>
              </a:buClr>
              <a:buSzPct val="100000"/>
              <a:buFont typeface="Arial" panose="020B0604020202020204" pitchFamily="34" charset="0"/>
              <a:buChar char="•"/>
              <a:defRPr/>
            </a:pPr>
            <a:r>
              <a:rPr lang="en-US" altLang="zh-CN" sz="2400" dirty="0">
                <a:latin typeface="Microsoft YaHei" panose="020B0503020204020204" pitchFamily="34" charset="-122"/>
                <a:ea typeface="Microsoft YaHei" panose="020B0503020204020204" pitchFamily="34" charset="-122"/>
              </a:rPr>
              <a:t>P2P</a:t>
            </a:r>
            <a:r>
              <a:rPr lang="zh-CN" altLang="en-US" sz="2400" dirty="0">
                <a:latin typeface="Microsoft YaHei" panose="020B0503020204020204" pitchFamily="34" charset="-122"/>
                <a:ea typeface="Microsoft YaHei" panose="020B0503020204020204" pitchFamily="34" charset="-122"/>
              </a:rPr>
              <a:t>客戶端程序中寫入權威節點</a:t>
            </a:r>
            <a:r>
              <a:rPr lang="en-US" altLang="zh-CN" sz="2400" dirty="0">
                <a:latin typeface="Microsoft YaHei" panose="020B0503020204020204" pitchFamily="34" charset="-122"/>
                <a:ea typeface="Microsoft YaHei" panose="020B0503020204020204" pitchFamily="34" charset="-122"/>
              </a:rPr>
              <a:t>IP</a:t>
            </a:r>
            <a:r>
              <a:rPr lang="zh-CN" altLang="en-US" sz="2400" dirty="0">
                <a:latin typeface="Microsoft YaHei" panose="020B0503020204020204" pitchFamily="34" charset="-122"/>
                <a:ea typeface="Microsoft YaHei" panose="020B0503020204020204" pitchFamily="34" charset="-122"/>
              </a:rPr>
              <a:t>，用于客戶端建立初始連接</a:t>
            </a:r>
            <a:endParaRPr lang="en-US" altLang="zh-CN" sz="2400" dirty="0">
              <a:latin typeface="Microsoft YaHei" panose="020B0503020204020204" pitchFamily="34" charset="-122"/>
              <a:ea typeface="Microsoft YaHei" panose="020B0503020204020204" pitchFamily="34" charset="-122"/>
            </a:endParaRPr>
          </a:p>
          <a:p>
            <a:pPr marL="342900" indent="-342900" defTabSz="685800">
              <a:lnSpc>
                <a:spcPct val="120000"/>
              </a:lnSpc>
              <a:spcBef>
                <a:spcPct val="20000"/>
              </a:spcBef>
              <a:buClr>
                <a:schemeClr val="tx1"/>
              </a:buClr>
              <a:buSzPct val="100000"/>
              <a:buFont typeface="Arial" panose="020B0604020202020204" pitchFamily="34" charset="0"/>
              <a:buChar char="•"/>
              <a:defRPr/>
            </a:pPr>
            <a:r>
              <a:rPr lang="en-US" altLang="zh-CN" sz="2400" dirty="0">
                <a:latin typeface="Microsoft YaHei" panose="020B0503020204020204" pitchFamily="34" charset="-122"/>
                <a:ea typeface="Microsoft YaHei" panose="020B0503020204020204" pitchFamily="34" charset="-122"/>
              </a:rPr>
              <a:t>DNS Seed</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marL="684900" indent="-342900" defTabSz="685800">
              <a:lnSpc>
                <a:spcPct val="120000"/>
              </a:lnSpc>
              <a:spcBef>
                <a:spcPct val="20000"/>
              </a:spcBef>
              <a:buClr>
                <a:schemeClr val="tx1"/>
              </a:buClr>
              <a:buSzPct val="100000"/>
              <a:buFont typeface="Arial" panose="020B0604020202020204" pitchFamily="34" charset="0"/>
              <a:buChar char="•"/>
              <a:defRPr/>
            </a:pPr>
            <a:r>
              <a:rPr lang="zh-CN" altLang="en-US" sz="2400" dirty="0">
                <a:latin typeface="Microsoft YaHei" panose="020B0503020204020204" pitchFamily="34" charset="-122"/>
                <a:ea typeface="Microsoft YaHei" panose="020B0503020204020204" pitchFamily="34" charset="-122"/>
              </a:rPr>
              <a:t>向</a:t>
            </a:r>
            <a:r>
              <a:rPr lang="en-US" altLang="zh-CN" sz="2400" dirty="0">
                <a:latin typeface="Microsoft YaHei" panose="020B0503020204020204" pitchFamily="34" charset="-122"/>
                <a:ea typeface="Microsoft YaHei" panose="020B0503020204020204" pitchFamily="34" charset="-122"/>
              </a:rPr>
              <a:t>Seed</a:t>
            </a:r>
            <a:r>
              <a:rPr lang="zh-CN" altLang="en-US" sz="2400" dirty="0">
                <a:latin typeface="Microsoft YaHei" panose="020B0503020204020204" pitchFamily="34" charset="-122"/>
                <a:ea typeface="Microsoft YaHei" panose="020B0503020204020204" pitchFamily="34" charset="-122"/>
              </a:rPr>
              <a:t>服務器請求節點</a:t>
            </a:r>
            <a:r>
              <a:rPr lang="en-US" altLang="zh-CN" sz="2400" dirty="0">
                <a:latin typeface="Microsoft YaHei" panose="020B0503020204020204" pitchFamily="34" charset="-122"/>
                <a:ea typeface="Microsoft YaHei" panose="020B0503020204020204" pitchFamily="34" charset="-122"/>
              </a:rPr>
              <a:t>IP</a:t>
            </a:r>
            <a:r>
              <a:rPr lang="zh-CN" altLang="en-US" sz="2400" dirty="0">
                <a:latin typeface="Microsoft YaHei" panose="020B0503020204020204" pitchFamily="34" charset="-122"/>
                <a:ea typeface="Microsoft YaHei" panose="020B0503020204020204" pitchFamily="34" charset="-122"/>
              </a:rPr>
              <a:t>地址</a:t>
            </a:r>
            <a:endParaRPr lang="en-US" altLang="zh-CN" sz="2400" dirty="0">
              <a:latin typeface="Microsoft YaHei" panose="020B0503020204020204" pitchFamily="34" charset="-122"/>
              <a:ea typeface="Microsoft YaHei" panose="020B0503020204020204" pitchFamily="34" charset="-122"/>
            </a:endParaRPr>
          </a:p>
          <a:p>
            <a:pPr marL="342900" indent="-342900" defTabSz="685800">
              <a:lnSpc>
                <a:spcPct val="120000"/>
              </a:lnSpc>
              <a:spcBef>
                <a:spcPct val="20000"/>
              </a:spcBef>
              <a:buClr>
                <a:schemeClr val="tx1"/>
              </a:buClr>
              <a:buSzPct val="100000"/>
              <a:buFont typeface="Arial" panose="020B0604020202020204" pitchFamily="34" charset="0"/>
              <a:buChar char="•"/>
              <a:defRPr/>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向鄰居請求</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marL="684900" indent="-342900" defTabSz="685800">
              <a:lnSpc>
                <a:spcPct val="120000"/>
              </a:lnSpc>
              <a:spcBef>
                <a:spcPct val="20000"/>
              </a:spcBef>
              <a:buClr>
                <a:schemeClr val="tx1"/>
              </a:buClr>
              <a:buSzPct val="100000"/>
              <a:buFont typeface="Arial" panose="020B0604020202020204" pitchFamily="34" charset="0"/>
              <a:buChar char="•"/>
              <a:defRPr/>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已存在鄰居後，和鄰居節點定期交換所發現的新</a:t>
            </a:r>
            <a:r>
              <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rPr>
              <a:t>IP</a:t>
            </a: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地址</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marL="342900" indent="-342900" defTabSz="685800">
              <a:lnSpc>
                <a:spcPct val="120000"/>
              </a:lnSpc>
              <a:spcBef>
                <a:spcPct val="20000"/>
              </a:spcBef>
              <a:buClr>
                <a:schemeClr val="tx1"/>
              </a:buClr>
              <a:buSzPct val="100000"/>
              <a:buFont typeface="Arial" panose="020B0604020202020204" pitchFamily="34" charset="0"/>
              <a:buChar char="•"/>
              <a:defRPr/>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節點查詢</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marL="684900" indent="-342900" defTabSz="685800">
              <a:lnSpc>
                <a:spcPct val="120000"/>
              </a:lnSpc>
              <a:spcBef>
                <a:spcPct val="20000"/>
              </a:spcBef>
              <a:buClr>
                <a:schemeClr val="tx1"/>
              </a:buClr>
              <a:buSzPct val="100000"/>
              <a:buFont typeface="Arial" panose="020B0604020202020204" pitchFamily="34" charset="0"/>
              <a:buChar char="•"/>
              <a:defRPr/>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針對特定的節點</a:t>
            </a:r>
            <a:r>
              <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rPr>
              <a:t>id</a:t>
            </a: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，查詢其</a:t>
            </a:r>
            <a:r>
              <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rPr>
              <a:t>IP</a:t>
            </a: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地址，主要在有結構化的</a:t>
            </a:r>
            <a:r>
              <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rPr>
              <a:t>P2P</a:t>
            </a: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網絡中存在</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灯片编号占位符 2">
            <a:extLst>
              <a:ext uri="{FF2B5EF4-FFF2-40B4-BE49-F238E27FC236}">
                <a16:creationId xmlns:a16="http://schemas.microsoft.com/office/drawing/2014/main" id="{C75CCB01-F97C-3340-A07D-D6927A13357B}"/>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37</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38354711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鄰居節點維護</a:t>
            </a:r>
          </a:p>
        </p:txBody>
      </p:sp>
      <p:pic>
        <p:nvPicPr>
          <p:cNvPr id="4" name="图片 3">
            <a:extLst>
              <a:ext uri="{FF2B5EF4-FFF2-40B4-BE49-F238E27FC236}">
                <a16:creationId xmlns:a16="http://schemas.microsoft.com/office/drawing/2014/main" id="{351546AA-5B79-E04A-B8D4-1CF7D9A36E31}"/>
              </a:ext>
            </a:extLst>
          </p:cNvPr>
          <p:cNvPicPr>
            <a:picLocks noChangeAspect="1"/>
          </p:cNvPicPr>
          <p:nvPr/>
        </p:nvPicPr>
        <p:blipFill>
          <a:blip r:embed="rId2"/>
          <a:stretch>
            <a:fillRect/>
          </a:stretch>
        </p:blipFill>
        <p:spPr>
          <a:xfrm>
            <a:off x="6998414" y="935085"/>
            <a:ext cx="4531162" cy="2608182"/>
          </a:xfrm>
          <a:prstGeom prst="rect">
            <a:avLst/>
          </a:prstGeom>
        </p:spPr>
      </p:pic>
      <p:pic>
        <p:nvPicPr>
          <p:cNvPr id="5" name="Picture 2" descr="See the source image">
            <a:extLst>
              <a:ext uri="{FF2B5EF4-FFF2-40B4-BE49-F238E27FC236}">
                <a16:creationId xmlns:a16="http://schemas.microsoft.com/office/drawing/2014/main" id="{F81D8F0C-5193-EB4C-A6A2-638CF6874B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3305" y="3609407"/>
            <a:ext cx="2906575" cy="290657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97410D14-4958-5C4B-90A9-9B42D7D19019}"/>
              </a:ext>
            </a:extLst>
          </p:cNvPr>
          <p:cNvSpPr>
            <a:spLocks noChangeArrowheads="1"/>
          </p:cNvSpPr>
          <p:nvPr/>
        </p:nvSpPr>
        <p:spPr bwMode="auto">
          <a:xfrm>
            <a:off x="906742" y="5688936"/>
            <a:ext cx="6976868" cy="1032539"/>
          </a:xfrm>
          <a:prstGeom prst="rect">
            <a:avLst/>
          </a:prstGeom>
          <a:noFill/>
          <a:ln w="9525">
            <a:solidFill>
              <a:srgbClr val="00B0F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685800">
              <a:lnSpc>
                <a:spcPct val="120000"/>
              </a:lnSpc>
              <a:spcBef>
                <a:spcPct val="20000"/>
              </a:spcBef>
              <a:buClr>
                <a:schemeClr val="tx1"/>
              </a:buClr>
              <a:buSzPct val="100000"/>
              <a:buFont typeface="Arial" panose="020B0604020202020204" pitchFamily="34" charset="0"/>
              <a:buChar char="•"/>
              <a:defRPr/>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混合模式：有結構化</a:t>
            </a:r>
            <a:r>
              <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rPr>
              <a:t>P2P</a:t>
            </a: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網絡中，允許節點隨機選擇部分鄰居節點</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10" name="矩形 9">
            <a:extLst>
              <a:ext uri="{FF2B5EF4-FFF2-40B4-BE49-F238E27FC236}">
                <a16:creationId xmlns:a16="http://schemas.microsoft.com/office/drawing/2014/main" id="{EB25D27F-ED8C-DD42-BF55-E145F577C34C}"/>
              </a:ext>
            </a:extLst>
          </p:cNvPr>
          <p:cNvSpPr/>
          <p:nvPr/>
        </p:nvSpPr>
        <p:spPr>
          <a:xfrm>
            <a:off x="906741" y="3528817"/>
            <a:ext cx="6976869" cy="1975284"/>
          </a:xfrm>
          <a:prstGeom prst="rect">
            <a:avLst/>
          </a:prstGeom>
          <a:ln>
            <a:solidFill>
              <a:srgbClr val="00B0F0"/>
            </a:solidFill>
          </a:ln>
        </p:spPr>
        <p:txBody>
          <a:bodyPr wrap="square">
            <a:spAutoFit/>
          </a:bodyPr>
          <a:lstStyle/>
          <a:p>
            <a:pPr marL="342900" indent="-342900" defTabSz="685800">
              <a:lnSpc>
                <a:spcPct val="120000"/>
              </a:lnSpc>
              <a:spcBef>
                <a:spcPct val="20000"/>
              </a:spcBef>
              <a:buClr>
                <a:schemeClr val="tx1"/>
              </a:buClr>
              <a:buSzPct val="100000"/>
              <a:buFont typeface="Arial" panose="020B0604020202020204" pitchFamily="34" charset="0"/>
              <a:buChar char="•"/>
              <a:defRPr/>
            </a:pPr>
            <a:r>
              <a:rPr lang="zh-CN" altLang="en-US" sz="2400" dirty="0">
                <a:latin typeface="Microsoft YaHei" panose="020B0503020204020204" pitchFamily="34" charset="-122"/>
                <a:ea typeface="Microsoft YaHei" panose="020B0503020204020204" pitchFamily="34" charset="-122"/>
              </a:rPr>
              <a:t>有結構化</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marL="684900" indent="-342900" defTabSz="685800">
              <a:lnSpc>
                <a:spcPct val="120000"/>
              </a:lnSpc>
              <a:spcBef>
                <a:spcPct val="20000"/>
              </a:spcBef>
              <a:buClr>
                <a:schemeClr val="tx1"/>
              </a:buClr>
              <a:buSzPct val="100000"/>
              <a:buFont typeface="Arial" panose="020B0604020202020204" pitchFamily="34" charset="0"/>
              <a:buChar char="•"/>
              <a:defRPr/>
            </a:pPr>
            <a:r>
              <a:rPr lang="zh-CN" altLang="en-US" sz="2400" dirty="0">
                <a:latin typeface="Microsoft YaHei" panose="020B0503020204020204" pitchFamily="34" charset="-122"/>
                <a:ea typeface="Microsoft YaHei" panose="020B0503020204020204" pitchFamily="34" charset="-122"/>
              </a:rPr>
              <a:t>每個節點都有指定的</a:t>
            </a:r>
            <a:r>
              <a:rPr lang="en-US" altLang="zh-CN" sz="2400" dirty="0">
                <a:latin typeface="Microsoft YaHei" panose="020B0503020204020204" pitchFamily="34" charset="-122"/>
                <a:ea typeface="Microsoft YaHei" panose="020B0503020204020204" pitchFamily="34" charset="-122"/>
              </a:rPr>
              <a:t>id</a:t>
            </a:r>
            <a:r>
              <a:rPr lang="zh-CN" altLang="en-US" sz="2400" dirty="0">
                <a:latin typeface="Microsoft YaHei" panose="020B0503020204020204" pitchFamily="34" charset="-122"/>
                <a:ea typeface="Microsoft YaHei" panose="020B0503020204020204" pitchFamily="34" charset="-122"/>
              </a:rPr>
              <a:t>，幷存在相應的公私鑰用于</a:t>
            </a:r>
            <a:r>
              <a:rPr lang="en-US" altLang="zh-CN" sz="2400" dirty="0">
                <a:latin typeface="Microsoft YaHei" panose="020B0503020204020204" pitchFamily="34" charset="-122"/>
                <a:ea typeface="Microsoft YaHei" panose="020B0503020204020204" pitchFamily="34" charset="-122"/>
              </a:rPr>
              <a:t>id</a:t>
            </a:r>
            <a:r>
              <a:rPr lang="zh-CN" altLang="en-US" sz="2400" dirty="0">
                <a:latin typeface="Microsoft YaHei" panose="020B0503020204020204" pitchFamily="34" charset="-122"/>
                <a:ea typeface="Microsoft YaHei" panose="020B0503020204020204" pitchFamily="34" charset="-122"/>
              </a:rPr>
              <a:t>的認證</a:t>
            </a:r>
            <a:endParaRPr lang="en-US" altLang="zh-CN" sz="2400" dirty="0">
              <a:latin typeface="Microsoft YaHei" panose="020B0503020204020204" pitchFamily="34" charset="-122"/>
              <a:ea typeface="Microsoft YaHei" panose="020B0503020204020204" pitchFamily="34" charset="-122"/>
            </a:endParaRPr>
          </a:p>
          <a:p>
            <a:pPr marL="684900" indent="-342900" defTabSz="685800">
              <a:lnSpc>
                <a:spcPct val="120000"/>
              </a:lnSpc>
              <a:spcBef>
                <a:spcPct val="20000"/>
              </a:spcBef>
              <a:buClr>
                <a:schemeClr val="tx1"/>
              </a:buClr>
              <a:buSzPct val="100000"/>
              <a:buFont typeface="Arial" panose="020B0604020202020204" pitchFamily="34" charset="0"/>
              <a:buChar char="•"/>
              <a:defRPr/>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節點基于</a:t>
            </a:r>
            <a:r>
              <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rPr>
              <a:t>id</a:t>
            </a: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之間的距離按規定確定鄰居節點</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12" name="矩形 11">
            <a:extLst>
              <a:ext uri="{FF2B5EF4-FFF2-40B4-BE49-F238E27FC236}">
                <a16:creationId xmlns:a16="http://schemas.microsoft.com/office/drawing/2014/main" id="{9A3921A8-F8C2-5D46-8948-4C4EFF93CC82}"/>
              </a:ext>
            </a:extLst>
          </p:cNvPr>
          <p:cNvSpPr/>
          <p:nvPr/>
        </p:nvSpPr>
        <p:spPr>
          <a:xfrm>
            <a:off x="906742" y="1010517"/>
            <a:ext cx="6070058" cy="2418483"/>
          </a:xfrm>
          <a:prstGeom prst="rect">
            <a:avLst/>
          </a:prstGeom>
          <a:ln>
            <a:solidFill>
              <a:srgbClr val="00B0F0"/>
            </a:solidFill>
          </a:ln>
        </p:spPr>
        <p:txBody>
          <a:bodyPr wrap="square">
            <a:spAutoFit/>
          </a:bodyPr>
          <a:lstStyle/>
          <a:p>
            <a:pPr marL="342900" indent="-342900" defTabSz="685800">
              <a:lnSpc>
                <a:spcPct val="120000"/>
              </a:lnSpc>
              <a:spcBef>
                <a:spcPct val="20000"/>
              </a:spcBef>
              <a:buClr>
                <a:schemeClr val="tx1"/>
              </a:buClr>
              <a:buSzPct val="100000"/>
              <a:buFont typeface="Arial" panose="020B0604020202020204" pitchFamily="34" charset="0"/>
              <a:buChar char="•"/>
              <a:defRPr/>
            </a:pPr>
            <a:r>
              <a:rPr lang="zh-CN" altLang="en-US" sz="2400" dirty="0">
                <a:latin typeface="Microsoft YaHei" panose="020B0503020204020204" pitchFamily="34" charset="-122"/>
                <a:ea typeface="Microsoft YaHei" panose="020B0503020204020204" pitchFamily="34" charset="-122"/>
              </a:rPr>
              <a:t>無結構化</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marL="684900" indent="-342900" defTabSz="685800">
              <a:lnSpc>
                <a:spcPct val="120000"/>
              </a:lnSpc>
              <a:spcBef>
                <a:spcPct val="20000"/>
              </a:spcBef>
              <a:buClr>
                <a:schemeClr val="tx1"/>
              </a:buClr>
              <a:buSzPct val="100000"/>
              <a:buFont typeface="Arial" panose="020B0604020202020204" pitchFamily="34" charset="0"/>
              <a:buChar char="•"/>
              <a:defRPr/>
            </a:pPr>
            <a:r>
              <a:rPr lang="zh-CN" altLang="en-US" sz="2400" dirty="0">
                <a:latin typeface="Microsoft YaHei" panose="020B0503020204020204" pitchFamily="34" charset="-122"/>
                <a:ea typeface="Microsoft YaHei" panose="020B0503020204020204" pitchFamily="34" charset="-122"/>
              </a:rPr>
              <a:t>從發現的</a:t>
            </a:r>
            <a:r>
              <a:rPr lang="en-US" altLang="zh-CN" sz="2400" dirty="0">
                <a:latin typeface="Microsoft YaHei" panose="020B0503020204020204" pitchFamily="34" charset="-122"/>
                <a:ea typeface="Microsoft YaHei" panose="020B0503020204020204" pitchFamily="34" charset="-122"/>
              </a:rPr>
              <a:t>IP</a:t>
            </a:r>
            <a:r>
              <a:rPr lang="zh-CN" altLang="en-US" sz="2400" dirty="0">
                <a:latin typeface="Microsoft YaHei" panose="020B0503020204020204" pitchFamily="34" charset="-122"/>
                <a:ea typeface="Microsoft YaHei" panose="020B0503020204020204" pitchFamily="34" charset="-122"/>
              </a:rPr>
              <a:t>地址中，隨機選擇鄰居</a:t>
            </a:r>
            <a:endParaRPr lang="en-US" altLang="zh-CN" sz="2400" dirty="0">
              <a:latin typeface="Microsoft YaHei" panose="020B0503020204020204" pitchFamily="34" charset="-122"/>
              <a:ea typeface="Microsoft YaHei" panose="020B0503020204020204" pitchFamily="34" charset="-122"/>
            </a:endParaRPr>
          </a:p>
          <a:p>
            <a:pPr marL="684900" indent="-342900" defTabSz="685800">
              <a:lnSpc>
                <a:spcPct val="120000"/>
              </a:lnSpc>
              <a:spcBef>
                <a:spcPct val="20000"/>
              </a:spcBef>
              <a:buClr>
                <a:schemeClr val="tx1"/>
              </a:buClr>
              <a:buSzPct val="100000"/>
              <a:buFont typeface="Arial" panose="020B0604020202020204" pitchFamily="34" charset="0"/>
              <a:buChar char="•"/>
              <a:defRPr/>
            </a:pPr>
            <a:r>
              <a:rPr lang="zh-CN" altLang="en-US" sz="2400" dirty="0">
                <a:latin typeface="Microsoft YaHei" panose="020B0503020204020204" pitchFamily="34" charset="-122"/>
                <a:ea typeface="Microsoft YaHei" panose="020B0503020204020204" pitchFamily="34" charset="-122"/>
              </a:rPr>
              <a:t>通常限制節點的入向和出向連接數，入向指被請求建立的鄰居關係，出向指主動請求建立的鄰居關係</a:t>
            </a:r>
            <a:endParaRPr lang="en-US" altLang="zh-CN" sz="2400" dirty="0">
              <a:latin typeface="Microsoft YaHei" panose="020B0503020204020204" pitchFamily="34" charset="-122"/>
              <a:ea typeface="Microsoft YaHei" panose="020B0503020204020204" pitchFamily="34" charset="-122"/>
            </a:endParaRPr>
          </a:p>
        </p:txBody>
      </p:sp>
      <p:sp>
        <p:nvSpPr>
          <p:cNvPr id="8" name="灯片编号占位符 2">
            <a:extLst>
              <a:ext uri="{FF2B5EF4-FFF2-40B4-BE49-F238E27FC236}">
                <a16:creationId xmlns:a16="http://schemas.microsoft.com/office/drawing/2014/main" id="{A8CE2AFA-8943-7048-AE90-5C0608E145F9}"/>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38</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7643175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日蝕攻擊</a:t>
            </a:r>
          </a:p>
        </p:txBody>
      </p:sp>
      <p:grpSp>
        <p:nvGrpSpPr>
          <p:cNvPr id="13" name="组合 12">
            <a:extLst>
              <a:ext uri="{FF2B5EF4-FFF2-40B4-BE49-F238E27FC236}">
                <a16:creationId xmlns:a16="http://schemas.microsoft.com/office/drawing/2014/main" id="{BBF723A7-4B69-7943-9219-26CDBDB38F33}"/>
              </a:ext>
            </a:extLst>
          </p:cNvPr>
          <p:cNvGrpSpPr/>
          <p:nvPr/>
        </p:nvGrpSpPr>
        <p:grpSpPr>
          <a:xfrm>
            <a:off x="5774606" y="993297"/>
            <a:ext cx="5772821" cy="2709569"/>
            <a:chOff x="6033022" y="1104510"/>
            <a:chExt cx="5772821" cy="2709569"/>
          </a:xfrm>
        </p:grpSpPr>
        <p:pic>
          <p:nvPicPr>
            <p:cNvPr id="6" name="图形 5" descr="Internet">
              <a:extLst>
                <a:ext uri="{FF2B5EF4-FFF2-40B4-BE49-F238E27FC236}">
                  <a16:creationId xmlns:a16="http://schemas.microsoft.com/office/drawing/2014/main" id="{C47FBE1B-D7C8-2B45-BB34-0C6D7D56F02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33022" y="2029870"/>
              <a:ext cx="681661" cy="725407"/>
            </a:xfrm>
            <a:prstGeom prst="rect">
              <a:avLst/>
            </a:prstGeom>
          </p:spPr>
        </p:pic>
        <p:pic>
          <p:nvPicPr>
            <p:cNvPr id="7" name="图形 6" descr="Internet">
              <a:extLst>
                <a:ext uri="{FF2B5EF4-FFF2-40B4-BE49-F238E27FC236}">
                  <a16:creationId xmlns:a16="http://schemas.microsoft.com/office/drawing/2014/main" id="{C179BDBA-A106-6049-8129-F2EFA54507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84742" y="1104511"/>
              <a:ext cx="681661" cy="725407"/>
            </a:xfrm>
            <a:prstGeom prst="rect">
              <a:avLst/>
            </a:prstGeom>
          </p:spPr>
        </p:pic>
        <p:pic>
          <p:nvPicPr>
            <p:cNvPr id="8" name="图形 7" descr="Internet">
              <a:extLst>
                <a:ext uri="{FF2B5EF4-FFF2-40B4-BE49-F238E27FC236}">
                  <a16:creationId xmlns:a16="http://schemas.microsoft.com/office/drawing/2014/main" id="{20BA92CB-AF20-FD4D-A995-56219961C7E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84742" y="2934785"/>
              <a:ext cx="681661" cy="725407"/>
            </a:xfrm>
            <a:prstGeom prst="rect">
              <a:avLst/>
            </a:prstGeom>
          </p:spPr>
        </p:pic>
        <p:pic>
          <p:nvPicPr>
            <p:cNvPr id="9" name="图形 8" descr="Internet">
              <a:extLst>
                <a:ext uri="{FF2B5EF4-FFF2-40B4-BE49-F238E27FC236}">
                  <a16:creationId xmlns:a16="http://schemas.microsoft.com/office/drawing/2014/main" id="{89B95ECF-3D92-EC43-8771-34C4A207A7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93540" y="2029869"/>
              <a:ext cx="681661" cy="725407"/>
            </a:xfrm>
            <a:prstGeom prst="rect">
              <a:avLst/>
            </a:prstGeom>
          </p:spPr>
        </p:pic>
        <p:pic>
          <p:nvPicPr>
            <p:cNvPr id="10" name="图形 9" descr="Internet">
              <a:extLst>
                <a:ext uri="{FF2B5EF4-FFF2-40B4-BE49-F238E27FC236}">
                  <a16:creationId xmlns:a16="http://schemas.microsoft.com/office/drawing/2014/main" id="{2A9CCA77-388E-1347-AFF3-8A0C4541671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87904" y="1104510"/>
              <a:ext cx="681661" cy="725407"/>
            </a:xfrm>
            <a:prstGeom prst="rect">
              <a:avLst/>
            </a:prstGeom>
          </p:spPr>
        </p:pic>
        <p:pic>
          <p:nvPicPr>
            <p:cNvPr id="11" name="图形 10" descr="Internet">
              <a:extLst>
                <a:ext uri="{FF2B5EF4-FFF2-40B4-BE49-F238E27FC236}">
                  <a16:creationId xmlns:a16="http://schemas.microsoft.com/office/drawing/2014/main" id="{6A969A31-FD06-5B43-B24D-E5D12F78594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87904" y="2934784"/>
              <a:ext cx="681661" cy="725407"/>
            </a:xfrm>
            <a:prstGeom prst="rect">
              <a:avLst/>
            </a:prstGeom>
          </p:spPr>
        </p:pic>
        <p:pic>
          <p:nvPicPr>
            <p:cNvPr id="12" name="图形 11" descr="Internet">
              <a:extLst>
                <a:ext uri="{FF2B5EF4-FFF2-40B4-BE49-F238E27FC236}">
                  <a16:creationId xmlns:a16="http://schemas.microsoft.com/office/drawing/2014/main" id="{C7E931C5-034C-D545-B104-BA472F1A671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24182" y="2029869"/>
              <a:ext cx="681661" cy="725407"/>
            </a:xfrm>
            <a:prstGeom prst="rect">
              <a:avLst/>
            </a:prstGeom>
          </p:spPr>
        </p:pic>
        <p:sp>
          <p:nvSpPr>
            <p:cNvPr id="3" name="矩形 2">
              <a:extLst>
                <a:ext uri="{FF2B5EF4-FFF2-40B4-BE49-F238E27FC236}">
                  <a16:creationId xmlns:a16="http://schemas.microsoft.com/office/drawing/2014/main" id="{2D9A051A-AA6A-334A-9B26-F8C02AC097C6}"/>
                </a:ext>
              </a:extLst>
            </p:cNvPr>
            <p:cNvSpPr/>
            <p:nvPr/>
          </p:nvSpPr>
          <p:spPr>
            <a:xfrm>
              <a:off x="9887904" y="1676028"/>
              <a:ext cx="723275" cy="307777"/>
            </a:xfrm>
            <a:prstGeom prst="rect">
              <a:avLst/>
            </a:prstGeom>
          </p:spPr>
          <p:txBody>
            <a:bodyPr wrap="none">
              <a:spAutoFit/>
            </a:bodyPr>
            <a:lstStyle/>
            <a:p>
              <a:r>
                <a:rPr lang="zh-CN" altLang="en-US" sz="1400" dirty="0">
                  <a:latin typeface="Microsoft YaHei" panose="020B0503020204020204" pitchFamily="34" charset="-122"/>
                  <a:ea typeface="Microsoft YaHei" panose="020B0503020204020204" pitchFamily="34" charset="-122"/>
                  <a:cs typeface="Times New Roman" panose="02020603050405020304" pitchFamily="18" charset="0"/>
                </a:rPr>
                <a:t>攻擊者</a:t>
              </a:r>
              <a:endParaRPr lang="zh-CN" altLang="en-US" sz="1400" dirty="0"/>
            </a:p>
          </p:txBody>
        </p:sp>
        <p:sp>
          <p:nvSpPr>
            <p:cNvPr id="14" name="矩形 13">
              <a:extLst>
                <a:ext uri="{FF2B5EF4-FFF2-40B4-BE49-F238E27FC236}">
                  <a16:creationId xmlns:a16="http://schemas.microsoft.com/office/drawing/2014/main" id="{442333E0-F2C4-1049-98EA-2FE8D88DE04F}"/>
                </a:ext>
              </a:extLst>
            </p:cNvPr>
            <p:cNvSpPr/>
            <p:nvPr/>
          </p:nvSpPr>
          <p:spPr>
            <a:xfrm>
              <a:off x="9883361" y="3506302"/>
              <a:ext cx="723275" cy="307777"/>
            </a:xfrm>
            <a:prstGeom prst="rect">
              <a:avLst/>
            </a:prstGeom>
          </p:spPr>
          <p:txBody>
            <a:bodyPr wrap="none">
              <a:spAutoFit/>
            </a:bodyPr>
            <a:lstStyle/>
            <a:p>
              <a:r>
                <a:rPr lang="zh-CN" altLang="en-US" sz="1400" dirty="0">
                  <a:latin typeface="Microsoft YaHei" panose="020B0503020204020204" pitchFamily="34" charset="-122"/>
                  <a:ea typeface="Microsoft YaHei" panose="020B0503020204020204" pitchFamily="34" charset="-122"/>
                  <a:cs typeface="Times New Roman" panose="02020603050405020304" pitchFamily="18" charset="0"/>
                </a:rPr>
                <a:t>攻擊者</a:t>
              </a:r>
              <a:endParaRPr lang="zh-CN" altLang="en-US" sz="1400" dirty="0"/>
            </a:p>
          </p:txBody>
        </p:sp>
        <p:sp>
          <p:nvSpPr>
            <p:cNvPr id="15" name="矩形 14">
              <a:extLst>
                <a:ext uri="{FF2B5EF4-FFF2-40B4-BE49-F238E27FC236}">
                  <a16:creationId xmlns:a16="http://schemas.microsoft.com/office/drawing/2014/main" id="{5DBB9914-1B41-6549-838D-68FDAA5A19E0}"/>
                </a:ext>
              </a:extLst>
            </p:cNvPr>
            <p:cNvSpPr/>
            <p:nvPr/>
          </p:nvSpPr>
          <p:spPr>
            <a:xfrm>
              <a:off x="7284742" y="1685178"/>
              <a:ext cx="723275" cy="307777"/>
            </a:xfrm>
            <a:prstGeom prst="rect">
              <a:avLst/>
            </a:prstGeom>
          </p:spPr>
          <p:txBody>
            <a:bodyPr wrap="none">
              <a:spAutoFit/>
            </a:bodyPr>
            <a:lstStyle/>
            <a:p>
              <a:r>
                <a:rPr lang="zh-CN" altLang="en-US" sz="1400" dirty="0">
                  <a:latin typeface="Microsoft YaHei" panose="020B0503020204020204" pitchFamily="34" charset="-122"/>
                  <a:ea typeface="Microsoft YaHei" panose="020B0503020204020204" pitchFamily="34" charset="-122"/>
                  <a:cs typeface="Times New Roman" panose="02020603050405020304" pitchFamily="18" charset="0"/>
                </a:rPr>
                <a:t>攻擊者</a:t>
              </a:r>
              <a:endParaRPr lang="zh-CN" altLang="en-US" sz="1400" dirty="0"/>
            </a:p>
          </p:txBody>
        </p:sp>
        <p:sp>
          <p:nvSpPr>
            <p:cNvPr id="16" name="矩形 15">
              <a:extLst>
                <a:ext uri="{FF2B5EF4-FFF2-40B4-BE49-F238E27FC236}">
                  <a16:creationId xmlns:a16="http://schemas.microsoft.com/office/drawing/2014/main" id="{FDA52B66-CB4F-6A4E-B97B-8B884FB54EFF}"/>
                </a:ext>
              </a:extLst>
            </p:cNvPr>
            <p:cNvSpPr/>
            <p:nvPr/>
          </p:nvSpPr>
          <p:spPr>
            <a:xfrm>
              <a:off x="7276922" y="3506302"/>
              <a:ext cx="723275" cy="307777"/>
            </a:xfrm>
            <a:prstGeom prst="rect">
              <a:avLst/>
            </a:prstGeom>
          </p:spPr>
          <p:txBody>
            <a:bodyPr wrap="none">
              <a:spAutoFit/>
            </a:bodyPr>
            <a:lstStyle/>
            <a:p>
              <a:r>
                <a:rPr lang="zh-CN" altLang="en-US" sz="1400" dirty="0">
                  <a:latin typeface="Microsoft YaHei" panose="020B0503020204020204" pitchFamily="34" charset="-122"/>
                  <a:ea typeface="Microsoft YaHei" panose="020B0503020204020204" pitchFamily="34" charset="-122"/>
                  <a:cs typeface="Times New Roman" panose="02020603050405020304" pitchFamily="18" charset="0"/>
                </a:rPr>
                <a:t>攻擊者</a:t>
              </a:r>
              <a:endParaRPr lang="zh-CN" altLang="en-US" sz="1400" dirty="0"/>
            </a:p>
          </p:txBody>
        </p:sp>
        <p:sp>
          <p:nvSpPr>
            <p:cNvPr id="17" name="矩形 16">
              <a:extLst>
                <a:ext uri="{FF2B5EF4-FFF2-40B4-BE49-F238E27FC236}">
                  <a16:creationId xmlns:a16="http://schemas.microsoft.com/office/drawing/2014/main" id="{AA5263EA-F8E7-924D-A322-CB0D25A2DCF3}"/>
                </a:ext>
              </a:extLst>
            </p:cNvPr>
            <p:cNvSpPr/>
            <p:nvPr/>
          </p:nvSpPr>
          <p:spPr>
            <a:xfrm>
              <a:off x="8572732" y="2588586"/>
              <a:ext cx="723275" cy="307777"/>
            </a:xfrm>
            <a:prstGeom prst="rect">
              <a:avLst/>
            </a:prstGeom>
          </p:spPr>
          <p:txBody>
            <a:bodyPr wrap="none">
              <a:spAutoFit/>
            </a:bodyPr>
            <a:lstStyle/>
            <a:p>
              <a:r>
                <a:rPr lang="zh-CN" altLang="en-US" sz="1400" dirty="0">
                  <a:latin typeface="Microsoft YaHei" panose="020B0503020204020204" pitchFamily="34" charset="-122"/>
                  <a:ea typeface="Microsoft YaHei" panose="020B0503020204020204" pitchFamily="34" charset="-122"/>
                  <a:cs typeface="Times New Roman" panose="02020603050405020304" pitchFamily="18" charset="0"/>
                </a:rPr>
                <a:t>受害者</a:t>
              </a:r>
              <a:endParaRPr lang="zh-CN" altLang="en-US" sz="1400" dirty="0"/>
            </a:p>
          </p:txBody>
        </p:sp>
        <p:sp>
          <p:nvSpPr>
            <p:cNvPr id="18" name="Line 13">
              <a:extLst>
                <a:ext uri="{FF2B5EF4-FFF2-40B4-BE49-F238E27FC236}">
                  <a16:creationId xmlns:a16="http://schemas.microsoft.com/office/drawing/2014/main" id="{B0C3843A-70A1-3F45-9ABA-1B6E667E76F0}"/>
                </a:ext>
              </a:extLst>
            </p:cNvPr>
            <p:cNvSpPr>
              <a:spLocks noChangeShapeType="1"/>
            </p:cNvSpPr>
            <p:nvPr/>
          </p:nvSpPr>
          <p:spPr bwMode="auto">
            <a:xfrm flipV="1">
              <a:off x="7874807" y="2653161"/>
              <a:ext cx="681661" cy="412174"/>
            </a:xfrm>
            <a:prstGeom prst="line">
              <a:avLst/>
            </a:prstGeom>
            <a:noFill/>
            <a:ln w="9525">
              <a:solidFill>
                <a:sysClr val="windowText" lastClr="000000"/>
              </a:solidFill>
              <a:prstDash val="dash"/>
              <a:round/>
              <a:headEnd type="triangl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9" name="Line 13">
              <a:extLst>
                <a:ext uri="{FF2B5EF4-FFF2-40B4-BE49-F238E27FC236}">
                  <a16:creationId xmlns:a16="http://schemas.microsoft.com/office/drawing/2014/main" id="{6D15B44E-AB09-1247-BE99-0D8C6A50928D}"/>
                </a:ext>
              </a:extLst>
            </p:cNvPr>
            <p:cNvSpPr>
              <a:spLocks noChangeShapeType="1"/>
            </p:cNvSpPr>
            <p:nvPr/>
          </p:nvSpPr>
          <p:spPr bwMode="auto">
            <a:xfrm>
              <a:off x="8000197" y="1685177"/>
              <a:ext cx="681661" cy="438329"/>
            </a:xfrm>
            <a:prstGeom prst="line">
              <a:avLst/>
            </a:prstGeom>
            <a:noFill/>
            <a:ln w="9525">
              <a:solidFill>
                <a:sysClr val="windowText" lastClr="000000"/>
              </a:solidFill>
              <a:prstDash val="dash"/>
              <a:round/>
              <a:headEnd type="triangl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0" name="Line 13">
              <a:extLst>
                <a:ext uri="{FF2B5EF4-FFF2-40B4-BE49-F238E27FC236}">
                  <a16:creationId xmlns:a16="http://schemas.microsoft.com/office/drawing/2014/main" id="{485382DA-9391-8740-B970-BE3288D19D31}"/>
                </a:ext>
              </a:extLst>
            </p:cNvPr>
            <p:cNvSpPr>
              <a:spLocks noChangeShapeType="1"/>
            </p:cNvSpPr>
            <p:nvPr/>
          </p:nvSpPr>
          <p:spPr bwMode="auto">
            <a:xfrm flipV="1">
              <a:off x="9172449" y="1719394"/>
              <a:ext cx="661484" cy="404112"/>
            </a:xfrm>
            <a:prstGeom prst="line">
              <a:avLst/>
            </a:prstGeom>
            <a:noFill/>
            <a:ln w="9525">
              <a:solidFill>
                <a:sysClr val="windowText" lastClr="000000"/>
              </a:solidFill>
              <a:prstDash val="dash"/>
              <a:round/>
              <a:headEnd type="triangl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1" name="Line 13">
              <a:extLst>
                <a:ext uri="{FF2B5EF4-FFF2-40B4-BE49-F238E27FC236}">
                  <a16:creationId xmlns:a16="http://schemas.microsoft.com/office/drawing/2014/main" id="{43BE1556-5357-D948-B30B-519C62B07667}"/>
                </a:ext>
              </a:extLst>
            </p:cNvPr>
            <p:cNvSpPr>
              <a:spLocks noChangeShapeType="1"/>
            </p:cNvSpPr>
            <p:nvPr/>
          </p:nvSpPr>
          <p:spPr bwMode="auto">
            <a:xfrm>
              <a:off x="9296007" y="2644011"/>
              <a:ext cx="661484" cy="430474"/>
            </a:xfrm>
            <a:prstGeom prst="line">
              <a:avLst/>
            </a:prstGeom>
            <a:noFill/>
            <a:ln w="9525">
              <a:solidFill>
                <a:sysClr val="windowText" lastClr="000000"/>
              </a:solidFill>
              <a:prstDash val="dash"/>
              <a:round/>
              <a:headEnd type="triangl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2" name="Line 13">
              <a:extLst>
                <a:ext uri="{FF2B5EF4-FFF2-40B4-BE49-F238E27FC236}">
                  <a16:creationId xmlns:a16="http://schemas.microsoft.com/office/drawing/2014/main" id="{1032F2EA-AF8B-AF49-9299-4911E91EFD31}"/>
                </a:ext>
              </a:extLst>
            </p:cNvPr>
            <p:cNvSpPr>
              <a:spLocks noChangeShapeType="1"/>
            </p:cNvSpPr>
            <p:nvPr/>
          </p:nvSpPr>
          <p:spPr bwMode="auto">
            <a:xfrm>
              <a:off x="10611178" y="1676029"/>
              <a:ext cx="585523" cy="447477"/>
            </a:xfrm>
            <a:prstGeom prst="line">
              <a:avLst/>
            </a:prstGeom>
            <a:noFill/>
            <a:ln w="9525">
              <a:solidFill>
                <a:sysClr val="windowText" lastClr="000000"/>
              </a:solidFill>
              <a:prstDash val="dash"/>
              <a:round/>
              <a:headEnd type="triangl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3" name="Line 13">
              <a:extLst>
                <a:ext uri="{FF2B5EF4-FFF2-40B4-BE49-F238E27FC236}">
                  <a16:creationId xmlns:a16="http://schemas.microsoft.com/office/drawing/2014/main" id="{4F8EADA6-5CAF-A349-9E92-ABD37A0E490A}"/>
                </a:ext>
              </a:extLst>
            </p:cNvPr>
            <p:cNvSpPr>
              <a:spLocks noChangeShapeType="1"/>
            </p:cNvSpPr>
            <p:nvPr/>
          </p:nvSpPr>
          <p:spPr bwMode="auto">
            <a:xfrm flipV="1">
              <a:off x="10439632" y="2643318"/>
              <a:ext cx="705356" cy="447476"/>
            </a:xfrm>
            <a:prstGeom prst="line">
              <a:avLst/>
            </a:prstGeom>
            <a:noFill/>
            <a:ln w="9525">
              <a:solidFill>
                <a:sysClr val="windowText" lastClr="000000"/>
              </a:solidFill>
              <a:prstDash val="dash"/>
              <a:round/>
              <a:headEnd type="triangl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4" name="Line 13">
              <a:extLst>
                <a:ext uri="{FF2B5EF4-FFF2-40B4-BE49-F238E27FC236}">
                  <a16:creationId xmlns:a16="http://schemas.microsoft.com/office/drawing/2014/main" id="{F039EE73-3700-5D44-81A3-BD9ADEF20590}"/>
                </a:ext>
              </a:extLst>
            </p:cNvPr>
            <p:cNvSpPr>
              <a:spLocks noChangeShapeType="1"/>
            </p:cNvSpPr>
            <p:nvPr/>
          </p:nvSpPr>
          <p:spPr bwMode="auto">
            <a:xfrm flipV="1">
              <a:off x="6595261" y="1676028"/>
              <a:ext cx="681661" cy="447478"/>
            </a:xfrm>
            <a:prstGeom prst="line">
              <a:avLst/>
            </a:prstGeom>
            <a:noFill/>
            <a:ln w="9525">
              <a:solidFill>
                <a:sysClr val="windowText" lastClr="000000"/>
              </a:solidFill>
              <a:prstDash val="dash"/>
              <a:round/>
              <a:headEnd type="triangl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5" name="Line 13">
              <a:extLst>
                <a:ext uri="{FF2B5EF4-FFF2-40B4-BE49-F238E27FC236}">
                  <a16:creationId xmlns:a16="http://schemas.microsoft.com/office/drawing/2014/main" id="{B74940BA-7C0A-B846-B4D0-FE37AB3F4B45}"/>
                </a:ext>
              </a:extLst>
            </p:cNvPr>
            <p:cNvSpPr>
              <a:spLocks noChangeShapeType="1"/>
            </p:cNvSpPr>
            <p:nvPr/>
          </p:nvSpPr>
          <p:spPr bwMode="auto">
            <a:xfrm>
              <a:off x="6595262" y="2661639"/>
              <a:ext cx="720814" cy="488718"/>
            </a:xfrm>
            <a:prstGeom prst="line">
              <a:avLst/>
            </a:prstGeom>
            <a:noFill/>
            <a:ln w="9525">
              <a:solidFill>
                <a:sysClr val="windowText" lastClr="000000"/>
              </a:solidFill>
              <a:prstDash val="dash"/>
              <a:round/>
              <a:headEnd type="triangl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6" name="矩形 25">
              <a:extLst>
                <a:ext uri="{FF2B5EF4-FFF2-40B4-BE49-F238E27FC236}">
                  <a16:creationId xmlns:a16="http://schemas.microsoft.com/office/drawing/2014/main" id="{B54A7E21-540B-1B47-8AE9-C48E2C65B2CC}"/>
                </a:ext>
              </a:extLst>
            </p:cNvPr>
            <p:cNvSpPr/>
            <p:nvPr/>
          </p:nvSpPr>
          <p:spPr>
            <a:xfrm>
              <a:off x="6079519" y="2598256"/>
              <a:ext cx="543739" cy="523220"/>
            </a:xfrm>
            <a:prstGeom prst="rect">
              <a:avLst/>
            </a:prstGeom>
          </p:spPr>
          <p:txBody>
            <a:bodyPr wrap="none">
              <a:spAutoFit/>
            </a:bodyPr>
            <a:lstStyle/>
            <a:p>
              <a:r>
                <a:rPr lang="zh-CN" altLang="en-US" sz="1400" dirty="0">
                  <a:latin typeface="Microsoft YaHei" panose="020B0503020204020204" pitchFamily="34" charset="-122"/>
                  <a:ea typeface="Microsoft YaHei" panose="020B0503020204020204" pitchFamily="34" charset="-122"/>
                  <a:cs typeface="Times New Roman" panose="02020603050405020304" pitchFamily="18" charset="0"/>
                </a:rPr>
                <a:t>普通</a:t>
              </a:r>
              <a:endParaRPr lang="en-US" altLang="zh-CN" sz="1400" dirty="0">
                <a:latin typeface="Microsoft YaHei" panose="020B0503020204020204" pitchFamily="34" charset="-122"/>
                <a:ea typeface="Microsoft YaHei" panose="020B0503020204020204" pitchFamily="34" charset="-122"/>
                <a:cs typeface="Times New Roman" panose="02020603050405020304" pitchFamily="18" charset="0"/>
              </a:endParaRPr>
            </a:p>
            <a:p>
              <a:r>
                <a:rPr lang="zh-CN" altLang="en-US" sz="1400" dirty="0">
                  <a:latin typeface="Microsoft YaHei" panose="020B0503020204020204" pitchFamily="34" charset="-122"/>
                  <a:ea typeface="Microsoft YaHei" panose="020B0503020204020204" pitchFamily="34" charset="-122"/>
                  <a:cs typeface="Times New Roman" panose="02020603050405020304" pitchFamily="18" charset="0"/>
                </a:rPr>
                <a:t>節點</a:t>
              </a:r>
              <a:endParaRPr lang="zh-CN" altLang="en-US" sz="1400" dirty="0"/>
            </a:p>
          </p:txBody>
        </p:sp>
        <p:sp>
          <p:nvSpPr>
            <p:cNvPr id="27" name="矩形 26">
              <a:extLst>
                <a:ext uri="{FF2B5EF4-FFF2-40B4-BE49-F238E27FC236}">
                  <a16:creationId xmlns:a16="http://schemas.microsoft.com/office/drawing/2014/main" id="{1B2E5E52-0FB4-534D-ABA9-FFAC2068438A}"/>
                </a:ext>
              </a:extLst>
            </p:cNvPr>
            <p:cNvSpPr/>
            <p:nvPr/>
          </p:nvSpPr>
          <p:spPr>
            <a:xfrm>
              <a:off x="11221030" y="2617149"/>
              <a:ext cx="543739" cy="523220"/>
            </a:xfrm>
            <a:prstGeom prst="rect">
              <a:avLst/>
            </a:prstGeom>
          </p:spPr>
          <p:txBody>
            <a:bodyPr wrap="none">
              <a:spAutoFit/>
            </a:bodyPr>
            <a:lstStyle/>
            <a:p>
              <a:r>
                <a:rPr lang="zh-CN" altLang="en-US" sz="1400" dirty="0">
                  <a:latin typeface="Microsoft YaHei" panose="020B0503020204020204" pitchFamily="34" charset="-122"/>
                  <a:ea typeface="Microsoft YaHei" panose="020B0503020204020204" pitchFamily="34" charset="-122"/>
                  <a:cs typeface="Times New Roman" panose="02020603050405020304" pitchFamily="18" charset="0"/>
                </a:rPr>
                <a:t>普通</a:t>
              </a:r>
              <a:endParaRPr lang="en-US" altLang="zh-CN" sz="1400" dirty="0">
                <a:latin typeface="Microsoft YaHei" panose="020B0503020204020204" pitchFamily="34" charset="-122"/>
                <a:ea typeface="Microsoft YaHei" panose="020B0503020204020204" pitchFamily="34" charset="-122"/>
                <a:cs typeface="Times New Roman" panose="02020603050405020304" pitchFamily="18" charset="0"/>
              </a:endParaRPr>
            </a:p>
            <a:p>
              <a:r>
                <a:rPr lang="zh-CN" altLang="en-US" sz="1400" dirty="0">
                  <a:latin typeface="Microsoft YaHei" panose="020B0503020204020204" pitchFamily="34" charset="-122"/>
                  <a:ea typeface="Microsoft YaHei" panose="020B0503020204020204" pitchFamily="34" charset="-122"/>
                  <a:cs typeface="Times New Roman" panose="02020603050405020304" pitchFamily="18" charset="0"/>
                </a:rPr>
                <a:t>節點</a:t>
              </a:r>
              <a:endParaRPr lang="zh-CN" altLang="en-US" sz="1400" dirty="0"/>
            </a:p>
          </p:txBody>
        </p:sp>
      </p:grpSp>
      <p:grpSp>
        <p:nvGrpSpPr>
          <p:cNvPr id="29" name="组合 28">
            <a:extLst>
              <a:ext uri="{FF2B5EF4-FFF2-40B4-BE49-F238E27FC236}">
                <a16:creationId xmlns:a16="http://schemas.microsoft.com/office/drawing/2014/main" id="{9162FDEE-15B6-544E-8280-9A1F76E15A65}"/>
              </a:ext>
            </a:extLst>
          </p:cNvPr>
          <p:cNvGrpSpPr/>
          <p:nvPr/>
        </p:nvGrpSpPr>
        <p:grpSpPr>
          <a:xfrm>
            <a:off x="5733532" y="3970986"/>
            <a:ext cx="5772821" cy="2709569"/>
            <a:chOff x="6033022" y="1104510"/>
            <a:chExt cx="5772821" cy="2709569"/>
          </a:xfrm>
        </p:grpSpPr>
        <p:pic>
          <p:nvPicPr>
            <p:cNvPr id="30" name="图形 29" descr="Internet">
              <a:extLst>
                <a:ext uri="{FF2B5EF4-FFF2-40B4-BE49-F238E27FC236}">
                  <a16:creationId xmlns:a16="http://schemas.microsoft.com/office/drawing/2014/main" id="{FF0C6F1A-BB1A-D840-8708-D28ADAA23DB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33022" y="2029870"/>
              <a:ext cx="681661" cy="725407"/>
            </a:xfrm>
            <a:prstGeom prst="rect">
              <a:avLst/>
            </a:prstGeom>
          </p:spPr>
        </p:pic>
        <p:pic>
          <p:nvPicPr>
            <p:cNvPr id="31" name="图形 30" descr="Internet">
              <a:extLst>
                <a:ext uri="{FF2B5EF4-FFF2-40B4-BE49-F238E27FC236}">
                  <a16:creationId xmlns:a16="http://schemas.microsoft.com/office/drawing/2014/main" id="{4010A60A-8AA8-7347-8816-043153BCFDA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84742" y="1104511"/>
              <a:ext cx="681661" cy="725407"/>
            </a:xfrm>
            <a:prstGeom prst="rect">
              <a:avLst/>
            </a:prstGeom>
          </p:spPr>
        </p:pic>
        <p:pic>
          <p:nvPicPr>
            <p:cNvPr id="32" name="图形 31" descr="Internet">
              <a:extLst>
                <a:ext uri="{FF2B5EF4-FFF2-40B4-BE49-F238E27FC236}">
                  <a16:creationId xmlns:a16="http://schemas.microsoft.com/office/drawing/2014/main" id="{6CD534BF-D08A-8341-BCEC-A584E272D1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84742" y="2934785"/>
              <a:ext cx="681661" cy="725407"/>
            </a:xfrm>
            <a:prstGeom prst="rect">
              <a:avLst/>
            </a:prstGeom>
          </p:spPr>
        </p:pic>
        <p:pic>
          <p:nvPicPr>
            <p:cNvPr id="33" name="图形 32" descr="Internet">
              <a:extLst>
                <a:ext uri="{FF2B5EF4-FFF2-40B4-BE49-F238E27FC236}">
                  <a16:creationId xmlns:a16="http://schemas.microsoft.com/office/drawing/2014/main" id="{F02646BE-6FB9-3B4A-96D7-809C3A109D0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93540" y="2029869"/>
              <a:ext cx="681661" cy="725407"/>
            </a:xfrm>
            <a:prstGeom prst="rect">
              <a:avLst/>
            </a:prstGeom>
          </p:spPr>
        </p:pic>
        <p:pic>
          <p:nvPicPr>
            <p:cNvPr id="34" name="图形 33" descr="Internet">
              <a:extLst>
                <a:ext uri="{FF2B5EF4-FFF2-40B4-BE49-F238E27FC236}">
                  <a16:creationId xmlns:a16="http://schemas.microsoft.com/office/drawing/2014/main" id="{F444D360-6B9D-AA44-8F85-B3CB1829CBE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887904" y="1104510"/>
              <a:ext cx="681661" cy="725407"/>
            </a:xfrm>
            <a:prstGeom prst="rect">
              <a:avLst/>
            </a:prstGeom>
          </p:spPr>
        </p:pic>
        <p:pic>
          <p:nvPicPr>
            <p:cNvPr id="35" name="图形 34" descr="Internet">
              <a:extLst>
                <a:ext uri="{FF2B5EF4-FFF2-40B4-BE49-F238E27FC236}">
                  <a16:creationId xmlns:a16="http://schemas.microsoft.com/office/drawing/2014/main" id="{A9304E55-6DE2-E94E-83F6-7168C6A7463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887904" y="2934784"/>
              <a:ext cx="681661" cy="725407"/>
            </a:xfrm>
            <a:prstGeom prst="rect">
              <a:avLst/>
            </a:prstGeom>
          </p:spPr>
        </p:pic>
        <p:pic>
          <p:nvPicPr>
            <p:cNvPr id="36" name="图形 35" descr="Internet">
              <a:extLst>
                <a:ext uri="{FF2B5EF4-FFF2-40B4-BE49-F238E27FC236}">
                  <a16:creationId xmlns:a16="http://schemas.microsoft.com/office/drawing/2014/main" id="{9B87274C-C390-8244-9829-9B41683382C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24182" y="2029869"/>
              <a:ext cx="681661" cy="725407"/>
            </a:xfrm>
            <a:prstGeom prst="rect">
              <a:avLst/>
            </a:prstGeom>
          </p:spPr>
        </p:pic>
        <p:sp>
          <p:nvSpPr>
            <p:cNvPr id="37" name="矩形 36">
              <a:extLst>
                <a:ext uri="{FF2B5EF4-FFF2-40B4-BE49-F238E27FC236}">
                  <a16:creationId xmlns:a16="http://schemas.microsoft.com/office/drawing/2014/main" id="{AD985B79-883E-5441-B61A-068396E982EF}"/>
                </a:ext>
              </a:extLst>
            </p:cNvPr>
            <p:cNvSpPr/>
            <p:nvPr/>
          </p:nvSpPr>
          <p:spPr>
            <a:xfrm>
              <a:off x="9887904" y="1676028"/>
              <a:ext cx="723275" cy="307777"/>
            </a:xfrm>
            <a:prstGeom prst="rect">
              <a:avLst/>
            </a:prstGeom>
          </p:spPr>
          <p:txBody>
            <a:bodyPr wrap="none">
              <a:spAutoFit/>
            </a:bodyPr>
            <a:lstStyle/>
            <a:p>
              <a:r>
                <a:rPr lang="zh-CN" altLang="en-US" sz="1400" dirty="0">
                  <a:latin typeface="Microsoft YaHei" panose="020B0503020204020204" pitchFamily="34" charset="-122"/>
                  <a:ea typeface="Microsoft YaHei" panose="020B0503020204020204" pitchFamily="34" charset="-122"/>
                  <a:cs typeface="Times New Roman" panose="02020603050405020304" pitchFamily="18" charset="0"/>
                </a:rPr>
                <a:t>攻擊者</a:t>
              </a:r>
              <a:endParaRPr lang="zh-CN" altLang="en-US" sz="1400" dirty="0"/>
            </a:p>
          </p:txBody>
        </p:sp>
        <p:sp>
          <p:nvSpPr>
            <p:cNvPr id="38" name="矩形 37">
              <a:extLst>
                <a:ext uri="{FF2B5EF4-FFF2-40B4-BE49-F238E27FC236}">
                  <a16:creationId xmlns:a16="http://schemas.microsoft.com/office/drawing/2014/main" id="{025B1849-E0FD-7D46-A1D5-14130172BA16}"/>
                </a:ext>
              </a:extLst>
            </p:cNvPr>
            <p:cNvSpPr/>
            <p:nvPr/>
          </p:nvSpPr>
          <p:spPr>
            <a:xfrm>
              <a:off x="9883361" y="3506302"/>
              <a:ext cx="723275" cy="307777"/>
            </a:xfrm>
            <a:prstGeom prst="rect">
              <a:avLst/>
            </a:prstGeom>
          </p:spPr>
          <p:txBody>
            <a:bodyPr wrap="none">
              <a:spAutoFit/>
            </a:bodyPr>
            <a:lstStyle/>
            <a:p>
              <a:r>
                <a:rPr lang="zh-CN" altLang="en-US" sz="1400" dirty="0">
                  <a:latin typeface="Microsoft YaHei" panose="020B0503020204020204" pitchFamily="34" charset="-122"/>
                  <a:ea typeface="Microsoft YaHei" panose="020B0503020204020204" pitchFamily="34" charset="-122"/>
                  <a:cs typeface="Times New Roman" panose="02020603050405020304" pitchFamily="18" charset="0"/>
                </a:rPr>
                <a:t>攻擊者</a:t>
              </a:r>
              <a:endParaRPr lang="zh-CN" altLang="en-US" sz="1400" dirty="0"/>
            </a:p>
          </p:txBody>
        </p:sp>
        <p:sp>
          <p:nvSpPr>
            <p:cNvPr id="39" name="矩形 38">
              <a:extLst>
                <a:ext uri="{FF2B5EF4-FFF2-40B4-BE49-F238E27FC236}">
                  <a16:creationId xmlns:a16="http://schemas.microsoft.com/office/drawing/2014/main" id="{2B51803E-F702-BE4E-83A2-B973D21EA1D4}"/>
                </a:ext>
              </a:extLst>
            </p:cNvPr>
            <p:cNvSpPr/>
            <p:nvPr/>
          </p:nvSpPr>
          <p:spPr>
            <a:xfrm>
              <a:off x="7284742" y="1685178"/>
              <a:ext cx="723275" cy="307777"/>
            </a:xfrm>
            <a:prstGeom prst="rect">
              <a:avLst/>
            </a:prstGeom>
          </p:spPr>
          <p:txBody>
            <a:bodyPr wrap="none">
              <a:spAutoFit/>
            </a:bodyPr>
            <a:lstStyle/>
            <a:p>
              <a:r>
                <a:rPr lang="zh-CN" altLang="en-US" sz="1400" dirty="0">
                  <a:latin typeface="Microsoft YaHei" panose="020B0503020204020204" pitchFamily="34" charset="-122"/>
                  <a:ea typeface="Microsoft YaHei" panose="020B0503020204020204" pitchFamily="34" charset="-122"/>
                  <a:cs typeface="Times New Roman" panose="02020603050405020304" pitchFamily="18" charset="0"/>
                </a:rPr>
                <a:t>攻擊者</a:t>
              </a:r>
              <a:endParaRPr lang="zh-CN" altLang="en-US" sz="1400" dirty="0"/>
            </a:p>
          </p:txBody>
        </p:sp>
        <p:sp>
          <p:nvSpPr>
            <p:cNvPr id="40" name="矩形 39">
              <a:extLst>
                <a:ext uri="{FF2B5EF4-FFF2-40B4-BE49-F238E27FC236}">
                  <a16:creationId xmlns:a16="http://schemas.microsoft.com/office/drawing/2014/main" id="{9B61556F-BB79-C441-8FCD-A5D79A3C67AE}"/>
                </a:ext>
              </a:extLst>
            </p:cNvPr>
            <p:cNvSpPr/>
            <p:nvPr/>
          </p:nvSpPr>
          <p:spPr>
            <a:xfrm>
              <a:off x="7276922" y="3506302"/>
              <a:ext cx="723275" cy="307777"/>
            </a:xfrm>
            <a:prstGeom prst="rect">
              <a:avLst/>
            </a:prstGeom>
          </p:spPr>
          <p:txBody>
            <a:bodyPr wrap="none">
              <a:spAutoFit/>
            </a:bodyPr>
            <a:lstStyle/>
            <a:p>
              <a:r>
                <a:rPr lang="zh-CN" altLang="en-US" sz="1400" dirty="0">
                  <a:latin typeface="Microsoft YaHei" panose="020B0503020204020204" pitchFamily="34" charset="-122"/>
                  <a:ea typeface="Microsoft YaHei" panose="020B0503020204020204" pitchFamily="34" charset="-122"/>
                  <a:cs typeface="Times New Roman" panose="02020603050405020304" pitchFamily="18" charset="0"/>
                </a:rPr>
                <a:t>攻擊者</a:t>
              </a:r>
              <a:endParaRPr lang="zh-CN" altLang="en-US" sz="1400" dirty="0"/>
            </a:p>
          </p:txBody>
        </p:sp>
        <p:sp>
          <p:nvSpPr>
            <p:cNvPr id="41" name="矩形 40">
              <a:extLst>
                <a:ext uri="{FF2B5EF4-FFF2-40B4-BE49-F238E27FC236}">
                  <a16:creationId xmlns:a16="http://schemas.microsoft.com/office/drawing/2014/main" id="{4E62565A-F1E2-124E-9A06-912115139AD7}"/>
                </a:ext>
              </a:extLst>
            </p:cNvPr>
            <p:cNvSpPr/>
            <p:nvPr/>
          </p:nvSpPr>
          <p:spPr>
            <a:xfrm>
              <a:off x="8572732" y="2588586"/>
              <a:ext cx="723275" cy="307777"/>
            </a:xfrm>
            <a:prstGeom prst="rect">
              <a:avLst/>
            </a:prstGeom>
          </p:spPr>
          <p:txBody>
            <a:bodyPr wrap="none">
              <a:spAutoFit/>
            </a:bodyPr>
            <a:lstStyle/>
            <a:p>
              <a:r>
                <a:rPr lang="zh-CN" altLang="en-US" sz="1400" dirty="0">
                  <a:latin typeface="Microsoft YaHei" panose="020B0503020204020204" pitchFamily="34" charset="-122"/>
                  <a:ea typeface="Microsoft YaHei" panose="020B0503020204020204" pitchFamily="34" charset="-122"/>
                  <a:cs typeface="Times New Roman" panose="02020603050405020304" pitchFamily="18" charset="0"/>
                </a:rPr>
                <a:t>受害者</a:t>
              </a:r>
              <a:endParaRPr lang="zh-CN" altLang="en-US" sz="1400" dirty="0"/>
            </a:p>
          </p:txBody>
        </p:sp>
        <p:sp>
          <p:nvSpPr>
            <p:cNvPr id="42" name="Line 13">
              <a:extLst>
                <a:ext uri="{FF2B5EF4-FFF2-40B4-BE49-F238E27FC236}">
                  <a16:creationId xmlns:a16="http://schemas.microsoft.com/office/drawing/2014/main" id="{73A7B31A-AB9B-4542-B0F7-42B7E68A4F4C}"/>
                </a:ext>
              </a:extLst>
            </p:cNvPr>
            <p:cNvSpPr>
              <a:spLocks noChangeShapeType="1"/>
            </p:cNvSpPr>
            <p:nvPr/>
          </p:nvSpPr>
          <p:spPr bwMode="auto">
            <a:xfrm flipV="1">
              <a:off x="7874807" y="2653161"/>
              <a:ext cx="681661" cy="412174"/>
            </a:xfrm>
            <a:prstGeom prst="line">
              <a:avLst/>
            </a:prstGeom>
            <a:noFill/>
            <a:ln w="9525">
              <a:solidFill>
                <a:sysClr val="windowText" lastClr="000000"/>
              </a:solidFill>
              <a:prstDash val="solid"/>
              <a:round/>
              <a:headEnd type="non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43" name="Line 13">
              <a:extLst>
                <a:ext uri="{FF2B5EF4-FFF2-40B4-BE49-F238E27FC236}">
                  <a16:creationId xmlns:a16="http://schemas.microsoft.com/office/drawing/2014/main" id="{3EDE7202-510F-A64A-992F-0DE7389D1A0E}"/>
                </a:ext>
              </a:extLst>
            </p:cNvPr>
            <p:cNvSpPr>
              <a:spLocks noChangeShapeType="1"/>
            </p:cNvSpPr>
            <p:nvPr/>
          </p:nvSpPr>
          <p:spPr bwMode="auto">
            <a:xfrm>
              <a:off x="8000197" y="1685177"/>
              <a:ext cx="681661" cy="438329"/>
            </a:xfrm>
            <a:prstGeom prst="line">
              <a:avLst/>
            </a:prstGeom>
            <a:noFill/>
            <a:ln w="9525">
              <a:solidFill>
                <a:sysClr val="windowText" lastClr="000000"/>
              </a:solidFill>
              <a:prstDash val="solid"/>
              <a:round/>
              <a:headEnd type="non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46" name="Line 13">
              <a:extLst>
                <a:ext uri="{FF2B5EF4-FFF2-40B4-BE49-F238E27FC236}">
                  <a16:creationId xmlns:a16="http://schemas.microsoft.com/office/drawing/2014/main" id="{AAB5DA61-EEFC-9644-B02C-395019071439}"/>
                </a:ext>
              </a:extLst>
            </p:cNvPr>
            <p:cNvSpPr>
              <a:spLocks noChangeShapeType="1"/>
            </p:cNvSpPr>
            <p:nvPr/>
          </p:nvSpPr>
          <p:spPr bwMode="auto">
            <a:xfrm>
              <a:off x="10560716" y="1787369"/>
              <a:ext cx="635986" cy="336137"/>
            </a:xfrm>
            <a:prstGeom prst="line">
              <a:avLst/>
            </a:prstGeom>
            <a:noFill/>
            <a:ln w="9525">
              <a:solidFill>
                <a:sysClr val="windowText" lastClr="000000"/>
              </a:solidFill>
              <a:prstDash val="solid"/>
              <a:round/>
              <a:headEnd type="triangl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47" name="Line 13">
              <a:extLst>
                <a:ext uri="{FF2B5EF4-FFF2-40B4-BE49-F238E27FC236}">
                  <a16:creationId xmlns:a16="http://schemas.microsoft.com/office/drawing/2014/main" id="{573CFABD-0296-154F-8CA9-DF897F98E367}"/>
                </a:ext>
              </a:extLst>
            </p:cNvPr>
            <p:cNvSpPr>
              <a:spLocks noChangeShapeType="1"/>
            </p:cNvSpPr>
            <p:nvPr/>
          </p:nvSpPr>
          <p:spPr bwMode="auto">
            <a:xfrm flipV="1">
              <a:off x="10439632" y="2643318"/>
              <a:ext cx="705356" cy="447476"/>
            </a:xfrm>
            <a:prstGeom prst="line">
              <a:avLst/>
            </a:prstGeom>
            <a:noFill/>
            <a:ln w="9525">
              <a:solidFill>
                <a:sysClr val="windowText" lastClr="000000"/>
              </a:solidFill>
              <a:prstDash val="solid"/>
              <a:round/>
              <a:headEnd type="triangl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48" name="Line 13">
              <a:extLst>
                <a:ext uri="{FF2B5EF4-FFF2-40B4-BE49-F238E27FC236}">
                  <a16:creationId xmlns:a16="http://schemas.microsoft.com/office/drawing/2014/main" id="{A7B9245D-7C1A-7B47-AEB4-B4D3CF4D992B}"/>
                </a:ext>
              </a:extLst>
            </p:cNvPr>
            <p:cNvSpPr>
              <a:spLocks noChangeShapeType="1"/>
            </p:cNvSpPr>
            <p:nvPr/>
          </p:nvSpPr>
          <p:spPr bwMode="auto">
            <a:xfrm flipV="1">
              <a:off x="6595261" y="1676028"/>
              <a:ext cx="681661" cy="447478"/>
            </a:xfrm>
            <a:prstGeom prst="line">
              <a:avLst/>
            </a:prstGeom>
            <a:noFill/>
            <a:ln w="9525">
              <a:solidFill>
                <a:sysClr val="windowText" lastClr="000000"/>
              </a:solidFill>
              <a:prstDash val="solid"/>
              <a:round/>
              <a:headEnd type="non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49" name="Line 13">
              <a:extLst>
                <a:ext uri="{FF2B5EF4-FFF2-40B4-BE49-F238E27FC236}">
                  <a16:creationId xmlns:a16="http://schemas.microsoft.com/office/drawing/2014/main" id="{21833A70-1CE4-8644-9226-F449B5624581}"/>
                </a:ext>
              </a:extLst>
            </p:cNvPr>
            <p:cNvSpPr>
              <a:spLocks noChangeShapeType="1"/>
            </p:cNvSpPr>
            <p:nvPr/>
          </p:nvSpPr>
          <p:spPr bwMode="auto">
            <a:xfrm>
              <a:off x="6595262" y="2661639"/>
              <a:ext cx="720814" cy="488718"/>
            </a:xfrm>
            <a:prstGeom prst="line">
              <a:avLst/>
            </a:prstGeom>
            <a:noFill/>
            <a:ln w="9525">
              <a:solidFill>
                <a:sysClr val="windowText" lastClr="000000"/>
              </a:solidFill>
              <a:prstDash val="solid"/>
              <a:round/>
              <a:headEnd type="non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0" name="矩形 49">
              <a:extLst>
                <a:ext uri="{FF2B5EF4-FFF2-40B4-BE49-F238E27FC236}">
                  <a16:creationId xmlns:a16="http://schemas.microsoft.com/office/drawing/2014/main" id="{611C1FD1-B1C6-B146-9FC7-A08E244B6604}"/>
                </a:ext>
              </a:extLst>
            </p:cNvPr>
            <p:cNvSpPr/>
            <p:nvPr/>
          </p:nvSpPr>
          <p:spPr>
            <a:xfrm>
              <a:off x="6079519" y="2598256"/>
              <a:ext cx="543739" cy="523220"/>
            </a:xfrm>
            <a:prstGeom prst="rect">
              <a:avLst/>
            </a:prstGeom>
          </p:spPr>
          <p:txBody>
            <a:bodyPr wrap="none">
              <a:spAutoFit/>
            </a:bodyPr>
            <a:lstStyle/>
            <a:p>
              <a:r>
                <a:rPr lang="zh-CN" altLang="en-US" sz="1400" dirty="0">
                  <a:latin typeface="Microsoft YaHei" panose="020B0503020204020204" pitchFamily="34" charset="-122"/>
                  <a:ea typeface="Microsoft YaHei" panose="020B0503020204020204" pitchFamily="34" charset="-122"/>
                  <a:cs typeface="Times New Roman" panose="02020603050405020304" pitchFamily="18" charset="0"/>
                </a:rPr>
                <a:t>普通</a:t>
              </a:r>
              <a:endParaRPr lang="en-US" altLang="zh-CN" sz="1400" dirty="0">
                <a:latin typeface="Microsoft YaHei" panose="020B0503020204020204" pitchFamily="34" charset="-122"/>
                <a:ea typeface="Microsoft YaHei" panose="020B0503020204020204" pitchFamily="34" charset="-122"/>
                <a:cs typeface="Times New Roman" panose="02020603050405020304" pitchFamily="18" charset="0"/>
              </a:endParaRPr>
            </a:p>
            <a:p>
              <a:r>
                <a:rPr lang="zh-CN" altLang="en-US" sz="1400" dirty="0">
                  <a:latin typeface="Microsoft YaHei" panose="020B0503020204020204" pitchFamily="34" charset="-122"/>
                  <a:ea typeface="Microsoft YaHei" panose="020B0503020204020204" pitchFamily="34" charset="-122"/>
                  <a:cs typeface="Times New Roman" panose="02020603050405020304" pitchFamily="18" charset="0"/>
                </a:rPr>
                <a:t>節點</a:t>
              </a:r>
              <a:endParaRPr lang="zh-CN" altLang="en-US" sz="1400" dirty="0"/>
            </a:p>
          </p:txBody>
        </p:sp>
        <p:sp>
          <p:nvSpPr>
            <p:cNvPr id="51" name="矩形 50">
              <a:extLst>
                <a:ext uri="{FF2B5EF4-FFF2-40B4-BE49-F238E27FC236}">
                  <a16:creationId xmlns:a16="http://schemas.microsoft.com/office/drawing/2014/main" id="{433BF535-CD16-4D41-89C0-72870F2AC5DE}"/>
                </a:ext>
              </a:extLst>
            </p:cNvPr>
            <p:cNvSpPr/>
            <p:nvPr/>
          </p:nvSpPr>
          <p:spPr>
            <a:xfrm>
              <a:off x="11221030" y="2617149"/>
              <a:ext cx="543739" cy="523220"/>
            </a:xfrm>
            <a:prstGeom prst="rect">
              <a:avLst/>
            </a:prstGeom>
          </p:spPr>
          <p:txBody>
            <a:bodyPr wrap="none">
              <a:spAutoFit/>
            </a:bodyPr>
            <a:lstStyle/>
            <a:p>
              <a:r>
                <a:rPr lang="zh-CN" altLang="en-US" sz="1400" dirty="0">
                  <a:latin typeface="Microsoft YaHei" panose="020B0503020204020204" pitchFamily="34" charset="-122"/>
                  <a:ea typeface="Microsoft YaHei" panose="020B0503020204020204" pitchFamily="34" charset="-122"/>
                  <a:cs typeface="Times New Roman" panose="02020603050405020304" pitchFamily="18" charset="0"/>
                </a:rPr>
                <a:t>普通</a:t>
              </a:r>
              <a:endParaRPr lang="en-US" altLang="zh-CN" sz="1400" dirty="0">
                <a:latin typeface="Microsoft YaHei" panose="020B0503020204020204" pitchFamily="34" charset="-122"/>
                <a:ea typeface="Microsoft YaHei" panose="020B0503020204020204" pitchFamily="34" charset="-122"/>
                <a:cs typeface="Times New Roman" panose="02020603050405020304" pitchFamily="18" charset="0"/>
              </a:endParaRPr>
            </a:p>
            <a:p>
              <a:r>
                <a:rPr lang="zh-CN" altLang="en-US" sz="1400" dirty="0">
                  <a:latin typeface="Microsoft YaHei" panose="020B0503020204020204" pitchFamily="34" charset="-122"/>
                  <a:ea typeface="Microsoft YaHei" panose="020B0503020204020204" pitchFamily="34" charset="-122"/>
                  <a:cs typeface="Times New Roman" panose="02020603050405020304" pitchFamily="18" charset="0"/>
                </a:rPr>
                <a:t>節點</a:t>
              </a:r>
              <a:endParaRPr lang="zh-CN" altLang="en-US" sz="1400" dirty="0"/>
            </a:p>
          </p:txBody>
        </p:sp>
      </p:grpSp>
      <p:sp>
        <p:nvSpPr>
          <p:cNvPr id="53" name="矩形 52">
            <a:extLst>
              <a:ext uri="{FF2B5EF4-FFF2-40B4-BE49-F238E27FC236}">
                <a16:creationId xmlns:a16="http://schemas.microsoft.com/office/drawing/2014/main" id="{8B8258FF-1580-FF4D-A102-0DB1422BCFD7}"/>
              </a:ext>
            </a:extLst>
          </p:cNvPr>
          <p:cNvSpPr/>
          <p:nvPr/>
        </p:nvSpPr>
        <p:spPr>
          <a:xfrm>
            <a:off x="6360401" y="5881623"/>
            <a:ext cx="341755" cy="24119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zh-CN" altLang="en-US"/>
          </a:p>
        </p:txBody>
      </p:sp>
      <p:sp>
        <p:nvSpPr>
          <p:cNvPr id="54" name="矩形 53">
            <a:extLst>
              <a:ext uri="{FF2B5EF4-FFF2-40B4-BE49-F238E27FC236}">
                <a16:creationId xmlns:a16="http://schemas.microsoft.com/office/drawing/2014/main" id="{570E8B9C-A3EF-B14F-A74C-ED295A21489F}"/>
              </a:ext>
            </a:extLst>
          </p:cNvPr>
          <p:cNvSpPr/>
          <p:nvPr/>
        </p:nvSpPr>
        <p:spPr>
          <a:xfrm>
            <a:off x="7883889" y="5881623"/>
            <a:ext cx="341755" cy="24119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zh-CN" altLang="en-US"/>
          </a:p>
        </p:txBody>
      </p:sp>
      <p:sp>
        <p:nvSpPr>
          <p:cNvPr id="55" name="矩形 54">
            <a:extLst>
              <a:ext uri="{FF2B5EF4-FFF2-40B4-BE49-F238E27FC236}">
                <a16:creationId xmlns:a16="http://schemas.microsoft.com/office/drawing/2014/main" id="{4ED81E82-AB63-B747-A319-6522FBCAE567}"/>
              </a:ext>
            </a:extLst>
          </p:cNvPr>
          <p:cNvSpPr/>
          <p:nvPr/>
        </p:nvSpPr>
        <p:spPr>
          <a:xfrm>
            <a:off x="7969794" y="4421908"/>
            <a:ext cx="341755" cy="24119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zh-CN" altLang="en-US"/>
          </a:p>
        </p:txBody>
      </p:sp>
      <p:sp>
        <p:nvSpPr>
          <p:cNvPr id="56" name="矩形 55">
            <a:extLst>
              <a:ext uri="{FF2B5EF4-FFF2-40B4-BE49-F238E27FC236}">
                <a16:creationId xmlns:a16="http://schemas.microsoft.com/office/drawing/2014/main" id="{49E20307-A337-F848-9A02-EA45D2B23DC6}"/>
              </a:ext>
            </a:extLst>
          </p:cNvPr>
          <p:cNvSpPr/>
          <p:nvPr/>
        </p:nvSpPr>
        <p:spPr>
          <a:xfrm>
            <a:off x="6299690" y="4441403"/>
            <a:ext cx="341755" cy="24119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zh-CN" altLang="en-US"/>
          </a:p>
        </p:txBody>
      </p:sp>
      <p:sp>
        <p:nvSpPr>
          <p:cNvPr id="57" name="矩形 56">
            <a:extLst>
              <a:ext uri="{FF2B5EF4-FFF2-40B4-BE49-F238E27FC236}">
                <a16:creationId xmlns:a16="http://schemas.microsoft.com/office/drawing/2014/main" id="{A1B866CF-A37B-9448-9121-B799A412A44F}"/>
              </a:ext>
            </a:extLst>
          </p:cNvPr>
          <p:cNvSpPr/>
          <p:nvPr/>
        </p:nvSpPr>
        <p:spPr>
          <a:xfrm>
            <a:off x="10559074" y="4477944"/>
            <a:ext cx="341755" cy="24119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zh-CN" altLang="en-US"/>
          </a:p>
        </p:txBody>
      </p:sp>
      <p:sp>
        <p:nvSpPr>
          <p:cNvPr id="58" name="矩形 57">
            <a:extLst>
              <a:ext uri="{FF2B5EF4-FFF2-40B4-BE49-F238E27FC236}">
                <a16:creationId xmlns:a16="http://schemas.microsoft.com/office/drawing/2014/main" id="{3B73643D-6034-BD48-BD7E-37446249B377}"/>
              </a:ext>
            </a:extLst>
          </p:cNvPr>
          <p:cNvSpPr/>
          <p:nvPr/>
        </p:nvSpPr>
        <p:spPr>
          <a:xfrm>
            <a:off x="10503743" y="5811215"/>
            <a:ext cx="341755" cy="24119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zh-CN" altLang="en-US"/>
          </a:p>
        </p:txBody>
      </p:sp>
      <p:sp>
        <p:nvSpPr>
          <p:cNvPr id="59" name="矩形 58">
            <a:extLst>
              <a:ext uri="{FF2B5EF4-FFF2-40B4-BE49-F238E27FC236}">
                <a16:creationId xmlns:a16="http://schemas.microsoft.com/office/drawing/2014/main" id="{2B9D5A48-C04E-C541-95F7-AF82FCCA3EFF}"/>
              </a:ext>
            </a:extLst>
          </p:cNvPr>
          <p:cNvSpPr>
            <a:spLocks/>
          </p:cNvSpPr>
          <p:nvPr/>
        </p:nvSpPr>
        <p:spPr bwMode="auto">
          <a:xfrm>
            <a:off x="713618" y="1282477"/>
            <a:ext cx="4845982" cy="2266500"/>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ts val="3600"/>
              </a:lnSpc>
              <a:defRPr/>
            </a:pPr>
            <a:r>
              <a:rPr lang="zh-CN" altLang="en-US" sz="2400" b="1" dirty="0">
                <a:solidFill>
                  <a:srgbClr val="C00000"/>
                </a:solidFill>
                <a:latin typeface="Microsoft YaHei" panose="020B0503020204020204" pitchFamily="34" charset="-122"/>
                <a:ea typeface="Microsoft YaHei" panose="020B0503020204020204" pitchFamily="34" charset="-122"/>
              </a:rPr>
              <a:t>攻擊目標</a:t>
            </a:r>
            <a:r>
              <a:rPr lang="zh-CN" altLang="en-US" sz="2400" dirty="0">
                <a:latin typeface="Microsoft YaHei" panose="020B0503020204020204" pitchFamily="34" charset="-122"/>
                <a:ea typeface="Microsoft YaHei" panose="020B0503020204020204" pitchFamily="34" charset="-122"/>
              </a:rPr>
              <a:t>：針對</a:t>
            </a:r>
            <a:r>
              <a:rPr lang="zh-CN" altLang="zh-CN" sz="2400" dirty="0">
                <a:latin typeface="Microsoft YaHei" panose="020B0503020204020204" pitchFamily="34" charset="-122"/>
                <a:ea typeface="Microsoft YaHei" panose="020B0503020204020204" pitchFamily="34" charset="-122"/>
              </a:rPr>
              <a:t>網絡節點發現以及鄰居節點維護兩個過程進行攻擊，使得</a:t>
            </a:r>
            <a:r>
              <a:rPr lang="zh-CN" altLang="en-US" sz="2400" dirty="0">
                <a:latin typeface="Microsoft YaHei" panose="020B0503020204020204" pitchFamily="34" charset="-122"/>
                <a:ea typeface="Microsoft YaHei" panose="020B0503020204020204" pitchFamily="34" charset="-122"/>
              </a:rPr>
              <a:t>受害</a:t>
            </a:r>
            <a:r>
              <a:rPr lang="zh-CN" altLang="zh-CN" sz="2400" dirty="0">
                <a:latin typeface="Microsoft YaHei" panose="020B0503020204020204" pitchFamily="34" charset="-122"/>
                <a:ea typeface="Microsoft YaHei" panose="020B0503020204020204" pitchFamily="34" charset="-122"/>
              </a:rPr>
              <a:t>節點的所有鄰居節點都是由攻擊者所控制的惡意節點</a:t>
            </a:r>
            <a:endParaRPr lang="en-US" sz="2400" kern="0" dirty="0">
              <a:solidFill>
                <a:srgbClr val="000000"/>
              </a:solidFill>
              <a:latin typeface="Microsoft YaHei" panose="020B0503020204020204" pitchFamily="34" charset="-122"/>
              <a:ea typeface="Microsoft YaHei" panose="020B0503020204020204" pitchFamily="34" charset="-122"/>
              <a:sym typeface="Arial" panose="020B0604020202020204" pitchFamily="34" charset="0"/>
            </a:endParaRPr>
          </a:p>
        </p:txBody>
      </p:sp>
      <p:sp>
        <p:nvSpPr>
          <p:cNvPr id="60" name="矩形 59">
            <a:extLst>
              <a:ext uri="{FF2B5EF4-FFF2-40B4-BE49-F238E27FC236}">
                <a16:creationId xmlns:a16="http://schemas.microsoft.com/office/drawing/2014/main" id="{153D0D26-C4D6-5A49-8763-95D73F8CFA75}"/>
              </a:ext>
            </a:extLst>
          </p:cNvPr>
          <p:cNvSpPr>
            <a:spLocks/>
          </p:cNvSpPr>
          <p:nvPr/>
        </p:nvSpPr>
        <p:spPr bwMode="auto">
          <a:xfrm>
            <a:off x="715310" y="3969522"/>
            <a:ext cx="4845982" cy="2557144"/>
          </a:xfrm>
          <a:prstGeom prst="rect">
            <a:avLst/>
          </a:prstGeom>
          <a:solidFill>
            <a:schemeClr val="bg1"/>
          </a:solidFill>
          <a:ln w="6350">
            <a:solidFill>
              <a:srgbClr val="BA6B6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ts val="3600"/>
              </a:lnSpc>
              <a:defRPr/>
            </a:pPr>
            <a:r>
              <a:rPr lang="zh-CN" altLang="en-US" sz="2400" b="1" dirty="0">
                <a:solidFill>
                  <a:srgbClr val="C00000"/>
                </a:solidFill>
                <a:latin typeface="Microsoft YaHei" panose="020B0503020204020204" pitchFamily="34" charset="-122"/>
                <a:ea typeface="Microsoft YaHei" panose="020B0503020204020204" pitchFamily="34" charset="-122"/>
              </a:rPr>
              <a:t>危害</a:t>
            </a:r>
            <a:r>
              <a:rPr lang="zh-CN" altLang="en-US" sz="2400" dirty="0">
                <a:latin typeface="Microsoft YaHei" panose="020B0503020204020204" pitchFamily="34" charset="-122"/>
                <a:ea typeface="Microsoft YaHei" panose="020B0503020204020204" pitchFamily="34" charset="-122"/>
              </a:rPr>
              <a:t>：攻擊者可以選擇性的轉發對攻擊者有利的消息給受害者，從而配合其它網絡攻擊；攻擊者可以完全隔離受害者與網絡中其它節點的信息交互</a:t>
            </a:r>
            <a:endParaRPr lang="en-US" sz="2400" kern="0" dirty="0">
              <a:solidFill>
                <a:srgbClr val="000000"/>
              </a:solidFill>
              <a:latin typeface="Microsoft YaHei" panose="020B0503020204020204" pitchFamily="34" charset="-122"/>
              <a:ea typeface="Microsoft YaHei" panose="020B0503020204020204" pitchFamily="34" charset="-122"/>
              <a:sym typeface="Arial" panose="020B0604020202020204" pitchFamily="34" charset="0"/>
            </a:endParaRPr>
          </a:p>
        </p:txBody>
      </p:sp>
      <p:sp>
        <p:nvSpPr>
          <p:cNvPr id="61" name="灯片编号占位符 2">
            <a:extLst>
              <a:ext uri="{FF2B5EF4-FFF2-40B4-BE49-F238E27FC236}">
                <a16:creationId xmlns:a16="http://schemas.microsoft.com/office/drawing/2014/main" id="{8B9E9036-B42B-534F-BF86-D83024B43524}"/>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39</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12645149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擠占入向連接</a:t>
            </a:r>
          </a:p>
        </p:txBody>
      </p:sp>
      <p:grpSp>
        <p:nvGrpSpPr>
          <p:cNvPr id="63" name="组合 62">
            <a:extLst>
              <a:ext uri="{FF2B5EF4-FFF2-40B4-BE49-F238E27FC236}">
                <a16:creationId xmlns:a16="http://schemas.microsoft.com/office/drawing/2014/main" id="{92ADEEB3-A4E9-4144-896C-BF4DA0286CCD}"/>
              </a:ext>
            </a:extLst>
          </p:cNvPr>
          <p:cNvGrpSpPr/>
          <p:nvPr/>
        </p:nvGrpSpPr>
        <p:grpSpPr>
          <a:xfrm>
            <a:off x="6371965" y="1955276"/>
            <a:ext cx="5078730" cy="3574128"/>
            <a:chOff x="5144788" y="2112732"/>
            <a:chExt cx="4363790" cy="3218145"/>
          </a:xfrm>
        </p:grpSpPr>
        <p:grpSp>
          <p:nvGrpSpPr>
            <p:cNvPr id="54" name="组合 53">
              <a:extLst>
                <a:ext uri="{FF2B5EF4-FFF2-40B4-BE49-F238E27FC236}">
                  <a16:creationId xmlns:a16="http://schemas.microsoft.com/office/drawing/2014/main" id="{3A310077-A66A-CF4F-8331-667626407158}"/>
                </a:ext>
              </a:extLst>
            </p:cNvPr>
            <p:cNvGrpSpPr/>
            <p:nvPr/>
          </p:nvGrpSpPr>
          <p:grpSpPr>
            <a:xfrm>
              <a:off x="8796511" y="2121881"/>
              <a:ext cx="681661" cy="848641"/>
              <a:chOff x="8203382" y="2512888"/>
              <a:chExt cx="681661" cy="848641"/>
            </a:xfrm>
          </p:grpSpPr>
          <p:pic>
            <p:nvPicPr>
              <p:cNvPr id="32" name="图形 31" descr="Internet">
                <a:extLst>
                  <a:ext uri="{FF2B5EF4-FFF2-40B4-BE49-F238E27FC236}">
                    <a16:creationId xmlns:a16="http://schemas.microsoft.com/office/drawing/2014/main" id="{1F7C40B1-B853-B24D-BE40-DD2B5F9C6ED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03382" y="2512888"/>
                <a:ext cx="681661" cy="725407"/>
              </a:xfrm>
              <a:prstGeom prst="rect">
                <a:avLst/>
              </a:prstGeom>
            </p:spPr>
          </p:pic>
          <p:sp>
            <p:nvSpPr>
              <p:cNvPr id="35" name="矩形 34">
                <a:extLst>
                  <a:ext uri="{FF2B5EF4-FFF2-40B4-BE49-F238E27FC236}">
                    <a16:creationId xmlns:a16="http://schemas.microsoft.com/office/drawing/2014/main" id="{DFBC456C-0A0E-7D4E-ACCA-B3267EFEF017}"/>
                  </a:ext>
                </a:extLst>
              </p:cNvPr>
              <p:cNvSpPr/>
              <p:nvPr/>
            </p:nvSpPr>
            <p:spPr>
              <a:xfrm>
                <a:off x="8254290" y="3084406"/>
                <a:ext cx="621458" cy="277123"/>
              </a:xfrm>
              <a:prstGeom prst="rect">
                <a:avLst/>
              </a:prstGeom>
            </p:spPr>
            <p:txBody>
              <a:bodyPr wrap="none">
                <a:spAutoFit/>
              </a:bodyPr>
              <a:lstStyle/>
              <a:p>
                <a:pPr algn="ctr"/>
                <a:r>
                  <a:rPr lang="zh-CN" altLang="en-US" sz="1400" dirty="0">
                    <a:latin typeface="Microsoft YaHei" panose="020B0503020204020204" pitchFamily="34" charset="-122"/>
                    <a:ea typeface="Microsoft YaHei" panose="020B0503020204020204" pitchFamily="34" charset="-122"/>
                    <a:cs typeface="Times New Roman" panose="02020603050405020304" pitchFamily="18" charset="0"/>
                  </a:rPr>
                  <a:t>攻擊者</a:t>
                </a:r>
                <a:endParaRPr lang="zh-CN" altLang="en-US" sz="1400" dirty="0"/>
              </a:p>
            </p:txBody>
          </p:sp>
        </p:grpSp>
        <p:grpSp>
          <p:nvGrpSpPr>
            <p:cNvPr id="55" name="组合 54">
              <a:extLst>
                <a:ext uri="{FF2B5EF4-FFF2-40B4-BE49-F238E27FC236}">
                  <a16:creationId xmlns:a16="http://schemas.microsoft.com/office/drawing/2014/main" id="{1716645C-095C-CB4C-8DA7-54C68D91D927}"/>
                </a:ext>
              </a:extLst>
            </p:cNvPr>
            <p:cNvGrpSpPr/>
            <p:nvPr/>
          </p:nvGrpSpPr>
          <p:grpSpPr>
            <a:xfrm>
              <a:off x="8826917" y="4482236"/>
              <a:ext cx="681661" cy="848641"/>
              <a:chOff x="8203382" y="4343162"/>
              <a:chExt cx="681661" cy="848641"/>
            </a:xfrm>
          </p:grpSpPr>
          <p:pic>
            <p:nvPicPr>
              <p:cNvPr id="33" name="图形 32" descr="Internet">
                <a:extLst>
                  <a:ext uri="{FF2B5EF4-FFF2-40B4-BE49-F238E27FC236}">
                    <a16:creationId xmlns:a16="http://schemas.microsoft.com/office/drawing/2014/main" id="{432A943F-BB2C-1747-9C0B-7C702032F5D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03382" y="4343162"/>
                <a:ext cx="681661" cy="725407"/>
              </a:xfrm>
              <a:prstGeom prst="rect">
                <a:avLst/>
              </a:prstGeom>
            </p:spPr>
          </p:pic>
          <p:sp>
            <p:nvSpPr>
              <p:cNvPr id="36" name="矩形 35">
                <a:extLst>
                  <a:ext uri="{FF2B5EF4-FFF2-40B4-BE49-F238E27FC236}">
                    <a16:creationId xmlns:a16="http://schemas.microsoft.com/office/drawing/2014/main" id="{C5A1EE1D-F7A9-934D-AEF8-EBC23FADBD75}"/>
                  </a:ext>
                </a:extLst>
              </p:cNvPr>
              <p:cNvSpPr/>
              <p:nvPr/>
            </p:nvSpPr>
            <p:spPr>
              <a:xfrm>
                <a:off x="8249747" y="4914680"/>
                <a:ext cx="621458" cy="277123"/>
              </a:xfrm>
              <a:prstGeom prst="rect">
                <a:avLst/>
              </a:prstGeom>
            </p:spPr>
            <p:txBody>
              <a:bodyPr wrap="none">
                <a:spAutoFit/>
              </a:bodyPr>
              <a:lstStyle/>
              <a:p>
                <a:pPr algn="ctr"/>
                <a:r>
                  <a:rPr lang="zh-CN" altLang="en-US" sz="1400" dirty="0">
                    <a:latin typeface="Microsoft YaHei" panose="020B0503020204020204" pitchFamily="34" charset="-122"/>
                    <a:ea typeface="Microsoft YaHei" panose="020B0503020204020204" pitchFamily="34" charset="-122"/>
                    <a:cs typeface="Times New Roman" panose="02020603050405020304" pitchFamily="18" charset="0"/>
                  </a:rPr>
                  <a:t>攻擊者</a:t>
                </a:r>
                <a:endParaRPr lang="zh-CN" altLang="en-US" sz="1400" dirty="0"/>
              </a:p>
            </p:txBody>
          </p:sp>
        </p:grpSp>
        <p:grpSp>
          <p:nvGrpSpPr>
            <p:cNvPr id="58" name="组合 57">
              <a:extLst>
                <a:ext uri="{FF2B5EF4-FFF2-40B4-BE49-F238E27FC236}">
                  <a16:creationId xmlns:a16="http://schemas.microsoft.com/office/drawing/2014/main" id="{19E659BA-86D1-3B48-9C28-08F4D2FBE12A}"/>
                </a:ext>
              </a:extLst>
            </p:cNvPr>
            <p:cNvGrpSpPr/>
            <p:nvPr/>
          </p:nvGrpSpPr>
          <p:grpSpPr>
            <a:xfrm>
              <a:off x="5144788" y="2112732"/>
              <a:ext cx="681661" cy="857790"/>
              <a:chOff x="5600220" y="2512889"/>
              <a:chExt cx="681661" cy="857790"/>
            </a:xfrm>
          </p:grpSpPr>
          <p:pic>
            <p:nvPicPr>
              <p:cNvPr id="29" name="图形 28" descr="Internet">
                <a:extLst>
                  <a:ext uri="{FF2B5EF4-FFF2-40B4-BE49-F238E27FC236}">
                    <a16:creationId xmlns:a16="http://schemas.microsoft.com/office/drawing/2014/main" id="{607F4C8A-74E1-974F-B783-3DB99C04088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600220" y="2512889"/>
                <a:ext cx="681661" cy="725407"/>
              </a:xfrm>
              <a:prstGeom prst="rect">
                <a:avLst/>
              </a:prstGeom>
            </p:spPr>
          </p:pic>
          <p:sp>
            <p:nvSpPr>
              <p:cNvPr id="37" name="矩形 36">
                <a:extLst>
                  <a:ext uri="{FF2B5EF4-FFF2-40B4-BE49-F238E27FC236}">
                    <a16:creationId xmlns:a16="http://schemas.microsoft.com/office/drawing/2014/main" id="{B6D1D9AD-9A1C-2E47-A55A-077CC721334C}"/>
                  </a:ext>
                </a:extLst>
              </p:cNvPr>
              <p:cNvSpPr/>
              <p:nvPr/>
            </p:nvSpPr>
            <p:spPr>
              <a:xfrm>
                <a:off x="5651128" y="3093556"/>
                <a:ext cx="621458" cy="277123"/>
              </a:xfrm>
              <a:prstGeom prst="rect">
                <a:avLst/>
              </a:prstGeom>
            </p:spPr>
            <p:txBody>
              <a:bodyPr wrap="none">
                <a:spAutoFit/>
              </a:bodyPr>
              <a:lstStyle/>
              <a:p>
                <a:pPr algn="ctr"/>
                <a:r>
                  <a:rPr lang="zh-CN" altLang="en-US" sz="1400" dirty="0">
                    <a:latin typeface="Microsoft YaHei" panose="020B0503020204020204" pitchFamily="34" charset="-122"/>
                    <a:ea typeface="Microsoft YaHei" panose="020B0503020204020204" pitchFamily="34" charset="-122"/>
                    <a:cs typeface="Times New Roman" panose="02020603050405020304" pitchFamily="18" charset="0"/>
                  </a:rPr>
                  <a:t>攻擊者</a:t>
                </a:r>
                <a:endParaRPr lang="zh-CN" altLang="en-US" sz="1400" dirty="0"/>
              </a:p>
            </p:txBody>
          </p:sp>
        </p:grpSp>
        <p:grpSp>
          <p:nvGrpSpPr>
            <p:cNvPr id="56" name="组合 55">
              <a:extLst>
                <a:ext uri="{FF2B5EF4-FFF2-40B4-BE49-F238E27FC236}">
                  <a16:creationId xmlns:a16="http://schemas.microsoft.com/office/drawing/2014/main" id="{DF6B3090-5B42-7A4F-8049-27BF61C47ECF}"/>
                </a:ext>
              </a:extLst>
            </p:cNvPr>
            <p:cNvGrpSpPr/>
            <p:nvPr/>
          </p:nvGrpSpPr>
          <p:grpSpPr>
            <a:xfrm>
              <a:off x="5148251" y="4482236"/>
              <a:ext cx="681661" cy="848639"/>
              <a:chOff x="5600220" y="4343163"/>
              <a:chExt cx="681661" cy="848639"/>
            </a:xfrm>
          </p:grpSpPr>
          <p:pic>
            <p:nvPicPr>
              <p:cNvPr id="30" name="图形 29" descr="Internet">
                <a:extLst>
                  <a:ext uri="{FF2B5EF4-FFF2-40B4-BE49-F238E27FC236}">
                    <a16:creationId xmlns:a16="http://schemas.microsoft.com/office/drawing/2014/main" id="{2BF284D4-71A3-9E49-981C-D5094B25FC2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600220" y="4343163"/>
                <a:ext cx="681661" cy="725407"/>
              </a:xfrm>
              <a:prstGeom prst="rect">
                <a:avLst/>
              </a:prstGeom>
            </p:spPr>
          </p:pic>
          <p:sp>
            <p:nvSpPr>
              <p:cNvPr id="38" name="矩形 37">
                <a:extLst>
                  <a:ext uri="{FF2B5EF4-FFF2-40B4-BE49-F238E27FC236}">
                    <a16:creationId xmlns:a16="http://schemas.microsoft.com/office/drawing/2014/main" id="{1B54EECD-56CB-804E-8D8A-06AEBD6E7DD5}"/>
                  </a:ext>
                </a:extLst>
              </p:cNvPr>
              <p:cNvSpPr/>
              <p:nvPr/>
            </p:nvSpPr>
            <p:spPr>
              <a:xfrm>
                <a:off x="5643308" y="4914680"/>
                <a:ext cx="621458" cy="277122"/>
              </a:xfrm>
              <a:prstGeom prst="rect">
                <a:avLst/>
              </a:prstGeom>
            </p:spPr>
            <p:txBody>
              <a:bodyPr wrap="none">
                <a:spAutoFit/>
              </a:bodyPr>
              <a:lstStyle/>
              <a:p>
                <a:pPr algn="ctr"/>
                <a:r>
                  <a:rPr lang="zh-CN" altLang="en-US" sz="1400" dirty="0">
                    <a:latin typeface="Microsoft YaHei" panose="020B0503020204020204" pitchFamily="34" charset="-122"/>
                    <a:ea typeface="Microsoft YaHei" panose="020B0503020204020204" pitchFamily="34" charset="-122"/>
                    <a:cs typeface="Times New Roman" panose="02020603050405020304" pitchFamily="18" charset="0"/>
                  </a:rPr>
                  <a:t>攻擊者</a:t>
                </a:r>
                <a:endParaRPr lang="zh-CN" altLang="en-US" sz="1400" dirty="0"/>
              </a:p>
            </p:txBody>
          </p:sp>
        </p:grpSp>
        <p:grpSp>
          <p:nvGrpSpPr>
            <p:cNvPr id="57" name="组合 56">
              <a:extLst>
                <a:ext uri="{FF2B5EF4-FFF2-40B4-BE49-F238E27FC236}">
                  <a16:creationId xmlns:a16="http://schemas.microsoft.com/office/drawing/2014/main" id="{E21AB40C-9999-0547-B15D-7BB8258B909C}"/>
                </a:ext>
              </a:extLst>
            </p:cNvPr>
            <p:cNvGrpSpPr/>
            <p:nvPr/>
          </p:nvGrpSpPr>
          <p:grpSpPr>
            <a:xfrm>
              <a:off x="6909018" y="3438247"/>
              <a:ext cx="681661" cy="835840"/>
              <a:chOff x="6909018" y="3438247"/>
              <a:chExt cx="681661" cy="835840"/>
            </a:xfrm>
          </p:grpSpPr>
          <p:pic>
            <p:nvPicPr>
              <p:cNvPr id="31" name="图形 30" descr="Internet">
                <a:extLst>
                  <a:ext uri="{FF2B5EF4-FFF2-40B4-BE49-F238E27FC236}">
                    <a16:creationId xmlns:a16="http://schemas.microsoft.com/office/drawing/2014/main" id="{A3E9E942-E03C-DA4D-8223-C142AAE8A6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09018" y="3438247"/>
                <a:ext cx="681661" cy="725407"/>
              </a:xfrm>
              <a:prstGeom prst="rect">
                <a:avLst/>
              </a:prstGeom>
            </p:spPr>
          </p:pic>
          <p:sp>
            <p:nvSpPr>
              <p:cNvPr id="39" name="矩形 38">
                <a:extLst>
                  <a:ext uri="{FF2B5EF4-FFF2-40B4-BE49-F238E27FC236}">
                    <a16:creationId xmlns:a16="http://schemas.microsoft.com/office/drawing/2014/main" id="{F42ABA2B-7B59-1048-9E3A-035078B6C02F}"/>
                  </a:ext>
                </a:extLst>
              </p:cNvPr>
              <p:cNvSpPr/>
              <p:nvPr/>
            </p:nvSpPr>
            <p:spPr>
              <a:xfrm>
                <a:off x="6939118" y="3996964"/>
                <a:ext cx="621458" cy="277123"/>
              </a:xfrm>
              <a:prstGeom prst="rect">
                <a:avLst/>
              </a:prstGeom>
            </p:spPr>
            <p:txBody>
              <a:bodyPr wrap="none">
                <a:spAutoFit/>
              </a:bodyPr>
              <a:lstStyle/>
              <a:p>
                <a:pPr algn="ctr"/>
                <a:r>
                  <a:rPr lang="zh-CN" altLang="en-US" sz="1400" dirty="0">
                    <a:latin typeface="Microsoft YaHei" panose="020B0503020204020204" pitchFamily="34" charset="-122"/>
                    <a:ea typeface="Microsoft YaHei" panose="020B0503020204020204" pitchFamily="34" charset="-122"/>
                    <a:cs typeface="Times New Roman" panose="02020603050405020304" pitchFamily="18" charset="0"/>
                  </a:rPr>
                  <a:t>受害者</a:t>
                </a:r>
                <a:endParaRPr lang="zh-CN" altLang="en-US" sz="1400" dirty="0"/>
              </a:p>
            </p:txBody>
          </p:sp>
        </p:grpSp>
        <p:sp>
          <p:nvSpPr>
            <p:cNvPr id="40" name="Line 13">
              <a:extLst>
                <a:ext uri="{FF2B5EF4-FFF2-40B4-BE49-F238E27FC236}">
                  <a16:creationId xmlns:a16="http://schemas.microsoft.com/office/drawing/2014/main" id="{51067C9D-1799-B34A-A4F1-FB06D033AA62}"/>
                </a:ext>
              </a:extLst>
            </p:cNvPr>
            <p:cNvSpPr>
              <a:spLocks noChangeShapeType="1"/>
            </p:cNvSpPr>
            <p:nvPr/>
          </p:nvSpPr>
          <p:spPr bwMode="auto">
            <a:xfrm flipV="1">
              <a:off x="5701059" y="4061536"/>
              <a:ext cx="1170887" cy="608069"/>
            </a:xfrm>
            <a:prstGeom prst="line">
              <a:avLst/>
            </a:prstGeom>
            <a:noFill/>
            <a:ln w="9525">
              <a:solidFill>
                <a:sysClr val="windowText" lastClr="000000"/>
              </a:solidFill>
              <a:prstDash val="solid"/>
              <a:round/>
              <a:headEnd type="non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41" name="Line 13">
              <a:extLst>
                <a:ext uri="{FF2B5EF4-FFF2-40B4-BE49-F238E27FC236}">
                  <a16:creationId xmlns:a16="http://schemas.microsoft.com/office/drawing/2014/main" id="{7EE0C97E-3532-AB41-9EA9-CBD361F79B2B}"/>
                </a:ext>
              </a:extLst>
            </p:cNvPr>
            <p:cNvSpPr>
              <a:spLocks noChangeShapeType="1"/>
            </p:cNvSpPr>
            <p:nvPr/>
          </p:nvSpPr>
          <p:spPr bwMode="auto">
            <a:xfrm>
              <a:off x="5826449" y="2796463"/>
              <a:ext cx="1170887" cy="735422"/>
            </a:xfrm>
            <a:prstGeom prst="line">
              <a:avLst/>
            </a:prstGeom>
            <a:noFill/>
            <a:ln w="9525">
              <a:solidFill>
                <a:sysClr val="windowText" lastClr="000000"/>
              </a:solidFill>
              <a:prstDash val="solid"/>
              <a:round/>
              <a:headEnd type="non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60" name="Line 13">
              <a:extLst>
                <a:ext uri="{FF2B5EF4-FFF2-40B4-BE49-F238E27FC236}">
                  <a16:creationId xmlns:a16="http://schemas.microsoft.com/office/drawing/2014/main" id="{ACC49FFE-B16B-1246-956D-7DEBFC596FFE}"/>
                </a:ext>
              </a:extLst>
            </p:cNvPr>
            <p:cNvSpPr>
              <a:spLocks noChangeShapeType="1"/>
            </p:cNvSpPr>
            <p:nvPr/>
          </p:nvSpPr>
          <p:spPr bwMode="auto">
            <a:xfrm flipH="1">
              <a:off x="7500547" y="2796463"/>
              <a:ext cx="1295963" cy="735423"/>
            </a:xfrm>
            <a:prstGeom prst="line">
              <a:avLst/>
            </a:prstGeom>
            <a:noFill/>
            <a:ln w="9525">
              <a:solidFill>
                <a:sysClr val="windowText" lastClr="000000"/>
              </a:solidFill>
              <a:prstDash val="solid"/>
              <a:round/>
              <a:headEnd type="non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61" name="Line 13">
              <a:extLst>
                <a:ext uri="{FF2B5EF4-FFF2-40B4-BE49-F238E27FC236}">
                  <a16:creationId xmlns:a16="http://schemas.microsoft.com/office/drawing/2014/main" id="{786E78F0-8BFD-AB49-99F5-0EA3827A2265}"/>
                </a:ext>
              </a:extLst>
            </p:cNvPr>
            <p:cNvSpPr>
              <a:spLocks noChangeShapeType="1"/>
            </p:cNvSpPr>
            <p:nvPr/>
          </p:nvSpPr>
          <p:spPr bwMode="auto">
            <a:xfrm flipH="1" flipV="1">
              <a:off x="7590677" y="4010712"/>
              <a:ext cx="1205832" cy="735423"/>
            </a:xfrm>
            <a:prstGeom prst="line">
              <a:avLst/>
            </a:prstGeom>
            <a:noFill/>
            <a:ln w="9525">
              <a:solidFill>
                <a:sysClr val="windowText" lastClr="000000"/>
              </a:solidFill>
              <a:prstDash val="solid"/>
              <a:round/>
              <a:headEnd type="non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59" name="矩形 58">
              <a:extLst>
                <a:ext uri="{FF2B5EF4-FFF2-40B4-BE49-F238E27FC236}">
                  <a16:creationId xmlns:a16="http://schemas.microsoft.com/office/drawing/2014/main" id="{800155B0-1208-834B-A65A-9421FA2208C6}"/>
                </a:ext>
              </a:extLst>
            </p:cNvPr>
            <p:cNvSpPr/>
            <p:nvPr/>
          </p:nvSpPr>
          <p:spPr>
            <a:xfrm rot="2059473">
              <a:off x="6082918" y="2597764"/>
              <a:ext cx="863871" cy="526531"/>
            </a:xfrm>
            <a:prstGeom prst="rect">
              <a:avLst/>
            </a:prstGeom>
          </p:spPr>
          <p:txBody>
            <a:bodyPr wrap="none">
              <a:spAutoFit/>
            </a:bodyPr>
            <a:lstStyle/>
            <a:p>
              <a:pPr algn="ctr"/>
              <a:r>
                <a:rPr lang="zh-CN" altLang="en-US" sz="1600" dirty="0">
                  <a:latin typeface="Microsoft YaHei" panose="020B0503020204020204" pitchFamily="34" charset="-122"/>
                  <a:ea typeface="Microsoft YaHei" panose="020B0503020204020204" pitchFamily="34" charset="-122"/>
                </a:rPr>
                <a:t>請求建立</a:t>
              </a:r>
              <a:endParaRPr lang="en-US" altLang="zh-CN" sz="1600" dirty="0">
                <a:latin typeface="Microsoft YaHei" panose="020B0503020204020204" pitchFamily="34" charset="-122"/>
                <a:ea typeface="Microsoft YaHei" panose="020B0503020204020204" pitchFamily="34" charset="-122"/>
              </a:endParaRPr>
            </a:p>
            <a:p>
              <a:pPr algn="ctr"/>
              <a:r>
                <a:rPr lang="zh-CN" altLang="en-US" sz="1600" dirty="0">
                  <a:latin typeface="Microsoft YaHei" panose="020B0503020204020204" pitchFamily="34" charset="-122"/>
                  <a:ea typeface="Microsoft YaHei" panose="020B0503020204020204" pitchFamily="34" charset="-122"/>
                </a:rPr>
                <a:t>鄰居關係</a:t>
              </a:r>
              <a:endParaRPr lang="zh-CN" altLang="en-US" sz="1600" dirty="0"/>
            </a:p>
          </p:txBody>
        </p:sp>
        <p:sp>
          <p:nvSpPr>
            <p:cNvPr id="65" name="矩形 64">
              <a:extLst>
                <a:ext uri="{FF2B5EF4-FFF2-40B4-BE49-F238E27FC236}">
                  <a16:creationId xmlns:a16="http://schemas.microsoft.com/office/drawing/2014/main" id="{2C15A11A-5B87-F543-94BE-17094DDD0E78}"/>
                </a:ext>
              </a:extLst>
            </p:cNvPr>
            <p:cNvSpPr/>
            <p:nvPr/>
          </p:nvSpPr>
          <p:spPr>
            <a:xfrm rot="1907510">
              <a:off x="7932539" y="3885044"/>
              <a:ext cx="863871" cy="526531"/>
            </a:xfrm>
            <a:prstGeom prst="rect">
              <a:avLst/>
            </a:prstGeom>
          </p:spPr>
          <p:txBody>
            <a:bodyPr wrap="none">
              <a:spAutoFit/>
            </a:bodyPr>
            <a:lstStyle/>
            <a:p>
              <a:pPr algn="ctr"/>
              <a:r>
                <a:rPr lang="zh-CN" altLang="en-US" sz="1600" dirty="0">
                  <a:latin typeface="Microsoft YaHei" panose="020B0503020204020204" pitchFamily="34" charset="-122"/>
                  <a:ea typeface="Microsoft YaHei" panose="020B0503020204020204" pitchFamily="34" charset="-122"/>
                </a:rPr>
                <a:t>請求建立</a:t>
              </a:r>
              <a:endParaRPr lang="en-US" altLang="zh-CN" sz="1600" dirty="0">
                <a:latin typeface="Microsoft YaHei" panose="020B0503020204020204" pitchFamily="34" charset="-122"/>
                <a:ea typeface="Microsoft YaHei" panose="020B0503020204020204" pitchFamily="34" charset="-122"/>
              </a:endParaRPr>
            </a:p>
            <a:p>
              <a:pPr algn="ctr"/>
              <a:r>
                <a:rPr lang="zh-CN" altLang="en-US" sz="1600" dirty="0">
                  <a:latin typeface="Microsoft YaHei" panose="020B0503020204020204" pitchFamily="34" charset="-122"/>
                  <a:ea typeface="Microsoft YaHei" panose="020B0503020204020204" pitchFamily="34" charset="-122"/>
                </a:rPr>
                <a:t>鄰居關係</a:t>
              </a:r>
              <a:endParaRPr lang="zh-CN" altLang="en-US" sz="1600" dirty="0"/>
            </a:p>
          </p:txBody>
        </p:sp>
        <p:sp>
          <p:nvSpPr>
            <p:cNvPr id="66" name="矩形 65">
              <a:extLst>
                <a:ext uri="{FF2B5EF4-FFF2-40B4-BE49-F238E27FC236}">
                  <a16:creationId xmlns:a16="http://schemas.microsoft.com/office/drawing/2014/main" id="{8195217A-00F8-2040-ABE9-89A629096C8E}"/>
                </a:ext>
              </a:extLst>
            </p:cNvPr>
            <p:cNvSpPr/>
            <p:nvPr/>
          </p:nvSpPr>
          <p:spPr>
            <a:xfrm rot="19669334">
              <a:off x="7535544" y="2628805"/>
              <a:ext cx="863871" cy="526531"/>
            </a:xfrm>
            <a:prstGeom prst="rect">
              <a:avLst/>
            </a:prstGeom>
          </p:spPr>
          <p:txBody>
            <a:bodyPr wrap="none">
              <a:spAutoFit/>
            </a:bodyPr>
            <a:lstStyle/>
            <a:p>
              <a:pPr algn="ctr"/>
              <a:r>
                <a:rPr lang="zh-CN" altLang="en-US" sz="1600" dirty="0">
                  <a:latin typeface="Microsoft YaHei" panose="020B0503020204020204" pitchFamily="34" charset="-122"/>
                  <a:ea typeface="Microsoft YaHei" panose="020B0503020204020204" pitchFamily="34" charset="-122"/>
                </a:rPr>
                <a:t>請求建立</a:t>
              </a:r>
              <a:endParaRPr lang="en-US" altLang="zh-CN" sz="1600" dirty="0">
                <a:latin typeface="Microsoft YaHei" panose="020B0503020204020204" pitchFamily="34" charset="-122"/>
                <a:ea typeface="Microsoft YaHei" panose="020B0503020204020204" pitchFamily="34" charset="-122"/>
              </a:endParaRPr>
            </a:p>
            <a:p>
              <a:pPr algn="ctr"/>
              <a:r>
                <a:rPr lang="zh-CN" altLang="en-US" sz="1600" dirty="0">
                  <a:latin typeface="Microsoft YaHei" panose="020B0503020204020204" pitchFamily="34" charset="-122"/>
                  <a:ea typeface="Microsoft YaHei" panose="020B0503020204020204" pitchFamily="34" charset="-122"/>
                </a:rPr>
                <a:t>鄰居關係</a:t>
              </a:r>
              <a:endParaRPr lang="zh-CN" altLang="en-US" sz="1600" dirty="0"/>
            </a:p>
          </p:txBody>
        </p:sp>
        <p:sp>
          <p:nvSpPr>
            <p:cNvPr id="67" name="矩形 66">
              <a:extLst>
                <a:ext uri="{FF2B5EF4-FFF2-40B4-BE49-F238E27FC236}">
                  <a16:creationId xmlns:a16="http://schemas.microsoft.com/office/drawing/2014/main" id="{6B55674B-61A6-0844-B00E-6968CAE1E4A8}"/>
                </a:ext>
              </a:extLst>
            </p:cNvPr>
            <p:cNvSpPr/>
            <p:nvPr/>
          </p:nvSpPr>
          <p:spPr>
            <a:xfrm rot="19917729">
              <a:off x="5664065" y="3840136"/>
              <a:ext cx="863871" cy="526531"/>
            </a:xfrm>
            <a:prstGeom prst="rect">
              <a:avLst/>
            </a:prstGeom>
          </p:spPr>
          <p:txBody>
            <a:bodyPr wrap="none">
              <a:spAutoFit/>
            </a:bodyPr>
            <a:lstStyle/>
            <a:p>
              <a:pPr algn="ctr"/>
              <a:r>
                <a:rPr lang="zh-CN" altLang="en-US" sz="1600" dirty="0">
                  <a:latin typeface="Microsoft YaHei" panose="020B0503020204020204" pitchFamily="34" charset="-122"/>
                  <a:ea typeface="Microsoft YaHei" panose="020B0503020204020204" pitchFamily="34" charset="-122"/>
                </a:rPr>
                <a:t>請求建立</a:t>
              </a:r>
              <a:endParaRPr lang="en-US" altLang="zh-CN" sz="1600" dirty="0">
                <a:latin typeface="Microsoft YaHei" panose="020B0503020204020204" pitchFamily="34" charset="-122"/>
                <a:ea typeface="Microsoft YaHei" panose="020B0503020204020204" pitchFamily="34" charset="-122"/>
              </a:endParaRPr>
            </a:p>
            <a:p>
              <a:pPr algn="ctr"/>
              <a:r>
                <a:rPr lang="zh-CN" altLang="en-US" sz="1600" dirty="0">
                  <a:latin typeface="Microsoft YaHei" panose="020B0503020204020204" pitchFamily="34" charset="-122"/>
                  <a:ea typeface="Microsoft YaHei" panose="020B0503020204020204" pitchFamily="34" charset="-122"/>
                </a:rPr>
                <a:t>鄰居關係</a:t>
              </a:r>
              <a:endParaRPr lang="zh-CN" altLang="en-US" sz="1600" dirty="0"/>
            </a:p>
          </p:txBody>
        </p:sp>
      </p:grpSp>
      <p:sp>
        <p:nvSpPr>
          <p:cNvPr id="69" name="矩形 68">
            <a:extLst>
              <a:ext uri="{FF2B5EF4-FFF2-40B4-BE49-F238E27FC236}">
                <a16:creationId xmlns:a16="http://schemas.microsoft.com/office/drawing/2014/main" id="{6778CDC4-70DB-D248-AF35-89AC8D09343D}"/>
              </a:ext>
            </a:extLst>
          </p:cNvPr>
          <p:cNvSpPr/>
          <p:nvPr/>
        </p:nvSpPr>
        <p:spPr>
          <a:xfrm>
            <a:off x="882185" y="1132097"/>
            <a:ext cx="4798906" cy="3541482"/>
          </a:xfrm>
          <a:prstGeom prst="rect">
            <a:avLst/>
          </a:prstGeom>
          <a:ln>
            <a:noFill/>
          </a:ln>
        </p:spPr>
        <p:txBody>
          <a:bodyPr wrap="square">
            <a:spAutoFit/>
          </a:bodyPr>
          <a:lstStyle/>
          <a:p>
            <a:pPr algn="just">
              <a:lnSpc>
                <a:spcPts val="3900"/>
              </a:lnSpc>
            </a:pPr>
            <a:r>
              <a:rPr lang="zh-CN" altLang="en-US" sz="2400" b="1" dirty="0">
                <a:solidFill>
                  <a:srgbClr val="C00000"/>
                </a:solidFill>
                <a:latin typeface="Microsoft YaHei" panose="020B0503020204020204" pitchFamily="34" charset="-122"/>
                <a:ea typeface="Microsoft YaHei" panose="020B0503020204020204" pitchFamily="34" charset="-122"/>
              </a:rPr>
              <a:t>主要思路</a:t>
            </a:r>
            <a:endParaRPr lang="en-US" altLang="zh-CN" sz="2400" b="1" dirty="0">
              <a:solidFill>
                <a:srgbClr val="C00000"/>
              </a:solidFill>
              <a:latin typeface="Microsoft YaHei" panose="020B0503020204020204" pitchFamily="34" charset="-122"/>
              <a:ea typeface="Microsoft YaHei" panose="020B0503020204020204" pitchFamily="34" charset="-122"/>
            </a:endParaRPr>
          </a:p>
          <a:p>
            <a:pPr marL="342900" indent="-342900" algn="just">
              <a:lnSpc>
                <a:spcPts val="3900"/>
              </a:lnSpc>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攻擊者控制大量節點主動向受害者請求建立鄰居關係</a:t>
            </a:r>
            <a:endParaRPr lang="en-US" altLang="zh-CN" sz="2400" dirty="0">
              <a:latin typeface="Microsoft YaHei" panose="020B0503020204020204" pitchFamily="34" charset="-122"/>
              <a:ea typeface="Microsoft YaHei" panose="020B0503020204020204" pitchFamily="34" charset="-122"/>
            </a:endParaRPr>
          </a:p>
          <a:p>
            <a:pPr marL="342900" indent="-342900" algn="just">
              <a:lnSpc>
                <a:spcPts val="3900"/>
              </a:lnSpc>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若受害者已經和其它節點建立鄰居關係，則可配合</a:t>
            </a:r>
            <a:r>
              <a:rPr lang="en-US" altLang="zh-CN" sz="2400" dirty="0">
                <a:latin typeface="Microsoft YaHei" panose="020B0503020204020204" pitchFamily="34" charset="-122"/>
                <a:ea typeface="Microsoft YaHei" panose="020B0503020204020204" pitchFamily="34" charset="-122"/>
              </a:rPr>
              <a:t>DDoS</a:t>
            </a:r>
            <a:r>
              <a:rPr lang="zh-CN" altLang="en-US" sz="2400" dirty="0">
                <a:latin typeface="Microsoft YaHei" panose="020B0503020204020204" pitchFamily="34" charset="-122"/>
                <a:ea typeface="Microsoft YaHei" panose="020B0503020204020204" pitchFamily="34" charset="-122"/>
              </a:rPr>
              <a:t>等其它網絡攻擊觸發受害節點的重啓，然後迅速擠占其入向連接</a:t>
            </a:r>
          </a:p>
        </p:txBody>
      </p:sp>
      <p:sp>
        <p:nvSpPr>
          <p:cNvPr id="70" name="矩形 69">
            <a:extLst>
              <a:ext uri="{FF2B5EF4-FFF2-40B4-BE49-F238E27FC236}">
                <a16:creationId xmlns:a16="http://schemas.microsoft.com/office/drawing/2014/main" id="{B3A4347E-5C26-7A48-93BD-D67E280980E5}"/>
              </a:ext>
            </a:extLst>
          </p:cNvPr>
          <p:cNvSpPr/>
          <p:nvPr/>
        </p:nvSpPr>
        <p:spPr>
          <a:xfrm>
            <a:off x="885203" y="4894572"/>
            <a:ext cx="4798906" cy="1334777"/>
          </a:xfrm>
          <a:prstGeom prst="rect">
            <a:avLst/>
          </a:prstGeom>
          <a:solidFill>
            <a:srgbClr val="00B0F0"/>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ctr">
              <a:lnSpc>
                <a:spcPct val="120000"/>
              </a:lnSpc>
              <a:spcAft>
                <a:spcPts val="600"/>
              </a:spcAft>
            </a:pPr>
            <a:r>
              <a:rPr lang="zh-CN" altLang="en-US" sz="2800" b="1" dirty="0">
                <a:solidFill>
                  <a:schemeClr val="bg1"/>
                </a:solidFill>
                <a:latin typeface="Microsoft YaHei" panose="020B0503020204020204" pitchFamily="34" charset="-122"/>
                <a:ea typeface="Microsoft YaHei" panose="020B0503020204020204" pitchFamily="34" charset="-122"/>
              </a:rPr>
              <a:t>解决思路：</a:t>
            </a:r>
            <a:endParaRPr lang="en-US" altLang="zh-CN" sz="2800" b="1" dirty="0">
              <a:solidFill>
                <a:schemeClr val="bg1"/>
              </a:solidFill>
              <a:latin typeface="Microsoft YaHei" panose="020B0503020204020204" pitchFamily="34" charset="-122"/>
              <a:ea typeface="Microsoft YaHei" panose="020B0503020204020204" pitchFamily="34" charset="-122"/>
            </a:endParaRPr>
          </a:p>
          <a:p>
            <a:pPr algn="ctr">
              <a:lnSpc>
                <a:spcPct val="120000"/>
              </a:lnSpc>
              <a:spcAft>
                <a:spcPts val="600"/>
              </a:spcAft>
            </a:pPr>
            <a:r>
              <a:rPr lang="zh-CN" altLang="en-US" sz="2800" b="1" dirty="0">
                <a:solidFill>
                  <a:schemeClr val="bg1"/>
                </a:solidFill>
                <a:latin typeface="Microsoft YaHei" panose="020B0503020204020204" pitchFamily="34" charset="-122"/>
                <a:ea typeface="Microsoft YaHei" panose="020B0503020204020204" pitchFamily="34" charset="-122"/>
              </a:rPr>
              <a:t>周期性更換鄰居節點</a:t>
            </a:r>
            <a:endParaRPr lang="en-US" altLang="zh-CN" sz="2800" b="1" dirty="0">
              <a:solidFill>
                <a:schemeClr val="bg1"/>
              </a:solidFill>
              <a:latin typeface="Microsoft YaHei" panose="020B0503020204020204" pitchFamily="34" charset="-122"/>
              <a:ea typeface="Microsoft YaHei" panose="020B0503020204020204" pitchFamily="34" charset="-122"/>
            </a:endParaRPr>
          </a:p>
        </p:txBody>
      </p:sp>
      <p:sp>
        <p:nvSpPr>
          <p:cNvPr id="34" name="灯片编号占位符 2">
            <a:extLst>
              <a:ext uri="{FF2B5EF4-FFF2-40B4-BE49-F238E27FC236}">
                <a16:creationId xmlns:a16="http://schemas.microsoft.com/office/drawing/2014/main" id="{73E5B981-BD0E-064A-BCB8-2ED55FB7C668}"/>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40</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35526604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擠占出向連接</a:t>
            </a:r>
          </a:p>
        </p:txBody>
      </p:sp>
      <p:sp>
        <p:nvSpPr>
          <p:cNvPr id="5" name="矩形 4">
            <a:extLst>
              <a:ext uri="{FF2B5EF4-FFF2-40B4-BE49-F238E27FC236}">
                <a16:creationId xmlns:a16="http://schemas.microsoft.com/office/drawing/2014/main" id="{6EBCDA62-D741-9347-8F6B-BF80DDBC9606}"/>
              </a:ext>
            </a:extLst>
          </p:cNvPr>
          <p:cNvSpPr/>
          <p:nvPr/>
        </p:nvSpPr>
        <p:spPr>
          <a:xfrm>
            <a:off x="885202" y="1071469"/>
            <a:ext cx="6683944" cy="2243050"/>
          </a:xfrm>
          <a:prstGeom prst="rect">
            <a:avLst/>
          </a:prstGeom>
          <a:ln>
            <a:noFill/>
          </a:ln>
        </p:spPr>
        <p:txBody>
          <a:bodyPr wrap="square">
            <a:spAutoFit/>
          </a:bodyPr>
          <a:lstStyle/>
          <a:p>
            <a:pPr algn="just">
              <a:lnSpc>
                <a:spcPct val="150000"/>
              </a:lnSpc>
            </a:pPr>
            <a:r>
              <a:rPr lang="zh-CN" altLang="en-US" sz="2400" b="1" dirty="0">
                <a:solidFill>
                  <a:srgbClr val="C00000"/>
                </a:solidFill>
                <a:latin typeface="Microsoft YaHei" panose="020B0503020204020204" pitchFamily="34" charset="-122"/>
                <a:ea typeface="Microsoft YaHei" panose="020B0503020204020204" pitchFamily="34" charset="-122"/>
              </a:rPr>
              <a:t>主要思路：</a:t>
            </a:r>
            <a:endParaRPr lang="en-US" altLang="zh-CN" sz="2400" b="1" dirty="0">
              <a:solidFill>
                <a:srgbClr val="C00000"/>
              </a:solidFill>
              <a:latin typeface="Microsoft YaHei" panose="020B0503020204020204" pitchFamily="34" charset="-122"/>
              <a:ea typeface="Microsoft YaHei" panose="020B0503020204020204" pitchFamily="34" charset="-122"/>
            </a:endParaRPr>
          </a:p>
          <a:p>
            <a:pPr algn="just">
              <a:lnSpc>
                <a:spcPct val="150000"/>
              </a:lnSpc>
            </a:pPr>
            <a:r>
              <a:rPr lang="zh-CN" altLang="en-US" sz="2400" dirty="0">
                <a:latin typeface="Microsoft YaHei" panose="020B0503020204020204" pitchFamily="34" charset="-122"/>
                <a:ea typeface="Microsoft YaHei" panose="020B0503020204020204" pitchFamily="34" charset="-122"/>
              </a:rPr>
              <a:t>針對受害節點發現網絡節點的過程進行攻擊。攻擊者向受害者發送大量由自己所控制的節點地址信息，等待受害者主動請求建立連接</a:t>
            </a:r>
          </a:p>
        </p:txBody>
      </p:sp>
      <p:sp>
        <p:nvSpPr>
          <p:cNvPr id="9" name="矩形 8">
            <a:extLst>
              <a:ext uri="{FF2B5EF4-FFF2-40B4-BE49-F238E27FC236}">
                <a16:creationId xmlns:a16="http://schemas.microsoft.com/office/drawing/2014/main" id="{6D5C73A9-2B3D-CC45-A7E7-93E7A60CDA39}"/>
              </a:ext>
            </a:extLst>
          </p:cNvPr>
          <p:cNvSpPr/>
          <p:nvPr/>
        </p:nvSpPr>
        <p:spPr>
          <a:xfrm>
            <a:off x="847104" y="3683625"/>
            <a:ext cx="5763246" cy="2864630"/>
          </a:xfrm>
          <a:prstGeom prst="rect">
            <a:avLst/>
          </a:prstGeom>
          <a:solidFill>
            <a:srgbClr val="00B0F0"/>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ctr">
              <a:lnSpc>
                <a:spcPct val="120000"/>
              </a:lnSpc>
              <a:spcAft>
                <a:spcPts val="600"/>
              </a:spcAft>
            </a:pPr>
            <a:r>
              <a:rPr lang="zh-CN" altLang="en-US" sz="2400" b="1" dirty="0">
                <a:solidFill>
                  <a:schemeClr val="bg1"/>
                </a:solidFill>
                <a:latin typeface="Microsoft YaHei" panose="020B0503020204020204" pitchFamily="34" charset="-122"/>
                <a:ea typeface="Microsoft YaHei" panose="020B0503020204020204" pitchFamily="34" charset="-122"/>
              </a:rPr>
              <a:t>解决思路：</a:t>
            </a:r>
            <a:endParaRPr lang="en-US" altLang="zh-CN" sz="2400" b="1" dirty="0">
              <a:solidFill>
                <a:schemeClr val="bg1"/>
              </a:solidFill>
              <a:latin typeface="Microsoft YaHei" panose="020B0503020204020204" pitchFamily="34" charset="-122"/>
              <a:ea typeface="Microsoft YaHei" panose="020B0503020204020204" pitchFamily="34" charset="-122"/>
            </a:endParaRPr>
          </a:p>
          <a:p>
            <a:pPr marL="457200" indent="-457200">
              <a:lnSpc>
                <a:spcPct val="120000"/>
              </a:lnSpc>
              <a:spcAft>
                <a:spcPts val="600"/>
              </a:spcAft>
              <a:buFont typeface="Arial" panose="020B0604020202020204" pitchFamily="34" charset="0"/>
              <a:buChar char="•"/>
            </a:pPr>
            <a:r>
              <a:rPr lang="zh-CN" altLang="en-US" sz="2400" b="1" dirty="0">
                <a:solidFill>
                  <a:schemeClr val="bg1"/>
                </a:solidFill>
                <a:latin typeface="Microsoft YaHei" panose="020B0503020204020204" pitchFamily="34" charset="-122"/>
                <a:ea typeface="Microsoft YaHei" panose="020B0503020204020204" pitchFamily="34" charset="-122"/>
              </a:rPr>
              <a:t>增加網絡信息表項的大小</a:t>
            </a:r>
            <a:endParaRPr lang="en-US" altLang="zh-CN" sz="2400" b="1" dirty="0">
              <a:solidFill>
                <a:schemeClr val="bg1"/>
              </a:solidFill>
              <a:latin typeface="Microsoft YaHei" panose="020B0503020204020204" pitchFamily="34" charset="-122"/>
              <a:ea typeface="Microsoft YaHei" panose="020B0503020204020204" pitchFamily="34" charset="-122"/>
            </a:endParaRPr>
          </a:p>
          <a:p>
            <a:pPr marL="457200" indent="-457200">
              <a:lnSpc>
                <a:spcPct val="120000"/>
              </a:lnSpc>
              <a:spcAft>
                <a:spcPts val="600"/>
              </a:spcAft>
              <a:buFont typeface="Arial" panose="020B0604020202020204" pitchFamily="34" charset="0"/>
              <a:buChar char="•"/>
            </a:pPr>
            <a:r>
              <a:rPr lang="zh-CN" altLang="en-US" sz="2400" b="1" dirty="0">
                <a:solidFill>
                  <a:schemeClr val="bg1"/>
                </a:solidFill>
                <a:latin typeface="Microsoft YaHei" panose="020B0503020204020204" pitchFamily="34" charset="-122"/>
                <a:ea typeface="Microsoft YaHei" panose="020B0503020204020204" pitchFamily="34" charset="-122"/>
              </a:rPr>
              <a:t>增加出向連接個數</a:t>
            </a:r>
            <a:endParaRPr lang="en-US" altLang="zh-CN" sz="2400" b="1" dirty="0">
              <a:solidFill>
                <a:schemeClr val="bg1"/>
              </a:solidFill>
              <a:latin typeface="Microsoft YaHei" panose="020B0503020204020204" pitchFamily="34" charset="-122"/>
              <a:ea typeface="Microsoft YaHei" panose="020B0503020204020204" pitchFamily="34" charset="-122"/>
            </a:endParaRPr>
          </a:p>
          <a:p>
            <a:pPr marL="457200" indent="-457200">
              <a:lnSpc>
                <a:spcPct val="120000"/>
              </a:lnSpc>
              <a:spcAft>
                <a:spcPts val="600"/>
              </a:spcAft>
              <a:buFont typeface="Arial" panose="020B0604020202020204" pitchFamily="34" charset="0"/>
              <a:buChar char="•"/>
            </a:pPr>
            <a:r>
              <a:rPr lang="zh-CN" altLang="en-US" sz="2400" b="1" dirty="0">
                <a:solidFill>
                  <a:schemeClr val="bg1"/>
                </a:solidFill>
                <a:latin typeface="Microsoft YaHei" panose="020B0503020204020204" pitchFamily="34" charset="-122"/>
                <a:ea typeface="Microsoft YaHei" panose="020B0503020204020204" pitchFamily="34" charset="-122"/>
              </a:rPr>
              <a:t>選擇少量不易受攻擊的可信權威節點作爲鄰居節點</a:t>
            </a:r>
          </a:p>
        </p:txBody>
      </p:sp>
      <p:grpSp>
        <p:nvGrpSpPr>
          <p:cNvPr id="11" name="组合 10">
            <a:extLst>
              <a:ext uri="{FF2B5EF4-FFF2-40B4-BE49-F238E27FC236}">
                <a16:creationId xmlns:a16="http://schemas.microsoft.com/office/drawing/2014/main" id="{3241DDE6-71BA-FA49-93C9-42801DA01CF6}"/>
              </a:ext>
            </a:extLst>
          </p:cNvPr>
          <p:cNvGrpSpPr/>
          <p:nvPr/>
        </p:nvGrpSpPr>
        <p:grpSpPr>
          <a:xfrm>
            <a:off x="10936359" y="5604291"/>
            <a:ext cx="793341" cy="942516"/>
            <a:chOff x="8203382" y="2512888"/>
            <a:chExt cx="681661" cy="848641"/>
          </a:xfrm>
        </p:grpSpPr>
        <p:pic>
          <p:nvPicPr>
            <p:cNvPr id="32" name="图形 31" descr="Internet">
              <a:extLst>
                <a:ext uri="{FF2B5EF4-FFF2-40B4-BE49-F238E27FC236}">
                  <a16:creationId xmlns:a16="http://schemas.microsoft.com/office/drawing/2014/main" id="{65379506-48C1-B249-B223-4A5A9791812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03382" y="2512888"/>
              <a:ext cx="681661" cy="725407"/>
            </a:xfrm>
            <a:prstGeom prst="rect">
              <a:avLst/>
            </a:prstGeom>
          </p:spPr>
        </p:pic>
        <p:sp>
          <p:nvSpPr>
            <p:cNvPr id="33" name="矩形 32">
              <a:extLst>
                <a:ext uri="{FF2B5EF4-FFF2-40B4-BE49-F238E27FC236}">
                  <a16:creationId xmlns:a16="http://schemas.microsoft.com/office/drawing/2014/main" id="{4D70C1AA-04AE-5746-A701-032B96377A38}"/>
                </a:ext>
              </a:extLst>
            </p:cNvPr>
            <p:cNvSpPr/>
            <p:nvPr/>
          </p:nvSpPr>
          <p:spPr>
            <a:xfrm>
              <a:off x="8254290" y="3084406"/>
              <a:ext cx="621458" cy="277123"/>
            </a:xfrm>
            <a:prstGeom prst="rect">
              <a:avLst/>
            </a:prstGeom>
          </p:spPr>
          <p:txBody>
            <a:bodyPr wrap="none">
              <a:spAutoFit/>
            </a:bodyPr>
            <a:lstStyle/>
            <a:p>
              <a:pPr algn="ctr"/>
              <a:r>
                <a:rPr lang="zh-CN" altLang="en-US" sz="1400" dirty="0">
                  <a:latin typeface="Microsoft YaHei" panose="020B0503020204020204" pitchFamily="34" charset="-122"/>
                  <a:ea typeface="Microsoft YaHei" panose="020B0503020204020204" pitchFamily="34" charset="-122"/>
                  <a:cs typeface="Times New Roman" panose="02020603050405020304" pitchFamily="18" charset="0"/>
                </a:rPr>
                <a:t>攻擊者</a:t>
              </a:r>
              <a:endParaRPr lang="zh-CN" altLang="en-US" sz="1400" dirty="0"/>
            </a:p>
          </p:txBody>
        </p:sp>
      </p:grpSp>
      <p:grpSp>
        <p:nvGrpSpPr>
          <p:cNvPr id="12" name="组合 11">
            <a:extLst>
              <a:ext uri="{FF2B5EF4-FFF2-40B4-BE49-F238E27FC236}">
                <a16:creationId xmlns:a16="http://schemas.microsoft.com/office/drawing/2014/main" id="{148CCEF8-5CC5-9642-9695-1DBE6E7FDAB3}"/>
              </a:ext>
            </a:extLst>
          </p:cNvPr>
          <p:cNvGrpSpPr/>
          <p:nvPr/>
        </p:nvGrpSpPr>
        <p:grpSpPr>
          <a:xfrm>
            <a:off x="9004172" y="5630049"/>
            <a:ext cx="793341" cy="942516"/>
            <a:chOff x="8203382" y="4343162"/>
            <a:chExt cx="681661" cy="848641"/>
          </a:xfrm>
        </p:grpSpPr>
        <p:pic>
          <p:nvPicPr>
            <p:cNvPr id="30" name="图形 29" descr="Internet">
              <a:extLst>
                <a:ext uri="{FF2B5EF4-FFF2-40B4-BE49-F238E27FC236}">
                  <a16:creationId xmlns:a16="http://schemas.microsoft.com/office/drawing/2014/main" id="{201FE043-8926-914F-8176-A71E5AA11DD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03382" y="4343162"/>
              <a:ext cx="681661" cy="725407"/>
            </a:xfrm>
            <a:prstGeom prst="rect">
              <a:avLst/>
            </a:prstGeom>
          </p:spPr>
        </p:pic>
        <p:sp>
          <p:nvSpPr>
            <p:cNvPr id="31" name="矩形 30">
              <a:extLst>
                <a:ext uri="{FF2B5EF4-FFF2-40B4-BE49-F238E27FC236}">
                  <a16:creationId xmlns:a16="http://schemas.microsoft.com/office/drawing/2014/main" id="{038560C1-A993-C147-8AD0-699EE52F1BD3}"/>
                </a:ext>
              </a:extLst>
            </p:cNvPr>
            <p:cNvSpPr/>
            <p:nvPr/>
          </p:nvSpPr>
          <p:spPr>
            <a:xfrm>
              <a:off x="8249747" y="4914680"/>
              <a:ext cx="621458" cy="277123"/>
            </a:xfrm>
            <a:prstGeom prst="rect">
              <a:avLst/>
            </a:prstGeom>
          </p:spPr>
          <p:txBody>
            <a:bodyPr wrap="none">
              <a:spAutoFit/>
            </a:bodyPr>
            <a:lstStyle/>
            <a:p>
              <a:pPr algn="ctr"/>
              <a:r>
                <a:rPr lang="zh-CN" altLang="en-US" sz="1400" dirty="0">
                  <a:latin typeface="Microsoft YaHei" panose="020B0503020204020204" pitchFamily="34" charset="-122"/>
                  <a:ea typeface="Microsoft YaHei" panose="020B0503020204020204" pitchFamily="34" charset="-122"/>
                  <a:cs typeface="Times New Roman" panose="02020603050405020304" pitchFamily="18" charset="0"/>
                </a:rPr>
                <a:t>攻擊者</a:t>
              </a:r>
              <a:endParaRPr lang="zh-CN" altLang="en-US" sz="1400" dirty="0"/>
            </a:p>
          </p:txBody>
        </p:sp>
      </p:grpSp>
      <p:grpSp>
        <p:nvGrpSpPr>
          <p:cNvPr id="13" name="组合 12">
            <a:extLst>
              <a:ext uri="{FF2B5EF4-FFF2-40B4-BE49-F238E27FC236}">
                <a16:creationId xmlns:a16="http://schemas.microsoft.com/office/drawing/2014/main" id="{3AB96F17-CF2C-5F4D-89A0-550DDDE5E74A}"/>
              </a:ext>
            </a:extLst>
          </p:cNvPr>
          <p:cNvGrpSpPr/>
          <p:nvPr/>
        </p:nvGrpSpPr>
        <p:grpSpPr>
          <a:xfrm>
            <a:off x="8975317" y="872151"/>
            <a:ext cx="793341" cy="952677"/>
            <a:chOff x="5600220" y="2512889"/>
            <a:chExt cx="681661" cy="857790"/>
          </a:xfrm>
        </p:grpSpPr>
        <p:pic>
          <p:nvPicPr>
            <p:cNvPr id="28" name="图形 27" descr="Internet">
              <a:extLst>
                <a:ext uri="{FF2B5EF4-FFF2-40B4-BE49-F238E27FC236}">
                  <a16:creationId xmlns:a16="http://schemas.microsoft.com/office/drawing/2014/main" id="{12F8D2B3-65D8-8949-ACC1-E4CF7E9D99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600220" y="2512889"/>
              <a:ext cx="681661" cy="725407"/>
            </a:xfrm>
            <a:prstGeom prst="rect">
              <a:avLst/>
            </a:prstGeom>
          </p:spPr>
        </p:pic>
        <p:sp>
          <p:nvSpPr>
            <p:cNvPr id="29" name="矩形 28">
              <a:extLst>
                <a:ext uri="{FF2B5EF4-FFF2-40B4-BE49-F238E27FC236}">
                  <a16:creationId xmlns:a16="http://schemas.microsoft.com/office/drawing/2014/main" id="{2308282C-8135-8F41-9C93-41A1131D5AE1}"/>
                </a:ext>
              </a:extLst>
            </p:cNvPr>
            <p:cNvSpPr/>
            <p:nvPr/>
          </p:nvSpPr>
          <p:spPr>
            <a:xfrm>
              <a:off x="5651128" y="3093556"/>
              <a:ext cx="621458" cy="277123"/>
            </a:xfrm>
            <a:prstGeom prst="rect">
              <a:avLst/>
            </a:prstGeom>
          </p:spPr>
          <p:txBody>
            <a:bodyPr wrap="none">
              <a:spAutoFit/>
            </a:bodyPr>
            <a:lstStyle/>
            <a:p>
              <a:pPr algn="ctr"/>
              <a:r>
                <a:rPr lang="zh-CN" altLang="en-US" sz="1400" dirty="0">
                  <a:latin typeface="Microsoft YaHei" panose="020B0503020204020204" pitchFamily="34" charset="-122"/>
                  <a:ea typeface="Microsoft YaHei" panose="020B0503020204020204" pitchFamily="34" charset="-122"/>
                  <a:cs typeface="Times New Roman" panose="02020603050405020304" pitchFamily="18" charset="0"/>
                </a:rPr>
                <a:t>攻擊者</a:t>
              </a:r>
              <a:endParaRPr lang="zh-CN" altLang="en-US" sz="1400" dirty="0"/>
            </a:p>
          </p:txBody>
        </p:sp>
      </p:grpSp>
      <p:grpSp>
        <p:nvGrpSpPr>
          <p:cNvPr id="14" name="组合 13">
            <a:extLst>
              <a:ext uri="{FF2B5EF4-FFF2-40B4-BE49-F238E27FC236}">
                <a16:creationId xmlns:a16="http://schemas.microsoft.com/office/drawing/2014/main" id="{C0FF407D-694F-0E4F-AD5B-6A00004ED8C8}"/>
              </a:ext>
            </a:extLst>
          </p:cNvPr>
          <p:cNvGrpSpPr/>
          <p:nvPr/>
        </p:nvGrpSpPr>
        <p:grpSpPr>
          <a:xfrm>
            <a:off x="6898825" y="5604291"/>
            <a:ext cx="793341" cy="942513"/>
            <a:chOff x="5600220" y="4343163"/>
            <a:chExt cx="681661" cy="848639"/>
          </a:xfrm>
        </p:grpSpPr>
        <p:pic>
          <p:nvPicPr>
            <p:cNvPr id="26" name="图形 25" descr="Internet">
              <a:extLst>
                <a:ext uri="{FF2B5EF4-FFF2-40B4-BE49-F238E27FC236}">
                  <a16:creationId xmlns:a16="http://schemas.microsoft.com/office/drawing/2014/main" id="{0A55786B-D343-2E42-A77C-12C84746352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600220" y="4343163"/>
              <a:ext cx="681661" cy="725407"/>
            </a:xfrm>
            <a:prstGeom prst="rect">
              <a:avLst/>
            </a:prstGeom>
          </p:spPr>
        </p:pic>
        <p:sp>
          <p:nvSpPr>
            <p:cNvPr id="27" name="矩形 26">
              <a:extLst>
                <a:ext uri="{FF2B5EF4-FFF2-40B4-BE49-F238E27FC236}">
                  <a16:creationId xmlns:a16="http://schemas.microsoft.com/office/drawing/2014/main" id="{B99BCCBE-DA73-854C-970A-12A8B1228E9B}"/>
                </a:ext>
              </a:extLst>
            </p:cNvPr>
            <p:cNvSpPr/>
            <p:nvPr/>
          </p:nvSpPr>
          <p:spPr>
            <a:xfrm>
              <a:off x="5643308" y="4914680"/>
              <a:ext cx="621458" cy="277122"/>
            </a:xfrm>
            <a:prstGeom prst="rect">
              <a:avLst/>
            </a:prstGeom>
          </p:spPr>
          <p:txBody>
            <a:bodyPr wrap="none">
              <a:spAutoFit/>
            </a:bodyPr>
            <a:lstStyle/>
            <a:p>
              <a:pPr algn="ctr"/>
              <a:r>
                <a:rPr lang="zh-CN" altLang="en-US" sz="1400" dirty="0">
                  <a:latin typeface="Microsoft YaHei" panose="020B0503020204020204" pitchFamily="34" charset="-122"/>
                  <a:ea typeface="Microsoft YaHei" panose="020B0503020204020204" pitchFamily="34" charset="-122"/>
                  <a:cs typeface="Times New Roman" panose="02020603050405020304" pitchFamily="18" charset="0"/>
                </a:rPr>
                <a:t>攻擊者</a:t>
              </a:r>
              <a:endParaRPr lang="zh-CN" altLang="en-US" sz="1400" dirty="0"/>
            </a:p>
          </p:txBody>
        </p:sp>
      </p:grpSp>
      <p:grpSp>
        <p:nvGrpSpPr>
          <p:cNvPr id="15" name="组合 14">
            <a:extLst>
              <a:ext uri="{FF2B5EF4-FFF2-40B4-BE49-F238E27FC236}">
                <a16:creationId xmlns:a16="http://schemas.microsoft.com/office/drawing/2014/main" id="{4CAF4B0B-758B-2F4F-A4C3-6B3E6E824320}"/>
              </a:ext>
            </a:extLst>
          </p:cNvPr>
          <p:cNvGrpSpPr/>
          <p:nvPr/>
        </p:nvGrpSpPr>
        <p:grpSpPr>
          <a:xfrm>
            <a:off x="8974503" y="3173894"/>
            <a:ext cx="793341" cy="928298"/>
            <a:chOff x="6909018" y="3438247"/>
            <a:chExt cx="681661" cy="835840"/>
          </a:xfrm>
        </p:grpSpPr>
        <p:pic>
          <p:nvPicPr>
            <p:cNvPr id="24" name="图形 23" descr="Internet">
              <a:extLst>
                <a:ext uri="{FF2B5EF4-FFF2-40B4-BE49-F238E27FC236}">
                  <a16:creationId xmlns:a16="http://schemas.microsoft.com/office/drawing/2014/main" id="{51E3BD38-7301-8242-86C6-DD91AD3D8E3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09018" y="3438247"/>
              <a:ext cx="681661" cy="725407"/>
            </a:xfrm>
            <a:prstGeom prst="rect">
              <a:avLst/>
            </a:prstGeom>
          </p:spPr>
        </p:pic>
        <p:sp>
          <p:nvSpPr>
            <p:cNvPr id="25" name="矩形 24">
              <a:extLst>
                <a:ext uri="{FF2B5EF4-FFF2-40B4-BE49-F238E27FC236}">
                  <a16:creationId xmlns:a16="http://schemas.microsoft.com/office/drawing/2014/main" id="{21ECDD06-DCFB-924E-90B6-663330AA7F68}"/>
                </a:ext>
              </a:extLst>
            </p:cNvPr>
            <p:cNvSpPr/>
            <p:nvPr/>
          </p:nvSpPr>
          <p:spPr>
            <a:xfrm>
              <a:off x="6939118" y="3996964"/>
              <a:ext cx="621458" cy="277123"/>
            </a:xfrm>
            <a:prstGeom prst="rect">
              <a:avLst/>
            </a:prstGeom>
          </p:spPr>
          <p:txBody>
            <a:bodyPr wrap="none">
              <a:spAutoFit/>
            </a:bodyPr>
            <a:lstStyle/>
            <a:p>
              <a:pPr algn="ctr"/>
              <a:r>
                <a:rPr lang="zh-CN" altLang="en-US" sz="1400" dirty="0">
                  <a:latin typeface="Microsoft YaHei" panose="020B0503020204020204" pitchFamily="34" charset="-122"/>
                  <a:ea typeface="Microsoft YaHei" panose="020B0503020204020204" pitchFamily="34" charset="-122"/>
                  <a:cs typeface="Times New Roman" panose="02020603050405020304" pitchFamily="18" charset="0"/>
                </a:rPr>
                <a:t>受害者</a:t>
              </a:r>
              <a:endParaRPr lang="zh-CN" altLang="en-US" sz="1400" dirty="0"/>
            </a:p>
          </p:txBody>
        </p:sp>
      </p:grpSp>
      <p:sp>
        <p:nvSpPr>
          <p:cNvPr id="16" name="Line 13">
            <a:extLst>
              <a:ext uri="{FF2B5EF4-FFF2-40B4-BE49-F238E27FC236}">
                <a16:creationId xmlns:a16="http://schemas.microsoft.com/office/drawing/2014/main" id="{C7E02E91-CE29-0340-84D4-28D4AA0D406F}"/>
              </a:ext>
            </a:extLst>
          </p:cNvPr>
          <p:cNvSpPr>
            <a:spLocks noChangeShapeType="1"/>
          </p:cNvSpPr>
          <p:nvPr/>
        </p:nvSpPr>
        <p:spPr bwMode="auto">
          <a:xfrm>
            <a:off x="9406373" y="4094671"/>
            <a:ext cx="0" cy="1632225"/>
          </a:xfrm>
          <a:prstGeom prst="line">
            <a:avLst/>
          </a:prstGeom>
          <a:noFill/>
          <a:ln w="9525">
            <a:solidFill>
              <a:sysClr val="windowText" lastClr="000000"/>
            </a:solidFill>
            <a:prstDash val="solid"/>
            <a:round/>
            <a:headEnd type="non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7" name="Line 13">
            <a:extLst>
              <a:ext uri="{FF2B5EF4-FFF2-40B4-BE49-F238E27FC236}">
                <a16:creationId xmlns:a16="http://schemas.microsoft.com/office/drawing/2014/main" id="{DA5ADCA6-E7FF-5E4F-858D-740D09F81D66}"/>
              </a:ext>
            </a:extLst>
          </p:cNvPr>
          <p:cNvSpPr>
            <a:spLocks noChangeShapeType="1"/>
          </p:cNvSpPr>
          <p:nvPr/>
        </p:nvSpPr>
        <p:spPr bwMode="auto">
          <a:xfrm flipV="1">
            <a:off x="9229105" y="1858246"/>
            <a:ext cx="24711" cy="1408745"/>
          </a:xfrm>
          <a:prstGeom prst="line">
            <a:avLst/>
          </a:prstGeom>
          <a:noFill/>
          <a:ln w="9525">
            <a:solidFill>
              <a:sysClr val="windowText" lastClr="000000"/>
            </a:solidFill>
            <a:prstDash val="solid"/>
            <a:round/>
            <a:headEnd type="non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19" name="Line 13">
            <a:extLst>
              <a:ext uri="{FF2B5EF4-FFF2-40B4-BE49-F238E27FC236}">
                <a16:creationId xmlns:a16="http://schemas.microsoft.com/office/drawing/2014/main" id="{AF04B454-9499-A540-8C1A-BFB23D3A18D3}"/>
              </a:ext>
            </a:extLst>
          </p:cNvPr>
          <p:cNvSpPr>
            <a:spLocks noChangeShapeType="1"/>
          </p:cNvSpPr>
          <p:nvPr/>
        </p:nvSpPr>
        <p:spPr bwMode="auto">
          <a:xfrm flipH="1" flipV="1">
            <a:off x="9821454" y="4094668"/>
            <a:ext cx="1510628" cy="1632227"/>
          </a:xfrm>
          <a:prstGeom prst="line">
            <a:avLst/>
          </a:prstGeom>
          <a:noFill/>
          <a:ln w="9525">
            <a:solidFill>
              <a:sysClr val="windowText" lastClr="000000"/>
            </a:solidFill>
            <a:prstDash val="solid"/>
            <a:round/>
            <a:headEnd type="triangle"/>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23" name="矩形 22">
            <a:extLst>
              <a:ext uri="{FF2B5EF4-FFF2-40B4-BE49-F238E27FC236}">
                <a16:creationId xmlns:a16="http://schemas.microsoft.com/office/drawing/2014/main" id="{3B017C6E-65D7-8045-B24E-F95996445A68}"/>
              </a:ext>
            </a:extLst>
          </p:cNvPr>
          <p:cNvSpPr/>
          <p:nvPr/>
        </p:nvSpPr>
        <p:spPr>
          <a:xfrm rot="18845983">
            <a:off x="6745331" y="4607869"/>
            <a:ext cx="2425113" cy="338554"/>
          </a:xfrm>
          <a:prstGeom prst="rect">
            <a:avLst/>
          </a:prstGeom>
        </p:spPr>
        <p:txBody>
          <a:bodyPr wrap="square">
            <a:spAutoFit/>
          </a:bodyPr>
          <a:lstStyle/>
          <a:p>
            <a:pPr algn="ctr"/>
            <a:r>
              <a:rPr lang="zh-CN" altLang="en-US" sz="1600" dirty="0">
                <a:latin typeface="Microsoft YaHei" panose="020B0503020204020204" pitchFamily="34" charset="-122"/>
                <a:ea typeface="Microsoft YaHei" panose="020B0503020204020204" pitchFamily="34" charset="-122"/>
              </a:rPr>
              <a:t>請求建立鄰居關係</a:t>
            </a:r>
            <a:endParaRPr lang="zh-CN" altLang="en-US" sz="1600" dirty="0"/>
          </a:p>
        </p:txBody>
      </p:sp>
      <p:sp>
        <p:nvSpPr>
          <p:cNvPr id="34" name="Line 13">
            <a:extLst>
              <a:ext uri="{FF2B5EF4-FFF2-40B4-BE49-F238E27FC236}">
                <a16:creationId xmlns:a16="http://schemas.microsoft.com/office/drawing/2014/main" id="{2DD3F235-0F2D-3B43-8892-9C892AC36E12}"/>
              </a:ext>
            </a:extLst>
          </p:cNvPr>
          <p:cNvSpPr>
            <a:spLocks noChangeShapeType="1"/>
          </p:cNvSpPr>
          <p:nvPr/>
        </p:nvSpPr>
        <p:spPr bwMode="auto">
          <a:xfrm flipH="1">
            <a:off x="7291062" y="4116089"/>
            <a:ext cx="1552827" cy="1610851"/>
          </a:xfrm>
          <a:prstGeom prst="line">
            <a:avLst/>
          </a:prstGeom>
          <a:noFill/>
          <a:ln w="9525">
            <a:solidFill>
              <a:sysClr val="windowText" lastClr="000000"/>
            </a:solidFill>
            <a:prstDash val="solid"/>
            <a:round/>
            <a:headEnd type="non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38" name="矩形 37">
            <a:extLst>
              <a:ext uri="{FF2B5EF4-FFF2-40B4-BE49-F238E27FC236}">
                <a16:creationId xmlns:a16="http://schemas.microsoft.com/office/drawing/2014/main" id="{F24519D2-5720-0C44-B234-123D6BF5D3ED}"/>
              </a:ext>
            </a:extLst>
          </p:cNvPr>
          <p:cNvSpPr/>
          <p:nvPr/>
        </p:nvSpPr>
        <p:spPr>
          <a:xfrm>
            <a:off x="8820525" y="4386548"/>
            <a:ext cx="662363" cy="1077218"/>
          </a:xfrm>
          <a:prstGeom prst="rect">
            <a:avLst/>
          </a:prstGeom>
        </p:spPr>
        <p:txBody>
          <a:bodyPr wrap="square">
            <a:spAutoFit/>
          </a:bodyPr>
          <a:lstStyle/>
          <a:p>
            <a:pPr algn="ctr"/>
            <a:r>
              <a:rPr lang="zh-CN" altLang="en-US" sz="1600" dirty="0">
                <a:latin typeface="Microsoft YaHei" panose="020B0503020204020204" pitchFamily="34" charset="-122"/>
                <a:ea typeface="Microsoft YaHei" panose="020B0503020204020204" pitchFamily="34" charset="-122"/>
              </a:rPr>
              <a:t>請求建立鄰居關係</a:t>
            </a:r>
            <a:endParaRPr lang="zh-CN" altLang="en-US" sz="1600" dirty="0"/>
          </a:p>
        </p:txBody>
      </p:sp>
      <p:sp>
        <p:nvSpPr>
          <p:cNvPr id="39" name="矩形 38">
            <a:extLst>
              <a:ext uri="{FF2B5EF4-FFF2-40B4-BE49-F238E27FC236}">
                <a16:creationId xmlns:a16="http://schemas.microsoft.com/office/drawing/2014/main" id="{204D4371-9A7A-E046-B385-FCB856C74DAB}"/>
              </a:ext>
            </a:extLst>
          </p:cNvPr>
          <p:cNvSpPr/>
          <p:nvPr/>
        </p:nvSpPr>
        <p:spPr>
          <a:xfrm rot="2843730">
            <a:off x="9471004" y="4603985"/>
            <a:ext cx="2425113" cy="338554"/>
          </a:xfrm>
          <a:prstGeom prst="rect">
            <a:avLst/>
          </a:prstGeom>
        </p:spPr>
        <p:txBody>
          <a:bodyPr wrap="square">
            <a:spAutoFit/>
          </a:bodyPr>
          <a:lstStyle/>
          <a:p>
            <a:pPr algn="ctr"/>
            <a:r>
              <a:rPr lang="zh-CN" altLang="en-US" sz="1600" dirty="0">
                <a:latin typeface="Microsoft YaHei" panose="020B0503020204020204" pitchFamily="34" charset="-122"/>
                <a:ea typeface="Microsoft YaHei" panose="020B0503020204020204" pitchFamily="34" charset="-122"/>
              </a:rPr>
              <a:t>請求建立鄰居關係</a:t>
            </a:r>
            <a:endParaRPr lang="zh-CN" altLang="en-US" sz="1600" dirty="0"/>
          </a:p>
        </p:txBody>
      </p:sp>
      <p:sp>
        <p:nvSpPr>
          <p:cNvPr id="40" name="Line 13">
            <a:extLst>
              <a:ext uri="{FF2B5EF4-FFF2-40B4-BE49-F238E27FC236}">
                <a16:creationId xmlns:a16="http://schemas.microsoft.com/office/drawing/2014/main" id="{4FF0317F-3526-D941-AD91-786ED7C7F9E6}"/>
              </a:ext>
            </a:extLst>
          </p:cNvPr>
          <p:cNvSpPr>
            <a:spLocks noChangeShapeType="1"/>
          </p:cNvSpPr>
          <p:nvPr/>
        </p:nvSpPr>
        <p:spPr bwMode="auto">
          <a:xfrm flipH="1">
            <a:off x="9470534" y="1901154"/>
            <a:ext cx="24711" cy="1315802"/>
          </a:xfrm>
          <a:prstGeom prst="line">
            <a:avLst/>
          </a:prstGeom>
          <a:noFill/>
          <a:ln w="9525">
            <a:solidFill>
              <a:sysClr val="windowText" lastClr="000000"/>
            </a:solidFill>
            <a:prstDash val="solid"/>
            <a:round/>
            <a:headEnd type="non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94" tIns="45647" rIns="91294" bIns="45647"/>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Calibri"/>
              <a:ea typeface="宋体" panose="02010600030101010101" pitchFamily="2" charset="-122"/>
            </a:endParaRPr>
          </a:p>
        </p:txBody>
      </p:sp>
      <p:sp>
        <p:nvSpPr>
          <p:cNvPr id="41" name="矩形 40">
            <a:extLst>
              <a:ext uri="{FF2B5EF4-FFF2-40B4-BE49-F238E27FC236}">
                <a16:creationId xmlns:a16="http://schemas.microsoft.com/office/drawing/2014/main" id="{3F028D0D-4568-7D4A-A065-40F6EF8E7907}"/>
              </a:ext>
            </a:extLst>
          </p:cNvPr>
          <p:cNvSpPr/>
          <p:nvPr/>
        </p:nvSpPr>
        <p:spPr>
          <a:xfrm>
            <a:off x="8417947" y="2236190"/>
            <a:ext cx="835872" cy="584775"/>
          </a:xfrm>
          <a:prstGeom prst="rect">
            <a:avLst/>
          </a:prstGeom>
        </p:spPr>
        <p:txBody>
          <a:bodyPr wrap="square">
            <a:spAutoFit/>
          </a:bodyPr>
          <a:lstStyle/>
          <a:p>
            <a:pPr algn="ctr"/>
            <a:r>
              <a:rPr lang="zh-CN" altLang="en-US" sz="1600" dirty="0">
                <a:latin typeface="Microsoft YaHei" panose="020B0503020204020204" pitchFamily="34" charset="-122"/>
                <a:ea typeface="Microsoft YaHei" panose="020B0503020204020204" pitchFamily="34" charset="-122"/>
              </a:rPr>
              <a:t>請求網絡信息</a:t>
            </a:r>
            <a:endParaRPr lang="zh-CN" altLang="en-US" sz="1600" dirty="0"/>
          </a:p>
        </p:txBody>
      </p:sp>
      <p:sp>
        <p:nvSpPr>
          <p:cNvPr id="42" name="矩形 41">
            <a:extLst>
              <a:ext uri="{FF2B5EF4-FFF2-40B4-BE49-F238E27FC236}">
                <a16:creationId xmlns:a16="http://schemas.microsoft.com/office/drawing/2014/main" id="{E4BF20C8-F398-FF49-AA51-E73E087E60BE}"/>
              </a:ext>
            </a:extLst>
          </p:cNvPr>
          <p:cNvSpPr/>
          <p:nvPr/>
        </p:nvSpPr>
        <p:spPr>
          <a:xfrm>
            <a:off x="9482888" y="2250753"/>
            <a:ext cx="835872" cy="584775"/>
          </a:xfrm>
          <a:prstGeom prst="rect">
            <a:avLst/>
          </a:prstGeom>
        </p:spPr>
        <p:txBody>
          <a:bodyPr wrap="square">
            <a:spAutoFit/>
          </a:bodyPr>
          <a:lstStyle/>
          <a:p>
            <a:pPr algn="ctr"/>
            <a:r>
              <a:rPr lang="zh-CN" altLang="en-US" sz="1600" dirty="0">
                <a:latin typeface="Microsoft YaHei" panose="020B0503020204020204" pitchFamily="34" charset="-122"/>
                <a:ea typeface="Microsoft YaHei" panose="020B0503020204020204" pitchFamily="34" charset="-122"/>
              </a:rPr>
              <a:t>返回攻擊者</a:t>
            </a:r>
            <a:r>
              <a:rPr lang="en-US" altLang="zh-CN" sz="1600" dirty="0" err="1">
                <a:latin typeface="Microsoft YaHei" panose="020B0503020204020204" pitchFamily="34" charset="-122"/>
                <a:ea typeface="Microsoft YaHei" panose="020B0503020204020204" pitchFamily="34" charset="-122"/>
              </a:rPr>
              <a:t>ip</a:t>
            </a:r>
            <a:endParaRPr lang="zh-CN" altLang="en-US" sz="1600" dirty="0"/>
          </a:p>
        </p:txBody>
      </p:sp>
      <p:sp>
        <p:nvSpPr>
          <p:cNvPr id="35" name="灯片编号占位符 2">
            <a:extLst>
              <a:ext uri="{FF2B5EF4-FFF2-40B4-BE49-F238E27FC236}">
                <a16:creationId xmlns:a16="http://schemas.microsoft.com/office/drawing/2014/main" id="{6694EDC5-0E78-514D-B319-D53BC6077283}"/>
              </a:ext>
            </a:extLst>
          </p:cNvPr>
          <p:cNvSpPr txBox="1">
            <a:spLocks/>
          </p:cNvSpPr>
          <p:nvPr/>
        </p:nvSpPr>
        <p:spPr>
          <a:xfrm>
            <a:off x="9347200" y="62448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41</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12170649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配合路由劫持攻擊</a:t>
            </a:r>
          </a:p>
        </p:txBody>
      </p:sp>
      <p:sp>
        <p:nvSpPr>
          <p:cNvPr id="5" name="矩形 4">
            <a:extLst>
              <a:ext uri="{FF2B5EF4-FFF2-40B4-BE49-F238E27FC236}">
                <a16:creationId xmlns:a16="http://schemas.microsoft.com/office/drawing/2014/main" id="{6EBCDA62-D741-9347-8F6B-BF80DDBC9606}"/>
              </a:ext>
            </a:extLst>
          </p:cNvPr>
          <p:cNvSpPr/>
          <p:nvPr/>
        </p:nvSpPr>
        <p:spPr>
          <a:xfrm>
            <a:off x="6505493" y="1007273"/>
            <a:ext cx="5090942" cy="3281796"/>
          </a:xfrm>
          <a:prstGeom prst="rect">
            <a:avLst/>
          </a:prstGeom>
          <a:ln>
            <a:noFill/>
          </a:ln>
        </p:spPr>
        <p:txBody>
          <a:bodyPr wrap="square">
            <a:spAutoFit/>
          </a:bodyPr>
          <a:lstStyle/>
          <a:p>
            <a:pPr>
              <a:lnSpc>
                <a:spcPts val="3600"/>
              </a:lnSpc>
            </a:pPr>
            <a:r>
              <a:rPr lang="zh-CN" altLang="en-US" sz="2400" b="1" dirty="0">
                <a:solidFill>
                  <a:srgbClr val="C00000"/>
                </a:solidFill>
                <a:latin typeface="Microsoft YaHei" panose="020B0503020204020204" pitchFamily="34" charset="-122"/>
                <a:ea typeface="Microsoft YaHei" panose="020B0503020204020204" pitchFamily="34" charset="-122"/>
              </a:rPr>
              <a:t>主要思路：</a:t>
            </a:r>
            <a:endParaRPr lang="en-US" altLang="zh-CN" sz="2400" b="1" dirty="0">
              <a:solidFill>
                <a:srgbClr val="C00000"/>
              </a:solidFill>
              <a:latin typeface="Microsoft YaHei" panose="020B0503020204020204" pitchFamily="34" charset="-122"/>
              <a:ea typeface="Microsoft YaHei" panose="020B0503020204020204" pitchFamily="34" charset="-122"/>
            </a:endParaRPr>
          </a:p>
          <a:p>
            <a:pPr marL="342900" indent="-342900" algn="just">
              <a:lnSpc>
                <a:spcPts val="3600"/>
              </a:lnSpc>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向受害節點本地存儲的節點地址列表注入大量影子</a:t>
            </a:r>
            <a:r>
              <a:rPr lang="en-US" altLang="zh-CN" sz="2400" dirty="0">
                <a:latin typeface="Microsoft YaHei" panose="020B0503020204020204" pitchFamily="34" charset="-122"/>
                <a:ea typeface="Microsoft YaHei" panose="020B0503020204020204" pitchFamily="34" charset="-122"/>
              </a:rPr>
              <a:t>IP</a:t>
            </a:r>
            <a:r>
              <a:rPr lang="zh-CN" altLang="en-US" sz="2400" dirty="0">
                <a:latin typeface="Microsoft YaHei" panose="020B0503020204020204" pitchFamily="34" charset="-122"/>
                <a:ea typeface="Microsoft YaHei" panose="020B0503020204020204" pitchFamily="34" charset="-122"/>
              </a:rPr>
              <a:t>（與受害節點間的通訊鏈路經過攻擊者所控制的</a:t>
            </a:r>
            <a:r>
              <a:rPr lang="en-US" altLang="zh-CN" sz="2400" dirty="0">
                <a:latin typeface="Microsoft YaHei" panose="020B0503020204020204" pitchFamily="34" charset="-122"/>
                <a:ea typeface="Microsoft YaHei" panose="020B0503020204020204" pitchFamily="34" charset="-122"/>
              </a:rPr>
              <a:t>AS</a:t>
            </a:r>
            <a:r>
              <a:rPr lang="zh-CN" altLang="en-US" sz="2400" dirty="0">
                <a:latin typeface="Microsoft YaHei" panose="020B0503020204020204" pitchFamily="34" charset="-122"/>
                <a:ea typeface="Microsoft YaHei" panose="020B0503020204020204" pitchFamily="34" charset="-122"/>
              </a:rPr>
              <a:t>）</a:t>
            </a:r>
            <a:endParaRPr lang="en-US" altLang="zh-CN" sz="2400" dirty="0">
              <a:latin typeface="Microsoft YaHei" panose="020B0503020204020204" pitchFamily="34" charset="-122"/>
              <a:ea typeface="Microsoft YaHei" panose="020B0503020204020204" pitchFamily="34" charset="-122"/>
            </a:endParaRPr>
          </a:p>
          <a:p>
            <a:pPr marL="342900" indent="-342900" algn="just">
              <a:lnSpc>
                <a:spcPts val="3600"/>
              </a:lnSpc>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使受害節點與影子</a:t>
            </a:r>
            <a:r>
              <a:rPr lang="en-US" altLang="zh-CN" sz="2400" dirty="0">
                <a:latin typeface="Microsoft YaHei" panose="020B0503020204020204" pitchFamily="34" charset="-122"/>
                <a:ea typeface="Microsoft YaHei" panose="020B0503020204020204" pitchFamily="34" charset="-122"/>
              </a:rPr>
              <a:t>IP</a:t>
            </a:r>
            <a:r>
              <a:rPr lang="zh-CN" altLang="en-US" sz="2400" dirty="0">
                <a:latin typeface="Microsoft YaHei" panose="020B0503020204020204" pitchFamily="34" charset="-122"/>
                <a:ea typeface="Microsoft YaHei" panose="020B0503020204020204" pitchFamily="34" charset="-122"/>
              </a:rPr>
              <a:t>建立鄰居關係，從而劫持受害者的所有鄰居鏈路</a:t>
            </a:r>
          </a:p>
        </p:txBody>
      </p:sp>
      <p:pic>
        <p:nvPicPr>
          <p:cNvPr id="6" name="图片 5">
            <a:extLst>
              <a:ext uri="{FF2B5EF4-FFF2-40B4-BE49-F238E27FC236}">
                <a16:creationId xmlns:a16="http://schemas.microsoft.com/office/drawing/2014/main" id="{05DF4151-8C75-AD4E-818F-48F1704AF52E}"/>
              </a:ext>
            </a:extLst>
          </p:cNvPr>
          <p:cNvPicPr>
            <a:picLocks noChangeAspect="1"/>
          </p:cNvPicPr>
          <p:nvPr/>
        </p:nvPicPr>
        <p:blipFill>
          <a:blip r:embed="rId2"/>
          <a:stretch>
            <a:fillRect/>
          </a:stretch>
        </p:blipFill>
        <p:spPr>
          <a:xfrm>
            <a:off x="485489" y="1383702"/>
            <a:ext cx="5796237" cy="4040092"/>
          </a:xfrm>
          <a:prstGeom prst="rect">
            <a:avLst/>
          </a:prstGeom>
        </p:spPr>
      </p:pic>
      <p:sp>
        <p:nvSpPr>
          <p:cNvPr id="9" name="矩形 8">
            <a:extLst>
              <a:ext uri="{FF2B5EF4-FFF2-40B4-BE49-F238E27FC236}">
                <a16:creationId xmlns:a16="http://schemas.microsoft.com/office/drawing/2014/main" id="{6D5C73A9-2B3D-CC45-A7E7-93E7A60CDA39}"/>
              </a:ext>
            </a:extLst>
          </p:cNvPr>
          <p:cNvSpPr/>
          <p:nvPr/>
        </p:nvSpPr>
        <p:spPr>
          <a:xfrm>
            <a:off x="6505493" y="4830380"/>
            <a:ext cx="5090942" cy="1031949"/>
          </a:xfrm>
          <a:prstGeom prst="rect">
            <a:avLst/>
          </a:prstGeom>
          <a:solidFill>
            <a:srgbClr val="00B0F0"/>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ctr">
              <a:lnSpc>
                <a:spcPct val="120000"/>
              </a:lnSpc>
              <a:spcAft>
                <a:spcPts val="600"/>
              </a:spcAft>
            </a:pPr>
            <a:r>
              <a:rPr lang="zh-CN" altLang="en-US" sz="2400" b="1" dirty="0">
                <a:solidFill>
                  <a:schemeClr val="bg1"/>
                </a:solidFill>
                <a:latin typeface="Microsoft YaHei" panose="020B0503020204020204" pitchFamily="34" charset="-122"/>
                <a:ea typeface="Microsoft YaHei" panose="020B0503020204020204" pitchFamily="34" charset="-122"/>
              </a:rPr>
              <a:t>解决思路：</a:t>
            </a:r>
            <a:endParaRPr lang="en-US" altLang="zh-CN" sz="2400" b="1" dirty="0">
              <a:solidFill>
                <a:schemeClr val="bg1"/>
              </a:solidFill>
              <a:latin typeface="Microsoft YaHei" panose="020B0503020204020204" pitchFamily="34" charset="-122"/>
              <a:ea typeface="Microsoft YaHei" panose="020B0503020204020204" pitchFamily="34" charset="-122"/>
            </a:endParaRPr>
          </a:p>
          <a:p>
            <a:pPr algn="ctr">
              <a:lnSpc>
                <a:spcPct val="120000"/>
              </a:lnSpc>
              <a:spcAft>
                <a:spcPts val="600"/>
              </a:spcAft>
            </a:pPr>
            <a:r>
              <a:rPr lang="zh-CN" altLang="en-US" sz="2400" b="1" dirty="0">
                <a:solidFill>
                  <a:schemeClr val="bg1"/>
                </a:solidFill>
                <a:latin typeface="Microsoft YaHei" panose="020B0503020204020204" pitchFamily="34" charset="-122"/>
                <a:ea typeface="Microsoft YaHei" panose="020B0503020204020204" pitchFamily="34" charset="-122"/>
              </a:rPr>
              <a:t>鄰居選擇時將</a:t>
            </a:r>
            <a:r>
              <a:rPr lang="en-US" altLang="zh-CN" sz="2400" b="1" dirty="0">
                <a:solidFill>
                  <a:schemeClr val="bg1"/>
                </a:solidFill>
                <a:latin typeface="Microsoft YaHei" panose="020B0503020204020204" pitchFamily="34" charset="-122"/>
                <a:ea typeface="Microsoft YaHei" panose="020B0503020204020204" pitchFamily="34" charset="-122"/>
              </a:rPr>
              <a:t>AS</a:t>
            </a:r>
            <a:r>
              <a:rPr lang="zh-CN" altLang="en-US" sz="2400" b="1" dirty="0">
                <a:solidFill>
                  <a:schemeClr val="bg1"/>
                </a:solidFill>
                <a:latin typeface="Microsoft YaHei" panose="020B0503020204020204" pitchFamily="34" charset="-122"/>
                <a:ea typeface="Microsoft YaHei" panose="020B0503020204020204" pitchFamily="34" charset="-122"/>
              </a:rPr>
              <a:t>拓撲考慮進去</a:t>
            </a:r>
            <a:endParaRPr lang="en-US" altLang="zh-CN" sz="2400" b="1" dirty="0">
              <a:solidFill>
                <a:schemeClr val="bg1"/>
              </a:solidFill>
              <a:latin typeface="Microsoft YaHei" panose="020B0503020204020204" pitchFamily="34" charset="-122"/>
              <a:ea typeface="Microsoft YaHei" panose="020B0503020204020204" pitchFamily="34" charset="-122"/>
            </a:endParaRPr>
          </a:p>
        </p:txBody>
      </p:sp>
      <p:cxnSp>
        <p:nvCxnSpPr>
          <p:cNvPr id="7" name="直接连接符 8">
            <a:extLst>
              <a:ext uri="{FF2B5EF4-FFF2-40B4-BE49-F238E27FC236}">
                <a16:creationId xmlns:a16="http://schemas.microsoft.com/office/drawing/2014/main" id="{3C3D8C4D-DF0A-8040-8915-973233C20832}"/>
              </a:ext>
            </a:extLst>
          </p:cNvPr>
          <p:cNvCxnSpPr>
            <a:cxnSpLocks/>
          </p:cNvCxnSpPr>
          <p:nvPr/>
        </p:nvCxnSpPr>
        <p:spPr>
          <a:xfrm>
            <a:off x="224045" y="5924073"/>
            <a:ext cx="547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文本框 14">
            <a:extLst>
              <a:ext uri="{FF2B5EF4-FFF2-40B4-BE49-F238E27FC236}">
                <a16:creationId xmlns:a16="http://schemas.microsoft.com/office/drawing/2014/main" id="{DF246F24-8767-EA42-A0E9-F92FF70C83F4}"/>
              </a:ext>
            </a:extLst>
          </p:cNvPr>
          <p:cNvSpPr txBox="1"/>
          <p:nvPr/>
        </p:nvSpPr>
        <p:spPr>
          <a:xfrm>
            <a:off x="561974" y="6075008"/>
            <a:ext cx="8668523" cy="738664"/>
          </a:xfrm>
          <a:prstGeom prst="rect">
            <a:avLst/>
          </a:prstGeom>
          <a:noFill/>
        </p:spPr>
        <p:txBody>
          <a:bodyPr wrap="square" rtlCol="0">
            <a:spAutoFit/>
          </a:bodyPr>
          <a:lstStyle/>
          <a:p>
            <a:pPr algn="just"/>
            <a:r>
              <a:rPr kumimoji="1" lang="zh-CN" altLang="en-US" sz="1400" dirty="0">
                <a:latin typeface="微软雅黑" panose="020B0503020204020204" pitchFamily="34" charset="-122"/>
                <a:ea typeface="微软雅黑" panose="020B0503020204020204" pitchFamily="34" charset="-122"/>
                <a:cs typeface="Times New Roman" panose="02020603050405020304" pitchFamily="18" charset="0"/>
              </a:rPr>
              <a:t>注</a:t>
            </a:r>
            <a:r>
              <a:rPr kumimoji="1" lang="en-US" altLang="zh-CN" sz="1400" dirty="0">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1400" dirty="0">
                <a:latin typeface="微软雅黑" panose="020B0503020204020204" pitchFamily="34" charset="-122"/>
                <a:ea typeface="微软雅黑" panose="020B0503020204020204" pitchFamily="34" charset="-122"/>
                <a:cs typeface="Times New Roman" panose="02020603050405020304" pitchFamily="18" charset="0"/>
              </a:rPr>
              <a:t>圖片來自來源：</a:t>
            </a:r>
            <a:endParaRPr kumimoji="1" lang="en-US" altLang="zh-CN" sz="1400" dirty="0">
              <a:latin typeface="微软雅黑" panose="020B0503020204020204" pitchFamily="34" charset="-122"/>
              <a:ea typeface="微软雅黑" panose="020B0503020204020204" pitchFamily="34" charset="-122"/>
              <a:cs typeface="Times New Roman" panose="02020603050405020304" pitchFamily="18" charset="0"/>
            </a:endParaRPr>
          </a:p>
          <a:p>
            <a:pPr algn="just"/>
            <a:r>
              <a:rPr lang="en" altLang="zh-CN" sz="1400" dirty="0"/>
              <a:t>Tran M, Choi I, Moon G J, et al. A stealthier partitioning attack against bitcoin peer-to-peer network[C]//2020 IEEE Symposium on Security and Privacy (S&amp;P). IEEE, 2020: 894-909.</a:t>
            </a:r>
            <a:endParaRPr kumimoji="1" lang="en-US" altLang="zh-CN" sz="14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灯片编号占位符 2">
            <a:extLst>
              <a:ext uri="{FF2B5EF4-FFF2-40B4-BE49-F238E27FC236}">
                <a16:creationId xmlns:a16="http://schemas.microsoft.com/office/drawing/2014/main" id="{C6773302-69D0-7D49-8BF0-157B95D6B836}"/>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42</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33447998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31EE29A1-C89A-8644-9C6C-B4B5595B99BE}"/>
              </a:ext>
            </a:extLst>
          </p:cNvPr>
          <p:cNvSpPr/>
          <p:nvPr/>
        </p:nvSpPr>
        <p:spPr>
          <a:xfrm>
            <a:off x="3792512" y="1518858"/>
            <a:ext cx="8399488" cy="17598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3" name="矩形 2">
            <a:extLst>
              <a:ext uri="{FF2B5EF4-FFF2-40B4-BE49-F238E27FC236}">
                <a16:creationId xmlns:a16="http://schemas.microsoft.com/office/drawing/2014/main" id="{95390BD7-9E9C-0D4E-A92D-6F6196C9DABC}"/>
              </a:ext>
            </a:extLst>
          </p:cNvPr>
          <p:cNvSpPr/>
          <p:nvPr/>
        </p:nvSpPr>
        <p:spPr>
          <a:xfrm>
            <a:off x="0" y="1518857"/>
            <a:ext cx="3312826" cy="1759889"/>
          </a:xfrm>
          <a:prstGeom prst="rect">
            <a:avLst/>
          </a:prstGeom>
          <a:solidFill>
            <a:srgbClr val="521B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4" name="椭圆 3">
            <a:extLst>
              <a:ext uri="{FF2B5EF4-FFF2-40B4-BE49-F238E27FC236}">
                <a16:creationId xmlns:a16="http://schemas.microsoft.com/office/drawing/2014/main" id="{BF9CDFA6-B029-6B4C-B9E4-7CF16FFE8CAE}"/>
              </a:ext>
            </a:extLst>
          </p:cNvPr>
          <p:cNvSpPr/>
          <p:nvPr/>
        </p:nvSpPr>
        <p:spPr>
          <a:xfrm>
            <a:off x="2038665" y="1219057"/>
            <a:ext cx="2353456" cy="2398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6" name="矩形 5">
            <a:extLst>
              <a:ext uri="{FF2B5EF4-FFF2-40B4-BE49-F238E27FC236}">
                <a16:creationId xmlns:a16="http://schemas.microsoft.com/office/drawing/2014/main" id="{10EE77B9-CAAB-9D47-886F-1F13DC4A4E9F}"/>
              </a:ext>
            </a:extLst>
          </p:cNvPr>
          <p:cNvSpPr/>
          <p:nvPr/>
        </p:nvSpPr>
        <p:spPr>
          <a:xfrm>
            <a:off x="4711535" y="2044858"/>
            <a:ext cx="4213013" cy="707886"/>
          </a:xfrm>
          <a:prstGeom prst="rect">
            <a:avLst/>
          </a:prstGeom>
        </p:spPr>
        <p:txBody>
          <a:bodyPr wrap="none">
            <a:spAutoFit/>
          </a:bodyPr>
          <a:lstStyle/>
          <a:p>
            <a:pPr>
              <a:defRPr/>
            </a:pPr>
            <a:r>
              <a:rPr lang="zh-CN" altLang="en-US" sz="4000" b="1" kern="100" dirty="0">
                <a:solidFill>
                  <a:prstClr val="white"/>
                </a:solidFill>
                <a:latin typeface="Microsoft YaHei" panose="020B0503020204020204" pitchFamily="34" charset="-122"/>
                <a:ea typeface="Microsoft YaHei" panose="020B0503020204020204" pitchFamily="34" charset="-122"/>
                <a:cs typeface="Times New Roman" panose="02020603050405020304" pitchFamily="18" charset="0"/>
              </a:rPr>
              <a:t>第</a:t>
            </a:r>
            <a:r>
              <a:rPr lang="en-US" altLang="zh-CN" sz="4000" b="1" kern="100" dirty="0">
                <a:solidFill>
                  <a:prstClr val="white"/>
                </a:solidFill>
                <a:latin typeface="Microsoft YaHei" panose="020B0503020204020204" pitchFamily="34" charset="-122"/>
                <a:ea typeface="Microsoft YaHei" panose="020B0503020204020204" pitchFamily="34" charset="-122"/>
                <a:cs typeface="Times New Roman" panose="02020603050405020304" pitchFamily="18" charset="0"/>
              </a:rPr>
              <a:t>2</a:t>
            </a:r>
            <a:r>
              <a:rPr lang="zh-CN" altLang="en-US" sz="4000" b="1" kern="100" dirty="0">
                <a:solidFill>
                  <a:prstClr val="white"/>
                </a:solidFill>
                <a:latin typeface="Microsoft YaHei" panose="020B0503020204020204" pitchFamily="34" charset="-122"/>
                <a:ea typeface="Microsoft YaHei" panose="020B0503020204020204" pitchFamily="34" charset="-122"/>
                <a:cs typeface="Times New Roman" panose="02020603050405020304" pitchFamily="18" charset="0"/>
              </a:rPr>
              <a:t>節 分布式算法</a:t>
            </a:r>
          </a:p>
        </p:txBody>
      </p:sp>
      <p:grpSp>
        <p:nvGrpSpPr>
          <p:cNvPr id="23" name="Group 5">
            <a:extLst>
              <a:ext uri="{FF2B5EF4-FFF2-40B4-BE49-F238E27FC236}">
                <a16:creationId xmlns:a16="http://schemas.microsoft.com/office/drawing/2014/main" id="{A124E9B0-D228-D247-8DB7-D556A9DBB8CF}"/>
              </a:ext>
            </a:extLst>
          </p:cNvPr>
          <p:cNvGrpSpPr/>
          <p:nvPr/>
        </p:nvGrpSpPr>
        <p:grpSpPr>
          <a:xfrm>
            <a:off x="5434508" y="4441898"/>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24" name="Oval 6">
              <a:extLst>
                <a:ext uri="{FF2B5EF4-FFF2-40B4-BE49-F238E27FC236}">
                  <a16:creationId xmlns:a16="http://schemas.microsoft.com/office/drawing/2014/main" id="{F106C430-1007-6B4E-BCEB-9CBD00951ADC}"/>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25" name="Freeform 7">
              <a:extLst>
                <a:ext uri="{FF2B5EF4-FFF2-40B4-BE49-F238E27FC236}">
                  <a16:creationId xmlns:a16="http://schemas.microsoft.com/office/drawing/2014/main" id="{DFC0FDD1-0652-5C48-88AE-4682617C87AE}"/>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26" name="TextBox 9">
            <a:extLst>
              <a:ext uri="{FF2B5EF4-FFF2-40B4-BE49-F238E27FC236}">
                <a16:creationId xmlns:a16="http://schemas.microsoft.com/office/drawing/2014/main" id="{9B0301AD-4E54-6B47-9D1F-2112B1D36AF1}"/>
              </a:ext>
            </a:extLst>
          </p:cNvPr>
          <p:cNvSpPr txBox="1">
            <a:spLocks noChangeArrowheads="1"/>
          </p:cNvSpPr>
          <p:nvPr/>
        </p:nvSpPr>
        <p:spPr bwMode="auto">
          <a:xfrm>
            <a:off x="5892904" y="4415052"/>
            <a:ext cx="2031325" cy="461665"/>
          </a:xfrm>
          <a:prstGeom prst="rect">
            <a:avLst/>
          </a:prstGeom>
          <a:noFill/>
          <a:ln w="9525">
            <a:noFill/>
            <a:miter lim="800000"/>
            <a:headEnd/>
            <a:tailEnd/>
          </a:ln>
        </p:spPr>
        <p:txBody>
          <a:bodyPr wrap="none">
            <a:spAutoFit/>
          </a:bodyPr>
          <a:lstStyle/>
          <a:p>
            <a:pPr>
              <a:defRPr/>
            </a:pPr>
            <a:r>
              <a:rPr lang="zh-CN" altLang="en-US" sz="2400" dirty="0">
                <a:latin typeface="Microsoft YaHei" panose="020B0503020204020204" pitchFamily="34" charset="-122"/>
                <a:ea typeface="Microsoft YaHei" panose="020B0503020204020204" pitchFamily="34" charset="-122"/>
              </a:rPr>
              <a:t>時鐘同步算法</a:t>
            </a:r>
          </a:p>
        </p:txBody>
      </p:sp>
      <p:grpSp>
        <p:nvGrpSpPr>
          <p:cNvPr id="27" name="Group 11">
            <a:extLst>
              <a:ext uri="{FF2B5EF4-FFF2-40B4-BE49-F238E27FC236}">
                <a16:creationId xmlns:a16="http://schemas.microsoft.com/office/drawing/2014/main" id="{D1B093A4-626E-9D44-BA75-D2F9B612F328}"/>
              </a:ext>
            </a:extLst>
          </p:cNvPr>
          <p:cNvGrpSpPr/>
          <p:nvPr/>
        </p:nvGrpSpPr>
        <p:grpSpPr>
          <a:xfrm>
            <a:off x="5434508" y="5017142"/>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28" name="Oval 12">
              <a:extLst>
                <a:ext uri="{FF2B5EF4-FFF2-40B4-BE49-F238E27FC236}">
                  <a16:creationId xmlns:a16="http://schemas.microsoft.com/office/drawing/2014/main" id="{A3B8FEF6-21F2-0A40-B23D-BA32D7DD3463}"/>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29" name="Freeform 13">
              <a:extLst>
                <a:ext uri="{FF2B5EF4-FFF2-40B4-BE49-F238E27FC236}">
                  <a16:creationId xmlns:a16="http://schemas.microsoft.com/office/drawing/2014/main" id="{81EE8B92-F1A9-3B4E-A342-A573286D1E97}"/>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30" name="TextBox 15">
            <a:extLst>
              <a:ext uri="{FF2B5EF4-FFF2-40B4-BE49-F238E27FC236}">
                <a16:creationId xmlns:a16="http://schemas.microsoft.com/office/drawing/2014/main" id="{AB81CDE2-FBAB-EB4F-81B1-BDC2F11131D7}"/>
              </a:ext>
            </a:extLst>
          </p:cNvPr>
          <p:cNvSpPr txBox="1">
            <a:spLocks noChangeArrowheads="1"/>
          </p:cNvSpPr>
          <p:nvPr/>
        </p:nvSpPr>
        <p:spPr bwMode="auto">
          <a:xfrm>
            <a:off x="5892904" y="4993496"/>
            <a:ext cx="1415772" cy="461665"/>
          </a:xfrm>
          <a:prstGeom prst="rect">
            <a:avLst/>
          </a:prstGeom>
          <a:noFill/>
          <a:ln w="9525">
            <a:noFill/>
            <a:miter lim="800000"/>
            <a:headEnd/>
            <a:tailEnd/>
          </a:ln>
        </p:spPr>
        <p:txBody>
          <a:bodyPr wrap="none">
            <a:spAutoFit/>
          </a:bodyPr>
          <a:lstStyle/>
          <a:p>
            <a:pPr>
              <a:defRPr/>
            </a:pPr>
            <a:r>
              <a:rPr lang="zh-CN" altLang="en-US" sz="2400" dirty="0">
                <a:latin typeface="Microsoft YaHei" panose="020B0503020204020204" pitchFamily="34" charset="-122"/>
                <a:ea typeface="Microsoft YaHei" panose="020B0503020204020204" pitchFamily="34" charset="-122"/>
              </a:rPr>
              <a:t>幷發問題</a:t>
            </a:r>
          </a:p>
        </p:txBody>
      </p:sp>
      <p:grpSp>
        <p:nvGrpSpPr>
          <p:cNvPr id="31" name="Group 17">
            <a:extLst>
              <a:ext uri="{FF2B5EF4-FFF2-40B4-BE49-F238E27FC236}">
                <a16:creationId xmlns:a16="http://schemas.microsoft.com/office/drawing/2014/main" id="{0EA19E80-D427-ED4F-864E-D799B3254AF6}"/>
              </a:ext>
            </a:extLst>
          </p:cNvPr>
          <p:cNvGrpSpPr/>
          <p:nvPr/>
        </p:nvGrpSpPr>
        <p:grpSpPr>
          <a:xfrm>
            <a:off x="5434508" y="5593690"/>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32" name="Oval 18">
              <a:extLst>
                <a:ext uri="{FF2B5EF4-FFF2-40B4-BE49-F238E27FC236}">
                  <a16:creationId xmlns:a16="http://schemas.microsoft.com/office/drawing/2014/main" id="{389945AC-ED8F-2849-8686-F276067125F6}"/>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33" name="Freeform 19">
              <a:extLst>
                <a:ext uri="{FF2B5EF4-FFF2-40B4-BE49-F238E27FC236}">
                  <a16:creationId xmlns:a16="http://schemas.microsoft.com/office/drawing/2014/main" id="{8C2274B4-FC09-D54A-88EB-6D372C7F5BF2}"/>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34" name="TextBox 21">
            <a:extLst>
              <a:ext uri="{FF2B5EF4-FFF2-40B4-BE49-F238E27FC236}">
                <a16:creationId xmlns:a16="http://schemas.microsoft.com/office/drawing/2014/main" id="{F2F85265-8D34-1947-8D96-6C0D240EA158}"/>
              </a:ext>
            </a:extLst>
          </p:cNvPr>
          <p:cNvSpPr txBox="1"/>
          <p:nvPr/>
        </p:nvSpPr>
        <p:spPr bwMode="auto">
          <a:xfrm>
            <a:off x="5892903" y="5573244"/>
            <a:ext cx="3262432" cy="461665"/>
          </a:xfrm>
          <a:prstGeom prst="rect">
            <a:avLst/>
          </a:prstGeom>
          <a:noFill/>
        </p:spPr>
        <p:txBody>
          <a:bodyPr wrap="none">
            <a:spAutoFit/>
          </a:bodyPr>
          <a:lstStyle/>
          <a:p>
            <a:pPr>
              <a:defRPr/>
            </a:pPr>
            <a:r>
              <a:rPr lang="zh-CN" altLang="en-US" sz="2400" dirty="0">
                <a:latin typeface="Microsoft YaHei" panose="020B0503020204020204" pitchFamily="34" charset="-122"/>
                <a:ea typeface="Microsoft YaHei" panose="020B0503020204020204" pitchFamily="34" charset="-122"/>
              </a:rPr>
              <a:t>故障容錯的一致性算法</a:t>
            </a:r>
          </a:p>
        </p:txBody>
      </p:sp>
      <p:grpSp>
        <p:nvGrpSpPr>
          <p:cNvPr id="19" name="Group 5">
            <a:extLst>
              <a:ext uri="{FF2B5EF4-FFF2-40B4-BE49-F238E27FC236}">
                <a16:creationId xmlns:a16="http://schemas.microsoft.com/office/drawing/2014/main" id="{6CB36BC9-732A-F84E-9F0F-93E9505014CE}"/>
              </a:ext>
            </a:extLst>
          </p:cNvPr>
          <p:cNvGrpSpPr/>
          <p:nvPr/>
        </p:nvGrpSpPr>
        <p:grpSpPr>
          <a:xfrm>
            <a:off x="5434508" y="3862150"/>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20" name="Oval 6">
              <a:extLst>
                <a:ext uri="{FF2B5EF4-FFF2-40B4-BE49-F238E27FC236}">
                  <a16:creationId xmlns:a16="http://schemas.microsoft.com/office/drawing/2014/main" id="{1502BF28-939D-7449-93B3-C94F35D97467}"/>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21" name="Freeform 7">
              <a:extLst>
                <a:ext uri="{FF2B5EF4-FFF2-40B4-BE49-F238E27FC236}">
                  <a16:creationId xmlns:a16="http://schemas.microsoft.com/office/drawing/2014/main" id="{14C25CD3-91BF-B44C-B235-53357CE28A64}"/>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22" name="TextBox 9">
            <a:extLst>
              <a:ext uri="{FF2B5EF4-FFF2-40B4-BE49-F238E27FC236}">
                <a16:creationId xmlns:a16="http://schemas.microsoft.com/office/drawing/2014/main" id="{981E2D9F-1DA1-B04C-AECC-2CF4D381FDC3}"/>
              </a:ext>
            </a:extLst>
          </p:cNvPr>
          <p:cNvSpPr txBox="1">
            <a:spLocks noChangeArrowheads="1"/>
          </p:cNvSpPr>
          <p:nvPr/>
        </p:nvSpPr>
        <p:spPr bwMode="auto">
          <a:xfrm>
            <a:off x="5892904" y="3835304"/>
            <a:ext cx="3262432" cy="461665"/>
          </a:xfrm>
          <a:prstGeom prst="rect">
            <a:avLst/>
          </a:prstGeom>
          <a:noFill/>
          <a:ln w="9525">
            <a:noFill/>
            <a:miter lim="800000"/>
            <a:headEnd/>
            <a:tailEnd/>
          </a:ln>
        </p:spPr>
        <p:txBody>
          <a:bodyPr wrap="none">
            <a:spAutoFit/>
          </a:bodyPr>
          <a:lstStyle/>
          <a:p>
            <a:pPr>
              <a:defRPr/>
            </a:pPr>
            <a:r>
              <a:rPr lang="zh-CN" altLang="en-US" sz="2400" dirty="0">
                <a:latin typeface="Microsoft YaHei" panose="020B0503020204020204" pitchFamily="34" charset="-122"/>
                <a:ea typeface="Microsoft YaHei" panose="020B0503020204020204" pitchFamily="34" charset="-122"/>
              </a:rPr>
              <a:t>協作過程中的安全隱患</a:t>
            </a:r>
          </a:p>
        </p:txBody>
      </p:sp>
      <p:pic>
        <p:nvPicPr>
          <p:cNvPr id="35" name="图片 34">
            <a:extLst>
              <a:ext uri="{FF2B5EF4-FFF2-40B4-BE49-F238E27FC236}">
                <a16:creationId xmlns:a16="http://schemas.microsoft.com/office/drawing/2014/main" id="{C0BE11ED-708C-C440-A34F-36A0009DAB49}"/>
              </a:ext>
            </a:extLst>
          </p:cNvPr>
          <p:cNvPicPr>
            <a:picLocks noChangeAspect="1"/>
          </p:cNvPicPr>
          <p:nvPr/>
        </p:nvPicPr>
        <p:blipFill>
          <a:blip r:embed="rId3"/>
          <a:stretch>
            <a:fillRect/>
          </a:stretch>
        </p:blipFill>
        <p:spPr>
          <a:xfrm>
            <a:off x="2107662" y="1303280"/>
            <a:ext cx="2220910" cy="2209943"/>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1068578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a:extLst>
              <a:ext uri="{FF2B5EF4-FFF2-40B4-BE49-F238E27FC236}">
                <a16:creationId xmlns:a16="http://schemas.microsoft.com/office/drawing/2014/main" id="{5EB3955C-78ED-644F-95EA-ABE56E27B837}"/>
              </a:ext>
            </a:extLst>
          </p:cNvPr>
          <p:cNvSpPr>
            <a:spLocks/>
          </p:cNvSpPr>
          <p:nvPr/>
        </p:nvSpPr>
        <p:spPr bwMode="auto">
          <a:xfrm>
            <a:off x="769568" y="965750"/>
            <a:ext cx="10869986" cy="1320250"/>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defRPr/>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solidFill>
                  <a:srgbClr val="C00000"/>
                </a:solidFill>
              </a:rPr>
              <a:t>協作過程中的安全問題</a:t>
            </a:r>
          </a:p>
        </p:txBody>
      </p:sp>
      <p:sp>
        <p:nvSpPr>
          <p:cNvPr id="4" name="文本框 3">
            <a:extLst>
              <a:ext uri="{FF2B5EF4-FFF2-40B4-BE49-F238E27FC236}">
                <a16:creationId xmlns:a16="http://schemas.microsoft.com/office/drawing/2014/main" id="{656C4675-2C8B-5445-BC9C-4B73BA07C3C2}"/>
              </a:ext>
            </a:extLst>
          </p:cNvPr>
          <p:cNvSpPr txBox="1"/>
          <p:nvPr/>
        </p:nvSpPr>
        <p:spPr>
          <a:xfrm>
            <a:off x="737269" y="2592902"/>
            <a:ext cx="7300392" cy="3577261"/>
          </a:xfrm>
          <a:prstGeom prst="rect">
            <a:avLst/>
          </a:prstGeom>
          <a:noFill/>
          <a:ln>
            <a:noFill/>
          </a:ln>
        </p:spPr>
        <p:txBody>
          <a:bodyPr wrap="square" rtlCol="0">
            <a:spAutoFit/>
          </a:bodyPr>
          <a:lstStyle/>
          <a:p>
            <a:pPr marL="342900" lvl="1" indent="-342900" fontAlgn="base">
              <a:lnSpc>
                <a:spcPts val="3600"/>
              </a:lnSpc>
              <a:spcBef>
                <a:spcPct val="20000"/>
              </a:spcBef>
              <a:spcAft>
                <a:spcPct val="0"/>
              </a:spcAft>
              <a:buSzPct val="100000"/>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缺乏全域時鐘：各節點本地時鐘可能不同步</a:t>
            </a:r>
            <a:endParaRPr lang="en-US" altLang="zh-CN" sz="2400" dirty="0">
              <a:latin typeface="Microsoft YaHei" panose="020B0503020204020204" pitchFamily="34" charset="-122"/>
              <a:ea typeface="Microsoft YaHei" panose="020B0503020204020204" pitchFamily="34" charset="-122"/>
            </a:endParaRPr>
          </a:p>
          <a:p>
            <a:pPr marL="684000" lvl="1" indent="-342900" fontAlgn="base">
              <a:lnSpc>
                <a:spcPts val="3600"/>
              </a:lnSpc>
              <a:spcBef>
                <a:spcPct val="20000"/>
              </a:spcBef>
              <a:spcAft>
                <a:spcPct val="0"/>
              </a:spcAft>
              <a:buSzPct val="100000"/>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物理時鐘：基于時鐘同步機制完成物理時鐘同步</a:t>
            </a:r>
            <a:endParaRPr lang="en-US" altLang="zh-CN" sz="2400" dirty="0">
              <a:latin typeface="Microsoft YaHei" panose="020B0503020204020204" pitchFamily="34" charset="-122"/>
              <a:ea typeface="Microsoft YaHei" panose="020B0503020204020204" pitchFamily="34" charset="-122"/>
            </a:endParaRPr>
          </a:p>
          <a:p>
            <a:pPr marL="684000" lvl="1" indent="-342900" fontAlgn="base">
              <a:lnSpc>
                <a:spcPts val="3600"/>
              </a:lnSpc>
              <a:spcBef>
                <a:spcPct val="20000"/>
              </a:spcBef>
              <a:spcAft>
                <a:spcPct val="0"/>
              </a:spcAft>
              <a:buSzPct val="100000"/>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邏輯時鐘：基于共識對事件發生的順序達成一致</a:t>
            </a:r>
            <a:endParaRPr lang="en-US" altLang="zh-CN" sz="2400" dirty="0">
              <a:latin typeface="Microsoft YaHei" panose="020B0503020204020204" pitchFamily="34" charset="-122"/>
              <a:ea typeface="Microsoft YaHei" panose="020B0503020204020204" pitchFamily="34" charset="-122"/>
            </a:endParaRPr>
          </a:p>
          <a:p>
            <a:pPr marL="342900" lvl="1" indent="-342900" fontAlgn="base">
              <a:lnSpc>
                <a:spcPts val="3600"/>
              </a:lnSpc>
              <a:spcBef>
                <a:spcPct val="20000"/>
              </a:spcBef>
              <a:spcAft>
                <a:spcPct val="0"/>
              </a:spcAft>
              <a:buSzPct val="100000"/>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幷發：同一時刻，系統中的不同組件可能面臨來自多個客戶端的大量幷發請求</a:t>
            </a:r>
            <a:endParaRPr lang="en-US" altLang="zh-CN" sz="2400" dirty="0">
              <a:latin typeface="Microsoft YaHei" panose="020B0503020204020204" pitchFamily="34" charset="-122"/>
              <a:ea typeface="Microsoft YaHei" panose="020B0503020204020204" pitchFamily="34" charset="-122"/>
            </a:endParaRPr>
          </a:p>
          <a:p>
            <a:pPr marL="342900" lvl="1" indent="-342900" fontAlgn="base">
              <a:lnSpc>
                <a:spcPts val="3600"/>
              </a:lnSpc>
              <a:spcBef>
                <a:spcPct val="20000"/>
              </a:spcBef>
              <a:spcAft>
                <a:spcPct val="0"/>
              </a:spcAft>
              <a:buSzPct val="100000"/>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故障：系統組件在協作過程中可能出現故障，從而導致信息的短暫丟失</a:t>
            </a:r>
            <a:endParaRPr lang="en-US" altLang="zh-CN" sz="2400" dirty="0">
              <a:latin typeface="Microsoft YaHei" panose="020B0503020204020204" pitchFamily="34" charset="-122"/>
              <a:ea typeface="Microsoft YaHei" panose="020B0503020204020204" pitchFamily="34" charset="-122"/>
            </a:endParaRPr>
          </a:p>
        </p:txBody>
      </p:sp>
      <p:sp>
        <p:nvSpPr>
          <p:cNvPr id="14" name="矩形 13">
            <a:extLst>
              <a:ext uri="{FF2B5EF4-FFF2-40B4-BE49-F238E27FC236}">
                <a16:creationId xmlns:a16="http://schemas.microsoft.com/office/drawing/2014/main" id="{D382B8E3-C62A-D74E-B3C5-9F2A9BF2AC11}"/>
              </a:ext>
            </a:extLst>
          </p:cNvPr>
          <p:cNvSpPr/>
          <p:nvPr/>
        </p:nvSpPr>
        <p:spPr>
          <a:xfrm>
            <a:off x="968045" y="1108609"/>
            <a:ext cx="10371263" cy="1005788"/>
          </a:xfrm>
          <a:prstGeom prst="rect">
            <a:avLst/>
          </a:prstGeom>
        </p:spPr>
        <p:txBody>
          <a:bodyPr wrap="square">
            <a:spAutoFit/>
          </a:bodyPr>
          <a:lstStyle/>
          <a:p>
            <a:pPr algn="just">
              <a:lnSpc>
                <a:spcPct val="130000"/>
              </a:lnSpc>
            </a:pPr>
            <a:r>
              <a:rPr lang="zh-CN" altLang="en-US" sz="2400" b="1" dirty="0">
                <a:latin typeface="Microsoft YaHei" panose="020B0503020204020204" pitchFamily="34" charset="-122"/>
                <a:ea typeface="Microsoft YaHei" panose="020B0503020204020204" pitchFamily="34" charset="-122"/>
              </a:rPr>
              <a:t>分布式算法的目的是協調分布式組件之間的交互和動作，從而確保它們能够穩定協作實現一個共同的任務 </a:t>
            </a:r>
          </a:p>
        </p:txBody>
      </p:sp>
      <p:pic>
        <p:nvPicPr>
          <p:cNvPr id="16" name="图片 15">
            <a:extLst>
              <a:ext uri="{FF2B5EF4-FFF2-40B4-BE49-F238E27FC236}">
                <a16:creationId xmlns:a16="http://schemas.microsoft.com/office/drawing/2014/main" id="{53304774-1407-244B-96E4-5582BF95A900}"/>
              </a:ext>
            </a:extLst>
          </p:cNvPr>
          <p:cNvPicPr>
            <a:picLocks noChangeAspect="1"/>
          </p:cNvPicPr>
          <p:nvPr/>
        </p:nvPicPr>
        <p:blipFill>
          <a:blip r:embed="rId2"/>
          <a:stretch>
            <a:fillRect/>
          </a:stretch>
        </p:blipFill>
        <p:spPr>
          <a:xfrm>
            <a:off x="9626287" y="2747125"/>
            <a:ext cx="659796" cy="898445"/>
          </a:xfrm>
          <a:prstGeom prst="rect">
            <a:avLst/>
          </a:prstGeom>
        </p:spPr>
      </p:pic>
      <p:pic>
        <p:nvPicPr>
          <p:cNvPr id="17" name="图片 16">
            <a:extLst>
              <a:ext uri="{FF2B5EF4-FFF2-40B4-BE49-F238E27FC236}">
                <a16:creationId xmlns:a16="http://schemas.microsoft.com/office/drawing/2014/main" id="{E74BC092-2CA4-1047-9894-50597F0F299A}"/>
              </a:ext>
            </a:extLst>
          </p:cNvPr>
          <p:cNvPicPr>
            <a:picLocks noChangeAspect="1"/>
          </p:cNvPicPr>
          <p:nvPr/>
        </p:nvPicPr>
        <p:blipFill>
          <a:blip r:embed="rId2"/>
          <a:stretch>
            <a:fillRect/>
          </a:stretch>
        </p:blipFill>
        <p:spPr>
          <a:xfrm>
            <a:off x="10943140" y="2747125"/>
            <a:ext cx="659796" cy="898445"/>
          </a:xfrm>
          <a:prstGeom prst="rect">
            <a:avLst/>
          </a:prstGeom>
        </p:spPr>
      </p:pic>
      <p:pic>
        <p:nvPicPr>
          <p:cNvPr id="18" name="图片 17">
            <a:extLst>
              <a:ext uri="{FF2B5EF4-FFF2-40B4-BE49-F238E27FC236}">
                <a16:creationId xmlns:a16="http://schemas.microsoft.com/office/drawing/2014/main" id="{5FB04732-523E-3A45-ADC1-FE7CEC3DCCDA}"/>
              </a:ext>
            </a:extLst>
          </p:cNvPr>
          <p:cNvPicPr>
            <a:picLocks noChangeAspect="1"/>
          </p:cNvPicPr>
          <p:nvPr/>
        </p:nvPicPr>
        <p:blipFill>
          <a:blip r:embed="rId2"/>
          <a:stretch>
            <a:fillRect/>
          </a:stretch>
        </p:blipFill>
        <p:spPr>
          <a:xfrm>
            <a:off x="11023902" y="5361216"/>
            <a:ext cx="659796" cy="898445"/>
          </a:xfrm>
          <a:prstGeom prst="rect">
            <a:avLst/>
          </a:prstGeom>
        </p:spPr>
      </p:pic>
      <p:pic>
        <p:nvPicPr>
          <p:cNvPr id="19" name="图片 18">
            <a:extLst>
              <a:ext uri="{FF2B5EF4-FFF2-40B4-BE49-F238E27FC236}">
                <a16:creationId xmlns:a16="http://schemas.microsoft.com/office/drawing/2014/main" id="{2618CDBC-EB6A-2E47-B80E-278E6B530538}"/>
              </a:ext>
            </a:extLst>
          </p:cNvPr>
          <p:cNvPicPr>
            <a:picLocks noChangeAspect="1"/>
          </p:cNvPicPr>
          <p:nvPr/>
        </p:nvPicPr>
        <p:blipFill>
          <a:blip r:embed="rId2"/>
          <a:stretch>
            <a:fillRect/>
          </a:stretch>
        </p:blipFill>
        <p:spPr>
          <a:xfrm>
            <a:off x="9626287" y="5361216"/>
            <a:ext cx="659796" cy="898445"/>
          </a:xfrm>
          <a:prstGeom prst="rect">
            <a:avLst/>
          </a:prstGeom>
        </p:spPr>
      </p:pic>
      <p:pic>
        <p:nvPicPr>
          <p:cNvPr id="5" name="图形 4">
            <a:extLst>
              <a:ext uri="{FF2B5EF4-FFF2-40B4-BE49-F238E27FC236}">
                <a16:creationId xmlns:a16="http://schemas.microsoft.com/office/drawing/2014/main" id="{B95FD2C0-70AE-6B47-9A11-62FD7D21E8E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66687" y="6327669"/>
            <a:ext cx="378995" cy="378995"/>
          </a:xfrm>
          <a:prstGeom prst="rect">
            <a:avLst/>
          </a:prstGeom>
        </p:spPr>
      </p:pic>
      <p:pic>
        <p:nvPicPr>
          <p:cNvPr id="20" name="图形 19">
            <a:extLst>
              <a:ext uri="{FF2B5EF4-FFF2-40B4-BE49-F238E27FC236}">
                <a16:creationId xmlns:a16="http://schemas.microsoft.com/office/drawing/2014/main" id="{44A41876-7833-4249-A051-40F62550E84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248974" y="6327669"/>
            <a:ext cx="378995" cy="378995"/>
          </a:xfrm>
          <a:prstGeom prst="rect">
            <a:avLst/>
          </a:prstGeom>
        </p:spPr>
      </p:pic>
      <p:pic>
        <p:nvPicPr>
          <p:cNvPr id="21" name="图形 20">
            <a:extLst>
              <a:ext uri="{FF2B5EF4-FFF2-40B4-BE49-F238E27FC236}">
                <a16:creationId xmlns:a16="http://schemas.microsoft.com/office/drawing/2014/main" id="{76F07D28-4ADB-9747-B49A-AAF80D4443B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83540" y="2341653"/>
            <a:ext cx="378995" cy="378995"/>
          </a:xfrm>
          <a:prstGeom prst="rect">
            <a:avLst/>
          </a:prstGeom>
        </p:spPr>
      </p:pic>
      <p:pic>
        <p:nvPicPr>
          <p:cNvPr id="22" name="图形 21">
            <a:extLst>
              <a:ext uri="{FF2B5EF4-FFF2-40B4-BE49-F238E27FC236}">
                <a16:creationId xmlns:a16="http://schemas.microsoft.com/office/drawing/2014/main" id="{5AD20709-85BC-6846-9082-F526522AD31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26306" y="2336180"/>
            <a:ext cx="378995" cy="378995"/>
          </a:xfrm>
          <a:prstGeom prst="rect">
            <a:avLst/>
          </a:prstGeom>
        </p:spPr>
      </p:pic>
      <p:pic>
        <p:nvPicPr>
          <p:cNvPr id="23" name="图形 22" descr="Internet">
            <a:extLst>
              <a:ext uri="{FF2B5EF4-FFF2-40B4-BE49-F238E27FC236}">
                <a16:creationId xmlns:a16="http://schemas.microsoft.com/office/drawing/2014/main" id="{2B04B314-9F30-114E-BF01-B364F532578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43860" y="3889248"/>
            <a:ext cx="593299" cy="631374"/>
          </a:xfrm>
          <a:prstGeom prst="rect">
            <a:avLst/>
          </a:prstGeom>
        </p:spPr>
      </p:pic>
      <p:pic>
        <p:nvPicPr>
          <p:cNvPr id="28" name="图形 27" descr="Internet">
            <a:extLst>
              <a:ext uri="{FF2B5EF4-FFF2-40B4-BE49-F238E27FC236}">
                <a16:creationId xmlns:a16="http://schemas.microsoft.com/office/drawing/2014/main" id="{62BF31C6-BB56-784C-88D7-36640F3D2A6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43860" y="4729842"/>
            <a:ext cx="593299" cy="631374"/>
          </a:xfrm>
          <a:prstGeom prst="rect">
            <a:avLst/>
          </a:prstGeom>
        </p:spPr>
      </p:pic>
      <p:cxnSp>
        <p:nvCxnSpPr>
          <p:cNvPr id="29" name="直线箭头连接符 28">
            <a:extLst>
              <a:ext uri="{FF2B5EF4-FFF2-40B4-BE49-F238E27FC236}">
                <a16:creationId xmlns:a16="http://schemas.microsoft.com/office/drawing/2014/main" id="{207F3DB9-0A2D-2E4C-8122-04C330843DD5}"/>
              </a:ext>
            </a:extLst>
          </p:cNvPr>
          <p:cNvCxnSpPr>
            <a:cxnSpLocks/>
            <a:stCxn id="23" idx="3"/>
          </p:cNvCxnSpPr>
          <p:nvPr/>
        </p:nvCxnSpPr>
        <p:spPr>
          <a:xfrm flipV="1">
            <a:off x="9137159" y="3346403"/>
            <a:ext cx="489128" cy="858532"/>
          </a:xfrm>
          <a:prstGeom prst="straightConnector1">
            <a:avLst/>
          </a:prstGeom>
          <a:ln>
            <a:tailEnd type="triangle" w="med" len="lg"/>
          </a:ln>
        </p:spPr>
        <p:style>
          <a:lnRef idx="1">
            <a:schemeClr val="accent1"/>
          </a:lnRef>
          <a:fillRef idx="0">
            <a:schemeClr val="accent1"/>
          </a:fillRef>
          <a:effectRef idx="0">
            <a:schemeClr val="accent1"/>
          </a:effectRef>
          <a:fontRef idx="minor">
            <a:schemeClr val="tx1"/>
          </a:fontRef>
        </p:style>
      </p:cxnSp>
      <p:cxnSp>
        <p:nvCxnSpPr>
          <p:cNvPr id="31" name="直线箭头连接符 30">
            <a:extLst>
              <a:ext uri="{FF2B5EF4-FFF2-40B4-BE49-F238E27FC236}">
                <a16:creationId xmlns:a16="http://schemas.microsoft.com/office/drawing/2014/main" id="{513D0C1E-306F-794F-9E8D-8E521BB8C1FD}"/>
              </a:ext>
            </a:extLst>
          </p:cNvPr>
          <p:cNvCxnSpPr>
            <a:cxnSpLocks/>
            <a:stCxn id="28" idx="3"/>
            <a:endCxn id="19" idx="1"/>
          </p:cNvCxnSpPr>
          <p:nvPr/>
        </p:nvCxnSpPr>
        <p:spPr>
          <a:xfrm>
            <a:off x="9137159" y="5045529"/>
            <a:ext cx="489128" cy="764910"/>
          </a:xfrm>
          <a:prstGeom prst="straightConnector1">
            <a:avLst/>
          </a:prstGeom>
          <a:ln>
            <a:tailEnd type="triangle" w="med" len="lg"/>
          </a:ln>
        </p:spPr>
        <p:style>
          <a:lnRef idx="1">
            <a:schemeClr val="accent1"/>
          </a:lnRef>
          <a:fillRef idx="0">
            <a:schemeClr val="accent1"/>
          </a:fillRef>
          <a:effectRef idx="0">
            <a:schemeClr val="accent1"/>
          </a:effectRef>
          <a:fontRef idx="minor">
            <a:schemeClr val="tx1"/>
          </a:fontRef>
        </p:style>
      </p:cxnSp>
      <p:cxnSp>
        <p:nvCxnSpPr>
          <p:cNvPr id="34" name="直线箭头连接符 33">
            <a:extLst>
              <a:ext uri="{FF2B5EF4-FFF2-40B4-BE49-F238E27FC236}">
                <a16:creationId xmlns:a16="http://schemas.microsoft.com/office/drawing/2014/main" id="{7C4641D3-BD97-C243-A617-7892D9A25FBA}"/>
              </a:ext>
            </a:extLst>
          </p:cNvPr>
          <p:cNvCxnSpPr>
            <a:cxnSpLocks/>
            <a:stCxn id="16" idx="2"/>
            <a:endCxn id="19" idx="0"/>
          </p:cNvCxnSpPr>
          <p:nvPr/>
        </p:nvCxnSpPr>
        <p:spPr>
          <a:xfrm>
            <a:off x="9956185" y="3645570"/>
            <a:ext cx="0" cy="1715646"/>
          </a:xfrm>
          <a:prstGeom prst="straightConnector1">
            <a:avLst/>
          </a:prstGeom>
          <a:ln>
            <a:tailEnd type="none" w="med" len="lg"/>
          </a:ln>
        </p:spPr>
        <p:style>
          <a:lnRef idx="1">
            <a:schemeClr val="accent1"/>
          </a:lnRef>
          <a:fillRef idx="0">
            <a:schemeClr val="accent1"/>
          </a:fillRef>
          <a:effectRef idx="0">
            <a:schemeClr val="accent1"/>
          </a:effectRef>
          <a:fontRef idx="minor">
            <a:schemeClr val="tx1"/>
          </a:fontRef>
        </p:style>
      </p:cxnSp>
      <p:cxnSp>
        <p:nvCxnSpPr>
          <p:cNvPr id="37" name="直线箭头连接符 36">
            <a:extLst>
              <a:ext uri="{FF2B5EF4-FFF2-40B4-BE49-F238E27FC236}">
                <a16:creationId xmlns:a16="http://schemas.microsoft.com/office/drawing/2014/main" id="{FCD4B8FA-857B-5F42-AC4C-BB234C7352DD}"/>
              </a:ext>
            </a:extLst>
          </p:cNvPr>
          <p:cNvCxnSpPr>
            <a:cxnSpLocks/>
            <a:stCxn id="16" idx="3"/>
            <a:endCxn id="17" idx="1"/>
          </p:cNvCxnSpPr>
          <p:nvPr/>
        </p:nvCxnSpPr>
        <p:spPr>
          <a:xfrm>
            <a:off x="10286083" y="3196348"/>
            <a:ext cx="657057" cy="0"/>
          </a:xfrm>
          <a:prstGeom prst="straightConnector1">
            <a:avLst/>
          </a:prstGeom>
          <a:ln>
            <a:tailEnd type="none" w="med" len="lg"/>
          </a:ln>
        </p:spPr>
        <p:style>
          <a:lnRef idx="1">
            <a:schemeClr val="accent1"/>
          </a:lnRef>
          <a:fillRef idx="0">
            <a:schemeClr val="accent1"/>
          </a:fillRef>
          <a:effectRef idx="0">
            <a:schemeClr val="accent1"/>
          </a:effectRef>
          <a:fontRef idx="minor">
            <a:schemeClr val="tx1"/>
          </a:fontRef>
        </p:style>
      </p:cxnSp>
      <p:cxnSp>
        <p:nvCxnSpPr>
          <p:cNvPr id="40" name="直线箭头连接符 39">
            <a:extLst>
              <a:ext uri="{FF2B5EF4-FFF2-40B4-BE49-F238E27FC236}">
                <a16:creationId xmlns:a16="http://schemas.microsoft.com/office/drawing/2014/main" id="{8E856CBC-506E-A246-A371-2C112CD08154}"/>
              </a:ext>
            </a:extLst>
          </p:cNvPr>
          <p:cNvCxnSpPr>
            <a:cxnSpLocks/>
            <a:stCxn id="17" idx="2"/>
            <a:endCxn id="18" idx="0"/>
          </p:cNvCxnSpPr>
          <p:nvPr/>
        </p:nvCxnSpPr>
        <p:spPr>
          <a:xfrm>
            <a:off x="11273038" y="3645570"/>
            <a:ext cx="80762" cy="1715646"/>
          </a:xfrm>
          <a:prstGeom prst="straightConnector1">
            <a:avLst/>
          </a:prstGeom>
          <a:ln>
            <a:tailEnd type="none" w="med" len="lg"/>
          </a:ln>
        </p:spPr>
        <p:style>
          <a:lnRef idx="1">
            <a:schemeClr val="accent1"/>
          </a:lnRef>
          <a:fillRef idx="0">
            <a:schemeClr val="accent1"/>
          </a:fillRef>
          <a:effectRef idx="0">
            <a:schemeClr val="accent1"/>
          </a:effectRef>
          <a:fontRef idx="minor">
            <a:schemeClr val="tx1"/>
          </a:fontRef>
        </p:style>
      </p:cxnSp>
      <p:cxnSp>
        <p:nvCxnSpPr>
          <p:cNvPr id="43" name="直线箭头连接符 42">
            <a:extLst>
              <a:ext uri="{FF2B5EF4-FFF2-40B4-BE49-F238E27FC236}">
                <a16:creationId xmlns:a16="http://schemas.microsoft.com/office/drawing/2014/main" id="{24D109C9-D409-B64E-BABD-759782F982A7}"/>
              </a:ext>
            </a:extLst>
          </p:cNvPr>
          <p:cNvCxnSpPr>
            <a:cxnSpLocks/>
            <a:stCxn id="19" idx="3"/>
            <a:endCxn id="18" idx="1"/>
          </p:cNvCxnSpPr>
          <p:nvPr/>
        </p:nvCxnSpPr>
        <p:spPr>
          <a:xfrm>
            <a:off x="10286083" y="5810439"/>
            <a:ext cx="737819" cy="0"/>
          </a:xfrm>
          <a:prstGeom prst="straightConnector1">
            <a:avLst/>
          </a:prstGeom>
          <a:ln>
            <a:tailEnd type="none" w="med" len="lg"/>
          </a:ln>
        </p:spPr>
        <p:style>
          <a:lnRef idx="1">
            <a:schemeClr val="accent1"/>
          </a:lnRef>
          <a:fillRef idx="0">
            <a:schemeClr val="accent1"/>
          </a:fillRef>
          <a:effectRef idx="0">
            <a:schemeClr val="accent1"/>
          </a:effectRef>
          <a:fontRef idx="minor">
            <a:schemeClr val="tx1"/>
          </a:fontRef>
        </p:style>
      </p:cxnSp>
      <p:cxnSp>
        <p:nvCxnSpPr>
          <p:cNvPr id="46" name="直线箭头连接符 45">
            <a:extLst>
              <a:ext uri="{FF2B5EF4-FFF2-40B4-BE49-F238E27FC236}">
                <a16:creationId xmlns:a16="http://schemas.microsoft.com/office/drawing/2014/main" id="{5CB4EAF7-4812-C842-B09F-DCB783DEC143}"/>
              </a:ext>
            </a:extLst>
          </p:cNvPr>
          <p:cNvCxnSpPr>
            <a:cxnSpLocks/>
          </p:cNvCxnSpPr>
          <p:nvPr/>
        </p:nvCxnSpPr>
        <p:spPr>
          <a:xfrm flipV="1">
            <a:off x="10286083" y="3512036"/>
            <a:ext cx="797457" cy="2050564"/>
          </a:xfrm>
          <a:prstGeom prst="straightConnector1">
            <a:avLst/>
          </a:prstGeom>
          <a:ln>
            <a:tailEnd type="none" w="med" len="lg"/>
          </a:ln>
        </p:spPr>
        <p:style>
          <a:lnRef idx="1">
            <a:schemeClr val="accent1"/>
          </a:lnRef>
          <a:fillRef idx="0">
            <a:schemeClr val="accent1"/>
          </a:fillRef>
          <a:effectRef idx="0">
            <a:schemeClr val="accent1"/>
          </a:effectRef>
          <a:fontRef idx="minor">
            <a:schemeClr val="tx1"/>
          </a:fontRef>
        </p:style>
      </p:cxnSp>
      <p:cxnSp>
        <p:nvCxnSpPr>
          <p:cNvPr id="49" name="直线箭头连接符 48">
            <a:extLst>
              <a:ext uri="{FF2B5EF4-FFF2-40B4-BE49-F238E27FC236}">
                <a16:creationId xmlns:a16="http://schemas.microsoft.com/office/drawing/2014/main" id="{1E3A89FB-C11B-3C4F-A086-5DBD74F60E0E}"/>
              </a:ext>
            </a:extLst>
          </p:cNvPr>
          <p:cNvCxnSpPr>
            <a:cxnSpLocks/>
          </p:cNvCxnSpPr>
          <p:nvPr/>
        </p:nvCxnSpPr>
        <p:spPr>
          <a:xfrm>
            <a:off x="10145682" y="3429000"/>
            <a:ext cx="1080194" cy="2133600"/>
          </a:xfrm>
          <a:prstGeom prst="straightConnector1">
            <a:avLst/>
          </a:prstGeom>
          <a:ln>
            <a:tailEnd type="none" w="med" len="lg"/>
          </a:ln>
        </p:spPr>
        <p:style>
          <a:lnRef idx="1">
            <a:schemeClr val="accent1"/>
          </a:lnRef>
          <a:fillRef idx="0">
            <a:schemeClr val="accent1"/>
          </a:fillRef>
          <a:effectRef idx="0">
            <a:schemeClr val="accent1"/>
          </a:effectRef>
          <a:fontRef idx="minor">
            <a:schemeClr val="tx1"/>
          </a:fontRef>
        </p:style>
      </p:cxnSp>
      <p:sp>
        <p:nvSpPr>
          <p:cNvPr id="52" name="矩形 51">
            <a:extLst>
              <a:ext uri="{FF2B5EF4-FFF2-40B4-BE49-F238E27FC236}">
                <a16:creationId xmlns:a16="http://schemas.microsoft.com/office/drawing/2014/main" id="{395B0026-0B5B-434C-A653-220BDA447D27}"/>
              </a:ext>
            </a:extLst>
          </p:cNvPr>
          <p:cNvSpPr/>
          <p:nvPr/>
        </p:nvSpPr>
        <p:spPr>
          <a:xfrm>
            <a:off x="8999040" y="3462129"/>
            <a:ext cx="245033" cy="233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3" name="矩形 52">
            <a:extLst>
              <a:ext uri="{FF2B5EF4-FFF2-40B4-BE49-F238E27FC236}">
                <a16:creationId xmlns:a16="http://schemas.microsoft.com/office/drawing/2014/main" id="{01A798B8-B93E-E94A-A4D9-44811631EC62}"/>
              </a:ext>
            </a:extLst>
          </p:cNvPr>
          <p:cNvSpPr/>
          <p:nvPr/>
        </p:nvSpPr>
        <p:spPr>
          <a:xfrm>
            <a:off x="9084604" y="5494602"/>
            <a:ext cx="245033" cy="2332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4" name="AutoShape 41">
            <a:extLst>
              <a:ext uri="{FF2B5EF4-FFF2-40B4-BE49-F238E27FC236}">
                <a16:creationId xmlns:a16="http://schemas.microsoft.com/office/drawing/2014/main" id="{5CC1341F-CFF7-DC4A-8E11-0C75EDCA7582}"/>
              </a:ext>
            </a:extLst>
          </p:cNvPr>
          <p:cNvSpPr>
            <a:spLocks noChangeArrowheads="1"/>
          </p:cNvSpPr>
          <p:nvPr/>
        </p:nvSpPr>
        <p:spPr bwMode="auto">
          <a:xfrm>
            <a:off x="11093663" y="2977402"/>
            <a:ext cx="378995" cy="425121"/>
          </a:xfrm>
          <a:prstGeom prst="lightningBolt">
            <a:avLst/>
          </a:prstGeom>
          <a:solidFill>
            <a:srgbClr val="9900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endParaRPr lang="zh-CN" altLang="en-US"/>
          </a:p>
        </p:txBody>
      </p:sp>
      <p:sp>
        <p:nvSpPr>
          <p:cNvPr id="55" name="AutoShape 41">
            <a:extLst>
              <a:ext uri="{FF2B5EF4-FFF2-40B4-BE49-F238E27FC236}">
                <a16:creationId xmlns:a16="http://schemas.microsoft.com/office/drawing/2014/main" id="{82E5447A-EE53-5C42-AD3B-9B933942BA42}"/>
              </a:ext>
            </a:extLst>
          </p:cNvPr>
          <p:cNvSpPr>
            <a:spLocks noChangeArrowheads="1"/>
          </p:cNvSpPr>
          <p:nvPr/>
        </p:nvSpPr>
        <p:spPr bwMode="auto">
          <a:xfrm>
            <a:off x="9754916" y="4331454"/>
            <a:ext cx="378995" cy="425121"/>
          </a:xfrm>
          <a:prstGeom prst="lightningBolt">
            <a:avLst/>
          </a:prstGeom>
          <a:solidFill>
            <a:srgbClr val="9900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endParaRPr lang="zh-CN" altLang="en-US"/>
          </a:p>
        </p:txBody>
      </p:sp>
      <p:sp>
        <p:nvSpPr>
          <p:cNvPr id="56" name="AutoShape 41">
            <a:extLst>
              <a:ext uri="{FF2B5EF4-FFF2-40B4-BE49-F238E27FC236}">
                <a16:creationId xmlns:a16="http://schemas.microsoft.com/office/drawing/2014/main" id="{EAC8B47E-C39C-1B45-96E3-097511D4C346}"/>
              </a:ext>
            </a:extLst>
          </p:cNvPr>
          <p:cNvSpPr>
            <a:spLocks noChangeArrowheads="1"/>
          </p:cNvSpPr>
          <p:nvPr/>
        </p:nvSpPr>
        <p:spPr bwMode="auto">
          <a:xfrm>
            <a:off x="10753642" y="4832968"/>
            <a:ext cx="378995" cy="425121"/>
          </a:xfrm>
          <a:prstGeom prst="lightningBolt">
            <a:avLst/>
          </a:prstGeom>
          <a:solidFill>
            <a:srgbClr val="9900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endParaRPr lang="zh-CN" altLang="en-US"/>
          </a:p>
        </p:txBody>
      </p:sp>
      <p:sp>
        <p:nvSpPr>
          <p:cNvPr id="30" name="灯片编号占位符 2">
            <a:extLst>
              <a:ext uri="{FF2B5EF4-FFF2-40B4-BE49-F238E27FC236}">
                <a16:creationId xmlns:a16="http://schemas.microsoft.com/office/drawing/2014/main" id="{DDF99D2F-135A-2D40-AE8C-794DEB9FA49E}"/>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44</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15967159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時鐘不同步可能引發的問題</a:t>
            </a:r>
          </a:p>
        </p:txBody>
      </p:sp>
      <p:grpSp>
        <p:nvGrpSpPr>
          <p:cNvPr id="73" name="组合 72">
            <a:extLst>
              <a:ext uri="{FF2B5EF4-FFF2-40B4-BE49-F238E27FC236}">
                <a16:creationId xmlns:a16="http://schemas.microsoft.com/office/drawing/2014/main" id="{6EAC0C01-723D-A64D-B29F-84497A28459B}"/>
              </a:ext>
            </a:extLst>
          </p:cNvPr>
          <p:cNvGrpSpPr/>
          <p:nvPr/>
        </p:nvGrpSpPr>
        <p:grpSpPr>
          <a:xfrm>
            <a:off x="3433708" y="1395485"/>
            <a:ext cx="8164543" cy="5010186"/>
            <a:chOff x="3026848" y="1410983"/>
            <a:chExt cx="8599143" cy="5276880"/>
          </a:xfrm>
        </p:grpSpPr>
        <p:sp>
          <p:nvSpPr>
            <p:cNvPr id="22" name="矩形 21">
              <a:extLst>
                <a:ext uri="{FF2B5EF4-FFF2-40B4-BE49-F238E27FC236}">
                  <a16:creationId xmlns:a16="http://schemas.microsoft.com/office/drawing/2014/main" id="{95CA7107-D5C2-DE45-89AC-79ABDDF85D50}"/>
                </a:ext>
              </a:extLst>
            </p:cNvPr>
            <p:cNvSpPr/>
            <p:nvPr/>
          </p:nvSpPr>
          <p:spPr>
            <a:xfrm>
              <a:off x="6824672" y="1410983"/>
              <a:ext cx="2158691" cy="4693265"/>
            </a:xfrm>
            <a:prstGeom prst="rect">
              <a:avLst/>
            </a:prstGeom>
            <a:ln>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
          <p:nvSpPr>
            <p:cNvPr id="3" name="矩形 2">
              <a:extLst>
                <a:ext uri="{FF2B5EF4-FFF2-40B4-BE49-F238E27FC236}">
                  <a16:creationId xmlns:a16="http://schemas.microsoft.com/office/drawing/2014/main" id="{79CE18BC-5CD6-724D-A64A-07E620DDC306}"/>
                </a:ext>
              </a:extLst>
            </p:cNvPr>
            <p:cNvSpPr/>
            <p:nvPr/>
          </p:nvSpPr>
          <p:spPr>
            <a:xfrm>
              <a:off x="10292433" y="1410983"/>
              <a:ext cx="1263772" cy="4667807"/>
            </a:xfrm>
            <a:prstGeom prst="rect">
              <a:avLst/>
            </a:prstGeom>
            <a:ln>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pic>
          <p:nvPicPr>
            <p:cNvPr id="11" name="图片 10">
              <a:extLst>
                <a:ext uri="{FF2B5EF4-FFF2-40B4-BE49-F238E27FC236}">
                  <a16:creationId xmlns:a16="http://schemas.microsoft.com/office/drawing/2014/main" id="{2708F965-4290-AD42-A610-39C63D3B0D54}"/>
                </a:ext>
              </a:extLst>
            </p:cNvPr>
            <p:cNvPicPr>
              <a:picLocks noChangeAspect="1"/>
            </p:cNvPicPr>
            <p:nvPr/>
          </p:nvPicPr>
          <p:blipFill>
            <a:blip r:embed="rId2"/>
            <a:stretch>
              <a:fillRect/>
            </a:stretch>
          </p:blipFill>
          <p:spPr>
            <a:xfrm>
              <a:off x="8164462" y="1585071"/>
              <a:ext cx="617576" cy="840954"/>
            </a:xfrm>
            <a:prstGeom prst="rect">
              <a:avLst/>
            </a:prstGeom>
          </p:spPr>
        </p:pic>
        <p:pic>
          <p:nvPicPr>
            <p:cNvPr id="12" name="图片 11">
              <a:extLst>
                <a:ext uri="{FF2B5EF4-FFF2-40B4-BE49-F238E27FC236}">
                  <a16:creationId xmlns:a16="http://schemas.microsoft.com/office/drawing/2014/main" id="{E6BD4E0F-C642-7040-AC1C-D2F797E3B2D0}"/>
                </a:ext>
              </a:extLst>
            </p:cNvPr>
            <p:cNvPicPr>
              <a:picLocks noChangeAspect="1"/>
            </p:cNvPicPr>
            <p:nvPr/>
          </p:nvPicPr>
          <p:blipFill>
            <a:blip r:embed="rId2"/>
            <a:stretch>
              <a:fillRect/>
            </a:stretch>
          </p:blipFill>
          <p:spPr>
            <a:xfrm>
              <a:off x="8164462" y="3319710"/>
              <a:ext cx="617576" cy="840954"/>
            </a:xfrm>
            <a:prstGeom prst="rect">
              <a:avLst/>
            </a:prstGeom>
          </p:spPr>
        </p:pic>
        <p:pic>
          <p:nvPicPr>
            <p:cNvPr id="13" name="图片 12">
              <a:extLst>
                <a:ext uri="{FF2B5EF4-FFF2-40B4-BE49-F238E27FC236}">
                  <a16:creationId xmlns:a16="http://schemas.microsoft.com/office/drawing/2014/main" id="{03DC2740-9FB3-6840-AEA0-5210339C67B7}"/>
                </a:ext>
              </a:extLst>
            </p:cNvPr>
            <p:cNvPicPr>
              <a:picLocks noChangeAspect="1"/>
            </p:cNvPicPr>
            <p:nvPr/>
          </p:nvPicPr>
          <p:blipFill>
            <a:blip r:embed="rId2"/>
            <a:stretch>
              <a:fillRect/>
            </a:stretch>
          </p:blipFill>
          <p:spPr>
            <a:xfrm>
              <a:off x="8184340" y="4885391"/>
              <a:ext cx="617576" cy="840954"/>
            </a:xfrm>
            <a:prstGeom prst="rect">
              <a:avLst/>
            </a:prstGeom>
          </p:spPr>
        </p:pic>
        <p:pic>
          <p:nvPicPr>
            <p:cNvPr id="15" name="图形 14">
              <a:extLst>
                <a:ext uri="{FF2B5EF4-FFF2-40B4-BE49-F238E27FC236}">
                  <a16:creationId xmlns:a16="http://schemas.microsoft.com/office/drawing/2014/main" id="{EC06E9B5-AA24-4847-B9B7-E55B8137B83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67118" y="1550565"/>
              <a:ext cx="843232" cy="843232"/>
            </a:xfrm>
            <a:prstGeom prst="rect">
              <a:avLst/>
            </a:prstGeom>
          </p:spPr>
        </p:pic>
        <p:pic>
          <p:nvPicPr>
            <p:cNvPr id="16" name="图形 15">
              <a:extLst>
                <a:ext uri="{FF2B5EF4-FFF2-40B4-BE49-F238E27FC236}">
                  <a16:creationId xmlns:a16="http://schemas.microsoft.com/office/drawing/2014/main" id="{9BE2D2DF-9DCD-134F-B82D-951D2C6AD74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67118" y="3319710"/>
              <a:ext cx="843232" cy="843232"/>
            </a:xfrm>
            <a:prstGeom prst="rect">
              <a:avLst/>
            </a:prstGeom>
          </p:spPr>
        </p:pic>
        <p:pic>
          <p:nvPicPr>
            <p:cNvPr id="17" name="图形 16">
              <a:extLst>
                <a:ext uri="{FF2B5EF4-FFF2-40B4-BE49-F238E27FC236}">
                  <a16:creationId xmlns:a16="http://schemas.microsoft.com/office/drawing/2014/main" id="{072ECE18-43D0-6348-848D-DA0B32B2C37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59570" y="4900366"/>
              <a:ext cx="843232" cy="843232"/>
            </a:xfrm>
            <a:prstGeom prst="rect">
              <a:avLst/>
            </a:prstGeom>
          </p:spPr>
        </p:pic>
        <p:sp>
          <p:nvSpPr>
            <p:cNvPr id="18" name="矩形 17">
              <a:extLst>
                <a:ext uri="{FF2B5EF4-FFF2-40B4-BE49-F238E27FC236}">
                  <a16:creationId xmlns:a16="http://schemas.microsoft.com/office/drawing/2014/main" id="{E7174690-9C3D-534F-9351-352E475D321D}"/>
                </a:ext>
              </a:extLst>
            </p:cNvPr>
            <p:cNvSpPr/>
            <p:nvPr/>
          </p:nvSpPr>
          <p:spPr>
            <a:xfrm>
              <a:off x="6898641" y="1706955"/>
              <a:ext cx="1359668" cy="646331"/>
            </a:xfrm>
            <a:prstGeom prst="rect">
              <a:avLst/>
            </a:prstGeom>
          </p:spPr>
          <p:txBody>
            <a:bodyPr wrap="none">
              <a:spAutoFit/>
            </a:bodyPr>
            <a:lstStyle/>
            <a:p>
              <a:pPr algn="ctr"/>
              <a:r>
                <a:rPr lang="en-US" altLang="zh-CN" dirty="0">
                  <a:solidFill>
                    <a:schemeClr val="tx1">
                      <a:lumMod val="75000"/>
                      <a:lumOff val="25000"/>
                    </a:schemeClr>
                  </a:solidFill>
                  <a:latin typeface="Comic Sans MS" panose="030F0702030302020204" pitchFamily="66" charset="0"/>
                  <a:ea typeface="微软雅黑" pitchFamily="34" charset="-122"/>
                </a:rPr>
                <a:t>2021-5-17</a:t>
              </a:r>
              <a:r>
                <a:rPr lang="zh-CN" altLang="en-US" dirty="0">
                  <a:solidFill>
                    <a:schemeClr val="tx1">
                      <a:lumMod val="75000"/>
                      <a:lumOff val="25000"/>
                    </a:schemeClr>
                  </a:solidFill>
                  <a:latin typeface="Comic Sans MS" panose="030F0702030302020204" pitchFamily="66" charset="0"/>
                  <a:ea typeface="微软雅黑" pitchFamily="34" charset="-122"/>
                </a:rPr>
                <a:t> </a:t>
              </a:r>
              <a:endParaRPr lang="en-US" altLang="zh-CN" dirty="0">
                <a:solidFill>
                  <a:schemeClr val="tx1">
                    <a:lumMod val="75000"/>
                    <a:lumOff val="25000"/>
                  </a:schemeClr>
                </a:solidFill>
                <a:latin typeface="Comic Sans MS" panose="030F0702030302020204" pitchFamily="66" charset="0"/>
                <a:ea typeface="微软雅黑" pitchFamily="34" charset="-122"/>
              </a:endParaRPr>
            </a:p>
            <a:p>
              <a:pPr algn="ctr"/>
              <a:r>
                <a:rPr lang="en-US" altLang="zh-CN" dirty="0">
                  <a:solidFill>
                    <a:schemeClr val="tx1">
                      <a:lumMod val="75000"/>
                      <a:lumOff val="25000"/>
                    </a:schemeClr>
                  </a:solidFill>
                  <a:latin typeface="Comic Sans MS" panose="030F0702030302020204" pitchFamily="66" charset="0"/>
                  <a:ea typeface="微软雅黑" pitchFamily="34" charset="-122"/>
                </a:rPr>
                <a:t>08:00:00</a:t>
              </a:r>
              <a:endParaRPr lang="zh-CN" altLang="en-US" dirty="0"/>
            </a:p>
          </p:txBody>
        </p:sp>
        <p:sp>
          <p:nvSpPr>
            <p:cNvPr id="19" name="矩形 18">
              <a:extLst>
                <a:ext uri="{FF2B5EF4-FFF2-40B4-BE49-F238E27FC236}">
                  <a16:creationId xmlns:a16="http://schemas.microsoft.com/office/drawing/2014/main" id="{D03C6471-CD61-9E49-8595-92061C7F3AD6}"/>
                </a:ext>
              </a:extLst>
            </p:cNvPr>
            <p:cNvSpPr/>
            <p:nvPr/>
          </p:nvSpPr>
          <p:spPr>
            <a:xfrm>
              <a:off x="6865464" y="3514333"/>
              <a:ext cx="1359668" cy="646331"/>
            </a:xfrm>
            <a:prstGeom prst="rect">
              <a:avLst/>
            </a:prstGeom>
          </p:spPr>
          <p:txBody>
            <a:bodyPr wrap="none">
              <a:spAutoFit/>
            </a:bodyPr>
            <a:lstStyle/>
            <a:p>
              <a:pPr algn="ctr"/>
              <a:r>
                <a:rPr lang="en-US" altLang="zh-CN" dirty="0">
                  <a:solidFill>
                    <a:schemeClr val="tx1">
                      <a:lumMod val="75000"/>
                      <a:lumOff val="25000"/>
                    </a:schemeClr>
                  </a:solidFill>
                  <a:latin typeface="Comic Sans MS" panose="030F0702030302020204" pitchFamily="66" charset="0"/>
                  <a:ea typeface="微软雅黑" pitchFamily="34" charset="-122"/>
                </a:rPr>
                <a:t>2021-5-17</a:t>
              </a:r>
              <a:r>
                <a:rPr lang="zh-CN" altLang="en-US" dirty="0">
                  <a:solidFill>
                    <a:schemeClr val="tx1">
                      <a:lumMod val="75000"/>
                      <a:lumOff val="25000"/>
                    </a:schemeClr>
                  </a:solidFill>
                  <a:latin typeface="Comic Sans MS" panose="030F0702030302020204" pitchFamily="66" charset="0"/>
                  <a:ea typeface="微软雅黑" pitchFamily="34" charset="-122"/>
                </a:rPr>
                <a:t> </a:t>
              </a:r>
              <a:endParaRPr lang="en-US" altLang="zh-CN" dirty="0">
                <a:solidFill>
                  <a:schemeClr val="tx1">
                    <a:lumMod val="75000"/>
                    <a:lumOff val="25000"/>
                  </a:schemeClr>
                </a:solidFill>
                <a:latin typeface="Comic Sans MS" panose="030F0702030302020204" pitchFamily="66" charset="0"/>
                <a:ea typeface="微软雅黑" pitchFamily="34" charset="-122"/>
              </a:endParaRPr>
            </a:p>
            <a:p>
              <a:pPr algn="ctr"/>
              <a:r>
                <a:rPr lang="en-US" altLang="zh-CN" dirty="0">
                  <a:solidFill>
                    <a:schemeClr val="tx1">
                      <a:lumMod val="75000"/>
                      <a:lumOff val="25000"/>
                    </a:schemeClr>
                  </a:solidFill>
                  <a:latin typeface="Comic Sans MS" panose="030F0702030302020204" pitchFamily="66" charset="0"/>
                  <a:ea typeface="微软雅黑" pitchFamily="34" charset="-122"/>
                </a:rPr>
                <a:t>10:00:00</a:t>
              </a:r>
              <a:endParaRPr lang="zh-CN" altLang="en-US" dirty="0"/>
            </a:p>
          </p:txBody>
        </p:sp>
        <p:sp>
          <p:nvSpPr>
            <p:cNvPr id="20" name="矩形 19">
              <a:extLst>
                <a:ext uri="{FF2B5EF4-FFF2-40B4-BE49-F238E27FC236}">
                  <a16:creationId xmlns:a16="http://schemas.microsoft.com/office/drawing/2014/main" id="{A30290EB-833A-BE42-9AB0-D5DD6C21A1F6}"/>
                </a:ext>
              </a:extLst>
            </p:cNvPr>
            <p:cNvSpPr/>
            <p:nvPr/>
          </p:nvSpPr>
          <p:spPr>
            <a:xfrm>
              <a:off x="6824672" y="5080014"/>
              <a:ext cx="1359668" cy="646331"/>
            </a:xfrm>
            <a:prstGeom prst="rect">
              <a:avLst/>
            </a:prstGeom>
          </p:spPr>
          <p:txBody>
            <a:bodyPr wrap="none">
              <a:spAutoFit/>
            </a:bodyPr>
            <a:lstStyle/>
            <a:p>
              <a:pPr algn="ctr"/>
              <a:r>
                <a:rPr lang="en-US" altLang="zh-CN" dirty="0">
                  <a:solidFill>
                    <a:schemeClr val="tx1">
                      <a:lumMod val="75000"/>
                      <a:lumOff val="25000"/>
                    </a:schemeClr>
                  </a:solidFill>
                  <a:latin typeface="Comic Sans MS" panose="030F0702030302020204" pitchFamily="66" charset="0"/>
                  <a:ea typeface="微软雅黑" pitchFamily="34" charset="-122"/>
                </a:rPr>
                <a:t>2021-5-17</a:t>
              </a:r>
              <a:r>
                <a:rPr lang="zh-CN" altLang="en-US" dirty="0">
                  <a:solidFill>
                    <a:schemeClr val="tx1">
                      <a:lumMod val="75000"/>
                      <a:lumOff val="25000"/>
                    </a:schemeClr>
                  </a:solidFill>
                  <a:latin typeface="Comic Sans MS" panose="030F0702030302020204" pitchFamily="66" charset="0"/>
                  <a:ea typeface="微软雅黑" pitchFamily="34" charset="-122"/>
                </a:rPr>
                <a:t> </a:t>
              </a:r>
              <a:endParaRPr lang="en-US" altLang="zh-CN" dirty="0">
                <a:solidFill>
                  <a:schemeClr val="tx1">
                    <a:lumMod val="75000"/>
                    <a:lumOff val="25000"/>
                  </a:schemeClr>
                </a:solidFill>
                <a:latin typeface="Comic Sans MS" panose="030F0702030302020204" pitchFamily="66" charset="0"/>
                <a:ea typeface="微软雅黑" pitchFamily="34" charset="-122"/>
              </a:endParaRPr>
            </a:p>
            <a:p>
              <a:pPr algn="ctr"/>
              <a:r>
                <a:rPr lang="en-US" altLang="zh-CN" dirty="0">
                  <a:solidFill>
                    <a:schemeClr val="tx1">
                      <a:lumMod val="75000"/>
                      <a:lumOff val="25000"/>
                    </a:schemeClr>
                  </a:solidFill>
                  <a:latin typeface="Comic Sans MS" panose="030F0702030302020204" pitchFamily="66" charset="0"/>
                  <a:ea typeface="微软雅黑" pitchFamily="34" charset="-122"/>
                </a:rPr>
                <a:t>12:00:00</a:t>
              </a:r>
              <a:endParaRPr lang="zh-CN" altLang="en-US" dirty="0"/>
            </a:p>
          </p:txBody>
        </p:sp>
        <p:grpSp>
          <p:nvGrpSpPr>
            <p:cNvPr id="27" name="组合 26">
              <a:extLst>
                <a:ext uri="{FF2B5EF4-FFF2-40B4-BE49-F238E27FC236}">
                  <a16:creationId xmlns:a16="http://schemas.microsoft.com/office/drawing/2014/main" id="{9DE1A0CA-1B53-5F47-8600-0C557860FDF3}"/>
                </a:ext>
              </a:extLst>
            </p:cNvPr>
            <p:cNvGrpSpPr/>
            <p:nvPr/>
          </p:nvGrpSpPr>
          <p:grpSpPr>
            <a:xfrm>
              <a:off x="4342234" y="3324948"/>
              <a:ext cx="1653214" cy="1160541"/>
              <a:chOff x="3897786" y="3478734"/>
              <a:chExt cx="1653214" cy="1160541"/>
            </a:xfrm>
          </p:grpSpPr>
          <p:pic>
            <p:nvPicPr>
              <p:cNvPr id="10" name="图片 9">
                <a:extLst>
                  <a:ext uri="{FF2B5EF4-FFF2-40B4-BE49-F238E27FC236}">
                    <a16:creationId xmlns:a16="http://schemas.microsoft.com/office/drawing/2014/main" id="{6C469231-CC58-E84B-AA05-44EF90E20D86}"/>
                  </a:ext>
                </a:extLst>
              </p:cNvPr>
              <p:cNvPicPr>
                <a:picLocks noChangeAspect="1"/>
              </p:cNvPicPr>
              <p:nvPr/>
            </p:nvPicPr>
            <p:blipFill>
              <a:blip r:embed="rId2"/>
              <a:stretch>
                <a:fillRect/>
              </a:stretch>
            </p:blipFill>
            <p:spPr>
              <a:xfrm>
                <a:off x="4672862" y="3478734"/>
                <a:ext cx="617576" cy="840954"/>
              </a:xfrm>
              <a:prstGeom prst="rect">
                <a:avLst/>
              </a:prstGeom>
            </p:spPr>
          </p:pic>
          <p:sp>
            <p:nvSpPr>
              <p:cNvPr id="23" name="矩形 22">
                <a:extLst>
                  <a:ext uri="{FF2B5EF4-FFF2-40B4-BE49-F238E27FC236}">
                    <a16:creationId xmlns:a16="http://schemas.microsoft.com/office/drawing/2014/main" id="{84B59BF4-0327-0A41-82F4-DD7C4F473EEF}"/>
                  </a:ext>
                </a:extLst>
              </p:cNvPr>
              <p:cNvSpPr/>
              <p:nvPr/>
            </p:nvSpPr>
            <p:spPr>
              <a:xfrm>
                <a:off x="3897786" y="4250283"/>
                <a:ext cx="1653214" cy="388992"/>
              </a:xfrm>
              <a:prstGeom prst="rect">
                <a:avLst/>
              </a:prstGeom>
            </p:spPr>
            <p:txBody>
              <a:bodyPr wrap="none">
                <a:spAutoFit/>
              </a:bodyPr>
              <a:lstStyle/>
              <a:p>
                <a:pPr algn="ctr"/>
                <a:r>
                  <a:rPr lang="zh-CN" altLang="en-US" dirty="0">
                    <a:solidFill>
                      <a:schemeClr val="tx1">
                        <a:lumMod val="75000"/>
                        <a:lumOff val="25000"/>
                      </a:schemeClr>
                    </a:solidFill>
                    <a:latin typeface="Comic Sans MS" panose="030F0702030302020204" pitchFamily="66" charset="0"/>
                    <a:ea typeface="微软雅黑" pitchFamily="34" charset="-122"/>
                  </a:rPr>
                  <a:t>負載均衡服務</a:t>
                </a:r>
                <a:endParaRPr lang="zh-CN" altLang="en-US" dirty="0"/>
              </a:p>
            </p:txBody>
          </p:sp>
        </p:grpSp>
        <p:sp>
          <p:nvSpPr>
            <p:cNvPr id="24" name="矩形 23">
              <a:extLst>
                <a:ext uri="{FF2B5EF4-FFF2-40B4-BE49-F238E27FC236}">
                  <a16:creationId xmlns:a16="http://schemas.microsoft.com/office/drawing/2014/main" id="{60B7CF56-2048-0D4C-B267-F4473F361E63}"/>
                </a:ext>
              </a:extLst>
            </p:cNvPr>
            <p:cNvSpPr/>
            <p:nvPr/>
          </p:nvSpPr>
          <p:spPr>
            <a:xfrm>
              <a:off x="7956761" y="2431400"/>
              <a:ext cx="1072731" cy="369332"/>
            </a:xfrm>
            <a:prstGeom prst="rect">
              <a:avLst/>
            </a:prstGeom>
          </p:spPr>
          <p:txBody>
            <a:bodyPr wrap="none">
              <a:spAutoFit/>
            </a:bodyPr>
            <a:lstStyle/>
            <a:p>
              <a:pPr algn="ctr"/>
              <a:r>
                <a:rPr lang="en-US" altLang="zh-CN" dirty="0">
                  <a:solidFill>
                    <a:schemeClr val="tx1">
                      <a:lumMod val="75000"/>
                      <a:lumOff val="25000"/>
                    </a:schemeClr>
                  </a:solidFill>
                  <a:latin typeface="Comic Sans MS" panose="030F0702030302020204" pitchFamily="66" charset="0"/>
                  <a:ea typeface="微软雅黑" pitchFamily="34" charset="-122"/>
                </a:rPr>
                <a:t>Server0</a:t>
              </a:r>
              <a:endParaRPr lang="zh-CN" altLang="en-US" dirty="0"/>
            </a:p>
          </p:txBody>
        </p:sp>
        <p:sp>
          <p:nvSpPr>
            <p:cNvPr id="25" name="矩形 24">
              <a:extLst>
                <a:ext uri="{FF2B5EF4-FFF2-40B4-BE49-F238E27FC236}">
                  <a16:creationId xmlns:a16="http://schemas.microsoft.com/office/drawing/2014/main" id="{CEE8D7DE-4E38-E246-BD81-E83C59E2A483}"/>
                </a:ext>
              </a:extLst>
            </p:cNvPr>
            <p:cNvSpPr/>
            <p:nvPr/>
          </p:nvSpPr>
          <p:spPr>
            <a:xfrm>
              <a:off x="7956762" y="4160664"/>
              <a:ext cx="1072731" cy="369332"/>
            </a:xfrm>
            <a:prstGeom prst="rect">
              <a:avLst/>
            </a:prstGeom>
          </p:spPr>
          <p:txBody>
            <a:bodyPr wrap="none">
              <a:spAutoFit/>
            </a:bodyPr>
            <a:lstStyle/>
            <a:p>
              <a:pPr algn="ctr"/>
              <a:r>
                <a:rPr lang="en-US" altLang="zh-CN" dirty="0">
                  <a:solidFill>
                    <a:schemeClr val="tx1">
                      <a:lumMod val="75000"/>
                      <a:lumOff val="25000"/>
                    </a:schemeClr>
                  </a:solidFill>
                  <a:latin typeface="Comic Sans MS" panose="030F0702030302020204" pitchFamily="66" charset="0"/>
                  <a:ea typeface="微软雅黑" pitchFamily="34" charset="-122"/>
                </a:rPr>
                <a:t>Server1</a:t>
              </a:r>
              <a:endParaRPr lang="zh-CN" altLang="en-US" dirty="0"/>
            </a:p>
          </p:txBody>
        </p:sp>
        <p:sp>
          <p:nvSpPr>
            <p:cNvPr id="26" name="矩形 25">
              <a:extLst>
                <a:ext uri="{FF2B5EF4-FFF2-40B4-BE49-F238E27FC236}">
                  <a16:creationId xmlns:a16="http://schemas.microsoft.com/office/drawing/2014/main" id="{795E98FC-5182-0D48-95FB-479D466B5323}"/>
                </a:ext>
              </a:extLst>
            </p:cNvPr>
            <p:cNvSpPr/>
            <p:nvPr/>
          </p:nvSpPr>
          <p:spPr>
            <a:xfrm>
              <a:off x="7936884" y="5709458"/>
              <a:ext cx="1072731" cy="369332"/>
            </a:xfrm>
            <a:prstGeom prst="rect">
              <a:avLst/>
            </a:prstGeom>
          </p:spPr>
          <p:txBody>
            <a:bodyPr wrap="none">
              <a:spAutoFit/>
            </a:bodyPr>
            <a:lstStyle/>
            <a:p>
              <a:pPr algn="ctr"/>
              <a:r>
                <a:rPr lang="en-US" altLang="zh-CN" dirty="0">
                  <a:solidFill>
                    <a:schemeClr val="tx1">
                      <a:lumMod val="75000"/>
                      <a:lumOff val="25000"/>
                    </a:schemeClr>
                  </a:solidFill>
                  <a:latin typeface="Comic Sans MS" panose="030F0702030302020204" pitchFamily="66" charset="0"/>
                  <a:ea typeface="微软雅黑" pitchFamily="34" charset="-122"/>
                </a:rPr>
                <a:t>Server2</a:t>
              </a:r>
              <a:endParaRPr lang="zh-CN" altLang="en-US" dirty="0"/>
            </a:p>
          </p:txBody>
        </p:sp>
        <p:sp>
          <p:nvSpPr>
            <p:cNvPr id="28" name="矩形 27">
              <a:extLst>
                <a:ext uri="{FF2B5EF4-FFF2-40B4-BE49-F238E27FC236}">
                  <a16:creationId xmlns:a16="http://schemas.microsoft.com/office/drawing/2014/main" id="{4D7D60D0-159D-694C-A7B3-9FD78D6276C4}"/>
                </a:ext>
              </a:extLst>
            </p:cNvPr>
            <p:cNvSpPr/>
            <p:nvPr/>
          </p:nvSpPr>
          <p:spPr>
            <a:xfrm>
              <a:off x="7251718" y="6298871"/>
              <a:ext cx="1410095" cy="388992"/>
            </a:xfrm>
            <a:prstGeom prst="rect">
              <a:avLst/>
            </a:prstGeom>
          </p:spPr>
          <p:txBody>
            <a:bodyPr wrap="none">
              <a:spAutoFit/>
            </a:bodyPr>
            <a:lstStyle/>
            <a:p>
              <a:pPr algn="ctr"/>
              <a:r>
                <a:rPr lang="zh-CN" altLang="en-US" dirty="0">
                  <a:solidFill>
                    <a:schemeClr val="tx1">
                      <a:lumMod val="75000"/>
                      <a:lumOff val="25000"/>
                    </a:schemeClr>
                  </a:solidFill>
                  <a:latin typeface="Comic Sans MS" panose="030F0702030302020204" pitchFamily="66" charset="0"/>
                  <a:ea typeface="微软雅黑" pitchFamily="34" charset="-122"/>
                </a:rPr>
                <a:t>服務器集群</a:t>
              </a:r>
              <a:endParaRPr lang="zh-CN" altLang="en-US" dirty="0"/>
            </a:p>
          </p:txBody>
        </p:sp>
        <p:sp>
          <p:nvSpPr>
            <p:cNvPr id="29" name="矩形 28">
              <a:extLst>
                <a:ext uri="{FF2B5EF4-FFF2-40B4-BE49-F238E27FC236}">
                  <a16:creationId xmlns:a16="http://schemas.microsoft.com/office/drawing/2014/main" id="{6BFB34A7-F31E-AD4E-8DD6-33E2FACDE5FE}"/>
                </a:ext>
              </a:extLst>
            </p:cNvPr>
            <p:cNvSpPr/>
            <p:nvPr/>
          </p:nvSpPr>
          <p:spPr>
            <a:xfrm>
              <a:off x="10215896" y="6290841"/>
              <a:ext cx="1410095" cy="388992"/>
            </a:xfrm>
            <a:prstGeom prst="rect">
              <a:avLst/>
            </a:prstGeom>
          </p:spPr>
          <p:txBody>
            <a:bodyPr wrap="none">
              <a:spAutoFit/>
            </a:bodyPr>
            <a:lstStyle/>
            <a:p>
              <a:pPr algn="ctr"/>
              <a:r>
                <a:rPr lang="zh-CN" altLang="en-US" dirty="0">
                  <a:solidFill>
                    <a:schemeClr val="tx1">
                      <a:lumMod val="75000"/>
                      <a:lumOff val="25000"/>
                    </a:schemeClr>
                  </a:solidFill>
                  <a:latin typeface="Comic Sans MS" panose="030F0702030302020204" pitchFamily="66" charset="0"/>
                  <a:ea typeface="微软雅黑" pitchFamily="34" charset="-122"/>
                </a:rPr>
                <a:t>數據庫集群</a:t>
              </a:r>
              <a:endParaRPr lang="zh-CN" altLang="en-US" dirty="0"/>
            </a:p>
          </p:txBody>
        </p:sp>
        <p:pic>
          <p:nvPicPr>
            <p:cNvPr id="30" name="图形 29" descr="Internet">
              <a:extLst>
                <a:ext uri="{FF2B5EF4-FFF2-40B4-BE49-F238E27FC236}">
                  <a16:creationId xmlns:a16="http://schemas.microsoft.com/office/drawing/2014/main" id="{AC4B0070-585D-9545-936E-D9ECED040F2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074216" y="1465802"/>
              <a:ext cx="1007576" cy="958463"/>
            </a:xfrm>
            <a:prstGeom prst="rect">
              <a:avLst/>
            </a:prstGeom>
          </p:spPr>
        </p:pic>
        <p:pic>
          <p:nvPicPr>
            <p:cNvPr id="31" name="图形 30" descr="Internet">
              <a:extLst>
                <a:ext uri="{FF2B5EF4-FFF2-40B4-BE49-F238E27FC236}">
                  <a16:creationId xmlns:a16="http://schemas.microsoft.com/office/drawing/2014/main" id="{99BD5E1A-AF1C-8F43-98C9-548DBDBDB4B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074216" y="3269975"/>
              <a:ext cx="1007576" cy="958463"/>
            </a:xfrm>
            <a:prstGeom prst="rect">
              <a:avLst/>
            </a:prstGeom>
          </p:spPr>
        </p:pic>
        <p:pic>
          <p:nvPicPr>
            <p:cNvPr id="32" name="图形 31" descr="Internet">
              <a:extLst>
                <a:ext uri="{FF2B5EF4-FFF2-40B4-BE49-F238E27FC236}">
                  <a16:creationId xmlns:a16="http://schemas.microsoft.com/office/drawing/2014/main" id="{F7A92B4D-1177-F44A-AC37-BBB3A088837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074216" y="5026516"/>
              <a:ext cx="1007576" cy="958463"/>
            </a:xfrm>
            <a:prstGeom prst="rect">
              <a:avLst/>
            </a:prstGeom>
          </p:spPr>
        </p:pic>
        <p:sp>
          <p:nvSpPr>
            <p:cNvPr id="33" name="矩形 32">
              <a:extLst>
                <a:ext uri="{FF2B5EF4-FFF2-40B4-BE49-F238E27FC236}">
                  <a16:creationId xmlns:a16="http://schemas.microsoft.com/office/drawing/2014/main" id="{24D3D216-7140-C74F-AF50-27A1CAF80E57}"/>
                </a:ext>
              </a:extLst>
            </p:cNvPr>
            <p:cNvSpPr/>
            <p:nvPr/>
          </p:nvSpPr>
          <p:spPr>
            <a:xfrm>
              <a:off x="3026848" y="2297706"/>
              <a:ext cx="1145027" cy="388992"/>
            </a:xfrm>
            <a:prstGeom prst="rect">
              <a:avLst/>
            </a:prstGeom>
          </p:spPr>
          <p:txBody>
            <a:bodyPr wrap="none">
              <a:spAutoFit/>
            </a:bodyPr>
            <a:lstStyle/>
            <a:p>
              <a:pPr algn="ctr"/>
              <a:r>
                <a:rPr lang="zh-CN" altLang="en-US" dirty="0">
                  <a:solidFill>
                    <a:schemeClr val="tx1">
                      <a:lumMod val="75000"/>
                      <a:lumOff val="25000"/>
                    </a:schemeClr>
                  </a:solidFill>
                  <a:latin typeface="Comic Sans MS" panose="030F0702030302020204" pitchFamily="66" charset="0"/>
                  <a:ea typeface="微软雅黑" pitchFamily="34" charset="-122"/>
                </a:rPr>
                <a:t>客戶端 </a:t>
              </a:r>
              <a:r>
                <a:rPr lang="en-US" altLang="zh-CN" dirty="0">
                  <a:solidFill>
                    <a:schemeClr val="tx1">
                      <a:lumMod val="75000"/>
                      <a:lumOff val="25000"/>
                    </a:schemeClr>
                  </a:solidFill>
                  <a:latin typeface="Comic Sans MS" panose="030F0702030302020204" pitchFamily="66" charset="0"/>
                  <a:ea typeface="微软雅黑" pitchFamily="34" charset="-122"/>
                </a:rPr>
                <a:t>0</a:t>
              </a:r>
              <a:endParaRPr lang="zh-CN" altLang="en-US" dirty="0"/>
            </a:p>
          </p:txBody>
        </p:sp>
        <p:sp>
          <p:nvSpPr>
            <p:cNvPr id="34" name="矩形 33">
              <a:extLst>
                <a:ext uri="{FF2B5EF4-FFF2-40B4-BE49-F238E27FC236}">
                  <a16:creationId xmlns:a16="http://schemas.microsoft.com/office/drawing/2014/main" id="{E0012BD0-A453-E04A-9402-22187E9585C6}"/>
                </a:ext>
              </a:extLst>
            </p:cNvPr>
            <p:cNvSpPr/>
            <p:nvPr/>
          </p:nvSpPr>
          <p:spPr>
            <a:xfrm>
              <a:off x="3054643" y="4120376"/>
              <a:ext cx="1106195" cy="388992"/>
            </a:xfrm>
            <a:prstGeom prst="rect">
              <a:avLst/>
            </a:prstGeom>
          </p:spPr>
          <p:txBody>
            <a:bodyPr wrap="none">
              <a:spAutoFit/>
            </a:bodyPr>
            <a:lstStyle/>
            <a:p>
              <a:pPr algn="ctr"/>
              <a:r>
                <a:rPr lang="zh-CN" altLang="en-US" dirty="0">
                  <a:solidFill>
                    <a:schemeClr val="tx1">
                      <a:lumMod val="75000"/>
                      <a:lumOff val="25000"/>
                    </a:schemeClr>
                  </a:solidFill>
                  <a:latin typeface="Comic Sans MS" panose="030F0702030302020204" pitchFamily="66" charset="0"/>
                  <a:ea typeface="微软雅黑" pitchFamily="34" charset="-122"/>
                </a:rPr>
                <a:t>客戶端 </a:t>
              </a:r>
              <a:r>
                <a:rPr lang="en-US" altLang="zh-CN" dirty="0">
                  <a:solidFill>
                    <a:schemeClr val="tx1">
                      <a:lumMod val="75000"/>
                      <a:lumOff val="25000"/>
                    </a:schemeClr>
                  </a:solidFill>
                  <a:latin typeface="Comic Sans MS" panose="030F0702030302020204" pitchFamily="66" charset="0"/>
                  <a:ea typeface="微软雅黑" pitchFamily="34" charset="-122"/>
                </a:rPr>
                <a:t>1</a:t>
              </a:r>
              <a:endParaRPr lang="zh-CN" altLang="en-US" dirty="0"/>
            </a:p>
          </p:txBody>
        </p:sp>
        <p:sp>
          <p:nvSpPr>
            <p:cNvPr id="35" name="矩形 34">
              <a:extLst>
                <a:ext uri="{FF2B5EF4-FFF2-40B4-BE49-F238E27FC236}">
                  <a16:creationId xmlns:a16="http://schemas.microsoft.com/office/drawing/2014/main" id="{0199A108-A87B-0B4F-B86C-7B5340BE8DE7}"/>
                </a:ext>
              </a:extLst>
            </p:cNvPr>
            <p:cNvSpPr/>
            <p:nvPr/>
          </p:nvSpPr>
          <p:spPr>
            <a:xfrm>
              <a:off x="3053661" y="5904733"/>
              <a:ext cx="1145027" cy="388992"/>
            </a:xfrm>
            <a:prstGeom prst="rect">
              <a:avLst/>
            </a:prstGeom>
          </p:spPr>
          <p:txBody>
            <a:bodyPr wrap="none">
              <a:spAutoFit/>
            </a:bodyPr>
            <a:lstStyle/>
            <a:p>
              <a:pPr algn="ctr"/>
              <a:r>
                <a:rPr lang="zh-CN" altLang="en-US" dirty="0">
                  <a:solidFill>
                    <a:schemeClr val="tx1">
                      <a:lumMod val="75000"/>
                      <a:lumOff val="25000"/>
                    </a:schemeClr>
                  </a:solidFill>
                  <a:latin typeface="Comic Sans MS" panose="030F0702030302020204" pitchFamily="66" charset="0"/>
                  <a:ea typeface="微软雅黑" pitchFamily="34" charset="-122"/>
                </a:rPr>
                <a:t>客戶端 </a:t>
              </a:r>
              <a:r>
                <a:rPr lang="en-US" altLang="zh-CN" dirty="0">
                  <a:solidFill>
                    <a:schemeClr val="tx1">
                      <a:lumMod val="75000"/>
                      <a:lumOff val="25000"/>
                    </a:schemeClr>
                  </a:solidFill>
                  <a:latin typeface="Comic Sans MS" panose="030F0702030302020204" pitchFamily="66" charset="0"/>
                  <a:ea typeface="微软雅黑" pitchFamily="34" charset="-122"/>
                </a:rPr>
                <a:t>2</a:t>
              </a:r>
              <a:endParaRPr lang="zh-CN" altLang="en-US" dirty="0"/>
            </a:p>
          </p:txBody>
        </p:sp>
        <p:cxnSp>
          <p:nvCxnSpPr>
            <p:cNvPr id="37" name="直线箭头连接符 36">
              <a:extLst>
                <a:ext uri="{FF2B5EF4-FFF2-40B4-BE49-F238E27FC236}">
                  <a16:creationId xmlns:a16="http://schemas.microsoft.com/office/drawing/2014/main" id="{E8A4AD23-4271-E74B-AF40-60C7C4F0D6B4}"/>
                </a:ext>
              </a:extLst>
            </p:cNvPr>
            <p:cNvCxnSpPr>
              <a:cxnSpLocks/>
              <a:endCxn id="30" idx="3"/>
            </p:cNvCxnSpPr>
            <p:nvPr/>
          </p:nvCxnSpPr>
          <p:spPr>
            <a:xfrm flipH="1" flipV="1">
              <a:off x="4081792" y="1945034"/>
              <a:ext cx="914828" cy="1467834"/>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41" name="直线箭头连接符 40">
              <a:extLst>
                <a:ext uri="{FF2B5EF4-FFF2-40B4-BE49-F238E27FC236}">
                  <a16:creationId xmlns:a16="http://schemas.microsoft.com/office/drawing/2014/main" id="{C5BE8C73-1288-1840-B975-D3272193D6E5}"/>
                </a:ext>
              </a:extLst>
            </p:cNvPr>
            <p:cNvCxnSpPr>
              <a:cxnSpLocks/>
              <a:endCxn id="31" idx="3"/>
            </p:cNvCxnSpPr>
            <p:nvPr/>
          </p:nvCxnSpPr>
          <p:spPr>
            <a:xfrm flipH="1" flipV="1">
              <a:off x="4081792" y="3749207"/>
              <a:ext cx="826547" cy="27825"/>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44" name="直线箭头连接符 43">
              <a:extLst>
                <a:ext uri="{FF2B5EF4-FFF2-40B4-BE49-F238E27FC236}">
                  <a16:creationId xmlns:a16="http://schemas.microsoft.com/office/drawing/2014/main" id="{8AC32CD3-1543-6047-AC76-3CB3731ABFE8}"/>
                </a:ext>
              </a:extLst>
            </p:cNvPr>
            <p:cNvCxnSpPr>
              <a:cxnSpLocks/>
              <a:endCxn id="32" idx="3"/>
            </p:cNvCxnSpPr>
            <p:nvPr/>
          </p:nvCxnSpPr>
          <p:spPr>
            <a:xfrm flipH="1">
              <a:off x="4081792" y="4585463"/>
              <a:ext cx="826547" cy="920285"/>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47" name="直线箭头连接符 46">
              <a:extLst>
                <a:ext uri="{FF2B5EF4-FFF2-40B4-BE49-F238E27FC236}">
                  <a16:creationId xmlns:a16="http://schemas.microsoft.com/office/drawing/2014/main" id="{2DC3C3EF-0BF0-9E4A-8EAA-8A4D66F1A661}"/>
                </a:ext>
              </a:extLst>
            </p:cNvPr>
            <p:cNvCxnSpPr>
              <a:cxnSpLocks/>
              <a:endCxn id="10" idx="3"/>
            </p:cNvCxnSpPr>
            <p:nvPr/>
          </p:nvCxnSpPr>
          <p:spPr>
            <a:xfrm flipH="1">
              <a:off x="5734886" y="1972181"/>
              <a:ext cx="1035518" cy="1773244"/>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50" name="直线箭头连接符 49">
              <a:extLst>
                <a:ext uri="{FF2B5EF4-FFF2-40B4-BE49-F238E27FC236}">
                  <a16:creationId xmlns:a16="http://schemas.microsoft.com/office/drawing/2014/main" id="{061BC753-7E75-1246-89E7-6BC2E23ADC8B}"/>
                </a:ext>
              </a:extLst>
            </p:cNvPr>
            <p:cNvCxnSpPr>
              <a:cxnSpLocks/>
              <a:endCxn id="10" idx="3"/>
            </p:cNvCxnSpPr>
            <p:nvPr/>
          </p:nvCxnSpPr>
          <p:spPr>
            <a:xfrm flipH="1">
              <a:off x="5734886" y="3740187"/>
              <a:ext cx="1001826" cy="5238"/>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53" name="直线箭头连接符 52">
              <a:extLst>
                <a:ext uri="{FF2B5EF4-FFF2-40B4-BE49-F238E27FC236}">
                  <a16:creationId xmlns:a16="http://schemas.microsoft.com/office/drawing/2014/main" id="{BF17662A-5E12-D147-9C1C-3A49346A01EC}"/>
                </a:ext>
              </a:extLst>
            </p:cNvPr>
            <p:cNvCxnSpPr>
              <a:cxnSpLocks/>
              <a:endCxn id="10" idx="3"/>
            </p:cNvCxnSpPr>
            <p:nvPr/>
          </p:nvCxnSpPr>
          <p:spPr>
            <a:xfrm flipH="1" flipV="1">
              <a:off x="5734886" y="3745425"/>
              <a:ext cx="957457" cy="1630763"/>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56" name="直线箭头连接符 55">
              <a:extLst>
                <a:ext uri="{FF2B5EF4-FFF2-40B4-BE49-F238E27FC236}">
                  <a16:creationId xmlns:a16="http://schemas.microsoft.com/office/drawing/2014/main" id="{2A806BA7-45AD-4641-8F67-5FA2C8B062D0}"/>
                </a:ext>
              </a:extLst>
            </p:cNvPr>
            <p:cNvCxnSpPr>
              <a:cxnSpLocks/>
            </p:cNvCxnSpPr>
            <p:nvPr/>
          </p:nvCxnSpPr>
          <p:spPr>
            <a:xfrm flipH="1">
              <a:off x="9029223" y="1985351"/>
              <a:ext cx="1164253" cy="0"/>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58" name="直线箭头连接符 57">
              <a:extLst>
                <a:ext uri="{FF2B5EF4-FFF2-40B4-BE49-F238E27FC236}">
                  <a16:creationId xmlns:a16="http://schemas.microsoft.com/office/drawing/2014/main" id="{3E214BE8-C935-3C45-A4BE-EC31955E62A2}"/>
                </a:ext>
              </a:extLst>
            </p:cNvPr>
            <p:cNvCxnSpPr>
              <a:cxnSpLocks/>
              <a:stCxn id="3" idx="1"/>
              <a:endCxn id="22" idx="3"/>
            </p:cNvCxnSpPr>
            <p:nvPr/>
          </p:nvCxnSpPr>
          <p:spPr>
            <a:xfrm flipH="1">
              <a:off x="8983363" y="3744887"/>
              <a:ext cx="1309070" cy="12729"/>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61" name="直线箭头连接符 60">
              <a:extLst>
                <a:ext uri="{FF2B5EF4-FFF2-40B4-BE49-F238E27FC236}">
                  <a16:creationId xmlns:a16="http://schemas.microsoft.com/office/drawing/2014/main" id="{18CC3200-5165-A04D-863D-5E9B38D6564D}"/>
                </a:ext>
              </a:extLst>
            </p:cNvPr>
            <p:cNvCxnSpPr>
              <a:cxnSpLocks/>
            </p:cNvCxnSpPr>
            <p:nvPr/>
          </p:nvCxnSpPr>
          <p:spPr>
            <a:xfrm flipH="1">
              <a:off x="8956724" y="5403179"/>
              <a:ext cx="1276880" cy="0"/>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sp>
          <p:nvSpPr>
            <p:cNvPr id="67" name="矩形 66">
              <a:extLst>
                <a:ext uri="{FF2B5EF4-FFF2-40B4-BE49-F238E27FC236}">
                  <a16:creationId xmlns:a16="http://schemas.microsoft.com/office/drawing/2014/main" id="{43690361-6C39-B647-92B2-2B157FC87854}"/>
                </a:ext>
              </a:extLst>
            </p:cNvPr>
            <p:cNvSpPr/>
            <p:nvPr/>
          </p:nvSpPr>
          <p:spPr>
            <a:xfrm>
              <a:off x="4430251" y="2253830"/>
              <a:ext cx="901907" cy="388992"/>
            </a:xfrm>
            <a:prstGeom prst="rect">
              <a:avLst/>
            </a:prstGeom>
          </p:spPr>
          <p:txBody>
            <a:bodyPr wrap="none">
              <a:spAutoFit/>
            </a:bodyPr>
            <a:lstStyle/>
            <a:p>
              <a:pPr algn="ctr"/>
              <a:r>
                <a:rPr lang="zh-CN" altLang="en-US" dirty="0">
                  <a:solidFill>
                    <a:schemeClr val="tx1">
                      <a:lumMod val="75000"/>
                      <a:lumOff val="25000"/>
                    </a:schemeClr>
                  </a:solidFill>
                  <a:latin typeface="Comic Sans MS" panose="030F0702030302020204" pitchFamily="66" charset="0"/>
                  <a:ea typeface="微软雅黑" pitchFamily="34" charset="-122"/>
                </a:rPr>
                <a:t>請求 </a:t>
              </a:r>
              <a:r>
                <a:rPr lang="en-US" altLang="zh-CN" dirty="0">
                  <a:solidFill>
                    <a:schemeClr val="tx1">
                      <a:lumMod val="75000"/>
                      <a:lumOff val="25000"/>
                    </a:schemeClr>
                  </a:solidFill>
                  <a:latin typeface="Comic Sans MS" panose="030F0702030302020204" pitchFamily="66" charset="0"/>
                  <a:ea typeface="微软雅黑" pitchFamily="34" charset="-122"/>
                </a:rPr>
                <a:t>0</a:t>
              </a:r>
              <a:endParaRPr lang="zh-CN" altLang="en-US" dirty="0"/>
            </a:p>
          </p:txBody>
        </p:sp>
        <p:sp>
          <p:nvSpPr>
            <p:cNvPr id="68" name="矩形 67">
              <a:extLst>
                <a:ext uri="{FF2B5EF4-FFF2-40B4-BE49-F238E27FC236}">
                  <a16:creationId xmlns:a16="http://schemas.microsoft.com/office/drawing/2014/main" id="{DCEF5AB9-B79F-7146-9D60-49C9D0AF811F}"/>
                </a:ext>
              </a:extLst>
            </p:cNvPr>
            <p:cNvSpPr/>
            <p:nvPr/>
          </p:nvSpPr>
          <p:spPr>
            <a:xfrm>
              <a:off x="4044364" y="3260467"/>
              <a:ext cx="863076" cy="388992"/>
            </a:xfrm>
            <a:prstGeom prst="rect">
              <a:avLst/>
            </a:prstGeom>
          </p:spPr>
          <p:txBody>
            <a:bodyPr wrap="none">
              <a:spAutoFit/>
            </a:bodyPr>
            <a:lstStyle/>
            <a:p>
              <a:pPr algn="ctr"/>
              <a:r>
                <a:rPr lang="zh-CN" altLang="en-US" dirty="0">
                  <a:solidFill>
                    <a:schemeClr val="tx1">
                      <a:lumMod val="75000"/>
                      <a:lumOff val="25000"/>
                    </a:schemeClr>
                  </a:solidFill>
                  <a:latin typeface="Comic Sans MS" panose="030F0702030302020204" pitchFamily="66" charset="0"/>
                  <a:ea typeface="微软雅黑" pitchFamily="34" charset="-122"/>
                </a:rPr>
                <a:t>請求 </a:t>
              </a:r>
              <a:r>
                <a:rPr lang="en-US" altLang="zh-CN" dirty="0">
                  <a:solidFill>
                    <a:schemeClr val="tx1">
                      <a:lumMod val="75000"/>
                      <a:lumOff val="25000"/>
                    </a:schemeClr>
                  </a:solidFill>
                  <a:latin typeface="Comic Sans MS" panose="030F0702030302020204" pitchFamily="66" charset="0"/>
                  <a:ea typeface="微软雅黑" pitchFamily="34" charset="-122"/>
                </a:rPr>
                <a:t>1</a:t>
              </a:r>
              <a:endParaRPr lang="zh-CN" altLang="en-US" dirty="0"/>
            </a:p>
          </p:txBody>
        </p:sp>
        <p:sp>
          <p:nvSpPr>
            <p:cNvPr id="69" name="矩形 68">
              <a:extLst>
                <a:ext uri="{FF2B5EF4-FFF2-40B4-BE49-F238E27FC236}">
                  <a16:creationId xmlns:a16="http://schemas.microsoft.com/office/drawing/2014/main" id="{A876BA8D-75B7-8F4D-87DC-52C4ACD941E0}"/>
                </a:ext>
              </a:extLst>
            </p:cNvPr>
            <p:cNvSpPr/>
            <p:nvPr/>
          </p:nvSpPr>
          <p:spPr>
            <a:xfrm>
              <a:off x="4380908" y="5121202"/>
              <a:ext cx="901907" cy="388992"/>
            </a:xfrm>
            <a:prstGeom prst="rect">
              <a:avLst/>
            </a:prstGeom>
          </p:spPr>
          <p:txBody>
            <a:bodyPr wrap="none">
              <a:spAutoFit/>
            </a:bodyPr>
            <a:lstStyle/>
            <a:p>
              <a:pPr algn="ctr"/>
              <a:r>
                <a:rPr lang="zh-CN" altLang="en-US" dirty="0">
                  <a:solidFill>
                    <a:schemeClr val="tx1">
                      <a:lumMod val="75000"/>
                      <a:lumOff val="25000"/>
                    </a:schemeClr>
                  </a:solidFill>
                  <a:latin typeface="Comic Sans MS" panose="030F0702030302020204" pitchFamily="66" charset="0"/>
                  <a:ea typeface="微软雅黑" pitchFamily="34" charset="-122"/>
                </a:rPr>
                <a:t>請求 </a:t>
              </a:r>
              <a:r>
                <a:rPr lang="en-US" altLang="zh-CN" dirty="0">
                  <a:solidFill>
                    <a:schemeClr val="tx1">
                      <a:lumMod val="75000"/>
                      <a:lumOff val="25000"/>
                    </a:schemeClr>
                  </a:solidFill>
                  <a:latin typeface="Comic Sans MS" panose="030F0702030302020204" pitchFamily="66" charset="0"/>
                  <a:ea typeface="微软雅黑" pitchFamily="34" charset="-122"/>
                </a:rPr>
                <a:t>2</a:t>
              </a:r>
              <a:endParaRPr lang="zh-CN" altLang="en-US" dirty="0"/>
            </a:p>
          </p:txBody>
        </p:sp>
      </p:grpSp>
      <p:sp>
        <p:nvSpPr>
          <p:cNvPr id="70" name="矩形 69">
            <a:extLst>
              <a:ext uri="{FF2B5EF4-FFF2-40B4-BE49-F238E27FC236}">
                <a16:creationId xmlns:a16="http://schemas.microsoft.com/office/drawing/2014/main" id="{410F3DBC-4BD8-0144-B9B8-EA2DAC86C9EC}"/>
              </a:ext>
            </a:extLst>
          </p:cNvPr>
          <p:cNvSpPr/>
          <p:nvPr/>
        </p:nvSpPr>
        <p:spPr>
          <a:xfrm>
            <a:off x="575787" y="1557042"/>
            <a:ext cx="2686983" cy="4609980"/>
          </a:xfrm>
          <a:prstGeom prst="rect">
            <a:avLst/>
          </a:prstGeom>
          <a:ln>
            <a:noFill/>
          </a:ln>
        </p:spPr>
        <p:txBody>
          <a:bodyPr wrap="square">
            <a:spAutoFit/>
          </a:bodyPr>
          <a:lstStyle/>
          <a:p>
            <a:pPr marL="342900" lvl="1" indent="-342900" fontAlgn="base">
              <a:lnSpc>
                <a:spcPct val="1500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Comic Sans MS" panose="030F0702030302020204" pitchFamily="66" charset="0"/>
                <a:ea typeface="微软雅黑" pitchFamily="34" charset="-122"/>
              </a:rPr>
              <a:t>三個客戶端幾乎同時發送請求</a:t>
            </a:r>
            <a:endParaRPr lang="en-US" altLang="zh-CN" sz="2400" dirty="0">
              <a:solidFill>
                <a:schemeClr val="tx1">
                  <a:lumMod val="75000"/>
                  <a:lumOff val="25000"/>
                </a:schemeClr>
              </a:solidFill>
              <a:latin typeface="Comic Sans MS" panose="030F0702030302020204" pitchFamily="66" charset="0"/>
              <a:ea typeface="微软雅黑" pitchFamily="34" charset="-122"/>
            </a:endParaRPr>
          </a:p>
          <a:p>
            <a:pPr marL="342900" lvl="1" indent="-342900" fontAlgn="base">
              <a:lnSpc>
                <a:spcPct val="1500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Comic Sans MS" panose="030F0702030302020204" pitchFamily="66" charset="0"/>
                <a:ea typeface="微软雅黑" pitchFamily="34" charset="-122"/>
              </a:rPr>
              <a:t>請求由時鐘不同步的服務器處理</a:t>
            </a:r>
            <a:endParaRPr lang="en-US" altLang="zh-CN" sz="2400" dirty="0">
              <a:solidFill>
                <a:schemeClr val="tx1">
                  <a:lumMod val="75000"/>
                  <a:lumOff val="25000"/>
                </a:schemeClr>
              </a:solidFill>
              <a:latin typeface="Comic Sans MS" panose="030F0702030302020204" pitchFamily="66" charset="0"/>
              <a:ea typeface="微软雅黑" pitchFamily="34" charset="-122"/>
            </a:endParaRPr>
          </a:p>
          <a:p>
            <a:pPr marL="342900" lvl="1" indent="-342900" fontAlgn="base">
              <a:lnSpc>
                <a:spcPct val="1500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Comic Sans MS" panose="030F0702030302020204" pitchFamily="66" charset="0"/>
                <a:ea typeface="微软雅黑" pitchFamily="34" charset="-122"/>
              </a:rPr>
              <a:t>服務器生成日志，時鐘不同步導致三個請求所標記的時間相差大</a:t>
            </a:r>
            <a:endParaRPr lang="en-US" altLang="zh-CN" sz="2400" dirty="0">
              <a:solidFill>
                <a:schemeClr val="tx1">
                  <a:lumMod val="75000"/>
                  <a:lumOff val="25000"/>
                </a:schemeClr>
              </a:solidFill>
              <a:latin typeface="Comic Sans MS" panose="030F0702030302020204" pitchFamily="66" charset="0"/>
              <a:ea typeface="微软雅黑" pitchFamily="34" charset="-122"/>
            </a:endParaRPr>
          </a:p>
        </p:txBody>
      </p:sp>
      <p:sp>
        <p:nvSpPr>
          <p:cNvPr id="42" name="灯片编号占位符 2">
            <a:extLst>
              <a:ext uri="{FF2B5EF4-FFF2-40B4-BE49-F238E27FC236}">
                <a16:creationId xmlns:a16="http://schemas.microsoft.com/office/drawing/2014/main" id="{58E723A6-D3C6-E74D-8920-8511791EDF96}"/>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45</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37113541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時鐘同步算法</a:t>
            </a:r>
          </a:p>
        </p:txBody>
      </p:sp>
      <p:sp>
        <p:nvSpPr>
          <p:cNvPr id="24" name="矩形 23">
            <a:extLst>
              <a:ext uri="{FF2B5EF4-FFF2-40B4-BE49-F238E27FC236}">
                <a16:creationId xmlns:a16="http://schemas.microsoft.com/office/drawing/2014/main" id="{8B23AE98-F7E1-C041-A206-BDB29272AE9D}"/>
              </a:ext>
            </a:extLst>
          </p:cNvPr>
          <p:cNvSpPr/>
          <p:nvPr/>
        </p:nvSpPr>
        <p:spPr>
          <a:xfrm>
            <a:off x="1107914" y="3560492"/>
            <a:ext cx="10269347" cy="3041730"/>
          </a:xfrm>
          <a:prstGeom prst="rect">
            <a:avLst/>
          </a:prstGeom>
          <a:ln>
            <a:noFill/>
          </a:ln>
        </p:spPr>
        <p:txBody>
          <a:bodyPr wrap="square">
            <a:spAutoFit/>
          </a:bodyPr>
          <a:lstStyle/>
          <a:p>
            <a:pPr marL="342900" indent="-342900" algn="just" defTabSz="685800">
              <a:lnSpc>
                <a:spcPts val="3600"/>
              </a:lnSpc>
              <a:spcBef>
                <a:spcPct val="20000"/>
              </a:spcBef>
              <a:buClr>
                <a:schemeClr val="tx1"/>
              </a:buClr>
              <a:buSzPct val="100000"/>
              <a:buFont typeface="Arial" panose="020B0604020202020204" pitchFamily="34" charset="0"/>
              <a:buChar char="•"/>
              <a:defRPr/>
            </a:pPr>
            <a:r>
              <a:rPr lang="zh-CN" altLang="en-US" sz="2400" b="1" dirty="0">
                <a:latin typeface="Microsoft YaHei" panose="020B0503020204020204" pitchFamily="34" charset="-122"/>
                <a:ea typeface="Microsoft YaHei" panose="020B0503020204020204" pitchFamily="34" charset="-122"/>
              </a:rPr>
              <a:t>主要方式</a:t>
            </a:r>
            <a:endParaRPr lang="en-US" altLang="zh-CN" sz="2400" b="1" dirty="0">
              <a:latin typeface="Microsoft YaHei" panose="020B0503020204020204" pitchFamily="34" charset="-122"/>
              <a:ea typeface="Microsoft YaHei" panose="020B0503020204020204" pitchFamily="34" charset="-122"/>
            </a:endParaRPr>
          </a:p>
          <a:p>
            <a:pPr marL="684900" indent="-342900" algn="just" defTabSz="685800">
              <a:lnSpc>
                <a:spcPts val="3600"/>
              </a:lnSpc>
              <a:spcBef>
                <a:spcPct val="20000"/>
              </a:spcBef>
              <a:buClr>
                <a:schemeClr val="tx1"/>
              </a:buClr>
              <a:buSzPct val="100000"/>
              <a:buFont typeface="Arial" panose="020B0604020202020204" pitchFamily="34" charset="0"/>
              <a:buChar char="•"/>
              <a:defRPr/>
            </a:pPr>
            <a:r>
              <a:rPr lang="en" altLang="zh-CN" sz="2400" dirty="0">
                <a:latin typeface="Microsoft YaHei" panose="020B0503020204020204" pitchFamily="34" charset="-122"/>
                <a:ea typeface="Microsoft YaHei" panose="020B0503020204020204" pitchFamily="34" charset="-122"/>
                <a:cs typeface="Times New Roman" panose="02020603050405020304" pitchFamily="18" charset="0"/>
              </a:rPr>
              <a:t>Cristian</a:t>
            </a: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算法：使用一個時間服務器，其它節點基于該服務器完成時鐘同步，主要用于企業網內部</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marL="684900" indent="-342900" algn="just" defTabSz="685800">
              <a:lnSpc>
                <a:spcPts val="3600"/>
              </a:lnSpc>
              <a:spcBef>
                <a:spcPct val="20000"/>
              </a:spcBef>
              <a:buClr>
                <a:schemeClr val="tx1"/>
              </a:buClr>
              <a:buSzPct val="100000"/>
              <a:buFont typeface="Arial" panose="020B0604020202020204" pitchFamily="34" charset="0"/>
              <a:buChar char="•"/>
              <a:defRPr/>
            </a:pPr>
            <a:r>
              <a:rPr lang="en" altLang="zh-CN" sz="2400" dirty="0">
                <a:latin typeface="Microsoft YaHei" panose="020B0503020204020204" pitchFamily="34" charset="-122"/>
                <a:ea typeface="Microsoft YaHei" panose="020B0503020204020204" pitchFamily="34" charset="-122"/>
                <a:cs typeface="Times New Roman" panose="02020603050405020304" pitchFamily="18" charset="0"/>
              </a:rPr>
              <a:t>Berkeley</a:t>
            </a: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算法：主要用于分布式集群系統中各節點之間時鐘同步，主要用于企業網內部</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marL="684900" indent="-342900" algn="just" defTabSz="685800">
              <a:lnSpc>
                <a:spcPts val="3600"/>
              </a:lnSpc>
              <a:spcBef>
                <a:spcPct val="20000"/>
              </a:spcBef>
              <a:buClr>
                <a:schemeClr val="tx1"/>
              </a:buClr>
              <a:buSzPct val="100000"/>
              <a:buFont typeface="Arial" panose="020B0604020202020204" pitchFamily="34" charset="0"/>
              <a:buChar char="•"/>
              <a:defRPr/>
            </a:pPr>
            <a:r>
              <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rPr>
              <a:t>NTP</a:t>
            </a: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協議：主要運用于互聯網，確保網絡節點之間能够時鐘同步</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id="{20ECB86D-5B46-8946-8319-9D5A021DC228}"/>
              </a:ext>
            </a:extLst>
          </p:cNvPr>
          <p:cNvSpPr/>
          <p:nvPr/>
        </p:nvSpPr>
        <p:spPr>
          <a:xfrm>
            <a:off x="1107913" y="1072392"/>
            <a:ext cx="5639727" cy="2358466"/>
          </a:xfrm>
          <a:prstGeom prst="rect">
            <a:avLst/>
          </a:prstGeom>
          <a:ln>
            <a:noFill/>
          </a:ln>
        </p:spPr>
        <p:txBody>
          <a:bodyPr wrap="square">
            <a:spAutoFit/>
          </a:bodyPr>
          <a:lstStyle/>
          <a:p>
            <a:pPr marL="342900" indent="-342900" algn="just" defTabSz="685800">
              <a:lnSpc>
                <a:spcPts val="3600"/>
              </a:lnSpc>
              <a:spcBef>
                <a:spcPct val="20000"/>
              </a:spcBef>
              <a:buClr>
                <a:schemeClr val="tx1"/>
              </a:buClr>
              <a:buSzPct val="100000"/>
              <a:buFont typeface="Arial" panose="020B0604020202020204" pitchFamily="34" charset="0"/>
              <a:buChar char="•"/>
              <a:defRPr/>
            </a:pPr>
            <a:r>
              <a:rPr lang="zh-CN" altLang="en-US" sz="2400" b="1" dirty="0">
                <a:latin typeface="Microsoft YaHei" panose="020B0503020204020204" pitchFamily="34" charset="-122"/>
                <a:ea typeface="Microsoft YaHei" panose="020B0503020204020204" pitchFamily="34" charset="-122"/>
              </a:rPr>
              <a:t>主要思想：</a:t>
            </a:r>
            <a:r>
              <a:rPr lang="zh-CN" altLang="en-US" sz="2400" dirty="0">
                <a:latin typeface="Microsoft YaHei" panose="020B0503020204020204" pitchFamily="34" charset="-122"/>
                <a:ea typeface="Microsoft YaHei" panose="020B0503020204020204" pitchFamily="34" charset="-122"/>
              </a:rPr>
              <a:t>若節點</a:t>
            </a:r>
            <a:r>
              <a:rPr lang="en-US" altLang="zh-CN" sz="2400" dirty="0">
                <a:latin typeface="Microsoft YaHei" panose="020B0503020204020204" pitchFamily="34" charset="-122"/>
                <a:ea typeface="Microsoft YaHei" panose="020B0503020204020204" pitchFamily="34" charset="-122"/>
              </a:rPr>
              <a:t>A</a:t>
            </a:r>
            <a:r>
              <a:rPr lang="zh-CN" altLang="en-US" sz="2400" dirty="0">
                <a:latin typeface="Microsoft YaHei" panose="020B0503020204020204" pitchFamily="34" charset="-122"/>
                <a:ea typeface="Microsoft YaHei" panose="020B0503020204020204" pitchFamily="34" charset="-122"/>
              </a:rPr>
              <a:t>想與節點</a:t>
            </a:r>
            <a:r>
              <a:rPr lang="en-US" altLang="zh-CN" sz="2400" dirty="0">
                <a:latin typeface="Microsoft YaHei" panose="020B0503020204020204" pitchFamily="34" charset="-122"/>
                <a:ea typeface="Microsoft YaHei" panose="020B0503020204020204" pitchFamily="34" charset="-122"/>
              </a:rPr>
              <a:t>B</a:t>
            </a:r>
            <a:r>
              <a:rPr lang="zh-CN" altLang="en-US" sz="2400" dirty="0">
                <a:latin typeface="Microsoft YaHei" panose="020B0503020204020204" pitchFamily="34" charset="-122"/>
                <a:ea typeface="Microsoft YaHei" panose="020B0503020204020204" pitchFamily="34" charset="-122"/>
              </a:rPr>
              <a:t>完成時鐘同步，則請求節點</a:t>
            </a:r>
            <a:r>
              <a:rPr lang="en-US" altLang="zh-CN" sz="2400" dirty="0">
                <a:latin typeface="Microsoft YaHei" panose="020B0503020204020204" pitchFamily="34" charset="-122"/>
                <a:ea typeface="Microsoft YaHei" panose="020B0503020204020204" pitchFamily="34" charset="-122"/>
              </a:rPr>
              <a:t>B</a:t>
            </a:r>
            <a:r>
              <a:rPr lang="zh-CN" altLang="en-US" sz="2400" dirty="0">
                <a:latin typeface="Microsoft YaHei" panose="020B0503020204020204" pitchFamily="34" charset="-122"/>
                <a:ea typeface="Microsoft YaHei" panose="020B0503020204020204" pitchFamily="34" charset="-122"/>
              </a:rPr>
              <a:t>發送本地時間</a:t>
            </a:r>
            <a:r>
              <a:rPr lang="en-US" altLang="zh-CN" sz="2400" dirty="0">
                <a:latin typeface="Microsoft YaHei" panose="020B0503020204020204" pitchFamily="34" charset="-122"/>
                <a:ea typeface="Microsoft YaHei" panose="020B0503020204020204" pitchFamily="34" charset="-122"/>
              </a:rPr>
              <a:t>T</a:t>
            </a:r>
            <a:r>
              <a:rPr lang="zh-CN" altLang="en-US" sz="2400" dirty="0">
                <a:latin typeface="Microsoft YaHei" panose="020B0503020204020204" pitchFamily="34" charset="-122"/>
                <a:ea typeface="Microsoft YaHei" panose="020B0503020204020204" pitchFamily="34" charset="-122"/>
              </a:rPr>
              <a:t>；然後預測</a:t>
            </a:r>
            <a:r>
              <a:rPr lang="en-US" altLang="zh-CN" sz="2400" dirty="0">
                <a:latin typeface="Microsoft YaHei" panose="020B0503020204020204" pitchFamily="34" charset="-122"/>
                <a:ea typeface="Microsoft YaHei" panose="020B0503020204020204" pitchFamily="34" charset="-122"/>
              </a:rPr>
              <a:t>A</a:t>
            </a:r>
            <a:r>
              <a:rPr lang="zh-CN" altLang="en-US" sz="2400" dirty="0">
                <a:latin typeface="Microsoft YaHei" panose="020B0503020204020204" pitchFamily="34" charset="-122"/>
                <a:ea typeface="Microsoft YaHei" panose="020B0503020204020204" pitchFamily="34" charset="-122"/>
              </a:rPr>
              <a:t>與</a:t>
            </a:r>
            <a:r>
              <a:rPr lang="en-US" altLang="zh-CN" sz="2400" dirty="0">
                <a:latin typeface="Microsoft YaHei" panose="020B0503020204020204" pitchFamily="34" charset="-122"/>
                <a:ea typeface="Microsoft YaHei" panose="020B0503020204020204" pitchFamily="34" charset="-122"/>
              </a:rPr>
              <a:t>B</a:t>
            </a:r>
            <a:r>
              <a:rPr lang="zh-CN" altLang="en-US" sz="2400" dirty="0">
                <a:latin typeface="Microsoft YaHei" panose="020B0503020204020204" pitchFamily="34" charset="-122"/>
                <a:ea typeface="Microsoft YaHei" panose="020B0503020204020204" pitchFamily="34" charset="-122"/>
              </a:rPr>
              <a:t>的網絡時延</a:t>
            </a:r>
            <a:r>
              <a:rPr lang="en-US" altLang="zh-CN" sz="2400" dirty="0">
                <a:latin typeface="Microsoft YaHei" panose="020B0503020204020204" pitchFamily="34" charset="-122"/>
                <a:ea typeface="Microsoft YaHei" panose="020B0503020204020204" pitchFamily="34" charset="-122"/>
              </a:rPr>
              <a:t>RTT</a:t>
            </a:r>
            <a:r>
              <a:rPr lang="zh-CN" altLang="en-US" sz="2400" dirty="0">
                <a:latin typeface="Microsoft YaHei" panose="020B0503020204020204" pitchFamily="34" charset="-122"/>
                <a:ea typeface="Microsoft YaHei" panose="020B0503020204020204" pitchFamily="34" charset="-122"/>
              </a:rPr>
              <a:t>；之後將時間設置爲</a:t>
            </a:r>
            <a:r>
              <a:rPr lang="en-US" altLang="zh-CN" sz="2400" dirty="0">
                <a:latin typeface="Microsoft YaHei" panose="020B0503020204020204" pitchFamily="34" charset="-122"/>
                <a:ea typeface="Microsoft YaHei" panose="020B0503020204020204" pitchFamily="34" charset="-122"/>
              </a:rPr>
              <a:t>T+RTT/2</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RTT</a:t>
            </a:r>
            <a:r>
              <a:rPr lang="zh-CN" altLang="en-US" sz="2400" dirty="0">
                <a:latin typeface="Microsoft YaHei" panose="020B0503020204020204" pitchFamily="34" charset="-122"/>
                <a:ea typeface="Microsoft YaHei" panose="020B0503020204020204" pitchFamily="34" charset="-122"/>
              </a:rPr>
              <a:t>預測的越精確，時鐘同步的誤差越小</a:t>
            </a:r>
            <a:endParaRPr lang="en-US" altLang="zh-CN" sz="2400" dirty="0">
              <a:latin typeface="Microsoft YaHei" panose="020B0503020204020204" pitchFamily="34" charset="-122"/>
              <a:ea typeface="Microsoft YaHei" panose="020B0503020204020204" pitchFamily="34" charset="-122"/>
            </a:endParaRPr>
          </a:p>
        </p:txBody>
      </p:sp>
      <p:pic>
        <p:nvPicPr>
          <p:cNvPr id="20" name="图片 19">
            <a:extLst>
              <a:ext uri="{FF2B5EF4-FFF2-40B4-BE49-F238E27FC236}">
                <a16:creationId xmlns:a16="http://schemas.microsoft.com/office/drawing/2014/main" id="{2F257386-FCD8-7542-A087-9BCD34F575EB}"/>
              </a:ext>
            </a:extLst>
          </p:cNvPr>
          <p:cNvPicPr>
            <a:picLocks noChangeAspect="1"/>
          </p:cNvPicPr>
          <p:nvPr/>
        </p:nvPicPr>
        <p:blipFill>
          <a:blip r:embed="rId3"/>
          <a:stretch>
            <a:fillRect/>
          </a:stretch>
        </p:blipFill>
        <p:spPr>
          <a:xfrm>
            <a:off x="7762317" y="1386349"/>
            <a:ext cx="617576" cy="840954"/>
          </a:xfrm>
          <a:prstGeom prst="rect">
            <a:avLst/>
          </a:prstGeom>
        </p:spPr>
      </p:pic>
      <p:pic>
        <p:nvPicPr>
          <p:cNvPr id="21" name="图片 20">
            <a:extLst>
              <a:ext uri="{FF2B5EF4-FFF2-40B4-BE49-F238E27FC236}">
                <a16:creationId xmlns:a16="http://schemas.microsoft.com/office/drawing/2014/main" id="{1DA24730-465B-7445-B286-FC3001B8C754}"/>
              </a:ext>
            </a:extLst>
          </p:cNvPr>
          <p:cNvPicPr>
            <a:picLocks noChangeAspect="1"/>
          </p:cNvPicPr>
          <p:nvPr/>
        </p:nvPicPr>
        <p:blipFill>
          <a:blip r:embed="rId3"/>
          <a:stretch>
            <a:fillRect/>
          </a:stretch>
        </p:blipFill>
        <p:spPr>
          <a:xfrm>
            <a:off x="10736224" y="1369763"/>
            <a:ext cx="617576" cy="840954"/>
          </a:xfrm>
          <a:prstGeom prst="rect">
            <a:avLst/>
          </a:prstGeom>
        </p:spPr>
      </p:pic>
      <p:cxnSp>
        <p:nvCxnSpPr>
          <p:cNvPr id="22" name="直线箭头连接符 21">
            <a:extLst>
              <a:ext uri="{FF2B5EF4-FFF2-40B4-BE49-F238E27FC236}">
                <a16:creationId xmlns:a16="http://schemas.microsoft.com/office/drawing/2014/main" id="{2E40748F-347C-9F47-BA0A-286CBE8763C3}"/>
              </a:ext>
            </a:extLst>
          </p:cNvPr>
          <p:cNvCxnSpPr>
            <a:cxnSpLocks/>
            <a:stCxn id="21" idx="1"/>
            <a:endCxn id="20" idx="3"/>
          </p:cNvCxnSpPr>
          <p:nvPr/>
        </p:nvCxnSpPr>
        <p:spPr>
          <a:xfrm flipH="1">
            <a:off x="8379893" y="1790240"/>
            <a:ext cx="2356331" cy="16586"/>
          </a:xfrm>
          <a:prstGeom prst="straightConnector1">
            <a:avLst/>
          </a:prstGeom>
          <a:ln>
            <a:headEnd w="lg" len="lg"/>
            <a:tailEnd type="triangle" w="med" len="lg"/>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E2007893-07EF-364F-8E3F-7331197E462A}"/>
              </a:ext>
            </a:extLst>
          </p:cNvPr>
          <p:cNvSpPr/>
          <p:nvPr/>
        </p:nvSpPr>
        <p:spPr>
          <a:xfrm>
            <a:off x="8670689" y="1357663"/>
            <a:ext cx="2002471" cy="369332"/>
          </a:xfrm>
          <a:prstGeom prst="rect">
            <a:avLst/>
          </a:prstGeom>
        </p:spPr>
        <p:txBody>
          <a:bodyPr wrap="none">
            <a:spAutoFit/>
          </a:bodyPr>
          <a:lstStyle/>
          <a:p>
            <a:r>
              <a:rPr lang="zh-CN" altLang="en-US" dirty="0">
                <a:latin typeface="Microsoft YaHei" panose="020B0503020204020204" pitchFamily="34" charset="-122"/>
                <a:ea typeface="Microsoft YaHei" panose="020B0503020204020204" pitchFamily="34" charset="-122"/>
              </a:rPr>
              <a:t>我的本地時間是 </a:t>
            </a:r>
            <a:r>
              <a:rPr lang="en-US" altLang="zh-CN" dirty="0">
                <a:latin typeface="Microsoft YaHei" panose="020B0503020204020204" pitchFamily="34" charset="-122"/>
                <a:ea typeface="Microsoft YaHei" panose="020B0503020204020204" pitchFamily="34" charset="-122"/>
              </a:rPr>
              <a:t>T</a:t>
            </a:r>
            <a:endParaRPr lang="zh-CN" altLang="en-US" dirty="0"/>
          </a:p>
        </p:txBody>
      </p:sp>
      <p:sp>
        <p:nvSpPr>
          <p:cNvPr id="29" name="矩形 28">
            <a:extLst>
              <a:ext uri="{FF2B5EF4-FFF2-40B4-BE49-F238E27FC236}">
                <a16:creationId xmlns:a16="http://schemas.microsoft.com/office/drawing/2014/main" id="{3F243D15-56E1-164C-8CF2-CF395029D91F}"/>
              </a:ext>
            </a:extLst>
          </p:cNvPr>
          <p:cNvSpPr/>
          <p:nvPr/>
        </p:nvSpPr>
        <p:spPr>
          <a:xfrm>
            <a:off x="7897820" y="2239706"/>
            <a:ext cx="346570" cy="369332"/>
          </a:xfrm>
          <a:prstGeom prst="rect">
            <a:avLst/>
          </a:prstGeom>
        </p:spPr>
        <p:txBody>
          <a:bodyPr wrap="none">
            <a:spAutoFit/>
          </a:bodyPr>
          <a:lstStyle/>
          <a:p>
            <a:r>
              <a:rPr lang="en-US" altLang="zh-CN" dirty="0">
                <a:latin typeface="Microsoft YaHei" panose="020B0503020204020204" pitchFamily="34" charset="-122"/>
                <a:ea typeface="Microsoft YaHei" panose="020B0503020204020204" pitchFamily="34" charset="-122"/>
              </a:rPr>
              <a:t>A</a:t>
            </a:r>
            <a:endParaRPr lang="zh-CN" altLang="en-US" dirty="0"/>
          </a:p>
        </p:txBody>
      </p:sp>
      <p:sp>
        <p:nvSpPr>
          <p:cNvPr id="30" name="矩形 29">
            <a:extLst>
              <a:ext uri="{FF2B5EF4-FFF2-40B4-BE49-F238E27FC236}">
                <a16:creationId xmlns:a16="http://schemas.microsoft.com/office/drawing/2014/main" id="{EC93E9FE-167A-9141-943A-FBFF167FA4D3}"/>
              </a:ext>
            </a:extLst>
          </p:cNvPr>
          <p:cNvSpPr/>
          <p:nvPr/>
        </p:nvSpPr>
        <p:spPr>
          <a:xfrm>
            <a:off x="10910802" y="2222272"/>
            <a:ext cx="328936" cy="369332"/>
          </a:xfrm>
          <a:prstGeom prst="rect">
            <a:avLst/>
          </a:prstGeom>
        </p:spPr>
        <p:txBody>
          <a:bodyPr wrap="none">
            <a:spAutoFit/>
          </a:bodyPr>
          <a:lstStyle/>
          <a:p>
            <a:r>
              <a:rPr lang="en-US" altLang="zh-CN" dirty="0">
                <a:latin typeface="Microsoft YaHei" panose="020B0503020204020204" pitchFamily="34" charset="-122"/>
                <a:ea typeface="Microsoft YaHei" panose="020B0503020204020204" pitchFamily="34" charset="-122"/>
              </a:rPr>
              <a:t>B</a:t>
            </a:r>
            <a:endParaRPr lang="zh-CN" altLang="en-US" dirty="0"/>
          </a:p>
        </p:txBody>
      </p:sp>
      <p:sp>
        <p:nvSpPr>
          <p:cNvPr id="31" name="矩形 30">
            <a:extLst>
              <a:ext uri="{FF2B5EF4-FFF2-40B4-BE49-F238E27FC236}">
                <a16:creationId xmlns:a16="http://schemas.microsoft.com/office/drawing/2014/main" id="{9A31D8A1-89B0-7345-BAF4-D1D112C12F1C}"/>
              </a:ext>
            </a:extLst>
          </p:cNvPr>
          <p:cNvSpPr/>
          <p:nvPr/>
        </p:nvSpPr>
        <p:spPr>
          <a:xfrm>
            <a:off x="7246392" y="2656977"/>
            <a:ext cx="1995996" cy="369332"/>
          </a:xfrm>
          <a:prstGeom prst="rect">
            <a:avLst/>
          </a:prstGeom>
        </p:spPr>
        <p:txBody>
          <a:bodyPr wrap="none">
            <a:spAutoFit/>
          </a:bodyPr>
          <a:lstStyle/>
          <a:p>
            <a:r>
              <a:rPr lang="zh-CN" altLang="en-US" dirty="0">
                <a:latin typeface="Microsoft YaHei" panose="020B0503020204020204" pitchFamily="34" charset="-122"/>
                <a:ea typeface="Microsoft YaHei" panose="020B0503020204020204" pitchFamily="34" charset="-122"/>
              </a:rPr>
              <a:t>設置 </a:t>
            </a:r>
            <a:r>
              <a:rPr lang="en-US" altLang="zh-CN" dirty="0">
                <a:latin typeface="Microsoft YaHei" panose="020B0503020204020204" pitchFamily="34" charset="-122"/>
                <a:ea typeface="Microsoft YaHei" panose="020B0503020204020204" pitchFamily="34" charset="-122"/>
              </a:rPr>
              <a:t>t= T+RTT/2</a:t>
            </a:r>
            <a:endParaRPr lang="zh-CN" altLang="en-US" dirty="0"/>
          </a:p>
        </p:txBody>
      </p:sp>
      <p:sp>
        <p:nvSpPr>
          <p:cNvPr id="12" name="灯片编号占位符 2">
            <a:extLst>
              <a:ext uri="{FF2B5EF4-FFF2-40B4-BE49-F238E27FC236}">
                <a16:creationId xmlns:a16="http://schemas.microsoft.com/office/drawing/2014/main" id="{5BDD763B-6902-4E48-8580-7DE4486833FB}"/>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46</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0241360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en-US" altLang="zh-CN" dirty="0"/>
              <a:t>Cristian</a:t>
            </a:r>
            <a:r>
              <a:rPr kumimoji="1" lang="zh-CN" altLang="en-US" dirty="0"/>
              <a:t>算法</a:t>
            </a:r>
          </a:p>
        </p:txBody>
      </p:sp>
      <p:sp>
        <p:nvSpPr>
          <p:cNvPr id="3" name="矩形 2">
            <a:extLst>
              <a:ext uri="{FF2B5EF4-FFF2-40B4-BE49-F238E27FC236}">
                <a16:creationId xmlns:a16="http://schemas.microsoft.com/office/drawing/2014/main" id="{093B68DE-3310-6144-A00D-183C00BDD906}"/>
              </a:ext>
            </a:extLst>
          </p:cNvPr>
          <p:cNvSpPr/>
          <p:nvPr/>
        </p:nvSpPr>
        <p:spPr>
          <a:xfrm>
            <a:off x="1208690" y="1273126"/>
            <a:ext cx="10145110" cy="511807"/>
          </a:xfrm>
          <a:prstGeom prst="rect">
            <a:avLst/>
          </a:prstGeom>
        </p:spPr>
        <p:txBody>
          <a:bodyPr wrap="square">
            <a:spAutoFit/>
          </a:bodyPr>
          <a:lstStyle/>
          <a:p>
            <a:pPr marL="0" lvl="1" algn="ctr" fontAlgn="base">
              <a:lnSpc>
                <a:spcPts val="3600"/>
              </a:lnSpc>
              <a:spcBef>
                <a:spcPct val="20000"/>
              </a:spcBef>
              <a:spcAft>
                <a:spcPct val="0"/>
              </a:spcAft>
              <a:buSzPct val="60000"/>
            </a:pPr>
            <a:r>
              <a:rPr lang="zh-CN" altLang="en-US" sz="2400" b="1" dirty="0">
                <a:solidFill>
                  <a:srgbClr val="C00000"/>
                </a:solidFill>
                <a:latin typeface="Microsoft YaHei" panose="020B0503020204020204" pitchFamily="34" charset="-122"/>
                <a:ea typeface="Microsoft YaHei" panose="020B0503020204020204" pitchFamily="34" charset="-122"/>
              </a:rPr>
              <a:t>基于一個接收</a:t>
            </a:r>
            <a:r>
              <a:rPr lang="en-US" altLang="zh-CN" sz="2400" b="1" dirty="0">
                <a:solidFill>
                  <a:srgbClr val="C00000"/>
                </a:solidFill>
                <a:latin typeface="Microsoft YaHei" panose="020B0503020204020204" pitchFamily="34" charset="-122"/>
                <a:ea typeface="Microsoft YaHei" panose="020B0503020204020204" pitchFamily="34" charset="-122"/>
              </a:rPr>
              <a:t>UTC</a:t>
            </a:r>
            <a:r>
              <a:rPr lang="zh-CN" altLang="en-US" sz="2400" b="1" dirty="0">
                <a:solidFill>
                  <a:srgbClr val="C00000"/>
                </a:solidFill>
                <a:latin typeface="Microsoft YaHei" panose="020B0503020204020204" pitchFamily="34" charset="-122"/>
                <a:ea typeface="Microsoft YaHei" panose="020B0503020204020204" pitchFamily="34" charset="-122"/>
              </a:rPr>
              <a:t>（通用協調時間）信號的外部時間服務器完成時鐘同步</a:t>
            </a:r>
            <a:endParaRPr lang="en-US" altLang="zh-CN" sz="2400" b="1" dirty="0">
              <a:solidFill>
                <a:srgbClr val="C00000"/>
              </a:solidFill>
              <a:latin typeface="Microsoft YaHei" panose="020B0503020204020204" pitchFamily="34" charset="-122"/>
              <a:ea typeface="Microsoft YaHei" panose="020B0503020204020204" pitchFamily="34" charset="-122"/>
            </a:endParaRPr>
          </a:p>
        </p:txBody>
      </p:sp>
      <mc:AlternateContent xmlns:mc="http://schemas.openxmlformats.org/markup-compatibility/2006">
        <mc:Choice xmlns:a14="http://schemas.microsoft.com/office/drawing/2010/main" Requires="a14">
          <p:sp>
            <p:nvSpPr>
              <p:cNvPr id="37" name="矩形 36">
                <a:extLst>
                  <a:ext uri="{FF2B5EF4-FFF2-40B4-BE49-F238E27FC236}">
                    <a16:creationId xmlns:a16="http://schemas.microsoft.com/office/drawing/2014/main" id="{D1E9C413-78C0-0D49-9D4A-82E774D5CC61}"/>
                  </a:ext>
                </a:extLst>
              </p:cNvPr>
              <p:cNvSpPr/>
              <p:nvPr/>
            </p:nvSpPr>
            <p:spPr>
              <a:xfrm>
                <a:off x="1093276" y="2086008"/>
                <a:ext cx="4964624" cy="4287840"/>
              </a:xfrm>
              <a:prstGeom prst="rect">
                <a:avLst/>
              </a:prstGeom>
              <a:ln>
                <a:solidFill>
                  <a:srgbClr val="00B0F0"/>
                </a:solidFill>
              </a:ln>
            </p:spPr>
            <p:txBody>
              <a:bodyPr wrap="square">
                <a:spAutoFit/>
              </a:bodyPr>
              <a:lstStyle/>
              <a:p>
                <a:pPr marL="342900" indent="-342900">
                  <a:lnSpc>
                    <a:spcPct val="130000"/>
                  </a:lnSpc>
                  <a:buFont typeface="Arial" panose="020B0604020202020204" pitchFamily="34" charset="0"/>
                  <a:buChar char="•"/>
                </a:pPr>
                <a:r>
                  <a:rPr lang="zh-CN" altLang="en-US" sz="2200" dirty="0">
                    <a:solidFill>
                      <a:schemeClr val="tx1">
                        <a:lumMod val="75000"/>
                        <a:lumOff val="25000"/>
                      </a:schemeClr>
                    </a:solidFill>
                    <a:latin typeface="Comic Sans MS" panose="030F0702030302020204" pitchFamily="66" charset="0"/>
                    <a:ea typeface="微软雅黑" pitchFamily="34" charset="-122"/>
                  </a:rPr>
                  <a:t>當服務器 </a:t>
                </a:r>
                <a:r>
                  <a:rPr lang="en-US" altLang="zh-CN" sz="2200" dirty="0">
                    <a:solidFill>
                      <a:schemeClr val="tx1">
                        <a:lumMod val="75000"/>
                        <a:lumOff val="25000"/>
                      </a:schemeClr>
                    </a:solidFill>
                    <a:latin typeface="Comic Sans MS" panose="030F0702030302020204" pitchFamily="66" charset="0"/>
                    <a:ea typeface="微软雅黑" pitchFamily="34" charset="-122"/>
                  </a:rPr>
                  <a:t>P</a:t>
                </a:r>
                <a:r>
                  <a:rPr lang="zh-CN" altLang="en-US" sz="2200" dirty="0">
                    <a:solidFill>
                      <a:schemeClr val="tx1">
                        <a:lumMod val="75000"/>
                        <a:lumOff val="25000"/>
                      </a:schemeClr>
                    </a:solidFill>
                    <a:latin typeface="Comic Sans MS" panose="030F0702030302020204" pitchFamily="66" charset="0"/>
                    <a:ea typeface="微软雅黑" pitchFamily="34" charset="-122"/>
                  </a:rPr>
                  <a:t>收到數據包時，本地時鐘爲</a:t>
                </a:r>
                <a14:m>
                  <m:oMath xmlns:m="http://schemas.openxmlformats.org/officeDocument/2006/math">
                    <m:sSup>
                      <m:sSupPr>
                        <m:ctrlPr>
                          <a:rPr kumimoji="1" lang="en-US" altLang="zh-CN" sz="2200" i="1">
                            <a:latin typeface="Cambria Math" panose="02040503050406030204" pitchFamily="18" charset="0"/>
                          </a:rPr>
                        </m:ctrlPr>
                      </m:sSupPr>
                      <m:e>
                        <m:r>
                          <a:rPr kumimoji="1" lang="en-US" altLang="zh-CN" sz="2200" i="1">
                            <a:latin typeface="Cambria Math" panose="02040503050406030204" pitchFamily="18" charset="0"/>
                          </a:rPr>
                          <m:t>𝑡</m:t>
                        </m:r>
                      </m:e>
                      <m:sup>
                        <m:r>
                          <a:rPr kumimoji="1" lang="en-US" altLang="zh-CN" sz="2200" i="1">
                            <a:latin typeface="Cambria Math" panose="02040503050406030204" pitchFamily="18" charset="0"/>
                          </a:rPr>
                          <m:t>′′</m:t>
                        </m:r>
                      </m:sup>
                    </m:sSup>
                  </m:oMath>
                </a14:m>
                <a:r>
                  <a:rPr lang="zh-CN" altLang="en-US" sz="2200" dirty="0">
                    <a:solidFill>
                      <a:schemeClr val="tx1">
                        <a:lumMod val="75000"/>
                        <a:lumOff val="25000"/>
                      </a:schemeClr>
                    </a:solidFill>
                    <a:latin typeface="Comic Sans MS" panose="030F0702030302020204" pitchFamily="66" charset="0"/>
                    <a:ea typeface="微软雅黑" pitchFamily="34" charset="-122"/>
                  </a:rPr>
                  <a:t> ，可得消息來回延遲爲：</a:t>
                </a:r>
                <a:endParaRPr lang="en-US" altLang="zh-CN" sz="2200" dirty="0">
                  <a:solidFill>
                    <a:schemeClr val="tx1">
                      <a:lumMod val="75000"/>
                      <a:lumOff val="25000"/>
                    </a:schemeClr>
                  </a:solidFill>
                  <a:latin typeface="Comic Sans MS" panose="030F0702030302020204" pitchFamily="66" charset="0"/>
                  <a:ea typeface="微软雅黑" pitchFamily="34" charset="-122"/>
                </a:endParaRPr>
              </a:p>
              <a:p>
                <a:pPr>
                  <a:lnSpc>
                    <a:spcPct val="130000"/>
                  </a:lnSpc>
                </a:pPr>
                <a14:m>
                  <m:oMathPara xmlns:m="http://schemas.openxmlformats.org/officeDocument/2006/math">
                    <m:oMathParaPr>
                      <m:jc m:val="centerGroup"/>
                    </m:oMathParaPr>
                    <m:oMath xmlns:m="http://schemas.openxmlformats.org/officeDocument/2006/math">
                      <m:sSub>
                        <m:sSubPr>
                          <m:ctrlPr>
                            <a:rPr kumimoji="1" lang="en-US" altLang="zh-CN" sz="2200" i="1">
                              <a:latin typeface="Cambria Math" panose="02040503050406030204" pitchFamily="18" charset="0"/>
                            </a:rPr>
                          </m:ctrlPr>
                        </m:sSubPr>
                        <m:e>
                          <m:r>
                            <a:rPr kumimoji="1" lang="en-US" altLang="zh-CN" sz="2200" i="1">
                              <a:latin typeface="Cambria Math" panose="02040503050406030204" pitchFamily="18" charset="0"/>
                            </a:rPr>
                            <m:t>𝑇</m:t>
                          </m:r>
                        </m:e>
                        <m:sub>
                          <m:r>
                            <a:rPr kumimoji="1" lang="en-US" altLang="zh-CN" sz="2200" i="1">
                              <a:latin typeface="Cambria Math" panose="02040503050406030204" pitchFamily="18" charset="0"/>
                            </a:rPr>
                            <m:t>𝑟𝑜𝑢𝑛𝑑</m:t>
                          </m:r>
                        </m:sub>
                      </m:sSub>
                      <m:r>
                        <a:rPr kumimoji="1" lang="en-US" altLang="zh-CN" sz="2200" b="0" i="1" smtClean="0">
                          <a:latin typeface="Cambria Math" panose="02040503050406030204" pitchFamily="18" charset="0"/>
                        </a:rPr>
                        <m:t>=</m:t>
                      </m:r>
                      <m:sSup>
                        <m:sSupPr>
                          <m:ctrlPr>
                            <a:rPr kumimoji="1" lang="en-US" altLang="zh-CN" sz="2200" b="0" i="1" smtClean="0">
                              <a:latin typeface="Cambria Math" panose="02040503050406030204" pitchFamily="18" charset="0"/>
                            </a:rPr>
                          </m:ctrlPr>
                        </m:sSupPr>
                        <m:e>
                          <m:r>
                            <a:rPr kumimoji="1" lang="en-US" altLang="zh-CN" sz="2200" b="0" i="1" smtClean="0">
                              <a:latin typeface="Cambria Math" panose="02040503050406030204" pitchFamily="18" charset="0"/>
                            </a:rPr>
                            <m:t>𝑡</m:t>
                          </m:r>
                        </m:e>
                        <m:sup>
                          <m:r>
                            <a:rPr kumimoji="1" lang="en-US" altLang="zh-CN" sz="2200" b="0" i="1" smtClean="0">
                              <a:latin typeface="Cambria Math" panose="02040503050406030204" pitchFamily="18" charset="0"/>
                            </a:rPr>
                            <m:t>′′</m:t>
                          </m:r>
                        </m:sup>
                      </m:sSup>
                      <m:r>
                        <a:rPr kumimoji="1" lang="en-US" altLang="zh-CN" sz="2200" b="0" i="1" smtClean="0">
                          <a:latin typeface="Cambria Math" panose="02040503050406030204" pitchFamily="18" charset="0"/>
                        </a:rPr>
                        <m:t>−</m:t>
                      </m:r>
                      <m:r>
                        <a:rPr kumimoji="1" lang="en-US" altLang="zh-CN" sz="2200" b="0" i="1" smtClean="0">
                          <a:latin typeface="Cambria Math" panose="02040503050406030204" pitchFamily="18" charset="0"/>
                        </a:rPr>
                        <m:t>𝑡</m:t>
                      </m:r>
                    </m:oMath>
                  </m:oMathPara>
                </a14:m>
                <a:endParaRPr lang="en-US" altLang="zh-CN" sz="2200" dirty="0">
                  <a:solidFill>
                    <a:schemeClr val="tx1">
                      <a:lumMod val="75000"/>
                      <a:lumOff val="25000"/>
                    </a:schemeClr>
                  </a:solidFill>
                  <a:latin typeface="Comic Sans MS" panose="030F0702030302020204" pitchFamily="66" charset="0"/>
                  <a:ea typeface="微软雅黑" pitchFamily="34" charset="-122"/>
                </a:endParaRPr>
              </a:p>
              <a:p>
                <a:pPr marL="342900" indent="-342900">
                  <a:lnSpc>
                    <a:spcPct val="120000"/>
                  </a:lnSpc>
                  <a:buFont typeface="Arial" panose="020B0604020202020204" pitchFamily="34" charset="0"/>
                  <a:buChar char="•"/>
                </a:pPr>
                <a:endParaRPr lang="en-US" altLang="zh-CN" sz="1100" dirty="0">
                  <a:solidFill>
                    <a:schemeClr val="tx1">
                      <a:lumMod val="75000"/>
                      <a:lumOff val="25000"/>
                    </a:schemeClr>
                  </a:solidFill>
                  <a:latin typeface="Comic Sans MS" panose="030F0702030302020204" pitchFamily="66" charset="0"/>
                  <a:ea typeface="微软雅黑" pitchFamily="34" charset="-122"/>
                </a:endParaRPr>
              </a:p>
              <a:p>
                <a:pPr marL="342900" indent="-342900">
                  <a:lnSpc>
                    <a:spcPct val="120000"/>
                  </a:lnSpc>
                  <a:buFont typeface="Arial" panose="020B0604020202020204" pitchFamily="34" charset="0"/>
                  <a:buChar char="•"/>
                </a:pPr>
                <a:r>
                  <a:rPr lang="zh-CN" altLang="en-US" sz="2200" dirty="0">
                    <a:solidFill>
                      <a:schemeClr val="tx1">
                        <a:lumMod val="75000"/>
                        <a:lumOff val="25000"/>
                      </a:schemeClr>
                    </a:solidFill>
                    <a:latin typeface="Comic Sans MS" panose="030F0702030302020204" pitchFamily="66" charset="0"/>
                    <a:ea typeface="微软雅黑" pitchFamily="34" charset="-122"/>
                  </a:rPr>
                  <a:t>在服務器 </a:t>
                </a:r>
                <a:r>
                  <a:rPr lang="en-US" altLang="zh-CN" sz="2200" dirty="0">
                    <a:solidFill>
                      <a:schemeClr val="tx1">
                        <a:lumMod val="75000"/>
                        <a:lumOff val="25000"/>
                      </a:schemeClr>
                    </a:solidFill>
                    <a:latin typeface="Comic Sans MS" panose="030F0702030302020204" pitchFamily="66" charset="0"/>
                    <a:ea typeface="微软雅黑" pitchFamily="34" charset="-122"/>
                  </a:rPr>
                  <a:t>P</a:t>
                </a:r>
                <a:r>
                  <a:rPr lang="zh-CN" altLang="en-US" sz="2200" dirty="0">
                    <a:solidFill>
                      <a:schemeClr val="tx1">
                        <a:lumMod val="75000"/>
                        <a:lumOff val="25000"/>
                      </a:schemeClr>
                    </a:solidFill>
                    <a:latin typeface="Comic Sans MS" panose="030F0702030302020204" pitchFamily="66" charset="0"/>
                    <a:ea typeface="微软雅黑" pitchFamily="34" charset="-122"/>
                  </a:rPr>
                  <a:t> 看來，當</a:t>
                </a:r>
                <a:r>
                  <a:rPr lang="en-US" altLang="zh-CN" sz="2200" dirty="0">
                    <a:solidFill>
                      <a:schemeClr val="tx1">
                        <a:lumMod val="75000"/>
                        <a:lumOff val="25000"/>
                      </a:schemeClr>
                    </a:solidFill>
                    <a:latin typeface="Comic Sans MS" panose="030F0702030302020204" pitchFamily="66" charset="0"/>
                    <a:ea typeface="微软雅黑" pitchFamily="34" charset="-122"/>
                  </a:rPr>
                  <a:t>S</a:t>
                </a:r>
                <a:r>
                  <a:rPr lang="zh-CN" altLang="en-US" sz="2200" dirty="0">
                    <a:solidFill>
                      <a:schemeClr val="tx1">
                        <a:lumMod val="75000"/>
                        <a:lumOff val="25000"/>
                      </a:schemeClr>
                    </a:solidFill>
                    <a:latin typeface="Comic Sans MS" panose="030F0702030302020204" pitchFamily="66" charset="0"/>
                    <a:ea typeface="微软雅黑" pitchFamily="34" charset="-122"/>
                  </a:rPr>
                  <a:t>收到消息時，</a:t>
                </a:r>
                <a:r>
                  <a:rPr lang="en-US" altLang="zh-CN" sz="2200" dirty="0">
                    <a:solidFill>
                      <a:schemeClr val="tx1">
                        <a:lumMod val="75000"/>
                        <a:lumOff val="25000"/>
                      </a:schemeClr>
                    </a:solidFill>
                    <a:latin typeface="Comic Sans MS" panose="030F0702030302020204" pitchFamily="66" charset="0"/>
                    <a:ea typeface="微软雅黑" pitchFamily="34" charset="-122"/>
                  </a:rPr>
                  <a:t>P</a:t>
                </a:r>
                <a:r>
                  <a:rPr lang="zh-CN" altLang="en-US" sz="2200" dirty="0">
                    <a:solidFill>
                      <a:schemeClr val="tx1">
                        <a:lumMod val="75000"/>
                        <a:lumOff val="25000"/>
                      </a:schemeClr>
                    </a:solidFill>
                    <a:latin typeface="Comic Sans MS" panose="030F0702030302020204" pitchFamily="66" charset="0"/>
                    <a:ea typeface="微软雅黑" pitchFamily="34" charset="-122"/>
                  </a:rPr>
                  <a:t>本地預計時間爲 </a:t>
                </a:r>
                <a14:m>
                  <m:oMath xmlns:m="http://schemas.openxmlformats.org/officeDocument/2006/math">
                    <m:r>
                      <a:rPr kumimoji="1" lang="en-US" altLang="zh-CN" sz="2200" i="1">
                        <a:latin typeface="Cambria Math" panose="02040503050406030204" pitchFamily="18" charset="0"/>
                      </a:rPr>
                      <m:t>𝑡</m:t>
                    </m:r>
                    <m:r>
                      <a:rPr kumimoji="1" lang="en-US" altLang="zh-CN" sz="2200" b="0" i="1" smtClean="0">
                        <a:latin typeface="Cambria Math" panose="02040503050406030204" pitchFamily="18" charset="0"/>
                      </a:rPr>
                      <m:t>+</m:t>
                    </m:r>
                    <m:sSub>
                      <m:sSubPr>
                        <m:ctrlPr>
                          <a:rPr kumimoji="1" lang="en-US" altLang="zh-CN" sz="2200" i="1">
                            <a:latin typeface="Cambria Math" panose="02040503050406030204" pitchFamily="18" charset="0"/>
                          </a:rPr>
                        </m:ctrlPr>
                      </m:sSubPr>
                      <m:e>
                        <m:r>
                          <a:rPr kumimoji="1" lang="en-US" altLang="zh-CN" sz="2200" i="1">
                            <a:latin typeface="Cambria Math" panose="02040503050406030204" pitchFamily="18" charset="0"/>
                          </a:rPr>
                          <m:t>𝑇</m:t>
                        </m:r>
                      </m:e>
                      <m:sub>
                        <m:r>
                          <a:rPr kumimoji="1" lang="en-US" altLang="zh-CN" sz="2200" i="1">
                            <a:latin typeface="Cambria Math" panose="02040503050406030204" pitchFamily="18" charset="0"/>
                          </a:rPr>
                          <m:t>𝑟𝑜𝑢𝑛𝑑</m:t>
                        </m:r>
                      </m:sub>
                    </m:sSub>
                  </m:oMath>
                </a14:m>
                <a:r>
                  <a:rPr lang="en-US" altLang="zh-CN" sz="2200" dirty="0">
                    <a:solidFill>
                      <a:schemeClr val="tx1">
                        <a:lumMod val="75000"/>
                        <a:lumOff val="25000"/>
                      </a:schemeClr>
                    </a:solidFill>
                    <a:latin typeface="Comic Sans MS" panose="030F0702030302020204" pitchFamily="66" charset="0"/>
                    <a:ea typeface="微软雅黑" pitchFamily="34" charset="-122"/>
                  </a:rPr>
                  <a:t>/2</a:t>
                </a:r>
                <a:r>
                  <a:rPr lang="zh-CN" altLang="en-US" sz="2200" dirty="0">
                    <a:solidFill>
                      <a:schemeClr val="tx1">
                        <a:lumMod val="75000"/>
                        <a:lumOff val="25000"/>
                      </a:schemeClr>
                    </a:solidFill>
                    <a:latin typeface="Comic Sans MS" panose="030F0702030302020204" pitchFamily="66" charset="0"/>
                    <a:ea typeface="微软雅黑" pitchFamily="34" charset="-122"/>
                  </a:rPr>
                  <a:t>，所以 </a:t>
                </a:r>
                <a:r>
                  <a:rPr lang="en-US" altLang="zh-CN" sz="2200" dirty="0">
                    <a:solidFill>
                      <a:schemeClr val="tx1">
                        <a:lumMod val="75000"/>
                        <a:lumOff val="25000"/>
                      </a:schemeClr>
                    </a:solidFill>
                    <a:latin typeface="Comic Sans MS" panose="030F0702030302020204" pitchFamily="66" charset="0"/>
                    <a:ea typeface="微软雅黑" pitchFamily="34" charset="-122"/>
                  </a:rPr>
                  <a:t>P</a:t>
                </a:r>
                <a:r>
                  <a:rPr lang="zh-CN" altLang="en-US" sz="2200" dirty="0">
                    <a:solidFill>
                      <a:schemeClr val="tx1">
                        <a:lumMod val="75000"/>
                        <a:lumOff val="25000"/>
                      </a:schemeClr>
                    </a:solidFill>
                    <a:latin typeface="Comic Sans MS" panose="030F0702030302020204" pitchFamily="66" charset="0"/>
                    <a:ea typeface="微软雅黑" pitchFamily="34" charset="-122"/>
                  </a:rPr>
                  <a:t> 和 </a:t>
                </a:r>
                <a:r>
                  <a:rPr lang="en-US" altLang="zh-CN" sz="2200" dirty="0">
                    <a:solidFill>
                      <a:schemeClr val="tx1">
                        <a:lumMod val="75000"/>
                        <a:lumOff val="25000"/>
                      </a:schemeClr>
                    </a:solidFill>
                    <a:latin typeface="Comic Sans MS" panose="030F0702030302020204" pitchFamily="66" charset="0"/>
                    <a:ea typeface="微软雅黑" pitchFamily="34" charset="-122"/>
                  </a:rPr>
                  <a:t>S</a:t>
                </a:r>
                <a:r>
                  <a:rPr lang="zh-CN" altLang="en-US" sz="2200" dirty="0">
                    <a:solidFill>
                      <a:schemeClr val="tx1">
                        <a:lumMod val="75000"/>
                        <a:lumOff val="25000"/>
                      </a:schemeClr>
                    </a:solidFill>
                    <a:latin typeface="Comic Sans MS" panose="030F0702030302020204" pitchFamily="66" charset="0"/>
                    <a:ea typeface="微软雅黑" pitchFamily="34" charset="-122"/>
                  </a:rPr>
                  <a:t> 的時間差爲：</a:t>
                </a:r>
                <a:endParaRPr lang="en-US" altLang="zh-CN" sz="2200" dirty="0">
                  <a:solidFill>
                    <a:schemeClr val="tx1">
                      <a:lumMod val="75000"/>
                      <a:lumOff val="25000"/>
                    </a:schemeClr>
                  </a:solidFill>
                  <a:latin typeface="Comic Sans MS" panose="030F0702030302020204" pitchFamily="66" charset="0"/>
                  <a:ea typeface="微软雅黑" pitchFamily="34" charset="-122"/>
                </a:endParaRPr>
              </a:p>
              <a:p>
                <a:pPr>
                  <a:lnSpc>
                    <a:spcPct val="120000"/>
                  </a:lnSpc>
                </a:pPr>
                <a14:m>
                  <m:oMathPara xmlns:m="http://schemas.openxmlformats.org/officeDocument/2006/math">
                    <m:oMathParaPr>
                      <m:jc m:val="centerGroup"/>
                    </m:oMathParaPr>
                    <m:oMath xmlns:m="http://schemas.openxmlformats.org/officeDocument/2006/math">
                      <m:sSub>
                        <m:sSubPr>
                          <m:ctrlPr>
                            <a:rPr kumimoji="1" lang="en-US" altLang="zh-CN" sz="2200" i="1" smtClean="0">
                              <a:latin typeface="Cambria Math" panose="02040503050406030204" pitchFamily="18" charset="0"/>
                            </a:rPr>
                          </m:ctrlPr>
                        </m:sSubPr>
                        <m:e>
                          <m:r>
                            <a:rPr kumimoji="1" lang="en-US" altLang="zh-CN" sz="2200" b="0" i="1" smtClean="0">
                              <a:latin typeface="Cambria Math" panose="02040503050406030204" pitchFamily="18" charset="0"/>
                            </a:rPr>
                            <m:t>𝑡</m:t>
                          </m:r>
                        </m:e>
                        <m:sub>
                          <m:r>
                            <m:rPr>
                              <m:sty m:val="p"/>
                            </m:rPr>
                            <a:rPr kumimoji="1" lang="en-US" altLang="zh-CN" sz="2200" i="1">
                              <a:latin typeface="Cambria Math" panose="02040503050406030204" pitchFamily="18" charset="0"/>
                            </a:rPr>
                            <m:t>s</m:t>
                          </m:r>
                        </m:sub>
                      </m:sSub>
                      <m:r>
                        <a:rPr kumimoji="1" lang="en-US" altLang="zh-CN" sz="2200" b="0" i="1" smtClean="0">
                          <a:latin typeface="Cambria Math" panose="02040503050406030204" pitchFamily="18" charset="0"/>
                        </a:rPr>
                        <m:t>−</m:t>
                      </m:r>
                      <m:sSub>
                        <m:sSubPr>
                          <m:ctrlPr>
                            <a:rPr kumimoji="1" lang="en-US" altLang="zh-CN" sz="2200" i="1">
                              <a:latin typeface="Cambria Math" panose="02040503050406030204" pitchFamily="18" charset="0"/>
                            </a:rPr>
                          </m:ctrlPr>
                        </m:sSubPr>
                        <m:e>
                          <m:r>
                            <a:rPr kumimoji="1" lang="en-US" altLang="zh-CN" sz="2200" b="0" i="1" smtClean="0">
                              <a:latin typeface="Cambria Math" panose="02040503050406030204" pitchFamily="18" charset="0"/>
                            </a:rPr>
                            <m:t>𝑡</m:t>
                          </m:r>
                        </m:e>
                        <m:sub>
                          <m:r>
                            <a:rPr kumimoji="1" lang="en-US" altLang="zh-CN" sz="2200" b="0" i="1" smtClean="0">
                              <a:latin typeface="Cambria Math" panose="02040503050406030204" pitchFamily="18" charset="0"/>
                            </a:rPr>
                            <m:t>𝑝</m:t>
                          </m:r>
                        </m:sub>
                      </m:sSub>
                      <m:r>
                        <a:rPr kumimoji="1" lang="en-US" altLang="zh-CN" sz="2200" i="1">
                          <a:latin typeface="Cambria Math" panose="02040503050406030204" pitchFamily="18" charset="0"/>
                        </a:rPr>
                        <m:t>=</m:t>
                      </m:r>
                      <m:sSup>
                        <m:sSupPr>
                          <m:ctrlPr>
                            <a:rPr kumimoji="1" lang="en-US" altLang="zh-CN" sz="2200" i="1">
                              <a:latin typeface="Cambria Math" panose="02040503050406030204" pitchFamily="18" charset="0"/>
                            </a:rPr>
                          </m:ctrlPr>
                        </m:sSupPr>
                        <m:e>
                          <m:r>
                            <a:rPr kumimoji="1" lang="en-US" altLang="zh-CN" sz="2200" i="1">
                              <a:latin typeface="Cambria Math" panose="02040503050406030204" pitchFamily="18" charset="0"/>
                            </a:rPr>
                            <m:t>𝑡</m:t>
                          </m:r>
                        </m:e>
                        <m:sup>
                          <m:r>
                            <a:rPr kumimoji="1" lang="en-US" altLang="zh-CN" sz="2200" i="1">
                              <a:latin typeface="Cambria Math" panose="02040503050406030204" pitchFamily="18" charset="0"/>
                            </a:rPr>
                            <m:t>′</m:t>
                          </m:r>
                        </m:sup>
                      </m:sSup>
                      <m:r>
                        <a:rPr kumimoji="1" lang="en-US" altLang="zh-CN" sz="2200" i="1">
                          <a:latin typeface="Cambria Math" panose="02040503050406030204" pitchFamily="18" charset="0"/>
                        </a:rPr>
                        <m:t>−</m:t>
                      </m:r>
                      <m:r>
                        <a:rPr kumimoji="1" lang="en-US" altLang="zh-CN" sz="2200" b="0" i="1" smtClean="0">
                          <a:latin typeface="Cambria Math" panose="02040503050406030204" pitchFamily="18" charset="0"/>
                        </a:rPr>
                        <m:t>(</m:t>
                      </m:r>
                      <m:r>
                        <a:rPr kumimoji="1" lang="en-US" altLang="zh-CN" sz="2200" i="1">
                          <a:latin typeface="Cambria Math" panose="02040503050406030204" pitchFamily="18" charset="0"/>
                        </a:rPr>
                        <m:t>𝑡</m:t>
                      </m:r>
                      <m:r>
                        <a:rPr kumimoji="1" lang="en-US" altLang="zh-CN" sz="2200" i="1">
                          <a:latin typeface="Cambria Math" panose="02040503050406030204" pitchFamily="18" charset="0"/>
                        </a:rPr>
                        <m:t>+</m:t>
                      </m:r>
                      <m:sSub>
                        <m:sSubPr>
                          <m:ctrlPr>
                            <a:rPr kumimoji="1" lang="en-US" altLang="zh-CN" sz="2200" i="1">
                              <a:latin typeface="Cambria Math" panose="02040503050406030204" pitchFamily="18" charset="0"/>
                            </a:rPr>
                          </m:ctrlPr>
                        </m:sSubPr>
                        <m:e>
                          <m:r>
                            <a:rPr kumimoji="1" lang="en-US" altLang="zh-CN" sz="2200" i="1">
                              <a:latin typeface="Cambria Math" panose="02040503050406030204" pitchFamily="18" charset="0"/>
                            </a:rPr>
                            <m:t>𝑇</m:t>
                          </m:r>
                        </m:e>
                        <m:sub>
                          <m:r>
                            <a:rPr kumimoji="1" lang="en-US" altLang="zh-CN" sz="2200" i="1">
                              <a:latin typeface="Cambria Math" panose="02040503050406030204" pitchFamily="18" charset="0"/>
                            </a:rPr>
                            <m:t>𝑟𝑜𝑢𝑛𝑑</m:t>
                          </m:r>
                        </m:sub>
                      </m:sSub>
                      <m:r>
                        <m:rPr>
                          <m:nor/>
                        </m:rPr>
                        <a:rPr lang="en-US" altLang="zh-CN" sz="2200" dirty="0">
                          <a:solidFill>
                            <a:schemeClr val="tx1">
                              <a:lumMod val="75000"/>
                              <a:lumOff val="25000"/>
                            </a:schemeClr>
                          </a:solidFill>
                          <a:latin typeface="Comic Sans MS" panose="030F0702030302020204" pitchFamily="66" charset="0"/>
                          <a:ea typeface="微软雅黑" pitchFamily="34" charset="-122"/>
                        </a:rPr>
                        <m:t>/2</m:t>
                      </m:r>
                      <m:r>
                        <m:rPr>
                          <m:nor/>
                        </m:rPr>
                        <a:rPr lang="en-US" altLang="zh-CN" sz="2200" b="0" i="0" dirty="0" smtClean="0">
                          <a:solidFill>
                            <a:schemeClr val="tx1">
                              <a:lumMod val="75000"/>
                              <a:lumOff val="25000"/>
                            </a:schemeClr>
                          </a:solidFill>
                          <a:latin typeface="Comic Sans MS" panose="030F0702030302020204" pitchFamily="66" charset="0"/>
                          <a:ea typeface="微软雅黑" pitchFamily="34" charset="-122"/>
                        </a:rPr>
                        <m:t>)</m:t>
                      </m:r>
                    </m:oMath>
                  </m:oMathPara>
                </a14:m>
                <a:endParaRPr lang="en-US" altLang="zh-CN" sz="2200" dirty="0">
                  <a:solidFill>
                    <a:schemeClr val="tx1">
                      <a:lumMod val="75000"/>
                      <a:lumOff val="25000"/>
                    </a:schemeClr>
                  </a:solidFill>
                  <a:latin typeface="Comic Sans MS" panose="030F0702030302020204" pitchFamily="66" charset="0"/>
                  <a:ea typeface="微软雅黑" pitchFamily="34" charset="-122"/>
                </a:endParaRPr>
              </a:p>
              <a:p>
                <a:pPr marL="342900" indent="-342900">
                  <a:lnSpc>
                    <a:spcPct val="120000"/>
                  </a:lnSpc>
                  <a:buFont typeface="Arial" panose="020B0604020202020204" pitchFamily="34" charset="0"/>
                  <a:buChar char="•"/>
                </a:pPr>
                <a:endParaRPr lang="en-US" altLang="zh-CN" sz="1100" dirty="0">
                  <a:solidFill>
                    <a:schemeClr val="tx1">
                      <a:lumMod val="75000"/>
                      <a:lumOff val="25000"/>
                    </a:schemeClr>
                  </a:solidFill>
                  <a:latin typeface="Comic Sans MS" panose="030F0702030302020204" pitchFamily="66" charset="0"/>
                  <a:ea typeface="微软雅黑" pitchFamily="34" charset="-122"/>
                </a:endParaRPr>
              </a:p>
              <a:p>
                <a:pPr marL="342900" indent="-342900">
                  <a:lnSpc>
                    <a:spcPct val="120000"/>
                  </a:lnSpc>
                  <a:buFont typeface="Arial" panose="020B0604020202020204" pitchFamily="34" charset="0"/>
                  <a:buChar char="•"/>
                </a:pPr>
                <a:r>
                  <a:rPr lang="zh-CN" altLang="en-US" sz="2200" dirty="0">
                    <a:solidFill>
                      <a:schemeClr val="tx1">
                        <a:lumMod val="75000"/>
                        <a:lumOff val="25000"/>
                      </a:schemeClr>
                    </a:solidFill>
                    <a:latin typeface="Comic Sans MS" panose="030F0702030302020204" pitchFamily="66" charset="0"/>
                    <a:ea typeface="微软雅黑" pitchFamily="34" charset="-122"/>
                  </a:rPr>
                  <a:t>所以 </a:t>
                </a:r>
                <a:r>
                  <a:rPr lang="en-US" altLang="zh-CN" sz="2200" dirty="0">
                    <a:solidFill>
                      <a:schemeClr val="tx1">
                        <a:lumMod val="75000"/>
                        <a:lumOff val="25000"/>
                      </a:schemeClr>
                    </a:solidFill>
                    <a:latin typeface="Comic Sans MS" panose="030F0702030302020204" pitchFamily="66" charset="0"/>
                    <a:ea typeface="微软雅黑" pitchFamily="34" charset="-122"/>
                  </a:rPr>
                  <a:t>P</a:t>
                </a:r>
                <a:r>
                  <a:rPr lang="zh-CN" altLang="en-US" sz="2200" dirty="0">
                    <a:solidFill>
                      <a:schemeClr val="tx1">
                        <a:lumMod val="75000"/>
                        <a:lumOff val="25000"/>
                      </a:schemeClr>
                    </a:solidFill>
                    <a:latin typeface="Comic Sans MS" panose="030F0702030302020204" pitchFamily="66" charset="0"/>
                    <a:ea typeface="微软雅黑" pitchFamily="34" charset="-122"/>
                  </a:rPr>
                  <a:t> 在收到消息後將時鐘設置爲：</a:t>
                </a:r>
                <a:endParaRPr lang="en-US" altLang="zh-CN" sz="2200" dirty="0">
                  <a:solidFill>
                    <a:schemeClr val="tx1">
                      <a:lumMod val="75000"/>
                      <a:lumOff val="25000"/>
                    </a:schemeClr>
                  </a:solidFill>
                  <a:latin typeface="Comic Sans MS" panose="030F0702030302020204" pitchFamily="66" charset="0"/>
                  <a:ea typeface="微软雅黑" pitchFamily="34" charset="-122"/>
                </a:endParaRPr>
              </a:p>
              <a:p>
                <a:pPr>
                  <a:lnSpc>
                    <a:spcPct val="120000"/>
                  </a:lnSpc>
                </a:pPr>
                <a14:m>
                  <m:oMathPara xmlns:m="http://schemas.openxmlformats.org/officeDocument/2006/math">
                    <m:oMathParaPr>
                      <m:jc m:val="centerGroup"/>
                    </m:oMathParaPr>
                    <m:oMath xmlns:m="http://schemas.openxmlformats.org/officeDocument/2006/math">
                      <m:sSup>
                        <m:sSupPr>
                          <m:ctrlPr>
                            <a:rPr kumimoji="1" lang="en-US" altLang="zh-CN" sz="2200" b="0" i="1" smtClean="0">
                              <a:latin typeface="Cambria Math" panose="02040503050406030204" pitchFamily="18" charset="0"/>
                            </a:rPr>
                          </m:ctrlPr>
                        </m:sSupPr>
                        <m:e>
                          <m:r>
                            <a:rPr kumimoji="1" lang="en-US" altLang="zh-CN" sz="2200" b="0" i="1" smtClean="0">
                              <a:latin typeface="Cambria Math" panose="02040503050406030204" pitchFamily="18" charset="0"/>
                            </a:rPr>
                            <m:t>𝑡</m:t>
                          </m:r>
                        </m:e>
                        <m:sup>
                          <m:r>
                            <a:rPr kumimoji="1" lang="en-US" altLang="zh-CN" sz="2200" b="0" i="1" smtClean="0">
                              <a:latin typeface="Cambria Math" panose="02040503050406030204" pitchFamily="18" charset="0"/>
                            </a:rPr>
                            <m:t>′</m:t>
                          </m:r>
                        </m:sup>
                      </m:sSup>
                      <m:r>
                        <a:rPr kumimoji="1" lang="en-US" altLang="zh-CN" sz="2200" b="0" i="1" smtClean="0">
                          <a:latin typeface="Cambria Math" panose="02040503050406030204" pitchFamily="18" charset="0"/>
                        </a:rPr>
                        <m:t>+</m:t>
                      </m:r>
                      <m:r>
                        <a:rPr kumimoji="1" lang="en-US" altLang="zh-CN" sz="2200" i="1">
                          <a:latin typeface="Cambria Math" panose="02040503050406030204" pitchFamily="18" charset="0"/>
                        </a:rPr>
                        <m:t>(</m:t>
                      </m:r>
                      <m:sSup>
                        <m:sSupPr>
                          <m:ctrlPr>
                            <a:rPr kumimoji="1" lang="en-US" altLang="zh-CN" sz="2200" b="0" i="1" smtClean="0">
                              <a:latin typeface="Cambria Math" panose="02040503050406030204" pitchFamily="18" charset="0"/>
                            </a:rPr>
                          </m:ctrlPr>
                        </m:sSupPr>
                        <m:e>
                          <m:r>
                            <a:rPr kumimoji="1" lang="en-US" altLang="zh-CN" sz="2200" i="1">
                              <a:latin typeface="Cambria Math" panose="02040503050406030204" pitchFamily="18" charset="0"/>
                            </a:rPr>
                            <m:t>𝑡</m:t>
                          </m:r>
                        </m:e>
                        <m:sup>
                          <m:r>
                            <a:rPr kumimoji="1" lang="en-US" altLang="zh-CN" sz="2200" b="0" i="1" smtClean="0">
                              <a:latin typeface="Cambria Math" panose="02040503050406030204" pitchFamily="18" charset="0"/>
                            </a:rPr>
                            <m:t>′′</m:t>
                          </m:r>
                        </m:sup>
                      </m:sSup>
                      <m:r>
                        <a:rPr kumimoji="1" lang="en-US" altLang="zh-CN" sz="2200" b="0" i="1" smtClean="0">
                          <a:latin typeface="Cambria Math" panose="02040503050406030204" pitchFamily="18" charset="0"/>
                        </a:rPr>
                        <m:t>−</m:t>
                      </m:r>
                      <m:r>
                        <a:rPr kumimoji="1" lang="en-US" altLang="zh-CN" sz="2200" b="0" i="1" smtClean="0">
                          <a:latin typeface="Cambria Math" panose="02040503050406030204" pitchFamily="18" charset="0"/>
                        </a:rPr>
                        <m:t>𝑡</m:t>
                      </m:r>
                      <m:r>
                        <m:rPr>
                          <m:nor/>
                        </m:rPr>
                        <a:rPr lang="en-US" altLang="zh-CN" sz="2200" dirty="0">
                          <a:solidFill>
                            <a:schemeClr val="tx1">
                              <a:lumMod val="75000"/>
                              <a:lumOff val="25000"/>
                            </a:schemeClr>
                          </a:solidFill>
                          <a:latin typeface="Comic Sans MS" panose="030F0702030302020204" pitchFamily="66" charset="0"/>
                          <a:ea typeface="微软雅黑" pitchFamily="34" charset="-122"/>
                        </a:rPr>
                        <m:t>)</m:t>
                      </m:r>
                      <m:r>
                        <m:rPr>
                          <m:nor/>
                        </m:rPr>
                        <a:rPr lang="en-US" altLang="zh-CN" sz="2200" b="0" i="0" dirty="0" smtClean="0">
                          <a:solidFill>
                            <a:schemeClr val="tx1">
                              <a:lumMod val="75000"/>
                              <a:lumOff val="25000"/>
                            </a:schemeClr>
                          </a:solidFill>
                          <a:latin typeface="Comic Sans MS" panose="030F0702030302020204" pitchFamily="66" charset="0"/>
                          <a:ea typeface="微软雅黑" pitchFamily="34" charset="-122"/>
                        </a:rPr>
                        <m:t>/2</m:t>
                      </m:r>
                    </m:oMath>
                  </m:oMathPara>
                </a14:m>
                <a:endParaRPr lang="en-US" altLang="zh-CN" sz="2200" dirty="0">
                  <a:solidFill>
                    <a:schemeClr val="tx1">
                      <a:lumMod val="75000"/>
                      <a:lumOff val="25000"/>
                    </a:schemeClr>
                  </a:solidFill>
                  <a:latin typeface="Comic Sans MS" panose="030F0702030302020204" pitchFamily="66" charset="0"/>
                  <a:ea typeface="微软雅黑" pitchFamily="34" charset="-122"/>
                </a:endParaRPr>
              </a:p>
            </p:txBody>
          </p:sp>
        </mc:Choice>
        <mc:Fallback>
          <p:sp>
            <p:nvSpPr>
              <p:cNvPr id="37" name="矩形 36">
                <a:extLst>
                  <a:ext uri="{FF2B5EF4-FFF2-40B4-BE49-F238E27FC236}">
                    <a16:creationId xmlns:a16="http://schemas.microsoft.com/office/drawing/2014/main" id="{D1E9C413-78C0-0D49-9D4A-82E774D5CC61}"/>
                  </a:ext>
                </a:extLst>
              </p:cNvPr>
              <p:cNvSpPr>
                <a:spLocks noRot="1" noChangeAspect="1" noMove="1" noResize="1" noEditPoints="1" noAdjustHandles="1" noChangeArrowheads="1" noChangeShapeType="1" noTextEdit="1"/>
              </p:cNvSpPr>
              <p:nvPr/>
            </p:nvSpPr>
            <p:spPr>
              <a:xfrm>
                <a:off x="1093276" y="2086008"/>
                <a:ext cx="4964624" cy="4287840"/>
              </a:xfrm>
              <a:prstGeom prst="rect">
                <a:avLst/>
              </a:prstGeom>
              <a:blipFill>
                <a:blip r:embed="rId2"/>
                <a:stretch>
                  <a:fillRect l="-1224" r="-2693"/>
                </a:stretch>
              </a:blipFill>
              <a:ln>
                <a:solidFill>
                  <a:srgbClr val="00B0F0"/>
                </a:solidFill>
              </a:ln>
            </p:spPr>
            <p:txBody>
              <a:bodyPr/>
              <a:lstStyle/>
              <a:p>
                <a:r>
                  <a:rPr lang="fr-FR">
                    <a:noFill/>
                  </a:rPr>
                  <a:t> </a:t>
                </a:r>
              </a:p>
            </p:txBody>
          </p:sp>
        </mc:Fallback>
      </mc:AlternateContent>
      <p:pic>
        <p:nvPicPr>
          <p:cNvPr id="24" name="图片 23">
            <a:extLst>
              <a:ext uri="{FF2B5EF4-FFF2-40B4-BE49-F238E27FC236}">
                <a16:creationId xmlns:a16="http://schemas.microsoft.com/office/drawing/2014/main" id="{6EBD2A32-C4B2-4F48-8D2A-CF6DFC08DFBA}"/>
              </a:ext>
            </a:extLst>
          </p:cNvPr>
          <p:cNvPicPr>
            <a:picLocks noChangeAspect="1"/>
          </p:cNvPicPr>
          <p:nvPr/>
        </p:nvPicPr>
        <p:blipFill>
          <a:blip r:embed="rId3"/>
          <a:stretch>
            <a:fillRect/>
          </a:stretch>
        </p:blipFill>
        <p:spPr>
          <a:xfrm>
            <a:off x="6912131" y="2124320"/>
            <a:ext cx="617576" cy="840954"/>
          </a:xfrm>
          <a:prstGeom prst="rect">
            <a:avLst/>
          </a:prstGeom>
        </p:spPr>
      </p:pic>
      <p:pic>
        <p:nvPicPr>
          <p:cNvPr id="25" name="图片 24">
            <a:extLst>
              <a:ext uri="{FF2B5EF4-FFF2-40B4-BE49-F238E27FC236}">
                <a16:creationId xmlns:a16="http://schemas.microsoft.com/office/drawing/2014/main" id="{D3616EA5-165C-C64B-A272-2A35BCE3B278}"/>
              </a:ext>
            </a:extLst>
          </p:cNvPr>
          <p:cNvPicPr>
            <a:picLocks noChangeAspect="1"/>
          </p:cNvPicPr>
          <p:nvPr/>
        </p:nvPicPr>
        <p:blipFill>
          <a:blip r:embed="rId3"/>
          <a:stretch>
            <a:fillRect/>
          </a:stretch>
        </p:blipFill>
        <p:spPr>
          <a:xfrm>
            <a:off x="10452956" y="2183954"/>
            <a:ext cx="617576" cy="840954"/>
          </a:xfrm>
          <a:prstGeom prst="rect">
            <a:avLst/>
          </a:prstGeom>
        </p:spPr>
      </p:pic>
      <p:sp>
        <p:nvSpPr>
          <p:cNvPr id="26" name="矩形 25">
            <a:extLst>
              <a:ext uri="{FF2B5EF4-FFF2-40B4-BE49-F238E27FC236}">
                <a16:creationId xmlns:a16="http://schemas.microsoft.com/office/drawing/2014/main" id="{790CE622-918B-B348-936D-26069A94FEC4}"/>
              </a:ext>
            </a:extLst>
          </p:cNvPr>
          <p:cNvSpPr/>
          <p:nvPr/>
        </p:nvSpPr>
        <p:spPr>
          <a:xfrm>
            <a:off x="10028405" y="3064664"/>
            <a:ext cx="1568058" cy="369332"/>
          </a:xfrm>
          <a:prstGeom prst="rect">
            <a:avLst/>
          </a:prstGeom>
        </p:spPr>
        <p:txBody>
          <a:bodyPr wrap="none">
            <a:spAutoFit/>
          </a:bodyPr>
          <a:lstStyle/>
          <a:p>
            <a:r>
              <a:rPr lang="zh-CN" altLang="en-US" dirty="0">
                <a:solidFill>
                  <a:schemeClr val="tx1">
                    <a:lumMod val="75000"/>
                    <a:lumOff val="25000"/>
                  </a:schemeClr>
                </a:solidFill>
                <a:latin typeface="Comic Sans MS" panose="030F0702030302020204" pitchFamily="66" charset="0"/>
                <a:ea typeface="微软雅黑" pitchFamily="34" charset="-122"/>
              </a:rPr>
              <a:t>時間服務器</a:t>
            </a:r>
            <a:r>
              <a:rPr lang="en-US" altLang="zh-CN" dirty="0">
                <a:solidFill>
                  <a:schemeClr val="tx1">
                    <a:lumMod val="75000"/>
                    <a:lumOff val="25000"/>
                  </a:schemeClr>
                </a:solidFill>
                <a:latin typeface="Comic Sans MS" panose="030F0702030302020204" pitchFamily="66" charset="0"/>
                <a:ea typeface="微软雅黑" pitchFamily="34" charset="-122"/>
              </a:rPr>
              <a:t> S</a:t>
            </a:r>
            <a:endParaRPr lang="zh-CN" altLang="en-US" dirty="0"/>
          </a:p>
        </p:txBody>
      </p:sp>
      <p:sp>
        <p:nvSpPr>
          <p:cNvPr id="27" name="矩形 26">
            <a:extLst>
              <a:ext uri="{FF2B5EF4-FFF2-40B4-BE49-F238E27FC236}">
                <a16:creationId xmlns:a16="http://schemas.microsoft.com/office/drawing/2014/main" id="{95BD3857-7940-584D-9780-F3391B2AD55E}"/>
              </a:ext>
            </a:extLst>
          </p:cNvPr>
          <p:cNvSpPr/>
          <p:nvPr/>
        </p:nvSpPr>
        <p:spPr>
          <a:xfrm>
            <a:off x="6381733" y="3005030"/>
            <a:ext cx="1762021" cy="369332"/>
          </a:xfrm>
          <a:prstGeom prst="rect">
            <a:avLst/>
          </a:prstGeom>
        </p:spPr>
        <p:txBody>
          <a:bodyPr wrap="none">
            <a:spAutoFit/>
          </a:bodyPr>
          <a:lstStyle/>
          <a:p>
            <a:r>
              <a:rPr lang="zh-CN" altLang="en-US" dirty="0">
                <a:solidFill>
                  <a:schemeClr val="tx1">
                    <a:lumMod val="75000"/>
                    <a:lumOff val="25000"/>
                  </a:schemeClr>
                </a:solidFill>
                <a:latin typeface="Comic Sans MS" panose="030F0702030302020204" pitchFamily="66" charset="0"/>
                <a:ea typeface="微软雅黑" pitchFamily="34" charset="-122"/>
              </a:rPr>
              <a:t>待同步服務器</a:t>
            </a:r>
            <a:r>
              <a:rPr lang="en-US" altLang="zh-CN" dirty="0">
                <a:solidFill>
                  <a:schemeClr val="tx1">
                    <a:lumMod val="75000"/>
                    <a:lumOff val="25000"/>
                  </a:schemeClr>
                </a:solidFill>
                <a:latin typeface="Comic Sans MS" panose="030F0702030302020204" pitchFamily="66" charset="0"/>
                <a:ea typeface="微软雅黑" pitchFamily="34" charset="-122"/>
              </a:rPr>
              <a:t> p</a:t>
            </a:r>
            <a:endParaRPr lang="zh-CN" altLang="en-US" dirty="0"/>
          </a:p>
        </p:txBody>
      </p:sp>
      <p:cxnSp>
        <p:nvCxnSpPr>
          <p:cNvPr id="28" name="直接连接符 66">
            <a:extLst>
              <a:ext uri="{FF2B5EF4-FFF2-40B4-BE49-F238E27FC236}">
                <a16:creationId xmlns:a16="http://schemas.microsoft.com/office/drawing/2014/main" id="{EED7DFBF-8B4E-2F47-A3A3-FB06D0E47F60}"/>
              </a:ext>
            </a:extLst>
          </p:cNvPr>
          <p:cNvCxnSpPr>
            <a:cxnSpLocks/>
          </p:cNvCxnSpPr>
          <p:nvPr/>
        </p:nvCxnSpPr>
        <p:spPr>
          <a:xfrm>
            <a:off x="7220919" y="3612898"/>
            <a:ext cx="0" cy="2643146"/>
          </a:xfrm>
          <a:prstGeom prst="line">
            <a:avLst/>
          </a:prstGeom>
          <a:noFill/>
          <a:ln w="12700" cap="flat" cmpd="sng" algn="ctr">
            <a:solidFill>
              <a:srgbClr val="000000"/>
            </a:solidFill>
            <a:prstDash val="solid"/>
            <a:miter lim="800000"/>
          </a:ln>
          <a:effectLst/>
        </p:spPr>
      </p:cxnSp>
      <p:cxnSp>
        <p:nvCxnSpPr>
          <p:cNvPr id="32" name="直接连接符 66">
            <a:extLst>
              <a:ext uri="{FF2B5EF4-FFF2-40B4-BE49-F238E27FC236}">
                <a16:creationId xmlns:a16="http://schemas.microsoft.com/office/drawing/2014/main" id="{E78AA67A-A0E1-C443-A334-922C7E5A02C7}"/>
              </a:ext>
            </a:extLst>
          </p:cNvPr>
          <p:cNvCxnSpPr>
            <a:cxnSpLocks/>
          </p:cNvCxnSpPr>
          <p:nvPr/>
        </p:nvCxnSpPr>
        <p:spPr>
          <a:xfrm>
            <a:off x="10740350" y="3594600"/>
            <a:ext cx="0" cy="2661444"/>
          </a:xfrm>
          <a:prstGeom prst="line">
            <a:avLst/>
          </a:prstGeom>
          <a:noFill/>
          <a:ln w="12700" cap="flat" cmpd="sng" algn="ctr">
            <a:solidFill>
              <a:srgbClr val="000000"/>
            </a:solidFill>
            <a:prstDash val="solid"/>
            <a:miter lim="800000"/>
          </a:ln>
          <a:effectLst/>
        </p:spPr>
      </p:cxnSp>
      <p:cxnSp>
        <p:nvCxnSpPr>
          <p:cNvPr id="38" name="直线箭头连接符 37">
            <a:extLst>
              <a:ext uri="{FF2B5EF4-FFF2-40B4-BE49-F238E27FC236}">
                <a16:creationId xmlns:a16="http://schemas.microsoft.com/office/drawing/2014/main" id="{FDE105DB-34DE-B94A-80B0-840CDB93725E}"/>
              </a:ext>
            </a:extLst>
          </p:cNvPr>
          <p:cNvCxnSpPr>
            <a:cxnSpLocks/>
          </p:cNvCxnSpPr>
          <p:nvPr/>
        </p:nvCxnSpPr>
        <p:spPr>
          <a:xfrm>
            <a:off x="7220919" y="4044597"/>
            <a:ext cx="3540824" cy="661243"/>
          </a:xfrm>
          <a:prstGeom prst="straightConnector1">
            <a:avLst/>
          </a:prstGeom>
          <a:ln>
            <a:headEnd w="lg" len="lg"/>
            <a:tailEnd type="triangle" w="med" len="lg"/>
          </a:ln>
        </p:spPr>
        <p:style>
          <a:lnRef idx="1">
            <a:schemeClr val="accent1"/>
          </a:lnRef>
          <a:fillRef idx="0">
            <a:schemeClr val="accent1"/>
          </a:fillRef>
          <a:effectRef idx="0">
            <a:schemeClr val="accent1"/>
          </a:effectRef>
          <a:fontRef idx="minor">
            <a:schemeClr val="tx1"/>
          </a:fontRef>
        </p:style>
      </p:cxnSp>
      <p:cxnSp>
        <p:nvCxnSpPr>
          <p:cNvPr id="41" name="直线箭头连接符 40">
            <a:extLst>
              <a:ext uri="{FF2B5EF4-FFF2-40B4-BE49-F238E27FC236}">
                <a16:creationId xmlns:a16="http://schemas.microsoft.com/office/drawing/2014/main" id="{2E9A8F96-41F3-BC42-9378-A665F576882E}"/>
              </a:ext>
            </a:extLst>
          </p:cNvPr>
          <p:cNvCxnSpPr>
            <a:cxnSpLocks/>
          </p:cNvCxnSpPr>
          <p:nvPr/>
        </p:nvCxnSpPr>
        <p:spPr>
          <a:xfrm flipH="1">
            <a:off x="7199526" y="5116799"/>
            <a:ext cx="3540824" cy="553609"/>
          </a:xfrm>
          <a:prstGeom prst="straightConnector1">
            <a:avLst/>
          </a:prstGeom>
          <a:ln>
            <a:headEnd w="lg" len="lg"/>
            <a:tailEnd type="triangle" w="med" len="lg"/>
          </a:ln>
        </p:spPr>
        <p:style>
          <a:lnRef idx="1">
            <a:schemeClr val="accent1"/>
          </a:lnRef>
          <a:fillRef idx="0">
            <a:schemeClr val="accent1"/>
          </a:fillRef>
          <a:effectRef idx="0">
            <a:schemeClr val="accent1"/>
          </a:effectRef>
          <a:fontRef idx="minor">
            <a:schemeClr val="tx1"/>
          </a:fontRef>
        </p:style>
      </p:cxnSp>
      <p:sp>
        <p:nvSpPr>
          <p:cNvPr id="42" name="矩形 41">
            <a:extLst>
              <a:ext uri="{FF2B5EF4-FFF2-40B4-BE49-F238E27FC236}">
                <a16:creationId xmlns:a16="http://schemas.microsoft.com/office/drawing/2014/main" id="{E0096F6E-2646-F944-BF69-199F36DED601}"/>
              </a:ext>
            </a:extLst>
          </p:cNvPr>
          <p:cNvSpPr/>
          <p:nvPr/>
        </p:nvSpPr>
        <p:spPr>
          <a:xfrm>
            <a:off x="6884618" y="3750643"/>
            <a:ext cx="255198" cy="400110"/>
          </a:xfrm>
          <a:prstGeom prst="rect">
            <a:avLst/>
          </a:prstGeom>
        </p:spPr>
        <p:txBody>
          <a:bodyPr wrap="none">
            <a:spAutoFit/>
          </a:bodyPr>
          <a:lstStyle/>
          <a:p>
            <a:r>
              <a:rPr lang="en-US" altLang="zh-CN" sz="2000" dirty="0">
                <a:solidFill>
                  <a:schemeClr val="tx1">
                    <a:lumMod val="75000"/>
                    <a:lumOff val="25000"/>
                  </a:schemeClr>
                </a:solidFill>
                <a:latin typeface="Times New Roman" panose="02020603050405020304" pitchFamily="18" charset="0"/>
                <a:ea typeface="微软雅黑" pitchFamily="34" charset="-122"/>
                <a:cs typeface="Times New Roman" panose="02020603050405020304" pitchFamily="18" charset="0"/>
              </a:rPr>
              <a:t>t</a:t>
            </a:r>
            <a:endParaRPr lang="zh-CN" altLang="en-US" sz="2000" dirty="0">
              <a:latin typeface="Times New Roman" panose="02020603050405020304" pitchFamily="18" charset="0"/>
              <a:cs typeface="Times New Roman" panose="02020603050405020304" pitchFamily="18" charset="0"/>
            </a:endParaRPr>
          </a:p>
        </p:txBody>
      </p:sp>
      <p:sp>
        <p:nvSpPr>
          <p:cNvPr id="43" name="矩形 42">
            <a:extLst>
              <a:ext uri="{FF2B5EF4-FFF2-40B4-BE49-F238E27FC236}">
                <a16:creationId xmlns:a16="http://schemas.microsoft.com/office/drawing/2014/main" id="{0DCD77E4-12F8-CB42-9A0A-536B2140924E}"/>
              </a:ext>
            </a:extLst>
          </p:cNvPr>
          <p:cNvSpPr/>
          <p:nvPr/>
        </p:nvSpPr>
        <p:spPr>
          <a:xfrm>
            <a:off x="8597313" y="3950558"/>
            <a:ext cx="415703" cy="29502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zh-CN" altLang="en-US"/>
          </a:p>
        </p:txBody>
      </p:sp>
      <p:sp>
        <p:nvSpPr>
          <p:cNvPr id="44" name="矩形 43">
            <a:extLst>
              <a:ext uri="{FF2B5EF4-FFF2-40B4-BE49-F238E27FC236}">
                <a16:creationId xmlns:a16="http://schemas.microsoft.com/office/drawing/2014/main" id="{38D7C32A-ED39-1F49-86C1-4825D618376C}"/>
              </a:ext>
            </a:extLst>
          </p:cNvPr>
          <p:cNvSpPr/>
          <p:nvPr/>
        </p:nvSpPr>
        <p:spPr>
          <a:xfrm>
            <a:off x="8034472" y="3521493"/>
            <a:ext cx="1541384" cy="400110"/>
          </a:xfrm>
          <a:prstGeom prst="rect">
            <a:avLst/>
          </a:prstGeom>
        </p:spPr>
        <p:txBody>
          <a:bodyPr wrap="none">
            <a:spAutoFit/>
          </a:bodyPr>
          <a:lstStyle/>
          <a:p>
            <a:r>
              <a:rPr lang="en-US" altLang="zh-CN" sz="2000" dirty="0">
                <a:solidFill>
                  <a:schemeClr val="tx1">
                    <a:lumMod val="75000"/>
                    <a:lumOff val="25000"/>
                  </a:schemeClr>
                </a:solidFill>
                <a:latin typeface="Times New Roman" panose="02020603050405020304" pitchFamily="18" charset="0"/>
                <a:ea typeface="微软雅黑" pitchFamily="34" charset="-122"/>
                <a:cs typeface="Times New Roman" panose="02020603050405020304" pitchFamily="18" charset="0"/>
              </a:rPr>
              <a:t>Timestamp=t</a:t>
            </a:r>
            <a:endParaRPr lang="zh-CN" altLang="en-US" sz="2000" dirty="0">
              <a:latin typeface="Times New Roman" panose="02020603050405020304" pitchFamily="18" charset="0"/>
              <a:cs typeface="Times New Roman" panose="02020603050405020304" pitchFamily="18" charset="0"/>
            </a:endParaRPr>
          </a:p>
        </p:txBody>
      </p:sp>
      <p:sp>
        <p:nvSpPr>
          <p:cNvPr id="45" name="矩形 44">
            <a:extLst>
              <a:ext uri="{FF2B5EF4-FFF2-40B4-BE49-F238E27FC236}">
                <a16:creationId xmlns:a16="http://schemas.microsoft.com/office/drawing/2014/main" id="{42E97559-8F0B-AE44-99C4-F4DCEF1D46E7}"/>
              </a:ext>
            </a:extLst>
          </p:cNvPr>
          <p:cNvSpPr/>
          <p:nvPr/>
        </p:nvSpPr>
        <p:spPr>
          <a:xfrm>
            <a:off x="10807531" y="4879494"/>
            <a:ext cx="340158" cy="400110"/>
          </a:xfrm>
          <a:prstGeom prst="rect">
            <a:avLst/>
          </a:prstGeom>
        </p:spPr>
        <p:txBody>
          <a:bodyPr wrap="none">
            <a:spAutoFit/>
          </a:bodyPr>
          <a:lstStyle/>
          <a:p>
            <a:r>
              <a:rPr lang="en-US" altLang="zh-CN" sz="2000" dirty="0">
                <a:solidFill>
                  <a:schemeClr val="tx1">
                    <a:lumMod val="75000"/>
                    <a:lumOff val="25000"/>
                  </a:schemeClr>
                </a:solidFill>
                <a:latin typeface="Times New Roman" panose="02020603050405020304" pitchFamily="18" charset="0"/>
                <a:ea typeface="微软雅黑" pitchFamily="34" charset="-122"/>
                <a:cs typeface="Times New Roman" panose="02020603050405020304" pitchFamily="18" charset="0"/>
              </a:rPr>
              <a:t>t’</a:t>
            </a:r>
            <a:endParaRPr lang="zh-CN" altLang="en-US" sz="2000" dirty="0">
              <a:latin typeface="Times New Roman" panose="02020603050405020304" pitchFamily="18" charset="0"/>
              <a:cs typeface="Times New Roman" panose="02020603050405020304" pitchFamily="18" charset="0"/>
            </a:endParaRPr>
          </a:p>
        </p:txBody>
      </p:sp>
      <p:sp>
        <p:nvSpPr>
          <p:cNvPr id="46" name="矩形 45">
            <a:extLst>
              <a:ext uri="{FF2B5EF4-FFF2-40B4-BE49-F238E27FC236}">
                <a16:creationId xmlns:a16="http://schemas.microsoft.com/office/drawing/2014/main" id="{6BB74E69-1CAD-9F48-B9DF-1101B08AFFB6}"/>
              </a:ext>
            </a:extLst>
          </p:cNvPr>
          <p:cNvSpPr/>
          <p:nvPr/>
        </p:nvSpPr>
        <p:spPr>
          <a:xfrm>
            <a:off x="8597313" y="5021418"/>
            <a:ext cx="415703" cy="29502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zh-CN" altLang="en-US"/>
          </a:p>
        </p:txBody>
      </p:sp>
      <p:sp>
        <p:nvSpPr>
          <p:cNvPr id="47" name="矩形 46">
            <a:extLst>
              <a:ext uri="{FF2B5EF4-FFF2-40B4-BE49-F238E27FC236}">
                <a16:creationId xmlns:a16="http://schemas.microsoft.com/office/drawing/2014/main" id="{5336CB5C-ED21-7944-9FBC-646EC72E33C4}"/>
              </a:ext>
            </a:extLst>
          </p:cNvPr>
          <p:cNvSpPr/>
          <p:nvPr/>
        </p:nvSpPr>
        <p:spPr>
          <a:xfrm>
            <a:off x="8034472" y="4592353"/>
            <a:ext cx="1626343" cy="400110"/>
          </a:xfrm>
          <a:prstGeom prst="rect">
            <a:avLst/>
          </a:prstGeom>
        </p:spPr>
        <p:txBody>
          <a:bodyPr wrap="none">
            <a:spAutoFit/>
          </a:bodyPr>
          <a:lstStyle/>
          <a:p>
            <a:r>
              <a:rPr lang="en-US" altLang="zh-CN" sz="2000" dirty="0">
                <a:solidFill>
                  <a:schemeClr val="tx1">
                    <a:lumMod val="75000"/>
                    <a:lumOff val="25000"/>
                  </a:schemeClr>
                </a:solidFill>
                <a:latin typeface="Times New Roman" panose="02020603050405020304" pitchFamily="18" charset="0"/>
                <a:ea typeface="微软雅黑" pitchFamily="34" charset="-122"/>
                <a:cs typeface="Times New Roman" panose="02020603050405020304" pitchFamily="18" charset="0"/>
              </a:rPr>
              <a:t>Timestamp=t’</a:t>
            </a:r>
            <a:endParaRPr lang="zh-CN" altLang="en-US" sz="2000" dirty="0">
              <a:latin typeface="Times New Roman" panose="02020603050405020304" pitchFamily="18" charset="0"/>
              <a:cs typeface="Times New Roman" panose="02020603050405020304" pitchFamily="18" charset="0"/>
            </a:endParaRPr>
          </a:p>
        </p:txBody>
      </p:sp>
      <p:sp>
        <p:nvSpPr>
          <p:cNvPr id="48" name="矩形 47">
            <a:extLst>
              <a:ext uri="{FF2B5EF4-FFF2-40B4-BE49-F238E27FC236}">
                <a16:creationId xmlns:a16="http://schemas.microsoft.com/office/drawing/2014/main" id="{223DAAEF-5711-174A-A573-C89805106CD4}"/>
              </a:ext>
            </a:extLst>
          </p:cNvPr>
          <p:cNvSpPr/>
          <p:nvPr/>
        </p:nvSpPr>
        <p:spPr>
          <a:xfrm>
            <a:off x="6863216" y="5470353"/>
            <a:ext cx="406073" cy="400110"/>
          </a:xfrm>
          <a:prstGeom prst="rect">
            <a:avLst/>
          </a:prstGeom>
        </p:spPr>
        <p:txBody>
          <a:bodyPr wrap="none">
            <a:spAutoFit/>
          </a:bodyPr>
          <a:lstStyle/>
          <a:p>
            <a:r>
              <a:rPr lang="en-US" altLang="zh-CN" sz="2000" dirty="0">
                <a:solidFill>
                  <a:schemeClr val="tx1">
                    <a:lumMod val="75000"/>
                    <a:lumOff val="25000"/>
                  </a:schemeClr>
                </a:solidFill>
                <a:latin typeface="Times New Roman" panose="02020603050405020304" pitchFamily="18" charset="0"/>
                <a:ea typeface="微软雅黑" pitchFamily="34" charset="-122"/>
                <a:cs typeface="Times New Roman" panose="02020603050405020304" pitchFamily="18" charset="0"/>
              </a:rPr>
              <a:t>t’’</a:t>
            </a:r>
            <a:endParaRPr lang="zh-CN" altLang="en-US" sz="2000" dirty="0">
              <a:latin typeface="Times New Roman" panose="02020603050405020304" pitchFamily="18" charset="0"/>
              <a:cs typeface="Times New Roman" panose="02020603050405020304" pitchFamily="18" charset="0"/>
            </a:endParaRPr>
          </a:p>
        </p:txBody>
      </p:sp>
      <p:sp>
        <p:nvSpPr>
          <p:cNvPr id="22" name="灯片编号占位符 2">
            <a:extLst>
              <a:ext uri="{FF2B5EF4-FFF2-40B4-BE49-F238E27FC236}">
                <a16:creationId xmlns:a16="http://schemas.microsoft.com/office/drawing/2014/main" id="{F7F6F7DE-8680-F34C-B176-AB1487318194}"/>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47</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4119831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en-US" altLang="zh-CN" dirty="0"/>
              <a:t>Berkeley</a:t>
            </a:r>
            <a:r>
              <a:rPr kumimoji="1" lang="zh-CN" altLang="en-US" dirty="0"/>
              <a:t>算法</a:t>
            </a:r>
          </a:p>
        </p:txBody>
      </p:sp>
      <p:sp>
        <p:nvSpPr>
          <p:cNvPr id="10" name="矩形 9">
            <a:extLst>
              <a:ext uri="{FF2B5EF4-FFF2-40B4-BE49-F238E27FC236}">
                <a16:creationId xmlns:a16="http://schemas.microsoft.com/office/drawing/2014/main" id="{00E31EBB-34FA-5948-B55E-A3079422BE57}"/>
              </a:ext>
            </a:extLst>
          </p:cNvPr>
          <p:cNvSpPr/>
          <p:nvPr/>
        </p:nvSpPr>
        <p:spPr>
          <a:xfrm>
            <a:off x="838200" y="814220"/>
            <a:ext cx="10269347" cy="585097"/>
          </a:xfrm>
          <a:prstGeom prst="rect">
            <a:avLst/>
          </a:prstGeom>
        </p:spPr>
        <p:txBody>
          <a:bodyPr wrap="square">
            <a:spAutoFit/>
          </a:bodyPr>
          <a:lstStyle/>
          <a:p>
            <a:pPr marL="0" lvl="1" algn="ctr" fontAlgn="base">
              <a:lnSpc>
                <a:spcPct val="150000"/>
              </a:lnSpc>
              <a:spcBef>
                <a:spcPct val="20000"/>
              </a:spcBef>
              <a:spcAft>
                <a:spcPct val="0"/>
              </a:spcAft>
              <a:buSzPct val="60000"/>
            </a:pPr>
            <a:r>
              <a:rPr lang="zh-CN" altLang="en-US" sz="2400" b="1" dirty="0">
                <a:solidFill>
                  <a:srgbClr val="C00000"/>
                </a:solidFill>
                <a:latin typeface="Comic Sans MS" panose="030F0702030302020204" pitchFamily="66" charset="0"/>
                <a:ea typeface="微软雅黑" pitchFamily="34" charset="-122"/>
              </a:rPr>
              <a:t>主要用于分布式集群服務器內部完成時鐘同步</a:t>
            </a:r>
            <a:endParaRPr lang="en-US" altLang="zh-CN" sz="2400" b="1" dirty="0">
              <a:solidFill>
                <a:srgbClr val="C00000"/>
              </a:solidFill>
              <a:latin typeface="Comic Sans MS" panose="030F0702030302020204" pitchFamily="66" charset="0"/>
              <a:ea typeface="微软雅黑" pitchFamily="34" charset="-122"/>
            </a:endParaRPr>
          </a:p>
        </p:txBody>
      </p:sp>
      <mc:AlternateContent xmlns:mc="http://schemas.openxmlformats.org/markup-compatibility/2006">
        <mc:Choice xmlns:a14="http://schemas.microsoft.com/office/drawing/2010/main" Requires="a14">
          <p:sp>
            <p:nvSpPr>
              <p:cNvPr id="36" name="矩形 35">
                <a:extLst>
                  <a:ext uri="{FF2B5EF4-FFF2-40B4-BE49-F238E27FC236}">
                    <a16:creationId xmlns:a16="http://schemas.microsoft.com/office/drawing/2014/main" id="{48C23C05-61AD-AE4F-846B-B9B9DAF87099}"/>
                  </a:ext>
                </a:extLst>
              </p:cNvPr>
              <p:cNvSpPr/>
              <p:nvPr/>
            </p:nvSpPr>
            <p:spPr>
              <a:xfrm>
                <a:off x="503754" y="1626114"/>
                <a:ext cx="5416298" cy="4774127"/>
              </a:xfrm>
              <a:prstGeom prst="rect">
                <a:avLst/>
              </a:prstGeom>
              <a:ln>
                <a:solidFill>
                  <a:srgbClr val="00B0F0"/>
                </a:solidFill>
              </a:ln>
            </p:spPr>
            <p:txBody>
              <a:bodyPr wrap="square">
                <a:spAutoFit/>
              </a:bodyPr>
              <a:lstStyle/>
              <a:p>
                <a:pPr>
                  <a:lnSpc>
                    <a:spcPct val="130000"/>
                  </a:lnSpc>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以服務器</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 k </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爲例說明</a:t>
                </a:r>
                <a:r>
                  <a:rPr kumimoji="1" lang="en-US" altLang="zh-CN" sz="2400" dirty="0">
                    <a:latin typeface="Microsoft YaHei" panose="020B0503020204020204" pitchFamily="34" charset="-122"/>
                    <a:ea typeface="Microsoft YaHei" panose="020B0503020204020204" pitchFamily="34" charset="-122"/>
                  </a:rPr>
                  <a:t>Berkeley</a:t>
                </a:r>
                <a:r>
                  <a:rPr kumimoji="1" lang="zh-CN" altLang="en-US" sz="2400" dirty="0">
                    <a:latin typeface="Microsoft YaHei" panose="020B0503020204020204" pitchFamily="34" charset="-122"/>
                    <a:ea typeface="Microsoft YaHei" panose="020B0503020204020204" pitchFamily="34" charset="-122"/>
                  </a:rPr>
                  <a:t>算法的具體流程：</a:t>
                </a:r>
                <a:endParaRPr kumimoji="1" lang="en-US" altLang="zh-CN" sz="2400" dirty="0">
                  <a:latin typeface="Microsoft YaHei" panose="020B0503020204020204" pitchFamily="34" charset="-122"/>
                  <a:ea typeface="Microsoft YaHei" panose="020B0503020204020204" pitchFamily="34" charset="-122"/>
                </a:endParaRPr>
              </a:p>
              <a:p>
                <a:pPr marL="342900" indent="-342900">
                  <a:lnSpc>
                    <a:spcPct val="130000"/>
                  </a:lnSpc>
                  <a:buFont typeface="Arial" panose="020B0604020202020204" pitchFamily="34" charset="0"/>
                  <a:buChar char="•"/>
                </a:pPr>
                <a:r>
                  <a:rPr kumimoji="1"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服務器</a:t>
                </a:r>
                <a:r>
                  <a:rPr kumimoji="1"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 k </a:t>
                </a:r>
                <a:r>
                  <a:rPr kumimoji="1"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與所有其它服務器間分別運行一次</a:t>
                </a:r>
                <a:r>
                  <a:rPr kumimoji="1" lang="en-US" altLang="zh-CN" sz="2400" dirty="0">
                    <a:latin typeface="Microsoft YaHei" panose="020B0503020204020204" pitchFamily="34" charset="-122"/>
                    <a:ea typeface="Microsoft YaHei" panose="020B0503020204020204" pitchFamily="34" charset="-122"/>
                  </a:rPr>
                  <a:t>Cristian</a:t>
                </a:r>
                <a:r>
                  <a:rPr kumimoji="1" lang="zh-CN" altLang="en-US" sz="2400" dirty="0">
                    <a:latin typeface="Microsoft YaHei" panose="020B0503020204020204" pitchFamily="34" charset="-122"/>
                    <a:ea typeface="Microsoft YaHei" panose="020B0503020204020204" pitchFamily="34" charset="-122"/>
                  </a:rPr>
                  <a:t>算法，得到：</a:t>
                </a:r>
                <a:endParaRPr kumimoji="1" lang="en-US" altLang="zh-CN" sz="2400" dirty="0">
                  <a:latin typeface="Microsoft YaHei" panose="020B0503020204020204" pitchFamily="34" charset="-122"/>
                  <a:ea typeface="Microsoft YaHei" panose="020B0503020204020204" pitchFamily="34" charset="-122"/>
                </a:endParaRPr>
              </a:p>
              <a:p>
                <a:pPr algn="ctr">
                  <a:lnSpc>
                    <a:spcPct val="130000"/>
                  </a:lnSpc>
                </a:pPr>
                <a14:m>
                  <m:oMath xmlns:m="http://schemas.openxmlformats.org/officeDocument/2006/math">
                    <m:sSub>
                      <m:sSubPr>
                        <m:ctrlPr>
                          <a:rPr kumimoji="1" lang="en-US" altLang="zh-CN" sz="2400" i="1" smtClean="0">
                            <a:latin typeface="Cambria Math" panose="02040503050406030204" pitchFamily="18" charset="0"/>
                          </a:rPr>
                        </m:ctrlPr>
                      </m:sSubPr>
                      <m:e>
                        <m:r>
                          <a:rPr kumimoji="1" lang="en-US" altLang="zh-CN" sz="2400" b="0" i="1" smtClean="0">
                            <a:latin typeface="Cambria Math" panose="02040503050406030204" pitchFamily="18" charset="0"/>
                          </a:rPr>
                          <m:t>𝑡</m:t>
                        </m:r>
                      </m:e>
                      <m:sub>
                        <m:r>
                          <a:rPr kumimoji="1" lang="en-US" altLang="zh-CN" sz="2400" b="0" i="1" smtClean="0">
                            <a:latin typeface="Cambria Math" panose="02040503050406030204" pitchFamily="18" charset="0"/>
                          </a:rPr>
                          <m:t>0</m:t>
                        </m:r>
                      </m:sub>
                    </m:sSub>
                  </m:oMath>
                </a14:m>
                <a:r>
                  <a:rPr kumimoji="1" lang="en-US" altLang="zh-CN" sz="2400" dirty="0">
                    <a:latin typeface="Microsoft YaHei" panose="020B0503020204020204" pitchFamily="34" charset="-122"/>
                    <a:ea typeface="Microsoft YaHei" panose="020B0503020204020204" pitchFamily="34" charset="-122"/>
                  </a:rPr>
                  <a:t>, </a:t>
                </a:r>
                <a14:m>
                  <m:oMath xmlns:m="http://schemas.openxmlformats.org/officeDocument/2006/math">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𝑡</m:t>
                        </m:r>
                      </m:e>
                      <m:sub>
                        <m:r>
                          <a:rPr kumimoji="1" lang="en-US" altLang="zh-CN" sz="2400" b="0" i="1" smtClean="0">
                            <a:latin typeface="Cambria Math" panose="02040503050406030204" pitchFamily="18" charset="0"/>
                          </a:rPr>
                          <m:t>1</m:t>
                        </m:r>
                      </m:sub>
                    </m:sSub>
                  </m:oMath>
                </a14:m>
                <a:r>
                  <a:rPr kumimoji="1" lang="en-US" altLang="zh-CN" sz="2400" dirty="0">
                    <a:latin typeface="Microsoft YaHei" panose="020B0503020204020204" pitchFamily="34" charset="-122"/>
                    <a:ea typeface="Microsoft YaHei" panose="020B0503020204020204" pitchFamily="34" charset="-122"/>
                  </a:rPr>
                  <a:t>,…, </a:t>
                </a:r>
                <a14:m>
                  <m:oMath xmlns:m="http://schemas.openxmlformats.org/officeDocument/2006/math">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𝑡</m:t>
                        </m:r>
                      </m:e>
                      <m:sub>
                        <m:r>
                          <a:rPr kumimoji="1" lang="en-US" altLang="zh-CN" sz="2400" b="0" i="1" smtClean="0">
                            <a:latin typeface="Cambria Math" panose="02040503050406030204" pitchFamily="18" charset="0"/>
                          </a:rPr>
                          <m:t>𝑛</m:t>
                        </m:r>
                        <m:r>
                          <a:rPr kumimoji="1" lang="en-US" altLang="zh-CN" sz="2400" b="0" i="1" smtClean="0">
                            <a:latin typeface="Cambria Math" panose="02040503050406030204" pitchFamily="18" charset="0"/>
                          </a:rPr>
                          <m:t>−1</m:t>
                        </m:r>
                      </m:sub>
                    </m:sSub>
                  </m:oMath>
                </a14:m>
                <a:endParaRPr kumimoji="1"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a:p>
                <a:pPr marL="342900" indent="-342900">
                  <a:lnSpc>
                    <a:spcPct val="130000"/>
                  </a:lnSpc>
                  <a:buFont typeface="Arial" panose="020B0604020202020204" pitchFamily="34" charset="0"/>
                  <a:buChar char="•"/>
                </a:pPr>
                <a:r>
                  <a:rPr kumimoji="1"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服務器</a:t>
                </a:r>
                <a:r>
                  <a:rPr kumimoji="1"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k</a:t>
                </a:r>
                <a:r>
                  <a:rPr kumimoji="1"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根據同步到的時間求平均值</a:t>
                </a:r>
                <a:endParaRPr kumimoji="1"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a:p>
                <a:pPr>
                  <a:lnSpc>
                    <a:spcPct val="130000"/>
                  </a:lnSpc>
                </a:pPr>
                <a14:m>
                  <m:oMathPara xmlns:m="http://schemas.openxmlformats.org/officeDocument/2006/math">
                    <m:oMathParaPr>
                      <m:jc m:val="centerGroup"/>
                    </m:oMathParaPr>
                    <m:oMath xmlns:m="http://schemas.openxmlformats.org/officeDocument/2006/math">
                      <m:r>
                        <a:rPr kumimoji="1" lang="en-US" altLang="zh-CN" sz="2400" b="0" i="1" smtClean="0">
                          <a:latin typeface="Cambria Math" panose="02040503050406030204" pitchFamily="18" charset="0"/>
                        </a:rPr>
                        <m:t>𝑡</m:t>
                      </m:r>
                      <m:r>
                        <a:rPr kumimoji="1" lang="en-US" altLang="zh-CN" sz="2400" b="0" i="1" smtClean="0">
                          <a:latin typeface="Cambria Math" panose="02040503050406030204" pitchFamily="18" charset="0"/>
                        </a:rPr>
                        <m:t>=</m:t>
                      </m:r>
                      <m:nary>
                        <m:naryPr>
                          <m:chr m:val="∑"/>
                          <m:limLoc m:val="subSup"/>
                          <m:supHide m:val="on"/>
                          <m:ctrlPr>
                            <a:rPr kumimoji="1" lang="en-US" altLang="zh-CN" sz="2400" b="0" i="1" smtClean="0">
                              <a:latin typeface="Cambria Math" panose="02040503050406030204" pitchFamily="18" charset="0"/>
                            </a:rPr>
                          </m:ctrlPr>
                        </m:naryPr>
                        <m:sub>
                          <m:r>
                            <m:rPr>
                              <m:brk m:alnAt="9"/>
                            </m:rPr>
                            <a:rPr kumimoji="1" lang="en-US" altLang="zh-CN" sz="2400" b="0" i="1" smtClean="0">
                              <a:latin typeface="Cambria Math" panose="02040503050406030204" pitchFamily="18" charset="0"/>
                            </a:rPr>
                            <m:t>𝑖</m:t>
                          </m:r>
                        </m:sub>
                        <m:sup/>
                        <m:e>
                          <m:sSub>
                            <m:sSubPr>
                              <m:ctrlPr>
                                <a:rPr kumimoji="1" lang="en-US" altLang="zh-CN" sz="2400" i="1">
                                  <a:latin typeface="Cambria Math" panose="02040503050406030204" pitchFamily="18" charset="0"/>
                                </a:rPr>
                              </m:ctrlPr>
                            </m:sSubPr>
                            <m:e>
                              <m:r>
                                <a:rPr kumimoji="1" lang="en-US" altLang="zh-CN" sz="2400" i="1">
                                  <a:latin typeface="Cambria Math" panose="02040503050406030204" pitchFamily="18" charset="0"/>
                                </a:rPr>
                                <m:t>𝑡</m:t>
                              </m:r>
                            </m:e>
                            <m:sub>
                              <m:r>
                                <a:rPr kumimoji="1" lang="en-US" altLang="zh-CN" sz="2400" b="0" i="1" smtClean="0">
                                  <a:latin typeface="Cambria Math" panose="02040503050406030204" pitchFamily="18" charset="0"/>
                                </a:rPr>
                                <m:t>𝑖</m:t>
                              </m:r>
                            </m:sub>
                          </m:sSub>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𝑛</m:t>
                          </m:r>
                        </m:e>
                      </m:nary>
                    </m:oMath>
                  </m:oMathPara>
                </a14:m>
                <a:endParaRPr kumimoji="1" lang="en-US" altLang="zh-CN" sz="2400" dirty="0">
                  <a:latin typeface="Microsoft YaHei" panose="020B0503020204020204" pitchFamily="34" charset="-122"/>
                  <a:ea typeface="Microsoft YaHei" panose="020B0503020204020204" pitchFamily="34" charset="-122"/>
                </a:endParaRPr>
              </a:p>
              <a:p>
                <a:pPr marL="342900" indent="-342900" algn="just">
                  <a:lnSpc>
                    <a:spcPct val="130000"/>
                  </a:lnSpc>
                  <a:buFont typeface="Arial" panose="020B0604020202020204" pitchFamily="34" charset="0"/>
                  <a:buChar char="•"/>
                </a:pPr>
                <a:r>
                  <a:rPr kumimoji="1"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服務器</a:t>
                </a:r>
                <a:r>
                  <a:rPr kumimoji="1"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k</a:t>
                </a:r>
                <a:r>
                  <a:rPr kumimoji="1"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根據得到的平均值給各個服務器發送時鐘偏移值</a:t>
                </a:r>
                <a:r>
                  <a:rPr kumimoji="1"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a:t>
                </a:r>
                <a:r>
                  <a:rPr kumimoji="1"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暨</a:t>
                </a:r>
                <a14:m>
                  <m:oMath xmlns:m="http://schemas.openxmlformats.org/officeDocument/2006/math">
                    <m:r>
                      <m:rPr>
                        <m:sty m:val="p"/>
                      </m:rPr>
                      <a:rPr kumimoji="1" lang="en-US" altLang="zh-CN" sz="2400" b="0" i="0" smtClean="0">
                        <a:latin typeface="Cambria Math" panose="02040503050406030204" pitchFamily="18" charset="0"/>
                      </a:rPr>
                      <m:t>t</m:t>
                    </m:r>
                    <m:r>
                      <a:rPr kumimoji="1" lang="en-US" altLang="zh-CN" sz="2400" b="0" i="0" smtClean="0">
                        <a:latin typeface="Cambria Math" panose="02040503050406030204" pitchFamily="18" charset="0"/>
                      </a:rPr>
                      <m:t>−</m:t>
                    </m:r>
                    <m:sSub>
                      <m:sSubPr>
                        <m:ctrlPr>
                          <a:rPr kumimoji="1" lang="en-US" altLang="zh-CN" sz="2400" i="1" smtClean="0">
                            <a:latin typeface="Cambria Math" panose="02040503050406030204" pitchFamily="18" charset="0"/>
                          </a:rPr>
                        </m:ctrlPr>
                      </m:sSubPr>
                      <m:e>
                        <m:r>
                          <a:rPr kumimoji="1" lang="en-US" altLang="zh-CN" sz="2400" b="0" i="1" smtClean="0">
                            <a:latin typeface="Cambria Math" panose="02040503050406030204" pitchFamily="18" charset="0"/>
                          </a:rPr>
                          <m:t>𝑡</m:t>
                        </m:r>
                      </m:e>
                      <m:sub>
                        <m:r>
                          <a:rPr kumimoji="1" lang="en-US" altLang="zh-CN" sz="2400" b="0" i="1" smtClean="0">
                            <a:latin typeface="Cambria Math" panose="02040503050406030204" pitchFamily="18" charset="0"/>
                          </a:rPr>
                          <m:t>0</m:t>
                        </m:r>
                      </m:sub>
                    </m:sSub>
                  </m:oMath>
                </a14:m>
                <a:r>
                  <a:rPr kumimoji="1"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a:t>
                </a:r>
              </a:p>
            </p:txBody>
          </p:sp>
        </mc:Choice>
        <mc:Fallback>
          <p:sp>
            <p:nvSpPr>
              <p:cNvPr id="36" name="矩形 35">
                <a:extLst>
                  <a:ext uri="{FF2B5EF4-FFF2-40B4-BE49-F238E27FC236}">
                    <a16:creationId xmlns:a16="http://schemas.microsoft.com/office/drawing/2014/main" id="{48C23C05-61AD-AE4F-846B-B9B9DAF87099}"/>
                  </a:ext>
                </a:extLst>
              </p:cNvPr>
              <p:cNvSpPr>
                <a:spLocks noRot="1" noChangeAspect="1" noMove="1" noResize="1" noEditPoints="1" noAdjustHandles="1" noChangeArrowheads="1" noChangeShapeType="1" noTextEdit="1"/>
              </p:cNvSpPr>
              <p:nvPr/>
            </p:nvSpPr>
            <p:spPr>
              <a:xfrm>
                <a:off x="503754" y="1626114"/>
                <a:ext cx="5416298" cy="4774127"/>
              </a:xfrm>
              <a:prstGeom prst="rect">
                <a:avLst/>
              </a:prstGeom>
              <a:blipFill>
                <a:blip r:embed="rId2"/>
                <a:stretch>
                  <a:fillRect l="-1685" r="-1573" b="-1911"/>
                </a:stretch>
              </a:blipFill>
              <a:ln>
                <a:solidFill>
                  <a:srgbClr val="00B0F0"/>
                </a:solidFill>
              </a:ln>
            </p:spPr>
            <p:txBody>
              <a:bodyPr/>
              <a:lstStyle/>
              <a:p>
                <a:r>
                  <a:rPr lang="fr-FR">
                    <a:noFill/>
                  </a:rPr>
                  <a:t> </a:t>
                </a:r>
              </a:p>
            </p:txBody>
          </p:sp>
        </mc:Fallback>
      </mc:AlternateContent>
      <p:grpSp>
        <p:nvGrpSpPr>
          <p:cNvPr id="27" name="组合 26">
            <a:extLst>
              <a:ext uri="{FF2B5EF4-FFF2-40B4-BE49-F238E27FC236}">
                <a16:creationId xmlns:a16="http://schemas.microsoft.com/office/drawing/2014/main" id="{D60DE62A-75EB-2B49-8128-CD5EDB106AB0}"/>
              </a:ext>
            </a:extLst>
          </p:cNvPr>
          <p:cNvGrpSpPr/>
          <p:nvPr/>
        </p:nvGrpSpPr>
        <p:grpSpPr>
          <a:xfrm>
            <a:off x="6211155" y="4818569"/>
            <a:ext cx="1106393" cy="1250042"/>
            <a:chOff x="9501463" y="2440060"/>
            <a:chExt cx="1106393" cy="1250042"/>
          </a:xfrm>
        </p:grpSpPr>
        <p:pic>
          <p:nvPicPr>
            <p:cNvPr id="28" name="图片 27">
              <a:extLst>
                <a:ext uri="{FF2B5EF4-FFF2-40B4-BE49-F238E27FC236}">
                  <a16:creationId xmlns:a16="http://schemas.microsoft.com/office/drawing/2014/main" id="{AB788D88-8F46-5948-89DD-B47EF525B1FA}"/>
                </a:ext>
              </a:extLst>
            </p:cNvPr>
            <p:cNvPicPr>
              <a:picLocks noChangeAspect="1"/>
            </p:cNvPicPr>
            <p:nvPr/>
          </p:nvPicPr>
          <p:blipFill>
            <a:blip r:embed="rId3"/>
            <a:stretch>
              <a:fillRect/>
            </a:stretch>
          </p:blipFill>
          <p:spPr>
            <a:xfrm>
              <a:off x="9709037" y="2440060"/>
              <a:ext cx="617576" cy="840954"/>
            </a:xfrm>
            <a:prstGeom prst="rect">
              <a:avLst/>
            </a:prstGeom>
          </p:spPr>
        </p:pic>
        <p:sp>
          <p:nvSpPr>
            <p:cNvPr id="30" name="矩形 29">
              <a:extLst>
                <a:ext uri="{FF2B5EF4-FFF2-40B4-BE49-F238E27FC236}">
                  <a16:creationId xmlns:a16="http://schemas.microsoft.com/office/drawing/2014/main" id="{4CC1487A-009F-7849-B264-38FE73277890}"/>
                </a:ext>
              </a:extLst>
            </p:cNvPr>
            <p:cNvSpPr/>
            <p:nvPr/>
          </p:nvSpPr>
          <p:spPr>
            <a:xfrm>
              <a:off x="9501463" y="3320770"/>
              <a:ext cx="1106393" cy="369332"/>
            </a:xfrm>
            <a:prstGeom prst="rect">
              <a:avLst/>
            </a:prstGeom>
          </p:spPr>
          <p:txBody>
            <a:bodyPr wrap="none">
              <a:spAutoFit/>
            </a:bodyPr>
            <a:lstStyle/>
            <a:p>
              <a:r>
                <a:rPr lang="zh-CN" altLang="en-US" dirty="0">
                  <a:solidFill>
                    <a:schemeClr val="tx1">
                      <a:lumMod val="75000"/>
                      <a:lumOff val="25000"/>
                    </a:schemeClr>
                  </a:solidFill>
                  <a:latin typeface="Comic Sans MS" panose="030F0702030302020204" pitchFamily="66" charset="0"/>
                  <a:ea typeface="微软雅黑" pitchFamily="34" charset="-122"/>
                </a:rPr>
                <a:t>服務器</a:t>
              </a:r>
              <a:r>
                <a:rPr lang="en-US" altLang="zh-CN" dirty="0">
                  <a:solidFill>
                    <a:schemeClr val="tx1">
                      <a:lumMod val="75000"/>
                      <a:lumOff val="25000"/>
                    </a:schemeClr>
                  </a:solidFill>
                  <a:latin typeface="Comic Sans MS" panose="030F0702030302020204" pitchFamily="66" charset="0"/>
                  <a:ea typeface="微软雅黑" pitchFamily="34" charset="-122"/>
                </a:rPr>
                <a:t> 0</a:t>
              </a:r>
              <a:endParaRPr lang="zh-CN" altLang="en-US" dirty="0"/>
            </a:p>
          </p:txBody>
        </p:sp>
      </p:grpSp>
      <p:grpSp>
        <p:nvGrpSpPr>
          <p:cNvPr id="31" name="组合 30">
            <a:extLst>
              <a:ext uri="{FF2B5EF4-FFF2-40B4-BE49-F238E27FC236}">
                <a16:creationId xmlns:a16="http://schemas.microsoft.com/office/drawing/2014/main" id="{5B98A4A1-03CD-7241-A969-BC076028DAEE}"/>
              </a:ext>
            </a:extLst>
          </p:cNvPr>
          <p:cNvGrpSpPr/>
          <p:nvPr/>
        </p:nvGrpSpPr>
        <p:grpSpPr>
          <a:xfrm>
            <a:off x="8007843" y="2339008"/>
            <a:ext cx="1071127" cy="1250042"/>
            <a:chOff x="6986167" y="2440060"/>
            <a:chExt cx="1071127" cy="1250042"/>
          </a:xfrm>
        </p:grpSpPr>
        <p:pic>
          <p:nvPicPr>
            <p:cNvPr id="32" name="图片 31">
              <a:extLst>
                <a:ext uri="{FF2B5EF4-FFF2-40B4-BE49-F238E27FC236}">
                  <a16:creationId xmlns:a16="http://schemas.microsoft.com/office/drawing/2014/main" id="{5A6D3860-59AA-6246-A8D0-585671BD347F}"/>
                </a:ext>
              </a:extLst>
            </p:cNvPr>
            <p:cNvPicPr>
              <a:picLocks noChangeAspect="1"/>
            </p:cNvPicPr>
            <p:nvPr/>
          </p:nvPicPr>
          <p:blipFill>
            <a:blip r:embed="rId3"/>
            <a:stretch>
              <a:fillRect/>
            </a:stretch>
          </p:blipFill>
          <p:spPr>
            <a:xfrm>
              <a:off x="7206599" y="2440060"/>
              <a:ext cx="617576" cy="840954"/>
            </a:xfrm>
            <a:prstGeom prst="rect">
              <a:avLst/>
            </a:prstGeom>
          </p:spPr>
        </p:pic>
        <p:sp>
          <p:nvSpPr>
            <p:cNvPr id="38" name="矩形 37">
              <a:extLst>
                <a:ext uri="{FF2B5EF4-FFF2-40B4-BE49-F238E27FC236}">
                  <a16:creationId xmlns:a16="http://schemas.microsoft.com/office/drawing/2014/main" id="{A806F738-E8A9-F942-B747-B054F695E548}"/>
                </a:ext>
              </a:extLst>
            </p:cNvPr>
            <p:cNvSpPr/>
            <p:nvPr/>
          </p:nvSpPr>
          <p:spPr>
            <a:xfrm>
              <a:off x="6986167" y="3320770"/>
              <a:ext cx="1071127" cy="369332"/>
            </a:xfrm>
            <a:prstGeom prst="rect">
              <a:avLst/>
            </a:prstGeom>
          </p:spPr>
          <p:txBody>
            <a:bodyPr wrap="none">
              <a:spAutoFit/>
            </a:bodyPr>
            <a:lstStyle/>
            <a:p>
              <a:r>
                <a:rPr lang="zh-CN" altLang="en-US" dirty="0">
                  <a:solidFill>
                    <a:schemeClr val="tx1">
                      <a:lumMod val="75000"/>
                      <a:lumOff val="25000"/>
                    </a:schemeClr>
                  </a:solidFill>
                  <a:latin typeface="Comic Sans MS" panose="030F0702030302020204" pitchFamily="66" charset="0"/>
                  <a:ea typeface="微软雅黑" pitchFamily="34" charset="-122"/>
                </a:rPr>
                <a:t>服務器</a:t>
              </a:r>
              <a:r>
                <a:rPr lang="en-US" altLang="zh-CN" dirty="0">
                  <a:solidFill>
                    <a:schemeClr val="tx1">
                      <a:lumMod val="75000"/>
                      <a:lumOff val="25000"/>
                    </a:schemeClr>
                  </a:solidFill>
                  <a:latin typeface="Comic Sans MS" panose="030F0702030302020204" pitchFamily="66" charset="0"/>
                  <a:ea typeface="微软雅黑" pitchFamily="34" charset="-122"/>
                </a:rPr>
                <a:t> k</a:t>
              </a:r>
              <a:endParaRPr lang="zh-CN" altLang="en-US" dirty="0"/>
            </a:p>
          </p:txBody>
        </p:sp>
      </p:grpSp>
      <p:sp>
        <p:nvSpPr>
          <p:cNvPr id="39" name="矩形 38">
            <a:extLst>
              <a:ext uri="{FF2B5EF4-FFF2-40B4-BE49-F238E27FC236}">
                <a16:creationId xmlns:a16="http://schemas.microsoft.com/office/drawing/2014/main" id="{35A7D920-17AB-2045-BDD5-2AD60BEC2532}"/>
              </a:ext>
            </a:extLst>
          </p:cNvPr>
          <p:cNvSpPr/>
          <p:nvPr/>
        </p:nvSpPr>
        <p:spPr>
          <a:xfrm>
            <a:off x="9443048" y="5097846"/>
            <a:ext cx="513282" cy="369332"/>
          </a:xfrm>
          <a:prstGeom prst="rect">
            <a:avLst/>
          </a:prstGeom>
        </p:spPr>
        <p:txBody>
          <a:bodyPr wrap="none">
            <a:spAutoFit/>
          </a:bodyPr>
          <a:lstStyle/>
          <a:p>
            <a:r>
              <a:rPr lang="en-US" altLang="zh-CN" dirty="0">
                <a:solidFill>
                  <a:schemeClr val="tx1">
                    <a:lumMod val="75000"/>
                    <a:lumOff val="25000"/>
                  </a:schemeClr>
                </a:solidFill>
                <a:latin typeface="Comic Sans MS" panose="030F0702030302020204" pitchFamily="66" charset="0"/>
                <a:ea typeface="微软雅黑" pitchFamily="34" charset="-122"/>
              </a:rPr>
              <a:t>……</a:t>
            </a:r>
            <a:endParaRPr lang="zh-CN" altLang="en-US" dirty="0"/>
          </a:p>
        </p:txBody>
      </p:sp>
      <p:grpSp>
        <p:nvGrpSpPr>
          <p:cNvPr id="40" name="组合 39">
            <a:extLst>
              <a:ext uri="{FF2B5EF4-FFF2-40B4-BE49-F238E27FC236}">
                <a16:creationId xmlns:a16="http://schemas.microsoft.com/office/drawing/2014/main" id="{40580698-69F2-CD4A-886A-79FB980378ED}"/>
              </a:ext>
            </a:extLst>
          </p:cNvPr>
          <p:cNvGrpSpPr/>
          <p:nvPr/>
        </p:nvGrpSpPr>
        <p:grpSpPr>
          <a:xfrm>
            <a:off x="8007843" y="4818569"/>
            <a:ext cx="1050288" cy="1250042"/>
            <a:chOff x="9532460" y="3904451"/>
            <a:chExt cx="1050288" cy="1250042"/>
          </a:xfrm>
        </p:grpSpPr>
        <p:pic>
          <p:nvPicPr>
            <p:cNvPr id="41" name="图片 40">
              <a:extLst>
                <a:ext uri="{FF2B5EF4-FFF2-40B4-BE49-F238E27FC236}">
                  <a16:creationId xmlns:a16="http://schemas.microsoft.com/office/drawing/2014/main" id="{581C203A-1290-464E-9894-AC3134A1F478}"/>
                </a:ext>
              </a:extLst>
            </p:cNvPr>
            <p:cNvPicPr>
              <a:picLocks noChangeAspect="1"/>
            </p:cNvPicPr>
            <p:nvPr/>
          </p:nvPicPr>
          <p:blipFill>
            <a:blip r:embed="rId3"/>
            <a:stretch>
              <a:fillRect/>
            </a:stretch>
          </p:blipFill>
          <p:spPr>
            <a:xfrm>
              <a:off x="9740034" y="3904451"/>
              <a:ext cx="617576" cy="840954"/>
            </a:xfrm>
            <a:prstGeom prst="rect">
              <a:avLst/>
            </a:prstGeom>
          </p:spPr>
        </p:pic>
        <p:sp>
          <p:nvSpPr>
            <p:cNvPr id="42" name="矩形 41">
              <a:extLst>
                <a:ext uri="{FF2B5EF4-FFF2-40B4-BE49-F238E27FC236}">
                  <a16:creationId xmlns:a16="http://schemas.microsoft.com/office/drawing/2014/main" id="{8C6FDF13-F88B-AB44-B9AC-EDA1DB438D64}"/>
                </a:ext>
              </a:extLst>
            </p:cNvPr>
            <p:cNvSpPr/>
            <p:nvPr/>
          </p:nvSpPr>
          <p:spPr>
            <a:xfrm>
              <a:off x="9532460" y="4785161"/>
              <a:ext cx="1050288" cy="369332"/>
            </a:xfrm>
            <a:prstGeom prst="rect">
              <a:avLst/>
            </a:prstGeom>
          </p:spPr>
          <p:txBody>
            <a:bodyPr wrap="none">
              <a:spAutoFit/>
            </a:bodyPr>
            <a:lstStyle/>
            <a:p>
              <a:r>
                <a:rPr lang="zh-CN" altLang="en-US" dirty="0">
                  <a:solidFill>
                    <a:schemeClr val="tx1">
                      <a:lumMod val="75000"/>
                      <a:lumOff val="25000"/>
                    </a:schemeClr>
                  </a:solidFill>
                  <a:latin typeface="Comic Sans MS" panose="030F0702030302020204" pitchFamily="66" charset="0"/>
                  <a:ea typeface="微软雅黑" pitchFamily="34" charset="-122"/>
                </a:rPr>
                <a:t>服務器</a:t>
              </a:r>
              <a:r>
                <a:rPr lang="en-US" altLang="zh-CN" dirty="0">
                  <a:solidFill>
                    <a:schemeClr val="tx1">
                      <a:lumMod val="75000"/>
                      <a:lumOff val="25000"/>
                    </a:schemeClr>
                  </a:solidFill>
                  <a:latin typeface="Comic Sans MS" panose="030F0702030302020204" pitchFamily="66" charset="0"/>
                  <a:ea typeface="微软雅黑" pitchFamily="34" charset="-122"/>
                </a:rPr>
                <a:t> 1</a:t>
              </a:r>
              <a:endParaRPr lang="zh-CN" altLang="en-US" dirty="0"/>
            </a:p>
          </p:txBody>
        </p:sp>
      </p:grpSp>
      <p:grpSp>
        <p:nvGrpSpPr>
          <p:cNvPr id="43" name="组合 42">
            <a:extLst>
              <a:ext uri="{FF2B5EF4-FFF2-40B4-BE49-F238E27FC236}">
                <a16:creationId xmlns:a16="http://schemas.microsoft.com/office/drawing/2014/main" id="{DFCDFF90-D1A7-C443-A3F8-2BCC4525C893}"/>
              </a:ext>
            </a:extLst>
          </p:cNvPr>
          <p:cNvGrpSpPr/>
          <p:nvPr/>
        </p:nvGrpSpPr>
        <p:grpSpPr>
          <a:xfrm>
            <a:off x="10358812" y="4818569"/>
            <a:ext cx="1266693" cy="1250042"/>
            <a:chOff x="9557568" y="5494142"/>
            <a:chExt cx="1266693" cy="1250042"/>
          </a:xfrm>
        </p:grpSpPr>
        <p:pic>
          <p:nvPicPr>
            <p:cNvPr id="44" name="图片 43">
              <a:extLst>
                <a:ext uri="{FF2B5EF4-FFF2-40B4-BE49-F238E27FC236}">
                  <a16:creationId xmlns:a16="http://schemas.microsoft.com/office/drawing/2014/main" id="{E85D9F1E-A81E-4242-B0C2-49F169942282}"/>
                </a:ext>
              </a:extLst>
            </p:cNvPr>
            <p:cNvPicPr>
              <a:picLocks noChangeAspect="1"/>
            </p:cNvPicPr>
            <p:nvPr/>
          </p:nvPicPr>
          <p:blipFill>
            <a:blip r:embed="rId3"/>
            <a:stretch>
              <a:fillRect/>
            </a:stretch>
          </p:blipFill>
          <p:spPr>
            <a:xfrm>
              <a:off x="9765142" y="5494142"/>
              <a:ext cx="617576" cy="840954"/>
            </a:xfrm>
            <a:prstGeom prst="rect">
              <a:avLst/>
            </a:prstGeom>
          </p:spPr>
        </p:pic>
        <p:sp>
          <p:nvSpPr>
            <p:cNvPr id="45" name="矩形 44">
              <a:extLst>
                <a:ext uri="{FF2B5EF4-FFF2-40B4-BE49-F238E27FC236}">
                  <a16:creationId xmlns:a16="http://schemas.microsoft.com/office/drawing/2014/main" id="{E086B84F-8AEC-C944-A6B2-535D23673A4D}"/>
                </a:ext>
              </a:extLst>
            </p:cNvPr>
            <p:cNvSpPr/>
            <p:nvPr/>
          </p:nvSpPr>
          <p:spPr>
            <a:xfrm>
              <a:off x="9557568" y="6374852"/>
              <a:ext cx="1266693" cy="369332"/>
            </a:xfrm>
            <a:prstGeom prst="rect">
              <a:avLst/>
            </a:prstGeom>
          </p:spPr>
          <p:txBody>
            <a:bodyPr wrap="none">
              <a:spAutoFit/>
            </a:bodyPr>
            <a:lstStyle/>
            <a:p>
              <a:r>
                <a:rPr lang="zh-CN" altLang="en-US" dirty="0">
                  <a:solidFill>
                    <a:schemeClr val="tx1">
                      <a:lumMod val="75000"/>
                      <a:lumOff val="25000"/>
                    </a:schemeClr>
                  </a:solidFill>
                  <a:latin typeface="Comic Sans MS" panose="030F0702030302020204" pitchFamily="66" charset="0"/>
                  <a:ea typeface="微软雅黑" pitchFamily="34" charset="-122"/>
                </a:rPr>
                <a:t>服務器</a:t>
              </a:r>
              <a:r>
                <a:rPr lang="en-US" altLang="zh-CN" dirty="0">
                  <a:solidFill>
                    <a:schemeClr val="tx1">
                      <a:lumMod val="75000"/>
                      <a:lumOff val="25000"/>
                    </a:schemeClr>
                  </a:solidFill>
                  <a:latin typeface="Comic Sans MS" panose="030F0702030302020204" pitchFamily="66" charset="0"/>
                  <a:ea typeface="微软雅黑" pitchFamily="34" charset="-122"/>
                </a:rPr>
                <a:t> n-1</a:t>
              </a:r>
              <a:endParaRPr lang="zh-CN" altLang="en-US" dirty="0"/>
            </a:p>
          </p:txBody>
        </p:sp>
      </p:grpSp>
      <p:cxnSp>
        <p:nvCxnSpPr>
          <p:cNvPr id="46" name="直线箭头连接符 45">
            <a:extLst>
              <a:ext uri="{FF2B5EF4-FFF2-40B4-BE49-F238E27FC236}">
                <a16:creationId xmlns:a16="http://schemas.microsoft.com/office/drawing/2014/main" id="{16CC9724-5922-B643-943B-F3202DE14401}"/>
              </a:ext>
            </a:extLst>
          </p:cNvPr>
          <p:cNvCxnSpPr>
            <a:cxnSpLocks/>
          </p:cNvCxnSpPr>
          <p:nvPr/>
        </p:nvCxnSpPr>
        <p:spPr>
          <a:xfrm flipV="1">
            <a:off x="7036305" y="3589050"/>
            <a:ext cx="971538" cy="1229520"/>
          </a:xfrm>
          <a:prstGeom prst="straightConnector1">
            <a:avLst/>
          </a:prstGeom>
          <a:ln>
            <a:headEnd type="triangle" w="med" len="lg"/>
            <a:tailEnd type="triangle" w="med" len="lg"/>
          </a:ln>
        </p:spPr>
        <p:style>
          <a:lnRef idx="1">
            <a:schemeClr val="accent1"/>
          </a:lnRef>
          <a:fillRef idx="0">
            <a:schemeClr val="accent1"/>
          </a:fillRef>
          <a:effectRef idx="0">
            <a:schemeClr val="accent1"/>
          </a:effectRef>
          <a:fontRef idx="minor">
            <a:schemeClr val="tx1"/>
          </a:fontRef>
        </p:style>
      </p:cxnSp>
      <p:cxnSp>
        <p:nvCxnSpPr>
          <p:cNvPr id="47" name="直线箭头连接符 46">
            <a:extLst>
              <a:ext uri="{FF2B5EF4-FFF2-40B4-BE49-F238E27FC236}">
                <a16:creationId xmlns:a16="http://schemas.microsoft.com/office/drawing/2014/main" id="{9646D077-846F-DF4C-9497-EA78097DD748}"/>
              </a:ext>
            </a:extLst>
          </p:cNvPr>
          <p:cNvCxnSpPr>
            <a:cxnSpLocks/>
            <a:stCxn id="41" idx="0"/>
            <a:endCxn id="38" idx="2"/>
          </p:cNvCxnSpPr>
          <p:nvPr/>
        </p:nvCxnSpPr>
        <p:spPr>
          <a:xfrm flipV="1">
            <a:off x="8524205" y="3589050"/>
            <a:ext cx="19202" cy="1229519"/>
          </a:xfrm>
          <a:prstGeom prst="straightConnector1">
            <a:avLst/>
          </a:prstGeom>
          <a:ln>
            <a:headEnd type="triangle" w="med" len="lg"/>
            <a:tailEnd type="triangle" w="med" len="lg"/>
          </a:ln>
        </p:spPr>
        <p:style>
          <a:lnRef idx="1">
            <a:schemeClr val="accent1"/>
          </a:lnRef>
          <a:fillRef idx="0">
            <a:schemeClr val="accent1"/>
          </a:fillRef>
          <a:effectRef idx="0">
            <a:schemeClr val="accent1"/>
          </a:effectRef>
          <a:fontRef idx="minor">
            <a:schemeClr val="tx1"/>
          </a:fontRef>
        </p:style>
      </p:cxnSp>
      <p:cxnSp>
        <p:nvCxnSpPr>
          <p:cNvPr id="48" name="直线箭头连接符 47">
            <a:extLst>
              <a:ext uri="{FF2B5EF4-FFF2-40B4-BE49-F238E27FC236}">
                <a16:creationId xmlns:a16="http://schemas.microsoft.com/office/drawing/2014/main" id="{E4A6CA34-1A5C-F547-A884-1A53E430A07F}"/>
              </a:ext>
            </a:extLst>
          </p:cNvPr>
          <p:cNvCxnSpPr>
            <a:cxnSpLocks/>
          </p:cNvCxnSpPr>
          <p:nvPr/>
        </p:nvCxnSpPr>
        <p:spPr>
          <a:xfrm flipH="1" flipV="1">
            <a:off x="9071421" y="3589050"/>
            <a:ext cx="1606911" cy="1229519"/>
          </a:xfrm>
          <a:prstGeom prst="straightConnector1">
            <a:avLst/>
          </a:prstGeom>
          <a:ln>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49" name="矩形 48">
            <a:extLst>
              <a:ext uri="{FF2B5EF4-FFF2-40B4-BE49-F238E27FC236}">
                <a16:creationId xmlns:a16="http://schemas.microsoft.com/office/drawing/2014/main" id="{766BE34C-15A5-ED4E-BC5A-A14D189F7E51}"/>
              </a:ext>
            </a:extLst>
          </p:cNvPr>
          <p:cNvSpPr/>
          <p:nvPr/>
        </p:nvSpPr>
        <p:spPr>
          <a:xfrm rot="18486112">
            <a:off x="6678974" y="3847198"/>
            <a:ext cx="1428596" cy="369332"/>
          </a:xfrm>
          <a:prstGeom prst="rect">
            <a:avLst/>
          </a:prstGeom>
        </p:spPr>
        <p:txBody>
          <a:bodyPr wrap="none">
            <a:spAutoFit/>
          </a:bodyPr>
          <a:lstStyle/>
          <a:p>
            <a:r>
              <a:rPr kumimoji="1" lang="en-US" altLang="zh-CN" dirty="0"/>
              <a:t>Cristian</a:t>
            </a:r>
            <a:r>
              <a:rPr kumimoji="1" lang="zh-CN" altLang="en-US" dirty="0"/>
              <a:t>算法</a:t>
            </a:r>
            <a:endParaRPr lang="zh-CN" altLang="en-US" dirty="0"/>
          </a:p>
        </p:txBody>
      </p:sp>
      <p:sp>
        <p:nvSpPr>
          <p:cNvPr id="50" name="矩形 49">
            <a:extLst>
              <a:ext uri="{FF2B5EF4-FFF2-40B4-BE49-F238E27FC236}">
                <a16:creationId xmlns:a16="http://schemas.microsoft.com/office/drawing/2014/main" id="{3BF55E79-A627-5A44-A68B-F0F335A401B5}"/>
              </a:ext>
            </a:extLst>
          </p:cNvPr>
          <p:cNvSpPr/>
          <p:nvPr/>
        </p:nvSpPr>
        <p:spPr>
          <a:xfrm rot="2268472">
            <a:off x="9338935" y="3816310"/>
            <a:ext cx="1428596" cy="369332"/>
          </a:xfrm>
          <a:prstGeom prst="rect">
            <a:avLst/>
          </a:prstGeom>
        </p:spPr>
        <p:txBody>
          <a:bodyPr wrap="none">
            <a:spAutoFit/>
          </a:bodyPr>
          <a:lstStyle/>
          <a:p>
            <a:r>
              <a:rPr kumimoji="1" lang="en-US" altLang="zh-CN" dirty="0"/>
              <a:t>Cristian</a:t>
            </a:r>
            <a:r>
              <a:rPr kumimoji="1" lang="zh-CN" altLang="en-US" dirty="0"/>
              <a:t>算法</a:t>
            </a:r>
            <a:endParaRPr lang="zh-CN" altLang="en-US" dirty="0"/>
          </a:p>
        </p:txBody>
      </p:sp>
      <p:sp>
        <p:nvSpPr>
          <p:cNvPr id="51" name="矩形 50">
            <a:extLst>
              <a:ext uri="{FF2B5EF4-FFF2-40B4-BE49-F238E27FC236}">
                <a16:creationId xmlns:a16="http://schemas.microsoft.com/office/drawing/2014/main" id="{EAE10533-3BE2-D34A-956C-DCA8CFC2135E}"/>
              </a:ext>
            </a:extLst>
          </p:cNvPr>
          <p:cNvSpPr/>
          <p:nvPr/>
        </p:nvSpPr>
        <p:spPr>
          <a:xfrm>
            <a:off x="8565791" y="3978176"/>
            <a:ext cx="966931" cy="646331"/>
          </a:xfrm>
          <a:prstGeom prst="rect">
            <a:avLst/>
          </a:prstGeom>
        </p:spPr>
        <p:txBody>
          <a:bodyPr wrap="none">
            <a:spAutoFit/>
          </a:bodyPr>
          <a:lstStyle/>
          <a:p>
            <a:pPr algn="ctr"/>
            <a:r>
              <a:rPr kumimoji="1" lang="en-US" altLang="zh-CN" dirty="0"/>
              <a:t>Cristian</a:t>
            </a:r>
          </a:p>
          <a:p>
            <a:pPr algn="ctr"/>
            <a:r>
              <a:rPr kumimoji="1" lang="zh-CN" altLang="en-US" dirty="0"/>
              <a:t>算法</a:t>
            </a:r>
            <a:endParaRPr lang="zh-CN" altLang="en-US" dirty="0"/>
          </a:p>
        </p:txBody>
      </p:sp>
      <p:sp>
        <p:nvSpPr>
          <p:cNvPr id="26" name="灯片编号占位符 2">
            <a:extLst>
              <a:ext uri="{FF2B5EF4-FFF2-40B4-BE49-F238E27FC236}">
                <a16:creationId xmlns:a16="http://schemas.microsoft.com/office/drawing/2014/main" id="{545C79AA-CCC1-6341-848A-3FE2E1175304}"/>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48</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8301076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網絡時間協議（</a:t>
            </a:r>
            <a:r>
              <a:rPr kumimoji="1" lang="en-US" altLang="zh-CN" dirty="0"/>
              <a:t>NTP</a:t>
            </a:r>
            <a:r>
              <a:rPr kumimoji="1" lang="zh-CN" altLang="en-US" dirty="0"/>
              <a:t>）</a:t>
            </a:r>
          </a:p>
        </p:txBody>
      </p:sp>
      <p:sp>
        <p:nvSpPr>
          <p:cNvPr id="3" name="矩形 2">
            <a:extLst>
              <a:ext uri="{FF2B5EF4-FFF2-40B4-BE49-F238E27FC236}">
                <a16:creationId xmlns:a16="http://schemas.microsoft.com/office/drawing/2014/main" id="{B41E352D-ADE9-8543-9AA0-DB8E6A38E24E}"/>
              </a:ext>
            </a:extLst>
          </p:cNvPr>
          <p:cNvSpPr/>
          <p:nvPr/>
        </p:nvSpPr>
        <p:spPr>
          <a:xfrm>
            <a:off x="665929" y="1653225"/>
            <a:ext cx="5264285" cy="1887248"/>
          </a:xfrm>
          <a:prstGeom prst="rect">
            <a:avLst/>
          </a:prstGeom>
          <a:ln>
            <a:solidFill>
              <a:srgbClr val="00B0F0"/>
            </a:solidFill>
          </a:ln>
        </p:spPr>
        <p:txBody>
          <a:bodyPr wrap="square">
            <a:spAutoFit/>
          </a:bodyPr>
          <a:lstStyle/>
          <a:p>
            <a:pPr marL="342900" lvl="1" indent="-342900" algn="just" fontAlgn="base">
              <a:lnSpc>
                <a:spcPts val="3600"/>
              </a:lnSpc>
              <a:spcAft>
                <a:spcPct val="0"/>
              </a:spcAft>
              <a:buSzPct val="100000"/>
              <a:buFont typeface="Arial" panose="020B0604020202020204" pitchFamily="34" charset="0"/>
              <a:buChar char="•"/>
            </a:pPr>
            <a:r>
              <a:rPr lang="zh-CN" altLang="en-US" sz="2000" dirty="0">
                <a:latin typeface="Comic Sans MS" panose="030F0702030302020204" pitchFamily="66" charset="0"/>
                <a:ea typeface="微软雅黑" pitchFamily="34" charset="-122"/>
              </a:rPr>
              <a:t>主要目標：</a:t>
            </a:r>
            <a:endParaRPr lang="en-US" altLang="zh-CN" sz="2000" dirty="0">
              <a:latin typeface="Comic Sans MS" panose="030F0702030302020204" pitchFamily="66" charset="0"/>
              <a:ea typeface="微软雅黑" pitchFamily="34" charset="-122"/>
            </a:endParaRPr>
          </a:p>
          <a:p>
            <a:pPr marL="684000" lvl="1" indent="-342900" algn="just" fontAlgn="base">
              <a:lnSpc>
                <a:spcPts val="3600"/>
              </a:lnSpc>
              <a:spcAft>
                <a:spcPct val="0"/>
              </a:spcAft>
              <a:buSzPct val="100000"/>
              <a:buFont typeface="Arial" panose="020B0604020202020204" pitchFamily="34" charset="0"/>
              <a:buChar char="•"/>
            </a:pPr>
            <a:r>
              <a:rPr lang="zh-CN" altLang="en-US" sz="2000" dirty="0">
                <a:latin typeface="Comic Sans MS" panose="030F0702030302020204" pitchFamily="66" charset="0"/>
                <a:ea typeface="微软雅黑" pitchFamily="34" charset="-122"/>
              </a:rPr>
              <a:t>互聯網的用戶能够精確地與</a:t>
            </a:r>
            <a:r>
              <a:rPr lang="en-US" altLang="zh-CN" sz="2000" dirty="0">
                <a:latin typeface="Comic Sans MS" panose="030F0702030302020204" pitchFamily="66" charset="0"/>
                <a:ea typeface="微软雅黑" pitchFamily="34" charset="-122"/>
              </a:rPr>
              <a:t>UTC</a:t>
            </a:r>
            <a:r>
              <a:rPr lang="zh-CN" altLang="en-US" sz="2000" dirty="0">
                <a:latin typeface="Comic Sans MS" panose="030F0702030302020204" pitchFamily="66" charset="0"/>
                <a:ea typeface="微软雅黑" pitchFamily="34" charset="-122"/>
              </a:rPr>
              <a:t>同步</a:t>
            </a:r>
            <a:endParaRPr lang="en-US" altLang="zh-CN" sz="2000" dirty="0">
              <a:latin typeface="Comic Sans MS" panose="030F0702030302020204" pitchFamily="66" charset="0"/>
              <a:ea typeface="微软雅黑" pitchFamily="34" charset="-122"/>
            </a:endParaRPr>
          </a:p>
          <a:p>
            <a:pPr marL="684000" lvl="1" indent="-342900" algn="just" fontAlgn="base">
              <a:lnSpc>
                <a:spcPts val="3600"/>
              </a:lnSpc>
              <a:spcAft>
                <a:spcPct val="0"/>
              </a:spcAft>
              <a:buSzPct val="100000"/>
              <a:buFont typeface="Arial" panose="020B0604020202020204" pitchFamily="34" charset="0"/>
              <a:buChar char="•"/>
            </a:pPr>
            <a:r>
              <a:rPr lang="zh-CN" altLang="en-US" sz="2000" dirty="0">
                <a:latin typeface="Comic Sans MS" panose="030F0702030302020204" pitchFamily="66" charset="0"/>
                <a:ea typeface="微软雅黑" pitchFamily="34" charset="-122"/>
              </a:rPr>
              <a:t>部分服務器故障，用戶依然能同步時鐘</a:t>
            </a:r>
            <a:endParaRPr lang="en-US" altLang="zh-CN" sz="2000" dirty="0">
              <a:latin typeface="Comic Sans MS" panose="030F0702030302020204" pitchFamily="66" charset="0"/>
              <a:ea typeface="微软雅黑" pitchFamily="34" charset="-122"/>
            </a:endParaRPr>
          </a:p>
          <a:p>
            <a:pPr marL="684000" lvl="1" indent="-342900" algn="just" fontAlgn="base">
              <a:lnSpc>
                <a:spcPts val="3600"/>
              </a:lnSpc>
              <a:spcAft>
                <a:spcPct val="0"/>
              </a:spcAft>
              <a:buSzPct val="100000"/>
              <a:buFont typeface="Arial" panose="020B0604020202020204" pitchFamily="34" charset="0"/>
              <a:buChar char="•"/>
            </a:pPr>
            <a:r>
              <a:rPr lang="zh-CN" altLang="en-US" sz="2000" dirty="0">
                <a:latin typeface="Comic Sans MS" panose="030F0702030302020204" pitchFamily="66" charset="0"/>
                <a:ea typeface="微软雅黑" pitchFamily="34" charset="-122"/>
              </a:rPr>
              <a:t>避免惡意攻擊者干擾時鐘同步過程</a:t>
            </a:r>
            <a:endParaRPr lang="en-US" altLang="zh-CN" sz="2000" dirty="0">
              <a:latin typeface="Comic Sans MS" panose="030F0702030302020204" pitchFamily="66" charset="0"/>
              <a:ea typeface="微软雅黑" pitchFamily="34" charset="-122"/>
            </a:endParaRPr>
          </a:p>
        </p:txBody>
      </p:sp>
      <p:sp>
        <p:nvSpPr>
          <p:cNvPr id="5" name="矩形 4">
            <a:extLst>
              <a:ext uri="{FF2B5EF4-FFF2-40B4-BE49-F238E27FC236}">
                <a16:creationId xmlns:a16="http://schemas.microsoft.com/office/drawing/2014/main" id="{981466CF-8A29-BB43-8C8B-09A08249E74B}"/>
              </a:ext>
            </a:extLst>
          </p:cNvPr>
          <p:cNvSpPr/>
          <p:nvPr/>
        </p:nvSpPr>
        <p:spPr>
          <a:xfrm>
            <a:off x="922491" y="914353"/>
            <a:ext cx="10371263" cy="511807"/>
          </a:xfrm>
          <a:prstGeom prst="rect">
            <a:avLst/>
          </a:prstGeom>
        </p:spPr>
        <p:txBody>
          <a:bodyPr wrap="square">
            <a:spAutoFit/>
          </a:bodyPr>
          <a:lstStyle/>
          <a:p>
            <a:pPr algn="ctr">
              <a:lnSpc>
                <a:spcPts val="3600"/>
              </a:lnSpc>
            </a:pPr>
            <a:r>
              <a:rPr lang="en-US" altLang="zh-CN" sz="2400" b="1" dirty="0">
                <a:solidFill>
                  <a:srgbClr val="C00000"/>
                </a:solidFill>
                <a:latin typeface="Microsoft YaHei" panose="020B0503020204020204" pitchFamily="34" charset="-122"/>
                <a:ea typeface="Microsoft YaHei" panose="020B0503020204020204" pitchFamily="34" charset="-122"/>
              </a:rPr>
              <a:t>NTP</a:t>
            </a:r>
            <a:r>
              <a:rPr lang="zh-CN" altLang="en-US" sz="2400" b="1" dirty="0">
                <a:solidFill>
                  <a:srgbClr val="C00000"/>
                </a:solidFill>
                <a:latin typeface="Microsoft YaHei" panose="020B0503020204020204" pitchFamily="34" charset="-122"/>
                <a:ea typeface="Microsoft YaHei" panose="020B0503020204020204" pitchFamily="34" charset="-122"/>
              </a:rPr>
              <a:t>協議定義了時間服務的體系結構，以及如何在互聯網上發布時間信息</a:t>
            </a:r>
          </a:p>
        </p:txBody>
      </p:sp>
      <p:pic>
        <p:nvPicPr>
          <p:cNvPr id="6" name="图片 5">
            <a:extLst>
              <a:ext uri="{FF2B5EF4-FFF2-40B4-BE49-F238E27FC236}">
                <a16:creationId xmlns:a16="http://schemas.microsoft.com/office/drawing/2014/main" id="{803551C1-2364-B847-A2C6-31E60C309D24}"/>
              </a:ext>
            </a:extLst>
          </p:cNvPr>
          <p:cNvPicPr>
            <a:picLocks noChangeAspect="1"/>
          </p:cNvPicPr>
          <p:nvPr/>
        </p:nvPicPr>
        <p:blipFill>
          <a:blip r:embed="rId2"/>
          <a:stretch>
            <a:fillRect/>
          </a:stretch>
        </p:blipFill>
        <p:spPr>
          <a:xfrm>
            <a:off x="699352" y="3732556"/>
            <a:ext cx="10810161" cy="2736973"/>
          </a:xfrm>
          <a:prstGeom prst="rect">
            <a:avLst/>
          </a:prstGeom>
          <a:ln>
            <a:solidFill>
              <a:schemeClr val="bg1">
                <a:lumMod val="85000"/>
              </a:schemeClr>
            </a:solidFill>
          </a:ln>
        </p:spPr>
      </p:pic>
      <p:sp>
        <p:nvSpPr>
          <p:cNvPr id="26" name="文本框 25">
            <a:extLst>
              <a:ext uri="{FF2B5EF4-FFF2-40B4-BE49-F238E27FC236}">
                <a16:creationId xmlns:a16="http://schemas.microsoft.com/office/drawing/2014/main" id="{92F85D79-780B-1E4A-A3C0-251325CE69A0}"/>
              </a:ext>
            </a:extLst>
          </p:cNvPr>
          <p:cNvSpPr txBox="1"/>
          <p:nvPr/>
        </p:nvSpPr>
        <p:spPr>
          <a:xfrm>
            <a:off x="6229707" y="1653225"/>
            <a:ext cx="5264285" cy="1884555"/>
          </a:xfrm>
          <a:prstGeom prst="rect">
            <a:avLst/>
          </a:prstGeom>
          <a:noFill/>
          <a:ln>
            <a:solidFill>
              <a:srgbClr val="00B0F0"/>
            </a:solidFill>
          </a:ln>
        </p:spPr>
        <p:txBody>
          <a:bodyPr wrap="square">
            <a:spAutoFit/>
          </a:bodyPr>
          <a:lstStyle/>
          <a:p>
            <a:pPr marL="342900" lvl="1" indent="-342900" algn="just" fontAlgn="base">
              <a:lnSpc>
                <a:spcPts val="3600"/>
              </a:lnSpc>
              <a:spcAft>
                <a:spcPct val="0"/>
              </a:spcAft>
              <a:buSzPct val="100000"/>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整體架構</a:t>
            </a:r>
            <a:endParaRPr lang="en-US" altLang="zh-CN" sz="2000" dirty="0">
              <a:latin typeface="Microsoft YaHei" panose="020B0503020204020204" pitchFamily="34" charset="-122"/>
              <a:ea typeface="Microsoft YaHei" panose="020B0503020204020204" pitchFamily="34" charset="-122"/>
            </a:endParaRPr>
          </a:p>
          <a:p>
            <a:pPr marL="684000" lvl="1" indent="-342900" algn="just" fontAlgn="base">
              <a:lnSpc>
                <a:spcPts val="3600"/>
              </a:lnSpc>
              <a:spcAft>
                <a:spcPct val="0"/>
              </a:spcAft>
              <a:buSzPct val="100000"/>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采用分層架構，</a:t>
            </a:r>
            <a:r>
              <a:rPr lang="en-US" altLang="zh-CN" sz="2000" dirty="0">
                <a:latin typeface="Microsoft YaHei" panose="020B0503020204020204" pitchFamily="34" charset="-122"/>
                <a:ea typeface="Microsoft YaHei" panose="020B0503020204020204" pitchFamily="34" charset="-122"/>
              </a:rPr>
              <a:t>1</a:t>
            </a:r>
            <a:r>
              <a:rPr lang="zh-CN" altLang="en-US" sz="2000" dirty="0">
                <a:latin typeface="Microsoft YaHei" panose="020B0503020204020204" pitchFamily="34" charset="-122"/>
                <a:ea typeface="Microsoft YaHei" panose="020B0503020204020204" pitchFamily="34" charset="-122"/>
              </a:rPr>
              <a:t>級服務器接收</a:t>
            </a:r>
            <a:r>
              <a:rPr lang="en-US" altLang="zh-CN" sz="2000" dirty="0">
                <a:latin typeface="Microsoft YaHei" panose="020B0503020204020204" pitchFamily="34" charset="-122"/>
                <a:ea typeface="Microsoft YaHei" panose="020B0503020204020204" pitchFamily="34" charset="-122"/>
              </a:rPr>
              <a:t>UTC</a:t>
            </a:r>
            <a:r>
              <a:rPr lang="zh-CN" altLang="en-US" sz="2000" dirty="0">
                <a:latin typeface="Microsoft YaHei" panose="020B0503020204020204" pitchFamily="34" charset="-122"/>
                <a:ea typeface="Microsoft YaHei" panose="020B0503020204020204" pitchFamily="34" charset="-122"/>
              </a:rPr>
              <a:t>源</a:t>
            </a:r>
            <a:endParaRPr lang="en-US" altLang="zh-CN" sz="2000" dirty="0">
              <a:latin typeface="Microsoft YaHei" panose="020B0503020204020204" pitchFamily="34" charset="-122"/>
              <a:ea typeface="Microsoft YaHei" panose="020B0503020204020204" pitchFamily="34" charset="-122"/>
            </a:endParaRPr>
          </a:p>
          <a:p>
            <a:pPr marL="684000" lvl="1" indent="-342900" algn="just" fontAlgn="base">
              <a:lnSpc>
                <a:spcPts val="3600"/>
              </a:lnSpc>
              <a:spcAft>
                <a:spcPct val="0"/>
              </a:spcAft>
              <a:buSzPct val="100000"/>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基于認證確保時間信息來自權威服務器</a:t>
            </a:r>
            <a:endParaRPr lang="en-US" altLang="zh-CN" sz="2000" dirty="0">
              <a:latin typeface="Microsoft YaHei" panose="020B0503020204020204" pitchFamily="34" charset="-122"/>
              <a:ea typeface="Microsoft YaHei" panose="020B0503020204020204" pitchFamily="34" charset="-122"/>
            </a:endParaRPr>
          </a:p>
          <a:p>
            <a:pPr marL="684000" lvl="1" indent="-342900" algn="just" fontAlgn="base">
              <a:lnSpc>
                <a:spcPts val="3600"/>
              </a:lnSpc>
              <a:spcAft>
                <a:spcPct val="0"/>
              </a:spcAft>
              <a:buSzPct val="100000"/>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同步源故障後，選擇其它源作爲替代</a:t>
            </a:r>
            <a:endParaRPr lang="en-US" altLang="zh-CN" sz="2000" dirty="0">
              <a:latin typeface="Microsoft YaHei" panose="020B0503020204020204" pitchFamily="34" charset="-122"/>
              <a:ea typeface="Microsoft YaHei" panose="020B0503020204020204" pitchFamily="34" charset="-122"/>
            </a:endParaRPr>
          </a:p>
        </p:txBody>
      </p:sp>
      <p:sp>
        <p:nvSpPr>
          <p:cNvPr id="8" name="灯片编号占位符 2">
            <a:extLst>
              <a:ext uri="{FF2B5EF4-FFF2-40B4-BE49-F238E27FC236}">
                <a16:creationId xmlns:a16="http://schemas.microsoft.com/office/drawing/2014/main" id="{864B0288-AF57-2D42-BF49-40FA57830805}"/>
              </a:ext>
            </a:extLst>
          </p:cNvPr>
          <p:cNvSpPr txBox="1">
            <a:spLocks/>
          </p:cNvSpPr>
          <p:nvPr/>
        </p:nvSpPr>
        <p:spPr>
          <a:xfrm>
            <a:off x="9347200" y="61686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49</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5867110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solidFill>
                  <a:srgbClr val="C00000"/>
                </a:solidFill>
              </a:rPr>
              <a:t>幷發問題</a:t>
            </a:r>
            <a:r>
              <a:rPr kumimoji="1" lang="zh-CN" altLang="en-US" dirty="0"/>
              <a:t>：</a:t>
            </a:r>
            <a:r>
              <a:rPr kumimoji="1" lang="zh-CN" altLang="en-US" dirty="0">
                <a:solidFill>
                  <a:srgbClr val="C00000"/>
                </a:solidFill>
              </a:rPr>
              <a:t>破壞一致性</a:t>
            </a:r>
          </a:p>
        </p:txBody>
      </p:sp>
      <p:sp>
        <p:nvSpPr>
          <p:cNvPr id="4" name="矩形 3">
            <a:extLst>
              <a:ext uri="{FF2B5EF4-FFF2-40B4-BE49-F238E27FC236}">
                <a16:creationId xmlns:a16="http://schemas.microsoft.com/office/drawing/2014/main" id="{F8A47846-D8CF-C944-9450-AF7922227BFD}"/>
              </a:ext>
            </a:extLst>
          </p:cNvPr>
          <p:cNvSpPr/>
          <p:nvPr/>
        </p:nvSpPr>
        <p:spPr>
          <a:xfrm>
            <a:off x="7455336" y="1395485"/>
            <a:ext cx="1136887" cy="4456067"/>
          </a:xfrm>
          <a:prstGeom prst="rect">
            <a:avLst/>
          </a:prstGeom>
          <a:ln>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sz="2000">
              <a:latin typeface="Microsoft YaHei" panose="020B0503020204020204" pitchFamily="34" charset="-122"/>
              <a:ea typeface="Microsoft YaHei" panose="020B0503020204020204" pitchFamily="34" charset="-122"/>
            </a:endParaRPr>
          </a:p>
        </p:txBody>
      </p:sp>
      <p:sp>
        <p:nvSpPr>
          <p:cNvPr id="5" name="矩形 4">
            <a:extLst>
              <a:ext uri="{FF2B5EF4-FFF2-40B4-BE49-F238E27FC236}">
                <a16:creationId xmlns:a16="http://schemas.microsoft.com/office/drawing/2014/main" id="{D20D565A-07AE-9E42-A25B-C4A9D850A219}"/>
              </a:ext>
            </a:extLst>
          </p:cNvPr>
          <p:cNvSpPr/>
          <p:nvPr/>
        </p:nvSpPr>
        <p:spPr>
          <a:xfrm>
            <a:off x="9692021" y="1395485"/>
            <a:ext cx="2009650" cy="4431896"/>
          </a:xfrm>
          <a:prstGeom prst="rect">
            <a:avLst/>
          </a:prstGeom>
          <a:ln>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latin typeface="Microsoft YaHei" panose="020B0503020204020204" pitchFamily="34" charset="-122"/>
              <a:ea typeface="Microsoft YaHei" panose="020B0503020204020204" pitchFamily="34" charset="-122"/>
            </a:endParaRPr>
          </a:p>
        </p:txBody>
      </p:sp>
      <p:pic>
        <p:nvPicPr>
          <p:cNvPr id="6" name="图片 5">
            <a:extLst>
              <a:ext uri="{FF2B5EF4-FFF2-40B4-BE49-F238E27FC236}">
                <a16:creationId xmlns:a16="http://schemas.microsoft.com/office/drawing/2014/main" id="{CE8CDCC9-D79B-9949-8AA6-1806327F1948}"/>
              </a:ext>
            </a:extLst>
          </p:cNvPr>
          <p:cNvPicPr>
            <a:picLocks noChangeAspect="1"/>
          </p:cNvPicPr>
          <p:nvPr/>
        </p:nvPicPr>
        <p:blipFill>
          <a:blip r:embed="rId3">
            <a:duotone>
              <a:prstClr val="black"/>
              <a:srgbClr val="FFAEA4">
                <a:alpha val="60000"/>
                <a:tint val="45000"/>
                <a:satMod val="400000"/>
              </a:srgbClr>
            </a:duotone>
          </a:blip>
          <a:stretch>
            <a:fillRect/>
          </a:stretch>
        </p:blipFill>
        <p:spPr>
          <a:xfrm>
            <a:off x="7814709" y="1560775"/>
            <a:ext cx="586364" cy="798452"/>
          </a:xfrm>
          <a:prstGeom prst="rect">
            <a:avLst/>
          </a:prstGeom>
        </p:spPr>
      </p:pic>
      <p:pic>
        <p:nvPicPr>
          <p:cNvPr id="8" name="图片 7">
            <a:extLst>
              <a:ext uri="{FF2B5EF4-FFF2-40B4-BE49-F238E27FC236}">
                <a16:creationId xmlns:a16="http://schemas.microsoft.com/office/drawing/2014/main" id="{0E4E2E4E-52CD-894D-A7C5-3A2D248597BA}"/>
              </a:ext>
            </a:extLst>
          </p:cNvPr>
          <p:cNvPicPr>
            <a:picLocks noChangeAspect="1"/>
          </p:cNvPicPr>
          <p:nvPr/>
        </p:nvPicPr>
        <p:blipFill>
          <a:blip r:embed="rId3">
            <a:duotone>
              <a:prstClr val="black"/>
              <a:srgbClr val="FFA79F">
                <a:alpha val="29804"/>
                <a:tint val="45000"/>
                <a:satMod val="400000"/>
              </a:srgbClr>
            </a:duotone>
          </a:blip>
          <a:stretch>
            <a:fillRect/>
          </a:stretch>
        </p:blipFill>
        <p:spPr>
          <a:xfrm>
            <a:off x="7833582" y="4694296"/>
            <a:ext cx="586364" cy="798452"/>
          </a:xfrm>
          <a:prstGeom prst="rect">
            <a:avLst/>
          </a:prstGeom>
        </p:spPr>
      </p:pic>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0A6503F0-BD16-204E-9936-321FA1F0CB24}"/>
                  </a:ext>
                </a:extLst>
              </p:cNvPr>
              <p:cNvSpPr/>
              <p:nvPr/>
            </p:nvSpPr>
            <p:spPr>
              <a:xfrm>
                <a:off x="7880766" y="2364330"/>
                <a:ext cx="491994"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000"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sz="2000" b="0" i="1" smtClean="0">
                              <a:solidFill>
                                <a:schemeClr val="tx1">
                                  <a:lumMod val="75000"/>
                                  <a:lumOff val="25000"/>
                                </a:schemeClr>
                              </a:solidFill>
                              <a:latin typeface="Cambria Math" panose="02040503050406030204" pitchFamily="18" charset="0"/>
                              <a:ea typeface="微软雅黑" pitchFamily="34" charset="-122"/>
                            </a:rPr>
                            <m:t>𝑠</m:t>
                          </m:r>
                        </m:e>
                        <m:sub>
                          <m:r>
                            <a:rPr lang="en-US" altLang="zh-CN" sz="2000" i="1">
                              <a:solidFill>
                                <a:schemeClr val="tx1">
                                  <a:lumMod val="75000"/>
                                  <a:lumOff val="25000"/>
                                </a:schemeClr>
                              </a:solidFill>
                              <a:latin typeface="Cambria Math" panose="02040503050406030204" pitchFamily="18" charset="0"/>
                              <a:ea typeface="微软雅黑" pitchFamily="34" charset="-122"/>
                            </a:rPr>
                            <m:t>0</m:t>
                          </m:r>
                        </m:sub>
                      </m:sSub>
                    </m:oMath>
                  </m:oMathPara>
                </a14:m>
                <a:endParaRPr lang="zh-CN" altLang="en-US" sz="2000" dirty="0">
                  <a:latin typeface="Microsoft YaHei" panose="020B0503020204020204" pitchFamily="34" charset="-122"/>
                  <a:ea typeface="Microsoft YaHei" panose="020B0503020204020204" pitchFamily="34" charset="-122"/>
                </a:endParaRPr>
              </a:p>
            </p:txBody>
          </p:sp>
        </mc:Choice>
        <mc:Fallback xmlns="">
          <p:sp>
            <p:nvSpPr>
              <p:cNvPr id="16" name="矩形 15">
                <a:extLst>
                  <a:ext uri="{FF2B5EF4-FFF2-40B4-BE49-F238E27FC236}">
                    <a16:creationId xmlns:a16="http://schemas.microsoft.com/office/drawing/2014/main" id="{0A6503F0-BD16-204E-9936-321FA1F0CB24}"/>
                  </a:ext>
                </a:extLst>
              </p:cNvPr>
              <p:cNvSpPr>
                <a:spLocks noRot="1" noChangeAspect="1" noMove="1" noResize="1" noEditPoints="1" noAdjustHandles="1" noChangeArrowheads="1" noChangeShapeType="1" noTextEdit="1"/>
              </p:cNvSpPr>
              <p:nvPr/>
            </p:nvSpPr>
            <p:spPr>
              <a:xfrm>
                <a:off x="7880766" y="2364330"/>
                <a:ext cx="491994" cy="40011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48252547-573A-F94E-A132-59940015D7A4}"/>
                  </a:ext>
                </a:extLst>
              </p:cNvPr>
              <p:cNvSpPr/>
              <p:nvPr/>
            </p:nvSpPr>
            <p:spPr>
              <a:xfrm>
                <a:off x="7861893" y="5476715"/>
                <a:ext cx="491994"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000"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sz="2000" i="1">
                              <a:solidFill>
                                <a:schemeClr val="tx1">
                                  <a:lumMod val="75000"/>
                                  <a:lumOff val="25000"/>
                                </a:schemeClr>
                              </a:solidFill>
                              <a:latin typeface="Cambria Math" panose="02040503050406030204" pitchFamily="18" charset="0"/>
                              <a:ea typeface="微软雅黑" pitchFamily="34" charset="-122"/>
                            </a:rPr>
                            <m:t>𝑠</m:t>
                          </m:r>
                        </m:e>
                        <m:sub>
                          <m:r>
                            <a:rPr lang="en-US" altLang="zh-CN" sz="2000" b="0" i="1" smtClean="0">
                              <a:solidFill>
                                <a:schemeClr val="tx1">
                                  <a:lumMod val="75000"/>
                                  <a:lumOff val="25000"/>
                                </a:schemeClr>
                              </a:solidFill>
                              <a:latin typeface="Cambria Math" panose="02040503050406030204" pitchFamily="18" charset="0"/>
                              <a:ea typeface="微软雅黑" pitchFamily="34" charset="-122"/>
                            </a:rPr>
                            <m:t>2</m:t>
                          </m:r>
                        </m:sub>
                      </m:sSub>
                    </m:oMath>
                  </m:oMathPara>
                </a14:m>
                <a:endParaRPr lang="zh-CN" altLang="en-US" sz="2000" dirty="0">
                  <a:latin typeface="Microsoft YaHei" panose="020B0503020204020204" pitchFamily="34" charset="-122"/>
                  <a:ea typeface="Microsoft YaHei" panose="020B0503020204020204" pitchFamily="34" charset="-122"/>
                </a:endParaRPr>
              </a:p>
            </p:txBody>
          </p:sp>
        </mc:Choice>
        <mc:Fallback xmlns="">
          <p:sp>
            <p:nvSpPr>
              <p:cNvPr id="18" name="矩形 17">
                <a:extLst>
                  <a:ext uri="{FF2B5EF4-FFF2-40B4-BE49-F238E27FC236}">
                    <a16:creationId xmlns:a16="http://schemas.microsoft.com/office/drawing/2014/main" id="{48252547-573A-F94E-A132-59940015D7A4}"/>
                  </a:ext>
                </a:extLst>
              </p:cNvPr>
              <p:cNvSpPr>
                <a:spLocks noRot="1" noChangeAspect="1" noMove="1" noResize="1" noEditPoints="1" noAdjustHandles="1" noChangeArrowheads="1" noChangeShapeType="1" noTextEdit="1"/>
              </p:cNvSpPr>
              <p:nvPr/>
            </p:nvSpPr>
            <p:spPr>
              <a:xfrm>
                <a:off x="7861893" y="5476715"/>
                <a:ext cx="491994" cy="400110"/>
              </a:xfrm>
              <a:prstGeom prst="rect">
                <a:avLst/>
              </a:prstGeom>
              <a:blipFill>
                <a:blip r:embed="rId8"/>
                <a:stretch>
                  <a:fillRect/>
                </a:stretch>
              </a:blipFill>
            </p:spPr>
            <p:txBody>
              <a:bodyPr/>
              <a:lstStyle/>
              <a:p>
                <a:r>
                  <a:rPr lang="zh-CN" altLang="en-US">
                    <a:noFill/>
                  </a:rPr>
                  <a:t> </a:t>
                </a:r>
              </a:p>
            </p:txBody>
          </p:sp>
        </mc:Fallback>
      </mc:AlternateContent>
      <p:sp>
        <p:nvSpPr>
          <p:cNvPr id="19" name="矩形 18">
            <a:extLst>
              <a:ext uri="{FF2B5EF4-FFF2-40B4-BE49-F238E27FC236}">
                <a16:creationId xmlns:a16="http://schemas.microsoft.com/office/drawing/2014/main" id="{649DB8DB-F3B5-8A48-B1A7-0F0BE89D6713}"/>
              </a:ext>
            </a:extLst>
          </p:cNvPr>
          <p:cNvSpPr/>
          <p:nvPr/>
        </p:nvSpPr>
        <p:spPr>
          <a:xfrm>
            <a:off x="7464930" y="6036339"/>
            <a:ext cx="1338829" cy="369332"/>
          </a:xfrm>
          <a:prstGeom prst="rect">
            <a:avLst/>
          </a:prstGeom>
        </p:spPr>
        <p:txBody>
          <a:bodyPr wrap="none">
            <a:spAutoFit/>
          </a:bodyPr>
          <a:lstStyle/>
          <a:p>
            <a:pPr algn="ct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服務器集群</a:t>
            </a:r>
            <a:endParaRPr lang="zh-CN" altLang="en-US" dirty="0">
              <a:latin typeface="Microsoft YaHei" panose="020B0503020204020204" pitchFamily="34" charset="-122"/>
              <a:ea typeface="Microsoft YaHei" panose="020B0503020204020204" pitchFamily="34" charset="-122"/>
            </a:endParaRPr>
          </a:p>
        </p:txBody>
      </p:sp>
      <p:sp>
        <p:nvSpPr>
          <p:cNvPr id="20" name="矩形 19">
            <a:extLst>
              <a:ext uri="{FF2B5EF4-FFF2-40B4-BE49-F238E27FC236}">
                <a16:creationId xmlns:a16="http://schemas.microsoft.com/office/drawing/2014/main" id="{0AC66BCC-1636-584A-B80C-4D1C0EB47F45}"/>
              </a:ext>
            </a:extLst>
          </p:cNvPr>
          <p:cNvSpPr/>
          <p:nvPr/>
        </p:nvSpPr>
        <p:spPr>
          <a:xfrm>
            <a:off x="9762463" y="6028715"/>
            <a:ext cx="1338829" cy="369332"/>
          </a:xfrm>
          <a:prstGeom prst="rect">
            <a:avLst/>
          </a:prstGeom>
        </p:spPr>
        <p:txBody>
          <a:bodyPr wrap="none">
            <a:spAutoFit/>
          </a:bodyPr>
          <a:lstStyle/>
          <a:p>
            <a:pPr algn="ct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數據庫集群</a:t>
            </a:r>
            <a:endParaRPr lang="zh-CN" altLang="en-US" dirty="0">
              <a:latin typeface="Microsoft YaHei" panose="020B0503020204020204" pitchFamily="34" charset="-122"/>
              <a:ea typeface="Microsoft YaHei" panose="020B0503020204020204" pitchFamily="34" charset="-122"/>
            </a:endParaRPr>
          </a:p>
        </p:txBody>
      </p:sp>
      <p:pic>
        <p:nvPicPr>
          <p:cNvPr id="21" name="图形 20" descr="Internet">
            <a:extLst>
              <a:ext uri="{FF2B5EF4-FFF2-40B4-BE49-F238E27FC236}">
                <a16:creationId xmlns:a16="http://schemas.microsoft.com/office/drawing/2014/main" id="{9F870FE5-3367-9346-8D97-557DE556124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340595" y="1553549"/>
            <a:ext cx="956653" cy="910022"/>
          </a:xfrm>
          <a:prstGeom prst="rect">
            <a:avLst/>
          </a:prstGeom>
        </p:spPr>
      </p:pic>
      <p:pic>
        <p:nvPicPr>
          <p:cNvPr id="23" name="图形 22" descr="Internet">
            <a:extLst>
              <a:ext uri="{FF2B5EF4-FFF2-40B4-BE49-F238E27FC236}">
                <a16:creationId xmlns:a16="http://schemas.microsoft.com/office/drawing/2014/main" id="{0AC24A15-3AE0-BF44-BAF7-70256DD905D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312077" y="4634290"/>
            <a:ext cx="956653" cy="910022"/>
          </a:xfrm>
          <a:prstGeom prst="rect">
            <a:avLst/>
          </a:prstGeom>
        </p:spPr>
      </p:pic>
      <mc:AlternateContent xmlns:mc="http://schemas.openxmlformats.org/markup-compatibility/2006">
        <mc:Choice xmlns:a14="http://schemas.microsoft.com/office/drawing/2010/main" Requires="a14">
          <p:sp>
            <p:nvSpPr>
              <p:cNvPr id="24" name="矩形 23">
                <a:extLst>
                  <a:ext uri="{FF2B5EF4-FFF2-40B4-BE49-F238E27FC236}">
                    <a16:creationId xmlns:a16="http://schemas.microsoft.com/office/drawing/2014/main" id="{3C87AD6F-9781-304C-8A15-97AD073A6D2D}"/>
                  </a:ext>
                </a:extLst>
              </p:cNvPr>
              <p:cNvSpPr/>
              <p:nvPr/>
            </p:nvSpPr>
            <p:spPr>
              <a:xfrm>
                <a:off x="5274763" y="2343409"/>
                <a:ext cx="1153586" cy="369332"/>
              </a:xfrm>
              <a:prstGeom prst="rect">
                <a:avLst/>
              </a:prstGeom>
            </p:spPr>
            <p:txBody>
              <a:bodyPr wrap="none">
                <a:spAutoFit/>
              </a:bodyPr>
              <a:lstStyle/>
              <a:p>
                <a:pPr algn="ct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客戶端 </a:t>
                </a:r>
                <a14:m>
                  <m:oMath xmlns:m="http://schemas.openxmlformats.org/officeDocument/2006/math">
                    <m:sSub>
                      <m:sSubPr>
                        <m:ctrlPr>
                          <a:rPr lang="en-US" altLang="zh-CN"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b="0" i="1" smtClean="0">
                            <a:solidFill>
                              <a:schemeClr val="tx1">
                                <a:lumMod val="75000"/>
                                <a:lumOff val="25000"/>
                              </a:schemeClr>
                            </a:solidFill>
                            <a:latin typeface="Cambria Math" panose="02040503050406030204" pitchFamily="18" charset="0"/>
                            <a:ea typeface="微软雅黑" pitchFamily="34" charset="-122"/>
                          </a:rPr>
                          <m:t>𝑐</m:t>
                        </m:r>
                      </m:e>
                      <m:sub>
                        <m:r>
                          <a:rPr lang="en-US" altLang="zh-CN" b="0" i="1" smtClean="0">
                            <a:solidFill>
                              <a:schemeClr val="tx1">
                                <a:lumMod val="75000"/>
                                <a:lumOff val="25000"/>
                              </a:schemeClr>
                            </a:solidFill>
                            <a:latin typeface="Cambria Math" panose="02040503050406030204" pitchFamily="18" charset="0"/>
                            <a:ea typeface="微软雅黑" pitchFamily="34" charset="-122"/>
                          </a:rPr>
                          <m:t>0</m:t>
                        </m:r>
                      </m:sub>
                    </m:sSub>
                  </m:oMath>
                </a14:m>
                <a:endParaRPr lang="zh-CN" altLang="en-US" dirty="0">
                  <a:latin typeface="Microsoft YaHei" panose="020B0503020204020204" pitchFamily="34" charset="-122"/>
                  <a:ea typeface="Microsoft YaHei" panose="020B0503020204020204" pitchFamily="34" charset="-122"/>
                </a:endParaRPr>
              </a:p>
            </p:txBody>
          </p:sp>
        </mc:Choice>
        <mc:Fallback>
          <p:sp>
            <p:nvSpPr>
              <p:cNvPr id="24" name="矩形 23">
                <a:extLst>
                  <a:ext uri="{FF2B5EF4-FFF2-40B4-BE49-F238E27FC236}">
                    <a16:creationId xmlns:a16="http://schemas.microsoft.com/office/drawing/2014/main" id="{3C87AD6F-9781-304C-8A15-97AD073A6D2D}"/>
                  </a:ext>
                </a:extLst>
              </p:cNvPr>
              <p:cNvSpPr>
                <a:spLocks noRot="1" noChangeAspect="1" noMove="1" noResize="1" noEditPoints="1" noAdjustHandles="1" noChangeArrowheads="1" noChangeShapeType="1" noTextEdit="1"/>
              </p:cNvSpPr>
              <p:nvPr/>
            </p:nvSpPr>
            <p:spPr>
              <a:xfrm>
                <a:off x="5274763" y="2343409"/>
                <a:ext cx="1153586" cy="369332"/>
              </a:xfrm>
              <a:prstGeom prst="rect">
                <a:avLst/>
              </a:prstGeom>
              <a:blipFill>
                <a:blip r:embed="rId11"/>
                <a:stretch>
                  <a:fillRect l="-4211" t="-8197" b="-24590"/>
                </a:stretch>
              </a:blipFill>
            </p:spPr>
            <p:txBody>
              <a:bodyPr/>
              <a:lstStyle/>
              <a:p>
                <a:r>
                  <a:rPr lang="fr-FR">
                    <a:noFill/>
                  </a:rPr>
                  <a:t> </a:t>
                </a:r>
              </a:p>
            </p:txBody>
          </p:sp>
        </mc:Fallback>
      </mc:AlternateContent>
      <mc:AlternateContent xmlns:mc="http://schemas.openxmlformats.org/markup-compatibility/2006">
        <mc:Choice xmlns:a14="http://schemas.microsoft.com/office/drawing/2010/main" Requires="a14">
          <p:sp>
            <p:nvSpPr>
              <p:cNvPr id="26" name="矩形 25">
                <a:extLst>
                  <a:ext uri="{FF2B5EF4-FFF2-40B4-BE49-F238E27FC236}">
                    <a16:creationId xmlns:a16="http://schemas.microsoft.com/office/drawing/2014/main" id="{4525148D-6450-FD49-A052-2065E25E8EE8}"/>
                  </a:ext>
                </a:extLst>
              </p:cNvPr>
              <p:cNvSpPr/>
              <p:nvPr/>
            </p:nvSpPr>
            <p:spPr>
              <a:xfrm>
                <a:off x="5259345" y="5468121"/>
                <a:ext cx="1153586" cy="369332"/>
              </a:xfrm>
              <a:prstGeom prst="rect">
                <a:avLst/>
              </a:prstGeom>
            </p:spPr>
            <p:txBody>
              <a:bodyPr wrap="none">
                <a:spAutoFit/>
              </a:bodyPr>
              <a:lstStyle/>
              <a:p>
                <a:pPr algn="ct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客戶端 </a:t>
                </a:r>
                <a14:m>
                  <m:oMath xmlns:m="http://schemas.openxmlformats.org/officeDocument/2006/math">
                    <m:sSub>
                      <m:sSubPr>
                        <m:ctrlPr>
                          <a:rPr lang="en-US" altLang="zh-CN"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b="0" i="1" smtClean="0">
                            <a:solidFill>
                              <a:schemeClr val="tx1">
                                <a:lumMod val="75000"/>
                                <a:lumOff val="25000"/>
                              </a:schemeClr>
                            </a:solidFill>
                            <a:latin typeface="Cambria Math" panose="02040503050406030204" pitchFamily="18" charset="0"/>
                            <a:ea typeface="微软雅黑" pitchFamily="34" charset="-122"/>
                          </a:rPr>
                          <m:t>𝑐</m:t>
                        </m:r>
                      </m:e>
                      <m:sub>
                        <m:r>
                          <a:rPr lang="en-US" altLang="zh-CN" b="0" i="1" smtClean="0">
                            <a:solidFill>
                              <a:schemeClr val="tx1">
                                <a:lumMod val="75000"/>
                                <a:lumOff val="25000"/>
                              </a:schemeClr>
                            </a:solidFill>
                            <a:latin typeface="Cambria Math" panose="02040503050406030204" pitchFamily="18" charset="0"/>
                            <a:ea typeface="微软雅黑" pitchFamily="34" charset="-122"/>
                          </a:rPr>
                          <m:t>2</m:t>
                        </m:r>
                      </m:sub>
                    </m:sSub>
                  </m:oMath>
                </a14:m>
                <a:endParaRPr lang="zh-CN" altLang="en-US" dirty="0">
                  <a:latin typeface="Microsoft YaHei" panose="020B0503020204020204" pitchFamily="34" charset="-122"/>
                  <a:ea typeface="Microsoft YaHei" panose="020B0503020204020204" pitchFamily="34" charset="-122"/>
                </a:endParaRPr>
              </a:p>
            </p:txBody>
          </p:sp>
        </mc:Choice>
        <mc:Fallback>
          <p:sp>
            <p:nvSpPr>
              <p:cNvPr id="26" name="矩形 25">
                <a:extLst>
                  <a:ext uri="{FF2B5EF4-FFF2-40B4-BE49-F238E27FC236}">
                    <a16:creationId xmlns:a16="http://schemas.microsoft.com/office/drawing/2014/main" id="{4525148D-6450-FD49-A052-2065E25E8EE8}"/>
                  </a:ext>
                </a:extLst>
              </p:cNvPr>
              <p:cNvSpPr>
                <a:spLocks noRot="1" noChangeAspect="1" noMove="1" noResize="1" noEditPoints="1" noAdjustHandles="1" noChangeArrowheads="1" noChangeShapeType="1" noTextEdit="1"/>
              </p:cNvSpPr>
              <p:nvPr/>
            </p:nvSpPr>
            <p:spPr>
              <a:xfrm>
                <a:off x="5259345" y="5468121"/>
                <a:ext cx="1153586" cy="369332"/>
              </a:xfrm>
              <a:prstGeom prst="rect">
                <a:avLst/>
              </a:prstGeom>
              <a:blipFill>
                <a:blip r:embed="rId12"/>
                <a:stretch>
                  <a:fillRect l="-4762" t="-8197" b="-24590"/>
                </a:stretch>
              </a:blipFill>
            </p:spPr>
            <p:txBody>
              <a:bodyPr/>
              <a:lstStyle/>
              <a:p>
                <a:r>
                  <a:rPr lang="fr-FR">
                    <a:noFill/>
                  </a:rPr>
                  <a:t> </a:t>
                </a:r>
              </a:p>
            </p:txBody>
          </p:sp>
        </mc:Fallback>
      </mc:AlternateContent>
      <p:cxnSp>
        <p:nvCxnSpPr>
          <p:cNvPr id="27" name="直线箭头连接符 26">
            <a:extLst>
              <a:ext uri="{FF2B5EF4-FFF2-40B4-BE49-F238E27FC236}">
                <a16:creationId xmlns:a16="http://schemas.microsoft.com/office/drawing/2014/main" id="{77FEBB34-C44B-A344-AA9A-FDB50681A785}"/>
              </a:ext>
            </a:extLst>
          </p:cNvPr>
          <p:cNvCxnSpPr>
            <a:cxnSpLocks/>
            <a:endCxn id="21" idx="3"/>
          </p:cNvCxnSpPr>
          <p:nvPr/>
        </p:nvCxnSpPr>
        <p:spPr>
          <a:xfrm flipH="1" flipV="1">
            <a:off x="6297248" y="2008560"/>
            <a:ext cx="1338401" cy="27752"/>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29" name="直线箭头连接符 28">
            <a:extLst>
              <a:ext uri="{FF2B5EF4-FFF2-40B4-BE49-F238E27FC236}">
                <a16:creationId xmlns:a16="http://schemas.microsoft.com/office/drawing/2014/main" id="{9187FC30-ACC2-E343-9E8C-621C18D5147B}"/>
              </a:ext>
            </a:extLst>
          </p:cNvPr>
          <p:cNvCxnSpPr>
            <a:cxnSpLocks/>
            <a:endCxn id="23" idx="3"/>
          </p:cNvCxnSpPr>
          <p:nvPr/>
        </p:nvCxnSpPr>
        <p:spPr>
          <a:xfrm flipH="1" flipV="1">
            <a:off x="6268730" y="5089301"/>
            <a:ext cx="1364057" cy="4221"/>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33" name="直线箭头连接符 32">
            <a:extLst>
              <a:ext uri="{FF2B5EF4-FFF2-40B4-BE49-F238E27FC236}">
                <a16:creationId xmlns:a16="http://schemas.microsoft.com/office/drawing/2014/main" id="{A80DC1E6-7ECF-F14C-9987-07CF2759BAC1}"/>
              </a:ext>
            </a:extLst>
          </p:cNvPr>
          <p:cNvCxnSpPr>
            <a:cxnSpLocks/>
          </p:cNvCxnSpPr>
          <p:nvPr/>
        </p:nvCxnSpPr>
        <p:spPr>
          <a:xfrm flipH="1">
            <a:off x="8401073" y="1930753"/>
            <a:ext cx="1592749" cy="1"/>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sp>
        <p:nvSpPr>
          <p:cNvPr id="36" name="矩形 35">
            <a:extLst>
              <a:ext uri="{FF2B5EF4-FFF2-40B4-BE49-F238E27FC236}">
                <a16:creationId xmlns:a16="http://schemas.microsoft.com/office/drawing/2014/main" id="{81702DF4-BF3E-1849-A426-8F6334FB46C4}"/>
              </a:ext>
            </a:extLst>
          </p:cNvPr>
          <p:cNvSpPr/>
          <p:nvPr/>
        </p:nvSpPr>
        <p:spPr>
          <a:xfrm>
            <a:off x="6420714" y="1590669"/>
            <a:ext cx="986168" cy="369332"/>
          </a:xfrm>
          <a:prstGeom prst="rect">
            <a:avLst/>
          </a:prstGeom>
        </p:spPr>
        <p:txBody>
          <a:bodyPr wrap="none">
            <a:spAutoFit/>
          </a:bodyPr>
          <a:lstStyle/>
          <a:p>
            <a:pPr algn="ct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A=A+3</a:t>
            </a:r>
            <a:endParaRPr lang="zh-CN" altLang="en-US" dirty="0">
              <a:latin typeface="Microsoft YaHei" panose="020B0503020204020204" pitchFamily="34" charset="-122"/>
              <a:ea typeface="Microsoft YaHei" panose="020B0503020204020204" pitchFamily="34" charset="-122"/>
            </a:endParaRPr>
          </a:p>
        </p:txBody>
      </p:sp>
      <p:sp>
        <p:nvSpPr>
          <p:cNvPr id="38" name="矩形 37">
            <a:extLst>
              <a:ext uri="{FF2B5EF4-FFF2-40B4-BE49-F238E27FC236}">
                <a16:creationId xmlns:a16="http://schemas.microsoft.com/office/drawing/2014/main" id="{94E2D4DE-0362-4244-A39A-BB042B306183}"/>
              </a:ext>
            </a:extLst>
          </p:cNvPr>
          <p:cNvSpPr/>
          <p:nvPr/>
        </p:nvSpPr>
        <p:spPr>
          <a:xfrm>
            <a:off x="6408298" y="4710937"/>
            <a:ext cx="986168" cy="369332"/>
          </a:xfrm>
          <a:prstGeom prst="rect">
            <a:avLst/>
          </a:prstGeom>
        </p:spPr>
        <p:txBody>
          <a:bodyPr wrap="none">
            <a:spAutoFit/>
          </a:bodyPr>
          <a:lstStyle/>
          <a:p>
            <a:pPr algn="ct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A=A+2</a:t>
            </a:r>
            <a:endParaRPr lang="zh-CN" altLang="en-US" dirty="0">
              <a:latin typeface="Microsoft YaHei" panose="020B0503020204020204" pitchFamily="34" charset="-122"/>
              <a:ea typeface="Microsoft YaHei" panose="020B0503020204020204" pitchFamily="34" charset="-122"/>
            </a:endParaRPr>
          </a:p>
        </p:txBody>
      </p:sp>
      <p:sp>
        <p:nvSpPr>
          <p:cNvPr id="55" name="矩形 54">
            <a:extLst>
              <a:ext uri="{FF2B5EF4-FFF2-40B4-BE49-F238E27FC236}">
                <a16:creationId xmlns:a16="http://schemas.microsoft.com/office/drawing/2014/main" id="{DDA067E0-1D6C-9B4D-8E22-1A98AFA815AB}"/>
              </a:ext>
            </a:extLst>
          </p:cNvPr>
          <p:cNvSpPr/>
          <p:nvPr/>
        </p:nvSpPr>
        <p:spPr>
          <a:xfrm>
            <a:off x="10894908" y="1851646"/>
            <a:ext cx="652744" cy="369332"/>
          </a:xfrm>
          <a:prstGeom prst="rect">
            <a:avLst/>
          </a:prstGeom>
        </p:spPr>
        <p:txBody>
          <a:bodyPr wrap="none">
            <a:spAutoFit/>
          </a:bodyPr>
          <a:lstStyle/>
          <a:p>
            <a:pPr algn="ct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A=2</a:t>
            </a:r>
            <a:endParaRPr lang="zh-CN" altLang="en-US" dirty="0">
              <a:latin typeface="Microsoft YaHei" panose="020B0503020204020204" pitchFamily="34" charset="-122"/>
              <a:ea typeface="Microsoft YaHei" panose="020B0503020204020204" pitchFamily="34" charset="-122"/>
            </a:endParaRPr>
          </a:p>
        </p:txBody>
      </p:sp>
      <p:sp>
        <p:nvSpPr>
          <p:cNvPr id="56" name="矩形 55">
            <a:extLst>
              <a:ext uri="{FF2B5EF4-FFF2-40B4-BE49-F238E27FC236}">
                <a16:creationId xmlns:a16="http://schemas.microsoft.com/office/drawing/2014/main" id="{EC9FB96D-385C-5549-A0A0-87647E9B7CEE}"/>
              </a:ext>
            </a:extLst>
          </p:cNvPr>
          <p:cNvSpPr/>
          <p:nvPr/>
        </p:nvSpPr>
        <p:spPr>
          <a:xfrm>
            <a:off x="10895760" y="3463264"/>
            <a:ext cx="652744" cy="369332"/>
          </a:xfrm>
          <a:prstGeom prst="rect">
            <a:avLst/>
          </a:prstGeom>
        </p:spPr>
        <p:txBody>
          <a:bodyPr wrap="none">
            <a:spAutoFit/>
          </a:bodyPr>
          <a:lstStyle/>
          <a:p>
            <a:pPr algn="ct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A=2</a:t>
            </a:r>
            <a:endParaRPr lang="zh-CN" altLang="en-US" dirty="0">
              <a:latin typeface="Microsoft YaHei" panose="020B0503020204020204" pitchFamily="34" charset="-122"/>
              <a:ea typeface="Microsoft YaHei" panose="020B0503020204020204" pitchFamily="34" charset="-122"/>
            </a:endParaRPr>
          </a:p>
        </p:txBody>
      </p:sp>
      <p:sp>
        <p:nvSpPr>
          <p:cNvPr id="57" name="矩形 56">
            <a:extLst>
              <a:ext uri="{FF2B5EF4-FFF2-40B4-BE49-F238E27FC236}">
                <a16:creationId xmlns:a16="http://schemas.microsoft.com/office/drawing/2014/main" id="{8FF29322-F4AC-7D4E-B88B-617EA09B9142}"/>
              </a:ext>
            </a:extLst>
          </p:cNvPr>
          <p:cNvSpPr/>
          <p:nvPr/>
        </p:nvSpPr>
        <p:spPr>
          <a:xfrm>
            <a:off x="10894908" y="4967462"/>
            <a:ext cx="652744" cy="369332"/>
          </a:xfrm>
          <a:prstGeom prst="rect">
            <a:avLst/>
          </a:prstGeom>
        </p:spPr>
        <p:txBody>
          <a:bodyPr wrap="none">
            <a:spAutoFit/>
          </a:bodyPr>
          <a:lstStyle/>
          <a:p>
            <a:pPr algn="ct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A=2</a:t>
            </a:r>
            <a:endParaRPr lang="zh-CN" altLang="en-US" dirty="0">
              <a:latin typeface="Microsoft YaHei" panose="020B0503020204020204" pitchFamily="34" charset="-122"/>
              <a:ea typeface="Microsoft YaHei" panose="020B0503020204020204" pitchFamily="34" charset="-122"/>
            </a:endParaRPr>
          </a:p>
        </p:txBody>
      </p:sp>
      <p:sp>
        <p:nvSpPr>
          <p:cNvPr id="58" name="矩形 57">
            <a:extLst>
              <a:ext uri="{FF2B5EF4-FFF2-40B4-BE49-F238E27FC236}">
                <a16:creationId xmlns:a16="http://schemas.microsoft.com/office/drawing/2014/main" id="{58F0360C-B4E2-304F-9B87-B1C243D258F6}"/>
              </a:ext>
            </a:extLst>
          </p:cNvPr>
          <p:cNvSpPr/>
          <p:nvPr/>
        </p:nvSpPr>
        <p:spPr>
          <a:xfrm>
            <a:off x="10670711" y="924507"/>
            <a:ext cx="1107996" cy="369332"/>
          </a:xfrm>
          <a:prstGeom prst="rect">
            <a:avLst/>
          </a:prstGeom>
        </p:spPr>
        <p:txBody>
          <a:bodyPr wrap="none">
            <a:spAutoFit/>
          </a:bodyPr>
          <a:lstStyle/>
          <a:p>
            <a:pPr algn="ct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初始狀態</a:t>
            </a:r>
            <a:endParaRPr lang="zh-CN" altLang="en-US" dirty="0">
              <a:latin typeface="Microsoft YaHei" panose="020B0503020204020204" pitchFamily="34" charset="-122"/>
              <a:ea typeface="Microsoft YaHei" panose="020B0503020204020204" pitchFamily="34" charset="-122"/>
            </a:endParaRPr>
          </a:p>
        </p:txBody>
      </p:sp>
      <p:cxnSp>
        <p:nvCxnSpPr>
          <p:cNvPr id="62" name="直线箭头连接符 61">
            <a:extLst>
              <a:ext uri="{FF2B5EF4-FFF2-40B4-BE49-F238E27FC236}">
                <a16:creationId xmlns:a16="http://schemas.microsoft.com/office/drawing/2014/main" id="{9AD5A6D2-183A-814A-BCB8-586688454FC6}"/>
              </a:ext>
            </a:extLst>
          </p:cNvPr>
          <p:cNvCxnSpPr>
            <a:cxnSpLocks/>
          </p:cNvCxnSpPr>
          <p:nvPr/>
        </p:nvCxnSpPr>
        <p:spPr>
          <a:xfrm flipH="1" flipV="1">
            <a:off x="8419946" y="5183462"/>
            <a:ext cx="1573876" cy="55222"/>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sp>
        <p:nvSpPr>
          <p:cNvPr id="66" name="矩形 65">
            <a:extLst>
              <a:ext uri="{FF2B5EF4-FFF2-40B4-BE49-F238E27FC236}">
                <a16:creationId xmlns:a16="http://schemas.microsoft.com/office/drawing/2014/main" id="{F9746163-5298-B84A-B338-40C6724B70D9}"/>
              </a:ext>
            </a:extLst>
          </p:cNvPr>
          <p:cNvSpPr/>
          <p:nvPr/>
        </p:nvSpPr>
        <p:spPr>
          <a:xfrm>
            <a:off x="8939251" y="4351995"/>
            <a:ext cx="715260" cy="646331"/>
          </a:xfrm>
          <a:prstGeom prst="rect">
            <a:avLst/>
          </a:prstGeom>
        </p:spPr>
        <p:txBody>
          <a:bodyPr wrap="none">
            <a:spAutoFit/>
          </a:bodyPr>
          <a:lstStyle/>
          <a:p>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設置</a:t>
            </a: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 </a:t>
            </a:r>
          </a:p>
          <a:p>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A=4</a:t>
            </a:r>
            <a:endParaRPr lang="zh-CN" altLang="en-US" dirty="0">
              <a:latin typeface="Microsoft YaHei" panose="020B0503020204020204" pitchFamily="34" charset="-122"/>
              <a:ea typeface="Microsoft YaHei" panose="020B0503020204020204" pitchFamily="34" charset="-122"/>
            </a:endParaRPr>
          </a:p>
        </p:txBody>
      </p:sp>
      <mc:AlternateContent xmlns:mc="http://schemas.openxmlformats.org/markup-compatibility/2006">
        <mc:Choice xmlns:a14="http://schemas.microsoft.com/office/drawing/2010/main" Requires="a14">
          <p:sp>
            <p:nvSpPr>
              <p:cNvPr id="70" name="矩形 69">
                <a:extLst>
                  <a:ext uri="{FF2B5EF4-FFF2-40B4-BE49-F238E27FC236}">
                    <a16:creationId xmlns:a16="http://schemas.microsoft.com/office/drawing/2014/main" id="{D121EA16-E7CB-B541-BB91-5F2D43E478BD}"/>
                  </a:ext>
                </a:extLst>
              </p:cNvPr>
              <p:cNvSpPr/>
              <p:nvPr/>
            </p:nvSpPr>
            <p:spPr>
              <a:xfrm>
                <a:off x="609491" y="1002204"/>
                <a:ext cx="4552044" cy="5574859"/>
              </a:xfrm>
              <a:prstGeom prst="rect">
                <a:avLst/>
              </a:prstGeom>
              <a:ln>
                <a:noFill/>
              </a:ln>
            </p:spPr>
            <p:txBody>
              <a:bodyPr wrap="square">
                <a:spAutoFit/>
              </a:bodyPr>
              <a:lstStyle/>
              <a:p>
                <a:pPr marL="3429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Comic Sans MS" panose="030F0702030302020204" pitchFamily="66" charset="0"/>
                    <a:ea typeface="微软雅黑" pitchFamily="34" charset="-122"/>
                  </a:rPr>
                  <a:t>假設：狀態</a:t>
                </a:r>
                <a:r>
                  <a:rPr lang="en-US" altLang="zh-CN" sz="2400" dirty="0">
                    <a:solidFill>
                      <a:schemeClr val="tx1">
                        <a:lumMod val="75000"/>
                        <a:lumOff val="25000"/>
                      </a:schemeClr>
                    </a:solidFill>
                    <a:latin typeface="Comic Sans MS" panose="030F0702030302020204" pitchFamily="66" charset="0"/>
                    <a:ea typeface="微软雅黑" pitchFamily="34" charset="-122"/>
                  </a:rPr>
                  <a:t>A</a:t>
                </a:r>
                <a:r>
                  <a:rPr lang="zh-CN" altLang="en-US" sz="2400" dirty="0">
                    <a:solidFill>
                      <a:schemeClr val="tx1">
                        <a:lumMod val="75000"/>
                        <a:lumOff val="25000"/>
                      </a:schemeClr>
                    </a:solidFill>
                    <a:latin typeface="Comic Sans MS" panose="030F0702030302020204" pitchFamily="66" charset="0"/>
                    <a:ea typeface="微软雅黑" pitchFamily="34" charset="-122"/>
                  </a:rPr>
                  <a:t>在三個數據庫冗餘存儲，不存在幷發控制措施</a:t>
                </a:r>
                <a:endParaRPr lang="en-US" altLang="zh-CN" sz="2400" dirty="0">
                  <a:solidFill>
                    <a:schemeClr val="tx1">
                      <a:lumMod val="75000"/>
                      <a:lumOff val="25000"/>
                    </a:schemeClr>
                  </a:solidFill>
                  <a:latin typeface="Comic Sans MS" panose="030F0702030302020204" pitchFamily="66" charset="0"/>
                  <a:ea typeface="微软雅黑" pitchFamily="34" charset="-122"/>
                </a:endParaRPr>
              </a:p>
              <a:p>
                <a:pPr marL="3429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Comic Sans MS" panose="030F0702030302020204" pitchFamily="66" charset="0"/>
                    <a:ea typeface="微软雅黑" pitchFamily="34" charset="-122"/>
                  </a:rPr>
                  <a:t>執行步驟</a:t>
                </a:r>
                <a:endParaRPr lang="en-US" altLang="zh-CN" sz="2400" dirty="0">
                  <a:solidFill>
                    <a:schemeClr val="tx1">
                      <a:lumMod val="75000"/>
                      <a:lumOff val="25000"/>
                    </a:schemeClr>
                  </a:solidFill>
                  <a:latin typeface="Comic Sans MS" panose="030F0702030302020204" pitchFamily="66" charset="0"/>
                  <a:ea typeface="微软雅黑" pitchFamily="34" charset="-122"/>
                </a:endParaRPr>
              </a:p>
              <a:p>
                <a:pPr marL="684000" lvl="1" indent="-342900" algn="just" fontAlgn="base">
                  <a:lnSpc>
                    <a:spcPts val="3600"/>
                  </a:lnSpc>
                  <a:spcBef>
                    <a:spcPct val="20000"/>
                  </a:spcBef>
                  <a:spcAft>
                    <a:spcPct val="0"/>
                  </a:spcAft>
                  <a:buSzPct val="100000"/>
                  <a:buFont typeface="Arial" panose="020B0604020202020204" pitchFamily="34" charset="0"/>
                  <a:buChar char="•"/>
                </a:pPr>
                <a14:m>
                  <m:oMath xmlns:m="http://schemas.openxmlformats.org/officeDocument/2006/math">
                    <m:sSub>
                      <m:sSubPr>
                        <m:ctrlPr>
                          <a:rPr lang="en-US" altLang="zh-CN" sz="2400" i="1">
                            <a:solidFill>
                              <a:schemeClr val="tx1">
                                <a:lumMod val="75000"/>
                                <a:lumOff val="25000"/>
                              </a:schemeClr>
                            </a:solidFill>
                            <a:latin typeface="Cambria Math" panose="02040503050406030204" pitchFamily="18" charset="0"/>
                            <a:ea typeface="微软雅黑" pitchFamily="34" charset="-122"/>
                          </a:rPr>
                        </m:ctrlPr>
                      </m:sSubPr>
                      <m:e>
                        <m:r>
                          <a:rPr lang="en-US" altLang="zh-CN" sz="2400" i="1">
                            <a:solidFill>
                              <a:schemeClr val="tx1">
                                <a:lumMod val="75000"/>
                                <a:lumOff val="25000"/>
                              </a:schemeClr>
                            </a:solidFill>
                            <a:latin typeface="Cambria Math" panose="02040503050406030204" pitchFamily="18" charset="0"/>
                            <a:ea typeface="微软雅黑" pitchFamily="34" charset="-122"/>
                          </a:rPr>
                          <m:t>𝑐</m:t>
                        </m:r>
                      </m:e>
                      <m:sub>
                        <m:r>
                          <a:rPr lang="en-US" altLang="zh-CN" sz="2400" i="1">
                            <a:solidFill>
                              <a:schemeClr val="tx1">
                                <a:lumMod val="75000"/>
                                <a:lumOff val="25000"/>
                              </a:schemeClr>
                            </a:solidFill>
                            <a:latin typeface="Cambria Math" panose="02040503050406030204" pitchFamily="18" charset="0"/>
                            <a:ea typeface="微软雅黑" pitchFamily="34" charset="-122"/>
                          </a:rPr>
                          <m:t>0</m:t>
                        </m:r>
                      </m:sub>
                    </m:sSub>
                  </m:oMath>
                </a14:m>
                <a:r>
                  <a:rPr lang="zh-CN" altLang="en-US" sz="2400" dirty="0">
                    <a:solidFill>
                      <a:schemeClr val="tx1">
                        <a:lumMod val="75000"/>
                        <a:lumOff val="25000"/>
                      </a:schemeClr>
                    </a:solidFill>
                    <a:latin typeface="Comic Sans MS" panose="030F0702030302020204" pitchFamily="66" charset="0"/>
                    <a:ea typeface="微软雅黑" pitchFamily="34" charset="-122"/>
                  </a:rPr>
                  <a:t>向</a:t>
                </a:r>
                <a14:m>
                  <m:oMath xmlns:m="http://schemas.openxmlformats.org/officeDocument/2006/math">
                    <m:sSub>
                      <m:sSubPr>
                        <m:ctrlPr>
                          <a:rPr lang="en-US" altLang="zh-CN" sz="2400" i="1">
                            <a:solidFill>
                              <a:schemeClr val="tx1">
                                <a:lumMod val="75000"/>
                                <a:lumOff val="25000"/>
                              </a:schemeClr>
                            </a:solidFill>
                            <a:latin typeface="Cambria Math" panose="02040503050406030204" pitchFamily="18" charset="0"/>
                            <a:ea typeface="微软雅黑" pitchFamily="34" charset="-122"/>
                          </a:rPr>
                        </m:ctrlPr>
                      </m:sSubPr>
                      <m:e>
                        <m:r>
                          <a:rPr lang="en-US" altLang="zh-CN" sz="2400" i="1">
                            <a:solidFill>
                              <a:schemeClr val="tx1">
                                <a:lumMod val="75000"/>
                                <a:lumOff val="25000"/>
                              </a:schemeClr>
                            </a:solidFill>
                            <a:latin typeface="Cambria Math" panose="02040503050406030204" pitchFamily="18" charset="0"/>
                            <a:ea typeface="微软雅黑" pitchFamily="34" charset="-122"/>
                          </a:rPr>
                          <m:t>𝑠</m:t>
                        </m:r>
                      </m:e>
                      <m:sub>
                        <m:r>
                          <a:rPr lang="en-US" altLang="zh-CN" sz="2400" i="1">
                            <a:solidFill>
                              <a:schemeClr val="tx1">
                                <a:lumMod val="75000"/>
                                <a:lumOff val="25000"/>
                              </a:schemeClr>
                            </a:solidFill>
                            <a:latin typeface="Cambria Math" panose="02040503050406030204" pitchFamily="18" charset="0"/>
                            <a:ea typeface="微软雅黑" pitchFamily="34" charset="-122"/>
                          </a:rPr>
                          <m:t>0</m:t>
                        </m:r>
                      </m:sub>
                    </m:sSub>
                  </m:oMath>
                </a14:m>
                <a:r>
                  <a:rPr lang="zh-CN" altLang="en-US" sz="2400" dirty="0">
                    <a:solidFill>
                      <a:schemeClr val="tx1">
                        <a:lumMod val="75000"/>
                        <a:lumOff val="25000"/>
                      </a:schemeClr>
                    </a:solidFill>
                    <a:latin typeface="Comic Sans MS" panose="030F0702030302020204" pitchFamily="66" charset="0"/>
                    <a:ea typeface="微软雅黑" pitchFamily="34" charset="-122"/>
                  </a:rPr>
                  <a:t>請求將</a:t>
                </a:r>
                <a:r>
                  <a:rPr lang="en-US" altLang="zh-CN" sz="2400" dirty="0">
                    <a:solidFill>
                      <a:schemeClr val="tx1">
                        <a:lumMod val="75000"/>
                        <a:lumOff val="25000"/>
                      </a:schemeClr>
                    </a:solidFill>
                    <a:latin typeface="Comic Sans MS" panose="030F0702030302020204" pitchFamily="66" charset="0"/>
                    <a:ea typeface="微软雅黑" pitchFamily="34" charset="-122"/>
                  </a:rPr>
                  <a:t>A</a:t>
                </a:r>
                <a:r>
                  <a:rPr lang="zh-CN" altLang="en-US" sz="2400" dirty="0">
                    <a:solidFill>
                      <a:schemeClr val="tx1">
                        <a:lumMod val="75000"/>
                        <a:lumOff val="25000"/>
                      </a:schemeClr>
                    </a:solidFill>
                    <a:latin typeface="Comic Sans MS" panose="030F0702030302020204" pitchFamily="66" charset="0"/>
                    <a:ea typeface="微软雅黑" pitchFamily="34" charset="-122"/>
                  </a:rPr>
                  <a:t>的值加</a:t>
                </a:r>
                <a:r>
                  <a:rPr lang="en-US" altLang="zh-CN" sz="2400" dirty="0">
                    <a:solidFill>
                      <a:schemeClr val="tx1">
                        <a:lumMod val="75000"/>
                        <a:lumOff val="25000"/>
                      </a:schemeClr>
                    </a:solidFill>
                    <a:latin typeface="Comic Sans MS" panose="030F0702030302020204" pitchFamily="66" charset="0"/>
                    <a:ea typeface="微软雅黑" pitchFamily="34" charset="-122"/>
                  </a:rPr>
                  <a:t>3</a:t>
                </a:r>
              </a:p>
              <a:p>
                <a:pPr marL="684000" lvl="1" indent="-342900" algn="just" fontAlgn="base">
                  <a:lnSpc>
                    <a:spcPts val="3600"/>
                  </a:lnSpc>
                  <a:spcBef>
                    <a:spcPct val="20000"/>
                  </a:spcBef>
                  <a:spcAft>
                    <a:spcPct val="0"/>
                  </a:spcAft>
                  <a:buSzPct val="100000"/>
                  <a:buFont typeface="Arial" panose="020B0604020202020204" pitchFamily="34" charset="0"/>
                  <a:buChar char="•"/>
                </a:pPr>
                <a14:m>
                  <m:oMath xmlns:m="http://schemas.openxmlformats.org/officeDocument/2006/math">
                    <m:sSub>
                      <m:sSubPr>
                        <m:ctrlPr>
                          <a:rPr lang="en-US" altLang="zh-CN" sz="2400" i="1">
                            <a:solidFill>
                              <a:schemeClr val="tx1">
                                <a:lumMod val="75000"/>
                                <a:lumOff val="25000"/>
                              </a:schemeClr>
                            </a:solidFill>
                            <a:latin typeface="Cambria Math" panose="02040503050406030204" pitchFamily="18" charset="0"/>
                            <a:ea typeface="微软雅黑" pitchFamily="34" charset="-122"/>
                          </a:rPr>
                        </m:ctrlPr>
                      </m:sSubPr>
                      <m:e>
                        <m:r>
                          <a:rPr lang="en-US" altLang="zh-CN" sz="2400" i="1">
                            <a:solidFill>
                              <a:schemeClr val="tx1">
                                <a:lumMod val="75000"/>
                                <a:lumOff val="25000"/>
                              </a:schemeClr>
                            </a:solidFill>
                            <a:latin typeface="Cambria Math" panose="02040503050406030204" pitchFamily="18" charset="0"/>
                            <a:ea typeface="微软雅黑" pitchFamily="34" charset="-122"/>
                          </a:rPr>
                          <m:t>𝑐</m:t>
                        </m:r>
                      </m:e>
                      <m:sub>
                        <m:r>
                          <a:rPr lang="en-US" altLang="zh-CN" sz="2400" b="0" i="1" smtClean="0">
                            <a:solidFill>
                              <a:schemeClr val="tx1">
                                <a:lumMod val="75000"/>
                                <a:lumOff val="25000"/>
                              </a:schemeClr>
                            </a:solidFill>
                            <a:latin typeface="Cambria Math" panose="02040503050406030204" pitchFamily="18" charset="0"/>
                            <a:ea typeface="微软雅黑" pitchFamily="34" charset="-122"/>
                          </a:rPr>
                          <m:t>2</m:t>
                        </m:r>
                      </m:sub>
                    </m:sSub>
                  </m:oMath>
                </a14:m>
                <a:r>
                  <a:rPr lang="zh-CN" altLang="en-US" sz="2400" dirty="0">
                    <a:solidFill>
                      <a:schemeClr val="tx1">
                        <a:lumMod val="75000"/>
                        <a:lumOff val="25000"/>
                      </a:schemeClr>
                    </a:solidFill>
                    <a:latin typeface="Comic Sans MS" panose="030F0702030302020204" pitchFamily="66" charset="0"/>
                    <a:ea typeface="微软雅黑" pitchFamily="34" charset="-122"/>
                  </a:rPr>
                  <a:t>向</a:t>
                </a:r>
                <a14:m>
                  <m:oMath xmlns:m="http://schemas.openxmlformats.org/officeDocument/2006/math">
                    <m:sSub>
                      <m:sSubPr>
                        <m:ctrlPr>
                          <a:rPr lang="en-US" altLang="zh-CN" sz="2400" i="1">
                            <a:solidFill>
                              <a:schemeClr val="tx1">
                                <a:lumMod val="75000"/>
                                <a:lumOff val="25000"/>
                              </a:schemeClr>
                            </a:solidFill>
                            <a:latin typeface="Cambria Math" panose="02040503050406030204" pitchFamily="18" charset="0"/>
                            <a:ea typeface="微软雅黑" pitchFamily="34" charset="-122"/>
                          </a:rPr>
                        </m:ctrlPr>
                      </m:sSubPr>
                      <m:e>
                        <m:r>
                          <a:rPr lang="en-US" altLang="zh-CN" sz="2400" i="1">
                            <a:solidFill>
                              <a:schemeClr val="tx1">
                                <a:lumMod val="75000"/>
                                <a:lumOff val="25000"/>
                              </a:schemeClr>
                            </a:solidFill>
                            <a:latin typeface="Cambria Math" panose="02040503050406030204" pitchFamily="18" charset="0"/>
                            <a:ea typeface="微软雅黑" pitchFamily="34" charset="-122"/>
                          </a:rPr>
                          <m:t>𝑠</m:t>
                        </m:r>
                      </m:e>
                      <m:sub>
                        <m:r>
                          <a:rPr lang="en-US" altLang="zh-CN" sz="2400" b="0" i="1" smtClean="0">
                            <a:solidFill>
                              <a:schemeClr val="tx1">
                                <a:lumMod val="75000"/>
                                <a:lumOff val="25000"/>
                              </a:schemeClr>
                            </a:solidFill>
                            <a:latin typeface="Cambria Math" panose="02040503050406030204" pitchFamily="18" charset="0"/>
                            <a:ea typeface="微软雅黑" pitchFamily="34" charset="-122"/>
                          </a:rPr>
                          <m:t>2</m:t>
                        </m:r>
                      </m:sub>
                    </m:sSub>
                  </m:oMath>
                </a14:m>
                <a:r>
                  <a:rPr lang="zh-CN" altLang="en-US" sz="2400" dirty="0">
                    <a:solidFill>
                      <a:schemeClr val="tx1">
                        <a:lumMod val="75000"/>
                        <a:lumOff val="25000"/>
                      </a:schemeClr>
                    </a:solidFill>
                    <a:latin typeface="Comic Sans MS" panose="030F0702030302020204" pitchFamily="66" charset="0"/>
                    <a:ea typeface="微软雅黑" pitchFamily="34" charset="-122"/>
                  </a:rPr>
                  <a:t>請求將</a:t>
                </a:r>
                <a:r>
                  <a:rPr lang="en-US" altLang="zh-CN" sz="2400" dirty="0">
                    <a:solidFill>
                      <a:schemeClr val="tx1">
                        <a:lumMod val="75000"/>
                        <a:lumOff val="25000"/>
                      </a:schemeClr>
                    </a:solidFill>
                    <a:latin typeface="Comic Sans MS" panose="030F0702030302020204" pitchFamily="66" charset="0"/>
                    <a:ea typeface="微软雅黑" pitchFamily="34" charset="-122"/>
                  </a:rPr>
                  <a:t>A</a:t>
                </a:r>
                <a:r>
                  <a:rPr lang="zh-CN" altLang="en-US" sz="2400" dirty="0">
                    <a:solidFill>
                      <a:schemeClr val="tx1">
                        <a:lumMod val="75000"/>
                        <a:lumOff val="25000"/>
                      </a:schemeClr>
                    </a:solidFill>
                    <a:latin typeface="Comic Sans MS" panose="030F0702030302020204" pitchFamily="66" charset="0"/>
                    <a:ea typeface="微软雅黑" pitchFamily="34" charset="-122"/>
                  </a:rPr>
                  <a:t>的值加</a:t>
                </a:r>
                <a:r>
                  <a:rPr lang="en-US" altLang="zh-CN" sz="2400" dirty="0">
                    <a:solidFill>
                      <a:schemeClr val="tx1">
                        <a:lumMod val="75000"/>
                        <a:lumOff val="25000"/>
                      </a:schemeClr>
                    </a:solidFill>
                    <a:latin typeface="Comic Sans MS" panose="030F0702030302020204" pitchFamily="66" charset="0"/>
                    <a:ea typeface="微软雅黑" pitchFamily="34" charset="-122"/>
                  </a:rPr>
                  <a:t>2</a:t>
                </a:r>
              </a:p>
              <a:p>
                <a:pPr marL="684000" lvl="1" indent="-342900" algn="just" fontAlgn="base">
                  <a:lnSpc>
                    <a:spcPts val="3600"/>
                  </a:lnSpc>
                  <a:spcBef>
                    <a:spcPct val="20000"/>
                  </a:spcBef>
                  <a:spcAft>
                    <a:spcPct val="0"/>
                  </a:spcAft>
                  <a:buSzPct val="100000"/>
                  <a:buFont typeface="Arial" panose="020B0604020202020204" pitchFamily="34" charset="0"/>
                  <a:buChar char="•"/>
                </a:pPr>
                <a14:m>
                  <m:oMath xmlns:m="http://schemas.openxmlformats.org/officeDocument/2006/math">
                    <m:sSub>
                      <m:sSubPr>
                        <m:ctrlPr>
                          <a:rPr lang="en-US" altLang="zh-CN" sz="2400" i="1">
                            <a:solidFill>
                              <a:schemeClr val="tx1">
                                <a:lumMod val="75000"/>
                                <a:lumOff val="25000"/>
                              </a:schemeClr>
                            </a:solidFill>
                            <a:latin typeface="Cambria Math" panose="02040503050406030204" pitchFamily="18" charset="0"/>
                            <a:ea typeface="微软雅黑" pitchFamily="34" charset="-122"/>
                          </a:rPr>
                        </m:ctrlPr>
                      </m:sSubPr>
                      <m:e>
                        <m:r>
                          <a:rPr lang="en-US" altLang="zh-CN" sz="2400" i="1">
                            <a:solidFill>
                              <a:schemeClr val="tx1">
                                <a:lumMod val="75000"/>
                                <a:lumOff val="25000"/>
                              </a:schemeClr>
                            </a:solidFill>
                            <a:latin typeface="Cambria Math" panose="02040503050406030204" pitchFamily="18" charset="0"/>
                            <a:ea typeface="微软雅黑" pitchFamily="34" charset="-122"/>
                          </a:rPr>
                          <m:t>𝑠</m:t>
                        </m:r>
                      </m:e>
                      <m:sub>
                        <m:r>
                          <a:rPr lang="en-US" altLang="zh-CN" sz="2400" b="0" i="1" smtClean="0">
                            <a:solidFill>
                              <a:schemeClr val="tx1">
                                <a:lumMod val="75000"/>
                                <a:lumOff val="25000"/>
                              </a:schemeClr>
                            </a:solidFill>
                            <a:latin typeface="Cambria Math" panose="02040503050406030204" pitchFamily="18" charset="0"/>
                            <a:ea typeface="微软雅黑" pitchFamily="34" charset="-122"/>
                          </a:rPr>
                          <m:t>0</m:t>
                        </m:r>
                      </m:sub>
                    </m:sSub>
                  </m:oMath>
                </a14:m>
                <a:r>
                  <a:rPr lang="zh-CN" altLang="en-US" sz="2400" dirty="0">
                    <a:solidFill>
                      <a:schemeClr val="tx1">
                        <a:lumMod val="75000"/>
                        <a:lumOff val="25000"/>
                      </a:schemeClr>
                    </a:solidFill>
                    <a:latin typeface="Comic Sans MS" panose="030F0702030302020204" pitchFamily="66" charset="0"/>
                    <a:ea typeface="微软雅黑" pitchFamily="34" charset="-122"/>
                  </a:rPr>
                  <a:t>和</a:t>
                </a:r>
                <a14:m>
                  <m:oMath xmlns:m="http://schemas.openxmlformats.org/officeDocument/2006/math">
                    <m:sSub>
                      <m:sSubPr>
                        <m:ctrlPr>
                          <a:rPr lang="en-US" altLang="zh-CN" sz="2400" i="1">
                            <a:solidFill>
                              <a:schemeClr val="tx1">
                                <a:lumMod val="75000"/>
                                <a:lumOff val="25000"/>
                              </a:schemeClr>
                            </a:solidFill>
                            <a:latin typeface="Cambria Math" panose="02040503050406030204" pitchFamily="18" charset="0"/>
                            <a:ea typeface="微软雅黑" pitchFamily="34" charset="-122"/>
                          </a:rPr>
                        </m:ctrlPr>
                      </m:sSubPr>
                      <m:e>
                        <m:r>
                          <a:rPr lang="en-US" altLang="zh-CN" sz="2400" i="1">
                            <a:solidFill>
                              <a:schemeClr val="tx1">
                                <a:lumMod val="75000"/>
                                <a:lumOff val="25000"/>
                              </a:schemeClr>
                            </a:solidFill>
                            <a:latin typeface="Cambria Math" panose="02040503050406030204" pitchFamily="18" charset="0"/>
                            <a:ea typeface="微软雅黑" pitchFamily="34" charset="-122"/>
                          </a:rPr>
                          <m:t>𝑠</m:t>
                        </m:r>
                      </m:e>
                      <m:sub>
                        <m:r>
                          <a:rPr lang="en-US" altLang="zh-CN" sz="2400" i="1">
                            <a:solidFill>
                              <a:schemeClr val="tx1">
                                <a:lumMod val="75000"/>
                                <a:lumOff val="25000"/>
                              </a:schemeClr>
                            </a:solidFill>
                            <a:latin typeface="Cambria Math" panose="02040503050406030204" pitchFamily="18" charset="0"/>
                            <a:ea typeface="微软雅黑" pitchFamily="34" charset="-122"/>
                          </a:rPr>
                          <m:t>2</m:t>
                        </m:r>
                      </m:sub>
                    </m:sSub>
                  </m:oMath>
                </a14:m>
                <a:r>
                  <a:rPr lang="zh-CN" altLang="en-US" sz="2400" dirty="0">
                    <a:solidFill>
                      <a:schemeClr val="tx1">
                        <a:lumMod val="75000"/>
                        <a:lumOff val="25000"/>
                      </a:schemeClr>
                    </a:solidFill>
                    <a:latin typeface="Comic Sans MS" panose="030F0702030302020204" pitchFamily="66" charset="0"/>
                    <a:ea typeface="微软雅黑" pitchFamily="34" charset="-122"/>
                  </a:rPr>
                  <a:t>分別向</a:t>
                </a:r>
                <a14:m>
                  <m:oMath xmlns:m="http://schemas.openxmlformats.org/officeDocument/2006/math">
                    <m:sSub>
                      <m:sSubPr>
                        <m:ctrlPr>
                          <a:rPr lang="en-US" altLang="zh-CN" sz="2400" i="1">
                            <a:solidFill>
                              <a:schemeClr val="tx1">
                                <a:lumMod val="75000"/>
                                <a:lumOff val="25000"/>
                              </a:schemeClr>
                            </a:solidFill>
                            <a:latin typeface="Cambria Math" panose="02040503050406030204" pitchFamily="18" charset="0"/>
                            <a:ea typeface="微软雅黑" pitchFamily="34" charset="-122"/>
                          </a:rPr>
                        </m:ctrlPr>
                      </m:sSubPr>
                      <m:e>
                        <m:r>
                          <a:rPr lang="en-US" altLang="zh-CN" sz="2400" i="1">
                            <a:solidFill>
                              <a:schemeClr val="tx1">
                                <a:lumMod val="75000"/>
                                <a:lumOff val="25000"/>
                              </a:schemeClr>
                            </a:solidFill>
                            <a:latin typeface="Cambria Math" panose="02040503050406030204" pitchFamily="18" charset="0"/>
                            <a:ea typeface="微软雅黑" pitchFamily="34" charset="-122"/>
                          </a:rPr>
                          <m:t>𝑑</m:t>
                        </m:r>
                      </m:e>
                      <m:sub>
                        <m:r>
                          <a:rPr lang="en-US" altLang="zh-CN" sz="2400" i="1">
                            <a:solidFill>
                              <a:schemeClr val="tx1">
                                <a:lumMod val="75000"/>
                                <a:lumOff val="25000"/>
                              </a:schemeClr>
                            </a:solidFill>
                            <a:latin typeface="Cambria Math" panose="02040503050406030204" pitchFamily="18" charset="0"/>
                            <a:ea typeface="微软雅黑" pitchFamily="34" charset="-122"/>
                          </a:rPr>
                          <m:t>0</m:t>
                        </m:r>
                      </m:sub>
                    </m:sSub>
                  </m:oMath>
                </a14:m>
                <a:r>
                  <a:rPr lang="zh-CN" altLang="en-US" sz="2400" dirty="0">
                    <a:solidFill>
                      <a:schemeClr val="tx1">
                        <a:lumMod val="75000"/>
                        <a:lumOff val="25000"/>
                      </a:schemeClr>
                    </a:solidFill>
                    <a:latin typeface="Comic Sans MS" panose="030F0702030302020204" pitchFamily="66" charset="0"/>
                    <a:ea typeface="微软雅黑" pitchFamily="34" charset="-122"/>
                  </a:rPr>
                  <a:t>和</a:t>
                </a:r>
                <a14:m>
                  <m:oMath xmlns:m="http://schemas.openxmlformats.org/officeDocument/2006/math">
                    <m:sSub>
                      <m:sSubPr>
                        <m:ctrlPr>
                          <a:rPr lang="en-US" altLang="zh-CN" sz="2400" i="1">
                            <a:solidFill>
                              <a:schemeClr val="tx1">
                                <a:lumMod val="75000"/>
                                <a:lumOff val="25000"/>
                              </a:schemeClr>
                            </a:solidFill>
                            <a:latin typeface="Cambria Math" panose="02040503050406030204" pitchFamily="18" charset="0"/>
                            <a:ea typeface="微软雅黑" pitchFamily="34" charset="-122"/>
                          </a:rPr>
                        </m:ctrlPr>
                      </m:sSubPr>
                      <m:e>
                        <m:r>
                          <a:rPr lang="en-US" altLang="zh-CN" sz="2400" i="1">
                            <a:solidFill>
                              <a:schemeClr val="tx1">
                                <a:lumMod val="75000"/>
                                <a:lumOff val="25000"/>
                              </a:schemeClr>
                            </a:solidFill>
                            <a:latin typeface="Cambria Math" panose="02040503050406030204" pitchFamily="18" charset="0"/>
                            <a:ea typeface="微软雅黑" pitchFamily="34" charset="-122"/>
                          </a:rPr>
                          <m:t>𝑑</m:t>
                        </m:r>
                      </m:e>
                      <m:sub>
                        <m:r>
                          <a:rPr lang="en-US" altLang="zh-CN" sz="2400" b="0" i="1" smtClean="0">
                            <a:solidFill>
                              <a:schemeClr val="tx1">
                                <a:lumMod val="75000"/>
                                <a:lumOff val="25000"/>
                              </a:schemeClr>
                            </a:solidFill>
                            <a:latin typeface="Cambria Math" panose="02040503050406030204" pitchFamily="18" charset="0"/>
                            <a:ea typeface="微软雅黑" pitchFamily="34" charset="-122"/>
                          </a:rPr>
                          <m:t>2</m:t>
                        </m:r>
                      </m:sub>
                    </m:sSub>
                  </m:oMath>
                </a14:m>
                <a:r>
                  <a:rPr lang="zh-CN" altLang="en-US" sz="2400" dirty="0">
                    <a:solidFill>
                      <a:schemeClr val="tx1">
                        <a:lumMod val="75000"/>
                        <a:lumOff val="25000"/>
                      </a:schemeClr>
                    </a:solidFill>
                    <a:latin typeface="Comic Sans MS" panose="030F0702030302020204" pitchFamily="66" charset="0"/>
                    <a:ea typeface="微软雅黑" pitchFamily="34" charset="-122"/>
                  </a:rPr>
                  <a:t>讀取</a:t>
                </a:r>
                <a:r>
                  <a:rPr lang="en-US" altLang="zh-CN" sz="2400" dirty="0">
                    <a:solidFill>
                      <a:schemeClr val="tx1">
                        <a:lumMod val="75000"/>
                        <a:lumOff val="25000"/>
                      </a:schemeClr>
                    </a:solidFill>
                    <a:latin typeface="Comic Sans MS" panose="030F0702030302020204" pitchFamily="66" charset="0"/>
                    <a:ea typeface="微软雅黑" pitchFamily="34" charset="-122"/>
                  </a:rPr>
                  <a:t>A</a:t>
                </a:r>
                <a:r>
                  <a:rPr lang="zh-CN" altLang="en-US" sz="2400" dirty="0">
                    <a:solidFill>
                      <a:schemeClr val="tx1">
                        <a:lumMod val="75000"/>
                        <a:lumOff val="25000"/>
                      </a:schemeClr>
                    </a:solidFill>
                    <a:latin typeface="Comic Sans MS" panose="030F0702030302020204" pitchFamily="66" charset="0"/>
                    <a:ea typeface="微软雅黑" pitchFamily="34" charset="-122"/>
                  </a:rPr>
                  <a:t>的值幷完成計算</a:t>
                </a:r>
                <a:endParaRPr lang="en-US" altLang="zh-CN" sz="2400" dirty="0">
                  <a:solidFill>
                    <a:schemeClr val="tx1">
                      <a:lumMod val="75000"/>
                      <a:lumOff val="25000"/>
                    </a:schemeClr>
                  </a:solidFill>
                  <a:latin typeface="Comic Sans MS" panose="030F0702030302020204" pitchFamily="66" charset="0"/>
                  <a:ea typeface="微软雅黑" pitchFamily="34" charset="-122"/>
                </a:endParaRPr>
              </a:p>
              <a:p>
                <a:pPr marL="684000" lvl="1" indent="-342900" algn="just" fontAlgn="base">
                  <a:lnSpc>
                    <a:spcPts val="3600"/>
                  </a:lnSpc>
                  <a:spcBef>
                    <a:spcPct val="20000"/>
                  </a:spcBef>
                  <a:spcAft>
                    <a:spcPct val="0"/>
                  </a:spcAft>
                  <a:buSzPct val="100000"/>
                  <a:buFont typeface="Arial" panose="020B0604020202020204" pitchFamily="34" charset="0"/>
                  <a:buChar char="•"/>
                </a:pPr>
                <a14:m>
                  <m:oMath xmlns:m="http://schemas.openxmlformats.org/officeDocument/2006/math">
                    <m:sSub>
                      <m:sSubPr>
                        <m:ctrlPr>
                          <a:rPr lang="en-US" altLang="zh-CN" sz="2400" i="1">
                            <a:solidFill>
                              <a:schemeClr val="tx1">
                                <a:lumMod val="75000"/>
                                <a:lumOff val="25000"/>
                              </a:schemeClr>
                            </a:solidFill>
                            <a:latin typeface="Cambria Math" panose="02040503050406030204" pitchFamily="18" charset="0"/>
                            <a:ea typeface="微软雅黑" pitchFamily="34" charset="-122"/>
                          </a:rPr>
                        </m:ctrlPr>
                      </m:sSubPr>
                      <m:e>
                        <m:r>
                          <a:rPr lang="en-US" altLang="zh-CN" sz="2400" i="1">
                            <a:solidFill>
                              <a:schemeClr val="tx1">
                                <a:lumMod val="75000"/>
                                <a:lumOff val="25000"/>
                              </a:schemeClr>
                            </a:solidFill>
                            <a:latin typeface="Cambria Math" panose="02040503050406030204" pitchFamily="18" charset="0"/>
                            <a:ea typeface="微软雅黑" pitchFamily="34" charset="-122"/>
                          </a:rPr>
                          <m:t>𝑠</m:t>
                        </m:r>
                      </m:e>
                      <m:sub>
                        <m:r>
                          <a:rPr lang="en-US" altLang="zh-CN" sz="2400" i="1">
                            <a:solidFill>
                              <a:schemeClr val="tx1">
                                <a:lumMod val="75000"/>
                                <a:lumOff val="25000"/>
                              </a:schemeClr>
                            </a:solidFill>
                            <a:latin typeface="Cambria Math" panose="02040503050406030204" pitchFamily="18" charset="0"/>
                            <a:ea typeface="微软雅黑" pitchFamily="34" charset="-122"/>
                          </a:rPr>
                          <m:t>0</m:t>
                        </m:r>
                      </m:sub>
                    </m:sSub>
                  </m:oMath>
                </a14:m>
                <a:r>
                  <a:rPr lang="zh-CN" altLang="en-US" sz="2400" dirty="0">
                    <a:solidFill>
                      <a:schemeClr val="tx1">
                        <a:lumMod val="75000"/>
                        <a:lumOff val="25000"/>
                      </a:schemeClr>
                    </a:solidFill>
                    <a:latin typeface="Comic Sans MS" panose="030F0702030302020204" pitchFamily="66" charset="0"/>
                    <a:ea typeface="微软雅黑" pitchFamily="34" charset="-122"/>
                  </a:rPr>
                  <a:t>和</a:t>
                </a:r>
                <a14:m>
                  <m:oMath xmlns:m="http://schemas.openxmlformats.org/officeDocument/2006/math">
                    <m:sSub>
                      <m:sSubPr>
                        <m:ctrlPr>
                          <a:rPr lang="en-US" altLang="zh-CN" sz="2400" i="1">
                            <a:solidFill>
                              <a:schemeClr val="tx1">
                                <a:lumMod val="75000"/>
                                <a:lumOff val="25000"/>
                              </a:schemeClr>
                            </a:solidFill>
                            <a:latin typeface="Cambria Math" panose="02040503050406030204" pitchFamily="18" charset="0"/>
                            <a:ea typeface="微软雅黑" pitchFamily="34" charset="-122"/>
                          </a:rPr>
                        </m:ctrlPr>
                      </m:sSubPr>
                      <m:e>
                        <m:r>
                          <a:rPr lang="en-US" altLang="zh-CN" sz="2400" i="1">
                            <a:solidFill>
                              <a:schemeClr val="tx1">
                                <a:lumMod val="75000"/>
                                <a:lumOff val="25000"/>
                              </a:schemeClr>
                            </a:solidFill>
                            <a:latin typeface="Cambria Math" panose="02040503050406030204" pitchFamily="18" charset="0"/>
                            <a:ea typeface="微软雅黑" pitchFamily="34" charset="-122"/>
                          </a:rPr>
                          <m:t>𝑠</m:t>
                        </m:r>
                      </m:e>
                      <m:sub>
                        <m:r>
                          <a:rPr lang="en-US" altLang="zh-CN" sz="2400" i="1">
                            <a:solidFill>
                              <a:schemeClr val="tx1">
                                <a:lumMod val="75000"/>
                                <a:lumOff val="25000"/>
                              </a:schemeClr>
                            </a:solidFill>
                            <a:latin typeface="Cambria Math" panose="02040503050406030204" pitchFamily="18" charset="0"/>
                            <a:ea typeface="微软雅黑" pitchFamily="34" charset="-122"/>
                          </a:rPr>
                          <m:t>2</m:t>
                        </m:r>
                      </m:sub>
                    </m:sSub>
                  </m:oMath>
                </a14:m>
                <a:r>
                  <a:rPr lang="zh-CN" altLang="en-US" sz="2400" dirty="0">
                    <a:solidFill>
                      <a:schemeClr val="tx1">
                        <a:lumMod val="75000"/>
                        <a:lumOff val="25000"/>
                      </a:schemeClr>
                    </a:solidFill>
                    <a:latin typeface="Comic Sans MS" panose="030F0702030302020204" pitchFamily="66" charset="0"/>
                    <a:ea typeface="微软雅黑" pitchFamily="34" charset="-122"/>
                  </a:rPr>
                  <a:t>依次向三個數據庫更新</a:t>
                </a:r>
                <a:r>
                  <a:rPr lang="en-US" altLang="zh-CN" sz="2400" dirty="0">
                    <a:solidFill>
                      <a:schemeClr val="tx1">
                        <a:lumMod val="75000"/>
                        <a:lumOff val="25000"/>
                      </a:schemeClr>
                    </a:solidFill>
                    <a:latin typeface="Comic Sans MS" panose="030F0702030302020204" pitchFamily="66" charset="0"/>
                    <a:ea typeface="微软雅黑" pitchFamily="34" charset="-122"/>
                  </a:rPr>
                  <a:t>A</a:t>
                </a:r>
                <a:r>
                  <a:rPr lang="zh-CN" altLang="en-US" sz="2400" dirty="0">
                    <a:solidFill>
                      <a:schemeClr val="tx1">
                        <a:lumMod val="75000"/>
                        <a:lumOff val="25000"/>
                      </a:schemeClr>
                    </a:solidFill>
                    <a:latin typeface="Comic Sans MS" panose="030F0702030302020204" pitchFamily="66" charset="0"/>
                    <a:ea typeface="微软雅黑" pitchFamily="34" charset="-122"/>
                  </a:rPr>
                  <a:t>的值</a:t>
                </a:r>
                <a:endParaRPr lang="en-US" altLang="zh-CN" sz="2400" dirty="0">
                  <a:solidFill>
                    <a:schemeClr val="tx1">
                      <a:lumMod val="75000"/>
                      <a:lumOff val="25000"/>
                    </a:schemeClr>
                  </a:solidFill>
                  <a:latin typeface="Comic Sans MS" panose="030F0702030302020204" pitchFamily="66" charset="0"/>
                  <a:ea typeface="微软雅黑" pitchFamily="34" charset="-122"/>
                </a:endParaRPr>
              </a:p>
              <a:p>
                <a:pPr marL="3429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Comic Sans MS" panose="030F0702030302020204" pitchFamily="66" charset="0"/>
                    <a:ea typeface="微软雅黑" pitchFamily="34" charset="-122"/>
                  </a:rPr>
                  <a:t>由于指令的幷發執行，可能導致三個數據庫</a:t>
                </a:r>
                <a:r>
                  <a:rPr lang="en-US" altLang="zh-CN" sz="2400" dirty="0">
                    <a:solidFill>
                      <a:schemeClr val="tx1">
                        <a:lumMod val="75000"/>
                        <a:lumOff val="25000"/>
                      </a:schemeClr>
                    </a:solidFill>
                    <a:latin typeface="Comic Sans MS" panose="030F0702030302020204" pitchFamily="66" charset="0"/>
                    <a:ea typeface="微软雅黑" pitchFamily="34" charset="-122"/>
                  </a:rPr>
                  <a:t>A</a:t>
                </a:r>
                <a:r>
                  <a:rPr lang="zh-CN" altLang="en-US" sz="2400" dirty="0">
                    <a:solidFill>
                      <a:schemeClr val="tx1">
                        <a:lumMod val="75000"/>
                        <a:lumOff val="25000"/>
                      </a:schemeClr>
                    </a:solidFill>
                    <a:latin typeface="Comic Sans MS" panose="030F0702030302020204" pitchFamily="66" charset="0"/>
                    <a:ea typeface="微软雅黑" pitchFamily="34" charset="-122"/>
                  </a:rPr>
                  <a:t>的值不一致</a:t>
                </a:r>
                <a:endParaRPr lang="en-US" altLang="zh-CN" sz="2400" dirty="0">
                  <a:solidFill>
                    <a:schemeClr val="tx1">
                      <a:lumMod val="75000"/>
                      <a:lumOff val="25000"/>
                    </a:schemeClr>
                  </a:solidFill>
                  <a:latin typeface="Comic Sans MS" panose="030F0702030302020204" pitchFamily="66" charset="0"/>
                  <a:ea typeface="微软雅黑" pitchFamily="34" charset="-122"/>
                </a:endParaRPr>
              </a:p>
            </p:txBody>
          </p:sp>
        </mc:Choice>
        <mc:Fallback>
          <p:sp>
            <p:nvSpPr>
              <p:cNvPr id="70" name="矩形 69">
                <a:extLst>
                  <a:ext uri="{FF2B5EF4-FFF2-40B4-BE49-F238E27FC236}">
                    <a16:creationId xmlns:a16="http://schemas.microsoft.com/office/drawing/2014/main" id="{D121EA16-E7CB-B541-BB91-5F2D43E478BD}"/>
                  </a:ext>
                </a:extLst>
              </p:cNvPr>
              <p:cNvSpPr>
                <a:spLocks noRot="1" noChangeAspect="1" noMove="1" noResize="1" noEditPoints="1" noAdjustHandles="1" noChangeArrowheads="1" noChangeShapeType="1" noTextEdit="1"/>
              </p:cNvSpPr>
              <p:nvPr/>
            </p:nvSpPr>
            <p:spPr>
              <a:xfrm>
                <a:off x="609491" y="1002204"/>
                <a:ext cx="4552044" cy="5574859"/>
              </a:xfrm>
              <a:prstGeom prst="rect">
                <a:avLst/>
              </a:prstGeom>
              <a:blipFill>
                <a:blip r:embed="rId13"/>
                <a:stretch>
                  <a:fillRect l="-1874" r="-2008" b="-1530"/>
                </a:stretch>
              </a:blipFill>
              <a:ln>
                <a:noFill/>
              </a:ln>
            </p:spPr>
            <p:txBody>
              <a:bodyPr/>
              <a:lstStyle/>
              <a:p>
                <a:r>
                  <a:rPr lang="fr-FR">
                    <a:noFill/>
                  </a:rPr>
                  <a:t> </a:t>
                </a:r>
              </a:p>
            </p:txBody>
          </p:sp>
        </mc:Fallback>
      </mc:AlternateContent>
      <p:sp>
        <p:nvSpPr>
          <p:cNvPr id="81" name="矩形 80">
            <a:extLst>
              <a:ext uri="{FF2B5EF4-FFF2-40B4-BE49-F238E27FC236}">
                <a16:creationId xmlns:a16="http://schemas.microsoft.com/office/drawing/2014/main" id="{5AF27E33-8A52-ED4A-B184-82E92A3B7C07}"/>
              </a:ext>
            </a:extLst>
          </p:cNvPr>
          <p:cNvSpPr/>
          <p:nvPr/>
        </p:nvSpPr>
        <p:spPr>
          <a:xfrm>
            <a:off x="8767507" y="1275171"/>
            <a:ext cx="877163" cy="369332"/>
          </a:xfrm>
          <a:prstGeom prst="rect">
            <a:avLst/>
          </a:prstGeom>
        </p:spPr>
        <p:txBody>
          <a:bodyPr wrap="none">
            <a:spAutoFit/>
          </a:bodyPr>
          <a:lstStyle/>
          <a:p>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獲取</a:t>
            </a: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 A</a:t>
            </a:r>
            <a:endParaRPr lang="zh-CN" altLang="en-US" dirty="0"/>
          </a:p>
        </p:txBody>
      </p:sp>
      <p:cxnSp>
        <p:nvCxnSpPr>
          <p:cNvPr id="82" name="直线箭头连接符 81">
            <a:extLst>
              <a:ext uri="{FF2B5EF4-FFF2-40B4-BE49-F238E27FC236}">
                <a16:creationId xmlns:a16="http://schemas.microsoft.com/office/drawing/2014/main" id="{47133FC2-76CC-294C-8B3F-93FA41FC8140}"/>
              </a:ext>
            </a:extLst>
          </p:cNvPr>
          <p:cNvCxnSpPr>
            <a:cxnSpLocks/>
          </p:cNvCxnSpPr>
          <p:nvPr/>
        </p:nvCxnSpPr>
        <p:spPr>
          <a:xfrm flipH="1" flipV="1">
            <a:off x="8419947" y="2036313"/>
            <a:ext cx="1573875" cy="1575120"/>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87" name="直线箭头连接符 86">
            <a:extLst>
              <a:ext uri="{FF2B5EF4-FFF2-40B4-BE49-F238E27FC236}">
                <a16:creationId xmlns:a16="http://schemas.microsoft.com/office/drawing/2014/main" id="{CA9AD5D7-9925-3940-9FB5-8E4902F4BB75}"/>
              </a:ext>
            </a:extLst>
          </p:cNvPr>
          <p:cNvCxnSpPr>
            <a:cxnSpLocks/>
          </p:cNvCxnSpPr>
          <p:nvPr/>
        </p:nvCxnSpPr>
        <p:spPr>
          <a:xfrm flipH="1" flipV="1">
            <a:off x="8419947" y="2008561"/>
            <a:ext cx="1581042" cy="2908615"/>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sp>
        <p:nvSpPr>
          <p:cNvPr id="43" name="矩形 42">
            <a:extLst>
              <a:ext uri="{FF2B5EF4-FFF2-40B4-BE49-F238E27FC236}">
                <a16:creationId xmlns:a16="http://schemas.microsoft.com/office/drawing/2014/main" id="{0545B449-DED0-D644-A749-DCF43D396E7D}"/>
              </a:ext>
            </a:extLst>
          </p:cNvPr>
          <p:cNvSpPr/>
          <p:nvPr/>
        </p:nvSpPr>
        <p:spPr>
          <a:xfrm>
            <a:off x="8784787" y="5235589"/>
            <a:ext cx="877163" cy="369332"/>
          </a:xfrm>
          <a:prstGeom prst="rect">
            <a:avLst/>
          </a:prstGeom>
        </p:spPr>
        <p:txBody>
          <a:bodyPr wrap="none">
            <a:spAutoFit/>
          </a:bodyPr>
          <a:lstStyle/>
          <a:p>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獲取</a:t>
            </a: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 A</a:t>
            </a:r>
            <a:endParaRPr lang="zh-CN" altLang="en-US" dirty="0"/>
          </a:p>
        </p:txBody>
      </p:sp>
      <p:cxnSp>
        <p:nvCxnSpPr>
          <p:cNvPr id="46" name="直线箭头连接符 45">
            <a:extLst>
              <a:ext uri="{FF2B5EF4-FFF2-40B4-BE49-F238E27FC236}">
                <a16:creationId xmlns:a16="http://schemas.microsoft.com/office/drawing/2014/main" id="{60C313F9-4264-174A-8B10-A38B03159117}"/>
              </a:ext>
            </a:extLst>
          </p:cNvPr>
          <p:cNvCxnSpPr>
            <a:cxnSpLocks/>
          </p:cNvCxnSpPr>
          <p:nvPr/>
        </p:nvCxnSpPr>
        <p:spPr>
          <a:xfrm flipH="1" flipV="1">
            <a:off x="8401073" y="4950777"/>
            <a:ext cx="1592749" cy="16685"/>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47" name="直线箭头连接符 46">
            <a:extLst>
              <a:ext uri="{FF2B5EF4-FFF2-40B4-BE49-F238E27FC236}">
                <a16:creationId xmlns:a16="http://schemas.microsoft.com/office/drawing/2014/main" id="{B2EBDEC5-8400-234B-8957-0BFB381C9742}"/>
              </a:ext>
            </a:extLst>
          </p:cNvPr>
          <p:cNvCxnSpPr>
            <a:cxnSpLocks/>
          </p:cNvCxnSpPr>
          <p:nvPr/>
        </p:nvCxnSpPr>
        <p:spPr>
          <a:xfrm flipH="1">
            <a:off x="8419946" y="3611433"/>
            <a:ext cx="1573877" cy="1305743"/>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50" name="直线箭头连接符 49">
            <a:extLst>
              <a:ext uri="{FF2B5EF4-FFF2-40B4-BE49-F238E27FC236}">
                <a16:creationId xmlns:a16="http://schemas.microsoft.com/office/drawing/2014/main" id="{C19BE69C-ABC1-3B4F-9B1E-C6FC3FDB4F48}"/>
              </a:ext>
            </a:extLst>
          </p:cNvPr>
          <p:cNvCxnSpPr>
            <a:cxnSpLocks/>
          </p:cNvCxnSpPr>
          <p:nvPr/>
        </p:nvCxnSpPr>
        <p:spPr>
          <a:xfrm flipH="1">
            <a:off x="8419946" y="2098112"/>
            <a:ext cx="1268321" cy="2819064"/>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59" name="直线箭头连接符 58">
            <a:extLst>
              <a:ext uri="{FF2B5EF4-FFF2-40B4-BE49-F238E27FC236}">
                <a16:creationId xmlns:a16="http://schemas.microsoft.com/office/drawing/2014/main" id="{87461D2D-89F1-1644-9ACF-DB36558BFAA6}"/>
              </a:ext>
            </a:extLst>
          </p:cNvPr>
          <p:cNvCxnSpPr>
            <a:cxnSpLocks/>
          </p:cNvCxnSpPr>
          <p:nvPr/>
        </p:nvCxnSpPr>
        <p:spPr>
          <a:xfrm flipH="1">
            <a:off x="8419947" y="1709256"/>
            <a:ext cx="1573875" cy="0"/>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sp>
        <p:nvSpPr>
          <p:cNvPr id="60" name="矩形 59">
            <a:extLst>
              <a:ext uri="{FF2B5EF4-FFF2-40B4-BE49-F238E27FC236}">
                <a16:creationId xmlns:a16="http://schemas.microsoft.com/office/drawing/2014/main" id="{335A1E82-E18F-A24A-B2B7-D5A4D827A706}"/>
              </a:ext>
            </a:extLst>
          </p:cNvPr>
          <p:cNvSpPr/>
          <p:nvPr/>
        </p:nvSpPr>
        <p:spPr>
          <a:xfrm>
            <a:off x="8880432" y="1896833"/>
            <a:ext cx="652743" cy="646331"/>
          </a:xfrm>
          <a:prstGeom prst="rect">
            <a:avLst/>
          </a:prstGeom>
        </p:spPr>
        <p:txBody>
          <a:bodyPr wrap="none">
            <a:spAutoFit/>
          </a:bodyPr>
          <a:lstStyle/>
          <a:p>
            <a:pPr algn="ct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設置</a:t>
            </a:r>
            <a:endPar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endParaRPr>
          </a:p>
          <a:p>
            <a:pPr algn="ct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A=5</a:t>
            </a:r>
            <a:endParaRPr lang="zh-CN" altLang="en-US" dirty="0">
              <a:latin typeface="Microsoft YaHei" panose="020B0503020204020204" pitchFamily="34" charset="-122"/>
              <a:ea typeface="Microsoft YaHei" panose="020B0503020204020204" pitchFamily="34" charset="-122"/>
            </a:endParaRPr>
          </a:p>
        </p:txBody>
      </p:sp>
      <p:sp>
        <p:nvSpPr>
          <p:cNvPr id="63" name="矩形 62">
            <a:extLst>
              <a:ext uri="{FF2B5EF4-FFF2-40B4-BE49-F238E27FC236}">
                <a16:creationId xmlns:a16="http://schemas.microsoft.com/office/drawing/2014/main" id="{34D2F90D-3993-B447-A259-E1F9962424E5}"/>
              </a:ext>
            </a:extLst>
          </p:cNvPr>
          <p:cNvSpPr/>
          <p:nvPr/>
        </p:nvSpPr>
        <p:spPr>
          <a:xfrm>
            <a:off x="6347339" y="2027068"/>
            <a:ext cx="1107996" cy="369332"/>
          </a:xfrm>
          <a:prstGeom prst="rect">
            <a:avLst/>
          </a:prstGeom>
        </p:spPr>
        <p:txBody>
          <a:bodyPr wrap="none">
            <a:spAutoFit/>
          </a:bodyPr>
          <a:lstStyle/>
          <a:p>
            <a:pPr algn="ct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請求指令</a:t>
            </a:r>
            <a:endParaRPr lang="zh-CN" altLang="en-US" dirty="0">
              <a:latin typeface="Microsoft YaHei" panose="020B0503020204020204" pitchFamily="34" charset="-122"/>
              <a:ea typeface="Microsoft YaHei" panose="020B0503020204020204" pitchFamily="34" charset="-122"/>
            </a:endParaRPr>
          </a:p>
        </p:txBody>
      </p:sp>
      <p:sp>
        <p:nvSpPr>
          <p:cNvPr id="64" name="矩形 63">
            <a:extLst>
              <a:ext uri="{FF2B5EF4-FFF2-40B4-BE49-F238E27FC236}">
                <a16:creationId xmlns:a16="http://schemas.microsoft.com/office/drawing/2014/main" id="{A78328ED-671E-7142-86EB-12813AE70C27}"/>
              </a:ext>
            </a:extLst>
          </p:cNvPr>
          <p:cNvSpPr/>
          <p:nvPr/>
        </p:nvSpPr>
        <p:spPr>
          <a:xfrm>
            <a:off x="6378558" y="5106920"/>
            <a:ext cx="1107996" cy="369332"/>
          </a:xfrm>
          <a:prstGeom prst="rect">
            <a:avLst/>
          </a:prstGeom>
        </p:spPr>
        <p:txBody>
          <a:bodyPr wrap="none">
            <a:spAutoFit/>
          </a:bodyPr>
          <a:lstStyle/>
          <a:p>
            <a:pPr algn="ct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請求指令</a:t>
            </a:r>
            <a:endParaRPr lang="zh-CN" altLang="en-US" dirty="0">
              <a:latin typeface="Microsoft YaHei" panose="020B0503020204020204" pitchFamily="34" charset="-122"/>
              <a:ea typeface="Microsoft YaHei" panose="020B0503020204020204" pitchFamily="34" charset="-122"/>
            </a:endParaRPr>
          </a:p>
        </p:txBody>
      </p:sp>
      <p:pic>
        <p:nvPicPr>
          <p:cNvPr id="65" name="图形 64">
            <a:extLst>
              <a:ext uri="{FF2B5EF4-FFF2-40B4-BE49-F238E27FC236}">
                <a16:creationId xmlns:a16="http://schemas.microsoft.com/office/drawing/2014/main" id="{9551D3FC-A7E1-574B-8574-F1935B2EAFA4}"/>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000989" y="1528013"/>
            <a:ext cx="800615" cy="800615"/>
          </a:xfrm>
          <a:prstGeom prst="rect">
            <a:avLst/>
          </a:prstGeom>
        </p:spPr>
      </p:pic>
      <p:pic>
        <p:nvPicPr>
          <p:cNvPr id="67" name="图形 66">
            <a:extLst>
              <a:ext uri="{FF2B5EF4-FFF2-40B4-BE49-F238E27FC236}">
                <a16:creationId xmlns:a16="http://schemas.microsoft.com/office/drawing/2014/main" id="{0BA3A162-48CC-CD42-8A4F-B26161B5FACE}"/>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000989" y="3207745"/>
            <a:ext cx="800615" cy="800615"/>
          </a:xfrm>
          <a:prstGeom prst="rect">
            <a:avLst/>
          </a:prstGeom>
        </p:spPr>
      </p:pic>
      <p:pic>
        <p:nvPicPr>
          <p:cNvPr id="68" name="图形 67">
            <a:extLst>
              <a:ext uri="{FF2B5EF4-FFF2-40B4-BE49-F238E27FC236}">
                <a16:creationId xmlns:a16="http://schemas.microsoft.com/office/drawing/2014/main" id="{3817BDDE-6008-B94C-B794-2F5957545726}"/>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93822" y="4708515"/>
            <a:ext cx="800615" cy="800615"/>
          </a:xfrm>
          <a:prstGeom prst="rect">
            <a:avLst/>
          </a:prstGeom>
        </p:spPr>
      </p:pic>
      <mc:AlternateContent xmlns:mc="http://schemas.openxmlformats.org/markup-compatibility/2006" xmlns:a14="http://schemas.microsoft.com/office/drawing/2010/main">
        <mc:Choice Requires="a14">
          <p:sp>
            <p:nvSpPr>
              <p:cNvPr id="69" name="矩形 68">
                <a:extLst>
                  <a:ext uri="{FF2B5EF4-FFF2-40B4-BE49-F238E27FC236}">
                    <a16:creationId xmlns:a16="http://schemas.microsoft.com/office/drawing/2014/main" id="{337EBAC0-F485-C341-9381-70F61AE729E1}"/>
                  </a:ext>
                </a:extLst>
              </p:cNvPr>
              <p:cNvSpPr/>
              <p:nvPr/>
            </p:nvSpPr>
            <p:spPr>
              <a:xfrm>
                <a:off x="10184886" y="2303088"/>
                <a:ext cx="493981"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b="0" i="1" smtClean="0">
                              <a:solidFill>
                                <a:schemeClr val="tx1">
                                  <a:lumMod val="75000"/>
                                  <a:lumOff val="25000"/>
                                </a:schemeClr>
                              </a:solidFill>
                              <a:latin typeface="Cambria Math" panose="02040503050406030204" pitchFamily="18" charset="0"/>
                              <a:ea typeface="微软雅黑" pitchFamily="34" charset="-122"/>
                            </a:rPr>
                            <m:t>𝑑</m:t>
                          </m:r>
                        </m:e>
                        <m:sub>
                          <m:r>
                            <a:rPr lang="en-US" altLang="zh-CN" i="1">
                              <a:solidFill>
                                <a:schemeClr val="tx1">
                                  <a:lumMod val="75000"/>
                                  <a:lumOff val="25000"/>
                                </a:schemeClr>
                              </a:solidFill>
                              <a:latin typeface="Cambria Math" panose="02040503050406030204" pitchFamily="18" charset="0"/>
                              <a:ea typeface="微软雅黑" pitchFamily="34" charset="-122"/>
                            </a:rPr>
                            <m:t>0</m:t>
                          </m:r>
                        </m:sub>
                      </m:sSub>
                    </m:oMath>
                  </m:oMathPara>
                </a14:m>
                <a:endParaRPr lang="zh-CN" altLang="en-US" dirty="0">
                  <a:latin typeface="Microsoft YaHei" panose="020B0503020204020204" pitchFamily="34" charset="-122"/>
                  <a:ea typeface="Microsoft YaHei" panose="020B0503020204020204" pitchFamily="34" charset="-122"/>
                </a:endParaRPr>
              </a:p>
            </p:txBody>
          </p:sp>
        </mc:Choice>
        <mc:Fallback xmlns="">
          <p:sp>
            <p:nvSpPr>
              <p:cNvPr id="69" name="矩形 68">
                <a:extLst>
                  <a:ext uri="{FF2B5EF4-FFF2-40B4-BE49-F238E27FC236}">
                    <a16:creationId xmlns:a16="http://schemas.microsoft.com/office/drawing/2014/main" id="{337EBAC0-F485-C341-9381-70F61AE729E1}"/>
                  </a:ext>
                </a:extLst>
              </p:cNvPr>
              <p:cNvSpPr>
                <a:spLocks noRot="1" noChangeAspect="1" noMove="1" noResize="1" noEditPoints="1" noAdjustHandles="1" noChangeArrowheads="1" noChangeShapeType="1" noTextEdit="1"/>
              </p:cNvSpPr>
              <p:nvPr/>
            </p:nvSpPr>
            <p:spPr>
              <a:xfrm>
                <a:off x="10184886" y="2303088"/>
                <a:ext cx="493981" cy="369332"/>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矩形 70">
                <a:extLst>
                  <a:ext uri="{FF2B5EF4-FFF2-40B4-BE49-F238E27FC236}">
                    <a16:creationId xmlns:a16="http://schemas.microsoft.com/office/drawing/2014/main" id="{52F01E20-96C3-A944-ADC7-5605FBE1FC14}"/>
                  </a:ext>
                </a:extLst>
              </p:cNvPr>
              <p:cNvSpPr/>
              <p:nvPr/>
            </p:nvSpPr>
            <p:spPr>
              <a:xfrm>
                <a:off x="10187548" y="3963923"/>
                <a:ext cx="488659"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i="1">
                              <a:solidFill>
                                <a:schemeClr val="tx1">
                                  <a:lumMod val="75000"/>
                                  <a:lumOff val="25000"/>
                                </a:schemeClr>
                              </a:solidFill>
                              <a:latin typeface="Cambria Math" panose="02040503050406030204" pitchFamily="18" charset="0"/>
                              <a:ea typeface="微软雅黑" pitchFamily="34" charset="-122"/>
                            </a:rPr>
                            <m:t>𝑑</m:t>
                          </m:r>
                        </m:e>
                        <m:sub>
                          <m:r>
                            <a:rPr lang="en-US" altLang="zh-CN" b="0" i="1" smtClean="0">
                              <a:solidFill>
                                <a:schemeClr val="tx1">
                                  <a:lumMod val="75000"/>
                                  <a:lumOff val="25000"/>
                                </a:schemeClr>
                              </a:solidFill>
                              <a:latin typeface="Cambria Math" panose="02040503050406030204" pitchFamily="18" charset="0"/>
                              <a:ea typeface="微软雅黑" pitchFamily="34" charset="-122"/>
                            </a:rPr>
                            <m:t>1</m:t>
                          </m:r>
                        </m:sub>
                      </m:sSub>
                    </m:oMath>
                  </m:oMathPara>
                </a14:m>
                <a:endParaRPr lang="zh-CN" altLang="en-US" dirty="0">
                  <a:latin typeface="Microsoft YaHei" panose="020B0503020204020204" pitchFamily="34" charset="-122"/>
                  <a:ea typeface="Microsoft YaHei" panose="020B0503020204020204" pitchFamily="34" charset="-122"/>
                </a:endParaRPr>
              </a:p>
            </p:txBody>
          </p:sp>
        </mc:Choice>
        <mc:Fallback xmlns="">
          <p:sp>
            <p:nvSpPr>
              <p:cNvPr id="71" name="矩形 70">
                <a:extLst>
                  <a:ext uri="{FF2B5EF4-FFF2-40B4-BE49-F238E27FC236}">
                    <a16:creationId xmlns:a16="http://schemas.microsoft.com/office/drawing/2014/main" id="{52F01E20-96C3-A944-ADC7-5605FBE1FC14}"/>
                  </a:ext>
                </a:extLst>
              </p:cNvPr>
              <p:cNvSpPr>
                <a:spLocks noRot="1" noChangeAspect="1" noMove="1" noResize="1" noEditPoints="1" noAdjustHandles="1" noChangeArrowheads="1" noChangeShapeType="1" noTextEdit="1"/>
              </p:cNvSpPr>
              <p:nvPr/>
            </p:nvSpPr>
            <p:spPr>
              <a:xfrm>
                <a:off x="10187548" y="3963923"/>
                <a:ext cx="488659" cy="369332"/>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2" name="矩形 71">
                <a:extLst>
                  <a:ext uri="{FF2B5EF4-FFF2-40B4-BE49-F238E27FC236}">
                    <a16:creationId xmlns:a16="http://schemas.microsoft.com/office/drawing/2014/main" id="{864E3D8D-7BBE-B641-932D-ACCD0AE06BF3}"/>
                  </a:ext>
                </a:extLst>
              </p:cNvPr>
              <p:cNvSpPr/>
              <p:nvPr/>
            </p:nvSpPr>
            <p:spPr>
              <a:xfrm>
                <a:off x="10192117" y="5468121"/>
                <a:ext cx="493981"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i="1">
                              <a:solidFill>
                                <a:schemeClr val="tx1">
                                  <a:lumMod val="75000"/>
                                  <a:lumOff val="25000"/>
                                </a:schemeClr>
                              </a:solidFill>
                              <a:latin typeface="Cambria Math" panose="02040503050406030204" pitchFamily="18" charset="0"/>
                              <a:ea typeface="微软雅黑" pitchFamily="34" charset="-122"/>
                            </a:rPr>
                            <m:t>𝑑</m:t>
                          </m:r>
                        </m:e>
                        <m:sub>
                          <m:r>
                            <a:rPr lang="en-US" altLang="zh-CN" b="0" i="1" smtClean="0">
                              <a:solidFill>
                                <a:schemeClr val="tx1">
                                  <a:lumMod val="75000"/>
                                  <a:lumOff val="25000"/>
                                </a:schemeClr>
                              </a:solidFill>
                              <a:latin typeface="Cambria Math" panose="02040503050406030204" pitchFamily="18" charset="0"/>
                              <a:ea typeface="微软雅黑" pitchFamily="34" charset="-122"/>
                            </a:rPr>
                            <m:t>2</m:t>
                          </m:r>
                        </m:sub>
                      </m:sSub>
                    </m:oMath>
                  </m:oMathPara>
                </a14:m>
                <a:endParaRPr lang="zh-CN" altLang="en-US" dirty="0">
                  <a:latin typeface="Microsoft YaHei" panose="020B0503020204020204" pitchFamily="34" charset="-122"/>
                  <a:ea typeface="Microsoft YaHei" panose="020B0503020204020204" pitchFamily="34" charset="-122"/>
                </a:endParaRPr>
              </a:p>
            </p:txBody>
          </p:sp>
        </mc:Choice>
        <mc:Fallback xmlns="">
          <p:sp>
            <p:nvSpPr>
              <p:cNvPr id="72" name="矩形 71">
                <a:extLst>
                  <a:ext uri="{FF2B5EF4-FFF2-40B4-BE49-F238E27FC236}">
                    <a16:creationId xmlns:a16="http://schemas.microsoft.com/office/drawing/2014/main" id="{864E3D8D-7BBE-B641-932D-ACCD0AE06BF3}"/>
                  </a:ext>
                </a:extLst>
              </p:cNvPr>
              <p:cNvSpPr>
                <a:spLocks noRot="1" noChangeAspect="1" noMove="1" noResize="1" noEditPoints="1" noAdjustHandles="1" noChangeArrowheads="1" noChangeShapeType="1" noTextEdit="1"/>
              </p:cNvSpPr>
              <p:nvPr/>
            </p:nvSpPr>
            <p:spPr>
              <a:xfrm>
                <a:off x="10192117" y="5468121"/>
                <a:ext cx="493981" cy="369332"/>
              </a:xfrm>
              <a:prstGeom prst="rect">
                <a:avLst/>
              </a:prstGeom>
              <a:blipFill>
                <a:blip r:embed="rId21"/>
                <a:stretch>
                  <a:fillRect/>
                </a:stretch>
              </a:blipFill>
            </p:spPr>
            <p:txBody>
              <a:bodyPr/>
              <a:lstStyle/>
              <a:p>
                <a:r>
                  <a:rPr lang="zh-CN" altLang="en-US">
                    <a:noFill/>
                  </a:rPr>
                  <a:t> </a:t>
                </a:r>
              </a:p>
            </p:txBody>
          </p:sp>
        </mc:Fallback>
      </mc:AlternateContent>
      <p:pic>
        <p:nvPicPr>
          <p:cNvPr id="73" name="图片 72">
            <a:extLst>
              <a:ext uri="{FF2B5EF4-FFF2-40B4-BE49-F238E27FC236}">
                <a16:creationId xmlns:a16="http://schemas.microsoft.com/office/drawing/2014/main" id="{C7273FD6-C05D-584E-B46B-9649B1DF716B}"/>
              </a:ext>
            </a:extLst>
          </p:cNvPr>
          <p:cNvPicPr>
            <a:picLocks noChangeAspect="1"/>
          </p:cNvPicPr>
          <p:nvPr/>
        </p:nvPicPr>
        <p:blipFill>
          <a:blip r:embed="rId3"/>
          <a:stretch>
            <a:fillRect/>
          </a:stretch>
        </p:blipFill>
        <p:spPr>
          <a:xfrm>
            <a:off x="7814709" y="3207745"/>
            <a:ext cx="586364" cy="798452"/>
          </a:xfrm>
          <a:prstGeom prst="rect">
            <a:avLst/>
          </a:prstGeom>
        </p:spPr>
      </p:pic>
      <mc:AlternateContent xmlns:mc="http://schemas.openxmlformats.org/markup-compatibility/2006" xmlns:a14="http://schemas.microsoft.com/office/drawing/2010/main">
        <mc:Choice Requires="a14">
          <p:sp>
            <p:nvSpPr>
              <p:cNvPr id="74" name="矩形 73">
                <a:extLst>
                  <a:ext uri="{FF2B5EF4-FFF2-40B4-BE49-F238E27FC236}">
                    <a16:creationId xmlns:a16="http://schemas.microsoft.com/office/drawing/2014/main" id="{BBFFEB7D-681F-404B-8F42-E11080C505B8}"/>
                  </a:ext>
                </a:extLst>
              </p:cNvPr>
              <p:cNvSpPr/>
              <p:nvPr/>
            </p:nvSpPr>
            <p:spPr>
              <a:xfrm>
                <a:off x="7883749" y="4006197"/>
                <a:ext cx="486030"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000"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sz="2000" i="1">
                              <a:solidFill>
                                <a:schemeClr val="tx1">
                                  <a:lumMod val="75000"/>
                                  <a:lumOff val="25000"/>
                                </a:schemeClr>
                              </a:solidFill>
                              <a:latin typeface="Cambria Math" panose="02040503050406030204" pitchFamily="18" charset="0"/>
                              <a:ea typeface="微软雅黑" pitchFamily="34" charset="-122"/>
                            </a:rPr>
                            <m:t>𝑠</m:t>
                          </m:r>
                        </m:e>
                        <m:sub>
                          <m:r>
                            <a:rPr lang="en-US" altLang="zh-CN" sz="2000" b="0" i="1" smtClean="0">
                              <a:solidFill>
                                <a:schemeClr val="tx1">
                                  <a:lumMod val="75000"/>
                                  <a:lumOff val="25000"/>
                                </a:schemeClr>
                              </a:solidFill>
                              <a:latin typeface="Cambria Math" panose="02040503050406030204" pitchFamily="18" charset="0"/>
                              <a:ea typeface="微软雅黑" pitchFamily="34" charset="-122"/>
                            </a:rPr>
                            <m:t>1</m:t>
                          </m:r>
                        </m:sub>
                      </m:sSub>
                    </m:oMath>
                  </m:oMathPara>
                </a14:m>
                <a:endParaRPr lang="zh-CN" altLang="en-US" sz="2000" dirty="0">
                  <a:latin typeface="Microsoft YaHei" panose="020B0503020204020204" pitchFamily="34" charset="-122"/>
                  <a:ea typeface="Microsoft YaHei" panose="020B0503020204020204" pitchFamily="34" charset="-122"/>
                </a:endParaRPr>
              </a:p>
            </p:txBody>
          </p:sp>
        </mc:Choice>
        <mc:Fallback xmlns="">
          <p:sp>
            <p:nvSpPr>
              <p:cNvPr id="74" name="矩形 73">
                <a:extLst>
                  <a:ext uri="{FF2B5EF4-FFF2-40B4-BE49-F238E27FC236}">
                    <a16:creationId xmlns:a16="http://schemas.microsoft.com/office/drawing/2014/main" id="{BBFFEB7D-681F-404B-8F42-E11080C505B8}"/>
                  </a:ext>
                </a:extLst>
              </p:cNvPr>
              <p:cNvSpPr>
                <a:spLocks noRot="1" noChangeAspect="1" noMove="1" noResize="1" noEditPoints="1" noAdjustHandles="1" noChangeArrowheads="1" noChangeShapeType="1" noTextEdit="1"/>
              </p:cNvSpPr>
              <p:nvPr/>
            </p:nvSpPr>
            <p:spPr>
              <a:xfrm>
                <a:off x="7883749" y="4006197"/>
                <a:ext cx="486030" cy="400110"/>
              </a:xfrm>
              <a:prstGeom prst="rect">
                <a:avLst/>
              </a:prstGeom>
              <a:blipFill>
                <a:blip r:embed="rId22"/>
                <a:stretch>
                  <a:fillRect/>
                </a:stretch>
              </a:blipFill>
            </p:spPr>
            <p:txBody>
              <a:bodyPr/>
              <a:lstStyle/>
              <a:p>
                <a:r>
                  <a:rPr lang="zh-CN" altLang="en-US">
                    <a:noFill/>
                  </a:rPr>
                  <a:t> </a:t>
                </a:r>
              </a:p>
            </p:txBody>
          </p:sp>
        </mc:Fallback>
      </mc:AlternateContent>
      <p:sp>
        <p:nvSpPr>
          <p:cNvPr id="48" name="灯片编号占位符 2">
            <a:extLst>
              <a:ext uri="{FF2B5EF4-FFF2-40B4-BE49-F238E27FC236}">
                <a16:creationId xmlns:a16="http://schemas.microsoft.com/office/drawing/2014/main" id="{19C6BCFE-0264-E04F-9E3A-03C24F67BBB5}"/>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50</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1459556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solidFill>
                  <a:srgbClr val="C00000"/>
                </a:solidFill>
              </a:rPr>
              <a:t>幷發問題：指令之間相互影響</a:t>
            </a:r>
          </a:p>
        </p:txBody>
      </p:sp>
      <p:sp>
        <p:nvSpPr>
          <p:cNvPr id="4" name="矩形 3">
            <a:extLst>
              <a:ext uri="{FF2B5EF4-FFF2-40B4-BE49-F238E27FC236}">
                <a16:creationId xmlns:a16="http://schemas.microsoft.com/office/drawing/2014/main" id="{F8A47846-D8CF-C944-9450-AF7922227BFD}"/>
              </a:ext>
            </a:extLst>
          </p:cNvPr>
          <p:cNvSpPr/>
          <p:nvPr/>
        </p:nvSpPr>
        <p:spPr>
          <a:xfrm>
            <a:off x="7455336" y="1395485"/>
            <a:ext cx="1136887" cy="4456067"/>
          </a:xfrm>
          <a:prstGeom prst="rect">
            <a:avLst/>
          </a:prstGeom>
          <a:ln>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sz="2000">
              <a:latin typeface="Microsoft YaHei" panose="020B0503020204020204" pitchFamily="34" charset="-122"/>
              <a:ea typeface="Microsoft YaHei" panose="020B0503020204020204" pitchFamily="34" charset="-122"/>
            </a:endParaRPr>
          </a:p>
        </p:txBody>
      </p:sp>
      <p:sp>
        <p:nvSpPr>
          <p:cNvPr id="5" name="矩形 4">
            <a:extLst>
              <a:ext uri="{FF2B5EF4-FFF2-40B4-BE49-F238E27FC236}">
                <a16:creationId xmlns:a16="http://schemas.microsoft.com/office/drawing/2014/main" id="{D20D565A-07AE-9E42-A25B-C4A9D850A219}"/>
              </a:ext>
            </a:extLst>
          </p:cNvPr>
          <p:cNvSpPr/>
          <p:nvPr/>
        </p:nvSpPr>
        <p:spPr>
          <a:xfrm>
            <a:off x="9692021" y="1395485"/>
            <a:ext cx="2009650" cy="4431896"/>
          </a:xfrm>
          <a:prstGeom prst="rect">
            <a:avLst/>
          </a:prstGeom>
          <a:ln>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latin typeface="Microsoft YaHei" panose="020B0503020204020204" pitchFamily="34" charset="-122"/>
              <a:ea typeface="Microsoft YaHei" panose="020B0503020204020204" pitchFamily="34" charset="-122"/>
            </a:endParaRPr>
          </a:p>
        </p:txBody>
      </p:sp>
      <p:pic>
        <p:nvPicPr>
          <p:cNvPr id="6" name="图片 5">
            <a:extLst>
              <a:ext uri="{FF2B5EF4-FFF2-40B4-BE49-F238E27FC236}">
                <a16:creationId xmlns:a16="http://schemas.microsoft.com/office/drawing/2014/main" id="{CE8CDCC9-D79B-9949-8AA6-1806327F1948}"/>
              </a:ext>
            </a:extLst>
          </p:cNvPr>
          <p:cNvPicPr>
            <a:picLocks noChangeAspect="1"/>
          </p:cNvPicPr>
          <p:nvPr/>
        </p:nvPicPr>
        <p:blipFill>
          <a:blip r:embed="rId3">
            <a:duotone>
              <a:prstClr val="black"/>
              <a:srgbClr val="B54E3D">
                <a:alpha val="29804"/>
                <a:tint val="45000"/>
                <a:satMod val="400000"/>
              </a:srgbClr>
            </a:duotone>
          </a:blip>
          <a:stretch>
            <a:fillRect/>
          </a:stretch>
        </p:blipFill>
        <p:spPr>
          <a:xfrm>
            <a:off x="7814709" y="1560775"/>
            <a:ext cx="586364" cy="798452"/>
          </a:xfrm>
          <a:prstGeom prst="rect">
            <a:avLst/>
          </a:prstGeom>
        </p:spPr>
      </p:pic>
      <p:pic>
        <p:nvPicPr>
          <p:cNvPr id="7" name="图片 6">
            <a:extLst>
              <a:ext uri="{FF2B5EF4-FFF2-40B4-BE49-F238E27FC236}">
                <a16:creationId xmlns:a16="http://schemas.microsoft.com/office/drawing/2014/main" id="{0088A525-E851-7C4A-A4EB-EF4BE50BF483}"/>
              </a:ext>
            </a:extLst>
          </p:cNvPr>
          <p:cNvPicPr>
            <a:picLocks noChangeAspect="1"/>
          </p:cNvPicPr>
          <p:nvPr/>
        </p:nvPicPr>
        <p:blipFill>
          <a:blip r:embed="rId3">
            <a:duotone>
              <a:prstClr val="black"/>
              <a:srgbClr val="B54E3D">
                <a:alpha val="29804"/>
                <a:tint val="45000"/>
                <a:satMod val="400000"/>
              </a:srgbClr>
            </a:duotone>
          </a:blip>
          <a:stretch>
            <a:fillRect/>
          </a:stretch>
        </p:blipFill>
        <p:spPr>
          <a:xfrm>
            <a:off x="7814709" y="3207745"/>
            <a:ext cx="586364" cy="798452"/>
          </a:xfrm>
          <a:prstGeom prst="rect">
            <a:avLst/>
          </a:prstGeom>
        </p:spPr>
      </p:pic>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0A6503F0-BD16-204E-9936-321FA1F0CB24}"/>
                  </a:ext>
                </a:extLst>
              </p:cNvPr>
              <p:cNvSpPr/>
              <p:nvPr/>
            </p:nvSpPr>
            <p:spPr>
              <a:xfrm>
                <a:off x="7880766" y="2364330"/>
                <a:ext cx="491994"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000"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sz="2000" b="0" i="1" smtClean="0">
                              <a:solidFill>
                                <a:schemeClr val="tx1">
                                  <a:lumMod val="75000"/>
                                  <a:lumOff val="25000"/>
                                </a:schemeClr>
                              </a:solidFill>
                              <a:latin typeface="Cambria Math" panose="02040503050406030204" pitchFamily="18" charset="0"/>
                              <a:ea typeface="微软雅黑" pitchFamily="34" charset="-122"/>
                            </a:rPr>
                            <m:t>𝑠</m:t>
                          </m:r>
                        </m:e>
                        <m:sub>
                          <m:r>
                            <a:rPr lang="en-US" altLang="zh-CN" sz="2000" i="1">
                              <a:solidFill>
                                <a:schemeClr val="tx1">
                                  <a:lumMod val="75000"/>
                                  <a:lumOff val="25000"/>
                                </a:schemeClr>
                              </a:solidFill>
                              <a:latin typeface="Cambria Math" panose="02040503050406030204" pitchFamily="18" charset="0"/>
                              <a:ea typeface="微软雅黑" pitchFamily="34" charset="-122"/>
                            </a:rPr>
                            <m:t>0</m:t>
                          </m:r>
                        </m:sub>
                      </m:sSub>
                    </m:oMath>
                  </m:oMathPara>
                </a14:m>
                <a:endParaRPr lang="zh-CN" altLang="en-US" sz="2000" dirty="0">
                  <a:latin typeface="Microsoft YaHei" panose="020B0503020204020204" pitchFamily="34" charset="-122"/>
                  <a:ea typeface="Microsoft YaHei" panose="020B0503020204020204" pitchFamily="34" charset="-122"/>
                </a:endParaRPr>
              </a:p>
            </p:txBody>
          </p:sp>
        </mc:Choice>
        <mc:Fallback xmlns="">
          <p:sp>
            <p:nvSpPr>
              <p:cNvPr id="16" name="矩形 15">
                <a:extLst>
                  <a:ext uri="{FF2B5EF4-FFF2-40B4-BE49-F238E27FC236}">
                    <a16:creationId xmlns:a16="http://schemas.microsoft.com/office/drawing/2014/main" id="{0A6503F0-BD16-204E-9936-321FA1F0CB24}"/>
                  </a:ext>
                </a:extLst>
              </p:cNvPr>
              <p:cNvSpPr>
                <a:spLocks noRot="1" noChangeAspect="1" noMove="1" noResize="1" noEditPoints="1" noAdjustHandles="1" noChangeArrowheads="1" noChangeShapeType="1" noTextEdit="1"/>
              </p:cNvSpPr>
              <p:nvPr/>
            </p:nvSpPr>
            <p:spPr>
              <a:xfrm>
                <a:off x="7880766" y="2364330"/>
                <a:ext cx="491994" cy="40011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B235D0C7-C4D5-9146-9E02-4DC9C71D0495}"/>
                  </a:ext>
                </a:extLst>
              </p:cNvPr>
              <p:cNvSpPr/>
              <p:nvPr/>
            </p:nvSpPr>
            <p:spPr>
              <a:xfrm>
                <a:off x="7883749" y="4006197"/>
                <a:ext cx="486030"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000"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sz="2000" i="1">
                              <a:solidFill>
                                <a:schemeClr val="tx1">
                                  <a:lumMod val="75000"/>
                                  <a:lumOff val="25000"/>
                                </a:schemeClr>
                              </a:solidFill>
                              <a:latin typeface="Cambria Math" panose="02040503050406030204" pitchFamily="18" charset="0"/>
                              <a:ea typeface="微软雅黑" pitchFamily="34" charset="-122"/>
                            </a:rPr>
                            <m:t>𝑠</m:t>
                          </m:r>
                        </m:e>
                        <m:sub>
                          <m:r>
                            <a:rPr lang="en-US" altLang="zh-CN" sz="2000" b="0" i="1" smtClean="0">
                              <a:solidFill>
                                <a:schemeClr val="tx1">
                                  <a:lumMod val="75000"/>
                                  <a:lumOff val="25000"/>
                                </a:schemeClr>
                              </a:solidFill>
                              <a:latin typeface="Cambria Math" panose="02040503050406030204" pitchFamily="18" charset="0"/>
                              <a:ea typeface="微软雅黑" pitchFamily="34" charset="-122"/>
                            </a:rPr>
                            <m:t>1</m:t>
                          </m:r>
                        </m:sub>
                      </m:sSub>
                    </m:oMath>
                  </m:oMathPara>
                </a14:m>
                <a:endParaRPr lang="zh-CN" altLang="en-US" sz="2000" dirty="0">
                  <a:latin typeface="Microsoft YaHei" panose="020B0503020204020204" pitchFamily="34" charset="-122"/>
                  <a:ea typeface="Microsoft YaHei" panose="020B0503020204020204" pitchFamily="34" charset="-122"/>
                </a:endParaRPr>
              </a:p>
            </p:txBody>
          </p:sp>
        </mc:Choice>
        <mc:Fallback xmlns="">
          <p:sp>
            <p:nvSpPr>
              <p:cNvPr id="17" name="矩形 16">
                <a:extLst>
                  <a:ext uri="{FF2B5EF4-FFF2-40B4-BE49-F238E27FC236}">
                    <a16:creationId xmlns:a16="http://schemas.microsoft.com/office/drawing/2014/main" id="{B235D0C7-C4D5-9146-9E02-4DC9C71D0495}"/>
                  </a:ext>
                </a:extLst>
              </p:cNvPr>
              <p:cNvSpPr>
                <a:spLocks noRot="1" noChangeAspect="1" noMove="1" noResize="1" noEditPoints="1" noAdjustHandles="1" noChangeArrowheads="1" noChangeShapeType="1" noTextEdit="1"/>
              </p:cNvSpPr>
              <p:nvPr/>
            </p:nvSpPr>
            <p:spPr>
              <a:xfrm>
                <a:off x="7883749" y="4006197"/>
                <a:ext cx="486030" cy="400110"/>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48252547-573A-F94E-A132-59940015D7A4}"/>
                  </a:ext>
                </a:extLst>
              </p:cNvPr>
              <p:cNvSpPr/>
              <p:nvPr/>
            </p:nvSpPr>
            <p:spPr>
              <a:xfrm>
                <a:off x="7861893" y="5476715"/>
                <a:ext cx="491994"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000"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sz="2000" i="1">
                              <a:solidFill>
                                <a:schemeClr val="tx1">
                                  <a:lumMod val="75000"/>
                                  <a:lumOff val="25000"/>
                                </a:schemeClr>
                              </a:solidFill>
                              <a:latin typeface="Cambria Math" panose="02040503050406030204" pitchFamily="18" charset="0"/>
                              <a:ea typeface="微软雅黑" pitchFamily="34" charset="-122"/>
                            </a:rPr>
                            <m:t>𝑠</m:t>
                          </m:r>
                        </m:e>
                        <m:sub>
                          <m:r>
                            <a:rPr lang="en-US" altLang="zh-CN" sz="2000" b="0" i="1" smtClean="0">
                              <a:solidFill>
                                <a:schemeClr val="tx1">
                                  <a:lumMod val="75000"/>
                                  <a:lumOff val="25000"/>
                                </a:schemeClr>
                              </a:solidFill>
                              <a:latin typeface="Cambria Math" panose="02040503050406030204" pitchFamily="18" charset="0"/>
                              <a:ea typeface="微软雅黑" pitchFamily="34" charset="-122"/>
                            </a:rPr>
                            <m:t>2</m:t>
                          </m:r>
                        </m:sub>
                      </m:sSub>
                    </m:oMath>
                  </m:oMathPara>
                </a14:m>
                <a:endParaRPr lang="zh-CN" altLang="en-US" sz="2000" dirty="0">
                  <a:latin typeface="Microsoft YaHei" panose="020B0503020204020204" pitchFamily="34" charset="-122"/>
                  <a:ea typeface="Microsoft YaHei" panose="020B0503020204020204" pitchFamily="34" charset="-122"/>
                </a:endParaRPr>
              </a:p>
            </p:txBody>
          </p:sp>
        </mc:Choice>
        <mc:Fallback xmlns="">
          <p:sp>
            <p:nvSpPr>
              <p:cNvPr id="18" name="矩形 17">
                <a:extLst>
                  <a:ext uri="{FF2B5EF4-FFF2-40B4-BE49-F238E27FC236}">
                    <a16:creationId xmlns:a16="http://schemas.microsoft.com/office/drawing/2014/main" id="{48252547-573A-F94E-A132-59940015D7A4}"/>
                  </a:ext>
                </a:extLst>
              </p:cNvPr>
              <p:cNvSpPr>
                <a:spLocks noRot="1" noChangeAspect="1" noMove="1" noResize="1" noEditPoints="1" noAdjustHandles="1" noChangeArrowheads="1" noChangeShapeType="1" noTextEdit="1"/>
              </p:cNvSpPr>
              <p:nvPr/>
            </p:nvSpPr>
            <p:spPr>
              <a:xfrm>
                <a:off x="7861893" y="5476715"/>
                <a:ext cx="491994" cy="400110"/>
              </a:xfrm>
              <a:prstGeom prst="rect">
                <a:avLst/>
              </a:prstGeom>
              <a:blipFill>
                <a:blip r:embed="rId8"/>
                <a:stretch>
                  <a:fillRect/>
                </a:stretch>
              </a:blipFill>
            </p:spPr>
            <p:txBody>
              <a:bodyPr/>
              <a:lstStyle/>
              <a:p>
                <a:r>
                  <a:rPr lang="zh-CN" altLang="en-US">
                    <a:noFill/>
                  </a:rPr>
                  <a:t> </a:t>
                </a:r>
              </a:p>
            </p:txBody>
          </p:sp>
        </mc:Fallback>
      </mc:AlternateContent>
      <p:sp>
        <p:nvSpPr>
          <p:cNvPr id="19" name="矩形 18">
            <a:extLst>
              <a:ext uri="{FF2B5EF4-FFF2-40B4-BE49-F238E27FC236}">
                <a16:creationId xmlns:a16="http://schemas.microsoft.com/office/drawing/2014/main" id="{649DB8DB-F3B5-8A48-B1A7-0F0BE89D6713}"/>
              </a:ext>
            </a:extLst>
          </p:cNvPr>
          <p:cNvSpPr/>
          <p:nvPr/>
        </p:nvSpPr>
        <p:spPr>
          <a:xfrm>
            <a:off x="7464930" y="6036339"/>
            <a:ext cx="1338829" cy="369332"/>
          </a:xfrm>
          <a:prstGeom prst="rect">
            <a:avLst/>
          </a:prstGeom>
        </p:spPr>
        <p:txBody>
          <a:bodyPr wrap="none">
            <a:spAutoFit/>
          </a:bodyPr>
          <a:lstStyle/>
          <a:p>
            <a:pPr algn="ct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服務器集群</a:t>
            </a:r>
            <a:endParaRPr lang="zh-CN" altLang="en-US" dirty="0">
              <a:latin typeface="Microsoft YaHei" panose="020B0503020204020204" pitchFamily="34" charset="-122"/>
              <a:ea typeface="Microsoft YaHei" panose="020B0503020204020204" pitchFamily="34" charset="-122"/>
            </a:endParaRPr>
          </a:p>
        </p:txBody>
      </p:sp>
      <p:sp>
        <p:nvSpPr>
          <p:cNvPr id="20" name="矩形 19">
            <a:extLst>
              <a:ext uri="{FF2B5EF4-FFF2-40B4-BE49-F238E27FC236}">
                <a16:creationId xmlns:a16="http://schemas.microsoft.com/office/drawing/2014/main" id="{0AC66BCC-1636-584A-B80C-4D1C0EB47F45}"/>
              </a:ext>
            </a:extLst>
          </p:cNvPr>
          <p:cNvSpPr/>
          <p:nvPr/>
        </p:nvSpPr>
        <p:spPr>
          <a:xfrm>
            <a:off x="9762463" y="6028715"/>
            <a:ext cx="1338829" cy="369332"/>
          </a:xfrm>
          <a:prstGeom prst="rect">
            <a:avLst/>
          </a:prstGeom>
        </p:spPr>
        <p:txBody>
          <a:bodyPr wrap="none">
            <a:spAutoFit/>
          </a:bodyPr>
          <a:lstStyle/>
          <a:p>
            <a:pPr algn="ct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數據庫集群</a:t>
            </a:r>
            <a:endParaRPr lang="zh-CN" altLang="en-US" dirty="0">
              <a:latin typeface="Microsoft YaHei" panose="020B0503020204020204" pitchFamily="34" charset="-122"/>
              <a:ea typeface="Microsoft YaHei" panose="020B0503020204020204" pitchFamily="34" charset="-122"/>
            </a:endParaRPr>
          </a:p>
        </p:txBody>
      </p:sp>
      <p:pic>
        <p:nvPicPr>
          <p:cNvPr id="21" name="图形 20" descr="Internet">
            <a:extLst>
              <a:ext uri="{FF2B5EF4-FFF2-40B4-BE49-F238E27FC236}">
                <a16:creationId xmlns:a16="http://schemas.microsoft.com/office/drawing/2014/main" id="{9F870FE5-3367-9346-8D97-557DE556124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340595" y="1553549"/>
            <a:ext cx="956653" cy="910022"/>
          </a:xfrm>
          <a:prstGeom prst="rect">
            <a:avLst/>
          </a:prstGeom>
        </p:spPr>
      </p:pic>
      <p:pic>
        <p:nvPicPr>
          <p:cNvPr id="23" name="图形 22" descr="Internet">
            <a:extLst>
              <a:ext uri="{FF2B5EF4-FFF2-40B4-BE49-F238E27FC236}">
                <a16:creationId xmlns:a16="http://schemas.microsoft.com/office/drawing/2014/main" id="{0AC24A15-3AE0-BF44-BAF7-70256DD905D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341722" y="3240044"/>
            <a:ext cx="956653" cy="910022"/>
          </a:xfrm>
          <a:prstGeom prst="rect">
            <a:avLst/>
          </a:prstGeom>
        </p:spPr>
      </p:pic>
      <mc:AlternateContent xmlns:mc="http://schemas.openxmlformats.org/markup-compatibility/2006">
        <mc:Choice xmlns:a14="http://schemas.microsoft.com/office/drawing/2010/main" Requires="a14">
          <p:sp>
            <p:nvSpPr>
              <p:cNvPr id="24" name="矩形 23">
                <a:extLst>
                  <a:ext uri="{FF2B5EF4-FFF2-40B4-BE49-F238E27FC236}">
                    <a16:creationId xmlns:a16="http://schemas.microsoft.com/office/drawing/2014/main" id="{3C87AD6F-9781-304C-8A15-97AD073A6D2D}"/>
                  </a:ext>
                </a:extLst>
              </p:cNvPr>
              <p:cNvSpPr/>
              <p:nvPr/>
            </p:nvSpPr>
            <p:spPr>
              <a:xfrm>
                <a:off x="5262406" y="2343409"/>
                <a:ext cx="1153586" cy="369332"/>
              </a:xfrm>
              <a:prstGeom prst="rect">
                <a:avLst/>
              </a:prstGeom>
            </p:spPr>
            <p:txBody>
              <a:bodyPr wrap="none">
                <a:spAutoFit/>
              </a:bodyPr>
              <a:lstStyle/>
              <a:p>
                <a:pPr algn="ct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客戶端 </a:t>
                </a:r>
                <a14:m>
                  <m:oMath xmlns:m="http://schemas.openxmlformats.org/officeDocument/2006/math">
                    <m:sSub>
                      <m:sSubPr>
                        <m:ctrlPr>
                          <a:rPr lang="en-US" altLang="zh-CN"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b="0" i="1" smtClean="0">
                            <a:solidFill>
                              <a:schemeClr val="tx1">
                                <a:lumMod val="75000"/>
                                <a:lumOff val="25000"/>
                              </a:schemeClr>
                            </a:solidFill>
                            <a:latin typeface="Cambria Math" panose="02040503050406030204" pitchFamily="18" charset="0"/>
                            <a:ea typeface="微软雅黑" pitchFamily="34" charset="-122"/>
                          </a:rPr>
                          <m:t>𝑐</m:t>
                        </m:r>
                      </m:e>
                      <m:sub>
                        <m:r>
                          <a:rPr lang="en-US" altLang="zh-CN" b="0" i="1" smtClean="0">
                            <a:solidFill>
                              <a:schemeClr val="tx1">
                                <a:lumMod val="75000"/>
                                <a:lumOff val="25000"/>
                              </a:schemeClr>
                            </a:solidFill>
                            <a:latin typeface="Cambria Math" panose="02040503050406030204" pitchFamily="18" charset="0"/>
                            <a:ea typeface="微软雅黑" pitchFamily="34" charset="-122"/>
                          </a:rPr>
                          <m:t>0</m:t>
                        </m:r>
                      </m:sub>
                    </m:sSub>
                  </m:oMath>
                </a14:m>
                <a:endParaRPr lang="zh-CN" altLang="en-US" dirty="0">
                  <a:latin typeface="Microsoft YaHei" panose="020B0503020204020204" pitchFamily="34" charset="-122"/>
                  <a:ea typeface="Microsoft YaHei" panose="020B0503020204020204" pitchFamily="34" charset="-122"/>
                </a:endParaRPr>
              </a:p>
            </p:txBody>
          </p:sp>
        </mc:Choice>
        <mc:Fallback>
          <p:sp>
            <p:nvSpPr>
              <p:cNvPr id="24" name="矩形 23">
                <a:extLst>
                  <a:ext uri="{FF2B5EF4-FFF2-40B4-BE49-F238E27FC236}">
                    <a16:creationId xmlns:a16="http://schemas.microsoft.com/office/drawing/2014/main" id="{3C87AD6F-9781-304C-8A15-97AD073A6D2D}"/>
                  </a:ext>
                </a:extLst>
              </p:cNvPr>
              <p:cNvSpPr>
                <a:spLocks noRot="1" noChangeAspect="1" noMove="1" noResize="1" noEditPoints="1" noAdjustHandles="1" noChangeArrowheads="1" noChangeShapeType="1" noTextEdit="1"/>
              </p:cNvSpPr>
              <p:nvPr/>
            </p:nvSpPr>
            <p:spPr>
              <a:xfrm>
                <a:off x="5262406" y="2343409"/>
                <a:ext cx="1153586" cy="369332"/>
              </a:xfrm>
              <a:prstGeom prst="rect">
                <a:avLst/>
              </a:prstGeom>
              <a:blipFill>
                <a:blip r:embed="rId11"/>
                <a:stretch>
                  <a:fillRect l="-4233" t="-8197" b="-24590"/>
                </a:stretch>
              </a:blipFill>
            </p:spPr>
            <p:txBody>
              <a:bodyPr/>
              <a:lstStyle/>
              <a:p>
                <a:r>
                  <a:rPr lang="fr-FR">
                    <a:noFill/>
                  </a:rPr>
                  <a:t> </a:t>
                </a:r>
              </a:p>
            </p:txBody>
          </p:sp>
        </mc:Fallback>
      </mc:AlternateContent>
      <mc:AlternateContent xmlns:mc="http://schemas.openxmlformats.org/markup-compatibility/2006">
        <mc:Choice xmlns:a14="http://schemas.microsoft.com/office/drawing/2010/main" Requires="a14">
          <p:sp>
            <p:nvSpPr>
              <p:cNvPr id="26" name="矩形 25">
                <a:extLst>
                  <a:ext uri="{FF2B5EF4-FFF2-40B4-BE49-F238E27FC236}">
                    <a16:creationId xmlns:a16="http://schemas.microsoft.com/office/drawing/2014/main" id="{4525148D-6450-FD49-A052-2065E25E8EE8}"/>
                  </a:ext>
                </a:extLst>
              </p:cNvPr>
              <p:cNvSpPr/>
              <p:nvPr/>
            </p:nvSpPr>
            <p:spPr>
              <a:xfrm>
                <a:off x="5291651" y="4073875"/>
                <a:ext cx="1148263" cy="369332"/>
              </a:xfrm>
              <a:prstGeom prst="rect">
                <a:avLst/>
              </a:prstGeom>
            </p:spPr>
            <p:txBody>
              <a:bodyPr wrap="none">
                <a:spAutoFit/>
              </a:bodyPr>
              <a:lstStyle/>
              <a:p>
                <a:pPr algn="ct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客戶端 </a:t>
                </a:r>
                <a14:m>
                  <m:oMath xmlns:m="http://schemas.openxmlformats.org/officeDocument/2006/math">
                    <m:sSub>
                      <m:sSubPr>
                        <m:ctrlPr>
                          <a:rPr lang="en-US" altLang="zh-CN"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b="0" i="1" smtClean="0">
                            <a:solidFill>
                              <a:schemeClr val="tx1">
                                <a:lumMod val="75000"/>
                                <a:lumOff val="25000"/>
                              </a:schemeClr>
                            </a:solidFill>
                            <a:latin typeface="Cambria Math" panose="02040503050406030204" pitchFamily="18" charset="0"/>
                            <a:ea typeface="微软雅黑" pitchFamily="34" charset="-122"/>
                          </a:rPr>
                          <m:t>𝑐</m:t>
                        </m:r>
                      </m:e>
                      <m:sub>
                        <m:r>
                          <a:rPr lang="en-US" altLang="zh-CN" b="0" i="1" smtClean="0">
                            <a:solidFill>
                              <a:schemeClr val="tx1">
                                <a:lumMod val="75000"/>
                                <a:lumOff val="25000"/>
                              </a:schemeClr>
                            </a:solidFill>
                            <a:latin typeface="Cambria Math" panose="02040503050406030204" pitchFamily="18" charset="0"/>
                            <a:ea typeface="微软雅黑" pitchFamily="34" charset="-122"/>
                          </a:rPr>
                          <m:t>1</m:t>
                        </m:r>
                      </m:sub>
                    </m:sSub>
                  </m:oMath>
                </a14:m>
                <a:endParaRPr lang="zh-CN" altLang="en-US" dirty="0">
                  <a:latin typeface="Microsoft YaHei" panose="020B0503020204020204" pitchFamily="34" charset="-122"/>
                  <a:ea typeface="Microsoft YaHei" panose="020B0503020204020204" pitchFamily="34" charset="-122"/>
                </a:endParaRPr>
              </a:p>
            </p:txBody>
          </p:sp>
        </mc:Choice>
        <mc:Fallback>
          <p:sp>
            <p:nvSpPr>
              <p:cNvPr id="26" name="矩形 25">
                <a:extLst>
                  <a:ext uri="{FF2B5EF4-FFF2-40B4-BE49-F238E27FC236}">
                    <a16:creationId xmlns:a16="http://schemas.microsoft.com/office/drawing/2014/main" id="{4525148D-6450-FD49-A052-2065E25E8EE8}"/>
                  </a:ext>
                </a:extLst>
              </p:cNvPr>
              <p:cNvSpPr>
                <a:spLocks noRot="1" noChangeAspect="1" noMove="1" noResize="1" noEditPoints="1" noAdjustHandles="1" noChangeArrowheads="1" noChangeShapeType="1" noTextEdit="1"/>
              </p:cNvSpPr>
              <p:nvPr/>
            </p:nvSpPr>
            <p:spPr>
              <a:xfrm>
                <a:off x="5291651" y="4073875"/>
                <a:ext cx="1148263" cy="369332"/>
              </a:xfrm>
              <a:prstGeom prst="rect">
                <a:avLst/>
              </a:prstGeom>
              <a:blipFill>
                <a:blip r:embed="rId12"/>
                <a:stretch>
                  <a:fillRect l="-4255" t="-8197" b="-24590"/>
                </a:stretch>
              </a:blipFill>
            </p:spPr>
            <p:txBody>
              <a:bodyPr/>
              <a:lstStyle/>
              <a:p>
                <a:r>
                  <a:rPr lang="fr-FR">
                    <a:noFill/>
                  </a:rPr>
                  <a:t> </a:t>
                </a:r>
              </a:p>
            </p:txBody>
          </p:sp>
        </mc:Fallback>
      </mc:AlternateContent>
      <p:cxnSp>
        <p:nvCxnSpPr>
          <p:cNvPr id="27" name="直线箭头连接符 26">
            <a:extLst>
              <a:ext uri="{FF2B5EF4-FFF2-40B4-BE49-F238E27FC236}">
                <a16:creationId xmlns:a16="http://schemas.microsoft.com/office/drawing/2014/main" id="{77FEBB34-C44B-A344-AA9A-FDB50681A785}"/>
              </a:ext>
            </a:extLst>
          </p:cNvPr>
          <p:cNvCxnSpPr>
            <a:cxnSpLocks/>
            <a:endCxn id="21" idx="3"/>
          </p:cNvCxnSpPr>
          <p:nvPr/>
        </p:nvCxnSpPr>
        <p:spPr>
          <a:xfrm flipH="1" flipV="1">
            <a:off x="6297248" y="2008560"/>
            <a:ext cx="1338401" cy="27752"/>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29" name="直线箭头连接符 28">
            <a:extLst>
              <a:ext uri="{FF2B5EF4-FFF2-40B4-BE49-F238E27FC236}">
                <a16:creationId xmlns:a16="http://schemas.microsoft.com/office/drawing/2014/main" id="{9187FC30-ACC2-E343-9E8C-621C18D5147B}"/>
              </a:ext>
            </a:extLst>
          </p:cNvPr>
          <p:cNvCxnSpPr>
            <a:cxnSpLocks/>
            <a:endCxn id="23" idx="3"/>
          </p:cNvCxnSpPr>
          <p:nvPr/>
        </p:nvCxnSpPr>
        <p:spPr>
          <a:xfrm flipH="1" flipV="1">
            <a:off x="6298375" y="3695055"/>
            <a:ext cx="1364057" cy="4221"/>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33" name="直线箭头连接符 32">
            <a:extLst>
              <a:ext uri="{FF2B5EF4-FFF2-40B4-BE49-F238E27FC236}">
                <a16:creationId xmlns:a16="http://schemas.microsoft.com/office/drawing/2014/main" id="{A80DC1E6-7ECF-F14C-9987-07CF2759BAC1}"/>
              </a:ext>
            </a:extLst>
          </p:cNvPr>
          <p:cNvCxnSpPr>
            <a:cxnSpLocks/>
          </p:cNvCxnSpPr>
          <p:nvPr/>
        </p:nvCxnSpPr>
        <p:spPr>
          <a:xfrm flipH="1">
            <a:off x="8419947" y="1960001"/>
            <a:ext cx="1573875" cy="0"/>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sp>
        <p:nvSpPr>
          <p:cNvPr id="36" name="矩形 35">
            <a:extLst>
              <a:ext uri="{FF2B5EF4-FFF2-40B4-BE49-F238E27FC236}">
                <a16:creationId xmlns:a16="http://schemas.microsoft.com/office/drawing/2014/main" id="{81702DF4-BF3E-1849-A426-8F6334FB46C4}"/>
              </a:ext>
            </a:extLst>
          </p:cNvPr>
          <p:cNvSpPr/>
          <p:nvPr/>
        </p:nvSpPr>
        <p:spPr>
          <a:xfrm>
            <a:off x="6539336" y="1590669"/>
            <a:ext cx="748923" cy="369332"/>
          </a:xfrm>
          <a:prstGeom prst="rect">
            <a:avLst/>
          </a:prstGeom>
        </p:spPr>
        <p:txBody>
          <a:bodyPr wrap="none">
            <a:spAutoFit/>
          </a:bodyPr>
          <a:lstStyle/>
          <a:p>
            <a:pPr algn="ct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A=</a:t>
            </a: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a:t>
            </a:r>
            <a:endParaRPr lang="zh-CN" altLang="en-US" dirty="0">
              <a:latin typeface="Microsoft YaHei" panose="020B0503020204020204" pitchFamily="34" charset="-122"/>
              <a:ea typeface="Microsoft YaHei" panose="020B0503020204020204" pitchFamily="34" charset="-122"/>
            </a:endParaRPr>
          </a:p>
        </p:txBody>
      </p:sp>
      <p:sp>
        <p:nvSpPr>
          <p:cNvPr id="38" name="矩形 37">
            <a:extLst>
              <a:ext uri="{FF2B5EF4-FFF2-40B4-BE49-F238E27FC236}">
                <a16:creationId xmlns:a16="http://schemas.microsoft.com/office/drawing/2014/main" id="{94E2D4DE-0362-4244-A39A-BB042B306183}"/>
              </a:ext>
            </a:extLst>
          </p:cNvPr>
          <p:cNvSpPr/>
          <p:nvPr/>
        </p:nvSpPr>
        <p:spPr>
          <a:xfrm>
            <a:off x="6437943" y="3316691"/>
            <a:ext cx="986168" cy="369332"/>
          </a:xfrm>
          <a:prstGeom prst="rect">
            <a:avLst/>
          </a:prstGeom>
        </p:spPr>
        <p:txBody>
          <a:bodyPr wrap="none">
            <a:spAutoFit/>
          </a:bodyPr>
          <a:lstStyle/>
          <a:p>
            <a:pPr algn="ct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A=A+2</a:t>
            </a:r>
            <a:endParaRPr lang="zh-CN" altLang="en-US" dirty="0">
              <a:latin typeface="Microsoft YaHei" panose="020B0503020204020204" pitchFamily="34" charset="-122"/>
              <a:ea typeface="Microsoft YaHei" panose="020B0503020204020204" pitchFamily="34" charset="-122"/>
            </a:endParaRPr>
          </a:p>
        </p:txBody>
      </p:sp>
      <p:sp>
        <p:nvSpPr>
          <p:cNvPr id="55" name="矩形 54">
            <a:extLst>
              <a:ext uri="{FF2B5EF4-FFF2-40B4-BE49-F238E27FC236}">
                <a16:creationId xmlns:a16="http://schemas.microsoft.com/office/drawing/2014/main" id="{DDA067E0-1D6C-9B4D-8E22-1A98AFA815AB}"/>
              </a:ext>
            </a:extLst>
          </p:cNvPr>
          <p:cNvSpPr/>
          <p:nvPr/>
        </p:nvSpPr>
        <p:spPr>
          <a:xfrm>
            <a:off x="10894908" y="1851646"/>
            <a:ext cx="652744" cy="369332"/>
          </a:xfrm>
          <a:prstGeom prst="rect">
            <a:avLst/>
          </a:prstGeom>
        </p:spPr>
        <p:txBody>
          <a:bodyPr wrap="none">
            <a:spAutoFit/>
          </a:bodyPr>
          <a:lstStyle/>
          <a:p>
            <a:pPr algn="ct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A=2</a:t>
            </a:r>
            <a:endParaRPr lang="zh-CN" altLang="en-US" dirty="0">
              <a:latin typeface="Microsoft YaHei" panose="020B0503020204020204" pitchFamily="34" charset="-122"/>
              <a:ea typeface="Microsoft YaHei" panose="020B0503020204020204" pitchFamily="34" charset="-122"/>
            </a:endParaRPr>
          </a:p>
        </p:txBody>
      </p:sp>
      <p:sp>
        <p:nvSpPr>
          <p:cNvPr id="56" name="矩形 55">
            <a:extLst>
              <a:ext uri="{FF2B5EF4-FFF2-40B4-BE49-F238E27FC236}">
                <a16:creationId xmlns:a16="http://schemas.microsoft.com/office/drawing/2014/main" id="{EC9FB96D-385C-5549-A0A0-87647E9B7CEE}"/>
              </a:ext>
            </a:extLst>
          </p:cNvPr>
          <p:cNvSpPr/>
          <p:nvPr/>
        </p:nvSpPr>
        <p:spPr>
          <a:xfrm>
            <a:off x="10895760" y="3463264"/>
            <a:ext cx="652744" cy="369332"/>
          </a:xfrm>
          <a:prstGeom prst="rect">
            <a:avLst/>
          </a:prstGeom>
        </p:spPr>
        <p:txBody>
          <a:bodyPr wrap="none">
            <a:spAutoFit/>
          </a:bodyPr>
          <a:lstStyle/>
          <a:p>
            <a:pPr algn="ct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A=2</a:t>
            </a:r>
            <a:endParaRPr lang="zh-CN" altLang="en-US" dirty="0">
              <a:latin typeface="Microsoft YaHei" panose="020B0503020204020204" pitchFamily="34" charset="-122"/>
              <a:ea typeface="Microsoft YaHei" panose="020B0503020204020204" pitchFamily="34" charset="-122"/>
            </a:endParaRPr>
          </a:p>
        </p:txBody>
      </p:sp>
      <p:sp>
        <p:nvSpPr>
          <p:cNvPr id="57" name="矩形 56">
            <a:extLst>
              <a:ext uri="{FF2B5EF4-FFF2-40B4-BE49-F238E27FC236}">
                <a16:creationId xmlns:a16="http://schemas.microsoft.com/office/drawing/2014/main" id="{8FF29322-F4AC-7D4E-B88B-617EA09B9142}"/>
              </a:ext>
            </a:extLst>
          </p:cNvPr>
          <p:cNvSpPr/>
          <p:nvPr/>
        </p:nvSpPr>
        <p:spPr>
          <a:xfrm>
            <a:off x="10894908" y="4967462"/>
            <a:ext cx="652744" cy="369332"/>
          </a:xfrm>
          <a:prstGeom prst="rect">
            <a:avLst/>
          </a:prstGeom>
        </p:spPr>
        <p:txBody>
          <a:bodyPr wrap="none">
            <a:spAutoFit/>
          </a:bodyPr>
          <a:lstStyle/>
          <a:p>
            <a:pPr algn="ct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A=2</a:t>
            </a:r>
            <a:endParaRPr lang="zh-CN" altLang="en-US" dirty="0">
              <a:latin typeface="Microsoft YaHei" panose="020B0503020204020204" pitchFamily="34" charset="-122"/>
              <a:ea typeface="Microsoft YaHei" panose="020B0503020204020204" pitchFamily="34" charset="-122"/>
            </a:endParaRPr>
          </a:p>
        </p:txBody>
      </p:sp>
      <p:sp>
        <p:nvSpPr>
          <p:cNvPr id="58" name="矩形 57">
            <a:extLst>
              <a:ext uri="{FF2B5EF4-FFF2-40B4-BE49-F238E27FC236}">
                <a16:creationId xmlns:a16="http://schemas.microsoft.com/office/drawing/2014/main" id="{58F0360C-B4E2-304F-9B87-B1C243D258F6}"/>
              </a:ext>
            </a:extLst>
          </p:cNvPr>
          <p:cNvSpPr/>
          <p:nvPr/>
        </p:nvSpPr>
        <p:spPr>
          <a:xfrm>
            <a:off x="10670711" y="924507"/>
            <a:ext cx="1107996" cy="369332"/>
          </a:xfrm>
          <a:prstGeom prst="rect">
            <a:avLst/>
          </a:prstGeom>
        </p:spPr>
        <p:txBody>
          <a:bodyPr wrap="none">
            <a:spAutoFit/>
          </a:bodyPr>
          <a:lstStyle/>
          <a:p>
            <a:pPr algn="ct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初始狀態</a:t>
            </a:r>
            <a:endParaRPr lang="zh-CN" altLang="en-US" dirty="0">
              <a:latin typeface="Microsoft YaHei" panose="020B0503020204020204" pitchFamily="34" charset="-122"/>
              <a:ea typeface="Microsoft YaHei" panose="020B0503020204020204" pitchFamily="34" charset="-122"/>
            </a:endParaRPr>
          </a:p>
        </p:txBody>
      </p:sp>
      <p:cxnSp>
        <p:nvCxnSpPr>
          <p:cNvPr id="62" name="直线箭头连接符 61">
            <a:extLst>
              <a:ext uri="{FF2B5EF4-FFF2-40B4-BE49-F238E27FC236}">
                <a16:creationId xmlns:a16="http://schemas.microsoft.com/office/drawing/2014/main" id="{9AD5A6D2-183A-814A-BCB8-586688454FC6}"/>
              </a:ext>
            </a:extLst>
          </p:cNvPr>
          <p:cNvCxnSpPr>
            <a:cxnSpLocks/>
          </p:cNvCxnSpPr>
          <p:nvPr/>
        </p:nvCxnSpPr>
        <p:spPr>
          <a:xfrm flipH="1" flipV="1">
            <a:off x="8419947" y="3695055"/>
            <a:ext cx="1573875" cy="1461561"/>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sp>
        <p:nvSpPr>
          <p:cNvPr id="66" name="矩形 65">
            <a:extLst>
              <a:ext uri="{FF2B5EF4-FFF2-40B4-BE49-F238E27FC236}">
                <a16:creationId xmlns:a16="http://schemas.microsoft.com/office/drawing/2014/main" id="{F9746163-5298-B84A-B338-40C6724B70D9}"/>
              </a:ext>
            </a:extLst>
          </p:cNvPr>
          <p:cNvSpPr/>
          <p:nvPr/>
        </p:nvSpPr>
        <p:spPr>
          <a:xfrm>
            <a:off x="8849311" y="4366985"/>
            <a:ext cx="415498" cy="369332"/>
          </a:xfrm>
          <a:prstGeom prst="rect">
            <a:avLst/>
          </a:prstGeom>
        </p:spPr>
        <p:txBody>
          <a:bodyPr wrap="none">
            <a:spAutoFit/>
          </a:bodyPr>
          <a:lstStyle/>
          <a:p>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①</a:t>
            </a:r>
            <a:endParaRPr lang="zh-CN" altLang="en-US" dirty="0">
              <a:latin typeface="Microsoft YaHei" panose="020B0503020204020204" pitchFamily="34" charset="-122"/>
              <a:ea typeface="Microsoft YaHei" panose="020B0503020204020204" pitchFamily="34" charset="-122"/>
            </a:endParaRPr>
          </a:p>
        </p:txBody>
      </p:sp>
      <p:sp>
        <p:nvSpPr>
          <p:cNvPr id="67" name="矩形 66">
            <a:extLst>
              <a:ext uri="{FF2B5EF4-FFF2-40B4-BE49-F238E27FC236}">
                <a16:creationId xmlns:a16="http://schemas.microsoft.com/office/drawing/2014/main" id="{ADB56788-6FA5-9349-8CDB-E920C5CF5DD1}"/>
              </a:ext>
            </a:extLst>
          </p:cNvPr>
          <p:cNvSpPr/>
          <p:nvPr/>
        </p:nvSpPr>
        <p:spPr>
          <a:xfrm>
            <a:off x="8951596" y="3248144"/>
            <a:ext cx="421910" cy="369332"/>
          </a:xfrm>
          <a:prstGeom prst="rect">
            <a:avLst/>
          </a:prstGeom>
        </p:spPr>
        <p:txBody>
          <a:bodyPr wrap="none">
            <a:spAutoFit/>
          </a:bodyPr>
          <a:lstStyle/>
          <a:p>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②</a:t>
            </a:r>
            <a:endParaRPr lang="zh-CN" altLang="en-US" dirty="0">
              <a:latin typeface="Microsoft YaHei" panose="020B0503020204020204" pitchFamily="34" charset="-122"/>
              <a:ea typeface="Microsoft YaHei" panose="020B0503020204020204" pitchFamily="34" charset="-122"/>
            </a:endParaRPr>
          </a:p>
        </p:txBody>
      </p:sp>
      <mc:AlternateContent xmlns:mc="http://schemas.openxmlformats.org/markup-compatibility/2006">
        <mc:Choice xmlns:a14="http://schemas.microsoft.com/office/drawing/2010/main" Requires="a14">
          <p:sp>
            <p:nvSpPr>
              <p:cNvPr id="70" name="矩形 69">
                <a:extLst>
                  <a:ext uri="{FF2B5EF4-FFF2-40B4-BE49-F238E27FC236}">
                    <a16:creationId xmlns:a16="http://schemas.microsoft.com/office/drawing/2014/main" id="{D121EA16-E7CB-B541-BB91-5F2D43E478BD}"/>
                  </a:ext>
                </a:extLst>
              </p:cNvPr>
              <p:cNvSpPr/>
              <p:nvPr/>
            </p:nvSpPr>
            <p:spPr>
              <a:xfrm>
                <a:off x="609491" y="1295232"/>
                <a:ext cx="4552044" cy="5113195"/>
              </a:xfrm>
              <a:prstGeom prst="rect">
                <a:avLst/>
              </a:prstGeom>
              <a:ln>
                <a:noFill/>
              </a:ln>
            </p:spPr>
            <p:txBody>
              <a:bodyPr wrap="square">
                <a:spAutoFit/>
              </a:bodyPr>
              <a:lstStyle/>
              <a:p>
                <a:pPr marL="3429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Comic Sans MS" panose="030F0702030302020204" pitchFamily="66" charset="0"/>
                    <a:ea typeface="微软雅黑" pitchFamily="34" charset="-122"/>
                  </a:rPr>
                  <a:t>假設：狀態</a:t>
                </a:r>
                <a:r>
                  <a:rPr lang="en-US" altLang="zh-CN" sz="2400" dirty="0">
                    <a:solidFill>
                      <a:schemeClr val="tx1">
                        <a:lumMod val="75000"/>
                        <a:lumOff val="25000"/>
                      </a:schemeClr>
                    </a:solidFill>
                    <a:latin typeface="Comic Sans MS" panose="030F0702030302020204" pitchFamily="66" charset="0"/>
                    <a:ea typeface="微软雅黑" pitchFamily="34" charset="-122"/>
                  </a:rPr>
                  <a:t>A</a:t>
                </a:r>
                <a:r>
                  <a:rPr lang="zh-CN" altLang="en-US" sz="2400" dirty="0">
                    <a:solidFill>
                      <a:schemeClr val="tx1">
                        <a:lumMod val="75000"/>
                        <a:lumOff val="25000"/>
                      </a:schemeClr>
                    </a:solidFill>
                    <a:latin typeface="Comic Sans MS" panose="030F0702030302020204" pitchFamily="66" charset="0"/>
                    <a:ea typeface="微软雅黑" pitchFamily="34" charset="-122"/>
                  </a:rPr>
                  <a:t>在三個數據庫冗餘存儲，不存在幷發控制措施</a:t>
                </a:r>
                <a:endParaRPr lang="en-US" altLang="zh-CN" sz="2400" dirty="0">
                  <a:solidFill>
                    <a:schemeClr val="tx1">
                      <a:lumMod val="75000"/>
                      <a:lumOff val="25000"/>
                    </a:schemeClr>
                  </a:solidFill>
                  <a:latin typeface="Comic Sans MS" panose="030F0702030302020204" pitchFamily="66" charset="0"/>
                  <a:ea typeface="微软雅黑" pitchFamily="34" charset="-122"/>
                </a:endParaRPr>
              </a:p>
              <a:p>
                <a:pPr marL="3429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Comic Sans MS" panose="030F0702030302020204" pitchFamily="66" charset="0"/>
                    <a:ea typeface="微软雅黑" pitchFamily="34" charset="-122"/>
                  </a:rPr>
                  <a:t>執行步驟</a:t>
                </a:r>
                <a:endParaRPr lang="en-US" altLang="zh-CN" sz="2400" dirty="0">
                  <a:solidFill>
                    <a:schemeClr val="tx1">
                      <a:lumMod val="75000"/>
                      <a:lumOff val="25000"/>
                    </a:schemeClr>
                  </a:solidFill>
                  <a:latin typeface="Comic Sans MS" panose="030F0702030302020204" pitchFamily="66" charset="0"/>
                  <a:ea typeface="微软雅黑" pitchFamily="34" charset="-122"/>
                </a:endParaRPr>
              </a:p>
              <a:p>
                <a:pPr marL="684000" lvl="1" indent="-342900" algn="just" fontAlgn="base">
                  <a:lnSpc>
                    <a:spcPts val="3600"/>
                  </a:lnSpc>
                  <a:spcBef>
                    <a:spcPct val="20000"/>
                  </a:spcBef>
                  <a:spcAft>
                    <a:spcPct val="0"/>
                  </a:spcAft>
                  <a:buSzPct val="100000"/>
                  <a:buFont typeface="Arial" panose="020B0604020202020204" pitchFamily="34" charset="0"/>
                  <a:buChar char="•"/>
                </a:pPr>
                <a14:m>
                  <m:oMath xmlns:m="http://schemas.openxmlformats.org/officeDocument/2006/math">
                    <m:sSub>
                      <m:sSubPr>
                        <m:ctrlPr>
                          <a:rPr lang="en-US" altLang="zh-CN" sz="2400" i="1">
                            <a:solidFill>
                              <a:schemeClr val="tx1">
                                <a:lumMod val="75000"/>
                                <a:lumOff val="25000"/>
                              </a:schemeClr>
                            </a:solidFill>
                            <a:latin typeface="Cambria Math" panose="02040503050406030204" pitchFamily="18" charset="0"/>
                            <a:ea typeface="微软雅黑" pitchFamily="34" charset="-122"/>
                          </a:rPr>
                        </m:ctrlPr>
                      </m:sSubPr>
                      <m:e>
                        <m:r>
                          <a:rPr lang="en-US" altLang="zh-CN" sz="2400" i="1">
                            <a:solidFill>
                              <a:schemeClr val="tx1">
                                <a:lumMod val="75000"/>
                                <a:lumOff val="25000"/>
                              </a:schemeClr>
                            </a:solidFill>
                            <a:latin typeface="Cambria Math" panose="02040503050406030204" pitchFamily="18" charset="0"/>
                            <a:ea typeface="微软雅黑" pitchFamily="34" charset="-122"/>
                          </a:rPr>
                          <m:t>𝑐</m:t>
                        </m:r>
                      </m:e>
                      <m:sub>
                        <m:r>
                          <a:rPr lang="en-US" altLang="zh-CN" sz="2400" i="1">
                            <a:solidFill>
                              <a:schemeClr val="tx1">
                                <a:lumMod val="75000"/>
                                <a:lumOff val="25000"/>
                              </a:schemeClr>
                            </a:solidFill>
                            <a:latin typeface="Cambria Math" panose="02040503050406030204" pitchFamily="18" charset="0"/>
                            <a:ea typeface="微软雅黑" pitchFamily="34" charset="-122"/>
                          </a:rPr>
                          <m:t>0</m:t>
                        </m:r>
                      </m:sub>
                    </m:sSub>
                  </m:oMath>
                </a14:m>
                <a:r>
                  <a:rPr lang="zh-CN" altLang="en-US" sz="2400" dirty="0">
                    <a:solidFill>
                      <a:schemeClr val="tx1">
                        <a:lumMod val="75000"/>
                        <a:lumOff val="25000"/>
                      </a:schemeClr>
                    </a:solidFill>
                    <a:latin typeface="Comic Sans MS" panose="030F0702030302020204" pitchFamily="66" charset="0"/>
                    <a:ea typeface="微软雅黑" pitchFamily="34" charset="-122"/>
                  </a:rPr>
                  <a:t>向</a:t>
                </a:r>
                <a14:m>
                  <m:oMath xmlns:m="http://schemas.openxmlformats.org/officeDocument/2006/math">
                    <m:sSub>
                      <m:sSubPr>
                        <m:ctrlPr>
                          <a:rPr lang="en-US" altLang="zh-CN" sz="2400" i="1">
                            <a:solidFill>
                              <a:schemeClr val="tx1">
                                <a:lumMod val="75000"/>
                                <a:lumOff val="25000"/>
                              </a:schemeClr>
                            </a:solidFill>
                            <a:latin typeface="Cambria Math" panose="02040503050406030204" pitchFamily="18" charset="0"/>
                            <a:ea typeface="微软雅黑" pitchFamily="34" charset="-122"/>
                          </a:rPr>
                        </m:ctrlPr>
                      </m:sSubPr>
                      <m:e>
                        <m:r>
                          <a:rPr lang="en-US" altLang="zh-CN" sz="2400" i="1">
                            <a:solidFill>
                              <a:schemeClr val="tx1">
                                <a:lumMod val="75000"/>
                                <a:lumOff val="25000"/>
                              </a:schemeClr>
                            </a:solidFill>
                            <a:latin typeface="Cambria Math" panose="02040503050406030204" pitchFamily="18" charset="0"/>
                            <a:ea typeface="微软雅黑" pitchFamily="34" charset="-122"/>
                          </a:rPr>
                          <m:t>𝑠</m:t>
                        </m:r>
                      </m:e>
                      <m:sub>
                        <m:r>
                          <a:rPr lang="en-US" altLang="zh-CN" sz="2400" i="1">
                            <a:solidFill>
                              <a:schemeClr val="tx1">
                                <a:lumMod val="75000"/>
                                <a:lumOff val="25000"/>
                              </a:schemeClr>
                            </a:solidFill>
                            <a:latin typeface="Cambria Math" panose="02040503050406030204" pitchFamily="18" charset="0"/>
                            <a:ea typeface="微软雅黑" pitchFamily="34" charset="-122"/>
                          </a:rPr>
                          <m:t>0</m:t>
                        </m:r>
                      </m:sub>
                    </m:sSub>
                  </m:oMath>
                </a14:m>
                <a:r>
                  <a:rPr lang="zh-CN" altLang="en-US" sz="2400" dirty="0">
                    <a:solidFill>
                      <a:schemeClr val="tx1">
                        <a:lumMod val="75000"/>
                        <a:lumOff val="25000"/>
                      </a:schemeClr>
                    </a:solidFill>
                    <a:latin typeface="Comic Sans MS" panose="030F0702030302020204" pitchFamily="66" charset="0"/>
                    <a:ea typeface="微软雅黑" pitchFamily="34" charset="-122"/>
                  </a:rPr>
                  <a:t>請求</a:t>
                </a:r>
                <a:r>
                  <a:rPr lang="en-US" altLang="zh-CN" sz="2400" dirty="0">
                    <a:solidFill>
                      <a:schemeClr val="tx1">
                        <a:lumMod val="75000"/>
                        <a:lumOff val="25000"/>
                      </a:schemeClr>
                    </a:solidFill>
                    <a:latin typeface="Comic Sans MS" panose="030F0702030302020204" pitchFamily="66" charset="0"/>
                    <a:ea typeface="微软雅黑" pitchFamily="34" charset="-122"/>
                  </a:rPr>
                  <a:t>A</a:t>
                </a:r>
                <a:r>
                  <a:rPr lang="zh-CN" altLang="en-US" sz="2400" dirty="0">
                    <a:solidFill>
                      <a:schemeClr val="tx1">
                        <a:lumMod val="75000"/>
                        <a:lumOff val="25000"/>
                      </a:schemeClr>
                    </a:solidFill>
                    <a:latin typeface="Comic Sans MS" panose="030F0702030302020204" pitchFamily="66" charset="0"/>
                    <a:ea typeface="微软雅黑" pitchFamily="34" charset="-122"/>
                  </a:rPr>
                  <a:t>的值</a:t>
                </a:r>
                <a:endParaRPr lang="en-US" altLang="zh-CN" sz="2400" dirty="0">
                  <a:solidFill>
                    <a:schemeClr val="tx1">
                      <a:lumMod val="75000"/>
                      <a:lumOff val="25000"/>
                    </a:schemeClr>
                  </a:solidFill>
                  <a:latin typeface="Comic Sans MS" panose="030F0702030302020204" pitchFamily="66" charset="0"/>
                  <a:ea typeface="微软雅黑" pitchFamily="34" charset="-122"/>
                </a:endParaRPr>
              </a:p>
              <a:p>
                <a:pPr marL="684000" lvl="1" indent="-342900" algn="just" fontAlgn="base">
                  <a:lnSpc>
                    <a:spcPts val="3600"/>
                  </a:lnSpc>
                  <a:spcBef>
                    <a:spcPct val="20000"/>
                  </a:spcBef>
                  <a:spcAft>
                    <a:spcPct val="0"/>
                  </a:spcAft>
                  <a:buSzPct val="100000"/>
                  <a:buFont typeface="Arial" panose="020B0604020202020204" pitchFamily="34" charset="0"/>
                  <a:buChar char="•"/>
                </a:pPr>
                <a14:m>
                  <m:oMath xmlns:m="http://schemas.openxmlformats.org/officeDocument/2006/math">
                    <m:sSub>
                      <m:sSubPr>
                        <m:ctrlPr>
                          <a:rPr lang="en-US" altLang="zh-CN" sz="2400" i="1">
                            <a:solidFill>
                              <a:schemeClr val="tx1">
                                <a:lumMod val="75000"/>
                                <a:lumOff val="25000"/>
                              </a:schemeClr>
                            </a:solidFill>
                            <a:latin typeface="Cambria Math" panose="02040503050406030204" pitchFamily="18" charset="0"/>
                            <a:ea typeface="微软雅黑" pitchFamily="34" charset="-122"/>
                          </a:rPr>
                        </m:ctrlPr>
                      </m:sSubPr>
                      <m:e>
                        <m:r>
                          <a:rPr lang="en-US" altLang="zh-CN" sz="2400" i="1">
                            <a:solidFill>
                              <a:schemeClr val="tx1">
                                <a:lumMod val="75000"/>
                                <a:lumOff val="25000"/>
                              </a:schemeClr>
                            </a:solidFill>
                            <a:latin typeface="Cambria Math" panose="02040503050406030204" pitchFamily="18" charset="0"/>
                            <a:ea typeface="微软雅黑" pitchFamily="34" charset="-122"/>
                          </a:rPr>
                          <m:t>𝑐</m:t>
                        </m:r>
                      </m:e>
                      <m:sub>
                        <m:r>
                          <a:rPr lang="en-US" altLang="zh-CN" sz="2400" b="0" i="1" smtClean="0">
                            <a:solidFill>
                              <a:schemeClr val="tx1">
                                <a:lumMod val="75000"/>
                                <a:lumOff val="25000"/>
                              </a:schemeClr>
                            </a:solidFill>
                            <a:latin typeface="Cambria Math" panose="02040503050406030204" pitchFamily="18" charset="0"/>
                            <a:ea typeface="微软雅黑" pitchFamily="34" charset="-122"/>
                          </a:rPr>
                          <m:t>1</m:t>
                        </m:r>
                      </m:sub>
                    </m:sSub>
                  </m:oMath>
                </a14:m>
                <a:r>
                  <a:rPr lang="zh-CN" altLang="en-US" sz="2400" dirty="0">
                    <a:solidFill>
                      <a:schemeClr val="tx1">
                        <a:lumMod val="75000"/>
                        <a:lumOff val="25000"/>
                      </a:schemeClr>
                    </a:solidFill>
                    <a:latin typeface="Comic Sans MS" panose="030F0702030302020204" pitchFamily="66" charset="0"/>
                    <a:ea typeface="微软雅黑" pitchFamily="34" charset="-122"/>
                  </a:rPr>
                  <a:t>向</a:t>
                </a:r>
                <a14:m>
                  <m:oMath xmlns:m="http://schemas.openxmlformats.org/officeDocument/2006/math">
                    <m:sSub>
                      <m:sSubPr>
                        <m:ctrlPr>
                          <a:rPr lang="en-US" altLang="zh-CN" sz="2400" i="1">
                            <a:solidFill>
                              <a:schemeClr val="tx1">
                                <a:lumMod val="75000"/>
                                <a:lumOff val="25000"/>
                              </a:schemeClr>
                            </a:solidFill>
                            <a:latin typeface="Cambria Math" panose="02040503050406030204" pitchFamily="18" charset="0"/>
                            <a:ea typeface="微软雅黑" pitchFamily="34" charset="-122"/>
                          </a:rPr>
                        </m:ctrlPr>
                      </m:sSubPr>
                      <m:e>
                        <m:r>
                          <a:rPr lang="en-US" altLang="zh-CN" sz="2400" i="1">
                            <a:solidFill>
                              <a:schemeClr val="tx1">
                                <a:lumMod val="75000"/>
                                <a:lumOff val="25000"/>
                              </a:schemeClr>
                            </a:solidFill>
                            <a:latin typeface="Cambria Math" panose="02040503050406030204" pitchFamily="18" charset="0"/>
                            <a:ea typeface="微软雅黑" pitchFamily="34" charset="-122"/>
                          </a:rPr>
                          <m:t>𝑠</m:t>
                        </m:r>
                      </m:e>
                      <m:sub>
                        <m:r>
                          <a:rPr lang="en-US" altLang="zh-CN" sz="2400" b="0" i="1" smtClean="0">
                            <a:solidFill>
                              <a:schemeClr val="tx1">
                                <a:lumMod val="75000"/>
                                <a:lumOff val="25000"/>
                              </a:schemeClr>
                            </a:solidFill>
                            <a:latin typeface="Cambria Math" panose="02040503050406030204" pitchFamily="18" charset="0"/>
                            <a:ea typeface="微软雅黑" pitchFamily="34" charset="-122"/>
                          </a:rPr>
                          <m:t>1</m:t>
                        </m:r>
                      </m:sub>
                    </m:sSub>
                  </m:oMath>
                </a14:m>
                <a:r>
                  <a:rPr lang="zh-CN" altLang="en-US" sz="2400" dirty="0">
                    <a:solidFill>
                      <a:schemeClr val="tx1">
                        <a:lumMod val="75000"/>
                        <a:lumOff val="25000"/>
                      </a:schemeClr>
                    </a:solidFill>
                    <a:latin typeface="Comic Sans MS" panose="030F0702030302020204" pitchFamily="66" charset="0"/>
                    <a:ea typeface="微软雅黑" pitchFamily="34" charset="-122"/>
                  </a:rPr>
                  <a:t>請求將</a:t>
                </a:r>
                <a:r>
                  <a:rPr lang="en-US" altLang="zh-CN" sz="2400" dirty="0">
                    <a:solidFill>
                      <a:schemeClr val="tx1">
                        <a:lumMod val="75000"/>
                        <a:lumOff val="25000"/>
                      </a:schemeClr>
                    </a:solidFill>
                    <a:latin typeface="Comic Sans MS" panose="030F0702030302020204" pitchFamily="66" charset="0"/>
                    <a:ea typeface="微软雅黑" pitchFamily="34" charset="-122"/>
                  </a:rPr>
                  <a:t>A</a:t>
                </a:r>
                <a:r>
                  <a:rPr lang="zh-CN" altLang="en-US" sz="2400" dirty="0">
                    <a:solidFill>
                      <a:schemeClr val="tx1">
                        <a:lumMod val="75000"/>
                        <a:lumOff val="25000"/>
                      </a:schemeClr>
                    </a:solidFill>
                    <a:latin typeface="Comic Sans MS" panose="030F0702030302020204" pitchFamily="66" charset="0"/>
                    <a:ea typeface="微软雅黑" pitchFamily="34" charset="-122"/>
                  </a:rPr>
                  <a:t>的值加</a:t>
                </a:r>
                <a:r>
                  <a:rPr lang="en-US" altLang="zh-CN" sz="2400" dirty="0">
                    <a:solidFill>
                      <a:schemeClr val="tx1">
                        <a:lumMod val="75000"/>
                        <a:lumOff val="25000"/>
                      </a:schemeClr>
                    </a:solidFill>
                    <a:latin typeface="Comic Sans MS" panose="030F0702030302020204" pitchFamily="66" charset="0"/>
                    <a:ea typeface="微软雅黑" pitchFamily="34" charset="-122"/>
                  </a:rPr>
                  <a:t>2</a:t>
                </a:r>
              </a:p>
              <a:p>
                <a:pPr marL="684000" lvl="1" indent="-342900" algn="just" fontAlgn="base">
                  <a:lnSpc>
                    <a:spcPts val="3600"/>
                  </a:lnSpc>
                  <a:spcBef>
                    <a:spcPct val="20000"/>
                  </a:spcBef>
                  <a:spcAft>
                    <a:spcPct val="0"/>
                  </a:spcAft>
                  <a:buSzPct val="100000"/>
                  <a:buFont typeface="Arial" panose="020B0604020202020204" pitchFamily="34" charset="0"/>
                  <a:buChar char="•"/>
                </a:pPr>
                <a14:m>
                  <m:oMath xmlns:m="http://schemas.openxmlformats.org/officeDocument/2006/math">
                    <m:sSub>
                      <m:sSubPr>
                        <m:ctrlPr>
                          <a:rPr lang="en-US" altLang="zh-CN" sz="2400" i="1">
                            <a:solidFill>
                              <a:schemeClr val="tx1">
                                <a:lumMod val="75000"/>
                                <a:lumOff val="25000"/>
                              </a:schemeClr>
                            </a:solidFill>
                            <a:latin typeface="Cambria Math" panose="02040503050406030204" pitchFamily="18" charset="0"/>
                            <a:ea typeface="微软雅黑" pitchFamily="34" charset="-122"/>
                          </a:rPr>
                        </m:ctrlPr>
                      </m:sSubPr>
                      <m:e>
                        <m:r>
                          <a:rPr lang="en-US" altLang="zh-CN" sz="2400" i="1">
                            <a:solidFill>
                              <a:schemeClr val="tx1">
                                <a:lumMod val="75000"/>
                                <a:lumOff val="25000"/>
                              </a:schemeClr>
                            </a:solidFill>
                            <a:latin typeface="Cambria Math" panose="02040503050406030204" pitchFamily="18" charset="0"/>
                            <a:ea typeface="微软雅黑" pitchFamily="34" charset="-122"/>
                          </a:rPr>
                          <m:t>𝑠</m:t>
                        </m:r>
                      </m:e>
                      <m:sub>
                        <m:r>
                          <a:rPr lang="en-US" altLang="zh-CN" sz="2400" i="1">
                            <a:solidFill>
                              <a:schemeClr val="tx1">
                                <a:lumMod val="75000"/>
                                <a:lumOff val="25000"/>
                              </a:schemeClr>
                            </a:solidFill>
                            <a:latin typeface="Cambria Math" panose="02040503050406030204" pitchFamily="18" charset="0"/>
                            <a:ea typeface="微软雅黑" pitchFamily="34" charset="-122"/>
                          </a:rPr>
                          <m:t>1</m:t>
                        </m:r>
                      </m:sub>
                    </m:sSub>
                  </m:oMath>
                </a14:m>
                <a:r>
                  <a:rPr lang="zh-CN" altLang="en-US" sz="2400" dirty="0">
                    <a:solidFill>
                      <a:schemeClr val="tx1">
                        <a:lumMod val="75000"/>
                        <a:lumOff val="25000"/>
                      </a:schemeClr>
                    </a:solidFill>
                    <a:latin typeface="Comic Sans MS" panose="030F0702030302020204" pitchFamily="66" charset="0"/>
                    <a:ea typeface="微软雅黑" pitchFamily="34" charset="-122"/>
                  </a:rPr>
                  <a:t>依次將三個數據庫中</a:t>
                </a:r>
                <a:r>
                  <a:rPr lang="en-US" altLang="zh-CN" sz="2400" dirty="0">
                    <a:solidFill>
                      <a:schemeClr val="tx1">
                        <a:lumMod val="75000"/>
                        <a:lumOff val="25000"/>
                      </a:schemeClr>
                    </a:solidFill>
                    <a:latin typeface="Comic Sans MS" panose="030F0702030302020204" pitchFamily="66" charset="0"/>
                    <a:ea typeface="微软雅黑" pitchFamily="34" charset="-122"/>
                  </a:rPr>
                  <a:t>A</a:t>
                </a:r>
                <a:r>
                  <a:rPr lang="zh-CN" altLang="en-US" sz="2400" dirty="0">
                    <a:solidFill>
                      <a:schemeClr val="tx1">
                        <a:lumMod val="75000"/>
                        <a:lumOff val="25000"/>
                      </a:schemeClr>
                    </a:solidFill>
                    <a:latin typeface="Comic Sans MS" panose="030F0702030302020204" pitchFamily="66" charset="0"/>
                    <a:ea typeface="微软雅黑" pitchFamily="34" charset="-122"/>
                  </a:rPr>
                  <a:t>的值修改爲</a:t>
                </a:r>
                <a:r>
                  <a:rPr lang="en-US" altLang="zh-CN" sz="2400" dirty="0">
                    <a:solidFill>
                      <a:schemeClr val="tx1">
                        <a:lumMod val="75000"/>
                        <a:lumOff val="25000"/>
                      </a:schemeClr>
                    </a:solidFill>
                    <a:latin typeface="Comic Sans MS" panose="030F0702030302020204" pitchFamily="66" charset="0"/>
                    <a:ea typeface="微软雅黑" pitchFamily="34" charset="-122"/>
                  </a:rPr>
                  <a:t>4</a:t>
                </a:r>
              </a:p>
              <a:p>
                <a:pPr marL="684000" lvl="1" indent="-342900" algn="just" fontAlgn="base">
                  <a:lnSpc>
                    <a:spcPts val="3600"/>
                  </a:lnSpc>
                  <a:spcBef>
                    <a:spcPct val="20000"/>
                  </a:spcBef>
                  <a:spcAft>
                    <a:spcPct val="0"/>
                  </a:spcAft>
                  <a:buSzPct val="100000"/>
                  <a:buFont typeface="Arial" panose="020B0604020202020204" pitchFamily="34" charset="0"/>
                  <a:buChar char="•"/>
                </a:pPr>
                <a14:m>
                  <m:oMath xmlns:m="http://schemas.openxmlformats.org/officeDocument/2006/math">
                    <m:sSub>
                      <m:sSubPr>
                        <m:ctrlPr>
                          <a:rPr lang="en-US" altLang="zh-CN" sz="2400" i="1">
                            <a:solidFill>
                              <a:schemeClr val="tx1">
                                <a:lumMod val="75000"/>
                                <a:lumOff val="25000"/>
                              </a:schemeClr>
                            </a:solidFill>
                            <a:latin typeface="Cambria Math" panose="02040503050406030204" pitchFamily="18" charset="0"/>
                            <a:ea typeface="微软雅黑" pitchFamily="34" charset="-122"/>
                          </a:rPr>
                        </m:ctrlPr>
                      </m:sSubPr>
                      <m:e>
                        <m:r>
                          <a:rPr lang="en-US" altLang="zh-CN" sz="2400" i="1">
                            <a:solidFill>
                              <a:schemeClr val="tx1">
                                <a:lumMod val="75000"/>
                                <a:lumOff val="25000"/>
                              </a:schemeClr>
                            </a:solidFill>
                            <a:latin typeface="Cambria Math" panose="02040503050406030204" pitchFamily="18" charset="0"/>
                            <a:ea typeface="微软雅黑" pitchFamily="34" charset="-122"/>
                          </a:rPr>
                          <m:t>𝑠</m:t>
                        </m:r>
                      </m:e>
                      <m:sub>
                        <m:r>
                          <a:rPr lang="en-US" altLang="zh-CN" sz="2400" i="1">
                            <a:solidFill>
                              <a:schemeClr val="tx1">
                                <a:lumMod val="75000"/>
                                <a:lumOff val="25000"/>
                              </a:schemeClr>
                            </a:solidFill>
                            <a:latin typeface="Cambria Math" panose="02040503050406030204" pitchFamily="18" charset="0"/>
                            <a:ea typeface="微软雅黑" pitchFamily="34" charset="-122"/>
                          </a:rPr>
                          <m:t>0</m:t>
                        </m:r>
                      </m:sub>
                    </m:sSub>
                  </m:oMath>
                </a14:m>
                <a:r>
                  <a:rPr lang="zh-CN" altLang="en-US" sz="2400" dirty="0">
                    <a:solidFill>
                      <a:schemeClr val="tx1">
                        <a:lumMod val="75000"/>
                        <a:lumOff val="25000"/>
                      </a:schemeClr>
                    </a:solidFill>
                    <a:latin typeface="Comic Sans MS" panose="030F0702030302020204" pitchFamily="66" charset="0"/>
                    <a:ea typeface="微软雅黑" pitchFamily="34" charset="-122"/>
                  </a:rPr>
                  <a:t>向數據庫</a:t>
                </a:r>
                <a14:m>
                  <m:oMath xmlns:m="http://schemas.openxmlformats.org/officeDocument/2006/math">
                    <m:sSub>
                      <m:sSubPr>
                        <m:ctrlPr>
                          <a:rPr lang="en-US" altLang="zh-CN" sz="2400" i="1">
                            <a:solidFill>
                              <a:schemeClr val="tx1">
                                <a:lumMod val="75000"/>
                                <a:lumOff val="25000"/>
                              </a:schemeClr>
                            </a:solidFill>
                            <a:latin typeface="Cambria Math" panose="02040503050406030204" pitchFamily="18" charset="0"/>
                            <a:ea typeface="微软雅黑" pitchFamily="34" charset="-122"/>
                          </a:rPr>
                        </m:ctrlPr>
                      </m:sSubPr>
                      <m:e>
                        <m:r>
                          <a:rPr lang="en-US" altLang="zh-CN" sz="2400" i="1">
                            <a:solidFill>
                              <a:schemeClr val="tx1">
                                <a:lumMod val="75000"/>
                                <a:lumOff val="25000"/>
                              </a:schemeClr>
                            </a:solidFill>
                            <a:latin typeface="Cambria Math" panose="02040503050406030204" pitchFamily="18" charset="0"/>
                            <a:ea typeface="微软雅黑" pitchFamily="34" charset="-122"/>
                          </a:rPr>
                          <m:t>𝑑</m:t>
                        </m:r>
                      </m:e>
                      <m:sub>
                        <m:r>
                          <a:rPr lang="en-US" altLang="zh-CN" sz="2400" i="1">
                            <a:solidFill>
                              <a:schemeClr val="tx1">
                                <a:lumMod val="75000"/>
                                <a:lumOff val="25000"/>
                              </a:schemeClr>
                            </a:solidFill>
                            <a:latin typeface="Cambria Math" panose="02040503050406030204" pitchFamily="18" charset="0"/>
                            <a:ea typeface="微软雅黑" pitchFamily="34" charset="-122"/>
                          </a:rPr>
                          <m:t>0</m:t>
                        </m:r>
                      </m:sub>
                    </m:sSub>
                  </m:oMath>
                </a14:m>
                <a:r>
                  <a:rPr lang="zh-CN" altLang="en-US" sz="2400" dirty="0">
                    <a:solidFill>
                      <a:schemeClr val="tx1">
                        <a:lumMod val="75000"/>
                        <a:lumOff val="25000"/>
                      </a:schemeClr>
                    </a:solidFill>
                    <a:latin typeface="Comic Sans MS" panose="030F0702030302020204" pitchFamily="66" charset="0"/>
                    <a:ea typeface="微软雅黑" pitchFamily="34" charset="-122"/>
                  </a:rPr>
                  <a:t>讀取</a:t>
                </a:r>
                <a:r>
                  <a:rPr lang="en-US" altLang="zh-CN" sz="2400" dirty="0">
                    <a:solidFill>
                      <a:schemeClr val="tx1">
                        <a:lumMod val="75000"/>
                        <a:lumOff val="25000"/>
                      </a:schemeClr>
                    </a:solidFill>
                    <a:latin typeface="Comic Sans MS" panose="030F0702030302020204" pitchFamily="66" charset="0"/>
                    <a:ea typeface="微软雅黑" pitchFamily="34" charset="-122"/>
                  </a:rPr>
                  <a:t>A</a:t>
                </a:r>
                <a:r>
                  <a:rPr lang="zh-CN" altLang="en-US" sz="2400" dirty="0">
                    <a:solidFill>
                      <a:schemeClr val="tx1">
                        <a:lumMod val="75000"/>
                        <a:lumOff val="25000"/>
                      </a:schemeClr>
                    </a:solidFill>
                    <a:latin typeface="Comic Sans MS" panose="030F0702030302020204" pitchFamily="66" charset="0"/>
                    <a:ea typeface="微软雅黑" pitchFamily="34" charset="-122"/>
                  </a:rPr>
                  <a:t>的值</a:t>
                </a:r>
                <a:endParaRPr lang="en-US" altLang="zh-CN" sz="2400" dirty="0">
                  <a:solidFill>
                    <a:schemeClr val="tx1">
                      <a:lumMod val="75000"/>
                      <a:lumOff val="25000"/>
                    </a:schemeClr>
                  </a:solidFill>
                  <a:latin typeface="Comic Sans MS" panose="030F0702030302020204" pitchFamily="66" charset="0"/>
                  <a:ea typeface="微软雅黑" pitchFamily="34" charset="-122"/>
                </a:endParaRPr>
              </a:p>
              <a:p>
                <a:pPr marL="3429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Comic Sans MS" panose="030F0702030302020204" pitchFamily="66" charset="0"/>
                    <a:ea typeface="微软雅黑" pitchFamily="34" charset="-122"/>
                  </a:rPr>
                  <a:t>由于指令的幷發執行，</a:t>
                </a:r>
                <a14:m>
                  <m:oMath xmlns:m="http://schemas.openxmlformats.org/officeDocument/2006/math">
                    <m:sSub>
                      <m:sSubPr>
                        <m:ctrlPr>
                          <a:rPr lang="en-US" altLang="zh-CN" sz="2400" i="1">
                            <a:solidFill>
                              <a:schemeClr val="tx1">
                                <a:lumMod val="75000"/>
                                <a:lumOff val="25000"/>
                              </a:schemeClr>
                            </a:solidFill>
                            <a:latin typeface="Cambria Math" panose="02040503050406030204" pitchFamily="18" charset="0"/>
                            <a:ea typeface="微软雅黑" pitchFamily="34" charset="-122"/>
                          </a:rPr>
                        </m:ctrlPr>
                      </m:sSubPr>
                      <m:e>
                        <m:r>
                          <a:rPr lang="en-US" altLang="zh-CN" sz="2400" i="1">
                            <a:solidFill>
                              <a:schemeClr val="tx1">
                                <a:lumMod val="75000"/>
                                <a:lumOff val="25000"/>
                              </a:schemeClr>
                            </a:solidFill>
                            <a:latin typeface="Cambria Math" panose="02040503050406030204" pitchFamily="18" charset="0"/>
                            <a:ea typeface="微软雅黑" pitchFamily="34" charset="-122"/>
                          </a:rPr>
                          <m:t>𝑠</m:t>
                        </m:r>
                      </m:e>
                      <m:sub>
                        <m:r>
                          <a:rPr lang="en-US" altLang="zh-CN" sz="2400" i="1">
                            <a:solidFill>
                              <a:schemeClr val="tx1">
                                <a:lumMod val="75000"/>
                                <a:lumOff val="25000"/>
                              </a:schemeClr>
                            </a:solidFill>
                            <a:latin typeface="Cambria Math" panose="02040503050406030204" pitchFamily="18" charset="0"/>
                            <a:ea typeface="微软雅黑" pitchFamily="34" charset="-122"/>
                          </a:rPr>
                          <m:t>0</m:t>
                        </m:r>
                      </m:sub>
                    </m:sSub>
                  </m:oMath>
                </a14:m>
                <a:r>
                  <a:rPr lang="zh-CN" altLang="en-US" sz="2400" dirty="0">
                    <a:solidFill>
                      <a:schemeClr val="tx1">
                        <a:lumMod val="75000"/>
                        <a:lumOff val="25000"/>
                      </a:schemeClr>
                    </a:solidFill>
                    <a:latin typeface="Comic Sans MS" panose="030F0702030302020204" pitchFamily="66" charset="0"/>
                    <a:ea typeface="微软雅黑" pitchFamily="34" charset="-122"/>
                  </a:rPr>
                  <a:t>讀取的值可能爲</a:t>
                </a:r>
                <a:r>
                  <a:rPr lang="en-US" altLang="zh-CN" sz="2400" dirty="0">
                    <a:solidFill>
                      <a:schemeClr val="tx1">
                        <a:lumMod val="75000"/>
                        <a:lumOff val="25000"/>
                      </a:schemeClr>
                    </a:solidFill>
                    <a:latin typeface="Comic Sans MS" panose="030F0702030302020204" pitchFamily="66" charset="0"/>
                    <a:ea typeface="微软雅黑" pitchFamily="34" charset="-122"/>
                  </a:rPr>
                  <a:t>2</a:t>
                </a:r>
                <a:r>
                  <a:rPr lang="zh-CN" altLang="en-US" sz="2400" dirty="0">
                    <a:solidFill>
                      <a:schemeClr val="tx1">
                        <a:lumMod val="75000"/>
                        <a:lumOff val="25000"/>
                      </a:schemeClr>
                    </a:solidFill>
                    <a:latin typeface="Comic Sans MS" panose="030F0702030302020204" pitchFamily="66" charset="0"/>
                    <a:ea typeface="微软雅黑" pitchFamily="34" charset="-122"/>
                  </a:rPr>
                  <a:t>，也可能爲</a:t>
                </a:r>
                <a:r>
                  <a:rPr lang="en-US" altLang="zh-CN" sz="2400" dirty="0">
                    <a:solidFill>
                      <a:schemeClr val="tx1">
                        <a:lumMod val="75000"/>
                        <a:lumOff val="25000"/>
                      </a:schemeClr>
                    </a:solidFill>
                    <a:latin typeface="Comic Sans MS" panose="030F0702030302020204" pitchFamily="66" charset="0"/>
                    <a:ea typeface="微软雅黑" pitchFamily="34" charset="-122"/>
                  </a:rPr>
                  <a:t>4</a:t>
                </a:r>
              </a:p>
            </p:txBody>
          </p:sp>
        </mc:Choice>
        <mc:Fallback>
          <p:sp>
            <p:nvSpPr>
              <p:cNvPr id="70" name="矩形 69">
                <a:extLst>
                  <a:ext uri="{FF2B5EF4-FFF2-40B4-BE49-F238E27FC236}">
                    <a16:creationId xmlns:a16="http://schemas.microsoft.com/office/drawing/2014/main" id="{D121EA16-E7CB-B541-BB91-5F2D43E478BD}"/>
                  </a:ext>
                </a:extLst>
              </p:cNvPr>
              <p:cNvSpPr>
                <a:spLocks noRot="1" noChangeAspect="1" noMove="1" noResize="1" noEditPoints="1" noAdjustHandles="1" noChangeArrowheads="1" noChangeShapeType="1" noTextEdit="1"/>
              </p:cNvSpPr>
              <p:nvPr/>
            </p:nvSpPr>
            <p:spPr>
              <a:xfrm>
                <a:off x="609491" y="1295232"/>
                <a:ext cx="4552044" cy="5113195"/>
              </a:xfrm>
              <a:prstGeom prst="rect">
                <a:avLst/>
              </a:prstGeom>
              <a:blipFill>
                <a:blip r:embed="rId13"/>
                <a:stretch>
                  <a:fillRect l="-1874" r="-2008" b="-1788"/>
                </a:stretch>
              </a:blipFill>
              <a:ln>
                <a:noFill/>
              </a:ln>
            </p:spPr>
            <p:txBody>
              <a:bodyPr/>
              <a:lstStyle/>
              <a:p>
                <a:r>
                  <a:rPr lang="fr-FR">
                    <a:noFill/>
                  </a:rPr>
                  <a:t> </a:t>
                </a:r>
              </a:p>
            </p:txBody>
          </p:sp>
        </mc:Fallback>
      </mc:AlternateContent>
      <p:sp>
        <p:nvSpPr>
          <p:cNvPr id="81" name="矩形 80">
            <a:extLst>
              <a:ext uri="{FF2B5EF4-FFF2-40B4-BE49-F238E27FC236}">
                <a16:creationId xmlns:a16="http://schemas.microsoft.com/office/drawing/2014/main" id="{5AF27E33-8A52-ED4A-B184-82E92A3B7C07}"/>
              </a:ext>
            </a:extLst>
          </p:cNvPr>
          <p:cNvSpPr/>
          <p:nvPr/>
        </p:nvSpPr>
        <p:spPr>
          <a:xfrm>
            <a:off x="8749678" y="1544979"/>
            <a:ext cx="877163" cy="369332"/>
          </a:xfrm>
          <a:prstGeom prst="rect">
            <a:avLst/>
          </a:prstGeom>
        </p:spPr>
        <p:txBody>
          <a:bodyPr wrap="none">
            <a:spAutoFit/>
          </a:bodyPr>
          <a:lstStyle/>
          <a:p>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獲取</a:t>
            </a: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 A</a:t>
            </a:r>
            <a:endParaRPr lang="zh-CN" altLang="en-US" dirty="0"/>
          </a:p>
        </p:txBody>
      </p:sp>
      <p:cxnSp>
        <p:nvCxnSpPr>
          <p:cNvPr id="82" name="直线箭头连接符 81">
            <a:extLst>
              <a:ext uri="{FF2B5EF4-FFF2-40B4-BE49-F238E27FC236}">
                <a16:creationId xmlns:a16="http://schemas.microsoft.com/office/drawing/2014/main" id="{47133FC2-76CC-294C-8B3F-93FA41FC8140}"/>
              </a:ext>
            </a:extLst>
          </p:cNvPr>
          <p:cNvCxnSpPr>
            <a:cxnSpLocks/>
          </p:cNvCxnSpPr>
          <p:nvPr/>
        </p:nvCxnSpPr>
        <p:spPr>
          <a:xfrm flipH="1">
            <a:off x="8419946" y="2036312"/>
            <a:ext cx="1573877" cy="1587207"/>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87" name="直线箭头连接符 86">
            <a:extLst>
              <a:ext uri="{FF2B5EF4-FFF2-40B4-BE49-F238E27FC236}">
                <a16:creationId xmlns:a16="http://schemas.microsoft.com/office/drawing/2014/main" id="{CA9AD5D7-9925-3940-9FB5-8E4902F4BB75}"/>
              </a:ext>
            </a:extLst>
          </p:cNvPr>
          <p:cNvCxnSpPr>
            <a:cxnSpLocks/>
          </p:cNvCxnSpPr>
          <p:nvPr/>
        </p:nvCxnSpPr>
        <p:spPr>
          <a:xfrm flipH="1">
            <a:off x="8401073" y="3617476"/>
            <a:ext cx="1592749" cy="0"/>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sp>
        <p:nvSpPr>
          <p:cNvPr id="92" name="矩形 91">
            <a:extLst>
              <a:ext uri="{FF2B5EF4-FFF2-40B4-BE49-F238E27FC236}">
                <a16:creationId xmlns:a16="http://schemas.microsoft.com/office/drawing/2014/main" id="{4CC23E72-99C1-B248-80C5-9982A981E36C}"/>
              </a:ext>
            </a:extLst>
          </p:cNvPr>
          <p:cNvSpPr/>
          <p:nvPr/>
        </p:nvSpPr>
        <p:spPr>
          <a:xfrm>
            <a:off x="8847433" y="2498324"/>
            <a:ext cx="415498" cy="369332"/>
          </a:xfrm>
          <a:prstGeom prst="rect">
            <a:avLst/>
          </a:prstGeom>
        </p:spPr>
        <p:txBody>
          <a:bodyPr wrap="none">
            <a:spAutoFit/>
          </a:bodyPr>
          <a:lstStyle/>
          <a:p>
            <a:r>
              <a:rPr lang="zh-CN" altLang="zh-CN" kern="100" dirty="0">
                <a:latin typeface="微软雅黑" panose="020B0503020204020204" pitchFamily="34" charset="-122"/>
                <a:ea typeface="微软雅黑" panose="020B0503020204020204" pitchFamily="34" charset="-122"/>
              </a:rPr>
              <a:t>③</a:t>
            </a:r>
            <a:endParaRPr lang="zh-CN" altLang="en-US" dirty="0"/>
          </a:p>
        </p:txBody>
      </p:sp>
      <p:sp>
        <p:nvSpPr>
          <p:cNvPr id="72" name="矩形 71">
            <a:extLst>
              <a:ext uri="{FF2B5EF4-FFF2-40B4-BE49-F238E27FC236}">
                <a16:creationId xmlns:a16="http://schemas.microsoft.com/office/drawing/2014/main" id="{84246A1A-6FD5-C445-A83E-5D553B813FE1}"/>
              </a:ext>
            </a:extLst>
          </p:cNvPr>
          <p:cNvSpPr/>
          <p:nvPr/>
        </p:nvSpPr>
        <p:spPr>
          <a:xfrm>
            <a:off x="6554335" y="2062812"/>
            <a:ext cx="646331" cy="369332"/>
          </a:xfrm>
          <a:prstGeom prst="rect">
            <a:avLst/>
          </a:prstGeom>
        </p:spPr>
        <p:txBody>
          <a:bodyPr wrap="none">
            <a:spAutoFit/>
          </a:bodyPr>
          <a:lstStyle/>
          <a:p>
            <a:pPr algn="ct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詢問</a:t>
            </a:r>
            <a:endParaRPr lang="zh-CN" altLang="en-US" dirty="0">
              <a:latin typeface="Microsoft YaHei" panose="020B0503020204020204" pitchFamily="34" charset="-122"/>
              <a:ea typeface="Microsoft YaHei" panose="020B0503020204020204" pitchFamily="34" charset="-122"/>
            </a:endParaRPr>
          </a:p>
        </p:txBody>
      </p:sp>
      <p:sp>
        <p:nvSpPr>
          <p:cNvPr id="73" name="矩形 72">
            <a:extLst>
              <a:ext uri="{FF2B5EF4-FFF2-40B4-BE49-F238E27FC236}">
                <a16:creationId xmlns:a16="http://schemas.microsoft.com/office/drawing/2014/main" id="{1ED5FE8A-6739-F247-85F2-7979D1520A50}"/>
              </a:ext>
            </a:extLst>
          </p:cNvPr>
          <p:cNvSpPr/>
          <p:nvPr/>
        </p:nvSpPr>
        <p:spPr>
          <a:xfrm>
            <a:off x="6349276" y="3684588"/>
            <a:ext cx="1107996" cy="369332"/>
          </a:xfrm>
          <a:prstGeom prst="rect">
            <a:avLst/>
          </a:prstGeom>
        </p:spPr>
        <p:txBody>
          <a:bodyPr wrap="none">
            <a:spAutoFit/>
          </a:bodyPr>
          <a:lstStyle/>
          <a:p>
            <a:pPr algn="ct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請求指令</a:t>
            </a:r>
            <a:endParaRPr lang="zh-CN" altLang="en-US" dirty="0">
              <a:latin typeface="Microsoft YaHei" panose="020B0503020204020204" pitchFamily="34" charset="-122"/>
              <a:ea typeface="Microsoft YaHei" panose="020B0503020204020204" pitchFamily="34" charset="-122"/>
            </a:endParaRPr>
          </a:p>
        </p:txBody>
      </p:sp>
      <p:pic>
        <p:nvPicPr>
          <p:cNvPr id="74" name="图形 73">
            <a:extLst>
              <a:ext uri="{FF2B5EF4-FFF2-40B4-BE49-F238E27FC236}">
                <a16:creationId xmlns:a16="http://schemas.microsoft.com/office/drawing/2014/main" id="{92EB532D-BF4E-054D-9EED-F14306CBE41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000989" y="1528013"/>
            <a:ext cx="800615" cy="800615"/>
          </a:xfrm>
          <a:prstGeom prst="rect">
            <a:avLst/>
          </a:prstGeom>
        </p:spPr>
      </p:pic>
      <p:pic>
        <p:nvPicPr>
          <p:cNvPr id="75" name="图形 74">
            <a:extLst>
              <a:ext uri="{FF2B5EF4-FFF2-40B4-BE49-F238E27FC236}">
                <a16:creationId xmlns:a16="http://schemas.microsoft.com/office/drawing/2014/main" id="{C9E3FB9D-AC02-F942-9239-54F3B2A752A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000989" y="3207745"/>
            <a:ext cx="800615" cy="800615"/>
          </a:xfrm>
          <a:prstGeom prst="rect">
            <a:avLst/>
          </a:prstGeom>
        </p:spPr>
      </p:pic>
      <mc:AlternateContent xmlns:mc="http://schemas.openxmlformats.org/markup-compatibility/2006" xmlns:a14="http://schemas.microsoft.com/office/drawing/2010/main">
        <mc:Choice Requires="a14">
          <p:sp>
            <p:nvSpPr>
              <p:cNvPr id="76" name="矩形 75">
                <a:extLst>
                  <a:ext uri="{FF2B5EF4-FFF2-40B4-BE49-F238E27FC236}">
                    <a16:creationId xmlns:a16="http://schemas.microsoft.com/office/drawing/2014/main" id="{83622B65-D1D0-EA4F-AEF3-8CEE4DD4EA25}"/>
                  </a:ext>
                </a:extLst>
              </p:cNvPr>
              <p:cNvSpPr/>
              <p:nvPr/>
            </p:nvSpPr>
            <p:spPr>
              <a:xfrm>
                <a:off x="10184886" y="2303088"/>
                <a:ext cx="493981"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b="0" i="1" smtClean="0">
                              <a:solidFill>
                                <a:schemeClr val="tx1">
                                  <a:lumMod val="75000"/>
                                  <a:lumOff val="25000"/>
                                </a:schemeClr>
                              </a:solidFill>
                              <a:latin typeface="Cambria Math" panose="02040503050406030204" pitchFamily="18" charset="0"/>
                              <a:ea typeface="微软雅黑" pitchFamily="34" charset="-122"/>
                            </a:rPr>
                            <m:t>𝑑</m:t>
                          </m:r>
                        </m:e>
                        <m:sub>
                          <m:r>
                            <a:rPr lang="en-US" altLang="zh-CN" i="1">
                              <a:solidFill>
                                <a:schemeClr val="tx1">
                                  <a:lumMod val="75000"/>
                                  <a:lumOff val="25000"/>
                                </a:schemeClr>
                              </a:solidFill>
                              <a:latin typeface="Cambria Math" panose="02040503050406030204" pitchFamily="18" charset="0"/>
                              <a:ea typeface="微软雅黑" pitchFamily="34" charset="-122"/>
                            </a:rPr>
                            <m:t>0</m:t>
                          </m:r>
                        </m:sub>
                      </m:sSub>
                    </m:oMath>
                  </m:oMathPara>
                </a14:m>
                <a:endParaRPr lang="zh-CN" altLang="en-US" dirty="0">
                  <a:latin typeface="Microsoft YaHei" panose="020B0503020204020204" pitchFamily="34" charset="-122"/>
                  <a:ea typeface="Microsoft YaHei" panose="020B0503020204020204" pitchFamily="34" charset="-122"/>
                </a:endParaRPr>
              </a:p>
            </p:txBody>
          </p:sp>
        </mc:Choice>
        <mc:Fallback xmlns="">
          <p:sp>
            <p:nvSpPr>
              <p:cNvPr id="76" name="矩形 75">
                <a:extLst>
                  <a:ext uri="{FF2B5EF4-FFF2-40B4-BE49-F238E27FC236}">
                    <a16:creationId xmlns:a16="http://schemas.microsoft.com/office/drawing/2014/main" id="{83622B65-D1D0-EA4F-AEF3-8CEE4DD4EA25}"/>
                  </a:ext>
                </a:extLst>
              </p:cNvPr>
              <p:cNvSpPr>
                <a:spLocks noRot="1" noChangeAspect="1" noMove="1" noResize="1" noEditPoints="1" noAdjustHandles="1" noChangeArrowheads="1" noChangeShapeType="1" noTextEdit="1"/>
              </p:cNvSpPr>
              <p:nvPr/>
            </p:nvSpPr>
            <p:spPr>
              <a:xfrm>
                <a:off x="10184886" y="2303088"/>
                <a:ext cx="493981" cy="369332"/>
              </a:xfrm>
              <a:prstGeom prst="rect">
                <a:avLst/>
              </a:prstGeom>
              <a:blipFill>
                <a:blip r:embed="rId1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7" name="矩形 76">
                <a:extLst>
                  <a:ext uri="{FF2B5EF4-FFF2-40B4-BE49-F238E27FC236}">
                    <a16:creationId xmlns:a16="http://schemas.microsoft.com/office/drawing/2014/main" id="{40F8B67C-E6C6-3941-87DE-12EC88402D53}"/>
                  </a:ext>
                </a:extLst>
              </p:cNvPr>
              <p:cNvSpPr/>
              <p:nvPr/>
            </p:nvSpPr>
            <p:spPr>
              <a:xfrm>
                <a:off x="10187548" y="3963923"/>
                <a:ext cx="488659"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i="1">
                              <a:solidFill>
                                <a:schemeClr val="tx1">
                                  <a:lumMod val="75000"/>
                                  <a:lumOff val="25000"/>
                                </a:schemeClr>
                              </a:solidFill>
                              <a:latin typeface="Cambria Math" panose="02040503050406030204" pitchFamily="18" charset="0"/>
                              <a:ea typeface="微软雅黑" pitchFamily="34" charset="-122"/>
                            </a:rPr>
                            <m:t>𝑑</m:t>
                          </m:r>
                        </m:e>
                        <m:sub>
                          <m:r>
                            <a:rPr lang="en-US" altLang="zh-CN" b="0" i="1" smtClean="0">
                              <a:solidFill>
                                <a:schemeClr val="tx1">
                                  <a:lumMod val="75000"/>
                                  <a:lumOff val="25000"/>
                                </a:schemeClr>
                              </a:solidFill>
                              <a:latin typeface="Cambria Math" panose="02040503050406030204" pitchFamily="18" charset="0"/>
                              <a:ea typeface="微软雅黑" pitchFamily="34" charset="-122"/>
                            </a:rPr>
                            <m:t>1</m:t>
                          </m:r>
                        </m:sub>
                      </m:sSub>
                    </m:oMath>
                  </m:oMathPara>
                </a14:m>
                <a:endParaRPr lang="zh-CN" altLang="en-US" dirty="0">
                  <a:latin typeface="Microsoft YaHei" panose="020B0503020204020204" pitchFamily="34" charset="-122"/>
                  <a:ea typeface="Microsoft YaHei" panose="020B0503020204020204" pitchFamily="34" charset="-122"/>
                </a:endParaRPr>
              </a:p>
            </p:txBody>
          </p:sp>
        </mc:Choice>
        <mc:Fallback xmlns="">
          <p:sp>
            <p:nvSpPr>
              <p:cNvPr id="77" name="矩形 76">
                <a:extLst>
                  <a:ext uri="{FF2B5EF4-FFF2-40B4-BE49-F238E27FC236}">
                    <a16:creationId xmlns:a16="http://schemas.microsoft.com/office/drawing/2014/main" id="{40F8B67C-E6C6-3941-87DE-12EC88402D53}"/>
                  </a:ext>
                </a:extLst>
              </p:cNvPr>
              <p:cNvSpPr>
                <a:spLocks noRot="1" noChangeAspect="1" noMove="1" noResize="1" noEditPoints="1" noAdjustHandles="1" noChangeArrowheads="1" noChangeShapeType="1" noTextEdit="1"/>
              </p:cNvSpPr>
              <p:nvPr/>
            </p:nvSpPr>
            <p:spPr>
              <a:xfrm>
                <a:off x="10187548" y="3963923"/>
                <a:ext cx="488659" cy="369332"/>
              </a:xfrm>
              <a:prstGeom prst="rect">
                <a:avLst/>
              </a:prstGeom>
              <a:blipFill>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8" name="矩形 77">
                <a:extLst>
                  <a:ext uri="{FF2B5EF4-FFF2-40B4-BE49-F238E27FC236}">
                    <a16:creationId xmlns:a16="http://schemas.microsoft.com/office/drawing/2014/main" id="{B940328E-EB37-8040-BC8C-18D01047707B}"/>
                  </a:ext>
                </a:extLst>
              </p:cNvPr>
              <p:cNvSpPr/>
              <p:nvPr/>
            </p:nvSpPr>
            <p:spPr>
              <a:xfrm>
                <a:off x="10192117" y="5468121"/>
                <a:ext cx="493981"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i="1">
                              <a:solidFill>
                                <a:schemeClr val="tx1">
                                  <a:lumMod val="75000"/>
                                  <a:lumOff val="25000"/>
                                </a:schemeClr>
                              </a:solidFill>
                              <a:latin typeface="Cambria Math" panose="02040503050406030204" pitchFamily="18" charset="0"/>
                              <a:ea typeface="微软雅黑" pitchFamily="34" charset="-122"/>
                            </a:rPr>
                            <m:t>𝑑</m:t>
                          </m:r>
                        </m:e>
                        <m:sub>
                          <m:r>
                            <a:rPr lang="en-US" altLang="zh-CN" b="0" i="1" smtClean="0">
                              <a:solidFill>
                                <a:schemeClr val="tx1">
                                  <a:lumMod val="75000"/>
                                  <a:lumOff val="25000"/>
                                </a:schemeClr>
                              </a:solidFill>
                              <a:latin typeface="Cambria Math" panose="02040503050406030204" pitchFamily="18" charset="0"/>
                              <a:ea typeface="微软雅黑" pitchFamily="34" charset="-122"/>
                            </a:rPr>
                            <m:t>2</m:t>
                          </m:r>
                        </m:sub>
                      </m:sSub>
                    </m:oMath>
                  </m:oMathPara>
                </a14:m>
                <a:endParaRPr lang="zh-CN" altLang="en-US" dirty="0">
                  <a:latin typeface="Microsoft YaHei" panose="020B0503020204020204" pitchFamily="34" charset="-122"/>
                  <a:ea typeface="Microsoft YaHei" panose="020B0503020204020204" pitchFamily="34" charset="-122"/>
                </a:endParaRPr>
              </a:p>
            </p:txBody>
          </p:sp>
        </mc:Choice>
        <mc:Fallback xmlns="">
          <p:sp>
            <p:nvSpPr>
              <p:cNvPr id="78" name="矩形 77">
                <a:extLst>
                  <a:ext uri="{FF2B5EF4-FFF2-40B4-BE49-F238E27FC236}">
                    <a16:creationId xmlns:a16="http://schemas.microsoft.com/office/drawing/2014/main" id="{B940328E-EB37-8040-BC8C-18D01047707B}"/>
                  </a:ext>
                </a:extLst>
              </p:cNvPr>
              <p:cNvSpPr>
                <a:spLocks noRot="1" noChangeAspect="1" noMove="1" noResize="1" noEditPoints="1" noAdjustHandles="1" noChangeArrowheads="1" noChangeShapeType="1" noTextEdit="1"/>
              </p:cNvSpPr>
              <p:nvPr/>
            </p:nvSpPr>
            <p:spPr>
              <a:xfrm>
                <a:off x="10192117" y="5468121"/>
                <a:ext cx="493981" cy="369332"/>
              </a:xfrm>
              <a:prstGeom prst="rect">
                <a:avLst/>
              </a:prstGeom>
              <a:blipFill>
                <a:blip r:embed="rId21"/>
                <a:stretch>
                  <a:fillRect/>
                </a:stretch>
              </a:blipFill>
            </p:spPr>
            <p:txBody>
              <a:bodyPr/>
              <a:lstStyle/>
              <a:p>
                <a:r>
                  <a:rPr lang="zh-CN" altLang="en-US">
                    <a:noFill/>
                  </a:rPr>
                  <a:t> </a:t>
                </a:r>
              </a:p>
            </p:txBody>
          </p:sp>
        </mc:Fallback>
      </mc:AlternateContent>
      <p:pic>
        <p:nvPicPr>
          <p:cNvPr id="79" name="图形 78">
            <a:extLst>
              <a:ext uri="{FF2B5EF4-FFF2-40B4-BE49-F238E27FC236}">
                <a16:creationId xmlns:a16="http://schemas.microsoft.com/office/drawing/2014/main" id="{82894E8A-F7C2-A34A-9A0B-F6D124921F1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93822" y="4708515"/>
            <a:ext cx="800615" cy="800615"/>
          </a:xfrm>
          <a:prstGeom prst="rect">
            <a:avLst/>
          </a:prstGeom>
        </p:spPr>
      </p:pic>
      <p:pic>
        <p:nvPicPr>
          <p:cNvPr id="80" name="图片 79">
            <a:extLst>
              <a:ext uri="{FF2B5EF4-FFF2-40B4-BE49-F238E27FC236}">
                <a16:creationId xmlns:a16="http://schemas.microsoft.com/office/drawing/2014/main" id="{065D81A9-D177-894A-9DC7-E4B0EB169EC4}"/>
              </a:ext>
            </a:extLst>
          </p:cNvPr>
          <p:cNvPicPr>
            <a:picLocks noChangeAspect="1"/>
          </p:cNvPicPr>
          <p:nvPr/>
        </p:nvPicPr>
        <p:blipFill>
          <a:blip r:embed="rId3"/>
          <a:stretch>
            <a:fillRect/>
          </a:stretch>
        </p:blipFill>
        <p:spPr>
          <a:xfrm>
            <a:off x="7833582" y="4694296"/>
            <a:ext cx="586364" cy="798452"/>
          </a:xfrm>
          <a:prstGeom prst="rect">
            <a:avLst/>
          </a:prstGeom>
        </p:spPr>
      </p:pic>
      <p:sp>
        <p:nvSpPr>
          <p:cNvPr id="42" name="灯片编号占位符 2">
            <a:extLst>
              <a:ext uri="{FF2B5EF4-FFF2-40B4-BE49-F238E27FC236}">
                <a16:creationId xmlns:a16="http://schemas.microsoft.com/office/drawing/2014/main" id="{68C4C991-D5C1-B047-9416-FD6C538D8A97}"/>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51</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36749742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solidFill>
                  <a:srgbClr val="C00000"/>
                </a:solidFill>
              </a:rPr>
              <a:t>事務與分布式</a:t>
            </a:r>
            <a:r>
              <a:rPr kumimoji="1" lang="zh-CN" altLang="en-US" dirty="0"/>
              <a:t>事務</a:t>
            </a:r>
            <a:endParaRPr kumimoji="1" lang="zh-CN" altLang="en-US" dirty="0">
              <a:solidFill>
                <a:srgbClr val="C00000"/>
              </a:solidFill>
            </a:endParaRPr>
          </a:p>
        </p:txBody>
      </p:sp>
      <p:sp>
        <p:nvSpPr>
          <p:cNvPr id="51" name="矩形 50">
            <a:extLst>
              <a:ext uri="{FF2B5EF4-FFF2-40B4-BE49-F238E27FC236}">
                <a16:creationId xmlns:a16="http://schemas.microsoft.com/office/drawing/2014/main" id="{443549CB-4E57-E043-8A99-1CE2F97BC610}"/>
              </a:ext>
            </a:extLst>
          </p:cNvPr>
          <p:cNvSpPr/>
          <p:nvPr/>
        </p:nvSpPr>
        <p:spPr>
          <a:xfrm>
            <a:off x="979523" y="1231293"/>
            <a:ext cx="10637855" cy="976678"/>
          </a:xfrm>
          <a:prstGeom prst="rect">
            <a:avLst/>
          </a:prstGeom>
        </p:spPr>
        <p:txBody>
          <a:bodyPr wrap="square">
            <a:spAutoFit/>
          </a:bodyPr>
          <a:lstStyle/>
          <a:p>
            <a:pPr marL="0" lvl="1" algn="ctr" fontAlgn="base">
              <a:lnSpc>
                <a:spcPts val="3600"/>
              </a:lnSpc>
              <a:spcBef>
                <a:spcPct val="20000"/>
              </a:spcBef>
              <a:spcAft>
                <a:spcPct val="0"/>
              </a:spcAft>
              <a:buSzPct val="60000"/>
            </a:pPr>
            <a:r>
              <a:rPr lang="zh-CN" altLang="en-US" sz="2400" b="1" dirty="0">
                <a:solidFill>
                  <a:srgbClr val="C00000"/>
                </a:solidFill>
                <a:latin typeface="Comic Sans MS" panose="030F0702030302020204" pitchFamily="66" charset="0"/>
                <a:ea typeface="微软雅黑" pitchFamily="34" charset="-122"/>
              </a:rPr>
              <a:t>事務是原子的一組請求，這組請求不受其它客戶端干擾，幷且要麽全部完成，要麽不對服務器造成任何影響</a:t>
            </a:r>
            <a:endParaRPr lang="en-US" altLang="zh-CN" sz="2400" b="1" dirty="0">
              <a:solidFill>
                <a:srgbClr val="C00000"/>
              </a:solidFill>
              <a:latin typeface="Comic Sans MS" panose="030F0702030302020204" pitchFamily="66" charset="0"/>
              <a:ea typeface="微软雅黑" pitchFamily="34" charset="-122"/>
            </a:endParaRPr>
          </a:p>
        </p:txBody>
      </p:sp>
      <p:sp>
        <p:nvSpPr>
          <p:cNvPr id="13" name="矩形 12">
            <a:extLst>
              <a:ext uri="{FF2B5EF4-FFF2-40B4-BE49-F238E27FC236}">
                <a16:creationId xmlns:a16="http://schemas.microsoft.com/office/drawing/2014/main" id="{B3F7B693-3827-DA48-AC72-A90C07DC2FF9}"/>
              </a:ext>
            </a:extLst>
          </p:cNvPr>
          <p:cNvSpPr/>
          <p:nvPr/>
        </p:nvSpPr>
        <p:spPr>
          <a:xfrm>
            <a:off x="960473" y="2405390"/>
            <a:ext cx="10628551" cy="2602123"/>
          </a:xfrm>
          <a:prstGeom prst="rect">
            <a:avLst/>
          </a:prstGeom>
          <a:ln>
            <a:solidFill>
              <a:srgbClr val="00B0F0"/>
            </a:solidFill>
          </a:ln>
        </p:spPr>
        <p:txBody>
          <a:bodyPr wrap="none">
            <a:spAutoFit/>
          </a:bodyPr>
          <a:lstStyle/>
          <a:p>
            <a:pPr marL="342900" indent="-342900">
              <a:lnSpc>
                <a:spcPts val="4000"/>
              </a:lnSpc>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事務需要滿足</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ACID</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特性</a:t>
            </a:r>
            <a:endPar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a:p>
            <a:pPr marL="684000" indent="-342900">
              <a:lnSpc>
                <a:spcPts val="4000"/>
              </a:lnSpc>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原子性（</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Atomicity</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）：操作必須全部完成，或者不留下任何結果</a:t>
            </a:r>
            <a:endPar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a:p>
            <a:pPr marL="684000" indent="-342900">
              <a:lnSpc>
                <a:spcPts val="4000"/>
              </a:lnSpc>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一致性（</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Consistency</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）：將系統從一個一致狀態轉換到另一個一致狀態</a:t>
            </a:r>
            <a:endPar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a:p>
            <a:pPr marL="684000" indent="-342900">
              <a:lnSpc>
                <a:spcPts val="4000"/>
              </a:lnSpc>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隔離型（</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Isolation</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）：每個事務的執行不受其它事務影響</a:t>
            </a:r>
            <a:endPar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a:p>
            <a:pPr marL="684000" indent="-342900">
              <a:lnSpc>
                <a:spcPts val="4000"/>
              </a:lnSpc>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持久性（</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Durability</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）：一旦事務完成，其效果將被保存到持久存儲中</a:t>
            </a:r>
            <a:endPar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54" name="矩形 53">
            <a:extLst>
              <a:ext uri="{FF2B5EF4-FFF2-40B4-BE49-F238E27FC236}">
                <a16:creationId xmlns:a16="http://schemas.microsoft.com/office/drawing/2014/main" id="{EF4E7EAF-9C50-A348-9C33-F3753B40ABAE}"/>
              </a:ext>
            </a:extLst>
          </p:cNvPr>
          <p:cNvSpPr>
            <a:spLocks/>
          </p:cNvSpPr>
          <p:nvPr/>
        </p:nvSpPr>
        <p:spPr bwMode="auto">
          <a:xfrm>
            <a:off x="922373" y="5296764"/>
            <a:ext cx="10637855" cy="799236"/>
          </a:xfrm>
          <a:prstGeom prst="rect">
            <a:avLst/>
          </a:prstGeom>
          <a:solidFill>
            <a:srgbClr val="00B0F0"/>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lgn="ctr"/>
            <a:r>
              <a:rPr lang="zh-CN" altLang="en-US" sz="2800" b="1" dirty="0">
                <a:solidFill>
                  <a:schemeClr val="bg1"/>
                </a:solidFill>
                <a:latin typeface="Microsoft YaHei" panose="020B0503020204020204" pitchFamily="34" charset="-122"/>
                <a:ea typeface="Microsoft YaHei" panose="020B0503020204020204" pitchFamily="34" charset="-122"/>
              </a:rPr>
              <a:t>分布式事務是訪問由多個服務器管理的對象的事務</a:t>
            </a:r>
            <a:endParaRPr lang="en-US" altLang="zh-CN" sz="2800" b="1" dirty="0">
              <a:solidFill>
                <a:schemeClr val="bg1"/>
              </a:solidFill>
              <a:latin typeface="Microsoft YaHei" panose="020B0503020204020204" pitchFamily="34" charset="-122"/>
              <a:ea typeface="Microsoft YaHei" panose="020B0503020204020204" pitchFamily="34" charset="-122"/>
            </a:endParaRPr>
          </a:p>
        </p:txBody>
      </p:sp>
      <p:sp>
        <p:nvSpPr>
          <p:cNvPr id="10" name="灯片编号占位符 2">
            <a:extLst>
              <a:ext uri="{FF2B5EF4-FFF2-40B4-BE49-F238E27FC236}">
                <a16:creationId xmlns:a16="http://schemas.microsoft.com/office/drawing/2014/main" id="{236914F4-4686-E543-B367-065FEC427E9B}"/>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52</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35337674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矩形 73">
            <a:extLst>
              <a:ext uri="{FF2B5EF4-FFF2-40B4-BE49-F238E27FC236}">
                <a16:creationId xmlns:a16="http://schemas.microsoft.com/office/drawing/2014/main" id="{855FAD95-8973-CC44-87E1-F94AEEE74F1C}"/>
              </a:ext>
            </a:extLst>
          </p:cNvPr>
          <p:cNvSpPr/>
          <p:nvPr/>
        </p:nvSpPr>
        <p:spPr>
          <a:xfrm>
            <a:off x="7380151" y="1960764"/>
            <a:ext cx="1003571" cy="4431896"/>
          </a:xfrm>
          <a:prstGeom prst="rect">
            <a:avLst/>
          </a:prstGeom>
          <a:ln>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latin typeface="Microsoft YaHei" panose="020B0503020204020204" pitchFamily="34" charset="-122"/>
              <a:ea typeface="Microsoft YaHei" panose="020B0503020204020204" pitchFamily="34" charset="-122"/>
            </a:endParaRPr>
          </a:p>
        </p:txBody>
      </p:sp>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a:xfrm>
            <a:off x="1131089" y="125409"/>
            <a:ext cx="10222424" cy="725407"/>
          </a:xfrm>
        </p:spPr>
        <p:txBody>
          <a:bodyPr>
            <a:normAutofit/>
          </a:bodyPr>
          <a:lstStyle/>
          <a:p>
            <a:r>
              <a:rPr kumimoji="1" lang="zh-CN" altLang="en-US" dirty="0">
                <a:solidFill>
                  <a:srgbClr val="C00000"/>
                </a:solidFill>
              </a:rPr>
              <a:t>兩階段提交確保一致性</a:t>
            </a:r>
          </a:p>
        </p:txBody>
      </p:sp>
      <p:sp>
        <p:nvSpPr>
          <p:cNvPr id="5" name="矩形 4">
            <a:extLst>
              <a:ext uri="{FF2B5EF4-FFF2-40B4-BE49-F238E27FC236}">
                <a16:creationId xmlns:a16="http://schemas.microsoft.com/office/drawing/2014/main" id="{D20D565A-07AE-9E42-A25B-C4A9D850A219}"/>
              </a:ext>
            </a:extLst>
          </p:cNvPr>
          <p:cNvSpPr/>
          <p:nvPr/>
        </p:nvSpPr>
        <p:spPr>
          <a:xfrm>
            <a:off x="10475152" y="1964145"/>
            <a:ext cx="1338829" cy="4431896"/>
          </a:xfrm>
          <a:prstGeom prst="rect">
            <a:avLst/>
          </a:prstGeom>
          <a:ln>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latin typeface="Microsoft YaHei" panose="020B0503020204020204" pitchFamily="34" charset="-122"/>
              <a:ea typeface="Microsoft YaHei" panose="020B0503020204020204" pitchFamily="34" charset="-122"/>
            </a:endParaRPr>
          </a:p>
        </p:txBody>
      </p:sp>
      <p:cxnSp>
        <p:nvCxnSpPr>
          <p:cNvPr id="52" name="直线箭头连接符 51">
            <a:extLst>
              <a:ext uri="{FF2B5EF4-FFF2-40B4-BE49-F238E27FC236}">
                <a16:creationId xmlns:a16="http://schemas.microsoft.com/office/drawing/2014/main" id="{F5BD4205-72F6-A543-9447-E2D05A8A1472}"/>
              </a:ext>
            </a:extLst>
          </p:cNvPr>
          <p:cNvCxnSpPr>
            <a:cxnSpLocks/>
          </p:cNvCxnSpPr>
          <p:nvPr/>
        </p:nvCxnSpPr>
        <p:spPr>
          <a:xfrm flipH="1">
            <a:off x="6061770" y="4122081"/>
            <a:ext cx="1304809" cy="0"/>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sp>
        <p:nvSpPr>
          <p:cNvPr id="53" name="矩形 52">
            <a:extLst>
              <a:ext uri="{FF2B5EF4-FFF2-40B4-BE49-F238E27FC236}">
                <a16:creationId xmlns:a16="http://schemas.microsoft.com/office/drawing/2014/main" id="{6C06C73B-DDB9-3641-B1FB-13318466811D}"/>
              </a:ext>
            </a:extLst>
          </p:cNvPr>
          <p:cNvSpPr/>
          <p:nvPr/>
        </p:nvSpPr>
        <p:spPr>
          <a:xfrm>
            <a:off x="5896880" y="3679679"/>
            <a:ext cx="1601181" cy="369332"/>
          </a:xfrm>
          <a:prstGeom prst="rect">
            <a:avLst/>
          </a:prstGeom>
        </p:spPr>
        <p:txBody>
          <a:bodyPr wrap="square">
            <a:spAutoFit/>
          </a:bodyPr>
          <a:lstStyle/>
          <a:p>
            <a:pPr algn="ctr"/>
            <a:r>
              <a:rPr lang="en-US" altLang="zh-CN" dirty="0" err="1">
                <a:solidFill>
                  <a:schemeClr val="tx1">
                    <a:lumMod val="75000"/>
                    <a:lumOff val="25000"/>
                  </a:schemeClr>
                </a:solidFill>
                <a:latin typeface="Microsoft YaHei" panose="020B0503020204020204" pitchFamily="34" charset="-122"/>
                <a:ea typeface="Microsoft YaHei" panose="020B0503020204020204" pitchFamily="34" charset="-122"/>
              </a:rPr>
              <a:t>tx</a:t>
            </a: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 </a:t>
            </a: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設置 </a:t>
            </a: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A=5</a:t>
            </a:r>
            <a:endParaRPr lang="zh-CN" altLang="en-US" dirty="0">
              <a:latin typeface="Microsoft YaHei" panose="020B0503020204020204" pitchFamily="34" charset="-122"/>
              <a:ea typeface="Microsoft YaHei" panose="020B0503020204020204" pitchFamily="34" charset="-122"/>
            </a:endParaRPr>
          </a:p>
        </p:txBody>
      </p:sp>
      <p:sp>
        <p:nvSpPr>
          <p:cNvPr id="64" name="矩形 63">
            <a:extLst>
              <a:ext uri="{FF2B5EF4-FFF2-40B4-BE49-F238E27FC236}">
                <a16:creationId xmlns:a16="http://schemas.microsoft.com/office/drawing/2014/main" id="{3C29E21C-DD1F-A643-BF0E-9D17BE13AE33}"/>
              </a:ext>
            </a:extLst>
          </p:cNvPr>
          <p:cNvSpPr/>
          <p:nvPr/>
        </p:nvSpPr>
        <p:spPr>
          <a:xfrm>
            <a:off x="8460410" y="2335785"/>
            <a:ext cx="1938054" cy="369332"/>
          </a:xfrm>
          <a:prstGeom prst="rect">
            <a:avLst/>
          </a:prstGeom>
        </p:spPr>
        <p:txBody>
          <a:bodyPr wrap="square">
            <a:spAutoFit/>
          </a:bodyPr>
          <a:lstStyle/>
          <a:p>
            <a:pPr algn="ct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是否能提交 </a:t>
            </a:r>
            <a:r>
              <a:rPr lang="en-US" altLang="zh-CN" dirty="0" err="1">
                <a:solidFill>
                  <a:schemeClr val="tx1">
                    <a:lumMod val="75000"/>
                    <a:lumOff val="25000"/>
                  </a:schemeClr>
                </a:solidFill>
                <a:latin typeface="Microsoft YaHei" panose="020B0503020204020204" pitchFamily="34" charset="-122"/>
                <a:ea typeface="Microsoft YaHei" panose="020B0503020204020204" pitchFamily="34" charset="-122"/>
              </a:rPr>
              <a:t>tx</a:t>
            </a: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 </a:t>
            </a: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a:t>
            </a:r>
          </a:p>
        </p:txBody>
      </p:sp>
      <p:sp>
        <p:nvSpPr>
          <p:cNvPr id="69" name="矩形 68">
            <a:extLst>
              <a:ext uri="{FF2B5EF4-FFF2-40B4-BE49-F238E27FC236}">
                <a16:creationId xmlns:a16="http://schemas.microsoft.com/office/drawing/2014/main" id="{C9E9E6A9-E63C-D842-B5C0-C975C078E3D7}"/>
              </a:ext>
            </a:extLst>
          </p:cNvPr>
          <p:cNvSpPr/>
          <p:nvPr/>
        </p:nvSpPr>
        <p:spPr>
          <a:xfrm>
            <a:off x="8729538" y="3212669"/>
            <a:ext cx="1800105" cy="369332"/>
          </a:xfrm>
          <a:prstGeom prst="rect">
            <a:avLst/>
          </a:prstGeom>
        </p:spPr>
        <p:txBody>
          <a:bodyPr wrap="square">
            <a:spAutoFit/>
          </a:bodyPr>
          <a:lstStyle/>
          <a:p>
            <a:pPr algn="ct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3</a:t>
            </a: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 個 </a:t>
            </a: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Yes</a:t>
            </a: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 回復</a:t>
            </a:r>
            <a:endPar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cxnSp>
        <p:nvCxnSpPr>
          <p:cNvPr id="61" name="直线箭头连接符 60">
            <a:extLst>
              <a:ext uri="{FF2B5EF4-FFF2-40B4-BE49-F238E27FC236}">
                <a16:creationId xmlns:a16="http://schemas.microsoft.com/office/drawing/2014/main" id="{378197DB-5E83-4A4C-95E0-0DCC70666DDC}"/>
              </a:ext>
            </a:extLst>
          </p:cNvPr>
          <p:cNvCxnSpPr>
            <a:cxnSpLocks/>
          </p:cNvCxnSpPr>
          <p:nvPr/>
        </p:nvCxnSpPr>
        <p:spPr>
          <a:xfrm>
            <a:off x="8365553" y="3570600"/>
            <a:ext cx="2075186" cy="0"/>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63" name="直线箭头连接符 62">
            <a:extLst>
              <a:ext uri="{FF2B5EF4-FFF2-40B4-BE49-F238E27FC236}">
                <a16:creationId xmlns:a16="http://schemas.microsoft.com/office/drawing/2014/main" id="{056C4622-C3D9-7E4B-AC60-290A109A9AB7}"/>
              </a:ext>
            </a:extLst>
          </p:cNvPr>
          <p:cNvCxnSpPr>
            <a:cxnSpLocks/>
          </p:cNvCxnSpPr>
          <p:nvPr/>
        </p:nvCxnSpPr>
        <p:spPr>
          <a:xfrm flipH="1">
            <a:off x="8383722" y="2762804"/>
            <a:ext cx="2106292" cy="0"/>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73" name="直线箭头连接符 72">
            <a:extLst>
              <a:ext uri="{FF2B5EF4-FFF2-40B4-BE49-F238E27FC236}">
                <a16:creationId xmlns:a16="http://schemas.microsoft.com/office/drawing/2014/main" id="{88E174F4-8EC2-6242-B511-D4036B5FD026}"/>
              </a:ext>
            </a:extLst>
          </p:cNvPr>
          <p:cNvCxnSpPr>
            <a:cxnSpLocks/>
          </p:cNvCxnSpPr>
          <p:nvPr/>
        </p:nvCxnSpPr>
        <p:spPr>
          <a:xfrm flipH="1">
            <a:off x="8383723" y="4452724"/>
            <a:ext cx="2156818" cy="0"/>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sp>
        <p:nvSpPr>
          <p:cNvPr id="75" name="矩形 74">
            <a:extLst>
              <a:ext uri="{FF2B5EF4-FFF2-40B4-BE49-F238E27FC236}">
                <a16:creationId xmlns:a16="http://schemas.microsoft.com/office/drawing/2014/main" id="{FE43A219-56A1-D541-B85F-BB07D9B90399}"/>
              </a:ext>
            </a:extLst>
          </p:cNvPr>
          <p:cNvSpPr/>
          <p:nvPr/>
        </p:nvSpPr>
        <p:spPr>
          <a:xfrm>
            <a:off x="8403366" y="4031865"/>
            <a:ext cx="2083561" cy="369332"/>
          </a:xfrm>
          <a:prstGeom prst="rect">
            <a:avLst/>
          </a:prstGeom>
        </p:spPr>
        <p:txBody>
          <a:bodyPr wrap="square">
            <a:spAutoFit/>
          </a:bodyPr>
          <a:lstStyle/>
          <a:p>
            <a:pPr algn="ct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①</a:t>
            </a:r>
            <a:r>
              <a:rPr lang="zh-CN" altLang="en-US" dirty="0">
                <a:latin typeface="Microsoft YaHei" panose="020B0503020204020204" pitchFamily="34" charset="-122"/>
                <a:ea typeface="Microsoft YaHei" panose="020B0503020204020204" pitchFamily="34" charset="-122"/>
              </a:rPr>
              <a:t> 可以</a:t>
            </a: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提交 </a:t>
            </a:r>
            <a:r>
              <a:rPr lang="en-US" altLang="zh-CN" dirty="0" err="1">
                <a:solidFill>
                  <a:schemeClr val="tx1">
                    <a:lumMod val="75000"/>
                    <a:lumOff val="25000"/>
                  </a:schemeClr>
                </a:solidFill>
                <a:latin typeface="Microsoft YaHei" panose="020B0503020204020204" pitchFamily="34" charset="-122"/>
                <a:ea typeface="Microsoft YaHei" panose="020B0503020204020204" pitchFamily="34" charset="-122"/>
              </a:rPr>
              <a:t>tx</a:t>
            </a:r>
            <a:endPar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76" name="矩形 75">
            <a:extLst>
              <a:ext uri="{FF2B5EF4-FFF2-40B4-BE49-F238E27FC236}">
                <a16:creationId xmlns:a16="http://schemas.microsoft.com/office/drawing/2014/main" id="{5AF0EDF7-8190-474F-A445-BBF63404C204}"/>
              </a:ext>
            </a:extLst>
          </p:cNvPr>
          <p:cNvSpPr/>
          <p:nvPr/>
        </p:nvSpPr>
        <p:spPr>
          <a:xfrm>
            <a:off x="8562311" y="3195538"/>
            <a:ext cx="415498" cy="369332"/>
          </a:xfrm>
          <a:prstGeom prst="rect">
            <a:avLst/>
          </a:prstGeom>
        </p:spPr>
        <p:txBody>
          <a:bodyPr wrap="none">
            <a:spAutoFit/>
          </a:bodyPr>
          <a:lstStyle/>
          <a:p>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①</a:t>
            </a:r>
            <a:endParaRPr lang="zh-CN" altLang="en-US" dirty="0">
              <a:latin typeface="Microsoft YaHei" panose="020B0503020204020204" pitchFamily="34" charset="-122"/>
              <a:ea typeface="Microsoft YaHei" panose="020B0503020204020204" pitchFamily="34" charset="-122"/>
            </a:endParaRPr>
          </a:p>
        </p:txBody>
      </p:sp>
      <p:sp>
        <p:nvSpPr>
          <p:cNvPr id="83" name="矩形 82">
            <a:extLst>
              <a:ext uri="{FF2B5EF4-FFF2-40B4-BE49-F238E27FC236}">
                <a16:creationId xmlns:a16="http://schemas.microsoft.com/office/drawing/2014/main" id="{D9149D9A-AD55-1B41-AA70-1D6D05732992}"/>
              </a:ext>
            </a:extLst>
          </p:cNvPr>
          <p:cNvSpPr/>
          <p:nvPr/>
        </p:nvSpPr>
        <p:spPr>
          <a:xfrm>
            <a:off x="8533938" y="4814632"/>
            <a:ext cx="1938053" cy="369332"/>
          </a:xfrm>
          <a:prstGeom prst="rect">
            <a:avLst/>
          </a:prstGeom>
        </p:spPr>
        <p:txBody>
          <a:bodyPr wrap="square">
            <a:spAutoFit/>
          </a:bodyPr>
          <a:lstStyle/>
          <a:p>
            <a:pPr algn="ct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②</a:t>
            </a:r>
            <a:r>
              <a:rPr lang="en-US" altLang="zh-CN" dirty="0">
                <a:latin typeface="Microsoft YaHei" panose="020B0503020204020204" pitchFamily="34" charset="-122"/>
                <a:ea typeface="Microsoft YaHei" panose="020B0503020204020204" pitchFamily="34" charset="-122"/>
              </a:rPr>
              <a:t> </a:t>
            </a: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存在回復 </a:t>
            </a: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No</a:t>
            </a:r>
          </a:p>
        </p:txBody>
      </p:sp>
      <p:cxnSp>
        <p:nvCxnSpPr>
          <p:cNvPr id="84" name="直线箭头连接符 83">
            <a:extLst>
              <a:ext uri="{FF2B5EF4-FFF2-40B4-BE49-F238E27FC236}">
                <a16:creationId xmlns:a16="http://schemas.microsoft.com/office/drawing/2014/main" id="{830C50FF-323A-6349-91C0-997F8C5B8503}"/>
              </a:ext>
            </a:extLst>
          </p:cNvPr>
          <p:cNvCxnSpPr>
            <a:cxnSpLocks/>
          </p:cNvCxnSpPr>
          <p:nvPr/>
        </p:nvCxnSpPr>
        <p:spPr>
          <a:xfrm>
            <a:off x="8383722" y="5221713"/>
            <a:ext cx="2044260" cy="0"/>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85" name="直线箭头连接符 84">
            <a:extLst>
              <a:ext uri="{FF2B5EF4-FFF2-40B4-BE49-F238E27FC236}">
                <a16:creationId xmlns:a16="http://schemas.microsoft.com/office/drawing/2014/main" id="{9D00905C-FA33-8644-AFED-3199978CB46B}"/>
              </a:ext>
            </a:extLst>
          </p:cNvPr>
          <p:cNvCxnSpPr>
            <a:cxnSpLocks/>
          </p:cNvCxnSpPr>
          <p:nvPr/>
        </p:nvCxnSpPr>
        <p:spPr>
          <a:xfrm flipH="1">
            <a:off x="8383722" y="5953937"/>
            <a:ext cx="2144062" cy="0"/>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sp>
        <p:nvSpPr>
          <p:cNvPr id="86" name="矩形 85">
            <a:extLst>
              <a:ext uri="{FF2B5EF4-FFF2-40B4-BE49-F238E27FC236}">
                <a16:creationId xmlns:a16="http://schemas.microsoft.com/office/drawing/2014/main" id="{E5FB1735-9552-1D44-BDF5-6F06E5932548}"/>
              </a:ext>
            </a:extLst>
          </p:cNvPr>
          <p:cNvSpPr/>
          <p:nvPr/>
        </p:nvSpPr>
        <p:spPr>
          <a:xfrm>
            <a:off x="8480220" y="5545871"/>
            <a:ext cx="1938054" cy="369332"/>
          </a:xfrm>
          <a:prstGeom prst="rect">
            <a:avLst/>
          </a:prstGeom>
        </p:spPr>
        <p:txBody>
          <a:bodyPr wrap="square">
            <a:spAutoFit/>
          </a:bodyPr>
          <a:lstStyle/>
          <a:p>
            <a:pPr algn="ct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②</a:t>
            </a:r>
            <a:r>
              <a:rPr lang="en-US" altLang="zh-CN" dirty="0">
                <a:latin typeface="Microsoft YaHei" panose="020B0503020204020204" pitchFamily="34" charset="-122"/>
                <a:ea typeface="Microsoft YaHei" panose="020B0503020204020204" pitchFamily="34" charset="-122"/>
              </a:rPr>
              <a:t> </a:t>
            </a: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停止提交 </a:t>
            </a:r>
            <a:r>
              <a:rPr lang="en-US" altLang="zh-CN" dirty="0" err="1">
                <a:solidFill>
                  <a:schemeClr val="tx1">
                    <a:lumMod val="75000"/>
                    <a:lumOff val="25000"/>
                  </a:schemeClr>
                </a:solidFill>
                <a:latin typeface="Microsoft YaHei" panose="020B0503020204020204" pitchFamily="34" charset="-122"/>
                <a:ea typeface="Microsoft YaHei" panose="020B0503020204020204" pitchFamily="34" charset="-122"/>
              </a:rPr>
              <a:t>tx</a:t>
            </a:r>
            <a:endPar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mc:AlternateContent xmlns:mc="http://schemas.openxmlformats.org/markup-compatibility/2006">
        <mc:Choice xmlns:a14="http://schemas.microsoft.com/office/drawing/2010/main" Requires="a14">
          <p:sp>
            <p:nvSpPr>
              <p:cNvPr id="80" name="矩形 79">
                <a:extLst>
                  <a:ext uri="{FF2B5EF4-FFF2-40B4-BE49-F238E27FC236}">
                    <a16:creationId xmlns:a16="http://schemas.microsoft.com/office/drawing/2014/main" id="{D1FAD729-6F70-3F4F-9677-4CC820A7EA72}"/>
                  </a:ext>
                </a:extLst>
              </p:cNvPr>
              <p:cNvSpPr/>
              <p:nvPr/>
            </p:nvSpPr>
            <p:spPr>
              <a:xfrm>
                <a:off x="583878" y="1891477"/>
                <a:ext cx="4680679" cy="4500591"/>
              </a:xfrm>
              <a:prstGeom prst="rect">
                <a:avLst/>
              </a:prstGeom>
              <a:ln>
                <a:solidFill>
                  <a:srgbClr val="00B0F0"/>
                </a:solidFill>
              </a:ln>
            </p:spPr>
            <p:txBody>
              <a:bodyPr wrap="square">
                <a:spAutoFit/>
              </a:bodyPr>
              <a:lstStyle/>
              <a:p>
                <a:pPr marL="3429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執行步驟</a:t>
                </a:r>
                <a:endPar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a:p>
                <a:pPr marL="684000" lvl="1" indent="-342900" algn="just" fontAlgn="base">
                  <a:lnSpc>
                    <a:spcPts val="3600"/>
                  </a:lnSpc>
                  <a:spcBef>
                    <a:spcPct val="20000"/>
                  </a:spcBef>
                  <a:spcAft>
                    <a:spcPct val="0"/>
                  </a:spcAft>
                  <a:buSzPct val="100000"/>
                  <a:buFont typeface="Arial" panose="020B0604020202020204" pitchFamily="34" charset="0"/>
                  <a:buChar char="•"/>
                </a:pPr>
                <a14:m>
                  <m:oMath xmlns:m="http://schemas.openxmlformats.org/officeDocument/2006/math">
                    <m:sSub>
                      <m:sSubPr>
                        <m:ctrlPr>
                          <a:rPr lang="en-US" altLang="zh-CN" sz="2400" i="1">
                            <a:solidFill>
                              <a:schemeClr val="tx1">
                                <a:lumMod val="75000"/>
                                <a:lumOff val="25000"/>
                              </a:schemeClr>
                            </a:solidFill>
                            <a:latin typeface="Cambria Math" panose="02040503050406030204" pitchFamily="18" charset="0"/>
                            <a:ea typeface="微软雅黑" pitchFamily="34" charset="-122"/>
                          </a:rPr>
                        </m:ctrlPr>
                      </m:sSubPr>
                      <m:e>
                        <m:r>
                          <a:rPr lang="en-US" altLang="zh-CN" sz="2400" i="1">
                            <a:solidFill>
                              <a:schemeClr val="tx1">
                                <a:lumMod val="75000"/>
                                <a:lumOff val="25000"/>
                              </a:schemeClr>
                            </a:solidFill>
                            <a:latin typeface="Cambria Math" panose="02040503050406030204" pitchFamily="18" charset="0"/>
                            <a:ea typeface="微软雅黑" pitchFamily="34" charset="-122"/>
                          </a:rPr>
                          <m:t>𝑠</m:t>
                        </m:r>
                      </m:e>
                      <m:sub>
                        <m:r>
                          <a:rPr lang="en-US" altLang="zh-CN" sz="2400" i="1">
                            <a:solidFill>
                              <a:schemeClr val="tx1">
                                <a:lumMod val="75000"/>
                                <a:lumOff val="25000"/>
                              </a:schemeClr>
                            </a:solidFill>
                            <a:latin typeface="Cambria Math" panose="02040503050406030204" pitchFamily="18" charset="0"/>
                            <a:ea typeface="微软雅黑" pitchFamily="34" charset="-122"/>
                          </a:rPr>
                          <m:t>1</m:t>
                        </m:r>
                      </m:sub>
                    </m:sSub>
                  </m:oMath>
                </a14:m>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向協調者請求將</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A</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設爲</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5</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 </a:t>
                </a:r>
                <a:endPar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a:p>
                <a:pPr marL="6840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協調者向所有存儲狀態</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A</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的數據庫詢問是否可提交事務</a:t>
                </a:r>
                <a:endPar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a:p>
                <a:pPr marL="6840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數據庫若判斷不衝突，則返回</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Yes</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；否則返回</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No</a:t>
                </a:r>
              </a:p>
              <a:p>
                <a:pPr marL="6840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當協調者收到所有數據庫的</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Yes</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，通知它們提交該事務；如果收到</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No</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，則通知停止</a:t>
                </a:r>
                <a:endPar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mc:Choice>
        <mc:Fallback>
          <p:sp>
            <p:nvSpPr>
              <p:cNvPr id="80" name="矩形 79">
                <a:extLst>
                  <a:ext uri="{FF2B5EF4-FFF2-40B4-BE49-F238E27FC236}">
                    <a16:creationId xmlns:a16="http://schemas.microsoft.com/office/drawing/2014/main" id="{D1FAD729-6F70-3F4F-9677-4CC820A7EA72}"/>
                  </a:ext>
                </a:extLst>
              </p:cNvPr>
              <p:cNvSpPr>
                <a:spLocks noRot="1" noChangeAspect="1" noMove="1" noResize="1" noEditPoints="1" noAdjustHandles="1" noChangeArrowheads="1" noChangeShapeType="1" noTextEdit="1"/>
              </p:cNvSpPr>
              <p:nvPr/>
            </p:nvSpPr>
            <p:spPr>
              <a:xfrm>
                <a:off x="583878" y="1891477"/>
                <a:ext cx="4680679" cy="4500591"/>
              </a:xfrm>
              <a:prstGeom prst="rect">
                <a:avLst/>
              </a:prstGeom>
              <a:blipFill>
                <a:blip r:embed="rId3"/>
                <a:stretch>
                  <a:fillRect l="-1688" r="-8442" b="-1889"/>
                </a:stretch>
              </a:blipFill>
              <a:ln>
                <a:solidFill>
                  <a:srgbClr val="00B0F0"/>
                </a:solidFill>
              </a:ln>
            </p:spPr>
            <p:txBody>
              <a:bodyPr/>
              <a:lstStyle/>
              <a:p>
                <a:r>
                  <a:rPr lang="fr-FR">
                    <a:noFill/>
                  </a:rPr>
                  <a:t> </a:t>
                </a:r>
              </a:p>
            </p:txBody>
          </p:sp>
        </mc:Fallback>
      </mc:AlternateContent>
      <p:pic>
        <p:nvPicPr>
          <p:cNvPr id="77" name="图形 76">
            <a:extLst>
              <a:ext uri="{FF2B5EF4-FFF2-40B4-BE49-F238E27FC236}">
                <a16:creationId xmlns:a16="http://schemas.microsoft.com/office/drawing/2014/main" id="{04206C2E-35E7-7043-8D2A-350A47B6B1A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784120" y="2096673"/>
            <a:ext cx="800615" cy="800615"/>
          </a:xfrm>
          <a:prstGeom prst="rect">
            <a:avLst/>
          </a:prstGeom>
        </p:spPr>
      </p:pic>
      <p:pic>
        <p:nvPicPr>
          <p:cNvPr id="89" name="图形 88">
            <a:extLst>
              <a:ext uri="{FF2B5EF4-FFF2-40B4-BE49-F238E27FC236}">
                <a16:creationId xmlns:a16="http://schemas.microsoft.com/office/drawing/2014/main" id="{0754284C-2AE6-204F-B059-159E8075929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784120" y="3776405"/>
            <a:ext cx="800615" cy="800615"/>
          </a:xfrm>
          <a:prstGeom prst="rect">
            <a:avLst/>
          </a:prstGeom>
        </p:spPr>
      </p:pic>
      <p:pic>
        <p:nvPicPr>
          <p:cNvPr id="92" name="图形 91">
            <a:extLst>
              <a:ext uri="{FF2B5EF4-FFF2-40B4-BE49-F238E27FC236}">
                <a16:creationId xmlns:a16="http://schemas.microsoft.com/office/drawing/2014/main" id="{C587F621-7575-844E-91BA-8F11403DB57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776953" y="5277175"/>
            <a:ext cx="800615" cy="800615"/>
          </a:xfrm>
          <a:prstGeom prst="rect">
            <a:avLst/>
          </a:prstGeom>
        </p:spPr>
      </p:pic>
      <p:grpSp>
        <p:nvGrpSpPr>
          <p:cNvPr id="93" name="组合 92">
            <a:extLst>
              <a:ext uri="{FF2B5EF4-FFF2-40B4-BE49-F238E27FC236}">
                <a16:creationId xmlns:a16="http://schemas.microsoft.com/office/drawing/2014/main" id="{EB1FDF28-5263-FF44-94C6-5CAC18D0D441}"/>
              </a:ext>
            </a:extLst>
          </p:cNvPr>
          <p:cNvGrpSpPr/>
          <p:nvPr/>
        </p:nvGrpSpPr>
        <p:grpSpPr>
          <a:xfrm>
            <a:off x="5389954" y="3727676"/>
            <a:ext cx="586364" cy="1198562"/>
            <a:chOff x="6135819" y="3177765"/>
            <a:chExt cx="586364" cy="1198562"/>
          </a:xfrm>
        </p:grpSpPr>
        <p:pic>
          <p:nvPicPr>
            <p:cNvPr id="94" name="图片 93">
              <a:extLst>
                <a:ext uri="{FF2B5EF4-FFF2-40B4-BE49-F238E27FC236}">
                  <a16:creationId xmlns:a16="http://schemas.microsoft.com/office/drawing/2014/main" id="{C827D729-C045-CE4C-BBAB-D33F93D49D9A}"/>
                </a:ext>
              </a:extLst>
            </p:cNvPr>
            <p:cNvPicPr>
              <a:picLocks noChangeAspect="1"/>
            </p:cNvPicPr>
            <p:nvPr/>
          </p:nvPicPr>
          <p:blipFill>
            <a:blip r:embed="rId6"/>
            <a:stretch>
              <a:fillRect/>
            </a:stretch>
          </p:blipFill>
          <p:spPr>
            <a:xfrm>
              <a:off x="6135819" y="3177765"/>
              <a:ext cx="586364" cy="798452"/>
            </a:xfrm>
            <a:prstGeom prst="rect">
              <a:avLst/>
            </a:prstGeom>
          </p:spPr>
        </p:pic>
        <mc:AlternateContent xmlns:mc="http://schemas.openxmlformats.org/markup-compatibility/2006" xmlns:a14="http://schemas.microsoft.com/office/drawing/2010/main">
          <mc:Choice Requires="a14">
            <p:sp>
              <p:nvSpPr>
                <p:cNvPr id="95" name="矩形 94">
                  <a:extLst>
                    <a:ext uri="{FF2B5EF4-FFF2-40B4-BE49-F238E27FC236}">
                      <a16:creationId xmlns:a16="http://schemas.microsoft.com/office/drawing/2014/main" id="{63ED5E32-12F9-BA43-9487-440DA35F63EB}"/>
                    </a:ext>
                  </a:extLst>
                </p:cNvPr>
                <p:cNvSpPr/>
                <p:nvPr/>
              </p:nvSpPr>
              <p:spPr>
                <a:xfrm>
                  <a:off x="6204859" y="3976217"/>
                  <a:ext cx="486030"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000"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sz="2000" i="1">
                                <a:solidFill>
                                  <a:schemeClr val="tx1">
                                    <a:lumMod val="75000"/>
                                    <a:lumOff val="25000"/>
                                  </a:schemeClr>
                                </a:solidFill>
                                <a:latin typeface="Cambria Math" panose="02040503050406030204" pitchFamily="18" charset="0"/>
                                <a:ea typeface="微软雅黑" pitchFamily="34" charset="-122"/>
                              </a:rPr>
                              <m:t>𝑠</m:t>
                            </m:r>
                          </m:e>
                          <m:sub>
                            <m:r>
                              <a:rPr lang="en-US" altLang="zh-CN" sz="2000" b="0" i="1" smtClean="0">
                                <a:solidFill>
                                  <a:schemeClr val="tx1">
                                    <a:lumMod val="75000"/>
                                    <a:lumOff val="25000"/>
                                  </a:schemeClr>
                                </a:solidFill>
                                <a:latin typeface="Cambria Math" panose="02040503050406030204" pitchFamily="18" charset="0"/>
                                <a:ea typeface="微软雅黑" pitchFamily="34" charset="-122"/>
                              </a:rPr>
                              <m:t>1</m:t>
                            </m:r>
                          </m:sub>
                        </m:sSub>
                      </m:oMath>
                    </m:oMathPara>
                  </a14:m>
                  <a:endParaRPr lang="zh-CN" altLang="en-US" sz="2000" dirty="0">
                    <a:latin typeface="Microsoft YaHei" panose="020B0503020204020204" pitchFamily="34" charset="-122"/>
                    <a:ea typeface="Microsoft YaHei" panose="020B0503020204020204" pitchFamily="34" charset="-122"/>
                  </a:endParaRPr>
                </a:p>
              </p:txBody>
            </p:sp>
          </mc:Choice>
          <mc:Fallback xmlns="">
            <p:sp>
              <p:nvSpPr>
                <p:cNvPr id="17" name="矩形 16">
                  <a:extLst>
                    <a:ext uri="{FF2B5EF4-FFF2-40B4-BE49-F238E27FC236}">
                      <a16:creationId xmlns:a16="http://schemas.microsoft.com/office/drawing/2014/main" id="{B235D0C7-C4D5-9146-9E02-4DC9C71D0495}"/>
                    </a:ext>
                  </a:extLst>
                </p:cNvPr>
                <p:cNvSpPr>
                  <a:spLocks noRot="1" noChangeAspect="1" noMove="1" noResize="1" noEditPoints="1" noAdjustHandles="1" noChangeArrowheads="1" noChangeShapeType="1" noTextEdit="1"/>
                </p:cNvSpPr>
                <p:nvPr/>
              </p:nvSpPr>
              <p:spPr>
                <a:xfrm>
                  <a:off x="6204859" y="3976217"/>
                  <a:ext cx="486030" cy="400110"/>
                </a:xfrm>
                <a:prstGeom prst="rect">
                  <a:avLst/>
                </a:prstGeom>
                <a:blipFill>
                  <a:blip r:embed="rId7"/>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96" name="矩形 95">
                <a:extLst>
                  <a:ext uri="{FF2B5EF4-FFF2-40B4-BE49-F238E27FC236}">
                    <a16:creationId xmlns:a16="http://schemas.microsoft.com/office/drawing/2014/main" id="{1764D128-3BB3-1448-A3CE-FE09D15670A8}"/>
                  </a:ext>
                </a:extLst>
              </p:cNvPr>
              <p:cNvSpPr/>
              <p:nvPr/>
            </p:nvSpPr>
            <p:spPr>
              <a:xfrm>
                <a:off x="10968017" y="2871748"/>
                <a:ext cx="493981"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b="0" i="1" smtClean="0">
                              <a:solidFill>
                                <a:schemeClr val="tx1">
                                  <a:lumMod val="75000"/>
                                  <a:lumOff val="25000"/>
                                </a:schemeClr>
                              </a:solidFill>
                              <a:latin typeface="Cambria Math" panose="02040503050406030204" pitchFamily="18" charset="0"/>
                              <a:ea typeface="微软雅黑" pitchFamily="34" charset="-122"/>
                            </a:rPr>
                            <m:t>𝑑</m:t>
                          </m:r>
                        </m:e>
                        <m:sub>
                          <m:r>
                            <a:rPr lang="en-US" altLang="zh-CN" i="1">
                              <a:solidFill>
                                <a:schemeClr val="tx1">
                                  <a:lumMod val="75000"/>
                                  <a:lumOff val="25000"/>
                                </a:schemeClr>
                              </a:solidFill>
                              <a:latin typeface="Cambria Math" panose="02040503050406030204" pitchFamily="18" charset="0"/>
                              <a:ea typeface="微软雅黑" pitchFamily="34" charset="-122"/>
                            </a:rPr>
                            <m:t>0</m:t>
                          </m:r>
                        </m:sub>
                      </m:sSub>
                    </m:oMath>
                  </m:oMathPara>
                </a14:m>
                <a:endParaRPr lang="zh-CN" altLang="en-US" dirty="0">
                  <a:latin typeface="Microsoft YaHei" panose="020B0503020204020204" pitchFamily="34" charset="-122"/>
                  <a:ea typeface="Microsoft YaHei" panose="020B0503020204020204" pitchFamily="34" charset="-122"/>
                </a:endParaRPr>
              </a:p>
            </p:txBody>
          </p:sp>
        </mc:Choice>
        <mc:Fallback xmlns="">
          <p:sp>
            <p:nvSpPr>
              <p:cNvPr id="96" name="矩形 95">
                <a:extLst>
                  <a:ext uri="{FF2B5EF4-FFF2-40B4-BE49-F238E27FC236}">
                    <a16:creationId xmlns:a16="http://schemas.microsoft.com/office/drawing/2014/main" id="{1764D128-3BB3-1448-A3CE-FE09D15670A8}"/>
                  </a:ext>
                </a:extLst>
              </p:cNvPr>
              <p:cNvSpPr>
                <a:spLocks noRot="1" noChangeAspect="1" noMove="1" noResize="1" noEditPoints="1" noAdjustHandles="1" noChangeArrowheads="1" noChangeShapeType="1" noTextEdit="1"/>
              </p:cNvSpPr>
              <p:nvPr/>
            </p:nvSpPr>
            <p:spPr>
              <a:xfrm>
                <a:off x="10968017" y="2871748"/>
                <a:ext cx="493981" cy="369332"/>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7" name="矩形 96">
                <a:extLst>
                  <a:ext uri="{FF2B5EF4-FFF2-40B4-BE49-F238E27FC236}">
                    <a16:creationId xmlns:a16="http://schemas.microsoft.com/office/drawing/2014/main" id="{1B23D1D3-03DD-D847-88DF-CBCB1FDFF167}"/>
                  </a:ext>
                </a:extLst>
              </p:cNvPr>
              <p:cNvSpPr/>
              <p:nvPr/>
            </p:nvSpPr>
            <p:spPr>
              <a:xfrm>
                <a:off x="10970679" y="4532583"/>
                <a:ext cx="488659"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i="1">
                              <a:solidFill>
                                <a:schemeClr val="tx1">
                                  <a:lumMod val="75000"/>
                                  <a:lumOff val="25000"/>
                                </a:schemeClr>
                              </a:solidFill>
                              <a:latin typeface="Cambria Math" panose="02040503050406030204" pitchFamily="18" charset="0"/>
                              <a:ea typeface="微软雅黑" pitchFamily="34" charset="-122"/>
                            </a:rPr>
                            <m:t>𝑑</m:t>
                          </m:r>
                        </m:e>
                        <m:sub>
                          <m:r>
                            <a:rPr lang="en-US" altLang="zh-CN" b="0" i="1" smtClean="0">
                              <a:solidFill>
                                <a:schemeClr val="tx1">
                                  <a:lumMod val="75000"/>
                                  <a:lumOff val="25000"/>
                                </a:schemeClr>
                              </a:solidFill>
                              <a:latin typeface="Cambria Math" panose="02040503050406030204" pitchFamily="18" charset="0"/>
                              <a:ea typeface="微软雅黑" pitchFamily="34" charset="-122"/>
                            </a:rPr>
                            <m:t>1</m:t>
                          </m:r>
                        </m:sub>
                      </m:sSub>
                    </m:oMath>
                  </m:oMathPara>
                </a14:m>
                <a:endParaRPr lang="zh-CN" altLang="en-US" dirty="0">
                  <a:latin typeface="Microsoft YaHei" panose="020B0503020204020204" pitchFamily="34" charset="-122"/>
                  <a:ea typeface="Microsoft YaHei" panose="020B0503020204020204" pitchFamily="34" charset="-122"/>
                </a:endParaRPr>
              </a:p>
            </p:txBody>
          </p:sp>
        </mc:Choice>
        <mc:Fallback xmlns="">
          <p:sp>
            <p:nvSpPr>
              <p:cNvPr id="97" name="矩形 96">
                <a:extLst>
                  <a:ext uri="{FF2B5EF4-FFF2-40B4-BE49-F238E27FC236}">
                    <a16:creationId xmlns:a16="http://schemas.microsoft.com/office/drawing/2014/main" id="{1B23D1D3-03DD-D847-88DF-CBCB1FDFF167}"/>
                  </a:ext>
                </a:extLst>
              </p:cNvPr>
              <p:cNvSpPr>
                <a:spLocks noRot="1" noChangeAspect="1" noMove="1" noResize="1" noEditPoints="1" noAdjustHandles="1" noChangeArrowheads="1" noChangeShapeType="1" noTextEdit="1"/>
              </p:cNvSpPr>
              <p:nvPr/>
            </p:nvSpPr>
            <p:spPr>
              <a:xfrm>
                <a:off x="10970679" y="4532583"/>
                <a:ext cx="488659" cy="369332"/>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8" name="矩形 97">
                <a:extLst>
                  <a:ext uri="{FF2B5EF4-FFF2-40B4-BE49-F238E27FC236}">
                    <a16:creationId xmlns:a16="http://schemas.microsoft.com/office/drawing/2014/main" id="{DBFD7451-15AB-094C-8A56-2C8A309FC402}"/>
                  </a:ext>
                </a:extLst>
              </p:cNvPr>
              <p:cNvSpPr/>
              <p:nvPr/>
            </p:nvSpPr>
            <p:spPr>
              <a:xfrm>
                <a:off x="10975248" y="6036781"/>
                <a:ext cx="493981"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i="1">
                              <a:solidFill>
                                <a:schemeClr val="tx1">
                                  <a:lumMod val="75000"/>
                                  <a:lumOff val="25000"/>
                                </a:schemeClr>
                              </a:solidFill>
                              <a:latin typeface="Cambria Math" panose="02040503050406030204" pitchFamily="18" charset="0"/>
                              <a:ea typeface="微软雅黑" pitchFamily="34" charset="-122"/>
                            </a:rPr>
                            <m:t>𝑑</m:t>
                          </m:r>
                        </m:e>
                        <m:sub>
                          <m:r>
                            <a:rPr lang="en-US" altLang="zh-CN" b="0" i="1" smtClean="0">
                              <a:solidFill>
                                <a:schemeClr val="tx1">
                                  <a:lumMod val="75000"/>
                                  <a:lumOff val="25000"/>
                                </a:schemeClr>
                              </a:solidFill>
                              <a:latin typeface="Cambria Math" panose="02040503050406030204" pitchFamily="18" charset="0"/>
                              <a:ea typeface="微软雅黑" pitchFamily="34" charset="-122"/>
                            </a:rPr>
                            <m:t>2</m:t>
                          </m:r>
                        </m:sub>
                      </m:sSub>
                    </m:oMath>
                  </m:oMathPara>
                </a14:m>
                <a:endParaRPr lang="zh-CN" altLang="en-US" dirty="0">
                  <a:latin typeface="Microsoft YaHei" panose="020B0503020204020204" pitchFamily="34" charset="-122"/>
                  <a:ea typeface="Microsoft YaHei" panose="020B0503020204020204" pitchFamily="34" charset="-122"/>
                </a:endParaRPr>
              </a:p>
            </p:txBody>
          </p:sp>
        </mc:Choice>
        <mc:Fallback xmlns="">
          <p:sp>
            <p:nvSpPr>
              <p:cNvPr id="98" name="矩形 97">
                <a:extLst>
                  <a:ext uri="{FF2B5EF4-FFF2-40B4-BE49-F238E27FC236}">
                    <a16:creationId xmlns:a16="http://schemas.microsoft.com/office/drawing/2014/main" id="{DBFD7451-15AB-094C-8A56-2C8A309FC402}"/>
                  </a:ext>
                </a:extLst>
              </p:cNvPr>
              <p:cNvSpPr>
                <a:spLocks noRot="1" noChangeAspect="1" noMove="1" noResize="1" noEditPoints="1" noAdjustHandles="1" noChangeArrowheads="1" noChangeShapeType="1" noTextEdit="1"/>
              </p:cNvSpPr>
              <p:nvPr/>
            </p:nvSpPr>
            <p:spPr>
              <a:xfrm>
                <a:off x="10975248" y="6036781"/>
                <a:ext cx="493981" cy="369332"/>
              </a:xfrm>
              <a:prstGeom prst="rect">
                <a:avLst/>
              </a:prstGeom>
              <a:blipFill>
                <a:blip r:embed="rId10"/>
                <a:stretch>
                  <a:fillRect/>
                </a:stretch>
              </a:blipFill>
            </p:spPr>
            <p:txBody>
              <a:bodyPr/>
              <a:lstStyle/>
              <a:p>
                <a:r>
                  <a:rPr lang="zh-CN" altLang="en-US">
                    <a:noFill/>
                  </a:rPr>
                  <a:t> </a:t>
                </a:r>
              </a:p>
            </p:txBody>
          </p:sp>
        </mc:Fallback>
      </mc:AlternateContent>
      <p:grpSp>
        <p:nvGrpSpPr>
          <p:cNvPr id="99" name="组合 98">
            <a:extLst>
              <a:ext uri="{FF2B5EF4-FFF2-40B4-BE49-F238E27FC236}">
                <a16:creationId xmlns:a16="http://schemas.microsoft.com/office/drawing/2014/main" id="{8932FBEC-EF17-B94E-9EA7-B21291C1991C}"/>
              </a:ext>
            </a:extLst>
          </p:cNvPr>
          <p:cNvGrpSpPr/>
          <p:nvPr/>
        </p:nvGrpSpPr>
        <p:grpSpPr>
          <a:xfrm>
            <a:off x="7403074" y="3697696"/>
            <a:ext cx="954107" cy="1198562"/>
            <a:chOff x="5970826" y="3177765"/>
            <a:chExt cx="954107" cy="1198562"/>
          </a:xfrm>
        </p:grpSpPr>
        <p:pic>
          <p:nvPicPr>
            <p:cNvPr id="100" name="图片 99">
              <a:extLst>
                <a:ext uri="{FF2B5EF4-FFF2-40B4-BE49-F238E27FC236}">
                  <a16:creationId xmlns:a16="http://schemas.microsoft.com/office/drawing/2014/main" id="{AB38232F-020F-3041-998D-4B9FAB4C35E5}"/>
                </a:ext>
              </a:extLst>
            </p:cNvPr>
            <p:cNvPicPr>
              <a:picLocks noChangeAspect="1"/>
            </p:cNvPicPr>
            <p:nvPr/>
          </p:nvPicPr>
          <p:blipFill>
            <a:blip r:embed="rId6"/>
            <a:stretch>
              <a:fillRect/>
            </a:stretch>
          </p:blipFill>
          <p:spPr>
            <a:xfrm>
              <a:off x="6135819" y="3177765"/>
              <a:ext cx="586364" cy="798452"/>
            </a:xfrm>
            <a:prstGeom prst="rect">
              <a:avLst/>
            </a:prstGeom>
          </p:spPr>
        </p:pic>
        <p:sp>
          <p:nvSpPr>
            <p:cNvPr id="101" name="矩形 100">
              <a:extLst>
                <a:ext uri="{FF2B5EF4-FFF2-40B4-BE49-F238E27FC236}">
                  <a16:creationId xmlns:a16="http://schemas.microsoft.com/office/drawing/2014/main" id="{4ACB8461-3274-7246-BBAD-E72220B556AB}"/>
                </a:ext>
              </a:extLst>
            </p:cNvPr>
            <p:cNvSpPr/>
            <p:nvPr/>
          </p:nvSpPr>
          <p:spPr>
            <a:xfrm>
              <a:off x="5970826" y="3976217"/>
              <a:ext cx="954107" cy="400110"/>
            </a:xfrm>
            <a:prstGeom prst="rect">
              <a:avLst/>
            </a:prstGeom>
          </p:spPr>
          <p:txBody>
            <a:bodyPr wrap="none">
              <a:spAutoFit/>
            </a:bodyPr>
            <a:lstStyle/>
            <a:p>
              <a:pPr algn="ctr"/>
              <a:r>
                <a:rPr lang="zh-CN" altLang="en-US" sz="2000" dirty="0">
                  <a:latin typeface="Microsoft YaHei" panose="020B0503020204020204" pitchFamily="34" charset="-122"/>
                  <a:ea typeface="Microsoft YaHei" panose="020B0503020204020204" pitchFamily="34" charset="-122"/>
                </a:rPr>
                <a:t>協調者</a:t>
              </a:r>
            </a:p>
          </p:txBody>
        </p:sp>
      </p:grpSp>
      <p:sp>
        <p:nvSpPr>
          <p:cNvPr id="35" name="矩形 34">
            <a:extLst>
              <a:ext uri="{FF2B5EF4-FFF2-40B4-BE49-F238E27FC236}">
                <a16:creationId xmlns:a16="http://schemas.microsoft.com/office/drawing/2014/main" id="{4D3F4511-1194-BC4A-9D04-975EBE09E6BB}"/>
              </a:ext>
            </a:extLst>
          </p:cNvPr>
          <p:cNvSpPr/>
          <p:nvPr/>
        </p:nvSpPr>
        <p:spPr>
          <a:xfrm>
            <a:off x="814449" y="1095587"/>
            <a:ext cx="10975474" cy="511807"/>
          </a:xfrm>
          <a:prstGeom prst="rect">
            <a:avLst/>
          </a:prstGeom>
          <a:ln>
            <a:noFill/>
          </a:ln>
        </p:spPr>
        <p:txBody>
          <a:bodyPr wrap="square">
            <a:spAutoFit/>
          </a:bodyPr>
          <a:lstStyle/>
          <a:p>
            <a:pPr marL="0" lvl="1" algn="ctr" fontAlgn="base">
              <a:lnSpc>
                <a:spcPts val="3600"/>
              </a:lnSpc>
              <a:spcBef>
                <a:spcPct val="20000"/>
              </a:spcBef>
              <a:spcAft>
                <a:spcPct val="0"/>
              </a:spcAft>
              <a:buSzPct val="100000"/>
            </a:pPr>
            <a:r>
              <a:rPr lang="zh-CN" altLang="en-US" sz="2400" b="1" dirty="0">
                <a:solidFill>
                  <a:srgbClr val="C00000"/>
                </a:solidFill>
                <a:latin typeface="Microsoft YaHei" panose="020B0503020204020204" pitchFamily="34" charset="-122"/>
                <a:ea typeface="Microsoft YaHei" panose="020B0503020204020204" pitchFamily="34" charset="-122"/>
              </a:rPr>
              <a:t>假設：狀態</a:t>
            </a:r>
            <a:r>
              <a:rPr lang="en-US" altLang="zh-CN" sz="2400" b="1" dirty="0">
                <a:solidFill>
                  <a:srgbClr val="C00000"/>
                </a:solidFill>
                <a:latin typeface="Microsoft YaHei" panose="020B0503020204020204" pitchFamily="34" charset="-122"/>
                <a:ea typeface="Microsoft YaHei" panose="020B0503020204020204" pitchFamily="34" charset="-122"/>
              </a:rPr>
              <a:t>A</a:t>
            </a:r>
            <a:r>
              <a:rPr lang="zh-CN" altLang="en-US" sz="2400" b="1" dirty="0">
                <a:solidFill>
                  <a:srgbClr val="C00000"/>
                </a:solidFill>
                <a:latin typeface="Microsoft YaHei" panose="020B0503020204020204" pitchFamily="34" charset="-122"/>
                <a:ea typeface="Microsoft YaHei" panose="020B0503020204020204" pitchFamily="34" charset="-122"/>
              </a:rPr>
              <a:t>在三個數據庫冗餘存儲，存在一個協調者引導二階段提交的執行</a:t>
            </a:r>
            <a:endParaRPr lang="en-US" altLang="zh-CN" sz="2400" b="1" dirty="0">
              <a:solidFill>
                <a:srgbClr val="C00000"/>
              </a:solidFill>
              <a:latin typeface="Microsoft YaHei" panose="020B0503020204020204" pitchFamily="34" charset="-122"/>
              <a:ea typeface="Microsoft YaHei" panose="020B0503020204020204" pitchFamily="34" charset="-122"/>
            </a:endParaRPr>
          </a:p>
        </p:txBody>
      </p:sp>
      <p:sp>
        <p:nvSpPr>
          <p:cNvPr id="33" name="灯片编号占位符 2">
            <a:extLst>
              <a:ext uri="{FF2B5EF4-FFF2-40B4-BE49-F238E27FC236}">
                <a16:creationId xmlns:a16="http://schemas.microsoft.com/office/drawing/2014/main" id="{08614F2A-FE76-4B47-B85D-3152D275F2CC}"/>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53</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6802484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矩形 73">
            <a:extLst>
              <a:ext uri="{FF2B5EF4-FFF2-40B4-BE49-F238E27FC236}">
                <a16:creationId xmlns:a16="http://schemas.microsoft.com/office/drawing/2014/main" id="{855FAD95-8973-CC44-87E1-F94AEEE74F1C}"/>
              </a:ext>
            </a:extLst>
          </p:cNvPr>
          <p:cNvSpPr/>
          <p:nvPr/>
        </p:nvSpPr>
        <p:spPr>
          <a:xfrm>
            <a:off x="7539575" y="1929895"/>
            <a:ext cx="1003571" cy="4431896"/>
          </a:xfrm>
          <a:prstGeom prst="rect">
            <a:avLst/>
          </a:prstGeom>
          <a:ln>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latin typeface="Microsoft YaHei" panose="020B0503020204020204" pitchFamily="34" charset="-122"/>
              <a:ea typeface="Microsoft YaHei" panose="020B0503020204020204" pitchFamily="34" charset="-122"/>
            </a:endParaRPr>
          </a:p>
        </p:txBody>
      </p:sp>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solidFill>
                  <a:srgbClr val="C00000"/>
                </a:solidFill>
              </a:rPr>
              <a:t>基于鎖機制確保隔離性</a:t>
            </a:r>
          </a:p>
        </p:txBody>
      </p:sp>
      <p:sp>
        <p:nvSpPr>
          <p:cNvPr id="5" name="矩形 4">
            <a:extLst>
              <a:ext uri="{FF2B5EF4-FFF2-40B4-BE49-F238E27FC236}">
                <a16:creationId xmlns:a16="http://schemas.microsoft.com/office/drawing/2014/main" id="{D20D565A-07AE-9E42-A25B-C4A9D850A219}"/>
              </a:ext>
            </a:extLst>
          </p:cNvPr>
          <p:cNvSpPr/>
          <p:nvPr/>
        </p:nvSpPr>
        <p:spPr>
          <a:xfrm>
            <a:off x="10601923" y="1933276"/>
            <a:ext cx="1338829" cy="4431896"/>
          </a:xfrm>
          <a:prstGeom prst="rect">
            <a:avLst/>
          </a:prstGeom>
          <a:ln>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latin typeface="Microsoft YaHei" panose="020B0503020204020204" pitchFamily="34" charset="-122"/>
              <a:ea typeface="Microsoft YaHei" panose="020B0503020204020204" pitchFamily="34" charset="-122"/>
            </a:endParaRPr>
          </a:p>
        </p:txBody>
      </p:sp>
      <mc:AlternateContent xmlns:mc="http://schemas.openxmlformats.org/markup-compatibility/2006" xmlns:a14="http://schemas.microsoft.com/office/drawing/2010/main">
        <mc:Choice Requires="a14">
          <p:sp>
            <p:nvSpPr>
              <p:cNvPr id="42" name="矩形 41">
                <a:extLst>
                  <a:ext uri="{FF2B5EF4-FFF2-40B4-BE49-F238E27FC236}">
                    <a16:creationId xmlns:a16="http://schemas.microsoft.com/office/drawing/2014/main" id="{E56F72C0-4C71-9847-B2F6-EA4F9EA2F8A9}"/>
                  </a:ext>
                </a:extLst>
              </p:cNvPr>
              <p:cNvSpPr/>
              <p:nvPr/>
            </p:nvSpPr>
            <p:spPr>
              <a:xfrm>
                <a:off x="11094788" y="2840879"/>
                <a:ext cx="493981"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b="0" i="1" smtClean="0">
                              <a:solidFill>
                                <a:schemeClr val="tx1">
                                  <a:lumMod val="75000"/>
                                  <a:lumOff val="25000"/>
                                </a:schemeClr>
                              </a:solidFill>
                              <a:latin typeface="Cambria Math" panose="02040503050406030204" pitchFamily="18" charset="0"/>
                              <a:ea typeface="微软雅黑" pitchFamily="34" charset="-122"/>
                            </a:rPr>
                            <m:t>𝑑</m:t>
                          </m:r>
                        </m:e>
                        <m:sub>
                          <m:r>
                            <a:rPr lang="en-US" altLang="zh-CN" i="1">
                              <a:solidFill>
                                <a:schemeClr val="tx1">
                                  <a:lumMod val="75000"/>
                                  <a:lumOff val="25000"/>
                                </a:schemeClr>
                              </a:solidFill>
                              <a:latin typeface="Cambria Math" panose="02040503050406030204" pitchFamily="18" charset="0"/>
                              <a:ea typeface="微软雅黑" pitchFamily="34" charset="-122"/>
                            </a:rPr>
                            <m:t>0</m:t>
                          </m:r>
                        </m:sub>
                      </m:sSub>
                    </m:oMath>
                  </m:oMathPara>
                </a14:m>
                <a:endParaRPr lang="zh-CN" altLang="en-US" dirty="0">
                  <a:latin typeface="Microsoft YaHei" panose="020B0503020204020204" pitchFamily="34" charset="-122"/>
                  <a:ea typeface="Microsoft YaHei" panose="020B0503020204020204" pitchFamily="34" charset="-122"/>
                </a:endParaRPr>
              </a:p>
            </p:txBody>
          </p:sp>
        </mc:Choice>
        <mc:Fallback xmlns="">
          <p:sp>
            <p:nvSpPr>
              <p:cNvPr id="42" name="矩形 41">
                <a:extLst>
                  <a:ext uri="{FF2B5EF4-FFF2-40B4-BE49-F238E27FC236}">
                    <a16:creationId xmlns:a16="http://schemas.microsoft.com/office/drawing/2014/main" id="{E56F72C0-4C71-9847-B2F6-EA4F9EA2F8A9}"/>
                  </a:ext>
                </a:extLst>
              </p:cNvPr>
              <p:cNvSpPr>
                <a:spLocks noRot="1" noChangeAspect="1" noMove="1" noResize="1" noEditPoints="1" noAdjustHandles="1" noChangeArrowheads="1" noChangeShapeType="1" noTextEdit="1"/>
              </p:cNvSpPr>
              <p:nvPr/>
            </p:nvSpPr>
            <p:spPr>
              <a:xfrm>
                <a:off x="11094788" y="2840879"/>
                <a:ext cx="493981" cy="369332"/>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矩形 43">
                <a:extLst>
                  <a:ext uri="{FF2B5EF4-FFF2-40B4-BE49-F238E27FC236}">
                    <a16:creationId xmlns:a16="http://schemas.microsoft.com/office/drawing/2014/main" id="{3E67CA08-4B69-1349-ACE8-35B85DD96928}"/>
                  </a:ext>
                </a:extLst>
              </p:cNvPr>
              <p:cNvSpPr/>
              <p:nvPr/>
            </p:nvSpPr>
            <p:spPr>
              <a:xfrm>
                <a:off x="11097450" y="4501714"/>
                <a:ext cx="488659"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i="1">
                              <a:solidFill>
                                <a:schemeClr val="tx1">
                                  <a:lumMod val="75000"/>
                                  <a:lumOff val="25000"/>
                                </a:schemeClr>
                              </a:solidFill>
                              <a:latin typeface="Cambria Math" panose="02040503050406030204" pitchFamily="18" charset="0"/>
                              <a:ea typeface="微软雅黑" pitchFamily="34" charset="-122"/>
                            </a:rPr>
                            <m:t>𝑑</m:t>
                          </m:r>
                        </m:e>
                        <m:sub>
                          <m:r>
                            <a:rPr lang="en-US" altLang="zh-CN" b="0" i="1" smtClean="0">
                              <a:solidFill>
                                <a:schemeClr val="tx1">
                                  <a:lumMod val="75000"/>
                                  <a:lumOff val="25000"/>
                                </a:schemeClr>
                              </a:solidFill>
                              <a:latin typeface="Cambria Math" panose="02040503050406030204" pitchFamily="18" charset="0"/>
                              <a:ea typeface="微软雅黑" pitchFamily="34" charset="-122"/>
                            </a:rPr>
                            <m:t>1</m:t>
                          </m:r>
                        </m:sub>
                      </m:sSub>
                    </m:oMath>
                  </m:oMathPara>
                </a14:m>
                <a:endParaRPr lang="zh-CN" altLang="en-US" dirty="0">
                  <a:latin typeface="Microsoft YaHei" panose="020B0503020204020204" pitchFamily="34" charset="-122"/>
                  <a:ea typeface="Microsoft YaHei" panose="020B0503020204020204" pitchFamily="34" charset="-122"/>
                </a:endParaRPr>
              </a:p>
            </p:txBody>
          </p:sp>
        </mc:Choice>
        <mc:Fallback xmlns="">
          <p:sp>
            <p:nvSpPr>
              <p:cNvPr id="44" name="矩形 43">
                <a:extLst>
                  <a:ext uri="{FF2B5EF4-FFF2-40B4-BE49-F238E27FC236}">
                    <a16:creationId xmlns:a16="http://schemas.microsoft.com/office/drawing/2014/main" id="{3E67CA08-4B69-1349-ACE8-35B85DD96928}"/>
                  </a:ext>
                </a:extLst>
              </p:cNvPr>
              <p:cNvSpPr>
                <a:spLocks noRot="1" noChangeAspect="1" noMove="1" noResize="1" noEditPoints="1" noAdjustHandles="1" noChangeArrowheads="1" noChangeShapeType="1" noTextEdit="1"/>
              </p:cNvSpPr>
              <p:nvPr/>
            </p:nvSpPr>
            <p:spPr>
              <a:xfrm>
                <a:off x="11097450" y="4501714"/>
                <a:ext cx="488659" cy="36933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矩形 44">
                <a:extLst>
                  <a:ext uri="{FF2B5EF4-FFF2-40B4-BE49-F238E27FC236}">
                    <a16:creationId xmlns:a16="http://schemas.microsoft.com/office/drawing/2014/main" id="{0202182E-CD95-5649-9A3D-3A80AB4B3E9D}"/>
                  </a:ext>
                </a:extLst>
              </p:cNvPr>
              <p:cNvSpPr/>
              <p:nvPr/>
            </p:nvSpPr>
            <p:spPr>
              <a:xfrm>
                <a:off x="11102019" y="6005912"/>
                <a:ext cx="493981"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i="1">
                              <a:solidFill>
                                <a:schemeClr val="tx1">
                                  <a:lumMod val="75000"/>
                                  <a:lumOff val="25000"/>
                                </a:schemeClr>
                              </a:solidFill>
                              <a:latin typeface="Cambria Math" panose="02040503050406030204" pitchFamily="18" charset="0"/>
                              <a:ea typeface="微软雅黑" pitchFamily="34" charset="-122"/>
                            </a:rPr>
                            <m:t>𝑑</m:t>
                          </m:r>
                        </m:e>
                        <m:sub>
                          <m:r>
                            <a:rPr lang="en-US" altLang="zh-CN" b="0" i="1" smtClean="0">
                              <a:solidFill>
                                <a:schemeClr val="tx1">
                                  <a:lumMod val="75000"/>
                                  <a:lumOff val="25000"/>
                                </a:schemeClr>
                              </a:solidFill>
                              <a:latin typeface="Cambria Math" panose="02040503050406030204" pitchFamily="18" charset="0"/>
                              <a:ea typeface="微软雅黑" pitchFamily="34" charset="-122"/>
                            </a:rPr>
                            <m:t>2</m:t>
                          </m:r>
                        </m:sub>
                      </m:sSub>
                    </m:oMath>
                  </m:oMathPara>
                </a14:m>
                <a:endParaRPr lang="zh-CN" altLang="en-US" dirty="0">
                  <a:latin typeface="Microsoft YaHei" panose="020B0503020204020204" pitchFamily="34" charset="-122"/>
                  <a:ea typeface="Microsoft YaHei" panose="020B0503020204020204" pitchFamily="34" charset="-122"/>
                </a:endParaRPr>
              </a:p>
            </p:txBody>
          </p:sp>
        </mc:Choice>
        <mc:Fallback xmlns="">
          <p:sp>
            <p:nvSpPr>
              <p:cNvPr id="45" name="矩形 44">
                <a:extLst>
                  <a:ext uri="{FF2B5EF4-FFF2-40B4-BE49-F238E27FC236}">
                    <a16:creationId xmlns:a16="http://schemas.microsoft.com/office/drawing/2014/main" id="{0202182E-CD95-5649-9A3D-3A80AB4B3E9D}"/>
                  </a:ext>
                </a:extLst>
              </p:cNvPr>
              <p:cNvSpPr>
                <a:spLocks noRot="1" noChangeAspect="1" noMove="1" noResize="1" noEditPoints="1" noAdjustHandles="1" noChangeArrowheads="1" noChangeShapeType="1" noTextEdit="1"/>
              </p:cNvSpPr>
              <p:nvPr/>
            </p:nvSpPr>
            <p:spPr>
              <a:xfrm>
                <a:off x="11102019" y="6005912"/>
                <a:ext cx="493981" cy="369332"/>
              </a:xfrm>
              <a:prstGeom prst="rect">
                <a:avLst/>
              </a:prstGeom>
              <a:blipFill>
                <a:blip r:embed="rId5"/>
                <a:stretch>
                  <a:fillRect/>
                </a:stretch>
              </a:blipFill>
            </p:spPr>
            <p:txBody>
              <a:bodyPr/>
              <a:lstStyle/>
              <a:p>
                <a:r>
                  <a:rPr lang="zh-CN" altLang="en-US">
                    <a:noFill/>
                  </a:rPr>
                  <a:t> </a:t>
                </a:r>
              </a:p>
            </p:txBody>
          </p:sp>
        </mc:Fallback>
      </mc:AlternateContent>
      <p:cxnSp>
        <p:nvCxnSpPr>
          <p:cNvPr id="52" name="直线箭头连接符 51">
            <a:extLst>
              <a:ext uri="{FF2B5EF4-FFF2-40B4-BE49-F238E27FC236}">
                <a16:creationId xmlns:a16="http://schemas.microsoft.com/office/drawing/2014/main" id="{F5BD4205-72F6-A543-9447-E2D05A8A1472}"/>
              </a:ext>
            </a:extLst>
          </p:cNvPr>
          <p:cNvCxnSpPr>
            <a:cxnSpLocks/>
          </p:cNvCxnSpPr>
          <p:nvPr/>
        </p:nvCxnSpPr>
        <p:spPr>
          <a:xfrm flipH="1">
            <a:off x="6221194" y="4091212"/>
            <a:ext cx="1304809" cy="0"/>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sp>
        <p:nvSpPr>
          <p:cNvPr id="53" name="矩形 52">
            <a:extLst>
              <a:ext uri="{FF2B5EF4-FFF2-40B4-BE49-F238E27FC236}">
                <a16:creationId xmlns:a16="http://schemas.microsoft.com/office/drawing/2014/main" id="{6C06C73B-DDB9-3641-B1FB-13318466811D}"/>
              </a:ext>
            </a:extLst>
          </p:cNvPr>
          <p:cNvSpPr/>
          <p:nvPr/>
        </p:nvSpPr>
        <p:spPr>
          <a:xfrm>
            <a:off x="6056304" y="3648810"/>
            <a:ext cx="1601181" cy="369332"/>
          </a:xfrm>
          <a:prstGeom prst="rect">
            <a:avLst/>
          </a:prstGeom>
        </p:spPr>
        <p:txBody>
          <a:bodyPr wrap="square">
            <a:spAutoFit/>
          </a:bodyPr>
          <a:lstStyle/>
          <a:p>
            <a:pPr algn="ctr"/>
            <a:r>
              <a:rPr lang="en-US" altLang="zh-CN" dirty="0" err="1">
                <a:solidFill>
                  <a:schemeClr val="tx1">
                    <a:lumMod val="75000"/>
                    <a:lumOff val="25000"/>
                  </a:schemeClr>
                </a:solidFill>
                <a:latin typeface="Microsoft YaHei" panose="020B0503020204020204" pitchFamily="34" charset="-122"/>
                <a:ea typeface="Microsoft YaHei" panose="020B0503020204020204" pitchFamily="34" charset="-122"/>
              </a:rPr>
              <a:t>tx</a:t>
            </a: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 </a:t>
            </a: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設置 </a:t>
            </a: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A=5</a:t>
            </a:r>
            <a:endParaRPr lang="zh-CN" altLang="en-US" dirty="0">
              <a:latin typeface="Microsoft YaHei" panose="020B0503020204020204" pitchFamily="34" charset="-122"/>
              <a:ea typeface="Microsoft YaHei" panose="020B0503020204020204" pitchFamily="34" charset="-122"/>
            </a:endParaRPr>
          </a:p>
        </p:txBody>
      </p:sp>
      <p:sp>
        <p:nvSpPr>
          <p:cNvPr id="64" name="矩形 63">
            <a:extLst>
              <a:ext uri="{FF2B5EF4-FFF2-40B4-BE49-F238E27FC236}">
                <a16:creationId xmlns:a16="http://schemas.microsoft.com/office/drawing/2014/main" id="{3C29E21C-DD1F-A643-BF0E-9D17BE13AE33}"/>
              </a:ext>
            </a:extLst>
          </p:cNvPr>
          <p:cNvSpPr/>
          <p:nvPr/>
        </p:nvSpPr>
        <p:spPr>
          <a:xfrm>
            <a:off x="8737807" y="2293595"/>
            <a:ext cx="1938054" cy="369332"/>
          </a:xfrm>
          <a:prstGeom prst="rect">
            <a:avLst/>
          </a:prstGeom>
        </p:spPr>
        <p:txBody>
          <a:bodyPr wrap="square">
            <a:spAutoFit/>
          </a:bodyPr>
          <a:lstStyle/>
          <a:p>
            <a:pPr algn="ct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是否能提交 </a:t>
            </a:r>
            <a:r>
              <a:rPr lang="en-US" altLang="zh-CN" dirty="0" err="1">
                <a:solidFill>
                  <a:schemeClr val="tx1">
                    <a:lumMod val="75000"/>
                    <a:lumOff val="25000"/>
                  </a:schemeClr>
                </a:solidFill>
                <a:latin typeface="Microsoft YaHei" panose="020B0503020204020204" pitchFamily="34" charset="-122"/>
                <a:ea typeface="Microsoft YaHei" panose="020B0503020204020204" pitchFamily="34" charset="-122"/>
              </a:rPr>
              <a:t>tx</a:t>
            </a: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 </a:t>
            </a: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a:t>
            </a:r>
          </a:p>
        </p:txBody>
      </p:sp>
      <p:sp>
        <p:nvSpPr>
          <p:cNvPr id="69" name="矩形 68">
            <a:extLst>
              <a:ext uri="{FF2B5EF4-FFF2-40B4-BE49-F238E27FC236}">
                <a16:creationId xmlns:a16="http://schemas.microsoft.com/office/drawing/2014/main" id="{C9E9E6A9-E63C-D842-B5C0-C975C078E3D7}"/>
              </a:ext>
            </a:extLst>
          </p:cNvPr>
          <p:cNvSpPr/>
          <p:nvPr/>
        </p:nvSpPr>
        <p:spPr>
          <a:xfrm>
            <a:off x="8681256" y="3793821"/>
            <a:ext cx="1977219" cy="369332"/>
          </a:xfrm>
          <a:prstGeom prst="rect">
            <a:avLst/>
          </a:prstGeom>
        </p:spPr>
        <p:txBody>
          <a:bodyPr wrap="square">
            <a:spAutoFit/>
          </a:bodyPr>
          <a:lstStyle/>
          <a:p>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②</a:t>
            </a:r>
            <a:r>
              <a:rPr lang="zh-CN" altLang="en-US" dirty="0">
                <a:latin typeface="Microsoft YaHei" panose="020B0503020204020204" pitchFamily="34" charset="-122"/>
                <a:ea typeface="Microsoft YaHei" panose="020B0503020204020204" pitchFamily="34" charset="-122"/>
              </a:rPr>
              <a:t> </a:t>
            </a: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回復</a:t>
            </a: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Yes/No</a:t>
            </a:r>
          </a:p>
        </p:txBody>
      </p:sp>
      <p:cxnSp>
        <p:nvCxnSpPr>
          <p:cNvPr id="61" name="直线箭头连接符 60">
            <a:extLst>
              <a:ext uri="{FF2B5EF4-FFF2-40B4-BE49-F238E27FC236}">
                <a16:creationId xmlns:a16="http://schemas.microsoft.com/office/drawing/2014/main" id="{378197DB-5E83-4A4C-95E0-0DCC70666DDC}"/>
              </a:ext>
            </a:extLst>
          </p:cNvPr>
          <p:cNvCxnSpPr>
            <a:cxnSpLocks/>
          </p:cNvCxnSpPr>
          <p:nvPr/>
        </p:nvCxnSpPr>
        <p:spPr>
          <a:xfrm>
            <a:off x="8543146" y="4234675"/>
            <a:ext cx="2024364" cy="0"/>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63" name="直线箭头连接符 62">
            <a:extLst>
              <a:ext uri="{FF2B5EF4-FFF2-40B4-BE49-F238E27FC236}">
                <a16:creationId xmlns:a16="http://schemas.microsoft.com/office/drawing/2014/main" id="{056C4622-C3D9-7E4B-AC60-290A109A9AB7}"/>
              </a:ext>
            </a:extLst>
          </p:cNvPr>
          <p:cNvCxnSpPr>
            <a:cxnSpLocks/>
          </p:cNvCxnSpPr>
          <p:nvPr/>
        </p:nvCxnSpPr>
        <p:spPr>
          <a:xfrm flipH="1">
            <a:off x="8524977" y="2731935"/>
            <a:ext cx="2091808" cy="0"/>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73" name="直线箭头连接符 72">
            <a:extLst>
              <a:ext uri="{FF2B5EF4-FFF2-40B4-BE49-F238E27FC236}">
                <a16:creationId xmlns:a16="http://schemas.microsoft.com/office/drawing/2014/main" id="{88E174F4-8EC2-6242-B511-D4036B5FD026}"/>
              </a:ext>
            </a:extLst>
          </p:cNvPr>
          <p:cNvCxnSpPr>
            <a:cxnSpLocks/>
          </p:cNvCxnSpPr>
          <p:nvPr/>
        </p:nvCxnSpPr>
        <p:spPr>
          <a:xfrm flipH="1">
            <a:off x="8543146" y="5299679"/>
            <a:ext cx="2124166" cy="0"/>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sp>
        <p:nvSpPr>
          <p:cNvPr id="75" name="矩形 74">
            <a:extLst>
              <a:ext uri="{FF2B5EF4-FFF2-40B4-BE49-F238E27FC236}">
                <a16:creationId xmlns:a16="http://schemas.microsoft.com/office/drawing/2014/main" id="{FE43A219-56A1-D541-B85F-BB07D9B90399}"/>
              </a:ext>
            </a:extLst>
          </p:cNvPr>
          <p:cNvSpPr/>
          <p:nvPr/>
        </p:nvSpPr>
        <p:spPr>
          <a:xfrm>
            <a:off x="8681256" y="4647617"/>
            <a:ext cx="1798304" cy="646331"/>
          </a:xfrm>
          <a:prstGeom prst="rect">
            <a:avLst/>
          </a:prstGeom>
        </p:spPr>
        <p:txBody>
          <a:bodyPr wrap="square">
            <a:spAutoFit/>
          </a:bodyPr>
          <a:lstStyle/>
          <a:p>
            <a:pPr algn="ct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③</a:t>
            </a:r>
            <a:r>
              <a:rPr lang="zh-CN" altLang="en-US" dirty="0">
                <a:latin typeface="Microsoft YaHei" panose="020B0503020204020204" pitchFamily="34" charset="-122"/>
                <a:ea typeface="Microsoft YaHei" panose="020B0503020204020204" pitchFamily="34" charset="-122"/>
              </a:rPr>
              <a:t> </a:t>
            </a: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可以</a:t>
            </a: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a:t>
            </a: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停止</a:t>
            </a:r>
            <a:endPar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endParaRPr>
          </a:p>
          <a:p>
            <a:pPr algn="ct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提交</a:t>
            </a:r>
            <a:r>
              <a:rPr lang="en-US" altLang="zh-CN" dirty="0" err="1">
                <a:solidFill>
                  <a:schemeClr val="tx1">
                    <a:lumMod val="75000"/>
                    <a:lumOff val="25000"/>
                  </a:schemeClr>
                </a:solidFill>
                <a:latin typeface="Microsoft YaHei" panose="020B0503020204020204" pitchFamily="34" charset="-122"/>
                <a:ea typeface="Microsoft YaHei" panose="020B0503020204020204" pitchFamily="34" charset="-122"/>
              </a:rPr>
              <a:t>tx</a:t>
            </a:r>
            <a:endPar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mc:AlternateContent xmlns:mc="http://schemas.openxmlformats.org/markup-compatibility/2006">
        <mc:Choice xmlns:a14="http://schemas.microsoft.com/office/drawing/2010/main" Requires="a14">
          <p:sp>
            <p:nvSpPr>
              <p:cNvPr id="80" name="矩形 79">
                <a:extLst>
                  <a:ext uri="{FF2B5EF4-FFF2-40B4-BE49-F238E27FC236}">
                    <a16:creationId xmlns:a16="http://schemas.microsoft.com/office/drawing/2014/main" id="{D1FAD729-6F70-3F4F-9677-4CC820A7EA72}"/>
                  </a:ext>
                </a:extLst>
              </p:cNvPr>
              <p:cNvSpPr/>
              <p:nvPr/>
            </p:nvSpPr>
            <p:spPr>
              <a:xfrm>
                <a:off x="483432" y="1668112"/>
                <a:ext cx="4945635" cy="4962256"/>
              </a:xfrm>
              <a:prstGeom prst="rect">
                <a:avLst/>
              </a:prstGeom>
              <a:ln>
                <a:solidFill>
                  <a:srgbClr val="00B0F0"/>
                </a:solidFill>
              </a:ln>
            </p:spPr>
            <p:txBody>
              <a:bodyPr wrap="square">
                <a:spAutoFit/>
              </a:bodyPr>
              <a:lstStyle/>
              <a:p>
                <a:pPr marL="3429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執行步驟</a:t>
                </a:r>
                <a:endPar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a:p>
                <a:pPr marL="684000" lvl="1" indent="-342900" algn="just" fontAlgn="base">
                  <a:lnSpc>
                    <a:spcPts val="3600"/>
                  </a:lnSpc>
                  <a:spcBef>
                    <a:spcPct val="20000"/>
                  </a:spcBef>
                  <a:spcAft>
                    <a:spcPct val="0"/>
                  </a:spcAft>
                  <a:buSzPct val="100000"/>
                  <a:buFont typeface="Arial" panose="020B0604020202020204" pitchFamily="34" charset="0"/>
                  <a:buChar char="•"/>
                </a:pPr>
                <a14:m>
                  <m:oMath xmlns:m="http://schemas.openxmlformats.org/officeDocument/2006/math">
                    <m:sSub>
                      <m:sSubPr>
                        <m:ctrlPr>
                          <a:rPr lang="en-US" altLang="zh-CN" sz="2400" i="1">
                            <a:solidFill>
                              <a:schemeClr val="tx1">
                                <a:lumMod val="75000"/>
                                <a:lumOff val="25000"/>
                              </a:schemeClr>
                            </a:solidFill>
                            <a:latin typeface="Cambria Math" panose="02040503050406030204" pitchFamily="18" charset="0"/>
                            <a:ea typeface="微软雅黑" pitchFamily="34" charset="-122"/>
                          </a:rPr>
                        </m:ctrlPr>
                      </m:sSubPr>
                      <m:e>
                        <m:r>
                          <a:rPr lang="en-US" altLang="zh-CN" sz="2400" i="1">
                            <a:solidFill>
                              <a:schemeClr val="tx1">
                                <a:lumMod val="75000"/>
                                <a:lumOff val="25000"/>
                              </a:schemeClr>
                            </a:solidFill>
                            <a:latin typeface="Cambria Math" panose="02040503050406030204" pitchFamily="18" charset="0"/>
                            <a:ea typeface="微软雅黑" pitchFamily="34" charset="-122"/>
                          </a:rPr>
                          <m:t>𝑠</m:t>
                        </m:r>
                      </m:e>
                      <m:sub>
                        <m:r>
                          <a:rPr lang="en-US" altLang="zh-CN" sz="2400" i="1">
                            <a:solidFill>
                              <a:schemeClr val="tx1">
                                <a:lumMod val="75000"/>
                                <a:lumOff val="25000"/>
                              </a:schemeClr>
                            </a:solidFill>
                            <a:latin typeface="Cambria Math" panose="02040503050406030204" pitchFamily="18" charset="0"/>
                            <a:ea typeface="微软雅黑" pitchFamily="34" charset="-122"/>
                          </a:rPr>
                          <m:t>1</m:t>
                        </m:r>
                      </m:sub>
                    </m:sSub>
                  </m:oMath>
                </a14:m>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向協調者請求將</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A</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設爲</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5</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 </a:t>
                </a:r>
                <a:endPar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a:p>
                <a:pPr marL="6840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協調者向存儲狀態</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A</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的數據庫詢問是否可提交事務</a:t>
                </a:r>
                <a:endPar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a:p>
                <a:pPr marL="6840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數據庫若判斷不衝突，則返回</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Yes</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，幷對狀態</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A</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上鎖</a:t>
                </a:r>
                <a:endPar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a:p>
                <a:pPr marL="6840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數據庫等待協調者的通知，若收到</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Do commit</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，完成對狀態</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A</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的設置幷解鎖狀態</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A</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；若收到</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Abort</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，則直接解鎖狀態</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A</a:t>
                </a:r>
              </a:p>
            </p:txBody>
          </p:sp>
        </mc:Choice>
        <mc:Fallback>
          <p:sp>
            <p:nvSpPr>
              <p:cNvPr id="80" name="矩形 79">
                <a:extLst>
                  <a:ext uri="{FF2B5EF4-FFF2-40B4-BE49-F238E27FC236}">
                    <a16:creationId xmlns:a16="http://schemas.microsoft.com/office/drawing/2014/main" id="{D1FAD729-6F70-3F4F-9677-4CC820A7EA72}"/>
                  </a:ext>
                </a:extLst>
              </p:cNvPr>
              <p:cNvSpPr>
                <a:spLocks noRot="1" noChangeAspect="1" noMove="1" noResize="1" noEditPoints="1" noAdjustHandles="1" noChangeArrowheads="1" noChangeShapeType="1" noTextEdit="1"/>
              </p:cNvSpPr>
              <p:nvPr/>
            </p:nvSpPr>
            <p:spPr>
              <a:xfrm>
                <a:off x="483432" y="1668112"/>
                <a:ext cx="4945635" cy="4962256"/>
              </a:xfrm>
              <a:prstGeom prst="rect">
                <a:avLst/>
              </a:prstGeom>
              <a:blipFill>
                <a:blip r:embed="rId6"/>
                <a:stretch>
                  <a:fillRect l="-1474" r="-1720" b="-1716"/>
                </a:stretch>
              </a:blipFill>
              <a:ln>
                <a:solidFill>
                  <a:srgbClr val="00B0F0"/>
                </a:solidFill>
              </a:ln>
            </p:spPr>
            <p:txBody>
              <a:bodyPr/>
              <a:lstStyle/>
              <a:p>
                <a:r>
                  <a:rPr lang="fr-FR">
                    <a:noFill/>
                  </a:rPr>
                  <a:t> </a:t>
                </a:r>
              </a:p>
            </p:txBody>
          </p:sp>
        </mc:Fallback>
      </mc:AlternateContent>
      <p:sp>
        <p:nvSpPr>
          <p:cNvPr id="36" name="矩形 35">
            <a:extLst>
              <a:ext uri="{FF2B5EF4-FFF2-40B4-BE49-F238E27FC236}">
                <a16:creationId xmlns:a16="http://schemas.microsoft.com/office/drawing/2014/main" id="{31D6E104-0C44-4547-B3AE-674DDF5E02EE}"/>
              </a:ext>
            </a:extLst>
          </p:cNvPr>
          <p:cNvSpPr/>
          <p:nvPr/>
        </p:nvSpPr>
        <p:spPr>
          <a:xfrm>
            <a:off x="8673819" y="3416585"/>
            <a:ext cx="1938351" cy="369332"/>
          </a:xfrm>
          <a:prstGeom prst="rect">
            <a:avLst/>
          </a:prstGeom>
        </p:spPr>
        <p:txBody>
          <a:bodyPr wrap="none">
            <a:spAutoFit/>
          </a:bodyPr>
          <a:lstStyle/>
          <a:p>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①</a:t>
            </a: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 對狀態 </a:t>
            </a: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A</a:t>
            </a: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 上鎖</a:t>
            </a:r>
            <a:endParaRPr lang="zh-CN" altLang="en-US" dirty="0">
              <a:latin typeface="Microsoft YaHei" panose="020B0503020204020204" pitchFamily="34" charset="-122"/>
              <a:ea typeface="Microsoft YaHei" panose="020B0503020204020204" pitchFamily="34" charset="-122"/>
            </a:endParaRPr>
          </a:p>
        </p:txBody>
      </p:sp>
      <p:sp>
        <p:nvSpPr>
          <p:cNvPr id="37" name="矩形 36">
            <a:extLst>
              <a:ext uri="{FF2B5EF4-FFF2-40B4-BE49-F238E27FC236}">
                <a16:creationId xmlns:a16="http://schemas.microsoft.com/office/drawing/2014/main" id="{1F31C00C-BAB3-CB41-8D6E-56F790F0BE4B}"/>
              </a:ext>
            </a:extLst>
          </p:cNvPr>
          <p:cNvSpPr/>
          <p:nvPr/>
        </p:nvSpPr>
        <p:spPr>
          <a:xfrm>
            <a:off x="8889442" y="5782352"/>
            <a:ext cx="1638590" cy="369332"/>
          </a:xfrm>
          <a:prstGeom prst="rect">
            <a:avLst/>
          </a:prstGeom>
        </p:spPr>
        <p:txBody>
          <a:bodyPr wrap="none">
            <a:spAutoFit/>
          </a:bodyPr>
          <a:lstStyle/>
          <a:p>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④</a:t>
            </a: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 解鎖狀態 </a:t>
            </a: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A</a:t>
            </a:r>
            <a:endParaRPr lang="zh-CN" altLang="en-US" dirty="0">
              <a:latin typeface="Microsoft YaHei" panose="020B0503020204020204" pitchFamily="34" charset="-122"/>
              <a:ea typeface="Microsoft YaHei" panose="020B0503020204020204" pitchFamily="34" charset="-122"/>
            </a:endParaRPr>
          </a:p>
        </p:txBody>
      </p:sp>
      <p:pic>
        <p:nvPicPr>
          <p:cNvPr id="72" name="图形 71">
            <a:extLst>
              <a:ext uri="{FF2B5EF4-FFF2-40B4-BE49-F238E27FC236}">
                <a16:creationId xmlns:a16="http://schemas.microsoft.com/office/drawing/2014/main" id="{3190B452-6270-6644-AB8D-D5BC191A16F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910891" y="2065804"/>
            <a:ext cx="800615" cy="800615"/>
          </a:xfrm>
          <a:prstGeom prst="rect">
            <a:avLst/>
          </a:prstGeom>
        </p:spPr>
      </p:pic>
      <p:pic>
        <p:nvPicPr>
          <p:cNvPr id="76" name="图形 75">
            <a:extLst>
              <a:ext uri="{FF2B5EF4-FFF2-40B4-BE49-F238E27FC236}">
                <a16:creationId xmlns:a16="http://schemas.microsoft.com/office/drawing/2014/main" id="{278978A3-94DF-3049-B668-A9D277AE4B6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910891" y="3745536"/>
            <a:ext cx="800615" cy="800615"/>
          </a:xfrm>
          <a:prstGeom prst="rect">
            <a:avLst/>
          </a:prstGeom>
        </p:spPr>
      </p:pic>
      <p:pic>
        <p:nvPicPr>
          <p:cNvPr id="77" name="图形 76">
            <a:extLst>
              <a:ext uri="{FF2B5EF4-FFF2-40B4-BE49-F238E27FC236}">
                <a16:creationId xmlns:a16="http://schemas.microsoft.com/office/drawing/2014/main" id="{128C2E8D-A66C-FA45-AA35-857150BF59A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903724" y="5246306"/>
            <a:ext cx="800615" cy="800615"/>
          </a:xfrm>
          <a:prstGeom prst="rect">
            <a:avLst/>
          </a:prstGeom>
        </p:spPr>
      </p:pic>
      <p:grpSp>
        <p:nvGrpSpPr>
          <p:cNvPr id="78" name="组合 77">
            <a:extLst>
              <a:ext uri="{FF2B5EF4-FFF2-40B4-BE49-F238E27FC236}">
                <a16:creationId xmlns:a16="http://schemas.microsoft.com/office/drawing/2014/main" id="{FF0FD9B2-73F4-224B-B918-7C7E59408E64}"/>
              </a:ext>
            </a:extLst>
          </p:cNvPr>
          <p:cNvGrpSpPr/>
          <p:nvPr/>
        </p:nvGrpSpPr>
        <p:grpSpPr>
          <a:xfrm>
            <a:off x="5563617" y="3696807"/>
            <a:ext cx="586364" cy="1198562"/>
            <a:chOff x="6135819" y="3177765"/>
            <a:chExt cx="586364" cy="1198562"/>
          </a:xfrm>
        </p:grpSpPr>
        <p:pic>
          <p:nvPicPr>
            <p:cNvPr id="79" name="图片 78">
              <a:extLst>
                <a:ext uri="{FF2B5EF4-FFF2-40B4-BE49-F238E27FC236}">
                  <a16:creationId xmlns:a16="http://schemas.microsoft.com/office/drawing/2014/main" id="{815E9A36-B3ED-D347-BC0A-FD4C6C54110A}"/>
                </a:ext>
              </a:extLst>
            </p:cNvPr>
            <p:cNvPicPr>
              <a:picLocks noChangeAspect="1"/>
            </p:cNvPicPr>
            <p:nvPr/>
          </p:nvPicPr>
          <p:blipFill>
            <a:blip r:embed="rId9"/>
            <a:stretch>
              <a:fillRect/>
            </a:stretch>
          </p:blipFill>
          <p:spPr>
            <a:xfrm>
              <a:off x="6135819" y="3177765"/>
              <a:ext cx="586364" cy="798452"/>
            </a:xfrm>
            <a:prstGeom prst="rect">
              <a:avLst/>
            </a:prstGeom>
          </p:spPr>
        </p:pic>
        <mc:AlternateContent xmlns:mc="http://schemas.openxmlformats.org/markup-compatibility/2006" xmlns:a14="http://schemas.microsoft.com/office/drawing/2010/main">
          <mc:Choice Requires="a14">
            <p:sp>
              <p:nvSpPr>
                <p:cNvPr id="81" name="矩形 80">
                  <a:extLst>
                    <a:ext uri="{FF2B5EF4-FFF2-40B4-BE49-F238E27FC236}">
                      <a16:creationId xmlns:a16="http://schemas.microsoft.com/office/drawing/2014/main" id="{665F64CF-C93B-4341-9CFD-B8AD10961190}"/>
                    </a:ext>
                  </a:extLst>
                </p:cNvPr>
                <p:cNvSpPr/>
                <p:nvPr/>
              </p:nvSpPr>
              <p:spPr>
                <a:xfrm>
                  <a:off x="6204859" y="3976217"/>
                  <a:ext cx="486030"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000"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sz="2000" i="1">
                                <a:solidFill>
                                  <a:schemeClr val="tx1">
                                    <a:lumMod val="75000"/>
                                    <a:lumOff val="25000"/>
                                  </a:schemeClr>
                                </a:solidFill>
                                <a:latin typeface="Cambria Math" panose="02040503050406030204" pitchFamily="18" charset="0"/>
                                <a:ea typeface="微软雅黑" pitchFamily="34" charset="-122"/>
                              </a:rPr>
                              <m:t>𝑠</m:t>
                            </m:r>
                          </m:e>
                          <m:sub>
                            <m:r>
                              <a:rPr lang="en-US" altLang="zh-CN" sz="2000" b="0" i="1" smtClean="0">
                                <a:solidFill>
                                  <a:schemeClr val="tx1">
                                    <a:lumMod val="75000"/>
                                    <a:lumOff val="25000"/>
                                  </a:schemeClr>
                                </a:solidFill>
                                <a:latin typeface="Cambria Math" panose="02040503050406030204" pitchFamily="18" charset="0"/>
                                <a:ea typeface="微软雅黑" pitchFamily="34" charset="-122"/>
                              </a:rPr>
                              <m:t>1</m:t>
                            </m:r>
                          </m:sub>
                        </m:sSub>
                      </m:oMath>
                    </m:oMathPara>
                  </a14:m>
                  <a:endParaRPr lang="zh-CN" altLang="en-US" sz="2000" dirty="0">
                    <a:latin typeface="Microsoft YaHei" panose="020B0503020204020204" pitchFamily="34" charset="-122"/>
                    <a:ea typeface="Microsoft YaHei" panose="020B0503020204020204" pitchFamily="34" charset="-122"/>
                  </a:endParaRPr>
                </a:p>
              </p:txBody>
            </p:sp>
          </mc:Choice>
          <mc:Fallback xmlns="">
            <p:sp>
              <p:nvSpPr>
                <p:cNvPr id="17" name="矩形 16">
                  <a:extLst>
                    <a:ext uri="{FF2B5EF4-FFF2-40B4-BE49-F238E27FC236}">
                      <a16:creationId xmlns:a16="http://schemas.microsoft.com/office/drawing/2014/main" id="{B235D0C7-C4D5-9146-9E02-4DC9C71D0495}"/>
                    </a:ext>
                  </a:extLst>
                </p:cNvPr>
                <p:cNvSpPr>
                  <a:spLocks noRot="1" noChangeAspect="1" noMove="1" noResize="1" noEditPoints="1" noAdjustHandles="1" noChangeArrowheads="1" noChangeShapeType="1" noTextEdit="1"/>
                </p:cNvSpPr>
                <p:nvPr/>
              </p:nvSpPr>
              <p:spPr>
                <a:xfrm>
                  <a:off x="6204859" y="3976217"/>
                  <a:ext cx="486030" cy="400110"/>
                </a:xfrm>
                <a:prstGeom prst="rect">
                  <a:avLst/>
                </a:prstGeom>
                <a:blipFill>
                  <a:blip r:embed="rId10"/>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82" name="矩形 81">
                <a:extLst>
                  <a:ext uri="{FF2B5EF4-FFF2-40B4-BE49-F238E27FC236}">
                    <a16:creationId xmlns:a16="http://schemas.microsoft.com/office/drawing/2014/main" id="{3CF6B729-3836-B640-BF7D-6507F60DE770}"/>
                  </a:ext>
                </a:extLst>
              </p:cNvPr>
              <p:cNvSpPr/>
              <p:nvPr/>
            </p:nvSpPr>
            <p:spPr>
              <a:xfrm>
                <a:off x="11094788" y="2840879"/>
                <a:ext cx="493981"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b="0" i="1" smtClean="0">
                              <a:solidFill>
                                <a:schemeClr val="tx1">
                                  <a:lumMod val="75000"/>
                                  <a:lumOff val="25000"/>
                                </a:schemeClr>
                              </a:solidFill>
                              <a:latin typeface="Cambria Math" panose="02040503050406030204" pitchFamily="18" charset="0"/>
                              <a:ea typeface="微软雅黑" pitchFamily="34" charset="-122"/>
                            </a:rPr>
                            <m:t>𝑑</m:t>
                          </m:r>
                        </m:e>
                        <m:sub>
                          <m:r>
                            <a:rPr lang="en-US" altLang="zh-CN" i="1">
                              <a:solidFill>
                                <a:schemeClr val="tx1">
                                  <a:lumMod val="75000"/>
                                  <a:lumOff val="25000"/>
                                </a:schemeClr>
                              </a:solidFill>
                              <a:latin typeface="Cambria Math" panose="02040503050406030204" pitchFamily="18" charset="0"/>
                              <a:ea typeface="微软雅黑" pitchFamily="34" charset="-122"/>
                            </a:rPr>
                            <m:t>0</m:t>
                          </m:r>
                        </m:sub>
                      </m:sSub>
                    </m:oMath>
                  </m:oMathPara>
                </a14:m>
                <a:endParaRPr lang="zh-CN" altLang="en-US" dirty="0">
                  <a:latin typeface="Microsoft YaHei" panose="020B0503020204020204" pitchFamily="34" charset="-122"/>
                  <a:ea typeface="Microsoft YaHei" panose="020B0503020204020204" pitchFamily="34" charset="-122"/>
                </a:endParaRPr>
              </a:p>
            </p:txBody>
          </p:sp>
        </mc:Choice>
        <mc:Fallback xmlns="">
          <p:sp>
            <p:nvSpPr>
              <p:cNvPr id="82" name="矩形 81">
                <a:extLst>
                  <a:ext uri="{FF2B5EF4-FFF2-40B4-BE49-F238E27FC236}">
                    <a16:creationId xmlns:a16="http://schemas.microsoft.com/office/drawing/2014/main" id="{3CF6B729-3836-B640-BF7D-6507F60DE770}"/>
                  </a:ext>
                </a:extLst>
              </p:cNvPr>
              <p:cNvSpPr>
                <a:spLocks noRot="1" noChangeAspect="1" noMove="1" noResize="1" noEditPoints="1" noAdjustHandles="1" noChangeArrowheads="1" noChangeShapeType="1" noTextEdit="1"/>
              </p:cNvSpPr>
              <p:nvPr/>
            </p:nvSpPr>
            <p:spPr>
              <a:xfrm>
                <a:off x="11094788" y="2840879"/>
                <a:ext cx="493981" cy="369332"/>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3" name="矩形 82">
                <a:extLst>
                  <a:ext uri="{FF2B5EF4-FFF2-40B4-BE49-F238E27FC236}">
                    <a16:creationId xmlns:a16="http://schemas.microsoft.com/office/drawing/2014/main" id="{16F4F77D-D3A1-5743-BFFA-E6FC87C6882B}"/>
                  </a:ext>
                </a:extLst>
              </p:cNvPr>
              <p:cNvSpPr/>
              <p:nvPr/>
            </p:nvSpPr>
            <p:spPr>
              <a:xfrm>
                <a:off x="11097450" y="4501714"/>
                <a:ext cx="488659"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i="1">
                              <a:solidFill>
                                <a:schemeClr val="tx1">
                                  <a:lumMod val="75000"/>
                                  <a:lumOff val="25000"/>
                                </a:schemeClr>
                              </a:solidFill>
                              <a:latin typeface="Cambria Math" panose="02040503050406030204" pitchFamily="18" charset="0"/>
                              <a:ea typeface="微软雅黑" pitchFamily="34" charset="-122"/>
                            </a:rPr>
                            <m:t>𝑑</m:t>
                          </m:r>
                        </m:e>
                        <m:sub>
                          <m:r>
                            <a:rPr lang="en-US" altLang="zh-CN" b="0" i="1" smtClean="0">
                              <a:solidFill>
                                <a:schemeClr val="tx1">
                                  <a:lumMod val="75000"/>
                                  <a:lumOff val="25000"/>
                                </a:schemeClr>
                              </a:solidFill>
                              <a:latin typeface="Cambria Math" panose="02040503050406030204" pitchFamily="18" charset="0"/>
                              <a:ea typeface="微软雅黑" pitchFamily="34" charset="-122"/>
                            </a:rPr>
                            <m:t>1</m:t>
                          </m:r>
                        </m:sub>
                      </m:sSub>
                    </m:oMath>
                  </m:oMathPara>
                </a14:m>
                <a:endParaRPr lang="zh-CN" altLang="en-US" dirty="0">
                  <a:latin typeface="Microsoft YaHei" panose="020B0503020204020204" pitchFamily="34" charset="-122"/>
                  <a:ea typeface="Microsoft YaHei" panose="020B0503020204020204" pitchFamily="34" charset="-122"/>
                </a:endParaRPr>
              </a:p>
            </p:txBody>
          </p:sp>
        </mc:Choice>
        <mc:Fallback xmlns="">
          <p:sp>
            <p:nvSpPr>
              <p:cNvPr id="83" name="矩形 82">
                <a:extLst>
                  <a:ext uri="{FF2B5EF4-FFF2-40B4-BE49-F238E27FC236}">
                    <a16:creationId xmlns:a16="http://schemas.microsoft.com/office/drawing/2014/main" id="{16F4F77D-D3A1-5743-BFFA-E6FC87C6882B}"/>
                  </a:ext>
                </a:extLst>
              </p:cNvPr>
              <p:cNvSpPr>
                <a:spLocks noRot="1" noChangeAspect="1" noMove="1" noResize="1" noEditPoints="1" noAdjustHandles="1" noChangeArrowheads="1" noChangeShapeType="1" noTextEdit="1"/>
              </p:cNvSpPr>
              <p:nvPr/>
            </p:nvSpPr>
            <p:spPr>
              <a:xfrm>
                <a:off x="11097450" y="4501714"/>
                <a:ext cx="488659" cy="36933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4" name="矩形 83">
                <a:extLst>
                  <a:ext uri="{FF2B5EF4-FFF2-40B4-BE49-F238E27FC236}">
                    <a16:creationId xmlns:a16="http://schemas.microsoft.com/office/drawing/2014/main" id="{3247F52E-AA83-E940-901D-9A7E02B1AF3D}"/>
                  </a:ext>
                </a:extLst>
              </p:cNvPr>
              <p:cNvSpPr/>
              <p:nvPr/>
            </p:nvSpPr>
            <p:spPr>
              <a:xfrm>
                <a:off x="11102019" y="6005912"/>
                <a:ext cx="493981"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i="1">
                              <a:solidFill>
                                <a:schemeClr val="tx1">
                                  <a:lumMod val="75000"/>
                                  <a:lumOff val="25000"/>
                                </a:schemeClr>
                              </a:solidFill>
                              <a:latin typeface="Cambria Math" panose="02040503050406030204" pitchFamily="18" charset="0"/>
                              <a:ea typeface="微软雅黑" pitchFamily="34" charset="-122"/>
                            </a:rPr>
                            <m:t>𝑑</m:t>
                          </m:r>
                        </m:e>
                        <m:sub>
                          <m:r>
                            <a:rPr lang="en-US" altLang="zh-CN" b="0" i="1" smtClean="0">
                              <a:solidFill>
                                <a:schemeClr val="tx1">
                                  <a:lumMod val="75000"/>
                                  <a:lumOff val="25000"/>
                                </a:schemeClr>
                              </a:solidFill>
                              <a:latin typeface="Cambria Math" panose="02040503050406030204" pitchFamily="18" charset="0"/>
                              <a:ea typeface="微软雅黑" pitchFamily="34" charset="-122"/>
                            </a:rPr>
                            <m:t>2</m:t>
                          </m:r>
                        </m:sub>
                      </m:sSub>
                    </m:oMath>
                  </m:oMathPara>
                </a14:m>
                <a:endParaRPr lang="zh-CN" altLang="en-US" dirty="0">
                  <a:latin typeface="Microsoft YaHei" panose="020B0503020204020204" pitchFamily="34" charset="-122"/>
                  <a:ea typeface="Microsoft YaHei" panose="020B0503020204020204" pitchFamily="34" charset="-122"/>
                </a:endParaRPr>
              </a:p>
            </p:txBody>
          </p:sp>
        </mc:Choice>
        <mc:Fallback xmlns="">
          <p:sp>
            <p:nvSpPr>
              <p:cNvPr id="84" name="矩形 83">
                <a:extLst>
                  <a:ext uri="{FF2B5EF4-FFF2-40B4-BE49-F238E27FC236}">
                    <a16:creationId xmlns:a16="http://schemas.microsoft.com/office/drawing/2014/main" id="{3247F52E-AA83-E940-901D-9A7E02B1AF3D}"/>
                  </a:ext>
                </a:extLst>
              </p:cNvPr>
              <p:cNvSpPr>
                <a:spLocks noRot="1" noChangeAspect="1" noMove="1" noResize="1" noEditPoints="1" noAdjustHandles="1" noChangeArrowheads="1" noChangeShapeType="1" noTextEdit="1"/>
              </p:cNvSpPr>
              <p:nvPr/>
            </p:nvSpPr>
            <p:spPr>
              <a:xfrm>
                <a:off x="11102019" y="6005912"/>
                <a:ext cx="493981" cy="369332"/>
              </a:xfrm>
              <a:prstGeom prst="rect">
                <a:avLst/>
              </a:prstGeom>
              <a:blipFill>
                <a:blip r:embed="rId5"/>
                <a:stretch>
                  <a:fillRect/>
                </a:stretch>
              </a:blipFill>
            </p:spPr>
            <p:txBody>
              <a:bodyPr/>
              <a:lstStyle/>
              <a:p>
                <a:r>
                  <a:rPr lang="zh-CN" altLang="en-US">
                    <a:noFill/>
                  </a:rPr>
                  <a:t> </a:t>
                </a:r>
              </a:p>
            </p:txBody>
          </p:sp>
        </mc:Fallback>
      </mc:AlternateContent>
      <p:grpSp>
        <p:nvGrpSpPr>
          <p:cNvPr id="85" name="组合 84">
            <a:extLst>
              <a:ext uri="{FF2B5EF4-FFF2-40B4-BE49-F238E27FC236}">
                <a16:creationId xmlns:a16="http://schemas.microsoft.com/office/drawing/2014/main" id="{ECC61EB6-B8B5-184B-8E63-6648BE5892C8}"/>
              </a:ext>
            </a:extLst>
          </p:cNvPr>
          <p:cNvGrpSpPr/>
          <p:nvPr/>
        </p:nvGrpSpPr>
        <p:grpSpPr>
          <a:xfrm>
            <a:off x="7576737" y="3666827"/>
            <a:ext cx="954107" cy="1198562"/>
            <a:chOff x="5970826" y="3177765"/>
            <a:chExt cx="954107" cy="1198562"/>
          </a:xfrm>
        </p:grpSpPr>
        <p:pic>
          <p:nvPicPr>
            <p:cNvPr id="86" name="图片 85">
              <a:extLst>
                <a:ext uri="{FF2B5EF4-FFF2-40B4-BE49-F238E27FC236}">
                  <a16:creationId xmlns:a16="http://schemas.microsoft.com/office/drawing/2014/main" id="{B3D116C5-18C2-D043-B308-19801B2CBBB5}"/>
                </a:ext>
              </a:extLst>
            </p:cNvPr>
            <p:cNvPicPr>
              <a:picLocks noChangeAspect="1"/>
            </p:cNvPicPr>
            <p:nvPr/>
          </p:nvPicPr>
          <p:blipFill>
            <a:blip r:embed="rId9"/>
            <a:stretch>
              <a:fillRect/>
            </a:stretch>
          </p:blipFill>
          <p:spPr>
            <a:xfrm>
              <a:off x="6135819" y="3177765"/>
              <a:ext cx="586364" cy="798452"/>
            </a:xfrm>
            <a:prstGeom prst="rect">
              <a:avLst/>
            </a:prstGeom>
          </p:spPr>
        </p:pic>
        <p:sp>
          <p:nvSpPr>
            <p:cNvPr id="87" name="矩形 86">
              <a:extLst>
                <a:ext uri="{FF2B5EF4-FFF2-40B4-BE49-F238E27FC236}">
                  <a16:creationId xmlns:a16="http://schemas.microsoft.com/office/drawing/2014/main" id="{1AF6CED5-D658-5B46-A2E1-A2C88D4213E5}"/>
                </a:ext>
              </a:extLst>
            </p:cNvPr>
            <p:cNvSpPr/>
            <p:nvPr/>
          </p:nvSpPr>
          <p:spPr>
            <a:xfrm>
              <a:off x="5970826" y="3976217"/>
              <a:ext cx="954107" cy="400110"/>
            </a:xfrm>
            <a:prstGeom prst="rect">
              <a:avLst/>
            </a:prstGeom>
          </p:spPr>
          <p:txBody>
            <a:bodyPr wrap="none">
              <a:spAutoFit/>
            </a:bodyPr>
            <a:lstStyle/>
            <a:p>
              <a:pPr algn="ctr"/>
              <a:r>
                <a:rPr lang="zh-CN" altLang="en-US" sz="2000" dirty="0">
                  <a:latin typeface="Microsoft YaHei" panose="020B0503020204020204" pitchFamily="34" charset="-122"/>
                  <a:ea typeface="Microsoft YaHei" panose="020B0503020204020204" pitchFamily="34" charset="-122"/>
                </a:rPr>
                <a:t>協調者</a:t>
              </a:r>
            </a:p>
          </p:txBody>
        </p:sp>
      </p:grpSp>
      <p:sp>
        <p:nvSpPr>
          <p:cNvPr id="35" name="矩形 34">
            <a:extLst>
              <a:ext uri="{FF2B5EF4-FFF2-40B4-BE49-F238E27FC236}">
                <a16:creationId xmlns:a16="http://schemas.microsoft.com/office/drawing/2014/main" id="{961C4303-5CC5-484B-B6C8-C97DA7F41710}"/>
              </a:ext>
            </a:extLst>
          </p:cNvPr>
          <p:cNvSpPr/>
          <p:nvPr/>
        </p:nvSpPr>
        <p:spPr>
          <a:xfrm>
            <a:off x="814449" y="1095587"/>
            <a:ext cx="10975474" cy="511807"/>
          </a:xfrm>
          <a:prstGeom prst="rect">
            <a:avLst/>
          </a:prstGeom>
          <a:ln>
            <a:noFill/>
          </a:ln>
        </p:spPr>
        <p:txBody>
          <a:bodyPr wrap="square">
            <a:spAutoFit/>
          </a:bodyPr>
          <a:lstStyle/>
          <a:p>
            <a:pPr marL="0" lvl="1" algn="ctr" fontAlgn="base">
              <a:lnSpc>
                <a:spcPts val="3600"/>
              </a:lnSpc>
              <a:spcBef>
                <a:spcPct val="20000"/>
              </a:spcBef>
              <a:spcAft>
                <a:spcPct val="0"/>
              </a:spcAft>
              <a:buSzPct val="100000"/>
            </a:pPr>
            <a:r>
              <a:rPr lang="zh-CN" altLang="en-US" sz="2400" b="1" dirty="0">
                <a:solidFill>
                  <a:srgbClr val="C00000"/>
                </a:solidFill>
                <a:latin typeface="Microsoft YaHei" panose="020B0503020204020204" pitchFamily="34" charset="-122"/>
                <a:ea typeface="Microsoft YaHei" panose="020B0503020204020204" pitchFamily="34" charset="-122"/>
              </a:rPr>
              <a:t>假設：狀態</a:t>
            </a:r>
            <a:r>
              <a:rPr lang="en-US" altLang="zh-CN" sz="2400" b="1" dirty="0">
                <a:solidFill>
                  <a:srgbClr val="C00000"/>
                </a:solidFill>
                <a:latin typeface="Microsoft YaHei" panose="020B0503020204020204" pitchFamily="34" charset="-122"/>
                <a:ea typeface="Microsoft YaHei" panose="020B0503020204020204" pitchFamily="34" charset="-122"/>
              </a:rPr>
              <a:t>A</a:t>
            </a:r>
            <a:r>
              <a:rPr lang="zh-CN" altLang="en-US" sz="2400" b="1" dirty="0">
                <a:solidFill>
                  <a:srgbClr val="C00000"/>
                </a:solidFill>
                <a:latin typeface="Microsoft YaHei" panose="020B0503020204020204" pitchFamily="34" charset="-122"/>
                <a:ea typeface="Microsoft YaHei" panose="020B0503020204020204" pitchFamily="34" charset="-122"/>
              </a:rPr>
              <a:t>在三個數據庫冗餘存儲，存在一個協調者引導二階段提交的執行</a:t>
            </a:r>
            <a:endParaRPr lang="en-US" altLang="zh-CN" sz="2400" b="1" dirty="0">
              <a:solidFill>
                <a:srgbClr val="C00000"/>
              </a:solidFill>
              <a:latin typeface="Microsoft YaHei" panose="020B0503020204020204" pitchFamily="34" charset="-122"/>
              <a:ea typeface="Microsoft YaHei" panose="020B0503020204020204" pitchFamily="34" charset="-122"/>
            </a:endParaRPr>
          </a:p>
        </p:txBody>
      </p:sp>
      <p:sp>
        <p:nvSpPr>
          <p:cNvPr id="33" name="灯片编号占位符 2">
            <a:extLst>
              <a:ext uri="{FF2B5EF4-FFF2-40B4-BE49-F238E27FC236}">
                <a16:creationId xmlns:a16="http://schemas.microsoft.com/office/drawing/2014/main" id="{7402910A-4EC7-AF4B-A259-9419BE75C17A}"/>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54</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17859705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normAutofit/>
          </a:bodyPr>
          <a:lstStyle/>
          <a:p>
            <a:r>
              <a:rPr kumimoji="1" lang="zh-CN" altLang="en-US" dirty="0"/>
              <a:t>討論</a:t>
            </a:r>
          </a:p>
        </p:txBody>
      </p:sp>
      <p:sp>
        <p:nvSpPr>
          <p:cNvPr id="10" name="矩形 9">
            <a:extLst>
              <a:ext uri="{FF2B5EF4-FFF2-40B4-BE49-F238E27FC236}">
                <a16:creationId xmlns:a16="http://schemas.microsoft.com/office/drawing/2014/main" id="{9435525A-F25C-4C19-B8E4-283882EBC144}"/>
              </a:ext>
            </a:extLst>
          </p:cNvPr>
          <p:cNvSpPr>
            <a:spLocks/>
          </p:cNvSpPr>
          <p:nvPr/>
        </p:nvSpPr>
        <p:spPr bwMode="auto">
          <a:xfrm>
            <a:off x="928177" y="2667521"/>
            <a:ext cx="10529713" cy="1532520"/>
          </a:xfrm>
          <a:prstGeom prst="rect">
            <a:avLst/>
          </a:prstGeom>
          <a:solidFill>
            <a:srgbClr val="00B0F0"/>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defRPr/>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11" name="文本框 10">
            <a:extLst>
              <a:ext uri="{FF2B5EF4-FFF2-40B4-BE49-F238E27FC236}">
                <a16:creationId xmlns:a16="http://schemas.microsoft.com/office/drawing/2014/main" id="{E0445F0A-236A-44F7-9310-00FDDC70CEDB}"/>
              </a:ext>
            </a:extLst>
          </p:cNvPr>
          <p:cNvSpPr txBox="1"/>
          <p:nvPr/>
        </p:nvSpPr>
        <p:spPr>
          <a:xfrm>
            <a:off x="1407116" y="3145461"/>
            <a:ext cx="9670943" cy="633187"/>
          </a:xfrm>
          <a:prstGeom prst="rect">
            <a:avLst/>
          </a:prstGeom>
          <a:noFill/>
        </p:spPr>
        <p:txBody>
          <a:bodyPr wrap="square" rtlCol="0">
            <a:spAutoFit/>
          </a:bodyPr>
          <a:lstStyle/>
          <a:p>
            <a:pPr algn="ctr">
              <a:lnSpc>
                <a:spcPct val="120000"/>
              </a:lnSpc>
              <a:spcAft>
                <a:spcPts val="600"/>
              </a:spcAft>
            </a:pPr>
            <a:r>
              <a:rPr lang="zh-CN" altLang="en-US" sz="3200" b="1" dirty="0">
                <a:solidFill>
                  <a:schemeClr val="bg1"/>
                </a:solidFill>
                <a:latin typeface="Microsoft YaHei" panose="020B0503020204020204" pitchFamily="34" charset="-122"/>
                <a:ea typeface="Microsoft YaHei" panose="020B0503020204020204" pitchFamily="34" charset="-122"/>
              </a:rPr>
              <a:t>在兩階段提交過程中出現故障怎麽辦？</a:t>
            </a:r>
            <a:endParaRPr lang="en-US" altLang="zh-CN" sz="3200" b="1" dirty="0">
              <a:solidFill>
                <a:schemeClr val="bg1"/>
              </a:solidFill>
              <a:latin typeface="Microsoft YaHei" panose="020B0503020204020204" pitchFamily="34" charset="-122"/>
              <a:ea typeface="Microsoft YaHei" panose="020B0503020204020204" pitchFamily="34" charset="-122"/>
            </a:endParaRPr>
          </a:p>
        </p:txBody>
      </p:sp>
      <p:sp>
        <p:nvSpPr>
          <p:cNvPr id="5" name="灯片编号占位符 2">
            <a:extLst>
              <a:ext uri="{FF2B5EF4-FFF2-40B4-BE49-F238E27FC236}">
                <a16:creationId xmlns:a16="http://schemas.microsoft.com/office/drawing/2014/main" id="{C9FDEDED-7E65-0B40-A27B-9A7AA2016B27}"/>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55</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0074010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solidFill>
                  <a:srgbClr val="C00000"/>
                </a:solidFill>
              </a:rPr>
              <a:t>數據庫節點故障</a:t>
            </a:r>
          </a:p>
        </p:txBody>
      </p:sp>
      <p:sp>
        <p:nvSpPr>
          <p:cNvPr id="70" name="矩形 69">
            <a:extLst>
              <a:ext uri="{FF2B5EF4-FFF2-40B4-BE49-F238E27FC236}">
                <a16:creationId xmlns:a16="http://schemas.microsoft.com/office/drawing/2014/main" id="{D121EA16-E7CB-B541-BB91-5F2D43E478BD}"/>
              </a:ext>
            </a:extLst>
          </p:cNvPr>
          <p:cNvSpPr/>
          <p:nvPr/>
        </p:nvSpPr>
        <p:spPr>
          <a:xfrm>
            <a:off x="814449" y="1095587"/>
            <a:ext cx="10975474" cy="511807"/>
          </a:xfrm>
          <a:prstGeom prst="rect">
            <a:avLst/>
          </a:prstGeom>
          <a:ln>
            <a:noFill/>
          </a:ln>
        </p:spPr>
        <p:txBody>
          <a:bodyPr wrap="square">
            <a:spAutoFit/>
          </a:bodyPr>
          <a:lstStyle/>
          <a:p>
            <a:pPr marL="0" lvl="1" algn="ctr" fontAlgn="base">
              <a:lnSpc>
                <a:spcPts val="3600"/>
              </a:lnSpc>
              <a:spcBef>
                <a:spcPts val="1176"/>
              </a:spcBef>
              <a:spcAft>
                <a:spcPts val="1200"/>
              </a:spcAft>
              <a:buSzPct val="100000"/>
            </a:pPr>
            <a:r>
              <a:rPr lang="zh-CN" altLang="en-US" sz="2400" b="1" dirty="0">
                <a:solidFill>
                  <a:srgbClr val="C00000"/>
                </a:solidFill>
                <a:latin typeface="Microsoft YaHei" panose="020B0503020204020204" pitchFamily="34" charset="-122"/>
                <a:ea typeface="Microsoft YaHei" panose="020B0503020204020204" pitchFamily="34" charset="-122"/>
              </a:rPr>
              <a:t>存在一個協調者和三個存儲相同狀態變量</a:t>
            </a:r>
            <a:r>
              <a:rPr lang="en-US" altLang="zh-CN" sz="2400" b="1" dirty="0">
                <a:solidFill>
                  <a:srgbClr val="C00000"/>
                </a:solidFill>
                <a:latin typeface="Microsoft YaHei" panose="020B0503020204020204" pitchFamily="34" charset="-122"/>
                <a:ea typeface="Microsoft YaHei" panose="020B0503020204020204" pitchFamily="34" charset="-122"/>
              </a:rPr>
              <a:t>A</a:t>
            </a:r>
            <a:r>
              <a:rPr lang="zh-CN" altLang="en-US" sz="2400" b="1" dirty="0">
                <a:solidFill>
                  <a:srgbClr val="C00000"/>
                </a:solidFill>
                <a:latin typeface="Microsoft YaHei" panose="020B0503020204020204" pitchFamily="34" charset="-122"/>
                <a:ea typeface="Microsoft YaHei" panose="020B0503020204020204" pitchFamily="34" charset="-122"/>
              </a:rPr>
              <a:t>的數據庫，其中一個數據庫出現故障</a:t>
            </a:r>
            <a:endParaRPr lang="en-US" altLang="zh-CN" sz="2400" b="1" dirty="0">
              <a:solidFill>
                <a:srgbClr val="C00000"/>
              </a:solidFill>
              <a:latin typeface="Microsoft YaHei" panose="020B0503020204020204" pitchFamily="34" charset="-122"/>
              <a:ea typeface="Microsoft YaHei" panose="020B0503020204020204" pitchFamily="34" charset="-122"/>
            </a:endParaRPr>
          </a:p>
        </p:txBody>
      </p:sp>
      <p:grpSp>
        <p:nvGrpSpPr>
          <p:cNvPr id="28" name="组合 27">
            <a:extLst>
              <a:ext uri="{FF2B5EF4-FFF2-40B4-BE49-F238E27FC236}">
                <a16:creationId xmlns:a16="http://schemas.microsoft.com/office/drawing/2014/main" id="{57EC8210-B9C0-A64C-AE88-22DFF41F74E7}"/>
              </a:ext>
            </a:extLst>
          </p:cNvPr>
          <p:cNvGrpSpPr/>
          <p:nvPr/>
        </p:nvGrpSpPr>
        <p:grpSpPr>
          <a:xfrm>
            <a:off x="6073102" y="2032265"/>
            <a:ext cx="5927451" cy="4472613"/>
            <a:chOff x="972070" y="2325428"/>
            <a:chExt cx="5927451" cy="4472613"/>
          </a:xfrm>
        </p:grpSpPr>
        <p:grpSp>
          <p:nvGrpSpPr>
            <p:cNvPr id="4" name="组合 3">
              <a:extLst>
                <a:ext uri="{FF2B5EF4-FFF2-40B4-BE49-F238E27FC236}">
                  <a16:creationId xmlns:a16="http://schemas.microsoft.com/office/drawing/2014/main" id="{87AB0068-20E4-764E-8358-65CB14ADB834}"/>
                </a:ext>
              </a:extLst>
            </p:cNvPr>
            <p:cNvGrpSpPr/>
            <p:nvPr/>
          </p:nvGrpSpPr>
          <p:grpSpPr>
            <a:xfrm>
              <a:off x="3601941" y="2325428"/>
              <a:ext cx="800615" cy="1134570"/>
              <a:chOff x="6032014" y="2303088"/>
              <a:chExt cx="800615" cy="1134570"/>
            </a:xfrm>
          </p:grpSpPr>
          <p:pic>
            <p:nvPicPr>
              <p:cNvPr id="9" name="图形 8">
                <a:extLst>
                  <a:ext uri="{FF2B5EF4-FFF2-40B4-BE49-F238E27FC236}">
                    <a16:creationId xmlns:a16="http://schemas.microsoft.com/office/drawing/2014/main" id="{04020EDD-D955-644B-BE45-6E369F66BEC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32014" y="2303088"/>
                <a:ext cx="800615" cy="800615"/>
              </a:xfrm>
              <a:prstGeom prst="rect">
                <a:avLst/>
              </a:prstGeom>
            </p:spPr>
          </p:pic>
          <mc:AlternateContent xmlns:mc="http://schemas.openxmlformats.org/markup-compatibility/2006" xmlns:a14="http://schemas.microsoft.com/office/drawing/2010/main">
            <mc:Choice Requires="a14">
              <p:sp>
                <p:nvSpPr>
                  <p:cNvPr id="42" name="矩形 41">
                    <a:extLst>
                      <a:ext uri="{FF2B5EF4-FFF2-40B4-BE49-F238E27FC236}">
                        <a16:creationId xmlns:a16="http://schemas.microsoft.com/office/drawing/2014/main" id="{E56F72C0-4C71-9847-B2F6-EA4F9EA2F8A9}"/>
                      </a:ext>
                    </a:extLst>
                  </p:cNvPr>
                  <p:cNvSpPr/>
                  <p:nvPr/>
                </p:nvSpPr>
                <p:spPr>
                  <a:xfrm>
                    <a:off x="6206281" y="3068326"/>
                    <a:ext cx="493981"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b="0" i="1" smtClean="0">
                                  <a:solidFill>
                                    <a:schemeClr val="tx1">
                                      <a:lumMod val="75000"/>
                                      <a:lumOff val="25000"/>
                                    </a:schemeClr>
                                  </a:solidFill>
                                  <a:latin typeface="Cambria Math" panose="02040503050406030204" pitchFamily="18" charset="0"/>
                                  <a:ea typeface="微软雅黑" pitchFamily="34" charset="-122"/>
                                </a:rPr>
                                <m:t>𝑑</m:t>
                              </m:r>
                            </m:e>
                            <m:sub>
                              <m:r>
                                <a:rPr lang="en-US" altLang="zh-CN" i="1">
                                  <a:solidFill>
                                    <a:schemeClr val="tx1">
                                      <a:lumMod val="75000"/>
                                      <a:lumOff val="25000"/>
                                    </a:schemeClr>
                                  </a:solidFill>
                                  <a:latin typeface="Cambria Math" panose="02040503050406030204" pitchFamily="18" charset="0"/>
                                  <a:ea typeface="微软雅黑" pitchFamily="34" charset="-122"/>
                                </a:rPr>
                                <m:t>0</m:t>
                              </m:r>
                            </m:sub>
                          </m:sSub>
                        </m:oMath>
                      </m:oMathPara>
                    </a14:m>
                    <a:endParaRPr lang="zh-CN" altLang="en-US" dirty="0">
                      <a:latin typeface="Microsoft YaHei" panose="020B0503020204020204" pitchFamily="34" charset="-122"/>
                      <a:ea typeface="Microsoft YaHei" panose="020B0503020204020204" pitchFamily="34" charset="-122"/>
                    </a:endParaRPr>
                  </a:p>
                </p:txBody>
              </p:sp>
            </mc:Choice>
            <mc:Fallback xmlns="">
              <p:sp>
                <p:nvSpPr>
                  <p:cNvPr id="42" name="矩形 41">
                    <a:extLst>
                      <a:ext uri="{FF2B5EF4-FFF2-40B4-BE49-F238E27FC236}">
                        <a16:creationId xmlns:a16="http://schemas.microsoft.com/office/drawing/2014/main" id="{E56F72C0-4C71-9847-B2F6-EA4F9EA2F8A9}"/>
                      </a:ext>
                    </a:extLst>
                  </p:cNvPr>
                  <p:cNvSpPr>
                    <a:spLocks noRot="1" noChangeAspect="1" noMove="1" noResize="1" noEditPoints="1" noAdjustHandles="1" noChangeArrowheads="1" noChangeShapeType="1" noTextEdit="1"/>
                  </p:cNvSpPr>
                  <p:nvPr/>
                </p:nvSpPr>
                <p:spPr>
                  <a:xfrm>
                    <a:off x="6206281" y="3068326"/>
                    <a:ext cx="493981" cy="369332"/>
                  </a:xfrm>
                  <a:prstGeom prst="rect">
                    <a:avLst/>
                  </a:prstGeom>
                  <a:blipFill>
                    <a:blip r:embed="rId5"/>
                    <a:stretch>
                      <a:fillRect/>
                    </a:stretch>
                  </a:blipFill>
                </p:spPr>
                <p:txBody>
                  <a:bodyPr/>
                  <a:lstStyle/>
                  <a:p>
                    <a:r>
                      <a:rPr lang="zh-CN" altLang="en-US">
                        <a:noFill/>
                      </a:rPr>
                      <a:t> </a:t>
                    </a:r>
                  </a:p>
                </p:txBody>
              </p:sp>
            </mc:Fallback>
          </mc:AlternateContent>
        </p:grpSp>
        <p:grpSp>
          <p:nvGrpSpPr>
            <p:cNvPr id="6" name="组合 5">
              <a:extLst>
                <a:ext uri="{FF2B5EF4-FFF2-40B4-BE49-F238E27FC236}">
                  <a16:creationId xmlns:a16="http://schemas.microsoft.com/office/drawing/2014/main" id="{9B18695D-DCFA-D242-B65D-D3D061E58ABC}"/>
                </a:ext>
              </a:extLst>
            </p:cNvPr>
            <p:cNvGrpSpPr/>
            <p:nvPr/>
          </p:nvGrpSpPr>
          <p:grpSpPr>
            <a:xfrm>
              <a:off x="3601941" y="4009441"/>
              <a:ext cx="800615" cy="1125510"/>
              <a:chOff x="10780474" y="3207745"/>
              <a:chExt cx="800615" cy="1125510"/>
            </a:xfrm>
          </p:grpSpPr>
          <p:pic>
            <p:nvPicPr>
              <p:cNvPr id="10" name="图形 9">
                <a:extLst>
                  <a:ext uri="{FF2B5EF4-FFF2-40B4-BE49-F238E27FC236}">
                    <a16:creationId xmlns:a16="http://schemas.microsoft.com/office/drawing/2014/main" id="{4E4E5E6D-CA4E-A748-8CA1-4EBF391806C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80474" y="3207745"/>
                <a:ext cx="800615" cy="800615"/>
              </a:xfrm>
              <a:prstGeom prst="rect">
                <a:avLst/>
              </a:prstGeom>
            </p:spPr>
          </p:pic>
          <mc:AlternateContent xmlns:mc="http://schemas.openxmlformats.org/markup-compatibility/2006" xmlns:a14="http://schemas.microsoft.com/office/drawing/2010/main">
            <mc:Choice Requires="a14">
              <p:sp>
                <p:nvSpPr>
                  <p:cNvPr id="44" name="矩形 43">
                    <a:extLst>
                      <a:ext uri="{FF2B5EF4-FFF2-40B4-BE49-F238E27FC236}">
                        <a16:creationId xmlns:a16="http://schemas.microsoft.com/office/drawing/2014/main" id="{3E67CA08-4B69-1349-ACE8-35B85DD96928}"/>
                      </a:ext>
                    </a:extLst>
                  </p:cNvPr>
                  <p:cNvSpPr/>
                  <p:nvPr/>
                </p:nvSpPr>
                <p:spPr>
                  <a:xfrm>
                    <a:off x="10967033" y="3963923"/>
                    <a:ext cx="488659"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i="1">
                                  <a:solidFill>
                                    <a:schemeClr val="tx1">
                                      <a:lumMod val="75000"/>
                                      <a:lumOff val="25000"/>
                                    </a:schemeClr>
                                  </a:solidFill>
                                  <a:latin typeface="Cambria Math" panose="02040503050406030204" pitchFamily="18" charset="0"/>
                                  <a:ea typeface="微软雅黑" pitchFamily="34" charset="-122"/>
                                </a:rPr>
                                <m:t>𝑑</m:t>
                              </m:r>
                            </m:e>
                            <m:sub>
                              <m:r>
                                <a:rPr lang="en-US" altLang="zh-CN" b="0" i="1" smtClean="0">
                                  <a:solidFill>
                                    <a:schemeClr val="tx1">
                                      <a:lumMod val="75000"/>
                                      <a:lumOff val="25000"/>
                                    </a:schemeClr>
                                  </a:solidFill>
                                  <a:latin typeface="Cambria Math" panose="02040503050406030204" pitchFamily="18" charset="0"/>
                                  <a:ea typeface="微软雅黑" pitchFamily="34" charset="-122"/>
                                </a:rPr>
                                <m:t>1</m:t>
                              </m:r>
                            </m:sub>
                          </m:sSub>
                        </m:oMath>
                      </m:oMathPara>
                    </a14:m>
                    <a:endParaRPr lang="zh-CN" altLang="en-US" dirty="0">
                      <a:latin typeface="Microsoft YaHei" panose="020B0503020204020204" pitchFamily="34" charset="-122"/>
                      <a:ea typeface="Microsoft YaHei" panose="020B0503020204020204" pitchFamily="34" charset="-122"/>
                    </a:endParaRPr>
                  </a:p>
                </p:txBody>
              </p:sp>
            </mc:Choice>
            <mc:Fallback xmlns="">
              <p:sp>
                <p:nvSpPr>
                  <p:cNvPr id="44" name="矩形 43">
                    <a:extLst>
                      <a:ext uri="{FF2B5EF4-FFF2-40B4-BE49-F238E27FC236}">
                        <a16:creationId xmlns:a16="http://schemas.microsoft.com/office/drawing/2014/main" id="{3E67CA08-4B69-1349-ACE8-35B85DD96928}"/>
                      </a:ext>
                    </a:extLst>
                  </p:cNvPr>
                  <p:cNvSpPr>
                    <a:spLocks noRot="1" noChangeAspect="1" noMove="1" noResize="1" noEditPoints="1" noAdjustHandles="1" noChangeArrowheads="1" noChangeShapeType="1" noTextEdit="1"/>
                  </p:cNvSpPr>
                  <p:nvPr/>
                </p:nvSpPr>
                <p:spPr>
                  <a:xfrm>
                    <a:off x="10967033" y="3963923"/>
                    <a:ext cx="488659" cy="369332"/>
                  </a:xfrm>
                  <a:prstGeom prst="rect">
                    <a:avLst/>
                  </a:prstGeom>
                  <a:blipFill>
                    <a:blip r:embed="rId6"/>
                    <a:stretch>
                      <a:fillRect/>
                    </a:stretch>
                  </a:blipFill>
                </p:spPr>
                <p:txBody>
                  <a:bodyPr/>
                  <a:lstStyle/>
                  <a:p>
                    <a:r>
                      <a:rPr lang="zh-CN" altLang="en-US">
                        <a:noFill/>
                      </a:rPr>
                      <a:t> </a:t>
                    </a:r>
                  </a:p>
                </p:txBody>
              </p:sp>
            </mc:Fallback>
          </mc:AlternateContent>
        </p:grpSp>
        <p:grpSp>
          <p:nvGrpSpPr>
            <p:cNvPr id="8" name="组合 7">
              <a:extLst>
                <a:ext uri="{FF2B5EF4-FFF2-40B4-BE49-F238E27FC236}">
                  <a16:creationId xmlns:a16="http://schemas.microsoft.com/office/drawing/2014/main" id="{D47E4A12-C401-194D-9A1B-DCF52621C9DC}"/>
                </a:ext>
              </a:extLst>
            </p:cNvPr>
            <p:cNvGrpSpPr/>
            <p:nvPr/>
          </p:nvGrpSpPr>
          <p:grpSpPr>
            <a:xfrm>
              <a:off x="3602305" y="5669103"/>
              <a:ext cx="800615" cy="1128938"/>
              <a:chOff x="10773307" y="4708515"/>
              <a:chExt cx="800615" cy="1128938"/>
            </a:xfrm>
          </p:grpSpPr>
          <p:pic>
            <p:nvPicPr>
              <p:cNvPr id="11" name="图形 10">
                <a:extLst>
                  <a:ext uri="{FF2B5EF4-FFF2-40B4-BE49-F238E27FC236}">
                    <a16:creationId xmlns:a16="http://schemas.microsoft.com/office/drawing/2014/main" id="{301951E3-30A6-E240-A2A1-E630C901F1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73307" y="4708515"/>
                <a:ext cx="800615" cy="800615"/>
              </a:xfrm>
              <a:prstGeom prst="rect">
                <a:avLst/>
              </a:prstGeom>
            </p:spPr>
          </p:pic>
          <mc:AlternateContent xmlns:mc="http://schemas.openxmlformats.org/markup-compatibility/2006" xmlns:a14="http://schemas.microsoft.com/office/drawing/2010/main">
            <mc:Choice Requires="a14">
              <p:sp>
                <p:nvSpPr>
                  <p:cNvPr id="45" name="矩形 44">
                    <a:extLst>
                      <a:ext uri="{FF2B5EF4-FFF2-40B4-BE49-F238E27FC236}">
                        <a16:creationId xmlns:a16="http://schemas.microsoft.com/office/drawing/2014/main" id="{0202182E-CD95-5649-9A3D-3A80AB4B3E9D}"/>
                      </a:ext>
                    </a:extLst>
                  </p:cNvPr>
                  <p:cNvSpPr/>
                  <p:nvPr/>
                </p:nvSpPr>
                <p:spPr>
                  <a:xfrm>
                    <a:off x="10971602" y="5468121"/>
                    <a:ext cx="493981"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i="1">
                                  <a:solidFill>
                                    <a:schemeClr val="tx1">
                                      <a:lumMod val="75000"/>
                                      <a:lumOff val="25000"/>
                                    </a:schemeClr>
                                  </a:solidFill>
                                  <a:latin typeface="Cambria Math" panose="02040503050406030204" pitchFamily="18" charset="0"/>
                                  <a:ea typeface="微软雅黑" pitchFamily="34" charset="-122"/>
                                </a:rPr>
                                <m:t>𝑑</m:t>
                              </m:r>
                            </m:e>
                            <m:sub>
                              <m:r>
                                <a:rPr lang="en-US" altLang="zh-CN" b="0" i="1" smtClean="0">
                                  <a:solidFill>
                                    <a:schemeClr val="tx1">
                                      <a:lumMod val="75000"/>
                                      <a:lumOff val="25000"/>
                                    </a:schemeClr>
                                  </a:solidFill>
                                  <a:latin typeface="Cambria Math" panose="02040503050406030204" pitchFamily="18" charset="0"/>
                                  <a:ea typeface="微软雅黑" pitchFamily="34" charset="-122"/>
                                </a:rPr>
                                <m:t>2</m:t>
                              </m:r>
                            </m:sub>
                          </m:sSub>
                        </m:oMath>
                      </m:oMathPara>
                    </a14:m>
                    <a:endParaRPr lang="zh-CN" altLang="en-US" dirty="0">
                      <a:latin typeface="Microsoft YaHei" panose="020B0503020204020204" pitchFamily="34" charset="-122"/>
                      <a:ea typeface="Microsoft YaHei" panose="020B0503020204020204" pitchFamily="34" charset="-122"/>
                    </a:endParaRPr>
                  </a:p>
                </p:txBody>
              </p:sp>
            </mc:Choice>
            <mc:Fallback xmlns="">
              <p:sp>
                <p:nvSpPr>
                  <p:cNvPr id="45" name="矩形 44">
                    <a:extLst>
                      <a:ext uri="{FF2B5EF4-FFF2-40B4-BE49-F238E27FC236}">
                        <a16:creationId xmlns:a16="http://schemas.microsoft.com/office/drawing/2014/main" id="{0202182E-CD95-5649-9A3D-3A80AB4B3E9D}"/>
                      </a:ext>
                    </a:extLst>
                  </p:cNvPr>
                  <p:cNvSpPr>
                    <a:spLocks noRot="1" noChangeAspect="1" noMove="1" noResize="1" noEditPoints="1" noAdjustHandles="1" noChangeArrowheads="1" noChangeShapeType="1" noTextEdit="1"/>
                  </p:cNvSpPr>
                  <p:nvPr/>
                </p:nvSpPr>
                <p:spPr>
                  <a:xfrm>
                    <a:off x="10971602" y="5468121"/>
                    <a:ext cx="493981" cy="369332"/>
                  </a:xfrm>
                  <a:prstGeom prst="rect">
                    <a:avLst/>
                  </a:prstGeom>
                  <a:blipFill>
                    <a:blip r:embed="rId7"/>
                    <a:stretch>
                      <a:fillRect/>
                    </a:stretch>
                  </a:blipFill>
                </p:spPr>
                <p:txBody>
                  <a:bodyPr/>
                  <a:lstStyle/>
                  <a:p>
                    <a:r>
                      <a:rPr lang="zh-CN" altLang="en-US">
                        <a:noFill/>
                      </a:rPr>
                      <a:t> </a:t>
                    </a:r>
                  </a:p>
                </p:txBody>
              </p:sp>
            </mc:Fallback>
          </mc:AlternateContent>
        </p:grpSp>
        <p:grpSp>
          <p:nvGrpSpPr>
            <p:cNvPr id="48" name="组合 47">
              <a:extLst>
                <a:ext uri="{FF2B5EF4-FFF2-40B4-BE49-F238E27FC236}">
                  <a16:creationId xmlns:a16="http://schemas.microsoft.com/office/drawing/2014/main" id="{05C56959-3A7B-0F48-AE50-487339A02F0D}"/>
                </a:ext>
              </a:extLst>
            </p:cNvPr>
            <p:cNvGrpSpPr/>
            <p:nvPr/>
          </p:nvGrpSpPr>
          <p:grpSpPr>
            <a:xfrm>
              <a:off x="972070" y="4026417"/>
              <a:ext cx="954107" cy="1198562"/>
              <a:chOff x="5970826" y="3177765"/>
              <a:chExt cx="954107" cy="1198562"/>
            </a:xfrm>
          </p:grpSpPr>
          <p:pic>
            <p:nvPicPr>
              <p:cNvPr id="49" name="图片 48">
                <a:extLst>
                  <a:ext uri="{FF2B5EF4-FFF2-40B4-BE49-F238E27FC236}">
                    <a16:creationId xmlns:a16="http://schemas.microsoft.com/office/drawing/2014/main" id="{B3E7209F-2118-7B4D-BCF0-9DFE4B35756F}"/>
                  </a:ext>
                </a:extLst>
              </p:cNvPr>
              <p:cNvPicPr>
                <a:picLocks noChangeAspect="1"/>
              </p:cNvPicPr>
              <p:nvPr/>
            </p:nvPicPr>
            <p:blipFill>
              <a:blip r:embed="rId8"/>
              <a:stretch>
                <a:fillRect/>
              </a:stretch>
            </p:blipFill>
            <p:spPr>
              <a:xfrm>
                <a:off x="6135819" y="3177765"/>
                <a:ext cx="586364" cy="798452"/>
              </a:xfrm>
              <a:prstGeom prst="rect">
                <a:avLst/>
              </a:prstGeom>
            </p:spPr>
          </p:pic>
          <p:sp>
            <p:nvSpPr>
              <p:cNvPr id="51" name="矩形 50">
                <a:extLst>
                  <a:ext uri="{FF2B5EF4-FFF2-40B4-BE49-F238E27FC236}">
                    <a16:creationId xmlns:a16="http://schemas.microsoft.com/office/drawing/2014/main" id="{E338D5B0-2C22-FC44-9368-E21346403C11}"/>
                  </a:ext>
                </a:extLst>
              </p:cNvPr>
              <p:cNvSpPr/>
              <p:nvPr/>
            </p:nvSpPr>
            <p:spPr>
              <a:xfrm>
                <a:off x="5970826" y="3976217"/>
                <a:ext cx="954107" cy="400110"/>
              </a:xfrm>
              <a:prstGeom prst="rect">
                <a:avLst/>
              </a:prstGeom>
            </p:spPr>
            <p:txBody>
              <a:bodyPr wrap="none">
                <a:spAutoFit/>
              </a:bodyPr>
              <a:lstStyle/>
              <a:p>
                <a:pPr algn="ctr"/>
                <a:r>
                  <a:rPr lang="zh-CN" altLang="en-US" sz="2000" dirty="0">
                    <a:latin typeface="Microsoft YaHei" panose="020B0503020204020204" pitchFamily="34" charset="-122"/>
                    <a:ea typeface="Microsoft YaHei" panose="020B0503020204020204" pitchFamily="34" charset="-122"/>
                  </a:rPr>
                  <a:t>協調者</a:t>
                </a:r>
              </a:p>
            </p:txBody>
          </p:sp>
        </p:grpSp>
        <p:cxnSp>
          <p:nvCxnSpPr>
            <p:cNvPr id="63" name="直线箭头连接符 62">
              <a:extLst>
                <a:ext uri="{FF2B5EF4-FFF2-40B4-BE49-F238E27FC236}">
                  <a16:creationId xmlns:a16="http://schemas.microsoft.com/office/drawing/2014/main" id="{056C4622-C3D9-7E4B-AC60-290A109A9AB7}"/>
                </a:ext>
              </a:extLst>
            </p:cNvPr>
            <p:cNvCxnSpPr>
              <a:cxnSpLocks/>
              <a:stCxn id="9" idx="1"/>
              <a:endCxn id="49" idx="3"/>
            </p:cNvCxnSpPr>
            <p:nvPr/>
          </p:nvCxnSpPr>
          <p:spPr>
            <a:xfrm flipH="1">
              <a:off x="1723427" y="2725736"/>
              <a:ext cx="1878514" cy="1699907"/>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sp>
          <p:nvSpPr>
            <p:cNvPr id="36" name="AutoShape 41">
              <a:extLst>
                <a:ext uri="{FF2B5EF4-FFF2-40B4-BE49-F238E27FC236}">
                  <a16:creationId xmlns:a16="http://schemas.microsoft.com/office/drawing/2014/main" id="{183C9FC3-A17B-8B45-8A5D-21C155621A9E}"/>
                </a:ext>
              </a:extLst>
            </p:cNvPr>
            <p:cNvSpPr>
              <a:spLocks noChangeArrowheads="1"/>
            </p:cNvSpPr>
            <p:nvPr/>
          </p:nvSpPr>
          <p:spPr bwMode="auto">
            <a:xfrm>
              <a:off x="3693019" y="5767930"/>
              <a:ext cx="597663" cy="670402"/>
            </a:xfrm>
            <a:prstGeom prst="lightningBolt">
              <a:avLst/>
            </a:prstGeom>
            <a:solidFill>
              <a:srgbClr val="9900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endParaRPr lang="zh-CN" altLang="en-US"/>
            </a:p>
          </p:txBody>
        </p:sp>
        <p:cxnSp>
          <p:nvCxnSpPr>
            <p:cNvPr id="43" name="直线箭头连接符 42">
              <a:extLst>
                <a:ext uri="{FF2B5EF4-FFF2-40B4-BE49-F238E27FC236}">
                  <a16:creationId xmlns:a16="http://schemas.microsoft.com/office/drawing/2014/main" id="{EFFEBB19-2D10-7D4C-932A-FEBB87337114}"/>
                </a:ext>
              </a:extLst>
            </p:cNvPr>
            <p:cNvCxnSpPr>
              <a:cxnSpLocks/>
              <a:stCxn id="10" idx="1"/>
              <a:endCxn id="49" idx="3"/>
            </p:cNvCxnSpPr>
            <p:nvPr/>
          </p:nvCxnSpPr>
          <p:spPr>
            <a:xfrm flipH="1">
              <a:off x="1723427" y="4409749"/>
              <a:ext cx="1878514" cy="15894"/>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46" name="直线箭头连接符 45">
              <a:extLst>
                <a:ext uri="{FF2B5EF4-FFF2-40B4-BE49-F238E27FC236}">
                  <a16:creationId xmlns:a16="http://schemas.microsoft.com/office/drawing/2014/main" id="{7650C90B-1754-0048-B4CA-D5C158F315FE}"/>
                </a:ext>
              </a:extLst>
            </p:cNvPr>
            <p:cNvCxnSpPr>
              <a:cxnSpLocks/>
              <a:stCxn id="11" idx="1"/>
              <a:endCxn id="49" idx="3"/>
            </p:cNvCxnSpPr>
            <p:nvPr/>
          </p:nvCxnSpPr>
          <p:spPr>
            <a:xfrm flipH="1" flipV="1">
              <a:off x="1723427" y="4425643"/>
              <a:ext cx="1878878" cy="1643768"/>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sp>
          <p:nvSpPr>
            <p:cNvPr id="50" name="矩形 49">
              <a:extLst>
                <a:ext uri="{FF2B5EF4-FFF2-40B4-BE49-F238E27FC236}">
                  <a16:creationId xmlns:a16="http://schemas.microsoft.com/office/drawing/2014/main" id="{64C5356C-612A-D848-8F52-742B5462F87D}"/>
                </a:ext>
              </a:extLst>
            </p:cNvPr>
            <p:cNvSpPr/>
            <p:nvPr/>
          </p:nvSpPr>
          <p:spPr>
            <a:xfrm>
              <a:off x="1866894" y="4056311"/>
              <a:ext cx="1938054" cy="369332"/>
            </a:xfrm>
            <a:prstGeom prst="rect">
              <a:avLst/>
            </a:prstGeom>
          </p:spPr>
          <p:txBody>
            <a:bodyPr wrap="square">
              <a:spAutoFit/>
            </a:bodyPr>
            <a:lstStyle/>
            <a:p>
              <a:pPr algn="ct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Can</a:t>
              </a: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 </a:t>
              </a: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commit?</a:t>
              </a:r>
            </a:p>
          </p:txBody>
        </p:sp>
        <p:sp>
          <p:nvSpPr>
            <p:cNvPr id="54" name="矩形 53">
              <a:extLst>
                <a:ext uri="{FF2B5EF4-FFF2-40B4-BE49-F238E27FC236}">
                  <a16:creationId xmlns:a16="http://schemas.microsoft.com/office/drawing/2014/main" id="{63C23FD2-E42E-9740-BFAA-B287D0FC707F}"/>
                </a:ext>
              </a:extLst>
            </p:cNvPr>
            <p:cNvSpPr/>
            <p:nvPr/>
          </p:nvSpPr>
          <p:spPr>
            <a:xfrm rot="19061872">
              <a:off x="1618755" y="3206473"/>
              <a:ext cx="1938054" cy="369332"/>
            </a:xfrm>
            <a:prstGeom prst="rect">
              <a:avLst/>
            </a:prstGeom>
          </p:spPr>
          <p:txBody>
            <a:bodyPr wrap="square">
              <a:spAutoFit/>
            </a:bodyPr>
            <a:lstStyle/>
            <a:p>
              <a:pPr algn="ct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Can</a:t>
              </a: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 </a:t>
              </a: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commit?</a:t>
              </a:r>
            </a:p>
          </p:txBody>
        </p:sp>
        <p:sp>
          <p:nvSpPr>
            <p:cNvPr id="55" name="矩形 54">
              <a:extLst>
                <a:ext uri="{FF2B5EF4-FFF2-40B4-BE49-F238E27FC236}">
                  <a16:creationId xmlns:a16="http://schemas.microsoft.com/office/drawing/2014/main" id="{67D5D88E-8F70-FD48-A94B-C77A161F2192}"/>
                </a:ext>
              </a:extLst>
            </p:cNvPr>
            <p:cNvSpPr/>
            <p:nvPr/>
          </p:nvSpPr>
          <p:spPr>
            <a:xfrm rot="2516082">
              <a:off x="1862837" y="4909712"/>
              <a:ext cx="1938054" cy="369332"/>
            </a:xfrm>
            <a:prstGeom prst="rect">
              <a:avLst/>
            </a:prstGeom>
          </p:spPr>
          <p:txBody>
            <a:bodyPr wrap="square">
              <a:spAutoFit/>
            </a:bodyPr>
            <a:lstStyle/>
            <a:p>
              <a:pPr algn="ct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Can</a:t>
              </a:r>
              <a:r>
                <a:rPr lang="zh-CN" altLang="en-US" dirty="0">
                  <a:solidFill>
                    <a:schemeClr val="tx1">
                      <a:lumMod val="75000"/>
                      <a:lumOff val="25000"/>
                    </a:schemeClr>
                  </a:solidFill>
                  <a:latin typeface="Microsoft YaHei" panose="020B0503020204020204" pitchFamily="34" charset="-122"/>
                  <a:ea typeface="Microsoft YaHei" panose="020B0503020204020204" pitchFamily="34" charset="-122"/>
                </a:rPr>
                <a:t> </a:t>
              </a: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commit?</a:t>
              </a:r>
            </a:p>
          </p:txBody>
        </p:sp>
        <p:grpSp>
          <p:nvGrpSpPr>
            <p:cNvPr id="56" name="组合 55">
              <a:extLst>
                <a:ext uri="{FF2B5EF4-FFF2-40B4-BE49-F238E27FC236}">
                  <a16:creationId xmlns:a16="http://schemas.microsoft.com/office/drawing/2014/main" id="{020288DE-4C79-4F48-8AF3-FE2968988737}"/>
                </a:ext>
              </a:extLst>
            </p:cNvPr>
            <p:cNvGrpSpPr/>
            <p:nvPr/>
          </p:nvGrpSpPr>
          <p:grpSpPr>
            <a:xfrm>
              <a:off x="5945414" y="4030726"/>
              <a:ext cx="954107" cy="1198562"/>
              <a:chOff x="5970826" y="3177765"/>
              <a:chExt cx="954107" cy="1198562"/>
            </a:xfrm>
          </p:grpSpPr>
          <p:pic>
            <p:nvPicPr>
              <p:cNvPr id="57" name="图片 56">
                <a:extLst>
                  <a:ext uri="{FF2B5EF4-FFF2-40B4-BE49-F238E27FC236}">
                    <a16:creationId xmlns:a16="http://schemas.microsoft.com/office/drawing/2014/main" id="{A500D870-25F8-304C-B34C-61F82AD41213}"/>
                  </a:ext>
                </a:extLst>
              </p:cNvPr>
              <p:cNvPicPr>
                <a:picLocks noChangeAspect="1"/>
              </p:cNvPicPr>
              <p:nvPr/>
            </p:nvPicPr>
            <p:blipFill>
              <a:blip r:embed="rId8"/>
              <a:stretch>
                <a:fillRect/>
              </a:stretch>
            </p:blipFill>
            <p:spPr>
              <a:xfrm>
                <a:off x="6135819" y="3177765"/>
                <a:ext cx="586364" cy="798452"/>
              </a:xfrm>
              <a:prstGeom prst="rect">
                <a:avLst/>
              </a:prstGeom>
            </p:spPr>
          </p:pic>
          <p:sp>
            <p:nvSpPr>
              <p:cNvPr id="58" name="矩形 57">
                <a:extLst>
                  <a:ext uri="{FF2B5EF4-FFF2-40B4-BE49-F238E27FC236}">
                    <a16:creationId xmlns:a16="http://schemas.microsoft.com/office/drawing/2014/main" id="{C5A72D0A-747B-424F-AE74-0411AFE13C53}"/>
                  </a:ext>
                </a:extLst>
              </p:cNvPr>
              <p:cNvSpPr/>
              <p:nvPr/>
            </p:nvSpPr>
            <p:spPr>
              <a:xfrm>
                <a:off x="5970826" y="3976217"/>
                <a:ext cx="954107" cy="400110"/>
              </a:xfrm>
              <a:prstGeom prst="rect">
                <a:avLst/>
              </a:prstGeom>
            </p:spPr>
            <p:txBody>
              <a:bodyPr wrap="none">
                <a:spAutoFit/>
              </a:bodyPr>
              <a:lstStyle/>
              <a:p>
                <a:pPr algn="ctr"/>
                <a:r>
                  <a:rPr lang="zh-CN" altLang="en-US" sz="2000" dirty="0">
                    <a:latin typeface="Microsoft YaHei" panose="020B0503020204020204" pitchFamily="34" charset="-122"/>
                    <a:ea typeface="Microsoft YaHei" panose="020B0503020204020204" pitchFamily="34" charset="-122"/>
                  </a:rPr>
                  <a:t>協調者</a:t>
                </a:r>
              </a:p>
            </p:txBody>
          </p:sp>
        </p:grpSp>
        <p:cxnSp>
          <p:nvCxnSpPr>
            <p:cNvPr id="59" name="直线箭头连接符 58">
              <a:extLst>
                <a:ext uri="{FF2B5EF4-FFF2-40B4-BE49-F238E27FC236}">
                  <a16:creationId xmlns:a16="http://schemas.microsoft.com/office/drawing/2014/main" id="{564DC818-A8FC-484F-B4D9-1B75CE6EA1B9}"/>
                </a:ext>
              </a:extLst>
            </p:cNvPr>
            <p:cNvCxnSpPr>
              <a:cxnSpLocks/>
              <a:stCxn id="57" idx="1"/>
              <a:endCxn id="9" idx="3"/>
            </p:cNvCxnSpPr>
            <p:nvPr/>
          </p:nvCxnSpPr>
          <p:spPr>
            <a:xfrm flipH="1" flipV="1">
              <a:off x="4402556" y="2725736"/>
              <a:ext cx="1707851" cy="1704216"/>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60" name="直线箭头连接符 59">
              <a:extLst>
                <a:ext uri="{FF2B5EF4-FFF2-40B4-BE49-F238E27FC236}">
                  <a16:creationId xmlns:a16="http://schemas.microsoft.com/office/drawing/2014/main" id="{1AA011A9-3566-B340-A15B-AB0E9954C421}"/>
                </a:ext>
              </a:extLst>
            </p:cNvPr>
            <p:cNvCxnSpPr>
              <a:cxnSpLocks/>
              <a:stCxn id="57" idx="1"/>
              <a:endCxn id="10" idx="3"/>
            </p:cNvCxnSpPr>
            <p:nvPr/>
          </p:nvCxnSpPr>
          <p:spPr>
            <a:xfrm flipH="1" flipV="1">
              <a:off x="4402556" y="4409749"/>
              <a:ext cx="1707851" cy="20203"/>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62" name="直线箭头连接符 61">
              <a:extLst>
                <a:ext uri="{FF2B5EF4-FFF2-40B4-BE49-F238E27FC236}">
                  <a16:creationId xmlns:a16="http://schemas.microsoft.com/office/drawing/2014/main" id="{954BB548-FD1C-6F4E-9C9F-189432185E9E}"/>
                </a:ext>
              </a:extLst>
            </p:cNvPr>
            <p:cNvCxnSpPr>
              <a:cxnSpLocks/>
              <a:stCxn id="57" idx="1"/>
              <a:endCxn id="11" idx="3"/>
            </p:cNvCxnSpPr>
            <p:nvPr/>
          </p:nvCxnSpPr>
          <p:spPr>
            <a:xfrm flipH="1">
              <a:off x="4402920" y="4429952"/>
              <a:ext cx="1707487" cy="1639459"/>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sp>
          <p:nvSpPr>
            <p:cNvPr id="65" name="矩形 64">
              <a:extLst>
                <a:ext uri="{FF2B5EF4-FFF2-40B4-BE49-F238E27FC236}">
                  <a16:creationId xmlns:a16="http://schemas.microsoft.com/office/drawing/2014/main" id="{CF04E46F-1F95-8A41-99A9-606A73A76441}"/>
                </a:ext>
              </a:extLst>
            </p:cNvPr>
            <p:cNvSpPr/>
            <p:nvPr/>
          </p:nvSpPr>
          <p:spPr>
            <a:xfrm>
              <a:off x="4234602" y="4056311"/>
              <a:ext cx="1938054" cy="369332"/>
            </a:xfrm>
            <a:prstGeom prst="rect">
              <a:avLst/>
            </a:prstGeom>
          </p:spPr>
          <p:txBody>
            <a:bodyPr wrap="square">
              <a:spAutoFit/>
            </a:bodyPr>
            <a:lstStyle/>
            <a:p>
              <a:pPr algn="ct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Yes</a:t>
              </a:r>
            </a:p>
          </p:txBody>
        </p:sp>
        <p:sp>
          <p:nvSpPr>
            <p:cNvPr id="66" name="矩形 65">
              <a:extLst>
                <a:ext uri="{FF2B5EF4-FFF2-40B4-BE49-F238E27FC236}">
                  <a16:creationId xmlns:a16="http://schemas.microsoft.com/office/drawing/2014/main" id="{6DE8A30D-8DA6-9049-855D-CFBF842A3D74}"/>
                </a:ext>
              </a:extLst>
            </p:cNvPr>
            <p:cNvSpPr/>
            <p:nvPr/>
          </p:nvSpPr>
          <p:spPr>
            <a:xfrm rot="2765746">
              <a:off x="4418920" y="3174967"/>
              <a:ext cx="1938054" cy="369332"/>
            </a:xfrm>
            <a:prstGeom prst="rect">
              <a:avLst/>
            </a:prstGeom>
          </p:spPr>
          <p:txBody>
            <a:bodyPr wrap="square">
              <a:spAutoFit/>
            </a:bodyPr>
            <a:lstStyle/>
            <a:p>
              <a:pPr algn="ct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Yes</a:t>
              </a:r>
            </a:p>
          </p:txBody>
        </p:sp>
      </p:grpSp>
      <mc:AlternateContent xmlns:mc="http://schemas.openxmlformats.org/markup-compatibility/2006">
        <mc:Choice xmlns:a14="http://schemas.microsoft.com/office/drawing/2010/main" Requires="a14">
          <p:sp>
            <p:nvSpPr>
              <p:cNvPr id="29" name="矩形 28">
                <a:extLst>
                  <a:ext uri="{FF2B5EF4-FFF2-40B4-BE49-F238E27FC236}">
                    <a16:creationId xmlns:a16="http://schemas.microsoft.com/office/drawing/2014/main" id="{8ECB1435-0F26-0F46-AAF8-CB7CCD4DC9A1}"/>
                  </a:ext>
                </a:extLst>
              </p:cNvPr>
              <p:cNvSpPr/>
              <p:nvPr/>
            </p:nvSpPr>
            <p:spPr>
              <a:xfrm>
                <a:off x="565658" y="1898349"/>
                <a:ext cx="5320791" cy="4436471"/>
              </a:xfrm>
              <a:prstGeom prst="rect">
                <a:avLst/>
              </a:prstGeom>
              <a:ln>
                <a:solidFill>
                  <a:srgbClr val="00B0F0"/>
                </a:solidFill>
              </a:ln>
            </p:spPr>
            <p:txBody>
              <a:bodyPr wrap="square">
                <a:spAutoFit/>
              </a:bodyPr>
              <a:lstStyle/>
              <a:p>
                <a:pPr marL="342900" lvl="1" indent="-342900" algn="just" fontAlgn="base">
                  <a:lnSpc>
                    <a:spcPts val="40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執行步驟</a:t>
                </a:r>
                <a:endPar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a:p>
                <a:pPr marL="684000" lvl="1" indent="-342900" algn="just" fontAlgn="base">
                  <a:lnSpc>
                    <a:spcPts val="40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協調者向三個數據庫詢問是否可以提交一個更改</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A</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值的事務</a:t>
                </a:r>
                <a:endPar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a:p>
                <a:pPr marL="684000" lvl="1" indent="-342900" algn="just" fontAlgn="base">
                  <a:lnSpc>
                    <a:spcPts val="40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數據庫</a:t>
                </a:r>
                <a14:m>
                  <m:oMath xmlns:m="http://schemas.openxmlformats.org/officeDocument/2006/math">
                    <m:sSub>
                      <m:sSubPr>
                        <m:ctrlPr>
                          <a:rPr lang="en-US" altLang="zh-CN" sz="2400" i="1">
                            <a:solidFill>
                              <a:schemeClr val="tx1">
                                <a:lumMod val="75000"/>
                                <a:lumOff val="25000"/>
                              </a:schemeClr>
                            </a:solidFill>
                            <a:latin typeface="Cambria Math" panose="02040503050406030204" pitchFamily="18" charset="0"/>
                            <a:ea typeface="微软雅黑" pitchFamily="34" charset="-122"/>
                          </a:rPr>
                        </m:ctrlPr>
                      </m:sSubPr>
                      <m:e>
                        <m:r>
                          <a:rPr lang="en-US" altLang="zh-CN" sz="2400" i="1">
                            <a:solidFill>
                              <a:schemeClr val="tx1">
                                <a:lumMod val="75000"/>
                                <a:lumOff val="25000"/>
                              </a:schemeClr>
                            </a:solidFill>
                            <a:latin typeface="Cambria Math" panose="02040503050406030204" pitchFamily="18" charset="0"/>
                            <a:ea typeface="微软雅黑" pitchFamily="34" charset="-122"/>
                          </a:rPr>
                          <m:t>𝑑</m:t>
                        </m:r>
                      </m:e>
                      <m:sub>
                        <m:r>
                          <a:rPr lang="en-US" altLang="zh-CN" sz="2400" i="1">
                            <a:solidFill>
                              <a:schemeClr val="tx1">
                                <a:lumMod val="75000"/>
                                <a:lumOff val="25000"/>
                              </a:schemeClr>
                            </a:solidFill>
                            <a:latin typeface="Cambria Math" panose="02040503050406030204" pitchFamily="18" charset="0"/>
                            <a:ea typeface="微软雅黑" pitchFamily="34" charset="-122"/>
                          </a:rPr>
                          <m:t>0</m:t>
                        </m:r>
                      </m:sub>
                    </m:sSub>
                  </m:oMath>
                </a14:m>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和</a:t>
                </a:r>
                <a14:m>
                  <m:oMath xmlns:m="http://schemas.openxmlformats.org/officeDocument/2006/math">
                    <m:sSub>
                      <m:sSubPr>
                        <m:ctrlPr>
                          <a:rPr lang="en-US" altLang="zh-CN" sz="2400" i="1">
                            <a:solidFill>
                              <a:schemeClr val="tx1">
                                <a:lumMod val="75000"/>
                                <a:lumOff val="25000"/>
                              </a:schemeClr>
                            </a:solidFill>
                            <a:latin typeface="Cambria Math" panose="02040503050406030204" pitchFamily="18" charset="0"/>
                            <a:ea typeface="微软雅黑" pitchFamily="34" charset="-122"/>
                          </a:rPr>
                        </m:ctrlPr>
                      </m:sSubPr>
                      <m:e>
                        <m:r>
                          <a:rPr lang="en-US" altLang="zh-CN" sz="2400" i="1">
                            <a:solidFill>
                              <a:schemeClr val="tx1">
                                <a:lumMod val="75000"/>
                                <a:lumOff val="25000"/>
                              </a:schemeClr>
                            </a:solidFill>
                            <a:latin typeface="Cambria Math" panose="02040503050406030204" pitchFamily="18" charset="0"/>
                            <a:ea typeface="微软雅黑" pitchFamily="34" charset="-122"/>
                          </a:rPr>
                          <m:t>𝑑</m:t>
                        </m:r>
                      </m:e>
                      <m:sub>
                        <m:r>
                          <a:rPr lang="en-US" altLang="zh-CN" sz="2400" b="0" i="1" smtClean="0">
                            <a:solidFill>
                              <a:schemeClr val="tx1">
                                <a:lumMod val="75000"/>
                                <a:lumOff val="25000"/>
                              </a:schemeClr>
                            </a:solidFill>
                            <a:latin typeface="Cambria Math" panose="02040503050406030204" pitchFamily="18" charset="0"/>
                            <a:ea typeface="微软雅黑" pitchFamily="34" charset="-122"/>
                          </a:rPr>
                          <m:t>1</m:t>
                        </m:r>
                      </m:sub>
                    </m:sSub>
                  </m:oMath>
                </a14:m>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向協調者返回</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Yes</a:t>
                </a:r>
              </a:p>
              <a:p>
                <a:pPr marL="684000" lvl="1" indent="-342900" algn="just" fontAlgn="base">
                  <a:lnSpc>
                    <a:spcPts val="40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數據庫</a:t>
                </a:r>
                <a14:m>
                  <m:oMath xmlns:m="http://schemas.openxmlformats.org/officeDocument/2006/math">
                    <m:sSub>
                      <m:sSubPr>
                        <m:ctrlPr>
                          <a:rPr lang="en-US" altLang="zh-CN" sz="2400" i="1">
                            <a:solidFill>
                              <a:schemeClr val="tx1">
                                <a:lumMod val="75000"/>
                                <a:lumOff val="25000"/>
                              </a:schemeClr>
                            </a:solidFill>
                            <a:latin typeface="Cambria Math" panose="02040503050406030204" pitchFamily="18" charset="0"/>
                            <a:ea typeface="微软雅黑" pitchFamily="34" charset="-122"/>
                          </a:rPr>
                        </m:ctrlPr>
                      </m:sSubPr>
                      <m:e>
                        <m:r>
                          <a:rPr lang="en-US" altLang="zh-CN" sz="2400" i="1">
                            <a:solidFill>
                              <a:schemeClr val="tx1">
                                <a:lumMod val="75000"/>
                                <a:lumOff val="25000"/>
                              </a:schemeClr>
                            </a:solidFill>
                            <a:latin typeface="Cambria Math" panose="02040503050406030204" pitchFamily="18" charset="0"/>
                            <a:ea typeface="微软雅黑" pitchFamily="34" charset="-122"/>
                          </a:rPr>
                          <m:t>𝑑</m:t>
                        </m:r>
                      </m:e>
                      <m:sub>
                        <m:r>
                          <a:rPr lang="en-US" altLang="zh-CN" sz="2400" b="0" i="1" smtClean="0">
                            <a:solidFill>
                              <a:schemeClr val="tx1">
                                <a:lumMod val="75000"/>
                                <a:lumOff val="25000"/>
                              </a:schemeClr>
                            </a:solidFill>
                            <a:latin typeface="Cambria Math" panose="02040503050406030204" pitchFamily="18" charset="0"/>
                            <a:ea typeface="微软雅黑" pitchFamily="34" charset="-122"/>
                          </a:rPr>
                          <m:t>2</m:t>
                        </m:r>
                      </m:sub>
                    </m:sSub>
                  </m:oMath>
                </a14:m>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出現故障，沒有反應</a:t>
                </a:r>
                <a:endPar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a:p>
                <a:pPr marL="684000" lvl="1" indent="-342900" algn="just" fontAlgn="base">
                  <a:lnSpc>
                    <a:spcPts val="40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協調者無法收到足够的</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Yes</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，陷入無限等待，或者采用計時機制，超時後通知所有節點停止提交</a:t>
                </a:r>
                <a:endPar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mc:Choice>
        <mc:Fallback>
          <p:sp>
            <p:nvSpPr>
              <p:cNvPr id="29" name="矩形 28">
                <a:extLst>
                  <a:ext uri="{FF2B5EF4-FFF2-40B4-BE49-F238E27FC236}">
                    <a16:creationId xmlns:a16="http://schemas.microsoft.com/office/drawing/2014/main" id="{8ECB1435-0F26-0F46-AAF8-CB7CCD4DC9A1}"/>
                  </a:ext>
                </a:extLst>
              </p:cNvPr>
              <p:cNvSpPr>
                <a:spLocks noRot="1" noChangeAspect="1" noMove="1" noResize="1" noEditPoints="1" noAdjustHandles="1" noChangeArrowheads="1" noChangeShapeType="1" noTextEdit="1"/>
              </p:cNvSpPr>
              <p:nvPr/>
            </p:nvSpPr>
            <p:spPr>
              <a:xfrm>
                <a:off x="565658" y="1898349"/>
                <a:ext cx="5320791" cy="4436471"/>
              </a:xfrm>
              <a:prstGeom prst="rect">
                <a:avLst/>
              </a:prstGeom>
              <a:blipFill>
                <a:blip r:embed="rId9"/>
                <a:stretch>
                  <a:fillRect l="-1486" r="-1600" b="-2055"/>
                </a:stretch>
              </a:blipFill>
              <a:ln>
                <a:solidFill>
                  <a:srgbClr val="00B0F0"/>
                </a:solidFill>
              </a:ln>
            </p:spPr>
            <p:txBody>
              <a:bodyPr/>
              <a:lstStyle/>
              <a:p>
                <a:r>
                  <a:rPr lang="fr-FR">
                    <a:noFill/>
                  </a:rPr>
                  <a:t> </a:t>
                </a:r>
              </a:p>
            </p:txBody>
          </p:sp>
        </mc:Fallback>
      </mc:AlternateContent>
      <p:sp>
        <p:nvSpPr>
          <p:cNvPr id="34" name="灯片编号占位符 2">
            <a:extLst>
              <a:ext uri="{FF2B5EF4-FFF2-40B4-BE49-F238E27FC236}">
                <a16:creationId xmlns:a16="http://schemas.microsoft.com/office/drawing/2014/main" id="{8D7442F9-BEE7-BA4A-8804-583D1EEE56EF}"/>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56</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34891195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solidFill>
                  <a:srgbClr val="C00000"/>
                </a:solidFill>
              </a:rPr>
              <a:t>協調者故障</a:t>
            </a:r>
          </a:p>
        </p:txBody>
      </p:sp>
      <p:grpSp>
        <p:nvGrpSpPr>
          <p:cNvPr id="36" name="组合 35">
            <a:extLst>
              <a:ext uri="{FF2B5EF4-FFF2-40B4-BE49-F238E27FC236}">
                <a16:creationId xmlns:a16="http://schemas.microsoft.com/office/drawing/2014/main" id="{6ECD9398-62DB-F04E-8361-7AE9670589B4}"/>
              </a:ext>
            </a:extLst>
          </p:cNvPr>
          <p:cNvGrpSpPr/>
          <p:nvPr/>
        </p:nvGrpSpPr>
        <p:grpSpPr>
          <a:xfrm>
            <a:off x="6054999" y="2096462"/>
            <a:ext cx="5927451" cy="4472613"/>
            <a:chOff x="972070" y="2325428"/>
            <a:chExt cx="5927451" cy="4472613"/>
          </a:xfrm>
        </p:grpSpPr>
        <p:grpSp>
          <p:nvGrpSpPr>
            <p:cNvPr id="37" name="组合 36">
              <a:extLst>
                <a:ext uri="{FF2B5EF4-FFF2-40B4-BE49-F238E27FC236}">
                  <a16:creationId xmlns:a16="http://schemas.microsoft.com/office/drawing/2014/main" id="{59F28C74-80B7-0E46-8272-9EA71A3A2084}"/>
                </a:ext>
              </a:extLst>
            </p:cNvPr>
            <p:cNvGrpSpPr/>
            <p:nvPr/>
          </p:nvGrpSpPr>
          <p:grpSpPr>
            <a:xfrm>
              <a:off x="3601941" y="2325428"/>
              <a:ext cx="800615" cy="1134570"/>
              <a:chOff x="6032014" y="2303088"/>
              <a:chExt cx="800615" cy="1134570"/>
            </a:xfrm>
          </p:grpSpPr>
          <p:pic>
            <p:nvPicPr>
              <p:cNvPr id="81" name="图形 80">
                <a:extLst>
                  <a:ext uri="{FF2B5EF4-FFF2-40B4-BE49-F238E27FC236}">
                    <a16:creationId xmlns:a16="http://schemas.microsoft.com/office/drawing/2014/main" id="{5A7DEE3F-6A08-DA48-AC41-27569515FEE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32014" y="2303088"/>
                <a:ext cx="800615" cy="800615"/>
              </a:xfrm>
              <a:prstGeom prst="rect">
                <a:avLst/>
              </a:prstGeom>
            </p:spPr>
          </p:pic>
          <mc:AlternateContent xmlns:mc="http://schemas.openxmlformats.org/markup-compatibility/2006" xmlns:a14="http://schemas.microsoft.com/office/drawing/2010/main">
            <mc:Choice Requires="a14">
              <p:sp>
                <p:nvSpPr>
                  <p:cNvPr id="82" name="矩形 81">
                    <a:extLst>
                      <a:ext uri="{FF2B5EF4-FFF2-40B4-BE49-F238E27FC236}">
                        <a16:creationId xmlns:a16="http://schemas.microsoft.com/office/drawing/2014/main" id="{384348F8-89CA-C64B-87AF-BD1908D7BBCD}"/>
                      </a:ext>
                    </a:extLst>
                  </p:cNvPr>
                  <p:cNvSpPr/>
                  <p:nvPr/>
                </p:nvSpPr>
                <p:spPr>
                  <a:xfrm>
                    <a:off x="6206281" y="3068326"/>
                    <a:ext cx="493981"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b="0" i="1" smtClean="0">
                                  <a:solidFill>
                                    <a:schemeClr val="tx1">
                                      <a:lumMod val="75000"/>
                                      <a:lumOff val="25000"/>
                                    </a:schemeClr>
                                  </a:solidFill>
                                  <a:latin typeface="Cambria Math" panose="02040503050406030204" pitchFamily="18" charset="0"/>
                                  <a:ea typeface="微软雅黑" pitchFamily="34" charset="-122"/>
                                </a:rPr>
                                <m:t>𝑑</m:t>
                              </m:r>
                            </m:e>
                            <m:sub>
                              <m:r>
                                <a:rPr lang="en-US" altLang="zh-CN" i="1">
                                  <a:solidFill>
                                    <a:schemeClr val="tx1">
                                      <a:lumMod val="75000"/>
                                      <a:lumOff val="25000"/>
                                    </a:schemeClr>
                                  </a:solidFill>
                                  <a:latin typeface="Cambria Math" panose="02040503050406030204" pitchFamily="18" charset="0"/>
                                  <a:ea typeface="微软雅黑" pitchFamily="34" charset="-122"/>
                                </a:rPr>
                                <m:t>0</m:t>
                              </m:r>
                            </m:sub>
                          </m:sSub>
                        </m:oMath>
                      </m:oMathPara>
                    </a14:m>
                    <a:endParaRPr lang="zh-CN" altLang="en-US" dirty="0">
                      <a:latin typeface="Microsoft YaHei" panose="020B0503020204020204" pitchFamily="34" charset="-122"/>
                      <a:ea typeface="Microsoft YaHei" panose="020B0503020204020204" pitchFamily="34" charset="-122"/>
                    </a:endParaRPr>
                  </a:p>
                </p:txBody>
              </p:sp>
            </mc:Choice>
            <mc:Fallback xmlns="">
              <p:sp>
                <p:nvSpPr>
                  <p:cNvPr id="82" name="矩形 81">
                    <a:extLst>
                      <a:ext uri="{FF2B5EF4-FFF2-40B4-BE49-F238E27FC236}">
                        <a16:creationId xmlns:a16="http://schemas.microsoft.com/office/drawing/2014/main" id="{384348F8-89CA-C64B-87AF-BD1908D7BBCD}"/>
                      </a:ext>
                    </a:extLst>
                  </p:cNvPr>
                  <p:cNvSpPr>
                    <a:spLocks noRot="1" noChangeAspect="1" noMove="1" noResize="1" noEditPoints="1" noAdjustHandles="1" noChangeArrowheads="1" noChangeShapeType="1" noTextEdit="1"/>
                  </p:cNvSpPr>
                  <p:nvPr/>
                </p:nvSpPr>
                <p:spPr>
                  <a:xfrm>
                    <a:off x="6206281" y="3068326"/>
                    <a:ext cx="493981" cy="369332"/>
                  </a:xfrm>
                  <a:prstGeom prst="rect">
                    <a:avLst/>
                  </a:prstGeom>
                  <a:blipFill>
                    <a:blip r:embed="rId5"/>
                    <a:stretch>
                      <a:fillRect/>
                    </a:stretch>
                  </a:blipFill>
                </p:spPr>
                <p:txBody>
                  <a:bodyPr/>
                  <a:lstStyle/>
                  <a:p>
                    <a:r>
                      <a:rPr lang="zh-CN" altLang="en-US">
                        <a:noFill/>
                      </a:rPr>
                      <a:t> </a:t>
                    </a:r>
                  </a:p>
                </p:txBody>
              </p:sp>
            </mc:Fallback>
          </mc:AlternateContent>
        </p:grpSp>
        <p:grpSp>
          <p:nvGrpSpPr>
            <p:cNvPr id="38" name="组合 37">
              <a:extLst>
                <a:ext uri="{FF2B5EF4-FFF2-40B4-BE49-F238E27FC236}">
                  <a16:creationId xmlns:a16="http://schemas.microsoft.com/office/drawing/2014/main" id="{6C0868E0-7961-5A45-82E9-047BB8C02B77}"/>
                </a:ext>
              </a:extLst>
            </p:cNvPr>
            <p:cNvGrpSpPr/>
            <p:nvPr/>
          </p:nvGrpSpPr>
          <p:grpSpPr>
            <a:xfrm>
              <a:off x="3601941" y="4009441"/>
              <a:ext cx="800615" cy="1125510"/>
              <a:chOff x="10780474" y="3207745"/>
              <a:chExt cx="800615" cy="1125510"/>
            </a:xfrm>
          </p:grpSpPr>
          <p:pic>
            <p:nvPicPr>
              <p:cNvPr id="78" name="图形 77">
                <a:extLst>
                  <a:ext uri="{FF2B5EF4-FFF2-40B4-BE49-F238E27FC236}">
                    <a16:creationId xmlns:a16="http://schemas.microsoft.com/office/drawing/2014/main" id="{D416EB4C-072C-0F4B-B89E-DEAA88CFDB3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80474" y="3207745"/>
                <a:ext cx="800615" cy="800615"/>
              </a:xfrm>
              <a:prstGeom prst="rect">
                <a:avLst/>
              </a:prstGeom>
            </p:spPr>
          </p:pic>
          <mc:AlternateContent xmlns:mc="http://schemas.openxmlformats.org/markup-compatibility/2006" xmlns:a14="http://schemas.microsoft.com/office/drawing/2010/main">
            <mc:Choice Requires="a14">
              <p:sp>
                <p:nvSpPr>
                  <p:cNvPr id="79" name="矩形 78">
                    <a:extLst>
                      <a:ext uri="{FF2B5EF4-FFF2-40B4-BE49-F238E27FC236}">
                        <a16:creationId xmlns:a16="http://schemas.microsoft.com/office/drawing/2014/main" id="{1A764583-90F0-8C4B-A249-B114639A60DA}"/>
                      </a:ext>
                    </a:extLst>
                  </p:cNvPr>
                  <p:cNvSpPr/>
                  <p:nvPr/>
                </p:nvSpPr>
                <p:spPr>
                  <a:xfrm>
                    <a:off x="10967033" y="3963923"/>
                    <a:ext cx="488659"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i="1">
                                  <a:solidFill>
                                    <a:schemeClr val="tx1">
                                      <a:lumMod val="75000"/>
                                      <a:lumOff val="25000"/>
                                    </a:schemeClr>
                                  </a:solidFill>
                                  <a:latin typeface="Cambria Math" panose="02040503050406030204" pitchFamily="18" charset="0"/>
                                  <a:ea typeface="微软雅黑" pitchFamily="34" charset="-122"/>
                                </a:rPr>
                                <m:t>𝑑</m:t>
                              </m:r>
                            </m:e>
                            <m:sub>
                              <m:r>
                                <a:rPr lang="en-US" altLang="zh-CN" b="0" i="1" smtClean="0">
                                  <a:solidFill>
                                    <a:schemeClr val="tx1">
                                      <a:lumMod val="75000"/>
                                      <a:lumOff val="25000"/>
                                    </a:schemeClr>
                                  </a:solidFill>
                                  <a:latin typeface="Cambria Math" panose="02040503050406030204" pitchFamily="18" charset="0"/>
                                  <a:ea typeface="微软雅黑" pitchFamily="34" charset="-122"/>
                                </a:rPr>
                                <m:t>1</m:t>
                              </m:r>
                            </m:sub>
                          </m:sSub>
                        </m:oMath>
                      </m:oMathPara>
                    </a14:m>
                    <a:endParaRPr lang="zh-CN" altLang="en-US" dirty="0">
                      <a:latin typeface="Microsoft YaHei" panose="020B0503020204020204" pitchFamily="34" charset="-122"/>
                      <a:ea typeface="Microsoft YaHei" panose="020B0503020204020204" pitchFamily="34" charset="-122"/>
                    </a:endParaRPr>
                  </a:p>
                </p:txBody>
              </p:sp>
            </mc:Choice>
            <mc:Fallback xmlns="">
              <p:sp>
                <p:nvSpPr>
                  <p:cNvPr id="79" name="矩形 78">
                    <a:extLst>
                      <a:ext uri="{FF2B5EF4-FFF2-40B4-BE49-F238E27FC236}">
                        <a16:creationId xmlns:a16="http://schemas.microsoft.com/office/drawing/2014/main" id="{1A764583-90F0-8C4B-A249-B114639A60DA}"/>
                      </a:ext>
                    </a:extLst>
                  </p:cNvPr>
                  <p:cNvSpPr>
                    <a:spLocks noRot="1" noChangeAspect="1" noMove="1" noResize="1" noEditPoints="1" noAdjustHandles="1" noChangeArrowheads="1" noChangeShapeType="1" noTextEdit="1"/>
                  </p:cNvSpPr>
                  <p:nvPr/>
                </p:nvSpPr>
                <p:spPr>
                  <a:xfrm>
                    <a:off x="10967033" y="3963923"/>
                    <a:ext cx="488659" cy="369332"/>
                  </a:xfrm>
                  <a:prstGeom prst="rect">
                    <a:avLst/>
                  </a:prstGeom>
                  <a:blipFill>
                    <a:blip r:embed="rId6"/>
                    <a:stretch>
                      <a:fillRect/>
                    </a:stretch>
                  </a:blipFill>
                </p:spPr>
                <p:txBody>
                  <a:bodyPr/>
                  <a:lstStyle/>
                  <a:p>
                    <a:r>
                      <a:rPr lang="zh-CN" altLang="en-US">
                        <a:noFill/>
                      </a:rPr>
                      <a:t> </a:t>
                    </a:r>
                  </a:p>
                </p:txBody>
              </p:sp>
            </mc:Fallback>
          </mc:AlternateContent>
        </p:grpSp>
        <p:grpSp>
          <p:nvGrpSpPr>
            <p:cNvPr id="39" name="组合 38">
              <a:extLst>
                <a:ext uri="{FF2B5EF4-FFF2-40B4-BE49-F238E27FC236}">
                  <a16:creationId xmlns:a16="http://schemas.microsoft.com/office/drawing/2014/main" id="{D5FED256-B91B-8940-B6B7-59F6C1688DD7}"/>
                </a:ext>
              </a:extLst>
            </p:cNvPr>
            <p:cNvGrpSpPr/>
            <p:nvPr/>
          </p:nvGrpSpPr>
          <p:grpSpPr>
            <a:xfrm>
              <a:off x="3602305" y="5669103"/>
              <a:ext cx="800615" cy="1128938"/>
              <a:chOff x="10773307" y="4708515"/>
              <a:chExt cx="800615" cy="1128938"/>
            </a:xfrm>
          </p:grpSpPr>
          <p:pic>
            <p:nvPicPr>
              <p:cNvPr id="71" name="图形 70">
                <a:extLst>
                  <a:ext uri="{FF2B5EF4-FFF2-40B4-BE49-F238E27FC236}">
                    <a16:creationId xmlns:a16="http://schemas.microsoft.com/office/drawing/2014/main" id="{9F91B52C-AB01-CA40-B59F-5C588068D4C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73307" y="4708515"/>
                <a:ext cx="800615" cy="800615"/>
              </a:xfrm>
              <a:prstGeom prst="rect">
                <a:avLst/>
              </a:prstGeom>
            </p:spPr>
          </p:pic>
          <mc:AlternateContent xmlns:mc="http://schemas.openxmlformats.org/markup-compatibility/2006" xmlns:a14="http://schemas.microsoft.com/office/drawing/2010/main">
            <mc:Choice Requires="a14">
              <p:sp>
                <p:nvSpPr>
                  <p:cNvPr id="72" name="矩形 71">
                    <a:extLst>
                      <a:ext uri="{FF2B5EF4-FFF2-40B4-BE49-F238E27FC236}">
                        <a16:creationId xmlns:a16="http://schemas.microsoft.com/office/drawing/2014/main" id="{A15A6C42-35AB-5F4D-A8C2-CC79A0BD33E8}"/>
                      </a:ext>
                    </a:extLst>
                  </p:cNvPr>
                  <p:cNvSpPr/>
                  <p:nvPr/>
                </p:nvSpPr>
                <p:spPr>
                  <a:xfrm>
                    <a:off x="10971602" y="5468121"/>
                    <a:ext cx="493981"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i="1">
                                  <a:solidFill>
                                    <a:schemeClr val="tx1">
                                      <a:lumMod val="75000"/>
                                      <a:lumOff val="25000"/>
                                    </a:schemeClr>
                                  </a:solidFill>
                                  <a:latin typeface="Cambria Math" panose="02040503050406030204" pitchFamily="18" charset="0"/>
                                  <a:ea typeface="微软雅黑" pitchFamily="34" charset="-122"/>
                                </a:rPr>
                                <m:t>𝑑</m:t>
                              </m:r>
                            </m:e>
                            <m:sub>
                              <m:r>
                                <a:rPr lang="en-US" altLang="zh-CN" b="0" i="1" smtClean="0">
                                  <a:solidFill>
                                    <a:schemeClr val="tx1">
                                      <a:lumMod val="75000"/>
                                      <a:lumOff val="25000"/>
                                    </a:schemeClr>
                                  </a:solidFill>
                                  <a:latin typeface="Cambria Math" panose="02040503050406030204" pitchFamily="18" charset="0"/>
                                  <a:ea typeface="微软雅黑" pitchFamily="34" charset="-122"/>
                                </a:rPr>
                                <m:t>2</m:t>
                              </m:r>
                            </m:sub>
                          </m:sSub>
                        </m:oMath>
                      </m:oMathPara>
                    </a14:m>
                    <a:endParaRPr lang="zh-CN" altLang="en-US" dirty="0">
                      <a:latin typeface="Microsoft YaHei" panose="020B0503020204020204" pitchFamily="34" charset="-122"/>
                      <a:ea typeface="Microsoft YaHei" panose="020B0503020204020204" pitchFamily="34" charset="-122"/>
                    </a:endParaRPr>
                  </a:p>
                </p:txBody>
              </p:sp>
            </mc:Choice>
            <mc:Fallback xmlns="">
              <p:sp>
                <p:nvSpPr>
                  <p:cNvPr id="72" name="矩形 71">
                    <a:extLst>
                      <a:ext uri="{FF2B5EF4-FFF2-40B4-BE49-F238E27FC236}">
                        <a16:creationId xmlns:a16="http://schemas.microsoft.com/office/drawing/2014/main" id="{A15A6C42-35AB-5F4D-A8C2-CC79A0BD33E8}"/>
                      </a:ext>
                    </a:extLst>
                  </p:cNvPr>
                  <p:cNvSpPr>
                    <a:spLocks noRot="1" noChangeAspect="1" noMove="1" noResize="1" noEditPoints="1" noAdjustHandles="1" noChangeArrowheads="1" noChangeShapeType="1" noTextEdit="1"/>
                  </p:cNvSpPr>
                  <p:nvPr/>
                </p:nvSpPr>
                <p:spPr>
                  <a:xfrm>
                    <a:off x="10971602" y="5468121"/>
                    <a:ext cx="493981" cy="369332"/>
                  </a:xfrm>
                  <a:prstGeom prst="rect">
                    <a:avLst/>
                  </a:prstGeom>
                  <a:blipFill>
                    <a:blip r:embed="rId7"/>
                    <a:stretch>
                      <a:fillRect/>
                    </a:stretch>
                  </a:blipFill>
                </p:spPr>
                <p:txBody>
                  <a:bodyPr/>
                  <a:lstStyle/>
                  <a:p>
                    <a:r>
                      <a:rPr lang="zh-CN" altLang="en-US">
                        <a:noFill/>
                      </a:rPr>
                      <a:t> </a:t>
                    </a:r>
                  </a:p>
                </p:txBody>
              </p:sp>
            </mc:Fallback>
          </mc:AlternateContent>
        </p:grpSp>
        <p:grpSp>
          <p:nvGrpSpPr>
            <p:cNvPr id="40" name="组合 39">
              <a:extLst>
                <a:ext uri="{FF2B5EF4-FFF2-40B4-BE49-F238E27FC236}">
                  <a16:creationId xmlns:a16="http://schemas.microsoft.com/office/drawing/2014/main" id="{9260DF1A-3DA2-3041-9D51-BBEA32B4825D}"/>
                </a:ext>
              </a:extLst>
            </p:cNvPr>
            <p:cNvGrpSpPr/>
            <p:nvPr/>
          </p:nvGrpSpPr>
          <p:grpSpPr>
            <a:xfrm>
              <a:off x="972070" y="4026417"/>
              <a:ext cx="954107" cy="1198562"/>
              <a:chOff x="5970826" y="3177765"/>
              <a:chExt cx="954107" cy="1198562"/>
            </a:xfrm>
          </p:grpSpPr>
          <p:pic>
            <p:nvPicPr>
              <p:cNvPr id="67" name="图片 66">
                <a:extLst>
                  <a:ext uri="{FF2B5EF4-FFF2-40B4-BE49-F238E27FC236}">
                    <a16:creationId xmlns:a16="http://schemas.microsoft.com/office/drawing/2014/main" id="{7E7F513F-03D1-0040-B890-FB12425D2E50}"/>
                  </a:ext>
                </a:extLst>
              </p:cNvPr>
              <p:cNvPicPr>
                <a:picLocks noChangeAspect="1"/>
              </p:cNvPicPr>
              <p:nvPr/>
            </p:nvPicPr>
            <p:blipFill>
              <a:blip r:embed="rId8"/>
              <a:stretch>
                <a:fillRect/>
              </a:stretch>
            </p:blipFill>
            <p:spPr>
              <a:xfrm>
                <a:off x="6135819" y="3177765"/>
                <a:ext cx="586364" cy="798452"/>
              </a:xfrm>
              <a:prstGeom prst="rect">
                <a:avLst/>
              </a:prstGeom>
            </p:spPr>
          </p:pic>
          <p:sp>
            <p:nvSpPr>
              <p:cNvPr id="68" name="矩形 67">
                <a:extLst>
                  <a:ext uri="{FF2B5EF4-FFF2-40B4-BE49-F238E27FC236}">
                    <a16:creationId xmlns:a16="http://schemas.microsoft.com/office/drawing/2014/main" id="{BA24CBF1-977C-D740-8025-27CB0D13E602}"/>
                  </a:ext>
                </a:extLst>
              </p:cNvPr>
              <p:cNvSpPr/>
              <p:nvPr/>
            </p:nvSpPr>
            <p:spPr>
              <a:xfrm>
                <a:off x="5970826" y="3976217"/>
                <a:ext cx="954107" cy="400110"/>
              </a:xfrm>
              <a:prstGeom prst="rect">
                <a:avLst/>
              </a:prstGeom>
            </p:spPr>
            <p:txBody>
              <a:bodyPr wrap="none">
                <a:spAutoFit/>
              </a:bodyPr>
              <a:lstStyle/>
              <a:p>
                <a:pPr algn="ctr"/>
                <a:r>
                  <a:rPr lang="zh-CN" altLang="en-US" sz="2000" dirty="0">
                    <a:latin typeface="Microsoft YaHei" panose="020B0503020204020204" pitchFamily="34" charset="-122"/>
                    <a:ea typeface="Microsoft YaHei" panose="020B0503020204020204" pitchFamily="34" charset="-122"/>
                  </a:rPr>
                  <a:t>協調者</a:t>
                </a:r>
              </a:p>
            </p:txBody>
          </p:sp>
        </p:grpSp>
        <p:cxnSp>
          <p:nvCxnSpPr>
            <p:cNvPr id="41" name="直线箭头连接符 40">
              <a:extLst>
                <a:ext uri="{FF2B5EF4-FFF2-40B4-BE49-F238E27FC236}">
                  <a16:creationId xmlns:a16="http://schemas.microsoft.com/office/drawing/2014/main" id="{F49D67F1-5001-DF4A-89AF-4FBC293D47A7}"/>
                </a:ext>
              </a:extLst>
            </p:cNvPr>
            <p:cNvCxnSpPr>
              <a:cxnSpLocks/>
              <a:stCxn id="81" idx="1"/>
              <a:endCxn id="67" idx="3"/>
            </p:cNvCxnSpPr>
            <p:nvPr/>
          </p:nvCxnSpPr>
          <p:spPr>
            <a:xfrm flipH="1">
              <a:off x="1723427" y="2725736"/>
              <a:ext cx="1878514" cy="1699907"/>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46" name="直线箭头连接符 45">
              <a:extLst>
                <a:ext uri="{FF2B5EF4-FFF2-40B4-BE49-F238E27FC236}">
                  <a16:creationId xmlns:a16="http://schemas.microsoft.com/office/drawing/2014/main" id="{960F2BE0-DB74-8B4D-88A8-FB2CBB19C668}"/>
                </a:ext>
              </a:extLst>
            </p:cNvPr>
            <p:cNvCxnSpPr>
              <a:cxnSpLocks/>
              <a:stCxn id="78" idx="1"/>
              <a:endCxn id="67" idx="3"/>
            </p:cNvCxnSpPr>
            <p:nvPr/>
          </p:nvCxnSpPr>
          <p:spPr>
            <a:xfrm flipH="1">
              <a:off x="1723427" y="4409749"/>
              <a:ext cx="1878514" cy="15894"/>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47" name="直线箭头连接符 46">
              <a:extLst>
                <a:ext uri="{FF2B5EF4-FFF2-40B4-BE49-F238E27FC236}">
                  <a16:creationId xmlns:a16="http://schemas.microsoft.com/office/drawing/2014/main" id="{96BF9339-6FD0-364B-B4FF-F56F358E8DD8}"/>
                </a:ext>
              </a:extLst>
            </p:cNvPr>
            <p:cNvCxnSpPr>
              <a:cxnSpLocks/>
              <a:stCxn id="71" idx="1"/>
              <a:endCxn id="67" idx="3"/>
            </p:cNvCxnSpPr>
            <p:nvPr/>
          </p:nvCxnSpPr>
          <p:spPr>
            <a:xfrm flipH="1" flipV="1">
              <a:off x="1723427" y="4425643"/>
              <a:ext cx="1878878" cy="1643768"/>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sp>
          <p:nvSpPr>
            <p:cNvPr id="50" name="矩形 49">
              <a:extLst>
                <a:ext uri="{FF2B5EF4-FFF2-40B4-BE49-F238E27FC236}">
                  <a16:creationId xmlns:a16="http://schemas.microsoft.com/office/drawing/2014/main" id="{B0E11D96-7968-E14F-A87D-16BF61E76824}"/>
                </a:ext>
              </a:extLst>
            </p:cNvPr>
            <p:cNvSpPr/>
            <p:nvPr/>
          </p:nvSpPr>
          <p:spPr>
            <a:xfrm>
              <a:off x="1866894" y="4056311"/>
              <a:ext cx="1938054" cy="369332"/>
            </a:xfrm>
            <a:prstGeom prst="rect">
              <a:avLst/>
            </a:prstGeom>
          </p:spPr>
          <p:txBody>
            <a:bodyPr wrap="square">
              <a:spAutoFit/>
            </a:bodyPr>
            <a:lstStyle/>
            <a:p>
              <a:pPr algn="ct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Can commit?</a:t>
              </a:r>
            </a:p>
          </p:txBody>
        </p:sp>
        <p:sp>
          <p:nvSpPr>
            <p:cNvPr id="54" name="矩形 53">
              <a:extLst>
                <a:ext uri="{FF2B5EF4-FFF2-40B4-BE49-F238E27FC236}">
                  <a16:creationId xmlns:a16="http://schemas.microsoft.com/office/drawing/2014/main" id="{06240141-5715-6D4E-884A-9ECE2FD6652A}"/>
                </a:ext>
              </a:extLst>
            </p:cNvPr>
            <p:cNvSpPr/>
            <p:nvPr/>
          </p:nvSpPr>
          <p:spPr>
            <a:xfrm rot="19061872">
              <a:off x="1618755" y="3206473"/>
              <a:ext cx="1938054" cy="369332"/>
            </a:xfrm>
            <a:prstGeom prst="rect">
              <a:avLst/>
            </a:prstGeom>
          </p:spPr>
          <p:txBody>
            <a:bodyPr wrap="square">
              <a:spAutoFit/>
            </a:bodyPr>
            <a:lstStyle/>
            <a:p>
              <a:pPr algn="ct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Can commit?</a:t>
              </a:r>
            </a:p>
          </p:txBody>
        </p:sp>
        <p:sp>
          <p:nvSpPr>
            <p:cNvPr id="55" name="矩形 54">
              <a:extLst>
                <a:ext uri="{FF2B5EF4-FFF2-40B4-BE49-F238E27FC236}">
                  <a16:creationId xmlns:a16="http://schemas.microsoft.com/office/drawing/2014/main" id="{FB93EF9B-C98C-2142-AC06-C2EE3CE90489}"/>
                </a:ext>
              </a:extLst>
            </p:cNvPr>
            <p:cNvSpPr/>
            <p:nvPr/>
          </p:nvSpPr>
          <p:spPr>
            <a:xfrm rot="2516082">
              <a:off x="1862837" y="4909712"/>
              <a:ext cx="1938054" cy="369332"/>
            </a:xfrm>
            <a:prstGeom prst="rect">
              <a:avLst/>
            </a:prstGeom>
          </p:spPr>
          <p:txBody>
            <a:bodyPr wrap="square">
              <a:spAutoFit/>
            </a:bodyPr>
            <a:lstStyle/>
            <a:p>
              <a:pPr algn="ct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Can commit?</a:t>
              </a:r>
            </a:p>
          </p:txBody>
        </p:sp>
        <p:grpSp>
          <p:nvGrpSpPr>
            <p:cNvPr id="56" name="组合 55">
              <a:extLst>
                <a:ext uri="{FF2B5EF4-FFF2-40B4-BE49-F238E27FC236}">
                  <a16:creationId xmlns:a16="http://schemas.microsoft.com/office/drawing/2014/main" id="{F0079384-9EA8-EE4B-9D40-BA7CB01CBDE7}"/>
                </a:ext>
              </a:extLst>
            </p:cNvPr>
            <p:cNvGrpSpPr/>
            <p:nvPr/>
          </p:nvGrpSpPr>
          <p:grpSpPr>
            <a:xfrm>
              <a:off x="5945414" y="4030726"/>
              <a:ext cx="954107" cy="1198562"/>
              <a:chOff x="5970826" y="3177765"/>
              <a:chExt cx="954107" cy="1198562"/>
            </a:xfrm>
          </p:grpSpPr>
          <p:pic>
            <p:nvPicPr>
              <p:cNvPr id="65" name="图片 64">
                <a:extLst>
                  <a:ext uri="{FF2B5EF4-FFF2-40B4-BE49-F238E27FC236}">
                    <a16:creationId xmlns:a16="http://schemas.microsoft.com/office/drawing/2014/main" id="{66E8D904-F32D-7D49-89C6-63A2F5477C57}"/>
                  </a:ext>
                </a:extLst>
              </p:cNvPr>
              <p:cNvPicPr>
                <a:picLocks noChangeAspect="1"/>
              </p:cNvPicPr>
              <p:nvPr/>
            </p:nvPicPr>
            <p:blipFill>
              <a:blip r:embed="rId8"/>
              <a:stretch>
                <a:fillRect/>
              </a:stretch>
            </p:blipFill>
            <p:spPr>
              <a:xfrm>
                <a:off x="6135819" y="3177765"/>
                <a:ext cx="586364" cy="798452"/>
              </a:xfrm>
              <a:prstGeom prst="rect">
                <a:avLst/>
              </a:prstGeom>
            </p:spPr>
          </p:pic>
          <p:sp>
            <p:nvSpPr>
              <p:cNvPr id="66" name="矩形 65">
                <a:extLst>
                  <a:ext uri="{FF2B5EF4-FFF2-40B4-BE49-F238E27FC236}">
                    <a16:creationId xmlns:a16="http://schemas.microsoft.com/office/drawing/2014/main" id="{5137DC14-F319-D442-8ED0-D93D5DCB47CD}"/>
                  </a:ext>
                </a:extLst>
              </p:cNvPr>
              <p:cNvSpPr/>
              <p:nvPr/>
            </p:nvSpPr>
            <p:spPr>
              <a:xfrm>
                <a:off x="5970826" y="3976217"/>
                <a:ext cx="954107" cy="400110"/>
              </a:xfrm>
              <a:prstGeom prst="rect">
                <a:avLst/>
              </a:prstGeom>
            </p:spPr>
            <p:txBody>
              <a:bodyPr wrap="none">
                <a:spAutoFit/>
              </a:bodyPr>
              <a:lstStyle/>
              <a:p>
                <a:pPr algn="ctr"/>
                <a:r>
                  <a:rPr lang="zh-CN" altLang="en-US" sz="2000" dirty="0">
                    <a:latin typeface="Microsoft YaHei" panose="020B0503020204020204" pitchFamily="34" charset="-122"/>
                    <a:ea typeface="Microsoft YaHei" panose="020B0503020204020204" pitchFamily="34" charset="-122"/>
                  </a:rPr>
                  <a:t>協調者</a:t>
                </a:r>
              </a:p>
            </p:txBody>
          </p:sp>
        </p:grpSp>
        <p:cxnSp>
          <p:nvCxnSpPr>
            <p:cNvPr id="57" name="直线箭头连接符 56">
              <a:extLst>
                <a:ext uri="{FF2B5EF4-FFF2-40B4-BE49-F238E27FC236}">
                  <a16:creationId xmlns:a16="http://schemas.microsoft.com/office/drawing/2014/main" id="{FA654038-3499-BC49-999C-85EA2E597EA2}"/>
                </a:ext>
              </a:extLst>
            </p:cNvPr>
            <p:cNvCxnSpPr>
              <a:cxnSpLocks/>
              <a:stCxn id="65" idx="1"/>
              <a:endCxn id="81" idx="3"/>
            </p:cNvCxnSpPr>
            <p:nvPr/>
          </p:nvCxnSpPr>
          <p:spPr>
            <a:xfrm flipH="1" flipV="1">
              <a:off x="4402556" y="2725736"/>
              <a:ext cx="1707851" cy="1704216"/>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58" name="直线箭头连接符 57">
              <a:extLst>
                <a:ext uri="{FF2B5EF4-FFF2-40B4-BE49-F238E27FC236}">
                  <a16:creationId xmlns:a16="http://schemas.microsoft.com/office/drawing/2014/main" id="{DADEC7B9-89FD-E048-9A68-CB464F535593}"/>
                </a:ext>
              </a:extLst>
            </p:cNvPr>
            <p:cNvCxnSpPr>
              <a:cxnSpLocks/>
              <a:stCxn id="65" idx="1"/>
              <a:endCxn id="78" idx="3"/>
            </p:cNvCxnSpPr>
            <p:nvPr/>
          </p:nvCxnSpPr>
          <p:spPr>
            <a:xfrm flipH="1" flipV="1">
              <a:off x="4402556" y="4409749"/>
              <a:ext cx="1707851" cy="20203"/>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59" name="直线箭头连接符 58">
              <a:extLst>
                <a:ext uri="{FF2B5EF4-FFF2-40B4-BE49-F238E27FC236}">
                  <a16:creationId xmlns:a16="http://schemas.microsoft.com/office/drawing/2014/main" id="{00793851-B28E-9F4E-9D88-EA4A730E9754}"/>
                </a:ext>
              </a:extLst>
            </p:cNvPr>
            <p:cNvCxnSpPr>
              <a:cxnSpLocks/>
              <a:stCxn id="65" idx="1"/>
              <a:endCxn id="71" idx="3"/>
            </p:cNvCxnSpPr>
            <p:nvPr/>
          </p:nvCxnSpPr>
          <p:spPr>
            <a:xfrm flipH="1">
              <a:off x="4402920" y="4429952"/>
              <a:ext cx="1707487" cy="1639459"/>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sp>
          <p:nvSpPr>
            <p:cNvPr id="60" name="矩形 59">
              <a:extLst>
                <a:ext uri="{FF2B5EF4-FFF2-40B4-BE49-F238E27FC236}">
                  <a16:creationId xmlns:a16="http://schemas.microsoft.com/office/drawing/2014/main" id="{A232E677-D080-8E40-831D-0AD16018FBA1}"/>
                </a:ext>
              </a:extLst>
            </p:cNvPr>
            <p:cNvSpPr/>
            <p:nvPr/>
          </p:nvSpPr>
          <p:spPr>
            <a:xfrm>
              <a:off x="4234602" y="4056311"/>
              <a:ext cx="1938054" cy="369332"/>
            </a:xfrm>
            <a:prstGeom prst="rect">
              <a:avLst/>
            </a:prstGeom>
          </p:spPr>
          <p:txBody>
            <a:bodyPr wrap="square">
              <a:spAutoFit/>
            </a:bodyPr>
            <a:lstStyle/>
            <a:p>
              <a:pPr algn="ct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Yes</a:t>
              </a:r>
            </a:p>
          </p:txBody>
        </p:sp>
        <p:sp>
          <p:nvSpPr>
            <p:cNvPr id="62" name="矩形 61">
              <a:extLst>
                <a:ext uri="{FF2B5EF4-FFF2-40B4-BE49-F238E27FC236}">
                  <a16:creationId xmlns:a16="http://schemas.microsoft.com/office/drawing/2014/main" id="{42D5977E-A3A4-8D41-818C-767D46C25FBB}"/>
                </a:ext>
              </a:extLst>
            </p:cNvPr>
            <p:cNvSpPr/>
            <p:nvPr/>
          </p:nvSpPr>
          <p:spPr>
            <a:xfrm rot="2765746">
              <a:off x="4418920" y="3174967"/>
              <a:ext cx="1938054" cy="369332"/>
            </a:xfrm>
            <a:prstGeom prst="rect">
              <a:avLst/>
            </a:prstGeom>
          </p:spPr>
          <p:txBody>
            <a:bodyPr wrap="square">
              <a:spAutoFit/>
            </a:bodyPr>
            <a:lstStyle/>
            <a:p>
              <a:pPr algn="ct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Yes</a:t>
              </a:r>
            </a:p>
          </p:txBody>
        </p:sp>
        <p:sp>
          <p:nvSpPr>
            <p:cNvPr id="43" name="AutoShape 41">
              <a:extLst>
                <a:ext uri="{FF2B5EF4-FFF2-40B4-BE49-F238E27FC236}">
                  <a16:creationId xmlns:a16="http://schemas.microsoft.com/office/drawing/2014/main" id="{71FE31A2-2D14-7849-B9D4-6557BF04DEFE}"/>
                </a:ext>
              </a:extLst>
            </p:cNvPr>
            <p:cNvSpPr>
              <a:spLocks noChangeArrowheads="1"/>
            </p:cNvSpPr>
            <p:nvPr/>
          </p:nvSpPr>
          <p:spPr bwMode="auto">
            <a:xfrm>
              <a:off x="6074506" y="4099060"/>
              <a:ext cx="597663" cy="670402"/>
            </a:xfrm>
            <a:prstGeom prst="lightningBolt">
              <a:avLst/>
            </a:prstGeom>
            <a:solidFill>
              <a:srgbClr val="9900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endParaRPr lang="zh-CN" altLang="en-US"/>
            </a:p>
          </p:txBody>
        </p:sp>
      </p:grpSp>
      <p:sp>
        <p:nvSpPr>
          <p:cNvPr id="88" name="矩形 87">
            <a:extLst>
              <a:ext uri="{FF2B5EF4-FFF2-40B4-BE49-F238E27FC236}">
                <a16:creationId xmlns:a16="http://schemas.microsoft.com/office/drawing/2014/main" id="{BFA7B488-8DAB-ED4E-B927-366E30F070C3}"/>
              </a:ext>
            </a:extLst>
          </p:cNvPr>
          <p:cNvSpPr/>
          <p:nvPr/>
        </p:nvSpPr>
        <p:spPr>
          <a:xfrm>
            <a:off x="486133" y="1873601"/>
            <a:ext cx="5413391" cy="4500591"/>
          </a:xfrm>
          <a:prstGeom prst="rect">
            <a:avLst/>
          </a:prstGeom>
          <a:ln>
            <a:solidFill>
              <a:srgbClr val="00B0F0"/>
            </a:solidFill>
          </a:ln>
        </p:spPr>
        <p:txBody>
          <a:bodyPr wrap="square">
            <a:spAutoFit/>
          </a:bodyPr>
          <a:lstStyle/>
          <a:p>
            <a:pPr marL="3429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執行步驟</a:t>
            </a:r>
            <a:endPar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a:p>
            <a:pPr marL="6840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協調者向三個數據庫詢問是否可以提交一個更改</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A</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值的事務</a:t>
            </a:r>
            <a:endPar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a:p>
            <a:pPr marL="6840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三個數據庫都向協調者返回</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Yes</a:t>
            </a:r>
          </a:p>
          <a:p>
            <a:pPr marL="6840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此時協調者出現故障</a:t>
            </a:r>
            <a:endPar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a:p>
            <a:pPr marL="6840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數據庫一直無法等到協調者的確認提交或停止提交消息，因此一直處于等待狀態，且相關資源一直處于上鎖狀態</a:t>
            </a:r>
            <a:endPar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92" name="矩形 91">
            <a:extLst>
              <a:ext uri="{FF2B5EF4-FFF2-40B4-BE49-F238E27FC236}">
                <a16:creationId xmlns:a16="http://schemas.microsoft.com/office/drawing/2014/main" id="{3E4F165F-5E4E-0A48-9BB7-C15C0CC19E68}"/>
              </a:ext>
            </a:extLst>
          </p:cNvPr>
          <p:cNvSpPr/>
          <p:nvPr/>
        </p:nvSpPr>
        <p:spPr>
          <a:xfrm rot="19017223">
            <a:off x="9265592" y="4705739"/>
            <a:ext cx="1938054" cy="369332"/>
          </a:xfrm>
          <a:prstGeom prst="rect">
            <a:avLst/>
          </a:prstGeom>
        </p:spPr>
        <p:txBody>
          <a:bodyPr wrap="square">
            <a:spAutoFit/>
          </a:bodyPr>
          <a:lstStyle/>
          <a:p>
            <a:pPr algn="ct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Yes</a:t>
            </a:r>
          </a:p>
        </p:txBody>
      </p:sp>
      <p:sp>
        <p:nvSpPr>
          <p:cNvPr id="42" name="矩形 41">
            <a:extLst>
              <a:ext uri="{FF2B5EF4-FFF2-40B4-BE49-F238E27FC236}">
                <a16:creationId xmlns:a16="http://schemas.microsoft.com/office/drawing/2014/main" id="{3BFC31C0-43E5-E745-A435-D745DC77DA52}"/>
              </a:ext>
            </a:extLst>
          </p:cNvPr>
          <p:cNvSpPr/>
          <p:nvPr/>
        </p:nvSpPr>
        <p:spPr>
          <a:xfrm>
            <a:off x="814449" y="1153952"/>
            <a:ext cx="10975474" cy="511807"/>
          </a:xfrm>
          <a:prstGeom prst="rect">
            <a:avLst/>
          </a:prstGeom>
          <a:ln>
            <a:noFill/>
          </a:ln>
        </p:spPr>
        <p:txBody>
          <a:bodyPr wrap="square">
            <a:spAutoFit/>
          </a:bodyPr>
          <a:lstStyle/>
          <a:p>
            <a:pPr marL="0" lvl="1" algn="ctr" fontAlgn="base">
              <a:lnSpc>
                <a:spcPts val="3600"/>
              </a:lnSpc>
              <a:spcBef>
                <a:spcPct val="20000"/>
              </a:spcBef>
              <a:spcAft>
                <a:spcPct val="0"/>
              </a:spcAft>
              <a:buSzPct val="100000"/>
            </a:pPr>
            <a:r>
              <a:rPr lang="zh-CN" altLang="en-US" sz="2400" b="1" dirty="0">
                <a:solidFill>
                  <a:srgbClr val="C00000"/>
                </a:solidFill>
                <a:latin typeface="Microsoft YaHei" panose="020B0503020204020204" pitchFamily="34" charset="-122"/>
                <a:ea typeface="Microsoft YaHei" panose="020B0503020204020204" pitchFamily="34" charset="-122"/>
              </a:rPr>
              <a:t>存在一個協調者和三個存儲相同狀態變量</a:t>
            </a:r>
            <a:r>
              <a:rPr lang="en-US" altLang="zh-CN" sz="2400" b="1" dirty="0">
                <a:solidFill>
                  <a:srgbClr val="C00000"/>
                </a:solidFill>
                <a:latin typeface="Microsoft YaHei" panose="020B0503020204020204" pitchFamily="34" charset="-122"/>
                <a:ea typeface="Microsoft YaHei" panose="020B0503020204020204" pitchFamily="34" charset="-122"/>
              </a:rPr>
              <a:t>A</a:t>
            </a:r>
            <a:r>
              <a:rPr lang="zh-CN" altLang="en-US" sz="2400" b="1" dirty="0">
                <a:solidFill>
                  <a:srgbClr val="C00000"/>
                </a:solidFill>
                <a:latin typeface="Microsoft YaHei" panose="020B0503020204020204" pitchFamily="34" charset="-122"/>
                <a:ea typeface="Microsoft YaHei" panose="020B0503020204020204" pitchFamily="34" charset="-122"/>
              </a:rPr>
              <a:t>的數據庫</a:t>
            </a:r>
            <a:endParaRPr lang="en-US" altLang="zh-CN" sz="2400" b="1" dirty="0">
              <a:solidFill>
                <a:srgbClr val="C00000"/>
              </a:solidFill>
              <a:latin typeface="Microsoft YaHei" panose="020B0503020204020204" pitchFamily="34" charset="-122"/>
              <a:ea typeface="Microsoft YaHei" panose="020B0503020204020204" pitchFamily="34" charset="-122"/>
            </a:endParaRPr>
          </a:p>
        </p:txBody>
      </p:sp>
      <p:sp>
        <p:nvSpPr>
          <p:cNvPr id="44" name="灯片编号占位符 2">
            <a:extLst>
              <a:ext uri="{FF2B5EF4-FFF2-40B4-BE49-F238E27FC236}">
                <a16:creationId xmlns:a16="http://schemas.microsoft.com/office/drawing/2014/main" id="{A011D24B-387B-5B4D-9C7F-3FD386E209F5}"/>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57</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10409300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solidFill>
                  <a:srgbClr val="C00000"/>
                </a:solidFill>
              </a:rPr>
              <a:t>網絡擁塞</a:t>
            </a:r>
            <a:r>
              <a:rPr kumimoji="1" lang="en-US" altLang="zh-CN" dirty="0">
                <a:solidFill>
                  <a:srgbClr val="C00000"/>
                </a:solidFill>
              </a:rPr>
              <a:t>/</a:t>
            </a:r>
            <a:r>
              <a:rPr kumimoji="1" lang="zh-CN" altLang="en-US" dirty="0">
                <a:solidFill>
                  <a:srgbClr val="C00000"/>
                </a:solidFill>
              </a:rPr>
              <a:t>鏈路故障</a:t>
            </a:r>
          </a:p>
        </p:txBody>
      </p:sp>
      <p:grpSp>
        <p:nvGrpSpPr>
          <p:cNvPr id="37" name="组合 36">
            <a:extLst>
              <a:ext uri="{FF2B5EF4-FFF2-40B4-BE49-F238E27FC236}">
                <a16:creationId xmlns:a16="http://schemas.microsoft.com/office/drawing/2014/main" id="{30B83364-EBA4-D549-A427-6A94D2C712EF}"/>
              </a:ext>
            </a:extLst>
          </p:cNvPr>
          <p:cNvGrpSpPr/>
          <p:nvPr/>
        </p:nvGrpSpPr>
        <p:grpSpPr>
          <a:xfrm>
            <a:off x="6016899" y="2140642"/>
            <a:ext cx="5927451" cy="4472613"/>
            <a:chOff x="972070" y="2325428"/>
            <a:chExt cx="5927451" cy="4472613"/>
          </a:xfrm>
        </p:grpSpPr>
        <p:grpSp>
          <p:nvGrpSpPr>
            <p:cNvPr id="38" name="组合 37">
              <a:extLst>
                <a:ext uri="{FF2B5EF4-FFF2-40B4-BE49-F238E27FC236}">
                  <a16:creationId xmlns:a16="http://schemas.microsoft.com/office/drawing/2014/main" id="{A7BB1064-57E9-0D42-82D4-70544017E38F}"/>
                </a:ext>
              </a:extLst>
            </p:cNvPr>
            <p:cNvGrpSpPr/>
            <p:nvPr/>
          </p:nvGrpSpPr>
          <p:grpSpPr>
            <a:xfrm>
              <a:off x="3601941" y="2325428"/>
              <a:ext cx="800615" cy="1134570"/>
              <a:chOff x="6032014" y="2303088"/>
              <a:chExt cx="800615" cy="1134570"/>
            </a:xfrm>
          </p:grpSpPr>
          <p:pic>
            <p:nvPicPr>
              <p:cNvPr id="82" name="图形 81">
                <a:extLst>
                  <a:ext uri="{FF2B5EF4-FFF2-40B4-BE49-F238E27FC236}">
                    <a16:creationId xmlns:a16="http://schemas.microsoft.com/office/drawing/2014/main" id="{A7C3989C-3231-F249-8D6C-BD6B6755858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32014" y="2303088"/>
                <a:ext cx="800615" cy="800615"/>
              </a:xfrm>
              <a:prstGeom prst="rect">
                <a:avLst/>
              </a:prstGeom>
            </p:spPr>
          </p:pic>
          <mc:AlternateContent xmlns:mc="http://schemas.openxmlformats.org/markup-compatibility/2006" xmlns:a14="http://schemas.microsoft.com/office/drawing/2010/main">
            <mc:Choice Requires="a14">
              <p:sp>
                <p:nvSpPr>
                  <p:cNvPr id="87" name="矩形 86">
                    <a:extLst>
                      <a:ext uri="{FF2B5EF4-FFF2-40B4-BE49-F238E27FC236}">
                        <a16:creationId xmlns:a16="http://schemas.microsoft.com/office/drawing/2014/main" id="{287343C0-A67B-E044-AF31-7E3890F7A365}"/>
                      </a:ext>
                    </a:extLst>
                  </p:cNvPr>
                  <p:cNvSpPr/>
                  <p:nvPr/>
                </p:nvSpPr>
                <p:spPr>
                  <a:xfrm>
                    <a:off x="6206281" y="3068326"/>
                    <a:ext cx="493981"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b="0" i="1" smtClean="0">
                                  <a:solidFill>
                                    <a:schemeClr val="tx1">
                                      <a:lumMod val="75000"/>
                                      <a:lumOff val="25000"/>
                                    </a:schemeClr>
                                  </a:solidFill>
                                  <a:latin typeface="Cambria Math" panose="02040503050406030204" pitchFamily="18" charset="0"/>
                                  <a:ea typeface="微软雅黑" pitchFamily="34" charset="-122"/>
                                </a:rPr>
                                <m:t>𝑑</m:t>
                              </m:r>
                            </m:e>
                            <m:sub>
                              <m:r>
                                <a:rPr lang="en-US" altLang="zh-CN" i="1">
                                  <a:solidFill>
                                    <a:schemeClr val="tx1">
                                      <a:lumMod val="75000"/>
                                      <a:lumOff val="25000"/>
                                    </a:schemeClr>
                                  </a:solidFill>
                                  <a:latin typeface="Cambria Math" panose="02040503050406030204" pitchFamily="18" charset="0"/>
                                  <a:ea typeface="微软雅黑" pitchFamily="34" charset="-122"/>
                                </a:rPr>
                                <m:t>0</m:t>
                              </m:r>
                            </m:sub>
                          </m:sSub>
                        </m:oMath>
                      </m:oMathPara>
                    </a14:m>
                    <a:endParaRPr lang="zh-CN" altLang="en-US" dirty="0">
                      <a:latin typeface="Microsoft YaHei" panose="020B0503020204020204" pitchFamily="34" charset="-122"/>
                      <a:ea typeface="Microsoft YaHei" panose="020B0503020204020204" pitchFamily="34" charset="-122"/>
                    </a:endParaRPr>
                  </a:p>
                </p:txBody>
              </p:sp>
            </mc:Choice>
            <mc:Fallback xmlns="">
              <p:sp>
                <p:nvSpPr>
                  <p:cNvPr id="87" name="矩形 86">
                    <a:extLst>
                      <a:ext uri="{FF2B5EF4-FFF2-40B4-BE49-F238E27FC236}">
                        <a16:creationId xmlns:a16="http://schemas.microsoft.com/office/drawing/2014/main" id="{287343C0-A67B-E044-AF31-7E3890F7A365}"/>
                      </a:ext>
                    </a:extLst>
                  </p:cNvPr>
                  <p:cNvSpPr>
                    <a:spLocks noRot="1" noChangeAspect="1" noMove="1" noResize="1" noEditPoints="1" noAdjustHandles="1" noChangeArrowheads="1" noChangeShapeType="1" noTextEdit="1"/>
                  </p:cNvSpPr>
                  <p:nvPr/>
                </p:nvSpPr>
                <p:spPr>
                  <a:xfrm>
                    <a:off x="6206281" y="3068326"/>
                    <a:ext cx="493981" cy="369332"/>
                  </a:xfrm>
                  <a:prstGeom prst="rect">
                    <a:avLst/>
                  </a:prstGeom>
                  <a:blipFill>
                    <a:blip r:embed="rId5"/>
                    <a:stretch>
                      <a:fillRect/>
                    </a:stretch>
                  </a:blipFill>
                </p:spPr>
                <p:txBody>
                  <a:bodyPr/>
                  <a:lstStyle/>
                  <a:p>
                    <a:r>
                      <a:rPr lang="zh-CN" altLang="en-US">
                        <a:noFill/>
                      </a:rPr>
                      <a:t> </a:t>
                    </a:r>
                  </a:p>
                </p:txBody>
              </p:sp>
            </mc:Fallback>
          </mc:AlternateContent>
        </p:grpSp>
        <p:grpSp>
          <p:nvGrpSpPr>
            <p:cNvPr id="39" name="组合 38">
              <a:extLst>
                <a:ext uri="{FF2B5EF4-FFF2-40B4-BE49-F238E27FC236}">
                  <a16:creationId xmlns:a16="http://schemas.microsoft.com/office/drawing/2014/main" id="{F21CC312-34B6-EA47-A10E-A2B2BC056724}"/>
                </a:ext>
              </a:extLst>
            </p:cNvPr>
            <p:cNvGrpSpPr/>
            <p:nvPr/>
          </p:nvGrpSpPr>
          <p:grpSpPr>
            <a:xfrm>
              <a:off x="3601941" y="4009441"/>
              <a:ext cx="800615" cy="1125510"/>
              <a:chOff x="10780474" y="3207745"/>
              <a:chExt cx="800615" cy="1125510"/>
            </a:xfrm>
          </p:grpSpPr>
          <p:pic>
            <p:nvPicPr>
              <p:cNvPr id="79" name="图形 78">
                <a:extLst>
                  <a:ext uri="{FF2B5EF4-FFF2-40B4-BE49-F238E27FC236}">
                    <a16:creationId xmlns:a16="http://schemas.microsoft.com/office/drawing/2014/main" id="{9D12696D-64FF-DE47-9759-7B045A9895C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80474" y="3207745"/>
                <a:ext cx="800615" cy="800615"/>
              </a:xfrm>
              <a:prstGeom prst="rect">
                <a:avLst/>
              </a:prstGeom>
            </p:spPr>
          </p:pic>
          <mc:AlternateContent xmlns:mc="http://schemas.openxmlformats.org/markup-compatibility/2006" xmlns:a14="http://schemas.microsoft.com/office/drawing/2010/main">
            <mc:Choice Requires="a14">
              <p:sp>
                <p:nvSpPr>
                  <p:cNvPr id="81" name="矩形 80">
                    <a:extLst>
                      <a:ext uri="{FF2B5EF4-FFF2-40B4-BE49-F238E27FC236}">
                        <a16:creationId xmlns:a16="http://schemas.microsoft.com/office/drawing/2014/main" id="{65B90AA6-D3E7-9349-AF6D-CE16DD60B50C}"/>
                      </a:ext>
                    </a:extLst>
                  </p:cNvPr>
                  <p:cNvSpPr/>
                  <p:nvPr/>
                </p:nvSpPr>
                <p:spPr>
                  <a:xfrm>
                    <a:off x="10967033" y="3963923"/>
                    <a:ext cx="488659"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i="1">
                                  <a:solidFill>
                                    <a:schemeClr val="tx1">
                                      <a:lumMod val="75000"/>
                                      <a:lumOff val="25000"/>
                                    </a:schemeClr>
                                  </a:solidFill>
                                  <a:latin typeface="Cambria Math" panose="02040503050406030204" pitchFamily="18" charset="0"/>
                                  <a:ea typeface="微软雅黑" pitchFamily="34" charset="-122"/>
                                </a:rPr>
                                <m:t>𝑑</m:t>
                              </m:r>
                            </m:e>
                            <m:sub>
                              <m:r>
                                <a:rPr lang="en-US" altLang="zh-CN" b="0" i="1" smtClean="0">
                                  <a:solidFill>
                                    <a:schemeClr val="tx1">
                                      <a:lumMod val="75000"/>
                                      <a:lumOff val="25000"/>
                                    </a:schemeClr>
                                  </a:solidFill>
                                  <a:latin typeface="Cambria Math" panose="02040503050406030204" pitchFamily="18" charset="0"/>
                                  <a:ea typeface="微软雅黑" pitchFamily="34" charset="-122"/>
                                </a:rPr>
                                <m:t>1</m:t>
                              </m:r>
                            </m:sub>
                          </m:sSub>
                        </m:oMath>
                      </m:oMathPara>
                    </a14:m>
                    <a:endParaRPr lang="zh-CN" altLang="en-US" dirty="0">
                      <a:latin typeface="Microsoft YaHei" panose="020B0503020204020204" pitchFamily="34" charset="-122"/>
                      <a:ea typeface="Microsoft YaHei" panose="020B0503020204020204" pitchFamily="34" charset="-122"/>
                    </a:endParaRPr>
                  </a:p>
                </p:txBody>
              </p:sp>
            </mc:Choice>
            <mc:Fallback xmlns="">
              <p:sp>
                <p:nvSpPr>
                  <p:cNvPr id="81" name="矩形 80">
                    <a:extLst>
                      <a:ext uri="{FF2B5EF4-FFF2-40B4-BE49-F238E27FC236}">
                        <a16:creationId xmlns:a16="http://schemas.microsoft.com/office/drawing/2014/main" id="{65B90AA6-D3E7-9349-AF6D-CE16DD60B50C}"/>
                      </a:ext>
                    </a:extLst>
                  </p:cNvPr>
                  <p:cNvSpPr>
                    <a:spLocks noRot="1" noChangeAspect="1" noMove="1" noResize="1" noEditPoints="1" noAdjustHandles="1" noChangeArrowheads="1" noChangeShapeType="1" noTextEdit="1"/>
                  </p:cNvSpPr>
                  <p:nvPr/>
                </p:nvSpPr>
                <p:spPr>
                  <a:xfrm>
                    <a:off x="10967033" y="3963923"/>
                    <a:ext cx="488659" cy="369332"/>
                  </a:xfrm>
                  <a:prstGeom prst="rect">
                    <a:avLst/>
                  </a:prstGeom>
                  <a:blipFill>
                    <a:blip r:embed="rId6"/>
                    <a:stretch>
                      <a:fillRect/>
                    </a:stretch>
                  </a:blipFill>
                </p:spPr>
                <p:txBody>
                  <a:bodyPr/>
                  <a:lstStyle/>
                  <a:p>
                    <a:r>
                      <a:rPr lang="zh-CN" altLang="en-US">
                        <a:noFill/>
                      </a:rPr>
                      <a:t> </a:t>
                    </a:r>
                  </a:p>
                </p:txBody>
              </p:sp>
            </mc:Fallback>
          </mc:AlternateContent>
        </p:grpSp>
        <p:grpSp>
          <p:nvGrpSpPr>
            <p:cNvPr id="40" name="组合 39">
              <a:extLst>
                <a:ext uri="{FF2B5EF4-FFF2-40B4-BE49-F238E27FC236}">
                  <a16:creationId xmlns:a16="http://schemas.microsoft.com/office/drawing/2014/main" id="{FD7FAE3C-61BC-684A-81F5-03094B937EC2}"/>
                </a:ext>
              </a:extLst>
            </p:cNvPr>
            <p:cNvGrpSpPr/>
            <p:nvPr/>
          </p:nvGrpSpPr>
          <p:grpSpPr>
            <a:xfrm>
              <a:off x="3602305" y="5669103"/>
              <a:ext cx="800615" cy="1128938"/>
              <a:chOff x="10773307" y="4708515"/>
              <a:chExt cx="800615" cy="1128938"/>
            </a:xfrm>
          </p:grpSpPr>
          <p:pic>
            <p:nvPicPr>
              <p:cNvPr id="72" name="图形 71">
                <a:extLst>
                  <a:ext uri="{FF2B5EF4-FFF2-40B4-BE49-F238E27FC236}">
                    <a16:creationId xmlns:a16="http://schemas.microsoft.com/office/drawing/2014/main" id="{9539EF6D-E181-7648-966A-2F25C137AB8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73307" y="4708515"/>
                <a:ext cx="800615" cy="800615"/>
              </a:xfrm>
              <a:prstGeom prst="rect">
                <a:avLst/>
              </a:prstGeom>
            </p:spPr>
          </p:pic>
          <mc:AlternateContent xmlns:mc="http://schemas.openxmlformats.org/markup-compatibility/2006" xmlns:a14="http://schemas.microsoft.com/office/drawing/2010/main">
            <mc:Choice Requires="a14">
              <p:sp>
                <p:nvSpPr>
                  <p:cNvPr id="78" name="矩形 77">
                    <a:extLst>
                      <a:ext uri="{FF2B5EF4-FFF2-40B4-BE49-F238E27FC236}">
                        <a16:creationId xmlns:a16="http://schemas.microsoft.com/office/drawing/2014/main" id="{3BF8E44A-916B-B34E-A8F5-26F991B5A0A7}"/>
                      </a:ext>
                    </a:extLst>
                  </p:cNvPr>
                  <p:cNvSpPr/>
                  <p:nvPr/>
                </p:nvSpPr>
                <p:spPr>
                  <a:xfrm>
                    <a:off x="10971602" y="5468121"/>
                    <a:ext cx="493981"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1">
                                      <a:lumMod val="75000"/>
                                      <a:lumOff val="25000"/>
                                    </a:schemeClr>
                                  </a:solidFill>
                                  <a:latin typeface="Cambria Math" panose="02040503050406030204" pitchFamily="18" charset="0"/>
                                  <a:ea typeface="微软雅黑" pitchFamily="34" charset="-122"/>
                                </a:rPr>
                              </m:ctrlPr>
                            </m:sSubPr>
                            <m:e>
                              <m:r>
                                <a:rPr lang="en-US" altLang="zh-CN" i="1">
                                  <a:solidFill>
                                    <a:schemeClr val="tx1">
                                      <a:lumMod val="75000"/>
                                      <a:lumOff val="25000"/>
                                    </a:schemeClr>
                                  </a:solidFill>
                                  <a:latin typeface="Cambria Math" panose="02040503050406030204" pitchFamily="18" charset="0"/>
                                  <a:ea typeface="微软雅黑" pitchFamily="34" charset="-122"/>
                                </a:rPr>
                                <m:t>𝑑</m:t>
                              </m:r>
                            </m:e>
                            <m:sub>
                              <m:r>
                                <a:rPr lang="en-US" altLang="zh-CN" b="0" i="1" smtClean="0">
                                  <a:solidFill>
                                    <a:schemeClr val="tx1">
                                      <a:lumMod val="75000"/>
                                      <a:lumOff val="25000"/>
                                    </a:schemeClr>
                                  </a:solidFill>
                                  <a:latin typeface="Cambria Math" panose="02040503050406030204" pitchFamily="18" charset="0"/>
                                  <a:ea typeface="微软雅黑" pitchFamily="34" charset="-122"/>
                                </a:rPr>
                                <m:t>2</m:t>
                              </m:r>
                            </m:sub>
                          </m:sSub>
                        </m:oMath>
                      </m:oMathPara>
                    </a14:m>
                    <a:endParaRPr lang="zh-CN" altLang="en-US" dirty="0">
                      <a:latin typeface="Microsoft YaHei" panose="020B0503020204020204" pitchFamily="34" charset="-122"/>
                      <a:ea typeface="Microsoft YaHei" panose="020B0503020204020204" pitchFamily="34" charset="-122"/>
                    </a:endParaRPr>
                  </a:p>
                </p:txBody>
              </p:sp>
            </mc:Choice>
            <mc:Fallback xmlns="">
              <p:sp>
                <p:nvSpPr>
                  <p:cNvPr id="78" name="矩形 77">
                    <a:extLst>
                      <a:ext uri="{FF2B5EF4-FFF2-40B4-BE49-F238E27FC236}">
                        <a16:creationId xmlns:a16="http://schemas.microsoft.com/office/drawing/2014/main" id="{3BF8E44A-916B-B34E-A8F5-26F991B5A0A7}"/>
                      </a:ext>
                    </a:extLst>
                  </p:cNvPr>
                  <p:cNvSpPr>
                    <a:spLocks noRot="1" noChangeAspect="1" noMove="1" noResize="1" noEditPoints="1" noAdjustHandles="1" noChangeArrowheads="1" noChangeShapeType="1" noTextEdit="1"/>
                  </p:cNvSpPr>
                  <p:nvPr/>
                </p:nvSpPr>
                <p:spPr>
                  <a:xfrm>
                    <a:off x="10971602" y="5468121"/>
                    <a:ext cx="493981" cy="369332"/>
                  </a:xfrm>
                  <a:prstGeom prst="rect">
                    <a:avLst/>
                  </a:prstGeom>
                  <a:blipFill>
                    <a:blip r:embed="rId7"/>
                    <a:stretch>
                      <a:fillRect/>
                    </a:stretch>
                  </a:blipFill>
                </p:spPr>
                <p:txBody>
                  <a:bodyPr/>
                  <a:lstStyle/>
                  <a:p>
                    <a:r>
                      <a:rPr lang="zh-CN" altLang="en-US">
                        <a:noFill/>
                      </a:rPr>
                      <a:t> </a:t>
                    </a:r>
                  </a:p>
                </p:txBody>
              </p:sp>
            </mc:Fallback>
          </mc:AlternateContent>
        </p:grpSp>
        <p:grpSp>
          <p:nvGrpSpPr>
            <p:cNvPr id="41" name="组合 40">
              <a:extLst>
                <a:ext uri="{FF2B5EF4-FFF2-40B4-BE49-F238E27FC236}">
                  <a16:creationId xmlns:a16="http://schemas.microsoft.com/office/drawing/2014/main" id="{4EF6C6AF-D750-C24A-A3D7-DB14464DE831}"/>
                </a:ext>
              </a:extLst>
            </p:cNvPr>
            <p:cNvGrpSpPr/>
            <p:nvPr/>
          </p:nvGrpSpPr>
          <p:grpSpPr>
            <a:xfrm>
              <a:off x="972070" y="4026417"/>
              <a:ext cx="954107" cy="1198562"/>
              <a:chOff x="5970826" y="3177765"/>
              <a:chExt cx="954107" cy="1198562"/>
            </a:xfrm>
          </p:grpSpPr>
          <p:pic>
            <p:nvPicPr>
              <p:cNvPr id="68" name="图片 67">
                <a:extLst>
                  <a:ext uri="{FF2B5EF4-FFF2-40B4-BE49-F238E27FC236}">
                    <a16:creationId xmlns:a16="http://schemas.microsoft.com/office/drawing/2014/main" id="{DA3BF56B-06D9-7446-BF44-D473ABD1D36D}"/>
                  </a:ext>
                </a:extLst>
              </p:cNvPr>
              <p:cNvPicPr>
                <a:picLocks noChangeAspect="1"/>
              </p:cNvPicPr>
              <p:nvPr/>
            </p:nvPicPr>
            <p:blipFill>
              <a:blip r:embed="rId8"/>
              <a:stretch>
                <a:fillRect/>
              </a:stretch>
            </p:blipFill>
            <p:spPr>
              <a:xfrm>
                <a:off x="6135819" y="3177765"/>
                <a:ext cx="586364" cy="798452"/>
              </a:xfrm>
              <a:prstGeom prst="rect">
                <a:avLst/>
              </a:prstGeom>
            </p:spPr>
          </p:pic>
          <p:sp>
            <p:nvSpPr>
              <p:cNvPr id="71" name="矩形 70">
                <a:extLst>
                  <a:ext uri="{FF2B5EF4-FFF2-40B4-BE49-F238E27FC236}">
                    <a16:creationId xmlns:a16="http://schemas.microsoft.com/office/drawing/2014/main" id="{8A958EB3-7AE2-1949-968C-743FC520945A}"/>
                  </a:ext>
                </a:extLst>
              </p:cNvPr>
              <p:cNvSpPr/>
              <p:nvPr/>
            </p:nvSpPr>
            <p:spPr>
              <a:xfrm>
                <a:off x="5970826" y="3976217"/>
                <a:ext cx="954107" cy="400110"/>
              </a:xfrm>
              <a:prstGeom prst="rect">
                <a:avLst/>
              </a:prstGeom>
            </p:spPr>
            <p:txBody>
              <a:bodyPr wrap="none">
                <a:spAutoFit/>
              </a:bodyPr>
              <a:lstStyle/>
              <a:p>
                <a:pPr algn="ctr"/>
                <a:r>
                  <a:rPr lang="zh-CN" altLang="en-US" sz="2000" dirty="0">
                    <a:latin typeface="Microsoft YaHei" panose="020B0503020204020204" pitchFamily="34" charset="-122"/>
                    <a:ea typeface="Microsoft YaHei" panose="020B0503020204020204" pitchFamily="34" charset="-122"/>
                  </a:rPr>
                  <a:t>協調者</a:t>
                </a:r>
              </a:p>
            </p:txBody>
          </p:sp>
        </p:grpSp>
        <p:cxnSp>
          <p:nvCxnSpPr>
            <p:cNvPr id="43" name="直线箭头连接符 42">
              <a:extLst>
                <a:ext uri="{FF2B5EF4-FFF2-40B4-BE49-F238E27FC236}">
                  <a16:creationId xmlns:a16="http://schemas.microsoft.com/office/drawing/2014/main" id="{FB259CCE-B9E0-404B-9145-D9E22D13F755}"/>
                </a:ext>
              </a:extLst>
            </p:cNvPr>
            <p:cNvCxnSpPr>
              <a:cxnSpLocks/>
              <a:stCxn id="82" idx="1"/>
              <a:endCxn id="68" idx="3"/>
            </p:cNvCxnSpPr>
            <p:nvPr/>
          </p:nvCxnSpPr>
          <p:spPr>
            <a:xfrm flipH="1">
              <a:off x="1723427" y="2725736"/>
              <a:ext cx="1878514" cy="1699907"/>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sp>
          <p:nvSpPr>
            <p:cNvPr id="46" name="AutoShape 41">
              <a:extLst>
                <a:ext uri="{FF2B5EF4-FFF2-40B4-BE49-F238E27FC236}">
                  <a16:creationId xmlns:a16="http://schemas.microsoft.com/office/drawing/2014/main" id="{DA06A639-875C-2E4C-B588-9D582FFB008B}"/>
                </a:ext>
              </a:extLst>
            </p:cNvPr>
            <p:cNvSpPr>
              <a:spLocks noChangeArrowheads="1"/>
            </p:cNvSpPr>
            <p:nvPr/>
          </p:nvSpPr>
          <p:spPr bwMode="auto">
            <a:xfrm>
              <a:off x="5115787" y="4773771"/>
              <a:ext cx="597663" cy="670402"/>
            </a:xfrm>
            <a:prstGeom prst="lightningBolt">
              <a:avLst/>
            </a:prstGeom>
            <a:solidFill>
              <a:srgbClr val="9900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a:endParaRPr lang="zh-CN" altLang="en-US" dirty="0"/>
            </a:p>
          </p:txBody>
        </p:sp>
        <p:cxnSp>
          <p:nvCxnSpPr>
            <p:cNvPr id="47" name="直线箭头连接符 46">
              <a:extLst>
                <a:ext uri="{FF2B5EF4-FFF2-40B4-BE49-F238E27FC236}">
                  <a16:creationId xmlns:a16="http://schemas.microsoft.com/office/drawing/2014/main" id="{D59FFD89-0547-AE44-BFDD-8A0E036C55F4}"/>
                </a:ext>
              </a:extLst>
            </p:cNvPr>
            <p:cNvCxnSpPr>
              <a:cxnSpLocks/>
              <a:stCxn id="79" idx="1"/>
              <a:endCxn id="68" idx="3"/>
            </p:cNvCxnSpPr>
            <p:nvPr/>
          </p:nvCxnSpPr>
          <p:spPr>
            <a:xfrm flipH="1">
              <a:off x="1723427" y="4409749"/>
              <a:ext cx="1878514" cy="15894"/>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50" name="直线箭头连接符 49">
              <a:extLst>
                <a:ext uri="{FF2B5EF4-FFF2-40B4-BE49-F238E27FC236}">
                  <a16:creationId xmlns:a16="http://schemas.microsoft.com/office/drawing/2014/main" id="{D669AE43-0B4D-8241-802D-DD07B333341E}"/>
                </a:ext>
              </a:extLst>
            </p:cNvPr>
            <p:cNvCxnSpPr>
              <a:cxnSpLocks/>
              <a:stCxn id="72" idx="1"/>
              <a:endCxn id="68" idx="3"/>
            </p:cNvCxnSpPr>
            <p:nvPr/>
          </p:nvCxnSpPr>
          <p:spPr>
            <a:xfrm flipH="1" flipV="1">
              <a:off x="1723427" y="4425643"/>
              <a:ext cx="1878878" cy="1643768"/>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sp>
          <p:nvSpPr>
            <p:cNvPr id="54" name="矩形 53">
              <a:extLst>
                <a:ext uri="{FF2B5EF4-FFF2-40B4-BE49-F238E27FC236}">
                  <a16:creationId xmlns:a16="http://schemas.microsoft.com/office/drawing/2014/main" id="{4545E24E-63A6-AE40-8FEF-9418D3D91511}"/>
                </a:ext>
              </a:extLst>
            </p:cNvPr>
            <p:cNvSpPr/>
            <p:nvPr/>
          </p:nvSpPr>
          <p:spPr>
            <a:xfrm>
              <a:off x="1866894" y="4056311"/>
              <a:ext cx="1938054" cy="369332"/>
            </a:xfrm>
            <a:prstGeom prst="rect">
              <a:avLst/>
            </a:prstGeom>
          </p:spPr>
          <p:txBody>
            <a:bodyPr wrap="square">
              <a:spAutoFit/>
            </a:bodyPr>
            <a:lstStyle/>
            <a:p>
              <a:pPr algn="ctr"/>
              <a:r>
                <a:rPr lang="en-US" altLang="zh-CN" dirty="0" err="1">
                  <a:solidFill>
                    <a:schemeClr val="tx1">
                      <a:lumMod val="75000"/>
                      <a:lumOff val="25000"/>
                    </a:schemeClr>
                  </a:solidFill>
                  <a:latin typeface="Microsoft YaHei" panose="020B0503020204020204" pitchFamily="34" charset="-122"/>
                  <a:ea typeface="Microsoft YaHei" panose="020B0503020204020204" pitchFamily="34" charset="-122"/>
                </a:rPr>
                <a:t>Cancomitt</a:t>
              </a: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a:t>
              </a:r>
            </a:p>
          </p:txBody>
        </p:sp>
        <p:sp>
          <p:nvSpPr>
            <p:cNvPr id="55" name="矩形 54">
              <a:extLst>
                <a:ext uri="{FF2B5EF4-FFF2-40B4-BE49-F238E27FC236}">
                  <a16:creationId xmlns:a16="http://schemas.microsoft.com/office/drawing/2014/main" id="{91A014FA-65FE-D549-8AA5-11268BB7F306}"/>
                </a:ext>
              </a:extLst>
            </p:cNvPr>
            <p:cNvSpPr/>
            <p:nvPr/>
          </p:nvSpPr>
          <p:spPr>
            <a:xfrm rot="19061872">
              <a:off x="1618755" y="3206473"/>
              <a:ext cx="1938054" cy="369332"/>
            </a:xfrm>
            <a:prstGeom prst="rect">
              <a:avLst/>
            </a:prstGeom>
          </p:spPr>
          <p:txBody>
            <a:bodyPr wrap="square">
              <a:spAutoFit/>
            </a:bodyPr>
            <a:lstStyle/>
            <a:p>
              <a:pPr algn="ctr"/>
              <a:r>
                <a:rPr lang="en-US" altLang="zh-CN" dirty="0" err="1">
                  <a:solidFill>
                    <a:schemeClr val="tx1">
                      <a:lumMod val="75000"/>
                      <a:lumOff val="25000"/>
                    </a:schemeClr>
                  </a:solidFill>
                  <a:latin typeface="Microsoft YaHei" panose="020B0503020204020204" pitchFamily="34" charset="-122"/>
                  <a:ea typeface="Microsoft YaHei" panose="020B0503020204020204" pitchFamily="34" charset="-122"/>
                </a:rPr>
                <a:t>Cancomitt</a:t>
              </a: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a:t>
              </a:r>
            </a:p>
          </p:txBody>
        </p:sp>
        <p:sp>
          <p:nvSpPr>
            <p:cNvPr id="56" name="矩形 55">
              <a:extLst>
                <a:ext uri="{FF2B5EF4-FFF2-40B4-BE49-F238E27FC236}">
                  <a16:creationId xmlns:a16="http://schemas.microsoft.com/office/drawing/2014/main" id="{B64B4D99-A793-724B-9F5E-9B5CE737990B}"/>
                </a:ext>
              </a:extLst>
            </p:cNvPr>
            <p:cNvSpPr/>
            <p:nvPr/>
          </p:nvSpPr>
          <p:spPr>
            <a:xfrm rot="2516082">
              <a:off x="1862837" y="4909712"/>
              <a:ext cx="1938054" cy="369332"/>
            </a:xfrm>
            <a:prstGeom prst="rect">
              <a:avLst/>
            </a:prstGeom>
          </p:spPr>
          <p:txBody>
            <a:bodyPr wrap="square">
              <a:spAutoFit/>
            </a:bodyPr>
            <a:lstStyle/>
            <a:p>
              <a:pPr algn="ctr"/>
              <a:r>
                <a:rPr lang="en-US" altLang="zh-CN" dirty="0" err="1">
                  <a:solidFill>
                    <a:schemeClr val="tx1">
                      <a:lumMod val="75000"/>
                      <a:lumOff val="25000"/>
                    </a:schemeClr>
                  </a:solidFill>
                  <a:latin typeface="Microsoft YaHei" panose="020B0503020204020204" pitchFamily="34" charset="-122"/>
                  <a:ea typeface="Microsoft YaHei" panose="020B0503020204020204" pitchFamily="34" charset="-122"/>
                </a:rPr>
                <a:t>Cancomitt</a:t>
              </a: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a:t>
              </a:r>
            </a:p>
          </p:txBody>
        </p:sp>
        <p:grpSp>
          <p:nvGrpSpPr>
            <p:cNvPr id="57" name="组合 56">
              <a:extLst>
                <a:ext uri="{FF2B5EF4-FFF2-40B4-BE49-F238E27FC236}">
                  <a16:creationId xmlns:a16="http://schemas.microsoft.com/office/drawing/2014/main" id="{A7943848-55A8-0340-A712-31A184875FA1}"/>
                </a:ext>
              </a:extLst>
            </p:cNvPr>
            <p:cNvGrpSpPr/>
            <p:nvPr/>
          </p:nvGrpSpPr>
          <p:grpSpPr>
            <a:xfrm>
              <a:off x="5945414" y="4030726"/>
              <a:ext cx="954107" cy="1198562"/>
              <a:chOff x="5970826" y="3177765"/>
              <a:chExt cx="954107" cy="1198562"/>
            </a:xfrm>
          </p:grpSpPr>
          <p:pic>
            <p:nvPicPr>
              <p:cNvPr id="66" name="图片 65">
                <a:extLst>
                  <a:ext uri="{FF2B5EF4-FFF2-40B4-BE49-F238E27FC236}">
                    <a16:creationId xmlns:a16="http://schemas.microsoft.com/office/drawing/2014/main" id="{F86D92BA-4834-4F42-8AE1-206AD1B4DD43}"/>
                  </a:ext>
                </a:extLst>
              </p:cNvPr>
              <p:cNvPicPr>
                <a:picLocks noChangeAspect="1"/>
              </p:cNvPicPr>
              <p:nvPr/>
            </p:nvPicPr>
            <p:blipFill>
              <a:blip r:embed="rId8"/>
              <a:stretch>
                <a:fillRect/>
              </a:stretch>
            </p:blipFill>
            <p:spPr>
              <a:xfrm>
                <a:off x="6135819" y="3177765"/>
                <a:ext cx="586364" cy="798452"/>
              </a:xfrm>
              <a:prstGeom prst="rect">
                <a:avLst/>
              </a:prstGeom>
            </p:spPr>
          </p:pic>
          <p:sp>
            <p:nvSpPr>
              <p:cNvPr id="67" name="矩形 66">
                <a:extLst>
                  <a:ext uri="{FF2B5EF4-FFF2-40B4-BE49-F238E27FC236}">
                    <a16:creationId xmlns:a16="http://schemas.microsoft.com/office/drawing/2014/main" id="{477C181A-AA47-DE4A-AAD1-E0F40F1EDDA1}"/>
                  </a:ext>
                </a:extLst>
              </p:cNvPr>
              <p:cNvSpPr/>
              <p:nvPr/>
            </p:nvSpPr>
            <p:spPr>
              <a:xfrm>
                <a:off x="5970826" y="3976217"/>
                <a:ext cx="954107" cy="400110"/>
              </a:xfrm>
              <a:prstGeom prst="rect">
                <a:avLst/>
              </a:prstGeom>
            </p:spPr>
            <p:txBody>
              <a:bodyPr wrap="none">
                <a:spAutoFit/>
              </a:bodyPr>
              <a:lstStyle/>
              <a:p>
                <a:pPr algn="ctr"/>
                <a:r>
                  <a:rPr lang="zh-CN" altLang="en-US" sz="2000" dirty="0">
                    <a:latin typeface="Microsoft YaHei" panose="020B0503020204020204" pitchFamily="34" charset="-122"/>
                    <a:ea typeface="Microsoft YaHei" panose="020B0503020204020204" pitchFamily="34" charset="-122"/>
                  </a:rPr>
                  <a:t>協調者</a:t>
                </a:r>
              </a:p>
            </p:txBody>
          </p:sp>
        </p:grpSp>
        <p:cxnSp>
          <p:nvCxnSpPr>
            <p:cNvPr id="58" name="直线箭头连接符 57">
              <a:extLst>
                <a:ext uri="{FF2B5EF4-FFF2-40B4-BE49-F238E27FC236}">
                  <a16:creationId xmlns:a16="http://schemas.microsoft.com/office/drawing/2014/main" id="{2713A80B-965D-8247-8031-EE09687B3375}"/>
                </a:ext>
              </a:extLst>
            </p:cNvPr>
            <p:cNvCxnSpPr>
              <a:cxnSpLocks/>
              <a:stCxn id="66" idx="1"/>
              <a:endCxn id="82" idx="3"/>
            </p:cNvCxnSpPr>
            <p:nvPr/>
          </p:nvCxnSpPr>
          <p:spPr>
            <a:xfrm flipH="1" flipV="1">
              <a:off x="4402556" y="2725736"/>
              <a:ext cx="1707851" cy="1704216"/>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59" name="直线箭头连接符 58">
              <a:extLst>
                <a:ext uri="{FF2B5EF4-FFF2-40B4-BE49-F238E27FC236}">
                  <a16:creationId xmlns:a16="http://schemas.microsoft.com/office/drawing/2014/main" id="{1AF457DD-A8C5-8A45-A1C9-F6575B6949CB}"/>
                </a:ext>
              </a:extLst>
            </p:cNvPr>
            <p:cNvCxnSpPr>
              <a:cxnSpLocks/>
              <a:stCxn id="66" idx="1"/>
              <a:endCxn id="79" idx="3"/>
            </p:cNvCxnSpPr>
            <p:nvPr/>
          </p:nvCxnSpPr>
          <p:spPr>
            <a:xfrm flipH="1" flipV="1">
              <a:off x="4402556" y="4409749"/>
              <a:ext cx="1707851" cy="20203"/>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cxnSp>
          <p:nvCxnSpPr>
            <p:cNvPr id="60" name="直线箭头连接符 59">
              <a:extLst>
                <a:ext uri="{FF2B5EF4-FFF2-40B4-BE49-F238E27FC236}">
                  <a16:creationId xmlns:a16="http://schemas.microsoft.com/office/drawing/2014/main" id="{40E976AE-9C9E-D54D-AAFC-969AB30AB5D0}"/>
                </a:ext>
              </a:extLst>
            </p:cNvPr>
            <p:cNvCxnSpPr>
              <a:cxnSpLocks/>
              <a:stCxn id="66" idx="1"/>
              <a:endCxn id="72" idx="3"/>
            </p:cNvCxnSpPr>
            <p:nvPr/>
          </p:nvCxnSpPr>
          <p:spPr>
            <a:xfrm flipH="1">
              <a:off x="4402920" y="4429952"/>
              <a:ext cx="1707487" cy="1639459"/>
            </a:xfrm>
            <a:prstGeom prst="straightConnector1">
              <a:avLst/>
            </a:prstGeom>
            <a:ln>
              <a:headEnd type="triangle" w="lg" len="lg"/>
              <a:tailEnd type="none"/>
            </a:ln>
          </p:spPr>
          <p:style>
            <a:lnRef idx="1">
              <a:schemeClr val="accent1"/>
            </a:lnRef>
            <a:fillRef idx="0">
              <a:schemeClr val="accent1"/>
            </a:fillRef>
            <a:effectRef idx="0">
              <a:schemeClr val="accent1"/>
            </a:effectRef>
            <a:fontRef idx="minor">
              <a:schemeClr val="tx1"/>
            </a:fontRef>
          </p:style>
        </p:cxnSp>
        <p:sp>
          <p:nvSpPr>
            <p:cNvPr id="62" name="矩形 61">
              <a:extLst>
                <a:ext uri="{FF2B5EF4-FFF2-40B4-BE49-F238E27FC236}">
                  <a16:creationId xmlns:a16="http://schemas.microsoft.com/office/drawing/2014/main" id="{16A692DD-B6DB-A442-8DE3-0172E9388176}"/>
                </a:ext>
              </a:extLst>
            </p:cNvPr>
            <p:cNvSpPr/>
            <p:nvPr/>
          </p:nvSpPr>
          <p:spPr>
            <a:xfrm>
              <a:off x="4234602" y="4056311"/>
              <a:ext cx="1938054" cy="369332"/>
            </a:xfrm>
            <a:prstGeom prst="rect">
              <a:avLst/>
            </a:prstGeom>
          </p:spPr>
          <p:txBody>
            <a:bodyPr wrap="square">
              <a:spAutoFit/>
            </a:bodyPr>
            <a:lstStyle/>
            <a:p>
              <a:pPr algn="ct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Yes</a:t>
              </a:r>
            </a:p>
          </p:txBody>
        </p:sp>
        <p:sp>
          <p:nvSpPr>
            <p:cNvPr id="65" name="矩形 64">
              <a:extLst>
                <a:ext uri="{FF2B5EF4-FFF2-40B4-BE49-F238E27FC236}">
                  <a16:creationId xmlns:a16="http://schemas.microsoft.com/office/drawing/2014/main" id="{249D2C0A-B814-A345-AE76-A55421F31E14}"/>
                </a:ext>
              </a:extLst>
            </p:cNvPr>
            <p:cNvSpPr/>
            <p:nvPr/>
          </p:nvSpPr>
          <p:spPr>
            <a:xfrm rot="2765746">
              <a:off x="4418920" y="3174967"/>
              <a:ext cx="1938054" cy="369332"/>
            </a:xfrm>
            <a:prstGeom prst="rect">
              <a:avLst/>
            </a:prstGeom>
          </p:spPr>
          <p:txBody>
            <a:bodyPr wrap="square">
              <a:spAutoFit/>
            </a:bodyPr>
            <a:lstStyle/>
            <a:p>
              <a:pPr algn="ct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Yes</a:t>
              </a:r>
            </a:p>
          </p:txBody>
        </p:sp>
      </p:grpSp>
      <mc:AlternateContent xmlns:mc="http://schemas.openxmlformats.org/markup-compatibility/2006">
        <mc:Choice xmlns:a14="http://schemas.microsoft.com/office/drawing/2010/main" Requires="a14">
          <p:sp>
            <p:nvSpPr>
              <p:cNvPr id="88" name="矩形 87">
                <a:extLst>
                  <a:ext uri="{FF2B5EF4-FFF2-40B4-BE49-F238E27FC236}">
                    <a16:creationId xmlns:a16="http://schemas.microsoft.com/office/drawing/2014/main" id="{B069A64F-D025-AC4C-B890-91B29BD701AE}"/>
                  </a:ext>
                </a:extLst>
              </p:cNvPr>
              <p:cNvSpPr/>
              <p:nvPr/>
            </p:nvSpPr>
            <p:spPr>
              <a:xfrm>
                <a:off x="526946" y="1929900"/>
                <a:ext cx="5413391" cy="4500591"/>
              </a:xfrm>
              <a:prstGeom prst="rect">
                <a:avLst/>
              </a:prstGeom>
              <a:ln>
                <a:solidFill>
                  <a:srgbClr val="00B0F0"/>
                </a:solidFill>
              </a:ln>
            </p:spPr>
            <p:txBody>
              <a:bodyPr wrap="square">
                <a:spAutoFit/>
              </a:bodyPr>
              <a:lstStyle/>
              <a:p>
                <a:pPr marL="3429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執行步驟</a:t>
                </a:r>
                <a:endPar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a:p>
                <a:pPr marL="6840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協調者向三個數據庫詢問是否可以提交一個更改</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A</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值的事務</a:t>
                </a:r>
                <a:endPar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a:p>
                <a:pPr marL="6840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三個數據庫都向協調者返回</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Yes</a:t>
                </a:r>
              </a:p>
              <a:p>
                <a:pPr marL="6840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數據庫</a:t>
                </a:r>
                <a14:m>
                  <m:oMath xmlns:m="http://schemas.openxmlformats.org/officeDocument/2006/math">
                    <m:sSub>
                      <m:sSubPr>
                        <m:ctrlPr>
                          <a:rPr lang="en-US" altLang="zh-CN" sz="2400" i="1">
                            <a:solidFill>
                              <a:schemeClr val="tx1">
                                <a:lumMod val="75000"/>
                                <a:lumOff val="25000"/>
                              </a:schemeClr>
                            </a:solidFill>
                            <a:latin typeface="Cambria Math" panose="02040503050406030204" pitchFamily="18" charset="0"/>
                            <a:ea typeface="微软雅黑" pitchFamily="34" charset="-122"/>
                          </a:rPr>
                        </m:ctrlPr>
                      </m:sSubPr>
                      <m:e>
                        <m:r>
                          <a:rPr lang="en-US" altLang="zh-CN" sz="2400" i="1">
                            <a:solidFill>
                              <a:schemeClr val="tx1">
                                <a:lumMod val="75000"/>
                                <a:lumOff val="25000"/>
                              </a:schemeClr>
                            </a:solidFill>
                            <a:latin typeface="Cambria Math" panose="02040503050406030204" pitchFamily="18" charset="0"/>
                            <a:ea typeface="微软雅黑" pitchFamily="34" charset="-122"/>
                          </a:rPr>
                          <m:t>𝑑</m:t>
                        </m:r>
                      </m:e>
                      <m:sub>
                        <m:r>
                          <a:rPr lang="en-US" altLang="zh-CN" sz="2400" b="0" i="1" smtClean="0">
                            <a:solidFill>
                              <a:schemeClr val="tx1">
                                <a:lumMod val="75000"/>
                                <a:lumOff val="25000"/>
                              </a:schemeClr>
                            </a:solidFill>
                            <a:latin typeface="Cambria Math" panose="02040503050406030204" pitchFamily="18" charset="0"/>
                            <a:ea typeface="微软雅黑" pitchFamily="34" charset="-122"/>
                          </a:rPr>
                          <m:t>2</m:t>
                        </m:r>
                      </m:sub>
                    </m:sSub>
                  </m:oMath>
                </a14:m>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與協調者之間的通信鏈路故障，導致</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Yes</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消息沒被收到</a:t>
                </a:r>
                <a:endPar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a:p>
                <a:pPr marL="6840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協調者無法收到足够的</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Yes</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，陷入無限等待，或者采用計時機制，超時後通知所有節點停止提交</a:t>
                </a:r>
                <a:endPar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mc:Choice>
        <mc:Fallback>
          <p:sp>
            <p:nvSpPr>
              <p:cNvPr id="88" name="矩形 87">
                <a:extLst>
                  <a:ext uri="{FF2B5EF4-FFF2-40B4-BE49-F238E27FC236}">
                    <a16:creationId xmlns:a16="http://schemas.microsoft.com/office/drawing/2014/main" id="{B069A64F-D025-AC4C-B890-91B29BD701AE}"/>
                  </a:ext>
                </a:extLst>
              </p:cNvPr>
              <p:cNvSpPr>
                <a:spLocks noRot="1" noChangeAspect="1" noMove="1" noResize="1" noEditPoints="1" noAdjustHandles="1" noChangeArrowheads="1" noChangeShapeType="1" noTextEdit="1"/>
              </p:cNvSpPr>
              <p:nvPr/>
            </p:nvSpPr>
            <p:spPr>
              <a:xfrm>
                <a:off x="526946" y="1929900"/>
                <a:ext cx="5413391" cy="4500591"/>
              </a:xfrm>
              <a:prstGeom prst="rect">
                <a:avLst/>
              </a:prstGeom>
              <a:blipFill>
                <a:blip r:embed="rId9"/>
                <a:stretch>
                  <a:fillRect l="-1348" r="-1685" b="-2027"/>
                </a:stretch>
              </a:blipFill>
              <a:ln>
                <a:solidFill>
                  <a:srgbClr val="00B0F0"/>
                </a:solidFill>
              </a:ln>
            </p:spPr>
            <p:txBody>
              <a:bodyPr/>
              <a:lstStyle/>
              <a:p>
                <a:r>
                  <a:rPr lang="fr-FR">
                    <a:noFill/>
                  </a:rPr>
                  <a:t> </a:t>
                </a:r>
              </a:p>
            </p:txBody>
          </p:sp>
        </mc:Fallback>
      </mc:AlternateContent>
      <p:sp>
        <p:nvSpPr>
          <p:cNvPr id="90" name="矩形 89">
            <a:extLst>
              <a:ext uri="{FF2B5EF4-FFF2-40B4-BE49-F238E27FC236}">
                <a16:creationId xmlns:a16="http://schemas.microsoft.com/office/drawing/2014/main" id="{6AC6EEFD-2CC1-0744-8177-F5555A6C84EF}"/>
              </a:ext>
            </a:extLst>
          </p:cNvPr>
          <p:cNvSpPr/>
          <p:nvPr/>
        </p:nvSpPr>
        <p:spPr>
          <a:xfrm rot="19031407">
            <a:off x="8923269" y="5014522"/>
            <a:ext cx="1938054" cy="369332"/>
          </a:xfrm>
          <a:prstGeom prst="rect">
            <a:avLst/>
          </a:prstGeom>
        </p:spPr>
        <p:txBody>
          <a:bodyPr wrap="square">
            <a:spAutoFit/>
          </a:bodyPr>
          <a:lstStyle/>
          <a:p>
            <a:pPr algn="ctr"/>
            <a:r>
              <a:rPr lang="en-US" altLang="zh-CN" dirty="0">
                <a:solidFill>
                  <a:schemeClr val="tx1">
                    <a:lumMod val="75000"/>
                    <a:lumOff val="25000"/>
                  </a:schemeClr>
                </a:solidFill>
                <a:latin typeface="Microsoft YaHei" panose="020B0503020204020204" pitchFamily="34" charset="-122"/>
                <a:ea typeface="Microsoft YaHei" panose="020B0503020204020204" pitchFamily="34" charset="-122"/>
              </a:rPr>
              <a:t>Yes</a:t>
            </a:r>
          </a:p>
        </p:txBody>
      </p:sp>
      <p:sp>
        <p:nvSpPr>
          <p:cNvPr id="42" name="矩形 41">
            <a:extLst>
              <a:ext uri="{FF2B5EF4-FFF2-40B4-BE49-F238E27FC236}">
                <a16:creationId xmlns:a16="http://schemas.microsoft.com/office/drawing/2014/main" id="{7D8D0944-B73B-2744-A3A6-5020B8BB9C83}"/>
              </a:ext>
            </a:extLst>
          </p:cNvPr>
          <p:cNvSpPr/>
          <p:nvPr/>
        </p:nvSpPr>
        <p:spPr>
          <a:xfrm>
            <a:off x="814449" y="1153952"/>
            <a:ext cx="10975474" cy="511807"/>
          </a:xfrm>
          <a:prstGeom prst="rect">
            <a:avLst/>
          </a:prstGeom>
          <a:ln>
            <a:noFill/>
          </a:ln>
        </p:spPr>
        <p:txBody>
          <a:bodyPr wrap="square">
            <a:spAutoFit/>
          </a:bodyPr>
          <a:lstStyle/>
          <a:p>
            <a:pPr marL="0" lvl="1" algn="ctr" fontAlgn="base">
              <a:lnSpc>
                <a:spcPts val="3600"/>
              </a:lnSpc>
              <a:spcBef>
                <a:spcPct val="20000"/>
              </a:spcBef>
              <a:spcAft>
                <a:spcPct val="0"/>
              </a:spcAft>
              <a:buSzPct val="100000"/>
            </a:pPr>
            <a:r>
              <a:rPr lang="zh-CN" altLang="en-US" sz="2400" b="1" dirty="0">
                <a:solidFill>
                  <a:srgbClr val="C00000"/>
                </a:solidFill>
                <a:latin typeface="Microsoft YaHei" panose="020B0503020204020204" pitchFamily="34" charset="-122"/>
                <a:ea typeface="Microsoft YaHei" panose="020B0503020204020204" pitchFamily="34" charset="-122"/>
              </a:rPr>
              <a:t>存在一個協調者和三個存儲相同狀態變量</a:t>
            </a:r>
            <a:r>
              <a:rPr lang="en-US" altLang="zh-CN" sz="2400" b="1" dirty="0">
                <a:solidFill>
                  <a:srgbClr val="C00000"/>
                </a:solidFill>
                <a:latin typeface="Microsoft YaHei" panose="020B0503020204020204" pitchFamily="34" charset="-122"/>
                <a:ea typeface="Microsoft YaHei" panose="020B0503020204020204" pitchFamily="34" charset="-122"/>
              </a:rPr>
              <a:t>A</a:t>
            </a:r>
            <a:r>
              <a:rPr lang="zh-CN" altLang="en-US" sz="2400" b="1" dirty="0">
                <a:solidFill>
                  <a:srgbClr val="C00000"/>
                </a:solidFill>
                <a:latin typeface="Microsoft YaHei" panose="020B0503020204020204" pitchFamily="34" charset="-122"/>
                <a:ea typeface="Microsoft YaHei" panose="020B0503020204020204" pitchFamily="34" charset="-122"/>
              </a:rPr>
              <a:t>的數據庫</a:t>
            </a:r>
            <a:endParaRPr lang="en-US" altLang="zh-CN" sz="2400" b="1" dirty="0">
              <a:solidFill>
                <a:srgbClr val="C00000"/>
              </a:solidFill>
              <a:latin typeface="Microsoft YaHei" panose="020B0503020204020204" pitchFamily="34" charset="-122"/>
              <a:ea typeface="Microsoft YaHei" panose="020B0503020204020204" pitchFamily="34" charset="-122"/>
            </a:endParaRPr>
          </a:p>
        </p:txBody>
      </p:sp>
      <p:sp>
        <p:nvSpPr>
          <p:cNvPr id="36" name="灯片编号占位符 2">
            <a:extLst>
              <a:ext uri="{FF2B5EF4-FFF2-40B4-BE49-F238E27FC236}">
                <a16:creationId xmlns:a16="http://schemas.microsoft.com/office/drawing/2014/main" id="{86BF3BDC-2949-0247-8AC6-32287204703C}"/>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58</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7419070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solidFill>
                  <a:srgbClr val="C00000"/>
                </a:solidFill>
              </a:rPr>
              <a:t>無法容錯的根源</a:t>
            </a:r>
          </a:p>
        </p:txBody>
      </p:sp>
      <p:sp>
        <p:nvSpPr>
          <p:cNvPr id="49" name="矩形 48">
            <a:extLst>
              <a:ext uri="{FF2B5EF4-FFF2-40B4-BE49-F238E27FC236}">
                <a16:creationId xmlns:a16="http://schemas.microsoft.com/office/drawing/2014/main" id="{8697AA0F-5A05-5843-AF27-D7AD9B602D3C}"/>
              </a:ext>
            </a:extLst>
          </p:cNvPr>
          <p:cNvSpPr/>
          <p:nvPr/>
        </p:nvSpPr>
        <p:spPr>
          <a:xfrm>
            <a:off x="961760" y="1162376"/>
            <a:ext cx="10637856" cy="1333174"/>
          </a:xfrm>
          <a:prstGeom prst="rect">
            <a:avLst/>
          </a:prstGeom>
          <a:solidFill>
            <a:srgbClr val="00B0F0"/>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marL="0" lvl="1" algn="ctr"/>
            <a:r>
              <a:rPr lang="zh-CN" altLang="en-US" sz="2800" b="1" dirty="0">
                <a:solidFill>
                  <a:schemeClr val="bg1"/>
                </a:solidFill>
                <a:latin typeface="Microsoft YaHei" panose="020B0503020204020204" pitchFamily="34" charset="-122"/>
                <a:ea typeface="Microsoft YaHei" panose="020B0503020204020204" pitchFamily="34" charset="-122"/>
              </a:rPr>
              <a:t>在簡單的二階段提交協議中，必須所有相關節點都進行回應後才</a:t>
            </a:r>
            <a:endParaRPr lang="en-US" altLang="zh-CN" sz="2800" b="1" dirty="0">
              <a:solidFill>
                <a:schemeClr val="bg1"/>
              </a:solidFill>
              <a:latin typeface="Microsoft YaHei" panose="020B0503020204020204" pitchFamily="34" charset="-122"/>
              <a:ea typeface="Microsoft YaHei" panose="020B0503020204020204" pitchFamily="34" charset="-122"/>
            </a:endParaRPr>
          </a:p>
          <a:p>
            <a:pPr marL="0" lvl="1" algn="ctr"/>
            <a:r>
              <a:rPr lang="zh-CN" altLang="en-US" sz="2800" b="1" dirty="0">
                <a:solidFill>
                  <a:schemeClr val="bg1"/>
                </a:solidFill>
                <a:latin typeface="Microsoft YaHei" panose="020B0503020204020204" pitchFamily="34" charset="-122"/>
                <a:ea typeface="Microsoft YaHei" panose="020B0503020204020204" pitchFamily="34" charset="-122"/>
              </a:rPr>
              <a:t>成功提交，因此協議無法容忍任何故障</a:t>
            </a:r>
            <a:endParaRPr lang="en-US" altLang="zh-CN" sz="2800" b="1" dirty="0">
              <a:solidFill>
                <a:schemeClr val="bg1"/>
              </a:solidFill>
              <a:latin typeface="Microsoft YaHei" panose="020B0503020204020204" pitchFamily="34" charset="-122"/>
              <a:ea typeface="Microsoft YaHei" panose="020B0503020204020204" pitchFamily="34" charset="-122"/>
            </a:endParaRPr>
          </a:p>
        </p:txBody>
      </p:sp>
      <p:grpSp>
        <p:nvGrpSpPr>
          <p:cNvPr id="51" name="组合 50">
            <a:extLst>
              <a:ext uri="{FF2B5EF4-FFF2-40B4-BE49-F238E27FC236}">
                <a16:creationId xmlns:a16="http://schemas.microsoft.com/office/drawing/2014/main" id="{37E92978-2E78-ED4B-95A3-9A09EBDDE2EC}"/>
              </a:ext>
            </a:extLst>
          </p:cNvPr>
          <p:cNvGrpSpPr/>
          <p:nvPr/>
        </p:nvGrpSpPr>
        <p:grpSpPr>
          <a:xfrm>
            <a:off x="1341697" y="3336829"/>
            <a:ext cx="9665804" cy="2765466"/>
            <a:chOff x="1241682" y="4243681"/>
            <a:chExt cx="8285995" cy="2377712"/>
          </a:xfrm>
        </p:grpSpPr>
        <p:pic>
          <p:nvPicPr>
            <p:cNvPr id="52" name="图片 51">
              <a:extLst>
                <a:ext uri="{FF2B5EF4-FFF2-40B4-BE49-F238E27FC236}">
                  <a16:creationId xmlns:a16="http://schemas.microsoft.com/office/drawing/2014/main" id="{F728B808-9827-CB4B-9414-FBF455DD03D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41682" y="4561857"/>
              <a:ext cx="1315024" cy="877779"/>
            </a:xfrm>
            <a:prstGeom prst="rect">
              <a:avLst/>
            </a:prstGeom>
          </p:spPr>
        </p:pic>
        <p:sp>
          <p:nvSpPr>
            <p:cNvPr id="53" name="矩形 52">
              <a:extLst>
                <a:ext uri="{FF2B5EF4-FFF2-40B4-BE49-F238E27FC236}">
                  <a16:creationId xmlns:a16="http://schemas.microsoft.com/office/drawing/2014/main" id="{041AAF1A-55E4-5640-8B88-9051B133023D}"/>
                </a:ext>
              </a:extLst>
            </p:cNvPr>
            <p:cNvSpPr/>
            <p:nvPr/>
          </p:nvSpPr>
          <p:spPr>
            <a:xfrm>
              <a:off x="1576028" y="5583652"/>
              <a:ext cx="685986" cy="461665"/>
            </a:xfrm>
            <a:prstGeom prst="rect">
              <a:avLst/>
            </a:prstGeom>
          </p:spPr>
          <p:txBody>
            <a:bodyPr wrap="none">
              <a:spAutoFit/>
            </a:bodyPr>
            <a:lstStyle/>
            <a:p>
              <a:r>
                <a:rPr lang="zh-CN" altLang="en-US" sz="2400" dirty="0">
                  <a:latin typeface="Microsoft YaHei" panose="020B0503020204020204" pitchFamily="34" charset="-122"/>
                  <a:ea typeface="Microsoft YaHei" panose="020B0503020204020204" pitchFamily="34" charset="-122"/>
                </a:rPr>
                <a:t>印度</a:t>
              </a:r>
            </a:p>
          </p:txBody>
        </p:sp>
        <p:sp>
          <p:nvSpPr>
            <p:cNvPr id="61" name="矩形 60">
              <a:extLst>
                <a:ext uri="{FF2B5EF4-FFF2-40B4-BE49-F238E27FC236}">
                  <a16:creationId xmlns:a16="http://schemas.microsoft.com/office/drawing/2014/main" id="{DB8569C2-C090-9D4B-AB73-E7DFDF50DCFE}"/>
                </a:ext>
              </a:extLst>
            </p:cNvPr>
            <p:cNvSpPr/>
            <p:nvPr/>
          </p:nvSpPr>
          <p:spPr>
            <a:xfrm>
              <a:off x="4266018" y="4736824"/>
              <a:ext cx="1006371" cy="461665"/>
            </a:xfrm>
            <a:prstGeom prst="rect">
              <a:avLst/>
            </a:prstGeom>
          </p:spPr>
          <p:txBody>
            <a:bodyPr wrap="square">
              <a:spAutoFit/>
            </a:bodyPr>
            <a:lstStyle/>
            <a:p>
              <a:pPr algn="ctr"/>
              <a:r>
                <a:rPr lang="zh-CN" altLang="en-US" sz="2400" dirty="0">
                  <a:latin typeface="Microsoft YaHei" panose="020B0503020204020204" pitchFamily="34" charset="-122"/>
                  <a:ea typeface="Microsoft YaHei" panose="020B0503020204020204" pitchFamily="34" charset="-122"/>
                </a:rPr>
                <a:t>提案</a:t>
              </a:r>
            </a:p>
          </p:txBody>
        </p:sp>
        <p:cxnSp>
          <p:nvCxnSpPr>
            <p:cNvPr id="63" name="直线箭头连接符 15">
              <a:extLst>
                <a:ext uri="{FF2B5EF4-FFF2-40B4-BE49-F238E27FC236}">
                  <a16:creationId xmlns:a16="http://schemas.microsoft.com/office/drawing/2014/main" id="{4371F391-F494-9548-9290-53BB0375742E}"/>
                </a:ext>
              </a:extLst>
            </p:cNvPr>
            <p:cNvCxnSpPr>
              <a:cxnSpLocks/>
            </p:cNvCxnSpPr>
            <p:nvPr/>
          </p:nvCxnSpPr>
          <p:spPr>
            <a:xfrm>
              <a:off x="2568315" y="4998434"/>
              <a:ext cx="1697703" cy="0"/>
            </a:xfrm>
            <a:prstGeom prst="straightConnector1">
              <a:avLst/>
            </a:prstGeom>
            <a:ln w="38100">
              <a:headEnd type="none" w="lg" len="lg"/>
              <a:tailEnd type="stealth" w="lg" len="lg"/>
            </a:ln>
          </p:spPr>
          <p:style>
            <a:lnRef idx="1">
              <a:schemeClr val="accent1"/>
            </a:lnRef>
            <a:fillRef idx="0">
              <a:schemeClr val="accent1"/>
            </a:fillRef>
            <a:effectRef idx="0">
              <a:schemeClr val="accent1"/>
            </a:effectRef>
            <a:fontRef idx="minor">
              <a:schemeClr val="tx1"/>
            </a:fontRef>
          </p:style>
        </p:cxnSp>
        <p:sp>
          <p:nvSpPr>
            <p:cNvPr id="64" name="矩形 63">
              <a:extLst>
                <a:ext uri="{FF2B5EF4-FFF2-40B4-BE49-F238E27FC236}">
                  <a16:creationId xmlns:a16="http://schemas.microsoft.com/office/drawing/2014/main" id="{E40D2B85-CEA4-484C-B184-B9FC1A24A5F7}"/>
                </a:ext>
              </a:extLst>
            </p:cNvPr>
            <p:cNvSpPr/>
            <p:nvPr/>
          </p:nvSpPr>
          <p:spPr>
            <a:xfrm>
              <a:off x="2681842" y="4554470"/>
              <a:ext cx="1398062" cy="344009"/>
            </a:xfrm>
            <a:prstGeom prst="rect">
              <a:avLst/>
            </a:prstGeom>
          </p:spPr>
          <p:txBody>
            <a:bodyPr wrap="square">
              <a:spAutoFit/>
            </a:bodyPr>
            <a:lstStyle/>
            <a:p>
              <a:pPr algn="just"/>
              <a:r>
                <a:rPr lang="zh-CN" altLang="en-US" sz="2000" dirty="0">
                  <a:latin typeface="Microsoft YaHei" panose="020B0503020204020204" pitchFamily="34" charset="-122"/>
                  <a:ea typeface="Microsoft YaHei" panose="020B0503020204020204" pitchFamily="34" charset="-122"/>
                </a:rPr>
                <a:t>我要當常任！</a:t>
              </a:r>
            </a:p>
          </p:txBody>
        </p:sp>
        <p:pic>
          <p:nvPicPr>
            <p:cNvPr id="69" name="图片 68">
              <a:extLst>
                <a:ext uri="{FF2B5EF4-FFF2-40B4-BE49-F238E27FC236}">
                  <a16:creationId xmlns:a16="http://schemas.microsoft.com/office/drawing/2014/main" id="{DE9CEAA5-28C5-2A4B-8509-217C4B5F7A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53821" y="4243681"/>
              <a:ext cx="2173856" cy="1447838"/>
            </a:xfrm>
            <a:prstGeom prst="rect">
              <a:avLst/>
            </a:prstGeom>
          </p:spPr>
        </p:pic>
        <p:cxnSp>
          <p:nvCxnSpPr>
            <p:cNvPr id="70" name="直线箭头连接符 15">
              <a:extLst>
                <a:ext uri="{FF2B5EF4-FFF2-40B4-BE49-F238E27FC236}">
                  <a16:creationId xmlns:a16="http://schemas.microsoft.com/office/drawing/2014/main" id="{85410F8D-A601-8940-A106-04FE004581FC}"/>
                </a:ext>
              </a:extLst>
            </p:cNvPr>
            <p:cNvCxnSpPr>
              <a:cxnSpLocks/>
              <a:stCxn id="69" idx="1"/>
              <a:endCxn id="61" idx="3"/>
            </p:cNvCxnSpPr>
            <p:nvPr/>
          </p:nvCxnSpPr>
          <p:spPr>
            <a:xfrm flipH="1">
              <a:off x="5272389" y="4967600"/>
              <a:ext cx="2081432" cy="57"/>
            </a:xfrm>
            <a:prstGeom prst="straightConnector1">
              <a:avLst/>
            </a:prstGeom>
            <a:ln w="38100">
              <a:headEnd type="none" w="lg" len="lg"/>
              <a:tailEnd type="stealth" w="lg" len="lg"/>
            </a:ln>
          </p:spPr>
          <p:style>
            <a:lnRef idx="1">
              <a:schemeClr val="accent1"/>
            </a:lnRef>
            <a:fillRef idx="0">
              <a:schemeClr val="accent1"/>
            </a:fillRef>
            <a:effectRef idx="0">
              <a:schemeClr val="accent1"/>
            </a:effectRef>
            <a:fontRef idx="minor">
              <a:schemeClr val="tx1"/>
            </a:fontRef>
          </p:style>
        </p:cxnSp>
        <p:sp>
          <p:nvSpPr>
            <p:cNvPr id="73" name="矩形 72">
              <a:extLst>
                <a:ext uri="{FF2B5EF4-FFF2-40B4-BE49-F238E27FC236}">
                  <a16:creationId xmlns:a16="http://schemas.microsoft.com/office/drawing/2014/main" id="{3CF53066-A414-8843-A134-B820D6B9E2F8}"/>
                </a:ext>
              </a:extLst>
            </p:cNvPr>
            <p:cNvSpPr/>
            <p:nvPr/>
          </p:nvSpPr>
          <p:spPr>
            <a:xfrm>
              <a:off x="8117583" y="5835455"/>
              <a:ext cx="949828" cy="396934"/>
            </a:xfrm>
            <a:prstGeom prst="rect">
              <a:avLst/>
            </a:prstGeom>
          </p:spPr>
          <p:txBody>
            <a:bodyPr wrap="none">
              <a:spAutoFit/>
            </a:bodyPr>
            <a:lstStyle/>
            <a:p>
              <a:r>
                <a:rPr lang="zh-CN" altLang="en-US" sz="2400" dirty="0">
                  <a:latin typeface="Microsoft YaHei" panose="020B0503020204020204" pitchFamily="34" charset="-122"/>
                  <a:ea typeface="Microsoft YaHei" panose="020B0503020204020204" pitchFamily="34" charset="-122"/>
                </a:rPr>
                <a:t>五常國</a:t>
              </a:r>
            </a:p>
          </p:txBody>
        </p:sp>
        <p:sp>
          <p:nvSpPr>
            <p:cNvPr id="74" name="矩形 73">
              <a:extLst>
                <a:ext uri="{FF2B5EF4-FFF2-40B4-BE49-F238E27FC236}">
                  <a16:creationId xmlns:a16="http://schemas.microsoft.com/office/drawing/2014/main" id="{14027712-26A7-4A42-B099-B32803000DB5}"/>
                </a:ext>
              </a:extLst>
            </p:cNvPr>
            <p:cNvSpPr/>
            <p:nvPr/>
          </p:nvSpPr>
          <p:spPr>
            <a:xfrm>
              <a:off x="5134616" y="4277471"/>
              <a:ext cx="2356980" cy="608631"/>
            </a:xfrm>
            <a:prstGeom prst="rect">
              <a:avLst/>
            </a:prstGeom>
          </p:spPr>
          <p:txBody>
            <a:bodyPr wrap="none">
              <a:spAutoFit/>
            </a:bodyPr>
            <a:lstStyle/>
            <a:p>
              <a:pPr algn="just"/>
              <a:r>
                <a:rPr lang="zh-CN" altLang="en-US" sz="2000" dirty="0">
                  <a:latin typeface="Microsoft YaHei" panose="020B0503020204020204" pitchFamily="34" charset="-122"/>
                  <a:ea typeface="Microsoft YaHei" panose="020B0503020204020204" pitchFamily="34" charset="-122"/>
                </a:rPr>
                <a:t>（同意，同意，同意，</a:t>
              </a:r>
              <a:endParaRPr lang="en-US" altLang="zh-CN" sz="2000" dirty="0">
                <a:latin typeface="Microsoft YaHei" panose="020B0503020204020204" pitchFamily="34" charset="-122"/>
                <a:ea typeface="Microsoft YaHei" panose="020B0503020204020204" pitchFamily="34" charset="-122"/>
              </a:endParaRPr>
            </a:p>
            <a:p>
              <a:pPr algn="ctr"/>
              <a:r>
                <a:rPr lang="zh-CN" altLang="en-US" sz="2000" dirty="0">
                  <a:latin typeface="Microsoft YaHei" panose="020B0503020204020204" pitchFamily="34" charset="-122"/>
                  <a:ea typeface="Microsoft YaHei" panose="020B0503020204020204" pitchFamily="34" charset="-122"/>
                </a:rPr>
                <a:t>同意，反對）</a:t>
              </a:r>
            </a:p>
          </p:txBody>
        </p:sp>
        <p:sp>
          <p:nvSpPr>
            <p:cNvPr id="75" name="矩形 74">
              <a:extLst>
                <a:ext uri="{FF2B5EF4-FFF2-40B4-BE49-F238E27FC236}">
                  <a16:creationId xmlns:a16="http://schemas.microsoft.com/office/drawing/2014/main" id="{8620ACE6-D9AE-C54E-91FB-22EEB7D32913}"/>
                </a:ext>
              </a:extLst>
            </p:cNvPr>
            <p:cNvSpPr/>
            <p:nvPr/>
          </p:nvSpPr>
          <p:spPr>
            <a:xfrm>
              <a:off x="2801709" y="5387482"/>
              <a:ext cx="4307107" cy="1233911"/>
            </a:xfrm>
            <a:prstGeom prst="rect">
              <a:avLst/>
            </a:prstGeom>
          </p:spPr>
          <p:txBody>
            <a:bodyPr wrap="square">
              <a:spAutoFit/>
            </a:bodyPr>
            <a:lstStyle/>
            <a:p>
              <a:pPr algn="just">
                <a:lnSpc>
                  <a:spcPts val="3600"/>
                </a:lnSpc>
              </a:pPr>
              <a:r>
                <a:rPr lang="zh-CN" altLang="en-US" sz="2400" dirty="0">
                  <a:latin typeface="Microsoft YaHei" panose="020B0503020204020204" pitchFamily="34" charset="-122"/>
                  <a:ea typeface="Microsoft YaHei" panose="020B0503020204020204" pitchFamily="34" charset="-122"/>
                </a:rPr>
                <a:t>必須五常國全部同意才能通過，只要保持每次投票的同意票數爲</a:t>
              </a:r>
              <a:r>
                <a:rPr lang="en-US" altLang="zh-CN" sz="2400" dirty="0">
                  <a:latin typeface="Microsoft YaHei" panose="020B0503020204020204" pitchFamily="34" charset="-122"/>
                  <a:ea typeface="Microsoft YaHei" panose="020B0503020204020204" pitchFamily="34" charset="-122"/>
                </a:rPr>
                <a:t>4</a:t>
              </a:r>
              <a:r>
                <a:rPr lang="zh-CN" altLang="en-US" sz="2400" dirty="0">
                  <a:latin typeface="Microsoft YaHei" panose="020B0503020204020204" pitchFamily="34" charset="-122"/>
                  <a:ea typeface="Microsoft YaHei" panose="020B0503020204020204" pitchFamily="34" charset="-122"/>
                </a:rPr>
                <a:t>，提案永遠無法通過</a:t>
              </a:r>
            </a:p>
          </p:txBody>
        </p:sp>
      </p:grpSp>
      <p:sp>
        <p:nvSpPr>
          <p:cNvPr id="17" name="灯片编号占位符 2">
            <a:extLst>
              <a:ext uri="{FF2B5EF4-FFF2-40B4-BE49-F238E27FC236}">
                <a16:creationId xmlns:a16="http://schemas.microsoft.com/office/drawing/2014/main" id="{3C17EFF7-A76E-8845-AA0B-56917C270256}"/>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59</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152989492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kumimoji="1" lang="en-US" altLang="zh-CN" sz="4000" dirty="0">
                <a:solidFill>
                  <a:srgbClr val="C00000"/>
                </a:solidFill>
              </a:rPr>
              <a:t>Quorum</a:t>
            </a:r>
            <a:r>
              <a:rPr kumimoji="1" lang="zh-CN" altLang="en-US" sz="4000" dirty="0">
                <a:solidFill>
                  <a:srgbClr val="C00000"/>
                </a:solidFill>
              </a:rPr>
              <a:t>設計準則</a:t>
            </a:r>
          </a:p>
        </p:txBody>
      </p:sp>
      <p:sp>
        <p:nvSpPr>
          <p:cNvPr id="24" name="矩形 23">
            <a:extLst>
              <a:ext uri="{FF2B5EF4-FFF2-40B4-BE49-F238E27FC236}">
                <a16:creationId xmlns:a16="http://schemas.microsoft.com/office/drawing/2014/main" id="{807F70C4-CC50-8C41-9AF9-2C263F4571B3}"/>
              </a:ext>
            </a:extLst>
          </p:cNvPr>
          <p:cNvSpPr/>
          <p:nvPr/>
        </p:nvSpPr>
        <p:spPr>
          <a:xfrm>
            <a:off x="860545" y="3316770"/>
            <a:ext cx="10862793" cy="2814040"/>
          </a:xfrm>
          <a:prstGeom prst="rect">
            <a:avLst/>
          </a:prstGeom>
          <a:ln>
            <a:solidFill>
              <a:srgbClr val="00B0F0"/>
            </a:solidFill>
          </a:ln>
        </p:spPr>
        <p:txBody>
          <a:bodyPr wrap="square">
            <a:spAutoFit/>
          </a:bodyPr>
          <a:lstStyle/>
          <a:p>
            <a:pPr marL="342900" indent="-342900" algn="just">
              <a:lnSpc>
                <a:spcPts val="3600"/>
              </a:lnSpc>
              <a:buFont typeface="Arial" panose="020B0604020202020204" pitchFamily="34" charset="0"/>
              <a:buChar char="•"/>
            </a:pPr>
            <a:r>
              <a:rPr lang="zh-CN" altLang="en-US" sz="2200" dirty="0">
                <a:latin typeface="微软雅黑" panose="020B0503020204020204" pitchFamily="34" charset="-122"/>
                <a:ea typeface="微软雅黑" panose="020B0503020204020204" pitchFamily="34" charset="-122"/>
              </a:rPr>
              <a:t>假設</a:t>
            </a:r>
            <a:r>
              <a:rPr lang="en-US" altLang="zh-CN" sz="2200" dirty="0">
                <a:latin typeface="微软雅黑" panose="020B0503020204020204" pitchFamily="34" charset="-122"/>
                <a:ea typeface="微软雅黑" panose="020B0503020204020204" pitchFamily="34" charset="-122"/>
              </a:rPr>
              <a:t>N</a:t>
            </a:r>
            <a:r>
              <a:rPr lang="zh-CN" altLang="en-US" sz="2200" dirty="0">
                <a:latin typeface="微软雅黑" panose="020B0503020204020204" pitchFamily="34" charset="-122"/>
                <a:ea typeface="微软雅黑" panose="020B0503020204020204" pitchFamily="34" charset="-122"/>
              </a:rPr>
              <a:t>個副本，更新操作在</a:t>
            </a:r>
            <a:r>
              <a:rPr lang="en-US" altLang="zh-CN" sz="2200" dirty="0">
                <a:latin typeface="微软雅黑" panose="020B0503020204020204" pitchFamily="34" charset="-122"/>
                <a:ea typeface="微软雅黑" panose="020B0503020204020204" pitchFamily="34" charset="-122"/>
              </a:rPr>
              <a:t>W</a:t>
            </a:r>
            <a:r>
              <a:rPr lang="zh-CN" altLang="en-US" sz="2200" dirty="0">
                <a:latin typeface="微软雅黑" panose="020B0503020204020204" pitchFamily="34" charset="-122"/>
                <a:ea typeface="微软雅黑" panose="020B0503020204020204" pitchFamily="34" charset="-122"/>
              </a:rPr>
              <a:t>個副本中更新成功之後，才認爲此次更新操作成功</a:t>
            </a:r>
            <a:endParaRPr lang="en-US" altLang="zh-CN" sz="2200" dirty="0">
              <a:latin typeface="微软雅黑" panose="020B0503020204020204" pitchFamily="34" charset="-122"/>
              <a:ea typeface="微软雅黑" panose="020B0503020204020204" pitchFamily="34" charset="-122"/>
            </a:endParaRPr>
          </a:p>
          <a:p>
            <a:pPr marL="342900" indent="-342900" algn="just">
              <a:lnSpc>
                <a:spcPts val="3600"/>
              </a:lnSpc>
              <a:buFont typeface="Arial" panose="020B0604020202020204" pitchFamily="34" charset="0"/>
              <a:buChar char="•"/>
            </a:pPr>
            <a:r>
              <a:rPr lang="zh-CN" altLang="en-US" sz="2200" dirty="0">
                <a:latin typeface="微软雅黑" panose="020B0503020204020204" pitchFamily="34" charset="-122"/>
                <a:ea typeface="微软雅黑" panose="020B0503020204020204" pitchFamily="34" charset="-122"/>
              </a:rPr>
              <a:t>對于讀操作而言，至少需要讀</a:t>
            </a:r>
            <a:r>
              <a:rPr lang="en-US" altLang="zh-CN" sz="2200" dirty="0">
                <a:latin typeface="微软雅黑" panose="020B0503020204020204" pitchFamily="34" charset="-122"/>
                <a:ea typeface="微软雅黑" panose="020B0503020204020204" pitchFamily="34" charset="-122"/>
              </a:rPr>
              <a:t>R</a:t>
            </a:r>
            <a:r>
              <a:rPr lang="zh-CN" altLang="en-US" sz="2200" dirty="0">
                <a:latin typeface="微软雅黑" panose="020B0503020204020204" pitchFamily="34" charset="-122"/>
                <a:ea typeface="微软雅黑" panose="020B0503020204020204" pitchFamily="34" charset="-122"/>
              </a:rPr>
              <a:t>個副本才能讀到此次更新的數據。其中，</a:t>
            </a:r>
            <a:r>
              <a:rPr lang="en-US" altLang="zh-CN" sz="2200" dirty="0">
                <a:latin typeface="微软雅黑" panose="020B0503020204020204" pitchFamily="34" charset="-122"/>
                <a:ea typeface="微软雅黑" panose="020B0503020204020204" pitchFamily="34" charset="-122"/>
              </a:rPr>
              <a:t>W+R&gt;N </a:t>
            </a:r>
            <a:r>
              <a:rPr lang="zh-CN" altLang="en-US" sz="2200" dirty="0">
                <a:latin typeface="微软雅黑" panose="020B0503020204020204" pitchFamily="34" charset="-122"/>
                <a:ea typeface="微软雅黑" panose="020B0503020204020204" pitchFamily="34" charset="-122"/>
              </a:rPr>
              <a:t>，即</a:t>
            </a:r>
            <a:r>
              <a:rPr lang="en-US" altLang="zh-CN" sz="2200" dirty="0">
                <a:latin typeface="微软雅黑" panose="020B0503020204020204" pitchFamily="34" charset="-122"/>
                <a:ea typeface="微软雅黑" panose="020B0503020204020204" pitchFamily="34" charset="-122"/>
              </a:rPr>
              <a:t>W</a:t>
            </a:r>
            <a:r>
              <a:rPr lang="zh-CN" altLang="en-US" sz="2200" dirty="0">
                <a:latin typeface="微软雅黑" panose="020B0503020204020204" pitchFamily="34" charset="-122"/>
                <a:ea typeface="微软雅黑" panose="020B0503020204020204" pitchFamily="34" charset="-122"/>
              </a:rPr>
              <a:t>和</a:t>
            </a:r>
            <a:r>
              <a:rPr lang="en-US" altLang="zh-CN" sz="2200" dirty="0">
                <a:latin typeface="微软雅黑" panose="020B0503020204020204" pitchFamily="34" charset="-122"/>
                <a:ea typeface="微软雅黑" panose="020B0503020204020204" pitchFamily="34" charset="-122"/>
              </a:rPr>
              <a:t>R</a:t>
            </a:r>
            <a:r>
              <a:rPr lang="zh-CN" altLang="en-US" sz="2200" dirty="0">
                <a:latin typeface="微软雅黑" panose="020B0503020204020204" pitchFamily="34" charset="-122"/>
                <a:ea typeface="微软雅黑" panose="020B0503020204020204" pitchFamily="34" charset="-122"/>
              </a:rPr>
              <a:t>有重叠，一般，</a:t>
            </a:r>
            <a:r>
              <a:rPr lang="en-US" altLang="zh-CN" sz="2200" b="1" dirty="0">
                <a:solidFill>
                  <a:srgbClr val="C00000"/>
                </a:solidFill>
                <a:latin typeface="微软雅黑" panose="020B0503020204020204" pitchFamily="34" charset="-122"/>
                <a:ea typeface="微软雅黑" panose="020B0503020204020204" pitchFamily="34" charset="-122"/>
              </a:rPr>
              <a:t>W+R=N+1</a:t>
            </a:r>
          </a:p>
          <a:p>
            <a:pPr marL="342900" indent="-342900" algn="just">
              <a:lnSpc>
                <a:spcPts val="3600"/>
              </a:lnSpc>
              <a:buFont typeface="Arial" panose="020B0604020202020204" pitchFamily="34" charset="0"/>
              <a:buChar char="•"/>
            </a:pPr>
            <a:r>
              <a:rPr lang="zh-CN" altLang="en-US" sz="2200" dirty="0">
                <a:latin typeface="微软雅黑" panose="020B0503020204020204" pitchFamily="34" charset="-122"/>
                <a:ea typeface="微软雅黑" panose="020B0503020204020204" pitchFamily="34" charset="-122"/>
              </a:rPr>
              <a:t>假設系統中有</a:t>
            </a:r>
            <a:r>
              <a:rPr lang="en-US" altLang="zh-CN" sz="2200" dirty="0">
                <a:latin typeface="微软雅黑" panose="020B0503020204020204" pitchFamily="34" charset="-122"/>
                <a:ea typeface="微软雅黑" panose="020B0503020204020204" pitchFamily="34" charset="-122"/>
              </a:rPr>
              <a:t>5</a:t>
            </a:r>
            <a:r>
              <a:rPr lang="zh-CN" altLang="en-US" sz="2200" dirty="0">
                <a:latin typeface="微软雅黑" panose="020B0503020204020204" pitchFamily="34" charset="-122"/>
                <a:ea typeface="微软雅黑" panose="020B0503020204020204" pitchFamily="34" charset="-122"/>
              </a:rPr>
              <a:t>個副本，</a:t>
            </a:r>
            <a:r>
              <a:rPr lang="en-US" altLang="zh-CN" sz="2200" dirty="0">
                <a:latin typeface="微软雅黑" panose="020B0503020204020204" pitchFamily="34" charset="-122"/>
                <a:ea typeface="微软雅黑" panose="020B0503020204020204" pitchFamily="34" charset="-122"/>
              </a:rPr>
              <a:t>W=3</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R=3</a:t>
            </a:r>
            <a:r>
              <a:rPr lang="zh-CN" altLang="en-US" sz="2200" dirty="0">
                <a:latin typeface="微软雅黑" panose="020B0503020204020204" pitchFamily="34" charset="-122"/>
                <a:ea typeface="微软雅黑" panose="020B0503020204020204" pitchFamily="34" charset="-122"/>
              </a:rPr>
              <a:t>。初始時數據爲</a:t>
            </a:r>
            <a:r>
              <a:rPr lang="en-US" altLang="zh-CN" sz="2200" dirty="0">
                <a:latin typeface="微软雅黑" panose="020B0503020204020204" pitchFamily="34" charset="-122"/>
                <a:ea typeface="微软雅黑" panose="020B0503020204020204" pitchFamily="34" charset="-122"/>
              </a:rPr>
              <a:t>(V1</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V1</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V1</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V1</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V1</a:t>
            </a:r>
            <a:r>
              <a:rPr lang="zh-CN" altLang="en-US" sz="2200" dirty="0">
                <a:latin typeface="微软雅黑" panose="020B0503020204020204" pitchFamily="34" charset="-122"/>
                <a:ea typeface="微软雅黑" panose="020B0503020204020204" pitchFamily="34" charset="-122"/>
              </a:rPr>
              <a:t>）當某次更新操作在</a:t>
            </a:r>
            <a:r>
              <a:rPr lang="en-US" altLang="zh-CN" sz="2200" dirty="0">
                <a:latin typeface="微软雅黑" panose="020B0503020204020204" pitchFamily="34" charset="-122"/>
                <a:ea typeface="微软雅黑" panose="020B0503020204020204" pitchFamily="34" charset="-122"/>
              </a:rPr>
              <a:t>3</a:t>
            </a:r>
            <a:r>
              <a:rPr lang="zh-CN" altLang="en-US" sz="2200" dirty="0">
                <a:latin typeface="微软雅黑" panose="020B0503020204020204" pitchFamily="34" charset="-122"/>
                <a:ea typeface="微软雅黑" panose="020B0503020204020204" pitchFamily="34" charset="-122"/>
              </a:rPr>
              <a:t>個副本上成功後，認爲此次更新操作成功，數據變成：</a:t>
            </a:r>
            <a:r>
              <a:rPr lang="en-US" altLang="zh-CN" sz="2200" dirty="0">
                <a:latin typeface="微软雅黑" panose="020B0503020204020204" pitchFamily="34" charset="-122"/>
                <a:ea typeface="微软雅黑" panose="020B0503020204020204" pitchFamily="34" charset="-122"/>
              </a:rPr>
              <a:t>(V2</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V2</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V2</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V1</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V1</a:t>
            </a:r>
            <a:r>
              <a:rPr lang="zh-CN" altLang="en-US" sz="2200" dirty="0">
                <a:latin typeface="微软雅黑" panose="020B0503020204020204" pitchFamily="34" charset="-122"/>
                <a:ea typeface="微软雅黑" panose="020B0503020204020204" pitchFamily="34" charset="-122"/>
              </a:rPr>
              <a:t>）最多只需要讀</a:t>
            </a:r>
            <a:r>
              <a:rPr lang="en-US" altLang="zh-CN" sz="2200" dirty="0">
                <a:latin typeface="微软雅黑" panose="020B0503020204020204" pitchFamily="34" charset="-122"/>
                <a:ea typeface="微软雅黑" panose="020B0503020204020204" pitchFamily="34" charset="-122"/>
              </a:rPr>
              <a:t>3</a:t>
            </a:r>
            <a:r>
              <a:rPr lang="zh-CN" altLang="en-US" sz="2200" dirty="0">
                <a:latin typeface="微软雅黑" panose="020B0503020204020204" pitchFamily="34" charset="-122"/>
                <a:ea typeface="微软雅黑" panose="020B0503020204020204" pitchFamily="34" charset="-122"/>
              </a:rPr>
              <a:t>個副本，一定能够讀到</a:t>
            </a:r>
            <a:r>
              <a:rPr lang="en-US" altLang="zh-CN" sz="2200" dirty="0">
                <a:latin typeface="微软雅黑" panose="020B0503020204020204" pitchFamily="34" charset="-122"/>
                <a:ea typeface="微软雅黑" panose="020B0503020204020204" pitchFamily="34" charset="-122"/>
              </a:rPr>
              <a:t>V2(</a:t>
            </a:r>
            <a:r>
              <a:rPr lang="zh-CN" altLang="en-US" sz="2200" dirty="0">
                <a:latin typeface="微软雅黑" panose="020B0503020204020204" pitchFamily="34" charset="-122"/>
                <a:ea typeface="微软雅黑" panose="020B0503020204020204" pitchFamily="34" charset="-122"/>
              </a:rPr>
              <a:t>此次更新成功的數據</a:t>
            </a:r>
            <a:r>
              <a:rPr lang="en-US" altLang="zh-CN" sz="2200" dirty="0">
                <a:latin typeface="微软雅黑" panose="020B0503020204020204" pitchFamily="34" charset="-122"/>
                <a:ea typeface="微软雅黑" panose="020B0503020204020204" pitchFamily="34" charset="-122"/>
              </a:rPr>
              <a:t>)</a:t>
            </a:r>
          </a:p>
        </p:txBody>
      </p:sp>
      <p:pic>
        <p:nvPicPr>
          <p:cNvPr id="25" name="图片 24">
            <a:extLst>
              <a:ext uri="{FF2B5EF4-FFF2-40B4-BE49-F238E27FC236}">
                <a16:creationId xmlns:a16="http://schemas.microsoft.com/office/drawing/2014/main" id="{32ABA1DB-E420-E847-8C4E-D7488BF4A749}"/>
              </a:ext>
            </a:extLst>
          </p:cNvPr>
          <p:cNvPicPr>
            <a:picLocks noChangeAspect="1"/>
          </p:cNvPicPr>
          <p:nvPr/>
        </p:nvPicPr>
        <p:blipFill rotWithShape="1">
          <a:blip r:embed="rId2">
            <a:extLst>
              <a:ext uri="{28A0092B-C50C-407E-A947-70E740481C1C}">
                <a14:useLocalDpi xmlns:a14="http://schemas.microsoft.com/office/drawing/2010/main" val="0"/>
              </a:ext>
            </a:extLst>
          </a:blip>
          <a:srcRect t="14225" b="30904"/>
          <a:stretch/>
        </p:blipFill>
        <p:spPr>
          <a:xfrm>
            <a:off x="6960838" y="1054908"/>
            <a:ext cx="4762500" cy="1944216"/>
          </a:xfrm>
          <a:prstGeom prst="rect">
            <a:avLst/>
          </a:prstGeom>
        </p:spPr>
      </p:pic>
      <p:sp>
        <p:nvSpPr>
          <p:cNvPr id="26" name="矩形 25">
            <a:extLst>
              <a:ext uri="{FF2B5EF4-FFF2-40B4-BE49-F238E27FC236}">
                <a16:creationId xmlns:a16="http://schemas.microsoft.com/office/drawing/2014/main" id="{72D0F09A-47DF-6F44-9AC4-7496255C8F04}"/>
              </a:ext>
            </a:extLst>
          </p:cNvPr>
          <p:cNvSpPr/>
          <p:nvPr/>
        </p:nvSpPr>
        <p:spPr>
          <a:xfrm>
            <a:off x="860546" y="1219200"/>
            <a:ext cx="5711704" cy="1688411"/>
          </a:xfrm>
          <a:prstGeom prst="rect">
            <a:avLst/>
          </a:prstGeom>
          <a:ln>
            <a:noFill/>
          </a:ln>
        </p:spPr>
        <p:txBody>
          <a:bodyPr wrap="square">
            <a:spAutoFit/>
          </a:bodyPr>
          <a:lstStyle/>
          <a:p>
            <a:pPr marL="342900" indent="-342900" algn="just">
              <a:lnSpc>
                <a:spcPct val="150000"/>
              </a:lnSpc>
              <a:buFont typeface="Arial" panose="020B0604020202020204" pitchFamily="34" charset="0"/>
              <a:buChar char="•"/>
            </a:pPr>
            <a:r>
              <a:rPr lang="zh-CN" altLang="en-US" sz="2400" b="1" dirty="0">
                <a:solidFill>
                  <a:srgbClr val="C00000"/>
                </a:solidFill>
                <a:latin typeface="微软雅黑" panose="020B0503020204020204" pitchFamily="34" charset="-122"/>
                <a:ea typeface="微软雅黑" panose="020B0503020204020204" pitchFamily="34" charset="-122"/>
              </a:rPr>
              <a:t>鴿巢原理</a:t>
            </a:r>
            <a:r>
              <a:rPr lang="zh-CN" altLang="en-US" sz="2400" b="1" dirty="0">
                <a:latin typeface="微软雅黑" panose="020B0503020204020204" pitchFamily="34" charset="-122"/>
                <a:ea typeface="微软雅黑" panose="020B0503020204020204" pitchFamily="34" charset="-122"/>
              </a:rPr>
              <a:t>：如果</a:t>
            </a:r>
            <a:r>
              <a:rPr lang="en-US" altLang="zh-CN" sz="2400" b="1" dirty="0">
                <a:latin typeface="微软雅黑" panose="020B0503020204020204" pitchFamily="34" charset="-122"/>
                <a:ea typeface="微软雅黑" panose="020B0503020204020204" pitchFamily="34" charset="-122"/>
              </a:rPr>
              <a:t>k+1</a:t>
            </a:r>
            <a:r>
              <a:rPr lang="zh-CN" altLang="en-US" sz="2400" b="1" dirty="0">
                <a:latin typeface="微软雅黑" panose="020B0503020204020204" pitchFamily="34" charset="-122"/>
                <a:ea typeface="微软雅黑" panose="020B0503020204020204" pitchFamily="34" charset="-122"/>
              </a:rPr>
              <a:t>個鴿子要放在</a:t>
            </a:r>
            <a:r>
              <a:rPr lang="en-US" altLang="zh-CN" sz="2400" b="1" dirty="0">
                <a:latin typeface="微软雅黑" panose="020B0503020204020204" pitchFamily="34" charset="-122"/>
                <a:ea typeface="微软雅黑" panose="020B0503020204020204" pitchFamily="34" charset="-122"/>
              </a:rPr>
              <a:t>k</a:t>
            </a:r>
            <a:r>
              <a:rPr lang="zh-CN" altLang="en-US" sz="2400" b="1" dirty="0">
                <a:latin typeface="微软雅黑" panose="020B0503020204020204" pitchFamily="34" charset="-122"/>
                <a:ea typeface="微软雅黑" panose="020B0503020204020204" pitchFamily="34" charset="-122"/>
              </a:rPr>
              <a:t>個鴿巢中，那麽至少有一個鴿巢存在兩個鴿子</a:t>
            </a:r>
            <a:endParaRPr lang="zh-CN" altLang="en-US" sz="2400" b="1" dirty="0"/>
          </a:p>
        </p:txBody>
      </p:sp>
      <p:sp>
        <p:nvSpPr>
          <p:cNvPr id="6" name="灯片编号占位符 2">
            <a:extLst>
              <a:ext uri="{FF2B5EF4-FFF2-40B4-BE49-F238E27FC236}">
                <a16:creationId xmlns:a16="http://schemas.microsoft.com/office/drawing/2014/main" id="{CCC0C2A7-5F86-654B-8FB3-3ACC1E52CD0A}"/>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60</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036903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lang="en-US" altLang="zh-CN" sz="4000" dirty="0"/>
              <a:t>Quorum</a:t>
            </a:r>
            <a:r>
              <a:rPr lang="zh-CN" altLang="en-US" sz="4000" dirty="0"/>
              <a:t>設計準則</a:t>
            </a:r>
            <a:endParaRPr kumimoji="1" lang="zh-CN" altLang="en-US" sz="4000" dirty="0"/>
          </a:p>
        </p:txBody>
      </p:sp>
      <p:sp>
        <p:nvSpPr>
          <p:cNvPr id="36" name="内容占位符 2">
            <a:extLst>
              <a:ext uri="{FF2B5EF4-FFF2-40B4-BE49-F238E27FC236}">
                <a16:creationId xmlns:a16="http://schemas.microsoft.com/office/drawing/2014/main" id="{DCEADE03-EFD3-F148-BFBF-6F07679352C5}"/>
              </a:ext>
            </a:extLst>
          </p:cNvPr>
          <p:cNvSpPr txBox="1"/>
          <p:nvPr/>
        </p:nvSpPr>
        <p:spPr>
          <a:xfrm>
            <a:off x="588922" y="1050843"/>
            <a:ext cx="10968897" cy="715826"/>
          </a:xfrm>
          <a:prstGeom prst="rect">
            <a:avLst/>
          </a:prstGeom>
          <a:solidFill>
            <a:srgbClr val="00B0F0"/>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algn="just">
              <a:lnSpc>
                <a:spcPct val="125000"/>
              </a:lnSpc>
              <a:defRPr sz="1600" kern="0">
                <a:solidFill>
                  <a:srgbClr val="000000"/>
                </a:solidFill>
                <a:ea typeface="微软雅黑" panose="020B0503020204020204"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2400" b="1" dirty="0">
                <a:solidFill>
                  <a:schemeClr val="bg1"/>
                </a:solidFill>
              </a:rPr>
              <a:t>基本規則：分布式系統每階段提案中，誠實節點最多只對一個提案投一次票</a:t>
            </a:r>
          </a:p>
        </p:txBody>
      </p:sp>
      <p:grpSp>
        <p:nvGrpSpPr>
          <p:cNvPr id="4" name="组合 3">
            <a:extLst>
              <a:ext uri="{FF2B5EF4-FFF2-40B4-BE49-F238E27FC236}">
                <a16:creationId xmlns:a16="http://schemas.microsoft.com/office/drawing/2014/main" id="{FB102DA3-4D87-B04C-8DA5-1B4511DDEECB}"/>
              </a:ext>
            </a:extLst>
          </p:cNvPr>
          <p:cNvGrpSpPr/>
          <p:nvPr/>
        </p:nvGrpSpPr>
        <p:grpSpPr>
          <a:xfrm>
            <a:off x="588921" y="4264050"/>
            <a:ext cx="10976500" cy="2689199"/>
            <a:chOff x="472834" y="3126264"/>
            <a:chExt cx="11216395" cy="3345823"/>
          </a:xfrm>
        </p:grpSpPr>
        <p:grpSp>
          <p:nvGrpSpPr>
            <p:cNvPr id="38" name="组合 37">
              <a:extLst>
                <a:ext uri="{FF2B5EF4-FFF2-40B4-BE49-F238E27FC236}">
                  <a16:creationId xmlns:a16="http://schemas.microsoft.com/office/drawing/2014/main" id="{55350270-E5AF-194A-BA7F-9115C863A89A}"/>
                </a:ext>
              </a:extLst>
            </p:cNvPr>
            <p:cNvGrpSpPr/>
            <p:nvPr/>
          </p:nvGrpSpPr>
          <p:grpSpPr>
            <a:xfrm>
              <a:off x="472834" y="3244417"/>
              <a:ext cx="11208626" cy="3227670"/>
              <a:chOff x="695602" y="1039004"/>
              <a:chExt cx="5633944" cy="2327073"/>
            </a:xfrm>
          </p:grpSpPr>
          <p:sp>
            <p:nvSpPr>
              <p:cNvPr id="39" name="矩形 38">
                <a:extLst>
                  <a:ext uri="{FF2B5EF4-FFF2-40B4-BE49-F238E27FC236}">
                    <a16:creationId xmlns:a16="http://schemas.microsoft.com/office/drawing/2014/main" id="{A5F4F29E-6745-A647-B926-963EB1FAB1EC}"/>
                  </a:ext>
                </a:extLst>
              </p:cNvPr>
              <p:cNvSpPr/>
              <p:nvPr/>
            </p:nvSpPr>
            <p:spPr bwMode="auto">
              <a:xfrm>
                <a:off x="695602" y="1039004"/>
                <a:ext cx="5633944" cy="2327073"/>
              </a:xfrm>
              <a:prstGeom prst="rect">
                <a:avLst/>
              </a:prstGeom>
              <a:solidFill>
                <a:srgbClr val="FFFFFF"/>
              </a:solidFill>
              <a:ln w="6350">
                <a:no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40" name="内容占位符 2">
                <a:extLst>
                  <a:ext uri="{FF2B5EF4-FFF2-40B4-BE49-F238E27FC236}">
                    <a16:creationId xmlns:a16="http://schemas.microsoft.com/office/drawing/2014/main" id="{BCD122B8-4DB4-C649-B450-DE08C9C6499C}"/>
                  </a:ext>
                </a:extLst>
              </p:cNvPr>
              <p:cNvSpPr txBox="1"/>
              <p:nvPr/>
            </p:nvSpPr>
            <p:spPr>
              <a:xfrm>
                <a:off x="695602" y="1183168"/>
                <a:ext cx="5633944" cy="2177279"/>
              </a:xfrm>
              <a:prstGeom prst="rect">
                <a:avLst/>
              </a:prstGeom>
              <a:ln>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1" lang="en-US" altLang="zh-CN"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grpSp>
        <p:sp>
          <p:nvSpPr>
            <p:cNvPr id="3" name="矩形 2">
              <a:extLst>
                <a:ext uri="{FF2B5EF4-FFF2-40B4-BE49-F238E27FC236}">
                  <a16:creationId xmlns:a16="http://schemas.microsoft.com/office/drawing/2014/main" id="{7F6F4708-1158-9C45-8112-5AB63E21513F}"/>
                </a:ext>
              </a:extLst>
            </p:cNvPr>
            <p:cNvSpPr/>
            <p:nvPr/>
          </p:nvSpPr>
          <p:spPr>
            <a:xfrm>
              <a:off x="630710" y="3126264"/>
              <a:ext cx="11058519" cy="2790737"/>
            </a:xfrm>
            <a:prstGeom prst="rect">
              <a:avLst/>
            </a:prstGeom>
            <a:ln>
              <a:noFill/>
            </a:ln>
          </p:spPr>
          <p:txBody>
            <a:bodyPr wrap="square">
              <a:spAutoFit/>
            </a:bodyPr>
            <a:lstStyle/>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目的</a:t>
              </a:r>
              <a:r>
                <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1-</a:t>
              </a: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安全性：</a:t>
              </a:r>
              <a:r>
                <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Quorum</a:t>
              </a: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值</a:t>
              </a:r>
              <a:r>
                <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q</a:t>
              </a: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應該足够大，避免通過兩個</a:t>
              </a:r>
              <a:r>
                <a:rPr kumimoji="0" lang="zh-CN" altLang="en-US" sz="2400" b="1"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矛盾提案</a:t>
              </a:r>
              <a:endParaRPr kumimoji="0" lang="en-US" altLang="zh-CN" sz="2400" b="1"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endParaRPr>
            </a:p>
            <a:p>
              <a:pPr marR="0" lvl="0" algn="l" defTabSz="914400" rtl="0" eaLnBrk="1" fontAlgn="auto" latinLnBrk="0" hangingPunct="1">
                <a:lnSpc>
                  <a:spcPct val="150000"/>
                </a:lnSpc>
                <a:spcBef>
                  <a:spcPts val="0"/>
                </a:spcBef>
                <a:spcAft>
                  <a:spcPts val="0"/>
                </a:spcAft>
                <a:buClrTx/>
                <a:buSzTx/>
                <a:tabLst/>
                <a:defRPr/>
              </a:pPr>
              <a:r>
                <a:rPr kumimoji="0" lang="zh-CN" altLang="en-US" sz="2400" b="1"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    解决方案：</a:t>
              </a:r>
              <a:r>
                <a:rPr kumimoji="0" lang="en-US" altLang="zh-CN" sz="2400" b="1"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 </a:t>
              </a: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針對兩個提案可能産生的最高總投票數 ≤</a:t>
              </a:r>
              <a:r>
                <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 2*q – 1</a:t>
              </a: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目的</a:t>
              </a:r>
              <a:r>
                <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2-</a:t>
              </a: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活性：</a:t>
              </a:r>
              <a:r>
                <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Quorum</a:t>
              </a: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值</a:t>
              </a:r>
              <a:r>
                <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q</a:t>
              </a: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應該足够小，避免錯誤節點不投票使提案</a:t>
              </a:r>
              <a:r>
                <a:rPr kumimoji="0" lang="zh-CN" altLang="en-US" sz="2400" b="1"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無法通過</a:t>
              </a:r>
              <a:r>
                <a:rPr kumimoji="0" lang="en-US" altLang="zh-CN" sz="2400" b="1"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     </a:t>
              </a:r>
              <a:r>
                <a:rPr kumimoji="0" lang="zh-CN" altLang="en-US" sz="2400" b="1"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解决方案：</a:t>
              </a:r>
              <a:r>
                <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q </a:t>
              </a: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 最低可能産生的投票數；</a:t>
              </a:r>
              <a:r>
                <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q</a:t>
              </a: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 </a:t>
              </a:r>
              <a:r>
                <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&gt;</a:t>
              </a: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 拜占庭節點個數</a:t>
              </a:r>
              <a:endPar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grpSp>
      <p:pic>
        <p:nvPicPr>
          <p:cNvPr id="6" name="图形 5" descr="用户">
            <a:extLst>
              <a:ext uri="{FF2B5EF4-FFF2-40B4-BE49-F238E27FC236}">
                <a16:creationId xmlns:a16="http://schemas.microsoft.com/office/drawing/2014/main" id="{94E70F26-D2F6-7144-B251-1A50F98FE62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5120" y="2113431"/>
            <a:ext cx="1131769" cy="1131769"/>
          </a:xfrm>
          <a:prstGeom prst="rect">
            <a:avLst/>
          </a:prstGeom>
        </p:spPr>
      </p:pic>
      <p:pic>
        <p:nvPicPr>
          <p:cNvPr id="16" name="图形 15" descr="用户">
            <a:extLst>
              <a:ext uri="{FF2B5EF4-FFF2-40B4-BE49-F238E27FC236}">
                <a16:creationId xmlns:a16="http://schemas.microsoft.com/office/drawing/2014/main" id="{2F9923AE-FAF9-034C-833C-6C9E48404BC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95751" y="2113430"/>
            <a:ext cx="1131769" cy="1131769"/>
          </a:xfrm>
          <a:prstGeom prst="rect">
            <a:avLst/>
          </a:prstGeom>
        </p:spPr>
      </p:pic>
      <p:pic>
        <p:nvPicPr>
          <p:cNvPr id="14" name="图形 13" descr="右箭头">
            <a:extLst>
              <a:ext uri="{FF2B5EF4-FFF2-40B4-BE49-F238E27FC236}">
                <a16:creationId xmlns:a16="http://schemas.microsoft.com/office/drawing/2014/main" id="{43130A6D-6147-CB41-9BCF-92ECF02B098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726971" y="2222114"/>
            <a:ext cx="914400" cy="914400"/>
          </a:xfrm>
          <a:prstGeom prst="rect">
            <a:avLst/>
          </a:prstGeom>
        </p:spPr>
      </p:pic>
      <p:pic>
        <p:nvPicPr>
          <p:cNvPr id="27" name="图形 26" descr="右箭头">
            <a:extLst>
              <a:ext uri="{FF2B5EF4-FFF2-40B4-BE49-F238E27FC236}">
                <a16:creationId xmlns:a16="http://schemas.microsoft.com/office/drawing/2014/main" id="{321BFFAE-6526-D84A-9942-9789A8B2B91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a:off x="1768735" y="2222114"/>
            <a:ext cx="914400" cy="914400"/>
          </a:xfrm>
          <a:prstGeom prst="rect">
            <a:avLst/>
          </a:prstGeom>
        </p:spPr>
      </p:pic>
      <p:sp>
        <p:nvSpPr>
          <p:cNvPr id="18" name="矩形 17">
            <a:extLst>
              <a:ext uri="{FF2B5EF4-FFF2-40B4-BE49-F238E27FC236}">
                <a16:creationId xmlns:a16="http://schemas.microsoft.com/office/drawing/2014/main" id="{53860252-31A0-704D-B57B-4C8BB4BF7990}"/>
              </a:ext>
            </a:extLst>
          </p:cNvPr>
          <p:cNvSpPr/>
          <p:nvPr/>
        </p:nvSpPr>
        <p:spPr>
          <a:xfrm>
            <a:off x="3764825" y="2191266"/>
            <a:ext cx="838691"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rPr>
              <a:t>我選 </a:t>
            </a:r>
            <a:r>
              <a:rPr kumimoji="0" lang="en-US" altLang="zh-CN" sz="1800" b="0" i="0" u="none" strike="noStrike" kern="1200" cap="none" spc="0" normalizeH="0" baseline="0" noProof="0" dirty="0">
                <a:ln>
                  <a:noFill/>
                </a:ln>
                <a:solidFill>
                  <a:srgbClr val="000000"/>
                </a:solidFill>
                <a:effectLst/>
                <a:uLnTx/>
                <a:uFillTx/>
                <a:latin typeface="Arial"/>
                <a:ea typeface="微软雅黑 Light"/>
                <a:cs typeface="+mn-cs"/>
              </a:rPr>
              <a:t>1</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29" name="矩形 28">
            <a:extLst>
              <a:ext uri="{FF2B5EF4-FFF2-40B4-BE49-F238E27FC236}">
                <a16:creationId xmlns:a16="http://schemas.microsoft.com/office/drawing/2014/main" id="{09E3B0C0-49E9-B145-89AF-726E8C3B510C}"/>
              </a:ext>
            </a:extLst>
          </p:cNvPr>
          <p:cNvSpPr/>
          <p:nvPr/>
        </p:nvSpPr>
        <p:spPr>
          <a:xfrm>
            <a:off x="1897396" y="2190583"/>
            <a:ext cx="838691"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rPr>
              <a:t>我選 </a:t>
            </a:r>
            <a:r>
              <a:rPr kumimoji="0" lang="en-US" altLang="zh-CN" sz="1800" b="0" i="0" u="none" strike="noStrike" kern="1200" cap="none" spc="0" normalizeH="0" baseline="0" noProof="0" dirty="0">
                <a:ln>
                  <a:noFill/>
                </a:ln>
                <a:solidFill>
                  <a:srgbClr val="000000"/>
                </a:solidFill>
                <a:effectLst/>
                <a:uLnTx/>
                <a:uFillTx/>
                <a:latin typeface="Arial"/>
                <a:ea typeface="微软雅黑 Light"/>
                <a:cs typeface="+mn-cs"/>
              </a:rPr>
              <a:t>2</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19" name="矩形 18">
            <a:extLst>
              <a:ext uri="{FF2B5EF4-FFF2-40B4-BE49-F238E27FC236}">
                <a16:creationId xmlns:a16="http://schemas.microsoft.com/office/drawing/2014/main" id="{A2E9A1CB-F78E-F346-B043-232DBAA1A943}"/>
              </a:ext>
            </a:extLst>
          </p:cNvPr>
          <p:cNvSpPr/>
          <p:nvPr/>
        </p:nvSpPr>
        <p:spPr>
          <a:xfrm>
            <a:off x="4885908" y="2951848"/>
            <a:ext cx="1011815"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人數：</a:t>
            </a:r>
            <a:r>
              <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4</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31" name="矩形 30">
            <a:extLst>
              <a:ext uri="{FF2B5EF4-FFF2-40B4-BE49-F238E27FC236}">
                <a16:creationId xmlns:a16="http://schemas.microsoft.com/office/drawing/2014/main" id="{BB8FED8F-AAAC-FC4E-9114-71F5AECFBEF3}"/>
              </a:ext>
            </a:extLst>
          </p:cNvPr>
          <p:cNvSpPr/>
          <p:nvPr/>
        </p:nvSpPr>
        <p:spPr>
          <a:xfrm>
            <a:off x="711020" y="2964865"/>
            <a:ext cx="1011815"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人數：</a:t>
            </a:r>
            <a:r>
              <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5</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33" name="矩形 32">
            <a:extLst>
              <a:ext uri="{FF2B5EF4-FFF2-40B4-BE49-F238E27FC236}">
                <a16:creationId xmlns:a16="http://schemas.microsoft.com/office/drawing/2014/main" id="{034AC1AE-6A40-224E-B274-352CFE7A77DA}"/>
              </a:ext>
            </a:extLst>
          </p:cNvPr>
          <p:cNvSpPr/>
          <p:nvPr/>
        </p:nvSpPr>
        <p:spPr>
          <a:xfrm>
            <a:off x="2632221" y="2959524"/>
            <a:ext cx="1011815"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人數：</a:t>
            </a:r>
            <a:r>
              <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4</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pic>
        <p:nvPicPr>
          <p:cNvPr id="42" name="图形 41" descr="用户">
            <a:extLst>
              <a:ext uri="{FF2B5EF4-FFF2-40B4-BE49-F238E27FC236}">
                <a16:creationId xmlns:a16="http://schemas.microsoft.com/office/drawing/2014/main" id="{EEF7038B-DCFD-4D49-9ACC-D4B6AE3489E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631147" y="2013616"/>
            <a:ext cx="1131769" cy="1131769"/>
          </a:xfrm>
          <a:prstGeom prst="rect">
            <a:avLst/>
          </a:prstGeom>
        </p:spPr>
      </p:pic>
      <p:sp>
        <p:nvSpPr>
          <p:cNvPr id="20" name="矩形 19">
            <a:extLst>
              <a:ext uri="{FF2B5EF4-FFF2-40B4-BE49-F238E27FC236}">
                <a16:creationId xmlns:a16="http://schemas.microsoft.com/office/drawing/2014/main" id="{654764EB-E4D2-8643-854F-7ADDABAD1598}"/>
              </a:ext>
            </a:extLst>
          </p:cNvPr>
          <p:cNvSpPr/>
          <p:nvPr/>
        </p:nvSpPr>
        <p:spPr>
          <a:xfrm>
            <a:off x="1622467" y="3584827"/>
            <a:ext cx="689612"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q=8</a:t>
            </a:r>
            <a:endParaRPr kumimoji="0" lang="zh-CN" altLang="en-US" sz="20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43" name="矩形 42">
            <a:extLst>
              <a:ext uri="{FF2B5EF4-FFF2-40B4-BE49-F238E27FC236}">
                <a16:creationId xmlns:a16="http://schemas.microsoft.com/office/drawing/2014/main" id="{889E3418-0677-8943-BEA9-149219DC5AB6}"/>
              </a:ext>
            </a:extLst>
          </p:cNvPr>
          <p:cNvSpPr/>
          <p:nvPr/>
        </p:nvSpPr>
        <p:spPr>
          <a:xfrm>
            <a:off x="3614150" y="3548407"/>
            <a:ext cx="689612"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q=9</a:t>
            </a:r>
            <a:endParaRPr kumimoji="0" lang="zh-CN" altLang="en-US" sz="2000" b="0" i="0" u="none" strike="noStrike" kern="1200" cap="none" spc="0" normalizeH="0" baseline="0" noProof="0" dirty="0">
              <a:ln>
                <a:noFill/>
              </a:ln>
              <a:solidFill>
                <a:srgbClr val="000000"/>
              </a:solidFill>
              <a:effectLst/>
              <a:uLnTx/>
              <a:uFillTx/>
              <a:latin typeface="Arial"/>
              <a:ea typeface="微软雅黑 Light"/>
              <a:cs typeface="+mn-cs"/>
            </a:endParaRPr>
          </a:p>
        </p:txBody>
      </p:sp>
      <p:pic>
        <p:nvPicPr>
          <p:cNvPr id="44" name="图形 43" descr="复选标记">
            <a:extLst>
              <a:ext uri="{FF2B5EF4-FFF2-40B4-BE49-F238E27FC236}">
                <a16:creationId xmlns:a16="http://schemas.microsoft.com/office/drawing/2014/main" id="{1EF0F796-F4A1-8244-9056-C8A5999C9F0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406090" y="3570732"/>
            <a:ext cx="389661" cy="389661"/>
          </a:xfrm>
          <a:prstGeom prst="rect">
            <a:avLst/>
          </a:prstGeom>
        </p:spPr>
      </p:pic>
      <p:pic>
        <p:nvPicPr>
          <p:cNvPr id="24" name="图形 23" descr="关闭">
            <a:extLst>
              <a:ext uri="{FF2B5EF4-FFF2-40B4-BE49-F238E27FC236}">
                <a16:creationId xmlns:a16="http://schemas.microsoft.com/office/drawing/2014/main" id="{F4199915-0957-8F4C-A95A-9E714776BCA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324711" y="3584377"/>
            <a:ext cx="441324" cy="441324"/>
          </a:xfrm>
          <a:prstGeom prst="rect">
            <a:avLst/>
          </a:prstGeom>
        </p:spPr>
      </p:pic>
      <p:cxnSp>
        <p:nvCxnSpPr>
          <p:cNvPr id="45" name="直线连接符 44">
            <a:extLst>
              <a:ext uri="{FF2B5EF4-FFF2-40B4-BE49-F238E27FC236}">
                <a16:creationId xmlns:a16="http://schemas.microsoft.com/office/drawing/2014/main" id="{24B54F8C-0C2D-2148-AE33-F60843F7F678}"/>
              </a:ext>
            </a:extLst>
          </p:cNvPr>
          <p:cNvCxnSpPr>
            <a:cxnSpLocks/>
          </p:cNvCxnSpPr>
          <p:nvPr/>
        </p:nvCxnSpPr>
        <p:spPr>
          <a:xfrm flipV="1">
            <a:off x="6019800" y="1975023"/>
            <a:ext cx="0" cy="2050679"/>
          </a:xfrm>
          <a:prstGeom prst="line">
            <a:avLst/>
          </a:prstGeom>
          <a:ln>
            <a:prstDash val="dash"/>
          </a:ln>
        </p:spPr>
        <p:style>
          <a:lnRef idx="1">
            <a:schemeClr val="accent1"/>
          </a:lnRef>
          <a:fillRef idx="0">
            <a:schemeClr val="accent1"/>
          </a:fillRef>
          <a:effectRef idx="0">
            <a:schemeClr val="accent1"/>
          </a:effectRef>
          <a:fontRef idx="minor">
            <a:schemeClr val="tx1"/>
          </a:fontRef>
        </p:style>
      </p:cxnSp>
      <p:pic>
        <p:nvPicPr>
          <p:cNvPr id="46" name="图形 45" descr="用户">
            <a:extLst>
              <a:ext uri="{FF2B5EF4-FFF2-40B4-BE49-F238E27FC236}">
                <a16:creationId xmlns:a16="http://schemas.microsoft.com/office/drawing/2014/main" id="{D91EA9BB-7C6F-D44F-B1FD-6BDA416786B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363201" y="2115795"/>
            <a:ext cx="1131769" cy="1131769"/>
          </a:xfrm>
          <a:prstGeom prst="rect">
            <a:avLst/>
          </a:prstGeom>
        </p:spPr>
      </p:pic>
      <p:pic>
        <p:nvPicPr>
          <p:cNvPr id="47" name="图形 46" descr="用户">
            <a:extLst>
              <a:ext uri="{FF2B5EF4-FFF2-40B4-BE49-F238E27FC236}">
                <a16:creationId xmlns:a16="http://schemas.microsoft.com/office/drawing/2014/main" id="{54927308-52FE-9848-9C05-EBBF933B4D3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04813" y="2113430"/>
            <a:ext cx="1131769" cy="1131769"/>
          </a:xfrm>
          <a:prstGeom prst="rect">
            <a:avLst/>
          </a:prstGeom>
        </p:spPr>
      </p:pic>
      <p:pic>
        <p:nvPicPr>
          <p:cNvPr id="49" name="图形 48" descr="右箭头">
            <a:extLst>
              <a:ext uri="{FF2B5EF4-FFF2-40B4-BE49-F238E27FC236}">
                <a16:creationId xmlns:a16="http://schemas.microsoft.com/office/drawing/2014/main" id="{B1E0A6F0-BD12-434C-B4FB-7842BFC1E7B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a:off x="7625635" y="2087788"/>
            <a:ext cx="1684991" cy="914400"/>
          </a:xfrm>
          <a:prstGeom prst="rect">
            <a:avLst/>
          </a:prstGeom>
        </p:spPr>
      </p:pic>
      <p:sp>
        <p:nvSpPr>
          <p:cNvPr id="51" name="矩形 50">
            <a:extLst>
              <a:ext uri="{FF2B5EF4-FFF2-40B4-BE49-F238E27FC236}">
                <a16:creationId xmlns:a16="http://schemas.microsoft.com/office/drawing/2014/main" id="{8B4AD6C1-76CA-874C-B675-02998CC7CC42}"/>
              </a:ext>
            </a:extLst>
          </p:cNvPr>
          <p:cNvSpPr/>
          <p:nvPr/>
        </p:nvSpPr>
        <p:spPr>
          <a:xfrm>
            <a:off x="8061752" y="2151261"/>
            <a:ext cx="1069524"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rPr>
              <a:t>我們選 </a:t>
            </a:r>
            <a:r>
              <a:rPr kumimoji="0" lang="en-US" altLang="zh-CN" sz="1800" b="0" i="0" u="none" strike="noStrike" kern="1200" cap="none" spc="0" normalizeH="0" baseline="0" noProof="0" dirty="0">
                <a:ln>
                  <a:noFill/>
                </a:ln>
                <a:solidFill>
                  <a:srgbClr val="000000"/>
                </a:solidFill>
                <a:effectLst/>
                <a:uLnTx/>
                <a:uFillTx/>
                <a:latin typeface="Arial"/>
                <a:ea typeface="微软雅黑 Light"/>
                <a:cs typeface="+mn-cs"/>
              </a:rPr>
              <a:t>1</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52" name="矩形 51">
            <a:extLst>
              <a:ext uri="{FF2B5EF4-FFF2-40B4-BE49-F238E27FC236}">
                <a16:creationId xmlns:a16="http://schemas.microsoft.com/office/drawing/2014/main" id="{A63EABA2-46E8-DF47-BCF4-C99BEF02266D}"/>
              </a:ext>
            </a:extLst>
          </p:cNvPr>
          <p:cNvSpPr/>
          <p:nvPr/>
        </p:nvSpPr>
        <p:spPr>
          <a:xfrm>
            <a:off x="9972457" y="2963723"/>
            <a:ext cx="1011815"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人數：</a:t>
            </a:r>
            <a:r>
              <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9</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54" name="矩形 53">
            <a:extLst>
              <a:ext uri="{FF2B5EF4-FFF2-40B4-BE49-F238E27FC236}">
                <a16:creationId xmlns:a16="http://schemas.microsoft.com/office/drawing/2014/main" id="{07B52038-4A17-2948-84B2-D5FD63D2F37B}"/>
              </a:ext>
            </a:extLst>
          </p:cNvPr>
          <p:cNvSpPr/>
          <p:nvPr/>
        </p:nvSpPr>
        <p:spPr>
          <a:xfrm>
            <a:off x="6566861" y="2959524"/>
            <a:ext cx="1011815"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人數：</a:t>
            </a:r>
            <a:r>
              <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4</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pic>
        <p:nvPicPr>
          <p:cNvPr id="55" name="图形 54" descr="用户">
            <a:extLst>
              <a:ext uri="{FF2B5EF4-FFF2-40B4-BE49-F238E27FC236}">
                <a16:creationId xmlns:a16="http://schemas.microsoft.com/office/drawing/2014/main" id="{361348CA-BA21-0D4C-8BA1-D571D21F5D6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94537" y="2013616"/>
            <a:ext cx="1131769" cy="1131769"/>
          </a:xfrm>
          <a:prstGeom prst="rect">
            <a:avLst/>
          </a:prstGeom>
        </p:spPr>
      </p:pic>
      <p:sp>
        <p:nvSpPr>
          <p:cNvPr id="56" name="矩形 55">
            <a:extLst>
              <a:ext uri="{FF2B5EF4-FFF2-40B4-BE49-F238E27FC236}">
                <a16:creationId xmlns:a16="http://schemas.microsoft.com/office/drawing/2014/main" id="{0D5599AD-0D10-D546-879C-B76EF0F1ABAC}"/>
              </a:ext>
            </a:extLst>
          </p:cNvPr>
          <p:cNvSpPr/>
          <p:nvPr/>
        </p:nvSpPr>
        <p:spPr>
          <a:xfrm>
            <a:off x="7142505" y="3535349"/>
            <a:ext cx="840295"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q=10</a:t>
            </a:r>
            <a:endParaRPr kumimoji="0" lang="zh-CN" altLang="en-US" sz="20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57" name="矩形 56">
            <a:extLst>
              <a:ext uri="{FF2B5EF4-FFF2-40B4-BE49-F238E27FC236}">
                <a16:creationId xmlns:a16="http://schemas.microsoft.com/office/drawing/2014/main" id="{17B29CBB-A5A7-3842-A184-59D6BC3593EE}"/>
              </a:ext>
            </a:extLst>
          </p:cNvPr>
          <p:cNvSpPr/>
          <p:nvPr/>
        </p:nvSpPr>
        <p:spPr>
          <a:xfrm>
            <a:off x="9288567" y="3498929"/>
            <a:ext cx="689612"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q=9</a:t>
            </a:r>
            <a:endParaRPr kumimoji="0" lang="zh-CN" altLang="en-US" sz="2000" b="0" i="0" u="none" strike="noStrike" kern="1200" cap="none" spc="0" normalizeH="0" baseline="0" noProof="0" dirty="0">
              <a:ln>
                <a:noFill/>
              </a:ln>
              <a:solidFill>
                <a:srgbClr val="000000"/>
              </a:solidFill>
              <a:effectLst/>
              <a:uLnTx/>
              <a:uFillTx/>
              <a:latin typeface="Arial"/>
              <a:ea typeface="微软雅黑 Light"/>
              <a:cs typeface="+mn-cs"/>
            </a:endParaRPr>
          </a:p>
        </p:txBody>
      </p:sp>
      <p:pic>
        <p:nvPicPr>
          <p:cNvPr id="58" name="图形 57" descr="复选标记">
            <a:extLst>
              <a:ext uri="{FF2B5EF4-FFF2-40B4-BE49-F238E27FC236}">
                <a16:creationId xmlns:a16="http://schemas.microsoft.com/office/drawing/2014/main" id="{9FA7D3EE-E46A-0741-AEFC-1377EB544C5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080507" y="3521254"/>
            <a:ext cx="389661" cy="389661"/>
          </a:xfrm>
          <a:prstGeom prst="rect">
            <a:avLst/>
          </a:prstGeom>
        </p:spPr>
      </p:pic>
      <p:pic>
        <p:nvPicPr>
          <p:cNvPr id="59" name="图形 58" descr="关闭">
            <a:extLst>
              <a:ext uri="{FF2B5EF4-FFF2-40B4-BE49-F238E27FC236}">
                <a16:creationId xmlns:a16="http://schemas.microsoft.com/office/drawing/2014/main" id="{AAB11C82-CD2E-B148-BE6F-8AC7E2E67EB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99128" y="3534899"/>
            <a:ext cx="441324" cy="441324"/>
          </a:xfrm>
          <a:prstGeom prst="rect">
            <a:avLst/>
          </a:prstGeom>
        </p:spPr>
      </p:pic>
      <p:pic>
        <p:nvPicPr>
          <p:cNvPr id="60" name="图形 59" descr="右箭头">
            <a:extLst>
              <a:ext uri="{FF2B5EF4-FFF2-40B4-BE49-F238E27FC236}">
                <a16:creationId xmlns:a16="http://schemas.microsoft.com/office/drawing/2014/main" id="{794D9866-9611-314F-A336-B0C87682AED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06784" y="2477694"/>
            <a:ext cx="1684991" cy="914400"/>
          </a:xfrm>
          <a:prstGeom prst="rect">
            <a:avLst/>
          </a:prstGeom>
        </p:spPr>
      </p:pic>
      <p:sp>
        <p:nvSpPr>
          <p:cNvPr id="26" name="矩形 25">
            <a:extLst>
              <a:ext uri="{FF2B5EF4-FFF2-40B4-BE49-F238E27FC236}">
                <a16:creationId xmlns:a16="http://schemas.microsoft.com/office/drawing/2014/main" id="{691B7926-C93F-5C48-B3D6-7EAAD30B1E4B}"/>
              </a:ext>
            </a:extLst>
          </p:cNvPr>
          <p:cNvSpPr/>
          <p:nvPr/>
        </p:nvSpPr>
        <p:spPr>
          <a:xfrm>
            <a:off x="7972931" y="2971464"/>
            <a:ext cx="1107996"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rPr>
              <a:t>我們弃權</a:t>
            </a:r>
          </a:p>
        </p:txBody>
      </p:sp>
      <p:sp>
        <p:nvSpPr>
          <p:cNvPr id="5" name="灯片编号占位符 4">
            <a:extLst>
              <a:ext uri="{FF2B5EF4-FFF2-40B4-BE49-F238E27FC236}">
                <a16:creationId xmlns:a16="http://schemas.microsoft.com/office/drawing/2014/main" id="{1E250250-6B84-46D2-9D88-81A37AEEC26A}"/>
              </a:ext>
            </a:extLst>
          </p:cNvPr>
          <p:cNvSpPr>
            <a:spLocks noGrp="1"/>
          </p:cNvSpPr>
          <p:nvPr>
            <p:ph type="sldNum" sz="quarter" idx="4"/>
          </p:nvPr>
        </p:nvSpPr>
        <p:spPr/>
        <p:txBody>
          <a:bodyPr/>
          <a:lstStyle/>
          <a:p>
            <a:fld id="{015CE2E0-6DDF-4FAE-9DBA-F1C48BF5C133}" type="slidenum">
              <a:rPr lang="zh-CN" altLang="en-US" smtClean="0"/>
              <a:t>61</a:t>
            </a:fld>
            <a:endParaRPr lang="zh-CN" altLang="en-US" dirty="0"/>
          </a:p>
        </p:txBody>
      </p:sp>
    </p:spTree>
    <p:extLst>
      <p:ext uri="{BB962C8B-B14F-4D97-AF65-F5344CB8AC3E}">
        <p14:creationId xmlns:p14="http://schemas.microsoft.com/office/powerpoint/2010/main" val="20798437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solidFill>
                  <a:srgbClr val="C00000"/>
                </a:solidFill>
              </a:rPr>
              <a:t>故障容錯算法</a:t>
            </a:r>
            <a:r>
              <a:rPr kumimoji="1" lang="en-US" altLang="zh-CN" dirty="0">
                <a:solidFill>
                  <a:srgbClr val="C00000"/>
                </a:solidFill>
              </a:rPr>
              <a:t>-Paxos</a:t>
            </a:r>
            <a:endParaRPr kumimoji="1" lang="zh-CN" altLang="en-US" dirty="0">
              <a:solidFill>
                <a:srgbClr val="C00000"/>
              </a:solidFill>
            </a:endParaRPr>
          </a:p>
        </p:txBody>
      </p:sp>
      <p:pic>
        <p:nvPicPr>
          <p:cNvPr id="8" name="图片 7">
            <a:extLst>
              <a:ext uri="{FF2B5EF4-FFF2-40B4-BE49-F238E27FC236}">
                <a16:creationId xmlns:a16="http://schemas.microsoft.com/office/drawing/2014/main" id="{8129BBEA-7A89-0344-B548-B19BC717F471}"/>
              </a:ext>
            </a:extLst>
          </p:cNvPr>
          <p:cNvPicPr>
            <a:picLocks noChangeAspect="1"/>
          </p:cNvPicPr>
          <p:nvPr/>
        </p:nvPicPr>
        <p:blipFill>
          <a:blip r:embed="rId3"/>
          <a:stretch>
            <a:fillRect/>
          </a:stretch>
        </p:blipFill>
        <p:spPr>
          <a:xfrm>
            <a:off x="482779" y="1314449"/>
            <a:ext cx="7751719" cy="5178211"/>
          </a:xfrm>
          <a:prstGeom prst="rect">
            <a:avLst/>
          </a:prstGeom>
          <a:ln>
            <a:solidFill>
              <a:schemeClr val="bg1">
                <a:lumMod val="75000"/>
              </a:schemeClr>
            </a:solidFill>
          </a:ln>
        </p:spPr>
      </p:pic>
      <p:pic>
        <p:nvPicPr>
          <p:cNvPr id="13" name="图片 12">
            <a:extLst>
              <a:ext uri="{FF2B5EF4-FFF2-40B4-BE49-F238E27FC236}">
                <a16:creationId xmlns:a16="http://schemas.microsoft.com/office/drawing/2014/main" id="{74DD8829-327E-D84D-A9B6-B1143C21A741}"/>
              </a:ext>
            </a:extLst>
          </p:cNvPr>
          <p:cNvPicPr>
            <a:picLocks noChangeAspect="1"/>
          </p:cNvPicPr>
          <p:nvPr/>
        </p:nvPicPr>
        <p:blipFill>
          <a:blip r:embed="rId4"/>
          <a:stretch>
            <a:fillRect/>
          </a:stretch>
        </p:blipFill>
        <p:spPr>
          <a:xfrm>
            <a:off x="8558739" y="1381657"/>
            <a:ext cx="2665680" cy="199392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5" name="矩形 14">
            <a:extLst>
              <a:ext uri="{FF2B5EF4-FFF2-40B4-BE49-F238E27FC236}">
                <a16:creationId xmlns:a16="http://schemas.microsoft.com/office/drawing/2014/main" id="{86A64537-245C-4D47-9035-2A838553B9BF}"/>
              </a:ext>
            </a:extLst>
          </p:cNvPr>
          <p:cNvSpPr/>
          <p:nvPr/>
        </p:nvSpPr>
        <p:spPr>
          <a:xfrm>
            <a:off x="8310200" y="3399020"/>
            <a:ext cx="3617941" cy="3254161"/>
          </a:xfrm>
          <a:prstGeom prst="rect">
            <a:avLst/>
          </a:prstGeom>
        </p:spPr>
        <p:txBody>
          <a:bodyPr wrap="square">
            <a:spAutoFit/>
          </a:bodyPr>
          <a:lstStyle/>
          <a:p>
            <a:pPr algn="just">
              <a:lnSpc>
                <a:spcPct val="130000"/>
              </a:lnSpc>
            </a:pPr>
            <a:r>
              <a:rPr lang="en" altLang="zh-CN" sz="2000" b="1" dirty="0">
                <a:latin typeface="Microsoft YaHei" panose="020B0503020204020204" pitchFamily="34" charset="-122"/>
                <a:ea typeface="Microsoft YaHei" panose="020B0503020204020204" pitchFamily="34" charset="-122"/>
              </a:rPr>
              <a:t>Leslie B. </a:t>
            </a:r>
            <a:r>
              <a:rPr lang="en" altLang="zh-CN" sz="2000" b="1" dirty="0" err="1">
                <a:latin typeface="Microsoft YaHei" panose="020B0503020204020204" pitchFamily="34" charset="-122"/>
                <a:ea typeface="Microsoft YaHei" panose="020B0503020204020204" pitchFamily="34" charset="-122"/>
              </a:rPr>
              <a:t>Lamport</a:t>
            </a:r>
            <a:endParaRPr lang="en-US" altLang="zh-CN" sz="2000" b="1" dirty="0">
              <a:latin typeface="Microsoft YaHei" panose="020B0503020204020204" pitchFamily="34" charset="-122"/>
              <a:ea typeface="Microsoft YaHei" panose="020B0503020204020204" pitchFamily="34" charset="-122"/>
            </a:endParaRPr>
          </a:p>
          <a:p>
            <a:pPr algn="just">
              <a:lnSpc>
                <a:spcPct val="130000"/>
              </a:lnSpc>
            </a:pPr>
            <a:r>
              <a:rPr lang="zh-CN" altLang="en-US" sz="2000" dirty="0">
                <a:latin typeface="Microsoft YaHei" panose="020B0503020204020204" pitchFamily="34" charset="-122"/>
                <a:ea typeface="Microsoft YaHei" panose="020B0503020204020204" pitchFamily="34" charset="-122"/>
              </a:rPr>
              <a:t>美國著名的計算機科學家，微軟研究院首席研究員，</a:t>
            </a:r>
            <a:endParaRPr lang="en-US" altLang="zh-CN" sz="2000" dirty="0">
              <a:latin typeface="Microsoft YaHei" panose="020B0503020204020204" pitchFamily="34" charset="-122"/>
              <a:ea typeface="Microsoft YaHei" panose="020B0503020204020204" pitchFamily="34" charset="-122"/>
            </a:endParaRPr>
          </a:p>
          <a:p>
            <a:pPr algn="just">
              <a:lnSpc>
                <a:spcPct val="130000"/>
              </a:lnSpc>
            </a:pPr>
            <a:r>
              <a:rPr lang="zh-CN" altLang="en-US" sz="2000" dirty="0">
                <a:latin typeface="Microsoft YaHei" panose="020B0503020204020204" pitchFamily="34" charset="-122"/>
                <a:ea typeface="Microsoft YaHei" panose="020B0503020204020204" pitchFamily="34" charset="-122"/>
              </a:rPr>
              <a:t>著名的排版系統</a:t>
            </a:r>
            <a:r>
              <a:rPr lang="en" altLang="zh-CN" sz="2000" dirty="0">
                <a:latin typeface="Microsoft YaHei" panose="020B0503020204020204" pitchFamily="34" charset="-122"/>
                <a:ea typeface="Microsoft YaHei" panose="020B0503020204020204" pitchFamily="34" charset="-122"/>
              </a:rPr>
              <a:t>LaTeX</a:t>
            </a:r>
            <a:r>
              <a:rPr lang="zh-CN" altLang="en-US" sz="2000" dirty="0">
                <a:latin typeface="Microsoft YaHei" panose="020B0503020204020204" pitchFamily="34" charset="-122"/>
                <a:ea typeface="Microsoft YaHei" panose="020B0503020204020204" pitchFamily="34" charset="-122"/>
              </a:rPr>
              <a:t>的作者，拜占庭將軍問題和</a:t>
            </a:r>
            <a:r>
              <a:rPr lang="en" altLang="zh-CN" sz="2000" dirty="0">
                <a:latin typeface="Microsoft YaHei" panose="020B0503020204020204" pitchFamily="34" charset="-122"/>
                <a:ea typeface="Microsoft YaHei" panose="020B0503020204020204" pitchFamily="34" charset="-122"/>
              </a:rPr>
              <a:t>Paxos</a:t>
            </a:r>
            <a:r>
              <a:rPr lang="zh-CN" altLang="en-US" sz="2000" dirty="0">
                <a:latin typeface="Microsoft YaHei" panose="020B0503020204020204" pitchFamily="34" charset="-122"/>
                <a:ea typeface="Microsoft YaHei" panose="020B0503020204020204" pitchFamily="34" charset="-122"/>
              </a:rPr>
              <a:t>算法的提出者，</a:t>
            </a:r>
            <a:r>
              <a:rPr lang="en-US" altLang="zh-CN" sz="2000" dirty="0">
                <a:latin typeface="Microsoft YaHei" panose="020B0503020204020204" pitchFamily="34" charset="-122"/>
                <a:ea typeface="Microsoft YaHei" panose="020B0503020204020204" pitchFamily="34" charset="-122"/>
              </a:rPr>
              <a:t>2000</a:t>
            </a:r>
            <a:r>
              <a:rPr lang="zh-CN" altLang="en-US" sz="2000" dirty="0">
                <a:latin typeface="Microsoft YaHei" panose="020B0503020204020204" pitchFamily="34" charset="-122"/>
                <a:ea typeface="Microsoft YaHei" panose="020B0503020204020204" pitchFamily="34" charset="-122"/>
              </a:rPr>
              <a:t>年獲得了</a:t>
            </a:r>
            <a:r>
              <a:rPr lang="en" altLang="zh-CN" sz="2000" dirty="0">
                <a:latin typeface="Microsoft YaHei" panose="020B0503020204020204" pitchFamily="34" charset="-122"/>
                <a:ea typeface="Microsoft YaHei" panose="020B0503020204020204" pitchFamily="34" charset="-122"/>
              </a:rPr>
              <a:t>Dijkstra </a:t>
            </a:r>
            <a:r>
              <a:rPr lang="zh-CN" altLang="en-US" sz="2000" dirty="0">
                <a:latin typeface="Microsoft YaHei" panose="020B0503020204020204" pitchFamily="34" charset="-122"/>
                <a:ea typeface="Microsoft YaHei" panose="020B0503020204020204" pitchFamily="34" charset="-122"/>
              </a:rPr>
              <a:t>獎，</a:t>
            </a:r>
            <a:r>
              <a:rPr lang="en-US" altLang="zh-CN" sz="2000" dirty="0">
                <a:latin typeface="Microsoft YaHei" panose="020B0503020204020204" pitchFamily="34" charset="-122"/>
                <a:ea typeface="Microsoft YaHei" panose="020B0503020204020204" pitchFamily="34" charset="-122"/>
              </a:rPr>
              <a:t>2012</a:t>
            </a:r>
            <a:r>
              <a:rPr lang="zh-CN" altLang="en-US" sz="2000" dirty="0">
                <a:latin typeface="Microsoft YaHei" panose="020B0503020204020204" pitchFamily="34" charset="-122"/>
                <a:ea typeface="Microsoft YaHei" panose="020B0503020204020204" pitchFamily="34" charset="-122"/>
              </a:rPr>
              <a:t>年獲得馮</a:t>
            </a: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諾依曼獎，</a:t>
            </a:r>
            <a:r>
              <a:rPr lang="en-US" altLang="zh-CN" sz="2000" b="1" dirty="0">
                <a:solidFill>
                  <a:srgbClr val="C00000"/>
                </a:solidFill>
                <a:latin typeface="Microsoft YaHei" panose="020B0503020204020204" pitchFamily="34" charset="-122"/>
                <a:ea typeface="Microsoft YaHei" panose="020B0503020204020204" pitchFamily="34" charset="-122"/>
              </a:rPr>
              <a:t>2013</a:t>
            </a:r>
            <a:r>
              <a:rPr lang="zh-CN" altLang="en-US" sz="2000" b="1" dirty="0">
                <a:solidFill>
                  <a:srgbClr val="C00000"/>
                </a:solidFill>
                <a:latin typeface="Microsoft YaHei" panose="020B0503020204020204" pitchFamily="34" charset="-122"/>
                <a:ea typeface="Microsoft YaHei" panose="020B0503020204020204" pitchFamily="34" charset="-122"/>
              </a:rPr>
              <a:t>年獲得圖靈獎</a:t>
            </a:r>
          </a:p>
        </p:txBody>
      </p:sp>
      <p:sp>
        <p:nvSpPr>
          <p:cNvPr id="6" name="灯片编号占位符 2">
            <a:extLst>
              <a:ext uri="{FF2B5EF4-FFF2-40B4-BE49-F238E27FC236}">
                <a16:creationId xmlns:a16="http://schemas.microsoft.com/office/drawing/2014/main" id="{CF7EBDCE-B346-CF4C-9E56-D080B34EAA25}"/>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62</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4562905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solidFill>
                  <a:srgbClr val="C00000"/>
                </a:solidFill>
              </a:rPr>
              <a:t>故障容錯算法</a:t>
            </a:r>
            <a:r>
              <a:rPr kumimoji="1" lang="en-US" altLang="zh-CN" dirty="0">
                <a:solidFill>
                  <a:srgbClr val="C00000"/>
                </a:solidFill>
              </a:rPr>
              <a:t>-Paxos</a:t>
            </a:r>
            <a:endParaRPr kumimoji="1" lang="zh-CN" altLang="en-US" dirty="0">
              <a:solidFill>
                <a:srgbClr val="C00000"/>
              </a:solidFill>
            </a:endParaRPr>
          </a:p>
        </p:txBody>
      </p:sp>
      <p:sp>
        <p:nvSpPr>
          <p:cNvPr id="6" name="矩形 5">
            <a:extLst>
              <a:ext uri="{FF2B5EF4-FFF2-40B4-BE49-F238E27FC236}">
                <a16:creationId xmlns:a16="http://schemas.microsoft.com/office/drawing/2014/main" id="{01F441EE-C6EC-AD4C-AF48-64B84BDDA363}"/>
              </a:ext>
            </a:extLst>
          </p:cNvPr>
          <p:cNvSpPr/>
          <p:nvPr/>
        </p:nvSpPr>
        <p:spPr>
          <a:xfrm>
            <a:off x="920894" y="1048789"/>
            <a:ext cx="10738004" cy="1212127"/>
          </a:xfrm>
          <a:prstGeom prst="rect">
            <a:avLst/>
          </a:prstGeom>
          <a:ln>
            <a:noFill/>
          </a:ln>
        </p:spPr>
        <p:txBody>
          <a:bodyPr wrap="square">
            <a:spAutoFit/>
          </a:bodyPr>
          <a:lstStyle/>
          <a:p>
            <a:pPr marL="0" lvl="1" fontAlgn="base">
              <a:lnSpc>
                <a:spcPct val="150000"/>
              </a:lnSpc>
              <a:spcBef>
                <a:spcPct val="20000"/>
              </a:spcBef>
              <a:spcAft>
                <a:spcPct val="0"/>
              </a:spcAft>
              <a:buSzPct val="100000"/>
            </a:pPr>
            <a:r>
              <a:rPr lang="zh-CN" altLang="en-US" sz="2400" b="1" dirty="0">
                <a:solidFill>
                  <a:srgbClr val="C00000"/>
                </a:solidFill>
                <a:latin typeface="Microsoft YaHei" panose="020B0503020204020204" pitchFamily="34" charset="-122"/>
                <a:ea typeface="Microsoft YaHei" panose="020B0503020204020204" pitchFamily="34" charset="-122"/>
              </a:rPr>
              <a:t>這個世界上只有一種一致性算法，那就是</a:t>
            </a:r>
            <a:r>
              <a:rPr lang="en-US" altLang="zh-CN" sz="2400" b="1" dirty="0">
                <a:solidFill>
                  <a:srgbClr val="C00000"/>
                </a:solidFill>
                <a:latin typeface="Microsoft YaHei" panose="020B0503020204020204" pitchFamily="34" charset="-122"/>
                <a:ea typeface="Microsoft YaHei" panose="020B0503020204020204" pitchFamily="34" charset="-122"/>
              </a:rPr>
              <a:t>Paxos</a:t>
            </a:r>
            <a:r>
              <a:rPr lang="zh-CN" altLang="en-US" sz="2400" b="1" dirty="0">
                <a:solidFill>
                  <a:srgbClr val="C00000"/>
                </a:solidFill>
                <a:latin typeface="Microsoft YaHei" panose="020B0503020204020204" pitchFamily="34" charset="-122"/>
                <a:ea typeface="Microsoft YaHei" panose="020B0503020204020204" pitchFamily="34" charset="-122"/>
              </a:rPr>
              <a:t>，其它的算法都是殘次品</a:t>
            </a:r>
            <a:endParaRPr lang="en-US" altLang="zh-CN" sz="2400" b="1" dirty="0">
              <a:solidFill>
                <a:srgbClr val="C00000"/>
              </a:solidFill>
              <a:latin typeface="Microsoft YaHei" panose="020B0503020204020204" pitchFamily="34" charset="-122"/>
              <a:ea typeface="Microsoft YaHei" panose="020B0503020204020204" pitchFamily="34" charset="-122"/>
            </a:endParaRPr>
          </a:p>
          <a:p>
            <a:pPr lvl="1" algn="r" fontAlgn="base">
              <a:lnSpc>
                <a:spcPct val="150000"/>
              </a:lnSpc>
              <a:spcBef>
                <a:spcPct val="20000"/>
              </a:spcBef>
              <a:spcAft>
                <a:spcPct val="0"/>
              </a:spcAft>
              <a:buSzPct val="100000"/>
            </a:pPr>
            <a:r>
              <a:rPr lang="en-US" altLang="zh-CN" sz="2400" b="1" dirty="0">
                <a:solidFill>
                  <a:srgbClr val="C00000"/>
                </a:solidFill>
                <a:latin typeface="Microsoft YaHei" panose="020B0503020204020204" pitchFamily="34" charset="-122"/>
                <a:ea typeface="Microsoft YaHei" panose="020B0503020204020204" pitchFamily="34" charset="-122"/>
              </a:rPr>
              <a:t>——Google Chubby</a:t>
            </a:r>
            <a:r>
              <a:rPr lang="zh-CN" altLang="en-US" sz="2400" b="1" dirty="0">
                <a:solidFill>
                  <a:srgbClr val="C00000"/>
                </a:solidFill>
                <a:latin typeface="Microsoft YaHei" panose="020B0503020204020204" pitchFamily="34" charset="-122"/>
                <a:ea typeface="Microsoft YaHei" panose="020B0503020204020204" pitchFamily="34" charset="-122"/>
              </a:rPr>
              <a:t>的作者</a:t>
            </a:r>
            <a:r>
              <a:rPr lang="en-US" altLang="zh-CN" sz="2400" b="1" dirty="0">
                <a:solidFill>
                  <a:srgbClr val="C00000"/>
                </a:solidFill>
                <a:latin typeface="Microsoft YaHei" panose="020B0503020204020204" pitchFamily="34" charset="-122"/>
                <a:ea typeface="Microsoft YaHei" panose="020B0503020204020204" pitchFamily="34" charset="-122"/>
              </a:rPr>
              <a:t>Mike Burrows</a:t>
            </a:r>
          </a:p>
        </p:txBody>
      </p:sp>
      <p:sp>
        <p:nvSpPr>
          <p:cNvPr id="7" name="矩形 6">
            <a:extLst>
              <a:ext uri="{FF2B5EF4-FFF2-40B4-BE49-F238E27FC236}">
                <a16:creationId xmlns:a16="http://schemas.microsoft.com/office/drawing/2014/main" id="{25D7378F-C242-2A47-A155-E9EF44FEFF9D}"/>
              </a:ext>
            </a:extLst>
          </p:cNvPr>
          <p:cNvSpPr/>
          <p:nvPr/>
        </p:nvSpPr>
        <p:spPr>
          <a:xfrm>
            <a:off x="749444" y="4923538"/>
            <a:ext cx="10738004" cy="1212961"/>
          </a:xfrm>
          <a:prstGeom prst="rect">
            <a:avLst/>
          </a:prstGeom>
          <a:ln>
            <a:noFill/>
          </a:ln>
        </p:spPr>
        <p:txBody>
          <a:bodyPr wrap="square">
            <a:spAutoFit/>
          </a:bodyPr>
          <a:lstStyle/>
          <a:p>
            <a:pPr marL="342900" lvl="1" indent="-342900" fontAlgn="base">
              <a:lnSpc>
                <a:spcPct val="1500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Comic Sans MS" panose="030F0702030302020204" pitchFamily="66" charset="0"/>
                <a:ea typeface="微软雅黑" pitchFamily="34" charset="-122"/>
              </a:rPr>
              <a:t>應用實例：</a:t>
            </a:r>
            <a:endParaRPr lang="en-US" altLang="zh-CN" sz="2400" dirty="0">
              <a:solidFill>
                <a:schemeClr val="tx1">
                  <a:lumMod val="75000"/>
                  <a:lumOff val="25000"/>
                </a:schemeClr>
              </a:solidFill>
              <a:latin typeface="Comic Sans MS" panose="030F0702030302020204" pitchFamily="66" charset="0"/>
              <a:ea typeface="微软雅黑" pitchFamily="34" charset="-122"/>
            </a:endParaRPr>
          </a:p>
          <a:p>
            <a:pPr marL="684000" lvl="1" indent="-342900" fontAlgn="base">
              <a:lnSpc>
                <a:spcPct val="150000"/>
              </a:lnSpc>
              <a:spcBef>
                <a:spcPct val="20000"/>
              </a:spcBef>
              <a:spcAft>
                <a:spcPct val="0"/>
              </a:spcAft>
              <a:buSzPct val="100000"/>
              <a:buFont typeface="Arial" panose="020B0604020202020204" pitchFamily="34" charset="0"/>
              <a:buChar char="•"/>
            </a:pPr>
            <a:r>
              <a:rPr lang="en-US" altLang="zh-CN" sz="2400" dirty="0">
                <a:solidFill>
                  <a:schemeClr val="tx1">
                    <a:lumMod val="75000"/>
                    <a:lumOff val="25000"/>
                  </a:schemeClr>
                </a:solidFill>
                <a:latin typeface="Comic Sans MS" panose="030F0702030302020204" pitchFamily="66" charset="0"/>
                <a:ea typeface="微软雅黑" pitchFamily="34" charset="-122"/>
              </a:rPr>
              <a:t>Cassandra, Google Spanner, Google Chubby</a:t>
            </a:r>
          </a:p>
        </p:txBody>
      </p:sp>
      <p:sp>
        <p:nvSpPr>
          <p:cNvPr id="9" name="文本框 8">
            <a:extLst>
              <a:ext uri="{FF2B5EF4-FFF2-40B4-BE49-F238E27FC236}">
                <a16:creationId xmlns:a16="http://schemas.microsoft.com/office/drawing/2014/main" id="{D56B2440-5481-6448-953C-D9B832CC37A7}"/>
              </a:ext>
            </a:extLst>
          </p:cNvPr>
          <p:cNvSpPr txBox="1"/>
          <p:nvPr/>
        </p:nvSpPr>
        <p:spPr>
          <a:xfrm>
            <a:off x="749444" y="2585614"/>
            <a:ext cx="4867275" cy="2140073"/>
          </a:xfrm>
          <a:prstGeom prst="rect">
            <a:avLst/>
          </a:prstGeom>
          <a:noFill/>
          <a:ln>
            <a:solidFill>
              <a:srgbClr val="00B0F0"/>
            </a:solidFill>
          </a:ln>
        </p:spPr>
        <p:txBody>
          <a:bodyPr wrap="square" rtlCol="0">
            <a:spAutoFit/>
          </a:bodyPr>
          <a:lstStyle/>
          <a:p>
            <a:pPr marL="342900" indent="-342900" fontAlgn="base">
              <a:lnSpc>
                <a:spcPct val="150000"/>
              </a:lnSpc>
              <a:spcBef>
                <a:spcPct val="20000"/>
              </a:spcBef>
              <a:spcAft>
                <a:spcPct val="0"/>
              </a:spcAft>
              <a:buFont typeface="Arial" panose="020B0604020202020204" pitchFamily="34" charset="0"/>
              <a:buChar char="•"/>
            </a:pPr>
            <a:r>
              <a:rPr lang="zh-CN" altLang="en-US" sz="2400" dirty="0">
                <a:solidFill>
                  <a:srgbClr val="404040"/>
                </a:solidFill>
                <a:latin typeface="Comic Sans MS" panose="030F0702030302020204" pitchFamily="66" charset="0"/>
                <a:ea typeface="微软雅黑" pitchFamily="34" charset="-122"/>
              </a:rPr>
              <a:t>問題場景：</a:t>
            </a:r>
            <a:endParaRPr lang="en-US" altLang="zh-CN" sz="2400" dirty="0">
              <a:solidFill>
                <a:srgbClr val="404040"/>
              </a:solidFill>
              <a:latin typeface="Comic Sans MS" panose="030F0702030302020204" pitchFamily="66" charset="0"/>
              <a:ea typeface="微软雅黑" pitchFamily="34" charset="-122"/>
            </a:endParaRPr>
          </a:p>
          <a:p>
            <a:pPr marL="684000" lvl="1" indent="-342900"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Comic Sans MS" panose="030F0702030302020204" pitchFamily="66" charset="0"/>
                <a:ea typeface="微软雅黑" pitchFamily="34" charset="-122"/>
              </a:rPr>
              <a:t>分布式數據庫系統中，各節點初始狀態一致</a:t>
            </a:r>
          </a:p>
          <a:p>
            <a:pPr marL="684000" lvl="1" indent="-342900"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Comic Sans MS" panose="030F0702030302020204" pitchFamily="66" charset="0"/>
                <a:ea typeface="微软雅黑" pitchFamily="34" charset="-122"/>
              </a:rPr>
              <a:t>部分節點可能出現故障</a:t>
            </a:r>
            <a:endParaRPr lang="en-US" altLang="zh-CN" sz="2400" dirty="0">
              <a:solidFill>
                <a:schemeClr val="tx1">
                  <a:lumMod val="75000"/>
                  <a:lumOff val="25000"/>
                </a:schemeClr>
              </a:solidFill>
              <a:latin typeface="Comic Sans MS" panose="030F0702030302020204" pitchFamily="66" charset="0"/>
              <a:ea typeface="微软雅黑" pitchFamily="34" charset="-122"/>
            </a:endParaRPr>
          </a:p>
        </p:txBody>
      </p:sp>
      <p:sp>
        <p:nvSpPr>
          <p:cNvPr id="8" name="文本框 7">
            <a:extLst>
              <a:ext uri="{FF2B5EF4-FFF2-40B4-BE49-F238E27FC236}">
                <a16:creationId xmlns:a16="http://schemas.microsoft.com/office/drawing/2014/main" id="{E77187DE-7A06-DC4C-ABC5-63C020CB4C92}"/>
              </a:ext>
            </a:extLst>
          </p:cNvPr>
          <p:cNvSpPr txBox="1"/>
          <p:nvPr/>
        </p:nvSpPr>
        <p:spPr>
          <a:xfrm>
            <a:off x="5810250" y="2589796"/>
            <a:ext cx="5696248" cy="2140073"/>
          </a:xfrm>
          <a:prstGeom prst="rect">
            <a:avLst/>
          </a:prstGeom>
          <a:noFill/>
          <a:ln>
            <a:solidFill>
              <a:srgbClr val="00B0F0"/>
            </a:solidFill>
          </a:ln>
        </p:spPr>
        <p:txBody>
          <a:bodyPr wrap="square" rtlCol="0">
            <a:spAutoFit/>
          </a:bodyPr>
          <a:lstStyle/>
          <a:p>
            <a:pPr marL="342900" indent="-342900" fontAlgn="base">
              <a:lnSpc>
                <a:spcPct val="150000"/>
              </a:lnSpc>
              <a:spcBef>
                <a:spcPct val="20000"/>
              </a:spcBef>
              <a:spcAft>
                <a:spcPct val="0"/>
              </a:spcAft>
              <a:buFont typeface="Arial" panose="020B0604020202020204" pitchFamily="34" charset="0"/>
              <a:buChar char="•"/>
            </a:pPr>
            <a:r>
              <a:rPr lang="zh-CN" altLang="en-US" sz="2400" dirty="0">
                <a:solidFill>
                  <a:srgbClr val="404040"/>
                </a:solidFill>
                <a:latin typeface="Comic Sans MS" panose="030F0702030302020204" pitchFamily="66" charset="0"/>
                <a:ea typeface="微软雅黑" pitchFamily="34" charset="-122"/>
              </a:rPr>
              <a:t>主要目的：</a:t>
            </a:r>
            <a:endParaRPr lang="en-US" altLang="zh-CN" sz="2400" dirty="0">
              <a:solidFill>
                <a:srgbClr val="404040"/>
              </a:solidFill>
              <a:latin typeface="Comic Sans MS" panose="030F0702030302020204" pitchFamily="66" charset="0"/>
              <a:ea typeface="微软雅黑" pitchFamily="34" charset="-122"/>
            </a:endParaRPr>
          </a:p>
          <a:p>
            <a:pPr marL="684000" lvl="1" indent="-342900"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Comic Sans MS" panose="030F0702030302020204" pitchFamily="66" charset="0"/>
                <a:ea typeface="微软雅黑" pitchFamily="34" charset="-122"/>
              </a:rPr>
              <a:t>所有正確節點按相同順序執行相同的操作指令</a:t>
            </a:r>
            <a:endParaRPr lang="en-US" altLang="zh-CN" sz="2400" dirty="0">
              <a:solidFill>
                <a:schemeClr val="tx1">
                  <a:lumMod val="75000"/>
                  <a:lumOff val="25000"/>
                </a:schemeClr>
              </a:solidFill>
              <a:latin typeface="Comic Sans MS" panose="030F0702030302020204" pitchFamily="66" charset="0"/>
              <a:ea typeface="微软雅黑" pitchFamily="34" charset="-122"/>
            </a:endParaRPr>
          </a:p>
          <a:p>
            <a:pPr marL="684000" lvl="1" indent="-342900"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Comic Sans MS" panose="030F0702030302020204" pitchFamily="66" charset="0"/>
                <a:ea typeface="微软雅黑" pitchFamily="34" charset="-122"/>
              </a:rPr>
              <a:t>所有正確節點得到一致的本地狀態</a:t>
            </a:r>
            <a:endParaRPr lang="en-US" altLang="zh-CN" sz="2400" dirty="0">
              <a:solidFill>
                <a:schemeClr val="tx1">
                  <a:lumMod val="75000"/>
                  <a:lumOff val="25000"/>
                </a:schemeClr>
              </a:solidFill>
              <a:latin typeface="Comic Sans MS" panose="030F0702030302020204" pitchFamily="66" charset="0"/>
              <a:ea typeface="微软雅黑" pitchFamily="34" charset="-122"/>
            </a:endParaRPr>
          </a:p>
        </p:txBody>
      </p:sp>
      <p:sp>
        <p:nvSpPr>
          <p:cNvPr id="10" name="灯片编号占位符 2">
            <a:extLst>
              <a:ext uri="{FF2B5EF4-FFF2-40B4-BE49-F238E27FC236}">
                <a16:creationId xmlns:a16="http://schemas.microsoft.com/office/drawing/2014/main" id="{3894466E-6686-614D-849B-D96C2D6892CD}"/>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63</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104973710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en-US" altLang="zh-CN" dirty="0" err="1">
                <a:solidFill>
                  <a:srgbClr val="C00000"/>
                </a:solidFill>
              </a:rPr>
              <a:t>Paxos</a:t>
            </a:r>
            <a:r>
              <a:rPr kumimoji="1" lang="zh-CN" altLang="en-US" dirty="0">
                <a:solidFill>
                  <a:srgbClr val="C00000"/>
                </a:solidFill>
              </a:rPr>
              <a:t>的主要思想</a:t>
            </a:r>
          </a:p>
        </p:txBody>
      </p:sp>
      <p:sp>
        <p:nvSpPr>
          <p:cNvPr id="13" name="文本框 12">
            <a:extLst>
              <a:ext uri="{FF2B5EF4-FFF2-40B4-BE49-F238E27FC236}">
                <a16:creationId xmlns:a16="http://schemas.microsoft.com/office/drawing/2014/main" id="{9C53BA35-1FB8-1E4C-9BBA-ECE78E7C9C94}"/>
              </a:ext>
            </a:extLst>
          </p:cNvPr>
          <p:cNvSpPr txBox="1"/>
          <p:nvPr/>
        </p:nvSpPr>
        <p:spPr>
          <a:xfrm>
            <a:off x="923660" y="1828557"/>
            <a:ext cx="10981828" cy="1509003"/>
          </a:xfrm>
          <a:prstGeom prst="rect">
            <a:avLst/>
          </a:prstGeom>
          <a:noFill/>
          <a:ln>
            <a:solidFill>
              <a:srgbClr val="00B0F0"/>
            </a:solidFill>
          </a:ln>
        </p:spPr>
        <p:txBody>
          <a:bodyPr wrap="square" rtlCol="0">
            <a:spAutoFit/>
          </a:bodyPr>
          <a:lstStyle/>
          <a:p>
            <a:pPr fontAlgn="base">
              <a:lnSpc>
                <a:spcPts val="3600"/>
              </a:lnSpc>
              <a:spcBef>
                <a:spcPct val="20000"/>
              </a:spcBef>
              <a:spcAft>
                <a:spcPct val="0"/>
              </a:spcAft>
            </a:pPr>
            <a:r>
              <a:rPr lang="en-US" altLang="zh-CN" sz="2400" b="1" dirty="0" err="1">
                <a:solidFill>
                  <a:srgbClr val="404040"/>
                </a:solidFill>
                <a:latin typeface="Microsoft YaHei" panose="020B0503020204020204" pitchFamily="34" charset="-122"/>
                <a:ea typeface="Microsoft YaHei" panose="020B0503020204020204" pitchFamily="34" charset="-122"/>
              </a:rPr>
              <a:t>Paxos</a:t>
            </a:r>
            <a:r>
              <a:rPr lang="zh-CN" altLang="en-US" sz="2400" b="1" dirty="0">
                <a:solidFill>
                  <a:srgbClr val="404040"/>
                </a:solidFill>
                <a:latin typeface="Microsoft YaHei" panose="020B0503020204020204" pitchFamily="34" charset="-122"/>
                <a:ea typeface="Microsoft YaHei" panose="020B0503020204020204" pitchFamily="34" charset="-122"/>
              </a:rPr>
              <a:t>算法中的</a:t>
            </a:r>
            <a:r>
              <a:rPr lang="en-US" altLang="zh-CN" sz="2400" b="1" dirty="0">
                <a:solidFill>
                  <a:schemeClr val="tx1">
                    <a:lumMod val="75000"/>
                    <a:lumOff val="25000"/>
                  </a:schemeClr>
                </a:solidFill>
                <a:latin typeface="Microsoft YaHei" panose="020B0503020204020204" pitchFamily="34" charset="-122"/>
                <a:ea typeface="Microsoft YaHei" panose="020B0503020204020204" pitchFamily="34" charset="-122"/>
              </a:rPr>
              <a:t>3</a:t>
            </a:r>
            <a:r>
              <a:rPr lang="zh-CN" altLang="en-US" sz="2400" b="1" dirty="0">
                <a:solidFill>
                  <a:schemeClr val="tx1">
                    <a:lumMod val="75000"/>
                    <a:lumOff val="25000"/>
                  </a:schemeClr>
                </a:solidFill>
                <a:latin typeface="Microsoft YaHei" panose="020B0503020204020204" pitchFamily="34" charset="-122"/>
                <a:ea typeface="Microsoft YaHei" panose="020B0503020204020204" pitchFamily="34" charset="-122"/>
              </a:rPr>
              <a:t>種角色，一個節點可同時擔任多個角色，通常情况下由客戶端擔任提議者，服務端擔任接受者和學習者</a:t>
            </a:r>
            <a:endParaRPr lang="en-US" altLang="zh-CN" sz="2400" b="1" dirty="0">
              <a:solidFill>
                <a:schemeClr val="tx1">
                  <a:lumMod val="75000"/>
                  <a:lumOff val="25000"/>
                </a:schemeClr>
              </a:solidFill>
              <a:latin typeface="Microsoft YaHei" panose="020B0503020204020204" pitchFamily="34" charset="-122"/>
              <a:ea typeface="Microsoft YaHei" panose="020B0503020204020204" pitchFamily="34" charset="-122"/>
            </a:endParaRPr>
          </a:p>
          <a:p>
            <a:pPr marL="684000" indent="-342900" fontAlgn="base">
              <a:lnSpc>
                <a:spcPts val="3600"/>
              </a:lnSpc>
              <a:spcBef>
                <a:spcPct val="20000"/>
              </a:spcBef>
              <a:spcAft>
                <a:spcPct val="0"/>
              </a:spcAft>
              <a:buFont typeface="Arial" panose="020B0604020202020204" pitchFamily="34" charset="0"/>
              <a:buChar char="•"/>
            </a:pP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Proposer(</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提議者</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Acceptor(</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接受者</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Learner(</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學習者</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a:t>
            </a:r>
          </a:p>
        </p:txBody>
      </p:sp>
      <p:sp>
        <p:nvSpPr>
          <p:cNvPr id="10" name="矩形 9">
            <a:extLst>
              <a:ext uri="{FF2B5EF4-FFF2-40B4-BE49-F238E27FC236}">
                <a16:creationId xmlns:a16="http://schemas.microsoft.com/office/drawing/2014/main" id="{5ABE7B1F-3912-2845-A4FE-F196E6BC3228}"/>
              </a:ext>
            </a:extLst>
          </p:cNvPr>
          <p:cNvSpPr/>
          <p:nvPr/>
        </p:nvSpPr>
        <p:spPr>
          <a:xfrm>
            <a:off x="923660" y="1031904"/>
            <a:ext cx="10981828" cy="515013"/>
          </a:xfrm>
          <a:prstGeom prst="rect">
            <a:avLst/>
          </a:prstGeom>
        </p:spPr>
        <p:txBody>
          <a:bodyPr wrap="square">
            <a:spAutoFit/>
          </a:bodyPr>
          <a:lstStyle/>
          <a:p>
            <a:pPr marL="0" lvl="1" algn="ctr" fontAlgn="base">
              <a:lnSpc>
                <a:spcPts val="3600"/>
              </a:lnSpc>
              <a:spcBef>
                <a:spcPct val="20000"/>
              </a:spcBef>
              <a:spcAft>
                <a:spcPct val="0"/>
              </a:spcAft>
              <a:buSzPct val="60000"/>
            </a:pPr>
            <a:r>
              <a:rPr lang="zh-CN" altLang="en-US" sz="2400" b="1" dirty="0">
                <a:solidFill>
                  <a:srgbClr val="C00000"/>
                </a:solidFill>
                <a:latin typeface="Microsoft YaHei" panose="020B0503020204020204" pitchFamily="34" charset="-122"/>
                <a:ea typeface="Microsoft YaHei" panose="020B0503020204020204" pitchFamily="34" charset="-122"/>
              </a:rPr>
              <a:t>存在有</a:t>
            </a:r>
            <a:r>
              <a:rPr lang="en-US" altLang="zh-CN" sz="2400" b="1" dirty="0">
                <a:solidFill>
                  <a:srgbClr val="C00000"/>
                </a:solidFill>
                <a:latin typeface="Microsoft YaHei" panose="020B0503020204020204" pitchFamily="34" charset="-122"/>
                <a:ea typeface="Microsoft YaHei" panose="020B0503020204020204" pitchFamily="34" charset="-122"/>
              </a:rPr>
              <a:t>Leader</a:t>
            </a:r>
            <a:r>
              <a:rPr lang="zh-CN" altLang="en-US" sz="2400" b="1" dirty="0">
                <a:solidFill>
                  <a:srgbClr val="C00000"/>
                </a:solidFill>
                <a:latin typeface="Microsoft YaHei" panose="020B0503020204020204" pitchFamily="34" charset="-122"/>
                <a:ea typeface="Microsoft YaHei" panose="020B0503020204020204" pitchFamily="34" charset="-122"/>
              </a:rPr>
              <a:t>和無</a:t>
            </a:r>
            <a:r>
              <a:rPr lang="en-US" altLang="zh-CN" sz="2400" b="1" dirty="0">
                <a:solidFill>
                  <a:srgbClr val="C00000"/>
                </a:solidFill>
                <a:latin typeface="Microsoft YaHei" panose="020B0503020204020204" pitchFamily="34" charset="-122"/>
                <a:ea typeface="Microsoft YaHei" panose="020B0503020204020204" pitchFamily="34" charset="-122"/>
              </a:rPr>
              <a:t>Leader</a:t>
            </a:r>
            <a:r>
              <a:rPr lang="zh-CN" altLang="en-US" sz="2400" b="1" dirty="0">
                <a:solidFill>
                  <a:srgbClr val="C00000"/>
                </a:solidFill>
                <a:latin typeface="Microsoft YaHei" panose="020B0503020204020204" pitchFamily="34" charset="-122"/>
                <a:ea typeface="Microsoft YaHei" panose="020B0503020204020204" pitchFamily="34" charset="-122"/>
              </a:rPr>
              <a:t>兩種模式，基于</a:t>
            </a:r>
            <a:r>
              <a:rPr lang="en-US" altLang="zh-CN" sz="2400" b="1" dirty="0">
                <a:solidFill>
                  <a:srgbClr val="C00000"/>
                </a:solidFill>
                <a:latin typeface="Microsoft YaHei" panose="020B0503020204020204" pitchFamily="34" charset="-122"/>
                <a:ea typeface="Microsoft YaHei" panose="020B0503020204020204" pitchFamily="34" charset="-122"/>
              </a:rPr>
              <a:t>Quorum</a:t>
            </a:r>
            <a:r>
              <a:rPr lang="zh-CN" altLang="en-US" sz="2400" b="1" dirty="0">
                <a:solidFill>
                  <a:srgbClr val="C00000"/>
                </a:solidFill>
                <a:latin typeface="Microsoft YaHei" panose="020B0503020204020204" pitchFamily="34" charset="-122"/>
                <a:ea typeface="Microsoft YaHei" panose="020B0503020204020204" pitchFamily="34" charset="-122"/>
              </a:rPr>
              <a:t>機制確保一致性和容錯性</a:t>
            </a:r>
            <a:endParaRPr lang="en-US" altLang="zh-CN" sz="2400" b="1" dirty="0">
              <a:solidFill>
                <a:srgbClr val="C00000"/>
              </a:solidFill>
              <a:latin typeface="Microsoft YaHei" panose="020B0503020204020204" pitchFamily="34" charset="-122"/>
              <a:ea typeface="Microsoft YaHei" panose="020B0503020204020204" pitchFamily="34" charset="-122"/>
            </a:endParaRPr>
          </a:p>
        </p:txBody>
      </p:sp>
      <p:sp>
        <p:nvSpPr>
          <p:cNvPr id="11" name="文本框 10">
            <a:extLst>
              <a:ext uri="{FF2B5EF4-FFF2-40B4-BE49-F238E27FC236}">
                <a16:creationId xmlns:a16="http://schemas.microsoft.com/office/drawing/2014/main" id="{7DE3D24D-2F2A-2847-BD9B-1D4A8045C6C9}"/>
              </a:ext>
            </a:extLst>
          </p:cNvPr>
          <p:cNvSpPr txBox="1"/>
          <p:nvPr/>
        </p:nvSpPr>
        <p:spPr>
          <a:xfrm>
            <a:off x="923660" y="3532355"/>
            <a:ext cx="10981828" cy="2653932"/>
          </a:xfrm>
          <a:prstGeom prst="rect">
            <a:avLst/>
          </a:prstGeom>
          <a:noFill/>
          <a:ln>
            <a:solidFill>
              <a:srgbClr val="00B0F0"/>
            </a:solidFill>
          </a:ln>
        </p:spPr>
        <p:txBody>
          <a:bodyPr wrap="square" rtlCol="0">
            <a:spAutoFit/>
          </a:bodyPr>
          <a:lstStyle/>
          <a:p>
            <a:pPr fontAlgn="base">
              <a:lnSpc>
                <a:spcPts val="3600"/>
              </a:lnSpc>
              <a:spcBef>
                <a:spcPct val="20000"/>
              </a:spcBef>
              <a:spcAft>
                <a:spcPct val="0"/>
              </a:spcAft>
            </a:pPr>
            <a:r>
              <a:rPr lang="en-US" altLang="zh-CN" sz="2400" b="1" dirty="0" err="1">
                <a:solidFill>
                  <a:srgbClr val="404040"/>
                </a:solidFill>
                <a:latin typeface="Microsoft YaHei" panose="020B0503020204020204" pitchFamily="34" charset="-122"/>
                <a:ea typeface="Microsoft YaHei" panose="020B0503020204020204" pitchFamily="34" charset="-122"/>
              </a:rPr>
              <a:t>Paxos</a:t>
            </a:r>
            <a:r>
              <a:rPr lang="zh-CN" altLang="en-US" sz="2400" b="1" dirty="0">
                <a:solidFill>
                  <a:srgbClr val="404040"/>
                </a:solidFill>
                <a:latin typeface="Microsoft YaHei" panose="020B0503020204020204" pitchFamily="34" charset="-122"/>
                <a:ea typeface="Microsoft YaHei" panose="020B0503020204020204" pitchFamily="34" charset="-122"/>
              </a:rPr>
              <a:t>的基本流程</a:t>
            </a:r>
            <a:endParaRPr lang="en-US" altLang="zh-CN" sz="2400" b="1" dirty="0">
              <a:solidFill>
                <a:schemeClr val="tx1">
                  <a:lumMod val="75000"/>
                  <a:lumOff val="25000"/>
                </a:schemeClr>
              </a:solidFill>
              <a:latin typeface="Microsoft YaHei" panose="020B0503020204020204" pitchFamily="34" charset="-122"/>
              <a:ea typeface="Microsoft YaHei" panose="020B0503020204020204" pitchFamily="34" charset="-122"/>
            </a:endParaRPr>
          </a:p>
          <a:p>
            <a:pPr marL="684000" indent="-342900" fontAlgn="base">
              <a:lnSpc>
                <a:spcPts val="3600"/>
              </a:lnSpc>
              <a:spcBef>
                <a:spcPct val="20000"/>
              </a:spcBef>
              <a:spcAft>
                <a:spcPct val="0"/>
              </a:spcAft>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提議者爲交易分配一個序號，從而形成提案，然後將其發送給所有的接受者</a:t>
            </a:r>
            <a:endPar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a:p>
            <a:pPr marL="684000" indent="-342900" fontAlgn="base">
              <a:lnSpc>
                <a:spcPts val="3600"/>
              </a:lnSpc>
              <a:spcBef>
                <a:spcPct val="20000"/>
              </a:spcBef>
              <a:spcAft>
                <a:spcPct val="0"/>
              </a:spcAft>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接受者選擇需要接受的提案，然後對提議者進行回應</a:t>
            </a:r>
            <a:endPar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a:p>
            <a:pPr marL="684000" indent="-342900" fontAlgn="base">
              <a:lnSpc>
                <a:spcPts val="3600"/>
              </a:lnSpc>
              <a:spcBef>
                <a:spcPct val="20000"/>
              </a:spcBef>
              <a:spcAft>
                <a:spcPct val="0"/>
              </a:spcAft>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當提議者收到超過半數接受者的回應後，則通知接受者最終接受該提案</a:t>
            </a:r>
            <a:endPar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a:p>
            <a:pPr marL="684000" indent="-342900" fontAlgn="base">
              <a:lnSpc>
                <a:spcPts val="3600"/>
              </a:lnSpc>
              <a:spcBef>
                <a:spcPct val="20000"/>
              </a:spcBef>
              <a:spcAft>
                <a:spcPct val="0"/>
              </a:spcAft>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接受者接受提案後告知學習者，學習者收到多數接受者信息後學習該提案</a:t>
            </a:r>
            <a:endPar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cxnSp>
        <p:nvCxnSpPr>
          <p:cNvPr id="15" name="直接连接符 8">
            <a:extLst>
              <a:ext uri="{FF2B5EF4-FFF2-40B4-BE49-F238E27FC236}">
                <a16:creationId xmlns:a16="http://schemas.microsoft.com/office/drawing/2014/main" id="{44073A83-1328-4147-83B5-48F76E373AB0}"/>
              </a:ext>
            </a:extLst>
          </p:cNvPr>
          <p:cNvCxnSpPr>
            <a:cxnSpLocks/>
          </p:cNvCxnSpPr>
          <p:nvPr/>
        </p:nvCxnSpPr>
        <p:spPr>
          <a:xfrm>
            <a:off x="561975" y="6225781"/>
            <a:ext cx="547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文本框 14">
            <a:extLst>
              <a:ext uri="{FF2B5EF4-FFF2-40B4-BE49-F238E27FC236}">
                <a16:creationId xmlns:a16="http://schemas.microsoft.com/office/drawing/2014/main" id="{B9EE2F21-EAC9-434A-A336-CCC1C90D4E75}"/>
              </a:ext>
            </a:extLst>
          </p:cNvPr>
          <p:cNvSpPr txBox="1"/>
          <p:nvPr/>
        </p:nvSpPr>
        <p:spPr>
          <a:xfrm>
            <a:off x="561974" y="6257888"/>
            <a:ext cx="8668523" cy="523220"/>
          </a:xfrm>
          <a:prstGeom prst="rect">
            <a:avLst/>
          </a:prstGeom>
          <a:noFill/>
        </p:spPr>
        <p:txBody>
          <a:bodyPr wrap="square" rtlCol="0">
            <a:spAutoFit/>
          </a:bodyPr>
          <a:lstStyle/>
          <a:p>
            <a:pPr algn="just"/>
            <a:r>
              <a:rPr kumimoji="1" lang="zh-CN" altLang="en-US" sz="1400" dirty="0">
                <a:latin typeface="微软雅黑" panose="020B0503020204020204" pitchFamily="34" charset="-122"/>
                <a:ea typeface="微软雅黑" panose="020B0503020204020204" pitchFamily="34" charset="-122"/>
                <a:cs typeface="Times New Roman" panose="02020603050405020304" pitchFamily="18" charset="0"/>
              </a:rPr>
              <a:t>注</a:t>
            </a:r>
            <a:r>
              <a:rPr kumimoji="1" lang="en-US" altLang="zh-CN" sz="1400" dirty="0">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1400" dirty="0">
                <a:latin typeface="微软雅黑" panose="020B0503020204020204" pitchFamily="34" charset="-122"/>
                <a:ea typeface="微软雅黑" panose="020B0503020204020204" pitchFamily="34" charset="-122"/>
                <a:cs typeface="Times New Roman" panose="02020603050405020304" pitchFamily="18" charset="0"/>
              </a:rPr>
              <a:t>詳情可參考：</a:t>
            </a:r>
            <a:endParaRPr kumimoji="1" lang="en-US" altLang="zh-CN" sz="1400" dirty="0">
              <a:latin typeface="微软雅黑" panose="020B0503020204020204" pitchFamily="34" charset="-122"/>
              <a:ea typeface="微软雅黑" panose="020B0503020204020204" pitchFamily="34" charset="-122"/>
              <a:cs typeface="Times New Roman" panose="02020603050405020304" pitchFamily="18" charset="0"/>
            </a:endParaRPr>
          </a:p>
          <a:p>
            <a:pPr algn="just"/>
            <a:r>
              <a:rPr lang="en" altLang="zh-CN" sz="1400" dirty="0" err="1"/>
              <a:t>Lamport</a:t>
            </a:r>
            <a:r>
              <a:rPr lang="en" altLang="zh-CN" sz="1400" dirty="0"/>
              <a:t> L. Generalized consensus and </a:t>
            </a:r>
            <a:r>
              <a:rPr lang="en" altLang="zh-CN" sz="1400" dirty="0" err="1"/>
              <a:t>Paxos</a:t>
            </a:r>
            <a:r>
              <a:rPr lang="en" altLang="zh-CN" sz="1400" dirty="0"/>
              <a:t>[J]. 2005.</a:t>
            </a:r>
            <a:endParaRPr kumimoji="1" lang="en-US" altLang="zh-CN" sz="14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灯片编号占位符 2">
            <a:extLst>
              <a:ext uri="{FF2B5EF4-FFF2-40B4-BE49-F238E27FC236}">
                <a16:creationId xmlns:a16="http://schemas.microsoft.com/office/drawing/2014/main" id="{2C84BC48-3C06-7740-B4E2-CB7275A0E1D7}"/>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64</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3056458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solidFill>
                  <a:srgbClr val="C00000"/>
                </a:solidFill>
              </a:rPr>
              <a:t>無</a:t>
            </a:r>
            <a:r>
              <a:rPr kumimoji="1" lang="en-US" altLang="zh-CN" dirty="0">
                <a:solidFill>
                  <a:srgbClr val="C00000"/>
                </a:solidFill>
              </a:rPr>
              <a:t>Leader</a:t>
            </a:r>
            <a:r>
              <a:rPr kumimoji="1" lang="zh-CN" altLang="en-US" dirty="0">
                <a:solidFill>
                  <a:srgbClr val="C00000"/>
                </a:solidFill>
              </a:rPr>
              <a:t>模式下的運行流程</a:t>
            </a:r>
          </a:p>
        </p:txBody>
      </p:sp>
      <p:sp>
        <p:nvSpPr>
          <p:cNvPr id="31" name="文本框 30">
            <a:extLst>
              <a:ext uri="{FF2B5EF4-FFF2-40B4-BE49-F238E27FC236}">
                <a16:creationId xmlns:a16="http://schemas.microsoft.com/office/drawing/2014/main" id="{16BEA5D2-8AF7-E847-BD0B-5F1368080EC9}"/>
              </a:ext>
            </a:extLst>
          </p:cNvPr>
          <p:cNvSpPr txBox="1"/>
          <p:nvPr/>
        </p:nvSpPr>
        <p:spPr>
          <a:xfrm>
            <a:off x="790000" y="1462916"/>
            <a:ext cx="682752" cy="2361672"/>
          </a:xfrm>
          <a:prstGeom prst="rect">
            <a:avLst/>
          </a:prstGeom>
          <a:noFill/>
        </p:spPr>
        <p:txBody>
          <a:bodyPr wrap="square" rtlCol="0">
            <a:spAutoFit/>
          </a:bodyPr>
          <a:lstStyle/>
          <a:p>
            <a:pPr marL="0" lvl="1" algn="ctr" fontAlgn="base">
              <a:lnSpc>
                <a:spcPts val="3600"/>
              </a:lnSpc>
              <a:spcBef>
                <a:spcPct val="20000"/>
              </a:spcBef>
              <a:spcAft>
                <a:spcPct val="0"/>
              </a:spcAft>
              <a:buSzPct val="100000"/>
            </a:pPr>
            <a:r>
              <a:rPr lang="zh-CN" altLang="en-US" sz="2400" b="1" dirty="0">
                <a:solidFill>
                  <a:srgbClr val="C00000"/>
                </a:solidFill>
                <a:latin typeface="Comic Sans MS" panose="030F0702030302020204" pitchFamily="66" charset="0"/>
                <a:ea typeface="微软雅黑" pitchFamily="34" charset="-122"/>
              </a:rPr>
              <a:t>一個理想的</a:t>
            </a:r>
            <a:endParaRPr lang="zh-CN" altLang="en-US" sz="2000" b="1" dirty="0">
              <a:solidFill>
                <a:srgbClr val="C00000"/>
              </a:solidFill>
              <a:latin typeface="Comic Sans MS" panose="030F0702030302020204" pitchFamily="66" charset="0"/>
              <a:ea typeface="微软雅黑" pitchFamily="34" charset="-122"/>
            </a:endParaRPr>
          </a:p>
        </p:txBody>
      </p:sp>
      <p:sp>
        <p:nvSpPr>
          <p:cNvPr id="32" name="文本框 31">
            <a:extLst>
              <a:ext uri="{FF2B5EF4-FFF2-40B4-BE49-F238E27FC236}">
                <a16:creationId xmlns:a16="http://schemas.microsoft.com/office/drawing/2014/main" id="{356CA47E-9D68-8B4D-B2FA-B86E130812ED}"/>
              </a:ext>
            </a:extLst>
          </p:cNvPr>
          <p:cNvSpPr txBox="1"/>
          <p:nvPr/>
        </p:nvSpPr>
        <p:spPr>
          <a:xfrm>
            <a:off x="536809" y="5212472"/>
            <a:ext cx="11242815" cy="1509003"/>
          </a:xfrm>
          <a:prstGeom prst="rect">
            <a:avLst/>
          </a:prstGeom>
          <a:noFill/>
          <a:ln>
            <a:solidFill>
              <a:srgbClr val="00B0F0"/>
            </a:solidFill>
          </a:ln>
        </p:spPr>
        <p:txBody>
          <a:bodyPr wrap="square" rtlCol="0">
            <a:spAutoFit/>
          </a:bodyPr>
          <a:lstStyle/>
          <a:p>
            <a:pPr marL="3429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實際情况：多個提議者存在，每個提議者單獨提議各自的提案；</a:t>
            </a:r>
            <a:r>
              <a:rPr lang="zh-CN" altLang="en-US" sz="2400" dirty="0">
                <a:solidFill>
                  <a:schemeClr val="tx1">
                    <a:lumMod val="75000"/>
                    <a:lumOff val="25000"/>
                  </a:schemeClr>
                </a:solidFill>
                <a:latin typeface="Comic Sans MS" panose="030F0702030302020204" pitchFamily="66" charset="0"/>
                <a:ea typeface="微软雅黑" pitchFamily="34" charset="-122"/>
              </a:rPr>
              <a:t>接受者面臨不同提議者的提案，可能需要不斷接受提議編號更大的提案</a:t>
            </a:r>
            <a:endPar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a:p>
            <a:pPr marL="3429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共識達成條件：提案完成前三次交互之前無更大提議號提案出現</a:t>
            </a:r>
            <a:endParaRPr lang="zh-CN" altLang="en-US" sz="200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22" name="文本框 21">
            <a:extLst>
              <a:ext uri="{FF2B5EF4-FFF2-40B4-BE49-F238E27FC236}">
                <a16:creationId xmlns:a16="http://schemas.microsoft.com/office/drawing/2014/main" id="{03F75F4B-AA9A-AE4D-B9C6-54E8ADDADACC}"/>
              </a:ext>
            </a:extLst>
          </p:cNvPr>
          <p:cNvSpPr txBox="1"/>
          <p:nvPr/>
        </p:nvSpPr>
        <p:spPr>
          <a:xfrm>
            <a:off x="1363024" y="1914204"/>
            <a:ext cx="682752" cy="1569660"/>
          </a:xfrm>
          <a:prstGeom prst="rect">
            <a:avLst/>
          </a:prstGeom>
          <a:noFill/>
        </p:spPr>
        <p:txBody>
          <a:bodyPr wrap="square">
            <a:spAutoFit/>
          </a:bodyPr>
          <a:lstStyle/>
          <a:p>
            <a:r>
              <a:rPr lang="zh-CN" altLang="en-US" sz="2400" b="1" dirty="0">
                <a:solidFill>
                  <a:srgbClr val="C00000"/>
                </a:solidFill>
                <a:latin typeface="Comic Sans MS" panose="030F0702030302020204" pitchFamily="66" charset="0"/>
                <a:ea typeface="微软雅黑" pitchFamily="34" charset="-122"/>
              </a:rPr>
              <a:t>共識流程</a:t>
            </a:r>
            <a:endParaRPr lang="zh-CN" altLang="en-US" sz="2400" b="1" dirty="0">
              <a:solidFill>
                <a:srgbClr val="C00000"/>
              </a:solidFill>
            </a:endParaRPr>
          </a:p>
        </p:txBody>
      </p:sp>
      <p:sp>
        <p:nvSpPr>
          <p:cNvPr id="7" name="灯片编号占位符 2">
            <a:extLst>
              <a:ext uri="{FF2B5EF4-FFF2-40B4-BE49-F238E27FC236}">
                <a16:creationId xmlns:a16="http://schemas.microsoft.com/office/drawing/2014/main" id="{B97F9A25-9399-BB40-8F9A-E590AAA57112}"/>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65</a:t>
            </a:fld>
            <a:endParaRPr lang="zh-CN" altLang="en-US" sz="1200" dirty="0">
              <a:solidFill>
                <a:srgbClr val="000000">
                  <a:tint val="75000"/>
                </a:srgbClr>
              </a:solidFill>
              <a:latin typeface="Comic Sans MS"/>
              <a:ea typeface="微软雅黑 Light"/>
            </a:endParaRPr>
          </a:p>
        </p:txBody>
      </p:sp>
      <p:pic>
        <p:nvPicPr>
          <p:cNvPr id="6" name="图片 5">
            <a:extLst>
              <a:ext uri="{FF2B5EF4-FFF2-40B4-BE49-F238E27FC236}">
                <a16:creationId xmlns:a16="http://schemas.microsoft.com/office/drawing/2014/main" id="{412D94E8-04F9-154E-9A38-6DE902E10F33}"/>
              </a:ext>
            </a:extLst>
          </p:cNvPr>
          <p:cNvPicPr>
            <a:picLocks noChangeAspect="1"/>
          </p:cNvPicPr>
          <p:nvPr/>
        </p:nvPicPr>
        <p:blipFill>
          <a:blip r:embed="rId3"/>
          <a:stretch>
            <a:fillRect/>
          </a:stretch>
        </p:blipFill>
        <p:spPr>
          <a:xfrm>
            <a:off x="2377440" y="1198699"/>
            <a:ext cx="9135006" cy="3761473"/>
          </a:xfrm>
          <a:prstGeom prst="rect">
            <a:avLst/>
          </a:prstGeom>
        </p:spPr>
      </p:pic>
    </p:spTree>
    <p:extLst>
      <p:ext uri="{BB962C8B-B14F-4D97-AF65-F5344CB8AC3E}">
        <p14:creationId xmlns:p14="http://schemas.microsoft.com/office/powerpoint/2010/main" val="28429210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solidFill>
                  <a:srgbClr val="C00000"/>
                </a:solidFill>
              </a:rPr>
              <a:t>一種永遠無法達成共識的極端場景</a:t>
            </a:r>
          </a:p>
        </p:txBody>
      </p:sp>
      <p:pic>
        <p:nvPicPr>
          <p:cNvPr id="7" name="Picture 2" descr="http://images2015.cnblogs.com/blog/176539/201606/176539-20160626155452844-827453906.png">
            <a:extLst>
              <a:ext uri="{FF2B5EF4-FFF2-40B4-BE49-F238E27FC236}">
                <a16:creationId xmlns:a16="http://schemas.microsoft.com/office/drawing/2014/main" id="{B635976B-FD65-CE41-93FA-92CEAA8ED17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1000"/>
          <a:stretch/>
        </p:blipFill>
        <p:spPr bwMode="auto">
          <a:xfrm>
            <a:off x="1745453" y="1752995"/>
            <a:ext cx="8827294" cy="3305985"/>
          </a:xfrm>
          <a:prstGeom prst="rect">
            <a:avLst/>
          </a:prstGeom>
          <a:noFill/>
          <a:extLst>
            <a:ext uri="{909E8E84-426E-40DD-AFC4-6F175D3DCCD1}">
              <a14:hiddenFill xmlns:a14="http://schemas.microsoft.com/office/drawing/2010/main">
                <a:solidFill>
                  <a:srgbClr val="FFFFFF"/>
                </a:solidFill>
              </a14:hiddenFill>
            </a:ext>
          </a:extLst>
        </p:spPr>
      </p:pic>
      <p:sp>
        <p:nvSpPr>
          <p:cNvPr id="11" name="矩形 10">
            <a:extLst>
              <a:ext uri="{FF2B5EF4-FFF2-40B4-BE49-F238E27FC236}">
                <a16:creationId xmlns:a16="http://schemas.microsoft.com/office/drawing/2014/main" id="{B641FC27-7D88-E142-8F9B-63A7F47891CC}"/>
              </a:ext>
            </a:extLst>
          </p:cNvPr>
          <p:cNvSpPr/>
          <p:nvPr/>
        </p:nvSpPr>
        <p:spPr>
          <a:xfrm>
            <a:off x="923660" y="1123344"/>
            <a:ext cx="10637855" cy="515013"/>
          </a:xfrm>
          <a:prstGeom prst="rect">
            <a:avLst/>
          </a:prstGeom>
        </p:spPr>
        <p:txBody>
          <a:bodyPr wrap="square">
            <a:spAutoFit/>
          </a:bodyPr>
          <a:lstStyle/>
          <a:p>
            <a:pPr marL="0" lvl="1" algn="ctr" fontAlgn="base">
              <a:lnSpc>
                <a:spcPts val="3600"/>
              </a:lnSpc>
              <a:spcBef>
                <a:spcPct val="20000"/>
              </a:spcBef>
              <a:spcAft>
                <a:spcPct val="0"/>
              </a:spcAft>
              <a:buSzPct val="60000"/>
            </a:pPr>
            <a:r>
              <a:rPr lang="zh-CN" altLang="en-US" sz="2400" dirty="0">
                <a:solidFill>
                  <a:schemeClr val="tx1">
                    <a:lumMod val="75000"/>
                    <a:lumOff val="25000"/>
                  </a:schemeClr>
                </a:solidFill>
                <a:latin typeface="Comic Sans MS" panose="030F0702030302020204" pitchFamily="66" charset="0"/>
                <a:ea typeface="微软雅黑" pitchFamily="34" charset="-122"/>
              </a:rPr>
              <a:t>每個提議者獨立提議時，不僅效率低下，還可能産生活鎖，即不斷産生衝突</a:t>
            </a:r>
            <a:endParaRPr lang="en-US" altLang="zh-CN" sz="2400" dirty="0">
              <a:solidFill>
                <a:schemeClr val="tx1">
                  <a:lumMod val="75000"/>
                  <a:lumOff val="25000"/>
                </a:schemeClr>
              </a:solidFill>
              <a:latin typeface="Comic Sans MS" panose="030F0702030302020204" pitchFamily="66" charset="0"/>
              <a:ea typeface="微软雅黑" pitchFamily="34" charset="-122"/>
            </a:endParaRPr>
          </a:p>
        </p:txBody>
      </p:sp>
      <p:sp>
        <p:nvSpPr>
          <p:cNvPr id="14" name="矩形 13">
            <a:extLst>
              <a:ext uri="{FF2B5EF4-FFF2-40B4-BE49-F238E27FC236}">
                <a16:creationId xmlns:a16="http://schemas.microsoft.com/office/drawing/2014/main" id="{B20538C9-5697-104C-9EFA-5D3B01E3217B}"/>
              </a:ext>
            </a:extLst>
          </p:cNvPr>
          <p:cNvSpPr/>
          <p:nvPr/>
        </p:nvSpPr>
        <p:spPr>
          <a:xfrm>
            <a:off x="962707" y="5105401"/>
            <a:ext cx="10419397" cy="952500"/>
          </a:xfrm>
          <a:prstGeom prst="rect">
            <a:avLst/>
          </a:prstGeom>
          <a:solidFill>
            <a:srgbClr val="00B0F0"/>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marL="0" lvl="1" algn="ctr"/>
            <a:r>
              <a:rPr lang="zh-CN" altLang="en-US" sz="2400" b="1" dirty="0">
                <a:solidFill>
                  <a:schemeClr val="bg1"/>
                </a:solidFill>
                <a:latin typeface="Microsoft YaHei" panose="020B0503020204020204" pitchFamily="34" charset="-122"/>
                <a:ea typeface="Microsoft YaHei" panose="020B0503020204020204" pitchFamily="34" charset="-122"/>
              </a:rPr>
              <a:t>解决思路：在提議者中選取一個領導者進行提議，其它提議者不參與提議</a:t>
            </a:r>
          </a:p>
        </p:txBody>
      </p:sp>
      <p:cxnSp>
        <p:nvCxnSpPr>
          <p:cNvPr id="15" name="直接连接符 8">
            <a:extLst>
              <a:ext uri="{FF2B5EF4-FFF2-40B4-BE49-F238E27FC236}">
                <a16:creationId xmlns:a16="http://schemas.microsoft.com/office/drawing/2014/main" id="{F073941A-7867-1341-8D27-D11E81051F47}"/>
              </a:ext>
            </a:extLst>
          </p:cNvPr>
          <p:cNvCxnSpPr>
            <a:cxnSpLocks/>
          </p:cNvCxnSpPr>
          <p:nvPr/>
        </p:nvCxnSpPr>
        <p:spPr>
          <a:xfrm>
            <a:off x="561975" y="6223861"/>
            <a:ext cx="547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文本框 14">
            <a:extLst>
              <a:ext uri="{FF2B5EF4-FFF2-40B4-BE49-F238E27FC236}">
                <a16:creationId xmlns:a16="http://schemas.microsoft.com/office/drawing/2014/main" id="{5CD94705-B939-7C4F-8873-6A86B890C938}"/>
              </a:ext>
            </a:extLst>
          </p:cNvPr>
          <p:cNvSpPr txBox="1"/>
          <p:nvPr/>
        </p:nvSpPr>
        <p:spPr>
          <a:xfrm>
            <a:off x="561974" y="6235648"/>
            <a:ext cx="10158577" cy="523220"/>
          </a:xfrm>
          <a:prstGeom prst="rect">
            <a:avLst/>
          </a:prstGeom>
          <a:noFill/>
        </p:spPr>
        <p:txBody>
          <a:bodyPr wrap="square" rtlCol="0">
            <a:spAutoFit/>
          </a:bodyPr>
          <a:lstStyle/>
          <a:p>
            <a:pPr algn="just"/>
            <a:r>
              <a:rPr kumimoji="1" lang="zh-CN" altLang="en-US" sz="1400" dirty="0">
                <a:latin typeface="微软雅黑" panose="020B0503020204020204" pitchFamily="34" charset="-122"/>
                <a:ea typeface="微软雅黑" panose="020B0503020204020204" pitchFamily="34" charset="-122"/>
                <a:cs typeface="Times New Roman" panose="02020603050405020304" pitchFamily="18" charset="0"/>
              </a:rPr>
              <a:t>注</a:t>
            </a:r>
            <a:r>
              <a:rPr kumimoji="1" lang="en-US" altLang="zh-CN" sz="1400" dirty="0">
                <a:latin typeface="微软雅黑" panose="020B0503020204020204" pitchFamily="34" charset="-122"/>
                <a:ea typeface="微软雅黑" panose="020B0503020204020204" pitchFamily="34" charset="-122"/>
                <a:cs typeface="Times New Roman" panose="02020603050405020304" pitchFamily="18" charset="0"/>
              </a:rPr>
              <a:t>. Paxos</a:t>
            </a:r>
            <a:r>
              <a:rPr kumimoji="1" lang="zh-CN" altLang="en-US" sz="1400" dirty="0">
                <a:latin typeface="微软雅黑" panose="020B0503020204020204" pitchFamily="34" charset="-122"/>
                <a:ea typeface="微软雅黑" panose="020B0503020204020204" pitchFamily="34" charset="-122"/>
                <a:cs typeface="Times New Roman" panose="02020603050405020304" pitchFamily="18" charset="0"/>
              </a:rPr>
              <a:t>及更多改進的詳細介紹可參考：</a:t>
            </a:r>
            <a:endParaRPr kumimoji="1" lang="en-US" altLang="zh-CN" sz="1400" dirty="0">
              <a:latin typeface="微软雅黑" panose="020B0503020204020204" pitchFamily="34" charset="-122"/>
              <a:ea typeface="微软雅黑" panose="020B0503020204020204" pitchFamily="34" charset="-122"/>
              <a:cs typeface="Times New Roman" panose="02020603050405020304" pitchFamily="18" charset="0"/>
            </a:endParaRPr>
          </a:p>
          <a:p>
            <a:pPr algn="just"/>
            <a:r>
              <a:rPr kumimoji="1" lang="en-US" altLang="zh-CN" sz="1400" dirty="0" err="1">
                <a:latin typeface="微软雅黑" panose="020B0503020204020204" pitchFamily="34" charset="-122"/>
                <a:ea typeface="微软雅黑" panose="020B0503020204020204" pitchFamily="34" charset="-122"/>
                <a:cs typeface="Times New Roman" panose="02020603050405020304" pitchFamily="18" charset="0"/>
              </a:rPr>
              <a:t>Lamport</a:t>
            </a:r>
            <a:r>
              <a:rPr kumimoji="1" lang="en-US" altLang="zh-CN" sz="1400" dirty="0">
                <a:latin typeface="微软雅黑" panose="020B0503020204020204" pitchFamily="34" charset="-122"/>
                <a:ea typeface="微软雅黑" panose="020B0503020204020204" pitchFamily="34" charset="-122"/>
                <a:cs typeface="Times New Roman" panose="02020603050405020304" pitchFamily="18" charset="0"/>
              </a:rPr>
              <a:t> L. Fast </a:t>
            </a:r>
            <a:r>
              <a:rPr kumimoji="1" lang="en-US" altLang="zh-CN" sz="1400" dirty="0" err="1">
                <a:latin typeface="微软雅黑" panose="020B0503020204020204" pitchFamily="34" charset="-122"/>
                <a:ea typeface="微软雅黑" panose="020B0503020204020204" pitchFamily="34" charset="-122"/>
                <a:cs typeface="Times New Roman" panose="02020603050405020304" pitchFamily="18" charset="0"/>
              </a:rPr>
              <a:t>paxos</a:t>
            </a:r>
            <a:r>
              <a:rPr kumimoji="1" lang="en-US" altLang="zh-CN" sz="1400" dirty="0">
                <a:latin typeface="微软雅黑" panose="020B0503020204020204" pitchFamily="34" charset="-122"/>
                <a:ea typeface="微软雅黑" panose="020B0503020204020204" pitchFamily="34" charset="-122"/>
                <a:cs typeface="Times New Roman" panose="02020603050405020304" pitchFamily="18" charset="0"/>
              </a:rPr>
              <a:t>[J]. Distributed Computing, 2006, 19(2): 79-103.</a:t>
            </a:r>
          </a:p>
        </p:txBody>
      </p:sp>
      <p:sp>
        <p:nvSpPr>
          <p:cNvPr id="17" name="灯片编号占位符 2">
            <a:extLst>
              <a:ext uri="{FF2B5EF4-FFF2-40B4-BE49-F238E27FC236}">
                <a16:creationId xmlns:a16="http://schemas.microsoft.com/office/drawing/2014/main" id="{8618FB44-45A5-6547-ACB3-F4DC6A8C35B8}"/>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66</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85962138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solidFill>
                  <a:srgbClr val="C00000"/>
                </a:solidFill>
              </a:rPr>
              <a:t>故障容錯算法</a:t>
            </a:r>
            <a:r>
              <a:rPr kumimoji="1" lang="en-US" altLang="zh-CN" dirty="0">
                <a:solidFill>
                  <a:srgbClr val="C00000"/>
                </a:solidFill>
              </a:rPr>
              <a:t>-Raft</a:t>
            </a:r>
            <a:endParaRPr kumimoji="1" lang="zh-CN" altLang="en-US" dirty="0">
              <a:solidFill>
                <a:srgbClr val="C00000"/>
              </a:solidFill>
            </a:endParaRPr>
          </a:p>
        </p:txBody>
      </p:sp>
      <p:sp>
        <p:nvSpPr>
          <p:cNvPr id="10" name="文本框 9">
            <a:extLst>
              <a:ext uri="{FF2B5EF4-FFF2-40B4-BE49-F238E27FC236}">
                <a16:creationId xmlns:a16="http://schemas.microsoft.com/office/drawing/2014/main" id="{EC654A26-29EF-F04D-AB67-73595AD404DE}"/>
              </a:ext>
            </a:extLst>
          </p:cNvPr>
          <p:cNvSpPr txBox="1"/>
          <p:nvPr/>
        </p:nvSpPr>
        <p:spPr>
          <a:xfrm>
            <a:off x="953369" y="1090867"/>
            <a:ext cx="10751535" cy="1115113"/>
          </a:xfrm>
          <a:prstGeom prst="rect">
            <a:avLst/>
          </a:prstGeom>
          <a:noFill/>
          <a:ln>
            <a:noFill/>
          </a:ln>
        </p:spPr>
        <p:txBody>
          <a:bodyPr wrap="square" rtlCol="0">
            <a:spAutoFit/>
          </a:bodyPr>
          <a:lstStyle/>
          <a:p>
            <a:pPr marL="0" lvl="1" algn="just" fontAlgn="base">
              <a:lnSpc>
                <a:spcPct val="150000"/>
              </a:lnSpc>
              <a:spcBef>
                <a:spcPct val="20000"/>
              </a:spcBef>
              <a:spcAft>
                <a:spcPct val="0"/>
              </a:spcAft>
              <a:buSzPct val="60000"/>
            </a:pPr>
            <a:r>
              <a:rPr lang="zh-CN" altLang="en-US" sz="2400" b="1" dirty="0">
                <a:solidFill>
                  <a:srgbClr val="C00000"/>
                </a:solidFill>
                <a:latin typeface="Microsoft YaHei" panose="020B0503020204020204" pitchFamily="34" charset="-122"/>
                <a:ea typeface="Microsoft YaHei" panose="020B0503020204020204" pitchFamily="34" charset="-122"/>
              </a:rPr>
              <a:t>目標：在保證容錯的基礎上，設計一個更容易理解的故障容錯算法。 </a:t>
            </a:r>
            <a:endParaRPr lang="en-US" altLang="zh-CN" sz="2400" b="1" dirty="0">
              <a:solidFill>
                <a:srgbClr val="C00000"/>
              </a:solidFill>
              <a:latin typeface="Microsoft YaHei" panose="020B0503020204020204" pitchFamily="34" charset="-122"/>
              <a:ea typeface="Microsoft YaHei" panose="020B0503020204020204" pitchFamily="34" charset="-122"/>
            </a:endParaRPr>
          </a:p>
          <a:p>
            <a:pPr lvl="1" algn="r" fontAlgn="base">
              <a:lnSpc>
                <a:spcPct val="150000"/>
              </a:lnSpc>
              <a:spcBef>
                <a:spcPct val="20000"/>
              </a:spcBef>
              <a:spcAft>
                <a:spcPct val="0"/>
              </a:spcAft>
              <a:buSzPct val="60000"/>
            </a:pPr>
            <a:r>
              <a:rPr lang="en-US" altLang="zh-CN" sz="2000" b="1" dirty="0">
                <a:solidFill>
                  <a:srgbClr val="C00000"/>
                </a:solidFill>
                <a:latin typeface="Microsoft YaHei" panose="020B0503020204020204" pitchFamily="34" charset="-122"/>
                <a:ea typeface="Microsoft YaHei" panose="020B0503020204020204" pitchFamily="34" charset="-122"/>
              </a:rPr>
              <a:t>——</a:t>
            </a:r>
            <a:r>
              <a:rPr lang="en" altLang="zh-CN" sz="20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Diego </a:t>
            </a:r>
            <a:r>
              <a:rPr lang="en" altLang="zh-CN" sz="2000" b="1" dirty="0" err="1">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Ongaro</a:t>
            </a:r>
            <a:r>
              <a:rPr lang="en" altLang="zh-CN" sz="20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 and John </a:t>
            </a:r>
            <a:r>
              <a:rPr lang="en" altLang="zh-CN" sz="2000" b="1" dirty="0" err="1">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Ousterhout</a:t>
            </a:r>
            <a:r>
              <a:rPr lang="en" altLang="zh-CN" sz="20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 </a:t>
            </a:r>
          </a:p>
        </p:txBody>
      </p:sp>
      <p:pic>
        <p:nvPicPr>
          <p:cNvPr id="11" name="图片 10">
            <a:extLst>
              <a:ext uri="{FF2B5EF4-FFF2-40B4-BE49-F238E27FC236}">
                <a16:creationId xmlns:a16="http://schemas.microsoft.com/office/drawing/2014/main" id="{18C43670-4A0D-E24F-91A7-10494D12EB3B}"/>
              </a:ext>
            </a:extLst>
          </p:cNvPr>
          <p:cNvPicPr>
            <a:picLocks noChangeAspect="1"/>
          </p:cNvPicPr>
          <p:nvPr/>
        </p:nvPicPr>
        <p:blipFill>
          <a:blip r:embed="rId3"/>
          <a:stretch>
            <a:fillRect/>
          </a:stretch>
        </p:blipFill>
        <p:spPr>
          <a:xfrm>
            <a:off x="5381008" y="2596072"/>
            <a:ext cx="6361127" cy="2628833"/>
          </a:xfrm>
          <a:prstGeom prst="rect">
            <a:avLst/>
          </a:prstGeom>
        </p:spPr>
      </p:pic>
      <p:pic>
        <p:nvPicPr>
          <p:cNvPr id="12" name="图片 11">
            <a:extLst>
              <a:ext uri="{FF2B5EF4-FFF2-40B4-BE49-F238E27FC236}">
                <a16:creationId xmlns:a16="http://schemas.microsoft.com/office/drawing/2014/main" id="{A5F84B84-1E8C-064A-BD5F-97EE2EF9030C}"/>
              </a:ext>
            </a:extLst>
          </p:cNvPr>
          <p:cNvPicPr>
            <a:picLocks noChangeAspect="1"/>
          </p:cNvPicPr>
          <p:nvPr/>
        </p:nvPicPr>
        <p:blipFill>
          <a:blip r:embed="rId4"/>
          <a:stretch>
            <a:fillRect/>
          </a:stretch>
        </p:blipFill>
        <p:spPr>
          <a:xfrm>
            <a:off x="1326387" y="2396218"/>
            <a:ext cx="3210003" cy="2954133"/>
          </a:xfrm>
          <a:prstGeom prst="rect">
            <a:avLst/>
          </a:prstGeom>
        </p:spPr>
      </p:pic>
      <p:sp>
        <p:nvSpPr>
          <p:cNvPr id="13" name="文本框 12">
            <a:extLst>
              <a:ext uri="{FF2B5EF4-FFF2-40B4-BE49-F238E27FC236}">
                <a16:creationId xmlns:a16="http://schemas.microsoft.com/office/drawing/2014/main" id="{312C285F-EDBF-F848-94C0-E54EB8ABF09D}"/>
              </a:ext>
            </a:extLst>
          </p:cNvPr>
          <p:cNvSpPr txBox="1"/>
          <p:nvPr/>
        </p:nvSpPr>
        <p:spPr>
          <a:xfrm>
            <a:off x="800265" y="5945456"/>
            <a:ext cx="10727585" cy="588694"/>
          </a:xfrm>
          <a:prstGeom prst="rect">
            <a:avLst/>
          </a:prstGeom>
          <a:solidFill>
            <a:srgbClr val="00B0F0"/>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2pPr marL="0" lvl="1" algn="ctr">
              <a:defRPr sz="2400" b="1">
                <a:solidFill>
                  <a:schemeClr val="bg1"/>
                </a:solidFill>
                <a:latin typeface="Microsoft YaHei" panose="020B0503020204020204" pitchFamily="34" charset="-122"/>
                <a:ea typeface="Microsoft YaHei" panose="020B0503020204020204" pitchFamily="34" charset="-122"/>
              </a:defRPr>
            </a:lvl2pPr>
          </a:lstStyle>
          <a:p>
            <a:pPr lvl="1"/>
            <a:r>
              <a:rPr lang="zh-CN" altLang="en-US" dirty="0"/>
              <a:t>結論：根據測試結果和調查問卷，說明</a:t>
            </a:r>
            <a:r>
              <a:rPr lang="en-US" altLang="zh-CN" dirty="0"/>
              <a:t>Paxos</a:t>
            </a:r>
            <a:r>
              <a:rPr lang="zh-CN" altLang="en-US" dirty="0"/>
              <a:t>的學習難度要遠高于</a:t>
            </a:r>
            <a:r>
              <a:rPr lang="en-US" altLang="zh-CN" dirty="0"/>
              <a:t>Raft</a:t>
            </a:r>
          </a:p>
        </p:txBody>
      </p:sp>
      <p:sp>
        <p:nvSpPr>
          <p:cNvPr id="14" name="矩形 13">
            <a:extLst>
              <a:ext uri="{FF2B5EF4-FFF2-40B4-BE49-F238E27FC236}">
                <a16:creationId xmlns:a16="http://schemas.microsoft.com/office/drawing/2014/main" id="{D6804755-733D-B24E-8C6F-037566D03A2E}"/>
              </a:ext>
            </a:extLst>
          </p:cNvPr>
          <p:cNvSpPr/>
          <p:nvPr/>
        </p:nvSpPr>
        <p:spPr>
          <a:xfrm>
            <a:off x="1786920" y="5405595"/>
            <a:ext cx="2749471" cy="400110"/>
          </a:xfrm>
          <a:prstGeom prst="rect">
            <a:avLst/>
          </a:prstGeom>
        </p:spPr>
        <p:txBody>
          <a:bodyPr wrap="none">
            <a:spAutoFit/>
          </a:bodyPr>
          <a:lstStyle/>
          <a:p>
            <a:r>
              <a:rPr lang="zh-CN" altLang="en-US" sz="2000" dirty="0">
                <a:solidFill>
                  <a:schemeClr val="tx1">
                    <a:lumMod val="75000"/>
                    <a:lumOff val="25000"/>
                  </a:schemeClr>
                </a:solidFill>
                <a:latin typeface="Microsoft YaHei" panose="020B0503020204020204" pitchFamily="34" charset="-122"/>
                <a:ea typeface="Microsoft YaHei" panose="020B0503020204020204" pitchFamily="34" charset="-122"/>
              </a:rPr>
              <a:t>對參與學生的測試成績</a:t>
            </a:r>
            <a:endParaRPr lang="zh-CN" altLang="en-US" sz="2000" dirty="0"/>
          </a:p>
        </p:txBody>
      </p:sp>
      <p:sp>
        <p:nvSpPr>
          <p:cNvPr id="15" name="矩形 14">
            <a:extLst>
              <a:ext uri="{FF2B5EF4-FFF2-40B4-BE49-F238E27FC236}">
                <a16:creationId xmlns:a16="http://schemas.microsoft.com/office/drawing/2014/main" id="{23EEFB5D-77FA-1D4E-871C-E7E32F566A7F}"/>
              </a:ext>
            </a:extLst>
          </p:cNvPr>
          <p:cNvSpPr/>
          <p:nvPr/>
        </p:nvSpPr>
        <p:spPr>
          <a:xfrm>
            <a:off x="6245079" y="5405595"/>
            <a:ext cx="2749471" cy="400110"/>
          </a:xfrm>
          <a:prstGeom prst="rect">
            <a:avLst/>
          </a:prstGeom>
        </p:spPr>
        <p:txBody>
          <a:bodyPr wrap="none">
            <a:spAutoFit/>
          </a:bodyPr>
          <a:lstStyle/>
          <a:p>
            <a:r>
              <a:rPr lang="zh-CN" altLang="en-US" sz="2000" dirty="0">
                <a:solidFill>
                  <a:schemeClr val="tx1">
                    <a:lumMod val="75000"/>
                    <a:lumOff val="25000"/>
                  </a:schemeClr>
                </a:solidFill>
                <a:latin typeface="Microsoft YaHei" panose="020B0503020204020204" pitchFamily="34" charset="-122"/>
                <a:ea typeface="Microsoft YaHei" panose="020B0503020204020204" pitchFamily="34" charset="-122"/>
              </a:rPr>
              <a:t>對參與學生的調查問卷</a:t>
            </a:r>
            <a:endParaRPr lang="zh-CN" altLang="en-US" sz="2000" dirty="0"/>
          </a:p>
        </p:txBody>
      </p:sp>
      <p:sp>
        <p:nvSpPr>
          <p:cNvPr id="9" name="灯片编号占位符 2">
            <a:extLst>
              <a:ext uri="{FF2B5EF4-FFF2-40B4-BE49-F238E27FC236}">
                <a16:creationId xmlns:a16="http://schemas.microsoft.com/office/drawing/2014/main" id="{26F94D86-7450-B845-A77B-6E07DAFB8ADD}"/>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67</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42171869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solidFill>
                  <a:srgbClr val="C00000"/>
                </a:solidFill>
              </a:rPr>
              <a:t>故障容錯算法</a:t>
            </a:r>
            <a:r>
              <a:rPr kumimoji="1" lang="en-US" altLang="zh-CN" dirty="0">
                <a:solidFill>
                  <a:srgbClr val="C00000"/>
                </a:solidFill>
              </a:rPr>
              <a:t>-Raft</a:t>
            </a:r>
            <a:endParaRPr kumimoji="1" lang="zh-CN" altLang="en-US" dirty="0">
              <a:solidFill>
                <a:srgbClr val="C00000"/>
              </a:solidFill>
            </a:endParaRPr>
          </a:p>
        </p:txBody>
      </p:sp>
      <p:pic>
        <p:nvPicPr>
          <p:cNvPr id="16" name="图片 15">
            <a:extLst>
              <a:ext uri="{FF2B5EF4-FFF2-40B4-BE49-F238E27FC236}">
                <a16:creationId xmlns:a16="http://schemas.microsoft.com/office/drawing/2014/main" id="{0741F4A6-55E8-814B-A8BE-9FDF850E69B8}"/>
              </a:ext>
            </a:extLst>
          </p:cNvPr>
          <p:cNvPicPr>
            <a:picLocks noChangeAspect="1"/>
          </p:cNvPicPr>
          <p:nvPr/>
        </p:nvPicPr>
        <p:blipFill>
          <a:blip r:embed="rId3"/>
          <a:stretch>
            <a:fillRect/>
          </a:stretch>
        </p:blipFill>
        <p:spPr>
          <a:xfrm>
            <a:off x="904875" y="1565548"/>
            <a:ext cx="3333750" cy="1619250"/>
          </a:xfrm>
          <a:prstGeom prst="rect">
            <a:avLst/>
          </a:prstGeom>
          <a:ln w="25400">
            <a:noFill/>
          </a:ln>
        </p:spPr>
      </p:pic>
      <p:pic>
        <p:nvPicPr>
          <p:cNvPr id="17" name="图片 16">
            <a:extLst>
              <a:ext uri="{FF2B5EF4-FFF2-40B4-BE49-F238E27FC236}">
                <a16:creationId xmlns:a16="http://schemas.microsoft.com/office/drawing/2014/main" id="{DB3B32AC-E7EE-EB46-B307-59A3A82EE992}"/>
              </a:ext>
            </a:extLst>
          </p:cNvPr>
          <p:cNvPicPr>
            <a:picLocks noChangeAspect="1"/>
          </p:cNvPicPr>
          <p:nvPr/>
        </p:nvPicPr>
        <p:blipFill>
          <a:blip r:embed="rId4"/>
          <a:stretch>
            <a:fillRect/>
          </a:stretch>
        </p:blipFill>
        <p:spPr>
          <a:xfrm>
            <a:off x="4476749" y="1450203"/>
            <a:ext cx="6610737" cy="843697"/>
          </a:xfrm>
          <a:prstGeom prst="rect">
            <a:avLst/>
          </a:prstGeom>
          <a:ln w="25400">
            <a:solidFill>
              <a:srgbClr val="00B0F0"/>
            </a:solidFill>
          </a:ln>
        </p:spPr>
      </p:pic>
      <p:pic>
        <p:nvPicPr>
          <p:cNvPr id="18" name="图片 17">
            <a:extLst>
              <a:ext uri="{FF2B5EF4-FFF2-40B4-BE49-F238E27FC236}">
                <a16:creationId xmlns:a16="http://schemas.microsoft.com/office/drawing/2014/main" id="{08257F76-B1A2-954D-889F-6D89974F5F2B}"/>
              </a:ext>
            </a:extLst>
          </p:cNvPr>
          <p:cNvPicPr>
            <a:picLocks noChangeAspect="1"/>
          </p:cNvPicPr>
          <p:nvPr/>
        </p:nvPicPr>
        <p:blipFill>
          <a:blip r:embed="rId5"/>
          <a:stretch>
            <a:fillRect/>
          </a:stretch>
        </p:blipFill>
        <p:spPr>
          <a:xfrm>
            <a:off x="4466705" y="2395308"/>
            <a:ext cx="6613794" cy="3262542"/>
          </a:xfrm>
          <a:prstGeom prst="rect">
            <a:avLst/>
          </a:prstGeom>
          <a:ln w="25400">
            <a:solidFill>
              <a:srgbClr val="00B0F0"/>
            </a:solidFill>
          </a:ln>
        </p:spPr>
      </p:pic>
      <p:sp>
        <p:nvSpPr>
          <p:cNvPr id="6" name="灯片编号占位符 2">
            <a:extLst>
              <a:ext uri="{FF2B5EF4-FFF2-40B4-BE49-F238E27FC236}">
                <a16:creationId xmlns:a16="http://schemas.microsoft.com/office/drawing/2014/main" id="{AE7846D7-7C90-6043-A611-1D204CFA031A}"/>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68</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169172878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en-US" altLang="zh-CN" dirty="0"/>
              <a:t>Raft</a:t>
            </a:r>
            <a:r>
              <a:rPr kumimoji="1" lang="zh-CN" altLang="en-US" dirty="0"/>
              <a:t>的主要思想</a:t>
            </a:r>
            <a:endParaRPr kumimoji="1" lang="zh-CN" altLang="en-US" dirty="0">
              <a:solidFill>
                <a:srgbClr val="C00000"/>
              </a:solidFill>
            </a:endParaRPr>
          </a:p>
        </p:txBody>
      </p:sp>
      <p:sp>
        <p:nvSpPr>
          <p:cNvPr id="9" name="内容占位符 2">
            <a:extLst>
              <a:ext uri="{FF2B5EF4-FFF2-40B4-BE49-F238E27FC236}">
                <a16:creationId xmlns:a16="http://schemas.microsoft.com/office/drawing/2014/main" id="{59A28689-0D2C-164E-9C9A-713BAB241D7F}"/>
              </a:ext>
            </a:extLst>
          </p:cNvPr>
          <p:cNvSpPr txBox="1">
            <a:spLocks/>
          </p:cNvSpPr>
          <p:nvPr/>
        </p:nvSpPr>
        <p:spPr>
          <a:xfrm>
            <a:off x="923660" y="1885105"/>
            <a:ext cx="10623529" cy="2111586"/>
          </a:xfrm>
          <a:prstGeom prst="rect">
            <a:avLst/>
          </a:prstGeom>
          <a:ln>
            <a:solidFill>
              <a:srgbClr val="00B0F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3600"/>
              </a:lnSpc>
            </a:pPr>
            <a:r>
              <a:rPr lang="zh-CN" altLang="en-US" sz="2400" b="1" dirty="0">
                <a:latin typeface="Microsoft YaHei" panose="020B0503020204020204" pitchFamily="34" charset="-122"/>
                <a:ea typeface="Microsoft YaHei" panose="020B0503020204020204" pitchFamily="34" charset="-122"/>
              </a:rPr>
              <a:t>在</a:t>
            </a:r>
            <a:r>
              <a:rPr lang="en-US" altLang="zh-CN" sz="2400" b="1" dirty="0">
                <a:latin typeface="Microsoft YaHei" panose="020B0503020204020204" pitchFamily="34" charset="-122"/>
                <a:ea typeface="Microsoft YaHei" panose="020B0503020204020204" pitchFamily="34" charset="-122"/>
              </a:rPr>
              <a:t>Raft</a:t>
            </a:r>
            <a:r>
              <a:rPr lang="zh-CN" altLang="en-US" sz="2400" b="1" dirty="0">
                <a:latin typeface="Microsoft YaHei" panose="020B0503020204020204" pitchFamily="34" charset="-122"/>
                <a:ea typeface="Microsoft YaHei" panose="020B0503020204020204" pitchFamily="34" charset="-122"/>
              </a:rPr>
              <a:t>中，服務器可以扮演下面角色之一：</a:t>
            </a:r>
          </a:p>
          <a:p>
            <a:pPr marL="686700" lvl="1" indent="-342900" algn="just">
              <a:lnSpc>
                <a:spcPts val="3600"/>
              </a:lnSpc>
            </a:pPr>
            <a:r>
              <a:rPr lang="en-US" altLang="zh-CN" dirty="0">
                <a:latin typeface="Microsoft YaHei" panose="020B0503020204020204" pitchFamily="34" charset="-122"/>
                <a:ea typeface="Microsoft YaHei" panose="020B0503020204020204" pitchFamily="34" charset="-122"/>
              </a:rPr>
              <a:t>Leader: </a:t>
            </a:r>
            <a:r>
              <a:rPr lang="zh-CN" altLang="en-US" dirty="0">
                <a:latin typeface="Microsoft YaHei" panose="020B0503020204020204" pitchFamily="34" charset="-122"/>
                <a:ea typeface="Microsoft YaHei" panose="020B0503020204020204" pitchFamily="34" charset="-122"/>
              </a:rPr>
              <a:t>處理所有客戶端交互，日志複製等，一般一次只有一個</a:t>
            </a:r>
            <a:r>
              <a:rPr lang="en-US" altLang="zh-CN" dirty="0">
                <a:latin typeface="Microsoft YaHei" panose="020B0503020204020204" pitchFamily="34" charset="-122"/>
                <a:ea typeface="Microsoft YaHei" panose="020B0503020204020204" pitchFamily="34" charset="-122"/>
              </a:rPr>
              <a:t>Leader</a:t>
            </a:r>
          </a:p>
          <a:p>
            <a:pPr marL="686700" lvl="1" indent="-342900" algn="just">
              <a:lnSpc>
                <a:spcPts val="3600"/>
              </a:lnSpc>
            </a:pPr>
            <a:r>
              <a:rPr lang="en-US" altLang="zh-CN" dirty="0">
                <a:latin typeface="Microsoft YaHei" panose="020B0503020204020204" pitchFamily="34" charset="-122"/>
                <a:ea typeface="Microsoft YaHei" panose="020B0503020204020204" pitchFamily="34" charset="-122"/>
              </a:rPr>
              <a:t>Follower: </a:t>
            </a:r>
            <a:r>
              <a:rPr lang="zh-CN" altLang="en-US" dirty="0">
                <a:latin typeface="Microsoft YaHei" panose="020B0503020204020204" pitchFamily="34" charset="-122"/>
                <a:ea typeface="Microsoft YaHei" panose="020B0503020204020204" pitchFamily="34" charset="-122"/>
              </a:rPr>
              <a:t>類似選民，完全被動</a:t>
            </a:r>
          </a:p>
          <a:p>
            <a:pPr marL="686700" lvl="1" indent="-342900" algn="just">
              <a:lnSpc>
                <a:spcPts val="3600"/>
              </a:lnSpc>
            </a:pPr>
            <a:r>
              <a:rPr lang="en-US" altLang="zh-CN" dirty="0">
                <a:latin typeface="Microsoft YaHei" panose="020B0503020204020204" pitchFamily="34" charset="-122"/>
                <a:ea typeface="Microsoft YaHei" panose="020B0503020204020204" pitchFamily="34" charset="-122"/>
              </a:rPr>
              <a:t>Candidate:</a:t>
            </a:r>
            <a:r>
              <a:rPr lang="zh-CN" altLang="en-US" dirty="0">
                <a:latin typeface="Microsoft YaHei" panose="020B0503020204020204" pitchFamily="34" charset="-122"/>
                <a:ea typeface="Microsoft YaHei" panose="020B0503020204020204" pitchFamily="34" charset="-122"/>
              </a:rPr>
              <a:t> 候選人，可能被被選爲新的</a:t>
            </a:r>
            <a:r>
              <a:rPr lang="en-US" altLang="zh-CN" dirty="0">
                <a:latin typeface="Microsoft YaHei" panose="020B0503020204020204" pitchFamily="34" charset="-122"/>
                <a:ea typeface="Microsoft YaHei" panose="020B0503020204020204" pitchFamily="34" charset="-122"/>
              </a:rPr>
              <a:t>Leader</a:t>
            </a:r>
            <a:endParaRPr lang="zh-CN" altLang="en-US" dirty="0">
              <a:latin typeface="Microsoft YaHei" panose="020B0503020204020204" pitchFamily="34" charset="-122"/>
              <a:ea typeface="Microsoft YaHei" panose="020B0503020204020204" pitchFamily="34" charset="-122"/>
            </a:endParaRPr>
          </a:p>
        </p:txBody>
      </p:sp>
      <p:sp>
        <p:nvSpPr>
          <p:cNvPr id="8" name="矩形 7">
            <a:extLst>
              <a:ext uri="{FF2B5EF4-FFF2-40B4-BE49-F238E27FC236}">
                <a16:creationId xmlns:a16="http://schemas.microsoft.com/office/drawing/2014/main" id="{B9571EBD-F338-1E49-AD5F-4ACF953E7C49}"/>
              </a:ext>
            </a:extLst>
          </p:cNvPr>
          <p:cNvSpPr/>
          <p:nvPr/>
        </p:nvSpPr>
        <p:spPr>
          <a:xfrm>
            <a:off x="923660" y="1123344"/>
            <a:ext cx="10637855" cy="515013"/>
          </a:xfrm>
          <a:prstGeom prst="rect">
            <a:avLst/>
          </a:prstGeom>
        </p:spPr>
        <p:txBody>
          <a:bodyPr wrap="square">
            <a:spAutoFit/>
          </a:bodyPr>
          <a:lstStyle/>
          <a:p>
            <a:pPr marL="0" lvl="1" algn="ctr" fontAlgn="base">
              <a:lnSpc>
                <a:spcPts val="3600"/>
              </a:lnSpc>
              <a:spcBef>
                <a:spcPct val="20000"/>
              </a:spcBef>
              <a:spcAft>
                <a:spcPct val="0"/>
              </a:spcAft>
              <a:buSzPct val="60000"/>
            </a:pPr>
            <a:r>
              <a:rPr lang="en-US" altLang="zh-CN" sz="2400" b="1" dirty="0">
                <a:solidFill>
                  <a:srgbClr val="C00000"/>
                </a:solidFill>
                <a:latin typeface="Microsoft YaHei" panose="020B0503020204020204" pitchFamily="34" charset="-122"/>
                <a:ea typeface="Microsoft YaHei" panose="020B0503020204020204" pitchFamily="34" charset="-122"/>
              </a:rPr>
              <a:t>Raft</a:t>
            </a:r>
            <a:r>
              <a:rPr lang="zh-CN" altLang="en-US" sz="2400" b="1" dirty="0">
                <a:solidFill>
                  <a:srgbClr val="C00000"/>
                </a:solidFill>
                <a:latin typeface="Microsoft YaHei" panose="020B0503020204020204" pitchFamily="34" charset="-122"/>
                <a:ea typeface="Microsoft YaHei" panose="020B0503020204020204" pitchFamily="34" charset="-122"/>
              </a:rPr>
              <a:t>基于</a:t>
            </a:r>
            <a:r>
              <a:rPr lang="en-US" altLang="zh-CN" sz="2400" b="1" dirty="0">
                <a:solidFill>
                  <a:srgbClr val="C00000"/>
                </a:solidFill>
                <a:latin typeface="Microsoft YaHei" panose="020B0503020204020204" pitchFamily="34" charset="-122"/>
                <a:ea typeface="Microsoft YaHei" panose="020B0503020204020204" pitchFamily="34" charset="-122"/>
              </a:rPr>
              <a:t>Leader</a:t>
            </a:r>
            <a:r>
              <a:rPr lang="zh-CN" altLang="en-US" sz="2400" b="1" dirty="0">
                <a:solidFill>
                  <a:srgbClr val="C00000"/>
                </a:solidFill>
                <a:latin typeface="Microsoft YaHei" panose="020B0503020204020204" pitchFamily="34" charset="-122"/>
                <a:ea typeface="Microsoft YaHei" panose="020B0503020204020204" pitchFamily="34" charset="-122"/>
              </a:rPr>
              <a:t>完成共識過程，幷基于</a:t>
            </a:r>
            <a:r>
              <a:rPr lang="en-US" altLang="zh-CN" sz="2400" b="1" dirty="0">
                <a:solidFill>
                  <a:srgbClr val="C00000"/>
                </a:solidFill>
                <a:latin typeface="Microsoft YaHei" panose="020B0503020204020204" pitchFamily="34" charset="-122"/>
                <a:ea typeface="Microsoft YaHei" panose="020B0503020204020204" pitchFamily="34" charset="-122"/>
              </a:rPr>
              <a:t>Quorum</a:t>
            </a:r>
            <a:r>
              <a:rPr lang="zh-CN" altLang="en-US" sz="2400" b="1" dirty="0">
                <a:solidFill>
                  <a:srgbClr val="C00000"/>
                </a:solidFill>
                <a:latin typeface="Microsoft YaHei" panose="020B0503020204020204" pitchFamily="34" charset="-122"/>
                <a:ea typeface="Microsoft YaHei" panose="020B0503020204020204" pitchFamily="34" charset="-122"/>
              </a:rPr>
              <a:t>機制確保一致性和容錯性</a:t>
            </a:r>
            <a:endParaRPr lang="en-US" altLang="zh-CN" sz="2400" b="1" dirty="0">
              <a:solidFill>
                <a:srgbClr val="C00000"/>
              </a:solidFill>
              <a:latin typeface="Microsoft YaHei" panose="020B0503020204020204" pitchFamily="34" charset="-122"/>
              <a:ea typeface="Microsoft YaHei" panose="020B0503020204020204" pitchFamily="34" charset="-122"/>
            </a:endParaRPr>
          </a:p>
        </p:txBody>
      </p:sp>
      <p:sp>
        <p:nvSpPr>
          <p:cNvPr id="10" name="内容占位符 2">
            <a:extLst>
              <a:ext uri="{FF2B5EF4-FFF2-40B4-BE49-F238E27FC236}">
                <a16:creationId xmlns:a16="http://schemas.microsoft.com/office/drawing/2014/main" id="{FB036570-2BC3-8645-8C3D-5B4CF3E689F4}"/>
              </a:ext>
            </a:extLst>
          </p:cNvPr>
          <p:cNvSpPr txBox="1">
            <a:spLocks/>
          </p:cNvSpPr>
          <p:nvPr/>
        </p:nvSpPr>
        <p:spPr>
          <a:xfrm>
            <a:off x="923659" y="4233623"/>
            <a:ext cx="10623529" cy="2111586"/>
          </a:xfrm>
          <a:prstGeom prst="rect">
            <a:avLst/>
          </a:prstGeom>
          <a:ln>
            <a:solidFill>
              <a:srgbClr val="00B0F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3600"/>
              </a:lnSpc>
            </a:pPr>
            <a:r>
              <a:rPr lang="zh-CN" altLang="en-US" sz="2400" b="1" dirty="0">
                <a:latin typeface="Microsoft YaHei" panose="020B0503020204020204" pitchFamily="34" charset="-122"/>
                <a:ea typeface="Microsoft YaHei" panose="020B0503020204020204" pitchFamily="34" charset="-122"/>
              </a:rPr>
              <a:t>一般狀態下</a:t>
            </a:r>
            <a:r>
              <a:rPr lang="en-US" altLang="zh-CN" sz="2400" b="1" dirty="0">
                <a:latin typeface="Microsoft YaHei" panose="020B0503020204020204" pitchFamily="34" charset="-122"/>
                <a:ea typeface="Microsoft YaHei" panose="020B0503020204020204" pitchFamily="34" charset="-122"/>
              </a:rPr>
              <a:t>Raft</a:t>
            </a:r>
            <a:r>
              <a:rPr lang="zh-CN" altLang="en-US" sz="2400" b="1" dirty="0">
                <a:latin typeface="Microsoft YaHei" panose="020B0503020204020204" pitchFamily="34" charset="-122"/>
                <a:ea typeface="Microsoft YaHei" panose="020B0503020204020204" pitchFamily="34" charset="-122"/>
              </a:rPr>
              <a:t>運行的基本流程：</a:t>
            </a:r>
          </a:p>
          <a:p>
            <a:pPr marL="686700" lvl="1" indent="-342900" algn="just">
              <a:lnSpc>
                <a:spcPts val="3600"/>
              </a:lnSpc>
            </a:pPr>
            <a:r>
              <a:rPr lang="zh-CN" altLang="en-US" dirty="0">
                <a:latin typeface="Microsoft YaHei" panose="020B0503020204020204" pitchFamily="34" charset="-122"/>
                <a:ea typeface="Microsoft YaHei" panose="020B0503020204020204" pitchFamily="34" charset="-122"/>
              </a:rPr>
              <a:t>所有交易被發往</a:t>
            </a:r>
            <a:r>
              <a:rPr lang="en-US" altLang="zh-CN" dirty="0">
                <a:latin typeface="Microsoft YaHei" panose="020B0503020204020204" pitchFamily="34" charset="-122"/>
                <a:ea typeface="Microsoft YaHei" panose="020B0503020204020204" pitchFamily="34" charset="-122"/>
              </a:rPr>
              <a:t>Leader</a:t>
            </a:r>
            <a:r>
              <a:rPr lang="zh-CN" altLang="en-US" dirty="0">
                <a:latin typeface="Microsoft YaHei" panose="020B0503020204020204" pitchFamily="34" charset="-122"/>
                <a:ea typeface="Microsoft YaHei" panose="020B0503020204020204" pitchFamily="34" charset="-122"/>
              </a:rPr>
              <a:t>，由</a:t>
            </a:r>
            <a:r>
              <a:rPr lang="en-US" altLang="zh-CN" dirty="0">
                <a:latin typeface="Microsoft YaHei" panose="020B0503020204020204" pitchFamily="34" charset="-122"/>
                <a:ea typeface="Microsoft YaHei" panose="020B0503020204020204" pitchFamily="34" charset="-122"/>
              </a:rPr>
              <a:t>Leader</a:t>
            </a:r>
            <a:r>
              <a:rPr lang="zh-CN" altLang="en-US" dirty="0">
                <a:latin typeface="Microsoft YaHei" panose="020B0503020204020204" pitchFamily="34" charset="-122"/>
                <a:ea typeface="Microsoft YaHei" panose="020B0503020204020204" pitchFamily="34" charset="-122"/>
              </a:rPr>
              <a:t>爲其分配序號發給所有</a:t>
            </a:r>
            <a:r>
              <a:rPr lang="en-US" altLang="zh-CN" dirty="0">
                <a:latin typeface="Microsoft YaHei" panose="020B0503020204020204" pitchFamily="34" charset="-122"/>
                <a:ea typeface="Microsoft YaHei" panose="020B0503020204020204" pitchFamily="34" charset="-122"/>
              </a:rPr>
              <a:t>Follower</a:t>
            </a:r>
          </a:p>
          <a:p>
            <a:pPr marL="686700" lvl="1" indent="-342900" algn="just">
              <a:lnSpc>
                <a:spcPts val="3600"/>
              </a:lnSpc>
            </a:pPr>
            <a:r>
              <a:rPr lang="zh-CN" altLang="en-US" dirty="0">
                <a:latin typeface="Microsoft YaHei" panose="020B0503020204020204" pitchFamily="34" charset="-122"/>
                <a:ea typeface="Microsoft YaHei" panose="020B0503020204020204" pitchFamily="34" charset="-122"/>
              </a:rPr>
              <a:t>當收到超過半數</a:t>
            </a:r>
            <a:r>
              <a:rPr lang="en-US" altLang="zh-CN" dirty="0">
                <a:latin typeface="Microsoft YaHei" panose="020B0503020204020204" pitchFamily="34" charset="-122"/>
                <a:ea typeface="Microsoft YaHei" panose="020B0503020204020204" pitchFamily="34" charset="-122"/>
              </a:rPr>
              <a:t>Follower</a:t>
            </a:r>
            <a:r>
              <a:rPr lang="zh-CN" altLang="en-US" dirty="0">
                <a:latin typeface="Microsoft YaHei" panose="020B0503020204020204" pitchFamily="34" charset="-122"/>
                <a:ea typeface="Microsoft YaHei" panose="020B0503020204020204" pitchFamily="34" charset="-122"/>
              </a:rPr>
              <a:t>的回應時，提交幷執行交易，然後回復客戶端</a:t>
            </a:r>
          </a:p>
          <a:p>
            <a:pPr marL="686700" lvl="1" indent="-342900" algn="just">
              <a:lnSpc>
                <a:spcPts val="3600"/>
              </a:lnSpc>
            </a:pPr>
            <a:r>
              <a:rPr lang="en-US" altLang="zh-CN" dirty="0">
                <a:latin typeface="Microsoft YaHei" panose="020B0503020204020204" pitchFamily="34" charset="-122"/>
                <a:ea typeface="Microsoft YaHei" panose="020B0503020204020204" pitchFamily="34" charset="-122"/>
              </a:rPr>
              <a:t>Follower</a:t>
            </a:r>
            <a:r>
              <a:rPr lang="zh-CN" altLang="en-US" dirty="0">
                <a:latin typeface="Microsoft YaHei" panose="020B0503020204020204" pitchFamily="34" charset="-122"/>
                <a:ea typeface="Microsoft YaHei" panose="020B0503020204020204" pitchFamily="34" charset="-122"/>
              </a:rPr>
              <a:t>提交交易後，在後續的交互中通知</a:t>
            </a:r>
            <a:r>
              <a:rPr lang="en-US" altLang="zh-CN" dirty="0">
                <a:latin typeface="Microsoft YaHei" panose="020B0503020204020204" pitchFamily="34" charset="-122"/>
                <a:ea typeface="Microsoft YaHei" panose="020B0503020204020204" pitchFamily="34" charset="-122"/>
              </a:rPr>
              <a:t>Follower</a:t>
            </a:r>
            <a:r>
              <a:rPr lang="zh-CN" altLang="en-US" dirty="0">
                <a:latin typeface="Microsoft YaHei" panose="020B0503020204020204" pitchFamily="34" charset="-122"/>
                <a:ea typeface="Microsoft YaHei" panose="020B0503020204020204" pitchFamily="34" charset="-122"/>
              </a:rPr>
              <a:t>提交相同的交易</a:t>
            </a:r>
          </a:p>
        </p:txBody>
      </p:sp>
      <p:sp>
        <p:nvSpPr>
          <p:cNvPr id="11" name="灯片编号占位符 2">
            <a:extLst>
              <a:ext uri="{FF2B5EF4-FFF2-40B4-BE49-F238E27FC236}">
                <a16:creationId xmlns:a16="http://schemas.microsoft.com/office/drawing/2014/main" id="{952BA680-2DFB-2D4D-99FD-303A9D982058}"/>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69</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33739642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en-US" altLang="zh-CN" dirty="0"/>
              <a:t>Raft</a:t>
            </a:r>
            <a:r>
              <a:rPr kumimoji="1" lang="zh-CN" altLang="en-US" dirty="0"/>
              <a:t>運行流程</a:t>
            </a:r>
            <a:endParaRPr kumimoji="1" lang="zh-CN" altLang="en-US" dirty="0">
              <a:solidFill>
                <a:srgbClr val="C00000"/>
              </a:solidFill>
            </a:endParaRPr>
          </a:p>
        </p:txBody>
      </p:sp>
      <p:sp>
        <p:nvSpPr>
          <p:cNvPr id="5" name="矩形 4">
            <a:extLst>
              <a:ext uri="{FF2B5EF4-FFF2-40B4-BE49-F238E27FC236}">
                <a16:creationId xmlns:a16="http://schemas.microsoft.com/office/drawing/2014/main" id="{8AA82761-7D1F-AE41-9387-49BA73A7183C}"/>
              </a:ext>
            </a:extLst>
          </p:cNvPr>
          <p:cNvSpPr/>
          <p:nvPr/>
        </p:nvSpPr>
        <p:spPr>
          <a:xfrm>
            <a:off x="833146" y="1080473"/>
            <a:ext cx="7177991" cy="973472"/>
          </a:xfrm>
          <a:prstGeom prst="rect">
            <a:avLst/>
          </a:prstGeom>
        </p:spPr>
        <p:txBody>
          <a:bodyPr wrap="square">
            <a:spAutoFit/>
          </a:bodyPr>
          <a:lstStyle/>
          <a:p>
            <a:pPr marL="342900" indent="-342900" algn="just">
              <a:lnSpc>
                <a:spcPts val="3600"/>
              </a:lnSpc>
              <a:buFont typeface="Arial" panose="020B0604020202020204" pitchFamily="34" charset="0"/>
              <a:buChar char="•"/>
            </a:pPr>
            <a:r>
              <a:rPr lang="en-US" altLang="zh-CN" sz="2400" dirty="0">
                <a:latin typeface="Microsoft YaHei" panose="020B0503020204020204" pitchFamily="34" charset="-122"/>
                <a:ea typeface="Microsoft YaHei" panose="020B0503020204020204" pitchFamily="34" charset="-122"/>
              </a:rPr>
              <a:t>Raft</a:t>
            </a:r>
            <a:r>
              <a:rPr lang="zh-CN" altLang="en-US" sz="2400" dirty="0">
                <a:latin typeface="Microsoft YaHei" panose="020B0503020204020204" pitchFamily="34" charset="-122"/>
                <a:ea typeface="Microsoft YaHei" panose="020B0503020204020204" pitchFamily="34" charset="-122"/>
              </a:rPr>
              <a:t>首先基于投票完成選舉過程，當節點獲得超過半數投票時，則成功競選爲</a:t>
            </a:r>
            <a:r>
              <a:rPr lang="en-US" altLang="zh-CN" sz="2400" dirty="0">
                <a:latin typeface="Microsoft YaHei" panose="020B0503020204020204" pitchFamily="34" charset="-122"/>
                <a:ea typeface="Microsoft YaHei" panose="020B0503020204020204" pitchFamily="34" charset="-122"/>
              </a:rPr>
              <a:t>Leader</a:t>
            </a:r>
            <a:r>
              <a:rPr lang="zh-CN" altLang="en-US" sz="2400" dirty="0">
                <a:latin typeface="Microsoft YaHei" panose="020B0503020204020204" pitchFamily="34" charset="-122"/>
                <a:ea typeface="Microsoft YaHei" panose="020B0503020204020204" pitchFamily="34" charset="-122"/>
              </a:rPr>
              <a:t>節點</a:t>
            </a:r>
            <a:endParaRPr lang="en-US" altLang="zh-CN" sz="2400" dirty="0">
              <a:latin typeface="Microsoft YaHei" panose="020B0503020204020204" pitchFamily="34" charset="-122"/>
              <a:ea typeface="Microsoft YaHei" panose="020B0503020204020204" pitchFamily="34" charset="-122"/>
            </a:endParaRPr>
          </a:p>
        </p:txBody>
      </p:sp>
      <p:grpSp>
        <p:nvGrpSpPr>
          <p:cNvPr id="101" name="组合 100">
            <a:extLst>
              <a:ext uri="{FF2B5EF4-FFF2-40B4-BE49-F238E27FC236}">
                <a16:creationId xmlns:a16="http://schemas.microsoft.com/office/drawing/2014/main" id="{4FF0FC34-5031-664F-BBAF-AD6DCD3CE0A3}"/>
              </a:ext>
            </a:extLst>
          </p:cNvPr>
          <p:cNvGrpSpPr/>
          <p:nvPr/>
        </p:nvGrpSpPr>
        <p:grpSpPr>
          <a:xfrm>
            <a:off x="5257800" y="967456"/>
            <a:ext cx="6418030" cy="5886632"/>
            <a:chOff x="7001228" y="2050039"/>
            <a:chExt cx="4887051" cy="4780387"/>
          </a:xfrm>
        </p:grpSpPr>
        <p:grpSp>
          <p:nvGrpSpPr>
            <p:cNvPr id="29" name="组合 28">
              <a:extLst>
                <a:ext uri="{FF2B5EF4-FFF2-40B4-BE49-F238E27FC236}">
                  <a16:creationId xmlns:a16="http://schemas.microsoft.com/office/drawing/2014/main" id="{63555759-F202-DE40-8374-C85F4E5B8B63}"/>
                </a:ext>
              </a:extLst>
            </p:cNvPr>
            <p:cNvGrpSpPr/>
            <p:nvPr/>
          </p:nvGrpSpPr>
          <p:grpSpPr>
            <a:xfrm>
              <a:off x="7001228" y="3356401"/>
              <a:ext cx="1242490" cy="1829984"/>
              <a:chOff x="6843481" y="4680212"/>
              <a:chExt cx="1242490" cy="1829984"/>
            </a:xfrm>
          </p:grpSpPr>
          <p:sp>
            <p:nvSpPr>
              <p:cNvPr id="13" name="矩形 12">
                <a:extLst>
                  <a:ext uri="{FF2B5EF4-FFF2-40B4-BE49-F238E27FC236}">
                    <a16:creationId xmlns:a16="http://schemas.microsoft.com/office/drawing/2014/main" id="{4620DB6D-2311-A548-B26D-4C2B89E2EBA4}"/>
                  </a:ext>
                </a:extLst>
              </p:cNvPr>
              <p:cNvSpPr/>
              <p:nvPr/>
            </p:nvSpPr>
            <p:spPr>
              <a:xfrm rot="19083734">
                <a:off x="6969300" y="4968827"/>
                <a:ext cx="679916" cy="284850"/>
              </a:xfrm>
              <a:prstGeom prst="rect">
                <a:avLst/>
              </a:prstGeom>
              <a:noFill/>
            </p:spPr>
            <p:txBody>
              <a:bodyPr wrap="square">
                <a:spAutoFit/>
              </a:bodyPr>
              <a:lstStyle/>
              <a:p>
                <a:pPr algn="ctr"/>
                <a:r>
                  <a:rPr lang="zh-CN" altLang="en-US" sz="1600" dirty="0">
                    <a:latin typeface="Microsoft YaHei" panose="020B0503020204020204" pitchFamily="34" charset="-122"/>
                    <a:ea typeface="Microsoft YaHei" panose="020B0503020204020204" pitchFamily="34" charset="-122"/>
                  </a:rPr>
                  <a:t>請投我</a:t>
                </a:r>
              </a:p>
            </p:txBody>
          </p:sp>
          <p:sp>
            <p:nvSpPr>
              <p:cNvPr id="15" name="椭圆 14">
                <a:extLst>
                  <a:ext uri="{FF2B5EF4-FFF2-40B4-BE49-F238E27FC236}">
                    <a16:creationId xmlns:a16="http://schemas.microsoft.com/office/drawing/2014/main" id="{2F3475E8-EDCA-904B-9EFC-00716B5BD288}"/>
                  </a:ext>
                </a:extLst>
              </p:cNvPr>
              <p:cNvSpPr/>
              <p:nvPr/>
            </p:nvSpPr>
            <p:spPr>
              <a:xfrm>
                <a:off x="6843481" y="5426169"/>
                <a:ext cx="361299" cy="361299"/>
              </a:xfrm>
              <a:prstGeom prst="ellipse">
                <a:avLst/>
              </a:prstGeom>
              <a:solidFill>
                <a:srgbClr val="8AC14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000" dirty="0">
                    <a:latin typeface="Times New Roman" panose="02020603050405020304" pitchFamily="18" charset="0"/>
                    <a:cs typeface="Times New Roman" panose="02020603050405020304" pitchFamily="18" charset="0"/>
                  </a:rPr>
                  <a:t>A</a:t>
                </a:r>
                <a:endParaRPr kumimoji="1" lang="zh-CN" altLang="en-US" sz="2000" dirty="0">
                  <a:latin typeface="Times New Roman" panose="02020603050405020304" pitchFamily="18" charset="0"/>
                  <a:cs typeface="Times New Roman" panose="02020603050405020304" pitchFamily="18" charset="0"/>
                </a:endParaRPr>
              </a:p>
            </p:txBody>
          </p:sp>
          <p:sp>
            <p:nvSpPr>
              <p:cNvPr id="16" name="椭圆 15">
                <a:extLst>
                  <a:ext uri="{FF2B5EF4-FFF2-40B4-BE49-F238E27FC236}">
                    <a16:creationId xmlns:a16="http://schemas.microsoft.com/office/drawing/2014/main" id="{4BCAA628-D8FD-1F44-B50B-2E68E855CC7D}"/>
                  </a:ext>
                </a:extLst>
              </p:cNvPr>
              <p:cNvSpPr/>
              <p:nvPr/>
            </p:nvSpPr>
            <p:spPr>
              <a:xfrm>
                <a:off x="7668445" y="4680212"/>
                <a:ext cx="361299" cy="361299"/>
              </a:xfrm>
              <a:prstGeom prst="ellipse">
                <a:avLst/>
              </a:prstGeom>
              <a:solidFill>
                <a:srgbClr val="8AC14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000" dirty="0">
                    <a:latin typeface="Times New Roman" panose="02020603050405020304" pitchFamily="18" charset="0"/>
                    <a:cs typeface="Times New Roman" panose="02020603050405020304" pitchFamily="18" charset="0"/>
                  </a:rPr>
                  <a:t>B</a:t>
                </a:r>
                <a:endParaRPr kumimoji="1" lang="zh-CN" altLang="en-US" sz="2000" dirty="0">
                  <a:latin typeface="Times New Roman" panose="02020603050405020304" pitchFamily="18" charset="0"/>
                  <a:cs typeface="Times New Roman" panose="02020603050405020304" pitchFamily="18" charset="0"/>
                </a:endParaRPr>
              </a:p>
            </p:txBody>
          </p:sp>
          <p:sp>
            <p:nvSpPr>
              <p:cNvPr id="17" name="椭圆 16">
                <a:extLst>
                  <a:ext uri="{FF2B5EF4-FFF2-40B4-BE49-F238E27FC236}">
                    <a16:creationId xmlns:a16="http://schemas.microsoft.com/office/drawing/2014/main" id="{C2102D6E-8B0F-A04E-A47B-B0A1C4E1B703}"/>
                  </a:ext>
                </a:extLst>
              </p:cNvPr>
              <p:cNvSpPr/>
              <p:nvPr/>
            </p:nvSpPr>
            <p:spPr>
              <a:xfrm>
                <a:off x="7724672" y="6148897"/>
                <a:ext cx="361299" cy="361299"/>
              </a:xfrm>
              <a:prstGeom prst="ellipse">
                <a:avLst/>
              </a:prstGeom>
              <a:solidFill>
                <a:srgbClr val="8AC14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000" dirty="0">
                    <a:latin typeface="Times New Roman" panose="02020603050405020304" pitchFamily="18" charset="0"/>
                    <a:cs typeface="Times New Roman" panose="02020603050405020304" pitchFamily="18" charset="0"/>
                  </a:rPr>
                  <a:t>C</a:t>
                </a:r>
                <a:endParaRPr kumimoji="1" lang="zh-CN" altLang="en-US" sz="2000" dirty="0">
                  <a:latin typeface="Times New Roman" panose="02020603050405020304" pitchFamily="18" charset="0"/>
                  <a:cs typeface="Times New Roman" panose="02020603050405020304" pitchFamily="18" charset="0"/>
                </a:endParaRPr>
              </a:p>
            </p:txBody>
          </p:sp>
          <p:cxnSp>
            <p:nvCxnSpPr>
              <p:cNvPr id="19" name="直线箭头连接符 18">
                <a:extLst>
                  <a:ext uri="{FF2B5EF4-FFF2-40B4-BE49-F238E27FC236}">
                    <a16:creationId xmlns:a16="http://schemas.microsoft.com/office/drawing/2014/main" id="{908682BA-DB14-2742-BABF-DD83600ECF00}"/>
                  </a:ext>
                </a:extLst>
              </p:cNvPr>
              <p:cNvCxnSpPr>
                <a:cxnSpLocks/>
                <a:stCxn id="15" idx="7"/>
                <a:endCxn id="16" idx="3"/>
              </p:cNvCxnSpPr>
              <p:nvPr/>
            </p:nvCxnSpPr>
            <p:spPr>
              <a:xfrm flipV="1">
                <a:off x="7151869" y="4988600"/>
                <a:ext cx="569487" cy="4904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线箭头连接符 22">
                <a:extLst>
                  <a:ext uri="{FF2B5EF4-FFF2-40B4-BE49-F238E27FC236}">
                    <a16:creationId xmlns:a16="http://schemas.microsoft.com/office/drawing/2014/main" id="{E78A37FE-0CCC-AE4C-9165-DF105A550D6B}"/>
                  </a:ext>
                </a:extLst>
              </p:cNvPr>
              <p:cNvCxnSpPr>
                <a:cxnSpLocks/>
                <a:stCxn id="15" idx="5"/>
                <a:endCxn id="17" idx="1"/>
              </p:cNvCxnSpPr>
              <p:nvPr/>
            </p:nvCxnSpPr>
            <p:spPr>
              <a:xfrm>
                <a:off x="7151869" y="5734557"/>
                <a:ext cx="625714" cy="4672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5E8C8309-44B3-E14C-B4CA-DA10C8C3785E}"/>
                  </a:ext>
                </a:extLst>
              </p:cNvPr>
              <p:cNvSpPr/>
              <p:nvPr/>
            </p:nvSpPr>
            <p:spPr>
              <a:xfrm rot="2273705">
                <a:off x="7038949" y="5963608"/>
                <a:ext cx="679916" cy="284850"/>
              </a:xfrm>
              <a:prstGeom prst="rect">
                <a:avLst/>
              </a:prstGeom>
              <a:noFill/>
            </p:spPr>
            <p:txBody>
              <a:bodyPr wrap="square">
                <a:spAutoFit/>
              </a:bodyPr>
              <a:lstStyle/>
              <a:p>
                <a:pPr algn="ctr"/>
                <a:r>
                  <a:rPr lang="zh-CN" altLang="en-US" sz="1600" dirty="0">
                    <a:latin typeface="Microsoft YaHei" panose="020B0503020204020204" pitchFamily="34" charset="-122"/>
                    <a:ea typeface="Microsoft YaHei" panose="020B0503020204020204" pitchFamily="34" charset="-122"/>
                  </a:rPr>
                  <a:t>請投我</a:t>
                </a:r>
              </a:p>
            </p:txBody>
          </p:sp>
        </p:grpSp>
        <p:grpSp>
          <p:nvGrpSpPr>
            <p:cNvPr id="86" name="组合 85">
              <a:extLst>
                <a:ext uri="{FF2B5EF4-FFF2-40B4-BE49-F238E27FC236}">
                  <a16:creationId xmlns:a16="http://schemas.microsoft.com/office/drawing/2014/main" id="{74B9FCE1-B48D-5B48-BF35-D9FFFF719D74}"/>
                </a:ext>
              </a:extLst>
            </p:cNvPr>
            <p:cNvGrpSpPr/>
            <p:nvPr/>
          </p:nvGrpSpPr>
          <p:grpSpPr>
            <a:xfrm>
              <a:off x="9526143" y="2050039"/>
              <a:ext cx="2362136" cy="4780387"/>
              <a:chOff x="9788582" y="1922109"/>
              <a:chExt cx="2074800" cy="5076726"/>
            </a:xfrm>
          </p:grpSpPr>
          <p:grpSp>
            <p:nvGrpSpPr>
              <p:cNvPr id="74" name="组合 73">
                <a:extLst>
                  <a:ext uri="{FF2B5EF4-FFF2-40B4-BE49-F238E27FC236}">
                    <a16:creationId xmlns:a16="http://schemas.microsoft.com/office/drawing/2014/main" id="{5B7C4C7E-0B1D-624F-A66A-0C26DDCD479C}"/>
                  </a:ext>
                </a:extLst>
              </p:cNvPr>
              <p:cNvGrpSpPr/>
              <p:nvPr/>
            </p:nvGrpSpPr>
            <p:grpSpPr>
              <a:xfrm>
                <a:off x="9817688" y="1922109"/>
                <a:ext cx="2045694" cy="1717798"/>
                <a:chOff x="9770807" y="2115416"/>
                <a:chExt cx="2071897" cy="1739801"/>
              </a:xfrm>
            </p:grpSpPr>
            <p:sp>
              <p:nvSpPr>
                <p:cNvPr id="32" name="矩形 31">
                  <a:extLst>
                    <a:ext uri="{FF2B5EF4-FFF2-40B4-BE49-F238E27FC236}">
                      <a16:creationId xmlns:a16="http://schemas.microsoft.com/office/drawing/2014/main" id="{0C7237D6-6624-284D-B4F4-E08DBB5E9EB9}"/>
                    </a:ext>
                  </a:extLst>
                </p:cNvPr>
                <p:cNvSpPr/>
                <p:nvPr/>
              </p:nvSpPr>
              <p:spPr>
                <a:xfrm rot="20471179">
                  <a:off x="10210881" y="2168790"/>
                  <a:ext cx="1079252" cy="278530"/>
                </a:xfrm>
                <a:prstGeom prst="rect">
                  <a:avLst/>
                </a:prstGeom>
                <a:noFill/>
              </p:spPr>
              <p:txBody>
                <a:bodyPr wrap="square">
                  <a:spAutoFit/>
                </a:bodyPr>
                <a:lstStyle/>
                <a:p>
                  <a:pPr algn="ctr"/>
                  <a:r>
                    <a:rPr lang="zh-CN" altLang="en-US" sz="1400" dirty="0">
                      <a:latin typeface="Microsoft YaHei" panose="020B0503020204020204" pitchFamily="34" charset="-122"/>
                      <a:ea typeface="Microsoft YaHei" panose="020B0503020204020204" pitchFamily="34" charset="-122"/>
                    </a:rPr>
                    <a:t>好吧，我投你</a:t>
                  </a:r>
                </a:p>
              </p:txBody>
            </p:sp>
            <p:sp>
              <p:nvSpPr>
                <p:cNvPr id="33" name="椭圆 32">
                  <a:extLst>
                    <a:ext uri="{FF2B5EF4-FFF2-40B4-BE49-F238E27FC236}">
                      <a16:creationId xmlns:a16="http://schemas.microsoft.com/office/drawing/2014/main" id="{94875379-23AE-424D-9A3F-207A662918E3}"/>
                    </a:ext>
                  </a:extLst>
                </p:cNvPr>
                <p:cNvSpPr/>
                <p:nvPr/>
              </p:nvSpPr>
              <p:spPr>
                <a:xfrm>
                  <a:off x="9927539" y="2623654"/>
                  <a:ext cx="361299" cy="36129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latin typeface="Times New Roman" panose="02020603050405020304" pitchFamily="18" charset="0"/>
                      <a:cs typeface="Times New Roman" panose="02020603050405020304" pitchFamily="18" charset="0"/>
                    </a:rPr>
                    <a:t>A</a:t>
                  </a:r>
                  <a:endParaRPr kumimoji="1" lang="zh-CN" altLang="en-US" dirty="0">
                    <a:latin typeface="Times New Roman" panose="02020603050405020304" pitchFamily="18" charset="0"/>
                    <a:cs typeface="Times New Roman" panose="02020603050405020304" pitchFamily="18" charset="0"/>
                  </a:endParaRPr>
                </a:p>
              </p:txBody>
            </p:sp>
            <p:sp>
              <p:nvSpPr>
                <p:cNvPr id="34" name="椭圆 33">
                  <a:extLst>
                    <a:ext uri="{FF2B5EF4-FFF2-40B4-BE49-F238E27FC236}">
                      <a16:creationId xmlns:a16="http://schemas.microsoft.com/office/drawing/2014/main" id="{413B4463-0420-AB42-B896-09EC961B07D2}"/>
                    </a:ext>
                  </a:extLst>
                </p:cNvPr>
                <p:cNvSpPr/>
                <p:nvPr/>
              </p:nvSpPr>
              <p:spPr>
                <a:xfrm>
                  <a:off x="11355818" y="2115416"/>
                  <a:ext cx="361299" cy="361299"/>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latin typeface="Times New Roman" panose="02020603050405020304" pitchFamily="18" charset="0"/>
                      <a:cs typeface="Times New Roman" panose="02020603050405020304" pitchFamily="18" charset="0"/>
                    </a:rPr>
                    <a:t>B</a:t>
                  </a:r>
                  <a:endParaRPr kumimoji="1" lang="zh-CN" altLang="en-US" dirty="0">
                    <a:latin typeface="Times New Roman" panose="02020603050405020304" pitchFamily="18" charset="0"/>
                    <a:cs typeface="Times New Roman" panose="02020603050405020304" pitchFamily="18" charset="0"/>
                  </a:endParaRPr>
                </a:p>
              </p:txBody>
            </p:sp>
            <p:sp>
              <p:nvSpPr>
                <p:cNvPr id="35" name="椭圆 34">
                  <a:extLst>
                    <a:ext uri="{FF2B5EF4-FFF2-40B4-BE49-F238E27FC236}">
                      <a16:creationId xmlns:a16="http://schemas.microsoft.com/office/drawing/2014/main" id="{AE002C3C-C443-544E-B679-8A4E2255B0F0}"/>
                    </a:ext>
                  </a:extLst>
                </p:cNvPr>
                <p:cNvSpPr/>
                <p:nvPr/>
              </p:nvSpPr>
              <p:spPr>
                <a:xfrm>
                  <a:off x="11353800" y="3176731"/>
                  <a:ext cx="361299" cy="361299"/>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latin typeface="Times New Roman" panose="02020603050405020304" pitchFamily="18" charset="0"/>
                      <a:cs typeface="Times New Roman" panose="02020603050405020304" pitchFamily="18" charset="0"/>
                    </a:rPr>
                    <a:t>C</a:t>
                  </a:r>
                  <a:endParaRPr kumimoji="1" lang="zh-CN" altLang="en-US" dirty="0">
                    <a:latin typeface="Times New Roman" panose="02020603050405020304" pitchFamily="18" charset="0"/>
                    <a:cs typeface="Times New Roman" panose="02020603050405020304" pitchFamily="18" charset="0"/>
                  </a:endParaRPr>
                </a:p>
              </p:txBody>
            </p:sp>
            <p:cxnSp>
              <p:nvCxnSpPr>
                <p:cNvPr id="36" name="直线箭头连接符 35">
                  <a:extLst>
                    <a:ext uri="{FF2B5EF4-FFF2-40B4-BE49-F238E27FC236}">
                      <a16:creationId xmlns:a16="http://schemas.microsoft.com/office/drawing/2014/main" id="{9889AA39-F620-994E-A0C4-A552360686FD}"/>
                    </a:ext>
                  </a:extLst>
                </p:cNvPr>
                <p:cNvCxnSpPr>
                  <a:cxnSpLocks/>
                  <a:stCxn id="34" idx="2"/>
                  <a:endCxn id="33" idx="7"/>
                </p:cNvCxnSpPr>
                <p:nvPr/>
              </p:nvCxnSpPr>
              <p:spPr>
                <a:xfrm flipH="1">
                  <a:off x="10235927" y="2296066"/>
                  <a:ext cx="1119891" cy="3804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直线箭头连接符 36">
                  <a:extLst>
                    <a:ext uri="{FF2B5EF4-FFF2-40B4-BE49-F238E27FC236}">
                      <a16:creationId xmlns:a16="http://schemas.microsoft.com/office/drawing/2014/main" id="{9633FA75-69B1-EF47-8D53-E14BBC7184DB}"/>
                    </a:ext>
                  </a:extLst>
                </p:cNvPr>
                <p:cNvCxnSpPr>
                  <a:cxnSpLocks/>
                  <a:stCxn id="35" idx="2"/>
                  <a:endCxn id="33" idx="5"/>
                </p:cNvCxnSpPr>
                <p:nvPr/>
              </p:nvCxnSpPr>
              <p:spPr>
                <a:xfrm flipH="1" flipV="1">
                  <a:off x="10235927" y="2932042"/>
                  <a:ext cx="1117873" cy="4253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矩形 47">
                  <a:extLst>
                    <a:ext uri="{FF2B5EF4-FFF2-40B4-BE49-F238E27FC236}">
                      <a16:creationId xmlns:a16="http://schemas.microsoft.com/office/drawing/2014/main" id="{C10F6768-F1A1-884A-A0C3-15A2B2E79C6F}"/>
                    </a:ext>
                  </a:extLst>
                </p:cNvPr>
                <p:cNvSpPr/>
                <p:nvPr/>
              </p:nvSpPr>
              <p:spPr>
                <a:xfrm rot="1244061">
                  <a:off x="10316099" y="2872226"/>
                  <a:ext cx="1079252" cy="278530"/>
                </a:xfrm>
                <a:prstGeom prst="rect">
                  <a:avLst/>
                </a:prstGeom>
                <a:noFill/>
              </p:spPr>
              <p:txBody>
                <a:bodyPr wrap="square">
                  <a:spAutoFit/>
                </a:bodyPr>
                <a:lstStyle/>
                <a:p>
                  <a:pPr algn="ctr"/>
                  <a:r>
                    <a:rPr lang="zh-CN" altLang="en-US" sz="1400" dirty="0">
                      <a:latin typeface="Microsoft YaHei" panose="020B0503020204020204" pitchFamily="34" charset="-122"/>
                      <a:ea typeface="Microsoft YaHei" panose="020B0503020204020204" pitchFamily="34" charset="-122"/>
                    </a:rPr>
                    <a:t>好吧，我投你</a:t>
                  </a:r>
                </a:p>
              </p:txBody>
            </p:sp>
            <p:sp>
              <p:nvSpPr>
                <p:cNvPr id="49" name="矩形 48">
                  <a:extLst>
                    <a:ext uri="{FF2B5EF4-FFF2-40B4-BE49-F238E27FC236}">
                      <a16:creationId xmlns:a16="http://schemas.microsoft.com/office/drawing/2014/main" id="{6006D1D3-5D44-9540-B84E-4B6D4DF4CB9D}"/>
                    </a:ext>
                  </a:extLst>
                </p:cNvPr>
                <p:cNvSpPr/>
                <p:nvPr/>
              </p:nvSpPr>
              <p:spPr>
                <a:xfrm>
                  <a:off x="9770807" y="3030916"/>
                  <a:ext cx="626362" cy="278530"/>
                </a:xfrm>
                <a:prstGeom prst="rect">
                  <a:avLst/>
                </a:prstGeom>
              </p:spPr>
              <p:txBody>
                <a:bodyPr wrap="none">
                  <a:spAutoFit/>
                </a:bodyPr>
                <a:lstStyle/>
                <a:p>
                  <a:r>
                    <a:rPr lang="en-US" altLang="zh-CN" sz="1400" dirty="0"/>
                    <a:t>Votes=3</a:t>
                  </a:r>
                  <a:endParaRPr lang="zh-CN" altLang="en-US" sz="1400" dirty="0"/>
                </a:p>
              </p:txBody>
            </p:sp>
            <p:sp>
              <p:nvSpPr>
                <p:cNvPr id="50" name="矩形 49">
                  <a:extLst>
                    <a:ext uri="{FF2B5EF4-FFF2-40B4-BE49-F238E27FC236}">
                      <a16:creationId xmlns:a16="http://schemas.microsoft.com/office/drawing/2014/main" id="{7A342C9B-DBB4-3242-B047-A139874490B9}"/>
                    </a:ext>
                  </a:extLst>
                </p:cNvPr>
                <p:cNvSpPr/>
                <p:nvPr/>
              </p:nvSpPr>
              <p:spPr>
                <a:xfrm>
                  <a:off x="11216342" y="2510426"/>
                  <a:ext cx="626362" cy="278530"/>
                </a:xfrm>
                <a:prstGeom prst="rect">
                  <a:avLst/>
                </a:prstGeom>
              </p:spPr>
              <p:txBody>
                <a:bodyPr wrap="none">
                  <a:spAutoFit/>
                </a:bodyPr>
                <a:lstStyle/>
                <a:p>
                  <a:r>
                    <a:rPr lang="en-US" altLang="zh-CN" sz="1400" dirty="0"/>
                    <a:t>Votes=0</a:t>
                  </a:r>
                  <a:endParaRPr lang="zh-CN" altLang="en-US" sz="1400" dirty="0"/>
                </a:p>
              </p:txBody>
            </p:sp>
            <p:sp>
              <p:nvSpPr>
                <p:cNvPr id="51" name="矩形 50">
                  <a:extLst>
                    <a:ext uri="{FF2B5EF4-FFF2-40B4-BE49-F238E27FC236}">
                      <a16:creationId xmlns:a16="http://schemas.microsoft.com/office/drawing/2014/main" id="{E4A08133-CB22-CC4E-80A6-EDC95F1A28FC}"/>
                    </a:ext>
                  </a:extLst>
                </p:cNvPr>
                <p:cNvSpPr/>
                <p:nvPr/>
              </p:nvSpPr>
              <p:spPr>
                <a:xfrm>
                  <a:off x="11216342" y="3576687"/>
                  <a:ext cx="626362" cy="278530"/>
                </a:xfrm>
                <a:prstGeom prst="rect">
                  <a:avLst/>
                </a:prstGeom>
              </p:spPr>
              <p:txBody>
                <a:bodyPr wrap="none">
                  <a:spAutoFit/>
                </a:bodyPr>
                <a:lstStyle/>
                <a:p>
                  <a:r>
                    <a:rPr lang="en-US" altLang="zh-CN" sz="1400" dirty="0"/>
                    <a:t>Votes=0</a:t>
                  </a:r>
                  <a:endParaRPr lang="zh-CN" altLang="en-US" sz="1400" dirty="0"/>
                </a:p>
              </p:txBody>
            </p:sp>
          </p:grpSp>
          <p:grpSp>
            <p:nvGrpSpPr>
              <p:cNvPr id="72" name="组合 71">
                <a:extLst>
                  <a:ext uri="{FF2B5EF4-FFF2-40B4-BE49-F238E27FC236}">
                    <a16:creationId xmlns:a16="http://schemas.microsoft.com/office/drawing/2014/main" id="{655473DA-0180-2F40-BB38-C983F67007BA}"/>
                  </a:ext>
                </a:extLst>
              </p:cNvPr>
              <p:cNvGrpSpPr/>
              <p:nvPr/>
            </p:nvGrpSpPr>
            <p:grpSpPr>
              <a:xfrm>
                <a:off x="9788582" y="3653302"/>
                <a:ext cx="2052991" cy="1725174"/>
                <a:chOff x="9770807" y="4124153"/>
                <a:chExt cx="2068712" cy="1738385"/>
              </a:xfrm>
            </p:grpSpPr>
            <p:sp>
              <p:nvSpPr>
                <p:cNvPr id="62" name="矩形 61">
                  <a:extLst>
                    <a:ext uri="{FF2B5EF4-FFF2-40B4-BE49-F238E27FC236}">
                      <a16:creationId xmlns:a16="http://schemas.microsoft.com/office/drawing/2014/main" id="{28EDBF00-3DF2-FC4F-A956-B4A24DBCB903}"/>
                    </a:ext>
                  </a:extLst>
                </p:cNvPr>
                <p:cNvSpPr/>
                <p:nvPr/>
              </p:nvSpPr>
              <p:spPr>
                <a:xfrm rot="20471179">
                  <a:off x="10210881" y="4178235"/>
                  <a:ext cx="1079252" cy="277114"/>
                </a:xfrm>
                <a:prstGeom prst="rect">
                  <a:avLst/>
                </a:prstGeom>
                <a:noFill/>
              </p:spPr>
              <p:txBody>
                <a:bodyPr wrap="square">
                  <a:spAutoFit/>
                </a:bodyPr>
                <a:lstStyle/>
                <a:p>
                  <a:pPr algn="ctr"/>
                  <a:r>
                    <a:rPr lang="zh-CN" altLang="en-US" sz="1400" dirty="0">
                      <a:latin typeface="Microsoft YaHei" panose="020B0503020204020204" pitchFamily="34" charset="-122"/>
                      <a:ea typeface="Microsoft YaHei" panose="020B0503020204020204" pitchFamily="34" charset="-122"/>
                    </a:rPr>
                    <a:t>好吧，我投你</a:t>
                  </a:r>
                </a:p>
              </p:txBody>
            </p:sp>
            <p:sp>
              <p:nvSpPr>
                <p:cNvPr id="63" name="椭圆 62">
                  <a:extLst>
                    <a:ext uri="{FF2B5EF4-FFF2-40B4-BE49-F238E27FC236}">
                      <a16:creationId xmlns:a16="http://schemas.microsoft.com/office/drawing/2014/main" id="{E31E8532-2F06-8E4C-B456-613952EDEB30}"/>
                    </a:ext>
                  </a:extLst>
                </p:cNvPr>
                <p:cNvSpPr/>
                <p:nvPr/>
              </p:nvSpPr>
              <p:spPr>
                <a:xfrm>
                  <a:off x="9927539" y="4632391"/>
                  <a:ext cx="361299" cy="36129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latin typeface="Times New Roman" panose="02020603050405020304" pitchFamily="18" charset="0"/>
                      <a:cs typeface="Times New Roman" panose="02020603050405020304" pitchFamily="18" charset="0"/>
                    </a:rPr>
                    <a:t>A</a:t>
                  </a:r>
                  <a:endParaRPr kumimoji="1" lang="zh-CN" altLang="en-US" dirty="0">
                    <a:latin typeface="Times New Roman" panose="02020603050405020304" pitchFamily="18" charset="0"/>
                    <a:cs typeface="Times New Roman" panose="02020603050405020304" pitchFamily="18" charset="0"/>
                  </a:endParaRPr>
                </a:p>
              </p:txBody>
            </p:sp>
            <p:sp>
              <p:nvSpPr>
                <p:cNvPr id="64" name="椭圆 63">
                  <a:extLst>
                    <a:ext uri="{FF2B5EF4-FFF2-40B4-BE49-F238E27FC236}">
                      <a16:creationId xmlns:a16="http://schemas.microsoft.com/office/drawing/2014/main" id="{0797F198-5E0C-7D4A-AD2A-BC60498F8F24}"/>
                    </a:ext>
                  </a:extLst>
                </p:cNvPr>
                <p:cNvSpPr/>
                <p:nvPr/>
              </p:nvSpPr>
              <p:spPr>
                <a:xfrm>
                  <a:off x="11355818" y="4124153"/>
                  <a:ext cx="361299" cy="361299"/>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latin typeface="Times New Roman" panose="02020603050405020304" pitchFamily="18" charset="0"/>
                      <a:cs typeface="Times New Roman" panose="02020603050405020304" pitchFamily="18" charset="0"/>
                    </a:rPr>
                    <a:t>B</a:t>
                  </a:r>
                  <a:endParaRPr kumimoji="1" lang="zh-CN" altLang="en-US" dirty="0">
                    <a:latin typeface="Times New Roman" panose="02020603050405020304" pitchFamily="18" charset="0"/>
                    <a:cs typeface="Times New Roman" panose="02020603050405020304" pitchFamily="18" charset="0"/>
                  </a:endParaRPr>
                </a:p>
              </p:txBody>
            </p:sp>
            <p:sp>
              <p:nvSpPr>
                <p:cNvPr id="65" name="椭圆 64">
                  <a:extLst>
                    <a:ext uri="{FF2B5EF4-FFF2-40B4-BE49-F238E27FC236}">
                      <a16:creationId xmlns:a16="http://schemas.microsoft.com/office/drawing/2014/main" id="{B16ED49E-00A9-F247-8B2E-05FB96CA899C}"/>
                    </a:ext>
                  </a:extLst>
                </p:cNvPr>
                <p:cNvSpPr/>
                <p:nvPr/>
              </p:nvSpPr>
              <p:spPr>
                <a:xfrm>
                  <a:off x="11353800" y="5185468"/>
                  <a:ext cx="361299" cy="361299"/>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latin typeface="Times New Roman" panose="02020603050405020304" pitchFamily="18" charset="0"/>
                      <a:cs typeface="Times New Roman" panose="02020603050405020304" pitchFamily="18" charset="0"/>
                    </a:rPr>
                    <a:t>C</a:t>
                  </a:r>
                  <a:endParaRPr kumimoji="1" lang="zh-CN" altLang="en-US" dirty="0">
                    <a:latin typeface="Times New Roman" panose="02020603050405020304" pitchFamily="18" charset="0"/>
                    <a:cs typeface="Times New Roman" panose="02020603050405020304" pitchFamily="18" charset="0"/>
                  </a:endParaRPr>
                </a:p>
              </p:txBody>
            </p:sp>
            <p:cxnSp>
              <p:nvCxnSpPr>
                <p:cNvPr id="66" name="直线箭头连接符 65">
                  <a:extLst>
                    <a:ext uri="{FF2B5EF4-FFF2-40B4-BE49-F238E27FC236}">
                      <a16:creationId xmlns:a16="http://schemas.microsoft.com/office/drawing/2014/main" id="{91E7E17F-209B-F84F-83C3-AD790AB2AC72}"/>
                    </a:ext>
                  </a:extLst>
                </p:cNvPr>
                <p:cNvCxnSpPr>
                  <a:cxnSpLocks/>
                  <a:stCxn id="64" idx="2"/>
                  <a:endCxn id="63" idx="7"/>
                </p:cNvCxnSpPr>
                <p:nvPr/>
              </p:nvCxnSpPr>
              <p:spPr>
                <a:xfrm flipH="1">
                  <a:off x="10235927" y="4304803"/>
                  <a:ext cx="1119891" cy="3804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直线箭头连接符 66">
                  <a:extLst>
                    <a:ext uri="{FF2B5EF4-FFF2-40B4-BE49-F238E27FC236}">
                      <a16:creationId xmlns:a16="http://schemas.microsoft.com/office/drawing/2014/main" id="{8F400616-8F27-F04D-B196-60784F5813E7}"/>
                    </a:ext>
                  </a:extLst>
                </p:cNvPr>
                <p:cNvCxnSpPr>
                  <a:cxnSpLocks/>
                  <a:stCxn id="65" idx="2"/>
                  <a:endCxn id="63" idx="5"/>
                </p:cNvCxnSpPr>
                <p:nvPr/>
              </p:nvCxnSpPr>
              <p:spPr>
                <a:xfrm flipH="1" flipV="1">
                  <a:off x="10235927" y="4940779"/>
                  <a:ext cx="1117873" cy="425339"/>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68" name="矩形 67">
                  <a:extLst>
                    <a:ext uri="{FF2B5EF4-FFF2-40B4-BE49-F238E27FC236}">
                      <a16:creationId xmlns:a16="http://schemas.microsoft.com/office/drawing/2014/main" id="{554957C3-9D29-1A4C-9AF3-B482D071B66F}"/>
                    </a:ext>
                  </a:extLst>
                </p:cNvPr>
                <p:cNvSpPr/>
                <p:nvPr/>
              </p:nvSpPr>
              <p:spPr>
                <a:xfrm rot="1244061">
                  <a:off x="10316099" y="4881672"/>
                  <a:ext cx="1079252" cy="277114"/>
                </a:xfrm>
                <a:prstGeom prst="rect">
                  <a:avLst/>
                </a:prstGeom>
                <a:noFill/>
              </p:spPr>
              <p:txBody>
                <a:bodyPr wrap="square">
                  <a:spAutoFit/>
                </a:bodyPr>
                <a:lstStyle/>
                <a:p>
                  <a:pPr algn="ctr"/>
                  <a:r>
                    <a:rPr lang="zh-CN" altLang="en-US" sz="1400" dirty="0">
                      <a:latin typeface="Microsoft YaHei" panose="020B0503020204020204" pitchFamily="34" charset="-122"/>
                      <a:ea typeface="Microsoft YaHei" panose="020B0503020204020204" pitchFamily="34" charset="-122"/>
                    </a:rPr>
                    <a:t>我投我自己</a:t>
                  </a:r>
                </a:p>
              </p:txBody>
            </p:sp>
            <p:sp>
              <p:nvSpPr>
                <p:cNvPr id="69" name="矩形 68">
                  <a:extLst>
                    <a:ext uri="{FF2B5EF4-FFF2-40B4-BE49-F238E27FC236}">
                      <a16:creationId xmlns:a16="http://schemas.microsoft.com/office/drawing/2014/main" id="{41DC6CE8-77A1-3F43-A548-FFDC11B84B3B}"/>
                    </a:ext>
                  </a:extLst>
                </p:cNvPr>
                <p:cNvSpPr/>
                <p:nvPr/>
              </p:nvSpPr>
              <p:spPr>
                <a:xfrm>
                  <a:off x="9770807" y="5039653"/>
                  <a:ext cx="623176" cy="277114"/>
                </a:xfrm>
                <a:prstGeom prst="rect">
                  <a:avLst/>
                </a:prstGeom>
              </p:spPr>
              <p:txBody>
                <a:bodyPr wrap="none">
                  <a:spAutoFit/>
                </a:bodyPr>
                <a:lstStyle/>
                <a:p>
                  <a:r>
                    <a:rPr lang="en-US" altLang="zh-CN" sz="1400" dirty="0"/>
                    <a:t>Votes=2</a:t>
                  </a:r>
                  <a:endParaRPr lang="zh-CN" altLang="en-US" sz="1400" dirty="0"/>
                </a:p>
              </p:txBody>
            </p:sp>
            <p:sp>
              <p:nvSpPr>
                <p:cNvPr id="70" name="矩形 69">
                  <a:extLst>
                    <a:ext uri="{FF2B5EF4-FFF2-40B4-BE49-F238E27FC236}">
                      <a16:creationId xmlns:a16="http://schemas.microsoft.com/office/drawing/2014/main" id="{59AFBD34-3F41-E141-9D98-E3555BE37216}"/>
                    </a:ext>
                  </a:extLst>
                </p:cNvPr>
                <p:cNvSpPr/>
                <p:nvPr/>
              </p:nvSpPr>
              <p:spPr>
                <a:xfrm>
                  <a:off x="11216341" y="4519163"/>
                  <a:ext cx="623176" cy="277114"/>
                </a:xfrm>
                <a:prstGeom prst="rect">
                  <a:avLst/>
                </a:prstGeom>
              </p:spPr>
              <p:txBody>
                <a:bodyPr wrap="none">
                  <a:spAutoFit/>
                </a:bodyPr>
                <a:lstStyle/>
                <a:p>
                  <a:r>
                    <a:rPr lang="en-US" altLang="zh-CN" sz="1400" dirty="0"/>
                    <a:t>Votes=0</a:t>
                  </a:r>
                  <a:endParaRPr lang="zh-CN" altLang="en-US" sz="1400" dirty="0"/>
                </a:p>
              </p:txBody>
            </p:sp>
            <p:sp>
              <p:nvSpPr>
                <p:cNvPr id="71" name="矩形 70">
                  <a:extLst>
                    <a:ext uri="{FF2B5EF4-FFF2-40B4-BE49-F238E27FC236}">
                      <a16:creationId xmlns:a16="http://schemas.microsoft.com/office/drawing/2014/main" id="{D357A81F-2F24-4849-90FE-13E9B0526603}"/>
                    </a:ext>
                  </a:extLst>
                </p:cNvPr>
                <p:cNvSpPr/>
                <p:nvPr/>
              </p:nvSpPr>
              <p:spPr>
                <a:xfrm>
                  <a:off x="11216343" y="5585424"/>
                  <a:ext cx="623176" cy="277114"/>
                </a:xfrm>
                <a:prstGeom prst="rect">
                  <a:avLst/>
                </a:prstGeom>
              </p:spPr>
              <p:txBody>
                <a:bodyPr wrap="none">
                  <a:spAutoFit/>
                </a:bodyPr>
                <a:lstStyle/>
                <a:p>
                  <a:r>
                    <a:rPr lang="en-US" altLang="zh-CN" sz="1400" dirty="0"/>
                    <a:t>Votes=1</a:t>
                  </a:r>
                  <a:endParaRPr lang="zh-CN" altLang="en-US" sz="1400" dirty="0"/>
                </a:p>
              </p:txBody>
            </p:sp>
          </p:grpSp>
          <p:grpSp>
            <p:nvGrpSpPr>
              <p:cNvPr id="75" name="组合 74">
                <a:extLst>
                  <a:ext uri="{FF2B5EF4-FFF2-40B4-BE49-F238E27FC236}">
                    <a16:creationId xmlns:a16="http://schemas.microsoft.com/office/drawing/2014/main" id="{AC951F85-7E55-5E49-95AB-71762932112A}"/>
                  </a:ext>
                </a:extLst>
              </p:cNvPr>
              <p:cNvGrpSpPr/>
              <p:nvPr/>
            </p:nvGrpSpPr>
            <p:grpSpPr>
              <a:xfrm>
                <a:off x="9801308" y="5307341"/>
                <a:ext cx="2019673" cy="1691494"/>
                <a:chOff x="9770807" y="4124153"/>
                <a:chExt cx="2083528" cy="1744974"/>
              </a:xfrm>
            </p:grpSpPr>
            <p:sp>
              <p:nvSpPr>
                <p:cNvPr id="76" name="矩形 75">
                  <a:extLst>
                    <a:ext uri="{FF2B5EF4-FFF2-40B4-BE49-F238E27FC236}">
                      <a16:creationId xmlns:a16="http://schemas.microsoft.com/office/drawing/2014/main" id="{155C67F5-8B23-0E4C-8AAA-64A0E560EE7D}"/>
                    </a:ext>
                  </a:extLst>
                </p:cNvPr>
                <p:cNvSpPr/>
                <p:nvPr/>
              </p:nvSpPr>
              <p:spPr>
                <a:xfrm rot="20471179">
                  <a:off x="10210880" y="4174939"/>
                  <a:ext cx="1079252" cy="283703"/>
                </a:xfrm>
                <a:prstGeom prst="rect">
                  <a:avLst/>
                </a:prstGeom>
                <a:noFill/>
              </p:spPr>
              <p:txBody>
                <a:bodyPr wrap="square">
                  <a:spAutoFit/>
                </a:bodyPr>
                <a:lstStyle/>
                <a:p>
                  <a:pPr algn="ctr"/>
                  <a:r>
                    <a:rPr lang="zh-CN" altLang="en-US" sz="1400" dirty="0">
                      <a:latin typeface="Microsoft YaHei" panose="020B0503020204020204" pitchFamily="34" charset="-122"/>
                      <a:ea typeface="Microsoft YaHei" panose="020B0503020204020204" pitchFamily="34" charset="-122"/>
                    </a:rPr>
                    <a:t>我投我自己</a:t>
                  </a:r>
                </a:p>
              </p:txBody>
            </p:sp>
            <p:sp>
              <p:nvSpPr>
                <p:cNvPr id="77" name="椭圆 76">
                  <a:extLst>
                    <a:ext uri="{FF2B5EF4-FFF2-40B4-BE49-F238E27FC236}">
                      <a16:creationId xmlns:a16="http://schemas.microsoft.com/office/drawing/2014/main" id="{807D1E69-E138-EA4F-95C4-81DED8EDDD08}"/>
                    </a:ext>
                  </a:extLst>
                </p:cNvPr>
                <p:cNvSpPr/>
                <p:nvPr/>
              </p:nvSpPr>
              <p:spPr>
                <a:xfrm>
                  <a:off x="9927539" y="4632391"/>
                  <a:ext cx="361299" cy="361299"/>
                </a:xfrm>
                <a:prstGeom prst="ellipse">
                  <a:avLst/>
                </a:prstGeom>
                <a:solidFill>
                  <a:srgbClr val="8AC14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latin typeface="Times New Roman" panose="02020603050405020304" pitchFamily="18" charset="0"/>
                      <a:cs typeface="Times New Roman" panose="02020603050405020304" pitchFamily="18" charset="0"/>
                    </a:rPr>
                    <a:t>A</a:t>
                  </a:r>
                  <a:endParaRPr kumimoji="1" lang="zh-CN" altLang="en-US" dirty="0">
                    <a:latin typeface="Times New Roman" panose="02020603050405020304" pitchFamily="18" charset="0"/>
                    <a:cs typeface="Times New Roman" panose="02020603050405020304" pitchFamily="18" charset="0"/>
                  </a:endParaRPr>
                </a:p>
              </p:txBody>
            </p:sp>
            <p:sp>
              <p:nvSpPr>
                <p:cNvPr id="78" name="椭圆 77">
                  <a:extLst>
                    <a:ext uri="{FF2B5EF4-FFF2-40B4-BE49-F238E27FC236}">
                      <a16:creationId xmlns:a16="http://schemas.microsoft.com/office/drawing/2014/main" id="{40E8D85C-A4AD-354A-A1FC-D3CA55497BD1}"/>
                    </a:ext>
                  </a:extLst>
                </p:cNvPr>
                <p:cNvSpPr/>
                <p:nvPr/>
              </p:nvSpPr>
              <p:spPr>
                <a:xfrm>
                  <a:off x="11355818" y="4124153"/>
                  <a:ext cx="361299" cy="361299"/>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latin typeface="Times New Roman" panose="02020603050405020304" pitchFamily="18" charset="0"/>
                      <a:cs typeface="Times New Roman" panose="02020603050405020304" pitchFamily="18" charset="0"/>
                    </a:rPr>
                    <a:t>B</a:t>
                  </a:r>
                  <a:endParaRPr kumimoji="1" lang="zh-CN" altLang="en-US" dirty="0">
                    <a:latin typeface="Times New Roman" panose="02020603050405020304" pitchFamily="18" charset="0"/>
                    <a:cs typeface="Times New Roman" panose="02020603050405020304" pitchFamily="18" charset="0"/>
                  </a:endParaRPr>
                </a:p>
              </p:txBody>
            </p:sp>
            <p:sp>
              <p:nvSpPr>
                <p:cNvPr id="79" name="椭圆 78">
                  <a:extLst>
                    <a:ext uri="{FF2B5EF4-FFF2-40B4-BE49-F238E27FC236}">
                      <a16:creationId xmlns:a16="http://schemas.microsoft.com/office/drawing/2014/main" id="{2E02C74A-3C47-EB43-B2F5-FEA54A261968}"/>
                    </a:ext>
                  </a:extLst>
                </p:cNvPr>
                <p:cNvSpPr/>
                <p:nvPr/>
              </p:nvSpPr>
              <p:spPr>
                <a:xfrm>
                  <a:off x="11353800" y="5185468"/>
                  <a:ext cx="361299" cy="361299"/>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latin typeface="Times New Roman" panose="02020603050405020304" pitchFamily="18" charset="0"/>
                      <a:cs typeface="Times New Roman" panose="02020603050405020304" pitchFamily="18" charset="0"/>
                    </a:rPr>
                    <a:t>C</a:t>
                  </a:r>
                  <a:endParaRPr kumimoji="1" lang="zh-CN" altLang="en-US" dirty="0">
                    <a:latin typeface="Times New Roman" panose="02020603050405020304" pitchFamily="18" charset="0"/>
                    <a:cs typeface="Times New Roman" panose="02020603050405020304" pitchFamily="18" charset="0"/>
                  </a:endParaRPr>
                </a:p>
              </p:txBody>
            </p:sp>
            <p:cxnSp>
              <p:nvCxnSpPr>
                <p:cNvPr id="80" name="直线箭头连接符 79">
                  <a:extLst>
                    <a:ext uri="{FF2B5EF4-FFF2-40B4-BE49-F238E27FC236}">
                      <a16:creationId xmlns:a16="http://schemas.microsoft.com/office/drawing/2014/main" id="{FBD23E45-7DBB-BE4F-A823-58228E072B48}"/>
                    </a:ext>
                  </a:extLst>
                </p:cNvPr>
                <p:cNvCxnSpPr>
                  <a:cxnSpLocks/>
                  <a:stCxn id="78" idx="2"/>
                  <a:endCxn id="77" idx="7"/>
                </p:cNvCxnSpPr>
                <p:nvPr/>
              </p:nvCxnSpPr>
              <p:spPr>
                <a:xfrm flipH="1">
                  <a:off x="10235927" y="4304803"/>
                  <a:ext cx="1119891" cy="380499"/>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1" name="直线箭头连接符 80">
                  <a:extLst>
                    <a:ext uri="{FF2B5EF4-FFF2-40B4-BE49-F238E27FC236}">
                      <a16:creationId xmlns:a16="http://schemas.microsoft.com/office/drawing/2014/main" id="{6C1827EF-E30B-0B44-9F36-F3C1ADF407C1}"/>
                    </a:ext>
                  </a:extLst>
                </p:cNvPr>
                <p:cNvCxnSpPr>
                  <a:cxnSpLocks/>
                  <a:stCxn id="79" idx="2"/>
                  <a:endCxn id="77" idx="5"/>
                </p:cNvCxnSpPr>
                <p:nvPr/>
              </p:nvCxnSpPr>
              <p:spPr>
                <a:xfrm flipH="1" flipV="1">
                  <a:off x="10235927" y="4940779"/>
                  <a:ext cx="1117873" cy="425339"/>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82" name="矩形 81">
                  <a:extLst>
                    <a:ext uri="{FF2B5EF4-FFF2-40B4-BE49-F238E27FC236}">
                      <a16:creationId xmlns:a16="http://schemas.microsoft.com/office/drawing/2014/main" id="{191EA011-3C3D-D943-BBD5-AE352C37E003}"/>
                    </a:ext>
                  </a:extLst>
                </p:cNvPr>
                <p:cNvSpPr/>
                <p:nvPr/>
              </p:nvSpPr>
              <p:spPr>
                <a:xfrm rot="1244061">
                  <a:off x="10316099" y="4878378"/>
                  <a:ext cx="1079252" cy="283703"/>
                </a:xfrm>
                <a:prstGeom prst="rect">
                  <a:avLst/>
                </a:prstGeom>
                <a:noFill/>
              </p:spPr>
              <p:txBody>
                <a:bodyPr wrap="square">
                  <a:spAutoFit/>
                </a:bodyPr>
                <a:lstStyle/>
                <a:p>
                  <a:pPr algn="ctr"/>
                  <a:r>
                    <a:rPr lang="zh-CN" altLang="en-US" sz="1400" dirty="0">
                      <a:latin typeface="Microsoft YaHei" panose="020B0503020204020204" pitchFamily="34" charset="-122"/>
                      <a:ea typeface="Microsoft YaHei" panose="020B0503020204020204" pitchFamily="34" charset="-122"/>
                    </a:rPr>
                    <a:t>我投我自己</a:t>
                  </a:r>
                </a:p>
              </p:txBody>
            </p:sp>
            <p:sp>
              <p:nvSpPr>
                <p:cNvPr id="83" name="矩形 82">
                  <a:extLst>
                    <a:ext uri="{FF2B5EF4-FFF2-40B4-BE49-F238E27FC236}">
                      <a16:creationId xmlns:a16="http://schemas.microsoft.com/office/drawing/2014/main" id="{C2734DF4-B835-C54C-A716-9563C9DF3C25}"/>
                    </a:ext>
                  </a:extLst>
                </p:cNvPr>
                <p:cNvSpPr/>
                <p:nvPr/>
              </p:nvSpPr>
              <p:spPr>
                <a:xfrm>
                  <a:off x="9770807" y="5039653"/>
                  <a:ext cx="637993" cy="283703"/>
                </a:xfrm>
                <a:prstGeom prst="rect">
                  <a:avLst/>
                </a:prstGeom>
              </p:spPr>
              <p:txBody>
                <a:bodyPr wrap="none">
                  <a:spAutoFit/>
                </a:bodyPr>
                <a:lstStyle/>
                <a:p>
                  <a:r>
                    <a:rPr lang="en-US" altLang="zh-CN" sz="1400" dirty="0"/>
                    <a:t>Votes=1</a:t>
                  </a:r>
                  <a:endParaRPr lang="zh-CN" altLang="en-US" sz="1400" dirty="0"/>
                </a:p>
              </p:txBody>
            </p:sp>
            <p:sp>
              <p:nvSpPr>
                <p:cNvPr id="84" name="矩形 83">
                  <a:extLst>
                    <a:ext uri="{FF2B5EF4-FFF2-40B4-BE49-F238E27FC236}">
                      <a16:creationId xmlns:a16="http://schemas.microsoft.com/office/drawing/2014/main" id="{49B0ED46-AEAE-604F-AF4F-6AECD3CFCFC6}"/>
                    </a:ext>
                  </a:extLst>
                </p:cNvPr>
                <p:cNvSpPr/>
                <p:nvPr/>
              </p:nvSpPr>
              <p:spPr>
                <a:xfrm>
                  <a:off x="11216342" y="4519163"/>
                  <a:ext cx="637993" cy="283703"/>
                </a:xfrm>
                <a:prstGeom prst="rect">
                  <a:avLst/>
                </a:prstGeom>
              </p:spPr>
              <p:txBody>
                <a:bodyPr wrap="none">
                  <a:spAutoFit/>
                </a:bodyPr>
                <a:lstStyle/>
                <a:p>
                  <a:r>
                    <a:rPr lang="en-US" altLang="zh-CN" sz="1400" dirty="0"/>
                    <a:t>Votes=1</a:t>
                  </a:r>
                  <a:endParaRPr lang="zh-CN" altLang="en-US" sz="1400" dirty="0"/>
                </a:p>
              </p:txBody>
            </p:sp>
            <p:sp>
              <p:nvSpPr>
                <p:cNvPr id="85" name="矩形 84">
                  <a:extLst>
                    <a:ext uri="{FF2B5EF4-FFF2-40B4-BE49-F238E27FC236}">
                      <a16:creationId xmlns:a16="http://schemas.microsoft.com/office/drawing/2014/main" id="{523AB5C1-6DD6-7040-B5C3-6584A7A65523}"/>
                    </a:ext>
                  </a:extLst>
                </p:cNvPr>
                <p:cNvSpPr/>
                <p:nvPr/>
              </p:nvSpPr>
              <p:spPr>
                <a:xfrm>
                  <a:off x="11216342" y="5585424"/>
                  <a:ext cx="637993" cy="283703"/>
                </a:xfrm>
                <a:prstGeom prst="rect">
                  <a:avLst/>
                </a:prstGeom>
              </p:spPr>
              <p:txBody>
                <a:bodyPr wrap="none">
                  <a:spAutoFit/>
                </a:bodyPr>
                <a:lstStyle/>
                <a:p>
                  <a:r>
                    <a:rPr lang="en-US" altLang="zh-CN" sz="1400" dirty="0"/>
                    <a:t>Votes=1</a:t>
                  </a:r>
                  <a:endParaRPr lang="zh-CN" altLang="en-US" sz="1400" dirty="0"/>
                </a:p>
              </p:txBody>
            </p:sp>
          </p:grpSp>
        </p:grpSp>
        <p:cxnSp>
          <p:nvCxnSpPr>
            <p:cNvPr id="87" name="直线箭头连接符 86">
              <a:extLst>
                <a:ext uri="{FF2B5EF4-FFF2-40B4-BE49-F238E27FC236}">
                  <a16:creationId xmlns:a16="http://schemas.microsoft.com/office/drawing/2014/main" id="{331A1DD0-8A20-EF4D-AB23-803421AFA1D0}"/>
                </a:ext>
              </a:extLst>
            </p:cNvPr>
            <p:cNvCxnSpPr>
              <a:cxnSpLocks/>
            </p:cNvCxnSpPr>
            <p:nvPr/>
          </p:nvCxnSpPr>
          <p:spPr>
            <a:xfrm flipV="1">
              <a:off x="8382046" y="3180517"/>
              <a:ext cx="978517" cy="10106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直线箭头连接符 91">
              <a:extLst>
                <a:ext uri="{FF2B5EF4-FFF2-40B4-BE49-F238E27FC236}">
                  <a16:creationId xmlns:a16="http://schemas.microsoft.com/office/drawing/2014/main" id="{FA44EF4A-BFED-A44C-BC86-4F489EA8F40B}"/>
                </a:ext>
              </a:extLst>
            </p:cNvPr>
            <p:cNvCxnSpPr>
              <a:cxnSpLocks/>
            </p:cNvCxnSpPr>
            <p:nvPr/>
          </p:nvCxnSpPr>
          <p:spPr>
            <a:xfrm>
              <a:off x="8388099" y="4240653"/>
              <a:ext cx="1047643" cy="196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直线箭头连接符 94">
              <a:extLst>
                <a:ext uri="{FF2B5EF4-FFF2-40B4-BE49-F238E27FC236}">
                  <a16:creationId xmlns:a16="http://schemas.microsoft.com/office/drawing/2014/main" id="{1D135987-F296-F246-8C60-18EA2755F684}"/>
                </a:ext>
              </a:extLst>
            </p:cNvPr>
            <p:cNvCxnSpPr>
              <a:cxnSpLocks/>
            </p:cNvCxnSpPr>
            <p:nvPr/>
          </p:nvCxnSpPr>
          <p:spPr>
            <a:xfrm>
              <a:off x="8388099" y="4260333"/>
              <a:ext cx="972464" cy="11637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8" name="矩形 97">
              <a:extLst>
                <a:ext uri="{FF2B5EF4-FFF2-40B4-BE49-F238E27FC236}">
                  <a16:creationId xmlns:a16="http://schemas.microsoft.com/office/drawing/2014/main" id="{930B1DC5-0A6B-CC46-8AC3-CE9CA3E0C14E}"/>
                </a:ext>
              </a:extLst>
            </p:cNvPr>
            <p:cNvSpPr/>
            <p:nvPr/>
          </p:nvSpPr>
          <p:spPr>
            <a:xfrm>
              <a:off x="8627080" y="3227878"/>
              <a:ext cx="282152" cy="336641"/>
            </a:xfrm>
            <a:prstGeom prst="rect">
              <a:avLst/>
            </a:prstGeom>
          </p:spPr>
          <p:txBody>
            <a:bodyPr wrap="none">
              <a:spAutoFit/>
            </a:bodyPr>
            <a:lstStyle/>
            <a:p>
              <a:r>
                <a:rPr lang="en-US" altLang="zh-CN" sz="2000" dirty="0">
                  <a:latin typeface="Microsoft YaHei" panose="020B0503020204020204" pitchFamily="34" charset="-122"/>
                  <a:ea typeface="Microsoft YaHei" panose="020B0503020204020204" pitchFamily="34" charset="-122"/>
                </a:rPr>
                <a:t>1</a:t>
              </a:r>
              <a:endParaRPr lang="zh-CN" altLang="en-US" sz="2000" dirty="0">
                <a:latin typeface="Microsoft YaHei" panose="020B0503020204020204" pitchFamily="34" charset="-122"/>
                <a:ea typeface="Microsoft YaHei" panose="020B0503020204020204" pitchFamily="34" charset="-122"/>
              </a:endParaRPr>
            </a:p>
          </p:txBody>
        </p:sp>
        <p:sp>
          <p:nvSpPr>
            <p:cNvPr id="99" name="矩形 98">
              <a:extLst>
                <a:ext uri="{FF2B5EF4-FFF2-40B4-BE49-F238E27FC236}">
                  <a16:creationId xmlns:a16="http://schemas.microsoft.com/office/drawing/2014/main" id="{7F23DC45-A1C8-5D4A-B76C-A7908BEA08A5}"/>
                </a:ext>
              </a:extLst>
            </p:cNvPr>
            <p:cNvSpPr/>
            <p:nvPr/>
          </p:nvSpPr>
          <p:spPr>
            <a:xfrm>
              <a:off x="8815624" y="3871321"/>
              <a:ext cx="282152" cy="336641"/>
            </a:xfrm>
            <a:prstGeom prst="rect">
              <a:avLst/>
            </a:prstGeom>
          </p:spPr>
          <p:txBody>
            <a:bodyPr wrap="none">
              <a:spAutoFit/>
            </a:bodyPr>
            <a:lstStyle/>
            <a:p>
              <a:r>
                <a:rPr lang="en-US" altLang="zh-CN" sz="2000" dirty="0">
                  <a:latin typeface="Microsoft YaHei" panose="020B0503020204020204" pitchFamily="34" charset="-122"/>
                  <a:ea typeface="Microsoft YaHei" panose="020B0503020204020204" pitchFamily="34" charset="-122"/>
                </a:rPr>
                <a:t>2</a:t>
              </a:r>
              <a:endParaRPr lang="zh-CN" altLang="en-US" sz="2000" dirty="0">
                <a:latin typeface="Microsoft YaHei" panose="020B0503020204020204" pitchFamily="34" charset="-122"/>
                <a:ea typeface="Microsoft YaHei" panose="020B0503020204020204" pitchFamily="34" charset="-122"/>
              </a:endParaRPr>
            </a:p>
          </p:txBody>
        </p:sp>
        <p:sp>
          <p:nvSpPr>
            <p:cNvPr id="100" name="矩形 99">
              <a:extLst>
                <a:ext uri="{FF2B5EF4-FFF2-40B4-BE49-F238E27FC236}">
                  <a16:creationId xmlns:a16="http://schemas.microsoft.com/office/drawing/2014/main" id="{DDBD35D3-AF30-3947-AEB3-00982578BEBB}"/>
                </a:ext>
              </a:extLst>
            </p:cNvPr>
            <p:cNvSpPr/>
            <p:nvPr/>
          </p:nvSpPr>
          <p:spPr>
            <a:xfrm>
              <a:off x="8642035" y="4786915"/>
              <a:ext cx="282152" cy="336641"/>
            </a:xfrm>
            <a:prstGeom prst="rect">
              <a:avLst/>
            </a:prstGeom>
          </p:spPr>
          <p:txBody>
            <a:bodyPr wrap="none">
              <a:spAutoFit/>
            </a:bodyPr>
            <a:lstStyle/>
            <a:p>
              <a:r>
                <a:rPr lang="en-US" altLang="zh-CN" sz="2000" dirty="0">
                  <a:latin typeface="Microsoft YaHei" panose="020B0503020204020204" pitchFamily="34" charset="-122"/>
                  <a:ea typeface="Microsoft YaHei" panose="020B0503020204020204" pitchFamily="34" charset="-122"/>
                </a:rPr>
                <a:t>3</a:t>
              </a:r>
              <a:endParaRPr lang="zh-CN" altLang="en-US" sz="2000" dirty="0">
                <a:latin typeface="Microsoft YaHei" panose="020B0503020204020204" pitchFamily="34" charset="-122"/>
                <a:ea typeface="Microsoft YaHei" panose="020B0503020204020204" pitchFamily="34" charset="-122"/>
              </a:endParaRPr>
            </a:p>
          </p:txBody>
        </p:sp>
      </p:grpSp>
      <p:sp>
        <p:nvSpPr>
          <p:cNvPr id="3" name="矩形 2">
            <a:extLst>
              <a:ext uri="{FF2B5EF4-FFF2-40B4-BE49-F238E27FC236}">
                <a16:creationId xmlns:a16="http://schemas.microsoft.com/office/drawing/2014/main" id="{1ECBF6B4-C5B0-7141-BA8D-2043FB34F540}"/>
              </a:ext>
            </a:extLst>
          </p:cNvPr>
          <p:cNvSpPr/>
          <p:nvPr/>
        </p:nvSpPr>
        <p:spPr>
          <a:xfrm>
            <a:off x="826879" y="2331352"/>
            <a:ext cx="4138110" cy="1896801"/>
          </a:xfrm>
          <a:prstGeom prst="rect">
            <a:avLst/>
          </a:prstGeom>
        </p:spPr>
        <p:txBody>
          <a:bodyPr wrap="square">
            <a:spAutoFit/>
          </a:bodyPr>
          <a:lstStyle/>
          <a:p>
            <a:pPr marL="342900" indent="-342900" algn="just">
              <a:lnSpc>
                <a:spcPts val="3600"/>
              </a:lnSpc>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當競選過程中出現嚴重分票導致無節點成爲</a:t>
            </a:r>
            <a:r>
              <a:rPr lang="en-US" altLang="zh-CN" sz="2400" dirty="0">
                <a:latin typeface="Microsoft YaHei" panose="020B0503020204020204" pitchFamily="34" charset="-122"/>
                <a:ea typeface="Microsoft YaHei" panose="020B0503020204020204" pitchFamily="34" charset="-122"/>
              </a:rPr>
              <a:t>Leader</a:t>
            </a:r>
            <a:r>
              <a:rPr lang="zh-CN" altLang="en-US" sz="2400" dirty="0">
                <a:latin typeface="Microsoft YaHei" panose="020B0503020204020204" pitchFamily="34" charset="-122"/>
                <a:ea typeface="Microsoft YaHei" panose="020B0503020204020204" pitchFamily="34" charset="-122"/>
              </a:rPr>
              <a:t>時，節點觸發超時機制，幷進入下一輪</a:t>
            </a:r>
            <a:r>
              <a:rPr lang="en-US" altLang="zh-CN" sz="2400" dirty="0">
                <a:latin typeface="Microsoft YaHei" panose="020B0503020204020204" pitchFamily="34" charset="-122"/>
                <a:ea typeface="Microsoft YaHei" panose="020B0503020204020204" pitchFamily="34" charset="-122"/>
              </a:rPr>
              <a:t>Leader</a:t>
            </a:r>
            <a:r>
              <a:rPr lang="zh-CN" altLang="en-US" sz="2400" dirty="0">
                <a:latin typeface="Microsoft YaHei" panose="020B0503020204020204" pitchFamily="34" charset="-122"/>
                <a:ea typeface="Microsoft YaHei" panose="020B0503020204020204" pitchFamily="34" charset="-122"/>
              </a:rPr>
              <a:t>選舉</a:t>
            </a:r>
            <a:endParaRPr lang="en-US" altLang="zh-CN" sz="2400" dirty="0">
              <a:latin typeface="Microsoft YaHei" panose="020B0503020204020204" pitchFamily="34" charset="-122"/>
              <a:ea typeface="Microsoft YaHei" panose="020B0503020204020204" pitchFamily="34" charset="-122"/>
            </a:endParaRPr>
          </a:p>
        </p:txBody>
      </p:sp>
      <p:sp>
        <p:nvSpPr>
          <p:cNvPr id="4" name="矩形 3">
            <a:extLst>
              <a:ext uri="{FF2B5EF4-FFF2-40B4-BE49-F238E27FC236}">
                <a16:creationId xmlns:a16="http://schemas.microsoft.com/office/drawing/2014/main" id="{443C6E88-52FE-5744-BE0D-21F8A54E9320}"/>
              </a:ext>
            </a:extLst>
          </p:cNvPr>
          <p:cNvSpPr/>
          <p:nvPr/>
        </p:nvSpPr>
        <p:spPr>
          <a:xfrm>
            <a:off x="826879" y="4511740"/>
            <a:ext cx="4674041" cy="1896801"/>
          </a:xfrm>
          <a:prstGeom prst="rect">
            <a:avLst/>
          </a:prstGeom>
        </p:spPr>
        <p:txBody>
          <a:bodyPr wrap="square">
            <a:spAutoFit/>
          </a:bodyPr>
          <a:lstStyle/>
          <a:p>
            <a:pPr marL="342900" indent="-342900" algn="just">
              <a:lnSpc>
                <a:spcPts val="3600"/>
              </a:lnSpc>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爲了確保必然有節點最終成功當選</a:t>
            </a:r>
            <a:r>
              <a:rPr lang="en-US" altLang="zh-CN" sz="2400" dirty="0">
                <a:latin typeface="Microsoft YaHei" panose="020B0503020204020204" pitchFamily="34" charset="-122"/>
                <a:ea typeface="Microsoft YaHei" panose="020B0503020204020204" pitchFamily="34" charset="-122"/>
              </a:rPr>
              <a:t>Leader</a:t>
            </a:r>
            <a:r>
              <a:rPr lang="zh-CN" altLang="en-US" sz="2400" dirty="0">
                <a:latin typeface="Microsoft YaHei" panose="020B0503020204020204" pitchFamily="34" charset="-122"/>
                <a:ea typeface="Microsoft YaHei" panose="020B0503020204020204" pitchFamily="34" charset="-122"/>
              </a:rPr>
              <a:t>，節點采用隨機計時機制，每個節點超時所需要等待的時間不一樣</a:t>
            </a:r>
          </a:p>
        </p:txBody>
      </p:sp>
      <p:sp>
        <p:nvSpPr>
          <p:cNvPr id="55" name="灯片编号占位符 2">
            <a:extLst>
              <a:ext uri="{FF2B5EF4-FFF2-40B4-BE49-F238E27FC236}">
                <a16:creationId xmlns:a16="http://schemas.microsoft.com/office/drawing/2014/main" id="{229F3CD2-C644-2642-AE45-F57B611ED645}"/>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70</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2156397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矩形 35">
            <a:extLst>
              <a:ext uri="{FF2B5EF4-FFF2-40B4-BE49-F238E27FC236}">
                <a16:creationId xmlns:a16="http://schemas.microsoft.com/office/drawing/2014/main" id="{F995522F-C867-674E-A3B6-1732A12994F0}"/>
              </a:ext>
            </a:extLst>
          </p:cNvPr>
          <p:cNvSpPr>
            <a:spLocks/>
          </p:cNvSpPr>
          <p:nvPr/>
        </p:nvSpPr>
        <p:spPr bwMode="auto">
          <a:xfrm>
            <a:off x="660421" y="1104823"/>
            <a:ext cx="10744470" cy="2653367"/>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5000"/>
              </a:lnSpc>
              <a:defRPr/>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en-US" altLang="zh-CN" dirty="0"/>
              <a:t>Raft</a:t>
            </a:r>
            <a:r>
              <a:rPr kumimoji="1" lang="zh-CN" altLang="en-US" dirty="0"/>
              <a:t>運行流程</a:t>
            </a:r>
            <a:endParaRPr kumimoji="1" lang="zh-CN" altLang="en-US" dirty="0">
              <a:solidFill>
                <a:srgbClr val="C00000"/>
              </a:solidFill>
            </a:endParaRPr>
          </a:p>
        </p:txBody>
      </p:sp>
      <p:sp>
        <p:nvSpPr>
          <p:cNvPr id="7" name="文本框 6">
            <a:extLst>
              <a:ext uri="{FF2B5EF4-FFF2-40B4-BE49-F238E27FC236}">
                <a16:creationId xmlns:a16="http://schemas.microsoft.com/office/drawing/2014/main" id="{EE021085-C989-0E4B-89A4-3F1A5F79FA0D}"/>
              </a:ext>
            </a:extLst>
          </p:cNvPr>
          <p:cNvSpPr txBox="1"/>
          <p:nvPr/>
        </p:nvSpPr>
        <p:spPr>
          <a:xfrm>
            <a:off x="755576" y="1124744"/>
            <a:ext cx="10344544" cy="2580065"/>
          </a:xfrm>
          <a:prstGeom prst="rect">
            <a:avLst/>
          </a:prstGeom>
          <a:noFill/>
        </p:spPr>
        <p:txBody>
          <a:bodyPr wrap="square" rtlCol="0">
            <a:spAutoFit/>
          </a:bodyPr>
          <a:lstStyle/>
          <a:p>
            <a:pPr marL="342900" indent="-342900" fontAlgn="base">
              <a:lnSpc>
                <a:spcPts val="3600"/>
              </a:lnSpc>
              <a:spcBef>
                <a:spcPct val="20000"/>
              </a:spcBef>
              <a:spcAft>
                <a:spcPct val="0"/>
              </a:spcAft>
              <a:buFont typeface="Arial" panose="020B0604020202020204" pitchFamily="34" charset="0"/>
              <a:buChar char="•"/>
            </a:pPr>
            <a:r>
              <a:rPr lang="zh-CN" altLang="en-US" sz="2400" dirty="0">
                <a:solidFill>
                  <a:srgbClr val="404040"/>
                </a:solidFill>
                <a:latin typeface="Comic Sans MS" panose="030F0702030302020204" pitchFamily="66" charset="0"/>
                <a:ea typeface="微软雅黑" pitchFamily="34" charset="-122"/>
              </a:rPr>
              <a:t>第一階段：節點選舉</a:t>
            </a:r>
            <a:endParaRPr lang="en-US" altLang="zh-CN" sz="2400" dirty="0">
              <a:solidFill>
                <a:srgbClr val="404040"/>
              </a:solidFill>
              <a:latin typeface="Comic Sans MS" panose="030F0702030302020204" pitchFamily="66" charset="0"/>
              <a:ea typeface="微软雅黑" pitchFamily="34" charset="-122"/>
            </a:endParaRPr>
          </a:p>
          <a:p>
            <a:pPr marL="684000" lvl="1" indent="-342900"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每個節點包含一個</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150ms~300ms</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的計時器</a:t>
            </a:r>
          </a:p>
          <a:p>
            <a:pPr marL="684000" lvl="1" indent="-342900"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若計時結束後還未從</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Leader</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節點收到任何回應，則觸發超時機制</a:t>
            </a:r>
            <a:endPar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a:p>
            <a:pPr marL="684000" lvl="1" indent="-342900"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節點將所在的</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term</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加</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1</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，幷成爲</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candidate</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，向其它節點發送“請選我”的信息，當收到超過半數投票後，則成爲</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leader</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角色</a:t>
            </a:r>
            <a:endPar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28" name="灯片编号占位符 2">
            <a:extLst>
              <a:ext uri="{FF2B5EF4-FFF2-40B4-BE49-F238E27FC236}">
                <a16:creationId xmlns:a16="http://schemas.microsoft.com/office/drawing/2014/main" id="{D2A94DEF-72E3-C343-9E60-6D50801AAF32}"/>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71</a:t>
            </a:fld>
            <a:endParaRPr lang="zh-CN" altLang="en-US" sz="1200" dirty="0">
              <a:solidFill>
                <a:srgbClr val="000000">
                  <a:tint val="75000"/>
                </a:srgbClr>
              </a:solidFill>
              <a:latin typeface="Comic Sans MS"/>
              <a:ea typeface="微软雅黑 Light"/>
            </a:endParaRPr>
          </a:p>
        </p:txBody>
      </p:sp>
      <p:pic>
        <p:nvPicPr>
          <p:cNvPr id="4" name="图片 3">
            <a:extLst>
              <a:ext uri="{FF2B5EF4-FFF2-40B4-BE49-F238E27FC236}">
                <a16:creationId xmlns:a16="http://schemas.microsoft.com/office/drawing/2014/main" id="{33D47677-17D7-224E-94DC-FE4C8A0365A8}"/>
              </a:ext>
            </a:extLst>
          </p:cNvPr>
          <p:cNvPicPr>
            <a:picLocks noChangeAspect="1"/>
          </p:cNvPicPr>
          <p:nvPr/>
        </p:nvPicPr>
        <p:blipFill>
          <a:blip r:embed="rId3"/>
          <a:stretch>
            <a:fillRect/>
          </a:stretch>
        </p:blipFill>
        <p:spPr>
          <a:xfrm>
            <a:off x="755576" y="3967621"/>
            <a:ext cx="10380205" cy="2653367"/>
          </a:xfrm>
          <a:prstGeom prst="rect">
            <a:avLst/>
          </a:prstGeom>
        </p:spPr>
      </p:pic>
    </p:spTree>
    <p:extLst>
      <p:ext uri="{BB962C8B-B14F-4D97-AF65-F5344CB8AC3E}">
        <p14:creationId xmlns:p14="http://schemas.microsoft.com/office/powerpoint/2010/main" val="176852869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a:extLst>
              <a:ext uri="{FF2B5EF4-FFF2-40B4-BE49-F238E27FC236}">
                <a16:creationId xmlns:a16="http://schemas.microsoft.com/office/drawing/2014/main" id="{D4FFFA8D-FA54-EB42-8F80-D8B8C6C5F5D0}"/>
              </a:ext>
            </a:extLst>
          </p:cNvPr>
          <p:cNvSpPr>
            <a:spLocks/>
          </p:cNvSpPr>
          <p:nvPr/>
        </p:nvSpPr>
        <p:spPr bwMode="auto">
          <a:xfrm>
            <a:off x="660420" y="993983"/>
            <a:ext cx="11055329" cy="2653367"/>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5000"/>
              </a:lnSpc>
              <a:defRPr/>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en-US" altLang="zh-CN" dirty="0"/>
              <a:t>Raft</a:t>
            </a:r>
            <a:r>
              <a:rPr kumimoji="1" lang="zh-CN" altLang="en-US" dirty="0"/>
              <a:t>運行流程</a:t>
            </a:r>
            <a:endParaRPr kumimoji="1" lang="zh-CN" altLang="en-US" dirty="0">
              <a:solidFill>
                <a:srgbClr val="C00000"/>
              </a:solidFill>
            </a:endParaRPr>
          </a:p>
        </p:txBody>
      </p:sp>
      <p:sp>
        <p:nvSpPr>
          <p:cNvPr id="20" name="文本框 19">
            <a:extLst>
              <a:ext uri="{FF2B5EF4-FFF2-40B4-BE49-F238E27FC236}">
                <a16:creationId xmlns:a16="http://schemas.microsoft.com/office/drawing/2014/main" id="{CD3EB906-2FC1-4E4A-B362-C52B4257C841}"/>
              </a:ext>
            </a:extLst>
          </p:cNvPr>
          <p:cNvSpPr txBox="1"/>
          <p:nvPr/>
        </p:nvSpPr>
        <p:spPr>
          <a:xfrm>
            <a:off x="610198" y="994549"/>
            <a:ext cx="11055329" cy="2580065"/>
          </a:xfrm>
          <a:prstGeom prst="rect">
            <a:avLst/>
          </a:prstGeom>
          <a:noFill/>
        </p:spPr>
        <p:txBody>
          <a:bodyPr wrap="square" rtlCol="0">
            <a:spAutoFit/>
          </a:bodyPr>
          <a:lstStyle/>
          <a:p>
            <a:pPr marL="342900" indent="-342900" algn="just" fontAlgn="base">
              <a:lnSpc>
                <a:spcPts val="3600"/>
              </a:lnSpc>
              <a:spcBef>
                <a:spcPct val="20000"/>
              </a:spcBef>
              <a:spcAft>
                <a:spcPct val="0"/>
              </a:spcAft>
              <a:buFont typeface="Arial" panose="020B0604020202020204" pitchFamily="34" charset="0"/>
              <a:buChar char="•"/>
            </a:pPr>
            <a:r>
              <a:rPr lang="zh-CN" altLang="en-US" sz="2400" dirty="0">
                <a:solidFill>
                  <a:srgbClr val="404040"/>
                </a:solidFill>
                <a:latin typeface="Microsoft YaHei" panose="020B0503020204020204" pitchFamily="34" charset="-122"/>
                <a:ea typeface="Microsoft YaHei" panose="020B0503020204020204" pitchFamily="34" charset="-122"/>
              </a:rPr>
              <a:t>第二階段：基于</a:t>
            </a:r>
            <a:r>
              <a:rPr lang="en" altLang="zh-CN" sz="2400" dirty="0">
                <a:solidFill>
                  <a:srgbClr val="404040"/>
                </a:solidFill>
                <a:latin typeface="Microsoft YaHei" panose="020B0503020204020204" pitchFamily="34" charset="-122"/>
                <a:ea typeface="Microsoft YaHei" panose="020B0503020204020204" pitchFamily="34" charset="-122"/>
              </a:rPr>
              <a:t>leader</a:t>
            </a:r>
            <a:r>
              <a:rPr lang="zh-CN" altLang="en-US" sz="2400" dirty="0">
                <a:solidFill>
                  <a:srgbClr val="404040"/>
                </a:solidFill>
                <a:latin typeface="Microsoft YaHei" panose="020B0503020204020204" pitchFamily="34" charset="-122"/>
                <a:ea typeface="Microsoft YaHei" panose="020B0503020204020204" pitchFamily="34" charset="-122"/>
              </a:rPr>
              <a:t>的日志複製</a:t>
            </a:r>
            <a:endParaRPr lang="en-US" altLang="zh-CN" sz="2400" dirty="0">
              <a:solidFill>
                <a:srgbClr val="404040"/>
              </a:solidFill>
              <a:latin typeface="Microsoft YaHei" panose="020B0503020204020204" pitchFamily="34" charset="-122"/>
              <a:ea typeface="Microsoft YaHei" panose="020B0503020204020204" pitchFamily="34" charset="-122"/>
            </a:endParaRPr>
          </a:p>
          <a:p>
            <a:pPr marL="6840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客戶端向</a:t>
            </a:r>
            <a:r>
              <a:rPr lang="en"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leader</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發送交易，等待執行後的結果</a:t>
            </a:r>
          </a:p>
          <a:p>
            <a:pPr marL="684000" lvl="1" indent="-342900" algn="just" fontAlgn="base">
              <a:lnSpc>
                <a:spcPts val="3600"/>
              </a:lnSpc>
              <a:spcBef>
                <a:spcPct val="20000"/>
              </a:spcBef>
              <a:spcAft>
                <a:spcPct val="0"/>
              </a:spcAft>
              <a:buSzPct val="100000"/>
              <a:buFont typeface="Arial" panose="020B0604020202020204" pitchFamily="34" charset="0"/>
              <a:buChar char="•"/>
            </a:pPr>
            <a:r>
              <a:rPr lang="en"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Leader</a:t>
            </a:r>
            <a:r>
              <a:rPr lang="zh-CN" altLang="en" sz="2400" dirty="0">
                <a:solidFill>
                  <a:schemeClr val="tx1">
                    <a:lumMod val="75000"/>
                    <a:lumOff val="25000"/>
                  </a:schemeClr>
                </a:solidFill>
                <a:latin typeface="Microsoft YaHei" panose="020B0503020204020204" pitchFamily="34" charset="-122"/>
                <a:ea typeface="Microsoft YaHei" panose="020B0503020204020204" pitchFamily="34" charset="-122"/>
              </a:rPr>
              <a:t>爲</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交易分配序號幷加入本地日志，然後通知其它節點將該交易加入本地日志，當收到大多數節點的</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Ack</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後，提交幷執行該指令，然後回復客戶端</a:t>
            </a:r>
            <a:endPar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a:p>
            <a:pPr marL="684000" lvl="1" indent="-342900" algn="just"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任意節點，若收到包含更大</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term</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的信息，則變爲</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follower</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，幷修改本地</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term</a:t>
            </a:r>
            <a:endPar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32" name="灯片编号占位符 2">
            <a:extLst>
              <a:ext uri="{FF2B5EF4-FFF2-40B4-BE49-F238E27FC236}">
                <a16:creationId xmlns:a16="http://schemas.microsoft.com/office/drawing/2014/main" id="{71D5EAE0-7A74-6342-90AC-6039EF37E31D}"/>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72</a:t>
            </a:fld>
            <a:endParaRPr lang="zh-CN" altLang="en-US" sz="1200" dirty="0">
              <a:solidFill>
                <a:srgbClr val="000000">
                  <a:tint val="75000"/>
                </a:srgbClr>
              </a:solidFill>
              <a:latin typeface="Comic Sans MS"/>
              <a:ea typeface="微软雅黑 Light"/>
            </a:endParaRPr>
          </a:p>
        </p:txBody>
      </p:sp>
      <p:pic>
        <p:nvPicPr>
          <p:cNvPr id="4" name="图片 3">
            <a:extLst>
              <a:ext uri="{FF2B5EF4-FFF2-40B4-BE49-F238E27FC236}">
                <a16:creationId xmlns:a16="http://schemas.microsoft.com/office/drawing/2014/main" id="{4C504E18-C0D6-3347-A8C3-2E5013E91559}"/>
              </a:ext>
            </a:extLst>
          </p:cNvPr>
          <p:cNvPicPr>
            <a:picLocks noChangeAspect="1"/>
          </p:cNvPicPr>
          <p:nvPr/>
        </p:nvPicPr>
        <p:blipFill>
          <a:blip r:embed="rId3"/>
          <a:stretch>
            <a:fillRect/>
          </a:stretch>
        </p:blipFill>
        <p:spPr>
          <a:xfrm>
            <a:off x="1017997" y="3817305"/>
            <a:ext cx="10449181" cy="2876460"/>
          </a:xfrm>
          <a:prstGeom prst="rect">
            <a:avLst/>
          </a:prstGeom>
        </p:spPr>
      </p:pic>
    </p:spTree>
    <p:extLst>
      <p:ext uri="{BB962C8B-B14F-4D97-AF65-F5344CB8AC3E}">
        <p14:creationId xmlns:p14="http://schemas.microsoft.com/office/powerpoint/2010/main" val="22520631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F4A5A5B5-B52B-F34F-8060-572F6FAAFA1B}"/>
              </a:ext>
            </a:extLst>
          </p:cNvPr>
          <p:cNvSpPr>
            <a:spLocks/>
          </p:cNvSpPr>
          <p:nvPr/>
        </p:nvSpPr>
        <p:spPr bwMode="auto">
          <a:xfrm>
            <a:off x="618855" y="1021693"/>
            <a:ext cx="5578961" cy="2653367"/>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5000"/>
              </a:lnSpc>
              <a:defRPr/>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en-US" altLang="zh-CN" dirty="0"/>
              <a:t>Raft</a:t>
            </a:r>
            <a:r>
              <a:rPr kumimoji="1" lang="zh-CN" altLang="en-US" dirty="0"/>
              <a:t>運行流程</a:t>
            </a:r>
            <a:endParaRPr kumimoji="1" lang="zh-CN" altLang="en-US" dirty="0">
              <a:solidFill>
                <a:srgbClr val="C00000"/>
              </a:solidFill>
            </a:endParaRPr>
          </a:p>
        </p:txBody>
      </p:sp>
      <p:sp>
        <p:nvSpPr>
          <p:cNvPr id="20" name="文本框 19">
            <a:extLst>
              <a:ext uri="{FF2B5EF4-FFF2-40B4-BE49-F238E27FC236}">
                <a16:creationId xmlns:a16="http://schemas.microsoft.com/office/drawing/2014/main" id="{CD3EB906-2FC1-4E4A-B362-C52B4257C841}"/>
              </a:ext>
            </a:extLst>
          </p:cNvPr>
          <p:cNvSpPr txBox="1"/>
          <p:nvPr/>
        </p:nvSpPr>
        <p:spPr>
          <a:xfrm>
            <a:off x="649560" y="1071736"/>
            <a:ext cx="5578961" cy="3041730"/>
          </a:xfrm>
          <a:prstGeom prst="rect">
            <a:avLst/>
          </a:prstGeom>
          <a:noFill/>
        </p:spPr>
        <p:txBody>
          <a:bodyPr wrap="square" rtlCol="0">
            <a:spAutoFit/>
          </a:bodyPr>
          <a:lstStyle/>
          <a:p>
            <a:pPr marL="342900" indent="-342900" fontAlgn="base">
              <a:lnSpc>
                <a:spcPts val="3600"/>
              </a:lnSpc>
              <a:spcBef>
                <a:spcPct val="20000"/>
              </a:spcBef>
              <a:spcAft>
                <a:spcPct val="0"/>
              </a:spcAft>
              <a:buFont typeface="Arial" panose="020B0604020202020204" pitchFamily="34" charset="0"/>
              <a:buChar char="•"/>
            </a:pPr>
            <a:r>
              <a:rPr lang="zh-CN" altLang="en-US" sz="2400" dirty="0">
                <a:solidFill>
                  <a:srgbClr val="404040"/>
                </a:solidFill>
                <a:latin typeface="Microsoft YaHei" panose="020B0503020204020204" pitchFamily="34" charset="-122"/>
                <a:ea typeface="Microsoft YaHei" panose="020B0503020204020204" pitchFamily="34" charset="-122"/>
              </a:rPr>
              <a:t>第二階段：基于</a:t>
            </a:r>
            <a:r>
              <a:rPr lang="en" altLang="zh-CN" sz="2400" dirty="0">
                <a:solidFill>
                  <a:srgbClr val="404040"/>
                </a:solidFill>
                <a:latin typeface="Microsoft YaHei" panose="020B0503020204020204" pitchFamily="34" charset="-122"/>
                <a:ea typeface="Microsoft YaHei" panose="020B0503020204020204" pitchFamily="34" charset="-122"/>
              </a:rPr>
              <a:t>leader</a:t>
            </a:r>
            <a:r>
              <a:rPr lang="zh-CN" altLang="en-US" sz="2400" dirty="0">
                <a:solidFill>
                  <a:srgbClr val="404040"/>
                </a:solidFill>
                <a:latin typeface="Microsoft YaHei" panose="020B0503020204020204" pitchFamily="34" charset="-122"/>
                <a:ea typeface="Microsoft YaHei" panose="020B0503020204020204" pitchFamily="34" charset="-122"/>
              </a:rPr>
              <a:t>的日志複製</a:t>
            </a:r>
            <a:endParaRPr lang="en-US" altLang="zh-CN" sz="2400" dirty="0">
              <a:solidFill>
                <a:srgbClr val="404040"/>
              </a:solidFill>
              <a:latin typeface="Microsoft YaHei" panose="020B0503020204020204" pitchFamily="34" charset="-122"/>
              <a:ea typeface="Microsoft YaHei" panose="020B0503020204020204" pitchFamily="34" charset="-122"/>
            </a:endParaRPr>
          </a:p>
          <a:p>
            <a:pPr marL="684000" lvl="1" indent="-342900" fontAlgn="base">
              <a:lnSpc>
                <a:spcPts val="3600"/>
              </a:lnSpc>
              <a:spcBef>
                <a:spcPct val="20000"/>
              </a:spcBef>
              <a:spcAft>
                <a:spcPct val="0"/>
              </a:spcAft>
              <a:buSzPct val="100000"/>
              <a:buFont typeface="Arial" panose="020B0604020202020204" pitchFamily="34" charset="0"/>
              <a:buChar char="•"/>
            </a:pPr>
            <a:r>
              <a:rPr lang="en"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Leader</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節點在發送</a:t>
            </a:r>
            <a:r>
              <a:rPr lang="en"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AppendEntries</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時，會包含最近被提交的交易</a:t>
            </a:r>
            <a:endPar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a:p>
            <a:pPr marL="684000" lvl="1" indent="-342900" fontAlgn="base">
              <a:lnSpc>
                <a:spcPts val="3600"/>
              </a:lnSpc>
              <a:spcBef>
                <a:spcPct val="20000"/>
              </a:spcBef>
              <a:spcAft>
                <a:spcPct val="0"/>
              </a:spcAft>
              <a:buSzPct val="100000"/>
              <a:buFont typeface="Arial" panose="020B0604020202020204" pitchFamily="34" charset="0"/>
              <a:buChar char="•"/>
            </a:pP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其它節點收到</a:t>
            </a:r>
            <a:r>
              <a:rPr lang="en"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AppendEntries</a:t>
            </a:r>
            <a:r>
              <a:rPr lang="zh-CN" altLang="en" sz="2400" dirty="0">
                <a:solidFill>
                  <a:schemeClr val="tx1">
                    <a:lumMod val="75000"/>
                    <a:lumOff val="25000"/>
                  </a:schemeClr>
                </a:solidFill>
                <a:latin typeface="Microsoft YaHei" panose="020B0503020204020204" pitchFamily="34" charset="-122"/>
                <a:ea typeface="Microsoft YaHei" panose="020B0503020204020204" pitchFamily="34" charset="-122"/>
              </a:rPr>
              <a:t>後</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，會跟隨</a:t>
            </a:r>
            <a:r>
              <a:rPr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rPr>
              <a:t>leader</a:t>
            </a:r>
            <a:r>
              <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提交之前的交易</a:t>
            </a:r>
          </a:p>
          <a:p>
            <a:pPr marL="800100" lvl="1" indent="-342900" fontAlgn="base">
              <a:lnSpc>
                <a:spcPts val="3600"/>
              </a:lnSpc>
              <a:spcBef>
                <a:spcPct val="20000"/>
              </a:spcBef>
              <a:spcAft>
                <a:spcPct val="0"/>
              </a:spcAft>
              <a:buSzPct val="100000"/>
              <a:buFont typeface="Arial" panose="020B0604020202020204" pitchFamily="34" charset="0"/>
              <a:buChar char="•"/>
            </a:pPr>
            <a:endParaRPr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38" name="椭圆 37">
            <a:extLst>
              <a:ext uri="{FF2B5EF4-FFF2-40B4-BE49-F238E27FC236}">
                <a16:creationId xmlns:a16="http://schemas.microsoft.com/office/drawing/2014/main" id="{4EFC14F8-929F-614F-9D52-97ED4CD88DC0}"/>
              </a:ext>
            </a:extLst>
          </p:cNvPr>
          <p:cNvSpPr/>
          <p:nvPr/>
        </p:nvSpPr>
        <p:spPr>
          <a:xfrm>
            <a:off x="1458992" y="5365030"/>
            <a:ext cx="474484" cy="444908"/>
          </a:xfrm>
          <a:prstGeom prst="ellipse">
            <a:avLst/>
          </a:prstGeom>
          <a:solidFill>
            <a:srgbClr val="B54E3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000" dirty="0">
                <a:latin typeface="Times New Roman" panose="02020603050405020304" pitchFamily="18" charset="0"/>
                <a:cs typeface="Times New Roman" panose="02020603050405020304" pitchFamily="18" charset="0"/>
              </a:rPr>
              <a:t>A</a:t>
            </a:r>
            <a:endParaRPr kumimoji="1" lang="zh-CN" altLang="en-US" sz="2000" dirty="0">
              <a:latin typeface="Times New Roman" panose="02020603050405020304" pitchFamily="18" charset="0"/>
              <a:cs typeface="Times New Roman" panose="02020603050405020304" pitchFamily="18" charset="0"/>
            </a:endParaRPr>
          </a:p>
        </p:txBody>
      </p:sp>
      <p:sp>
        <p:nvSpPr>
          <p:cNvPr id="39" name="椭圆 38">
            <a:extLst>
              <a:ext uri="{FF2B5EF4-FFF2-40B4-BE49-F238E27FC236}">
                <a16:creationId xmlns:a16="http://schemas.microsoft.com/office/drawing/2014/main" id="{F3980BA5-9FD0-CB4D-8EAD-8175D7AF1B0F}"/>
              </a:ext>
            </a:extLst>
          </p:cNvPr>
          <p:cNvSpPr/>
          <p:nvPr/>
        </p:nvSpPr>
        <p:spPr>
          <a:xfrm>
            <a:off x="3080584" y="4048840"/>
            <a:ext cx="569271" cy="444908"/>
          </a:xfrm>
          <a:prstGeom prst="ellipse">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000" dirty="0">
                <a:latin typeface="Times New Roman" panose="02020603050405020304" pitchFamily="18" charset="0"/>
                <a:cs typeface="Times New Roman" panose="02020603050405020304" pitchFamily="18" charset="0"/>
              </a:rPr>
              <a:t>B</a:t>
            </a:r>
            <a:endParaRPr kumimoji="1" lang="zh-CN" altLang="en-US" sz="2000" dirty="0">
              <a:latin typeface="Times New Roman" panose="02020603050405020304" pitchFamily="18" charset="0"/>
              <a:cs typeface="Times New Roman" panose="02020603050405020304" pitchFamily="18" charset="0"/>
            </a:endParaRPr>
          </a:p>
        </p:txBody>
      </p:sp>
      <p:sp>
        <p:nvSpPr>
          <p:cNvPr id="40" name="椭圆 39">
            <a:extLst>
              <a:ext uri="{FF2B5EF4-FFF2-40B4-BE49-F238E27FC236}">
                <a16:creationId xmlns:a16="http://schemas.microsoft.com/office/drawing/2014/main" id="{812FA770-BE2F-B140-968E-CA015DC576E1}"/>
              </a:ext>
            </a:extLst>
          </p:cNvPr>
          <p:cNvSpPr/>
          <p:nvPr/>
        </p:nvSpPr>
        <p:spPr>
          <a:xfrm>
            <a:off x="4842600" y="5365030"/>
            <a:ext cx="474484" cy="444908"/>
          </a:xfrm>
          <a:prstGeom prst="ellipse">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000" dirty="0">
                <a:latin typeface="Times New Roman" panose="02020603050405020304" pitchFamily="18" charset="0"/>
                <a:cs typeface="Times New Roman" panose="02020603050405020304" pitchFamily="18" charset="0"/>
              </a:rPr>
              <a:t>C</a:t>
            </a:r>
            <a:endParaRPr kumimoji="1" lang="zh-CN" altLang="en-US" sz="2000" dirty="0">
              <a:latin typeface="Times New Roman" panose="02020603050405020304" pitchFamily="18" charset="0"/>
              <a:cs typeface="Times New Roman" panose="02020603050405020304" pitchFamily="18" charset="0"/>
            </a:endParaRPr>
          </a:p>
        </p:txBody>
      </p:sp>
      <p:sp>
        <p:nvSpPr>
          <p:cNvPr id="41" name="矩形 40">
            <a:extLst>
              <a:ext uri="{FF2B5EF4-FFF2-40B4-BE49-F238E27FC236}">
                <a16:creationId xmlns:a16="http://schemas.microsoft.com/office/drawing/2014/main" id="{E2C0C743-AED6-E743-9D0F-B8620D77CB48}"/>
              </a:ext>
            </a:extLst>
          </p:cNvPr>
          <p:cNvSpPr/>
          <p:nvPr/>
        </p:nvSpPr>
        <p:spPr>
          <a:xfrm>
            <a:off x="1296412" y="5823190"/>
            <a:ext cx="861646" cy="307777"/>
          </a:xfrm>
          <a:prstGeom prst="rect">
            <a:avLst/>
          </a:prstGeom>
        </p:spPr>
        <p:txBody>
          <a:bodyPr wrap="none">
            <a:spAutoFit/>
          </a:bodyPr>
          <a:lstStyle/>
          <a:p>
            <a:pPr algn="ctr"/>
            <a:r>
              <a:rPr lang="en-US" altLang="zh-CN" sz="1400" dirty="0">
                <a:solidFill>
                  <a:schemeClr val="tx1">
                    <a:lumMod val="75000"/>
                    <a:lumOff val="25000"/>
                  </a:schemeClr>
                </a:solidFill>
                <a:latin typeface="Microsoft YaHei" panose="020B0503020204020204" pitchFamily="34" charset="-122"/>
                <a:ea typeface="Microsoft YaHei" panose="020B0503020204020204" pitchFamily="34" charset="-122"/>
              </a:rPr>
              <a:t>Term : 1</a:t>
            </a:r>
          </a:p>
        </p:txBody>
      </p:sp>
      <p:sp>
        <p:nvSpPr>
          <p:cNvPr id="42" name="矩形 41">
            <a:extLst>
              <a:ext uri="{FF2B5EF4-FFF2-40B4-BE49-F238E27FC236}">
                <a16:creationId xmlns:a16="http://schemas.microsoft.com/office/drawing/2014/main" id="{2488D72F-C628-8241-BC0A-CCFBCD2B744C}"/>
              </a:ext>
            </a:extLst>
          </p:cNvPr>
          <p:cNvSpPr/>
          <p:nvPr/>
        </p:nvSpPr>
        <p:spPr>
          <a:xfrm>
            <a:off x="4649018" y="5830029"/>
            <a:ext cx="861646" cy="307777"/>
          </a:xfrm>
          <a:prstGeom prst="rect">
            <a:avLst/>
          </a:prstGeom>
        </p:spPr>
        <p:txBody>
          <a:bodyPr wrap="none">
            <a:spAutoFit/>
          </a:bodyPr>
          <a:lstStyle/>
          <a:p>
            <a:pPr algn="ctr"/>
            <a:r>
              <a:rPr lang="en-US" altLang="zh-CN" sz="1400" dirty="0">
                <a:solidFill>
                  <a:schemeClr val="tx1">
                    <a:lumMod val="75000"/>
                    <a:lumOff val="25000"/>
                  </a:schemeClr>
                </a:solidFill>
                <a:latin typeface="Microsoft YaHei" panose="020B0503020204020204" pitchFamily="34" charset="-122"/>
                <a:ea typeface="Microsoft YaHei" panose="020B0503020204020204" pitchFamily="34" charset="-122"/>
              </a:rPr>
              <a:t>Term : 1</a:t>
            </a:r>
          </a:p>
        </p:txBody>
      </p:sp>
      <p:sp>
        <p:nvSpPr>
          <p:cNvPr id="43" name="矩形 42">
            <a:extLst>
              <a:ext uri="{FF2B5EF4-FFF2-40B4-BE49-F238E27FC236}">
                <a16:creationId xmlns:a16="http://schemas.microsoft.com/office/drawing/2014/main" id="{F70B07AF-2026-9946-9AF3-61D47135295C}"/>
              </a:ext>
            </a:extLst>
          </p:cNvPr>
          <p:cNvSpPr/>
          <p:nvPr/>
        </p:nvSpPr>
        <p:spPr>
          <a:xfrm>
            <a:off x="2937507" y="3686734"/>
            <a:ext cx="861646" cy="307777"/>
          </a:xfrm>
          <a:prstGeom prst="rect">
            <a:avLst/>
          </a:prstGeom>
        </p:spPr>
        <p:txBody>
          <a:bodyPr wrap="none">
            <a:spAutoFit/>
          </a:bodyPr>
          <a:lstStyle/>
          <a:p>
            <a:pPr algn="ctr"/>
            <a:r>
              <a:rPr lang="en-US" altLang="zh-CN" sz="1400" dirty="0">
                <a:solidFill>
                  <a:schemeClr val="tx1">
                    <a:lumMod val="75000"/>
                    <a:lumOff val="25000"/>
                  </a:schemeClr>
                </a:solidFill>
                <a:latin typeface="Microsoft YaHei" panose="020B0503020204020204" pitchFamily="34" charset="-122"/>
                <a:ea typeface="Microsoft YaHei" panose="020B0503020204020204" pitchFamily="34" charset="-122"/>
              </a:rPr>
              <a:t>Term : 1</a:t>
            </a:r>
          </a:p>
        </p:txBody>
      </p:sp>
      <p:cxnSp>
        <p:nvCxnSpPr>
          <p:cNvPr id="44" name="直线箭头连接符 43">
            <a:extLst>
              <a:ext uri="{FF2B5EF4-FFF2-40B4-BE49-F238E27FC236}">
                <a16:creationId xmlns:a16="http://schemas.microsoft.com/office/drawing/2014/main" id="{FC22522B-E221-C145-A7D7-A994333A585D}"/>
              </a:ext>
            </a:extLst>
          </p:cNvPr>
          <p:cNvCxnSpPr>
            <a:cxnSpLocks/>
            <a:stCxn id="38" idx="6"/>
            <a:endCxn id="40" idx="2"/>
          </p:cNvCxnSpPr>
          <p:nvPr/>
        </p:nvCxnSpPr>
        <p:spPr>
          <a:xfrm>
            <a:off x="1933476" y="5587484"/>
            <a:ext cx="2909124" cy="0"/>
          </a:xfrm>
          <a:prstGeom prst="straightConnector1">
            <a:avLst/>
          </a:prstGeom>
          <a:ln w="1905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9" name="直线箭头连接符 48">
            <a:extLst>
              <a:ext uri="{FF2B5EF4-FFF2-40B4-BE49-F238E27FC236}">
                <a16:creationId xmlns:a16="http://schemas.microsoft.com/office/drawing/2014/main" id="{9A5ECD20-CB4A-1649-A7B7-1D7E9615F040}"/>
              </a:ext>
            </a:extLst>
          </p:cNvPr>
          <p:cNvCxnSpPr>
            <a:cxnSpLocks/>
            <a:stCxn id="39" idx="3"/>
            <a:endCxn id="38" idx="7"/>
          </p:cNvCxnSpPr>
          <p:nvPr/>
        </p:nvCxnSpPr>
        <p:spPr>
          <a:xfrm flipH="1">
            <a:off x="1863989" y="4428593"/>
            <a:ext cx="1299963" cy="1001592"/>
          </a:xfrm>
          <a:prstGeom prst="straightConnector1">
            <a:avLst/>
          </a:prstGeom>
          <a:ln w="19050">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矩形 49">
                <a:extLst>
                  <a:ext uri="{FF2B5EF4-FFF2-40B4-BE49-F238E27FC236}">
                    <a16:creationId xmlns:a16="http://schemas.microsoft.com/office/drawing/2014/main" id="{89A4848C-D2C5-8B4D-9A49-9C6FE1B7EC1A}"/>
                  </a:ext>
                </a:extLst>
              </p:cNvPr>
              <p:cNvSpPr/>
              <p:nvPr/>
            </p:nvSpPr>
            <p:spPr>
              <a:xfrm>
                <a:off x="1072123" y="4368052"/>
                <a:ext cx="1627369" cy="584775"/>
              </a:xfrm>
              <a:prstGeom prst="rect">
                <a:avLst/>
              </a:prstGeom>
            </p:spPr>
            <p:txBody>
              <a:bodyPr wrap="none">
                <a:spAutoFit/>
              </a:bodyPr>
              <a:lstStyle/>
              <a:p>
                <a:r>
                  <a:rPr lang="en-US" altLang="zh-CN" sz="1600" dirty="0">
                    <a:solidFill>
                      <a:schemeClr val="tx1">
                        <a:lumMod val="75000"/>
                        <a:lumOff val="25000"/>
                      </a:schemeClr>
                    </a:solidFill>
                    <a:latin typeface="Microsoft YaHei" panose="020B0503020204020204" pitchFamily="34" charset="-122"/>
                    <a:ea typeface="Microsoft YaHei" panose="020B0503020204020204" pitchFamily="34" charset="-122"/>
                  </a:rPr>
                  <a:t>AppendEntries</a:t>
                </a:r>
              </a:p>
              <a:p>
                <a:pPr algn="ctr"/>
                <a:r>
                  <a:rPr lang="en-US" altLang="zh-CN" sz="1600" dirty="0">
                    <a:solidFill>
                      <a:schemeClr val="tx1">
                        <a:lumMod val="75000"/>
                        <a:lumOff val="25000"/>
                      </a:schemeClr>
                    </a:solidFill>
                    <a:latin typeface="Microsoft YaHei" panose="020B0503020204020204" pitchFamily="34" charset="-122"/>
                    <a:ea typeface="Microsoft YaHei" panose="020B0503020204020204" pitchFamily="34" charset="-122"/>
                  </a:rPr>
                  <a:t>(</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Microsoft YaHei" panose="020B0503020204020204" pitchFamily="34" charset="-122"/>
                          </a:rPr>
                        </m:ctrlPr>
                      </m:sSubPr>
                      <m:e>
                        <m:r>
                          <a:rPr lang="en-US" altLang="zh-CN" sz="1600" b="0" i="1" dirty="0" smtClean="0">
                            <a:solidFill>
                              <a:schemeClr val="tx1">
                                <a:lumMod val="75000"/>
                                <a:lumOff val="25000"/>
                              </a:schemeClr>
                            </a:solidFill>
                            <a:latin typeface="Cambria Math" panose="02040503050406030204" pitchFamily="18" charset="0"/>
                            <a:ea typeface="Microsoft YaHei" panose="020B0503020204020204" pitchFamily="34" charset="-122"/>
                          </a:rPr>
                          <m:t>𝑇𝑥</m:t>
                        </m:r>
                      </m:e>
                      <m:sub>
                        <m:r>
                          <a:rPr lang="en-US" altLang="zh-CN" sz="1600" b="0" i="1" dirty="0" smtClean="0">
                            <a:solidFill>
                              <a:schemeClr val="tx1">
                                <a:lumMod val="75000"/>
                                <a:lumOff val="25000"/>
                              </a:schemeClr>
                            </a:solidFill>
                            <a:latin typeface="Cambria Math" panose="02040503050406030204" pitchFamily="18" charset="0"/>
                            <a:ea typeface="Microsoft YaHei" panose="020B0503020204020204" pitchFamily="34" charset="-122"/>
                          </a:rPr>
                          <m:t>𝑖</m:t>
                        </m:r>
                        <m:r>
                          <a:rPr lang="en-US" altLang="zh-CN" sz="1600" b="0" i="1" dirty="0" smtClean="0">
                            <a:solidFill>
                              <a:schemeClr val="tx1">
                                <a:lumMod val="75000"/>
                                <a:lumOff val="25000"/>
                              </a:schemeClr>
                            </a:solidFill>
                            <a:latin typeface="Cambria Math" panose="02040503050406030204" pitchFamily="18" charset="0"/>
                            <a:ea typeface="Microsoft YaHei" panose="020B0503020204020204" pitchFamily="34" charset="-122"/>
                          </a:rPr>
                          <m:t>+1</m:t>
                        </m:r>
                      </m:sub>
                    </m:sSub>
                    <m:r>
                      <a:rPr lang="en-US" altLang="zh-CN" sz="1600" b="0" i="1" dirty="0" smtClean="0">
                        <a:solidFill>
                          <a:schemeClr val="tx1">
                            <a:lumMod val="75000"/>
                            <a:lumOff val="25000"/>
                          </a:schemeClr>
                        </a:solidFill>
                        <a:latin typeface="Cambria Math" panose="02040503050406030204" pitchFamily="18" charset="0"/>
                        <a:ea typeface="Microsoft YaHei" panose="020B0503020204020204" pitchFamily="34" charset="-122"/>
                      </a:rPr>
                      <m:t>,1, </m:t>
                    </m:r>
                    <m:sSub>
                      <m:sSubPr>
                        <m:ctrlPr>
                          <a:rPr lang="en-US" altLang="zh-CN" sz="1600" i="1" dirty="0">
                            <a:solidFill>
                              <a:schemeClr val="tx1">
                                <a:lumMod val="75000"/>
                                <a:lumOff val="25000"/>
                              </a:schemeClr>
                            </a:solidFill>
                            <a:latin typeface="Cambria Math" panose="02040503050406030204" pitchFamily="18" charset="0"/>
                            <a:ea typeface="Microsoft YaHei" panose="020B0503020204020204" pitchFamily="34" charset="-122"/>
                          </a:rPr>
                        </m:ctrlPr>
                      </m:sSubPr>
                      <m:e>
                        <m:r>
                          <a:rPr lang="en-US" altLang="zh-CN" sz="1600" i="1" dirty="0">
                            <a:solidFill>
                              <a:schemeClr val="tx1">
                                <a:lumMod val="75000"/>
                                <a:lumOff val="25000"/>
                              </a:schemeClr>
                            </a:solidFill>
                            <a:latin typeface="Cambria Math" panose="02040503050406030204" pitchFamily="18" charset="0"/>
                            <a:ea typeface="Microsoft YaHei" panose="020B0503020204020204" pitchFamily="34" charset="-122"/>
                          </a:rPr>
                          <m:t>𝑇𝑥</m:t>
                        </m:r>
                      </m:e>
                      <m:sub>
                        <m:r>
                          <a:rPr lang="en-US" altLang="zh-CN" sz="1600" i="1" dirty="0">
                            <a:solidFill>
                              <a:schemeClr val="tx1">
                                <a:lumMod val="75000"/>
                                <a:lumOff val="25000"/>
                              </a:schemeClr>
                            </a:solidFill>
                            <a:latin typeface="Cambria Math" panose="02040503050406030204" pitchFamily="18" charset="0"/>
                            <a:ea typeface="Microsoft YaHei" panose="020B0503020204020204" pitchFamily="34" charset="-122"/>
                          </a:rPr>
                          <m:t>𝑖</m:t>
                        </m:r>
                      </m:sub>
                    </m:sSub>
                  </m:oMath>
                </a14:m>
                <a:r>
                  <a:rPr lang="en-US" altLang="zh-CN" sz="1600" dirty="0">
                    <a:solidFill>
                      <a:schemeClr val="tx1">
                        <a:lumMod val="75000"/>
                        <a:lumOff val="25000"/>
                      </a:schemeClr>
                    </a:solidFill>
                    <a:latin typeface="Microsoft YaHei" panose="020B0503020204020204" pitchFamily="34" charset="-122"/>
                    <a:ea typeface="Microsoft YaHei" panose="020B0503020204020204" pitchFamily="34" charset="-122"/>
                  </a:rPr>
                  <a:t>)</a:t>
                </a:r>
                <a:endParaRPr lang="zh-CN" altLang="en-US" sz="1600" dirty="0"/>
              </a:p>
            </p:txBody>
          </p:sp>
        </mc:Choice>
        <mc:Fallback xmlns="">
          <p:sp>
            <p:nvSpPr>
              <p:cNvPr id="50" name="矩形 49">
                <a:extLst>
                  <a:ext uri="{FF2B5EF4-FFF2-40B4-BE49-F238E27FC236}">
                    <a16:creationId xmlns:a16="http://schemas.microsoft.com/office/drawing/2014/main" id="{89A4848C-D2C5-8B4D-9A49-9C6FE1B7EC1A}"/>
                  </a:ext>
                </a:extLst>
              </p:cNvPr>
              <p:cNvSpPr>
                <a:spLocks noRot="1" noChangeAspect="1" noMove="1" noResize="1" noEditPoints="1" noAdjustHandles="1" noChangeArrowheads="1" noChangeShapeType="1" noTextEdit="1"/>
              </p:cNvSpPr>
              <p:nvPr/>
            </p:nvSpPr>
            <p:spPr>
              <a:xfrm>
                <a:off x="1072123" y="4368052"/>
                <a:ext cx="1627369" cy="584775"/>
              </a:xfrm>
              <a:prstGeom prst="rect">
                <a:avLst/>
              </a:prstGeom>
              <a:blipFill>
                <a:blip r:embed="rId3"/>
                <a:stretch>
                  <a:fillRect l="-1550" t="-4348" r="-1550" b="-152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矩形 50">
                <a:extLst>
                  <a:ext uri="{FF2B5EF4-FFF2-40B4-BE49-F238E27FC236}">
                    <a16:creationId xmlns:a16="http://schemas.microsoft.com/office/drawing/2014/main" id="{125F019A-6CFF-AA44-A679-35C632BC650F}"/>
                  </a:ext>
                </a:extLst>
              </p:cNvPr>
              <p:cNvSpPr/>
              <p:nvPr/>
            </p:nvSpPr>
            <p:spPr>
              <a:xfrm>
                <a:off x="2634813" y="5000362"/>
                <a:ext cx="1627369" cy="584775"/>
              </a:xfrm>
              <a:prstGeom prst="rect">
                <a:avLst/>
              </a:prstGeom>
            </p:spPr>
            <p:txBody>
              <a:bodyPr wrap="none">
                <a:spAutoFit/>
              </a:bodyPr>
              <a:lstStyle/>
              <a:p>
                <a:r>
                  <a:rPr lang="en-US" altLang="zh-CN" sz="1600" dirty="0">
                    <a:solidFill>
                      <a:schemeClr val="tx1">
                        <a:lumMod val="75000"/>
                        <a:lumOff val="25000"/>
                      </a:schemeClr>
                    </a:solidFill>
                    <a:latin typeface="Microsoft YaHei" panose="020B0503020204020204" pitchFamily="34" charset="-122"/>
                    <a:ea typeface="Microsoft YaHei" panose="020B0503020204020204" pitchFamily="34" charset="-122"/>
                  </a:rPr>
                  <a:t>AppendEntries</a:t>
                </a:r>
              </a:p>
              <a:p>
                <a:pPr algn="ctr"/>
                <a:r>
                  <a:rPr lang="en-US" altLang="zh-CN" sz="1600" dirty="0">
                    <a:solidFill>
                      <a:schemeClr val="tx1">
                        <a:lumMod val="75000"/>
                        <a:lumOff val="25000"/>
                      </a:schemeClr>
                    </a:solidFill>
                    <a:latin typeface="Microsoft YaHei" panose="020B0503020204020204" pitchFamily="34" charset="-122"/>
                    <a:ea typeface="Microsoft YaHei" panose="020B0503020204020204" pitchFamily="34" charset="-122"/>
                  </a:rPr>
                  <a:t>(</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Microsoft YaHei" panose="020B0503020204020204" pitchFamily="34" charset="-122"/>
                          </a:rPr>
                        </m:ctrlPr>
                      </m:sSubPr>
                      <m:e>
                        <m:r>
                          <a:rPr lang="en-US" altLang="zh-CN" sz="1600" b="0" i="1" dirty="0" smtClean="0">
                            <a:solidFill>
                              <a:schemeClr val="tx1">
                                <a:lumMod val="75000"/>
                                <a:lumOff val="25000"/>
                              </a:schemeClr>
                            </a:solidFill>
                            <a:latin typeface="Cambria Math" panose="02040503050406030204" pitchFamily="18" charset="0"/>
                            <a:ea typeface="Microsoft YaHei" panose="020B0503020204020204" pitchFamily="34" charset="-122"/>
                          </a:rPr>
                          <m:t>𝑇𝑥</m:t>
                        </m:r>
                      </m:e>
                      <m:sub>
                        <m:r>
                          <a:rPr lang="en-US" altLang="zh-CN" sz="1600" b="0" i="1" dirty="0" smtClean="0">
                            <a:solidFill>
                              <a:schemeClr val="tx1">
                                <a:lumMod val="75000"/>
                                <a:lumOff val="25000"/>
                              </a:schemeClr>
                            </a:solidFill>
                            <a:latin typeface="Cambria Math" panose="02040503050406030204" pitchFamily="18" charset="0"/>
                            <a:ea typeface="Microsoft YaHei" panose="020B0503020204020204" pitchFamily="34" charset="-122"/>
                          </a:rPr>
                          <m:t>𝑖</m:t>
                        </m:r>
                        <m:r>
                          <a:rPr lang="en-US" altLang="zh-CN" sz="1600" b="0" i="1" dirty="0" smtClean="0">
                            <a:solidFill>
                              <a:schemeClr val="tx1">
                                <a:lumMod val="75000"/>
                                <a:lumOff val="25000"/>
                              </a:schemeClr>
                            </a:solidFill>
                            <a:latin typeface="Cambria Math" panose="02040503050406030204" pitchFamily="18" charset="0"/>
                            <a:ea typeface="Microsoft YaHei" panose="020B0503020204020204" pitchFamily="34" charset="-122"/>
                          </a:rPr>
                          <m:t>+1</m:t>
                        </m:r>
                      </m:sub>
                    </m:sSub>
                    <m:r>
                      <a:rPr lang="en-US" altLang="zh-CN" sz="1600" b="0" i="1" dirty="0" smtClean="0">
                        <a:solidFill>
                          <a:schemeClr val="tx1">
                            <a:lumMod val="75000"/>
                            <a:lumOff val="25000"/>
                          </a:schemeClr>
                        </a:solidFill>
                        <a:latin typeface="Cambria Math" panose="02040503050406030204" pitchFamily="18" charset="0"/>
                        <a:ea typeface="Microsoft YaHei" panose="020B0503020204020204" pitchFamily="34" charset="-122"/>
                      </a:rPr>
                      <m:t>,1,</m:t>
                    </m:r>
                    <m:sSub>
                      <m:sSubPr>
                        <m:ctrlPr>
                          <a:rPr lang="en-US" altLang="zh-CN" sz="1600" i="1" dirty="0">
                            <a:solidFill>
                              <a:schemeClr val="tx1">
                                <a:lumMod val="75000"/>
                                <a:lumOff val="25000"/>
                              </a:schemeClr>
                            </a:solidFill>
                            <a:latin typeface="Cambria Math" panose="02040503050406030204" pitchFamily="18" charset="0"/>
                            <a:ea typeface="Microsoft YaHei" panose="020B0503020204020204" pitchFamily="34" charset="-122"/>
                          </a:rPr>
                        </m:ctrlPr>
                      </m:sSubPr>
                      <m:e>
                        <m:r>
                          <a:rPr lang="en-US" altLang="zh-CN" sz="1600" i="1" dirty="0">
                            <a:solidFill>
                              <a:schemeClr val="tx1">
                                <a:lumMod val="75000"/>
                                <a:lumOff val="25000"/>
                              </a:schemeClr>
                            </a:solidFill>
                            <a:latin typeface="Cambria Math" panose="02040503050406030204" pitchFamily="18" charset="0"/>
                            <a:ea typeface="Microsoft YaHei" panose="020B0503020204020204" pitchFamily="34" charset="-122"/>
                          </a:rPr>
                          <m:t>𝑇𝑥</m:t>
                        </m:r>
                      </m:e>
                      <m:sub>
                        <m:r>
                          <a:rPr lang="en-US" altLang="zh-CN" sz="1600" i="1" dirty="0">
                            <a:solidFill>
                              <a:schemeClr val="tx1">
                                <a:lumMod val="75000"/>
                                <a:lumOff val="25000"/>
                              </a:schemeClr>
                            </a:solidFill>
                            <a:latin typeface="Cambria Math" panose="02040503050406030204" pitchFamily="18" charset="0"/>
                            <a:ea typeface="Microsoft YaHei" panose="020B0503020204020204" pitchFamily="34" charset="-122"/>
                          </a:rPr>
                          <m:t>𝑖</m:t>
                        </m:r>
                      </m:sub>
                    </m:sSub>
                  </m:oMath>
                </a14:m>
                <a:r>
                  <a:rPr lang="en-US" altLang="zh-CN" sz="1600" dirty="0">
                    <a:solidFill>
                      <a:schemeClr val="tx1">
                        <a:lumMod val="75000"/>
                        <a:lumOff val="25000"/>
                      </a:schemeClr>
                    </a:solidFill>
                    <a:latin typeface="Microsoft YaHei" panose="020B0503020204020204" pitchFamily="34" charset="-122"/>
                    <a:ea typeface="Microsoft YaHei" panose="020B0503020204020204" pitchFamily="34" charset="-122"/>
                  </a:rPr>
                  <a:t>)</a:t>
                </a:r>
                <a:endParaRPr lang="zh-CN" altLang="en-US" sz="1600" dirty="0"/>
              </a:p>
            </p:txBody>
          </p:sp>
        </mc:Choice>
        <mc:Fallback xmlns="">
          <p:sp>
            <p:nvSpPr>
              <p:cNvPr id="51" name="矩形 50">
                <a:extLst>
                  <a:ext uri="{FF2B5EF4-FFF2-40B4-BE49-F238E27FC236}">
                    <a16:creationId xmlns:a16="http://schemas.microsoft.com/office/drawing/2014/main" id="{125F019A-6CFF-AA44-A679-35C632BC650F}"/>
                  </a:ext>
                </a:extLst>
              </p:cNvPr>
              <p:cNvSpPr>
                <a:spLocks noRot="1" noChangeAspect="1" noMove="1" noResize="1" noEditPoints="1" noAdjustHandles="1" noChangeArrowheads="1" noChangeShapeType="1" noTextEdit="1"/>
              </p:cNvSpPr>
              <p:nvPr/>
            </p:nvSpPr>
            <p:spPr>
              <a:xfrm>
                <a:off x="2634813" y="5000362"/>
                <a:ext cx="1627369" cy="584775"/>
              </a:xfrm>
              <a:prstGeom prst="rect">
                <a:avLst/>
              </a:prstGeom>
              <a:blipFill>
                <a:blip r:embed="rId4"/>
                <a:stretch>
                  <a:fillRect l="-2326" t="-2128" r="-775" b="-12766"/>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9158160B-5CF9-704A-96A8-63AF9BD96B40}"/>
              </a:ext>
            </a:extLst>
          </p:cNvPr>
          <p:cNvPicPr>
            <a:picLocks noChangeAspect="1"/>
          </p:cNvPicPr>
          <p:nvPr/>
        </p:nvPicPr>
        <p:blipFill>
          <a:blip r:embed="rId5"/>
          <a:stretch>
            <a:fillRect/>
          </a:stretch>
        </p:blipFill>
        <p:spPr>
          <a:xfrm>
            <a:off x="6462388" y="1383484"/>
            <a:ext cx="5453434" cy="4412530"/>
          </a:xfrm>
          <a:prstGeom prst="rect">
            <a:avLst/>
          </a:prstGeom>
        </p:spPr>
      </p:pic>
      <mc:AlternateContent xmlns:mc="http://schemas.openxmlformats.org/markup-compatibility/2006" xmlns:a14="http://schemas.microsoft.com/office/drawing/2010/main">
        <mc:Choice Requires="a14">
          <p:sp>
            <p:nvSpPr>
              <p:cNvPr id="33" name="矩形 32">
                <a:extLst>
                  <a:ext uri="{FF2B5EF4-FFF2-40B4-BE49-F238E27FC236}">
                    <a16:creationId xmlns:a16="http://schemas.microsoft.com/office/drawing/2014/main" id="{4F76A2D4-4EFD-A543-A7B6-8551FA12B751}"/>
                  </a:ext>
                </a:extLst>
              </p:cNvPr>
              <p:cNvSpPr/>
              <p:nvPr/>
            </p:nvSpPr>
            <p:spPr>
              <a:xfrm>
                <a:off x="4650870" y="6098205"/>
                <a:ext cx="890437" cy="338554"/>
              </a:xfrm>
              <a:prstGeom prst="rect">
                <a:avLst/>
              </a:prstGeom>
            </p:spPr>
            <p:txBody>
              <a:bodyPr wrap="none">
                <a:spAutoFit/>
              </a:bodyPr>
              <a:lstStyle/>
              <a:p>
                <a:r>
                  <a:rPr lang="zh-CN" altLang="en-US" sz="1600" dirty="0">
                    <a:solidFill>
                      <a:schemeClr val="tx1">
                        <a:lumMod val="75000"/>
                        <a:lumOff val="25000"/>
                      </a:schemeClr>
                    </a:solidFill>
                    <a:latin typeface="Microsoft YaHei" panose="020B0503020204020204" pitchFamily="34" charset="-122"/>
                    <a:ea typeface="Microsoft YaHei" panose="020B0503020204020204" pitchFamily="34" charset="-122"/>
                  </a:rPr>
                  <a:t>提交</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Microsoft YaHei" panose="020B0503020204020204" pitchFamily="34" charset="-122"/>
                          </a:rPr>
                        </m:ctrlPr>
                      </m:sSubPr>
                      <m:e>
                        <m:r>
                          <a:rPr lang="en-US" altLang="zh-CN" sz="1600" b="0" i="1" dirty="0" smtClean="0">
                            <a:solidFill>
                              <a:schemeClr val="tx1">
                                <a:lumMod val="75000"/>
                                <a:lumOff val="25000"/>
                              </a:schemeClr>
                            </a:solidFill>
                            <a:latin typeface="Cambria Math" panose="02040503050406030204" pitchFamily="18" charset="0"/>
                            <a:ea typeface="Microsoft YaHei" panose="020B0503020204020204" pitchFamily="34" charset="-122"/>
                          </a:rPr>
                          <m:t>𝑇𝑥</m:t>
                        </m:r>
                      </m:e>
                      <m:sub>
                        <m:r>
                          <a:rPr lang="en-US" altLang="zh-CN" sz="1600" b="0" i="1" dirty="0" smtClean="0">
                            <a:solidFill>
                              <a:schemeClr val="tx1">
                                <a:lumMod val="75000"/>
                                <a:lumOff val="25000"/>
                              </a:schemeClr>
                            </a:solidFill>
                            <a:latin typeface="Cambria Math" panose="02040503050406030204" pitchFamily="18" charset="0"/>
                            <a:ea typeface="Microsoft YaHei" panose="020B0503020204020204" pitchFamily="34" charset="-122"/>
                          </a:rPr>
                          <m:t>𝑖</m:t>
                        </m:r>
                      </m:sub>
                    </m:sSub>
                  </m:oMath>
                </a14:m>
                <a:endParaRPr lang="zh-CN" altLang="en-US" sz="1600" dirty="0"/>
              </a:p>
            </p:txBody>
          </p:sp>
        </mc:Choice>
        <mc:Fallback xmlns="">
          <p:sp>
            <p:nvSpPr>
              <p:cNvPr id="33" name="矩形 32">
                <a:extLst>
                  <a:ext uri="{FF2B5EF4-FFF2-40B4-BE49-F238E27FC236}">
                    <a16:creationId xmlns:a16="http://schemas.microsoft.com/office/drawing/2014/main" id="{4F76A2D4-4EFD-A543-A7B6-8551FA12B751}"/>
                  </a:ext>
                </a:extLst>
              </p:cNvPr>
              <p:cNvSpPr>
                <a:spLocks noRot="1" noChangeAspect="1" noMove="1" noResize="1" noEditPoints="1" noAdjustHandles="1" noChangeArrowheads="1" noChangeShapeType="1" noTextEdit="1"/>
              </p:cNvSpPr>
              <p:nvPr/>
            </p:nvSpPr>
            <p:spPr>
              <a:xfrm>
                <a:off x="4650870" y="6098205"/>
                <a:ext cx="890437" cy="338554"/>
              </a:xfrm>
              <a:prstGeom prst="rect">
                <a:avLst/>
              </a:prstGeom>
              <a:blipFill>
                <a:blip r:embed="rId6"/>
                <a:stretch>
                  <a:fillRect l="-4225" t="-7407" b="-222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矩形 33">
                <a:extLst>
                  <a:ext uri="{FF2B5EF4-FFF2-40B4-BE49-F238E27FC236}">
                    <a16:creationId xmlns:a16="http://schemas.microsoft.com/office/drawing/2014/main" id="{85DB6523-3FA3-2D41-A1DC-7EB20FE117B5}"/>
                  </a:ext>
                </a:extLst>
              </p:cNvPr>
              <p:cNvSpPr/>
              <p:nvPr/>
            </p:nvSpPr>
            <p:spPr>
              <a:xfrm>
                <a:off x="3649855" y="4102017"/>
                <a:ext cx="890437" cy="338554"/>
              </a:xfrm>
              <a:prstGeom prst="rect">
                <a:avLst/>
              </a:prstGeom>
            </p:spPr>
            <p:txBody>
              <a:bodyPr wrap="none">
                <a:spAutoFit/>
              </a:bodyPr>
              <a:lstStyle/>
              <a:p>
                <a:r>
                  <a:rPr lang="zh-CN" altLang="en-US" sz="1600" dirty="0">
                    <a:solidFill>
                      <a:schemeClr val="tx1">
                        <a:lumMod val="75000"/>
                        <a:lumOff val="25000"/>
                      </a:schemeClr>
                    </a:solidFill>
                    <a:latin typeface="Microsoft YaHei" panose="020B0503020204020204" pitchFamily="34" charset="-122"/>
                    <a:ea typeface="Microsoft YaHei" panose="020B0503020204020204" pitchFamily="34" charset="-122"/>
                  </a:rPr>
                  <a:t>提交</a:t>
                </a:r>
                <a14:m>
                  <m:oMath xmlns:m="http://schemas.openxmlformats.org/officeDocument/2006/math">
                    <m:sSub>
                      <m:sSubPr>
                        <m:ctrlPr>
                          <a:rPr lang="en-US" altLang="zh-CN" sz="1600" i="1" dirty="0" smtClean="0">
                            <a:solidFill>
                              <a:schemeClr val="tx1">
                                <a:lumMod val="75000"/>
                                <a:lumOff val="25000"/>
                              </a:schemeClr>
                            </a:solidFill>
                            <a:latin typeface="Cambria Math" panose="02040503050406030204" pitchFamily="18" charset="0"/>
                            <a:ea typeface="Microsoft YaHei" panose="020B0503020204020204" pitchFamily="34" charset="-122"/>
                          </a:rPr>
                        </m:ctrlPr>
                      </m:sSubPr>
                      <m:e>
                        <m:r>
                          <a:rPr lang="en-US" altLang="zh-CN" sz="1600" b="0" i="1" dirty="0" smtClean="0">
                            <a:solidFill>
                              <a:schemeClr val="tx1">
                                <a:lumMod val="75000"/>
                                <a:lumOff val="25000"/>
                              </a:schemeClr>
                            </a:solidFill>
                            <a:latin typeface="Cambria Math" panose="02040503050406030204" pitchFamily="18" charset="0"/>
                            <a:ea typeface="Microsoft YaHei" panose="020B0503020204020204" pitchFamily="34" charset="-122"/>
                          </a:rPr>
                          <m:t>𝑇𝑥</m:t>
                        </m:r>
                      </m:e>
                      <m:sub>
                        <m:r>
                          <a:rPr lang="en-US" altLang="zh-CN" sz="1600" b="0" i="1" dirty="0" smtClean="0">
                            <a:solidFill>
                              <a:schemeClr val="tx1">
                                <a:lumMod val="75000"/>
                                <a:lumOff val="25000"/>
                              </a:schemeClr>
                            </a:solidFill>
                            <a:latin typeface="Cambria Math" panose="02040503050406030204" pitchFamily="18" charset="0"/>
                            <a:ea typeface="Microsoft YaHei" panose="020B0503020204020204" pitchFamily="34" charset="-122"/>
                          </a:rPr>
                          <m:t>𝑖</m:t>
                        </m:r>
                      </m:sub>
                    </m:sSub>
                  </m:oMath>
                </a14:m>
                <a:endParaRPr lang="zh-CN" altLang="en-US" sz="1600" dirty="0"/>
              </a:p>
            </p:txBody>
          </p:sp>
        </mc:Choice>
        <mc:Fallback xmlns="">
          <p:sp>
            <p:nvSpPr>
              <p:cNvPr id="34" name="矩形 33">
                <a:extLst>
                  <a:ext uri="{FF2B5EF4-FFF2-40B4-BE49-F238E27FC236}">
                    <a16:creationId xmlns:a16="http://schemas.microsoft.com/office/drawing/2014/main" id="{85DB6523-3FA3-2D41-A1DC-7EB20FE117B5}"/>
                  </a:ext>
                </a:extLst>
              </p:cNvPr>
              <p:cNvSpPr>
                <a:spLocks noRot="1" noChangeAspect="1" noMove="1" noResize="1" noEditPoints="1" noAdjustHandles="1" noChangeArrowheads="1" noChangeShapeType="1" noTextEdit="1"/>
              </p:cNvSpPr>
              <p:nvPr/>
            </p:nvSpPr>
            <p:spPr>
              <a:xfrm>
                <a:off x="3649855" y="4102017"/>
                <a:ext cx="890437" cy="338554"/>
              </a:xfrm>
              <a:prstGeom prst="rect">
                <a:avLst/>
              </a:prstGeom>
              <a:blipFill>
                <a:blip r:embed="rId7"/>
                <a:stretch>
                  <a:fillRect l="-4225" t="-7407" b="-22222"/>
                </a:stretch>
              </a:blipFill>
            </p:spPr>
            <p:txBody>
              <a:bodyPr/>
              <a:lstStyle/>
              <a:p>
                <a:r>
                  <a:rPr lang="zh-CN" altLang="en-US">
                    <a:noFill/>
                  </a:rPr>
                  <a:t> </a:t>
                </a:r>
              </a:p>
            </p:txBody>
          </p:sp>
        </mc:Fallback>
      </mc:AlternateContent>
      <p:sp>
        <p:nvSpPr>
          <p:cNvPr id="17" name="灯片编号占位符 2">
            <a:extLst>
              <a:ext uri="{FF2B5EF4-FFF2-40B4-BE49-F238E27FC236}">
                <a16:creationId xmlns:a16="http://schemas.microsoft.com/office/drawing/2014/main" id="{94693A74-278E-8A42-B2AA-82B06829C67C}"/>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73</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168373039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31EE29A1-C89A-8644-9C6C-B4B5595B99BE}"/>
              </a:ext>
            </a:extLst>
          </p:cNvPr>
          <p:cNvSpPr/>
          <p:nvPr/>
        </p:nvSpPr>
        <p:spPr>
          <a:xfrm>
            <a:off x="3792512" y="1518858"/>
            <a:ext cx="8399488" cy="17598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endParaRPr>
          </a:p>
        </p:txBody>
      </p:sp>
      <p:sp>
        <p:nvSpPr>
          <p:cNvPr id="3" name="矩形 2">
            <a:extLst>
              <a:ext uri="{FF2B5EF4-FFF2-40B4-BE49-F238E27FC236}">
                <a16:creationId xmlns:a16="http://schemas.microsoft.com/office/drawing/2014/main" id="{95390BD7-9E9C-0D4E-A92D-6F6196C9DABC}"/>
              </a:ext>
            </a:extLst>
          </p:cNvPr>
          <p:cNvSpPr/>
          <p:nvPr/>
        </p:nvSpPr>
        <p:spPr>
          <a:xfrm>
            <a:off x="0" y="1518857"/>
            <a:ext cx="3312826" cy="1759889"/>
          </a:xfrm>
          <a:prstGeom prst="rect">
            <a:avLst/>
          </a:prstGeom>
          <a:solidFill>
            <a:srgbClr val="521B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4" name="椭圆 3">
            <a:extLst>
              <a:ext uri="{FF2B5EF4-FFF2-40B4-BE49-F238E27FC236}">
                <a16:creationId xmlns:a16="http://schemas.microsoft.com/office/drawing/2014/main" id="{BF9CDFA6-B029-6B4C-B9E4-7CF16FFE8CAE}"/>
              </a:ext>
            </a:extLst>
          </p:cNvPr>
          <p:cNvSpPr/>
          <p:nvPr/>
        </p:nvSpPr>
        <p:spPr>
          <a:xfrm>
            <a:off x="2038665" y="1219057"/>
            <a:ext cx="2353456" cy="2398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6" name="矩形 5">
            <a:extLst>
              <a:ext uri="{FF2B5EF4-FFF2-40B4-BE49-F238E27FC236}">
                <a16:creationId xmlns:a16="http://schemas.microsoft.com/office/drawing/2014/main" id="{10EE77B9-CAAB-9D47-886F-1F13DC4A4E9F}"/>
              </a:ext>
            </a:extLst>
          </p:cNvPr>
          <p:cNvSpPr/>
          <p:nvPr/>
        </p:nvSpPr>
        <p:spPr>
          <a:xfrm>
            <a:off x="4711535" y="2044858"/>
            <a:ext cx="3700052" cy="707886"/>
          </a:xfrm>
          <a:prstGeom prst="rect">
            <a:avLst/>
          </a:prstGeom>
        </p:spPr>
        <p:txBody>
          <a:bodyPr wrap="none">
            <a:spAutoFit/>
          </a:bodyPr>
          <a:lstStyle/>
          <a:p>
            <a:pPr>
              <a:defRPr/>
            </a:pPr>
            <a:r>
              <a:rPr lang="zh-CN" altLang="en-US" sz="4000" b="1" kern="100" dirty="0">
                <a:solidFill>
                  <a:prstClr val="white"/>
                </a:solidFill>
                <a:latin typeface="Microsoft YaHei" panose="020B0503020204020204" pitchFamily="34" charset="-122"/>
                <a:ea typeface="Microsoft YaHei" panose="020B0503020204020204" pitchFamily="34" charset="-122"/>
                <a:cs typeface="Times New Roman" panose="02020603050405020304" pitchFamily="18" charset="0"/>
              </a:rPr>
              <a:t>第</a:t>
            </a:r>
            <a:r>
              <a:rPr lang="en-US" altLang="zh-CN" sz="4000" b="1" kern="100" dirty="0">
                <a:solidFill>
                  <a:prstClr val="white"/>
                </a:solidFill>
                <a:latin typeface="Microsoft YaHei" panose="020B0503020204020204" pitchFamily="34" charset="-122"/>
                <a:ea typeface="Microsoft YaHei" panose="020B0503020204020204" pitchFamily="34" charset="-122"/>
                <a:cs typeface="Times New Roman" panose="02020603050405020304" pitchFamily="18" charset="0"/>
              </a:rPr>
              <a:t>3</a:t>
            </a:r>
            <a:r>
              <a:rPr lang="zh-CN" altLang="en-US" sz="4000" b="1" kern="100" dirty="0">
                <a:solidFill>
                  <a:prstClr val="white"/>
                </a:solidFill>
                <a:latin typeface="Microsoft YaHei" panose="020B0503020204020204" pitchFamily="34" charset="-122"/>
                <a:ea typeface="Microsoft YaHei" panose="020B0503020204020204" pitchFamily="34" charset="-122"/>
                <a:cs typeface="Times New Roman" panose="02020603050405020304" pitchFamily="18" charset="0"/>
              </a:rPr>
              <a:t>節 信任問題</a:t>
            </a:r>
          </a:p>
        </p:txBody>
      </p:sp>
      <p:grpSp>
        <p:nvGrpSpPr>
          <p:cNvPr id="23" name="Group 5">
            <a:extLst>
              <a:ext uri="{FF2B5EF4-FFF2-40B4-BE49-F238E27FC236}">
                <a16:creationId xmlns:a16="http://schemas.microsoft.com/office/drawing/2014/main" id="{A124E9B0-D228-D247-8DB7-D556A9DBB8CF}"/>
              </a:ext>
            </a:extLst>
          </p:cNvPr>
          <p:cNvGrpSpPr/>
          <p:nvPr/>
        </p:nvGrpSpPr>
        <p:grpSpPr>
          <a:xfrm>
            <a:off x="5434508" y="4113282"/>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24" name="Oval 6">
              <a:extLst>
                <a:ext uri="{FF2B5EF4-FFF2-40B4-BE49-F238E27FC236}">
                  <a16:creationId xmlns:a16="http://schemas.microsoft.com/office/drawing/2014/main" id="{F106C430-1007-6B4E-BCEB-9CBD00951ADC}"/>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25" name="Freeform 7">
              <a:extLst>
                <a:ext uri="{FF2B5EF4-FFF2-40B4-BE49-F238E27FC236}">
                  <a16:creationId xmlns:a16="http://schemas.microsoft.com/office/drawing/2014/main" id="{DFC0FDD1-0652-5C48-88AE-4682617C87AE}"/>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26" name="TextBox 9">
            <a:extLst>
              <a:ext uri="{FF2B5EF4-FFF2-40B4-BE49-F238E27FC236}">
                <a16:creationId xmlns:a16="http://schemas.microsoft.com/office/drawing/2014/main" id="{9B0301AD-4E54-6B47-9D1F-2112B1D36AF1}"/>
              </a:ext>
            </a:extLst>
          </p:cNvPr>
          <p:cNvSpPr txBox="1">
            <a:spLocks noChangeArrowheads="1"/>
          </p:cNvSpPr>
          <p:nvPr/>
        </p:nvSpPr>
        <p:spPr bwMode="auto">
          <a:xfrm>
            <a:off x="5892904" y="4086436"/>
            <a:ext cx="1415772" cy="461665"/>
          </a:xfrm>
          <a:prstGeom prst="rect">
            <a:avLst/>
          </a:prstGeom>
          <a:noFill/>
          <a:ln w="9525">
            <a:noFill/>
            <a:miter lim="800000"/>
            <a:headEnd/>
            <a:tailEnd/>
          </a:ln>
        </p:spPr>
        <p:txBody>
          <a:bodyPr wrap="none">
            <a:spAutoFit/>
          </a:bodyPr>
          <a:lstStyle/>
          <a:p>
            <a:pPr>
              <a:defRPr/>
            </a:pPr>
            <a:r>
              <a:rPr lang="zh-CN" altLang="en-US" sz="2400" dirty="0">
                <a:latin typeface="Microsoft YaHei" panose="020B0503020204020204" pitchFamily="34" charset="-122"/>
                <a:ea typeface="Microsoft YaHei" panose="020B0503020204020204" pitchFamily="34" charset="-122"/>
              </a:rPr>
              <a:t>訪問控制</a:t>
            </a:r>
          </a:p>
        </p:txBody>
      </p:sp>
      <p:grpSp>
        <p:nvGrpSpPr>
          <p:cNvPr id="27" name="Group 11">
            <a:extLst>
              <a:ext uri="{FF2B5EF4-FFF2-40B4-BE49-F238E27FC236}">
                <a16:creationId xmlns:a16="http://schemas.microsoft.com/office/drawing/2014/main" id="{D1B093A4-626E-9D44-BA75-D2F9B612F328}"/>
              </a:ext>
            </a:extLst>
          </p:cNvPr>
          <p:cNvGrpSpPr/>
          <p:nvPr/>
        </p:nvGrpSpPr>
        <p:grpSpPr>
          <a:xfrm>
            <a:off x="5434508" y="4688526"/>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28" name="Oval 12">
              <a:extLst>
                <a:ext uri="{FF2B5EF4-FFF2-40B4-BE49-F238E27FC236}">
                  <a16:creationId xmlns:a16="http://schemas.microsoft.com/office/drawing/2014/main" id="{A3B8FEF6-21F2-0A40-B23D-BA32D7DD3463}"/>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29" name="Freeform 13">
              <a:extLst>
                <a:ext uri="{FF2B5EF4-FFF2-40B4-BE49-F238E27FC236}">
                  <a16:creationId xmlns:a16="http://schemas.microsoft.com/office/drawing/2014/main" id="{81EE8B92-F1A9-3B4E-A342-A573286D1E97}"/>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30" name="TextBox 15">
            <a:extLst>
              <a:ext uri="{FF2B5EF4-FFF2-40B4-BE49-F238E27FC236}">
                <a16:creationId xmlns:a16="http://schemas.microsoft.com/office/drawing/2014/main" id="{AB81CDE2-FBAB-EB4F-81B1-BDC2F11131D7}"/>
              </a:ext>
            </a:extLst>
          </p:cNvPr>
          <p:cNvSpPr txBox="1">
            <a:spLocks noChangeArrowheads="1"/>
          </p:cNvSpPr>
          <p:nvPr/>
        </p:nvSpPr>
        <p:spPr bwMode="auto">
          <a:xfrm>
            <a:off x="5892904" y="4664880"/>
            <a:ext cx="2031325" cy="461665"/>
          </a:xfrm>
          <a:prstGeom prst="rect">
            <a:avLst/>
          </a:prstGeom>
          <a:noFill/>
          <a:ln w="9525">
            <a:noFill/>
            <a:miter lim="800000"/>
            <a:headEnd/>
            <a:tailEnd/>
          </a:ln>
        </p:spPr>
        <p:txBody>
          <a:bodyPr wrap="none">
            <a:spAutoFit/>
          </a:bodyPr>
          <a:lstStyle/>
          <a:p>
            <a:pPr>
              <a:defRPr/>
            </a:pPr>
            <a:r>
              <a:rPr lang="zh-CN" altLang="en-US" sz="2400" dirty="0">
                <a:latin typeface="Microsoft YaHei" panose="020B0503020204020204" pitchFamily="34" charset="-122"/>
                <a:ea typeface="Microsoft YaHei" panose="020B0503020204020204" pitchFamily="34" charset="-122"/>
              </a:rPr>
              <a:t>信任評價模型</a:t>
            </a:r>
          </a:p>
        </p:txBody>
      </p:sp>
      <p:grpSp>
        <p:nvGrpSpPr>
          <p:cNvPr id="31" name="Group 17">
            <a:extLst>
              <a:ext uri="{FF2B5EF4-FFF2-40B4-BE49-F238E27FC236}">
                <a16:creationId xmlns:a16="http://schemas.microsoft.com/office/drawing/2014/main" id="{0EA19E80-D427-ED4F-864E-D799B3254AF6}"/>
              </a:ext>
            </a:extLst>
          </p:cNvPr>
          <p:cNvGrpSpPr/>
          <p:nvPr/>
        </p:nvGrpSpPr>
        <p:grpSpPr>
          <a:xfrm>
            <a:off x="5434508" y="5265074"/>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32" name="Oval 18">
              <a:extLst>
                <a:ext uri="{FF2B5EF4-FFF2-40B4-BE49-F238E27FC236}">
                  <a16:creationId xmlns:a16="http://schemas.microsoft.com/office/drawing/2014/main" id="{389945AC-ED8F-2849-8686-F276067125F6}"/>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33" name="Freeform 19">
              <a:extLst>
                <a:ext uri="{FF2B5EF4-FFF2-40B4-BE49-F238E27FC236}">
                  <a16:creationId xmlns:a16="http://schemas.microsoft.com/office/drawing/2014/main" id="{8C2274B4-FC09-D54A-88EB-6D372C7F5BF2}"/>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34" name="TextBox 21">
            <a:extLst>
              <a:ext uri="{FF2B5EF4-FFF2-40B4-BE49-F238E27FC236}">
                <a16:creationId xmlns:a16="http://schemas.microsoft.com/office/drawing/2014/main" id="{F2F85265-8D34-1947-8D96-6C0D240EA158}"/>
              </a:ext>
            </a:extLst>
          </p:cNvPr>
          <p:cNvSpPr txBox="1"/>
          <p:nvPr/>
        </p:nvSpPr>
        <p:spPr bwMode="auto">
          <a:xfrm>
            <a:off x="5892903" y="5244628"/>
            <a:ext cx="1723549" cy="461665"/>
          </a:xfrm>
          <a:prstGeom prst="rect">
            <a:avLst/>
          </a:prstGeom>
          <a:noFill/>
        </p:spPr>
        <p:txBody>
          <a:bodyPr wrap="none">
            <a:spAutoFit/>
          </a:bodyPr>
          <a:lstStyle/>
          <a:p>
            <a:pPr>
              <a:defRPr/>
            </a:pPr>
            <a:r>
              <a:rPr lang="zh-CN" altLang="en-US" sz="2400" dirty="0">
                <a:latin typeface="Microsoft YaHei" panose="020B0503020204020204" pitchFamily="34" charset="-122"/>
                <a:ea typeface="Microsoft YaHei" panose="020B0503020204020204" pitchFamily="34" charset="-122"/>
              </a:rPr>
              <a:t>拜占庭容錯</a:t>
            </a:r>
          </a:p>
        </p:txBody>
      </p:sp>
      <p:pic>
        <p:nvPicPr>
          <p:cNvPr id="19" name="图片 18">
            <a:extLst>
              <a:ext uri="{FF2B5EF4-FFF2-40B4-BE49-F238E27FC236}">
                <a16:creationId xmlns:a16="http://schemas.microsoft.com/office/drawing/2014/main" id="{686F01F4-6713-8E4C-999F-9CB20437B8F8}"/>
              </a:ext>
            </a:extLst>
          </p:cNvPr>
          <p:cNvPicPr>
            <a:picLocks noChangeAspect="1"/>
          </p:cNvPicPr>
          <p:nvPr/>
        </p:nvPicPr>
        <p:blipFill>
          <a:blip r:embed="rId3"/>
          <a:stretch>
            <a:fillRect/>
          </a:stretch>
        </p:blipFill>
        <p:spPr>
          <a:xfrm>
            <a:off x="2107662" y="1303280"/>
            <a:ext cx="2220910" cy="2209943"/>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89269143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27F356-9B72-834F-8D38-3D9EDAF129D0}"/>
              </a:ext>
            </a:extLst>
          </p:cNvPr>
          <p:cNvSpPr>
            <a:spLocks noGrp="1"/>
          </p:cNvSpPr>
          <p:nvPr>
            <p:ph type="title"/>
          </p:nvPr>
        </p:nvSpPr>
        <p:spPr/>
        <p:txBody>
          <a:bodyPr/>
          <a:lstStyle/>
          <a:p>
            <a:r>
              <a:rPr kumimoji="1" lang="zh-CN" altLang="en-US" dirty="0"/>
              <a:t>零信任網絡</a:t>
            </a:r>
          </a:p>
        </p:txBody>
      </p:sp>
      <p:sp>
        <p:nvSpPr>
          <p:cNvPr id="4" name="内容占位符 2">
            <a:extLst>
              <a:ext uri="{FF2B5EF4-FFF2-40B4-BE49-F238E27FC236}">
                <a16:creationId xmlns:a16="http://schemas.microsoft.com/office/drawing/2014/main" id="{92775A46-1BF9-4A4D-9A28-6597237F02C0}"/>
              </a:ext>
            </a:extLst>
          </p:cNvPr>
          <p:cNvSpPr txBox="1">
            <a:spLocks/>
          </p:cNvSpPr>
          <p:nvPr/>
        </p:nvSpPr>
        <p:spPr>
          <a:xfrm>
            <a:off x="558866" y="1743321"/>
            <a:ext cx="7140382" cy="3475617"/>
          </a:xfrm>
          <a:prstGeom prst="rect">
            <a:avLst/>
          </a:prstGeom>
          <a:ln>
            <a:solidFill>
              <a:srgbClr val="00B0F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sz="2400" dirty="0">
                <a:latin typeface="Microsoft YaHei" panose="020B0503020204020204" pitchFamily="34" charset="-122"/>
                <a:ea typeface="Microsoft YaHei" panose="020B0503020204020204" pitchFamily="34" charset="-122"/>
              </a:rPr>
              <a:t>零信任模型不依靠建立隔離墻來保護可信的資源，而是接受“不可信”或“壞人”無處不在的現實，試圖讓全體資源都擁有自保的能力</a:t>
            </a:r>
            <a:endParaRPr lang="en-US" altLang="zh-CN" sz="2400" dirty="0">
              <a:latin typeface="Microsoft YaHei" panose="020B0503020204020204" pitchFamily="34" charset="-122"/>
              <a:ea typeface="Microsoft YaHei" panose="020B0503020204020204" pitchFamily="34" charset="-122"/>
            </a:endParaRPr>
          </a:p>
          <a:p>
            <a:pPr>
              <a:lnSpc>
                <a:spcPct val="150000"/>
              </a:lnSpc>
            </a:pPr>
            <a:r>
              <a:rPr lang="zh-CN" altLang="en-US" sz="2400" dirty="0">
                <a:latin typeface="Microsoft YaHei" panose="020B0503020204020204" pitchFamily="34" charset="-122"/>
                <a:ea typeface="Microsoft YaHei" panose="020B0503020204020204" pitchFamily="34" charset="-122"/>
              </a:rPr>
              <a:t>零信任默認不應該信任企業網絡內部和外部的任何人</a:t>
            </a:r>
            <a:r>
              <a:rPr lang="en-US" altLang="zh-CN" sz="2400" dirty="0">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設備</a:t>
            </a:r>
            <a:r>
              <a:rPr lang="en-US" altLang="zh-CN" sz="2400" dirty="0">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應用，需要基于認證和授權重構訪問控制的信任基礎</a:t>
            </a:r>
          </a:p>
        </p:txBody>
      </p:sp>
      <p:sp>
        <p:nvSpPr>
          <p:cNvPr id="8" name="矩形 7">
            <a:extLst>
              <a:ext uri="{FF2B5EF4-FFF2-40B4-BE49-F238E27FC236}">
                <a16:creationId xmlns:a16="http://schemas.microsoft.com/office/drawing/2014/main" id="{5BE87ADF-1AA8-7B40-AF80-4CF2F52777A6}"/>
              </a:ext>
            </a:extLst>
          </p:cNvPr>
          <p:cNvSpPr/>
          <p:nvPr/>
        </p:nvSpPr>
        <p:spPr>
          <a:xfrm>
            <a:off x="453100" y="1101595"/>
            <a:ext cx="10900700" cy="523220"/>
          </a:xfrm>
          <a:prstGeom prst="rect">
            <a:avLst/>
          </a:prstGeom>
        </p:spPr>
        <p:txBody>
          <a:bodyPr wrap="square">
            <a:spAutoFit/>
          </a:bodyPr>
          <a:lstStyle/>
          <a:p>
            <a:pPr algn="ctr"/>
            <a:r>
              <a:rPr lang="zh-CN" altLang="en-US" sz="2800" b="1" dirty="0">
                <a:solidFill>
                  <a:srgbClr val="C00000"/>
                </a:solidFill>
                <a:latin typeface="Microsoft YaHei" panose="020B0503020204020204" pitchFamily="34" charset="-122"/>
                <a:ea typeface="Microsoft YaHei" panose="020B0503020204020204" pitchFamily="34" charset="-122"/>
              </a:rPr>
              <a:t>“從來不信任，始終在校驗”（</a:t>
            </a:r>
            <a:r>
              <a:rPr lang="en-US" altLang="zh-CN" sz="2800" b="1" dirty="0">
                <a:solidFill>
                  <a:srgbClr val="C00000"/>
                </a:solidFill>
                <a:latin typeface="Microsoft YaHei" panose="020B0503020204020204" pitchFamily="34" charset="-122"/>
                <a:ea typeface="Microsoft YaHei" panose="020B0503020204020204" pitchFamily="34" charset="-122"/>
              </a:rPr>
              <a:t>Never Trust, Always Verify</a:t>
            </a:r>
            <a:r>
              <a:rPr lang="zh-CN" altLang="en-US" sz="2800" b="1" dirty="0">
                <a:solidFill>
                  <a:srgbClr val="C00000"/>
                </a:solidFill>
                <a:latin typeface="Microsoft YaHei" panose="020B0503020204020204" pitchFamily="34" charset="-122"/>
                <a:ea typeface="Microsoft YaHei" panose="020B0503020204020204" pitchFamily="34" charset="-122"/>
              </a:rPr>
              <a:t>）</a:t>
            </a:r>
          </a:p>
        </p:txBody>
      </p:sp>
      <p:sp>
        <p:nvSpPr>
          <p:cNvPr id="9" name="矩形 8">
            <a:extLst>
              <a:ext uri="{FF2B5EF4-FFF2-40B4-BE49-F238E27FC236}">
                <a16:creationId xmlns:a16="http://schemas.microsoft.com/office/drawing/2014/main" id="{0448A4FA-7587-9B46-9F09-4D2A96A94628}"/>
              </a:ext>
            </a:extLst>
          </p:cNvPr>
          <p:cNvSpPr/>
          <p:nvPr/>
        </p:nvSpPr>
        <p:spPr>
          <a:xfrm>
            <a:off x="558866" y="5429250"/>
            <a:ext cx="11074268" cy="990600"/>
          </a:xfrm>
          <a:prstGeom prst="rect">
            <a:avLst/>
          </a:prstGeom>
          <a:solidFill>
            <a:srgbClr val="00B0F0"/>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ctr"/>
            <a:r>
              <a:rPr lang="zh-CN" altLang="en-US" sz="2400" b="1" dirty="0">
                <a:solidFill>
                  <a:schemeClr val="bg1"/>
                </a:solidFill>
                <a:latin typeface="Microsoft YaHei" panose="020B0503020204020204" pitchFamily="34" charset="-122"/>
                <a:ea typeface="Microsoft YaHei" panose="020B0503020204020204" pitchFamily="34" charset="-122"/>
              </a:rPr>
              <a:t>零信任對傳統訪問控制機制進行了範式上的顛覆</a:t>
            </a:r>
            <a:endParaRPr lang="en-US" altLang="zh-CN" sz="2400" b="1" dirty="0">
              <a:solidFill>
                <a:schemeClr val="bg1"/>
              </a:solidFill>
              <a:latin typeface="Microsoft YaHei" panose="020B0503020204020204" pitchFamily="34" charset="-122"/>
              <a:ea typeface="Microsoft YaHei" panose="020B0503020204020204" pitchFamily="34" charset="-122"/>
            </a:endParaRPr>
          </a:p>
          <a:p>
            <a:pPr algn="ctr"/>
            <a:r>
              <a:rPr lang="zh-CN" altLang="en-US" sz="2400" b="1" dirty="0">
                <a:solidFill>
                  <a:schemeClr val="bg1"/>
                </a:solidFill>
                <a:latin typeface="Microsoft YaHei" panose="020B0503020204020204" pitchFamily="34" charset="-122"/>
                <a:ea typeface="Microsoft YaHei" panose="020B0503020204020204" pitchFamily="34" charset="-122"/>
              </a:rPr>
              <a:t>其本質是以身份爲基石的動態可信訪問控制</a:t>
            </a:r>
          </a:p>
        </p:txBody>
      </p:sp>
      <p:pic>
        <p:nvPicPr>
          <p:cNvPr id="10" name="图片 9"/>
          <p:cNvPicPr>
            <a:picLocks noChangeAspect="1"/>
          </p:cNvPicPr>
          <p:nvPr/>
        </p:nvPicPr>
        <p:blipFill>
          <a:blip r:embed="rId3"/>
          <a:stretch>
            <a:fillRect/>
          </a:stretch>
        </p:blipFill>
        <p:spPr>
          <a:xfrm>
            <a:off x="7915702" y="2264452"/>
            <a:ext cx="3735118" cy="2193553"/>
          </a:xfrm>
          <a:prstGeom prst="rect">
            <a:avLst/>
          </a:prstGeom>
        </p:spPr>
      </p:pic>
      <p:sp>
        <p:nvSpPr>
          <p:cNvPr id="5" name="灯片编号占位符 4"/>
          <p:cNvSpPr>
            <a:spLocks noGrp="1"/>
          </p:cNvSpPr>
          <p:nvPr>
            <p:ph type="sldNum" sz="quarter" idx="4"/>
          </p:nvPr>
        </p:nvSpPr>
        <p:spPr/>
        <p:txBody>
          <a:bodyPr/>
          <a:lstStyle/>
          <a:p>
            <a:fld id="{015CE2E0-6DDF-4FAE-9DBA-F1C48BF5C133}" type="slidenum">
              <a:rPr lang="zh-CN" altLang="en-US" smtClean="0"/>
              <a:t>75</a:t>
            </a:fld>
            <a:endParaRPr lang="zh-CN" altLang="en-US" dirty="0"/>
          </a:p>
        </p:txBody>
      </p:sp>
    </p:spTree>
    <p:extLst>
      <p:ext uri="{BB962C8B-B14F-4D97-AF65-F5344CB8AC3E}">
        <p14:creationId xmlns:p14="http://schemas.microsoft.com/office/powerpoint/2010/main" val="173185219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零信任下訪問的基本流程</a:t>
            </a:r>
          </a:p>
        </p:txBody>
      </p:sp>
      <p:sp>
        <p:nvSpPr>
          <p:cNvPr id="8" name="内容占位符 2">
            <a:extLst>
              <a:ext uri="{FF2B5EF4-FFF2-40B4-BE49-F238E27FC236}">
                <a16:creationId xmlns:a16="http://schemas.microsoft.com/office/drawing/2014/main" id="{1085AA17-AE49-2C45-8F9C-EBE3EE23BF00}"/>
              </a:ext>
            </a:extLst>
          </p:cNvPr>
          <p:cNvSpPr txBox="1">
            <a:spLocks/>
          </p:cNvSpPr>
          <p:nvPr/>
        </p:nvSpPr>
        <p:spPr>
          <a:xfrm>
            <a:off x="917263" y="1210438"/>
            <a:ext cx="5635378" cy="5112960"/>
          </a:xfrm>
          <a:prstGeom prst="rect">
            <a:avLst/>
          </a:prstGeom>
          <a:ln>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3600"/>
              </a:lnSpc>
              <a:spcBef>
                <a:spcPts val="400"/>
              </a:spcBef>
            </a:pPr>
            <a:r>
              <a:rPr lang="zh-CN" altLang="en-US" sz="2400" dirty="0">
                <a:latin typeface="Microsoft YaHei" panose="020B0503020204020204" pitchFamily="34" charset="-122"/>
                <a:ea typeface="Microsoft YaHei" panose="020B0503020204020204" pitchFamily="34" charset="-122"/>
              </a:rPr>
              <a:t>訪問者發起對服務端的訪問</a:t>
            </a:r>
            <a:endParaRPr lang="en-US" altLang="zh-CN" sz="2400" dirty="0">
              <a:latin typeface="Microsoft YaHei" panose="020B0503020204020204" pitchFamily="34" charset="-122"/>
              <a:ea typeface="Microsoft YaHei" panose="020B0503020204020204" pitchFamily="34" charset="-122"/>
            </a:endParaRPr>
          </a:p>
          <a:p>
            <a:pPr algn="just">
              <a:lnSpc>
                <a:spcPts val="3600"/>
              </a:lnSpc>
              <a:spcBef>
                <a:spcPts val="400"/>
              </a:spcBef>
            </a:pPr>
            <a:endParaRPr lang="en-US" altLang="zh-CN" sz="2400" dirty="0">
              <a:latin typeface="Microsoft YaHei" panose="020B0503020204020204" pitchFamily="34" charset="-122"/>
              <a:ea typeface="Microsoft YaHei" panose="020B0503020204020204" pitchFamily="34" charset="-122"/>
            </a:endParaRPr>
          </a:p>
          <a:p>
            <a:pPr algn="just">
              <a:lnSpc>
                <a:spcPts val="3600"/>
              </a:lnSpc>
              <a:spcBef>
                <a:spcPts val="400"/>
              </a:spcBef>
            </a:pPr>
            <a:r>
              <a:rPr lang="zh-CN" altLang="en-US" sz="2400" dirty="0">
                <a:latin typeface="Microsoft YaHei" panose="020B0503020204020204" pitchFamily="34" charset="-122"/>
                <a:ea typeface="Microsoft YaHei" panose="020B0503020204020204" pitchFamily="34" charset="-122"/>
              </a:rPr>
              <a:t>服務端收到訪問指令後對其進行驗證，主要包含以下兩個步驟</a:t>
            </a:r>
            <a:endParaRPr lang="en-US" altLang="zh-CN" sz="2400" dirty="0">
              <a:latin typeface="Microsoft YaHei" panose="020B0503020204020204" pitchFamily="34" charset="-122"/>
              <a:ea typeface="Microsoft YaHei" panose="020B0503020204020204" pitchFamily="34" charset="-122"/>
            </a:endParaRPr>
          </a:p>
          <a:p>
            <a:pPr marL="684900" indent="-342900" algn="just">
              <a:lnSpc>
                <a:spcPts val="3600"/>
              </a:lnSpc>
              <a:spcBef>
                <a:spcPts val="400"/>
              </a:spcBef>
            </a:pPr>
            <a:r>
              <a:rPr lang="zh-CN" altLang="en-US" sz="2400" dirty="0">
                <a:latin typeface="Microsoft YaHei" panose="020B0503020204020204" pitchFamily="34" charset="-122"/>
                <a:ea typeface="Microsoft YaHei" panose="020B0503020204020204" pitchFamily="34" charset="-122"/>
              </a:rPr>
              <a:t>請求身份認證模塊驗證訪問者身份</a:t>
            </a:r>
            <a:endParaRPr lang="en-US" altLang="zh-CN" sz="2400" dirty="0">
              <a:latin typeface="Microsoft YaHei" panose="020B0503020204020204" pitchFamily="34" charset="-122"/>
              <a:ea typeface="Microsoft YaHei" panose="020B0503020204020204" pitchFamily="34" charset="-122"/>
            </a:endParaRPr>
          </a:p>
          <a:p>
            <a:pPr marL="684900" indent="-342900" algn="just">
              <a:lnSpc>
                <a:spcPts val="3600"/>
              </a:lnSpc>
              <a:spcBef>
                <a:spcPts val="400"/>
              </a:spcBef>
            </a:pPr>
            <a:r>
              <a:rPr lang="zh-CN" altLang="en-US" sz="2400" dirty="0">
                <a:latin typeface="Microsoft YaHei" panose="020B0503020204020204" pitchFamily="34" charset="-122"/>
                <a:ea typeface="Microsoft YaHei" panose="020B0503020204020204" pitchFamily="34" charset="-122"/>
              </a:rPr>
              <a:t>根據身份以及被訪問資源請求訪問控制模塊判斷訪問者是否存在權限</a:t>
            </a:r>
            <a:endParaRPr lang="en-US" altLang="zh-CN" sz="2400" dirty="0">
              <a:latin typeface="Microsoft YaHei" panose="020B0503020204020204" pitchFamily="34" charset="-122"/>
              <a:ea typeface="Microsoft YaHei" panose="020B0503020204020204" pitchFamily="34" charset="-122"/>
            </a:endParaRPr>
          </a:p>
          <a:p>
            <a:pPr marL="684900" indent="-342900" algn="just">
              <a:lnSpc>
                <a:spcPts val="3600"/>
              </a:lnSpc>
              <a:spcBef>
                <a:spcPts val="400"/>
              </a:spcBef>
            </a:pPr>
            <a:endParaRPr lang="en-US" altLang="zh-CN" sz="2400" dirty="0">
              <a:latin typeface="Microsoft YaHei" panose="020B0503020204020204" pitchFamily="34" charset="-122"/>
              <a:ea typeface="Microsoft YaHei" panose="020B0503020204020204" pitchFamily="34" charset="-122"/>
            </a:endParaRPr>
          </a:p>
          <a:p>
            <a:pPr algn="just">
              <a:lnSpc>
                <a:spcPts val="3600"/>
              </a:lnSpc>
              <a:spcBef>
                <a:spcPts val="400"/>
              </a:spcBef>
            </a:pPr>
            <a:r>
              <a:rPr lang="zh-CN" altLang="en-US" sz="2400" dirty="0">
                <a:latin typeface="Microsoft YaHei" panose="020B0503020204020204" pitchFamily="34" charset="-122"/>
                <a:ea typeface="Microsoft YaHei" panose="020B0503020204020204" pitchFamily="34" charset="-122"/>
              </a:rPr>
              <a:t>若驗證都通過後，服務端允許此次訪問，幷返回訪問結果</a:t>
            </a:r>
          </a:p>
        </p:txBody>
      </p:sp>
      <p:pic>
        <p:nvPicPr>
          <p:cNvPr id="17" name="图形 16" descr="Internet">
            <a:extLst>
              <a:ext uri="{FF2B5EF4-FFF2-40B4-BE49-F238E27FC236}">
                <a16:creationId xmlns:a16="http://schemas.microsoft.com/office/drawing/2014/main" id="{55A2C072-5523-7742-920A-A3C611CC034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31636" y="3377292"/>
            <a:ext cx="956653" cy="910022"/>
          </a:xfrm>
          <a:prstGeom prst="rect">
            <a:avLst/>
          </a:prstGeom>
        </p:spPr>
      </p:pic>
      <p:pic>
        <p:nvPicPr>
          <p:cNvPr id="20" name="图片 19">
            <a:extLst>
              <a:ext uri="{FF2B5EF4-FFF2-40B4-BE49-F238E27FC236}">
                <a16:creationId xmlns:a16="http://schemas.microsoft.com/office/drawing/2014/main" id="{533346B5-F4FF-0049-86DD-B50C79FFF317}"/>
              </a:ext>
            </a:extLst>
          </p:cNvPr>
          <p:cNvPicPr>
            <a:picLocks noChangeAspect="1"/>
          </p:cNvPicPr>
          <p:nvPr/>
        </p:nvPicPr>
        <p:blipFill>
          <a:blip r:embed="rId4"/>
          <a:stretch>
            <a:fillRect/>
          </a:stretch>
        </p:blipFill>
        <p:spPr>
          <a:xfrm>
            <a:off x="11073115" y="3433077"/>
            <a:ext cx="586364" cy="798452"/>
          </a:xfrm>
          <a:prstGeom prst="rect">
            <a:avLst/>
          </a:prstGeom>
        </p:spPr>
      </p:pic>
      <p:cxnSp>
        <p:nvCxnSpPr>
          <p:cNvPr id="21" name="直线箭头连接符 20">
            <a:extLst>
              <a:ext uri="{FF2B5EF4-FFF2-40B4-BE49-F238E27FC236}">
                <a16:creationId xmlns:a16="http://schemas.microsoft.com/office/drawing/2014/main" id="{DB784159-9F72-AD46-94FE-D3A75E037251}"/>
              </a:ext>
            </a:extLst>
          </p:cNvPr>
          <p:cNvCxnSpPr>
            <a:cxnSpLocks/>
          </p:cNvCxnSpPr>
          <p:nvPr/>
        </p:nvCxnSpPr>
        <p:spPr>
          <a:xfrm>
            <a:off x="8012924" y="3716126"/>
            <a:ext cx="2801955" cy="0"/>
          </a:xfrm>
          <a:prstGeom prst="straightConnector1">
            <a:avLst/>
          </a:prstGeom>
          <a:ln w="1905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5" name="直线箭头连接符 24">
            <a:extLst>
              <a:ext uri="{FF2B5EF4-FFF2-40B4-BE49-F238E27FC236}">
                <a16:creationId xmlns:a16="http://schemas.microsoft.com/office/drawing/2014/main" id="{897EEA2F-165F-5F43-980F-9E9C30A065E0}"/>
              </a:ext>
            </a:extLst>
          </p:cNvPr>
          <p:cNvCxnSpPr>
            <a:cxnSpLocks/>
            <a:endCxn id="20" idx="0"/>
          </p:cNvCxnSpPr>
          <p:nvPr/>
        </p:nvCxnSpPr>
        <p:spPr>
          <a:xfrm>
            <a:off x="9954455" y="2037993"/>
            <a:ext cx="1411842" cy="1395084"/>
          </a:xfrm>
          <a:prstGeom prst="straightConnector1">
            <a:avLst/>
          </a:prstGeom>
          <a:ln w="1905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6" name="直线箭头连接符 25">
            <a:extLst>
              <a:ext uri="{FF2B5EF4-FFF2-40B4-BE49-F238E27FC236}">
                <a16:creationId xmlns:a16="http://schemas.microsoft.com/office/drawing/2014/main" id="{28225992-2F3F-5A49-B564-C16D3912D05F}"/>
              </a:ext>
            </a:extLst>
          </p:cNvPr>
          <p:cNvCxnSpPr>
            <a:cxnSpLocks/>
          </p:cNvCxnSpPr>
          <p:nvPr/>
        </p:nvCxnSpPr>
        <p:spPr>
          <a:xfrm flipH="1" flipV="1">
            <a:off x="9698533" y="2201490"/>
            <a:ext cx="1464006" cy="1365830"/>
          </a:xfrm>
          <a:prstGeom prst="straightConnector1">
            <a:avLst/>
          </a:prstGeom>
          <a:ln w="19050">
            <a:headEnd type="none"/>
            <a:tailEnd type="triangle"/>
          </a:ln>
        </p:spPr>
        <p:style>
          <a:lnRef idx="1">
            <a:schemeClr val="accent1"/>
          </a:lnRef>
          <a:fillRef idx="0">
            <a:schemeClr val="accent1"/>
          </a:fillRef>
          <a:effectRef idx="0">
            <a:schemeClr val="accent1"/>
          </a:effectRef>
          <a:fontRef idx="minor">
            <a:schemeClr val="tx1"/>
          </a:fontRef>
        </p:style>
      </p:cxnSp>
      <p:grpSp>
        <p:nvGrpSpPr>
          <p:cNvPr id="29" name="组合 28">
            <a:extLst>
              <a:ext uri="{FF2B5EF4-FFF2-40B4-BE49-F238E27FC236}">
                <a16:creationId xmlns:a16="http://schemas.microsoft.com/office/drawing/2014/main" id="{50B9B09A-9304-AD4B-ACD0-C39E64B8E584}"/>
              </a:ext>
            </a:extLst>
          </p:cNvPr>
          <p:cNvGrpSpPr/>
          <p:nvPr/>
        </p:nvGrpSpPr>
        <p:grpSpPr>
          <a:xfrm>
            <a:off x="8550705" y="927168"/>
            <a:ext cx="1415772" cy="1110825"/>
            <a:chOff x="8550705" y="2372917"/>
            <a:chExt cx="1415772" cy="1110825"/>
          </a:xfrm>
        </p:grpSpPr>
        <p:pic>
          <p:nvPicPr>
            <p:cNvPr id="16" name="图片 15">
              <a:extLst>
                <a:ext uri="{FF2B5EF4-FFF2-40B4-BE49-F238E27FC236}">
                  <a16:creationId xmlns:a16="http://schemas.microsoft.com/office/drawing/2014/main" id="{93B170F3-96B1-424E-865E-9BC66DCCDAFF}"/>
                </a:ext>
              </a:extLst>
            </p:cNvPr>
            <p:cNvPicPr>
              <a:picLocks noChangeAspect="1"/>
            </p:cNvPicPr>
            <p:nvPr/>
          </p:nvPicPr>
          <p:blipFill>
            <a:blip r:embed="rId4"/>
            <a:stretch>
              <a:fillRect/>
            </a:stretch>
          </p:blipFill>
          <p:spPr>
            <a:xfrm>
              <a:off x="8965409" y="2372917"/>
              <a:ext cx="586364" cy="798452"/>
            </a:xfrm>
            <a:prstGeom prst="rect">
              <a:avLst/>
            </a:prstGeom>
          </p:spPr>
        </p:pic>
        <p:sp>
          <p:nvSpPr>
            <p:cNvPr id="15" name="矩形 14">
              <a:extLst>
                <a:ext uri="{FF2B5EF4-FFF2-40B4-BE49-F238E27FC236}">
                  <a16:creationId xmlns:a16="http://schemas.microsoft.com/office/drawing/2014/main" id="{ED505F9E-290B-2642-B4DB-5D0AC1BDD6A6}"/>
                </a:ext>
              </a:extLst>
            </p:cNvPr>
            <p:cNvSpPr/>
            <p:nvPr/>
          </p:nvSpPr>
          <p:spPr>
            <a:xfrm>
              <a:off x="8550705" y="3145188"/>
              <a:ext cx="1415772" cy="338554"/>
            </a:xfrm>
            <a:prstGeom prst="rect">
              <a:avLst/>
            </a:prstGeom>
          </p:spPr>
          <p:txBody>
            <a:bodyPr wrap="none">
              <a:spAutoFit/>
            </a:bodyPr>
            <a:lstStyle/>
            <a:p>
              <a:r>
                <a:rPr lang="zh-CN" altLang="en-US" sz="1600" dirty="0">
                  <a:latin typeface="Microsoft YaHei" panose="020B0503020204020204" pitchFamily="34" charset="-122"/>
                  <a:ea typeface="Microsoft YaHei" panose="020B0503020204020204" pitchFamily="34" charset="-122"/>
                </a:rPr>
                <a:t>身份認證模塊</a:t>
              </a:r>
              <a:endParaRPr lang="zh-CN" altLang="en-US" sz="1600" dirty="0"/>
            </a:p>
          </p:txBody>
        </p:sp>
      </p:grpSp>
      <p:grpSp>
        <p:nvGrpSpPr>
          <p:cNvPr id="28" name="组合 27">
            <a:extLst>
              <a:ext uri="{FF2B5EF4-FFF2-40B4-BE49-F238E27FC236}">
                <a16:creationId xmlns:a16="http://schemas.microsoft.com/office/drawing/2014/main" id="{59F89215-A9FF-F940-9B83-51F9AE6E3E6B}"/>
              </a:ext>
            </a:extLst>
          </p:cNvPr>
          <p:cNvGrpSpPr/>
          <p:nvPr/>
        </p:nvGrpSpPr>
        <p:grpSpPr>
          <a:xfrm>
            <a:off x="8706015" y="5600288"/>
            <a:ext cx="1415772" cy="1152618"/>
            <a:chOff x="8706015" y="5600288"/>
            <a:chExt cx="1415772" cy="1152618"/>
          </a:xfrm>
        </p:grpSpPr>
        <p:pic>
          <p:nvPicPr>
            <p:cNvPr id="19" name="图片 18">
              <a:extLst>
                <a:ext uri="{FF2B5EF4-FFF2-40B4-BE49-F238E27FC236}">
                  <a16:creationId xmlns:a16="http://schemas.microsoft.com/office/drawing/2014/main" id="{1E2BF6A2-23C7-C247-B9FA-9A5D29A5834B}"/>
                </a:ext>
              </a:extLst>
            </p:cNvPr>
            <p:cNvPicPr>
              <a:picLocks noChangeAspect="1"/>
            </p:cNvPicPr>
            <p:nvPr/>
          </p:nvPicPr>
          <p:blipFill>
            <a:blip r:embed="rId4"/>
            <a:stretch>
              <a:fillRect/>
            </a:stretch>
          </p:blipFill>
          <p:spPr>
            <a:xfrm>
              <a:off x="9112169" y="5600288"/>
              <a:ext cx="586364" cy="798452"/>
            </a:xfrm>
            <a:prstGeom prst="rect">
              <a:avLst/>
            </a:prstGeom>
          </p:spPr>
        </p:pic>
        <p:sp>
          <p:nvSpPr>
            <p:cNvPr id="27" name="矩形 26">
              <a:extLst>
                <a:ext uri="{FF2B5EF4-FFF2-40B4-BE49-F238E27FC236}">
                  <a16:creationId xmlns:a16="http://schemas.microsoft.com/office/drawing/2014/main" id="{8B4A2F30-4D46-7241-922B-99036B52201D}"/>
                </a:ext>
              </a:extLst>
            </p:cNvPr>
            <p:cNvSpPr/>
            <p:nvPr/>
          </p:nvSpPr>
          <p:spPr>
            <a:xfrm>
              <a:off x="8706015" y="6414352"/>
              <a:ext cx="1415772" cy="338554"/>
            </a:xfrm>
            <a:prstGeom prst="rect">
              <a:avLst/>
            </a:prstGeom>
          </p:spPr>
          <p:txBody>
            <a:bodyPr wrap="none">
              <a:spAutoFit/>
            </a:bodyPr>
            <a:lstStyle/>
            <a:p>
              <a:r>
                <a:rPr lang="zh-CN" altLang="en-US" sz="1600" dirty="0">
                  <a:latin typeface="Microsoft YaHei" panose="020B0503020204020204" pitchFamily="34" charset="-122"/>
                  <a:ea typeface="Microsoft YaHei" panose="020B0503020204020204" pitchFamily="34" charset="-122"/>
                </a:rPr>
                <a:t>訪問控制模塊</a:t>
              </a:r>
              <a:endParaRPr lang="zh-CN" altLang="en-US" sz="1600" dirty="0"/>
            </a:p>
          </p:txBody>
        </p:sp>
      </p:grpSp>
      <p:sp>
        <p:nvSpPr>
          <p:cNvPr id="35" name="矩形 34">
            <a:extLst>
              <a:ext uri="{FF2B5EF4-FFF2-40B4-BE49-F238E27FC236}">
                <a16:creationId xmlns:a16="http://schemas.microsoft.com/office/drawing/2014/main" id="{D875CDBA-5EAA-0D44-B5D9-869020AEB3F9}"/>
              </a:ext>
            </a:extLst>
          </p:cNvPr>
          <p:cNvSpPr/>
          <p:nvPr/>
        </p:nvSpPr>
        <p:spPr>
          <a:xfrm>
            <a:off x="8562727" y="3338806"/>
            <a:ext cx="1391728" cy="338554"/>
          </a:xfrm>
          <a:prstGeom prst="rect">
            <a:avLst/>
          </a:prstGeom>
        </p:spPr>
        <p:txBody>
          <a:bodyPr wrap="none">
            <a:spAutoFit/>
          </a:bodyPr>
          <a:lstStyle/>
          <a:p>
            <a:r>
              <a:rPr lang="en-US" altLang="zh-CN" sz="1600" dirty="0">
                <a:latin typeface="Microsoft YaHei" panose="020B0503020204020204" pitchFamily="34" charset="-122"/>
                <a:ea typeface="Microsoft YaHei" panose="020B0503020204020204" pitchFamily="34" charset="-122"/>
              </a:rPr>
              <a:t>1</a:t>
            </a:r>
            <a:r>
              <a:rPr lang="zh-CN" altLang="en-US" sz="1600" dirty="0">
                <a:latin typeface="Microsoft YaHei" panose="020B0503020204020204" pitchFamily="34" charset="-122"/>
                <a:ea typeface="Microsoft YaHei" panose="020B0503020204020204" pitchFamily="34" charset="-122"/>
              </a:rPr>
              <a:t>、發起訪問 </a:t>
            </a:r>
            <a:endParaRPr lang="zh-CN" altLang="en-US" sz="1600" dirty="0"/>
          </a:p>
        </p:txBody>
      </p:sp>
      <p:sp>
        <p:nvSpPr>
          <p:cNvPr id="36" name="矩形 35">
            <a:extLst>
              <a:ext uri="{FF2B5EF4-FFF2-40B4-BE49-F238E27FC236}">
                <a16:creationId xmlns:a16="http://schemas.microsoft.com/office/drawing/2014/main" id="{5D210EF0-74C0-0546-93D2-3ED0C795DBC9}"/>
              </a:ext>
            </a:extLst>
          </p:cNvPr>
          <p:cNvSpPr/>
          <p:nvPr/>
        </p:nvSpPr>
        <p:spPr>
          <a:xfrm rot="18603213">
            <a:off x="9588337" y="5137894"/>
            <a:ext cx="1946367" cy="338554"/>
          </a:xfrm>
          <a:prstGeom prst="rect">
            <a:avLst/>
          </a:prstGeom>
        </p:spPr>
        <p:txBody>
          <a:bodyPr wrap="none">
            <a:spAutoFit/>
          </a:bodyPr>
          <a:lstStyle/>
          <a:p>
            <a:pPr algn="ctr"/>
            <a:r>
              <a:rPr lang="en-US" altLang="zh-CN" sz="1600" dirty="0">
                <a:latin typeface="Microsoft YaHei" panose="020B0503020204020204" pitchFamily="34" charset="-122"/>
                <a:ea typeface="Microsoft YaHei" panose="020B0503020204020204" pitchFamily="34" charset="-122"/>
              </a:rPr>
              <a:t>4</a:t>
            </a:r>
            <a:r>
              <a:rPr lang="zh-CN" altLang="en-US" sz="1600" dirty="0">
                <a:latin typeface="Microsoft YaHei" panose="020B0503020204020204" pitchFamily="34" charset="-122"/>
                <a:ea typeface="Microsoft YaHei" panose="020B0503020204020204" pitchFamily="34" charset="-122"/>
              </a:rPr>
              <a:t>、查詢訪問者權限</a:t>
            </a:r>
            <a:endParaRPr lang="zh-CN" altLang="en-US" sz="1600" dirty="0"/>
          </a:p>
        </p:txBody>
      </p:sp>
      <p:sp>
        <p:nvSpPr>
          <p:cNvPr id="37" name="矩形 36">
            <a:extLst>
              <a:ext uri="{FF2B5EF4-FFF2-40B4-BE49-F238E27FC236}">
                <a16:creationId xmlns:a16="http://schemas.microsoft.com/office/drawing/2014/main" id="{5DC6B8E2-E4CD-9349-9C63-3918C941C131}"/>
              </a:ext>
            </a:extLst>
          </p:cNvPr>
          <p:cNvSpPr/>
          <p:nvPr/>
        </p:nvSpPr>
        <p:spPr>
          <a:xfrm rot="2608660">
            <a:off x="9656796" y="2888082"/>
            <a:ext cx="1330814" cy="338554"/>
          </a:xfrm>
          <a:prstGeom prst="rect">
            <a:avLst/>
          </a:prstGeom>
        </p:spPr>
        <p:txBody>
          <a:bodyPr wrap="none">
            <a:spAutoFit/>
          </a:bodyPr>
          <a:lstStyle/>
          <a:p>
            <a:r>
              <a:rPr lang="en-US" altLang="zh-CN" sz="1600" dirty="0">
                <a:latin typeface="Microsoft YaHei" panose="020B0503020204020204" pitchFamily="34" charset="-122"/>
                <a:ea typeface="Microsoft YaHei" panose="020B0503020204020204" pitchFamily="34" charset="-122"/>
              </a:rPr>
              <a:t>3</a:t>
            </a:r>
            <a:r>
              <a:rPr lang="zh-CN" altLang="en-US" sz="1600" dirty="0">
                <a:latin typeface="Microsoft YaHei" panose="020B0503020204020204" pitchFamily="34" charset="-122"/>
                <a:ea typeface="Microsoft YaHei" panose="020B0503020204020204" pitchFamily="34" charset="-122"/>
              </a:rPr>
              <a:t>、返回結果</a:t>
            </a:r>
            <a:endParaRPr lang="zh-CN" altLang="en-US" sz="1600" dirty="0"/>
          </a:p>
        </p:txBody>
      </p:sp>
      <p:cxnSp>
        <p:nvCxnSpPr>
          <p:cNvPr id="38" name="直线箭头连接符 37">
            <a:extLst>
              <a:ext uri="{FF2B5EF4-FFF2-40B4-BE49-F238E27FC236}">
                <a16:creationId xmlns:a16="http://schemas.microsoft.com/office/drawing/2014/main" id="{ABBB8BBE-92D8-6942-AA6A-A55C8FDFCEB4}"/>
              </a:ext>
            </a:extLst>
          </p:cNvPr>
          <p:cNvCxnSpPr>
            <a:cxnSpLocks/>
          </p:cNvCxnSpPr>
          <p:nvPr/>
        </p:nvCxnSpPr>
        <p:spPr>
          <a:xfrm flipH="1">
            <a:off x="9852605" y="4500060"/>
            <a:ext cx="1169392" cy="1374021"/>
          </a:xfrm>
          <a:prstGeom prst="straightConnector1">
            <a:avLst/>
          </a:prstGeom>
          <a:ln w="1905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1" name="直线箭头连接符 40">
            <a:extLst>
              <a:ext uri="{FF2B5EF4-FFF2-40B4-BE49-F238E27FC236}">
                <a16:creationId xmlns:a16="http://schemas.microsoft.com/office/drawing/2014/main" id="{73E2718B-8EAA-D74D-A135-DA53EFD7E228}"/>
              </a:ext>
            </a:extLst>
          </p:cNvPr>
          <p:cNvCxnSpPr>
            <a:cxnSpLocks/>
          </p:cNvCxnSpPr>
          <p:nvPr/>
        </p:nvCxnSpPr>
        <p:spPr>
          <a:xfrm flipH="1">
            <a:off x="8005046" y="3947796"/>
            <a:ext cx="2809833" cy="0"/>
          </a:xfrm>
          <a:prstGeom prst="straightConnector1">
            <a:avLst/>
          </a:prstGeom>
          <a:ln w="19050">
            <a:headEnd type="none"/>
            <a:tailEnd type="triangle"/>
          </a:ln>
        </p:spPr>
        <p:style>
          <a:lnRef idx="1">
            <a:schemeClr val="accent1"/>
          </a:lnRef>
          <a:fillRef idx="0">
            <a:schemeClr val="accent1"/>
          </a:fillRef>
          <a:effectRef idx="0">
            <a:schemeClr val="accent1"/>
          </a:effectRef>
          <a:fontRef idx="minor">
            <a:schemeClr val="tx1"/>
          </a:fontRef>
        </p:style>
      </p:cxnSp>
      <p:sp>
        <p:nvSpPr>
          <p:cNvPr id="44" name="矩形 43">
            <a:extLst>
              <a:ext uri="{FF2B5EF4-FFF2-40B4-BE49-F238E27FC236}">
                <a16:creationId xmlns:a16="http://schemas.microsoft.com/office/drawing/2014/main" id="{B78EE20F-9B8F-4F4E-ACC5-273751CCE17E}"/>
              </a:ext>
            </a:extLst>
          </p:cNvPr>
          <p:cNvSpPr/>
          <p:nvPr/>
        </p:nvSpPr>
        <p:spPr>
          <a:xfrm rot="2688384">
            <a:off x="10270400" y="2210838"/>
            <a:ext cx="1330814" cy="584775"/>
          </a:xfrm>
          <a:prstGeom prst="rect">
            <a:avLst/>
          </a:prstGeom>
        </p:spPr>
        <p:txBody>
          <a:bodyPr wrap="none">
            <a:spAutoFit/>
          </a:bodyPr>
          <a:lstStyle/>
          <a:p>
            <a:pPr algn="ctr"/>
            <a:r>
              <a:rPr lang="en-US" altLang="zh-CN" sz="1600" dirty="0">
                <a:latin typeface="Microsoft YaHei" panose="020B0503020204020204" pitchFamily="34" charset="-122"/>
                <a:ea typeface="Microsoft YaHei" panose="020B0503020204020204" pitchFamily="34" charset="-122"/>
              </a:rPr>
              <a:t>2</a:t>
            </a:r>
            <a:r>
              <a:rPr lang="zh-CN" altLang="en-US" sz="1600" dirty="0">
                <a:latin typeface="Microsoft YaHei" panose="020B0503020204020204" pitchFamily="34" charset="-122"/>
                <a:ea typeface="Microsoft YaHei" panose="020B0503020204020204" pitchFamily="34" charset="-122"/>
              </a:rPr>
              <a:t>、請求驗證</a:t>
            </a:r>
            <a:endParaRPr lang="en-US" altLang="zh-CN" sz="1600" dirty="0">
              <a:latin typeface="Microsoft YaHei" panose="020B0503020204020204" pitchFamily="34" charset="-122"/>
              <a:ea typeface="Microsoft YaHei" panose="020B0503020204020204" pitchFamily="34" charset="-122"/>
            </a:endParaRPr>
          </a:p>
          <a:p>
            <a:pPr algn="ctr"/>
            <a:r>
              <a:rPr lang="zh-CN" altLang="en-US" sz="1600" dirty="0">
                <a:latin typeface="Microsoft YaHei" panose="020B0503020204020204" pitchFamily="34" charset="-122"/>
                <a:ea typeface="Microsoft YaHei" panose="020B0503020204020204" pitchFamily="34" charset="-122"/>
              </a:rPr>
              <a:t>訪問者身份 </a:t>
            </a:r>
            <a:endParaRPr lang="zh-CN" altLang="en-US" sz="1600" dirty="0"/>
          </a:p>
        </p:txBody>
      </p:sp>
      <p:cxnSp>
        <p:nvCxnSpPr>
          <p:cNvPr id="45" name="直线箭头连接符 44">
            <a:extLst>
              <a:ext uri="{FF2B5EF4-FFF2-40B4-BE49-F238E27FC236}">
                <a16:creationId xmlns:a16="http://schemas.microsoft.com/office/drawing/2014/main" id="{393C6FDD-87B3-2248-919C-90C709B27FC2}"/>
              </a:ext>
            </a:extLst>
          </p:cNvPr>
          <p:cNvCxnSpPr>
            <a:cxnSpLocks/>
          </p:cNvCxnSpPr>
          <p:nvPr/>
        </p:nvCxnSpPr>
        <p:spPr>
          <a:xfrm flipV="1">
            <a:off x="9698533" y="4363200"/>
            <a:ext cx="1116346" cy="1313786"/>
          </a:xfrm>
          <a:prstGeom prst="straightConnector1">
            <a:avLst/>
          </a:prstGeom>
          <a:ln w="19050">
            <a:headEnd type="none"/>
            <a:tailEnd type="triangle"/>
          </a:ln>
        </p:spPr>
        <p:style>
          <a:lnRef idx="1">
            <a:schemeClr val="accent1"/>
          </a:lnRef>
          <a:fillRef idx="0">
            <a:schemeClr val="accent1"/>
          </a:fillRef>
          <a:effectRef idx="0">
            <a:schemeClr val="accent1"/>
          </a:effectRef>
          <a:fontRef idx="minor">
            <a:schemeClr val="tx1"/>
          </a:fontRef>
        </p:style>
      </p:cxnSp>
      <p:sp>
        <p:nvSpPr>
          <p:cNvPr id="48" name="矩形 47">
            <a:extLst>
              <a:ext uri="{FF2B5EF4-FFF2-40B4-BE49-F238E27FC236}">
                <a16:creationId xmlns:a16="http://schemas.microsoft.com/office/drawing/2014/main" id="{8064847A-F3D8-B14E-9608-9C24F3099E3C}"/>
              </a:ext>
            </a:extLst>
          </p:cNvPr>
          <p:cNvSpPr/>
          <p:nvPr/>
        </p:nvSpPr>
        <p:spPr>
          <a:xfrm rot="18673066">
            <a:off x="9427772" y="4768226"/>
            <a:ext cx="1330814" cy="338554"/>
          </a:xfrm>
          <a:prstGeom prst="rect">
            <a:avLst/>
          </a:prstGeom>
        </p:spPr>
        <p:txBody>
          <a:bodyPr wrap="none">
            <a:spAutoFit/>
          </a:bodyPr>
          <a:lstStyle/>
          <a:p>
            <a:r>
              <a:rPr lang="en-US" altLang="zh-CN" sz="1600" dirty="0">
                <a:latin typeface="Microsoft YaHei" panose="020B0503020204020204" pitchFamily="34" charset="-122"/>
                <a:ea typeface="Microsoft YaHei" panose="020B0503020204020204" pitchFamily="34" charset="-122"/>
              </a:rPr>
              <a:t>5</a:t>
            </a:r>
            <a:r>
              <a:rPr lang="zh-CN" altLang="en-US" sz="1600" dirty="0">
                <a:latin typeface="Microsoft YaHei" panose="020B0503020204020204" pitchFamily="34" charset="-122"/>
                <a:ea typeface="Microsoft YaHei" panose="020B0503020204020204" pitchFamily="34" charset="-122"/>
              </a:rPr>
              <a:t>、返回結果</a:t>
            </a:r>
            <a:endParaRPr lang="zh-CN" altLang="en-US" sz="1600" dirty="0"/>
          </a:p>
        </p:txBody>
      </p:sp>
      <p:sp>
        <p:nvSpPr>
          <p:cNvPr id="49" name="矩形 48">
            <a:extLst>
              <a:ext uri="{FF2B5EF4-FFF2-40B4-BE49-F238E27FC236}">
                <a16:creationId xmlns:a16="http://schemas.microsoft.com/office/drawing/2014/main" id="{937CF0C7-F4CA-FB45-B0B1-82C3229B51C1}"/>
              </a:ext>
            </a:extLst>
          </p:cNvPr>
          <p:cNvSpPr/>
          <p:nvPr/>
        </p:nvSpPr>
        <p:spPr>
          <a:xfrm>
            <a:off x="8428443" y="3973928"/>
            <a:ext cx="1741182" cy="338554"/>
          </a:xfrm>
          <a:prstGeom prst="rect">
            <a:avLst/>
          </a:prstGeom>
        </p:spPr>
        <p:txBody>
          <a:bodyPr wrap="none">
            <a:spAutoFit/>
          </a:bodyPr>
          <a:lstStyle/>
          <a:p>
            <a:r>
              <a:rPr lang="en-US" altLang="zh-CN" sz="1600" dirty="0">
                <a:latin typeface="Microsoft YaHei" panose="020B0503020204020204" pitchFamily="34" charset="-122"/>
                <a:ea typeface="Microsoft YaHei" panose="020B0503020204020204" pitchFamily="34" charset="-122"/>
              </a:rPr>
              <a:t>6</a:t>
            </a:r>
            <a:r>
              <a:rPr lang="zh-CN" altLang="en-US" sz="1600" dirty="0">
                <a:latin typeface="Microsoft YaHei" panose="020B0503020204020204" pitchFamily="34" charset="-122"/>
                <a:ea typeface="Microsoft YaHei" panose="020B0503020204020204" pitchFamily="34" charset="-122"/>
              </a:rPr>
              <a:t>、返回訪問結果</a:t>
            </a:r>
            <a:endParaRPr lang="zh-CN" altLang="en-US" sz="1600" dirty="0"/>
          </a:p>
        </p:txBody>
      </p:sp>
      <p:sp>
        <p:nvSpPr>
          <p:cNvPr id="55" name="矩形 54">
            <a:extLst>
              <a:ext uri="{FF2B5EF4-FFF2-40B4-BE49-F238E27FC236}">
                <a16:creationId xmlns:a16="http://schemas.microsoft.com/office/drawing/2014/main" id="{A2E6617E-62D8-CA4D-8A55-6E39C8702B51}"/>
              </a:ext>
            </a:extLst>
          </p:cNvPr>
          <p:cNvSpPr/>
          <p:nvPr/>
        </p:nvSpPr>
        <p:spPr>
          <a:xfrm>
            <a:off x="7009852" y="4118037"/>
            <a:ext cx="800219" cy="338554"/>
          </a:xfrm>
          <a:prstGeom prst="rect">
            <a:avLst/>
          </a:prstGeom>
        </p:spPr>
        <p:txBody>
          <a:bodyPr wrap="none">
            <a:spAutoFit/>
          </a:bodyPr>
          <a:lstStyle/>
          <a:p>
            <a:r>
              <a:rPr lang="zh-CN" altLang="en-US" sz="1600" dirty="0">
                <a:latin typeface="Microsoft YaHei" panose="020B0503020204020204" pitchFamily="34" charset="-122"/>
                <a:ea typeface="Microsoft YaHei" panose="020B0503020204020204" pitchFamily="34" charset="-122"/>
              </a:rPr>
              <a:t>訪問者</a:t>
            </a:r>
            <a:endParaRPr lang="zh-CN" altLang="en-US" sz="1600" dirty="0"/>
          </a:p>
        </p:txBody>
      </p:sp>
      <p:sp>
        <p:nvSpPr>
          <p:cNvPr id="56" name="矩形 55">
            <a:extLst>
              <a:ext uri="{FF2B5EF4-FFF2-40B4-BE49-F238E27FC236}">
                <a16:creationId xmlns:a16="http://schemas.microsoft.com/office/drawing/2014/main" id="{CE3D8954-B9EB-3B43-994F-13DB900197CD}"/>
              </a:ext>
            </a:extLst>
          </p:cNvPr>
          <p:cNvSpPr/>
          <p:nvPr/>
        </p:nvSpPr>
        <p:spPr>
          <a:xfrm>
            <a:off x="10968187" y="4154427"/>
            <a:ext cx="800219" cy="338554"/>
          </a:xfrm>
          <a:prstGeom prst="rect">
            <a:avLst/>
          </a:prstGeom>
        </p:spPr>
        <p:txBody>
          <a:bodyPr wrap="none">
            <a:spAutoFit/>
          </a:bodyPr>
          <a:lstStyle/>
          <a:p>
            <a:r>
              <a:rPr lang="zh-CN" altLang="en-US" sz="1600" dirty="0">
                <a:latin typeface="Microsoft YaHei" panose="020B0503020204020204" pitchFamily="34" charset="-122"/>
                <a:ea typeface="Microsoft YaHei" panose="020B0503020204020204" pitchFamily="34" charset="-122"/>
              </a:rPr>
              <a:t>服務端</a:t>
            </a:r>
            <a:endParaRPr lang="zh-CN" altLang="en-US" sz="1600" dirty="0"/>
          </a:p>
        </p:txBody>
      </p:sp>
      <p:sp>
        <p:nvSpPr>
          <p:cNvPr id="30" name="灯片编号占位符 2">
            <a:extLst>
              <a:ext uri="{FF2B5EF4-FFF2-40B4-BE49-F238E27FC236}">
                <a16:creationId xmlns:a16="http://schemas.microsoft.com/office/drawing/2014/main" id="{C211863B-D0BE-2F4A-9F88-C046CFEC8439}"/>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76</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93301715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訪問控制</a:t>
            </a:r>
          </a:p>
        </p:txBody>
      </p:sp>
      <p:sp>
        <p:nvSpPr>
          <p:cNvPr id="6" name="矩形 5">
            <a:extLst>
              <a:ext uri="{FF2B5EF4-FFF2-40B4-BE49-F238E27FC236}">
                <a16:creationId xmlns:a16="http://schemas.microsoft.com/office/drawing/2014/main" id="{75703C69-861A-6F41-A2B3-17F722B3A1F1}"/>
              </a:ext>
            </a:extLst>
          </p:cNvPr>
          <p:cNvSpPr/>
          <p:nvPr/>
        </p:nvSpPr>
        <p:spPr>
          <a:xfrm>
            <a:off x="867745" y="1050583"/>
            <a:ext cx="10637855" cy="951030"/>
          </a:xfrm>
          <a:prstGeom prst="rect">
            <a:avLst/>
          </a:prstGeom>
          <a:solidFill>
            <a:srgbClr val="00B0F0"/>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ctr"/>
            <a:r>
              <a:rPr lang="zh-CN" altLang="zh-CN" sz="2400" b="1" dirty="0">
                <a:solidFill>
                  <a:schemeClr val="bg1"/>
                </a:solidFill>
                <a:latin typeface="Microsoft YaHei" panose="020B0503020204020204" pitchFamily="34" charset="-122"/>
                <a:ea typeface="Microsoft YaHei" panose="020B0503020204020204" pitchFamily="34" charset="-122"/>
              </a:rPr>
              <a:t>訪問控制（</a:t>
            </a:r>
            <a:r>
              <a:rPr lang="en-US" altLang="zh-CN" sz="2400" b="1" dirty="0">
                <a:solidFill>
                  <a:schemeClr val="bg1"/>
                </a:solidFill>
                <a:latin typeface="Microsoft YaHei" panose="020B0503020204020204" pitchFamily="34" charset="-122"/>
                <a:ea typeface="Microsoft YaHei" panose="020B0503020204020204" pitchFamily="34" charset="-122"/>
              </a:rPr>
              <a:t>Access Control</a:t>
            </a:r>
            <a:r>
              <a:rPr lang="zh-CN" altLang="zh-CN" sz="2400" b="1" dirty="0">
                <a:solidFill>
                  <a:schemeClr val="bg1"/>
                </a:solidFill>
                <a:latin typeface="Microsoft YaHei" panose="020B0503020204020204" pitchFamily="34" charset="-122"/>
                <a:ea typeface="Microsoft YaHei" panose="020B0503020204020204" pitchFamily="34" charset="-122"/>
              </a:rPr>
              <a:t>）指系統按用戶身份</a:t>
            </a:r>
            <a:r>
              <a:rPr lang="zh-CN" altLang="en-US" sz="2400" b="1" dirty="0">
                <a:solidFill>
                  <a:schemeClr val="bg1"/>
                </a:solidFill>
                <a:latin typeface="Microsoft YaHei" panose="020B0503020204020204" pitchFamily="34" charset="-122"/>
                <a:ea typeface="Microsoft YaHei" panose="020B0503020204020204" pitchFamily="34" charset="-122"/>
              </a:rPr>
              <a:t>，以及該身份</a:t>
            </a:r>
            <a:r>
              <a:rPr lang="zh-CN" altLang="zh-CN" sz="2400" b="1" dirty="0">
                <a:solidFill>
                  <a:schemeClr val="bg1"/>
                </a:solidFill>
                <a:latin typeface="Microsoft YaHei" panose="020B0503020204020204" pitchFamily="34" charset="-122"/>
                <a:ea typeface="Microsoft YaHei" panose="020B0503020204020204" pitchFamily="34" charset="-122"/>
              </a:rPr>
              <a:t>所</a:t>
            </a:r>
            <a:r>
              <a:rPr lang="zh-CN" altLang="en-US" sz="2400" b="1" dirty="0">
                <a:solidFill>
                  <a:schemeClr val="bg1"/>
                </a:solidFill>
                <a:latin typeface="Microsoft YaHei" panose="020B0503020204020204" pitchFamily="34" charset="-122"/>
                <a:ea typeface="Microsoft YaHei" panose="020B0503020204020204" pitchFamily="34" charset="-122"/>
              </a:rPr>
              <a:t>在的</a:t>
            </a:r>
            <a:r>
              <a:rPr lang="zh-CN" altLang="zh-CN" sz="2400" b="1" dirty="0">
                <a:solidFill>
                  <a:schemeClr val="bg1"/>
                </a:solidFill>
                <a:latin typeface="Microsoft YaHei" panose="020B0503020204020204" pitchFamily="34" charset="-122"/>
                <a:ea typeface="Microsoft YaHei" panose="020B0503020204020204" pitchFamily="34" charset="-122"/>
              </a:rPr>
              <a:t>策略組來限制用戶對某些信息項的訪問，或限制其對某些控制功能的使用</a:t>
            </a:r>
            <a:endParaRPr lang="zh-CN" altLang="en-US" sz="2400" b="1" dirty="0">
              <a:solidFill>
                <a:schemeClr val="bg1"/>
              </a:solidFill>
              <a:latin typeface="Microsoft YaHei" panose="020B0503020204020204" pitchFamily="34" charset="-122"/>
              <a:ea typeface="Microsoft YaHei" panose="020B0503020204020204" pitchFamily="34" charset="-122"/>
            </a:endParaRPr>
          </a:p>
        </p:txBody>
      </p:sp>
      <p:sp>
        <p:nvSpPr>
          <p:cNvPr id="8" name="内容占位符 2">
            <a:extLst>
              <a:ext uri="{FF2B5EF4-FFF2-40B4-BE49-F238E27FC236}">
                <a16:creationId xmlns:a16="http://schemas.microsoft.com/office/drawing/2014/main" id="{1085AA17-AE49-2C45-8F9C-EBE3EE23BF00}"/>
              </a:ext>
            </a:extLst>
          </p:cNvPr>
          <p:cNvSpPr txBox="1">
            <a:spLocks/>
          </p:cNvSpPr>
          <p:nvPr/>
        </p:nvSpPr>
        <p:spPr>
          <a:xfrm>
            <a:off x="927378" y="2306690"/>
            <a:ext cx="5009595" cy="4136491"/>
          </a:xfrm>
          <a:prstGeom prst="rect">
            <a:avLst/>
          </a:prstGeom>
          <a:ln>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3600"/>
              </a:lnSpc>
            </a:pPr>
            <a:r>
              <a:rPr lang="zh-CN" altLang="en-US" sz="2400" dirty="0">
                <a:latin typeface="Microsoft YaHei" panose="020B0503020204020204" pitchFamily="34" charset="-122"/>
                <a:ea typeface="Microsoft YaHei" panose="020B0503020204020204" pitchFamily="34" charset="-122"/>
              </a:rPr>
              <a:t>主體</a:t>
            </a:r>
            <a:r>
              <a:rPr lang="en-US" altLang="zh-CN" sz="2400" dirty="0">
                <a:latin typeface="Microsoft YaHei" panose="020B0503020204020204" pitchFamily="34" charset="-122"/>
                <a:ea typeface="Microsoft YaHei" panose="020B0503020204020204" pitchFamily="34" charset="-122"/>
              </a:rPr>
              <a:t>S (Subject)</a:t>
            </a:r>
          </a:p>
          <a:p>
            <a:pPr marL="684900" indent="-342900" algn="just">
              <a:lnSpc>
                <a:spcPts val="3600"/>
              </a:lnSpc>
            </a:pPr>
            <a:r>
              <a:rPr lang="zh-CN" altLang="en-US" sz="2400" dirty="0">
                <a:latin typeface="Microsoft YaHei" panose="020B0503020204020204" pitchFamily="34" charset="-122"/>
                <a:ea typeface="Microsoft YaHei" panose="020B0503020204020204" pitchFamily="34" charset="-122"/>
              </a:rPr>
              <a:t>提出對資源訪問的具體請求</a:t>
            </a:r>
            <a:endParaRPr lang="en-US" altLang="zh-CN" sz="2400" dirty="0">
              <a:latin typeface="Microsoft YaHei" panose="020B0503020204020204" pitchFamily="34" charset="-122"/>
              <a:ea typeface="Microsoft YaHei" panose="020B0503020204020204" pitchFamily="34" charset="-122"/>
            </a:endParaRPr>
          </a:p>
          <a:p>
            <a:pPr algn="just">
              <a:lnSpc>
                <a:spcPts val="3600"/>
              </a:lnSpc>
            </a:pPr>
            <a:r>
              <a:rPr lang="zh-CN" altLang="en-US" sz="2400" dirty="0">
                <a:latin typeface="Microsoft YaHei" panose="020B0503020204020204" pitchFamily="34" charset="-122"/>
                <a:ea typeface="Microsoft YaHei" panose="020B0503020204020204" pitchFamily="34" charset="-122"/>
              </a:rPr>
              <a:t>客體</a:t>
            </a:r>
            <a:r>
              <a:rPr lang="en-US" altLang="zh-CN" sz="2400" dirty="0">
                <a:latin typeface="Microsoft YaHei" panose="020B0503020204020204" pitchFamily="34" charset="-122"/>
                <a:ea typeface="Microsoft YaHei" panose="020B0503020204020204" pitchFamily="34" charset="-122"/>
              </a:rPr>
              <a:t>O (Object)</a:t>
            </a:r>
          </a:p>
          <a:p>
            <a:pPr marL="684900" indent="-342900" algn="just">
              <a:lnSpc>
                <a:spcPts val="3600"/>
              </a:lnSpc>
            </a:pPr>
            <a:r>
              <a:rPr lang="zh-CN" altLang="en-US" sz="2400" dirty="0">
                <a:latin typeface="Microsoft YaHei" panose="020B0503020204020204" pitchFamily="34" charset="-122"/>
                <a:ea typeface="Microsoft YaHei" panose="020B0503020204020204" pitchFamily="34" charset="-122"/>
              </a:rPr>
              <a:t>提出對資源訪問的具體請求</a:t>
            </a:r>
            <a:endParaRPr lang="en-US" altLang="zh-CN" sz="2400" dirty="0">
              <a:latin typeface="Microsoft YaHei" panose="020B0503020204020204" pitchFamily="34" charset="-122"/>
              <a:ea typeface="Microsoft YaHei" panose="020B0503020204020204" pitchFamily="34" charset="-122"/>
            </a:endParaRPr>
          </a:p>
          <a:p>
            <a:pPr algn="just">
              <a:lnSpc>
                <a:spcPts val="3600"/>
              </a:lnSpc>
            </a:pPr>
            <a:r>
              <a:rPr lang="zh-CN" altLang="en-US" sz="2400" dirty="0">
                <a:latin typeface="Microsoft YaHei" panose="020B0503020204020204" pitchFamily="34" charset="-122"/>
                <a:ea typeface="Microsoft YaHei" panose="020B0503020204020204" pitchFamily="34" charset="-122"/>
              </a:rPr>
              <a:t>控制策略</a:t>
            </a:r>
            <a:r>
              <a:rPr lang="en-US" altLang="zh-CN" sz="2400" dirty="0">
                <a:latin typeface="Microsoft YaHei" panose="020B0503020204020204" pitchFamily="34" charset="-122"/>
                <a:ea typeface="Microsoft YaHei" panose="020B0503020204020204" pitchFamily="34" charset="-122"/>
              </a:rPr>
              <a:t>A (Attribution)</a:t>
            </a:r>
          </a:p>
          <a:p>
            <a:pPr marL="684900" indent="-342900" algn="just">
              <a:lnSpc>
                <a:spcPts val="3600"/>
              </a:lnSpc>
            </a:pPr>
            <a:r>
              <a:rPr lang="zh-CN" altLang="en-US" sz="2400" dirty="0">
                <a:latin typeface="Microsoft YaHei" panose="020B0503020204020204" pitchFamily="34" charset="-122"/>
                <a:ea typeface="Microsoft YaHei" panose="020B0503020204020204" pitchFamily="34" charset="-122"/>
              </a:rPr>
              <a:t>是主體對客體的相關訪問規則集合，即屬性集合 </a:t>
            </a:r>
          </a:p>
        </p:txBody>
      </p:sp>
      <p:sp>
        <p:nvSpPr>
          <p:cNvPr id="7" name="椭圆 6">
            <a:extLst>
              <a:ext uri="{FF2B5EF4-FFF2-40B4-BE49-F238E27FC236}">
                <a16:creationId xmlns:a16="http://schemas.microsoft.com/office/drawing/2014/main" id="{86585748-6524-7E43-AAFA-8A9A6F6E257E}"/>
              </a:ext>
            </a:extLst>
          </p:cNvPr>
          <p:cNvSpPr/>
          <p:nvPr/>
        </p:nvSpPr>
        <p:spPr>
          <a:xfrm>
            <a:off x="6962949" y="3758439"/>
            <a:ext cx="619099" cy="580509"/>
          </a:xfrm>
          <a:prstGeom prst="ellipse">
            <a:avLst/>
          </a:prstGeom>
          <a:solidFill>
            <a:srgbClr val="8AC14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latin typeface="Times New Roman" panose="02020603050405020304" pitchFamily="18" charset="0"/>
                <a:cs typeface="Times New Roman" panose="02020603050405020304" pitchFamily="18" charset="0"/>
              </a:rPr>
              <a:t>S</a:t>
            </a:r>
            <a:endParaRPr kumimoji="1" lang="zh-CN" altLang="en-US" sz="2400" dirty="0">
              <a:latin typeface="Times New Roman" panose="02020603050405020304" pitchFamily="18" charset="0"/>
              <a:cs typeface="Times New Roman" panose="02020603050405020304" pitchFamily="18" charset="0"/>
            </a:endParaRPr>
          </a:p>
        </p:txBody>
      </p:sp>
      <p:sp>
        <p:nvSpPr>
          <p:cNvPr id="9" name="椭圆 8">
            <a:extLst>
              <a:ext uri="{FF2B5EF4-FFF2-40B4-BE49-F238E27FC236}">
                <a16:creationId xmlns:a16="http://schemas.microsoft.com/office/drawing/2014/main" id="{F34244ED-DDEC-344A-9548-22778EFA6F5D}"/>
              </a:ext>
            </a:extLst>
          </p:cNvPr>
          <p:cNvSpPr/>
          <p:nvPr/>
        </p:nvSpPr>
        <p:spPr>
          <a:xfrm>
            <a:off x="10384003" y="3758439"/>
            <a:ext cx="619099" cy="580509"/>
          </a:xfrm>
          <a:prstGeom prst="ellipse">
            <a:avLst/>
          </a:prstGeom>
          <a:solidFill>
            <a:srgbClr val="8AC14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latin typeface="Times New Roman" panose="02020603050405020304" pitchFamily="18" charset="0"/>
                <a:cs typeface="Times New Roman" panose="02020603050405020304" pitchFamily="18" charset="0"/>
              </a:rPr>
              <a:t>O</a:t>
            </a:r>
            <a:endParaRPr kumimoji="1" lang="zh-CN" altLang="en-US" sz="2400" dirty="0">
              <a:latin typeface="Times New Roman" panose="02020603050405020304" pitchFamily="18" charset="0"/>
              <a:cs typeface="Times New Roman" panose="02020603050405020304" pitchFamily="18" charset="0"/>
            </a:endParaRPr>
          </a:p>
        </p:txBody>
      </p:sp>
      <p:cxnSp>
        <p:nvCxnSpPr>
          <p:cNvPr id="10" name="直线箭头连接符 9">
            <a:extLst>
              <a:ext uri="{FF2B5EF4-FFF2-40B4-BE49-F238E27FC236}">
                <a16:creationId xmlns:a16="http://schemas.microsoft.com/office/drawing/2014/main" id="{5F164570-0715-D94C-9452-AD46E970082B}"/>
              </a:ext>
            </a:extLst>
          </p:cNvPr>
          <p:cNvCxnSpPr>
            <a:cxnSpLocks/>
            <a:stCxn id="7" idx="6"/>
            <a:endCxn id="9" idx="2"/>
          </p:cNvCxnSpPr>
          <p:nvPr/>
        </p:nvCxnSpPr>
        <p:spPr>
          <a:xfrm>
            <a:off x="7582048" y="4048694"/>
            <a:ext cx="2801955" cy="0"/>
          </a:xfrm>
          <a:prstGeom prst="straightConnector1">
            <a:avLst/>
          </a:prstGeom>
          <a:ln w="19050">
            <a:headEnd type="none"/>
            <a:tailEnd type="triangle"/>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6E1C1DD4-251A-8B48-A44F-EF75159CC399}"/>
              </a:ext>
            </a:extLst>
          </p:cNvPr>
          <p:cNvSpPr/>
          <p:nvPr/>
        </p:nvSpPr>
        <p:spPr>
          <a:xfrm>
            <a:off x="8314712" y="3593802"/>
            <a:ext cx="1210588" cy="400110"/>
          </a:xfrm>
          <a:prstGeom prst="rect">
            <a:avLst/>
          </a:prstGeom>
        </p:spPr>
        <p:txBody>
          <a:bodyPr wrap="none">
            <a:spAutoFit/>
          </a:bodyPr>
          <a:lstStyle/>
          <a:p>
            <a:r>
              <a:rPr lang="zh-CN" altLang="en-US" sz="2000" dirty="0">
                <a:latin typeface="Microsoft YaHei" panose="020B0503020204020204" pitchFamily="34" charset="-122"/>
                <a:ea typeface="Microsoft YaHei" panose="020B0503020204020204" pitchFamily="34" charset="-122"/>
              </a:rPr>
              <a:t>訪問請求</a:t>
            </a:r>
            <a:endParaRPr lang="zh-CN" altLang="en-US" sz="2000" dirty="0"/>
          </a:p>
        </p:txBody>
      </p:sp>
      <p:pic>
        <p:nvPicPr>
          <p:cNvPr id="13" name="图形 12">
            <a:extLst>
              <a:ext uri="{FF2B5EF4-FFF2-40B4-BE49-F238E27FC236}">
                <a16:creationId xmlns:a16="http://schemas.microsoft.com/office/drawing/2014/main" id="{13B35484-7463-CB4A-9066-FD5841AA138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629753" y="5446145"/>
            <a:ext cx="580507" cy="580509"/>
          </a:xfrm>
          <a:prstGeom prst="rect">
            <a:avLst/>
          </a:prstGeom>
        </p:spPr>
      </p:pic>
      <p:cxnSp>
        <p:nvCxnSpPr>
          <p:cNvPr id="14" name="直线箭头连接符 13">
            <a:extLst>
              <a:ext uri="{FF2B5EF4-FFF2-40B4-BE49-F238E27FC236}">
                <a16:creationId xmlns:a16="http://schemas.microsoft.com/office/drawing/2014/main" id="{0C6F6CF3-71D9-F246-AE38-4E4F6FD0C701}"/>
              </a:ext>
            </a:extLst>
          </p:cNvPr>
          <p:cNvCxnSpPr>
            <a:cxnSpLocks/>
          </p:cNvCxnSpPr>
          <p:nvPr/>
        </p:nvCxnSpPr>
        <p:spPr>
          <a:xfrm flipH="1" flipV="1">
            <a:off x="8920006" y="4222590"/>
            <a:ext cx="1" cy="1130791"/>
          </a:xfrm>
          <a:prstGeom prst="straightConnector1">
            <a:avLst/>
          </a:prstGeom>
          <a:ln w="19050">
            <a:headEnd type="none"/>
            <a:tailEnd type="triangle"/>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56014467-1C99-DA43-9866-1BE6289F5C67}"/>
              </a:ext>
            </a:extLst>
          </p:cNvPr>
          <p:cNvSpPr/>
          <p:nvPr/>
        </p:nvSpPr>
        <p:spPr>
          <a:xfrm>
            <a:off x="8391613" y="6100987"/>
            <a:ext cx="1107996" cy="369332"/>
          </a:xfrm>
          <a:prstGeom prst="rect">
            <a:avLst/>
          </a:prstGeom>
        </p:spPr>
        <p:txBody>
          <a:bodyPr wrap="none">
            <a:spAutoFit/>
          </a:bodyPr>
          <a:lstStyle/>
          <a:p>
            <a:r>
              <a:rPr lang="zh-CN" altLang="en-US" dirty="0">
                <a:latin typeface="Microsoft YaHei" panose="020B0503020204020204" pitchFamily="34" charset="-122"/>
                <a:ea typeface="Microsoft YaHei" panose="020B0503020204020204" pitchFamily="34" charset="-122"/>
              </a:rPr>
              <a:t>控制策略</a:t>
            </a:r>
            <a:endParaRPr lang="zh-CN" altLang="en-US" dirty="0"/>
          </a:p>
        </p:txBody>
      </p:sp>
      <p:sp>
        <p:nvSpPr>
          <p:cNvPr id="23" name="矩形 22">
            <a:extLst>
              <a:ext uri="{FF2B5EF4-FFF2-40B4-BE49-F238E27FC236}">
                <a16:creationId xmlns:a16="http://schemas.microsoft.com/office/drawing/2014/main" id="{5E84E600-D3B2-C449-8786-919A904D3105}"/>
              </a:ext>
            </a:extLst>
          </p:cNvPr>
          <p:cNvSpPr/>
          <p:nvPr/>
        </p:nvSpPr>
        <p:spPr>
          <a:xfrm>
            <a:off x="8945611" y="4650726"/>
            <a:ext cx="646331" cy="369332"/>
          </a:xfrm>
          <a:prstGeom prst="rect">
            <a:avLst/>
          </a:prstGeom>
        </p:spPr>
        <p:txBody>
          <a:bodyPr wrap="none">
            <a:spAutoFit/>
          </a:bodyPr>
          <a:lstStyle/>
          <a:p>
            <a:r>
              <a:rPr lang="zh-CN" altLang="en-US" dirty="0">
                <a:latin typeface="Microsoft YaHei" panose="020B0503020204020204" pitchFamily="34" charset="-122"/>
                <a:ea typeface="Microsoft YaHei" panose="020B0503020204020204" pitchFamily="34" charset="-122"/>
              </a:rPr>
              <a:t>限制</a:t>
            </a:r>
            <a:endParaRPr lang="zh-CN" altLang="en-US" dirty="0"/>
          </a:p>
        </p:txBody>
      </p:sp>
      <p:sp>
        <p:nvSpPr>
          <p:cNvPr id="24" name="矩形 23">
            <a:extLst>
              <a:ext uri="{FF2B5EF4-FFF2-40B4-BE49-F238E27FC236}">
                <a16:creationId xmlns:a16="http://schemas.microsoft.com/office/drawing/2014/main" id="{68FEE627-5FED-C24A-B03C-BD82F9E20581}"/>
              </a:ext>
            </a:extLst>
          </p:cNvPr>
          <p:cNvSpPr/>
          <p:nvPr/>
        </p:nvSpPr>
        <p:spPr>
          <a:xfrm>
            <a:off x="6019072" y="2276600"/>
            <a:ext cx="5444057" cy="973472"/>
          </a:xfrm>
          <a:prstGeom prst="rect">
            <a:avLst/>
          </a:prstGeom>
          <a:ln>
            <a:noFill/>
          </a:ln>
        </p:spPr>
        <p:txBody>
          <a:bodyPr wrap="square">
            <a:spAutoFit/>
          </a:bodyPr>
          <a:lstStyle/>
          <a:p>
            <a:pPr marL="342900" indent="-342900">
              <a:lnSpc>
                <a:spcPts val="3600"/>
              </a:lnSpc>
              <a:buFont typeface="Arial" panose="020B0604020202020204" pitchFamily="34" charset="0"/>
              <a:buChar char="•"/>
            </a:pPr>
            <a:r>
              <a:rPr lang="zh-CN" altLang="zh-CN" sz="2400" dirty="0">
                <a:latin typeface="Microsoft YaHei" panose="020B0503020204020204" pitchFamily="34" charset="-122"/>
                <a:ea typeface="Microsoft YaHei" panose="020B0503020204020204" pitchFamily="34" charset="-122"/>
                <a:cs typeface="Times New Roman" panose="02020603050405020304" pitchFamily="18" charset="0"/>
              </a:rPr>
              <a:t>訪問控制規定了主體（用戶或者進程）對客體（數據資源）的訪問權限</a:t>
            </a:r>
            <a:r>
              <a:rPr lang="zh-CN" altLang="zh-CN" sz="2400" dirty="0">
                <a:latin typeface="Microsoft YaHei" panose="020B0503020204020204" pitchFamily="34" charset="-122"/>
                <a:ea typeface="Microsoft YaHei" panose="020B0503020204020204" pitchFamily="34" charset="-122"/>
              </a:rPr>
              <a:t> </a:t>
            </a:r>
            <a:endParaRPr lang="zh-CN" altLang="en-US" sz="2400" dirty="0">
              <a:latin typeface="Microsoft YaHei" panose="020B0503020204020204" pitchFamily="34" charset="-122"/>
              <a:ea typeface="Microsoft YaHei" panose="020B0503020204020204" pitchFamily="34" charset="-122"/>
            </a:endParaRPr>
          </a:p>
        </p:txBody>
      </p:sp>
      <p:sp>
        <p:nvSpPr>
          <p:cNvPr id="16" name="灯片编号占位符 2">
            <a:extLst>
              <a:ext uri="{FF2B5EF4-FFF2-40B4-BE49-F238E27FC236}">
                <a16:creationId xmlns:a16="http://schemas.microsoft.com/office/drawing/2014/main" id="{45D1E57A-3536-4242-A0C5-36E09C4A031F}"/>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77</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70428538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0C969DE2-8FB1-F641-9518-F862A1395BA0}"/>
              </a:ext>
            </a:extLst>
          </p:cNvPr>
          <p:cNvSpPr/>
          <p:nvPr/>
        </p:nvSpPr>
        <p:spPr>
          <a:xfrm>
            <a:off x="7981950" y="2508071"/>
            <a:ext cx="3527505" cy="3911779"/>
          </a:xfrm>
          <a:prstGeom prst="rect">
            <a:avLst/>
          </a:prstGeom>
          <a:ln>
            <a:solidFill>
              <a:srgbClr val="00B0F0"/>
            </a:solidFill>
          </a:ln>
        </p:spPr>
        <p:style>
          <a:lnRef idx="2">
            <a:schemeClr val="accent6"/>
          </a:lnRef>
          <a:fillRef idx="1">
            <a:schemeClr val="lt1"/>
          </a:fillRef>
          <a:effectRef idx="0">
            <a:schemeClr val="accent6"/>
          </a:effectRef>
          <a:fontRef idx="minor">
            <a:schemeClr val="dk1"/>
          </a:fontRef>
        </p:style>
        <p:txBody>
          <a:bodyPr rtlCol="0" anchor="t"/>
          <a:lstStyle/>
          <a:p>
            <a:pPr>
              <a:lnSpc>
                <a:spcPct val="130000"/>
              </a:lnSpc>
            </a:pPr>
            <a:r>
              <a:rPr lang="en-US" altLang="zh-CN" sz="2400" dirty="0">
                <a:latin typeface="Microsoft YaHei" panose="020B0503020204020204" pitchFamily="34" charset="-122"/>
                <a:ea typeface="Microsoft YaHei" panose="020B0503020204020204" pitchFamily="34" charset="-122"/>
              </a:rPr>
              <a:t>RBAC</a:t>
            </a:r>
            <a:r>
              <a:rPr lang="zh-CN" altLang="en-US" sz="2400" dirty="0">
                <a:latin typeface="Microsoft YaHei" panose="020B0503020204020204" pitchFamily="34" charset="-122"/>
                <a:ea typeface="Microsoft YaHei" panose="020B0503020204020204" pitchFamily="34" charset="-122"/>
              </a:rPr>
              <a:t>模型授權管理步驟</a:t>
            </a:r>
            <a:endParaRPr lang="en-US" altLang="zh-CN" sz="2400"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342900" indent="-342900">
              <a:lnSpc>
                <a:spcPct val="130000"/>
              </a:lnSpc>
              <a:buFont typeface="Arial" panose="020B0604020202020204" pitchFamily="34" charset="0"/>
              <a:buChar char="•"/>
            </a:pPr>
            <a:r>
              <a:rPr lang="zh-CN" altLang="zh-CN" sz="2400" kern="100" dirty="0">
                <a:latin typeface="Microsoft YaHei" panose="020B0503020204020204" pitchFamily="34" charset="-122"/>
                <a:ea typeface="Microsoft YaHei" panose="020B0503020204020204" pitchFamily="34" charset="-122"/>
                <a:cs typeface="Times New Roman" panose="02020603050405020304" pitchFamily="18" charset="0"/>
              </a:rPr>
              <a:t>根據任務需要定義具體不同的角色</a:t>
            </a:r>
            <a:endParaRPr lang="en-US" altLang="zh-CN" sz="2400"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342900" indent="-342900">
              <a:lnSpc>
                <a:spcPct val="130000"/>
              </a:lnSpc>
              <a:buFont typeface="Arial" panose="020B0604020202020204" pitchFamily="34" charset="0"/>
              <a:buChar char="•"/>
            </a:pPr>
            <a:r>
              <a:rPr lang="zh-CN" altLang="zh-CN" sz="2400" kern="100" dirty="0">
                <a:latin typeface="Microsoft YaHei" panose="020B0503020204020204" pitchFamily="34" charset="-122"/>
                <a:ea typeface="Microsoft YaHei" panose="020B0503020204020204" pitchFamily="34" charset="-122"/>
                <a:cs typeface="Times New Roman" panose="02020603050405020304" pitchFamily="18" charset="0"/>
              </a:rPr>
              <a:t>爲不同角色分配資源和操作權限</a:t>
            </a:r>
            <a:endParaRPr lang="en-US" altLang="zh-CN" sz="2400" kern="100" dirty="0">
              <a:latin typeface="Microsoft YaHei" panose="020B0503020204020204" pitchFamily="34" charset="-122"/>
              <a:ea typeface="Microsoft YaHei" panose="020B0503020204020204" pitchFamily="34" charset="-122"/>
              <a:cs typeface="Times New Roman" panose="02020603050405020304" pitchFamily="18" charset="0"/>
            </a:endParaRPr>
          </a:p>
          <a:p>
            <a:pPr marL="342900" indent="-342900">
              <a:lnSpc>
                <a:spcPct val="130000"/>
              </a:lnSpc>
              <a:buFont typeface="Arial" panose="020B0604020202020204" pitchFamily="34" charset="0"/>
              <a:buChar char="•"/>
            </a:pPr>
            <a:r>
              <a:rPr lang="zh-CN" altLang="en-US" sz="2400" kern="100" dirty="0">
                <a:latin typeface="Microsoft YaHei" panose="020B0503020204020204" pitchFamily="34" charset="-122"/>
                <a:ea typeface="Microsoft YaHei" panose="020B0503020204020204" pitchFamily="34" charset="-122"/>
                <a:cs typeface="Times New Roman" panose="02020603050405020304" pitchFamily="18" charset="0"/>
              </a:rPr>
              <a:t>爲一個用戶組指定一個角色</a:t>
            </a:r>
            <a:endParaRPr lang="zh-CN" altLang="zh-CN" sz="2400" kern="1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基于角色的訪問控制</a:t>
            </a:r>
          </a:p>
        </p:txBody>
      </p:sp>
      <p:sp>
        <p:nvSpPr>
          <p:cNvPr id="6" name="矩形 5">
            <a:extLst>
              <a:ext uri="{FF2B5EF4-FFF2-40B4-BE49-F238E27FC236}">
                <a16:creationId xmlns:a16="http://schemas.microsoft.com/office/drawing/2014/main" id="{75703C69-861A-6F41-A2B3-17F722B3A1F1}"/>
              </a:ext>
            </a:extLst>
          </p:cNvPr>
          <p:cNvSpPr/>
          <p:nvPr/>
        </p:nvSpPr>
        <p:spPr>
          <a:xfrm>
            <a:off x="857806" y="1070461"/>
            <a:ext cx="10637855" cy="1101239"/>
          </a:xfrm>
          <a:prstGeom prst="rect">
            <a:avLst/>
          </a:prstGeom>
          <a:solidFill>
            <a:srgbClr val="00B0F0"/>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ctr"/>
            <a:r>
              <a:rPr lang="en" altLang="zh-CN" sz="2400" b="1" dirty="0">
                <a:solidFill>
                  <a:schemeClr val="bg1"/>
                </a:solidFill>
                <a:latin typeface="Microsoft YaHei" panose="020B0503020204020204" pitchFamily="34" charset="-122"/>
                <a:ea typeface="Microsoft YaHei" panose="020B0503020204020204" pitchFamily="34" charset="-122"/>
              </a:rPr>
              <a:t>RBAC</a:t>
            </a:r>
            <a:r>
              <a:rPr lang="zh-CN" altLang="en-US" sz="2400" b="1" dirty="0">
                <a:solidFill>
                  <a:schemeClr val="bg1"/>
                </a:solidFill>
                <a:latin typeface="Microsoft YaHei" panose="020B0503020204020204" pitchFamily="34" charset="-122"/>
                <a:ea typeface="Microsoft YaHei" panose="020B0503020204020204" pitchFamily="34" charset="-122"/>
              </a:rPr>
              <a:t>設置不同的角色，幷將各種身份信息與角色進行綁定，然後只對角色的訪問權限進行控制，可極大地簡化權限管理</a:t>
            </a:r>
          </a:p>
        </p:txBody>
      </p:sp>
      <p:sp>
        <p:nvSpPr>
          <p:cNvPr id="8" name="内容占位符 2">
            <a:extLst>
              <a:ext uri="{FF2B5EF4-FFF2-40B4-BE49-F238E27FC236}">
                <a16:creationId xmlns:a16="http://schemas.microsoft.com/office/drawing/2014/main" id="{1085AA17-AE49-2C45-8F9C-EBE3EE23BF00}"/>
              </a:ext>
            </a:extLst>
          </p:cNvPr>
          <p:cNvSpPr txBox="1">
            <a:spLocks/>
          </p:cNvSpPr>
          <p:nvPr/>
        </p:nvSpPr>
        <p:spPr>
          <a:xfrm>
            <a:off x="876855" y="2505472"/>
            <a:ext cx="6762195" cy="3914239"/>
          </a:xfrm>
          <a:prstGeom prst="rect">
            <a:avLst/>
          </a:prstGeom>
          <a:ln>
            <a:solidFill>
              <a:srgbClr val="00B0F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buNone/>
            </a:pPr>
            <a:r>
              <a:rPr lang="zh-CN" altLang="en-US" sz="2400" dirty="0">
                <a:latin typeface="Microsoft YaHei" panose="020B0503020204020204" pitchFamily="34" charset="-122"/>
                <a:ea typeface="Microsoft YaHei" panose="020B0503020204020204" pitchFamily="34" charset="-122"/>
              </a:rPr>
              <a:t>包含用戶、角色和權限三個部分 </a:t>
            </a:r>
            <a:endParaRPr lang="en-US" altLang="zh-CN" sz="2400" dirty="0">
              <a:latin typeface="Microsoft YaHei" panose="020B0503020204020204" pitchFamily="34" charset="-122"/>
              <a:ea typeface="Microsoft YaHei" panose="020B0503020204020204" pitchFamily="34" charset="-122"/>
            </a:endParaRPr>
          </a:p>
          <a:p>
            <a:pPr marL="684900" indent="-342900" algn="just">
              <a:lnSpc>
                <a:spcPct val="130000"/>
              </a:lnSpc>
            </a:pPr>
            <a:r>
              <a:rPr lang="zh-CN" altLang="en-US" sz="2400" dirty="0">
                <a:latin typeface="Microsoft YaHei" panose="020B0503020204020204" pitchFamily="34" charset="-122"/>
                <a:ea typeface="Microsoft YaHei" panose="020B0503020204020204" pitchFamily="34" charset="-122"/>
              </a:rPr>
              <a:t>角色可以看作是一組操作的集合，不同的角色具有不同的操作集，這些操作集由系統管理員分配給角色</a:t>
            </a:r>
            <a:endParaRPr lang="en-US" altLang="zh-CN" sz="2400" dirty="0">
              <a:latin typeface="Microsoft YaHei" panose="020B0503020204020204" pitchFamily="34" charset="-122"/>
              <a:ea typeface="Microsoft YaHei" panose="020B0503020204020204" pitchFamily="34" charset="-122"/>
            </a:endParaRPr>
          </a:p>
          <a:p>
            <a:pPr marL="684900" indent="-342900" algn="just">
              <a:lnSpc>
                <a:spcPct val="130000"/>
              </a:lnSpc>
            </a:pPr>
            <a:r>
              <a:rPr lang="zh-CN" altLang="en-US" sz="2400" dirty="0">
                <a:latin typeface="Microsoft YaHei" panose="020B0503020204020204" pitchFamily="34" charset="-122"/>
                <a:ea typeface="Microsoft YaHei" panose="020B0503020204020204" pitchFamily="34" charset="-122"/>
              </a:rPr>
              <a:t>用戶與角色是多對一或者多對多關係。一個用戶對應一個角色、一個用戶對應多個角色</a:t>
            </a:r>
            <a:endParaRPr lang="en-US" altLang="zh-CN" sz="2400" dirty="0">
              <a:latin typeface="Microsoft YaHei" panose="020B0503020204020204" pitchFamily="34" charset="-122"/>
              <a:ea typeface="Microsoft YaHei" panose="020B0503020204020204" pitchFamily="34" charset="-122"/>
            </a:endParaRPr>
          </a:p>
          <a:p>
            <a:pPr marL="684900" indent="-342900" algn="just">
              <a:lnSpc>
                <a:spcPct val="130000"/>
              </a:lnSpc>
            </a:pPr>
            <a:r>
              <a:rPr lang="zh-CN" altLang="en-US" sz="2400" dirty="0">
                <a:latin typeface="Microsoft YaHei" panose="020B0503020204020204" pitchFamily="34" charset="-122"/>
                <a:ea typeface="Microsoft YaHei" panose="020B0503020204020204" pitchFamily="34" charset="-122"/>
              </a:rPr>
              <a:t>用戶最終權限取多個角色權限的幷集</a:t>
            </a:r>
          </a:p>
        </p:txBody>
      </p:sp>
      <p:sp>
        <p:nvSpPr>
          <p:cNvPr id="9" name="灯片编号占位符 2">
            <a:extLst>
              <a:ext uri="{FF2B5EF4-FFF2-40B4-BE49-F238E27FC236}">
                <a16:creationId xmlns:a16="http://schemas.microsoft.com/office/drawing/2014/main" id="{84FD4DB1-291B-A644-B98B-71BD404B39BB}"/>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78</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57202041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基于屬性的訪問控制</a:t>
            </a:r>
          </a:p>
        </p:txBody>
      </p:sp>
      <p:sp>
        <p:nvSpPr>
          <p:cNvPr id="6" name="矩形 5">
            <a:extLst>
              <a:ext uri="{FF2B5EF4-FFF2-40B4-BE49-F238E27FC236}">
                <a16:creationId xmlns:a16="http://schemas.microsoft.com/office/drawing/2014/main" id="{75703C69-861A-6F41-A2B3-17F722B3A1F1}"/>
              </a:ext>
            </a:extLst>
          </p:cNvPr>
          <p:cNvSpPr/>
          <p:nvPr/>
        </p:nvSpPr>
        <p:spPr>
          <a:xfrm>
            <a:off x="1067356" y="975211"/>
            <a:ext cx="10637855" cy="951030"/>
          </a:xfrm>
          <a:prstGeom prst="rect">
            <a:avLst/>
          </a:prstGeom>
        </p:spPr>
        <p:txBody>
          <a:bodyPr wrap="square">
            <a:spAutoFit/>
          </a:bodyPr>
          <a:lstStyle/>
          <a:p>
            <a:pPr algn="ctr">
              <a:lnSpc>
                <a:spcPts val="3500"/>
              </a:lnSpc>
            </a:pPr>
            <a:r>
              <a:rPr lang="zh-CN" altLang="en-US" sz="24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用戶屬性指的是可以對用戶進行區分的特性。用戶是訪問控制的主體，</a:t>
            </a:r>
            <a:endParaRPr lang="en-US" altLang="zh-CN" sz="24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endParaRPr>
          </a:p>
          <a:p>
            <a:pPr algn="ctr">
              <a:lnSpc>
                <a:spcPts val="3500"/>
              </a:lnSpc>
            </a:pPr>
            <a:r>
              <a:rPr lang="zh-CN" altLang="en-US" sz="24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以其屬性作爲訪問網絡數據的依據，可以實現更細粒度的訪問控制</a:t>
            </a:r>
            <a:endParaRPr lang="zh-CN" altLang="en-US" sz="2400" b="1" dirty="0">
              <a:solidFill>
                <a:srgbClr val="C00000"/>
              </a:solidFill>
              <a:latin typeface="Microsoft YaHei" panose="020B0503020204020204" pitchFamily="34" charset="-122"/>
              <a:ea typeface="Microsoft YaHei" panose="020B0503020204020204" pitchFamily="34" charset="-122"/>
            </a:endParaRPr>
          </a:p>
        </p:txBody>
      </p:sp>
      <p:sp>
        <p:nvSpPr>
          <p:cNvPr id="9" name="椭圆 8">
            <a:extLst>
              <a:ext uri="{FF2B5EF4-FFF2-40B4-BE49-F238E27FC236}">
                <a16:creationId xmlns:a16="http://schemas.microsoft.com/office/drawing/2014/main" id="{CA81D1B7-E368-C840-9505-A0C07CBAF979}"/>
              </a:ext>
            </a:extLst>
          </p:cNvPr>
          <p:cNvSpPr/>
          <p:nvPr/>
        </p:nvSpPr>
        <p:spPr>
          <a:xfrm>
            <a:off x="5867400" y="2434881"/>
            <a:ext cx="619099" cy="580509"/>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latin typeface="Times New Roman" panose="02020603050405020304" pitchFamily="18" charset="0"/>
                <a:cs typeface="Times New Roman" panose="02020603050405020304" pitchFamily="18" charset="0"/>
              </a:rPr>
              <a:t>S</a:t>
            </a:r>
            <a:endParaRPr kumimoji="1" lang="zh-CN" altLang="en-US" sz="2400" dirty="0">
              <a:latin typeface="Times New Roman" panose="02020603050405020304" pitchFamily="18" charset="0"/>
              <a:cs typeface="Times New Roman" panose="02020603050405020304" pitchFamily="18" charset="0"/>
            </a:endParaRPr>
          </a:p>
        </p:txBody>
      </p:sp>
      <p:sp>
        <p:nvSpPr>
          <p:cNvPr id="10" name="椭圆 9">
            <a:extLst>
              <a:ext uri="{FF2B5EF4-FFF2-40B4-BE49-F238E27FC236}">
                <a16:creationId xmlns:a16="http://schemas.microsoft.com/office/drawing/2014/main" id="{66455E60-FC0B-F641-9A50-F7451793594E}"/>
              </a:ext>
            </a:extLst>
          </p:cNvPr>
          <p:cNvSpPr/>
          <p:nvPr/>
        </p:nvSpPr>
        <p:spPr>
          <a:xfrm>
            <a:off x="10608797" y="2434881"/>
            <a:ext cx="619099" cy="580509"/>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latin typeface="Times New Roman" panose="02020603050405020304" pitchFamily="18" charset="0"/>
                <a:cs typeface="Times New Roman" panose="02020603050405020304" pitchFamily="18" charset="0"/>
              </a:rPr>
              <a:t>O</a:t>
            </a:r>
            <a:endParaRPr kumimoji="1" lang="zh-CN" altLang="en-US" sz="2400" dirty="0">
              <a:latin typeface="Times New Roman" panose="02020603050405020304" pitchFamily="18" charset="0"/>
              <a:cs typeface="Times New Roman" panose="02020603050405020304" pitchFamily="18" charset="0"/>
            </a:endParaRPr>
          </a:p>
        </p:txBody>
      </p:sp>
      <p:cxnSp>
        <p:nvCxnSpPr>
          <p:cNvPr id="11" name="直线箭头连接符 10">
            <a:extLst>
              <a:ext uri="{FF2B5EF4-FFF2-40B4-BE49-F238E27FC236}">
                <a16:creationId xmlns:a16="http://schemas.microsoft.com/office/drawing/2014/main" id="{F7F3F3F1-02C5-5749-B54F-DF9A877DA9C8}"/>
              </a:ext>
            </a:extLst>
          </p:cNvPr>
          <p:cNvCxnSpPr>
            <a:cxnSpLocks/>
            <a:stCxn id="9" idx="6"/>
            <a:endCxn id="17" idx="2"/>
          </p:cNvCxnSpPr>
          <p:nvPr/>
        </p:nvCxnSpPr>
        <p:spPr>
          <a:xfrm flipV="1">
            <a:off x="6486499" y="2722476"/>
            <a:ext cx="1587992" cy="2660"/>
          </a:xfrm>
          <a:prstGeom prst="straightConnector1">
            <a:avLst/>
          </a:prstGeom>
          <a:ln w="19050">
            <a:headEnd type="none"/>
            <a:tailEnd type="triangle"/>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C81D8622-5DF4-1941-9FB4-C05264A8C267}"/>
              </a:ext>
            </a:extLst>
          </p:cNvPr>
          <p:cNvSpPr/>
          <p:nvPr/>
        </p:nvSpPr>
        <p:spPr>
          <a:xfrm>
            <a:off x="10360906" y="4436787"/>
            <a:ext cx="1210588" cy="400110"/>
          </a:xfrm>
          <a:prstGeom prst="rect">
            <a:avLst/>
          </a:prstGeom>
          <a:solidFill>
            <a:srgbClr val="00B0F0"/>
          </a:solidFill>
        </p:spPr>
        <p:txBody>
          <a:bodyPr wrap="none">
            <a:spAutoFit/>
          </a:bodyPr>
          <a:lstStyle/>
          <a:p>
            <a:r>
              <a:rPr lang="zh-CN" altLang="en-US" sz="2000" dirty="0">
                <a:solidFill>
                  <a:schemeClr val="bg1"/>
                </a:solidFill>
                <a:latin typeface="Microsoft YaHei" panose="020B0503020204020204" pitchFamily="34" charset="-122"/>
                <a:ea typeface="Microsoft YaHei" panose="020B0503020204020204" pitchFamily="34" charset="-122"/>
              </a:rPr>
              <a:t>主體屬性</a:t>
            </a:r>
            <a:endParaRPr lang="zh-CN" altLang="en-US" sz="2000" dirty="0">
              <a:solidFill>
                <a:schemeClr val="bg1"/>
              </a:solidFill>
            </a:endParaRPr>
          </a:p>
        </p:txBody>
      </p:sp>
      <p:cxnSp>
        <p:nvCxnSpPr>
          <p:cNvPr id="14" name="直线箭头连接符 13">
            <a:extLst>
              <a:ext uri="{FF2B5EF4-FFF2-40B4-BE49-F238E27FC236}">
                <a16:creationId xmlns:a16="http://schemas.microsoft.com/office/drawing/2014/main" id="{DF474495-5602-534F-A7CC-B7FDACBA132E}"/>
              </a:ext>
            </a:extLst>
          </p:cNvPr>
          <p:cNvCxnSpPr>
            <a:cxnSpLocks/>
            <a:stCxn id="24" idx="6"/>
          </p:cNvCxnSpPr>
          <p:nvPr/>
        </p:nvCxnSpPr>
        <p:spPr>
          <a:xfrm>
            <a:off x="9232174" y="5396161"/>
            <a:ext cx="1097796" cy="0"/>
          </a:xfrm>
          <a:prstGeom prst="straightConnector1">
            <a:avLst/>
          </a:prstGeom>
          <a:ln w="19050">
            <a:headEnd type="none"/>
            <a:tailEnd type="triangle"/>
          </a:ln>
        </p:spPr>
        <p:style>
          <a:lnRef idx="1">
            <a:schemeClr val="accent1"/>
          </a:lnRef>
          <a:fillRef idx="0">
            <a:schemeClr val="accent1"/>
          </a:fillRef>
          <a:effectRef idx="0">
            <a:schemeClr val="accent1"/>
          </a:effectRef>
          <a:fontRef idx="minor">
            <a:schemeClr val="tx1"/>
          </a:fontRef>
        </p:style>
      </p:cxnSp>
      <p:sp>
        <p:nvSpPr>
          <p:cNvPr id="17" name="椭圆 16">
            <a:extLst>
              <a:ext uri="{FF2B5EF4-FFF2-40B4-BE49-F238E27FC236}">
                <a16:creationId xmlns:a16="http://schemas.microsoft.com/office/drawing/2014/main" id="{210DC860-AFBF-BF42-BC14-C87B65668D3E}"/>
              </a:ext>
            </a:extLst>
          </p:cNvPr>
          <p:cNvSpPr/>
          <p:nvPr/>
        </p:nvSpPr>
        <p:spPr>
          <a:xfrm>
            <a:off x="8074491" y="2246962"/>
            <a:ext cx="1014249" cy="951028"/>
          </a:xfrm>
          <a:prstGeom prst="ellipse">
            <a:avLst/>
          </a:prstGeom>
          <a:solidFill>
            <a:srgbClr val="E15E2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a:latin typeface="Times New Roman" panose="02020603050405020304" pitchFamily="18" charset="0"/>
                <a:cs typeface="Times New Roman" panose="02020603050405020304" pitchFamily="18" charset="0"/>
              </a:rPr>
              <a:t>PEP</a:t>
            </a:r>
            <a:endParaRPr kumimoji="1" lang="zh-CN" altLang="en-US" sz="2400" dirty="0">
              <a:latin typeface="Times New Roman" panose="02020603050405020304" pitchFamily="18" charset="0"/>
              <a:cs typeface="Times New Roman" panose="02020603050405020304" pitchFamily="18" charset="0"/>
            </a:endParaRPr>
          </a:p>
        </p:txBody>
      </p:sp>
      <p:grpSp>
        <p:nvGrpSpPr>
          <p:cNvPr id="19" name="组合 18">
            <a:extLst>
              <a:ext uri="{FF2B5EF4-FFF2-40B4-BE49-F238E27FC236}">
                <a16:creationId xmlns:a16="http://schemas.microsoft.com/office/drawing/2014/main" id="{62843014-8FAE-5548-8841-E0135D8BD85A}"/>
              </a:ext>
            </a:extLst>
          </p:cNvPr>
          <p:cNvGrpSpPr/>
          <p:nvPr/>
        </p:nvGrpSpPr>
        <p:grpSpPr>
          <a:xfrm>
            <a:off x="5705467" y="4912149"/>
            <a:ext cx="1014249" cy="951028"/>
            <a:chOff x="10846675" y="2127092"/>
            <a:chExt cx="1014249" cy="951028"/>
          </a:xfrm>
          <a:solidFill>
            <a:srgbClr val="B54E3D"/>
          </a:solidFill>
        </p:grpSpPr>
        <p:sp>
          <p:nvSpPr>
            <p:cNvPr id="18" name="椭圆 17">
              <a:extLst>
                <a:ext uri="{FF2B5EF4-FFF2-40B4-BE49-F238E27FC236}">
                  <a16:creationId xmlns:a16="http://schemas.microsoft.com/office/drawing/2014/main" id="{9852539B-84D2-D74B-9E48-2E0484B6A496}"/>
                </a:ext>
              </a:extLst>
            </p:cNvPr>
            <p:cNvSpPr/>
            <p:nvPr/>
          </p:nvSpPr>
          <p:spPr>
            <a:xfrm>
              <a:off x="10846675" y="2127092"/>
              <a:ext cx="1014249" cy="951028"/>
            </a:xfrm>
            <a:prstGeom prst="ellipse">
              <a:avLst/>
            </a:prstGeom>
            <a:solidFill>
              <a:srgbClr val="E15E2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dirty="0">
                <a:latin typeface="Times New Roman" panose="02020603050405020304" pitchFamily="18" charset="0"/>
                <a:cs typeface="Times New Roman" panose="02020603050405020304" pitchFamily="18" charset="0"/>
              </a:endParaRPr>
            </a:p>
          </p:txBody>
        </p:sp>
        <p:sp>
          <p:nvSpPr>
            <p:cNvPr id="3" name="矩形 2">
              <a:extLst>
                <a:ext uri="{FF2B5EF4-FFF2-40B4-BE49-F238E27FC236}">
                  <a16:creationId xmlns:a16="http://schemas.microsoft.com/office/drawing/2014/main" id="{92136371-3E9F-D64B-9565-AF638D2B85F2}"/>
                </a:ext>
              </a:extLst>
            </p:cNvPr>
            <p:cNvSpPr/>
            <p:nvPr/>
          </p:nvSpPr>
          <p:spPr>
            <a:xfrm>
              <a:off x="10990360" y="2377951"/>
              <a:ext cx="750526" cy="461665"/>
            </a:xfrm>
            <a:prstGeom prst="rect">
              <a:avLst/>
            </a:prstGeom>
            <a:noFill/>
            <a:ln>
              <a:noFill/>
            </a:ln>
          </p:spPr>
          <p:txBody>
            <a:bodyPr wrap="none">
              <a:spAutoFit/>
            </a:bodyPr>
            <a:lstStyle/>
            <a:p>
              <a:pPr algn="ctr"/>
              <a:r>
                <a:rPr kumimoji="1" lang="en-US" altLang="zh-CN" sz="2400" dirty="0">
                  <a:solidFill>
                    <a:srgbClr val="FFFFFF"/>
                  </a:solidFill>
                  <a:latin typeface="Times New Roman" panose="02020603050405020304" pitchFamily="18" charset="0"/>
                  <a:cs typeface="Times New Roman" panose="02020603050405020304" pitchFamily="18" charset="0"/>
                </a:rPr>
                <a:t>PDP</a:t>
              </a:r>
              <a:endParaRPr kumimoji="1" lang="zh-CN" altLang="en-US" sz="2400" dirty="0">
                <a:solidFill>
                  <a:srgbClr val="FFFFFF"/>
                </a:solidFill>
                <a:latin typeface="Times New Roman" panose="02020603050405020304" pitchFamily="18" charset="0"/>
                <a:cs typeface="Times New Roman" panose="02020603050405020304" pitchFamily="18" charset="0"/>
              </a:endParaRPr>
            </a:p>
          </p:txBody>
        </p:sp>
      </p:grpSp>
      <p:grpSp>
        <p:nvGrpSpPr>
          <p:cNvPr id="23" name="组合 22">
            <a:extLst>
              <a:ext uri="{FF2B5EF4-FFF2-40B4-BE49-F238E27FC236}">
                <a16:creationId xmlns:a16="http://schemas.microsoft.com/office/drawing/2014/main" id="{820A591B-3CDA-9649-A45E-4C20CA63FC0E}"/>
              </a:ext>
            </a:extLst>
          </p:cNvPr>
          <p:cNvGrpSpPr/>
          <p:nvPr/>
        </p:nvGrpSpPr>
        <p:grpSpPr>
          <a:xfrm>
            <a:off x="8217925" y="4920647"/>
            <a:ext cx="1014249" cy="951028"/>
            <a:chOff x="10846675" y="2127092"/>
            <a:chExt cx="1014249" cy="951028"/>
          </a:xfrm>
          <a:solidFill>
            <a:srgbClr val="B54E3D"/>
          </a:solidFill>
        </p:grpSpPr>
        <p:sp>
          <p:nvSpPr>
            <p:cNvPr id="24" name="椭圆 23">
              <a:extLst>
                <a:ext uri="{FF2B5EF4-FFF2-40B4-BE49-F238E27FC236}">
                  <a16:creationId xmlns:a16="http://schemas.microsoft.com/office/drawing/2014/main" id="{FAB7173D-A569-A743-86CD-E541FB02CB50}"/>
                </a:ext>
              </a:extLst>
            </p:cNvPr>
            <p:cNvSpPr/>
            <p:nvPr/>
          </p:nvSpPr>
          <p:spPr>
            <a:xfrm>
              <a:off x="10846675" y="2127092"/>
              <a:ext cx="1014249" cy="951028"/>
            </a:xfrm>
            <a:prstGeom prst="ellipse">
              <a:avLst/>
            </a:prstGeom>
            <a:solidFill>
              <a:srgbClr val="E15E2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dirty="0">
                <a:latin typeface="Times New Roman" panose="02020603050405020304" pitchFamily="18" charset="0"/>
                <a:cs typeface="Times New Roman" panose="02020603050405020304" pitchFamily="18" charset="0"/>
              </a:endParaRPr>
            </a:p>
          </p:txBody>
        </p:sp>
        <p:sp>
          <p:nvSpPr>
            <p:cNvPr id="25" name="矩形 24">
              <a:extLst>
                <a:ext uri="{FF2B5EF4-FFF2-40B4-BE49-F238E27FC236}">
                  <a16:creationId xmlns:a16="http://schemas.microsoft.com/office/drawing/2014/main" id="{D9362A2E-2416-6540-B40F-E4D90EDE0F77}"/>
                </a:ext>
              </a:extLst>
            </p:cNvPr>
            <p:cNvSpPr/>
            <p:nvPr/>
          </p:nvSpPr>
          <p:spPr>
            <a:xfrm>
              <a:off x="11050472" y="2377951"/>
              <a:ext cx="630301" cy="461665"/>
            </a:xfrm>
            <a:prstGeom prst="rect">
              <a:avLst/>
            </a:prstGeom>
            <a:noFill/>
          </p:spPr>
          <p:txBody>
            <a:bodyPr wrap="none">
              <a:spAutoFit/>
            </a:bodyPr>
            <a:lstStyle/>
            <a:p>
              <a:pPr algn="ctr"/>
              <a:r>
                <a:rPr kumimoji="1" lang="en-US" altLang="zh-CN" sz="2400" dirty="0">
                  <a:solidFill>
                    <a:srgbClr val="FFFFFF"/>
                  </a:solidFill>
                  <a:latin typeface="Times New Roman" panose="02020603050405020304" pitchFamily="18" charset="0"/>
                  <a:cs typeface="Times New Roman" panose="02020603050405020304" pitchFamily="18" charset="0"/>
                </a:rPr>
                <a:t>PIP</a:t>
              </a:r>
              <a:endParaRPr kumimoji="1" lang="zh-CN" altLang="en-US" sz="2400" dirty="0">
                <a:solidFill>
                  <a:srgbClr val="FFFFFF"/>
                </a:solidFill>
                <a:latin typeface="Times New Roman" panose="02020603050405020304" pitchFamily="18" charset="0"/>
                <a:cs typeface="Times New Roman" panose="02020603050405020304" pitchFamily="18" charset="0"/>
              </a:endParaRPr>
            </a:p>
          </p:txBody>
        </p:sp>
      </p:grpSp>
      <p:cxnSp>
        <p:nvCxnSpPr>
          <p:cNvPr id="29" name="直线箭头连接符 28">
            <a:extLst>
              <a:ext uri="{FF2B5EF4-FFF2-40B4-BE49-F238E27FC236}">
                <a16:creationId xmlns:a16="http://schemas.microsoft.com/office/drawing/2014/main" id="{23E46085-9F98-6F48-88D0-F047F1007B11}"/>
              </a:ext>
            </a:extLst>
          </p:cNvPr>
          <p:cNvCxnSpPr>
            <a:cxnSpLocks/>
            <a:stCxn id="10" idx="2"/>
            <a:endCxn id="17" idx="6"/>
          </p:cNvCxnSpPr>
          <p:nvPr/>
        </p:nvCxnSpPr>
        <p:spPr>
          <a:xfrm flipH="1" flipV="1">
            <a:off x="9088740" y="2722476"/>
            <a:ext cx="1520057" cy="2660"/>
          </a:xfrm>
          <a:prstGeom prst="straightConnector1">
            <a:avLst/>
          </a:prstGeom>
          <a:ln w="19050">
            <a:headEnd type="none"/>
            <a:tailEnd type="triangle"/>
          </a:ln>
        </p:spPr>
        <p:style>
          <a:lnRef idx="1">
            <a:schemeClr val="accent1"/>
          </a:lnRef>
          <a:fillRef idx="0">
            <a:schemeClr val="accent1"/>
          </a:fillRef>
          <a:effectRef idx="0">
            <a:schemeClr val="accent1"/>
          </a:effectRef>
          <a:fontRef idx="minor">
            <a:schemeClr val="tx1"/>
          </a:fontRef>
        </p:style>
      </p:cxnSp>
      <p:sp>
        <p:nvSpPr>
          <p:cNvPr id="35" name="左中括号 34">
            <a:extLst>
              <a:ext uri="{FF2B5EF4-FFF2-40B4-BE49-F238E27FC236}">
                <a16:creationId xmlns:a16="http://schemas.microsoft.com/office/drawing/2014/main" id="{EE0F4A1C-B2E7-3743-90C5-7F64715B7E6C}"/>
              </a:ext>
            </a:extLst>
          </p:cNvPr>
          <p:cNvSpPr/>
          <p:nvPr/>
        </p:nvSpPr>
        <p:spPr>
          <a:xfrm>
            <a:off x="10086859" y="4618913"/>
            <a:ext cx="225181" cy="1634927"/>
          </a:xfrm>
          <a:prstGeom prst="leftBracket">
            <a:avLst/>
          </a:prstGeom>
          <a:ln>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cxnSp>
        <p:nvCxnSpPr>
          <p:cNvPr id="38" name="直线箭头连接符 37">
            <a:extLst>
              <a:ext uri="{FF2B5EF4-FFF2-40B4-BE49-F238E27FC236}">
                <a16:creationId xmlns:a16="http://schemas.microsoft.com/office/drawing/2014/main" id="{5952AD8F-98DA-2948-9271-71FCF8CF1E6C}"/>
              </a:ext>
            </a:extLst>
          </p:cNvPr>
          <p:cNvCxnSpPr>
            <a:cxnSpLocks/>
            <a:stCxn id="18" idx="6"/>
            <a:endCxn id="24" idx="2"/>
          </p:cNvCxnSpPr>
          <p:nvPr/>
        </p:nvCxnSpPr>
        <p:spPr>
          <a:xfrm>
            <a:off x="6719716" y="5387663"/>
            <a:ext cx="1498209" cy="8498"/>
          </a:xfrm>
          <a:prstGeom prst="straightConnector1">
            <a:avLst/>
          </a:prstGeom>
          <a:ln w="1905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0" name="肘形连接符 39">
            <a:extLst>
              <a:ext uri="{FF2B5EF4-FFF2-40B4-BE49-F238E27FC236}">
                <a16:creationId xmlns:a16="http://schemas.microsoft.com/office/drawing/2014/main" id="{EF3A4C69-D2DD-4D45-85BB-BC9BE0AB7242}"/>
              </a:ext>
            </a:extLst>
          </p:cNvPr>
          <p:cNvCxnSpPr>
            <a:cxnSpLocks/>
            <a:stCxn id="17" idx="4"/>
            <a:endCxn id="18" idx="0"/>
          </p:cNvCxnSpPr>
          <p:nvPr/>
        </p:nvCxnSpPr>
        <p:spPr>
          <a:xfrm rot="5400000">
            <a:off x="6540025" y="2870557"/>
            <a:ext cx="1714159" cy="236902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id="{1CE95113-3F8D-F54F-B053-1218A99D466F}"/>
              </a:ext>
            </a:extLst>
          </p:cNvPr>
          <p:cNvSpPr/>
          <p:nvPr/>
        </p:nvSpPr>
        <p:spPr>
          <a:xfrm>
            <a:off x="10360906" y="5176060"/>
            <a:ext cx="1210588" cy="400110"/>
          </a:xfrm>
          <a:prstGeom prst="rect">
            <a:avLst/>
          </a:prstGeom>
          <a:solidFill>
            <a:srgbClr val="00B0F0"/>
          </a:solidFill>
        </p:spPr>
        <p:txBody>
          <a:bodyPr wrap="none">
            <a:spAutoFit/>
          </a:bodyPr>
          <a:lstStyle/>
          <a:p>
            <a:r>
              <a:rPr lang="zh-CN" altLang="en-US" sz="2000" dirty="0">
                <a:solidFill>
                  <a:schemeClr val="bg1"/>
                </a:solidFill>
                <a:latin typeface="Microsoft YaHei" panose="020B0503020204020204" pitchFamily="34" charset="-122"/>
                <a:ea typeface="Microsoft YaHei" panose="020B0503020204020204" pitchFamily="34" charset="-122"/>
              </a:rPr>
              <a:t>客體屬性</a:t>
            </a:r>
            <a:endParaRPr lang="zh-CN" altLang="en-US" sz="2000" dirty="0">
              <a:solidFill>
                <a:schemeClr val="bg1"/>
              </a:solidFill>
            </a:endParaRPr>
          </a:p>
        </p:txBody>
      </p:sp>
      <p:sp>
        <p:nvSpPr>
          <p:cNvPr id="46" name="矩形 45">
            <a:extLst>
              <a:ext uri="{FF2B5EF4-FFF2-40B4-BE49-F238E27FC236}">
                <a16:creationId xmlns:a16="http://schemas.microsoft.com/office/drawing/2014/main" id="{2291ED60-D891-FF44-A5E8-E4CB12A7700C}"/>
              </a:ext>
            </a:extLst>
          </p:cNvPr>
          <p:cNvSpPr/>
          <p:nvPr/>
        </p:nvSpPr>
        <p:spPr>
          <a:xfrm>
            <a:off x="10360906" y="6047843"/>
            <a:ext cx="1210588" cy="400110"/>
          </a:xfrm>
          <a:prstGeom prst="rect">
            <a:avLst/>
          </a:prstGeom>
          <a:solidFill>
            <a:srgbClr val="00B0F0"/>
          </a:solidFill>
        </p:spPr>
        <p:txBody>
          <a:bodyPr wrap="none">
            <a:spAutoFit/>
          </a:bodyPr>
          <a:lstStyle/>
          <a:p>
            <a:r>
              <a:rPr lang="zh-CN" altLang="en-US" sz="2000" dirty="0">
                <a:solidFill>
                  <a:schemeClr val="bg1"/>
                </a:solidFill>
                <a:latin typeface="Microsoft YaHei" panose="020B0503020204020204" pitchFamily="34" charset="-122"/>
                <a:ea typeface="Microsoft YaHei" panose="020B0503020204020204" pitchFamily="34" charset="-122"/>
              </a:rPr>
              <a:t>環境屬性</a:t>
            </a:r>
            <a:endParaRPr lang="zh-CN" altLang="en-US" sz="2000" dirty="0">
              <a:solidFill>
                <a:schemeClr val="bg1"/>
              </a:solidFill>
            </a:endParaRPr>
          </a:p>
        </p:txBody>
      </p:sp>
      <p:sp>
        <p:nvSpPr>
          <p:cNvPr id="47" name="内容占位符 2">
            <a:extLst>
              <a:ext uri="{FF2B5EF4-FFF2-40B4-BE49-F238E27FC236}">
                <a16:creationId xmlns:a16="http://schemas.microsoft.com/office/drawing/2014/main" id="{D556FB17-60F7-5945-A2F2-7365A35A8409}"/>
              </a:ext>
            </a:extLst>
          </p:cNvPr>
          <p:cNvSpPr txBox="1">
            <a:spLocks/>
          </p:cNvSpPr>
          <p:nvPr/>
        </p:nvSpPr>
        <p:spPr>
          <a:xfrm>
            <a:off x="686355" y="2058360"/>
            <a:ext cx="4914345" cy="4427694"/>
          </a:xfrm>
          <a:prstGeom prst="rect">
            <a:avLst/>
          </a:prstGeom>
          <a:ln>
            <a:solidFill>
              <a:srgbClr val="00B0F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zh-CN" altLang="en-US" sz="2400" dirty="0">
                <a:latin typeface="Microsoft YaHei" panose="020B0503020204020204" pitchFamily="34" charset="-122"/>
                <a:ea typeface="Microsoft YaHei" panose="020B0503020204020204" pitchFamily="34" charset="-122"/>
              </a:rPr>
              <a:t>策略實施點 </a:t>
            </a:r>
            <a:r>
              <a:rPr lang="en-US" altLang="zh-CN" sz="2400" dirty="0">
                <a:latin typeface="Microsoft YaHei" panose="020B0503020204020204" pitchFamily="34" charset="-122"/>
                <a:ea typeface="Microsoft YaHei" panose="020B0503020204020204" pitchFamily="34" charset="-122"/>
              </a:rPr>
              <a:t>PEP</a:t>
            </a:r>
            <a:r>
              <a:rPr lang="zh-CN" altLang="en-US" sz="2400" dirty="0">
                <a:latin typeface="Microsoft YaHei" panose="020B0503020204020204" pitchFamily="34" charset="-122"/>
                <a:ea typeface="Microsoft YaHei" panose="020B0503020204020204" pitchFamily="34" charset="-122"/>
              </a:rPr>
              <a:t>：攔截訪問用戶的請求，幷請求</a:t>
            </a:r>
            <a:r>
              <a:rPr lang="en-US" altLang="zh-CN" sz="2400" dirty="0">
                <a:latin typeface="Microsoft YaHei" panose="020B0503020204020204" pitchFamily="34" charset="-122"/>
                <a:ea typeface="Microsoft YaHei" panose="020B0503020204020204" pitchFamily="34" charset="-122"/>
              </a:rPr>
              <a:t>PDP</a:t>
            </a:r>
            <a:r>
              <a:rPr lang="zh-CN" altLang="en-US" sz="2400" dirty="0">
                <a:latin typeface="Microsoft YaHei" panose="020B0503020204020204" pitchFamily="34" charset="-122"/>
                <a:ea typeface="Microsoft YaHei" panose="020B0503020204020204" pitchFamily="34" charset="-122"/>
              </a:rPr>
              <a:t>對該請求進行評估，判斷是否允許此次訪問</a:t>
            </a:r>
            <a:endParaRPr lang="en-US" altLang="zh-CN" sz="2400" dirty="0">
              <a:latin typeface="Microsoft YaHei" panose="020B0503020204020204" pitchFamily="34" charset="-122"/>
              <a:ea typeface="Microsoft YaHei" panose="020B0503020204020204" pitchFamily="34" charset="-122"/>
            </a:endParaRPr>
          </a:p>
          <a:p>
            <a:pPr algn="just">
              <a:lnSpc>
                <a:spcPct val="150000"/>
              </a:lnSpc>
            </a:pPr>
            <a:r>
              <a:rPr lang="zh-CN" altLang="en-US" sz="2400" dirty="0">
                <a:latin typeface="Microsoft YaHei" panose="020B0503020204020204" pitchFamily="34" charset="-122"/>
                <a:ea typeface="Microsoft YaHei" panose="020B0503020204020204" pitchFamily="34" charset="-122"/>
              </a:rPr>
              <a:t>策略决策點 </a:t>
            </a:r>
            <a:r>
              <a:rPr lang="en-US" altLang="zh-CN" sz="2400" dirty="0">
                <a:latin typeface="Microsoft YaHei" panose="020B0503020204020204" pitchFamily="34" charset="-122"/>
                <a:ea typeface="Microsoft YaHei" panose="020B0503020204020204" pitchFamily="34" charset="-122"/>
              </a:rPr>
              <a:t>PDP</a:t>
            </a:r>
            <a:r>
              <a:rPr lang="zh-CN" altLang="en-US" sz="2400" dirty="0">
                <a:latin typeface="Microsoft YaHei" panose="020B0503020204020204" pitchFamily="34" charset="-122"/>
                <a:ea typeface="Microsoft YaHei" panose="020B0503020204020204" pitchFamily="34" charset="-122"/>
              </a:rPr>
              <a:t>：根據訪問屬性及策略判斷訪問請求是否被允許</a:t>
            </a:r>
            <a:endParaRPr lang="en-US" altLang="zh-CN" sz="2400" dirty="0">
              <a:latin typeface="Microsoft YaHei" panose="020B0503020204020204" pitchFamily="34" charset="-122"/>
              <a:ea typeface="Microsoft YaHei" panose="020B0503020204020204" pitchFamily="34" charset="-122"/>
            </a:endParaRPr>
          </a:p>
          <a:p>
            <a:pPr algn="just">
              <a:lnSpc>
                <a:spcPct val="150000"/>
              </a:lnSpc>
            </a:pPr>
            <a:r>
              <a:rPr lang="zh-CN" altLang="en-US" sz="2400" dirty="0">
                <a:latin typeface="Microsoft YaHei" panose="020B0503020204020204" pitchFamily="34" charset="-122"/>
                <a:ea typeface="Microsoft YaHei" panose="020B0503020204020204" pitchFamily="34" charset="-122"/>
              </a:rPr>
              <a:t>策略信息點</a:t>
            </a:r>
            <a:r>
              <a:rPr lang="en-US" altLang="zh-CN" sz="2400" dirty="0">
                <a:latin typeface="Microsoft YaHei" panose="020B0503020204020204" pitchFamily="34" charset="-122"/>
                <a:ea typeface="Microsoft YaHei" panose="020B0503020204020204" pitchFamily="34" charset="-122"/>
              </a:rPr>
              <a:t>PIP</a:t>
            </a:r>
            <a:r>
              <a:rPr lang="zh-CN" altLang="en-US" sz="2400" dirty="0">
                <a:latin typeface="Microsoft YaHei" panose="020B0503020204020204" pitchFamily="34" charset="-122"/>
                <a:ea typeface="Microsoft YaHei" panose="020B0503020204020204" pitchFamily="34" charset="-122"/>
              </a:rPr>
              <a:t>：提供屬性信息，輔助訪問控制</a:t>
            </a:r>
            <a:endParaRPr lang="en-US" altLang="zh-CN" sz="2400" dirty="0">
              <a:latin typeface="Microsoft YaHei" panose="020B0503020204020204" pitchFamily="34" charset="-122"/>
              <a:ea typeface="Microsoft YaHei" panose="020B0503020204020204" pitchFamily="34" charset="-122"/>
            </a:endParaRPr>
          </a:p>
        </p:txBody>
      </p:sp>
      <p:sp>
        <p:nvSpPr>
          <p:cNvPr id="50" name="矩形 49">
            <a:extLst>
              <a:ext uri="{FF2B5EF4-FFF2-40B4-BE49-F238E27FC236}">
                <a16:creationId xmlns:a16="http://schemas.microsoft.com/office/drawing/2014/main" id="{5F345D44-92B1-8041-B93D-80BC605DEF37}"/>
              </a:ext>
            </a:extLst>
          </p:cNvPr>
          <p:cNvSpPr/>
          <p:nvPr/>
        </p:nvSpPr>
        <p:spPr>
          <a:xfrm>
            <a:off x="6843106" y="2381094"/>
            <a:ext cx="1107996" cy="369332"/>
          </a:xfrm>
          <a:prstGeom prst="rect">
            <a:avLst/>
          </a:prstGeom>
        </p:spPr>
        <p:txBody>
          <a:bodyPr wrap="none">
            <a:spAutoFit/>
          </a:bodyPr>
          <a:lstStyle/>
          <a:p>
            <a:r>
              <a:rPr lang="zh-CN" altLang="en-US" dirty="0">
                <a:latin typeface="Microsoft YaHei" panose="020B0503020204020204" pitchFamily="34" charset="-122"/>
                <a:ea typeface="Microsoft YaHei" panose="020B0503020204020204" pitchFamily="34" charset="-122"/>
              </a:rPr>
              <a:t>發起訪問</a:t>
            </a:r>
          </a:p>
        </p:txBody>
      </p:sp>
      <p:sp>
        <p:nvSpPr>
          <p:cNvPr id="51" name="矩形 50">
            <a:extLst>
              <a:ext uri="{FF2B5EF4-FFF2-40B4-BE49-F238E27FC236}">
                <a16:creationId xmlns:a16="http://schemas.microsoft.com/office/drawing/2014/main" id="{45CFB0FC-DDFA-A643-915E-D770062D6F4E}"/>
              </a:ext>
            </a:extLst>
          </p:cNvPr>
          <p:cNvSpPr/>
          <p:nvPr/>
        </p:nvSpPr>
        <p:spPr>
          <a:xfrm>
            <a:off x="9373631" y="2336313"/>
            <a:ext cx="1107996" cy="369332"/>
          </a:xfrm>
          <a:prstGeom prst="rect">
            <a:avLst/>
          </a:prstGeom>
        </p:spPr>
        <p:txBody>
          <a:bodyPr wrap="none">
            <a:spAutoFit/>
          </a:bodyPr>
          <a:lstStyle/>
          <a:p>
            <a:r>
              <a:rPr lang="zh-CN" altLang="en-US" dirty="0">
                <a:latin typeface="Microsoft YaHei" panose="020B0503020204020204" pitchFamily="34" charset="-122"/>
                <a:ea typeface="Microsoft YaHei" panose="020B0503020204020204" pitchFamily="34" charset="-122"/>
              </a:rPr>
              <a:t>返回資源</a:t>
            </a:r>
          </a:p>
        </p:txBody>
      </p:sp>
      <p:sp>
        <p:nvSpPr>
          <p:cNvPr id="52" name="矩形 51">
            <a:extLst>
              <a:ext uri="{FF2B5EF4-FFF2-40B4-BE49-F238E27FC236}">
                <a16:creationId xmlns:a16="http://schemas.microsoft.com/office/drawing/2014/main" id="{19910045-0C49-FC44-8D96-6D2ACE5CAD94}"/>
              </a:ext>
            </a:extLst>
          </p:cNvPr>
          <p:cNvSpPr/>
          <p:nvPr/>
        </p:nvSpPr>
        <p:spPr>
          <a:xfrm>
            <a:off x="6840992" y="3665006"/>
            <a:ext cx="1107996" cy="369332"/>
          </a:xfrm>
          <a:prstGeom prst="rect">
            <a:avLst/>
          </a:prstGeom>
        </p:spPr>
        <p:txBody>
          <a:bodyPr wrap="none">
            <a:spAutoFit/>
          </a:bodyPr>
          <a:lstStyle/>
          <a:p>
            <a:r>
              <a:rPr lang="zh-CN" altLang="en-US" dirty="0">
                <a:latin typeface="Microsoft YaHei" panose="020B0503020204020204" pitchFamily="34" charset="-122"/>
                <a:ea typeface="Microsoft YaHei" panose="020B0503020204020204" pitchFamily="34" charset="-122"/>
              </a:rPr>
              <a:t>請求决策</a:t>
            </a:r>
          </a:p>
        </p:txBody>
      </p:sp>
      <p:sp>
        <p:nvSpPr>
          <p:cNvPr id="53" name="矩形 52">
            <a:extLst>
              <a:ext uri="{FF2B5EF4-FFF2-40B4-BE49-F238E27FC236}">
                <a16:creationId xmlns:a16="http://schemas.microsoft.com/office/drawing/2014/main" id="{C909E838-1153-6D42-9B83-6EB8F2A42ADC}"/>
              </a:ext>
            </a:extLst>
          </p:cNvPr>
          <p:cNvSpPr/>
          <p:nvPr/>
        </p:nvSpPr>
        <p:spPr>
          <a:xfrm>
            <a:off x="6970459" y="4431323"/>
            <a:ext cx="1277077" cy="923330"/>
          </a:xfrm>
          <a:prstGeom prst="rect">
            <a:avLst/>
          </a:prstGeom>
        </p:spPr>
        <p:txBody>
          <a:bodyPr wrap="square">
            <a:spAutoFit/>
          </a:bodyPr>
          <a:lstStyle/>
          <a:p>
            <a:r>
              <a:rPr lang="zh-CN" altLang="en-US" dirty="0">
                <a:latin typeface="Microsoft YaHei" panose="020B0503020204020204" pitchFamily="34" charset="-122"/>
                <a:ea typeface="Microsoft YaHei" panose="020B0503020204020204" pitchFamily="34" charset="-122"/>
              </a:rPr>
              <a:t>提取屬性信息，輔助决策</a:t>
            </a:r>
          </a:p>
        </p:txBody>
      </p:sp>
      <p:sp>
        <p:nvSpPr>
          <p:cNvPr id="54" name="矩形 53">
            <a:extLst>
              <a:ext uri="{FF2B5EF4-FFF2-40B4-BE49-F238E27FC236}">
                <a16:creationId xmlns:a16="http://schemas.microsoft.com/office/drawing/2014/main" id="{FAD14725-740A-A044-955D-2E49CD647B19}"/>
              </a:ext>
            </a:extLst>
          </p:cNvPr>
          <p:cNvSpPr/>
          <p:nvPr/>
        </p:nvSpPr>
        <p:spPr>
          <a:xfrm>
            <a:off x="9336351" y="5018331"/>
            <a:ext cx="646331" cy="369332"/>
          </a:xfrm>
          <a:prstGeom prst="rect">
            <a:avLst/>
          </a:prstGeom>
        </p:spPr>
        <p:txBody>
          <a:bodyPr wrap="none">
            <a:spAutoFit/>
          </a:bodyPr>
          <a:lstStyle/>
          <a:p>
            <a:r>
              <a:rPr lang="zh-CN" altLang="en-US" dirty="0">
                <a:latin typeface="Microsoft YaHei" panose="020B0503020204020204" pitchFamily="34" charset="-122"/>
                <a:ea typeface="Microsoft YaHei" panose="020B0503020204020204" pitchFamily="34" charset="-122"/>
              </a:rPr>
              <a:t>考慮</a:t>
            </a:r>
            <a:endParaRPr lang="zh-CN" altLang="en-US" dirty="0"/>
          </a:p>
        </p:txBody>
      </p:sp>
      <p:sp>
        <p:nvSpPr>
          <p:cNvPr id="30" name="灯片编号占位符 2">
            <a:extLst>
              <a:ext uri="{FF2B5EF4-FFF2-40B4-BE49-F238E27FC236}">
                <a16:creationId xmlns:a16="http://schemas.microsoft.com/office/drawing/2014/main" id="{64F9AA0A-EDD6-5A4C-8833-464F14732B18}"/>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79</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104160067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基于信任管理的訪問控制</a:t>
            </a:r>
          </a:p>
        </p:txBody>
      </p:sp>
      <p:sp>
        <p:nvSpPr>
          <p:cNvPr id="6" name="矩形 5">
            <a:extLst>
              <a:ext uri="{FF2B5EF4-FFF2-40B4-BE49-F238E27FC236}">
                <a16:creationId xmlns:a16="http://schemas.microsoft.com/office/drawing/2014/main" id="{75703C69-861A-6F41-A2B3-17F722B3A1F1}"/>
              </a:ext>
            </a:extLst>
          </p:cNvPr>
          <p:cNvSpPr/>
          <p:nvPr/>
        </p:nvSpPr>
        <p:spPr>
          <a:xfrm>
            <a:off x="1086406" y="1051411"/>
            <a:ext cx="10637855" cy="951030"/>
          </a:xfrm>
          <a:prstGeom prst="rect">
            <a:avLst/>
          </a:prstGeom>
        </p:spPr>
        <p:txBody>
          <a:bodyPr wrap="square">
            <a:spAutoFit/>
          </a:bodyPr>
          <a:lstStyle/>
          <a:p>
            <a:pPr algn="ctr">
              <a:lnSpc>
                <a:spcPts val="3500"/>
              </a:lnSpc>
            </a:pPr>
            <a:r>
              <a:rPr lang="zh-CN" altLang="en-US" sz="24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基于用戶之間的初始信任和歷史交互記錄得到信任值，</a:t>
            </a:r>
            <a:endParaRPr lang="en-US" altLang="zh-CN" sz="24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endParaRPr>
          </a:p>
          <a:p>
            <a:pPr algn="ctr">
              <a:lnSpc>
                <a:spcPts val="3500"/>
              </a:lnSpc>
            </a:pPr>
            <a:r>
              <a:rPr lang="zh-CN" altLang="en-US" sz="24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然後根據信任值等級的不同給予相應的訪問權限</a:t>
            </a:r>
            <a:endParaRPr lang="zh-CN" altLang="en-US" sz="2400" b="1" dirty="0">
              <a:solidFill>
                <a:srgbClr val="C00000"/>
              </a:solidFill>
              <a:latin typeface="Microsoft YaHei" panose="020B0503020204020204" pitchFamily="34" charset="-122"/>
              <a:ea typeface="Microsoft YaHei" panose="020B0503020204020204" pitchFamily="34" charset="-122"/>
            </a:endParaRPr>
          </a:p>
        </p:txBody>
      </p:sp>
      <p:sp>
        <p:nvSpPr>
          <p:cNvPr id="8" name="内容占位符 2">
            <a:extLst>
              <a:ext uri="{FF2B5EF4-FFF2-40B4-BE49-F238E27FC236}">
                <a16:creationId xmlns:a16="http://schemas.microsoft.com/office/drawing/2014/main" id="{1085AA17-AE49-2C45-8F9C-EBE3EE23BF00}"/>
              </a:ext>
            </a:extLst>
          </p:cNvPr>
          <p:cNvSpPr txBox="1">
            <a:spLocks/>
          </p:cNvSpPr>
          <p:nvPr/>
        </p:nvSpPr>
        <p:spPr>
          <a:xfrm>
            <a:off x="932280" y="2239249"/>
            <a:ext cx="6851647" cy="4136491"/>
          </a:xfrm>
          <a:prstGeom prst="rect">
            <a:avLst/>
          </a:prstGeom>
          <a:ln>
            <a:solidFill>
              <a:srgbClr val="00B0F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3600"/>
              </a:lnSpc>
            </a:pPr>
            <a:r>
              <a:rPr lang="zh-CN" altLang="en-US" sz="2400" dirty="0">
                <a:latin typeface="Microsoft YaHei" panose="020B0503020204020204" pitchFamily="34" charset="-122"/>
                <a:ea typeface="Microsoft YaHei" panose="020B0503020204020204" pitchFamily="34" charset="-122"/>
              </a:rPr>
              <a:t>基本信任：代表著節點由于自身的屬性所具有的默認信任值，依據可以是節點的角色、節點所使用的操作系統、登錄地點、 地址等</a:t>
            </a:r>
            <a:endParaRPr lang="en-US" altLang="zh-CN" sz="2400" dirty="0">
              <a:latin typeface="Microsoft YaHei" panose="020B0503020204020204" pitchFamily="34" charset="-122"/>
              <a:ea typeface="Microsoft YaHei" panose="020B0503020204020204" pitchFamily="34" charset="-122"/>
            </a:endParaRPr>
          </a:p>
          <a:p>
            <a:pPr algn="just">
              <a:lnSpc>
                <a:spcPts val="3600"/>
              </a:lnSpc>
            </a:pPr>
            <a:r>
              <a:rPr lang="zh-CN" altLang="en-US" sz="2400" dirty="0">
                <a:latin typeface="Microsoft YaHei" panose="020B0503020204020204" pitchFamily="34" charset="-122"/>
                <a:ea typeface="Microsoft YaHei" panose="020B0503020204020204" pitchFamily="34" charset="-122"/>
              </a:rPr>
              <a:t>直接信任：由主體和客體之間的交互歷史産生，直接信任隨著兩者的持續交互而逐漸積累</a:t>
            </a:r>
            <a:endParaRPr lang="en-US" altLang="zh-CN" sz="2400" dirty="0">
              <a:latin typeface="Microsoft YaHei" panose="020B0503020204020204" pitchFamily="34" charset="-122"/>
              <a:ea typeface="Microsoft YaHei" panose="020B0503020204020204" pitchFamily="34" charset="-122"/>
            </a:endParaRPr>
          </a:p>
          <a:p>
            <a:pPr algn="just">
              <a:lnSpc>
                <a:spcPts val="3600"/>
              </a:lnSpc>
            </a:pPr>
            <a:r>
              <a:rPr lang="zh-CN" altLang="en-US" sz="2400" dirty="0">
                <a:latin typeface="Microsoft YaHei" panose="020B0503020204020204" pitchFamily="34" charset="-122"/>
                <a:ea typeface="Microsoft YaHei" panose="020B0503020204020204" pitchFamily="34" charset="-122"/>
              </a:rPr>
              <a:t>推薦信任：依據信任值的傳遞性産生，主體可以參考其它節點與客體的交互歷史對客體進行信任評價，也稱作“間接信任”</a:t>
            </a:r>
          </a:p>
        </p:txBody>
      </p:sp>
      <p:sp>
        <p:nvSpPr>
          <p:cNvPr id="9" name="Oval 8">
            <a:extLst>
              <a:ext uri="{FF2B5EF4-FFF2-40B4-BE49-F238E27FC236}">
                <a16:creationId xmlns:a16="http://schemas.microsoft.com/office/drawing/2014/main" id="{44458AC1-9BEF-1049-BDBE-99A97209B152}"/>
              </a:ext>
            </a:extLst>
          </p:cNvPr>
          <p:cNvSpPr>
            <a:spLocks noChangeArrowheads="1"/>
          </p:cNvSpPr>
          <p:nvPr/>
        </p:nvSpPr>
        <p:spPr bwMode="auto">
          <a:xfrm>
            <a:off x="8200599" y="4300110"/>
            <a:ext cx="503925" cy="503925"/>
          </a:xfrm>
          <a:prstGeom prst="ellipse">
            <a:avLst/>
          </a:prstGeom>
          <a:solidFill>
            <a:srgbClr val="BBE0E3"/>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800" b="0" i="0" u="none" strike="noStrike" kern="0" cap="none" spc="0" normalizeH="0" baseline="0" noProof="0" dirty="0" err="1">
                <a:ln>
                  <a:noFill/>
                </a:ln>
                <a:solidFill>
                  <a:srgbClr val="000000"/>
                </a:solidFill>
                <a:effectLst/>
                <a:uLnTx/>
                <a:uFillTx/>
                <a:latin typeface="Monotype Corsiva" panose="03010101010201010101" pitchFamily="66" charset="0"/>
                <a:ea typeface="宋体" panose="02010600030101010101" pitchFamily="2" charset="-122"/>
              </a:rPr>
              <a:t>i</a:t>
            </a:r>
            <a:endParaRPr kumimoji="0" lang="en-US" altLang="zh-CN" sz="1800" b="0" i="0" u="none" strike="noStrike" kern="0" cap="none" spc="0" normalizeH="0" baseline="0" noProof="0" dirty="0">
              <a:ln>
                <a:noFill/>
              </a:ln>
              <a:solidFill>
                <a:srgbClr val="000000"/>
              </a:solidFill>
              <a:effectLst/>
              <a:uLnTx/>
              <a:uFillTx/>
              <a:latin typeface="Monotype Corsiva" panose="03010101010201010101" pitchFamily="66" charset="0"/>
              <a:ea typeface="宋体" panose="02010600030101010101" pitchFamily="2" charset="-122"/>
            </a:endParaRPr>
          </a:p>
        </p:txBody>
      </p:sp>
      <p:sp>
        <p:nvSpPr>
          <p:cNvPr id="10" name="Oval 9">
            <a:extLst>
              <a:ext uri="{FF2B5EF4-FFF2-40B4-BE49-F238E27FC236}">
                <a16:creationId xmlns:a16="http://schemas.microsoft.com/office/drawing/2014/main" id="{44BB24AB-E56E-FA4D-A22F-5480CA2086AD}"/>
              </a:ext>
            </a:extLst>
          </p:cNvPr>
          <p:cNvSpPr>
            <a:spLocks noChangeArrowheads="1"/>
          </p:cNvSpPr>
          <p:nvPr/>
        </p:nvSpPr>
        <p:spPr bwMode="auto">
          <a:xfrm>
            <a:off x="9501243" y="5448025"/>
            <a:ext cx="503925" cy="503925"/>
          </a:xfrm>
          <a:prstGeom prst="ellipse">
            <a:avLst/>
          </a:prstGeom>
          <a:solidFill>
            <a:srgbClr val="BBE0E3"/>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Monotype Corsiva" panose="03010101010201010101" pitchFamily="66" charset="0"/>
                <a:ea typeface="宋体" panose="02010600030101010101" pitchFamily="2" charset="-122"/>
              </a:rPr>
              <a:t>j</a:t>
            </a:r>
          </a:p>
        </p:txBody>
      </p:sp>
      <p:sp>
        <p:nvSpPr>
          <p:cNvPr id="11" name="Oval 10">
            <a:extLst>
              <a:ext uri="{FF2B5EF4-FFF2-40B4-BE49-F238E27FC236}">
                <a16:creationId xmlns:a16="http://schemas.microsoft.com/office/drawing/2014/main" id="{B0F59BBA-D2F1-024F-BA35-60DCC3CBBF54}"/>
              </a:ext>
            </a:extLst>
          </p:cNvPr>
          <p:cNvSpPr>
            <a:spLocks noChangeArrowheads="1"/>
          </p:cNvSpPr>
          <p:nvPr/>
        </p:nvSpPr>
        <p:spPr bwMode="auto">
          <a:xfrm>
            <a:off x="10755676" y="4300109"/>
            <a:ext cx="503925" cy="503925"/>
          </a:xfrm>
          <a:prstGeom prst="ellipse">
            <a:avLst/>
          </a:prstGeom>
          <a:solidFill>
            <a:srgbClr val="BBE0E3"/>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Monotype Corsiva" panose="03010101010201010101" pitchFamily="66" charset="0"/>
                <a:ea typeface="宋体" panose="02010600030101010101" pitchFamily="2" charset="-122"/>
              </a:rPr>
              <a:t>k</a:t>
            </a:r>
          </a:p>
        </p:txBody>
      </p:sp>
      <p:cxnSp>
        <p:nvCxnSpPr>
          <p:cNvPr id="12" name="AutoShape 11">
            <a:extLst>
              <a:ext uri="{FF2B5EF4-FFF2-40B4-BE49-F238E27FC236}">
                <a16:creationId xmlns:a16="http://schemas.microsoft.com/office/drawing/2014/main" id="{5822B538-B9E2-354A-99FF-652E74640BEC}"/>
              </a:ext>
            </a:extLst>
          </p:cNvPr>
          <p:cNvCxnSpPr>
            <a:cxnSpLocks noChangeShapeType="1"/>
            <a:stCxn id="10" idx="2"/>
            <a:endCxn id="9" idx="4"/>
          </p:cNvCxnSpPr>
          <p:nvPr/>
        </p:nvCxnSpPr>
        <p:spPr bwMode="auto">
          <a:xfrm rot="10800000">
            <a:off x="8452563" y="4804036"/>
            <a:ext cx="1048681" cy="895953"/>
          </a:xfrm>
          <a:prstGeom prst="curvedConnector2">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AutoShape 12">
            <a:extLst>
              <a:ext uri="{FF2B5EF4-FFF2-40B4-BE49-F238E27FC236}">
                <a16:creationId xmlns:a16="http://schemas.microsoft.com/office/drawing/2014/main" id="{B22B66F4-D0DA-1D41-B769-D7FC8C36E6AF}"/>
              </a:ext>
            </a:extLst>
          </p:cNvPr>
          <p:cNvCxnSpPr>
            <a:cxnSpLocks noChangeShapeType="1"/>
            <a:stCxn id="11" idx="4"/>
            <a:endCxn id="10" idx="6"/>
          </p:cNvCxnSpPr>
          <p:nvPr/>
        </p:nvCxnSpPr>
        <p:spPr bwMode="auto">
          <a:xfrm rot="5400000">
            <a:off x="10058427" y="4750776"/>
            <a:ext cx="895954" cy="1002471"/>
          </a:xfrm>
          <a:prstGeom prst="curvedConnector2">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AutoShape 11">
            <a:extLst>
              <a:ext uri="{FF2B5EF4-FFF2-40B4-BE49-F238E27FC236}">
                <a16:creationId xmlns:a16="http://schemas.microsoft.com/office/drawing/2014/main" id="{ADA14446-1AE2-D54E-861B-4D27CD92E393}"/>
              </a:ext>
            </a:extLst>
          </p:cNvPr>
          <p:cNvCxnSpPr>
            <a:cxnSpLocks noChangeShapeType="1"/>
            <a:stCxn id="11" idx="2"/>
            <a:endCxn id="9" idx="6"/>
          </p:cNvCxnSpPr>
          <p:nvPr/>
        </p:nvCxnSpPr>
        <p:spPr bwMode="auto">
          <a:xfrm rot="10800000" flipV="1">
            <a:off x="8704524" y="4552071"/>
            <a:ext cx="2051152" cy="1"/>
          </a:xfrm>
          <a:prstGeom prst="curvedConnector3">
            <a:avLst>
              <a:gd name="adj1" fmla="val 50000"/>
            </a:avLst>
          </a:prstGeom>
          <a:noFill/>
          <a:ln w="9525">
            <a:solidFill>
              <a:srgbClr val="0000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矩形 22">
            <a:extLst>
              <a:ext uri="{FF2B5EF4-FFF2-40B4-BE49-F238E27FC236}">
                <a16:creationId xmlns:a16="http://schemas.microsoft.com/office/drawing/2014/main" id="{E7A526E8-F749-AA4B-8808-C828585BCA63}"/>
              </a:ext>
            </a:extLst>
          </p:cNvPr>
          <p:cNvSpPr/>
          <p:nvPr/>
        </p:nvSpPr>
        <p:spPr>
          <a:xfrm>
            <a:off x="9199208" y="4143548"/>
            <a:ext cx="1107996" cy="369332"/>
          </a:xfrm>
          <a:prstGeom prst="rect">
            <a:avLst/>
          </a:prstGeom>
        </p:spPr>
        <p:txBody>
          <a:bodyPr wrap="none">
            <a:spAutoFit/>
          </a:bodyPr>
          <a:lstStyle/>
          <a:p>
            <a:r>
              <a:rPr lang="zh-CN" altLang="en-US" dirty="0">
                <a:latin typeface="Microsoft YaHei" panose="020B0503020204020204" pitchFamily="34" charset="-122"/>
                <a:ea typeface="Microsoft YaHei" panose="020B0503020204020204" pitchFamily="34" charset="-122"/>
              </a:rPr>
              <a:t>推薦信任</a:t>
            </a:r>
            <a:endParaRPr lang="zh-CN" altLang="en-US" dirty="0"/>
          </a:p>
        </p:txBody>
      </p:sp>
      <p:sp>
        <p:nvSpPr>
          <p:cNvPr id="26" name="Oval 8">
            <a:extLst>
              <a:ext uri="{FF2B5EF4-FFF2-40B4-BE49-F238E27FC236}">
                <a16:creationId xmlns:a16="http://schemas.microsoft.com/office/drawing/2014/main" id="{CE591225-351E-A543-8607-9790C588AB26}"/>
              </a:ext>
            </a:extLst>
          </p:cNvPr>
          <p:cNvSpPr>
            <a:spLocks noChangeArrowheads="1"/>
          </p:cNvSpPr>
          <p:nvPr/>
        </p:nvSpPr>
        <p:spPr bwMode="auto">
          <a:xfrm>
            <a:off x="8154359" y="2846060"/>
            <a:ext cx="503925" cy="503925"/>
          </a:xfrm>
          <a:prstGeom prst="ellipse">
            <a:avLst/>
          </a:prstGeom>
          <a:solidFill>
            <a:srgbClr val="BBE0E3"/>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800" b="0" i="0" u="none" strike="noStrike" kern="0" cap="none" spc="0" normalizeH="0" baseline="0" noProof="0" dirty="0" err="1">
                <a:ln>
                  <a:noFill/>
                </a:ln>
                <a:solidFill>
                  <a:srgbClr val="000000"/>
                </a:solidFill>
                <a:effectLst/>
                <a:uLnTx/>
                <a:uFillTx/>
                <a:latin typeface="Monotype Corsiva" panose="03010101010201010101" pitchFamily="66" charset="0"/>
                <a:ea typeface="宋体" panose="02010600030101010101" pitchFamily="2" charset="-122"/>
              </a:rPr>
              <a:t>i</a:t>
            </a:r>
            <a:endParaRPr kumimoji="0" lang="en-US" altLang="zh-CN" sz="1800" b="0" i="0" u="none" strike="noStrike" kern="0" cap="none" spc="0" normalizeH="0" baseline="0" noProof="0" dirty="0">
              <a:ln>
                <a:noFill/>
              </a:ln>
              <a:solidFill>
                <a:srgbClr val="000000"/>
              </a:solidFill>
              <a:effectLst/>
              <a:uLnTx/>
              <a:uFillTx/>
              <a:latin typeface="Monotype Corsiva" panose="03010101010201010101" pitchFamily="66" charset="0"/>
              <a:ea typeface="宋体" panose="02010600030101010101" pitchFamily="2" charset="-122"/>
            </a:endParaRPr>
          </a:p>
        </p:txBody>
      </p:sp>
      <p:sp>
        <p:nvSpPr>
          <p:cNvPr id="27" name="Oval 9">
            <a:extLst>
              <a:ext uri="{FF2B5EF4-FFF2-40B4-BE49-F238E27FC236}">
                <a16:creationId xmlns:a16="http://schemas.microsoft.com/office/drawing/2014/main" id="{94837513-C155-EE40-A7D9-F3E83708E2A4}"/>
              </a:ext>
            </a:extLst>
          </p:cNvPr>
          <p:cNvSpPr>
            <a:spLocks noChangeArrowheads="1"/>
          </p:cNvSpPr>
          <p:nvPr/>
        </p:nvSpPr>
        <p:spPr bwMode="auto">
          <a:xfrm>
            <a:off x="10826383" y="2861038"/>
            <a:ext cx="503925" cy="503925"/>
          </a:xfrm>
          <a:prstGeom prst="ellipse">
            <a:avLst/>
          </a:prstGeom>
          <a:solidFill>
            <a:srgbClr val="BBE0E3"/>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Monotype Corsiva" panose="03010101010201010101" pitchFamily="66" charset="0"/>
                <a:ea typeface="宋体" panose="02010600030101010101" pitchFamily="2" charset="-122"/>
              </a:rPr>
              <a:t>j</a:t>
            </a:r>
          </a:p>
        </p:txBody>
      </p:sp>
      <p:cxnSp>
        <p:nvCxnSpPr>
          <p:cNvPr id="28" name="AutoShape 11">
            <a:extLst>
              <a:ext uri="{FF2B5EF4-FFF2-40B4-BE49-F238E27FC236}">
                <a16:creationId xmlns:a16="http://schemas.microsoft.com/office/drawing/2014/main" id="{AF100827-CDC4-724D-A635-5CC3A4CEC29B}"/>
              </a:ext>
            </a:extLst>
          </p:cNvPr>
          <p:cNvCxnSpPr>
            <a:cxnSpLocks noChangeShapeType="1"/>
            <a:stCxn id="27" idx="2"/>
            <a:endCxn id="26" idx="6"/>
          </p:cNvCxnSpPr>
          <p:nvPr/>
        </p:nvCxnSpPr>
        <p:spPr bwMode="auto">
          <a:xfrm rot="10800000">
            <a:off x="8658285" y="3098023"/>
            <a:ext cx="2168099" cy="14978"/>
          </a:xfrm>
          <a:prstGeom prst="curvedConnector3">
            <a:avLst>
              <a:gd name="adj1" fmla="val 50000"/>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矩形 30">
            <a:extLst>
              <a:ext uri="{FF2B5EF4-FFF2-40B4-BE49-F238E27FC236}">
                <a16:creationId xmlns:a16="http://schemas.microsoft.com/office/drawing/2014/main" id="{A348CF1C-E90C-774E-A7F4-7CFA5C8A6DA6}"/>
              </a:ext>
            </a:extLst>
          </p:cNvPr>
          <p:cNvSpPr/>
          <p:nvPr/>
        </p:nvSpPr>
        <p:spPr>
          <a:xfrm>
            <a:off x="9130829" y="2684984"/>
            <a:ext cx="1124026" cy="369332"/>
          </a:xfrm>
          <a:prstGeom prst="rect">
            <a:avLst/>
          </a:prstGeom>
        </p:spPr>
        <p:txBody>
          <a:bodyPr wrap="none">
            <a:spAutoFit/>
          </a:bodyPr>
          <a:lstStyle/>
          <a:p>
            <a:r>
              <a:rPr lang="zh-CN" altLang="en-US" dirty="0">
                <a:latin typeface="Microsoft YaHei" panose="020B0503020204020204" pitchFamily="34" charset="-122"/>
                <a:ea typeface="Microsoft YaHei" panose="020B0503020204020204" pitchFamily="34" charset="-122"/>
              </a:rPr>
              <a:t>直接信任</a:t>
            </a:r>
            <a:endParaRPr lang="zh-CN" altLang="en-US" dirty="0"/>
          </a:p>
        </p:txBody>
      </p:sp>
      <p:sp>
        <p:nvSpPr>
          <p:cNvPr id="18" name="灯片编号占位符 2">
            <a:extLst>
              <a:ext uri="{FF2B5EF4-FFF2-40B4-BE49-F238E27FC236}">
                <a16:creationId xmlns:a16="http://schemas.microsoft.com/office/drawing/2014/main" id="{CB8A6F74-5079-2D44-A4D8-9C9DE32723E8}"/>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80</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190334963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訪問控制的局限性</a:t>
            </a:r>
          </a:p>
        </p:txBody>
      </p:sp>
      <p:sp>
        <p:nvSpPr>
          <p:cNvPr id="10" name="矩形 9">
            <a:extLst>
              <a:ext uri="{FF2B5EF4-FFF2-40B4-BE49-F238E27FC236}">
                <a16:creationId xmlns:a16="http://schemas.microsoft.com/office/drawing/2014/main" id="{1144EE01-D5EB-C34B-9DFC-086ADAA4030E}"/>
              </a:ext>
            </a:extLst>
          </p:cNvPr>
          <p:cNvSpPr/>
          <p:nvPr/>
        </p:nvSpPr>
        <p:spPr>
          <a:xfrm>
            <a:off x="762556" y="1013311"/>
            <a:ext cx="10637855" cy="951030"/>
          </a:xfrm>
          <a:prstGeom prst="rect">
            <a:avLst/>
          </a:prstGeom>
          <a:ln>
            <a:noFill/>
          </a:ln>
        </p:spPr>
        <p:txBody>
          <a:bodyPr wrap="square">
            <a:spAutoFit/>
          </a:bodyPr>
          <a:lstStyle/>
          <a:p>
            <a:pPr algn="ctr">
              <a:lnSpc>
                <a:spcPts val="3500"/>
              </a:lnSpc>
            </a:pPr>
            <a:r>
              <a:rPr lang="zh-CN" altLang="en-US" sz="24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訪問控制只能解决被訪問者對訪問者的信任問題，</a:t>
            </a:r>
            <a:endParaRPr lang="en-US" altLang="zh-CN" sz="24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endParaRPr>
          </a:p>
          <a:p>
            <a:pPr algn="ctr">
              <a:lnSpc>
                <a:spcPts val="3500"/>
              </a:lnSpc>
            </a:pPr>
            <a:r>
              <a:rPr lang="zh-CN" altLang="en-US" sz="24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但無法解决訪問者對被訪問者的信任問題，訪問者可能訪問到惡意、無效資源</a:t>
            </a:r>
            <a:endParaRPr lang="zh-CN" altLang="en-US" sz="2400" b="1" dirty="0">
              <a:solidFill>
                <a:srgbClr val="C00000"/>
              </a:solidFill>
              <a:latin typeface="Microsoft YaHei" panose="020B0503020204020204" pitchFamily="34" charset="-122"/>
              <a:ea typeface="Microsoft YaHei" panose="020B0503020204020204" pitchFamily="34" charset="-122"/>
            </a:endParaRPr>
          </a:p>
        </p:txBody>
      </p:sp>
      <p:grpSp>
        <p:nvGrpSpPr>
          <p:cNvPr id="3" name="组合 2">
            <a:extLst>
              <a:ext uri="{FF2B5EF4-FFF2-40B4-BE49-F238E27FC236}">
                <a16:creationId xmlns:a16="http://schemas.microsoft.com/office/drawing/2014/main" id="{92923FB7-BC79-7B40-92CB-72B3540FF648}"/>
              </a:ext>
            </a:extLst>
          </p:cNvPr>
          <p:cNvGrpSpPr/>
          <p:nvPr/>
        </p:nvGrpSpPr>
        <p:grpSpPr>
          <a:xfrm>
            <a:off x="5522381" y="2358532"/>
            <a:ext cx="2661631" cy="3752009"/>
            <a:chOff x="4171137" y="1787018"/>
            <a:chExt cx="4994689" cy="6113621"/>
          </a:xfrm>
        </p:grpSpPr>
        <p:pic>
          <p:nvPicPr>
            <p:cNvPr id="11" name="图片 10">
              <a:extLst>
                <a:ext uri="{FF2B5EF4-FFF2-40B4-BE49-F238E27FC236}">
                  <a16:creationId xmlns:a16="http://schemas.microsoft.com/office/drawing/2014/main" id="{071FD3A3-1B61-7C44-AC13-C31E2DEE5101}"/>
                </a:ext>
              </a:extLst>
            </p:cNvPr>
            <p:cNvPicPr>
              <a:picLocks noChangeAspect="1"/>
            </p:cNvPicPr>
            <p:nvPr/>
          </p:nvPicPr>
          <p:blipFill rotWithShape="1">
            <a:blip r:embed="rId2">
              <a:extLst>
                <a:ext uri="{28A0092B-C50C-407E-A947-70E740481C1C}">
                  <a14:useLocalDpi xmlns:a14="http://schemas.microsoft.com/office/drawing/2010/main" val="0"/>
                </a:ext>
              </a:extLst>
            </a:blip>
            <a:srcRect t="21840" b="24006"/>
            <a:stretch/>
          </p:blipFill>
          <p:spPr>
            <a:xfrm>
              <a:off x="4171137" y="1787018"/>
              <a:ext cx="4994689" cy="1357802"/>
            </a:xfrm>
            <a:prstGeom prst="rect">
              <a:avLst/>
            </a:prstGeom>
          </p:spPr>
        </p:pic>
        <p:pic>
          <p:nvPicPr>
            <p:cNvPr id="12" name="图片 11">
              <a:extLst>
                <a:ext uri="{FF2B5EF4-FFF2-40B4-BE49-F238E27FC236}">
                  <a16:creationId xmlns:a16="http://schemas.microsoft.com/office/drawing/2014/main" id="{D9213997-3643-BB4A-99B1-307E398E34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0228" y="6796020"/>
              <a:ext cx="4388359" cy="1104619"/>
            </a:xfrm>
            <a:prstGeom prst="rect">
              <a:avLst/>
            </a:prstGeom>
          </p:spPr>
        </p:pic>
        <p:pic>
          <p:nvPicPr>
            <p:cNvPr id="13" name="图片 12">
              <a:extLst>
                <a:ext uri="{FF2B5EF4-FFF2-40B4-BE49-F238E27FC236}">
                  <a16:creationId xmlns:a16="http://schemas.microsoft.com/office/drawing/2014/main" id="{47232DB5-7FDA-A247-A2E3-C8F8549D65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29122" y="3824851"/>
              <a:ext cx="2883847" cy="2258321"/>
            </a:xfrm>
            <a:prstGeom prst="rect">
              <a:avLst/>
            </a:prstGeom>
          </p:spPr>
        </p:pic>
      </p:grpSp>
      <p:sp>
        <p:nvSpPr>
          <p:cNvPr id="14" name="内容占位符 2">
            <a:extLst>
              <a:ext uri="{FF2B5EF4-FFF2-40B4-BE49-F238E27FC236}">
                <a16:creationId xmlns:a16="http://schemas.microsoft.com/office/drawing/2014/main" id="{01DF4D51-CE2D-D641-BD7A-64043AC7D674}"/>
              </a:ext>
            </a:extLst>
          </p:cNvPr>
          <p:cNvSpPr txBox="1">
            <a:spLocks/>
          </p:cNvSpPr>
          <p:nvPr/>
        </p:nvSpPr>
        <p:spPr>
          <a:xfrm>
            <a:off x="911478" y="2337860"/>
            <a:ext cx="4141143" cy="3991502"/>
          </a:xfrm>
          <a:prstGeom prst="rect">
            <a:avLst/>
          </a:prstGeom>
          <a:ln>
            <a:solidFill>
              <a:srgbClr val="00B0F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3600"/>
              </a:lnSpc>
              <a:spcBef>
                <a:spcPts val="0"/>
              </a:spcBef>
            </a:pPr>
            <a:r>
              <a:rPr lang="zh-CN" altLang="en-US" sz="2400" dirty="0">
                <a:latin typeface="Microsoft YaHei" panose="020B0503020204020204" pitchFamily="34" charset="-122"/>
                <a:ea typeface="Microsoft YaHei" panose="020B0503020204020204" pitchFamily="34" charset="-122"/>
              </a:rPr>
              <a:t>訪問者對被訪問者的信任問題主要出現在：</a:t>
            </a:r>
            <a:endParaRPr lang="en-US" altLang="zh-CN" sz="2400" dirty="0">
              <a:latin typeface="Microsoft YaHei" panose="020B0503020204020204" pitchFamily="34" charset="-122"/>
              <a:ea typeface="Microsoft YaHei" panose="020B0503020204020204" pitchFamily="34" charset="-122"/>
            </a:endParaRPr>
          </a:p>
          <a:p>
            <a:pPr marL="684900" indent="-342900" algn="just">
              <a:lnSpc>
                <a:spcPts val="3600"/>
              </a:lnSpc>
              <a:spcBef>
                <a:spcPts val="0"/>
              </a:spcBef>
            </a:pPr>
            <a:r>
              <a:rPr lang="zh-CN" altLang="en-US" sz="2400" dirty="0">
                <a:latin typeface="Microsoft YaHei" panose="020B0503020204020204" pitchFamily="34" charset="-122"/>
                <a:ea typeface="Microsoft YaHei" panose="020B0503020204020204" pitchFamily="34" charset="-122"/>
              </a:rPr>
              <a:t>文件下載</a:t>
            </a:r>
            <a:endParaRPr lang="en-US" altLang="zh-CN" sz="2400" dirty="0">
              <a:latin typeface="Microsoft YaHei" panose="020B0503020204020204" pitchFamily="34" charset="-122"/>
              <a:ea typeface="Microsoft YaHei" panose="020B0503020204020204" pitchFamily="34" charset="-122"/>
            </a:endParaRPr>
          </a:p>
          <a:p>
            <a:pPr marL="684900" indent="-342900" algn="just">
              <a:lnSpc>
                <a:spcPts val="3600"/>
              </a:lnSpc>
              <a:spcBef>
                <a:spcPts val="0"/>
              </a:spcBef>
            </a:pPr>
            <a:r>
              <a:rPr lang="zh-CN" altLang="en-US" sz="2400" dirty="0">
                <a:latin typeface="Microsoft YaHei" panose="020B0503020204020204" pitchFamily="34" charset="-122"/>
                <a:ea typeface="Microsoft YaHei" panose="020B0503020204020204" pitchFamily="34" charset="-122"/>
              </a:rPr>
              <a:t>資源共享</a:t>
            </a:r>
            <a:endParaRPr lang="en-US" altLang="zh-CN" sz="2400" dirty="0">
              <a:latin typeface="Microsoft YaHei" panose="020B0503020204020204" pitchFamily="34" charset="-122"/>
              <a:ea typeface="Microsoft YaHei" panose="020B0503020204020204" pitchFamily="34" charset="-122"/>
            </a:endParaRPr>
          </a:p>
          <a:p>
            <a:pPr marL="684900" indent="-342900" algn="just">
              <a:lnSpc>
                <a:spcPts val="3600"/>
              </a:lnSpc>
              <a:spcBef>
                <a:spcPts val="0"/>
              </a:spcBef>
            </a:pPr>
            <a:r>
              <a:rPr lang="zh-CN" altLang="en-US" sz="2400" dirty="0">
                <a:latin typeface="Microsoft YaHei" panose="020B0503020204020204" pitchFamily="34" charset="-122"/>
                <a:ea typeface="Microsoft YaHei" panose="020B0503020204020204" pitchFamily="34" charset="-122"/>
              </a:rPr>
              <a:t>訪問網站鏈接</a:t>
            </a:r>
            <a:endParaRPr lang="en-US" altLang="zh-CN" sz="2400" dirty="0">
              <a:latin typeface="Microsoft YaHei" panose="020B0503020204020204" pitchFamily="34" charset="-122"/>
              <a:ea typeface="Microsoft YaHei" panose="020B0503020204020204" pitchFamily="34" charset="-122"/>
            </a:endParaRPr>
          </a:p>
          <a:p>
            <a:pPr algn="just">
              <a:lnSpc>
                <a:spcPts val="3600"/>
              </a:lnSpc>
              <a:spcBef>
                <a:spcPts val="0"/>
              </a:spcBef>
            </a:pPr>
            <a:endParaRPr lang="en-US" altLang="zh-CN" sz="2400" dirty="0">
              <a:latin typeface="Microsoft YaHei" panose="020B0503020204020204" pitchFamily="34" charset="-122"/>
              <a:ea typeface="Microsoft YaHei" panose="020B0503020204020204" pitchFamily="34" charset="-122"/>
            </a:endParaRPr>
          </a:p>
          <a:p>
            <a:pPr algn="just">
              <a:lnSpc>
                <a:spcPts val="3600"/>
              </a:lnSpc>
              <a:spcBef>
                <a:spcPts val="0"/>
              </a:spcBef>
            </a:pPr>
            <a:r>
              <a:rPr lang="zh-CN" altLang="en-US" sz="2400" dirty="0">
                <a:latin typeface="Microsoft YaHei" panose="020B0503020204020204" pitchFamily="34" charset="-122"/>
                <a:ea typeface="Microsoft YaHei" panose="020B0503020204020204" pitchFamily="34" charset="-122"/>
              </a:rPr>
              <a:t>典型場景：</a:t>
            </a:r>
            <a:r>
              <a:rPr lang="en-US" altLang="zh-CN" sz="2400" dirty="0">
                <a:latin typeface="Microsoft YaHei" panose="020B0503020204020204" pitchFamily="34" charset="-122"/>
                <a:ea typeface="Microsoft YaHei" panose="020B0503020204020204" pitchFamily="34" charset="-122"/>
              </a:rPr>
              <a:t>P2P</a:t>
            </a:r>
            <a:r>
              <a:rPr lang="zh-CN" altLang="en-US" sz="2400" dirty="0">
                <a:latin typeface="Microsoft YaHei" panose="020B0503020204020204" pitchFamily="34" charset="-122"/>
                <a:ea typeface="Microsoft YaHei" panose="020B0503020204020204" pitchFamily="34" charset="-122"/>
              </a:rPr>
              <a:t>文件共享解决方法：信任評價模型</a:t>
            </a:r>
          </a:p>
        </p:txBody>
      </p:sp>
      <p:grpSp>
        <p:nvGrpSpPr>
          <p:cNvPr id="15" name="组合 14">
            <a:extLst>
              <a:ext uri="{FF2B5EF4-FFF2-40B4-BE49-F238E27FC236}">
                <a16:creationId xmlns:a16="http://schemas.microsoft.com/office/drawing/2014/main" id="{774A12E5-4F44-E14B-B557-91A2CB79299F}"/>
              </a:ext>
            </a:extLst>
          </p:cNvPr>
          <p:cNvGrpSpPr/>
          <p:nvPr/>
        </p:nvGrpSpPr>
        <p:grpSpPr>
          <a:xfrm>
            <a:off x="8366684" y="2253913"/>
            <a:ext cx="2954068" cy="4088017"/>
            <a:chOff x="6809015" y="-133324"/>
            <a:chExt cx="4261757" cy="5897676"/>
          </a:xfrm>
        </p:grpSpPr>
        <p:pic>
          <p:nvPicPr>
            <p:cNvPr id="16" name="图片 15">
              <a:extLst>
                <a:ext uri="{FF2B5EF4-FFF2-40B4-BE49-F238E27FC236}">
                  <a16:creationId xmlns:a16="http://schemas.microsoft.com/office/drawing/2014/main" id="{C584C082-889C-904E-B416-B19C59AA04FD}"/>
                </a:ext>
              </a:extLst>
            </p:cNvPr>
            <p:cNvPicPr>
              <a:picLocks noChangeAspect="1"/>
            </p:cNvPicPr>
            <p:nvPr/>
          </p:nvPicPr>
          <p:blipFill rotWithShape="1">
            <a:blip r:embed="rId5"/>
            <a:srcRect l="9798" t="14026" r="11786" b="2747"/>
            <a:stretch/>
          </p:blipFill>
          <p:spPr>
            <a:xfrm>
              <a:off x="6809015" y="3138805"/>
              <a:ext cx="4261757" cy="2625547"/>
            </a:xfrm>
            <a:prstGeom prst="rect">
              <a:avLst/>
            </a:prstGeom>
          </p:spPr>
        </p:pic>
        <p:pic>
          <p:nvPicPr>
            <p:cNvPr id="17" name="图片 16">
              <a:extLst>
                <a:ext uri="{FF2B5EF4-FFF2-40B4-BE49-F238E27FC236}">
                  <a16:creationId xmlns:a16="http://schemas.microsoft.com/office/drawing/2014/main" id="{B10FD8A3-869A-5542-A843-9BEAF2AB48B4}"/>
                </a:ext>
              </a:extLst>
            </p:cNvPr>
            <p:cNvPicPr>
              <a:picLocks noChangeAspect="1"/>
            </p:cNvPicPr>
            <p:nvPr/>
          </p:nvPicPr>
          <p:blipFill>
            <a:blip r:embed="rId6"/>
            <a:stretch>
              <a:fillRect/>
            </a:stretch>
          </p:blipFill>
          <p:spPr>
            <a:xfrm>
              <a:off x="6809015" y="-133324"/>
              <a:ext cx="4261757" cy="2393074"/>
            </a:xfrm>
            <a:prstGeom prst="rect">
              <a:avLst/>
            </a:prstGeom>
          </p:spPr>
        </p:pic>
      </p:grpSp>
      <p:sp>
        <p:nvSpPr>
          <p:cNvPr id="18" name="灯片编号占位符 2">
            <a:extLst>
              <a:ext uri="{FF2B5EF4-FFF2-40B4-BE49-F238E27FC236}">
                <a16:creationId xmlns:a16="http://schemas.microsoft.com/office/drawing/2014/main" id="{F3B82128-97EE-4B44-B712-9C063075D82F}"/>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81</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199396999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F6E6B259-0665-A440-87E8-3385E0B78E0E}"/>
              </a:ext>
            </a:extLst>
          </p:cNvPr>
          <p:cNvPicPr>
            <a:picLocks noChangeAspect="1"/>
          </p:cNvPicPr>
          <p:nvPr/>
        </p:nvPicPr>
        <p:blipFill rotWithShape="1">
          <a:blip r:embed="rId2"/>
          <a:srcRect b="4921"/>
          <a:stretch/>
        </p:blipFill>
        <p:spPr>
          <a:xfrm>
            <a:off x="6100376" y="1573049"/>
            <a:ext cx="5977321" cy="4389602"/>
          </a:xfrm>
          <a:prstGeom prst="rect">
            <a:avLst/>
          </a:prstGeom>
        </p:spPr>
      </p:pic>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信任評價模型</a:t>
            </a:r>
          </a:p>
        </p:txBody>
      </p:sp>
      <p:sp>
        <p:nvSpPr>
          <p:cNvPr id="3" name="文本占位符 22">
            <a:extLst>
              <a:ext uri="{FF2B5EF4-FFF2-40B4-BE49-F238E27FC236}">
                <a16:creationId xmlns:a16="http://schemas.microsoft.com/office/drawing/2014/main" id="{83C41DF9-173C-DF4A-82D2-A6D662F7DC89}"/>
              </a:ext>
            </a:extLst>
          </p:cNvPr>
          <p:cNvSpPr txBox="1">
            <a:spLocks/>
          </p:cNvSpPr>
          <p:nvPr/>
        </p:nvSpPr>
        <p:spPr>
          <a:xfrm>
            <a:off x="600328" y="1219308"/>
            <a:ext cx="5419944" cy="2263060"/>
          </a:xfrm>
          <a:prstGeom prst="rect">
            <a:avLst/>
          </a:prstGeom>
          <a:ln>
            <a:solidFill>
              <a:srgbClr val="00B0F0"/>
            </a:solidFill>
          </a:ln>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3600"/>
              </a:lnSpc>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問題：如何描述？如何計算？如何傳遞與更新</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12" name="内容占位符 2">
            <a:extLst>
              <a:ext uri="{FF2B5EF4-FFF2-40B4-BE49-F238E27FC236}">
                <a16:creationId xmlns:a16="http://schemas.microsoft.com/office/drawing/2014/main" id="{B60879D1-56A2-3246-AD75-194FDB1781D3}"/>
              </a:ext>
            </a:extLst>
          </p:cNvPr>
          <p:cNvSpPr txBox="1">
            <a:spLocks/>
          </p:cNvSpPr>
          <p:nvPr/>
        </p:nvSpPr>
        <p:spPr>
          <a:xfrm>
            <a:off x="600327" y="3619419"/>
            <a:ext cx="5419945" cy="2873456"/>
          </a:xfrm>
          <a:prstGeom prst="rect">
            <a:avLst/>
          </a:prstGeom>
          <a:ln>
            <a:solidFill>
              <a:srgbClr val="00B0F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3600"/>
              </a:lnSpc>
            </a:pPr>
            <a:r>
              <a:rPr lang="zh-CN" altLang="en-US" sz="2400" dirty="0">
                <a:latin typeface="Microsoft YaHei" panose="020B0503020204020204" pitchFamily="34" charset="-122"/>
                <a:ea typeface="Microsoft YaHei" panose="020B0503020204020204" pitchFamily="34" charset="-122"/>
              </a:rPr>
              <a:t>包含角色</a:t>
            </a:r>
            <a:endParaRPr lang="en-US" altLang="zh-CN" sz="2400" dirty="0">
              <a:latin typeface="Microsoft YaHei" panose="020B0503020204020204" pitchFamily="34" charset="-122"/>
              <a:ea typeface="Microsoft YaHei" panose="020B0503020204020204" pitchFamily="34" charset="-122"/>
            </a:endParaRPr>
          </a:p>
          <a:p>
            <a:pPr marL="504900" indent="-342900">
              <a:lnSpc>
                <a:spcPts val="3600"/>
              </a:lnSpc>
            </a:pPr>
            <a:r>
              <a:rPr lang="en-US" altLang="zh-CN" sz="2400" dirty="0">
                <a:latin typeface="Microsoft YaHei" panose="020B0503020204020204" pitchFamily="34" charset="-122"/>
                <a:ea typeface="Microsoft YaHei" panose="020B0503020204020204" pitchFamily="34" charset="-122"/>
              </a:rPr>
              <a:t>Trustee</a:t>
            </a:r>
            <a:r>
              <a:rPr lang="zh-CN" altLang="en-US" sz="2400" dirty="0">
                <a:latin typeface="Microsoft YaHei" panose="020B0503020204020204" pitchFamily="34" charset="-122"/>
                <a:ea typeface="Microsoft YaHei" panose="020B0503020204020204" pitchFamily="34" charset="-122"/>
              </a:rPr>
              <a:t>：待評價節點</a:t>
            </a:r>
            <a:endParaRPr lang="en-US" altLang="zh-CN" sz="2400" dirty="0">
              <a:latin typeface="Microsoft YaHei" panose="020B0503020204020204" pitchFamily="34" charset="-122"/>
              <a:ea typeface="Microsoft YaHei" panose="020B0503020204020204" pitchFamily="34" charset="-122"/>
            </a:endParaRPr>
          </a:p>
          <a:p>
            <a:pPr marL="504900" indent="-342900">
              <a:lnSpc>
                <a:spcPts val="3600"/>
              </a:lnSpc>
            </a:pPr>
            <a:r>
              <a:rPr lang="en-US" altLang="zh-CN" sz="2400" dirty="0">
                <a:latin typeface="Microsoft YaHei" panose="020B0503020204020204" pitchFamily="34" charset="-122"/>
                <a:ea typeface="Microsoft YaHei" panose="020B0503020204020204" pitchFamily="34" charset="-122"/>
              </a:rPr>
              <a:t>Trustor</a:t>
            </a:r>
            <a:r>
              <a:rPr lang="zh-CN" altLang="en-US" sz="2400" dirty="0">
                <a:latin typeface="Microsoft YaHei" panose="020B0503020204020204" pitchFamily="34" charset="-122"/>
                <a:ea typeface="Microsoft YaHei" panose="020B0503020204020204" pitchFamily="34" charset="-122"/>
              </a:rPr>
              <a:t>：期待與</a:t>
            </a:r>
            <a:r>
              <a:rPr lang="en-US" altLang="zh-CN" sz="2400" dirty="0">
                <a:latin typeface="Microsoft YaHei" panose="020B0503020204020204" pitchFamily="34" charset="-122"/>
                <a:ea typeface="Microsoft YaHei" panose="020B0503020204020204" pitchFamily="34" charset="-122"/>
              </a:rPr>
              <a:t>Trustee</a:t>
            </a:r>
            <a:r>
              <a:rPr lang="zh-CN" altLang="en-US" sz="2400" dirty="0">
                <a:latin typeface="Microsoft YaHei" panose="020B0503020204020204" pitchFamily="34" charset="-122"/>
                <a:ea typeface="Microsoft YaHei" panose="020B0503020204020204" pitchFamily="34" charset="-122"/>
              </a:rPr>
              <a:t>交互節點</a:t>
            </a:r>
            <a:endParaRPr lang="en-US" altLang="zh-CN" sz="2400" dirty="0">
              <a:latin typeface="Microsoft YaHei" panose="020B0503020204020204" pitchFamily="34" charset="-122"/>
              <a:ea typeface="Microsoft YaHei" panose="020B0503020204020204" pitchFamily="34" charset="-122"/>
            </a:endParaRPr>
          </a:p>
          <a:p>
            <a:pPr marL="504900" indent="-342900">
              <a:lnSpc>
                <a:spcPts val="3600"/>
              </a:lnSpc>
            </a:pPr>
            <a:r>
              <a:rPr lang="en-US" altLang="zh-CN" sz="2400" dirty="0">
                <a:latin typeface="Microsoft YaHei" panose="020B0503020204020204" pitchFamily="34" charset="-122"/>
                <a:ea typeface="Microsoft YaHei" panose="020B0503020204020204" pitchFamily="34" charset="-122"/>
              </a:rPr>
              <a:t>Recommender</a:t>
            </a:r>
            <a:r>
              <a:rPr lang="zh-CN" altLang="en-US" sz="2400" dirty="0">
                <a:latin typeface="Microsoft YaHei" panose="020B0503020204020204" pitchFamily="34" charset="-122"/>
                <a:ea typeface="Microsoft YaHei" panose="020B0503020204020204" pitchFamily="34" charset="-122"/>
              </a:rPr>
              <a:t>：與</a:t>
            </a:r>
            <a:r>
              <a:rPr lang="en-US" altLang="zh-CN" sz="2400" dirty="0">
                <a:latin typeface="Microsoft YaHei" panose="020B0503020204020204" pitchFamily="34" charset="-122"/>
                <a:ea typeface="Microsoft YaHei" panose="020B0503020204020204" pitchFamily="34" charset="-122"/>
              </a:rPr>
              <a:t>Trustee</a:t>
            </a:r>
            <a:r>
              <a:rPr lang="zh-CN" altLang="en-US" sz="2400" dirty="0">
                <a:latin typeface="Microsoft YaHei" panose="020B0503020204020204" pitchFamily="34" charset="-122"/>
                <a:ea typeface="Microsoft YaHei" panose="020B0503020204020204" pitchFamily="34" charset="-122"/>
              </a:rPr>
              <a:t>交互過</a:t>
            </a:r>
          </a:p>
        </p:txBody>
      </p:sp>
      <p:sp>
        <p:nvSpPr>
          <p:cNvPr id="4" name="矩形 3">
            <a:extLst>
              <a:ext uri="{FF2B5EF4-FFF2-40B4-BE49-F238E27FC236}">
                <a16:creationId xmlns:a16="http://schemas.microsoft.com/office/drawing/2014/main" id="{E23ECA60-77A0-8346-BE85-987DE49D43DC}"/>
              </a:ext>
            </a:extLst>
          </p:cNvPr>
          <p:cNvSpPr/>
          <p:nvPr/>
        </p:nvSpPr>
        <p:spPr>
          <a:xfrm>
            <a:off x="592577" y="2482480"/>
            <a:ext cx="4810290" cy="973472"/>
          </a:xfrm>
          <a:prstGeom prst="rect">
            <a:avLst/>
          </a:prstGeom>
        </p:spPr>
        <p:txBody>
          <a:bodyPr wrap="square">
            <a:spAutoFit/>
          </a:bodyPr>
          <a:lstStyle/>
          <a:p>
            <a:pPr marL="342900" indent="-342900">
              <a:lnSpc>
                <a:spcPts val="3600"/>
              </a:lnSpc>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信任模型細化：行爲模型；計算模型；傳播模型</a:t>
            </a:r>
          </a:p>
        </p:txBody>
      </p:sp>
      <p:sp>
        <p:nvSpPr>
          <p:cNvPr id="7" name="灯片编号占位符 2">
            <a:extLst>
              <a:ext uri="{FF2B5EF4-FFF2-40B4-BE49-F238E27FC236}">
                <a16:creationId xmlns:a16="http://schemas.microsoft.com/office/drawing/2014/main" id="{941FD254-A0D1-5B47-A4BF-B487F6543AD6}"/>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82</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14248744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信任評價系統舉例</a:t>
            </a:r>
            <a:r>
              <a:rPr kumimoji="1" lang="en-US" altLang="zh-CN" dirty="0"/>
              <a:t>—</a:t>
            </a:r>
            <a:r>
              <a:rPr kumimoji="1" lang="en" altLang="zh-CN" dirty="0" err="1"/>
              <a:t>Eigentrust</a:t>
            </a:r>
            <a:endParaRPr kumimoji="1" lang="zh-CN" altLang="en-US" dirty="0"/>
          </a:p>
        </p:txBody>
      </p:sp>
      <p:sp>
        <p:nvSpPr>
          <p:cNvPr id="6" name="矩形 5">
            <a:extLst>
              <a:ext uri="{FF2B5EF4-FFF2-40B4-BE49-F238E27FC236}">
                <a16:creationId xmlns:a16="http://schemas.microsoft.com/office/drawing/2014/main" id="{19E83AAD-04B0-8246-91D6-9DB0A9C7989C}"/>
              </a:ext>
            </a:extLst>
          </p:cNvPr>
          <p:cNvSpPr/>
          <p:nvPr/>
        </p:nvSpPr>
        <p:spPr>
          <a:xfrm>
            <a:off x="895906" y="1073282"/>
            <a:ext cx="10637855" cy="1135054"/>
          </a:xfrm>
          <a:prstGeom prst="rect">
            <a:avLst/>
          </a:prstGeom>
        </p:spPr>
        <p:txBody>
          <a:bodyPr wrap="square">
            <a:spAutoFit/>
          </a:bodyPr>
          <a:lstStyle/>
          <a:p>
            <a:pPr>
              <a:lnSpc>
                <a:spcPct val="150000"/>
              </a:lnSpc>
            </a:pPr>
            <a:r>
              <a:rPr lang="zh-CN" altLang="en-US" sz="24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主要思想：節點對每次交互過程中的交互節點進行評價，幷根據歷史的交互行爲評價計算節點信譽值</a:t>
            </a:r>
            <a:endParaRPr lang="zh-CN" altLang="en-US" sz="2400" b="1" dirty="0">
              <a:solidFill>
                <a:srgbClr val="C00000"/>
              </a:solidFill>
              <a:latin typeface="Microsoft YaHei" panose="020B0503020204020204" pitchFamily="34" charset="-122"/>
              <a:ea typeface="Microsoft YaHei" panose="020B0503020204020204" pitchFamily="34" charset="-122"/>
            </a:endParaRPr>
          </a:p>
        </p:txBody>
      </p:sp>
      <p:sp>
        <p:nvSpPr>
          <p:cNvPr id="7" name="内容占位符 2">
            <a:extLst>
              <a:ext uri="{FF2B5EF4-FFF2-40B4-BE49-F238E27FC236}">
                <a16:creationId xmlns:a16="http://schemas.microsoft.com/office/drawing/2014/main" id="{032FC7BC-470A-2346-8477-1585C735AAF1}"/>
              </a:ext>
            </a:extLst>
          </p:cNvPr>
          <p:cNvSpPr txBox="1">
            <a:spLocks/>
          </p:cNvSpPr>
          <p:nvPr/>
        </p:nvSpPr>
        <p:spPr>
          <a:xfrm>
            <a:off x="895905" y="2324303"/>
            <a:ext cx="6544011" cy="3885578"/>
          </a:xfrm>
          <a:prstGeom prst="rect">
            <a:avLst/>
          </a:prstGeom>
          <a:ln>
            <a:solidFill>
              <a:srgbClr val="00B0F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3600"/>
              </a:lnSpc>
            </a:pPr>
            <a:r>
              <a:rPr lang="zh-CN" altLang="en-US" sz="2400" dirty="0">
                <a:latin typeface="Microsoft YaHei" panose="020B0503020204020204" pitchFamily="34" charset="-122"/>
                <a:ea typeface="Microsoft YaHei" panose="020B0503020204020204" pitchFamily="34" charset="-122"/>
              </a:rPr>
              <a:t>基本流程</a:t>
            </a:r>
            <a:endParaRPr lang="en-US" altLang="zh-CN" sz="2400" dirty="0">
              <a:latin typeface="Microsoft YaHei" panose="020B0503020204020204" pitchFamily="34" charset="-122"/>
              <a:ea typeface="Microsoft YaHei" panose="020B0503020204020204" pitchFamily="34" charset="-122"/>
            </a:endParaRPr>
          </a:p>
          <a:p>
            <a:pPr marL="504000" indent="-342000">
              <a:lnSpc>
                <a:spcPts val="3600"/>
              </a:lnSpc>
            </a:pPr>
            <a:r>
              <a:rPr lang="zh-CN" altLang="en-US" sz="2400" dirty="0">
                <a:latin typeface="Microsoft YaHei" panose="020B0503020204020204" pitchFamily="34" charset="-122"/>
                <a:ea typeface="Microsoft YaHei" panose="020B0503020204020204" pitchFamily="34" charset="-122"/>
              </a:rPr>
              <a:t>節點根據本地的歷史交互評價爲每個節點計算本地信譽值</a:t>
            </a:r>
            <a:endParaRPr lang="en-US" altLang="zh-CN" sz="2400" dirty="0">
              <a:latin typeface="Microsoft YaHei" panose="020B0503020204020204" pitchFamily="34" charset="-122"/>
              <a:ea typeface="Microsoft YaHei" panose="020B0503020204020204" pitchFamily="34" charset="-122"/>
            </a:endParaRPr>
          </a:p>
          <a:p>
            <a:pPr marL="504000" indent="-342000">
              <a:lnSpc>
                <a:spcPts val="3600"/>
              </a:lnSpc>
            </a:pPr>
            <a:r>
              <a:rPr lang="zh-CN" altLang="en-US" sz="2400" dirty="0">
                <a:latin typeface="Microsoft YaHei" panose="020B0503020204020204" pitchFamily="34" charset="-122"/>
                <a:ea typeface="Microsoft YaHei" panose="020B0503020204020204" pitchFamily="34" charset="-122"/>
              </a:rPr>
              <a:t>節點根據其它節點的本地信譽值計算出傳遞信譽值，幷通過多次迭代確保收斂</a:t>
            </a:r>
            <a:endParaRPr lang="en-US" altLang="zh-CN" sz="2400" dirty="0">
              <a:latin typeface="Microsoft YaHei" panose="020B0503020204020204" pitchFamily="34" charset="-122"/>
              <a:ea typeface="Microsoft YaHei" panose="020B0503020204020204" pitchFamily="34" charset="-122"/>
            </a:endParaRPr>
          </a:p>
          <a:p>
            <a:pPr marL="504000" indent="-342000">
              <a:lnSpc>
                <a:spcPts val="3600"/>
              </a:lnSpc>
            </a:pPr>
            <a:r>
              <a:rPr lang="zh-CN" altLang="en-US" sz="2400" dirty="0">
                <a:latin typeface="Microsoft YaHei" panose="020B0503020204020204" pitchFamily="34" charset="-122"/>
                <a:ea typeface="Microsoft YaHei" panose="020B0503020204020204" pitchFamily="34" charset="-122"/>
              </a:rPr>
              <a:t>（可選）所有節點根據計算的傳遞信任值計算出全域信任值</a:t>
            </a:r>
          </a:p>
        </p:txBody>
      </p:sp>
      <p:sp>
        <p:nvSpPr>
          <p:cNvPr id="8" name="Oval 8">
            <a:extLst>
              <a:ext uri="{FF2B5EF4-FFF2-40B4-BE49-F238E27FC236}">
                <a16:creationId xmlns:a16="http://schemas.microsoft.com/office/drawing/2014/main" id="{2831C1B9-25A2-7042-92ED-7A5030A336D5}"/>
              </a:ext>
            </a:extLst>
          </p:cNvPr>
          <p:cNvSpPr>
            <a:spLocks noChangeArrowheads="1"/>
          </p:cNvSpPr>
          <p:nvPr/>
        </p:nvSpPr>
        <p:spPr bwMode="auto">
          <a:xfrm>
            <a:off x="8099489" y="4895352"/>
            <a:ext cx="503925" cy="503925"/>
          </a:xfrm>
          <a:prstGeom prst="ellipse">
            <a:avLst/>
          </a:prstGeom>
          <a:solidFill>
            <a:srgbClr val="BBE0E3"/>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800" b="0" i="0" u="none" strike="noStrike" kern="0" cap="none" spc="0" normalizeH="0" baseline="0" noProof="0" dirty="0" err="1">
                <a:ln>
                  <a:noFill/>
                </a:ln>
                <a:solidFill>
                  <a:srgbClr val="000000"/>
                </a:solidFill>
                <a:effectLst/>
                <a:uLnTx/>
                <a:uFillTx/>
                <a:latin typeface="Monotype Corsiva" panose="03010101010201010101" pitchFamily="66" charset="0"/>
                <a:ea typeface="宋体" panose="02010600030101010101" pitchFamily="2" charset="-122"/>
              </a:rPr>
              <a:t>i</a:t>
            </a:r>
            <a:endParaRPr kumimoji="0" lang="en-US" altLang="zh-CN" sz="1800" b="0" i="0" u="none" strike="noStrike" kern="0" cap="none" spc="0" normalizeH="0" baseline="0" noProof="0" dirty="0">
              <a:ln>
                <a:noFill/>
              </a:ln>
              <a:solidFill>
                <a:srgbClr val="000000"/>
              </a:solidFill>
              <a:effectLst/>
              <a:uLnTx/>
              <a:uFillTx/>
              <a:latin typeface="Monotype Corsiva" panose="03010101010201010101" pitchFamily="66" charset="0"/>
              <a:ea typeface="宋体" panose="02010600030101010101" pitchFamily="2" charset="-122"/>
            </a:endParaRPr>
          </a:p>
        </p:txBody>
      </p:sp>
      <p:sp>
        <p:nvSpPr>
          <p:cNvPr id="9" name="Oval 9">
            <a:extLst>
              <a:ext uri="{FF2B5EF4-FFF2-40B4-BE49-F238E27FC236}">
                <a16:creationId xmlns:a16="http://schemas.microsoft.com/office/drawing/2014/main" id="{681DAF3D-8EBB-334F-8204-848AF2EE25D6}"/>
              </a:ext>
            </a:extLst>
          </p:cNvPr>
          <p:cNvSpPr>
            <a:spLocks noChangeArrowheads="1"/>
          </p:cNvSpPr>
          <p:nvPr/>
        </p:nvSpPr>
        <p:spPr bwMode="auto">
          <a:xfrm>
            <a:off x="9400133" y="6043267"/>
            <a:ext cx="503925" cy="503925"/>
          </a:xfrm>
          <a:prstGeom prst="ellipse">
            <a:avLst/>
          </a:prstGeom>
          <a:solidFill>
            <a:srgbClr val="BBE0E3"/>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Monotype Corsiva" panose="03010101010201010101" pitchFamily="66" charset="0"/>
                <a:ea typeface="宋体" panose="02010600030101010101" pitchFamily="2" charset="-122"/>
              </a:rPr>
              <a:t>j</a:t>
            </a:r>
          </a:p>
        </p:txBody>
      </p:sp>
      <p:sp>
        <p:nvSpPr>
          <p:cNvPr id="10" name="Oval 10">
            <a:extLst>
              <a:ext uri="{FF2B5EF4-FFF2-40B4-BE49-F238E27FC236}">
                <a16:creationId xmlns:a16="http://schemas.microsoft.com/office/drawing/2014/main" id="{AE9A8D88-2392-3942-B625-9E7B80EEC5EE}"/>
              </a:ext>
            </a:extLst>
          </p:cNvPr>
          <p:cNvSpPr>
            <a:spLocks noChangeArrowheads="1"/>
          </p:cNvSpPr>
          <p:nvPr/>
        </p:nvSpPr>
        <p:spPr bwMode="auto">
          <a:xfrm>
            <a:off x="10654566" y="4895351"/>
            <a:ext cx="503925" cy="503925"/>
          </a:xfrm>
          <a:prstGeom prst="ellipse">
            <a:avLst/>
          </a:prstGeom>
          <a:solidFill>
            <a:srgbClr val="BBE0E3"/>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Monotype Corsiva" panose="03010101010201010101" pitchFamily="66" charset="0"/>
                <a:ea typeface="宋体" panose="02010600030101010101" pitchFamily="2" charset="-122"/>
              </a:rPr>
              <a:t>k</a:t>
            </a:r>
          </a:p>
        </p:txBody>
      </p:sp>
      <p:cxnSp>
        <p:nvCxnSpPr>
          <p:cNvPr id="11" name="AutoShape 11">
            <a:extLst>
              <a:ext uri="{FF2B5EF4-FFF2-40B4-BE49-F238E27FC236}">
                <a16:creationId xmlns:a16="http://schemas.microsoft.com/office/drawing/2014/main" id="{988583CB-3440-AF4B-9159-3CF482C85EC8}"/>
              </a:ext>
            </a:extLst>
          </p:cNvPr>
          <p:cNvCxnSpPr>
            <a:cxnSpLocks noChangeShapeType="1"/>
            <a:stCxn id="9" idx="2"/>
            <a:endCxn id="8" idx="4"/>
          </p:cNvCxnSpPr>
          <p:nvPr/>
        </p:nvCxnSpPr>
        <p:spPr bwMode="auto">
          <a:xfrm rot="10800000">
            <a:off x="8351453" y="5399278"/>
            <a:ext cx="1048681" cy="895953"/>
          </a:xfrm>
          <a:prstGeom prst="curvedConnector2">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AutoShape 12">
            <a:extLst>
              <a:ext uri="{FF2B5EF4-FFF2-40B4-BE49-F238E27FC236}">
                <a16:creationId xmlns:a16="http://schemas.microsoft.com/office/drawing/2014/main" id="{1B0C6A4E-8BA3-8543-8BCF-8372321B7C42}"/>
              </a:ext>
            </a:extLst>
          </p:cNvPr>
          <p:cNvCxnSpPr>
            <a:cxnSpLocks noChangeShapeType="1"/>
            <a:stCxn id="10" idx="4"/>
            <a:endCxn id="9" idx="6"/>
          </p:cNvCxnSpPr>
          <p:nvPr/>
        </p:nvCxnSpPr>
        <p:spPr bwMode="auto">
          <a:xfrm rot="5400000">
            <a:off x="9957317" y="5346018"/>
            <a:ext cx="895954" cy="1002471"/>
          </a:xfrm>
          <a:prstGeom prst="curvedConnector2">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AutoShape 11">
            <a:extLst>
              <a:ext uri="{FF2B5EF4-FFF2-40B4-BE49-F238E27FC236}">
                <a16:creationId xmlns:a16="http://schemas.microsoft.com/office/drawing/2014/main" id="{C1E466BF-9F10-ED45-9422-06C380D392F1}"/>
              </a:ext>
            </a:extLst>
          </p:cNvPr>
          <p:cNvCxnSpPr>
            <a:cxnSpLocks noChangeShapeType="1"/>
            <a:stCxn id="10" idx="2"/>
            <a:endCxn id="8" idx="6"/>
          </p:cNvCxnSpPr>
          <p:nvPr/>
        </p:nvCxnSpPr>
        <p:spPr bwMode="auto">
          <a:xfrm rot="10800000" flipV="1">
            <a:off x="8603414" y="5147313"/>
            <a:ext cx="2051152" cy="1"/>
          </a:xfrm>
          <a:prstGeom prst="curvedConnector3">
            <a:avLst>
              <a:gd name="adj1" fmla="val 50000"/>
            </a:avLst>
          </a:prstGeom>
          <a:noFill/>
          <a:ln w="9525">
            <a:solidFill>
              <a:srgbClr val="0000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矩形 13">
            <a:extLst>
              <a:ext uri="{FF2B5EF4-FFF2-40B4-BE49-F238E27FC236}">
                <a16:creationId xmlns:a16="http://schemas.microsoft.com/office/drawing/2014/main" id="{324A2503-6963-2B49-ADE2-4C63FD4EC51C}"/>
              </a:ext>
            </a:extLst>
          </p:cNvPr>
          <p:cNvSpPr/>
          <p:nvPr/>
        </p:nvSpPr>
        <p:spPr>
          <a:xfrm>
            <a:off x="8812343" y="4738790"/>
            <a:ext cx="1800493" cy="369332"/>
          </a:xfrm>
          <a:prstGeom prst="rect">
            <a:avLst/>
          </a:prstGeom>
        </p:spPr>
        <p:txBody>
          <a:bodyPr wrap="none">
            <a:spAutoFit/>
          </a:bodyPr>
          <a:lstStyle/>
          <a:p>
            <a:r>
              <a:rPr lang="zh-CN" altLang="en-US" dirty="0">
                <a:latin typeface="Microsoft YaHei" panose="020B0503020204020204" pitchFamily="34" charset="-122"/>
                <a:ea typeface="Microsoft YaHei" panose="020B0503020204020204" pitchFamily="34" charset="-122"/>
              </a:rPr>
              <a:t>計算傳遞信任值</a:t>
            </a:r>
            <a:endParaRPr lang="zh-CN" altLang="en-US" dirty="0"/>
          </a:p>
        </p:txBody>
      </p:sp>
      <p:sp>
        <p:nvSpPr>
          <p:cNvPr id="15" name="Oval 8">
            <a:extLst>
              <a:ext uri="{FF2B5EF4-FFF2-40B4-BE49-F238E27FC236}">
                <a16:creationId xmlns:a16="http://schemas.microsoft.com/office/drawing/2014/main" id="{60FC6DB5-0717-7546-9628-25129330A954}"/>
              </a:ext>
            </a:extLst>
          </p:cNvPr>
          <p:cNvSpPr>
            <a:spLocks noChangeArrowheads="1"/>
          </p:cNvSpPr>
          <p:nvPr/>
        </p:nvSpPr>
        <p:spPr bwMode="auto">
          <a:xfrm>
            <a:off x="8014912" y="3763167"/>
            <a:ext cx="503925" cy="503925"/>
          </a:xfrm>
          <a:prstGeom prst="ellipse">
            <a:avLst/>
          </a:prstGeom>
          <a:solidFill>
            <a:srgbClr val="BBE0E3"/>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800" b="0" i="0" u="none" strike="noStrike" kern="0" cap="none" spc="0" normalizeH="0" baseline="0" noProof="0" dirty="0" err="1">
                <a:ln>
                  <a:noFill/>
                </a:ln>
                <a:solidFill>
                  <a:srgbClr val="000000"/>
                </a:solidFill>
                <a:effectLst/>
                <a:uLnTx/>
                <a:uFillTx/>
                <a:latin typeface="Monotype Corsiva" panose="03010101010201010101" pitchFamily="66" charset="0"/>
                <a:ea typeface="宋体" panose="02010600030101010101" pitchFamily="2" charset="-122"/>
              </a:rPr>
              <a:t>i</a:t>
            </a:r>
            <a:endParaRPr kumimoji="0" lang="en-US" altLang="zh-CN" sz="1800" b="0" i="0" u="none" strike="noStrike" kern="0" cap="none" spc="0" normalizeH="0" baseline="0" noProof="0" dirty="0">
              <a:ln>
                <a:noFill/>
              </a:ln>
              <a:solidFill>
                <a:srgbClr val="000000"/>
              </a:solidFill>
              <a:effectLst/>
              <a:uLnTx/>
              <a:uFillTx/>
              <a:latin typeface="Monotype Corsiva" panose="03010101010201010101" pitchFamily="66" charset="0"/>
              <a:ea typeface="宋体" panose="02010600030101010101" pitchFamily="2" charset="-122"/>
            </a:endParaRPr>
          </a:p>
        </p:txBody>
      </p:sp>
      <p:sp>
        <p:nvSpPr>
          <p:cNvPr id="16" name="Oval 9">
            <a:extLst>
              <a:ext uri="{FF2B5EF4-FFF2-40B4-BE49-F238E27FC236}">
                <a16:creationId xmlns:a16="http://schemas.microsoft.com/office/drawing/2014/main" id="{141FAF33-6FD9-7D4E-A4F4-ED058F09F07B}"/>
              </a:ext>
            </a:extLst>
          </p:cNvPr>
          <p:cNvSpPr>
            <a:spLocks noChangeArrowheads="1"/>
          </p:cNvSpPr>
          <p:nvPr/>
        </p:nvSpPr>
        <p:spPr bwMode="auto">
          <a:xfrm>
            <a:off x="10686936" y="3778145"/>
            <a:ext cx="503925" cy="503925"/>
          </a:xfrm>
          <a:prstGeom prst="ellipse">
            <a:avLst/>
          </a:prstGeom>
          <a:solidFill>
            <a:srgbClr val="BBE0E3"/>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Monotype Corsiva" panose="03010101010201010101" pitchFamily="66" charset="0"/>
                <a:ea typeface="宋体" panose="02010600030101010101" pitchFamily="2" charset="-122"/>
              </a:rPr>
              <a:t>j</a:t>
            </a:r>
          </a:p>
        </p:txBody>
      </p:sp>
      <p:cxnSp>
        <p:nvCxnSpPr>
          <p:cNvPr id="17" name="AutoShape 11">
            <a:extLst>
              <a:ext uri="{FF2B5EF4-FFF2-40B4-BE49-F238E27FC236}">
                <a16:creationId xmlns:a16="http://schemas.microsoft.com/office/drawing/2014/main" id="{EA9FD4A3-879E-774C-BE70-B8C9491624FC}"/>
              </a:ext>
            </a:extLst>
          </p:cNvPr>
          <p:cNvCxnSpPr>
            <a:cxnSpLocks noChangeShapeType="1"/>
            <a:stCxn id="16" idx="2"/>
            <a:endCxn id="15" idx="6"/>
          </p:cNvCxnSpPr>
          <p:nvPr/>
        </p:nvCxnSpPr>
        <p:spPr bwMode="auto">
          <a:xfrm rot="10800000">
            <a:off x="8518838" y="4015130"/>
            <a:ext cx="2168099" cy="14978"/>
          </a:xfrm>
          <a:prstGeom prst="curvedConnector3">
            <a:avLst>
              <a:gd name="adj1" fmla="val 50000"/>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矩形 17">
            <a:extLst>
              <a:ext uri="{FF2B5EF4-FFF2-40B4-BE49-F238E27FC236}">
                <a16:creationId xmlns:a16="http://schemas.microsoft.com/office/drawing/2014/main" id="{EB1C0527-1805-4D42-965A-26EBE708DD0A}"/>
              </a:ext>
            </a:extLst>
          </p:cNvPr>
          <p:cNvSpPr/>
          <p:nvPr/>
        </p:nvSpPr>
        <p:spPr>
          <a:xfrm>
            <a:off x="8734204" y="3602091"/>
            <a:ext cx="1800493" cy="369332"/>
          </a:xfrm>
          <a:prstGeom prst="rect">
            <a:avLst/>
          </a:prstGeom>
        </p:spPr>
        <p:txBody>
          <a:bodyPr wrap="none">
            <a:spAutoFit/>
          </a:bodyPr>
          <a:lstStyle/>
          <a:p>
            <a:r>
              <a:rPr lang="zh-CN" altLang="en-US" dirty="0">
                <a:latin typeface="Microsoft YaHei" panose="020B0503020204020204" pitchFamily="34" charset="-122"/>
                <a:ea typeface="Microsoft YaHei" panose="020B0503020204020204" pitchFamily="34" charset="-122"/>
              </a:rPr>
              <a:t>計算本地信任值</a:t>
            </a:r>
            <a:endParaRPr lang="zh-CN" altLang="en-US" dirty="0"/>
          </a:p>
        </p:txBody>
      </p:sp>
      <p:sp>
        <p:nvSpPr>
          <p:cNvPr id="19" name="Oval 8">
            <a:extLst>
              <a:ext uri="{FF2B5EF4-FFF2-40B4-BE49-F238E27FC236}">
                <a16:creationId xmlns:a16="http://schemas.microsoft.com/office/drawing/2014/main" id="{A60F9823-F31F-3E4D-8AD8-A7DBDCE85FC6}"/>
              </a:ext>
            </a:extLst>
          </p:cNvPr>
          <p:cNvSpPr>
            <a:spLocks noChangeArrowheads="1"/>
          </p:cNvSpPr>
          <p:nvPr/>
        </p:nvSpPr>
        <p:spPr bwMode="auto">
          <a:xfrm>
            <a:off x="8014911" y="2614592"/>
            <a:ext cx="503925" cy="503925"/>
          </a:xfrm>
          <a:prstGeom prst="ellipse">
            <a:avLst/>
          </a:prstGeom>
          <a:solidFill>
            <a:srgbClr val="BBE0E3"/>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800" b="0" i="0" u="none" strike="noStrike" kern="0" cap="none" spc="0" normalizeH="0" baseline="0" noProof="0" dirty="0" err="1">
                <a:ln>
                  <a:noFill/>
                </a:ln>
                <a:solidFill>
                  <a:srgbClr val="000000"/>
                </a:solidFill>
                <a:effectLst/>
                <a:uLnTx/>
                <a:uFillTx/>
                <a:latin typeface="Monotype Corsiva" panose="03010101010201010101" pitchFamily="66" charset="0"/>
                <a:ea typeface="宋体" panose="02010600030101010101" pitchFamily="2" charset="-122"/>
              </a:rPr>
              <a:t>i</a:t>
            </a:r>
            <a:endParaRPr kumimoji="0" lang="en-US" altLang="zh-CN" sz="1800" b="0" i="0" u="none" strike="noStrike" kern="0" cap="none" spc="0" normalizeH="0" baseline="0" noProof="0" dirty="0">
              <a:ln>
                <a:noFill/>
              </a:ln>
              <a:solidFill>
                <a:srgbClr val="000000"/>
              </a:solidFill>
              <a:effectLst/>
              <a:uLnTx/>
              <a:uFillTx/>
              <a:latin typeface="Monotype Corsiva" panose="03010101010201010101" pitchFamily="66" charset="0"/>
              <a:ea typeface="宋体" panose="02010600030101010101" pitchFamily="2" charset="-122"/>
            </a:endParaRPr>
          </a:p>
        </p:txBody>
      </p:sp>
      <p:sp>
        <p:nvSpPr>
          <p:cNvPr id="20" name="Oval 9">
            <a:extLst>
              <a:ext uri="{FF2B5EF4-FFF2-40B4-BE49-F238E27FC236}">
                <a16:creationId xmlns:a16="http://schemas.microsoft.com/office/drawing/2014/main" id="{0A46ABB2-C496-E64D-AE8A-6F10AB437AB1}"/>
              </a:ext>
            </a:extLst>
          </p:cNvPr>
          <p:cNvSpPr>
            <a:spLocks noChangeArrowheads="1"/>
          </p:cNvSpPr>
          <p:nvPr/>
        </p:nvSpPr>
        <p:spPr bwMode="auto">
          <a:xfrm>
            <a:off x="10686935" y="2629570"/>
            <a:ext cx="503925" cy="503925"/>
          </a:xfrm>
          <a:prstGeom prst="ellipse">
            <a:avLst/>
          </a:prstGeom>
          <a:solidFill>
            <a:srgbClr val="BBE0E3"/>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Monotype Corsiva" panose="03010101010201010101" pitchFamily="66" charset="0"/>
                <a:ea typeface="宋体" panose="02010600030101010101" pitchFamily="2" charset="-122"/>
              </a:rPr>
              <a:t>j</a:t>
            </a:r>
          </a:p>
        </p:txBody>
      </p:sp>
      <p:cxnSp>
        <p:nvCxnSpPr>
          <p:cNvPr id="21" name="AutoShape 11">
            <a:extLst>
              <a:ext uri="{FF2B5EF4-FFF2-40B4-BE49-F238E27FC236}">
                <a16:creationId xmlns:a16="http://schemas.microsoft.com/office/drawing/2014/main" id="{604CB165-0ABC-7F44-AA41-DD0E8F54C06C}"/>
              </a:ext>
            </a:extLst>
          </p:cNvPr>
          <p:cNvCxnSpPr>
            <a:cxnSpLocks noChangeShapeType="1"/>
            <a:stCxn id="20" idx="2"/>
            <a:endCxn id="19" idx="6"/>
          </p:cNvCxnSpPr>
          <p:nvPr/>
        </p:nvCxnSpPr>
        <p:spPr bwMode="auto">
          <a:xfrm rot="10800000">
            <a:off x="8518837" y="2866555"/>
            <a:ext cx="2168099" cy="14978"/>
          </a:xfrm>
          <a:prstGeom prst="curvedConnector3">
            <a:avLst>
              <a:gd name="adj1" fmla="val 50000"/>
            </a:avLst>
          </a:prstGeom>
          <a:noFill/>
          <a:ln w="9525">
            <a:solidFill>
              <a:srgbClr val="000000"/>
            </a:solidFill>
            <a:round/>
            <a:headEnd type="triangle"/>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矩形 21">
            <a:extLst>
              <a:ext uri="{FF2B5EF4-FFF2-40B4-BE49-F238E27FC236}">
                <a16:creationId xmlns:a16="http://schemas.microsoft.com/office/drawing/2014/main" id="{CE251A96-781B-0C4B-AA75-E4569885E940}"/>
              </a:ext>
            </a:extLst>
          </p:cNvPr>
          <p:cNvSpPr/>
          <p:nvPr/>
        </p:nvSpPr>
        <p:spPr>
          <a:xfrm>
            <a:off x="9119215" y="2453515"/>
            <a:ext cx="1107996" cy="369332"/>
          </a:xfrm>
          <a:prstGeom prst="rect">
            <a:avLst/>
          </a:prstGeom>
        </p:spPr>
        <p:txBody>
          <a:bodyPr wrap="none">
            <a:spAutoFit/>
          </a:bodyPr>
          <a:lstStyle/>
          <a:p>
            <a:r>
              <a:rPr lang="zh-CN" altLang="en-US" dirty="0">
                <a:latin typeface="Microsoft YaHei" panose="020B0503020204020204" pitchFamily="34" charset="-122"/>
                <a:ea typeface="Microsoft YaHei" panose="020B0503020204020204" pitchFamily="34" charset="-122"/>
              </a:rPr>
              <a:t>相互評價</a:t>
            </a:r>
            <a:endParaRPr lang="zh-CN" altLang="en-US" dirty="0"/>
          </a:p>
        </p:txBody>
      </p:sp>
      <p:sp>
        <p:nvSpPr>
          <p:cNvPr id="23" name="灯片编号占位符 2">
            <a:extLst>
              <a:ext uri="{FF2B5EF4-FFF2-40B4-BE49-F238E27FC236}">
                <a16:creationId xmlns:a16="http://schemas.microsoft.com/office/drawing/2014/main" id="{04732AC4-037F-4246-8839-FEA737F0C148}"/>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83</a:t>
            </a:fld>
            <a:endParaRPr lang="zh-CN" altLang="en-US" sz="1200" dirty="0">
              <a:solidFill>
                <a:srgbClr val="000000">
                  <a:tint val="75000"/>
                </a:srgbClr>
              </a:solidFill>
              <a:latin typeface="Comic Sans MS"/>
              <a:ea typeface="微软雅黑 Light"/>
            </a:endParaRPr>
          </a:p>
        </p:txBody>
      </p:sp>
      <p:sp>
        <p:nvSpPr>
          <p:cNvPr id="4" name="文本框 3">
            <a:extLst>
              <a:ext uri="{FF2B5EF4-FFF2-40B4-BE49-F238E27FC236}">
                <a16:creationId xmlns:a16="http://schemas.microsoft.com/office/drawing/2014/main" id="{7492EC1A-CB6A-02C1-1491-D59316468B1A}"/>
              </a:ext>
            </a:extLst>
          </p:cNvPr>
          <p:cNvSpPr txBox="1"/>
          <p:nvPr/>
        </p:nvSpPr>
        <p:spPr>
          <a:xfrm>
            <a:off x="424969" y="6431351"/>
            <a:ext cx="8471240" cy="369332"/>
          </a:xfrm>
          <a:prstGeom prst="rect">
            <a:avLst/>
          </a:prstGeom>
          <a:noFill/>
        </p:spPr>
        <p:txBody>
          <a:bodyPr wrap="square">
            <a:spAutoFit/>
          </a:bodyPr>
          <a:lstStyle/>
          <a:p>
            <a:r>
              <a:rPr lang="en-US" altLang="zh-CN" b="1" dirty="0">
                <a:solidFill>
                  <a:srgbClr val="121212"/>
                </a:solidFill>
                <a:effectLst/>
                <a:latin typeface="-apple-system"/>
              </a:rPr>
              <a:t>The </a:t>
            </a:r>
            <a:r>
              <a:rPr lang="en-US" altLang="zh-CN" b="1" dirty="0" err="1">
                <a:solidFill>
                  <a:srgbClr val="121212"/>
                </a:solidFill>
                <a:effectLst/>
                <a:latin typeface="-apple-system"/>
              </a:rPr>
              <a:t>EigenTrust</a:t>
            </a:r>
            <a:r>
              <a:rPr lang="en-US" altLang="zh-CN" b="1" dirty="0">
                <a:solidFill>
                  <a:srgbClr val="121212"/>
                </a:solidFill>
                <a:effectLst/>
                <a:latin typeface="-apple-system"/>
              </a:rPr>
              <a:t> Algorithm for Reputation Management in P2P Networks, WWW 2003</a:t>
            </a:r>
            <a:endParaRPr lang="zh-CN" altLang="en-US" b="1" dirty="0"/>
          </a:p>
        </p:txBody>
      </p:sp>
    </p:spTree>
    <p:extLst>
      <p:ext uri="{BB962C8B-B14F-4D97-AF65-F5344CB8AC3E}">
        <p14:creationId xmlns:p14="http://schemas.microsoft.com/office/powerpoint/2010/main" val="104287906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信譽系統的五個要求</a:t>
            </a:r>
          </a:p>
        </p:txBody>
      </p:sp>
      <p:sp>
        <p:nvSpPr>
          <p:cNvPr id="3" name="文本占位符 22">
            <a:extLst>
              <a:ext uri="{FF2B5EF4-FFF2-40B4-BE49-F238E27FC236}">
                <a16:creationId xmlns:a16="http://schemas.microsoft.com/office/drawing/2014/main" id="{83C41DF9-173C-DF4A-82D2-A6D662F7DC89}"/>
              </a:ext>
            </a:extLst>
          </p:cNvPr>
          <p:cNvSpPr txBox="1">
            <a:spLocks/>
          </p:cNvSpPr>
          <p:nvPr/>
        </p:nvSpPr>
        <p:spPr>
          <a:xfrm>
            <a:off x="1057528" y="1166999"/>
            <a:ext cx="10429622" cy="5089796"/>
          </a:xfrm>
          <a:prstGeom prst="rect">
            <a:avLst/>
          </a:prstGeom>
          <a:ln w="19050">
            <a:solidFill>
              <a:srgbClr val="00B0F0"/>
            </a:solidFill>
          </a:ln>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3200"/>
              </a:lnSpc>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信用評分不依賴中央機構</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a:lnSpc>
                <a:spcPts val="3200"/>
              </a:lnSpc>
            </a:pP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a:lnSpc>
                <a:spcPts val="3200"/>
              </a:lnSpc>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信用評分應該保證匿名化，不應考慮</a:t>
            </a:r>
            <a:r>
              <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rPr>
              <a:t>IP</a:t>
            </a: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地址等外部因素</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a:lnSpc>
                <a:spcPts val="3200"/>
              </a:lnSpc>
            </a:pP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a:lnSpc>
                <a:spcPts val="3200"/>
              </a:lnSpc>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信用評分應該靠良好行爲累積提升，不應該特別照顧新用戶</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a:lnSpc>
                <a:spcPts val="3200"/>
              </a:lnSpc>
            </a:pP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a:lnSpc>
                <a:spcPts val="3200"/>
              </a:lnSpc>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系統應該確保低開銷，保證實用性</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a:lnSpc>
                <a:spcPts val="3200"/>
              </a:lnSpc>
            </a:pP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a:lnSpc>
                <a:spcPts val="3200"/>
              </a:lnSpc>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系統要能抵抗少部分節點聯合發起的惡意評價行爲</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4" name="灯片编号占位符 2">
            <a:extLst>
              <a:ext uri="{FF2B5EF4-FFF2-40B4-BE49-F238E27FC236}">
                <a16:creationId xmlns:a16="http://schemas.microsoft.com/office/drawing/2014/main" id="{F51CBB4E-9859-6441-9A0F-CB4D2172E509}"/>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84</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162566491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基本概念</a:t>
            </a:r>
          </a:p>
        </p:txBody>
      </p:sp>
      <mc:AlternateContent xmlns:mc="http://schemas.openxmlformats.org/markup-compatibility/2006">
        <mc:Choice xmlns:a14="http://schemas.microsoft.com/office/drawing/2010/main" Requires="a14">
          <p:sp>
            <p:nvSpPr>
              <p:cNvPr id="3" name="文本占位符 22">
                <a:extLst>
                  <a:ext uri="{FF2B5EF4-FFF2-40B4-BE49-F238E27FC236}">
                    <a16:creationId xmlns:a16="http://schemas.microsoft.com/office/drawing/2014/main" id="{83C41DF9-173C-DF4A-82D2-A6D662F7DC89}"/>
                  </a:ext>
                </a:extLst>
              </p:cNvPr>
              <p:cNvSpPr txBox="1">
                <a:spLocks/>
              </p:cNvSpPr>
              <p:nvPr/>
            </p:nvSpPr>
            <p:spPr>
              <a:xfrm>
                <a:off x="653895" y="1898059"/>
                <a:ext cx="7256957" cy="4672920"/>
              </a:xfrm>
              <a:prstGeom prst="rect">
                <a:avLst/>
              </a:prstGeom>
              <a:ln>
                <a:solidFill>
                  <a:srgbClr val="00B0F0"/>
                </a:solidFill>
              </a:ln>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3600"/>
                  </a:lnSpc>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對于節點</a:t>
                </a:r>
                <a14:m>
                  <m:oMath xmlns:m="http://schemas.openxmlformats.org/officeDocument/2006/math">
                    <m:r>
                      <a:rPr lang="zh-CN" altLang="en-US" sz="2400" b="0" i="0" dirty="0" smtClean="0">
                        <a:latin typeface="Cambria Math" panose="02040503050406030204" pitchFamily="18" charset="0"/>
                        <a:ea typeface="Microsoft YaHei" panose="020B0503020204020204" pitchFamily="34" charset="-122"/>
                        <a:cs typeface="Times New Roman" panose="02020603050405020304" pitchFamily="18" charset="0"/>
                      </a:rPr>
                      <m:t> </m:t>
                    </m:r>
                    <m:r>
                      <a:rPr lang="en-US" altLang="zh-CN" sz="2400" i="1" dirty="0" smtClean="0">
                        <a:latin typeface="Cambria Math" panose="02040503050406030204" pitchFamily="18" charset="0"/>
                        <a:ea typeface="Microsoft YaHei" panose="020B0503020204020204" pitchFamily="34" charset="-122"/>
                        <a:cs typeface="Times New Roman" panose="02020603050405020304" pitchFamily="18" charset="0"/>
                      </a:rPr>
                      <m:t>𝑖</m:t>
                    </m:r>
                    <m:r>
                      <a:rPr lang="zh-CN" altLang="en-US" sz="2400" b="0" i="1" dirty="0" smtClean="0">
                        <a:latin typeface="Cambria Math" panose="02040503050406030204" pitchFamily="18" charset="0"/>
                        <a:ea typeface="Microsoft YaHei" panose="020B0503020204020204" pitchFamily="34" charset="-122"/>
                        <a:cs typeface="Times New Roman" panose="02020603050405020304" pitchFamily="18" charset="0"/>
                      </a:rPr>
                      <m:t> </m:t>
                    </m:r>
                  </m:oMath>
                </a14:m>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和節點</a:t>
                </a:r>
                <a14:m>
                  <m:oMath xmlns:m="http://schemas.openxmlformats.org/officeDocument/2006/math">
                    <m:r>
                      <a:rPr lang="zh-CN" altLang="en-US" sz="2400" b="0" i="0" dirty="0" smtClean="0">
                        <a:latin typeface="Cambria Math" panose="02040503050406030204" pitchFamily="18" charset="0"/>
                        <a:ea typeface="Microsoft YaHei" panose="020B0503020204020204" pitchFamily="34" charset="-122"/>
                        <a:cs typeface="Times New Roman" panose="02020603050405020304" pitchFamily="18" charset="0"/>
                      </a:rPr>
                      <m:t> </m:t>
                    </m:r>
                    <m:r>
                      <a:rPr lang="en-US" altLang="zh-CN" sz="2400" b="0" i="1" dirty="0" smtClean="0">
                        <a:latin typeface="Cambria Math" panose="02040503050406030204" pitchFamily="18" charset="0"/>
                        <a:ea typeface="Microsoft YaHei" panose="020B0503020204020204" pitchFamily="34" charset="-122"/>
                        <a:cs typeface="Times New Roman" panose="02020603050405020304" pitchFamily="18" charset="0"/>
                      </a:rPr>
                      <m:t>𝑗</m:t>
                    </m:r>
                    <m:r>
                      <a:rPr lang="zh-CN" altLang="en-US" sz="2400" i="1" dirty="0">
                        <a:latin typeface="Cambria Math" panose="02040503050406030204" pitchFamily="18" charset="0"/>
                        <a:ea typeface="Microsoft YaHei" panose="020B0503020204020204" pitchFamily="34" charset="-122"/>
                        <a:cs typeface="Times New Roman" panose="02020603050405020304" pitchFamily="18" charset="0"/>
                      </a:rPr>
                      <m:t> </m:t>
                    </m:r>
                  </m:oMath>
                </a14:m>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之間的每次交互，兩者之間存在相互評價</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marL="702900" indent="-342900">
                  <a:lnSpc>
                    <a:spcPts val="3600"/>
                  </a:lnSpc>
                </a:pPr>
                <a14:m>
                  <m:oMath xmlns:m="http://schemas.openxmlformats.org/officeDocument/2006/math">
                    <m:r>
                      <a:rPr lang="zh-CN" altLang="en-US" sz="2400" b="0" i="1" smtClean="0">
                        <a:latin typeface="Cambria Math" panose="02040503050406030204" pitchFamily="18" charset="0"/>
                        <a:ea typeface="Microsoft YaHei" panose="020B0503020204020204" pitchFamily="34" charset="-122"/>
                        <a:cs typeface="Times New Roman" panose="02020603050405020304" pitchFamily="18" charset="0"/>
                      </a:rPr>
                      <m:t> </m:t>
                    </m:r>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𝑡𝑟</m:t>
                    </m:r>
                    <m:d>
                      <m:dPr>
                        <m:ctrlP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ctrlPr>
                      </m:dPr>
                      <m:e>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𝑖</m:t>
                        </m:r>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m:t>
                        </m:r>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𝑗</m:t>
                        </m:r>
                      </m:e>
                    </m:d>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=1</m:t>
                    </m:r>
                  </m:oMath>
                </a14:m>
                <a:r>
                  <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rPr>
                  <a:t> </a:t>
                </a: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表示節點</a:t>
                </a:r>
                <a14:m>
                  <m:oMath xmlns:m="http://schemas.openxmlformats.org/officeDocument/2006/math">
                    <m:r>
                      <a:rPr lang="zh-CN" altLang="en-US" sz="2400" dirty="0">
                        <a:latin typeface="Cambria Math" panose="02040503050406030204" pitchFamily="18" charset="0"/>
                        <a:ea typeface="Microsoft YaHei" panose="020B0503020204020204" pitchFamily="34" charset="-122"/>
                        <a:cs typeface="Times New Roman" panose="02020603050405020304" pitchFamily="18" charset="0"/>
                      </a:rPr>
                      <m:t> </m:t>
                    </m:r>
                    <m: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t>𝑖</m:t>
                    </m:r>
                    <m:r>
                      <a:rPr lang="zh-CN" altLang="en-US" sz="2400" i="1" dirty="0">
                        <a:latin typeface="Cambria Math" panose="02040503050406030204" pitchFamily="18" charset="0"/>
                        <a:ea typeface="Microsoft YaHei" panose="020B0503020204020204" pitchFamily="34" charset="-122"/>
                        <a:cs typeface="Times New Roman" panose="02020603050405020304" pitchFamily="18" charset="0"/>
                      </a:rPr>
                      <m:t> </m:t>
                    </m:r>
                  </m:oMath>
                </a14:m>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認爲節點</a:t>
                </a:r>
                <a14:m>
                  <m:oMath xmlns:m="http://schemas.openxmlformats.org/officeDocument/2006/math">
                    <m:r>
                      <a:rPr lang="zh-CN" altLang="en-US" sz="2400" dirty="0">
                        <a:latin typeface="Cambria Math" panose="02040503050406030204" pitchFamily="18" charset="0"/>
                        <a:ea typeface="Microsoft YaHei" panose="020B0503020204020204" pitchFamily="34" charset="-122"/>
                        <a:cs typeface="Times New Roman" panose="02020603050405020304" pitchFamily="18" charset="0"/>
                      </a:rPr>
                      <m:t> </m:t>
                    </m:r>
                    <m: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t>𝑗</m:t>
                    </m:r>
                    <m:r>
                      <a:rPr lang="zh-CN" altLang="en-US" sz="2400" i="1" dirty="0">
                        <a:latin typeface="Cambria Math" panose="02040503050406030204" pitchFamily="18" charset="0"/>
                        <a:ea typeface="Microsoft YaHei" panose="020B0503020204020204" pitchFamily="34" charset="-122"/>
                        <a:cs typeface="Times New Roman" panose="02020603050405020304" pitchFamily="18" charset="0"/>
                      </a:rPr>
                      <m:t> </m:t>
                    </m:r>
                  </m:oMath>
                </a14:m>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表現正常</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marL="702900" indent="-342900">
                  <a:lnSpc>
                    <a:spcPts val="3600"/>
                  </a:lnSpc>
                </a:pPr>
                <a:r>
                  <a:rPr lang="en-US" altLang="zh-CN" sz="2400" dirty="0">
                    <a:ea typeface="Microsoft YaHei" panose="020B0503020204020204" pitchFamily="34" charset="-122"/>
                    <a:cs typeface="Times New Roman" panose="02020603050405020304" pitchFamily="18" charset="0"/>
                  </a:rPr>
                  <a:t> </a:t>
                </a:r>
                <a14:m>
                  <m:oMath xmlns:m="http://schemas.openxmlformats.org/officeDocument/2006/math">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𝑡𝑟</m:t>
                    </m:r>
                    <m:d>
                      <m:dPr>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dPr>
                      <m:e>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𝑖</m:t>
                        </m:r>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m:t>
                        </m:r>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𝑗</m:t>
                        </m:r>
                      </m:e>
                    </m:d>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m:t>
                    </m:r>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m:t>
                    </m:r>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1</m:t>
                    </m:r>
                  </m:oMath>
                </a14:m>
                <a:r>
                  <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rPr>
                  <a:t> </a:t>
                </a: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表示節點</a:t>
                </a:r>
                <a14:m>
                  <m:oMath xmlns:m="http://schemas.openxmlformats.org/officeDocument/2006/math">
                    <m:r>
                      <a:rPr lang="zh-CN" altLang="en-US" sz="2400" dirty="0">
                        <a:latin typeface="Cambria Math" panose="02040503050406030204" pitchFamily="18" charset="0"/>
                        <a:ea typeface="Microsoft YaHei" panose="020B0503020204020204" pitchFamily="34" charset="-122"/>
                        <a:cs typeface="Times New Roman" panose="02020603050405020304" pitchFamily="18" charset="0"/>
                      </a:rPr>
                      <m:t> </m:t>
                    </m:r>
                    <m: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t>𝑖</m:t>
                    </m:r>
                    <m:r>
                      <a:rPr lang="zh-CN" altLang="en-US" sz="2400" i="1" dirty="0">
                        <a:latin typeface="Cambria Math" panose="02040503050406030204" pitchFamily="18" charset="0"/>
                        <a:ea typeface="Microsoft YaHei" panose="020B0503020204020204" pitchFamily="34" charset="-122"/>
                        <a:cs typeface="Times New Roman" panose="02020603050405020304" pitchFamily="18" charset="0"/>
                      </a:rPr>
                      <m:t> </m:t>
                    </m:r>
                  </m:oMath>
                </a14:m>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認爲節點</a:t>
                </a:r>
                <a14:m>
                  <m:oMath xmlns:m="http://schemas.openxmlformats.org/officeDocument/2006/math">
                    <m:r>
                      <a:rPr lang="zh-CN" altLang="en-US" sz="2400" dirty="0">
                        <a:latin typeface="Cambria Math" panose="02040503050406030204" pitchFamily="18" charset="0"/>
                        <a:ea typeface="Microsoft YaHei" panose="020B0503020204020204" pitchFamily="34" charset="-122"/>
                        <a:cs typeface="Times New Roman" panose="02020603050405020304" pitchFamily="18" charset="0"/>
                      </a:rPr>
                      <m:t> </m:t>
                    </m:r>
                    <m: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t>𝑗</m:t>
                    </m:r>
                    <m:r>
                      <a:rPr lang="zh-CN" altLang="en-US" sz="2400" i="1" dirty="0">
                        <a:latin typeface="Cambria Math" panose="02040503050406030204" pitchFamily="18" charset="0"/>
                        <a:ea typeface="Microsoft YaHei" panose="020B0503020204020204" pitchFamily="34" charset="-122"/>
                        <a:cs typeface="Times New Roman" panose="02020603050405020304" pitchFamily="18" charset="0"/>
                      </a:rPr>
                      <m:t> </m:t>
                    </m:r>
                  </m:oMath>
                </a14:m>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表現不正常</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a:lnSpc>
                    <a:spcPts val="3600"/>
                  </a:lnSpc>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節點</a:t>
                </a:r>
                <a14:m>
                  <m:oMath xmlns:m="http://schemas.openxmlformats.org/officeDocument/2006/math">
                    <m:r>
                      <a:rPr lang="zh-CN" altLang="en-US" sz="2400" dirty="0">
                        <a:latin typeface="Cambria Math" panose="02040503050406030204" pitchFamily="18" charset="0"/>
                        <a:ea typeface="Microsoft YaHei" panose="020B0503020204020204" pitchFamily="34" charset="-122"/>
                        <a:cs typeface="Times New Roman" panose="02020603050405020304" pitchFamily="18" charset="0"/>
                      </a:rPr>
                      <m:t> </m:t>
                    </m:r>
                    <m: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t>𝑖</m:t>
                    </m:r>
                    <m:r>
                      <a:rPr lang="zh-CN" altLang="en-US" sz="2400" i="1" dirty="0">
                        <a:latin typeface="Cambria Math" panose="02040503050406030204" pitchFamily="18" charset="0"/>
                        <a:ea typeface="Microsoft YaHei" panose="020B0503020204020204" pitchFamily="34" charset="-122"/>
                        <a:cs typeface="Times New Roman" panose="02020603050405020304" pitchFamily="18" charset="0"/>
                      </a:rPr>
                      <m:t> </m:t>
                    </m:r>
                  </m:oMath>
                </a14:m>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對節點</a:t>
                </a:r>
                <a14:m>
                  <m:oMath xmlns:m="http://schemas.openxmlformats.org/officeDocument/2006/math">
                    <m:r>
                      <a:rPr lang="zh-CN" altLang="en-US" sz="2400" dirty="0">
                        <a:latin typeface="Cambria Math" panose="02040503050406030204" pitchFamily="18" charset="0"/>
                        <a:ea typeface="Microsoft YaHei" panose="020B0503020204020204" pitchFamily="34" charset="-122"/>
                        <a:cs typeface="Times New Roman" panose="02020603050405020304" pitchFamily="18" charset="0"/>
                      </a:rPr>
                      <m:t> </m:t>
                    </m:r>
                    <m: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t>𝑗</m:t>
                    </m:r>
                    <m:r>
                      <a:rPr lang="zh-CN" altLang="en-US" sz="2400" i="1" dirty="0">
                        <a:latin typeface="Cambria Math" panose="02040503050406030204" pitchFamily="18" charset="0"/>
                        <a:ea typeface="Microsoft YaHei" panose="020B0503020204020204" pitchFamily="34" charset="-122"/>
                        <a:cs typeface="Times New Roman" panose="02020603050405020304" pitchFamily="18" charset="0"/>
                      </a:rPr>
                      <m:t> </m:t>
                    </m:r>
                  </m:oMath>
                </a14:m>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評價正常的總次數爲 </a:t>
                </a:r>
                <a14:m>
                  <m:oMath xmlns:m="http://schemas.openxmlformats.org/officeDocument/2006/math">
                    <m:r>
                      <a:rPr lang="en-US" altLang="zh-CN" sz="2400" b="0" i="1" dirty="0" smtClean="0">
                        <a:latin typeface="Cambria Math" panose="02040503050406030204" pitchFamily="18" charset="0"/>
                        <a:ea typeface="Microsoft YaHei" panose="020B0503020204020204" pitchFamily="34" charset="-122"/>
                        <a:cs typeface="Times New Roman" panose="02020603050405020304" pitchFamily="18" charset="0"/>
                      </a:rPr>
                      <m:t>𝑠𝑎𝑡</m:t>
                    </m:r>
                    <m:d>
                      <m:dPr>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dPr>
                      <m:e>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𝑖</m:t>
                        </m:r>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m:t>
                        </m:r>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𝑗</m:t>
                        </m:r>
                      </m:e>
                    </m:d>
                  </m:oMath>
                </a14:m>
                <a:r>
                  <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rPr>
                  <a:t> </a:t>
                </a:r>
              </a:p>
              <a:p>
                <a:pPr>
                  <a:lnSpc>
                    <a:spcPts val="3600"/>
                  </a:lnSpc>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節點</a:t>
                </a:r>
                <a14:m>
                  <m:oMath xmlns:m="http://schemas.openxmlformats.org/officeDocument/2006/math">
                    <m:r>
                      <a:rPr lang="zh-CN" altLang="en-US" sz="2400" dirty="0">
                        <a:latin typeface="Cambria Math" panose="02040503050406030204" pitchFamily="18" charset="0"/>
                        <a:ea typeface="Microsoft YaHei" panose="020B0503020204020204" pitchFamily="34" charset="-122"/>
                        <a:cs typeface="Times New Roman" panose="02020603050405020304" pitchFamily="18" charset="0"/>
                      </a:rPr>
                      <m:t> </m:t>
                    </m:r>
                    <m: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t>𝑖</m:t>
                    </m:r>
                    <m:r>
                      <a:rPr lang="zh-CN" altLang="en-US" sz="2400" i="1" dirty="0">
                        <a:latin typeface="Cambria Math" panose="02040503050406030204" pitchFamily="18" charset="0"/>
                        <a:ea typeface="Microsoft YaHei" panose="020B0503020204020204" pitchFamily="34" charset="-122"/>
                        <a:cs typeface="Times New Roman" panose="02020603050405020304" pitchFamily="18" charset="0"/>
                      </a:rPr>
                      <m:t> </m:t>
                    </m:r>
                  </m:oMath>
                </a14:m>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對節點</a:t>
                </a:r>
                <a14:m>
                  <m:oMath xmlns:m="http://schemas.openxmlformats.org/officeDocument/2006/math">
                    <m:r>
                      <a:rPr lang="zh-CN" altLang="en-US" sz="2400" dirty="0">
                        <a:latin typeface="Cambria Math" panose="02040503050406030204" pitchFamily="18" charset="0"/>
                        <a:ea typeface="Microsoft YaHei" panose="020B0503020204020204" pitchFamily="34" charset="-122"/>
                        <a:cs typeface="Times New Roman" panose="02020603050405020304" pitchFamily="18" charset="0"/>
                      </a:rPr>
                      <m:t> </m:t>
                    </m:r>
                    <m: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t>𝑗</m:t>
                    </m:r>
                    <m:r>
                      <a:rPr lang="zh-CN" altLang="en-US" sz="2400" i="1" dirty="0">
                        <a:latin typeface="Cambria Math" panose="02040503050406030204" pitchFamily="18" charset="0"/>
                        <a:ea typeface="Microsoft YaHei" panose="020B0503020204020204" pitchFamily="34" charset="-122"/>
                        <a:cs typeface="Times New Roman" panose="02020603050405020304" pitchFamily="18" charset="0"/>
                      </a:rPr>
                      <m:t> </m:t>
                    </m:r>
                  </m:oMath>
                </a14:m>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評價不正常的總次數爲 </a:t>
                </a:r>
                <a14:m>
                  <m:oMath xmlns:m="http://schemas.openxmlformats.org/officeDocument/2006/math">
                    <m:r>
                      <a:rPr lang="en-US" altLang="zh-CN" sz="2400" b="0" i="1" dirty="0" smtClean="0">
                        <a:latin typeface="Cambria Math" panose="02040503050406030204" pitchFamily="18" charset="0"/>
                        <a:ea typeface="Microsoft YaHei" panose="020B0503020204020204" pitchFamily="34" charset="-122"/>
                        <a:cs typeface="Times New Roman" panose="02020603050405020304" pitchFamily="18" charset="0"/>
                      </a:rPr>
                      <m:t>𝑢𝑛</m:t>
                    </m:r>
                    <m: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t>𝑠𝑎𝑡</m:t>
                    </m:r>
                    <m:d>
                      <m:dPr>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dPr>
                      <m:e>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𝑖</m:t>
                        </m:r>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m:t>
                        </m:r>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𝑗</m:t>
                        </m:r>
                      </m:e>
                    </m:d>
                  </m:oMath>
                </a14:m>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a:lnSpc>
                    <a:spcPts val="3600"/>
                  </a:lnSpc>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節點</a:t>
                </a:r>
                <a14:m>
                  <m:oMath xmlns:m="http://schemas.openxmlformats.org/officeDocument/2006/math">
                    <m:r>
                      <a:rPr lang="zh-CN" altLang="en-US" sz="2400" dirty="0">
                        <a:latin typeface="Cambria Math" panose="02040503050406030204" pitchFamily="18" charset="0"/>
                        <a:ea typeface="Microsoft YaHei" panose="020B0503020204020204" pitchFamily="34" charset="-122"/>
                        <a:cs typeface="Times New Roman" panose="02020603050405020304" pitchFamily="18" charset="0"/>
                      </a:rPr>
                      <m:t> </m:t>
                    </m:r>
                    <m: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t>𝑖</m:t>
                    </m:r>
                    <m:r>
                      <a:rPr lang="zh-CN" altLang="en-US" sz="2400" i="1" dirty="0">
                        <a:latin typeface="Cambria Math" panose="02040503050406030204" pitchFamily="18" charset="0"/>
                        <a:ea typeface="Microsoft YaHei" panose="020B0503020204020204" pitchFamily="34" charset="-122"/>
                        <a:cs typeface="Times New Roman" panose="02020603050405020304" pitchFamily="18" charset="0"/>
                      </a:rPr>
                      <m:t> </m:t>
                    </m:r>
                  </m:oMath>
                </a14:m>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對節點</a:t>
                </a:r>
                <a14:m>
                  <m:oMath xmlns:m="http://schemas.openxmlformats.org/officeDocument/2006/math">
                    <m:r>
                      <a:rPr lang="zh-CN" altLang="en-US" sz="2400" dirty="0">
                        <a:latin typeface="Cambria Math" panose="02040503050406030204" pitchFamily="18" charset="0"/>
                        <a:ea typeface="Microsoft YaHei" panose="020B0503020204020204" pitchFamily="34" charset="-122"/>
                        <a:cs typeface="Times New Roman" panose="02020603050405020304" pitchFamily="18" charset="0"/>
                      </a:rPr>
                      <m:t> </m:t>
                    </m:r>
                    <m: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t>𝑗</m:t>
                    </m:r>
                    <m:r>
                      <a:rPr lang="zh-CN" altLang="en-US" sz="2400" i="1" dirty="0">
                        <a:latin typeface="Cambria Math" panose="02040503050406030204" pitchFamily="18" charset="0"/>
                        <a:ea typeface="Microsoft YaHei" panose="020B0503020204020204" pitchFamily="34" charset="-122"/>
                        <a:cs typeface="Times New Roman" panose="02020603050405020304" pitchFamily="18" charset="0"/>
                      </a:rPr>
                      <m:t> </m:t>
                    </m:r>
                  </m:oMath>
                </a14:m>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本地信任值爲</a:t>
                </a:r>
                <a14:m>
                  <m:oMath xmlns:m="http://schemas.openxmlformats.org/officeDocument/2006/math">
                    <m:r>
                      <a:rPr lang="zh-CN" altLang="en-US" sz="2400" b="0" i="0" dirty="0" smtClean="0">
                        <a:latin typeface="Cambria Math" panose="02040503050406030204" pitchFamily="18" charset="0"/>
                        <a:ea typeface="Microsoft YaHei" panose="020B0503020204020204" pitchFamily="34" charset="-122"/>
                        <a:cs typeface="Times New Roman" panose="02020603050405020304" pitchFamily="18" charset="0"/>
                      </a:rPr>
                      <m:t> </m:t>
                    </m:r>
                    <m:sSub>
                      <m:sSubPr>
                        <m:ctrlPr>
                          <a:rPr lang="en-US" altLang="zh-CN" sz="2400" b="0" i="1" dirty="0" smtClean="0">
                            <a:latin typeface="Cambria Math" panose="02040503050406030204" pitchFamily="18" charset="0"/>
                            <a:ea typeface="Microsoft YaHei" panose="020B0503020204020204" pitchFamily="34" charset="-122"/>
                            <a:cs typeface="Times New Roman" panose="02020603050405020304" pitchFamily="18" charset="0"/>
                          </a:rPr>
                        </m:ctrlPr>
                      </m:sSubPr>
                      <m:e>
                        <m:r>
                          <a:rPr lang="en-US" altLang="zh-CN" sz="2400" b="0" i="1" dirty="0" smtClean="0">
                            <a:latin typeface="Cambria Math" panose="02040503050406030204" pitchFamily="18" charset="0"/>
                            <a:ea typeface="Microsoft YaHei" panose="020B0503020204020204" pitchFamily="34" charset="-122"/>
                            <a:cs typeface="Times New Roman" panose="02020603050405020304" pitchFamily="18" charset="0"/>
                          </a:rPr>
                          <m:t>𝑠</m:t>
                        </m:r>
                      </m:e>
                      <m:sub>
                        <m:r>
                          <a:rPr lang="en-US" altLang="zh-CN" sz="2400" b="0" i="1" dirty="0" smtClean="0">
                            <a:latin typeface="Cambria Math" panose="02040503050406030204" pitchFamily="18" charset="0"/>
                            <a:ea typeface="Microsoft YaHei" panose="020B0503020204020204" pitchFamily="34" charset="-122"/>
                            <a:cs typeface="Times New Roman" panose="02020603050405020304" pitchFamily="18" charset="0"/>
                          </a:rPr>
                          <m:t>𝑖𝑗</m:t>
                        </m:r>
                      </m:sub>
                    </m:sSub>
                  </m:oMath>
                </a14:m>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marL="702900" indent="-342900">
                  <a:lnSpc>
                    <a:spcPts val="3600"/>
                  </a:lnSpc>
                </a:pPr>
                <a14:m>
                  <m:oMath xmlns:m="http://schemas.openxmlformats.org/officeDocument/2006/math">
                    <m:sSub>
                      <m:sSubPr>
                        <m:ctrlP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ctrlPr>
                      </m:sSubPr>
                      <m:e>
                        <m: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t>𝑠</m:t>
                        </m:r>
                      </m:e>
                      <m:sub>
                        <m: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t>𝑖𝑗</m:t>
                        </m:r>
                      </m:sub>
                    </m:sSub>
                    <m:r>
                      <a:rPr lang="en-US" altLang="zh-CN" sz="2400" b="0" i="1" dirty="0" smtClean="0">
                        <a:latin typeface="Cambria Math" panose="02040503050406030204" pitchFamily="18" charset="0"/>
                        <a:ea typeface="Microsoft YaHei" panose="020B0503020204020204" pitchFamily="34" charset="-122"/>
                        <a:cs typeface="Times New Roman" panose="02020603050405020304" pitchFamily="18" charset="0"/>
                      </a:rPr>
                      <m:t>=</m:t>
                    </m:r>
                  </m:oMath>
                </a14:m>
                <a:r>
                  <a:rPr lang="en-US" altLang="zh-CN" sz="2400" dirty="0">
                    <a:ea typeface="Microsoft YaHei" panose="020B0503020204020204" pitchFamily="34" charset="-122"/>
                    <a:cs typeface="Times New Roman" panose="02020603050405020304" pitchFamily="18" charset="0"/>
                  </a:rPr>
                  <a:t> </a:t>
                </a:r>
                <a14:m>
                  <m:oMath xmlns:m="http://schemas.openxmlformats.org/officeDocument/2006/math">
                    <m: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t>𝑠𝑎𝑡</m:t>
                    </m:r>
                    <m:d>
                      <m:dPr>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dPr>
                      <m:e>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𝑖</m:t>
                        </m:r>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m:t>
                        </m:r>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𝑗</m:t>
                        </m:r>
                      </m:e>
                    </m:d>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m:t>
                    </m:r>
                    <m: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t>𝑢𝑛𝑠𝑎𝑡</m:t>
                    </m:r>
                    <m:d>
                      <m:dPr>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dPr>
                      <m:e>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𝑖</m:t>
                        </m:r>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m:t>
                        </m:r>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𝑗</m:t>
                        </m:r>
                      </m:e>
                    </m:d>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m:t>
                    </m:r>
                    <m:nary>
                      <m:naryPr>
                        <m:chr m:val="∑"/>
                        <m:subHide m:val="on"/>
                        <m:supHide m:val="on"/>
                        <m:ctrlP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ctrlPr>
                      </m:naryPr>
                      <m:sub/>
                      <m:sup/>
                      <m:e>
                        <m:r>
                          <a:rPr lang="en-US" altLang="zh-CN" sz="2400" b="0" i="1" dirty="0" smtClean="0">
                            <a:latin typeface="Cambria Math" panose="02040503050406030204" pitchFamily="18" charset="0"/>
                            <a:ea typeface="Microsoft YaHei" panose="020B0503020204020204" pitchFamily="34" charset="-122"/>
                            <a:cs typeface="Times New Roman" panose="02020603050405020304" pitchFamily="18" charset="0"/>
                          </a:rPr>
                          <m:t>𝑡𝑟</m:t>
                        </m:r>
                        <m:d>
                          <m:dPr>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dPr>
                          <m:e>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𝑖</m:t>
                            </m:r>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m:t>
                            </m:r>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𝑗</m:t>
                            </m:r>
                          </m:e>
                        </m:d>
                      </m:e>
                    </m:nary>
                  </m:oMath>
                </a14:m>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p:txBody>
          </p:sp>
        </mc:Choice>
        <mc:Fallback>
          <p:sp>
            <p:nvSpPr>
              <p:cNvPr id="3" name="文本占位符 22">
                <a:extLst>
                  <a:ext uri="{FF2B5EF4-FFF2-40B4-BE49-F238E27FC236}">
                    <a16:creationId xmlns:a16="http://schemas.microsoft.com/office/drawing/2014/main" id="{83C41DF9-173C-DF4A-82D2-A6D662F7DC89}"/>
                  </a:ext>
                </a:extLst>
              </p:cNvPr>
              <p:cNvSpPr txBox="1">
                <a:spLocks noRot="1" noChangeAspect="1" noMove="1" noResize="1" noEditPoints="1" noAdjustHandles="1" noChangeArrowheads="1" noChangeShapeType="1" noTextEdit="1"/>
              </p:cNvSpPr>
              <p:nvPr/>
            </p:nvSpPr>
            <p:spPr>
              <a:xfrm>
                <a:off x="653895" y="1898059"/>
                <a:ext cx="7256957" cy="4672920"/>
              </a:xfrm>
              <a:prstGeom prst="rect">
                <a:avLst/>
              </a:prstGeom>
              <a:blipFill>
                <a:blip r:embed="rId2"/>
                <a:stretch>
                  <a:fillRect l="-1006" b="-14824"/>
                </a:stretch>
              </a:blipFill>
              <a:ln>
                <a:solidFill>
                  <a:srgbClr val="00B0F0"/>
                </a:solidFill>
              </a:ln>
            </p:spPr>
            <p:txBody>
              <a:bodyPr/>
              <a:lstStyle/>
              <a:p>
                <a:r>
                  <a:rPr lang="fr-FR">
                    <a:noFill/>
                  </a:rPr>
                  <a:t> </a:t>
                </a:r>
              </a:p>
            </p:txBody>
          </p:sp>
        </mc:Fallback>
      </mc:AlternateContent>
      <p:grpSp>
        <p:nvGrpSpPr>
          <p:cNvPr id="34" name="组合 33">
            <a:extLst>
              <a:ext uri="{FF2B5EF4-FFF2-40B4-BE49-F238E27FC236}">
                <a16:creationId xmlns:a16="http://schemas.microsoft.com/office/drawing/2014/main" id="{2E1B22B1-25CC-3C4C-9985-A4DAAF28E2FD}"/>
              </a:ext>
            </a:extLst>
          </p:cNvPr>
          <p:cNvGrpSpPr/>
          <p:nvPr/>
        </p:nvGrpSpPr>
        <p:grpSpPr>
          <a:xfrm>
            <a:off x="8141606" y="1698700"/>
            <a:ext cx="3364210" cy="2202990"/>
            <a:chOff x="8408306" y="1487768"/>
            <a:chExt cx="3364210" cy="2202990"/>
          </a:xfrm>
        </p:grpSpPr>
        <p:pic>
          <p:nvPicPr>
            <p:cNvPr id="6" name="图形 5" descr="计算机">
              <a:extLst>
                <a:ext uri="{FF2B5EF4-FFF2-40B4-BE49-F238E27FC236}">
                  <a16:creationId xmlns:a16="http://schemas.microsoft.com/office/drawing/2014/main" id="{2EA238D2-52BD-A848-9335-F45C58BE3D4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39993" y="2207098"/>
              <a:ext cx="831887" cy="771155"/>
            </a:xfrm>
            <a:prstGeom prst="rect">
              <a:avLst/>
            </a:prstGeom>
          </p:spPr>
        </p:pic>
        <p:pic>
          <p:nvPicPr>
            <p:cNvPr id="9" name="图形 8" descr="计算机">
              <a:extLst>
                <a:ext uri="{FF2B5EF4-FFF2-40B4-BE49-F238E27FC236}">
                  <a16:creationId xmlns:a16="http://schemas.microsoft.com/office/drawing/2014/main" id="{DA346FBA-D4E8-9048-ABE7-A01EC47846A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33609" y="2177404"/>
              <a:ext cx="831889" cy="771156"/>
            </a:xfrm>
            <a:prstGeom prst="rect">
              <a:avLst/>
            </a:prstGeom>
          </p:spPr>
        </p:pic>
        <p:cxnSp>
          <p:nvCxnSpPr>
            <p:cNvPr id="15" name="直线连接符 71">
              <a:extLst>
                <a:ext uri="{FF2B5EF4-FFF2-40B4-BE49-F238E27FC236}">
                  <a16:creationId xmlns:a16="http://schemas.microsoft.com/office/drawing/2014/main" id="{3EED9DA3-D1E2-EA48-994C-070DA2CBA62E}"/>
                </a:ext>
              </a:extLst>
            </p:cNvPr>
            <p:cNvCxnSpPr>
              <a:cxnSpLocks/>
              <a:stCxn id="9" idx="3"/>
              <a:endCxn id="6" idx="1"/>
            </p:cNvCxnSpPr>
            <p:nvPr/>
          </p:nvCxnSpPr>
          <p:spPr>
            <a:xfrm>
              <a:off x="9265498" y="2562982"/>
              <a:ext cx="1674495" cy="29694"/>
            </a:xfrm>
            <a:prstGeom prst="line">
              <a:avLst/>
            </a:prstGeom>
            <a:ln w="12700">
              <a:head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7C898CED-A779-0947-A1E3-CD8F57E59BC8}"/>
                    </a:ext>
                  </a:extLst>
                </p:cNvPr>
                <p:cNvSpPr/>
                <p:nvPr/>
              </p:nvSpPr>
              <p:spPr>
                <a:xfrm>
                  <a:off x="8408306" y="2978253"/>
                  <a:ext cx="817531" cy="369332"/>
                </a:xfrm>
                <a:prstGeom prst="rect">
                  <a:avLst/>
                </a:prstGeom>
              </p:spPr>
              <p:txBody>
                <a:bodyPr wrap="none">
                  <a:spAutoFit/>
                </a:bodyPr>
                <a:lstStyle/>
                <a:p>
                  <a:pPr marL="0" lvl="1"/>
                  <a:r>
                    <a:rPr lang="en-US" altLang="zh-CN" dirty="0">
                      <a:latin typeface="Microsoft YaHei" panose="020B0503020204020204" pitchFamily="34" charset="-122"/>
                      <a:ea typeface="Microsoft YaHei" panose="020B0503020204020204" pitchFamily="34" charset="-122"/>
                    </a:rPr>
                    <a:t>Peer </a:t>
                  </a:r>
                  <a14:m>
                    <m:oMath xmlns:m="http://schemas.openxmlformats.org/officeDocument/2006/math">
                      <m:r>
                        <a:rPr lang="en-US" altLang="zh-CN" i="1" dirty="0" smtClean="0">
                          <a:latin typeface="Cambria Math" panose="02040503050406030204" pitchFamily="18" charset="0"/>
                          <a:ea typeface="Microsoft YaHei" panose="020B0503020204020204" pitchFamily="34" charset="-122"/>
                        </a:rPr>
                        <m:t>𝑖</m:t>
                      </m:r>
                    </m:oMath>
                  </a14:m>
                  <a:endParaRPr lang="zh-CN" altLang="en-US" dirty="0">
                    <a:latin typeface="Microsoft YaHei" panose="020B0503020204020204" pitchFamily="34" charset="-122"/>
                    <a:ea typeface="Microsoft YaHei" panose="020B0503020204020204" pitchFamily="34" charset="-122"/>
                  </a:endParaRPr>
                </a:p>
              </p:txBody>
            </p:sp>
          </mc:Choice>
          <mc:Fallback xmlns="">
            <p:sp>
              <p:nvSpPr>
                <p:cNvPr id="16" name="矩形 15">
                  <a:extLst>
                    <a:ext uri="{FF2B5EF4-FFF2-40B4-BE49-F238E27FC236}">
                      <a16:creationId xmlns:a16="http://schemas.microsoft.com/office/drawing/2014/main" id="{7C898CED-A779-0947-A1E3-CD8F57E59BC8}"/>
                    </a:ext>
                  </a:extLst>
                </p:cNvPr>
                <p:cNvSpPr>
                  <a:spLocks noRot="1" noChangeAspect="1" noMove="1" noResize="1" noEditPoints="1" noAdjustHandles="1" noChangeArrowheads="1" noChangeShapeType="1" noTextEdit="1"/>
                </p:cNvSpPr>
                <p:nvPr/>
              </p:nvSpPr>
              <p:spPr>
                <a:xfrm>
                  <a:off x="8408306" y="2978253"/>
                  <a:ext cx="817531" cy="369332"/>
                </a:xfrm>
                <a:prstGeom prst="rect">
                  <a:avLst/>
                </a:prstGeom>
                <a:blipFill>
                  <a:blip r:embed="rId5"/>
                  <a:stretch>
                    <a:fillRect l="-4545" t="-6667" b="-23333"/>
                  </a:stretch>
                </a:blipFill>
              </p:spPr>
              <p:txBody>
                <a:bodyPr/>
                <a:lstStyle/>
                <a:p>
                  <a:r>
                    <a:rPr lang="zh-CN" altLang="en-US">
                      <a:noFill/>
                    </a:rPr>
                    <a:t> </a:t>
                  </a:r>
                </a:p>
              </p:txBody>
            </p:sp>
          </mc:Fallback>
        </mc:AlternateContent>
        <p:sp>
          <p:nvSpPr>
            <p:cNvPr id="22" name="矩形 21">
              <a:extLst>
                <a:ext uri="{FF2B5EF4-FFF2-40B4-BE49-F238E27FC236}">
                  <a16:creationId xmlns:a16="http://schemas.microsoft.com/office/drawing/2014/main" id="{3D2881C3-ADB2-2644-8B52-23F579209E30}"/>
                </a:ext>
              </a:extLst>
            </p:cNvPr>
            <p:cNvSpPr/>
            <p:nvPr/>
          </p:nvSpPr>
          <p:spPr>
            <a:xfrm>
              <a:off x="9771050" y="2018839"/>
              <a:ext cx="663389" cy="376517"/>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61CF620C-B322-C647-89ED-CAC43531B791}"/>
                    </a:ext>
                  </a:extLst>
                </p:cNvPr>
                <p:cNvSpPr/>
                <p:nvPr/>
              </p:nvSpPr>
              <p:spPr>
                <a:xfrm>
                  <a:off x="10948701" y="2952094"/>
                  <a:ext cx="823815" cy="369332"/>
                </a:xfrm>
                <a:prstGeom prst="rect">
                  <a:avLst/>
                </a:prstGeom>
              </p:spPr>
              <p:txBody>
                <a:bodyPr wrap="none">
                  <a:spAutoFit/>
                </a:bodyPr>
                <a:lstStyle/>
                <a:p>
                  <a:pPr marL="0" lvl="1"/>
                  <a:r>
                    <a:rPr lang="en-US" altLang="zh-CN" dirty="0">
                      <a:latin typeface="Microsoft YaHei" panose="020B0503020204020204" pitchFamily="34" charset="-122"/>
                      <a:ea typeface="Microsoft YaHei" panose="020B0503020204020204" pitchFamily="34" charset="-122"/>
                    </a:rPr>
                    <a:t>Peer </a:t>
                  </a:r>
                  <a14:m>
                    <m:oMath xmlns:m="http://schemas.openxmlformats.org/officeDocument/2006/math">
                      <m:r>
                        <a:rPr lang="en-US" altLang="zh-CN" b="0" i="1" smtClean="0">
                          <a:latin typeface="Cambria Math" panose="02040503050406030204" pitchFamily="18" charset="0"/>
                          <a:ea typeface="Microsoft YaHei" panose="020B0503020204020204" pitchFamily="34" charset="-122"/>
                        </a:rPr>
                        <m:t>𝑗</m:t>
                      </m:r>
                    </m:oMath>
                  </a14:m>
                  <a:endParaRPr lang="zh-CN" altLang="en-US" dirty="0">
                    <a:latin typeface="Microsoft YaHei" panose="020B0503020204020204" pitchFamily="34" charset="-122"/>
                    <a:ea typeface="Microsoft YaHei" panose="020B0503020204020204" pitchFamily="34" charset="-122"/>
                  </a:endParaRPr>
                </a:p>
              </p:txBody>
            </p:sp>
          </mc:Choice>
          <mc:Fallback xmlns="">
            <p:sp>
              <p:nvSpPr>
                <p:cNvPr id="23" name="矩形 22">
                  <a:extLst>
                    <a:ext uri="{FF2B5EF4-FFF2-40B4-BE49-F238E27FC236}">
                      <a16:creationId xmlns:a16="http://schemas.microsoft.com/office/drawing/2014/main" id="{61CF620C-B322-C647-89ED-CAC43531B791}"/>
                    </a:ext>
                  </a:extLst>
                </p:cNvPr>
                <p:cNvSpPr>
                  <a:spLocks noRot="1" noChangeAspect="1" noMove="1" noResize="1" noEditPoints="1" noAdjustHandles="1" noChangeArrowheads="1" noChangeShapeType="1" noTextEdit="1"/>
                </p:cNvSpPr>
                <p:nvPr/>
              </p:nvSpPr>
              <p:spPr>
                <a:xfrm>
                  <a:off x="10948701" y="2952094"/>
                  <a:ext cx="823815" cy="369332"/>
                </a:xfrm>
                <a:prstGeom prst="rect">
                  <a:avLst/>
                </a:prstGeom>
                <a:blipFill>
                  <a:blip r:embed="rId6"/>
                  <a:stretch>
                    <a:fillRect l="-6154" t="-6667" b="-23333"/>
                  </a:stretch>
                </a:blipFill>
              </p:spPr>
              <p:txBody>
                <a:bodyPr/>
                <a:lstStyle/>
                <a:p>
                  <a:r>
                    <a:rPr lang="zh-CN" altLang="en-US">
                      <a:noFill/>
                    </a:rPr>
                    <a:t> </a:t>
                  </a:r>
                </a:p>
              </p:txBody>
            </p:sp>
          </mc:Fallback>
        </mc:AlternateContent>
        <p:sp>
          <p:nvSpPr>
            <p:cNvPr id="24" name="矩形 23">
              <a:extLst>
                <a:ext uri="{FF2B5EF4-FFF2-40B4-BE49-F238E27FC236}">
                  <a16:creationId xmlns:a16="http://schemas.microsoft.com/office/drawing/2014/main" id="{D2383C8B-5C7B-884F-9166-C4D607A3B7CD}"/>
                </a:ext>
              </a:extLst>
            </p:cNvPr>
            <p:cNvSpPr/>
            <p:nvPr/>
          </p:nvSpPr>
          <p:spPr>
            <a:xfrm>
              <a:off x="9225837" y="1487768"/>
              <a:ext cx="1813189" cy="369332"/>
            </a:xfrm>
            <a:prstGeom prst="rect">
              <a:avLst/>
            </a:prstGeom>
          </p:spPr>
          <p:txBody>
            <a:bodyPr wrap="none">
              <a:spAutoFit/>
            </a:bodyPr>
            <a:lstStyle/>
            <a:p>
              <a:pPr marL="0" lvl="1"/>
              <a:r>
                <a:rPr lang="en-US" altLang="zh-CN" dirty="0">
                  <a:latin typeface="Microsoft YaHei" panose="020B0503020204020204" pitchFamily="34" charset="-122"/>
                  <a:ea typeface="Microsoft YaHei" panose="020B0503020204020204" pitchFamily="34" charset="-122"/>
                </a:rPr>
                <a:t>Good resource</a:t>
              </a:r>
              <a:endParaRPr lang="zh-CN" altLang="en-US" dirty="0">
                <a:latin typeface="Microsoft YaHei" panose="020B0503020204020204" pitchFamily="34" charset="-122"/>
                <a:ea typeface="Microsoft YaHei" panose="020B0503020204020204" pitchFamily="34" charset="-122"/>
              </a:endParaRPr>
            </a:p>
          </p:txBody>
        </p:sp>
        <mc:AlternateContent xmlns:mc="http://schemas.openxmlformats.org/markup-compatibility/2006" xmlns:a14="http://schemas.microsoft.com/office/drawing/2010/main">
          <mc:Choice Requires="a14">
            <p:sp>
              <p:nvSpPr>
                <p:cNvPr id="25" name="矩形 24">
                  <a:extLst>
                    <a:ext uri="{FF2B5EF4-FFF2-40B4-BE49-F238E27FC236}">
                      <a16:creationId xmlns:a16="http://schemas.microsoft.com/office/drawing/2014/main" id="{C4AA23B4-43D9-3549-92EC-0111F029872E}"/>
                    </a:ext>
                  </a:extLst>
                </p:cNvPr>
                <p:cNvSpPr/>
                <p:nvPr/>
              </p:nvSpPr>
              <p:spPr>
                <a:xfrm>
                  <a:off x="9464844" y="3321426"/>
                  <a:ext cx="1335174" cy="369332"/>
                </a:xfrm>
                <a:prstGeom prst="rect">
                  <a:avLst/>
                </a:prstGeom>
              </p:spPr>
              <p:txBody>
                <a:bodyPr wrap="none">
                  <a:spAutoFit/>
                </a:bodyPr>
                <a:lstStyle/>
                <a:p>
                  <a14:m>
                    <m:oMath xmlns:m="http://schemas.openxmlformats.org/officeDocument/2006/math">
                      <m:r>
                        <a:rPr lang="en-US" altLang="zh-CN" i="1">
                          <a:latin typeface="Cambria Math" panose="02040503050406030204" pitchFamily="18" charset="0"/>
                          <a:ea typeface="Microsoft YaHei" panose="020B0503020204020204" pitchFamily="34" charset="-122"/>
                          <a:cs typeface="Times New Roman" panose="02020603050405020304" pitchFamily="18" charset="0"/>
                        </a:rPr>
                        <m:t>𝑡𝑟</m:t>
                      </m:r>
                      <m:d>
                        <m:dPr>
                          <m:ctrlPr>
                            <a:rPr lang="en-US" altLang="zh-CN" i="1">
                              <a:latin typeface="Cambria Math" panose="02040503050406030204" pitchFamily="18" charset="0"/>
                              <a:ea typeface="Microsoft YaHei" panose="020B0503020204020204" pitchFamily="34" charset="-122"/>
                              <a:cs typeface="Times New Roman" panose="02020603050405020304" pitchFamily="18" charset="0"/>
                            </a:rPr>
                          </m:ctrlPr>
                        </m:dPr>
                        <m:e>
                          <m:r>
                            <a:rPr lang="en-US" altLang="zh-CN" i="1">
                              <a:latin typeface="Cambria Math" panose="02040503050406030204" pitchFamily="18" charset="0"/>
                              <a:ea typeface="Microsoft YaHei" panose="020B0503020204020204" pitchFamily="34" charset="-122"/>
                              <a:cs typeface="Times New Roman" panose="02020603050405020304" pitchFamily="18" charset="0"/>
                            </a:rPr>
                            <m:t>𝑖</m:t>
                          </m:r>
                          <m:r>
                            <a:rPr lang="en-US" altLang="zh-CN" i="1">
                              <a:latin typeface="Cambria Math" panose="02040503050406030204" pitchFamily="18" charset="0"/>
                              <a:ea typeface="Microsoft YaHei" panose="020B0503020204020204" pitchFamily="34" charset="-122"/>
                              <a:cs typeface="Times New Roman" panose="02020603050405020304" pitchFamily="18" charset="0"/>
                            </a:rPr>
                            <m:t>,</m:t>
                          </m:r>
                          <m:r>
                            <a:rPr lang="en-US" altLang="zh-CN" i="1">
                              <a:latin typeface="Cambria Math" panose="02040503050406030204" pitchFamily="18" charset="0"/>
                              <a:ea typeface="Microsoft YaHei" panose="020B0503020204020204" pitchFamily="34" charset="-122"/>
                              <a:cs typeface="Times New Roman" panose="02020603050405020304" pitchFamily="18" charset="0"/>
                            </a:rPr>
                            <m:t>𝑗</m:t>
                          </m:r>
                        </m:e>
                      </m:d>
                      <m:r>
                        <a:rPr lang="en-US" altLang="zh-CN" i="1">
                          <a:latin typeface="Cambria Math" panose="02040503050406030204" pitchFamily="18" charset="0"/>
                          <a:ea typeface="Microsoft YaHei" panose="020B0503020204020204" pitchFamily="34" charset="-122"/>
                          <a:cs typeface="Times New Roman" panose="02020603050405020304" pitchFamily="18" charset="0"/>
                        </a:rPr>
                        <m:t>=1</m:t>
                      </m:r>
                    </m:oMath>
                  </a14:m>
                  <a:r>
                    <a:rPr lang="en-US" altLang="zh-CN" dirty="0">
                      <a:latin typeface="Microsoft YaHei" panose="020B0503020204020204" pitchFamily="34" charset="-122"/>
                      <a:ea typeface="Microsoft YaHei" panose="020B0503020204020204" pitchFamily="34" charset="-122"/>
                      <a:cs typeface="Times New Roman" panose="02020603050405020304" pitchFamily="18" charset="0"/>
                    </a:rPr>
                    <a:t> </a:t>
                  </a:r>
                  <a:endParaRPr lang="zh-CN" altLang="en-US" dirty="0"/>
                </a:p>
              </p:txBody>
            </p:sp>
          </mc:Choice>
          <mc:Fallback xmlns="">
            <p:sp>
              <p:nvSpPr>
                <p:cNvPr id="25" name="矩形 24">
                  <a:extLst>
                    <a:ext uri="{FF2B5EF4-FFF2-40B4-BE49-F238E27FC236}">
                      <a16:creationId xmlns:a16="http://schemas.microsoft.com/office/drawing/2014/main" id="{C4AA23B4-43D9-3549-92EC-0111F029872E}"/>
                    </a:ext>
                  </a:extLst>
                </p:cNvPr>
                <p:cNvSpPr>
                  <a:spLocks noRot="1" noChangeAspect="1" noMove="1" noResize="1" noEditPoints="1" noAdjustHandles="1" noChangeArrowheads="1" noChangeShapeType="1" noTextEdit="1"/>
                </p:cNvSpPr>
                <p:nvPr/>
              </p:nvSpPr>
              <p:spPr>
                <a:xfrm>
                  <a:off x="9464844" y="3321426"/>
                  <a:ext cx="1335174" cy="369332"/>
                </a:xfrm>
                <a:prstGeom prst="rect">
                  <a:avLst/>
                </a:prstGeom>
                <a:blipFill>
                  <a:blip r:embed="rId7"/>
                  <a:stretch>
                    <a:fillRect b="-13333"/>
                  </a:stretch>
                </a:blipFill>
              </p:spPr>
              <p:txBody>
                <a:bodyPr/>
                <a:lstStyle/>
                <a:p>
                  <a:r>
                    <a:rPr lang="zh-CN" altLang="en-US">
                      <a:noFill/>
                    </a:rPr>
                    <a:t> </a:t>
                  </a:r>
                </a:p>
              </p:txBody>
            </p:sp>
          </mc:Fallback>
        </mc:AlternateContent>
      </p:grpSp>
      <p:grpSp>
        <p:nvGrpSpPr>
          <p:cNvPr id="35" name="组合 34">
            <a:extLst>
              <a:ext uri="{FF2B5EF4-FFF2-40B4-BE49-F238E27FC236}">
                <a16:creationId xmlns:a16="http://schemas.microsoft.com/office/drawing/2014/main" id="{46933F68-6D0C-8E48-BCF2-1711011F8F19}"/>
              </a:ext>
            </a:extLst>
          </p:cNvPr>
          <p:cNvGrpSpPr/>
          <p:nvPr/>
        </p:nvGrpSpPr>
        <p:grpSpPr>
          <a:xfrm>
            <a:off x="8141606" y="4300466"/>
            <a:ext cx="3364210" cy="2202990"/>
            <a:chOff x="8408306" y="4170602"/>
            <a:chExt cx="3364210" cy="2202990"/>
          </a:xfrm>
        </p:grpSpPr>
        <p:pic>
          <p:nvPicPr>
            <p:cNvPr id="26" name="图形 25" descr="计算机">
              <a:extLst>
                <a:ext uri="{FF2B5EF4-FFF2-40B4-BE49-F238E27FC236}">
                  <a16:creationId xmlns:a16="http://schemas.microsoft.com/office/drawing/2014/main" id="{25624AE3-4CD0-5641-BC15-F0C632E359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39993" y="4889932"/>
              <a:ext cx="831887" cy="771155"/>
            </a:xfrm>
            <a:prstGeom prst="rect">
              <a:avLst/>
            </a:prstGeom>
          </p:spPr>
        </p:pic>
        <p:pic>
          <p:nvPicPr>
            <p:cNvPr id="27" name="图形 26" descr="计算机">
              <a:extLst>
                <a:ext uri="{FF2B5EF4-FFF2-40B4-BE49-F238E27FC236}">
                  <a16:creationId xmlns:a16="http://schemas.microsoft.com/office/drawing/2014/main" id="{ECF0F134-295D-6841-A11F-228D53A4959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33609" y="4860238"/>
              <a:ext cx="831889" cy="771156"/>
            </a:xfrm>
            <a:prstGeom prst="rect">
              <a:avLst/>
            </a:prstGeom>
          </p:spPr>
        </p:pic>
        <p:cxnSp>
          <p:nvCxnSpPr>
            <p:cNvPr id="28" name="直线连接符 71">
              <a:extLst>
                <a:ext uri="{FF2B5EF4-FFF2-40B4-BE49-F238E27FC236}">
                  <a16:creationId xmlns:a16="http://schemas.microsoft.com/office/drawing/2014/main" id="{8AB0E476-846D-7142-B94A-89B36C54AC73}"/>
                </a:ext>
              </a:extLst>
            </p:cNvPr>
            <p:cNvCxnSpPr>
              <a:cxnSpLocks/>
              <a:stCxn id="27" idx="3"/>
              <a:endCxn id="26" idx="1"/>
            </p:cNvCxnSpPr>
            <p:nvPr/>
          </p:nvCxnSpPr>
          <p:spPr>
            <a:xfrm>
              <a:off x="9265498" y="5245816"/>
              <a:ext cx="1674495" cy="29694"/>
            </a:xfrm>
            <a:prstGeom prst="line">
              <a:avLst/>
            </a:prstGeom>
            <a:ln w="12700">
              <a:head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矩形 28">
                  <a:extLst>
                    <a:ext uri="{FF2B5EF4-FFF2-40B4-BE49-F238E27FC236}">
                      <a16:creationId xmlns:a16="http://schemas.microsoft.com/office/drawing/2014/main" id="{F9A438C9-1CB6-614D-865F-55233E773721}"/>
                    </a:ext>
                  </a:extLst>
                </p:cNvPr>
                <p:cNvSpPr/>
                <p:nvPr/>
              </p:nvSpPr>
              <p:spPr>
                <a:xfrm>
                  <a:off x="8408306" y="5661087"/>
                  <a:ext cx="817531" cy="369332"/>
                </a:xfrm>
                <a:prstGeom prst="rect">
                  <a:avLst/>
                </a:prstGeom>
              </p:spPr>
              <p:txBody>
                <a:bodyPr wrap="none">
                  <a:spAutoFit/>
                </a:bodyPr>
                <a:lstStyle/>
                <a:p>
                  <a:pPr marL="0" lvl="1"/>
                  <a:r>
                    <a:rPr lang="en-US" altLang="zh-CN" dirty="0">
                      <a:latin typeface="Microsoft YaHei" panose="020B0503020204020204" pitchFamily="34" charset="-122"/>
                      <a:ea typeface="Microsoft YaHei" panose="020B0503020204020204" pitchFamily="34" charset="-122"/>
                    </a:rPr>
                    <a:t>Peer </a:t>
                  </a:r>
                  <a14:m>
                    <m:oMath xmlns:m="http://schemas.openxmlformats.org/officeDocument/2006/math">
                      <m:r>
                        <a:rPr lang="en-US" altLang="zh-CN" i="1" dirty="0" smtClean="0">
                          <a:latin typeface="Cambria Math" panose="02040503050406030204" pitchFamily="18" charset="0"/>
                          <a:ea typeface="Microsoft YaHei" panose="020B0503020204020204" pitchFamily="34" charset="-122"/>
                        </a:rPr>
                        <m:t>𝑖</m:t>
                      </m:r>
                    </m:oMath>
                  </a14:m>
                  <a:endParaRPr lang="zh-CN" altLang="en-US" dirty="0">
                    <a:latin typeface="Microsoft YaHei" panose="020B0503020204020204" pitchFamily="34" charset="-122"/>
                    <a:ea typeface="Microsoft YaHei" panose="020B0503020204020204" pitchFamily="34" charset="-122"/>
                  </a:endParaRPr>
                </a:p>
              </p:txBody>
            </p:sp>
          </mc:Choice>
          <mc:Fallback xmlns="">
            <p:sp>
              <p:nvSpPr>
                <p:cNvPr id="29" name="矩形 28">
                  <a:extLst>
                    <a:ext uri="{FF2B5EF4-FFF2-40B4-BE49-F238E27FC236}">
                      <a16:creationId xmlns:a16="http://schemas.microsoft.com/office/drawing/2014/main" id="{F9A438C9-1CB6-614D-865F-55233E773721}"/>
                    </a:ext>
                  </a:extLst>
                </p:cNvPr>
                <p:cNvSpPr>
                  <a:spLocks noRot="1" noChangeAspect="1" noMove="1" noResize="1" noEditPoints="1" noAdjustHandles="1" noChangeArrowheads="1" noChangeShapeType="1" noTextEdit="1"/>
                </p:cNvSpPr>
                <p:nvPr/>
              </p:nvSpPr>
              <p:spPr>
                <a:xfrm>
                  <a:off x="8408306" y="5661087"/>
                  <a:ext cx="817531" cy="369332"/>
                </a:xfrm>
                <a:prstGeom prst="rect">
                  <a:avLst/>
                </a:prstGeom>
                <a:blipFill>
                  <a:blip r:embed="rId8"/>
                  <a:stretch>
                    <a:fillRect l="-4545" t="-6667" b="-23333"/>
                  </a:stretch>
                </a:blipFill>
              </p:spPr>
              <p:txBody>
                <a:bodyPr/>
                <a:lstStyle/>
                <a:p>
                  <a:r>
                    <a:rPr lang="zh-CN" altLang="en-US">
                      <a:noFill/>
                    </a:rPr>
                    <a:t> </a:t>
                  </a:r>
                </a:p>
              </p:txBody>
            </p:sp>
          </mc:Fallback>
        </mc:AlternateContent>
        <p:sp>
          <p:nvSpPr>
            <p:cNvPr id="30" name="矩形 29">
              <a:extLst>
                <a:ext uri="{FF2B5EF4-FFF2-40B4-BE49-F238E27FC236}">
                  <a16:creationId xmlns:a16="http://schemas.microsoft.com/office/drawing/2014/main" id="{D5B57E67-ADC7-034A-87AF-443558275B17}"/>
                </a:ext>
              </a:extLst>
            </p:cNvPr>
            <p:cNvSpPr/>
            <p:nvPr/>
          </p:nvSpPr>
          <p:spPr>
            <a:xfrm>
              <a:off x="9771050" y="4701673"/>
              <a:ext cx="663389" cy="376517"/>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id="{5ECDFC01-2BC6-C84F-851E-8BBBE7A02B8D}"/>
                    </a:ext>
                  </a:extLst>
                </p:cNvPr>
                <p:cNvSpPr/>
                <p:nvPr/>
              </p:nvSpPr>
              <p:spPr>
                <a:xfrm>
                  <a:off x="10948701" y="5634928"/>
                  <a:ext cx="823815" cy="369332"/>
                </a:xfrm>
                <a:prstGeom prst="rect">
                  <a:avLst/>
                </a:prstGeom>
              </p:spPr>
              <p:txBody>
                <a:bodyPr wrap="none">
                  <a:spAutoFit/>
                </a:bodyPr>
                <a:lstStyle/>
                <a:p>
                  <a:pPr marL="0" lvl="1"/>
                  <a:r>
                    <a:rPr lang="en-US" altLang="zh-CN" dirty="0">
                      <a:latin typeface="Microsoft YaHei" panose="020B0503020204020204" pitchFamily="34" charset="-122"/>
                      <a:ea typeface="Microsoft YaHei" panose="020B0503020204020204" pitchFamily="34" charset="-122"/>
                    </a:rPr>
                    <a:t>Peer </a:t>
                  </a:r>
                  <a14:m>
                    <m:oMath xmlns:m="http://schemas.openxmlformats.org/officeDocument/2006/math">
                      <m:r>
                        <a:rPr lang="en-US" altLang="zh-CN" b="0" i="1" smtClean="0">
                          <a:latin typeface="Cambria Math" panose="02040503050406030204" pitchFamily="18" charset="0"/>
                          <a:ea typeface="Microsoft YaHei" panose="020B0503020204020204" pitchFamily="34" charset="-122"/>
                        </a:rPr>
                        <m:t>𝑗</m:t>
                      </m:r>
                    </m:oMath>
                  </a14:m>
                  <a:endParaRPr lang="zh-CN" altLang="en-US" dirty="0">
                    <a:latin typeface="Microsoft YaHei" panose="020B0503020204020204" pitchFamily="34" charset="-122"/>
                    <a:ea typeface="Microsoft YaHei" panose="020B0503020204020204" pitchFamily="34" charset="-122"/>
                  </a:endParaRPr>
                </a:p>
              </p:txBody>
            </p:sp>
          </mc:Choice>
          <mc:Fallback xmlns="">
            <p:sp>
              <p:nvSpPr>
                <p:cNvPr id="31" name="矩形 30">
                  <a:extLst>
                    <a:ext uri="{FF2B5EF4-FFF2-40B4-BE49-F238E27FC236}">
                      <a16:creationId xmlns:a16="http://schemas.microsoft.com/office/drawing/2014/main" id="{5ECDFC01-2BC6-C84F-851E-8BBBE7A02B8D}"/>
                    </a:ext>
                  </a:extLst>
                </p:cNvPr>
                <p:cNvSpPr>
                  <a:spLocks noRot="1" noChangeAspect="1" noMove="1" noResize="1" noEditPoints="1" noAdjustHandles="1" noChangeArrowheads="1" noChangeShapeType="1" noTextEdit="1"/>
                </p:cNvSpPr>
                <p:nvPr/>
              </p:nvSpPr>
              <p:spPr>
                <a:xfrm>
                  <a:off x="10948701" y="5634928"/>
                  <a:ext cx="823815" cy="369332"/>
                </a:xfrm>
                <a:prstGeom prst="rect">
                  <a:avLst/>
                </a:prstGeom>
                <a:blipFill>
                  <a:blip r:embed="rId9"/>
                  <a:stretch>
                    <a:fillRect l="-6154" t="-6667" b="-23333"/>
                  </a:stretch>
                </a:blipFill>
              </p:spPr>
              <p:txBody>
                <a:bodyPr/>
                <a:lstStyle/>
                <a:p>
                  <a:r>
                    <a:rPr lang="zh-CN" altLang="en-US">
                      <a:noFill/>
                    </a:rPr>
                    <a:t> </a:t>
                  </a:r>
                </a:p>
              </p:txBody>
            </p:sp>
          </mc:Fallback>
        </mc:AlternateContent>
        <p:sp>
          <p:nvSpPr>
            <p:cNvPr id="32" name="矩形 31">
              <a:extLst>
                <a:ext uri="{FF2B5EF4-FFF2-40B4-BE49-F238E27FC236}">
                  <a16:creationId xmlns:a16="http://schemas.microsoft.com/office/drawing/2014/main" id="{F07511BE-BC4D-3042-8A5B-C79B290709A1}"/>
                </a:ext>
              </a:extLst>
            </p:cNvPr>
            <p:cNvSpPr/>
            <p:nvPr/>
          </p:nvSpPr>
          <p:spPr>
            <a:xfrm>
              <a:off x="9279624" y="4170602"/>
              <a:ext cx="1619226" cy="369332"/>
            </a:xfrm>
            <a:prstGeom prst="rect">
              <a:avLst/>
            </a:prstGeom>
          </p:spPr>
          <p:txBody>
            <a:bodyPr wrap="none">
              <a:spAutoFit/>
            </a:bodyPr>
            <a:lstStyle/>
            <a:p>
              <a:pPr marL="0" lvl="1"/>
              <a:r>
                <a:rPr lang="en-US" altLang="zh-CN" dirty="0">
                  <a:latin typeface="Microsoft YaHei" panose="020B0503020204020204" pitchFamily="34" charset="-122"/>
                  <a:ea typeface="Microsoft YaHei" panose="020B0503020204020204" pitchFamily="34" charset="-122"/>
                </a:rPr>
                <a:t>Bad resource</a:t>
              </a:r>
              <a:endParaRPr lang="zh-CN" altLang="en-US" dirty="0">
                <a:latin typeface="Microsoft YaHei" panose="020B0503020204020204" pitchFamily="34" charset="-122"/>
                <a:ea typeface="Microsoft YaHei" panose="020B0503020204020204" pitchFamily="34" charset="-122"/>
              </a:endParaRPr>
            </a:p>
          </p:txBody>
        </p:sp>
        <mc:AlternateContent xmlns:mc="http://schemas.openxmlformats.org/markup-compatibility/2006" xmlns:a14="http://schemas.microsoft.com/office/drawing/2010/main">
          <mc:Choice Requires="a14">
            <p:sp>
              <p:nvSpPr>
                <p:cNvPr id="33" name="矩形 32">
                  <a:extLst>
                    <a:ext uri="{FF2B5EF4-FFF2-40B4-BE49-F238E27FC236}">
                      <a16:creationId xmlns:a16="http://schemas.microsoft.com/office/drawing/2014/main" id="{813F8298-8B4B-F445-9CF3-3E97545DD8C3}"/>
                    </a:ext>
                  </a:extLst>
                </p:cNvPr>
                <p:cNvSpPr/>
                <p:nvPr/>
              </p:nvSpPr>
              <p:spPr>
                <a:xfrm>
                  <a:off x="9464844" y="6004260"/>
                  <a:ext cx="1508298" cy="369332"/>
                </a:xfrm>
                <a:prstGeom prst="rect">
                  <a:avLst/>
                </a:prstGeom>
              </p:spPr>
              <p:txBody>
                <a:bodyPr wrap="none">
                  <a:spAutoFit/>
                </a:bodyPr>
                <a:lstStyle/>
                <a:p>
                  <a14:m>
                    <m:oMath xmlns:m="http://schemas.openxmlformats.org/officeDocument/2006/math">
                      <m:r>
                        <a:rPr lang="en-US" altLang="zh-CN" i="1" smtClean="0">
                          <a:latin typeface="Cambria Math" panose="02040503050406030204" pitchFamily="18" charset="0"/>
                          <a:ea typeface="Microsoft YaHei" panose="020B0503020204020204" pitchFamily="34" charset="-122"/>
                          <a:cs typeface="Times New Roman" panose="02020603050405020304" pitchFamily="18" charset="0"/>
                        </a:rPr>
                        <m:t>𝑡𝑟</m:t>
                      </m:r>
                      <m:d>
                        <m:dPr>
                          <m:ctrlPr>
                            <a:rPr lang="en-US" altLang="zh-CN" i="1">
                              <a:latin typeface="Cambria Math" panose="02040503050406030204" pitchFamily="18" charset="0"/>
                              <a:ea typeface="Microsoft YaHei" panose="020B0503020204020204" pitchFamily="34" charset="-122"/>
                              <a:cs typeface="Times New Roman" panose="02020603050405020304" pitchFamily="18" charset="0"/>
                            </a:rPr>
                          </m:ctrlPr>
                        </m:dPr>
                        <m:e>
                          <m:r>
                            <a:rPr lang="en-US" altLang="zh-CN" i="1">
                              <a:latin typeface="Cambria Math" panose="02040503050406030204" pitchFamily="18" charset="0"/>
                              <a:ea typeface="Microsoft YaHei" panose="020B0503020204020204" pitchFamily="34" charset="-122"/>
                              <a:cs typeface="Times New Roman" panose="02020603050405020304" pitchFamily="18" charset="0"/>
                            </a:rPr>
                            <m:t>𝑖</m:t>
                          </m:r>
                          <m:r>
                            <a:rPr lang="en-US" altLang="zh-CN" i="1">
                              <a:latin typeface="Cambria Math" panose="02040503050406030204" pitchFamily="18" charset="0"/>
                              <a:ea typeface="Microsoft YaHei" panose="020B0503020204020204" pitchFamily="34" charset="-122"/>
                              <a:cs typeface="Times New Roman" panose="02020603050405020304" pitchFamily="18" charset="0"/>
                            </a:rPr>
                            <m:t>,</m:t>
                          </m:r>
                          <m:r>
                            <a:rPr lang="en-US" altLang="zh-CN" i="1">
                              <a:latin typeface="Cambria Math" panose="02040503050406030204" pitchFamily="18" charset="0"/>
                              <a:ea typeface="Microsoft YaHei" panose="020B0503020204020204" pitchFamily="34" charset="-122"/>
                              <a:cs typeface="Times New Roman" panose="02020603050405020304" pitchFamily="18" charset="0"/>
                            </a:rPr>
                            <m:t>𝑗</m:t>
                          </m:r>
                        </m:e>
                      </m:d>
                      <m:r>
                        <a:rPr lang="en-US" altLang="zh-CN" i="1">
                          <a:latin typeface="Cambria Math" panose="02040503050406030204" pitchFamily="18" charset="0"/>
                          <a:ea typeface="Microsoft YaHei" panose="020B0503020204020204" pitchFamily="34" charset="-122"/>
                          <a:cs typeface="Times New Roman" panose="02020603050405020304" pitchFamily="18" charset="0"/>
                        </a:rPr>
                        <m:t>=</m:t>
                      </m:r>
                      <m:r>
                        <a:rPr lang="en-US" altLang="zh-CN" b="0" i="1" smtClean="0">
                          <a:latin typeface="Cambria Math" panose="02040503050406030204" pitchFamily="18" charset="0"/>
                          <a:ea typeface="Microsoft YaHei" panose="020B0503020204020204" pitchFamily="34" charset="-122"/>
                          <a:cs typeface="Times New Roman" panose="02020603050405020304" pitchFamily="18" charset="0"/>
                        </a:rPr>
                        <m:t>−</m:t>
                      </m:r>
                      <m:r>
                        <a:rPr lang="en-US" altLang="zh-CN" i="1">
                          <a:latin typeface="Cambria Math" panose="02040503050406030204" pitchFamily="18" charset="0"/>
                          <a:ea typeface="Microsoft YaHei" panose="020B0503020204020204" pitchFamily="34" charset="-122"/>
                          <a:cs typeface="Times New Roman" panose="02020603050405020304" pitchFamily="18" charset="0"/>
                        </a:rPr>
                        <m:t>1</m:t>
                      </m:r>
                    </m:oMath>
                  </a14:m>
                  <a:r>
                    <a:rPr lang="en-US" altLang="zh-CN" dirty="0">
                      <a:latin typeface="Microsoft YaHei" panose="020B0503020204020204" pitchFamily="34" charset="-122"/>
                      <a:ea typeface="Microsoft YaHei" panose="020B0503020204020204" pitchFamily="34" charset="-122"/>
                      <a:cs typeface="Times New Roman" panose="02020603050405020304" pitchFamily="18" charset="0"/>
                    </a:rPr>
                    <a:t> </a:t>
                  </a:r>
                  <a:endParaRPr lang="zh-CN" altLang="en-US" dirty="0"/>
                </a:p>
              </p:txBody>
            </p:sp>
          </mc:Choice>
          <mc:Fallback xmlns="">
            <p:sp>
              <p:nvSpPr>
                <p:cNvPr id="33" name="矩形 32">
                  <a:extLst>
                    <a:ext uri="{FF2B5EF4-FFF2-40B4-BE49-F238E27FC236}">
                      <a16:creationId xmlns:a16="http://schemas.microsoft.com/office/drawing/2014/main" id="{813F8298-8B4B-F445-9CF3-3E97545DD8C3}"/>
                    </a:ext>
                  </a:extLst>
                </p:cNvPr>
                <p:cNvSpPr>
                  <a:spLocks noRot="1" noChangeAspect="1" noMove="1" noResize="1" noEditPoints="1" noAdjustHandles="1" noChangeArrowheads="1" noChangeShapeType="1" noTextEdit="1"/>
                </p:cNvSpPr>
                <p:nvPr/>
              </p:nvSpPr>
              <p:spPr>
                <a:xfrm>
                  <a:off x="9464844" y="6004260"/>
                  <a:ext cx="1508298" cy="369332"/>
                </a:xfrm>
                <a:prstGeom prst="rect">
                  <a:avLst/>
                </a:prstGeom>
                <a:blipFill>
                  <a:blip r:embed="rId10"/>
                  <a:stretch>
                    <a:fillRect b="-9677"/>
                  </a:stretch>
                </a:blipFill>
              </p:spPr>
              <p:txBody>
                <a:bodyPr/>
                <a:lstStyle/>
                <a:p>
                  <a:r>
                    <a:rPr lang="zh-CN" altLang="en-US">
                      <a:noFill/>
                    </a:rPr>
                    <a:t> </a:t>
                  </a:r>
                </a:p>
              </p:txBody>
            </p:sp>
          </mc:Fallback>
        </mc:AlternateContent>
      </p:grpSp>
      <p:sp>
        <p:nvSpPr>
          <p:cNvPr id="38" name="矩形 37">
            <a:extLst>
              <a:ext uri="{FF2B5EF4-FFF2-40B4-BE49-F238E27FC236}">
                <a16:creationId xmlns:a16="http://schemas.microsoft.com/office/drawing/2014/main" id="{DCE085C0-6B11-5A4D-9ABB-00F6FB785A99}"/>
              </a:ext>
            </a:extLst>
          </p:cNvPr>
          <p:cNvSpPr/>
          <p:nvPr/>
        </p:nvSpPr>
        <p:spPr>
          <a:xfrm>
            <a:off x="789043" y="1051230"/>
            <a:ext cx="10803666" cy="502189"/>
          </a:xfrm>
          <a:prstGeom prst="rect">
            <a:avLst/>
          </a:prstGeom>
        </p:spPr>
        <p:txBody>
          <a:bodyPr wrap="square">
            <a:spAutoFit/>
          </a:bodyPr>
          <a:lstStyle/>
          <a:p>
            <a:pPr algn="ctr">
              <a:lnSpc>
                <a:spcPts val="3500"/>
              </a:lnSpc>
            </a:pPr>
            <a:r>
              <a:rPr lang="zh-CN" altLang="en-US" sz="24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對節點的本地信譽值爲與其交互的歷史好評數减去歷史差評數</a:t>
            </a:r>
            <a:endParaRPr lang="zh-CN" altLang="en-US" sz="2400" b="1" dirty="0">
              <a:solidFill>
                <a:srgbClr val="C00000"/>
              </a:solidFill>
              <a:latin typeface="Microsoft YaHei" panose="020B0503020204020204" pitchFamily="34" charset="-122"/>
              <a:ea typeface="Microsoft YaHei" panose="020B0503020204020204" pitchFamily="34" charset="-122"/>
            </a:endParaRPr>
          </a:p>
        </p:txBody>
      </p:sp>
      <p:sp>
        <p:nvSpPr>
          <p:cNvPr id="39" name="灯片编号占位符 2">
            <a:extLst>
              <a:ext uri="{FF2B5EF4-FFF2-40B4-BE49-F238E27FC236}">
                <a16:creationId xmlns:a16="http://schemas.microsoft.com/office/drawing/2014/main" id="{1AE3194D-018F-374D-8615-DAF460C313AF}"/>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85</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32997703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傳遞信譽值的計算</a:t>
            </a:r>
          </a:p>
        </p:txBody>
      </p:sp>
      <mc:AlternateContent xmlns:mc="http://schemas.openxmlformats.org/markup-compatibility/2006">
        <mc:Choice xmlns:a14="http://schemas.microsoft.com/office/drawing/2010/main" Requires="a14">
          <p:sp>
            <p:nvSpPr>
              <p:cNvPr id="3" name="文本占位符 22">
                <a:extLst>
                  <a:ext uri="{FF2B5EF4-FFF2-40B4-BE49-F238E27FC236}">
                    <a16:creationId xmlns:a16="http://schemas.microsoft.com/office/drawing/2014/main" id="{83C41DF9-173C-DF4A-82D2-A6D662F7DC89}"/>
                  </a:ext>
                </a:extLst>
              </p:cNvPr>
              <p:cNvSpPr txBox="1">
                <a:spLocks/>
              </p:cNvSpPr>
              <p:nvPr/>
            </p:nvSpPr>
            <p:spPr>
              <a:xfrm>
                <a:off x="798675" y="2271911"/>
                <a:ext cx="11052666" cy="4449564"/>
              </a:xfrm>
              <a:prstGeom prst="rect">
                <a:avLst/>
              </a:prstGeom>
              <a:ln>
                <a:solidFill>
                  <a:srgbClr val="00B0F0"/>
                </a:solidFill>
              </a:ln>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3600"/>
                  </a:lnSpc>
                  <a:spcBef>
                    <a:spcPts val="2200"/>
                  </a:spcBef>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將本地信譽值</a:t>
                </a:r>
                <a14:m>
                  <m:oMath xmlns:m="http://schemas.openxmlformats.org/officeDocument/2006/math">
                    <m:sSub>
                      <m:sSubPr>
                        <m:ctrlP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ctrlPr>
                      </m:sSubPr>
                      <m:e>
                        <m:r>
                          <a:rPr lang="zh-CN" altLang="en-US" sz="2400" b="0" i="1" dirty="0" smtClean="0">
                            <a:latin typeface="Cambria Math" panose="02040503050406030204" pitchFamily="18" charset="0"/>
                            <a:ea typeface="Microsoft YaHei" panose="020B0503020204020204" pitchFamily="34" charset="-122"/>
                            <a:cs typeface="Times New Roman" panose="02020603050405020304" pitchFamily="18" charset="0"/>
                          </a:rPr>
                          <m:t> </m:t>
                        </m:r>
                        <m: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t>𝑠</m:t>
                        </m:r>
                      </m:e>
                      <m:sub>
                        <m: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t>𝑖𝑗</m:t>
                        </m:r>
                      </m:sub>
                    </m:sSub>
                    <m:r>
                      <a:rPr lang="zh-CN" altLang="en-US" sz="2400" b="0" i="1" dirty="0" smtClean="0">
                        <a:latin typeface="Cambria Math" panose="02040503050406030204" pitchFamily="18" charset="0"/>
                        <a:ea typeface="Microsoft YaHei" panose="020B0503020204020204" pitchFamily="34" charset="-122"/>
                        <a:cs typeface="Times New Roman" panose="02020603050405020304" pitchFamily="18" charset="0"/>
                      </a:rPr>
                      <m:t> </m:t>
                    </m:r>
                  </m:oMath>
                </a14:m>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的歸一化，得到</a:t>
                </a:r>
                <a14:m>
                  <m:oMath xmlns:m="http://schemas.openxmlformats.org/officeDocument/2006/math">
                    <m:r>
                      <a:rPr lang="en-US" altLang="zh-CN" sz="2400" b="0" i="0" smtClean="0">
                        <a:latin typeface="Cambria Math" panose="02040503050406030204" pitchFamily="18" charset="0"/>
                        <a:ea typeface="Microsoft YaHei" panose="020B0503020204020204" pitchFamily="34" charset="-122"/>
                        <a:cs typeface="Times New Roman" panose="02020603050405020304" pitchFamily="18" charset="0"/>
                      </a:rPr>
                      <m:t> </m:t>
                    </m:r>
                    <m:sSub>
                      <m:sSubPr>
                        <m:ctrlP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ctrlPr>
                      </m:sSubPr>
                      <m:e>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𝑐</m:t>
                        </m:r>
                      </m:e>
                      <m:sub>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𝑖𝑗</m:t>
                        </m:r>
                      </m:sub>
                    </m:sSub>
                  </m:oMath>
                </a14:m>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marL="702900" indent="-342900">
                  <a:lnSpc>
                    <a:spcPts val="3600"/>
                  </a:lnSpc>
                  <a:spcBef>
                    <a:spcPts val="2200"/>
                  </a:spcBef>
                </a:pPr>
                <a14:m>
                  <m:oMath xmlns:m="http://schemas.openxmlformats.org/officeDocument/2006/math">
                    <m:sSub>
                      <m:sSubPr>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sSubPr>
                      <m:e>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𝑐</m:t>
                        </m:r>
                      </m:e>
                      <m:sub>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𝑖𝑗</m:t>
                        </m:r>
                      </m:sub>
                    </m:sSub>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m:t>
                    </m:r>
                    <m:f>
                      <m:fPr>
                        <m:ctrlP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ctrlPr>
                      </m:fPr>
                      <m:num>
                        <m:r>
                          <m:rPr>
                            <m:sty m:val="p"/>
                          </m:rPr>
                          <a:rPr lang="en-US" altLang="zh-CN" sz="2400" b="0" i="0" smtClean="0">
                            <a:latin typeface="Cambria Math" panose="02040503050406030204" pitchFamily="18" charset="0"/>
                            <a:ea typeface="Microsoft YaHei" panose="020B0503020204020204" pitchFamily="34" charset="-122"/>
                            <a:cs typeface="Times New Roman" panose="02020603050405020304" pitchFamily="18" charset="0"/>
                          </a:rPr>
                          <m:t>max</m:t>
                        </m:r>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m:t>
                        </m:r>
                        <m:sSub>
                          <m:sSubPr>
                            <m:ctrlP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ctrlPr>
                          </m:sSubPr>
                          <m:e>
                            <m: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t>𝑠</m:t>
                            </m:r>
                          </m:e>
                          <m:sub>
                            <m: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t>𝑖𝑗</m:t>
                            </m:r>
                          </m:sub>
                        </m:sSub>
                        <m:r>
                          <a:rPr lang="en-US" altLang="zh-CN" sz="2400" b="0" i="1" dirty="0" smtClean="0">
                            <a:latin typeface="Cambria Math" panose="02040503050406030204" pitchFamily="18" charset="0"/>
                            <a:ea typeface="Microsoft YaHei" panose="020B0503020204020204" pitchFamily="34" charset="-122"/>
                            <a:cs typeface="Times New Roman" panose="02020603050405020304" pitchFamily="18" charset="0"/>
                          </a:rPr>
                          <m:t>,   0</m:t>
                        </m:r>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m:t>
                        </m:r>
                      </m:num>
                      <m:den>
                        <m:nary>
                          <m:naryPr>
                            <m:chr m:val="∑"/>
                            <m:limLoc m:val="subSup"/>
                            <m:supHide m:val="on"/>
                            <m:ctrlP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ctrlPr>
                          </m:naryPr>
                          <m:sub>
                            <m:r>
                              <m:rPr>
                                <m:brk m:alnAt="9"/>
                              </m:rP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𝑗</m:t>
                            </m:r>
                          </m:sub>
                          <m:sup/>
                          <m:e>
                            <m:r>
                              <m:rPr>
                                <m:sty m:val="p"/>
                              </m:rPr>
                              <a:rPr lang="en-US" altLang="zh-CN" sz="2400" b="0" i="0" smtClean="0">
                                <a:latin typeface="Cambria Math" panose="02040503050406030204" pitchFamily="18" charset="0"/>
                                <a:ea typeface="Microsoft YaHei" panose="020B0503020204020204" pitchFamily="34" charset="-122"/>
                                <a:cs typeface="Times New Roman" panose="02020603050405020304" pitchFamily="18" charset="0"/>
                              </a:rPr>
                              <m:t>max</m:t>
                            </m:r>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m:t>
                            </m:r>
                            <m:sSub>
                              <m:sSubPr>
                                <m:ctrlP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ctrlPr>
                              </m:sSubPr>
                              <m:e>
                                <m: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t>𝑠</m:t>
                                </m:r>
                              </m:e>
                              <m:sub>
                                <m: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t>𝑖𝑗</m:t>
                                </m:r>
                              </m:sub>
                            </m:sSub>
                            <m: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t>,   0</m:t>
                            </m:r>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m:t>
                            </m:r>
                          </m:e>
                        </m:nary>
                      </m:den>
                    </m:f>
                  </m:oMath>
                </a14:m>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a:lnSpc>
                    <a:spcPts val="3600"/>
                  </a:lnSpc>
                  <a:spcBef>
                    <a:spcPts val="2200"/>
                  </a:spcBef>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基于信任傳遞計算本地一階傳遞信譽值</a:t>
                </a:r>
                <a14:m>
                  <m:oMath xmlns:m="http://schemas.openxmlformats.org/officeDocument/2006/math">
                    <m:sSubSup>
                      <m:sSubSupPr>
                        <m:ctrlPr>
                          <a:rPr lang="en-US" altLang="zh-CN" sz="2400" i="1" smtClean="0">
                            <a:latin typeface="Cambria Math" panose="02040503050406030204" pitchFamily="18" charset="0"/>
                            <a:ea typeface="Microsoft YaHei" panose="020B0503020204020204" pitchFamily="34" charset="-122"/>
                            <a:cs typeface="Times New Roman" panose="02020603050405020304" pitchFamily="18" charset="0"/>
                          </a:rPr>
                        </m:ctrlPr>
                      </m:sSubSupPr>
                      <m:e>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𝑡</m:t>
                        </m:r>
                      </m:e>
                      <m:sub>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𝑖𝑘</m:t>
                        </m:r>
                      </m:sub>
                      <m:sup>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1</m:t>
                        </m:r>
                      </m:sup>
                    </m:sSubSup>
                  </m:oMath>
                </a14:m>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marL="702900" indent="-342900">
                  <a:lnSpc>
                    <a:spcPts val="3600"/>
                  </a:lnSpc>
                  <a:spcBef>
                    <a:spcPts val="2200"/>
                  </a:spcBef>
                </a:pPr>
                <a14:m>
                  <m:oMath xmlns:m="http://schemas.openxmlformats.org/officeDocument/2006/math">
                    <m:sSubSup>
                      <m:sSubSupPr>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sSubSupPr>
                      <m:e>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𝑡</m:t>
                        </m:r>
                      </m:e>
                      <m:sub>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𝑖𝑘</m:t>
                        </m:r>
                      </m:sub>
                      <m:sup>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1</m:t>
                        </m:r>
                      </m:sup>
                    </m:sSubSup>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m:t>
                    </m:r>
                    <m:nary>
                      <m:naryPr>
                        <m:chr m:val="∑"/>
                        <m:supHide m:val="on"/>
                        <m:ctrlPr>
                          <a:rPr lang="en-US" altLang="zh-CN" sz="2400" i="1" smtClean="0">
                            <a:latin typeface="Cambria Math" panose="02040503050406030204" pitchFamily="18" charset="0"/>
                            <a:ea typeface="Microsoft YaHei" panose="020B0503020204020204" pitchFamily="34" charset="-122"/>
                            <a:cs typeface="Times New Roman" panose="02020603050405020304" pitchFamily="18" charset="0"/>
                          </a:rPr>
                        </m:ctrlPr>
                      </m:naryPr>
                      <m:sub>
                        <m:r>
                          <m:rPr>
                            <m:brk m:alnAt="7"/>
                          </m:rP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𝑗</m:t>
                        </m:r>
                      </m:sub>
                      <m:sup/>
                      <m:e>
                        <m:sSub>
                          <m:sSubPr>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sSubPr>
                          <m:e>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𝑐</m:t>
                            </m:r>
                          </m:e>
                          <m:sub>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𝑖𝑗</m:t>
                            </m:r>
                          </m:sub>
                        </m:sSub>
                        <m:sSub>
                          <m:sSubPr>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sSubPr>
                          <m:e>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𝑐</m:t>
                            </m:r>
                          </m:e>
                          <m:sub>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𝑗𝑘</m:t>
                            </m:r>
                          </m:sub>
                        </m:sSub>
                      </m:e>
                    </m:nary>
                  </m:oMath>
                </a14:m>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a:lnSpc>
                    <a:spcPts val="3600"/>
                  </a:lnSpc>
                  <a:spcBef>
                    <a:spcPts val="2200"/>
                  </a:spcBef>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令歸一化本地信譽值矩陣爲</a:t>
                </a:r>
                <a14:m>
                  <m:oMath xmlns:m="http://schemas.openxmlformats.org/officeDocument/2006/math">
                    <m:r>
                      <a:rPr lang="en-US" altLang="zh-CN" sz="2400" b="0" i="1" dirty="0" smtClean="0">
                        <a:latin typeface="Cambria Math" panose="02040503050406030204" pitchFamily="18" charset="0"/>
                        <a:ea typeface="Microsoft YaHei" panose="020B0503020204020204" pitchFamily="34" charset="-122"/>
                        <a:cs typeface="Times New Roman" panose="02020603050405020304" pitchFamily="18" charset="0"/>
                      </a:rPr>
                      <m:t>𝐶</m:t>
                    </m:r>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m:t>
                    </m:r>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m:t>
                    </m:r>
                    <m:sSub>
                      <m:sSubPr>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sSubPr>
                      <m:e>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𝑐</m:t>
                        </m:r>
                      </m:e>
                      <m:sub>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𝑖𝑗</m:t>
                        </m:r>
                      </m:sub>
                    </m:sSub>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m:t>
                    </m:r>
                  </m:oMath>
                </a14:m>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，則節點</a:t>
                </a:r>
                <a14:m>
                  <m:oMath xmlns:m="http://schemas.openxmlformats.org/officeDocument/2006/math">
                    <m:r>
                      <a:rPr lang="zh-CN" altLang="en-US" sz="2400" b="0" i="0" dirty="0" smtClean="0">
                        <a:latin typeface="Cambria Math" panose="02040503050406030204" pitchFamily="18" charset="0"/>
                        <a:ea typeface="Microsoft YaHei" panose="020B0503020204020204" pitchFamily="34" charset="-122"/>
                        <a:cs typeface="Times New Roman" panose="02020603050405020304" pitchFamily="18" charset="0"/>
                      </a:rPr>
                      <m:t> </m:t>
                    </m:r>
                    <m: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t>𝑖</m:t>
                    </m:r>
                    <m:r>
                      <m:rPr>
                        <m:nor/>
                      </m:rPr>
                      <a:rPr lang="zh-CN" altLang="en-US" sz="2400" b="0" i="0" dirty="0" smtClean="0">
                        <a:latin typeface="Cambria Math" panose="02040503050406030204" pitchFamily="18" charset="0"/>
                        <a:ea typeface="Microsoft YaHei" panose="020B0503020204020204" pitchFamily="34" charset="-122"/>
                        <a:cs typeface="Times New Roman" panose="02020603050405020304" pitchFamily="18" charset="0"/>
                      </a:rPr>
                      <m:t> </m:t>
                    </m:r>
                  </m:oMath>
                </a14:m>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的</a:t>
                </a:r>
                <a14:m>
                  <m:oMath xmlns:m="http://schemas.openxmlformats.org/officeDocument/2006/math">
                    <m:r>
                      <a:rPr lang="zh-CN" altLang="en-US" sz="2400" i="1" dirty="0" smtClean="0">
                        <a:latin typeface="Microsoft YaHei" panose="020B0503020204020204" pitchFamily="34" charset="-122"/>
                        <a:ea typeface="Microsoft YaHei" panose="020B0503020204020204" pitchFamily="34" charset="-122"/>
                        <a:cs typeface="Times New Roman" panose="02020603050405020304" pitchFamily="18" charset="0"/>
                      </a:rPr>
                      <m:t>本地傳遞信譽值</m:t>
                    </m:r>
                  </m:oMath>
                </a14:m>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向量爲</a:t>
                </a:r>
                <a14:m>
                  <m:oMath xmlns:m="http://schemas.openxmlformats.org/officeDocument/2006/math">
                    <m:r>
                      <a:rPr lang="en-US" altLang="zh-CN" sz="2400" b="0" i="0" smtClean="0">
                        <a:latin typeface="Cambria Math" panose="02040503050406030204" pitchFamily="18" charset="0"/>
                        <a:ea typeface="Microsoft YaHei" panose="020B0503020204020204" pitchFamily="34" charset="-122"/>
                        <a:cs typeface="Times New Roman" panose="02020603050405020304" pitchFamily="18" charset="0"/>
                      </a:rPr>
                      <m:t> </m:t>
                    </m:r>
                    <m:acc>
                      <m:accPr>
                        <m:chr m:val="⃑"/>
                        <m:ctrlP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ctrlPr>
                      </m:accPr>
                      <m:e>
                        <m:sSubSup>
                          <m:sSubSupPr>
                            <m:ctrlP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ctrlPr>
                          </m:sSubSupPr>
                          <m:e>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𝑡</m:t>
                            </m:r>
                          </m:e>
                          <m:sub>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𝑖</m:t>
                            </m:r>
                          </m:sub>
                          <m:sup>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1</m:t>
                            </m:r>
                          </m:sup>
                        </m:sSubSup>
                      </m:e>
                    </m:acc>
                  </m:oMath>
                </a14:m>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marL="702900" indent="-342900">
                  <a:lnSpc>
                    <a:spcPts val="3600"/>
                  </a:lnSpc>
                  <a:spcBef>
                    <a:spcPts val="2200"/>
                  </a:spcBef>
                </a:pPr>
                <a14:m>
                  <m:oMath xmlns:m="http://schemas.openxmlformats.org/officeDocument/2006/math">
                    <m:acc>
                      <m:accPr>
                        <m:chr m:val="⃑"/>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accPr>
                      <m:e>
                        <m:sSubSup>
                          <m:sSubSupPr>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sSubSupPr>
                          <m:e>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𝑡</m:t>
                            </m:r>
                          </m:e>
                          <m:sub>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𝑖</m:t>
                            </m:r>
                          </m:sub>
                          <m:sup>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1</m:t>
                            </m:r>
                          </m:sup>
                        </m:sSubSup>
                      </m:e>
                    </m:acc>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m:t>
                    </m:r>
                    <m:sSup>
                      <m:sSupPr>
                        <m:ctrlPr>
                          <a:rPr lang="en-US" altLang="zh-CN" sz="2400" i="1" smtClean="0">
                            <a:latin typeface="Cambria Math" panose="02040503050406030204" pitchFamily="18" charset="0"/>
                            <a:ea typeface="Microsoft YaHei" panose="020B0503020204020204" pitchFamily="34" charset="-122"/>
                            <a:cs typeface="Times New Roman" panose="02020603050405020304" pitchFamily="18" charset="0"/>
                          </a:rPr>
                        </m:ctrlPr>
                      </m:sSupPr>
                      <m:e>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𝐶</m:t>
                        </m:r>
                      </m:e>
                      <m:sup>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𝑇</m:t>
                        </m:r>
                      </m:sup>
                    </m:sSup>
                    <m:acc>
                      <m:accPr>
                        <m:chr m:val="⃑"/>
                        <m:ctrlPr>
                          <a:rPr lang="en-US" altLang="zh-CN" sz="2400" i="1" smtClean="0">
                            <a:latin typeface="Cambria Math" panose="02040503050406030204" pitchFamily="18" charset="0"/>
                            <a:ea typeface="Microsoft YaHei" panose="020B0503020204020204" pitchFamily="34" charset="-122"/>
                            <a:cs typeface="Times New Roman" panose="02020603050405020304" pitchFamily="18" charset="0"/>
                          </a:rPr>
                        </m:ctrlPr>
                      </m:accPr>
                      <m:e>
                        <m:sSub>
                          <m:sSubPr>
                            <m:ctrlPr>
                              <a:rPr lang="en-US" altLang="zh-CN" sz="2400" i="1" smtClean="0">
                                <a:latin typeface="Cambria Math" panose="02040503050406030204" pitchFamily="18" charset="0"/>
                                <a:ea typeface="Microsoft YaHei" panose="020B0503020204020204" pitchFamily="34" charset="-122"/>
                                <a:cs typeface="Times New Roman" panose="02020603050405020304" pitchFamily="18" charset="0"/>
                              </a:rPr>
                            </m:ctrlPr>
                          </m:sSubPr>
                          <m:e>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𝑐</m:t>
                            </m:r>
                          </m:e>
                          <m:sub>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𝑖</m:t>
                            </m:r>
                          </m:sub>
                        </m:sSub>
                      </m:e>
                    </m:acc>
                  </m:oMath>
                </a14:m>
                <a:r>
                  <a:rPr lang="en-US" altLang="zh-CN" sz="2400" dirty="0">
                    <a:ea typeface="Microsoft YaHei" panose="020B0503020204020204" pitchFamily="34" charset="-122"/>
                    <a:cs typeface="Times New Roman" panose="02020603050405020304" pitchFamily="18" charset="0"/>
                  </a:rPr>
                  <a:t> </a:t>
                </a:r>
                <a14:m>
                  <m:oMath xmlns:m="http://schemas.openxmlformats.org/officeDocument/2006/math">
                    <m:r>
                      <a:rPr lang="en-US" altLang="zh-CN" sz="2400" b="0" i="0" smtClean="0">
                        <a:latin typeface="Cambria Math" panose="02040503050406030204" pitchFamily="18" charset="0"/>
                        <a:ea typeface="Microsoft YaHei" panose="020B0503020204020204" pitchFamily="34" charset="-122"/>
                        <a:cs typeface="Times New Roman" panose="02020603050405020304" pitchFamily="18" charset="0"/>
                      </a:rPr>
                      <m:t>                </m:t>
                    </m:r>
                    <m:acc>
                      <m:accPr>
                        <m:chr m:val="⃑"/>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accPr>
                      <m:e>
                        <m:sSubSup>
                          <m:sSubSupPr>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sSubSupPr>
                          <m:e>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𝑡</m:t>
                            </m:r>
                          </m:e>
                          <m:sub>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𝑖</m:t>
                            </m:r>
                          </m:sub>
                          <m:sup>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𝑘</m:t>
                            </m:r>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+1</m:t>
                            </m:r>
                          </m:sup>
                        </m:sSubSup>
                      </m:e>
                    </m:acc>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m:t>
                    </m:r>
                    <m:sSup>
                      <m:sSupPr>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sSupPr>
                      <m:e>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𝐶</m:t>
                        </m:r>
                      </m:e>
                      <m:sup>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𝑇</m:t>
                        </m:r>
                      </m:sup>
                    </m:sSup>
                    <m:acc>
                      <m:accPr>
                        <m:chr m:val="⃑"/>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accPr>
                      <m:e>
                        <m:sSubSup>
                          <m:sSubSupPr>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sSubSupPr>
                          <m:e>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𝑡</m:t>
                            </m:r>
                          </m:e>
                          <m:sub>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𝑖</m:t>
                            </m:r>
                          </m:sub>
                          <m:sup>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𝑘</m:t>
                            </m:r>
                          </m:sup>
                        </m:sSubSup>
                      </m:e>
                    </m:acc>
                  </m:oMath>
                </a14:m>
                <a:r>
                  <a:rPr lang="en-US" altLang="zh-CN" sz="2400" dirty="0">
                    <a:ea typeface="Microsoft YaHei" panose="020B0503020204020204" pitchFamily="34" charset="-122"/>
                    <a:cs typeface="Times New Roman" panose="02020603050405020304" pitchFamily="18" charset="0"/>
                  </a:rPr>
                  <a:t> </a:t>
                </a:r>
                <a14:m>
                  <m:oMath xmlns:m="http://schemas.openxmlformats.org/officeDocument/2006/math">
                    <m:r>
                      <a:rPr lang="en-US" altLang="zh-CN" sz="2400" b="0" i="0" smtClean="0">
                        <a:latin typeface="Cambria Math" panose="02040503050406030204" pitchFamily="18" charset="0"/>
                        <a:ea typeface="Microsoft YaHei" panose="020B0503020204020204" pitchFamily="34" charset="-122"/>
                        <a:cs typeface="Times New Roman" panose="02020603050405020304" pitchFamily="18" charset="0"/>
                      </a:rPr>
                      <m:t>               </m:t>
                    </m:r>
                    <m:acc>
                      <m:accPr>
                        <m:chr m:val="⃑"/>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accPr>
                      <m:e>
                        <m:sSubSup>
                          <m:sSubSupPr>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sSubSupPr>
                          <m:e>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𝑡</m:t>
                            </m:r>
                          </m:e>
                          <m:sub>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𝑖</m:t>
                            </m:r>
                          </m:sub>
                          <m:sup>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𝑛</m:t>
                            </m:r>
                          </m:sup>
                        </m:sSubSup>
                      </m:e>
                    </m:acc>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m:t>
                    </m:r>
                    <m:sSup>
                      <m:sSupPr>
                        <m:ctrlPr>
                          <a:rPr lang="en-US" altLang="zh-CN" sz="2400" i="1" smtClean="0">
                            <a:latin typeface="Cambria Math" panose="02040503050406030204" pitchFamily="18" charset="0"/>
                            <a:ea typeface="Microsoft YaHei" panose="020B0503020204020204" pitchFamily="34" charset="-122"/>
                            <a:cs typeface="Times New Roman" panose="02020603050405020304" pitchFamily="18" charset="0"/>
                          </a:rPr>
                        </m:ctrlPr>
                      </m:sSupPr>
                      <m:e>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m:t>
                        </m:r>
                        <m:sSup>
                          <m:sSupPr>
                            <m:ctrlP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ctrlPr>
                          </m:sSupPr>
                          <m:e>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𝐶</m:t>
                            </m:r>
                          </m:e>
                          <m:sup>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𝑇</m:t>
                            </m:r>
                          </m:sup>
                        </m:sSup>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m:t>
                        </m:r>
                      </m:e>
                      <m:sup>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𝑛</m:t>
                        </m:r>
                      </m:sup>
                    </m:sSup>
                    <m:acc>
                      <m:accPr>
                        <m:chr m:val="⃑"/>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accPr>
                      <m:e>
                        <m:sSubSup>
                          <m:sSubSupPr>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sSubSupPr>
                          <m:e>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𝑡</m:t>
                            </m:r>
                          </m:e>
                          <m:sub>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𝑖</m:t>
                            </m:r>
                          </m:sub>
                          <m:sup>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𝑘</m:t>
                            </m:r>
                          </m:sup>
                        </m:sSubSup>
                      </m:e>
                    </m:acc>
                  </m:oMath>
                </a14:m>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p:txBody>
          </p:sp>
        </mc:Choice>
        <mc:Fallback>
          <p:sp>
            <p:nvSpPr>
              <p:cNvPr id="3" name="文本占位符 22">
                <a:extLst>
                  <a:ext uri="{FF2B5EF4-FFF2-40B4-BE49-F238E27FC236}">
                    <a16:creationId xmlns:a16="http://schemas.microsoft.com/office/drawing/2014/main" id="{83C41DF9-173C-DF4A-82D2-A6D662F7DC89}"/>
                  </a:ext>
                </a:extLst>
              </p:cNvPr>
              <p:cNvSpPr txBox="1">
                <a:spLocks noRot="1" noChangeAspect="1" noMove="1" noResize="1" noEditPoints="1" noAdjustHandles="1" noChangeArrowheads="1" noChangeShapeType="1" noTextEdit="1"/>
              </p:cNvSpPr>
              <p:nvPr/>
            </p:nvSpPr>
            <p:spPr>
              <a:xfrm>
                <a:off x="798675" y="2271911"/>
                <a:ext cx="11052666" cy="4449564"/>
              </a:xfrm>
              <a:prstGeom prst="rect">
                <a:avLst/>
              </a:prstGeom>
              <a:blipFill>
                <a:blip r:embed="rId2"/>
                <a:stretch>
                  <a:fillRect l="-661"/>
                </a:stretch>
              </a:blipFill>
              <a:ln>
                <a:solidFill>
                  <a:srgbClr val="00B0F0"/>
                </a:solidFill>
              </a:ln>
            </p:spPr>
            <p:txBody>
              <a:bodyPr/>
              <a:lstStyle/>
              <a:p>
                <a:r>
                  <a:rPr lang="fr-FR">
                    <a:noFill/>
                  </a:rPr>
                  <a:t> </a:t>
                </a:r>
              </a:p>
            </p:txBody>
          </p:sp>
        </mc:Fallback>
      </mc:AlternateContent>
      <p:grpSp>
        <p:nvGrpSpPr>
          <p:cNvPr id="4" name="组合 3">
            <a:extLst>
              <a:ext uri="{FF2B5EF4-FFF2-40B4-BE49-F238E27FC236}">
                <a16:creationId xmlns:a16="http://schemas.microsoft.com/office/drawing/2014/main" id="{0FB02CE2-B655-5447-8960-ADD6B1ACB94D}"/>
              </a:ext>
            </a:extLst>
          </p:cNvPr>
          <p:cNvGrpSpPr/>
          <p:nvPr/>
        </p:nvGrpSpPr>
        <p:grpSpPr>
          <a:xfrm>
            <a:off x="7491207" y="2349295"/>
            <a:ext cx="3325905" cy="3023496"/>
            <a:chOff x="7826189" y="3340141"/>
            <a:chExt cx="2514600" cy="2285959"/>
          </a:xfrm>
        </p:grpSpPr>
        <p:sp>
          <p:nvSpPr>
            <p:cNvPr id="44" name="Oval 8">
              <a:extLst>
                <a:ext uri="{FF2B5EF4-FFF2-40B4-BE49-F238E27FC236}">
                  <a16:creationId xmlns:a16="http://schemas.microsoft.com/office/drawing/2014/main" id="{94181C32-0800-2942-99E8-7B9F9A45DBB8}"/>
                </a:ext>
              </a:extLst>
            </p:cNvPr>
            <p:cNvSpPr>
              <a:spLocks noChangeArrowheads="1"/>
            </p:cNvSpPr>
            <p:nvPr/>
          </p:nvSpPr>
          <p:spPr bwMode="auto">
            <a:xfrm>
              <a:off x="8207189" y="3873500"/>
              <a:ext cx="381000" cy="381000"/>
            </a:xfrm>
            <a:prstGeom prst="ellipse">
              <a:avLst/>
            </a:prstGeom>
            <a:solidFill>
              <a:srgbClr val="BBE0E3"/>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800" b="0" i="0" u="none" strike="noStrike" kern="0" cap="none" spc="0" normalizeH="0" baseline="0" noProof="0" dirty="0" err="1">
                  <a:ln>
                    <a:noFill/>
                  </a:ln>
                  <a:solidFill>
                    <a:srgbClr val="000000"/>
                  </a:solidFill>
                  <a:effectLst/>
                  <a:uLnTx/>
                  <a:uFillTx/>
                  <a:latin typeface="Monotype Corsiva" panose="03010101010201010101" pitchFamily="66" charset="0"/>
                  <a:ea typeface="宋体" panose="02010600030101010101" pitchFamily="2" charset="-122"/>
                </a:rPr>
                <a:t>i</a:t>
              </a:r>
              <a:endParaRPr kumimoji="0" lang="en-US" altLang="zh-CN" sz="1800" b="0" i="0" u="none" strike="noStrike" kern="0" cap="none" spc="0" normalizeH="0" baseline="0" noProof="0" dirty="0">
                <a:ln>
                  <a:noFill/>
                </a:ln>
                <a:solidFill>
                  <a:srgbClr val="000000"/>
                </a:solidFill>
                <a:effectLst/>
                <a:uLnTx/>
                <a:uFillTx/>
                <a:latin typeface="Monotype Corsiva" panose="03010101010201010101" pitchFamily="66" charset="0"/>
                <a:ea typeface="宋体" panose="02010600030101010101" pitchFamily="2" charset="-122"/>
              </a:endParaRPr>
            </a:p>
          </p:txBody>
        </p:sp>
        <p:sp>
          <p:nvSpPr>
            <p:cNvPr id="45" name="Oval 9">
              <a:extLst>
                <a:ext uri="{FF2B5EF4-FFF2-40B4-BE49-F238E27FC236}">
                  <a16:creationId xmlns:a16="http://schemas.microsoft.com/office/drawing/2014/main" id="{2A305A6B-FB92-DA4E-8302-F2224199396D}"/>
                </a:ext>
              </a:extLst>
            </p:cNvPr>
            <p:cNvSpPr>
              <a:spLocks noChangeArrowheads="1"/>
            </p:cNvSpPr>
            <p:nvPr/>
          </p:nvSpPr>
          <p:spPr bwMode="auto">
            <a:xfrm>
              <a:off x="9045389" y="4864100"/>
              <a:ext cx="381000" cy="381000"/>
            </a:xfrm>
            <a:prstGeom prst="ellipse">
              <a:avLst/>
            </a:prstGeom>
            <a:solidFill>
              <a:srgbClr val="BBE0E3"/>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Monotype Corsiva" panose="03010101010201010101" pitchFamily="66" charset="0"/>
                  <a:ea typeface="宋体" panose="02010600030101010101" pitchFamily="2" charset="-122"/>
                </a:rPr>
                <a:t>j</a:t>
              </a:r>
            </a:p>
          </p:txBody>
        </p:sp>
        <p:sp>
          <p:nvSpPr>
            <p:cNvPr id="46" name="Oval 10">
              <a:extLst>
                <a:ext uri="{FF2B5EF4-FFF2-40B4-BE49-F238E27FC236}">
                  <a16:creationId xmlns:a16="http://schemas.microsoft.com/office/drawing/2014/main" id="{2485362F-7870-6042-918E-5A406AEC3C1A}"/>
                </a:ext>
              </a:extLst>
            </p:cNvPr>
            <p:cNvSpPr>
              <a:spLocks noChangeArrowheads="1"/>
            </p:cNvSpPr>
            <p:nvPr/>
          </p:nvSpPr>
          <p:spPr bwMode="auto">
            <a:xfrm>
              <a:off x="9959789" y="3949700"/>
              <a:ext cx="381000" cy="381000"/>
            </a:xfrm>
            <a:prstGeom prst="ellipse">
              <a:avLst/>
            </a:prstGeom>
            <a:solidFill>
              <a:srgbClr val="BBE0E3"/>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Monotype Corsiva" panose="03010101010201010101" pitchFamily="66" charset="0"/>
                  <a:ea typeface="宋体" panose="02010600030101010101" pitchFamily="2" charset="-122"/>
                </a:rPr>
                <a:t>k</a:t>
              </a:r>
            </a:p>
          </p:txBody>
        </p:sp>
        <p:cxnSp>
          <p:nvCxnSpPr>
            <p:cNvPr id="47" name="AutoShape 11">
              <a:extLst>
                <a:ext uri="{FF2B5EF4-FFF2-40B4-BE49-F238E27FC236}">
                  <a16:creationId xmlns:a16="http://schemas.microsoft.com/office/drawing/2014/main" id="{E629781B-B9D4-0841-B240-9FA6743805F2}"/>
                </a:ext>
              </a:extLst>
            </p:cNvPr>
            <p:cNvCxnSpPr>
              <a:cxnSpLocks noChangeShapeType="1"/>
              <a:stCxn id="45" idx="2"/>
              <a:endCxn id="44" idx="4"/>
            </p:cNvCxnSpPr>
            <p:nvPr/>
          </p:nvCxnSpPr>
          <p:spPr bwMode="auto">
            <a:xfrm rot="10800000">
              <a:off x="8397689" y="4254500"/>
              <a:ext cx="647700" cy="800100"/>
            </a:xfrm>
            <a:prstGeom prst="curvedConnector2">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AutoShape 12">
              <a:extLst>
                <a:ext uri="{FF2B5EF4-FFF2-40B4-BE49-F238E27FC236}">
                  <a16:creationId xmlns:a16="http://schemas.microsoft.com/office/drawing/2014/main" id="{1928EFAD-1E67-8B4D-93C0-8E39E22F1F95}"/>
                </a:ext>
              </a:extLst>
            </p:cNvPr>
            <p:cNvCxnSpPr>
              <a:cxnSpLocks noChangeShapeType="1"/>
              <a:stCxn id="46" idx="4"/>
              <a:endCxn id="45" idx="6"/>
            </p:cNvCxnSpPr>
            <p:nvPr/>
          </p:nvCxnSpPr>
          <p:spPr bwMode="auto">
            <a:xfrm rot="5400000">
              <a:off x="9426389" y="4330700"/>
              <a:ext cx="723900" cy="723900"/>
            </a:xfrm>
            <a:prstGeom prst="curvedConnector2">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49" name="Object 17">
              <a:extLst>
                <a:ext uri="{FF2B5EF4-FFF2-40B4-BE49-F238E27FC236}">
                  <a16:creationId xmlns:a16="http://schemas.microsoft.com/office/drawing/2014/main" id="{2C138A4F-0084-CE4E-BDF6-9A9C8C982A6D}"/>
                </a:ext>
              </a:extLst>
            </p:cNvPr>
            <p:cNvGraphicFramePr>
              <a:graphicFrameLocks noChangeAspect="1"/>
            </p:cNvGraphicFramePr>
            <p:nvPr/>
          </p:nvGraphicFramePr>
          <p:xfrm>
            <a:off x="7826189" y="3949700"/>
            <a:ext cx="312738" cy="457200"/>
          </p:xfrm>
          <a:graphic>
            <a:graphicData uri="http://schemas.openxmlformats.org/presentationml/2006/ole">
              <mc:AlternateContent xmlns:mc="http://schemas.openxmlformats.org/markup-compatibility/2006">
                <mc:Choice xmlns:v="urn:schemas-microsoft-com:vml" Requires="v">
                  <p:oleObj name="Equation" r:id="rId3" imgW="3797300" imgH="5562600" progId="Equation.3">
                    <p:embed/>
                  </p:oleObj>
                </mc:Choice>
                <mc:Fallback>
                  <p:oleObj name="Equation" r:id="rId3" imgW="3797300" imgH="5562600" progId="Equation.3">
                    <p:embed/>
                    <p:pic>
                      <p:nvPicPr>
                        <p:cNvPr id="49" name="Object 17">
                          <a:extLst>
                            <a:ext uri="{FF2B5EF4-FFF2-40B4-BE49-F238E27FC236}">
                              <a16:creationId xmlns:a16="http://schemas.microsoft.com/office/drawing/2014/main" id="{2C138A4F-0084-CE4E-BDF6-9A9C8C982A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26189" y="3949700"/>
                          <a:ext cx="31273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 name="Object 18">
              <a:extLst>
                <a:ext uri="{FF2B5EF4-FFF2-40B4-BE49-F238E27FC236}">
                  <a16:creationId xmlns:a16="http://schemas.microsoft.com/office/drawing/2014/main" id="{EE15A1E2-5587-3E44-874A-B9BA039DA23F}"/>
                </a:ext>
              </a:extLst>
            </p:cNvPr>
            <p:cNvGraphicFramePr>
              <a:graphicFrameLocks noChangeAspect="1"/>
            </p:cNvGraphicFramePr>
            <p:nvPr/>
          </p:nvGraphicFramePr>
          <p:xfrm>
            <a:off x="9045389" y="5168900"/>
            <a:ext cx="384175" cy="457200"/>
          </p:xfrm>
          <a:graphic>
            <a:graphicData uri="http://schemas.openxmlformats.org/presentationml/2006/ole">
              <mc:AlternateContent xmlns:mc="http://schemas.openxmlformats.org/markup-compatibility/2006">
                <mc:Choice xmlns:v="urn:schemas-microsoft-com:vml" Requires="v">
                  <p:oleObj name="Equation" r:id="rId5" imgW="4686300" imgH="5562600" progId="Equation.3">
                    <p:embed/>
                  </p:oleObj>
                </mc:Choice>
                <mc:Fallback>
                  <p:oleObj name="Equation" r:id="rId5" imgW="4686300" imgH="5562600" progId="Equation.3">
                    <p:embed/>
                    <p:pic>
                      <p:nvPicPr>
                        <p:cNvPr id="50" name="Object 18">
                          <a:extLst>
                            <a:ext uri="{FF2B5EF4-FFF2-40B4-BE49-F238E27FC236}">
                              <a16:creationId xmlns:a16="http://schemas.microsoft.com/office/drawing/2014/main" id="{EE15A1E2-5587-3E44-874A-B9BA039DA23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45389" y="5168900"/>
                          <a:ext cx="3841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 name="Object 19">
              <a:extLst>
                <a:ext uri="{FF2B5EF4-FFF2-40B4-BE49-F238E27FC236}">
                  <a16:creationId xmlns:a16="http://schemas.microsoft.com/office/drawing/2014/main" id="{6155B620-D2BC-DA4D-8B62-568D141D7A8F}"/>
                </a:ext>
              </a:extLst>
            </p:cNvPr>
            <p:cNvGraphicFramePr>
              <a:graphicFrameLocks noChangeAspect="1"/>
            </p:cNvGraphicFramePr>
            <p:nvPr/>
          </p:nvGraphicFramePr>
          <p:xfrm>
            <a:off x="8397689" y="3340141"/>
            <a:ext cx="530225" cy="431800"/>
          </p:xfrm>
          <a:graphic>
            <a:graphicData uri="http://schemas.openxmlformats.org/presentationml/2006/ole">
              <mc:AlternateContent xmlns:mc="http://schemas.openxmlformats.org/markup-compatibility/2006">
                <mc:Choice xmlns:v="urn:schemas-microsoft-com:vml" Requires="v">
                  <p:oleObj name="Equation" r:id="rId7" imgW="6438900" imgH="5270500" progId="Equation.3">
                    <p:embed/>
                  </p:oleObj>
                </mc:Choice>
                <mc:Fallback>
                  <p:oleObj name="Equation" r:id="rId7" imgW="6438900" imgH="5270500" progId="Equation.3">
                    <p:embed/>
                    <p:pic>
                      <p:nvPicPr>
                        <p:cNvPr id="51" name="Object 19">
                          <a:extLst>
                            <a:ext uri="{FF2B5EF4-FFF2-40B4-BE49-F238E27FC236}">
                              <a16:creationId xmlns:a16="http://schemas.microsoft.com/office/drawing/2014/main" id="{6155B620-D2BC-DA4D-8B62-568D141D7A8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97689" y="3340141"/>
                          <a:ext cx="530225"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2" name="Line 16">
            <a:extLst>
              <a:ext uri="{FF2B5EF4-FFF2-40B4-BE49-F238E27FC236}">
                <a16:creationId xmlns:a16="http://schemas.microsoft.com/office/drawing/2014/main" id="{7A2DD8BB-5AEF-1740-8074-62E091B65048}"/>
              </a:ext>
            </a:extLst>
          </p:cNvPr>
          <p:cNvSpPr>
            <a:spLocks noChangeShapeType="1"/>
          </p:cNvSpPr>
          <p:nvPr/>
        </p:nvSpPr>
        <p:spPr bwMode="auto">
          <a:xfrm>
            <a:off x="3057533" y="6248098"/>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 name="Line 16">
            <a:extLst>
              <a:ext uri="{FF2B5EF4-FFF2-40B4-BE49-F238E27FC236}">
                <a16:creationId xmlns:a16="http://schemas.microsoft.com/office/drawing/2014/main" id="{23CA2407-BCE8-B54F-B439-DE9BA73C44F3}"/>
              </a:ext>
            </a:extLst>
          </p:cNvPr>
          <p:cNvSpPr>
            <a:spLocks noChangeShapeType="1"/>
          </p:cNvSpPr>
          <p:nvPr/>
        </p:nvSpPr>
        <p:spPr bwMode="auto">
          <a:xfrm>
            <a:off x="5792648" y="6260976"/>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 name="矩形 4">
            <a:extLst>
              <a:ext uri="{FF2B5EF4-FFF2-40B4-BE49-F238E27FC236}">
                <a16:creationId xmlns:a16="http://schemas.microsoft.com/office/drawing/2014/main" id="{21A6266E-C32E-8546-BBF7-A7FEDE1A26B4}"/>
              </a:ext>
            </a:extLst>
          </p:cNvPr>
          <p:cNvSpPr/>
          <p:nvPr/>
        </p:nvSpPr>
        <p:spPr>
          <a:xfrm>
            <a:off x="9103767" y="2349562"/>
            <a:ext cx="2723823" cy="369332"/>
          </a:xfrm>
          <a:prstGeom prst="rect">
            <a:avLst/>
          </a:prstGeom>
        </p:spPr>
        <p:txBody>
          <a:bodyPr wrap="none">
            <a:spAutoFit/>
          </a:bodyPr>
          <a:lstStyle/>
          <a:p>
            <a:r>
              <a:rPr lang="zh-CN" altLang="en-US" dirty="0">
                <a:latin typeface="Microsoft YaHei" panose="020B0503020204020204" pitchFamily="34" charset="-122"/>
                <a:ea typeface="Microsoft YaHei" panose="020B0503020204020204" pitchFamily="34" charset="-122"/>
                <a:cs typeface="Times New Roman" panose="02020603050405020304" pitchFamily="18" charset="0"/>
              </a:rPr>
              <a:t>通過信譽值傳遞進行計算</a:t>
            </a:r>
            <a:endParaRPr lang="zh-CN" altLang="en-US" dirty="0"/>
          </a:p>
        </p:txBody>
      </p:sp>
      <mc:AlternateContent xmlns:mc="http://schemas.openxmlformats.org/markup-compatibility/2006">
        <mc:Choice xmlns:a14="http://schemas.microsoft.com/office/drawing/2010/main" Requires="a14">
          <p:sp>
            <p:nvSpPr>
              <p:cNvPr id="18" name="矩形 17">
                <a:extLst>
                  <a:ext uri="{FF2B5EF4-FFF2-40B4-BE49-F238E27FC236}">
                    <a16:creationId xmlns:a16="http://schemas.microsoft.com/office/drawing/2014/main" id="{97A55F83-943F-A341-BCC5-93CC960C7440}"/>
                  </a:ext>
                </a:extLst>
              </p:cNvPr>
              <p:cNvSpPr/>
              <p:nvPr/>
            </p:nvSpPr>
            <p:spPr>
              <a:xfrm>
                <a:off x="798675" y="1056861"/>
                <a:ext cx="11052666" cy="954941"/>
              </a:xfrm>
              <a:prstGeom prst="rect">
                <a:avLst/>
              </a:prstGeom>
            </p:spPr>
            <p:txBody>
              <a:bodyPr wrap="square">
                <a:spAutoFit/>
              </a:bodyPr>
              <a:lstStyle/>
              <a:p>
                <a:pPr algn="ctr">
                  <a:lnSpc>
                    <a:spcPts val="3500"/>
                  </a:lnSpc>
                </a:pPr>
                <a:r>
                  <a:rPr lang="zh-CN" altLang="en-US" sz="24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節點交換各自的本地信譽值得到本地信譽值矩陣</a:t>
                </a:r>
                <a14:m>
                  <m:oMath xmlns:m="http://schemas.openxmlformats.org/officeDocument/2006/math">
                    <m:r>
                      <a:rPr lang="en-US" altLang="zh-CN" sz="2400" b="1" i="1">
                        <a:solidFill>
                          <a:srgbClr val="C00000"/>
                        </a:solidFill>
                        <a:latin typeface="Cambria Math" panose="02040503050406030204" pitchFamily="18" charset="0"/>
                        <a:ea typeface="Microsoft YaHei" panose="020B0503020204020204" pitchFamily="34" charset="-122"/>
                        <a:cs typeface="Times New Roman" panose="02020603050405020304" pitchFamily="18" charset="0"/>
                      </a:rPr>
                      <m:t>𝑪</m:t>
                    </m:r>
                  </m:oMath>
                </a14:m>
                <a:r>
                  <a:rPr lang="zh-CN" altLang="en-US" sz="2400" b="1" dirty="0">
                    <a:solidFill>
                      <a:srgbClr val="C00000"/>
                    </a:solidFill>
                    <a:latin typeface="Microsoft YaHei" panose="020B0503020204020204" pitchFamily="34" charset="-122"/>
                    <a:ea typeface="Microsoft YaHei" panose="020B0503020204020204" pitchFamily="34" charset="-122"/>
                  </a:rPr>
                  <a:t>，再乘以本地信譽值向量後可得到一階傳遞信譽值向量</a:t>
                </a:r>
                <a14:m>
                  <m:oMath xmlns:m="http://schemas.openxmlformats.org/officeDocument/2006/math">
                    <m:sSubSup>
                      <m:sSubSupPr>
                        <m:ctrlPr>
                          <a:rPr lang="en-US" altLang="zh-CN" sz="2400" b="1" i="1">
                            <a:solidFill>
                              <a:srgbClr val="C00000"/>
                            </a:solidFill>
                            <a:latin typeface="Cambria Math" panose="02040503050406030204" pitchFamily="18" charset="0"/>
                            <a:ea typeface="Microsoft YaHei" panose="020B0503020204020204" pitchFamily="34" charset="-122"/>
                            <a:cs typeface="Times New Roman" panose="02020603050405020304" pitchFamily="18" charset="0"/>
                          </a:rPr>
                        </m:ctrlPr>
                      </m:sSubSupPr>
                      <m:e>
                        <m:r>
                          <a:rPr lang="en-US" altLang="zh-CN" sz="2400" b="1" i="1">
                            <a:solidFill>
                              <a:srgbClr val="C00000"/>
                            </a:solidFill>
                            <a:latin typeface="Cambria Math" panose="02040503050406030204" pitchFamily="18" charset="0"/>
                            <a:ea typeface="Microsoft YaHei" panose="020B0503020204020204" pitchFamily="34" charset="-122"/>
                            <a:cs typeface="Times New Roman" panose="02020603050405020304" pitchFamily="18" charset="0"/>
                          </a:rPr>
                          <m:t>𝒕</m:t>
                        </m:r>
                      </m:e>
                      <m:sub>
                        <m:r>
                          <a:rPr lang="en-US" altLang="zh-CN" sz="2400" b="1" i="1">
                            <a:solidFill>
                              <a:srgbClr val="C00000"/>
                            </a:solidFill>
                            <a:latin typeface="Cambria Math" panose="02040503050406030204" pitchFamily="18" charset="0"/>
                            <a:ea typeface="Microsoft YaHei" panose="020B0503020204020204" pitchFamily="34" charset="-122"/>
                            <a:cs typeface="Times New Roman" panose="02020603050405020304" pitchFamily="18" charset="0"/>
                          </a:rPr>
                          <m:t>𝒊</m:t>
                        </m:r>
                      </m:sub>
                      <m:sup>
                        <m:r>
                          <a:rPr lang="en-US" altLang="zh-CN" sz="2400" b="1" i="1">
                            <a:solidFill>
                              <a:srgbClr val="C00000"/>
                            </a:solidFill>
                            <a:latin typeface="Cambria Math" panose="02040503050406030204" pitchFamily="18" charset="0"/>
                            <a:ea typeface="Microsoft YaHei" panose="020B0503020204020204" pitchFamily="34" charset="-122"/>
                            <a:cs typeface="Times New Roman" panose="02020603050405020304" pitchFamily="18" charset="0"/>
                          </a:rPr>
                          <m:t>𝟏</m:t>
                        </m:r>
                      </m:sup>
                    </m:sSubSup>
                  </m:oMath>
                </a14:m>
                <a:r>
                  <a:rPr lang="zh-CN" altLang="en-US" sz="2400" b="1" dirty="0">
                    <a:solidFill>
                      <a:srgbClr val="C00000"/>
                    </a:solidFill>
                    <a:latin typeface="Microsoft YaHei" panose="020B0503020204020204" pitchFamily="34" charset="-122"/>
                    <a:ea typeface="Microsoft YaHei" panose="020B0503020204020204" pitchFamily="34" charset="-122"/>
                  </a:rPr>
                  <a:t>，迭代該過程可得</a:t>
                </a:r>
                <a:r>
                  <a:rPr lang="en-US" altLang="zh-CN" sz="2400" b="1" dirty="0">
                    <a:solidFill>
                      <a:srgbClr val="C00000"/>
                    </a:solidFill>
                    <a:latin typeface="Microsoft YaHei" panose="020B0503020204020204" pitchFamily="34" charset="-122"/>
                    <a:ea typeface="Microsoft YaHei" panose="020B0503020204020204" pitchFamily="34" charset="-122"/>
                  </a:rPr>
                  <a:t>k</a:t>
                </a:r>
                <a:r>
                  <a:rPr lang="zh-CN" altLang="en-US" sz="2400" b="1" dirty="0">
                    <a:solidFill>
                      <a:srgbClr val="C00000"/>
                    </a:solidFill>
                    <a:latin typeface="Microsoft YaHei" panose="020B0503020204020204" pitchFamily="34" charset="-122"/>
                    <a:ea typeface="Microsoft YaHei" panose="020B0503020204020204" pitchFamily="34" charset="-122"/>
                  </a:rPr>
                  <a:t>階傳遞信譽值</a:t>
                </a:r>
              </a:p>
            </p:txBody>
          </p:sp>
        </mc:Choice>
        <mc:Fallback>
          <p:sp>
            <p:nvSpPr>
              <p:cNvPr id="18" name="矩形 17">
                <a:extLst>
                  <a:ext uri="{FF2B5EF4-FFF2-40B4-BE49-F238E27FC236}">
                    <a16:creationId xmlns:a16="http://schemas.microsoft.com/office/drawing/2014/main" id="{97A55F83-943F-A341-BCC5-93CC960C7440}"/>
                  </a:ext>
                </a:extLst>
              </p:cNvPr>
              <p:cNvSpPr>
                <a:spLocks noRot="1" noChangeAspect="1" noMove="1" noResize="1" noEditPoints="1" noAdjustHandles="1" noChangeArrowheads="1" noChangeShapeType="1" noTextEdit="1"/>
              </p:cNvSpPr>
              <p:nvPr/>
            </p:nvSpPr>
            <p:spPr>
              <a:xfrm>
                <a:off x="798675" y="1056861"/>
                <a:ext cx="11052666" cy="954941"/>
              </a:xfrm>
              <a:prstGeom prst="rect">
                <a:avLst/>
              </a:prstGeom>
              <a:blipFill>
                <a:blip r:embed="rId9"/>
                <a:stretch>
                  <a:fillRect l="-772" t="-637" r="-827" b="-13376"/>
                </a:stretch>
              </a:blipFill>
            </p:spPr>
            <p:txBody>
              <a:bodyPr/>
              <a:lstStyle/>
              <a:p>
                <a:r>
                  <a:rPr lang="fr-FR">
                    <a:noFill/>
                  </a:rPr>
                  <a:t> </a:t>
                </a:r>
              </a:p>
            </p:txBody>
          </p:sp>
        </mc:Fallback>
      </mc:AlternateContent>
      <p:sp>
        <p:nvSpPr>
          <p:cNvPr id="19" name="灯片编号占位符 2">
            <a:extLst>
              <a:ext uri="{FF2B5EF4-FFF2-40B4-BE49-F238E27FC236}">
                <a16:creationId xmlns:a16="http://schemas.microsoft.com/office/drawing/2014/main" id="{DE8674FD-FFB6-1F46-B4DD-A0768D991340}"/>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86</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131066203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7E03D56E-B25B-424B-A750-61B5053B626E}"/>
              </a:ext>
            </a:extLst>
          </p:cNvPr>
          <p:cNvSpPr>
            <a:spLocks/>
          </p:cNvSpPr>
          <p:nvPr/>
        </p:nvSpPr>
        <p:spPr bwMode="auto">
          <a:xfrm>
            <a:off x="798675" y="944637"/>
            <a:ext cx="11052666" cy="5694950"/>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5000"/>
              </a:lnSpc>
              <a:defRPr/>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實現時需要考慮的問題</a:t>
            </a:r>
          </a:p>
        </p:txBody>
      </p:sp>
      <mc:AlternateContent xmlns:mc="http://schemas.openxmlformats.org/markup-compatibility/2006">
        <mc:Choice xmlns:a14="http://schemas.microsoft.com/office/drawing/2010/main" Requires="a14">
          <p:sp>
            <p:nvSpPr>
              <p:cNvPr id="3" name="文本占位符 22">
                <a:extLst>
                  <a:ext uri="{FF2B5EF4-FFF2-40B4-BE49-F238E27FC236}">
                    <a16:creationId xmlns:a16="http://schemas.microsoft.com/office/drawing/2014/main" id="{83C41DF9-173C-DF4A-82D2-A6D662F7DC89}"/>
                  </a:ext>
                </a:extLst>
              </p:cNvPr>
              <p:cNvSpPr txBox="1">
                <a:spLocks/>
              </p:cNvSpPr>
              <p:nvPr/>
            </p:nvSpPr>
            <p:spPr>
              <a:xfrm>
                <a:off x="798675" y="978573"/>
                <a:ext cx="11052666" cy="579633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40000"/>
                  </a:lnSpc>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初始信任值的設置，可以自行設置，或者采用默認設置</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marL="702900" indent="-342900">
                  <a:lnSpc>
                    <a:spcPct val="140000"/>
                  </a:lnSpc>
                </a:pPr>
                <a14:m>
                  <m:oMath xmlns:m="http://schemas.openxmlformats.org/officeDocument/2006/math">
                    <m:sSub>
                      <m:sSubPr>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sSubPr>
                      <m:e>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𝑝</m:t>
                        </m:r>
                      </m:e>
                      <m:sub>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𝑖</m:t>
                        </m:r>
                      </m:sub>
                    </m:sSub>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=1/</m:t>
                    </m:r>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𝑛</m:t>
                    </m:r>
                  </m:oMath>
                </a14:m>
                <a:r>
                  <a:rPr lang="en-US" altLang="zh-CN" sz="2400" dirty="0">
                    <a:ea typeface="Microsoft YaHei" panose="020B0503020204020204" pitchFamily="34" charset="-122"/>
                    <a:cs typeface="Times New Roman" panose="02020603050405020304" pitchFamily="18" charset="0"/>
                  </a:rPr>
                  <a:t> </a:t>
                </a:r>
                <a14:m>
                  <m:oMath xmlns:m="http://schemas.openxmlformats.org/officeDocument/2006/math">
                    <m:r>
                      <a:rPr lang="en-US" altLang="zh-CN" sz="2400" b="0" i="0" smtClean="0">
                        <a:latin typeface="Cambria Math" panose="02040503050406030204" pitchFamily="18" charset="0"/>
                        <a:ea typeface="Microsoft YaHei" panose="020B0503020204020204" pitchFamily="34" charset="-122"/>
                        <a:cs typeface="Times New Roman" panose="02020603050405020304" pitchFamily="18" charset="0"/>
                      </a:rPr>
                      <m:t>              </m:t>
                    </m:r>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 </m:t>
                    </m:r>
                    <m:acc>
                      <m:accPr>
                        <m:chr m:val="⃑"/>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accPr>
                      <m:e>
                        <m:sSubSup>
                          <m:sSubSupPr>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sSubSupPr>
                          <m:e>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𝑡</m:t>
                            </m:r>
                          </m:e>
                          <m:sub>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𝑖</m:t>
                            </m:r>
                          </m:sub>
                          <m:sup>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1</m:t>
                            </m:r>
                          </m:sup>
                        </m:sSubSup>
                      </m:e>
                    </m:acc>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m:t>
                    </m:r>
                    <m:sSup>
                      <m:sSupPr>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sSupPr>
                      <m:e>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𝐶</m:t>
                        </m:r>
                      </m:e>
                      <m:sup>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𝑇</m:t>
                        </m:r>
                      </m:sup>
                    </m:sSup>
                    <m:acc>
                      <m:accPr>
                        <m:chr m:val="⃑"/>
                        <m:ctrlP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ctrlPr>
                      </m:accPr>
                      <m:e>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𝑝</m:t>
                        </m:r>
                      </m:e>
                    </m:acc>
                  </m:oMath>
                </a14:m>
                <a:r>
                  <a:rPr lang="en-US" altLang="zh-CN" sz="2400" dirty="0">
                    <a:ea typeface="Microsoft YaHei" panose="020B0503020204020204" pitchFamily="34" charset="-122"/>
                    <a:cs typeface="Times New Roman" panose="02020603050405020304" pitchFamily="18" charset="0"/>
                  </a:rPr>
                  <a:t> </a:t>
                </a:r>
                <a14:m>
                  <m:oMath xmlns:m="http://schemas.openxmlformats.org/officeDocument/2006/math">
                    <m:r>
                      <a:rPr lang="en-US" altLang="zh-CN" sz="2400">
                        <a:latin typeface="Cambria Math" panose="02040503050406030204" pitchFamily="18" charset="0"/>
                        <a:ea typeface="Microsoft YaHei" panose="020B0503020204020204" pitchFamily="34" charset="-122"/>
                        <a:cs typeface="Times New Roman" panose="02020603050405020304" pitchFamily="18" charset="0"/>
                      </a:rPr>
                      <m:t>               </m:t>
                    </m:r>
                    <m:acc>
                      <m:accPr>
                        <m:chr m:val="⃑"/>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accPr>
                      <m:e>
                        <m:sSubSup>
                          <m:sSubSupPr>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sSubSupPr>
                          <m:e>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𝑡</m:t>
                            </m:r>
                          </m:e>
                          <m:sub>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𝑖</m:t>
                            </m:r>
                          </m:sub>
                          <m:sup>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𝑛</m:t>
                            </m:r>
                          </m:sup>
                        </m:sSubSup>
                      </m:e>
                    </m:acc>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m:t>
                    </m:r>
                    <m:sSup>
                      <m:sSupPr>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sSupPr>
                      <m:e>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m:t>
                        </m:r>
                        <m:sSup>
                          <m:sSupPr>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sSupPr>
                          <m:e>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𝐶</m:t>
                            </m:r>
                          </m:e>
                          <m:sup>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𝑇</m:t>
                            </m:r>
                          </m:sup>
                        </m:sSup>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m:t>
                        </m:r>
                      </m:e>
                      <m:sup>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𝑛</m:t>
                        </m:r>
                      </m:sup>
                    </m:sSup>
                    <m:acc>
                      <m:accPr>
                        <m:chr m:val="⃑"/>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accPr>
                      <m:e>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𝑝</m:t>
                        </m:r>
                      </m:e>
                    </m:acc>
                  </m:oMath>
                </a14:m>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a:lnSpc>
                    <a:spcPct val="140000"/>
                  </a:lnSpc>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因此，在對本地信譽值</a:t>
                </a:r>
                <a14:m>
                  <m:oMath xmlns:m="http://schemas.openxmlformats.org/officeDocument/2006/math">
                    <m:sSub>
                      <m:sSubPr>
                        <m:ctrlP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ctrlPr>
                      </m:sSubPr>
                      <m:e>
                        <m:r>
                          <a:rPr lang="zh-CN" altLang="en-US" sz="2400" i="1" dirty="0">
                            <a:latin typeface="Cambria Math" panose="02040503050406030204" pitchFamily="18" charset="0"/>
                            <a:ea typeface="Microsoft YaHei" panose="020B0503020204020204" pitchFamily="34" charset="-122"/>
                            <a:cs typeface="Times New Roman" panose="02020603050405020304" pitchFamily="18" charset="0"/>
                          </a:rPr>
                          <m:t> </m:t>
                        </m:r>
                        <m: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t>𝑠</m:t>
                        </m:r>
                      </m:e>
                      <m:sub>
                        <m: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t>𝑖𝑗</m:t>
                        </m:r>
                      </m:sub>
                    </m:sSub>
                    <m:r>
                      <a:rPr lang="zh-CN" altLang="en-US" sz="2400" i="1" dirty="0">
                        <a:latin typeface="Cambria Math" panose="02040503050406030204" pitchFamily="18" charset="0"/>
                        <a:ea typeface="Microsoft YaHei" panose="020B0503020204020204" pitchFamily="34" charset="-122"/>
                        <a:cs typeface="Times New Roman" panose="02020603050405020304" pitchFamily="18" charset="0"/>
                      </a:rPr>
                      <m:t> </m:t>
                    </m:r>
                  </m:oMath>
                </a14:m>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歸一化時，計算改爲如下模式：</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marL="702900" indent="-342900">
                  <a:lnSpc>
                    <a:spcPct val="140000"/>
                  </a:lnSpc>
                  <a:spcBef>
                    <a:spcPts val="0"/>
                  </a:spcBef>
                </a:pPr>
                <a14:m>
                  <m:oMath xmlns:m="http://schemas.openxmlformats.org/officeDocument/2006/math">
                    <m:sSub>
                      <m:sSubPr>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sSubPr>
                      <m:e>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𝑐</m:t>
                        </m:r>
                      </m:e>
                      <m:sub>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𝑖𝑗</m:t>
                        </m:r>
                      </m:sub>
                    </m:sSub>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m:t>
                    </m:r>
                    <m:d>
                      <m:dPr>
                        <m:begChr m:val="{"/>
                        <m:endChr m:val=""/>
                        <m:ctrlPr>
                          <a:rPr lang="en-US" altLang="zh-CN" sz="2400" i="1" smtClean="0">
                            <a:latin typeface="Cambria Math" panose="02040503050406030204" pitchFamily="18" charset="0"/>
                            <a:ea typeface="Microsoft YaHei" panose="020B0503020204020204" pitchFamily="34" charset="-122"/>
                            <a:cs typeface="Times New Roman" panose="02020603050405020304" pitchFamily="18" charset="0"/>
                          </a:rPr>
                        </m:ctrlPr>
                      </m:dPr>
                      <m:e>
                        <m:eqArr>
                          <m:eqArrPr>
                            <m:ctrlPr>
                              <a:rPr lang="en-US" altLang="zh-CN" sz="2400" i="1" smtClean="0">
                                <a:latin typeface="Cambria Math" panose="02040503050406030204" pitchFamily="18" charset="0"/>
                                <a:ea typeface="Microsoft YaHei" panose="020B0503020204020204" pitchFamily="34" charset="-122"/>
                                <a:cs typeface="Times New Roman" panose="02020603050405020304" pitchFamily="18" charset="0"/>
                              </a:rPr>
                            </m:ctrlPr>
                          </m:eqArrPr>
                          <m:e>
                            <m:f>
                              <m:fPr>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fPr>
                              <m:num>
                                <m:r>
                                  <m:rPr>
                                    <m:sty m:val="p"/>
                                  </m:rPr>
                                  <a:rPr lang="en-US" altLang="zh-CN" sz="2400">
                                    <a:latin typeface="Cambria Math" panose="02040503050406030204" pitchFamily="18" charset="0"/>
                                    <a:ea typeface="Microsoft YaHei" panose="020B0503020204020204" pitchFamily="34" charset="-122"/>
                                    <a:cs typeface="Times New Roman" panose="02020603050405020304" pitchFamily="18" charset="0"/>
                                  </a:rPr>
                                  <m:t>max</m:t>
                                </m:r>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m:t>
                                </m:r>
                                <m:sSub>
                                  <m:sSubPr>
                                    <m:ctrlP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ctrlPr>
                                  </m:sSubPr>
                                  <m:e>
                                    <m: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t>𝑠</m:t>
                                    </m:r>
                                  </m:e>
                                  <m:sub>
                                    <m: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t>𝑖𝑗</m:t>
                                    </m:r>
                                  </m:sub>
                                </m:sSub>
                                <m: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t>,   0</m:t>
                                </m:r>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m:t>
                                </m:r>
                              </m:num>
                              <m:den>
                                <m:nary>
                                  <m:naryPr>
                                    <m:chr m:val="∑"/>
                                    <m:limLoc m:val="subSup"/>
                                    <m:supHide m:val="on"/>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naryPr>
                                  <m:sub>
                                    <m:r>
                                      <m:rPr>
                                        <m:brk m:alnAt="9"/>
                                      </m:r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𝑗</m:t>
                                    </m:r>
                                  </m:sub>
                                  <m:sup/>
                                  <m:e>
                                    <m:r>
                                      <m:rPr>
                                        <m:sty m:val="p"/>
                                      </m:rPr>
                                      <a:rPr lang="en-US" altLang="zh-CN" sz="2400">
                                        <a:latin typeface="Cambria Math" panose="02040503050406030204" pitchFamily="18" charset="0"/>
                                        <a:ea typeface="Microsoft YaHei" panose="020B0503020204020204" pitchFamily="34" charset="-122"/>
                                        <a:cs typeface="Times New Roman" panose="02020603050405020304" pitchFamily="18" charset="0"/>
                                      </a:rPr>
                                      <m:t>max</m:t>
                                    </m:r>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m:t>
                                    </m:r>
                                    <m:sSub>
                                      <m:sSubPr>
                                        <m:ctrlP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ctrlPr>
                                      </m:sSubPr>
                                      <m:e>
                                        <m: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t>𝑠</m:t>
                                        </m:r>
                                      </m:e>
                                      <m:sub>
                                        <m: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t>𝑖𝑗</m:t>
                                        </m:r>
                                      </m:sub>
                                    </m:sSub>
                                    <m:r>
                                      <a:rPr lang="en-US" altLang="zh-CN" sz="2400" i="1" dirty="0">
                                        <a:latin typeface="Cambria Math" panose="02040503050406030204" pitchFamily="18" charset="0"/>
                                        <a:ea typeface="Microsoft YaHei" panose="020B0503020204020204" pitchFamily="34" charset="-122"/>
                                        <a:cs typeface="Times New Roman" panose="02020603050405020304" pitchFamily="18" charset="0"/>
                                      </a:rPr>
                                      <m:t>,   0</m:t>
                                    </m:r>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m:t>
                                    </m:r>
                                  </m:e>
                                </m:nary>
                              </m:den>
                            </m:f>
                          </m:e>
                          <m:e>
                            <m:sSub>
                              <m:sSubPr>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sSubPr>
                              <m:e>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𝑝</m:t>
                                </m:r>
                              </m:e>
                              <m:sub>
                                <m:r>
                                  <m:rPr>
                                    <m:sty m:val="p"/>
                                  </m:rPr>
                                  <a:rPr lang="en-US" altLang="zh-CN" sz="2400" i="1" smtClean="0">
                                    <a:latin typeface="Cambria Math" panose="02040503050406030204" pitchFamily="18" charset="0"/>
                                    <a:ea typeface="Microsoft YaHei" panose="020B0503020204020204" pitchFamily="34" charset="-122"/>
                                    <a:cs typeface="Times New Roman" panose="02020603050405020304" pitchFamily="18" charset="0"/>
                                  </a:rPr>
                                  <m:t>j</m:t>
                                </m:r>
                              </m:sub>
                            </m:sSub>
                          </m:e>
                        </m:eqArr>
                      </m:e>
                    </m:d>
                  </m:oMath>
                </a14:m>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a:lnSpc>
                    <a:spcPct val="140000"/>
                  </a:lnSpc>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爲了避免惡意節點合作影響其它節點的信譽值，可以在每次迭代計算時保留自己的初始信任值：</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marL="702900" indent="-342900">
                  <a:lnSpc>
                    <a:spcPct val="140000"/>
                  </a:lnSpc>
                </a:pPr>
                <a14:m>
                  <m:oMath xmlns:m="http://schemas.openxmlformats.org/officeDocument/2006/math">
                    <m:acc>
                      <m:accPr>
                        <m:chr m:val="⃑"/>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accPr>
                      <m:e>
                        <m:sSubSup>
                          <m:sSubSupPr>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sSubSupPr>
                          <m:e>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𝑡</m:t>
                            </m:r>
                          </m:e>
                          <m:sub>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𝑖</m:t>
                            </m:r>
                          </m:sub>
                          <m:sup>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𝑘</m:t>
                            </m:r>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+1</m:t>
                            </m:r>
                          </m:sup>
                        </m:sSubSup>
                      </m:e>
                    </m:acc>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m:t>
                    </m:r>
                    <m:sSup>
                      <m:sSupPr>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sSupPr>
                      <m:e>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(1−</m:t>
                        </m:r>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𝑎</m:t>
                        </m:r>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m:t>
                        </m:r>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𝐶</m:t>
                        </m:r>
                      </m:e>
                      <m:sup>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𝑇</m:t>
                        </m:r>
                      </m:sup>
                    </m:sSup>
                    <m:acc>
                      <m:accPr>
                        <m:chr m:val="⃑"/>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accPr>
                      <m:e>
                        <m:sSubSup>
                          <m:sSubSupPr>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sSubSupPr>
                          <m:e>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𝑡</m:t>
                            </m:r>
                          </m:e>
                          <m:sub>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𝑖</m:t>
                            </m:r>
                          </m:sub>
                          <m:sup>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𝑘</m:t>
                            </m:r>
                          </m:sup>
                        </m:sSubSup>
                      </m:e>
                    </m:acc>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m:t>
                    </m:r>
                    <m:r>
                      <a:rPr lang="en-US" altLang="zh-CN" sz="2400" b="0" i="1" smtClean="0">
                        <a:latin typeface="Cambria Math" panose="02040503050406030204" pitchFamily="18" charset="0"/>
                        <a:ea typeface="Microsoft YaHei" panose="020B0503020204020204" pitchFamily="34" charset="-122"/>
                        <a:cs typeface="Times New Roman" panose="02020603050405020304" pitchFamily="18" charset="0"/>
                      </a:rPr>
                      <m:t>𝑎</m:t>
                    </m:r>
                    <m:acc>
                      <m:accPr>
                        <m:chr m:val="⃑"/>
                        <m:ctrlP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ctrlPr>
                      </m:accPr>
                      <m:e>
                        <m:r>
                          <a:rPr lang="en-US" altLang="zh-CN" sz="2400" i="1">
                            <a:latin typeface="Cambria Math" panose="02040503050406030204" pitchFamily="18" charset="0"/>
                            <a:ea typeface="Microsoft YaHei" panose="020B0503020204020204" pitchFamily="34" charset="-122"/>
                            <a:cs typeface="Times New Roman" panose="02020603050405020304" pitchFamily="18" charset="0"/>
                          </a:rPr>
                          <m:t>𝑝</m:t>
                        </m:r>
                      </m:e>
                    </m:acc>
                  </m:oMath>
                </a14:m>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p:txBody>
          </p:sp>
        </mc:Choice>
        <mc:Fallback>
          <p:sp>
            <p:nvSpPr>
              <p:cNvPr id="3" name="文本占位符 22">
                <a:extLst>
                  <a:ext uri="{FF2B5EF4-FFF2-40B4-BE49-F238E27FC236}">
                    <a16:creationId xmlns:a16="http://schemas.microsoft.com/office/drawing/2014/main" id="{83C41DF9-173C-DF4A-82D2-A6D662F7DC89}"/>
                  </a:ext>
                </a:extLst>
              </p:cNvPr>
              <p:cNvSpPr txBox="1">
                <a:spLocks noRot="1" noChangeAspect="1" noMove="1" noResize="1" noEditPoints="1" noAdjustHandles="1" noChangeArrowheads="1" noChangeShapeType="1" noTextEdit="1"/>
              </p:cNvSpPr>
              <p:nvPr/>
            </p:nvSpPr>
            <p:spPr>
              <a:xfrm>
                <a:off x="798675" y="978573"/>
                <a:ext cx="11052666" cy="5796336"/>
              </a:xfrm>
              <a:prstGeom prst="rect">
                <a:avLst/>
              </a:prstGeom>
              <a:blipFill>
                <a:blip r:embed="rId2"/>
                <a:stretch>
                  <a:fillRect l="-717"/>
                </a:stretch>
              </a:blipFill>
            </p:spPr>
            <p:txBody>
              <a:bodyPr/>
              <a:lstStyle/>
              <a:p>
                <a:r>
                  <a:rPr lang="fr-FR">
                    <a:noFill/>
                  </a:rPr>
                  <a:t> </a:t>
                </a:r>
              </a:p>
            </p:txBody>
          </p:sp>
        </mc:Fallback>
      </mc:AlternateContent>
      <p:sp>
        <p:nvSpPr>
          <p:cNvPr id="16" name="Line 16">
            <a:extLst>
              <a:ext uri="{FF2B5EF4-FFF2-40B4-BE49-F238E27FC236}">
                <a16:creationId xmlns:a16="http://schemas.microsoft.com/office/drawing/2014/main" id="{BEA43234-522E-6D49-BF48-D3D04B625FCC}"/>
              </a:ext>
            </a:extLst>
          </p:cNvPr>
          <p:cNvSpPr>
            <a:spLocks noChangeShapeType="1"/>
          </p:cNvSpPr>
          <p:nvPr/>
        </p:nvSpPr>
        <p:spPr bwMode="auto">
          <a:xfrm>
            <a:off x="2864223" y="2099815"/>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16">
            <a:extLst>
              <a:ext uri="{FF2B5EF4-FFF2-40B4-BE49-F238E27FC236}">
                <a16:creationId xmlns:a16="http://schemas.microsoft.com/office/drawing/2014/main" id="{B162A466-7A79-A24C-A476-40678A38A59B}"/>
              </a:ext>
            </a:extLst>
          </p:cNvPr>
          <p:cNvSpPr>
            <a:spLocks noChangeShapeType="1"/>
          </p:cNvSpPr>
          <p:nvPr/>
        </p:nvSpPr>
        <p:spPr bwMode="auto">
          <a:xfrm>
            <a:off x="5148891" y="2099815"/>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54EF3340-A088-9D42-A703-FE0D933E6663}"/>
                  </a:ext>
                </a:extLst>
              </p:cNvPr>
              <p:cNvSpPr/>
              <p:nvPr/>
            </p:nvSpPr>
            <p:spPr>
              <a:xfrm>
                <a:off x="3776608" y="3520173"/>
                <a:ext cx="3166443" cy="69615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000" i="1">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        </m:t>
                      </m:r>
                      <m:r>
                        <a:rPr lang="en-US" altLang="zh-CN" sz="2000" i="1">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𝑖𝑓</m:t>
                      </m:r>
                      <m:nary>
                        <m:naryPr>
                          <m:chr m:val="∑"/>
                          <m:limLoc m:val="subSup"/>
                          <m:supHide m:val="on"/>
                          <m:ctrlPr>
                            <a:rPr lang="en-US" altLang="zh-CN" sz="2000" i="1">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ctrlPr>
                        </m:naryPr>
                        <m:sub>
                          <m:r>
                            <m:rPr>
                              <m:brk m:alnAt="9"/>
                            </m:rPr>
                            <a:rPr lang="en-US" altLang="zh-CN" sz="2000" i="1">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𝑗</m:t>
                          </m:r>
                        </m:sub>
                        <m:sup/>
                        <m:e>
                          <m:r>
                            <m:rPr>
                              <m:sty m:val="p"/>
                            </m:rPr>
                            <a:rPr lang="en-US" altLang="zh-CN" sz="200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max</m:t>
                          </m:r>
                          <m:r>
                            <a:rPr lang="en-US" altLang="zh-CN" sz="2000" i="1">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m:t>
                          </m:r>
                          <m:sSub>
                            <m:sSubPr>
                              <m:ctrlPr>
                                <a:rPr lang="en-US" altLang="zh-CN" sz="2000" i="1" dirty="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ctrlPr>
                            </m:sSubPr>
                            <m:e>
                              <m:r>
                                <a:rPr lang="en-US" altLang="zh-CN" sz="2000" i="1" dirty="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𝑠</m:t>
                              </m:r>
                            </m:e>
                            <m:sub>
                              <m:r>
                                <a:rPr lang="en-US" altLang="zh-CN" sz="2000" i="1" dirty="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𝑖𝑗</m:t>
                              </m:r>
                            </m:sub>
                          </m:sSub>
                          <m:r>
                            <a:rPr lang="en-US" altLang="zh-CN" sz="2000" i="1" dirty="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,0</m:t>
                          </m:r>
                          <m:r>
                            <a:rPr lang="en-US" altLang="zh-CN" sz="2000" i="1">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m:t>
                          </m:r>
                        </m:e>
                      </m:nary>
                      <m:r>
                        <a:rPr lang="en-US" altLang="zh-CN" sz="2000" i="1">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=0</m:t>
                      </m:r>
                    </m:oMath>
                  </m:oMathPara>
                </a14:m>
                <a:endParaRPr lang="zh-CN" altLang="en-US" dirty="0"/>
              </a:p>
            </p:txBody>
          </p:sp>
        </mc:Choice>
        <mc:Fallback xmlns="">
          <p:sp>
            <p:nvSpPr>
              <p:cNvPr id="7" name="矩形 6">
                <a:extLst>
                  <a:ext uri="{FF2B5EF4-FFF2-40B4-BE49-F238E27FC236}">
                    <a16:creationId xmlns:a16="http://schemas.microsoft.com/office/drawing/2014/main" id="{54EF3340-A088-9D42-A703-FE0D933E6663}"/>
                  </a:ext>
                </a:extLst>
              </p:cNvPr>
              <p:cNvSpPr>
                <a:spLocks noRot="1" noChangeAspect="1" noMove="1" noResize="1" noEditPoints="1" noAdjustHandles="1" noChangeArrowheads="1" noChangeShapeType="1" noTextEdit="1"/>
              </p:cNvSpPr>
              <p:nvPr/>
            </p:nvSpPr>
            <p:spPr>
              <a:xfrm>
                <a:off x="3776608" y="3520173"/>
                <a:ext cx="3166443" cy="696153"/>
              </a:xfrm>
              <a:prstGeom prst="rect">
                <a:avLst/>
              </a:prstGeom>
              <a:blipFill>
                <a:blip r:embed="rId3"/>
                <a:stretch>
                  <a:fillRect l="-2400" t="-154386" b="-2157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54DC1518-CC79-CD45-826F-7F6219A06A4C}"/>
                  </a:ext>
                </a:extLst>
              </p:cNvPr>
              <p:cNvSpPr/>
              <p:nvPr/>
            </p:nvSpPr>
            <p:spPr>
              <a:xfrm>
                <a:off x="3763851" y="4253341"/>
                <a:ext cx="1893788"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000" i="1" smtClean="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        </m:t>
                      </m:r>
                      <m:r>
                        <a:rPr lang="en-US" altLang="zh-CN" sz="2000" b="0" i="1" smtClean="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𝑜𝑡h𝑒𝑟𝑤𝑖𝑠𝑒</m:t>
                      </m:r>
                    </m:oMath>
                  </m:oMathPara>
                </a14:m>
                <a:endParaRPr lang="zh-CN" altLang="en-US" dirty="0"/>
              </a:p>
            </p:txBody>
          </p:sp>
        </mc:Choice>
        <mc:Fallback xmlns="">
          <p:sp>
            <p:nvSpPr>
              <p:cNvPr id="20" name="矩形 19">
                <a:extLst>
                  <a:ext uri="{FF2B5EF4-FFF2-40B4-BE49-F238E27FC236}">
                    <a16:creationId xmlns:a16="http://schemas.microsoft.com/office/drawing/2014/main" id="{54DC1518-CC79-CD45-826F-7F6219A06A4C}"/>
                  </a:ext>
                </a:extLst>
              </p:cNvPr>
              <p:cNvSpPr>
                <a:spLocks noRot="1" noChangeAspect="1" noMove="1" noResize="1" noEditPoints="1" noAdjustHandles="1" noChangeArrowheads="1" noChangeShapeType="1" noTextEdit="1"/>
              </p:cNvSpPr>
              <p:nvPr/>
            </p:nvSpPr>
            <p:spPr>
              <a:xfrm>
                <a:off x="3763851" y="4253341"/>
                <a:ext cx="1893788" cy="400110"/>
              </a:xfrm>
              <a:prstGeom prst="rect">
                <a:avLst/>
              </a:prstGeom>
              <a:blipFill>
                <a:blip r:embed="rId4"/>
                <a:stretch>
                  <a:fillRect b="-15625"/>
                </a:stretch>
              </a:blipFill>
            </p:spPr>
            <p:txBody>
              <a:bodyPr/>
              <a:lstStyle/>
              <a:p>
                <a:r>
                  <a:rPr lang="zh-CN" altLang="en-US">
                    <a:noFill/>
                  </a:rPr>
                  <a:t> </a:t>
                </a:r>
              </a:p>
            </p:txBody>
          </p:sp>
        </mc:Fallback>
      </mc:AlternateContent>
      <p:sp>
        <p:nvSpPr>
          <p:cNvPr id="8" name="灯片编号占位符 2">
            <a:extLst>
              <a:ext uri="{FF2B5EF4-FFF2-40B4-BE49-F238E27FC236}">
                <a16:creationId xmlns:a16="http://schemas.microsoft.com/office/drawing/2014/main" id="{A52D4F13-9D34-974A-A0AA-8360FD25044A}"/>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87</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6740621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F78A5-8A8F-D741-B4A3-002E4F7C90F5}"/>
              </a:ext>
            </a:extLst>
          </p:cNvPr>
          <p:cNvSpPr>
            <a:spLocks noGrp="1"/>
          </p:cNvSpPr>
          <p:nvPr>
            <p:ph type="title"/>
          </p:nvPr>
        </p:nvSpPr>
        <p:spPr/>
        <p:txBody>
          <a:bodyPr>
            <a:normAutofit/>
          </a:bodyPr>
          <a:lstStyle/>
          <a:p>
            <a:r>
              <a:rPr kumimoji="1" lang="zh-CN" altLang="en-US" dirty="0"/>
              <a:t>協作</a:t>
            </a:r>
            <a:r>
              <a:rPr kumimoji="1" lang="zh-CN" altLang="en" dirty="0"/>
              <a:t>計算全域</a:t>
            </a:r>
            <a:r>
              <a:rPr kumimoji="1" lang="zh-CN" altLang="en-US" dirty="0"/>
              <a:t>信譽值</a:t>
            </a:r>
          </a:p>
        </p:txBody>
      </p:sp>
      <p:sp>
        <p:nvSpPr>
          <p:cNvPr id="3" name="文本占位符 22">
            <a:extLst>
              <a:ext uri="{FF2B5EF4-FFF2-40B4-BE49-F238E27FC236}">
                <a16:creationId xmlns:a16="http://schemas.microsoft.com/office/drawing/2014/main" id="{83C41DF9-173C-DF4A-82D2-A6D662F7DC89}"/>
              </a:ext>
            </a:extLst>
          </p:cNvPr>
          <p:cNvSpPr txBox="1">
            <a:spLocks/>
          </p:cNvSpPr>
          <p:nvPr/>
        </p:nvSpPr>
        <p:spPr>
          <a:xfrm>
            <a:off x="798675" y="1138556"/>
            <a:ext cx="11052666" cy="5204666"/>
          </a:xfrm>
          <a:prstGeom prst="rect">
            <a:avLst/>
          </a:prstGeom>
          <a:ln>
            <a:solidFill>
              <a:srgbClr val="00B0F0"/>
            </a:solidFill>
          </a:ln>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40000"/>
              </a:lnSpc>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節點之間交換本地計算的傳遞信譽值，然後根據所有節點的傳遞信譽值計算全域信譽值</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marL="732600" indent="-372600">
              <a:lnSpc>
                <a:spcPct val="140000"/>
              </a:lnSpc>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 </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a:lnSpc>
                <a:spcPct val="140000"/>
              </a:lnSpc>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存在的問題：</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marL="732600" indent="-372600">
              <a:lnSpc>
                <a:spcPct val="140000"/>
              </a:lnSpc>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惡意節點可能上報錯誤的本地傳遞信譽值</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marL="360000" indent="0">
              <a:lnSpc>
                <a:spcPct val="140000"/>
              </a:lnSpc>
              <a:buNone/>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    解决方案：每個節點的傳遞信譽值都由多個節點進行計算，再根據多個節點</a:t>
            </a:r>
            <a:r>
              <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rPr>
              <a:t>		</a:t>
            </a: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     的計算結果選取最終的值</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marL="732600" indent="-372600">
              <a:lnSpc>
                <a:spcPct val="140000"/>
              </a:lnSpc>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惡意節點可能對不同節點上報不一樣的傳遞信譽值（協作過程中的信任問題）</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marL="360000" indent="0">
              <a:lnSpc>
                <a:spcPct val="140000"/>
              </a:lnSpc>
              <a:buNone/>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    解决方案：基于</a:t>
            </a:r>
            <a:r>
              <a:rPr lang="zh-CN" altLang="en-US" sz="24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拜占庭容錯算法</a:t>
            </a: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實現信譽值的廣播</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graphicFrame>
        <p:nvGraphicFramePr>
          <p:cNvPr id="9" name="Object 4">
            <a:extLst>
              <a:ext uri="{FF2B5EF4-FFF2-40B4-BE49-F238E27FC236}">
                <a16:creationId xmlns:a16="http://schemas.microsoft.com/office/drawing/2014/main" id="{EB9BCC16-55BA-BA4F-AEA9-7DBEBCC9816A}"/>
              </a:ext>
            </a:extLst>
          </p:cNvPr>
          <p:cNvGraphicFramePr>
            <a:graphicFrameLocks noChangeAspect="1"/>
          </p:cNvGraphicFramePr>
          <p:nvPr>
            <p:extLst>
              <p:ext uri="{D42A27DB-BD31-4B8C-83A1-F6EECF244321}">
                <p14:modId xmlns:p14="http://schemas.microsoft.com/office/powerpoint/2010/main" val="1577238553"/>
              </p:ext>
            </p:extLst>
          </p:nvPr>
        </p:nvGraphicFramePr>
        <p:xfrm>
          <a:off x="1632517" y="2303952"/>
          <a:ext cx="5501513" cy="538571"/>
        </p:xfrm>
        <a:graphic>
          <a:graphicData uri="http://schemas.openxmlformats.org/presentationml/2006/ole">
            <mc:AlternateContent xmlns:mc="http://schemas.openxmlformats.org/markup-compatibility/2006">
              <mc:Choice xmlns:v="urn:schemas-microsoft-com:vml" Requires="v">
                <p:oleObj name="Equation" r:id="rId2" imgW="52666900" imgH="5562600" progId="Equation.3">
                  <p:embed/>
                </p:oleObj>
              </mc:Choice>
              <mc:Fallback>
                <p:oleObj name="Equation" r:id="rId2" imgW="52666900" imgH="5562600" progId="Equation.3">
                  <p:embed/>
                  <p:pic>
                    <p:nvPicPr>
                      <p:cNvPr id="9" name="Object 4">
                        <a:extLst>
                          <a:ext uri="{FF2B5EF4-FFF2-40B4-BE49-F238E27FC236}">
                            <a16:creationId xmlns:a16="http://schemas.microsoft.com/office/drawing/2014/main" id="{EB9BCC16-55BA-BA4F-AEA9-7DBEBCC981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2517" y="2303952"/>
                        <a:ext cx="5501513" cy="538571"/>
                      </a:xfrm>
                      <a:prstGeom prst="rect">
                        <a:avLst/>
                      </a:prstGeom>
                      <a:noFill/>
                      <a:ln>
                        <a:noFill/>
                      </a:ln>
                      <a:effectLst/>
                    </p:spPr>
                  </p:pic>
                </p:oleObj>
              </mc:Fallback>
            </mc:AlternateContent>
          </a:graphicData>
        </a:graphic>
      </p:graphicFrame>
      <p:sp>
        <p:nvSpPr>
          <p:cNvPr id="5" name="灯片编号占位符 2">
            <a:extLst>
              <a:ext uri="{FF2B5EF4-FFF2-40B4-BE49-F238E27FC236}">
                <a16:creationId xmlns:a16="http://schemas.microsoft.com/office/drawing/2014/main" id="{917C361A-5B04-1549-A9B3-D698A7C819B3}"/>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88</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326444388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kumimoji="1" lang="zh-CN" altLang="en-US" sz="4000" dirty="0"/>
              <a:t>拜占庭將軍問題</a:t>
            </a:r>
          </a:p>
        </p:txBody>
      </p:sp>
      <p:pic>
        <p:nvPicPr>
          <p:cNvPr id="14" name="图片 13">
            <a:extLst>
              <a:ext uri="{FF2B5EF4-FFF2-40B4-BE49-F238E27FC236}">
                <a16:creationId xmlns:a16="http://schemas.microsoft.com/office/drawing/2014/main" id="{5713A0DA-6E81-324E-A4E2-0FC1FDF1653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60377" y="3442898"/>
            <a:ext cx="8871246" cy="3238741"/>
          </a:xfrm>
          <a:prstGeom prst="rect">
            <a:avLst/>
          </a:prstGeom>
        </p:spPr>
      </p:pic>
      <p:grpSp>
        <p:nvGrpSpPr>
          <p:cNvPr id="3" name="组合 2">
            <a:extLst>
              <a:ext uri="{FF2B5EF4-FFF2-40B4-BE49-F238E27FC236}">
                <a16:creationId xmlns:a16="http://schemas.microsoft.com/office/drawing/2014/main" id="{628A9FDC-0673-4443-A1D3-AAAE4AE8A9D6}"/>
              </a:ext>
            </a:extLst>
          </p:cNvPr>
          <p:cNvGrpSpPr/>
          <p:nvPr/>
        </p:nvGrpSpPr>
        <p:grpSpPr>
          <a:xfrm>
            <a:off x="929901" y="1022889"/>
            <a:ext cx="10595350" cy="2200759"/>
            <a:chOff x="695602" y="1039004"/>
            <a:chExt cx="5633944" cy="4227974"/>
          </a:xfrm>
        </p:grpSpPr>
        <p:sp>
          <p:nvSpPr>
            <p:cNvPr id="17" name="矩形 16">
              <a:extLst>
                <a:ext uri="{FF2B5EF4-FFF2-40B4-BE49-F238E27FC236}">
                  <a16:creationId xmlns:a16="http://schemas.microsoft.com/office/drawing/2014/main" id="{726984EC-6C0F-0143-B359-DC487A001F92}"/>
                </a:ext>
              </a:extLst>
            </p:cNvPr>
            <p:cNvSpPr/>
            <p:nvPr/>
          </p:nvSpPr>
          <p:spPr bwMode="auto">
            <a:xfrm>
              <a:off x="695602" y="1039004"/>
              <a:ext cx="5633944" cy="4168427"/>
            </a:xfrm>
            <a:prstGeom prst="rect">
              <a:avLst/>
            </a:prstGeom>
            <a:solidFill>
              <a:srgbClr val="FFFFFF"/>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marL="285750" indent="-285750" algn="just">
                <a:lnSpc>
                  <a:spcPct val="125000"/>
                </a:lnSpc>
                <a:buFont typeface="Arial" panose="020B0604020202020204" pitchFamily="34" charset="0"/>
                <a:buChar char="•"/>
                <a:defRPr/>
              </a:pPr>
              <a:endParaRPr lang="en-US" sz="1600" kern="0"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18" name="内容占位符 2">
              <a:extLst>
                <a:ext uri="{FF2B5EF4-FFF2-40B4-BE49-F238E27FC236}">
                  <a16:creationId xmlns:a16="http://schemas.microsoft.com/office/drawing/2014/main" id="{645F748B-F86B-A84B-B23B-DF140F2E3ED5}"/>
                </a:ext>
              </a:extLst>
            </p:cNvPr>
            <p:cNvSpPr txBox="1"/>
            <p:nvPr/>
          </p:nvSpPr>
          <p:spPr>
            <a:xfrm>
              <a:off x="695602" y="1242716"/>
              <a:ext cx="5633944" cy="40242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3200"/>
                </a:lnSpc>
                <a:spcAft>
                  <a:spcPts val="1200"/>
                </a:spcAft>
                <a:defRPr/>
              </a:pPr>
              <a:r>
                <a:rPr kumimoji="1" lang="zh-CN" altLang="en-US" sz="2400" b="1" dirty="0">
                  <a:latin typeface="Microsoft YaHei" panose="020B0503020204020204" pitchFamily="34" charset="-122"/>
                  <a:ea typeface="Microsoft YaHei" panose="020B0503020204020204" pitchFamily="34" charset="-122"/>
                </a:rPr>
                <a:t>背景：</a:t>
              </a:r>
              <a:r>
                <a:rPr kumimoji="1" lang="zh-CN" altLang="en-US" sz="2400" dirty="0">
                  <a:latin typeface="Microsoft YaHei" panose="020B0503020204020204" pitchFamily="34" charset="-122"/>
                  <a:ea typeface="Microsoft YaHei" panose="020B0503020204020204" pitchFamily="34" charset="-122"/>
                </a:rPr>
                <a:t>拜占庭羅馬帝國疆域遼闊，許多將軍守衛疆土；戰時，部隊相隔遠，只能靠信差傳遞消息；至少超過半數的將軍對是否共打敵人達成一致，否則失敗；內部可能存在叛徒</a:t>
              </a:r>
              <a:endParaRPr kumimoji="1" lang="en-US" altLang="zh-CN" sz="2400" dirty="0">
                <a:latin typeface="Microsoft YaHei" panose="020B0503020204020204" pitchFamily="34" charset="-122"/>
                <a:ea typeface="Microsoft YaHei" panose="020B0503020204020204" pitchFamily="34" charset="-122"/>
              </a:endParaRPr>
            </a:p>
            <a:p>
              <a:pPr algn="just">
                <a:lnSpc>
                  <a:spcPts val="3200"/>
                </a:lnSpc>
                <a:spcBef>
                  <a:spcPts val="0"/>
                </a:spcBef>
                <a:spcAft>
                  <a:spcPts val="1200"/>
                </a:spcAft>
              </a:pPr>
              <a:r>
                <a:rPr kumimoji="1" lang="zh-CN" altLang="en-US" sz="2400" b="1" dirty="0">
                  <a:latin typeface="Microsoft YaHei" panose="020B0503020204020204" pitchFamily="34" charset="-122"/>
                  <a:ea typeface="Microsoft YaHei" panose="020B0503020204020204" pitchFamily="34" charset="-122"/>
                </a:rPr>
                <a:t>問題：</a:t>
              </a:r>
              <a:r>
                <a:rPr kumimoji="1" lang="zh-CN" altLang="en-US" sz="2400" dirty="0">
                  <a:latin typeface="Microsoft YaHei" panose="020B0503020204020204" pitchFamily="34" charset="-122"/>
                  <a:ea typeface="Microsoft YaHei" panose="020B0503020204020204" pitchFamily="34" charset="-122"/>
                </a:rPr>
                <a:t>存在叛徒時，忠誠的將軍們如何達成共識</a:t>
              </a:r>
              <a:endParaRPr kumimoji="1" lang="en-US" altLang="zh-CN" sz="2400" dirty="0">
                <a:latin typeface="Microsoft YaHei" panose="020B0503020204020204" pitchFamily="34" charset="-122"/>
                <a:ea typeface="Microsoft YaHei" panose="020B0503020204020204" pitchFamily="34" charset="-122"/>
              </a:endParaRPr>
            </a:p>
          </p:txBody>
        </p:sp>
      </p:grpSp>
      <p:sp>
        <p:nvSpPr>
          <p:cNvPr id="7" name="灯片编号占位符 2">
            <a:extLst>
              <a:ext uri="{FF2B5EF4-FFF2-40B4-BE49-F238E27FC236}">
                <a16:creationId xmlns:a16="http://schemas.microsoft.com/office/drawing/2014/main" id="{45342693-DC80-2D46-B163-03136DE72D77}"/>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89</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65831579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C80EA65C-B73C-8C42-AD13-FCA55497F6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8650" y="1565329"/>
            <a:ext cx="5799167" cy="3003425"/>
          </a:xfrm>
          <a:prstGeom prst="rect">
            <a:avLst/>
          </a:prstGeom>
        </p:spPr>
      </p:pic>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kumimoji="1" lang="zh-CN" altLang="en-US" sz="4000" dirty="0"/>
              <a:t>拜占庭將軍問題</a:t>
            </a:r>
          </a:p>
        </p:txBody>
      </p:sp>
      <p:sp>
        <p:nvSpPr>
          <p:cNvPr id="21" name="内容占位符 2">
            <a:extLst>
              <a:ext uri="{FF2B5EF4-FFF2-40B4-BE49-F238E27FC236}">
                <a16:creationId xmlns:a16="http://schemas.microsoft.com/office/drawing/2014/main" id="{A2769F4A-8AB1-DA45-88F5-01AC10E929A0}"/>
              </a:ext>
            </a:extLst>
          </p:cNvPr>
          <p:cNvSpPr txBox="1"/>
          <p:nvPr/>
        </p:nvSpPr>
        <p:spPr>
          <a:xfrm>
            <a:off x="695601" y="1263517"/>
            <a:ext cx="5598873" cy="3627459"/>
          </a:xfrm>
          <a:prstGeom prst="rect">
            <a:avLst/>
          </a:prstGeom>
          <a:ln>
            <a:solidFill>
              <a:srgbClr val="00B0F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3200"/>
              </a:lnSpc>
              <a:spcBef>
                <a:spcPts val="600"/>
              </a:spcBef>
              <a:spcAft>
                <a:spcPts val="600"/>
              </a:spcAft>
            </a:pPr>
            <a:r>
              <a:rPr kumimoji="0"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概念：</a:t>
            </a:r>
            <a:r>
              <a:rPr kumimoji="1" lang="zh-CN" altLang="en-US" sz="2400" dirty="0">
                <a:solidFill>
                  <a:schemeClr val="tx1">
                    <a:lumMod val="75000"/>
                    <a:lumOff val="25000"/>
                  </a:schemeClr>
                </a:solidFill>
                <a:latin typeface="Microsoft YaHei" panose="020B0503020204020204" pitchFamily="34" charset="-122"/>
                <a:ea typeface="Microsoft YaHei" panose="020B0503020204020204" pitchFamily="34" charset="-122"/>
              </a:rPr>
              <a:t>將軍 等價于 計算機系統的部件</a:t>
            </a:r>
            <a:endParaRPr kumimoji="1" lang="en-US" altLang="zh-CN" sz="2400" dirty="0">
              <a:solidFill>
                <a:schemeClr val="tx1">
                  <a:lumMod val="75000"/>
                  <a:lumOff val="25000"/>
                </a:schemeClr>
              </a:solidFill>
              <a:latin typeface="Microsoft YaHei" panose="020B0503020204020204" pitchFamily="34" charset="-122"/>
              <a:ea typeface="Microsoft YaHei" panose="020B0503020204020204" pitchFamily="34" charset="-122"/>
            </a:endParaRPr>
          </a:p>
          <a:p>
            <a:pPr>
              <a:lnSpc>
                <a:spcPts val="3200"/>
              </a:lnSpc>
              <a:spcBef>
                <a:spcPts val="600"/>
              </a:spcBef>
              <a:spcAft>
                <a:spcPts val="600"/>
              </a:spcAft>
            </a:pPr>
            <a:r>
              <a:rPr kumimoji="1" lang="zh-CN" altLang="en-US" sz="2400" b="1" dirty="0">
                <a:solidFill>
                  <a:srgbClr val="C00000"/>
                </a:solidFill>
                <a:latin typeface="Microsoft YaHei" panose="020B0503020204020204" pitchFamily="34" charset="-122"/>
                <a:ea typeface="Microsoft YaHei" panose="020B0503020204020204" pitchFamily="34" charset="-122"/>
              </a:rPr>
              <a:t>問題抽象：</a:t>
            </a:r>
            <a:endParaRPr kumimoji="1" lang="en-US" altLang="zh-CN" sz="2400" b="1" dirty="0">
              <a:solidFill>
                <a:srgbClr val="C00000"/>
              </a:solidFill>
              <a:latin typeface="Microsoft YaHei" panose="020B0503020204020204" pitchFamily="34" charset="-122"/>
              <a:ea typeface="Microsoft YaHei" panose="020B0503020204020204" pitchFamily="34" charset="-122"/>
            </a:endParaRPr>
          </a:p>
          <a:p>
            <a:pPr marL="576900" indent="-342900">
              <a:lnSpc>
                <a:spcPts val="3200"/>
              </a:lnSpc>
              <a:spcBef>
                <a:spcPts val="600"/>
              </a:spcBef>
              <a:spcAft>
                <a:spcPts val="600"/>
              </a:spcAft>
            </a:pPr>
            <a:r>
              <a:rPr kumimoji="1" lang="zh-CN" altLang="en-US" sz="2400" dirty="0">
                <a:latin typeface="Microsoft YaHei" panose="020B0503020204020204" pitchFamily="34" charset="-122"/>
                <a:ea typeface="Microsoft YaHei" panose="020B0503020204020204" pitchFamily="34" charset="-122"/>
              </a:rPr>
              <a:t>每個部隊由一個將軍領導</a:t>
            </a:r>
            <a:endParaRPr kumimoji="1" lang="en-US" altLang="zh-CN" sz="2400" dirty="0">
              <a:latin typeface="Microsoft YaHei" panose="020B0503020204020204" pitchFamily="34" charset="-122"/>
              <a:ea typeface="Microsoft YaHei" panose="020B0503020204020204" pitchFamily="34" charset="-122"/>
            </a:endParaRPr>
          </a:p>
          <a:p>
            <a:pPr marL="576900" indent="-342900">
              <a:lnSpc>
                <a:spcPts val="3200"/>
              </a:lnSpc>
              <a:spcBef>
                <a:spcPts val="600"/>
              </a:spcBef>
              <a:spcAft>
                <a:spcPts val="600"/>
              </a:spcAft>
            </a:pPr>
            <a:r>
              <a:rPr kumimoji="1" lang="zh-CN" altLang="en-US" sz="2400" dirty="0">
                <a:latin typeface="Microsoft YaHei" panose="020B0503020204020204" pitchFamily="34" charset="-122"/>
                <a:ea typeface="Microsoft YaHei" panose="020B0503020204020204" pitchFamily="34" charset="-122"/>
              </a:rPr>
              <a:t>一共有</a:t>
            </a:r>
            <a:r>
              <a:rPr kumimoji="1" lang="en-US" altLang="zh-CN" sz="2400" dirty="0">
                <a:latin typeface="Microsoft YaHei" panose="020B0503020204020204" pitchFamily="34" charset="-122"/>
                <a:ea typeface="Microsoft YaHei" panose="020B0503020204020204" pitchFamily="34" charset="-122"/>
              </a:rPr>
              <a:t>n</a:t>
            </a:r>
            <a:r>
              <a:rPr kumimoji="1" lang="zh-CN" altLang="en-US" sz="2400" dirty="0">
                <a:latin typeface="Microsoft YaHei" panose="020B0503020204020204" pitchFamily="34" charset="-122"/>
                <a:ea typeface="Microsoft YaHei" panose="020B0503020204020204" pitchFamily="34" charset="-122"/>
              </a:rPr>
              <a:t>個將軍，其中一些是叛徒</a:t>
            </a:r>
            <a:endParaRPr kumimoji="1" lang="en-US" altLang="zh-CN" sz="2400" dirty="0">
              <a:latin typeface="Microsoft YaHei" panose="020B0503020204020204" pitchFamily="34" charset="-122"/>
              <a:ea typeface="Microsoft YaHei" panose="020B0503020204020204" pitchFamily="34" charset="-122"/>
            </a:endParaRPr>
          </a:p>
          <a:p>
            <a:pPr marL="576900" indent="-342900">
              <a:lnSpc>
                <a:spcPts val="3200"/>
              </a:lnSpc>
              <a:spcBef>
                <a:spcPts val="600"/>
              </a:spcBef>
              <a:spcAft>
                <a:spcPts val="600"/>
              </a:spcAft>
            </a:pPr>
            <a:r>
              <a:rPr kumimoji="1" lang="zh-CN" altLang="en-US" sz="2400" dirty="0">
                <a:latin typeface="Microsoft YaHei" panose="020B0503020204020204" pitchFamily="34" charset="-122"/>
                <a:ea typeface="Microsoft YaHei" panose="020B0503020204020204" pitchFamily="34" charset="-122"/>
              </a:rPr>
              <a:t>所有軍隊將敵方包圍，觀察敵軍</a:t>
            </a:r>
            <a:endParaRPr kumimoji="1" lang="en-US" altLang="zh-CN" sz="2400" dirty="0">
              <a:latin typeface="Microsoft YaHei" panose="020B0503020204020204" pitchFamily="34" charset="-122"/>
              <a:ea typeface="Microsoft YaHei" panose="020B0503020204020204" pitchFamily="34" charset="-122"/>
            </a:endParaRPr>
          </a:p>
          <a:p>
            <a:pPr marL="576900" indent="-342900">
              <a:lnSpc>
                <a:spcPts val="3200"/>
              </a:lnSpc>
              <a:spcBef>
                <a:spcPts val="600"/>
              </a:spcBef>
              <a:spcAft>
                <a:spcPts val="600"/>
              </a:spcAft>
            </a:pPr>
            <a:r>
              <a:rPr kumimoji="1" lang="zh-CN" altLang="en-US" sz="2400" dirty="0">
                <a:latin typeface="Microsoft YaHei" panose="020B0503020204020204" pitchFamily="34" charset="-122"/>
                <a:ea typeface="Microsoft YaHei" panose="020B0503020204020204" pitchFamily="34" charset="-122"/>
              </a:rPr>
              <a:t>將軍間靠通信兵交流 </a:t>
            </a:r>
            <a:endParaRPr kumimoji="1" lang="en-US" altLang="zh-CN" sz="2400" dirty="0">
              <a:latin typeface="Microsoft YaHei" panose="020B0503020204020204" pitchFamily="34" charset="-122"/>
              <a:ea typeface="Microsoft YaHei" panose="020B0503020204020204" pitchFamily="34" charset="-122"/>
            </a:endParaRPr>
          </a:p>
          <a:p>
            <a:pPr>
              <a:spcBef>
                <a:spcPts val="0"/>
              </a:spcBef>
            </a:pPr>
            <a:endParaRPr kumimoji="1" lang="en-US" altLang="zh-CN" sz="2000" dirty="0">
              <a:latin typeface="Microsoft YaHei" panose="020B0503020204020204" pitchFamily="34" charset="-122"/>
              <a:ea typeface="Microsoft YaHei" panose="020B0503020204020204" pitchFamily="34" charset="-122"/>
            </a:endParaRPr>
          </a:p>
          <a:p>
            <a:pPr>
              <a:spcBef>
                <a:spcPts val="0"/>
              </a:spcBef>
            </a:pPr>
            <a:endParaRPr kumimoji="1" lang="en-US" altLang="zh-CN" sz="2000" dirty="0">
              <a:latin typeface="Microsoft YaHei" panose="020B0503020204020204" pitchFamily="34" charset="-122"/>
              <a:ea typeface="Microsoft YaHei" panose="020B0503020204020204" pitchFamily="34" charset="-122"/>
            </a:endParaRPr>
          </a:p>
          <a:p>
            <a:pPr algn="ctr">
              <a:defRPr/>
            </a:pPr>
            <a:endParaRPr kumimoji="0" lang="en-US" altLang="zh-CN" sz="2000" b="1"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6" name="文本框 5">
            <a:extLst>
              <a:ext uri="{FF2B5EF4-FFF2-40B4-BE49-F238E27FC236}">
                <a16:creationId xmlns:a16="http://schemas.microsoft.com/office/drawing/2014/main" id="{7CBCCB4F-F0E5-C442-996C-32A21D7B7068}"/>
              </a:ext>
            </a:extLst>
          </p:cNvPr>
          <p:cNvSpPr txBox="1"/>
          <p:nvPr/>
        </p:nvSpPr>
        <p:spPr>
          <a:xfrm>
            <a:off x="695599" y="5189037"/>
            <a:ext cx="10774157" cy="1447960"/>
          </a:xfrm>
          <a:prstGeom prst="rect">
            <a:avLst/>
          </a:prstGeom>
          <a:noFill/>
          <a:ln>
            <a:solidFill>
              <a:srgbClr val="00B0F0"/>
            </a:solidFill>
          </a:ln>
        </p:spPr>
        <p:txBody>
          <a:bodyPr wrap="square">
            <a:spAutoFit/>
          </a:bodyPr>
          <a:lstStyle/>
          <a:p>
            <a:pPr marL="342900" indent="-342900">
              <a:lnSpc>
                <a:spcPts val="3200"/>
              </a:lnSpc>
              <a:spcBef>
                <a:spcPts val="600"/>
              </a:spcBef>
              <a:spcAft>
                <a:spcPts val="600"/>
              </a:spcAft>
              <a:buFont typeface="Arial" panose="020B0604020202020204" pitchFamily="34" charset="0"/>
              <a:buChar char="•"/>
            </a:pPr>
            <a:r>
              <a:rPr kumimoji="1" lang="zh-CN" altLang="en-US" sz="2400" b="1" dirty="0">
                <a:solidFill>
                  <a:srgbClr val="C00000"/>
                </a:solidFill>
                <a:latin typeface="Microsoft YaHei" panose="020B0503020204020204" pitchFamily="34" charset="-122"/>
                <a:ea typeface="Microsoft YaHei" panose="020B0503020204020204" pitchFamily="34" charset="-122"/>
              </a:rPr>
              <a:t>目標：</a:t>
            </a:r>
            <a:r>
              <a:rPr kumimoji="1" lang="zh-CN" altLang="en-US" sz="2400" dirty="0">
                <a:latin typeface="Microsoft YaHei" panose="020B0503020204020204" pitchFamily="34" charset="-122"/>
                <a:ea typeface="Microsoft YaHei" panose="020B0503020204020204" pitchFamily="34" charset="-122"/>
              </a:rPr>
              <a:t>存在所有忠誠的將軍采取</a:t>
            </a:r>
            <a:r>
              <a:rPr kumimoji="1" lang="zh-CN" altLang="en-US" sz="2400" b="1" dirty="0">
                <a:solidFill>
                  <a:srgbClr val="C00000"/>
                </a:solidFill>
                <a:latin typeface="Microsoft YaHei" panose="020B0503020204020204" pitchFamily="34" charset="-122"/>
                <a:ea typeface="Microsoft YaHei" panose="020B0503020204020204" pitchFamily="34" charset="-122"/>
              </a:rPr>
              <a:t>同樣</a:t>
            </a:r>
            <a:r>
              <a:rPr kumimoji="1" lang="zh-CN" altLang="en-US" sz="2400" dirty="0">
                <a:latin typeface="Microsoft YaHei" panose="020B0503020204020204" pitchFamily="34" charset="-122"/>
                <a:ea typeface="Microsoft YaHei" panose="020B0503020204020204" pitchFamily="34" charset="-122"/>
              </a:rPr>
              <a:t>的行動；</a:t>
            </a:r>
            <a:r>
              <a:rPr kumimoji="1" lang="zh-CN" altLang="en-US" sz="2400" b="1" dirty="0">
                <a:solidFill>
                  <a:srgbClr val="C00000"/>
                </a:solidFill>
                <a:latin typeface="Microsoft YaHei" panose="020B0503020204020204" pitchFamily="34" charset="-122"/>
                <a:ea typeface="Microsoft YaHei" panose="020B0503020204020204" pitchFamily="34" charset="-122"/>
              </a:rPr>
              <a:t>少量</a:t>
            </a:r>
            <a:r>
              <a:rPr kumimoji="1" lang="zh-CN" altLang="en-US" sz="2400" dirty="0">
                <a:latin typeface="Microsoft YaHei" panose="020B0503020204020204" pitchFamily="34" charset="-122"/>
                <a:ea typeface="Microsoft YaHei" panose="020B0503020204020204" pitchFamily="34" charset="-122"/>
              </a:rPr>
              <a:t>叛徒無法使誠實的將軍們接受一個</a:t>
            </a:r>
            <a:r>
              <a:rPr kumimoji="1" lang="zh-CN" altLang="en-US" sz="2400" b="1" dirty="0">
                <a:solidFill>
                  <a:srgbClr val="C00000"/>
                </a:solidFill>
                <a:latin typeface="Microsoft YaHei" panose="020B0503020204020204" pitchFamily="34" charset="-122"/>
                <a:ea typeface="Microsoft YaHei" panose="020B0503020204020204" pitchFamily="34" charset="-122"/>
              </a:rPr>
              <a:t>壞</a:t>
            </a:r>
            <a:r>
              <a:rPr kumimoji="1" lang="zh-CN" altLang="en-US" sz="2400" dirty="0">
                <a:latin typeface="Microsoft YaHei" panose="020B0503020204020204" pitchFamily="34" charset="-122"/>
                <a:ea typeface="Microsoft YaHei" panose="020B0503020204020204" pitchFamily="34" charset="-122"/>
              </a:rPr>
              <a:t>的計劃</a:t>
            </a:r>
            <a:endParaRPr kumimoji="1" lang="en-US" altLang="zh-CN" sz="2400" dirty="0">
              <a:latin typeface="Microsoft YaHei" panose="020B0503020204020204" pitchFamily="34" charset="-122"/>
              <a:ea typeface="Microsoft YaHei" panose="020B0503020204020204" pitchFamily="34" charset="-122"/>
            </a:endParaRPr>
          </a:p>
          <a:p>
            <a:pPr marL="342900" indent="-342900">
              <a:lnSpc>
                <a:spcPts val="3200"/>
              </a:lnSpc>
              <a:spcBef>
                <a:spcPts val="600"/>
              </a:spcBef>
              <a:spcAft>
                <a:spcPts val="600"/>
              </a:spcAft>
              <a:buFont typeface="Arial" panose="020B0604020202020204" pitchFamily="34" charset="0"/>
              <a:buChar char="•"/>
            </a:pPr>
            <a:r>
              <a:rPr kumimoji="1" lang="zh-CN" altLang="en-US" sz="2400" b="1" dirty="0">
                <a:solidFill>
                  <a:srgbClr val="C00000"/>
                </a:solidFill>
                <a:latin typeface="Microsoft YaHei" panose="020B0503020204020204" pitchFamily="34" charset="-122"/>
                <a:ea typeface="Microsoft YaHei" panose="020B0503020204020204" pitchFamily="34" charset="-122"/>
              </a:rPr>
              <a:t>注意：</a:t>
            </a:r>
            <a:r>
              <a:rPr kumimoji="1" lang="zh-CN" altLang="en-US" sz="2400" dirty="0">
                <a:latin typeface="Microsoft YaHei" panose="020B0503020204020204" pitchFamily="34" charset="-122"/>
                <a:ea typeface="Microsoft YaHei" panose="020B0503020204020204" pitchFamily="34" charset="-122"/>
              </a:rPr>
              <a:t>不必識別出叛徒</a:t>
            </a:r>
            <a:endParaRPr kumimoji="1" lang="en-US" altLang="zh-CN" sz="2400" dirty="0">
              <a:latin typeface="Microsoft YaHei" panose="020B0503020204020204" pitchFamily="34" charset="-122"/>
              <a:ea typeface="Microsoft YaHei" panose="020B0503020204020204" pitchFamily="34" charset="-122"/>
            </a:endParaRPr>
          </a:p>
        </p:txBody>
      </p:sp>
      <p:sp>
        <p:nvSpPr>
          <p:cNvPr id="7" name="灯片编号占位符 2">
            <a:extLst>
              <a:ext uri="{FF2B5EF4-FFF2-40B4-BE49-F238E27FC236}">
                <a16:creationId xmlns:a16="http://schemas.microsoft.com/office/drawing/2014/main" id="{C4703BB7-C1CA-7C47-984D-E2A07E472DFD}"/>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90</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50914870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kumimoji="1" lang="zh-CN" altLang="en-US" sz="4000" dirty="0"/>
              <a:t>拜占庭將軍問題</a:t>
            </a:r>
          </a:p>
        </p:txBody>
      </p:sp>
      <p:pic>
        <p:nvPicPr>
          <p:cNvPr id="4" name="图片 3">
            <a:extLst>
              <a:ext uri="{FF2B5EF4-FFF2-40B4-BE49-F238E27FC236}">
                <a16:creationId xmlns:a16="http://schemas.microsoft.com/office/drawing/2014/main" id="{078122D9-8D7A-4FA6-8D9E-AC569AFAA5B4}"/>
              </a:ext>
            </a:extLst>
          </p:cNvPr>
          <p:cNvPicPr>
            <a:picLocks noChangeAspect="1"/>
          </p:cNvPicPr>
          <p:nvPr/>
        </p:nvPicPr>
        <p:blipFill>
          <a:blip r:embed="rId3"/>
          <a:stretch>
            <a:fillRect/>
          </a:stretch>
        </p:blipFill>
        <p:spPr>
          <a:xfrm>
            <a:off x="528156" y="905708"/>
            <a:ext cx="5104263" cy="5815767"/>
          </a:xfrm>
          <a:prstGeom prst="rect">
            <a:avLst/>
          </a:prstGeom>
          <a:ln w="25400">
            <a:solidFill>
              <a:schemeClr val="accent3"/>
            </a:solidFill>
          </a:ln>
          <a:effectLst/>
        </p:spPr>
      </p:pic>
      <p:sp>
        <p:nvSpPr>
          <p:cNvPr id="5" name="矩形 4">
            <a:extLst>
              <a:ext uri="{FF2B5EF4-FFF2-40B4-BE49-F238E27FC236}">
                <a16:creationId xmlns:a16="http://schemas.microsoft.com/office/drawing/2014/main" id="{3EE683C8-4D17-41AB-B602-F514C00C798A}"/>
              </a:ext>
            </a:extLst>
          </p:cNvPr>
          <p:cNvSpPr/>
          <p:nvPr/>
        </p:nvSpPr>
        <p:spPr>
          <a:xfrm>
            <a:off x="783358" y="6202907"/>
            <a:ext cx="4593860" cy="204717"/>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a:extLst>
              <a:ext uri="{FF2B5EF4-FFF2-40B4-BE49-F238E27FC236}">
                <a16:creationId xmlns:a16="http://schemas.microsoft.com/office/drawing/2014/main" id="{FA4E9C49-3A49-4451-900C-9C611A6B37D0}"/>
              </a:ext>
            </a:extLst>
          </p:cNvPr>
          <p:cNvPicPr>
            <a:picLocks noChangeAspect="1"/>
          </p:cNvPicPr>
          <p:nvPr/>
        </p:nvPicPr>
        <p:blipFill>
          <a:blip r:embed="rId4"/>
          <a:stretch>
            <a:fillRect/>
          </a:stretch>
        </p:blipFill>
        <p:spPr>
          <a:xfrm>
            <a:off x="5796501" y="4561298"/>
            <a:ext cx="5377521" cy="1357432"/>
          </a:xfrm>
          <a:prstGeom prst="rect">
            <a:avLst/>
          </a:prstGeom>
        </p:spPr>
      </p:pic>
      <p:pic>
        <p:nvPicPr>
          <p:cNvPr id="10" name="图片 9">
            <a:extLst>
              <a:ext uri="{FF2B5EF4-FFF2-40B4-BE49-F238E27FC236}">
                <a16:creationId xmlns:a16="http://schemas.microsoft.com/office/drawing/2014/main" id="{EE4D2221-29F6-4954-AE73-3204EA0993D5}"/>
              </a:ext>
            </a:extLst>
          </p:cNvPr>
          <p:cNvPicPr>
            <a:picLocks noChangeAspect="1"/>
          </p:cNvPicPr>
          <p:nvPr/>
        </p:nvPicPr>
        <p:blipFill>
          <a:blip r:embed="rId5"/>
          <a:stretch>
            <a:fillRect/>
          </a:stretch>
        </p:blipFill>
        <p:spPr>
          <a:xfrm>
            <a:off x="7668506" y="1383741"/>
            <a:ext cx="2665680" cy="199392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1" name="矩形 10">
            <a:extLst>
              <a:ext uri="{FF2B5EF4-FFF2-40B4-BE49-F238E27FC236}">
                <a16:creationId xmlns:a16="http://schemas.microsoft.com/office/drawing/2014/main" id="{39D32663-20C3-4F8E-B467-8ECED0890F59}"/>
              </a:ext>
            </a:extLst>
          </p:cNvPr>
          <p:cNvSpPr/>
          <p:nvPr/>
        </p:nvSpPr>
        <p:spPr>
          <a:xfrm>
            <a:off x="7070189" y="3633876"/>
            <a:ext cx="3862315" cy="453457"/>
          </a:xfrm>
          <a:prstGeom prst="rect">
            <a:avLst/>
          </a:prstGeom>
          <a:effectLst/>
        </p:spPr>
        <p:txBody>
          <a:bodyPr wrap="square">
            <a:spAutoFit/>
          </a:bodyPr>
          <a:lstStyle/>
          <a:p>
            <a:pPr>
              <a:lnSpc>
                <a:spcPct val="130000"/>
              </a:lnSpc>
            </a:pPr>
            <a:r>
              <a:rPr lang="en" altLang="zh-CN" sz="2000" b="1" dirty="0">
                <a:latin typeface="Microsoft YaHei" panose="020B0503020204020204" pitchFamily="34" charset="-122"/>
                <a:ea typeface="Microsoft YaHei" panose="020B0503020204020204" pitchFamily="34" charset="-122"/>
              </a:rPr>
              <a:t>Leslie B. Lamport</a:t>
            </a:r>
            <a:endParaRPr lang="en-US" altLang="zh-CN" sz="2000" b="1" dirty="0">
              <a:latin typeface="Microsoft YaHei" panose="020B0503020204020204" pitchFamily="34" charset="-122"/>
              <a:ea typeface="Microsoft YaHei" panose="020B0503020204020204" pitchFamily="34" charset="-122"/>
            </a:endParaRPr>
          </a:p>
        </p:txBody>
      </p:sp>
      <p:sp>
        <p:nvSpPr>
          <p:cNvPr id="8" name="灯片编号占位符 2">
            <a:extLst>
              <a:ext uri="{FF2B5EF4-FFF2-40B4-BE49-F238E27FC236}">
                <a16:creationId xmlns:a16="http://schemas.microsoft.com/office/drawing/2014/main" id="{A38A943C-EC06-9B4B-8FE3-EA9A02CB3684}"/>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91</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396577753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lang="zh-CN" altLang="en-US" dirty="0"/>
              <a:t>問題定義</a:t>
            </a:r>
            <a:endParaRPr kumimoji="1" lang="zh-CN" altLang="en-US" sz="4000" dirty="0"/>
          </a:p>
        </p:txBody>
      </p:sp>
      <p:sp>
        <p:nvSpPr>
          <p:cNvPr id="5" name="内容占位符 3">
            <a:extLst>
              <a:ext uri="{FF2B5EF4-FFF2-40B4-BE49-F238E27FC236}">
                <a16:creationId xmlns:a16="http://schemas.microsoft.com/office/drawing/2014/main" id="{295558F9-63AD-4F18-963A-F3F3C79C0CA1}"/>
              </a:ext>
            </a:extLst>
          </p:cNvPr>
          <p:cNvSpPr txBox="1">
            <a:spLocks/>
          </p:cNvSpPr>
          <p:nvPr/>
        </p:nvSpPr>
        <p:spPr>
          <a:xfrm>
            <a:off x="982639" y="1278716"/>
            <a:ext cx="5822197" cy="5234606"/>
          </a:xfrm>
          <a:prstGeom prst="rect">
            <a:avLst/>
          </a:prstGeom>
          <a:ln>
            <a:solidFill>
              <a:srgbClr val="00B0F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ts val="3600"/>
              </a:lnSpc>
              <a:spcBef>
                <a:spcPts val="600"/>
              </a:spcBef>
              <a:spcAft>
                <a:spcPts val="600"/>
              </a:spcAft>
              <a:defRPr/>
            </a:pPr>
            <a:r>
              <a:rPr lang="zh-CN" altLang="en-US" sz="2400" b="0" dirty="0">
                <a:latin typeface="微软雅黑" panose="020B0503020204020204" pitchFamily="34" charset="-122"/>
                <a:ea typeface="微软雅黑" panose="020B0503020204020204" pitchFamily="34" charset="-122"/>
              </a:rPr>
              <a:t>拜占庭將軍問題的前提</a:t>
            </a:r>
            <a:endParaRPr lang="en-US" altLang="zh-CN" sz="2400" b="0" dirty="0">
              <a:latin typeface="微软雅黑" panose="020B0503020204020204" pitchFamily="34" charset="-122"/>
              <a:ea typeface="微软雅黑" panose="020B0503020204020204" pitchFamily="34" charset="-122"/>
            </a:endParaRPr>
          </a:p>
          <a:p>
            <a:pPr marL="800100" indent="-342900" fontAlgn="auto">
              <a:lnSpc>
                <a:spcPts val="3600"/>
              </a:lnSpc>
              <a:spcBef>
                <a:spcPts val="600"/>
              </a:spcBef>
              <a:spcAft>
                <a:spcPts val="600"/>
              </a:spcAft>
              <a:defRPr/>
            </a:pPr>
            <a:r>
              <a:rPr lang="zh-CN" altLang="en-US" sz="2400" b="0" dirty="0">
                <a:latin typeface="微软雅黑" panose="020B0503020204020204" pitchFamily="34" charset="-122"/>
                <a:ea typeface="微软雅黑" panose="020B0503020204020204" pitchFamily="34" charset="-122"/>
              </a:rPr>
              <a:t>可靠信道：信息可以準確無誤的傳達給接收方</a:t>
            </a:r>
            <a:endParaRPr lang="en-US" altLang="zh-CN" sz="2400" b="0" dirty="0">
              <a:latin typeface="微软雅黑" panose="020B0503020204020204" pitchFamily="34" charset="-122"/>
              <a:ea typeface="微软雅黑" panose="020B0503020204020204" pitchFamily="34" charset="-122"/>
            </a:endParaRPr>
          </a:p>
          <a:p>
            <a:pPr fontAlgn="auto">
              <a:lnSpc>
                <a:spcPts val="3600"/>
              </a:lnSpc>
              <a:spcBef>
                <a:spcPts val="600"/>
              </a:spcBef>
              <a:spcAft>
                <a:spcPts val="600"/>
              </a:spcAft>
              <a:defRPr/>
            </a:pPr>
            <a:r>
              <a:rPr lang="zh-CN" altLang="en-US" sz="2400" b="0" dirty="0">
                <a:latin typeface="微软雅黑" panose="020B0503020204020204" pitchFamily="34" charset="-122"/>
                <a:ea typeface="微软雅黑" panose="020B0503020204020204" pitchFamily="34" charset="-122"/>
              </a:rPr>
              <a:t>不可靠信道：兩軍問題</a:t>
            </a:r>
            <a:endParaRPr lang="en-US" altLang="zh-CN" sz="2400" b="0" dirty="0">
              <a:latin typeface="微软雅黑" panose="020B0503020204020204" pitchFamily="34" charset="-122"/>
              <a:ea typeface="微软雅黑" panose="020B0503020204020204" pitchFamily="34" charset="-122"/>
            </a:endParaRPr>
          </a:p>
          <a:p>
            <a:pPr marL="800100" indent="-342900" fontAlgn="auto">
              <a:lnSpc>
                <a:spcPts val="3600"/>
              </a:lnSpc>
              <a:spcBef>
                <a:spcPts val="600"/>
              </a:spcBef>
              <a:spcAft>
                <a:spcPts val="600"/>
              </a:spcAft>
              <a:defRPr/>
            </a:pPr>
            <a:r>
              <a:rPr lang="zh-CN" altLang="en-US" sz="2400" b="0" dirty="0">
                <a:latin typeface="微软雅黑" panose="020B0503020204020204" pitchFamily="34" charset="-122"/>
                <a:ea typeface="微软雅黑" panose="020B0503020204020204" pitchFamily="34" charset="-122"/>
              </a:rPr>
              <a:t>紅軍必須在同一時間攻打藍軍才能勝利</a:t>
            </a:r>
            <a:endParaRPr lang="en-US" altLang="zh-CN" sz="2400" b="0" dirty="0">
              <a:latin typeface="微软雅黑" panose="020B0503020204020204" pitchFamily="34" charset="-122"/>
              <a:ea typeface="微软雅黑" panose="020B0503020204020204" pitchFamily="34" charset="-122"/>
            </a:endParaRPr>
          </a:p>
          <a:p>
            <a:pPr marL="800100" indent="-342900" fontAlgn="auto">
              <a:lnSpc>
                <a:spcPts val="3600"/>
              </a:lnSpc>
              <a:spcBef>
                <a:spcPts val="600"/>
              </a:spcBef>
              <a:spcAft>
                <a:spcPts val="600"/>
              </a:spcAft>
              <a:defRPr/>
            </a:pPr>
            <a:r>
              <a:rPr lang="zh-CN" altLang="en-US" sz="2400" b="0" dirty="0">
                <a:latin typeface="微软雅黑" panose="020B0503020204020204" pitchFamily="34" charset="-122"/>
                <a:ea typeface="微软雅黑" panose="020B0503020204020204" pitchFamily="34" charset="-122"/>
              </a:rPr>
              <a:t>紅軍</a:t>
            </a:r>
            <a:r>
              <a:rPr lang="en-US" altLang="zh-CN" sz="2400" b="0" dirty="0">
                <a:latin typeface="微软雅黑" panose="020B0503020204020204" pitchFamily="34" charset="-122"/>
                <a:ea typeface="微软雅黑" panose="020B0503020204020204" pitchFamily="34" charset="-122"/>
              </a:rPr>
              <a:t>1</a:t>
            </a:r>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2</a:t>
            </a:r>
            <a:r>
              <a:rPr lang="zh-CN" altLang="en-US" sz="2400" b="0" dirty="0">
                <a:latin typeface="微软雅黑" panose="020B0503020204020204" pitchFamily="34" charset="-122"/>
                <a:ea typeface="微软雅黑" panose="020B0503020204020204" pitchFamily="34" charset="-122"/>
              </a:rPr>
              <a:t>通信必須經過藍軍區域，消息可能被截獲、篡改</a:t>
            </a:r>
            <a:endParaRPr lang="en-US" altLang="zh-CN" sz="2400" b="0" dirty="0">
              <a:latin typeface="微软雅黑" panose="020B0503020204020204" pitchFamily="34" charset="-122"/>
              <a:ea typeface="微软雅黑" panose="020B0503020204020204" pitchFamily="34" charset="-122"/>
            </a:endParaRPr>
          </a:p>
          <a:p>
            <a:pPr marL="800100" indent="-342900" fontAlgn="auto">
              <a:lnSpc>
                <a:spcPts val="3600"/>
              </a:lnSpc>
              <a:spcBef>
                <a:spcPts val="600"/>
              </a:spcBef>
              <a:spcAft>
                <a:spcPts val="600"/>
              </a:spcAft>
              <a:defRPr/>
            </a:pPr>
            <a:r>
              <a:rPr lang="zh-CN" altLang="en-US" sz="2400" b="0" dirty="0">
                <a:latin typeface="微软雅黑" panose="020B0503020204020204" pitchFamily="34" charset="-122"/>
                <a:ea typeface="微软雅黑" panose="020B0503020204020204" pitchFamily="34" charset="-122"/>
              </a:rPr>
              <a:t>如何確定攻打時間？</a:t>
            </a:r>
            <a:endParaRPr lang="en-US" altLang="zh-CN" sz="2400" b="0" dirty="0">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A209B50C-CF66-41B6-AD5F-F122AF3184B9}"/>
              </a:ext>
            </a:extLst>
          </p:cNvPr>
          <p:cNvSpPr/>
          <p:nvPr/>
        </p:nvSpPr>
        <p:spPr>
          <a:xfrm>
            <a:off x="8067785" y="2458357"/>
            <a:ext cx="936104" cy="28083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800" dirty="0"/>
              <a:t>紅軍</a:t>
            </a:r>
            <a:r>
              <a:rPr kumimoji="1" lang="en-US" altLang="zh-CN" sz="2800" dirty="0"/>
              <a:t>1</a:t>
            </a:r>
            <a:endParaRPr kumimoji="1" lang="zh-CN" altLang="en-US" sz="2800" dirty="0"/>
          </a:p>
        </p:txBody>
      </p:sp>
      <p:sp>
        <p:nvSpPr>
          <p:cNvPr id="7" name="矩形 6">
            <a:extLst>
              <a:ext uri="{FF2B5EF4-FFF2-40B4-BE49-F238E27FC236}">
                <a16:creationId xmlns:a16="http://schemas.microsoft.com/office/drawing/2014/main" id="{ADA36439-AA44-4361-BB1A-F66EC9EC8D86}"/>
              </a:ext>
            </a:extLst>
          </p:cNvPr>
          <p:cNvSpPr/>
          <p:nvPr/>
        </p:nvSpPr>
        <p:spPr>
          <a:xfrm>
            <a:off x="9939993" y="2465284"/>
            <a:ext cx="936104" cy="28083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800" dirty="0"/>
              <a:t>紅軍</a:t>
            </a:r>
            <a:r>
              <a:rPr kumimoji="1" lang="en-US" altLang="zh-CN" sz="2800" dirty="0"/>
              <a:t>2</a:t>
            </a:r>
            <a:endParaRPr kumimoji="1" lang="zh-CN" altLang="en-US" sz="2800" dirty="0"/>
          </a:p>
        </p:txBody>
      </p:sp>
      <p:sp>
        <p:nvSpPr>
          <p:cNvPr id="8" name="矩形 7">
            <a:extLst>
              <a:ext uri="{FF2B5EF4-FFF2-40B4-BE49-F238E27FC236}">
                <a16:creationId xmlns:a16="http://schemas.microsoft.com/office/drawing/2014/main" id="{94528DC7-0C65-4224-8E27-5899552B518D}"/>
              </a:ext>
            </a:extLst>
          </p:cNvPr>
          <p:cNvSpPr/>
          <p:nvPr/>
        </p:nvSpPr>
        <p:spPr>
          <a:xfrm>
            <a:off x="9003889" y="1558257"/>
            <a:ext cx="936104" cy="4608512"/>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800" dirty="0"/>
              <a:t>藍軍</a:t>
            </a:r>
          </a:p>
        </p:txBody>
      </p:sp>
      <p:sp>
        <p:nvSpPr>
          <p:cNvPr id="3" name="灯片编号占位符 2">
            <a:extLst>
              <a:ext uri="{FF2B5EF4-FFF2-40B4-BE49-F238E27FC236}">
                <a16:creationId xmlns:a16="http://schemas.microsoft.com/office/drawing/2014/main" id="{E3F74615-A403-4ABE-B0C3-74E2279056AC}"/>
              </a:ext>
            </a:extLst>
          </p:cNvPr>
          <p:cNvSpPr>
            <a:spLocks noGrp="1"/>
          </p:cNvSpPr>
          <p:nvPr>
            <p:ph type="sldNum" sz="quarter" idx="4"/>
          </p:nvPr>
        </p:nvSpPr>
        <p:spPr/>
        <p:txBody>
          <a:bodyPr/>
          <a:lstStyle/>
          <a:p>
            <a:fld id="{015CE2E0-6DDF-4FAE-9DBA-F1C48BF5C133}" type="slidenum">
              <a:rPr lang="zh-CN" altLang="en-US" smtClean="0"/>
              <a:t>92</a:t>
            </a:fld>
            <a:endParaRPr lang="zh-CN" altLang="en-US" dirty="0"/>
          </a:p>
        </p:txBody>
      </p:sp>
    </p:spTree>
    <p:extLst>
      <p:ext uri="{BB962C8B-B14F-4D97-AF65-F5344CB8AC3E}">
        <p14:creationId xmlns:p14="http://schemas.microsoft.com/office/powerpoint/2010/main" val="107581283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a:extLst>
              <a:ext uri="{FF2B5EF4-FFF2-40B4-BE49-F238E27FC236}">
                <a16:creationId xmlns:a16="http://schemas.microsoft.com/office/drawing/2014/main" id="{D69230B9-AC70-C348-A5B7-A9A46B44FB4A}"/>
              </a:ext>
            </a:extLst>
          </p:cNvPr>
          <p:cNvSpPr>
            <a:spLocks/>
          </p:cNvSpPr>
          <p:nvPr/>
        </p:nvSpPr>
        <p:spPr bwMode="auto">
          <a:xfrm>
            <a:off x="920596" y="1019403"/>
            <a:ext cx="10803666" cy="716384"/>
          </a:xfrm>
          <a:prstGeom prst="rect">
            <a:avLst/>
          </a:prstGeom>
          <a:solidFill>
            <a:srgbClr val="00B0F0"/>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fontAlgn="auto">
              <a:lnSpc>
                <a:spcPct val="120000"/>
              </a:lnSpc>
              <a:spcBef>
                <a:spcPts val="0"/>
              </a:spcBef>
              <a:spcAft>
                <a:spcPts val="0"/>
              </a:spcAft>
              <a:buNone/>
            </a:pPr>
            <a:r>
              <a:rPr kumimoji="1" lang="zh-CN" altLang="en-US" sz="2800" b="1" dirty="0">
                <a:solidFill>
                  <a:schemeClr val="bg1"/>
                </a:solidFill>
                <a:latin typeface="Microsoft YaHei" panose="020B0503020204020204" pitchFamily="34" charset="-122"/>
                <a:ea typeface="Microsoft YaHei" panose="020B0503020204020204" pitchFamily="34" charset="-122"/>
              </a:rPr>
              <a:t>前提條件：不可靠信道：兩軍問題； 結論：兩軍問題不可解</a:t>
            </a:r>
            <a:endParaRPr kumimoji="1" lang="en-US" altLang="zh-CN" sz="2400" b="1" dirty="0">
              <a:solidFill>
                <a:schemeClr val="bg1"/>
              </a:solidFill>
              <a:latin typeface="Microsoft YaHei" panose="020B0503020204020204" pitchFamily="34" charset="-122"/>
              <a:ea typeface="Microsoft YaHei" panose="020B0503020204020204" pitchFamily="34" charset="-122"/>
            </a:endParaRPr>
          </a:p>
        </p:txBody>
      </p:sp>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lang="zh-CN" altLang="en-US" dirty="0"/>
              <a:t>問題定義</a:t>
            </a:r>
            <a:endParaRPr kumimoji="1" lang="zh-CN" altLang="en-US" sz="4000" dirty="0"/>
          </a:p>
        </p:txBody>
      </p:sp>
      <p:sp>
        <p:nvSpPr>
          <p:cNvPr id="6" name="矩形 5">
            <a:extLst>
              <a:ext uri="{FF2B5EF4-FFF2-40B4-BE49-F238E27FC236}">
                <a16:creationId xmlns:a16="http://schemas.microsoft.com/office/drawing/2014/main" id="{A209B50C-CF66-41B6-AD5F-F122AF3184B9}"/>
              </a:ext>
            </a:extLst>
          </p:cNvPr>
          <p:cNvSpPr/>
          <p:nvPr/>
        </p:nvSpPr>
        <p:spPr>
          <a:xfrm>
            <a:off x="7876400" y="2756067"/>
            <a:ext cx="936104" cy="28083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800" dirty="0"/>
              <a:t>紅軍</a:t>
            </a:r>
            <a:r>
              <a:rPr kumimoji="1" lang="en-US" altLang="zh-CN" sz="2800" dirty="0"/>
              <a:t>1</a:t>
            </a:r>
            <a:endParaRPr kumimoji="1" lang="zh-CN" altLang="en-US" sz="2800" dirty="0"/>
          </a:p>
        </p:txBody>
      </p:sp>
      <p:sp>
        <p:nvSpPr>
          <p:cNvPr id="7" name="矩形 6">
            <a:extLst>
              <a:ext uri="{FF2B5EF4-FFF2-40B4-BE49-F238E27FC236}">
                <a16:creationId xmlns:a16="http://schemas.microsoft.com/office/drawing/2014/main" id="{ADA36439-AA44-4361-BB1A-F66EC9EC8D86}"/>
              </a:ext>
            </a:extLst>
          </p:cNvPr>
          <p:cNvSpPr/>
          <p:nvPr/>
        </p:nvSpPr>
        <p:spPr>
          <a:xfrm>
            <a:off x="9748608" y="2762994"/>
            <a:ext cx="936104" cy="28083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800" dirty="0"/>
              <a:t>紅軍</a:t>
            </a:r>
            <a:r>
              <a:rPr kumimoji="1" lang="en-US" altLang="zh-CN" sz="2800" dirty="0"/>
              <a:t>2</a:t>
            </a:r>
            <a:endParaRPr kumimoji="1" lang="zh-CN" altLang="en-US" sz="2800" dirty="0"/>
          </a:p>
        </p:txBody>
      </p:sp>
      <p:sp>
        <p:nvSpPr>
          <p:cNvPr id="8" name="矩形 7">
            <a:extLst>
              <a:ext uri="{FF2B5EF4-FFF2-40B4-BE49-F238E27FC236}">
                <a16:creationId xmlns:a16="http://schemas.microsoft.com/office/drawing/2014/main" id="{94528DC7-0C65-4224-8E27-5899552B518D}"/>
              </a:ext>
            </a:extLst>
          </p:cNvPr>
          <p:cNvSpPr/>
          <p:nvPr/>
        </p:nvSpPr>
        <p:spPr>
          <a:xfrm>
            <a:off x="8812504" y="1855967"/>
            <a:ext cx="936104" cy="4608512"/>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800" dirty="0"/>
              <a:t>藍軍</a:t>
            </a:r>
          </a:p>
        </p:txBody>
      </p:sp>
      <p:sp>
        <p:nvSpPr>
          <p:cNvPr id="9" name="内容占位符 3">
            <a:extLst>
              <a:ext uri="{FF2B5EF4-FFF2-40B4-BE49-F238E27FC236}">
                <a16:creationId xmlns:a16="http://schemas.microsoft.com/office/drawing/2014/main" id="{8B806961-3AE0-4B6D-8ADC-2A7A469AC36F}"/>
              </a:ext>
            </a:extLst>
          </p:cNvPr>
          <p:cNvSpPr txBox="1">
            <a:spLocks/>
          </p:cNvSpPr>
          <p:nvPr/>
        </p:nvSpPr>
        <p:spPr>
          <a:xfrm>
            <a:off x="1501254" y="1143348"/>
            <a:ext cx="9386486" cy="68767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ct val="120000"/>
              </a:lnSpc>
              <a:spcBef>
                <a:spcPts val="0"/>
              </a:spcBef>
              <a:spcAft>
                <a:spcPts val="0"/>
              </a:spcAft>
              <a:buNone/>
            </a:pPr>
            <a:endParaRPr kumimoji="1" lang="en-US" altLang="zh-CN" sz="2000" b="1"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10" name="矩形 9">
            <a:extLst>
              <a:ext uri="{FF2B5EF4-FFF2-40B4-BE49-F238E27FC236}">
                <a16:creationId xmlns:a16="http://schemas.microsoft.com/office/drawing/2014/main" id="{E2E5837C-71B3-4A94-A04F-F11289F993F9}"/>
              </a:ext>
            </a:extLst>
          </p:cNvPr>
          <p:cNvSpPr/>
          <p:nvPr/>
        </p:nvSpPr>
        <p:spPr>
          <a:xfrm>
            <a:off x="2185468" y="2204864"/>
            <a:ext cx="216024" cy="37909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E903AF64-3023-4294-89BD-8FF8800D01EB}"/>
              </a:ext>
            </a:extLst>
          </p:cNvPr>
          <p:cNvSpPr txBox="1"/>
          <p:nvPr/>
        </p:nvSpPr>
        <p:spPr>
          <a:xfrm>
            <a:off x="1926233" y="6161758"/>
            <a:ext cx="774571" cy="369332"/>
          </a:xfrm>
          <a:prstGeom prst="rect">
            <a:avLst/>
          </a:prstGeom>
          <a:noFill/>
        </p:spPr>
        <p:txBody>
          <a:bodyPr wrap="none" rtlCol="0">
            <a:spAutoFit/>
          </a:bodyPr>
          <a:lstStyle/>
          <a:p>
            <a:r>
              <a:rPr kumimoji="1" lang="zh-CN" altLang="en-US" dirty="0"/>
              <a:t>紅軍</a:t>
            </a:r>
            <a:r>
              <a:rPr kumimoji="1" lang="en-US" altLang="zh-CN" dirty="0"/>
              <a:t>1</a:t>
            </a:r>
            <a:endParaRPr kumimoji="1" lang="zh-CN" altLang="en-US" dirty="0"/>
          </a:p>
        </p:txBody>
      </p:sp>
      <p:sp>
        <p:nvSpPr>
          <p:cNvPr id="12" name="矩形 11">
            <a:extLst>
              <a:ext uri="{FF2B5EF4-FFF2-40B4-BE49-F238E27FC236}">
                <a16:creationId xmlns:a16="http://schemas.microsoft.com/office/drawing/2014/main" id="{BEABA6AC-872D-4C3A-B697-B6159B3796AD}"/>
              </a:ext>
            </a:extLst>
          </p:cNvPr>
          <p:cNvSpPr/>
          <p:nvPr/>
        </p:nvSpPr>
        <p:spPr>
          <a:xfrm>
            <a:off x="4756120" y="2204864"/>
            <a:ext cx="216024" cy="37909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9700E304-1F9C-464C-949D-7072D767A8B0}"/>
              </a:ext>
            </a:extLst>
          </p:cNvPr>
          <p:cNvSpPr txBox="1"/>
          <p:nvPr/>
        </p:nvSpPr>
        <p:spPr>
          <a:xfrm>
            <a:off x="4496885" y="6161758"/>
            <a:ext cx="774571" cy="369332"/>
          </a:xfrm>
          <a:prstGeom prst="rect">
            <a:avLst/>
          </a:prstGeom>
          <a:noFill/>
        </p:spPr>
        <p:txBody>
          <a:bodyPr wrap="none" rtlCol="0">
            <a:spAutoFit/>
          </a:bodyPr>
          <a:lstStyle/>
          <a:p>
            <a:r>
              <a:rPr kumimoji="1" lang="zh-CN" altLang="en-US" dirty="0"/>
              <a:t>紅軍</a:t>
            </a:r>
            <a:r>
              <a:rPr kumimoji="1" lang="en-US" altLang="zh-CN" dirty="0"/>
              <a:t>2</a:t>
            </a:r>
            <a:endParaRPr kumimoji="1" lang="zh-CN" altLang="en-US" dirty="0"/>
          </a:p>
        </p:txBody>
      </p:sp>
      <p:cxnSp>
        <p:nvCxnSpPr>
          <p:cNvPr id="14" name="直线箭头连接符 11">
            <a:extLst>
              <a:ext uri="{FF2B5EF4-FFF2-40B4-BE49-F238E27FC236}">
                <a16:creationId xmlns:a16="http://schemas.microsoft.com/office/drawing/2014/main" id="{6ED777CC-CCB9-4F5D-ABCF-BE5B997F6A91}"/>
              </a:ext>
            </a:extLst>
          </p:cNvPr>
          <p:cNvCxnSpPr/>
          <p:nvPr/>
        </p:nvCxnSpPr>
        <p:spPr>
          <a:xfrm>
            <a:off x="2396276" y="2355930"/>
            <a:ext cx="2354628" cy="216024"/>
          </a:xfrm>
          <a:prstGeom prst="straightConnector1">
            <a:avLst/>
          </a:prstGeom>
          <a:ln w="22225">
            <a:tailEnd type="triangle" w="lg" len="lg"/>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A0FA290A-DEBB-4AD7-8451-3E7D9DC80F5E}"/>
              </a:ext>
            </a:extLst>
          </p:cNvPr>
          <p:cNvSpPr txBox="1"/>
          <p:nvPr/>
        </p:nvSpPr>
        <p:spPr>
          <a:xfrm>
            <a:off x="3014851" y="2122991"/>
            <a:ext cx="1133644" cy="369332"/>
          </a:xfrm>
          <a:prstGeom prst="rect">
            <a:avLst/>
          </a:prstGeom>
          <a:noFill/>
        </p:spPr>
        <p:txBody>
          <a:bodyPr wrap="none" rtlCol="0">
            <a:spAutoFit/>
          </a:bodyPr>
          <a:lstStyle/>
          <a:p>
            <a:r>
              <a:rPr kumimoji="1" lang="en-US" altLang="zh-CN" dirty="0"/>
              <a:t>10</a:t>
            </a:r>
            <a:r>
              <a:rPr kumimoji="1" lang="zh-CN" altLang="en-US" dirty="0"/>
              <a:t>點進攻</a:t>
            </a:r>
          </a:p>
        </p:txBody>
      </p:sp>
      <p:cxnSp>
        <p:nvCxnSpPr>
          <p:cNvPr id="16" name="直线箭头连接符 14">
            <a:extLst>
              <a:ext uri="{FF2B5EF4-FFF2-40B4-BE49-F238E27FC236}">
                <a16:creationId xmlns:a16="http://schemas.microsoft.com/office/drawing/2014/main" id="{44351711-204E-4666-8527-BC2E5AF3EC76}"/>
              </a:ext>
            </a:extLst>
          </p:cNvPr>
          <p:cNvCxnSpPr/>
          <p:nvPr/>
        </p:nvCxnSpPr>
        <p:spPr>
          <a:xfrm flipH="1">
            <a:off x="2401492" y="2708920"/>
            <a:ext cx="2354628" cy="288032"/>
          </a:xfrm>
          <a:prstGeom prst="straightConnector1">
            <a:avLst/>
          </a:prstGeom>
          <a:ln w="22225">
            <a:tailEnd type="triangle" w="lg" len="lg"/>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47EA4357-CD74-4906-A8CE-874C69089459}"/>
              </a:ext>
            </a:extLst>
          </p:cNvPr>
          <p:cNvSpPr txBox="1"/>
          <p:nvPr/>
        </p:nvSpPr>
        <p:spPr>
          <a:xfrm>
            <a:off x="3084458" y="2523768"/>
            <a:ext cx="805028" cy="338554"/>
          </a:xfrm>
          <a:prstGeom prst="rect">
            <a:avLst/>
          </a:prstGeom>
          <a:noFill/>
        </p:spPr>
        <p:txBody>
          <a:bodyPr wrap="none" rtlCol="0">
            <a:spAutoFit/>
          </a:bodyPr>
          <a:lstStyle/>
          <a:p>
            <a:r>
              <a:rPr kumimoji="1" lang="zh-CN" altLang="en-US" dirty="0"/>
              <a:t>知道了</a:t>
            </a:r>
          </a:p>
        </p:txBody>
      </p:sp>
      <p:cxnSp>
        <p:nvCxnSpPr>
          <p:cNvPr id="18" name="直线箭头连接符 16">
            <a:extLst>
              <a:ext uri="{FF2B5EF4-FFF2-40B4-BE49-F238E27FC236}">
                <a16:creationId xmlns:a16="http://schemas.microsoft.com/office/drawing/2014/main" id="{35B5E058-79B3-448A-8EB9-4E7564791520}"/>
              </a:ext>
            </a:extLst>
          </p:cNvPr>
          <p:cNvCxnSpPr/>
          <p:nvPr/>
        </p:nvCxnSpPr>
        <p:spPr>
          <a:xfrm>
            <a:off x="2401492" y="3291274"/>
            <a:ext cx="2354628" cy="216024"/>
          </a:xfrm>
          <a:prstGeom prst="straightConnector1">
            <a:avLst/>
          </a:prstGeom>
          <a:ln w="22225">
            <a:tailEnd type="triangle" w="lg" len="lg"/>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896CCB46-ED22-450C-947F-CBFC40DAE828}"/>
              </a:ext>
            </a:extLst>
          </p:cNvPr>
          <p:cNvSpPr txBox="1"/>
          <p:nvPr/>
        </p:nvSpPr>
        <p:spPr>
          <a:xfrm>
            <a:off x="2931774" y="3055432"/>
            <a:ext cx="1632177" cy="338554"/>
          </a:xfrm>
          <a:prstGeom prst="rect">
            <a:avLst/>
          </a:prstGeom>
          <a:noFill/>
        </p:spPr>
        <p:txBody>
          <a:bodyPr wrap="none" rtlCol="0">
            <a:spAutoFit/>
          </a:bodyPr>
          <a:lstStyle/>
          <a:p>
            <a:r>
              <a:rPr kumimoji="1" lang="zh-CN" altLang="en-US" dirty="0"/>
              <a:t>我知道你知道了</a:t>
            </a:r>
          </a:p>
        </p:txBody>
      </p:sp>
      <p:cxnSp>
        <p:nvCxnSpPr>
          <p:cNvPr id="20" name="直线箭头连接符 18">
            <a:extLst>
              <a:ext uri="{FF2B5EF4-FFF2-40B4-BE49-F238E27FC236}">
                <a16:creationId xmlns:a16="http://schemas.microsoft.com/office/drawing/2014/main" id="{7AD98B9A-FC71-4895-B602-48F03B8C559E}"/>
              </a:ext>
            </a:extLst>
          </p:cNvPr>
          <p:cNvCxnSpPr/>
          <p:nvPr/>
        </p:nvCxnSpPr>
        <p:spPr>
          <a:xfrm flipH="1">
            <a:off x="2396276" y="3801620"/>
            <a:ext cx="2354628" cy="288032"/>
          </a:xfrm>
          <a:prstGeom prst="straightConnector1">
            <a:avLst/>
          </a:prstGeom>
          <a:ln w="22225">
            <a:tailEnd type="triangle" w="lg" len="lg"/>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CB5F7AC1-519B-4F1B-A316-80DC72814005}"/>
              </a:ext>
            </a:extLst>
          </p:cNvPr>
          <p:cNvSpPr txBox="1"/>
          <p:nvPr/>
        </p:nvSpPr>
        <p:spPr>
          <a:xfrm>
            <a:off x="2427350" y="3522303"/>
            <a:ext cx="2252540" cy="338554"/>
          </a:xfrm>
          <a:prstGeom prst="rect">
            <a:avLst/>
          </a:prstGeom>
          <a:noFill/>
        </p:spPr>
        <p:txBody>
          <a:bodyPr wrap="none" rtlCol="0">
            <a:spAutoFit/>
          </a:bodyPr>
          <a:lstStyle/>
          <a:p>
            <a:r>
              <a:rPr kumimoji="1" lang="zh-CN" altLang="en-US" dirty="0"/>
              <a:t>我知道你知道我知道了</a:t>
            </a:r>
          </a:p>
        </p:txBody>
      </p:sp>
      <p:sp>
        <p:nvSpPr>
          <p:cNvPr id="22" name="文本框 21">
            <a:extLst>
              <a:ext uri="{FF2B5EF4-FFF2-40B4-BE49-F238E27FC236}">
                <a16:creationId xmlns:a16="http://schemas.microsoft.com/office/drawing/2014/main" id="{B86163D9-C6DC-42D1-B4E1-170DAEF8AEA9}"/>
              </a:ext>
            </a:extLst>
          </p:cNvPr>
          <p:cNvSpPr txBox="1"/>
          <p:nvPr/>
        </p:nvSpPr>
        <p:spPr>
          <a:xfrm>
            <a:off x="3388183" y="4135372"/>
            <a:ext cx="553998" cy="707886"/>
          </a:xfrm>
          <a:prstGeom prst="rect">
            <a:avLst/>
          </a:prstGeom>
          <a:noFill/>
        </p:spPr>
        <p:txBody>
          <a:bodyPr vert="eaVert" wrap="none" rtlCol="0">
            <a:spAutoFit/>
          </a:bodyPr>
          <a:lstStyle/>
          <a:p>
            <a:r>
              <a:rPr kumimoji="1" lang="mr-IN" altLang="zh-CN" sz="2400" dirty="0"/>
              <a:t>……</a:t>
            </a:r>
            <a:endParaRPr kumimoji="1" lang="zh-CN" altLang="en-US" sz="2400" dirty="0"/>
          </a:p>
        </p:txBody>
      </p:sp>
      <p:cxnSp>
        <p:nvCxnSpPr>
          <p:cNvPr id="23" name="直线箭头连接符 21">
            <a:extLst>
              <a:ext uri="{FF2B5EF4-FFF2-40B4-BE49-F238E27FC236}">
                <a16:creationId xmlns:a16="http://schemas.microsoft.com/office/drawing/2014/main" id="{FFD3B230-7561-4AC5-ABF0-C2C761E9C934}"/>
              </a:ext>
            </a:extLst>
          </p:cNvPr>
          <p:cNvCxnSpPr/>
          <p:nvPr/>
        </p:nvCxnSpPr>
        <p:spPr>
          <a:xfrm>
            <a:off x="2396276" y="5543898"/>
            <a:ext cx="2354628" cy="216024"/>
          </a:xfrm>
          <a:prstGeom prst="straightConnector1">
            <a:avLst/>
          </a:prstGeom>
          <a:ln w="22225">
            <a:tailEnd type="triangle" w="lg" len="lg"/>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7739B2EF-1A38-4A32-95A0-500EC9BA7308}"/>
              </a:ext>
            </a:extLst>
          </p:cNvPr>
          <p:cNvSpPr txBox="1"/>
          <p:nvPr/>
        </p:nvSpPr>
        <p:spPr>
          <a:xfrm>
            <a:off x="2670532" y="5349434"/>
            <a:ext cx="1835759" cy="584775"/>
          </a:xfrm>
          <a:prstGeom prst="rect">
            <a:avLst/>
          </a:prstGeom>
          <a:noFill/>
        </p:spPr>
        <p:txBody>
          <a:bodyPr wrap="none" rtlCol="0">
            <a:spAutoFit/>
          </a:bodyPr>
          <a:lstStyle/>
          <a:p>
            <a:r>
              <a:rPr kumimoji="1" lang="zh-CN" altLang="en-US" dirty="0"/>
              <a:t>我知道你知道</a:t>
            </a:r>
            <a:br>
              <a:rPr kumimoji="1" lang="en-US" altLang="zh-CN" dirty="0"/>
            </a:br>
            <a:r>
              <a:rPr kumimoji="1" lang="zh-CN" altLang="en-US" dirty="0"/>
              <a:t>我知道你知道</a:t>
            </a:r>
            <a:r>
              <a:rPr kumimoji="1" lang="mr-IN" altLang="zh-CN" dirty="0"/>
              <a:t>……</a:t>
            </a:r>
            <a:endParaRPr kumimoji="1" lang="zh-CN" altLang="en-US" dirty="0"/>
          </a:p>
        </p:txBody>
      </p:sp>
      <p:sp>
        <p:nvSpPr>
          <p:cNvPr id="3" name="灯片编号占位符 2">
            <a:extLst>
              <a:ext uri="{FF2B5EF4-FFF2-40B4-BE49-F238E27FC236}">
                <a16:creationId xmlns:a16="http://schemas.microsoft.com/office/drawing/2014/main" id="{F4B620D3-1F37-4B83-A7C5-5D8C50128DFF}"/>
              </a:ext>
            </a:extLst>
          </p:cNvPr>
          <p:cNvSpPr>
            <a:spLocks noGrp="1"/>
          </p:cNvSpPr>
          <p:nvPr>
            <p:ph type="sldNum" sz="quarter" idx="4"/>
          </p:nvPr>
        </p:nvSpPr>
        <p:spPr/>
        <p:txBody>
          <a:bodyPr/>
          <a:lstStyle/>
          <a:p>
            <a:fld id="{015CE2E0-6DDF-4FAE-9DBA-F1C48BF5C133}" type="slidenum">
              <a:rPr lang="zh-CN" altLang="en-US" smtClean="0"/>
              <a:t>93</a:t>
            </a:fld>
            <a:endParaRPr lang="zh-CN" altLang="en-US" dirty="0"/>
          </a:p>
        </p:txBody>
      </p:sp>
    </p:spTree>
    <p:extLst>
      <p:ext uri="{BB962C8B-B14F-4D97-AF65-F5344CB8AC3E}">
        <p14:creationId xmlns:p14="http://schemas.microsoft.com/office/powerpoint/2010/main" val="61500335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lang="zh-CN" altLang="en-US" dirty="0"/>
              <a:t>問題定義</a:t>
            </a:r>
            <a:endParaRPr kumimoji="1" lang="zh-CN" altLang="en-US" sz="4000" dirty="0"/>
          </a:p>
        </p:txBody>
      </p:sp>
      <p:sp>
        <p:nvSpPr>
          <p:cNvPr id="25" name="内容占位符 3">
            <a:extLst>
              <a:ext uri="{FF2B5EF4-FFF2-40B4-BE49-F238E27FC236}">
                <a16:creationId xmlns:a16="http://schemas.microsoft.com/office/drawing/2014/main" id="{FE97B0F3-7588-4D27-9C27-E8A20C722660}"/>
              </a:ext>
            </a:extLst>
          </p:cNvPr>
          <p:cNvSpPr txBox="1">
            <a:spLocks/>
          </p:cNvSpPr>
          <p:nvPr/>
        </p:nvSpPr>
        <p:spPr>
          <a:xfrm>
            <a:off x="2160200" y="-2458614"/>
            <a:ext cx="5400600" cy="110817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20000"/>
              </a:lnSpc>
              <a:spcBef>
                <a:spcPts val="0"/>
              </a:spcBef>
              <a:spcAft>
                <a:spcPts val="0"/>
              </a:spcAft>
            </a:pPr>
            <a:endParaRPr kumimoji="1" lang="en-US" altLang="zh-CN" sz="2400" b="0" dirty="0">
              <a:solidFill>
                <a:schemeClr val="tx1">
                  <a:lumMod val="75000"/>
                  <a:lumOff val="25000"/>
                </a:schemeClr>
              </a:solidFill>
            </a:endParaRPr>
          </a:p>
        </p:txBody>
      </p:sp>
      <p:sp>
        <p:nvSpPr>
          <p:cNvPr id="26" name="Line 5">
            <a:extLst>
              <a:ext uri="{FF2B5EF4-FFF2-40B4-BE49-F238E27FC236}">
                <a16:creationId xmlns:a16="http://schemas.microsoft.com/office/drawing/2014/main" id="{61E1B574-C824-45DB-9EEA-37E2D7080A0E}"/>
              </a:ext>
            </a:extLst>
          </p:cNvPr>
          <p:cNvSpPr>
            <a:spLocks noChangeShapeType="1"/>
          </p:cNvSpPr>
          <p:nvPr/>
        </p:nvSpPr>
        <p:spPr bwMode="auto">
          <a:xfrm>
            <a:off x="1687357" y="3217125"/>
            <a:ext cx="0" cy="2667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a:p>
        </p:txBody>
      </p:sp>
      <p:sp>
        <p:nvSpPr>
          <p:cNvPr id="27" name="Text Box 6">
            <a:extLst>
              <a:ext uri="{FF2B5EF4-FFF2-40B4-BE49-F238E27FC236}">
                <a16:creationId xmlns:a16="http://schemas.microsoft.com/office/drawing/2014/main" id="{985FAD2A-2500-4B82-8C8B-4B1C86F60876}"/>
              </a:ext>
            </a:extLst>
          </p:cNvPr>
          <p:cNvSpPr txBox="1">
            <a:spLocks noChangeArrowheads="1"/>
          </p:cNvSpPr>
          <p:nvPr/>
        </p:nvSpPr>
        <p:spPr bwMode="auto">
          <a:xfrm>
            <a:off x="829331" y="2706912"/>
            <a:ext cx="2072684" cy="39754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dirty="0">
                <a:latin typeface="Arial" panose="020B0604020202020204" pitchFamily="34" charset="0"/>
              </a:rPr>
              <a:t>Client (initiator)</a:t>
            </a:r>
          </a:p>
        </p:txBody>
      </p:sp>
      <p:sp>
        <p:nvSpPr>
          <p:cNvPr id="28" name="Text Box 7">
            <a:extLst>
              <a:ext uri="{FF2B5EF4-FFF2-40B4-BE49-F238E27FC236}">
                <a16:creationId xmlns:a16="http://schemas.microsoft.com/office/drawing/2014/main" id="{0332ECE8-8C19-4040-9F0A-409323352A24}"/>
              </a:ext>
            </a:extLst>
          </p:cNvPr>
          <p:cNvSpPr txBox="1">
            <a:spLocks noChangeArrowheads="1"/>
          </p:cNvSpPr>
          <p:nvPr/>
        </p:nvSpPr>
        <p:spPr bwMode="auto">
          <a:xfrm>
            <a:off x="5441416" y="2702585"/>
            <a:ext cx="981040" cy="39754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dirty="0">
                <a:latin typeface="Arial" panose="020B0604020202020204" pitchFamily="34" charset="0"/>
              </a:rPr>
              <a:t>Server</a:t>
            </a:r>
          </a:p>
        </p:txBody>
      </p:sp>
      <p:sp>
        <p:nvSpPr>
          <p:cNvPr id="29" name="Line 8">
            <a:extLst>
              <a:ext uri="{FF2B5EF4-FFF2-40B4-BE49-F238E27FC236}">
                <a16:creationId xmlns:a16="http://schemas.microsoft.com/office/drawing/2014/main" id="{03F3C791-3834-4ADB-8DC2-3244A6D7D8FB}"/>
              </a:ext>
            </a:extLst>
          </p:cNvPr>
          <p:cNvSpPr>
            <a:spLocks noChangeShapeType="1"/>
          </p:cNvSpPr>
          <p:nvPr/>
        </p:nvSpPr>
        <p:spPr bwMode="auto">
          <a:xfrm>
            <a:off x="6037442" y="3246215"/>
            <a:ext cx="0" cy="2667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a:p>
        </p:txBody>
      </p:sp>
      <p:grpSp>
        <p:nvGrpSpPr>
          <p:cNvPr id="30" name="Group 9">
            <a:extLst>
              <a:ext uri="{FF2B5EF4-FFF2-40B4-BE49-F238E27FC236}">
                <a16:creationId xmlns:a16="http://schemas.microsoft.com/office/drawing/2014/main" id="{3FF73C19-DE03-4B4F-8443-A9EAF7FB8621}"/>
              </a:ext>
            </a:extLst>
          </p:cNvPr>
          <p:cNvGrpSpPr>
            <a:grpSpLocks/>
          </p:cNvGrpSpPr>
          <p:nvPr/>
        </p:nvGrpSpPr>
        <p:grpSpPr bwMode="auto">
          <a:xfrm>
            <a:off x="1682596" y="3358419"/>
            <a:ext cx="4354838" cy="715963"/>
            <a:chOff x="1248" y="2189"/>
            <a:chExt cx="3072" cy="451"/>
          </a:xfrm>
        </p:grpSpPr>
        <p:sp>
          <p:nvSpPr>
            <p:cNvPr id="31" name="Line 10">
              <a:extLst>
                <a:ext uri="{FF2B5EF4-FFF2-40B4-BE49-F238E27FC236}">
                  <a16:creationId xmlns:a16="http://schemas.microsoft.com/office/drawing/2014/main" id="{10974EC5-7F33-4D84-B1A1-7055F197897B}"/>
                </a:ext>
              </a:extLst>
            </p:cNvPr>
            <p:cNvSpPr>
              <a:spLocks noChangeShapeType="1"/>
            </p:cNvSpPr>
            <p:nvPr/>
          </p:nvSpPr>
          <p:spPr bwMode="auto">
            <a:xfrm>
              <a:off x="1248" y="2256"/>
              <a:ext cx="3072" cy="384"/>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a:p>
          </p:txBody>
        </p:sp>
        <p:sp>
          <p:nvSpPr>
            <p:cNvPr id="32" name="Text Box 11">
              <a:extLst>
                <a:ext uri="{FF2B5EF4-FFF2-40B4-BE49-F238E27FC236}">
                  <a16:creationId xmlns:a16="http://schemas.microsoft.com/office/drawing/2014/main" id="{2D0DEFAB-D755-41FA-B390-7BDA4D8BCF6A}"/>
                </a:ext>
              </a:extLst>
            </p:cNvPr>
            <p:cNvSpPr txBox="1">
              <a:spLocks noChangeArrowheads="1"/>
            </p:cNvSpPr>
            <p:nvPr/>
          </p:nvSpPr>
          <p:spPr bwMode="auto">
            <a:xfrm rot="429064">
              <a:off x="1920" y="2189"/>
              <a:ext cx="1339" cy="21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dirty="0">
                  <a:latin typeface="Arial" panose="020B0604020202020204" pitchFamily="34" charset="0"/>
                </a:rPr>
                <a:t>SYN, </a:t>
              </a:r>
              <a:r>
                <a:rPr lang="en-US" altLang="zh-CN" sz="1600" dirty="0" err="1">
                  <a:latin typeface="Arial" panose="020B0604020202020204" pitchFamily="34" charset="0"/>
                </a:rPr>
                <a:t>SeqNum</a:t>
              </a:r>
              <a:r>
                <a:rPr lang="en-US" altLang="zh-CN" sz="1600" dirty="0">
                  <a:latin typeface="Arial" panose="020B0604020202020204" pitchFamily="34" charset="0"/>
                </a:rPr>
                <a:t> = x</a:t>
              </a:r>
            </a:p>
          </p:txBody>
        </p:sp>
      </p:grpSp>
      <p:grpSp>
        <p:nvGrpSpPr>
          <p:cNvPr id="33" name="Group 12">
            <a:extLst>
              <a:ext uri="{FF2B5EF4-FFF2-40B4-BE49-F238E27FC236}">
                <a16:creationId xmlns:a16="http://schemas.microsoft.com/office/drawing/2014/main" id="{EAF70AE8-04BB-4166-8B42-97A7B0FFD82E}"/>
              </a:ext>
            </a:extLst>
          </p:cNvPr>
          <p:cNvGrpSpPr>
            <a:grpSpLocks/>
          </p:cNvGrpSpPr>
          <p:nvPr/>
        </p:nvGrpSpPr>
        <p:grpSpPr bwMode="auto">
          <a:xfrm>
            <a:off x="1640068" y="4202785"/>
            <a:ext cx="4397367" cy="611188"/>
            <a:chOff x="1218" y="2735"/>
            <a:chExt cx="3102" cy="385"/>
          </a:xfrm>
        </p:grpSpPr>
        <p:sp>
          <p:nvSpPr>
            <p:cNvPr id="34" name="Line 13">
              <a:extLst>
                <a:ext uri="{FF2B5EF4-FFF2-40B4-BE49-F238E27FC236}">
                  <a16:creationId xmlns:a16="http://schemas.microsoft.com/office/drawing/2014/main" id="{2653E057-6BA1-4B08-BBD1-8C58892E0567}"/>
                </a:ext>
              </a:extLst>
            </p:cNvPr>
            <p:cNvSpPr>
              <a:spLocks noChangeShapeType="1"/>
            </p:cNvSpPr>
            <p:nvPr/>
          </p:nvSpPr>
          <p:spPr bwMode="auto">
            <a:xfrm flipH="1">
              <a:off x="1248" y="2784"/>
              <a:ext cx="3072" cy="336"/>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a:p>
          </p:txBody>
        </p:sp>
        <p:sp>
          <p:nvSpPr>
            <p:cNvPr id="35" name="Text Box 14">
              <a:extLst>
                <a:ext uri="{FF2B5EF4-FFF2-40B4-BE49-F238E27FC236}">
                  <a16:creationId xmlns:a16="http://schemas.microsoft.com/office/drawing/2014/main" id="{90EAA623-4D40-4546-A83E-09FEAFB6AB51}"/>
                </a:ext>
              </a:extLst>
            </p:cNvPr>
            <p:cNvSpPr txBox="1">
              <a:spLocks noChangeArrowheads="1"/>
            </p:cNvSpPr>
            <p:nvPr/>
          </p:nvSpPr>
          <p:spPr bwMode="auto">
            <a:xfrm rot="21224390">
              <a:off x="1218" y="2735"/>
              <a:ext cx="3074" cy="21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dirty="0">
                  <a:latin typeface="Arial" panose="020B0604020202020204" pitchFamily="34" charset="0"/>
                </a:rPr>
                <a:t>SYN and ACK, </a:t>
              </a:r>
              <a:r>
                <a:rPr lang="en-US" altLang="zh-CN" sz="1600" dirty="0" err="1">
                  <a:latin typeface="Arial" panose="020B0604020202020204" pitchFamily="34" charset="0"/>
                </a:rPr>
                <a:t>SeqNum</a:t>
              </a:r>
              <a:r>
                <a:rPr lang="en-US" altLang="zh-CN" sz="1600" dirty="0">
                  <a:latin typeface="Arial" panose="020B0604020202020204" pitchFamily="34" charset="0"/>
                </a:rPr>
                <a:t> = y and Ack = x + 1</a:t>
              </a:r>
            </a:p>
          </p:txBody>
        </p:sp>
      </p:grpSp>
      <p:grpSp>
        <p:nvGrpSpPr>
          <p:cNvPr id="36" name="Group 15">
            <a:extLst>
              <a:ext uri="{FF2B5EF4-FFF2-40B4-BE49-F238E27FC236}">
                <a16:creationId xmlns:a16="http://schemas.microsoft.com/office/drawing/2014/main" id="{AB76BB6E-C4B2-447A-92BB-8F789E1549F2}"/>
              </a:ext>
            </a:extLst>
          </p:cNvPr>
          <p:cNvGrpSpPr>
            <a:grpSpLocks/>
          </p:cNvGrpSpPr>
          <p:nvPr/>
        </p:nvGrpSpPr>
        <p:grpSpPr bwMode="auto">
          <a:xfrm>
            <a:off x="1682596" y="5034820"/>
            <a:ext cx="4354838" cy="715963"/>
            <a:chOff x="1248" y="3245"/>
            <a:chExt cx="3072" cy="451"/>
          </a:xfrm>
        </p:grpSpPr>
        <p:sp>
          <p:nvSpPr>
            <p:cNvPr id="37" name="Line 16">
              <a:extLst>
                <a:ext uri="{FF2B5EF4-FFF2-40B4-BE49-F238E27FC236}">
                  <a16:creationId xmlns:a16="http://schemas.microsoft.com/office/drawing/2014/main" id="{20F29166-B0A2-4C05-ABC9-31741C9AA79D}"/>
                </a:ext>
              </a:extLst>
            </p:cNvPr>
            <p:cNvSpPr>
              <a:spLocks noChangeShapeType="1"/>
            </p:cNvSpPr>
            <p:nvPr/>
          </p:nvSpPr>
          <p:spPr bwMode="auto">
            <a:xfrm>
              <a:off x="1248" y="3312"/>
              <a:ext cx="3072" cy="384"/>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a:p>
          </p:txBody>
        </p:sp>
        <p:sp>
          <p:nvSpPr>
            <p:cNvPr id="38" name="Text Box 17">
              <a:extLst>
                <a:ext uri="{FF2B5EF4-FFF2-40B4-BE49-F238E27FC236}">
                  <a16:creationId xmlns:a16="http://schemas.microsoft.com/office/drawing/2014/main" id="{42AC019D-105D-445B-93F0-3DD262E39FA5}"/>
                </a:ext>
              </a:extLst>
            </p:cNvPr>
            <p:cNvSpPr txBox="1">
              <a:spLocks noChangeArrowheads="1"/>
            </p:cNvSpPr>
            <p:nvPr/>
          </p:nvSpPr>
          <p:spPr bwMode="auto">
            <a:xfrm rot="429064">
              <a:off x="1956" y="3245"/>
              <a:ext cx="1275" cy="21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dirty="0">
                  <a:latin typeface="Arial" panose="020B0604020202020204" pitchFamily="34" charset="0"/>
                </a:rPr>
                <a:t>ACK, Ack = y + 1</a:t>
              </a:r>
            </a:p>
          </p:txBody>
        </p:sp>
      </p:grpSp>
      <p:sp>
        <p:nvSpPr>
          <p:cNvPr id="39" name="文本框 38">
            <a:extLst>
              <a:ext uri="{FF2B5EF4-FFF2-40B4-BE49-F238E27FC236}">
                <a16:creationId xmlns:a16="http://schemas.microsoft.com/office/drawing/2014/main" id="{1EDD678E-D4ED-4A5B-AB6E-ACDB08801A29}"/>
              </a:ext>
            </a:extLst>
          </p:cNvPr>
          <p:cNvSpPr txBox="1"/>
          <p:nvPr/>
        </p:nvSpPr>
        <p:spPr>
          <a:xfrm>
            <a:off x="2853627" y="2163793"/>
            <a:ext cx="2312261" cy="461665"/>
          </a:xfrm>
          <a:prstGeom prst="rect">
            <a:avLst/>
          </a:prstGeom>
          <a:noFill/>
        </p:spPr>
        <p:txBody>
          <a:bodyPr wrap="square" rtlCol="0">
            <a:spAutoFit/>
          </a:bodyPr>
          <a:lstStyle/>
          <a:p>
            <a:r>
              <a:rPr lang="en-US" altLang="zh-CN" sz="2400" dirty="0"/>
              <a:t>TCP</a:t>
            </a:r>
            <a:r>
              <a:rPr lang="zh-CN" altLang="en-US" sz="2400" dirty="0"/>
              <a:t>三次握手</a:t>
            </a:r>
          </a:p>
        </p:txBody>
      </p:sp>
      <p:sp>
        <p:nvSpPr>
          <p:cNvPr id="3" name="灯片编号占位符 2">
            <a:extLst>
              <a:ext uri="{FF2B5EF4-FFF2-40B4-BE49-F238E27FC236}">
                <a16:creationId xmlns:a16="http://schemas.microsoft.com/office/drawing/2014/main" id="{508808F8-F539-4251-AEA7-63505D5E975E}"/>
              </a:ext>
            </a:extLst>
          </p:cNvPr>
          <p:cNvSpPr>
            <a:spLocks noGrp="1"/>
          </p:cNvSpPr>
          <p:nvPr>
            <p:ph type="sldNum" sz="quarter" idx="4"/>
          </p:nvPr>
        </p:nvSpPr>
        <p:spPr/>
        <p:txBody>
          <a:bodyPr/>
          <a:lstStyle/>
          <a:p>
            <a:fld id="{015CE2E0-6DDF-4FAE-9DBA-F1C48BF5C133}" type="slidenum">
              <a:rPr lang="zh-CN" altLang="en-US" smtClean="0"/>
              <a:t>94</a:t>
            </a:fld>
            <a:endParaRPr lang="zh-CN" altLang="en-US" dirty="0"/>
          </a:p>
        </p:txBody>
      </p:sp>
      <p:sp>
        <p:nvSpPr>
          <p:cNvPr id="22" name="矩形 21">
            <a:extLst>
              <a:ext uri="{FF2B5EF4-FFF2-40B4-BE49-F238E27FC236}">
                <a16:creationId xmlns:a16="http://schemas.microsoft.com/office/drawing/2014/main" id="{1B7C0C48-925C-6A44-88F9-75DC3C502527}"/>
              </a:ext>
            </a:extLst>
          </p:cNvPr>
          <p:cNvSpPr/>
          <p:nvPr/>
        </p:nvSpPr>
        <p:spPr>
          <a:xfrm>
            <a:off x="7876400" y="2756067"/>
            <a:ext cx="936104" cy="28083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800" dirty="0"/>
              <a:t>紅軍</a:t>
            </a:r>
            <a:r>
              <a:rPr kumimoji="1" lang="en-US" altLang="zh-CN" sz="2800" dirty="0"/>
              <a:t>1</a:t>
            </a:r>
            <a:endParaRPr kumimoji="1" lang="zh-CN" altLang="en-US" sz="2800" dirty="0"/>
          </a:p>
        </p:txBody>
      </p:sp>
      <p:sp>
        <p:nvSpPr>
          <p:cNvPr id="23" name="矩形 22">
            <a:extLst>
              <a:ext uri="{FF2B5EF4-FFF2-40B4-BE49-F238E27FC236}">
                <a16:creationId xmlns:a16="http://schemas.microsoft.com/office/drawing/2014/main" id="{8EAE5964-23B7-984A-880E-2D9AF3CE49E5}"/>
              </a:ext>
            </a:extLst>
          </p:cNvPr>
          <p:cNvSpPr/>
          <p:nvPr/>
        </p:nvSpPr>
        <p:spPr>
          <a:xfrm>
            <a:off x="9748608" y="2762994"/>
            <a:ext cx="936104" cy="28083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800" dirty="0"/>
              <a:t>紅軍</a:t>
            </a:r>
            <a:r>
              <a:rPr kumimoji="1" lang="en-US" altLang="zh-CN" sz="2800" dirty="0"/>
              <a:t>2</a:t>
            </a:r>
            <a:endParaRPr kumimoji="1" lang="zh-CN" altLang="en-US" sz="2800" dirty="0"/>
          </a:p>
        </p:txBody>
      </p:sp>
      <p:sp>
        <p:nvSpPr>
          <p:cNvPr id="24" name="矩形 23">
            <a:extLst>
              <a:ext uri="{FF2B5EF4-FFF2-40B4-BE49-F238E27FC236}">
                <a16:creationId xmlns:a16="http://schemas.microsoft.com/office/drawing/2014/main" id="{D360B3FE-0F5B-F143-9724-9DACC8C2FC8C}"/>
              </a:ext>
            </a:extLst>
          </p:cNvPr>
          <p:cNvSpPr/>
          <p:nvPr/>
        </p:nvSpPr>
        <p:spPr>
          <a:xfrm>
            <a:off x="8812504" y="1855967"/>
            <a:ext cx="936104" cy="4608512"/>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800" dirty="0"/>
              <a:t>藍軍</a:t>
            </a:r>
          </a:p>
        </p:txBody>
      </p:sp>
      <p:sp>
        <p:nvSpPr>
          <p:cNvPr id="42" name="矩形 41">
            <a:extLst>
              <a:ext uri="{FF2B5EF4-FFF2-40B4-BE49-F238E27FC236}">
                <a16:creationId xmlns:a16="http://schemas.microsoft.com/office/drawing/2014/main" id="{8A2814C1-6040-3345-8FE1-27FF81E274C1}"/>
              </a:ext>
            </a:extLst>
          </p:cNvPr>
          <p:cNvSpPr>
            <a:spLocks/>
          </p:cNvSpPr>
          <p:nvPr/>
        </p:nvSpPr>
        <p:spPr bwMode="auto">
          <a:xfrm>
            <a:off x="920596" y="1019403"/>
            <a:ext cx="10803666" cy="716384"/>
          </a:xfrm>
          <a:prstGeom prst="rect">
            <a:avLst/>
          </a:prstGeom>
          <a:solidFill>
            <a:srgbClr val="00B0F0"/>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fontAlgn="auto">
              <a:lnSpc>
                <a:spcPct val="120000"/>
              </a:lnSpc>
              <a:spcBef>
                <a:spcPts val="0"/>
              </a:spcBef>
              <a:spcAft>
                <a:spcPts val="0"/>
              </a:spcAft>
              <a:buNone/>
            </a:pPr>
            <a:r>
              <a:rPr kumimoji="1" lang="zh-CN" altLang="en-US" sz="2800" b="1" dirty="0">
                <a:solidFill>
                  <a:schemeClr val="bg1"/>
                </a:solidFill>
                <a:latin typeface="Microsoft YaHei" panose="020B0503020204020204" pitchFamily="34" charset="-122"/>
                <a:ea typeface="Microsoft YaHei" panose="020B0503020204020204" pitchFamily="34" charset="-122"/>
              </a:rPr>
              <a:t>兩軍問題實例</a:t>
            </a:r>
            <a:r>
              <a:rPr kumimoji="1" lang="en-US" altLang="zh-CN" sz="2800" b="1" dirty="0">
                <a:solidFill>
                  <a:schemeClr val="bg1"/>
                </a:solidFill>
                <a:latin typeface="Microsoft YaHei" panose="020B0503020204020204" pitchFamily="34" charset="-122"/>
                <a:ea typeface="Microsoft YaHei" panose="020B0503020204020204" pitchFamily="34" charset="-122"/>
              </a:rPr>
              <a:t>:TCP</a:t>
            </a:r>
            <a:r>
              <a:rPr kumimoji="1" lang="zh-CN" altLang="en-US" sz="2800" b="1" dirty="0">
                <a:solidFill>
                  <a:schemeClr val="bg1"/>
                </a:solidFill>
                <a:latin typeface="Microsoft YaHei" panose="020B0503020204020204" pitchFamily="34" charset="-122"/>
                <a:ea typeface="Microsoft YaHei" panose="020B0503020204020204" pitchFamily="34" charset="-122"/>
              </a:rPr>
              <a:t>通信</a:t>
            </a:r>
            <a:endParaRPr kumimoji="1" lang="en-US" altLang="zh-CN" sz="2800" b="1" dirty="0">
              <a:solidFill>
                <a:schemeClr val="bg1"/>
              </a:solidFill>
              <a:latin typeface="Microsoft YaHei" panose="020B0503020204020204" pitchFamily="34" charset="-122"/>
              <a:ea typeface="Microsoft YaHei" panose="020B0503020204020204" pitchFamily="34" charset="-122"/>
            </a:endParaRPr>
          </a:p>
        </p:txBody>
      </p:sp>
      <p:sp>
        <p:nvSpPr>
          <p:cNvPr id="43" name="内容占位符 3">
            <a:extLst>
              <a:ext uri="{FF2B5EF4-FFF2-40B4-BE49-F238E27FC236}">
                <a16:creationId xmlns:a16="http://schemas.microsoft.com/office/drawing/2014/main" id="{0BF5AB7E-311D-1B47-BD41-876D29BAA993}"/>
              </a:ext>
            </a:extLst>
          </p:cNvPr>
          <p:cNvSpPr txBox="1">
            <a:spLocks/>
          </p:cNvSpPr>
          <p:nvPr/>
        </p:nvSpPr>
        <p:spPr>
          <a:xfrm>
            <a:off x="1501254" y="1143348"/>
            <a:ext cx="9386486" cy="68767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lnSpc>
                <a:spcPct val="120000"/>
              </a:lnSpc>
              <a:spcBef>
                <a:spcPts val="0"/>
              </a:spcBef>
              <a:spcAft>
                <a:spcPts val="0"/>
              </a:spcAft>
              <a:buNone/>
            </a:pPr>
            <a:endParaRPr kumimoji="1" lang="en-US" altLang="zh-CN" sz="2400" b="1" dirty="0">
              <a:solidFill>
                <a:schemeClr val="bg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175525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nodePh="1">
                                  <p:stCondLst>
                                    <p:cond delay="0"/>
                                  </p:stCondLst>
                                  <p:endCondLst>
                                    <p:cond evt="begin" delay="0">
                                      <p:tn val="5"/>
                                    </p:cond>
                                  </p:endCondLst>
                                  <p:childTnLst>
                                    <p:set>
                                      <p:cBhvr>
                                        <p:cTn id="6" dur="1" fill="hold">
                                          <p:stCondLst>
                                            <p:cond delay="0"/>
                                          </p:stCondLst>
                                        </p:cTn>
                                        <p:tgtEl>
                                          <p:spTgt spid="43">
                                            <p:txEl>
                                              <p:pRg st="0" end="0"/>
                                            </p:txEl>
                                          </p:spTgt>
                                        </p:tgtEl>
                                        <p:attrNameLst>
                                          <p:attrName>style.visibility</p:attrName>
                                        </p:attrNameLst>
                                      </p:cBhvr>
                                      <p:to>
                                        <p:strVal val="visible"/>
                                      </p:to>
                                    </p:set>
                                    <p:animEffect transition="in" filter="dissolve">
                                      <p:cBhvr>
                                        <p:cTn id="7" dur="500"/>
                                        <p:tgtEl>
                                          <p:spTgt spid="4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lang="zh-CN" altLang="en-US" dirty="0"/>
              <a:t>問題定義</a:t>
            </a:r>
            <a:endParaRPr kumimoji="1" lang="zh-CN" altLang="en-US" sz="4000" dirty="0"/>
          </a:p>
        </p:txBody>
      </p:sp>
      <p:sp>
        <p:nvSpPr>
          <p:cNvPr id="25" name="内容占位符 3">
            <a:extLst>
              <a:ext uri="{FF2B5EF4-FFF2-40B4-BE49-F238E27FC236}">
                <a16:creationId xmlns:a16="http://schemas.microsoft.com/office/drawing/2014/main" id="{D2AB7AC3-6DB3-4A82-9542-0E93B216829D}"/>
              </a:ext>
            </a:extLst>
          </p:cNvPr>
          <p:cNvSpPr txBox="1">
            <a:spLocks/>
          </p:cNvSpPr>
          <p:nvPr/>
        </p:nvSpPr>
        <p:spPr>
          <a:xfrm>
            <a:off x="1009933" y="1015758"/>
            <a:ext cx="7538643" cy="1217079"/>
          </a:xfrm>
          <a:prstGeom prst="rect">
            <a:avLst/>
          </a:prstGeom>
          <a:ln>
            <a:solidFill>
              <a:srgbClr val="00B0F0"/>
            </a:solidFill>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30000"/>
              </a:lnSpc>
              <a:spcBef>
                <a:spcPts val="0"/>
              </a:spcBef>
              <a:spcAft>
                <a:spcPts val="0"/>
              </a:spcAft>
            </a:pPr>
            <a:r>
              <a:rPr kumimoji="1" lang="zh-CN" altLang="en-US" sz="2400" b="0" dirty="0">
                <a:solidFill>
                  <a:schemeClr val="tx1">
                    <a:lumMod val="75000"/>
                    <a:lumOff val="25000"/>
                  </a:schemeClr>
                </a:solidFill>
                <a:latin typeface="Microsoft YaHei" panose="020B0503020204020204" pitchFamily="34" charset="-122"/>
                <a:ea typeface="Microsoft YaHei" panose="020B0503020204020204" pitchFamily="34" charset="-122"/>
              </a:rPr>
              <a:t>兩軍問題終極解决方案：量子通訊</a:t>
            </a:r>
            <a:endParaRPr kumimoji="1" lang="en-US" altLang="zh-CN" sz="2400" b="0" dirty="0">
              <a:solidFill>
                <a:schemeClr val="tx1">
                  <a:lumMod val="75000"/>
                  <a:lumOff val="25000"/>
                </a:schemeClr>
              </a:solidFill>
              <a:latin typeface="Microsoft YaHei" panose="020B0503020204020204" pitchFamily="34" charset="-122"/>
              <a:ea typeface="Microsoft YaHei" panose="020B0503020204020204" pitchFamily="34" charset="-122"/>
            </a:endParaRPr>
          </a:p>
          <a:p>
            <a:pPr fontAlgn="auto">
              <a:lnSpc>
                <a:spcPct val="130000"/>
              </a:lnSpc>
              <a:spcBef>
                <a:spcPts val="0"/>
              </a:spcBef>
              <a:spcAft>
                <a:spcPts val="0"/>
              </a:spcAft>
            </a:pPr>
            <a:r>
              <a:rPr kumimoji="1" lang="zh-CN" altLang="en-US" sz="2400" b="0" dirty="0">
                <a:solidFill>
                  <a:schemeClr val="tx1">
                    <a:lumMod val="75000"/>
                    <a:lumOff val="25000"/>
                  </a:schemeClr>
                </a:solidFill>
                <a:latin typeface="Microsoft YaHei" panose="020B0503020204020204" pitchFamily="34" charset="-122"/>
                <a:ea typeface="Microsoft YaHei" panose="020B0503020204020204" pitchFamily="34" charset="-122"/>
              </a:rPr>
              <a:t>處于量子糾纏的兩個粒子，無論相隔多遠都可以同步</a:t>
            </a:r>
            <a:endParaRPr kumimoji="1" lang="en-US" altLang="zh-CN" sz="2400" b="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pic>
        <p:nvPicPr>
          <p:cNvPr id="26" name="图片 25">
            <a:extLst>
              <a:ext uri="{FF2B5EF4-FFF2-40B4-BE49-F238E27FC236}">
                <a16:creationId xmlns:a16="http://schemas.microsoft.com/office/drawing/2014/main" id="{277D649A-A605-450E-9621-D3B52F4BCF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1306" y="2441152"/>
            <a:ext cx="5238750" cy="3486150"/>
          </a:xfrm>
          <a:prstGeom prst="rect">
            <a:avLst/>
          </a:prstGeom>
        </p:spPr>
      </p:pic>
      <p:sp>
        <p:nvSpPr>
          <p:cNvPr id="3" name="灯片编号占位符 2">
            <a:extLst>
              <a:ext uri="{FF2B5EF4-FFF2-40B4-BE49-F238E27FC236}">
                <a16:creationId xmlns:a16="http://schemas.microsoft.com/office/drawing/2014/main" id="{6956B09B-4FEC-4B45-A0AF-E2D1B44B6EA1}"/>
              </a:ext>
            </a:extLst>
          </p:cNvPr>
          <p:cNvSpPr>
            <a:spLocks noGrp="1"/>
          </p:cNvSpPr>
          <p:nvPr>
            <p:ph type="sldNum" sz="quarter" idx="4"/>
          </p:nvPr>
        </p:nvSpPr>
        <p:spPr/>
        <p:txBody>
          <a:bodyPr/>
          <a:lstStyle/>
          <a:p>
            <a:fld id="{015CE2E0-6DDF-4FAE-9DBA-F1C48BF5C133}" type="slidenum">
              <a:rPr lang="zh-CN" altLang="en-US" smtClean="0"/>
              <a:t>95</a:t>
            </a:fld>
            <a:endParaRPr lang="zh-CN" altLang="en-US" dirty="0"/>
          </a:p>
        </p:txBody>
      </p:sp>
      <p:sp>
        <p:nvSpPr>
          <p:cNvPr id="9" name="矩形 8">
            <a:extLst>
              <a:ext uri="{FF2B5EF4-FFF2-40B4-BE49-F238E27FC236}">
                <a16:creationId xmlns:a16="http://schemas.microsoft.com/office/drawing/2014/main" id="{533AA263-AE0E-7245-8D41-E488EC2B07F9}"/>
              </a:ext>
            </a:extLst>
          </p:cNvPr>
          <p:cNvSpPr/>
          <p:nvPr/>
        </p:nvSpPr>
        <p:spPr>
          <a:xfrm>
            <a:off x="7876400" y="2756067"/>
            <a:ext cx="936104" cy="28083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800" dirty="0"/>
              <a:t>紅軍</a:t>
            </a:r>
            <a:r>
              <a:rPr kumimoji="1" lang="en-US" altLang="zh-CN" sz="2800" dirty="0"/>
              <a:t>1</a:t>
            </a:r>
            <a:endParaRPr kumimoji="1" lang="zh-CN" altLang="en-US" sz="2800" dirty="0"/>
          </a:p>
        </p:txBody>
      </p:sp>
      <p:sp>
        <p:nvSpPr>
          <p:cNvPr id="10" name="矩形 9">
            <a:extLst>
              <a:ext uri="{FF2B5EF4-FFF2-40B4-BE49-F238E27FC236}">
                <a16:creationId xmlns:a16="http://schemas.microsoft.com/office/drawing/2014/main" id="{D4012D0E-1BAD-0746-B7C7-CB8B23479386}"/>
              </a:ext>
            </a:extLst>
          </p:cNvPr>
          <p:cNvSpPr/>
          <p:nvPr/>
        </p:nvSpPr>
        <p:spPr>
          <a:xfrm>
            <a:off x="9748608" y="2762994"/>
            <a:ext cx="936104" cy="280831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800" dirty="0"/>
              <a:t>紅軍</a:t>
            </a:r>
            <a:r>
              <a:rPr kumimoji="1" lang="en-US" altLang="zh-CN" sz="2800" dirty="0"/>
              <a:t>2</a:t>
            </a:r>
            <a:endParaRPr kumimoji="1" lang="zh-CN" altLang="en-US" sz="2800" dirty="0"/>
          </a:p>
        </p:txBody>
      </p:sp>
      <p:sp>
        <p:nvSpPr>
          <p:cNvPr id="11" name="矩形 10">
            <a:extLst>
              <a:ext uri="{FF2B5EF4-FFF2-40B4-BE49-F238E27FC236}">
                <a16:creationId xmlns:a16="http://schemas.microsoft.com/office/drawing/2014/main" id="{82E26884-1304-654C-999C-8DDEA62E4457}"/>
              </a:ext>
            </a:extLst>
          </p:cNvPr>
          <p:cNvSpPr/>
          <p:nvPr/>
        </p:nvSpPr>
        <p:spPr>
          <a:xfrm>
            <a:off x="8812504" y="1855967"/>
            <a:ext cx="936104" cy="4608512"/>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800" dirty="0"/>
              <a:t>藍軍</a:t>
            </a:r>
          </a:p>
        </p:txBody>
      </p:sp>
    </p:spTree>
    <p:extLst>
      <p:ext uri="{BB962C8B-B14F-4D97-AF65-F5344CB8AC3E}">
        <p14:creationId xmlns:p14="http://schemas.microsoft.com/office/powerpoint/2010/main" val="374771425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kumimoji="1" lang="zh-CN" altLang="en-US" sz="4000" dirty="0"/>
              <a:t>問題簡化</a:t>
            </a:r>
          </a:p>
        </p:txBody>
      </p:sp>
      <p:sp>
        <p:nvSpPr>
          <p:cNvPr id="18" name="内容占位符 2">
            <a:extLst>
              <a:ext uri="{FF2B5EF4-FFF2-40B4-BE49-F238E27FC236}">
                <a16:creationId xmlns:a16="http://schemas.microsoft.com/office/drawing/2014/main" id="{645F748B-F86B-A84B-B23B-DF140F2E3ED5}"/>
              </a:ext>
            </a:extLst>
          </p:cNvPr>
          <p:cNvSpPr txBox="1"/>
          <p:nvPr/>
        </p:nvSpPr>
        <p:spPr>
          <a:xfrm>
            <a:off x="864247" y="1111554"/>
            <a:ext cx="7564995" cy="5424246"/>
          </a:xfrm>
          <a:prstGeom prst="rect">
            <a:avLst/>
          </a:prstGeom>
          <a:ln>
            <a:solidFill>
              <a:srgbClr val="00B0F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3600"/>
              </a:lnSpc>
              <a:spcBef>
                <a:spcPts val="600"/>
              </a:spcBef>
              <a:spcAft>
                <a:spcPts val="600"/>
              </a:spcAft>
            </a:pPr>
            <a:r>
              <a:rPr kumimoji="1" lang="zh-CN" altLang="en-US" sz="2400" dirty="0">
                <a:latin typeface="Microsoft YaHei" panose="020B0503020204020204" pitchFamily="34" charset="-122"/>
                <a:ea typeface="Microsoft YaHei" panose="020B0503020204020204" pitchFamily="34" charset="-122"/>
              </a:rPr>
              <a:t>將問題簡化爲：</a:t>
            </a:r>
            <a:r>
              <a:rPr kumimoji="1" lang="zh-CN" altLang="en-US" sz="2400" b="1" dirty="0">
                <a:solidFill>
                  <a:srgbClr val="C00000"/>
                </a:solidFill>
                <a:latin typeface="Microsoft YaHei" panose="020B0503020204020204" pitchFamily="34" charset="-122"/>
                <a:ea typeface="Microsoft YaHei" panose="020B0503020204020204" pitchFamily="34" charset="-122"/>
              </a:rPr>
              <a:t>一個將軍</a:t>
            </a:r>
            <a:r>
              <a:rPr kumimoji="1" lang="zh-CN" altLang="en-US" sz="2400" dirty="0">
                <a:latin typeface="Microsoft YaHei" panose="020B0503020204020204" pitchFamily="34" charset="-122"/>
                <a:ea typeface="Microsoft YaHei" panose="020B0503020204020204" pitchFamily="34" charset="-122"/>
              </a:rPr>
              <a:t>將消息發送給</a:t>
            </a:r>
            <a:r>
              <a:rPr kumimoji="1" lang="zh-CN" altLang="en-US" sz="2400" b="1" dirty="0">
                <a:solidFill>
                  <a:srgbClr val="C00000"/>
                </a:solidFill>
                <a:latin typeface="Microsoft YaHei" panose="020B0503020204020204" pitchFamily="34" charset="-122"/>
                <a:ea typeface="Microsoft YaHei" panose="020B0503020204020204" pitchFamily="34" charset="-122"/>
              </a:rPr>
              <a:t>其他的副官</a:t>
            </a:r>
            <a:endParaRPr kumimoji="1" lang="en-US" altLang="zh-CN" sz="2400" b="1" dirty="0">
              <a:solidFill>
                <a:srgbClr val="C00000"/>
              </a:solidFill>
              <a:latin typeface="Microsoft YaHei" panose="020B0503020204020204" pitchFamily="34" charset="-122"/>
              <a:ea typeface="Microsoft YaHei" panose="020B0503020204020204" pitchFamily="34" charset="-122"/>
            </a:endParaRPr>
          </a:p>
          <a:p>
            <a:pPr>
              <a:lnSpc>
                <a:spcPts val="3600"/>
              </a:lnSpc>
              <a:spcBef>
                <a:spcPts val="600"/>
              </a:spcBef>
              <a:spcAft>
                <a:spcPts val="600"/>
              </a:spcAft>
            </a:pPr>
            <a:r>
              <a:rPr kumimoji="1" lang="zh-CN" altLang="en-US" sz="2400" dirty="0">
                <a:latin typeface="Microsoft YaHei" panose="020B0503020204020204" pitchFamily="34" charset="-122"/>
                <a:ea typeface="Microsoft YaHei" panose="020B0503020204020204" pitchFamily="34" charset="-122"/>
              </a:rPr>
              <a:t>拜占庭將軍問題</a:t>
            </a:r>
            <a:endParaRPr kumimoji="1" lang="en-US" altLang="zh-CN" sz="2400" dirty="0">
              <a:latin typeface="Microsoft YaHei" panose="020B0503020204020204" pitchFamily="34" charset="-122"/>
              <a:ea typeface="Microsoft YaHei" panose="020B0503020204020204" pitchFamily="34" charset="-122"/>
            </a:endParaRPr>
          </a:p>
          <a:p>
            <a:pPr marL="686700" lvl="1" indent="-342900">
              <a:lnSpc>
                <a:spcPts val="3600"/>
              </a:lnSpc>
              <a:spcBef>
                <a:spcPts val="600"/>
              </a:spcBef>
              <a:spcAft>
                <a:spcPts val="600"/>
              </a:spcAft>
            </a:pPr>
            <a:r>
              <a:rPr kumimoji="1" lang="zh-CN" altLang="en-US" dirty="0">
                <a:latin typeface="Microsoft YaHei" panose="020B0503020204020204" pitchFamily="34" charset="-122"/>
                <a:ea typeface="Microsoft YaHei" panose="020B0503020204020204" pitchFamily="34" charset="-122"/>
              </a:rPr>
              <a:t>將軍（發布命令者）必須將他的命令發送給他的</a:t>
            </a:r>
            <a:r>
              <a:rPr kumimoji="1" lang="en-US" altLang="zh-CN" dirty="0">
                <a:latin typeface="Microsoft YaHei" panose="020B0503020204020204" pitchFamily="34" charset="-122"/>
                <a:ea typeface="Microsoft YaHei" panose="020B0503020204020204" pitchFamily="34" charset="-122"/>
              </a:rPr>
              <a:t> n-1 </a:t>
            </a:r>
            <a:r>
              <a:rPr kumimoji="1" lang="zh-CN" altLang="en-US" dirty="0">
                <a:latin typeface="Microsoft YaHei" panose="020B0503020204020204" pitchFamily="34" charset="-122"/>
                <a:ea typeface="Microsoft YaHei" panose="020B0503020204020204" pitchFamily="34" charset="-122"/>
              </a:rPr>
              <a:t>個副官</a:t>
            </a:r>
            <a:endParaRPr kumimoji="1" lang="en-US" altLang="zh-CN" dirty="0">
              <a:latin typeface="Microsoft YaHei" panose="020B0503020204020204" pitchFamily="34" charset="-122"/>
              <a:ea typeface="Microsoft YaHei" panose="020B0503020204020204" pitchFamily="34" charset="-122"/>
            </a:endParaRPr>
          </a:p>
          <a:p>
            <a:pPr>
              <a:lnSpc>
                <a:spcPts val="3600"/>
              </a:lnSpc>
              <a:spcBef>
                <a:spcPts val="600"/>
              </a:spcBef>
              <a:spcAft>
                <a:spcPts val="600"/>
              </a:spcAft>
            </a:pPr>
            <a:r>
              <a:rPr kumimoji="1" lang="zh-CN" altLang="en-US" sz="2400" dirty="0">
                <a:latin typeface="Microsoft YaHei" panose="020B0503020204020204" pitchFamily="34" charset="-122"/>
                <a:ea typeface="Microsoft YaHei" panose="020B0503020204020204" pitchFamily="34" charset="-122"/>
              </a:rPr>
              <a:t>交互一致性（</a:t>
            </a:r>
            <a:r>
              <a:rPr kumimoji="1" lang="en-US" altLang="zh-CN" sz="2400" dirty="0">
                <a:latin typeface="Microsoft YaHei" panose="020B0503020204020204" pitchFamily="34" charset="-122"/>
                <a:ea typeface="Microsoft YaHei" panose="020B0503020204020204" pitchFamily="34" charset="-122"/>
              </a:rPr>
              <a:t> Interactive Consistency </a:t>
            </a:r>
            <a:r>
              <a:rPr kumimoji="1" lang="zh-CN" altLang="en-US" sz="2400" dirty="0">
                <a:latin typeface="Microsoft YaHei" panose="020B0503020204020204" pitchFamily="34" charset="-122"/>
                <a:ea typeface="Microsoft YaHei" panose="020B0503020204020204" pitchFamily="34" charset="-122"/>
              </a:rPr>
              <a:t>，</a:t>
            </a:r>
            <a:r>
              <a:rPr kumimoji="1" lang="en-US" altLang="zh-CN" sz="2400" dirty="0">
                <a:latin typeface="Microsoft YaHei" panose="020B0503020204020204" pitchFamily="34" charset="-122"/>
                <a:ea typeface="Microsoft YaHei" panose="020B0503020204020204" pitchFamily="34" charset="-122"/>
              </a:rPr>
              <a:t>IC</a:t>
            </a:r>
            <a:r>
              <a:rPr kumimoji="1" lang="zh-CN" altLang="en-US" sz="2400" dirty="0">
                <a:latin typeface="Microsoft YaHei" panose="020B0503020204020204" pitchFamily="34" charset="-122"/>
                <a:ea typeface="Microsoft YaHei" panose="020B0503020204020204" pitchFamily="34" charset="-122"/>
              </a:rPr>
              <a:t>）</a:t>
            </a:r>
            <a:endParaRPr kumimoji="1" lang="en-US" altLang="zh-CN" sz="2400" dirty="0">
              <a:latin typeface="Microsoft YaHei" panose="020B0503020204020204" pitchFamily="34" charset="-122"/>
              <a:ea typeface="Microsoft YaHei" panose="020B0503020204020204" pitchFamily="34" charset="-122"/>
            </a:endParaRPr>
          </a:p>
          <a:p>
            <a:pPr marL="686700" lvl="1" indent="-342900">
              <a:lnSpc>
                <a:spcPts val="3600"/>
              </a:lnSpc>
              <a:spcBef>
                <a:spcPts val="600"/>
              </a:spcBef>
              <a:spcAft>
                <a:spcPts val="600"/>
              </a:spcAft>
            </a:pPr>
            <a:r>
              <a:rPr kumimoji="1" lang="en-US" altLang="zh-CN" dirty="0">
                <a:latin typeface="Microsoft YaHei" panose="020B0503020204020204" pitchFamily="34" charset="-122"/>
                <a:ea typeface="Microsoft YaHei" panose="020B0503020204020204" pitchFamily="34" charset="-122"/>
              </a:rPr>
              <a:t>IC1: </a:t>
            </a:r>
            <a:r>
              <a:rPr kumimoji="1" lang="zh-CN" altLang="en-US" dirty="0">
                <a:latin typeface="Microsoft YaHei" panose="020B0503020204020204" pitchFamily="34" charset="-122"/>
                <a:ea typeface="Microsoft YaHei" panose="020B0503020204020204" pitchFamily="34" charset="-122"/>
              </a:rPr>
              <a:t>所有忠誠的副官都服從同樣的命令</a:t>
            </a:r>
            <a:endParaRPr kumimoji="1" lang="en-US" altLang="zh-CN" dirty="0">
              <a:latin typeface="Microsoft YaHei" panose="020B0503020204020204" pitchFamily="34" charset="-122"/>
              <a:ea typeface="Microsoft YaHei" panose="020B0503020204020204" pitchFamily="34" charset="-122"/>
            </a:endParaRPr>
          </a:p>
          <a:p>
            <a:pPr marL="686700" lvl="1" indent="-342900">
              <a:lnSpc>
                <a:spcPts val="3600"/>
              </a:lnSpc>
              <a:spcBef>
                <a:spcPts val="600"/>
              </a:spcBef>
              <a:spcAft>
                <a:spcPts val="600"/>
              </a:spcAft>
            </a:pPr>
            <a:r>
              <a:rPr kumimoji="1" lang="en-US" altLang="zh-CN" dirty="0">
                <a:latin typeface="Microsoft YaHei" panose="020B0503020204020204" pitchFamily="34" charset="-122"/>
                <a:ea typeface="Microsoft YaHei" panose="020B0503020204020204" pitchFamily="34" charset="-122"/>
              </a:rPr>
              <a:t>IC2:</a:t>
            </a:r>
            <a:r>
              <a:rPr kumimoji="1" lang="zh-CN" altLang="en-US" dirty="0">
                <a:latin typeface="Microsoft YaHei" panose="020B0503020204020204" pitchFamily="34" charset="-122"/>
                <a:ea typeface="Microsoft YaHei" panose="020B0503020204020204" pitchFamily="34" charset="-122"/>
              </a:rPr>
              <a:t> 如果發布命令的將軍是忠誠的，那麽每個忠誠的副官都服從他的命令</a:t>
            </a:r>
            <a:endParaRPr kumimoji="1" lang="en-US" altLang="zh-CN" dirty="0">
              <a:latin typeface="Microsoft YaHei" panose="020B0503020204020204" pitchFamily="34" charset="-122"/>
              <a:ea typeface="Microsoft YaHei" panose="020B0503020204020204" pitchFamily="34" charset="-122"/>
            </a:endParaRPr>
          </a:p>
          <a:p>
            <a:pPr>
              <a:lnSpc>
                <a:spcPts val="3600"/>
              </a:lnSpc>
              <a:spcBef>
                <a:spcPts val="600"/>
              </a:spcBef>
              <a:spcAft>
                <a:spcPts val="600"/>
              </a:spcAft>
            </a:pPr>
            <a:r>
              <a:rPr kumimoji="1" lang="zh-CN" altLang="en-US" sz="2400" dirty="0">
                <a:latin typeface="Microsoft YaHei" panose="020B0503020204020204" pitchFamily="34" charset="-122"/>
                <a:ea typeface="Microsoft YaHei" panose="020B0503020204020204" pitchFamily="34" charset="-122"/>
              </a:rPr>
              <a:t>注意：如果將軍是忠誠的，那麽</a:t>
            </a:r>
            <a:r>
              <a:rPr kumimoji="1" lang="en-US" altLang="zh-CN" sz="2400" dirty="0">
                <a:latin typeface="Microsoft YaHei" panose="020B0503020204020204" pitchFamily="34" charset="-122"/>
                <a:ea typeface="Microsoft YaHei" panose="020B0503020204020204" pitchFamily="34" charset="-122"/>
              </a:rPr>
              <a:t> IC2 </a:t>
            </a:r>
            <a:r>
              <a:rPr kumimoji="1" lang="zh-CN" altLang="en-US" sz="2400" dirty="0">
                <a:latin typeface="Microsoft YaHei" panose="020B0503020204020204" pitchFamily="34" charset="-122"/>
                <a:ea typeface="Microsoft YaHei" panose="020B0503020204020204" pitchFamily="34" charset="-122"/>
              </a:rPr>
              <a:t>等價于</a:t>
            </a:r>
            <a:r>
              <a:rPr kumimoji="1" lang="en-US" altLang="zh-CN" sz="2400" dirty="0">
                <a:latin typeface="Microsoft YaHei" panose="020B0503020204020204" pitchFamily="34" charset="-122"/>
                <a:ea typeface="Microsoft YaHei" panose="020B0503020204020204" pitchFamily="34" charset="-122"/>
              </a:rPr>
              <a:t> IC1</a:t>
            </a:r>
          </a:p>
        </p:txBody>
      </p:sp>
      <p:grpSp>
        <p:nvGrpSpPr>
          <p:cNvPr id="5" name="组合 4">
            <a:extLst>
              <a:ext uri="{FF2B5EF4-FFF2-40B4-BE49-F238E27FC236}">
                <a16:creationId xmlns:a16="http://schemas.microsoft.com/office/drawing/2014/main" id="{FFF9695F-6FFB-574A-9CEE-43094E938E64}"/>
              </a:ext>
            </a:extLst>
          </p:cNvPr>
          <p:cNvGrpSpPr/>
          <p:nvPr/>
        </p:nvGrpSpPr>
        <p:grpSpPr>
          <a:xfrm>
            <a:off x="8586059" y="774975"/>
            <a:ext cx="3241743" cy="5760825"/>
            <a:chOff x="8927518" y="1309413"/>
            <a:chExt cx="2853791" cy="5071405"/>
          </a:xfrm>
        </p:grpSpPr>
        <p:grpSp>
          <p:nvGrpSpPr>
            <p:cNvPr id="4" name="组合 3">
              <a:extLst>
                <a:ext uri="{FF2B5EF4-FFF2-40B4-BE49-F238E27FC236}">
                  <a16:creationId xmlns:a16="http://schemas.microsoft.com/office/drawing/2014/main" id="{3F6B1622-525F-3549-B4C4-F52C7803A682}"/>
                </a:ext>
              </a:extLst>
            </p:cNvPr>
            <p:cNvGrpSpPr/>
            <p:nvPr/>
          </p:nvGrpSpPr>
          <p:grpSpPr>
            <a:xfrm>
              <a:off x="8927518" y="2997168"/>
              <a:ext cx="718912" cy="1783726"/>
              <a:chOff x="8868143" y="3139671"/>
              <a:chExt cx="718912" cy="1783726"/>
            </a:xfrm>
          </p:grpSpPr>
          <p:pic>
            <p:nvPicPr>
              <p:cNvPr id="13" name="图片 12">
                <a:extLst>
                  <a:ext uri="{FF2B5EF4-FFF2-40B4-BE49-F238E27FC236}">
                    <a16:creationId xmlns:a16="http://schemas.microsoft.com/office/drawing/2014/main" id="{0250BDB1-43AF-624C-8A73-8FD2B4A35F2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64600" t="46587" r="19441"/>
              <a:stretch/>
            </p:blipFill>
            <p:spPr>
              <a:xfrm>
                <a:off x="8868143" y="3139671"/>
                <a:ext cx="712521" cy="1470468"/>
              </a:xfrm>
              <a:prstGeom prst="rect">
                <a:avLst/>
              </a:prstGeom>
            </p:spPr>
          </p:pic>
          <p:sp>
            <p:nvSpPr>
              <p:cNvPr id="15" name="文本框 14">
                <a:extLst>
                  <a:ext uri="{FF2B5EF4-FFF2-40B4-BE49-F238E27FC236}">
                    <a16:creationId xmlns:a16="http://schemas.microsoft.com/office/drawing/2014/main" id="{3157F403-84C2-D84A-B062-EF7C5C574F7B}"/>
                  </a:ext>
                </a:extLst>
              </p:cNvPr>
              <p:cNvSpPr txBox="1"/>
              <p:nvPr/>
            </p:nvSpPr>
            <p:spPr>
              <a:xfrm>
                <a:off x="8903768" y="4598264"/>
                <a:ext cx="683287" cy="325133"/>
              </a:xfrm>
              <a:prstGeom prst="rect">
                <a:avLst/>
              </a:prstGeom>
              <a:noFill/>
            </p:spPr>
            <p:txBody>
              <a:bodyPr wrap="none" rtlCol="0">
                <a:spAutoFit/>
              </a:bodyPr>
              <a:lstStyle/>
              <a:p>
                <a:r>
                  <a:rPr kumimoji="1" lang="zh-CN" altLang="en-US" dirty="0">
                    <a:latin typeface="Microsoft YaHei" panose="020B0503020204020204" pitchFamily="34" charset="-122"/>
                    <a:ea typeface="Microsoft YaHei" panose="020B0503020204020204" pitchFamily="34" charset="-122"/>
                  </a:rPr>
                  <a:t>將軍</a:t>
                </a:r>
                <a:r>
                  <a:rPr kumimoji="1" lang="en-US" altLang="zh-CN" dirty="0">
                    <a:latin typeface="Microsoft YaHei" panose="020B0503020204020204" pitchFamily="34" charset="-122"/>
                    <a:ea typeface="Microsoft YaHei" panose="020B0503020204020204" pitchFamily="34" charset="-122"/>
                  </a:rPr>
                  <a:t> </a:t>
                </a:r>
                <a:r>
                  <a:rPr kumimoji="1" lang="en-US" altLang="zh-CN" dirty="0" err="1">
                    <a:latin typeface="Microsoft YaHei" panose="020B0503020204020204" pitchFamily="34" charset="-122"/>
                    <a:ea typeface="Microsoft YaHei" panose="020B0503020204020204" pitchFamily="34" charset="-122"/>
                  </a:rPr>
                  <a:t>i</a:t>
                </a:r>
                <a:endParaRPr kumimoji="1" lang="en-US" altLang="zh-CN" dirty="0">
                  <a:latin typeface="Microsoft YaHei" panose="020B0503020204020204" pitchFamily="34" charset="-122"/>
                  <a:ea typeface="Microsoft YaHei" panose="020B0503020204020204" pitchFamily="34" charset="-122"/>
                </a:endParaRPr>
              </a:p>
            </p:txBody>
          </p:sp>
        </p:grpSp>
        <p:pic>
          <p:nvPicPr>
            <p:cNvPr id="26" name="图片 25">
              <a:extLst>
                <a:ext uri="{FF2B5EF4-FFF2-40B4-BE49-F238E27FC236}">
                  <a16:creationId xmlns:a16="http://schemas.microsoft.com/office/drawing/2014/main" id="{5D3314BE-7EFC-0C45-A53D-9BAF151CB6B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79796" t="57200" r="4244" b="5384"/>
            <a:stretch/>
          </p:blipFill>
          <p:spPr>
            <a:xfrm>
              <a:off x="10892651" y="1309413"/>
              <a:ext cx="888658" cy="1284718"/>
            </a:xfrm>
            <a:prstGeom prst="rect">
              <a:avLst/>
            </a:prstGeom>
          </p:spPr>
        </p:pic>
        <p:pic>
          <p:nvPicPr>
            <p:cNvPr id="31" name="图片 30">
              <a:extLst>
                <a:ext uri="{FF2B5EF4-FFF2-40B4-BE49-F238E27FC236}">
                  <a16:creationId xmlns:a16="http://schemas.microsoft.com/office/drawing/2014/main" id="{9B864181-78D2-EE44-8E8C-7CE83CC056B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79796" t="57200" r="4244" b="5384"/>
            <a:stretch/>
          </p:blipFill>
          <p:spPr>
            <a:xfrm>
              <a:off x="10891658" y="4911434"/>
              <a:ext cx="888658" cy="1284718"/>
            </a:xfrm>
            <a:prstGeom prst="rect">
              <a:avLst/>
            </a:prstGeom>
          </p:spPr>
        </p:pic>
        <p:pic>
          <p:nvPicPr>
            <p:cNvPr id="32" name="图片 31">
              <a:extLst>
                <a:ext uri="{FF2B5EF4-FFF2-40B4-BE49-F238E27FC236}">
                  <a16:creationId xmlns:a16="http://schemas.microsoft.com/office/drawing/2014/main" id="{2D112334-7FDA-FF47-AE68-C038EF6EA04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79796" t="57200" r="4244" b="5384"/>
            <a:stretch/>
          </p:blipFill>
          <p:spPr>
            <a:xfrm>
              <a:off x="10891658" y="3045298"/>
              <a:ext cx="888658" cy="1284718"/>
            </a:xfrm>
            <a:prstGeom prst="rect">
              <a:avLst/>
            </a:prstGeom>
          </p:spPr>
        </p:pic>
        <p:cxnSp>
          <p:nvCxnSpPr>
            <p:cNvPr id="6" name="直线箭头连接符 5">
              <a:extLst>
                <a:ext uri="{FF2B5EF4-FFF2-40B4-BE49-F238E27FC236}">
                  <a16:creationId xmlns:a16="http://schemas.microsoft.com/office/drawing/2014/main" id="{1BE3C724-A2B3-5E4C-B52A-59E2DECD8661}"/>
                </a:ext>
              </a:extLst>
            </p:cNvPr>
            <p:cNvCxnSpPr>
              <a:cxnSpLocks/>
              <a:stCxn id="13" idx="3"/>
            </p:cNvCxnSpPr>
            <p:nvPr/>
          </p:nvCxnSpPr>
          <p:spPr>
            <a:xfrm flipV="1">
              <a:off x="9640039" y="2199813"/>
              <a:ext cx="1154631" cy="1532589"/>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cxnSp>
          <p:nvCxnSpPr>
            <p:cNvPr id="33" name="直线箭头连接符 32">
              <a:extLst>
                <a:ext uri="{FF2B5EF4-FFF2-40B4-BE49-F238E27FC236}">
                  <a16:creationId xmlns:a16="http://schemas.microsoft.com/office/drawing/2014/main" id="{BCC1CE60-DEA3-1C44-A98D-4326E35CC61C}"/>
                </a:ext>
              </a:extLst>
            </p:cNvPr>
            <p:cNvCxnSpPr>
              <a:cxnSpLocks/>
              <a:stCxn id="13" idx="3"/>
            </p:cNvCxnSpPr>
            <p:nvPr/>
          </p:nvCxnSpPr>
          <p:spPr>
            <a:xfrm>
              <a:off x="9640039" y="3732402"/>
              <a:ext cx="1154631" cy="0"/>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cxnSp>
          <p:nvCxnSpPr>
            <p:cNvPr id="34" name="直线箭头连接符 33">
              <a:extLst>
                <a:ext uri="{FF2B5EF4-FFF2-40B4-BE49-F238E27FC236}">
                  <a16:creationId xmlns:a16="http://schemas.microsoft.com/office/drawing/2014/main" id="{B1C172F8-482E-6447-B1C8-CF60B9AEE8E1}"/>
                </a:ext>
              </a:extLst>
            </p:cNvPr>
            <p:cNvCxnSpPr>
              <a:cxnSpLocks/>
              <a:stCxn id="13" idx="3"/>
            </p:cNvCxnSpPr>
            <p:nvPr/>
          </p:nvCxnSpPr>
          <p:spPr>
            <a:xfrm>
              <a:off x="9640039" y="3732402"/>
              <a:ext cx="1101681" cy="1532589"/>
            </a:xfrm>
            <a:prstGeom prst="straightConnector1">
              <a:avLst/>
            </a:prstGeom>
            <a:ln w="38100">
              <a:tailEnd type="triangle" w="lg" len="lg"/>
            </a:ln>
          </p:spPr>
          <p:style>
            <a:lnRef idx="1">
              <a:schemeClr val="accent1"/>
            </a:lnRef>
            <a:fillRef idx="0">
              <a:schemeClr val="accent1"/>
            </a:fillRef>
            <a:effectRef idx="0">
              <a:schemeClr val="accent1"/>
            </a:effectRef>
            <a:fontRef idx="minor">
              <a:schemeClr val="tx1"/>
            </a:fontRef>
          </p:style>
        </p:cxnSp>
        <p:sp>
          <p:nvSpPr>
            <p:cNvPr id="36" name="矩形 35">
              <a:extLst>
                <a:ext uri="{FF2B5EF4-FFF2-40B4-BE49-F238E27FC236}">
                  <a16:creationId xmlns:a16="http://schemas.microsoft.com/office/drawing/2014/main" id="{A0DC5F68-0088-7A40-8A14-4228FB8A4B6E}"/>
                </a:ext>
              </a:extLst>
            </p:cNvPr>
            <p:cNvSpPr/>
            <p:nvPr/>
          </p:nvSpPr>
          <p:spPr>
            <a:xfrm>
              <a:off x="10964008" y="6011486"/>
              <a:ext cx="646331" cy="369332"/>
            </a:xfrm>
            <a:prstGeom prst="rect">
              <a:avLst/>
            </a:prstGeom>
          </p:spPr>
          <p:txBody>
            <a:bodyPr wrap="none">
              <a:spAutoFit/>
            </a:bodyPr>
            <a:lstStyle/>
            <a:p>
              <a:r>
                <a:rPr kumimoji="1" lang="zh-CN" altLang="en-US" dirty="0">
                  <a:latin typeface="Microsoft YaHei" panose="020B0503020204020204" pitchFamily="34" charset="-122"/>
                  <a:ea typeface="Microsoft YaHei" panose="020B0503020204020204" pitchFamily="34" charset="-122"/>
                </a:rPr>
                <a:t>副官</a:t>
              </a:r>
              <a:endParaRPr kumimoji="1" lang="en-US" altLang="zh-CN" dirty="0">
                <a:latin typeface="Microsoft YaHei" panose="020B0503020204020204" pitchFamily="34" charset="-122"/>
                <a:ea typeface="Microsoft YaHei" panose="020B0503020204020204" pitchFamily="34" charset="-122"/>
              </a:endParaRPr>
            </a:p>
          </p:txBody>
        </p:sp>
        <p:sp>
          <p:nvSpPr>
            <p:cNvPr id="37" name="矩形 36">
              <a:extLst>
                <a:ext uri="{FF2B5EF4-FFF2-40B4-BE49-F238E27FC236}">
                  <a16:creationId xmlns:a16="http://schemas.microsoft.com/office/drawing/2014/main" id="{15F4EAEE-0E16-2640-A247-08C8BE944F28}"/>
                </a:ext>
              </a:extLst>
            </p:cNvPr>
            <p:cNvSpPr/>
            <p:nvPr/>
          </p:nvSpPr>
          <p:spPr>
            <a:xfrm>
              <a:off x="11017820" y="4098304"/>
              <a:ext cx="646331" cy="369332"/>
            </a:xfrm>
            <a:prstGeom prst="rect">
              <a:avLst/>
            </a:prstGeom>
          </p:spPr>
          <p:txBody>
            <a:bodyPr wrap="none">
              <a:spAutoFit/>
            </a:bodyPr>
            <a:lstStyle/>
            <a:p>
              <a:r>
                <a:rPr kumimoji="1" lang="zh-CN" altLang="en-US" dirty="0">
                  <a:latin typeface="Microsoft YaHei" panose="020B0503020204020204" pitchFamily="34" charset="-122"/>
                  <a:ea typeface="Microsoft YaHei" panose="020B0503020204020204" pitchFamily="34" charset="-122"/>
                </a:rPr>
                <a:t>副官</a:t>
              </a:r>
              <a:endParaRPr kumimoji="1" lang="en-US" altLang="zh-CN" dirty="0">
                <a:latin typeface="Microsoft YaHei" panose="020B0503020204020204" pitchFamily="34" charset="-122"/>
                <a:ea typeface="Microsoft YaHei" panose="020B0503020204020204" pitchFamily="34" charset="-122"/>
              </a:endParaRPr>
            </a:p>
          </p:txBody>
        </p:sp>
        <p:sp>
          <p:nvSpPr>
            <p:cNvPr id="38" name="矩形 37">
              <a:extLst>
                <a:ext uri="{FF2B5EF4-FFF2-40B4-BE49-F238E27FC236}">
                  <a16:creationId xmlns:a16="http://schemas.microsoft.com/office/drawing/2014/main" id="{37AB3137-77EA-104D-A0C8-83774E8B7438}"/>
                </a:ext>
              </a:extLst>
            </p:cNvPr>
            <p:cNvSpPr/>
            <p:nvPr/>
          </p:nvSpPr>
          <p:spPr>
            <a:xfrm>
              <a:off x="11017820" y="2409465"/>
              <a:ext cx="646331" cy="369332"/>
            </a:xfrm>
            <a:prstGeom prst="rect">
              <a:avLst/>
            </a:prstGeom>
          </p:spPr>
          <p:txBody>
            <a:bodyPr wrap="none">
              <a:spAutoFit/>
            </a:bodyPr>
            <a:lstStyle/>
            <a:p>
              <a:r>
                <a:rPr kumimoji="1" lang="zh-CN" altLang="en-US" dirty="0">
                  <a:latin typeface="Microsoft YaHei" panose="020B0503020204020204" pitchFamily="34" charset="-122"/>
                  <a:ea typeface="Microsoft YaHei" panose="020B0503020204020204" pitchFamily="34" charset="-122"/>
                </a:rPr>
                <a:t>副官</a:t>
              </a:r>
              <a:endParaRPr kumimoji="1" lang="en-US" altLang="zh-CN" dirty="0">
                <a:latin typeface="Microsoft YaHei" panose="020B0503020204020204" pitchFamily="34" charset="-122"/>
                <a:ea typeface="Microsoft YaHei" panose="020B0503020204020204" pitchFamily="34" charset="-122"/>
              </a:endParaRPr>
            </a:p>
          </p:txBody>
        </p:sp>
        <p:sp>
          <p:nvSpPr>
            <p:cNvPr id="41" name="矩形 40">
              <a:extLst>
                <a:ext uri="{FF2B5EF4-FFF2-40B4-BE49-F238E27FC236}">
                  <a16:creationId xmlns:a16="http://schemas.microsoft.com/office/drawing/2014/main" id="{42D88CF6-F53C-894A-BA98-CDA1F5DC7858}"/>
                </a:ext>
              </a:extLst>
            </p:cNvPr>
            <p:cNvSpPr/>
            <p:nvPr/>
          </p:nvSpPr>
          <p:spPr>
            <a:xfrm>
              <a:off x="10012446" y="2455769"/>
              <a:ext cx="367408" cy="369332"/>
            </a:xfrm>
            <a:prstGeom prst="rect">
              <a:avLst/>
            </a:prstGeom>
          </p:spPr>
          <p:txBody>
            <a:bodyPr wrap="none">
              <a:spAutoFit/>
            </a:bodyPr>
            <a:lstStyle/>
            <a:p>
              <a:r>
                <a:rPr kumimoji="1" lang="en-US" altLang="zh-CN" dirty="0">
                  <a:latin typeface="Microsoft YaHei" panose="020B0503020204020204" pitchFamily="34" charset="-122"/>
                  <a:ea typeface="Microsoft YaHei" panose="020B0503020204020204" pitchFamily="34" charset="-122"/>
                </a:rPr>
                <a:t>vi</a:t>
              </a:r>
              <a:endParaRPr lang="zh-CN" altLang="en-US" dirty="0"/>
            </a:p>
          </p:txBody>
        </p:sp>
        <p:sp>
          <p:nvSpPr>
            <p:cNvPr id="42" name="矩形 41">
              <a:extLst>
                <a:ext uri="{FF2B5EF4-FFF2-40B4-BE49-F238E27FC236}">
                  <a16:creationId xmlns:a16="http://schemas.microsoft.com/office/drawing/2014/main" id="{D20BABBE-9C65-6043-8070-AB58946F6CCB}"/>
                </a:ext>
              </a:extLst>
            </p:cNvPr>
            <p:cNvSpPr/>
            <p:nvPr/>
          </p:nvSpPr>
          <p:spPr>
            <a:xfrm>
              <a:off x="10027851" y="4660861"/>
              <a:ext cx="367408" cy="369332"/>
            </a:xfrm>
            <a:prstGeom prst="rect">
              <a:avLst/>
            </a:prstGeom>
          </p:spPr>
          <p:txBody>
            <a:bodyPr wrap="none">
              <a:spAutoFit/>
            </a:bodyPr>
            <a:lstStyle/>
            <a:p>
              <a:r>
                <a:rPr kumimoji="1" lang="en-US" altLang="zh-CN" dirty="0">
                  <a:latin typeface="Microsoft YaHei" panose="020B0503020204020204" pitchFamily="34" charset="-122"/>
                  <a:ea typeface="Microsoft YaHei" panose="020B0503020204020204" pitchFamily="34" charset="-122"/>
                </a:rPr>
                <a:t>vi</a:t>
              </a:r>
              <a:endParaRPr lang="zh-CN" altLang="en-US" dirty="0"/>
            </a:p>
          </p:txBody>
        </p:sp>
        <p:sp>
          <p:nvSpPr>
            <p:cNvPr id="46" name="矩形 45">
              <a:extLst>
                <a:ext uri="{FF2B5EF4-FFF2-40B4-BE49-F238E27FC236}">
                  <a16:creationId xmlns:a16="http://schemas.microsoft.com/office/drawing/2014/main" id="{73A623E6-E95B-6E4C-B570-C45BD35EF813}"/>
                </a:ext>
              </a:extLst>
            </p:cNvPr>
            <p:cNvSpPr/>
            <p:nvPr/>
          </p:nvSpPr>
          <p:spPr>
            <a:xfrm>
              <a:off x="10034220" y="3356309"/>
              <a:ext cx="367408" cy="369332"/>
            </a:xfrm>
            <a:prstGeom prst="rect">
              <a:avLst/>
            </a:prstGeom>
          </p:spPr>
          <p:txBody>
            <a:bodyPr wrap="none">
              <a:spAutoFit/>
            </a:bodyPr>
            <a:lstStyle/>
            <a:p>
              <a:r>
                <a:rPr kumimoji="1" lang="en-US" altLang="zh-CN" dirty="0">
                  <a:latin typeface="Microsoft YaHei" panose="020B0503020204020204" pitchFamily="34" charset="-122"/>
                  <a:ea typeface="Microsoft YaHei" panose="020B0503020204020204" pitchFamily="34" charset="-122"/>
                </a:rPr>
                <a:t>vi</a:t>
              </a:r>
              <a:endParaRPr lang="zh-CN" altLang="en-US" dirty="0"/>
            </a:p>
          </p:txBody>
        </p:sp>
      </p:grpSp>
      <p:sp>
        <p:nvSpPr>
          <p:cNvPr id="20" name="灯片编号占位符 2">
            <a:extLst>
              <a:ext uri="{FF2B5EF4-FFF2-40B4-BE49-F238E27FC236}">
                <a16:creationId xmlns:a16="http://schemas.microsoft.com/office/drawing/2014/main" id="{7C9081FD-D871-EA42-915C-F1C7426B227B}"/>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96</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90200001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kumimoji="1" lang="zh-CN" altLang="en-US" sz="4000" dirty="0"/>
              <a:t>一致性和正確性條件</a:t>
            </a:r>
          </a:p>
        </p:txBody>
      </p:sp>
      <p:sp>
        <p:nvSpPr>
          <p:cNvPr id="29" name="内容占位符 2">
            <a:extLst>
              <a:ext uri="{FF2B5EF4-FFF2-40B4-BE49-F238E27FC236}">
                <a16:creationId xmlns:a16="http://schemas.microsoft.com/office/drawing/2014/main" id="{CC3AE98D-101C-3C41-8F9E-FD2D429B5627}"/>
              </a:ext>
            </a:extLst>
          </p:cNvPr>
          <p:cNvSpPr txBox="1"/>
          <p:nvPr/>
        </p:nvSpPr>
        <p:spPr>
          <a:xfrm>
            <a:off x="910689" y="1157833"/>
            <a:ext cx="10557411" cy="1726819"/>
          </a:xfrm>
          <a:prstGeom prst="rect">
            <a:avLst/>
          </a:prstGeom>
          <a:ln>
            <a:solidFill>
              <a:srgbClr val="00B0F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3600"/>
              </a:lnSpc>
              <a:spcBef>
                <a:spcPts val="0"/>
              </a:spcBef>
              <a:spcAft>
                <a:spcPts val="600"/>
              </a:spcAft>
            </a:pPr>
            <a:r>
              <a:rPr kumimoji="1" lang="zh-CN" altLang="en-US" sz="2400" dirty="0">
                <a:latin typeface="Microsoft YaHei" panose="020B0503020204020204" pitchFamily="34" charset="-122"/>
                <a:ea typeface="Microsoft YaHei" panose="020B0503020204020204" pitchFamily="34" charset="-122"/>
              </a:rPr>
              <a:t>一致性（等價</a:t>
            </a:r>
            <a:r>
              <a:rPr kumimoji="1" lang="en-US" altLang="zh-CN" sz="2400" dirty="0">
                <a:latin typeface="Microsoft YaHei" panose="020B0503020204020204" pitchFamily="34" charset="-122"/>
                <a:ea typeface="Microsoft YaHei" panose="020B0503020204020204" pitchFamily="34" charset="-122"/>
              </a:rPr>
              <a:t>IC1</a:t>
            </a:r>
            <a:r>
              <a:rPr kumimoji="1" lang="zh-CN" altLang="en-US" sz="2400" dirty="0">
                <a:latin typeface="Microsoft YaHei" panose="020B0503020204020204" pitchFamily="34" charset="-122"/>
                <a:ea typeface="Microsoft YaHei" panose="020B0503020204020204" pitchFamily="34" charset="-122"/>
              </a:rPr>
              <a:t>）</a:t>
            </a:r>
            <a:endParaRPr kumimoji="1" lang="en-US" altLang="zh-CN" sz="2400" dirty="0">
              <a:latin typeface="Microsoft YaHei" panose="020B0503020204020204" pitchFamily="34" charset="-122"/>
              <a:ea typeface="Microsoft YaHei" panose="020B0503020204020204" pitchFamily="34" charset="-122"/>
            </a:endParaRPr>
          </a:p>
          <a:p>
            <a:pPr marL="686700" lvl="1" indent="-342900">
              <a:lnSpc>
                <a:spcPts val="3600"/>
              </a:lnSpc>
              <a:spcBef>
                <a:spcPts val="0"/>
              </a:spcBef>
              <a:spcAft>
                <a:spcPts val="600"/>
              </a:spcAft>
            </a:pPr>
            <a:r>
              <a:rPr kumimoji="1" lang="zh-CN" altLang="en-US" dirty="0">
                <a:latin typeface="Microsoft YaHei" panose="020B0503020204020204" pitchFamily="34" charset="-122"/>
                <a:ea typeface="Microsoft YaHei" panose="020B0503020204020204" pitchFamily="34" charset="-122"/>
              </a:rPr>
              <a:t>每個將軍必須得到相同的</a:t>
            </a:r>
            <a:r>
              <a:rPr kumimoji="1" lang="en-US" altLang="zh-CN" dirty="0">
                <a:latin typeface="Microsoft YaHei" panose="020B0503020204020204" pitchFamily="34" charset="-122"/>
                <a:ea typeface="Microsoft YaHei" panose="020B0503020204020204" pitchFamily="34" charset="-122"/>
              </a:rPr>
              <a:t>(v1, v2, </a:t>
            </a:r>
            <a:r>
              <a:rPr kumimoji="1" lang="mr-IN" altLang="zh-CN" dirty="0">
                <a:latin typeface="Microsoft YaHei" panose="020B0503020204020204" pitchFamily="34" charset="-122"/>
                <a:ea typeface="Microsoft YaHei" panose="020B0503020204020204" pitchFamily="34" charset="-122"/>
              </a:rPr>
              <a:t>…</a:t>
            </a:r>
            <a:r>
              <a:rPr kumimoji="1" lang="en-US" altLang="zh-CN" dirty="0">
                <a:latin typeface="Microsoft YaHei" panose="020B0503020204020204" pitchFamily="34" charset="-122"/>
                <a:ea typeface="Microsoft YaHei" panose="020B0503020204020204" pitchFamily="34" charset="-122"/>
              </a:rPr>
              <a:t>, </a:t>
            </a:r>
            <a:r>
              <a:rPr kumimoji="1" lang="en-US" altLang="zh-CN" dirty="0" err="1">
                <a:latin typeface="Microsoft YaHei" panose="020B0503020204020204" pitchFamily="34" charset="-122"/>
                <a:ea typeface="Microsoft YaHei" panose="020B0503020204020204" pitchFamily="34" charset="-122"/>
              </a:rPr>
              <a:t>vn</a:t>
            </a:r>
            <a:r>
              <a:rPr kumimoji="1" lang="en-US" altLang="zh-CN" dirty="0">
                <a:latin typeface="Microsoft YaHei" panose="020B0503020204020204" pitchFamily="34" charset="-122"/>
                <a:ea typeface="Microsoft YaHei" panose="020B0503020204020204" pitchFamily="34" charset="-122"/>
              </a:rPr>
              <a:t>)</a:t>
            </a:r>
            <a:r>
              <a:rPr kumimoji="1" lang="zh-CN" altLang="en-US" dirty="0">
                <a:latin typeface="Microsoft YaHei" panose="020B0503020204020204" pitchFamily="34" charset="-122"/>
                <a:ea typeface="Microsoft YaHei" panose="020B0503020204020204" pitchFamily="34" charset="-122"/>
              </a:rPr>
              <a:t>指令向量或指令集合</a:t>
            </a:r>
            <a:endParaRPr kumimoji="1" lang="en-US" altLang="zh-CN" dirty="0">
              <a:latin typeface="Microsoft YaHei" panose="020B0503020204020204" pitchFamily="34" charset="-122"/>
              <a:ea typeface="Microsoft YaHei" panose="020B0503020204020204" pitchFamily="34" charset="-122"/>
            </a:endParaRPr>
          </a:p>
          <a:p>
            <a:pPr marL="686700" lvl="1" indent="-342900">
              <a:lnSpc>
                <a:spcPts val="3600"/>
              </a:lnSpc>
              <a:spcBef>
                <a:spcPts val="0"/>
              </a:spcBef>
              <a:spcAft>
                <a:spcPts val="600"/>
              </a:spcAft>
            </a:pPr>
            <a:r>
              <a:rPr kumimoji="1" lang="zh-CN" altLang="en-US" dirty="0">
                <a:latin typeface="Microsoft YaHei" panose="020B0503020204020204" pitchFamily="34" charset="-122"/>
                <a:ea typeface="Microsoft YaHei" panose="020B0503020204020204" pitchFamily="34" charset="-122"/>
              </a:rPr>
              <a:t>忠誠的將軍不一定使用</a:t>
            </a:r>
            <a:r>
              <a:rPr kumimoji="1" lang="en-US" altLang="zh-CN" dirty="0" err="1">
                <a:latin typeface="Microsoft YaHei" panose="020B0503020204020204" pitchFamily="34" charset="-122"/>
                <a:ea typeface="Microsoft YaHei" panose="020B0503020204020204" pitchFamily="34" charset="-122"/>
              </a:rPr>
              <a:t>i</a:t>
            </a:r>
            <a:r>
              <a:rPr kumimoji="1" lang="zh-CN" altLang="en-US" dirty="0">
                <a:latin typeface="Microsoft YaHei" panose="020B0503020204020204" pitchFamily="34" charset="-122"/>
                <a:ea typeface="Microsoft YaHei" panose="020B0503020204020204" pitchFamily="34" charset="-122"/>
              </a:rPr>
              <a:t>將軍發來的信息作爲</a:t>
            </a:r>
            <a:r>
              <a:rPr kumimoji="1" lang="en-US" altLang="zh-CN" dirty="0">
                <a:latin typeface="Microsoft YaHei" panose="020B0503020204020204" pitchFamily="34" charset="-122"/>
                <a:ea typeface="Microsoft YaHei" panose="020B0503020204020204" pitchFamily="34" charset="-122"/>
              </a:rPr>
              <a:t> vi</a:t>
            </a:r>
            <a:r>
              <a:rPr kumimoji="1" lang="zh-CN" altLang="en-US" dirty="0">
                <a:latin typeface="Microsoft YaHei" panose="020B0503020204020204" pitchFamily="34" charset="-122"/>
                <a:ea typeface="Microsoft YaHei" panose="020B0503020204020204" pitchFamily="34" charset="-122"/>
              </a:rPr>
              <a:t>，</a:t>
            </a:r>
            <a:r>
              <a:rPr kumimoji="1" lang="en-US" altLang="zh-CN" dirty="0" err="1">
                <a:latin typeface="Microsoft YaHei" panose="020B0503020204020204" pitchFamily="34" charset="-122"/>
                <a:ea typeface="Microsoft YaHei" panose="020B0503020204020204" pitchFamily="34" charset="-122"/>
              </a:rPr>
              <a:t>i</a:t>
            </a:r>
            <a:r>
              <a:rPr kumimoji="1" lang="en-US" altLang="zh-CN" dirty="0">
                <a:latin typeface="Microsoft YaHei" panose="020B0503020204020204" pitchFamily="34" charset="-122"/>
                <a:ea typeface="Microsoft YaHei" panose="020B0503020204020204" pitchFamily="34" charset="-122"/>
              </a:rPr>
              <a:t> </a:t>
            </a:r>
            <a:r>
              <a:rPr kumimoji="1" lang="zh-CN" altLang="en-US" dirty="0">
                <a:latin typeface="Microsoft YaHei" panose="020B0503020204020204" pitchFamily="34" charset="-122"/>
                <a:ea typeface="Microsoft YaHei" panose="020B0503020204020204" pitchFamily="34" charset="-122"/>
              </a:rPr>
              <a:t>將軍有可能是叛徒</a:t>
            </a:r>
            <a:endParaRPr kumimoji="1" lang="en-US" altLang="zh-CN" dirty="0">
              <a:latin typeface="Microsoft YaHei" panose="020B0503020204020204" pitchFamily="34" charset="-122"/>
              <a:ea typeface="Microsoft YaHei" panose="020B0503020204020204" pitchFamily="34" charset="-122"/>
            </a:endParaRPr>
          </a:p>
        </p:txBody>
      </p:sp>
      <p:sp>
        <p:nvSpPr>
          <p:cNvPr id="5" name="矩形 4">
            <a:extLst>
              <a:ext uri="{FF2B5EF4-FFF2-40B4-BE49-F238E27FC236}">
                <a16:creationId xmlns:a16="http://schemas.microsoft.com/office/drawing/2014/main" id="{CE40323C-3257-6844-9E8C-829878FB1624}"/>
              </a:ext>
            </a:extLst>
          </p:cNvPr>
          <p:cNvSpPr/>
          <p:nvPr/>
        </p:nvSpPr>
        <p:spPr>
          <a:xfrm>
            <a:off x="910689" y="4942288"/>
            <a:ext cx="10576461" cy="960648"/>
          </a:xfrm>
          <a:prstGeom prst="rect">
            <a:avLst/>
          </a:prstGeom>
          <a:ln>
            <a:solidFill>
              <a:srgbClr val="00B0F0"/>
            </a:solidFill>
          </a:ln>
        </p:spPr>
        <p:txBody>
          <a:bodyPr wrap="square">
            <a:spAutoFit/>
          </a:bodyPr>
          <a:lstStyle/>
          <a:p>
            <a:pPr marL="342900" indent="-342900">
              <a:lnSpc>
                <a:spcPts val="3200"/>
              </a:lnSpc>
              <a:spcBef>
                <a:spcPts val="0"/>
              </a:spcBef>
              <a:spcAft>
                <a:spcPts val="600"/>
              </a:spcAft>
              <a:buFont typeface="Arial" panose="020B0604020202020204" pitchFamily="34" charset="0"/>
              <a:buChar char="•"/>
            </a:pPr>
            <a:r>
              <a:rPr kumimoji="1" lang="zh-CN" altLang="en-US" sz="2400" dirty="0">
                <a:latin typeface="Microsoft YaHei" panose="020B0503020204020204" pitchFamily="34" charset="-122"/>
                <a:ea typeface="Microsoft YaHei" panose="020B0503020204020204" pitchFamily="34" charset="-122"/>
              </a:rPr>
              <a:t>正確性（等價</a:t>
            </a:r>
            <a:r>
              <a:rPr kumimoji="1" lang="en-US" altLang="zh-CN" sz="2400" dirty="0">
                <a:latin typeface="Microsoft YaHei" panose="020B0503020204020204" pitchFamily="34" charset="-122"/>
                <a:ea typeface="Microsoft YaHei" panose="020B0503020204020204" pitchFamily="34" charset="-122"/>
              </a:rPr>
              <a:t>IC2</a:t>
            </a:r>
            <a:r>
              <a:rPr kumimoji="1" lang="zh-CN" altLang="en-US" sz="2400" dirty="0">
                <a:latin typeface="Microsoft YaHei" panose="020B0503020204020204" pitchFamily="34" charset="-122"/>
                <a:ea typeface="Microsoft YaHei" panose="020B0503020204020204" pitchFamily="34" charset="-122"/>
              </a:rPr>
              <a:t>）</a:t>
            </a:r>
            <a:endParaRPr kumimoji="1" lang="en-US" altLang="zh-CN" sz="2400" dirty="0">
              <a:latin typeface="Microsoft YaHei" panose="020B0503020204020204" pitchFamily="34" charset="-122"/>
              <a:ea typeface="Microsoft YaHei" panose="020B0503020204020204" pitchFamily="34" charset="-122"/>
            </a:endParaRPr>
          </a:p>
          <a:p>
            <a:pPr marL="684000" lvl="1" indent="-342900">
              <a:lnSpc>
                <a:spcPts val="3200"/>
              </a:lnSpc>
              <a:spcBef>
                <a:spcPts val="0"/>
              </a:spcBef>
              <a:spcAft>
                <a:spcPts val="600"/>
              </a:spcAft>
              <a:buFont typeface="Arial" panose="020B0604020202020204" pitchFamily="34" charset="0"/>
              <a:buChar char="•"/>
            </a:pPr>
            <a:r>
              <a:rPr kumimoji="1" lang="zh-CN" altLang="en-US" sz="2400" dirty="0">
                <a:latin typeface="Microsoft YaHei" panose="020B0503020204020204" pitchFamily="34" charset="-122"/>
                <a:ea typeface="Microsoft YaHei" panose="020B0503020204020204" pitchFamily="34" charset="-122"/>
              </a:rPr>
              <a:t>若</a:t>
            </a:r>
            <a:r>
              <a:rPr kumimoji="1" lang="en-US" altLang="zh-CN" sz="2400" dirty="0" err="1">
                <a:latin typeface="Microsoft YaHei" panose="020B0503020204020204" pitchFamily="34" charset="-122"/>
                <a:ea typeface="Microsoft YaHei" panose="020B0503020204020204" pitchFamily="34" charset="-122"/>
              </a:rPr>
              <a:t>i</a:t>
            </a:r>
            <a:r>
              <a:rPr kumimoji="1" lang="zh-CN" altLang="en-US" sz="2400" dirty="0">
                <a:latin typeface="Microsoft YaHei" panose="020B0503020204020204" pitchFamily="34" charset="-122"/>
                <a:ea typeface="Microsoft YaHei" panose="020B0503020204020204" pitchFamily="34" charset="-122"/>
              </a:rPr>
              <a:t>將軍是忠誠的，其他忠誠的將軍必須使用他發出的值作爲</a:t>
            </a:r>
            <a:r>
              <a:rPr kumimoji="1" lang="en-US" altLang="zh-CN" sz="2400" dirty="0">
                <a:latin typeface="Microsoft YaHei" panose="020B0503020204020204" pitchFamily="34" charset="-122"/>
                <a:ea typeface="Microsoft YaHei" panose="020B0503020204020204" pitchFamily="34" charset="-122"/>
              </a:rPr>
              <a:t>vi</a:t>
            </a:r>
          </a:p>
        </p:txBody>
      </p:sp>
      <p:sp>
        <p:nvSpPr>
          <p:cNvPr id="7" name="矩形 6">
            <a:extLst>
              <a:ext uri="{FF2B5EF4-FFF2-40B4-BE49-F238E27FC236}">
                <a16:creationId xmlns:a16="http://schemas.microsoft.com/office/drawing/2014/main" id="{EA2DC686-0E16-F24B-BB5F-DCF5DABCDA28}"/>
              </a:ext>
            </a:extLst>
          </p:cNvPr>
          <p:cNvSpPr/>
          <p:nvPr/>
        </p:nvSpPr>
        <p:spPr>
          <a:xfrm>
            <a:off x="902776" y="3113966"/>
            <a:ext cx="10565324" cy="1534234"/>
          </a:xfrm>
          <a:prstGeom prst="rect">
            <a:avLst/>
          </a:prstGeom>
          <a:solidFill>
            <a:srgbClr val="00B0F0"/>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ctr">
              <a:lnSpc>
                <a:spcPct val="120000"/>
              </a:lnSpc>
            </a:pPr>
            <a:r>
              <a:rPr kumimoji="1" lang="zh-CN" altLang="en-US" sz="2800" b="1" dirty="0">
                <a:solidFill>
                  <a:schemeClr val="bg1"/>
                </a:solidFill>
                <a:latin typeface="Microsoft YaHei" panose="020B0503020204020204" pitchFamily="34" charset="-122"/>
                <a:ea typeface="Microsoft YaHei" panose="020B0503020204020204" pitchFamily="34" charset="-122"/>
              </a:rPr>
              <a:t>一致性條件不够充分，忠誠將軍的信息有可能被修改，</a:t>
            </a:r>
            <a:endParaRPr kumimoji="1" lang="en-US" altLang="zh-CN" sz="2800" b="1" dirty="0">
              <a:solidFill>
                <a:schemeClr val="bg1"/>
              </a:solidFill>
              <a:latin typeface="Microsoft YaHei" panose="020B0503020204020204" pitchFamily="34" charset="-122"/>
              <a:ea typeface="Microsoft YaHei" panose="020B0503020204020204" pitchFamily="34" charset="-122"/>
            </a:endParaRPr>
          </a:p>
          <a:p>
            <a:pPr algn="ctr">
              <a:lnSpc>
                <a:spcPct val="120000"/>
              </a:lnSpc>
            </a:pPr>
            <a:r>
              <a:rPr kumimoji="1" lang="zh-CN" altLang="en-US" sz="2800" b="1" dirty="0">
                <a:solidFill>
                  <a:schemeClr val="bg1"/>
                </a:solidFill>
                <a:latin typeface="Microsoft YaHei" panose="020B0503020204020204" pitchFamily="34" charset="-122"/>
                <a:ea typeface="Microsoft YaHei" panose="020B0503020204020204" pitchFamily="34" charset="-122"/>
              </a:rPr>
              <a:t>所以必須引入另一個正確性的條件</a:t>
            </a:r>
            <a:endParaRPr kumimoji="1" lang="en-US" altLang="zh-CN" sz="2800" b="1" dirty="0">
              <a:solidFill>
                <a:schemeClr val="bg1"/>
              </a:solidFill>
              <a:latin typeface="Microsoft YaHei" panose="020B0503020204020204" pitchFamily="34" charset="-122"/>
              <a:ea typeface="Microsoft YaHei" panose="020B0503020204020204" pitchFamily="34" charset="-122"/>
            </a:endParaRPr>
          </a:p>
        </p:txBody>
      </p:sp>
      <p:sp>
        <p:nvSpPr>
          <p:cNvPr id="9" name="灯片编号占位符 2">
            <a:extLst>
              <a:ext uri="{FF2B5EF4-FFF2-40B4-BE49-F238E27FC236}">
                <a16:creationId xmlns:a16="http://schemas.microsoft.com/office/drawing/2014/main" id="{99DF4EB5-3793-AC42-B526-74C936148D8F}"/>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97</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76404017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kumimoji="1" lang="zh-CN" altLang="en-US" sz="4000" dirty="0"/>
              <a:t>解决方法</a:t>
            </a:r>
          </a:p>
        </p:txBody>
      </p:sp>
      <p:sp>
        <p:nvSpPr>
          <p:cNvPr id="5" name="内容占位符 2">
            <a:extLst>
              <a:ext uri="{FF2B5EF4-FFF2-40B4-BE49-F238E27FC236}">
                <a16:creationId xmlns:a16="http://schemas.microsoft.com/office/drawing/2014/main" id="{19342119-46D9-6B4F-A9D1-98AA32D334E9}"/>
              </a:ext>
            </a:extLst>
          </p:cNvPr>
          <p:cNvSpPr txBox="1"/>
          <p:nvPr/>
        </p:nvSpPr>
        <p:spPr>
          <a:xfrm>
            <a:off x="1025566" y="1107525"/>
            <a:ext cx="10488562" cy="103909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ts val="3600"/>
              </a:lnSpc>
              <a:spcBef>
                <a:spcPts val="0"/>
              </a:spcBef>
              <a:buNone/>
            </a:pPr>
            <a:r>
              <a:rPr kumimoji="1" lang="zh-CN" altLang="en-US" sz="2400" b="1" dirty="0">
                <a:solidFill>
                  <a:srgbClr val="C00000"/>
                </a:solidFill>
                <a:latin typeface="Microsoft YaHei" panose="020B0503020204020204" pitchFamily="34" charset="-122"/>
                <a:ea typeface="Microsoft YaHei" panose="020B0503020204020204" pitchFamily="34" charset="-122"/>
              </a:rPr>
              <a:t>主要問題：由于將軍可能是叛徒，會對不同的副官發布不同的指令，因此副官不能完全信任將軍的指令</a:t>
            </a:r>
            <a:endParaRPr kumimoji="1" lang="en-US" altLang="zh-CN" sz="2400" b="1" dirty="0">
              <a:solidFill>
                <a:srgbClr val="C00000"/>
              </a:solidFill>
              <a:latin typeface="Microsoft YaHei" panose="020B0503020204020204" pitchFamily="34" charset="-122"/>
              <a:ea typeface="Microsoft YaHei" panose="020B0503020204020204" pitchFamily="34" charset="-122"/>
            </a:endParaRPr>
          </a:p>
        </p:txBody>
      </p:sp>
      <p:sp>
        <p:nvSpPr>
          <p:cNvPr id="14" name="内容占位符 2">
            <a:extLst>
              <a:ext uri="{FF2B5EF4-FFF2-40B4-BE49-F238E27FC236}">
                <a16:creationId xmlns:a16="http://schemas.microsoft.com/office/drawing/2014/main" id="{0F23A839-C208-0244-9E4A-48CCD5F120C3}"/>
              </a:ext>
            </a:extLst>
          </p:cNvPr>
          <p:cNvSpPr txBox="1"/>
          <p:nvPr/>
        </p:nvSpPr>
        <p:spPr>
          <a:xfrm>
            <a:off x="816014" y="2313577"/>
            <a:ext cx="10880685" cy="1039093"/>
          </a:xfrm>
          <a:prstGeom prst="rect">
            <a:avLst/>
          </a:prstGeom>
          <a:solidFill>
            <a:srgbClr val="00B0F0"/>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algn="ctr">
              <a:lnSpc>
                <a:spcPct val="120000"/>
              </a:lnSpc>
              <a:defRPr kumimoji="1" sz="2800" b="1">
                <a:solidFill>
                  <a:schemeClr val="bg1"/>
                </a:solidFill>
                <a:latin typeface="Microsoft YaHei" panose="020B0503020204020204" pitchFamily="34" charset="-122"/>
                <a:ea typeface="Microsoft YaHei" panose="020B0503020204020204"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a:t>解决思路：副官在收到將軍的指令後，互相交換從將軍處收到的指令值，</a:t>
            </a:r>
            <a:endParaRPr lang="en-US" altLang="zh-CN" sz="2400" dirty="0"/>
          </a:p>
          <a:p>
            <a:r>
              <a:rPr lang="zh-CN" altLang="en-US" sz="2400" dirty="0"/>
              <a:t>再基于交互結果選擇最終執行指令</a:t>
            </a:r>
            <a:endParaRPr lang="en-US" altLang="zh-CN" sz="2400" dirty="0"/>
          </a:p>
        </p:txBody>
      </p:sp>
      <p:sp>
        <p:nvSpPr>
          <p:cNvPr id="4" name="矩形 3">
            <a:extLst>
              <a:ext uri="{FF2B5EF4-FFF2-40B4-BE49-F238E27FC236}">
                <a16:creationId xmlns:a16="http://schemas.microsoft.com/office/drawing/2014/main" id="{516DDF49-27BE-9C4C-B8CA-2E40537E5449}"/>
              </a:ext>
            </a:extLst>
          </p:cNvPr>
          <p:cNvSpPr/>
          <p:nvPr/>
        </p:nvSpPr>
        <p:spPr>
          <a:xfrm>
            <a:off x="807344" y="3579611"/>
            <a:ext cx="10908406" cy="2666243"/>
          </a:xfrm>
          <a:prstGeom prst="rect">
            <a:avLst/>
          </a:prstGeom>
          <a:ln>
            <a:solidFill>
              <a:srgbClr val="00B0F0"/>
            </a:solidFill>
          </a:ln>
        </p:spPr>
        <p:txBody>
          <a:bodyPr wrap="square">
            <a:spAutoFit/>
          </a:bodyPr>
          <a:lstStyle/>
          <a:p>
            <a:pPr marL="342900" indent="-342900">
              <a:lnSpc>
                <a:spcPts val="3600"/>
              </a:lnSpc>
              <a:spcBef>
                <a:spcPts val="600"/>
              </a:spcBef>
              <a:spcAft>
                <a:spcPts val="600"/>
              </a:spcAft>
              <a:buFont typeface="Arial" panose="020B0604020202020204" pitchFamily="34" charset="0"/>
              <a:buChar char="•"/>
            </a:pPr>
            <a:r>
              <a:rPr kumimoji="1" lang="zh-CN" altLang="en-US" sz="2400" dirty="0">
                <a:latin typeface="Microsoft YaHei" panose="020B0503020204020204" pitchFamily="34" charset="-122"/>
                <a:ea typeface="Microsoft YaHei" panose="020B0503020204020204" pitchFamily="34" charset="-122"/>
              </a:rPr>
              <a:t>兩種方法</a:t>
            </a:r>
            <a:endParaRPr kumimoji="1" lang="en-US" altLang="zh-CN" sz="2400" dirty="0">
              <a:latin typeface="Microsoft YaHei" panose="020B0503020204020204" pitchFamily="34" charset="-122"/>
              <a:ea typeface="Microsoft YaHei" panose="020B0503020204020204" pitchFamily="34" charset="-122"/>
            </a:endParaRPr>
          </a:p>
          <a:p>
            <a:pPr marL="684000" indent="-342900">
              <a:lnSpc>
                <a:spcPts val="3600"/>
              </a:lnSpc>
              <a:spcBef>
                <a:spcPts val="600"/>
              </a:spcBef>
              <a:spcAft>
                <a:spcPts val="600"/>
              </a:spcAft>
              <a:buFont typeface="Arial" panose="020B0604020202020204" pitchFamily="34" charset="0"/>
              <a:buChar char="•"/>
            </a:pPr>
            <a:r>
              <a:rPr kumimoji="1" lang="zh-CN" altLang="en-US" sz="2400" dirty="0">
                <a:latin typeface="Microsoft YaHei" panose="020B0503020204020204" pitchFamily="34" charset="-122"/>
                <a:ea typeface="Microsoft YaHei" panose="020B0503020204020204" pitchFamily="34" charset="-122"/>
              </a:rPr>
              <a:t>口頭消息協議：所有副官在交換從將軍處收到的指令值時基于口頭傳播，因此可以說謊（對應于系統中</a:t>
            </a:r>
            <a:r>
              <a:rPr kumimoji="1" lang="zh-CN" altLang="en-US" sz="2400" b="1" dirty="0">
                <a:solidFill>
                  <a:srgbClr val="C00000"/>
                </a:solidFill>
                <a:latin typeface="Microsoft YaHei" panose="020B0503020204020204" pitchFamily="34" charset="-122"/>
                <a:ea typeface="Microsoft YaHei" panose="020B0503020204020204" pitchFamily="34" charset="-122"/>
              </a:rPr>
              <a:t>無</a:t>
            </a:r>
            <a:r>
              <a:rPr kumimoji="1" lang="zh-CN" altLang="en-US" sz="2400" dirty="0">
                <a:latin typeface="Microsoft YaHei" panose="020B0503020204020204" pitchFamily="34" charset="-122"/>
                <a:ea typeface="Microsoft YaHei" panose="020B0503020204020204" pitchFamily="34" charset="-122"/>
              </a:rPr>
              <a:t>數字簽名的場景）</a:t>
            </a:r>
            <a:endParaRPr kumimoji="1" lang="en-US" altLang="zh-CN" sz="2400" dirty="0">
              <a:latin typeface="Microsoft YaHei" panose="020B0503020204020204" pitchFamily="34" charset="-122"/>
              <a:ea typeface="Microsoft YaHei" panose="020B0503020204020204" pitchFamily="34" charset="-122"/>
            </a:endParaRPr>
          </a:p>
          <a:p>
            <a:pPr marL="684000" lvl="1" indent="-342900">
              <a:lnSpc>
                <a:spcPts val="3600"/>
              </a:lnSpc>
              <a:spcBef>
                <a:spcPts val="600"/>
              </a:spcBef>
              <a:spcAft>
                <a:spcPts val="600"/>
              </a:spcAft>
              <a:buFont typeface="Arial" panose="020B0604020202020204" pitchFamily="34" charset="0"/>
              <a:buChar char="•"/>
            </a:pPr>
            <a:r>
              <a:rPr kumimoji="1" lang="zh-CN" altLang="en-US" sz="2400" dirty="0">
                <a:latin typeface="Microsoft YaHei" panose="020B0503020204020204" pitchFamily="34" charset="-122"/>
                <a:ea typeface="Microsoft YaHei" panose="020B0503020204020204" pitchFamily="34" charset="-122"/>
              </a:rPr>
              <a:t>簽名消息協議：副官從將軍處收到的指令附帶簽名，因此無法僞造將軍的指令，將軍也無法對已發布的指令抵賴（對應于系統中</a:t>
            </a:r>
            <a:r>
              <a:rPr kumimoji="1" lang="zh-CN" altLang="en-US" sz="2400" b="1" dirty="0">
                <a:solidFill>
                  <a:srgbClr val="C00000"/>
                </a:solidFill>
                <a:latin typeface="Microsoft YaHei" panose="020B0503020204020204" pitchFamily="34" charset="-122"/>
                <a:ea typeface="Microsoft YaHei" panose="020B0503020204020204" pitchFamily="34" charset="-122"/>
              </a:rPr>
              <a:t>有</a:t>
            </a:r>
            <a:r>
              <a:rPr kumimoji="1" lang="zh-CN" altLang="en-US" sz="2400" dirty="0">
                <a:latin typeface="Microsoft YaHei" panose="020B0503020204020204" pitchFamily="34" charset="-122"/>
                <a:ea typeface="Microsoft YaHei" panose="020B0503020204020204" pitchFamily="34" charset="-122"/>
              </a:rPr>
              <a:t>數字簽名的場景）</a:t>
            </a:r>
            <a:endParaRPr kumimoji="1" lang="en-US" altLang="zh-CN" sz="2400" dirty="0">
              <a:latin typeface="Microsoft YaHei" panose="020B0503020204020204" pitchFamily="34" charset="-122"/>
              <a:ea typeface="Microsoft YaHei" panose="020B0503020204020204" pitchFamily="34" charset="-122"/>
            </a:endParaRPr>
          </a:p>
        </p:txBody>
      </p:sp>
      <p:sp>
        <p:nvSpPr>
          <p:cNvPr id="10" name="灯片编号占位符 2">
            <a:extLst>
              <a:ext uri="{FF2B5EF4-FFF2-40B4-BE49-F238E27FC236}">
                <a16:creationId xmlns:a16="http://schemas.microsoft.com/office/drawing/2014/main" id="{4CC1ECDB-D31C-CF4B-82D2-30540D79F21F}"/>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98</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181022959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B391219-D35D-994C-8AE7-35D3BE09613C}"/>
              </a:ext>
            </a:extLst>
          </p:cNvPr>
          <p:cNvPicPr>
            <a:picLocks noChangeAspect="1"/>
          </p:cNvPicPr>
          <p:nvPr/>
        </p:nvPicPr>
        <p:blipFill>
          <a:blip r:embed="rId3"/>
          <a:stretch>
            <a:fillRect/>
          </a:stretch>
        </p:blipFill>
        <p:spPr>
          <a:xfrm>
            <a:off x="1327149" y="4622378"/>
            <a:ext cx="9814379" cy="2216150"/>
          </a:xfrm>
          <a:prstGeom prst="rect">
            <a:avLst/>
          </a:prstGeom>
        </p:spPr>
      </p:pic>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kumimoji="1" lang="zh-CN" altLang="en-US" dirty="0"/>
              <a:t>口頭消息下</a:t>
            </a:r>
            <a:r>
              <a:rPr kumimoji="1" lang="zh-CN" altLang="en-US" sz="4000" dirty="0"/>
              <a:t>三將軍問題無解</a:t>
            </a:r>
          </a:p>
        </p:txBody>
      </p:sp>
      <p:sp>
        <p:nvSpPr>
          <p:cNvPr id="1026" name="矩形 1025">
            <a:extLst>
              <a:ext uri="{FF2B5EF4-FFF2-40B4-BE49-F238E27FC236}">
                <a16:creationId xmlns:a16="http://schemas.microsoft.com/office/drawing/2014/main" id="{37D3E5EA-3AF2-754E-9858-1F19486B8C6D}"/>
              </a:ext>
            </a:extLst>
          </p:cNvPr>
          <p:cNvSpPr/>
          <p:nvPr/>
        </p:nvSpPr>
        <p:spPr>
          <a:xfrm>
            <a:off x="1159473" y="953330"/>
            <a:ext cx="10461027" cy="3743461"/>
          </a:xfrm>
          <a:prstGeom prst="rect">
            <a:avLst/>
          </a:prstGeom>
          <a:ln>
            <a:solidFill>
              <a:srgbClr val="00B0F0"/>
            </a:solidFill>
          </a:ln>
        </p:spPr>
        <p:txBody>
          <a:bodyPr wrap="square">
            <a:spAutoFit/>
          </a:bodyPr>
          <a:lstStyle/>
          <a:p>
            <a:pPr marL="342900" indent="-342900">
              <a:lnSpc>
                <a:spcPts val="3600"/>
              </a:lnSpc>
              <a:spcBef>
                <a:spcPts val="0"/>
              </a:spcBef>
              <a:buFont typeface="Arial" panose="020B0604020202020204" pitchFamily="34" charset="0"/>
              <a:buChar char="•"/>
            </a:pPr>
            <a:r>
              <a:rPr kumimoji="1" lang="zh-CN" altLang="en-US" sz="2400" dirty="0">
                <a:latin typeface="Microsoft YaHei" panose="020B0503020204020204" pitchFamily="34" charset="-122"/>
                <a:ea typeface="Microsoft YaHei" panose="020B0503020204020204" pitchFamily="34" charset="-122"/>
              </a:rPr>
              <a:t>現有三個將軍，其中一個是叛徒</a:t>
            </a:r>
            <a:endParaRPr kumimoji="1" lang="en-US" altLang="zh-CN" sz="2400" dirty="0">
              <a:latin typeface="Microsoft YaHei" panose="020B0503020204020204" pitchFamily="34" charset="-122"/>
              <a:ea typeface="Microsoft YaHei" panose="020B0503020204020204" pitchFamily="34" charset="-122"/>
            </a:endParaRPr>
          </a:p>
          <a:p>
            <a:pPr marL="800100" lvl="1" indent="-342900">
              <a:lnSpc>
                <a:spcPts val="3600"/>
              </a:lnSpc>
              <a:spcBef>
                <a:spcPts val="0"/>
              </a:spcBef>
              <a:buFont typeface="Arial" panose="020B0604020202020204" pitchFamily="34" charset="0"/>
              <a:buChar char="•"/>
            </a:pPr>
            <a:r>
              <a:rPr kumimoji="1" lang="zh-CN" altLang="en-US" sz="2400" dirty="0">
                <a:latin typeface="Microsoft YaHei" panose="020B0503020204020204" pitchFamily="34" charset="-122"/>
                <a:ea typeface="Microsoft YaHei" panose="020B0503020204020204" pitchFamily="34" charset="-122"/>
              </a:rPr>
              <a:t>兩種消息：攻擊、撤退</a:t>
            </a:r>
            <a:endParaRPr kumimoji="1" lang="en-US" altLang="zh-CN" sz="2400" dirty="0">
              <a:latin typeface="Microsoft YaHei" panose="020B0503020204020204" pitchFamily="34" charset="-122"/>
              <a:ea typeface="Microsoft YaHei" panose="020B0503020204020204" pitchFamily="34" charset="-122"/>
            </a:endParaRPr>
          </a:p>
          <a:p>
            <a:pPr marL="800100" lvl="1" indent="-342900">
              <a:lnSpc>
                <a:spcPts val="3600"/>
              </a:lnSpc>
              <a:spcBef>
                <a:spcPts val="0"/>
              </a:spcBef>
              <a:buFont typeface="Arial" panose="020B0604020202020204" pitchFamily="34" charset="0"/>
              <a:buChar char="•"/>
            </a:pPr>
            <a:r>
              <a:rPr kumimoji="1" lang="zh-CN" altLang="en-US" sz="2400" dirty="0">
                <a:latin typeface="Microsoft YaHei" panose="020B0503020204020204" pitchFamily="34" charset="-122"/>
                <a:ea typeface="Microsoft YaHei" panose="020B0503020204020204" pitchFamily="34" charset="-122"/>
              </a:rPr>
              <a:t>深色的是叛徒</a:t>
            </a:r>
            <a:endParaRPr kumimoji="1" lang="en-US" altLang="zh-CN" sz="2400" dirty="0">
              <a:latin typeface="Microsoft YaHei" panose="020B0503020204020204" pitchFamily="34" charset="-122"/>
              <a:ea typeface="Microsoft YaHei" panose="020B0503020204020204" pitchFamily="34" charset="-122"/>
            </a:endParaRPr>
          </a:p>
          <a:p>
            <a:pPr marL="342900" indent="-342900">
              <a:lnSpc>
                <a:spcPts val="3600"/>
              </a:lnSpc>
              <a:spcBef>
                <a:spcPts val="0"/>
              </a:spcBef>
              <a:buFont typeface="Arial" panose="020B0604020202020204" pitchFamily="34" charset="0"/>
              <a:buChar char="•"/>
            </a:pPr>
            <a:r>
              <a:rPr kumimoji="1" lang="zh-CN" altLang="en-US" sz="2400" dirty="0">
                <a:latin typeface="Microsoft YaHei" panose="020B0503020204020204" pitchFamily="34" charset="-122"/>
                <a:ea typeface="Microsoft YaHei" panose="020B0503020204020204" pitchFamily="34" charset="-122"/>
              </a:rPr>
              <a:t>副官</a:t>
            </a:r>
            <a:r>
              <a:rPr kumimoji="1" lang="en-US" altLang="zh-CN" sz="2400" dirty="0">
                <a:latin typeface="Microsoft YaHei" panose="020B0503020204020204" pitchFamily="34" charset="-122"/>
                <a:ea typeface="Microsoft YaHei" panose="020B0503020204020204" pitchFamily="34" charset="-122"/>
              </a:rPr>
              <a:t>1</a:t>
            </a:r>
            <a:r>
              <a:rPr kumimoji="1" lang="zh-CN" altLang="en-US" sz="2400" dirty="0">
                <a:latin typeface="Microsoft YaHei" panose="020B0503020204020204" pitchFamily="34" charset="-122"/>
                <a:ea typeface="Microsoft YaHei" panose="020B0503020204020204" pitchFamily="34" charset="-122"/>
              </a:rPr>
              <a:t>在兩種情形下收到的消息是一樣的，無法判斷誰是叛徒</a:t>
            </a:r>
            <a:endParaRPr kumimoji="1" lang="en-US" altLang="zh-CN" sz="2400" dirty="0">
              <a:latin typeface="Microsoft YaHei" panose="020B0503020204020204" pitchFamily="34" charset="-122"/>
              <a:ea typeface="Microsoft YaHei" panose="020B0503020204020204" pitchFamily="34" charset="-122"/>
            </a:endParaRPr>
          </a:p>
          <a:p>
            <a:pPr marL="800100" lvl="1" indent="-342900">
              <a:lnSpc>
                <a:spcPts val="3600"/>
              </a:lnSpc>
              <a:spcBef>
                <a:spcPts val="0"/>
              </a:spcBef>
              <a:buFont typeface="Arial" panose="020B0604020202020204" pitchFamily="34" charset="0"/>
              <a:buChar char="•"/>
            </a:pPr>
            <a:r>
              <a:rPr kumimoji="1" lang="zh-CN" altLang="en-US" sz="2400" dirty="0">
                <a:latin typeface="Microsoft YaHei" panose="020B0503020204020204" pitchFamily="34" charset="-122"/>
                <a:ea typeface="Microsoft YaHei" panose="020B0503020204020204" pitchFamily="34" charset="-122"/>
              </a:rPr>
              <a:t>如果確保左圖副官</a:t>
            </a:r>
            <a:r>
              <a:rPr kumimoji="1" lang="en-US" altLang="zh-CN" sz="2400" dirty="0">
                <a:latin typeface="Microsoft YaHei" panose="020B0503020204020204" pitchFamily="34" charset="-122"/>
                <a:ea typeface="Microsoft YaHei" panose="020B0503020204020204" pitchFamily="34" charset="-122"/>
              </a:rPr>
              <a:t>1</a:t>
            </a:r>
            <a:r>
              <a:rPr kumimoji="1" lang="zh-CN" altLang="en-US" sz="2400" dirty="0">
                <a:latin typeface="Microsoft YaHei" panose="020B0503020204020204" pitchFamily="34" charset="-122"/>
                <a:ea typeface="Microsoft YaHei" panose="020B0503020204020204" pitchFamily="34" charset="-122"/>
              </a:rPr>
              <a:t>做出正確選擇撤退，那麽在右圖中會作出錯誤選擇，即和忠誠將軍的指令不一致</a:t>
            </a:r>
            <a:endParaRPr kumimoji="1" lang="en-US" altLang="zh-CN" sz="2400" dirty="0">
              <a:latin typeface="Microsoft YaHei" panose="020B0503020204020204" pitchFamily="34" charset="-122"/>
              <a:ea typeface="Microsoft YaHei" panose="020B0503020204020204" pitchFamily="34" charset="-122"/>
            </a:endParaRPr>
          </a:p>
          <a:p>
            <a:pPr marL="800100" lvl="1" indent="-342900">
              <a:lnSpc>
                <a:spcPts val="3600"/>
              </a:lnSpc>
              <a:spcBef>
                <a:spcPts val="0"/>
              </a:spcBef>
              <a:buFont typeface="Arial" panose="020B0604020202020204" pitchFamily="34" charset="0"/>
              <a:buChar char="•"/>
            </a:pPr>
            <a:r>
              <a:rPr kumimoji="1" lang="zh-CN" altLang="en-US" sz="2400" dirty="0">
                <a:latin typeface="Microsoft YaHei" panose="020B0503020204020204" pitchFamily="34" charset="-122"/>
                <a:ea typeface="Microsoft YaHei" panose="020B0503020204020204" pitchFamily="34" charset="-122"/>
              </a:rPr>
              <a:t>如果確保右圖副官</a:t>
            </a:r>
            <a:r>
              <a:rPr kumimoji="1" lang="en-US" altLang="zh-CN" sz="2400" dirty="0">
                <a:latin typeface="Microsoft YaHei" panose="020B0503020204020204" pitchFamily="34" charset="-122"/>
                <a:ea typeface="Microsoft YaHei" panose="020B0503020204020204" pitchFamily="34" charset="-122"/>
              </a:rPr>
              <a:t>1</a:t>
            </a:r>
            <a:r>
              <a:rPr kumimoji="1" lang="zh-CN" altLang="en-US" sz="2400" dirty="0">
                <a:latin typeface="Microsoft YaHei" panose="020B0503020204020204" pitchFamily="34" charset="-122"/>
                <a:ea typeface="Microsoft YaHei" panose="020B0503020204020204" pitchFamily="34" charset="-122"/>
              </a:rPr>
              <a:t>作出正確選擇，在左圖則會和忠誠的副官</a:t>
            </a:r>
            <a:r>
              <a:rPr kumimoji="1" lang="en-US" altLang="zh-CN" sz="2400" dirty="0">
                <a:latin typeface="Microsoft YaHei" panose="020B0503020204020204" pitchFamily="34" charset="-122"/>
                <a:ea typeface="Microsoft YaHei" panose="020B0503020204020204" pitchFamily="34" charset="-122"/>
              </a:rPr>
              <a:t>2</a:t>
            </a:r>
            <a:r>
              <a:rPr kumimoji="1" lang="zh-CN" altLang="en-US" sz="2400" dirty="0">
                <a:latin typeface="Microsoft YaHei" panose="020B0503020204020204" pitchFamily="34" charset="-122"/>
                <a:ea typeface="Microsoft YaHei" panose="020B0503020204020204" pitchFamily="34" charset="-122"/>
              </a:rPr>
              <a:t>做出不一致的選擇</a:t>
            </a:r>
            <a:endParaRPr kumimoji="1" lang="en-US" altLang="zh-CN" sz="2400" dirty="0">
              <a:latin typeface="Microsoft YaHei" panose="020B0503020204020204" pitchFamily="34" charset="-122"/>
              <a:ea typeface="Microsoft YaHei" panose="020B0503020204020204" pitchFamily="34" charset="-122"/>
            </a:endParaRPr>
          </a:p>
        </p:txBody>
      </p:sp>
      <p:sp>
        <p:nvSpPr>
          <p:cNvPr id="5" name="Rectangle 3">
            <a:extLst>
              <a:ext uri="{FF2B5EF4-FFF2-40B4-BE49-F238E27FC236}">
                <a16:creationId xmlns:a16="http://schemas.microsoft.com/office/drawing/2014/main" id="{293F87B9-44B1-CB48-A60F-895FCC513C7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1800" b="0" i="0" u="none" strike="noStrike" cap="none" normalizeH="0" baseline="0" dirty="0">
                <a:ln>
                  <a:noFill/>
                </a:ln>
                <a:solidFill>
                  <a:schemeClr val="tx1"/>
                </a:solidFill>
                <a:effectLst/>
                <a:latin typeface="Arial" panose="020B0604020202020204" pitchFamily="34" charset="0"/>
              </a:rPr>
            </a:b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3" name="灯片编号占位符 2">
            <a:extLst>
              <a:ext uri="{FF2B5EF4-FFF2-40B4-BE49-F238E27FC236}">
                <a16:creationId xmlns:a16="http://schemas.microsoft.com/office/drawing/2014/main" id="{DD589139-5736-CC44-A0A2-7A43392C7667}"/>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99</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120440747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kumimoji="1" lang="zh-CN" altLang="en-US" sz="4000" dirty="0"/>
              <a:t>口頭消息下的不可能性</a:t>
            </a:r>
          </a:p>
        </p:txBody>
      </p:sp>
      <p:sp>
        <p:nvSpPr>
          <p:cNvPr id="24" name="内容占位符 3">
            <a:extLst>
              <a:ext uri="{FF2B5EF4-FFF2-40B4-BE49-F238E27FC236}">
                <a16:creationId xmlns:a16="http://schemas.microsoft.com/office/drawing/2014/main" id="{1435198F-7785-B74E-A387-8E3A182542D3}"/>
              </a:ext>
            </a:extLst>
          </p:cNvPr>
          <p:cNvSpPr txBox="1">
            <a:spLocks/>
          </p:cNvSpPr>
          <p:nvPr/>
        </p:nvSpPr>
        <p:spPr>
          <a:xfrm>
            <a:off x="858601" y="1244878"/>
            <a:ext cx="5922725" cy="5312475"/>
          </a:xfrm>
          <a:prstGeom prst="rect">
            <a:avLst/>
          </a:prstGeom>
          <a:ln>
            <a:solidFill>
              <a:srgbClr val="00B0F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3600"/>
              </a:lnSpc>
              <a:spcBef>
                <a:spcPts val="0"/>
              </a:spcBef>
            </a:pPr>
            <a:r>
              <a:rPr kumimoji="1" lang="zh-CN" altLang="en-US" sz="2400" dirty="0">
                <a:latin typeface="Microsoft YaHei" panose="020B0503020204020204" pitchFamily="34" charset="-122"/>
                <a:ea typeface="Microsoft YaHei" panose="020B0503020204020204" pitchFamily="34" charset="-122"/>
              </a:rPr>
              <a:t>一般情况下，將軍與將軍之間基于口頭消息傳播信息時</a:t>
            </a:r>
            <a:endParaRPr kumimoji="1" lang="en-US" altLang="zh-CN" sz="2400" dirty="0">
              <a:latin typeface="Microsoft YaHei" panose="020B0503020204020204" pitchFamily="34" charset="-122"/>
              <a:ea typeface="Microsoft YaHei" panose="020B0503020204020204" pitchFamily="34" charset="-122"/>
            </a:endParaRPr>
          </a:p>
          <a:p>
            <a:pPr marL="684900" indent="-342900">
              <a:lnSpc>
                <a:spcPts val="3600"/>
              </a:lnSpc>
              <a:spcBef>
                <a:spcPts val="0"/>
              </a:spcBef>
            </a:pPr>
            <a:r>
              <a:rPr kumimoji="1" lang="zh-CN" altLang="en-US" sz="2400" dirty="0">
                <a:latin typeface="Microsoft YaHei" panose="020B0503020204020204" pitchFamily="34" charset="-122"/>
                <a:ea typeface="Microsoft YaHei" panose="020B0503020204020204" pitchFamily="34" charset="-122"/>
              </a:rPr>
              <a:t>在有</a:t>
            </a:r>
            <a:r>
              <a:rPr kumimoji="1" lang="en-US" altLang="zh-CN" sz="2400" dirty="0">
                <a:latin typeface="Microsoft YaHei" panose="020B0503020204020204" pitchFamily="34" charset="-122"/>
                <a:ea typeface="Microsoft YaHei" panose="020B0503020204020204" pitchFamily="34" charset="-122"/>
              </a:rPr>
              <a:t>m</a:t>
            </a:r>
            <a:r>
              <a:rPr kumimoji="1" lang="zh-CN" altLang="en-US" sz="2400" dirty="0">
                <a:latin typeface="Microsoft YaHei" panose="020B0503020204020204" pitchFamily="34" charset="-122"/>
                <a:ea typeface="Microsoft YaHei" panose="020B0503020204020204" pitchFamily="34" charset="-122"/>
              </a:rPr>
              <a:t>個叛徒時，少于</a:t>
            </a:r>
            <a:r>
              <a:rPr kumimoji="1" lang="en-US" altLang="zh-CN" sz="2400" dirty="0">
                <a:latin typeface="Microsoft YaHei" panose="020B0503020204020204" pitchFamily="34" charset="-122"/>
                <a:ea typeface="Microsoft YaHei" panose="020B0503020204020204" pitchFamily="34" charset="-122"/>
              </a:rPr>
              <a:t>3m+1</a:t>
            </a:r>
            <a:r>
              <a:rPr kumimoji="1" lang="zh-CN" altLang="en-US" sz="2400" dirty="0">
                <a:latin typeface="Microsoft YaHei" panose="020B0503020204020204" pitchFamily="34" charset="-122"/>
                <a:ea typeface="Microsoft YaHei" panose="020B0503020204020204" pitchFamily="34" charset="-122"/>
              </a:rPr>
              <a:t>個參與者（包含叛徒），問題無解</a:t>
            </a:r>
            <a:endParaRPr kumimoji="1" lang="en-US" altLang="zh-CN" sz="2400" dirty="0">
              <a:latin typeface="Microsoft YaHei" panose="020B0503020204020204" pitchFamily="34" charset="-122"/>
              <a:ea typeface="Microsoft YaHei" panose="020B0503020204020204" pitchFamily="34" charset="-122"/>
            </a:endParaRPr>
          </a:p>
          <a:p>
            <a:pPr marL="684900" indent="-342900">
              <a:lnSpc>
                <a:spcPts val="3600"/>
              </a:lnSpc>
              <a:spcBef>
                <a:spcPts val="0"/>
              </a:spcBef>
            </a:pPr>
            <a:endParaRPr kumimoji="1" lang="en-US" altLang="zh-CN" sz="2400" dirty="0">
              <a:latin typeface="Microsoft YaHei" panose="020B0503020204020204" pitchFamily="34" charset="-122"/>
              <a:ea typeface="Microsoft YaHei" panose="020B0503020204020204" pitchFamily="34" charset="-122"/>
            </a:endParaRPr>
          </a:p>
          <a:p>
            <a:pPr>
              <a:lnSpc>
                <a:spcPts val="3600"/>
              </a:lnSpc>
              <a:spcBef>
                <a:spcPts val="0"/>
              </a:spcBef>
            </a:pPr>
            <a:r>
              <a:rPr kumimoji="1" lang="zh-CN" altLang="en-US" sz="2400" dirty="0">
                <a:latin typeface="Microsoft YaHei" panose="020B0503020204020204" pitchFamily="34" charset="-122"/>
                <a:ea typeface="Microsoft YaHei" panose="020B0503020204020204" pitchFamily="34" charset="-122"/>
              </a:rPr>
              <a:t>通過反證法證明：</a:t>
            </a:r>
            <a:endParaRPr kumimoji="1" lang="en-US" altLang="zh-CN" sz="2400" dirty="0">
              <a:latin typeface="Microsoft YaHei" panose="020B0503020204020204" pitchFamily="34" charset="-122"/>
              <a:ea typeface="Microsoft YaHei" panose="020B0503020204020204" pitchFamily="34" charset="-122"/>
            </a:endParaRPr>
          </a:p>
          <a:p>
            <a:pPr marL="686700" lvl="1" indent="-342900">
              <a:lnSpc>
                <a:spcPts val="3600"/>
              </a:lnSpc>
              <a:spcBef>
                <a:spcPts val="0"/>
              </a:spcBef>
            </a:pPr>
            <a:r>
              <a:rPr kumimoji="1" lang="zh-CN" altLang="en-US" dirty="0">
                <a:latin typeface="Microsoft YaHei" panose="020B0503020204020204" pitchFamily="34" charset="-122"/>
                <a:ea typeface="Microsoft YaHei" panose="020B0503020204020204" pitchFamily="34" charset="-122"/>
              </a:rPr>
              <a:t>假設共有</a:t>
            </a:r>
            <a:r>
              <a:rPr kumimoji="1" lang="en-US" altLang="zh-CN" dirty="0">
                <a:latin typeface="Microsoft YaHei" panose="020B0503020204020204" pitchFamily="34" charset="-122"/>
                <a:ea typeface="Microsoft YaHei" panose="020B0503020204020204" pitchFamily="34" charset="-122"/>
              </a:rPr>
              <a:t>3m</a:t>
            </a:r>
            <a:r>
              <a:rPr kumimoji="1" lang="zh-CN" altLang="en-US" dirty="0">
                <a:latin typeface="Microsoft YaHei" panose="020B0503020204020204" pitchFamily="34" charset="-122"/>
                <a:ea typeface="Microsoft YaHei" panose="020B0503020204020204" pitchFamily="34" charset="-122"/>
              </a:rPr>
              <a:t>個將軍，其中</a:t>
            </a:r>
            <a:r>
              <a:rPr kumimoji="1" lang="en-US" altLang="zh-CN" dirty="0">
                <a:latin typeface="Microsoft YaHei" panose="020B0503020204020204" pitchFamily="34" charset="-122"/>
                <a:ea typeface="Microsoft YaHei" panose="020B0503020204020204" pitchFamily="34" charset="-122"/>
              </a:rPr>
              <a:t>m</a:t>
            </a:r>
            <a:r>
              <a:rPr kumimoji="1" lang="zh-CN" altLang="en-US" dirty="0">
                <a:latin typeface="Microsoft YaHei" panose="020B0503020204020204" pitchFamily="34" charset="-122"/>
                <a:ea typeface="Microsoft YaHei" panose="020B0503020204020204" pitchFamily="34" charset="-122"/>
              </a:rPr>
              <a:t>個是叛徒</a:t>
            </a:r>
            <a:endParaRPr kumimoji="1" lang="en-US" altLang="zh-CN" dirty="0">
              <a:latin typeface="Microsoft YaHei" panose="020B0503020204020204" pitchFamily="34" charset="-122"/>
              <a:ea typeface="Microsoft YaHei" panose="020B0503020204020204" pitchFamily="34" charset="-122"/>
            </a:endParaRPr>
          </a:p>
          <a:p>
            <a:pPr marL="686700" lvl="1" indent="-342900">
              <a:lnSpc>
                <a:spcPts val="3600"/>
              </a:lnSpc>
              <a:spcBef>
                <a:spcPts val="0"/>
              </a:spcBef>
            </a:pPr>
            <a:r>
              <a:rPr kumimoji="1" lang="zh-CN" altLang="en-US" dirty="0">
                <a:latin typeface="Microsoft YaHei" panose="020B0503020204020204" pitchFamily="34" charset="-122"/>
                <a:ea typeface="Microsoft YaHei" panose="020B0503020204020204" pitchFamily="34" charset="-122"/>
              </a:rPr>
              <a:t>將問題簡化爲</a:t>
            </a:r>
            <a:r>
              <a:rPr kumimoji="1" lang="en-US" altLang="zh-CN" dirty="0">
                <a:latin typeface="Microsoft YaHei" panose="020B0503020204020204" pitchFamily="34" charset="-122"/>
                <a:ea typeface="Microsoft YaHei" panose="020B0503020204020204" pitchFamily="34" charset="-122"/>
              </a:rPr>
              <a:t>3</a:t>
            </a:r>
            <a:r>
              <a:rPr kumimoji="1" lang="zh-CN" altLang="en-US" dirty="0">
                <a:latin typeface="Microsoft YaHei" panose="020B0503020204020204" pitchFamily="34" charset="-122"/>
                <a:ea typeface="Microsoft YaHei" panose="020B0503020204020204" pitchFamily="34" charset="-122"/>
              </a:rPr>
              <a:t>將軍問題</a:t>
            </a:r>
            <a:br>
              <a:rPr kumimoji="1" lang="en-US" altLang="zh-CN" dirty="0">
                <a:latin typeface="Microsoft YaHei" panose="020B0503020204020204" pitchFamily="34" charset="-122"/>
                <a:ea typeface="Microsoft YaHei" panose="020B0503020204020204" pitchFamily="34" charset="-122"/>
              </a:rPr>
            </a:br>
            <a:endParaRPr kumimoji="1" lang="en-US" altLang="zh-CN" dirty="0">
              <a:latin typeface="Microsoft YaHei" panose="020B0503020204020204" pitchFamily="34" charset="-122"/>
              <a:ea typeface="Microsoft YaHei" panose="020B0503020204020204" pitchFamily="34" charset="-122"/>
            </a:endParaRPr>
          </a:p>
          <a:p>
            <a:pPr>
              <a:lnSpc>
                <a:spcPts val="3600"/>
              </a:lnSpc>
              <a:spcBef>
                <a:spcPts val="0"/>
              </a:spcBef>
            </a:pPr>
            <a:r>
              <a:rPr kumimoji="1" lang="en-US" altLang="zh-CN" sz="2400" dirty="0">
                <a:latin typeface="Microsoft YaHei" panose="020B0503020204020204" pitchFamily="34" charset="-122"/>
                <a:ea typeface="Microsoft YaHei" panose="020B0503020204020204" pitchFamily="34" charset="-122"/>
              </a:rPr>
              <a:t>3m</a:t>
            </a:r>
            <a:r>
              <a:rPr kumimoji="1" lang="zh-CN" altLang="en-US" sz="2400" dirty="0">
                <a:latin typeface="Microsoft YaHei" panose="020B0503020204020204" pitchFamily="34" charset="-122"/>
                <a:ea typeface="Microsoft YaHei" panose="020B0503020204020204" pitchFamily="34" charset="-122"/>
              </a:rPr>
              <a:t>個將軍有解 等價于</a:t>
            </a:r>
            <a:r>
              <a:rPr kumimoji="1" lang="en-US" altLang="zh-CN" sz="2400" dirty="0">
                <a:latin typeface="Microsoft YaHei" panose="020B0503020204020204" pitchFamily="34" charset="-122"/>
                <a:ea typeface="Microsoft YaHei" panose="020B0503020204020204" pitchFamily="34" charset="-122"/>
              </a:rPr>
              <a:t> 3</a:t>
            </a:r>
            <a:r>
              <a:rPr kumimoji="1" lang="zh-CN" altLang="en-US" sz="2400" dirty="0">
                <a:latin typeface="Microsoft YaHei" panose="020B0503020204020204" pitchFamily="34" charset="-122"/>
                <a:ea typeface="Microsoft YaHei" panose="020B0503020204020204" pitchFamily="34" charset="-122"/>
              </a:rPr>
              <a:t>將軍問題有解</a:t>
            </a:r>
            <a:endParaRPr kumimoji="1" lang="en-US" altLang="zh-CN" sz="2400" dirty="0">
              <a:latin typeface="Microsoft YaHei" panose="020B0503020204020204" pitchFamily="34" charset="-122"/>
              <a:ea typeface="Microsoft YaHei" panose="020B0503020204020204" pitchFamily="34" charset="-122"/>
            </a:endParaRPr>
          </a:p>
        </p:txBody>
      </p:sp>
      <p:grpSp>
        <p:nvGrpSpPr>
          <p:cNvPr id="25" name="组 12">
            <a:extLst>
              <a:ext uri="{FF2B5EF4-FFF2-40B4-BE49-F238E27FC236}">
                <a16:creationId xmlns:a16="http://schemas.microsoft.com/office/drawing/2014/main" id="{F534B670-3FD0-8343-9924-53FC6FA0AD8E}"/>
              </a:ext>
            </a:extLst>
          </p:cNvPr>
          <p:cNvGrpSpPr/>
          <p:nvPr/>
        </p:nvGrpSpPr>
        <p:grpSpPr>
          <a:xfrm>
            <a:off x="6661620" y="1994532"/>
            <a:ext cx="5262994" cy="3707105"/>
            <a:chOff x="4541168" y="3764025"/>
            <a:chExt cx="4041507" cy="2796540"/>
          </a:xfrm>
        </p:grpSpPr>
        <p:pic>
          <p:nvPicPr>
            <p:cNvPr id="26" name="图片 25">
              <a:extLst>
                <a:ext uri="{FF2B5EF4-FFF2-40B4-BE49-F238E27FC236}">
                  <a16:creationId xmlns:a16="http://schemas.microsoft.com/office/drawing/2014/main" id="{9C3CD662-F2D5-1D4C-A429-17803AEAA0A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1168" y="3764025"/>
              <a:ext cx="4041507" cy="2448272"/>
            </a:xfrm>
            <a:prstGeom prst="rect">
              <a:avLst/>
            </a:prstGeom>
          </p:spPr>
        </p:pic>
        <p:sp>
          <p:nvSpPr>
            <p:cNvPr id="27" name="文本框 26">
              <a:extLst>
                <a:ext uri="{FF2B5EF4-FFF2-40B4-BE49-F238E27FC236}">
                  <a16:creationId xmlns:a16="http://schemas.microsoft.com/office/drawing/2014/main" id="{2285E46B-D7BB-6B46-B342-1C28969F8EBD}"/>
                </a:ext>
              </a:extLst>
            </p:cNvPr>
            <p:cNvSpPr txBox="1"/>
            <p:nvPr/>
          </p:nvSpPr>
          <p:spPr>
            <a:xfrm>
              <a:off x="5724128" y="3764025"/>
              <a:ext cx="614496" cy="348268"/>
            </a:xfrm>
            <a:prstGeom prst="rect">
              <a:avLst/>
            </a:prstGeom>
            <a:noFill/>
          </p:spPr>
          <p:txBody>
            <a:bodyPr wrap="none" rtlCol="0">
              <a:spAutoFit/>
            </a:bodyPr>
            <a:lstStyle/>
            <a:p>
              <a:r>
                <a:rPr kumimoji="1" lang="zh-CN" altLang="en-US" sz="2400" dirty="0">
                  <a:latin typeface="Microsoft YaHei" panose="020B0503020204020204" pitchFamily="34" charset="-122"/>
                  <a:ea typeface="Microsoft YaHei" panose="020B0503020204020204" pitchFamily="34" charset="-122"/>
                </a:rPr>
                <a:t>將軍</a:t>
              </a:r>
              <a:endParaRPr kumimoji="1" lang="en-US" altLang="zh-CN" sz="2400" dirty="0">
                <a:latin typeface="Microsoft YaHei" panose="020B0503020204020204" pitchFamily="34" charset="-122"/>
                <a:ea typeface="Microsoft YaHei" panose="020B0503020204020204" pitchFamily="34" charset="-122"/>
              </a:endParaRPr>
            </a:p>
          </p:txBody>
        </p:sp>
        <p:sp>
          <p:nvSpPr>
            <p:cNvPr id="28" name="文本框 27">
              <a:extLst>
                <a:ext uri="{FF2B5EF4-FFF2-40B4-BE49-F238E27FC236}">
                  <a16:creationId xmlns:a16="http://schemas.microsoft.com/office/drawing/2014/main" id="{ED9DC0C0-8504-C04B-8B08-090BCE43F0AF}"/>
                </a:ext>
              </a:extLst>
            </p:cNvPr>
            <p:cNvSpPr txBox="1"/>
            <p:nvPr/>
          </p:nvSpPr>
          <p:spPr>
            <a:xfrm>
              <a:off x="7164288" y="3769361"/>
              <a:ext cx="1313683" cy="348268"/>
            </a:xfrm>
            <a:prstGeom prst="rect">
              <a:avLst/>
            </a:prstGeom>
            <a:noFill/>
          </p:spPr>
          <p:txBody>
            <a:bodyPr wrap="none" rtlCol="0">
              <a:spAutoFit/>
            </a:bodyPr>
            <a:lstStyle/>
            <a:p>
              <a:r>
                <a:rPr kumimoji="1" lang="en-US" altLang="zh-CN" sz="2400" dirty="0">
                  <a:latin typeface="Microsoft YaHei" panose="020B0503020204020204" pitchFamily="34" charset="-122"/>
                  <a:ea typeface="Microsoft YaHei" panose="020B0503020204020204" pitchFamily="34" charset="-122"/>
                </a:rPr>
                <a:t>m-1</a:t>
              </a:r>
              <a:r>
                <a:rPr kumimoji="1" lang="zh-CN" altLang="en-US" sz="2400" dirty="0">
                  <a:latin typeface="Microsoft YaHei" panose="020B0503020204020204" pitchFamily="34" charset="-122"/>
                  <a:ea typeface="Microsoft YaHei" panose="020B0503020204020204" pitchFamily="34" charset="-122"/>
                </a:rPr>
                <a:t>個副官</a:t>
              </a:r>
            </a:p>
          </p:txBody>
        </p:sp>
        <p:sp>
          <p:nvSpPr>
            <p:cNvPr id="29" name="文本框 28">
              <a:extLst>
                <a:ext uri="{FF2B5EF4-FFF2-40B4-BE49-F238E27FC236}">
                  <a16:creationId xmlns:a16="http://schemas.microsoft.com/office/drawing/2014/main" id="{BE44365C-E7FE-0343-BF62-A517B1B639BA}"/>
                </a:ext>
              </a:extLst>
            </p:cNvPr>
            <p:cNvSpPr txBox="1"/>
            <p:nvPr/>
          </p:nvSpPr>
          <p:spPr>
            <a:xfrm>
              <a:off x="4798233" y="6193625"/>
              <a:ext cx="1072414" cy="348268"/>
            </a:xfrm>
            <a:prstGeom prst="rect">
              <a:avLst/>
            </a:prstGeom>
            <a:noFill/>
          </p:spPr>
          <p:txBody>
            <a:bodyPr wrap="none" rtlCol="0">
              <a:spAutoFit/>
            </a:bodyPr>
            <a:lstStyle/>
            <a:p>
              <a:r>
                <a:rPr kumimoji="1" lang="en-US" altLang="zh-CN" sz="2400" dirty="0">
                  <a:latin typeface="Microsoft YaHei" panose="020B0503020204020204" pitchFamily="34" charset="-122"/>
                  <a:ea typeface="Microsoft YaHei" panose="020B0503020204020204" pitchFamily="34" charset="-122"/>
                </a:rPr>
                <a:t>m</a:t>
              </a:r>
              <a:r>
                <a:rPr kumimoji="1" lang="zh-CN" altLang="en-US" sz="2400" dirty="0">
                  <a:latin typeface="Microsoft YaHei" panose="020B0503020204020204" pitchFamily="34" charset="-122"/>
                  <a:ea typeface="Microsoft YaHei" panose="020B0503020204020204" pitchFamily="34" charset="-122"/>
                </a:rPr>
                <a:t>個副官</a:t>
              </a:r>
            </a:p>
          </p:txBody>
        </p:sp>
        <p:sp>
          <p:nvSpPr>
            <p:cNvPr id="30" name="文本框 29">
              <a:extLst>
                <a:ext uri="{FF2B5EF4-FFF2-40B4-BE49-F238E27FC236}">
                  <a16:creationId xmlns:a16="http://schemas.microsoft.com/office/drawing/2014/main" id="{F5246B3E-8F91-3C43-AA5E-53C768892037}"/>
                </a:ext>
              </a:extLst>
            </p:cNvPr>
            <p:cNvSpPr txBox="1"/>
            <p:nvPr/>
          </p:nvSpPr>
          <p:spPr>
            <a:xfrm>
              <a:off x="7164288" y="6212297"/>
              <a:ext cx="1072414" cy="348268"/>
            </a:xfrm>
            <a:prstGeom prst="rect">
              <a:avLst/>
            </a:prstGeom>
            <a:noFill/>
          </p:spPr>
          <p:txBody>
            <a:bodyPr wrap="none" rtlCol="0">
              <a:spAutoFit/>
            </a:bodyPr>
            <a:lstStyle/>
            <a:p>
              <a:r>
                <a:rPr kumimoji="1" lang="en-US" altLang="zh-CN" sz="2400" dirty="0">
                  <a:latin typeface="Microsoft YaHei" panose="020B0503020204020204" pitchFamily="34" charset="-122"/>
                  <a:ea typeface="Microsoft YaHei" panose="020B0503020204020204" pitchFamily="34" charset="-122"/>
                </a:rPr>
                <a:t>m</a:t>
              </a:r>
              <a:r>
                <a:rPr kumimoji="1" lang="zh-CN" altLang="en-US" sz="2400" dirty="0">
                  <a:latin typeface="Microsoft YaHei" panose="020B0503020204020204" pitchFamily="34" charset="-122"/>
                  <a:ea typeface="Microsoft YaHei" panose="020B0503020204020204" pitchFamily="34" charset="-122"/>
                </a:rPr>
                <a:t>個副官</a:t>
              </a:r>
            </a:p>
          </p:txBody>
        </p:sp>
      </p:grpSp>
      <p:sp>
        <p:nvSpPr>
          <p:cNvPr id="10" name="灯片编号占位符 2">
            <a:extLst>
              <a:ext uri="{FF2B5EF4-FFF2-40B4-BE49-F238E27FC236}">
                <a16:creationId xmlns:a16="http://schemas.microsoft.com/office/drawing/2014/main" id="{0FB09825-9D8D-6C4D-9CF2-1DC2BCF9C445}"/>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100</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197870312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372F260F-8D8F-C44A-A80A-187BC9C6A6F3}"/>
              </a:ext>
            </a:extLst>
          </p:cNvPr>
          <p:cNvSpPr>
            <a:spLocks/>
          </p:cNvSpPr>
          <p:nvPr/>
        </p:nvSpPr>
        <p:spPr bwMode="auto">
          <a:xfrm>
            <a:off x="783819" y="2396184"/>
            <a:ext cx="10657813" cy="2622929"/>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5000"/>
              </a:lnSpc>
              <a:defRPr/>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kumimoji="1" lang="zh-CN" altLang="en-US" sz="4000" dirty="0"/>
              <a:t>口頭消息</a:t>
            </a:r>
            <a:r>
              <a:rPr kumimoji="1" lang="en-US" altLang="zh-CN" sz="4000" dirty="0"/>
              <a:t>(OM)</a:t>
            </a:r>
            <a:r>
              <a:rPr kumimoji="1" lang="zh-CN" altLang="en-US" sz="4000" dirty="0"/>
              <a:t>協議</a:t>
            </a:r>
          </a:p>
        </p:txBody>
      </p:sp>
      <p:sp>
        <p:nvSpPr>
          <p:cNvPr id="18" name="内容占位符 2">
            <a:extLst>
              <a:ext uri="{FF2B5EF4-FFF2-40B4-BE49-F238E27FC236}">
                <a16:creationId xmlns:a16="http://schemas.microsoft.com/office/drawing/2014/main" id="{645F748B-F86B-A84B-B23B-DF140F2E3ED5}"/>
              </a:ext>
            </a:extLst>
          </p:cNvPr>
          <p:cNvSpPr txBox="1"/>
          <p:nvPr/>
        </p:nvSpPr>
        <p:spPr>
          <a:xfrm>
            <a:off x="819150" y="1046033"/>
            <a:ext cx="10591800" cy="1150084"/>
          </a:xfrm>
          <a:prstGeom prst="rect">
            <a:avLst/>
          </a:prstGeom>
          <a:solidFill>
            <a:srgbClr val="00B0F0"/>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algn="ctr">
              <a:lnSpc>
                <a:spcPct val="120000"/>
              </a:lnSpc>
              <a:defRPr kumimoji="1" sz="2400" b="1">
                <a:solidFill>
                  <a:schemeClr val="bg1"/>
                </a:solidFill>
                <a:latin typeface="Microsoft YaHei" panose="020B0503020204020204" pitchFamily="34" charset="-122"/>
                <a:ea typeface="Microsoft YaHei"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結論：假設將軍個數爲</a:t>
            </a:r>
            <a:r>
              <a:rPr lang="en-US" altLang="zh-CN" dirty="0"/>
              <a:t>N</a:t>
            </a:r>
            <a:r>
              <a:rPr lang="zh-CN" altLang="en-US" dirty="0"/>
              <a:t>，且最多存在</a:t>
            </a:r>
            <a:r>
              <a:rPr lang="en-US" altLang="zh-CN" dirty="0"/>
              <a:t>m</a:t>
            </a:r>
            <a:r>
              <a:rPr lang="zh-CN" altLang="en-US" dirty="0"/>
              <a:t>個叛徒時，當</a:t>
            </a:r>
            <a:r>
              <a:rPr lang="en-US" altLang="zh-CN" dirty="0"/>
              <a:t>N≥3m+1</a:t>
            </a:r>
            <a:r>
              <a:rPr lang="zh-CN" altLang="en-US" dirty="0"/>
              <a:t>時，</a:t>
            </a:r>
            <a:endParaRPr lang="en-US" altLang="zh-CN" dirty="0"/>
          </a:p>
          <a:p>
            <a:r>
              <a:rPr lang="en-US" altLang="zh-CN" dirty="0"/>
              <a:t>OM(m)</a:t>
            </a:r>
            <a:r>
              <a:rPr lang="zh-CN" altLang="en-US" dirty="0"/>
              <a:t> 算法可以確保所有忠誠的將軍達成一致</a:t>
            </a:r>
          </a:p>
        </p:txBody>
      </p:sp>
      <p:sp>
        <p:nvSpPr>
          <p:cNvPr id="5" name="内容占位符 2">
            <a:extLst>
              <a:ext uri="{FF2B5EF4-FFF2-40B4-BE49-F238E27FC236}">
                <a16:creationId xmlns:a16="http://schemas.microsoft.com/office/drawing/2014/main" id="{19342119-46D9-6B4F-A9D1-98AA32D334E9}"/>
              </a:ext>
            </a:extLst>
          </p:cNvPr>
          <p:cNvSpPr txBox="1"/>
          <p:nvPr/>
        </p:nvSpPr>
        <p:spPr>
          <a:xfrm>
            <a:off x="783819" y="2596993"/>
            <a:ext cx="5154054" cy="242212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3600"/>
              </a:lnSpc>
              <a:spcBef>
                <a:spcPts val="0"/>
              </a:spcBef>
            </a:pPr>
            <a:r>
              <a:rPr kumimoji="1" lang="zh-CN" altLang="en-US" sz="2400" dirty="0">
                <a:latin typeface="Microsoft YaHei" panose="020B0503020204020204" pitchFamily="34" charset="-122"/>
                <a:ea typeface="Microsoft YaHei" panose="020B0503020204020204" pitchFamily="34" charset="-122"/>
              </a:rPr>
              <a:t>假設</a:t>
            </a:r>
            <a:endParaRPr kumimoji="1" lang="en-US" altLang="zh-CN" sz="2400" dirty="0">
              <a:latin typeface="Microsoft YaHei" panose="020B0503020204020204" pitchFamily="34" charset="-122"/>
              <a:ea typeface="Microsoft YaHei" panose="020B0503020204020204" pitchFamily="34" charset="-122"/>
            </a:endParaRPr>
          </a:p>
          <a:p>
            <a:pPr lvl="1" indent="-342000">
              <a:lnSpc>
                <a:spcPts val="3600"/>
              </a:lnSpc>
              <a:spcBef>
                <a:spcPts val="0"/>
              </a:spcBef>
            </a:pPr>
            <a:r>
              <a:rPr kumimoji="1" lang="zh-CN" altLang="en-US" dirty="0">
                <a:latin typeface="Microsoft YaHei" panose="020B0503020204020204" pitchFamily="34" charset="-122"/>
                <a:ea typeface="Microsoft YaHei" panose="020B0503020204020204" pitchFamily="34" charset="-122"/>
              </a:rPr>
              <a:t>每個消息都被正確發送</a:t>
            </a:r>
            <a:endParaRPr kumimoji="1" lang="en-US" altLang="zh-CN" dirty="0">
              <a:latin typeface="Microsoft YaHei" panose="020B0503020204020204" pitchFamily="34" charset="-122"/>
              <a:ea typeface="Microsoft YaHei" panose="020B0503020204020204" pitchFamily="34" charset="-122"/>
            </a:endParaRPr>
          </a:p>
          <a:p>
            <a:pPr lvl="1" indent="-342000">
              <a:lnSpc>
                <a:spcPts val="3600"/>
              </a:lnSpc>
              <a:spcBef>
                <a:spcPts val="0"/>
              </a:spcBef>
            </a:pPr>
            <a:r>
              <a:rPr kumimoji="1" lang="zh-CN" altLang="en-US" dirty="0">
                <a:latin typeface="Microsoft YaHei" panose="020B0503020204020204" pitchFamily="34" charset="-122"/>
                <a:ea typeface="Microsoft YaHei" panose="020B0503020204020204" pitchFamily="34" charset="-122"/>
              </a:rPr>
              <a:t>被發送的消息在回合結束前都能被正確接收（同步假設）</a:t>
            </a:r>
            <a:endParaRPr kumimoji="1" lang="en-US" altLang="zh-CN" dirty="0">
              <a:latin typeface="Microsoft YaHei" panose="020B0503020204020204" pitchFamily="34" charset="-122"/>
              <a:ea typeface="Microsoft YaHei" panose="020B0503020204020204" pitchFamily="34" charset="-122"/>
            </a:endParaRPr>
          </a:p>
          <a:p>
            <a:pPr lvl="1" indent="-342000">
              <a:lnSpc>
                <a:spcPts val="3600"/>
              </a:lnSpc>
              <a:spcBef>
                <a:spcPts val="0"/>
              </a:spcBef>
            </a:pPr>
            <a:r>
              <a:rPr kumimoji="1" lang="zh-CN" altLang="en-US" dirty="0">
                <a:latin typeface="Microsoft YaHei" panose="020B0503020204020204" pitchFamily="34" charset="-122"/>
                <a:ea typeface="Microsoft YaHei" panose="020B0503020204020204" pitchFamily="34" charset="-122"/>
              </a:rPr>
              <a:t>消息的接收者知道誰是發送者</a:t>
            </a:r>
            <a:endParaRPr kumimoji="1" lang="en-US" altLang="zh-CN" dirty="0">
              <a:latin typeface="Microsoft YaHei" panose="020B0503020204020204" pitchFamily="34" charset="-122"/>
              <a:ea typeface="Microsoft YaHei" panose="020B0503020204020204" pitchFamily="34" charset="-122"/>
            </a:endParaRPr>
          </a:p>
        </p:txBody>
      </p:sp>
      <p:sp>
        <p:nvSpPr>
          <p:cNvPr id="6" name="内容占位符 2">
            <a:extLst>
              <a:ext uri="{FF2B5EF4-FFF2-40B4-BE49-F238E27FC236}">
                <a16:creationId xmlns:a16="http://schemas.microsoft.com/office/drawing/2014/main" id="{06A8647A-5A91-4F4F-B88E-5D2AFD0B7878}"/>
              </a:ext>
            </a:extLst>
          </p:cNvPr>
          <p:cNvSpPr txBox="1"/>
          <p:nvPr/>
        </p:nvSpPr>
        <p:spPr>
          <a:xfrm>
            <a:off x="6174439" y="2596995"/>
            <a:ext cx="4907281" cy="21403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3600"/>
              </a:lnSpc>
              <a:spcBef>
                <a:spcPts val="0"/>
              </a:spcBef>
            </a:pPr>
            <a:r>
              <a:rPr kumimoji="1" lang="zh-CN" altLang="en-US" sz="2400" dirty="0">
                <a:latin typeface="Microsoft YaHei" panose="020B0503020204020204" pitchFamily="34" charset="-122"/>
                <a:ea typeface="Microsoft YaHei" panose="020B0503020204020204" pitchFamily="34" charset="-122"/>
              </a:rPr>
              <a:t>確保</a:t>
            </a:r>
            <a:endParaRPr kumimoji="1" lang="en-US" altLang="zh-CN" sz="2400" dirty="0">
              <a:latin typeface="Microsoft YaHei" panose="020B0503020204020204" pitchFamily="34" charset="-122"/>
              <a:ea typeface="Microsoft YaHei" panose="020B0503020204020204" pitchFamily="34" charset="-122"/>
            </a:endParaRPr>
          </a:p>
          <a:p>
            <a:pPr lvl="1" indent="-342000">
              <a:lnSpc>
                <a:spcPts val="3600"/>
              </a:lnSpc>
              <a:spcBef>
                <a:spcPts val="0"/>
              </a:spcBef>
            </a:pPr>
            <a:r>
              <a:rPr kumimoji="1" lang="zh-CN" altLang="en-US" dirty="0">
                <a:latin typeface="Microsoft YaHei" panose="020B0503020204020204" pitchFamily="34" charset="-122"/>
                <a:ea typeface="Microsoft YaHei" panose="020B0503020204020204" pitchFamily="34" charset="-122"/>
              </a:rPr>
              <a:t>叛徒不能通過說謊來影響共識</a:t>
            </a:r>
            <a:endParaRPr kumimoji="1" lang="en-US" altLang="zh-CN" dirty="0">
              <a:latin typeface="Microsoft YaHei" panose="020B0503020204020204" pitchFamily="34" charset="-122"/>
              <a:ea typeface="Microsoft YaHei" panose="020B0503020204020204" pitchFamily="34" charset="-122"/>
            </a:endParaRPr>
          </a:p>
          <a:p>
            <a:pPr lvl="1" indent="-342000">
              <a:lnSpc>
                <a:spcPts val="3600"/>
              </a:lnSpc>
              <a:spcBef>
                <a:spcPts val="0"/>
              </a:spcBef>
            </a:pPr>
            <a:r>
              <a:rPr kumimoji="1" lang="zh-CN" altLang="en-US" dirty="0">
                <a:latin typeface="Microsoft YaHei" panose="020B0503020204020204" pitchFamily="34" charset="-122"/>
                <a:ea typeface="Microsoft YaHei" panose="020B0503020204020204" pitchFamily="34" charset="-122"/>
              </a:rPr>
              <a:t>叛徒不能通過保持沉默來影響共識</a:t>
            </a:r>
            <a:endParaRPr kumimoji="1" lang="en-US" altLang="zh-CN" dirty="0">
              <a:latin typeface="Microsoft YaHei" panose="020B0503020204020204" pitchFamily="34" charset="-122"/>
              <a:ea typeface="Microsoft YaHei" panose="020B0503020204020204" pitchFamily="34" charset="-122"/>
            </a:endParaRPr>
          </a:p>
        </p:txBody>
      </p:sp>
      <p:sp>
        <p:nvSpPr>
          <p:cNvPr id="10" name="内容占位符 2">
            <a:extLst>
              <a:ext uri="{FF2B5EF4-FFF2-40B4-BE49-F238E27FC236}">
                <a16:creationId xmlns:a16="http://schemas.microsoft.com/office/drawing/2014/main" id="{A56F3C61-B359-6740-A87E-DF23374818AF}"/>
              </a:ext>
            </a:extLst>
          </p:cNvPr>
          <p:cNvSpPr txBox="1"/>
          <p:nvPr/>
        </p:nvSpPr>
        <p:spPr>
          <a:xfrm>
            <a:off x="777292" y="5262116"/>
            <a:ext cx="10671758" cy="1150084"/>
          </a:xfrm>
          <a:prstGeom prst="rect">
            <a:avLst/>
          </a:prstGeom>
          <a:solidFill>
            <a:srgbClr val="00B0F0"/>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algn="ctr">
              <a:lnSpc>
                <a:spcPct val="120000"/>
              </a:lnSpc>
              <a:defRPr kumimoji="1" sz="2400" b="1">
                <a:solidFill>
                  <a:schemeClr val="bg1"/>
                </a:solidFill>
                <a:latin typeface="Microsoft YaHei" panose="020B0503020204020204" pitchFamily="34" charset="-122"/>
                <a:ea typeface="Microsoft YaHei"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證明思想：根據數學歸納法完成證明，即</a:t>
            </a:r>
            <a:r>
              <a:rPr lang="en-US" altLang="zh-CN" dirty="0"/>
              <a:t>m=1</a:t>
            </a:r>
            <a:r>
              <a:rPr lang="zh-CN" altLang="en-US" dirty="0"/>
              <a:t>時成立，幷且當</a:t>
            </a:r>
            <a:r>
              <a:rPr lang="en-US" altLang="zh-CN" dirty="0"/>
              <a:t>m=k</a:t>
            </a:r>
            <a:r>
              <a:rPr lang="zh-CN" altLang="en-US" dirty="0"/>
              <a:t>時成立，能推導出</a:t>
            </a:r>
            <a:r>
              <a:rPr lang="en-US" altLang="zh-CN" dirty="0"/>
              <a:t>m=k+1</a:t>
            </a:r>
            <a:r>
              <a:rPr lang="zh-CN" altLang="en-US" dirty="0"/>
              <a:t>時也成立</a:t>
            </a:r>
          </a:p>
        </p:txBody>
      </p:sp>
      <p:sp>
        <p:nvSpPr>
          <p:cNvPr id="12" name="灯片编号占位符 2">
            <a:extLst>
              <a:ext uri="{FF2B5EF4-FFF2-40B4-BE49-F238E27FC236}">
                <a16:creationId xmlns:a16="http://schemas.microsoft.com/office/drawing/2014/main" id="{52F76175-B3DE-8243-8E56-CE67638350C2}"/>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101</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344020437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kumimoji="1" lang="zh-CN" altLang="en-US" sz="4000" dirty="0"/>
              <a:t>口頭消息</a:t>
            </a:r>
            <a:r>
              <a:rPr lang="zh-CN" altLang="en-US" dirty="0"/>
              <a:t>協議</a:t>
            </a:r>
            <a:endParaRPr kumimoji="1" lang="zh-CN" altLang="en-US" sz="4000" dirty="0"/>
          </a:p>
        </p:txBody>
      </p:sp>
      <p:sp>
        <p:nvSpPr>
          <p:cNvPr id="6" name="内容占位符 2">
            <a:extLst>
              <a:ext uri="{FF2B5EF4-FFF2-40B4-BE49-F238E27FC236}">
                <a16:creationId xmlns:a16="http://schemas.microsoft.com/office/drawing/2014/main" id="{9F37A35E-D25A-5645-8008-013086DB05AC}"/>
              </a:ext>
            </a:extLst>
          </p:cNvPr>
          <p:cNvSpPr txBox="1"/>
          <p:nvPr/>
        </p:nvSpPr>
        <p:spPr>
          <a:xfrm>
            <a:off x="765976" y="1044140"/>
            <a:ext cx="10702441" cy="2320962"/>
          </a:xfrm>
          <a:prstGeom prst="rect">
            <a:avLst/>
          </a:prstGeom>
          <a:ln>
            <a:solidFill>
              <a:srgbClr val="00B0F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3600"/>
              </a:lnSpc>
              <a:spcBef>
                <a:spcPts val="0"/>
              </a:spcBef>
            </a:pPr>
            <a:r>
              <a:rPr kumimoji="1" lang="zh-CN" altLang="en-US" sz="2400" dirty="0">
                <a:latin typeface="Microsoft YaHei" panose="020B0503020204020204" pitchFamily="34" charset="-122"/>
                <a:ea typeface="Microsoft YaHei" panose="020B0503020204020204" pitchFamily="34" charset="-122"/>
              </a:rPr>
              <a:t>假設</a:t>
            </a:r>
            <a:r>
              <a:rPr kumimoji="1" lang="en-US" altLang="zh-CN" sz="2400" dirty="0">
                <a:latin typeface="Microsoft YaHei" panose="020B0503020204020204" pitchFamily="34" charset="-122"/>
                <a:ea typeface="Microsoft YaHei" panose="020B0503020204020204" pitchFamily="34" charset="-122"/>
              </a:rPr>
              <a:t>N</a:t>
            </a:r>
            <a:r>
              <a:rPr kumimoji="1" lang="zh-CN" altLang="en-US" sz="2400" dirty="0">
                <a:latin typeface="Microsoft YaHei" panose="020B0503020204020204" pitchFamily="34" charset="-122"/>
                <a:ea typeface="Microsoft YaHei" panose="020B0503020204020204" pitchFamily="34" charset="-122"/>
              </a:rPr>
              <a:t>個副官編號分別爲</a:t>
            </a:r>
            <a:r>
              <a:rPr kumimoji="1" lang="en-US" altLang="zh-CN" sz="2400" dirty="0">
                <a:latin typeface="Microsoft YaHei" panose="020B0503020204020204" pitchFamily="34" charset="-122"/>
                <a:ea typeface="Microsoft YaHei" panose="020B0503020204020204" pitchFamily="34" charset="-122"/>
              </a:rPr>
              <a:t>0,1,…,N-1</a:t>
            </a:r>
            <a:r>
              <a:rPr kumimoji="1" lang="zh-CN" altLang="en-US" sz="2400" dirty="0">
                <a:latin typeface="Microsoft YaHei" panose="020B0503020204020204" pitchFamily="34" charset="-122"/>
                <a:ea typeface="Microsoft YaHei" panose="020B0503020204020204" pitchFamily="34" charset="-122"/>
              </a:rPr>
              <a:t>，初始狀態下</a:t>
            </a:r>
            <a:r>
              <a:rPr kumimoji="1" lang="en-US" altLang="zh-CN" sz="2400" dirty="0">
                <a:latin typeface="Microsoft YaHei" panose="020B0503020204020204" pitchFamily="34" charset="-122"/>
                <a:ea typeface="Microsoft YaHei" panose="020B0503020204020204" pitchFamily="34" charset="-122"/>
              </a:rPr>
              <a:t>0</a:t>
            </a:r>
            <a:r>
              <a:rPr kumimoji="1" lang="zh-CN" altLang="en-US" sz="2400" dirty="0">
                <a:latin typeface="Microsoft YaHei" panose="020B0503020204020204" pitchFamily="34" charset="-122"/>
                <a:ea typeface="Microsoft YaHei" panose="020B0503020204020204" pitchFamily="34" charset="-122"/>
              </a:rPr>
              <a:t>爲將軍，幷執行</a:t>
            </a:r>
            <a:r>
              <a:rPr kumimoji="1" lang="en-US" altLang="zh-CN" sz="2400" dirty="0">
                <a:latin typeface="Microsoft YaHei" panose="020B0503020204020204" pitchFamily="34" charset="-122"/>
                <a:ea typeface="Microsoft YaHei" panose="020B0503020204020204" pitchFamily="34" charset="-122"/>
              </a:rPr>
              <a:t>OM</a:t>
            </a:r>
            <a:r>
              <a:rPr kumimoji="1" lang="en-US" altLang="zh-CN" sz="2400" baseline="-25000" dirty="0">
                <a:latin typeface="Microsoft YaHei" panose="020B0503020204020204" pitchFamily="34" charset="-122"/>
                <a:ea typeface="Microsoft YaHei" panose="020B0503020204020204" pitchFamily="34" charset="-122"/>
              </a:rPr>
              <a:t>0</a:t>
            </a:r>
            <a:r>
              <a:rPr kumimoji="1" lang="en-US" altLang="zh-CN" sz="2400" dirty="0">
                <a:latin typeface="Microsoft YaHei" panose="020B0503020204020204" pitchFamily="34" charset="-122"/>
                <a:ea typeface="Microsoft YaHei" panose="020B0503020204020204" pitchFamily="34" charset="-122"/>
              </a:rPr>
              <a:t>(m)</a:t>
            </a:r>
          </a:p>
          <a:p>
            <a:pPr algn="just">
              <a:lnSpc>
                <a:spcPts val="3600"/>
              </a:lnSpc>
              <a:spcBef>
                <a:spcPts val="0"/>
              </a:spcBef>
            </a:pPr>
            <a:r>
              <a:rPr kumimoji="1" lang="en-US" altLang="zh-CN" sz="2400" dirty="0">
                <a:latin typeface="Microsoft YaHei" panose="020B0503020204020204" pitchFamily="34" charset="-122"/>
                <a:ea typeface="Microsoft YaHei" panose="020B0503020204020204" pitchFamily="34" charset="-122"/>
              </a:rPr>
              <a:t>OM</a:t>
            </a:r>
            <a:r>
              <a:rPr kumimoji="1" lang="en-US" altLang="zh-CN" sz="2400" baseline="-25000" dirty="0">
                <a:latin typeface="Microsoft YaHei" panose="020B0503020204020204" pitchFamily="34" charset="-122"/>
                <a:ea typeface="Microsoft YaHei" panose="020B0503020204020204" pitchFamily="34" charset="-122"/>
              </a:rPr>
              <a:t>0</a:t>
            </a:r>
            <a:r>
              <a:rPr kumimoji="1" lang="en-US" altLang="zh-CN" sz="2400" dirty="0">
                <a:latin typeface="Microsoft YaHei" panose="020B0503020204020204" pitchFamily="34" charset="-122"/>
                <a:ea typeface="Microsoft YaHei" panose="020B0503020204020204" pitchFamily="34" charset="-122"/>
              </a:rPr>
              <a:t>(m)</a:t>
            </a:r>
            <a:r>
              <a:rPr kumimoji="1" lang="zh-CN" altLang="en-US" sz="2400" dirty="0">
                <a:latin typeface="Microsoft YaHei" panose="020B0503020204020204" pitchFamily="34" charset="-122"/>
                <a:ea typeface="Microsoft YaHei" panose="020B0503020204020204" pitchFamily="34" charset="-122"/>
              </a:rPr>
              <a:t>的運行流程爲：將軍</a:t>
            </a:r>
            <a:r>
              <a:rPr kumimoji="1" lang="en-US" altLang="zh-CN" sz="2400" dirty="0">
                <a:latin typeface="Microsoft YaHei" panose="020B0503020204020204" pitchFamily="34" charset="-122"/>
                <a:ea typeface="Microsoft YaHei" panose="020B0503020204020204" pitchFamily="34" charset="-122"/>
              </a:rPr>
              <a:t>0</a:t>
            </a:r>
            <a:r>
              <a:rPr kumimoji="1" lang="zh-CN" altLang="en-US" sz="2400" dirty="0">
                <a:latin typeface="Microsoft YaHei" panose="020B0503020204020204" pitchFamily="34" charset="-122"/>
                <a:ea typeface="Microsoft YaHei" panose="020B0503020204020204" pitchFamily="34" charset="-122"/>
              </a:rPr>
              <a:t>給其它副官發送指令，然後其它副官分別執行</a:t>
            </a:r>
            <a:r>
              <a:rPr kumimoji="1" lang="en-US" altLang="zh-CN" sz="2400" dirty="0">
                <a:latin typeface="Microsoft YaHei" panose="020B0503020204020204" pitchFamily="34" charset="-122"/>
                <a:ea typeface="Microsoft YaHei" panose="020B0503020204020204" pitchFamily="34" charset="-122"/>
              </a:rPr>
              <a:t>OM</a:t>
            </a:r>
            <a:r>
              <a:rPr kumimoji="1" lang="en-US" altLang="zh-CN" sz="2400" baseline="-25000" dirty="0">
                <a:latin typeface="Microsoft YaHei" panose="020B0503020204020204" pitchFamily="34" charset="-122"/>
                <a:ea typeface="Microsoft YaHei" panose="020B0503020204020204" pitchFamily="34" charset="-122"/>
              </a:rPr>
              <a:t>0,i</a:t>
            </a:r>
            <a:r>
              <a:rPr kumimoji="1" lang="en-US" altLang="zh-CN" sz="2400" dirty="0">
                <a:latin typeface="Microsoft YaHei" panose="020B0503020204020204" pitchFamily="34" charset="-122"/>
                <a:ea typeface="Microsoft YaHei" panose="020B0503020204020204" pitchFamily="34" charset="-122"/>
              </a:rPr>
              <a:t>(m-1)</a:t>
            </a:r>
            <a:r>
              <a:rPr kumimoji="1" lang="zh-CN" altLang="en-US" sz="2400" dirty="0">
                <a:latin typeface="Microsoft YaHei" panose="020B0503020204020204" pitchFamily="34" charset="-122"/>
                <a:ea typeface="Microsoft YaHei" panose="020B0503020204020204" pitchFamily="34" charset="-122"/>
              </a:rPr>
              <a:t>，將從將軍處收到的指令發給剩餘副官</a:t>
            </a:r>
            <a:endParaRPr kumimoji="1" lang="en-US" altLang="zh-CN" sz="2400" dirty="0">
              <a:latin typeface="Microsoft YaHei" panose="020B0503020204020204" pitchFamily="34" charset="-122"/>
              <a:ea typeface="Microsoft YaHei" panose="020B0503020204020204" pitchFamily="34" charset="-122"/>
            </a:endParaRPr>
          </a:p>
          <a:p>
            <a:pPr>
              <a:lnSpc>
                <a:spcPts val="3600"/>
              </a:lnSpc>
              <a:spcBef>
                <a:spcPts val="0"/>
              </a:spcBef>
            </a:pPr>
            <a:r>
              <a:rPr kumimoji="1" lang="en-US" altLang="zh-CN" sz="2400" dirty="0">
                <a:latin typeface="Microsoft YaHei" panose="020B0503020204020204" pitchFamily="34" charset="-122"/>
                <a:ea typeface="Microsoft YaHei" panose="020B0503020204020204" pitchFamily="34" charset="-122"/>
              </a:rPr>
              <a:t>OM</a:t>
            </a:r>
            <a:r>
              <a:rPr kumimoji="1" lang="en-US" altLang="zh-CN" sz="2400" baseline="-25000" dirty="0">
                <a:latin typeface="Microsoft YaHei" panose="020B0503020204020204" pitchFamily="34" charset="-122"/>
                <a:ea typeface="Microsoft YaHei" panose="020B0503020204020204" pitchFamily="34" charset="-122"/>
              </a:rPr>
              <a:t>k1,k2,…,</a:t>
            </a:r>
            <a:r>
              <a:rPr kumimoji="1" lang="en-US" altLang="zh-CN" sz="2400" baseline="-25000" dirty="0" err="1">
                <a:latin typeface="Microsoft YaHei" panose="020B0503020204020204" pitchFamily="34" charset="-122"/>
                <a:ea typeface="Microsoft YaHei" panose="020B0503020204020204" pitchFamily="34" charset="-122"/>
              </a:rPr>
              <a:t>kv,i</a:t>
            </a:r>
            <a:r>
              <a:rPr kumimoji="1" lang="en-US" altLang="zh-CN" sz="2400" dirty="0">
                <a:latin typeface="Microsoft YaHei" panose="020B0503020204020204" pitchFamily="34" charset="-122"/>
                <a:ea typeface="Microsoft YaHei" panose="020B0503020204020204" pitchFamily="34" charset="-122"/>
              </a:rPr>
              <a:t>(m-v)</a:t>
            </a:r>
            <a:r>
              <a:rPr kumimoji="1" lang="zh-CN" altLang="en-US" sz="2400" dirty="0">
                <a:latin typeface="Microsoft YaHei" panose="020B0503020204020204" pitchFamily="34" charset="-122"/>
                <a:ea typeface="Microsoft YaHei" panose="020B0503020204020204" pitchFamily="34" charset="-122"/>
              </a:rPr>
              <a:t>表示的</a:t>
            </a:r>
            <a:r>
              <a:rPr kumimoji="1" lang="en-US" altLang="zh-CN" sz="2400" dirty="0">
                <a:latin typeface="Microsoft YaHei" panose="020B0503020204020204" pitchFamily="34" charset="-122"/>
                <a:ea typeface="Microsoft YaHei" panose="020B0503020204020204" pitchFamily="34" charset="-122"/>
              </a:rPr>
              <a:t>OM</a:t>
            </a:r>
            <a:r>
              <a:rPr kumimoji="1" lang="zh-CN" altLang="en-US" sz="2400" dirty="0">
                <a:latin typeface="Microsoft YaHei" panose="020B0503020204020204" pitchFamily="34" charset="-122"/>
                <a:ea typeface="Microsoft YaHei" panose="020B0503020204020204" pitchFamily="34" charset="-122"/>
              </a:rPr>
              <a:t>算法是在除去副官</a:t>
            </a:r>
            <a:r>
              <a:rPr kumimoji="1" lang="en-US" altLang="zh-CN" sz="2400" dirty="0">
                <a:latin typeface="Microsoft YaHei" panose="020B0503020204020204" pitchFamily="34" charset="-122"/>
                <a:ea typeface="Microsoft YaHei" panose="020B0503020204020204" pitchFamily="34" charset="-122"/>
              </a:rPr>
              <a:t>k1,k2,…,</a:t>
            </a:r>
            <a:r>
              <a:rPr kumimoji="1" lang="en-US" altLang="zh-CN" sz="2400" dirty="0" err="1">
                <a:latin typeface="Microsoft YaHei" panose="020B0503020204020204" pitchFamily="34" charset="-122"/>
                <a:ea typeface="Microsoft YaHei" panose="020B0503020204020204" pitchFamily="34" charset="-122"/>
              </a:rPr>
              <a:t>kv</a:t>
            </a:r>
            <a:r>
              <a:rPr kumimoji="1" lang="zh-CN" altLang="en-US" sz="2400" dirty="0">
                <a:latin typeface="Microsoft YaHei" panose="020B0503020204020204" pitchFamily="34" charset="-122"/>
                <a:ea typeface="Microsoft YaHei" panose="020B0503020204020204" pitchFamily="34" charset="-122"/>
              </a:rPr>
              <a:t>後剩餘的副官中執行，且副官</a:t>
            </a:r>
            <a:r>
              <a:rPr kumimoji="1" lang="en-US" altLang="zh-CN" sz="2400" dirty="0" err="1">
                <a:latin typeface="Microsoft YaHei" panose="020B0503020204020204" pitchFamily="34" charset="-122"/>
                <a:ea typeface="Microsoft YaHei" panose="020B0503020204020204" pitchFamily="34" charset="-122"/>
              </a:rPr>
              <a:t>i</a:t>
            </a:r>
            <a:r>
              <a:rPr kumimoji="1" lang="zh-CN" altLang="en-US" sz="2400" dirty="0">
                <a:latin typeface="Microsoft YaHei" panose="020B0503020204020204" pitchFamily="34" charset="-122"/>
                <a:ea typeface="Microsoft YaHei" panose="020B0503020204020204" pitchFamily="34" charset="-122"/>
              </a:rPr>
              <a:t>將從副官</a:t>
            </a:r>
            <a:r>
              <a:rPr kumimoji="1" lang="en-US" altLang="zh-CN" sz="2400" dirty="0" err="1">
                <a:latin typeface="Microsoft YaHei" panose="020B0503020204020204" pitchFamily="34" charset="-122"/>
                <a:ea typeface="Microsoft YaHei" panose="020B0503020204020204" pitchFamily="34" charset="-122"/>
              </a:rPr>
              <a:t>kv</a:t>
            </a:r>
            <a:r>
              <a:rPr kumimoji="1" lang="zh-CN" altLang="en-US" sz="2400" dirty="0">
                <a:latin typeface="Microsoft YaHei" panose="020B0503020204020204" pitchFamily="34" charset="-122"/>
                <a:ea typeface="Microsoft YaHei" panose="020B0503020204020204" pitchFamily="34" charset="-122"/>
              </a:rPr>
              <a:t>執行</a:t>
            </a:r>
            <a:r>
              <a:rPr kumimoji="1" lang="en-US" altLang="zh-CN" sz="2400" dirty="0">
                <a:latin typeface="Microsoft YaHei" panose="020B0503020204020204" pitchFamily="34" charset="-122"/>
                <a:ea typeface="Microsoft YaHei" panose="020B0503020204020204" pitchFamily="34" charset="-122"/>
              </a:rPr>
              <a:t>OM</a:t>
            </a:r>
            <a:r>
              <a:rPr kumimoji="1" lang="en-US" altLang="zh-CN" sz="2400" baseline="-25000" dirty="0">
                <a:latin typeface="Microsoft YaHei" panose="020B0503020204020204" pitchFamily="34" charset="-122"/>
                <a:ea typeface="Microsoft YaHei" panose="020B0503020204020204" pitchFamily="34" charset="-122"/>
              </a:rPr>
              <a:t>k1,k2,…,</a:t>
            </a:r>
            <a:r>
              <a:rPr kumimoji="1" lang="en-US" altLang="zh-CN" sz="2400" baseline="-25000" dirty="0" err="1">
                <a:latin typeface="Microsoft YaHei" panose="020B0503020204020204" pitchFamily="34" charset="-122"/>
                <a:ea typeface="Microsoft YaHei" panose="020B0503020204020204" pitchFamily="34" charset="-122"/>
              </a:rPr>
              <a:t>kv</a:t>
            </a:r>
            <a:r>
              <a:rPr kumimoji="1" lang="en-US" altLang="zh-CN" sz="2400" dirty="0">
                <a:latin typeface="Microsoft YaHei" panose="020B0503020204020204" pitchFamily="34" charset="-122"/>
                <a:ea typeface="Microsoft YaHei" panose="020B0503020204020204" pitchFamily="34" charset="-122"/>
              </a:rPr>
              <a:t>(m-v+1)</a:t>
            </a:r>
            <a:r>
              <a:rPr kumimoji="1" lang="zh-CN" altLang="en-US" sz="2400" dirty="0">
                <a:latin typeface="Microsoft YaHei" panose="020B0503020204020204" pitchFamily="34" charset="-122"/>
                <a:ea typeface="Microsoft YaHei" panose="020B0503020204020204" pitchFamily="34" charset="-122"/>
              </a:rPr>
              <a:t>時發送的指令發給剩餘副官</a:t>
            </a:r>
            <a:endParaRPr kumimoji="1" lang="en-US" altLang="zh-CN" sz="2400" dirty="0">
              <a:latin typeface="Microsoft YaHei" panose="020B0503020204020204" pitchFamily="34" charset="-122"/>
              <a:ea typeface="Microsoft YaHei" panose="020B0503020204020204" pitchFamily="34" charset="-122"/>
            </a:endParaRPr>
          </a:p>
        </p:txBody>
      </p:sp>
      <p:sp>
        <p:nvSpPr>
          <p:cNvPr id="8" name="椭圆 7">
            <a:extLst>
              <a:ext uri="{FF2B5EF4-FFF2-40B4-BE49-F238E27FC236}">
                <a16:creationId xmlns:a16="http://schemas.microsoft.com/office/drawing/2014/main" id="{204D86A4-7C41-9242-A94F-3014565630D5}"/>
              </a:ext>
            </a:extLst>
          </p:cNvPr>
          <p:cNvSpPr/>
          <p:nvPr/>
        </p:nvSpPr>
        <p:spPr>
          <a:xfrm>
            <a:off x="2939157" y="3582666"/>
            <a:ext cx="423790" cy="462656"/>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dirty="0"/>
              <a:t>0</a:t>
            </a:r>
            <a:endParaRPr kumimoji="1" lang="zh-CN" altLang="en-US" dirty="0"/>
          </a:p>
        </p:txBody>
      </p:sp>
      <p:sp>
        <p:nvSpPr>
          <p:cNvPr id="13" name="椭圆 12">
            <a:extLst>
              <a:ext uri="{FF2B5EF4-FFF2-40B4-BE49-F238E27FC236}">
                <a16:creationId xmlns:a16="http://schemas.microsoft.com/office/drawing/2014/main" id="{7EAC67A5-9837-684A-99B8-CB0742B6CD1E}"/>
              </a:ext>
            </a:extLst>
          </p:cNvPr>
          <p:cNvSpPr/>
          <p:nvPr/>
        </p:nvSpPr>
        <p:spPr>
          <a:xfrm>
            <a:off x="5209863" y="4936928"/>
            <a:ext cx="423790" cy="462656"/>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sz="1600" dirty="0">
              <a:solidFill>
                <a:schemeClr val="tx1"/>
              </a:solidFill>
            </a:endParaRPr>
          </a:p>
        </p:txBody>
      </p:sp>
      <p:cxnSp>
        <p:nvCxnSpPr>
          <p:cNvPr id="15" name="直线箭头连接符 14">
            <a:extLst>
              <a:ext uri="{FF2B5EF4-FFF2-40B4-BE49-F238E27FC236}">
                <a16:creationId xmlns:a16="http://schemas.microsoft.com/office/drawing/2014/main" id="{B156F18D-DEBA-E44A-915A-0B8700C88703}"/>
              </a:ext>
            </a:extLst>
          </p:cNvPr>
          <p:cNvCxnSpPr>
            <a:stCxn id="8" idx="3"/>
            <a:endCxn id="10" idx="0"/>
          </p:cNvCxnSpPr>
          <p:nvPr/>
        </p:nvCxnSpPr>
        <p:spPr>
          <a:xfrm flipH="1">
            <a:off x="2333317" y="3977568"/>
            <a:ext cx="667903" cy="9697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线箭头连接符 15">
            <a:extLst>
              <a:ext uri="{FF2B5EF4-FFF2-40B4-BE49-F238E27FC236}">
                <a16:creationId xmlns:a16="http://schemas.microsoft.com/office/drawing/2014/main" id="{B1388072-63C5-304F-8D02-9B8B974B9C87}"/>
              </a:ext>
            </a:extLst>
          </p:cNvPr>
          <p:cNvCxnSpPr>
            <a:cxnSpLocks/>
            <a:stCxn id="8" idx="3"/>
            <a:endCxn id="9" idx="0"/>
          </p:cNvCxnSpPr>
          <p:nvPr/>
        </p:nvCxnSpPr>
        <p:spPr>
          <a:xfrm flipH="1">
            <a:off x="753653" y="3977568"/>
            <a:ext cx="2247567" cy="9593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线箭头连接符 17">
            <a:extLst>
              <a:ext uri="{FF2B5EF4-FFF2-40B4-BE49-F238E27FC236}">
                <a16:creationId xmlns:a16="http://schemas.microsoft.com/office/drawing/2014/main" id="{5F0E5966-6C5F-EC46-9ED0-856C1B8AD883}"/>
              </a:ext>
            </a:extLst>
          </p:cNvPr>
          <p:cNvCxnSpPr>
            <a:stCxn id="8" idx="4"/>
            <a:endCxn id="12" idx="0"/>
          </p:cNvCxnSpPr>
          <p:nvPr/>
        </p:nvCxnSpPr>
        <p:spPr>
          <a:xfrm>
            <a:off x="3151052" y="4045322"/>
            <a:ext cx="590300" cy="8916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线箭头连接符 18">
            <a:extLst>
              <a:ext uri="{FF2B5EF4-FFF2-40B4-BE49-F238E27FC236}">
                <a16:creationId xmlns:a16="http://schemas.microsoft.com/office/drawing/2014/main" id="{91403B05-840C-2F4A-9090-677BF5F5ACB4}"/>
              </a:ext>
            </a:extLst>
          </p:cNvPr>
          <p:cNvCxnSpPr>
            <a:cxnSpLocks/>
            <a:stCxn id="8" idx="5"/>
            <a:endCxn id="13" idx="0"/>
          </p:cNvCxnSpPr>
          <p:nvPr/>
        </p:nvCxnSpPr>
        <p:spPr>
          <a:xfrm>
            <a:off x="3300884" y="3977568"/>
            <a:ext cx="2120874" cy="9593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DABFC42C-8AA4-084C-B24C-B77A66E6BE63}"/>
              </a:ext>
            </a:extLst>
          </p:cNvPr>
          <p:cNvSpPr txBox="1"/>
          <p:nvPr/>
        </p:nvSpPr>
        <p:spPr>
          <a:xfrm>
            <a:off x="1728284" y="4106108"/>
            <a:ext cx="372211" cy="369332"/>
          </a:xfrm>
          <a:prstGeom prst="rect">
            <a:avLst/>
          </a:prstGeom>
          <a:noFill/>
        </p:spPr>
        <p:txBody>
          <a:bodyPr wrap="square" rtlCol="0">
            <a:spAutoFit/>
          </a:bodyPr>
          <a:lstStyle/>
          <a:p>
            <a:r>
              <a:rPr kumimoji="1" lang="en-US" altLang="zh-CN" dirty="0"/>
              <a:t>A</a:t>
            </a:r>
          </a:p>
        </p:txBody>
      </p:sp>
      <p:sp>
        <p:nvSpPr>
          <p:cNvPr id="22" name="文本框 21">
            <a:extLst>
              <a:ext uri="{FF2B5EF4-FFF2-40B4-BE49-F238E27FC236}">
                <a16:creationId xmlns:a16="http://schemas.microsoft.com/office/drawing/2014/main" id="{BB777C10-ADBD-2F4A-B527-3450156CCDB5}"/>
              </a:ext>
            </a:extLst>
          </p:cNvPr>
          <p:cNvSpPr txBox="1"/>
          <p:nvPr/>
        </p:nvSpPr>
        <p:spPr>
          <a:xfrm>
            <a:off x="2708769" y="4232284"/>
            <a:ext cx="372211" cy="369332"/>
          </a:xfrm>
          <a:prstGeom prst="rect">
            <a:avLst/>
          </a:prstGeom>
          <a:noFill/>
        </p:spPr>
        <p:txBody>
          <a:bodyPr wrap="square" rtlCol="0">
            <a:spAutoFit/>
          </a:bodyPr>
          <a:lstStyle/>
          <a:p>
            <a:r>
              <a:rPr kumimoji="1" lang="en-US" altLang="zh-CN" dirty="0"/>
              <a:t>A</a:t>
            </a:r>
          </a:p>
        </p:txBody>
      </p:sp>
      <p:sp>
        <p:nvSpPr>
          <p:cNvPr id="23" name="文本框 22">
            <a:extLst>
              <a:ext uri="{FF2B5EF4-FFF2-40B4-BE49-F238E27FC236}">
                <a16:creationId xmlns:a16="http://schemas.microsoft.com/office/drawing/2014/main" id="{19B698BC-3FE1-8141-942E-FB312B41A6BC}"/>
              </a:ext>
            </a:extLst>
          </p:cNvPr>
          <p:cNvSpPr txBox="1"/>
          <p:nvPr/>
        </p:nvSpPr>
        <p:spPr>
          <a:xfrm>
            <a:off x="3447907" y="4226202"/>
            <a:ext cx="372211" cy="369332"/>
          </a:xfrm>
          <a:prstGeom prst="rect">
            <a:avLst/>
          </a:prstGeom>
          <a:noFill/>
        </p:spPr>
        <p:txBody>
          <a:bodyPr wrap="square" rtlCol="0">
            <a:spAutoFit/>
          </a:bodyPr>
          <a:lstStyle/>
          <a:p>
            <a:r>
              <a:rPr kumimoji="1" lang="en-US" altLang="zh-CN" dirty="0"/>
              <a:t>A</a:t>
            </a:r>
          </a:p>
        </p:txBody>
      </p:sp>
      <p:sp>
        <p:nvSpPr>
          <p:cNvPr id="25" name="文本框 24">
            <a:extLst>
              <a:ext uri="{FF2B5EF4-FFF2-40B4-BE49-F238E27FC236}">
                <a16:creationId xmlns:a16="http://schemas.microsoft.com/office/drawing/2014/main" id="{445EFCA5-01F3-ED42-BDA6-91F61751C365}"/>
              </a:ext>
            </a:extLst>
          </p:cNvPr>
          <p:cNvSpPr txBox="1"/>
          <p:nvPr/>
        </p:nvSpPr>
        <p:spPr>
          <a:xfrm>
            <a:off x="4361321" y="4167438"/>
            <a:ext cx="372211" cy="369332"/>
          </a:xfrm>
          <a:prstGeom prst="rect">
            <a:avLst/>
          </a:prstGeom>
          <a:noFill/>
        </p:spPr>
        <p:txBody>
          <a:bodyPr wrap="square" rtlCol="0">
            <a:spAutoFit/>
          </a:bodyPr>
          <a:lstStyle/>
          <a:p>
            <a:r>
              <a:rPr kumimoji="1" lang="en-US" altLang="zh-CN" dirty="0"/>
              <a:t>A</a:t>
            </a:r>
          </a:p>
        </p:txBody>
      </p:sp>
      <p:sp>
        <p:nvSpPr>
          <p:cNvPr id="3" name="矩形 2">
            <a:extLst>
              <a:ext uri="{FF2B5EF4-FFF2-40B4-BE49-F238E27FC236}">
                <a16:creationId xmlns:a16="http://schemas.microsoft.com/office/drawing/2014/main" id="{B2953E6C-DA87-E44E-83D1-943B0FDF63B4}"/>
              </a:ext>
            </a:extLst>
          </p:cNvPr>
          <p:cNvSpPr/>
          <p:nvPr/>
        </p:nvSpPr>
        <p:spPr>
          <a:xfrm>
            <a:off x="761880" y="3619540"/>
            <a:ext cx="1350050" cy="461665"/>
          </a:xfrm>
          <a:prstGeom prst="rect">
            <a:avLst/>
          </a:prstGeom>
        </p:spPr>
        <p:txBody>
          <a:bodyPr wrap="none">
            <a:spAutoFit/>
          </a:bodyPr>
          <a:lstStyle/>
          <a:p>
            <a:r>
              <a:rPr kumimoji="1" lang="en-US" altLang="zh-CN" sz="2400" dirty="0">
                <a:latin typeface="Microsoft YaHei" panose="020B0503020204020204" pitchFamily="34" charset="-122"/>
                <a:ea typeface="Microsoft YaHei" panose="020B0503020204020204" pitchFamily="34" charset="-122"/>
              </a:rPr>
              <a:t>OM</a:t>
            </a:r>
            <a:r>
              <a:rPr kumimoji="1" lang="en-US" altLang="zh-CN" sz="2400" baseline="-25000" dirty="0">
                <a:latin typeface="Microsoft YaHei" panose="020B0503020204020204" pitchFamily="34" charset="-122"/>
                <a:ea typeface="Microsoft YaHei" panose="020B0503020204020204" pitchFamily="34" charset="-122"/>
              </a:rPr>
              <a:t>0</a:t>
            </a:r>
            <a:r>
              <a:rPr kumimoji="1" lang="en-US" altLang="zh-CN" sz="2400" dirty="0">
                <a:latin typeface="Microsoft YaHei" panose="020B0503020204020204" pitchFamily="34" charset="-122"/>
                <a:ea typeface="Microsoft YaHei" panose="020B0503020204020204" pitchFamily="34" charset="-122"/>
              </a:rPr>
              <a:t>(m)</a:t>
            </a:r>
            <a:endParaRPr lang="zh-CN" altLang="en-US" sz="2400" dirty="0"/>
          </a:p>
        </p:txBody>
      </p:sp>
      <p:sp>
        <p:nvSpPr>
          <p:cNvPr id="32" name="矩形 31">
            <a:extLst>
              <a:ext uri="{FF2B5EF4-FFF2-40B4-BE49-F238E27FC236}">
                <a16:creationId xmlns:a16="http://schemas.microsoft.com/office/drawing/2014/main" id="{EF7F5D7D-4ACF-0741-B02F-34EF5CA472D8}"/>
              </a:ext>
            </a:extLst>
          </p:cNvPr>
          <p:cNvSpPr/>
          <p:nvPr/>
        </p:nvSpPr>
        <p:spPr>
          <a:xfrm>
            <a:off x="4411892" y="4930925"/>
            <a:ext cx="434734" cy="461665"/>
          </a:xfrm>
          <a:prstGeom prst="rect">
            <a:avLst/>
          </a:prstGeom>
        </p:spPr>
        <p:txBody>
          <a:bodyPr wrap="none">
            <a:spAutoFit/>
          </a:bodyPr>
          <a:lstStyle/>
          <a:p>
            <a:r>
              <a:rPr kumimoji="1" lang="en-US" altLang="zh-CN" sz="2400" dirty="0">
                <a:latin typeface="Microsoft YaHei" panose="020B0503020204020204" pitchFamily="34" charset="-122"/>
                <a:ea typeface="Microsoft YaHei" panose="020B0503020204020204" pitchFamily="34" charset="-122"/>
              </a:rPr>
              <a:t>…</a:t>
            </a:r>
            <a:endParaRPr lang="zh-CN" altLang="en-US" sz="2400" dirty="0"/>
          </a:p>
        </p:txBody>
      </p:sp>
      <p:sp>
        <p:nvSpPr>
          <p:cNvPr id="37" name="矩形 36">
            <a:extLst>
              <a:ext uri="{FF2B5EF4-FFF2-40B4-BE49-F238E27FC236}">
                <a16:creationId xmlns:a16="http://schemas.microsoft.com/office/drawing/2014/main" id="{FF861D67-679C-F443-AD08-73CBAD1561E8}"/>
              </a:ext>
            </a:extLst>
          </p:cNvPr>
          <p:cNvSpPr/>
          <p:nvPr/>
        </p:nvSpPr>
        <p:spPr>
          <a:xfrm>
            <a:off x="4815903" y="5919628"/>
            <a:ext cx="1454244" cy="369332"/>
          </a:xfrm>
          <a:prstGeom prst="rect">
            <a:avLst/>
          </a:prstGeom>
        </p:spPr>
        <p:txBody>
          <a:bodyPr wrap="none">
            <a:spAutoFit/>
          </a:bodyPr>
          <a:lstStyle/>
          <a:p>
            <a:r>
              <a:rPr kumimoji="1" lang="en-US" altLang="zh-CN" dirty="0">
                <a:latin typeface="Microsoft YaHei" panose="020B0503020204020204" pitchFamily="34" charset="-122"/>
                <a:ea typeface="Microsoft YaHei" panose="020B0503020204020204" pitchFamily="34" charset="-122"/>
              </a:rPr>
              <a:t>OM</a:t>
            </a:r>
            <a:r>
              <a:rPr kumimoji="1" lang="en-US" altLang="zh-CN" baseline="-25000" dirty="0">
                <a:latin typeface="Microsoft YaHei" panose="020B0503020204020204" pitchFamily="34" charset="-122"/>
                <a:ea typeface="Microsoft YaHei" panose="020B0503020204020204" pitchFamily="34" charset="-122"/>
              </a:rPr>
              <a:t>0,N</a:t>
            </a:r>
            <a:r>
              <a:rPr kumimoji="1" lang="en-US" altLang="zh-CN" dirty="0">
                <a:latin typeface="Microsoft YaHei" panose="020B0503020204020204" pitchFamily="34" charset="-122"/>
                <a:ea typeface="Microsoft YaHei" panose="020B0503020204020204" pitchFamily="34" charset="-122"/>
              </a:rPr>
              <a:t>(m-1)</a:t>
            </a:r>
            <a:endParaRPr lang="zh-CN" altLang="en-US" dirty="0"/>
          </a:p>
        </p:txBody>
      </p:sp>
      <p:grpSp>
        <p:nvGrpSpPr>
          <p:cNvPr id="84" name="组合 83">
            <a:extLst>
              <a:ext uri="{FF2B5EF4-FFF2-40B4-BE49-F238E27FC236}">
                <a16:creationId xmlns:a16="http://schemas.microsoft.com/office/drawing/2014/main" id="{38D07C18-AEE2-0744-B031-EB191FF2F3C7}"/>
              </a:ext>
            </a:extLst>
          </p:cNvPr>
          <p:cNvGrpSpPr/>
          <p:nvPr/>
        </p:nvGrpSpPr>
        <p:grpSpPr>
          <a:xfrm>
            <a:off x="222838" y="4936930"/>
            <a:ext cx="1418978" cy="1344486"/>
            <a:chOff x="680038" y="5222680"/>
            <a:chExt cx="1418978" cy="1344486"/>
          </a:xfrm>
        </p:grpSpPr>
        <p:sp>
          <p:nvSpPr>
            <p:cNvPr id="9" name="椭圆 8">
              <a:extLst>
                <a:ext uri="{FF2B5EF4-FFF2-40B4-BE49-F238E27FC236}">
                  <a16:creationId xmlns:a16="http://schemas.microsoft.com/office/drawing/2014/main" id="{8B40F24D-FB29-F140-B0C6-8A411D327E14}"/>
                </a:ext>
              </a:extLst>
            </p:cNvPr>
            <p:cNvSpPr/>
            <p:nvPr/>
          </p:nvSpPr>
          <p:spPr>
            <a:xfrm>
              <a:off x="998958" y="5222680"/>
              <a:ext cx="423790" cy="462656"/>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dirty="0"/>
                <a:t>1</a:t>
              </a:r>
              <a:endParaRPr kumimoji="1" lang="zh-CN" altLang="en-US" dirty="0"/>
            </a:p>
          </p:txBody>
        </p:sp>
        <p:sp>
          <p:nvSpPr>
            <p:cNvPr id="33" name="矩形 32">
              <a:extLst>
                <a:ext uri="{FF2B5EF4-FFF2-40B4-BE49-F238E27FC236}">
                  <a16:creationId xmlns:a16="http://schemas.microsoft.com/office/drawing/2014/main" id="{6489D6E7-3514-584E-A985-B6395BF1D194}"/>
                </a:ext>
              </a:extLst>
            </p:cNvPr>
            <p:cNvSpPr/>
            <p:nvPr/>
          </p:nvSpPr>
          <p:spPr>
            <a:xfrm>
              <a:off x="680038" y="6197834"/>
              <a:ext cx="1418978" cy="369332"/>
            </a:xfrm>
            <a:prstGeom prst="rect">
              <a:avLst/>
            </a:prstGeom>
          </p:spPr>
          <p:txBody>
            <a:bodyPr wrap="none">
              <a:spAutoFit/>
            </a:bodyPr>
            <a:lstStyle/>
            <a:p>
              <a:r>
                <a:rPr kumimoji="1" lang="en-US" altLang="zh-CN" dirty="0">
                  <a:latin typeface="Microsoft YaHei" panose="020B0503020204020204" pitchFamily="34" charset="-122"/>
                  <a:ea typeface="Microsoft YaHei" panose="020B0503020204020204" pitchFamily="34" charset="-122"/>
                </a:rPr>
                <a:t>OM</a:t>
              </a:r>
              <a:r>
                <a:rPr kumimoji="1" lang="en-US" altLang="zh-CN" baseline="-25000" dirty="0">
                  <a:latin typeface="Microsoft YaHei" panose="020B0503020204020204" pitchFamily="34" charset="-122"/>
                  <a:ea typeface="Microsoft YaHei" panose="020B0503020204020204" pitchFamily="34" charset="-122"/>
                </a:rPr>
                <a:t>0,1</a:t>
              </a:r>
              <a:r>
                <a:rPr kumimoji="1" lang="en-US" altLang="zh-CN" dirty="0">
                  <a:latin typeface="Microsoft YaHei" panose="020B0503020204020204" pitchFamily="34" charset="-122"/>
                  <a:ea typeface="Microsoft YaHei" panose="020B0503020204020204" pitchFamily="34" charset="-122"/>
                </a:rPr>
                <a:t>(m-1)</a:t>
              </a:r>
              <a:endParaRPr lang="zh-CN" altLang="en-US" dirty="0"/>
            </a:p>
          </p:txBody>
        </p:sp>
        <p:cxnSp>
          <p:nvCxnSpPr>
            <p:cNvPr id="43" name="直线箭头连接符 42">
              <a:extLst>
                <a:ext uri="{FF2B5EF4-FFF2-40B4-BE49-F238E27FC236}">
                  <a16:creationId xmlns:a16="http://schemas.microsoft.com/office/drawing/2014/main" id="{10EC7255-606C-1046-88D8-AF1FD8C51F34}"/>
                </a:ext>
              </a:extLst>
            </p:cNvPr>
            <p:cNvCxnSpPr>
              <a:cxnSpLocks/>
              <a:stCxn id="9" idx="4"/>
            </p:cNvCxnSpPr>
            <p:nvPr/>
          </p:nvCxnSpPr>
          <p:spPr>
            <a:xfrm flipH="1">
              <a:off x="1210852" y="5685336"/>
              <a:ext cx="1" cy="4333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83" name="组合 82">
            <a:extLst>
              <a:ext uri="{FF2B5EF4-FFF2-40B4-BE49-F238E27FC236}">
                <a16:creationId xmlns:a16="http://schemas.microsoft.com/office/drawing/2014/main" id="{4464BE65-ABB5-C547-9471-FE187C4EA241}"/>
              </a:ext>
            </a:extLst>
          </p:cNvPr>
          <p:cNvGrpSpPr/>
          <p:nvPr/>
        </p:nvGrpSpPr>
        <p:grpSpPr>
          <a:xfrm>
            <a:off x="1746625" y="4947321"/>
            <a:ext cx="1418978" cy="1339012"/>
            <a:chOff x="1808967" y="5222680"/>
            <a:chExt cx="1418978" cy="1339012"/>
          </a:xfrm>
        </p:grpSpPr>
        <p:sp>
          <p:nvSpPr>
            <p:cNvPr id="10" name="椭圆 9">
              <a:extLst>
                <a:ext uri="{FF2B5EF4-FFF2-40B4-BE49-F238E27FC236}">
                  <a16:creationId xmlns:a16="http://schemas.microsoft.com/office/drawing/2014/main" id="{31A8BC00-3E45-B542-B77A-3180173FB6ED}"/>
                </a:ext>
              </a:extLst>
            </p:cNvPr>
            <p:cNvSpPr/>
            <p:nvPr/>
          </p:nvSpPr>
          <p:spPr>
            <a:xfrm>
              <a:off x="2183764" y="5222680"/>
              <a:ext cx="423790" cy="462656"/>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dirty="0"/>
                <a:t>2</a:t>
              </a:r>
              <a:endParaRPr kumimoji="1" lang="zh-CN" altLang="en-US" dirty="0"/>
            </a:p>
          </p:txBody>
        </p:sp>
        <p:sp>
          <p:nvSpPr>
            <p:cNvPr id="39" name="矩形 38">
              <a:extLst>
                <a:ext uri="{FF2B5EF4-FFF2-40B4-BE49-F238E27FC236}">
                  <a16:creationId xmlns:a16="http://schemas.microsoft.com/office/drawing/2014/main" id="{0D3C848F-F3F7-D543-8E8B-3D951D3A2F0A}"/>
                </a:ext>
              </a:extLst>
            </p:cNvPr>
            <p:cNvSpPr/>
            <p:nvPr/>
          </p:nvSpPr>
          <p:spPr>
            <a:xfrm>
              <a:off x="1808967" y="6192360"/>
              <a:ext cx="1418978" cy="369332"/>
            </a:xfrm>
            <a:prstGeom prst="rect">
              <a:avLst/>
            </a:prstGeom>
          </p:spPr>
          <p:txBody>
            <a:bodyPr wrap="none">
              <a:spAutoFit/>
            </a:bodyPr>
            <a:lstStyle/>
            <a:p>
              <a:r>
                <a:rPr kumimoji="1" lang="en-US" altLang="zh-CN" dirty="0">
                  <a:latin typeface="Microsoft YaHei" panose="020B0503020204020204" pitchFamily="34" charset="-122"/>
                  <a:ea typeface="Microsoft YaHei" panose="020B0503020204020204" pitchFamily="34" charset="-122"/>
                </a:rPr>
                <a:t>OM</a:t>
              </a:r>
              <a:r>
                <a:rPr kumimoji="1" lang="en-US" altLang="zh-CN" baseline="-25000" dirty="0">
                  <a:latin typeface="Microsoft YaHei" panose="020B0503020204020204" pitchFamily="34" charset="-122"/>
                  <a:ea typeface="Microsoft YaHei" panose="020B0503020204020204" pitchFamily="34" charset="-122"/>
                </a:rPr>
                <a:t>0,2</a:t>
              </a:r>
              <a:r>
                <a:rPr kumimoji="1" lang="en-US" altLang="zh-CN" dirty="0">
                  <a:latin typeface="Microsoft YaHei" panose="020B0503020204020204" pitchFamily="34" charset="-122"/>
                  <a:ea typeface="Microsoft YaHei" panose="020B0503020204020204" pitchFamily="34" charset="-122"/>
                </a:rPr>
                <a:t>(m-1)</a:t>
              </a:r>
              <a:endParaRPr lang="zh-CN" altLang="en-US" dirty="0"/>
            </a:p>
          </p:txBody>
        </p:sp>
        <p:cxnSp>
          <p:nvCxnSpPr>
            <p:cNvPr id="46" name="直线箭头连接符 45">
              <a:extLst>
                <a:ext uri="{FF2B5EF4-FFF2-40B4-BE49-F238E27FC236}">
                  <a16:creationId xmlns:a16="http://schemas.microsoft.com/office/drawing/2014/main" id="{DDF55928-7ED1-0C47-9458-8D74036F0AD5}"/>
                </a:ext>
              </a:extLst>
            </p:cNvPr>
            <p:cNvCxnSpPr>
              <a:cxnSpLocks/>
            </p:cNvCxnSpPr>
            <p:nvPr/>
          </p:nvCxnSpPr>
          <p:spPr>
            <a:xfrm flipH="1">
              <a:off x="2371589" y="5682684"/>
              <a:ext cx="1" cy="4333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82" name="组合 81">
            <a:extLst>
              <a:ext uri="{FF2B5EF4-FFF2-40B4-BE49-F238E27FC236}">
                <a16:creationId xmlns:a16="http://schemas.microsoft.com/office/drawing/2014/main" id="{713FECB4-7856-DD4F-B12C-F81AAC427E9D}"/>
              </a:ext>
            </a:extLst>
          </p:cNvPr>
          <p:cNvGrpSpPr/>
          <p:nvPr/>
        </p:nvGrpSpPr>
        <p:grpSpPr>
          <a:xfrm>
            <a:off x="3197517" y="4936930"/>
            <a:ext cx="1418978" cy="1344486"/>
            <a:chOff x="3052040" y="5222680"/>
            <a:chExt cx="1418978" cy="1344486"/>
          </a:xfrm>
        </p:grpSpPr>
        <p:sp>
          <p:nvSpPr>
            <p:cNvPr id="35" name="矩形 34">
              <a:extLst>
                <a:ext uri="{FF2B5EF4-FFF2-40B4-BE49-F238E27FC236}">
                  <a16:creationId xmlns:a16="http://schemas.microsoft.com/office/drawing/2014/main" id="{3AA47862-7C8E-F84F-8D01-18F1DFB77F1A}"/>
                </a:ext>
              </a:extLst>
            </p:cNvPr>
            <p:cNvSpPr/>
            <p:nvPr/>
          </p:nvSpPr>
          <p:spPr>
            <a:xfrm>
              <a:off x="3052040" y="6197834"/>
              <a:ext cx="1418978" cy="369332"/>
            </a:xfrm>
            <a:prstGeom prst="rect">
              <a:avLst/>
            </a:prstGeom>
          </p:spPr>
          <p:txBody>
            <a:bodyPr wrap="none">
              <a:spAutoFit/>
            </a:bodyPr>
            <a:lstStyle/>
            <a:p>
              <a:r>
                <a:rPr kumimoji="1" lang="en-US" altLang="zh-CN" dirty="0">
                  <a:latin typeface="Microsoft YaHei" panose="020B0503020204020204" pitchFamily="34" charset="-122"/>
                  <a:ea typeface="Microsoft YaHei" panose="020B0503020204020204" pitchFamily="34" charset="-122"/>
                </a:rPr>
                <a:t>OM</a:t>
              </a:r>
              <a:r>
                <a:rPr kumimoji="1" lang="en-US" altLang="zh-CN" baseline="-25000" dirty="0">
                  <a:latin typeface="Microsoft YaHei" panose="020B0503020204020204" pitchFamily="34" charset="-122"/>
                  <a:ea typeface="Microsoft YaHei" panose="020B0503020204020204" pitchFamily="34" charset="-122"/>
                </a:rPr>
                <a:t>0,3</a:t>
              </a:r>
              <a:r>
                <a:rPr kumimoji="1" lang="en-US" altLang="zh-CN" dirty="0">
                  <a:latin typeface="Microsoft YaHei" panose="020B0503020204020204" pitchFamily="34" charset="-122"/>
                  <a:ea typeface="Microsoft YaHei" panose="020B0503020204020204" pitchFamily="34" charset="-122"/>
                </a:rPr>
                <a:t>(m-1)</a:t>
              </a:r>
              <a:endParaRPr lang="zh-CN" altLang="en-US" dirty="0"/>
            </a:p>
          </p:txBody>
        </p:sp>
        <p:grpSp>
          <p:nvGrpSpPr>
            <p:cNvPr id="81" name="组合 80">
              <a:extLst>
                <a:ext uri="{FF2B5EF4-FFF2-40B4-BE49-F238E27FC236}">
                  <a16:creationId xmlns:a16="http://schemas.microsoft.com/office/drawing/2014/main" id="{4B404E88-3B58-7345-B47C-3A11D5948D51}"/>
                </a:ext>
              </a:extLst>
            </p:cNvPr>
            <p:cNvGrpSpPr/>
            <p:nvPr/>
          </p:nvGrpSpPr>
          <p:grpSpPr>
            <a:xfrm>
              <a:off x="3383980" y="5222680"/>
              <a:ext cx="423790" cy="935590"/>
              <a:chOff x="3383980" y="5222680"/>
              <a:chExt cx="423790" cy="935590"/>
            </a:xfrm>
          </p:grpSpPr>
          <p:sp>
            <p:nvSpPr>
              <p:cNvPr id="12" name="椭圆 11">
                <a:extLst>
                  <a:ext uri="{FF2B5EF4-FFF2-40B4-BE49-F238E27FC236}">
                    <a16:creationId xmlns:a16="http://schemas.microsoft.com/office/drawing/2014/main" id="{3CD4BE95-CF47-7E40-A0A1-03314C868598}"/>
                  </a:ext>
                </a:extLst>
              </p:cNvPr>
              <p:cNvSpPr/>
              <p:nvPr/>
            </p:nvSpPr>
            <p:spPr>
              <a:xfrm>
                <a:off x="3383980" y="5222680"/>
                <a:ext cx="423790" cy="462656"/>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dirty="0"/>
                  <a:t>3</a:t>
                </a:r>
                <a:endParaRPr kumimoji="1" lang="zh-CN" altLang="en-US" dirty="0"/>
              </a:p>
            </p:txBody>
          </p:sp>
          <p:cxnSp>
            <p:nvCxnSpPr>
              <p:cNvPr id="47" name="直线箭头连接符 46">
                <a:extLst>
                  <a:ext uri="{FF2B5EF4-FFF2-40B4-BE49-F238E27FC236}">
                    <a16:creationId xmlns:a16="http://schemas.microsoft.com/office/drawing/2014/main" id="{E1D99DA8-318D-0A43-B57F-27C43E06C2C5}"/>
                  </a:ext>
                </a:extLst>
              </p:cNvPr>
              <p:cNvCxnSpPr>
                <a:cxnSpLocks/>
              </p:cNvCxnSpPr>
              <p:nvPr/>
            </p:nvCxnSpPr>
            <p:spPr>
              <a:xfrm flipH="1">
                <a:off x="3595873" y="5724899"/>
                <a:ext cx="1" cy="4333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cxnSp>
        <p:nvCxnSpPr>
          <p:cNvPr id="49" name="直线箭头连接符 48">
            <a:extLst>
              <a:ext uri="{FF2B5EF4-FFF2-40B4-BE49-F238E27FC236}">
                <a16:creationId xmlns:a16="http://schemas.microsoft.com/office/drawing/2014/main" id="{2474E317-009C-F54D-AF9B-ABA00CEF3BE1}"/>
              </a:ext>
            </a:extLst>
          </p:cNvPr>
          <p:cNvCxnSpPr>
            <a:cxnSpLocks/>
          </p:cNvCxnSpPr>
          <p:nvPr/>
        </p:nvCxnSpPr>
        <p:spPr>
          <a:xfrm flipH="1">
            <a:off x="5421048" y="5445217"/>
            <a:ext cx="1" cy="4333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矩形 49">
            <a:extLst>
              <a:ext uri="{FF2B5EF4-FFF2-40B4-BE49-F238E27FC236}">
                <a16:creationId xmlns:a16="http://schemas.microsoft.com/office/drawing/2014/main" id="{12FAA241-7CD7-C842-BBDB-DD2F1C3CC7B7}"/>
              </a:ext>
            </a:extLst>
          </p:cNvPr>
          <p:cNvSpPr/>
          <p:nvPr/>
        </p:nvSpPr>
        <p:spPr>
          <a:xfrm>
            <a:off x="6838326" y="3572280"/>
            <a:ext cx="1834156" cy="461665"/>
          </a:xfrm>
          <a:prstGeom prst="rect">
            <a:avLst/>
          </a:prstGeom>
        </p:spPr>
        <p:txBody>
          <a:bodyPr wrap="none">
            <a:spAutoFit/>
          </a:bodyPr>
          <a:lstStyle/>
          <a:p>
            <a:r>
              <a:rPr kumimoji="1" lang="en-US" altLang="zh-CN" sz="2400" dirty="0">
                <a:latin typeface="Microsoft YaHei" panose="020B0503020204020204" pitchFamily="34" charset="-122"/>
                <a:ea typeface="Microsoft YaHei" panose="020B0503020204020204" pitchFamily="34" charset="-122"/>
              </a:rPr>
              <a:t>OM</a:t>
            </a:r>
            <a:r>
              <a:rPr kumimoji="1" lang="en-US" altLang="zh-CN" sz="2400" baseline="-25000" dirty="0">
                <a:latin typeface="Microsoft YaHei" panose="020B0503020204020204" pitchFamily="34" charset="-122"/>
                <a:ea typeface="Microsoft YaHei" panose="020B0503020204020204" pitchFamily="34" charset="-122"/>
              </a:rPr>
              <a:t>0,1</a:t>
            </a:r>
            <a:r>
              <a:rPr kumimoji="1" lang="en-US" altLang="zh-CN" sz="2400" dirty="0">
                <a:latin typeface="Microsoft YaHei" panose="020B0503020204020204" pitchFamily="34" charset="-122"/>
                <a:ea typeface="Microsoft YaHei" panose="020B0503020204020204" pitchFamily="34" charset="-122"/>
              </a:rPr>
              <a:t>(m-1)</a:t>
            </a:r>
            <a:endParaRPr lang="zh-CN" altLang="en-US" sz="2400" dirty="0"/>
          </a:p>
        </p:txBody>
      </p:sp>
      <p:sp>
        <p:nvSpPr>
          <p:cNvPr id="51" name="椭圆 50">
            <a:extLst>
              <a:ext uri="{FF2B5EF4-FFF2-40B4-BE49-F238E27FC236}">
                <a16:creationId xmlns:a16="http://schemas.microsoft.com/office/drawing/2014/main" id="{0E6CB88E-020E-794E-AB0B-2DB1F0013503}"/>
              </a:ext>
            </a:extLst>
          </p:cNvPr>
          <p:cNvSpPr/>
          <p:nvPr/>
        </p:nvSpPr>
        <p:spPr>
          <a:xfrm>
            <a:off x="8755142" y="3582666"/>
            <a:ext cx="426118" cy="465199"/>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dirty="0"/>
              <a:t>1</a:t>
            </a:r>
            <a:endParaRPr kumimoji="1" lang="zh-CN" altLang="en-US" dirty="0"/>
          </a:p>
        </p:txBody>
      </p:sp>
      <p:cxnSp>
        <p:nvCxnSpPr>
          <p:cNvPr id="57" name="直线箭头连接符 56">
            <a:extLst>
              <a:ext uri="{FF2B5EF4-FFF2-40B4-BE49-F238E27FC236}">
                <a16:creationId xmlns:a16="http://schemas.microsoft.com/office/drawing/2014/main" id="{945D0DFE-0212-8640-912F-E5FA9A61171F}"/>
              </a:ext>
            </a:extLst>
          </p:cNvPr>
          <p:cNvCxnSpPr>
            <a:cxnSpLocks/>
            <a:stCxn id="51" idx="3"/>
            <a:endCxn id="53" idx="0"/>
          </p:cNvCxnSpPr>
          <p:nvPr/>
        </p:nvCxnSpPr>
        <p:spPr>
          <a:xfrm flipH="1">
            <a:off x="7224512" y="3979738"/>
            <a:ext cx="1593034" cy="9511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直线箭头连接符 59">
            <a:extLst>
              <a:ext uri="{FF2B5EF4-FFF2-40B4-BE49-F238E27FC236}">
                <a16:creationId xmlns:a16="http://schemas.microsoft.com/office/drawing/2014/main" id="{50BFF9F6-5F81-F147-BF19-499B6B88D5F6}"/>
              </a:ext>
            </a:extLst>
          </p:cNvPr>
          <p:cNvCxnSpPr>
            <a:cxnSpLocks/>
            <a:stCxn id="51" idx="4"/>
            <a:endCxn id="55" idx="0"/>
          </p:cNvCxnSpPr>
          <p:nvPr/>
        </p:nvCxnSpPr>
        <p:spPr>
          <a:xfrm>
            <a:off x="8968201" y="4047865"/>
            <a:ext cx="27896" cy="8830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直线箭头连接符 60">
            <a:extLst>
              <a:ext uri="{FF2B5EF4-FFF2-40B4-BE49-F238E27FC236}">
                <a16:creationId xmlns:a16="http://schemas.microsoft.com/office/drawing/2014/main" id="{8BC50069-31DB-594F-9B85-5C7D35CC260B}"/>
              </a:ext>
            </a:extLst>
          </p:cNvPr>
          <p:cNvCxnSpPr>
            <a:cxnSpLocks/>
            <a:stCxn id="51" idx="5"/>
            <a:endCxn id="56" idx="0"/>
          </p:cNvCxnSpPr>
          <p:nvPr/>
        </p:nvCxnSpPr>
        <p:spPr>
          <a:xfrm>
            <a:off x="9118856" y="3979738"/>
            <a:ext cx="1608095" cy="9511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文本框 62">
            <a:extLst>
              <a:ext uri="{FF2B5EF4-FFF2-40B4-BE49-F238E27FC236}">
                <a16:creationId xmlns:a16="http://schemas.microsoft.com/office/drawing/2014/main" id="{9D56A462-CDBA-124F-99E4-0426C900252B}"/>
              </a:ext>
            </a:extLst>
          </p:cNvPr>
          <p:cNvSpPr txBox="1"/>
          <p:nvPr/>
        </p:nvSpPr>
        <p:spPr>
          <a:xfrm>
            <a:off x="7821438" y="4104391"/>
            <a:ext cx="374256" cy="369332"/>
          </a:xfrm>
          <a:prstGeom prst="rect">
            <a:avLst/>
          </a:prstGeom>
          <a:noFill/>
        </p:spPr>
        <p:txBody>
          <a:bodyPr wrap="square" rtlCol="0">
            <a:spAutoFit/>
          </a:bodyPr>
          <a:lstStyle/>
          <a:p>
            <a:r>
              <a:rPr kumimoji="1" lang="en-US" altLang="zh-CN" dirty="0"/>
              <a:t>A</a:t>
            </a:r>
          </a:p>
        </p:txBody>
      </p:sp>
      <p:sp>
        <p:nvSpPr>
          <p:cNvPr id="64" name="文本框 63">
            <a:extLst>
              <a:ext uri="{FF2B5EF4-FFF2-40B4-BE49-F238E27FC236}">
                <a16:creationId xmlns:a16="http://schemas.microsoft.com/office/drawing/2014/main" id="{14DE27AD-0178-AB4A-8B6C-44FC165ED871}"/>
              </a:ext>
            </a:extLst>
          </p:cNvPr>
          <p:cNvSpPr txBox="1"/>
          <p:nvPr/>
        </p:nvSpPr>
        <p:spPr>
          <a:xfrm>
            <a:off x="8593175" y="4256640"/>
            <a:ext cx="374256" cy="369332"/>
          </a:xfrm>
          <a:prstGeom prst="rect">
            <a:avLst/>
          </a:prstGeom>
          <a:noFill/>
        </p:spPr>
        <p:txBody>
          <a:bodyPr wrap="square" rtlCol="0">
            <a:spAutoFit/>
          </a:bodyPr>
          <a:lstStyle/>
          <a:p>
            <a:r>
              <a:rPr kumimoji="1" lang="en-US" altLang="zh-CN" dirty="0"/>
              <a:t>A</a:t>
            </a:r>
          </a:p>
        </p:txBody>
      </p:sp>
      <p:sp>
        <p:nvSpPr>
          <p:cNvPr id="66" name="文本框 65">
            <a:extLst>
              <a:ext uri="{FF2B5EF4-FFF2-40B4-BE49-F238E27FC236}">
                <a16:creationId xmlns:a16="http://schemas.microsoft.com/office/drawing/2014/main" id="{91D91465-11C5-4D41-8EDE-1B23EFB878C0}"/>
              </a:ext>
            </a:extLst>
          </p:cNvPr>
          <p:cNvSpPr txBox="1"/>
          <p:nvPr/>
        </p:nvSpPr>
        <p:spPr>
          <a:xfrm>
            <a:off x="9754816" y="4116872"/>
            <a:ext cx="374256" cy="369332"/>
          </a:xfrm>
          <a:prstGeom prst="rect">
            <a:avLst/>
          </a:prstGeom>
          <a:noFill/>
        </p:spPr>
        <p:txBody>
          <a:bodyPr wrap="square" rtlCol="0">
            <a:spAutoFit/>
          </a:bodyPr>
          <a:lstStyle/>
          <a:p>
            <a:r>
              <a:rPr kumimoji="1" lang="en-US" altLang="zh-CN" dirty="0"/>
              <a:t>A</a:t>
            </a:r>
          </a:p>
        </p:txBody>
      </p:sp>
      <p:sp>
        <p:nvSpPr>
          <p:cNvPr id="68" name="矩形 67">
            <a:extLst>
              <a:ext uri="{FF2B5EF4-FFF2-40B4-BE49-F238E27FC236}">
                <a16:creationId xmlns:a16="http://schemas.microsoft.com/office/drawing/2014/main" id="{5FC831C3-9C93-6541-8282-4BC73E50FDD4}"/>
              </a:ext>
            </a:extLst>
          </p:cNvPr>
          <p:cNvSpPr/>
          <p:nvPr/>
        </p:nvSpPr>
        <p:spPr>
          <a:xfrm>
            <a:off x="9715795" y="4909996"/>
            <a:ext cx="434734" cy="461665"/>
          </a:xfrm>
          <a:prstGeom prst="rect">
            <a:avLst/>
          </a:prstGeom>
        </p:spPr>
        <p:txBody>
          <a:bodyPr wrap="none">
            <a:spAutoFit/>
          </a:bodyPr>
          <a:lstStyle/>
          <a:p>
            <a:r>
              <a:rPr kumimoji="1" lang="en-US" altLang="zh-CN" sz="2400" dirty="0">
                <a:latin typeface="Microsoft YaHei" panose="020B0503020204020204" pitchFamily="34" charset="-122"/>
                <a:ea typeface="Microsoft YaHei" panose="020B0503020204020204" pitchFamily="34" charset="-122"/>
              </a:rPr>
              <a:t>…</a:t>
            </a:r>
            <a:endParaRPr lang="zh-CN" altLang="en-US" sz="2400" dirty="0"/>
          </a:p>
        </p:txBody>
      </p:sp>
      <p:grpSp>
        <p:nvGrpSpPr>
          <p:cNvPr id="85" name="组合 84">
            <a:extLst>
              <a:ext uri="{FF2B5EF4-FFF2-40B4-BE49-F238E27FC236}">
                <a16:creationId xmlns:a16="http://schemas.microsoft.com/office/drawing/2014/main" id="{75DB97AC-35A0-5446-8460-EEFD2B2E65FF}"/>
              </a:ext>
            </a:extLst>
          </p:cNvPr>
          <p:cNvGrpSpPr/>
          <p:nvPr/>
        </p:nvGrpSpPr>
        <p:grpSpPr>
          <a:xfrm>
            <a:off x="6559647" y="4930933"/>
            <a:ext cx="1545616" cy="1344340"/>
            <a:chOff x="7016847" y="5216683"/>
            <a:chExt cx="1545616" cy="1344340"/>
          </a:xfrm>
        </p:grpSpPr>
        <p:sp>
          <p:nvSpPr>
            <p:cNvPr id="53" name="椭圆 52">
              <a:extLst>
                <a:ext uri="{FF2B5EF4-FFF2-40B4-BE49-F238E27FC236}">
                  <a16:creationId xmlns:a16="http://schemas.microsoft.com/office/drawing/2014/main" id="{2BD9F565-50C5-3640-BED1-E7D69F2D0950}"/>
                </a:ext>
              </a:extLst>
            </p:cNvPr>
            <p:cNvSpPr/>
            <p:nvPr/>
          </p:nvSpPr>
          <p:spPr>
            <a:xfrm>
              <a:off x="7468653" y="5216683"/>
              <a:ext cx="426118" cy="465199"/>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dirty="0"/>
                <a:t>2</a:t>
              </a:r>
              <a:endParaRPr kumimoji="1" lang="zh-CN" altLang="en-US" dirty="0"/>
            </a:p>
          </p:txBody>
        </p:sp>
        <p:sp>
          <p:nvSpPr>
            <p:cNvPr id="72" name="矩形 71">
              <a:extLst>
                <a:ext uri="{FF2B5EF4-FFF2-40B4-BE49-F238E27FC236}">
                  <a16:creationId xmlns:a16="http://schemas.microsoft.com/office/drawing/2014/main" id="{48DC84BC-39B3-864F-A043-4A270FAC67E1}"/>
                </a:ext>
              </a:extLst>
            </p:cNvPr>
            <p:cNvSpPr/>
            <p:nvPr/>
          </p:nvSpPr>
          <p:spPr>
            <a:xfrm>
              <a:off x="7016847" y="6191691"/>
              <a:ext cx="1545616" cy="369332"/>
            </a:xfrm>
            <a:prstGeom prst="rect">
              <a:avLst/>
            </a:prstGeom>
          </p:spPr>
          <p:txBody>
            <a:bodyPr wrap="none">
              <a:spAutoFit/>
            </a:bodyPr>
            <a:lstStyle/>
            <a:p>
              <a:r>
                <a:rPr kumimoji="1" lang="en-US" altLang="zh-CN" dirty="0">
                  <a:latin typeface="Microsoft YaHei" panose="020B0503020204020204" pitchFamily="34" charset="-122"/>
                  <a:ea typeface="Microsoft YaHei" panose="020B0503020204020204" pitchFamily="34" charset="-122"/>
                </a:rPr>
                <a:t>OM</a:t>
              </a:r>
              <a:r>
                <a:rPr kumimoji="1" lang="en-US" altLang="zh-CN" baseline="-25000" dirty="0">
                  <a:latin typeface="Microsoft YaHei" panose="020B0503020204020204" pitchFamily="34" charset="-122"/>
                  <a:ea typeface="Microsoft YaHei" panose="020B0503020204020204" pitchFamily="34" charset="-122"/>
                </a:rPr>
                <a:t>0,1,2</a:t>
              </a:r>
              <a:r>
                <a:rPr kumimoji="1" lang="en-US" altLang="zh-CN" dirty="0">
                  <a:latin typeface="Microsoft YaHei" panose="020B0503020204020204" pitchFamily="34" charset="-122"/>
                  <a:ea typeface="Microsoft YaHei" panose="020B0503020204020204" pitchFamily="34" charset="-122"/>
                </a:rPr>
                <a:t>(m-2)</a:t>
              </a:r>
              <a:endParaRPr lang="zh-CN" altLang="en-US" dirty="0"/>
            </a:p>
          </p:txBody>
        </p:sp>
        <p:cxnSp>
          <p:nvCxnSpPr>
            <p:cNvPr id="75" name="直线箭头连接符 74">
              <a:extLst>
                <a:ext uri="{FF2B5EF4-FFF2-40B4-BE49-F238E27FC236}">
                  <a16:creationId xmlns:a16="http://schemas.microsoft.com/office/drawing/2014/main" id="{738DA1EC-33B0-1A42-8F38-D14EACC9E374}"/>
                </a:ext>
              </a:extLst>
            </p:cNvPr>
            <p:cNvCxnSpPr>
              <a:cxnSpLocks/>
            </p:cNvCxnSpPr>
            <p:nvPr/>
          </p:nvCxnSpPr>
          <p:spPr>
            <a:xfrm flipH="1">
              <a:off x="7657511" y="5679215"/>
              <a:ext cx="1" cy="4357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86" name="组合 85">
            <a:extLst>
              <a:ext uri="{FF2B5EF4-FFF2-40B4-BE49-F238E27FC236}">
                <a16:creationId xmlns:a16="http://schemas.microsoft.com/office/drawing/2014/main" id="{E8264E09-783E-364F-B4F7-14FB133D3516}"/>
              </a:ext>
            </a:extLst>
          </p:cNvPr>
          <p:cNvGrpSpPr/>
          <p:nvPr/>
        </p:nvGrpSpPr>
        <p:grpSpPr>
          <a:xfrm>
            <a:off x="8449275" y="4930933"/>
            <a:ext cx="1545616" cy="1349844"/>
            <a:chOff x="8341701" y="5216683"/>
            <a:chExt cx="1545616" cy="1349844"/>
          </a:xfrm>
        </p:grpSpPr>
        <p:sp>
          <p:nvSpPr>
            <p:cNvPr id="55" name="椭圆 54">
              <a:extLst>
                <a:ext uri="{FF2B5EF4-FFF2-40B4-BE49-F238E27FC236}">
                  <a16:creationId xmlns:a16="http://schemas.microsoft.com/office/drawing/2014/main" id="{06F6D1D5-DF55-E04A-A879-A73F94DA2A2E}"/>
                </a:ext>
              </a:extLst>
            </p:cNvPr>
            <p:cNvSpPr/>
            <p:nvPr/>
          </p:nvSpPr>
          <p:spPr>
            <a:xfrm>
              <a:off x="8675464" y="5216683"/>
              <a:ext cx="426118" cy="465199"/>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dirty="0"/>
                <a:t>3</a:t>
              </a:r>
              <a:endParaRPr kumimoji="1" lang="zh-CN" altLang="en-US" dirty="0"/>
            </a:p>
          </p:txBody>
        </p:sp>
        <p:sp>
          <p:nvSpPr>
            <p:cNvPr id="70" name="矩形 69">
              <a:extLst>
                <a:ext uri="{FF2B5EF4-FFF2-40B4-BE49-F238E27FC236}">
                  <a16:creationId xmlns:a16="http://schemas.microsoft.com/office/drawing/2014/main" id="{F2A600C1-E063-214C-8D91-EC119333F51D}"/>
                </a:ext>
              </a:extLst>
            </p:cNvPr>
            <p:cNvSpPr/>
            <p:nvPr/>
          </p:nvSpPr>
          <p:spPr>
            <a:xfrm>
              <a:off x="8341701" y="6197195"/>
              <a:ext cx="1545616" cy="369332"/>
            </a:xfrm>
            <a:prstGeom prst="rect">
              <a:avLst/>
            </a:prstGeom>
          </p:spPr>
          <p:txBody>
            <a:bodyPr wrap="none">
              <a:spAutoFit/>
            </a:bodyPr>
            <a:lstStyle/>
            <a:p>
              <a:r>
                <a:rPr kumimoji="1" lang="en-US" altLang="zh-CN" dirty="0">
                  <a:latin typeface="Microsoft YaHei" panose="020B0503020204020204" pitchFamily="34" charset="-122"/>
                  <a:ea typeface="Microsoft YaHei" panose="020B0503020204020204" pitchFamily="34" charset="-122"/>
                </a:rPr>
                <a:t>OM</a:t>
              </a:r>
              <a:r>
                <a:rPr kumimoji="1" lang="en-US" altLang="zh-CN" baseline="-25000" dirty="0">
                  <a:latin typeface="Microsoft YaHei" panose="020B0503020204020204" pitchFamily="34" charset="-122"/>
                  <a:ea typeface="Microsoft YaHei" panose="020B0503020204020204" pitchFamily="34" charset="-122"/>
                </a:rPr>
                <a:t>0,1,3</a:t>
              </a:r>
              <a:r>
                <a:rPr kumimoji="1" lang="en-US" altLang="zh-CN" dirty="0">
                  <a:latin typeface="Microsoft YaHei" panose="020B0503020204020204" pitchFamily="34" charset="-122"/>
                  <a:ea typeface="Microsoft YaHei" panose="020B0503020204020204" pitchFamily="34" charset="-122"/>
                </a:rPr>
                <a:t>(m-2)</a:t>
              </a:r>
              <a:endParaRPr lang="zh-CN" altLang="en-US" dirty="0"/>
            </a:p>
          </p:txBody>
        </p:sp>
        <p:cxnSp>
          <p:nvCxnSpPr>
            <p:cNvPr id="76" name="直线箭头连接符 75">
              <a:extLst>
                <a:ext uri="{FF2B5EF4-FFF2-40B4-BE49-F238E27FC236}">
                  <a16:creationId xmlns:a16="http://schemas.microsoft.com/office/drawing/2014/main" id="{112B80D7-4BC5-AA49-AB39-11AC7C899FF8}"/>
                </a:ext>
              </a:extLst>
            </p:cNvPr>
            <p:cNvCxnSpPr>
              <a:cxnSpLocks/>
            </p:cNvCxnSpPr>
            <p:nvPr/>
          </p:nvCxnSpPr>
          <p:spPr>
            <a:xfrm flipH="1">
              <a:off x="8888522" y="5721662"/>
              <a:ext cx="1" cy="4357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87" name="组合 86">
            <a:extLst>
              <a:ext uri="{FF2B5EF4-FFF2-40B4-BE49-F238E27FC236}">
                <a16:creationId xmlns:a16="http://schemas.microsoft.com/office/drawing/2014/main" id="{91F0502E-4A6E-9540-9FDE-AF59132BE056}"/>
              </a:ext>
            </a:extLst>
          </p:cNvPr>
          <p:cNvGrpSpPr/>
          <p:nvPr/>
        </p:nvGrpSpPr>
        <p:grpSpPr>
          <a:xfrm>
            <a:off x="10117768" y="4930931"/>
            <a:ext cx="1737976" cy="1357432"/>
            <a:chOff x="10574968" y="5216681"/>
            <a:chExt cx="1737976" cy="1357432"/>
          </a:xfrm>
        </p:grpSpPr>
        <p:sp>
          <p:nvSpPr>
            <p:cNvPr id="56" name="椭圆 55">
              <a:extLst>
                <a:ext uri="{FF2B5EF4-FFF2-40B4-BE49-F238E27FC236}">
                  <a16:creationId xmlns:a16="http://schemas.microsoft.com/office/drawing/2014/main" id="{C61596D7-DEBF-2245-94BB-56C15F103671}"/>
                </a:ext>
              </a:extLst>
            </p:cNvPr>
            <p:cNvSpPr/>
            <p:nvPr/>
          </p:nvSpPr>
          <p:spPr>
            <a:xfrm>
              <a:off x="10971092" y="5216681"/>
              <a:ext cx="426118" cy="465199"/>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solidFill>
                  <a:schemeClr val="tx1"/>
                </a:solidFill>
              </a:endParaRPr>
            </a:p>
          </p:txBody>
        </p:sp>
        <p:sp>
          <p:nvSpPr>
            <p:cNvPr id="71" name="矩形 70">
              <a:extLst>
                <a:ext uri="{FF2B5EF4-FFF2-40B4-BE49-F238E27FC236}">
                  <a16:creationId xmlns:a16="http://schemas.microsoft.com/office/drawing/2014/main" id="{87C19B5A-765F-1C4B-BCDB-AAA04478AEE5}"/>
                </a:ext>
              </a:extLst>
            </p:cNvPr>
            <p:cNvSpPr/>
            <p:nvPr/>
          </p:nvSpPr>
          <p:spPr>
            <a:xfrm>
              <a:off x="10574968" y="6204781"/>
              <a:ext cx="1737976" cy="369332"/>
            </a:xfrm>
            <a:prstGeom prst="rect">
              <a:avLst/>
            </a:prstGeom>
          </p:spPr>
          <p:txBody>
            <a:bodyPr wrap="none">
              <a:spAutoFit/>
            </a:bodyPr>
            <a:lstStyle/>
            <a:p>
              <a:r>
                <a:rPr kumimoji="1" lang="en-US" altLang="zh-CN" dirty="0">
                  <a:latin typeface="Microsoft YaHei" panose="020B0503020204020204" pitchFamily="34" charset="-122"/>
                  <a:ea typeface="Microsoft YaHei" panose="020B0503020204020204" pitchFamily="34" charset="-122"/>
                </a:rPr>
                <a:t>OM</a:t>
              </a:r>
              <a:r>
                <a:rPr kumimoji="1" lang="en-US" altLang="zh-CN" baseline="-25000" dirty="0">
                  <a:latin typeface="Microsoft YaHei" panose="020B0503020204020204" pitchFamily="34" charset="-122"/>
                  <a:ea typeface="Microsoft YaHei" panose="020B0503020204020204" pitchFamily="34" charset="-122"/>
                </a:rPr>
                <a:t>0,1,N-1</a:t>
              </a:r>
              <a:r>
                <a:rPr kumimoji="1" lang="en-US" altLang="zh-CN" dirty="0">
                  <a:latin typeface="Microsoft YaHei" panose="020B0503020204020204" pitchFamily="34" charset="-122"/>
                  <a:ea typeface="Microsoft YaHei" panose="020B0503020204020204" pitchFamily="34" charset="-122"/>
                </a:rPr>
                <a:t>(m-2)</a:t>
              </a:r>
              <a:endParaRPr lang="zh-CN" altLang="en-US" dirty="0"/>
            </a:p>
          </p:txBody>
        </p:sp>
        <p:cxnSp>
          <p:nvCxnSpPr>
            <p:cNvPr id="78" name="直线箭头连接符 77">
              <a:extLst>
                <a:ext uri="{FF2B5EF4-FFF2-40B4-BE49-F238E27FC236}">
                  <a16:creationId xmlns:a16="http://schemas.microsoft.com/office/drawing/2014/main" id="{310166A5-AC15-4347-BE72-2127DB8F8FB2}"/>
                </a:ext>
              </a:extLst>
            </p:cNvPr>
            <p:cNvCxnSpPr>
              <a:cxnSpLocks/>
            </p:cNvCxnSpPr>
            <p:nvPr/>
          </p:nvCxnSpPr>
          <p:spPr>
            <a:xfrm flipH="1">
              <a:off x="11183437" y="5727763"/>
              <a:ext cx="1" cy="4357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92" name="矩形 91">
            <a:extLst>
              <a:ext uri="{FF2B5EF4-FFF2-40B4-BE49-F238E27FC236}">
                <a16:creationId xmlns:a16="http://schemas.microsoft.com/office/drawing/2014/main" id="{B7715FE5-4517-5B41-ABA8-4EB11C739E89}"/>
              </a:ext>
            </a:extLst>
          </p:cNvPr>
          <p:cNvSpPr/>
          <p:nvPr/>
        </p:nvSpPr>
        <p:spPr>
          <a:xfrm>
            <a:off x="5165968" y="4977968"/>
            <a:ext cx="556563" cy="369332"/>
          </a:xfrm>
          <a:prstGeom prst="rect">
            <a:avLst/>
          </a:prstGeom>
        </p:spPr>
        <p:txBody>
          <a:bodyPr wrap="none">
            <a:spAutoFit/>
          </a:bodyPr>
          <a:lstStyle/>
          <a:p>
            <a:pPr algn="ctr"/>
            <a:r>
              <a:rPr kumimoji="1" lang="en-US" altLang="zh-CN" dirty="0"/>
              <a:t>N-1</a:t>
            </a:r>
            <a:endParaRPr kumimoji="1" lang="zh-CN" altLang="en-US" dirty="0"/>
          </a:p>
        </p:txBody>
      </p:sp>
      <p:sp>
        <p:nvSpPr>
          <p:cNvPr id="93" name="矩形 92">
            <a:extLst>
              <a:ext uri="{FF2B5EF4-FFF2-40B4-BE49-F238E27FC236}">
                <a16:creationId xmlns:a16="http://schemas.microsoft.com/office/drawing/2014/main" id="{36D31528-0C1D-9942-A53A-54B109672DDF}"/>
              </a:ext>
            </a:extLst>
          </p:cNvPr>
          <p:cNvSpPr/>
          <p:nvPr/>
        </p:nvSpPr>
        <p:spPr>
          <a:xfrm>
            <a:off x="10469186" y="4977968"/>
            <a:ext cx="556563" cy="369332"/>
          </a:xfrm>
          <a:prstGeom prst="rect">
            <a:avLst/>
          </a:prstGeom>
        </p:spPr>
        <p:txBody>
          <a:bodyPr wrap="none">
            <a:spAutoFit/>
          </a:bodyPr>
          <a:lstStyle/>
          <a:p>
            <a:pPr algn="ctr"/>
            <a:r>
              <a:rPr kumimoji="1" lang="en-US" altLang="zh-CN" dirty="0"/>
              <a:t>N-1</a:t>
            </a:r>
            <a:endParaRPr kumimoji="1" lang="zh-CN" altLang="en-US" dirty="0"/>
          </a:p>
        </p:txBody>
      </p:sp>
      <p:sp>
        <p:nvSpPr>
          <p:cNvPr id="54" name="灯片编号占位符 2">
            <a:extLst>
              <a:ext uri="{FF2B5EF4-FFF2-40B4-BE49-F238E27FC236}">
                <a16:creationId xmlns:a16="http://schemas.microsoft.com/office/drawing/2014/main" id="{E7D3F779-F692-DC47-B8C9-8592BBC29A96}"/>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102</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21591641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kumimoji="1" lang="zh-CN" altLang="en-US" dirty="0"/>
              <a:t>四將軍問題實例：懶惰的八戒</a:t>
            </a:r>
            <a:endParaRPr kumimoji="1" lang="zh-CN" altLang="en-US" sz="4000" dirty="0"/>
          </a:p>
        </p:txBody>
      </p:sp>
      <p:pic>
        <p:nvPicPr>
          <p:cNvPr id="38" name="图片 37">
            <a:extLst>
              <a:ext uri="{FF2B5EF4-FFF2-40B4-BE49-F238E27FC236}">
                <a16:creationId xmlns:a16="http://schemas.microsoft.com/office/drawing/2014/main" id="{52D9D3D3-1990-2846-A9FE-DA88308231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63974" y="1053033"/>
            <a:ext cx="703408" cy="901078"/>
          </a:xfrm>
          <a:prstGeom prst="rect">
            <a:avLst/>
          </a:prstGeom>
        </p:spPr>
      </p:pic>
      <p:pic>
        <p:nvPicPr>
          <p:cNvPr id="41" name="图片 40">
            <a:extLst>
              <a:ext uri="{FF2B5EF4-FFF2-40B4-BE49-F238E27FC236}">
                <a16:creationId xmlns:a16="http://schemas.microsoft.com/office/drawing/2014/main" id="{A0B2659A-AB1F-5845-84CE-13F32BDF128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75403" y="2352527"/>
            <a:ext cx="704387" cy="972200"/>
          </a:xfrm>
          <a:prstGeom prst="rect">
            <a:avLst/>
          </a:prstGeom>
        </p:spPr>
      </p:pic>
      <p:pic>
        <p:nvPicPr>
          <p:cNvPr id="42" name="图片 41">
            <a:extLst>
              <a:ext uri="{FF2B5EF4-FFF2-40B4-BE49-F238E27FC236}">
                <a16:creationId xmlns:a16="http://schemas.microsoft.com/office/drawing/2014/main" id="{F74AE612-3C54-7941-B1DE-AB5F299092A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00735" y="4040598"/>
            <a:ext cx="1029887" cy="604508"/>
          </a:xfrm>
          <a:prstGeom prst="rect">
            <a:avLst/>
          </a:prstGeom>
        </p:spPr>
      </p:pic>
      <p:pic>
        <p:nvPicPr>
          <p:cNvPr id="44" name="图片 43">
            <a:extLst>
              <a:ext uri="{FF2B5EF4-FFF2-40B4-BE49-F238E27FC236}">
                <a16:creationId xmlns:a16="http://schemas.microsoft.com/office/drawing/2014/main" id="{EFB0978D-2363-2E4E-98E8-67116CBF244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1955463" y="2390324"/>
            <a:ext cx="939125" cy="687886"/>
          </a:xfrm>
          <a:prstGeom prst="rect">
            <a:avLst/>
          </a:prstGeom>
        </p:spPr>
      </p:pic>
      <p:cxnSp>
        <p:nvCxnSpPr>
          <p:cNvPr id="45" name="直线箭头连接符 44">
            <a:extLst>
              <a:ext uri="{FF2B5EF4-FFF2-40B4-BE49-F238E27FC236}">
                <a16:creationId xmlns:a16="http://schemas.microsoft.com/office/drawing/2014/main" id="{D9135A5F-7203-864C-8AAD-D866E29C6E3C}"/>
              </a:ext>
            </a:extLst>
          </p:cNvPr>
          <p:cNvCxnSpPr>
            <a:stCxn id="38" idx="1"/>
            <a:endCxn id="44" idx="0"/>
          </p:cNvCxnSpPr>
          <p:nvPr/>
        </p:nvCxnSpPr>
        <p:spPr>
          <a:xfrm flipH="1">
            <a:off x="2425025" y="1503572"/>
            <a:ext cx="3538949" cy="886752"/>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65F5524C-7A90-904F-8F30-F6706DF53988}"/>
              </a:ext>
            </a:extLst>
          </p:cNvPr>
          <p:cNvSpPr txBox="1"/>
          <p:nvPr/>
        </p:nvSpPr>
        <p:spPr>
          <a:xfrm>
            <a:off x="3258937" y="1551534"/>
            <a:ext cx="1972355"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悟空，我餓了</a:t>
            </a:r>
          </a:p>
        </p:txBody>
      </p:sp>
      <p:cxnSp>
        <p:nvCxnSpPr>
          <p:cNvPr id="47" name="直线箭头连接符 46">
            <a:extLst>
              <a:ext uri="{FF2B5EF4-FFF2-40B4-BE49-F238E27FC236}">
                <a16:creationId xmlns:a16="http://schemas.microsoft.com/office/drawing/2014/main" id="{7F8D2C8A-0798-7740-A477-BC7A29195741}"/>
              </a:ext>
            </a:extLst>
          </p:cNvPr>
          <p:cNvCxnSpPr>
            <a:stCxn id="38" idx="2"/>
            <a:endCxn id="42" idx="0"/>
          </p:cNvCxnSpPr>
          <p:nvPr/>
        </p:nvCxnSpPr>
        <p:spPr>
          <a:xfrm>
            <a:off x="6315678" y="1954111"/>
            <a:ext cx="1" cy="2086487"/>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sp>
        <p:nvSpPr>
          <p:cNvPr id="48" name="文本框 47">
            <a:extLst>
              <a:ext uri="{FF2B5EF4-FFF2-40B4-BE49-F238E27FC236}">
                <a16:creationId xmlns:a16="http://schemas.microsoft.com/office/drawing/2014/main" id="{F29D88BA-29B2-A44E-A31E-64D6DF50FFB6}"/>
              </a:ext>
            </a:extLst>
          </p:cNvPr>
          <p:cNvSpPr txBox="1"/>
          <p:nvPr/>
        </p:nvSpPr>
        <p:spPr>
          <a:xfrm>
            <a:off x="5696356" y="3395869"/>
            <a:ext cx="1441420"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悟淨，我餓了</a:t>
            </a:r>
          </a:p>
        </p:txBody>
      </p:sp>
      <p:cxnSp>
        <p:nvCxnSpPr>
          <p:cNvPr id="49" name="直线箭头连接符 48">
            <a:extLst>
              <a:ext uri="{FF2B5EF4-FFF2-40B4-BE49-F238E27FC236}">
                <a16:creationId xmlns:a16="http://schemas.microsoft.com/office/drawing/2014/main" id="{30F32808-4C27-B143-AF24-FC0E89C26579}"/>
              </a:ext>
            </a:extLst>
          </p:cNvPr>
          <p:cNvCxnSpPr>
            <a:stCxn id="38" idx="3"/>
            <a:endCxn id="41" idx="0"/>
          </p:cNvCxnSpPr>
          <p:nvPr/>
        </p:nvCxnSpPr>
        <p:spPr>
          <a:xfrm>
            <a:off x="6667382" y="1503572"/>
            <a:ext cx="3360215" cy="848955"/>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FD1D0A87-9C9A-AC40-A1DF-E550960C7390}"/>
              </a:ext>
            </a:extLst>
          </p:cNvPr>
          <p:cNvSpPr txBox="1"/>
          <p:nvPr/>
        </p:nvSpPr>
        <p:spPr>
          <a:xfrm>
            <a:off x="7754153" y="1474763"/>
            <a:ext cx="1762629"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八戒，我餓了</a:t>
            </a:r>
          </a:p>
        </p:txBody>
      </p:sp>
      <p:cxnSp>
        <p:nvCxnSpPr>
          <p:cNvPr id="51" name="直线箭头连接符 50">
            <a:extLst>
              <a:ext uri="{FF2B5EF4-FFF2-40B4-BE49-F238E27FC236}">
                <a16:creationId xmlns:a16="http://schemas.microsoft.com/office/drawing/2014/main" id="{FDA501C6-4D53-6343-94B3-EEC2B8E6C2D8}"/>
              </a:ext>
            </a:extLst>
          </p:cNvPr>
          <p:cNvCxnSpPr>
            <a:cxnSpLocks/>
          </p:cNvCxnSpPr>
          <p:nvPr/>
        </p:nvCxnSpPr>
        <p:spPr>
          <a:xfrm flipH="1" flipV="1">
            <a:off x="2542395" y="3085691"/>
            <a:ext cx="3220764" cy="1306881"/>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C4A24307-E9EE-EA4C-AC6C-37728D4D82F1}"/>
              </a:ext>
            </a:extLst>
          </p:cNvPr>
          <p:cNvSpPr txBox="1"/>
          <p:nvPr/>
        </p:nvSpPr>
        <p:spPr>
          <a:xfrm>
            <a:off x="3196307" y="3615766"/>
            <a:ext cx="1211751" cy="584775"/>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大師兄，</a:t>
            </a:r>
            <a:endParaRPr kumimoji="1" lang="en-US" altLang="zh-CN" sz="1600" dirty="0">
              <a:latin typeface="Microsoft YaHei" panose="020B0503020204020204" pitchFamily="34" charset="-122"/>
              <a:ea typeface="Microsoft YaHei" panose="020B0503020204020204" pitchFamily="34" charset="-122"/>
            </a:endParaRPr>
          </a:p>
          <a:p>
            <a:r>
              <a:rPr kumimoji="1" lang="zh-CN" altLang="en-US" sz="1600" dirty="0">
                <a:latin typeface="Microsoft YaHei" panose="020B0503020204020204" pitchFamily="34" charset="-122"/>
                <a:ea typeface="Microsoft YaHei" panose="020B0503020204020204" pitchFamily="34" charset="-122"/>
              </a:rPr>
              <a:t>師傅餓了</a:t>
            </a:r>
          </a:p>
        </p:txBody>
      </p:sp>
      <p:cxnSp>
        <p:nvCxnSpPr>
          <p:cNvPr id="53" name="直线箭头连接符 52">
            <a:extLst>
              <a:ext uri="{FF2B5EF4-FFF2-40B4-BE49-F238E27FC236}">
                <a16:creationId xmlns:a16="http://schemas.microsoft.com/office/drawing/2014/main" id="{5B64A03A-AC55-7B4D-8A2C-1274EDA89FD7}"/>
              </a:ext>
            </a:extLst>
          </p:cNvPr>
          <p:cNvCxnSpPr>
            <a:cxnSpLocks/>
          </p:cNvCxnSpPr>
          <p:nvPr/>
        </p:nvCxnSpPr>
        <p:spPr>
          <a:xfrm flipH="1" flipV="1">
            <a:off x="2894588" y="2558903"/>
            <a:ext cx="6780815" cy="104360"/>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8EF92BCB-5691-6340-AA35-6FD8D0AC27C5}"/>
              </a:ext>
            </a:extLst>
          </p:cNvPr>
          <p:cNvSpPr txBox="1"/>
          <p:nvPr/>
        </p:nvSpPr>
        <p:spPr>
          <a:xfrm>
            <a:off x="4061445" y="2241993"/>
            <a:ext cx="2094189"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大師兄，</a:t>
            </a:r>
            <a:r>
              <a:rPr kumimoji="1" lang="zh-CN" altLang="en-US" sz="1600" dirty="0">
                <a:solidFill>
                  <a:srgbClr val="FF0000"/>
                </a:solidFill>
                <a:latin typeface="Microsoft YaHei" panose="020B0503020204020204" pitchFamily="34" charset="-122"/>
                <a:ea typeface="Microsoft YaHei" panose="020B0503020204020204" pitchFamily="34" charset="-122"/>
              </a:rPr>
              <a:t>師傅不餓</a:t>
            </a:r>
          </a:p>
        </p:txBody>
      </p:sp>
      <p:cxnSp>
        <p:nvCxnSpPr>
          <p:cNvPr id="55" name="直线箭头连接符 54">
            <a:extLst>
              <a:ext uri="{FF2B5EF4-FFF2-40B4-BE49-F238E27FC236}">
                <a16:creationId xmlns:a16="http://schemas.microsoft.com/office/drawing/2014/main" id="{7A11B22A-11A1-BD4E-BC7A-92FFFB82B726}"/>
              </a:ext>
            </a:extLst>
          </p:cNvPr>
          <p:cNvCxnSpPr>
            <a:cxnSpLocks/>
          </p:cNvCxnSpPr>
          <p:nvPr/>
        </p:nvCxnSpPr>
        <p:spPr>
          <a:xfrm>
            <a:off x="2894588" y="3014658"/>
            <a:ext cx="2929501" cy="1138180"/>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sp>
        <p:nvSpPr>
          <p:cNvPr id="56" name="文本框 55">
            <a:extLst>
              <a:ext uri="{FF2B5EF4-FFF2-40B4-BE49-F238E27FC236}">
                <a16:creationId xmlns:a16="http://schemas.microsoft.com/office/drawing/2014/main" id="{11C5ACC5-B726-104E-A353-C282528673B8}"/>
              </a:ext>
            </a:extLst>
          </p:cNvPr>
          <p:cNvSpPr txBox="1"/>
          <p:nvPr/>
        </p:nvSpPr>
        <p:spPr>
          <a:xfrm>
            <a:off x="4354640" y="3109631"/>
            <a:ext cx="987319" cy="830997"/>
          </a:xfrm>
          <a:prstGeom prst="rect">
            <a:avLst/>
          </a:prstGeom>
          <a:noFill/>
        </p:spPr>
        <p:txBody>
          <a:bodyPr wrap="square" rtlCol="0">
            <a:spAutoFit/>
          </a:bodyPr>
          <a:lstStyle/>
          <a:p>
            <a:pPr algn="ctr"/>
            <a:r>
              <a:rPr kumimoji="1" lang="zh-CN" altLang="en-US" sz="1600" dirty="0">
                <a:latin typeface="Microsoft YaHei" panose="020B0503020204020204" pitchFamily="34" charset="-122"/>
                <a:ea typeface="Microsoft YaHei" panose="020B0503020204020204" pitchFamily="34" charset="-122"/>
              </a:rPr>
              <a:t>沙師弟，</a:t>
            </a:r>
            <a:endParaRPr kumimoji="1" lang="en-US" altLang="zh-CN" sz="1600" dirty="0">
              <a:latin typeface="Microsoft YaHei" panose="020B0503020204020204" pitchFamily="34" charset="-122"/>
              <a:ea typeface="Microsoft YaHei" panose="020B0503020204020204" pitchFamily="34" charset="-122"/>
            </a:endParaRPr>
          </a:p>
          <a:p>
            <a:pPr algn="ctr"/>
            <a:r>
              <a:rPr kumimoji="1" lang="zh-CN" altLang="en-US" sz="1600" dirty="0">
                <a:latin typeface="Microsoft YaHei" panose="020B0503020204020204" pitchFamily="34" charset="-122"/>
                <a:ea typeface="Microsoft YaHei" panose="020B0503020204020204" pitchFamily="34" charset="-122"/>
              </a:rPr>
              <a:t>師傅餓了</a:t>
            </a:r>
          </a:p>
        </p:txBody>
      </p:sp>
      <p:cxnSp>
        <p:nvCxnSpPr>
          <p:cNvPr id="57" name="直线箭头连接符 56">
            <a:extLst>
              <a:ext uri="{FF2B5EF4-FFF2-40B4-BE49-F238E27FC236}">
                <a16:creationId xmlns:a16="http://schemas.microsoft.com/office/drawing/2014/main" id="{98A23E55-DB6A-C343-B42B-150CD7287D5D}"/>
              </a:ext>
            </a:extLst>
          </p:cNvPr>
          <p:cNvCxnSpPr>
            <a:stCxn id="41" idx="2"/>
            <a:endCxn id="42" idx="3"/>
          </p:cNvCxnSpPr>
          <p:nvPr/>
        </p:nvCxnSpPr>
        <p:spPr>
          <a:xfrm flipH="1">
            <a:off x="6830622" y="3324727"/>
            <a:ext cx="3196975" cy="1018125"/>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sp>
        <p:nvSpPr>
          <p:cNvPr id="58" name="文本框 57">
            <a:extLst>
              <a:ext uri="{FF2B5EF4-FFF2-40B4-BE49-F238E27FC236}">
                <a16:creationId xmlns:a16="http://schemas.microsoft.com/office/drawing/2014/main" id="{1292738E-C3CB-634D-A6FB-A14486E23559}"/>
              </a:ext>
            </a:extLst>
          </p:cNvPr>
          <p:cNvSpPr txBox="1"/>
          <p:nvPr/>
        </p:nvSpPr>
        <p:spPr>
          <a:xfrm>
            <a:off x="8147732" y="3882693"/>
            <a:ext cx="1206213" cy="584775"/>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沙師弟，</a:t>
            </a:r>
            <a:endParaRPr kumimoji="1" lang="en-US" altLang="zh-CN" sz="1600" dirty="0">
              <a:latin typeface="Microsoft YaHei" panose="020B0503020204020204" pitchFamily="34" charset="-122"/>
              <a:ea typeface="Microsoft YaHei" panose="020B0503020204020204" pitchFamily="34" charset="-122"/>
            </a:endParaRPr>
          </a:p>
          <a:p>
            <a:r>
              <a:rPr kumimoji="1" lang="zh-CN" altLang="en-US" sz="1600" dirty="0">
                <a:solidFill>
                  <a:srgbClr val="FF0000"/>
                </a:solidFill>
                <a:latin typeface="Microsoft YaHei" panose="020B0503020204020204" pitchFamily="34" charset="-122"/>
                <a:ea typeface="Microsoft YaHei" panose="020B0503020204020204" pitchFamily="34" charset="-122"/>
              </a:rPr>
              <a:t>師傅不餓</a:t>
            </a:r>
          </a:p>
        </p:txBody>
      </p:sp>
      <p:cxnSp>
        <p:nvCxnSpPr>
          <p:cNvPr id="59" name="直线箭头连接符 58">
            <a:extLst>
              <a:ext uri="{FF2B5EF4-FFF2-40B4-BE49-F238E27FC236}">
                <a16:creationId xmlns:a16="http://schemas.microsoft.com/office/drawing/2014/main" id="{CD0C1FF7-B912-DF4F-B08D-EA0C0937271A}"/>
              </a:ext>
            </a:extLst>
          </p:cNvPr>
          <p:cNvCxnSpPr>
            <a:cxnSpLocks/>
          </p:cNvCxnSpPr>
          <p:nvPr/>
        </p:nvCxnSpPr>
        <p:spPr>
          <a:xfrm flipV="1">
            <a:off x="6853976" y="3195434"/>
            <a:ext cx="2821427" cy="845164"/>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29124528-B1AC-3847-9F08-6E43404CB2B4}"/>
              </a:ext>
            </a:extLst>
          </p:cNvPr>
          <p:cNvSpPr txBox="1"/>
          <p:nvPr/>
        </p:nvSpPr>
        <p:spPr>
          <a:xfrm>
            <a:off x="7086732" y="3327789"/>
            <a:ext cx="2034595"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二師兄，師傅餓了</a:t>
            </a:r>
          </a:p>
        </p:txBody>
      </p:sp>
      <p:cxnSp>
        <p:nvCxnSpPr>
          <p:cNvPr id="61" name="直线箭头连接符 60">
            <a:extLst>
              <a:ext uri="{FF2B5EF4-FFF2-40B4-BE49-F238E27FC236}">
                <a16:creationId xmlns:a16="http://schemas.microsoft.com/office/drawing/2014/main" id="{4C3AFB7F-D7B3-E145-A903-72C101062EE4}"/>
              </a:ext>
            </a:extLst>
          </p:cNvPr>
          <p:cNvCxnSpPr>
            <a:cxnSpLocks/>
          </p:cNvCxnSpPr>
          <p:nvPr/>
        </p:nvCxnSpPr>
        <p:spPr>
          <a:xfrm>
            <a:off x="2894588" y="2846136"/>
            <a:ext cx="6780815" cy="111183"/>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sp>
        <p:nvSpPr>
          <p:cNvPr id="62" name="文本框 61">
            <a:extLst>
              <a:ext uri="{FF2B5EF4-FFF2-40B4-BE49-F238E27FC236}">
                <a16:creationId xmlns:a16="http://schemas.microsoft.com/office/drawing/2014/main" id="{9E163CCC-1F4D-CA42-A8B6-E49416D46F88}"/>
              </a:ext>
            </a:extLst>
          </p:cNvPr>
          <p:cNvSpPr txBox="1"/>
          <p:nvPr/>
        </p:nvSpPr>
        <p:spPr>
          <a:xfrm>
            <a:off x="6883865" y="2918112"/>
            <a:ext cx="1830339"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八戒，師傅餓了</a:t>
            </a:r>
          </a:p>
        </p:txBody>
      </p:sp>
      <p:sp>
        <p:nvSpPr>
          <p:cNvPr id="26" name="灯片编号占位符 2">
            <a:extLst>
              <a:ext uri="{FF2B5EF4-FFF2-40B4-BE49-F238E27FC236}">
                <a16:creationId xmlns:a16="http://schemas.microsoft.com/office/drawing/2014/main" id="{EA8F104C-E85A-654D-B8B8-40F191FC67E9}"/>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103</a:t>
            </a:fld>
            <a:endParaRPr lang="zh-CN" altLang="en-US" sz="1200" dirty="0">
              <a:solidFill>
                <a:srgbClr val="000000">
                  <a:tint val="75000"/>
                </a:srgbClr>
              </a:solidFill>
              <a:latin typeface="Comic Sans MS"/>
              <a:ea typeface="微软雅黑 Light"/>
            </a:endParaRPr>
          </a:p>
        </p:txBody>
      </p:sp>
      <p:sp>
        <p:nvSpPr>
          <p:cNvPr id="3" name="文本框 2">
            <a:extLst>
              <a:ext uri="{FF2B5EF4-FFF2-40B4-BE49-F238E27FC236}">
                <a16:creationId xmlns:a16="http://schemas.microsoft.com/office/drawing/2014/main" id="{F4A72065-5CF1-7B4F-A1BE-1A3C484D5F57}"/>
              </a:ext>
            </a:extLst>
          </p:cNvPr>
          <p:cNvSpPr txBox="1"/>
          <p:nvPr/>
        </p:nvSpPr>
        <p:spPr>
          <a:xfrm>
            <a:off x="3339548" y="5367130"/>
            <a:ext cx="184731" cy="369332"/>
          </a:xfrm>
          <a:prstGeom prst="rect">
            <a:avLst/>
          </a:prstGeom>
          <a:noFill/>
        </p:spPr>
        <p:txBody>
          <a:bodyPr wrap="none" rtlCol="0">
            <a:spAutoFit/>
          </a:bodyPr>
          <a:lstStyle/>
          <a:p>
            <a:endParaRPr kumimoji="1" lang="zh-CN" altLang="en-US" dirty="0"/>
          </a:p>
        </p:txBody>
      </p:sp>
      <p:sp>
        <p:nvSpPr>
          <p:cNvPr id="28" name="矩形 27">
            <a:extLst>
              <a:ext uri="{FF2B5EF4-FFF2-40B4-BE49-F238E27FC236}">
                <a16:creationId xmlns:a16="http://schemas.microsoft.com/office/drawing/2014/main" id="{BA79D5BA-7EB6-D24E-AA68-7FC4BEE40267}"/>
              </a:ext>
            </a:extLst>
          </p:cNvPr>
          <p:cNvSpPr/>
          <p:nvPr/>
        </p:nvSpPr>
        <p:spPr>
          <a:xfrm>
            <a:off x="1158278" y="4891810"/>
            <a:ext cx="10222424" cy="1422890"/>
          </a:xfrm>
          <a:prstGeom prst="rect">
            <a:avLst/>
          </a:prstGeom>
          <a:ln>
            <a:solidFill>
              <a:srgbClr val="00B0F0"/>
            </a:solidFill>
          </a:ln>
        </p:spPr>
        <p:txBody>
          <a:bodyPr wrap="square">
            <a:spAutoFit/>
          </a:bodyPr>
          <a:lstStyle/>
          <a:p>
            <a:pPr marL="342900" indent="-342900">
              <a:lnSpc>
                <a:spcPts val="3600"/>
              </a:lnSpc>
              <a:spcBef>
                <a:spcPts val="0"/>
              </a:spcBef>
              <a:buFont typeface="Arial" panose="020B0604020202020204" pitchFamily="34" charset="0"/>
              <a:buChar char="•"/>
            </a:pPr>
            <a:r>
              <a:rPr kumimoji="1" lang="zh-CN" altLang="en-US" sz="2400" dirty="0">
                <a:latin typeface="Microsoft YaHei" panose="020B0503020204020204" pitchFamily="34" charset="-122"/>
                <a:ea typeface="Microsoft YaHei" panose="020B0503020204020204" pitchFamily="34" charset="-122"/>
              </a:rPr>
              <a:t>悟空和沙僧都收到了（餓了，餓了，不餓），最後都認定師傅餓了</a:t>
            </a:r>
            <a:endParaRPr kumimoji="1" lang="en-US" altLang="zh-CN" sz="2400" dirty="0">
              <a:latin typeface="Microsoft YaHei" panose="020B0503020204020204" pitchFamily="34" charset="-122"/>
              <a:ea typeface="Microsoft YaHei" panose="020B0503020204020204" pitchFamily="34" charset="-122"/>
            </a:endParaRPr>
          </a:p>
          <a:p>
            <a:pPr marL="342900" indent="-342900">
              <a:lnSpc>
                <a:spcPts val="3600"/>
              </a:lnSpc>
              <a:spcBef>
                <a:spcPts val="0"/>
              </a:spcBef>
              <a:buFont typeface="Arial" panose="020B0604020202020204" pitchFamily="34" charset="0"/>
              <a:buChar char="•"/>
            </a:pPr>
            <a:r>
              <a:rPr kumimoji="1" lang="zh-CN" altLang="en-US" sz="2400" dirty="0">
                <a:latin typeface="Microsoft YaHei" panose="020B0503020204020204" pitchFamily="34" charset="-122"/>
                <a:ea typeface="Microsoft YaHei" panose="020B0503020204020204" pitchFamily="34" charset="-122"/>
              </a:rPr>
              <a:t>滿足了</a:t>
            </a:r>
            <a:r>
              <a:rPr kumimoji="1" lang="en-US" altLang="zh-CN" sz="2400" dirty="0">
                <a:latin typeface="Microsoft YaHei" panose="020B0503020204020204" pitchFamily="34" charset="-122"/>
                <a:ea typeface="Microsoft YaHei" panose="020B0503020204020204" pitchFamily="34" charset="-122"/>
              </a:rPr>
              <a:t>IC1</a:t>
            </a:r>
            <a:r>
              <a:rPr kumimoji="1" lang="zh-CN" altLang="en-US" sz="2400" dirty="0">
                <a:latin typeface="Microsoft YaHei" panose="020B0503020204020204" pitchFamily="34" charset="-122"/>
                <a:ea typeface="Microsoft YaHei" panose="020B0503020204020204" pitchFamily="34" charset="-122"/>
              </a:rPr>
              <a:t>，師傅、悟空、沙僧的意見是一致的</a:t>
            </a:r>
            <a:endParaRPr kumimoji="1" lang="en-US" altLang="zh-CN" sz="2400" dirty="0">
              <a:latin typeface="Microsoft YaHei" panose="020B0503020204020204" pitchFamily="34" charset="-122"/>
              <a:ea typeface="Microsoft YaHei" panose="020B0503020204020204" pitchFamily="34" charset="-122"/>
            </a:endParaRPr>
          </a:p>
          <a:p>
            <a:pPr marL="342900" indent="-342900">
              <a:lnSpc>
                <a:spcPts val="3600"/>
              </a:lnSpc>
              <a:spcBef>
                <a:spcPts val="0"/>
              </a:spcBef>
              <a:buFont typeface="Arial" panose="020B0604020202020204" pitchFamily="34" charset="0"/>
              <a:buChar char="•"/>
            </a:pPr>
            <a:r>
              <a:rPr kumimoji="1" lang="zh-CN" altLang="en-US" sz="2400" dirty="0">
                <a:latin typeface="Microsoft YaHei" panose="020B0503020204020204" pitchFamily="34" charset="-122"/>
                <a:ea typeface="Microsoft YaHei" panose="020B0503020204020204" pitchFamily="34" charset="-122"/>
              </a:rPr>
              <a:t>滿足了</a:t>
            </a:r>
            <a:r>
              <a:rPr kumimoji="1" lang="en-US" altLang="zh-CN" sz="2400" dirty="0">
                <a:latin typeface="Microsoft YaHei" panose="020B0503020204020204" pitchFamily="34" charset="-122"/>
                <a:ea typeface="Microsoft YaHei" panose="020B0503020204020204" pitchFamily="34" charset="-122"/>
              </a:rPr>
              <a:t>IC2</a:t>
            </a:r>
            <a:r>
              <a:rPr kumimoji="1" lang="zh-CN" altLang="en-US" sz="2400" dirty="0">
                <a:latin typeface="Microsoft YaHei" panose="020B0503020204020204" pitchFamily="34" charset="-122"/>
                <a:ea typeface="Microsoft YaHei" panose="020B0503020204020204" pitchFamily="34" charset="-122"/>
              </a:rPr>
              <a:t>，悟空和沙僧都聽師傅的</a:t>
            </a:r>
            <a:endParaRPr kumimoji="1" lang="en-US" altLang="zh-CN" sz="24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912856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additive="base">
                                        <p:cTn id="7" dur="500" fill="hold"/>
                                        <p:tgtEl>
                                          <p:spTgt spid="38"/>
                                        </p:tgtEl>
                                        <p:attrNameLst>
                                          <p:attrName>ppt_x</p:attrName>
                                        </p:attrNameLst>
                                      </p:cBhvr>
                                      <p:tavLst>
                                        <p:tav tm="0">
                                          <p:val>
                                            <p:strVal val="#ppt_x"/>
                                          </p:val>
                                        </p:tav>
                                        <p:tav tm="100000">
                                          <p:val>
                                            <p:strVal val="#ppt_x"/>
                                          </p:val>
                                        </p:tav>
                                      </p:tavLst>
                                    </p:anim>
                                    <p:anim calcmode="lin" valueType="num">
                                      <p:cBhvr additive="base">
                                        <p:cTn id="8" dur="500" fill="hold"/>
                                        <p:tgtEl>
                                          <p:spTgt spid="3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4"/>
                                        </p:tgtEl>
                                        <p:attrNameLst>
                                          <p:attrName>style.visibility</p:attrName>
                                        </p:attrNameLst>
                                      </p:cBhvr>
                                      <p:to>
                                        <p:strVal val="visible"/>
                                      </p:to>
                                    </p:set>
                                    <p:anim calcmode="lin" valueType="num">
                                      <p:cBhvr additive="base">
                                        <p:cTn id="11" dur="500" fill="hold"/>
                                        <p:tgtEl>
                                          <p:spTgt spid="44"/>
                                        </p:tgtEl>
                                        <p:attrNameLst>
                                          <p:attrName>ppt_x</p:attrName>
                                        </p:attrNameLst>
                                      </p:cBhvr>
                                      <p:tavLst>
                                        <p:tav tm="0">
                                          <p:val>
                                            <p:strVal val="#ppt_x"/>
                                          </p:val>
                                        </p:tav>
                                        <p:tav tm="100000">
                                          <p:val>
                                            <p:strVal val="#ppt_x"/>
                                          </p:val>
                                        </p:tav>
                                      </p:tavLst>
                                    </p:anim>
                                    <p:anim calcmode="lin" valueType="num">
                                      <p:cBhvr additive="base">
                                        <p:cTn id="12" dur="500" fill="hold"/>
                                        <p:tgtEl>
                                          <p:spTgt spid="4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2"/>
                                        </p:tgtEl>
                                        <p:attrNameLst>
                                          <p:attrName>style.visibility</p:attrName>
                                        </p:attrNameLst>
                                      </p:cBhvr>
                                      <p:to>
                                        <p:strVal val="visible"/>
                                      </p:to>
                                    </p:set>
                                    <p:anim calcmode="lin" valueType="num">
                                      <p:cBhvr additive="base">
                                        <p:cTn id="15" dur="500" fill="hold"/>
                                        <p:tgtEl>
                                          <p:spTgt spid="42"/>
                                        </p:tgtEl>
                                        <p:attrNameLst>
                                          <p:attrName>ppt_x</p:attrName>
                                        </p:attrNameLst>
                                      </p:cBhvr>
                                      <p:tavLst>
                                        <p:tav tm="0">
                                          <p:val>
                                            <p:strVal val="#ppt_x"/>
                                          </p:val>
                                        </p:tav>
                                        <p:tav tm="100000">
                                          <p:val>
                                            <p:strVal val="#ppt_x"/>
                                          </p:val>
                                        </p:tav>
                                      </p:tavLst>
                                    </p:anim>
                                    <p:anim calcmode="lin" valueType="num">
                                      <p:cBhvr additive="base">
                                        <p:cTn id="16" dur="500" fill="hold"/>
                                        <p:tgtEl>
                                          <p:spTgt spid="42"/>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1"/>
                                        </p:tgtEl>
                                        <p:attrNameLst>
                                          <p:attrName>style.visibility</p:attrName>
                                        </p:attrNameLst>
                                      </p:cBhvr>
                                      <p:to>
                                        <p:strVal val="visible"/>
                                      </p:to>
                                    </p:set>
                                    <p:anim calcmode="lin" valueType="num">
                                      <p:cBhvr additive="base">
                                        <p:cTn id="19" dur="500" fill="hold"/>
                                        <p:tgtEl>
                                          <p:spTgt spid="41"/>
                                        </p:tgtEl>
                                        <p:attrNameLst>
                                          <p:attrName>ppt_x</p:attrName>
                                        </p:attrNameLst>
                                      </p:cBhvr>
                                      <p:tavLst>
                                        <p:tav tm="0">
                                          <p:val>
                                            <p:strVal val="#ppt_x"/>
                                          </p:val>
                                        </p:tav>
                                        <p:tav tm="100000">
                                          <p:val>
                                            <p:strVal val="#ppt_x"/>
                                          </p:val>
                                        </p:tav>
                                      </p:tavLst>
                                    </p:anim>
                                    <p:anim calcmode="lin" valueType="num">
                                      <p:cBhvr additive="base">
                                        <p:cTn id="20"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45"/>
                                        </p:tgtEl>
                                        <p:attrNameLst>
                                          <p:attrName>style.visibility</p:attrName>
                                        </p:attrNameLst>
                                      </p:cBhvr>
                                      <p:to>
                                        <p:strVal val="visible"/>
                                      </p:to>
                                    </p:set>
                                    <p:animEffect transition="in" filter="wipe(up)">
                                      <p:cBhvr>
                                        <p:cTn id="25" dur="500"/>
                                        <p:tgtEl>
                                          <p:spTgt spid="45"/>
                                        </p:tgtEl>
                                      </p:cBhvr>
                                    </p:animEffect>
                                  </p:childTnLst>
                                </p:cTn>
                              </p:par>
                              <p:par>
                                <p:cTn id="26" presetID="22" presetClass="entr" presetSubtype="1" fill="hold" nodeType="withEffect">
                                  <p:stCondLst>
                                    <p:cond delay="0"/>
                                  </p:stCondLst>
                                  <p:childTnLst>
                                    <p:set>
                                      <p:cBhvr>
                                        <p:cTn id="27" dur="1" fill="hold">
                                          <p:stCondLst>
                                            <p:cond delay="0"/>
                                          </p:stCondLst>
                                        </p:cTn>
                                        <p:tgtEl>
                                          <p:spTgt spid="47"/>
                                        </p:tgtEl>
                                        <p:attrNameLst>
                                          <p:attrName>style.visibility</p:attrName>
                                        </p:attrNameLst>
                                      </p:cBhvr>
                                      <p:to>
                                        <p:strVal val="visible"/>
                                      </p:to>
                                    </p:set>
                                    <p:animEffect transition="in" filter="wipe(up)">
                                      <p:cBhvr>
                                        <p:cTn id="28" dur="500"/>
                                        <p:tgtEl>
                                          <p:spTgt spid="47"/>
                                        </p:tgtEl>
                                      </p:cBhvr>
                                    </p:animEffect>
                                  </p:childTnLst>
                                </p:cTn>
                              </p:par>
                              <p:par>
                                <p:cTn id="29" presetID="22" presetClass="entr" presetSubtype="1" fill="hold" nodeType="withEffect">
                                  <p:stCondLst>
                                    <p:cond delay="0"/>
                                  </p:stCondLst>
                                  <p:childTnLst>
                                    <p:set>
                                      <p:cBhvr>
                                        <p:cTn id="30" dur="1" fill="hold">
                                          <p:stCondLst>
                                            <p:cond delay="0"/>
                                          </p:stCondLst>
                                        </p:cTn>
                                        <p:tgtEl>
                                          <p:spTgt spid="49"/>
                                        </p:tgtEl>
                                        <p:attrNameLst>
                                          <p:attrName>style.visibility</p:attrName>
                                        </p:attrNameLst>
                                      </p:cBhvr>
                                      <p:to>
                                        <p:strVal val="visible"/>
                                      </p:to>
                                    </p:set>
                                    <p:animEffect transition="in" filter="wipe(up)">
                                      <p:cBhvr>
                                        <p:cTn id="31" dur="500"/>
                                        <p:tgtEl>
                                          <p:spTgt spid="49"/>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46"/>
                                        </p:tgtEl>
                                        <p:attrNameLst>
                                          <p:attrName>style.visibility</p:attrName>
                                        </p:attrNameLst>
                                      </p:cBhvr>
                                      <p:to>
                                        <p:strVal val="visible"/>
                                      </p:to>
                                    </p:set>
                                    <p:animEffect transition="in" filter="dissolve">
                                      <p:cBhvr>
                                        <p:cTn id="36" dur="500"/>
                                        <p:tgtEl>
                                          <p:spTgt spid="46"/>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48"/>
                                        </p:tgtEl>
                                        <p:attrNameLst>
                                          <p:attrName>style.visibility</p:attrName>
                                        </p:attrNameLst>
                                      </p:cBhvr>
                                      <p:to>
                                        <p:strVal val="visible"/>
                                      </p:to>
                                    </p:set>
                                    <p:animEffect transition="in" filter="dissolve">
                                      <p:cBhvr>
                                        <p:cTn id="39" dur="500"/>
                                        <p:tgtEl>
                                          <p:spTgt spid="48"/>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50"/>
                                        </p:tgtEl>
                                        <p:attrNameLst>
                                          <p:attrName>style.visibility</p:attrName>
                                        </p:attrNameLst>
                                      </p:cBhvr>
                                      <p:to>
                                        <p:strVal val="visible"/>
                                      </p:to>
                                    </p:set>
                                    <p:animEffect transition="in" filter="dissolve">
                                      <p:cBhvr>
                                        <p:cTn id="42" dur="500"/>
                                        <p:tgtEl>
                                          <p:spTgt spid="5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2" fill="hold" nodeType="clickEffect">
                                  <p:stCondLst>
                                    <p:cond delay="0"/>
                                  </p:stCondLst>
                                  <p:childTnLst>
                                    <p:set>
                                      <p:cBhvr>
                                        <p:cTn id="46" dur="1" fill="hold">
                                          <p:stCondLst>
                                            <p:cond delay="0"/>
                                          </p:stCondLst>
                                        </p:cTn>
                                        <p:tgtEl>
                                          <p:spTgt spid="53"/>
                                        </p:tgtEl>
                                        <p:attrNameLst>
                                          <p:attrName>style.visibility</p:attrName>
                                        </p:attrNameLst>
                                      </p:cBhvr>
                                      <p:to>
                                        <p:strVal val="visible"/>
                                      </p:to>
                                    </p:set>
                                    <p:animEffect transition="in" filter="wipe(right)">
                                      <p:cBhvr>
                                        <p:cTn id="47" dur="500"/>
                                        <p:tgtEl>
                                          <p:spTgt spid="53"/>
                                        </p:tgtEl>
                                      </p:cBhvr>
                                    </p:animEffect>
                                  </p:childTnLst>
                                </p:cTn>
                              </p:par>
                              <p:par>
                                <p:cTn id="48" presetID="22" presetClass="entr" presetSubtype="2" fill="hold" nodeType="withEffect">
                                  <p:stCondLst>
                                    <p:cond delay="0"/>
                                  </p:stCondLst>
                                  <p:childTnLst>
                                    <p:set>
                                      <p:cBhvr>
                                        <p:cTn id="49" dur="1" fill="hold">
                                          <p:stCondLst>
                                            <p:cond delay="0"/>
                                          </p:stCondLst>
                                        </p:cTn>
                                        <p:tgtEl>
                                          <p:spTgt spid="57"/>
                                        </p:tgtEl>
                                        <p:attrNameLst>
                                          <p:attrName>style.visibility</p:attrName>
                                        </p:attrNameLst>
                                      </p:cBhvr>
                                      <p:to>
                                        <p:strVal val="visible"/>
                                      </p:to>
                                    </p:set>
                                    <p:animEffect transition="in" filter="wipe(right)">
                                      <p:cBhvr>
                                        <p:cTn id="50" dur="500"/>
                                        <p:tgtEl>
                                          <p:spTgt spid="57"/>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54"/>
                                        </p:tgtEl>
                                        <p:attrNameLst>
                                          <p:attrName>style.visibility</p:attrName>
                                        </p:attrNameLst>
                                      </p:cBhvr>
                                      <p:to>
                                        <p:strVal val="visible"/>
                                      </p:to>
                                    </p:set>
                                    <p:animEffect transition="in" filter="dissolve">
                                      <p:cBhvr>
                                        <p:cTn id="55" dur="500"/>
                                        <p:tgtEl>
                                          <p:spTgt spid="54"/>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58"/>
                                        </p:tgtEl>
                                        <p:attrNameLst>
                                          <p:attrName>style.visibility</p:attrName>
                                        </p:attrNameLst>
                                      </p:cBhvr>
                                      <p:to>
                                        <p:strVal val="visible"/>
                                      </p:to>
                                    </p:set>
                                    <p:animEffect transition="in" filter="dissolve">
                                      <p:cBhvr>
                                        <p:cTn id="58" dur="500"/>
                                        <p:tgtEl>
                                          <p:spTgt spid="58"/>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61"/>
                                        </p:tgtEl>
                                        <p:attrNameLst>
                                          <p:attrName>style.visibility</p:attrName>
                                        </p:attrNameLst>
                                      </p:cBhvr>
                                      <p:to>
                                        <p:strVal val="visible"/>
                                      </p:to>
                                    </p:set>
                                    <p:animEffect transition="in" filter="wipe(left)">
                                      <p:cBhvr>
                                        <p:cTn id="63" dur="500"/>
                                        <p:tgtEl>
                                          <p:spTgt spid="61"/>
                                        </p:tgtEl>
                                      </p:cBhvr>
                                    </p:animEffect>
                                  </p:childTnLst>
                                </p:cTn>
                              </p:par>
                              <p:par>
                                <p:cTn id="64" presetID="22" presetClass="entr" presetSubtype="8" fill="hold" nodeType="withEffect">
                                  <p:stCondLst>
                                    <p:cond delay="0"/>
                                  </p:stCondLst>
                                  <p:childTnLst>
                                    <p:set>
                                      <p:cBhvr>
                                        <p:cTn id="65" dur="1" fill="hold">
                                          <p:stCondLst>
                                            <p:cond delay="0"/>
                                          </p:stCondLst>
                                        </p:cTn>
                                        <p:tgtEl>
                                          <p:spTgt spid="55"/>
                                        </p:tgtEl>
                                        <p:attrNameLst>
                                          <p:attrName>style.visibility</p:attrName>
                                        </p:attrNameLst>
                                      </p:cBhvr>
                                      <p:to>
                                        <p:strVal val="visible"/>
                                      </p:to>
                                    </p:set>
                                    <p:animEffect transition="in" filter="wipe(left)">
                                      <p:cBhvr>
                                        <p:cTn id="66" dur="500"/>
                                        <p:tgtEl>
                                          <p:spTgt spid="55"/>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grpId="0" nodeType="clickEffect">
                                  <p:stCondLst>
                                    <p:cond delay="0"/>
                                  </p:stCondLst>
                                  <p:childTnLst>
                                    <p:set>
                                      <p:cBhvr>
                                        <p:cTn id="70" dur="1" fill="hold">
                                          <p:stCondLst>
                                            <p:cond delay="0"/>
                                          </p:stCondLst>
                                        </p:cTn>
                                        <p:tgtEl>
                                          <p:spTgt spid="62"/>
                                        </p:tgtEl>
                                        <p:attrNameLst>
                                          <p:attrName>style.visibility</p:attrName>
                                        </p:attrNameLst>
                                      </p:cBhvr>
                                      <p:to>
                                        <p:strVal val="visible"/>
                                      </p:to>
                                    </p:set>
                                    <p:animEffect transition="in" filter="dissolve">
                                      <p:cBhvr>
                                        <p:cTn id="71" dur="500"/>
                                        <p:tgtEl>
                                          <p:spTgt spid="62"/>
                                        </p:tgtEl>
                                      </p:cBhvr>
                                    </p:animEffect>
                                  </p:childTnLst>
                                </p:cTn>
                              </p:par>
                              <p:par>
                                <p:cTn id="72" presetID="9" presetClass="entr" presetSubtype="0" fill="hold" grpId="0" nodeType="withEffect">
                                  <p:stCondLst>
                                    <p:cond delay="0"/>
                                  </p:stCondLst>
                                  <p:childTnLst>
                                    <p:set>
                                      <p:cBhvr>
                                        <p:cTn id="73" dur="1" fill="hold">
                                          <p:stCondLst>
                                            <p:cond delay="0"/>
                                          </p:stCondLst>
                                        </p:cTn>
                                        <p:tgtEl>
                                          <p:spTgt spid="56"/>
                                        </p:tgtEl>
                                        <p:attrNameLst>
                                          <p:attrName>style.visibility</p:attrName>
                                        </p:attrNameLst>
                                      </p:cBhvr>
                                      <p:to>
                                        <p:strVal val="visible"/>
                                      </p:to>
                                    </p:set>
                                    <p:animEffect transition="in" filter="dissolve">
                                      <p:cBhvr>
                                        <p:cTn id="74" dur="500"/>
                                        <p:tgtEl>
                                          <p:spTgt spid="56"/>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nodeType="clickEffect">
                                  <p:stCondLst>
                                    <p:cond delay="0"/>
                                  </p:stCondLst>
                                  <p:childTnLst>
                                    <p:set>
                                      <p:cBhvr>
                                        <p:cTn id="78" dur="1" fill="hold">
                                          <p:stCondLst>
                                            <p:cond delay="0"/>
                                          </p:stCondLst>
                                        </p:cTn>
                                        <p:tgtEl>
                                          <p:spTgt spid="51"/>
                                        </p:tgtEl>
                                        <p:attrNameLst>
                                          <p:attrName>style.visibility</p:attrName>
                                        </p:attrNameLst>
                                      </p:cBhvr>
                                      <p:to>
                                        <p:strVal val="visible"/>
                                      </p:to>
                                    </p:set>
                                    <p:animEffect transition="in" filter="wipe(down)">
                                      <p:cBhvr>
                                        <p:cTn id="79" dur="500"/>
                                        <p:tgtEl>
                                          <p:spTgt spid="51"/>
                                        </p:tgtEl>
                                      </p:cBhvr>
                                    </p:animEffect>
                                  </p:childTnLst>
                                </p:cTn>
                              </p:par>
                              <p:par>
                                <p:cTn id="80" presetID="22" presetClass="entr" presetSubtype="4" fill="hold" nodeType="withEffect">
                                  <p:stCondLst>
                                    <p:cond delay="0"/>
                                  </p:stCondLst>
                                  <p:childTnLst>
                                    <p:set>
                                      <p:cBhvr>
                                        <p:cTn id="81" dur="1" fill="hold">
                                          <p:stCondLst>
                                            <p:cond delay="0"/>
                                          </p:stCondLst>
                                        </p:cTn>
                                        <p:tgtEl>
                                          <p:spTgt spid="59"/>
                                        </p:tgtEl>
                                        <p:attrNameLst>
                                          <p:attrName>style.visibility</p:attrName>
                                        </p:attrNameLst>
                                      </p:cBhvr>
                                      <p:to>
                                        <p:strVal val="visible"/>
                                      </p:to>
                                    </p:set>
                                    <p:animEffect transition="in" filter="wipe(down)">
                                      <p:cBhvr>
                                        <p:cTn id="82" dur="500"/>
                                        <p:tgtEl>
                                          <p:spTgt spid="59"/>
                                        </p:tgtEl>
                                      </p:cBhvr>
                                    </p:animEffect>
                                  </p:childTnLst>
                                </p:cTn>
                              </p:par>
                            </p:childTnLst>
                          </p:cTn>
                        </p:par>
                      </p:childTnLst>
                    </p:cTn>
                  </p:par>
                  <p:par>
                    <p:cTn id="83" fill="hold">
                      <p:stCondLst>
                        <p:cond delay="indefinite"/>
                      </p:stCondLst>
                      <p:childTnLst>
                        <p:par>
                          <p:cTn id="84" fill="hold">
                            <p:stCondLst>
                              <p:cond delay="0"/>
                            </p:stCondLst>
                            <p:childTnLst>
                              <p:par>
                                <p:cTn id="85" presetID="9" presetClass="entr" presetSubtype="0" fill="hold" grpId="0" nodeType="clickEffect">
                                  <p:stCondLst>
                                    <p:cond delay="0"/>
                                  </p:stCondLst>
                                  <p:childTnLst>
                                    <p:set>
                                      <p:cBhvr>
                                        <p:cTn id="86" dur="1" fill="hold">
                                          <p:stCondLst>
                                            <p:cond delay="0"/>
                                          </p:stCondLst>
                                        </p:cTn>
                                        <p:tgtEl>
                                          <p:spTgt spid="60"/>
                                        </p:tgtEl>
                                        <p:attrNameLst>
                                          <p:attrName>style.visibility</p:attrName>
                                        </p:attrNameLst>
                                      </p:cBhvr>
                                      <p:to>
                                        <p:strVal val="visible"/>
                                      </p:to>
                                    </p:set>
                                    <p:animEffect transition="in" filter="dissolve">
                                      <p:cBhvr>
                                        <p:cTn id="87" dur="500"/>
                                        <p:tgtEl>
                                          <p:spTgt spid="60"/>
                                        </p:tgtEl>
                                      </p:cBhvr>
                                    </p:animEffect>
                                  </p:childTnLst>
                                </p:cTn>
                              </p:par>
                              <p:par>
                                <p:cTn id="88" presetID="9" presetClass="entr" presetSubtype="0" fill="hold" grpId="0" nodeType="withEffect">
                                  <p:stCondLst>
                                    <p:cond delay="0"/>
                                  </p:stCondLst>
                                  <p:childTnLst>
                                    <p:set>
                                      <p:cBhvr>
                                        <p:cTn id="89" dur="1" fill="hold">
                                          <p:stCondLst>
                                            <p:cond delay="0"/>
                                          </p:stCondLst>
                                        </p:cTn>
                                        <p:tgtEl>
                                          <p:spTgt spid="52"/>
                                        </p:tgtEl>
                                        <p:attrNameLst>
                                          <p:attrName>style.visibility</p:attrName>
                                        </p:attrNameLst>
                                      </p:cBhvr>
                                      <p:to>
                                        <p:strVal val="visible"/>
                                      </p:to>
                                    </p:set>
                                    <p:animEffect transition="in" filter="dissolve">
                                      <p:cBhvr>
                                        <p:cTn id="90" dur="500"/>
                                        <p:tgtEl>
                                          <p:spTgt spid="52"/>
                                        </p:tgtEl>
                                      </p:cBhvr>
                                    </p:animEffect>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grpId="0" nodeType="clickEffect" nodePh="1">
                                  <p:stCondLst>
                                    <p:cond delay="0"/>
                                  </p:stCondLst>
                                  <p:endCondLst>
                                    <p:cond evt="begin" delay="0">
                                      <p:tn val="93"/>
                                    </p:cond>
                                  </p:endCondLst>
                                  <p:childTnLst>
                                    <p:set>
                                      <p:cBhvr>
                                        <p:cTn id="94" dur="1" fill="hold">
                                          <p:stCondLst>
                                            <p:cond delay="0"/>
                                          </p:stCondLst>
                                        </p:cTn>
                                        <p:tgtEl>
                                          <p:spTgt spid="3"/>
                                        </p:tgtEl>
                                        <p:attrNameLst>
                                          <p:attrName>style.visibility</p:attrName>
                                        </p:attrNameLst>
                                      </p:cBhvr>
                                      <p:to>
                                        <p:strVal val="visible"/>
                                      </p:to>
                                    </p:set>
                                    <p:anim calcmode="lin" valueType="num">
                                      <p:cBhvr additive="base">
                                        <p:cTn id="95" dur="500" fill="hold"/>
                                        <p:tgtEl>
                                          <p:spTgt spid="3"/>
                                        </p:tgtEl>
                                        <p:attrNameLst>
                                          <p:attrName>ppt_x</p:attrName>
                                        </p:attrNameLst>
                                      </p:cBhvr>
                                      <p:tavLst>
                                        <p:tav tm="0">
                                          <p:val>
                                            <p:strVal val="#ppt_x"/>
                                          </p:val>
                                        </p:tav>
                                        <p:tav tm="100000">
                                          <p:val>
                                            <p:strVal val="#ppt_x"/>
                                          </p:val>
                                        </p:tav>
                                      </p:tavLst>
                                    </p:anim>
                                    <p:anim calcmode="lin" valueType="num">
                                      <p:cBhvr additive="base">
                                        <p:cTn id="96" dur="500" fill="hold"/>
                                        <p:tgtEl>
                                          <p:spTgt spid="3"/>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28"/>
                                        </p:tgtEl>
                                        <p:attrNameLst>
                                          <p:attrName>style.visibility</p:attrName>
                                        </p:attrNameLst>
                                      </p:cBhvr>
                                      <p:to>
                                        <p:strVal val="visible"/>
                                      </p:to>
                                    </p:set>
                                    <p:anim calcmode="lin" valueType="num">
                                      <p:cBhvr additive="base">
                                        <p:cTn id="99" dur="500" fill="hold"/>
                                        <p:tgtEl>
                                          <p:spTgt spid="28"/>
                                        </p:tgtEl>
                                        <p:attrNameLst>
                                          <p:attrName>ppt_x</p:attrName>
                                        </p:attrNameLst>
                                      </p:cBhvr>
                                      <p:tavLst>
                                        <p:tav tm="0">
                                          <p:val>
                                            <p:strVal val="#ppt_x"/>
                                          </p:val>
                                        </p:tav>
                                        <p:tav tm="100000">
                                          <p:val>
                                            <p:strVal val="#ppt_x"/>
                                          </p:val>
                                        </p:tav>
                                      </p:tavLst>
                                    </p:anim>
                                    <p:anim calcmode="lin" valueType="num">
                                      <p:cBhvr additive="base">
                                        <p:cTn id="100"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50" grpId="0"/>
      <p:bldP spid="52" grpId="0"/>
      <p:bldP spid="54" grpId="0"/>
      <p:bldP spid="56" grpId="0"/>
      <p:bldP spid="58" grpId="0"/>
      <p:bldP spid="60" grpId="0"/>
      <p:bldP spid="62" grpId="0"/>
      <p:bldP spid="3" grpId="0"/>
      <p:bldP spid="28"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kumimoji="1" lang="zh-CN" altLang="en-US" dirty="0"/>
              <a:t>四將軍問題實例</a:t>
            </a:r>
            <a:r>
              <a:rPr kumimoji="1" lang="zh-CN" altLang="en-US" sz="4000" dirty="0"/>
              <a:t>：機智的師傅</a:t>
            </a:r>
          </a:p>
        </p:txBody>
      </p:sp>
      <p:sp>
        <p:nvSpPr>
          <p:cNvPr id="65" name="内容占位符 2">
            <a:extLst>
              <a:ext uri="{FF2B5EF4-FFF2-40B4-BE49-F238E27FC236}">
                <a16:creationId xmlns:a16="http://schemas.microsoft.com/office/drawing/2014/main" id="{A1741549-24B1-494C-B1B6-3B56C3550CBE}"/>
              </a:ext>
            </a:extLst>
          </p:cNvPr>
          <p:cNvSpPr txBox="1"/>
          <p:nvPr/>
        </p:nvSpPr>
        <p:spPr>
          <a:xfrm>
            <a:off x="6509841" y="1192884"/>
            <a:ext cx="5210346" cy="555256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0"/>
              </a:spcBef>
              <a:buNone/>
            </a:pPr>
            <a:endParaRPr kumimoji="1" lang="en-US" altLang="zh-CN" sz="2000" b="1" dirty="0">
              <a:solidFill>
                <a:srgbClr val="FF0000"/>
              </a:solidFill>
              <a:latin typeface="Microsoft YaHei" panose="020B0503020204020204" pitchFamily="34" charset="-122"/>
              <a:ea typeface="Microsoft YaHei" panose="020B0503020204020204" pitchFamily="34" charset="-122"/>
            </a:endParaRPr>
          </a:p>
        </p:txBody>
      </p:sp>
      <p:pic>
        <p:nvPicPr>
          <p:cNvPr id="67" name="图片 66">
            <a:extLst>
              <a:ext uri="{FF2B5EF4-FFF2-40B4-BE49-F238E27FC236}">
                <a16:creationId xmlns:a16="http://schemas.microsoft.com/office/drawing/2014/main" id="{D0A351D8-D756-D24E-97FF-D46785E02E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06283" y="1136829"/>
            <a:ext cx="703408" cy="901078"/>
          </a:xfrm>
          <a:prstGeom prst="rect">
            <a:avLst/>
          </a:prstGeom>
        </p:spPr>
      </p:pic>
      <p:pic>
        <p:nvPicPr>
          <p:cNvPr id="68" name="图片 67">
            <a:extLst>
              <a:ext uri="{FF2B5EF4-FFF2-40B4-BE49-F238E27FC236}">
                <a16:creationId xmlns:a16="http://schemas.microsoft.com/office/drawing/2014/main" id="{BC337A76-742B-4448-B88C-CA59DBE39B8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89175" y="2441398"/>
            <a:ext cx="704387" cy="972200"/>
          </a:xfrm>
          <a:prstGeom prst="rect">
            <a:avLst/>
          </a:prstGeom>
        </p:spPr>
      </p:pic>
      <p:pic>
        <p:nvPicPr>
          <p:cNvPr id="69" name="图片 68">
            <a:extLst>
              <a:ext uri="{FF2B5EF4-FFF2-40B4-BE49-F238E27FC236}">
                <a16:creationId xmlns:a16="http://schemas.microsoft.com/office/drawing/2014/main" id="{502B5021-FA76-DA4B-B34E-D4E301EED52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43043" y="4055054"/>
            <a:ext cx="1029887" cy="604508"/>
          </a:xfrm>
          <a:prstGeom prst="rect">
            <a:avLst/>
          </a:prstGeom>
        </p:spPr>
      </p:pic>
      <p:pic>
        <p:nvPicPr>
          <p:cNvPr id="70" name="图片 69">
            <a:extLst>
              <a:ext uri="{FF2B5EF4-FFF2-40B4-BE49-F238E27FC236}">
                <a16:creationId xmlns:a16="http://schemas.microsoft.com/office/drawing/2014/main" id="{CE6D77D7-F71B-A14D-8829-7051D10B626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1930384" y="2555733"/>
            <a:ext cx="939125" cy="687886"/>
          </a:xfrm>
          <a:prstGeom prst="rect">
            <a:avLst/>
          </a:prstGeom>
        </p:spPr>
      </p:pic>
      <p:cxnSp>
        <p:nvCxnSpPr>
          <p:cNvPr id="71" name="直线箭头连接符 70">
            <a:extLst>
              <a:ext uri="{FF2B5EF4-FFF2-40B4-BE49-F238E27FC236}">
                <a16:creationId xmlns:a16="http://schemas.microsoft.com/office/drawing/2014/main" id="{37584380-4A60-3840-96F2-9A2FDB92C24D}"/>
              </a:ext>
            </a:extLst>
          </p:cNvPr>
          <p:cNvCxnSpPr>
            <a:stCxn id="67" idx="1"/>
            <a:endCxn id="70" idx="0"/>
          </p:cNvCxnSpPr>
          <p:nvPr/>
        </p:nvCxnSpPr>
        <p:spPr>
          <a:xfrm flipH="1">
            <a:off x="2399946" y="1587368"/>
            <a:ext cx="3206337" cy="968365"/>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sp>
        <p:nvSpPr>
          <p:cNvPr id="72" name="文本框 71">
            <a:extLst>
              <a:ext uri="{FF2B5EF4-FFF2-40B4-BE49-F238E27FC236}">
                <a16:creationId xmlns:a16="http://schemas.microsoft.com/office/drawing/2014/main" id="{5FD112E0-4078-7B4A-A250-369D3C5E02CE}"/>
              </a:ext>
            </a:extLst>
          </p:cNvPr>
          <p:cNvSpPr txBox="1"/>
          <p:nvPr/>
        </p:nvSpPr>
        <p:spPr>
          <a:xfrm>
            <a:off x="3537606" y="1542488"/>
            <a:ext cx="1415772" cy="338554"/>
          </a:xfrm>
          <a:prstGeom prst="rect">
            <a:avLst/>
          </a:prstGeom>
          <a:noFill/>
        </p:spPr>
        <p:txBody>
          <a:bodyPr wrap="none" rtlCol="0">
            <a:spAutoFit/>
          </a:bodyPr>
          <a:lstStyle/>
          <a:p>
            <a:r>
              <a:rPr kumimoji="1" lang="zh-CN" altLang="en-US" sz="1600" dirty="0">
                <a:latin typeface="Microsoft YaHei" panose="020B0503020204020204" pitchFamily="34" charset="-122"/>
                <a:ea typeface="Microsoft YaHei" panose="020B0503020204020204" pitchFamily="34" charset="-122"/>
              </a:rPr>
              <a:t>悟空，我餓了</a:t>
            </a:r>
          </a:p>
        </p:txBody>
      </p:sp>
      <p:cxnSp>
        <p:nvCxnSpPr>
          <p:cNvPr id="73" name="直线箭头连接符 72">
            <a:extLst>
              <a:ext uri="{FF2B5EF4-FFF2-40B4-BE49-F238E27FC236}">
                <a16:creationId xmlns:a16="http://schemas.microsoft.com/office/drawing/2014/main" id="{C9151F6A-8EF5-4B4B-AAD0-36F7F935E509}"/>
              </a:ext>
            </a:extLst>
          </p:cNvPr>
          <p:cNvCxnSpPr>
            <a:stCxn id="67" idx="2"/>
            <a:endCxn id="69" idx="0"/>
          </p:cNvCxnSpPr>
          <p:nvPr/>
        </p:nvCxnSpPr>
        <p:spPr>
          <a:xfrm>
            <a:off x="5957987" y="2037907"/>
            <a:ext cx="0" cy="2017147"/>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sp>
        <p:nvSpPr>
          <p:cNvPr id="74" name="文本框 73">
            <a:extLst>
              <a:ext uri="{FF2B5EF4-FFF2-40B4-BE49-F238E27FC236}">
                <a16:creationId xmlns:a16="http://schemas.microsoft.com/office/drawing/2014/main" id="{B431E05C-7CE0-7143-B8A3-855B129437AF}"/>
              </a:ext>
            </a:extLst>
          </p:cNvPr>
          <p:cNvSpPr txBox="1"/>
          <p:nvPr/>
        </p:nvSpPr>
        <p:spPr>
          <a:xfrm>
            <a:off x="5430518" y="3586073"/>
            <a:ext cx="1415772" cy="338554"/>
          </a:xfrm>
          <a:prstGeom prst="rect">
            <a:avLst/>
          </a:prstGeom>
          <a:noFill/>
        </p:spPr>
        <p:txBody>
          <a:bodyPr wrap="none" rtlCol="0">
            <a:spAutoFit/>
          </a:bodyPr>
          <a:lstStyle/>
          <a:p>
            <a:r>
              <a:rPr kumimoji="1" lang="zh-CN" altLang="en-US" sz="1600" dirty="0">
                <a:latin typeface="Microsoft YaHei" panose="020B0503020204020204" pitchFamily="34" charset="-122"/>
                <a:ea typeface="Microsoft YaHei" panose="020B0503020204020204" pitchFamily="34" charset="-122"/>
              </a:rPr>
              <a:t>悟淨，我餓了</a:t>
            </a:r>
          </a:p>
        </p:txBody>
      </p:sp>
      <p:cxnSp>
        <p:nvCxnSpPr>
          <p:cNvPr id="75" name="直线箭头连接符 74">
            <a:extLst>
              <a:ext uri="{FF2B5EF4-FFF2-40B4-BE49-F238E27FC236}">
                <a16:creationId xmlns:a16="http://schemas.microsoft.com/office/drawing/2014/main" id="{70864ADB-BFAD-044B-8173-97DB05E3EBE9}"/>
              </a:ext>
            </a:extLst>
          </p:cNvPr>
          <p:cNvCxnSpPr>
            <a:stCxn id="67" idx="3"/>
            <a:endCxn id="68" idx="0"/>
          </p:cNvCxnSpPr>
          <p:nvPr/>
        </p:nvCxnSpPr>
        <p:spPr>
          <a:xfrm>
            <a:off x="6309691" y="1587368"/>
            <a:ext cx="3431678" cy="854030"/>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sp>
        <p:nvSpPr>
          <p:cNvPr id="76" name="文本框 75">
            <a:extLst>
              <a:ext uri="{FF2B5EF4-FFF2-40B4-BE49-F238E27FC236}">
                <a16:creationId xmlns:a16="http://schemas.microsoft.com/office/drawing/2014/main" id="{47A559A0-42E1-C047-9ECF-24FFDC587DCA}"/>
              </a:ext>
            </a:extLst>
          </p:cNvPr>
          <p:cNvSpPr txBox="1"/>
          <p:nvPr/>
        </p:nvSpPr>
        <p:spPr>
          <a:xfrm>
            <a:off x="7501383" y="1391575"/>
            <a:ext cx="1005403" cy="584775"/>
          </a:xfrm>
          <a:prstGeom prst="rect">
            <a:avLst/>
          </a:prstGeom>
          <a:noFill/>
        </p:spPr>
        <p:txBody>
          <a:bodyPr wrap="none" rtlCol="0">
            <a:spAutoFit/>
          </a:bodyPr>
          <a:lstStyle/>
          <a:p>
            <a:r>
              <a:rPr kumimoji="1" lang="zh-CN" altLang="en-US" sz="1600" dirty="0">
                <a:latin typeface="Microsoft YaHei" panose="020B0503020204020204" pitchFamily="34" charset="-122"/>
                <a:ea typeface="Microsoft YaHei" panose="020B0503020204020204" pitchFamily="34" charset="-122"/>
              </a:rPr>
              <a:t>八戒，我</a:t>
            </a:r>
            <a:endParaRPr kumimoji="1" lang="en-US" altLang="zh-CN" sz="1600" dirty="0">
              <a:latin typeface="Microsoft YaHei" panose="020B0503020204020204" pitchFamily="34" charset="-122"/>
              <a:ea typeface="Microsoft YaHei" panose="020B0503020204020204" pitchFamily="34" charset="-122"/>
            </a:endParaRPr>
          </a:p>
          <a:p>
            <a:r>
              <a:rPr kumimoji="1" lang="zh-CN" altLang="en-US" sz="1600" dirty="0">
                <a:solidFill>
                  <a:srgbClr val="FF0000"/>
                </a:solidFill>
                <a:latin typeface="Microsoft YaHei" panose="020B0503020204020204" pitchFamily="34" charset="-122"/>
                <a:ea typeface="Microsoft YaHei" panose="020B0503020204020204" pitchFamily="34" charset="-122"/>
              </a:rPr>
              <a:t>一點不餓</a:t>
            </a:r>
          </a:p>
        </p:txBody>
      </p:sp>
      <p:cxnSp>
        <p:nvCxnSpPr>
          <p:cNvPr id="77" name="直线箭头连接符 76">
            <a:extLst>
              <a:ext uri="{FF2B5EF4-FFF2-40B4-BE49-F238E27FC236}">
                <a16:creationId xmlns:a16="http://schemas.microsoft.com/office/drawing/2014/main" id="{136EBBC5-712B-4F43-B2E2-971B594DD631}"/>
              </a:ext>
            </a:extLst>
          </p:cNvPr>
          <p:cNvCxnSpPr>
            <a:stCxn id="69" idx="1"/>
            <a:endCxn id="70" idx="2"/>
          </p:cNvCxnSpPr>
          <p:nvPr/>
        </p:nvCxnSpPr>
        <p:spPr>
          <a:xfrm flipH="1" flipV="1">
            <a:off x="2399946" y="3243619"/>
            <a:ext cx="3043097" cy="1113689"/>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sp>
        <p:nvSpPr>
          <p:cNvPr id="78" name="文本框 77">
            <a:extLst>
              <a:ext uri="{FF2B5EF4-FFF2-40B4-BE49-F238E27FC236}">
                <a16:creationId xmlns:a16="http://schemas.microsoft.com/office/drawing/2014/main" id="{906A41E9-EA30-3E40-8C7B-1EDB0A710917}"/>
              </a:ext>
            </a:extLst>
          </p:cNvPr>
          <p:cNvSpPr txBox="1"/>
          <p:nvPr/>
        </p:nvSpPr>
        <p:spPr>
          <a:xfrm>
            <a:off x="3055810" y="3707717"/>
            <a:ext cx="1005403" cy="584775"/>
          </a:xfrm>
          <a:prstGeom prst="rect">
            <a:avLst/>
          </a:prstGeom>
          <a:noFill/>
        </p:spPr>
        <p:txBody>
          <a:bodyPr wrap="none" rtlCol="0">
            <a:spAutoFit/>
          </a:bodyPr>
          <a:lstStyle/>
          <a:p>
            <a:r>
              <a:rPr kumimoji="1" lang="zh-CN" altLang="en-US" sz="1600" dirty="0">
                <a:latin typeface="Microsoft YaHei" panose="020B0503020204020204" pitchFamily="34" charset="-122"/>
                <a:ea typeface="Microsoft YaHei" panose="020B0503020204020204" pitchFamily="34" charset="-122"/>
              </a:rPr>
              <a:t>大師兄，</a:t>
            </a:r>
            <a:endParaRPr kumimoji="1" lang="en-US" altLang="zh-CN" sz="1600" dirty="0">
              <a:latin typeface="Microsoft YaHei" panose="020B0503020204020204" pitchFamily="34" charset="-122"/>
              <a:ea typeface="Microsoft YaHei" panose="020B0503020204020204" pitchFamily="34" charset="-122"/>
            </a:endParaRPr>
          </a:p>
          <a:p>
            <a:r>
              <a:rPr kumimoji="1" lang="zh-CN" altLang="en-US" sz="1600" dirty="0">
                <a:latin typeface="Microsoft YaHei" panose="020B0503020204020204" pitchFamily="34" charset="-122"/>
                <a:ea typeface="Microsoft YaHei" panose="020B0503020204020204" pitchFamily="34" charset="-122"/>
              </a:rPr>
              <a:t>師傅餓了</a:t>
            </a:r>
          </a:p>
        </p:txBody>
      </p:sp>
      <p:cxnSp>
        <p:nvCxnSpPr>
          <p:cNvPr id="79" name="直线箭头连接符 78">
            <a:extLst>
              <a:ext uri="{FF2B5EF4-FFF2-40B4-BE49-F238E27FC236}">
                <a16:creationId xmlns:a16="http://schemas.microsoft.com/office/drawing/2014/main" id="{67828544-8158-564B-8783-542888E6ACB5}"/>
              </a:ext>
            </a:extLst>
          </p:cNvPr>
          <p:cNvCxnSpPr>
            <a:stCxn id="68" idx="1"/>
            <a:endCxn id="70" idx="1"/>
          </p:cNvCxnSpPr>
          <p:nvPr/>
        </p:nvCxnSpPr>
        <p:spPr>
          <a:xfrm flipH="1" flipV="1">
            <a:off x="2869509" y="2899676"/>
            <a:ext cx="6519666" cy="27822"/>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sp>
        <p:nvSpPr>
          <p:cNvPr id="80" name="文本框 79">
            <a:extLst>
              <a:ext uri="{FF2B5EF4-FFF2-40B4-BE49-F238E27FC236}">
                <a16:creationId xmlns:a16="http://schemas.microsoft.com/office/drawing/2014/main" id="{2FCB0E69-86DE-604B-9A5D-F2DF6B6BC769}"/>
              </a:ext>
            </a:extLst>
          </p:cNvPr>
          <p:cNvSpPr txBox="1"/>
          <p:nvPr/>
        </p:nvSpPr>
        <p:spPr>
          <a:xfrm>
            <a:off x="3637405" y="2557617"/>
            <a:ext cx="1826141" cy="338554"/>
          </a:xfrm>
          <a:prstGeom prst="rect">
            <a:avLst/>
          </a:prstGeom>
          <a:noFill/>
        </p:spPr>
        <p:txBody>
          <a:bodyPr wrap="none" rtlCol="0">
            <a:spAutoFit/>
          </a:bodyPr>
          <a:lstStyle/>
          <a:p>
            <a:r>
              <a:rPr kumimoji="1" lang="zh-CN" altLang="en-US" sz="1600" dirty="0">
                <a:latin typeface="Microsoft YaHei" panose="020B0503020204020204" pitchFamily="34" charset="-122"/>
                <a:ea typeface="Microsoft YaHei" panose="020B0503020204020204" pitchFamily="34" charset="-122"/>
              </a:rPr>
              <a:t>大師兄，</a:t>
            </a:r>
            <a:r>
              <a:rPr kumimoji="1" lang="zh-CN" altLang="en-US" sz="1600" dirty="0">
                <a:solidFill>
                  <a:srgbClr val="FF0000"/>
                </a:solidFill>
                <a:latin typeface="Microsoft YaHei" panose="020B0503020204020204" pitchFamily="34" charset="-122"/>
                <a:ea typeface="Microsoft YaHei" panose="020B0503020204020204" pitchFamily="34" charset="-122"/>
              </a:rPr>
              <a:t>師傅不餓</a:t>
            </a:r>
          </a:p>
        </p:txBody>
      </p:sp>
      <p:cxnSp>
        <p:nvCxnSpPr>
          <p:cNvPr id="81" name="直线箭头连接符 80">
            <a:extLst>
              <a:ext uri="{FF2B5EF4-FFF2-40B4-BE49-F238E27FC236}">
                <a16:creationId xmlns:a16="http://schemas.microsoft.com/office/drawing/2014/main" id="{3E47144B-421E-9747-AC58-332B90EF88E0}"/>
              </a:ext>
            </a:extLst>
          </p:cNvPr>
          <p:cNvCxnSpPr>
            <a:cxnSpLocks/>
          </p:cNvCxnSpPr>
          <p:nvPr/>
        </p:nvCxnSpPr>
        <p:spPr>
          <a:xfrm>
            <a:off x="2858552" y="3262204"/>
            <a:ext cx="2584491" cy="909177"/>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sp>
        <p:nvSpPr>
          <p:cNvPr id="82" name="文本框 81">
            <a:extLst>
              <a:ext uri="{FF2B5EF4-FFF2-40B4-BE49-F238E27FC236}">
                <a16:creationId xmlns:a16="http://schemas.microsoft.com/office/drawing/2014/main" id="{E66292CF-C254-F940-B6C3-9DF5E67CF48F}"/>
              </a:ext>
            </a:extLst>
          </p:cNvPr>
          <p:cNvSpPr txBox="1"/>
          <p:nvPr/>
        </p:nvSpPr>
        <p:spPr>
          <a:xfrm>
            <a:off x="3758953" y="3363768"/>
            <a:ext cx="1826141" cy="338554"/>
          </a:xfrm>
          <a:prstGeom prst="rect">
            <a:avLst/>
          </a:prstGeom>
          <a:noFill/>
        </p:spPr>
        <p:txBody>
          <a:bodyPr wrap="none" rtlCol="0">
            <a:spAutoFit/>
          </a:bodyPr>
          <a:lstStyle/>
          <a:p>
            <a:r>
              <a:rPr kumimoji="1" lang="zh-CN" altLang="en-US" sz="1600" dirty="0">
                <a:latin typeface="Microsoft YaHei" panose="020B0503020204020204" pitchFamily="34" charset="-122"/>
                <a:ea typeface="Microsoft YaHei" panose="020B0503020204020204" pitchFamily="34" charset="-122"/>
              </a:rPr>
              <a:t>沙師弟，師傅餓了</a:t>
            </a:r>
          </a:p>
        </p:txBody>
      </p:sp>
      <p:cxnSp>
        <p:nvCxnSpPr>
          <p:cNvPr id="83" name="直线箭头连接符 82">
            <a:extLst>
              <a:ext uri="{FF2B5EF4-FFF2-40B4-BE49-F238E27FC236}">
                <a16:creationId xmlns:a16="http://schemas.microsoft.com/office/drawing/2014/main" id="{C5F5EAEE-898F-3E4C-9028-991647936547}"/>
              </a:ext>
            </a:extLst>
          </p:cNvPr>
          <p:cNvCxnSpPr>
            <a:stCxn id="68" idx="2"/>
            <a:endCxn id="69" idx="3"/>
          </p:cNvCxnSpPr>
          <p:nvPr/>
        </p:nvCxnSpPr>
        <p:spPr>
          <a:xfrm flipH="1">
            <a:off x="6472930" y="3413598"/>
            <a:ext cx="3268439" cy="943710"/>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sp>
        <p:nvSpPr>
          <p:cNvPr id="84" name="文本框 83">
            <a:extLst>
              <a:ext uri="{FF2B5EF4-FFF2-40B4-BE49-F238E27FC236}">
                <a16:creationId xmlns:a16="http://schemas.microsoft.com/office/drawing/2014/main" id="{A58B6F52-DFA0-4B40-8477-8D7802553CC0}"/>
              </a:ext>
            </a:extLst>
          </p:cNvPr>
          <p:cNvSpPr txBox="1"/>
          <p:nvPr/>
        </p:nvSpPr>
        <p:spPr>
          <a:xfrm>
            <a:off x="7898037" y="3969327"/>
            <a:ext cx="1005403" cy="584775"/>
          </a:xfrm>
          <a:prstGeom prst="rect">
            <a:avLst/>
          </a:prstGeom>
          <a:noFill/>
        </p:spPr>
        <p:txBody>
          <a:bodyPr wrap="none" rtlCol="0">
            <a:spAutoFit/>
          </a:bodyPr>
          <a:lstStyle/>
          <a:p>
            <a:r>
              <a:rPr kumimoji="1" lang="zh-CN" altLang="en-US" sz="1600" dirty="0">
                <a:latin typeface="Microsoft YaHei" panose="020B0503020204020204" pitchFamily="34" charset="-122"/>
                <a:ea typeface="Microsoft YaHei" panose="020B0503020204020204" pitchFamily="34" charset="-122"/>
              </a:rPr>
              <a:t>沙師弟，</a:t>
            </a:r>
            <a:endParaRPr kumimoji="1" lang="en-US" altLang="zh-CN" sz="1600" dirty="0">
              <a:latin typeface="Microsoft YaHei" panose="020B0503020204020204" pitchFamily="34" charset="-122"/>
              <a:ea typeface="Microsoft YaHei" panose="020B0503020204020204" pitchFamily="34" charset="-122"/>
            </a:endParaRPr>
          </a:p>
          <a:p>
            <a:r>
              <a:rPr kumimoji="1" lang="zh-CN" altLang="en-US" sz="1600" dirty="0">
                <a:solidFill>
                  <a:srgbClr val="FF0000"/>
                </a:solidFill>
                <a:latin typeface="Microsoft YaHei" panose="020B0503020204020204" pitchFamily="34" charset="-122"/>
                <a:ea typeface="Microsoft YaHei" panose="020B0503020204020204" pitchFamily="34" charset="-122"/>
              </a:rPr>
              <a:t>師傅不餓</a:t>
            </a:r>
          </a:p>
        </p:txBody>
      </p:sp>
      <p:cxnSp>
        <p:nvCxnSpPr>
          <p:cNvPr id="85" name="直线箭头连接符 84">
            <a:extLst>
              <a:ext uri="{FF2B5EF4-FFF2-40B4-BE49-F238E27FC236}">
                <a16:creationId xmlns:a16="http://schemas.microsoft.com/office/drawing/2014/main" id="{2846A8DC-B118-2C46-8145-7E56EAD02A62}"/>
              </a:ext>
            </a:extLst>
          </p:cNvPr>
          <p:cNvCxnSpPr>
            <a:cxnSpLocks/>
          </p:cNvCxnSpPr>
          <p:nvPr/>
        </p:nvCxnSpPr>
        <p:spPr>
          <a:xfrm flipV="1">
            <a:off x="6470231" y="3342054"/>
            <a:ext cx="2855613" cy="829327"/>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sp>
        <p:nvSpPr>
          <p:cNvPr id="86" name="文本框 85">
            <a:extLst>
              <a:ext uri="{FF2B5EF4-FFF2-40B4-BE49-F238E27FC236}">
                <a16:creationId xmlns:a16="http://schemas.microsoft.com/office/drawing/2014/main" id="{146AE3BB-7374-0348-A8F3-C3DC8DCDCF18}"/>
              </a:ext>
            </a:extLst>
          </p:cNvPr>
          <p:cNvSpPr txBox="1"/>
          <p:nvPr/>
        </p:nvSpPr>
        <p:spPr>
          <a:xfrm>
            <a:off x="6657831" y="3444846"/>
            <a:ext cx="1826141" cy="338554"/>
          </a:xfrm>
          <a:prstGeom prst="rect">
            <a:avLst/>
          </a:prstGeom>
          <a:noFill/>
        </p:spPr>
        <p:txBody>
          <a:bodyPr wrap="none" rtlCol="0">
            <a:spAutoFit/>
          </a:bodyPr>
          <a:lstStyle/>
          <a:p>
            <a:r>
              <a:rPr kumimoji="1" lang="zh-CN" altLang="en-US" sz="1600" dirty="0">
                <a:latin typeface="Microsoft YaHei" panose="020B0503020204020204" pitchFamily="34" charset="-122"/>
                <a:ea typeface="Microsoft YaHei" panose="020B0503020204020204" pitchFamily="34" charset="-122"/>
              </a:rPr>
              <a:t>二師兄，師傅餓了</a:t>
            </a:r>
          </a:p>
        </p:txBody>
      </p:sp>
      <p:cxnSp>
        <p:nvCxnSpPr>
          <p:cNvPr id="87" name="直线箭头连接符 86">
            <a:extLst>
              <a:ext uri="{FF2B5EF4-FFF2-40B4-BE49-F238E27FC236}">
                <a16:creationId xmlns:a16="http://schemas.microsoft.com/office/drawing/2014/main" id="{B0BE93EF-A7F8-7142-B3ED-F29076073323}"/>
              </a:ext>
            </a:extLst>
          </p:cNvPr>
          <p:cNvCxnSpPr>
            <a:cxnSpLocks/>
          </p:cNvCxnSpPr>
          <p:nvPr/>
        </p:nvCxnSpPr>
        <p:spPr>
          <a:xfrm>
            <a:off x="2932840" y="3102286"/>
            <a:ext cx="6440592" cy="7700"/>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sp>
        <p:nvSpPr>
          <p:cNvPr id="88" name="文本框 87">
            <a:extLst>
              <a:ext uri="{FF2B5EF4-FFF2-40B4-BE49-F238E27FC236}">
                <a16:creationId xmlns:a16="http://schemas.microsoft.com/office/drawing/2014/main" id="{FBFA9D1B-AE05-A045-907C-7B29F99CA1F1}"/>
              </a:ext>
            </a:extLst>
          </p:cNvPr>
          <p:cNvSpPr txBox="1"/>
          <p:nvPr/>
        </p:nvSpPr>
        <p:spPr>
          <a:xfrm>
            <a:off x="6873583" y="3082470"/>
            <a:ext cx="1620957" cy="338554"/>
          </a:xfrm>
          <a:prstGeom prst="rect">
            <a:avLst/>
          </a:prstGeom>
          <a:noFill/>
        </p:spPr>
        <p:txBody>
          <a:bodyPr wrap="none" rtlCol="0">
            <a:spAutoFit/>
          </a:bodyPr>
          <a:lstStyle/>
          <a:p>
            <a:r>
              <a:rPr kumimoji="1" lang="zh-CN" altLang="en-US" sz="1600" dirty="0">
                <a:latin typeface="Microsoft YaHei" panose="020B0503020204020204" pitchFamily="34" charset="-122"/>
                <a:ea typeface="Microsoft YaHei" panose="020B0503020204020204" pitchFamily="34" charset="-122"/>
              </a:rPr>
              <a:t>八戒，師傅餓了</a:t>
            </a:r>
          </a:p>
        </p:txBody>
      </p:sp>
      <p:sp>
        <p:nvSpPr>
          <p:cNvPr id="27" name="灯片编号占位符 2">
            <a:extLst>
              <a:ext uri="{FF2B5EF4-FFF2-40B4-BE49-F238E27FC236}">
                <a16:creationId xmlns:a16="http://schemas.microsoft.com/office/drawing/2014/main" id="{EE2AB86D-43A2-6F45-AF94-61AB2A3CCE85}"/>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104</a:t>
            </a:fld>
            <a:endParaRPr lang="zh-CN" altLang="en-US" sz="1200" dirty="0">
              <a:solidFill>
                <a:srgbClr val="000000">
                  <a:tint val="75000"/>
                </a:srgbClr>
              </a:solidFill>
              <a:latin typeface="Comic Sans MS"/>
              <a:ea typeface="微软雅黑 Light"/>
            </a:endParaRPr>
          </a:p>
        </p:txBody>
      </p:sp>
      <p:sp>
        <p:nvSpPr>
          <p:cNvPr id="30" name="矩形 29">
            <a:extLst>
              <a:ext uri="{FF2B5EF4-FFF2-40B4-BE49-F238E27FC236}">
                <a16:creationId xmlns:a16="http://schemas.microsoft.com/office/drawing/2014/main" id="{0C1BE448-F69F-9E4C-BBF6-0DE115938C61}"/>
              </a:ext>
            </a:extLst>
          </p:cNvPr>
          <p:cNvSpPr/>
          <p:nvPr/>
        </p:nvSpPr>
        <p:spPr>
          <a:xfrm>
            <a:off x="1094030" y="5013785"/>
            <a:ext cx="10036783" cy="1281826"/>
          </a:xfrm>
          <a:prstGeom prst="rect">
            <a:avLst/>
          </a:prstGeom>
          <a:ln>
            <a:solidFill>
              <a:srgbClr val="00B0F0"/>
            </a:solidFill>
          </a:ln>
        </p:spPr>
        <p:txBody>
          <a:bodyPr wrap="square">
            <a:spAutoFit/>
          </a:bodyPr>
          <a:lstStyle/>
          <a:p>
            <a:pPr marL="342900" indent="-342900">
              <a:lnSpc>
                <a:spcPts val="3200"/>
              </a:lnSpc>
              <a:spcBef>
                <a:spcPts val="0"/>
              </a:spcBef>
              <a:buFont typeface="Arial" panose="020B0604020202020204" pitchFamily="34" charset="0"/>
              <a:buChar char="•"/>
            </a:pPr>
            <a:r>
              <a:rPr kumimoji="1" lang="zh-CN" altLang="en-US" sz="2400" dirty="0">
                <a:latin typeface="Microsoft YaHei" panose="020B0503020204020204" pitchFamily="34" charset="-122"/>
                <a:ea typeface="Microsoft YaHei" panose="020B0503020204020204" pitchFamily="34" charset="-122"/>
              </a:rPr>
              <a:t>悟空、沙僧、八戒都收到了（餓了，餓了，不餓），都認定師傅餓了</a:t>
            </a:r>
            <a:endParaRPr kumimoji="1" lang="en-US" altLang="zh-CN" sz="2400" dirty="0">
              <a:latin typeface="Microsoft YaHei" panose="020B0503020204020204" pitchFamily="34" charset="-122"/>
              <a:ea typeface="Microsoft YaHei" panose="020B0503020204020204" pitchFamily="34" charset="-122"/>
            </a:endParaRPr>
          </a:p>
          <a:p>
            <a:pPr marL="342900" indent="-342900">
              <a:lnSpc>
                <a:spcPts val="3200"/>
              </a:lnSpc>
              <a:spcBef>
                <a:spcPts val="0"/>
              </a:spcBef>
              <a:buFont typeface="Arial" panose="020B0604020202020204" pitchFamily="34" charset="0"/>
              <a:buChar char="•"/>
            </a:pPr>
            <a:r>
              <a:rPr kumimoji="1" lang="zh-CN" altLang="en-US" sz="2400" dirty="0">
                <a:latin typeface="Microsoft YaHei" panose="020B0503020204020204" pitchFamily="34" charset="-122"/>
                <a:ea typeface="Microsoft YaHei" panose="020B0503020204020204" pitchFamily="34" charset="-122"/>
              </a:rPr>
              <a:t>滿足了</a:t>
            </a:r>
            <a:r>
              <a:rPr kumimoji="1" lang="en-US" altLang="zh-CN" sz="2400" dirty="0">
                <a:latin typeface="Microsoft YaHei" panose="020B0503020204020204" pitchFamily="34" charset="-122"/>
                <a:ea typeface="Microsoft YaHei" panose="020B0503020204020204" pitchFamily="34" charset="-122"/>
              </a:rPr>
              <a:t>IC1</a:t>
            </a:r>
            <a:r>
              <a:rPr kumimoji="1" lang="zh-CN" altLang="en-US" sz="2400" dirty="0">
                <a:latin typeface="Microsoft YaHei" panose="020B0503020204020204" pitchFamily="34" charset="-122"/>
                <a:ea typeface="Microsoft YaHei" panose="020B0503020204020204" pitchFamily="34" charset="-122"/>
              </a:rPr>
              <a:t>，悟空、沙僧、八戒的意見是一致的</a:t>
            </a:r>
            <a:endParaRPr kumimoji="1" lang="en-US" altLang="zh-CN" sz="2400" dirty="0">
              <a:latin typeface="Microsoft YaHei" panose="020B0503020204020204" pitchFamily="34" charset="-122"/>
              <a:ea typeface="Microsoft YaHei" panose="020B0503020204020204" pitchFamily="34" charset="-122"/>
            </a:endParaRPr>
          </a:p>
          <a:p>
            <a:pPr marL="342900" indent="-342900">
              <a:lnSpc>
                <a:spcPts val="3200"/>
              </a:lnSpc>
              <a:spcBef>
                <a:spcPts val="0"/>
              </a:spcBef>
              <a:buFont typeface="Arial" panose="020B0604020202020204" pitchFamily="34" charset="0"/>
              <a:buChar char="•"/>
            </a:pPr>
            <a:r>
              <a:rPr kumimoji="1" lang="zh-CN" altLang="en-US" sz="2400" dirty="0">
                <a:latin typeface="Microsoft YaHei" panose="020B0503020204020204" pitchFamily="34" charset="-122"/>
                <a:ea typeface="Microsoft YaHei" panose="020B0503020204020204" pitchFamily="34" charset="-122"/>
              </a:rPr>
              <a:t>無需滿足了</a:t>
            </a:r>
            <a:r>
              <a:rPr kumimoji="1" lang="en-US" altLang="zh-CN" sz="2400" dirty="0">
                <a:latin typeface="Microsoft YaHei" panose="020B0503020204020204" pitchFamily="34" charset="-122"/>
                <a:ea typeface="Microsoft YaHei" panose="020B0503020204020204" pitchFamily="34" charset="-122"/>
              </a:rPr>
              <a:t>IC2</a:t>
            </a:r>
            <a:r>
              <a:rPr kumimoji="1" lang="zh-CN" altLang="en-US" sz="2400" dirty="0">
                <a:latin typeface="Microsoft YaHei" panose="020B0503020204020204" pitchFamily="34" charset="-122"/>
                <a:ea typeface="Microsoft YaHei" panose="020B0503020204020204" pitchFamily="34" charset="-122"/>
              </a:rPr>
              <a:t>，師傅撒謊了</a:t>
            </a:r>
            <a:endParaRPr kumimoji="1" lang="en-US" altLang="zh-CN" sz="24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634589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anim calcmode="lin" valueType="num">
                                      <p:cBhvr additive="base">
                                        <p:cTn id="7" dur="500" fill="hold"/>
                                        <p:tgtEl>
                                          <p:spTgt spid="67"/>
                                        </p:tgtEl>
                                        <p:attrNameLst>
                                          <p:attrName>ppt_x</p:attrName>
                                        </p:attrNameLst>
                                      </p:cBhvr>
                                      <p:tavLst>
                                        <p:tav tm="0">
                                          <p:val>
                                            <p:strVal val="#ppt_x"/>
                                          </p:val>
                                        </p:tav>
                                        <p:tav tm="100000">
                                          <p:val>
                                            <p:strVal val="#ppt_x"/>
                                          </p:val>
                                        </p:tav>
                                      </p:tavLst>
                                    </p:anim>
                                    <p:anim calcmode="lin" valueType="num">
                                      <p:cBhvr additive="base">
                                        <p:cTn id="8" dur="500" fill="hold"/>
                                        <p:tgtEl>
                                          <p:spTgt spid="6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0"/>
                                        </p:tgtEl>
                                        <p:attrNameLst>
                                          <p:attrName>style.visibility</p:attrName>
                                        </p:attrNameLst>
                                      </p:cBhvr>
                                      <p:to>
                                        <p:strVal val="visible"/>
                                      </p:to>
                                    </p:set>
                                    <p:anim calcmode="lin" valueType="num">
                                      <p:cBhvr additive="base">
                                        <p:cTn id="11" dur="500" fill="hold"/>
                                        <p:tgtEl>
                                          <p:spTgt spid="70"/>
                                        </p:tgtEl>
                                        <p:attrNameLst>
                                          <p:attrName>ppt_x</p:attrName>
                                        </p:attrNameLst>
                                      </p:cBhvr>
                                      <p:tavLst>
                                        <p:tav tm="0">
                                          <p:val>
                                            <p:strVal val="#ppt_x"/>
                                          </p:val>
                                        </p:tav>
                                        <p:tav tm="100000">
                                          <p:val>
                                            <p:strVal val="#ppt_x"/>
                                          </p:val>
                                        </p:tav>
                                      </p:tavLst>
                                    </p:anim>
                                    <p:anim calcmode="lin" valueType="num">
                                      <p:cBhvr additive="base">
                                        <p:cTn id="12" dur="500" fill="hold"/>
                                        <p:tgtEl>
                                          <p:spTgt spid="70"/>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9"/>
                                        </p:tgtEl>
                                        <p:attrNameLst>
                                          <p:attrName>style.visibility</p:attrName>
                                        </p:attrNameLst>
                                      </p:cBhvr>
                                      <p:to>
                                        <p:strVal val="visible"/>
                                      </p:to>
                                    </p:set>
                                    <p:anim calcmode="lin" valueType="num">
                                      <p:cBhvr additive="base">
                                        <p:cTn id="15" dur="500" fill="hold"/>
                                        <p:tgtEl>
                                          <p:spTgt spid="69"/>
                                        </p:tgtEl>
                                        <p:attrNameLst>
                                          <p:attrName>ppt_x</p:attrName>
                                        </p:attrNameLst>
                                      </p:cBhvr>
                                      <p:tavLst>
                                        <p:tav tm="0">
                                          <p:val>
                                            <p:strVal val="#ppt_x"/>
                                          </p:val>
                                        </p:tav>
                                        <p:tav tm="100000">
                                          <p:val>
                                            <p:strVal val="#ppt_x"/>
                                          </p:val>
                                        </p:tav>
                                      </p:tavLst>
                                    </p:anim>
                                    <p:anim calcmode="lin" valueType="num">
                                      <p:cBhvr additive="base">
                                        <p:cTn id="16" dur="500" fill="hold"/>
                                        <p:tgtEl>
                                          <p:spTgt spid="69"/>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8"/>
                                        </p:tgtEl>
                                        <p:attrNameLst>
                                          <p:attrName>style.visibility</p:attrName>
                                        </p:attrNameLst>
                                      </p:cBhvr>
                                      <p:to>
                                        <p:strVal val="visible"/>
                                      </p:to>
                                    </p:set>
                                    <p:anim calcmode="lin" valueType="num">
                                      <p:cBhvr additive="base">
                                        <p:cTn id="19" dur="500" fill="hold"/>
                                        <p:tgtEl>
                                          <p:spTgt spid="68"/>
                                        </p:tgtEl>
                                        <p:attrNameLst>
                                          <p:attrName>ppt_x</p:attrName>
                                        </p:attrNameLst>
                                      </p:cBhvr>
                                      <p:tavLst>
                                        <p:tav tm="0">
                                          <p:val>
                                            <p:strVal val="#ppt_x"/>
                                          </p:val>
                                        </p:tav>
                                        <p:tav tm="100000">
                                          <p:val>
                                            <p:strVal val="#ppt_x"/>
                                          </p:val>
                                        </p:tav>
                                      </p:tavLst>
                                    </p:anim>
                                    <p:anim calcmode="lin" valueType="num">
                                      <p:cBhvr additive="base">
                                        <p:cTn id="20" dur="500" fill="hold"/>
                                        <p:tgtEl>
                                          <p:spTgt spid="6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71"/>
                                        </p:tgtEl>
                                        <p:attrNameLst>
                                          <p:attrName>style.visibility</p:attrName>
                                        </p:attrNameLst>
                                      </p:cBhvr>
                                      <p:to>
                                        <p:strVal val="visible"/>
                                      </p:to>
                                    </p:set>
                                    <p:animEffect transition="in" filter="wipe(up)">
                                      <p:cBhvr>
                                        <p:cTn id="25" dur="500"/>
                                        <p:tgtEl>
                                          <p:spTgt spid="71"/>
                                        </p:tgtEl>
                                      </p:cBhvr>
                                    </p:animEffect>
                                  </p:childTnLst>
                                </p:cTn>
                              </p:par>
                              <p:par>
                                <p:cTn id="26" presetID="22" presetClass="entr" presetSubtype="1" fill="hold" nodeType="withEffect">
                                  <p:stCondLst>
                                    <p:cond delay="0"/>
                                  </p:stCondLst>
                                  <p:childTnLst>
                                    <p:set>
                                      <p:cBhvr>
                                        <p:cTn id="27" dur="1" fill="hold">
                                          <p:stCondLst>
                                            <p:cond delay="0"/>
                                          </p:stCondLst>
                                        </p:cTn>
                                        <p:tgtEl>
                                          <p:spTgt spid="73"/>
                                        </p:tgtEl>
                                        <p:attrNameLst>
                                          <p:attrName>style.visibility</p:attrName>
                                        </p:attrNameLst>
                                      </p:cBhvr>
                                      <p:to>
                                        <p:strVal val="visible"/>
                                      </p:to>
                                    </p:set>
                                    <p:animEffect transition="in" filter="wipe(up)">
                                      <p:cBhvr>
                                        <p:cTn id="28" dur="500"/>
                                        <p:tgtEl>
                                          <p:spTgt spid="73"/>
                                        </p:tgtEl>
                                      </p:cBhvr>
                                    </p:animEffect>
                                  </p:childTnLst>
                                </p:cTn>
                              </p:par>
                              <p:par>
                                <p:cTn id="29" presetID="22" presetClass="entr" presetSubtype="1" fill="hold" nodeType="withEffect">
                                  <p:stCondLst>
                                    <p:cond delay="0"/>
                                  </p:stCondLst>
                                  <p:childTnLst>
                                    <p:set>
                                      <p:cBhvr>
                                        <p:cTn id="30" dur="1" fill="hold">
                                          <p:stCondLst>
                                            <p:cond delay="0"/>
                                          </p:stCondLst>
                                        </p:cTn>
                                        <p:tgtEl>
                                          <p:spTgt spid="75"/>
                                        </p:tgtEl>
                                        <p:attrNameLst>
                                          <p:attrName>style.visibility</p:attrName>
                                        </p:attrNameLst>
                                      </p:cBhvr>
                                      <p:to>
                                        <p:strVal val="visible"/>
                                      </p:to>
                                    </p:set>
                                    <p:animEffect transition="in" filter="wipe(up)">
                                      <p:cBhvr>
                                        <p:cTn id="31" dur="500"/>
                                        <p:tgtEl>
                                          <p:spTgt spid="75"/>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72"/>
                                        </p:tgtEl>
                                        <p:attrNameLst>
                                          <p:attrName>style.visibility</p:attrName>
                                        </p:attrNameLst>
                                      </p:cBhvr>
                                      <p:to>
                                        <p:strVal val="visible"/>
                                      </p:to>
                                    </p:set>
                                    <p:animEffect transition="in" filter="dissolve">
                                      <p:cBhvr>
                                        <p:cTn id="36" dur="500"/>
                                        <p:tgtEl>
                                          <p:spTgt spid="72"/>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74"/>
                                        </p:tgtEl>
                                        <p:attrNameLst>
                                          <p:attrName>style.visibility</p:attrName>
                                        </p:attrNameLst>
                                      </p:cBhvr>
                                      <p:to>
                                        <p:strVal val="visible"/>
                                      </p:to>
                                    </p:set>
                                    <p:animEffect transition="in" filter="dissolve">
                                      <p:cBhvr>
                                        <p:cTn id="39" dur="500"/>
                                        <p:tgtEl>
                                          <p:spTgt spid="74"/>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76"/>
                                        </p:tgtEl>
                                        <p:attrNameLst>
                                          <p:attrName>style.visibility</p:attrName>
                                        </p:attrNameLst>
                                      </p:cBhvr>
                                      <p:to>
                                        <p:strVal val="visible"/>
                                      </p:to>
                                    </p:set>
                                    <p:animEffect transition="in" filter="dissolve">
                                      <p:cBhvr>
                                        <p:cTn id="42" dur="500"/>
                                        <p:tgtEl>
                                          <p:spTgt spid="7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2" fill="hold" nodeType="clickEffect">
                                  <p:stCondLst>
                                    <p:cond delay="0"/>
                                  </p:stCondLst>
                                  <p:childTnLst>
                                    <p:set>
                                      <p:cBhvr>
                                        <p:cTn id="46" dur="1" fill="hold">
                                          <p:stCondLst>
                                            <p:cond delay="0"/>
                                          </p:stCondLst>
                                        </p:cTn>
                                        <p:tgtEl>
                                          <p:spTgt spid="79"/>
                                        </p:tgtEl>
                                        <p:attrNameLst>
                                          <p:attrName>style.visibility</p:attrName>
                                        </p:attrNameLst>
                                      </p:cBhvr>
                                      <p:to>
                                        <p:strVal val="visible"/>
                                      </p:to>
                                    </p:set>
                                    <p:animEffect transition="in" filter="wipe(right)">
                                      <p:cBhvr>
                                        <p:cTn id="47" dur="500"/>
                                        <p:tgtEl>
                                          <p:spTgt spid="79"/>
                                        </p:tgtEl>
                                      </p:cBhvr>
                                    </p:animEffect>
                                  </p:childTnLst>
                                </p:cTn>
                              </p:par>
                              <p:par>
                                <p:cTn id="48" presetID="22" presetClass="entr" presetSubtype="2" fill="hold" nodeType="withEffect">
                                  <p:stCondLst>
                                    <p:cond delay="0"/>
                                  </p:stCondLst>
                                  <p:childTnLst>
                                    <p:set>
                                      <p:cBhvr>
                                        <p:cTn id="49" dur="1" fill="hold">
                                          <p:stCondLst>
                                            <p:cond delay="0"/>
                                          </p:stCondLst>
                                        </p:cTn>
                                        <p:tgtEl>
                                          <p:spTgt spid="83"/>
                                        </p:tgtEl>
                                        <p:attrNameLst>
                                          <p:attrName>style.visibility</p:attrName>
                                        </p:attrNameLst>
                                      </p:cBhvr>
                                      <p:to>
                                        <p:strVal val="visible"/>
                                      </p:to>
                                    </p:set>
                                    <p:animEffect transition="in" filter="wipe(right)">
                                      <p:cBhvr>
                                        <p:cTn id="50" dur="500"/>
                                        <p:tgtEl>
                                          <p:spTgt spid="83"/>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80"/>
                                        </p:tgtEl>
                                        <p:attrNameLst>
                                          <p:attrName>style.visibility</p:attrName>
                                        </p:attrNameLst>
                                      </p:cBhvr>
                                      <p:to>
                                        <p:strVal val="visible"/>
                                      </p:to>
                                    </p:set>
                                    <p:animEffect transition="in" filter="dissolve">
                                      <p:cBhvr>
                                        <p:cTn id="55" dur="500"/>
                                        <p:tgtEl>
                                          <p:spTgt spid="80"/>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84"/>
                                        </p:tgtEl>
                                        <p:attrNameLst>
                                          <p:attrName>style.visibility</p:attrName>
                                        </p:attrNameLst>
                                      </p:cBhvr>
                                      <p:to>
                                        <p:strVal val="visible"/>
                                      </p:to>
                                    </p:set>
                                    <p:animEffect transition="in" filter="dissolve">
                                      <p:cBhvr>
                                        <p:cTn id="58" dur="500"/>
                                        <p:tgtEl>
                                          <p:spTgt spid="84"/>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87"/>
                                        </p:tgtEl>
                                        <p:attrNameLst>
                                          <p:attrName>style.visibility</p:attrName>
                                        </p:attrNameLst>
                                      </p:cBhvr>
                                      <p:to>
                                        <p:strVal val="visible"/>
                                      </p:to>
                                    </p:set>
                                    <p:animEffect transition="in" filter="wipe(left)">
                                      <p:cBhvr>
                                        <p:cTn id="63" dur="500"/>
                                        <p:tgtEl>
                                          <p:spTgt spid="87"/>
                                        </p:tgtEl>
                                      </p:cBhvr>
                                    </p:animEffect>
                                  </p:childTnLst>
                                </p:cTn>
                              </p:par>
                              <p:par>
                                <p:cTn id="64" presetID="22" presetClass="entr" presetSubtype="8" fill="hold" nodeType="withEffect">
                                  <p:stCondLst>
                                    <p:cond delay="0"/>
                                  </p:stCondLst>
                                  <p:childTnLst>
                                    <p:set>
                                      <p:cBhvr>
                                        <p:cTn id="65" dur="1" fill="hold">
                                          <p:stCondLst>
                                            <p:cond delay="0"/>
                                          </p:stCondLst>
                                        </p:cTn>
                                        <p:tgtEl>
                                          <p:spTgt spid="81"/>
                                        </p:tgtEl>
                                        <p:attrNameLst>
                                          <p:attrName>style.visibility</p:attrName>
                                        </p:attrNameLst>
                                      </p:cBhvr>
                                      <p:to>
                                        <p:strVal val="visible"/>
                                      </p:to>
                                    </p:set>
                                    <p:animEffect transition="in" filter="wipe(left)">
                                      <p:cBhvr>
                                        <p:cTn id="66" dur="500"/>
                                        <p:tgtEl>
                                          <p:spTgt spid="81"/>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grpId="0" nodeType="clickEffect">
                                  <p:stCondLst>
                                    <p:cond delay="0"/>
                                  </p:stCondLst>
                                  <p:childTnLst>
                                    <p:set>
                                      <p:cBhvr>
                                        <p:cTn id="70" dur="1" fill="hold">
                                          <p:stCondLst>
                                            <p:cond delay="0"/>
                                          </p:stCondLst>
                                        </p:cTn>
                                        <p:tgtEl>
                                          <p:spTgt spid="88"/>
                                        </p:tgtEl>
                                        <p:attrNameLst>
                                          <p:attrName>style.visibility</p:attrName>
                                        </p:attrNameLst>
                                      </p:cBhvr>
                                      <p:to>
                                        <p:strVal val="visible"/>
                                      </p:to>
                                    </p:set>
                                    <p:animEffect transition="in" filter="dissolve">
                                      <p:cBhvr>
                                        <p:cTn id="71" dur="500"/>
                                        <p:tgtEl>
                                          <p:spTgt spid="88"/>
                                        </p:tgtEl>
                                      </p:cBhvr>
                                    </p:animEffect>
                                  </p:childTnLst>
                                </p:cTn>
                              </p:par>
                              <p:par>
                                <p:cTn id="72" presetID="9" presetClass="entr" presetSubtype="0" fill="hold" grpId="0" nodeType="withEffect">
                                  <p:stCondLst>
                                    <p:cond delay="0"/>
                                  </p:stCondLst>
                                  <p:childTnLst>
                                    <p:set>
                                      <p:cBhvr>
                                        <p:cTn id="73" dur="1" fill="hold">
                                          <p:stCondLst>
                                            <p:cond delay="0"/>
                                          </p:stCondLst>
                                        </p:cTn>
                                        <p:tgtEl>
                                          <p:spTgt spid="82"/>
                                        </p:tgtEl>
                                        <p:attrNameLst>
                                          <p:attrName>style.visibility</p:attrName>
                                        </p:attrNameLst>
                                      </p:cBhvr>
                                      <p:to>
                                        <p:strVal val="visible"/>
                                      </p:to>
                                    </p:set>
                                    <p:animEffect transition="in" filter="dissolve">
                                      <p:cBhvr>
                                        <p:cTn id="74" dur="500"/>
                                        <p:tgtEl>
                                          <p:spTgt spid="82"/>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nodeType="clickEffect">
                                  <p:stCondLst>
                                    <p:cond delay="0"/>
                                  </p:stCondLst>
                                  <p:childTnLst>
                                    <p:set>
                                      <p:cBhvr>
                                        <p:cTn id="78" dur="1" fill="hold">
                                          <p:stCondLst>
                                            <p:cond delay="0"/>
                                          </p:stCondLst>
                                        </p:cTn>
                                        <p:tgtEl>
                                          <p:spTgt spid="77"/>
                                        </p:tgtEl>
                                        <p:attrNameLst>
                                          <p:attrName>style.visibility</p:attrName>
                                        </p:attrNameLst>
                                      </p:cBhvr>
                                      <p:to>
                                        <p:strVal val="visible"/>
                                      </p:to>
                                    </p:set>
                                    <p:animEffect transition="in" filter="wipe(down)">
                                      <p:cBhvr>
                                        <p:cTn id="79" dur="500"/>
                                        <p:tgtEl>
                                          <p:spTgt spid="77"/>
                                        </p:tgtEl>
                                      </p:cBhvr>
                                    </p:animEffect>
                                  </p:childTnLst>
                                </p:cTn>
                              </p:par>
                              <p:par>
                                <p:cTn id="80" presetID="22" presetClass="entr" presetSubtype="4" fill="hold" nodeType="withEffect">
                                  <p:stCondLst>
                                    <p:cond delay="0"/>
                                  </p:stCondLst>
                                  <p:childTnLst>
                                    <p:set>
                                      <p:cBhvr>
                                        <p:cTn id="81" dur="1" fill="hold">
                                          <p:stCondLst>
                                            <p:cond delay="0"/>
                                          </p:stCondLst>
                                        </p:cTn>
                                        <p:tgtEl>
                                          <p:spTgt spid="85"/>
                                        </p:tgtEl>
                                        <p:attrNameLst>
                                          <p:attrName>style.visibility</p:attrName>
                                        </p:attrNameLst>
                                      </p:cBhvr>
                                      <p:to>
                                        <p:strVal val="visible"/>
                                      </p:to>
                                    </p:set>
                                    <p:animEffect transition="in" filter="wipe(down)">
                                      <p:cBhvr>
                                        <p:cTn id="82" dur="500"/>
                                        <p:tgtEl>
                                          <p:spTgt spid="85"/>
                                        </p:tgtEl>
                                      </p:cBhvr>
                                    </p:animEffect>
                                  </p:childTnLst>
                                </p:cTn>
                              </p:par>
                            </p:childTnLst>
                          </p:cTn>
                        </p:par>
                      </p:childTnLst>
                    </p:cTn>
                  </p:par>
                  <p:par>
                    <p:cTn id="83" fill="hold">
                      <p:stCondLst>
                        <p:cond delay="indefinite"/>
                      </p:stCondLst>
                      <p:childTnLst>
                        <p:par>
                          <p:cTn id="84" fill="hold">
                            <p:stCondLst>
                              <p:cond delay="0"/>
                            </p:stCondLst>
                            <p:childTnLst>
                              <p:par>
                                <p:cTn id="85" presetID="9" presetClass="entr" presetSubtype="0" fill="hold" grpId="0" nodeType="clickEffect">
                                  <p:stCondLst>
                                    <p:cond delay="0"/>
                                  </p:stCondLst>
                                  <p:childTnLst>
                                    <p:set>
                                      <p:cBhvr>
                                        <p:cTn id="86" dur="1" fill="hold">
                                          <p:stCondLst>
                                            <p:cond delay="0"/>
                                          </p:stCondLst>
                                        </p:cTn>
                                        <p:tgtEl>
                                          <p:spTgt spid="86"/>
                                        </p:tgtEl>
                                        <p:attrNameLst>
                                          <p:attrName>style.visibility</p:attrName>
                                        </p:attrNameLst>
                                      </p:cBhvr>
                                      <p:to>
                                        <p:strVal val="visible"/>
                                      </p:to>
                                    </p:set>
                                    <p:animEffect transition="in" filter="dissolve">
                                      <p:cBhvr>
                                        <p:cTn id="87" dur="500"/>
                                        <p:tgtEl>
                                          <p:spTgt spid="86"/>
                                        </p:tgtEl>
                                      </p:cBhvr>
                                    </p:animEffect>
                                  </p:childTnLst>
                                </p:cTn>
                              </p:par>
                              <p:par>
                                <p:cTn id="88" presetID="9" presetClass="entr" presetSubtype="0" fill="hold" grpId="0" nodeType="withEffect">
                                  <p:stCondLst>
                                    <p:cond delay="0"/>
                                  </p:stCondLst>
                                  <p:childTnLst>
                                    <p:set>
                                      <p:cBhvr>
                                        <p:cTn id="89" dur="1" fill="hold">
                                          <p:stCondLst>
                                            <p:cond delay="0"/>
                                          </p:stCondLst>
                                        </p:cTn>
                                        <p:tgtEl>
                                          <p:spTgt spid="78"/>
                                        </p:tgtEl>
                                        <p:attrNameLst>
                                          <p:attrName>style.visibility</p:attrName>
                                        </p:attrNameLst>
                                      </p:cBhvr>
                                      <p:to>
                                        <p:strVal val="visible"/>
                                      </p:to>
                                    </p:set>
                                    <p:animEffect transition="in" filter="dissolve">
                                      <p:cBhvr>
                                        <p:cTn id="90" dur="500"/>
                                        <p:tgtEl>
                                          <p:spTgt spid="78"/>
                                        </p:tgtEl>
                                      </p:cBhvr>
                                    </p:animEffect>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grpId="0" nodeType="clickEffect">
                                  <p:stCondLst>
                                    <p:cond delay="0"/>
                                  </p:stCondLst>
                                  <p:childTnLst>
                                    <p:set>
                                      <p:cBhvr>
                                        <p:cTn id="94" dur="1" fill="hold">
                                          <p:stCondLst>
                                            <p:cond delay="0"/>
                                          </p:stCondLst>
                                        </p:cTn>
                                        <p:tgtEl>
                                          <p:spTgt spid="30"/>
                                        </p:tgtEl>
                                        <p:attrNameLst>
                                          <p:attrName>style.visibility</p:attrName>
                                        </p:attrNameLst>
                                      </p:cBhvr>
                                      <p:to>
                                        <p:strVal val="visible"/>
                                      </p:to>
                                    </p:set>
                                    <p:anim calcmode="lin" valueType="num">
                                      <p:cBhvr additive="base">
                                        <p:cTn id="95" dur="500" fill="hold"/>
                                        <p:tgtEl>
                                          <p:spTgt spid="30"/>
                                        </p:tgtEl>
                                        <p:attrNameLst>
                                          <p:attrName>ppt_x</p:attrName>
                                        </p:attrNameLst>
                                      </p:cBhvr>
                                      <p:tavLst>
                                        <p:tav tm="0">
                                          <p:val>
                                            <p:strVal val="#ppt_x"/>
                                          </p:val>
                                        </p:tav>
                                        <p:tav tm="100000">
                                          <p:val>
                                            <p:strVal val="#ppt_x"/>
                                          </p:val>
                                        </p:tav>
                                      </p:tavLst>
                                    </p:anim>
                                    <p:anim calcmode="lin" valueType="num">
                                      <p:cBhvr additive="base">
                                        <p:cTn id="96"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P spid="74" grpId="0"/>
      <p:bldP spid="76" grpId="0"/>
      <p:bldP spid="78" grpId="0"/>
      <p:bldP spid="80" grpId="0"/>
      <p:bldP spid="82" grpId="0"/>
      <p:bldP spid="84" grpId="0"/>
      <p:bldP spid="86" grpId="0"/>
      <p:bldP spid="88" grpId="0"/>
      <p:bldP spid="30" grpId="0" animBg="1"/>
    </p:bldLst>
  </p:timing>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kumimoji="1" lang="en-US" altLang="zh-CN" sz="4000" dirty="0"/>
              <a:t>7</a:t>
            </a:r>
            <a:r>
              <a:rPr kumimoji="1" lang="zh-CN" altLang="en-US" sz="4000" dirty="0"/>
              <a:t>將軍</a:t>
            </a:r>
            <a:r>
              <a:rPr kumimoji="1" lang="en-US" altLang="zh-CN" sz="4000" dirty="0"/>
              <a:t>2</a:t>
            </a:r>
            <a:r>
              <a:rPr kumimoji="1" lang="zh-CN" altLang="en-US" sz="4000" dirty="0"/>
              <a:t>叛徒算法分析</a:t>
            </a:r>
          </a:p>
        </p:txBody>
      </p:sp>
      <p:grpSp>
        <p:nvGrpSpPr>
          <p:cNvPr id="17" name="组合 16">
            <a:extLst>
              <a:ext uri="{FF2B5EF4-FFF2-40B4-BE49-F238E27FC236}">
                <a16:creationId xmlns:a16="http://schemas.microsoft.com/office/drawing/2014/main" id="{F22A73E6-39F2-0345-A1A1-CFFF2C53018C}"/>
              </a:ext>
            </a:extLst>
          </p:cNvPr>
          <p:cNvGrpSpPr/>
          <p:nvPr/>
        </p:nvGrpSpPr>
        <p:grpSpPr>
          <a:xfrm>
            <a:off x="3238991" y="1108651"/>
            <a:ext cx="8779415" cy="5587987"/>
            <a:chOff x="1007390" y="1270012"/>
            <a:chExt cx="8779415" cy="5587987"/>
          </a:xfrm>
        </p:grpSpPr>
        <p:sp>
          <p:nvSpPr>
            <p:cNvPr id="7" name="矩形 6">
              <a:extLst>
                <a:ext uri="{FF2B5EF4-FFF2-40B4-BE49-F238E27FC236}">
                  <a16:creationId xmlns:a16="http://schemas.microsoft.com/office/drawing/2014/main" id="{FE68A8D1-0B7E-5649-A77C-ABAF92693522}"/>
                </a:ext>
              </a:extLst>
            </p:cNvPr>
            <p:cNvSpPr/>
            <p:nvPr/>
          </p:nvSpPr>
          <p:spPr>
            <a:xfrm>
              <a:off x="4631919" y="1270012"/>
              <a:ext cx="1127631" cy="4027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FFFFFF"/>
                  </a:solidFill>
                  <a:effectLst/>
                  <a:uLnTx/>
                  <a:uFillTx/>
                  <a:latin typeface="Arial"/>
                  <a:ea typeface="微软雅黑 Light"/>
                  <a:cs typeface="+mn-cs"/>
                </a:rPr>
                <a:t>OM</a:t>
              </a:r>
              <a:r>
                <a:rPr kumimoji="1" lang="en-US" altLang="zh-CN" sz="1800" b="0" i="0" u="none" strike="noStrike" kern="1200" cap="none" spc="0" normalizeH="0" baseline="-25000" noProof="0" dirty="0">
                  <a:ln>
                    <a:noFill/>
                  </a:ln>
                  <a:solidFill>
                    <a:srgbClr val="FFFFFF"/>
                  </a:solidFill>
                  <a:effectLst/>
                  <a:uLnTx/>
                  <a:uFillTx/>
                  <a:latin typeface="Arial"/>
                  <a:ea typeface="微软雅黑 Light"/>
                  <a:cs typeface="+mn-cs"/>
                </a:rPr>
                <a:t>0</a:t>
              </a:r>
              <a:r>
                <a:rPr kumimoji="1" lang="en-US" altLang="zh-CN" sz="1800" b="0" i="0" u="none" strike="noStrike" kern="1200" cap="none" spc="0" normalizeH="0" baseline="0" noProof="0" dirty="0">
                  <a:ln>
                    <a:noFill/>
                  </a:ln>
                  <a:solidFill>
                    <a:srgbClr val="FFFFFF"/>
                  </a:solidFill>
                  <a:effectLst/>
                  <a:uLnTx/>
                  <a:uFillTx/>
                  <a:latin typeface="Arial"/>
                  <a:ea typeface="微软雅黑 Light"/>
                  <a:cs typeface="+mn-cs"/>
                </a:rPr>
                <a:t>(2)</a:t>
              </a:r>
              <a:endParaRPr kumimoji="1" lang="zh-CN" altLang="en-US" sz="1800" b="0" i="0" u="none" strike="noStrike" kern="1200" cap="none" spc="0" normalizeH="0" baseline="0" noProof="0" dirty="0">
                <a:ln>
                  <a:noFill/>
                </a:ln>
                <a:solidFill>
                  <a:srgbClr val="FFFFFF"/>
                </a:solidFill>
                <a:effectLst/>
                <a:uLnTx/>
                <a:uFillTx/>
                <a:latin typeface="Arial"/>
                <a:ea typeface="微软雅黑 Light"/>
                <a:cs typeface="+mn-cs"/>
              </a:endParaRPr>
            </a:p>
          </p:txBody>
        </p:sp>
        <p:sp>
          <p:nvSpPr>
            <p:cNvPr id="8" name="矩形 7">
              <a:extLst>
                <a:ext uri="{FF2B5EF4-FFF2-40B4-BE49-F238E27FC236}">
                  <a16:creationId xmlns:a16="http://schemas.microsoft.com/office/drawing/2014/main" id="{74EFDEE8-F375-114C-B16F-07B2567C5D72}"/>
                </a:ext>
              </a:extLst>
            </p:cNvPr>
            <p:cNvSpPr/>
            <p:nvPr/>
          </p:nvSpPr>
          <p:spPr>
            <a:xfrm>
              <a:off x="1257571" y="2397643"/>
              <a:ext cx="1369266" cy="4027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FFFFFF"/>
                  </a:solidFill>
                  <a:effectLst/>
                  <a:uLnTx/>
                  <a:uFillTx/>
                  <a:latin typeface="Arial"/>
                  <a:ea typeface="微软雅黑 Light"/>
                  <a:cs typeface="+mn-cs"/>
                </a:rPr>
                <a:t>OM</a:t>
              </a:r>
              <a:r>
                <a:rPr kumimoji="1" lang="en-US" altLang="zh-CN" sz="1800" b="0" i="0" u="none" strike="noStrike" kern="1200" cap="none" spc="0" normalizeH="0" baseline="-25000" noProof="0" dirty="0">
                  <a:ln>
                    <a:noFill/>
                  </a:ln>
                  <a:solidFill>
                    <a:srgbClr val="FFFFFF"/>
                  </a:solidFill>
                  <a:effectLst/>
                  <a:uLnTx/>
                  <a:uFillTx/>
                  <a:latin typeface="Arial"/>
                  <a:ea typeface="微软雅黑 Light"/>
                  <a:cs typeface="+mn-cs"/>
                </a:rPr>
                <a:t>0,1</a:t>
              </a:r>
              <a:r>
                <a:rPr kumimoji="1" lang="en-US" altLang="zh-CN" sz="1800" b="0" i="0" u="none" strike="noStrike" kern="1200" cap="none" spc="0" normalizeH="0" baseline="0" noProof="0" dirty="0">
                  <a:ln>
                    <a:noFill/>
                  </a:ln>
                  <a:solidFill>
                    <a:srgbClr val="FFFFFF"/>
                  </a:solidFill>
                  <a:effectLst/>
                  <a:uLnTx/>
                  <a:uFillTx/>
                  <a:latin typeface="Arial"/>
                  <a:ea typeface="微软雅黑 Light"/>
                  <a:cs typeface="+mn-cs"/>
                </a:rPr>
                <a:t>(1)</a:t>
              </a:r>
              <a:endParaRPr kumimoji="1" lang="zh-CN" altLang="en-US" sz="1800" b="0" i="0" u="none" strike="noStrike" kern="1200" cap="none" spc="0" normalizeH="0" baseline="0" noProof="0" dirty="0">
                <a:ln>
                  <a:noFill/>
                </a:ln>
                <a:solidFill>
                  <a:srgbClr val="FFFFFF"/>
                </a:solidFill>
                <a:effectLst/>
                <a:uLnTx/>
                <a:uFillTx/>
                <a:latin typeface="Arial"/>
                <a:ea typeface="微软雅黑 Light"/>
                <a:cs typeface="+mn-cs"/>
              </a:endParaRPr>
            </a:p>
          </p:txBody>
        </p:sp>
        <p:sp>
          <p:nvSpPr>
            <p:cNvPr id="9" name="矩形 8">
              <a:extLst>
                <a:ext uri="{FF2B5EF4-FFF2-40B4-BE49-F238E27FC236}">
                  <a16:creationId xmlns:a16="http://schemas.microsoft.com/office/drawing/2014/main" id="{FED55CD3-527C-F84E-AD68-79CD87CA7506}"/>
                </a:ext>
              </a:extLst>
            </p:cNvPr>
            <p:cNvSpPr/>
            <p:nvPr/>
          </p:nvSpPr>
          <p:spPr>
            <a:xfrm>
              <a:off x="3423742" y="2402731"/>
              <a:ext cx="1369266" cy="4027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FFFFFF"/>
                  </a:solidFill>
                  <a:effectLst/>
                  <a:uLnTx/>
                  <a:uFillTx/>
                  <a:latin typeface="Arial"/>
                  <a:ea typeface="微软雅黑 Light"/>
                  <a:cs typeface="+mn-cs"/>
                </a:rPr>
                <a:t>OM</a:t>
              </a:r>
              <a:r>
                <a:rPr kumimoji="1" lang="en-US" altLang="zh-CN" sz="1800" b="0" i="0" u="none" strike="noStrike" kern="1200" cap="none" spc="0" normalizeH="0" baseline="-25000" noProof="0" dirty="0">
                  <a:ln>
                    <a:noFill/>
                  </a:ln>
                  <a:solidFill>
                    <a:srgbClr val="FFFFFF"/>
                  </a:solidFill>
                  <a:effectLst/>
                  <a:uLnTx/>
                  <a:uFillTx/>
                  <a:latin typeface="Arial"/>
                  <a:ea typeface="微软雅黑 Light"/>
                  <a:cs typeface="+mn-cs"/>
                </a:rPr>
                <a:t>0,2</a:t>
              </a:r>
              <a:r>
                <a:rPr kumimoji="1" lang="en-US" altLang="zh-CN" sz="1800" b="0" i="0" u="none" strike="noStrike" kern="1200" cap="none" spc="0" normalizeH="0" baseline="0" noProof="0" dirty="0">
                  <a:ln>
                    <a:noFill/>
                  </a:ln>
                  <a:solidFill>
                    <a:srgbClr val="FFFFFF"/>
                  </a:solidFill>
                  <a:effectLst/>
                  <a:uLnTx/>
                  <a:uFillTx/>
                  <a:latin typeface="Arial"/>
                  <a:ea typeface="微软雅黑 Light"/>
                  <a:cs typeface="+mn-cs"/>
                </a:rPr>
                <a:t>(1)</a:t>
              </a:r>
              <a:endParaRPr kumimoji="1" lang="zh-CN" altLang="en-US" sz="1800" b="0" i="0" u="none" strike="noStrike" kern="1200" cap="none" spc="0" normalizeH="0" baseline="0" noProof="0" dirty="0">
                <a:ln>
                  <a:noFill/>
                </a:ln>
                <a:solidFill>
                  <a:srgbClr val="FFFFFF"/>
                </a:solidFill>
                <a:effectLst/>
                <a:uLnTx/>
                <a:uFillTx/>
                <a:latin typeface="Arial"/>
                <a:ea typeface="微软雅黑 Light"/>
                <a:cs typeface="+mn-cs"/>
              </a:endParaRPr>
            </a:p>
          </p:txBody>
        </p:sp>
        <p:sp>
          <p:nvSpPr>
            <p:cNvPr id="10" name="矩形 9">
              <a:extLst>
                <a:ext uri="{FF2B5EF4-FFF2-40B4-BE49-F238E27FC236}">
                  <a16:creationId xmlns:a16="http://schemas.microsoft.com/office/drawing/2014/main" id="{B02B9B1A-C9D0-C94A-8F25-7BE098DA8DCA}"/>
                </a:ext>
              </a:extLst>
            </p:cNvPr>
            <p:cNvSpPr/>
            <p:nvPr/>
          </p:nvSpPr>
          <p:spPr>
            <a:xfrm>
              <a:off x="7289907" y="2397643"/>
              <a:ext cx="1369266" cy="4027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FFFFFF"/>
                  </a:solidFill>
                  <a:effectLst/>
                  <a:uLnTx/>
                  <a:uFillTx/>
                  <a:latin typeface="Arial"/>
                  <a:ea typeface="微软雅黑 Light"/>
                  <a:cs typeface="+mn-cs"/>
                </a:rPr>
                <a:t>OM</a:t>
              </a:r>
              <a:r>
                <a:rPr kumimoji="1" lang="en-US" altLang="zh-CN" sz="1800" b="0" i="0" u="none" strike="noStrike" kern="1200" cap="none" spc="0" normalizeH="0" baseline="-25000" noProof="0" dirty="0">
                  <a:ln>
                    <a:noFill/>
                  </a:ln>
                  <a:solidFill>
                    <a:srgbClr val="FFFFFF"/>
                  </a:solidFill>
                  <a:effectLst/>
                  <a:uLnTx/>
                  <a:uFillTx/>
                  <a:latin typeface="Arial"/>
                  <a:ea typeface="微软雅黑 Light"/>
                  <a:cs typeface="+mn-cs"/>
                </a:rPr>
                <a:t>0,6</a:t>
              </a:r>
              <a:r>
                <a:rPr kumimoji="1" lang="en-US" altLang="zh-CN" sz="1800" b="0" i="0" u="none" strike="noStrike" kern="1200" cap="none" spc="0" normalizeH="0" baseline="0" noProof="0" dirty="0">
                  <a:ln>
                    <a:noFill/>
                  </a:ln>
                  <a:solidFill>
                    <a:srgbClr val="FFFFFF"/>
                  </a:solidFill>
                  <a:effectLst/>
                  <a:uLnTx/>
                  <a:uFillTx/>
                  <a:latin typeface="Arial"/>
                  <a:ea typeface="微软雅黑 Light"/>
                  <a:cs typeface="+mn-cs"/>
                </a:rPr>
                <a:t>(1)</a:t>
              </a:r>
              <a:endParaRPr kumimoji="1" lang="zh-CN" altLang="en-US" sz="1800" b="0" i="0" u="none" strike="noStrike" kern="1200" cap="none" spc="0" normalizeH="0" baseline="0" noProof="0" dirty="0">
                <a:ln>
                  <a:noFill/>
                </a:ln>
                <a:solidFill>
                  <a:srgbClr val="FFFFFF"/>
                </a:solidFill>
                <a:effectLst/>
                <a:uLnTx/>
                <a:uFillTx/>
                <a:latin typeface="Arial"/>
                <a:ea typeface="微软雅黑 Light"/>
                <a:cs typeface="+mn-cs"/>
              </a:endParaRPr>
            </a:p>
          </p:txBody>
        </p:sp>
        <p:sp>
          <p:nvSpPr>
            <p:cNvPr id="11" name="矩形 10">
              <a:extLst>
                <a:ext uri="{FF2B5EF4-FFF2-40B4-BE49-F238E27FC236}">
                  <a16:creationId xmlns:a16="http://schemas.microsoft.com/office/drawing/2014/main" id="{65E6C0C7-339B-D343-9A06-1FE8B4DE437C}"/>
                </a:ext>
              </a:extLst>
            </p:cNvPr>
            <p:cNvSpPr/>
            <p:nvPr/>
          </p:nvSpPr>
          <p:spPr>
            <a:xfrm>
              <a:off x="5356825" y="2415169"/>
              <a:ext cx="1369266" cy="4027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mr-IN" altLang="zh-CN" sz="2000" b="1" i="0" u="none" strike="noStrike" kern="1200" cap="none" spc="0" normalizeH="0" baseline="0" noProof="0" dirty="0">
                  <a:ln>
                    <a:noFill/>
                  </a:ln>
                  <a:solidFill>
                    <a:srgbClr val="000000"/>
                  </a:solidFill>
                  <a:effectLst/>
                  <a:uLnTx/>
                  <a:uFillTx/>
                  <a:latin typeface="Arial"/>
                  <a:ea typeface="微软雅黑 Light"/>
                  <a:cs typeface="+mn-cs"/>
                </a:rPr>
                <a:t>……</a:t>
              </a:r>
              <a:endParaRPr kumimoji="1" lang="zh-CN" altLang="en-US" sz="2000" b="1" i="0" u="none" strike="noStrike" kern="1200" cap="none" spc="0" normalizeH="0" baseline="0" noProof="0" dirty="0">
                <a:ln>
                  <a:noFill/>
                </a:ln>
                <a:solidFill>
                  <a:srgbClr val="000000"/>
                </a:solidFill>
                <a:effectLst/>
                <a:uLnTx/>
                <a:uFillTx/>
                <a:latin typeface="Arial"/>
                <a:ea typeface="微软雅黑 Light"/>
                <a:cs typeface="+mn-cs"/>
              </a:endParaRPr>
            </a:p>
          </p:txBody>
        </p:sp>
        <p:cxnSp>
          <p:nvCxnSpPr>
            <p:cNvPr id="12" name="直线箭头连接符 11">
              <a:extLst>
                <a:ext uri="{FF2B5EF4-FFF2-40B4-BE49-F238E27FC236}">
                  <a16:creationId xmlns:a16="http://schemas.microsoft.com/office/drawing/2014/main" id="{73A1D601-3A67-0E47-A718-420DF03EA9F8}"/>
                </a:ext>
              </a:extLst>
            </p:cNvPr>
            <p:cNvCxnSpPr>
              <a:stCxn id="7" idx="2"/>
            </p:cNvCxnSpPr>
            <p:nvPr/>
          </p:nvCxnSpPr>
          <p:spPr>
            <a:xfrm flipH="1">
              <a:off x="2626837" y="1672738"/>
              <a:ext cx="2568897" cy="724906"/>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 name="直线箭头连接符 12">
              <a:extLst>
                <a:ext uri="{FF2B5EF4-FFF2-40B4-BE49-F238E27FC236}">
                  <a16:creationId xmlns:a16="http://schemas.microsoft.com/office/drawing/2014/main" id="{1CB7190A-FD66-8B40-9BE1-AD6DF2784528}"/>
                </a:ext>
              </a:extLst>
            </p:cNvPr>
            <p:cNvCxnSpPr>
              <a:stCxn id="7" idx="2"/>
              <a:endCxn id="9" idx="0"/>
            </p:cNvCxnSpPr>
            <p:nvPr/>
          </p:nvCxnSpPr>
          <p:spPr>
            <a:xfrm flipH="1">
              <a:off x="4108377" y="1672738"/>
              <a:ext cx="1087359" cy="729993"/>
            </a:xfrm>
            <a:prstGeom prst="straightConnector1">
              <a:avLst/>
            </a:prstGeom>
            <a:ln w="25400">
              <a:solidFill>
                <a:schemeClr val="tx1"/>
              </a:solidFill>
              <a:headEnd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14" name="直线箭头连接符 13">
              <a:extLst>
                <a:ext uri="{FF2B5EF4-FFF2-40B4-BE49-F238E27FC236}">
                  <a16:creationId xmlns:a16="http://schemas.microsoft.com/office/drawing/2014/main" id="{5343AD6E-8F90-744A-8CD1-5462FD37FA6B}"/>
                </a:ext>
              </a:extLst>
            </p:cNvPr>
            <p:cNvCxnSpPr>
              <a:stCxn id="7" idx="2"/>
            </p:cNvCxnSpPr>
            <p:nvPr/>
          </p:nvCxnSpPr>
          <p:spPr>
            <a:xfrm>
              <a:off x="5195735" y="1672738"/>
              <a:ext cx="2094172" cy="724906"/>
            </a:xfrm>
            <a:prstGeom prst="straightConnector1">
              <a:avLst/>
            </a:prstGeom>
            <a:ln w="25400">
              <a:solidFill>
                <a:schemeClr val="tx1"/>
              </a:solidFill>
              <a:headEnd w="lg" len="med"/>
              <a:tailEnd type="triangle" w="lg" len="lg"/>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58C9A0B2-2D78-EC48-93A8-DA18C8636D54}"/>
                </a:ext>
              </a:extLst>
            </p:cNvPr>
            <p:cNvSpPr/>
            <p:nvPr/>
          </p:nvSpPr>
          <p:spPr>
            <a:xfrm>
              <a:off x="1241708" y="3648933"/>
              <a:ext cx="1166274" cy="4027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500" b="0" i="0" u="none" strike="noStrike" kern="1200" cap="none" spc="0" normalizeH="0" baseline="0" noProof="0" dirty="0">
                  <a:ln>
                    <a:noFill/>
                  </a:ln>
                  <a:solidFill>
                    <a:srgbClr val="FFFFFF"/>
                  </a:solidFill>
                  <a:effectLst/>
                  <a:uLnTx/>
                  <a:uFillTx/>
                  <a:latin typeface="Arial"/>
                  <a:ea typeface="微软雅黑 Light"/>
                  <a:cs typeface="+mn-cs"/>
                </a:rPr>
                <a:t>OM</a:t>
              </a:r>
              <a:r>
                <a:rPr kumimoji="1" lang="en-US" altLang="zh-CN" sz="1500" b="0" i="0" u="none" strike="noStrike" kern="1200" cap="none" spc="0" normalizeH="0" baseline="-25000" noProof="0" dirty="0">
                  <a:ln>
                    <a:noFill/>
                  </a:ln>
                  <a:solidFill>
                    <a:srgbClr val="FFFFFF"/>
                  </a:solidFill>
                  <a:effectLst/>
                  <a:uLnTx/>
                  <a:uFillTx/>
                  <a:latin typeface="Arial"/>
                  <a:ea typeface="微软雅黑 Light"/>
                  <a:cs typeface="+mn-cs"/>
                </a:rPr>
                <a:t>0,2,1</a:t>
              </a:r>
              <a:r>
                <a:rPr kumimoji="1" lang="en-US" altLang="zh-CN" sz="1500" b="0" i="0" u="none" strike="noStrike" kern="1200" cap="none" spc="0" normalizeH="0" baseline="0" noProof="0" dirty="0">
                  <a:ln>
                    <a:noFill/>
                  </a:ln>
                  <a:solidFill>
                    <a:srgbClr val="FFFFFF"/>
                  </a:solidFill>
                  <a:effectLst/>
                  <a:uLnTx/>
                  <a:uFillTx/>
                  <a:latin typeface="Arial"/>
                  <a:ea typeface="微软雅黑 Light"/>
                  <a:cs typeface="+mn-cs"/>
                </a:rPr>
                <a:t>(0)</a:t>
              </a:r>
              <a:endParaRPr kumimoji="1" lang="zh-CN" altLang="en-US" sz="1500" b="0" i="0" u="none" strike="noStrike" kern="1200" cap="none" spc="0" normalizeH="0" baseline="0" noProof="0" dirty="0">
                <a:ln>
                  <a:noFill/>
                </a:ln>
                <a:solidFill>
                  <a:srgbClr val="FFFFFF"/>
                </a:solidFill>
                <a:effectLst/>
                <a:uLnTx/>
                <a:uFillTx/>
                <a:latin typeface="Arial"/>
                <a:ea typeface="微软雅黑 Light"/>
                <a:cs typeface="+mn-cs"/>
              </a:endParaRPr>
            </a:p>
          </p:txBody>
        </p:sp>
        <p:sp>
          <p:nvSpPr>
            <p:cNvPr id="16" name="矩形 15">
              <a:extLst>
                <a:ext uri="{FF2B5EF4-FFF2-40B4-BE49-F238E27FC236}">
                  <a16:creationId xmlns:a16="http://schemas.microsoft.com/office/drawing/2014/main" id="{2E64CF87-324D-D04F-93F9-F288E79362E5}"/>
                </a:ext>
              </a:extLst>
            </p:cNvPr>
            <p:cNvSpPr/>
            <p:nvPr/>
          </p:nvSpPr>
          <p:spPr>
            <a:xfrm>
              <a:off x="3154819" y="3658384"/>
              <a:ext cx="998267" cy="4027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500" b="0" i="0" u="none" strike="noStrike" kern="1200" cap="none" spc="0" normalizeH="0" baseline="0" noProof="0" dirty="0">
                  <a:ln>
                    <a:noFill/>
                  </a:ln>
                  <a:solidFill>
                    <a:srgbClr val="FFFFFF"/>
                  </a:solidFill>
                  <a:effectLst/>
                  <a:uLnTx/>
                  <a:uFillTx/>
                  <a:latin typeface="Arial"/>
                  <a:ea typeface="微软雅黑 Light"/>
                  <a:cs typeface="+mn-cs"/>
                </a:rPr>
                <a:t>OM</a:t>
              </a:r>
              <a:r>
                <a:rPr kumimoji="1" lang="en-US" altLang="zh-CN" sz="1500" b="0" i="0" u="none" strike="noStrike" kern="1200" cap="none" spc="0" normalizeH="0" baseline="-25000" noProof="0" dirty="0">
                  <a:ln>
                    <a:noFill/>
                  </a:ln>
                  <a:solidFill>
                    <a:srgbClr val="FFFFFF"/>
                  </a:solidFill>
                  <a:effectLst/>
                  <a:uLnTx/>
                  <a:uFillTx/>
                  <a:latin typeface="Arial"/>
                  <a:ea typeface="微软雅黑 Light"/>
                  <a:cs typeface="+mn-cs"/>
                </a:rPr>
                <a:t>0,2,3</a:t>
              </a:r>
              <a:r>
                <a:rPr kumimoji="1" lang="en-US" altLang="zh-CN" sz="1500" b="0" i="0" u="none" strike="noStrike" kern="1200" cap="none" spc="0" normalizeH="0" baseline="0" noProof="0" dirty="0">
                  <a:ln>
                    <a:noFill/>
                  </a:ln>
                  <a:solidFill>
                    <a:srgbClr val="FFFFFF"/>
                  </a:solidFill>
                  <a:effectLst/>
                  <a:uLnTx/>
                  <a:uFillTx/>
                  <a:latin typeface="Arial"/>
                  <a:ea typeface="微软雅黑 Light"/>
                  <a:cs typeface="+mn-cs"/>
                </a:rPr>
                <a:t>(0)</a:t>
              </a:r>
              <a:endParaRPr kumimoji="1" lang="zh-CN" altLang="en-US" sz="1500" b="0" i="0" u="none" strike="noStrike" kern="1200" cap="none" spc="0" normalizeH="0" baseline="0" noProof="0" dirty="0">
                <a:ln>
                  <a:noFill/>
                </a:ln>
                <a:solidFill>
                  <a:srgbClr val="FFFFFF"/>
                </a:solidFill>
                <a:effectLst/>
                <a:uLnTx/>
                <a:uFillTx/>
                <a:latin typeface="Arial"/>
                <a:ea typeface="微软雅黑 Light"/>
                <a:cs typeface="+mn-cs"/>
              </a:endParaRPr>
            </a:p>
          </p:txBody>
        </p:sp>
        <p:sp>
          <p:nvSpPr>
            <p:cNvPr id="21" name="矩形 20">
              <a:extLst>
                <a:ext uri="{FF2B5EF4-FFF2-40B4-BE49-F238E27FC236}">
                  <a16:creationId xmlns:a16="http://schemas.microsoft.com/office/drawing/2014/main" id="{511C4ADE-2445-2846-AE24-C411875AD60C}"/>
                </a:ext>
              </a:extLst>
            </p:cNvPr>
            <p:cNvSpPr/>
            <p:nvPr/>
          </p:nvSpPr>
          <p:spPr>
            <a:xfrm>
              <a:off x="5976777" y="3658384"/>
              <a:ext cx="998267" cy="4027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500" b="0" i="0" u="none" strike="noStrike" kern="1200" cap="none" spc="0" normalizeH="0" baseline="0" noProof="0" dirty="0">
                  <a:ln>
                    <a:noFill/>
                  </a:ln>
                  <a:solidFill>
                    <a:srgbClr val="FFFFFF"/>
                  </a:solidFill>
                  <a:effectLst/>
                  <a:uLnTx/>
                  <a:uFillTx/>
                  <a:latin typeface="Arial"/>
                  <a:ea typeface="微软雅黑 Light"/>
                  <a:cs typeface="+mn-cs"/>
                </a:rPr>
                <a:t>OM</a:t>
              </a:r>
              <a:r>
                <a:rPr kumimoji="1" lang="en-US" altLang="zh-CN" sz="1500" b="0" i="0" u="none" strike="noStrike" kern="1200" cap="none" spc="0" normalizeH="0" baseline="-25000" noProof="0" dirty="0">
                  <a:ln>
                    <a:noFill/>
                  </a:ln>
                  <a:solidFill>
                    <a:srgbClr val="FFFFFF"/>
                  </a:solidFill>
                  <a:effectLst/>
                  <a:uLnTx/>
                  <a:uFillTx/>
                  <a:latin typeface="Arial"/>
                  <a:ea typeface="微软雅黑 Light"/>
                  <a:cs typeface="+mn-cs"/>
                </a:rPr>
                <a:t>0,2,6</a:t>
              </a:r>
              <a:r>
                <a:rPr kumimoji="1" lang="en-US" altLang="zh-CN" sz="1500" b="0" i="0" u="none" strike="noStrike" kern="1200" cap="none" spc="0" normalizeH="0" baseline="0" noProof="0" dirty="0">
                  <a:ln>
                    <a:noFill/>
                  </a:ln>
                  <a:solidFill>
                    <a:srgbClr val="FFFFFF"/>
                  </a:solidFill>
                  <a:effectLst/>
                  <a:uLnTx/>
                  <a:uFillTx/>
                  <a:latin typeface="Arial"/>
                  <a:ea typeface="微软雅黑 Light"/>
                  <a:cs typeface="+mn-cs"/>
                </a:rPr>
                <a:t>(0)</a:t>
              </a:r>
              <a:endParaRPr kumimoji="1" lang="zh-CN" altLang="en-US" sz="1500" b="0" i="0" u="none" strike="noStrike" kern="1200" cap="none" spc="0" normalizeH="0" baseline="0" noProof="0" dirty="0">
                <a:ln>
                  <a:noFill/>
                </a:ln>
                <a:solidFill>
                  <a:srgbClr val="FFFFFF"/>
                </a:solidFill>
                <a:effectLst/>
                <a:uLnTx/>
                <a:uFillTx/>
                <a:latin typeface="Arial"/>
                <a:ea typeface="微软雅黑 Light"/>
                <a:cs typeface="+mn-cs"/>
              </a:endParaRPr>
            </a:p>
          </p:txBody>
        </p:sp>
        <p:cxnSp>
          <p:nvCxnSpPr>
            <p:cNvPr id="22" name="直线箭头连接符 21">
              <a:extLst>
                <a:ext uri="{FF2B5EF4-FFF2-40B4-BE49-F238E27FC236}">
                  <a16:creationId xmlns:a16="http://schemas.microsoft.com/office/drawing/2014/main" id="{0B60EC2F-78B8-434B-B10F-05F390104242}"/>
                </a:ext>
              </a:extLst>
            </p:cNvPr>
            <p:cNvCxnSpPr>
              <a:stCxn id="9" idx="2"/>
            </p:cNvCxnSpPr>
            <p:nvPr/>
          </p:nvCxnSpPr>
          <p:spPr>
            <a:xfrm flipH="1">
              <a:off x="2239975" y="2805455"/>
              <a:ext cx="1868400" cy="852928"/>
            </a:xfrm>
            <a:prstGeom prst="straightConnector1">
              <a:avLst/>
            </a:prstGeom>
            <a:ln w="19050" cap="sq">
              <a:bevel/>
              <a:tailEnd type="triangle" w="lg" len="lg"/>
            </a:ln>
          </p:spPr>
          <p:style>
            <a:lnRef idx="1">
              <a:schemeClr val="accent1"/>
            </a:lnRef>
            <a:fillRef idx="0">
              <a:schemeClr val="accent1"/>
            </a:fillRef>
            <a:effectRef idx="0">
              <a:schemeClr val="accent1"/>
            </a:effectRef>
            <a:fontRef idx="minor">
              <a:schemeClr val="tx1"/>
            </a:fontRef>
          </p:style>
        </p:cxnSp>
        <p:cxnSp>
          <p:nvCxnSpPr>
            <p:cNvPr id="23" name="直线箭头连接符 22">
              <a:extLst>
                <a:ext uri="{FF2B5EF4-FFF2-40B4-BE49-F238E27FC236}">
                  <a16:creationId xmlns:a16="http://schemas.microsoft.com/office/drawing/2014/main" id="{F3FDD33E-72D2-C84B-983A-AC45E4F91A60}"/>
                </a:ext>
              </a:extLst>
            </p:cNvPr>
            <p:cNvCxnSpPr>
              <a:cxnSpLocks/>
              <a:stCxn id="9" idx="2"/>
              <a:endCxn id="16" idx="0"/>
            </p:cNvCxnSpPr>
            <p:nvPr/>
          </p:nvCxnSpPr>
          <p:spPr>
            <a:xfrm flipH="1">
              <a:off x="3653953" y="2805457"/>
              <a:ext cx="454422" cy="852927"/>
            </a:xfrm>
            <a:prstGeom prst="straightConnector1">
              <a:avLst/>
            </a:prstGeom>
            <a:ln w="19050" cap="sq">
              <a:bevel/>
              <a:tailEnd type="triangle" w="lg" len="lg"/>
            </a:ln>
          </p:spPr>
          <p:style>
            <a:lnRef idx="1">
              <a:schemeClr val="accent1"/>
            </a:lnRef>
            <a:fillRef idx="0">
              <a:schemeClr val="accent1"/>
            </a:fillRef>
            <a:effectRef idx="0">
              <a:schemeClr val="accent1"/>
            </a:effectRef>
            <a:fontRef idx="minor">
              <a:schemeClr val="tx1"/>
            </a:fontRef>
          </p:style>
        </p:cxnSp>
        <p:cxnSp>
          <p:nvCxnSpPr>
            <p:cNvPr id="26" name="直线箭头连接符 25">
              <a:extLst>
                <a:ext uri="{FF2B5EF4-FFF2-40B4-BE49-F238E27FC236}">
                  <a16:creationId xmlns:a16="http://schemas.microsoft.com/office/drawing/2014/main" id="{295708BF-56A4-B84B-819A-E04ED0A584D4}"/>
                </a:ext>
              </a:extLst>
            </p:cNvPr>
            <p:cNvCxnSpPr>
              <a:stCxn id="9" idx="2"/>
            </p:cNvCxnSpPr>
            <p:nvPr/>
          </p:nvCxnSpPr>
          <p:spPr>
            <a:xfrm>
              <a:off x="4108377" y="2805455"/>
              <a:ext cx="1868399" cy="843477"/>
            </a:xfrm>
            <a:prstGeom prst="straightConnector1">
              <a:avLst/>
            </a:prstGeom>
            <a:ln w="19050" cap="sq">
              <a:bevel/>
              <a:tailEnd type="triangle" w="lg" len="lg"/>
            </a:ln>
          </p:spPr>
          <p:style>
            <a:lnRef idx="1">
              <a:schemeClr val="accent1"/>
            </a:lnRef>
            <a:fillRef idx="0">
              <a:schemeClr val="accent1"/>
            </a:fillRef>
            <a:effectRef idx="0">
              <a:schemeClr val="accent1"/>
            </a:effectRef>
            <a:fontRef idx="minor">
              <a:schemeClr val="tx1"/>
            </a:fontRef>
          </p:style>
        </p:cxnSp>
        <p:sp>
          <p:nvSpPr>
            <p:cNvPr id="27" name="椭圆 26">
              <a:extLst>
                <a:ext uri="{FF2B5EF4-FFF2-40B4-BE49-F238E27FC236}">
                  <a16:creationId xmlns:a16="http://schemas.microsoft.com/office/drawing/2014/main" id="{15476B75-FE1B-DB4A-9B3E-71B41250A3F1}"/>
                </a:ext>
              </a:extLst>
            </p:cNvPr>
            <p:cNvSpPr/>
            <p:nvPr/>
          </p:nvSpPr>
          <p:spPr>
            <a:xfrm>
              <a:off x="3470857" y="4718630"/>
              <a:ext cx="344417" cy="371912"/>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3</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28" name="椭圆 27">
              <a:extLst>
                <a:ext uri="{FF2B5EF4-FFF2-40B4-BE49-F238E27FC236}">
                  <a16:creationId xmlns:a16="http://schemas.microsoft.com/office/drawing/2014/main" id="{1B01B7DC-FDBF-964B-98C3-766E97C0ABDF}"/>
                </a:ext>
              </a:extLst>
            </p:cNvPr>
            <p:cNvSpPr/>
            <p:nvPr/>
          </p:nvSpPr>
          <p:spPr>
            <a:xfrm>
              <a:off x="2515245" y="5535785"/>
              <a:ext cx="344417" cy="371912"/>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1</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29" name="椭圆 28">
              <a:extLst>
                <a:ext uri="{FF2B5EF4-FFF2-40B4-BE49-F238E27FC236}">
                  <a16:creationId xmlns:a16="http://schemas.microsoft.com/office/drawing/2014/main" id="{19EC50AB-FD9E-F741-A101-C5727B4AF66C}"/>
                </a:ext>
              </a:extLst>
            </p:cNvPr>
            <p:cNvSpPr/>
            <p:nvPr/>
          </p:nvSpPr>
          <p:spPr>
            <a:xfrm>
              <a:off x="3126439" y="5546226"/>
              <a:ext cx="344417" cy="371912"/>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4</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30" name="椭圆 29">
              <a:extLst>
                <a:ext uri="{FF2B5EF4-FFF2-40B4-BE49-F238E27FC236}">
                  <a16:creationId xmlns:a16="http://schemas.microsoft.com/office/drawing/2014/main" id="{BA8A9D34-CF21-9C42-BBE2-94B74950F29B}"/>
                </a:ext>
              </a:extLst>
            </p:cNvPr>
            <p:cNvSpPr/>
            <p:nvPr/>
          </p:nvSpPr>
          <p:spPr>
            <a:xfrm>
              <a:off x="3737634" y="5535784"/>
              <a:ext cx="344417" cy="371912"/>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5</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31" name="椭圆 30">
              <a:extLst>
                <a:ext uri="{FF2B5EF4-FFF2-40B4-BE49-F238E27FC236}">
                  <a16:creationId xmlns:a16="http://schemas.microsoft.com/office/drawing/2014/main" id="{ED68DF03-4F56-E646-A594-691842CC25B3}"/>
                </a:ext>
              </a:extLst>
            </p:cNvPr>
            <p:cNvSpPr/>
            <p:nvPr/>
          </p:nvSpPr>
          <p:spPr>
            <a:xfrm>
              <a:off x="4343439" y="5567439"/>
              <a:ext cx="344417" cy="371912"/>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6</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32" name="矩形 31">
              <a:extLst>
                <a:ext uri="{FF2B5EF4-FFF2-40B4-BE49-F238E27FC236}">
                  <a16:creationId xmlns:a16="http://schemas.microsoft.com/office/drawing/2014/main" id="{83DC5423-C1CC-A940-B6D5-63BCEFD72396}"/>
                </a:ext>
              </a:extLst>
            </p:cNvPr>
            <p:cNvSpPr/>
            <p:nvPr/>
          </p:nvSpPr>
          <p:spPr>
            <a:xfrm>
              <a:off x="2244413" y="4565548"/>
              <a:ext cx="2819078" cy="1635485"/>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FFFFFF"/>
                </a:solidFill>
                <a:effectLst/>
                <a:uLnTx/>
                <a:uFillTx/>
                <a:latin typeface="Arial"/>
                <a:ea typeface="微软雅黑 Light"/>
                <a:cs typeface="+mn-cs"/>
              </a:endParaRPr>
            </a:p>
          </p:txBody>
        </p:sp>
        <p:cxnSp>
          <p:nvCxnSpPr>
            <p:cNvPr id="33" name="直线连接符 32">
              <a:extLst>
                <a:ext uri="{FF2B5EF4-FFF2-40B4-BE49-F238E27FC236}">
                  <a16:creationId xmlns:a16="http://schemas.microsoft.com/office/drawing/2014/main" id="{50A79C49-7A9F-6748-AB5B-E718F2934CF7}"/>
                </a:ext>
              </a:extLst>
            </p:cNvPr>
            <p:cNvCxnSpPr>
              <a:stCxn id="16" idx="2"/>
              <a:endCxn id="32" idx="0"/>
            </p:cNvCxnSpPr>
            <p:nvPr/>
          </p:nvCxnSpPr>
          <p:spPr>
            <a:xfrm>
              <a:off x="3653952" y="4061109"/>
              <a:ext cx="0" cy="50443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4" name="直线箭头连接符 33">
              <a:extLst>
                <a:ext uri="{FF2B5EF4-FFF2-40B4-BE49-F238E27FC236}">
                  <a16:creationId xmlns:a16="http://schemas.microsoft.com/office/drawing/2014/main" id="{09D79BE2-3950-7146-A3B6-91C9356D2E47}"/>
                </a:ext>
              </a:extLst>
            </p:cNvPr>
            <p:cNvCxnSpPr>
              <a:stCxn id="27" idx="3"/>
              <a:endCxn id="28" idx="7"/>
            </p:cNvCxnSpPr>
            <p:nvPr/>
          </p:nvCxnSpPr>
          <p:spPr>
            <a:xfrm flipH="1">
              <a:off x="2809223" y="5036077"/>
              <a:ext cx="712073" cy="5541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线箭头连接符 34">
              <a:extLst>
                <a:ext uri="{FF2B5EF4-FFF2-40B4-BE49-F238E27FC236}">
                  <a16:creationId xmlns:a16="http://schemas.microsoft.com/office/drawing/2014/main" id="{DE4E6135-C551-254B-ADFC-93061F4285AB}"/>
                </a:ext>
              </a:extLst>
            </p:cNvPr>
            <p:cNvCxnSpPr>
              <a:stCxn id="27" idx="4"/>
              <a:endCxn id="29" idx="0"/>
            </p:cNvCxnSpPr>
            <p:nvPr/>
          </p:nvCxnSpPr>
          <p:spPr>
            <a:xfrm flipH="1">
              <a:off x="3298649" y="5090542"/>
              <a:ext cx="344417" cy="4556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直线箭头连接符 35">
              <a:extLst>
                <a:ext uri="{FF2B5EF4-FFF2-40B4-BE49-F238E27FC236}">
                  <a16:creationId xmlns:a16="http://schemas.microsoft.com/office/drawing/2014/main" id="{62490117-E253-754A-A7FE-843C8C109C96}"/>
                </a:ext>
              </a:extLst>
            </p:cNvPr>
            <p:cNvCxnSpPr>
              <a:stCxn id="27" idx="4"/>
              <a:endCxn id="30" idx="0"/>
            </p:cNvCxnSpPr>
            <p:nvPr/>
          </p:nvCxnSpPr>
          <p:spPr>
            <a:xfrm>
              <a:off x="3643066" y="5090542"/>
              <a:ext cx="266777" cy="4452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直线箭头连接符 36">
              <a:extLst>
                <a:ext uri="{FF2B5EF4-FFF2-40B4-BE49-F238E27FC236}">
                  <a16:creationId xmlns:a16="http://schemas.microsoft.com/office/drawing/2014/main" id="{E13BA27A-1DA9-0E4C-80E6-B05E7FFA92AA}"/>
                </a:ext>
              </a:extLst>
            </p:cNvPr>
            <p:cNvCxnSpPr>
              <a:stCxn id="27" idx="5"/>
              <a:endCxn id="31" idx="0"/>
            </p:cNvCxnSpPr>
            <p:nvPr/>
          </p:nvCxnSpPr>
          <p:spPr>
            <a:xfrm>
              <a:off x="3764836" y="5036077"/>
              <a:ext cx="750812" cy="5313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矩形 37">
              <a:extLst>
                <a:ext uri="{FF2B5EF4-FFF2-40B4-BE49-F238E27FC236}">
                  <a16:creationId xmlns:a16="http://schemas.microsoft.com/office/drawing/2014/main" id="{C7A33F76-A41E-D947-8702-6FCD600232E2}"/>
                </a:ext>
              </a:extLst>
            </p:cNvPr>
            <p:cNvSpPr/>
            <p:nvPr/>
          </p:nvSpPr>
          <p:spPr>
            <a:xfrm>
              <a:off x="1007390" y="3444729"/>
              <a:ext cx="6201972" cy="868599"/>
            </a:xfrm>
            <a:prstGeom prst="rect">
              <a:avLst/>
            </a:prstGeom>
            <a:noFill/>
            <a:ln w="19050">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500" b="0" i="0" u="none" strike="noStrike" kern="1200" cap="none" spc="0" normalizeH="0" baseline="0" noProof="0">
                <a:ln>
                  <a:noFill/>
                </a:ln>
                <a:solidFill>
                  <a:srgbClr val="FFFFFF"/>
                </a:solidFill>
                <a:effectLst/>
                <a:uLnTx/>
                <a:uFillTx/>
                <a:latin typeface="Arial"/>
                <a:ea typeface="微软雅黑 Light"/>
                <a:cs typeface="+mn-cs"/>
              </a:endParaRPr>
            </a:p>
          </p:txBody>
        </p:sp>
        <p:sp>
          <p:nvSpPr>
            <p:cNvPr id="39" name="椭圆 38">
              <a:extLst>
                <a:ext uri="{FF2B5EF4-FFF2-40B4-BE49-F238E27FC236}">
                  <a16:creationId xmlns:a16="http://schemas.microsoft.com/office/drawing/2014/main" id="{3968BB5A-EEDB-8A45-8263-2492073F1E15}"/>
                </a:ext>
              </a:extLst>
            </p:cNvPr>
            <p:cNvSpPr/>
            <p:nvPr/>
          </p:nvSpPr>
          <p:spPr>
            <a:xfrm>
              <a:off x="8486965" y="4735635"/>
              <a:ext cx="344417" cy="371912"/>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3</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40" name="椭圆 39">
              <a:extLst>
                <a:ext uri="{FF2B5EF4-FFF2-40B4-BE49-F238E27FC236}">
                  <a16:creationId xmlns:a16="http://schemas.microsoft.com/office/drawing/2014/main" id="{62E2F7F4-BE11-AC40-94DC-AA9A46588068}"/>
                </a:ext>
              </a:extLst>
            </p:cNvPr>
            <p:cNvSpPr/>
            <p:nvPr/>
          </p:nvSpPr>
          <p:spPr>
            <a:xfrm>
              <a:off x="8142547" y="6027817"/>
              <a:ext cx="344417" cy="371912"/>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6</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41" name="椭圆 40">
              <a:extLst>
                <a:ext uri="{FF2B5EF4-FFF2-40B4-BE49-F238E27FC236}">
                  <a16:creationId xmlns:a16="http://schemas.microsoft.com/office/drawing/2014/main" id="{F30F3964-50E8-F24C-82DF-18C0DA6E4525}"/>
                </a:ext>
              </a:extLst>
            </p:cNvPr>
            <p:cNvSpPr/>
            <p:nvPr/>
          </p:nvSpPr>
          <p:spPr>
            <a:xfrm>
              <a:off x="8831382" y="6027817"/>
              <a:ext cx="344417" cy="371912"/>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5</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42" name="椭圆 41">
              <a:extLst>
                <a:ext uri="{FF2B5EF4-FFF2-40B4-BE49-F238E27FC236}">
                  <a16:creationId xmlns:a16="http://schemas.microsoft.com/office/drawing/2014/main" id="{3778828D-D3F8-F346-96C7-05060E74E0E2}"/>
                </a:ext>
              </a:extLst>
            </p:cNvPr>
            <p:cNvSpPr/>
            <p:nvPr/>
          </p:nvSpPr>
          <p:spPr>
            <a:xfrm>
              <a:off x="9264129" y="5235341"/>
              <a:ext cx="344417" cy="371912"/>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4</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43" name="椭圆 42">
              <a:extLst>
                <a:ext uri="{FF2B5EF4-FFF2-40B4-BE49-F238E27FC236}">
                  <a16:creationId xmlns:a16="http://schemas.microsoft.com/office/drawing/2014/main" id="{0C890F11-B8BF-5648-A197-30EB0E5F74C6}"/>
                </a:ext>
              </a:extLst>
            </p:cNvPr>
            <p:cNvSpPr/>
            <p:nvPr/>
          </p:nvSpPr>
          <p:spPr>
            <a:xfrm>
              <a:off x="7782055" y="5235341"/>
              <a:ext cx="344417" cy="371912"/>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1</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cxnSp>
          <p:nvCxnSpPr>
            <p:cNvPr id="44" name="直线连接符 43">
              <a:extLst>
                <a:ext uri="{FF2B5EF4-FFF2-40B4-BE49-F238E27FC236}">
                  <a16:creationId xmlns:a16="http://schemas.microsoft.com/office/drawing/2014/main" id="{4146D97C-757C-C24A-B58F-CD5180770A2E}"/>
                </a:ext>
              </a:extLst>
            </p:cNvPr>
            <p:cNvCxnSpPr>
              <a:stCxn id="39" idx="3"/>
              <a:endCxn id="43" idx="7"/>
            </p:cNvCxnSpPr>
            <p:nvPr/>
          </p:nvCxnSpPr>
          <p:spPr>
            <a:xfrm flipH="1">
              <a:off x="8076034" y="5053082"/>
              <a:ext cx="461370" cy="236723"/>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直线连接符 44">
              <a:extLst>
                <a:ext uri="{FF2B5EF4-FFF2-40B4-BE49-F238E27FC236}">
                  <a16:creationId xmlns:a16="http://schemas.microsoft.com/office/drawing/2014/main" id="{77DB2C28-8BE1-854C-A259-952D2B025A3A}"/>
                </a:ext>
              </a:extLst>
            </p:cNvPr>
            <p:cNvCxnSpPr>
              <a:stCxn id="40" idx="1"/>
              <a:endCxn id="43" idx="4"/>
            </p:cNvCxnSpPr>
            <p:nvPr/>
          </p:nvCxnSpPr>
          <p:spPr>
            <a:xfrm flipH="1" flipV="1">
              <a:off x="7954264" y="5607253"/>
              <a:ext cx="238722" cy="475029"/>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直线连接符 45">
              <a:extLst>
                <a:ext uri="{FF2B5EF4-FFF2-40B4-BE49-F238E27FC236}">
                  <a16:creationId xmlns:a16="http://schemas.microsoft.com/office/drawing/2014/main" id="{DC97640F-BFC0-0948-8314-D50FF68322E5}"/>
                </a:ext>
              </a:extLst>
            </p:cNvPr>
            <p:cNvCxnSpPr>
              <a:stCxn id="41" idx="7"/>
              <a:endCxn id="42" idx="4"/>
            </p:cNvCxnSpPr>
            <p:nvPr/>
          </p:nvCxnSpPr>
          <p:spPr>
            <a:xfrm flipV="1">
              <a:off x="9125360" y="5607253"/>
              <a:ext cx="310977" cy="475029"/>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直线连接符 46">
              <a:extLst>
                <a:ext uri="{FF2B5EF4-FFF2-40B4-BE49-F238E27FC236}">
                  <a16:creationId xmlns:a16="http://schemas.microsoft.com/office/drawing/2014/main" id="{BBF95E05-E52D-2F46-A42C-D096754CE3F0}"/>
                </a:ext>
              </a:extLst>
            </p:cNvPr>
            <p:cNvCxnSpPr>
              <a:stCxn id="42" idx="1"/>
              <a:endCxn id="39" idx="5"/>
            </p:cNvCxnSpPr>
            <p:nvPr/>
          </p:nvCxnSpPr>
          <p:spPr>
            <a:xfrm flipH="1" flipV="1">
              <a:off x="8780944" y="5053082"/>
              <a:ext cx="533625" cy="236723"/>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直线连接符 47">
              <a:extLst>
                <a:ext uri="{FF2B5EF4-FFF2-40B4-BE49-F238E27FC236}">
                  <a16:creationId xmlns:a16="http://schemas.microsoft.com/office/drawing/2014/main" id="{8A4F46A3-6763-364E-B7C5-85B1B56FEAFA}"/>
                </a:ext>
              </a:extLst>
            </p:cNvPr>
            <p:cNvCxnSpPr>
              <a:stCxn id="41" idx="2"/>
              <a:endCxn id="40" idx="6"/>
            </p:cNvCxnSpPr>
            <p:nvPr/>
          </p:nvCxnSpPr>
          <p:spPr>
            <a:xfrm flipH="1">
              <a:off x="8486965" y="6213774"/>
              <a:ext cx="34441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直线连接符 48">
              <a:extLst>
                <a:ext uri="{FF2B5EF4-FFF2-40B4-BE49-F238E27FC236}">
                  <a16:creationId xmlns:a16="http://schemas.microsoft.com/office/drawing/2014/main" id="{BEFC5716-A0FF-7045-ADA9-EA2B008ECE24}"/>
                </a:ext>
              </a:extLst>
            </p:cNvPr>
            <p:cNvCxnSpPr>
              <a:stCxn id="42" idx="2"/>
              <a:endCxn id="43" idx="6"/>
            </p:cNvCxnSpPr>
            <p:nvPr/>
          </p:nvCxnSpPr>
          <p:spPr>
            <a:xfrm flipH="1">
              <a:off x="8126473" y="5421297"/>
              <a:ext cx="113765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直线连接符 49">
              <a:extLst>
                <a:ext uri="{FF2B5EF4-FFF2-40B4-BE49-F238E27FC236}">
                  <a16:creationId xmlns:a16="http://schemas.microsoft.com/office/drawing/2014/main" id="{0BEF437B-4DDC-C94C-BCF4-4CE2E326967C}"/>
                </a:ext>
              </a:extLst>
            </p:cNvPr>
            <p:cNvCxnSpPr>
              <a:stCxn id="42" idx="3"/>
              <a:endCxn id="40" idx="7"/>
            </p:cNvCxnSpPr>
            <p:nvPr/>
          </p:nvCxnSpPr>
          <p:spPr>
            <a:xfrm flipH="1">
              <a:off x="8436526" y="5552788"/>
              <a:ext cx="878041" cy="529494"/>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直线连接符 50">
              <a:extLst>
                <a:ext uri="{FF2B5EF4-FFF2-40B4-BE49-F238E27FC236}">
                  <a16:creationId xmlns:a16="http://schemas.microsoft.com/office/drawing/2014/main" id="{53CB071C-F3AD-F24A-B44F-258A019246EE}"/>
                </a:ext>
              </a:extLst>
            </p:cNvPr>
            <p:cNvCxnSpPr>
              <a:stCxn id="43" idx="5"/>
              <a:endCxn id="41" idx="1"/>
            </p:cNvCxnSpPr>
            <p:nvPr/>
          </p:nvCxnSpPr>
          <p:spPr>
            <a:xfrm>
              <a:off x="8076034" y="5552788"/>
              <a:ext cx="805788" cy="529494"/>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直线连接符 51">
              <a:extLst>
                <a:ext uri="{FF2B5EF4-FFF2-40B4-BE49-F238E27FC236}">
                  <a16:creationId xmlns:a16="http://schemas.microsoft.com/office/drawing/2014/main" id="{DC312C6B-1D37-504F-AD3B-6967E0F116B3}"/>
                </a:ext>
              </a:extLst>
            </p:cNvPr>
            <p:cNvCxnSpPr>
              <a:stCxn id="39" idx="4"/>
              <a:endCxn id="40" idx="0"/>
            </p:cNvCxnSpPr>
            <p:nvPr/>
          </p:nvCxnSpPr>
          <p:spPr>
            <a:xfrm flipH="1">
              <a:off x="8314757" y="5107547"/>
              <a:ext cx="344417" cy="92027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直线连接符 52">
              <a:extLst>
                <a:ext uri="{FF2B5EF4-FFF2-40B4-BE49-F238E27FC236}">
                  <a16:creationId xmlns:a16="http://schemas.microsoft.com/office/drawing/2014/main" id="{63B479AE-9D2D-AE48-9794-26DC3B7D1F7C}"/>
                </a:ext>
              </a:extLst>
            </p:cNvPr>
            <p:cNvCxnSpPr>
              <a:stCxn id="39" idx="4"/>
              <a:endCxn id="41" idx="0"/>
            </p:cNvCxnSpPr>
            <p:nvPr/>
          </p:nvCxnSpPr>
          <p:spPr>
            <a:xfrm>
              <a:off x="8659174" y="5107547"/>
              <a:ext cx="344417" cy="920270"/>
            </a:xfrm>
            <a:prstGeom prst="line">
              <a:avLst/>
            </a:prstGeom>
          </p:spPr>
          <p:style>
            <a:lnRef idx="1">
              <a:schemeClr val="accent1"/>
            </a:lnRef>
            <a:fillRef idx="0">
              <a:schemeClr val="accent1"/>
            </a:fillRef>
            <a:effectRef idx="0">
              <a:schemeClr val="accent1"/>
            </a:effectRef>
            <a:fontRef idx="minor">
              <a:schemeClr val="tx1"/>
            </a:fontRef>
          </p:style>
        </p:cxnSp>
        <p:sp>
          <p:nvSpPr>
            <p:cNvPr id="54" name="矩形 53">
              <a:extLst>
                <a:ext uri="{FF2B5EF4-FFF2-40B4-BE49-F238E27FC236}">
                  <a16:creationId xmlns:a16="http://schemas.microsoft.com/office/drawing/2014/main" id="{5C795E10-3575-F14C-9083-9720576160B1}"/>
                </a:ext>
              </a:extLst>
            </p:cNvPr>
            <p:cNvSpPr/>
            <p:nvPr/>
          </p:nvSpPr>
          <p:spPr>
            <a:xfrm>
              <a:off x="7531542" y="4576280"/>
              <a:ext cx="2255263" cy="1939894"/>
            </a:xfrm>
            <a:prstGeom prst="rect">
              <a:avLst/>
            </a:prstGeom>
            <a:noFill/>
            <a:ln w="19050">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FFFFFF"/>
                </a:solidFill>
                <a:effectLst/>
                <a:uLnTx/>
                <a:uFillTx/>
                <a:latin typeface="Arial"/>
                <a:ea typeface="微软雅黑 Light"/>
                <a:cs typeface="+mn-cs"/>
              </a:endParaRPr>
            </a:p>
          </p:txBody>
        </p:sp>
        <p:cxnSp>
          <p:nvCxnSpPr>
            <p:cNvPr id="55" name="肘形连接符 54">
              <a:extLst>
                <a:ext uri="{FF2B5EF4-FFF2-40B4-BE49-F238E27FC236}">
                  <a16:creationId xmlns:a16="http://schemas.microsoft.com/office/drawing/2014/main" id="{59838833-26A3-B641-BAB5-799235848848}"/>
                </a:ext>
              </a:extLst>
            </p:cNvPr>
            <p:cNvCxnSpPr>
              <a:stCxn id="38" idx="3"/>
              <a:endCxn id="54" idx="0"/>
            </p:cNvCxnSpPr>
            <p:nvPr/>
          </p:nvCxnSpPr>
          <p:spPr>
            <a:xfrm>
              <a:off x="7209362" y="3879029"/>
              <a:ext cx="1449812" cy="697251"/>
            </a:xfrm>
            <a:prstGeom prst="bentConnector2">
              <a:avLst/>
            </a:prstGeom>
            <a:ln w="12700"/>
          </p:spPr>
          <p:style>
            <a:lnRef idx="1">
              <a:schemeClr val="accent1"/>
            </a:lnRef>
            <a:fillRef idx="0">
              <a:schemeClr val="accent1"/>
            </a:fillRef>
            <a:effectRef idx="0">
              <a:schemeClr val="accent1"/>
            </a:effectRef>
            <a:fontRef idx="minor">
              <a:schemeClr val="tx1"/>
            </a:fontRef>
          </p:style>
        </p:cxnSp>
        <p:sp>
          <p:nvSpPr>
            <p:cNvPr id="56" name="文本框 55">
              <a:extLst>
                <a:ext uri="{FF2B5EF4-FFF2-40B4-BE49-F238E27FC236}">
                  <a16:creationId xmlns:a16="http://schemas.microsoft.com/office/drawing/2014/main" id="{E2F4A54B-14F5-FD45-8B6F-1D762EAD715C}"/>
                </a:ext>
              </a:extLst>
            </p:cNvPr>
            <p:cNvSpPr txBox="1"/>
            <p:nvPr/>
          </p:nvSpPr>
          <p:spPr>
            <a:xfrm>
              <a:off x="2888997" y="6390808"/>
              <a:ext cx="1432719" cy="4671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信息分發</a:t>
              </a:r>
            </a:p>
          </p:txBody>
        </p:sp>
        <p:sp>
          <p:nvSpPr>
            <p:cNvPr id="57" name="文本框 56">
              <a:extLst>
                <a:ext uri="{FF2B5EF4-FFF2-40B4-BE49-F238E27FC236}">
                  <a16:creationId xmlns:a16="http://schemas.microsoft.com/office/drawing/2014/main" id="{238540E0-13A0-D346-8337-77B75CF48903}"/>
                </a:ext>
              </a:extLst>
            </p:cNvPr>
            <p:cNvSpPr txBox="1"/>
            <p:nvPr/>
          </p:nvSpPr>
          <p:spPr>
            <a:xfrm>
              <a:off x="6044789" y="5431649"/>
              <a:ext cx="1432719" cy="4671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信息互換</a:t>
              </a:r>
            </a:p>
          </p:txBody>
        </p:sp>
        <p:sp>
          <p:nvSpPr>
            <p:cNvPr id="58" name="矩形 57">
              <a:extLst>
                <a:ext uri="{FF2B5EF4-FFF2-40B4-BE49-F238E27FC236}">
                  <a16:creationId xmlns:a16="http://schemas.microsoft.com/office/drawing/2014/main" id="{D396D259-D53F-6047-B0B6-2AF6B70C7A59}"/>
                </a:ext>
              </a:extLst>
            </p:cNvPr>
            <p:cNvSpPr/>
            <p:nvPr/>
          </p:nvSpPr>
          <p:spPr>
            <a:xfrm>
              <a:off x="4342693" y="3592866"/>
              <a:ext cx="1369266" cy="4027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mr-IN" altLang="zh-CN" sz="2000" b="1" i="0" u="none" strike="noStrike" kern="1200" cap="none" spc="0" normalizeH="0" baseline="0" noProof="0" dirty="0">
                  <a:ln>
                    <a:noFill/>
                  </a:ln>
                  <a:solidFill>
                    <a:srgbClr val="000000"/>
                  </a:solidFill>
                  <a:effectLst/>
                  <a:uLnTx/>
                  <a:uFillTx/>
                  <a:latin typeface="Arial"/>
                  <a:ea typeface="微软雅黑 Light"/>
                  <a:cs typeface="+mn-cs"/>
                </a:rPr>
                <a:t>……</a:t>
              </a:r>
              <a:endParaRPr kumimoji="1" lang="zh-CN" altLang="en-US" sz="2000" b="1" i="0" u="none" strike="noStrike" kern="1200" cap="none" spc="0" normalizeH="0" baseline="0" noProof="0" dirty="0">
                <a:ln>
                  <a:noFill/>
                </a:ln>
                <a:solidFill>
                  <a:srgbClr val="000000"/>
                </a:solidFill>
                <a:effectLst/>
                <a:uLnTx/>
                <a:uFillTx/>
                <a:latin typeface="Arial"/>
                <a:ea typeface="微软雅黑 Light"/>
                <a:cs typeface="+mn-cs"/>
              </a:endParaRPr>
            </a:p>
          </p:txBody>
        </p:sp>
      </p:grpSp>
      <p:sp>
        <p:nvSpPr>
          <p:cNvPr id="59" name="内容占位符 2">
            <a:extLst>
              <a:ext uri="{FF2B5EF4-FFF2-40B4-BE49-F238E27FC236}">
                <a16:creationId xmlns:a16="http://schemas.microsoft.com/office/drawing/2014/main" id="{EFFAC223-0229-4EE0-B03B-1B1DE2D497F2}"/>
              </a:ext>
            </a:extLst>
          </p:cNvPr>
          <p:cNvSpPr txBox="1"/>
          <p:nvPr/>
        </p:nvSpPr>
        <p:spPr>
          <a:xfrm>
            <a:off x="173594" y="1182742"/>
            <a:ext cx="2929943" cy="5409175"/>
          </a:xfrm>
          <a:prstGeom prst="rect">
            <a:avLst/>
          </a:prstGeom>
          <a:ln>
            <a:solidFill>
              <a:srgbClr val="00B0F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spcBef>
                <a:spcPts val="0"/>
              </a:spcBef>
              <a:defRPr/>
            </a:pPr>
            <a:r>
              <a:rPr kumimoji="1" lang="en-US" altLang="zh-CN" sz="2200" dirty="0">
                <a:latin typeface="Microsoft YaHei" panose="020B0503020204020204" pitchFamily="34" charset="-122"/>
                <a:ea typeface="Microsoft YaHei" panose="020B0503020204020204" pitchFamily="34" charset="-122"/>
              </a:rPr>
              <a:t>OM(2)</a:t>
            </a:r>
            <a:r>
              <a:rPr kumimoji="1" lang="zh-CN" altLang="en-US" sz="2200" dirty="0">
                <a:latin typeface="Microsoft YaHei" panose="020B0503020204020204" pitchFamily="34" charset="-122"/>
                <a:ea typeface="Microsoft YaHei" panose="020B0503020204020204" pitchFamily="34" charset="-122"/>
              </a:rPr>
              <a:t>：將軍</a:t>
            </a:r>
            <a:r>
              <a:rPr kumimoji="1" lang="en-US" altLang="zh-CN" sz="2200" dirty="0">
                <a:latin typeface="Microsoft YaHei" panose="020B0503020204020204" pitchFamily="34" charset="-122"/>
                <a:ea typeface="Microsoft YaHei" panose="020B0503020204020204" pitchFamily="34" charset="-122"/>
              </a:rPr>
              <a:t>0</a:t>
            </a:r>
            <a:r>
              <a:rPr kumimoji="1" lang="zh-CN" altLang="en-US" sz="2200" dirty="0">
                <a:latin typeface="Microsoft YaHei" panose="020B0503020204020204" pitchFamily="34" charset="-122"/>
                <a:ea typeface="Microsoft YaHei" panose="020B0503020204020204" pitchFamily="34" charset="-122"/>
              </a:rPr>
              <a:t>將消息發送給副官</a:t>
            </a:r>
            <a:r>
              <a:rPr kumimoji="1" lang="en-US" altLang="zh-CN" sz="2200" dirty="0">
                <a:latin typeface="Microsoft YaHei" panose="020B0503020204020204" pitchFamily="34" charset="-122"/>
                <a:ea typeface="Microsoft YaHei" panose="020B0503020204020204" pitchFamily="34" charset="-122"/>
              </a:rPr>
              <a:t>1~6</a:t>
            </a:r>
          </a:p>
          <a:p>
            <a:pPr algn="just">
              <a:lnSpc>
                <a:spcPct val="120000"/>
              </a:lnSpc>
              <a:spcBef>
                <a:spcPts val="0"/>
              </a:spcBef>
              <a:defRPr/>
            </a:pPr>
            <a:r>
              <a:rPr kumimoji="1" lang="en-US" altLang="zh-CN" sz="2200" dirty="0">
                <a:latin typeface="Microsoft YaHei" panose="020B0503020204020204" pitchFamily="34" charset="-122"/>
                <a:ea typeface="Microsoft YaHei" panose="020B0503020204020204" pitchFamily="34" charset="-122"/>
              </a:rPr>
              <a:t>OM(2)</a:t>
            </a:r>
            <a:r>
              <a:rPr kumimoji="1" lang="zh-CN" altLang="en-US" sz="2200" dirty="0">
                <a:latin typeface="Microsoft YaHei" panose="020B0503020204020204" pitchFamily="34" charset="-122"/>
                <a:ea typeface="Microsoft YaHei" panose="020B0503020204020204" pitchFamily="34" charset="-122"/>
              </a:rPr>
              <a:t>算法是爲了</a:t>
            </a:r>
            <a:r>
              <a:rPr kumimoji="1" lang="en-US" altLang="zh-CN" sz="2200" dirty="0">
                <a:latin typeface="Microsoft YaHei" panose="020B0503020204020204" pitchFamily="34" charset="-122"/>
                <a:ea typeface="Microsoft YaHei" panose="020B0503020204020204" pitchFamily="34" charset="-122"/>
              </a:rPr>
              <a:t>0~6</a:t>
            </a:r>
            <a:r>
              <a:rPr kumimoji="1" lang="zh-CN" altLang="en-US" sz="2200" dirty="0">
                <a:latin typeface="Microsoft YaHei" panose="020B0503020204020204" pitchFamily="34" charset="-122"/>
                <a:ea typeface="Microsoft YaHei" panose="020B0503020204020204" pitchFamily="34" charset="-122"/>
              </a:rPr>
              <a:t>之間的一致</a:t>
            </a:r>
            <a:endParaRPr kumimoji="1" lang="en-US" altLang="zh-CN" sz="2200" dirty="0">
              <a:latin typeface="Microsoft YaHei" panose="020B0503020204020204" pitchFamily="34" charset="-122"/>
              <a:ea typeface="Microsoft YaHei" panose="020B0503020204020204" pitchFamily="34" charset="-122"/>
            </a:endParaRPr>
          </a:p>
          <a:p>
            <a:pPr marL="228600" marR="0" lvl="0" indent="-228600" algn="just" defTabSz="914400" rtl="0" eaLnBrk="1" fontAlgn="auto" latinLnBrk="0" hangingPunct="1">
              <a:lnSpc>
                <a:spcPts val="3600"/>
              </a:lnSpc>
              <a:spcBef>
                <a:spcPts val="600"/>
              </a:spcBef>
              <a:spcAft>
                <a:spcPts val="600"/>
              </a:spcAft>
              <a:buClrTx/>
              <a:buSzTx/>
              <a:buFont typeface="Arial" panose="020B0604020202020204" pitchFamily="34" charset="0"/>
              <a:buChar char="•"/>
              <a:tabLst/>
              <a:defRPr/>
            </a:pPr>
            <a:endPar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endParaRPr>
          </a:p>
          <a:p>
            <a:pPr algn="just">
              <a:lnSpc>
                <a:spcPct val="120000"/>
              </a:lnSpc>
              <a:spcBef>
                <a:spcPts val="0"/>
              </a:spcBef>
              <a:defRPr/>
            </a:pPr>
            <a:r>
              <a:rPr kumimoji="1" lang="en-US" altLang="zh-CN" sz="2200" dirty="0">
                <a:latin typeface="Microsoft YaHei" panose="020B0503020204020204" pitchFamily="34" charset="-122"/>
                <a:ea typeface="Microsoft YaHei" panose="020B0503020204020204" pitchFamily="34" charset="-122"/>
              </a:rPr>
              <a:t>OM(1)</a:t>
            </a:r>
            <a:r>
              <a:rPr kumimoji="1" lang="zh-CN" altLang="en-US" sz="2200" dirty="0">
                <a:latin typeface="Microsoft YaHei" panose="020B0503020204020204" pitchFamily="34" charset="-122"/>
                <a:ea typeface="Microsoft YaHei" panose="020B0503020204020204" pitchFamily="34" charset="-122"/>
              </a:rPr>
              <a:t>本質上是某節點完成一次信息的廣播後，剩餘節點對收到的消息進行互換</a:t>
            </a:r>
            <a:endParaRPr kumimoji="1" lang="en-US" altLang="zh-CN" sz="2200" dirty="0">
              <a:latin typeface="Microsoft YaHei" panose="020B0503020204020204" pitchFamily="34" charset="-122"/>
              <a:ea typeface="Microsoft YaHei" panose="020B0503020204020204" pitchFamily="34" charset="-122"/>
            </a:endParaRPr>
          </a:p>
          <a:p>
            <a:pPr marR="0" lvl="0" algn="just">
              <a:spcBef>
                <a:spcPts val="0"/>
              </a:spcBef>
              <a:buClrTx/>
              <a:buSzTx/>
              <a:tabLst/>
              <a:defRPr/>
            </a:pPr>
            <a:endParaRPr kumimoji="1" lang="en-US" altLang="zh-CN" sz="2200" dirty="0">
              <a:latin typeface="Microsoft YaHei" panose="020B0503020204020204" pitchFamily="34" charset="-122"/>
              <a:ea typeface="Microsoft YaHei" panose="020B0503020204020204" pitchFamily="34" charset="-122"/>
            </a:endParaRPr>
          </a:p>
          <a:p>
            <a:pPr marR="0" lvl="0" algn="just">
              <a:spcBef>
                <a:spcPts val="0"/>
              </a:spcBef>
              <a:buClrTx/>
              <a:buSzTx/>
              <a:tabLst/>
              <a:defRPr/>
            </a:pPr>
            <a:endParaRPr kumimoji="1" lang="en-US" altLang="zh-CN" sz="2200" dirty="0">
              <a:latin typeface="Microsoft YaHei" panose="020B0503020204020204" pitchFamily="34" charset="-122"/>
              <a:ea typeface="Microsoft YaHei" panose="020B0503020204020204" pitchFamily="34" charset="-122"/>
            </a:endParaRPr>
          </a:p>
          <a:p>
            <a:pPr marR="0" lvl="0" algn="just">
              <a:lnSpc>
                <a:spcPct val="120000"/>
              </a:lnSpc>
              <a:spcBef>
                <a:spcPts val="0"/>
              </a:spcBef>
              <a:buClrTx/>
              <a:buSzTx/>
              <a:tabLst/>
              <a:defRPr/>
            </a:pPr>
            <a:r>
              <a:rPr kumimoji="1" lang="en-US" altLang="zh-CN" sz="2200" dirty="0">
                <a:latin typeface="Microsoft YaHei" panose="020B0503020204020204" pitchFamily="34" charset="-122"/>
                <a:ea typeface="Microsoft YaHei" panose="020B0503020204020204" pitchFamily="34" charset="-122"/>
              </a:rPr>
              <a:t>OM(0)</a:t>
            </a:r>
            <a:r>
              <a:rPr kumimoji="1" lang="zh-CN" altLang="en-US" sz="2200" dirty="0">
                <a:latin typeface="Microsoft YaHei" panose="020B0503020204020204" pitchFamily="34" charset="-122"/>
                <a:ea typeface="Microsoft YaHei" panose="020B0503020204020204" pitchFamily="34" charset="-122"/>
              </a:rPr>
              <a:t>本質上是完成一次信息的廣播</a:t>
            </a:r>
            <a:endParaRPr kumimoji="1" lang="en-US" altLang="zh-CN" sz="2200" dirty="0">
              <a:latin typeface="Microsoft YaHei" panose="020B0503020204020204" pitchFamily="34" charset="-122"/>
              <a:ea typeface="Microsoft YaHei" panose="020B0503020204020204" pitchFamily="34" charset="-122"/>
            </a:endParaRPr>
          </a:p>
          <a:p>
            <a:pPr marL="228600" marR="0" lvl="0" indent="-228600" algn="just" defTabSz="914400" rtl="0" eaLnBrk="1" fontAlgn="auto" latinLnBrk="0" hangingPunct="1">
              <a:lnSpc>
                <a:spcPts val="3600"/>
              </a:lnSpc>
              <a:spcBef>
                <a:spcPts val="600"/>
              </a:spcBef>
              <a:spcAft>
                <a:spcPts val="600"/>
              </a:spcAft>
              <a:buClrTx/>
              <a:buSzTx/>
              <a:buFont typeface="Arial" panose="020B0604020202020204" pitchFamily="34" charset="0"/>
              <a:buChar char="•"/>
              <a:tabLst/>
              <a:defRPr/>
            </a:pPr>
            <a:endPar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endParaRPr>
          </a:p>
          <a:p>
            <a:pPr marL="228600" marR="0" lvl="0" indent="-228600" algn="just" defTabSz="914400" rtl="0" eaLnBrk="1" fontAlgn="auto" latinLnBrk="0" hangingPunct="1">
              <a:lnSpc>
                <a:spcPts val="3600"/>
              </a:lnSpc>
              <a:spcBef>
                <a:spcPts val="600"/>
              </a:spcBef>
              <a:spcAft>
                <a:spcPts val="600"/>
              </a:spcAft>
              <a:buClrTx/>
              <a:buSzTx/>
              <a:buFont typeface="Arial" panose="020B0604020202020204" pitchFamily="34" charset="0"/>
              <a:buChar char="•"/>
              <a:tabLst/>
              <a:defRPr/>
            </a:pPr>
            <a:endPar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endParaRPr>
          </a:p>
          <a:p>
            <a:pPr marL="228600" marR="0" lvl="0" indent="-228600" algn="just" defTabSz="914400" rtl="0" eaLnBrk="1" fontAlgn="auto" latinLnBrk="0" hangingPunct="1">
              <a:lnSpc>
                <a:spcPts val="3600"/>
              </a:lnSpc>
              <a:spcBef>
                <a:spcPts val="600"/>
              </a:spcBef>
              <a:spcAft>
                <a:spcPts val="600"/>
              </a:spcAft>
              <a:buClrTx/>
              <a:buSzTx/>
              <a:buFont typeface="Arial" panose="020B0604020202020204" pitchFamily="34" charset="0"/>
              <a:buChar char="•"/>
              <a:tabLst/>
              <a:defRPr/>
            </a:pPr>
            <a:endPar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endParaRPr>
          </a:p>
        </p:txBody>
      </p:sp>
      <p:sp>
        <p:nvSpPr>
          <p:cNvPr id="60" name="灯片编号占位符 2">
            <a:extLst>
              <a:ext uri="{FF2B5EF4-FFF2-40B4-BE49-F238E27FC236}">
                <a16:creationId xmlns:a16="http://schemas.microsoft.com/office/drawing/2014/main" id="{98559590-545F-F049-9E62-CADB1D9E91AF}"/>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105</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12026347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lang="zh-CN" altLang="en-US" sz="4000" dirty="0"/>
              <a:t>場景一：將軍是忠誠的</a:t>
            </a:r>
            <a:endParaRPr kumimoji="1" lang="zh-CN" altLang="en-US" sz="4000" dirty="0"/>
          </a:p>
        </p:txBody>
      </p:sp>
      <p:sp>
        <p:nvSpPr>
          <p:cNvPr id="10" name="内容占位符 3">
            <a:extLst>
              <a:ext uri="{FF2B5EF4-FFF2-40B4-BE49-F238E27FC236}">
                <a16:creationId xmlns:a16="http://schemas.microsoft.com/office/drawing/2014/main" id="{BB8AC1B3-839E-0A40-B415-AF5F1BC32161}"/>
              </a:ext>
            </a:extLst>
          </p:cNvPr>
          <p:cNvSpPr txBox="1">
            <a:spLocks/>
          </p:cNvSpPr>
          <p:nvPr/>
        </p:nvSpPr>
        <p:spPr>
          <a:xfrm>
            <a:off x="791275" y="1143402"/>
            <a:ext cx="5865678" cy="44872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OM</a:t>
            </a:r>
            <a:r>
              <a:rPr kumimoji="1" lang="en-US" altLang="zh-CN" sz="2400" b="0" i="0" u="none" strike="noStrike" kern="1200" cap="none" spc="0" normalizeH="0" baseline="-2500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0</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(2) </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分發消息</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a:t>
            </a:r>
            <a:r>
              <a:rPr kumimoji="1" lang="en-US" altLang="zh-CN" sz="24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rPr>
              <a:t>A:attack</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 R:retreat)</a:t>
            </a:r>
          </a:p>
        </p:txBody>
      </p:sp>
      <p:grpSp>
        <p:nvGrpSpPr>
          <p:cNvPr id="11" name="组 105">
            <a:extLst>
              <a:ext uri="{FF2B5EF4-FFF2-40B4-BE49-F238E27FC236}">
                <a16:creationId xmlns:a16="http://schemas.microsoft.com/office/drawing/2014/main" id="{6E690EAD-A8A2-044D-A6FC-372760AEF791}"/>
              </a:ext>
            </a:extLst>
          </p:cNvPr>
          <p:cNvGrpSpPr/>
          <p:nvPr/>
        </p:nvGrpSpPr>
        <p:grpSpPr>
          <a:xfrm>
            <a:off x="7159988" y="4476351"/>
            <a:ext cx="4318603" cy="1735157"/>
            <a:chOff x="6089643" y="3717240"/>
            <a:chExt cx="2646021" cy="1063136"/>
          </a:xfrm>
        </p:grpSpPr>
        <p:sp>
          <p:nvSpPr>
            <p:cNvPr id="12" name="椭圆 11">
              <a:extLst>
                <a:ext uri="{FF2B5EF4-FFF2-40B4-BE49-F238E27FC236}">
                  <a16:creationId xmlns:a16="http://schemas.microsoft.com/office/drawing/2014/main" id="{C5921088-A4C4-864B-B612-B1745D1646BF}"/>
                </a:ext>
              </a:extLst>
            </p:cNvPr>
            <p:cNvSpPr/>
            <p:nvPr/>
          </p:nvSpPr>
          <p:spPr>
            <a:xfrm>
              <a:off x="7244332" y="3717240"/>
              <a:ext cx="294002" cy="272253"/>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1</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13" name="椭圆 12">
              <a:extLst>
                <a:ext uri="{FF2B5EF4-FFF2-40B4-BE49-F238E27FC236}">
                  <a16:creationId xmlns:a16="http://schemas.microsoft.com/office/drawing/2014/main" id="{BEC3A932-C054-2848-AAD9-3C2C0617151A}"/>
                </a:ext>
              </a:extLst>
            </p:cNvPr>
            <p:cNvSpPr/>
            <p:nvPr/>
          </p:nvSpPr>
          <p:spPr>
            <a:xfrm>
              <a:off x="6089643" y="4508123"/>
              <a:ext cx="294002" cy="272253"/>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2</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14" name="椭圆 13">
              <a:extLst>
                <a:ext uri="{FF2B5EF4-FFF2-40B4-BE49-F238E27FC236}">
                  <a16:creationId xmlns:a16="http://schemas.microsoft.com/office/drawing/2014/main" id="{83945EE3-0868-8C47-804F-82E26D49B5EF}"/>
                </a:ext>
              </a:extLst>
            </p:cNvPr>
            <p:cNvSpPr/>
            <p:nvPr/>
          </p:nvSpPr>
          <p:spPr>
            <a:xfrm>
              <a:off x="7265653" y="4508123"/>
              <a:ext cx="294002" cy="272253"/>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4</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15" name="椭圆 14">
              <a:extLst>
                <a:ext uri="{FF2B5EF4-FFF2-40B4-BE49-F238E27FC236}">
                  <a16:creationId xmlns:a16="http://schemas.microsoft.com/office/drawing/2014/main" id="{A9CD444F-0EFB-224E-9B5B-E6752C389982}"/>
                </a:ext>
              </a:extLst>
            </p:cNvPr>
            <p:cNvSpPr/>
            <p:nvPr/>
          </p:nvSpPr>
          <p:spPr>
            <a:xfrm>
              <a:off x="6677647" y="4508123"/>
              <a:ext cx="294002" cy="272253"/>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3</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16" name="椭圆 15">
              <a:extLst>
                <a:ext uri="{FF2B5EF4-FFF2-40B4-BE49-F238E27FC236}">
                  <a16:creationId xmlns:a16="http://schemas.microsoft.com/office/drawing/2014/main" id="{EE69EBFE-2DA4-8B44-AF2E-56A6CE097249}"/>
                </a:ext>
              </a:extLst>
            </p:cNvPr>
            <p:cNvSpPr/>
            <p:nvPr/>
          </p:nvSpPr>
          <p:spPr>
            <a:xfrm>
              <a:off x="7853657" y="4508122"/>
              <a:ext cx="294002" cy="272253"/>
            </a:xfrm>
            <a:prstGeom prst="ellipse">
              <a:avLst/>
            </a:prstGeom>
            <a:solidFill>
              <a:srgbClr val="FF000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FFFFFF"/>
                  </a:solidFill>
                  <a:effectLst/>
                  <a:uLnTx/>
                  <a:uFillTx/>
                  <a:latin typeface="Arial"/>
                  <a:ea typeface="微软雅黑 Light"/>
                  <a:cs typeface="+mn-cs"/>
                </a:rPr>
                <a:t>5</a:t>
              </a:r>
              <a:endParaRPr kumimoji="1" lang="zh-CN" altLang="en-US" sz="1800" b="0" i="0" u="none" strike="noStrike" kern="1200" cap="none" spc="0" normalizeH="0" baseline="0" noProof="0" dirty="0">
                <a:ln>
                  <a:noFill/>
                </a:ln>
                <a:solidFill>
                  <a:srgbClr val="FFFFFF"/>
                </a:solidFill>
                <a:effectLst/>
                <a:uLnTx/>
                <a:uFillTx/>
                <a:latin typeface="Arial"/>
                <a:ea typeface="微软雅黑 Light"/>
                <a:cs typeface="+mn-cs"/>
              </a:endParaRPr>
            </a:p>
          </p:txBody>
        </p:sp>
        <p:sp>
          <p:nvSpPr>
            <p:cNvPr id="19" name="椭圆 18">
              <a:extLst>
                <a:ext uri="{FF2B5EF4-FFF2-40B4-BE49-F238E27FC236}">
                  <a16:creationId xmlns:a16="http://schemas.microsoft.com/office/drawing/2014/main" id="{90CE5661-9194-004A-B2E2-110F54CF73B6}"/>
                </a:ext>
              </a:extLst>
            </p:cNvPr>
            <p:cNvSpPr/>
            <p:nvPr/>
          </p:nvSpPr>
          <p:spPr>
            <a:xfrm>
              <a:off x="8441662" y="4508120"/>
              <a:ext cx="294002" cy="272252"/>
            </a:xfrm>
            <a:prstGeom prst="ellipse">
              <a:avLst/>
            </a:prstGeom>
            <a:solidFill>
              <a:srgbClr val="FF000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FFFFFF"/>
                  </a:solidFill>
                  <a:effectLst/>
                  <a:uLnTx/>
                  <a:uFillTx/>
                  <a:latin typeface="Arial"/>
                  <a:ea typeface="微软雅黑 Light"/>
                  <a:cs typeface="+mn-cs"/>
                </a:rPr>
                <a:t>6</a:t>
              </a:r>
              <a:endParaRPr kumimoji="1" lang="zh-CN" altLang="en-US" sz="1800" b="0" i="0" u="none" strike="noStrike" kern="1200" cap="none" spc="0" normalizeH="0" baseline="0" noProof="0" dirty="0">
                <a:ln>
                  <a:noFill/>
                </a:ln>
                <a:solidFill>
                  <a:srgbClr val="FFFFFF"/>
                </a:solidFill>
                <a:effectLst/>
                <a:uLnTx/>
                <a:uFillTx/>
                <a:latin typeface="Arial"/>
                <a:ea typeface="微软雅黑 Light"/>
                <a:cs typeface="+mn-cs"/>
              </a:endParaRPr>
            </a:p>
          </p:txBody>
        </p:sp>
        <p:cxnSp>
          <p:nvCxnSpPr>
            <p:cNvPr id="20" name="直线箭头连接符 19">
              <a:extLst>
                <a:ext uri="{FF2B5EF4-FFF2-40B4-BE49-F238E27FC236}">
                  <a16:creationId xmlns:a16="http://schemas.microsoft.com/office/drawing/2014/main" id="{30781518-9BBB-E149-82AD-687751C4B001}"/>
                </a:ext>
              </a:extLst>
            </p:cNvPr>
            <p:cNvCxnSpPr>
              <a:stCxn id="12" idx="3"/>
              <a:endCxn id="13" idx="0"/>
            </p:cNvCxnSpPr>
            <p:nvPr/>
          </p:nvCxnSpPr>
          <p:spPr>
            <a:xfrm flipH="1">
              <a:off x="6236644" y="3949622"/>
              <a:ext cx="1050744" cy="5585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线箭头连接符 20">
              <a:extLst>
                <a:ext uri="{FF2B5EF4-FFF2-40B4-BE49-F238E27FC236}">
                  <a16:creationId xmlns:a16="http://schemas.microsoft.com/office/drawing/2014/main" id="{C6DD7631-C8EC-534D-8399-693219CAE67A}"/>
                </a:ext>
              </a:extLst>
            </p:cNvPr>
            <p:cNvCxnSpPr>
              <a:stCxn id="12" idx="4"/>
              <a:endCxn id="15" idx="0"/>
            </p:cNvCxnSpPr>
            <p:nvPr/>
          </p:nvCxnSpPr>
          <p:spPr>
            <a:xfrm flipH="1">
              <a:off x="6824648" y="3989493"/>
              <a:ext cx="566685" cy="5186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线箭头连接符 21">
              <a:extLst>
                <a:ext uri="{FF2B5EF4-FFF2-40B4-BE49-F238E27FC236}">
                  <a16:creationId xmlns:a16="http://schemas.microsoft.com/office/drawing/2014/main" id="{B893D9CB-8A81-554A-BBD8-9232A2250E0F}"/>
                </a:ext>
              </a:extLst>
            </p:cNvPr>
            <p:cNvCxnSpPr>
              <a:stCxn id="12" idx="4"/>
              <a:endCxn id="14" idx="0"/>
            </p:cNvCxnSpPr>
            <p:nvPr/>
          </p:nvCxnSpPr>
          <p:spPr>
            <a:xfrm>
              <a:off x="7391333" y="3989493"/>
              <a:ext cx="21321" cy="5186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线箭头连接符 22">
              <a:extLst>
                <a:ext uri="{FF2B5EF4-FFF2-40B4-BE49-F238E27FC236}">
                  <a16:creationId xmlns:a16="http://schemas.microsoft.com/office/drawing/2014/main" id="{9BFA0BBF-CB1D-844A-9C3B-710BE2F1B8A4}"/>
                </a:ext>
              </a:extLst>
            </p:cNvPr>
            <p:cNvCxnSpPr>
              <a:stCxn id="12" idx="4"/>
              <a:endCxn id="16" idx="0"/>
            </p:cNvCxnSpPr>
            <p:nvPr/>
          </p:nvCxnSpPr>
          <p:spPr>
            <a:xfrm>
              <a:off x="7391333" y="3989493"/>
              <a:ext cx="609325" cy="5186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线箭头连接符 23">
              <a:extLst>
                <a:ext uri="{FF2B5EF4-FFF2-40B4-BE49-F238E27FC236}">
                  <a16:creationId xmlns:a16="http://schemas.microsoft.com/office/drawing/2014/main" id="{3A3BF007-BCC0-864F-85EC-552057DF203B}"/>
                </a:ext>
              </a:extLst>
            </p:cNvPr>
            <p:cNvCxnSpPr>
              <a:stCxn id="12" idx="5"/>
              <a:endCxn id="19" idx="0"/>
            </p:cNvCxnSpPr>
            <p:nvPr/>
          </p:nvCxnSpPr>
          <p:spPr>
            <a:xfrm>
              <a:off x="7495278" y="3949622"/>
              <a:ext cx="1093385" cy="5584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F506BB49-AF14-FE4E-A7C8-8003EF137945}"/>
                </a:ext>
              </a:extLst>
            </p:cNvPr>
            <p:cNvSpPr txBox="1"/>
            <p:nvPr/>
          </p:nvSpPr>
          <p:spPr>
            <a:xfrm>
              <a:off x="6506902" y="4067134"/>
              <a:ext cx="258220" cy="3024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A</a:t>
              </a:r>
            </a:p>
          </p:txBody>
        </p:sp>
        <p:sp>
          <p:nvSpPr>
            <p:cNvPr id="26" name="文本框 25">
              <a:extLst>
                <a:ext uri="{FF2B5EF4-FFF2-40B4-BE49-F238E27FC236}">
                  <a16:creationId xmlns:a16="http://schemas.microsoft.com/office/drawing/2014/main" id="{5D80AB7B-8E2E-7B42-A3F6-D6DB9A070BDF}"/>
                </a:ext>
              </a:extLst>
            </p:cNvPr>
            <p:cNvSpPr txBox="1"/>
            <p:nvPr/>
          </p:nvSpPr>
          <p:spPr>
            <a:xfrm>
              <a:off x="6869493" y="4048538"/>
              <a:ext cx="258220" cy="3024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A</a:t>
              </a:r>
            </a:p>
          </p:txBody>
        </p:sp>
        <p:sp>
          <p:nvSpPr>
            <p:cNvPr id="27" name="文本框 26">
              <a:extLst>
                <a:ext uri="{FF2B5EF4-FFF2-40B4-BE49-F238E27FC236}">
                  <a16:creationId xmlns:a16="http://schemas.microsoft.com/office/drawing/2014/main" id="{57F94678-129B-5144-BDC4-3A24D1FEF995}"/>
                </a:ext>
              </a:extLst>
            </p:cNvPr>
            <p:cNvSpPr txBox="1"/>
            <p:nvPr/>
          </p:nvSpPr>
          <p:spPr>
            <a:xfrm>
              <a:off x="7188233" y="4048538"/>
              <a:ext cx="258220" cy="3024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A</a:t>
              </a:r>
            </a:p>
          </p:txBody>
        </p:sp>
        <p:sp>
          <p:nvSpPr>
            <p:cNvPr id="28" name="文本框 27">
              <a:extLst>
                <a:ext uri="{FF2B5EF4-FFF2-40B4-BE49-F238E27FC236}">
                  <a16:creationId xmlns:a16="http://schemas.microsoft.com/office/drawing/2014/main" id="{ADF2FCB4-598D-2343-B6EC-ADFC24FB00D5}"/>
                </a:ext>
              </a:extLst>
            </p:cNvPr>
            <p:cNvSpPr txBox="1"/>
            <p:nvPr/>
          </p:nvSpPr>
          <p:spPr>
            <a:xfrm>
              <a:off x="7649849" y="4048538"/>
              <a:ext cx="258220" cy="3024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A</a:t>
              </a:r>
            </a:p>
          </p:txBody>
        </p:sp>
        <p:sp>
          <p:nvSpPr>
            <p:cNvPr id="29" name="文本框 28">
              <a:extLst>
                <a:ext uri="{FF2B5EF4-FFF2-40B4-BE49-F238E27FC236}">
                  <a16:creationId xmlns:a16="http://schemas.microsoft.com/office/drawing/2014/main" id="{062DA73D-1A40-AC4A-A4FB-E1C110740B45}"/>
                </a:ext>
              </a:extLst>
            </p:cNvPr>
            <p:cNvSpPr txBox="1"/>
            <p:nvPr/>
          </p:nvSpPr>
          <p:spPr>
            <a:xfrm>
              <a:off x="8104603" y="4066518"/>
              <a:ext cx="258220" cy="3024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A</a:t>
              </a:r>
            </a:p>
          </p:txBody>
        </p:sp>
      </p:grpSp>
      <p:graphicFrame>
        <p:nvGraphicFramePr>
          <p:cNvPr id="30" name="表格 29">
            <a:extLst>
              <a:ext uri="{FF2B5EF4-FFF2-40B4-BE49-F238E27FC236}">
                <a16:creationId xmlns:a16="http://schemas.microsoft.com/office/drawing/2014/main" id="{EEDB4CE4-A6EF-2542-9F50-CB196D66F841}"/>
              </a:ext>
            </a:extLst>
          </p:cNvPr>
          <p:cNvGraphicFramePr>
            <a:graphicFrameLocks noGrp="1"/>
          </p:cNvGraphicFramePr>
          <p:nvPr>
            <p:extLst>
              <p:ext uri="{D42A27DB-BD31-4B8C-83A1-F6EECF244321}">
                <p14:modId xmlns:p14="http://schemas.microsoft.com/office/powerpoint/2010/main" val="3722187071"/>
              </p:ext>
            </p:extLst>
          </p:nvPr>
        </p:nvGraphicFramePr>
        <p:xfrm>
          <a:off x="1105263" y="2039572"/>
          <a:ext cx="5303323" cy="1217822"/>
        </p:xfrm>
        <a:graphic>
          <a:graphicData uri="http://schemas.openxmlformats.org/drawingml/2006/table">
            <a:tbl>
              <a:tblPr firstRow="1" bandRow="1">
                <a:tableStyleId>{BC89EF96-8CEA-46FF-86C4-4CE0E7609802}</a:tableStyleId>
              </a:tblPr>
              <a:tblGrid>
                <a:gridCol w="1117567">
                  <a:extLst>
                    <a:ext uri="{9D8B030D-6E8A-4147-A177-3AD203B41FA5}">
                      <a16:colId xmlns:a16="http://schemas.microsoft.com/office/drawing/2014/main" val="20000"/>
                    </a:ext>
                  </a:extLst>
                </a:gridCol>
                <a:gridCol w="697626">
                  <a:extLst>
                    <a:ext uri="{9D8B030D-6E8A-4147-A177-3AD203B41FA5}">
                      <a16:colId xmlns:a16="http://schemas.microsoft.com/office/drawing/2014/main" val="20001"/>
                    </a:ext>
                  </a:extLst>
                </a:gridCol>
                <a:gridCol w="697626">
                  <a:extLst>
                    <a:ext uri="{9D8B030D-6E8A-4147-A177-3AD203B41FA5}">
                      <a16:colId xmlns:a16="http://schemas.microsoft.com/office/drawing/2014/main" val="20002"/>
                    </a:ext>
                  </a:extLst>
                </a:gridCol>
                <a:gridCol w="697626">
                  <a:extLst>
                    <a:ext uri="{9D8B030D-6E8A-4147-A177-3AD203B41FA5}">
                      <a16:colId xmlns:a16="http://schemas.microsoft.com/office/drawing/2014/main" val="20003"/>
                    </a:ext>
                  </a:extLst>
                </a:gridCol>
                <a:gridCol w="697626">
                  <a:extLst>
                    <a:ext uri="{9D8B030D-6E8A-4147-A177-3AD203B41FA5}">
                      <a16:colId xmlns:a16="http://schemas.microsoft.com/office/drawing/2014/main" val="20004"/>
                    </a:ext>
                  </a:extLst>
                </a:gridCol>
                <a:gridCol w="697626">
                  <a:extLst>
                    <a:ext uri="{9D8B030D-6E8A-4147-A177-3AD203B41FA5}">
                      <a16:colId xmlns:a16="http://schemas.microsoft.com/office/drawing/2014/main" val="20005"/>
                    </a:ext>
                  </a:extLst>
                </a:gridCol>
                <a:gridCol w="697626">
                  <a:extLst>
                    <a:ext uri="{9D8B030D-6E8A-4147-A177-3AD203B41FA5}">
                      <a16:colId xmlns:a16="http://schemas.microsoft.com/office/drawing/2014/main" val="20006"/>
                    </a:ext>
                  </a:extLst>
                </a:gridCol>
              </a:tblGrid>
              <a:tr h="778053">
                <a:tc>
                  <a:txBody>
                    <a:bodyPr/>
                    <a:lstStyle/>
                    <a:p>
                      <a:pPr algn="r"/>
                      <a:r>
                        <a:rPr lang="zh-CN" altLang="en-US" sz="2000" dirty="0">
                          <a:solidFill>
                            <a:schemeClr val="bg1"/>
                          </a:solidFill>
                        </a:rPr>
                        <a:t>接收</a:t>
                      </a:r>
                      <a:endParaRPr lang="en-US" altLang="zh-CN" sz="2000" dirty="0">
                        <a:solidFill>
                          <a:schemeClr val="bg1"/>
                        </a:solidFill>
                      </a:endParaRPr>
                    </a:p>
                    <a:p>
                      <a:r>
                        <a:rPr lang="zh-CN" altLang="en-US" sz="2000" dirty="0">
                          <a:solidFill>
                            <a:schemeClr val="bg1"/>
                          </a:solidFill>
                        </a:rPr>
                        <a:t>發送</a:t>
                      </a:r>
                    </a:p>
                  </a:txBody>
                  <a:tcPr marL="101485" marR="101485" marT="50743" marB="50743">
                    <a:lnTlToBr w="12700" cap="flat" cmpd="sng" algn="ctr">
                      <a:solidFill>
                        <a:schemeClr val="tx1"/>
                      </a:solidFill>
                      <a:prstDash val="solid"/>
                      <a:round/>
                      <a:headEnd type="none" w="med" len="med"/>
                      <a:tailEnd type="none" w="med" len="med"/>
                    </a:lnTlToBr>
                    <a:solidFill>
                      <a:srgbClr val="00B0F0"/>
                    </a:solidFill>
                  </a:tcPr>
                </a:tc>
                <a:tc>
                  <a:txBody>
                    <a:bodyPr/>
                    <a:lstStyle/>
                    <a:p>
                      <a:pPr algn="ctr"/>
                      <a:r>
                        <a:rPr lang="en-US" altLang="zh-CN" sz="2000" dirty="0">
                          <a:solidFill>
                            <a:schemeClr val="bg1"/>
                          </a:solidFill>
                        </a:rPr>
                        <a:t>1</a:t>
                      </a:r>
                      <a:endParaRPr lang="zh-CN" altLang="en-US" sz="2000" dirty="0">
                        <a:solidFill>
                          <a:schemeClr val="bg1"/>
                        </a:solidFill>
                      </a:endParaRPr>
                    </a:p>
                  </a:txBody>
                  <a:tcPr marL="101485" marR="101485" marT="50743" marB="50743" anchor="ctr">
                    <a:solidFill>
                      <a:srgbClr val="00B0F0"/>
                    </a:solidFill>
                  </a:tcPr>
                </a:tc>
                <a:tc>
                  <a:txBody>
                    <a:bodyPr/>
                    <a:lstStyle/>
                    <a:p>
                      <a:pPr algn="ctr"/>
                      <a:r>
                        <a:rPr lang="en-US" altLang="zh-CN" sz="2000" dirty="0">
                          <a:solidFill>
                            <a:schemeClr val="bg1"/>
                          </a:solidFill>
                        </a:rPr>
                        <a:t>2</a:t>
                      </a:r>
                      <a:endParaRPr lang="zh-CN" altLang="en-US" sz="2000" dirty="0">
                        <a:solidFill>
                          <a:schemeClr val="bg1"/>
                        </a:solidFill>
                      </a:endParaRPr>
                    </a:p>
                  </a:txBody>
                  <a:tcPr marL="101485" marR="101485" marT="50743" marB="50743" anchor="ctr">
                    <a:solidFill>
                      <a:srgbClr val="00B0F0"/>
                    </a:solidFill>
                  </a:tcPr>
                </a:tc>
                <a:tc>
                  <a:txBody>
                    <a:bodyPr/>
                    <a:lstStyle/>
                    <a:p>
                      <a:pPr algn="ctr"/>
                      <a:r>
                        <a:rPr lang="en-US" altLang="zh-CN" sz="2000" dirty="0">
                          <a:solidFill>
                            <a:schemeClr val="bg1"/>
                          </a:solidFill>
                        </a:rPr>
                        <a:t>3</a:t>
                      </a:r>
                      <a:endParaRPr lang="zh-CN" altLang="en-US" sz="2000" dirty="0">
                        <a:solidFill>
                          <a:schemeClr val="bg1"/>
                        </a:solidFill>
                      </a:endParaRPr>
                    </a:p>
                  </a:txBody>
                  <a:tcPr marL="101485" marR="101485" marT="50743" marB="50743" anchor="ctr">
                    <a:solidFill>
                      <a:srgbClr val="00B0F0"/>
                    </a:solidFill>
                  </a:tcPr>
                </a:tc>
                <a:tc>
                  <a:txBody>
                    <a:bodyPr/>
                    <a:lstStyle/>
                    <a:p>
                      <a:pPr algn="ctr"/>
                      <a:r>
                        <a:rPr lang="en-US" altLang="zh-CN" sz="2000" dirty="0">
                          <a:solidFill>
                            <a:schemeClr val="bg1"/>
                          </a:solidFill>
                        </a:rPr>
                        <a:t>4</a:t>
                      </a:r>
                      <a:endParaRPr lang="zh-CN" altLang="en-US" sz="2000" dirty="0">
                        <a:solidFill>
                          <a:schemeClr val="bg1"/>
                        </a:solidFill>
                      </a:endParaRPr>
                    </a:p>
                  </a:txBody>
                  <a:tcPr marL="101485" marR="101485" marT="50743" marB="50743" anchor="ctr">
                    <a:solidFill>
                      <a:srgbClr val="00B0F0"/>
                    </a:solidFill>
                  </a:tcPr>
                </a:tc>
                <a:tc>
                  <a:txBody>
                    <a:bodyPr/>
                    <a:lstStyle/>
                    <a:p>
                      <a:pPr algn="ctr"/>
                      <a:r>
                        <a:rPr lang="en-US" altLang="zh-CN" sz="2000" dirty="0">
                          <a:solidFill>
                            <a:schemeClr val="bg1"/>
                          </a:solidFill>
                        </a:rPr>
                        <a:t>5</a:t>
                      </a:r>
                      <a:endParaRPr lang="zh-CN" altLang="en-US" sz="2000" dirty="0">
                        <a:solidFill>
                          <a:schemeClr val="bg1"/>
                        </a:solidFill>
                      </a:endParaRPr>
                    </a:p>
                  </a:txBody>
                  <a:tcPr marL="101485" marR="101485" marT="50743" marB="50743" anchor="ctr">
                    <a:solidFill>
                      <a:srgbClr val="00B0F0"/>
                    </a:solidFill>
                  </a:tcPr>
                </a:tc>
                <a:tc>
                  <a:txBody>
                    <a:bodyPr/>
                    <a:lstStyle/>
                    <a:p>
                      <a:pPr algn="ctr"/>
                      <a:r>
                        <a:rPr lang="en-US" altLang="zh-CN" sz="2000" dirty="0">
                          <a:solidFill>
                            <a:schemeClr val="bg1"/>
                          </a:solidFill>
                        </a:rPr>
                        <a:t>6</a:t>
                      </a:r>
                      <a:endParaRPr lang="zh-CN" altLang="en-US" sz="2000" dirty="0">
                        <a:solidFill>
                          <a:schemeClr val="bg1"/>
                        </a:solidFill>
                      </a:endParaRPr>
                    </a:p>
                  </a:txBody>
                  <a:tcPr marL="101485" marR="101485" marT="50743" marB="50743" anchor="ctr">
                    <a:solidFill>
                      <a:srgbClr val="00B0F0"/>
                    </a:solidFill>
                  </a:tcPr>
                </a:tc>
                <a:extLst>
                  <a:ext uri="{0D108BD9-81ED-4DB2-BD59-A6C34878D82A}">
                    <a16:rowId xmlns:a16="http://schemas.microsoft.com/office/drawing/2014/main" val="10000"/>
                  </a:ext>
                </a:extLst>
              </a:tr>
              <a:tr h="439769">
                <a:tc>
                  <a:txBody>
                    <a:bodyPr/>
                    <a:lstStyle/>
                    <a:p>
                      <a:pPr algn="ctr"/>
                      <a:r>
                        <a:rPr lang="en-US" altLang="zh-CN" sz="2000" dirty="0"/>
                        <a:t>0</a:t>
                      </a:r>
                      <a:endParaRPr lang="zh-CN" altLang="en-US" sz="2000" dirty="0"/>
                    </a:p>
                  </a:txBody>
                  <a:tcPr marL="101485" marR="101485" marT="50743" marB="50743" anchor="ctr"/>
                </a:tc>
                <a:tc>
                  <a:txBody>
                    <a:bodyPr/>
                    <a:lstStyle/>
                    <a:p>
                      <a:pPr algn="ctr"/>
                      <a:r>
                        <a:rPr lang="en-US" altLang="zh-CN" sz="2000" dirty="0"/>
                        <a:t>A</a:t>
                      </a:r>
                      <a:endParaRPr lang="zh-CN" altLang="en-US" sz="2000" dirty="0"/>
                    </a:p>
                  </a:txBody>
                  <a:tcPr marL="101485" marR="101485" marT="50743" marB="50743"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a:t>A</a:t>
                      </a:r>
                      <a:endParaRPr lang="zh-CN" altLang="en-US" sz="2000" dirty="0"/>
                    </a:p>
                  </a:txBody>
                  <a:tcPr marL="101485" marR="101485" marT="50743" marB="50743" anchor="ctr"/>
                </a:tc>
                <a:tc>
                  <a:txBody>
                    <a:bodyPr/>
                    <a:lstStyle/>
                    <a:p>
                      <a:pPr algn="ctr"/>
                      <a:r>
                        <a:rPr lang="en-US" altLang="zh-CN" sz="2000" dirty="0"/>
                        <a:t>A</a:t>
                      </a:r>
                      <a:endParaRPr lang="zh-CN" altLang="en-US" sz="2000" dirty="0"/>
                    </a:p>
                  </a:txBody>
                  <a:tcPr marL="101485" marR="101485" marT="50743" marB="50743" anchor="ctr"/>
                </a:tc>
                <a:tc>
                  <a:txBody>
                    <a:bodyPr/>
                    <a:lstStyle/>
                    <a:p>
                      <a:pPr algn="ctr"/>
                      <a:r>
                        <a:rPr lang="en-US" altLang="zh-CN" sz="2000" dirty="0"/>
                        <a:t>A</a:t>
                      </a:r>
                      <a:endParaRPr lang="zh-CN" altLang="en-US" sz="2000" dirty="0"/>
                    </a:p>
                  </a:txBody>
                  <a:tcPr marL="101485" marR="101485" marT="50743" marB="50743" anchor="ctr"/>
                </a:tc>
                <a:tc>
                  <a:txBody>
                    <a:bodyPr/>
                    <a:lstStyle/>
                    <a:p>
                      <a:pPr algn="ctr"/>
                      <a:r>
                        <a:rPr lang="en-US" altLang="zh-CN" sz="2000" dirty="0"/>
                        <a:t>A</a:t>
                      </a:r>
                      <a:endParaRPr lang="zh-CN" altLang="en-US" sz="2000" dirty="0"/>
                    </a:p>
                  </a:txBody>
                  <a:tcPr marL="101485" marR="101485" marT="50743" marB="50743" anchor="ctr"/>
                </a:tc>
                <a:tc>
                  <a:txBody>
                    <a:bodyPr/>
                    <a:lstStyle/>
                    <a:p>
                      <a:pPr algn="ctr"/>
                      <a:r>
                        <a:rPr lang="en-US" altLang="zh-CN" sz="2000" dirty="0"/>
                        <a:t>A</a:t>
                      </a:r>
                      <a:endParaRPr lang="zh-CN" altLang="en-US" sz="2000" dirty="0"/>
                    </a:p>
                  </a:txBody>
                  <a:tcPr marL="101485" marR="101485" marT="50743" marB="50743" anchor="ctr"/>
                </a:tc>
                <a:extLst>
                  <a:ext uri="{0D108BD9-81ED-4DB2-BD59-A6C34878D82A}">
                    <a16:rowId xmlns:a16="http://schemas.microsoft.com/office/drawing/2014/main" val="10001"/>
                  </a:ext>
                </a:extLst>
              </a:tr>
            </a:tbl>
          </a:graphicData>
        </a:graphic>
      </p:graphicFrame>
      <p:grpSp>
        <p:nvGrpSpPr>
          <p:cNvPr id="31" name="组 70">
            <a:extLst>
              <a:ext uri="{FF2B5EF4-FFF2-40B4-BE49-F238E27FC236}">
                <a16:creationId xmlns:a16="http://schemas.microsoft.com/office/drawing/2014/main" id="{81F792DF-8C02-894F-8986-D5768B909C56}"/>
              </a:ext>
            </a:extLst>
          </p:cNvPr>
          <p:cNvGrpSpPr/>
          <p:nvPr/>
        </p:nvGrpSpPr>
        <p:grpSpPr>
          <a:xfrm>
            <a:off x="6939501" y="1367765"/>
            <a:ext cx="4846914" cy="1591866"/>
            <a:chOff x="5455311" y="1719616"/>
            <a:chExt cx="3384378" cy="1296144"/>
          </a:xfrm>
        </p:grpSpPr>
        <p:sp>
          <p:nvSpPr>
            <p:cNvPr id="32" name="椭圆 31">
              <a:extLst>
                <a:ext uri="{FF2B5EF4-FFF2-40B4-BE49-F238E27FC236}">
                  <a16:creationId xmlns:a16="http://schemas.microsoft.com/office/drawing/2014/main" id="{89FE9BCD-957E-8F4B-80A5-FAA000D0098C}"/>
                </a:ext>
              </a:extLst>
            </p:cNvPr>
            <p:cNvSpPr/>
            <p:nvPr/>
          </p:nvSpPr>
          <p:spPr>
            <a:xfrm>
              <a:off x="6992216" y="1719616"/>
              <a:ext cx="307912" cy="332493"/>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0</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33" name="椭圆 32">
              <a:extLst>
                <a:ext uri="{FF2B5EF4-FFF2-40B4-BE49-F238E27FC236}">
                  <a16:creationId xmlns:a16="http://schemas.microsoft.com/office/drawing/2014/main" id="{54DC5990-1C70-E64C-AF31-B6409F2610F0}"/>
                </a:ext>
              </a:extLst>
            </p:cNvPr>
            <p:cNvSpPr/>
            <p:nvPr/>
          </p:nvSpPr>
          <p:spPr>
            <a:xfrm>
              <a:off x="5455311" y="2683267"/>
              <a:ext cx="307912" cy="332493"/>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1</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34" name="椭圆 33">
              <a:extLst>
                <a:ext uri="{FF2B5EF4-FFF2-40B4-BE49-F238E27FC236}">
                  <a16:creationId xmlns:a16="http://schemas.microsoft.com/office/drawing/2014/main" id="{19F1EF76-6CE9-BF45-89E2-A86F96E85D76}"/>
                </a:ext>
              </a:extLst>
            </p:cNvPr>
            <p:cNvSpPr/>
            <p:nvPr/>
          </p:nvSpPr>
          <p:spPr>
            <a:xfrm>
              <a:off x="6068479" y="2683267"/>
              <a:ext cx="307912" cy="332493"/>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2</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35" name="椭圆 34">
              <a:extLst>
                <a:ext uri="{FF2B5EF4-FFF2-40B4-BE49-F238E27FC236}">
                  <a16:creationId xmlns:a16="http://schemas.microsoft.com/office/drawing/2014/main" id="{4AE5FCD8-F617-F14F-816A-77B7E0C08DB9}"/>
                </a:ext>
              </a:extLst>
            </p:cNvPr>
            <p:cNvSpPr/>
            <p:nvPr/>
          </p:nvSpPr>
          <p:spPr>
            <a:xfrm>
              <a:off x="7300129" y="2683267"/>
              <a:ext cx="307912" cy="332493"/>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4</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36" name="椭圆 35">
              <a:extLst>
                <a:ext uri="{FF2B5EF4-FFF2-40B4-BE49-F238E27FC236}">
                  <a16:creationId xmlns:a16="http://schemas.microsoft.com/office/drawing/2014/main" id="{4A56AC17-5B32-FE47-9A47-C6F1327F3075}"/>
                </a:ext>
              </a:extLst>
            </p:cNvPr>
            <p:cNvSpPr/>
            <p:nvPr/>
          </p:nvSpPr>
          <p:spPr>
            <a:xfrm>
              <a:off x="6684303" y="2683267"/>
              <a:ext cx="307912" cy="332493"/>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3</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37" name="椭圆 36">
              <a:extLst>
                <a:ext uri="{FF2B5EF4-FFF2-40B4-BE49-F238E27FC236}">
                  <a16:creationId xmlns:a16="http://schemas.microsoft.com/office/drawing/2014/main" id="{9ADBFAD5-06C0-6C4C-81CD-56165EC772C6}"/>
                </a:ext>
              </a:extLst>
            </p:cNvPr>
            <p:cNvSpPr/>
            <p:nvPr/>
          </p:nvSpPr>
          <p:spPr>
            <a:xfrm>
              <a:off x="7915952" y="2683266"/>
              <a:ext cx="307912" cy="332493"/>
            </a:xfrm>
            <a:prstGeom prst="ellipse">
              <a:avLst/>
            </a:prstGeom>
            <a:solidFill>
              <a:srgbClr val="FF000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FFFFFF"/>
                  </a:solidFill>
                  <a:effectLst/>
                  <a:uLnTx/>
                  <a:uFillTx/>
                  <a:latin typeface="Arial"/>
                  <a:ea typeface="微软雅黑 Light"/>
                  <a:cs typeface="+mn-cs"/>
                </a:rPr>
                <a:t>5</a:t>
              </a:r>
              <a:endParaRPr kumimoji="1" lang="zh-CN" altLang="en-US" sz="1800" b="0" i="0" u="none" strike="noStrike" kern="1200" cap="none" spc="0" normalizeH="0" baseline="0" noProof="0" dirty="0">
                <a:ln>
                  <a:noFill/>
                </a:ln>
                <a:solidFill>
                  <a:srgbClr val="FFFFFF"/>
                </a:solidFill>
                <a:effectLst/>
                <a:uLnTx/>
                <a:uFillTx/>
                <a:latin typeface="Arial"/>
                <a:ea typeface="微软雅黑 Light"/>
                <a:cs typeface="+mn-cs"/>
              </a:endParaRPr>
            </a:p>
          </p:txBody>
        </p:sp>
        <p:sp>
          <p:nvSpPr>
            <p:cNvPr id="38" name="椭圆 37">
              <a:extLst>
                <a:ext uri="{FF2B5EF4-FFF2-40B4-BE49-F238E27FC236}">
                  <a16:creationId xmlns:a16="http://schemas.microsoft.com/office/drawing/2014/main" id="{8AEF35F3-E3A4-7E49-8141-2C7BDED53363}"/>
                </a:ext>
              </a:extLst>
            </p:cNvPr>
            <p:cNvSpPr/>
            <p:nvPr/>
          </p:nvSpPr>
          <p:spPr>
            <a:xfrm>
              <a:off x="8531777" y="2683264"/>
              <a:ext cx="307912" cy="332492"/>
            </a:xfrm>
            <a:prstGeom prst="ellipse">
              <a:avLst/>
            </a:prstGeom>
            <a:solidFill>
              <a:srgbClr val="FF000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FFFFFF"/>
                  </a:solidFill>
                  <a:effectLst/>
                  <a:uLnTx/>
                  <a:uFillTx/>
                  <a:latin typeface="Arial"/>
                  <a:ea typeface="微软雅黑 Light"/>
                  <a:cs typeface="+mn-cs"/>
                </a:rPr>
                <a:t>6</a:t>
              </a:r>
              <a:endParaRPr kumimoji="1" lang="zh-CN" altLang="en-US" sz="1800" b="0" i="0" u="none" strike="noStrike" kern="1200" cap="none" spc="0" normalizeH="0" baseline="0" noProof="0" dirty="0">
                <a:ln>
                  <a:noFill/>
                </a:ln>
                <a:solidFill>
                  <a:srgbClr val="FFFFFF"/>
                </a:solidFill>
                <a:effectLst/>
                <a:uLnTx/>
                <a:uFillTx/>
                <a:latin typeface="Arial"/>
                <a:ea typeface="微软雅黑 Light"/>
                <a:cs typeface="+mn-cs"/>
              </a:endParaRPr>
            </a:p>
          </p:txBody>
        </p:sp>
        <p:cxnSp>
          <p:nvCxnSpPr>
            <p:cNvPr id="39" name="直线箭头连接符 38">
              <a:extLst>
                <a:ext uri="{FF2B5EF4-FFF2-40B4-BE49-F238E27FC236}">
                  <a16:creationId xmlns:a16="http://schemas.microsoft.com/office/drawing/2014/main" id="{C2E6A3D1-03AD-FB4E-ACD8-84938EAD1075}"/>
                </a:ext>
              </a:extLst>
            </p:cNvPr>
            <p:cNvCxnSpPr>
              <a:stCxn id="32" idx="3"/>
              <a:endCxn id="34" idx="0"/>
            </p:cNvCxnSpPr>
            <p:nvPr/>
          </p:nvCxnSpPr>
          <p:spPr>
            <a:xfrm flipH="1">
              <a:off x="5609267" y="2003413"/>
              <a:ext cx="1428041" cy="6798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直线箭头连接符 39">
              <a:extLst>
                <a:ext uri="{FF2B5EF4-FFF2-40B4-BE49-F238E27FC236}">
                  <a16:creationId xmlns:a16="http://schemas.microsoft.com/office/drawing/2014/main" id="{F5BFDFDF-4BE1-3147-98DB-9E55B5C6FE57}"/>
                </a:ext>
              </a:extLst>
            </p:cNvPr>
            <p:cNvCxnSpPr>
              <a:stCxn id="32" idx="3"/>
              <a:endCxn id="35" idx="0"/>
            </p:cNvCxnSpPr>
            <p:nvPr/>
          </p:nvCxnSpPr>
          <p:spPr>
            <a:xfrm flipH="1">
              <a:off x="6222435" y="2003413"/>
              <a:ext cx="814874" cy="6798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直线箭头连接符 40">
              <a:extLst>
                <a:ext uri="{FF2B5EF4-FFF2-40B4-BE49-F238E27FC236}">
                  <a16:creationId xmlns:a16="http://schemas.microsoft.com/office/drawing/2014/main" id="{3445BB09-5D51-C84F-AAD2-34FC7CFB01BF}"/>
                </a:ext>
              </a:extLst>
            </p:cNvPr>
            <p:cNvCxnSpPr>
              <a:stCxn id="32" idx="4"/>
              <a:endCxn id="37" idx="0"/>
            </p:cNvCxnSpPr>
            <p:nvPr/>
          </p:nvCxnSpPr>
          <p:spPr>
            <a:xfrm flipH="1">
              <a:off x="6838259" y="2052106"/>
              <a:ext cx="307912" cy="631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直线箭头连接符 41">
              <a:extLst>
                <a:ext uri="{FF2B5EF4-FFF2-40B4-BE49-F238E27FC236}">
                  <a16:creationId xmlns:a16="http://schemas.microsoft.com/office/drawing/2014/main" id="{ED9D48C3-8096-584B-8F29-DFF34439D9C9}"/>
                </a:ext>
              </a:extLst>
            </p:cNvPr>
            <p:cNvCxnSpPr>
              <a:stCxn id="32" idx="4"/>
              <a:endCxn id="36" idx="0"/>
            </p:cNvCxnSpPr>
            <p:nvPr/>
          </p:nvCxnSpPr>
          <p:spPr>
            <a:xfrm>
              <a:off x="7146172" y="2052106"/>
              <a:ext cx="307912" cy="631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线箭头连接符 42">
              <a:extLst>
                <a:ext uri="{FF2B5EF4-FFF2-40B4-BE49-F238E27FC236}">
                  <a16:creationId xmlns:a16="http://schemas.microsoft.com/office/drawing/2014/main" id="{211B19CB-8EF6-AF40-87FC-DD64E466929A}"/>
                </a:ext>
              </a:extLst>
            </p:cNvPr>
            <p:cNvCxnSpPr>
              <a:stCxn id="32" idx="5"/>
              <a:endCxn id="38" idx="0"/>
            </p:cNvCxnSpPr>
            <p:nvPr/>
          </p:nvCxnSpPr>
          <p:spPr>
            <a:xfrm>
              <a:off x="7255035" y="2003413"/>
              <a:ext cx="814874" cy="6798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直线箭头连接符 43">
              <a:extLst>
                <a:ext uri="{FF2B5EF4-FFF2-40B4-BE49-F238E27FC236}">
                  <a16:creationId xmlns:a16="http://schemas.microsoft.com/office/drawing/2014/main" id="{C174D603-1DB4-C945-BA7E-ADF1CB1FCAD5}"/>
                </a:ext>
              </a:extLst>
            </p:cNvPr>
            <p:cNvCxnSpPr>
              <a:stCxn id="32" idx="5"/>
              <a:endCxn id="39" idx="0"/>
            </p:cNvCxnSpPr>
            <p:nvPr/>
          </p:nvCxnSpPr>
          <p:spPr>
            <a:xfrm>
              <a:off x="7255035" y="2003413"/>
              <a:ext cx="1430697" cy="6798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文本框 44">
              <a:extLst>
                <a:ext uri="{FF2B5EF4-FFF2-40B4-BE49-F238E27FC236}">
                  <a16:creationId xmlns:a16="http://schemas.microsoft.com/office/drawing/2014/main" id="{062927ED-F33F-1744-BE0F-3ECED3189971}"/>
                </a:ext>
              </a:extLst>
            </p:cNvPr>
            <p:cNvSpPr txBox="1"/>
            <p:nvPr/>
          </p:nvSpPr>
          <p:spPr>
            <a:xfrm>
              <a:off x="5951999" y="2126100"/>
              <a:ext cx="2704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A</a:t>
              </a:r>
            </a:p>
          </p:txBody>
        </p:sp>
        <p:sp>
          <p:nvSpPr>
            <p:cNvPr id="46" name="文本框 45">
              <a:extLst>
                <a:ext uri="{FF2B5EF4-FFF2-40B4-BE49-F238E27FC236}">
                  <a16:creationId xmlns:a16="http://schemas.microsoft.com/office/drawing/2014/main" id="{3C43A200-BD33-7145-B4E0-9B64DEF187D1}"/>
                </a:ext>
              </a:extLst>
            </p:cNvPr>
            <p:cNvSpPr txBox="1"/>
            <p:nvPr/>
          </p:nvSpPr>
          <p:spPr>
            <a:xfrm>
              <a:off x="6392454" y="2126100"/>
              <a:ext cx="2704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A</a:t>
              </a:r>
            </a:p>
          </p:txBody>
        </p:sp>
        <p:sp>
          <p:nvSpPr>
            <p:cNvPr id="47" name="文本框 46">
              <a:extLst>
                <a:ext uri="{FF2B5EF4-FFF2-40B4-BE49-F238E27FC236}">
                  <a16:creationId xmlns:a16="http://schemas.microsoft.com/office/drawing/2014/main" id="{A9824440-6A24-E646-814A-FD534D437BD5}"/>
                </a:ext>
              </a:extLst>
            </p:cNvPr>
            <p:cNvSpPr txBox="1"/>
            <p:nvPr/>
          </p:nvSpPr>
          <p:spPr>
            <a:xfrm>
              <a:off x="6743491" y="2104921"/>
              <a:ext cx="2704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A</a:t>
              </a:r>
            </a:p>
          </p:txBody>
        </p:sp>
        <p:sp>
          <p:nvSpPr>
            <p:cNvPr id="48" name="文本框 47">
              <a:extLst>
                <a:ext uri="{FF2B5EF4-FFF2-40B4-BE49-F238E27FC236}">
                  <a16:creationId xmlns:a16="http://schemas.microsoft.com/office/drawing/2014/main" id="{6A38FFA0-C134-3243-994B-1DC3C2C3ACD3}"/>
                </a:ext>
              </a:extLst>
            </p:cNvPr>
            <p:cNvSpPr txBox="1"/>
            <p:nvPr/>
          </p:nvSpPr>
          <p:spPr>
            <a:xfrm>
              <a:off x="7210000" y="2096134"/>
              <a:ext cx="2704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A</a:t>
              </a:r>
            </a:p>
          </p:txBody>
        </p:sp>
        <p:sp>
          <p:nvSpPr>
            <p:cNvPr id="49" name="文本框 48">
              <a:extLst>
                <a:ext uri="{FF2B5EF4-FFF2-40B4-BE49-F238E27FC236}">
                  <a16:creationId xmlns:a16="http://schemas.microsoft.com/office/drawing/2014/main" id="{0E72667B-0285-794C-989B-85B4FD8D39AD}"/>
                </a:ext>
              </a:extLst>
            </p:cNvPr>
            <p:cNvSpPr txBox="1"/>
            <p:nvPr/>
          </p:nvSpPr>
          <p:spPr>
            <a:xfrm>
              <a:off x="7589301" y="2104921"/>
              <a:ext cx="2704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A</a:t>
              </a:r>
            </a:p>
          </p:txBody>
        </p:sp>
        <p:sp>
          <p:nvSpPr>
            <p:cNvPr id="50" name="文本框 49">
              <a:extLst>
                <a:ext uri="{FF2B5EF4-FFF2-40B4-BE49-F238E27FC236}">
                  <a16:creationId xmlns:a16="http://schemas.microsoft.com/office/drawing/2014/main" id="{08973ABA-6BFB-4240-A0F6-205584602A26}"/>
                </a:ext>
              </a:extLst>
            </p:cNvPr>
            <p:cNvSpPr txBox="1"/>
            <p:nvPr/>
          </p:nvSpPr>
          <p:spPr>
            <a:xfrm>
              <a:off x="8003411" y="2135093"/>
              <a:ext cx="2704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A</a:t>
              </a:r>
            </a:p>
          </p:txBody>
        </p:sp>
      </p:grpSp>
      <p:graphicFrame>
        <p:nvGraphicFramePr>
          <p:cNvPr id="52" name="表格 51">
            <a:extLst>
              <a:ext uri="{FF2B5EF4-FFF2-40B4-BE49-F238E27FC236}">
                <a16:creationId xmlns:a16="http://schemas.microsoft.com/office/drawing/2014/main" id="{CEE7AEF3-90F3-7449-8B9B-6F22A314171E}"/>
              </a:ext>
            </a:extLst>
          </p:cNvPr>
          <p:cNvGraphicFramePr>
            <a:graphicFrameLocks noGrp="1"/>
          </p:cNvGraphicFramePr>
          <p:nvPr>
            <p:extLst>
              <p:ext uri="{D42A27DB-BD31-4B8C-83A1-F6EECF244321}">
                <p14:modId xmlns:p14="http://schemas.microsoft.com/office/powerpoint/2010/main" val="2279598589"/>
              </p:ext>
            </p:extLst>
          </p:nvPr>
        </p:nvGraphicFramePr>
        <p:xfrm>
          <a:off x="1102460" y="4964847"/>
          <a:ext cx="5117274" cy="1353090"/>
        </p:xfrm>
        <a:graphic>
          <a:graphicData uri="http://schemas.openxmlformats.org/drawingml/2006/table">
            <a:tbl>
              <a:tblPr firstRow="1" bandRow="1">
                <a:tableStyleId>{BC89EF96-8CEA-46FF-86C4-4CE0E7609802}</a:tableStyleId>
              </a:tblPr>
              <a:tblGrid>
                <a:gridCol w="1241699">
                  <a:extLst>
                    <a:ext uri="{9D8B030D-6E8A-4147-A177-3AD203B41FA5}">
                      <a16:colId xmlns:a16="http://schemas.microsoft.com/office/drawing/2014/main" val="20000"/>
                    </a:ext>
                  </a:extLst>
                </a:gridCol>
                <a:gridCol w="775115">
                  <a:extLst>
                    <a:ext uri="{9D8B030D-6E8A-4147-A177-3AD203B41FA5}">
                      <a16:colId xmlns:a16="http://schemas.microsoft.com/office/drawing/2014/main" val="20001"/>
                    </a:ext>
                  </a:extLst>
                </a:gridCol>
                <a:gridCol w="775115">
                  <a:extLst>
                    <a:ext uri="{9D8B030D-6E8A-4147-A177-3AD203B41FA5}">
                      <a16:colId xmlns:a16="http://schemas.microsoft.com/office/drawing/2014/main" val="20002"/>
                    </a:ext>
                  </a:extLst>
                </a:gridCol>
                <a:gridCol w="775115">
                  <a:extLst>
                    <a:ext uri="{9D8B030D-6E8A-4147-A177-3AD203B41FA5}">
                      <a16:colId xmlns:a16="http://schemas.microsoft.com/office/drawing/2014/main" val="20003"/>
                    </a:ext>
                  </a:extLst>
                </a:gridCol>
                <a:gridCol w="775115">
                  <a:extLst>
                    <a:ext uri="{9D8B030D-6E8A-4147-A177-3AD203B41FA5}">
                      <a16:colId xmlns:a16="http://schemas.microsoft.com/office/drawing/2014/main" val="20004"/>
                    </a:ext>
                  </a:extLst>
                </a:gridCol>
                <a:gridCol w="775115">
                  <a:extLst>
                    <a:ext uri="{9D8B030D-6E8A-4147-A177-3AD203B41FA5}">
                      <a16:colId xmlns:a16="http://schemas.microsoft.com/office/drawing/2014/main" val="20005"/>
                    </a:ext>
                  </a:extLst>
                </a:gridCol>
              </a:tblGrid>
              <a:tr h="864474">
                <a:tc>
                  <a:txBody>
                    <a:bodyPr/>
                    <a:lstStyle/>
                    <a:p>
                      <a:pPr algn="r"/>
                      <a:r>
                        <a:rPr lang="zh-CN" altLang="en-US" sz="2000" dirty="0">
                          <a:solidFill>
                            <a:schemeClr val="bg1"/>
                          </a:solidFill>
                        </a:rPr>
                        <a:t>接收</a:t>
                      </a:r>
                      <a:endParaRPr lang="en-US" altLang="zh-CN" sz="2000" dirty="0">
                        <a:solidFill>
                          <a:schemeClr val="bg1"/>
                        </a:solidFill>
                      </a:endParaRPr>
                    </a:p>
                    <a:p>
                      <a:r>
                        <a:rPr lang="zh-CN" altLang="en-US" sz="2000" dirty="0">
                          <a:solidFill>
                            <a:schemeClr val="bg1"/>
                          </a:solidFill>
                        </a:rPr>
                        <a:t>發送</a:t>
                      </a:r>
                    </a:p>
                  </a:txBody>
                  <a:tcPr marL="112757" marR="112757" marT="56379" marB="56379">
                    <a:lnTlToBr w="12700" cap="flat" cmpd="sng" algn="ctr">
                      <a:solidFill>
                        <a:schemeClr val="tx1"/>
                      </a:solidFill>
                      <a:prstDash val="solid"/>
                      <a:round/>
                      <a:headEnd type="none" w="med" len="med"/>
                      <a:tailEnd type="none" w="med" len="med"/>
                    </a:lnTlToBr>
                    <a:solidFill>
                      <a:srgbClr val="00B0F0"/>
                    </a:solidFill>
                  </a:tcPr>
                </a:tc>
                <a:tc>
                  <a:txBody>
                    <a:bodyPr/>
                    <a:lstStyle/>
                    <a:p>
                      <a:pPr algn="ctr"/>
                      <a:r>
                        <a:rPr lang="en-US" altLang="zh-CN" sz="2000" dirty="0">
                          <a:solidFill>
                            <a:schemeClr val="bg1"/>
                          </a:solidFill>
                        </a:rPr>
                        <a:t>2</a:t>
                      </a:r>
                      <a:endParaRPr lang="zh-CN" altLang="en-US" sz="2000" dirty="0">
                        <a:solidFill>
                          <a:schemeClr val="bg1"/>
                        </a:solidFill>
                      </a:endParaRPr>
                    </a:p>
                  </a:txBody>
                  <a:tcPr marL="112757" marR="112757" marT="56379" marB="56379" anchor="ctr">
                    <a:solidFill>
                      <a:srgbClr val="00B0F0"/>
                    </a:solidFill>
                  </a:tcPr>
                </a:tc>
                <a:tc>
                  <a:txBody>
                    <a:bodyPr/>
                    <a:lstStyle/>
                    <a:p>
                      <a:pPr algn="ctr"/>
                      <a:r>
                        <a:rPr lang="en-US" altLang="zh-CN" sz="2000" dirty="0">
                          <a:solidFill>
                            <a:schemeClr val="bg1"/>
                          </a:solidFill>
                        </a:rPr>
                        <a:t>3</a:t>
                      </a:r>
                      <a:endParaRPr lang="zh-CN" altLang="en-US" sz="2000" dirty="0">
                        <a:solidFill>
                          <a:schemeClr val="bg1"/>
                        </a:solidFill>
                      </a:endParaRPr>
                    </a:p>
                  </a:txBody>
                  <a:tcPr marL="112757" marR="112757" marT="56379" marB="56379" anchor="ctr">
                    <a:solidFill>
                      <a:srgbClr val="00B0F0"/>
                    </a:solidFill>
                  </a:tcPr>
                </a:tc>
                <a:tc>
                  <a:txBody>
                    <a:bodyPr/>
                    <a:lstStyle/>
                    <a:p>
                      <a:pPr algn="ctr"/>
                      <a:r>
                        <a:rPr lang="en-US" altLang="zh-CN" sz="2000" dirty="0">
                          <a:solidFill>
                            <a:schemeClr val="bg1"/>
                          </a:solidFill>
                        </a:rPr>
                        <a:t>4</a:t>
                      </a:r>
                      <a:endParaRPr lang="zh-CN" altLang="en-US" sz="2000" dirty="0">
                        <a:solidFill>
                          <a:schemeClr val="bg1"/>
                        </a:solidFill>
                      </a:endParaRPr>
                    </a:p>
                  </a:txBody>
                  <a:tcPr marL="112757" marR="112757" marT="56379" marB="56379" anchor="ctr">
                    <a:solidFill>
                      <a:srgbClr val="00B0F0"/>
                    </a:solidFill>
                  </a:tcPr>
                </a:tc>
                <a:tc>
                  <a:txBody>
                    <a:bodyPr/>
                    <a:lstStyle/>
                    <a:p>
                      <a:pPr algn="ctr"/>
                      <a:r>
                        <a:rPr lang="en-US" altLang="zh-CN" sz="2000" dirty="0">
                          <a:solidFill>
                            <a:schemeClr val="bg1"/>
                          </a:solidFill>
                        </a:rPr>
                        <a:t>5</a:t>
                      </a:r>
                      <a:endParaRPr lang="zh-CN" altLang="en-US" sz="2000" dirty="0">
                        <a:solidFill>
                          <a:schemeClr val="bg1"/>
                        </a:solidFill>
                      </a:endParaRPr>
                    </a:p>
                  </a:txBody>
                  <a:tcPr marL="112757" marR="112757" marT="56379" marB="56379" anchor="ctr">
                    <a:solidFill>
                      <a:srgbClr val="00B0F0"/>
                    </a:solidFill>
                  </a:tcPr>
                </a:tc>
                <a:tc>
                  <a:txBody>
                    <a:bodyPr/>
                    <a:lstStyle/>
                    <a:p>
                      <a:pPr algn="ctr"/>
                      <a:r>
                        <a:rPr lang="en-US" altLang="zh-CN" sz="2000" dirty="0">
                          <a:solidFill>
                            <a:schemeClr val="bg1"/>
                          </a:solidFill>
                        </a:rPr>
                        <a:t>6</a:t>
                      </a:r>
                      <a:endParaRPr lang="zh-CN" altLang="en-US" sz="2000" dirty="0">
                        <a:solidFill>
                          <a:schemeClr val="bg1"/>
                        </a:solidFill>
                      </a:endParaRPr>
                    </a:p>
                  </a:txBody>
                  <a:tcPr marL="112757" marR="112757" marT="56379" marB="56379" anchor="ctr">
                    <a:solidFill>
                      <a:srgbClr val="00B0F0"/>
                    </a:solidFill>
                  </a:tcPr>
                </a:tc>
                <a:extLst>
                  <a:ext uri="{0D108BD9-81ED-4DB2-BD59-A6C34878D82A}">
                    <a16:rowId xmlns:a16="http://schemas.microsoft.com/office/drawing/2014/main" val="10000"/>
                  </a:ext>
                </a:extLst>
              </a:tr>
              <a:tr h="488616">
                <a:tc>
                  <a:txBody>
                    <a:bodyPr/>
                    <a:lstStyle/>
                    <a:p>
                      <a:pPr algn="ctr"/>
                      <a:r>
                        <a:rPr lang="en-US" altLang="zh-CN" sz="2000" dirty="0"/>
                        <a:t>1</a:t>
                      </a:r>
                      <a:endParaRPr lang="zh-CN" altLang="en-US" sz="2000" dirty="0"/>
                    </a:p>
                  </a:txBody>
                  <a:tcPr marL="112757" marR="112757" marT="56379" marB="56379"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a:t>A</a:t>
                      </a:r>
                      <a:endParaRPr lang="zh-CN" altLang="en-US" sz="2000" dirty="0"/>
                    </a:p>
                  </a:txBody>
                  <a:tcPr marL="112757" marR="112757" marT="56379" marB="56379" anchor="ctr"/>
                </a:tc>
                <a:tc>
                  <a:txBody>
                    <a:bodyPr/>
                    <a:lstStyle/>
                    <a:p>
                      <a:pPr algn="ctr"/>
                      <a:r>
                        <a:rPr lang="en-US" altLang="zh-CN" sz="2000" dirty="0"/>
                        <a:t>A</a:t>
                      </a:r>
                      <a:endParaRPr lang="zh-CN" altLang="en-US" sz="2000" dirty="0"/>
                    </a:p>
                  </a:txBody>
                  <a:tcPr marL="112757" marR="112757" marT="56379" marB="56379" anchor="ctr"/>
                </a:tc>
                <a:tc>
                  <a:txBody>
                    <a:bodyPr/>
                    <a:lstStyle/>
                    <a:p>
                      <a:pPr algn="ctr"/>
                      <a:r>
                        <a:rPr lang="en-US" altLang="zh-CN" sz="2000" dirty="0"/>
                        <a:t>A</a:t>
                      </a:r>
                      <a:endParaRPr lang="zh-CN" altLang="en-US" sz="2000" dirty="0"/>
                    </a:p>
                  </a:txBody>
                  <a:tcPr marL="112757" marR="112757" marT="56379" marB="56379" anchor="ctr"/>
                </a:tc>
                <a:tc>
                  <a:txBody>
                    <a:bodyPr/>
                    <a:lstStyle/>
                    <a:p>
                      <a:pPr algn="ctr"/>
                      <a:r>
                        <a:rPr lang="en-US" altLang="zh-CN" sz="2000" dirty="0"/>
                        <a:t>A</a:t>
                      </a:r>
                      <a:endParaRPr lang="zh-CN" altLang="en-US" sz="2000" dirty="0"/>
                    </a:p>
                  </a:txBody>
                  <a:tcPr marL="112757" marR="112757" marT="56379" marB="56379" anchor="ctr"/>
                </a:tc>
                <a:tc>
                  <a:txBody>
                    <a:bodyPr/>
                    <a:lstStyle/>
                    <a:p>
                      <a:pPr algn="ctr"/>
                      <a:r>
                        <a:rPr lang="en-US" altLang="zh-CN" sz="2000" dirty="0"/>
                        <a:t>A</a:t>
                      </a:r>
                      <a:endParaRPr lang="zh-CN" altLang="en-US" sz="2000" dirty="0"/>
                    </a:p>
                  </a:txBody>
                  <a:tcPr marL="112757" marR="112757" marT="56379" marB="56379" anchor="ctr"/>
                </a:tc>
                <a:extLst>
                  <a:ext uri="{0D108BD9-81ED-4DB2-BD59-A6C34878D82A}">
                    <a16:rowId xmlns:a16="http://schemas.microsoft.com/office/drawing/2014/main" val="10001"/>
                  </a:ext>
                </a:extLst>
              </a:tr>
            </a:tbl>
          </a:graphicData>
        </a:graphic>
      </p:graphicFrame>
      <p:sp>
        <p:nvSpPr>
          <p:cNvPr id="54" name="内容占位符 4">
            <a:extLst>
              <a:ext uri="{FF2B5EF4-FFF2-40B4-BE49-F238E27FC236}">
                <a16:creationId xmlns:a16="http://schemas.microsoft.com/office/drawing/2014/main" id="{3D3C2DFA-2A0C-F44E-A385-EC3BB3CD2350}"/>
              </a:ext>
            </a:extLst>
          </p:cNvPr>
          <p:cNvSpPr txBox="1">
            <a:spLocks/>
          </p:cNvSpPr>
          <p:nvPr/>
        </p:nvSpPr>
        <p:spPr>
          <a:xfrm>
            <a:off x="786473" y="3809236"/>
            <a:ext cx="7251660" cy="4313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ts val="3600"/>
              </a:lnSpc>
              <a:spcBef>
                <a:spcPts val="100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每個節點都執行一次</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OM</a:t>
            </a:r>
            <a:r>
              <a:rPr kumimoji="1" lang="en-US" altLang="zh-CN" sz="2400" b="0" i="0" u="none" strike="noStrike" kern="1200" cap="none" spc="0" normalizeH="0" baseline="-2500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0,i</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(1) </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，以</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1</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執行</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OM</a:t>
            </a:r>
            <a:r>
              <a:rPr kumimoji="1" lang="en-US" altLang="zh-CN" sz="2400" b="0" i="0" u="none" strike="noStrike" kern="1200" cap="none" spc="0" normalizeH="0" baseline="-2500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0,1</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(1)</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爲例：爲了達成對</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1</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的判斷，</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2~6</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間交換信息</a:t>
            </a:r>
            <a:endPar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sp>
        <p:nvSpPr>
          <p:cNvPr id="51" name="灯片编号占位符 2">
            <a:extLst>
              <a:ext uri="{FF2B5EF4-FFF2-40B4-BE49-F238E27FC236}">
                <a16:creationId xmlns:a16="http://schemas.microsoft.com/office/drawing/2014/main" id="{A4327DAD-3A14-7D4A-A8C9-3BE83C877427}"/>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106</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418927902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lang="zh-CN" altLang="en-US" sz="4000" dirty="0"/>
              <a:t>場景一：將軍是忠誠的</a:t>
            </a:r>
            <a:endParaRPr kumimoji="1" lang="zh-CN" altLang="en-US" sz="4000" dirty="0"/>
          </a:p>
        </p:txBody>
      </p:sp>
      <p:grpSp>
        <p:nvGrpSpPr>
          <p:cNvPr id="55" name="组 10">
            <a:extLst>
              <a:ext uri="{FF2B5EF4-FFF2-40B4-BE49-F238E27FC236}">
                <a16:creationId xmlns:a16="http://schemas.microsoft.com/office/drawing/2014/main" id="{42FD93E2-DA74-B246-A650-3FCB6FBE4A53}"/>
              </a:ext>
            </a:extLst>
          </p:cNvPr>
          <p:cNvGrpSpPr/>
          <p:nvPr/>
        </p:nvGrpSpPr>
        <p:grpSpPr>
          <a:xfrm>
            <a:off x="7685385" y="1831313"/>
            <a:ext cx="3846973" cy="3617316"/>
            <a:chOff x="6691439" y="2038617"/>
            <a:chExt cx="1660906" cy="1647576"/>
          </a:xfrm>
        </p:grpSpPr>
        <p:sp>
          <p:nvSpPr>
            <p:cNvPr id="56" name="椭圆 55">
              <a:extLst>
                <a:ext uri="{FF2B5EF4-FFF2-40B4-BE49-F238E27FC236}">
                  <a16:creationId xmlns:a16="http://schemas.microsoft.com/office/drawing/2014/main" id="{B1E51A1B-EBEC-7142-AC30-9A1EB928EA6B}"/>
                </a:ext>
              </a:extLst>
            </p:cNvPr>
            <p:cNvSpPr/>
            <p:nvPr/>
          </p:nvSpPr>
          <p:spPr>
            <a:xfrm>
              <a:off x="6692592" y="2038617"/>
              <a:ext cx="307912" cy="332493"/>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2</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57" name="椭圆 56">
              <a:extLst>
                <a:ext uri="{FF2B5EF4-FFF2-40B4-BE49-F238E27FC236}">
                  <a16:creationId xmlns:a16="http://schemas.microsoft.com/office/drawing/2014/main" id="{1DCC35C1-708D-D242-9EE3-AEE0C6A8B592}"/>
                </a:ext>
              </a:extLst>
            </p:cNvPr>
            <p:cNvSpPr/>
            <p:nvPr/>
          </p:nvSpPr>
          <p:spPr>
            <a:xfrm>
              <a:off x="7564195" y="2045275"/>
              <a:ext cx="307912" cy="332493"/>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3</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58" name="椭圆 57">
              <a:extLst>
                <a:ext uri="{FF2B5EF4-FFF2-40B4-BE49-F238E27FC236}">
                  <a16:creationId xmlns:a16="http://schemas.microsoft.com/office/drawing/2014/main" id="{2A7178E4-662B-134E-B288-7394AC467B72}"/>
                </a:ext>
              </a:extLst>
            </p:cNvPr>
            <p:cNvSpPr/>
            <p:nvPr/>
          </p:nvSpPr>
          <p:spPr>
            <a:xfrm>
              <a:off x="8044433" y="2686689"/>
              <a:ext cx="307912" cy="332493"/>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4</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59" name="椭圆 58">
              <a:extLst>
                <a:ext uri="{FF2B5EF4-FFF2-40B4-BE49-F238E27FC236}">
                  <a16:creationId xmlns:a16="http://schemas.microsoft.com/office/drawing/2014/main" id="{698F744B-E314-1D44-B2BC-89960D6EA36A}"/>
                </a:ext>
              </a:extLst>
            </p:cNvPr>
            <p:cNvSpPr/>
            <p:nvPr/>
          </p:nvSpPr>
          <p:spPr>
            <a:xfrm>
              <a:off x="6691439" y="3353700"/>
              <a:ext cx="307912" cy="332493"/>
            </a:xfrm>
            <a:prstGeom prst="ellipse">
              <a:avLst/>
            </a:prstGeom>
            <a:solidFill>
              <a:srgbClr val="FF000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FFFFFF"/>
                  </a:solidFill>
                  <a:effectLst/>
                  <a:uLnTx/>
                  <a:uFillTx/>
                  <a:latin typeface="Arial"/>
                  <a:ea typeface="微软雅黑 Light"/>
                  <a:cs typeface="+mn-cs"/>
                </a:rPr>
                <a:t>5</a:t>
              </a:r>
              <a:endParaRPr kumimoji="1" lang="zh-CN" altLang="en-US" sz="1800" b="0" i="0" u="none" strike="noStrike" kern="1200" cap="none" spc="0" normalizeH="0" baseline="0" noProof="0" dirty="0">
                <a:ln>
                  <a:noFill/>
                </a:ln>
                <a:solidFill>
                  <a:srgbClr val="FFFFFF"/>
                </a:solidFill>
                <a:effectLst/>
                <a:uLnTx/>
                <a:uFillTx/>
                <a:latin typeface="Arial"/>
                <a:ea typeface="微软雅黑 Light"/>
                <a:cs typeface="+mn-cs"/>
              </a:endParaRPr>
            </a:p>
          </p:txBody>
        </p:sp>
        <p:sp>
          <p:nvSpPr>
            <p:cNvPr id="60" name="椭圆 59">
              <a:extLst>
                <a:ext uri="{FF2B5EF4-FFF2-40B4-BE49-F238E27FC236}">
                  <a16:creationId xmlns:a16="http://schemas.microsoft.com/office/drawing/2014/main" id="{6EF52760-F9B4-5E4D-94E2-A46976A8321D}"/>
                </a:ext>
              </a:extLst>
            </p:cNvPr>
            <p:cNvSpPr/>
            <p:nvPr/>
          </p:nvSpPr>
          <p:spPr>
            <a:xfrm>
              <a:off x="7564195" y="3352127"/>
              <a:ext cx="307912" cy="332493"/>
            </a:xfrm>
            <a:prstGeom prst="ellipse">
              <a:avLst/>
            </a:prstGeom>
            <a:solidFill>
              <a:srgbClr val="FF000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FFFFFF"/>
                  </a:solidFill>
                  <a:effectLst/>
                  <a:uLnTx/>
                  <a:uFillTx/>
                  <a:latin typeface="Arial"/>
                  <a:ea typeface="微软雅黑 Light"/>
                  <a:cs typeface="+mn-cs"/>
                </a:rPr>
                <a:t>6</a:t>
              </a:r>
              <a:endParaRPr kumimoji="1" lang="zh-CN" altLang="en-US" sz="1800" b="0" i="0" u="none" strike="noStrike" kern="1200" cap="none" spc="0" normalizeH="0" baseline="0" noProof="0" dirty="0">
                <a:ln>
                  <a:noFill/>
                </a:ln>
                <a:solidFill>
                  <a:srgbClr val="FFFFFF"/>
                </a:solidFill>
                <a:effectLst/>
                <a:uLnTx/>
                <a:uFillTx/>
                <a:latin typeface="Arial"/>
                <a:ea typeface="微软雅黑 Light"/>
                <a:cs typeface="+mn-cs"/>
              </a:endParaRPr>
            </a:p>
          </p:txBody>
        </p:sp>
        <p:cxnSp>
          <p:nvCxnSpPr>
            <p:cNvPr id="61" name="直线连接符 60">
              <a:extLst>
                <a:ext uri="{FF2B5EF4-FFF2-40B4-BE49-F238E27FC236}">
                  <a16:creationId xmlns:a16="http://schemas.microsoft.com/office/drawing/2014/main" id="{C49547E4-F030-304F-AC8B-5C0D1E97D613}"/>
                </a:ext>
              </a:extLst>
            </p:cNvPr>
            <p:cNvCxnSpPr/>
            <p:nvPr/>
          </p:nvCxnSpPr>
          <p:spPr>
            <a:xfrm>
              <a:off x="7000504" y="2204864"/>
              <a:ext cx="563691" cy="6658"/>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直线连接符 61">
              <a:extLst>
                <a:ext uri="{FF2B5EF4-FFF2-40B4-BE49-F238E27FC236}">
                  <a16:creationId xmlns:a16="http://schemas.microsoft.com/office/drawing/2014/main" id="{B42690AF-CD0E-A643-9BD9-7898A6493B69}"/>
                </a:ext>
              </a:extLst>
            </p:cNvPr>
            <p:cNvCxnSpPr/>
            <p:nvPr/>
          </p:nvCxnSpPr>
          <p:spPr>
            <a:xfrm>
              <a:off x="6955411" y="2322418"/>
              <a:ext cx="1089022" cy="530518"/>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直线连接符 62">
              <a:extLst>
                <a:ext uri="{FF2B5EF4-FFF2-40B4-BE49-F238E27FC236}">
                  <a16:creationId xmlns:a16="http://schemas.microsoft.com/office/drawing/2014/main" id="{0A56768D-8603-2046-A21F-9CFBFE167E45}"/>
                </a:ext>
              </a:extLst>
            </p:cNvPr>
            <p:cNvCxnSpPr/>
            <p:nvPr/>
          </p:nvCxnSpPr>
          <p:spPr>
            <a:xfrm flipH="1">
              <a:off x="6845395" y="2371110"/>
              <a:ext cx="1153" cy="982590"/>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直线连接符 63">
              <a:extLst>
                <a:ext uri="{FF2B5EF4-FFF2-40B4-BE49-F238E27FC236}">
                  <a16:creationId xmlns:a16="http://schemas.microsoft.com/office/drawing/2014/main" id="{AC02F420-7E98-1C42-83C2-AE7CDBB90021}"/>
                </a:ext>
              </a:extLst>
            </p:cNvPr>
            <p:cNvCxnSpPr/>
            <p:nvPr/>
          </p:nvCxnSpPr>
          <p:spPr>
            <a:xfrm>
              <a:off x="6955411" y="2322418"/>
              <a:ext cx="653877" cy="1078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直线连接符 64">
              <a:extLst>
                <a:ext uri="{FF2B5EF4-FFF2-40B4-BE49-F238E27FC236}">
                  <a16:creationId xmlns:a16="http://schemas.microsoft.com/office/drawing/2014/main" id="{2D822C67-1326-9D48-B5FE-2D02CACE7D4D}"/>
                </a:ext>
              </a:extLst>
            </p:cNvPr>
            <p:cNvCxnSpPr/>
            <p:nvPr/>
          </p:nvCxnSpPr>
          <p:spPr>
            <a:xfrm flipV="1">
              <a:off x="6999351" y="3518374"/>
              <a:ext cx="564844" cy="1573"/>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直线连接符 65">
              <a:extLst>
                <a:ext uri="{FF2B5EF4-FFF2-40B4-BE49-F238E27FC236}">
                  <a16:creationId xmlns:a16="http://schemas.microsoft.com/office/drawing/2014/main" id="{B366A169-A7B3-6541-B503-7C85DA268168}"/>
                </a:ext>
              </a:extLst>
            </p:cNvPr>
            <p:cNvCxnSpPr/>
            <p:nvPr/>
          </p:nvCxnSpPr>
          <p:spPr>
            <a:xfrm flipV="1">
              <a:off x="7827014" y="2970490"/>
              <a:ext cx="262512" cy="430329"/>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直线连接符 66">
              <a:extLst>
                <a:ext uri="{FF2B5EF4-FFF2-40B4-BE49-F238E27FC236}">
                  <a16:creationId xmlns:a16="http://schemas.microsoft.com/office/drawing/2014/main" id="{4E7375CE-8754-0548-961B-B8E81F76442F}"/>
                </a:ext>
              </a:extLst>
            </p:cNvPr>
            <p:cNvCxnSpPr/>
            <p:nvPr/>
          </p:nvCxnSpPr>
          <p:spPr>
            <a:xfrm>
              <a:off x="7827014" y="2329076"/>
              <a:ext cx="262512" cy="406305"/>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直线连接符 67">
              <a:extLst>
                <a:ext uri="{FF2B5EF4-FFF2-40B4-BE49-F238E27FC236}">
                  <a16:creationId xmlns:a16="http://schemas.microsoft.com/office/drawing/2014/main" id="{5301C558-8F72-2443-BC58-376842E07B78}"/>
                </a:ext>
              </a:extLst>
            </p:cNvPr>
            <p:cNvCxnSpPr/>
            <p:nvPr/>
          </p:nvCxnSpPr>
          <p:spPr>
            <a:xfrm flipH="1">
              <a:off x="6954258" y="2329076"/>
              <a:ext cx="655030" cy="1073316"/>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直线连接符 68">
              <a:extLst>
                <a:ext uri="{FF2B5EF4-FFF2-40B4-BE49-F238E27FC236}">
                  <a16:creationId xmlns:a16="http://schemas.microsoft.com/office/drawing/2014/main" id="{3804194D-3E22-454E-8660-3E9620181776}"/>
                </a:ext>
              </a:extLst>
            </p:cNvPr>
            <p:cNvCxnSpPr/>
            <p:nvPr/>
          </p:nvCxnSpPr>
          <p:spPr>
            <a:xfrm>
              <a:off x="7718151" y="2377768"/>
              <a:ext cx="0" cy="974359"/>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直线连接符 69">
              <a:extLst>
                <a:ext uri="{FF2B5EF4-FFF2-40B4-BE49-F238E27FC236}">
                  <a16:creationId xmlns:a16="http://schemas.microsoft.com/office/drawing/2014/main" id="{DA7076A3-581C-5543-80FB-6FD2F547253F}"/>
                </a:ext>
              </a:extLst>
            </p:cNvPr>
            <p:cNvCxnSpPr/>
            <p:nvPr/>
          </p:nvCxnSpPr>
          <p:spPr>
            <a:xfrm flipV="1">
              <a:off x="6954258" y="2852936"/>
              <a:ext cx="1090175" cy="549456"/>
            </a:xfrm>
            <a:prstGeom prst="line">
              <a:avLst/>
            </a:prstGeom>
          </p:spPr>
          <p:style>
            <a:lnRef idx="1">
              <a:schemeClr val="accent1"/>
            </a:lnRef>
            <a:fillRef idx="0">
              <a:schemeClr val="accent1"/>
            </a:fillRef>
            <a:effectRef idx="0">
              <a:schemeClr val="accent1"/>
            </a:effectRef>
            <a:fontRef idx="minor">
              <a:schemeClr val="tx1"/>
            </a:fontRef>
          </p:style>
        </p:cxnSp>
      </p:grpSp>
      <p:graphicFrame>
        <p:nvGraphicFramePr>
          <p:cNvPr id="71" name="表格 70">
            <a:extLst>
              <a:ext uri="{FF2B5EF4-FFF2-40B4-BE49-F238E27FC236}">
                <a16:creationId xmlns:a16="http://schemas.microsoft.com/office/drawing/2014/main" id="{AA62AF50-88BA-0A49-A223-93C0675188D7}"/>
              </a:ext>
            </a:extLst>
          </p:cNvPr>
          <p:cNvGraphicFramePr>
            <a:graphicFrameLocks noGrp="1"/>
          </p:cNvGraphicFramePr>
          <p:nvPr>
            <p:extLst>
              <p:ext uri="{D42A27DB-BD31-4B8C-83A1-F6EECF244321}">
                <p14:modId xmlns:p14="http://schemas.microsoft.com/office/powerpoint/2010/main" val="1937614546"/>
              </p:ext>
            </p:extLst>
          </p:nvPr>
        </p:nvGraphicFramePr>
        <p:xfrm>
          <a:off x="1107600" y="1921588"/>
          <a:ext cx="5595529" cy="3614518"/>
        </p:xfrm>
        <a:graphic>
          <a:graphicData uri="http://schemas.openxmlformats.org/drawingml/2006/table">
            <a:tbl>
              <a:tblPr firstRow="1" bandRow="1">
                <a:tableStyleId>{BC89EF96-8CEA-46FF-86C4-4CE0E7609802}</a:tableStyleId>
              </a:tblPr>
              <a:tblGrid>
                <a:gridCol w="1357749">
                  <a:extLst>
                    <a:ext uri="{9D8B030D-6E8A-4147-A177-3AD203B41FA5}">
                      <a16:colId xmlns:a16="http://schemas.microsoft.com/office/drawing/2014/main" val="20000"/>
                    </a:ext>
                  </a:extLst>
                </a:gridCol>
                <a:gridCol w="847556">
                  <a:extLst>
                    <a:ext uri="{9D8B030D-6E8A-4147-A177-3AD203B41FA5}">
                      <a16:colId xmlns:a16="http://schemas.microsoft.com/office/drawing/2014/main" val="20001"/>
                    </a:ext>
                  </a:extLst>
                </a:gridCol>
                <a:gridCol w="847556">
                  <a:extLst>
                    <a:ext uri="{9D8B030D-6E8A-4147-A177-3AD203B41FA5}">
                      <a16:colId xmlns:a16="http://schemas.microsoft.com/office/drawing/2014/main" val="20002"/>
                    </a:ext>
                  </a:extLst>
                </a:gridCol>
                <a:gridCol w="847556">
                  <a:extLst>
                    <a:ext uri="{9D8B030D-6E8A-4147-A177-3AD203B41FA5}">
                      <a16:colId xmlns:a16="http://schemas.microsoft.com/office/drawing/2014/main" val="20003"/>
                    </a:ext>
                  </a:extLst>
                </a:gridCol>
                <a:gridCol w="847556">
                  <a:extLst>
                    <a:ext uri="{9D8B030D-6E8A-4147-A177-3AD203B41FA5}">
                      <a16:colId xmlns:a16="http://schemas.microsoft.com/office/drawing/2014/main" val="20004"/>
                    </a:ext>
                  </a:extLst>
                </a:gridCol>
                <a:gridCol w="847556">
                  <a:extLst>
                    <a:ext uri="{9D8B030D-6E8A-4147-A177-3AD203B41FA5}">
                      <a16:colId xmlns:a16="http://schemas.microsoft.com/office/drawing/2014/main" val="20005"/>
                    </a:ext>
                  </a:extLst>
                </a:gridCol>
              </a:tblGrid>
              <a:tr h="823108">
                <a:tc>
                  <a:txBody>
                    <a:bodyPr/>
                    <a:lstStyle/>
                    <a:p>
                      <a:pPr algn="r"/>
                      <a:r>
                        <a:rPr lang="zh-CN" altLang="en-US" sz="2000" dirty="0">
                          <a:solidFill>
                            <a:schemeClr val="bg1"/>
                          </a:solidFill>
                          <a:latin typeface="Microsoft YaHei" panose="020B0503020204020204" pitchFamily="34" charset="-122"/>
                          <a:ea typeface="Microsoft YaHei" panose="020B0503020204020204" pitchFamily="34" charset="-122"/>
                        </a:rPr>
                        <a:t>接收</a:t>
                      </a:r>
                      <a:endParaRPr lang="en-US" altLang="zh-CN" sz="2000" dirty="0">
                        <a:solidFill>
                          <a:schemeClr val="bg1"/>
                        </a:solidFill>
                        <a:latin typeface="Microsoft YaHei" panose="020B0503020204020204" pitchFamily="34" charset="-122"/>
                        <a:ea typeface="Microsoft YaHei" panose="020B0503020204020204" pitchFamily="34" charset="-122"/>
                      </a:endParaRPr>
                    </a:p>
                    <a:p>
                      <a:r>
                        <a:rPr lang="zh-CN" altLang="en-US" sz="2000" dirty="0">
                          <a:solidFill>
                            <a:schemeClr val="bg1"/>
                          </a:solidFill>
                          <a:latin typeface="Microsoft YaHei" panose="020B0503020204020204" pitchFamily="34" charset="-122"/>
                          <a:ea typeface="Microsoft YaHei" panose="020B0503020204020204" pitchFamily="34" charset="-122"/>
                        </a:rPr>
                        <a:t>發送</a:t>
                      </a:r>
                    </a:p>
                  </a:txBody>
                  <a:tcPr>
                    <a:lnTlToBr w="12700" cap="flat" cmpd="sng" algn="ctr">
                      <a:solidFill>
                        <a:schemeClr val="tx1"/>
                      </a:solidFill>
                      <a:prstDash val="solid"/>
                      <a:round/>
                      <a:headEnd type="none" w="med" len="med"/>
                      <a:tailEnd type="none" w="med" len="med"/>
                    </a:lnTlToBr>
                    <a:solidFill>
                      <a:srgbClr val="00B0F0"/>
                    </a:solidFill>
                  </a:tcPr>
                </a:tc>
                <a:tc>
                  <a:txBody>
                    <a:bodyPr/>
                    <a:lstStyle/>
                    <a:p>
                      <a:pPr algn="ctr"/>
                      <a:r>
                        <a:rPr lang="en-US" altLang="zh-CN" sz="2000" dirty="0">
                          <a:solidFill>
                            <a:schemeClr val="bg1"/>
                          </a:solidFill>
                          <a:latin typeface="Microsoft YaHei" panose="020B0503020204020204" pitchFamily="34" charset="-122"/>
                          <a:ea typeface="Microsoft YaHei" panose="020B0503020204020204" pitchFamily="34" charset="-122"/>
                        </a:rPr>
                        <a:t>2(A)</a:t>
                      </a:r>
                      <a:endParaRPr lang="zh-CN" altLang="en-US" sz="2000" dirty="0">
                        <a:solidFill>
                          <a:schemeClr val="bg1"/>
                        </a:solidFill>
                        <a:latin typeface="Microsoft YaHei" panose="020B0503020204020204" pitchFamily="34" charset="-122"/>
                        <a:ea typeface="Microsoft YaHei" panose="020B0503020204020204" pitchFamily="34" charset="-122"/>
                      </a:endParaRPr>
                    </a:p>
                  </a:txBody>
                  <a:tcPr anchor="ctr">
                    <a:solidFill>
                      <a:srgbClr val="00B0F0"/>
                    </a:solidFill>
                  </a:tcPr>
                </a:tc>
                <a:tc>
                  <a:txBody>
                    <a:bodyPr/>
                    <a:lstStyle/>
                    <a:p>
                      <a:pPr algn="ctr"/>
                      <a:r>
                        <a:rPr lang="en-US" altLang="zh-CN" sz="2000" dirty="0">
                          <a:solidFill>
                            <a:schemeClr val="bg1"/>
                          </a:solidFill>
                          <a:latin typeface="Microsoft YaHei" panose="020B0503020204020204" pitchFamily="34" charset="-122"/>
                          <a:ea typeface="Microsoft YaHei" panose="020B0503020204020204" pitchFamily="34" charset="-122"/>
                        </a:rPr>
                        <a:t>3(A)</a:t>
                      </a:r>
                      <a:endParaRPr lang="zh-CN" altLang="en-US" sz="2000" dirty="0">
                        <a:solidFill>
                          <a:schemeClr val="bg1"/>
                        </a:solidFill>
                        <a:latin typeface="Microsoft YaHei" panose="020B0503020204020204" pitchFamily="34" charset="-122"/>
                        <a:ea typeface="Microsoft YaHei" panose="020B0503020204020204" pitchFamily="34" charset="-122"/>
                      </a:endParaRPr>
                    </a:p>
                  </a:txBody>
                  <a:tcPr anchor="ctr">
                    <a:solidFill>
                      <a:srgbClr val="00B0F0"/>
                    </a:solidFill>
                  </a:tcPr>
                </a:tc>
                <a:tc>
                  <a:txBody>
                    <a:bodyPr/>
                    <a:lstStyle/>
                    <a:p>
                      <a:pPr algn="ctr"/>
                      <a:r>
                        <a:rPr lang="en-US" altLang="zh-CN" sz="2000" dirty="0">
                          <a:solidFill>
                            <a:schemeClr val="bg1"/>
                          </a:solidFill>
                          <a:latin typeface="Microsoft YaHei" panose="020B0503020204020204" pitchFamily="34" charset="-122"/>
                          <a:ea typeface="Microsoft YaHei" panose="020B0503020204020204" pitchFamily="34" charset="-122"/>
                        </a:rPr>
                        <a:t>4(A)</a:t>
                      </a:r>
                      <a:endParaRPr lang="zh-CN" altLang="en-US" sz="2000" dirty="0">
                        <a:solidFill>
                          <a:schemeClr val="bg1"/>
                        </a:solidFill>
                        <a:latin typeface="Microsoft YaHei" panose="020B0503020204020204" pitchFamily="34" charset="-122"/>
                        <a:ea typeface="Microsoft YaHei" panose="020B0503020204020204" pitchFamily="34" charset="-122"/>
                      </a:endParaRPr>
                    </a:p>
                  </a:txBody>
                  <a:tcPr anchor="ctr">
                    <a:solidFill>
                      <a:srgbClr val="00B0F0"/>
                    </a:solidFill>
                  </a:tcPr>
                </a:tc>
                <a:tc>
                  <a:txBody>
                    <a:bodyPr/>
                    <a:lstStyle/>
                    <a:p>
                      <a:pPr algn="ctr"/>
                      <a:r>
                        <a:rPr lang="en-US" altLang="zh-CN" sz="2000" dirty="0">
                          <a:solidFill>
                            <a:schemeClr val="bg1"/>
                          </a:solidFill>
                          <a:latin typeface="Microsoft YaHei" panose="020B0503020204020204" pitchFamily="34" charset="-122"/>
                          <a:ea typeface="Microsoft YaHei" panose="020B0503020204020204" pitchFamily="34" charset="-122"/>
                        </a:rPr>
                        <a:t>5</a:t>
                      </a:r>
                      <a:endParaRPr lang="zh-CN" altLang="en-US" sz="2000" dirty="0">
                        <a:solidFill>
                          <a:schemeClr val="bg1"/>
                        </a:solidFill>
                        <a:latin typeface="Microsoft YaHei" panose="020B0503020204020204" pitchFamily="34" charset="-122"/>
                        <a:ea typeface="Microsoft YaHei" panose="020B0503020204020204" pitchFamily="34" charset="-122"/>
                      </a:endParaRPr>
                    </a:p>
                  </a:txBody>
                  <a:tcPr anchor="ctr">
                    <a:solidFill>
                      <a:srgbClr val="00B0F0"/>
                    </a:solidFill>
                  </a:tcPr>
                </a:tc>
                <a:tc>
                  <a:txBody>
                    <a:bodyPr/>
                    <a:lstStyle/>
                    <a:p>
                      <a:pPr algn="ctr"/>
                      <a:r>
                        <a:rPr lang="en-US" altLang="zh-CN" sz="2000" dirty="0">
                          <a:solidFill>
                            <a:schemeClr val="bg1"/>
                          </a:solidFill>
                          <a:latin typeface="Microsoft YaHei" panose="020B0503020204020204" pitchFamily="34" charset="-122"/>
                          <a:ea typeface="Microsoft YaHei" panose="020B0503020204020204" pitchFamily="34" charset="-122"/>
                        </a:rPr>
                        <a:t>6</a:t>
                      </a:r>
                      <a:endParaRPr lang="zh-CN" altLang="en-US" sz="2000" dirty="0">
                        <a:solidFill>
                          <a:schemeClr val="bg1"/>
                        </a:solidFill>
                        <a:latin typeface="Microsoft YaHei" panose="020B0503020204020204" pitchFamily="34" charset="-122"/>
                        <a:ea typeface="Microsoft YaHei" panose="020B0503020204020204" pitchFamily="34" charset="-122"/>
                      </a:endParaRPr>
                    </a:p>
                  </a:txBody>
                  <a:tcPr anchor="ctr">
                    <a:solidFill>
                      <a:srgbClr val="00B0F0"/>
                    </a:solidFill>
                  </a:tcPr>
                </a:tc>
                <a:extLst>
                  <a:ext uri="{0D108BD9-81ED-4DB2-BD59-A6C34878D82A}">
                    <a16:rowId xmlns:a16="http://schemas.microsoft.com/office/drawing/2014/main" val="10000"/>
                  </a:ext>
                </a:extLst>
              </a:tr>
              <a:tr h="465235">
                <a:tc>
                  <a:txBody>
                    <a:bodyPr/>
                    <a:lstStyle/>
                    <a:p>
                      <a:pPr algn="ctr"/>
                      <a:r>
                        <a:rPr lang="en-US" altLang="zh-CN" sz="2000" dirty="0">
                          <a:latin typeface="Microsoft YaHei" panose="020B0503020204020204" pitchFamily="34" charset="-122"/>
                          <a:ea typeface="Microsoft YaHei" panose="020B0503020204020204" pitchFamily="34" charset="-122"/>
                        </a:rPr>
                        <a:t>2</a:t>
                      </a:r>
                      <a:endParaRPr lang="zh-CN" altLang="en-US" sz="2000" dirty="0">
                        <a:latin typeface="Microsoft YaHei" panose="020B0503020204020204" pitchFamily="34" charset="-122"/>
                        <a:ea typeface="Microsoft YaHei" panose="020B0503020204020204" pitchFamily="34" charset="-122"/>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2000" dirty="0">
                        <a:latin typeface="Microsoft YaHei" panose="020B0503020204020204" pitchFamily="34" charset="-122"/>
                        <a:ea typeface="Microsoft YaHei" panose="020B0503020204020204" pitchFamily="34" charset="-122"/>
                      </a:endParaRPr>
                    </a:p>
                  </a:txBody>
                  <a:tcPr anchor="ctr">
                    <a:lnBlToTr w="12700" cap="flat" cmpd="sng" algn="ctr">
                      <a:solidFill>
                        <a:schemeClr val="tx1"/>
                      </a:solidFill>
                      <a:prstDash val="solid"/>
                      <a:round/>
                      <a:headEnd type="none" w="med" len="med"/>
                      <a:tailEnd type="none" w="med" len="med"/>
                    </a:lnBlToTr>
                  </a:tcPr>
                </a:tc>
                <a:tc>
                  <a:txBody>
                    <a:bodyPr/>
                    <a:lstStyle/>
                    <a:p>
                      <a:pPr algn="ctr"/>
                      <a:r>
                        <a:rPr lang="en-US" altLang="zh-CN" sz="2000" dirty="0">
                          <a:latin typeface="Microsoft YaHei" panose="020B0503020204020204" pitchFamily="34" charset="-122"/>
                          <a:ea typeface="Microsoft YaHei" panose="020B0503020204020204" pitchFamily="34" charset="-122"/>
                        </a:rPr>
                        <a:t>A</a:t>
                      </a:r>
                      <a:endParaRPr lang="zh-CN" altLang="en-US" sz="200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2000" dirty="0">
                          <a:latin typeface="Microsoft YaHei" panose="020B0503020204020204" pitchFamily="34" charset="-122"/>
                          <a:ea typeface="Microsoft YaHei" panose="020B0503020204020204" pitchFamily="34" charset="-122"/>
                        </a:rPr>
                        <a:t>A</a:t>
                      </a:r>
                      <a:endParaRPr lang="zh-CN" altLang="en-US" sz="200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2000" dirty="0">
                          <a:latin typeface="Microsoft YaHei" panose="020B0503020204020204" pitchFamily="34" charset="-122"/>
                          <a:ea typeface="Microsoft YaHei" panose="020B0503020204020204" pitchFamily="34" charset="-122"/>
                        </a:rPr>
                        <a:t>A</a:t>
                      </a:r>
                      <a:endParaRPr lang="zh-CN" altLang="en-US" sz="200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2000" dirty="0">
                          <a:latin typeface="Microsoft YaHei" panose="020B0503020204020204" pitchFamily="34" charset="-122"/>
                          <a:ea typeface="Microsoft YaHei" panose="020B0503020204020204" pitchFamily="34" charset="-122"/>
                        </a:rPr>
                        <a:t>A</a:t>
                      </a:r>
                      <a:endParaRPr lang="zh-CN" altLang="en-US" sz="2000" dirty="0">
                        <a:latin typeface="Microsoft YaHei" panose="020B0503020204020204" pitchFamily="34" charset="-122"/>
                        <a:ea typeface="Microsoft YaHei" panose="020B0503020204020204" pitchFamily="34" charset="-122"/>
                      </a:endParaRPr>
                    </a:p>
                  </a:txBody>
                  <a:tcPr anchor="ctr"/>
                </a:tc>
                <a:extLst>
                  <a:ext uri="{0D108BD9-81ED-4DB2-BD59-A6C34878D82A}">
                    <a16:rowId xmlns:a16="http://schemas.microsoft.com/office/drawing/2014/main" val="10001"/>
                  </a:ext>
                </a:extLst>
              </a:tr>
              <a:tr h="465235">
                <a:tc>
                  <a:txBody>
                    <a:bodyPr/>
                    <a:lstStyle/>
                    <a:p>
                      <a:pPr algn="ctr"/>
                      <a:r>
                        <a:rPr lang="en-US" altLang="zh-CN" sz="2000" dirty="0">
                          <a:latin typeface="Microsoft YaHei" panose="020B0503020204020204" pitchFamily="34" charset="-122"/>
                          <a:ea typeface="Microsoft YaHei" panose="020B0503020204020204" pitchFamily="34" charset="-122"/>
                        </a:rPr>
                        <a:t>3</a:t>
                      </a:r>
                      <a:endParaRPr lang="zh-CN" altLang="en-US" sz="2000" dirty="0">
                        <a:latin typeface="Microsoft YaHei" panose="020B0503020204020204" pitchFamily="34" charset="-122"/>
                        <a:ea typeface="Microsoft YaHei" panose="020B0503020204020204" pitchFamily="34" charset="-122"/>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Microsoft YaHei" panose="020B0503020204020204" pitchFamily="34" charset="-122"/>
                          <a:ea typeface="Microsoft YaHei" panose="020B0503020204020204" pitchFamily="34" charset="-122"/>
                        </a:rPr>
                        <a:t>A</a:t>
                      </a:r>
                      <a:endParaRPr lang="zh-CN" altLang="en-US" sz="2000" dirty="0">
                        <a:latin typeface="Microsoft YaHei" panose="020B0503020204020204" pitchFamily="34" charset="-122"/>
                        <a:ea typeface="Microsoft YaHei" panose="020B0503020204020204" pitchFamily="34" charset="-122"/>
                      </a:endParaRPr>
                    </a:p>
                  </a:txBody>
                  <a:tcPr anchor="ctr"/>
                </a:tc>
                <a:tc>
                  <a:txBody>
                    <a:bodyPr/>
                    <a:lstStyle/>
                    <a:p>
                      <a:pPr algn="ctr"/>
                      <a:endParaRPr lang="zh-CN" altLang="en-US" sz="2000" dirty="0">
                        <a:latin typeface="Microsoft YaHei" panose="020B0503020204020204" pitchFamily="34" charset="-122"/>
                        <a:ea typeface="Microsoft YaHei" panose="020B0503020204020204" pitchFamily="34" charset="-122"/>
                      </a:endParaRPr>
                    </a:p>
                  </a:txBody>
                  <a:tcPr anchor="ctr">
                    <a:lnBlToTr w="12700" cap="flat" cmpd="sng" algn="ctr">
                      <a:solidFill>
                        <a:schemeClr val="tx1"/>
                      </a:solidFill>
                      <a:prstDash val="solid"/>
                      <a:round/>
                      <a:headEnd type="none" w="med" len="med"/>
                      <a:tailEnd type="none" w="med" len="med"/>
                    </a:lnBlToTr>
                  </a:tcPr>
                </a:tc>
                <a:tc>
                  <a:txBody>
                    <a:bodyPr/>
                    <a:lstStyle/>
                    <a:p>
                      <a:pPr algn="ctr"/>
                      <a:r>
                        <a:rPr lang="en-US" altLang="zh-CN" sz="2000" dirty="0">
                          <a:latin typeface="Microsoft YaHei" panose="020B0503020204020204" pitchFamily="34" charset="-122"/>
                          <a:ea typeface="Microsoft YaHei" panose="020B0503020204020204" pitchFamily="34" charset="-122"/>
                        </a:rPr>
                        <a:t>A</a:t>
                      </a:r>
                      <a:endParaRPr lang="zh-CN" altLang="en-US" sz="200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2000" dirty="0">
                          <a:latin typeface="Microsoft YaHei" panose="020B0503020204020204" pitchFamily="34" charset="-122"/>
                          <a:ea typeface="Microsoft YaHei" panose="020B0503020204020204" pitchFamily="34" charset="-122"/>
                        </a:rPr>
                        <a:t>A</a:t>
                      </a:r>
                      <a:endParaRPr lang="zh-CN" altLang="en-US" sz="200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2000" dirty="0">
                          <a:latin typeface="Microsoft YaHei" panose="020B0503020204020204" pitchFamily="34" charset="-122"/>
                          <a:ea typeface="Microsoft YaHei" panose="020B0503020204020204" pitchFamily="34" charset="-122"/>
                        </a:rPr>
                        <a:t>A</a:t>
                      </a:r>
                      <a:endParaRPr lang="zh-CN" altLang="en-US" sz="2000" dirty="0">
                        <a:latin typeface="Microsoft YaHei" panose="020B0503020204020204" pitchFamily="34" charset="-122"/>
                        <a:ea typeface="Microsoft YaHei" panose="020B0503020204020204" pitchFamily="34" charset="-122"/>
                      </a:endParaRPr>
                    </a:p>
                  </a:txBody>
                  <a:tcPr anchor="ctr"/>
                </a:tc>
                <a:extLst>
                  <a:ext uri="{0D108BD9-81ED-4DB2-BD59-A6C34878D82A}">
                    <a16:rowId xmlns:a16="http://schemas.microsoft.com/office/drawing/2014/main" val="10002"/>
                  </a:ext>
                </a:extLst>
              </a:tr>
              <a:tr h="465235">
                <a:tc>
                  <a:txBody>
                    <a:bodyPr/>
                    <a:lstStyle/>
                    <a:p>
                      <a:pPr algn="ctr"/>
                      <a:r>
                        <a:rPr lang="en-US" altLang="zh-CN" sz="2000" dirty="0">
                          <a:latin typeface="Microsoft YaHei" panose="020B0503020204020204" pitchFamily="34" charset="-122"/>
                          <a:ea typeface="Microsoft YaHei" panose="020B0503020204020204" pitchFamily="34" charset="-122"/>
                        </a:rPr>
                        <a:t>4</a:t>
                      </a:r>
                      <a:endParaRPr lang="zh-CN" altLang="en-US" sz="2000" dirty="0">
                        <a:latin typeface="Microsoft YaHei" panose="020B0503020204020204" pitchFamily="34" charset="-122"/>
                        <a:ea typeface="Microsoft YaHei" panose="020B0503020204020204" pitchFamily="34" charset="-122"/>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Microsoft YaHei" panose="020B0503020204020204" pitchFamily="34" charset="-122"/>
                          <a:ea typeface="Microsoft YaHei" panose="020B0503020204020204" pitchFamily="34" charset="-122"/>
                        </a:rPr>
                        <a:t>A</a:t>
                      </a:r>
                      <a:endParaRPr lang="zh-CN" altLang="en-US" sz="200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2000" dirty="0">
                          <a:latin typeface="Microsoft YaHei" panose="020B0503020204020204" pitchFamily="34" charset="-122"/>
                          <a:ea typeface="Microsoft YaHei" panose="020B0503020204020204" pitchFamily="34" charset="-122"/>
                        </a:rPr>
                        <a:t>A</a:t>
                      </a:r>
                      <a:endParaRPr lang="zh-CN" altLang="en-US" sz="2000" dirty="0">
                        <a:latin typeface="Microsoft YaHei" panose="020B0503020204020204" pitchFamily="34" charset="-122"/>
                        <a:ea typeface="Microsoft YaHei" panose="020B0503020204020204" pitchFamily="34" charset="-122"/>
                      </a:endParaRPr>
                    </a:p>
                  </a:txBody>
                  <a:tcPr anchor="ctr"/>
                </a:tc>
                <a:tc>
                  <a:txBody>
                    <a:bodyPr/>
                    <a:lstStyle/>
                    <a:p>
                      <a:pPr algn="ctr"/>
                      <a:endParaRPr lang="zh-CN" altLang="en-US" sz="2000" dirty="0">
                        <a:latin typeface="Microsoft YaHei" panose="020B0503020204020204" pitchFamily="34" charset="-122"/>
                        <a:ea typeface="Microsoft YaHei" panose="020B0503020204020204" pitchFamily="34" charset="-122"/>
                      </a:endParaRPr>
                    </a:p>
                  </a:txBody>
                  <a:tcPr anchor="ctr">
                    <a:lnBlToTr w="12700" cap="flat" cmpd="sng" algn="ctr">
                      <a:solidFill>
                        <a:schemeClr val="tx1"/>
                      </a:solidFill>
                      <a:prstDash val="solid"/>
                      <a:round/>
                      <a:headEnd type="none" w="med" len="med"/>
                      <a:tailEnd type="none" w="med" len="med"/>
                    </a:lnBlToTr>
                  </a:tcPr>
                </a:tc>
                <a:tc>
                  <a:txBody>
                    <a:bodyPr/>
                    <a:lstStyle/>
                    <a:p>
                      <a:pPr algn="ctr"/>
                      <a:r>
                        <a:rPr lang="en-US" altLang="zh-CN" sz="2000" dirty="0">
                          <a:latin typeface="Microsoft YaHei" panose="020B0503020204020204" pitchFamily="34" charset="-122"/>
                          <a:ea typeface="Microsoft YaHei" panose="020B0503020204020204" pitchFamily="34" charset="-122"/>
                        </a:rPr>
                        <a:t>A</a:t>
                      </a:r>
                      <a:endParaRPr lang="zh-CN" altLang="en-US" sz="200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2000" dirty="0">
                          <a:latin typeface="Microsoft YaHei" panose="020B0503020204020204" pitchFamily="34" charset="-122"/>
                          <a:ea typeface="Microsoft YaHei" panose="020B0503020204020204" pitchFamily="34" charset="-122"/>
                        </a:rPr>
                        <a:t>A</a:t>
                      </a:r>
                      <a:endParaRPr lang="zh-CN" altLang="en-US" sz="2000" dirty="0">
                        <a:latin typeface="Microsoft YaHei" panose="020B0503020204020204" pitchFamily="34" charset="-122"/>
                        <a:ea typeface="Microsoft YaHei" panose="020B0503020204020204" pitchFamily="34" charset="-122"/>
                      </a:endParaRPr>
                    </a:p>
                  </a:txBody>
                  <a:tcPr anchor="ctr"/>
                </a:tc>
                <a:extLst>
                  <a:ext uri="{0D108BD9-81ED-4DB2-BD59-A6C34878D82A}">
                    <a16:rowId xmlns:a16="http://schemas.microsoft.com/office/drawing/2014/main" val="10003"/>
                  </a:ext>
                </a:extLst>
              </a:tr>
              <a:tr h="465235">
                <a:tc>
                  <a:txBody>
                    <a:bodyPr/>
                    <a:lstStyle/>
                    <a:p>
                      <a:pPr algn="ctr"/>
                      <a:r>
                        <a:rPr lang="en-US" altLang="zh-CN" sz="2000" dirty="0">
                          <a:latin typeface="Microsoft YaHei" panose="020B0503020204020204" pitchFamily="34" charset="-122"/>
                          <a:ea typeface="Microsoft YaHei" panose="020B0503020204020204" pitchFamily="34" charset="-122"/>
                        </a:rPr>
                        <a:t>5</a:t>
                      </a:r>
                      <a:endParaRPr lang="zh-CN" altLang="en-US" sz="2000" dirty="0">
                        <a:latin typeface="Microsoft YaHei" panose="020B0503020204020204" pitchFamily="34" charset="-122"/>
                        <a:ea typeface="Microsoft YaHei" panose="020B0503020204020204" pitchFamily="34" charset="-122"/>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Microsoft YaHei" panose="020B0503020204020204" pitchFamily="34" charset="-122"/>
                          <a:ea typeface="Microsoft YaHei" panose="020B0503020204020204" pitchFamily="34" charset="-122"/>
                        </a:rPr>
                        <a:t>x2</a:t>
                      </a:r>
                      <a:endParaRPr lang="zh-CN" altLang="en-US" sz="200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2000" dirty="0">
                          <a:latin typeface="Microsoft YaHei" panose="020B0503020204020204" pitchFamily="34" charset="-122"/>
                          <a:ea typeface="Microsoft YaHei" panose="020B0503020204020204" pitchFamily="34" charset="-122"/>
                        </a:rPr>
                        <a:t>x3</a:t>
                      </a:r>
                      <a:endParaRPr lang="zh-CN" altLang="en-US" sz="200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2000" dirty="0">
                          <a:latin typeface="Microsoft YaHei" panose="020B0503020204020204" pitchFamily="34" charset="-122"/>
                          <a:ea typeface="Microsoft YaHei" panose="020B0503020204020204" pitchFamily="34" charset="-122"/>
                        </a:rPr>
                        <a:t>x4</a:t>
                      </a:r>
                      <a:endParaRPr lang="zh-CN" altLang="en-US" sz="2000" dirty="0">
                        <a:latin typeface="Microsoft YaHei" panose="020B0503020204020204" pitchFamily="34" charset="-122"/>
                        <a:ea typeface="Microsoft YaHei" panose="020B0503020204020204" pitchFamily="34" charset="-122"/>
                      </a:endParaRPr>
                    </a:p>
                  </a:txBody>
                  <a:tcPr anchor="ctr"/>
                </a:tc>
                <a:tc>
                  <a:txBody>
                    <a:bodyPr/>
                    <a:lstStyle/>
                    <a:p>
                      <a:pPr algn="ctr"/>
                      <a:endParaRPr lang="zh-CN" altLang="en-US" sz="2000" dirty="0">
                        <a:latin typeface="Microsoft YaHei" panose="020B0503020204020204" pitchFamily="34" charset="-122"/>
                        <a:ea typeface="Microsoft YaHei" panose="020B0503020204020204" pitchFamily="34" charset="-122"/>
                      </a:endParaRPr>
                    </a:p>
                  </a:txBody>
                  <a:tcPr anchor="ctr">
                    <a:lnBlToTr w="12700" cap="flat" cmpd="sng" algn="ctr">
                      <a:solidFill>
                        <a:schemeClr val="tx1"/>
                      </a:solidFill>
                      <a:prstDash val="solid"/>
                      <a:round/>
                      <a:headEnd type="none" w="med" len="med"/>
                      <a:tailEnd type="none" w="med" len="med"/>
                    </a:lnBlToTr>
                  </a:tcPr>
                </a:tc>
                <a:tc>
                  <a:txBody>
                    <a:bodyPr/>
                    <a:lstStyle/>
                    <a:p>
                      <a:pPr algn="ctr"/>
                      <a:r>
                        <a:rPr lang="en-US" altLang="zh-CN" sz="2000" dirty="0">
                          <a:latin typeface="Microsoft YaHei" panose="020B0503020204020204" pitchFamily="34" charset="-122"/>
                          <a:ea typeface="Microsoft YaHei" panose="020B0503020204020204" pitchFamily="34" charset="-122"/>
                        </a:rPr>
                        <a:t>x6</a:t>
                      </a:r>
                      <a:endParaRPr lang="zh-CN" altLang="en-US" sz="2000" dirty="0">
                        <a:latin typeface="Microsoft YaHei" panose="020B0503020204020204" pitchFamily="34" charset="-122"/>
                        <a:ea typeface="Microsoft YaHei" panose="020B0503020204020204" pitchFamily="34" charset="-122"/>
                      </a:endParaRPr>
                    </a:p>
                  </a:txBody>
                  <a:tcPr anchor="ctr"/>
                </a:tc>
                <a:extLst>
                  <a:ext uri="{0D108BD9-81ED-4DB2-BD59-A6C34878D82A}">
                    <a16:rowId xmlns:a16="http://schemas.microsoft.com/office/drawing/2014/main" val="10004"/>
                  </a:ext>
                </a:extLst>
              </a:tr>
              <a:tr h="465235">
                <a:tc>
                  <a:txBody>
                    <a:bodyPr/>
                    <a:lstStyle/>
                    <a:p>
                      <a:pPr algn="ctr"/>
                      <a:r>
                        <a:rPr lang="en-US" altLang="zh-CN" sz="2000" dirty="0">
                          <a:latin typeface="Microsoft YaHei" panose="020B0503020204020204" pitchFamily="34" charset="-122"/>
                          <a:ea typeface="Microsoft YaHei" panose="020B0503020204020204" pitchFamily="34" charset="-122"/>
                        </a:rPr>
                        <a:t>6</a:t>
                      </a:r>
                      <a:endParaRPr lang="zh-CN" altLang="en-US" sz="2000" dirty="0">
                        <a:latin typeface="Microsoft YaHei" panose="020B0503020204020204" pitchFamily="34" charset="-122"/>
                        <a:ea typeface="Microsoft YaHei" panose="020B0503020204020204" pitchFamily="34" charset="-122"/>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Microsoft YaHei" panose="020B0503020204020204" pitchFamily="34" charset="-122"/>
                          <a:ea typeface="Microsoft YaHei" panose="020B0503020204020204" pitchFamily="34" charset="-122"/>
                        </a:rPr>
                        <a:t>y2</a:t>
                      </a:r>
                      <a:endParaRPr lang="zh-CN" altLang="en-US" sz="200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2000" dirty="0">
                          <a:latin typeface="Microsoft YaHei" panose="020B0503020204020204" pitchFamily="34" charset="-122"/>
                          <a:ea typeface="Microsoft YaHei" panose="020B0503020204020204" pitchFamily="34" charset="-122"/>
                        </a:rPr>
                        <a:t>y3</a:t>
                      </a:r>
                      <a:endParaRPr lang="zh-CN" altLang="en-US" sz="200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2000" dirty="0">
                          <a:latin typeface="Microsoft YaHei" panose="020B0503020204020204" pitchFamily="34" charset="-122"/>
                          <a:ea typeface="Microsoft YaHei" panose="020B0503020204020204" pitchFamily="34" charset="-122"/>
                        </a:rPr>
                        <a:t>y4</a:t>
                      </a:r>
                      <a:endParaRPr lang="zh-CN" altLang="en-US" sz="200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2000" dirty="0">
                          <a:latin typeface="Microsoft YaHei" panose="020B0503020204020204" pitchFamily="34" charset="-122"/>
                          <a:ea typeface="Microsoft YaHei" panose="020B0503020204020204" pitchFamily="34" charset="-122"/>
                        </a:rPr>
                        <a:t>y5</a:t>
                      </a:r>
                      <a:endParaRPr lang="zh-CN" altLang="en-US" sz="2000" dirty="0">
                        <a:latin typeface="Microsoft YaHei" panose="020B0503020204020204" pitchFamily="34" charset="-122"/>
                        <a:ea typeface="Microsoft YaHei" panose="020B0503020204020204" pitchFamily="34" charset="-122"/>
                      </a:endParaRPr>
                    </a:p>
                  </a:txBody>
                  <a:tcPr anchor="ctr"/>
                </a:tc>
                <a:tc>
                  <a:txBody>
                    <a:bodyPr/>
                    <a:lstStyle/>
                    <a:p>
                      <a:pPr algn="ctr"/>
                      <a:endParaRPr lang="zh-CN" altLang="en-US" sz="2000" dirty="0">
                        <a:latin typeface="Microsoft YaHei" panose="020B0503020204020204" pitchFamily="34" charset="-122"/>
                        <a:ea typeface="Microsoft YaHei" panose="020B0503020204020204" pitchFamily="34" charset="-122"/>
                      </a:endParaRPr>
                    </a:p>
                  </a:txBody>
                  <a:tcPr anchor="ctr">
                    <a:lnBlToTr w="12700" cap="flat" cmpd="sng" algn="ctr">
                      <a:solidFill>
                        <a:schemeClr val="tx1"/>
                      </a:solidFill>
                      <a:prstDash val="solid"/>
                      <a:round/>
                      <a:headEnd type="none" w="med" len="med"/>
                      <a:tailEnd type="none" w="med" len="med"/>
                    </a:lnBlToTr>
                  </a:tcPr>
                </a:tc>
                <a:extLst>
                  <a:ext uri="{0D108BD9-81ED-4DB2-BD59-A6C34878D82A}">
                    <a16:rowId xmlns:a16="http://schemas.microsoft.com/office/drawing/2014/main" val="10005"/>
                  </a:ext>
                </a:extLst>
              </a:tr>
              <a:tr h="465235">
                <a:tc>
                  <a:txBody>
                    <a:bodyPr/>
                    <a:lstStyle/>
                    <a:p>
                      <a:pPr algn="ctr"/>
                      <a:r>
                        <a:rPr lang="zh-CN" altLang="en-US" sz="2000" dirty="0">
                          <a:latin typeface="Microsoft YaHei" panose="020B0503020204020204" pitchFamily="34" charset="-122"/>
                          <a:ea typeface="Microsoft YaHei" panose="020B0503020204020204" pitchFamily="34" charset="-122"/>
                        </a:rPr>
                        <a:t>决策</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Microsoft YaHei" panose="020B0503020204020204" pitchFamily="34" charset="-122"/>
                          <a:ea typeface="Microsoft YaHei" panose="020B0503020204020204" pitchFamily="34" charset="-122"/>
                        </a:rPr>
                        <a:t>A</a:t>
                      </a:r>
                      <a:endParaRPr lang="zh-CN" altLang="en-US" sz="200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2000" dirty="0">
                          <a:latin typeface="Microsoft YaHei" panose="020B0503020204020204" pitchFamily="34" charset="-122"/>
                          <a:ea typeface="Microsoft YaHei" panose="020B0503020204020204" pitchFamily="34" charset="-122"/>
                        </a:rPr>
                        <a:t>A</a:t>
                      </a:r>
                      <a:endParaRPr lang="zh-CN" altLang="en-US" sz="200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2000" dirty="0">
                          <a:latin typeface="Microsoft YaHei" panose="020B0503020204020204" pitchFamily="34" charset="-122"/>
                          <a:ea typeface="Microsoft YaHei" panose="020B0503020204020204" pitchFamily="34" charset="-122"/>
                        </a:rPr>
                        <a:t>A</a:t>
                      </a:r>
                      <a:endParaRPr lang="zh-CN" altLang="en-US" sz="200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2000" dirty="0">
                          <a:latin typeface="Microsoft YaHei" panose="020B0503020204020204" pitchFamily="34" charset="-122"/>
                          <a:ea typeface="Microsoft YaHei" panose="020B0503020204020204" pitchFamily="34" charset="-122"/>
                        </a:rPr>
                        <a:t>a</a:t>
                      </a:r>
                      <a:endParaRPr lang="zh-CN" altLang="en-US" sz="2000" dirty="0">
                        <a:latin typeface="Microsoft YaHei" panose="020B0503020204020204" pitchFamily="34" charset="-122"/>
                        <a:ea typeface="Microsoft YaHei" panose="020B0503020204020204" pitchFamily="34" charset="-122"/>
                      </a:endParaRPr>
                    </a:p>
                  </a:txBody>
                  <a:tcPr anchor="ctr"/>
                </a:tc>
                <a:tc>
                  <a:txBody>
                    <a:bodyPr/>
                    <a:lstStyle/>
                    <a:p>
                      <a:pPr algn="ctr"/>
                      <a:r>
                        <a:rPr lang="en-US" altLang="zh-CN" sz="2000" dirty="0">
                          <a:latin typeface="Microsoft YaHei" panose="020B0503020204020204" pitchFamily="34" charset="-122"/>
                          <a:ea typeface="Microsoft YaHei" panose="020B0503020204020204" pitchFamily="34" charset="-122"/>
                        </a:rPr>
                        <a:t>b</a:t>
                      </a:r>
                      <a:endParaRPr lang="zh-CN" altLang="en-US" sz="2000" dirty="0">
                        <a:latin typeface="Microsoft YaHei" panose="020B0503020204020204" pitchFamily="34" charset="-122"/>
                        <a:ea typeface="Microsoft YaHei" panose="020B0503020204020204" pitchFamily="34" charset="-122"/>
                      </a:endParaRPr>
                    </a:p>
                  </a:txBody>
                  <a:tcPr anchor="ctr"/>
                </a:tc>
                <a:extLst>
                  <a:ext uri="{0D108BD9-81ED-4DB2-BD59-A6C34878D82A}">
                    <a16:rowId xmlns:a16="http://schemas.microsoft.com/office/drawing/2014/main" val="10006"/>
                  </a:ext>
                </a:extLst>
              </a:tr>
            </a:tbl>
          </a:graphicData>
        </a:graphic>
      </p:graphicFrame>
      <p:sp>
        <p:nvSpPr>
          <p:cNvPr id="72" name="内容占位符 4">
            <a:extLst>
              <a:ext uri="{FF2B5EF4-FFF2-40B4-BE49-F238E27FC236}">
                <a16:creationId xmlns:a16="http://schemas.microsoft.com/office/drawing/2014/main" id="{015A3EED-30E1-034C-986A-CBB9FBE88CEB}"/>
              </a:ext>
            </a:extLst>
          </p:cNvPr>
          <p:cNvSpPr txBox="1">
            <a:spLocks/>
          </p:cNvSpPr>
          <p:nvPr/>
        </p:nvSpPr>
        <p:spPr bwMode="auto">
          <a:xfrm>
            <a:off x="944286" y="5802364"/>
            <a:ext cx="11019479" cy="798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lnSpc>
                <a:spcPct val="150000"/>
              </a:lnSpc>
              <a:spcBef>
                <a:spcPct val="20000"/>
              </a:spcBef>
              <a:spcAft>
                <a:spcPct val="0"/>
              </a:spcAft>
              <a:buFont typeface="Arial" charset="0"/>
              <a:buChar char="•"/>
              <a:defRPr sz="2800" kern="1200" baseline="0">
                <a:solidFill>
                  <a:srgbClr val="404040"/>
                </a:solidFill>
                <a:latin typeface="Comic Sans MS" panose="030F0702030302020204" pitchFamily="66" charset="0"/>
                <a:ea typeface="微软雅黑" pitchFamily="34" charset="-122"/>
                <a:cs typeface="+mn-cs"/>
              </a:defRPr>
            </a:lvl1pPr>
            <a:lvl2pPr marL="742950" indent="-285750" algn="l" rtl="0" eaLnBrk="1" fontAlgn="base" hangingPunct="1">
              <a:lnSpc>
                <a:spcPct val="150000"/>
              </a:lnSpc>
              <a:spcBef>
                <a:spcPct val="20000"/>
              </a:spcBef>
              <a:spcAft>
                <a:spcPct val="0"/>
              </a:spcAft>
              <a:buFont typeface="Arial" charset="0"/>
              <a:buChar char="–"/>
              <a:defRPr sz="2400" kern="1200" baseline="0">
                <a:solidFill>
                  <a:schemeClr val="tx1">
                    <a:lumMod val="75000"/>
                    <a:lumOff val="25000"/>
                  </a:schemeClr>
                </a:solidFill>
                <a:latin typeface="Comic Sans MS" panose="030F0702030302020204" pitchFamily="66" charset="0"/>
                <a:ea typeface="微软雅黑" pitchFamily="34" charset="-122"/>
                <a:cs typeface="+mn-cs"/>
              </a:defRPr>
            </a:lvl2pPr>
            <a:lvl3pPr marL="1143000" indent="-228600" algn="l" rtl="0" eaLnBrk="1" fontAlgn="base" hangingPunct="1">
              <a:lnSpc>
                <a:spcPct val="150000"/>
              </a:lnSpc>
              <a:spcBef>
                <a:spcPct val="20000"/>
              </a:spcBef>
              <a:spcAft>
                <a:spcPct val="0"/>
              </a:spcAft>
              <a:buFont typeface="Arial" charset="0"/>
              <a:buChar char="•"/>
              <a:defRPr sz="2000" kern="1200" baseline="0">
                <a:solidFill>
                  <a:schemeClr val="tx1">
                    <a:lumMod val="75000"/>
                    <a:lumOff val="25000"/>
                  </a:schemeClr>
                </a:solidFill>
                <a:latin typeface="Comic Sans MS" panose="030F0702030302020204" pitchFamily="66" charset="0"/>
                <a:ea typeface="微软雅黑" pitchFamily="34" charset="-122"/>
                <a:cs typeface="+mn-cs"/>
              </a:defRPr>
            </a:lvl3pPr>
            <a:lvl4pPr marL="1600200" indent="-228600" algn="l" rtl="0" eaLnBrk="1" fontAlgn="base" hangingPunct="1">
              <a:lnSpc>
                <a:spcPct val="150000"/>
              </a:lnSpc>
              <a:spcBef>
                <a:spcPct val="20000"/>
              </a:spcBef>
              <a:spcAft>
                <a:spcPct val="0"/>
              </a:spcAft>
              <a:buFont typeface="Arial" charset="0"/>
              <a:buChar char="–"/>
              <a:defRPr sz="2000" kern="1200" baseline="0">
                <a:solidFill>
                  <a:schemeClr val="tx1">
                    <a:lumMod val="75000"/>
                    <a:lumOff val="25000"/>
                  </a:schemeClr>
                </a:solidFill>
                <a:latin typeface="Comic Sans MS" panose="030F0702030302020204" pitchFamily="66" charset="0"/>
                <a:ea typeface="微软雅黑" pitchFamily="34" charset="-122"/>
                <a:cs typeface="+mn-cs"/>
              </a:defRPr>
            </a:lvl4pPr>
            <a:lvl5pPr marL="2057400" indent="-228600" algn="l" rtl="0" eaLnBrk="1" fontAlgn="base" hangingPunct="1">
              <a:lnSpc>
                <a:spcPct val="150000"/>
              </a:lnSpc>
              <a:spcBef>
                <a:spcPct val="20000"/>
              </a:spcBef>
              <a:spcAft>
                <a:spcPct val="0"/>
              </a:spcAft>
              <a:buFont typeface="Arial" charset="0"/>
              <a:buChar char="»"/>
              <a:defRPr sz="2000" kern="1200" baseline="0">
                <a:solidFill>
                  <a:schemeClr val="tx1">
                    <a:lumMod val="75000"/>
                    <a:lumOff val="25000"/>
                  </a:schemeClr>
                </a:solidFill>
                <a:latin typeface="Comic Sans MS" panose="030F0702030302020204" pitchFamily="66"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ts val="3600"/>
              </a:lnSpc>
              <a:spcBef>
                <a:spcPct val="20000"/>
              </a:spcBef>
              <a:spcAft>
                <a:spcPct val="0"/>
              </a:spcAft>
              <a:buClrTx/>
              <a:buSzTx/>
              <a:buFont typeface="Arial" charset="0"/>
              <a:buChar char="•"/>
              <a:tabLst/>
              <a:defRPr/>
            </a:pPr>
            <a:r>
              <a:rPr kumimoji="1" lang="zh-CN" altLang="en-US" sz="2400" b="0" i="0" u="none" strike="noStrike" kern="1200" cap="none" spc="0" normalizeH="0" baseline="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rPr>
              <a:t>無論</a:t>
            </a:r>
            <a:r>
              <a:rPr kumimoji="1" lang="en-US" altLang="zh-CN" sz="2400" b="0" i="0" u="none" strike="noStrike" kern="1200" cap="none" spc="0" normalizeH="0" baseline="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rPr>
              <a:t>5</a:t>
            </a:r>
            <a:r>
              <a:rPr kumimoji="1" lang="zh-CN" altLang="en-US" sz="2400" b="0" i="0" u="none" strike="noStrike" kern="1200" cap="none" spc="0" normalizeH="0" baseline="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rPr>
              <a:t>和</a:t>
            </a:r>
            <a:r>
              <a:rPr kumimoji="1" lang="en-US" altLang="zh-CN" sz="2400" b="0" i="0" u="none" strike="noStrike" kern="1200" cap="none" spc="0" normalizeH="0" baseline="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rPr>
              <a:t>6</a:t>
            </a:r>
            <a:r>
              <a:rPr kumimoji="1" lang="zh-CN" altLang="en-US" sz="2400" b="0" i="0" u="none" strike="noStrike" kern="1200" cap="none" spc="0" normalizeH="0" baseline="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rPr>
              <a:t>發送什麽消息，</a:t>
            </a:r>
            <a:r>
              <a:rPr kumimoji="1" lang="en-US" altLang="zh-CN" sz="2400" b="0" i="0" u="none" strike="noStrike" kern="1200" cap="none" spc="0" normalizeH="0" baseline="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rPr>
              <a:t>2/3/4</a:t>
            </a:r>
            <a:r>
              <a:rPr kumimoji="1" lang="zh-CN" altLang="en-US" sz="2400" b="0" i="0" u="none" strike="noStrike" kern="1200" cap="none" spc="0" normalizeH="0" baseline="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rPr>
              <a:t>得到的信息序列都爲</a:t>
            </a:r>
            <a:r>
              <a:rPr kumimoji="1" lang="en-US" altLang="zh-CN" sz="2400" b="0" i="0" u="none" strike="noStrike" kern="1200" cap="none" spc="0" normalizeH="0" baseline="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rPr>
              <a:t>(A, A, A, x, y)</a:t>
            </a:r>
            <a:r>
              <a:rPr kumimoji="1" lang="zh-CN" altLang="en-US" sz="2400" b="0" i="0" u="none" strike="noStrike" kern="1200" cap="none" spc="0" normalizeH="0" baseline="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rPr>
              <a:t>形式的</a:t>
            </a:r>
            <a:endParaRPr kumimoji="1" lang="en-US" altLang="zh-CN" sz="2400" b="0" i="0" u="none" strike="noStrike" kern="1200" cap="none" spc="0" normalizeH="0" baseline="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endParaRPr>
          </a:p>
        </p:txBody>
      </p:sp>
      <p:sp>
        <p:nvSpPr>
          <p:cNvPr id="22" name="内容占位符 4">
            <a:extLst>
              <a:ext uri="{FF2B5EF4-FFF2-40B4-BE49-F238E27FC236}">
                <a16:creationId xmlns:a16="http://schemas.microsoft.com/office/drawing/2014/main" id="{0341D760-B133-6347-A787-E832F0214DBB}"/>
              </a:ext>
            </a:extLst>
          </p:cNvPr>
          <p:cNvSpPr txBox="1">
            <a:spLocks/>
          </p:cNvSpPr>
          <p:nvPr/>
        </p:nvSpPr>
        <p:spPr>
          <a:xfrm>
            <a:off x="1065365" y="1112579"/>
            <a:ext cx="7333203" cy="4313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OM</a:t>
            </a:r>
            <a:r>
              <a:rPr kumimoji="1" lang="en-US" altLang="zh-CN" sz="2400" b="0" i="0" u="none" strike="noStrike" kern="1200" cap="none" spc="0" normalizeH="0" baseline="-2500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0,1,i</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a:t>
            </a:r>
            <a:r>
              <a:rPr kumimoji="1" lang="en-US" altLang="zh-CN" sz="2400" b="0" dirty="0">
                <a:solidFill>
                  <a:srgbClr val="000000"/>
                </a:solidFill>
                <a:latin typeface="Microsoft YaHei" panose="020B0503020204020204" pitchFamily="34" charset="-122"/>
                <a:ea typeface="Microsoft YaHei" panose="020B0503020204020204" pitchFamily="34" charset="-122"/>
              </a:rPr>
              <a:t>0</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：爲了達成對</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1</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的判斷，</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2~6</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間交換信息</a:t>
            </a:r>
            <a:endPar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sp>
        <p:nvSpPr>
          <p:cNvPr id="23" name="灯片编号占位符 2">
            <a:extLst>
              <a:ext uri="{FF2B5EF4-FFF2-40B4-BE49-F238E27FC236}">
                <a16:creationId xmlns:a16="http://schemas.microsoft.com/office/drawing/2014/main" id="{81634215-EF02-274D-9B57-7465E1CAA94A}"/>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107</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191130023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lang="zh-CN" altLang="en-US" sz="4000" dirty="0"/>
              <a:t>場景一：將軍是忠誠的</a:t>
            </a:r>
            <a:endParaRPr kumimoji="1" lang="zh-CN" altLang="en-US" sz="4000" dirty="0"/>
          </a:p>
        </p:txBody>
      </p:sp>
      <p:sp>
        <p:nvSpPr>
          <p:cNvPr id="26" name="内容占位符 4">
            <a:extLst>
              <a:ext uri="{FF2B5EF4-FFF2-40B4-BE49-F238E27FC236}">
                <a16:creationId xmlns:a16="http://schemas.microsoft.com/office/drawing/2014/main" id="{DF02ED13-0629-F049-B99D-55241A08930F}"/>
              </a:ext>
            </a:extLst>
          </p:cNvPr>
          <p:cNvSpPr txBox="1">
            <a:spLocks/>
          </p:cNvSpPr>
          <p:nvPr/>
        </p:nvSpPr>
        <p:spPr>
          <a:xfrm>
            <a:off x="957855" y="1202935"/>
            <a:ext cx="5537938" cy="5291650"/>
          </a:xfrm>
          <a:prstGeom prst="rect">
            <a:avLst/>
          </a:prstGeom>
          <a:ln>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just" defTabSz="914400" rtl="0" eaLnBrk="1" fontAlgn="auto" latinLnBrk="0" hangingPunct="1">
              <a:lnSpc>
                <a:spcPts val="3600"/>
              </a:lnSpc>
              <a:spcBef>
                <a:spcPts val="100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回到</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OM</a:t>
            </a:r>
            <a:r>
              <a:rPr kumimoji="1" lang="en-US" altLang="zh-CN" sz="2400" b="0" i="0" u="none" strike="noStrike" kern="1200" cap="none" spc="0" normalizeH="0" baseline="-2500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0,1</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(1)</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中，由于副官</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1</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發送的指令爲</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A</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，所以</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2</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3</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4</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的最終序列爲</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(A, A, A, A, x, y)</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，故决策爲</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A</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，與忠誠的副官</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1</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一樣</a:t>
            </a:r>
            <a:endPar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回到</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OM</a:t>
            </a:r>
            <a:r>
              <a:rPr kumimoji="1" lang="en-US" altLang="zh-CN" sz="2400" b="0" i="0" u="none" strike="noStrike" kern="1200" cap="none" spc="0" normalizeH="0" baseline="-2500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0</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(2) </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，可得到副官</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1~4</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在分別執行</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OM</a:t>
            </a:r>
            <a:r>
              <a:rPr kumimoji="1" lang="en-US" altLang="zh-CN" sz="2400" b="0" i="0" u="none" strike="noStrike" kern="1200" cap="none" spc="0" normalizeH="0" baseline="-2500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0,i</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(1)</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時，每個副官都能獲得决策</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A</a:t>
            </a: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因此，</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6</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個</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OM</a:t>
            </a:r>
            <a:r>
              <a:rPr kumimoji="1" lang="en-US" altLang="zh-CN" sz="2400" b="0" i="0" u="none" strike="noStrike" kern="1200" cap="none" spc="0" normalizeH="0" baseline="-2500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0,i</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(1)</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執行完後，副官</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1~4</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得到的决策序列都爲（</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A, A, A, A, A, x, y</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）；故最終决策爲</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A</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，與將軍</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0</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一樣</a:t>
            </a:r>
            <a:endPar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grpSp>
        <p:nvGrpSpPr>
          <p:cNvPr id="27" name="组 21">
            <a:extLst>
              <a:ext uri="{FF2B5EF4-FFF2-40B4-BE49-F238E27FC236}">
                <a16:creationId xmlns:a16="http://schemas.microsoft.com/office/drawing/2014/main" id="{254A332B-C4BA-D141-AA5B-599D2466288E}"/>
              </a:ext>
            </a:extLst>
          </p:cNvPr>
          <p:cNvGrpSpPr/>
          <p:nvPr/>
        </p:nvGrpSpPr>
        <p:grpSpPr>
          <a:xfrm>
            <a:off x="7035364" y="1251722"/>
            <a:ext cx="4964194" cy="2177278"/>
            <a:chOff x="6089643" y="3717240"/>
            <a:chExt cx="2646021" cy="1063136"/>
          </a:xfrm>
        </p:grpSpPr>
        <p:sp>
          <p:nvSpPr>
            <p:cNvPr id="28" name="椭圆 27">
              <a:extLst>
                <a:ext uri="{FF2B5EF4-FFF2-40B4-BE49-F238E27FC236}">
                  <a16:creationId xmlns:a16="http://schemas.microsoft.com/office/drawing/2014/main" id="{06F84346-AD71-0642-A756-DC39E7F821D9}"/>
                </a:ext>
              </a:extLst>
            </p:cNvPr>
            <p:cNvSpPr/>
            <p:nvPr/>
          </p:nvSpPr>
          <p:spPr>
            <a:xfrm>
              <a:off x="7244332" y="3717240"/>
              <a:ext cx="294002" cy="272253"/>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1</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29" name="椭圆 28">
              <a:extLst>
                <a:ext uri="{FF2B5EF4-FFF2-40B4-BE49-F238E27FC236}">
                  <a16:creationId xmlns:a16="http://schemas.microsoft.com/office/drawing/2014/main" id="{458E803D-9AD7-F64C-8282-5207EA6FA165}"/>
                </a:ext>
              </a:extLst>
            </p:cNvPr>
            <p:cNvSpPr/>
            <p:nvPr/>
          </p:nvSpPr>
          <p:spPr>
            <a:xfrm>
              <a:off x="6089643" y="4508123"/>
              <a:ext cx="294002" cy="272253"/>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2</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30" name="椭圆 29">
              <a:extLst>
                <a:ext uri="{FF2B5EF4-FFF2-40B4-BE49-F238E27FC236}">
                  <a16:creationId xmlns:a16="http://schemas.microsoft.com/office/drawing/2014/main" id="{1FD7D1BF-9698-BB4C-85D2-4EB0009808C9}"/>
                </a:ext>
              </a:extLst>
            </p:cNvPr>
            <p:cNvSpPr/>
            <p:nvPr/>
          </p:nvSpPr>
          <p:spPr>
            <a:xfrm>
              <a:off x="7265653" y="4508123"/>
              <a:ext cx="294002" cy="272253"/>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4</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31" name="椭圆 30">
              <a:extLst>
                <a:ext uri="{FF2B5EF4-FFF2-40B4-BE49-F238E27FC236}">
                  <a16:creationId xmlns:a16="http://schemas.microsoft.com/office/drawing/2014/main" id="{330EF2E1-2452-4E4B-8DFE-D55FC34E4D3B}"/>
                </a:ext>
              </a:extLst>
            </p:cNvPr>
            <p:cNvSpPr/>
            <p:nvPr/>
          </p:nvSpPr>
          <p:spPr>
            <a:xfrm>
              <a:off x="6677647" y="4508123"/>
              <a:ext cx="294002" cy="272253"/>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3</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32" name="椭圆 31">
              <a:extLst>
                <a:ext uri="{FF2B5EF4-FFF2-40B4-BE49-F238E27FC236}">
                  <a16:creationId xmlns:a16="http://schemas.microsoft.com/office/drawing/2014/main" id="{0904155D-D602-6A45-BE18-2ED0E91D0D60}"/>
                </a:ext>
              </a:extLst>
            </p:cNvPr>
            <p:cNvSpPr/>
            <p:nvPr/>
          </p:nvSpPr>
          <p:spPr>
            <a:xfrm>
              <a:off x="7853657" y="4508122"/>
              <a:ext cx="294002" cy="272253"/>
            </a:xfrm>
            <a:prstGeom prst="ellipse">
              <a:avLst/>
            </a:prstGeom>
            <a:solidFill>
              <a:srgbClr val="FF000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FFFFFF"/>
                  </a:solidFill>
                  <a:effectLst/>
                  <a:uLnTx/>
                  <a:uFillTx/>
                  <a:latin typeface="Arial"/>
                  <a:ea typeface="微软雅黑 Light"/>
                  <a:cs typeface="+mn-cs"/>
                </a:rPr>
                <a:t>5</a:t>
              </a:r>
              <a:endParaRPr kumimoji="1" lang="zh-CN" altLang="en-US" sz="1800" b="0" i="0" u="none" strike="noStrike" kern="1200" cap="none" spc="0" normalizeH="0" baseline="0" noProof="0" dirty="0">
                <a:ln>
                  <a:noFill/>
                </a:ln>
                <a:solidFill>
                  <a:srgbClr val="FFFFFF"/>
                </a:solidFill>
                <a:effectLst/>
                <a:uLnTx/>
                <a:uFillTx/>
                <a:latin typeface="Arial"/>
                <a:ea typeface="微软雅黑 Light"/>
                <a:cs typeface="+mn-cs"/>
              </a:endParaRPr>
            </a:p>
          </p:txBody>
        </p:sp>
        <p:sp>
          <p:nvSpPr>
            <p:cNvPr id="33" name="椭圆 32">
              <a:extLst>
                <a:ext uri="{FF2B5EF4-FFF2-40B4-BE49-F238E27FC236}">
                  <a16:creationId xmlns:a16="http://schemas.microsoft.com/office/drawing/2014/main" id="{92175F39-6DE5-684B-9242-AACAEBF79EF9}"/>
                </a:ext>
              </a:extLst>
            </p:cNvPr>
            <p:cNvSpPr/>
            <p:nvPr/>
          </p:nvSpPr>
          <p:spPr>
            <a:xfrm>
              <a:off x="8441662" y="4508120"/>
              <a:ext cx="294002" cy="272252"/>
            </a:xfrm>
            <a:prstGeom prst="ellipse">
              <a:avLst/>
            </a:prstGeom>
            <a:solidFill>
              <a:srgbClr val="FF000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FFFFFF"/>
                  </a:solidFill>
                  <a:effectLst/>
                  <a:uLnTx/>
                  <a:uFillTx/>
                  <a:latin typeface="Arial"/>
                  <a:ea typeface="微软雅黑 Light"/>
                  <a:cs typeface="+mn-cs"/>
                </a:rPr>
                <a:t>6</a:t>
              </a:r>
              <a:endParaRPr kumimoji="1" lang="zh-CN" altLang="en-US" sz="1800" b="0" i="0" u="none" strike="noStrike" kern="1200" cap="none" spc="0" normalizeH="0" baseline="0" noProof="0" dirty="0">
                <a:ln>
                  <a:noFill/>
                </a:ln>
                <a:solidFill>
                  <a:srgbClr val="FFFFFF"/>
                </a:solidFill>
                <a:effectLst/>
                <a:uLnTx/>
                <a:uFillTx/>
                <a:latin typeface="Arial"/>
                <a:ea typeface="微软雅黑 Light"/>
                <a:cs typeface="+mn-cs"/>
              </a:endParaRPr>
            </a:p>
          </p:txBody>
        </p:sp>
        <p:cxnSp>
          <p:nvCxnSpPr>
            <p:cNvPr id="34" name="直线箭头连接符 33">
              <a:extLst>
                <a:ext uri="{FF2B5EF4-FFF2-40B4-BE49-F238E27FC236}">
                  <a16:creationId xmlns:a16="http://schemas.microsoft.com/office/drawing/2014/main" id="{FB906B6D-F19D-7744-8397-F5401FF90DF8}"/>
                </a:ext>
              </a:extLst>
            </p:cNvPr>
            <p:cNvCxnSpPr>
              <a:stCxn id="28" idx="3"/>
              <a:endCxn id="31" idx="0"/>
            </p:cNvCxnSpPr>
            <p:nvPr/>
          </p:nvCxnSpPr>
          <p:spPr>
            <a:xfrm flipH="1">
              <a:off x="6236644" y="3949622"/>
              <a:ext cx="1050744" cy="5585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线箭头连接符 34">
              <a:extLst>
                <a:ext uri="{FF2B5EF4-FFF2-40B4-BE49-F238E27FC236}">
                  <a16:creationId xmlns:a16="http://schemas.microsoft.com/office/drawing/2014/main" id="{520C8D84-C4EE-774B-9086-83D536D24023}"/>
                </a:ext>
              </a:extLst>
            </p:cNvPr>
            <p:cNvCxnSpPr>
              <a:stCxn id="28" idx="4"/>
              <a:endCxn id="33" idx="0"/>
            </p:cNvCxnSpPr>
            <p:nvPr/>
          </p:nvCxnSpPr>
          <p:spPr>
            <a:xfrm flipH="1">
              <a:off x="6824648" y="3989493"/>
              <a:ext cx="566685" cy="5186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直线箭头连接符 35">
              <a:extLst>
                <a:ext uri="{FF2B5EF4-FFF2-40B4-BE49-F238E27FC236}">
                  <a16:creationId xmlns:a16="http://schemas.microsoft.com/office/drawing/2014/main" id="{3C2FDA05-C1C3-9D4B-BEFB-42E24720A39C}"/>
                </a:ext>
              </a:extLst>
            </p:cNvPr>
            <p:cNvCxnSpPr>
              <a:stCxn id="28" idx="4"/>
              <a:endCxn id="32" idx="0"/>
            </p:cNvCxnSpPr>
            <p:nvPr/>
          </p:nvCxnSpPr>
          <p:spPr>
            <a:xfrm>
              <a:off x="7391333" y="3989493"/>
              <a:ext cx="21321" cy="5186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直线箭头连接符 36">
              <a:extLst>
                <a:ext uri="{FF2B5EF4-FFF2-40B4-BE49-F238E27FC236}">
                  <a16:creationId xmlns:a16="http://schemas.microsoft.com/office/drawing/2014/main" id="{C62C403A-52E6-5B42-AFE8-86CFDC1575C9}"/>
                </a:ext>
              </a:extLst>
            </p:cNvPr>
            <p:cNvCxnSpPr>
              <a:stCxn id="28" idx="4"/>
              <a:endCxn id="34" idx="0"/>
            </p:cNvCxnSpPr>
            <p:nvPr/>
          </p:nvCxnSpPr>
          <p:spPr>
            <a:xfrm>
              <a:off x="7391333" y="3989493"/>
              <a:ext cx="609325" cy="5186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直线箭头连接符 37">
              <a:extLst>
                <a:ext uri="{FF2B5EF4-FFF2-40B4-BE49-F238E27FC236}">
                  <a16:creationId xmlns:a16="http://schemas.microsoft.com/office/drawing/2014/main" id="{96329331-936B-2F4D-9390-E8D4731337C8}"/>
                </a:ext>
              </a:extLst>
            </p:cNvPr>
            <p:cNvCxnSpPr>
              <a:stCxn id="28" idx="5"/>
              <a:endCxn id="35" idx="0"/>
            </p:cNvCxnSpPr>
            <p:nvPr/>
          </p:nvCxnSpPr>
          <p:spPr>
            <a:xfrm>
              <a:off x="7495278" y="3949622"/>
              <a:ext cx="1093385" cy="5584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F6B7EE91-5DD6-644B-9D5F-EFCD67C052E6}"/>
                </a:ext>
              </a:extLst>
            </p:cNvPr>
            <p:cNvSpPr txBox="1"/>
            <p:nvPr/>
          </p:nvSpPr>
          <p:spPr>
            <a:xfrm>
              <a:off x="6511026" y="4100807"/>
              <a:ext cx="258220" cy="3024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A</a:t>
              </a:r>
            </a:p>
          </p:txBody>
        </p:sp>
        <p:sp>
          <p:nvSpPr>
            <p:cNvPr id="40" name="文本框 39">
              <a:extLst>
                <a:ext uri="{FF2B5EF4-FFF2-40B4-BE49-F238E27FC236}">
                  <a16:creationId xmlns:a16="http://schemas.microsoft.com/office/drawing/2014/main" id="{DF328391-E639-5A49-8EA7-4769B44D3506}"/>
                </a:ext>
              </a:extLst>
            </p:cNvPr>
            <p:cNvSpPr txBox="1"/>
            <p:nvPr/>
          </p:nvSpPr>
          <p:spPr>
            <a:xfrm>
              <a:off x="6952030" y="4067134"/>
              <a:ext cx="258220" cy="3024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A</a:t>
              </a:r>
            </a:p>
          </p:txBody>
        </p:sp>
        <p:sp>
          <p:nvSpPr>
            <p:cNvPr id="41" name="文本框 40">
              <a:extLst>
                <a:ext uri="{FF2B5EF4-FFF2-40B4-BE49-F238E27FC236}">
                  <a16:creationId xmlns:a16="http://schemas.microsoft.com/office/drawing/2014/main" id="{6D9CBA53-7D19-8542-9780-67466E02532E}"/>
                </a:ext>
              </a:extLst>
            </p:cNvPr>
            <p:cNvSpPr txBox="1"/>
            <p:nvPr/>
          </p:nvSpPr>
          <p:spPr>
            <a:xfrm>
              <a:off x="7222378" y="4057618"/>
              <a:ext cx="258220" cy="3024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A</a:t>
              </a:r>
            </a:p>
          </p:txBody>
        </p:sp>
        <p:sp>
          <p:nvSpPr>
            <p:cNvPr id="42" name="文本框 41">
              <a:extLst>
                <a:ext uri="{FF2B5EF4-FFF2-40B4-BE49-F238E27FC236}">
                  <a16:creationId xmlns:a16="http://schemas.microsoft.com/office/drawing/2014/main" id="{5F95AC4D-0EB4-8E45-BACB-4291FA97A376}"/>
                </a:ext>
              </a:extLst>
            </p:cNvPr>
            <p:cNvSpPr txBox="1"/>
            <p:nvPr/>
          </p:nvSpPr>
          <p:spPr>
            <a:xfrm>
              <a:off x="7596785" y="4067134"/>
              <a:ext cx="258220" cy="3024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A</a:t>
              </a:r>
            </a:p>
          </p:txBody>
        </p:sp>
        <p:sp>
          <p:nvSpPr>
            <p:cNvPr id="43" name="文本框 42">
              <a:extLst>
                <a:ext uri="{FF2B5EF4-FFF2-40B4-BE49-F238E27FC236}">
                  <a16:creationId xmlns:a16="http://schemas.microsoft.com/office/drawing/2014/main" id="{BF42A7E7-3B90-3749-BD03-C2F3933917B2}"/>
                </a:ext>
              </a:extLst>
            </p:cNvPr>
            <p:cNvSpPr txBox="1"/>
            <p:nvPr/>
          </p:nvSpPr>
          <p:spPr>
            <a:xfrm>
              <a:off x="8028862" y="4071676"/>
              <a:ext cx="331720" cy="18034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A</a:t>
              </a:r>
            </a:p>
          </p:txBody>
        </p:sp>
      </p:grpSp>
      <p:grpSp>
        <p:nvGrpSpPr>
          <p:cNvPr id="21" name="组 70">
            <a:extLst>
              <a:ext uri="{FF2B5EF4-FFF2-40B4-BE49-F238E27FC236}">
                <a16:creationId xmlns:a16="http://schemas.microsoft.com/office/drawing/2014/main" id="{CE36D424-4BDE-E748-B70C-CB535D2E6631}"/>
              </a:ext>
            </a:extLst>
          </p:cNvPr>
          <p:cNvGrpSpPr/>
          <p:nvPr/>
        </p:nvGrpSpPr>
        <p:grpSpPr>
          <a:xfrm>
            <a:off x="7152644" y="4380786"/>
            <a:ext cx="4846914" cy="1591866"/>
            <a:chOff x="5455311" y="1719616"/>
            <a:chExt cx="3384378" cy="1296144"/>
          </a:xfrm>
        </p:grpSpPr>
        <p:sp>
          <p:nvSpPr>
            <p:cNvPr id="22" name="椭圆 21">
              <a:extLst>
                <a:ext uri="{FF2B5EF4-FFF2-40B4-BE49-F238E27FC236}">
                  <a16:creationId xmlns:a16="http://schemas.microsoft.com/office/drawing/2014/main" id="{1170957D-5727-E544-A48E-B3C7EF940DF8}"/>
                </a:ext>
              </a:extLst>
            </p:cNvPr>
            <p:cNvSpPr/>
            <p:nvPr/>
          </p:nvSpPr>
          <p:spPr>
            <a:xfrm>
              <a:off x="6992216" y="1719616"/>
              <a:ext cx="307912" cy="332493"/>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0</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23" name="椭圆 22">
              <a:extLst>
                <a:ext uri="{FF2B5EF4-FFF2-40B4-BE49-F238E27FC236}">
                  <a16:creationId xmlns:a16="http://schemas.microsoft.com/office/drawing/2014/main" id="{FE09D1A8-1CCE-9C40-9F94-9217DD8DDED1}"/>
                </a:ext>
              </a:extLst>
            </p:cNvPr>
            <p:cNvSpPr/>
            <p:nvPr/>
          </p:nvSpPr>
          <p:spPr>
            <a:xfrm>
              <a:off x="5455311" y="2683267"/>
              <a:ext cx="307912" cy="332493"/>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1</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24" name="椭圆 23">
              <a:extLst>
                <a:ext uri="{FF2B5EF4-FFF2-40B4-BE49-F238E27FC236}">
                  <a16:creationId xmlns:a16="http://schemas.microsoft.com/office/drawing/2014/main" id="{74E8E015-9091-594C-AB76-6179237883C9}"/>
                </a:ext>
              </a:extLst>
            </p:cNvPr>
            <p:cNvSpPr/>
            <p:nvPr/>
          </p:nvSpPr>
          <p:spPr>
            <a:xfrm>
              <a:off x="6068479" y="2683267"/>
              <a:ext cx="307912" cy="332493"/>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2</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25" name="椭圆 24">
              <a:extLst>
                <a:ext uri="{FF2B5EF4-FFF2-40B4-BE49-F238E27FC236}">
                  <a16:creationId xmlns:a16="http://schemas.microsoft.com/office/drawing/2014/main" id="{01F59365-0E9D-A14D-A112-B172DCB3F001}"/>
                </a:ext>
              </a:extLst>
            </p:cNvPr>
            <p:cNvSpPr/>
            <p:nvPr/>
          </p:nvSpPr>
          <p:spPr>
            <a:xfrm>
              <a:off x="7300129" y="2683267"/>
              <a:ext cx="307912" cy="332493"/>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4</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44" name="椭圆 43">
              <a:extLst>
                <a:ext uri="{FF2B5EF4-FFF2-40B4-BE49-F238E27FC236}">
                  <a16:creationId xmlns:a16="http://schemas.microsoft.com/office/drawing/2014/main" id="{ED7544B4-B2A0-754B-8CF2-C56B0EB8B9C1}"/>
                </a:ext>
              </a:extLst>
            </p:cNvPr>
            <p:cNvSpPr/>
            <p:nvPr/>
          </p:nvSpPr>
          <p:spPr>
            <a:xfrm>
              <a:off x="6684303" y="2683267"/>
              <a:ext cx="307912" cy="332493"/>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3</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45" name="椭圆 44">
              <a:extLst>
                <a:ext uri="{FF2B5EF4-FFF2-40B4-BE49-F238E27FC236}">
                  <a16:creationId xmlns:a16="http://schemas.microsoft.com/office/drawing/2014/main" id="{F2FA73F9-E633-3044-BAEB-AD92EE425136}"/>
                </a:ext>
              </a:extLst>
            </p:cNvPr>
            <p:cNvSpPr/>
            <p:nvPr/>
          </p:nvSpPr>
          <p:spPr>
            <a:xfrm>
              <a:off x="7915952" y="2683266"/>
              <a:ext cx="307912" cy="332493"/>
            </a:xfrm>
            <a:prstGeom prst="ellipse">
              <a:avLst/>
            </a:prstGeom>
            <a:solidFill>
              <a:srgbClr val="FF000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FFFFFF"/>
                  </a:solidFill>
                  <a:effectLst/>
                  <a:uLnTx/>
                  <a:uFillTx/>
                  <a:latin typeface="Arial"/>
                  <a:ea typeface="微软雅黑 Light"/>
                  <a:cs typeface="+mn-cs"/>
                </a:rPr>
                <a:t>5</a:t>
              </a:r>
              <a:endParaRPr kumimoji="1" lang="zh-CN" altLang="en-US" sz="1800" b="0" i="0" u="none" strike="noStrike" kern="1200" cap="none" spc="0" normalizeH="0" baseline="0" noProof="0" dirty="0">
                <a:ln>
                  <a:noFill/>
                </a:ln>
                <a:solidFill>
                  <a:srgbClr val="FFFFFF"/>
                </a:solidFill>
                <a:effectLst/>
                <a:uLnTx/>
                <a:uFillTx/>
                <a:latin typeface="Arial"/>
                <a:ea typeface="微软雅黑 Light"/>
                <a:cs typeface="+mn-cs"/>
              </a:endParaRPr>
            </a:p>
          </p:txBody>
        </p:sp>
        <p:sp>
          <p:nvSpPr>
            <p:cNvPr id="46" name="椭圆 45">
              <a:extLst>
                <a:ext uri="{FF2B5EF4-FFF2-40B4-BE49-F238E27FC236}">
                  <a16:creationId xmlns:a16="http://schemas.microsoft.com/office/drawing/2014/main" id="{A178BDA6-5C2F-264F-87C5-3CE66920092E}"/>
                </a:ext>
              </a:extLst>
            </p:cNvPr>
            <p:cNvSpPr/>
            <p:nvPr/>
          </p:nvSpPr>
          <p:spPr>
            <a:xfrm>
              <a:off x="8531777" y="2683264"/>
              <a:ext cx="307912" cy="332492"/>
            </a:xfrm>
            <a:prstGeom prst="ellipse">
              <a:avLst/>
            </a:prstGeom>
            <a:solidFill>
              <a:srgbClr val="FF000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FFFFFF"/>
                  </a:solidFill>
                  <a:effectLst/>
                  <a:uLnTx/>
                  <a:uFillTx/>
                  <a:latin typeface="Arial"/>
                  <a:ea typeface="微软雅黑 Light"/>
                  <a:cs typeface="+mn-cs"/>
                </a:rPr>
                <a:t>6</a:t>
              </a:r>
              <a:endParaRPr kumimoji="1" lang="zh-CN" altLang="en-US" sz="1800" b="0" i="0" u="none" strike="noStrike" kern="1200" cap="none" spc="0" normalizeH="0" baseline="0" noProof="0" dirty="0">
                <a:ln>
                  <a:noFill/>
                </a:ln>
                <a:solidFill>
                  <a:srgbClr val="FFFFFF"/>
                </a:solidFill>
                <a:effectLst/>
                <a:uLnTx/>
                <a:uFillTx/>
                <a:latin typeface="Arial"/>
                <a:ea typeface="微软雅黑 Light"/>
                <a:cs typeface="+mn-cs"/>
              </a:endParaRPr>
            </a:p>
          </p:txBody>
        </p:sp>
        <p:cxnSp>
          <p:nvCxnSpPr>
            <p:cNvPr id="47" name="直线箭头连接符 46">
              <a:extLst>
                <a:ext uri="{FF2B5EF4-FFF2-40B4-BE49-F238E27FC236}">
                  <a16:creationId xmlns:a16="http://schemas.microsoft.com/office/drawing/2014/main" id="{7D45E12A-564B-124D-A215-504F4E230998}"/>
                </a:ext>
              </a:extLst>
            </p:cNvPr>
            <p:cNvCxnSpPr>
              <a:stCxn id="22" idx="3"/>
              <a:endCxn id="24" idx="0"/>
            </p:cNvCxnSpPr>
            <p:nvPr/>
          </p:nvCxnSpPr>
          <p:spPr>
            <a:xfrm flipH="1">
              <a:off x="5609267" y="2003413"/>
              <a:ext cx="1428041" cy="6798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直线箭头连接符 47">
              <a:extLst>
                <a:ext uri="{FF2B5EF4-FFF2-40B4-BE49-F238E27FC236}">
                  <a16:creationId xmlns:a16="http://schemas.microsoft.com/office/drawing/2014/main" id="{3B42CF7A-4035-F04C-B5A3-02E4125768EC}"/>
                </a:ext>
              </a:extLst>
            </p:cNvPr>
            <p:cNvCxnSpPr>
              <a:stCxn id="22" idx="3"/>
              <a:endCxn id="25" idx="0"/>
            </p:cNvCxnSpPr>
            <p:nvPr/>
          </p:nvCxnSpPr>
          <p:spPr>
            <a:xfrm flipH="1">
              <a:off x="6222435" y="2003413"/>
              <a:ext cx="814874" cy="6798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直线箭头连接符 48">
              <a:extLst>
                <a:ext uri="{FF2B5EF4-FFF2-40B4-BE49-F238E27FC236}">
                  <a16:creationId xmlns:a16="http://schemas.microsoft.com/office/drawing/2014/main" id="{6B562F3B-963F-5349-995C-0FC8F6BD7E66}"/>
                </a:ext>
              </a:extLst>
            </p:cNvPr>
            <p:cNvCxnSpPr>
              <a:stCxn id="22" idx="4"/>
              <a:endCxn id="45" idx="0"/>
            </p:cNvCxnSpPr>
            <p:nvPr/>
          </p:nvCxnSpPr>
          <p:spPr>
            <a:xfrm flipH="1">
              <a:off x="6838259" y="2052106"/>
              <a:ext cx="307912" cy="631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直线箭头连接符 49">
              <a:extLst>
                <a:ext uri="{FF2B5EF4-FFF2-40B4-BE49-F238E27FC236}">
                  <a16:creationId xmlns:a16="http://schemas.microsoft.com/office/drawing/2014/main" id="{2A89988E-2FF2-F440-ABC8-BD0B528540D8}"/>
                </a:ext>
              </a:extLst>
            </p:cNvPr>
            <p:cNvCxnSpPr>
              <a:stCxn id="22" idx="4"/>
              <a:endCxn id="44" idx="0"/>
            </p:cNvCxnSpPr>
            <p:nvPr/>
          </p:nvCxnSpPr>
          <p:spPr>
            <a:xfrm>
              <a:off x="7146172" y="2052106"/>
              <a:ext cx="307912" cy="631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直线箭头连接符 50">
              <a:extLst>
                <a:ext uri="{FF2B5EF4-FFF2-40B4-BE49-F238E27FC236}">
                  <a16:creationId xmlns:a16="http://schemas.microsoft.com/office/drawing/2014/main" id="{F498B36A-25B9-E045-9F9D-AC3C6C6A87E9}"/>
                </a:ext>
              </a:extLst>
            </p:cNvPr>
            <p:cNvCxnSpPr>
              <a:stCxn id="22" idx="5"/>
              <a:endCxn id="46" idx="0"/>
            </p:cNvCxnSpPr>
            <p:nvPr/>
          </p:nvCxnSpPr>
          <p:spPr>
            <a:xfrm>
              <a:off x="7255035" y="2003413"/>
              <a:ext cx="814874" cy="6798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直线箭头连接符 51">
              <a:extLst>
                <a:ext uri="{FF2B5EF4-FFF2-40B4-BE49-F238E27FC236}">
                  <a16:creationId xmlns:a16="http://schemas.microsoft.com/office/drawing/2014/main" id="{E23AFEB1-63F6-AD41-952C-2148E94AEB1A}"/>
                </a:ext>
              </a:extLst>
            </p:cNvPr>
            <p:cNvCxnSpPr>
              <a:stCxn id="22" idx="5"/>
              <a:endCxn id="47" idx="0"/>
            </p:cNvCxnSpPr>
            <p:nvPr/>
          </p:nvCxnSpPr>
          <p:spPr>
            <a:xfrm>
              <a:off x="7255035" y="2003413"/>
              <a:ext cx="1430697" cy="6798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文本框 52">
              <a:extLst>
                <a:ext uri="{FF2B5EF4-FFF2-40B4-BE49-F238E27FC236}">
                  <a16:creationId xmlns:a16="http://schemas.microsoft.com/office/drawing/2014/main" id="{BA1C2295-C6B2-6646-B8E2-41D625D5DA64}"/>
                </a:ext>
              </a:extLst>
            </p:cNvPr>
            <p:cNvSpPr txBox="1"/>
            <p:nvPr/>
          </p:nvSpPr>
          <p:spPr>
            <a:xfrm>
              <a:off x="5951999" y="2126100"/>
              <a:ext cx="2704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A</a:t>
              </a:r>
            </a:p>
          </p:txBody>
        </p:sp>
        <p:sp>
          <p:nvSpPr>
            <p:cNvPr id="54" name="文本框 53">
              <a:extLst>
                <a:ext uri="{FF2B5EF4-FFF2-40B4-BE49-F238E27FC236}">
                  <a16:creationId xmlns:a16="http://schemas.microsoft.com/office/drawing/2014/main" id="{DA12CC3D-73B6-0740-B65B-FA2387B44D03}"/>
                </a:ext>
              </a:extLst>
            </p:cNvPr>
            <p:cNvSpPr txBox="1"/>
            <p:nvPr/>
          </p:nvSpPr>
          <p:spPr>
            <a:xfrm>
              <a:off x="6392454" y="2126100"/>
              <a:ext cx="2704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A</a:t>
              </a:r>
            </a:p>
          </p:txBody>
        </p:sp>
        <p:sp>
          <p:nvSpPr>
            <p:cNvPr id="55" name="文本框 54">
              <a:extLst>
                <a:ext uri="{FF2B5EF4-FFF2-40B4-BE49-F238E27FC236}">
                  <a16:creationId xmlns:a16="http://schemas.microsoft.com/office/drawing/2014/main" id="{3E202229-083C-3944-93F9-4DEFC060CD6F}"/>
                </a:ext>
              </a:extLst>
            </p:cNvPr>
            <p:cNvSpPr txBox="1"/>
            <p:nvPr/>
          </p:nvSpPr>
          <p:spPr>
            <a:xfrm>
              <a:off x="6743491" y="2104921"/>
              <a:ext cx="2704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A</a:t>
              </a:r>
            </a:p>
          </p:txBody>
        </p:sp>
        <p:sp>
          <p:nvSpPr>
            <p:cNvPr id="56" name="文本框 55">
              <a:extLst>
                <a:ext uri="{FF2B5EF4-FFF2-40B4-BE49-F238E27FC236}">
                  <a16:creationId xmlns:a16="http://schemas.microsoft.com/office/drawing/2014/main" id="{F4E249DC-D872-A346-916B-D027CE11E0BA}"/>
                </a:ext>
              </a:extLst>
            </p:cNvPr>
            <p:cNvSpPr txBox="1"/>
            <p:nvPr/>
          </p:nvSpPr>
          <p:spPr>
            <a:xfrm>
              <a:off x="7210000" y="2096134"/>
              <a:ext cx="2704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A</a:t>
              </a:r>
            </a:p>
          </p:txBody>
        </p:sp>
        <p:sp>
          <p:nvSpPr>
            <p:cNvPr id="57" name="文本框 56">
              <a:extLst>
                <a:ext uri="{FF2B5EF4-FFF2-40B4-BE49-F238E27FC236}">
                  <a16:creationId xmlns:a16="http://schemas.microsoft.com/office/drawing/2014/main" id="{26AB8761-CB26-F744-ABB7-A355177A70B2}"/>
                </a:ext>
              </a:extLst>
            </p:cNvPr>
            <p:cNvSpPr txBox="1"/>
            <p:nvPr/>
          </p:nvSpPr>
          <p:spPr>
            <a:xfrm>
              <a:off x="7589301" y="2104921"/>
              <a:ext cx="2704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A</a:t>
              </a:r>
            </a:p>
          </p:txBody>
        </p:sp>
        <p:sp>
          <p:nvSpPr>
            <p:cNvPr id="58" name="文本框 57">
              <a:extLst>
                <a:ext uri="{FF2B5EF4-FFF2-40B4-BE49-F238E27FC236}">
                  <a16:creationId xmlns:a16="http://schemas.microsoft.com/office/drawing/2014/main" id="{5141664C-29AF-A444-B43A-AC2202A021DB}"/>
                </a:ext>
              </a:extLst>
            </p:cNvPr>
            <p:cNvSpPr txBox="1"/>
            <p:nvPr/>
          </p:nvSpPr>
          <p:spPr>
            <a:xfrm>
              <a:off x="8003411" y="2135093"/>
              <a:ext cx="2704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A</a:t>
              </a:r>
            </a:p>
          </p:txBody>
        </p:sp>
      </p:grpSp>
      <p:sp>
        <p:nvSpPr>
          <p:cNvPr id="59" name="灯片编号占位符 2">
            <a:extLst>
              <a:ext uri="{FF2B5EF4-FFF2-40B4-BE49-F238E27FC236}">
                <a16:creationId xmlns:a16="http://schemas.microsoft.com/office/drawing/2014/main" id="{5FBBC775-064B-E849-ACA8-C437D7D38602}"/>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108</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8309346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lang="zh-CN" altLang="en-US" sz="4000" dirty="0"/>
              <a:t>場景二：將軍是叛徒</a:t>
            </a:r>
            <a:endParaRPr kumimoji="1" lang="zh-CN" altLang="en-US" sz="4000" dirty="0"/>
          </a:p>
        </p:txBody>
      </p:sp>
      <p:sp>
        <p:nvSpPr>
          <p:cNvPr id="31" name="内容占位符 3">
            <a:extLst>
              <a:ext uri="{FF2B5EF4-FFF2-40B4-BE49-F238E27FC236}">
                <a16:creationId xmlns:a16="http://schemas.microsoft.com/office/drawing/2014/main" id="{79E3CFB3-DDBF-8943-AC6F-3FA6734A19D7}"/>
              </a:ext>
            </a:extLst>
          </p:cNvPr>
          <p:cNvSpPr txBox="1">
            <a:spLocks/>
          </p:cNvSpPr>
          <p:nvPr/>
        </p:nvSpPr>
        <p:spPr>
          <a:xfrm>
            <a:off x="705346" y="1074197"/>
            <a:ext cx="5865678" cy="55850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OM</a:t>
            </a:r>
            <a:r>
              <a:rPr kumimoji="1" lang="en-US" altLang="zh-CN" sz="2400" b="0" i="0" u="none" strike="noStrike" kern="1200" cap="none" spc="0" normalizeH="0" baseline="-2500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0</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(2) </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分發消息</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a:t>
            </a:r>
            <a:r>
              <a:rPr kumimoji="1" lang="en-US" altLang="zh-CN" sz="2400" b="0" i="0" u="none" strike="noStrike" kern="1200" cap="none" spc="0" normalizeH="0" baseline="0" noProof="0" dirty="0" err="1">
                <a:ln>
                  <a:noFill/>
                </a:ln>
                <a:solidFill>
                  <a:srgbClr val="000000"/>
                </a:solidFill>
                <a:effectLst/>
                <a:uLnTx/>
                <a:uFillTx/>
                <a:latin typeface="Microsoft YaHei" panose="020B0503020204020204" pitchFamily="34" charset="-122"/>
                <a:ea typeface="Microsoft YaHei" panose="020B0503020204020204" pitchFamily="34" charset="-122"/>
                <a:cs typeface="+mn-cs"/>
              </a:rPr>
              <a:t>A:attack</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 R:retreat)</a:t>
            </a:r>
          </a:p>
        </p:txBody>
      </p:sp>
      <p:grpSp>
        <p:nvGrpSpPr>
          <p:cNvPr id="32" name="组 4">
            <a:extLst>
              <a:ext uri="{FF2B5EF4-FFF2-40B4-BE49-F238E27FC236}">
                <a16:creationId xmlns:a16="http://schemas.microsoft.com/office/drawing/2014/main" id="{396414B8-66FB-AA4D-8E37-95650E7CBD91}"/>
              </a:ext>
            </a:extLst>
          </p:cNvPr>
          <p:cNvGrpSpPr/>
          <p:nvPr/>
        </p:nvGrpSpPr>
        <p:grpSpPr>
          <a:xfrm>
            <a:off x="8149540" y="3262818"/>
            <a:ext cx="3242275" cy="1302703"/>
            <a:chOff x="6062520" y="3429174"/>
            <a:chExt cx="2646021" cy="1063136"/>
          </a:xfrm>
        </p:grpSpPr>
        <p:sp>
          <p:nvSpPr>
            <p:cNvPr id="33" name="椭圆 32">
              <a:extLst>
                <a:ext uri="{FF2B5EF4-FFF2-40B4-BE49-F238E27FC236}">
                  <a16:creationId xmlns:a16="http://schemas.microsoft.com/office/drawing/2014/main" id="{FAD1AF2F-9AE3-6744-9B2A-6A3E9872169E}"/>
                </a:ext>
              </a:extLst>
            </p:cNvPr>
            <p:cNvSpPr/>
            <p:nvPr/>
          </p:nvSpPr>
          <p:spPr>
            <a:xfrm>
              <a:off x="7217209" y="3429174"/>
              <a:ext cx="294002" cy="272253"/>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1</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34" name="椭圆 33">
              <a:extLst>
                <a:ext uri="{FF2B5EF4-FFF2-40B4-BE49-F238E27FC236}">
                  <a16:creationId xmlns:a16="http://schemas.microsoft.com/office/drawing/2014/main" id="{B4E0C506-9928-5549-BB50-2F735BB7A5E8}"/>
                </a:ext>
              </a:extLst>
            </p:cNvPr>
            <p:cNvSpPr/>
            <p:nvPr/>
          </p:nvSpPr>
          <p:spPr>
            <a:xfrm>
              <a:off x="6062520" y="4220057"/>
              <a:ext cx="294002" cy="272253"/>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2</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35" name="椭圆 34">
              <a:extLst>
                <a:ext uri="{FF2B5EF4-FFF2-40B4-BE49-F238E27FC236}">
                  <a16:creationId xmlns:a16="http://schemas.microsoft.com/office/drawing/2014/main" id="{9C1F9FE7-4E4C-4C4A-B425-D66B184CC944}"/>
                </a:ext>
              </a:extLst>
            </p:cNvPr>
            <p:cNvSpPr/>
            <p:nvPr/>
          </p:nvSpPr>
          <p:spPr>
            <a:xfrm>
              <a:off x="7238530" y="4220057"/>
              <a:ext cx="294002" cy="272253"/>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4</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36" name="椭圆 35">
              <a:extLst>
                <a:ext uri="{FF2B5EF4-FFF2-40B4-BE49-F238E27FC236}">
                  <a16:creationId xmlns:a16="http://schemas.microsoft.com/office/drawing/2014/main" id="{A696F051-8549-D54F-A8F0-57F0AA124082}"/>
                </a:ext>
              </a:extLst>
            </p:cNvPr>
            <p:cNvSpPr/>
            <p:nvPr/>
          </p:nvSpPr>
          <p:spPr>
            <a:xfrm>
              <a:off x="6650524" y="4220057"/>
              <a:ext cx="294002" cy="272253"/>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3</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37" name="椭圆 36">
              <a:extLst>
                <a:ext uri="{FF2B5EF4-FFF2-40B4-BE49-F238E27FC236}">
                  <a16:creationId xmlns:a16="http://schemas.microsoft.com/office/drawing/2014/main" id="{47D13B00-CCC0-F34E-98CE-53BD5825F028}"/>
                </a:ext>
              </a:extLst>
            </p:cNvPr>
            <p:cNvSpPr/>
            <p:nvPr/>
          </p:nvSpPr>
          <p:spPr>
            <a:xfrm>
              <a:off x="7826534" y="4220056"/>
              <a:ext cx="294002" cy="272253"/>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5</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38" name="椭圆 37">
              <a:extLst>
                <a:ext uri="{FF2B5EF4-FFF2-40B4-BE49-F238E27FC236}">
                  <a16:creationId xmlns:a16="http://schemas.microsoft.com/office/drawing/2014/main" id="{82717C9E-0D75-F04D-9552-192B0B630B54}"/>
                </a:ext>
              </a:extLst>
            </p:cNvPr>
            <p:cNvSpPr/>
            <p:nvPr/>
          </p:nvSpPr>
          <p:spPr>
            <a:xfrm>
              <a:off x="8414539" y="4220054"/>
              <a:ext cx="294002" cy="272252"/>
            </a:xfrm>
            <a:prstGeom prst="ellipse">
              <a:avLst/>
            </a:prstGeom>
            <a:solidFill>
              <a:srgbClr val="FF000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FFFFFF"/>
                  </a:solidFill>
                  <a:effectLst/>
                  <a:uLnTx/>
                  <a:uFillTx/>
                  <a:latin typeface="Arial"/>
                  <a:ea typeface="微软雅黑 Light"/>
                  <a:cs typeface="+mn-cs"/>
                </a:rPr>
                <a:t>6</a:t>
              </a:r>
              <a:endParaRPr kumimoji="1" lang="zh-CN" altLang="en-US" sz="1800" b="0" i="0" u="none" strike="noStrike" kern="1200" cap="none" spc="0" normalizeH="0" baseline="0" noProof="0" dirty="0">
                <a:ln>
                  <a:noFill/>
                </a:ln>
                <a:solidFill>
                  <a:srgbClr val="FFFFFF"/>
                </a:solidFill>
                <a:effectLst/>
                <a:uLnTx/>
                <a:uFillTx/>
                <a:latin typeface="Arial"/>
                <a:ea typeface="微软雅黑 Light"/>
                <a:cs typeface="+mn-cs"/>
              </a:endParaRPr>
            </a:p>
          </p:txBody>
        </p:sp>
        <p:cxnSp>
          <p:nvCxnSpPr>
            <p:cNvPr id="39" name="直线箭头连接符 38">
              <a:extLst>
                <a:ext uri="{FF2B5EF4-FFF2-40B4-BE49-F238E27FC236}">
                  <a16:creationId xmlns:a16="http://schemas.microsoft.com/office/drawing/2014/main" id="{58750635-4D47-2746-89EE-01954998560F}"/>
                </a:ext>
              </a:extLst>
            </p:cNvPr>
            <p:cNvCxnSpPr>
              <a:stCxn id="33" idx="3"/>
              <a:endCxn id="34" idx="0"/>
            </p:cNvCxnSpPr>
            <p:nvPr/>
          </p:nvCxnSpPr>
          <p:spPr>
            <a:xfrm flipH="1">
              <a:off x="6209521" y="3661556"/>
              <a:ext cx="1050744" cy="5585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直线箭头连接符 39">
              <a:extLst>
                <a:ext uri="{FF2B5EF4-FFF2-40B4-BE49-F238E27FC236}">
                  <a16:creationId xmlns:a16="http://schemas.microsoft.com/office/drawing/2014/main" id="{A7734195-4D71-2440-833F-A2A9A9EEDA1F}"/>
                </a:ext>
              </a:extLst>
            </p:cNvPr>
            <p:cNvCxnSpPr>
              <a:stCxn id="33" idx="4"/>
              <a:endCxn id="36" idx="0"/>
            </p:cNvCxnSpPr>
            <p:nvPr/>
          </p:nvCxnSpPr>
          <p:spPr>
            <a:xfrm flipH="1">
              <a:off x="6797525" y="3701427"/>
              <a:ext cx="566685" cy="5186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直线箭头连接符 40">
              <a:extLst>
                <a:ext uri="{FF2B5EF4-FFF2-40B4-BE49-F238E27FC236}">
                  <a16:creationId xmlns:a16="http://schemas.microsoft.com/office/drawing/2014/main" id="{27AD47DB-77A1-BD41-8DF6-F3967D6A3477}"/>
                </a:ext>
              </a:extLst>
            </p:cNvPr>
            <p:cNvCxnSpPr>
              <a:stCxn id="33" idx="4"/>
              <a:endCxn id="35" idx="0"/>
            </p:cNvCxnSpPr>
            <p:nvPr/>
          </p:nvCxnSpPr>
          <p:spPr>
            <a:xfrm>
              <a:off x="7364210" y="3701427"/>
              <a:ext cx="21321" cy="5186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直线箭头连接符 41">
              <a:extLst>
                <a:ext uri="{FF2B5EF4-FFF2-40B4-BE49-F238E27FC236}">
                  <a16:creationId xmlns:a16="http://schemas.microsoft.com/office/drawing/2014/main" id="{08ACD9C6-69B1-8748-A2EB-CA6089BB1E9F}"/>
                </a:ext>
              </a:extLst>
            </p:cNvPr>
            <p:cNvCxnSpPr>
              <a:stCxn id="33" idx="4"/>
              <a:endCxn id="37" idx="0"/>
            </p:cNvCxnSpPr>
            <p:nvPr/>
          </p:nvCxnSpPr>
          <p:spPr>
            <a:xfrm>
              <a:off x="7364210" y="3701427"/>
              <a:ext cx="609325" cy="5186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线箭头连接符 42">
              <a:extLst>
                <a:ext uri="{FF2B5EF4-FFF2-40B4-BE49-F238E27FC236}">
                  <a16:creationId xmlns:a16="http://schemas.microsoft.com/office/drawing/2014/main" id="{47BF867A-1C43-3B46-AC12-37B07E75C5C0}"/>
                </a:ext>
              </a:extLst>
            </p:cNvPr>
            <p:cNvCxnSpPr>
              <a:stCxn id="33" idx="5"/>
              <a:endCxn id="38" idx="0"/>
            </p:cNvCxnSpPr>
            <p:nvPr/>
          </p:nvCxnSpPr>
          <p:spPr>
            <a:xfrm>
              <a:off x="7468155" y="3661556"/>
              <a:ext cx="1093385" cy="5584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038068F4-F3C3-E04F-9CD4-5986BFC27B17}"/>
                </a:ext>
              </a:extLst>
            </p:cNvPr>
            <p:cNvSpPr txBox="1"/>
            <p:nvPr/>
          </p:nvSpPr>
          <p:spPr>
            <a:xfrm>
              <a:off x="6403520" y="3744794"/>
              <a:ext cx="258220" cy="3024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A</a:t>
              </a:r>
            </a:p>
          </p:txBody>
        </p:sp>
        <p:sp>
          <p:nvSpPr>
            <p:cNvPr id="45" name="文本框 44">
              <a:extLst>
                <a:ext uri="{FF2B5EF4-FFF2-40B4-BE49-F238E27FC236}">
                  <a16:creationId xmlns:a16="http://schemas.microsoft.com/office/drawing/2014/main" id="{7F4F06A2-6F1A-7645-88F0-A4AC3C78CBE7}"/>
                </a:ext>
              </a:extLst>
            </p:cNvPr>
            <p:cNvSpPr txBox="1"/>
            <p:nvPr/>
          </p:nvSpPr>
          <p:spPr>
            <a:xfrm>
              <a:off x="6841237" y="3760472"/>
              <a:ext cx="258220" cy="3024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A</a:t>
              </a:r>
            </a:p>
          </p:txBody>
        </p:sp>
        <p:sp>
          <p:nvSpPr>
            <p:cNvPr id="46" name="文本框 45">
              <a:extLst>
                <a:ext uri="{FF2B5EF4-FFF2-40B4-BE49-F238E27FC236}">
                  <a16:creationId xmlns:a16="http://schemas.microsoft.com/office/drawing/2014/main" id="{9C743150-4565-BF4B-B529-C75BB69AC83C}"/>
                </a:ext>
              </a:extLst>
            </p:cNvPr>
            <p:cNvSpPr txBox="1"/>
            <p:nvPr/>
          </p:nvSpPr>
          <p:spPr>
            <a:xfrm>
              <a:off x="7161110" y="3760472"/>
              <a:ext cx="258220" cy="3024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A</a:t>
              </a:r>
            </a:p>
          </p:txBody>
        </p:sp>
        <p:sp>
          <p:nvSpPr>
            <p:cNvPr id="47" name="文本框 46">
              <a:extLst>
                <a:ext uri="{FF2B5EF4-FFF2-40B4-BE49-F238E27FC236}">
                  <a16:creationId xmlns:a16="http://schemas.microsoft.com/office/drawing/2014/main" id="{C604E227-6C37-A44F-A846-AE05FFB76542}"/>
                </a:ext>
              </a:extLst>
            </p:cNvPr>
            <p:cNvSpPr txBox="1"/>
            <p:nvPr/>
          </p:nvSpPr>
          <p:spPr>
            <a:xfrm>
              <a:off x="7594651" y="3760472"/>
              <a:ext cx="258220" cy="3024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A</a:t>
              </a:r>
            </a:p>
          </p:txBody>
        </p:sp>
        <p:sp>
          <p:nvSpPr>
            <p:cNvPr id="48" name="文本框 47">
              <a:extLst>
                <a:ext uri="{FF2B5EF4-FFF2-40B4-BE49-F238E27FC236}">
                  <a16:creationId xmlns:a16="http://schemas.microsoft.com/office/drawing/2014/main" id="{919E8620-466C-DA47-B9B9-B5736FC56E3D}"/>
                </a:ext>
              </a:extLst>
            </p:cNvPr>
            <p:cNvSpPr txBox="1"/>
            <p:nvPr/>
          </p:nvSpPr>
          <p:spPr>
            <a:xfrm>
              <a:off x="8100031" y="3782602"/>
              <a:ext cx="258220" cy="3024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A</a:t>
              </a:r>
            </a:p>
          </p:txBody>
        </p:sp>
      </p:grpSp>
      <p:graphicFrame>
        <p:nvGraphicFramePr>
          <p:cNvPr id="49" name="表格 48">
            <a:extLst>
              <a:ext uri="{FF2B5EF4-FFF2-40B4-BE49-F238E27FC236}">
                <a16:creationId xmlns:a16="http://schemas.microsoft.com/office/drawing/2014/main" id="{CF05F822-4D60-5141-9003-10DCF400E219}"/>
              </a:ext>
            </a:extLst>
          </p:cNvPr>
          <p:cNvGraphicFramePr>
            <a:graphicFrameLocks noGrp="1"/>
          </p:cNvGraphicFramePr>
          <p:nvPr>
            <p:extLst>
              <p:ext uri="{D42A27DB-BD31-4B8C-83A1-F6EECF244321}">
                <p14:modId xmlns:p14="http://schemas.microsoft.com/office/powerpoint/2010/main" val="3541485254"/>
              </p:ext>
            </p:extLst>
          </p:nvPr>
        </p:nvGraphicFramePr>
        <p:xfrm>
          <a:off x="1135439" y="1713608"/>
          <a:ext cx="4889949" cy="1029322"/>
        </p:xfrm>
        <a:graphic>
          <a:graphicData uri="http://schemas.openxmlformats.org/drawingml/2006/table">
            <a:tbl>
              <a:tblPr firstRow="1" bandRow="1">
                <a:tableStyleId>{BC89EF96-8CEA-46FF-86C4-4CE0E7609802}</a:tableStyleId>
              </a:tblPr>
              <a:tblGrid>
                <a:gridCol w="1030455">
                  <a:extLst>
                    <a:ext uri="{9D8B030D-6E8A-4147-A177-3AD203B41FA5}">
                      <a16:colId xmlns:a16="http://schemas.microsoft.com/office/drawing/2014/main" val="20000"/>
                    </a:ext>
                  </a:extLst>
                </a:gridCol>
                <a:gridCol w="643249">
                  <a:extLst>
                    <a:ext uri="{9D8B030D-6E8A-4147-A177-3AD203B41FA5}">
                      <a16:colId xmlns:a16="http://schemas.microsoft.com/office/drawing/2014/main" val="20001"/>
                    </a:ext>
                  </a:extLst>
                </a:gridCol>
                <a:gridCol w="643249">
                  <a:extLst>
                    <a:ext uri="{9D8B030D-6E8A-4147-A177-3AD203B41FA5}">
                      <a16:colId xmlns:a16="http://schemas.microsoft.com/office/drawing/2014/main" val="20002"/>
                    </a:ext>
                  </a:extLst>
                </a:gridCol>
                <a:gridCol w="643249">
                  <a:extLst>
                    <a:ext uri="{9D8B030D-6E8A-4147-A177-3AD203B41FA5}">
                      <a16:colId xmlns:a16="http://schemas.microsoft.com/office/drawing/2014/main" val="20003"/>
                    </a:ext>
                  </a:extLst>
                </a:gridCol>
                <a:gridCol w="643249">
                  <a:extLst>
                    <a:ext uri="{9D8B030D-6E8A-4147-A177-3AD203B41FA5}">
                      <a16:colId xmlns:a16="http://schemas.microsoft.com/office/drawing/2014/main" val="20004"/>
                    </a:ext>
                  </a:extLst>
                </a:gridCol>
                <a:gridCol w="643249">
                  <a:extLst>
                    <a:ext uri="{9D8B030D-6E8A-4147-A177-3AD203B41FA5}">
                      <a16:colId xmlns:a16="http://schemas.microsoft.com/office/drawing/2014/main" val="20005"/>
                    </a:ext>
                  </a:extLst>
                </a:gridCol>
                <a:gridCol w="643249">
                  <a:extLst>
                    <a:ext uri="{9D8B030D-6E8A-4147-A177-3AD203B41FA5}">
                      <a16:colId xmlns:a16="http://schemas.microsoft.com/office/drawing/2014/main" val="20006"/>
                    </a:ext>
                  </a:extLst>
                </a:gridCol>
              </a:tblGrid>
              <a:tr h="655023">
                <a:tc>
                  <a:txBody>
                    <a:bodyPr/>
                    <a:lstStyle/>
                    <a:p>
                      <a:pPr algn="r"/>
                      <a:r>
                        <a:rPr lang="zh-CN" altLang="en-US" sz="1800" dirty="0">
                          <a:solidFill>
                            <a:schemeClr val="bg1"/>
                          </a:solidFill>
                        </a:rPr>
                        <a:t>接收</a:t>
                      </a:r>
                      <a:endParaRPr lang="en-US" altLang="zh-CN" sz="1800" dirty="0">
                        <a:solidFill>
                          <a:schemeClr val="bg1"/>
                        </a:solidFill>
                      </a:endParaRPr>
                    </a:p>
                    <a:p>
                      <a:r>
                        <a:rPr lang="zh-CN" altLang="en-US" sz="1800" dirty="0">
                          <a:solidFill>
                            <a:schemeClr val="bg1"/>
                          </a:solidFill>
                        </a:rPr>
                        <a:t>發送</a:t>
                      </a:r>
                    </a:p>
                  </a:txBody>
                  <a:tcPr marL="83118" marR="83118" marT="41559" marB="41559">
                    <a:lnTlToBr w="12700" cap="flat" cmpd="sng" algn="ctr">
                      <a:solidFill>
                        <a:schemeClr val="tx1"/>
                      </a:solidFill>
                      <a:prstDash val="solid"/>
                      <a:round/>
                      <a:headEnd type="none" w="med" len="med"/>
                      <a:tailEnd type="none" w="med" len="med"/>
                    </a:lnTlToBr>
                    <a:solidFill>
                      <a:srgbClr val="00B0F0"/>
                    </a:solidFill>
                  </a:tcPr>
                </a:tc>
                <a:tc>
                  <a:txBody>
                    <a:bodyPr/>
                    <a:lstStyle/>
                    <a:p>
                      <a:pPr algn="ctr"/>
                      <a:r>
                        <a:rPr lang="en-US" altLang="zh-CN" sz="1800" dirty="0">
                          <a:solidFill>
                            <a:schemeClr val="bg1"/>
                          </a:solidFill>
                        </a:rPr>
                        <a:t>1</a:t>
                      </a:r>
                      <a:endParaRPr lang="zh-CN" altLang="en-US" sz="1800" dirty="0">
                        <a:solidFill>
                          <a:schemeClr val="bg1"/>
                        </a:solidFill>
                      </a:endParaRPr>
                    </a:p>
                  </a:txBody>
                  <a:tcPr marL="83118" marR="83118" marT="41559" marB="41559" anchor="ctr">
                    <a:solidFill>
                      <a:srgbClr val="00B0F0"/>
                    </a:solidFill>
                  </a:tcPr>
                </a:tc>
                <a:tc>
                  <a:txBody>
                    <a:bodyPr/>
                    <a:lstStyle/>
                    <a:p>
                      <a:pPr algn="ctr"/>
                      <a:r>
                        <a:rPr lang="en-US" altLang="zh-CN" sz="1800" dirty="0">
                          <a:solidFill>
                            <a:schemeClr val="bg1"/>
                          </a:solidFill>
                        </a:rPr>
                        <a:t>2</a:t>
                      </a:r>
                      <a:endParaRPr lang="zh-CN" altLang="en-US" sz="1800" dirty="0">
                        <a:solidFill>
                          <a:schemeClr val="bg1"/>
                        </a:solidFill>
                      </a:endParaRPr>
                    </a:p>
                  </a:txBody>
                  <a:tcPr marL="83118" marR="83118" marT="41559" marB="41559" anchor="ctr">
                    <a:solidFill>
                      <a:srgbClr val="00B0F0"/>
                    </a:solidFill>
                  </a:tcPr>
                </a:tc>
                <a:tc>
                  <a:txBody>
                    <a:bodyPr/>
                    <a:lstStyle/>
                    <a:p>
                      <a:pPr algn="ctr"/>
                      <a:r>
                        <a:rPr lang="en-US" altLang="zh-CN" sz="1800" dirty="0">
                          <a:solidFill>
                            <a:schemeClr val="bg1"/>
                          </a:solidFill>
                        </a:rPr>
                        <a:t>3</a:t>
                      </a:r>
                      <a:endParaRPr lang="zh-CN" altLang="en-US" sz="1800" dirty="0">
                        <a:solidFill>
                          <a:schemeClr val="bg1"/>
                        </a:solidFill>
                      </a:endParaRPr>
                    </a:p>
                  </a:txBody>
                  <a:tcPr marL="83118" marR="83118" marT="41559" marB="41559" anchor="ctr">
                    <a:solidFill>
                      <a:srgbClr val="00B0F0"/>
                    </a:solidFill>
                  </a:tcPr>
                </a:tc>
                <a:tc>
                  <a:txBody>
                    <a:bodyPr/>
                    <a:lstStyle/>
                    <a:p>
                      <a:pPr algn="ctr"/>
                      <a:r>
                        <a:rPr lang="en-US" altLang="zh-CN" sz="1800" dirty="0">
                          <a:solidFill>
                            <a:schemeClr val="bg1"/>
                          </a:solidFill>
                        </a:rPr>
                        <a:t>4</a:t>
                      </a:r>
                      <a:endParaRPr lang="zh-CN" altLang="en-US" sz="1800" dirty="0">
                        <a:solidFill>
                          <a:schemeClr val="bg1"/>
                        </a:solidFill>
                      </a:endParaRPr>
                    </a:p>
                  </a:txBody>
                  <a:tcPr marL="83118" marR="83118" marT="41559" marB="41559" anchor="ctr">
                    <a:solidFill>
                      <a:srgbClr val="00B0F0"/>
                    </a:solidFill>
                  </a:tcPr>
                </a:tc>
                <a:tc>
                  <a:txBody>
                    <a:bodyPr/>
                    <a:lstStyle/>
                    <a:p>
                      <a:pPr algn="ctr"/>
                      <a:r>
                        <a:rPr lang="en-US" altLang="zh-CN" sz="1800" dirty="0">
                          <a:solidFill>
                            <a:schemeClr val="bg1"/>
                          </a:solidFill>
                        </a:rPr>
                        <a:t>5</a:t>
                      </a:r>
                      <a:endParaRPr lang="zh-CN" altLang="en-US" sz="1800" dirty="0">
                        <a:solidFill>
                          <a:schemeClr val="bg1"/>
                        </a:solidFill>
                      </a:endParaRPr>
                    </a:p>
                  </a:txBody>
                  <a:tcPr marL="83118" marR="83118" marT="41559" marB="41559" anchor="ctr">
                    <a:solidFill>
                      <a:srgbClr val="00B0F0"/>
                    </a:solidFill>
                  </a:tcPr>
                </a:tc>
                <a:tc>
                  <a:txBody>
                    <a:bodyPr/>
                    <a:lstStyle/>
                    <a:p>
                      <a:pPr algn="ctr"/>
                      <a:r>
                        <a:rPr lang="en-US" altLang="zh-CN" sz="1800" dirty="0">
                          <a:solidFill>
                            <a:schemeClr val="bg1"/>
                          </a:solidFill>
                        </a:rPr>
                        <a:t>6</a:t>
                      </a:r>
                      <a:endParaRPr lang="zh-CN" altLang="en-US" sz="1800" dirty="0">
                        <a:solidFill>
                          <a:schemeClr val="bg1"/>
                        </a:solidFill>
                      </a:endParaRPr>
                    </a:p>
                  </a:txBody>
                  <a:tcPr marL="83118" marR="83118" marT="41559" marB="41559" anchor="ctr">
                    <a:solidFill>
                      <a:srgbClr val="00B0F0"/>
                    </a:solidFill>
                  </a:tcPr>
                </a:tc>
                <a:extLst>
                  <a:ext uri="{0D108BD9-81ED-4DB2-BD59-A6C34878D82A}">
                    <a16:rowId xmlns:a16="http://schemas.microsoft.com/office/drawing/2014/main" val="10000"/>
                  </a:ext>
                </a:extLst>
              </a:tr>
              <a:tr h="374299">
                <a:tc>
                  <a:txBody>
                    <a:bodyPr/>
                    <a:lstStyle/>
                    <a:p>
                      <a:pPr algn="ctr"/>
                      <a:r>
                        <a:rPr lang="en-US" altLang="zh-CN" sz="1800" dirty="0"/>
                        <a:t>0</a:t>
                      </a:r>
                      <a:endParaRPr lang="zh-CN" altLang="en-US" sz="1800" dirty="0"/>
                    </a:p>
                  </a:txBody>
                  <a:tcPr marL="83118" marR="83118" marT="41559" marB="41559" anchor="ctr"/>
                </a:tc>
                <a:tc>
                  <a:txBody>
                    <a:bodyPr/>
                    <a:lstStyle/>
                    <a:p>
                      <a:pPr algn="ctr"/>
                      <a:r>
                        <a:rPr lang="en-US" altLang="zh-CN" sz="1800" dirty="0"/>
                        <a:t>A</a:t>
                      </a:r>
                      <a:endParaRPr lang="zh-CN" altLang="en-US" sz="1800" dirty="0"/>
                    </a:p>
                  </a:txBody>
                  <a:tcPr marL="83118" marR="83118" marT="41559" marB="41559"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dirty="0"/>
                        <a:t>R</a:t>
                      </a:r>
                      <a:endParaRPr lang="zh-CN" altLang="en-US" sz="1800" dirty="0"/>
                    </a:p>
                  </a:txBody>
                  <a:tcPr marL="83118" marR="83118" marT="41559" marB="41559" anchor="ctr"/>
                </a:tc>
                <a:tc>
                  <a:txBody>
                    <a:bodyPr/>
                    <a:lstStyle/>
                    <a:p>
                      <a:pPr algn="ctr"/>
                      <a:r>
                        <a:rPr lang="en-US" altLang="zh-CN" sz="1800" dirty="0"/>
                        <a:t>A</a:t>
                      </a:r>
                      <a:endParaRPr lang="zh-CN" altLang="en-US" sz="1800" dirty="0"/>
                    </a:p>
                  </a:txBody>
                  <a:tcPr marL="83118" marR="83118" marT="41559" marB="41559" anchor="ctr"/>
                </a:tc>
                <a:tc>
                  <a:txBody>
                    <a:bodyPr/>
                    <a:lstStyle/>
                    <a:p>
                      <a:pPr algn="ctr"/>
                      <a:r>
                        <a:rPr lang="en-US" altLang="zh-CN" sz="1800" dirty="0"/>
                        <a:t>R</a:t>
                      </a:r>
                      <a:endParaRPr lang="zh-CN" altLang="en-US" sz="1800" dirty="0"/>
                    </a:p>
                  </a:txBody>
                  <a:tcPr marL="83118" marR="83118" marT="41559" marB="41559" anchor="ctr"/>
                </a:tc>
                <a:tc>
                  <a:txBody>
                    <a:bodyPr/>
                    <a:lstStyle/>
                    <a:p>
                      <a:pPr algn="ctr"/>
                      <a:r>
                        <a:rPr lang="en-US" altLang="zh-CN" sz="1800" dirty="0"/>
                        <a:t>A</a:t>
                      </a:r>
                      <a:endParaRPr lang="zh-CN" altLang="en-US" sz="1800" dirty="0"/>
                    </a:p>
                  </a:txBody>
                  <a:tcPr marL="83118" marR="83118" marT="41559" marB="41559" anchor="ctr"/>
                </a:tc>
                <a:tc>
                  <a:txBody>
                    <a:bodyPr/>
                    <a:lstStyle/>
                    <a:p>
                      <a:pPr algn="ctr"/>
                      <a:r>
                        <a:rPr lang="en-US" altLang="zh-CN" sz="1800" dirty="0"/>
                        <a:t>R</a:t>
                      </a:r>
                      <a:endParaRPr lang="zh-CN" altLang="en-US" sz="1800" dirty="0"/>
                    </a:p>
                  </a:txBody>
                  <a:tcPr marL="83118" marR="83118" marT="41559" marB="41559" anchor="ctr"/>
                </a:tc>
                <a:extLst>
                  <a:ext uri="{0D108BD9-81ED-4DB2-BD59-A6C34878D82A}">
                    <a16:rowId xmlns:a16="http://schemas.microsoft.com/office/drawing/2014/main" val="10001"/>
                  </a:ext>
                </a:extLst>
              </a:tr>
            </a:tbl>
          </a:graphicData>
        </a:graphic>
      </p:graphicFrame>
      <p:grpSp>
        <p:nvGrpSpPr>
          <p:cNvPr id="3" name="组合 2">
            <a:extLst>
              <a:ext uri="{FF2B5EF4-FFF2-40B4-BE49-F238E27FC236}">
                <a16:creationId xmlns:a16="http://schemas.microsoft.com/office/drawing/2014/main" id="{B020FB89-4B61-844C-B826-41F541E16596}"/>
              </a:ext>
            </a:extLst>
          </p:cNvPr>
          <p:cNvGrpSpPr/>
          <p:nvPr/>
        </p:nvGrpSpPr>
        <p:grpSpPr>
          <a:xfrm>
            <a:off x="7781252" y="1316353"/>
            <a:ext cx="3741112" cy="1228689"/>
            <a:chOff x="5792789" y="1519066"/>
            <a:chExt cx="3231489" cy="1061314"/>
          </a:xfrm>
        </p:grpSpPr>
        <p:sp>
          <p:nvSpPr>
            <p:cNvPr id="50" name="椭圆 49">
              <a:extLst>
                <a:ext uri="{FF2B5EF4-FFF2-40B4-BE49-F238E27FC236}">
                  <a16:creationId xmlns:a16="http://schemas.microsoft.com/office/drawing/2014/main" id="{291CB130-948B-D346-959F-F5A0E66F8C02}"/>
                </a:ext>
              </a:extLst>
            </p:cNvPr>
            <p:cNvSpPr/>
            <p:nvPr/>
          </p:nvSpPr>
          <p:spPr>
            <a:xfrm>
              <a:off x="7260264" y="1519066"/>
              <a:ext cx="294002" cy="272253"/>
            </a:xfrm>
            <a:prstGeom prst="ellipse">
              <a:avLst/>
            </a:prstGeom>
            <a:solidFill>
              <a:srgbClr val="FF000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FFFFFF"/>
                  </a:solidFill>
                  <a:effectLst/>
                  <a:uLnTx/>
                  <a:uFillTx/>
                  <a:latin typeface="Arial"/>
                  <a:ea typeface="微软雅黑 Light"/>
                  <a:cs typeface="+mn-cs"/>
                </a:rPr>
                <a:t>0</a:t>
              </a:r>
              <a:endParaRPr kumimoji="1" lang="zh-CN" altLang="en-US" sz="1800" b="0" i="0" u="none" strike="noStrike" kern="1200" cap="none" spc="0" normalizeH="0" baseline="0" noProof="0" dirty="0">
                <a:ln>
                  <a:noFill/>
                </a:ln>
                <a:solidFill>
                  <a:srgbClr val="FFFFFF"/>
                </a:solidFill>
                <a:effectLst/>
                <a:uLnTx/>
                <a:uFillTx/>
                <a:latin typeface="Arial"/>
                <a:ea typeface="微软雅黑 Light"/>
                <a:cs typeface="+mn-cs"/>
              </a:endParaRPr>
            </a:p>
          </p:txBody>
        </p:sp>
        <p:sp>
          <p:nvSpPr>
            <p:cNvPr id="51" name="椭圆 50">
              <a:extLst>
                <a:ext uri="{FF2B5EF4-FFF2-40B4-BE49-F238E27FC236}">
                  <a16:creationId xmlns:a16="http://schemas.microsoft.com/office/drawing/2014/main" id="{B48DA4C9-06E7-9D40-8C6C-B9A9BC4676B4}"/>
                </a:ext>
              </a:extLst>
            </p:cNvPr>
            <p:cNvSpPr/>
            <p:nvPr/>
          </p:nvSpPr>
          <p:spPr>
            <a:xfrm>
              <a:off x="5792789" y="2308127"/>
              <a:ext cx="294002" cy="272253"/>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1</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52" name="椭圆 51">
              <a:extLst>
                <a:ext uri="{FF2B5EF4-FFF2-40B4-BE49-F238E27FC236}">
                  <a16:creationId xmlns:a16="http://schemas.microsoft.com/office/drawing/2014/main" id="{F8F02AD1-9C8C-EE4E-9980-8DA6EB01EBD7}"/>
                </a:ext>
              </a:extLst>
            </p:cNvPr>
            <p:cNvSpPr/>
            <p:nvPr/>
          </p:nvSpPr>
          <p:spPr>
            <a:xfrm>
              <a:off x="6378257" y="2308127"/>
              <a:ext cx="294002" cy="272253"/>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2</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53" name="椭圆 52">
              <a:extLst>
                <a:ext uri="{FF2B5EF4-FFF2-40B4-BE49-F238E27FC236}">
                  <a16:creationId xmlns:a16="http://schemas.microsoft.com/office/drawing/2014/main" id="{7A2E96F4-361F-B04F-8F47-29CBFC882933}"/>
                </a:ext>
              </a:extLst>
            </p:cNvPr>
            <p:cNvSpPr/>
            <p:nvPr/>
          </p:nvSpPr>
          <p:spPr>
            <a:xfrm>
              <a:off x="7554267" y="2308127"/>
              <a:ext cx="294002" cy="272253"/>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4</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54" name="椭圆 53">
              <a:extLst>
                <a:ext uri="{FF2B5EF4-FFF2-40B4-BE49-F238E27FC236}">
                  <a16:creationId xmlns:a16="http://schemas.microsoft.com/office/drawing/2014/main" id="{3F584D62-815F-D146-99C1-8D0D2E578034}"/>
                </a:ext>
              </a:extLst>
            </p:cNvPr>
            <p:cNvSpPr/>
            <p:nvPr/>
          </p:nvSpPr>
          <p:spPr>
            <a:xfrm>
              <a:off x="6966261" y="2308127"/>
              <a:ext cx="294002" cy="272253"/>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3</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55" name="椭圆 54">
              <a:extLst>
                <a:ext uri="{FF2B5EF4-FFF2-40B4-BE49-F238E27FC236}">
                  <a16:creationId xmlns:a16="http://schemas.microsoft.com/office/drawing/2014/main" id="{6D647CAC-F8DC-2E40-97A9-52157857C855}"/>
                </a:ext>
              </a:extLst>
            </p:cNvPr>
            <p:cNvSpPr/>
            <p:nvPr/>
          </p:nvSpPr>
          <p:spPr>
            <a:xfrm>
              <a:off x="8142271" y="2308126"/>
              <a:ext cx="294002" cy="272253"/>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5</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56" name="椭圆 55">
              <a:extLst>
                <a:ext uri="{FF2B5EF4-FFF2-40B4-BE49-F238E27FC236}">
                  <a16:creationId xmlns:a16="http://schemas.microsoft.com/office/drawing/2014/main" id="{25213107-E231-F141-8881-B42F54BAFC59}"/>
                </a:ext>
              </a:extLst>
            </p:cNvPr>
            <p:cNvSpPr/>
            <p:nvPr/>
          </p:nvSpPr>
          <p:spPr>
            <a:xfrm>
              <a:off x="8730276" y="2308124"/>
              <a:ext cx="294002" cy="272252"/>
            </a:xfrm>
            <a:prstGeom prst="ellipse">
              <a:avLst/>
            </a:prstGeom>
            <a:solidFill>
              <a:srgbClr val="FF000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FFFFFF"/>
                  </a:solidFill>
                  <a:effectLst/>
                  <a:uLnTx/>
                  <a:uFillTx/>
                  <a:latin typeface="Arial"/>
                  <a:ea typeface="微软雅黑 Light"/>
                  <a:cs typeface="+mn-cs"/>
                </a:rPr>
                <a:t>6</a:t>
              </a:r>
              <a:endParaRPr kumimoji="1" lang="zh-CN" altLang="en-US" sz="1800" b="0" i="0" u="none" strike="noStrike" kern="1200" cap="none" spc="0" normalizeH="0" baseline="0" noProof="0" dirty="0">
                <a:ln>
                  <a:noFill/>
                </a:ln>
                <a:solidFill>
                  <a:srgbClr val="FFFFFF"/>
                </a:solidFill>
                <a:effectLst/>
                <a:uLnTx/>
                <a:uFillTx/>
                <a:latin typeface="Arial"/>
                <a:ea typeface="微软雅黑 Light"/>
                <a:cs typeface="+mn-cs"/>
              </a:endParaRPr>
            </a:p>
          </p:txBody>
        </p:sp>
        <p:cxnSp>
          <p:nvCxnSpPr>
            <p:cNvPr id="57" name="直线箭头连接符 56">
              <a:extLst>
                <a:ext uri="{FF2B5EF4-FFF2-40B4-BE49-F238E27FC236}">
                  <a16:creationId xmlns:a16="http://schemas.microsoft.com/office/drawing/2014/main" id="{0E9E9B57-48EA-F04A-94C7-48EE6E9B58C4}"/>
                </a:ext>
              </a:extLst>
            </p:cNvPr>
            <p:cNvCxnSpPr>
              <a:stCxn id="50" idx="3"/>
              <a:endCxn id="52" idx="0"/>
            </p:cNvCxnSpPr>
            <p:nvPr/>
          </p:nvCxnSpPr>
          <p:spPr>
            <a:xfrm flipH="1">
              <a:off x="5939790" y="1751446"/>
              <a:ext cx="1363529" cy="5566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直线箭头连接符 57">
              <a:extLst>
                <a:ext uri="{FF2B5EF4-FFF2-40B4-BE49-F238E27FC236}">
                  <a16:creationId xmlns:a16="http://schemas.microsoft.com/office/drawing/2014/main" id="{8F7D5F80-75FC-EE45-A4AA-9400349EFA45}"/>
                </a:ext>
              </a:extLst>
            </p:cNvPr>
            <p:cNvCxnSpPr>
              <a:stCxn id="50" idx="3"/>
              <a:endCxn id="53" idx="0"/>
            </p:cNvCxnSpPr>
            <p:nvPr/>
          </p:nvCxnSpPr>
          <p:spPr>
            <a:xfrm flipH="1">
              <a:off x="6525258" y="1751446"/>
              <a:ext cx="778062" cy="5566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直线箭头连接符 58">
              <a:extLst>
                <a:ext uri="{FF2B5EF4-FFF2-40B4-BE49-F238E27FC236}">
                  <a16:creationId xmlns:a16="http://schemas.microsoft.com/office/drawing/2014/main" id="{83B44C27-DFCD-3E41-A104-F64E9C17A9AA}"/>
                </a:ext>
              </a:extLst>
            </p:cNvPr>
            <p:cNvCxnSpPr>
              <a:stCxn id="50" idx="4"/>
              <a:endCxn id="55" idx="0"/>
            </p:cNvCxnSpPr>
            <p:nvPr/>
          </p:nvCxnSpPr>
          <p:spPr>
            <a:xfrm flipH="1">
              <a:off x="7113262" y="1791317"/>
              <a:ext cx="294002" cy="51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直线箭头连接符 59">
              <a:extLst>
                <a:ext uri="{FF2B5EF4-FFF2-40B4-BE49-F238E27FC236}">
                  <a16:creationId xmlns:a16="http://schemas.microsoft.com/office/drawing/2014/main" id="{112EDA20-6879-CC43-8E36-5B3249630BA1}"/>
                </a:ext>
              </a:extLst>
            </p:cNvPr>
            <p:cNvCxnSpPr>
              <a:stCxn id="50" idx="4"/>
              <a:endCxn id="54" idx="0"/>
            </p:cNvCxnSpPr>
            <p:nvPr/>
          </p:nvCxnSpPr>
          <p:spPr>
            <a:xfrm>
              <a:off x="7407265" y="1791317"/>
              <a:ext cx="294002" cy="516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直线箭头连接符 60">
              <a:extLst>
                <a:ext uri="{FF2B5EF4-FFF2-40B4-BE49-F238E27FC236}">
                  <a16:creationId xmlns:a16="http://schemas.microsoft.com/office/drawing/2014/main" id="{9924F453-4BDC-974B-BF4E-167C6510040D}"/>
                </a:ext>
              </a:extLst>
            </p:cNvPr>
            <p:cNvCxnSpPr>
              <a:stCxn id="50" idx="5"/>
              <a:endCxn id="56" idx="0"/>
            </p:cNvCxnSpPr>
            <p:nvPr/>
          </p:nvCxnSpPr>
          <p:spPr>
            <a:xfrm>
              <a:off x="7511211" y="1751446"/>
              <a:ext cx="778062" cy="5566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直线箭头连接符 61">
              <a:extLst>
                <a:ext uri="{FF2B5EF4-FFF2-40B4-BE49-F238E27FC236}">
                  <a16:creationId xmlns:a16="http://schemas.microsoft.com/office/drawing/2014/main" id="{FD1321F6-2C5A-A541-BDD0-0ADC9C343B36}"/>
                </a:ext>
              </a:extLst>
            </p:cNvPr>
            <p:cNvCxnSpPr>
              <a:stCxn id="50" idx="5"/>
              <a:endCxn id="57" idx="0"/>
            </p:cNvCxnSpPr>
            <p:nvPr/>
          </p:nvCxnSpPr>
          <p:spPr>
            <a:xfrm>
              <a:off x="7511211" y="1751446"/>
              <a:ext cx="1366065" cy="5566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文本框 62">
              <a:extLst>
                <a:ext uri="{FF2B5EF4-FFF2-40B4-BE49-F238E27FC236}">
                  <a16:creationId xmlns:a16="http://schemas.microsoft.com/office/drawing/2014/main" id="{80AA9C5C-13C4-604E-BA88-40FE2BCF276F}"/>
                </a:ext>
              </a:extLst>
            </p:cNvPr>
            <p:cNvSpPr txBox="1"/>
            <p:nvPr/>
          </p:nvSpPr>
          <p:spPr>
            <a:xfrm>
              <a:off x="6088840" y="1864735"/>
              <a:ext cx="258220" cy="3024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A</a:t>
              </a:r>
            </a:p>
          </p:txBody>
        </p:sp>
        <p:sp>
          <p:nvSpPr>
            <p:cNvPr id="64" name="文本框 63">
              <a:extLst>
                <a:ext uri="{FF2B5EF4-FFF2-40B4-BE49-F238E27FC236}">
                  <a16:creationId xmlns:a16="http://schemas.microsoft.com/office/drawing/2014/main" id="{E9904A76-C754-C24F-BD36-9FE70D837101}"/>
                </a:ext>
              </a:extLst>
            </p:cNvPr>
            <p:cNvSpPr txBox="1"/>
            <p:nvPr/>
          </p:nvSpPr>
          <p:spPr>
            <a:xfrm>
              <a:off x="6643477" y="1867491"/>
              <a:ext cx="25822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R</a:t>
              </a:r>
            </a:p>
          </p:txBody>
        </p:sp>
        <p:sp>
          <p:nvSpPr>
            <p:cNvPr id="65" name="文本框 64">
              <a:extLst>
                <a:ext uri="{FF2B5EF4-FFF2-40B4-BE49-F238E27FC236}">
                  <a16:creationId xmlns:a16="http://schemas.microsoft.com/office/drawing/2014/main" id="{46CE417A-976A-1F45-9D2D-93B9D698B777}"/>
                </a:ext>
              </a:extLst>
            </p:cNvPr>
            <p:cNvSpPr txBox="1"/>
            <p:nvPr/>
          </p:nvSpPr>
          <p:spPr>
            <a:xfrm>
              <a:off x="7034678" y="1834563"/>
              <a:ext cx="258220" cy="3024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A</a:t>
              </a:r>
            </a:p>
          </p:txBody>
        </p:sp>
        <p:sp>
          <p:nvSpPr>
            <p:cNvPr id="66" name="文本框 65">
              <a:extLst>
                <a:ext uri="{FF2B5EF4-FFF2-40B4-BE49-F238E27FC236}">
                  <a16:creationId xmlns:a16="http://schemas.microsoft.com/office/drawing/2014/main" id="{1E6BF55C-8603-A847-B0C5-427A211BA5D5}"/>
                </a:ext>
              </a:extLst>
            </p:cNvPr>
            <p:cNvSpPr txBox="1"/>
            <p:nvPr/>
          </p:nvSpPr>
          <p:spPr>
            <a:xfrm>
              <a:off x="7475681" y="1834563"/>
              <a:ext cx="25822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R</a:t>
              </a:r>
            </a:p>
          </p:txBody>
        </p:sp>
        <p:sp>
          <p:nvSpPr>
            <p:cNvPr id="67" name="文本框 66">
              <a:extLst>
                <a:ext uri="{FF2B5EF4-FFF2-40B4-BE49-F238E27FC236}">
                  <a16:creationId xmlns:a16="http://schemas.microsoft.com/office/drawing/2014/main" id="{0F3CFC9C-9499-634D-AFA8-22C602962229}"/>
                </a:ext>
              </a:extLst>
            </p:cNvPr>
            <p:cNvSpPr txBox="1"/>
            <p:nvPr/>
          </p:nvSpPr>
          <p:spPr>
            <a:xfrm>
              <a:off x="7899403" y="1864735"/>
              <a:ext cx="258220" cy="3024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A</a:t>
              </a:r>
            </a:p>
          </p:txBody>
        </p:sp>
        <p:sp>
          <p:nvSpPr>
            <p:cNvPr id="68" name="文本框 67">
              <a:extLst>
                <a:ext uri="{FF2B5EF4-FFF2-40B4-BE49-F238E27FC236}">
                  <a16:creationId xmlns:a16="http://schemas.microsoft.com/office/drawing/2014/main" id="{447EA013-3031-8C43-8CBD-52E44B80E483}"/>
                </a:ext>
              </a:extLst>
            </p:cNvPr>
            <p:cNvSpPr txBox="1"/>
            <p:nvPr/>
          </p:nvSpPr>
          <p:spPr>
            <a:xfrm>
              <a:off x="8294131" y="1864735"/>
              <a:ext cx="509707" cy="3190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R</a:t>
              </a:r>
            </a:p>
          </p:txBody>
        </p:sp>
      </p:grpSp>
      <p:graphicFrame>
        <p:nvGraphicFramePr>
          <p:cNvPr id="70" name="表格 69">
            <a:extLst>
              <a:ext uri="{FF2B5EF4-FFF2-40B4-BE49-F238E27FC236}">
                <a16:creationId xmlns:a16="http://schemas.microsoft.com/office/drawing/2014/main" id="{67F818A5-5880-AD46-A5D1-237042402ADD}"/>
              </a:ext>
            </a:extLst>
          </p:cNvPr>
          <p:cNvGraphicFramePr>
            <a:graphicFrameLocks noGrp="1"/>
          </p:cNvGraphicFramePr>
          <p:nvPr>
            <p:extLst>
              <p:ext uri="{D42A27DB-BD31-4B8C-83A1-F6EECF244321}">
                <p14:modId xmlns:p14="http://schemas.microsoft.com/office/powerpoint/2010/main" val="1288233426"/>
              </p:ext>
            </p:extLst>
          </p:nvPr>
        </p:nvGraphicFramePr>
        <p:xfrm>
          <a:off x="1131376" y="3619638"/>
          <a:ext cx="4907472" cy="1005840"/>
        </p:xfrm>
        <a:graphic>
          <a:graphicData uri="http://schemas.openxmlformats.org/drawingml/2006/table">
            <a:tbl>
              <a:tblPr firstRow="1" bandRow="1">
                <a:tableStyleId>{BC89EF96-8CEA-46FF-86C4-4CE0E7609802}</a:tableStyleId>
              </a:tblPr>
              <a:tblGrid>
                <a:gridCol w="1190792">
                  <a:extLst>
                    <a:ext uri="{9D8B030D-6E8A-4147-A177-3AD203B41FA5}">
                      <a16:colId xmlns:a16="http://schemas.microsoft.com/office/drawing/2014/main" val="20000"/>
                    </a:ext>
                  </a:extLst>
                </a:gridCol>
                <a:gridCol w="743336">
                  <a:extLst>
                    <a:ext uri="{9D8B030D-6E8A-4147-A177-3AD203B41FA5}">
                      <a16:colId xmlns:a16="http://schemas.microsoft.com/office/drawing/2014/main" val="20001"/>
                    </a:ext>
                  </a:extLst>
                </a:gridCol>
                <a:gridCol w="743336">
                  <a:extLst>
                    <a:ext uri="{9D8B030D-6E8A-4147-A177-3AD203B41FA5}">
                      <a16:colId xmlns:a16="http://schemas.microsoft.com/office/drawing/2014/main" val="20002"/>
                    </a:ext>
                  </a:extLst>
                </a:gridCol>
                <a:gridCol w="743336">
                  <a:extLst>
                    <a:ext uri="{9D8B030D-6E8A-4147-A177-3AD203B41FA5}">
                      <a16:colId xmlns:a16="http://schemas.microsoft.com/office/drawing/2014/main" val="20003"/>
                    </a:ext>
                  </a:extLst>
                </a:gridCol>
                <a:gridCol w="743336">
                  <a:extLst>
                    <a:ext uri="{9D8B030D-6E8A-4147-A177-3AD203B41FA5}">
                      <a16:colId xmlns:a16="http://schemas.microsoft.com/office/drawing/2014/main" val="20004"/>
                    </a:ext>
                  </a:extLst>
                </a:gridCol>
                <a:gridCol w="743336">
                  <a:extLst>
                    <a:ext uri="{9D8B030D-6E8A-4147-A177-3AD203B41FA5}">
                      <a16:colId xmlns:a16="http://schemas.microsoft.com/office/drawing/2014/main" val="20005"/>
                    </a:ext>
                  </a:extLst>
                </a:gridCol>
              </a:tblGrid>
              <a:tr h="576024">
                <a:tc>
                  <a:txBody>
                    <a:bodyPr/>
                    <a:lstStyle/>
                    <a:p>
                      <a:pPr algn="r"/>
                      <a:r>
                        <a:rPr lang="zh-CN" altLang="en-US" dirty="0">
                          <a:solidFill>
                            <a:schemeClr val="bg1"/>
                          </a:solidFill>
                        </a:rPr>
                        <a:t>接收</a:t>
                      </a:r>
                      <a:endParaRPr lang="en-US" altLang="zh-CN" dirty="0">
                        <a:solidFill>
                          <a:schemeClr val="bg1"/>
                        </a:solidFill>
                      </a:endParaRPr>
                    </a:p>
                    <a:p>
                      <a:r>
                        <a:rPr lang="zh-CN" altLang="en-US" dirty="0">
                          <a:solidFill>
                            <a:schemeClr val="bg1"/>
                          </a:solidFill>
                        </a:rPr>
                        <a:t>發送</a:t>
                      </a:r>
                    </a:p>
                  </a:txBody>
                  <a:tcPr>
                    <a:lnTlToBr w="12700" cap="flat" cmpd="sng" algn="ctr">
                      <a:solidFill>
                        <a:schemeClr val="tx1"/>
                      </a:solidFill>
                      <a:prstDash val="solid"/>
                      <a:round/>
                      <a:headEnd type="none" w="med" len="med"/>
                      <a:tailEnd type="none" w="med" len="med"/>
                    </a:lnTlToBr>
                    <a:solidFill>
                      <a:srgbClr val="00B0F0"/>
                    </a:solidFill>
                  </a:tcPr>
                </a:tc>
                <a:tc>
                  <a:txBody>
                    <a:bodyPr/>
                    <a:lstStyle/>
                    <a:p>
                      <a:pPr algn="ctr"/>
                      <a:r>
                        <a:rPr lang="en-US" altLang="zh-CN" dirty="0">
                          <a:solidFill>
                            <a:schemeClr val="bg1"/>
                          </a:solidFill>
                        </a:rPr>
                        <a:t>2</a:t>
                      </a:r>
                      <a:endParaRPr lang="zh-CN" altLang="en-US" dirty="0">
                        <a:solidFill>
                          <a:schemeClr val="bg1"/>
                        </a:solidFill>
                      </a:endParaRPr>
                    </a:p>
                  </a:txBody>
                  <a:tcPr anchor="ctr">
                    <a:solidFill>
                      <a:srgbClr val="00B0F0"/>
                    </a:solidFill>
                  </a:tcPr>
                </a:tc>
                <a:tc>
                  <a:txBody>
                    <a:bodyPr/>
                    <a:lstStyle/>
                    <a:p>
                      <a:pPr algn="ctr"/>
                      <a:r>
                        <a:rPr lang="en-US" altLang="zh-CN" dirty="0">
                          <a:solidFill>
                            <a:schemeClr val="bg1"/>
                          </a:solidFill>
                        </a:rPr>
                        <a:t>3</a:t>
                      </a:r>
                      <a:endParaRPr lang="zh-CN" altLang="en-US" dirty="0">
                        <a:solidFill>
                          <a:schemeClr val="bg1"/>
                        </a:solidFill>
                      </a:endParaRPr>
                    </a:p>
                  </a:txBody>
                  <a:tcPr anchor="ctr">
                    <a:solidFill>
                      <a:srgbClr val="00B0F0"/>
                    </a:solidFill>
                  </a:tcPr>
                </a:tc>
                <a:tc>
                  <a:txBody>
                    <a:bodyPr/>
                    <a:lstStyle/>
                    <a:p>
                      <a:pPr algn="ctr"/>
                      <a:r>
                        <a:rPr lang="en-US" altLang="zh-CN" dirty="0">
                          <a:solidFill>
                            <a:schemeClr val="bg1"/>
                          </a:solidFill>
                        </a:rPr>
                        <a:t>4</a:t>
                      </a:r>
                      <a:endParaRPr lang="zh-CN" altLang="en-US" dirty="0">
                        <a:solidFill>
                          <a:schemeClr val="bg1"/>
                        </a:solidFill>
                      </a:endParaRPr>
                    </a:p>
                  </a:txBody>
                  <a:tcPr anchor="ctr">
                    <a:solidFill>
                      <a:srgbClr val="00B0F0"/>
                    </a:solidFill>
                  </a:tcPr>
                </a:tc>
                <a:tc>
                  <a:txBody>
                    <a:bodyPr/>
                    <a:lstStyle/>
                    <a:p>
                      <a:pPr algn="ctr"/>
                      <a:r>
                        <a:rPr lang="en-US" altLang="zh-CN" dirty="0">
                          <a:solidFill>
                            <a:schemeClr val="bg1"/>
                          </a:solidFill>
                        </a:rPr>
                        <a:t>5</a:t>
                      </a:r>
                      <a:endParaRPr lang="zh-CN" altLang="en-US" dirty="0">
                        <a:solidFill>
                          <a:schemeClr val="bg1"/>
                        </a:solidFill>
                      </a:endParaRPr>
                    </a:p>
                  </a:txBody>
                  <a:tcPr anchor="ctr">
                    <a:solidFill>
                      <a:srgbClr val="00B0F0"/>
                    </a:solidFill>
                  </a:tcPr>
                </a:tc>
                <a:tc>
                  <a:txBody>
                    <a:bodyPr/>
                    <a:lstStyle/>
                    <a:p>
                      <a:pPr algn="ctr"/>
                      <a:r>
                        <a:rPr lang="en-US" altLang="zh-CN" dirty="0">
                          <a:solidFill>
                            <a:schemeClr val="bg1"/>
                          </a:solidFill>
                        </a:rPr>
                        <a:t>6</a:t>
                      </a:r>
                      <a:endParaRPr lang="zh-CN" altLang="en-US" dirty="0">
                        <a:solidFill>
                          <a:schemeClr val="bg1"/>
                        </a:solidFill>
                      </a:endParaRPr>
                    </a:p>
                  </a:txBody>
                  <a:tcPr anchor="ctr">
                    <a:solidFill>
                      <a:srgbClr val="00B0F0"/>
                    </a:solidFill>
                  </a:tcPr>
                </a:tc>
                <a:extLst>
                  <a:ext uri="{0D108BD9-81ED-4DB2-BD59-A6C34878D82A}">
                    <a16:rowId xmlns:a16="http://schemas.microsoft.com/office/drawing/2014/main" val="10000"/>
                  </a:ext>
                </a:extLst>
              </a:tr>
              <a:tr h="329156">
                <a:tc>
                  <a:txBody>
                    <a:bodyPr/>
                    <a:lstStyle/>
                    <a:p>
                      <a:pPr algn="ctr"/>
                      <a:r>
                        <a:rPr lang="en-US" altLang="zh-CN" dirty="0"/>
                        <a:t>1</a:t>
                      </a:r>
                      <a:endParaRPr lang="zh-CN" altLang="en-US"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a:t>A</a:t>
                      </a:r>
                      <a:endParaRPr lang="zh-CN" altLang="en-US" dirty="0"/>
                    </a:p>
                  </a:txBody>
                  <a:tcPr anchor="ctr"/>
                </a:tc>
                <a:tc>
                  <a:txBody>
                    <a:bodyPr/>
                    <a:lstStyle/>
                    <a:p>
                      <a:pPr algn="ctr"/>
                      <a:r>
                        <a:rPr lang="en-US" altLang="zh-CN" dirty="0"/>
                        <a:t>A</a:t>
                      </a:r>
                      <a:endParaRPr lang="zh-CN" altLang="en-US" dirty="0"/>
                    </a:p>
                  </a:txBody>
                  <a:tcPr anchor="ctr"/>
                </a:tc>
                <a:tc>
                  <a:txBody>
                    <a:bodyPr/>
                    <a:lstStyle/>
                    <a:p>
                      <a:pPr algn="ctr"/>
                      <a:r>
                        <a:rPr lang="en-US" altLang="zh-CN" dirty="0"/>
                        <a:t>A</a:t>
                      </a:r>
                      <a:endParaRPr lang="zh-CN" altLang="en-US" dirty="0"/>
                    </a:p>
                  </a:txBody>
                  <a:tcPr anchor="ctr"/>
                </a:tc>
                <a:tc>
                  <a:txBody>
                    <a:bodyPr/>
                    <a:lstStyle/>
                    <a:p>
                      <a:pPr algn="ctr"/>
                      <a:r>
                        <a:rPr lang="en-US" altLang="zh-CN" dirty="0"/>
                        <a:t>A</a:t>
                      </a:r>
                      <a:endParaRPr lang="zh-CN" altLang="en-US" dirty="0"/>
                    </a:p>
                  </a:txBody>
                  <a:tcPr anchor="ctr"/>
                </a:tc>
                <a:tc>
                  <a:txBody>
                    <a:bodyPr/>
                    <a:lstStyle/>
                    <a:p>
                      <a:pPr algn="ctr"/>
                      <a:r>
                        <a:rPr lang="en-US" altLang="zh-CN" dirty="0"/>
                        <a:t>A</a:t>
                      </a:r>
                      <a:endParaRPr lang="zh-CN" altLang="en-US" dirty="0"/>
                    </a:p>
                  </a:txBody>
                  <a:tcPr anchor="ctr"/>
                </a:tc>
                <a:extLst>
                  <a:ext uri="{0D108BD9-81ED-4DB2-BD59-A6C34878D82A}">
                    <a16:rowId xmlns:a16="http://schemas.microsoft.com/office/drawing/2014/main" val="10001"/>
                  </a:ext>
                </a:extLst>
              </a:tr>
            </a:tbl>
          </a:graphicData>
        </a:graphic>
      </p:graphicFrame>
      <p:sp>
        <p:nvSpPr>
          <p:cNvPr id="71" name="内容占位符 3">
            <a:extLst>
              <a:ext uri="{FF2B5EF4-FFF2-40B4-BE49-F238E27FC236}">
                <a16:creationId xmlns:a16="http://schemas.microsoft.com/office/drawing/2014/main" id="{BEA6CAFE-46CC-7649-B40C-948165A56BDB}"/>
              </a:ext>
            </a:extLst>
          </p:cNvPr>
          <p:cNvSpPr txBox="1">
            <a:spLocks/>
          </p:cNvSpPr>
          <p:nvPr/>
        </p:nvSpPr>
        <p:spPr bwMode="auto">
          <a:xfrm>
            <a:off x="702072" y="4874553"/>
            <a:ext cx="11074726" cy="1875355"/>
          </a:xfrm>
          <a:prstGeom prst="rect">
            <a:avLst/>
          </a:prstGeom>
          <a:noFill/>
          <a:ln w="9525">
            <a:solidFill>
              <a:srgbClr val="00B0F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lnSpc>
                <a:spcPct val="150000"/>
              </a:lnSpc>
              <a:spcBef>
                <a:spcPct val="20000"/>
              </a:spcBef>
              <a:spcAft>
                <a:spcPct val="0"/>
              </a:spcAft>
              <a:buFont typeface="Arial" charset="0"/>
              <a:buChar char="•"/>
              <a:defRPr sz="2800" kern="1200" baseline="0">
                <a:solidFill>
                  <a:srgbClr val="404040"/>
                </a:solidFill>
                <a:latin typeface="Comic Sans MS" panose="030F0702030302020204" pitchFamily="66" charset="0"/>
                <a:ea typeface="微软雅黑" pitchFamily="34" charset="-122"/>
                <a:cs typeface="+mn-cs"/>
              </a:defRPr>
            </a:lvl1pPr>
            <a:lvl2pPr marL="742950" indent="-285750" algn="l" rtl="0" eaLnBrk="1" fontAlgn="base" hangingPunct="1">
              <a:lnSpc>
                <a:spcPct val="150000"/>
              </a:lnSpc>
              <a:spcBef>
                <a:spcPct val="20000"/>
              </a:spcBef>
              <a:spcAft>
                <a:spcPct val="0"/>
              </a:spcAft>
              <a:buFont typeface="Arial" charset="0"/>
              <a:buChar char="–"/>
              <a:defRPr sz="2400" kern="1200" baseline="0">
                <a:solidFill>
                  <a:schemeClr val="tx1">
                    <a:lumMod val="75000"/>
                    <a:lumOff val="25000"/>
                  </a:schemeClr>
                </a:solidFill>
                <a:latin typeface="Comic Sans MS" panose="030F0702030302020204" pitchFamily="66" charset="0"/>
                <a:ea typeface="微软雅黑" pitchFamily="34" charset="-122"/>
                <a:cs typeface="+mn-cs"/>
              </a:defRPr>
            </a:lvl2pPr>
            <a:lvl3pPr marL="1143000" indent="-228600" algn="l" rtl="0" eaLnBrk="1" fontAlgn="base" hangingPunct="1">
              <a:lnSpc>
                <a:spcPct val="150000"/>
              </a:lnSpc>
              <a:spcBef>
                <a:spcPct val="20000"/>
              </a:spcBef>
              <a:spcAft>
                <a:spcPct val="0"/>
              </a:spcAft>
              <a:buFont typeface="Arial" charset="0"/>
              <a:buChar char="•"/>
              <a:defRPr sz="2000" kern="1200" baseline="0">
                <a:solidFill>
                  <a:schemeClr val="tx1">
                    <a:lumMod val="75000"/>
                    <a:lumOff val="25000"/>
                  </a:schemeClr>
                </a:solidFill>
                <a:latin typeface="Comic Sans MS" panose="030F0702030302020204" pitchFamily="66" charset="0"/>
                <a:ea typeface="微软雅黑" pitchFamily="34" charset="-122"/>
                <a:cs typeface="+mn-cs"/>
              </a:defRPr>
            </a:lvl3pPr>
            <a:lvl4pPr marL="1600200" indent="-228600" algn="l" rtl="0" eaLnBrk="1" fontAlgn="base" hangingPunct="1">
              <a:lnSpc>
                <a:spcPct val="150000"/>
              </a:lnSpc>
              <a:spcBef>
                <a:spcPct val="20000"/>
              </a:spcBef>
              <a:spcAft>
                <a:spcPct val="0"/>
              </a:spcAft>
              <a:buFont typeface="Arial" charset="0"/>
              <a:buChar char="–"/>
              <a:defRPr sz="2000" kern="1200" baseline="0">
                <a:solidFill>
                  <a:schemeClr val="tx1">
                    <a:lumMod val="75000"/>
                    <a:lumOff val="25000"/>
                  </a:schemeClr>
                </a:solidFill>
                <a:latin typeface="Comic Sans MS" panose="030F0702030302020204" pitchFamily="66" charset="0"/>
                <a:ea typeface="微软雅黑" pitchFamily="34" charset="-122"/>
                <a:cs typeface="+mn-cs"/>
              </a:defRPr>
            </a:lvl4pPr>
            <a:lvl5pPr marL="2057400" indent="-228600" algn="l" rtl="0" eaLnBrk="1" fontAlgn="base" hangingPunct="1">
              <a:lnSpc>
                <a:spcPct val="150000"/>
              </a:lnSpc>
              <a:spcBef>
                <a:spcPct val="20000"/>
              </a:spcBef>
              <a:spcAft>
                <a:spcPct val="0"/>
              </a:spcAft>
              <a:buFont typeface="Arial" charset="0"/>
              <a:buChar char="»"/>
              <a:defRPr sz="2000" kern="1200" baseline="0">
                <a:solidFill>
                  <a:schemeClr val="tx1">
                    <a:lumMod val="75000"/>
                    <a:lumOff val="25000"/>
                  </a:schemeClr>
                </a:solidFill>
                <a:latin typeface="Comic Sans MS" panose="030F0702030302020204" pitchFamily="66"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ts val="3600"/>
              </a:lnSpc>
              <a:spcBef>
                <a:spcPts val="0"/>
              </a:spcBef>
              <a:spcAft>
                <a:spcPct val="0"/>
              </a:spcAft>
              <a:buClrTx/>
              <a:buSzTx/>
              <a:buFont typeface="Arial" charset="0"/>
              <a:buChar char="•"/>
              <a:tabLst/>
              <a:defRPr/>
            </a:pP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OM</a:t>
            </a:r>
            <a:r>
              <a:rPr kumimoji="1" lang="en-US" altLang="zh-CN" sz="2400" b="0" i="0" u="none" strike="noStrike" kern="1200" cap="none" spc="0" normalizeH="0" baseline="-2500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0,1,i</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a:t>
            </a:r>
            <a:r>
              <a:rPr kumimoji="1" lang="en-US" altLang="zh-CN" sz="2400" b="0" dirty="0">
                <a:solidFill>
                  <a:srgbClr val="000000"/>
                </a:solidFill>
                <a:latin typeface="Microsoft YaHei" panose="020B0503020204020204" pitchFamily="34" charset="-122"/>
                <a:ea typeface="Microsoft YaHei" panose="020B0503020204020204" pitchFamily="34" charset="-122"/>
              </a:rPr>
              <a:t>0</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中</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2~6</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交換信息，顯然最終</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2~5</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會認定</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1</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的决策爲</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A</a:t>
            </a:r>
          </a:p>
          <a:p>
            <a:pPr marL="342900" marR="0" lvl="0" indent="-342900" algn="l" defTabSz="914400" rtl="0" eaLnBrk="1" fontAlgn="base" latinLnBrk="0" hangingPunct="1">
              <a:lnSpc>
                <a:spcPts val="3600"/>
              </a:lnSpc>
              <a:spcBef>
                <a:spcPts val="0"/>
              </a:spcBef>
              <a:spcAft>
                <a:spcPct val="0"/>
              </a:spcAft>
              <a:buClrTx/>
              <a:buSzTx/>
              <a:buFont typeface="Arial" charset="0"/>
              <a:buChar char="•"/>
              <a:tabLst/>
              <a:defRPr/>
            </a:pP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故副官</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1</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的</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OM</a:t>
            </a:r>
            <a:r>
              <a:rPr kumimoji="1" lang="en-US" altLang="zh-CN" sz="2400" b="0" i="0" u="none" strike="noStrike" kern="1200" cap="none" spc="0" normalizeH="0" baseline="-2500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0,1</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(1)</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過程</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1~5</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對于副官</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1</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的决策爲</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A</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達成一致</a:t>
            </a:r>
            <a:endPar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342900" marR="0" lvl="0" indent="-342900" algn="l" defTabSz="914400" rtl="0" eaLnBrk="1" fontAlgn="base" latinLnBrk="0" hangingPunct="1">
              <a:lnSpc>
                <a:spcPts val="3600"/>
              </a:lnSpc>
              <a:spcBef>
                <a:spcPts val="0"/>
              </a:spcBef>
              <a:spcAft>
                <a:spcPct val="0"/>
              </a:spcAft>
              <a:buClrTx/>
              <a:buSzTx/>
              <a:buFont typeface="Arial" charset="0"/>
              <a:buChar char="•"/>
              <a:tabLst/>
              <a:defRPr/>
            </a:pP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同理，可得</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2,3,4,5</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在</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OM</a:t>
            </a:r>
            <a:r>
              <a:rPr kumimoji="1" lang="en-US" altLang="zh-CN" sz="2400" b="0" i="0" u="none" strike="noStrike" kern="1200" cap="none" spc="0" normalizeH="0" baseline="-2500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0,i</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(1)</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中的决策結果分別爲</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R, A, R, A</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（由于他們是誠實的，所以同步的結果與將軍發送的一致）</a:t>
            </a:r>
            <a:endPar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sp>
        <p:nvSpPr>
          <p:cNvPr id="72" name="内容占位符 3">
            <a:extLst>
              <a:ext uri="{FF2B5EF4-FFF2-40B4-BE49-F238E27FC236}">
                <a16:creationId xmlns:a16="http://schemas.microsoft.com/office/drawing/2014/main" id="{A5572952-7A5F-E941-B127-1EE77347CD2B}"/>
              </a:ext>
            </a:extLst>
          </p:cNvPr>
          <p:cNvSpPr txBox="1">
            <a:spLocks/>
          </p:cNvSpPr>
          <p:nvPr/>
        </p:nvSpPr>
        <p:spPr bwMode="auto">
          <a:xfrm>
            <a:off x="705346" y="2927547"/>
            <a:ext cx="6106860" cy="558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lnSpc>
                <a:spcPct val="150000"/>
              </a:lnSpc>
              <a:spcBef>
                <a:spcPct val="20000"/>
              </a:spcBef>
              <a:spcAft>
                <a:spcPct val="0"/>
              </a:spcAft>
              <a:buFont typeface="Arial" charset="0"/>
              <a:buChar char="•"/>
              <a:defRPr sz="2800" kern="1200" baseline="0">
                <a:solidFill>
                  <a:srgbClr val="404040"/>
                </a:solidFill>
                <a:latin typeface="Comic Sans MS" panose="030F0702030302020204" pitchFamily="66" charset="0"/>
                <a:ea typeface="微软雅黑" pitchFamily="34" charset="-122"/>
                <a:cs typeface="+mn-cs"/>
              </a:defRPr>
            </a:lvl1pPr>
            <a:lvl2pPr marL="742950" indent="-285750" algn="l" rtl="0" eaLnBrk="1" fontAlgn="base" hangingPunct="1">
              <a:lnSpc>
                <a:spcPct val="150000"/>
              </a:lnSpc>
              <a:spcBef>
                <a:spcPct val="20000"/>
              </a:spcBef>
              <a:spcAft>
                <a:spcPct val="0"/>
              </a:spcAft>
              <a:buFont typeface="Arial" charset="0"/>
              <a:buChar char="–"/>
              <a:defRPr sz="2400" kern="1200" baseline="0">
                <a:solidFill>
                  <a:schemeClr val="tx1">
                    <a:lumMod val="75000"/>
                    <a:lumOff val="25000"/>
                  </a:schemeClr>
                </a:solidFill>
                <a:latin typeface="Comic Sans MS" panose="030F0702030302020204" pitchFamily="66" charset="0"/>
                <a:ea typeface="微软雅黑" pitchFamily="34" charset="-122"/>
                <a:cs typeface="+mn-cs"/>
              </a:defRPr>
            </a:lvl2pPr>
            <a:lvl3pPr marL="1143000" indent="-228600" algn="l" rtl="0" eaLnBrk="1" fontAlgn="base" hangingPunct="1">
              <a:lnSpc>
                <a:spcPct val="150000"/>
              </a:lnSpc>
              <a:spcBef>
                <a:spcPct val="20000"/>
              </a:spcBef>
              <a:spcAft>
                <a:spcPct val="0"/>
              </a:spcAft>
              <a:buFont typeface="Arial" charset="0"/>
              <a:buChar char="•"/>
              <a:defRPr sz="2000" kern="1200" baseline="0">
                <a:solidFill>
                  <a:schemeClr val="tx1">
                    <a:lumMod val="75000"/>
                    <a:lumOff val="25000"/>
                  </a:schemeClr>
                </a:solidFill>
                <a:latin typeface="Comic Sans MS" panose="030F0702030302020204" pitchFamily="66" charset="0"/>
                <a:ea typeface="微软雅黑" pitchFamily="34" charset="-122"/>
                <a:cs typeface="+mn-cs"/>
              </a:defRPr>
            </a:lvl3pPr>
            <a:lvl4pPr marL="1600200" indent="-228600" algn="l" rtl="0" eaLnBrk="1" fontAlgn="base" hangingPunct="1">
              <a:lnSpc>
                <a:spcPct val="150000"/>
              </a:lnSpc>
              <a:spcBef>
                <a:spcPct val="20000"/>
              </a:spcBef>
              <a:spcAft>
                <a:spcPct val="0"/>
              </a:spcAft>
              <a:buFont typeface="Arial" charset="0"/>
              <a:buChar char="–"/>
              <a:defRPr sz="2000" kern="1200" baseline="0">
                <a:solidFill>
                  <a:schemeClr val="tx1">
                    <a:lumMod val="75000"/>
                    <a:lumOff val="25000"/>
                  </a:schemeClr>
                </a:solidFill>
                <a:latin typeface="Comic Sans MS" panose="030F0702030302020204" pitchFamily="66" charset="0"/>
                <a:ea typeface="微软雅黑" pitchFamily="34" charset="-122"/>
                <a:cs typeface="+mn-cs"/>
              </a:defRPr>
            </a:lvl4pPr>
            <a:lvl5pPr marL="2057400" indent="-228600" algn="l" rtl="0" eaLnBrk="1" fontAlgn="base" hangingPunct="1">
              <a:lnSpc>
                <a:spcPct val="150000"/>
              </a:lnSpc>
              <a:spcBef>
                <a:spcPct val="20000"/>
              </a:spcBef>
              <a:spcAft>
                <a:spcPct val="0"/>
              </a:spcAft>
              <a:buFont typeface="Arial" charset="0"/>
              <a:buChar char="»"/>
              <a:defRPr sz="2000" kern="1200" baseline="0">
                <a:solidFill>
                  <a:schemeClr val="tx1">
                    <a:lumMod val="75000"/>
                    <a:lumOff val="25000"/>
                  </a:schemeClr>
                </a:solidFill>
                <a:latin typeface="Comic Sans MS" panose="030F0702030302020204" pitchFamily="66"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150000"/>
              </a:lnSpc>
              <a:spcBef>
                <a:spcPts val="0"/>
              </a:spcBef>
              <a:spcAft>
                <a:spcPct val="0"/>
              </a:spcAft>
              <a:buClrTx/>
              <a:buSzTx/>
              <a:buFont typeface="Arial" charset="0"/>
              <a:buChar char="•"/>
              <a:tabLst/>
              <a:defRPr/>
            </a:pPr>
            <a:r>
              <a:rPr kumimoji="1" lang="en-US" altLang="zh-CN" sz="2400" b="0" i="0" u="none" strike="noStrike" kern="1200" cap="none" spc="0" normalizeH="0" baseline="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rPr>
              <a:t>OM</a:t>
            </a:r>
            <a:r>
              <a:rPr kumimoji="1" lang="en-US" altLang="zh-CN" sz="2400" b="0" i="0" u="none" strike="noStrike" kern="1200" cap="none" spc="0" normalizeH="0" baseline="-2500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rPr>
              <a:t>0,1</a:t>
            </a:r>
            <a:r>
              <a:rPr kumimoji="1" lang="en-US" altLang="zh-CN" sz="2400" b="0" i="0" u="none" strike="noStrike" kern="1200" cap="none" spc="0" normalizeH="0" baseline="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rPr>
              <a:t>(1)</a:t>
            </a:r>
            <a:r>
              <a:rPr kumimoji="1" lang="zh-CN" altLang="en-US" sz="2400" b="0" i="0" u="none" strike="noStrike" kern="1200" cap="none" spc="0" normalizeH="0" baseline="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rPr>
              <a:t> 以副官</a:t>
            </a:r>
            <a:r>
              <a:rPr kumimoji="1" lang="en-US" altLang="zh-CN" sz="2400" b="0" i="0" u="none" strike="noStrike" kern="1200" cap="none" spc="0" normalizeH="0" baseline="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rPr>
              <a:t>1</a:t>
            </a:r>
            <a:r>
              <a:rPr kumimoji="1" lang="zh-CN" altLang="en-US" sz="2400" b="0" i="0" u="none" strike="noStrike" kern="1200" cap="none" spc="0" normalizeH="0" baseline="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rPr>
              <a:t>作爲將軍發送消息爲例</a:t>
            </a:r>
            <a:endParaRPr kumimoji="1" lang="en-US" altLang="zh-CN" sz="2400" b="0" i="0" u="none" strike="noStrike" kern="1200" cap="none" spc="0" normalizeH="0" baseline="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endParaRPr>
          </a:p>
        </p:txBody>
      </p:sp>
      <p:sp>
        <p:nvSpPr>
          <p:cNvPr id="4" name="灯片编号占位符 3">
            <a:extLst>
              <a:ext uri="{FF2B5EF4-FFF2-40B4-BE49-F238E27FC236}">
                <a16:creationId xmlns:a16="http://schemas.microsoft.com/office/drawing/2014/main" id="{CD4A1AF6-4D8E-4D64-AB1C-42984BFA8263}"/>
              </a:ext>
            </a:extLst>
          </p:cNvPr>
          <p:cNvSpPr>
            <a:spLocks noGrp="1"/>
          </p:cNvSpPr>
          <p:nvPr>
            <p:ph type="sldNum" sz="quarter" idx="4"/>
          </p:nvPr>
        </p:nvSpPr>
        <p:spPr/>
        <p:txBody>
          <a:bodyPr/>
          <a:lstStyle/>
          <a:p>
            <a:fld id="{015CE2E0-6DDF-4FAE-9DBA-F1C48BF5C133}" type="slidenum">
              <a:rPr lang="zh-CN" altLang="en-US" smtClean="0"/>
              <a:t>109</a:t>
            </a:fld>
            <a:endParaRPr lang="zh-CN" altLang="en-US" dirty="0"/>
          </a:p>
        </p:txBody>
      </p:sp>
    </p:spTree>
    <p:extLst>
      <p:ext uri="{BB962C8B-B14F-4D97-AF65-F5344CB8AC3E}">
        <p14:creationId xmlns:p14="http://schemas.microsoft.com/office/powerpoint/2010/main" val="273714031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lang="zh-CN" altLang="en-US" sz="4000" dirty="0"/>
              <a:t>場景二：將軍是叛徒</a:t>
            </a:r>
            <a:endParaRPr kumimoji="1" lang="zh-CN" altLang="en-US" sz="4000" dirty="0"/>
          </a:p>
        </p:txBody>
      </p:sp>
      <p:sp>
        <p:nvSpPr>
          <p:cNvPr id="73" name="内容占位符 3">
            <a:extLst>
              <a:ext uri="{FF2B5EF4-FFF2-40B4-BE49-F238E27FC236}">
                <a16:creationId xmlns:a16="http://schemas.microsoft.com/office/drawing/2014/main" id="{D0669DC7-BD8D-E940-B614-89932BB97334}"/>
              </a:ext>
            </a:extLst>
          </p:cNvPr>
          <p:cNvSpPr txBox="1">
            <a:spLocks/>
          </p:cNvSpPr>
          <p:nvPr/>
        </p:nvSpPr>
        <p:spPr>
          <a:xfrm>
            <a:off x="777972" y="1049456"/>
            <a:ext cx="10929232" cy="1105970"/>
          </a:xfrm>
          <a:prstGeom prst="rect">
            <a:avLst/>
          </a:prstGeom>
          <a:ln>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ts val="3600"/>
              </a:lnSpc>
              <a:spcBef>
                <a:spcPts val="180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在調用完</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OM</a:t>
            </a:r>
            <a:r>
              <a:rPr kumimoji="1" lang="en-US" altLang="zh-CN" sz="2400" b="0" i="0" u="none" strike="noStrike" kern="1200" cap="none" spc="0" normalizeH="0" baseline="-2500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0,i</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(1)</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之後，</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1~5</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可以得到如下决策，</a:t>
            </a:r>
            <a:r>
              <a:rPr kumimoji="1" lang="en-US" altLang="zh-CN" sz="2400" b="0" i="0" u="none" strike="noStrike" kern="1200" cap="none" spc="0" normalizeH="0" baseline="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rPr>
              <a:t>xi</a:t>
            </a:r>
            <a:r>
              <a:rPr kumimoji="1" lang="zh-CN" altLang="en-US" sz="2400" b="0" i="0" u="none" strike="noStrike" kern="1200" cap="none" spc="0" normalizeH="0" baseline="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rPr>
              <a:t>是副官</a:t>
            </a:r>
            <a:r>
              <a:rPr kumimoji="1" lang="en-US" altLang="zh-CN" sz="2400" b="0" dirty="0" err="1">
                <a:latin typeface="Microsoft YaHei" panose="020B0503020204020204" pitchFamily="34" charset="-122"/>
                <a:ea typeface="Microsoft YaHei" panose="020B0503020204020204" pitchFamily="34" charset="-122"/>
              </a:rPr>
              <a:t>i</a:t>
            </a:r>
            <a:r>
              <a:rPr kumimoji="1" lang="zh-CN" altLang="en-US" sz="2400" b="0" dirty="0">
                <a:latin typeface="Microsoft YaHei" panose="020B0503020204020204" pitchFamily="34" charset="-122"/>
                <a:ea typeface="Microsoft YaHei" panose="020B0503020204020204" pitchFamily="34" charset="-122"/>
              </a:rPr>
              <a:t>在</a:t>
            </a:r>
            <a:r>
              <a:rPr kumimoji="1" lang="en-US" altLang="zh-CN" sz="2400" b="0" i="0" u="none" strike="noStrike" kern="1200" cap="none" spc="0" normalizeH="0" baseline="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rPr>
              <a:t>OM</a:t>
            </a:r>
            <a:r>
              <a:rPr kumimoji="1" lang="en-US" altLang="zh-CN" sz="2400" b="0" i="0" u="none" strike="noStrike" kern="1200" cap="none" spc="0" normalizeH="0" baseline="-2500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rPr>
              <a:t>0,6</a:t>
            </a:r>
            <a:r>
              <a:rPr kumimoji="1" lang="en-US" altLang="zh-CN" sz="2400" b="0" i="0" u="none" strike="noStrike" kern="1200" cap="none" spc="0" normalizeH="0" baseline="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rPr>
              <a:t>(1)</a:t>
            </a:r>
            <a:r>
              <a:rPr kumimoji="1" lang="zh-CN" altLang="en-US" sz="2400" b="0" i="0" u="none" strike="noStrike" kern="1200" cap="none" spc="0" normalizeH="0" baseline="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rPr>
              <a:t>中</a:t>
            </a:r>
            <a:r>
              <a:rPr kumimoji="1" lang="zh-CN" altLang="en-US" sz="2400" b="0" dirty="0">
                <a:latin typeface="Microsoft YaHei" panose="020B0503020204020204" pitchFamily="34" charset="-122"/>
                <a:ea typeface="Microsoft YaHei" panose="020B0503020204020204" pitchFamily="34" charset="-122"/>
              </a:rPr>
              <a:t>從副官</a:t>
            </a:r>
            <a:r>
              <a:rPr kumimoji="1" lang="en-US" altLang="zh-CN" sz="2400" b="0" dirty="0">
                <a:latin typeface="Microsoft YaHei" panose="020B0503020204020204" pitchFamily="34" charset="-122"/>
                <a:ea typeface="Microsoft YaHei" panose="020B0503020204020204" pitchFamily="34" charset="-122"/>
              </a:rPr>
              <a:t>6</a:t>
            </a:r>
            <a:r>
              <a:rPr kumimoji="1" lang="zh-CN" altLang="en-US" sz="2400" b="0" dirty="0">
                <a:latin typeface="Microsoft YaHei" panose="020B0503020204020204" pitchFamily="34" charset="-122"/>
                <a:ea typeface="Microsoft YaHei" panose="020B0503020204020204" pitchFamily="34" charset="-122"/>
              </a:rPr>
              <a:t>處收到的值</a:t>
            </a:r>
            <a:endParaRPr kumimoji="1" lang="en-US" altLang="zh-CN" sz="2400" b="0" i="0" u="none" strike="noStrike" kern="1200" cap="none" spc="0" normalizeH="0" baseline="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endParaRPr>
          </a:p>
          <a:p>
            <a:pPr marL="228600" marR="0" lvl="0" indent="-228600" algn="l"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endPar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228600" marR="0" lvl="0" indent="-228600" algn="l"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endParaRPr kumimoji="1" lang="en-US" altLang="zh-CN" sz="2400" b="0" dirty="0">
              <a:solidFill>
                <a:srgbClr val="000000"/>
              </a:solidFill>
              <a:latin typeface="Microsoft YaHei" panose="020B0503020204020204" pitchFamily="34" charset="-122"/>
              <a:ea typeface="Microsoft YaHei" panose="020B0503020204020204" pitchFamily="34" charset="-122"/>
            </a:endParaRPr>
          </a:p>
          <a:p>
            <a:pPr marL="228600" marR="0" lvl="0" indent="-228600" algn="l"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endPar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0" marR="0" lvl="0" indent="0" algn="l" defTabSz="914400" rtl="0" eaLnBrk="1" fontAlgn="auto" latinLnBrk="0" hangingPunct="1">
              <a:lnSpc>
                <a:spcPts val="3600"/>
              </a:lnSpc>
              <a:spcBef>
                <a:spcPts val="0"/>
              </a:spcBef>
              <a:spcAft>
                <a:spcPts val="0"/>
              </a:spcAft>
              <a:buClrTx/>
              <a:buSzTx/>
              <a:buNone/>
              <a:tabLst/>
              <a:defRPr/>
            </a:pPr>
            <a:endPar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graphicFrame>
        <p:nvGraphicFramePr>
          <p:cNvPr id="74" name="表格 73">
            <a:extLst>
              <a:ext uri="{FF2B5EF4-FFF2-40B4-BE49-F238E27FC236}">
                <a16:creationId xmlns:a16="http://schemas.microsoft.com/office/drawing/2014/main" id="{6F90A6EA-D6EA-0E4C-AA55-710113430055}"/>
              </a:ext>
            </a:extLst>
          </p:cNvPr>
          <p:cNvGraphicFramePr>
            <a:graphicFrameLocks noGrp="1"/>
          </p:cNvGraphicFramePr>
          <p:nvPr>
            <p:extLst>
              <p:ext uri="{D42A27DB-BD31-4B8C-83A1-F6EECF244321}">
                <p14:modId xmlns:p14="http://schemas.microsoft.com/office/powerpoint/2010/main" val="3281820584"/>
              </p:ext>
            </p:extLst>
          </p:nvPr>
        </p:nvGraphicFramePr>
        <p:xfrm>
          <a:off x="891334" y="2329972"/>
          <a:ext cx="4846614" cy="1210270"/>
        </p:xfrm>
        <a:graphic>
          <a:graphicData uri="http://schemas.openxmlformats.org/drawingml/2006/table">
            <a:tbl>
              <a:tblPr firstRow="1" bandRow="1">
                <a:tableStyleId>{BC89EF96-8CEA-46FF-86C4-4CE0E7609802}</a:tableStyleId>
              </a:tblPr>
              <a:tblGrid>
                <a:gridCol w="807769">
                  <a:extLst>
                    <a:ext uri="{9D8B030D-6E8A-4147-A177-3AD203B41FA5}">
                      <a16:colId xmlns:a16="http://schemas.microsoft.com/office/drawing/2014/main" val="20000"/>
                    </a:ext>
                  </a:extLst>
                </a:gridCol>
                <a:gridCol w="807769">
                  <a:extLst>
                    <a:ext uri="{9D8B030D-6E8A-4147-A177-3AD203B41FA5}">
                      <a16:colId xmlns:a16="http://schemas.microsoft.com/office/drawing/2014/main" val="20001"/>
                    </a:ext>
                  </a:extLst>
                </a:gridCol>
                <a:gridCol w="807769">
                  <a:extLst>
                    <a:ext uri="{9D8B030D-6E8A-4147-A177-3AD203B41FA5}">
                      <a16:colId xmlns:a16="http://schemas.microsoft.com/office/drawing/2014/main" val="20002"/>
                    </a:ext>
                  </a:extLst>
                </a:gridCol>
                <a:gridCol w="807769">
                  <a:extLst>
                    <a:ext uri="{9D8B030D-6E8A-4147-A177-3AD203B41FA5}">
                      <a16:colId xmlns:a16="http://schemas.microsoft.com/office/drawing/2014/main" val="20003"/>
                    </a:ext>
                  </a:extLst>
                </a:gridCol>
                <a:gridCol w="807769">
                  <a:extLst>
                    <a:ext uri="{9D8B030D-6E8A-4147-A177-3AD203B41FA5}">
                      <a16:colId xmlns:a16="http://schemas.microsoft.com/office/drawing/2014/main" val="20004"/>
                    </a:ext>
                  </a:extLst>
                </a:gridCol>
                <a:gridCol w="807769">
                  <a:extLst>
                    <a:ext uri="{9D8B030D-6E8A-4147-A177-3AD203B41FA5}">
                      <a16:colId xmlns:a16="http://schemas.microsoft.com/office/drawing/2014/main" val="20005"/>
                    </a:ext>
                  </a:extLst>
                </a:gridCol>
              </a:tblGrid>
              <a:tr h="740238">
                <a:tc>
                  <a:txBody>
                    <a:bodyPr/>
                    <a:lstStyle/>
                    <a:p>
                      <a:pPr algn="ctr"/>
                      <a:r>
                        <a:rPr lang="en-US" altLang="zh-CN" dirty="0">
                          <a:solidFill>
                            <a:schemeClr val="bg1"/>
                          </a:solidFill>
                        </a:rPr>
                        <a:t>1</a:t>
                      </a:r>
                      <a:endParaRPr lang="zh-CN" altLang="en-US" dirty="0">
                        <a:solidFill>
                          <a:schemeClr val="bg1"/>
                        </a:solidFill>
                      </a:endParaRPr>
                    </a:p>
                  </a:txBody>
                  <a:tcPr anchor="ctr">
                    <a:solidFill>
                      <a:srgbClr val="00B0F0"/>
                    </a:solidFill>
                  </a:tcPr>
                </a:tc>
                <a:tc>
                  <a:txBody>
                    <a:bodyPr/>
                    <a:lstStyle/>
                    <a:p>
                      <a:pPr algn="ctr"/>
                      <a:r>
                        <a:rPr lang="en-US" altLang="zh-CN" dirty="0">
                          <a:solidFill>
                            <a:schemeClr val="bg1"/>
                          </a:solidFill>
                        </a:rPr>
                        <a:t>2</a:t>
                      </a:r>
                      <a:endParaRPr lang="zh-CN" altLang="en-US" dirty="0">
                        <a:solidFill>
                          <a:schemeClr val="bg1"/>
                        </a:solidFill>
                      </a:endParaRPr>
                    </a:p>
                  </a:txBody>
                  <a:tcPr anchor="ctr">
                    <a:solidFill>
                      <a:srgbClr val="00B0F0"/>
                    </a:solidFill>
                  </a:tcPr>
                </a:tc>
                <a:tc>
                  <a:txBody>
                    <a:bodyPr/>
                    <a:lstStyle/>
                    <a:p>
                      <a:pPr algn="ctr"/>
                      <a:r>
                        <a:rPr lang="en-US" altLang="zh-CN" dirty="0">
                          <a:solidFill>
                            <a:schemeClr val="bg1"/>
                          </a:solidFill>
                        </a:rPr>
                        <a:t>3</a:t>
                      </a:r>
                      <a:endParaRPr lang="zh-CN" altLang="en-US" dirty="0">
                        <a:solidFill>
                          <a:schemeClr val="bg1"/>
                        </a:solidFill>
                      </a:endParaRPr>
                    </a:p>
                  </a:txBody>
                  <a:tcPr anchor="ctr">
                    <a:solidFill>
                      <a:srgbClr val="00B0F0"/>
                    </a:solidFill>
                  </a:tcPr>
                </a:tc>
                <a:tc>
                  <a:txBody>
                    <a:bodyPr/>
                    <a:lstStyle/>
                    <a:p>
                      <a:pPr algn="ctr"/>
                      <a:r>
                        <a:rPr lang="en-US" altLang="zh-CN" dirty="0">
                          <a:solidFill>
                            <a:schemeClr val="bg1"/>
                          </a:solidFill>
                        </a:rPr>
                        <a:t>4</a:t>
                      </a:r>
                      <a:endParaRPr lang="zh-CN" altLang="en-US" dirty="0">
                        <a:solidFill>
                          <a:schemeClr val="bg1"/>
                        </a:solidFill>
                      </a:endParaRPr>
                    </a:p>
                  </a:txBody>
                  <a:tcPr anchor="ctr">
                    <a:solidFill>
                      <a:srgbClr val="00B0F0"/>
                    </a:solidFill>
                  </a:tcPr>
                </a:tc>
                <a:tc>
                  <a:txBody>
                    <a:bodyPr/>
                    <a:lstStyle/>
                    <a:p>
                      <a:pPr algn="ctr"/>
                      <a:r>
                        <a:rPr lang="en-US" altLang="zh-CN" dirty="0">
                          <a:solidFill>
                            <a:schemeClr val="bg1"/>
                          </a:solidFill>
                        </a:rPr>
                        <a:t>5</a:t>
                      </a:r>
                      <a:endParaRPr lang="zh-CN" altLang="en-US" dirty="0">
                        <a:solidFill>
                          <a:schemeClr val="bg1"/>
                        </a:solidFill>
                      </a:endParaRPr>
                    </a:p>
                  </a:txBody>
                  <a:tcPr anchor="ctr">
                    <a:solidFill>
                      <a:srgbClr val="00B0F0"/>
                    </a:solidFill>
                  </a:tcPr>
                </a:tc>
                <a:tc>
                  <a:txBody>
                    <a:bodyPr/>
                    <a:lstStyle/>
                    <a:p>
                      <a:pPr algn="ctr"/>
                      <a:r>
                        <a:rPr lang="en-US" altLang="zh-CN" dirty="0">
                          <a:solidFill>
                            <a:schemeClr val="bg1"/>
                          </a:solidFill>
                        </a:rPr>
                        <a:t>6</a:t>
                      </a:r>
                      <a:endParaRPr lang="zh-CN" altLang="en-US" dirty="0">
                        <a:solidFill>
                          <a:schemeClr val="bg1"/>
                        </a:solidFill>
                      </a:endParaRPr>
                    </a:p>
                  </a:txBody>
                  <a:tcPr anchor="ctr">
                    <a:solidFill>
                      <a:srgbClr val="00B0F0"/>
                    </a:solidFill>
                  </a:tcPr>
                </a:tc>
                <a:extLst>
                  <a:ext uri="{0D108BD9-81ED-4DB2-BD59-A6C34878D82A}">
                    <a16:rowId xmlns:a16="http://schemas.microsoft.com/office/drawing/2014/main" val="10000"/>
                  </a:ext>
                </a:extLst>
              </a:tr>
              <a:tr h="470032">
                <a:tc>
                  <a:txBody>
                    <a:bodyPr/>
                    <a:lstStyle/>
                    <a:p>
                      <a:pPr algn="ctr"/>
                      <a:r>
                        <a:rPr lang="en-US" altLang="zh-CN" dirty="0"/>
                        <a:t>A</a:t>
                      </a:r>
                      <a:endParaRPr lang="zh-CN" altLang="en-US"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a:t>R</a:t>
                      </a:r>
                      <a:endParaRPr lang="zh-CN" altLang="en-US" dirty="0"/>
                    </a:p>
                  </a:txBody>
                  <a:tcPr anchor="ctr"/>
                </a:tc>
                <a:tc>
                  <a:txBody>
                    <a:bodyPr/>
                    <a:lstStyle/>
                    <a:p>
                      <a:pPr algn="ctr"/>
                      <a:r>
                        <a:rPr lang="en-US" altLang="zh-CN" dirty="0"/>
                        <a:t>A</a:t>
                      </a:r>
                      <a:endParaRPr lang="zh-CN" altLang="en-US" dirty="0"/>
                    </a:p>
                  </a:txBody>
                  <a:tcPr anchor="ctr"/>
                </a:tc>
                <a:tc>
                  <a:txBody>
                    <a:bodyPr/>
                    <a:lstStyle/>
                    <a:p>
                      <a:pPr algn="ctr"/>
                      <a:r>
                        <a:rPr lang="en-US" altLang="zh-CN" dirty="0"/>
                        <a:t>R</a:t>
                      </a:r>
                      <a:endParaRPr lang="zh-CN" altLang="en-US" dirty="0"/>
                    </a:p>
                  </a:txBody>
                  <a:tcPr anchor="ctr"/>
                </a:tc>
                <a:tc>
                  <a:txBody>
                    <a:bodyPr/>
                    <a:lstStyle/>
                    <a:p>
                      <a:pPr algn="ctr"/>
                      <a:r>
                        <a:rPr lang="en-US" altLang="zh-CN" dirty="0"/>
                        <a:t>A</a:t>
                      </a:r>
                      <a:endParaRPr lang="zh-CN" altLang="en-US" dirty="0"/>
                    </a:p>
                  </a:txBody>
                  <a:tcPr anchor="ctr"/>
                </a:tc>
                <a:tc>
                  <a:txBody>
                    <a:bodyPr/>
                    <a:lstStyle/>
                    <a:p>
                      <a:pPr algn="ctr"/>
                      <a:r>
                        <a:rPr lang="en-US" altLang="zh-CN" dirty="0"/>
                        <a:t>xi</a:t>
                      </a:r>
                      <a:endParaRPr lang="zh-CN" altLang="en-US" dirty="0"/>
                    </a:p>
                  </a:txBody>
                  <a:tcPr anchor="ctr"/>
                </a:tc>
                <a:extLst>
                  <a:ext uri="{0D108BD9-81ED-4DB2-BD59-A6C34878D82A}">
                    <a16:rowId xmlns:a16="http://schemas.microsoft.com/office/drawing/2014/main" val="10001"/>
                  </a:ext>
                </a:extLst>
              </a:tr>
            </a:tbl>
          </a:graphicData>
        </a:graphic>
      </p:graphicFrame>
      <p:grpSp>
        <p:nvGrpSpPr>
          <p:cNvPr id="4" name="组合 3">
            <a:extLst>
              <a:ext uri="{FF2B5EF4-FFF2-40B4-BE49-F238E27FC236}">
                <a16:creationId xmlns:a16="http://schemas.microsoft.com/office/drawing/2014/main" id="{C86293E4-8574-9541-BC86-D5E5684D99C2}"/>
              </a:ext>
            </a:extLst>
          </p:cNvPr>
          <p:cNvGrpSpPr/>
          <p:nvPr/>
        </p:nvGrpSpPr>
        <p:grpSpPr>
          <a:xfrm>
            <a:off x="7074954" y="1933446"/>
            <a:ext cx="3855867" cy="1807560"/>
            <a:chOff x="5967278" y="4296754"/>
            <a:chExt cx="2923710" cy="1370582"/>
          </a:xfrm>
        </p:grpSpPr>
        <p:sp>
          <p:nvSpPr>
            <p:cNvPr id="76" name="椭圆 75">
              <a:extLst>
                <a:ext uri="{FF2B5EF4-FFF2-40B4-BE49-F238E27FC236}">
                  <a16:creationId xmlns:a16="http://schemas.microsoft.com/office/drawing/2014/main" id="{7231A165-0795-7F41-9A09-394BEB683E49}"/>
                </a:ext>
              </a:extLst>
            </p:cNvPr>
            <p:cNvSpPr/>
            <p:nvPr/>
          </p:nvSpPr>
          <p:spPr>
            <a:xfrm>
              <a:off x="7243147" y="4296754"/>
              <a:ext cx="324856" cy="350985"/>
            </a:xfrm>
            <a:prstGeom prst="ellipse">
              <a:avLst/>
            </a:prstGeom>
            <a:solidFill>
              <a:srgbClr val="FF000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FFFFFF"/>
                  </a:solidFill>
                  <a:effectLst/>
                  <a:uLnTx/>
                  <a:uFillTx/>
                  <a:latin typeface="Arial"/>
                  <a:ea typeface="微软雅黑 Light"/>
                  <a:cs typeface="+mn-cs"/>
                </a:rPr>
                <a:t>6</a:t>
              </a:r>
              <a:endParaRPr kumimoji="1" lang="zh-CN" altLang="en-US" sz="1800" b="0" i="0" u="none" strike="noStrike" kern="1200" cap="none" spc="0" normalizeH="0" baseline="0" noProof="0" dirty="0">
                <a:ln>
                  <a:noFill/>
                </a:ln>
                <a:solidFill>
                  <a:srgbClr val="FFFFFF"/>
                </a:solidFill>
                <a:effectLst/>
                <a:uLnTx/>
                <a:uFillTx/>
                <a:latin typeface="Arial"/>
                <a:ea typeface="微软雅黑 Light"/>
                <a:cs typeface="+mn-cs"/>
              </a:endParaRPr>
            </a:p>
          </p:txBody>
        </p:sp>
        <p:sp>
          <p:nvSpPr>
            <p:cNvPr id="77" name="椭圆 76">
              <a:extLst>
                <a:ext uri="{FF2B5EF4-FFF2-40B4-BE49-F238E27FC236}">
                  <a16:creationId xmlns:a16="http://schemas.microsoft.com/office/drawing/2014/main" id="{195939B2-1EA3-AB45-8E49-FF2056E63C5A}"/>
                </a:ext>
              </a:extLst>
            </p:cNvPr>
            <p:cNvSpPr/>
            <p:nvPr/>
          </p:nvSpPr>
          <p:spPr>
            <a:xfrm>
              <a:off x="5967278" y="5316351"/>
              <a:ext cx="324856" cy="350985"/>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1</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78" name="椭圆 77">
              <a:extLst>
                <a:ext uri="{FF2B5EF4-FFF2-40B4-BE49-F238E27FC236}">
                  <a16:creationId xmlns:a16="http://schemas.microsoft.com/office/drawing/2014/main" id="{1472C0CB-C6A1-874D-87CF-CEE6573400ED}"/>
                </a:ext>
              </a:extLst>
            </p:cNvPr>
            <p:cNvSpPr/>
            <p:nvPr/>
          </p:nvSpPr>
          <p:spPr>
            <a:xfrm>
              <a:off x="7266705" y="5316351"/>
              <a:ext cx="324856" cy="350985"/>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3</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79" name="椭圆 78">
              <a:extLst>
                <a:ext uri="{FF2B5EF4-FFF2-40B4-BE49-F238E27FC236}">
                  <a16:creationId xmlns:a16="http://schemas.microsoft.com/office/drawing/2014/main" id="{7D496EA2-6200-E445-BDC4-86925AB82B8E}"/>
                </a:ext>
              </a:extLst>
            </p:cNvPr>
            <p:cNvSpPr/>
            <p:nvPr/>
          </p:nvSpPr>
          <p:spPr>
            <a:xfrm>
              <a:off x="6616991" y="5316351"/>
              <a:ext cx="324856" cy="350985"/>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2</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80" name="椭圆 79">
              <a:extLst>
                <a:ext uri="{FF2B5EF4-FFF2-40B4-BE49-F238E27FC236}">
                  <a16:creationId xmlns:a16="http://schemas.microsoft.com/office/drawing/2014/main" id="{933098AD-8C55-9548-A64A-25B1FAEF28AF}"/>
                </a:ext>
              </a:extLst>
            </p:cNvPr>
            <p:cNvSpPr/>
            <p:nvPr/>
          </p:nvSpPr>
          <p:spPr>
            <a:xfrm>
              <a:off x="7916418" y="5316349"/>
              <a:ext cx="324856" cy="350985"/>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4</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81" name="椭圆 80">
              <a:extLst>
                <a:ext uri="{FF2B5EF4-FFF2-40B4-BE49-F238E27FC236}">
                  <a16:creationId xmlns:a16="http://schemas.microsoft.com/office/drawing/2014/main" id="{A7DFC897-9E12-5E4F-B7ED-3555C6C28DB2}"/>
                </a:ext>
              </a:extLst>
            </p:cNvPr>
            <p:cNvSpPr/>
            <p:nvPr/>
          </p:nvSpPr>
          <p:spPr>
            <a:xfrm>
              <a:off x="8566132" y="5316347"/>
              <a:ext cx="324856" cy="350984"/>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5</a:t>
              </a:r>
              <a:endParaRPr kumimoji="1"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cxnSp>
          <p:nvCxnSpPr>
            <p:cNvPr id="82" name="直线箭头连接符 81">
              <a:extLst>
                <a:ext uri="{FF2B5EF4-FFF2-40B4-BE49-F238E27FC236}">
                  <a16:creationId xmlns:a16="http://schemas.microsoft.com/office/drawing/2014/main" id="{CA567CC9-9870-5F4A-9711-B2806C229E13}"/>
                </a:ext>
              </a:extLst>
            </p:cNvPr>
            <p:cNvCxnSpPr>
              <a:stCxn id="76" idx="3"/>
              <a:endCxn id="79" idx="0"/>
            </p:cNvCxnSpPr>
            <p:nvPr/>
          </p:nvCxnSpPr>
          <p:spPr>
            <a:xfrm flipH="1">
              <a:off x="6129706" y="4596338"/>
              <a:ext cx="1161015" cy="7200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直线箭头连接符 82">
              <a:extLst>
                <a:ext uri="{FF2B5EF4-FFF2-40B4-BE49-F238E27FC236}">
                  <a16:creationId xmlns:a16="http://schemas.microsoft.com/office/drawing/2014/main" id="{95AB6601-E41B-134A-8CE6-863F56D6F7EC}"/>
                </a:ext>
              </a:extLst>
            </p:cNvPr>
            <p:cNvCxnSpPr>
              <a:stCxn id="76" idx="4"/>
              <a:endCxn id="81" idx="0"/>
            </p:cNvCxnSpPr>
            <p:nvPr/>
          </p:nvCxnSpPr>
          <p:spPr>
            <a:xfrm flipH="1">
              <a:off x="6779419" y="4647739"/>
              <a:ext cx="626156" cy="668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直线箭头连接符 83">
              <a:extLst>
                <a:ext uri="{FF2B5EF4-FFF2-40B4-BE49-F238E27FC236}">
                  <a16:creationId xmlns:a16="http://schemas.microsoft.com/office/drawing/2014/main" id="{48555147-8D00-5245-B09B-08B3EECA48AE}"/>
                </a:ext>
              </a:extLst>
            </p:cNvPr>
            <p:cNvCxnSpPr>
              <a:stCxn id="76" idx="4"/>
              <a:endCxn id="80" idx="0"/>
            </p:cNvCxnSpPr>
            <p:nvPr/>
          </p:nvCxnSpPr>
          <p:spPr>
            <a:xfrm>
              <a:off x="7405575" y="4647739"/>
              <a:ext cx="23559" cy="668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直线箭头连接符 84">
              <a:extLst>
                <a:ext uri="{FF2B5EF4-FFF2-40B4-BE49-F238E27FC236}">
                  <a16:creationId xmlns:a16="http://schemas.microsoft.com/office/drawing/2014/main" id="{3F51979F-2F3D-6A4A-ADE2-4FBDE503CCC7}"/>
                </a:ext>
              </a:extLst>
            </p:cNvPr>
            <p:cNvCxnSpPr>
              <a:stCxn id="76" idx="4"/>
              <a:endCxn id="82" idx="0"/>
            </p:cNvCxnSpPr>
            <p:nvPr/>
          </p:nvCxnSpPr>
          <p:spPr>
            <a:xfrm>
              <a:off x="7405575" y="4647739"/>
              <a:ext cx="673271" cy="6686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直线箭头连接符 85">
              <a:extLst>
                <a:ext uri="{FF2B5EF4-FFF2-40B4-BE49-F238E27FC236}">
                  <a16:creationId xmlns:a16="http://schemas.microsoft.com/office/drawing/2014/main" id="{30BC8442-BD45-CE47-840F-7521DB3CC474}"/>
                </a:ext>
              </a:extLst>
            </p:cNvPr>
            <p:cNvCxnSpPr>
              <a:stCxn id="76" idx="5"/>
              <a:endCxn id="83" idx="0"/>
            </p:cNvCxnSpPr>
            <p:nvPr/>
          </p:nvCxnSpPr>
          <p:spPr>
            <a:xfrm>
              <a:off x="7520429" y="4596338"/>
              <a:ext cx="1208131" cy="7200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7" name="文本框 86">
              <a:extLst>
                <a:ext uri="{FF2B5EF4-FFF2-40B4-BE49-F238E27FC236}">
                  <a16:creationId xmlns:a16="http://schemas.microsoft.com/office/drawing/2014/main" id="{22BCFCF5-9D22-AD46-A2CF-6314E9DFED91}"/>
                </a:ext>
              </a:extLst>
            </p:cNvPr>
            <p:cNvSpPr txBox="1"/>
            <p:nvPr/>
          </p:nvSpPr>
          <p:spPr>
            <a:xfrm>
              <a:off x="6428327" y="4747833"/>
              <a:ext cx="285319" cy="47613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a</a:t>
              </a:r>
            </a:p>
          </p:txBody>
        </p:sp>
        <p:sp>
          <p:nvSpPr>
            <p:cNvPr id="88" name="文本框 87">
              <a:extLst>
                <a:ext uri="{FF2B5EF4-FFF2-40B4-BE49-F238E27FC236}">
                  <a16:creationId xmlns:a16="http://schemas.microsoft.com/office/drawing/2014/main" id="{F72768B2-DB21-FE40-B60F-5A6F0603AA9F}"/>
                </a:ext>
              </a:extLst>
            </p:cNvPr>
            <p:cNvSpPr txBox="1"/>
            <p:nvPr/>
          </p:nvSpPr>
          <p:spPr>
            <a:xfrm>
              <a:off x="6876874" y="4734340"/>
              <a:ext cx="285319" cy="47613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b</a:t>
              </a:r>
            </a:p>
          </p:txBody>
        </p:sp>
        <p:sp>
          <p:nvSpPr>
            <p:cNvPr id="89" name="文本框 88">
              <a:extLst>
                <a:ext uri="{FF2B5EF4-FFF2-40B4-BE49-F238E27FC236}">
                  <a16:creationId xmlns:a16="http://schemas.microsoft.com/office/drawing/2014/main" id="{7962FD4B-3482-604E-ABC7-8F8AF11C5D3F}"/>
                </a:ext>
              </a:extLst>
            </p:cNvPr>
            <p:cNvSpPr txBox="1"/>
            <p:nvPr/>
          </p:nvSpPr>
          <p:spPr>
            <a:xfrm>
              <a:off x="7181160" y="4723859"/>
              <a:ext cx="285319" cy="47613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c</a:t>
              </a:r>
            </a:p>
          </p:txBody>
        </p:sp>
        <p:sp>
          <p:nvSpPr>
            <p:cNvPr id="90" name="文本框 89">
              <a:extLst>
                <a:ext uri="{FF2B5EF4-FFF2-40B4-BE49-F238E27FC236}">
                  <a16:creationId xmlns:a16="http://schemas.microsoft.com/office/drawing/2014/main" id="{FE9FD3FA-59A1-5946-9E9B-42421160F98C}"/>
                </a:ext>
              </a:extLst>
            </p:cNvPr>
            <p:cNvSpPr txBox="1"/>
            <p:nvPr/>
          </p:nvSpPr>
          <p:spPr>
            <a:xfrm>
              <a:off x="7658842" y="4734341"/>
              <a:ext cx="285319" cy="47613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d</a:t>
              </a:r>
            </a:p>
          </p:txBody>
        </p:sp>
        <p:sp>
          <p:nvSpPr>
            <p:cNvPr id="91" name="文本框 90">
              <a:extLst>
                <a:ext uri="{FF2B5EF4-FFF2-40B4-BE49-F238E27FC236}">
                  <a16:creationId xmlns:a16="http://schemas.microsoft.com/office/drawing/2014/main" id="{22543B93-6A23-C747-8EFD-62E2FCC8323F}"/>
                </a:ext>
              </a:extLst>
            </p:cNvPr>
            <p:cNvSpPr txBox="1"/>
            <p:nvPr/>
          </p:nvSpPr>
          <p:spPr>
            <a:xfrm>
              <a:off x="8103104" y="4723859"/>
              <a:ext cx="285319" cy="47613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微软雅黑 Light"/>
                  <a:cs typeface="+mn-cs"/>
                </a:rPr>
                <a:t>e</a:t>
              </a:r>
            </a:p>
          </p:txBody>
        </p:sp>
      </p:grpSp>
      <p:sp>
        <p:nvSpPr>
          <p:cNvPr id="3" name="灯片编号占位符 2">
            <a:extLst>
              <a:ext uri="{FF2B5EF4-FFF2-40B4-BE49-F238E27FC236}">
                <a16:creationId xmlns:a16="http://schemas.microsoft.com/office/drawing/2014/main" id="{B080BEE0-A300-47CC-A925-3EA2F7B1D11F}"/>
              </a:ext>
            </a:extLst>
          </p:cNvPr>
          <p:cNvSpPr>
            <a:spLocks noGrp="1"/>
          </p:cNvSpPr>
          <p:nvPr>
            <p:ph type="sldNum" sz="quarter" idx="4"/>
          </p:nvPr>
        </p:nvSpPr>
        <p:spPr/>
        <p:txBody>
          <a:bodyPr/>
          <a:lstStyle/>
          <a:p>
            <a:fld id="{015CE2E0-6DDF-4FAE-9DBA-F1C48BF5C133}" type="slidenum">
              <a:rPr lang="zh-CN" altLang="en-US" smtClean="0"/>
              <a:t>110</a:t>
            </a:fld>
            <a:endParaRPr lang="zh-CN" altLang="en-US" dirty="0"/>
          </a:p>
        </p:txBody>
      </p:sp>
      <p:sp>
        <p:nvSpPr>
          <p:cNvPr id="25" name="文本框 24">
            <a:extLst>
              <a:ext uri="{FF2B5EF4-FFF2-40B4-BE49-F238E27FC236}">
                <a16:creationId xmlns:a16="http://schemas.microsoft.com/office/drawing/2014/main" id="{F8DF90AF-D031-3B40-BBA0-E33271C8A13E}"/>
              </a:ext>
            </a:extLst>
          </p:cNvPr>
          <p:cNvSpPr txBox="1"/>
          <p:nvPr/>
        </p:nvSpPr>
        <p:spPr>
          <a:xfrm>
            <a:off x="606522" y="4337914"/>
            <a:ext cx="10929232" cy="1896801"/>
          </a:xfrm>
          <a:prstGeom prst="rect">
            <a:avLst/>
          </a:prstGeom>
          <a:noFill/>
          <a:ln>
            <a:solidFill>
              <a:srgbClr val="00B0F0"/>
            </a:solidFill>
          </a:ln>
        </p:spPr>
        <p:txBody>
          <a:bodyPr wrap="square">
            <a:spAutoFit/>
          </a:bodyPr>
          <a:lstStyle/>
          <a:p>
            <a:pPr marL="228600" marR="0" lvl="0" indent="-228600" algn="l" defTabSz="914400" rtl="0" eaLnBrk="1" fontAlgn="auto" latinLnBrk="0" hangingPunct="1">
              <a:lnSpc>
                <a:spcPts val="3600"/>
              </a:lnSpc>
              <a:spcBef>
                <a:spcPts val="180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此時只需說明</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x1=x2=x3=x4=x5=C</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 即可得到忠誠副官所得到的决策向量都爲</a:t>
            </a:r>
            <a:r>
              <a:rPr kumimoji="1"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(A, R, A, R, A, C)</a:t>
            </a:r>
            <a:r>
              <a:rPr kumimoji="1"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，由此可得忠誠副官的行爲一致</a:t>
            </a:r>
            <a:endParaRPr kumimoji="1" lang="en-US" altLang="zh-CN" sz="2400" b="0" i="0" u="none" strike="noStrike" kern="120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a:p>
            <a:pPr marL="342900" marR="0" lvl="0" indent="-342900" algn="just" defTabSz="914400" rtl="0" eaLnBrk="1" fontAlgn="base" latinLnBrk="0" hangingPunct="1">
              <a:lnSpc>
                <a:spcPts val="3600"/>
              </a:lnSpc>
              <a:spcBef>
                <a:spcPts val="0"/>
              </a:spcBef>
              <a:spcAft>
                <a:spcPct val="0"/>
              </a:spcAft>
              <a:buClrTx/>
              <a:buSzTx/>
              <a:buFont typeface="Arial" charset="0"/>
              <a:buChar char="•"/>
              <a:tabLst/>
              <a:defRPr/>
            </a:pPr>
            <a:r>
              <a:rPr kumimoji="1" lang="zh-CN" altLang="en-US" sz="2400" b="0" i="0" u="none" strike="noStrike" kern="1200" cap="none" spc="0" normalizeH="0" baseline="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rPr>
              <a:t>此時無論</a:t>
            </a:r>
            <a:r>
              <a:rPr kumimoji="1" lang="en-US" altLang="zh-CN" sz="2400" b="0" i="0" u="none" strike="noStrike" kern="1200" cap="none" spc="0" normalizeH="0" baseline="0" noProof="0" dirty="0" err="1">
                <a:ln>
                  <a:noFill/>
                </a:ln>
                <a:solidFill>
                  <a:srgbClr val="404040"/>
                </a:solidFill>
                <a:effectLst/>
                <a:uLnTx/>
                <a:uFillTx/>
                <a:latin typeface="Microsoft YaHei" panose="020B0503020204020204" pitchFamily="34" charset="-122"/>
                <a:ea typeface="Microsoft YaHei" panose="020B0503020204020204" pitchFamily="34" charset="-122"/>
                <a:cs typeface="+mn-cs"/>
              </a:rPr>
              <a:t>a~e</a:t>
            </a:r>
            <a:r>
              <a:rPr kumimoji="1" lang="zh-CN" altLang="en-US" sz="2400" b="0" i="0" u="none" strike="noStrike" kern="1200" cap="none" spc="0" normalizeH="0" baseline="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rPr>
              <a:t>爲何值，由于</a:t>
            </a:r>
            <a:r>
              <a:rPr kumimoji="1" lang="en-US" altLang="zh-CN" sz="2400" b="0" i="0" u="none" strike="noStrike" kern="1200" cap="none" spc="0" normalizeH="0" baseline="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rPr>
              <a:t>1~5</a:t>
            </a:r>
            <a:r>
              <a:rPr kumimoji="1" lang="zh-CN" altLang="en-US" sz="2400" b="0" i="0" u="none" strike="noStrike" kern="1200" cap="none" spc="0" normalizeH="0" baseline="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rPr>
              <a:t>爲忠誠的，經過</a:t>
            </a:r>
            <a:r>
              <a:rPr kumimoji="1" lang="en-US" altLang="zh-CN" sz="2400" b="0" i="0" u="none" strike="noStrike" kern="1200" cap="none" spc="0" normalizeH="0" baseline="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rPr>
              <a:t>OM</a:t>
            </a:r>
            <a:r>
              <a:rPr kumimoji="1" lang="en-US" altLang="zh-CN" sz="2400" b="0" i="0" u="none" strike="noStrike" kern="1200" cap="none" spc="0" normalizeH="0" baseline="-2500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rPr>
              <a:t>0,6</a:t>
            </a:r>
            <a:r>
              <a:rPr kumimoji="1" lang="en-US" altLang="zh-CN" sz="2400" b="0" baseline="-25000" dirty="0">
                <a:latin typeface="Microsoft YaHei" panose="020B0503020204020204" pitchFamily="34" charset="-122"/>
                <a:ea typeface="Microsoft YaHei" panose="020B0503020204020204" pitchFamily="34" charset="-122"/>
              </a:rPr>
              <a:t>,</a:t>
            </a:r>
            <a:r>
              <a:rPr kumimoji="1" lang="en-US" altLang="zh-CN" sz="2400" b="0" baseline="-25000" dirty="0" err="1">
                <a:latin typeface="Microsoft YaHei" panose="020B0503020204020204" pitchFamily="34" charset="-122"/>
                <a:ea typeface="Microsoft YaHei" panose="020B0503020204020204" pitchFamily="34" charset="-122"/>
              </a:rPr>
              <a:t>i</a:t>
            </a:r>
            <a:r>
              <a:rPr kumimoji="1" lang="en-US" altLang="zh-CN" sz="2400" b="0" i="0" u="none" strike="noStrike" kern="1200" cap="none" spc="0" normalizeH="0" baseline="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rPr>
              <a:t>(0)</a:t>
            </a:r>
            <a:r>
              <a:rPr kumimoji="1" lang="zh-CN" altLang="en-US" sz="2400" b="0" i="0" u="none" strike="noStrike" kern="1200" cap="none" spc="0" normalizeH="0" baseline="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rPr>
              <a:t>交換信息之後，他們得到的向量均爲</a:t>
            </a:r>
            <a:r>
              <a:rPr kumimoji="1" lang="en-US" altLang="zh-CN" sz="2400" b="0" i="0" u="none" strike="noStrike" kern="1200" cap="none" spc="0" normalizeH="0" baseline="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rPr>
              <a:t>(a, b, c, d, e)</a:t>
            </a:r>
            <a:r>
              <a:rPr kumimoji="1" lang="zh-CN" altLang="en-US" sz="2400" b="0" i="0" u="none" strike="noStrike" kern="1200" cap="none" spc="0" normalizeH="0" baseline="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rPr>
              <a:t>，故他們對于副官</a:t>
            </a:r>
            <a:r>
              <a:rPr kumimoji="1" lang="en-US" altLang="zh-CN" sz="2400" b="0" i="0" u="none" strike="noStrike" kern="1200" cap="none" spc="0" normalizeH="0" baseline="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rPr>
              <a:t>6</a:t>
            </a:r>
            <a:r>
              <a:rPr kumimoji="1" lang="zh-CN" altLang="en-US" sz="2400" b="0" i="0" u="none" strike="noStrike" kern="1200" cap="none" spc="0" normalizeH="0" baseline="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rPr>
              <a:t>的决策是一致的</a:t>
            </a:r>
            <a:endParaRPr kumimoji="1" lang="en-US" altLang="zh-CN" sz="2400" b="0" i="0" u="none" strike="noStrike" kern="1200" cap="none" spc="0" normalizeH="0" baseline="0" noProof="0" dirty="0">
              <a:ln>
                <a:noFill/>
              </a:ln>
              <a:solidFill>
                <a:srgbClr val="404040"/>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376206704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lang="zh-CN" altLang="en-US" sz="4000" dirty="0"/>
              <a:t>課後思考</a:t>
            </a:r>
            <a:endParaRPr kumimoji="1" lang="zh-CN" altLang="en-US" sz="4000" dirty="0"/>
          </a:p>
        </p:txBody>
      </p:sp>
      <p:sp>
        <p:nvSpPr>
          <p:cNvPr id="69" name="矩形 68">
            <a:extLst>
              <a:ext uri="{FF2B5EF4-FFF2-40B4-BE49-F238E27FC236}">
                <a16:creationId xmlns:a16="http://schemas.microsoft.com/office/drawing/2014/main" id="{C0395C5E-1B3B-214E-AE2D-0FDAC2C5B544}"/>
              </a:ext>
            </a:extLst>
          </p:cNvPr>
          <p:cNvSpPr/>
          <p:nvPr/>
        </p:nvSpPr>
        <p:spPr bwMode="auto">
          <a:xfrm>
            <a:off x="675615" y="1711712"/>
            <a:ext cx="11008721" cy="1421229"/>
          </a:xfrm>
          <a:prstGeom prst="rect">
            <a:avLst/>
          </a:prstGeom>
          <a:solidFill>
            <a:srgbClr val="FFFFFF"/>
          </a:solidFill>
          <a:ln w="6350">
            <a:solidFill>
              <a:srgbClr val="FFFFFF">
                <a:lumMod val="75000"/>
              </a:srgbClr>
            </a:solidFill>
          </a:ln>
          <a:effectLst>
            <a:outerShdw blurRad="254000" dist="127000" dir="5400000" sx="90000" sy="90000" rotWithShape="0">
              <a:prstClr val="black">
                <a:alpha val="15000"/>
              </a:prstClr>
            </a:outerShdw>
          </a:effectLst>
        </p:spPr>
        <p:txBody>
          <a:bodyPr lIns="144000" tIns="108000" rIns="90000" bIns="108000" anchor="ctr"/>
          <a:lstStyle/>
          <a:p>
            <a:pPr>
              <a:lnSpc>
                <a:spcPct val="150000"/>
              </a:lnSpc>
              <a:spcBef>
                <a:spcPts val="0"/>
              </a:spcBef>
            </a:pPr>
            <a:r>
              <a:rPr kumimoji="1" lang="zh-CN" altLang="en-US" sz="2400" b="1" dirty="0">
                <a:solidFill>
                  <a:srgbClr val="C00000"/>
                </a:solidFill>
                <a:latin typeface="Microsoft YaHei" panose="020B0503020204020204" pitchFamily="34" charset="-122"/>
                <a:ea typeface="Microsoft YaHei" panose="020B0503020204020204" pitchFamily="34" charset="-122"/>
              </a:rPr>
              <a:t>思考</a:t>
            </a:r>
            <a:r>
              <a:rPr kumimoji="1" lang="zh-CN" altLang="en-US" sz="2400" dirty="0">
                <a:latin typeface="Microsoft YaHei" panose="020B0503020204020204" pitchFamily="34" charset="-122"/>
                <a:ea typeface="Microsoft YaHei" panose="020B0503020204020204" pitchFamily="34" charset="-122"/>
              </a:rPr>
              <a:t>：經分析，</a:t>
            </a:r>
            <a:r>
              <a:rPr kumimoji="1" lang="en-US" altLang="zh-CN" sz="2400" dirty="0">
                <a:latin typeface="Microsoft YaHei" panose="020B0503020204020204" pitchFamily="34" charset="-122"/>
                <a:ea typeface="Microsoft YaHei" panose="020B0503020204020204" pitchFamily="34" charset="-122"/>
              </a:rPr>
              <a:t>m=1,2</a:t>
            </a:r>
            <a:r>
              <a:rPr kumimoji="1" lang="zh-CN" altLang="en-US" sz="2400" dirty="0">
                <a:latin typeface="Microsoft YaHei" panose="020B0503020204020204" pitchFamily="34" charset="-122"/>
                <a:ea typeface="Microsoft YaHei" panose="020B0503020204020204" pitchFamily="34" charset="-122"/>
              </a:rPr>
              <a:t>時，當</a:t>
            </a:r>
            <a:r>
              <a:rPr kumimoji="1" lang="en-US" altLang="zh-CN" sz="2400" dirty="0">
                <a:latin typeface="Microsoft YaHei" panose="020B0503020204020204" pitchFamily="34" charset="-122"/>
                <a:ea typeface="Microsoft YaHei" panose="020B0503020204020204" pitchFamily="34" charset="-122"/>
              </a:rPr>
              <a:t>N≥3m+1</a:t>
            </a:r>
            <a:r>
              <a:rPr kumimoji="1" lang="zh-CN" altLang="en-US" sz="2400" dirty="0">
                <a:latin typeface="Microsoft YaHei" panose="020B0503020204020204" pitchFamily="34" charset="-122"/>
                <a:ea typeface="Microsoft YaHei" panose="020B0503020204020204" pitchFamily="34" charset="-122"/>
              </a:rPr>
              <a:t>時，</a:t>
            </a:r>
            <a:r>
              <a:rPr kumimoji="1" lang="en-US" altLang="zh-CN" sz="2400" dirty="0">
                <a:latin typeface="Microsoft YaHei" panose="020B0503020204020204" pitchFamily="34" charset="-122"/>
                <a:ea typeface="Microsoft YaHei" panose="020B0503020204020204" pitchFamily="34" charset="-122"/>
              </a:rPr>
              <a:t>OM(m)</a:t>
            </a:r>
            <a:r>
              <a:rPr kumimoji="1" lang="zh-CN" altLang="en-US" sz="2400" dirty="0">
                <a:latin typeface="Microsoft YaHei" panose="020B0503020204020204" pitchFamily="34" charset="-122"/>
                <a:ea typeface="Microsoft YaHei" panose="020B0503020204020204" pitchFamily="34" charset="-122"/>
              </a:rPr>
              <a:t> 算法可以確保所有忠誠的將軍達成一致；現假設</a:t>
            </a:r>
            <a:r>
              <a:rPr kumimoji="1" lang="en-US" altLang="zh-CN" sz="2400" dirty="0">
                <a:latin typeface="Microsoft YaHei" panose="020B0503020204020204" pitchFamily="34" charset="-122"/>
                <a:ea typeface="Microsoft YaHei" panose="020B0503020204020204" pitchFamily="34" charset="-122"/>
              </a:rPr>
              <a:t>m=k</a:t>
            </a:r>
            <a:r>
              <a:rPr kumimoji="1" lang="zh-CN" altLang="en-US" sz="2400" dirty="0">
                <a:latin typeface="Microsoft YaHei" panose="020B0503020204020204" pitchFamily="34" charset="-122"/>
                <a:ea typeface="Microsoft YaHei" panose="020B0503020204020204" pitchFamily="34" charset="-122"/>
              </a:rPr>
              <a:t>時成立，證明</a:t>
            </a:r>
            <a:r>
              <a:rPr kumimoji="1" lang="en-US" altLang="zh-CN" sz="2400" dirty="0">
                <a:latin typeface="Microsoft YaHei" panose="020B0503020204020204" pitchFamily="34" charset="-122"/>
                <a:ea typeface="Microsoft YaHei" panose="020B0503020204020204" pitchFamily="34" charset="-122"/>
              </a:rPr>
              <a:t>m=k+1</a:t>
            </a:r>
            <a:r>
              <a:rPr kumimoji="1" lang="zh-CN" altLang="en-US" sz="2400" dirty="0">
                <a:latin typeface="Microsoft YaHei" panose="020B0503020204020204" pitchFamily="34" charset="-122"/>
                <a:ea typeface="Microsoft YaHei" panose="020B0503020204020204" pitchFamily="34" charset="-122"/>
              </a:rPr>
              <a:t>時也成立</a:t>
            </a:r>
            <a:endParaRPr kumimoji="1" lang="en-US" altLang="zh-CN" sz="2400" dirty="0">
              <a:latin typeface="Microsoft YaHei" panose="020B0503020204020204" pitchFamily="34" charset="-122"/>
              <a:ea typeface="Microsoft YaHei" panose="020B0503020204020204" pitchFamily="34" charset="-122"/>
            </a:endParaRPr>
          </a:p>
        </p:txBody>
      </p:sp>
      <p:sp>
        <p:nvSpPr>
          <p:cNvPr id="4" name="内容占位符 2">
            <a:extLst>
              <a:ext uri="{FF2B5EF4-FFF2-40B4-BE49-F238E27FC236}">
                <a16:creationId xmlns:a16="http://schemas.microsoft.com/office/drawing/2014/main" id="{093B6B2D-9599-D647-A555-07406F7AD0FC}"/>
              </a:ext>
            </a:extLst>
          </p:cNvPr>
          <p:cNvSpPr txBox="1"/>
          <p:nvPr/>
        </p:nvSpPr>
        <p:spPr>
          <a:xfrm>
            <a:off x="660625" y="4057674"/>
            <a:ext cx="10873809" cy="21403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3600"/>
              </a:lnSpc>
              <a:spcBef>
                <a:spcPts val="0"/>
              </a:spcBef>
            </a:pPr>
            <a:r>
              <a:rPr kumimoji="1" lang="zh-CN" altLang="en-US" sz="2400" dirty="0">
                <a:latin typeface="Microsoft YaHei" panose="020B0503020204020204" pitchFamily="34" charset="-122"/>
                <a:ea typeface="Microsoft YaHei" panose="020B0503020204020204" pitchFamily="34" charset="-122"/>
              </a:rPr>
              <a:t>提示：可分兩步進行</a:t>
            </a:r>
            <a:endParaRPr kumimoji="1" lang="en-US" altLang="zh-CN" dirty="0">
              <a:latin typeface="Microsoft YaHei" panose="020B0503020204020204" pitchFamily="34" charset="-122"/>
              <a:ea typeface="Microsoft YaHei" panose="020B0503020204020204" pitchFamily="34" charset="-122"/>
            </a:endParaRPr>
          </a:p>
          <a:p>
            <a:pPr marL="686700" lvl="1" indent="-342900">
              <a:lnSpc>
                <a:spcPts val="3600"/>
              </a:lnSpc>
              <a:spcBef>
                <a:spcPts val="0"/>
              </a:spcBef>
            </a:pPr>
            <a:r>
              <a:rPr kumimoji="1" lang="zh-CN" altLang="en-US" dirty="0">
                <a:latin typeface="Microsoft YaHei" panose="020B0503020204020204" pitchFamily="34" charset="-122"/>
                <a:ea typeface="Microsoft YaHei" panose="020B0503020204020204" pitchFamily="34" charset="-122"/>
              </a:rPr>
              <a:t>先證明當將軍爲忠臣時，且最多存在</a:t>
            </a:r>
            <a:r>
              <a:rPr kumimoji="1" lang="en-US" altLang="zh-CN" dirty="0">
                <a:latin typeface="Microsoft YaHei" panose="020B0503020204020204" pitchFamily="34" charset="-122"/>
                <a:ea typeface="Microsoft YaHei" panose="020B0503020204020204" pitchFamily="34" charset="-122"/>
              </a:rPr>
              <a:t>k</a:t>
            </a:r>
            <a:r>
              <a:rPr kumimoji="1" lang="zh-CN" altLang="en-US" dirty="0">
                <a:latin typeface="Microsoft YaHei" panose="020B0503020204020204" pitchFamily="34" charset="-122"/>
                <a:ea typeface="Microsoft YaHei" panose="020B0503020204020204" pitchFamily="34" charset="-122"/>
              </a:rPr>
              <a:t>個叛徒時，當</a:t>
            </a:r>
            <a:r>
              <a:rPr kumimoji="1" lang="en-US" altLang="zh-CN" dirty="0">
                <a:latin typeface="Microsoft YaHei" panose="020B0503020204020204" pitchFamily="34" charset="-122"/>
                <a:ea typeface="Microsoft YaHei" panose="020B0503020204020204" pitchFamily="34" charset="-122"/>
              </a:rPr>
              <a:t> N&gt;2k+m</a:t>
            </a:r>
            <a:r>
              <a:rPr kumimoji="1" lang="zh-CN" altLang="en-US" dirty="0">
                <a:latin typeface="Microsoft YaHei" panose="020B0503020204020204" pitchFamily="34" charset="-122"/>
                <a:ea typeface="Microsoft YaHei" panose="020B0503020204020204" pitchFamily="34" charset="-122"/>
              </a:rPr>
              <a:t>時，</a:t>
            </a:r>
            <a:r>
              <a:rPr kumimoji="1" lang="en-US" altLang="zh-CN" dirty="0">
                <a:latin typeface="Microsoft YaHei" panose="020B0503020204020204" pitchFamily="34" charset="-122"/>
                <a:ea typeface="Microsoft YaHei" panose="020B0503020204020204" pitchFamily="34" charset="-122"/>
              </a:rPr>
              <a:t> OM(m)</a:t>
            </a:r>
            <a:r>
              <a:rPr kumimoji="1" lang="zh-CN" altLang="en-US" dirty="0">
                <a:latin typeface="Microsoft YaHei" panose="020B0503020204020204" pitchFamily="34" charset="-122"/>
                <a:ea typeface="Microsoft YaHei" panose="020B0503020204020204" pitchFamily="34" charset="-122"/>
              </a:rPr>
              <a:t> 算法可以確保所有忠誠的將軍達成一致</a:t>
            </a:r>
            <a:endParaRPr kumimoji="1" lang="en-US" altLang="zh-CN" dirty="0">
              <a:latin typeface="Microsoft YaHei" panose="020B0503020204020204" pitchFamily="34" charset="-122"/>
              <a:ea typeface="Microsoft YaHei" panose="020B0503020204020204" pitchFamily="34" charset="-122"/>
            </a:endParaRPr>
          </a:p>
          <a:p>
            <a:pPr marL="686700" lvl="1" indent="-342900">
              <a:lnSpc>
                <a:spcPts val="3600"/>
              </a:lnSpc>
              <a:spcBef>
                <a:spcPts val="0"/>
              </a:spcBef>
            </a:pPr>
            <a:r>
              <a:rPr kumimoji="1" lang="zh-CN" altLang="en-US" dirty="0">
                <a:latin typeface="Microsoft YaHei" panose="020B0503020204020204" pitchFamily="34" charset="-122"/>
                <a:ea typeface="Microsoft YaHei" panose="020B0503020204020204" pitchFamily="34" charset="-122"/>
              </a:rPr>
              <a:t>再證明當將軍爲叛徒時，</a:t>
            </a:r>
            <a:r>
              <a:rPr kumimoji="1" lang="en-US" altLang="zh-CN" dirty="0">
                <a:latin typeface="Microsoft YaHei" panose="020B0503020204020204" pitchFamily="34" charset="-122"/>
                <a:ea typeface="Microsoft YaHei" panose="020B0503020204020204" pitchFamily="34" charset="-122"/>
              </a:rPr>
              <a:t> N≥3m+1</a:t>
            </a:r>
            <a:r>
              <a:rPr kumimoji="1" lang="zh-CN" altLang="en-US" dirty="0">
                <a:latin typeface="Microsoft YaHei" panose="020B0503020204020204" pitchFamily="34" charset="-122"/>
                <a:ea typeface="Microsoft YaHei" panose="020B0503020204020204" pitchFamily="34" charset="-122"/>
              </a:rPr>
              <a:t>成立</a:t>
            </a:r>
            <a:endParaRPr kumimoji="1" lang="en-US" altLang="zh-CN" dirty="0">
              <a:latin typeface="Microsoft YaHei" panose="020B0503020204020204" pitchFamily="34" charset="-122"/>
              <a:ea typeface="Microsoft YaHei" panose="020B0503020204020204" pitchFamily="34" charset="-122"/>
            </a:endParaRPr>
          </a:p>
        </p:txBody>
      </p:sp>
      <p:sp>
        <p:nvSpPr>
          <p:cNvPr id="5" name="灯片编号占位符 2">
            <a:extLst>
              <a:ext uri="{FF2B5EF4-FFF2-40B4-BE49-F238E27FC236}">
                <a16:creationId xmlns:a16="http://schemas.microsoft.com/office/drawing/2014/main" id="{265D9BE7-BEAE-1147-AE09-41A45814C986}"/>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111</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869074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lang="zh-CN" altLang="en-US" sz="4000" dirty="0"/>
              <a:t>口頭消息的缺點</a:t>
            </a:r>
            <a:endParaRPr kumimoji="1" lang="zh-CN" altLang="en-US" sz="4000" dirty="0"/>
          </a:p>
        </p:txBody>
      </p:sp>
      <p:sp>
        <p:nvSpPr>
          <p:cNvPr id="69" name="矩形 68">
            <a:extLst>
              <a:ext uri="{FF2B5EF4-FFF2-40B4-BE49-F238E27FC236}">
                <a16:creationId xmlns:a16="http://schemas.microsoft.com/office/drawing/2014/main" id="{C0395C5E-1B3B-214E-AE2D-0FDAC2C5B544}"/>
              </a:ext>
            </a:extLst>
          </p:cNvPr>
          <p:cNvSpPr/>
          <p:nvPr/>
        </p:nvSpPr>
        <p:spPr bwMode="auto">
          <a:xfrm>
            <a:off x="695602" y="1112108"/>
            <a:ext cx="11008721" cy="5235343"/>
          </a:xfrm>
          <a:prstGeom prst="rect">
            <a:avLst/>
          </a:prstGeom>
          <a:solidFill>
            <a:srgbClr val="FFFFFF"/>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marL="342900" indent="-342900">
              <a:lnSpc>
                <a:spcPct val="150000"/>
              </a:lnSpc>
              <a:spcBef>
                <a:spcPts val="0"/>
              </a:spcBef>
              <a:buFont typeface="Arial" panose="020B0604020202020204" pitchFamily="34" charset="0"/>
              <a:buChar char="•"/>
            </a:pPr>
            <a:r>
              <a:rPr kumimoji="1" lang="zh-CN" altLang="en-US" sz="2400" dirty="0">
                <a:latin typeface="Microsoft YaHei" panose="020B0503020204020204" pitchFamily="34" charset="-122"/>
                <a:ea typeface="Microsoft YaHei" panose="020B0503020204020204" pitchFamily="34" charset="-122"/>
              </a:rPr>
              <a:t>開銷巨大</a:t>
            </a:r>
            <a:endParaRPr kumimoji="1" lang="en-US" altLang="zh-CN" sz="2400" dirty="0">
              <a:latin typeface="Microsoft YaHei" panose="020B0503020204020204" pitchFamily="34" charset="-122"/>
              <a:ea typeface="Microsoft YaHei" panose="020B0503020204020204" pitchFamily="34" charset="-122"/>
            </a:endParaRPr>
          </a:p>
          <a:p>
            <a:pPr marL="800100" lvl="1" indent="-342900">
              <a:lnSpc>
                <a:spcPct val="150000"/>
              </a:lnSpc>
              <a:spcBef>
                <a:spcPts val="0"/>
              </a:spcBef>
              <a:buFont typeface="Arial" panose="020B0604020202020204" pitchFamily="34" charset="0"/>
              <a:buChar char="•"/>
            </a:pPr>
            <a:r>
              <a:rPr kumimoji="1" lang="en-US" altLang="zh-CN" sz="2400" dirty="0">
                <a:latin typeface="Microsoft YaHei" panose="020B0503020204020204" pitchFamily="34" charset="-122"/>
                <a:ea typeface="Microsoft YaHei" panose="020B0503020204020204" pitchFamily="34" charset="-122"/>
              </a:rPr>
              <a:t>OM(m)</a:t>
            </a:r>
            <a:r>
              <a:rPr kumimoji="1" lang="zh-CN" altLang="en-US" sz="2400" dirty="0">
                <a:latin typeface="Microsoft YaHei" panose="020B0503020204020204" pitchFamily="34" charset="-122"/>
                <a:ea typeface="Microsoft YaHei" panose="020B0503020204020204" pitchFamily="34" charset="-122"/>
              </a:rPr>
              <a:t> 調用</a:t>
            </a:r>
            <a:r>
              <a:rPr kumimoji="1" lang="en-US" altLang="zh-CN" sz="2400" dirty="0">
                <a:latin typeface="Microsoft YaHei" panose="020B0503020204020204" pitchFamily="34" charset="-122"/>
                <a:ea typeface="Microsoft YaHei" panose="020B0503020204020204" pitchFamily="34" charset="-122"/>
              </a:rPr>
              <a:t> n </a:t>
            </a:r>
            <a:r>
              <a:rPr kumimoji="1" lang="mr-IN" altLang="zh-CN" sz="2400" dirty="0">
                <a:latin typeface="Microsoft YaHei" panose="020B0503020204020204" pitchFamily="34" charset="-122"/>
                <a:ea typeface="Microsoft YaHei" panose="020B0503020204020204" pitchFamily="34" charset="-122"/>
              </a:rPr>
              <a:t>–</a:t>
            </a:r>
            <a:r>
              <a:rPr kumimoji="1" lang="en-US" altLang="zh-CN" sz="2400" dirty="0">
                <a:latin typeface="Microsoft YaHei" panose="020B0503020204020204" pitchFamily="34" charset="-122"/>
                <a:ea typeface="Microsoft YaHei" panose="020B0503020204020204" pitchFamily="34" charset="-122"/>
              </a:rPr>
              <a:t> 1 </a:t>
            </a:r>
            <a:r>
              <a:rPr kumimoji="1" lang="zh-CN" altLang="en-US" sz="2400" dirty="0">
                <a:latin typeface="Microsoft YaHei" panose="020B0503020204020204" pitchFamily="34" charset="-122"/>
                <a:ea typeface="Microsoft YaHei" panose="020B0503020204020204" pitchFamily="34" charset="-122"/>
              </a:rPr>
              <a:t>次</a:t>
            </a:r>
            <a:r>
              <a:rPr kumimoji="1" lang="en-US" altLang="zh-CN" sz="2400" dirty="0">
                <a:latin typeface="Microsoft YaHei" panose="020B0503020204020204" pitchFamily="34" charset="-122"/>
                <a:ea typeface="Microsoft YaHei" panose="020B0503020204020204" pitchFamily="34" charset="-122"/>
              </a:rPr>
              <a:t> OM(m-1)</a:t>
            </a:r>
          </a:p>
          <a:p>
            <a:pPr marL="800100" lvl="1" indent="-342900">
              <a:lnSpc>
                <a:spcPct val="150000"/>
              </a:lnSpc>
              <a:spcBef>
                <a:spcPts val="0"/>
              </a:spcBef>
              <a:buFont typeface="Arial" panose="020B0604020202020204" pitchFamily="34" charset="0"/>
              <a:buChar char="•"/>
            </a:pPr>
            <a:r>
              <a:rPr kumimoji="1" lang="en-US" altLang="zh-CN" sz="2400" dirty="0">
                <a:latin typeface="Microsoft YaHei" panose="020B0503020204020204" pitchFamily="34" charset="-122"/>
                <a:ea typeface="Microsoft YaHei" panose="020B0503020204020204" pitchFamily="34" charset="-122"/>
              </a:rPr>
              <a:t>OM(m-1) </a:t>
            </a:r>
            <a:r>
              <a:rPr kumimoji="1" lang="zh-CN" altLang="en-US" sz="2400" dirty="0">
                <a:latin typeface="Microsoft YaHei" panose="020B0503020204020204" pitchFamily="34" charset="-122"/>
                <a:ea typeface="Microsoft YaHei" panose="020B0503020204020204" pitchFamily="34" charset="-122"/>
              </a:rPr>
              <a:t>調用</a:t>
            </a:r>
            <a:r>
              <a:rPr kumimoji="1" lang="en-US" altLang="zh-CN" sz="2400" dirty="0">
                <a:latin typeface="Microsoft YaHei" panose="020B0503020204020204" pitchFamily="34" charset="-122"/>
                <a:ea typeface="Microsoft YaHei" panose="020B0503020204020204" pitchFamily="34" charset="-122"/>
              </a:rPr>
              <a:t> n</a:t>
            </a:r>
            <a:r>
              <a:rPr kumimoji="1" lang="zh-CN" altLang="en-US" sz="2400" dirty="0">
                <a:latin typeface="Microsoft YaHei" panose="020B0503020204020204" pitchFamily="34" charset="-122"/>
                <a:ea typeface="Microsoft YaHei" panose="020B0503020204020204" pitchFamily="34" charset="-122"/>
              </a:rPr>
              <a:t> </a:t>
            </a:r>
            <a:r>
              <a:rPr kumimoji="1" lang="mr-IN" altLang="zh-CN" sz="2400" dirty="0">
                <a:latin typeface="Microsoft YaHei" panose="020B0503020204020204" pitchFamily="34" charset="-122"/>
                <a:ea typeface="Microsoft YaHei" panose="020B0503020204020204" pitchFamily="34" charset="-122"/>
              </a:rPr>
              <a:t>–</a:t>
            </a:r>
            <a:r>
              <a:rPr kumimoji="1" lang="en-US" altLang="zh-CN" sz="2400" dirty="0">
                <a:latin typeface="Microsoft YaHei" panose="020B0503020204020204" pitchFamily="34" charset="-122"/>
                <a:ea typeface="Microsoft YaHei" panose="020B0503020204020204" pitchFamily="34" charset="-122"/>
              </a:rPr>
              <a:t> 2 </a:t>
            </a:r>
            <a:r>
              <a:rPr kumimoji="1" lang="zh-CN" altLang="en-US" sz="2400" dirty="0">
                <a:latin typeface="Microsoft YaHei" panose="020B0503020204020204" pitchFamily="34" charset="-122"/>
                <a:ea typeface="Microsoft YaHei" panose="020B0503020204020204" pitchFamily="34" charset="-122"/>
              </a:rPr>
              <a:t>次</a:t>
            </a:r>
            <a:r>
              <a:rPr kumimoji="1" lang="en-US" altLang="zh-CN" sz="2400" dirty="0">
                <a:latin typeface="Microsoft YaHei" panose="020B0503020204020204" pitchFamily="34" charset="-122"/>
                <a:ea typeface="Microsoft YaHei" panose="020B0503020204020204" pitchFamily="34" charset="-122"/>
              </a:rPr>
              <a:t>OM(m-2)</a:t>
            </a:r>
          </a:p>
          <a:p>
            <a:pPr marL="800100" lvl="1" indent="-342900">
              <a:lnSpc>
                <a:spcPct val="150000"/>
              </a:lnSpc>
              <a:buFont typeface="Arial" panose="020B0604020202020204" pitchFamily="34" charset="0"/>
              <a:buChar char="•"/>
            </a:pPr>
            <a:r>
              <a:rPr kumimoji="1" lang="en-US" altLang="zh-CN" sz="2400" dirty="0">
                <a:latin typeface="Microsoft YaHei" panose="020B0503020204020204" pitchFamily="34" charset="-122"/>
                <a:ea typeface="Microsoft YaHei" panose="020B0503020204020204" pitchFamily="34" charset="-122"/>
              </a:rPr>
              <a:t>OM(m-2) </a:t>
            </a:r>
            <a:r>
              <a:rPr kumimoji="1" lang="zh-CN" altLang="en-US" sz="2400" dirty="0">
                <a:latin typeface="Microsoft YaHei" panose="020B0503020204020204" pitchFamily="34" charset="-122"/>
                <a:ea typeface="Microsoft YaHei" panose="020B0503020204020204" pitchFamily="34" charset="-122"/>
              </a:rPr>
              <a:t>調用</a:t>
            </a:r>
            <a:r>
              <a:rPr kumimoji="1" lang="en-US" altLang="zh-CN" sz="2400" dirty="0">
                <a:latin typeface="Microsoft YaHei" panose="020B0503020204020204" pitchFamily="34" charset="-122"/>
                <a:ea typeface="Microsoft YaHei" panose="020B0503020204020204" pitchFamily="34" charset="-122"/>
              </a:rPr>
              <a:t> n</a:t>
            </a:r>
            <a:r>
              <a:rPr kumimoji="1" lang="zh-CN" altLang="en-US" sz="2400" dirty="0">
                <a:latin typeface="Microsoft YaHei" panose="020B0503020204020204" pitchFamily="34" charset="-122"/>
                <a:ea typeface="Microsoft YaHei" panose="020B0503020204020204" pitchFamily="34" charset="-122"/>
              </a:rPr>
              <a:t> </a:t>
            </a:r>
            <a:r>
              <a:rPr kumimoji="1" lang="mr-IN" altLang="zh-CN" sz="2400" dirty="0">
                <a:latin typeface="Microsoft YaHei" panose="020B0503020204020204" pitchFamily="34" charset="-122"/>
                <a:ea typeface="Microsoft YaHei" panose="020B0503020204020204" pitchFamily="34" charset="-122"/>
              </a:rPr>
              <a:t>–</a:t>
            </a:r>
            <a:r>
              <a:rPr kumimoji="1" lang="en-US" altLang="zh-CN" sz="2400" dirty="0">
                <a:latin typeface="Microsoft YaHei" panose="020B0503020204020204" pitchFamily="34" charset="-122"/>
                <a:ea typeface="Microsoft YaHei" panose="020B0503020204020204" pitchFamily="34" charset="-122"/>
              </a:rPr>
              <a:t> 3 </a:t>
            </a:r>
            <a:r>
              <a:rPr kumimoji="1" lang="zh-CN" altLang="en-US" sz="2400" dirty="0">
                <a:latin typeface="Microsoft YaHei" panose="020B0503020204020204" pitchFamily="34" charset="-122"/>
                <a:ea typeface="Microsoft YaHei" panose="020B0503020204020204" pitchFamily="34" charset="-122"/>
              </a:rPr>
              <a:t>次</a:t>
            </a:r>
            <a:r>
              <a:rPr kumimoji="1" lang="en-US" altLang="zh-CN" sz="2400" dirty="0">
                <a:latin typeface="Microsoft YaHei" panose="020B0503020204020204" pitchFamily="34" charset="-122"/>
                <a:ea typeface="Microsoft YaHei" panose="020B0503020204020204" pitchFamily="34" charset="-122"/>
              </a:rPr>
              <a:t>OM(m-3)</a:t>
            </a:r>
          </a:p>
          <a:p>
            <a:pPr marL="800100" lvl="1" indent="-342900">
              <a:lnSpc>
                <a:spcPct val="150000"/>
              </a:lnSpc>
              <a:spcBef>
                <a:spcPts val="0"/>
              </a:spcBef>
              <a:buFont typeface="Arial" panose="020B0604020202020204" pitchFamily="34" charset="0"/>
              <a:buChar char="•"/>
            </a:pPr>
            <a:r>
              <a:rPr kumimoji="1" lang="mr-IN" altLang="zh-CN" sz="2400" dirty="0">
                <a:latin typeface="Microsoft YaHei" panose="020B0503020204020204" pitchFamily="34" charset="-122"/>
                <a:ea typeface="Microsoft YaHei" panose="020B0503020204020204" pitchFamily="34" charset="-122"/>
              </a:rPr>
              <a:t>……</a:t>
            </a:r>
            <a:endParaRPr kumimoji="1" lang="en-US" altLang="zh-CN" sz="2400" dirty="0">
              <a:latin typeface="Microsoft YaHei" panose="020B0503020204020204" pitchFamily="34" charset="-122"/>
              <a:ea typeface="Microsoft YaHei" panose="020B0503020204020204" pitchFamily="34" charset="-122"/>
            </a:endParaRPr>
          </a:p>
          <a:p>
            <a:pPr marL="800100" lvl="1" indent="-342900">
              <a:lnSpc>
                <a:spcPct val="150000"/>
              </a:lnSpc>
              <a:spcBef>
                <a:spcPts val="0"/>
              </a:spcBef>
              <a:buFont typeface="Arial" panose="020B0604020202020204" pitchFamily="34" charset="0"/>
              <a:buChar char="•"/>
            </a:pPr>
            <a:r>
              <a:rPr kumimoji="1" lang="en-US" altLang="zh-CN" sz="2400" dirty="0">
                <a:latin typeface="Microsoft YaHei" panose="020B0503020204020204" pitchFamily="34" charset="-122"/>
                <a:ea typeface="Microsoft YaHei" panose="020B0503020204020204" pitchFamily="34" charset="-122"/>
              </a:rPr>
              <a:t>OM(m-k)</a:t>
            </a:r>
            <a:r>
              <a:rPr kumimoji="1" lang="zh-CN" altLang="en-US" sz="2400" dirty="0">
                <a:latin typeface="Microsoft YaHei" panose="020B0503020204020204" pitchFamily="34" charset="-122"/>
                <a:ea typeface="Microsoft YaHei" panose="020B0503020204020204" pitchFamily="34" charset="-122"/>
              </a:rPr>
              <a:t> 被調用 </a:t>
            </a:r>
            <a:r>
              <a:rPr kumimoji="1" lang="en-US" altLang="zh-CN" sz="2400" dirty="0">
                <a:latin typeface="Microsoft YaHei" panose="020B0503020204020204" pitchFamily="34" charset="-122"/>
                <a:ea typeface="Microsoft YaHei" panose="020B0503020204020204" pitchFamily="34" charset="-122"/>
              </a:rPr>
              <a:t>n-1, n-2, </a:t>
            </a:r>
            <a:r>
              <a:rPr kumimoji="1" lang="mr-IN" altLang="zh-CN" sz="2400" dirty="0">
                <a:latin typeface="Microsoft YaHei" panose="020B0503020204020204" pitchFamily="34" charset="-122"/>
                <a:ea typeface="Microsoft YaHei" panose="020B0503020204020204" pitchFamily="34" charset="-122"/>
              </a:rPr>
              <a:t>…</a:t>
            </a:r>
            <a:r>
              <a:rPr kumimoji="1" lang="en-US" altLang="zh-CN" sz="2400" dirty="0">
                <a:latin typeface="Microsoft YaHei" panose="020B0503020204020204" pitchFamily="34" charset="-122"/>
                <a:ea typeface="Microsoft YaHei" panose="020B0503020204020204" pitchFamily="34" charset="-122"/>
              </a:rPr>
              <a:t>, n-k</a:t>
            </a:r>
            <a:r>
              <a:rPr kumimoji="1" lang="zh-CN" altLang="en-US" sz="2400" dirty="0">
                <a:latin typeface="Microsoft YaHei" panose="020B0503020204020204" pitchFamily="34" charset="-122"/>
                <a:ea typeface="Microsoft YaHei" panose="020B0503020204020204" pitchFamily="34" charset="-122"/>
              </a:rPr>
              <a:t>次</a:t>
            </a:r>
            <a:endParaRPr kumimoji="1" lang="en-US" altLang="zh-CN" sz="2400" dirty="0">
              <a:latin typeface="Microsoft YaHei" panose="020B0503020204020204" pitchFamily="34" charset="-122"/>
              <a:ea typeface="Microsoft YaHei" panose="020B0503020204020204" pitchFamily="34" charset="-122"/>
            </a:endParaRPr>
          </a:p>
          <a:p>
            <a:pPr marL="800100" lvl="1" indent="-342900">
              <a:lnSpc>
                <a:spcPct val="150000"/>
              </a:lnSpc>
              <a:spcBef>
                <a:spcPts val="0"/>
              </a:spcBef>
              <a:buFont typeface="Arial" panose="020B0604020202020204" pitchFamily="34" charset="0"/>
              <a:buChar char="•"/>
            </a:pPr>
            <a:r>
              <a:rPr kumimoji="1" lang="en-US" altLang="zh-CN" sz="2400" dirty="0">
                <a:latin typeface="Microsoft YaHei" panose="020B0503020204020204" pitchFamily="34" charset="-122"/>
                <a:ea typeface="Microsoft YaHei" panose="020B0503020204020204" pitchFamily="34" charset="-122"/>
              </a:rPr>
              <a:t>O(n</a:t>
            </a:r>
            <a:r>
              <a:rPr kumimoji="1" lang="en-US" altLang="zh-CN" sz="2400" baseline="30000" dirty="0">
                <a:latin typeface="Microsoft YaHei" panose="020B0503020204020204" pitchFamily="34" charset="-122"/>
                <a:ea typeface="Microsoft YaHei" panose="020B0503020204020204" pitchFamily="34" charset="-122"/>
              </a:rPr>
              <a:t>m</a:t>
            </a:r>
            <a:r>
              <a:rPr kumimoji="1" lang="en-US" altLang="zh-CN" sz="2400" dirty="0">
                <a:latin typeface="Microsoft YaHei" panose="020B0503020204020204" pitchFamily="34" charset="-122"/>
                <a:ea typeface="Microsoft YaHei" panose="020B0503020204020204" pitchFamily="34" charset="-122"/>
              </a:rPr>
              <a:t>)</a:t>
            </a:r>
          </a:p>
          <a:p>
            <a:pPr marL="342900" indent="-342900">
              <a:lnSpc>
                <a:spcPct val="150000"/>
              </a:lnSpc>
              <a:spcBef>
                <a:spcPts val="0"/>
              </a:spcBef>
              <a:buFont typeface="Arial" panose="020B0604020202020204" pitchFamily="34" charset="0"/>
              <a:buChar char="•"/>
            </a:pPr>
            <a:r>
              <a:rPr kumimoji="1" lang="zh-CN" altLang="en-US" sz="2400" dirty="0">
                <a:latin typeface="Microsoft YaHei" panose="020B0503020204020204" pitchFamily="34" charset="-122"/>
                <a:ea typeface="Microsoft YaHei" panose="020B0503020204020204" pitchFamily="34" charset="-122"/>
              </a:rPr>
              <a:t>口頭消息不能溯源（無法確定消息是否被篡改），導致需要傳輸大量的信息</a:t>
            </a:r>
            <a:endParaRPr kumimoji="1" lang="en-US" altLang="zh-CN" sz="2400" dirty="0">
              <a:latin typeface="Microsoft YaHei" panose="020B0503020204020204" pitchFamily="34" charset="-122"/>
              <a:ea typeface="Microsoft YaHei" panose="020B0503020204020204" pitchFamily="34" charset="-122"/>
            </a:endParaRPr>
          </a:p>
        </p:txBody>
      </p:sp>
      <p:sp>
        <p:nvSpPr>
          <p:cNvPr id="4" name="灯片编号占位符 2">
            <a:extLst>
              <a:ext uri="{FF2B5EF4-FFF2-40B4-BE49-F238E27FC236}">
                <a16:creationId xmlns:a16="http://schemas.microsoft.com/office/drawing/2014/main" id="{DD644A30-FBB4-EA46-B379-5DBB1D40DC90}"/>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112</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46551145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28C5BAD8-6D31-A140-8484-90984F281951}"/>
              </a:ext>
            </a:extLst>
          </p:cNvPr>
          <p:cNvSpPr>
            <a:spLocks/>
          </p:cNvSpPr>
          <p:nvPr/>
        </p:nvSpPr>
        <p:spPr bwMode="auto">
          <a:xfrm>
            <a:off x="650469" y="2353600"/>
            <a:ext cx="10855731" cy="2384209"/>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5000"/>
              </a:lnSpc>
              <a:defRPr/>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kumimoji="1" lang="zh-CN" altLang="en-US" sz="4000" dirty="0"/>
              <a:t>方案二：簽名消息</a:t>
            </a:r>
            <a:r>
              <a:rPr kumimoji="1" lang="en-US" altLang="zh-CN" sz="4000" dirty="0"/>
              <a:t>(SM)</a:t>
            </a:r>
            <a:r>
              <a:rPr kumimoji="1" lang="zh-CN" altLang="en-US" sz="4000" dirty="0"/>
              <a:t>協議</a:t>
            </a:r>
          </a:p>
        </p:txBody>
      </p:sp>
      <p:sp>
        <p:nvSpPr>
          <p:cNvPr id="35" name="内容占位符 3">
            <a:extLst>
              <a:ext uri="{FF2B5EF4-FFF2-40B4-BE49-F238E27FC236}">
                <a16:creationId xmlns:a16="http://schemas.microsoft.com/office/drawing/2014/main" id="{7628C728-621C-A146-A7EC-392E4FD26305}"/>
              </a:ext>
            </a:extLst>
          </p:cNvPr>
          <p:cNvSpPr txBox="1">
            <a:spLocks/>
          </p:cNvSpPr>
          <p:nvPr/>
        </p:nvSpPr>
        <p:spPr>
          <a:xfrm>
            <a:off x="760750" y="2640062"/>
            <a:ext cx="5276539" cy="15912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3600"/>
              </a:lnSpc>
              <a:spcBef>
                <a:spcPts val="0"/>
              </a:spcBef>
            </a:pPr>
            <a:r>
              <a:rPr kumimoji="1" lang="zh-CN" altLang="en-US" sz="2400" dirty="0">
                <a:latin typeface="Microsoft YaHei" panose="020B0503020204020204" pitchFamily="34" charset="-122"/>
                <a:ea typeface="Microsoft YaHei" panose="020B0503020204020204" pitchFamily="34" charset="-122"/>
              </a:rPr>
              <a:t>在口頭消息協議的基礎上添加假設</a:t>
            </a:r>
            <a:endParaRPr kumimoji="1" lang="en-US" altLang="zh-CN" sz="2400" dirty="0">
              <a:latin typeface="Microsoft YaHei" panose="020B0503020204020204" pitchFamily="34" charset="-122"/>
              <a:ea typeface="Microsoft YaHei" panose="020B0503020204020204" pitchFamily="34" charset="-122"/>
            </a:endParaRPr>
          </a:p>
          <a:p>
            <a:pPr marL="684000" lvl="1" indent="-342900" algn="just">
              <a:lnSpc>
                <a:spcPts val="3600"/>
              </a:lnSpc>
              <a:spcBef>
                <a:spcPts val="0"/>
              </a:spcBef>
            </a:pPr>
            <a:r>
              <a:rPr kumimoji="1" lang="zh-CN" altLang="en-US" dirty="0">
                <a:latin typeface="Microsoft YaHei" panose="020B0503020204020204" pitchFamily="34" charset="-122"/>
                <a:ea typeface="Microsoft YaHei" panose="020B0503020204020204" pitchFamily="34" charset="-122"/>
              </a:rPr>
              <a:t>忠誠將軍的簽名不可僞造</a:t>
            </a:r>
            <a:endParaRPr kumimoji="1" lang="en-US" altLang="zh-CN" dirty="0">
              <a:latin typeface="Microsoft YaHei" panose="020B0503020204020204" pitchFamily="34" charset="-122"/>
              <a:ea typeface="Microsoft YaHei" panose="020B0503020204020204" pitchFamily="34" charset="-122"/>
            </a:endParaRPr>
          </a:p>
          <a:p>
            <a:pPr marL="684000" lvl="1" indent="-342900" algn="just">
              <a:lnSpc>
                <a:spcPts val="3600"/>
              </a:lnSpc>
              <a:spcBef>
                <a:spcPts val="0"/>
              </a:spcBef>
            </a:pPr>
            <a:r>
              <a:rPr kumimoji="1" lang="zh-CN" altLang="en-US" dirty="0">
                <a:latin typeface="Microsoft YaHei" panose="020B0503020204020204" pitchFamily="34" charset="-122"/>
                <a:ea typeface="Microsoft YaHei" panose="020B0503020204020204" pitchFamily="34" charset="-122"/>
              </a:rPr>
              <a:t>任何人都可以驗證將軍的簽名</a:t>
            </a:r>
            <a:endParaRPr kumimoji="1" lang="en-US" altLang="zh-CN" dirty="0">
              <a:latin typeface="Microsoft YaHei" panose="020B0503020204020204" pitchFamily="34" charset="-122"/>
              <a:ea typeface="Microsoft YaHei" panose="020B0503020204020204" pitchFamily="34" charset="-122"/>
            </a:endParaRPr>
          </a:p>
        </p:txBody>
      </p:sp>
      <p:sp>
        <p:nvSpPr>
          <p:cNvPr id="43" name="内容占位符 2">
            <a:extLst>
              <a:ext uri="{FF2B5EF4-FFF2-40B4-BE49-F238E27FC236}">
                <a16:creationId xmlns:a16="http://schemas.microsoft.com/office/drawing/2014/main" id="{D156174D-1409-0942-AF01-DC56BB687BBB}"/>
              </a:ext>
            </a:extLst>
          </p:cNvPr>
          <p:cNvSpPr txBox="1"/>
          <p:nvPr/>
        </p:nvSpPr>
        <p:spPr>
          <a:xfrm>
            <a:off x="647700" y="1089168"/>
            <a:ext cx="10839450" cy="960425"/>
          </a:xfrm>
          <a:prstGeom prst="rect">
            <a:avLst/>
          </a:prstGeom>
          <a:solidFill>
            <a:srgbClr val="00B0F0"/>
          </a:solidFill>
          <a:ln w="6350">
            <a:solidFill>
              <a:srgbClr val="FFFFFF">
                <a:lumMod val="75000"/>
              </a:srgb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indent="0" algn="ctr">
              <a:spcBef>
                <a:spcPts val="0"/>
              </a:spcBef>
              <a:buNone/>
              <a:defRPr kumimoji="1" sz="2400" b="1">
                <a:solidFill>
                  <a:schemeClr val="bg1"/>
                </a:solidFill>
                <a:latin typeface="Microsoft YaHei" panose="020B0503020204020204" pitchFamily="34" charset="-122"/>
                <a:ea typeface="Microsoft YaHei" panose="020B0503020204020204"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改進：在實際系統中，可以引入簽名機制確保節點發送的消息無法被篡改，</a:t>
            </a:r>
            <a:endParaRPr lang="en-US" altLang="zh-CN" dirty="0"/>
          </a:p>
          <a:p>
            <a:r>
              <a:rPr lang="zh-CN" altLang="en-US" dirty="0"/>
              <a:t>從而得到簽名消息算法</a:t>
            </a:r>
            <a:r>
              <a:rPr lang="en-US" altLang="zh-CN" dirty="0"/>
              <a:t>SM(Signed Messages)</a:t>
            </a:r>
          </a:p>
        </p:txBody>
      </p:sp>
      <p:sp>
        <p:nvSpPr>
          <p:cNvPr id="23" name="内容占位符 2">
            <a:extLst>
              <a:ext uri="{FF2B5EF4-FFF2-40B4-BE49-F238E27FC236}">
                <a16:creationId xmlns:a16="http://schemas.microsoft.com/office/drawing/2014/main" id="{ACF005F1-3473-ED46-9E3A-423A1F10FC6C}"/>
              </a:ext>
            </a:extLst>
          </p:cNvPr>
          <p:cNvSpPr txBox="1"/>
          <p:nvPr/>
        </p:nvSpPr>
        <p:spPr>
          <a:xfrm>
            <a:off x="6334698" y="2601962"/>
            <a:ext cx="5094629" cy="214033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3600"/>
              </a:lnSpc>
              <a:spcBef>
                <a:spcPts val="0"/>
              </a:spcBef>
            </a:pPr>
            <a:r>
              <a:rPr kumimoji="1" lang="zh-CN" altLang="en-US" sz="2400" dirty="0">
                <a:latin typeface="Microsoft YaHei" panose="020B0503020204020204" pitchFamily="34" charset="-122"/>
                <a:ea typeface="Microsoft YaHei" panose="020B0503020204020204" pitchFamily="34" charset="-122"/>
              </a:rPr>
              <a:t>確保</a:t>
            </a:r>
            <a:endParaRPr kumimoji="1" lang="en-US" altLang="zh-CN" sz="2400" dirty="0">
              <a:latin typeface="Microsoft YaHei" panose="020B0503020204020204" pitchFamily="34" charset="-122"/>
              <a:ea typeface="Microsoft YaHei" panose="020B0503020204020204" pitchFamily="34" charset="-122"/>
            </a:endParaRPr>
          </a:p>
          <a:p>
            <a:pPr marL="686700" lvl="1" indent="-342900">
              <a:lnSpc>
                <a:spcPts val="3600"/>
              </a:lnSpc>
              <a:spcBef>
                <a:spcPts val="0"/>
              </a:spcBef>
            </a:pPr>
            <a:r>
              <a:rPr kumimoji="1" lang="zh-CN" altLang="en-US" dirty="0">
                <a:latin typeface="Microsoft YaHei" panose="020B0503020204020204" pitchFamily="34" charset="-122"/>
                <a:ea typeface="Microsoft YaHei" panose="020B0503020204020204" pitchFamily="34" charset="-122"/>
              </a:rPr>
              <a:t>叛徒不能通過說謊來影響共識</a:t>
            </a:r>
            <a:endParaRPr kumimoji="1" lang="en-US" altLang="zh-CN" dirty="0">
              <a:latin typeface="Microsoft YaHei" panose="020B0503020204020204" pitchFamily="34" charset="-122"/>
              <a:ea typeface="Microsoft YaHei" panose="020B0503020204020204" pitchFamily="34" charset="-122"/>
            </a:endParaRPr>
          </a:p>
          <a:p>
            <a:pPr marL="686700" lvl="1" indent="-342900">
              <a:lnSpc>
                <a:spcPts val="3600"/>
              </a:lnSpc>
              <a:spcBef>
                <a:spcPts val="0"/>
              </a:spcBef>
            </a:pPr>
            <a:r>
              <a:rPr kumimoji="1" lang="zh-CN" altLang="en-US" dirty="0">
                <a:latin typeface="Microsoft YaHei" panose="020B0503020204020204" pitchFamily="34" charset="-122"/>
                <a:ea typeface="Microsoft YaHei" panose="020B0503020204020204" pitchFamily="34" charset="-122"/>
              </a:rPr>
              <a:t>叛徒不能通過保持沉默來影響共識</a:t>
            </a:r>
            <a:endParaRPr kumimoji="1" lang="en-US" altLang="zh-CN" dirty="0">
              <a:latin typeface="Microsoft YaHei" panose="020B0503020204020204" pitchFamily="34" charset="-122"/>
              <a:ea typeface="Microsoft YaHei" panose="020B0503020204020204" pitchFamily="34" charset="-122"/>
            </a:endParaRPr>
          </a:p>
        </p:txBody>
      </p:sp>
      <p:sp>
        <p:nvSpPr>
          <p:cNvPr id="26" name="内容占位符 2">
            <a:extLst>
              <a:ext uri="{FF2B5EF4-FFF2-40B4-BE49-F238E27FC236}">
                <a16:creationId xmlns:a16="http://schemas.microsoft.com/office/drawing/2014/main" id="{983AE124-83F0-8940-832D-2BB74DF81ABD}"/>
              </a:ext>
            </a:extLst>
          </p:cNvPr>
          <p:cNvSpPr txBox="1"/>
          <p:nvPr/>
        </p:nvSpPr>
        <p:spPr>
          <a:xfrm>
            <a:off x="639922" y="4978539"/>
            <a:ext cx="10866277" cy="1150084"/>
          </a:xfrm>
          <a:prstGeom prst="rect">
            <a:avLst/>
          </a:prstGeom>
          <a:solidFill>
            <a:srgbClr val="00B0F0"/>
          </a:solidFill>
          <a:ln w="6350">
            <a:solidFill>
              <a:srgbClr val="FFFFFF">
                <a:lumMod val="75000"/>
              </a:srgb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indent="0" algn="ctr">
              <a:spcBef>
                <a:spcPts val="0"/>
              </a:spcBef>
              <a:buNone/>
              <a:defRPr kumimoji="1" sz="2400" b="1">
                <a:solidFill>
                  <a:schemeClr val="bg1"/>
                </a:solidFill>
                <a:latin typeface="Microsoft YaHei" panose="020B0503020204020204" pitchFamily="34" charset="-122"/>
                <a:ea typeface="Microsoft YaHei" panose="020B0503020204020204" pitchFamily="34"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結論：假設將軍個數爲</a:t>
            </a:r>
            <a:r>
              <a:rPr lang="en-US" altLang="zh-CN" dirty="0"/>
              <a:t>N</a:t>
            </a:r>
            <a:r>
              <a:rPr lang="zh-CN" altLang="en-US" dirty="0"/>
              <a:t>，且最多存在</a:t>
            </a:r>
            <a:r>
              <a:rPr lang="en-US" altLang="zh-CN" dirty="0"/>
              <a:t>m</a:t>
            </a:r>
            <a:r>
              <a:rPr lang="zh-CN" altLang="en-US" dirty="0"/>
              <a:t>個叛徒時，當</a:t>
            </a:r>
            <a:r>
              <a:rPr lang="en-US" altLang="zh-CN" dirty="0"/>
              <a:t>N≥2m+1</a:t>
            </a:r>
            <a:r>
              <a:rPr lang="zh-CN" altLang="en-US" dirty="0"/>
              <a:t>時，</a:t>
            </a:r>
            <a:endParaRPr lang="en-US" altLang="zh-CN" dirty="0"/>
          </a:p>
          <a:p>
            <a:r>
              <a:rPr lang="en-US" altLang="zh-CN" dirty="0"/>
              <a:t>SM(1)</a:t>
            </a:r>
            <a:r>
              <a:rPr lang="zh-CN" altLang="en-US" dirty="0"/>
              <a:t> 算法可以確保所有忠誠的將軍達成一致</a:t>
            </a:r>
          </a:p>
        </p:txBody>
      </p:sp>
      <p:sp>
        <p:nvSpPr>
          <p:cNvPr id="12" name="灯片编号占位符 2">
            <a:extLst>
              <a:ext uri="{FF2B5EF4-FFF2-40B4-BE49-F238E27FC236}">
                <a16:creationId xmlns:a16="http://schemas.microsoft.com/office/drawing/2014/main" id="{F762176F-924E-E440-AB67-15E914DE0A94}"/>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113</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93758853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kumimoji="1" lang="zh-CN" altLang="en-US" sz="4000" dirty="0"/>
              <a:t>簽名消息協議</a:t>
            </a:r>
          </a:p>
        </p:txBody>
      </p:sp>
      <p:sp>
        <p:nvSpPr>
          <p:cNvPr id="11" name="内容占位符 2">
            <a:extLst>
              <a:ext uri="{FF2B5EF4-FFF2-40B4-BE49-F238E27FC236}">
                <a16:creationId xmlns:a16="http://schemas.microsoft.com/office/drawing/2014/main" id="{744C440C-322B-234E-BFCD-531892D35B20}"/>
              </a:ext>
            </a:extLst>
          </p:cNvPr>
          <p:cNvSpPr txBox="1"/>
          <p:nvPr/>
        </p:nvSpPr>
        <p:spPr>
          <a:xfrm>
            <a:off x="643883" y="943785"/>
            <a:ext cx="10702441" cy="2970959"/>
          </a:xfrm>
          <a:prstGeom prst="rect">
            <a:avLst/>
          </a:prstGeom>
          <a:ln>
            <a:solidFill>
              <a:srgbClr val="00B0F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3600"/>
              </a:lnSpc>
              <a:spcBef>
                <a:spcPts val="0"/>
              </a:spcBef>
            </a:pPr>
            <a:r>
              <a:rPr kumimoji="1" lang="zh-CN" altLang="en-US" sz="2400" dirty="0">
                <a:latin typeface="Microsoft YaHei" panose="020B0503020204020204" pitchFamily="34" charset="-122"/>
                <a:ea typeface="Microsoft YaHei" panose="020B0503020204020204" pitchFamily="34" charset="-122"/>
              </a:rPr>
              <a:t>假設</a:t>
            </a:r>
            <a:r>
              <a:rPr kumimoji="1" lang="en-US" altLang="zh-CN" sz="2400" dirty="0">
                <a:latin typeface="Microsoft YaHei" panose="020B0503020204020204" pitchFamily="34" charset="-122"/>
                <a:ea typeface="Microsoft YaHei" panose="020B0503020204020204" pitchFamily="34" charset="-122"/>
              </a:rPr>
              <a:t>N</a:t>
            </a:r>
            <a:r>
              <a:rPr kumimoji="1" lang="zh-CN" altLang="en-US" sz="2400" dirty="0">
                <a:latin typeface="Microsoft YaHei" panose="020B0503020204020204" pitchFamily="34" charset="-122"/>
                <a:ea typeface="Microsoft YaHei" panose="020B0503020204020204" pitchFamily="34" charset="-122"/>
              </a:rPr>
              <a:t>個副官編號分別爲</a:t>
            </a:r>
            <a:r>
              <a:rPr kumimoji="1" lang="en-US" altLang="zh-CN" sz="2400" dirty="0">
                <a:latin typeface="Microsoft YaHei" panose="020B0503020204020204" pitchFamily="34" charset="-122"/>
                <a:ea typeface="Microsoft YaHei" panose="020B0503020204020204" pitchFamily="34" charset="-122"/>
              </a:rPr>
              <a:t>0,1,…,N-1</a:t>
            </a:r>
            <a:r>
              <a:rPr kumimoji="1" lang="zh-CN" altLang="en-US" sz="2400" dirty="0">
                <a:latin typeface="Microsoft YaHei" panose="020B0503020204020204" pitchFamily="34" charset="-122"/>
                <a:ea typeface="Microsoft YaHei" panose="020B0503020204020204" pitchFamily="34" charset="-122"/>
              </a:rPr>
              <a:t>，初始狀態下</a:t>
            </a:r>
            <a:r>
              <a:rPr kumimoji="1" lang="en-US" altLang="zh-CN" sz="2400" dirty="0">
                <a:latin typeface="Microsoft YaHei" panose="020B0503020204020204" pitchFamily="34" charset="-122"/>
                <a:ea typeface="Microsoft YaHei" panose="020B0503020204020204" pitchFamily="34" charset="-122"/>
              </a:rPr>
              <a:t>0</a:t>
            </a:r>
            <a:r>
              <a:rPr kumimoji="1" lang="zh-CN" altLang="en-US" sz="2400" dirty="0">
                <a:latin typeface="Microsoft YaHei" panose="020B0503020204020204" pitchFamily="34" charset="-122"/>
                <a:ea typeface="Microsoft YaHei" panose="020B0503020204020204" pitchFamily="34" charset="-122"/>
              </a:rPr>
              <a:t>爲將軍，幷執行</a:t>
            </a:r>
            <a:r>
              <a:rPr kumimoji="1" lang="en-US" altLang="zh-CN" sz="2400" dirty="0">
                <a:latin typeface="Microsoft YaHei" panose="020B0503020204020204" pitchFamily="34" charset="-122"/>
                <a:ea typeface="Microsoft YaHei" panose="020B0503020204020204" pitchFamily="34" charset="-122"/>
              </a:rPr>
              <a:t>SM</a:t>
            </a:r>
            <a:r>
              <a:rPr kumimoji="1" lang="en-US" altLang="zh-CN" sz="2400" baseline="-25000" dirty="0">
                <a:latin typeface="Microsoft YaHei" panose="020B0503020204020204" pitchFamily="34" charset="-122"/>
                <a:ea typeface="Microsoft YaHei" panose="020B0503020204020204" pitchFamily="34" charset="-122"/>
              </a:rPr>
              <a:t>0</a:t>
            </a:r>
            <a:r>
              <a:rPr kumimoji="1" lang="en-US" altLang="zh-CN" sz="2400" dirty="0">
                <a:latin typeface="Microsoft YaHei" panose="020B0503020204020204" pitchFamily="34" charset="-122"/>
                <a:ea typeface="Microsoft YaHei" panose="020B0503020204020204" pitchFamily="34" charset="-122"/>
              </a:rPr>
              <a:t>(1)</a:t>
            </a:r>
            <a:r>
              <a:rPr kumimoji="1" lang="zh-CN" altLang="en-US" sz="2400" dirty="0">
                <a:latin typeface="Microsoft YaHei" panose="020B0503020204020204" pitchFamily="34" charset="-122"/>
                <a:ea typeface="Microsoft YaHei" panose="020B0503020204020204" pitchFamily="34" charset="-122"/>
              </a:rPr>
              <a:t>，從而給其它副官發送附帶簽名的指令</a:t>
            </a:r>
            <a:r>
              <a:rPr kumimoji="1" lang="en-US" altLang="zh-CN" sz="2400" dirty="0">
                <a:latin typeface="Microsoft YaHei" panose="020B0503020204020204" pitchFamily="34" charset="-122"/>
                <a:ea typeface="Microsoft YaHei" panose="020B0503020204020204" pitchFamily="34" charset="-122"/>
              </a:rPr>
              <a:t>x:0</a:t>
            </a:r>
          </a:p>
          <a:p>
            <a:pPr algn="just">
              <a:lnSpc>
                <a:spcPts val="3600"/>
              </a:lnSpc>
              <a:spcBef>
                <a:spcPts val="0"/>
              </a:spcBef>
            </a:pPr>
            <a:r>
              <a:rPr kumimoji="1" lang="zh-CN" altLang="en-US" sz="2400" dirty="0">
                <a:latin typeface="Microsoft YaHei" panose="020B0503020204020204" pitchFamily="34" charset="-122"/>
                <a:ea typeface="Microsoft YaHei" panose="020B0503020204020204" pitchFamily="34" charset="-122"/>
              </a:rPr>
              <a:t>收到</a:t>
            </a:r>
            <a:r>
              <a:rPr kumimoji="1" lang="en-US" altLang="zh-CN" sz="2400" dirty="0">
                <a:latin typeface="Microsoft YaHei" panose="020B0503020204020204" pitchFamily="34" charset="-122"/>
                <a:ea typeface="Microsoft YaHei" panose="020B0503020204020204" pitchFamily="34" charset="-122"/>
              </a:rPr>
              <a:t>x:0</a:t>
            </a:r>
            <a:r>
              <a:rPr kumimoji="1" lang="zh-CN" altLang="en-US" sz="2400" dirty="0">
                <a:latin typeface="Microsoft YaHei" panose="020B0503020204020204" pitchFamily="34" charset="-122"/>
                <a:ea typeface="Microsoft YaHei" panose="020B0503020204020204" pitchFamily="34" charset="-122"/>
              </a:rPr>
              <a:t>後，副官</a:t>
            </a:r>
            <a:r>
              <a:rPr kumimoji="1" lang="en-US" altLang="zh-CN" sz="2400" dirty="0" err="1">
                <a:latin typeface="Microsoft YaHei" panose="020B0503020204020204" pitchFamily="34" charset="-122"/>
                <a:ea typeface="Microsoft YaHei" panose="020B0503020204020204" pitchFamily="34" charset="-122"/>
              </a:rPr>
              <a:t>i</a:t>
            </a:r>
            <a:r>
              <a:rPr kumimoji="1" lang="zh-CN" altLang="en-US" sz="2400" dirty="0">
                <a:latin typeface="Microsoft YaHei" panose="020B0503020204020204" pitchFamily="34" charset="-122"/>
                <a:ea typeface="Microsoft YaHei" panose="020B0503020204020204" pitchFamily="34" charset="-122"/>
              </a:rPr>
              <a:t>執行</a:t>
            </a:r>
            <a:r>
              <a:rPr kumimoji="1" lang="en-US" altLang="zh-CN" sz="2400" dirty="0">
                <a:latin typeface="Microsoft YaHei" panose="020B0503020204020204" pitchFamily="34" charset="-122"/>
                <a:ea typeface="Microsoft YaHei" panose="020B0503020204020204" pitchFamily="34" charset="-122"/>
              </a:rPr>
              <a:t>SM</a:t>
            </a:r>
            <a:r>
              <a:rPr kumimoji="1" lang="en-US" altLang="zh-CN" sz="2400" baseline="-25000" dirty="0">
                <a:latin typeface="Microsoft YaHei" panose="020B0503020204020204" pitchFamily="34" charset="-122"/>
                <a:ea typeface="Microsoft YaHei" panose="020B0503020204020204" pitchFamily="34" charset="-122"/>
              </a:rPr>
              <a:t>0,i</a:t>
            </a:r>
            <a:r>
              <a:rPr kumimoji="1" lang="en-US" altLang="zh-CN" sz="2400" dirty="0">
                <a:latin typeface="Microsoft YaHei" panose="020B0503020204020204" pitchFamily="34" charset="-122"/>
                <a:ea typeface="Microsoft YaHei" panose="020B0503020204020204" pitchFamily="34" charset="-122"/>
              </a:rPr>
              <a:t>(0)</a:t>
            </a:r>
            <a:r>
              <a:rPr kumimoji="1" lang="zh-CN" altLang="en-US" sz="2400" dirty="0">
                <a:latin typeface="Microsoft YaHei" panose="020B0503020204020204" pitchFamily="34" charset="-122"/>
                <a:ea typeface="Microsoft YaHei" panose="020B0503020204020204" pitchFamily="34" charset="-122"/>
              </a:rPr>
              <a:t>，即在簽名指令</a:t>
            </a:r>
            <a:r>
              <a:rPr kumimoji="1" lang="en-US" altLang="zh-CN" sz="2400" dirty="0">
                <a:latin typeface="Microsoft YaHei" panose="020B0503020204020204" pitchFamily="34" charset="-122"/>
                <a:ea typeface="Microsoft YaHei" panose="020B0503020204020204" pitchFamily="34" charset="-122"/>
              </a:rPr>
              <a:t>x:0</a:t>
            </a:r>
            <a:r>
              <a:rPr kumimoji="1" lang="zh-CN" altLang="en-US" sz="2400" dirty="0">
                <a:latin typeface="Microsoft YaHei" panose="020B0503020204020204" pitchFamily="34" charset="-122"/>
                <a:ea typeface="Microsoft YaHei" panose="020B0503020204020204" pitchFamily="34" charset="-122"/>
              </a:rPr>
              <a:t>上附帶自己簽名得到</a:t>
            </a:r>
            <a:r>
              <a:rPr kumimoji="1" lang="en-US" altLang="zh-CN" sz="2400" dirty="0">
                <a:latin typeface="Microsoft YaHei" panose="020B0503020204020204" pitchFamily="34" charset="-122"/>
                <a:ea typeface="Microsoft YaHei" panose="020B0503020204020204" pitchFamily="34" charset="-122"/>
              </a:rPr>
              <a:t>x:0:i</a:t>
            </a:r>
            <a:r>
              <a:rPr kumimoji="1" lang="zh-CN" altLang="en-US" sz="2400" dirty="0">
                <a:latin typeface="Microsoft YaHei" panose="020B0503020204020204" pitchFamily="34" charset="-122"/>
                <a:ea typeface="Microsoft YaHei" panose="020B0503020204020204" pitchFamily="34" charset="-122"/>
              </a:rPr>
              <a:t>，然後將其發送給其它副官</a:t>
            </a:r>
          </a:p>
          <a:p>
            <a:pPr>
              <a:lnSpc>
                <a:spcPts val="3600"/>
              </a:lnSpc>
              <a:spcBef>
                <a:spcPts val="0"/>
              </a:spcBef>
            </a:pPr>
            <a:r>
              <a:rPr kumimoji="1" lang="zh-CN" altLang="en-US" sz="2400" dirty="0">
                <a:latin typeface="Microsoft YaHei" panose="020B0503020204020204" pitchFamily="34" charset="-122"/>
                <a:ea typeface="Microsoft YaHei" panose="020B0503020204020204" pitchFamily="34" charset="-122"/>
              </a:rPr>
              <a:t>每個副官收集來自所有副官的指令（包括自己和將軍在內），當出現不同指令時則撤退（說明將軍是叛徒）；否則當超過半數爲相同指令時選擇該指令</a:t>
            </a:r>
            <a:endParaRPr kumimoji="1" lang="en-US" altLang="zh-CN" sz="2400" dirty="0">
              <a:latin typeface="Microsoft YaHei" panose="020B0503020204020204" pitchFamily="34" charset="-122"/>
              <a:ea typeface="Microsoft YaHei" panose="020B0503020204020204" pitchFamily="34" charset="-122"/>
            </a:endParaRPr>
          </a:p>
        </p:txBody>
      </p:sp>
      <p:sp>
        <p:nvSpPr>
          <p:cNvPr id="12" name="椭圆 11">
            <a:extLst>
              <a:ext uri="{FF2B5EF4-FFF2-40B4-BE49-F238E27FC236}">
                <a16:creationId xmlns:a16="http://schemas.microsoft.com/office/drawing/2014/main" id="{22C84A30-E546-D642-BDF9-866EF5AF9625}"/>
              </a:ext>
            </a:extLst>
          </p:cNvPr>
          <p:cNvSpPr/>
          <p:nvPr/>
        </p:nvSpPr>
        <p:spPr>
          <a:xfrm>
            <a:off x="3034407" y="4046881"/>
            <a:ext cx="423790" cy="462656"/>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dirty="0"/>
              <a:t>0</a:t>
            </a:r>
            <a:endParaRPr kumimoji="1" lang="zh-CN" altLang="en-US" dirty="0"/>
          </a:p>
        </p:txBody>
      </p:sp>
      <p:sp>
        <p:nvSpPr>
          <p:cNvPr id="13" name="椭圆 12">
            <a:extLst>
              <a:ext uri="{FF2B5EF4-FFF2-40B4-BE49-F238E27FC236}">
                <a16:creationId xmlns:a16="http://schemas.microsoft.com/office/drawing/2014/main" id="{F46E1812-3E5F-0E4E-80D1-2F8577FA26FE}"/>
              </a:ext>
            </a:extLst>
          </p:cNvPr>
          <p:cNvSpPr/>
          <p:nvPr/>
        </p:nvSpPr>
        <p:spPr>
          <a:xfrm>
            <a:off x="5305113" y="5387778"/>
            <a:ext cx="423790" cy="462656"/>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solidFill>
                <a:schemeClr val="tx1"/>
              </a:solidFill>
            </a:endParaRPr>
          </a:p>
        </p:txBody>
      </p:sp>
      <p:cxnSp>
        <p:nvCxnSpPr>
          <p:cNvPr id="14" name="直线箭头连接符 13">
            <a:extLst>
              <a:ext uri="{FF2B5EF4-FFF2-40B4-BE49-F238E27FC236}">
                <a16:creationId xmlns:a16="http://schemas.microsoft.com/office/drawing/2014/main" id="{AB0A3855-8849-EC42-B50A-C9D90BBE621B}"/>
              </a:ext>
            </a:extLst>
          </p:cNvPr>
          <p:cNvCxnSpPr>
            <a:stCxn id="12" idx="3"/>
            <a:endCxn id="34" idx="0"/>
          </p:cNvCxnSpPr>
          <p:nvPr/>
        </p:nvCxnSpPr>
        <p:spPr>
          <a:xfrm flipH="1">
            <a:off x="2428567" y="4441783"/>
            <a:ext cx="667903" cy="9563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线箭头连接符 14">
            <a:extLst>
              <a:ext uri="{FF2B5EF4-FFF2-40B4-BE49-F238E27FC236}">
                <a16:creationId xmlns:a16="http://schemas.microsoft.com/office/drawing/2014/main" id="{CD14AF8C-75EE-0A45-B0D5-E12EDD367AE4}"/>
              </a:ext>
            </a:extLst>
          </p:cNvPr>
          <p:cNvCxnSpPr>
            <a:cxnSpLocks/>
            <a:stCxn id="12" idx="3"/>
            <a:endCxn id="30" idx="0"/>
          </p:cNvCxnSpPr>
          <p:nvPr/>
        </p:nvCxnSpPr>
        <p:spPr>
          <a:xfrm flipH="1">
            <a:off x="848903" y="4441783"/>
            <a:ext cx="2247567" cy="9459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线箭头连接符 15">
            <a:extLst>
              <a:ext uri="{FF2B5EF4-FFF2-40B4-BE49-F238E27FC236}">
                <a16:creationId xmlns:a16="http://schemas.microsoft.com/office/drawing/2014/main" id="{BB4239D9-CEEF-2B4C-8340-8532210281E4}"/>
              </a:ext>
            </a:extLst>
          </p:cNvPr>
          <p:cNvCxnSpPr>
            <a:stCxn id="12" idx="4"/>
            <a:endCxn id="42" idx="0"/>
          </p:cNvCxnSpPr>
          <p:nvPr/>
        </p:nvCxnSpPr>
        <p:spPr>
          <a:xfrm>
            <a:off x="3246302" y="4509537"/>
            <a:ext cx="590300" cy="8782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线箭头连接符 16">
            <a:extLst>
              <a:ext uri="{FF2B5EF4-FFF2-40B4-BE49-F238E27FC236}">
                <a16:creationId xmlns:a16="http://schemas.microsoft.com/office/drawing/2014/main" id="{6569CDF3-7873-A849-A269-5D916F625C77}"/>
              </a:ext>
            </a:extLst>
          </p:cNvPr>
          <p:cNvCxnSpPr>
            <a:cxnSpLocks/>
            <a:stCxn id="12" idx="5"/>
            <a:endCxn id="13" idx="0"/>
          </p:cNvCxnSpPr>
          <p:nvPr/>
        </p:nvCxnSpPr>
        <p:spPr>
          <a:xfrm>
            <a:off x="3396134" y="4441783"/>
            <a:ext cx="2120875" cy="9459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62C3E84C-17DE-2344-978F-E5F2D6AB5F24}"/>
              </a:ext>
            </a:extLst>
          </p:cNvPr>
          <p:cNvSpPr txBox="1"/>
          <p:nvPr/>
        </p:nvSpPr>
        <p:spPr>
          <a:xfrm>
            <a:off x="1634037" y="4530456"/>
            <a:ext cx="667903" cy="369332"/>
          </a:xfrm>
          <a:prstGeom prst="rect">
            <a:avLst/>
          </a:prstGeom>
          <a:noFill/>
        </p:spPr>
        <p:txBody>
          <a:bodyPr wrap="square" rtlCol="0">
            <a:spAutoFit/>
          </a:bodyPr>
          <a:lstStyle/>
          <a:p>
            <a:r>
              <a:rPr kumimoji="1" lang="en-US" altLang="zh-CN" dirty="0"/>
              <a:t>A:0</a:t>
            </a:r>
          </a:p>
        </p:txBody>
      </p:sp>
      <p:sp>
        <p:nvSpPr>
          <p:cNvPr id="22" name="矩形 21">
            <a:extLst>
              <a:ext uri="{FF2B5EF4-FFF2-40B4-BE49-F238E27FC236}">
                <a16:creationId xmlns:a16="http://schemas.microsoft.com/office/drawing/2014/main" id="{C46038A3-3CB2-9E4D-9B49-5B0CA7B73EF0}"/>
              </a:ext>
            </a:extLst>
          </p:cNvPr>
          <p:cNvSpPr/>
          <p:nvPr/>
        </p:nvSpPr>
        <p:spPr>
          <a:xfrm>
            <a:off x="1025290" y="3929976"/>
            <a:ext cx="1003801" cy="499560"/>
          </a:xfrm>
          <a:prstGeom prst="rect">
            <a:avLst/>
          </a:prstGeom>
        </p:spPr>
        <p:txBody>
          <a:bodyPr wrap="none">
            <a:spAutoFit/>
          </a:bodyPr>
          <a:lstStyle/>
          <a:p>
            <a:pPr algn="just">
              <a:lnSpc>
                <a:spcPts val="3600"/>
              </a:lnSpc>
              <a:spcBef>
                <a:spcPts val="0"/>
              </a:spcBef>
            </a:pPr>
            <a:r>
              <a:rPr kumimoji="1" lang="en-US" altLang="zh-CN" sz="2000" dirty="0">
                <a:latin typeface="Microsoft YaHei" panose="020B0503020204020204" pitchFamily="34" charset="-122"/>
                <a:ea typeface="Microsoft YaHei" panose="020B0503020204020204" pitchFamily="34" charset="-122"/>
              </a:rPr>
              <a:t>SM</a:t>
            </a:r>
            <a:r>
              <a:rPr kumimoji="1" lang="en-US" altLang="zh-CN" sz="2000" baseline="-25000" dirty="0">
                <a:latin typeface="Microsoft YaHei" panose="020B0503020204020204" pitchFamily="34" charset="-122"/>
                <a:ea typeface="Microsoft YaHei" panose="020B0503020204020204" pitchFamily="34" charset="-122"/>
              </a:rPr>
              <a:t>0</a:t>
            </a:r>
            <a:r>
              <a:rPr kumimoji="1" lang="en-US" altLang="zh-CN" sz="2000" dirty="0">
                <a:latin typeface="Microsoft YaHei" panose="020B0503020204020204" pitchFamily="34" charset="-122"/>
                <a:ea typeface="Microsoft YaHei" panose="020B0503020204020204" pitchFamily="34" charset="-122"/>
              </a:rPr>
              <a:t>(1)</a:t>
            </a:r>
          </a:p>
        </p:txBody>
      </p:sp>
      <p:sp>
        <p:nvSpPr>
          <p:cNvPr id="27" name="矩形 26">
            <a:extLst>
              <a:ext uri="{FF2B5EF4-FFF2-40B4-BE49-F238E27FC236}">
                <a16:creationId xmlns:a16="http://schemas.microsoft.com/office/drawing/2014/main" id="{84FE2E2B-8224-D54D-AF36-1F9748FAC64D}"/>
              </a:ext>
            </a:extLst>
          </p:cNvPr>
          <p:cNvSpPr/>
          <p:nvPr/>
        </p:nvSpPr>
        <p:spPr>
          <a:xfrm>
            <a:off x="4507142" y="5381775"/>
            <a:ext cx="434734" cy="461665"/>
          </a:xfrm>
          <a:prstGeom prst="rect">
            <a:avLst/>
          </a:prstGeom>
        </p:spPr>
        <p:txBody>
          <a:bodyPr wrap="none">
            <a:spAutoFit/>
          </a:bodyPr>
          <a:lstStyle/>
          <a:p>
            <a:r>
              <a:rPr kumimoji="1" lang="en-US" altLang="zh-CN" sz="2400" dirty="0">
                <a:latin typeface="Microsoft YaHei" panose="020B0503020204020204" pitchFamily="34" charset="-122"/>
                <a:ea typeface="Microsoft YaHei" panose="020B0503020204020204" pitchFamily="34" charset="-122"/>
              </a:rPr>
              <a:t>…</a:t>
            </a:r>
            <a:endParaRPr lang="zh-CN" altLang="en-US" sz="2400" dirty="0"/>
          </a:p>
        </p:txBody>
      </p:sp>
      <p:sp>
        <p:nvSpPr>
          <p:cNvPr id="28" name="矩形 27">
            <a:extLst>
              <a:ext uri="{FF2B5EF4-FFF2-40B4-BE49-F238E27FC236}">
                <a16:creationId xmlns:a16="http://schemas.microsoft.com/office/drawing/2014/main" id="{EE54E9BC-9F85-A84F-BE9C-68320FE25815}"/>
              </a:ext>
            </a:extLst>
          </p:cNvPr>
          <p:cNvSpPr/>
          <p:nvPr/>
        </p:nvSpPr>
        <p:spPr>
          <a:xfrm>
            <a:off x="4911153" y="6370478"/>
            <a:ext cx="1241045" cy="369332"/>
          </a:xfrm>
          <a:prstGeom prst="rect">
            <a:avLst/>
          </a:prstGeom>
        </p:spPr>
        <p:txBody>
          <a:bodyPr wrap="none">
            <a:spAutoFit/>
          </a:bodyPr>
          <a:lstStyle/>
          <a:p>
            <a:r>
              <a:rPr kumimoji="1" lang="en-US" altLang="zh-CN" dirty="0">
                <a:latin typeface="Microsoft YaHei" panose="020B0503020204020204" pitchFamily="34" charset="-122"/>
                <a:ea typeface="Microsoft YaHei" panose="020B0503020204020204" pitchFamily="34" charset="-122"/>
              </a:rPr>
              <a:t>SM</a:t>
            </a:r>
            <a:r>
              <a:rPr kumimoji="1" lang="en-US" altLang="zh-CN" baseline="-25000" dirty="0">
                <a:latin typeface="Microsoft YaHei" panose="020B0503020204020204" pitchFamily="34" charset="-122"/>
                <a:ea typeface="Microsoft YaHei" panose="020B0503020204020204" pitchFamily="34" charset="-122"/>
              </a:rPr>
              <a:t>0,N-1</a:t>
            </a:r>
            <a:r>
              <a:rPr kumimoji="1" lang="en-US" altLang="zh-CN" dirty="0">
                <a:latin typeface="Microsoft YaHei" panose="020B0503020204020204" pitchFamily="34" charset="-122"/>
                <a:ea typeface="Microsoft YaHei" panose="020B0503020204020204" pitchFamily="34" charset="-122"/>
              </a:rPr>
              <a:t>(0)</a:t>
            </a:r>
            <a:endParaRPr lang="zh-CN" altLang="en-US" dirty="0"/>
          </a:p>
        </p:txBody>
      </p:sp>
      <p:grpSp>
        <p:nvGrpSpPr>
          <p:cNvPr id="29" name="组合 28">
            <a:extLst>
              <a:ext uri="{FF2B5EF4-FFF2-40B4-BE49-F238E27FC236}">
                <a16:creationId xmlns:a16="http://schemas.microsoft.com/office/drawing/2014/main" id="{6079D08D-F35D-A440-A5C3-2F0E538E933F}"/>
              </a:ext>
            </a:extLst>
          </p:cNvPr>
          <p:cNvGrpSpPr/>
          <p:nvPr/>
        </p:nvGrpSpPr>
        <p:grpSpPr>
          <a:xfrm>
            <a:off x="318088" y="5387780"/>
            <a:ext cx="1048685" cy="1344486"/>
            <a:chOff x="680038" y="5222680"/>
            <a:chExt cx="1048685" cy="1344486"/>
          </a:xfrm>
        </p:grpSpPr>
        <p:sp>
          <p:nvSpPr>
            <p:cNvPr id="30" name="椭圆 29">
              <a:extLst>
                <a:ext uri="{FF2B5EF4-FFF2-40B4-BE49-F238E27FC236}">
                  <a16:creationId xmlns:a16="http://schemas.microsoft.com/office/drawing/2014/main" id="{C2D31189-4F3D-4B41-A8D3-16FA1DB2F9FC}"/>
                </a:ext>
              </a:extLst>
            </p:cNvPr>
            <p:cNvSpPr/>
            <p:nvPr/>
          </p:nvSpPr>
          <p:spPr>
            <a:xfrm>
              <a:off x="998958" y="5222680"/>
              <a:ext cx="423790" cy="462656"/>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dirty="0"/>
                <a:t>1</a:t>
              </a:r>
              <a:endParaRPr kumimoji="1" lang="zh-CN" altLang="en-US" dirty="0"/>
            </a:p>
          </p:txBody>
        </p:sp>
        <p:sp>
          <p:nvSpPr>
            <p:cNvPr id="31" name="矩形 30">
              <a:extLst>
                <a:ext uri="{FF2B5EF4-FFF2-40B4-BE49-F238E27FC236}">
                  <a16:creationId xmlns:a16="http://schemas.microsoft.com/office/drawing/2014/main" id="{91FC3675-F41A-0D40-A221-6A38138318C8}"/>
                </a:ext>
              </a:extLst>
            </p:cNvPr>
            <p:cNvSpPr/>
            <p:nvPr/>
          </p:nvSpPr>
          <p:spPr>
            <a:xfrm>
              <a:off x="680038" y="6197834"/>
              <a:ext cx="1048685" cy="369332"/>
            </a:xfrm>
            <a:prstGeom prst="rect">
              <a:avLst/>
            </a:prstGeom>
          </p:spPr>
          <p:txBody>
            <a:bodyPr wrap="none">
              <a:spAutoFit/>
            </a:bodyPr>
            <a:lstStyle/>
            <a:p>
              <a:r>
                <a:rPr kumimoji="1" lang="en-US" altLang="zh-CN" dirty="0">
                  <a:latin typeface="Microsoft YaHei" panose="020B0503020204020204" pitchFamily="34" charset="-122"/>
                  <a:ea typeface="Microsoft YaHei" panose="020B0503020204020204" pitchFamily="34" charset="-122"/>
                </a:rPr>
                <a:t>SM</a:t>
              </a:r>
              <a:r>
                <a:rPr kumimoji="1" lang="en-US" altLang="zh-CN" baseline="-25000" dirty="0">
                  <a:latin typeface="Microsoft YaHei" panose="020B0503020204020204" pitchFamily="34" charset="-122"/>
                  <a:ea typeface="Microsoft YaHei" panose="020B0503020204020204" pitchFamily="34" charset="-122"/>
                </a:rPr>
                <a:t>0,1</a:t>
              </a:r>
              <a:r>
                <a:rPr kumimoji="1" lang="en-US" altLang="zh-CN" dirty="0">
                  <a:latin typeface="Microsoft YaHei" panose="020B0503020204020204" pitchFamily="34" charset="-122"/>
                  <a:ea typeface="Microsoft YaHei" panose="020B0503020204020204" pitchFamily="34" charset="-122"/>
                </a:rPr>
                <a:t>(0)</a:t>
              </a:r>
              <a:endParaRPr lang="zh-CN" altLang="en-US" dirty="0"/>
            </a:p>
          </p:txBody>
        </p:sp>
        <p:cxnSp>
          <p:nvCxnSpPr>
            <p:cNvPr id="32" name="直线箭头连接符 31">
              <a:extLst>
                <a:ext uri="{FF2B5EF4-FFF2-40B4-BE49-F238E27FC236}">
                  <a16:creationId xmlns:a16="http://schemas.microsoft.com/office/drawing/2014/main" id="{67240483-6A04-AE41-BF83-03432326FF00}"/>
                </a:ext>
              </a:extLst>
            </p:cNvPr>
            <p:cNvCxnSpPr>
              <a:cxnSpLocks/>
              <a:stCxn id="30" idx="4"/>
            </p:cNvCxnSpPr>
            <p:nvPr/>
          </p:nvCxnSpPr>
          <p:spPr>
            <a:xfrm flipH="1">
              <a:off x="1210852" y="5685336"/>
              <a:ext cx="1" cy="4333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33" name="组合 32">
            <a:extLst>
              <a:ext uri="{FF2B5EF4-FFF2-40B4-BE49-F238E27FC236}">
                <a16:creationId xmlns:a16="http://schemas.microsoft.com/office/drawing/2014/main" id="{B5A6D91F-CED2-7B47-B502-5EAA6592BA7E}"/>
              </a:ext>
            </a:extLst>
          </p:cNvPr>
          <p:cNvGrpSpPr/>
          <p:nvPr/>
        </p:nvGrpSpPr>
        <p:grpSpPr>
          <a:xfrm>
            <a:off x="1841875" y="5398171"/>
            <a:ext cx="1048685" cy="1339012"/>
            <a:chOff x="1808967" y="5222680"/>
            <a:chExt cx="1048685" cy="1339012"/>
          </a:xfrm>
        </p:grpSpPr>
        <p:sp>
          <p:nvSpPr>
            <p:cNvPr id="34" name="椭圆 33">
              <a:extLst>
                <a:ext uri="{FF2B5EF4-FFF2-40B4-BE49-F238E27FC236}">
                  <a16:creationId xmlns:a16="http://schemas.microsoft.com/office/drawing/2014/main" id="{6F684C38-D2AC-3942-A4A8-B951672F059B}"/>
                </a:ext>
              </a:extLst>
            </p:cNvPr>
            <p:cNvSpPr/>
            <p:nvPr/>
          </p:nvSpPr>
          <p:spPr>
            <a:xfrm>
              <a:off x="2183764" y="5222680"/>
              <a:ext cx="423790" cy="462656"/>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dirty="0"/>
                <a:t>2</a:t>
              </a:r>
              <a:endParaRPr kumimoji="1" lang="zh-CN" altLang="en-US" dirty="0"/>
            </a:p>
          </p:txBody>
        </p:sp>
        <p:sp>
          <p:nvSpPr>
            <p:cNvPr id="36" name="矩形 35">
              <a:extLst>
                <a:ext uri="{FF2B5EF4-FFF2-40B4-BE49-F238E27FC236}">
                  <a16:creationId xmlns:a16="http://schemas.microsoft.com/office/drawing/2014/main" id="{D2AF898B-DA47-164D-88F3-222FE211C2E3}"/>
                </a:ext>
              </a:extLst>
            </p:cNvPr>
            <p:cNvSpPr/>
            <p:nvPr/>
          </p:nvSpPr>
          <p:spPr>
            <a:xfrm>
              <a:off x="1808967" y="6192360"/>
              <a:ext cx="1048685" cy="369332"/>
            </a:xfrm>
            <a:prstGeom prst="rect">
              <a:avLst/>
            </a:prstGeom>
          </p:spPr>
          <p:txBody>
            <a:bodyPr wrap="none">
              <a:spAutoFit/>
            </a:bodyPr>
            <a:lstStyle/>
            <a:p>
              <a:r>
                <a:rPr kumimoji="1" lang="en-US" altLang="zh-CN" dirty="0">
                  <a:latin typeface="Microsoft YaHei" panose="020B0503020204020204" pitchFamily="34" charset="-122"/>
                  <a:ea typeface="Microsoft YaHei" panose="020B0503020204020204" pitchFamily="34" charset="-122"/>
                </a:rPr>
                <a:t>SM</a:t>
              </a:r>
              <a:r>
                <a:rPr kumimoji="1" lang="en-US" altLang="zh-CN" baseline="-25000" dirty="0">
                  <a:latin typeface="Microsoft YaHei" panose="020B0503020204020204" pitchFamily="34" charset="-122"/>
                  <a:ea typeface="Microsoft YaHei" panose="020B0503020204020204" pitchFamily="34" charset="-122"/>
                </a:rPr>
                <a:t>0,2</a:t>
              </a:r>
              <a:r>
                <a:rPr kumimoji="1" lang="en-US" altLang="zh-CN" dirty="0">
                  <a:latin typeface="Microsoft YaHei" panose="020B0503020204020204" pitchFamily="34" charset="-122"/>
                  <a:ea typeface="Microsoft YaHei" panose="020B0503020204020204" pitchFamily="34" charset="-122"/>
                </a:rPr>
                <a:t>(0)</a:t>
              </a:r>
              <a:endParaRPr lang="zh-CN" altLang="en-US" dirty="0"/>
            </a:p>
          </p:txBody>
        </p:sp>
        <p:cxnSp>
          <p:nvCxnSpPr>
            <p:cNvPr id="37" name="直线箭头连接符 36">
              <a:extLst>
                <a:ext uri="{FF2B5EF4-FFF2-40B4-BE49-F238E27FC236}">
                  <a16:creationId xmlns:a16="http://schemas.microsoft.com/office/drawing/2014/main" id="{502138EB-B854-F04D-8C14-522659DDE2E3}"/>
                </a:ext>
              </a:extLst>
            </p:cNvPr>
            <p:cNvCxnSpPr>
              <a:cxnSpLocks/>
            </p:cNvCxnSpPr>
            <p:nvPr/>
          </p:nvCxnSpPr>
          <p:spPr>
            <a:xfrm flipH="1">
              <a:off x="2371589" y="5682684"/>
              <a:ext cx="1" cy="4333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38" name="组合 37">
            <a:extLst>
              <a:ext uri="{FF2B5EF4-FFF2-40B4-BE49-F238E27FC236}">
                <a16:creationId xmlns:a16="http://schemas.microsoft.com/office/drawing/2014/main" id="{C31511AF-09B6-D348-96DD-D36C7A83A738}"/>
              </a:ext>
            </a:extLst>
          </p:cNvPr>
          <p:cNvGrpSpPr/>
          <p:nvPr/>
        </p:nvGrpSpPr>
        <p:grpSpPr>
          <a:xfrm>
            <a:off x="3292767" y="5387780"/>
            <a:ext cx="1048685" cy="1344486"/>
            <a:chOff x="3052040" y="5222680"/>
            <a:chExt cx="1048685" cy="1344486"/>
          </a:xfrm>
        </p:grpSpPr>
        <p:sp>
          <p:nvSpPr>
            <p:cNvPr id="39" name="矩形 38">
              <a:extLst>
                <a:ext uri="{FF2B5EF4-FFF2-40B4-BE49-F238E27FC236}">
                  <a16:creationId xmlns:a16="http://schemas.microsoft.com/office/drawing/2014/main" id="{B1C8ED92-71CA-124A-943E-9B4236393E65}"/>
                </a:ext>
              </a:extLst>
            </p:cNvPr>
            <p:cNvSpPr/>
            <p:nvPr/>
          </p:nvSpPr>
          <p:spPr>
            <a:xfrm>
              <a:off x="3052040" y="6197834"/>
              <a:ext cx="1048685" cy="369332"/>
            </a:xfrm>
            <a:prstGeom prst="rect">
              <a:avLst/>
            </a:prstGeom>
          </p:spPr>
          <p:txBody>
            <a:bodyPr wrap="none">
              <a:spAutoFit/>
            </a:bodyPr>
            <a:lstStyle/>
            <a:p>
              <a:r>
                <a:rPr kumimoji="1" lang="en-US" altLang="zh-CN" dirty="0">
                  <a:latin typeface="Microsoft YaHei" panose="020B0503020204020204" pitchFamily="34" charset="-122"/>
                  <a:ea typeface="Microsoft YaHei" panose="020B0503020204020204" pitchFamily="34" charset="-122"/>
                </a:rPr>
                <a:t>SM</a:t>
              </a:r>
              <a:r>
                <a:rPr kumimoji="1" lang="en-US" altLang="zh-CN" baseline="-25000" dirty="0">
                  <a:latin typeface="Microsoft YaHei" panose="020B0503020204020204" pitchFamily="34" charset="-122"/>
                  <a:ea typeface="Microsoft YaHei" panose="020B0503020204020204" pitchFamily="34" charset="-122"/>
                </a:rPr>
                <a:t>0,3</a:t>
              </a:r>
              <a:r>
                <a:rPr kumimoji="1" lang="en-US" altLang="zh-CN" dirty="0">
                  <a:latin typeface="Microsoft YaHei" panose="020B0503020204020204" pitchFamily="34" charset="-122"/>
                  <a:ea typeface="Microsoft YaHei" panose="020B0503020204020204" pitchFamily="34" charset="-122"/>
                </a:rPr>
                <a:t>(0)</a:t>
              </a:r>
              <a:endParaRPr lang="zh-CN" altLang="en-US" dirty="0"/>
            </a:p>
          </p:txBody>
        </p:sp>
        <p:grpSp>
          <p:nvGrpSpPr>
            <p:cNvPr id="41" name="组合 40">
              <a:extLst>
                <a:ext uri="{FF2B5EF4-FFF2-40B4-BE49-F238E27FC236}">
                  <a16:creationId xmlns:a16="http://schemas.microsoft.com/office/drawing/2014/main" id="{F89BF608-CFFF-3F44-9CB6-FDF0E98EAD40}"/>
                </a:ext>
              </a:extLst>
            </p:cNvPr>
            <p:cNvGrpSpPr/>
            <p:nvPr/>
          </p:nvGrpSpPr>
          <p:grpSpPr>
            <a:xfrm>
              <a:off x="3383980" y="5222680"/>
              <a:ext cx="423790" cy="935590"/>
              <a:chOff x="3383980" y="5222680"/>
              <a:chExt cx="423790" cy="935590"/>
            </a:xfrm>
          </p:grpSpPr>
          <p:sp>
            <p:nvSpPr>
              <p:cNvPr id="42" name="椭圆 41">
                <a:extLst>
                  <a:ext uri="{FF2B5EF4-FFF2-40B4-BE49-F238E27FC236}">
                    <a16:creationId xmlns:a16="http://schemas.microsoft.com/office/drawing/2014/main" id="{31798F14-74CF-AD40-A25C-6C03621B1A44}"/>
                  </a:ext>
                </a:extLst>
              </p:cNvPr>
              <p:cNvSpPr/>
              <p:nvPr/>
            </p:nvSpPr>
            <p:spPr>
              <a:xfrm>
                <a:off x="3383980" y="5222680"/>
                <a:ext cx="423790" cy="462656"/>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dirty="0"/>
                  <a:t>3</a:t>
                </a:r>
                <a:endParaRPr kumimoji="1" lang="zh-CN" altLang="en-US" dirty="0"/>
              </a:p>
            </p:txBody>
          </p:sp>
          <p:cxnSp>
            <p:nvCxnSpPr>
              <p:cNvPr id="44" name="直线箭头连接符 43">
                <a:extLst>
                  <a:ext uri="{FF2B5EF4-FFF2-40B4-BE49-F238E27FC236}">
                    <a16:creationId xmlns:a16="http://schemas.microsoft.com/office/drawing/2014/main" id="{DE88518B-8533-5B42-827E-30A96CF5A90A}"/>
                  </a:ext>
                </a:extLst>
              </p:cNvPr>
              <p:cNvCxnSpPr>
                <a:cxnSpLocks/>
              </p:cNvCxnSpPr>
              <p:nvPr/>
            </p:nvCxnSpPr>
            <p:spPr>
              <a:xfrm flipH="1">
                <a:off x="3595873" y="5724899"/>
                <a:ext cx="1" cy="4333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cxnSp>
        <p:nvCxnSpPr>
          <p:cNvPr id="45" name="直线箭头连接符 44">
            <a:extLst>
              <a:ext uri="{FF2B5EF4-FFF2-40B4-BE49-F238E27FC236}">
                <a16:creationId xmlns:a16="http://schemas.microsoft.com/office/drawing/2014/main" id="{4AC5D3F6-534E-6043-9C33-F9586E4BD303}"/>
              </a:ext>
            </a:extLst>
          </p:cNvPr>
          <p:cNvCxnSpPr>
            <a:cxnSpLocks/>
          </p:cNvCxnSpPr>
          <p:nvPr/>
        </p:nvCxnSpPr>
        <p:spPr>
          <a:xfrm flipH="1">
            <a:off x="5516298" y="5896067"/>
            <a:ext cx="1" cy="4333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矩形 45">
            <a:extLst>
              <a:ext uri="{FF2B5EF4-FFF2-40B4-BE49-F238E27FC236}">
                <a16:creationId xmlns:a16="http://schemas.microsoft.com/office/drawing/2014/main" id="{361C3866-1D5C-F743-8405-DA993A798014}"/>
              </a:ext>
            </a:extLst>
          </p:cNvPr>
          <p:cNvSpPr/>
          <p:nvPr/>
        </p:nvSpPr>
        <p:spPr>
          <a:xfrm>
            <a:off x="6933576" y="4073930"/>
            <a:ext cx="1146468" cy="400110"/>
          </a:xfrm>
          <a:prstGeom prst="rect">
            <a:avLst/>
          </a:prstGeom>
        </p:spPr>
        <p:txBody>
          <a:bodyPr wrap="none">
            <a:spAutoFit/>
          </a:bodyPr>
          <a:lstStyle/>
          <a:p>
            <a:r>
              <a:rPr kumimoji="1" lang="en-US" altLang="zh-CN" sz="2000" dirty="0">
                <a:latin typeface="Microsoft YaHei" panose="020B0503020204020204" pitchFamily="34" charset="-122"/>
                <a:ea typeface="Microsoft YaHei" panose="020B0503020204020204" pitchFamily="34" charset="-122"/>
              </a:rPr>
              <a:t>SM</a:t>
            </a:r>
            <a:r>
              <a:rPr kumimoji="1" lang="en-US" altLang="zh-CN" sz="2000" baseline="-25000" dirty="0">
                <a:latin typeface="Microsoft YaHei" panose="020B0503020204020204" pitchFamily="34" charset="-122"/>
                <a:ea typeface="Microsoft YaHei" panose="020B0503020204020204" pitchFamily="34" charset="-122"/>
              </a:rPr>
              <a:t>0,1</a:t>
            </a:r>
            <a:r>
              <a:rPr kumimoji="1" lang="en-US" altLang="zh-CN" sz="2000" dirty="0">
                <a:latin typeface="Microsoft YaHei" panose="020B0503020204020204" pitchFamily="34" charset="-122"/>
                <a:ea typeface="Microsoft YaHei" panose="020B0503020204020204" pitchFamily="34" charset="-122"/>
              </a:rPr>
              <a:t>(0)</a:t>
            </a:r>
            <a:endParaRPr lang="zh-CN" altLang="en-US" sz="2000" dirty="0"/>
          </a:p>
        </p:txBody>
      </p:sp>
      <p:sp>
        <p:nvSpPr>
          <p:cNvPr id="47" name="椭圆 46">
            <a:extLst>
              <a:ext uri="{FF2B5EF4-FFF2-40B4-BE49-F238E27FC236}">
                <a16:creationId xmlns:a16="http://schemas.microsoft.com/office/drawing/2014/main" id="{A2F897B9-D2C5-9040-92F3-8FA99258DA9B}"/>
              </a:ext>
            </a:extLst>
          </p:cNvPr>
          <p:cNvSpPr/>
          <p:nvPr/>
        </p:nvSpPr>
        <p:spPr>
          <a:xfrm>
            <a:off x="8850392" y="4084316"/>
            <a:ext cx="426118" cy="465199"/>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dirty="0"/>
              <a:t>1</a:t>
            </a:r>
            <a:endParaRPr kumimoji="1" lang="zh-CN" altLang="en-US" dirty="0"/>
          </a:p>
        </p:txBody>
      </p:sp>
      <p:cxnSp>
        <p:nvCxnSpPr>
          <p:cNvPr id="48" name="直线箭头连接符 47">
            <a:extLst>
              <a:ext uri="{FF2B5EF4-FFF2-40B4-BE49-F238E27FC236}">
                <a16:creationId xmlns:a16="http://schemas.microsoft.com/office/drawing/2014/main" id="{9338C40F-1355-9741-AE24-9F3EE2B05031}"/>
              </a:ext>
            </a:extLst>
          </p:cNvPr>
          <p:cNvCxnSpPr>
            <a:cxnSpLocks/>
            <a:stCxn id="47" idx="3"/>
            <a:endCxn id="56" idx="0"/>
          </p:cNvCxnSpPr>
          <p:nvPr/>
        </p:nvCxnSpPr>
        <p:spPr>
          <a:xfrm flipH="1">
            <a:off x="7319762" y="4481388"/>
            <a:ext cx="1593034" cy="9511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直线箭头连接符 48">
            <a:extLst>
              <a:ext uri="{FF2B5EF4-FFF2-40B4-BE49-F238E27FC236}">
                <a16:creationId xmlns:a16="http://schemas.microsoft.com/office/drawing/2014/main" id="{AF025F06-2405-0747-A987-DB1300261100}"/>
              </a:ext>
            </a:extLst>
          </p:cNvPr>
          <p:cNvCxnSpPr>
            <a:cxnSpLocks/>
            <a:stCxn id="47" idx="4"/>
            <a:endCxn id="60" idx="0"/>
          </p:cNvCxnSpPr>
          <p:nvPr/>
        </p:nvCxnSpPr>
        <p:spPr>
          <a:xfrm>
            <a:off x="9063451" y="4549515"/>
            <a:ext cx="27896" cy="8830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直线箭头连接符 49">
            <a:extLst>
              <a:ext uri="{FF2B5EF4-FFF2-40B4-BE49-F238E27FC236}">
                <a16:creationId xmlns:a16="http://schemas.microsoft.com/office/drawing/2014/main" id="{73DB587D-15E6-A448-A78C-F4D30A817C09}"/>
              </a:ext>
            </a:extLst>
          </p:cNvPr>
          <p:cNvCxnSpPr>
            <a:cxnSpLocks/>
            <a:stCxn id="47" idx="5"/>
            <a:endCxn id="64" idx="0"/>
          </p:cNvCxnSpPr>
          <p:nvPr/>
        </p:nvCxnSpPr>
        <p:spPr>
          <a:xfrm>
            <a:off x="9214106" y="4481388"/>
            <a:ext cx="1608095" cy="9511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矩形 53">
            <a:extLst>
              <a:ext uri="{FF2B5EF4-FFF2-40B4-BE49-F238E27FC236}">
                <a16:creationId xmlns:a16="http://schemas.microsoft.com/office/drawing/2014/main" id="{4E344AC1-2DB5-4045-B9B4-B5D5F623E876}"/>
              </a:ext>
            </a:extLst>
          </p:cNvPr>
          <p:cNvSpPr/>
          <p:nvPr/>
        </p:nvSpPr>
        <p:spPr>
          <a:xfrm>
            <a:off x="9811045" y="5411646"/>
            <a:ext cx="434734" cy="461665"/>
          </a:xfrm>
          <a:prstGeom prst="rect">
            <a:avLst/>
          </a:prstGeom>
        </p:spPr>
        <p:txBody>
          <a:bodyPr wrap="none">
            <a:spAutoFit/>
          </a:bodyPr>
          <a:lstStyle/>
          <a:p>
            <a:r>
              <a:rPr kumimoji="1" lang="en-US" altLang="zh-CN" sz="2400" dirty="0">
                <a:latin typeface="Microsoft YaHei" panose="020B0503020204020204" pitchFamily="34" charset="-122"/>
                <a:ea typeface="Microsoft YaHei" panose="020B0503020204020204" pitchFamily="34" charset="-122"/>
              </a:rPr>
              <a:t>…</a:t>
            </a:r>
            <a:endParaRPr lang="zh-CN" altLang="en-US" sz="2400" dirty="0"/>
          </a:p>
        </p:txBody>
      </p:sp>
      <p:sp>
        <p:nvSpPr>
          <p:cNvPr id="56" name="椭圆 55">
            <a:extLst>
              <a:ext uri="{FF2B5EF4-FFF2-40B4-BE49-F238E27FC236}">
                <a16:creationId xmlns:a16="http://schemas.microsoft.com/office/drawing/2014/main" id="{CB4A3D82-EC36-1644-BBB8-3973078D741B}"/>
              </a:ext>
            </a:extLst>
          </p:cNvPr>
          <p:cNvSpPr/>
          <p:nvPr/>
        </p:nvSpPr>
        <p:spPr>
          <a:xfrm>
            <a:off x="7106703" y="5432583"/>
            <a:ext cx="426118" cy="465199"/>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dirty="0"/>
              <a:t>2</a:t>
            </a:r>
            <a:endParaRPr kumimoji="1" lang="zh-CN" altLang="en-US" dirty="0"/>
          </a:p>
        </p:txBody>
      </p:sp>
      <p:sp>
        <p:nvSpPr>
          <p:cNvPr id="60" name="椭圆 59">
            <a:extLst>
              <a:ext uri="{FF2B5EF4-FFF2-40B4-BE49-F238E27FC236}">
                <a16:creationId xmlns:a16="http://schemas.microsoft.com/office/drawing/2014/main" id="{4FC9F30A-E971-8743-9571-5D468FC61350}"/>
              </a:ext>
            </a:extLst>
          </p:cNvPr>
          <p:cNvSpPr/>
          <p:nvPr/>
        </p:nvSpPr>
        <p:spPr>
          <a:xfrm>
            <a:off x="8878288" y="5432583"/>
            <a:ext cx="426118" cy="465199"/>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CN" dirty="0"/>
              <a:t>3</a:t>
            </a:r>
            <a:endParaRPr kumimoji="1" lang="zh-CN" altLang="en-US" dirty="0"/>
          </a:p>
        </p:txBody>
      </p:sp>
      <p:sp>
        <p:nvSpPr>
          <p:cNvPr id="64" name="椭圆 63">
            <a:extLst>
              <a:ext uri="{FF2B5EF4-FFF2-40B4-BE49-F238E27FC236}">
                <a16:creationId xmlns:a16="http://schemas.microsoft.com/office/drawing/2014/main" id="{8367A299-2517-4A41-935A-48F242681D4B}"/>
              </a:ext>
            </a:extLst>
          </p:cNvPr>
          <p:cNvSpPr/>
          <p:nvPr/>
        </p:nvSpPr>
        <p:spPr>
          <a:xfrm>
            <a:off x="10609142" y="5432581"/>
            <a:ext cx="426118" cy="465199"/>
          </a:xfrm>
          <a:prstGeom prst="ellipse">
            <a:avLst/>
          </a:prstGeom>
          <a:solidFill>
            <a:srgbClr val="92D05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dirty="0">
              <a:solidFill>
                <a:schemeClr val="tx1"/>
              </a:solidFill>
            </a:endParaRPr>
          </a:p>
        </p:txBody>
      </p:sp>
      <p:sp>
        <p:nvSpPr>
          <p:cNvPr id="67" name="文本框 66">
            <a:extLst>
              <a:ext uri="{FF2B5EF4-FFF2-40B4-BE49-F238E27FC236}">
                <a16:creationId xmlns:a16="http://schemas.microsoft.com/office/drawing/2014/main" id="{9C5F5B1B-0ACA-3B44-BED7-48206FBC344F}"/>
              </a:ext>
            </a:extLst>
          </p:cNvPr>
          <p:cNvSpPr txBox="1"/>
          <p:nvPr/>
        </p:nvSpPr>
        <p:spPr>
          <a:xfrm>
            <a:off x="2789463" y="4721518"/>
            <a:ext cx="667903" cy="369332"/>
          </a:xfrm>
          <a:prstGeom prst="rect">
            <a:avLst/>
          </a:prstGeom>
          <a:noFill/>
        </p:spPr>
        <p:txBody>
          <a:bodyPr wrap="square" rtlCol="0">
            <a:spAutoFit/>
          </a:bodyPr>
          <a:lstStyle/>
          <a:p>
            <a:r>
              <a:rPr kumimoji="1" lang="en-US" altLang="zh-CN" dirty="0"/>
              <a:t>A:0</a:t>
            </a:r>
          </a:p>
        </p:txBody>
      </p:sp>
      <p:sp>
        <p:nvSpPr>
          <p:cNvPr id="68" name="文本框 67">
            <a:extLst>
              <a:ext uri="{FF2B5EF4-FFF2-40B4-BE49-F238E27FC236}">
                <a16:creationId xmlns:a16="http://schemas.microsoft.com/office/drawing/2014/main" id="{F6CCF723-F3F7-2B44-B436-D335711C6325}"/>
              </a:ext>
            </a:extLst>
          </p:cNvPr>
          <p:cNvSpPr txBox="1"/>
          <p:nvPr/>
        </p:nvSpPr>
        <p:spPr>
          <a:xfrm>
            <a:off x="3509600" y="4721518"/>
            <a:ext cx="667903" cy="369332"/>
          </a:xfrm>
          <a:prstGeom prst="rect">
            <a:avLst/>
          </a:prstGeom>
          <a:noFill/>
        </p:spPr>
        <p:txBody>
          <a:bodyPr wrap="square" rtlCol="0">
            <a:spAutoFit/>
          </a:bodyPr>
          <a:lstStyle/>
          <a:p>
            <a:r>
              <a:rPr kumimoji="1" lang="en-US" altLang="zh-CN" dirty="0"/>
              <a:t>A:0</a:t>
            </a:r>
          </a:p>
        </p:txBody>
      </p:sp>
      <p:sp>
        <p:nvSpPr>
          <p:cNvPr id="69" name="文本框 68">
            <a:extLst>
              <a:ext uri="{FF2B5EF4-FFF2-40B4-BE49-F238E27FC236}">
                <a16:creationId xmlns:a16="http://schemas.microsoft.com/office/drawing/2014/main" id="{C7A95BFC-0AB6-5640-BB50-1667017F403F}"/>
              </a:ext>
            </a:extLst>
          </p:cNvPr>
          <p:cNvSpPr txBox="1"/>
          <p:nvPr/>
        </p:nvSpPr>
        <p:spPr>
          <a:xfrm>
            <a:off x="4273973" y="4530456"/>
            <a:ext cx="667903" cy="369332"/>
          </a:xfrm>
          <a:prstGeom prst="rect">
            <a:avLst/>
          </a:prstGeom>
          <a:noFill/>
        </p:spPr>
        <p:txBody>
          <a:bodyPr wrap="square" rtlCol="0">
            <a:spAutoFit/>
          </a:bodyPr>
          <a:lstStyle/>
          <a:p>
            <a:r>
              <a:rPr kumimoji="1" lang="en-US" altLang="zh-CN" dirty="0"/>
              <a:t>A:0</a:t>
            </a:r>
          </a:p>
        </p:txBody>
      </p:sp>
      <p:sp>
        <p:nvSpPr>
          <p:cNvPr id="70" name="文本框 69">
            <a:extLst>
              <a:ext uri="{FF2B5EF4-FFF2-40B4-BE49-F238E27FC236}">
                <a16:creationId xmlns:a16="http://schemas.microsoft.com/office/drawing/2014/main" id="{268C4A8C-401F-064F-8B90-6CF001E5E92D}"/>
              </a:ext>
            </a:extLst>
          </p:cNvPr>
          <p:cNvSpPr txBox="1"/>
          <p:nvPr/>
        </p:nvSpPr>
        <p:spPr>
          <a:xfrm>
            <a:off x="7447759" y="4630426"/>
            <a:ext cx="767371" cy="369332"/>
          </a:xfrm>
          <a:prstGeom prst="rect">
            <a:avLst/>
          </a:prstGeom>
          <a:noFill/>
        </p:spPr>
        <p:txBody>
          <a:bodyPr wrap="square" rtlCol="0">
            <a:spAutoFit/>
          </a:bodyPr>
          <a:lstStyle/>
          <a:p>
            <a:r>
              <a:rPr kumimoji="1" lang="en-US" altLang="zh-CN" dirty="0"/>
              <a:t>A:0:1</a:t>
            </a:r>
          </a:p>
        </p:txBody>
      </p:sp>
      <p:sp>
        <p:nvSpPr>
          <p:cNvPr id="71" name="文本框 70">
            <a:extLst>
              <a:ext uri="{FF2B5EF4-FFF2-40B4-BE49-F238E27FC236}">
                <a16:creationId xmlns:a16="http://schemas.microsoft.com/office/drawing/2014/main" id="{ACC0A939-4B20-2C47-856B-52AD110B13F8}"/>
              </a:ext>
            </a:extLst>
          </p:cNvPr>
          <p:cNvSpPr txBox="1"/>
          <p:nvPr/>
        </p:nvSpPr>
        <p:spPr>
          <a:xfrm>
            <a:off x="8426140" y="4746896"/>
            <a:ext cx="732174" cy="369332"/>
          </a:xfrm>
          <a:prstGeom prst="rect">
            <a:avLst/>
          </a:prstGeom>
          <a:noFill/>
        </p:spPr>
        <p:txBody>
          <a:bodyPr wrap="square" rtlCol="0">
            <a:spAutoFit/>
          </a:bodyPr>
          <a:lstStyle/>
          <a:p>
            <a:r>
              <a:rPr kumimoji="1" lang="en-US" altLang="zh-CN" dirty="0"/>
              <a:t>A:0:1</a:t>
            </a:r>
          </a:p>
        </p:txBody>
      </p:sp>
      <p:sp>
        <p:nvSpPr>
          <p:cNvPr id="72" name="文本框 71">
            <a:extLst>
              <a:ext uri="{FF2B5EF4-FFF2-40B4-BE49-F238E27FC236}">
                <a16:creationId xmlns:a16="http://schemas.microsoft.com/office/drawing/2014/main" id="{7C8002B5-2FEF-EC49-9BE7-C663F75D63BF}"/>
              </a:ext>
            </a:extLst>
          </p:cNvPr>
          <p:cNvSpPr txBox="1"/>
          <p:nvPr/>
        </p:nvSpPr>
        <p:spPr>
          <a:xfrm>
            <a:off x="9957084" y="4565112"/>
            <a:ext cx="865117" cy="369332"/>
          </a:xfrm>
          <a:prstGeom prst="rect">
            <a:avLst/>
          </a:prstGeom>
          <a:noFill/>
        </p:spPr>
        <p:txBody>
          <a:bodyPr wrap="square" rtlCol="0">
            <a:spAutoFit/>
          </a:bodyPr>
          <a:lstStyle/>
          <a:p>
            <a:r>
              <a:rPr kumimoji="1" lang="en-US" altLang="zh-CN" dirty="0"/>
              <a:t>A:0:1</a:t>
            </a:r>
          </a:p>
        </p:txBody>
      </p:sp>
      <p:sp>
        <p:nvSpPr>
          <p:cNvPr id="73" name="矩形 72">
            <a:extLst>
              <a:ext uri="{FF2B5EF4-FFF2-40B4-BE49-F238E27FC236}">
                <a16:creationId xmlns:a16="http://schemas.microsoft.com/office/drawing/2014/main" id="{76B5B674-B165-724E-9194-607BBF94E11D}"/>
              </a:ext>
            </a:extLst>
          </p:cNvPr>
          <p:cNvSpPr/>
          <p:nvPr/>
        </p:nvSpPr>
        <p:spPr>
          <a:xfrm>
            <a:off x="5260533" y="5438816"/>
            <a:ext cx="556563" cy="369332"/>
          </a:xfrm>
          <a:prstGeom prst="rect">
            <a:avLst/>
          </a:prstGeom>
        </p:spPr>
        <p:txBody>
          <a:bodyPr wrap="none">
            <a:spAutoFit/>
          </a:bodyPr>
          <a:lstStyle/>
          <a:p>
            <a:pPr algn="ctr"/>
            <a:r>
              <a:rPr kumimoji="1" lang="en-US" altLang="zh-CN" dirty="0"/>
              <a:t>N-1</a:t>
            </a:r>
            <a:endParaRPr kumimoji="1" lang="zh-CN" altLang="en-US" dirty="0"/>
          </a:p>
        </p:txBody>
      </p:sp>
      <p:sp>
        <p:nvSpPr>
          <p:cNvPr id="74" name="矩形 73">
            <a:extLst>
              <a:ext uri="{FF2B5EF4-FFF2-40B4-BE49-F238E27FC236}">
                <a16:creationId xmlns:a16="http://schemas.microsoft.com/office/drawing/2014/main" id="{AFB7725E-0EB1-0C40-92CF-BAEDA6C540F4}"/>
              </a:ext>
            </a:extLst>
          </p:cNvPr>
          <p:cNvSpPr/>
          <p:nvPr/>
        </p:nvSpPr>
        <p:spPr>
          <a:xfrm>
            <a:off x="10581045" y="5480514"/>
            <a:ext cx="556563" cy="369332"/>
          </a:xfrm>
          <a:prstGeom prst="rect">
            <a:avLst/>
          </a:prstGeom>
        </p:spPr>
        <p:txBody>
          <a:bodyPr wrap="none">
            <a:spAutoFit/>
          </a:bodyPr>
          <a:lstStyle/>
          <a:p>
            <a:pPr algn="ctr"/>
            <a:r>
              <a:rPr kumimoji="1" lang="en-US" altLang="zh-CN" dirty="0"/>
              <a:t>N-1</a:t>
            </a:r>
            <a:endParaRPr kumimoji="1" lang="zh-CN" altLang="en-US" dirty="0"/>
          </a:p>
        </p:txBody>
      </p:sp>
      <p:sp>
        <p:nvSpPr>
          <p:cNvPr id="51" name="灯片编号占位符 2">
            <a:extLst>
              <a:ext uri="{FF2B5EF4-FFF2-40B4-BE49-F238E27FC236}">
                <a16:creationId xmlns:a16="http://schemas.microsoft.com/office/drawing/2014/main" id="{9A98C179-7577-3747-8AD4-437AD50AFB2B}"/>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114</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5366610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kumimoji="1" lang="zh-CN" altLang="en-US" dirty="0"/>
              <a:t>實例分析</a:t>
            </a:r>
            <a:r>
              <a:rPr kumimoji="1" lang="en-US" altLang="zh-CN" dirty="0"/>
              <a:t>:</a:t>
            </a:r>
            <a:r>
              <a:rPr kumimoji="1" lang="zh-CN" altLang="en-US" dirty="0"/>
              <a:t> </a:t>
            </a:r>
            <a:r>
              <a:rPr kumimoji="1" lang="en-US" altLang="zh-CN" dirty="0"/>
              <a:t>3</a:t>
            </a:r>
            <a:r>
              <a:rPr kumimoji="1" lang="zh-CN" altLang="en-US" dirty="0"/>
              <a:t>將軍</a:t>
            </a:r>
            <a:r>
              <a:rPr kumimoji="1" lang="en-US" altLang="zh-CN" dirty="0"/>
              <a:t>1</a:t>
            </a:r>
            <a:r>
              <a:rPr kumimoji="1" lang="zh-CN" altLang="en-US" dirty="0"/>
              <a:t>叛徒</a:t>
            </a:r>
            <a:endParaRPr kumimoji="1" lang="zh-CN" altLang="en-US" sz="4000" dirty="0"/>
          </a:p>
        </p:txBody>
      </p:sp>
      <p:sp>
        <p:nvSpPr>
          <p:cNvPr id="35" name="内容占位符 3">
            <a:extLst>
              <a:ext uri="{FF2B5EF4-FFF2-40B4-BE49-F238E27FC236}">
                <a16:creationId xmlns:a16="http://schemas.microsoft.com/office/drawing/2014/main" id="{7628C728-621C-A146-A7EC-392E4FD26305}"/>
              </a:ext>
            </a:extLst>
          </p:cNvPr>
          <p:cNvSpPr txBox="1">
            <a:spLocks/>
          </p:cNvSpPr>
          <p:nvPr/>
        </p:nvSpPr>
        <p:spPr>
          <a:xfrm>
            <a:off x="776533" y="1169653"/>
            <a:ext cx="10710618" cy="2543313"/>
          </a:xfrm>
          <a:prstGeom prst="rect">
            <a:avLst/>
          </a:prstGeom>
          <a:ln>
            <a:solidFill>
              <a:srgbClr val="00B0F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3600"/>
              </a:lnSpc>
            </a:pPr>
            <a:r>
              <a:rPr kumimoji="1" lang="zh-CN" altLang="en-US" sz="2400" dirty="0">
                <a:latin typeface="Microsoft YaHei" panose="020B0503020204020204" pitchFamily="34" charset="-122"/>
                <a:ea typeface="Microsoft YaHei" panose="020B0503020204020204" pitchFamily="34" charset="-122"/>
              </a:rPr>
              <a:t>如果將軍是忠誠的，副官無法僞造信息，因此副官</a:t>
            </a:r>
            <a:r>
              <a:rPr kumimoji="1" lang="en-US" altLang="zh-CN" sz="2400" dirty="0">
                <a:latin typeface="Microsoft YaHei" panose="020B0503020204020204" pitchFamily="34" charset="-122"/>
                <a:ea typeface="Microsoft YaHei" panose="020B0503020204020204" pitchFamily="34" charset="-122"/>
              </a:rPr>
              <a:t>2</a:t>
            </a:r>
            <a:r>
              <a:rPr kumimoji="1" lang="zh-CN" altLang="en-US" sz="2400" dirty="0">
                <a:latin typeface="Microsoft YaHei" panose="020B0503020204020204" pitchFamily="34" charset="-122"/>
                <a:ea typeface="Microsoft YaHei" panose="020B0503020204020204" pitchFamily="34" charset="-122"/>
              </a:rPr>
              <a:t>只能發送將軍的原指令；且無論副官</a:t>
            </a:r>
            <a:r>
              <a:rPr kumimoji="1" lang="en-US" altLang="zh-CN" sz="2400" dirty="0">
                <a:latin typeface="Microsoft YaHei" panose="020B0503020204020204" pitchFamily="34" charset="-122"/>
                <a:ea typeface="Microsoft YaHei" panose="020B0503020204020204" pitchFamily="34" charset="-122"/>
              </a:rPr>
              <a:t>2</a:t>
            </a:r>
            <a:r>
              <a:rPr kumimoji="1" lang="zh-CN" altLang="en-US" sz="2400" dirty="0">
                <a:latin typeface="Microsoft YaHei" panose="020B0503020204020204" pitchFamily="34" charset="-122"/>
                <a:ea typeface="Microsoft YaHei" panose="020B0503020204020204" pitchFamily="34" charset="-122"/>
              </a:rPr>
              <a:t>是否發送指令，副官</a:t>
            </a:r>
            <a:r>
              <a:rPr kumimoji="1" lang="en-US" altLang="zh-CN" sz="2400" dirty="0">
                <a:latin typeface="Microsoft YaHei" panose="020B0503020204020204" pitchFamily="34" charset="-122"/>
                <a:ea typeface="Microsoft YaHei" panose="020B0503020204020204" pitchFamily="34" charset="-122"/>
              </a:rPr>
              <a:t>1</a:t>
            </a:r>
            <a:r>
              <a:rPr kumimoji="1" lang="zh-CN" altLang="en-US" sz="2400" dirty="0">
                <a:latin typeface="Microsoft YaHei" panose="020B0503020204020204" pitchFamily="34" charset="-122"/>
                <a:ea typeface="Microsoft YaHei" panose="020B0503020204020204" pitchFamily="34" charset="-122"/>
              </a:rPr>
              <a:t>都將收到兩個指令</a:t>
            </a:r>
            <a:r>
              <a:rPr kumimoji="1" lang="en-US" altLang="zh-CN" sz="2400" dirty="0">
                <a:latin typeface="Microsoft YaHei" panose="020B0503020204020204" pitchFamily="34" charset="-122"/>
                <a:ea typeface="Microsoft YaHei" panose="020B0503020204020204" pitchFamily="34" charset="-122"/>
              </a:rPr>
              <a:t>A</a:t>
            </a:r>
            <a:r>
              <a:rPr kumimoji="1" lang="zh-CN" altLang="en-US" sz="2400" dirty="0">
                <a:latin typeface="Microsoft YaHei" panose="020B0503020204020204" pitchFamily="34" charset="-122"/>
                <a:ea typeface="Microsoft YaHei" panose="020B0503020204020204" pitchFamily="34" charset="-122"/>
              </a:rPr>
              <a:t>（自己和將軍的）</a:t>
            </a:r>
            <a:r>
              <a:rPr kumimoji="1" lang="en-US" altLang="zh-CN" sz="2400" dirty="0">
                <a:latin typeface="Microsoft YaHei" panose="020B0503020204020204" pitchFamily="34" charset="-122"/>
                <a:ea typeface="Microsoft YaHei" panose="020B0503020204020204" pitchFamily="34" charset="-122"/>
              </a:rPr>
              <a:t>,</a:t>
            </a:r>
            <a:r>
              <a:rPr kumimoji="1" lang="zh-CN" altLang="en-US" sz="2400" dirty="0">
                <a:latin typeface="Microsoft YaHei" panose="020B0503020204020204" pitchFamily="34" charset="-122"/>
                <a:ea typeface="Microsoft YaHei" panose="020B0503020204020204" pitchFamily="34" charset="-122"/>
              </a:rPr>
              <a:t>然後執行</a:t>
            </a:r>
            <a:r>
              <a:rPr kumimoji="1" lang="en-US" altLang="zh-CN" sz="2400" dirty="0">
                <a:latin typeface="Microsoft YaHei" panose="020B0503020204020204" pitchFamily="34" charset="-122"/>
                <a:ea typeface="Microsoft YaHei" panose="020B0503020204020204" pitchFamily="34" charset="-122"/>
              </a:rPr>
              <a:t>A</a:t>
            </a:r>
            <a:r>
              <a:rPr kumimoji="1" lang="zh-CN" altLang="en-US" sz="2400" dirty="0">
                <a:latin typeface="Microsoft YaHei" panose="020B0503020204020204" pitchFamily="34" charset="-122"/>
                <a:ea typeface="Microsoft YaHei" panose="020B0503020204020204" pitchFamily="34" charset="-122"/>
              </a:rPr>
              <a:t>，和將軍一樣；</a:t>
            </a:r>
            <a:endParaRPr kumimoji="1" lang="en-US" altLang="zh-CN" sz="2400" dirty="0">
              <a:latin typeface="Microsoft YaHei" panose="020B0503020204020204" pitchFamily="34" charset="-122"/>
              <a:ea typeface="Microsoft YaHei" panose="020B0503020204020204" pitchFamily="34" charset="-122"/>
            </a:endParaRPr>
          </a:p>
          <a:p>
            <a:pPr>
              <a:lnSpc>
                <a:spcPts val="3600"/>
              </a:lnSpc>
            </a:pPr>
            <a:r>
              <a:rPr kumimoji="1" lang="zh-CN" altLang="en-US" sz="2400" dirty="0">
                <a:latin typeface="Microsoft YaHei" panose="020B0503020204020204" pitchFamily="34" charset="-122"/>
                <a:ea typeface="Microsoft YaHei" panose="020B0503020204020204" pitchFamily="34" charset="-122"/>
              </a:rPr>
              <a:t>如果將軍是叛徒，若將軍發送不同指令，副官通信之後，收到的消息都爲</a:t>
            </a:r>
            <a:r>
              <a:rPr kumimoji="1" lang="en-US" altLang="zh-CN" sz="2400" dirty="0">
                <a:latin typeface="Microsoft YaHei" panose="020B0503020204020204" pitchFamily="34" charset="-122"/>
                <a:ea typeface="Microsoft YaHei" panose="020B0503020204020204" pitchFamily="34" charset="-122"/>
              </a:rPr>
              <a:t>{A:0, B:0}</a:t>
            </a:r>
            <a:r>
              <a:rPr kumimoji="1" lang="zh-CN" altLang="en-US" sz="2400" dirty="0">
                <a:latin typeface="Microsoft YaHei" panose="020B0503020204020204" pitchFamily="34" charset="-122"/>
                <a:ea typeface="Microsoft YaHei" panose="020B0503020204020204" pitchFamily="34" charset="-122"/>
              </a:rPr>
              <a:t>，驗證簽名後則發現將軍叛變了，副官最終選擇撤退</a:t>
            </a:r>
          </a:p>
          <a:p>
            <a:pPr>
              <a:lnSpc>
                <a:spcPts val="3600"/>
              </a:lnSpc>
              <a:spcBef>
                <a:spcPts val="0"/>
              </a:spcBef>
            </a:pPr>
            <a:endParaRPr kumimoji="1" lang="en-US" altLang="zh-CN" sz="2400" dirty="0">
              <a:latin typeface="Microsoft YaHei" panose="020B0503020204020204" pitchFamily="34" charset="-122"/>
              <a:ea typeface="Microsoft YaHei" panose="020B0503020204020204" pitchFamily="34" charset="-122"/>
            </a:endParaRPr>
          </a:p>
        </p:txBody>
      </p:sp>
      <p:sp>
        <p:nvSpPr>
          <p:cNvPr id="27" name="灯片编号占位符 2">
            <a:extLst>
              <a:ext uri="{FF2B5EF4-FFF2-40B4-BE49-F238E27FC236}">
                <a16:creationId xmlns:a16="http://schemas.microsoft.com/office/drawing/2014/main" id="{6E11AB5A-F594-F440-AAB5-150AD2ABE9CB}"/>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115</a:t>
            </a:fld>
            <a:endParaRPr lang="zh-CN" altLang="en-US" sz="1200" dirty="0">
              <a:solidFill>
                <a:srgbClr val="000000">
                  <a:tint val="75000"/>
                </a:srgbClr>
              </a:solidFill>
              <a:latin typeface="Comic Sans MS"/>
              <a:ea typeface="微软雅黑 Light"/>
            </a:endParaRPr>
          </a:p>
        </p:txBody>
      </p:sp>
      <p:pic>
        <p:nvPicPr>
          <p:cNvPr id="4" name="图片 3">
            <a:extLst>
              <a:ext uri="{FF2B5EF4-FFF2-40B4-BE49-F238E27FC236}">
                <a16:creationId xmlns:a16="http://schemas.microsoft.com/office/drawing/2014/main" id="{7E821D4B-42B4-E944-8057-F9597723E9B8}"/>
              </a:ext>
            </a:extLst>
          </p:cNvPr>
          <p:cNvPicPr>
            <a:picLocks noChangeAspect="1"/>
          </p:cNvPicPr>
          <p:nvPr/>
        </p:nvPicPr>
        <p:blipFill>
          <a:blip r:embed="rId2"/>
          <a:stretch>
            <a:fillRect/>
          </a:stretch>
        </p:blipFill>
        <p:spPr>
          <a:xfrm>
            <a:off x="800100" y="3862820"/>
            <a:ext cx="10629900" cy="2496416"/>
          </a:xfrm>
          <a:prstGeom prst="rect">
            <a:avLst/>
          </a:prstGeom>
        </p:spPr>
      </p:pic>
    </p:spTree>
    <p:extLst>
      <p:ext uri="{BB962C8B-B14F-4D97-AF65-F5344CB8AC3E}">
        <p14:creationId xmlns:p14="http://schemas.microsoft.com/office/powerpoint/2010/main" val="369432345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kumimoji="1" lang="en-US" altLang="zh-CN" sz="4000" dirty="0"/>
              <a:t>2m+1</a:t>
            </a:r>
            <a:r>
              <a:rPr kumimoji="1" lang="zh-CN" altLang="en-US" sz="4000" dirty="0"/>
              <a:t>將軍</a:t>
            </a:r>
            <a:r>
              <a:rPr kumimoji="1" lang="en-US" altLang="zh-CN" sz="4000" dirty="0"/>
              <a:t>m</a:t>
            </a:r>
            <a:r>
              <a:rPr kumimoji="1" lang="zh-CN" altLang="en-US" sz="4000" dirty="0"/>
              <a:t>叛徒分析</a:t>
            </a:r>
          </a:p>
        </p:txBody>
      </p:sp>
      <p:grpSp>
        <p:nvGrpSpPr>
          <p:cNvPr id="30" name="组合 29">
            <a:extLst>
              <a:ext uri="{FF2B5EF4-FFF2-40B4-BE49-F238E27FC236}">
                <a16:creationId xmlns:a16="http://schemas.microsoft.com/office/drawing/2014/main" id="{2F1EB4A3-008F-4B4F-AF65-3DE08D1F7E15}"/>
              </a:ext>
            </a:extLst>
          </p:cNvPr>
          <p:cNvGrpSpPr/>
          <p:nvPr/>
        </p:nvGrpSpPr>
        <p:grpSpPr>
          <a:xfrm>
            <a:off x="716781" y="1210615"/>
            <a:ext cx="10657813" cy="1602580"/>
            <a:chOff x="978795" y="1022889"/>
            <a:chExt cx="10657813" cy="1192278"/>
          </a:xfrm>
        </p:grpSpPr>
        <p:sp>
          <p:nvSpPr>
            <p:cNvPr id="31" name="矩形 30">
              <a:extLst>
                <a:ext uri="{FF2B5EF4-FFF2-40B4-BE49-F238E27FC236}">
                  <a16:creationId xmlns:a16="http://schemas.microsoft.com/office/drawing/2014/main" id="{33ABFFC2-4BE4-3341-8C54-77A19DEEC36D}"/>
                </a:ext>
              </a:extLst>
            </p:cNvPr>
            <p:cNvSpPr/>
            <p:nvPr/>
          </p:nvSpPr>
          <p:spPr bwMode="auto">
            <a:xfrm>
              <a:off x="978795" y="1022889"/>
              <a:ext cx="10657813" cy="1192277"/>
            </a:xfrm>
            <a:prstGeom prst="rect">
              <a:avLst/>
            </a:prstGeom>
            <a:solidFill>
              <a:srgbClr val="FFFFFF"/>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defRPr/>
              </a:pPr>
              <a:endParaRPr lang="en-US" sz="1600" kern="0"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32" name="内容占位符 2">
              <a:extLst>
                <a:ext uri="{FF2B5EF4-FFF2-40B4-BE49-F238E27FC236}">
                  <a16:creationId xmlns:a16="http://schemas.microsoft.com/office/drawing/2014/main" id="{F8037581-7A39-ED42-B0D7-5E12D31F594D}"/>
                </a:ext>
              </a:extLst>
            </p:cNvPr>
            <p:cNvSpPr txBox="1"/>
            <p:nvPr/>
          </p:nvSpPr>
          <p:spPr>
            <a:xfrm>
              <a:off x="1105618" y="1065083"/>
              <a:ext cx="10395216" cy="115008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3600"/>
                </a:lnSpc>
                <a:spcBef>
                  <a:spcPts val="0"/>
                </a:spcBef>
              </a:pPr>
              <a:r>
                <a:rPr kumimoji="1" lang="zh-CN" altLang="en-US" sz="2400" dirty="0">
                  <a:latin typeface="Microsoft YaHei" panose="020B0503020204020204" pitchFamily="34" charset="-122"/>
                  <a:ea typeface="Microsoft YaHei" panose="020B0503020204020204" pitchFamily="34" charset="-122"/>
                </a:rPr>
                <a:t>與</a:t>
              </a:r>
              <a:r>
                <a:rPr kumimoji="1" lang="en-US" altLang="zh-CN" sz="2400" dirty="0">
                  <a:latin typeface="Microsoft YaHei" panose="020B0503020204020204" pitchFamily="34" charset="-122"/>
                  <a:ea typeface="Microsoft YaHei" panose="020B0503020204020204" pitchFamily="34" charset="-122"/>
                </a:rPr>
                <a:t>3</a:t>
              </a:r>
              <a:r>
                <a:rPr kumimoji="1" lang="zh-CN" altLang="en-US" sz="2400" dirty="0">
                  <a:latin typeface="Microsoft YaHei" panose="020B0503020204020204" pitchFamily="34" charset="-122"/>
                  <a:ea typeface="Microsoft YaHei" panose="020B0503020204020204" pitchFamily="34" charset="-122"/>
                </a:rPr>
                <a:t>將軍類似，若將軍不是叛徒，則所有忠誠的副官都能收到超過半數與將軍相同的指令</a:t>
              </a:r>
              <a:endParaRPr kumimoji="1" lang="en-US" altLang="zh-CN" sz="2400" dirty="0">
                <a:latin typeface="Microsoft YaHei" panose="020B0503020204020204" pitchFamily="34" charset="-122"/>
                <a:ea typeface="Microsoft YaHei" panose="020B0503020204020204" pitchFamily="34" charset="-122"/>
              </a:endParaRPr>
            </a:p>
            <a:p>
              <a:pPr algn="just">
                <a:lnSpc>
                  <a:spcPts val="3600"/>
                </a:lnSpc>
                <a:spcBef>
                  <a:spcPts val="0"/>
                </a:spcBef>
              </a:pPr>
              <a:r>
                <a:rPr kumimoji="1" lang="zh-CN" altLang="en-US" sz="2400" dirty="0">
                  <a:latin typeface="Microsoft YaHei" panose="020B0503020204020204" pitchFamily="34" charset="-122"/>
                  <a:ea typeface="Microsoft YaHei" panose="020B0503020204020204" pitchFamily="34" charset="-122"/>
                </a:rPr>
                <a:t>若將軍爲叛徒，其發送不同指令時會被發現，因此只能發送相同指令</a:t>
              </a:r>
            </a:p>
          </p:txBody>
        </p:sp>
      </p:grpSp>
      <p:sp>
        <p:nvSpPr>
          <p:cNvPr id="34" name="矩形 33">
            <a:extLst>
              <a:ext uri="{FF2B5EF4-FFF2-40B4-BE49-F238E27FC236}">
                <a16:creationId xmlns:a16="http://schemas.microsoft.com/office/drawing/2014/main" id="{E185BF00-D8DB-5149-8ACD-0AD155F9C40D}"/>
              </a:ext>
            </a:extLst>
          </p:cNvPr>
          <p:cNvSpPr/>
          <p:nvPr/>
        </p:nvSpPr>
        <p:spPr bwMode="auto">
          <a:xfrm>
            <a:off x="716781" y="3051810"/>
            <a:ext cx="10657813" cy="765953"/>
          </a:xfrm>
          <a:prstGeom prst="rect">
            <a:avLst/>
          </a:prstGeom>
          <a:solidFill>
            <a:srgbClr val="00B0F0"/>
          </a:solidFill>
          <a:ln w="6350">
            <a:solidFill>
              <a:srgbClr val="FFFFFF">
                <a:lumMod val="75000"/>
              </a:srgbClr>
            </a:solidFill>
          </a:ln>
          <a:effectLst>
            <a:outerShdw blurRad="254000" dist="127000" dir="5400000" sx="90000" sy="90000" rotWithShape="0">
              <a:prstClr val="black">
                <a:alpha val="15000"/>
              </a:prstClr>
            </a:outerShdw>
          </a:effectLst>
        </p:spPr>
        <p:txBody>
          <a:bodyPr lIns="144000" tIns="108000" rIns="90000" bIns="108000" anchor="ctr"/>
          <a:lstStyle/>
          <a:p>
            <a:pPr marL="0" indent="0" algn="ctr">
              <a:spcBef>
                <a:spcPts val="0"/>
              </a:spcBef>
              <a:buNone/>
            </a:pPr>
            <a:r>
              <a:rPr kumimoji="1" lang="zh-CN" altLang="en-US" sz="2400" b="1" dirty="0">
                <a:solidFill>
                  <a:schemeClr val="bg1"/>
                </a:solidFill>
                <a:latin typeface="Microsoft YaHei" panose="020B0503020204020204" pitchFamily="34" charset="-122"/>
                <a:ea typeface="Microsoft YaHei" panose="020B0503020204020204" pitchFamily="34" charset="-122"/>
              </a:rPr>
              <a:t>問題：若將軍是叛徒且不發送指令怎麽辦？</a:t>
            </a:r>
          </a:p>
        </p:txBody>
      </p:sp>
      <p:grpSp>
        <p:nvGrpSpPr>
          <p:cNvPr id="37" name="组合 36">
            <a:extLst>
              <a:ext uri="{FF2B5EF4-FFF2-40B4-BE49-F238E27FC236}">
                <a16:creationId xmlns:a16="http://schemas.microsoft.com/office/drawing/2014/main" id="{98346D79-00C0-CA4C-B34F-58673370B5AE}"/>
              </a:ext>
            </a:extLst>
          </p:cNvPr>
          <p:cNvGrpSpPr/>
          <p:nvPr/>
        </p:nvGrpSpPr>
        <p:grpSpPr>
          <a:xfrm>
            <a:off x="716781" y="4001769"/>
            <a:ext cx="10657813" cy="2408555"/>
            <a:chOff x="978795" y="1022889"/>
            <a:chExt cx="10657813" cy="1192278"/>
          </a:xfrm>
        </p:grpSpPr>
        <p:sp>
          <p:nvSpPr>
            <p:cNvPr id="38" name="矩形 37">
              <a:extLst>
                <a:ext uri="{FF2B5EF4-FFF2-40B4-BE49-F238E27FC236}">
                  <a16:creationId xmlns:a16="http://schemas.microsoft.com/office/drawing/2014/main" id="{AC4E697D-4E54-0C48-9111-2389B337FE86}"/>
                </a:ext>
              </a:extLst>
            </p:cNvPr>
            <p:cNvSpPr/>
            <p:nvPr/>
          </p:nvSpPr>
          <p:spPr bwMode="auto">
            <a:xfrm>
              <a:off x="978795" y="1022889"/>
              <a:ext cx="10657813" cy="1192277"/>
            </a:xfrm>
            <a:prstGeom prst="rect">
              <a:avLst/>
            </a:prstGeom>
            <a:solidFill>
              <a:srgbClr val="FFFFFF"/>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defRPr/>
              </a:pPr>
              <a:endParaRPr lang="en-US" sz="1600" kern="0"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39" name="内容占位符 2">
              <a:extLst>
                <a:ext uri="{FF2B5EF4-FFF2-40B4-BE49-F238E27FC236}">
                  <a16:creationId xmlns:a16="http://schemas.microsoft.com/office/drawing/2014/main" id="{0088F88F-0EAB-5C4E-BF42-611FD0293BE2}"/>
                </a:ext>
              </a:extLst>
            </p:cNvPr>
            <p:cNvSpPr txBox="1"/>
            <p:nvPr/>
          </p:nvSpPr>
          <p:spPr>
            <a:xfrm>
              <a:off x="1105618" y="1065083"/>
              <a:ext cx="10395216" cy="115008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ts val="4200"/>
                </a:lnSpc>
                <a:spcBef>
                  <a:spcPts val="0"/>
                </a:spcBef>
                <a:buNone/>
              </a:pPr>
              <a:r>
                <a:rPr kumimoji="1" lang="zh-CN" altLang="en-US" sz="2400" b="1" dirty="0">
                  <a:solidFill>
                    <a:srgbClr val="C00000"/>
                  </a:solidFill>
                  <a:latin typeface="Microsoft YaHei" panose="020B0503020204020204" pitchFamily="34" charset="-122"/>
                  <a:ea typeface="Microsoft YaHei" panose="020B0503020204020204" pitchFamily="34" charset="-122"/>
                </a:rPr>
                <a:t>解决思路：</a:t>
              </a:r>
              <a:r>
                <a:rPr kumimoji="1" lang="zh-CN" altLang="en-US" sz="2400" dirty="0">
                  <a:latin typeface="Microsoft YaHei" panose="020B0503020204020204" pitchFamily="34" charset="-122"/>
                  <a:ea typeface="Microsoft YaHei" panose="020B0503020204020204" pitchFamily="34" charset="-122"/>
                </a:rPr>
                <a:t>副官們可以約定一個時間，若超過該時間還未收到將軍的指令，則選擇廢除將軍，幷選擇新的將軍。該過程在實際系統中也稱爲</a:t>
              </a:r>
              <a:r>
                <a:rPr kumimoji="1" lang="en-US" altLang="zh-CN" sz="2400" dirty="0">
                  <a:latin typeface="Microsoft YaHei" panose="020B0503020204020204" pitchFamily="34" charset="-122"/>
                  <a:ea typeface="Microsoft YaHei" panose="020B0503020204020204" pitchFamily="34" charset="-122"/>
                </a:rPr>
                <a:t>Leader</a:t>
              </a:r>
              <a:r>
                <a:rPr kumimoji="1" lang="zh-CN" altLang="en-US" sz="2400" dirty="0">
                  <a:latin typeface="Microsoft YaHei" panose="020B0503020204020204" pitchFamily="34" charset="-122"/>
                  <a:ea typeface="Microsoft YaHei" panose="020B0503020204020204" pitchFamily="34" charset="-122"/>
                </a:rPr>
                <a:t>更換過程，在簽名消息協議的基礎上進行改進，幷結合</a:t>
              </a:r>
              <a:r>
                <a:rPr kumimoji="1" lang="en-US" altLang="zh-CN" sz="2400" dirty="0">
                  <a:latin typeface="Microsoft YaHei" panose="020B0503020204020204" pitchFamily="34" charset="-122"/>
                  <a:ea typeface="Microsoft YaHei" panose="020B0503020204020204" pitchFamily="34" charset="-122"/>
                </a:rPr>
                <a:t>Leader</a:t>
              </a:r>
              <a:r>
                <a:rPr kumimoji="1" lang="zh-CN" altLang="en-US" sz="2400" dirty="0">
                  <a:latin typeface="Microsoft YaHei" panose="020B0503020204020204" pitchFamily="34" charset="-122"/>
                  <a:ea typeface="Microsoft YaHei" panose="020B0503020204020204" pitchFamily="34" charset="-122"/>
                </a:rPr>
                <a:t>更換協議，就能獲得現階段實際使用的</a:t>
              </a:r>
              <a:r>
                <a:rPr kumimoji="1" lang="zh-CN" altLang="en-US" sz="2400" b="1" dirty="0">
                  <a:solidFill>
                    <a:srgbClr val="C00000"/>
                  </a:solidFill>
                  <a:latin typeface="Microsoft YaHei" panose="020B0503020204020204" pitchFamily="34" charset="-122"/>
                  <a:ea typeface="Microsoft YaHei" panose="020B0503020204020204" pitchFamily="34" charset="-122"/>
                </a:rPr>
                <a:t>拜占庭容錯共識</a:t>
              </a:r>
            </a:p>
          </p:txBody>
        </p:sp>
      </p:grpSp>
      <p:sp>
        <p:nvSpPr>
          <p:cNvPr id="12" name="灯片编号占位符 2">
            <a:extLst>
              <a:ext uri="{FF2B5EF4-FFF2-40B4-BE49-F238E27FC236}">
                <a16:creationId xmlns:a16="http://schemas.microsoft.com/office/drawing/2014/main" id="{9749DBE1-1141-1343-ABD7-C2404F13ACB0}"/>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116</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65046636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kumimoji="1" lang="zh-CN" altLang="en-US" sz="4000" dirty="0"/>
              <a:t>拜占庭容錯共識的應用場景</a:t>
            </a:r>
            <a:r>
              <a:rPr kumimoji="1" lang="en-US" altLang="zh-CN" sz="4000" dirty="0"/>
              <a:t>:</a:t>
            </a:r>
            <a:r>
              <a:rPr kumimoji="1" lang="zh-CN" altLang="en-US" sz="4000" dirty="0"/>
              <a:t> </a:t>
            </a:r>
            <a:r>
              <a:rPr kumimoji="1" lang="zh-CN" altLang="en-US" dirty="0"/>
              <a:t>區塊鏈</a:t>
            </a:r>
            <a:endParaRPr kumimoji="1" lang="zh-CN" altLang="en-US" sz="4000" dirty="0"/>
          </a:p>
        </p:txBody>
      </p:sp>
      <p:pic>
        <p:nvPicPr>
          <p:cNvPr id="28" name="图片 27">
            <a:extLst>
              <a:ext uri="{FF2B5EF4-FFF2-40B4-BE49-F238E27FC236}">
                <a16:creationId xmlns:a16="http://schemas.microsoft.com/office/drawing/2014/main" id="{43748495-74A1-7B46-A773-2B7CFC75CC9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66142" y="2621350"/>
            <a:ext cx="2443837" cy="1461859"/>
          </a:xfrm>
          <a:prstGeom prst="rect">
            <a:avLst/>
          </a:prstGeom>
        </p:spPr>
      </p:pic>
      <p:pic>
        <p:nvPicPr>
          <p:cNvPr id="35" name="图片 34">
            <a:extLst>
              <a:ext uri="{FF2B5EF4-FFF2-40B4-BE49-F238E27FC236}">
                <a16:creationId xmlns:a16="http://schemas.microsoft.com/office/drawing/2014/main" id="{9CD7A1F3-1B71-9041-B088-7CB0F1F8B8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8424" y="2684449"/>
            <a:ext cx="2187327" cy="1308419"/>
          </a:xfrm>
          <a:prstGeom prst="rect">
            <a:avLst/>
          </a:prstGeom>
        </p:spPr>
      </p:pic>
      <p:pic>
        <p:nvPicPr>
          <p:cNvPr id="39" name="图片 38">
            <a:extLst>
              <a:ext uri="{FF2B5EF4-FFF2-40B4-BE49-F238E27FC236}">
                <a16:creationId xmlns:a16="http://schemas.microsoft.com/office/drawing/2014/main" id="{6CC86923-9A79-D24F-B160-C0B9F647872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992521" y="2725041"/>
            <a:ext cx="2182964" cy="1308419"/>
          </a:xfrm>
          <a:prstGeom prst="rect">
            <a:avLst/>
          </a:prstGeom>
        </p:spPr>
      </p:pic>
      <p:sp>
        <p:nvSpPr>
          <p:cNvPr id="53" name="下箭头 52">
            <a:extLst>
              <a:ext uri="{FF2B5EF4-FFF2-40B4-BE49-F238E27FC236}">
                <a16:creationId xmlns:a16="http://schemas.microsoft.com/office/drawing/2014/main" id="{C30E4AD8-7D63-9C4E-ADC2-38E586F0DE37}"/>
              </a:ext>
            </a:extLst>
          </p:cNvPr>
          <p:cNvSpPr/>
          <p:nvPr/>
        </p:nvSpPr>
        <p:spPr>
          <a:xfrm rot="5400000">
            <a:off x="8069887" y="2941355"/>
            <a:ext cx="288032" cy="864096"/>
          </a:xfrm>
          <a:prstGeom prst="down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zh-CN" altLang="en-US" sz="2000">
              <a:solidFill>
                <a:schemeClr val="tx1"/>
              </a:solidFill>
              <a:latin typeface="Microsoft YaHei" panose="020B0503020204020204" pitchFamily="34" charset="-122"/>
              <a:ea typeface="Microsoft YaHei" panose="020B0503020204020204" pitchFamily="34" charset="-122"/>
            </a:endParaRPr>
          </a:p>
        </p:txBody>
      </p:sp>
      <p:sp>
        <p:nvSpPr>
          <p:cNvPr id="54" name="下箭头 53">
            <a:extLst>
              <a:ext uri="{FF2B5EF4-FFF2-40B4-BE49-F238E27FC236}">
                <a16:creationId xmlns:a16="http://schemas.microsoft.com/office/drawing/2014/main" id="{999972EA-A6C6-334F-A13B-578DF62A3C3C}"/>
              </a:ext>
            </a:extLst>
          </p:cNvPr>
          <p:cNvSpPr/>
          <p:nvPr/>
        </p:nvSpPr>
        <p:spPr>
          <a:xfrm rot="16200000">
            <a:off x="4085076" y="2922389"/>
            <a:ext cx="285556" cy="864096"/>
          </a:xfrm>
          <a:prstGeom prst="down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zh-CN" altLang="en-US" sz="2000">
              <a:solidFill>
                <a:schemeClr val="tx1"/>
              </a:solidFill>
              <a:latin typeface="Microsoft YaHei" panose="020B0503020204020204" pitchFamily="34" charset="-122"/>
              <a:ea typeface="Microsoft YaHei" panose="020B0503020204020204" pitchFamily="34" charset="-122"/>
            </a:endParaRPr>
          </a:p>
        </p:txBody>
      </p:sp>
      <p:sp>
        <p:nvSpPr>
          <p:cNvPr id="55" name="下箭头 54">
            <a:extLst>
              <a:ext uri="{FF2B5EF4-FFF2-40B4-BE49-F238E27FC236}">
                <a16:creationId xmlns:a16="http://schemas.microsoft.com/office/drawing/2014/main" id="{9C347E35-C64E-984B-BA8A-19CCEAD62670}"/>
              </a:ext>
            </a:extLst>
          </p:cNvPr>
          <p:cNvSpPr/>
          <p:nvPr/>
        </p:nvSpPr>
        <p:spPr>
          <a:xfrm rot="10800000">
            <a:off x="6043950" y="4205853"/>
            <a:ext cx="275202" cy="707805"/>
          </a:xfrm>
          <a:prstGeom prst="down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zh-CN" altLang="en-US" sz="2000">
              <a:solidFill>
                <a:schemeClr val="tx1"/>
              </a:solidFill>
              <a:latin typeface="Microsoft YaHei" panose="020B0503020204020204" pitchFamily="34" charset="-122"/>
              <a:ea typeface="Microsoft YaHei" panose="020B0503020204020204" pitchFamily="34" charset="-122"/>
            </a:endParaRPr>
          </a:p>
        </p:txBody>
      </p:sp>
      <p:grpSp>
        <p:nvGrpSpPr>
          <p:cNvPr id="60" name="组合 59">
            <a:extLst>
              <a:ext uri="{FF2B5EF4-FFF2-40B4-BE49-F238E27FC236}">
                <a16:creationId xmlns:a16="http://schemas.microsoft.com/office/drawing/2014/main" id="{1C3869E1-0F47-934C-A7AB-E44A4A225150}"/>
              </a:ext>
            </a:extLst>
          </p:cNvPr>
          <p:cNvGrpSpPr/>
          <p:nvPr/>
        </p:nvGrpSpPr>
        <p:grpSpPr>
          <a:xfrm>
            <a:off x="989350" y="1039003"/>
            <a:ext cx="10725727" cy="1164551"/>
            <a:chOff x="695602" y="1039003"/>
            <a:chExt cx="11019476" cy="1164551"/>
          </a:xfrm>
        </p:grpSpPr>
        <p:sp>
          <p:nvSpPr>
            <p:cNvPr id="61" name="矩形 60">
              <a:extLst>
                <a:ext uri="{FF2B5EF4-FFF2-40B4-BE49-F238E27FC236}">
                  <a16:creationId xmlns:a16="http://schemas.microsoft.com/office/drawing/2014/main" id="{F74DEA29-EE6A-4347-AA90-60D70D911203}"/>
                </a:ext>
              </a:extLst>
            </p:cNvPr>
            <p:cNvSpPr/>
            <p:nvPr/>
          </p:nvSpPr>
          <p:spPr bwMode="auto">
            <a:xfrm>
              <a:off x="695602" y="1039003"/>
              <a:ext cx="11019476" cy="1164551"/>
            </a:xfrm>
            <a:prstGeom prst="rect">
              <a:avLst/>
            </a:prstGeom>
            <a:solidFill>
              <a:srgbClr val="FFFFFF"/>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defRPr/>
              </a:pPr>
              <a:endParaRPr lang="en-US" sz="1600" kern="0"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62" name="内容占位符 2">
              <a:extLst>
                <a:ext uri="{FF2B5EF4-FFF2-40B4-BE49-F238E27FC236}">
                  <a16:creationId xmlns:a16="http://schemas.microsoft.com/office/drawing/2014/main" id="{C4D60271-7406-0644-8704-2CE63B84319C}"/>
                </a:ext>
              </a:extLst>
            </p:cNvPr>
            <p:cNvSpPr txBox="1"/>
            <p:nvPr/>
          </p:nvSpPr>
          <p:spPr>
            <a:xfrm>
              <a:off x="825898" y="1108218"/>
              <a:ext cx="10889180" cy="9604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ts val="3600"/>
                </a:lnSpc>
                <a:buNone/>
                <a:defRPr/>
              </a:pPr>
              <a:r>
                <a:rPr kumimoji="0" lang="zh-CN" altLang="en-US" sz="2400" b="1" i="0" u="none" strike="noStrike" kern="120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rPr>
                <a:t>區塊鏈</a:t>
              </a:r>
              <a:r>
                <a:rPr kumimoji="0" lang="zh-CN" altLang="en-US" sz="2400" b="1" i="0" u="none" strike="noStrike" kern="1200" cap="none" spc="0" normalizeH="0" baseline="0" noProof="0" dirty="0">
                  <a:ln>
                    <a:noFill/>
                  </a:ln>
                  <a:effectLst/>
                  <a:uLnTx/>
                  <a:uFillTx/>
                  <a:latin typeface="Microsoft YaHei" panose="020B0503020204020204" pitchFamily="34" charset="-122"/>
                  <a:ea typeface="Microsoft YaHei" panose="020B0503020204020204" pitchFamily="34" charset="-122"/>
                </a:rPr>
                <a:t>：構造</a:t>
              </a:r>
              <a:r>
                <a:rPr lang="zh-CN" altLang="en-US" sz="2400" b="1" dirty="0">
                  <a:latin typeface="Microsoft YaHei" panose="020B0503020204020204" pitchFamily="34" charset="-122"/>
                  <a:ea typeface="Microsoft YaHei" panose="020B0503020204020204" pitchFamily="34" charset="-122"/>
                </a:rPr>
                <a:t>一個對客戶端來說可信的分布式賬本；容忍少數拜占庭節點作惡解决分布式系統不同節點間協作時的信任問題</a:t>
              </a:r>
              <a:endParaRPr kumimoji="0" lang="en-US" altLang="zh-CN" sz="2400" b="1"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endParaRPr>
            </a:p>
          </p:txBody>
        </p:sp>
      </p:grpSp>
      <p:pic>
        <p:nvPicPr>
          <p:cNvPr id="6" name="图片 5" descr="图片包含 户外, 伞, 建筑, 标志&#10;&#10;描述已自动生成">
            <a:extLst>
              <a:ext uri="{FF2B5EF4-FFF2-40B4-BE49-F238E27FC236}">
                <a16:creationId xmlns:a16="http://schemas.microsoft.com/office/drawing/2014/main" id="{88BB6FF0-942F-C84C-A400-89F963957765}"/>
              </a:ext>
            </a:extLst>
          </p:cNvPr>
          <p:cNvPicPr>
            <a:picLocks noChangeAspect="1"/>
          </p:cNvPicPr>
          <p:nvPr/>
        </p:nvPicPr>
        <p:blipFill>
          <a:blip r:embed="rId5"/>
          <a:stretch>
            <a:fillRect/>
          </a:stretch>
        </p:blipFill>
        <p:spPr>
          <a:xfrm>
            <a:off x="8645951" y="5071547"/>
            <a:ext cx="3077224" cy="1597997"/>
          </a:xfrm>
          <a:prstGeom prst="rect">
            <a:avLst/>
          </a:prstGeom>
        </p:spPr>
      </p:pic>
      <p:pic>
        <p:nvPicPr>
          <p:cNvPr id="8" name="图片 7" descr="图片包含 图示&#10;&#10;描述已自动生成">
            <a:extLst>
              <a:ext uri="{FF2B5EF4-FFF2-40B4-BE49-F238E27FC236}">
                <a16:creationId xmlns:a16="http://schemas.microsoft.com/office/drawing/2014/main" id="{6C19E1D8-4EF0-1F4B-B35B-EC97F68E9FE9}"/>
              </a:ext>
            </a:extLst>
          </p:cNvPr>
          <p:cNvPicPr>
            <a:picLocks noChangeAspect="1"/>
          </p:cNvPicPr>
          <p:nvPr/>
        </p:nvPicPr>
        <p:blipFill>
          <a:blip r:embed="rId6"/>
          <a:stretch>
            <a:fillRect/>
          </a:stretch>
        </p:blipFill>
        <p:spPr>
          <a:xfrm>
            <a:off x="1284903" y="5019998"/>
            <a:ext cx="2502887" cy="1597997"/>
          </a:xfrm>
          <a:prstGeom prst="rect">
            <a:avLst/>
          </a:prstGeom>
        </p:spPr>
      </p:pic>
      <p:sp>
        <p:nvSpPr>
          <p:cNvPr id="63" name="下箭头 62">
            <a:extLst>
              <a:ext uri="{FF2B5EF4-FFF2-40B4-BE49-F238E27FC236}">
                <a16:creationId xmlns:a16="http://schemas.microsoft.com/office/drawing/2014/main" id="{467B9CD4-567A-DD4B-A287-721AF1B0E418}"/>
              </a:ext>
            </a:extLst>
          </p:cNvPr>
          <p:cNvSpPr/>
          <p:nvPr/>
        </p:nvSpPr>
        <p:spPr>
          <a:xfrm rot="14437813">
            <a:off x="4277328" y="3848455"/>
            <a:ext cx="256423" cy="1351780"/>
          </a:xfrm>
          <a:prstGeom prst="down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zh-CN" altLang="en-US" sz="2000">
              <a:solidFill>
                <a:schemeClr val="tx1"/>
              </a:solidFill>
              <a:latin typeface="Microsoft YaHei" panose="020B0503020204020204" pitchFamily="34" charset="-122"/>
              <a:ea typeface="Microsoft YaHei" panose="020B0503020204020204" pitchFamily="34" charset="-122"/>
            </a:endParaRPr>
          </a:p>
        </p:txBody>
      </p:sp>
      <p:pic>
        <p:nvPicPr>
          <p:cNvPr id="10" name="图片 9" descr="日程表&#10;&#10;描述已自动生成">
            <a:extLst>
              <a:ext uri="{FF2B5EF4-FFF2-40B4-BE49-F238E27FC236}">
                <a16:creationId xmlns:a16="http://schemas.microsoft.com/office/drawing/2014/main" id="{F9BAEE09-8988-AA47-9B10-7FBFF4C1B577}"/>
              </a:ext>
            </a:extLst>
          </p:cNvPr>
          <p:cNvPicPr>
            <a:picLocks noChangeAspect="1"/>
          </p:cNvPicPr>
          <p:nvPr/>
        </p:nvPicPr>
        <p:blipFill>
          <a:blip r:embed="rId7"/>
          <a:stretch>
            <a:fillRect/>
          </a:stretch>
        </p:blipFill>
        <p:spPr>
          <a:xfrm>
            <a:off x="4621779" y="4894435"/>
            <a:ext cx="3241617" cy="1853939"/>
          </a:xfrm>
          <a:prstGeom prst="rect">
            <a:avLst/>
          </a:prstGeom>
        </p:spPr>
      </p:pic>
      <p:sp>
        <p:nvSpPr>
          <p:cNvPr id="64" name="下箭头 63">
            <a:extLst>
              <a:ext uri="{FF2B5EF4-FFF2-40B4-BE49-F238E27FC236}">
                <a16:creationId xmlns:a16="http://schemas.microsoft.com/office/drawing/2014/main" id="{66999E12-0C12-BA4C-A9E4-814CE946CBCC}"/>
              </a:ext>
            </a:extLst>
          </p:cNvPr>
          <p:cNvSpPr/>
          <p:nvPr/>
        </p:nvSpPr>
        <p:spPr>
          <a:xfrm rot="7715373">
            <a:off x="7979724" y="3861099"/>
            <a:ext cx="256423" cy="1351780"/>
          </a:xfrm>
          <a:prstGeom prst="down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zh-CN" altLang="en-US" sz="2000">
              <a:solidFill>
                <a:schemeClr val="tx1"/>
              </a:solidFill>
              <a:latin typeface="Microsoft YaHei" panose="020B0503020204020204" pitchFamily="34" charset="-122"/>
              <a:ea typeface="Microsoft YaHei" panose="020B0503020204020204" pitchFamily="34" charset="-122"/>
            </a:endParaRPr>
          </a:p>
        </p:txBody>
      </p:sp>
      <p:sp>
        <p:nvSpPr>
          <p:cNvPr id="17" name="灯片编号占位符 2">
            <a:extLst>
              <a:ext uri="{FF2B5EF4-FFF2-40B4-BE49-F238E27FC236}">
                <a16:creationId xmlns:a16="http://schemas.microsoft.com/office/drawing/2014/main" id="{C827E12C-5B15-ED4E-B27D-E3B9ACCACC96}"/>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117</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109591487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kumimoji="1" lang="zh-CN" altLang="en-US" sz="4000" dirty="0"/>
              <a:t>實際模型</a:t>
            </a:r>
            <a:r>
              <a:rPr kumimoji="1" lang="en-US" altLang="zh-CN" sz="4000" dirty="0"/>
              <a:t>—</a:t>
            </a:r>
            <a:r>
              <a:rPr kumimoji="1" lang="zh-CN" altLang="en-US" sz="4000" dirty="0"/>
              <a:t>狀態機複製</a:t>
            </a:r>
          </a:p>
        </p:txBody>
      </p:sp>
      <p:sp>
        <p:nvSpPr>
          <p:cNvPr id="49" name="矩形 48">
            <a:extLst>
              <a:ext uri="{FF2B5EF4-FFF2-40B4-BE49-F238E27FC236}">
                <a16:creationId xmlns:a16="http://schemas.microsoft.com/office/drawing/2014/main" id="{1608195F-EF13-4646-8D54-3D2F8C5CDFF5}"/>
              </a:ext>
            </a:extLst>
          </p:cNvPr>
          <p:cNvSpPr/>
          <p:nvPr/>
        </p:nvSpPr>
        <p:spPr>
          <a:xfrm>
            <a:off x="729504" y="4312329"/>
            <a:ext cx="10819766" cy="2358466"/>
          </a:xfrm>
          <a:prstGeom prst="rect">
            <a:avLst/>
          </a:prstGeom>
          <a:ln>
            <a:solidFill>
              <a:srgbClr val="00B0F0"/>
            </a:solidFill>
          </a:ln>
        </p:spPr>
        <p:txBody>
          <a:bodyPr wrap="square">
            <a:spAutoFit/>
          </a:bodyPr>
          <a:lstStyle/>
          <a:p>
            <a:pPr marL="342900" indent="-342900" algn="just">
              <a:lnSpc>
                <a:spcPts val="3600"/>
              </a:lnSpc>
              <a:buFont typeface="Arial" panose="020B0604020202020204" pitchFamily="34" charset="0"/>
              <a:buChar char="•"/>
            </a:pPr>
            <a:r>
              <a:rPr lang="zh-CN" altLang="en-US" sz="2400" b="1" dirty="0">
                <a:solidFill>
                  <a:srgbClr val="C00000"/>
                </a:solidFill>
                <a:latin typeface="微软雅黑" panose="020B0503020204020204" pitchFamily="34" charset="-122"/>
                <a:ea typeface="微软雅黑" panose="020B0503020204020204" pitchFamily="34" charset="-122"/>
              </a:rPr>
              <a:t>安全性（</a:t>
            </a:r>
            <a:r>
              <a:rPr lang="en-US" altLang="zh-CN" sz="2400" b="1" dirty="0">
                <a:solidFill>
                  <a:srgbClr val="C00000"/>
                </a:solidFill>
                <a:latin typeface="微软雅黑" panose="020B0503020204020204" pitchFamily="34" charset="-122"/>
                <a:ea typeface="微软雅黑" panose="020B0503020204020204" pitchFamily="34" charset="-122"/>
              </a:rPr>
              <a:t>Safety</a:t>
            </a:r>
            <a:r>
              <a:rPr lang="zh-CN" altLang="en-US" sz="2400" b="1" dirty="0">
                <a:solidFill>
                  <a:srgbClr val="C00000"/>
                </a:solidFill>
                <a:latin typeface="微软雅黑" panose="020B0503020204020204" pitchFamily="34" charset="-122"/>
                <a:ea typeface="微软雅黑" panose="020B0503020204020204" pitchFamily="34" charset="-122"/>
              </a:rPr>
              <a:t>）</a:t>
            </a:r>
            <a:r>
              <a:rPr lang="zh-CN" altLang="en-US" sz="2400" dirty="0">
                <a:solidFill>
                  <a:srgbClr val="C00000"/>
                </a:solidFill>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對于客戶端的所有請求，服務端任意兩個正確節點都能獲得一致的排序結果幷執行（</a:t>
            </a:r>
            <a:r>
              <a:rPr lang="en-US" altLang="zh-CN" sz="2400" dirty="0">
                <a:latin typeface="微软雅黑" panose="020B0503020204020204" pitchFamily="34" charset="-122"/>
                <a:ea typeface="微软雅黑" panose="020B0503020204020204" pitchFamily="34" charset="-122"/>
              </a:rPr>
              <a:t>something “bad” will never happen</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342900" indent="-342900" algn="just">
              <a:lnSpc>
                <a:spcPts val="3600"/>
              </a:lnSpc>
              <a:buFont typeface="Arial" panose="020B0604020202020204" pitchFamily="34" charset="0"/>
              <a:buChar char="•"/>
            </a:pPr>
            <a:r>
              <a:rPr lang="zh-CN" altLang="en-US" sz="2400" b="1" dirty="0">
                <a:solidFill>
                  <a:srgbClr val="C00000"/>
                </a:solidFill>
                <a:latin typeface="微软雅黑" panose="020B0503020204020204" pitchFamily="34" charset="-122"/>
                <a:ea typeface="微软雅黑" panose="020B0503020204020204" pitchFamily="34" charset="-122"/>
              </a:rPr>
              <a:t>活性（</a:t>
            </a:r>
            <a:r>
              <a:rPr lang="en-US" altLang="zh-CN" sz="2400" b="1" dirty="0">
                <a:solidFill>
                  <a:srgbClr val="C00000"/>
                </a:solidFill>
                <a:latin typeface="微软雅黑" panose="020B0503020204020204" pitchFamily="34" charset="-122"/>
                <a:ea typeface="微软雅黑" panose="020B0503020204020204" pitchFamily="34" charset="-122"/>
              </a:rPr>
              <a:t>liveness</a:t>
            </a:r>
            <a:r>
              <a:rPr lang="zh-CN" altLang="en-US" sz="2400" b="1" dirty="0">
                <a:solidFill>
                  <a:srgbClr val="C00000"/>
                </a:solidFill>
                <a:latin typeface="微软雅黑" panose="020B0503020204020204" pitchFamily="34" charset="-122"/>
                <a:ea typeface="微软雅黑" panose="020B0503020204020204" pitchFamily="34" charset="-122"/>
              </a:rPr>
              <a:t>）</a:t>
            </a:r>
            <a:r>
              <a:rPr lang="zh-CN" altLang="en-US" sz="2400" dirty="0">
                <a:solidFill>
                  <a:srgbClr val="C00000"/>
                </a:solidFill>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服務端最終會就結果達成一致，因此對于任意客戶端的請求，服務端最終總能産生正確的答覆（</a:t>
            </a:r>
            <a:r>
              <a:rPr lang="en-US" altLang="zh-CN" sz="2400" dirty="0">
                <a:latin typeface="微软雅黑" panose="020B0503020204020204" pitchFamily="34" charset="-122"/>
                <a:ea typeface="微软雅黑" panose="020B0503020204020204" pitchFamily="34" charset="-122"/>
              </a:rPr>
              <a:t>something “good” will must happen (but we don’t know when)</a:t>
            </a:r>
            <a:r>
              <a:rPr lang="zh-CN" altLang="en-US" sz="2400" dirty="0">
                <a:latin typeface="微软雅黑" panose="020B0503020204020204" pitchFamily="34" charset="-122"/>
                <a:ea typeface="微软雅黑" panose="020B0503020204020204" pitchFamily="34" charset="-122"/>
              </a:rPr>
              <a:t>）</a:t>
            </a:r>
          </a:p>
        </p:txBody>
      </p:sp>
      <p:grpSp>
        <p:nvGrpSpPr>
          <p:cNvPr id="3" name="组合 2">
            <a:extLst>
              <a:ext uri="{FF2B5EF4-FFF2-40B4-BE49-F238E27FC236}">
                <a16:creationId xmlns:a16="http://schemas.microsoft.com/office/drawing/2014/main" id="{4FAAC257-E7B5-2648-8376-3E41BCE6E2CF}"/>
              </a:ext>
            </a:extLst>
          </p:cNvPr>
          <p:cNvGrpSpPr/>
          <p:nvPr/>
        </p:nvGrpSpPr>
        <p:grpSpPr>
          <a:xfrm>
            <a:off x="1404257" y="852782"/>
            <a:ext cx="9013376" cy="3375148"/>
            <a:chOff x="899592" y="980728"/>
            <a:chExt cx="7160182" cy="3375148"/>
          </a:xfrm>
        </p:grpSpPr>
        <p:pic>
          <p:nvPicPr>
            <p:cNvPr id="29" name="图形 28" descr="计算机">
              <a:extLst>
                <a:ext uri="{FF2B5EF4-FFF2-40B4-BE49-F238E27FC236}">
                  <a16:creationId xmlns:a16="http://schemas.microsoft.com/office/drawing/2014/main" id="{AB299219-2E65-4846-B08A-47641A18979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86314" y="980728"/>
              <a:ext cx="973460" cy="973460"/>
            </a:xfrm>
            <a:prstGeom prst="rect">
              <a:avLst/>
            </a:prstGeom>
          </p:spPr>
        </p:pic>
        <p:pic>
          <p:nvPicPr>
            <p:cNvPr id="30" name="图形 29" descr="计算机">
              <a:extLst>
                <a:ext uri="{FF2B5EF4-FFF2-40B4-BE49-F238E27FC236}">
                  <a16:creationId xmlns:a16="http://schemas.microsoft.com/office/drawing/2014/main" id="{7E816240-35BD-1747-B335-B7EF8C941DF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265163" y="980728"/>
              <a:ext cx="973460" cy="973460"/>
            </a:xfrm>
            <a:prstGeom prst="rect">
              <a:avLst/>
            </a:prstGeom>
          </p:spPr>
        </p:pic>
        <p:pic>
          <p:nvPicPr>
            <p:cNvPr id="31" name="图形 30" descr="计算机">
              <a:extLst>
                <a:ext uri="{FF2B5EF4-FFF2-40B4-BE49-F238E27FC236}">
                  <a16:creationId xmlns:a16="http://schemas.microsoft.com/office/drawing/2014/main" id="{0E6D0ED6-0787-3F41-BA82-E7BB7CDB7C4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86314" y="2829054"/>
              <a:ext cx="973460" cy="973460"/>
            </a:xfrm>
            <a:prstGeom prst="rect">
              <a:avLst/>
            </a:prstGeom>
          </p:spPr>
        </p:pic>
        <p:pic>
          <p:nvPicPr>
            <p:cNvPr id="32" name="图形 31" descr="计算机">
              <a:extLst>
                <a:ext uri="{FF2B5EF4-FFF2-40B4-BE49-F238E27FC236}">
                  <a16:creationId xmlns:a16="http://schemas.microsoft.com/office/drawing/2014/main" id="{05F18553-CAB2-B54F-94A5-5CBBE6D6AA0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265163" y="2829054"/>
              <a:ext cx="973460" cy="973460"/>
            </a:xfrm>
            <a:prstGeom prst="rect">
              <a:avLst/>
            </a:prstGeom>
          </p:spPr>
        </p:pic>
        <p:cxnSp>
          <p:nvCxnSpPr>
            <p:cNvPr id="33" name="直线连接符 71">
              <a:extLst>
                <a:ext uri="{FF2B5EF4-FFF2-40B4-BE49-F238E27FC236}">
                  <a16:creationId xmlns:a16="http://schemas.microsoft.com/office/drawing/2014/main" id="{C9A17CE1-0CE6-6447-BF48-03292EC865E5}"/>
                </a:ext>
              </a:extLst>
            </p:cNvPr>
            <p:cNvCxnSpPr>
              <a:cxnSpLocks/>
              <a:stCxn id="31" idx="1"/>
              <a:endCxn id="32" idx="3"/>
            </p:cNvCxnSpPr>
            <p:nvPr/>
          </p:nvCxnSpPr>
          <p:spPr>
            <a:xfrm flipH="1">
              <a:off x="5238623" y="3315784"/>
              <a:ext cx="184769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线连接符 71">
              <a:extLst>
                <a:ext uri="{FF2B5EF4-FFF2-40B4-BE49-F238E27FC236}">
                  <a16:creationId xmlns:a16="http://schemas.microsoft.com/office/drawing/2014/main" id="{D2365AD0-19D1-D747-9842-ED98D55489E7}"/>
                </a:ext>
              </a:extLst>
            </p:cNvPr>
            <p:cNvCxnSpPr>
              <a:cxnSpLocks/>
              <a:stCxn id="30" idx="2"/>
              <a:endCxn id="32" idx="0"/>
            </p:cNvCxnSpPr>
            <p:nvPr/>
          </p:nvCxnSpPr>
          <p:spPr>
            <a:xfrm>
              <a:off x="4751893" y="1954188"/>
              <a:ext cx="0" cy="874866"/>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线连接符 71">
              <a:extLst>
                <a:ext uri="{FF2B5EF4-FFF2-40B4-BE49-F238E27FC236}">
                  <a16:creationId xmlns:a16="http://schemas.microsoft.com/office/drawing/2014/main" id="{0ECC59F4-E216-C042-B1B2-F8BF04C7D5E2}"/>
                </a:ext>
              </a:extLst>
            </p:cNvPr>
            <p:cNvCxnSpPr>
              <a:cxnSpLocks/>
              <a:stCxn id="29" idx="1"/>
              <a:endCxn id="30" idx="3"/>
            </p:cNvCxnSpPr>
            <p:nvPr/>
          </p:nvCxnSpPr>
          <p:spPr>
            <a:xfrm flipH="1">
              <a:off x="5238623" y="1467458"/>
              <a:ext cx="184769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直线连接符 71">
              <a:extLst>
                <a:ext uri="{FF2B5EF4-FFF2-40B4-BE49-F238E27FC236}">
                  <a16:creationId xmlns:a16="http://schemas.microsoft.com/office/drawing/2014/main" id="{500E52AE-5ACF-DB4E-93CB-6247981DFA69}"/>
                </a:ext>
              </a:extLst>
            </p:cNvPr>
            <p:cNvCxnSpPr>
              <a:cxnSpLocks/>
              <a:stCxn id="31" idx="0"/>
              <a:endCxn id="29" idx="2"/>
            </p:cNvCxnSpPr>
            <p:nvPr/>
          </p:nvCxnSpPr>
          <p:spPr>
            <a:xfrm flipV="1">
              <a:off x="7573044" y="1954188"/>
              <a:ext cx="0" cy="874866"/>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直线连接符 71">
              <a:extLst>
                <a:ext uri="{FF2B5EF4-FFF2-40B4-BE49-F238E27FC236}">
                  <a16:creationId xmlns:a16="http://schemas.microsoft.com/office/drawing/2014/main" id="{F8F83A73-B4E5-574D-9324-12D4FCB50048}"/>
                </a:ext>
              </a:extLst>
            </p:cNvPr>
            <p:cNvCxnSpPr>
              <a:cxnSpLocks/>
            </p:cNvCxnSpPr>
            <p:nvPr/>
          </p:nvCxnSpPr>
          <p:spPr>
            <a:xfrm flipH="1">
              <a:off x="5076056" y="1619858"/>
              <a:ext cx="2162659" cy="1449102"/>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直线连接符 71">
              <a:extLst>
                <a:ext uri="{FF2B5EF4-FFF2-40B4-BE49-F238E27FC236}">
                  <a16:creationId xmlns:a16="http://schemas.microsoft.com/office/drawing/2014/main" id="{4F7F2E97-C67E-944D-AF33-06A07122909C}"/>
                </a:ext>
              </a:extLst>
            </p:cNvPr>
            <p:cNvCxnSpPr>
              <a:cxnSpLocks/>
            </p:cNvCxnSpPr>
            <p:nvPr/>
          </p:nvCxnSpPr>
          <p:spPr>
            <a:xfrm flipH="1" flipV="1">
              <a:off x="5076056" y="1772258"/>
              <a:ext cx="2162659" cy="1296702"/>
            </a:xfrm>
            <a:prstGeom prst="line">
              <a:avLst/>
            </a:prstGeom>
          </p:spPr>
          <p:style>
            <a:lnRef idx="1">
              <a:schemeClr val="accent1"/>
            </a:lnRef>
            <a:fillRef idx="0">
              <a:schemeClr val="accent1"/>
            </a:fillRef>
            <a:effectRef idx="0">
              <a:schemeClr val="accent1"/>
            </a:effectRef>
            <a:fontRef idx="minor">
              <a:schemeClr val="tx1"/>
            </a:fontRef>
          </p:style>
        </p:cxnSp>
        <p:sp>
          <p:nvSpPr>
            <p:cNvPr id="41" name="矩形 40">
              <a:extLst>
                <a:ext uri="{FF2B5EF4-FFF2-40B4-BE49-F238E27FC236}">
                  <a16:creationId xmlns:a16="http://schemas.microsoft.com/office/drawing/2014/main" id="{C6E518E6-19DC-A140-AFF6-9962F4DE42AD}"/>
                </a:ext>
              </a:extLst>
            </p:cNvPr>
            <p:cNvSpPr/>
            <p:nvPr/>
          </p:nvSpPr>
          <p:spPr>
            <a:xfrm>
              <a:off x="4627371" y="3647990"/>
              <a:ext cx="3076832" cy="707886"/>
            </a:xfrm>
            <a:prstGeom prst="rect">
              <a:avLst/>
            </a:prstGeom>
          </p:spPr>
          <p:txBody>
            <a:bodyPr wrap="none">
              <a:spAutoFit/>
            </a:bodyPr>
            <a:lstStyle/>
            <a:p>
              <a:pPr algn="ctr"/>
              <a:r>
                <a:rPr lang="zh-CN" altLang="en-US" sz="2000" b="1" dirty="0"/>
                <a:t>狀態機複製</a:t>
              </a:r>
              <a:endParaRPr lang="en-US" altLang="zh-CN" sz="2000" b="1" dirty="0"/>
            </a:p>
            <a:p>
              <a:pPr algn="ctr"/>
              <a:r>
                <a:rPr lang="zh-CN" altLang="en-US" sz="2000" b="1" dirty="0"/>
                <a:t>（</a:t>
              </a:r>
              <a:r>
                <a:rPr lang="en-US" altLang="zh-CN" sz="2000" b="1" dirty="0"/>
                <a:t>State Machine Replication</a:t>
              </a:r>
              <a:r>
                <a:rPr lang="zh-CN" altLang="en-US" sz="2000" b="1" dirty="0"/>
                <a:t>）</a:t>
              </a:r>
            </a:p>
          </p:txBody>
        </p:sp>
        <p:pic>
          <p:nvPicPr>
            <p:cNvPr id="42" name="图形 41" descr="Internet">
              <a:extLst>
                <a:ext uri="{FF2B5EF4-FFF2-40B4-BE49-F238E27FC236}">
                  <a16:creationId xmlns:a16="http://schemas.microsoft.com/office/drawing/2014/main" id="{4AD21A9D-311F-DD45-828E-B1B2D8D16A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9592" y="2010544"/>
              <a:ext cx="914400" cy="914400"/>
            </a:xfrm>
            <a:prstGeom prst="rect">
              <a:avLst/>
            </a:prstGeom>
          </p:spPr>
        </p:pic>
        <p:sp>
          <p:nvSpPr>
            <p:cNvPr id="43" name="矩形 42">
              <a:extLst>
                <a:ext uri="{FF2B5EF4-FFF2-40B4-BE49-F238E27FC236}">
                  <a16:creationId xmlns:a16="http://schemas.microsoft.com/office/drawing/2014/main" id="{A256720B-B9C1-2B40-9BE9-771975BF68D0}"/>
                </a:ext>
              </a:extLst>
            </p:cNvPr>
            <p:cNvSpPr/>
            <p:nvPr/>
          </p:nvSpPr>
          <p:spPr>
            <a:xfrm>
              <a:off x="4277248" y="3573016"/>
              <a:ext cx="870816" cy="369332"/>
            </a:xfrm>
            <a:prstGeom prst="rect">
              <a:avLst/>
            </a:prstGeom>
          </p:spPr>
          <p:txBody>
            <a:bodyPr wrap="none">
              <a:spAutoFit/>
            </a:bodyPr>
            <a:lstStyle/>
            <a:p>
              <a:r>
                <a:rPr lang="en-US" altLang="zh-CN" b="1" dirty="0"/>
                <a:t>Replica</a:t>
              </a:r>
              <a:endParaRPr lang="zh-CN" altLang="en-US" dirty="0"/>
            </a:p>
          </p:txBody>
        </p:sp>
        <p:sp>
          <p:nvSpPr>
            <p:cNvPr id="44" name="矩形 43">
              <a:extLst>
                <a:ext uri="{FF2B5EF4-FFF2-40B4-BE49-F238E27FC236}">
                  <a16:creationId xmlns:a16="http://schemas.microsoft.com/office/drawing/2014/main" id="{89FF5BE9-486D-5746-A2E3-A3137FE0F9CB}"/>
                </a:ext>
              </a:extLst>
            </p:cNvPr>
            <p:cNvSpPr/>
            <p:nvPr/>
          </p:nvSpPr>
          <p:spPr>
            <a:xfrm>
              <a:off x="7157568" y="3573016"/>
              <a:ext cx="870816" cy="369332"/>
            </a:xfrm>
            <a:prstGeom prst="rect">
              <a:avLst/>
            </a:prstGeom>
          </p:spPr>
          <p:txBody>
            <a:bodyPr wrap="none">
              <a:spAutoFit/>
            </a:bodyPr>
            <a:lstStyle/>
            <a:p>
              <a:r>
                <a:rPr lang="en-US" altLang="zh-CN" b="1" dirty="0"/>
                <a:t>Replica</a:t>
              </a:r>
              <a:endParaRPr lang="zh-CN" altLang="en-US" dirty="0"/>
            </a:p>
          </p:txBody>
        </p:sp>
        <p:cxnSp>
          <p:nvCxnSpPr>
            <p:cNvPr id="45" name="直线箭头连接符 15">
              <a:extLst>
                <a:ext uri="{FF2B5EF4-FFF2-40B4-BE49-F238E27FC236}">
                  <a16:creationId xmlns:a16="http://schemas.microsoft.com/office/drawing/2014/main" id="{0C492199-DC69-954B-9F37-06D26A607A39}"/>
                </a:ext>
              </a:extLst>
            </p:cNvPr>
            <p:cNvCxnSpPr>
              <a:cxnSpLocks/>
            </p:cNvCxnSpPr>
            <p:nvPr/>
          </p:nvCxnSpPr>
          <p:spPr>
            <a:xfrm>
              <a:off x="1907705" y="2348880"/>
              <a:ext cx="2160239" cy="0"/>
            </a:xfrm>
            <a:prstGeom prst="straightConnector1">
              <a:avLst/>
            </a:prstGeom>
            <a:ln w="38100">
              <a:headEnd type="none" w="lg" len="lg"/>
              <a:tailEnd type="stealth" w="lg" len="lg"/>
            </a:ln>
          </p:spPr>
          <p:style>
            <a:lnRef idx="1">
              <a:schemeClr val="accent1"/>
            </a:lnRef>
            <a:fillRef idx="0">
              <a:schemeClr val="accent1"/>
            </a:fillRef>
            <a:effectRef idx="0">
              <a:schemeClr val="accent1"/>
            </a:effectRef>
            <a:fontRef idx="minor">
              <a:schemeClr val="tx1"/>
            </a:fontRef>
          </p:style>
        </p:cxnSp>
        <p:sp>
          <p:nvSpPr>
            <p:cNvPr id="46" name="矩形 45">
              <a:extLst>
                <a:ext uri="{FF2B5EF4-FFF2-40B4-BE49-F238E27FC236}">
                  <a16:creationId xmlns:a16="http://schemas.microsoft.com/office/drawing/2014/main" id="{E6EF6C4F-1133-854D-B834-B77C8B70DE78}"/>
                </a:ext>
              </a:extLst>
            </p:cNvPr>
            <p:cNvSpPr/>
            <p:nvPr/>
          </p:nvSpPr>
          <p:spPr>
            <a:xfrm>
              <a:off x="2497941" y="1975077"/>
              <a:ext cx="880187" cy="369332"/>
            </a:xfrm>
            <a:prstGeom prst="rect">
              <a:avLst/>
            </a:prstGeom>
          </p:spPr>
          <p:txBody>
            <a:bodyPr wrap="none">
              <a:spAutoFit/>
            </a:bodyPr>
            <a:lstStyle/>
            <a:p>
              <a:pPr marL="0" lvl="1"/>
              <a:r>
                <a:rPr lang="zh-CN" altLang="en-US" dirty="0">
                  <a:latin typeface="Microsoft YaHei" panose="020B0503020204020204" pitchFamily="34" charset="-122"/>
                  <a:ea typeface="Microsoft YaHei" panose="020B0503020204020204" pitchFamily="34" charset="-122"/>
                </a:rPr>
                <a:t>請求指令</a:t>
              </a:r>
            </a:p>
          </p:txBody>
        </p:sp>
        <p:cxnSp>
          <p:nvCxnSpPr>
            <p:cNvPr id="47" name="直线箭头连接符 15">
              <a:extLst>
                <a:ext uri="{FF2B5EF4-FFF2-40B4-BE49-F238E27FC236}">
                  <a16:creationId xmlns:a16="http://schemas.microsoft.com/office/drawing/2014/main" id="{05353141-29E3-FA4C-9E81-1CF708C2D652}"/>
                </a:ext>
              </a:extLst>
            </p:cNvPr>
            <p:cNvCxnSpPr>
              <a:cxnSpLocks/>
            </p:cNvCxnSpPr>
            <p:nvPr/>
          </p:nvCxnSpPr>
          <p:spPr>
            <a:xfrm flipH="1">
              <a:off x="1899873" y="2636912"/>
              <a:ext cx="2168071" cy="0"/>
            </a:xfrm>
            <a:prstGeom prst="straightConnector1">
              <a:avLst/>
            </a:prstGeom>
            <a:ln w="38100">
              <a:headEnd type="none" w="lg" len="lg"/>
              <a:tailEnd type="stealth" w="lg" len="lg"/>
            </a:ln>
          </p:spPr>
          <p:style>
            <a:lnRef idx="1">
              <a:schemeClr val="accent1"/>
            </a:lnRef>
            <a:fillRef idx="0">
              <a:schemeClr val="accent1"/>
            </a:fillRef>
            <a:effectRef idx="0">
              <a:schemeClr val="accent1"/>
            </a:effectRef>
            <a:fontRef idx="minor">
              <a:schemeClr val="tx1"/>
            </a:fontRef>
          </p:style>
        </p:cxnSp>
        <p:sp>
          <p:nvSpPr>
            <p:cNvPr id="48" name="矩形 47">
              <a:extLst>
                <a:ext uri="{FF2B5EF4-FFF2-40B4-BE49-F238E27FC236}">
                  <a16:creationId xmlns:a16="http://schemas.microsoft.com/office/drawing/2014/main" id="{1786E303-4FA9-2D4B-B5A6-CFE10483832D}"/>
                </a:ext>
              </a:extLst>
            </p:cNvPr>
            <p:cNvSpPr/>
            <p:nvPr/>
          </p:nvSpPr>
          <p:spPr>
            <a:xfrm>
              <a:off x="2658739" y="2685899"/>
              <a:ext cx="513442" cy="369332"/>
            </a:xfrm>
            <a:prstGeom prst="rect">
              <a:avLst/>
            </a:prstGeom>
          </p:spPr>
          <p:txBody>
            <a:bodyPr wrap="none">
              <a:spAutoFit/>
            </a:bodyPr>
            <a:lstStyle/>
            <a:p>
              <a:r>
                <a:rPr lang="zh-CN" altLang="en-US" b="1" dirty="0"/>
                <a:t>回復</a:t>
              </a:r>
              <a:endParaRPr lang="zh-CN" altLang="en-US" dirty="0"/>
            </a:p>
          </p:txBody>
        </p:sp>
        <p:sp>
          <p:nvSpPr>
            <p:cNvPr id="50" name="矩形 49">
              <a:extLst>
                <a:ext uri="{FF2B5EF4-FFF2-40B4-BE49-F238E27FC236}">
                  <a16:creationId xmlns:a16="http://schemas.microsoft.com/office/drawing/2014/main" id="{DE855BFF-37D4-E34A-9001-ED576547624A}"/>
                </a:ext>
              </a:extLst>
            </p:cNvPr>
            <p:cNvSpPr/>
            <p:nvPr/>
          </p:nvSpPr>
          <p:spPr>
            <a:xfrm>
              <a:off x="971600" y="2771636"/>
              <a:ext cx="735586" cy="369332"/>
            </a:xfrm>
            <a:prstGeom prst="rect">
              <a:avLst/>
            </a:prstGeom>
          </p:spPr>
          <p:txBody>
            <a:bodyPr wrap="none">
              <a:spAutoFit/>
            </a:bodyPr>
            <a:lstStyle/>
            <a:p>
              <a:r>
                <a:rPr lang="en-US" altLang="zh-CN" b="1" dirty="0"/>
                <a:t>Client</a:t>
              </a:r>
              <a:endParaRPr lang="zh-CN" altLang="en-US" dirty="0"/>
            </a:p>
          </p:txBody>
        </p:sp>
      </p:grpSp>
      <p:pic>
        <p:nvPicPr>
          <p:cNvPr id="51" name="图片 50">
            <a:extLst>
              <a:ext uri="{FF2B5EF4-FFF2-40B4-BE49-F238E27FC236}">
                <a16:creationId xmlns:a16="http://schemas.microsoft.com/office/drawing/2014/main" id="{A0DA8410-F439-0840-80BA-6AFF9C5D65FF}"/>
              </a:ext>
            </a:extLst>
          </p:cNvPr>
          <p:cNvPicPr>
            <a:picLocks noChangeAspect="1"/>
          </p:cNvPicPr>
          <p:nvPr/>
        </p:nvPicPr>
        <p:blipFill>
          <a:blip r:embed="rId6"/>
          <a:stretch>
            <a:fillRect/>
          </a:stretch>
        </p:blipFill>
        <p:spPr>
          <a:xfrm>
            <a:off x="9322253" y="1014971"/>
            <a:ext cx="562268" cy="517102"/>
          </a:xfrm>
          <a:prstGeom prst="rect">
            <a:avLst/>
          </a:prstGeom>
        </p:spPr>
      </p:pic>
      <p:sp>
        <p:nvSpPr>
          <p:cNvPr id="4" name="矩形 3">
            <a:extLst>
              <a:ext uri="{FF2B5EF4-FFF2-40B4-BE49-F238E27FC236}">
                <a16:creationId xmlns:a16="http://schemas.microsoft.com/office/drawing/2014/main" id="{B57F8E94-8479-674B-9BCB-4053C14E5721}"/>
              </a:ext>
            </a:extLst>
          </p:cNvPr>
          <p:cNvSpPr/>
          <p:nvPr/>
        </p:nvSpPr>
        <p:spPr>
          <a:xfrm>
            <a:off x="10614552" y="1156284"/>
            <a:ext cx="1338828"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拜占庭節點</a:t>
            </a:r>
            <a:endParaRPr lang="zh-CN" altLang="en-US" dirty="0"/>
          </a:p>
        </p:txBody>
      </p:sp>
      <p:sp>
        <p:nvSpPr>
          <p:cNvPr id="26" name="灯片编号占位符 2">
            <a:extLst>
              <a:ext uri="{FF2B5EF4-FFF2-40B4-BE49-F238E27FC236}">
                <a16:creationId xmlns:a16="http://schemas.microsoft.com/office/drawing/2014/main" id="{4116602D-4021-AE47-A55D-4486C421596D}"/>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118</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84430285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lang="zh-CN" altLang="en-US" dirty="0"/>
              <a:t>拜占庭共識：</a:t>
            </a:r>
            <a:r>
              <a:rPr lang="en-US" altLang="zh-CN" sz="4000" dirty="0"/>
              <a:t>Quorum</a:t>
            </a:r>
            <a:r>
              <a:rPr lang="zh-CN" altLang="en-US" sz="4000" dirty="0"/>
              <a:t>設計準則</a:t>
            </a:r>
            <a:endParaRPr kumimoji="1" lang="zh-CN" altLang="en-US" sz="4000" dirty="0"/>
          </a:p>
        </p:txBody>
      </p:sp>
      <p:sp>
        <p:nvSpPr>
          <p:cNvPr id="36" name="内容占位符 2">
            <a:extLst>
              <a:ext uri="{FF2B5EF4-FFF2-40B4-BE49-F238E27FC236}">
                <a16:creationId xmlns:a16="http://schemas.microsoft.com/office/drawing/2014/main" id="{DCEADE03-EFD3-F148-BFBF-6F07679352C5}"/>
              </a:ext>
            </a:extLst>
          </p:cNvPr>
          <p:cNvSpPr txBox="1"/>
          <p:nvPr/>
        </p:nvSpPr>
        <p:spPr>
          <a:xfrm>
            <a:off x="588922" y="1050843"/>
            <a:ext cx="10968897" cy="715826"/>
          </a:xfrm>
          <a:prstGeom prst="rect">
            <a:avLst/>
          </a:prstGeom>
          <a:solidFill>
            <a:srgbClr val="00B0F0"/>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algn="just">
              <a:lnSpc>
                <a:spcPct val="125000"/>
              </a:lnSpc>
              <a:defRPr sz="1600" kern="0">
                <a:solidFill>
                  <a:srgbClr val="000000"/>
                </a:solidFill>
                <a:ea typeface="微软雅黑" panose="020B0503020204020204"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2400" b="1" dirty="0">
                <a:solidFill>
                  <a:schemeClr val="bg1"/>
                </a:solidFill>
              </a:rPr>
              <a:t>基本規則：分布式系統每階段提案中，誠實節點最多只對一個提案投一次票</a:t>
            </a:r>
          </a:p>
        </p:txBody>
      </p:sp>
      <p:grpSp>
        <p:nvGrpSpPr>
          <p:cNvPr id="4" name="组合 3">
            <a:extLst>
              <a:ext uri="{FF2B5EF4-FFF2-40B4-BE49-F238E27FC236}">
                <a16:creationId xmlns:a16="http://schemas.microsoft.com/office/drawing/2014/main" id="{FB102DA3-4D87-B04C-8DA5-1B4511DDEECB}"/>
              </a:ext>
            </a:extLst>
          </p:cNvPr>
          <p:cNvGrpSpPr/>
          <p:nvPr/>
        </p:nvGrpSpPr>
        <p:grpSpPr>
          <a:xfrm>
            <a:off x="588921" y="4264050"/>
            <a:ext cx="10976500" cy="2689199"/>
            <a:chOff x="472834" y="3126264"/>
            <a:chExt cx="11216395" cy="3345823"/>
          </a:xfrm>
        </p:grpSpPr>
        <p:grpSp>
          <p:nvGrpSpPr>
            <p:cNvPr id="38" name="组合 37">
              <a:extLst>
                <a:ext uri="{FF2B5EF4-FFF2-40B4-BE49-F238E27FC236}">
                  <a16:creationId xmlns:a16="http://schemas.microsoft.com/office/drawing/2014/main" id="{55350270-E5AF-194A-BA7F-9115C863A89A}"/>
                </a:ext>
              </a:extLst>
            </p:cNvPr>
            <p:cNvGrpSpPr/>
            <p:nvPr/>
          </p:nvGrpSpPr>
          <p:grpSpPr>
            <a:xfrm>
              <a:off x="472834" y="3244417"/>
              <a:ext cx="11208626" cy="3227670"/>
              <a:chOff x="695602" y="1039004"/>
              <a:chExt cx="5633944" cy="2327073"/>
            </a:xfrm>
          </p:grpSpPr>
          <p:sp>
            <p:nvSpPr>
              <p:cNvPr id="39" name="矩形 38">
                <a:extLst>
                  <a:ext uri="{FF2B5EF4-FFF2-40B4-BE49-F238E27FC236}">
                    <a16:creationId xmlns:a16="http://schemas.microsoft.com/office/drawing/2014/main" id="{A5F4F29E-6745-A647-B926-963EB1FAB1EC}"/>
                  </a:ext>
                </a:extLst>
              </p:cNvPr>
              <p:cNvSpPr/>
              <p:nvPr/>
            </p:nvSpPr>
            <p:spPr bwMode="auto">
              <a:xfrm>
                <a:off x="695602" y="1039004"/>
                <a:ext cx="5633944" cy="2327073"/>
              </a:xfrm>
              <a:prstGeom prst="rect">
                <a:avLst/>
              </a:prstGeom>
              <a:solidFill>
                <a:srgbClr val="FFFFFF"/>
              </a:solidFill>
              <a:ln w="6350">
                <a:noFill/>
              </a:ln>
              <a:effectLst>
                <a:outerShdw blurRad="254000" dist="127000" dir="5400000" sx="90000" sy="90000" rotWithShape="0">
                  <a:prstClr val="black">
                    <a:alpha val="15000"/>
                  </a:prstClr>
                </a:outerShdw>
              </a:effectLst>
            </p:spPr>
            <p:txBody>
              <a:bodyPr lIns="144000" tIns="108000" rIns="90000" bIns="108000" anchor="ctr"/>
              <a:lstStyle/>
              <a:p>
                <a:pPr marL="0" marR="0" lvl="0" indent="0" algn="just" defTabSz="914400" rtl="0" eaLnBrk="1" fontAlgn="auto" latinLnBrk="0" hangingPunct="1">
                  <a:lnSpc>
                    <a:spcPct val="125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40" name="内容占位符 2">
                <a:extLst>
                  <a:ext uri="{FF2B5EF4-FFF2-40B4-BE49-F238E27FC236}">
                    <a16:creationId xmlns:a16="http://schemas.microsoft.com/office/drawing/2014/main" id="{BCD122B8-4DB4-C649-B450-DE08C9C6499C}"/>
                  </a:ext>
                </a:extLst>
              </p:cNvPr>
              <p:cNvSpPr txBox="1"/>
              <p:nvPr/>
            </p:nvSpPr>
            <p:spPr>
              <a:xfrm>
                <a:off x="695602" y="1183168"/>
                <a:ext cx="5633944" cy="2177279"/>
              </a:xfrm>
              <a:prstGeom prst="rect">
                <a:avLst/>
              </a:prstGeom>
              <a:ln>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1" lang="en-US" altLang="zh-CN"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grpSp>
        <p:sp>
          <p:nvSpPr>
            <p:cNvPr id="3" name="矩形 2">
              <a:extLst>
                <a:ext uri="{FF2B5EF4-FFF2-40B4-BE49-F238E27FC236}">
                  <a16:creationId xmlns:a16="http://schemas.microsoft.com/office/drawing/2014/main" id="{7F6F4708-1158-9C45-8112-5AB63E21513F}"/>
                </a:ext>
              </a:extLst>
            </p:cNvPr>
            <p:cNvSpPr/>
            <p:nvPr/>
          </p:nvSpPr>
          <p:spPr>
            <a:xfrm>
              <a:off x="630710" y="3126264"/>
              <a:ext cx="11058519" cy="2790737"/>
            </a:xfrm>
            <a:prstGeom prst="rect">
              <a:avLst/>
            </a:prstGeom>
            <a:ln>
              <a:noFill/>
            </a:ln>
          </p:spPr>
          <p:txBody>
            <a:bodyPr wrap="square">
              <a:spAutoFit/>
            </a:bodyPr>
            <a:lstStyle/>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目的</a:t>
              </a:r>
              <a:r>
                <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1-</a:t>
              </a: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安全性：</a:t>
              </a:r>
              <a:r>
                <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Quorum</a:t>
              </a: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值</a:t>
              </a:r>
              <a:r>
                <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q</a:t>
              </a: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應該足够大，避免通過兩個</a:t>
              </a:r>
              <a:r>
                <a:rPr kumimoji="0" lang="zh-CN" altLang="en-US" sz="2400" b="1"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矛盾提案</a:t>
              </a:r>
              <a:endParaRPr kumimoji="0" lang="en-US" altLang="zh-CN" sz="2400" b="1"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endParaRPr>
            </a:p>
            <a:p>
              <a:pPr marR="0" lvl="0" algn="l" defTabSz="914400" rtl="0" eaLnBrk="1" fontAlgn="auto" latinLnBrk="0" hangingPunct="1">
                <a:lnSpc>
                  <a:spcPct val="150000"/>
                </a:lnSpc>
                <a:spcBef>
                  <a:spcPts val="0"/>
                </a:spcBef>
                <a:spcAft>
                  <a:spcPts val="0"/>
                </a:spcAft>
                <a:buClrTx/>
                <a:buSzTx/>
                <a:tabLst/>
                <a:defRPr/>
              </a:pPr>
              <a:r>
                <a:rPr kumimoji="0" lang="zh-CN" altLang="en-US" sz="2400" b="1"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    解决方案：</a:t>
              </a:r>
              <a:r>
                <a:rPr kumimoji="0" lang="en-US" altLang="zh-CN" sz="2400" b="1"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 </a:t>
              </a: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針對兩個提案可能産生的最高總投票數 ≤</a:t>
              </a:r>
              <a:r>
                <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 2*q – 1</a:t>
              </a: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目的</a:t>
              </a:r>
              <a:r>
                <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2-</a:t>
              </a: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活性：</a:t>
              </a:r>
              <a:r>
                <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Quorum</a:t>
              </a: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值</a:t>
              </a:r>
              <a:r>
                <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q</a:t>
              </a: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應該足够小，避免錯誤節點不投票使提案</a:t>
              </a:r>
              <a:r>
                <a:rPr kumimoji="0" lang="zh-CN" altLang="en-US" sz="2400" b="1"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無法通過</a:t>
              </a:r>
              <a:r>
                <a:rPr kumimoji="0" lang="en-US" altLang="zh-CN" sz="2400" b="1"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     </a:t>
              </a:r>
              <a:r>
                <a:rPr kumimoji="0" lang="zh-CN" altLang="en-US" sz="2400" b="1"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mn-cs"/>
                </a:rPr>
                <a:t>解决方案：</a:t>
              </a:r>
              <a:r>
                <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q </a:t>
              </a: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 最低可能産生的投票數；</a:t>
              </a:r>
              <a:r>
                <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q</a:t>
              </a: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 </a:t>
              </a:r>
              <a:r>
                <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&gt;</a:t>
              </a:r>
              <a:r>
                <a:rPr kumimoji="0" lang="zh-CN" altLang="en-US"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 拜占庭節點個數</a:t>
              </a:r>
              <a:endParaRPr kumimoji="0" lang="en-US" altLang="zh-CN" sz="24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endParaRPr>
            </a:p>
          </p:txBody>
        </p:sp>
      </p:grpSp>
      <p:pic>
        <p:nvPicPr>
          <p:cNvPr id="6" name="图形 5" descr="用户">
            <a:extLst>
              <a:ext uri="{FF2B5EF4-FFF2-40B4-BE49-F238E27FC236}">
                <a16:creationId xmlns:a16="http://schemas.microsoft.com/office/drawing/2014/main" id="{94E70F26-D2F6-7144-B251-1A50F98FE62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5120" y="2113431"/>
            <a:ext cx="1131769" cy="1131769"/>
          </a:xfrm>
          <a:prstGeom prst="rect">
            <a:avLst/>
          </a:prstGeom>
        </p:spPr>
      </p:pic>
      <p:pic>
        <p:nvPicPr>
          <p:cNvPr id="16" name="图形 15" descr="用户">
            <a:extLst>
              <a:ext uri="{FF2B5EF4-FFF2-40B4-BE49-F238E27FC236}">
                <a16:creationId xmlns:a16="http://schemas.microsoft.com/office/drawing/2014/main" id="{2F9923AE-FAF9-034C-833C-6C9E48404BC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95751" y="2113430"/>
            <a:ext cx="1131769" cy="1131769"/>
          </a:xfrm>
          <a:prstGeom prst="rect">
            <a:avLst/>
          </a:prstGeom>
        </p:spPr>
      </p:pic>
      <p:pic>
        <p:nvPicPr>
          <p:cNvPr id="14" name="图形 13" descr="右箭头">
            <a:extLst>
              <a:ext uri="{FF2B5EF4-FFF2-40B4-BE49-F238E27FC236}">
                <a16:creationId xmlns:a16="http://schemas.microsoft.com/office/drawing/2014/main" id="{43130A6D-6147-CB41-9BCF-92ECF02B098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726971" y="2222114"/>
            <a:ext cx="914400" cy="914400"/>
          </a:xfrm>
          <a:prstGeom prst="rect">
            <a:avLst/>
          </a:prstGeom>
        </p:spPr>
      </p:pic>
      <p:pic>
        <p:nvPicPr>
          <p:cNvPr id="27" name="图形 26" descr="右箭头">
            <a:extLst>
              <a:ext uri="{FF2B5EF4-FFF2-40B4-BE49-F238E27FC236}">
                <a16:creationId xmlns:a16="http://schemas.microsoft.com/office/drawing/2014/main" id="{321BFFAE-6526-D84A-9942-9789A8B2B91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a:off x="1768735" y="2222114"/>
            <a:ext cx="914400" cy="914400"/>
          </a:xfrm>
          <a:prstGeom prst="rect">
            <a:avLst/>
          </a:prstGeom>
        </p:spPr>
      </p:pic>
      <p:sp>
        <p:nvSpPr>
          <p:cNvPr id="18" name="矩形 17">
            <a:extLst>
              <a:ext uri="{FF2B5EF4-FFF2-40B4-BE49-F238E27FC236}">
                <a16:creationId xmlns:a16="http://schemas.microsoft.com/office/drawing/2014/main" id="{53860252-31A0-704D-B57B-4C8BB4BF7990}"/>
              </a:ext>
            </a:extLst>
          </p:cNvPr>
          <p:cNvSpPr/>
          <p:nvPr/>
        </p:nvSpPr>
        <p:spPr>
          <a:xfrm>
            <a:off x="3764825" y="2191266"/>
            <a:ext cx="838691"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rPr>
              <a:t>我選 </a:t>
            </a:r>
            <a:r>
              <a:rPr kumimoji="0" lang="en-US" altLang="zh-CN" sz="1800" b="0" i="0" u="none" strike="noStrike" kern="1200" cap="none" spc="0" normalizeH="0" baseline="0" noProof="0" dirty="0">
                <a:ln>
                  <a:noFill/>
                </a:ln>
                <a:solidFill>
                  <a:srgbClr val="000000"/>
                </a:solidFill>
                <a:effectLst/>
                <a:uLnTx/>
                <a:uFillTx/>
                <a:latin typeface="Arial"/>
                <a:ea typeface="微软雅黑 Light"/>
                <a:cs typeface="+mn-cs"/>
              </a:rPr>
              <a:t>1</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29" name="矩形 28">
            <a:extLst>
              <a:ext uri="{FF2B5EF4-FFF2-40B4-BE49-F238E27FC236}">
                <a16:creationId xmlns:a16="http://schemas.microsoft.com/office/drawing/2014/main" id="{09E3B0C0-49E9-B145-89AF-726E8C3B510C}"/>
              </a:ext>
            </a:extLst>
          </p:cNvPr>
          <p:cNvSpPr/>
          <p:nvPr/>
        </p:nvSpPr>
        <p:spPr>
          <a:xfrm>
            <a:off x="1897396" y="2190583"/>
            <a:ext cx="838691"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rPr>
              <a:t>我選 </a:t>
            </a:r>
            <a:r>
              <a:rPr kumimoji="0" lang="en-US" altLang="zh-CN" sz="1800" b="0" i="0" u="none" strike="noStrike" kern="1200" cap="none" spc="0" normalizeH="0" baseline="0" noProof="0" dirty="0">
                <a:ln>
                  <a:noFill/>
                </a:ln>
                <a:solidFill>
                  <a:srgbClr val="000000"/>
                </a:solidFill>
                <a:effectLst/>
                <a:uLnTx/>
                <a:uFillTx/>
                <a:latin typeface="Arial"/>
                <a:ea typeface="微软雅黑 Light"/>
                <a:cs typeface="+mn-cs"/>
              </a:rPr>
              <a:t>2</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19" name="矩形 18">
            <a:extLst>
              <a:ext uri="{FF2B5EF4-FFF2-40B4-BE49-F238E27FC236}">
                <a16:creationId xmlns:a16="http://schemas.microsoft.com/office/drawing/2014/main" id="{A2E9A1CB-F78E-F346-B043-232DBAA1A943}"/>
              </a:ext>
            </a:extLst>
          </p:cNvPr>
          <p:cNvSpPr/>
          <p:nvPr/>
        </p:nvSpPr>
        <p:spPr>
          <a:xfrm>
            <a:off x="4885908" y="2951848"/>
            <a:ext cx="1011815"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人數：</a:t>
            </a:r>
            <a:r>
              <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4</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31" name="矩形 30">
            <a:extLst>
              <a:ext uri="{FF2B5EF4-FFF2-40B4-BE49-F238E27FC236}">
                <a16:creationId xmlns:a16="http://schemas.microsoft.com/office/drawing/2014/main" id="{BB8FED8F-AAAC-FC4E-9114-71F5AECFBEF3}"/>
              </a:ext>
            </a:extLst>
          </p:cNvPr>
          <p:cNvSpPr/>
          <p:nvPr/>
        </p:nvSpPr>
        <p:spPr>
          <a:xfrm>
            <a:off x="711020" y="2964865"/>
            <a:ext cx="1011815"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人數：</a:t>
            </a:r>
            <a:r>
              <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5</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33" name="矩形 32">
            <a:extLst>
              <a:ext uri="{FF2B5EF4-FFF2-40B4-BE49-F238E27FC236}">
                <a16:creationId xmlns:a16="http://schemas.microsoft.com/office/drawing/2014/main" id="{034AC1AE-6A40-224E-B274-352CFE7A77DA}"/>
              </a:ext>
            </a:extLst>
          </p:cNvPr>
          <p:cNvSpPr/>
          <p:nvPr/>
        </p:nvSpPr>
        <p:spPr>
          <a:xfrm>
            <a:off x="2632221" y="2959524"/>
            <a:ext cx="1011815"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人數：</a:t>
            </a:r>
            <a:r>
              <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4</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pic>
        <p:nvPicPr>
          <p:cNvPr id="42" name="图形 41" descr="用户">
            <a:extLst>
              <a:ext uri="{FF2B5EF4-FFF2-40B4-BE49-F238E27FC236}">
                <a16:creationId xmlns:a16="http://schemas.microsoft.com/office/drawing/2014/main" id="{EEF7038B-DCFD-4D49-9ACC-D4B6AE3489E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631147" y="2013616"/>
            <a:ext cx="1131769" cy="1131769"/>
          </a:xfrm>
          <a:prstGeom prst="rect">
            <a:avLst/>
          </a:prstGeom>
        </p:spPr>
      </p:pic>
      <p:sp>
        <p:nvSpPr>
          <p:cNvPr id="20" name="矩形 19">
            <a:extLst>
              <a:ext uri="{FF2B5EF4-FFF2-40B4-BE49-F238E27FC236}">
                <a16:creationId xmlns:a16="http://schemas.microsoft.com/office/drawing/2014/main" id="{654764EB-E4D2-8643-854F-7ADDABAD1598}"/>
              </a:ext>
            </a:extLst>
          </p:cNvPr>
          <p:cNvSpPr/>
          <p:nvPr/>
        </p:nvSpPr>
        <p:spPr>
          <a:xfrm>
            <a:off x="1622467" y="3584827"/>
            <a:ext cx="689612"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q=8</a:t>
            </a:r>
            <a:endParaRPr kumimoji="0" lang="zh-CN" altLang="en-US" sz="20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43" name="矩形 42">
            <a:extLst>
              <a:ext uri="{FF2B5EF4-FFF2-40B4-BE49-F238E27FC236}">
                <a16:creationId xmlns:a16="http://schemas.microsoft.com/office/drawing/2014/main" id="{889E3418-0677-8943-BEA9-149219DC5AB6}"/>
              </a:ext>
            </a:extLst>
          </p:cNvPr>
          <p:cNvSpPr/>
          <p:nvPr/>
        </p:nvSpPr>
        <p:spPr>
          <a:xfrm>
            <a:off x="3614150" y="3548407"/>
            <a:ext cx="689612"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q=9</a:t>
            </a:r>
            <a:endParaRPr kumimoji="0" lang="zh-CN" altLang="en-US" sz="2000" b="0" i="0" u="none" strike="noStrike" kern="1200" cap="none" spc="0" normalizeH="0" baseline="0" noProof="0" dirty="0">
              <a:ln>
                <a:noFill/>
              </a:ln>
              <a:solidFill>
                <a:srgbClr val="000000"/>
              </a:solidFill>
              <a:effectLst/>
              <a:uLnTx/>
              <a:uFillTx/>
              <a:latin typeface="Arial"/>
              <a:ea typeface="微软雅黑 Light"/>
              <a:cs typeface="+mn-cs"/>
            </a:endParaRPr>
          </a:p>
        </p:txBody>
      </p:sp>
      <p:pic>
        <p:nvPicPr>
          <p:cNvPr id="44" name="图形 43" descr="复选标记">
            <a:extLst>
              <a:ext uri="{FF2B5EF4-FFF2-40B4-BE49-F238E27FC236}">
                <a16:creationId xmlns:a16="http://schemas.microsoft.com/office/drawing/2014/main" id="{1EF0F796-F4A1-8244-9056-C8A5999C9F0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406090" y="3570732"/>
            <a:ext cx="389661" cy="389661"/>
          </a:xfrm>
          <a:prstGeom prst="rect">
            <a:avLst/>
          </a:prstGeom>
        </p:spPr>
      </p:pic>
      <p:pic>
        <p:nvPicPr>
          <p:cNvPr id="24" name="图形 23" descr="关闭">
            <a:extLst>
              <a:ext uri="{FF2B5EF4-FFF2-40B4-BE49-F238E27FC236}">
                <a16:creationId xmlns:a16="http://schemas.microsoft.com/office/drawing/2014/main" id="{F4199915-0957-8F4C-A95A-9E714776BCA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324711" y="3584377"/>
            <a:ext cx="441324" cy="441324"/>
          </a:xfrm>
          <a:prstGeom prst="rect">
            <a:avLst/>
          </a:prstGeom>
        </p:spPr>
      </p:pic>
      <p:cxnSp>
        <p:nvCxnSpPr>
          <p:cNvPr id="45" name="直线连接符 44">
            <a:extLst>
              <a:ext uri="{FF2B5EF4-FFF2-40B4-BE49-F238E27FC236}">
                <a16:creationId xmlns:a16="http://schemas.microsoft.com/office/drawing/2014/main" id="{24B54F8C-0C2D-2148-AE33-F60843F7F678}"/>
              </a:ext>
            </a:extLst>
          </p:cNvPr>
          <p:cNvCxnSpPr>
            <a:cxnSpLocks/>
          </p:cNvCxnSpPr>
          <p:nvPr/>
        </p:nvCxnSpPr>
        <p:spPr>
          <a:xfrm flipV="1">
            <a:off x="6019800" y="1975023"/>
            <a:ext cx="0" cy="2050679"/>
          </a:xfrm>
          <a:prstGeom prst="line">
            <a:avLst/>
          </a:prstGeom>
          <a:ln>
            <a:prstDash val="dash"/>
          </a:ln>
        </p:spPr>
        <p:style>
          <a:lnRef idx="1">
            <a:schemeClr val="accent1"/>
          </a:lnRef>
          <a:fillRef idx="0">
            <a:schemeClr val="accent1"/>
          </a:fillRef>
          <a:effectRef idx="0">
            <a:schemeClr val="accent1"/>
          </a:effectRef>
          <a:fontRef idx="minor">
            <a:schemeClr val="tx1"/>
          </a:fontRef>
        </p:style>
      </p:cxnSp>
      <p:pic>
        <p:nvPicPr>
          <p:cNvPr id="46" name="图形 45" descr="用户">
            <a:extLst>
              <a:ext uri="{FF2B5EF4-FFF2-40B4-BE49-F238E27FC236}">
                <a16:creationId xmlns:a16="http://schemas.microsoft.com/office/drawing/2014/main" id="{D91EA9BB-7C6F-D44F-B1FD-6BDA416786B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363201" y="2115795"/>
            <a:ext cx="1131769" cy="1131769"/>
          </a:xfrm>
          <a:prstGeom prst="rect">
            <a:avLst/>
          </a:prstGeom>
        </p:spPr>
      </p:pic>
      <p:pic>
        <p:nvPicPr>
          <p:cNvPr id="47" name="图形 46" descr="用户">
            <a:extLst>
              <a:ext uri="{FF2B5EF4-FFF2-40B4-BE49-F238E27FC236}">
                <a16:creationId xmlns:a16="http://schemas.microsoft.com/office/drawing/2014/main" id="{54927308-52FE-9848-9C05-EBBF933B4D3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04813" y="2113430"/>
            <a:ext cx="1131769" cy="1131769"/>
          </a:xfrm>
          <a:prstGeom prst="rect">
            <a:avLst/>
          </a:prstGeom>
        </p:spPr>
      </p:pic>
      <p:pic>
        <p:nvPicPr>
          <p:cNvPr id="49" name="图形 48" descr="右箭头">
            <a:extLst>
              <a:ext uri="{FF2B5EF4-FFF2-40B4-BE49-F238E27FC236}">
                <a16:creationId xmlns:a16="http://schemas.microsoft.com/office/drawing/2014/main" id="{B1E0A6F0-BD12-434C-B4FB-7842BFC1E7B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a:off x="7625635" y="2087788"/>
            <a:ext cx="1684991" cy="914400"/>
          </a:xfrm>
          <a:prstGeom prst="rect">
            <a:avLst/>
          </a:prstGeom>
        </p:spPr>
      </p:pic>
      <p:sp>
        <p:nvSpPr>
          <p:cNvPr id="51" name="矩形 50">
            <a:extLst>
              <a:ext uri="{FF2B5EF4-FFF2-40B4-BE49-F238E27FC236}">
                <a16:creationId xmlns:a16="http://schemas.microsoft.com/office/drawing/2014/main" id="{8B4AD6C1-76CA-874C-B675-02998CC7CC42}"/>
              </a:ext>
            </a:extLst>
          </p:cNvPr>
          <p:cNvSpPr/>
          <p:nvPr/>
        </p:nvSpPr>
        <p:spPr>
          <a:xfrm>
            <a:off x="8061752" y="2151261"/>
            <a:ext cx="1069524"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rPr>
              <a:t>我們選 </a:t>
            </a:r>
            <a:r>
              <a:rPr kumimoji="0" lang="en-US" altLang="zh-CN" sz="1800" b="0" i="0" u="none" strike="noStrike" kern="1200" cap="none" spc="0" normalizeH="0" baseline="0" noProof="0" dirty="0">
                <a:ln>
                  <a:noFill/>
                </a:ln>
                <a:solidFill>
                  <a:srgbClr val="000000"/>
                </a:solidFill>
                <a:effectLst/>
                <a:uLnTx/>
                <a:uFillTx/>
                <a:latin typeface="Arial"/>
                <a:ea typeface="微软雅黑 Light"/>
                <a:cs typeface="+mn-cs"/>
              </a:rPr>
              <a:t>1</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52" name="矩形 51">
            <a:extLst>
              <a:ext uri="{FF2B5EF4-FFF2-40B4-BE49-F238E27FC236}">
                <a16:creationId xmlns:a16="http://schemas.microsoft.com/office/drawing/2014/main" id="{A63EABA2-46E8-DF47-BCF4-C99BEF02266D}"/>
              </a:ext>
            </a:extLst>
          </p:cNvPr>
          <p:cNvSpPr/>
          <p:nvPr/>
        </p:nvSpPr>
        <p:spPr>
          <a:xfrm>
            <a:off x="9972457" y="2963723"/>
            <a:ext cx="1011815"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人數：</a:t>
            </a:r>
            <a:r>
              <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9</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54" name="矩形 53">
            <a:extLst>
              <a:ext uri="{FF2B5EF4-FFF2-40B4-BE49-F238E27FC236}">
                <a16:creationId xmlns:a16="http://schemas.microsoft.com/office/drawing/2014/main" id="{07B52038-4A17-2948-84B2-D5FD63D2F37B}"/>
              </a:ext>
            </a:extLst>
          </p:cNvPr>
          <p:cNvSpPr/>
          <p:nvPr/>
        </p:nvSpPr>
        <p:spPr>
          <a:xfrm>
            <a:off x="6566861" y="2959524"/>
            <a:ext cx="1011815"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人數：</a:t>
            </a:r>
            <a:r>
              <a:rPr kumimoji="0" lang="en-US" altLang="zh-CN" sz="18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4</a:t>
            </a:r>
            <a:endPar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endParaRPr>
          </a:p>
        </p:txBody>
      </p:sp>
      <p:pic>
        <p:nvPicPr>
          <p:cNvPr id="55" name="图形 54" descr="用户">
            <a:extLst>
              <a:ext uri="{FF2B5EF4-FFF2-40B4-BE49-F238E27FC236}">
                <a16:creationId xmlns:a16="http://schemas.microsoft.com/office/drawing/2014/main" id="{361348CA-BA21-0D4C-8BA1-D571D21F5D6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94537" y="2013616"/>
            <a:ext cx="1131769" cy="1131769"/>
          </a:xfrm>
          <a:prstGeom prst="rect">
            <a:avLst/>
          </a:prstGeom>
        </p:spPr>
      </p:pic>
      <p:sp>
        <p:nvSpPr>
          <p:cNvPr id="56" name="矩形 55">
            <a:extLst>
              <a:ext uri="{FF2B5EF4-FFF2-40B4-BE49-F238E27FC236}">
                <a16:creationId xmlns:a16="http://schemas.microsoft.com/office/drawing/2014/main" id="{0D5599AD-0D10-D546-879C-B76EF0F1ABAC}"/>
              </a:ext>
            </a:extLst>
          </p:cNvPr>
          <p:cNvSpPr/>
          <p:nvPr/>
        </p:nvSpPr>
        <p:spPr>
          <a:xfrm>
            <a:off x="7142505" y="3535349"/>
            <a:ext cx="840295"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q=10</a:t>
            </a:r>
            <a:endParaRPr kumimoji="0" lang="zh-CN" altLang="en-US" sz="2000" b="0" i="0" u="none" strike="noStrike" kern="1200" cap="none" spc="0" normalizeH="0" baseline="0" noProof="0" dirty="0">
              <a:ln>
                <a:noFill/>
              </a:ln>
              <a:solidFill>
                <a:srgbClr val="000000"/>
              </a:solidFill>
              <a:effectLst/>
              <a:uLnTx/>
              <a:uFillTx/>
              <a:latin typeface="Arial"/>
              <a:ea typeface="微软雅黑 Light"/>
              <a:cs typeface="+mn-cs"/>
            </a:endParaRPr>
          </a:p>
        </p:txBody>
      </p:sp>
      <p:sp>
        <p:nvSpPr>
          <p:cNvPr id="57" name="矩形 56">
            <a:extLst>
              <a:ext uri="{FF2B5EF4-FFF2-40B4-BE49-F238E27FC236}">
                <a16:creationId xmlns:a16="http://schemas.microsoft.com/office/drawing/2014/main" id="{17B29CBB-A5A7-3842-A184-59D6BC3593EE}"/>
              </a:ext>
            </a:extLst>
          </p:cNvPr>
          <p:cNvSpPr/>
          <p:nvPr/>
        </p:nvSpPr>
        <p:spPr>
          <a:xfrm>
            <a:off x="9288567" y="3498929"/>
            <a:ext cx="689612"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mn-cs"/>
              </a:rPr>
              <a:t>q=9</a:t>
            </a:r>
            <a:endParaRPr kumimoji="0" lang="zh-CN" altLang="en-US" sz="2000" b="0" i="0" u="none" strike="noStrike" kern="1200" cap="none" spc="0" normalizeH="0" baseline="0" noProof="0" dirty="0">
              <a:ln>
                <a:noFill/>
              </a:ln>
              <a:solidFill>
                <a:srgbClr val="000000"/>
              </a:solidFill>
              <a:effectLst/>
              <a:uLnTx/>
              <a:uFillTx/>
              <a:latin typeface="Arial"/>
              <a:ea typeface="微软雅黑 Light"/>
              <a:cs typeface="+mn-cs"/>
            </a:endParaRPr>
          </a:p>
        </p:txBody>
      </p:sp>
      <p:pic>
        <p:nvPicPr>
          <p:cNvPr id="58" name="图形 57" descr="复选标记">
            <a:extLst>
              <a:ext uri="{FF2B5EF4-FFF2-40B4-BE49-F238E27FC236}">
                <a16:creationId xmlns:a16="http://schemas.microsoft.com/office/drawing/2014/main" id="{9FA7D3EE-E46A-0741-AEFC-1377EB544C5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080507" y="3521254"/>
            <a:ext cx="389661" cy="389661"/>
          </a:xfrm>
          <a:prstGeom prst="rect">
            <a:avLst/>
          </a:prstGeom>
        </p:spPr>
      </p:pic>
      <p:pic>
        <p:nvPicPr>
          <p:cNvPr id="59" name="图形 58" descr="关闭">
            <a:extLst>
              <a:ext uri="{FF2B5EF4-FFF2-40B4-BE49-F238E27FC236}">
                <a16:creationId xmlns:a16="http://schemas.microsoft.com/office/drawing/2014/main" id="{AAB11C82-CD2E-B148-BE6F-8AC7E2E67EB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99128" y="3534899"/>
            <a:ext cx="441324" cy="441324"/>
          </a:xfrm>
          <a:prstGeom prst="rect">
            <a:avLst/>
          </a:prstGeom>
        </p:spPr>
      </p:pic>
      <p:pic>
        <p:nvPicPr>
          <p:cNvPr id="60" name="图形 59" descr="右箭头">
            <a:extLst>
              <a:ext uri="{FF2B5EF4-FFF2-40B4-BE49-F238E27FC236}">
                <a16:creationId xmlns:a16="http://schemas.microsoft.com/office/drawing/2014/main" id="{794D9866-9611-314F-A336-B0C87682AED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06784" y="2477694"/>
            <a:ext cx="1684991" cy="914400"/>
          </a:xfrm>
          <a:prstGeom prst="rect">
            <a:avLst/>
          </a:prstGeom>
        </p:spPr>
      </p:pic>
      <p:sp>
        <p:nvSpPr>
          <p:cNvPr id="26" name="矩形 25">
            <a:extLst>
              <a:ext uri="{FF2B5EF4-FFF2-40B4-BE49-F238E27FC236}">
                <a16:creationId xmlns:a16="http://schemas.microsoft.com/office/drawing/2014/main" id="{691B7926-C93F-5C48-B3D6-7EAAD30B1E4B}"/>
              </a:ext>
            </a:extLst>
          </p:cNvPr>
          <p:cNvSpPr/>
          <p:nvPr/>
        </p:nvSpPr>
        <p:spPr>
          <a:xfrm>
            <a:off x="7972931" y="2971464"/>
            <a:ext cx="1107996"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Arial"/>
                <a:ea typeface="微软雅黑 Light"/>
                <a:cs typeface="+mn-cs"/>
              </a:rPr>
              <a:t>我們弃權</a:t>
            </a:r>
          </a:p>
        </p:txBody>
      </p:sp>
      <p:sp>
        <p:nvSpPr>
          <p:cNvPr id="5" name="灯片编号占位符 4">
            <a:extLst>
              <a:ext uri="{FF2B5EF4-FFF2-40B4-BE49-F238E27FC236}">
                <a16:creationId xmlns:a16="http://schemas.microsoft.com/office/drawing/2014/main" id="{1E250250-6B84-46D2-9D88-81A37AEEC26A}"/>
              </a:ext>
            </a:extLst>
          </p:cNvPr>
          <p:cNvSpPr>
            <a:spLocks noGrp="1"/>
          </p:cNvSpPr>
          <p:nvPr>
            <p:ph type="sldNum" sz="quarter" idx="4"/>
          </p:nvPr>
        </p:nvSpPr>
        <p:spPr/>
        <p:txBody>
          <a:bodyPr/>
          <a:lstStyle/>
          <a:p>
            <a:fld id="{015CE2E0-6DDF-4FAE-9DBA-F1C48BF5C133}" type="slidenum">
              <a:rPr lang="zh-CN" altLang="en-US" smtClean="0"/>
              <a:t>119</a:t>
            </a:fld>
            <a:endParaRPr lang="zh-CN" altLang="en-US" dirty="0"/>
          </a:p>
        </p:txBody>
      </p:sp>
    </p:spTree>
    <p:extLst>
      <p:ext uri="{BB962C8B-B14F-4D97-AF65-F5344CB8AC3E}">
        <p14:creationId xmlns:p14="http://schemas.microsoft.com/office/powerpoint/2010/main" val="147510755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kumimoji="1" lang="zh-CN" altLang="en-US" sz="4000" dirty="0"/>
              <a:t>同步</a:t>
            </a:r>
            <a:r>
              <a:rPr kumimoji="1" lang="en-US" altLang="zh-CN" sz="4000" dirty="0"/>
              <a:t>BFT</a:t>
            </a:r>
            <a:r>
              <a:rPr kumimoji="1" lang="zh-CN" altLang="en-US" sz="4000" dirty="0"/>
              <a:t>共識中的</a:t>
            </a:r>
            <a:r>
              <a:rPr kumimoji="1" lang="en-US" altLang="zh-CN" sz="4000" dirty="0"/>
              <a:t>Quorum</a:t>
            </a:r>
            <a:r>
              <a:rPr kumimoji="1" lang="zh-CN" altLang="en-US" sz="4000" dirty="0"/>
              <a:t>設計</a:t>
            </a:r>
          </a:p>
        </p:txBody>
      </p:sp>
      <p:grpSp>
        <p:nvGrpSpPr>
          <p:cNvPr id="4" name="组合 3">
            <a:extLst>
              <a:ext uri="{FF2B5EF4-FFF2-40B4-BE49-F238E27FC236}">
                <a16:creationId xmlns:a16="http://schemas.microsoft.com/office/drawing/2014/main" id="{DB025C23-E903-0A44-93C1-DFD42614EFEB}"/>
              </a:ext>
            </a:extLst>
          </p:cNvPr>
          <p:cNvGrpSpPr/>
          <p:nvPr/>
        </p:nvGrpSpPr>
        <p:grpSpPr>
          <a:xfrm>
            <a:off x="522661" y="1150692"/>
            <a:ext cx="6308545" cy="2091010"/>
            <a:chOff x="695602" y="1039004"/>
            <a:chExt cx="5633944" cy="2327073"/>
          </a:xfrm>
        </p:grpSpPr>
        <p:sp>
          <p:nvSpPr>
            <p:cNvPr id="5" name="矩形 4">
              <a:extLst>
                <a:ext uri="{FF2B5EF4-FFF2-40B4-BE49-F238E27FC236}">
                  <a16:creationId xmlns:a16="http://schemas.microsoft.com/office/drawing/2014/main" id="{C8CBE223-3337-D148-97F2-14E37B340E49}"/>
                </a:ext>
              </a:extLst>
            </p:cNvPr>
            <p:cNvSpPr/>
            <p:nvPr/>
          </p:nvSpPr>
          <p:spPr bwMode="auto">
            <a:xfrm>
              <a:off x="695602" y="1039004"/>
              <a:ext cx="5633944" cy="2327073"/>
            </a:xfrm>
            <a:prstGeom prst="rect">
              <a:avLst/>
            </a:prstGeom>
            <a:solidFill>
              <a:srgbClr val="FFFFFF"/>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defRPr/>
              </a:pPr>
              <a:endParaRPr lang="en-US" sz="1600" kern="0"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mc:AlternateContent xmlns:mc="http://schemas.openxmlformats.org/markup-compatibility/2006">
          <mc:Choice xmlns:a14="http://schemas.microsoft.com/office/drawing/2010/main" Requires="a14">
            <p:sp>
              <p:nvSpPr>
                <p:cNvPr id="6" name="内容占位符 2">
                  <a:extLst>
                    <a:ext uri="{FF2B5EF4-FFF2-40B4-BE49-F238E27FC236}">
                      <a16:creationId xmlns:a16="http://schemas.microsoft.com/office/drawing/2014/main" id="{DE19C46A-0440-FF48-A80E-C96D5652B7B6}"/>
                    </a:ext>
                  </a:extLst>
                </p:cNvPr>
                <p:cNvSpPr txBox="1"/>
                <p:nvPr/>
              </p:nvSpPr>
              <p:spPr>
                <a:xfrm>
                  <a:off x="765976" y="1183169"/>
                  <a:ext cx="5462620" cy="217727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ts val="3600"/>
                    </a:lnSpc>
                    <a:buNone/>
                  </a:pPr>
                  <a:r>
                    <a:rPr lang="zh-CN" altLang="en-US" sz="2400" b="1" dirty="0">
                      <a:solidFill>
                        <a:srgbClr val="C00000"/>
                      </a:solidFill>
                      <a:latin typeface="微软雅黑" panose="020B0503020204020204" pitchFamily="34" charset="-122"/>
                      <a:ea typeface="微软雅黑" panose="020B0503020204020204" pitchFamily="34" charset="-122"/>
                    </a:rPr>
                    <a:t>同步網絡模型</a:t>
                  </a:r>
                  <a:r>
                    <a:rPr lang="zh-CN" altLang="en-US" sz="2400" dirty="0">
                      <a:latin typeface="微软雅黑" panose="020B0503020204020204" pitchFamily="34" charset="-122"/>
                      <a:ea typeface="微软雅黑" panose="020B0503020204020204" pitchFamily="34" charset="-122"/>
                    </a:rPr>
                    <a:t>：實際網絡延遲不超過</a:t>
                  </a:r>
                  <a:r>
                    <a:rPr lang="zh-CN" altLang="en-US" sz="2400" b="1" dirty="0">
                      <a:solidFill>
                        <a:srgbClr val="C00000"/>
                      </a:solidFill>
                      <a:latin typeface="微软雅黑" panose="020B0503020204020204" pitchFamily="34" charset="-122"/>
                      <a:ea typeface="微软雅黑" panose="020B0503020204020204" pitchFamily="34" charset="-122"/>
                    </a:rPr>
                    <a:t>已知最大值</a:t>
                  </a:r>
                  <a:r>
                    <a:rPr lang="zh-CN" altLang="en-US" sz="2400" dirty="0">
                      <a:solidFill>
                        <a:srgbClr val="FF0000"/>
                      </a:solidFill>
                      <a:latin typeface="微软雅黑" panose="020B0503020204020204" pitchFamily="34" charset="-122"/>
                      <a:ea typeface="微软雅黑" panose="020B0503020204020204" pitchFamily="34" charset="-122"/>
                    </a:rPr>
                    <a:t> </a:t>
                  </a:r>
                  <a14:m>
                    <m:oMath xmlns:m="http://schemas.openxmlformats.org/officeDocument/2006/math">
                      <m:r>
                        <a:rPr lang="zh-CN" altLang="en-US" sz="2400" i="1" smtClean="0">
                          <a:latin typeface="Cambria Math" panose="02040503050406030204" pitchFamily="18" charset="0"/>
                          <a:ea typeface="微软雅黑" panose="020B0503020204020204" pitchFamily="34" charset="-122"/>
                        </a:rPr>
                        <m:t>∆</m:t>
                      </m:r>
                    </m:oMath>
                  </a14:m>
                  <a:r>
                    <a:rPr lang="zh-CN" altLang="en-US" sz="2400" dirty="0">
                      <a:latin typeface="微软雅黑" panose="020B0503020204020204" pitchFamily="34" charset="-122"/>
                      <a:ea typeface="微软雅黑" panose="020B0503020204020204" pitchFamily="34" charset="-122"/>
                    </a:rPr>
                    <a:t> ，即網絡一直都是保持穩定狀態，通過計時機制可以確定所有其他節點都正確收到了所有消息。</a:t>
                  </a:r>
                  <a:endParaRPr lang="zh-CN" altLang="en-US" sz="2400" dirty="0"/>
                </a:p>
              </p:txBody>
            </p:sp>
          </mc:Choice>
          <mc:Fallback>
            <p:sp>
              <p:nvSpPr>
                <p:cNvPr id="6" name="内容占位符 2">
                  <a:extLst>
                    <a:ext uri="{FF2B5EF4-FFF2-40B4-BE49-F238E27FC236}">
                      <a16:creationId xmlns:a16="http://schemas.microsoft.com/office/drawing/2014/main" id="{DE19C46A-0440-FF48-A80E-C96D5652B7B6}"/>
                    </a:ext>
                  </a:extLst>
                </p:cNvPr>
                <p:cNvSpPr txBox="1">
                  <a:spLocks noRot="1" noChangeAspect="1" noMove="1" noResize="1" noEditPoints="1" noAdjustHandles="1" noChangeArrowheads="1" noChangeShapeType="1" noTextEdit="1"/>
                </p:cNvSpPr>
                <p:nvPr/>
              </p:nvSpPr>
              <p:spPr>
                <a:xfrm>
                  <a:off x="765976" y="1183169"/>
                  <a:ext cx="5462620" cy="2177279"/>
                </a:xfrm>
                <a:prstGeom prst="rect">
                  <a:avLst/>
                </a:prstGeom>
                <a:blipFill>
                  <a:blip r:embed="rId2"/>
                  <a:stretch>
                    <a:fillRect l="-1595" r="-1496" b="-3115"/>
                  </a:stretch>
                </a:blipFill>
              </p:spPr>
              <p:txBody>
                <a:bodyPr/>
                <a:lstStyle/>
                <a:p>
                  <a:r>
                    <a:rPr lang="fr-FR">
                      <a:noFill/>
                    </a:rPr>
                    <a:t> </a:t>
                  </a:r>
                </a:p>
              </p:txBody>
            </p:sp>
          </mc:Fallback>
        </mc:AlternateContent>
      </p:grpSp>
      <p:grpSp>
        <p:nvGrpSpPr>
          <p:cNvPr id="8" name="组合 7">
            <a:extLst>
              <a:ext uri="{FF2B5EF4-FFF2-40B4-BE49-F238E27FC236}">
                <a16:creationId xmlns:a16="http://schemas.microsoft.com/office/drawing/2014/main" id="{3F4CAD64-F281-3749-9068-99D4AD52F84D}"/>
              </a:ext>
            </a:extLst>
          </p:cNvPr>
          <p:cNvGrpSpPr/>
          <p:nvPr/>
        </p:nvGrpSpPr>
        <p:grpSpPr>
          <a:xfrm>
            <a:off x="522662" y="3673376"/>
            <a:ext cx="11039000" cy="2727427"/>
            <a:chOff x="472834" y="3244417"/>
            <a:chExt cx="11208626" cy="3227670"/>
          </a:xfrm>
        </p:grpSpPr>
        <p:grpSp>
          <p:nvGrpSpPr>
            <p:cNvPr id="9" name="组合 8">
              <a:extLst>
                <a:ext uri="{FF2B5EF4-FFF2-40B4-BE49-F238E27FC236}">
                  <a16:creationId xmlns:a16="http://schemas.microsoft.com/office/drawing/2014/main" id="{EB8DFA09-C3F1-C944-98B1-7C119A6E6FE2}"/>
                </a:ext>
              </a:extLst>
            </p:cNvPr>
            <p:cNvGrpSpPr/>
            <p:nvPr/>
          </p:nvGrpSpPr>
          <p:grpSpPr>
            <a:xfrm>
              <a:off x="472834" y="3244417"/>
              <a:ext cx="11208626" cy="3227670"/>
              <a:chOff x="695602" y="1039004"/>
              <a:chExt cx="5633944" cy="2327073"/>
            </a:xfrm>
          </p:grpSpPr>
          <p:sp>
            <p:nvSpPr>
              <p:cNvPr id="11" name="矩形 10">
                <a:extLst>
                  <a:ext uri="{FF2B5EF4-FFF2-40B4-BE49-F238E27FC236}">
                    <a16:creationId xmlns:a16="http://schemas.microsoft.com/office/drawing/2014/main" id="{707E5540-B674-B84F-9125-969C368F4108}"/>
                  </a:ext>
                </a:extLst>
              </p:cNvPr>
              <p:cNvSpPr/>
              <p:nvPr/>
            </p:nvSpPr>
            <p:spPr bwMode="auto">
              <a:xfrm>
                <a:off x="695602" y="1039004"/>
                <a:ext cx="5633944" cy="2327073"/>
              </a:xfrm>
              <a:prstGeom prst="rect">
                <a:avLst/>
              </a:prstGeom>
              <a:solidFill>
                <a:srgbClr val="FFFFFF"/>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defRPr/>
                </a:pPr>
                <a:endParaRPr lang="en-US" sz="1600" kern="0"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12" name="内容占位符 2">
                <a:extLst>
                  <a:ext uri="{FF2B5EF4-FFF2-40B4-BE49-F238E27FC236}">
                    <a16:creationId xmlns:a16="http://schemas.microsoft.com/office/drawing/2014/main" id="{B1D61101-63D8-7D49-A41C-11524092BDAC}"/>
                  </a:ext>
                </a:extLst>
              </p:cNvPr>
              <p:cNvSpPr txBox="1"/>
              <p:nvPr/>
            </p:nvSpPr>
            <p:spPr>
              <a:xfrm>
                <a:off x="695602" y="1183168"/>
                <a:ext cx="5633944" cy="217727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endParaRPr kumimoji="1" lang="en-US" altLang="zh-CN" sz="2000" dirty="0">
                  <a:latin typeface="Microsoft YaHei" panose="020B0503020204020204" pitchFamily="34" charset="-122"/>
                  <a:ea typeface="Microsoft YaHei" panose="020B0503020204020204" pitchFamily="34" charset="-122"/>
                </a:endParaRPr>
              </a:p>
            </p:txBody>
          </p:sp>
        </p:grpSp>
        <p:sp>
          <p:nvSpPr>
            <p:cNvPr id="10" name="矩形 9">
              <a:extLst>
                <a:ext uri="{FF2B5EF4-FFF2-40B4-BE49-F238E27FC236}">
                  <a16:creationId xmlns:a16="http://schemas.microsoft.com/office/drawing/2014/main" id="{FDA6AD68-271C-7E41-B635-265938069777}"/>
                </a:ext>
              </a:extLst>
            </p:cNvPr>
            <p:cNvSpPr/>
            <p:nvPr/>
          </p:nvSpPr>
          <p:spPr>
            <a:xfrm>
              <a:off x="552844" y="3386980"/>
              <a:ext cx="11058518" cy="2791037"/>
            </a:xfrm>
            <a:prstGeom prst="rect">
              <a:avLst/>
            </a:prstGeom>
          </p:spPr>
          <p:txBody>
            <a:bodyPr wrap="square">
              <a:spAutoFit/>
            </a:bodyPr>
            <a:lstStyle/>
            <a:p>
              <a:pPr>
                <a:lnSpc>
                  <a:spcPts val="3600"/>
                </a:lnSpc>
              </a:pPr>
              <a:r>
                <a:rPr lang="zh-CN" altLang="en-US" sz="2400" b="1" dirty="0">
                  <a:solidFill>
                    <a:srgbClr val="C00000"/>
                  </a:solidFill>
                  <a:latin typeface="微软雅黑" panose="020B0503020204020204" pitchFamily="34" charset="-122"/>
                  <a:ea typeface="微软雅黑" panose="020B0503020204020204" pitchFamily="34" charset="-122"/>
                </a:rPr>
                <a:t>爲了容忍</a:t>
              </a:r>
              <a:r>
                <a:rPr lang="en-US" altLang="zh-CN" sz="2400" b="1" dirty="0">
                  <a:solidFill>
                    <a:srgbClr val="C00000"/>
                  </a:solidFill>
                  <a:latin typeface="微软雅黑" panose="020B0503020204020204" pitchFamily="34" charset="-122"/>
                  <a:ea typeface="微软雅黑" panose="020B0503020204020204" pitchFamily="34" charset="-122"/>
                </a:rPr>
                <a:t>f</a:t>
              </a:r>
              <a:r>
                <a:rPr lang="zh-CN" altLang="en-US" sz="2400" b="1" dirty="0">
                  <a:solidFill>
                    <a:srgbClr val="C00000"/>
                  </a:solidFill>
                  <a:latin typeface="微软雅黑" panose="020B0503020204020204" pitchFamily="34" charset="-122"/>
                  <a:ea typeface="微软雅黑" panose="020B0503020204020204" pitchFamily="34" charset="-122"/>
                </a:rPr>
                <a:t>個拜占庭節點，</a:t>
              </a:r>
              <a:r>
                <a:rPr lang="en-US" altLang="zh-CN" sz="2400" b="1" dirty="0">
                  <a:solidFill>
                    <a:srgbClr val="C00000"/>
                  </a:solidFill>
                  <a:latin typeface="微软雅黑" panose="020B0503020204020204" pitchFamily="34" charset="-122"/>
                  <a:ea typeface="微软雅黑" panose="020B0503020204020204" pitchFamily="34" charset="-122"/>
                </a:rPr>
                <a:t>Quorum</a:t>
              </a:r>
              <a:r>
                <a:rPr lang="zh-CN" altLang="en-US" sz="2400" b="1" dirty="0">
                  <a:solidFill>
                    <a:srgbClr val="C00000"/>
                  </a:solidFill>
                  <a:latin typeface="微软雅黑" panose="020B0503020204020204" pitchFamily="34" charset="-122"/>
                  <a:ea typeface="微软雅黑" panose="020B0503020204020204" pitchFamily="34" charset="-122"/>
                </a:rPr>
                <a:t>的值</a:t>
              </a:r>
              <a:r>
                <a:rPr lang="en-US" altLang="zh-CN" sz="2400" b="1" dirty="0">
                  <a:solidFill>
                    <a:srgbClr val="C00000"/>
                  </a:solidFill>
                  <a:latin typeface="微软雅黑" panose="020B0503020204020204" pitchFamily="34" charset="-122"/>
                  <a:ea typeface="微软雅黑" panose="020B0503020204020204" pitchFamily="34" charset="-122"/>
                </a:rPr>
                <a:t>q</a:t>
              </a:r>
              <a:r>
                <a:rPr lang="zh-CN" altLang="en-US" sz="2400" b="1" dirty="0">
                  <a:solidFill>
                    <a:srgbClr val="C00000"/>
                  </a:solidFill>
                  <a:latin typeface="微软雅黑" panose="020B0503020204020204" pitchFamily="34" charset="-122"/>
                  <a:ea typeface="微软雅黑" panose="020B0503020204020204" pitchFamily="34" charset="-122"/>
                </a:rPr>
                <a:t>以及節點總數</a:t>
              </a:r>
              <a:r>
                <a:rPr lang="en-US" altLang="zh-CN" sz="2400" b="1" dirty="0">
                  <a:solidFill>
                    <a:srgbClr val="C00000"/>
                  </a:solidFill>
                  <a:latin typeface="微软雅黑" panose="020B0503020204020204" pitchFamily="34" charset="-122"/>
                  <a:ea typeface="微软雅黑" panose="020B0503020204020204" pitchFamily="34" charset="-122"/>
                </a:rPr>
                <a:t>N</a:t>
              </a:r>
              <a:r>
                <a:rPr lang="zh-CN" altLang="en-US" sz="2400" b="1" dirty="0">
                  <a:solidFill>
                    <a:srgbClr val="C00000"/>
                  </a:solidFill>
                  <a:latin typeface="微软雅黑" panose="020B0503020204020204" pitchFamily="34" charset="-122"/>
                  <a:ea typeface="微软雅黑" panose="020B0503020204020204" pitchFamily="34" charset="-122"/>
                </a:rPr>
                <a:t>的設計</a:t>
              </a:r>
              <a:r>
                <a:rPr lang="en-US" altLang="zh-CN" sz="2400" b="1" dirty="0">
                  <a:solidFill>
                    <a:srgbClr val="C00000"/>
                  </a:solidFill>
                  <a:latin typeface="微软雅黑" panose="020B0503020204020204" pitchFamily="34" charset="-122"/>
                  <a:ea typeface="微软雅黑" panose="020B0503020204020204" pitchFamily="34" charset="-122"/>
                </a:rPr>
                <a:t>:</a:t>
              </a:r>
            </a:p>
            <a:p>
              <a:pPr>
                <a:lnSpc>
                  <a:spcPts val="3600"/>
                </a:lnSpc>
              </a:pPr>
              <a:r>
                <a:rPr lang="zh-CN" altLang="en-US" sz="2400" b="1" dirty="0">
                  <a:latin typeface="微软雅黑" panose="020B0503020204020204" pitchFamily="34" charset="-122"/>
                  <a:ea typeface="微软雅黑" panose="020B0503020204020204" pitchFamily="34" charset="-122"/>
                </a:rPr>
                <a:t>具體設計：</a:t>
              </a:r>
              <a:r>
                <a:rPr lang="zh-CN" altLang="en-US" sz="2400" dirty="0">
                  <a:latin typeface="微软雅黑" panose="020B0503020204020204" pitchFamily="34" charset="-122"/>
                  <a:ea typeface="微软雅黑" panose="020B0503020204020204" pitchFamily="34" charset="-122"/>
                </a:rPr>
                <a:t>系統中出現多個矛盾提案時能被檢測到，只存在一個提案；</a:t>
              </a:r>
              <a:endParaRPr lang="en-US" altLang="zh-CN" sz="2400" dirty="0">
                <a:latin typeface="微软雅黑" panose="020B0503020204020204" pitchFamily="34" charset="-122"/>
                <a:ea typeface="微软雅黑" panose="020B0503020204020204" pitchFamily="34" charset="-122"/>
              </a:endParaRPr>
            </a:p>
            <a:p>
              <a:pPr>
                <a:lnSpc>
                  <a:spcPts val="3600"/>
                </a:lnSpc>
              </a:pPr>
              <a:r>
                <a:rPr lang="zh-CN" altLang="en-US" sz="2400" dirty="0">
                  <a:latin typeface="微软雅黑" panose="020B0503020204020204" pitchFamily="34" charset="-122"/>
                  <a:ea typeface="微软雅黑" panose="020B0503020204020204" pitchFamily="34" charset="-122"/>
                </a:rPr>
                <a:t>                 最低票數爲 </a:t>
              </a:r>
              <a:r>
                <a:rPr lang="en-US" altLang="zh-CN" sz="2400" dirty="0">
                  <a:latin typeface="微软雅黑" panose="020B0503020204020204" pitchFamily="34" charset="-122"/>
                  <a:ea typeface="微软雅黑" panose="020B0503020204020204" pitchFamily="34" charset="-122"/>
                </a:rPr>
                <a:t>N-f</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a:lnSpc>
                  <a:spcPts val="3600"/>
                </a:lnSpc>
              </a:pPr>
              <a:r>
                <a:rPr lang="zh-CN" altLang="en-US" sz="2400" b="1" dirty="0">
                  <a:latin typeface="微软雅黑" panose="020B0503020204020204" pitchFamily="34" charset="-122"/>
                  <a:ea typeface="微软雅黑" panose="020B0503020204020204" pitchFamily="34" charset="-122"/>
                </a:rPr>
                <a:t>邊界條件：</a:t>
              </a:r>
              <a:r>
                <a:rPr lang="en-US" altLang="zh-CN" sz="2400" dirty="0">
                  <a:latin typeface="微软雅黑" panose="020B0503020204020204" pitchFamily="34" charset="-122"/>
                  <a:ea typeface="微软雅黑" panose="020B0503020204020204" pitchFamily="34" charset="-122"/>
                </a:rPr>
                <a:t>f+1 </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微软雅黑" panose="020B0503020204020204" pitchFamily="34" charset="-122"/>
                  <a:ea typeface="微软雅黑" panose="020B0503020204020204" pitchFamily="34" charset="-122"/>
                </a:rPr>
                <a:t> q </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 </a:t>
              </a:r>
              <a:r>
                <a:rPr lang="en-US" altLang="zh-CN" sz="2400" dirty="0">
                  <a:latin typeface="微软雅黑" panose="020B0503020204020204" pitchFamily="34" charset="-122"/>
                  <a:ea typeface="微软雅黑" panose="020B0503020204020204" pitchFamily="34" charset="-122"/>
                </a:rPr>
                <a:t>N-f  =&gt; </a:t>
              </a:r>
              <a:r>
                <a:rPr lang="en-US" altLang="zh-CN" sz="2400" dirty="0">
                  <a:latin typeface="Microsoft YaHei" panose="020B0503020204020204" pitchFamily="34" charset="-122"/>
                  <a:ea typeface="Microsoft YaHei" panose="020B0503020204020204" pitchFamily="34" charset="-122"/>
                </a:rPr>
                <a:t>N ≥ 2f+1, </a:t>
              </a:r>
              <a:r>
                <a:rPr lang="en-US" altLang="zh-CN" sz="2400" dirty="0">
                  <a:latin typeface="微软雅黑" panose="020B0503020204020204" pitchFamily="34" charset="-122"/>
                  <a:ea typeface="微软雅黑" panose="020B0503020204020204" pitchFamily="34" charset="-122"/>
                </a:rPr>
                <a:t>f+1 </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微软雅黑" panose="020B0503020204020204" pitchFamily="34" charset="-122"/>
                  <a:ea typeface="微软雅黑" panose="020B0503020204020204" pitchFamily="34" charset="-122"/>
                </a:rPr>
                <a:t> q </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 </a:t>
              </a:r>
              <a:r>
                <a:rPr lang="en-US" altLang="zh-CN" sz="2400" dirty="0">
                  <a:latin typeface="微软雅黑" panose="020B0503020204020204" pitchFamily="34" charset="-122"/>
                  <a:ea typeface="微软雅黑" panose="020B0503020204020204" pitchFamily="34" charset="-122"/>
                </a:rPr>
                <a:t>N-f </a:t>
              </a:r>
            </a:p>
            <a:p>
              <a:pPr>
                <a:lnSpc>
                  <a:spcPts val="3600"/>
                </a:lnSpc>
              </a:pPr>
              <a:r>
                <a:rPr lang="zh-CN" altLang="en-US" sz="2400" b="1" dirty="0">
                  <a:latin typeface="微软雅黑" panose="020B0503020204020204" pitchFamily="34" charset="-122"/>
                  <a:ea typeface="微软雅黑" panose="020B0503020204020204" pitchFamily="34" charset="-122"/>
                </a:rPr>
                <a:t>最優解：</a:t>
              </a:r>
              <a:r>
                <a:rPr lang="en-US" altLang="zh-CN" sz="2400" dirty="0">
                  <a:latin typeface="微软雅黑" panose="020B0503020204020204" pitchFamily="34" charset="-122"/>
                  <a:ea typeface="微软雅黑" panose="020B0503020204020204" pitchFamily="34" charset="-122"/>
                </a:rPr>
                <a:t>q = f+1</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N = 2f + 1</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p:txBody>
        </p:sp>
      </p:grpSp>
      <p:pic>
        <p:nvPicPr>
          <p:cNvPr id="14" name="图形 13" descr="便携式计算机">
            <a:extLst>
              <a:ext uri="{FF2B5EF4-FFF2-40B4-BE49-F238E27FC236}">
                <a16:creationId xmlns:a16="http://schemas.microsoft.com/office/drawing/2014/main" id="{E19D329E-6923-8A47-A120-3E91A0710CF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94557" y="1051995"/>
            <a:ext cx="914400" cy="914400"/>
          </a:xfrm>
          <a:prstGeom prst="rect">
            <a:avLst/>
          </a:prstGeom>
        </p:spPr>
      </p:pic>
      <p:pic>
        <p:nvPicPr>
          <p:cNvPr id="15" name="图形 14" descr="便携式计算机">
            <a:extLst>
              <a:ext uri="{FF2B5EF4-FFF2-40B4-BE49-F238E27FC236}">
                <a16:creationId xmlns:a16="http://schemas.microsoft.com/office/drawing/2014/main" id="{F7BD29F9-6F8A-AB49-A65A-7188E2016DC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81037" y="1054422"/>
            <a:ext cx="914400" cy="914400"/>
          </a:xfrm>
          <a:prstGeom prst="rect">
            <a:avLst/>
          </a:prstGeom>
        </p:spPr>
      </p:pic>
      <p:pic>
        <p:nvPicPr>
          <p:cNvPr id="16" name="图形 15" descr="便携式计算机">
            <a:extLst>
              <a:ext uri="{FF2B5EF4-FFF2-40B4-BE49-F238E27FC236}">
                <a16:creationId xmlns:a16="http://schemas.microsoft.com/office/drawing/2014/main" id="{E3636AA3-BAC7-124D-8A11-EE8BA272C2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81037" y="2321175"/>
            <a:ext cx="914400" cy="914400"/>
          </a:xfrm>
          <a:prstGeom prst="rect">
            <a:avLst/>
          </a:prstGeom>
        </p:spPr>
      </p:pic>
      <p:pic>
        <p:nvPicPr>
          <p:cNvPr id="17" name="图形 16" descr="便携式计算机">
            <a:extLst>
              <a:ext uri="{FF2B5EF4-FFF2-40B4-BE49-F238E27FC236}">
                <a16:creationId xmlns:a16="http://schemas.microsoft.com/office/drawing/2014/main" id="{57D4EB29-A8FC-7944-8948-DEE88B1363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94557" y="2321175"/>
            <a:ext cx="914400" cy="914400"/>
          </a:xfrm>
          <a:prstGeom prst="rect">
            <a:avLst/>
          </a:prstGeom>
        </p:spPr>
      </p:pic>
      <p:sp>
        <p:nvSpPr>
          <p:cNvPr id="18" name="矩形 17">
            <a:extLst>
              <a:ext uri="{FF2B5EF4-FFF2-40B4-BE49-F238E27FC236}">
                <a16:creationId xmlns:a16="http://schemas.microsoft.com/office/drawing/2014/main" id="{B8BCD376-19E3-184E-86ED-0B8039C54D27}"/>
              </a:ext>
            </a:extLst>
          </p:cNvPr>
          <p:cNvSpPr/>
          <p:nvPr/>
        </p:nvSpPr>
        <p:spPr>
          <a:xfrm>
            <a:off x="9010044" y="1822222"/>
            <a:ext cx="1186543" cy="369332"/>
          </a:xfrm>
          <a:prstGeom prst="rect">
            <a:avLst/>
          </a:prstGeom>
        </p:spPr>
        <p:txBody>
          <a:bodyPr wrap="none">
            <a:spAutoFit/>
          </a:bodyPr>
          <a:lstStyle/>
          <a:p>
            <a:r>
              <a:rPr lang="zh-CN" altLang="en-US" dirty="0">
                <a:latin typeface="Microsoft YaHei" panose="020B0503020204020204" pitchFamily="34" charset="-122"/>
                <a:ea typeface="Microsoft YaHei" panose="020B0503020204020204" pitchFamily="34" charset="-122"/>
              </a:rPr>
              <a:t>延遲</a:t>
            </a:r>
            <a:r>
              <a:rPr lang="en-US" altLang="zh-CN" dirty="0">
                <a:latin typeface="Microsoft YaHei" panose="020B0503020204020204" pitchFamily="34" charset="-122"/>
                <a:ea typeface="Microsoft YaHei" panose="020B0503020204020204" pitchFamily="34" charset="-122"/>
              </a:rPr>
              <a:t> </a:t>
            </a:r>
            <a:r>
              <a:rPr lang="zh-CN" altLang="en-US" dirty="0">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 </a:t>
            </a:r>
            <a:r>
              <a:rPr lang="zh-CN" altLang="en-US" dirty="0">
                <a:solidFill>
                  <a:srgbClr val="000000"/>
                </a:solidFill>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 </a:t>
            </a:r>
            <a:endParaRPr lang="zh-CN" altLang="en-US" dirty="0">
              <a:latin typeface="Microsoft YaHei" panose="020B0503020204020204" pitchFamily="34" charset="-122"/>
              <a:ea typeface="Microsoft YaHei" panose="020B0503020204020204" pitchFamily="34" charset="-122"/>
            </a:endParaRPr>
          </a:p>
        </p:txBody>
      </p:sp>
      <p:grpSp>
        <p:nvGrpSpPr>
          <p:cNvPr id="19" name="组合 18">
            <a:extLst>
              <a:ext uri="{FF2B5EF4-FFF2-40B4-BE49-F238E27FC236}">
                <a16:creationId xmlns:a16="http://schemas.microsoft.com/office/drawing/2014/main" id="{DFBE64E3-4AEF-8B42-86EF-5D92248D2330}"/>
              </a:ext>
            </a:extLst>
          </p:cNvPr>
          <p:cNvGrpSpPr/>
          <p:nvPr/>
        </p:nvGrpSpPr>
        <p:grpSpPr>
          <a:xfrm>
            <a:off x="7918404" y="1193883"/>
            <a:ext cx="2549234" cy="716712"/>
            <a:chOff x="7782298" y="2896954"/>
            <a:chExt cx="1571526" cy="459177"/>
          </a:xfrm>
        </p:grpSpPr>
        <p:pic>
          <p:nvPicPr>
            <p:cNvPr id="20" name="图形 19" descr="右箭头">
              <a:extLst>
                <a:ext uri="{FF2B5EF4-FFF2-40B4-BE49-F238E27FC236}">
                  <a16:creationId xmlns:a16="http://schemas.microsoft.com/office/drawing/2014/main" id="{2ADEFE98-6AE4-414A-B7D5-4499FC619EC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98032" y="2898931"/>
              <a:ext cx="1355792" cy="457200"/>
            </a:xfrm>
            <a:prstGeom prst="rect">
              <a:avLst/>
            </a:prstGeom>
          </p:spPr>
        </p:pic>
        <p:pic>
          <p:nvPicPr>
            <p:cNvPr id="21" name="图形 20" descr="右箭头">
              <a:extLst>
                <a:ext uri="{FF2B5EF4-FFF2-40B4-BE49-F238E27FC236}">
                  <a16:creationId xmlns:a16="http://schemas.microsoft.com/office/drawing/2014/main" id="{40B69D58-4959-6846-AC7A-5F595D57C1B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0800000">
              <a:off x="7782298" y="2896954"/>
              <a:ext cx="1355792" cy="457200"/>
            </a:xfrm>
            <a:prstGeom prst="rect">
              <a:avLst/>
            </a:prstGeom>
          </p:spPr>
        </p:pic>
      </p:grpSp>
      <p:grpSp>
        <p:nvGrpSpPr>
          <p:cNvPr id="22" name="组合 21">
            <a:extLst>
              <a:ext uri="{FF2B5EF4-FFF2-40B4-BE49-F238E27FC236}">
                <a16:creationId xmlns:a16="http://schemas.microsoft.com/office/drawing/2014/main" id="{88829AD4-604E-D643-8E94-9632A23153B9}"/>
              </a:ext>
            </a:extLst>
          </p:cNvPr>
          <p:cNvGrpSpPr/>
          <p:nvPr/>
        </p:nvGrpSpPr>
        <p:grpSpPr>
          <a:xfrm rot="1092165">
            <a:off x="7758764" y="2001199"/>
            <a:ext cx="2827335" cy="716712"/>
            <a:chOff x="7782298" y="2896954"/>
            <a:chExt cx="1571526" cy="459177"/>
          </a:xfrm>
        </p:grpSpPr>
        <p:pic>
          <p:nvPicPr>
            <p:cNvPr id="23" name="图形 22" descr="右箭头">
              <a:extLst>
                <a:ext uri="{FF2B5EF4-FFF2-40B4-BE49-F238E27FC236}">
                  <a16:creationId xmlns:a16="http://schemas.microsoft.com/office/drawing/2014/main" id="{43728BD9-8569-004D-9782-1E33CE8A7E8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98032" y="2898931"/>
              <a:ext cx="1355792" cy="457200"/>
            </a:xfrm>
            <a:prstGeom prst="rect">
              <a:avLst/>
            </a:prstGeom>
          </p:spPr>
        </p:pic>
        <p:pic>
          <p:nvPicPr>
            <p:cNvPr id="24" name="图形 23" descr="右箭头">
              <a:extLst>
                <a:ext uri="{FF2B5EF4-FFF2-40B4-BE49-F238E27FC236}">
                  <a16:creationId xmlns:a16="http://schemas.microsoft.com/office/drawing/2014/main" id="{DFF1CEFE-8BFC-5D4B-864C-F294E1A1917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0800000">
              <a:off x="7782298" y="2896954"/>
              <a:ext cx="1355792" cy="457200"/>
            </a:xfrm>
            <a:prstGeom prst="rect">
              <a:avLst/>
            </a:prstGeom>
          </p:spPr>
        </p:pic>
      </p:grpSp>
      <p:grpSp>
        <p:nvGrpSpPr>
          <p:cNvPr id="26" name="组合 25">
            <a:extLst>
              <a:ext uri="{FF2B5EF4-FFF2-40B4-BE49-F238E27FC236}">
                <a16:creationId xmlns:a16="http://schemas.microsoft.com/office/drawing/2014/main" id="{DB997003-4133-0848-96A7-CBB3C07D534F}"/>
              </a:ext>
            </a:extLst>
          </p:cNvPr>
          <p:cNvGrpSpPr/>
          <p:nvPr/>
        </p:nvGrpSpPr>
        <p:grpSpPr>
          <a:xfrm rot="16200000">
            <a:off x="10493907" y="1803372"/>
            <a:ext cx="640424" cy="716712"/>
            <a:chOff x="7782298" y="2896954"/>
            <a:chExt cx="1571526" cy="459177"/>
          </a:xfrm>
        </p:grpSpPr>
        <p:pic>
          <p:nvPicPr>
            <p:cNvPr id="27" name="图形 26" descr="右箭头">
              <a:extLst>
                <a:ext uri="{FF2B5EF4-FFF2-40B4-BE49-F238E27FC236}">
                  <a16:creationId xmlns:a16="http://schemas.microsoft.com/office/drawing/2014/main" id="{450D3052-FA92-024A-8630-86FC7DF657E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98032" y="2898931"/>
              <a:ext cx="1355792" cy="457200"/>
            </a:xfrm>
            <a:prstGeom prst="rect">
              <a:avLst/>
            </a:prstGeom>
          </p:spPr>
        </p:pic>
        <p:pic>
          <p:nvPicPr>
            <p:cNvPr id="28" name="图形 27" descr="右箭头">
              <a:extLst>
                <a:ext uri="{FF2B5EF4-FFF2-40B4-BE49-F238E27FC236}">
                  <a16:creationId xmlns:a16="http://schemas.microsoft.com/office/drawing/2014/main" id="{E3ECA8EE-DB43-1C45-85FE-2AD3E06636A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0800000">
              <a:off x="7782298" y="2896954"/>
              <a:ext cx="1355792" cy="457200"/>
            </a:xfrm>
            <a:prstGeom prst="rect">
              <a:avLst/>
            </a:prstGeom>
          </p:spPr>
        </p:pic>
      </p:grpSp>
      <p:sp>
        <p:nvSpPr>
          <p:cNvPr id="25" name="灯片编号占位符 2">
            <a:extLst>
              <a:ext uri="{FF2B5EF4-FFF2-40B4-BE49-F238E27FC236}">
                <a16:creationId xmlns:a16="http://schemas.microsoft.com/office/drawing/2014/main" id="{98ADD70D-66FC-FF47-A759-98D6EEF663A2}"/>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120</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421597481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kumimoji="1" lang="zh-CN" altLang="en-US" sz="4000" dirty="0"/>
              <a:t>异步</a:t>
            </a:r>
            <a:r>
              <a:rPr kumimoji="1" lang="en-US" altLang="zh-CN" sz="4000" dirty="0"/>
              <a:t>BFT</a:t>
            </a:r>
            <a:r>
              <a:rPr kumimoji="1" lang="zh-CN" altLang="en-US" sz="4000" dirty="0"/>
              <a:t>共識中的</a:t>
            </a:r>
            <a:r>
              <a:rPr kumimoji="1" lang="en-US" altLang="zh-CN" sz="4000" dirty="0"/>
              <a:t>Quorum</a:t>
            </a:r>
            <a:r>
              <a:rPr kumimoji="1" lang="zh-CN" altLang="en-US" sz="4000" dirty="0"/>
              <a:t>設計</a:t>
            </a:r>
          </a:p>
        </p:txBody>
      </p:sp>
      <p:grpSp>
        <p:nvGrpSpPr>
          <p:cNvPr id="4" name="组合 3">
            <a:extLst>
              <a:ext uri="{FF2B5EF4-FFF2-40B4-BE49-F238E27FC236}">
                <a16:creationId xmlns:a16="http://schemas.microsoft.com/office/drawing/2014/main" id="{A6AF10C0-25F5-7A4D-8CBE-2E001AC23A63}"/>
              </a:ext>
            </a:extLst>
          </p:cNvPr>
          <p:cNvGrpSpPr/>
          <p:nvPr/>
        </p:nvGrpSpPr>
        <p:grpSpPr>
          <a:xfrm>
            <a:off x="542538" y="1189819"/>
            <a:ext cx="6308545" cy="1772775"/>
            <a:chOff x="695602" y="1039004"/>
            <a:chExt cx="5633944" cy="2327073"/>
          </a:xfrm>
        </p:grpSpPr>
        <p:sp>
          <p:nvSpPr>
            <p:cNvPr id="5" name="矩形 4">
              <a:extLst>
                <a:ext uri="{FF2B5EF4-FFF2-40B4-BE49-F238E27FC236}">
                  <a16:creationId xmlns:a16="http://schemas.microsoft.com/office/drawing/2014/main" id="{02A8053B-FC94-A245-9008-B93E633F0C21}"/>
                </a:ext>
              </a:extLst>
            </p:cNvPr>
            <p:cNvSpPr/>
            <p:nvPr/>
          </p:nvSpPr>
          <p:spPr bwMode="auto">
            <a:xfrm>
              <a:off x="695602" y="1039004"/>
              <a:ext cx="5633944" cy="2327073"/>
            </a:xfrm>
            <a:prstGeom prst="rect">
              <a:avLst/>
            </a:prstGeom>
            <a:solidFill>
              <a:srgbClr val="FFFFFF"/>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defRPr/>
              </a:pPr>
              <a:endParaRPr lang="en-US" sz="1600" kern="0"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6" name="内容占位符 2">
              <a:extLst>
                <a:ext uri="{FF2B5EF4-FFF2-40B4-BE49-F238E27FC236}">
                  <a16:creationId xmlns:a16="http://schemas.microsoft.com/office/drawing/2014/main" id="{19ED27E5-7B6F-1B48-92E8-BF29C6E72282}"/>
                </a:ext>
              </a:extLst>
            </p:cNvPr>
            <p:cNvSpPr txBox="1"/>
            <p:nvPr/>
          </p:nvSpPr>
          <p:spPr>
            <a:xfrm>
              <a:off x="751895" y="1162472"/>
              <a:ext cx="5563570" cy="217727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ts val="3600"/>
                </a:lnSpc>
                <a:buNone/>
              </a:pPr>
              <a:r>
                <a:rPr lang="zh-CN" altLang="en-US" sz="2400" b="1" dirty="0">
                  <a:solidFill>
                    <a:srgbClr val="C00000"/>
                  </a:solidFill>
                  <a:latin typeface="微软雅黑" panose="020B0503020204020204" pitchFamily="34" charset="-122"/>
                  <a:ea typeface="微软雅黑" panose="020B0503020204020204" pitchFamily="34" charset="-122"/>
                </a:rPr>
                <a:t>异步網絡模型</a:t>
              </a:r>
              <a:r>
                <a:rPr lang="zh-CN" altLang="en-US" sz="2400" dirty="0">
                  <a:latin typeface="微软雅黑" panose="020B0503020204020204" pitchFamily="34" charset="-122"/>
                  <a:ea typeface="微软雅黑" panose="020B0503020204020204" pitchFamily="34" charset="-122"/>
                </a:rPr>
                <a:t>：實際網絡延遲不存在任何延遲上限，但節點間經過無限重傳能確保消息最終被正確接收</a:t>
              </a:r>
              <a:endParaRPr lang="zh-CN" altLang="en-US" sz="2400" dirty="0"/>
            </a:p>
          </p:txBody>
        </p:sp>
      </p:grpSp>
      <p:grpSp>
        <p:nvGrpSpPr>
          <p:cNvPr id="8" name="组合 7">
            <a:extLst>
              <a:ext uri="{FF2B5EF4-FFF2-40B4-BE49-F238E27FC236}">
                <a16:creationId xmlns:a16="http://schemas.microsoft.com/office/drawing/2014/main" id="{ACCB6920-3BFD-894C-A7A2-741230D9BEBF}"/>
              </a:ext>
            </a:extLst>
          </p:cNvPr>
          <p:cNvGrpSpPr/>
          <p:nvPr/>
        </p:nvGrpSpPr>
        <p:grpSpPr>
          <a:xfrm>
            <a:off x="542539" y="3361832"/>
            <a:ext cx="11039000" cy="3227670"/>
            <a:chOff x="472834" y="3244417"/>
            <a:chExt cx="11208626" cy="3227670"/>
          </a:xfrm>
        </p:grpSpPr>
        <p:grpSp>
          <p:nvGrpSpPr>
            <p:cNvPr id="9" name="组合 8">
              <a:extLst>
                <a:ext uri="{FF2B5EF4-FFF2-40B4-BE49-F238E27FC236}">
                  <a16:creationId xmlns:a16="http://schemas.microsoft.com/office/drawing/2014/main" id="{D2C9403D-7307-3745-A3BF-8A7CEAFF8117}"/>
                </a:ext>
              </a:extLst>
            </p:cNvPr>
            <p:cNvGrpSpPr/>
            <p:nvPr/>
          </p:nvGrpSpPr>
          <p:grpSpPr>
            <a:xfrm>
              <a:off x="472834" y="3244417"/>
              <a:ext cx="11208626" cy="3227670"/>
              <a:chOff x="695602" y="1039004"/>
              <a:chExt cx="5633944" cy="2327073"/>
            </a:xfrm>
          </p:grpSpPr>
          <p:sp>
            <p:nvSpPr>
              <p:cNvPr id="11" name="矩形 10">
                <a:extLst>
                  <a:ext uri="{FF2B5EF4-FFF2-40B4-BE49-F238E27FC236}">
                    <a16:creationId xmlns:a16="http://schemas.microsoft.com/office/drawing/2014/main" id="{95B11849-A7FA-7143-8665-8D74D36199A8}"/>
                  </a:ext>
                </a:extLst>
              </p:cNvPr>
              <p:cNvSpPr/>
              <p:nvPr/>
            </p:nvSpPr>
            <p:spPr bwMode="auto">
              <a:xfrm>
                <a:off x="695602" y="1039004"/>
                <a:ext cx="5633944" cy="2327073"/>
              </a:xfrm>
              <a:prstGeom prst="rect">
                <a:avLst/>
              </a:prstGeom>
              <a:solidFill>
                <a:srgbClr val="FFFFFF"/>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defRPr/>
                </a:pPr>
                <a:endParaRPr lang="en-US" sz="1600" kern="0"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12" name="内容占位符 2">
                <a:extLst>
                  <a:ext uri="{FF2B5EF4-FFF2-40B4-BE49-F238E27FC236}">
                    <a16:creationId xmlns:a16="http://schemas.microsoft.com/office/drawing/2014/main" id="{E214CD51-B784-6441-A8F6-34A0893372F1}"/>
                  </a:ext>
                </a:extLst>
              </p:cNvPr>
              <p:cNvSpPr txBox="1"/>
              <p:nvPr/>
            </p:nvSpPr>
            <p:spPr>
              <a:xfrm>
                <a:off x="695602" y="1183168"/>
                <a:ext cx="5633944" cy="217727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endParaRPr kumimoji="1" lang="en-US" altLang="zh-CN" sz="2000" dirty="0">
                  <a:latin typeface="Microsoft YaHei" panose="020B0503020204020204" pitchFamily="34" charset="-122"/>
                  <a:ea typeface="Microsoft YaHei" panose="020B0503020204020204" pitchFamily="34" charset="-122"/>
                </a:endParaRPr>
              </a:p>
            </p:txBody>
          </p:sp>
        </p:grpSp>
        <p:sp>
          <p:nvSpPr>
            <p:cNvPr id="10" name="矩形 9">
              <a:extLst>
                <a:ext uri="{FF2B5EF4-FFF2-40B4-BE49-F238E27FC236}">
                  <a16:creationId xmlns:a16="http://schemas.microsoft.com/office/drawing/2014/main" id="{1AFD560D-DC4C-A04C-B91F-A8A9E49E4B7F}"/>
                </a:ext>
              </a:extLst>
            </p:cNvPr>
            <p:cNvSpPr/>
            <p:nvPr/>
          </p:nvSpPr>
          <p:spPr>
            <a:xfrm>
              <a:off x="552844" y="3386980"/>
              <a:ext cx="11058518" cy="2797048"/>
            </a:xfrm>
            <a:prstGeom prst="rect">
              <a:avLst/>
            </a:prstGeom>
          </p:spPr>
          <p:txBody>
            <a:bodyPr wrap="square">
              <a:spAutoFit/>
            </a:bodyPr>
            <a:lstStyle/>
            <a:p>
              <a:pPr>
                <a:lnSpc>
                  <a:spcPct val="150000"/>
                </a:lnSpc>
              </a:pPr>
              <a:r>
                <a:rPr lang="zh-CN" altLang="en-US" sz="2400" b="1" dirty="0">
                  <a:solidFill>
                    <a:srgbClr val="C00000"/>
                  </a:solidFill>
                  <a:latin typeface="微软雅黑" panose="020B0503020204020204" pitchFamily="34" charset="-122"/>
                  <a:ea typeface="微软雅黑" panose="020B0503020204020204" pitchFamily="34" charset="-122"/>
                </a:rPr>
                <a:t>爲了容忍</a:t>
              </a:r>
              <a:r>
                <a:rPr lang="en-US" altLang="zh-CN" sz="2400" b="1" dirty="0">
                  <a:solidFill>
                    <a:srgbClr val="C00000"/>
                  </a:solidFill>
                  <a:latin typeface="微软雅黑" panose="020B0503020204020204" pitchFamily="34" charset="-122"/>
                  <a:ea typeface="微软雅黑" panose="020B0503020204020204" pitchFamily="34" charset="-122"/>
                </a:rPr>
                <a:t>f</a:t>
              </a:r>
              <a:r>
                <a:rPr lang="zh-CN" altLang="en-US" sz="2400" b="1" dirty="0">
                  <a:solidFill>
                    <a:srgbClr val="C00000"/>
                  </a:solidFill>
                  <a:latin typeface="微软雅黑" panose="020B0503020204020204" pitchFamily="34" charset="-122"/>
                  <a:ea typeface="微软雅黑" panose="020B0503020204020204" pitchFamily="34" charset="-122"/>
                </a:rPr>
                <a:t>個拜占庭節點，</a:t>
              </a:r>
              <a:r>
                <a:rPr lang="en-US" altLang="zh-CN" sz="2400" b="1" dirty="0">
                  <a:solidFill>
                    <a:srgbClr val="C00000"/>
                  </a:solidFill>
                  <a:latin typeface="微软雅黑" panose="020B0503020204020204" pitchFamily="34" charset="-122"/>
                  <a:ea typeface="微软雅黑" panose="020B0503020204020204" pitchFamily="34" charset="-122"/>
                </a:rPr>
                <a:t>Quorum</a:t>
              </a:r>
              <a:r>
                <a:rPr lang="zh-CN" altLang="en-US" sz="2400" b="1" dirty="0">
                  <a:solidFill>
                    <a:srgbClr val="C00000"/>
                  </a:solidFill>
                  <a:latin typeface="微软雅黑" panose="020B0503020204020204" pitchFamily="34" charset="-122"/>
                  <a:ea typeface="微软雅黑" panose="020B0503020204020204" pitchFamily="34" charset="-122"/>
                </a:rPr>
                <a:t>的值</a:t>
              </a:r>
              <a:r>
                <a:rPr lang="en-US" altLang="zh-CN" sz="2400" b="1" dirty="0">
                  <a:solidFill>
                    <a:srgbClr val="C00000"/>
                  </a:solidFill>
                  <a:latin typeface="微软雅黑" panose="020B0503020204020204" pitchFamily="34" charset="-122"/>
                  <a:ea typeface="微软雅黑" panose="020B0503020204020204" pitchFamily="34" charset="-122"/>
                </a:rPr>
                <a:t>q</a:t>
              </a:r>
              <a:r>
                <a:rPr lang="zh-CN" altLang="en-US" sz="2400" b="1" dirty="0">
                  <a:solidFill>
                    <a:srgbClr val="C00000"/>
                  </a:solidFill>
                  <a:latin typeface="微软雅黑" panose="020B0503020204020204" pitchFamily="34" charset="-122"/>
                  <a:ea typeface="微软雅黑" panose="020B0503020204020204" pitchFamily="34" charset="-122"/>
                </a:rPr>
                <a:t>以及節點總數</a:t>
              </a:r>
              <a:r>
                <a:rPr lang="en-US" altLang="zh-CN" sz="2400" b="1" dirty="0">
                  <a:solidFill>
                    <a:srgbClr val="C00000"/>
                  </a:solidFill>
                  <a:latin typeface="微软雅黑" panose="020B0503020204020204" pitchFamily="34" charset="-122"/>
                  <a:ea typeface="微软雅黑" panose="020B0503020204020204" pitchFamily="34" charset="-122"/>
                </a:rPr>
                <a:t>N</a:t>
              </a:r>
              <a:r>
                <a:rPr lang="zh-CN" altLang="en-US" sz="2400" b="1" dirty="0">
                  <a:solidFill>
                    <a:srgbClr val="C00000"/>
                  </a:solidFill>
                  <a:latin typeface="微软雅黑" panose="020B0503020204020204" pitchFamily="34" charset="-122"/>
                  <a:ea typeface="微软雅黑" panose="020B0503020204020204" pitchFamily="34" charset="-122"/>
                </a:rPr>
                <a:t>的設計</a:t>
              </a:r>
              <a:r>
                <a:rPr lang="en-US" altLang="zh-CN" sz="2400" b="1" dirty="0">
                  <a:solidFill>
                    <a:srgbClr val="C00000"/>
                  </a:solidFill>
                  <a:latin typeface="微软雅黑" panose="020B0503020204020204" pitchFamily="34" charset="-122"/>
                  <a:ea typeface="微软雅黑" panose="020B0503020204020204" pitchFamily="34" charset="-122"/>
                </a:rPr>
                <a:t>:</a:t>
              </a:r>
            </a:p>
            <a:p>
              <a:pPr>
                <a:lnSpc>
                  <a:spcPct val="150000"/>
                </a:lnSpc>
              </a:pPr>
              <a:r>
                <a:rPr lang="zh-CN" altLang="en-US" sz="2400" b="1" dirty="0">
                  <a:latin typeface="微软雅黑" panose="020B0503020204020204" pitchFamily="34" charset="-122"/>
                  <a:ea typeface="微软雅黑" panose="020B0503020204020204" pitchFamily="34" charset="-122"/>
                </a:rPr>
                <a:t>具體設計：</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針對兩個提案可能産生的最高票數爲 </a:t>
              </a:r>
              <a:r>
                <a:rPr lang="en-US" altLang="zh-CN" sz="2400" dirty="0" err="1">
                  <a:latin typeface="微软雅黑" panose="020B0503020204020204" pitchFamily="34" charset="-122"/>
                  <a:ea typeface="微软雅黑" panose="020B0503020204020204" pitchFamily="34" charset="-122"/>
                </a:rPr>
                <a:t>N+f</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                  最低票數爲 </a:t>
              </a:r>
              <a:r>
                <a:rPr lang="en-US" altLang="zh-CN" sz="2400" dirty="0">
                  <a:latin typeface="微软雅黑" panose="020B0503020204020204" pitchFamily="34" charset="-122"/>
                  <a:ea typeface="微软雅黑" panose="020B0503020204020204" pitchFamily="34" charset="-122"/>
                </a:rPr>
                <a:t>N-f</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zh-CN" altLang="en-US" sz="2400" b="1" dirty="0">
                  <a:latin typeface="微软雅黑" panose="020B0503020204020204" pitchFamily="34" charset="-122"/>
                  <a:ea typeface="微软雅黑" panose="020B0503020204020204" pitchFamily="34" charset="-122"/>
                </a:rPr>
                <a:t>邊界條件：</a:t>
              </a:r>
              <a:r>
                <a:rPr lang="en-US" altLang="zh-CN" sz="2400" dirty="0">
                  <a:latin typeface="微软雅黑" panose="020B0503020204020204" pitchFamily="34" charset="-122"/>
                  <a:ea typeface="微软雅黑" panose="020B0503020204020204" pitchFamily="34" charset="-122"/>
                </a:rPr>
                <a:t>f+1 </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微软雅黑" panose="020B0503020204020204" pitchFamily="34" charset="-122"/>
                  <a:ea typeface="微软雅黑" panose="020B0503020204020204" pitchFamily="34" charset="-122"/>
                </a:rPr>
                <a:t> q </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 </a:t>
              </a:r>
              <a:r>
                <a:rPr lang="en-US" altLang="zh-CN" sz="2400" dirty="0">
                  <a:latin typeface="微软雅黑" panose="020B0503020204020204" pitchFamily="34" charset="-122"/>
                  <a:ea typeface="微软雅黑" panose="020B0503020204020204" pitchFamily="34" charset="-122"/>
                </a:rPr>
                <a:t>N-f , </a:t>
              </a:r>
              <a:r>
                <a:rPr lang="en-US" altLang="zh-CN" sz="2400" dirty="0" err="1">
                  <a:latin typeface="微软雅黑" panose="020B0503020204020204" pitchFamily="34" charset="-122"/>
                  <a:ea typeface="微软雅黑" panose="020B0503020204020204" pitchFamily="34" charset="-122"/>
                </a:rPr>
                <a:t>N+f</a:t>
              </a:r>
              <a:r>
                <a:rPr lang="en-US" altLang="zh-CN" sz="2400" dirty="0">
                  <a:latin typeface="微软雅黑" panose="020B0503020204020204" pitchFamily="34" charset="-122"/>
                  <a:ea typeface="微软雅黑"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 2*q - 1</a:t>
              </a:r>
              <a:r>
                <a:rPr lang="en-US" altLang="zh-CN" sz="2400" dirty="0">
                  <a:latin typeface="微软雅黑" panose="020B0503020204020204" pitchFamily="34" charset="-122"/>
                  <a:ea typeface="微软雅黑" panose="020B0503020204020204" pitchFamily="34" charset="-122"/>
                </a:rPr>
                <a:t>  =&gt;  </a:t>
              </a:r>
              <a:r>
                <a:rPr lang="en-US" altLang="zh-CN" sz="2400" dirty="0">
                  <a:latin typeface="Microsoft YaHei" panose="020B0503020204020204" pitchFamily="34" charset="-122"/>
                  <a:ea typeface="Microsoft YaHei" panose="020B0503020204020204" pitchFamily="34" charset="-122"/>
                </a:rPr>
                <a:t>N ≥ 3f+1, 2</a:t>
              </a:r>
              <a:r>
                <a:rPr lang="en-US" altLang="zh-CN" sz="2400" dirty="0">
                  <a:latin typeface="微软雅黑" panose="020B0503020204020204" pitchFamily="34" charset="-122"/>
                  <a:ea typeface="微软雅黑" panose="020B0503020204020204" pitchFamily="34" charset="-122"/>
                </a:rPr>
                <a:t>f+1 </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微软雅黑" panose="020B0503020204020204" pitchFamily="34" charset="-122"/>
                  <a:ea typeface="微软雅黑" panose="020B0503020204020204" pitchFamily="34" charset="-122"/>
                </a:rPr>
                <a:t> q </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 </a:t>
              </a:r>
              <a:r>
                <a:rPr lang="en-US" altLang="zh-CN" sz="2400" dirty="0">
                  <a:latin typeface="微软雅黑" panose="020B0503020204020204" pitchFamily="34" charset="-122"/>
                  <a:ea typeface="微软雅黑" panose="020B0503020204020204" pitchFamily="34" charset="-122"/>
                </a:rPr>
                <a:t>N-f </a:t>
              </a:r>
            </a:p>
            <a:p>
              <a:pPr>
                <a:lnSpc>
                  <a:spcPct val="150000"/>
                </a:lnSpc>
              </a:pPr>
              <a:r>
                <a:rPr lang="zh-CN" altLang="en-US" sz="2400" b="1" dirty="0">
                  <a:latin typeface="微软雅黑" panose="020B0503020204020204" pitchFamily="34" charset="-122"/>
                  <a:ea typeface="微软雅黑" panose="020B0503020204020204" pitchFamily="34" charset="-122"/>
                </a:rPr>
                <a:t>最優解：</a:t>
              </a:r>
              <a:r>
                <a:rPr lang="en-US" altLang="zh-CN" sz="2400" dirty="0">
                  <a:latin typeface="微软雅黑" panose="020B0503020204020204" pitchFamily="34" charset="-122"/>
                  <a:ea typeface="微软雅黑" panose="020B0503020204020204" pitchFamily="34" charset="-122"/>
                </a:rPr>
                <a:t>q = 2f+1</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N = 3f + 1</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p:txBody>
        </p:sp>
      </p:grpSp>
      <p:pic>
        <p:nvPicPr>
          <p:cNvPr id="14" name="图形 13" descr="便携式计算机">
            <a:extLst>
              <a:ext uri="{FF2B5EF4-FFF2-40B4-BE49-F238E27FC236}">
                <a16:creationId xmlns:a16="http://schemas.microsoft.com/office/drawing/2014/main" id="{D74A1B38-CD99-0444-A0AA-9DB212288F6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114434" y="1004495"/>
            <a:ext cx="914400" cy="914400"/>
          </a:xfrm>
          <a:prstGeom prst="rect">
            <a:avLst/>
          </a:prstGeom>
        </p:spPr>
      </p:pic>
      <p:pic>
        <p:nvPicPr>
          <p:cNvPr id="15" name="图形 14" descr="便携式计算机">
            <a:extLst>
              <a:ext uri="{FF2B5EF4-FFF2-40B4-BE49-F238E27FC236}">
                <a16:creationId xmlns:a16="http://schemas.microsoft.com/office/drawing/2014/main" id="{C7F8CD56-9C61-5D4D-9774-286B662EF4E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00914" y="1006922"/>
            <a:ext cx="914400" cy="914400"/>
          </a:xfrm>
          <a:prstGeom prst="rect">
            <a:avLst/>
          </a:prstGeom>
        </p:spPr>
      </p:pic>
      <p:pic>
        <p:nvPicPr>
          <p:cNvPr id="16" name="图形 15" descr="便携式计算机">
            <a:extLst>
              <a:ext uri="{FF2B5EF4-FFF2-40B4-BE49-F238E27FC236}">
                <a16:creationId xmlns:a16="http://schemas.microsoft.com/office/drawing/2014/main" id="{68F6CC99-2F22-3D47-AA55-8797C0BA7FF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00914" y="2273675"/>
            <a:ext cx="914400" cy="914400"/>
          </a:xfrm>
          <a:prstGeom prst="rect">
            <a:avLst/>
          </a:prstGeom>
        </p:spPr>
      </p:pic>
      <p:pic>
        <p:nvPicPr>
          <p:cNvPr id="17" name="图形 16" descr="便携式计算机">
            <a:extLst>
              <a:ext uri="{FF2B5EF4-FFF2-40B4-BE49-F238E27FC236}">
                <a16:creationId xmlns:a16="http://schemas.microsoft.com/office/drawing/2014/main" id="{10F0E422-E77A-BD49-8237-BEE038DC768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14434" y="2273675"/>
            <a:ext cx="914400" cy="914400"/>
          </a:xfrm>
          <a:prstGeom prst="rect">
            <a:avLst/>
          </a:prstGeom>
        </p:spPr>
      </p:pic>
      <p:sp>
        <p:nvSpPr>
          <p:cNvPr id="18" name="矩形 17">
            <a:extLst>
              <a:ext uri="{FF2B5EF4-FFF2-40B4-BE49-F238E27FC236}">
                <a16:creationId xmlns:a16="http://schemas.microsoft.com/office/drawing/2014/main" id="{739AD1C9-92D9-6D4E-8BBE-A11A62D47B98}"/>
              </a:ext>
            </a:extLst>
          </p:cNvPr>
          <p:cNvSpPr/>
          <p:nvPr/>
        </p:nvSpPr>
        <p:spPr>
          <a:xfrm>
            <a:off x="9239243" y="1678732"/>
            <a:ext cx="1107996" cy="646331"/>
          </a:xfrm>
          <a:prstGeom prst="rect">
            <a:avLst/>
          </a:prstGeom>
        </p:spPr>
        <p:txBody>
          <a:bodyPr wrap="none">
            <a:spAutoFit/>
          </a:bodyPr>
          <a:lstStyle/>
          <a:p>
            <a:pPr algn="ctr"/>
            <a:r>
              <a:rPr lang="zh-CN" altLang="en-US" dirty="0">
                <a:latin typeface="Microsoft YaHei" panose="020B0503020204020204" pitchFamily="34" charset="-122"/>
                <a:ea typeface="Microsoft YaHei" panose="020B0503020204020204" pitchFamily="34" charset="-122"/>
              </a:rPr>
              <a:t>不存在</a:t>
            </a:r>
            <a:endParaRPr lang="en-US" altLang="zh-CN" dirty="0">
              <a:latin typeface="Microsoft YaHei" panose="020B0503020204020204" pitchFamily="34" charset="-122"/>
              <a:ea typeface="Microsoft YaHei" panose="020B0503020204020204" pitchFamily="34" charset="-122"/>
            </a:endParaRPr>
          </a:p>
          <a:p>
            <a:pPr algn="ctr"/>
            <a:r>
              <a:rPr lang="zh-CN" altLang="en-US" dirty="0">
                <a:latin typeface="Microsoft YaHei" panose="020B0503020204020204" pitchFamily="34" charset="-122"/>
                <a:ea typeface="Microsoft YaHei" panose="020B0503020204020204" pitchFamily="34" charset="-122"/>
              </a:rPr>
              <a:t>延遲上限</a:t>
            </a:r>
          </a:p>
        </p:txBody>
      </p:sp>
      <p:grpSp>
        <p:nvGrpSpPr>
          <p:cNvPr id="19" name="组合 18">
            <a:extLst>
              <a:ext uri="{FF2B5EF4-FFF2-40B4-BE49-F238E27FC236}">
                <a16:creationId xmlns:a16="http://schemas.microsoft.com/office/drawing/2014/main" id="{51F56702-74FD-3846-A026-672FEBDB6C7C}"/>
              </a:ext>
            </a:extLst>
          </p:cNvPr>
          <p:cNvGrpSpPr/>
          <p:nvPr/>
        </p:nvGrpSpPr>
        <p:grpSpPr>
          <a:xfrm>
            <a:off x="7938281" y="1146383"/>
            <a:ext cx="2549234" cy="716712"/>
            <a:chOff x="7782298" y="2896954"/>
            <a:chExt cx="1571526" cy="459177"/>
          </a:xfrm>
        </p:grpSpPr>
        <p:pic>
          <p:nvPicPr>
            <p:cNvPr id="20" name="图形 19" descr="右箭头">
              <a:extLst>
                <a:ext uri="{FF2B5EF4-FFF2-40B4-BE49-F238E27FC236}">
                  <a16:creationId xmlns:a16="http://schemas.microsoft.com/office/drawing/2014/main" id="{6AA97B6E-8920-8145-8469-B2CEED4BD4D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998032" y="2898931"/>
              <a:ext cx="1355792" cy="457200"/>
            </a:xfrm>
            <a:prstGeom prst="rect">
              <a:avLst/>
            </a:prstGeom>
          </p:spPr>
        </p:pic>
        <p:pic>
          <p:nvPicPr>
            <p:cNvPr id="21" name="图形 20" descr="右箭头">
              <a:extLst>
                <a:ext uri="{FF2B5EF4-FFF2-40B4-BE49-F238E27FC236}">
                  <a16:creationId xmlns:a16="http://schemas.microsoft.com/office/drawing/2014/main" id="{C5AC47DE-5B83-8F4D-9546-F26965555BF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0800000">
              <a:off x="7782298" y="2896954"/>
              <a:ext cx="1355792" cy="457200"/>
            </a:xfrm>
            <a:prstGeom prst="rect">
              <a:avLst/>
            </a:prstGeom>
          </p:spPr>
        </p:pic>
      </p:grpSp>
      <p:grpSp>
        <p:nvGrpSpPr>
          <p:cNvPr id="22" name="组合 21">
            <a:extLst>
              <a:ext uri="{FF2B5EF4-FFF2-40B4-BE49-F238E27FC236}">
                <a16:creationId xmlns:a16="http://schemas.microsoft.com/office/drawing/2014/main" id="{F46252B7-5072-1646-BD80-8B6DFA9C68A7}"/>
              </a:ext>
            </a:extLst>
          </p:cNvPr>
          <p:cNvGrpSpPr/>
          <p:nvPr/>
        </p:nvGrpSpPr>
        <p:grpSpPr>
          <a:xfrm rot="1092165">
            <a:off x="7778641" y="1953699"/>
            <a:ext cx="2827335" cy="716712"/>
            <a:chOff x="7782298" y="2896954"/>
            <a:chExt cx="1571526" cy="459177"/>
          </a:xfrm>
        </p:grpSpPr>
        <p:pic>
          <p:nvPicPr>
            <p:cNvPr id="23" name="图形 22" descr="右箭头">
              <a:extLst>
                <a:ext uri="{FF2B5EF4-FFF2-40B4-BE49-F238E27FC236}">
                  <a16:creationId xmlns:a16="http://schemas.microsoft.com/office/drawing/2014/main" id="{94A26C94-CCB6-C644-9A0C-D631630D329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998032" y="2898931"/>
              <a:ext cx="1355792" cy="457200"/>
            </a:xfrm>
            <a:prstGeom prst="rect">
              <a:avLst/>
            </a:prstGeom>
          </p:spPr>
        </p:pic>
        <p:pic>
          <p:nvPicPr>
            <p:cNvPr id="24" name="图形 23" descr="右箭头">
              <a:extLst>
                <a:ext uri="{FF2B5EF4-FFF2-40B4-BE49-F238E27FC236}">
                  <a16:creationId xmlns:a16="http://schemas.microsoft.com/office/drawing/2014/main" id="{B3906F85-1607-FC4C-93D4-6BC9DD16F39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0800000">
              <a:off x="7782298" y="2896954"/>
              <a:ext cx="1355792" cy="457200"/>
            </a:xfrm>
            <a:prstGeom prst="rect">
              <a:avLst/>
            </a:prstGeom>
          </p:spPr>
        </p:pic>
      </p:grpSp>
      <p:grpSp>
        <p:nvGrpSpPr>
          <p:cNvPr id="26" name="组合 25">
            <a:extLst>
              <a:ext uri="{FF2B5EF4-FFF2-40B4-BE49-F238E27FC236}">
                <a16:creationId xmlns:a16="http://schemas.microsoft.com/office/drawing/2014/main" id="{E805477E-5129-1F43-9614-C2659D83102D}"/>
              </a:ext>
            </a:extLst>
          </p:cNvPr>
          <p:cNvGrpSpPr/>
          <p:nvPr/>
        </p:nvGrpSpPr>
        <p:grpSpPr>
          <a:xfrm rot="16200000">
            <a:off x="10513784" y="1755872"/>
            <a:ext cx="640424" cy="716712"/>
            <a:chOff x="7782298" y="2896954"/>
            <a:chExt cx="1571526" cy="459177"/>
          </a:xfrm>
        </p:grpSpPr>
        <p:pic>
          <p:nvPicPr>
            <p:cNvPr id="27" name="图形 26" descr="右箭头">
              <a:extLst>
                <a:ext uri="{FF2B5EF4-FFF2-40B4-BE49-F238E27FC236}">
                  <a16:creationId xmlns:a16="http://schemas.microsoft.com/office/drawing/2014/main" id="{060028FF-9ED0-974C-988C-127750DA1C9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998032" y="2898931"/>
              <a:ext cx="1355792" cy="457200"/>
            </a:xfrm>
            <a:prstGeom prst="rect">
              <a:avLst/>
            </a:prstGeom>
          </p:spPr>
        </p:pic>
        <p:pic>
          <p:nvPicPr>
            <p:cNvPr id="28" name="图形 27" descr="右箭头">
              <a:extLst>
                <a:ext uri="{FF2B5EF4-FFF2-40B4-BE49-F238E27FC236}">
                  <a16:creationId xmlns:a16="http://schemas.microsoft.com/office/drawing/2014/main" id="{DF036558-1D7F-7D4E-AF1B-0252441A5F7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0800000">
              <a:off x="7782298" y="2896954"/>
              <a:ext cx="1355792" cy="457200"/>
            </a:xfrm>
            <a:prstGeom prst="rect">
              <a:avLst/>
            </a:prstGeom>
          </p:spPr>
        </p:pic>
      </p:grpSp>
      <p:sp>
        <p:nvSpPr>
          <p:cNvPr id="25" name="灯片编号占位符 2">
            <a:extLst>
              <a:ext uri="{FF2B5EF4-FFF2-40B4-BE49-F238E27FC236}">
                <a16:creationId xmlns:a16="http://schemas.microsoft.com/office/drawing/2014/main" id="{E911F4D0-23B8-7440-B5EE-F3108A587112}"/>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121</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83659498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kumimoji="1" lang="zh-CN" altLang="en-US" sz="4000" dirty="0"/>
              <a:t>同步和异步</a:t>
            </a:r>
            <a:r>
              <a:rPr kumimoji="1" lang="en-US" altLang="zh-CN" sz="4000" dirty="0"/>
              <a:t>BFT</a:t>
            </a:r>
            <a:r>
              <a:rPr kumimoji="1" lang="zh-CN" altLang="en-US" sz="4000" dirty="0"/>
              <a:t>共識的缺陷</a:t>
            </a:r>
          </a:p>
        </p:txBody>
      </p:sp>
      <p:grpSp>
        <p:nvGrpSpPr>
          <p:cNvPr id="32" name="组合 31">
            <a:extLst>
              <a:ext uri="{FF2B5EF4-FFF2-40B4-BE49-F238E27FC236}">
                <a16:creationId xmlns:a16="http://schemas.microsoft.com/office/drawing/2014/main" id="{EBF34DC3-DD05-A34C-9F3E-AFAC47894604}"/>
              </a:ext>
            </a:extLst>
          </p:cNvPr>
          <p:cNvGrpSpPr/>
          <p:nvPr/>
        </p:nvGrpSpPr>
        <p:grpSpPr>
          <a:xfrm>
            <a:off x="731571" y="1082855"/>
            <a:ext cx="6463708" cy="5242991"/>
            <a:chOff x="1294410" y="3599023"/>
            <a:chExt cx="4736239" cy="3035734"/>
          </a:xfrm>
        </p:grpSpPr>
        <p:sp>
          <p:nvSpPr>
            <p:cNvPr id="33" name="矩形 32">
              <a:extLst>
                <a:ext uri="{FF2B5EF4-FFF2-40B4-BE49-F238E27FC236}">
                  <a16:creationId xmlns:a16="http://schemas.microsoft.com/office/drawing/2014/main" id="{BB772F05-36D7-FE40-B8BE-EA4FE766DE14}"/>
                </a:ext>
              </a:extLst>
            </p:cNvPr>
            <p:cNvSpPr/>
            <p:nvPr/>
          </p:nvSpPr>
          <p:spPr bwMode="auto">
            <a:xfrm>
              <a:off x="1294410" y="3599023"/>
              <a:ext cx="4736239" cy="3035734"/>
            </a:xfrm>
            <a:prstGeom prst="rect">
              <a:avLst/>
            </a:prstGeom>
            <a:solidFill>
              <a:srgbClr val="FFFFFF"/>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defRPr/>
              </a:pPr>
              <a:endParaRPr lang="en-US" sz="1600" kern="0"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35" name="矩形 34">
              <a:extLst>
                <a:ext uri="{FF2B5EF4-FFF2-40B4-BE49-F238E27FC236}">
                  <a16:creationId xmlns:a16="http://schemas.microsoft.com/office/drawing/2014/main" id="{63B36F6D-BB02-BF44-A584-D2BCB924A1B3}"/>
                </a:ext>
              </a:extLst>
            </p:cNvPr>
            <p:cNvSpPr/>
            <p:nvPr/>
          </p:nvSpPr>
          <p:spPr>
            <a:xfrm>
              <a:off x="1339202" y="3679776"/>
              <a:ext cx="4592591" cy="2902590"/>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同步</a:t>
              </a:r>
              <a:r>
                <a:rPr lang="en-US" altLang="zh-CN" sz="2400" dirty="0">
                  <a:latin typeface="微软雅黑" panose="020B0503020204020204" pitchFamily="34" charset="-122"/>
                  <a:ea typeface="微软雅黑" panose="020B0503020204020204" pitchFamily="34" charset="-122"/>
                </a:rPr>
                <a:t>BFT</a:t>
              </a:r>
              <a:r>
                <a:rPr lang="zh-CN" altLang="en-US" sz="2400" dirty="0">
                  <a:latin typeface="微软雅黑" panose="020B0503020204020204" pitchFamily="34" charset="-122"/>
                  <a:ea typeface="微软雅黑" panose="020B0503020204020204" pitchFamily="34" charset="-122"/>
                </a:rPr>
                <a:t>共識假設網絡一直保持穩定狀態，若網絡出現不穩定現象，即延遲超過預設最大值，則會出現安全問題</a:t>
              </a:r>
              <a:endParaRPr lang="en-US" altLang="zh-CN" sz="2400" dirty="0">
                <a:latin typeface="微软雅黑" panose="020B0503020204020204" pitchFamily="34" charset="-122"/>
                <a:ea typeface="微软雅黑" panose="020B0503020204020204" pitchFamily="34" charset="-122"/>
              </a:endParaRPr>
            </a:p>
            <a:p>
              <a:pPr marL="342900" indent="-342900" algn="just">
                <a:lnSpc>
                  <a:spcPct val="150000"/>
                </a:lnSpc>
                <a:buFont typeface="Arial" panose="020B0604020202020204" pitchFamily="34" charset="0"/>
                <a:buChar char="•"/>
              </a:pPr>
              <a:endParaRPr lang="en-US" altLang="zh-CN" sz="2400" dirty="0">
                <a:latin typeface="微软雅黑" panose="020B0503020204020204" pitchFamily="34" charset="-122"/>
                <a:ea typeface="微软雅黑" panose="020B0503020204020204" pitchFamily="34" charset="-122"/>
              </a:endParaRPr>
            </a:p>
            <a:p>
              <a:pPr marL="342900" indent="-342900" algn="just">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异步</a:t>
              </a:r>
              <a:r>
                <a:rPr lang="en-US" altLang="zh-CN" sz="2400" dirty="0">
                  <a:latin typeface="微软雅黑" panose="020B0503020204020204" pitchFamily="34" charset="-122"/>
                  <a:ea typeface="微软雅黑" panose="020B0503020204020204" pitchFamily="34" charset="-122"/>
                </a:rPr>
                <a:t>BFT</a:t>
              </a:r>
              <a:r>
                <a:rPr lang="zh-CN" altLang="en-US" sz="2400" dirty="0">
                  <a:latin typeface="微软雅黑" panose="020B0503020204020204" pitchFamily="34" charset="-122"/>
                  <a:ea typeface="微软雅黑" panose="020B0503020204020204" pitchFamily="34" charset="-122"/>
                </a:rPr>
                <a:t>共識只能采用</a:t>
              </a:r>
              <a:r>
                <a:rPr lang="zh-CN" altLang="en-US" sz="2400" b="1" dirty="0">
                  <a:solidFill>
                    <a:srgbClr val="C00000"/>
                  </a:solidFill>
                  <a:latin typeface="微软雅黑" panose="020B0503020204020204" pitchFamily="34" charset="-122"/>
                  <a:ea typeface="微软雅黑" panose="020B0503020204020204" pitchFamily="34" charset="-122"/>
                </a:rPr>
                <a:t>無</a:t>
              </a:r>
              <a:r>
                <a:rPr lang="en-US" altLang="zh-CN" sz="2400" b="1" dirty="0">
                  <a:solidFill>
                    <a:srgbClr val="C00000"/>
                  </a:solidFill>
                  <a:latin typeface="微软雅黑" panose="020B0503020204020204" pitchFamily="34" charset="-122"/>
                  <a:ea typeface="微软雅黑" panose="020B0503020204020204" pitchFamily="34" charset="-122"/>
                </a:rPr>
                <a:t>Leader</a:t>
              </a:r>
              <a:r>
                <a:rPr lang="zh-CN" altLang="en-US" sz="2400" b="1" dirty="0">
                  <a:solidFill>
                    <a:srgbClr val="C00000"/>
                  </a:solidFill>
                  <a:latin typeface="微软雅黑" panose="020B0503020204020204" pitchFamily="34" charset="-122"/>
                  <a:ea typeface="微软雅黑" panose="020B0503020204020204" pitchFamily="34" charset="-122"/>
                </a:rPr>
                <a:t>的共識模式</a:t>
              </a:r>
              <a:r>
                <a:rPr lang="zh-CN" altLang="en-US" sz="2400" dirty="0">
                  <a:latin typeface="微软雅黑" panose="020B0503020204020204" pitchFamily="34" charset="-122"/>
                  <a:ea typeface="微软雅黑" panose="020B0503020204020204" pitchFamily="34" charset="-122"/>
                </a:rPr>
                <a:t>，因爲异步網絡中無法分辨</a:t>
              </a:r>
              <a:r>
                <a:rPr lang="en-US" altLang="zh-CN" sz="2400" dirty="0">
                  <a:latin typeface="微软雅黑" panose="020B0503020204020204" pitchFamily="34" charset="-122"/>
                  <a:ea typeface="微软雅黑" panose="020B0503020204020204" pitchFamily="34" charset="-122"/>
                </a:rPr>
                <a:t>Leader</a:t>
              </a:r>
              <a:r>
                <a:rPr lang="zh-CN" altLang="en-US" sz="2400" dirty="0">
                  <a:latin typeface="微软雅黑" panose="020B0503020204020204" pitchFamily="34" charset="-122"/>
                  <a:ea typeface="微软雅黑" panose="020B0503020204020204" pitchFamily="34" charset="-122"/>
                </a:rPr>
                <a:t>錯誤和網絡延遲過高兩種情况；因此，异步</a:t>
              </a:r>
              <a:r>
                <a:rPr lang="en-US" altLang="zh-CN" sz="2400" dirty="0">
                  <a:latin typeface="微软雅黑" panose="020B0503020204020204" pitchFamily="34" charset="-122"/>
                  <a:ea typeface="微软雅黑" panose="020B0503020204020204" pitchFamily="34" charset="-122"/>
                </a:rPr>
                <a:t>BFT</a:t>
              </a:r>
              <a:r>
                <a:rPr lang="zh-CN" altLang="en-US" sz="2400" dirty="0">
                  <a:latin typeface="微软雅黑" panose="020B0503020204020204" pitchFamily="34" charset="-122"/>
                  <a:ea typeface="微软雅黑" panose="020B0503020204020204" pitchFamily="34" charset="-122"/>
                </a:rPr>
                <a:t>共識不僅交互輪數過多，還可能導致理論上的活鎖（類似于前面分析的</a:t>
              </a:r>
              <a:r>
                <a:rPr lang="en-US" altLang="zh-CN" sz="2400" dirty="0">
                  <a:latin typeface="微软雅黑" panose="020B0503020204020204" pitchFamily="34" charset="-122"/>
                  <a:ea typeface="微软雅黑" panose="020B0503020204020204" pitchFamily="34" charset="-122"/>
                </a:rPr>
                <a:t>Paxos</a:t>
              </a:r>
              <a:r>
                <a:rPr lang="zh-CN" altLang="en-US" sz="2400" dirty="0">
                  <a:latin typeface="微软雅黑" panose="020B0503020204020204" pitchFamily="34" charset="-122"/>
                  <a:ea typeface="微软雅黑" panose="020B0503020204020204" pitchFamily="34" charset="-122"/>
                </a:rPr>
                <a:t>共識）</a:t>
              </a:r>
              <a:endParaRPr lang="en-US" altLang="zh-CN" sz="2400" dirty="0">
                <a:latin typeface="微软雅黑" panose="020B0503020204020204" pitchFamily="34" charset="-122"/>
                <a:ea typeface="微软雅黑" panose="020B0503020204020204" pitchFamily="34" charset="-122"/>
              </a:endParaRPr>
            </a:p>
          </p:txBody>
        </p:sp>
      </p:grpSp>
      <p:grpSp>
        <p:nvGrpSpPr>
          <p:cNvPr id="40" name="组合 39">
            <a:extLst>
              <a:ext uri="{FF2B5EF4-FFF2-40B4-BE49-F238E27FC236}">
                <a16:creationId xmlns:a16="http://schemas.microsoft.com/office/drawing/2014/main" id="{7043F463-FA8F-4C46-BD12-08F87EC0B57D}"/>
              </a:ext>
            </a:extLst>
          </p:cNvPr>
          <p:cNvGrpSpPr/>
          <p:nvPr/>
        </p:nvGrpSpPr>
        <p:grpSpPr>
          <a:xfrm>
            <a:off x="7514107" y="962937"/>
            <a:ext cx="4291094" cy="5242991"/>
            <a:chOff x="7223701" y="962937"/>
            <a:chExt cx="4461580" cy="5451296"/>
          </a:xfrm>
        </p:grpSpPr>
        <p:pic>
          <p:nvPicPr>
            <p:cNvPr id="25" name="图片 24">
              <a:extLst>
                <a:ext uri="{FF2B5EF4-FFF2-40B4-BE49-F238E27FC236}">
                  <a16:creationId xmlns:a16="http://schemas.microsoft.com/office/drawing/2014/main" id="{0253AC42-85A7-0149-A310-3D013AE06D6F}"/>
                </a:ext>
              </a:extLst>
            </p:cNvPr>
            <p:cNvPicPr>
              <a:picLocks noChangeAspect="1"/>
            </p:cNvPicPr>
            <p:nvPr/>
          </p:nvPicPr>
          <p:blipFill>
            <a:blip r:embed="rId2"/>
            <a:stretch>
              <a:fillRect/>
            </a:stretch>
          </p:blipFill>
          <p:spPr>
            <a:xfrm>
              <a:off x="7223701" y="962937"/>
              <a:ext cx="4461580" cy="2500023"/>
            </a:xfrm>
            <a:prstGeom prst="rect">
              <a:avLst/>
            </a:prstGeom>
          </p:spPr>
        </p:pic>
        <p:pic>
          <p:nvPicPr>
            <p:cNvPr id="38" name="图片 37">
              <a:extLst>
                <a:ext uri="{FF2B5EF4-FFF2-40B4-BE49-F238E27FC236}">
                  <a16:creationId xmlns:a16="http://schemas.microsoft.com/office/drawing/2014/main" id="{F1822EA3-5CA5-A943-8349-4415D43E55CB}"/>
                </a:ext>
              </a:extLst>
            </p:cNvPr>
            <p:cNvPicPr>
              <a:picLocks noChangeAspect="1"/>
            </p:cNvPicPr>
            <p:nvPr/>
          </p:nvPicPr>
          <p:blipFill>
            <a:blip r:embed="rId3"/>
            <a:stretch>
              <a:fillRect/>
            </a:stretch>
          </p:blipFill>
          <p:spPr>
            <a:xfrm>
              <a:off x="7262163" y="3914210"/>
              <a:ext cx="4384655" cy="2500023"/>
            </a:xfrm>
            <a:prstGeom prst="rect">
              <a:avLst/>
            </a:prstGeom>
          </p:spPr>
        </p:pic>
      </p:grpSp>
      <p:sp>
        <p:nvSpPr>
          <p:cNvPr id="9" name="灯片编号占位符 2">
            <a:extLst>
              <a:ext uri="{FF2B5EF4-FFF2-40B4-BE49-F238E27FC236}">
                <a16:creationId xmlns:a16="http://schemas.microsoft.com/office/drawing/2014/main" id="{8C72043C-66A9-114F-BF7C-69274371F9BE}"/>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122</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147503760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kumimoji="1" lang="zh-CN" altLang="en-US" dirty="0"/>
              <a:t>引入部分同步網絡模型</a:t>
            </a:r>
            <a:endParaRPr kumimoji="1" lang="zh-CN" altLang="en-US" sz="4000" dirty="0"/>
          </a:p>
        </p:txBody>
      </p:sp>
      <p:sp>
        <p:nvSpPr>
          <p:cNvPr id="8" name="内容占位符 3">
            <a:extLst>
              <a:ext uri="{FF2B5EF4-FFF2-40B4-BE49-F238E27FC236}">
                <a16:creationId xmlns:a16="http://schemas.microsoft.com/office/drawing/2014/main" id="{6E5D99E0-3439-D744-B962-6B4B3555AB60}"/>
              </a:ext>
            </a:extLst>
          </p:cNvPr>
          <p:cNvSpPr txBox="1">
            <a:spLocks/>
          </p:cNvSpPr>
          <p:nvPr/>
        </p:nvSpPr>
        <p:spPr>
          <a:xfrm>
            <a:off x="891223" y="3626279"/>
            <a:ext cx="10462577" cy="2961400"/>
          </a:xfrm>
          <a:prstGeom prst="rect">
            <a:avLst/>
          </a:prstGeom>
          <a:ln>
            <a:solidFill>
              <a:srgbClr val="00B0F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3600"/>
              </a:lnSpc>
              <a:spcBef>
                <a:spcPts val="0"/>
              </a:spcBef>
            </a:pPr>
            <a:r>
              <a:rPr kumimoji="1" lang="zh-CN" altLang="en-US" sz="2400" dirty="0">
                <a:latin typeface="Microsoft YaHei" panose="020B0503020204020204" pitchFamily="34" charset="-122"/>
                <a:ea typeface="Microsoft YaHei" panose="020B0503020204020204" pitchFamily="34" charset="-122"/>
              </a:rPr>
              <a:t>部分同步</a:t>
            </a:r>
            <a:r>
              <a:rPr kumimoji="1" lang="en-US" altLang="zh-CN" sz="2400" dirty="0">
                <a:latin typeface="Microsoft YaHei" panose="020B0503020204020204" pitchFamily="34" charset="-122"/>
                <a:ea typeface="Microsoft YaHei" panose="020B0503020204020204" pitchFamily="34" charset="-122"/>
              </a:rPr>
              <a:t>BFT</a:t>
            </a:r>
            <a:r>
              <a:rPr kumimoji="1" lang="zh-CN" altLang="en-US" sz="2400" dirty="0">
                <a:latin typeface="Microsoft YaHei" panose="020B0503020204020204" pitchFamily="34" charset="-122"/>
                <a:ea typeface="Microsoft YaHei" panose="020B0503020204020204" pitchFamily="34" charset="-122"/>
              </a:rPr>
              <a:t>共識的典型案例</a:t>
            </a:r>
            <a:endParaRPr kumimoji="1" lang="en-US" altLang="zh-CN" sz="2400" dirty="0">
              <a:latin typeface="Microsoft YaHei" panose="020B0503020204020204" pitchFamily="34" charset="-122"/>
              <a:ea typeface="Microsoft YaHei" panose="020B0503020204020204" pitchFamily="34" charset="-122"/>
            </a:endParaRPr>
          </a:p>
          <a:p>
            <a:pPr marL="684000" lvl="1" indent="-342900" algn="just">
              <a:lnSpc>
                <a:spcPts val="3600"/>
              </a:lnSpc>
              <a:spcBef>
                <a:spcPts val="0"/>
              </a:spcBef>
            </a:pPr>
            <a:r>
              <a:rPr kumimoji="1" lang="en-US" altLang="zh-CN" dirty="0">
                <a:latin typeface="Microsoft YaHei" panose="020B0503020204020204" pitchFamily="34" charset="-122"/>
                <a:ea typeface="Microsoft YaHei" panose="020B0503020204020204" pitchFamily="34" charset="-122"/>
              </a:rPr>
              <a:t>PBFT</a:t>
            </a:r>
            <a:r>
              <a:rPr kumimoji="1" lang="zh-CN" altLang="en-US" dirty="0">
                <a:latin typeface="Microsoft YaHei" panose="020B0503020204020204" pitchFamily="34" charset="-122"/>
                <a:ea typeface="Microsoft YaHei" panose="020B0503020204020204" pitchFamily="34" charset="-122"/>
              </a:rPr>
              <a:t>：第一個實用化的</a:t>
            </a:r>
            <a:r>
              <a:rPr kumimoji="1" lang="en-US" altLang="zh-CN" dirty="0">
                <a:latin typeface="Microsoft YaHei" panose="020B0503020204020204" pitchFamily="34" charset="-122"/>
                <a:ea typeface="Microsoft YaHei" panose="020B0503020204020204" pitchFamily="34" charset="-122"/>
              </a:rPr>
              <a:t>BFT</a:t>
            </a:r>
            <a:r>
              <a:rPr kumimoji="1" lang="zh-CN" altLang="en-US" dirty="0">
                <a:latin typeface="Microsoft YaHei" panose="020B0503020204020204" pitchFamily="34" charset="-122"/>
                <a:ea typeface="Microsoft YaHei" panose="020B0503020204020204" pitchFamily="34" charset="-122"/>
              </a:rPr>
              <a:t>共識機制；基于三階段共識實現節點間狀態一致；采用數字簽名機制實現投票</a:t>
            </a:r>
            <a:endParaRPr kumimoji="1" lang="en-US" altLang="zh-CN" dirty="0">
              <a:latin typeface="Microsoft YaHei" panose="020B0503020204020204" pitchFamily="34" charset="-122"/>
              <a:ea typeface="Microsoft YaHei" panose="020B0503020204020204" pitchFamily="34" charset="-122"/>
            </a:endParaRPr>
          </a:p>
          <a:p>
            <a:pPr marL="684000" lvl="1" indent="-342900" algn="just">
              <a:lnSpc>
                <a:spcPts val="3600"/>
              </a:lnSpc>
              <a:spcBef>
                <a:spcPts val="0"/>
              </a:spcBef>
            </a:pPr>
            <a:r>
              <a:rPr kumimoji="1" lang="en-US" altLang="zh-CN" dirty="0" err="1">
                <a:latin typeface="Microsoft YaHei" panose="020B0503020204020204" pitchFamily="34" charset="-122"/>
                <a:ea typeface="Microsoft YaHei" panose="020B0503020204020204" pitchFamily="34" charset="-122"/>
              </a:rPr>
              <a:t>Hotstuff</a:t>
            </a:r>
            <a:r>
              <a:rPr kumimoji="1" lang="zh-CN" altLang="en-US" dirty="0">
                <a:latin typeface="Microsoft YaHei" panose="020B0503020204020204" pitchFamily="34" charset="-122"/>
                <a:ea typeface="Microsoft YaHei" panose="020B0503020204020204" pitchFamily="34" charset="-122"/>
              </a:rPr>
              <a:t>：</a:t>
            </a:r>
            <a:r>
              <a:rPr kumimoji="1" lang="en-US" altLang="zh-CN" dirty="0">
                <a:latin typeface="Microsoft YaHei" panose="020B0503020204020204" pitchFamily="34" charset="-122"/>
                <a:ea typeface="Microsoft YaHei" panose="020B0503020204020204" pitchFamily="34" charset="-122"/>
              </a:rPr>
              <a:t>2019</a:t>
            </a:r>
            <a:r>
              <a:rPr kumimoji="1" lang="zh-CN" altLang="en-US" dirty="0">
                <a:latin typeface="Microsoft YaHei" panose="020B0503020204020204" pitchFamily="34" charset="-122"/>
                <a:ea typeface="Microsoft YaHei" panose="020B0503020204020204" pitchFamily="34" charset="-122"/>
              </a:rPr>
              <a:t>年被提出，是對</a:t>
            </a:r>
            <a:r>
              <a:rPr kumimoji="1" lang="en-US" altLang="zh-CN" dirty="0">
                <a:latin typeface="Microsoft YaHei" panose="020B0503020204020204" pitchFamily="34" charset="-122"/>
                <a:ea typeface="Microsoft YaHei" panose="020B0503020204020204" pitchFamily="34" charset="-122"/>
              </a:rPr>
              <a:t>BFT</a:t>
            </a:r>
            <a:r>
              <a:rPr kumimoji="1" lang="zh-CN" altLang="en-US" dirty="0">
                <a:latin typeface="Microsoft YaHei" panose="020B0503020204020204" pitchFamily="34" charset="-122"/>
                <a:ea typeface="Microsoft YaHei" panose="020B0503020204020204" pitchFamily="34" charset="-122"/>
              </a:rPr>
              <a:t>共識的一次重大改進；基于四階段共識實現節點間狀態一致，降低</a:t>
            </a:r>
            <a:r>
              <a:rPr kumimoji="1" lang="en-US" altLang="zh-CN" dirty="0">
                <a:latin typeface="Microsoft YaHei" panose="020B0503020204020204" pitchFamily="34" charset="-122"/>
                <a:ea typeface="Microsoft YaHei" panose="020B0503020204020204" pitchFamily="34" charset="-122"/>
              </a:rPr>
              <a:t>leader</a:t>
            </a:r>
            <a:r>
              <a:rPr kumimoji="1" lang="zh-CN" altLang="en-US" dirty="0">
                <a:latin typeface="Microsoft YaHei" panose="020B0503020204020204" pitchFamily="34" charset="-122"/>
                <a:ea typeface="Microsoft YaHei" panose="020B0503020204020204" pitchFamily="34" charset="-122"/>
              </a:rPr>
              <a:t>更換開銷；采用門限簽名機制實現投票，幷采用流水綫機制减少交互信息量</a:t>
            </a:r>
            <a:endParaRPr kumimoji="1" lang="en-US" altLang="zh-CN" dirty="0">
              <a:latin typeface="Microsoft YaHei" panose="020B0503020204020204" pitchFamily="34" charset="-122"/>
              <a:ea typeface="Microsoft YaHei" panose="020B0503020204020204" pitchFamily="34" charset="-122"/>
            </a:endParaRPr>
          </a:p>
          <a:p>
            <a:pPr marL="684000" lvl="1" indent="-342900" algn="just">
              <a:lnSpc>
                <a:spcPts val="3600"/>
              </a:lnSpc>
              <a:spcBef>
                <a:spcPts val="0"/>
              </a:spcBef>
            </a:pPr>
            <a:endParaRPr kumimoji="1" lang="en-US" altLang="zh-CN" dirty="0">
              <a:latin typeface="Microsoft YaHei" panose="020B0503020204020204" pitchFamily="34" charset="-122"/>
              <a:ea typeface="Microsoft YaHei" panose="020B0503020204020204" pitchFamily="34" charset="-122"/>
            </a:endParaRPr>
          </a:p>
        </p:txBody>
      </p:sp>
      <p:grpSp>
        <p:nvGrpSpPr>
          <p:cNvPr id="9" name="组合 8">
            <a:extLst>
              <a:ext uri="{FF2B5EF4-FFF2-40B4-BE49-F238E27FC236}">
                <a16:creationId xmlns:a16="http://schemas.microsoft.com/office/drawing/2014/main" id="{4783FF2D-EF56-CE4A-9656-DB1F93E9EFCE}"/>
              </a:ext>
            </a:extLst>
          </p:cNvPr>
          <p:cNvGrpSpPr/>
          <p:nvPr/>
        </p:nvGrpSpPr>
        <p:grpSpPr>
          <a:xfrm>
            <a:off x="891223" y="1020514"/>
            <a:ext cx="6567944" cy="2256725"/>
            <a:chOff x="695602" y="1011099"/>
            <a:chExt cx="5633944" cy="2354978"/>
          </a:xfrm>
        </p:grpSpPr>
        <p:sp>
          <p:nvSpPr>
            <p:cNvPr id="10" name="矩形 9">
              <a:extLst>
                <a:ext uri="{FF2B5EF4-FFF2-40B4-BE49-F238E27FC236}">
                  <a16:creationId xmlns:a16="http://schemas.microsoft.com/office/drawing/2014/main" id="{F5A8B297-1533-874D-854B-201ED79115F2}"/>
                </a:ext>
              </a:extLst>
            </p:cNvPr>
            <p:cNvSpPr/>
            <p:nvPr/>
          </p:nvSpPr>
          <p:spPr bwMode="auto">
            <a:xfrm>
              <a:off x="695602" y="1039004"/>
              <a:ext cx="5633944" cy="2327073"/>
            </a:xfrm>
            <a:prstGeom prst="rect">
              <a:avLst/>
            </a:prstGeom>
            <a:solidFill>
              <a:srgbClr val="FFFFFF"/>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defRPr/>
              </a:pPr>
              <a:endParaRPr lang="en-US" sz="1600" kern="0"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11" name="内容占位符 2">
              <a:extLst>
                <a:ext uri="{FF2B5EF4-FFF2-40B4-BE49-F238E27FC236}">
                  <a16:creationId xmlns:a16="http://schemas.microsoft.com/office/drawing/2014/main" id="{2D17930E-DD49-9747-8246-7A3008A76265}"/>
                </a:ext>
              </a:extLst>
            </p:cNvPr>
            <p:cNvSpPr txBox="1"/>
            <p:nvPr/>
          </p:nvSpPr>
          <p:spPr>
            <a:xfrm>
              <a:off x="725815" y="1011099"/>
              <a:ext cx="5563570" cy="21925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zh-CN" altLang="en-US" sz="2400" b="1" dirty="0">
                  <a:solidFill>
                    <a:srgbClr val="C00000"/>
                  </a:solidFill>
                  <a:latin typeface="微软雅黑" panose="020B0503020204020204" pitchFamily="34" charset="-122"/>
                  <a:ea typeface="微软雅黑" panose="020B0503020204020204" pitchFamily="34" charset="-122"/>
                </a:rPr>
                <a:t>部分同步網絡模型</a:t>
              </a:r>
              <a:r>
                <a:rPr lang="zh-CN" altLang="en-US" sz="2400" dirty="0">
                  <a:latin typeface="微软雅黑" panose="020B0503020204020204" pitchFamily="34" charset="-122"/>
                  <a:ea typeface="微软雅黑" panose="020B0503020204020204" pitchFamily="34" charset="-122"/>
                </a:rPr>
                <a:t>：網絡狀態不可預測，但</a:t>
              </a:r>
              <a:r>
                <a:rPr lang="zh-CN" altLang="en-US" sz="2400" dirty="0">
                  <a:latin typeface="Microsoft YaHei" panose="020B0503020204020204" pitchFamily="34" charset="-122"/>
                  <a:ea typeface="Microsoft YaHei" panose="020B0503020204020204" pitchFamily="34" charset="-122"/>
                </a:rPr>
                <a:t>總存在一個網絡滿足同步假設的時間窗口，此時</a:t>
              </a:r>
              <a:r>
                <a:rPr lang="zh-CN" altLang="en-US" sz="2400" dirty="0">
                  <a:latin typeface="微软雅黑" panose="020B0503020204020204" pitchFamily="34" charset="-122"/>
                  <a:ea typeface="微软雅黑" panose="020B0503020204020204" pitchFamily="34" charset="-122"/>
                </a:rPr>
                <a:t>共識能穩定運行；網絡异步時，則專注于確保共識的安全性</a:t>
              </a:r>
              <a:endParaRPr lang="zh-CN" altLang="en-US" sz="2400" dirty="0">
                <a:latin typeface="Microsoft YaHei" panose="020B0503020204020204" pitchFamily="34" charset="-122"/>
                <a:ea typeface="Microsoft YaHei" panose="020B0503020204020204" pitchFamily="34" charset="-122"/>
              </a:endParaRPr>
            </a:p>
          </p:txBody>
        </p:sp>
      </p:grpSp>
      <p:pic>
        <p:nvPicPr>
          <p:cNvPr id="12" name="图形 11" descr="便携式计算机">
            <a:extLst>
              <a:ext uri="{FF2B5EF4-FFF2-40B4-BE49-F238E27FC236}">
                <a16:creationId xmlns:a16="http://schemas.microsoft.com/office/drawing/2014/main" id="{3205EF14-FC6C-0E4A-BFDD-0BB0C7EAD65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87969" y="861932"/>
            <a:ext cx="914400" cy="914400"/>
          </a:xfrm>
          <a:prstGeom prst="rect">
            <a:avLst/>
          </a:prstGeom>
        </p:spPr>
      </p:pic>
      <p:pic>
        <p:nvPicPr>
          <p:cNvPr id="13" name="图形 12" descr="便携式计算机">
            <a:extLst>
              <a:ext uri="{FF2B5EF4-FFF2-40B4-BE49-F238E27FC236}">
                <a16:creationId xmlns:a16="http://schemas.microsoft.com/office/drawing/2014/main" id="{4CEDE2D4-DC41-D14B-A800-B51C99091AD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974449" y="864359"/>
            <a:ext cx="914400" cy="914400"/>
          </a:xfrm>
          <a:prstGeom prst="rect">
            <a:avLst/>
          </a:prstGeom>
        </p:spPr>
      </p:pic>
      <p:pic>
        <p:nvPicPr>
          <p:cNvPr id="14" name="图形 13" descr="便携式计算机">
            <a:extLst>
              <a:ext uri="{FF2B5EF4-FFF2-40B4-BE49-F238E27FC236}">
                <a16:creationId xmlns:a16="http://schemas.microsoft.com/office/drawing/2014/main" id="{4140A587-DB71-8848-A5B7-CD79D7DEBF9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974449" y="2131112"/>
            <a:ext cx="914400" cy="914400"/>
          </a:xfrm>
          <a:prstGeom prst="rect">
            <a:avLst/>
          </a:prstGeom>
        </p:spPr>
      </p:pic>
      <p:pic>
        <p:nvPicPr>
          <p:cNvPr id="15" name="图形 14" descr="便携式计算机">
            <a:extLst>
              <a:ext uri="{FF2B5EF4-FFF2-40B4-BE49-F238E27FC236}">
                <a16:creationId xmlns:a16="http://schemas.microsoft.com/office/drawing/2014/main" id="{8D3B0A14-453A-7A42-ACF2-938246DCB12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87969" y="2131112"/>
            <a:ext cx="914400" cy="914400"/>
          </a:xfrm>
          <a:prstGeom prst="rect">
            <a:avLst/>
          </a:prstGeom>
        </p:spPr>
      </p:pic>
      <p:sp>
        <p:nvSpPr>
          <p:cNvPr id="16" name="矩形 15">
            <a:extLst>
              <a:ext uri="{FF2B5EF4-FFF2-40B4-BE49-F238E27FC236}">
                <a16:creationId xmlns:a16="http://schemas.microsoft.com/office/drawing/2014/main" id="{53B31A76-16B0-6B46-8B1F-6EFE8A0CA579}"/>
              </a:ext>
            </a:extLst>
          </p:cNvPr>
          <p:cNvSpPr/>
          <p:nvPr/>
        </p:nvSpPr>
        <p:spPr>
          <a:xfrm>
            <a:off x="9603456" y="1632159"/>
            <a:ext cx="1186543" cy="369332"/>
          </a:xfrm>
          <a:prstGeom prst="rect">
            <a:avLst/>
          </a:prstGeom>
        </p:spPr>
        <p:txBody>
          <a:bodyPr wrap="none">
            <a:spAutoFit/>
          </a:bodyPr>
          <a:lstStyle/>
          <a:p>
            <a:r>
              <a:rPr lang="zh-CN" altLang="en-US" dirty="0">
                <a:latin typeface="Microsoft YaHei" panose="020B0503020204020204" pitchFamily="34" charset="-122"/>
                <a:ea typeface="Microsoft YaHei" panose="020B0503020204020204" pitchFamily="34" charset="-122"/>
              </a:rPr>
              <a:t>延遲</a:t>
            </a:r>
            <a:r>
              <a:rPr lang="en-US" altLang="zh-CN" dirty="0">
                <a:latin typeface="Microsoft YaHei" panose="020B0503020204020204" pitchFamily="34" charset="-122"/>
                <a:ea typeface="Microsoft YaHei" panose="020B0503020204020204" pitchFamily="34" charset="-122"/>
              </a:rPr>
              <a:t> </a:t>
            </a:r>
            <a:r>
              <a:rPr lang="zh-CN" altLang="en-US" dirty="0">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 </a:t>
            </a:r>
            <a:r>
              <a:rPr lang="zh-CN" altLang="en-US" dirty="0">
                <a:solidFill>
                  <a:srgbClr val="000000"/>
                </a:solidFill>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 </a:t>
            </a:r>
            <a:endParaRPr lang="zh-CN" altLang="en-US" dirty="0">
              <a:latin typeface="Microsoft YaHei" panose="020B0503020204020204" pitchFamily="34" charset="-122"/>
              <a:ea typeface="Microsoft YaHei" panose="020B0503020204020204" pitchFamily="34" charset="-122"/>
            </a:endParaRPr>
          </a:p>
        </p:txBody>
      </p:sp>
      <p:grpSp>
        <p:nvGrpSpPr>
          <p:cNvPr id="17" name="组合 16">
            <a:extLst>
              <a:ext uri="{FF2B5EF4-FFF2-40B4-BE49-F238E27FC236}">
                <a16:creationId xmlns:a16="http://schemas.microsoft.com/office/drawing/2014/main" id="{53AF42D3-6C5D-2740-A2C7-080DD853BC38}"/>
              </a:ext>
            </a:extLst>
          </p:cNvPr>
          <p:cNvGrpSpPr/>
          <p:nvPr/>
        </p:nvGrpSpPr>
        <p:grpSpPr>
          <a:xfrm>
            <a:off x="8511816" y="1003820"/>
            <a:ext cx="2549234" cy="716712"/>
            <a:chOff x="7782298" y="2896954"/>
            <a:chExt cx="1571526" cy="459177"/>
          </a:xfrm>
        </p:grpSpPr>
        <p:pic>
          <p:nvPicPr>
            <p:cNvPr id="18" name="图形 17" descr="右箭头">
              <a:extLst>
                <a:ext uri="{FF2B5EF4-FFF2-40B4-BE49-F238E27FC236}">
                  <a16:creationId xmlns:a16="http://schemas.microsoft.com/office/drawing/2014/main" id="{92AFA9C1-0117-9640-8F2D-2780C656026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998032" y="2898931"/>
              <a:ext cx="1355792" cy="457200"/>
            </a:xfrm>
            <a:prstGeom prst="rect">
              <a:avLst/>
            </a:prstGeom>
          </p:spPr>
        </p:pic>
        <p:pic>
          <p:nvPicPr>
            <p:cNvPr id="19" name="图形 18" descr="右箭头">
              <a:extLst>
                <a:ext uri="{FF2B5EF4-FFF2-40B4-BE49-F238E27FC236}">
                  <a16:creationId xmlns:a16="http://schemas.microsoft.com/office/drawing/2014/main" id="{E327916D-69FF-A945-81E3-F937283B639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0800000">
              <a:off x="7782298" y="2896954"/>
              <a:ext cx="1355792" cy="457200"/>
            </a:xfrm>
            <a:prstGeom prst="rect">
              <a:avLst/>
            </a:prstGeom>
          </p:spPr>
        </p:pic>
      </p:grpSp>
      <p:grpSp>
        <p:nvGrpSpPr>
          <p:cNvPr id="20" name="组合 19">
            <a:extLst>
              <a:ext uri="{FF2B5EF4-FFF2-40B4-BE49-F238E27FC236}">
                <a16:creationId xmlns:a16="http://schemas.microsoft.com/office/drawing/2014/main" id="{68E9CC44-5238-BB49-BED0-5A225F70543E}"/>
              </a:ext>
            </a:extLst>
          </p:cNvPr>
          <p:cNvGrpSpPr/>
          <p:nvPr/>
        </p:nvGrpSpPr>
        <p:grpSpPr>
          <a:xfrm rot="1092165">
            <a:off x="8352176" y="1811136"/>
            <a:ext cx="2827335" cy="716712"/>
            <a:chOff x="7782298" y="2896954"/>
            <a:chExt cx="1571526" cy="459177"/>
          </a:xfrm>
        </p:grpSpPr>
        <p:pic>
          <p:nvPicPr>
            <p:cNvPr id="21" name="图形 20" descr="右箭头">
              <a:extLst>
                <a:ext uri="{FF2B5EF4-FFF2-40B4-BE49-F238E27FC236}">
                  <a16:creationId xmlns:a16="http://schemas.microsoft.com/office/drawing/2014/main" id="{2E2ED4F4-6D69-DC4F-AF4F-FC40BD22764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998032" y="2898931"/>
              <a:ext cx="1355792" cy="457200"/>
            </a:xfrm>
            <a:prstGeom prst="rect">
              <a:avLst/>
            </a:prstGeom>
          </p:spPr>
        </p:pic>
        <p:pic>
          <p:nvPicPr>
            <p:cNvPr id="22" name="图形 21" descr="右箭头">
              <a:extLst>
                <a:ext uri="{FF2B5EF4-FFF2-40B4-BE49-F238E27FC236}">
                  <a16:creationId xmlns:a16="http://schemas.microsoft.com/office/drawing/2014/main" id="{B2B9CB37-F185-2146-B725-C2192B576B9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0800000">
              <a:off x="7782298" y="2896954"/>
              <a:ext cx="1355792" cy="457200"/>
            </a:xfrm>
            <a:prstGeom prst="rect">
              <a:avLst/>
            </a:prstGeom>
          </p:spPr>
        </p:pic>
      </p:grpSp>
      <p:grpSp>
        <p:nvGrpSpPr>
          <p:cNvPr id="23" name="组合 22">
            <a:extLst>
              <a:ext uri="{FF2B5EF4-FFF2-40B4-BE49-F238E27FC236}">
                <a16:creationId xmlns:a16="http://schemas.microsoft.com/office/drawing/2014/main" id="{775CD9F5-4D07-9949-B1FF-48A560415FEB}"/>
              </a:ext>
            </a:extLst>
          </p:cNvPr>
          <p:cNvGrpSpPr/>
          <p:nvPr/>
        </p:nvGrpSpPr>
        <p:grpSpPr>
          <a:xfrm rot="16200000">
            <a:off x="11087319" y="1613309"/>
            <a:ext cx="640424" cy="716712"/>
            <a:chOff x="7782298" y="2896954"/>
            <a:chExt cx="1571526" cy="459177"/>
          </a:xfrm>
        </p:grpSpPr>
        <p:pic>
          <p:nvPicPr>
            <p:cNvPr id="24" name="图形 23" descr="右箭头">
              <a:extLst>
                <a:ext uri="{FF2B5EF4-FFF2-40B4-BE49-F238E27FC236}">
                  <a16:creationId xmlns:a16="http://schemas.microsoft.com/office/drawing/2014/main" id="{AD2FBF6D-EAC3-5A4D-A9F3-8245C77C1B6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998032" y="2898931"/>
              <a:ext cx="1355792" cy="457200"/>
            </a:xfrm>
            <a:prstGeom prst="rect">
              <a:avLst/>
            </a:prstGeom>
          </p:spPr>
        </p:pic>
        <p:pic>
          <p:nvPicPr>
            <p:cNvPr id="25" name="图形 24" descr="右箭头">
              <a:extLst>
                <a:ext uri="{FF2B5EF4-FFF2-40B4-BE49-F238E27FC236}">
                  <a16:creationId xmlns:a16="http://schemas.microsoft.com/office/drawing/2014/main" id="{70DFE32A-9126-9841-9D2A-BD35EC284CB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0800000">
              <a:off x="7782298" y="2896954"/>
              <a:ext cx="1355792" cy="457200"/>
            </a:xfrm>
            <a:prstGeom prst="rect">
              <a:avLst/>
            </a:prstGeom>
          </p:spPr>
        </p:pic>
      </p:grpSp>
      <p:sp>
        <p:nvSpPr>
          <p:cNvPr id="26" name="灯片编号占位符 2">
            <a:extLst>
              <a:ext uri="{FF2B5EF4-FFF2-40B4-BE49-F238E27FC236}">
                <a16:creationId xmlns:a16="http://schemas.microsoft.com/office/drawing/2014/main" id="{258292F9-F1FA-2D44-90AA-3F2DDE80A86E}"/>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123</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180502499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kumimoji="1" lang="zh-CN" altLang="en-US" sz="4000" dirty="0"/>
              <a:t>實用拜占庭容錯</a:t>
            </a:r>
            <a:r>
              <a:rPr kumimoji="1" lang="en-US" altLang="zh-CN" sz="4000" dirty="0"/>
              <a:t>-PBFT</a:t>
            </a:r>
            <a:endParaRPr kumimoji="1" lang="zh-CN" altLang="en-US" sz="4000" dirty="0"/>
          </a:p>
        </p:txBody>
      </p:sp>
      <p:sp>
        <p:nvSpPr>
          <p:cNvPr id="24" name="内容占位符 2">
            <a:extLst>
              <a:ext uri="{FF2B5EF4-FFF2-40B4-BE49-F238E27FC236}">
                <a16:creationId xmlns:a16="http://schemas.microsoft.com/office/drawing/2014/main" id="{255CC6B6-82F0-4645-9248-D233C136837D}"/>
              </a:ext>
            </a:extLst>
          </p:cNvPr>
          <p:cNvSpPr txBox="1">
            <a:spLocks/>
          </p:cNvSpPr>
          <p:nvPr/>
        </p:nvSpPr>
        <p:spPr>
          <a:xfrm>
            <a:off x="583154" y="3526790"/>
            <a:ext cx="11148725" cy="2818023"/>
          </a:xfrm>
          <a:prstGeom prst="rect">
            <a:avLst/>
          </a:prstGeom>
          <a:ln>
            <a:solidFill>
              <a:srgbClr val="00B0F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3600"/>
              </a:lnSpc>
            </a:pPr>
            <a:r>
              <a:rPr lang="en-US" altLang="zh-CN" sz="2400" dirty="0">
                <a:latin typeface="Microsoft YaHei" panose="020B0503020204020204" pitchFamily="34" charset="-122"/>
                <a:ea typeface="Microsoft YaHei" panose="020B0503020204020204" pitchFamily="34" charset="-122"/>
              </a:rPr>
              <a:t>Practical Byzantine Fault Tolerance</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OSDI</a:t>
            </a:r>
            <a:r>
              <a:rPr lang="zh-CN" altLang="en-US" sz="2400" dirty="0">
                <a:latin typeface="Microsoft YaHei" panose="020B0503020204020204" pitchFamily="34" charset="-122"/>
                <a:ea typeface="Microsoft YaHei" panose="020B0503020204020204" pitchFamily="34" charset="-122"/>
              </a:rPr>
              <a:t> </a:t>
            </a:r>
            <a:r>
              <a:rPr lang="en-US" altLang="zh-CN" sz="2400" dirty="0">
                <a:latin typeface="Microsoft YaHei" panose="020B0503020204020204" pitchFamily="34" charset="-122"/>
                <a:ea typeface="Microsoft YaHei" panose="020B0503020204020204" pitchFamily="34" charset="-122"/>
              </a:rPr>
              <a:t>1999</a:t>
            </a:r>
          </a:p>
          <a:p>
            <a:pPr>
              <a:lnSpc>
                <a:spcPts val="3600"/>
              </a:lnSpc>
            </a:pPr>
            <a:r>
              <a:rPr lang="zh-CN" altLang="en-US" sz="2400" dirty="0">
                <a:latin typeface="Microsoft YaHei" panose="020B0503020204020204" pitchFamily="34" charset="-122"/>
                <a:ea typeface="Microsoft YaHei" panose="020B0503020204020204" pitchFamily="34" charset="-122"/>
              </a:rPr>
              <a:t>狀態機複製系統</a:t>
            </a:r>
            <a:endParaRPr lang="en-US" altLang="zh-CN" sz="2400" dirty="0">
              <a:latin typeface="Microsoft YaHei" panose="020B0503020204020204" pitchFamily="34" charset="-122"/>
              <a:ea typeface="Microsoft YaHei" panose="020B0503020204020204" pitchFamily="34" charset="-122"/>
            </a:endParaRPr>
          </a:p>
          <a:p>
            <a:pPr>
              <a:lnSpc>
                <a:spcPts val="3600"/>
              </a:lnSpc>
            </a:pPr>
            <a:r>
              <a:rPr lang="zh-CN" altLang="en-US" sz="2400" dirty="0">
                <a:latin typeface="Microsoft YaHei" panose="020B0503020204020204" pitchFamily="34" charset="-122"/>
                <a:ea typeface="Microsoft YaHei" panose="020B0503020204020204" pitchFamily="34" charset="-122"/>
              </a:rPr>
              <a:t>目標：即使在少部分服務器爲拜占庭節點的情况下，使來自客戶端的請求在每個服務器上都按照一個確定的順序執行</a:t>
            </a:r>
            <a:endParaRPr lang="en-US" altLang="zh-CN" sz="2400" dirty="0">
              <a:latin typeface="Microsoft YaHei" panose="020B0503020204020204" pitchFamily="34" charset="-122"/>
              <a:ea typeface="Microsoft YaHei" panose="020B0503020204020204" pitchFamily="34" charset="-122"/>
            </a:endParaRPr>
          </a:p>
          <a:p>
            <a:pPr>
              <a:lnSpc>
                <a:spcPts val="3600"/>
              </a:lnSpc>
            </a:pPr>
            <a:r>
              <a:rPr lang="zh-CN" altLang="en-US" sz="2400" dirty="0">
                <a:latin typeface="Microsoft YaHei" panose="020B0503020204020204" pitchFamily="34" charset="-122"/>
                <a:ea typeface="Microsoft YaHei" panose="020B0503020204020204" pitchFamily="34" charset="-122"/>
              </a:rPr>
              <a:t>適用于有强一致性要求的私有鏈和聯盟鏈場景，</a:t>
            </a:r>
            <a:r>
              <a:rPr lang="en-US" altLang="zh-CN" sz="2400" dirty="0">
                <a:latin typeface="Microsoft YaHei" panose="020B0503020204020204" pitchFamily="34" charset="-122"/>
                <a:ea typeface="Microsoft YaHei" panose="020B0503020204020204" pitchFamily="34" charset="-122"/>
              </a:rPr>
              <a:t>IBM</a:t>
            </a:r>
            <a:r>
              <a:rPr lang="zh-CN" altLang="en-US" sz="2400" dirty="0">
                <a:latin typeface="Microsoft YaHei" panose="020B0503020204020204" pitchFamily="34" charset="-122"/>
                <a:ea typeface="Microsoft YaHei" panose="020B0503020204020204" pitchFamily="34" charset="-122"/>
              </a:rPr>
              <a:t>超級賬本可選共識協議</a:t>
            </a:r>
            <a:endParaRPr lang="en-US" altLang="zh-CN" sz="2400" dirty="0">
              <a:latin typeface="Microsoft YaHei" panose="020B0503020204020204" pitchFamily="34" charset="-122"/>
              <a:ea typeface="Microsoft YaHei" panose="020B0503020204020204" pitchFamily="34" charset="-122"/>
            </a:endParaRPr>
          </a:p>
        </p:txBody>
      </p:sp>
      <p:sp>
        <p:nvSpPr>
          <p:cNvPr id="26" name="矩形 25">
            <a:extLst>
              <a:ext uri="{FF2B5EF4-FFF2-40B4-BE49-F238E27FC236}">
                <a16:creationId xmlns:a16="http://schemas.microsoft.com/office/drawing/2014/main" id="{CAD31DF6-E0FC-7844-A90C-0CB78175D8BE}"/>
              </a:ext>
            </a:extLst>
          </p:cNvPr>
          <p:cNvSpPr/>
          <p:nvPr/>
        </p:nvSpPr>
        <p:spPr>
          <a:xfrm>
            <a:off x="2934298" y="1331854"/>
            <a:ext cx="8894360" cy="1653722"/>
          </a:xfrm>
          <a:prstGeom prst="rect">
            <a:avLst/>
          </a:prstGeom>
        </p:spPr>
        <p:txBody>
          <a:bodyPr wrap="square">
            <a:spAutoFit/>
          </a:bodyPr>
          <a:lstStyle/>
          <a:p>
            <a:pPr>
              <a:lnSpc>
                <a:spcPct val="130000"/>
              </a:lnSpc>
            </a:pPr>
            <a:r>
              <a:rPr lang="en" altLang="zh-CN" sz="2000" b="1" dirty="0">
                <a:latin typeface="Microsoft YaHei" panose="020B0503020204020204" pitchFamily="34" charset="-122"/>
                <a:ea typeface="Microsoft YaHei" panose="020B0503020204020204" pitchFamily="34" charset="-122"/>
              </a:rPr>
              <a:t>Barbara </a:t>
            </a:r>
            <a:r>
              <a:rPr lang="en" altLang="zh-CN" sz="2000" b="1" dirty="0" err="1">
                <a:latin typeface="Microsoft YaHei" panose="020B0503020204020204" pitchFamily="34" charset="-122"/>
                <a:ea typeface="Microsoft YaHei" panose="020B0503020204020204" pitchFamily="34" charset="-122"/>
              </a:rPr>
              <a:t>Liskov</a:t>
            </a:r>
            <a:endParaRPr lang="en-US" altLang="zh-CN" sz="2000" b="1" dirty="0">
              <a:latin typeface="Microsoft YaHei" panose="020B0503020204020204" pitchFamily="34" charset="-122"/>
              <a:ea typeface="Microsoft YaHei" panose="020B0503020204020204" pitchFamily="34" charset="-122"/>
            </a:endParaRPr>
          </a:p>
          <a:p>
            <a:pPr>
              <a:lnSpc>
                <a:spcPct val="130000"/>
              </a:lnSpc>
            </a:pPr>
            <a:r>
              <a:rPr lang="zh-CN" altLang="en-US" sz="2000" i="0" u="none" strike="noStrike" dirty="0">
                <a:effectLst/>
                <a:latin typeface="Microsoft YaHei" panose="020B0503020204020204" pitchFamily="34" charset="-122"/>
                <a:ea typeface="Microsoft YaHei" panose="020B0503020204020204" pitchFamily="34" charset="-122"/>
              </a:rPr>
              <a:t>美國杰出計算機科學家，</a:t>
            </a:r>
            <a:r>
              <a:rPr lang="zh-CN" altLang="en-US" sz="2000" dirty="0">
                <a:latin typeface="Microsoft YaHei" panose="020B0503020204020204" pitchFamily="34" charset="-122"/>
                <a:ea typeface="Microsoft YaHei" panose="020B0503020204020204" pitchFamily="34" charset="-122"/>
              </a:rPr>
              <a:t>麻省理工學院電子電氣與計算機科學系教授</a:t>
            </a:r>
            <a:endParaRPr lang="en-US" altLang="zh-CN" sz="2000" dirty="0">
              <a:latin typeface="Microsoft YaHei" panose="020B0503020204020204" pitchFamily="34" charset="-122"/>
              <a:ea typeface="Microsoft YaHei" panose="020B0503020204020204" pitchFamily="34" charset="-122"/>
            </a:endParaRPr>
          </a:p>
          <a:p>
            <a:pPr>
              <a:lnSpc>
                <a:spcPct val="130000"/>
              </a:lnSpc>
            </a:pPr>
            <a:r>
              <a:rPr lang="en-US" altLang="zh-CN" sz="2000" dirty="0">
                <a:latin typeface="Microsoft YaHei" panose="020B0503020204020204" pitchFamily="34" charset="-122"/>
                <a:ea typeface="Microsoft YaHei" panose="020B0503020204020204" pitchFamily="34" charset="-122"/>
              </a:rPr>
              <a:t>2004</a:t>
            </a:r>
            <a:r>
              <a:rPr lang="zh-CN" altLang="en-US" sz="2000" dirty="0">
                <a:latin typeface="Microsoft YaHei" panose="020B0503020204020204" pitchFamily="34" charset="-122"/>
                <a:ea typeface="Microsoft YaHei" panose="020B0503020204020204" pitchFamily="34" charset="-122"/>
              </a:rPr>
              <a:t>年約翰</a:t>
            </a:r>
            <a:r>
              <a:rPr lang="en-US" altLang="zh-CN" sz="2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馮諾依曼獎得主 ，</a:t>
            </a:r>
            <a:r>
              <a:rPr lang="en-US" altLang="zh-CN" sz="2000" dirty="0">
                <a:solidFill>
                  <a:srgbClr val="C00000"/>
                </a:solidFill>
                <a:latin typeface="Microsoft YaHei" panose="020B0503020204020204" pitchFamily="34" charset="-122"/>
                <a:ea typeface="Microsoft YaHei" panose="020B0503020204020204" pitchFamily="34" charset="-122"/>
              </a:rPr>
              <a:t>2008</a:t>
            </a:r>
            <a:r>
              <a:rPr lang="zh-CN" altLang="en-US" sz="2000" dirty="0">
                <a:solidFill>
                  <a:srgbClr val="C00000"/>
                </a:solidFill>
                <a:latin typeface="Microsoft YaHei" panose="020B0503020204020204" pitchFamily="34" charset="-122"/>
                <a:ea typeface="Microsoft YaHei" panose="020B0503020204020204" pitchFamily="34" charset="-122"/>
              </a:rPr>
              <a:t>年圖靈獎得主</a:t>
            </a:r>
            <a:endParaRPr lang="en-US" altLang="zh-CN" sz="2000" dirty="0">
              <a:solidFill>
                <a:srgbClr val="C00000"/>
              </a:solidFill>
              <a:latin typeface="Microsoft YaHei" panose="020B0503020204020204" pitchFamily="34" charset="-122"/>
              <a:ea typeface="Microsoft YaHei" panose="020B0503020204020204" pitchFamily="34" charset="-122"/>
            </a:endParaRPr>
          </a:p>
          <a:p>
            <a:pPr>
              <a:lnSpc>
                <a:spcPct val="130000"/>
              </a:lnSpc>
            </a:pPr>
            <a:r>
              <a:rPr lang="zh-CN" altLang="en-US" sz="2000" dirty="0">
                <a:latin typeface="Microsoft YaHei" panose="020B0503020204020204" pitchFamily="34" charset="-122"/>
                <a:ea typeface="Microsoft YaHei" panose="020B0503020204020204" pitchFamily="34" charset="-122"/>
              </a:rPr>
              <a:t>美國第一位計算機科學女博士，歷史上第二位獲得圖靈獎的女性</a:t>
            </a:r>
          </a:p>
        </p:txBody>
      </p:sp>
      <p:cxnSp>
        <p:nvCxnSpPr>
          <p:cNvPr id="27" name="直接连接符 11">
            <a:extLst>
              <a:ext uri="{FF2B5EF4-FFF2-40B4-BE49-F238E27FC236}">
                <a16:creationId xmlns:a16="http://schemas.microsoft.com/office/drawing/2014/main" id="{1DD35E2C-FFE5-F54A-8F3E-F151F9108F3E}"/>
              </a:ext>
            </a:extLst>
          </p:cNvPr>
          <p:cNvCxnSpPr>
            <a:cxnSpLocks/>
          </p:cNvCxnSpPr>
          <p:nvPr/>
        </p:nvCxnSpPr>
        <p:spPr bwMode="auto">
          <a:xfrm>
            <a:off x="2738563" y="1319992"/>
            <a:ext cx="8928000" cy="0"/>
          </a:xfrm>
          <a:prstGeom prst="line">
            <a:avLst/>
          </a:prstGeom>
          <a:noFill/>
          <a:ln w="28575" cap="flat" cmpd="sng" algn="ctr">
            <a:gradFill flip="none" rotWithShape="1">
              <a:gsLst>
                <a:gs pos="0">
                  <a:srgbClr val="0046F0"/>
                </a:gs>
                <a:gs pos="100000">
                  <a:srgbClr val="0046F0">
                    <a:lumMod val="60000"/>
                    <a:lumOff val="40000"/>
                  </a:srgbClr>
                </a:gs>
              </a:gsLst>
              <a:lin ang="0" scaled="1"/>
              <a:tileRect/>
            </a:gradFill>
            <a:prstDash val="solid"/>
          </a:ln>
          <a:effectLst/>
        </p:spPr>
      </p:cxnSp>
      <p:cxnSp>
        <p:nvCxnSpPr>
          <p:cNvPr id="28" name="直接连接符 11">
            <a:extLst>
              <a:ext uri="{FF2B5EF4-FFF2-40B4-BE49-F238E27FC236}">
                <a16:creationId xmlns:a16="http://schemas.microsoft.com/office/drawing/2014/main" id="{B1F8E937-B2A8-104F-AF80-A23EF665B1D5}"/>
              </a:ext>
            </a:extLst>
          </p:cNvPr>
          <p:cNvCxnSpPr>
            <a:cxnSpLocks/>
          </p:cNvCxnSpPr>
          <p:nvPr/>
        </p:nvCxnSpPr>
        <p:spPr bwMode="auto">
          <a:xfrm>
            <a:off x="2738563" y="3039368"/>
            <a:ext cx="8928000" cy="0"/>
          </a:xfrm>
          <a:prstGeom prst="line">
            <a:avLst/>
          </a:prstGeom>
          <a:noFill/>
          <a:ln w="28575" cap="flat" cmpd="sng" algn="ctr">
            <a:gradFill flip="none" rotWithShape="1">
              <a:gsLst>
                <a:gs pos="0">
                  <a:srgbClr val="0046F0"/>
                </a:gs>
                <a:gs pos="100000">
                  <a:srgbClr val="0046F0">
                    <a:lumMod val="60000"/>
                    <a:lumOff val="40000"/>
                  </a:srgbClr>
                </a:gs>
              </a:gsLst>
              <a:lin ang="0" scaled="1"/>
              <a:tileRect/>
            </a:gradFill>
            <a:prstDash val="solid"/>
          </a:ln>
          <a:effectLst/>
        </p:spPr>
      </p:cxnSp>
      <p:pic>
        <p:nvPicPr>
          <p:cNvPr id="35" name="图片 34">
            <a:extLst>
              <a:ext uri="{FF2B5EF4-FFF2-40B4-BE49-F238E27FC236}">
                <a16:creationId xmlns:a16="http://schemas.microsoft.com/office/drawing/2014/main" id="{5047CBED-114B-744A-A8E3-15BF7EA8E12B}"/>
              </a:ext>
            </a:extLst>
          </p:cNvPr>
          <p:cNvPicPr>
            <a:picLocks noChangeAspect="1"/>
          </p:cNvPicPr>
          <p:nvPr/>
        </p:nvPicPr>
        <p:blipFill>
          <a:blip r:embed="rId3"/>
          <a:stretch>
            <a:fillRect/>
          </a:stretch>
        </p:blipFill>
        <p:spPr>
          <a:xfrm>
            <a:off x="517838" y="1133024"/>
            <a:ext cx="2220725" cy="2034689"/>
          </a:xfrm>
          <a:prstGeom prst="ellipse">
            <a:avLst/>
          </a:prstGeom>
          <a:ln>
            <a:noFill/>
          </a:ln>
          <a:effectLst>
            <a:softEdge rad="112500"/>
          </a:effectLst>
        </p:spPr>
      </p:pic>
      <p:sp>
        <p:nvSpPr>
          <p:cNvPr id="8" name="灯片编号占位符 2">
            <a:extLst>
              <a:ext uri="{FF2B5EF4-FFF2-40B4-BE49-F238E27FC236}">
                <a16:creationId xmlns:a16="http://schemas.microsoft.com/office/drawing/2014/main" id="{91A6DEFB-E2BC-FD4D-A07B-A9EA37C2CE0F}"/>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124</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89982075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kumimoji="1" lang="en-US" altLang="zh-CN" dirty="0"/>
              <a:t>PBFT</a:t>
            </a:r>
            <a:r>
              <a:rPr kumimoji="1" lang="zh-CN" altLang="en-US" dirty="0"/>
              <a:t>的主要思想</a:t>
            </a:r>
            <a:endParaRPr kumimoji="1" lang="zh-CN" altLang="en-US" sz="4000" dirty="0"/>
          </a:p>
        </p:txBody>
      </p:sp>
      <p:sp>
        <p:nvSpPr>
          <p:cNvPr id="9" name="矩形 8">
            <a:extLst>
              <a:ext uri="{FF2B5EF4-FFF2-40B4-BE49-F238E27FC236}">
                <a16:creationId xmlns:a16="http://schemas.microsoft.com/office/drawing/2014/main" id="{3D5660C6-AB0B-274B-8B7F-22A56D9E11C8}"/>
              </a:ext>
            </a:extLst>
          </p:cNvPr>
          <p:cNvSpPr/>
          <p:nvPr/>
        </p:nvSpPr>
        <p:spPr>
          <a:xfrm>
            <a:off x="991696" y="1225474"/>
            <a:ext cx="10457353" cy="1435136"/>
          </a:xfrm>
          <a:prstGeom prst="rect">
            <a:avLst/>
          </a:prstGeom>
        </p:spPr>
        <p:txBody>
          <a:bodyPr wrap="square">
            <a:spAutoFit/>
          </a:bodyPr>
          <a:lstStyle/>
          <a:p>
            <a:pPr marL="0" lvl="1" algn="just" fontAlgn="base">
              <a:lnSpc>
                <a:spcPts val="3600"/>
              </a:lnSpc>
              <a:spcBef>
                <a:spcPct val="20000"/>
              </a:spcBef>
              <a:spcAft>
                <a:spcPct val="0"/>
              </a:spcAft>
              <a:buSzPct val="60000"/>
            </a:pPr>
            <a:r>
              <a:rPr lang="en-US" altLang="zh-CN" sz="2400" b="1" dirty="0">
                <a:solidFill>
                  <a:srgbClr val="C00000"/>
                </a:solidFill>
                <a:latin typeface="Microsoft YaHei" panose="020B0503020204020204" pitchFamily="34" charset="-122"/>
                <a:ea typeface="Microsoft YaHei" panose="020B0503020204020204" pitchFamily="34" charset="-122"/>
              </a:rPr>
              <a:t>PBFT</a:t>
            </a:r>
            <a:r>
              <a:rPr lang="zh-CN" altLang="en-US" sz="2400" b="1" dirty="0">
                <a:solidFill>
                  <a:srgbClr val="C00000"/>
                </a:solidFill>
                <a:latin typeface="Microsoft YaHei" panose="020B0503020204020204" pitchFamily="34" charset="-122"/>
                <a:ea typeface="Microsoft YaHei" panose="020B0503020204020204" pitchFamily="34" charset="-122"/>
              </a:rPr>
              <a:t>基于</a:t>
            </a:r>
            <a:r>
              <a:rPr lang="en-US" altLang="zh-CN" sz="2400" b="1" dirty="0">
                <a:solidFill>
                  <a:srgbClr val="C00000"/>
                </a:solidFill>
                <a:latin typeface="Microsoft YaHei" panose="020B0503020204020204" pitchFamily="34" charset="-122"/>
                <a:ea typeface="Microsoft YaHei" panose="020B0503020204020204" pitchFamily="34" charset="-122"/>
              </a:rPr>
              <a:t>Leader</a:t>
            </a:r>
            <a:r>
              <a:rPr lang="zh-CN" altLang="en-US" sz="2400" b="1" dirty="0">
                <a:solidFill>
                  <a:srgbClr val="C00000"/>
                </a:solidFill>
                <a:latin typeface="Microsoft YaHei" panose="020B0503020204020204" pitchFamily="34" charset="-122"/>
                <a:ea typeface="Microsoft YaHei" panose="020B0503020204020204" pitchFamily="34" charset="-122"/>
              </a:rPr>
              <a:t>完成共識過程，幷基于</a:t>
            </a:r>
            <a:r>
              <a:rPr lang="en-US" altLang="zh-CN" sz="2400" b="1" dirty="0">
                <a:solidFill>
                  <a:srgbClr val="C00000"/>
                </a:solidFill>
                <a:latin typeface="Microsoft YaHei" panose="020B0503020204020204" pitchFamily="34" charset="-122"/>
                <a:ea typeface="Microsoft YaHei" panose="020B0503020204020204" pitchFamily="34" charset="-122"/>
              </a:rPr>
              <a:t>Quorum</a:t>
            </a:r>
            <a:r>
              <a:rPr lang="zh-CN" altLang="en-US" sz="2400" b="1" dirty="0">
                <a:solidFill>
                  <a:srgbClr val="C00000"/>
                </a:solidFill>
                <a:latin typeface="Microsoft YaHei" panose="020B0503020204020204" pitchFamily="34" charset="-122"/>
                <a:ea typeface="Microsoft YaHei" panose="020B0503020204020204" pitchFamily="34" charset="-122"/>
              </a:rPr>
              <a:t>機制確保安全性和活性；</a:t>
            </a:r>
            <a:r>
              <a:rPr lang="en-US" altLang="zh-CN" sz="2400" b="1" dirty="0">
                <a:solidFill>
                  <a:srgbClr val="C00000"/>
                </a:solidFill>
                <a:latin typeface="Microsoft YaHei" panose="020B0503020204020204" pitchFamily="34" charset="-122"/>
                <a:ea typeface="Microsoft YaHei" panose="020B0503020204020204" pitchFamily="34" charset="-122"/>
              </a:rPr>
              <a:t>PBFT</a:t>
            </a:r>
            <a:r>
              <a:rPr lang="zh-CN" altLang="en-US" sz="2400" b="1" dirty="0">
                <a:solidFill>
                  <a:srgbClr val="C00000"/>
                </a:solidFill>
                <a:latin typeface="Microsoft YaHei" panose="020B0503020204020204" pitchFamily="34" charset="-122"/>
                <a:ea typeface="Microsoft YaHei" panose="020B0503020204020204" pitchFamily="34" charset="-122"/>
              </a:rPr>
              <a:t>采用部分同步假設，</a:t>
            </a:r>
            <a:r>
              <a:rPr lang="zh-CN" altLang="en-US" sz="24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假設故障節點個數不超過</a:t>
            </a:r>
            <a:r>
              <a:rPr lang="en-US" altLang="zh-CN" sz="24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m</a:t>
            </a:r>
            <a:r>
              <a:rPr lang="zh-CN" altLang="en-US" sz="24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個，總節點</a:t>
            </a:r>
            <a:r>
              <a:rPr lang="en-US" altLang="zh-CN" sz="24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3m+1</a:t>
            </a:r>
            <a:r>
              <a:rPr lang="zh-CN" altLang="en-US" sz="2400" b="1"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個， </a:t>
            </a:r>
            <a:r>
              <a:rPr lang="en-US" altLang="zh-CN" sz="2400" b="1" dirty="0">
                <a:solidFill>
                  <a:srgbClr val="C00000"/>
                </a:solidFill>
                <a:latin typeface="Microsoft YaHei" panose="020B0503020204020204" pitchFamily="34" charset="-122"/>
                <a:ea typeface="Microsoft YaHei" panose="020B0503020204020204" pitchFamily="34" charset="-122"/>
              </a:rPr>
              <a:t>Quorum</a:t>
            </a:r>
            <a:r>
              <a:rPr lang="zh-CN" altLang="en-US" sz="2400" b="1" dirty="0">
                <a:solidFill>
                  <a:srgbClr val="C00000"/>
                </a:solidFill>
                <a:latin typeface="Microsoft YaHei" panose="020B0503020204020204" pitchFamily="34" charset="-122"/>
                <a:ea typeface="Microsoft YaHei" panose="020B0503020204020204" pitchFamily="34" charset="-122"/>
              </a:rPr>
              <a:t>設計</a:t>
            </a:r>
            <a:r>
              <a:rPr lang="en-US" altLang="zh-CN" sz="2400" b="1" dirty="0">
                <a:solidFill>
                  <a:srgbClr val="C00000"/>
                </a:solidFill>
                <a:latin typeface="Microsoft YaHei" panose="020B0503020204020204" pitchFamily="34" charset="-122"/>
                <a:ea typeface="Microsoft YaHei" panose="020B0503020204020204" pitchFamily="34" charset="-122"/>
              </a:rPr>
              <a:t>q=2m+1</a:t>
            </a:r>
            <a:endParaRPr lang="zh-CN" altLang="en-US" sz="2400" b="1" dirty="0">
              <a:solidFill>
                <a:srgbClr val="C00000"/>
              </a:solidFill>
              <a:latin typeface="Microsoft YaHei" panose="020B0503020204020204" pitchFamily="34" charset="-122"/>
              <a:ea typeface="Microsoft YaHei" panose="020B0503020204020204" pitchFamily="34" charset="-122"/>
            </a:endParaRPr>
          </a:p>
        </p:txBody>
      </p:sp>
      <p:sp>
        <p:nvSpPr>
          <p:cNvPr id="11" name="内容占位符 2">
            <a:extLst>
              <a:ext uri="{FF2B5EF4-FFF2-40B4-BE49-F238E27FC236}">
                <a16:creationId xmlns:a16="http://schemas.microsoft.com/office/drawing/2014/main" id="{35417271-492C-8140-A39C-9D8D8AABAF82}"/>
              </a:ext>
            </a:extLst>
          </p:cNvPr>
          <p:cNvSpPr txBox="1">
            <a:spLocks/>
          </p:cNvSpPr>
          <p:nvPr/>
        </p:nvSpPr>
        <p:spPr>
          <a:xfrm>
            <a:off x="937986" y="3036897"/>
            <a:ext cx="10623529" cy="3363903"/>
          </a:xfrm>
          <a:prstGeom prst="rect">
            <a:avLst/>
          </a:prstGeom>
          <a:ln>
            <a:solidFill>
              <a:srgbClr val="00B0F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ts val="3600"/>
              </a:lnSpc>
            </a:pPr>
            <a:r>
              <a:rPr lang="en-US" altLang="zh-CN" sz="2400" dirty="0">
                <a:latin typeface="Microsoft YaHei" panose="020B0503020204020204" pitchFamily="34" charset="-122"/>
                <a:ea typeface="Microsoft YaHei" panose="020B0503020204020204" pitchFamily="34" charset="-122"/>
              </a:rPr>
              <a:t>PBFT</a:t>
            </a:r>
            <a:r>
              <a:rPr lang="zh-CN" altLang="en-US" sz="2400" dirty="0">
                <a:latin typeface="Microsoft YaHei" panose="020B0503020204020204" pitchFamily="34" charset="-122"/>
                <a:ea typeface="Microsoft YaHei" panose="020B0503020204020204" pitchFamily="34" charset="-122"/>
              </a:rPr>
              <a:t>在</a:t>
            </a:r>
            <a:r>
              <a:rPr lang="en-US" altLang="zh-CN" sz="2400" dirty="0" err="1">
                <a:latin typeface="Microsoft YaHei" panose="020B0503020204020204" pitchFamily="34" charset="-122"/>
                <a:ea typeface="Microsoft YaHei" panose="020B0503020204020204" pitchFamily="34" charset="-122"/>
              </a:rPr>
              <a:t>Paxos</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Raft</a:t>
            </a:r>
            <a:r>
              <a:rPr lang="zh-CN" altLang="en-US" sz="2400" dirty="0">
                <a:latin typeface="Microsoft YaHei" panose="020B0503020204020204" pitchFamily="34" charset="-122"/>
                <a:ea typeface="Microsoft YaHei" panose="020B0503020204020204" pitchFamily="34" charset="-122"/>
              </a:rPr>
              <a:t>等故障容錯算法的二階段共識的基礎上增加了一個階段</a:t>
            </a:r>
            <a:endParaRPr lang="en-US" altLang="zh-CN" sz="2400" dirty="0">
              <a:latin typeface="Microsoft YaHei" panose="020B0503020204020204" pitchFamily="34" charset="-122"/>
              <a:ea typeface="Microsoft YaHei" panose="020B0503020204020204" pitchFamily="34" charset="-122"/>
            </a:endParaRPr>
          </a:p>
          <a:p>
            <a:pPr algn="just">
              <a:lnSpc>
                <a:spcPts val="3600"/>
              </a:lnSpc>
            </a:pPr>
            <a:r>
              <a:rPr lang="zh-CN" altLang="en-US" sz="2400" dirty="0">
                <a:latin typeface="Microsoft YaHei" panose="020B0503020204020204" pitchFamily="34" charset="-122"/>
                <a:ea typeface="Microsoft YaHei" panose="020B0503020204020204" pitchFamily="34" charset="-122"/>
              </a:rPr>
              <a:t>二階段共識後的交易處于準備完成狀態，此時，節點廣播信息告訴其它所有節點自己已完成準備</a:t>
            </a:r>
            <a:endParaRPr lang="en-US" altLang="zh-CN" sz="2400" dirty="0">
              <a:latin typeface="Microsoft YaHei" panose="020B0503020204020204" pitchFamily="34" charset="-122"/>
              <a:ea typeface="Microsoft YaHei" panose="020B0503020204020204" pitchFamily="34" charset="-122"/>
            </a:endParaRPr>
          </a:p>
          <a:p>
            <a:pPr algn="just">
              <a:lnSpc>
                <a:spcPts val="3600"/>
              </a:lnSpc>
            </a:pPr>
            <a:r>
              <a:rPr lang="zh-CN" altLang="en-US" sz="2400" dirty="0">
                <a:latin typeface="Microsoft YaHei" panose="020B0503020204020204" pitchFamily="34" charset="-122"/>
                <a:ea typeface="Microsoft YaHei" panose="020B0503020204020204" pitchFamily="34" charset="-122"/>
              </a:rPr>
              <a:t>當節點收到</a:t>
            </a:r>
            <a:r>
              <a:rPr lang="en-US" altLang="zh-CN" sz="2400" dirty="0">
                <a:latin typeface="Microsoft YaHei" panose="020B0503020204020204" pitchFamily="34" charset="-122"/>
                <a:ea typeface="Microsoft YaHei" panose="020B0503020204020204" pitchFamily="34" charset="-122"/>
              </a:rPr>
              <a:t>q</a:t>
            </a:r>
            <a:r>
              <a:rPr lang="zh-CN" altLang="en-US" sz="2400" dirty="0">
                <a:latin typeface="Microsoft YaHei" panose="020B0503020204020204" pitchFamily="34" charset="-122"/>
                <a:ea typeface="Microsoft YaHei" panose="020B0503020204020204" pitchFamily="34" charset="-122"/>
              </a:rPr>
              <a:t>個準備完成的投票時提交幷執行該交易</a:t>
            </a:r>
            <a:endParaRPr lang="en-US" altLang="zh-CN" sz="2400" dirty="0">
              <a:latin typeface="Microsoft YaHei" panose="020B0503020204020204" pitchFamily="34" charset="-122"/>
              <a:ea typeface="Microsoft YaHei" panose="020B0503020204020204" pitchFamily="34" charset="-122"/>
            </a:endParaRPr>
          </a:p>
          <a:p>
            <a:pPr algn="just">
              <a:lnSpc>
                <a:spcPts val="3600"/>
              </a:lnSpc>
            </a:pPr>
            <a:r>
              <a:rPr lang="zh-CN" altLang="en-US" sz="2400" dirty="0">
                <a:latin typeface="Microsoft YaHei" panose="020B0503020204020204" pitchFamily="34" charset="-122"/>
                <a:ea typeface="Microsoft YaHei" panose="020B0503020204020204" pitchFamily="34" charset="-122"/>
              </a:rPr>
              <a:t>所有節點都對</a:t>
            </a:r>
            <a:r>
              <a:rPr lang="en-US" altLang="zh-CN" sz="2400" dirty="0">
                <a:latin typeface="Microsoft YaHei" panose="020B0503020204020204" pitchFamily="34" charset="-122"/>
                <a:ea typeface="Microsoft YaHei" panose="020B0503020204020204" pitchFamily="34" charset="-122"/>
              </a:rPr>
              <a:t>Leader</a:t>
            </a:r>
            <a:r>
              <a:rPr lang="zh-CN" altLang="en-US" sz="2400" dirty="0">
                <a:latin typeface="Microsoft YaHei" panose="020B0503020204020204" pitchFamily="34" charset="-122"/>
                <a:ea typeface="Microsoft YaHei" panose="020B0503020204020204" pitchFamily="34" charset="-122"/>
              </a:rPr>
              <a:t>節點進行監測，若長時間未收到</a:t>
            </a:r>
            <a:r>
              <a:rPr lang="en-US" altLang="zh-CN" sz="2400" dirty="0">
                <a:latin typeface="Microsoft YaHei" panose="020B0503020204020204" pitchFamily="34" charset="-122"/>
                <a:ea typeface="Microsoft YaHei" panose="020B0503020204020204" pitchFamily="34" charset="-122"/>
              </a:rPr>
              <a:t>Leader</a:t>
            </a:r>
            <a:r>
              <a:rPr lang="zh-CN" altLang="en-US" sz="2400" dirty="0">
                <a:latin typeface="Microsoft YaHei" panose="020B0503020204020204" pitchFamily="34" charset="-122"/>
                <a:ea typeface="Microsoft YaHei" panose="020B0503020204020204" pitchFamily="34" charset="-122"/>
              </a:rPr>
              <a:t>發送的消息，則觸發視圖變更協議，更換</a:t>
            </a:r>
            <a:r>
              <a:rPr lang="en-US" altLang="zh-CN" sz="2400" dirty="0">
                <a:latin typeface="Microsoft YaHei" panose="020B0503020204020204" pitchFamily="34" charset="-122"/>
                <a:ea typeface="Microsoft YaHei" panose="020B0503020204020204" pitchFamily="34" charset="-122"/>
              </a:rPr>
              <a:t>Leader</a:t>
            </a:r>
            <a:r>
              <a:rPr lang="zh-CN" altLang="en-US" sz="2400" dirty="0">
                <a:latin typeface="Microsoft YaHei" panose="020B0503020204020204" pitchFamily="34" charset="-122"/>
                <a:ea typeface="Microsoft YaHei" panose="020B0503020204020204" pitchFamily="34" charset="-122"/>
              </a:rPr>
              <a:t>節點</a:t>
            </a:r>
            <a:endParaRPr lang="en-US" altLang="zh-CN" sz="2400" dirty="0">
              <a:latin typeface="Microsoft YaHei" panose="020B0503020204020204" pitchFamily="34" charset="-122"/>
              <a:ea typeface="Microsoft YaHei" panose="020B0503020204020204" pitchFamily="34" charset="-122"/>
            </a:endParaRPr>
          </a:p>
        </p:txBody>
      </p:sp>
      <p:sp>
        <p:nvSpPr>
          <p:cNvPr id="10" name="灯片编号占位符 2">
            <a:extLst>
              <a:ext uri="{FF2B5EF4-FFF2-40B4-BE49-F238E27FC236}">
                <a16:creationId xmlns:a16="http://schemas.microsoft.com/office/drawing/2014/main" id="{151A0521-909E-3F4D-948E-A8391FA7E716}"/>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125</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157002843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kumimoji="1" lang="en-US" altLang="zh-CN" sz="4000" dirty="0"/>
              <a:t>4</a:t>
            </a:r>
            <a:r>
              <a:rPr kumimoji="1" lang="zh-CN" altLang="en-US" sz="4000" dirty="0"/>
              <a:t>節點實例分析</a:t>
            </a:r>
          </a:p>
        </p:txBody>
      </p:sp>
      <p:sp>
        <p:nvSpPr>
          <p:cNvPr id="24" name="内容占位符 2">
            <a:extLst>
              <a:ext uri="{FF2B5EF4-FFF2-40B4-BE49-F238E27FC236}">
                <a16:creationId xmlns:a16="http://schemas.microsoft.com/office/drawing/2014/main" id="{30FE7CEF-3053-C842-BBE6-4F5C5AD8C2F5}"/>
              </a:ext>
            </a:extLst>
          </p:cNvPr>
          <p:cNvSpPr txBox="1">
            <a:spLocks/>
          </p:cNvSpPr>
          <p:nvPr/>
        </p:nvSpPr>
        <p:spPr>
          <a:xfrm>
            <a:off x="800001" y="1196753"/>
            <a:ext cx="11005556" cy="2232247"/>
          </a:xfrm>
          <a:prstGeom prst="rect">
            <a:avLst/>
          </a:prstGeom>
          <a:ln>
            <a:solidFill>
              <a:srgbClr val="00B0F0"/>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4000"/>
              </a:lnSpc>
              <a:spcBef>
                <a:spcPts val="0"/>
              </a:spcBef>
            </a:pPr>
            <a:r>
              <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rPr>
              <a:t>Leader</a:t>
            </a: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節點收到客戶端請求後，爲其分配序號，然後發送給其它節點</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a:lnSpc>
                <a:spcPts val="4000"/>
              </a:lnSpc>
              <a:spcBef>
                <a:spcPts val="0"/>
              </a:spcBef>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其它節點收到預準備信息後，廣播一個準備信息</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a:lnSpc>
                <a:spcPts val="4000"/>
              </a:lnSpc>
              <a:spcBef>
                <a:spcPts val="0"/>
              </a:spcBef>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當節點收到</a:t>
            </a:r>
            <a:r>
              <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rPr>
              <a:t>3</a:t>
            </a: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個準備信息，則完成準備，然後廣播提交信息</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a:lnSpc>
                <a:spcPts val="4000"/>
              </a:lnSpc>
              <a:spcBef>
                <a:spcPts val="0"/>
              </a:spcBef>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當收到</a:t>
            </a:r>
            <a:r>
              <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rPr>
              <a:t>3</a:t>
            </a: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個提交信息後，則執行相應的請求指令，幷回復客戶端</a:t>
            </a: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a:lnSpc>
                <a:spcPts val="3600"/>
              </a:lnSpc>
            </a:pP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a:p>
            <a:pPr>
              <a:lnSpc>
                <a:spcPts val="3600"/>
              </a:lnSpc>
            </a:pPr>
            <a:endParaRPr lang="en-US" altLang="zh-CN" sz="2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4" name="图片 3">
            <a:extLst>
              <a:ext uri="{FF2B5EF4-FFF2-40B4-BE49-F238E27FC236}">
                <a16:creationId xmlns:a16="http://schemas.microsoft.com/office/drawing/2014/main" id="{31564DD6-3BAE-D145-9022-8209E428E0F8}"/>
              </a:ext>
            </a:extLst>
          </p:cNvPr>
          <p:cNvPicPr>
            <a:picLocks noChangeAspect="1"/>
          </p:cNvPicPr>
          <p:nvPr/>
        </p:nvPicPr>
        <p:blipFill>
          <a:blip r:embed="rId3"/>
          <a:stretch>
            <a:fillRect/>
          </a:stretch>
        </p:blipFill>
        <p:spPr>
          <a:xfrm>
            <a:off x="1492788" y="3609975"/>
            <a:ext cx="9499600" cy="3111500"/>
          </a:xfrm>
          <a:prstGeom prst="rect">
            <a:avLst/>
          </a:prstGeom>
        </p:spPr>
      </p:pic>
      <p:sp>
        <p:nvSpPr>
          <p:cNvPr id="5" name="灯片编号占位符 2">
            <a:extLst>
              <a:ext uri="{FF2B5EF4-FFF2-40B4-BE49-F238E27FC236}">
                <a16:creationId xmlns:a16="http://schemas.microsoft.com/office/drawing/2014/main" id="{E574A730-E019-9144-94FB-0C07AB389613}"/>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126</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55336159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kumimoji="1" lang="en-US" altLang="zh-CN" dirty="0" err="1"/>
              <a:t>Hotstuff</a:t>
            </a:r>
            <a:endParaRPr kumimoji="1" lang="zh-CN" altLang="en-US" sz="4000" dirty="0"/>
          </a:p>
        </p:txBody>
      </p:sp>
      <p:pic>
        <p:nvPicPr>
          <p:cNvPr id="6" name="图片 5">
            <a:extLst>
              <a:ext uri="{FF2B5EF4-FFF2-40B4-BE49-F238E27FC236}">
                <a16:creationId xmlns:a16="http://schemas.microsoft.com/office/drawing/2014/main" id="{1E276547-1FF7-174D-9332-08ABE81AB104}"/>
              </a:ext>
            </a:extLst>
          </p:cNvPr>
          <p:cNvPicPr>
            <a:picLocks noChangeAspect="1"/>
          </p:cNvPicPr>
          <p:nvPr/>
        </p:nvPicPr>
        <p:blipFill rotWithShape="1">
          <a:blip r:embed="rId3">
            <a:extLst>
              <a:ext uri="{28A0092B-C50C-407E-A947-70E740481C1C}">
                <a14:useLocalDpi xmlns:a14="http://schemas.microsoft.com/office/drawing/2010/main" val="0"/>
              </a:ext>
            </a:extLst>
          </a:blip>
          <a:srcRect l="13365" r="8256"/>
          <a:stretch/>
        </p:blipFill>
        <p:spPr>
          <a:xfrm>
            <a:off x="7142922" y="3456733"/>
            <a:ext cx="4462670" cy="2924677"/>
          </a:xfrm>
          <a:prstGeom prst="rect">
            <a:avLst/>
          </a:prstGeom>
        </p:spPr>
      </p:pic>
      <p:sp>
        <p:nvSpPr>
          <p:cNvPr id="7" name="矩形 6">
            <a:extLst>
              <a:ext uri="{FF2B5EF4-FFF2-40B4-BE49-F238E27FC236}">
                <a16:creationId xmlns:a16="http://schemas.microsoft.com/office/drawing/2014/main" id="{8F1FC69F-E748-694E-B883-2436681F7C3E}"/>
              </a:ext>
            </a:extLst>
          </p:cNvPr>
          <p:cNvSpPr/>
          <p:nvPr/>
        </p:nvSpPr>
        <p:spPr>
          <a:xfrm>
            <a:off x="901147" y="1052736"/>
            <a:ext cx="10919791" cy="2131224"/>
          </a:xfrm>
          <a:prstGeom prst="rect">
            <a:avLst/>
          </a:prstGeom>
          <a:ln>
            <a:noFill/>
          </a:ln>
        </p:spPr>
        <p:txBody>
          <a:bodyPr wrap="square">
            <a:spAutoFit/>
          </a:bodyPr>
          <a:lstStyle/>
          <a:p>
            <a:pPr lvl="0" fontAlgn="base">
              <a:lnSpc>
                <a:spcPct val="150000"/>
              </a:lnSpc>
              <a:spcBef>
                <a:spcPct val="20000"/>
              </a:spcBef>
              <a:spcAft>
                <a:spcPct val="0"/>
              </a:spcAft>
            </a:pPr>
            <a:r>
              <a:rPr lang="en-US" altLang="zh-CN" sz="2800" dirty="0" err="1">
                <a:solidFill>
                  <a:srgbClr val="404040"/>
                </a:solidFill>
                <a:latin typeface="Microsoft YaHei" panose="020B0503020204020204" pitchFamily="34" charset="-122"/>
                <a:ea typeface="Microsoft YaHei" panose="020B0503020204020204" pitchFamily="34" charset="-122"/>
              </a:rPr>
              <a:t>HotStuff</a:t>
            </a:r>
            <a:r>
              <a:rPr lang="en-US" altLang="zh-CN" sz="2800" dirty="0">
                <a:solidFill>
                  <a:srgbClr val="404040"/>
                </a:solidFill>
                <a:latin typeface="Microsoft YaHei" panose="020B0503020204020204" pitchFamily="34" charset="-122"/>
                <a:ea typeface="Microsoft YaHei" panose="020B0503020204020204" pitchFamily="34" charset="-122"/>
              </a:rPr>
              <a:t>: BFT Consensus with Linearity and Responsiveness</a:t>
            </a:r>
          </a:p>
          <a:p>
            <a:pPr lvl="0" algn="r" fontAlgn="base">
              <a:lnSpc>
                <a:spcPct val="150000"/>
              </a:lnSpc>
              <a:spcBef>
                <a:spcPct val="20000"/>
              </a:spcBef>
              <a:spcAft>
                <a:spcPct val="0"/>
              </a:spcAft>
            </a:pPr>
            <a:r>
              <a:rPr lang="en-US" altLang="zh-CN" sz="2800" dirty="0">
                <a:solidFill>
                  <a:srgbClr val="404040"/>
                </a:solidFill>
                <a:latin typeface="Microsoft YaHei" panose="020B0503020204020204" pitchFamily="34" charset="-122"/>
                <a:ea typeface="Microsoft YaHei" panose="020B0503020204020204" pitchFamily="34" charset="-122"/>
              </a:rPr>
              <a:t>——PODC</a:t>
            </a:r>
            <a:r>
              <a:rPr lang="zh-CN" altLang="en-US" sz="2800" dirty="0">
                <a:solidFill>
                  <a:srgbClr val="404040"/>
                </a:solidFill>
                <a:latin typeface="Microsoft YaHei" panose="020B0503020204020204" pitchFamily="34" charset="-122"/>
                <a:ea typeface="Microsoft YaHei" panose="020B0503020204020204" pitchFamily="34" charset="-122"/>
              </a:rPr>
              <a:t> </a:t>
            </a:r>
            <a:r>
              <a:rPr lang="en-US" altLang="zh-CN" sz="2800" dirty="0">
                <a:solidFill>
                  <a:srgbClr val="404040"/>
                </a:solidFill>
                <a:latin typeface="Microsoft YaHei" panose="020B0503020204020204" pitchFamily="34" charset="-122"/>
                <a:ea typeface="Microsoft YaHei" panose="020B0503020204020204" pitchFamily="34" charset="-122"/>
              </a:rPr>
              <a:t>2019</a:t>
            </a:r>
          </a:p>
          <a:p>
            <a:pPr marL="457200" indent="-457200" fontAlgn="base">
              <a:lnSpc>
                <a:spcPct val="150000"/>
              </a:lnSpc>
              <a:spcBef>
                <a:spcPct val="20000"/>
              </a:spcBef>
              <a:spcAft>
                <a:spcPct val="0"/>
              </a:spcAft>
              <a:buFont typeface="Arial" panose="020B0604020202020204" pitchFamily="34" charset="0"/>
              <a:buChar char="•"/>
            </a:pPr>
            <a:r>
              <a:rPr lang="zh-CN" altLang="en-US" sz="2800" b="1" dirty="0">
                <a:solidFill>
                  <a:srgbClr val="404040"/>
                </a:solidFill>
                <a:latin typeface="Comic Sans MS" panose="030F0702030302020204" pitchFamily="66" charset="0"/>
                <a:ea typeface="微软雅黑" pitchFamily="34" charset="-122"/>
              </a:rPr>
              <a:t>目標：實現具備綫性複雜度的拜占庭共識</a:t>
            </a:r>
            <a:endParaRPr lang="en-US" altLang="zh-CN" sz="2800" b="1" dirty="0">
              <a:solidFill>
                <a:srgbClr val="404040"/>
              </a:solidFill>
              <a:latin typeface="Comic Sans MS" panose="030F0702030302020204" pitchFamily="66" charset="0"/>
              <a:ea typeface="微软雅黑" pitchFamily="34" charset="-122"/>
            </a:endParaRPr>
          </a:p>
        </p:txBody>
      </p:sp>
      <p:sp>
        <p:nvSpPr>
          <p:cNvPr id="9" name="矩形 8">
            <a:extLst>
              <a:ext uri="{FF2B5EF4-FFF2-40B4-BE49-F238E27FC236}">
                <a16:creationId xmlns:a16="http://schemas.microsoft.com/office/drawing/2014/main" id="{64CF86E5-96A3-E444-9156-5E031118E497}"/>
              </a:ext>
            </a:extLst>
          </p:cNvPr>
          <p:cNvSpPr/>
          <p:nvPr/>
        </p:nvSpPr>
        <p:spPr>
          <a:xfrm>
            <a:off x="901147" y="3643343"/>
            <a:ext cx="5751444" cy="2601481"/>
          </a:xfrm>
          <a:prstGeom prst="rect">
            <a:avLst/>
          </a:prstGeom>
          <a:ln>
            <a:solidFill>
              <a:srgbClr val="00B0F0"/>
            </a:solidFill>
          </a:ln>
        </p:spPr>
        <p:txBody>
          <a:bodyPr wrap="square">
            <a:spAutoFit/>
          </a:bodyPr>
          <a:lstStyle/>
          <a:p>
            <a:pPr algn="just">
              <a:lnSpc>
                <a:spcPct val="150000"/>
              </a:lnSpc>
            </a:pPr>
            <a:r>
              <a:rPr lang="en-US" altLang="zh-CN" sz="2800" dirty="0" err="1">
                <a:solidFill>
                  <a:srgbClr val="404040"/>
                </a:solidFill>
                <a:latin typeface="Microsoft YaHei" panose="020B0503020204020204" pitchFamily="34" charset="-122"/>
                <a:ea typeface="Microsoft YaHei" panose="020B0503020204020204" pitchFamily="34" charset="-122"/>
              </a:rPr>
              <a:t>HotStuff</a:t>
            </a:r>
            <a:r>
              <a:rPr lang="zh-CN" altLang="en-US" sz="2800" dirty="0">
                <a:solidFill>
                  <a:srgbClr val="404040"/>
                </a:solidFill>
                <a:latin typeface="Microsoft YaHei" panose="020B0503020204020204" pitchFamily="34" charset="-122"/>
                <a:ea typeface="Microsoft YaHei" panose="020B0503020204020204" pitchFamily="34" charset="-122"/>
              </a:rPr>
              <a:t>與</a:t>
            </a:r>
            <a:r>
              <a:rPr lang="en-US" altLang="zh-CN" sz="2800" dirty="0">
                <a:solidFill>
                  <a:srgbClr val="404040"/>
                </a:solidFill>
                <a:latin typeface="Microsoft YaHei" panose="020B0503020204020204" pitchFamily="34" charset="-122"/>
                <a:ea typeface="Microsoft YaHei" panose="020B0503020204020204" pitchFamily="34" charset="-122"/>
              </a:rPr>
              <a:t>libra</a:t>
            </a:r>
            <a:r>
              <a:rPr lang="zh-CN" altLang="en-US" sz="2800" dirty="0">
                <a:solidFill>
                  <a:srgbClr val="404040"/>
                </a:solidFill>
                <a:latin typeface="Microsoft YaHei" panose="020B0503020204020204" pitchFamily="34" charset="-122"/>
                <a:ea typeface="Microsoft YaHei" panose="020B0503020204020204" pitchFamily="34" charset="-122"/>
              </a:rPr>
              <a:t>的關係：</a:t>
            </a:r>
            <a:endParaRPr lang="en-US" altLang="zh-CN" sz="2800" dirty="0">
              <a:solidFill>
                <a:srgbClr val="404040"/>
              </a:solidFill>
              <a:latin typeface="Microsoft YaHei" panose="020B0503020204020204" pitchFamily="34" charset="-122"/>
              <a:ea typeface="Microsoft YaHei" panose="020B0503020204020204" pitchFamily="34" charset="-122"/>
            </a:endParaRPr>
          </a:p>
          <a:p>
            <a:pPr lvl="1" algn="just">
              <a:lnSpc>
                <a:spcPct val="150000"/>
              </a:lnSpc>
            </a:pPr>
            <a:r>
              <a:rPr lang="en-US" altLang="zh-CN" sz="2800" dirty="0">
                <a:solidFill>
                  <a:srgbClr val="404040"/>
                </a:solidFill>
                <a:latin typeface="Microsoft YaHei" panose="020B0503020204020204" pitchFamily="34" charset="-122"/>
                <a:ea typeface="Microsoft YaHei" panose="020B0503020204020204" pitchFamily="34" charset="-122"/>
              </a:rPr>
              <a:t>Facebook</a:t>
            </a:r>
            <a:r>
              <a:rPr lang="zh-CN" altLang="en-US" sz="2800" dirty="0">
                <a:solidFill>
                  <a:srgbClr val="404040"/>
                </a:solidFill>
                <a:latin typeface="Microsoft YaHei" panose="020B0503020204020204" pitchFamily="34" charset="-122"/>
                <a:ea typeface="Microsoft YaHei" panose="020B0503020204020204" pitchFamily="34" charset="-122"/>
              </a:rPr>
              <a:t>在</a:t>
            </a:r>
            <a:r>
              <a:rPr lang="en-US" altLang="zh-CN" sz="2800" dirty="0">
                <a:solidFill>
                  <a:srgbClr val="404040"/>
                </a:solidFill>
                <a:latin typeface="Microsoft YaHei" panose="020B0503020204020204" pitchFamily="34" charset="-122"/>
                <a:ea typeface="Microsoft YaHei" panose="020B0503020204020204" pitchFamily="34" charset="-122"/>
              </a:rPr>
              <a:t>2019</a:t>
            </a:r>
            <a:r>
              <a:rPr lang="zh-CN" altLang="en-US" sz="2800" dirty="0">
                <a:solidFill>
                  <a:srgbClr val="404040"/>
                </a:solidFill>
                <a:latin typeface="Microsoft YaHei" panose="020B0503020204020204" pitchFamily="34" charset="-122"/>
                <a:ea typeface="Microsoft YaHei" panose="020B0503020204020204" pitchFamily="34" charset="-122"/>
              </a:rPr>
              <a:t>年發布了</a:t>
            </a:r>
            <a:r>
              <a:rPr lang="en-US" altLang="zh-CN" sz="2800" dirty="0">
                <a:solidFill>
                  <a:srgbClr val="404040"/>
                </a:solidFill>
                <a:latin typeface="Microsoft YaHei" panose="020B0503020204020204" pitchFamily="34" charset="-122"/>
                <a:ea typeface="Microsoft YaHei" panose="020B0503020204020204" pitchFamily="34" charset="-122"/>
              </a:rPr>
              <a:t>libra</a:t>
            </a:r>
            <a:r>
              <a:rPr lang="zh-CN" altLang="en-US" sz="2800" dirty="0">
                <a:solidFill>
                  <a:srgbClr val="404040"/>
                </a:solidFill>
                <a:latin typeface="Microsoft YaHei" panose="020B0503020204020204" pitchFamily="34" charset="-122"/>
                <a:ea typeface="Microsoft YaHei" panose="020B0503020204020204" pitchFamily="34" charset="-122"/>
              </a:rPr>
              <a:t>白皮書，裏面提到的</a:t>
            </a:r>
            <a:r>
              <a:rPr lang="en-US" altLang="zh-CN" sz="2800" dirty="0" err="1">
                <a:solidFill>
                  <a:srgbClr val="404040"/>
                </a:solidFill>
                <a:latin typeface="Microsoft YaHei" panose="020B0503020204020204" pitchFamily="34" charset="-122"/>
                <a:ea typeface="Microsoft YaHei" panose="020B0503020204020204" pitchFamily="34" charset="-122"/>
              </a:rPr>
              <a:t>LibraBFT</a:t>
            </a:r>
            <a:r>
              <a:rPr lang="zh-CN" altLang="en-US" sz="2800" dirty="0">
                <a:solidFill>
                  <a:srgbClr val="404040"/>
                </a:solidFill>
                <a:latin typeface="Microsoft YaHei" panose="020B0503020204020204" pitchFamily="34" charset="-122"/>
                <a:ea typeface="Microsoft YaHei" panose="020B0503020204020204" pitchFamily="34" charset="-122"/>
              </a:rPr>
              <a:t>共識是基于</a:t>
            </a:r>
            <a:r>
              <a:rPr lang="en-US" altLang="zh-CN" sz="2800" dirty="0" err="1">
                <a:solidFill>
                  <a:srgbClr val="404040"/>
                </a:solidFill>
                <a:latin typeface="Microsoft YaHei" panose="020B0503020204020204" pitchFamily="34" charset="-122"/>
                <a:ea typeface="Microsoft YaHei" panose="020B0503020204020204" pitchFamily="34" charset="-122"/>
              </a:rPr>
              <a:t>HotStuff</a:t>
            </a:r>
            <a:r>
              <a:rPr lang="zh-CN" altLang="en-US" sz="2800" dirty="0">
                <a:solidFill>
                  <a:srgbClr val="404040"/>
                </a:solidFill>
                <a:latin typeface="Microsoft YaHei" panose="020B0503020204020204" pitchFamily="34" charset="-122"/>
                <a:ea typeface="Microsoft YaHei" panose="020B0503020204020204" pitchFamily="34" charset="-122"/>
              </a:rPr>
              <a:t>演化而來</a:t>
            </a:r>
            <a:endParaRPr lang="zh-CN" altLang="en-US" dirty="0">
              <a:latin typeface="Microsoft YaHei" panose="020B0503020204020204" pitchFamily="34" charset="-122"/>
              <a:ea typeface="Microsoft YaHei" panose="020B0503020204020204" pitchFamily="34" charset="-122"/>
            </a:endParaRPr>
          </a:p>
        </p:txBody>
      </p:sp>
      <p:sp>
        <p:nvSpPr>
          <p:cNvPr id="8" name="灯片编号占位符 2">
            <a:extLst>
              <a:ext uri="{FF2B5EF4-FFF2-40B4-BE49-F238E27FC236}">
                <a16:creationId xmlns:a16="http://schemas.microsoft.com/office/drawing/2014/main" id="{F6B29DA5-D680-8545-A848-42F35B401386}"/>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127</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61400067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kumimoji="1" lang="zh-CN" altLang="en-US" dirty="0"/>
              <a:t>協議基礎</a:t>
            </a:r>
            <a:endParaRPr kumimoji="1" lang="zh-CN" altLang="en-US" sz="4000" dirty="0"/>
          </a:p>
        </p:txBody>
      </p:sp>
      <p:sp>
        <p:nvSpPr>
          <p:cNvPr id="10" name="矩形 9">
            <a:extLst>
              <a:ext uri="{FF2B5EF4-FFF2-40B4-BE49-F238E27FC236}">
                <a16:creationId xmlns:a16="http://schemas.microsoft.com/office/drawing/2014/main" id="{25485B90-F83B-164D-B77C-BFA0F8D79438}"/>
              </a:ext>
            </a:extLst>
          </p:cNvPr>
          <p:cNvSpPr/>
          <p:nvPr/>
        </p:nvSpPr>
        <p:spPr>
          <a:xfrm>
            <a:off x="841890" y="1015896"/>
            <a:ext cx="5797704" cy="5590120"/>
          </a:xfrm>
          <a:prstGeom prst="rect">
            <a:avLst/>
          </a:prstGeom>
          <a:ln>
            <a:noFill/>
          </a:ln>
        </p:spPr>
        <p:txBody>
          <a:bodyPr wrap="square">
            <a:spAutoFit/>
          </a:bodyPr>
          <a:lstStyle/>
          <a:p>
            <a:pPr marL="342900" indent="-342900" algn="just">
              <a:lnSpc>
                <a:spcPts val="3600"/>
              </a:lnSpc>
              <a:buFont typeface="Arial" panose="020B0604020202020204" pitchFamily="34" charset="0"/>
              <a:buChar char="•"/>
            </a:pPr>
            <a:r>
              <a:rPr lang="zh-CN" altLang="en-US" sz="2400" b="1" dirty="0">
                <a:latin typeface="Microsoft YaHei" panose="020B0503020204020204" pitchFamily="34" charset="-122"/>
                <a:ea typeface="Microsoft YaHei" panose="020B0503020204020204" pitchFamily="34" charset="-122"/>
              </a:rPr>
              <a:t>門限簽名：</a:t>
            </a:r>
            <a:r>
              <a:rPr lang="zh-CN" altLang="en-US" sz="2400" dirty="0">
                <a:latin typeface="Microsoft YaHei" panose="020B0503020204020204" pitchFamily="34" charset="-122"/>
                <a:ea typeface="Microsoft YaHei" panose="020B0503020204020204" pitchFamily="34" charset="-122"/>
              </a:rPr>
              <a:t>在（</a:t>
            </a:r>
            <a:r>
              <a:rPr lang="en-US" altLang="zh-CN" sz="2400" dirty="0">
                <a:latin typeface="Microsoft YaHei" panose="020B0503020204020204" pitchFamily="34" charset="-122"/>
                <a:ea typeface="Microsoft YaHei" panose="020B0503020204020204" pitchFamily="34" charset="-122"/>
              </a:rPr>
              <a:t>k, n</a:t>
            </a:r>
            <a:r>
              <a:rPr lang="zh-CN" altLang="en-US" sz="2400" dirty="0">
                <a:latin typeface="Microsoft YaHei" panose="020B0503020204020204" pitchFamily="34" charset="-122"/>
                <a:ea typeface="Microsoft YaHei" panose="020B0503020204020204" pitchFamily="34" charset="-122"/>
              </a:rPr>
              <a:t>）門限簽名中，每個節點擁有部分私鑰</a:t>
            </a:r>
            <a:r>
              <a:rPr lang="en-US" altLang="zh-CN" sz="2400" dirty="0">
                <a:latin typeface="Microsoft YaHei" panose="020B0503020204020204" pitchFamily="34" charset="-122"/>
                <a:ea typeface="Microsoft YaHei" panose="020B0503020204020204" pitchFamily="34" charset="-122"/>
              </a:rPr>
              <a:t>Partial-</a:t>
            </a:r>
            <a:r>
              <a:rPr lang="en-US" altLang="zh-CN" sz="2400" dirty="0" err="1">
                <a:latin typeface="Microsoft YaHei" panose="020B0503020204020204" pitchFamily="34" charset="-122"/>
                <a:ea typeface="Microsoft YaHei" panose="020B0503020204020204" pitchFamily="34" charset="-122"/>
              </a:rPr>
              <a:t>sk</a:t>
            </a:r>
            <a:r>
              <a:rPr lang="zh-CN" altLang="en-US" sz="2400" dirty="0">
                <a:latin typeface="Microsoft YaHei" panose="020B0503020204020204" pitchFamily="34" charset="-122"/>
                <a:ea typeface="Microsoft YaHei" panose="020B0503020204020204" pitchFamily="34" charset="-122"/>
              </a:rPr>
              <a:t>，可進行部分簽名，任意</a:t>
            </a:r>
            <a:r>
              <a:rPr lang="en-US" altLang="zh-CN" sz="2400" dirty="0">
                <a:latin typeface="Microsoft YaHei" panose="020B0503020204020204" pitchFamily="34" charset="-122"/>
                <a:ea typeface="Microsoft YaHei" panose="020B0503020204020204" pitchFamily="34" charset="-122"/>
              </a:rPr>
              <a:t>k</a:t>
            </a:r>
            <a:r>
              <a:rPr lang="zh-CN" altLang="en-US" sz="2400" dirty="0">
                <a:latin typeface="Microsoft YaHei" panose="020B0503020204020204" pitchFamily="34" charset="-122"/>
                <a:ea typeface="Microsoft YaHei" panose="020B0503020204020204" pitchFamily="34" charset="-122"/>
              </a:rPr>
              <a:t>個節點的部分簽名可以合成一個完整簽名，幷能被全域公鑰驗證</a:t>
            </a:r>
            <a:endParaRPr lang="en-US" altLang="zh-CN" sz="2400" dirty="0">
              <a:latin typeface="Microsoft YaHei" panose="020B0503020204020204" pitchFamily="34" charset="-122"/>
              <a:ea typeface="Microsoft YaHei" panose="020B0503020204020204" pitchFamily="34" charset="-122"/>
            </a:endParaRPr>
          </a:p>
          <a:p>
            <a:pPr marL="342900" indent="-342900" algn="just">
              <a:lnSpc>
                <a:spcPts val="3600"/>
              </a:lnSpc>
              <a:buFont typeface="Arial" panose="020B0604020202020204" pitchFamily="34" charset="0"/>
              <a:buChar char="•"/>
            </a:pPr>
            <a:r>
              <a:rPr lang="en-US" altLang="zh-CN" sz="2400" b="1" dirty="0">
                <a:latin typeface="Microsoft YaHei" panose="020B0503020204020204" pitchFamily="34" charset="-122"/>
                <a:ea typeface="Microsoft YaHei" panose="020B0503020204020204" pitchFamily="34" charset="-122"/>
              </a:rPr>
              <a:t>View</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共識視圖，每個視圖由不同</a:t>
            </a:r>
            <a:r>
              <a:rPr lang="en-US" altLang="zh-CN" sz="2400" dirty="0">
                <a:latin typeface="Microsoft YaHei" panose="020B0503020204020204" pitchFamily="34" charset="-122"/>
                <a:ea typeface="Microsoft YaHei" panose="020B0503020204020204" pitchFamily="34" charset="-122"/>
              </a:rPr>
              <a:t>leader</a:t>
            </a:r>
            <a:r>
              <a:rPr lang="zh-CN" altLang="en-US" sz="2400" dirty="0">
                <a:latin typeface="Microsoft YaHei" panose="020B0503020204020204" pitchFamily="34" charset="-122"/>
                <a:ea typeface="Microsoft YaHei" panose="020B0503020204020204" pitchFamily="34" charset="-122"/>
              </a:rPr>
              <a:t>節點引導完成一輪共識</a:t>
            </a:r>
            <a:endParaRPr lang="en-US" altLang="zh-CN" sz="2400" dirty="0">
              <a:latin typeface="Microsoft YaHei" panose="020B0503020204020204" pitchFamily="34" charset="-122"/>
              <a:ea typeface="Microsoft YaHei" panose="020B0503020204020204" pitchFamily="34" charset="-122"/>
            </a:endParaRPr>
          </a:p>
          <a:p>
            <a:pPr marL="342900" indent="-342900" algn="just">
              <a:lnSpc>
                <a:spcPts val="3600"/>
              </a:lnSpc>
              <a:buFont typeface="Arial" panose="020B0604020202020204" pitchFamily="34" charset="0"/>
              <a:buChar char="•"/>
            </a:pPr>
            <a:r>
              <a:rPr lang="zh-CN" altLang="en-US" sz="2400" b="1" dirty="0">
                <a:latin typeface="Microsoft YaHei" panose="020B0503020204020204" pitchFamily="34" charset="-122"/>
                <a:ea typeface="Microsoft YaHei" panose="020B0503020204020204" pitchFamily="34" charset="-122"/>
              </a:rPr>
              <a:t>投票</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節點對提案進行部分簽名</a:t>
            </a:r>
            <a:endParaRPr lang="en-US" altLang="zh-CN" sz="2400" dirty="0">
              <a:latin typeface="Microsoft YaHei" panose="020B0503020204020204" pitchFamily="34" charset="-122"/>
              <a:ea typeface="Microsoft YaHei" panose="020B0503020204020204" pitchFamily="34" charset="-122"/>
            </a:endParaRPr>
          </a:p>
          <a:p>
            <a:pPr marL="342900" indent="-342900" algn="just">
              <a:lnSpc>
                <a:spcPts val="3600"/>
              </a:lnSpc>
              <a:buFont typeface="Arial" panose="020B0604020202020204" pitchFamily="34" charset="0"/>
              <a:buChar char="•"/>
            </a:pPr>
            <a:r>
              <a:rPr lang="en-US" altLang="zh-CN" sz="2400" b="1" dirty="0">
                <a:latin typeface="Microsoft YaHei" panose="020B0503020204020204" pitchFamily="34" charset="-122"/>
                <a:ea typeface="Microsoft YaHei" panose="020B0503020204020204" pitchFamily="34" charset="-122"/>
              </a:rPr>
              <a:t>QC(Quorum Certificate) </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由</a:t>
            </a:r>
            <a:r>
              <a:rPr lang="en-US" altLang="zh-CN" sz="2400" dirty="0">
                <a:latin typeface="Microsoft YaHei" panose="020B0503020204020204" pitchFamily="34" charset="-122"/>
                <a:ea typeface="Microsoft YaHei" panose="020B0503020204020204" pitchFamily="34" charset="-122"/>
              </a:rPr>
              <a:t>2m+1</a:t>
            </a:r>
            <a:r>
              <a:rPr lang="zh-CN" altLang="en-US" sz="2400" dirty="0">
                <a:latin typeface="Microsoft YaHei" panose="020B0503020204020204" pitchFamily="34" charset="-122"/>
                <a:ea typeface="Microsoft YaHei" panose="020B0503020204020204" pitchFamily="34" charset="-122"/>
              </a:rPr>
              <a:t>個不同節點的部分簽名合成的一個全域簽名，可通過全域公鑰驗證幷證明</a:t>
            </a:r>
            <a:r>
              <a:rPr lang="en-US" altLang="zh-CN" sz="2400" dirty="0">
                <a:latin typeface="Microsoft YaHei" panose="020B0503020204020204" pitchFamily="34" charset="-122"/>
                <a:ea typeface="Microsoft YaHei" panose="020B0503020204020204" pitchFamily="34" charset="-122"/>
              </a:rPr>
              <a:t>2m+1</a:t>
            </a:r>
            <a:r>
              <a:rPr lang="zh-CN" altLang="en-US" sz="2400" dirty="0">
                <a:latin typeface="Microsoft YaHei" panose="020B0503020204020204" pitchFamily="34" charset="-122"/>
                <a:ea typeface="Microsoft YaHei" panose="020B0503020204020204" pitchFamily="34" charset="-122"/>
              </a:rPr>
              <a:t>個節點進行了投票</a:t>
            </a:r>
          </a:p>
        </p:txBody>
      </p:sp>
      <p:grpSp>
        <p:nvGrpSpPr>
          <p:cNvPr id="5" name="组合 4">
            <a:extLst>
              <a:ext uri="{FF2B5EF4-FFF2-40B4-BE49-F238E27FC236}">
                <a16:creationId xmlns:a16="http://schemas.microsoft.com/office/drawing/2014/main" id="{5DE5631D-577C-A04C-AA76-3735240D676E}"/>
              </a:ext>
            </a:extLst>
          </p:cNvPr>
          <p:cNvGrpSpPr/>
          <p:nvPr/>
        </p:nvGrpSpPr>
        <p:grpSpPr>
          <a:xfrm>
            <a:off x="7012586" y="1015896"/>
            <a:ext cx="4643367" cy="5704954"/>
            <a:chOff x="5250048" y="1850725"/>
            <a:chExt cx="3862944" cy="4746107"/>
          </a:xfrm>
        </p:grpSpPr>
        <p:pic>
          <p:nvPicPr>
            <p:cNvPr id="11" name="图形 10" descr="Internet">
              <a:extLst>
                <a:ext uri="{FF2B5EF4-FFF2-40B4-BE49-F238E27FC236}">
                  <a16:creationId xmlns:a16="http://schemas.microsoft.com/office/drawing/2014/main" id="{99599A03-EF94-7344-AF8D-70279DE20CC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50048" y="4437112"/>
              <a:ext cx="914400" cy="914400"/>
            </a:xfrm>
            <a:prstGeom prst="rect">
              <a:avLst/>
            </a:prstGeom>
          </p:spPr>
        </p:pic>
        <p:pic>
          <p:nvPicPr>
            <p:cNvPr id="12" name="图形 11" descr="Internet">
              <a:extLst>
                <a:ext uri="{FF2B5EF4-FFF2-40B4-BE49-F238E27FC236}">
                  <a16:creationId xmlns:a16="http://schemas.microsoft.com/office/drawing/2014/main" id="{E27CA5E5-3D14-3D4B-9CFC-258AB73FF76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51489" y="2473896"/>
              <a:ext cx="914400" cy="914400"/>
            </a:xfrm>
            <a:prstGeom prst="rect">
              <a:avLst/>
            </a:prstGeom>
          </p:spPr>
        </p:pic>
        <p:pic>
          <p:nvPicPr>
            <p:cNvPr id="13" name="图形 12" descr="Internet">
              <a:extLst>
                <a:ext uri="{FF2B5EF4-FFF2-40B4-BE49-F238E27FC236}">
                  <a16:creationId xmlns:a16="http://schemas.microsoft.com/office/drawing/2014/main" id="{73E25337-F9D9-6746-A956-AD5D39B7FBD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98480" y="4437112"/>
              <a:ext cx="914400" cy="914400"/>
            </a:xfrm>
            <a:prstGeom prst="rect">
              <a:avLst/>
            </a:prstGeom>
          </p:spPr>
        </p:pic>
        <p:pic>
          <p:nvPicPr>
            <p:cNvPr id="14" name="图形 13" descr="Internet">
              <a:extLst>
                <a:ext uri="{FF2B5EF4-FFF2-40B4-BE49-F238E27FC236}">
                  <a16:creationId xmlns:a16="http://schemas.microsoft.com/office/drawing/2014/main" id="{51233E5A-85FD-8D45-9E46-16B1CE02175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46912" y="4444720"/>
              <a:ext cx="914400" cy="914400"/>
            </a:xfrm>
            <a:prstGeom prst="rect">
              <a:avLst/>
            </a:prstGeom>
          </p:spPr>
        </p:pic>
        <p:sp>
          <p:nvSpPr>
            <p:cNvPr id="15" name="矩形 14">
              <a:extLst>
                <a:ext uri="{FF2B5EF4-FFF2-40B4-BE49-F238E27FC236}">
                  <a16:creationId xmlns:a16="http://schemas.microsoft.com/office/drawing/2014/main" id="{ED52421F-449A-B448-8CFB-9C713044C51C}"/>
                </a:ext>
              </a:extLst>
            </p:cNvPr>
            <p:cNvSpPr/>
            <p:nvPr/>
          </p:nvSpPr>
          <p:spPr>
            <a:xfrm>
              <a:off x="6682615" y="5637044"/>
              <a:ext cx="1071720" cy="307257"/>
            </a:xfrm>
            <a:prstGeom prst="rect">
              <a:avLst/>
            </a:prstGeom>
          </p:spPr>
          <p:txBody>
            <a:bodyPr wrap="none">
              <a:spAutoFit/>
            </a:bodyPr>
            <a:lstStyle/>
            <a:p>
              <a:r>
                <a:rPr lang="en-US" altLang="zh-CN" b="1" dirty="0">
                  <a:latin typeface="Microsoft YaHei" panose="020B0503020204020204" pitchFamily="34" charset="-122"/>
                  <a:ea typeface="Microsoft YaHei" panose="020B0503020204020204" pitchFamily="34" charset="-122"/>
                </a:rPr>
                <a:t>Partial-</a:t>
              </a:r>
              <a:r>
                <a:rPr lang="en-US" altLang="zh-CN" b="1" dirty="0" err="1">
                  <a:latin typeface="Microsoft YaHei" panose="020B0503020204020204" pitchFamily="34" charset="-122"/>
                  <a:ea typeface="Microsoft YaHei" panose="020B0503020204020204" pitchFamily="34" charset="-122"/>
                </a:rPr>
                <a:t>sk</a:t>
              </a:r>
              <a:endParaRPr lang="zh-CN" altLang="en-US" dirty="0"/>
            </a:p>
          </p:txBody>
        </p:sp>
        <p:sp>
          <p:nvSpPr>
            <p:cNvPr id="16" name="左箭头 7">
              <a:extLst>
                <a:ext uri="{FF2B5EF4-FFF2-40B4-BE49-F238E27FC236}">
                  <a16:creationId xmlns:a16="http://schemas.microsoft.com/office/drawing/2014/main" id="{77098E38-E74D-7946-B163-CBCE982EDCA2}"/>
                </a:ext>
              </a:extLst>
            </p:cNvPr>
            <p:cNvSpPr/>
            <p:nvPr/>
          </p:nvSpPr>
          <p:spPr>
            <a:xfrm rot="16200000">
              <a:off x="7059190" y="6038501"/>
              <a:ext cx="288032" cy="14401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7" name="矩形 16">
              <a:extLst>
                <a:ext uri="{FF2B5EF4-FFF2-40B4-BE49-F238E27FC236}">
                  <a16:creationId xmlns:a16="http://schemas.microsoft.com/office/drawing/2014/main" id="{F2FC6A32-8FF8-3843-B626-8E0B0F59B8FC}"/>
                </a:ext>
              </a:extLst>
            </p:cNvPr>
            <p:cNvSpPr/>
            <p:nvPr/>
          </p:nvSpPr>
          <p:spPr>
            <a:xfrm>
              <a:off x="6108509" y="6289575"/>
              <a:ext cx="2648387" cy="307257"/>
            </a:xfrm>
            <a:prstGeom prst="rect">
              <a:avLst/>
            </a:prstGeom>
          </p:spPr>
          <p:txBody>
            <a:bodyPr wrap="none">
              <a:spAutoFit/>
            </a:bodyPr>
            <a:lstStyle/>
            <a:p>
              <a:r>
                <a:rPr lang="en-US" altLang="zh-CN" b="1" dirty="0">
                  <a:latin typeface="Microsoft YaHei" panose="020B0503020204020204" pitchFamily="34" charset="-122"/>
                  <a:ea typeface="Microsoft YaHei" panose="020B0503020204020204" pitchFamily="34" charset="-122"/>
                </a:rPr>
                <a:t>Partial-signature</a:t>
              </a:r>
              <a:r>
                <a:rPr lang="zh-CN" altLang="en-US" b="1" dirty="0">
                  <a:latin typeface="Microsoft YaHei" panose="020B0503020204020204" pitchFamily="34" charset="-122"/>
                  <a:ea typeface="Microsoft YaHei" panose="020B0503020204020204" pitchFamily="34" charset="-122"/>
                </a:rPr>
                <a:t>（</a:t>
              </a:r>
              <a:r>
                <a:rPr lang="en-US" altLang="zh-CN" b="1" dirty="0">
                  <a:latin typeface="Microsoft YaHei" panose="020B0503020204020204" pitchFamily="34" charset="-122"/>
                  <a:ea typeface="Microsoft YaHei" panose="020B0503020204020204" pitchFamily="34" charset="-122"/>
                </a:rPr>
                <a:t>P-sig</a:t>
              </a:r>
              <a:r>
                <a:rPr lang="zh-CN" altLang="en-US" b="1" dirty="0">
                  <a:latin typeface="Microsoft YaHei" panose="020B0503020204020204" pitchFamily="34" charset="-122"/>
                  <a:ea typeface="Microsoft YaHei" panose="020B0503020204020204" pitchFamily="34" charset="-122"/>
                </a:rPr>
                <a:t>）</a:t>
              </a:r>
              <a:endParaRPr lang="zh-CN" altLang="en-US" dirty="0"/>
            </a:p>
          </p:txBody>
        </p:sp>
        <p:cxnSp>
          <p:nvCxnSpPr>
            <p:cNvPr id="18" name="直线箭头连接符 17">
              <a:extLst>
                <a:ext uri="{FF2B5EF4-FFF2-40B4-BE49-F238E27FC236}">
                  <a16:creationId xmlns:a16="http://schemas.microsoft.com/office/drawing/2014/main" id="{FB081875-3138-0A4A-B5BF-B9D993DF4624}"/>
                </a:ext>
              </a:extLst>
            </p:cNvPr>
            <p:cNvCxnSpPr>
              <a:cxnSpLocks/>
              <a:stCxn id="11" idx="0"/>
            </p:cNvCxnSpPr>
            <p:nvPr/>
          </p:nvCxnSpPr>
          <p:spPr>
            <a:xfrm flipV="1">
              <a:off x="5707248" y="3429000"/>
              <a:ext cx="1170630" cy="1008112"/>
            </a:xfrm>
            <a:prstGeom prst="straightConnector1">
              <a:avLst/>
            </a:prstGeom>
            <a:ln w="38100">
              <a:headEnd type="none"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19" name="直线箭头连接符 15">
              <a:extLst>
                <a:ext uri="{FF2B5EF4-FFF2-40B4-BE49-F238E27FC236}">
                  <a16:creationId xmlns:a16="http://schemas.microsoft.com/office/drawing/2014/main" id="{2A19550E-7C70-564A-8985-BB72803F3433}"/>
                </a:ext>
              </a:extLst>
            </p:cNvPr>
            <p:cNvCxnSpPr>
              <a:cxnSpLocks/>
              <a:stCxn id="14" idx="0"/>
            </p:cNvCxnSpPr>
            <p:nvPr/>
          </p:nvCxnSpPr>
          <p:spPr>
            <a:xfrm flipH="1" flipV="1">
              <a:off x="7612880" y="3429000"/>
              <a:ext cx="991232" cy="1015720"/>
            </a:xfrm>
            <a:prstGeom prst="straightConnector1">
              <a:avLst/>
            </a:prstGeom>
            <a:ln w="38100">
              <a:headEnd type="none" w="lg" len="lg"/>
              <a:tailEnd type="stealth" w="lg" len="lg"/>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8C8BF7E3-480F-9A46-80C1-0A544C9D7DFC}"/>
                </a:ext>
              </a:extLst>
            </p:cNvPr>
            <p:cNvSpPr/>
            <p:nvPr/>
          </p:nvSpPr>
          <p:spPr>
            <a:xfrm>
              <a:off x="5643652" y="3616192"/>
              <a:ext cx="769175" cy="307257"/>
            </a:xfrm>
            <a:prstGeom prst="rect">
              <a:avLst/>
            </a:prstGeom>
          </p:spPr>
          <p:txBody>
            <a:bodyPr wrap="square">
              <a:spAutoFit/>
            </a:bodyPr>
            <a:lstStyle/>
            <a:p>
              <a:pPr algn="ctr"/>
              <a:r>
                <a:rPr lang="en-US" altLang="zh-CN" b="1" dirty="0">
                  <a:latin typeface="Microsoft YaHei" panose="020B0503020204020204" pitchFamily="34" charset="-122"/>
                  <a:ea typeface="Microsoft YaHei" panose="020B0503020204020204" pitchFamily="34" charset="-122"/>
                </a:rPr>
                <a:t>P-sig1</a:t>
              </a:r>
              <a:endParaRPr lang="zh-CN" altLang="en-US" dirty="0"/>
            </a:p>
          </p:txBody>
        </p:sp>
        <p:sp>
          <p:nvSpPr>
            <p:cNvPr id="21" name="矩形 20">
              <a:extLst>
                <a:ext uri="{FF2B5EF4-FFF2-40B4-BE49-F238E27FC236}">
                  <a16:creationId xmlns:a16="http://schemas.microsoft.com/office/drawing/2014/main" id="{1221F5ED-E424-F34E-8D3E-037E8C46C8FF}"/>
                </a:ext>
              </a:extLst>
            </p:cNvPr>
            <p:cNvSpPr/>
            <p:nvPr/>
          </p:nvSpPr>
          <p:spPr>
            <a:xfrm>
              <a:off x="8063537" y="3620453"/>
              <a:ext cx="769175" cy="307257"/>
            </a:xfrm>
            <a:prstGeom prst="rect">
              <a:avLst/>
            </a:prstGeom>
          </p:spPr>
          <p:txBody>
            <a:bodyPr wrap="square">
              <a:spAutoFit/>
            </a:bodyPr>
            <a:lstStyle/>
            <a:p>
              <a:pPr algn="ctr"/>
              <a:r>
                <a:rPr lang="en-US" altLang="zh-CN" b="1" dirty="0">
                  <a:latin typeface="Microsoft YaHei" panose="020B0503020204020204" pitchFamily="34" charset="-122"/>
                  <a:ea typeface="Microsoft YaHei" panose="020B0503020204020204" pitchFamily="34" charset="-122"/>
                </a:rPr>
                <a:t>P-sig3</a:t>
              </a:r>
              <a:endParaRPr lang="zh-CN" altLang="en-US" dirty="0"/>
            </a:p>
          </p:txBody>
        </p:sp>
        <p:sp>
          <p:nvSpPr>
            <p:cNvPr id="22" name="矩形 21">
              <a:extLst>
                <a:ext uri="{FF2B5EF4-FFF2-40B4-BE49-F238E27FC236}">
                  <a16:creationId xmlns:a16="http://schemas.microsoft.com/office/drawing/2014/main" id="{11AA0ED9-7E88-C642-9A9A-97DFCD896E35}"/>
                </a:ext>
              </a:extLst>
            </p:cNvPr>
            <p:cNvSpPr/>
            <p:nvPr/>
          </p:nvSpPr>
          <p:spPr>
            <a:xfrm>
              <a:off x="5277776" y="5197623"/>
              <a:ext cx="914400" cy="307257"/>
            </a:xfrm>
            <a:prstGeom prst="rect">
              <a:avLst/>
            </a:prstGeom>
          </p:spPr>
          <p:txBody>
            <a:bodyPr wrap="square">
              <a:spAutoFit/>
            </a:bodyPr>
            <a:lstStyle/>
            <a:p>
              <a:pPr algn="ctr"/>
              <a:r>
                <a:rPr lang="en-US" altLang="zh-CN" b="1" dirty="0">
                  <a:latin typeface="Microsoft YaHei" panose="020B0503020204020204" pitchFamily="34" charset="-122"/>
                  <a:ea typeface="Microsoft YaHei" panose="020B0503020204020204" pitchFamily="34" charset="-122"/>
                </a:rPr>
                <a:t>replica1</a:t>
              </a:r>
              <a:endParaRPr lang="zh-CN" altLang="en-US" dirty="0"/>
            </a:p>
          </p:txBody>
        </p:sp>
        <p:sp>
          <p:nvSpPr>
            <p:cNvPr id="23" name="矩形 22">
              <a:extLst>
                <a:ext uri="{FF2B5EF4-FFF2-40B4-BE49-F238E27FC236}">
                  <a16:creationId xmlns:a16="http://schemas.microsoft.com/office/drawing/2014/main" id="{606448C0-4E3E-8548-8932-05E9B1EF9C43}"/>
                </a:ext>
              </a:extLst>
            </p:cNvPr>
            <p:cNvSpPr/>
            <p:nvPr/>
          </p:nvSpPr>
          <p:spPr>
            <a:xfrm>
              <a:off x="6726208" y="5193487"/>
              <a:ext cx="914400" cy="307257"/>
            </a:xfrm>
            <a:prstGeom prst="rect">
              <a:avLst/>
            </a:prstGeom>
          </p:spPr>
          <p:txBody>
            <a:bodyPr wrap="square">
              <a:spAutoFit/>
            </a:bodyPr>
            <a:lstStyle/>
            <a:p>
              <a:pPr algn="ctr"/>
              <a:r>
                <a:rPr lang="en-US" altLang="zh-CN" b="1" dirty="0">
                  <a:solidFill>
                    <a:srgbClr val="FF0000"/>
                  </a:solidFill>
                  <a:latin typeface="Microsoft YaHei" panose="020B0503020204020204" pitchFamily="34" charset="-122"/>
                  <a:ea typeface="Microsoft YaHei" panose="020B0503020204020204" pitchFamily="34" charset="-122"/>
                </a:rPr>
                <a:t>replica2</a:t>
              </a:r>
              <a:endParaRPr lang="zh-CN" altLang="en-US" dirty="0">
                <a:solidFill>
                  <a:srgbClr val="FF0000"/>
                </a:solidFill>
              </a:endParaRPr>
            </a:p>
          </p:txBody>
        </p:sp>
        <p:sp>
          <p:nvSpPr>
            <p:cNvPr id="24" name="矩形 23">
              <a:extLst>
                <a:ext uri="{FF2B5EF4-FFF2-40B4-BE49-F238E27FC236}">
                  <a16:creationId xmlns:a16="http://schemas.microsoft.com/office/drawing/2014/main" id="{E3B4432F-1658-9E4F-97D1-448C82CD6A40}"/>
                </a:ext>
              </a:extLst>
            </p:cNvPr>
            <p:cNvSpPr/>
            <p:nvPr/>
          </p:nvSpPr>
          <p:spPr>
            <a:xfrm>
              <a:off x="8146912" y="5190759"/>
              <a:ext cx="914400" cy="307257"/>
            </a:xfrm>
            <a:prstGeom prst="rect">
              <a:avLst/>
            </a:prstGeom>
          </p:spPr>
          <p:txBody>
            <a:bodyPr wrap="square">
              <a:spAutoFit/>
            </a:bodyPr>
            <a:lstStyle/>
            <a:p>
              <a:pPr algn="ctr"/>
              <a:r>
                <a:rPr lang="en-US" altLang="zh-CN" b="1" dirty="0">
                  <a:latin typeface="Microsoft YaHei" panose="020B0503020204020204" pitchFamily="34" charset="-122"/>
                  <a:ea typeface="Microsoft YaHei" panose="020B0503020204020204" pitchFamily="34" charset="-122"/>
                </a:rPr>
                <a:t>replica3</a:t>
              </a:r>
              <a:endParaRPr lang="zh-CN" altLang="en-US" dirty="0"/>
            </a:p>
          </p:txBody>
        </p:sp>
        <p:sp>
          <p:nvSpPr>
            <p:cNvPr id="25" name="矩形 24">
              <a:extLst>
                <a:ext uri="{FF2B5EF4-FFF2-40B4-BE49-F238E27FC236}">
                  <a16:creationId xmlns:a16="http://schemas.microsoft.com/office/drawing/2014/main" id="{21D0DA20-50BC-E045-A081-D5E793005712}"/>
                </a:ext>
              </a:extLst>
            </p:cNvPr>
            <p:cNvSpPr/>
            <p:nvPr/>
          </p:nvSpPr>
          <p:spPr>
            <a:xfrm>
              <a:off x="6739294" y="2331531"/>
              <a:ext cx="965887" cy="307257"/>
            </a:xfrm>
            <a:prstGeom prst="rect">
              <a:avLst/>
            </a:prstGeom>
          </p:spPr>
          <p:txBody>
            <a:bodyPr wrap="none">
              <a:spAutoFit/>
            </a:bodyPr>
            <a:lstStyle/>
            <a:p>
              <a:pPr algn="ctr"/>
              <a:r>
                <a:rPr lang="en-US" altLang="zh-CN" b="1" dirty="0">
                  <a:latin typeface="Microsoft YaHei" panose="020B0503020204020204" pitchFamily="34" charset="-122"/>
                  <a:ea typeface="Microsoft YaHei" panose="020B0503020204020204" pitchFamily="34" charset="-122"/>
                </a:rPr>
                <a:t>Replica0</a:t>
              </a:r>
              <a:endParaRPr lang="zh-CN" altLang="en-US" dirty="0"/>
            </a:p>
          </p:txBody>
        </p:sp>
        <p:sp>
          <p:nvSpPr>
            <p:cNvPr id="26" name="矩形 25">
              <a:extLst>
                <a:ext uri="{FF2B5EF4-FFF2-40B4-BE49-F238E27FC236}">
                  <a16:creationId xmlns:a16="http://schemas.microsoft.com/office/drawing/2014/main" id="{DC072CE2-A8CC-0345-8048-96F031A04905}"/>
                </a:ext>
              </a:extLst>
            </p:cNvPr>
            <p:cNvSpPr/>
            <p:nvPr/>
          </p:nvSpPr>
          <p:spPr>
            <a:xfrm>
              <a:off x="5331481" y="1850725"/>
              <a:ext cx="3781511" cy="537700"/>
            </a:xfrm>
            <a:prstGeom prst="rect">
              <a:avLst/>
            </a:prstGeom>
          </p:spPr>
          <p:txBody>
            <a:bodyPr wrap="square">
              <a:spAutoFit/>
            </a:bodyPr>
            <a:lstStyle/>
            <a:p>
              <a:pPr algn="ctr"/>
              <a:r>
                <a:rPr lang="en-US" altLang="zh-CN" b="1" dirty="0">
                  <a:latin typeface="Microsoft YaHei" panose="020B0503020204020204" pitchFamily="34" charset="-122"/>
                  <a:ea typeface="Microsoft YaHei" panose="020B0503020204020204" pitchFamily="34" charset="-122"/>
                </a:rPr>
                <a:t>(P-sig0, P-sig1, P-sig3)</a:t>
              </a:r>
            </a:p>
            <a:p>
              <a:pPr algn="ctr"/>
              <a:r>
                <a:rPr lang="zh-CN" altLang="en-US" b="1" dirty="0">
                  <a:latin typeface="Microsoft YaHei" panose="020B0503020204020204" pitchFamily="34" charset="-122"/>
                  <a:ea typeface="Microsoft YaHei" panose="020B0503020204020204" pitchFamily="34" charset="-122"/>
                </a:rPr>
                <a:t> </a:t>
              </a:r>
              <a:r>
                <a:rPr lang="en-US" altLang="zh-CN" b="1" dirty="0">
                  <a:latin typeface="Microsoft YaHei" panose="020B0503020204020204" pitchFamily="34" charset="-122"/>
                  <a:ea typeface="Microsoft YaHei" panose="020B0503020204020204" pitchFamily="34" charset="-122"/>
                </a:rPr>
                <a:t>-&gt;</a:t>
              </a:r>
              <a:r>
                <a:rPr lang="zh-CN" altLang="en-US" b="1" dirty="0">
                  <a:latin typeface="Microsoft YaHei" panose="020B0503020204020204" pitchFamily="34" charset="-122"/>
                  <a:ea typeface="Microsoft YaHei" panose="020B0503020204020204" pitchFamily="34" charset="-122"/>
                </a:rPr>
                <a:t> </a:t>
              </a:r>
              <a:r>
                <a:rPr lang="en-US" altLang="zh-CN" b="1" dirty="0">
                  <a:latin typeface="Microsoft YaHei" panose="020B0503020204020204" pitchFamily="34" charset="-122"/>
                  <a:ea typeface="Microsoft YaHei" panose="020B0503020204020204" pitchFamily="34" charset="-122"/>
                </a:rPr>
                <a:t>signature(QC)</a:t>
              </a:r>
              <a:endParaRPr lang="zh-CN" altLang="en-US" dirty="0"/>
            </a:p>
          </p:txBody>
        </p:sp>
      </p:grpSp>
      <p:sp>
        <p:nvSpPr>
          <p:cNvPr id="27" name="灯片编号占位符 2">
            <a:extLst>
              <a:ext uri="{FF2B5EF4-FFF2-40B4-BE49-F238E27FC236}">
                <a16:creationId xmlns:a16="http://schemas.microsoft.com/office/drawing/2014/main" id="{4B70BEA4-E7DA-F248-9DAA-97951BCC08D4}"/>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128</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40618119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lang="en-US" altLang="zh-CN" dirty="0" err="1"/>
              <a:t>Hotstuff</a:t>
            </a:r>
            <a:r>
              <a:rPr lang="zh-CN" altLang="en-US" dirty="0"/>
              <a:t>（基本方案）</a:t>
            </a:r>
            <a:endParaRPr kumimoji="1" lang="zh-CN" altLang="en-US" sz="4000" dirty="0"/>
          </a:p>
        </p:txBody>
      </p:sp>
      <p:pic>
        <p:nvPicPr>
          <p:cNvPr id="10" name="图片 9">
            <a:extLst>
              <a:ext uri="{FF2B5EF4-FFF2-40B4-BE49-F238E27FC236}">
                <a16:creationId xmlns:a16="http://schemas.microsoft.com/office/drawing/2014/main" id="{D97C0930-2B84-F544-B5F8-08D2BF140067}"/>
              </a:ext>
            </a:extLst>
          </p:cNvPr>
          <p:cNvPicPr>
            <a:picLocks noChangeAspect="1"/>
          </p:cNvPicPr>
          <p:nvPr/>
        </p:nvPicPr>
        <p:blipFill rotWithShape="1">
          <a:blip r:embed="rId3"/>
          <a:srcRect b="20514"/>
          <a:stretch/>
        </p:blipFill>
        <p:spPr>
          <a:xfrm>
            <a:off x="2310819" y="3889524"/>
            <a:ext cx="8135485" cy="2831951"/>
          </a:xfrm>
          <a:prstGeom prst="rect">
            <a:avLst/>
          </a:prstGeom>
        </p:spPr>
      </p:pic>
      <p:sp>
        <p:nvSpPr>
          <p:cNvPr id="11" name="矩形 10">
            <a:extLst>
              <a:ext uri="{FF2B5EF4-FFF2-40B4-BE49-F238E27FC236}">
                <a16:creationId xmlns:a16="http://schemas.microsoft.com/office/drawing/2014/main" id="{AD904592-E5F2-DA4A-9121-A184ADFA3C10}"/>
              </a:ext>
            </a:extLst>
          </p:cNvPr>
          <p:cNvSpPr/>
          <p:nvPr/>
        </p:nvSpPr>
        <p:spPr>
          <a:xfrm>
            <a:off x="3066194" y="6265788"/>
            <a:ext cx="1082348" cy="307777"/>
          </a:xfrm>
          <a:prstGeom prst="rect">
            <a:avLst/>
          </a:prstGeom>
        </p:spPr>
        <p:txBody>
          <a:bodyPr wrap="none">
            <a:spAutoFit/>
          </a:bodyPr>
          <a:lstStyle/>
          <a:p>
            <a:r>
              <a:rPr lang="zh-CN" altLang="en-US" sz="1400" b="1" dirty="0">
                <a:latin typeface="微软雅黑" panose="020B0503020204020204" pitchFamily="34" charset="-122"/>
                <a:ea typeface="微软雅黑" panose="020B0503020204020204" pitchFamily="34" charset="-122"/>
              </a:rPr>
              <a:t>進入新視圖</a:t>
            </a:r>
          </a:p>
        </p:txBody>
      </p:sp>
      <p:sp>
        <p:nvSpPr>
          <p:cNvPr id="12" name="矩形 11">
            <a:extLst>
              <a:ext uri="{FF2B5EF4-FFF2-40B4-BE49-F238E27FC236}">
                <a16:creationId xmlns:a16="http://schemas.microsoft.com/office/drawing/2014/main" id="{80AE851C-22F8-5F40-8C0B-E8F8C6A01047}"/>
              </a:ext>
            </a:extLst>
          </p:cNvPr>
          <p:cNvSpPr/>
          <p:nvPr/>
        </p:nvSpPr>
        <p:spPr>
          <a:xfrm>
            <a:off x="950646" y="944207"/>
            <a:ext cx="10804032" cy="2797048"/>
          </a:xfrm>
          <a:prstGeom prst="rect">
            <a:avLst/>
          </a:prstGeom>
          <a:ln>
            <a:noFill/>
          </a:ln>
        </p:spPr>
        <p:txBody>
          <a:bodyPr wrap="square">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通過門限簽名把</a:t>
            </a:r>
            <a:r>
              <a:rPr lang="en-US" altLang="zh-CN" sz="2400" b="1" dirty="0">
                <a:latin typeface="微软雅黑" panose="020B0503020204020204" pitchFamily="34" charset="-122"/>
                <a:ea typeface="微软雅黑" panose="020B0503020204020204" pitchFamily="34" charset="-122"/>
              </a:rPr>
              <a:t>PBFT</a:t>
            </a:r>
            <a:r>
              <a:rPr lang="zh-CN" altLang="en-US" sz="2400" b="1" dirty="0">
                <a:latin typeface="微软雅黑" panose="020B0503020204020204" pitchFamily="34" charset="-122"/>
                <a:ea typeface="微软雅黑" panose="020B0503020204020204" pitchFamily="34" charset="-122"/>
              </a:rPr>
              <a:t>的流程改成了四階段算法（去除了客戶請求和回復客戶兩個階段），存在以下特點：</a:t>
            </a:r>
            <a:endParaRPr lang="en-US" altLang="zh-CN" sz="2400" b="1"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每次交互只在</a:t>
            </a:r>
            <a:r>
              <a:rPr lang="en-US" altLang="zh-CN" sz="2400" dirty="0">
                <a:latin typeface="微软雅黑" panose="020B0503020204020204" pitchFamily="34" charset="-122"/>
                <a:ea typeface="微软雅黑" panose="020B0503020204020204" pitchFamily="34" charset="-122"/>
              </a:rPr>
              <a:t>Leader</a:t>
            </a:r>
            <a:r>
              <a:rPr lang="zh-CN" altLang="en-US" sz="2400" dirty="0">
                <a:latin typeface="微软雅黑" panose="020B0503020204020204" pitchFamily="34" charset="-122"/>
                <a:ea typeface="微软雅黑" panose="020B0503020204020204" pitchFamily="34" charset="-122"/>
              </a:rPr>
              <a:t>和其他節點間進行，無需所有節點都進行廣播，减少通信複雜度（</a:t>
            </a:r>
            <a:r>
              <a:rPr lang="en-US" altLang="zh-CN" sz="2400" dirty="0">
                <a:latin typeface="微软雅黑" panose="020B0503020204020204" pitchFamily="34" charset="-122"/>
                <a:ea typeface="微软雅黑" panose="020B0503020204020204" pitchFamily="34" charset="-122"/>
              </a:rPr>
              <a:t>O(n</a:t>
            </a:r>
            <a:r>
              <a:rPr lang="en-US" altLang="zh-CN" sz="2400" baseline="30000" dirty="0">
                <a:latin typeface="微软雅黑" panose="020B0503020204020204" pitchFamily="34" charset="-122"/>
                <a:ea typeface="微软雅黑" panose="020B0503020204020204" pitchFamily="34" charset="-122"/>
              </a:rPr>
              <a:t>2</a:t>
            </a:r>
            <a:r>
              <a:rPr lang="en-US" altLang="zh-CN" sz="2400" dirty="0">
                <a:latin typeface="微软雅黑" panose="020B0503020204020204" pitchFamily="34" charset="-122"/>
                <a:ea typeface="微软雅黑" panose="020B0503020204020204" pitchFamily="34" charset="-122"/>
              </a:rPr>
              <a:t>) -&gt; O(n)</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每個階段都是</a:t>
            </a:r>
            <a:r>
              <a:rPr lang="zh-CN" altLang="en-US" sz="2400" b="1" dirty="0">
                <a:solidFill>
                  <a:srgbClr val="C00000"/>
                </a:solidFill>
                <a:latin typeface="微软雅黑" panose="020B0503020204020204" pitchFamily="34" charset="-122"/>
                <a:ea typeface="微软雅黑" panose="020B0503020204020204" pitchFamily="34" charset="-122"/>
              </a:rPr>
              <a:t>同構</a:t>
            </a:r>
            <a:r>
              <a:rPr lang="zh-CN" altLang="en-US" sz="2400" dirty="0">
                <a:latin typeface="微软雅黑" panose="020B0503020204020204" pitchFamily="34" charset="-122"/>
                <a:ea typeface="微软雅黑" panose="020B0503020204020204" pitchFamily="34" charset="-122"/>
              </a:rPr>
              <a:t>的</a:t>
            </a:r>
          </a:p>
        </p:txBody>
      </p:sp>
      <p:sp>
        <p:nvSpPr>
          <p:cNvPr id="6" name="灯片编号占位符 2">
            <a:extLst>
              <a:ext uri="{FF2B5EF4-FFF2-40B4-BE49-F238E27FC236}">
                <a16:creationId xmlns:a16="http://schemas.microsoft.com/office/drawing/2014/main" id="{E9E49C32-32B9-3E45-B429-EC8B429288DC}"/>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129</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57654142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lang="en-US" altLang="zh-CN" dirty="0" err="1"/>
              <a:t>Hotstuff</a:t>
            </a:r>
            <a:r>
              <a:rPr lang="zh-CN" altLang="en-US" dirty="0"/>
              <a:t>（流水綫方案）</a:t>
            </a:r>
            <a:endParaRPr kumimoji="1" lang="zh-CN" altLang="en-US" sz="4000" dirty="0"/>
          </a:p>
        </p:txBody>
      </p:sp>
      <p:pic>
        <p:nvPicPr>
          <p:cNvPr id="10" name="图片 9">
            <a:extLst>
              <a:ext uri="{FF2B5EF4-FFF2-40B4-BE49-F238E27FC236}">
                <a16:creationId xmlns:a16="http://schemas.microsoft.com/office/drawing/2014/main" id="{C571DE13-2E94-9244-A968-313C9531343D}"/>
              </a:ext>
            </a:extLst>
          </p:cNvPr>
          <p:cNvPicPr>
            <a:picLocks noChangeAspect="1"/>
          </p:cNvPicPr>
          <p:nvPr/>
        </p:nvPicPr>
        <p:blipFill>
          <a:blip r:embed="rId3"/>
          <a:stretch>
            <a:fillRect/>
          </a:stretch>
        </p:blipFill>
        <p:spPr>
          <a:xfrm>
            <a:off x="1360665" y="3596865"/>
            <a:ext cx="9993135" cy="2708826"/>
          </a:xfrm>
          <a:prstGeom prst="rect">
            <a:avLst/>
          </a:prstGeom>
        </p:spPr>
      </p:pic>
      <p:sp>
        <p:nvSpPr>
          <p:cNvPr id="11" name="矩形 10">
            <a:extLst>
              <a:ext uri="{FF2B5EF4-FFF2-40B4-BE49-F238E27FC236}">
                <a16:creationId xmlns:a16="http://schemas.microsoft.com/office/drawing/2014/main" id="{ED598BB1-0D09-2445-A813-56E25E5D17D0}"/>
              </a:ext>
            </a:extLst>
          </p:cNvPr>
          <p:cNvSpPr/>
          <p:nvPr/>
        </p:nvSpPr>
        <p:spPr>
          <a:xfrm>
            <a:off x="967409" y="1018727"/>
            <a:ext cx="10681251" cy="2242409"/>
          </a:xfrm>
          <a:prstGeom prst="rect">
            <a:avLst/>
          </a:prstGeom>
          <a:ln>
            <a:solidFill>
              <a:srgbClr val="00B0F0"/>
            </a:solidFill>
          </a:ln>
        </p:spPr>
        <p:txBody>
          <a:bodyPr wrap="square">
            <a:spAutoFit/>
          </a:bodyPr>
          <a:lstStyle/>
          <a:p>
            <a:pPr>
              <a:lnSpc>
                <a:spcPct val="150000"/>
              </a:lnSpc>
            </a:pPr>
            <a:r>
              <a:rPr lang="zh-CN" altLang="en-US" sz="2400" b="1" dirty="0">
                <a:solidFill>
                  <a:srgbClr val="C00000"/>
                </a:solidFill>
                <a:latin typeface="微软雅黑" panose="020B0503020204020204" pitchFamily="34" charset="-122"/>
                <a:ea typeface="微软雅黑" panose="020B0503020204020204" pitchFamily="34" charset="-122"/>
              </a:rPr>
              <a:t>基本方案存在的問題：</a:t>
            </a:r>
            <a:r>
              <a:rPr lang="zh-CN" altLang="en-US" sz="2400" dirty="0">
                <a:latin typeface="微软雅黑" panose="020B0503020204020204" pitchFamily="34" charset="-122"/>
                <a:ea typeface="微软雅黑" panose="020B0503020204020204" pitchFamily="34" charset="-122"/>
              </a:rPr>
              <a:t>四階段過程中，每個節點都需要廣播準備、預提交、提交三次信息</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zh-CN" altLang="en-US" sz="2400" b="1" dirty="0">
                <a:solidFill>
                  <a:srgbClr val="C00000"/>
                </a:solidFill>
                <a:latin typeface="微软雅黑" panose="020B0503020204020204" pitchFamily="34" charset="-122"/>
                <a:ea typeface="微软雅黑" panose="020B0503020204020204" pitchFamily="34" charset="-122"/>
              </a:rPr>
              <a:t>解决方案：</a:t>
            </a:r>
            <a:r>
              <a:rPr lang="zh-CN" altLang="en-US" sz="2400" dirty="0">
                <a:latin typeface="微软雅黑" panose="020B0503020204020204" pitchFamily="34" charset="-122"/>
                <a:ea typeface="微软雅黑" panose="020B0503020204020204" pitchFamily="34" charset="-122"/>
              </a:rPr>
              <a:t>每個區塊都引用上一個區塊，幷只進行一個階段的投票。當區塊後面鏈接三個區塊時，相當于完成了四階段共識，處于可執行狀態</a:t>
            </a:r>
            <a:endParaRPr lang="zh-CN" altLang="en-US" sz="2400" dirty="0"/>
          </a:p>
        </p:txBody>
      </p:sp>
      <p:sp>
        <p:nvSpPr>
          <p:cNvPr id="5" name="灯片编号占位符 2">
            <a:extLst>
              <a:ext uri="{FF2B5EF4-FFF2-40B4-BE49-F238E27FC236}">
                <a16:creationId xmlns:a16="http://schemas.microsoft.com/office/drawing/2014/main" id="{1118480E-D639-FB4E-BEFF-C9621B7EC814}"/>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130</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289104732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1A3761-6D96-3942-8DD1-000A8F11A036}"/>
              </a:ext>
            </a:extLst>
          </p:cNvPr>
          <p:cNvSpPr>
            <a:spLocks noGrp="1"/>
          </p:cNvSpPr>
          <p:nvPr>
            <p:ph type="title"/>
          </p:nvPr>
        </p:nvSpPr>
        <p:spPr/>
        <p:txBody>
          <a:bodyPr>
            <a:normAutofit/>
          </a:bodyPr>
          <a:lstStyle/>
          <a:p>
            <a:r>
              <a:rPr lang="en-US" altLang="zh-CN" dirty="0" err="1"/>
              <a:t>Hotstuff</a:t>
            </a:r>
            <a:r>
              <a:rPr lang="zh-CN" altLang="en-US" dirty="0"/>
              <a:t>（流水綫方案）</a:t>
            </a:r>
            <a:endParaRPr kumimoji="1" lang="zh-CN" altLang="en-US" sz="4000" dirty="0"/>
          </a:p>
        </p:txBody>
      </p:sp>
      <p:grpSp>
        <p:nvGrpSpPr>
          <p:cNvPr id="3" name="组合 2">
            <a:extLst>
              <a:ext uri="{FF2B5EF4-FFF2-40B4-BE49-F238E27FC236}">
                <a16:creationId xmlns:a16="http://schemas.microsoft.com/office/drawing/2014/main" id="{1DD18E09-A4D7-554F-9373-8F9F46574E06}"/>
              </a:ext>
            </a:extLst>
          </p:cNvPr>
          <p:cNvGrpSpPr/>
          <p:nvPr/>
        </p:nvGrpSpPr>
        <p:grpSpPr>
          <a:xfrm>
            <a:off x="996682" y="3429000"/>
            <a:ext cx="9976875" cy="2924334"/>
            <a:chOff x="828502" y="4237133"/>
            <a:chExt cx="7299498" cy="2139565"/>
          </a:xfrm>
        </p:grpSpPr>
        <p:sp>
          <p:nvSpPr>
            <p:cNvPr id="10" name="矩形 9">
              <a:extLst>
                <a:ext uri="{FF2B5EF4-FFF2-40B4-BE49-F238E27FC236}">
                  <a16:creationId xmlns:a16="http://schemas.microsoft.com/office/drawing/2014/main" id="{F161413A-D420-2A45-9C91-DEC2835EC6A1}"/>
                </a:ext>
              </a:extLst>
            </p:cNvPr>
            <p:cNvSpPr/>
            <p:nvPr/>
          </p:nvSpPr>
          <p:spPr>
            <a:xfrm>
              <a:off x="2390938" y="4284077"/>
              <a:ext cx="719411" cy="247700"/>
            </a:xfrm>
            <a:prstGeom prst="rect">
              <a:avLst/>
            </a:prstGeom>
          </p:spPr>
          <p:txBody>
            <a:bodyPr wrap="none">
              <a:spAutoFit/>
            </a:bodyPr>
            <a:lstStyle/>
            <a:p>
              <a:r>
                <a:rPr lang="en-US" altLang="zh-CN" sz="1600" b="1" dirty="0">
                  <a:latin typeface="Microsoft YaHei" panose="020B0503020204020204" pitchFamily="34" charset="-122"/>
                  <a:ea typeface="Microsoft YaHei" panose="020B0503020204020204" pitchFamily="34" charset="-122"/>
                </a:rPr>
                <a:t>Prepare</a:t>
              </a:r>
              <a:endParaRPr lang="zh-CN" altLang="en-US" sz="1600" b="1" dirty="0"/>
            </a:p>
          </p:txBody>
        </p:sp>
        <p:sp>
          <p:nvSpPr>
            <p:cNvPr id="11" name="矩形 10">
              <a:extLst>
                <a:ext uri="{FF2B5EF4-FFF2-40B4-BE49-F238E27FC236}">
                  <a16:creationId xmlns:a16="http://schemas.microsoft.com/office/drawing/2014/main" id="{D2ADD566-3C24-8940-855D-E50CFB56DC7B}"/>
                </a:ext>
              </a:extLst>
            </p:cNvPr>
            <p:cNvSpPr/>
            <p:nvPr/>
          </p:nvSpPr>
          <p:spPr>
            <a:xfrm>
              <a:off x="1479550" y="4284077"/>
              <a:ext cx="912692" cy="427846"/>
            </a:xfrm>
            <a:prstGeom prst="rect">
              <a:avLst/>
            </a:prstGeom>
          </p:spPr>
          <p:txBody>
            <a:bodyPr wrap="none">
              <a:spAutoFit/>
            </a:bodyPr>
            <a:lstStyle/>
            <a:p>
              <a:r>
                <a:rPr lang="en-US" altLang="zh-CN" sz="1600" b="1" dirty="0">
                  <a:latin typeface="Microsoft YaHei" panose="020B0503020204020204" pitchFamily="34" charset="-122"/>
                  <a:ea typeface="Microsoft YaHei" panose="020B0503020204020204" pitchFamily="34" charset="-122"/>
                </a:rPr>
                <a:t>New-View</a:t>
              </a:r>
            </a:p>
            <a:p>
              <a:pPr algn="ctr"/>
              <a:r>
                <a:rPr lang="en-US" altLang="zh-CN" sz="1600" b="1" dirty="0">
                  <a:latin typeface="Microsoft YaHei" panose="020B0503020204020204" pitchFamily="34" charset="-122"/>
                  <a:ea typeface="Microsoft YaHei" panose="020B0503020204020204" pitchFamily="34" charset="-122"/>
                </a:rPr>
                <a:t>(n)</a:t>
              </a:r>
              <a:endParaRPr lang="zh-CN" altLang="en-US" sz="1600" b="1" dirty="0"/>
            </a:p>
          </p:txBody>
        </p:sp>
        <p:sp>
          <p:nvSpPr>
            <p:cNvPr id="12" name="矩形 11">
              <a:extLst>
                <a:ext uri="{FF2B5EF4-FFF2-40B4-BE49-F238E27FC236}">
                  <a16:creationId xmlns:a16="http://schemas.microsoft.com/office/drawing/2014/main" id="{89BCBC3F-185B-6E4A-B018-24C6E4ABC3E8}"/>
                </a:ext>
              </a:extLst>
            </p:cNvPr>
            <p:cNvSpPr/>
            <p:nvPr/>
          </p:nvSpPr>
          <p:spPr>
            <a:xfrm>
              <a:off x="3297705" y="4284076"/>
              <a:ext cx="719411" cy="427846"/>
            </a:xfrm>
            <a:prstGeom prst="rect">
              <a:avLst/>
            </a:prstGeom>
          </p:spPr>
          <p:txBody>
            <a:bodyPr wrap="none">
              <a:spAutoFit/>
            </a:bodyPr>
            <a:lstStyle/>
            <a:p>
              <a:r>
                <a:rPr lang="en-US" altLang="zh-CN" sz="1600" b="1" dirty="0">
                  <a:latin typeface="Microsoft YaHei" panose="020B0503020204020204" pitchFamily="34" charset="-122"/>
                  <a:ea typeface="Microsoft YaHei" panose="020B0503020204020204" pitchFamily="34" charset="-122"/>
                </a:rPr>
                <a:t>Prepare</a:t>
              </a:r>
            </a:p>
            <a:p>
              <a:r>
                <a:rPr lang="en-US" altLang="zh-CN" sz="1600" b="1" dirty="0">
                  <a:latin typeface="Microsoft YaHei" panose="020B0503020204020204" pitchFamily="34" charset="-122"/>
                  <a:ea typeface="Microsoft YaHei" panose="020B0503020204020204" pitchFamily="34" charset="-122"/>
                </a:rPr>
                <a:t>-Vote</a:t>
              </a:r>
              <a:endParaRPr lang="zh-CN" altLang="en-US" sz="1600" b="1" dirty="0"/>
            </a:p>
          </p:txBody>
        </p:sp>
        <p:sp>
          <p:nvSpPr>
            <p:cNvPr id="13" name="矩形 12">
              <a:extLst>
                <a:ext uri="{FF2B5EF4-FFF2-40B4-BE49-F238E27FC236}">
                  <a16:creationId xmlns:a16="http://schemas.microsoft.com/office/drawing/2014/main" id="{C02C4A64-F330-F641-8385-D7CC62DC63C3}"/>
                </a:ext>
              </a:extLst>
            </p:cNvPr>
            <p:cNvSpPr/>
            <p:nvPr/>
          </p:nvSpPr>
          <p:spPr>
            <a:xfrm>
              <a:off x="850050" y="4635239"/>
              <a:ext cx="642943" cy="427846"/>
            </a:xfrm>
            <a:prstGeom prst="rect">
              <a:avLst/>
            </a:prstGeom>
          </p:spPr>
          <p:txBody>
            <a:bodyPr wrap="none">
              <a:spAutoFit/>
            </a:bodyPr>
            <a:lstStyle/>
            <a:p>
              <a:pPr algn="ctr"/>
              <a:r>
                <a:rPr lang="en-US" altLang="zh-CN" sz="1600" b="1" dirty="0">
                  <a:latin typeface="Microsoft YaHei" panose="020B0503020204020204" pitchFamily="34" charset="-122"/>
                  <a:ea typeface="Microsoft YaHei" panose="020B0503020204020204" pitchFamily="34" charset="-122"/>
                </a:rPr>
                <a:t>Leader</a:t>
              </a:r>
            </a:p>
            <a:p>
              <a:pPr algn="ctr"/>
              <a:r>
                <a:rPr lang="en-US" altLang="zh-CN" sz="1600" b="1" dirty="0">
                  <a:latin typeface="Microsoft YaHei" panose="020B0503020204020204" pitchFamily="34" charset="-122"/>
                  <a:ea typeface="Microsoft YaHei" panose="020B0503020204020204" pitchFamily="34" charset="-122"/>
                </a:rPr>
                <a:t>n</a:t>
              </a:r>
              <a:endParaRPr lang="zh-CN" altLang="en-US" sz="1600" b="1" dirty="0"/>
            </a:p>
          </p:txBody>
        </p:sp>
        <p:sp>
          <p:nvSpPr>
            <p:cNvPr id="14" name="矩形 13">
              <a:extLst>
                <a:ext uri="{FF2B5EF4-FFF2-40B4-BE49-F238E27FC236}">
                  <a16:creationId xmlns:a16="http://schemas.microsoft.com/office/drawing/2014/main" id="{193EFB33-F31A-EE4D-9B58-9205DCB4E1AB}"/>
                </a:ext>
              </a:extLst>
            </p:cNvPr>
            <p:cNvSpPr/>
            <p:nvPr/>
          </p:nvSpPr>
          <p:spPr>
            <a:xfrm>
              <a:off x="828502" y="5945811"/>
              <a:ext cx="642943" cy="427846"/>
            </a:xfrm>
            <a:prstGeom prst="rect">
              <a:avLst/>
            </a:prstGeom>
          </p:spPr>
          <p:txBody>
            <a:bodyPr wrap="none">
              <a:spAutoFit/>
            </a:bodyPr>
            <a:lstStyle/>
            <a:p>
              <a:pPr algn="ctr"/>
              <a:r>
                <a:rPr lang="en-US" altLang="zh-CN" sz="1600" b="1" dirty="0">
                  <a:latin typeface="Microsoft YaHei" panose="020B0503020204020204" pitchFamily="34" charset="-122"/>
                  <a:ea typeface="Microsoft YaHei" panose="020B0503020204020204" pitchFamily="34" charset="-122"/>
                </a:rPr>
                <a:t>Leader</a:t>
              </a:r>
            </a:p>
            <a:p>
              <a:pPr algn="ctr"/>
              <a:r>
                <a:rPr lang="en-US" altLang="zh-CN" sz="1600" b="1" dirty="0">
                  <a:latin typeface="Microsoft YaHei" panose="020B0503020204020204" pitchFamily="34" charset="-122"/>
                  <a:ea typeface="Microsoft YaHei" panose="020B0503020204020204" pitchFamily="34" charset="-122"/>
                </a:rPr>
                <a:t>n-1</a:t>
              </a:r>
              <a:endParaRPr lang="zh-CN" altLang="en-US" sz="1600" b="1" dirty="0"/>
            </a:p>
          </p:txBody>
        </p:sp>
        <p:sp>
          <p:nvSpPr>
            <p:cNvPr id="15" name="矩形 14">
              <a:extLst>
                <a:ext uri="{FF2B5EF4-FFF2-40B4-BE49-F238E27FC236}">
                  <a16:creationId xmlns:a16="http://schemas.microsoft.com/office/drawing/2014/main" id="{BDE4EC0F-8ED8-B34F-ACEB-E395D1E68CC0}"/>
                </a:ext>
              </a:extLst>
            </p:cNvPr>
            <p:cNvSpPr/>
            <p:nvPr/>
          </p:nvSpPr>
          <p:spPr>
            <a:xfrm>
              <a:off x="843049" y="5539206"/>
              <a:ext cx="642943" cy="427846"/>
            </a:xfrm>
            <a:prstGeom prst="rect">
              <a:avLst/>
            </a:prstGeom>
          </p:spPr>
          <p:txBody>
            <a:bodyPr wrap="none">
              <a:spAutoFit/>
            </a:bodyPr>
            <a:lstStyle/>
            <a:p>
              <a:pPr algn="ctr"/>
              <a:r>
                <a:rPr lang="en-US" altLang="zh-CN" sz="1600" b="1" dirty="0">
                  <a:latin typeface="Microsoft YaHei" panose="020B0503020204020204" pitchFamily="34" charset="-122"/>
                  <a:ea typeface="Microsoft YaHei" panose="020B0503020204020204" pitchFamily="34" charset="-122"/>
                </a:rPr>
                <a:t>Leader</a:t>
              </a:r>
            </a:p>
            <a:p>
              <a:pPr algn="ctr"/>
              <a:r>
                <a:rPr lang="en-US" altLang="zh-CN" sz="1600" b="1" dirty="0">
                  <a:latin typeface="Microsoft YaHei" panose="020B0503020204020204" pitchFamily="34" charset="-122"/>
                  <a:ea typeface="Microsoft YaHei" panose="020B0503020204020204" pitchFamily="34" charset="-122"/>
                </a:rPr>
                <a:t>n+1</a:t>
              </a:r>
              <a:endParaRPr lang="zh-CN" altLang="en-US" sz="1600" b="1" dirty="0"/>
            </a:p>
          </p:txBody>
        </p:sp>
        <p:sp>
          <p:nvSpPr>
            <p:cNvPr id="16" name="矩形 15">
              <a:extLst>
                <a:ext uri="{FF2B5EF4-FFF2-40B4-BE49-F238E27FC236}">
                  <a16:creationId xmlns:a16="http://schemas.microsoft.com/office/drawing/2014/main" id="{3D612E59-5B4A-2F47-9A7B-89A4EC34FB95}"/>
                </a:ext>
              </a:extLst>
            </p:cNvPr>
            <p:cNvSpPr/>
            <p:nvPr/>
          </p:nvSpPr>
          <p:spPr>
            <a:xfrm>
              <a:off x="843049" y="5095370"/>
              <a:ext cx="642943" cy="427846"/>
            </a:xfrm>
            <a:prstGeom prst="rect">
              <a:avLst/>
            </a:prstGeom>
          </p:spPr>
          <p:txBody>
            <a:bodyPr wrap="none">
              <a:spAutoFit/>
            </a:bodyPr>
            <a:lstStyle/>
            <a:p>
              <a:pPr algn="ctr"/>
              <a:r>
                <a:rPr lang="en-US" altLang="zh-CN" sz="1600" b="1" dirty="0">
                  <a:latin typeface="Microsoft YaHei" panose="020B0503020204020204" pitchFamily="34" charset="-122"/>
                  <a:ea typeface="Microsoft YaHei" panose="020B0503020204020204" pitchFamily="34" charset="-122"/>
                </a:rPr>
                <a:t>Leader</a:t>
              </a:r>
            </a:p>
            <a:p>
              <a:pPr algn="ctr"/>
              <a:r>
                <a:rPr lang="en-US" altLang="zh-CN" sz="1600" b="1" dirty="0">
                  <a:latin typeface="Microsoft YaHei" panose="020B0503020204020204" pitchFamily="34" charset="-122"/>
                  <a:ea typeface="Microsoft YaHei" panose="020B0503020204020204" pitchFamily="34" charset="-122"/>
                </a:rPr>
                <a:t>n+2</a:t>
              </a:r>
              <a:endParaRPr lang="zh-CN" altLang="en-US" sz="1600" b="1" dirty="0"/>
            </a:p>
          </p:txBody>
        </p:sp>
        <p:sp>
          <p:nvSpPr>
            <p:cNvPr id="17" name="矩形 16">
              <a:extLst>
                <a:ext uri="{FF2B5EF4-FFF2-40B4-BE49-F238E27FC236}">
                  <a16:creationId xmlns:a16="http://schemas.microsoft.com/office/drawing/2014/main" id="{0FBCF4E6-2E7A-8A4C-9A5A-E4A214600BB1}"/>
                </a:ext>
              </a:extLst>
            </p:cNvPr>
            <p:cNvSpPr/>
            <p:nvPr/>
          </p:nvSpPr>
          <p:spPr>
            <a:xfrm>
              <a:off x="1885626" y="5742495"/>
              <a:ext cx="918556" cy="427846"/>
            </a:xfrm>
            <a:prstGeom prst="rect">
              <a:avLst/>
            </a:prstGeom>
          </p:spPr>
          <p:txBody>
            <a:bodyPr wrap="none">
              <a:spAutoFit/>
            </a:bodyPr>
            <a:lstStyle/>
            <a:p>
              <a:pPr algn="ctr"/>
              <a:r>
                <a:rPr lang="en-US" altLang="zh-CN" sz="1600" b="1" dirty="0" err="1">
                  <a:latin typeface="Microsoft YaHei" panose="020B0503020204020204" pitchFamily="34" charset="-122"/>
                  <a:ea typeface="Microsoft YaHei" panose="020B0503020204020204" pitchFamily="34" charset="-122"/>
                </a:rPr>
                <a:t>GeneralQc</a:t>
              </a:r>
              <a:endParaRPr lang="en-US" altLang="zh-CN" sz="1600" b="1" dirty="0">
                <a:latin typeface="Microsoft YaHei" panose="020B0503020204020204" pitchFamily="34" charset="-122"/>
                <a:ea typeface="Microsoft YaHei" panose="020B0503020204020204" pitchFamily="34" charset="-122"/>
              </a:endParaRPr>
            </a:p>
            <a:p>
              <a:pPr algn="ctr"/>
              <a:r>
                <a:rPr lang="en-US" altLang="zh-CN" sz="1600" b="1" dirty="0">
                  <a:latin typeface="Microsoft YaHei" panose="020B0503020204020204" pitchFamily="34" charset="-122"/>
                  <a:ea typeface="Microsoft YaHei" panose="020B0503020204020204" pitchFamily="34" charset="-122"/>
                </a:rPr>
                <a:t>Bn-1</a:t>
              </a:r>
              <a:endParaRPr lang="zh-CN" altLang="en-US" sz="1600" b="1" dirty="0"/>
            </a:p>
          </p:txBody>
        </p:sp>
        <p:sp>
          <p:nvSpPr>
            <p:cNvPr id="18" name="矩形 17">
              <a:extLst>
                <a:ext uri="{FF2B5EF4-FFF2-40B4-BE49-F238E27FC236}">
                  <a16:creationId xmlns:a16="http://schemas.microsoft.com/office/drawing/2014/main" id="{70F8A9EC-F705-BF4F-B02B-90BED91B3A90}"/>
                </a:ext>
              </a:extLst>
            </p:cNvPr>
            <p:cNvSpPr/>
            <p:nvPr/>
          </p:nvSpPr>
          <p:spPr>
            <a:xfrm>
              <a:off x="5153967" y="4282881"/>
              <a:ext cx="719411" cy="247700"/>
            </a:xfrm>
            <a:prstGeom prst="rect">
              <a:avLst/>
            </a:prstGeom>
          </p:spPr>
          <p:txBody>
            <a:bodyPr wrap="none">
              <a:spAutoFit/>
            </a:bodyPr>
            <a:lstStyle/>
            <a:p>
              <a:r>
                <a:rPr lang="en-US" altLang="zh-CN" sz="1600" b="1" dirty="0">
                  <a:latin typeface="Microsoft YaHei" panose="020B0503020204020204" pitchFamily="34" charset="-122"/>
                  <a:ea typeface="Microsoft YaHei" panose="020B0503020204020204" pitchFamily="34" charset="-122"/>
                </a:rPr>
                <a:t>Prepare</a:t>
              </a:r>
              <a:endParaRPr lang="zh-CN" altLang="en-US" sz="1600" b="1" dirty="0"/>
            </a:p>
          </p:txBody>
        </p:sp>
        <p:sp>
          <p:nvSpPr>
            <p:cNvPr id="19" name="矩形 18">
              <a:extLst>
                <a:ext uri="{FF2B5EF4-FFF2-40B4-BE49-F238E27FC236}">
                  <a16:creationId xmlns:a16="http://schemas.microsoft.com/office/drawing/2014/main" id="{7A1E3D8D-3148-DA4C-8EC8-A6AB7FB148E6}"/>
                </a:ext>
              </a:extLst>
            </p:cNvPr>
            <p:cNvSpPr/>
            <p:nvPr/>
          </p:nvSpPr>
          <p:spPr>
            <a:xfrm>
              <a:off x="4123086" y="4237133"/>
              <a:ext cx="912692" cy="427846"/>
            </a:xfrm>
            <a:prstGeom prst="rect">
              <a:avLst/>
            </a:prstGeom>
          </p:spPr>
          <p:txBody>
            <a:bodyPr wrap="none">
              <a:spAutoFit/>
            </a:bodyPr>
            <a:lstStyle/>
            <a:p>
              <a:r>
                <a:rPr lang="en-US" altLang="zh-CN" sz="1600" b="1" dirty="0">
                  <a:latin typeface="Microsoft YaHei" panose="020B0503020204020204" pitchFamily="34" charset="-122"/>
                  <a:ea typeface="Microsoft YaHei" panose="020B0503020204020204" pitchFamily="34" charset="-122"/>
                </a:rPr>
                <a:t>New-View</a:t>
              </a:r>
            </a:p>
            <a:p>
              <a:pPr algn="ctr"/>
              <a:r>
                <a:rPr lang="en-US" altLang="zh-CN" sz="1600" b="1" dirty="0">
                  <a:latin typeface="Microsoft YaHei" panose="020B0503020204020204" pitchFamily="34" charset="-122"/>
                  <a:ea typeface="Microsoft YaHei" panose="020B0503020204020204" pitchFamily="34" charset="-122"/>
                </a:rPr>
                <a:t>(n+1)</a:t>
              </a:r>
              <a:endParaRPr lang="zh-CN" altLang="en-US" sz="1600" b="1" dirty="0"/>
            </a:p>
          </p:txBody>
        </p:sp>
        <p:sp>
          <p:nvSpPr>
            <p:cNvPr id="20" name="矩形 19">
              <a:extLst>
                <a:ext uri="{FF2B5EF4-FFF2-40B4-BE49-F238E27FC236}">
                  <a16:creationId xmlns:a16="http://schemas.microsoft.com/office/drawing/2014/main" id="{77F87D59-F7CA-D046-B55C-0667F1385A9E}"/>
                </a:ext>
              </a:extLst>
            </p:cNvPr>
            <p:cNvSpPr/>
            <p:nvPr/>
          </p:nvSpPr>
          <p:spPr>
            <a:xfrm>
              <a:off x="6112816" y="4260349"/>
              <a:ext cx="719411" cy="427846"/>
            </a:xfrm>
            <a:prstGeom prst="rect">
              <a:avLst/>
            </a:prstGeom>
          </p:spPr>
          <p:txBody>
            <a:bodyPr wrap="none">
              <a:spAutoFit/>
            </a:bodyPr>
            <a:lstStyle/>
            <a:p>
              <a:r>
                <a:rPr lang="en-US" altLang="zh-CN" sz="1600" b="1" dirty="0">
                  <a:latin typeface="Microsoft YaHei" panose="020B0503020204020204" pitchFamily="34" charset="-122"/>
                  <a:ea typeface="Microsoft YaHei" panose="020B0503020204020204" pitchFamily="34" charset="-122"/>
                </a:rPr>
                <a:t>Prepare</a:t>
              </a:r>
            </a:p>
            <a:p>
              <a:r>
                <a:rPr lang="en-US" altLang="zh-CN" sz="1600" b="1" dirty="0">
                  <a:latin typeface="Microsoft YaHei" panose="020B0503020204020204" pitchFamily="34" charset="-122"/>
                  <a:ea typeface="Microsoft YaHei" panose="020B0503020204020204" pitchFamily="34" charset="-122"/>
                </a:rPr>
                <a:t>-Vote</a:t>
              </a:r>
              <a:endParaRPr lang="zh-CN" altLang="en-US" sz="1600" b="1" dirty="0"/>
            </a:p>
          </p:txBody>
        </p:sp>
        <p:cxnSp>
          <p:nvCxnSpPr>
            <p:cNvPr id="21" name="直接箭头连接符 16">
              <a:extLst>
                <a:ext uri="{FF2B5EF4-FFF2-40B4-BE49-F238E27FC236}">
                  <a16:creationId xmlns:a16="http://schemas.microsoft.com/office/drawing/2014/main" id="{1EECBF00-F6E5-C641-8271-762656DF9162}"/>
                </a:ext>
              </a:extLst>
            </p:cNvPr>
            <p:cNvCxnSpPr>
              <a:cxnSpLocks/>
            </p:cNvCxnSpPr>
            <p:nvPr/>
          </p:nvCxnSpPr>
          <p:spPr>
            <a:xfrm>
              <a:off x="4095750" y="4850682"/>
              <a:ext cx="953917" cy="903968"/>
            </a:xfrm>
            <a:prstGeom prst="straightConnector1">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2" name="直接连接符 17">
              <a:extLst>
                <a:ext uri="{FF2B5EF4-FFF2-40B4-BE49-F238E27FC236}">
                  <a16:creationId xmlns:a16="http://schemas.microsoft.com/office/drawing/2014/main" id="{11980DEE-AD38-2649-91A2-2EA139FEA790}"/>
                </a:ext>
              </a:extLst>
            </p:cNvPr>
            <p:cNvCxnSpPr>
              <a:cxnSpLocks/>
            </p:cNvCxnSpPr>
            <p:nvPr/>
          </p:nvCxnSpPr>
          <p:spPr>
            <a:xfrm>
              <a:off x="1558587" y="4837982"/>
              <a:ext cx="656941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18">
              <a:extLst>
                <a:ext uri="{FF2B5EF4-FFF2-40B4-BE49-F238E27FC236}">
                  <a16:creationId xmlns:a16="http://schemas.microsoft.com/office/drawing/2014/main" id="{66852B00-852F-0C4E-9C03-F2F1CAE2E7CE}"/>
                </a:ext>
              </a:extLst>
            </p:cNvPr>
            <p:cNvCxnSpPr>
              <a:cxnSpLocks/>
            </p:cNvCxnSpPr>
            <p:nvPr/>
          </p:nvCxnSpPr>
          <p:spPr>
            <a:xfrm>
              <a:off x="1558587" y="5295182"/>
              <a:ext cx="656941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19">
              <a:extLst>
                <a:ext uri="{FF2B5EF4-FFF2-40B4-BE49-F238E27FC236}">
                  <a16:creationId xmlns:a16="http://schemas.microsoft.com/office/drawing/2014/main" id="{CFF7C817-0AD4-A34F-AB85-92A1B5968AC5}"/>
                </a:ext>
              </a:extLst>
            </p:cNvPr>
            <p:cNvCxnSpPr>
              <a:cxnSpLocks/>
            </p:cNvCxnSpPr>
            <p:nvPr/>
          </p:nvCxnSpPr>
          <p:spPr>
            <a:xfrm>
              <a:off x="1558587" y="5739018"/>
              <a:ext cx="656941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0">
              <a:extLst>
                <a:ext uri="{FF2B5EF4-FFF2-40B4-BE49-F238E27FC236}">
                  <a16:creationId xmlns:a16="http://schemas.microsoft.com/office/drawing/2014/main" id="{3DA75677-7EAA-F749-A606-13DD1AA48D4E}"/>
                </a:ext>
              </a:extLst>
            </p:cNvPr>
            <p:cNvCxnSpPr>
              <a:cxnSpLocks/>
            </p:cNvCxnSpPr>
            <p:nvPr/>
          </p:nvCxnSpPr>
          <p:spPr>
            <a:xfrm>
              <a:off x="1558587" y="6173382"/>
              <a:ext cx="651861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1">
              <a:extLst>
                <a:ext uri="{FF2B5EF4-FFF2-40B4-BE49-F238E27FC236}">
                  <a16:creationId xmlns:a16="http://schemas.microsoft.com/office/drawing/2014/main" id="{C764AA75-26E2-6741-8E88-BB9447FC4BF0}"/>
                </a:ext>
              </a:extLst>
            </p:cNvPr>
            <p:cNvCxnSpPr>
              <a:cxnSpLocks/>
            </p:cNvCxnSpPr>
            <p:nvPr/>
          </p:nvCxnSpPr>
          <p:spPr>
            <a:xfrm>
              <a:off x="2300118" y="4605382"/>
              <a:ext cx="0" cy="1752266"/>
            </a:xfrm>
            <a:prstGeom prst="line">
              <a:avLst/>
            </a:prstGeom>
            <a:ln w="9525">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2">
              <a:extLst>
                <a:ext uri="{FF2B5EF4-FFF2-40B4-BE49-F238E27FC236}">
                  <a16:creationId xmlns:a16="http://schemas.microsoft.com/office/drawing/2014/main" id="{EE08336A-F605-1A4B-9C77-C3B77A1F5E08}"/>
                </a:ext>
              </a:extLst>
            </p:cNvPr>
            <p:cNvCxnSpPr>
              <a:cxnSpLocks/>
            </p:cNvCxnSpPr>
            <p:nvPr/>
          </p:nvCxnSpPr>
          <p:spPr>
            <a:xfrm>
              <a:off x="3201818" y="4624432"/>
              <a:ext cx="0" cy="1752266"/>
            </a:xfrm>
            <a:prstGeom prst="line">
              <a:avLst/>
            </a:prstGeom>
            <a:ln w="9525">
              <a:prstDash val="dash"/>
            </a:ln>
          </p:spPr>
          <p:style>
            <a:lnRef idx="1">
              <a:schemeClr val="accent1"/>
            </a:lnRef>
            <a:fillRef idx="0">
              <a:schemeClr val="accent1"/>
            </a:fillRef>
            <a:effectRef idx="0">
              <a:schemeClr val="accent1"/>
            </a:effectRef>
            <a:fontRef idx="minor">
              <a:schemeClr val="tx1"/>
            </a:fontRef>
          </p:style>
        </p:cxnSp>
        <p:cxnSp>
          <p:nvCxnSpPr>
            <p:cNvPr id="28" name="直接连接符 23">
              <a:extLst>
                <a:ext uri="{FF2B5EF4-FFF2-40B4-BE49-F238E27FC236}">
                  <a16:creationId xmlns:a16="http://schemas.microsoft.com/office/drawing/2014/main" id="{6104C9BC-FFB0-944D-AAB1-CE6D516B7EC5}"/>
                </a:ext>
              </a:extLst>
            </p:cNvPr>
            <p:cNvCxnSpPr>
              <a:cxnSpLocks/>
            </p:cNvCxnSpPr>
            <p:nvPr/>
          </p:nvCxnSpPr>
          <p:spPr>
            <a:xfrm>
              <a:off x="4090818" y="4618082"/>
              <a:ext cx="0" cy="1752266"/>
            </a:xfrm>
            <a:prstGeom prst="line">
              <a:avLst/>
            </a:prstGeom>
            <a:ln w="9525">
              <a:prstDash val="dash"/>
            </a:ln>
          </p:spPr>
          <p:style>
            <a:lnRef idx="1">
              <a:schemeClr val="accent1"/>
            </a:lnRef>
            <a:fillRef idx="0">
              <a:schemeClr val="accent1"/>
            </a:fillRef>
            <a:effectRef idx="0">
              <a:schemeClr val="accent1"/>
            </a:effectRef>
            <a:fontRef idx="minor">
              <a:schemeClr val="tx1"/>
            </a:fontRef>
          </p:style>
        </p:cxnSp>
        <p:cxnSp>
          <p:nvCxnSpPr>
            <p:cNvPr id="29" name="直接连接符 24">
              <a:extLst>
                <a:ext uri="{FF2B5EF4-FFF2-40B4-BE49-F238E27FC236}">
                  <a16:creationId xmlns:a16="http://schemas.microsoft.com/office/drawing/2014/main" id="{AA95BDDC-73A7-D943-A75B-ABECA1407774}"/>
                </a:ext>
              </a:extLst>
            </p:cNvPr>
            <p:cNvCxnSpPr>
              <a:cxnSpLocks/>
            </p:cNvCxnSpPr>
            <p:nvPr/>
          </p:nvCxnSpPr>
          <p:spPr>
            <a:xfrm>
              <a:off x="5049668" y="4618082"/>
              <a:ext cx="0" cy="1752266"/>
            </a:xfrm>
            <a:prstGeom prst="line">
              <a:avLst/>
            </a:prstGeom>
            <a:ln w="9525">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25">
              <a:extLst>
                <a:ext uri="{FF2B5EF4-FFF2-40B4-BE49-F238E27FC236}">
                  <a16:creationId xmlns:a16="http://schemas.microsoft.com/office/drawing/2014/main" id="{3195E3B6-2F79-2240-B3BA-0DE0973AE0D8}"/>
                </a:ext>
              </a:extLst>
            </p:cNvPr>
            <p:cNvCxnSpPr>
              <a:cxnSpLocks/>
            </p:cNvCxnSpPr>
            <p:nvPr/>
          </p:nvCxnSpPr>
          <p:spPr>
            <a:xfrm>
              <a:off x="6008518" y="4599032"/>
              <a:ext cx="0" cy="1752266"/>
            </a:xfrm>
            <a:prstGeom prst="line">
              <a:avLst/>
            </a:prstGeom>
            <a:ln w="9525">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26">
              <a:extLst>
                <a:ext uri="{FF2B5EF4-FFF2-40B4-BE49-F238E27FC236}">
                  <a16:creationId xmlns:a16="http://schemas.microsoft.com/office/drawing/2014/main" id="{B6D03CF8-A33C-4144-91B4-86510FDB50D6}"/>
                </a:ext>
              </a:extLst>
            </p:cNvPr>
            <p:cNvCxnSpPr>
              <a:cxnSpLocks/>
            </p:cNvCxnSpPr>
            <p:nvPr/>
          </p:nvCxnSpPr>
          <p:spPr>
            <a:xfrm>
              <a:off x="6967368" y="4605382"/>
              <a:ext cx="0" cy="1752266"/>
            </a:xfrm>
            <a:prstGeom prst="line">
              <a:avLst/>
            </a:prstGeom>
            <a:ln w="9525">
              <a:prstDash val="dash"/>
            </a:ln>
          </p:spPr>
          <p:style>
            <a:lnRef idx="1">
              <a:schemeClr val="accent1"/>
            </a:lnRef>
            <a:fillRef idx="0">
              <a:schemeClr val="accent1"/>
            </a:fillRef>
            <a:effectRef idx="0">
              <a:schemeClr val="accent1"/>
            </a:effectRef>
            <a:fontRef idx="minor">
              <a:schemeClr val="tx1"/>
            </a:fontRef>
          </p:style>
        </p:cxnSp>
        <p:cxnSp>
          <p:nvCxnSpPr>
            <p:cNvPr id="32" name="直接箭头连接符 27">
              <a:extLst>
                <a:ext uri="{FF2B5EF4-FFF2-40B4-BE49-F238E27FC236}">
                  <a16:creationId xmlns:a16="http://schemas.microsoft.com/office/drawing/2014/main" id="{60031CF0-F037-4945-BD6E-4249E5F9790D}"/>
                </a:ext>
              </a:extLst>
            </p:cNvPr>
            <p:cNvCxnSpPr>
              <a:cxnSpLocks/>
            </p:cNvCxnSpPr>
            <p:nvPr/>
          </p:nvCxnSpPr>
          <p:spPr>
            <a:xfrm flipV="1">
              <a:off x="1553656" y="4837982"/>
              <a:ext cx="746462" cy="457200"/>
            </a:xfrm>
            <a:prstGeom prst="straightConnector1">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3" name="直接箭头连接符 28">
              <a:extLst>
                <a:ext uri="{FF2B5EF4-FFF2-40B4-BE49-F238E27FC236}">
                  <a16:creationId xmlns:a16="http://schemas.microsoft.com/office/drawing/2014/main" id="{D0AF4FEF-A9D7-5745-9276-42EEA9C6EB4E}"/>
                </a:ext>
              </a:extLst>
            </p:cNvPr>
            <p:cNvCxnSpPr>
              <a:cxnSpLocks/>
            </p:cNvCxnSpPr>
            <p:nvPr/>
          </p:nvCxnSpPr>
          <p:spPr>
            <a:xfrm flipV="1">
              <a:off x="1576193" y="4837983"/>
              <a:ext cx="719551" cy="904512"/>
            </a:xfrm>
            <a:prstGeom prst="straightConnector1">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4" name="直接箭头连接符 29">
              <a:extLst>
                <a:ext uri="{FF2B5EF4-FFF2-40B4-BE49-F238E27FC236}">
                  <a16:creationId xmlns:a16="http://schemas.microsoft.com/office/drawing/2014/main" id="{7AEB7512-518D-8C4B-B21E-095343BB754E}"/>
                </a:ext>
              </a:extLst>
            </p:cNvPr>
            <p:cNvCxnSpPr>
              <a:cxnSpLocks/>
            </p:cNvCxnSpPr>
            <p:nvPr/>
          </p:nvCxnSpPr>
          <p:spPr>
            <a:xfrm flipV="1">
              <a:off x="1564103" y="4861710"/>
              <a:ext cx="724523" cy="1315149"/>
            </a:xfrm>
            <a:prstGeom prst="straightConnector1">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5" name="直接箭头连接符 30">
              <a:extLst>
                <a:ext uri="{FF2B5EF4-FFF2-40B4-BE49-F238E27FC236}">
                  <a16:creationId xmlns:a16="http://schemas.microsoft.com/office/drawing/2014/main" id="{773D24C3-1880-4041-AD98-BF41A6E0A5F0}"/>
                </a:ext>
              </a:extLst>
            </p:cNvPr>
            <p:cNvCxnSpPr>
              <a:cxnSpLocks/>
            </p:cNvCxnSpPr>
            <p:nvPr/>
          </p:nvCxnSpPr>
          <p:spPr>
            <a:xfrm>
              <a:off x="2295744" y="4839178"/>
              <a:ext cx="896743" cy="449322"/>
            </a:xfrm>
            <a:prstGeom prst="straightConnector1">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6" name="直接箭头连接符 31">
              <a:extLst>
                <a:ext uri="{FF2B5EF4-FFF2-40B4-BE49-F238E27FC236}">
                  <a16:creationId xmlns:a16="http://schemas.microsoft.com/office/drawing/2014/main" id="{45185D77-BAEE-FA48-807B-67CC3E73B088}"/>
                </a:ext>
              </a:extLst>
            </p:cNvPr>
            <p:cNvCxnSpPr>
              <a:cxnSpLocks/>
            </p:cNvCxnSpPr>
            <p:nvPr/>
          </p:nvCxnSpPr>
          <p:spPr>
            <a:xfrm>
              <a:off x="2293557" y="4850682"/>
              <a:ext cx="898930" cy="875387"/>
            </a:xfrm>
            <a:prstGeom prst="straightConnector1">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7" name="直接箭头连接符 32">
              <a:extLst>
                <a:ext uri="{FF2B5EF4-FFF2-40B4-BE49-F238E27FC236}">
                  <a16:creationId xmlns:a16="http://schemas.microsoft.com/office/drawing/2014/main" id="{7F6AED38-44C5-2646-9BEB-A04DE72536DF}"/>
                </a:ext>
              </a:extLst>
            </p:cNvPr>
            <p:cNvCxnSpPr>
              <a:cxnSpLocks/>
            </p:cNvCxnSpPr>
            <p:nvPr/>
          </p:nvCxnSpPr>
          <p:spPr>
            <a:xfrm>
              <a:off x="2314271" y="4849487"/>
              <a:ext cx="878216" cy="1317661"/>
            </a:xfrm>
            <a:prstGeom prst="straightConnector1">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8" name="直接箭头连接符 33">
              <a:extLst>
                <a:ext uri="{FF2B5EF4-FFF2-40B4-BE49-F238E27FC236}">
                  <a16:creationId xmlns:a16="http://schemas.microsoft.com/office/drawing/2014/main" id="{FD0D5248-ECBB-E34F-8E9D-71E6B598B88C}"/>
                </a:ext>
              </a:extLst>
            </p:cNvPr>
            <p:cNvCxnSpPr>
              <a:cxnSpLocks/>
            </p:cNvCxnSpPr>
            <p:nvPr/>
          </p:nvCxnSpPr>
          <p:spPr>
            <a:xfrm flipV="1">
              <a:off x="3199563" y="4839178"/>
              <a:ext cx="891255" cy="449197"/>
            </a:xfrm>
            <a:prstGeom prst="straightConnector1">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9" name="直接箭头连接符 34">
              <a:extLst>
                <a:ext uri="{FF2B5EF4-FFF2-40B4-BE49-F238E27FC236}">
                  <a16:creationId xmlns:a16="http://schemas.microsoft.com/office/drawing/2014/main" id="{1A3ACEE6-2A4D-AE4D-BA46-7271F4A8D822}"/>
                </a:ext>
              </a:extLst>
            </p:cNvPr>
            <p:cNvCxnSpPr>
              <a:cxnSpLocks/>
            </p:cNvCxnSpPr>
            <p:nvPr/>
          </p:nvCxnSpPr>
          <p:spPr>
            <a:xfrm flipV="1">
              <a:off x="3199563" y="4825283"/>
              <a:ext cx="891255" cy="913736"/>
            </a:xfrm>
            <a:prstGeom prst="straightConnector1">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0" name="直接箭头连接符 35">
              <a:extLst>
                <a:ext uri="{FF2B5EF4-FFF2-40B4-BE49-F238E27FC236}">
                  <a16:creationId xmlns:a16="http://schemas.microsoft.com/office/drawing/2014/main" id="{131875EC-D136-9347-9175-00435EA80520}"/>
                </a:ext>
              </a:extLst>
            </p:cNvPr>
            <p:cNvCxnSpPr>
              <a:cxnSpLocks/>
            </p:cNvCxnSpPr>
            <p:nvPr/>
          </p:nvCxnSpPr>
          <p:spPr>
            <a:xfrm flipV="1">
              <a:off x="3192487" y="4825283"/>
              <a:ext cx="898331" cy="1341866"/>
            </a:xfrm>
            <a:prstGeom prst="straightConnector1">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直接箭头连接符 36">
              <a:extLst>
                <a:ext uri="{FF2B5EF4-FFF2-40B4-BE49-F238E27FC236}">
                  <a16:creationId xmlns:a16="http://schemas.microsoft.com/office/drawing/2014/main" id="{A75C4BC4-716F-1148-B7BD-E2FCF0CD5AE9}"/>
                </a:ext>
              </a:extLst>
            </p:cNvPr>
            <p:cNvCxnSpPr>
              <a:cxnSpLocks/>
            </p:cNvCxnSpPr>
            <p:nvPr/>
          </p:nvCxnSpPr>
          <p:spPr>
            <a:xfrm>
              <a:off x="4095750" y="5279551"/>
              <a:ext cx="953917" cy="453234"/>
            </a:xfrm>
            <a:prstGeom prst="straightConnector1">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2" name="直接箭头连接符 37">
              <a:extLst>
                <a:ext uri="{FF2B5EF4-FFF2-40B4-BE49-F238E27FC236}">
                  <a16:creationId xmlns:a16="http://schemas.microsoft.com/office/drawing/2014/main" id="{7B6756F2-FC31-FB48-8D7A-FCA0DBD8E6D0}"/>
                </a:ext>
              </a:extLst>
            </p:cNvPr>
            <p:cNvCxnSpPr>
              <a:cxnSpLocks/>
            </p:cNvCxnSpPr>
            <p:nvPr/>
          </p:nvCxnSpPr>
          <p:spPr>
            <a:xfrm flipV="1">
              <a:off x="4095750" y="5752382"/>
              <a:ext cx="939765" cy="421001"/>
            </a:xfrm>
            <a:prstGeom prst="straightConnector1">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3" name="直接箭头连接符 38">
              <a:extLst>
                <a:ext uri="{FF2B5EF4-FFF2-40B4-BE49-F238E27FC236}">
                  <a16:creationId xmlns:a16="http://schemas.microsoft.com/office/drawing/2014/main" id="{61064422-29D8-E441-8DFA-768F1AC4E6E9}"/>
                </a:ext>
              </a:extLst>
            </p:cNvPr>
            <p:cNvCxnSpPr>
              <a:cxnSpLocks/>
            </p:cNvCxnSpPr>
            <p:nvPr/>
          </p:nvCxnSpPr>
          <p:spPr>
            <a:xfrm>
              <a:off x="5052134" y="5742495"/>
              <a:ext cx="956382" cy="417524"/>
            </a:xfrm>
            <a:prstGeom prst="straightConnector1">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4" name="直接箭头连接符 39">
              <a:extLst>
                <a:ext uri="{FF2B5EF4-FFF2-40B4-BE49-F238E27FC236}">
                  <a16:creationId xmlns:a16="http://schemas.microsoft.com/office/drawing/2014/main" id="{4C4C2923-7250-F74A-95A9-EA24551A003D}"/>
                </a:ext>
              </a:extLst>
            </p:cNvPr>
            <p:cNvCxnSpPr>
              <a:cxnSpLocks/>
            </p:cNvCxnSpPr>
            <p:nvPr/>
          </p:nvCxnSpPr>
          <p:spPr>
            <a:xfrm flipV="1">
              <a:off x="5035515" y="5310814"/>
              <a:ext cx="973001" cy="412573"/>
            </a:xfrm>
            <a:prstGeom prst="straightConnector1">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5" name="直接箭头连接符 40">
              <a:extLst>
                <a:ext uri="{FF2B5EF4-FFF2-40B4-BE49-F238E27FC236}">
                  <a16:creationId xmlns:a16="http://schemas.microsoft.com/office/drawing/2014/main" id="{79B72066-F04E-3B4E-AD3E-874344C76878}"/>
                </a:ext>
              </a:extLst>
            </p:cNvPr>
            <p:cNvCxnSpPr>
              <a:cxnSpLocks/>
            </p:cNvCxnSpPr>
            <p:nvPr/>
          </p:nvCxnSpPr>
          <p:spPr>
            <a:xfrm flipV="1">
              <a:off x="5049666" y="4853614"/>
              <a:ext cx="939766" cy="879171"/>
            </a:xfrm>
            <a:prstGeom prst="straightConnector1">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直接箭头连接符 41">
              <a:extLst>
                <a:ext uri="{FF2B5EF4-FFF2-40B4-BE49-F238E27FC236}">
                  <a16:creationId xmlns:a16="http://schemas.microsoft.com/office/drawing/2014/main" id="{C95459F3-67DC-0A49-8703-BB425EFB0D54}"/>
                </a:ext>
              </a:extLst>
            </p:cNvPr>
            <p:cNvCxnSpPr>
              <a:cxnSpLocks/>
            </p:cNvCxnSpPr>
            <p:nvPr/>
          </p:nvCxnSpPr>
          <p:spPr>
            <a:xfrm>
              <a:off x="6018057" y="4853614"/>
              <a:ext cx="949311" cy="885404"/>
            </a:xfrm>
            <a:prstGeom prst="straightConnector1">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7" name="直接箭头连接符 42">
              <a:extLst>
                <a:ext uri="{FF2B5EF4-FFF2-40B4-BE49-F238E27FC236}">
                  <a16:creationId xmlns:a16="http://schemas.microsoft.com/office/drawing/2014/main" id="{81331CEB-AE35-4F4E-BACD-D10808E670BB}"/>
                </a:ext>
              </a:extLst>
            </p:cNvPr>
            <p:cNvCxnSpPr>
              <a:cxnSpLocks/>
            </p:cNvCxnSpPr>
            <p:nvPr/>
          </p:nvCxnSpPr>
          <p:spPr>
            <a:xfrm>
              <a:off x="6018057" y="5304132"/>
              <a:ext cx="949311" cy="438363"/>
            </a:xfrm>
            <a:prstGeom prst="straightConnector1">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8" name="直接箭头连接符 43">
              <a:extLst>
                <a:ext uri="{FF2B5EF4-FFF2-40B4-BE49-F238E27FC236}">
                  <a16:creationId xmlns:a16="http://schemas.microsoft.com/office/drawing/2014/main" id="{2AC2C7AF-8547-4947-ABAE-CAE891E93C0B}"/>
                </a:ext>
              </a:extLst>
            </p:cNvPr>
            <p:cNvCxnSpPr>
              <a:cxnSpLocks/>
            </p:cNvCxnSpPr>
            <p:nvPr/>
          </p:nvCxnSpPr>
          <p:spPr>
            <a:xfrm flipV="1">
              <a:off x="5998970" y="5739018"/>
              <a:ext cx="968398" cy="428132"/>
            </a:xfrm>
            <a:prstGeom prst="straightConnector1">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9" name="直接连接符 44">
              <a:extLst>
                <a:ext uri="{FF2B5EF4-FFF2-40B4-BE49-F238E27FC236}">
                  <a16:creationId xmlns:a16="http://schemas.microsoft.com/office/drawing/2014/main" id="{6AD98B61-5190-D94B-9B76-E81654C37C11}"/>
                </a:ext>
              </a:extLst>
            </p:cNvPr>
            <p:cNvCxnSpPr>
              <a:cxnSpLocks/>
            </p:cNvCxnSpPr>
            <p:nvPr/>
          </p:nvCxnSpPr>
          <p:spPr>
            <a:xfrm>
              <a:off x="7875418" y="4613291"/>
              <a:ext cx="0" cy="1752266"/>
            </a:xfrm>
            <a:prstGeom prst="line">
              <a:avLst/>
            </a:prstGeom>
            <a:ln w="9525">
              <a:prstDash val="dash"/>
            </a:ln>
          </p:spPr>
          <p:style>
            <a:lnRef idx="1">
              <a:schemeClr val="accent1"/>
            </a:lnRef>
            <a:fillRef idx="0">
              <a:schemeClr val="accent1"/>
            </a:fillRef>
            <a:effectRef idx="0">
              <a:schemeClr val="accent1"/>
            </a:effectRef>
            <a:fontRef idx="minor">
              <a:schemeClr val="tx1"/>
            </a:fontRef>
          </p:style>
        </p:cxnSp>
        <p:sp>
          <p:nvSpPr>
            <p:cNvPr id="50" name="矩形 49">
              <a:extLst>
                <a:ext uri="{FF2B5EF4-FFF2-40B4-BE49-F238E27FC236}">
                  <a16:creationId xmlns:a16="http://schemas.microsoft.com/office/drawing/2014/main" id="{8C996CDA-506E-894D-BEA4-840581CDD6A9}"/>
                </a:ext>
              </a:extLst>
            </p:cNvPr>
            <p:cNvSpPr/>
            <p:nvPr/>
          </p:nvSpPr>
          <p:spPr>
            <a:xfrm>
              <a:off x="6981522" y="4269292"/>
              <a:ext cx="912692" cy="427846"/>
            </a:xfrm>
            <a:prstGeom prst="rect">
              <a:avLst/>
            </a:prstGeom>
          </p:spPr>
          <p:txBody>
            <a:bodyPr wrap="none">
              <a:spAutoFit/>
            </a:bodyPr>
            <a:lstStyle/>
            <a:p>
              <a:r>
                <a:rPr lang="en-US" altLang="zh-CN" sz="1600" b="1" dirty="0">
                  <a:latin typeface="Microsoft YaHei" panose="020B0503020204020204" pitchFamily="34" charset="-122"/>
                  <a:ea typeface="Microsoft YaHei" panose="020B0503020204020204" pitchFamily="34" charset="-122"/>
                </a:rPr>
                <a:t>New-View</a:t>
              </a:r>
            </a:p>
            <a:p>
              <a:pPr algn="ctr"/>
              <a:r>
                <a:rPr lang="en-US" altLang="zh-CN" sz="1600" b="1" dirty="0">
                  <a:latin typeface="Microsoft YaHei" panose="020B0503020204020204" pitchFamily="34" charset="-122"/>
                  <a:ea typeface="Microsoft YaHei" panose="020B0503020204020204" pitchFamily="34" charset="-122"/>
                </a:rPr>
                <a:t>(n+2)</a:t>
              </a:r>
              <a:endParaRPr lang="zh-CN" altLang="en-US" sz="1600" b="1" dirty="0"/>
            </a:p>
          </p:txBody>
        </p:sp>
        <p:sp>
          <p:nvSpPr>
            <p:cNvPr id="51" name="矩形 50">
              <a:extLst>
                <a:ext uri="{FF2B5EF4-FFF2-40B4-BE49-F238E27FC236}">
                  <a16:creationId xmlns:a16="http://schemas.microsoft.com/office/drawing/2014/main" id="{168B74D1-173E-1A42-B4E9-6767D5C961B2}"/>
                </a:ext>
              </a:extLst>
            </p:cNvPr>
            <p:cNvSpPr/>
            <p:nvPr/>
          </p:nvSpPr>
          <p:spPr>
            <a:xfrm>
              <a:off x="4609474" y="4917455"/>
              <a:ext cx="918556" cy="427846"/>
            </a:xfrm>
            <a:prstGeom prst="rect">
              <a:avLst/>
            </a:prstGeom>
          </p:spPr>
          <p:txBody>
            <a:bodyPr wrap="none">
              <a:spAutoFit/>
            </a:bodyPr>
            <a:lstStyle/>
            <a:p>
              <a:pPr algn="ctr"/>
              <a:r>
                <a:rPr lang="en-US" altLang="zh-CN" sz="1600" b="1" dirty="0" err="1">
                  <a:latin typeface="Microsoft YaHei" panose="020B0503020204020204" pitchFamily="34" charset="-122"/>
                  <a:ea typeface="Microsoft YaHei" panose="020B0503020204020204" pitchFamily="34" charset="-122"/>
                </a:rPr>
                <a:t>GeneralQc</a:t>
              </a:r>
              <a:endParaRPr lang="en-US" altLang="zh-CN" sz="1600" b="1" dirty="0">
                <a:latin typeface="Microsoft YaHei" panose="020B0503020204020204" pitchFamily="34" charset="-122"/>
                <a:ea typeface="Microsoft YaHei" panose="020B0503020204020204" pitchFamily="34" charset="-122"/>
              </a:endParaRPr>
            </a:p>
            <a:p>
              <a:pPr algn="ctr"/>
              <a:r>
                <a:rPr lang="en-US" altLang="zh-CN" sz="1600" b="1" dirty="0">
                  <a:latin typeface="Microsoft YaHei" panose="020B0503020204020204" pitchFamily="34" charset="-122"/>
                  <a:ea typeface="Microsoft YaHei" panose="020B0503020204020204" pitchFamily="34" charset="-122"/>
                </a:rPr>
                <a:t>Bn</a:t>
              </a:r>
              <a:endParaRPr lang="zh-CN" altLang="en-US" sz="1600" b="1" dirty="0"/>
            </a:p>
          </p:txBody>
        </p:sp>
        <p:cxnSp>
          <p:nvCxnSpPr>
            <p:cNvPr id="52" name="直接箭头连接符 47">
              <a:extLst>
                <a:ext uri="{FF2B5EF4-FFF2-40B4-BE49-F238E27FC236}">
                  <a16:creationId xmlns:a16="http://schemas.microsoft.com/office/drawing/2014/main" id="{B44F2972-7DA5-214A-AAA4-09E35E91ADDA}"/>
                </a:ext>
              </a:extLst>
            </p:cNvPr>
            <p:cNvCxnSpPr>
              <a:cxnSpLocks/>
            </p:cNvCxnSpPr>
            <p:nvPr/>
          </p:nvCxnSpPr>
          <p:spPr>
            <a:xfrm flipV="1">
              <a:off x="6983989" y="5310814"/>
              <a:ext cx="891427" cy="441568"/>
            </a:xfrm>
            <a:prstGeom prst="straightConnector1">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 name="直接箭头连接符 48">
              <a:extLst>
                <a:ext uri="{FF2B5EF4-FFF2-40B4-BE49-F238E27FC236}">
                  <a16:creationId xmlns:a16="http://schemas.microsoft.com/office/drawing/2014/main" id="{4815466C-6AA4-8342-83F2-11AA92782B9B}"/>
                </a:ext>
              </a:extLst>
            </p:cNvPr>
            <p:cNvCxnSpPr>
              <a:cxnSpLocks/>
            </p:cNvCxnSpPr>
            <p:nvPr/>
          </p:nvCxnSpPr>
          <p:spPr>
            <a:xfrm>
              <a:off x="6967368" y="4829033"/>
              <a:ext cx="908048" cy="475099"/>
            </a:xfrm>
            <a:prstGeom prst="straightConnector1">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4" name="直接箭头连接符 49">
              <a:extLst>
                <a:ext uri="{FF2B5EF4-FFF2-40B4-BE49-F238E27FC236}">
                  <a16:creationId xmlns:a16="http://schemas.microsoft.com/office/drawing/2014/main" id="{5C7BD1A0-3DAA-A348-A879-687DBB95D63F}"/>
                </a:ext>
              </a:extLst>
            </p:cNvPr>
            <p:cNvCxnSpPr>
              <a:cxnSpLocks/>
            </p:cNvCxnSpPr>
            <p:nvPr/>
          </p:nvCxnSpPr>
          <p:spPr>
            <a:xfrm flipV="1">
              <a:off x="6967368" y="5304132"/>
              <a:ext cx="905038" cy="872728"/>
            </a:xfrm>
            <a:prstGeom prst="straightConnector1">
              <a:avLst/>
            </a:prstGeom>
            <a:ln w="127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55" name="矩形 54">
            <a:extLst>
              <a:ext uri="{FF2B5EF4-FFF2-40B4-BE49-F238E27FC236}">
                <a16:creationId xmlns:a16="http://schemas.microsoft.com/office/drawing/2014/main" id="{2D8F67F3-4778-2245-BF4A-DF71649D614C}"/>
              </a:ext>
            </a:extLst>
          </p:cNvPr>
          <p:cNvSpPr/>
          <p:nvPr/>
        </p:nvSpPr>
        <p:spPr>
          <a:xfrm>
            <a:off x="853618" y="940612"/>
            <a:ext cx="10536625" cy="2242409"/>
          </a:xfrm>
          <a:prstGeom prst="rect">
            <a:avLst/>
          </a:prstGeom>
          <a:ln>
            <a:solidFill>
              <a:srgbClr val="00B0F0"/>
            </a:solidFill>
          </a:ln>
        </p:spPr>
        <p:txBody>
          <a:bodyPr wrap="square">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一階段協議，分爲三個步驟：</a:t>
            </a:r>
            <a:endParaRPr lang="en-US" altLang="zh-CN" sz="24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所有節點對新的</a:t>
            </a:r>
            <a:r>
              <a:rPr lang="en-US" altLang="zh-CN" sz="2400" dirty="0">
                <a:latin typeface="微软雅黑" panose="020B0503020204020204" pitchFamily="34" charset="-122"/>
                <a:ea typeface="微软雅黑" panose="020B0503020204020204" pitchFamily="34" charset="-122"/>
              </a:rPr>
              <a:t>Leader</a:t>
            </a:r>
            <a:r>
              <a:rPr lang="zh-CN" altLang="en-US" sz="2400" dirty="0">
                <a:latin typeface="微软雅黑" panose="020B0503020204020204" pitchFamily="34" charset="-122"/>
                <a:ea typeface="微软雅黑" panose="020B0503020204020204" pitchFamily="34" charset="-122"/>
              </a:rPr>
              <a:t>投票，舊</a:t>
            </a:r>
            <a:r>
              <a:rPr lang="en-US" altLang="zh-CN" sz="2400" dirty="0">
                <a:latin typeface="微软雅黑" panose="020B0503020204020204" pitchFamily="34" charset="-122"/>
                <a:ea typeface="微软雅黑" panose="020B0503020204020204" pitchFamily="34" charset="-122"/>
              </a:rPr>
              <a:t>Leader</a:t>
            </a:r>
            <a:r>
              <a:rPr lang="zh-CN" altLang="en-US" sz="2400" dirty="0">
                <a:latin typeface="微软雅黑" panose="020B0503020204020204" pitchFamily="34" charset="-122"/>
                <a:ea typeface="微软雅黑" panose="020B0503020204020204" pitchFamily="34" charset="-122"/>
              </a:rPr>
              <a:t>把獲得的全域簽名發給新</a:t>
            </a:r>
            <a:r>
              <a:rPr lang="en-US" altLang="zh-CN" sz="2400" dirty="0">
                <a:latin typeface="微软雅黑" panose="020B0503020204020204" pitchFamily="34" charset="-122"/>
                <a:ea typeface="微软雅黑" panose="020B0503020204020204" pitchFamily="34" charset="-122"/>
              </a:rPr>
              <a:t>Leader</a:t>
            </a:r>
          </a:p>
          <a:p>
            <a:pPr marL="342900" indent="-34290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新</a:t>
            </a:r>
            <a:r>
              <a:rPr lang="en-US" altLang="zh-CN" sz="2400" dirty="0">
                <a:latin typeface="微软雅黑" panose="020B0503020204020204" pitchFamily="34" charset="-122"/>
                <a:ea typeface="微软雅黑" panose="020B0503020204020204" pitchFamily="34" charset="-122"/>
              </a:rPr>
              <a:t>Leader</a:t>
            </a:r>
            <a:r>
              <a:rPr lang="zh-CN" altLang="en-US" sz="2400" dirty="0">
                <a:latin typeface="微软雅黑" panose="020B0503020204020204" pitchFamily="34" charset="-122"/>
                <a:ea typeface="微软雅黑" panose="020B0503020204020204" pitchFamily="34" charset="-122"/>
              </a:rPr>
              <a:t>將上一視圖的全域簽名和新區塊發給所有有節點</a:t>
            </a:r>
            <a:endParaRPr lang="en-US" altLang="zh-CN" sz="24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節點對新區快投票幷發給</a:t>
            </a:r>
            <a:r>
              <a:rPr lang="en-US" altLang="zh-CN" sz="2400" dirty="0">
                <a:latin typeface="微软雅黑" panose="020B0503020204020204" pitchFamily="34" charset="-122"/>
                <a:ea typeface="微软雅黑" panose="020B0503020204020204" pitchFamily="34" charset="-122"/>
              </a:rPr>
              <a:t>Leader</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Leader</a:t>
            </a:r>
            <a:r>
              <a:rPr lang="zh-CN" altLang="en-US" sz="2400" dirty="0">
                <a:latin typeface="微软雅黑" panose="020B0503020204020204" pitchFamily="34" charset="-122"/>
                <a:ea typeface="微软雅黑" panose="020B0503020204020204" pitchFamily="34" charset="-122"/>
              </a:rPr>
              <a:t>合成全域簽名</a:t>
            </a:r>
            <a:endParaRPr lang="zh-CN" altLang="en-US" sz="2400" dirty="0"/>
          </a:p>
        </p:txBody>
      </p:sp>
      <p:sp>
        <p:nvSpPr>
          <p:cNvPr id="56" name="灯片编号占位符 2">
            <a:extLst>
              <a:ext uri="{FF2B5EF4-FFF2-40B4-BE49-F238E27FC236}">
                <a16:creationId xmlns:a16="http://schemas.microsoft.com/office/drawing/2014/main" id="{423862BC-8F88-4B43-A131-F1DC373FA5F4}"/>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131</a:t>
            </a:fld>
            <a:endParaRPr lang="zh-CN" altLang="en-US" sz="1200" dirty="0">
              <a:solidFill>
                <a:srgbClr val="000000">
                  <a:tint val="75000"/>
                </a:srgbClr>
              </a:solidFill>
              <a:latin typeface="Comic Sans MS"/>
              <a:ea typeface="微软雅黑 Light"/>
            </a:endParaRPr>
          </a:p>
        </p:txBody>
      </p:sp>
    </p:spTree>
    <p:extLst>
      <p:ext uri="{BB962C8B-B14F-4D97-AF65-F5344CB8AC3E}">
        <p14:creationId xmlns:p14="http://schemas.microsoft.com/office/powerpoint/2010/main" val="333490694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31EE29A1-C89A-8644-9C6C-B4B5595B99BE}"/>
              </a:ext>
            </a:extLst>
          </p:cNvPr>
          <p:cNvSpPr/>
          <p:nvPr/>
        </p:nvSpPr>
        <p:spPr>
          <a:xfrm>
            <a:off x="3792512" y="1518858"/>
            <a:ext cx="8399488" cy="17598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3" name="矩形 2">
            <a:extLst>
              <a:ext uri="{FF2B5EF4-FFF2-40B4-BE49-F238E27FC236}">
                <a16:creationId xmlns:a16="http://schemas.microsoft.com/office/drawing/2014/main" id="{95390BD7-9E9C-0D4E-A92D-6F6196C9DABC}"/>
              </a:ext>
            </a:extLst>
          </p:cNvPr>
          <p:cNvSpPr/>
          <p:nvPr/>
        </p:nvSpPr>
        <p:spPr>
          <a:xfrm>
            <a:off x="0" y="1518857"/>
            <a:ext cx="3312826" cy="1759889"/>
          </a:xfrm>
          <a:prstGeom prst="rect">
            <a:avLst/>
          </a:prstGeom>
          <a:solidFill>
            <a:srgbClr val="521B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4" name="椭圆 3">
            <a:extLst>
              <a:ext uri="{FF2B5EF4-FFF2-40B4-BE49-F238E27FC236}">
                <a16:creationId xmlns:a16="http://schemas.microsoft.com/office/drawing/2014/main" id="{BF9CDFA6-B029-6B4C-B9E4-7CF16FFE8CAE}"/>
              </a:ext>
            </a:extLst>
          </p:cNvPr>
          <p:cNvSpPr/>
          <p:nvPr/>
        </p:nvSpPr>
        <p:spPr>
          <a:xfrm>
            <a:off x="2038665" y="1219057"/>
            <a:ext cx="2353456" cy="2398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6" name="矩形 5">
            <a:extLst>
              <a:ext uri="{FF2B5EF4-FFF2-40B4-BE49-F238E27FC236}">
                <a16:creationId xmlns:a16="http://schemas.microsoft.com/office/drawing/2014/main" id="{10EE77B9-CAAB-9D47-886F-1F13DC4A4E9F}"/>
              </a:ext>
            </a:extLst>
          </p:cNvPr>
          <p:cNvSpPr/>
          <p:nvPr/>
        </p:nvSpPr>
        <p:spPr>
          <a:xfrm>
            <a:off x="4711535" y="2044858"/>
            <a:ext cx="2683748" cy="707886"/>
          </a:xfrm>
          <a:prstGeom prst="rect">
            <a:avLst/>
          </a:prstGeom>
        </p:spPr>
        <p:txBody>
          <a:bodyPr wrap="none">
            <a:spAutoFit/>
          </a:bodyPr>
          <a:lstStyle/>
          <a:p>
            <a:pPr>
              <a:defRPr/>
            </a:pPr>
            <a:r>
              <a:rPr lang="zh-CN" altLang="en-US" sz="4000" b="1" kern="100" dirty="0">
                <a:solidFill>
                  <a:prstClr val="white"/>
                </a:solidFill>
                <a:latin typeface="Microsoft YaHei" panose="020B0503020204020204" pitchFamily="34" charset="-122"/>
                <a:ea typeface="Microsoft YaHei" panose="020B0503020204020204" pitchFamily="34" charset="-122"/>
                <a:cs typeface="Times New Roman" panose="02020603050405020304" pitchFamily="18" charset="0"/>
              </a:rPr>
              <a:t>第</a:t>
            </a:r>
            <a:r>
              <a:rPr lang="en-US" altLang="zh-CN" sz="4000" b="1" kern="100" dirty="0">
                <a:solidFill>
                  <a:prstClr val="white"/>
                </a:solidFill>
                <a:latin typeface="Microsoft YaHei" panose="020B0503020204020204" pitchFamily="34" charset="-122"/>
                <a:ea typeface="Microsoft YaHei" panose="020B0503020204020204" pitchFamily="34" charset="-122"/>
                <a:cs typeface="Times New Roman" panose="02020603050405020304" pitchFamily="18" charset="0"/>
              </a:rPr>
              <a:t>4</a:t>
            </a:r>
            <a:r>
              <a:rPr lang="zh-CN" altLang="en-US" sz="4000" b="1" kern="100" dirty="0">
                <a:solidFill>
                  <a:prstClr val="white"/>
                </a:solidFill>
                <a:latin typeface="Microsoft YaHei" panose="020B0503020204020204" pitchFamily="34" charset="-122"/>
                <a:ea typeface="Microsoft YaHei" panose="020B0503020204020204" pitchFamily="34" charset="-122"/>
                <a:cs typeface="Times New Roman" panose="02020603050405020304" pitchFamily="18" charset="0"/>
              </a:rPr>
              <a:t>節 總結</a:t>
            </a:r>
          </a:p>
        </p:txBody>
      </p:sp>
      <p:pic>
        <p:nvPicPr>
          <p:cNvPr id="7" name="图片 6">
            <a:extLst>
              <a:ext uri="{FF2B5EF4-FFF2-40B4-BE49-F238E27FC236}">
                <a16:creationId xmlns:a16="http://schemas.microsoft.com/office/drawing/2014/main" id="{2AD0A15D-B9B8-F747-A832-C10F926EB629}"/>
              </a:ext>
            </a:extLst>
          </p:cNvPr>
          <p:cNvPicPr>
            <a:picLocks noChangeAspect="1"/>
          </p:cNvPicPr>
          <p:nvPr/>
        </p:nvPicPr>
        <p:blipFill>
          <a:blip r:embed="rId3"/>
          <a:stretch>
            <a:fillRect/>
          </a:stretch>
        </p:blipFill>
        <p:spPr>
          <a:xfrm>
            <a:off x="2107662" y="1303280"/>
            <a:ext cx="2220910" cy="2209943"/>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95645824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13F207A8-03CB-0B42-A6C8-E5AC02D7CC77}"/>
              </a:ext>
            </a:extLst>
          </p:cNvPr>
          <p:cNvSpPr>
            <a:spLocks/>
          </p:cNvSpPr>
          <p:nvPr/>
        </p:nvSpPr>
        <p:spPr bwMode="auto">
          <a:xfrm>
            <a:off x="835937" y="3743451"/>
            <a:ext cx="3119908" cy="1635261"/>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US" dirty="0">
                <a:solidFill>
                  <a:srgbClr val="000000"/>
                </a:solidFill>
                <a:effectLst/>
                <a:latin typeface="Microsoft YaHei" panose="020B0503020204020204" pitchFamily="34" charset="-122"/>
                <a:ea typeface="Microsoft YaHei" panose="020B0503020204020204" pitchFamily="34" charset="-122"/>
              </a:rPr>
              <a:t>交互網絡的組成</a:t>
            </a:r>
            <a:endParaRPr lang="en-US" altLang="zh-CN"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effectLst/>
                <a:latin typeface="Microsoft YaHei" panose="020B0503020204020204" pitchFamily="34" charset="-122"/>
                <a:ea typeface="Microsoft YaHei" panose="020B0503020204020204" pitchFamily="34" charset="-122"/>
              </a:rPr>
              <a:t>交互信道安全</a:t>
            </a:r>
            <a:endParaRPr lang="en-US" altLang="zh-CN"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effectLst/>
                <a:latin typeface="Microsoft YaHei" panose="020B0503020204020204" pitchFamily="34" charset="-122"/>
                <a:ea typeface="Microsoft YaHei" panose="020B0503020204020204" pitchFamily="34" charset="-122"/>
              </a:rPr>
              <a:t>彈性覆蓋網絡</a:t>
            </a:r>
            <a:endParaRPr lang="en-US" altLang="zh-CN"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latin typeface="Microsoft YaHei" panose="020B0503020204020204" pitchFamily="34" charset="-122"/>
                <a:ea typeface="Microsoft YaHei" panose="020B0503020204020204" pitchFamily="34" charset="-122"/>
              </a:rPr>
              <a:t>防禦日蝕攻擊</a:t>
            </a:r>
            <a:endParaRPr lang="zh-CN" altLang="en-US" dirty="0">
              <a:solidFill>
                <a:srgbClr val="000000"/>
              </a:solidFill>
              <a:effectLst/>
              <a:latin typeface="Microsoft YaHei" panose="020B0503020204020204" pitchFamily="34" charset="-122"/>
              <a:ea typeface="Microsoft YaHei" panose="020B0503020204020204" pitchFamily="34" charset="-122"/>
            </a:endParaRPr>
          </a:p>
        </p:txBody>
      </p:sp>
      <p:sp>
        <p:nvSpPr>
          <p:cNvPr id="2" name="标题 1"/>
          <p:cNvSpPr>
            <a:spLocks noGrp="1"/>
          </p:cNvSpPr>
          <p:nvPr>
            <p:ph type="title"/>
          </p:nvPr>
        </p:nvSpPr>
        <p:spPr/>
        <p:txBody>
          <a:bodyPr/>
          <a:lstStyle/>
          <a:p>
            <a:r>
              <a:rPr kumimoji="1" lang="zh-CN" altLang="en-US" dirty="0"/>
              <a:t>總結</a:t>
            </a:r>
          </a:p>
        </p:txBody>
      </p:sp>
      <p:sp>
        <p:nvSpPr>
          <p:cNvPr id="13" name="灯片编号占位符 2">
            <a:extLst>
              <a:ext uri="{FF2B5EF4-FFF2-40B4-BE49-F238E27FC236}">
                <a16:creationId xmlns:a16="http://schemas.microsoft.com/office/drawing/2014/main" id="{A6F8482A-DAE6-5B44-9CF4-35D7DC9969C5}"/>
              </a:ext>
            </a:extLst>
          </p:cNvPr>
          <p:cNvSpPr>
            <a:spLocks noGrp="1"/>
          </p:cNvSpPr>
          <p:nvPr>
            <p:ph type="sldNum" sz="quarter" idx="12"/>
          </p:nvPr>
        </p:nvSpPr>
        <p:spPr>
          <a:xfrm>
            <a:off x="9321914" y="6473403"/>
            <a:ext cx="28448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23CBF4B4-C160-4F55-AC7D-1C8FF5BA05FA}" type="slidenum">
              <a:rPr lang="zh-CN" altLang="en-US" smtClean="0">
                <a:solidFill>
                  <a:srgbClr val="000000">
                    <a:tint val="75000"/>
                  </a:srgbClr>
                </a:solidFill>
                <a:latin typeface="Comic Sans MS"/>
                <a:ea typeface="微软雅黑 Light"/>
              </a:rPr>
              <a:pPr marL="0" marR="0" lvl="0" indent="0" algn="r" defTabSz="914400" rtl="0" eaLnBrk="1" fontAlgn="auto" latinLnBrk="0" hangingPunct="1">
                <a:lnSpc>
                  <a:spcPct val="100000"/>
                </a:lnSpc>
                <a:spcBef>
                  <a:spcPts val="0"/>
                </a:spcBef>
                <a:spcAft>
                  <a:spcPts val="0"/>
                </a:spcAft>
                <a:buClrTx/>
                <a:buSzTx/>
                <a:buFontTx/>
                <a:buNone/>
                <a:tabLst/>
                <a:defRPr/>
              </a:pPr>
              <a:t>133</a:t>
            </a:fld>
            <a:endParaRPr kumimoji="0" lang="zh-CN" altLang="en-US" sz="1200" b="0" i="0" u="none" strike="noStrike" kern="1200" cap="none" spc="0" normalizeH="0" baseline="0" noProof="0" dirty="0">
              <a:ln>
                <a:noFill/>
              </a:ln>
              <a:solidFill>
                <a:srgbClr val="000000">
                  <a:tint val="75000"/>
                </a:srgbClr>
              </a:solidFill>
              <a:effectLst/>
              <a:uLnTx/>
              <a:uFillTx/>
              <a:latin typeface="Comic Sans MS"/>
              <a:ea typeface="微软雅黑 Light"/>
              <a:cs typeface="+mn-cs"/>
            </a:endParaRPr>
          </a:p>
        </p:txBody>
      </p:sp>
      <p:sp>
        <p:nvSpPr>
          <p:cNvPr id="20" name="矩形 19">
            <a:extLst>
              <a:ext uri="{FF2B5EF4-FFF2-40B4-BE49-F238E27FC236}">
                <a16:creationId xmlns:a16="http://schemas.microsoft.com/office/drawing/2014/main" id="{6EDBBC5E-4F70-F642-B8A2-B5E6CA7366E3}"/>
              </a:ext>
            </a:extLst>
          </p:cNvPr>
          <p:cNvSpPr>
            <a:spLocks/>
          </p:cNvSpPr>
          <p:nvPr/>
        </p:nvSpPr>
        <p:spPr bwMode="auto">
          <a:xfrm>
            <a:off x="4363799" y="3743451"/>
            <a:ext cx="3390314" cy="1635261"/>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US" dirty="0">
                <a:solidFill>
                  <a:srgbClr val="000000"/>
                </a:solidFill>
                <a:effectLst/>
                <a:latin typeface="Microsoft YaHei" panose="020B0503020204020204" pitchFamily="34" charset="-122"/>
                <a:ea typeface="Microsoft YaHei" panose="020B0503020204020204" pitchFamily="34" charset="-122"/>
              </a:rPr>
              <a:t>協作過程中的安全隱患</a:t>
            </a:r>
            <a:endParaRPr lang="en-US" altLang="zh-CN"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effectLst/>
                <a:latin typeface="Microsoft YaHei" panose="020B0503020204020204" pitchFamily="34" charset="-122"/>
                <a:ea typeface="Microsoft YaHei" panose="020B0503020204020204" pitchFamily="34" charset="-122"/>
              </a:rPr>
              <a:t>時鐘同步算法</a:t>
            </a:r>
            <a:endParaRPr lang="en-US" altLang="zh-CN"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effectLst/>
                <a:latin typeface="Microsoft YaHei" panose="020B0503020204020204" pitchFamily="34" charset="-122"/>
                <a:ea typeface="Microsoft YaHei" panose="020B0503020204020204" pitchFamily="34" charset="-122"/>
              </a:rPr>
              <a:t>幷發問題</a:t>
            </a:r>
            <a:endParaRPr lang="en-US" altLang="zh-CN"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effectLst/>
                <a:latin typeface="Microsoft YaHei" panose="020B0503020204020204" pitchFamily="34" charset="-122"/>
                <a:ea typeface="Microsoft YaHei" panose="020B0503020204020204" pitchFamily="34" charset="-122"/>
              </a:rPr>
              <a:t>故障容錯的一致性算法</a:t>
            </a:r>
          </a:p>
        </p:txBody>
      </p:sp>
      <p:sp>
        <p:nvSpPr>
          <p:cNvPr id="21" name="矩形 20">
            <a:extLst>
              <a:ext uri="{FF2B5EF4-FFF2-40B4-BE49-F238E27FC236}">
                <a16:creationId xmlns:a16="http://schemas.microsoft.com/office/drawing/2014/main" id="{757D01B2-9DEA-3941-AD6F-6551BBD1B460}"/>
              </a:ext>
            </a:extLst>
          </p:cNvPr>
          <p:cNvSpPr>
            <a:spLocks/>
          </p:cNvSpPr>
          <p:nvPr/>
        </p:nvSpPr>
        <p:spPr bwMode="auto">
          <a:xfrm>
            <a:off x="8152493" y="3743451"/>
            <a:ext cx="3248861" cy="1635261"/>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US" dirty="0">
                <a:solidFill>
                  <a:srgbClr val="000000"/>
                </a:solidFill>
                <a:effectLst/>
                <a:latin typeface="Microsoft YaHei" panose="020B0503020204020204" pitchFamily="34" charset="-122"/>
                <a:ea typeface="Microsoft YaHei" panose="020B0503020204020204" pitchFamily="34" charset="-122"/>
              </a:rPr>
              <a:t>訪問控制</a:t>
            </a:r>
            <a:endParaRPr lang="en-US" altLang="zh-CN" dirty="0">
              <a:solidFill>
                <a:srgbClr val="000000"/>
              </a:solidFill>
              <a:effectLst/>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latin typeface="Microsoft YaHei" panose="020B0503020204020204" pitchFamily="34" charset="-122"/>
                <a:ea typeface="Microsoft YaHei" panose="020B0503020204020204" pitchFamily="34" charset="-122"/>
              </a:rPr>
              <a:t>信任評價模型</a:t>
            </a:r>
            <a:endParaRPr lang="en-US" altLang="zh-CN" dirty="0">
              <a:solidFill>
                <a:srgbClr val="00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effectLst/>
                <a:latin typeface="Microsoft YaHei" panose="020B0503020204020204" pitchFamily="34" charset="-122"/>
                <a:ea typeface="Microsoft YaHei" panose="020B0503020204020204" pitchFamily="34" charset="-122"/>
              </a:rPr>
              <a:t>拜占庭容錯</a:t>
            </a:r>
          </a:p>
        </p:txBody>
      </p:sp>
      <p:sp>
        <p:nvSpPr>
          <p:cNvPr id="22" name="文本框 21">
            <a:extLst>
              <a:ext uri="{FF2B5EF4-FFF2-40B4-BE49-F238E27FC236}">
                <a16:creationId xmlns:a16="http://schemas.microsoft.com/office/drawing/2014/main" id="{CE1694C8-0F08-6A45-8925-6B92183E05E7}"/>
              </a:ext>
            </a:extLst>
          </p:cNvPr>
          <p:cNvSpPr txBox="1"/>
          <p:nvPr/>
        </p:nvSpPr>
        <p:spPr>
          <a:xfrm>
            <a:off x="651164" y="2972103"/>
            <a:ext cx="3527827"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第一節</a:t>
            </a:r>
            <a:endParaRPr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建立安全、穩定的交互網絡</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 name="文本框 22">
            <a:extLst>
              <a:ext uri="{FF2B5EF4-FFF2-40B4-BE49-F238E27FC236}">
                <a16:creationId xmlns:a16="http://schemas.microsoft.com/office/drawing/2014/main" id="{C07CD88F-C5F5-CD44-B2ED-ACAAE1F2D759}"/>
              </a:ext>
            </a:extLst>
          </p:cNvPr>
          <p:cNvSpPr txBox="1"/>
          <p:nvPr/>
        </p:nvSpPr>
        <p:spPr>
          <a:xfrm>
            <a:off x="4488794" y="2972103"/>
            <a:ext cx="3140325" cy="707886"/>
          </a:xfrm>
          <a:prstGeom prst="rect">
            <a:avLst/>
          </a:prstGeom>
          <a:noFill/>
        </p:spPr>
        <p:txBody>
          <a:bodyPr wrap="square" rtlCol="0">
            <a:spAutoFit/>
          </a:bodyPr>
          <a:lstStyle/>
          <a:p>
            <a:pPr marL="0" marR="0" lvl="0" indent="0" algn="ctr" defTabSz="914400" rtl="0" eaLnBrk="1" fontAlgn="auto" latinLnBrk="0" hangingPunct="1">
              <a:spcBef>
                <a:spcPts val="0"/>
              </a:spcBef>
              <a:spcAft>
                <a:spcPts val="0"/>
              </a:spcAft>
              <a:buClrTx/>
              <a:buSzTx/>
              <a:buFontTx/>
              <a:buNone/>
              <a:tabLst/>
              <a:defRPr/>
            </a:pP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第二節</a:t>
            </a:r>
            <a:endParaRPr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spcBef>
                <a:spcPts val="0"/>
              </a:spcBef>
              <a:spcAft>
                <a:spcPts val="0"/>
              </a:spcAft>
              <a:buClrTx/>
              <a:buSzTx/>
              <a:buFontTx/>
              <a:buNone/>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分布式算法</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 name="文本框 23">
            <a:extLst>
              <a:ext uri="{FF2B5EF4-FFF2-40B4-BE49-F238E27FC236}">
                <a16:creationId xmlns:a16="http://schemas.microsoft.com/office/drawing/2014/main" id="{92FE1A20-9B4B-0946-91D1-2427729B1ADB}"/>
              </a:ext>
            </a:extLst>
          </p:cNvPr>
          <p:cNvSpPr txBox="1"/>
          <p:nvPr/>
        </p:nvSpPr>
        <p:spPr>
          <a:xfrm>
            <a:off x="8013010" y="2972103"/>
            <a:ext cx="3527826"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第三節</a:t>
            </a:r>
            <a:endParaRPr lang="en-US" altLang="zh-CN"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信任問題</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0182" name="Picture 6" descr="Types Of Cybersecurity Threats Clipart (726x500), Png Download">
            <a:extLst>
              <a:ext uri="{FF2B5EF4-FFF2-40B4-BE49-F238E27FC236}">
                <a16:creationId xmlns:a16="http://schemas.microsoft.com/office/drawing/2014/main" id="{0C28AE79-0C70-6648-ADFA-0C3DC38328FD}"/>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668346" y="2266815"/>
            <a:ext cx="731608" cy="702015"/>
          </a:xfrm>
          <a:prstGeom prst="rect">
            <a:avLst/>
          </a:prstGeom>
          <a:noFill/>
          <a:extLst>
            <a:ext uri="{909E8E84-426E-40DD-AFC4-6F175D3DCCD1}">
              <a14:hiddenFill xmlns:a14="http://schemas.microsoft.com/office/drawing/2010/main">
                <a:solidFill>
                  <a:srgbClr val="FFFFFF"/>
                </a:solidFill>
              </a14:hiddenFill>
            </a:ext>
          </a:extLst>
        </p:spPr>
      </p:pic>
      <p:pic>
        <p:nvPicPr>
          <p:cNvPr id="50184" name="Picture 8" descr="Internet Clipart (800x500), Png Download">
            <a:extLst>
              <a:ext uri="{FF2B5EF4-FFF2-40B4-BE49-F238E27FC236}">
                <a16:creationId xmlns:a16="http://schemas.microsoft.com/office/drawing/2014/main" id="{BCF57C33-3253-FB45-A823-92A246F83D8F}"/>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908962" y="2235310"/>
            <a:ext cx="973859" cy="736381"/>
          </a:xfrm>
          <a:prstGeom prst="rect">
            <a:avLst/>
          </a:prstGeom>
          <a:noFill/>
          <a:extLst>
            <a:ext uri="{909E8E84-426E-40DD-AFC4-6F175D3DCCD1}">
              <a14:hiddenFill xmlns:a14="http://schemas.microsoft.com/office/drawing/2010/main">
                <a:solidFill>
                  <a:srgbClr val="FFFFFF"/>
                </a:solidFill>
              </a14:hiddenFill>
            </a:ext>
          </a:extLst>
        </p:spPr>
      </p:pic>
      <p:pic>
        <p:nvPicPr>
          <p:cNvPr id="50190" name="Picture 14" descr="查看源图像">
            <a:extLst>
              <a:ext uri="{FF2B5EF4-FFF2-40B4-BE49-F238E27FC236}">
                <a16:creationId xmlns:a16="http://schemas.microsoft.com/office/drawing/2014/main" id="{40658C9E-DC5C-8940-B54C-4E0F33892F97}"/>
              </a:ext>
            </a:extLst>
          </p:cNvPr>
          <p:cNvPicPr>
            <a:picLocks noChangeAspect="1" noChangeArrowheads="1"/>
          </p:cNvPicPr>
          <p:nvPr/>
        </p:nvPicPr>
        <p:blipFill rotWithShape="1">
          <a:blip r:embed="rId5">
            <a:extLst>
              <a:ext uri="{28A0092B-C50C-407E-A947-70E740481C1C}">
                <a14:useLocalDpi xmlns:a14="http://schemas.microsoft.com/office/drawing/2010/main"/>
              </a:ext>
            </a:extLst>
          </a:blip>
          <a:srcRect r="45652" b="1407"/>
          <a:stretch/>
        </p:blipFill>
        <p:spPr bwMode="auto">
          <a:xfrm>
            <a:off x="9426646" y="2303004"/>
            <a:ext cx="730229" cy="689956"/>
          </a:xfrm>
          <a:prstGeom prst="rect">
            <a:avLst/>
          </a:prstGeom>
          <a:noFill/>
          <a:extLst>
            <a:ext uri="{909E8E84-426E-40DD-AFC4-6F175D3DCCD1}">
              <a14:hiddenFill xmlns:a14="http://schemas.microsoft.com/office/drawing/2010/main">
                <a:solidFill>
                  <a:srgbClr val="FFFFFF"/>
                </a:solidFill>
              </a14:hiddenFill>
            </a:ext>
          </a:extLst>
        </p:spPr>
      </p:pic>
      <p:cxnSp>
        <p:nvCxnSpPr>
          <p:cNvPr id="39" name="直接箭头连接符 33">
            <a:extLst>
              <a:ext uri="{FF2B5EF4-FFF2-40B4-BE49-F238E27FC236}">
                <a16:creationId xmlns:a16="http://schemas.microsoft.com/office/drawing/2014/main" id="{F26ACEBD-59BA-0643-AAB2-CE094BAA32FA}"/>
              </a:ext>
            </a:extLst>
          </p:cNvPr>
          <p:cNvCxnSpPr>
            <a:cxnSpLocks/>
          </p:cNvCxnSpPr>
          <p:nvPr/>
        </p:nvCxnSpPr>
        <p:spPr>
          <a:xfrm>
            <a:off x="3955845" y="4500122"/>
            <a:ext cx="40795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33">
            <a:extLst>
              <a:ext uri="{FF2B5EF4-FFF2-40B4-BE49-F238E27FC236}">
                <a16:creationId xmlns:a16="http://schemas.microsoft.com/office/drawing/2014/main" id="{79FB7900-811F-384A-8050-7FAD62F6DCF8}"/>
              </a:ext>
            </a:extLst>
          </p:cNvPr>
          <p:cNvCxnSpPr>
            <a:cxnSpLocks/>
          </p:cNvCxnSpPr>
          <p:nvPr/>
        </p:nvCxnSpPr>
        <p:spPr>
          <a:xfrm>
            <a:off x="7751678" y="4511392"/>
            <a:ext cx="413412" cy="497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33">
            <a:extLst>
              <a:ext uri="{FF2B5EF4-FFF2-40B4-BE49-F238E27FC236}">
                <a16:creationId xmlns:a16="http://schemas.microsoft.com/office/drawing/2014/main" id="{170AC0BC-F033-1241-ADCA-C161EA574A14}"/>
              </a:ext>
            </a:extLst>
          </p:cNvPr>
          <p:cNvCxnSpPr>
            <a:cxnSpLocks/>
            <a:stCxn id="15" idx="2"/>
          </p:cNvCxnSpPr>
          <p:nvPr/>
        </p:nvCxnSpPr>
        <p:spPr>
          <a:xfrm>
            <a:off x="2395891" y="5378712"/>
            <a:ext cx="0" cy="4981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33">
            <a:extLst>
              <a:ext uri="{FF2B5EF4-FFF2-40B4-BE49-F238E27FC236}">
                <a16:creationId xmlns:a16="http://schemas.microsoft.com/office/drawing/2014/main" id="{F7364948-6B90-D44B-9B32-95700D0F63AB}"/>
              </a:ext>
            </a:extLst>
          </p:cNvPr>
          <p:cNvCxnSpPr>
            <a:cxnSpLocks/>
            <a:stCxn id="20" idx="2"/>
          </p:cNvCxnSpPr>
          <p:nvPr/>
        </p:nvCxnSpPr>
        <p:spPr>
          <a:xfrm>
            <a:off x="6058956" y="5378712"/>
            <a:ext cx="7690" cy="4981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33">
            <a:extLst>
              <a:ext uri="{FF2B5EF4-FFF2-40B4-BE49-F238E27FC236}">
                <a16:creationId xmlns:a16="http://schemas.microsoft.com/office/drawing/2014/main" id="{3C8EECBF-92E8-D749-BE58-3CFF8E4FD844}"/>
              </a:ext>
            </a:extLst>
          </p:cNvPr>
          <p:cNvCxnSpPr>
            <a:cxnSpLocks/>
            <a:stCxn id="21" idx="2"/>
          </p:cNvCxnSpPr>
          <p:nvPr/>
        </p:nvCxnSpPr>
        <p:spPr>
          <a:xfrm>
            <a:off x="9776924" y="5378712"/>
            <a:ext cx="3440" cy="50089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a16="http://schemas.microsoft.com/office/drawing/2014/main" id="{96934E3C-BF42-7840-804C-B7916B2754E8}"/>
              </a:ext>
            </a:extLst>
          </p:cNvPr>
          <p:cNvSpPr>
            <a:spLocks/>
          </p:cNvSpPr>
          <p:nvPr/>
        </p:nvSpPr>
        <p:spPr bwMode="auto">
          <a:xfrm>
            <a:off x="917520" y="1012678"/>
            <a:ext cx="10436279" cy="1045580"/>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defRPr/>
            </a:pPr>
            <a:endParaRPr kumimoji="0" lang="en-US" sz="1600" kern="0" dirty="0">
              <a:solidFill>
                <a:srgbClr val="000000"/>
              </a:solidFill>
              <a:latin typeface="Arial" panose="020B0604020202020204" pitchFamily="34" charset="0"/>
              <a:ea typeface="微软雅黑" panose="020B0503020204020204" pitchFamily="34" charset="-122"/>
              <a:sym typeface="Arial" panose="020B0604020202020204" pitchFamily="34" charset="0"/>
            </a:endParaRPr>
          </a:p>
        </p:txBody>
      </p:sp>
      <p:sp>
        <p:nvSpPr>
          <p:cNvPr id="26" name="矩形 25">
            <a:extLst>
              <a:ext uri="{FF2B5EF4-FFF2-40B4-BE49-F238E27FC236}">
                <a16:creationId xmlns:a16="http://schemas.microsoft.com/office/drawing/2014/main" id="{8346EA8E-6129-7C4D-88E8-47EA35489799}"/>
              </a:ext>
            </a:extLst>
          </p:cNvPr>
          <p:cNvSpPr/>
          <p:nvPr/>
        </p:nvSpPr>
        <p:spPr>
          <a:xfrm>
            <a:off x="917519" y="1098387"/>
            <a:ext cx="10436279" cy="883703"/>
          </a:xfrm>
          <a:prstGeom prst="rect">
            <a:avLst/>
          </a:prstGeom>
        </p:spPr>
        <p:txBody>
          <a:bodyPr wrap="square">
            <a:spAutoFit/>
          </a:bodyPr>
          <a:lstStyle/>
          <a:p>
            <a:pPr>
              <a:lnSpc>
                <a:spcPts val="3200"/>
              </a:lnSpc>
            </a:pPr>
            <a:r>
              <a:rPr lang="zh-CN" altLang="en-US" sz="2400" b="1" kern="0" dirty="0">
                <a:latin typeface="Microsoft YaHei" charset="-122"/>
                <a:ea typeface="Microsoft YaHei" charset="-122"/>
                <a:cs typeface="Microsoft YaHei" charset="-122"/>
              </a:rPr>
              <a:t>剖析分布式系統安全問題的根源，探討如何從交互網絡、分布式算法和信任三方面構建安全、穩定、可信的分布式系統</a:t>
            </a:r>
            <a:endParaRPr lang="zh-CN" altLang="en-US" sz="2400" b="1" dirty="0">
              <a:latin typeface="Microsoft YaHei" charset="-122"/>
              <a:ea typeface="Microsoft YaHei" charset="-122"/>
              <a:cs typeface="Microsoft YaHei" charset="-122"/>
            </a:endParaRPr>
          </a:p>
        </p:txBody>
      </p:sp>
      <p:sp>
        <p:nvSpPr>
          <p:cNvPr id="27" name="矩形 26">
            <a:extLst>
              <a:ext uri="{FF2B5EF4-FFF2-40B4-BE49-F238E27FC236}">
                <a16:creationId xmlns:a16="http://schemas.microsoft.com/office/drawing/2014/main" id="{728F0061-73C9-6E42-9738-2E256F8682F1}"/>
              </a:ext>
            </a:extLst>
          </p:cNvPr>
          <p:cNvSpPr>
            <a:spLocks/>
          </p:cNvSpPr>
          <p:nvPr/>
        </p:nvSpPr>
        <p:spPr bwMode="auto">
          <a:xfrm>
            <a:off x="835937" y="5890484"/>
            <a:ext cx="3119908" cy="789613"/>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dirty="0">
                <a:latin typeface="Microsoft YaHei" panose="020B0503020204020204" pitchFamily="34" charset="-122"/>
                <a:ea typeface="Microsoft YaHei" panose="020B0503020204020204" pitchFamily="34" charset="-122"/>
              </a:rPr>
              <a:t>瞭解交互網絡的組成以及如何構建安全的交互網絡</a:t>
            </a:r>
          </a:p>
        </p:txBody>
      </p:sp>
      <p:sp>
        <p:nvSpPr>
          <p:cNvPr id="28" name="矩形 27">
            <a:extLst>
              <a:ext uri="{FF2B5EF4-FFF2-40B4-BE49-F238E27FC236}">
                <a16:creationId xmlns:a16="http://schemas.microsoft.com/office/drawing/2014/main" id="{06369F06-7ED9-EF41-A574-06BC6862117E}"/>
              </a:ext>
            </a:extLst>
          </p:cNvPr>
          <p:cNvSpPr>
            <a:spLocks/>
          </p:cNvSpPr>
          <p:nvPr/>
        </p:nvSpPr>
        <p:spPr bwMode="auto">
          <a:xfrm>
            <a:off x="4377825" y="5890484"/>
            <a:ext cx="3377641" cy="789613"/>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dirty="0">
                <a:latin typeface="Microsoft YaHei" panose="020B0503020204020204" pitchFamily="34" charset="-122"/>
                <a:ea typeface="Microsoft YaHei" panose="020B0503020204020204" pitchFamily="34" charset="-122"/>
              </a:rPr>
              <a:t>挖掘分布式系統各組件之間如何進行協同</a:t>
            </a:r>
          </a:p>
        </p:txBody>
      </p:sp>
      <p:sp>
        <p:nvSpPr>
          <p:cNvPr id="29" name="矩形 28">
            <a:extLst>
              <a:ext uri="{FF2B5EF4-FFF2-40B4-BE49-F238E27FC236}">
                <a16:creationId xmlns:a16="http://schemas.microsoft.com/office/drawing/2014/main" id="{D89EEB71-3499-8D46-9AAD-B64B5436CF3D}"/>
              </a:ext>
            </a:extLst>
          </p:cNvPr>
          <p:cNvSpPr>
            <a:spLocks/>
          </p:cNvSpPr>
          <p:nvPr/>
        </p:nvSpPr>
        <p:spPr bwMode="auto">
          <a:xfrm>
            <a:off x="8176537" y="5890484"/>
            <a:ext cx="3225242" cy="789613"/>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lang="zh-CN" altLang="en-US" sz="1800" kern="0" dirty="0">
                <a:latin typeface="Microsoft YaHei" panose="020B0503020204020204" pitchFamily="34" charset="-122"/>
                <a:ea typeface="Microsoft YaHei" panose="020B0503020204020204" pitchFamily="34" charset="-122"/>
                <a:cs typeface="Microsoft YaHei" charset="-122"/>
              </a:rPr>
              <a:t>瞭解分布式系統中的信任問題及解决方案</a:t>
            </a:r>
            <a:endParaRPr kumimoji="1"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75689011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22EA1B-B322-4782-A479-3D04DF48EA63}"/>
              </a:ext>
            </a:extLst>
          </p:cNvPr>
          <p:cNvSpPr>
            <a:spLocks noGrp="1"/>
          </p:cNvSpPr>
          <p:nvPr>
            <p:ph type="title"/>
          </p:nvPr>
        </p:nvSpPr>
        <p:spPr>
          <a:xfrm>
            <a:off x="1131376" y="109229"/>
            <a:ext cx="10222424" cy="725407"/>
          </a:xfrm>
        </p:spPr>
        <p:txBody>
          <a:bodyPr>
            <a:normAutofit/>
          </a:bodyPr>
          <a:lstStyle/>
          <a:p>
            <a:r>
              <a:rPr lang="zh-CN" altLang="en-US" dirty="0"/>
              <a:t>展望</a:t>
            </a:r>
          </a:p>
        </p:txBody>
      </p:sp>
      <p:sp>
        <p:nvSpPr>
          <p:cNvPr id="6" name="灯片编号占位符 2">
            <a:extLst>
              <a:ext uri="{FF2B5EF4-FFF2-40B4-BE49-F238E27FC236}">
                <a16:creationId xmlns:a16="http://schemas.microsoft.com/office/drawing/2014/main" id="{4F763DDD-66DA-AE47-A7EC-15A18260909E}"/>
              </a:ext>
            </a:extLst>
          </p:cNvPr>
          <p:cNvSpPr txBox="1">
            <a:spLocks/>
          </p:cNvSpPr>
          <p:nvPr/>
        </p:nvSpPr>
        <p:spPr>
          <a:xfrm>
            <a:off x="9321914" y="6473403"/>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23CBF4B4-C160-4F55-AC7D-1C8FF5BA05FA}" type="slidenum">
              <a:rPr lang="zh-CN" altLang="en-US" sz="1200" smtClean="0">
                <a:solidFill>
                  <a:srgbClr val="000000">
                    <a:tint val="75000"/>
                  </a:srgbClr>
                </a:solidFill>
                <a:latin typeface="Comic Sans MS"/>
                <a:ea typeface="微软雅黑 Light"/>
              </a:rPr>
              <a:pPr algn="r">
                <a:defRPr/>
              </a:pPr>
              <a:t>134</a:t>
            </a:fld>
            <a:endParaRPr lang="zh-CN" altLang="en-US" sz="1200" dirty="0">
              <a:solidFill>
                <a:srgbClr val="000000">
                  <a:tint val="75000"/>
                </a:srgbClr>
              </a:solidFill>
              <a:latin typeface="Comic Sans MS"/>
              <a:ea typeface="微软雅黑 Light"/>
            </a:endParaRPr>
          </a:p>
        </p:txBody>
      </p:sp>
      <p:sp>
        <p:nvSpPr>
          <p:cNvPr id="7" name="文本框 6">
            <a:extLst>
              <a:ext uri="{FF2B5EF4-FFF2-40B4-BE49-F238E27FC236}">
                <a16:creationId xmlns:a16="http://schemas.microsoft.com/office/drawing/2014/main" id="{61E380F5-C078-3F45-9F14-908349BFA8F7}"/>
              </a:ext>
            </a:extLst>
          </p:cNvPr>
          <p:cNvSpPr txBox="1"/>
          <p:nvPr/>
        </p:nvSpPr>
        <p:spPr>
          <a:xfrm>
            <a:off x="681316" y="848031"/>
            <a:ext cx="10954871" cy="662489"/>
          </a:xfrm>
          <a:prstGeom prst="rect">
            <a:avLst/>
          </a:prstGeom>
          <a:noFill/>
          <a:ln>
            <a:noFill/>
          </a:ln>
        </p:spPr>
        <p:txBody>
          <a:bodyPr wrap="square" rtlCol="0">
            <a:spAutoFit/>
          </a:bodyPr>
          <a:lstStyle>
            <a:defPPr>
              <a:defRPr lang="zh-CN"/>
            </a:defPPr>
            <a:lvl1pPr>
              <a:defRPr kumimoji="1" sz="2400" b="1">
                <a:latin typeface="Microsoft YaHei" panose="020B0503020204020204" pitchFamily="34" charset="-122"/>
                <a:ea typeface="Microsoft YaHei" panose="020B0503020204020204" pitchFamily="34" charset="-122"/>
              </a:defRPr>
            </a:lvl1pPr>
          </a:lstStyle>
          <a:p>
            <a:pPr algn="ctr">
              <a:lnSpc>
                <a:spcPct val="150000"/>
              </a:lnSpc>
            </a:pPr>
            <a:r>
              <a:rPr lang="zh-CN" altLang="en-US" sz="2800" b="1" i="0" dirty="0">
                <a:solidFill>
                  <a:srgbClr val="C00000"/>
                </a:solidFill>
                <a:effectLst/>
              </a:rPr>
              <a:t>新的應用場景對分布式系統的研究提出了新的挑戰</a:t>
            </a:r>
            <a:endParaRPr lang="zh-CN" altLang="en-US" sz="2800" dirty="0">
              <a:solidFill>
                <a:srgbClr val="C00000"/>
              </a:solidFill>
            </a:endParaRPr>
          </a:p>
        </p:txBody>
      </p:sp>
      <p:sp>
        <p:nvSpPr>
          <p:cNvPr id="12" name="文本框 11">
            <a:extLst>
              <a:ext uri="{FF2B5EF4-FFF2-40B4-BE49-F238E27FC236}">
                <a16:creationId xmlns:a16="http://schemas.microsoft.com/office/drawing/2014/main" id="{110B799B-F51D-5B45-8989-AE53922A86B6}"/>
              </a:ext>
            </a:extLst>
          </p:cNvPr>
          <p:cNvSpPr txBox="1"/>
          <p:nvPr/>
        </p:nvSpPr>
        <p:spPr>
          <a:xfrm>
            <a:off x="630240" y="3857388"/>
            <a:ext cx="11057022" cy="2797048"/>
          </a:xfrm>
          <a:prstGeom prst="rect">
            <a:avLst/>
          </a:prstGeom>
          <a:solidFill>
            <a:schemeClr val="accent3">
              <a:lumMod val="20000"/>
              <a:lumOff val="80000"/>
              <a:alpha val="37000"/>
            </a:schemeClr>
          </a:solidFill>
          <a:ln>
            <a:solidFill>
              <a:srgbClr val="00B0F0"/>
            </a:solidFill>
          </a:ln>
        </p:spPr>
        <p:txBody>
          <a:bodyPr wrap="square" rtlCol="0">
            <a:spAutoFit/>
          </a:bodyPr>
          <a:lstStyle>
            <a:defPPr>
              <a:defRPr lang="zh-CN"/>
            </a:defPPr>
            <a:lvl1pPr algn="ctr">
              <a:lnSpc>
                <a:spcPct val="150000"/>
              </a:lnSpc>
              <a:defRPr kumimoji="1" sz="2800" b="1" i="0">
                <a:solidFill>
                  <a:srgbClr val="C00000"/>
                </a:solidFill>
                <a:effectLst/>
                <a:latin typeface="Microsoft YaHei" panose="020B0503020204020204" pitchFamily="34" charset="-122"/>
                <a:ea typeface="Microsoft YaHei" panose="020B0503020204020204" pitchFamily="34" charset="-122"/>
              </a:defRPr>
            </a:lvl1pPr>
          </a:lstStyle>
          <a:p>
            <a:pPr marL="342900" indent="-342900" algn="just">
              <a:buFont typeface="Arial" panose="020B0604020202020204" pitchFamily="34" charset="0"/>
              <a:buChar char="•"/>
            </a:pPr>
            <a:r>
              <a:rPr lang="zh-CN" altLang="en-US" sz="2400" dirty="0">
                <a:solidFill>
                  <a:schemeClr val="tx1"/>
                </a:solidFill>
              </a:rPr>
              <a:t>隨著比特幣的出現，</a:t>
            </a:r>
            <a:r>
              <a:rPr lang="zh-CN" altLang="en-US" sz="2400" dirty="0"/>
              <a:t>區塊鏈</a:t>
            </a:r>
            <a:r>
              <a:rPr lang="zh-CN" altLang="en-US" sz="2400" dirty="0">
                <a:solidFill>
                  <a:schemeClr val="tx1"/>
                </a:solidFill>
              </a:rPr>
              <a:t>技術得到飛速發展，但是如何進一步提升區塊鏈性能幷拓展其應用範圍對分布式系統研究提供了新的方向</a:t>
            </a:r>
            <a:endParaRPr lang="en-US" altLang="zh-CN" sz="2400" dirty="0">
              <a:solidFill>
                <a:schemeClr val="tx1"/>
              </a:solidFill>
            </a:endParaRPr>
          </a:p>
          <a:p>
            <a:pPr marL="342900" indent="-342900" algn="just">
              <a:buFont typeface="Arial" panose="020B0604020202020204" pitchFamily="34" charset="0"/>
              <a:buChar char="•"/>
            </a:pPr>
            <a:r>
              <a:rPr lang="zh-CN" altLang="en-US" sz="2400" dirty="0">
                <a:solidFill>
                  <a:schemeClr val="tx1"/>
                </a:solidFill>
              </a:rPr>
              <a:t>近些年來，爲了打破數據孤島，</a:t>
            </a:r>
            <a:r>
              <a:rPr lang="zh-CN" altLang="en-US" sz="2400" dirty="0"/>
              <a:t>聯邦學習</a:t>
            </a:r>
            <a:r>
              <a:rPr lang="zh-CN" altLang="en-US" sz="2400" dirty="0">
                <a:solidFill>
                  <a:schemeClr val="tx1"/>
                </a:solidFill>
              </a:rPr>
              <a:t>被提出幷得到發展，如何協調互不信任的組織之間實現可信數據協同成爲新的挑戰</a:t>
            </a:r>
            <a:endParaRPr lang="en-US" altLang="zh-CN" sz="2400" dirty="0">
              <a:solidFill>
                <a:schemeClr val="tx1"/>
              </a:solidFill>
            </a:endParaRPr>
          </a:p>
          <a:p>
            <a:pPr marL="342900" indent="-342900" algn="just">
              <a:buFont typeface="Arial" panose="020B0604020202020204" pitchFamily="34" charset="0"/>
              <a:buChar char="•"/>
            </a:pPr>
            <a:r>
              <a:rPr lang="zh-CN" altLang="en-US" sz="2400" dirty="0">
                <a:solidFill>
                  <a:schemeClr val="tx1"/>
                </a:solidFill>
              </a:rPr>
              <a:t>互聯網的發展</a:t>
            </a:r>
            <a:r>
              <a:rPr lang="zh-CN" altLang="en-US" sz="2400" dirty="0"/>
              <a:t>暴露了傳統設計的弊端</a:t>
            </a:r>
            <a:r>
              <a:rPr lang="zh-CN" altLang="en-US" sz="2400" dirty="0">
                <a:solidFill>
                  <a:schemeClr val="tx1"/>
                </a:solidFill>
              </a:rPr>
              <a:t>，如何構建可信互聯網基礎設施至關重要</a:t>
            </a:r>
            <a:endParaRPr lang="en-US" altLang="zh-CN" sz="2400" dirty="0">
              <a:solidFill>
                <a:schemeClr val="tx1"/>
              </a:solidFill>
            </a:endParaRPr>
          </a:p>
        </p:txBody>
      </p:sp>
      <p:pic>
        <p:nvPicPr>
          <p:cNvPr id="4" name="图片 3">
            <a:extLst>
              <a:ext uri="{FF2B5EF4-FFF2-40B4-BE49-F238E27FC236}">
                <a16:creationId xmlns:a16="http://schemas.microsoft.com/office/drawing/2014/main" id="{DF5B3D5C-6F43-6B44-BC67-30DF9CC3C9B2}"/>
              </a:ext>
            </a:extLst>
          </p:cNvPr>
          <p:cNvPicPr>
            <a:picLocks noChangeAspect="1"/>
          </p:cNvPicPr>
          <p:nvPr/>
        </p:nvPicPr>
        <p:blipFill>
          <a:blip r:embed="rId3"/>
          <a:stretch>
            <a:fillRect/>
          </a:stretch>
        </p:blipFill>
        <p:spPr>
          <a:xfrm>
            <a:off x="4109653" y="1717107"/>
            <a:ext cx="3995042" cy="1903506"/>
          </a:xfrm>
          <a:prstGeom prst="rect">
            <a:avLst/>
          </a:prstGeom>
        </p:spPr>
      </p:pic>
      <p:pic>
        <p:nvPicPr>
          <p:cNvPr id="14" name="图片 13">
            <a:extLst>
              <a:ext uri="{FF2B5EF4-FFF2-40B4-BE49-F238E27FC236}">
                <a16:creationId xmlns:a16="http://schemas.microsoft.com/office/drawing/2014/main" id="{C3CAE993-6587-254B-96A6-295363BB0902}"/>
              </a:ext>
            </a:extLst>
          </p:cNvPr>
          <p:cNvPicPr>
            <a:picLocks noChangeAspect="1"/>
          </p:cNvPicPr>
          <p:nvPr/>
        </p:nvPicPr>
        <p:blipFill>
          <a:blip r:embed="rId4"/>
          <a:stretch>
            <a:fillRect/>
          </a:stretch>
        </p:blipFill>
        <p:spPr>
          <a:xfrm>
            <a:off x="681317" y="1721946"/>
            <a:ext cx="3282914" cy="1924016"/>
          </a:xfrm>
          <a:prstGeom prst="rect">
            <a:avLst/>
          </a:prstGeom>
        </p:spPr>
      </p:pic>
      <p:pic>
        <p:nvPicPr>
          <p:cNvPr id="16" name="图片 15">
            <a:extLst>
              <a:ext uri="{FF2B5EF4-FFF2-40B4-BE49-F238E27FC236}">
                <a16:creationId xmlns:a16="http://schemas.microsoft.com/office/drawing/2014/main" id="{085FAFAC-6655-EC48-9548-9F9C21F22C55}"/>
              </a:ext>
            </a:extLst>
          </p:cNvPr>
          <p:cNvPicPr>
            <a:picLocks noChangeAspect="1"/>
          </p:cNvPicPr>
          <p:nvPr/>
        </p:nvPicPr>
        <p:blipFill>
          <a:blip r:embed="rId5"/>
          <a:stretch>
            <a:fillRect/>
          </a:stretch>
        </p:blipFill>
        <p:spPr>
          <a:xfrm>
            <a:off x="8274668" y="1730646"/>
            <a:ext cx="3336865" cy="1889967"/>
          </a:xfrm>
          <a:prstGeom prst="rect">
            <a:avLst/>
          </a:prstGeom>
        </p:spPr>
      </p:pic>
    </p:spTree>
    <p:extLst>
      <p:ext uri="{BB962C8B-B14F-4D97-AF65-F5344CB8AC3E}">
        <p14:creationId xmlns:p14="http://schemas.microsoft.com/office/powerpoint/2010/main" val="2243664389"/>
      </p:ext>
    </p:extLst>
  </p:cSld>
  <p:clrMapOvr>
    <a:masterClrMapping/>
  </p:clrMapOvr>
</p:sld>
</file>

<file path=ppt/theme/theme1.xml><?xml version="1.0" encoding="utf-8"?>
<a:theme xmlns:a="http://schemas.openxmlformats.org/drawingml/2006/main" name="1_Office 主题">
  <a:themeElements>
    <a:clrScheme name="达芬奇的左手">
      <a:dk1>
        <a:srgbClr val="000000"/>
      </a:dk1>
      <a:lt1>
        <a:srgbClr val="FFFFFF"/>
      </a:lt1>
      <a:dk2>
        <a:srgbClr val="44546A"/>
      </a:dk2>
      <a:lt2>
        <a:srgbClr val="E7E6E6"/>
      </a:lt2>
      <a:accent1>
        <a:srgbClr val="2A3D52"/>
      </a:accent1>
      <a:accent2>
        <a:srgbClr val="FEBA01"/>
      </a:accent2>
      <a:accent3>
        <a:srgbClr val="0070C0"/>
      </a:accent3>
      <a:accent4>
        <a:srgbClr val="C00000"/>
      </a:accent4>
      <a:accent5>
        <a:srgbClr val="38526E"/>
      </a:accent5>
      <a:accent6>
        <a:srgbClr val="BFBFBF"/>
      </a:accent6>
      <a:hlink>
        <a:srgbClr val="2A3D52"/>
      </a:hlink>
      <a:folHlink>
        <a:srgbClr val="C4AF99"/>
      </a:folHlink>
    </a:clrScheme>
    <a:fontScheme name="自定义 6">
      <a:majorFont>
        <a:latin typeface="Arial"/>
        <a:ea typeface="微软雅黑 Light"/>
        <a:cs typeface=""/>
      </a:majorFont>
      <a:minorFont>
        <a:latin typeface="Arial"/>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116574</TotalTime>
  <Words>18767</Words>
  <Application>Microsoft Office PowerPoint</Application>
  <PresentationFormat>Grand écran</PresentationFormat>
  <Paragraphs>1887</Paragraphs>
  <Slides>134</Slides>
  <Notes>77</Notes>
  <HiddenSlides>7</HiddenSlides>
  <MMClips>0</MMClips>
  <ScaleCrop>false</ScaleCrop>
  <HeadingPairs>
    <vt:vector size="8" baseType="variant">
      <vt:variant>
        <vt:lpstr>Polices utilisées</vt:lpstr>
      </vt:variant>
      <vt:variant>
        <vt:i4>16</vt:i4>
      </vt:variant>
      <vt:variant>
        <vt:lpstr>Thème</vt:lpstr>
      </vt:variant>
      <vt:variant>
        <vt:i4>1</vt:i4>
      </vt:variant>
      <vt:variant>
        <vt:lpstr>Serveurs OLE incorporés</vt:lpstr>
      </vt:variant>
      <vt:variant>
        <vt:i4>1</vt:i4>
      </vt:variant>
      <vt:variant>
        <vt:lpstr>Titres des diapositives</vt:lpstr>
      </vt:variant>
      <vt:variant>
        <vt:i4>134</vt:i4>
      </vt:variant>
    </vt:vector>
  </HeadingPairs>
  <TitlesOfParts>
    <vt:vector size="152" baseType="lpstr">
      <vt:lpstr>-apple-system</vt:lpstr>
      <vt:lpstr>PingFang SC</vt:lpstr>
      <vt:lpstr>华文细黑</vt:lpstr>
      <vt:lpstr>微软雅黑</vt:lpstr>
      <vt:lpstr>微软雅黑</vt:lpstr>
      <vt:lpstr>等线</vt:lpstr>
      <vt:lpstr>等线</vt:lpstr>
      <vt:lpstr>Arial</vt:lpstr>
      <vt:lpstr>Arial Black</vt:lpstr>
      <vt:lpstr>Calibri</vt:lpstr>
      <vt:lpstr>Cambria Math</vt:lpstr>
      <vt:lpstr>Comic Sans MS</vt:lpstr>
      <vt:lpstr>Helvetica</vt:lpstr>
      <vt:lpstr>Monotype Corsiva</vt:lpstr>
      <vt:lpstr>Times New Roman</vt:lpstr>
      <vt:lpstr>Wingdings</vt:lpstr>
      <vt:lpstr>1_Office 主题</vt:lpstr>
      <vt:lpstr>Equation</vt:lpstr>
      <vt:lpstr>分布式系統安全</vt:lpstr>
      <vt:lpstr>分布式系統的起源</vt:lpstr>
      <vt:lpstr>以太網之父Bob Metcalfe</vt:lpstr>
      <vt:lpstr>分布式系統飛速發展</vt:lpstr>
      <vt:lpstr>分布式系統無處不在</vt:lpstr>
      <vt:lpstr>討論</vt:lpstr>
      <vt:lpstr>分布式系統是什麽？</vt:lpstr>
      <vt:lpstr>分布式系統的三個屬性</vt:lpstr>
      <vt:lpstr>分布式系統的三個屬性</vt:lpstr>
      <vt:lpstr>分布式系統安全問題的根源</vt:lpstr>
      <vt:lpstr>經典的分布式系統</vt:lpstr>
      <vt:lpstr>本章的內容組織</vt:lpstr>
      <vt:lpstr>Présentation PowerPoint</vt:lpstr>
      <vt:lpstr>交互網絡的組成</vt:lpstr>
      <vt:lpstr>交互信道中的安全隱患</vt:lpstr>
      <vt:lpstr>交互信道中的安全隱患</vt:lpstr>
      <vt:lpstr>交互信道中的安全隱患</vt:lpstr>
      <vt:lpstr>交互信道中的安全隱患</vt:lpstr>
      <vt:lpstr>構建TCP交互信道</vt:lpstr>
      <vt:lpstr>構建TLS交互信道</vt:lpstr>
      <vt:lpstr>TLS防重放攻擊</vt:lpstr>
      <vt:lpstr>基于時間戳防禦重放攻擊</vt:lpstr>
      <vt:lpstr>基于隨機數防禦重放攻擊</vt:lpstr>
      <vt:lpstr>時間戳和隨機數相結合</vt:lpstr>
      <vt:lpstr>當網絡鏈路出現故障</vt:lpstr>
      <vt:lpstr>造成網絡故障的主要原因</vt:lpstr>
      <vt:lpstr>解决思路</vt:lpstr>
      <vt:lpstr>覆蓋網絡</vt:lpstr>
      <vt:lpstr>彈性覆蓋網絡RON</vt:lpstr>
      <vt:lpstr>RON的目標</vt:lpstr>
      <vt:lpstr>RON的設計</vt:lpstr>
      <vt:lpstr>RON的設計</vt:lpstr>
      <vt:lpstr>RON的穩定性分析</vt:lpstr>
      <vt:lpstr>部署與測試</vt:lpstr>
      <vt:lpstr>P2P vs C/S</vt:lpstr>
      <vt:lpstr>P2P網絡的建立流程</vt:lpstr>
      <vt:lpstr>網絡節點發現</vt:lpstr>
      <vt:lpstr>鄰居節點維護</vt:lpstr>
      <vt:lpstr>日蝕攻擊</vt:lpstr>
      <vt:lpstr>擠占入向連接</vt:lpstr>
      <vt:lpstr>擠占出向連接</vt:lpstr>
      <vt:lpstr>配合路由劫持攻擊</vt:lpstr>
      <vt:lpstr>Présentation PowerPoint</vt:lpstr>
      <vt:lpstr>協作過程中的安全問題</vt:lpstr>
      <vt:lpstr>時鐘不同步可能引發的問題</vt:lpstr>
      <vt:lpstr>時鐘同步算法</vt:lpstr>
      <vt:lpstr>Cristian算法</vt:lpstr>
      <vt:lpstr>Berkeley算法</vt:lpstr>
      <vt:lpstr>網絡時間協議（NTP）</vt:lpstr>
      <vt:lpstr>幷發問題：破壞一致性</vt:lpstr>
      <vt:lpstr>幷發問題：指令之間相互影響</vt:lpstr>
      <vt:lpstr>事務與分布式事務</vt:lpstr>
      <vt:lpstr>兩階段提交確保一致性</vt:lpstr>
      <vt:lpstr>基于鎖機制確保隔離性</vt:lpstr>
      <vt:lpstr>討論</vt:lpstr>
      <vt:lpstr>數據庫節點故障</vt:lpstr>
      <vt:lpstr>協調者故障</vt:lpstr>
      <vt:lpstr>網絡擁塞/鏈路故障</vt:lpstr>
      <vt:lpstr>無法容錯的根源</vt:lpstr>
      <vt:lpstr>Quorum設計準則</vt:lpstr>
      <vt:lpstr>Quorum設計準則</vt:lpstr>
      <vt:lpstr>故障容錯算法-Paxos</vt:lpstr>
      <vt:lpstr>故障容錯算法-Paxos</vt:lpstr>
      <vt:lpstr>Paxos的主要思想</vt:lpstr>
      <vt:lpstr>無Leader模式下的運行流程</vt:lpstr>
      <vt:lpstr>一種永遠無法達成共識的極端場景</vt:lpstr>
      <vt:lpstr>故障容錯算法-Raft</vt:lpstr>
      <vt:lpstr>故障容錯算法-Raft</vt:lpstr>
      <vt:lpstr>Raft的主要思想</vt:lpstr>
      <vt:lpstr>Raft運行流程</vt:lpstr>
      <vt:lpstr>Raft運行流程</vt:lpstr>
      <vt:lpstr>Raft運行流程</vt:lpstr>
      <vt:lpstr>Raft運行流程</vt:lpstr>
      <vt:lpstr>Présentation PowerPoint</vt:lpstr>
      <vt:lpstr>零信任網絡</vt:lpstr>
      <vt:lpstr>零信任下訪問的基本流程</vt:lpstr>
      <vt:lpstr>訪問控制</vt:lpstr>
      <vt:lpstr>基于角色的訪問控制</vt:lpstr>
      <vt:lpstr>基于屬性的訪問控制</vt:lpstr>
      <vt:lpstr>基于信任管理的訪問控制</vt:lpstr>
      <vt:lpstr>訪問控制的局限性</vt:lpstr>
      <vt:lpstr>信任評價模型</vt:lpstr>
      <vt:lpstr>信任評價系統舉例—Eigentrust</vt:lpstr>
      <vt:lpstr>信譽系統的五個要求</vt:lpstr>
      <vt:lpstr>基本概念</vt:lpstr>
      <vt:lpstr>傳遞信譽值的計算</vt:lpstr>
      <vt:lpstr>實現時需要考慮的問題</vt:lpstr>
      <vt:lpstr>協作計算全域信譽值</vt:lpstr>
      <vt:lpstr>拜占庭將軍問題</vt:lpstr>
      <vt:lpstr>拜占庭將軍問題</vt:lpstr>
      <vt:lpstr>拜占庭將軍問題</vt:lpstr>
      <vt:lpstr>問題定義</vt:lpstr>
      <vt:lpstr>問題定義</vt:lpstr>
      <vt:lpstr>問題定義</vt:lpstr>
      <vt:lpstr>問題定義</vt:lpstr>
      <vt:lpstr>問題簡化</vt:lpstr>
      <vt:lpstr>一致性和正確性條件</vt:lpstr>
      <vt:lpstr>解决方法</vt:lpstr>
      <vt:lpstr>口頭消息下三將軍問題無解</vt:lpstr>
      <vt:lpstr>口頭消息下的不可能性</vt:lpstr>
      <vt:lpstr>口頭消息(OM)協議</vt:lpstr>
      <vt:lpstr>口頭消息協議</vt:lpstr>
      <vt:lpstr>四將軍問題實例：懶惰的八戒</vt:lpstr>
      <vt:lpstr>四將軍問題實例：機智的師傅</vt:lpstr>
      <vt:lpstr>7將軍2叛徒算法分析</vt:lpstr>
      <vt:lpstr>場景一：將軍是忠誠的</vt:lpstr>
      <vt:lpstr>場景一：將軍是忠誠的</vt:lpstr>
      <vt:lpstr>場景一：將軍是忠誠的</vt:lpstr>
      <vt:lpstr>場景二：將軍是叛徒</vt:lpstr>
      <vt:lpstr>場景二：將軍是叛徒</vt:lpstr>
      <vt:lpstr>課後思考</vt:lpstr>
      <vt:lpstr>口頭消息的缺點</vt:lpstr>
      <vt:lpstr>方案二：簽名消息(SM)協議</vt:lpstr>
      <vt:lpstr>簽名消息協議</vt:lpstr>
      <vt:lpstr>實例分析: 3將軍1叛徒</vt:lpstr>
      <vt:lpstr>2m+1將軍m叛徒分析</vt:lpstr>
      <vt:lpstr>拜占庭容錯共識的應用場景: 區塊鏈</vt:lpstr>
      <vt:lpstr>實際模型—狀態機複製</vt:lpstr>
      <vt:lpstr>拜占庭共識：Quorum設計準則</vt:lpstr>
      <vt:lpstr>同步BFT共識中的Quorum設計</vt:lpstr>
      <vt:lpstr>异步BFT共識中的Quorum設計</vt:lpstr>
      <vt:lpstr>同步和异步BFT共識的缺陷</vt:lpstr>
      <vt:lpstr>引入部分同步網絡模型</vt:lpstr>
      <vt:lpstr>實用拜占庭容錯-PBFT</vt:lpstr>
      <vt:lpstr>PBFT的主要思想</vt:lpstr>
      <vt:lpstr>4節點實例分析</vt:lpstr>
      <vt:lpstr>Hotstuff</vt:lpstr>
      <vt:lpstr>協議基礎</vt:lpstr>
      <vt:lpstr>Hotstuff（基本方案）</vt:lpstr>
      <vt:lpstr>Hotstuff（流水綫方案）</vt:lpstr>
      <vt:lpstr>Hotstuff（流水綫方案）</vt:lpstr>
      <vt:lpstr>Présentation PowerPoint</vt:lpstr>
      <vt:lpstr>總結</vt:lpstr>
      <vt:lpstr>展望</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Terry C.</cp:lastModifiedBy>
  <cp:revision>2464</cp:revision>
  <cp:lastPrinted>2025-06-11T08:55:45Z</cp:lastPrinted>
  <dcterms:created xsi:type="dcterms:W3CDTF">2020-08-30T11:20:13Z</dcterms:created>
  <dcterms:modified xsi:type="dcterms:W3CDTF">2025-06-11T08:58:14Z</dcterms:modified>
</cp:coreProperties>
</file>