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8"/>
  </p:notesMasterIdLst>
  <p:sldIdLst>
    <p:sldId id="4001" r:id="rId2"/>
    <p:sldId id="4887" r:id="rId3"/>
    <p:sldId id="4891" r:id="rId4"/>
    <p:sldId id="4892" r:id="rId5"/>
    <p:sldId id="4897" r:id="rId6"/>
    <p:sldId id="4893" r:id="rId7"/>
    <p:sldId id="4898" r:id="rId8"/>
    <p:sldId id="4894" r:id="rId9"/>
    <p:sldId id="4899" r:id="rId10"/>
    <p:sldId id="4895" r:id="rId11"/>
    <p:sldId id="4904" r:id="rId12"/>
    <p:sldId id="4900" r:id="rId13"/>
    <p:sldId id="4901" r:id="rId14"/>
    <p:sldId id="14484185" r:id="rId15"/>
    <p:sldId id="14484172" r:id="rId16"/>
    <p:sldId id="4007" r:id="rId17"/>
    <p:sldId id="3935" r:id="rId18"/>
    <p:sldId id="14484170" r:id="rId19"/>
    <p:sldId id="16669141" r:id="rId20"/>
    <p:sldId id="14484169" r:id="rId21"/>
    <p:sldId id="4005" r:id="rId22"/>
    <p:sldId id="4008" r:id="rId23"/>
    <p:sldId id="14484186" r:id="rId24"/>
    <p:sldId id="14484167" r:id="rId25"/>
    <p:sldId id="14484166" r:id="rId26"/>
    <p:sldId id="16669140"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E46A9"/>
    <a:srgbClr val="9900CC"/>
    <a:srgbClr val="592C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27"/>
    <p:restoredTop sz="73339" autoAdjust="0"/>
  </p:normalViewPr>
  <p:slideViewPr>
    <p:cSldViewPr snapToGrid="0" snapToObjects="1">
      <p:cViewPr varScale="1">
        <p:scale>
          <a:sx n="85" d="100"/>
          <a:sy n="85" d="100"/>
        </p:scale>
        <p:origin x="60" y="387"/>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CCE95-9802-FF4D-BF14-C0BADA9BA38E}" type="datetimeFigureOut">
              <a:rPr kumimoji="1" lang="zh-CN" altLang="en-US" smtClean="0"/>
              <a:t>2025/6/11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5F7E-8FCD-B247-8658-9B89ABB1145E}" type="slidenum">
              <a:rPr kumimoji="1" lang="zh-CN" altLang="en-US" smtClean="0"/>
              <a:t>‹N°›</a:t>
            </a:fld>
            <a:endParaRPr kumimoji="1" lang="zh-CN" altLang="en-US" dirty="0"/>
          </a:p>
        </p:txBody>
      </p:sp>
    </p:spTree>
    <p:extLst>
      <p:ext uri="{BB962C8B-B14F-4D97-AF65-F5344CB8AC3E}">
        <p14:creationId xmlns:p14="http://schemas.microsoft.com/office/powerpoint/2010/main" val="188969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a:t>
            </a:fld>
            <a:endParaRPr kumimoji="1" lang="zh-CN" altLang="en-US" dirty="0"/>
          </a:p>
        </p:txBody>
      </p:sp>
    </p:spTree>
    <p:extLst>
      <p:ext uri="{BB962C8B-B14F-4D97-AF65-F5344CB8AC3E}">
        <p14:creationId xmlns:p14="http://schemas.microsoft.com/office/powerpoint/2010/main" val="1160121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335F-4A5E-993A-8013-1008B0C798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A17556-2407-E88A-E745-3708D76273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634DEF-C2A2-A257-5F54-74B68A992C39}"/>
              </a:ext>
            </a:extLst>
          </p:cNvPr>
          <p:cNvSpPr>
            <a:spLocks noGrp="1"/>
          </p:cNvSpPr>
          <p:nvPr>
            <p:ph type="body" idx="1"/>
          </p:nvPr>
        </p:nvSpPr>
        <p:spPr/>
        <p:txBody>
          <a:bodyPr/>
          <a:lstStyle/>
          <a:p>
            <a:r>
              <a:rPr kumimoji="1" lang="en-US" altLang="zh-CN" dirty="0"/>
              <a:t>Todo</a:t>
            </a:r>
            <a:r>
              <a:rPr kumimoji="1" lang="zh-CN" altLang="en-US" dirty="0"/>
              <a:t>：把公鑰基礎設施加進來</a:t>
            </a:r>
          </a:p>
        </p:txBody>
      </p:sp>
      <p:sp>
        <p:nvSpPr>
          <p:cNvPr id="5" name="灯片编号占位符 4">
            <a:extLst>
              <a:ext uri="{FF2B5EF4-FFF2-40B4-BE49-F238E27FC236}">
                <a16:creationId xmlns:a16="http://schemas.microsoft.com/office/drawing/2014/main" id="{5EA20B4E-0F38-5599-A405-79516853397C}"/>
              </a:ext>
            </a:extLst>
          </p:cNvPr>
          <p:cNvSpPr>
            <a:spLocks noGrp="1"/>
          </p:cNvSpPr>
          <p:nvPr>
            <p:ph type="sldNum" sz="quarter" idx="5"/>
          </p:nvPr>
        </p:nvSpPr>
        <p:spPr/>
        <p:txBody>
          <a:bodyPr/>
          <a:lstStyle/>
          <a:p>
            <a:fld id="{C0905F7E-8FCD-B247-8658-9B89ABB1145E}" type="slidenum">
              <a:rPr kumimoji="1" lang="zh-CN" altLang="en-US" smtClean="0"/>
              <a:t>14</a:t>
            </a:fld>
            <a:endParaRPr kumimoji="1" lang="zh-CN" altLang="en-US" dirty="0"/>
          </a:p>
        </p:txBody>
      </p:sp>
    </p:spTree>
    <p:extLst>
      <p:ext uri="{BB962C8B-B14F-4D97-AF65-F5344CB8AC3E}">
        <p14:creationId xmlns:p14="http://schemas.microsoft.com/office/powerpoint/2010/main" val="1696906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15</a:t>
            </a:fld>
            <a:endParaRPr kumimoji="1" lang="zh-CN" altLang="en-US" dirty="0"/>
          </a:p>
        </p:txBody>
      </p:sp>
    </p:spTree>
    <p:extLst>
      <p:ext uri="{BB962C8B-B14F-4D97-AF65-F5344CB8AC3E}">
        <p14:creationId xmlns:p14="http://schemas.microsoft.com/office/powerpoint/2010/main" val="2865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FandolSong-Regular-Identity-H"/>
              </a:rPr>
              <a:t>本章對系統硬件安全問題進行分析和總結，內容組織上分爲三個小節，首先給出常用的硬件攻擊技術，理解攻擊者如何對系統硬件造成威脅，然後給出一些常用的硬件防護措施，掌握系統硬件防護的基本策略。最後以幾個典型漏洞爲例，深入分析硬件攻擊技術的具體實現</a:t>
            </a:r>
            <a:endParaRPr lang="en-US" altLang="zh-CN" sz="1800" b="0" i="0" u="none" strike="noStrike" baseline="0" dirty="0">
              <a:latin typeface="FandolSong-Regular-Identity-H"/>
            </a:endParaRP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16</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0940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865667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19</a:t>
            </a:fld>
            <a:endParaRPr kumimoji="1" lang="zh-CN" altLang="en-US" dirty="0"/>
          </a:p>
        </p:txBody>
      </p:sp>
    </p:spTree>
    <p:extLst>
      <p:ext uri="{BB962C8B-B14F-4D97-AF65-F5344CB8AC3E}">
        <p14:creationId xmlns:p14="http://schemas.microsoft.com/office/powerpoint/2010/main" val="1620197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6590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21</a:t>
            </a:fld>
            <a:endParaRPr kumimoji="1" lang="zh-CN" altLang="en-US" dirty="0"/>
          </a:p>
        </p:txBody>
      </p:sp>
    </p:spTree>
    <p:extLst>
      <p:ext uri="{BB962C8B-B14F-4D97-AF65-F5344CB8AC3E}">
        <p14:creationId xmlns:p14="http://schemas.microsoft.com/office/powerpoint/2010/main" val="416590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23</a:t>
            </a:fld>
            <a:endParaRPr kumimoji="1" lang="zh-CN" altLang="en-US" dirty="0"/>
          </a:p>
        </p:txBody>
      </p:sp>
    </p:spTree>
    <p:extLst>
      <p:ext uri="{BB962C8B-B14F-4D97-AF65-F5344CB8AC3E}">
        <p14:creationId xmlns:p14="http://schemas.microsoft.com/office/powerpoint/2010/main" val="416590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24</a:t>
            </a:fld>
            <a:endParaRPr kumimoji="1" lang="zh-CN" altLang="en-US" dirty="0"/>
          </a:p>
        </p:txBody>
      </p:sp>
    </p:spTree>
    <p:extLst>
      <p:ext uri="{BB962C8B-B14F-4D97-AF65-F5344CB8AC3E}">
        <p14:creationId xmlns:p14="http://schemas.microsoft.com/office/powerpoint/2010/main" val="4046775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25</a:t>
            </a:fld>
            <a:endParaRPr kumimoji="1" lang="zh-CN" altLang="en-US" dirty="0"/>
          </a:p>
        </p:txBody>
      </p:sp>
    </p:spTree>
    <p:extLst>
      <p:ext uri="{BB962C8B-B14F-4D97-AF65-F5344CB8AC3E}">
        <p14:creationId xmlns:p14="http://schemas.microsoft.com/office/powerpoint/2010/main" val="3748112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26</a:t>
            </a:fld>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FAB89-06BC-21E3-1501-733B69961CD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33918CF-7EE2-550B-48DF-15EE085100AB}"/>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B373EE07-7DD2-FCE7-48A1-2ED049F82F3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0692167-0A5E-C4D4-084B-D5B65FF1D0BB}"/>
              </a:ext>
            </a:extLst>
          </p:cNvPr>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74379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chemeClr val="tx1">
                    <a:lumMod val="85000"/>
                    <a:lumOff val="15000"/>
                  </a:schemeClr>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466E365A-9A48-4C04-BE65-9651DDDAAE58}"/>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8" name="内容占位符 7">
            <a:extLst>
              <a:ext uri="{FF2B5EF4-FFF2-40B4-BE49-F238E27FC236}">
                <a16:creationId xmlns:a16="http://schemas.microsoft.com/office/drawing/2014/main" id="{5CA3A444-1F06-0243-A3BA-0AD975AED50C}"/>
              </a:ext>
            </a:extLst>
          </p:cNvPr>
          <p:cNvSpPr>
            <a:spLocks noGrp="1"/>
          </p:cNvSpPr>
          <p:nvPr>
            <p:ph sz="quarter" idx="10"/>
          </p:nvPr>
        </p:nvSpPr>
        <p:spPr>
          <a:xfrm>
            <a:off x="1131888" y="1014608"/>
            <a:ext cx="10221912" cy="5424293"/>
          </a:xfrm>
        </p:spPr>
        <p:txBody>
          <a:bodyPr>
            <a:normAutofit/>
          </a:bodyPr>
          <a:lstStyle>
            <a:lvl1pPr>
              <a:lnSpc>
                <a:spcPct val="150000"/>
              </a:lnSpc>
              <a:defRPr sz="2400" b="1">
                <a:latin typeface="Microsoft YaHei" panose="020B0503020204020204" pitchFamily="34" charset="-122"/>
                <a:ea typeface="Microsoft YaHei" panose="020B0503020204020204" pitchFamily="34" charset="-122"/>
              </a:defRPr>
            </a:lvl1pPr>
            <a:lvl2pPr>
              <a:lnSpc>
                <a:spcPct val="150000"/>
              </a:lnSpc>
              <a:defRPr sz="2000">
                <a:latin typeface="Microsoft YaHei" panose="020B0503020204020204" pitchFamily="34" charset="-122"/>
                <a:ea typeface="Microsoft YaHei" panose="020B0503020204020204" pitchFamily="34" charset="-122"/>
              </a:defRPr>
            </a:lvl2pPr>
            <a:lvl3pPr>
              <a:lnSpc>
                <a:spcPct val="150000"/>
              </a:lnSpc>
              <a:defRPr sz="1800">
                <a:latin typeface="Microsoft YaHei" panose="020B0503020204020204" pitchFamily="34" charset="-122"/>
                <a:ea typeface="Microsoft YaHei" panose="020B0503020204020204" pitchFamily="34" charset="-122"/>
              </a:defRPr>
            </a:lvl3pPr>
            <a:lvl4pPr>
              <a:lnSpc>
                <a:spcPct val="150000"/>
              </a:lnSpc>
              <a:defRPr sz="1600">
                <a:latin typeface="Microsoft YaHei" panose="020B0503020204020204" pitchFamily="34" charset="-122"/>
                <a:ea typeface="Microsoft YaHei" panose="020B0503020204020204" pitchFamily="34" charset="-122"/>
              </a:defRPr>
            </a:lvl4pPr>
            <a:lvl5pPr>
              <a:lnSpc>
                <a:spcPct val="150000"/>
              </a:lnSpc>
              <a:defRPr sz="1600">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1024636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31924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15499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23CBF4B4-C160-4F55-AC7D-1C8FF5BA05FA}" type="slidenum">
              <a:rPr lang="zh-CN" altLang="en-US" smtClean="0"/>
              <a:t>‹N°›</a:t>
            </a:fld>
            <a:endParaRPr lang="zh-CN" altLang="en-US" dirty="0"/>
          </a:p>
        </p:txBody>
      </p:sp>
    </p:spTree>
    <p:extLst>
      <p:ext uri="{BB962C8B-B14F-4D97-AF65-F5344CB8AC3E}">
        <p14:creationId xmlns:p14="http://schemas.microsoft.com/office/powerpoint/2010/main" val="1381568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0FE6FCD0-FA89-B441-A733-B32B5C383245}"/>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7" name="灯片编号占位符 5">
            <a:extLst>
              <a:ext uri="{FF2B5EF4-FFF2-40B4-BE49-F238E27FC236}">
                <a16:creationId xmlns:a16="http://schemas.microsoft.com/office/drawing/2014/main" id="{46CD7BBC-56D0-FD43-9C5F-5C922CE5EB7C}"/>
              </a:ext>
            </a:extLst>
          </p:cNvPr>
          <p:cNvSpPr>
            <a:spLocks noGrp="1"/>
          </p:cNvSpPr>
          <p:nvPr>
            <p:ph type="sldNum" sz="quarter" idx="4"/>
          </p:nvPr>
        </p:nvSpPr>
        <p:spPr>
          <a:xfrm>
            <a:off x="944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19184928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621204422"/>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5" r:id="rId4"/>
    <p:sldLayoutId id="2147483677" r:id="rId5"/>
    <p:sldLayoutId id="2147483679"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1.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7.png"/><Relationship Id="rId2" Type="http://schemas.openxmlformats.org/officeDocument/2006/relationships/tags" Target="../tags/tag2.xml"/><Relationship Id="rId16" Type="http://schemas.openxmlformats.org/officeDocument/2006/relationships/notesSlide" Target="../notesSlides/notesSlide4.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6.xml"/><Relationship Id="rId10" Type="http://schemas.openxmlformats.org/officeDocument/2006/relationships/tags" Target="../tags/tag10.xml"/><Relationship Id="rId19" Type="http://schemas.openxmlformats.org/officeDocument/2006/relationships/image" Target="../media/image18.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2.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F59D9-F20D-8045-B8AD-C6513098F6BA}"/>
              </a:ext>
            </a:extLst>
          </p:cNvPr>
          <p:cNvSpPr>
            <a:spLocks noGrp="1"/>
          </p:cNvSpPr>
          <p:nvPr>
            <p:ph type="ctrTitle"/>
          </p:nvPr>
        </p:nvSpPr>
        <p:spPr/>
        <p:txBody>
          <a:bodyPr/>
          <a:lstStyle/>
          <a:p>
            <a:pPr algn="ctr"/>
            <a:r>
              <a:rPr kumimoji="1" lang="zh-CN" altLang="en-US" dirty="0">
                <a:solidFill>
                  <a:schemeClr val="bg1">
                    <a:lumMod val="95000"/>
                  </a:schemeClr>
                </a:solidFill>
              </a:rPr>
              <a:t>複習大綱</a:t>
            </a:r>
          </a:p>
        </p:txBody>
      </p:sp>
      <p:sp>
        <p:nvSpPr>
          <p:cNvPr id="3" name="矩形 2"/>
          <p:cNvSpPr/>
          <p:nvPr/>
        </p:nvSpPr>
        <p:spPr>
          <a:xfrm>
            <a:off x="565266" y="169250"/>
            <a:ext cx="2108269" cy="369332"/>
          </a:xfrm>
          <a:prstGeom prst="rect">
            <a:avLst/>
          </a:prstGeom>
        </p:spPr>
        <p:txBody>
          <a:bodyPr wrap="none">
            <a:spAutoFit/>
          </a:bodyPr>
          <a:lstStyle/>
          <a:p>
            <a:r>
              <a:rPr kumimoji="1" lang="zh-CN" altLang="en-US" b="1" dirty="0">
                <a:solidFill>
                  <a:schemeClr val="bg1">
                    <a:lumMod val="50000"/>
                  </a:schemeClr>
                </a:solidFill>
              </a:rPr>
              <a:t>網絡空間安全導論</a:t>
            </a:r>
            <a:endParaRPr lang="zh-CN" altLang="en-US" b="1" dirty="0">
              <a:solidFill>
                <a:schemeClr val="bg1">
                  <a:lumMod val="50000"/>
                </a:schemeClr>
              </a:solidFill>
            </a:endParaRPr>
          </a:p>
        </p:txBody>
      </p:sp>
      <p:pic>
        <p:nvPicPr>
          <p:cNvPr id="5" name="图片 4">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39235" y="191706"/>
            <a:ext cx="326031" cy="324421"/>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副标题 2">
            <a:extLst>
              <a:ext uri="{FF2B5EF4-FFF2-40B4-BE49-F238E27FC236}">
                <a16:creationId xmlns:a16="http://schemas.microsoft.com/office/drawing/2014/main" id="{453C69B4-DE23-DA83-2A85-B32269E7B9B0}"/>
              </a:ext>
            </a:extLst>
          </p:cNvPr>
          <p:cNvSpPr txBox="1">
            <a:spLocks/>
          </p:cNvSpPr>
          <p:nvPr/>
        </p:nvSpPr>
        <p:spPr>
          <a:xfrm>
            <a:off x="4693328" y="5244602"/>
            <a:ext cx="2805343" cy="895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85000"/>
                    <a:lumOff val="15000"/>
                  </a:schemeClr>
                </a:solidFill>
                <a:latin typeface="Microsoft YaHei" panose="020B0503020204020204" pitchFamily="34" charset="-122"/>
                <a:ea typeface="Microsoft YaHei" panose="020B0503020204020204" pitchFamily="34" charset="-122"/>
                <a:cs typeface="+mn-cs"/>
              </a:defRPr>
            </a:lvl1pPr>
            <a:lvl2pPr marL="6096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1219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2438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3048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4267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4876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kumimoji="1" lang="zh-CN" altLang="en-CN" dirty="0">
                <a:solidFill>
                  <a:srgbClr val="000000">
                    <a:lumMod val="85000"/>
                    <a:lumOff val="15000"/>
                  </a:srgbClr>
                </a:solidFill>
              </a:rPr>
              <a:t>李</a:t>
            </a:r>
            <a:r>
              <a:rPr kumimoji="1" lang="zh-CN" altLang="en-US" dirty="0">
                <a:solidFill>
                  <a:srgbClr val="000000">
                    <a:lumMod val="85000"/>
                    <a:lumOff val="15000"/>
                  </a:srgbClr>
                </a:solidFill>
              </a:rPr>
              <a:t>琦</a:t>
            </a:r>
            <a:endParaRPr kumimoji="1" lang="en-US" altLang="zh-CN" dirty="0">
              <a:solidFill>
                <a:srgbClr val="000000">
                  <a:lumMod val="85000"/>
                  <a:lumOff val="15000"/>
                </a:srgbClr>
              </a:solidFill>
            </a:endParaRPr>
          </a:p>
          <a:p>
            <a:r>
              <a:rPr kumimoji="1" lang="zh-CN" altLang="en-US" dirty="0">
                <a:solidFill>
                  <a:srgbClr val="000000">
                    <a:lumMod val="85000"/>
                    <a:lumOff val="15000"/>
                  </a:srgbClr>
                </a:solidFill>
              </a:rPr>
              <a:t>清華大學網研院</a:t>
            </a:r>
          </a:p>
        </p:txBody>
      </p:sp>
    </p:spTree>
    <p:extLst>
      <p:ext uri="{BB962C8B-B14F-4D97-AF65-F5344CB8AC3E}">
        <p14:creationId xmlns:p14="http://schemas.microsoft.com/office/powerpoint/2010/main" val="1606816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1131376" y="1150883"/>
            <a:ext cx="10222424" cy="505547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normAutofit/>
          </a:bodyPr>
          <a:lstStyle/>
          <a:p>
            <a:r>
              <a:rPr kumimoji="1" lang="zh-CN" altLang="en-US" dirty="0"/>
              <a:t>考試安排</a:t>
            </a:r>
          </a:p>
        </p:txBody>
      </p:sp>
      <p:sp>
        <p:nvSpPr>
          <p:cNvPr id="3" name="文本框 2">
            <a:extLst>
              <a:ext uri="{FF2B5EF4-FFF2-40B4-BE49-F238E27FC236}">
                <a16:creationId xmlns:a16="http://schemas.microsoft.com/office/drawing/2014/main" id="{EC2288AC-1E6F-087B-FE0D-F442A5BF60C3}"/>
              </a:ext>
            </a:extLst>
          </p:cNvPr>
          <p:cNvSpPr txBox="1"/>
          <p:nvPr/>
        </p:nvSpPr>
        <p:spPr>
          <a:xfrm>
            <a:off x="1262810" y="1167466"/>
            <a:ext cx="9959556" cy="5120761"/>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考試時間地點</a:t>
            </a:r>
          </a:p>
          <a:p>
            <a:pPr marL="742950" lvl="1" indent="-285750" algn="just" defTabSz="914400">
              <a:lnSpc>
                <a:spcPct val="120000"/>
              </a:lnSpc>
              <a:spcBef>
                <a:spcPts val="1200"/>
              </a:spcBef>
              <a:buFont typeface="Arial" panose="020B0604020202020204" pitchFamily="34" charset="0"/>
              <a:buChar char="•"/>
            </a:pPr>
            <a:r>
              <a:rPr lang="en-US" altLang="zh-CN" sz="2400" b="1" dirty="0">
                <a:solidFill>
                  <a:srgbClr val="000000"/>
                </a:solidFill>
                <a:latin typeface="微软雅黑" panose="020B0503020204020204" pitchFamily="34" charset="-122"/>
                <a:ea typeface="微软雅黑" panose="020B0503020204020204" pitchFamily="34" charset="-122"/>
              </a:rPr>
              <a:t>2025-06-11(</a:t>
            </a:r>
            <a:r>
              <a:rPr lang="zh-CN" altLang="en-US" sz="2400" b="1" dirty="0">
                <a:solidFill>
                  <a:srgbClr val="000000"/>
                </a:solidFill>
                <a:latin typeface="微软雅黑" panose="020B0503020204020204" pitchFamily="34" charset="-122"/>
                <a:ea typeface="微软雅黑" panose="020B0503020204020204" pitchFamily="34" charset="-122"/>
              </a:rPr>
              <a:t>周三</a:t>
            </a:r>
            <a:r>
              <a:rPr lang="en-US" altLang="zh-CN" sz="2400" b="1" dirty="0">
                <a:solidFill>
                  <a:srgbClr val="000000"/>
                </a:solidFill>
                <a:latin typeface="微软雅黑" panose="020B0503020204020204" pitchFamily="34" charset="-122"/>
                <a:ea typeface="微软雅黑" panose="020B0503020204020204" pitchFamily="34" charset="-122"/>
              </a:rPr>
              <a:t>) 19:00~21:00</a:t>
            </a:r>
          </a:p>
          <a:p>
            <a:pPr marL="742950" lvl="1" indent="-285750" algn="just" defTabSz="914400">
              <a:lnSpc>
                <a:spcPct val="120000"/>
              </a:lnSpc>
              <a:spcBef>
                <a:spcPts val="1200"/>
              </a:spcBef>
              <a:buFont typeface="Arial" panose="020B0604020202020204" pitchFamily="34" charset="0"/>
              <a:buChar char="•"/>
            </a:pPr>
            <a:r>
              <a:rPr lang="zh-CN" altLang="en-US" sz="2400" b="1" dirty="0">
                <a:solidFill>
                  <a:srgbClr val="000000"/>
                </a:solidFill>
                <a:latin typeface="微软雅黑" panose="020B0503020204020204" pitchFamily="34" charset="-122"/>
                <a:ea typeface="微软雅黑" panose="020B0503020204020204" pitchFamily="34" charset="-122"/>
              </a:rPr>
              <a:t>李琦老師班：技科樓</a:t>
            </a:r>
            <a:r>
              <a:rPr lang="en-US" altLang="zh-CN" sz="2400" b="1" dirty="0">
                <a:solidFill>
                  <a:srgbClr val="000000"/>
                </a:solidFill>
                <a:latin typeface="微软雅黑" panose="020B0503020204020204" pitchFamily="34" charset="-122"/>
                <a:ea typeface="微软雅黑" panose="020B0503020204020204" pitchFamily="34" charset="-122"/>
              </a:rPr>
              <a:t>-3311</a:t>
            </a:r>
            <a:r>
              <a:rPr lang="zh-CN" altLang="en-US" sz="2400" b="1" dirty="0">
                <a:solidFill>
                  <a:srgbClr val="000000"/>
                </a:solidFill>
                <a:latin typeface="微软雅黑" panose="020B0503020204020204" pitchFamily="34" charset="-122"/>
                <a:ea typeface="微软雅黑" panose="020B0503020204020204" pitchFamily="34" charset="-122"/>
              </a:rPr>
              <a:t>，技科樓</a:t>
            </a:r>
            <a:r>
              <a:rPr lang="en-US" altLang="zh-CN" sz="2400" b="1" dirty="0">
                <a:solidFill>
                  <a:srgbClr val="000000"/>
                </a:solidFill>
                <a:latin typeface="微软雅黑" panose="020B0503020204020204" pitchFamily="34" charset="-122"/>
                <a:ea typeface="微软雅黑" panose="020B0503020204020204" pitchFamily="34" charset="-122"/>
              </a:rPr>
              <a:t>-3417</a:t>
            </a:r>
          </a:p>
          <a:p>
            <a:pPr marL="742950" lvl="1" indent="-285750" algn="just" defTabSz="914400">
              <a:lnSpc>
                <a:spcPct val="120000"/>
              </a:lnSpc>
              <a:spcBef>
                <a:spcPts val="1200"/>
              </a:spcBef>
              <a:buFont typeface="Arial" panose="020B0604020202020204" pitchFamily="34" charset="0"/>
              <a:buChar char="•"/>
            </a:pPr>
            <a:r>
              <a:rPr lang="zh-CN" altLang="en-US" sz="2400" b="1" dirty="0">
                <a:solidFill>
                  <a:srgbClr val="000000"/>
                </a:solidFill>
                <a:latin typeface="微软雅黑" panose="020B0503020204020204" pitchFamily="34" charset="-122"/>
                <a:ea typeface="微软雅黑" panose="020B0503020204020204" pitchFamily="34" charset="-122"/>
              </a:rPr>
              <a:t>徐恪老師班：六教</a:t>
            </a:r>
            <a:r>
              <a:rPr lang="en-US" altLang="zh-CN" sz="2400" b="1" dirty="0">
                <a:solidFill>
                  <a:srgbClr val="000000"/>
                </a:solidFill>
                <a:latin typeface="微软雅黑" panose="020B0503020204020204" pitchFamily="34" charset="-122"/>
                <a:ea typeface="微软雅黑" panose="020B0503020204020204" pitchFamily="34" charset="-122"/>
              </a:rPr>
              <a:t>-6A201</a:t>
            </a:r>
            <a:r>
              <a:rPr lang="zh-CN" altLang="en-US" sz="2400" b="1" dirty="0">
                <a:solidFill>
                  <a:srgbClr val="000000"/>
                </a:solidFill>
                <a:latin typeface="微软雅黑" panose="020B0503020204020204" pitchFamily="34" charset="-122"/>
                <a:ea typeface="微软雅黑" panose="020B0503020204020204" pitchFamily="34" charset="-122"/>
              </a:rPr>
              <a:t>，六教</a:t>
            </a:r>
            <a:r>
              <a:rPr lang="en-US" altLang="zh-CN" sz="2400" b="1" dirty="0">
                <a:solidFill>
                  <a:srgbClr val="000000"/>
                </a:solidFill>
                <a:latin typeface="微软雅黑" panose="020B0503020204020204" pitchFamily="34" charset="-122"/>
                <a:ea typeface="微软雅黑" panose="020B0503020204020204" pitchFamily="34" charset="-122"/>
              </a:rPr>
              <a:t>-6A203</a:t>
            </a:r>
            <a:r>
              <a:rPr lang="zh-CN" altLang="en-US" sz="2400" b="1" dirty="0">
                <a:solidFill>
                  <a:srgbClr val="000000"/>
                </a:solidFill>
                <a:latin typeface="微软雅黑" panose="020B0503020204020204" pitchFamily="34" charset="-122"/>
                <a:ea typeface="微软雅黑" panose="020B0503020204020204" pitchFamily="34" charset="-122"/>
              </a:rPr>
              <a:t>，六教</a:t>
            </a:r>
            <a:r>
              <a:rPr lang="en-US" altLang="zh-CN" sz="2400" b="1" dirty="0">
                <a:solidFill>
                  <a:srgbClr val="000000"/>
                </a:solidFill>
                <a:latin typeface="微软雅黑" panose="020B0503020204020204" pitchFamily="34" charset="-122"/>
                <a:ea typeface="微软雅黑" panose="020B0503020204020204" pitchFamily="34" charset="-122"/>
              </a:rPr>
              <a:t>-6A205</a:t>
            </a:r>
          </a:p>
          <a:p>
            <a:pPr marL="742950" lvl="1" indent="-285750" algn="just" defTabSz="914400">
              <a:lnSpc>
                <a:spcPct val="120000"/>
              </a:lnSpc>
              <a:spcBef>
                <a:spcPts val="1200"/>
              </a:spcBef>
              <a:buFont typeface="Arial" panose="020B0604020202020204" pitchFamily="34" charset="0"/>
              <a:buChar char="•"/>
            </a:pP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考試形式</a:t>
            </a:r>
          </a:p>
          <a:p>
            <a:pPr marL="742950" lvl="1" indent="-285750" algn="just" defTabSz="914400">
              <a:lnSpc>
                <a:spcPct val="120000"/>
              </a:lnSpc>
              <a:spcBef>
                <a:spcPts val="1200"/>
              </a:spcBef>
              <a:buFont typeface="Arial" panose="020B0604020202020204" pitchFamily="34" charset="0"/>
              <a:buChar cha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開卷考試，可以帶教材、</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ppt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課件、整理的筆記等紙質材料，不得携帶電腦、手機、平板等電子設備</a:t>
            </a:r>
          </a:p>
          <a:p>
            <a:pPr marL="742950" lvl="1" indent="-285750" algn="just" defTabSz="914400">
              <a:lnSpc>
                <a:spcPct val="120000"/>
              </a:lnSpc>
              <a:spcBef>
                <a:spcPts val="1200"/>
              </a:spcBef>
              <a:buFont typeface="Arial" panose="020B0604020202020204" pitchFamily="34" charset="0"/>
              <a:buChar cha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內容爲 教材 和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ppt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內容，會有少量自由發揮題目（不超過</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p>
        </p:txBody>
      </p:sp>
    </p:spTree>
    <p:extLst>
      <p:ext uri="{BB962C8B-B14F-4D97-AF65-F5344CB8AC3E}">
        <p14:creationId xmlns:p14="http://schemas.microsoft.com/office/powerpoint/2010/main" val="181447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3"/>
            <a:ext cx="10915859" cy="518960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normAutofit/>
          </a:bodyPr>
          <a:lstStyle/>
          <a:p>
            <a:r>
              <a:rPr kumimoji="1" lang="zh-CN" altLang="en-US" dirty="0"/>
              <a:t>考試章節和題型安排</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67756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考試章節：</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4~16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章（數據加密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大模型安全）</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不定向選擇題</a:t>
            </a:r>
          </a:p>
          <a:p>
            <a:pPr marL="742950" lvl="1" indent="-285750" algn="just" defTabSz="914400">
              <a:lnSpc>
                <a:spcPct val="120000"/>
              </a:lnSpc>
              <a:spcBef>
                <a:spcPts val="1200"/>
              </a:spcBef>
              <a:buFont typeface="Arial" panose="020B0604020202020204" pitchFamily="34" charset="0"/>
              <a:buChar cha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34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(2024)</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填空題</a:t>
            </a:r>
          </a:p>
          <a:p>
            <a:pPr marL="742950" lvl="1" indent="-285750" algn="just" defTabSz="914400">
              <a:lnSpc>
                <a:spcPct val="120000"/>
              </a:lnSpc>
              <a:spcBef>
                <a:spcPts val="1200"/>
              </a:spcBef>
              <a:buFont typeface="Arial" panose="020B0604020202020204" pitchFamily="34" charset="0"/>
              <a:buChar char="•"/>
            </a:pPr>
            <a:r>
              <a:rPr lang="en-US" altLang="zh-CN" sz="2400" b="1" dirty="0">
                <a:solidFill>
                  <a:srgbClr val="000000"/>
                </a:solidFill>
                <a:latin typeface="微软雅黑" panose="020B0503020204020204" pitchFamily="34" charset="-122"/>
                <a:ea typeface="微软雅黑" panose="020B0503020204020204" pitchFamily="34" charset="-122"/>
              </a:rPr>
              <a:t>8</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25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(2024)</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簡答題</a:t>
            </a:r>
          </a:p>
          <a:p>
            <a:pPr marL="742950" lvl="1" indent="-285750" algn="just" defTabSz="914400">
              <a:lnSpc>
                <a:spcPct val="120000"/>
              </a:lnSpc>
              <a:spcBef>
                <a:spcPts val="1200"/>
              </a:spcBef>
              <a:buFont typeface="Arial" panose="020B0604020202020204" pitchFamily="34" charset="0"/>
              <a:buChar cha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道，</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lang="en-US" altLang="zh-CN" sz="2400" b="1" dirty="0">
                <a:solidFill>
                  <a:srgbClr val="000000"/>
                </a:solidFill>
                <a:latin typeface="微软雅黑" panose="020B0503020204020204" pitchFamily="34" charset="-122"/>
                <a:ea typeface="微软雅黑" panose="020B0503020204020204" pitchFamily="34" charset="-122"/>
              </a:rPr>
              <a:t>41</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(2024)</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題目分布與去年相仿，會有部分調整</a:t>
            </a:r>
          </a:p>
        </p:txBody>
      </p:sp>
    </p:spTree>
    <p:extLst>
      <p:ext uri="{BB962C8B-B14F-4D97-AF65-F5344CB8AC3E}">
        <p14:creationId xmlns:p14="http://schemas.microsoft.com/office/powerpoint/2010/main" val="4191435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3247681"/>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不定向選擇</a:t>
            </a:r>
            <a:r>
              <a:rPr kumimoji="1" lang="en-US" altLang="zh-CN" b="1" dirty="0"/>
              <a:t>——</a:t>
            </a:r>
            <a:r>
              <a:rPr kumimoji="1" lang="zh-CN" altLang="en-US" b="1" dirty="0"/>
              <a:t>基礎概念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288630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TLS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協議是建立在下列哪一層協議上運行（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物理層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數據鏈路層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網絡層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傳輸層</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4</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563813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51087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不定向選擇</a:t>
            </a:r>
            <a:r>
              <a:rPr kumimoji="1" lang="en-US" altLang="zh-CN" b="1" dirty="0"/>
              <a:t>——</a:t>
            </a:r>
            <a:r>
              <a:rPr kumimoji="1" lang="zh-CN" altLang="en-US" b="1" dirty="0"/>
              <a:t>基礎概念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08047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TLS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協議是建立在下列哪一層協議上運行（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物理層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數據鏈路層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網絡層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傳輸層</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lang="en-US" altLang="zh-CN" sz="2400" b="1" dirty="0">
              <a:solidFill>
                <a:srgbClr val="000000"/>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5</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215433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382271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不定向選擇</a:t>
            </a:r>
            <a:r>
              <a:rPr kumimoji="1" lang="en-US" altLang="zh-CN" b="1" dirty="0"/>
              <a:t>——</a:t>
            </a:r>
            <a:r>
              <a:rPr kumimoji="1" lang="zh-CN" altLang="en-US" b="1" dirty="0"/>
              <a:t>內容辨析</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3329501"/>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關于隱私保護，以下說法正確的是（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．隱私保護的聚類挖掘利用有標簽的數據集構建分類模型</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．“購物籃分析”指分析顧客購買商品間的關聯規則，屬關聯規則挖掘</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k-anonymity</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隱私保護模型屬基于數據失真的隱私保護</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．基于數據加密的隱私保護的分布式應用所采用的垂直劃分是指每個參與者只存儲數據的部分屬性</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6</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3045084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869092"/>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不定向選擇</a:t>
            </a:r>
            <a:r>
              <a:rPr kumimoji="1" lang="en-US" altLang="zh-CN" b="1" dirty="0"/>
              <a:t>——</a:t>
            </a:r>
            <a:r>
              <a:rPr kumimoji="1" lang="zh-CN" altLang="en-US" b="1" dirty="0"/>
              <a:t>內容辨析</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523674"/>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關于隱私保護，以下說法正確的是（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．隱私保護的聚類挖掘利用有標簽的數據集構建分類模型</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．“購物籃分析”指分析顧客購買商品間的關聯規則，屬關聯規則挖掘</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k-anonymity</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隱私保護模型屬基于數據失真的隱私保護</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．基于數據加密的隱私保護的分布式應用所采用的垂直劃分是指每個參與者只存儲數據的部分屬性</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lang="en-US" altLang="zh-CN" sz="2400" b="1" dirty="0">
              <a:solidFill>
                <a:srgbClr val="000000"/>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lang="zh-CN" altLang="en-US" sz="2400" b="1" dirty="0">
                <a:solidFill>
                  <a:srgbClr val="000000"/>
                </a:solidFill>
                <a:latin typeface="微软雅黑" panose="020B0503020204020204" pitchFamily="34" charset="-122"/>
                <a:ea typeface="微软雅黑" panose="020B0503020204020204" pitchFamily="34" charset="-122"/>
              </a:rPr>
              <a:t>答案：</a:t>
            </a:r>
            <a:r>
              <a:rPr lang="en-US" altLang="zh-CN" sz="2400" b="1" dirty="0">
                <a:solidFill>
                  <a:srgbClr val="000000"/>
                </a:solidFill>
                <a:latin typeface="微软雅黑" panose="020B0503020204020204" pitchFamily="34" charset="-122"/>
                <a:ea typeface="微软雅黑" panose="020B0503020204020204" pitchFamily="34" charset="-122"/>
              </a:rPr>
              <a:t>BD</a:t>
            </a: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rPr>
              <a:t>A</a:t>
            </a:r>
            <a:r>
              <a:rPr lang="zh-CN" altLang="en-US" sz="2400" b="1" dirty="0">
                <a:solidFill>
                  <a:srgbClr val="000000"/>
                </a:solidFill>
                <a:latin typeface="微软雅黑" panose="020B0503020204020204" pitchFamily="34" charset="-122"/>
                <a:ea typeface="微软雅黑" panose="020B0503020204020204" pitchFamily="34" charset="-122"/>
              </a:rPr>
              <a:t>：無標簽的數據集，</a:t>
            </a:r>
            <a:r>
              <a:rPr lang="en-US" altLang="zh-CN" sz="2400" b="1" dirty="0">
                <a:solidFill>
                  <a:srgbClr val="000000"/>
                </a:solidFill>
                <a:latin typeface="微软雅黑" panose="020B0503020204020204" pitchFamily="34" charset="-122"/>
                <a:ea typeface="微软雅黑" panose="020B0503020204020204" pitchFamily="34" charset="-122"/>
              </a:rPr>
              <a:t>C</a:t>
            </a:r>
            <a:r>
              <a:rPr lang="zh-CN" altLang="en-US" sz="2400" b="1" dirty="0">
                <a:solidFill>
                  <a:srgbClr val="000000"/>
                </a:solidFill>
                <a:latin typeface="微软雅黑" panose="020B0503020204020204" pitchFamily="34" charset="-122"/>
                <a:ea typeface="微软雅黑" panose="020B0503020204020204" pitchFamily="34" charset="-122"/>
              </a:rPr>
              <a:t>：基于限制發布的隱私保護</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7</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723170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480288"/>
            <a:ext cx="10915859" cy="1366608"/>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填空題</a:t>
            </a:r>
            <a:r>
              <a:rPr kumimoji="1" lang="en-US" altLang="zh-CN" b="1" dirty="0"/>
              <a:t>——</a:t>
            </a:r>
            <a:r>
              <a:rPr kumimoji="1" lang="zh-CN" altLang="en-US" b="1" dirty="0"/>
              <a:t>基礎概念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597816"/>
            <a:ext cx="10517268" cy="941155"/>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面向地址域的</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SAVA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源地址驗證體系結構將源地址驗證劃分爲</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這三個粒度。</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8</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41030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480287"/>
            <a:ext cx="10915859" cy="2563811"/>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填空題</a:t>
            </a:r>
            <a:r>
              <a:rPr kumimoji="1" lang="en-US" altLang="zh-CN" b="1" dirty="0"/>
              <a:t>——</a:t>
            </a:r>
            <a:r>
              <a:rPr kumimoji="1" lang="zh-CN" altLang="en-US" b="1" dirty="0"/>
              <a:t>基礎概念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597816"/>
            <a:ext cx="10517268" cy="2135328"/>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面向地址域的</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SAVA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源地址驗證體系結構將源地址驗證劃分爲</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這三個粒度。</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答案：地址域、前綴、主機</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9</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76196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352600"/>
            <a:ext cx="10915859" cy="1843087"/>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填空題</a:t>
            </a:r>
            <a:r>
              <a:rPr kumimoji="1" lang="en-US" altLang="zh-CN" b="1" dirty="0"/>
              <a:t>——</a:t>
            </a:r>
            <a:r>
              <a:rPr kumimoji="1" lang="zh-CN" altLang="en-US" b="1" dirty="0"/>
              <a:t>內容運用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470129"/>
            <a:ext cx="10517268" cy="138435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對稱密鑰密碼算法應用廣泛，請寫出兩例：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，此類算法的設計遵守兩條基本原則，即：</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（將明文的冗餘度盡可能擴散到整個密文）和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（密文和密鑰之間的統計特性關係盡可能複雜化）。</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10</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563360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352600"/>
            <a:ext cx="10915859" cy="293659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填空題</a:t>
            </a:r>
            <a:r>
              <a:rPr kumimoji="1" lang="en-US" altLang="zh-CN" b="1" dirty="0"/>
              <a:t>——</a:t>
            </a:r>
            <a:r>
              <a:rPr kumimoji="1" lang="zh-CN" altLang="en-US" b="1" dirty="0"/>
              <a:t>內容運用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470129"/>
            <a:ext cx="10517268" cy="257852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對稱密鑰密碼算法應用廣泛，請寫出兩例：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，此類算法的設計遵守兩條基本原則，即：</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（將明文的冗餘度盡可能擴散到整個密文）和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（密文和密鑰之間的統計特性關係盡可能複雜化）。</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DES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AES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（寫出兩例即可）；擴散、擾亂</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11</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83723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279863"/>
            <a:ext cx="10915859" cy="176767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簡答題</a:t>
            </a:r>
            <a:r>
              <a:rPr kumimoji="1" lang="en-US" altLang="zh-CN" b="1" dirty="0"/>
              <a:t>——</a:t>
            </a:r>
            <a:r>
              <a:rPr kumimoji="1" lang="zh-CN" altLang="en-US" b="1" dirty="0"/>
              <a:t>知識應用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397392"/>
            <a:ext cx="10517268" cy="138435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Meltdown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和 </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Spectre</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均可以在用戶態下讀取內核數據，且都利用了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側信道。兩種攻擊的核心代碼如下。請分析每一句代碼的用途，幷據此闡述兩種攻擊的原理。（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12</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pic>
        <p:nvPicPr>
          <p:cNvPr id="4" name="图片 3">
            <a:extLst>
              <a:ext uri="{FF2B5EF4-FFF2-40B4-BE49-F238E27FC236}">
                <a16:creationId xmlns:a16="http://schemas.microsoft.com/office/drawing/2014/main" id="{FC293732-CFE2-2AD2-DD74-85DFB40369CF}"/>
              </a:ext>
            </a:extLst>
          </p:cNvPr>
          <p:cNvPicPr>
            <a:picLocks noChangeAspect="1"/>
          </p:cNvPicPr>
          <p:nvPr/>
        </p:nvPicPr>
        <p:blipFill>
          <a:blip r:embed="rId2">
            <a:extLst>
              <a:ext uri="{28A0092B-C50C-407E-A947-70E740481C1C}">
                <a14:useLocalDpi xmlns:a14="http://schemas.microsoft.com/office/drawing/2010/main" val="0"/>
              </a:ext>
            </a:extLst>
          </a:blip>
          <a:srcRect t="6548" b="10681"/>
          <a:stretch>
            <a:fillRect/>
          </a:stretch>
        </p:blipFill>
        <p:spPr bwMode="auto">
          <a:xfrm>
            <a:off x="796765" y="3788777"/>
            <a:ext cx="4616544" cy="1366391"/>
          </a:xfrm>
          <a:prstGeom prst="rect">
            <a:avLst/>
          </a:prstGeom>
          <a:noFill/>
          <a:ln>
            <a:noFill/>
          </a:ln>
        </p:spPr>
      </p:pic>
      <p:pic>
        <p:nvPicPr>
          <p:cNvPr id="7" name="图片 6">
            <a:extLst>
              <a:ext uri="{FF2B5EF4-FFF2-40B4-BE49-F238E27FC236}">
                <a16:creationId xmlns:a16="http://schemas.microsoft.com/office/drawing/2014/main" id="{250E171D-3182-598A-025A-5240C3FF7947}"/>
              </a:ext>
            </a:extLst>
          </p:cNvPr>
          <p:cNvPicPr>
            <a:picLocks noChangeAspect="1"/>
          </p:cNvPicPr>
          <p:nvPr/>
        </p:nvPicPr>
        <p:blipFill>
          <a:blip r:embed="rId3">
            <a:extLst>
              <a:ext uri="{28A0092B-C50C-407E-A947-70E740481C1C}">
                <a14:useLocalDpi xmlns:a14="http://schemas.microsoft.com/office/drawing/2010/main" val="0"/>
              </a:ext>
            </a:extLst>
          </a:blip>
          <a:srcRect b="1482"/>
          <a:stretch>
            <a:fillRect/>
          </a:stretch>
        </p:blipFill>
        <p:spPr bwMode="auto">
          <a:xfrm>
            <a:off x="5817627" y="3788777"/>
            <a:ext cx="5894997" cy="1366390"/>
          </a:xfrm>
          <a:prstGeom prst="rect">
            <a:avLst/>
          </a:prstGeom>
          <a:noFill/>
          <a:ln>
            <a:noFill/>
          </a:ln>
        </p:spPr>
      </p:pic>
    </p:spTree>
    <p:extLst>
      <p:ext uri="{BB962C8B-B14F-4D97-AF65-F5344CB8AC3E}">
        <p14:creationId xmlns:p14="http://schemas.microsoft.com/office/powerpoint/2010/main" val="317266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482592"/>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簡答題</a:t>
            </a:r>
            <a:r>
              <a:rPr kumimoji="1" lang="en-US" altLang="zh-CN" b="1" dirty="0"/>
              <a:t>——</a:t>
            </a:r>
            <a:r>
              <a:rPr kumimoji="1" lang="zh-CN" altLang="en-US" b="1" dirty="0"/>
              <a:t>知識應用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3908121"/>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（每個攻擊，代碼功能正確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分，亂序</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分支</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分，後續過程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分，共</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Meltdown</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、非法訪問</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byte[x]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、運算</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rax</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、讀取內存進入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。亂序執行情况下，在進行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的异常檢測生效前就已經執行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中存在</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rbx+byte</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，以此推出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byte[x]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Spectre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、分支判斷句；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、讀取目標數據計算得到的地址對應的內存塊進入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。先對分支預測進行訓練，在訪問非法</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x&gt;=array1_size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）時，</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CPU</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預測執行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，將</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array2[array1[x]*4096]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緩存，以此推出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array1[x]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a:xfrm>
            <a:off x="11712624" y="6456935"/>
            <a:ext cx="445848" cy="401065"/>
          </a:xfrm>
          <a:prstGeom prst="rect">
            <a:avLst/>
          </a:prstGeom>
        </p:spPr>
        <p:txBody>
          <a:bodyPr vert="horz" lIns="91440" tIns="45720" rIns="91440" bIns="45720" rtlCol="0" anchor="ctr"/>
          <a:lstStyle>
            <a:defPPr>
              <a:defRPr lang="en-US"/>
            </a:defPPr>
            <a:lvl1pPr marL="0" algn="r" defTabSz="457200" rtl="0" eaLnBrk="1" latinLnBrk="0" hangingPunct="1">
              <a:defRPr sz="1200" b="0" i="0" kern="1200">
                <a:solidFill>
                  <a:schemeClr val="tx1">
                    <a:tint val="75000"/>
                  </a:schemeClr>
                </a:solidFill>
                <a:latin typeface="Microsoft YaHei" panose="020B0503020204020204" pitchFamily="34" charset="-122"/>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pPr/>
              <a:t>13</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2693328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7408-4472-C543-7406-E6EE05898F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E5DFB2-34AF-9F88-05DF-0C53CF12CCC3}"/>
              </a:ext>
            </a:extLst>
          </p:cNvPr>
          <p:cNvSpPr>
            <a:spLocks noGrp="1"/>
          </p:cNvSpPr>
          <p:nvPr>
            <p:ph type="title"/>
          </p:nvPr>
        </p:nvSpPr>
        <p:spPr>
          <a:xfrm>
            <a:off x="1131376" y="136525"/>
            <a:ext cx="10222424" cy="725407"/>
          </a:xfrm>
        </p:spPr>
        <p:txBody>
          <a:bodyPr>
            <a:normAutofit/>
          </a:bodyPr>
          <a:lstStyle/>
          <a:p>
            <a:r>
              <a:rPr kumimoji="1" lang="zh-CN" altLang="en-US" dirty="0">
                <a:solidFill>
                  <a:schemeClr val="tx1"/>
                </a:solidFill>
              </a:rPr>
              <a:t>第</a:t>
            </a:r>
            <a:r>
              <a:rPr kumimoji="1" lang="en-US" altLang="zh-CN" dirty="0">
                <a:solidFill>
                  <a:schemeClr val="tx1"/>
                </a:solidFill>
              </a:rPr>
              <a:t>4</a:t>
            </a:r>
            <a:r>
              <a:rPr kumimoji="1" lang="zh-CN" altLang="en-US" dirty="0">
                <a:solidFill>
                  <a:schemeClr val="tx1"/>
                </a:solidFill>
              </a:rPr>
              <a:t>章 數據加密 </a:t>
            </a:r>
          </a:p>
        </p:txBody>
      </p:sp>
      <p:sp>
        <p:nvSpPr>
          <p:cNvPr id="3" name="矩形 2">
            <a:extLst>
              <a:ext uri="{FF2B5EF4-FFF2-40B4-BE49-F238E27FC236}">
                <a16:creationId xmlns:a16="http://schemas.microsoft.com/office/drawing/2014/main" id="{0CF063D2-B76F-07A9-8088-0846D520E042}"/>
              </a:ext>
            </a:extLst>
          </p:cNvPr>
          <p:cNvSpPr>
            <a:spLocks/>
          </p:cNvSpPr>
          <p:nvPr/>
        </p:nvSpPr>
        <p:spPr bwMode="auto">
          <a:xfrm>
            <a:off x="234536" y="4643498"/>
            <a:ext cx="1677255"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回顧歷史，瞭解密碼學演進方向</a:t>
            </a:r>
          </a:p>
        </p:txBody>
      </p:sp>
      <p:sp>
        <p:nvSpPr>
          <p:cNvPr id="4" name="矩形 3">
            <a:extLst>
              <a:ext uri="{FF2B5EF4-FFF2-40B4-BE49-F238E27FC236}">
                <a16:creationId xmlns:a16="http://schemas.microsoft.com/office/drawing/2014/main" id="{B654ADF3-26AB-C870-22A2-17D6AE9C8AEC}"/>
              </a:ext>
            </a:extLst>
          </p:cNvPr>
          <p:cNvSpPr>
            <a:spLocks/>
          </p:cNvSpPr>
          <p:nvPr/>
        </p:nvSpPr>
        <p:spPr bwMode="auto">
          <a:xfrm>
            <a:off x="2068998" y="4643498"/>
            <a:ext cx="1677253"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總結對稱密碼的</a:t>
            </a:r>
            <a:endParaRPr kumimoji="1" lang="en-US" altLang="zh-CN" sz="1600" dirty="0">
              <a:latin typeface="Microsoft YaHei" panose="020B0503020204020204" pitchFamily="34" charset="-122"/>
              <a:ea typeface="Microsoft YaHei" panose="020B0503020204020204" pitchFamily="34" charset="-122"/>
            </a:endParaRPr>
          </a:p>
          <a:p>
            <a:pPr algn="ctr"/>
            <a:r>
              <a:rPr kumimoji="1" lang="zh-CN" altLang="en-US" sz="1600" dirty="0">
                <a:latin typeface="Microsoft YaHei" panose="020B0503020204020204" pitchFamily="34" charset="-122"/>
                <a:ea typeface="Microsoft YaHei" panose="020B0503020204020204" pitchFamily="34" charset="-122"/>
              </a:rPr>
              <a:t>加密解密原理</a:t>
            </a:r>
          </a:p>
        </p:txBody>
      </p:sp>
      <p:sp>
        <p:nvSpPr>
          <p:cNvPr id="7" name="矩形 6">
            <a:extLst>
              <a:ext uri="{FF2B5EF4-FFF2-40B4-BE49-F238E27FC236}">
                <a16:creationId xmlns:a16="http://schemas.microsoft.com/office/drawing/2014/main" id="{1BF7CE6B-E611-A47B-0E78-A710190E2385}"/>
              </a:ext>
            </a:extLst>
          </p:cNvPr>
          <p:cNvSpPr>
            <a:spLocks/>
          </p:cNvSpPr>
          <p:nvPr/>
        </p:nvSpPr>
        <p:spPr bwMode="auto">
          <a:xfrm>
            <a:off x="4003517" y="4641754"/>
            <a:ext cx="1677253"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剖析公鑰密碼的</a:t>
            </a:r>
            <a:endParaRPr kumimoji="1" lang="en-US" altLang="zh-CN" sz="1600" dirty="0">
              <a:latin typeface="Microsoft YaHei" panose="020B0503020204020204" pitchFamily="34" charset="-122"/>
              <a:ea typeface="Microsoft YaHei" panose="020B0503020204020204" pitchFamily="34" charset="-122"/>
            </a:endParaRPr>
          </a:p>
          <a:p>
            <a:pPr algn="ctr"/>
            <a:r>
              <a:rPr kumimoji="1" lang="zh-CN" altLang="en-US" sz="1600" dirty="0">
                <a:latin typeface="Microsoft YaHei" panose="020B0503020204020204" pitchFamily="34" charset="-122"/>
                <a:ea typeface="Microsoft YaHei" panose="020B0503020204020204" pitchFamily="34" charset="-122"/>
              </a:rPr>
              <a:t>來龍去脉</a:t>
            </a:r>
          </a:p>
        </p:txBody>
      </p:sp>
      <p:sp>
        <p:nvSpPr>
          <p:cNvPr id="8" name="矩形 7">
            <a:extLst>
              <a:ext uri="{FF2B5EF4-FFF2-40B4-BE49-F238E27FC236}">
                <a16:creationId xmlns:a16="http://schemas.microsoft.com/office/drawing/2014/main" id="{0A37523C-5B6A-A300-C59D-143E03060EC6}"/>
              </a:ext>
            </a:extLst>
          </p:cNvPr>
          <p:cNvSpPr>
            <a:spLocks/>
          </p:cNvSpPr>
          <p:nvPr/>
        </p:nvSpPr>
        <p:spPr bwMode="auto">
          <a:xfrm>
            <a:off x="309642" y="2461392"/>
            <a:ext cx="1527047"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b="1" dirty="0">
                <a:solidFill>
                  <a:srgbClr val="FF0000"/>
                </a:solidFill>
                <a:effectLst/>
                <a:latin typeface="Microsoft YaHei" panose="020B0503020204020204" pitchFamily="34" charset="-122"/>
                <a:ea typeface="Microsoft YaHei" panose="020B0503020204020204" pitchFamily="34" charset="-122"/>
              </a:rPr>
              <a:t>古典密碼</a:t>
            </a:r>
            <a:endParaRPr lang="en-US" altLang="zh-CN" sz="1600" b="1" dirty="0">
              <a:solidFill>
                <a:srgbClr val="FF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近代密碼</a:t>
            </a:r>
            <a:r>
              <a:rPr lang="zh-CN" altLang="en-US" sz="1600" b="1" dirty="0">
                <a:solidFill>
                  <a:srgbClr val="FF0000"/>
                </a:solidFill>
                <a:effectLst/>
                <a:latin typeface="Microsoft YaHei" panose="020B0503020204020204" pitchFamily="34" charset="-122"/>
                <a:ea typeface="Microsoft YaHei" panose="020B0503020204020204" pitchFamily="34" charset="-122"/>
              </a:rPr>
              <a:t> </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effectLst/>
                <a:latin typeface="Microsoft YaHei" panose="020B0503020204020204" pitchFamily="34" charset="-122"/>
                <a:ea typeface="Microsoft YaHei" panose="020B0503020204020204" pitchFamily="34" charset="-122"/>
              </a:rPr>
              <a:t>現代密碼</a:t>
            </a:r>
          </a:p>
        </p:txBody>
      </p:sp>
      <p:sp>
        <p:nvSpPr>
          <p:cNvPr id="9" name="矩形 8">
            <a:extLst>
              <a:ext uri="{FF2B5EF4-FFF2-40B4-BE49-F238E27FC236}">
                <a16:creationId xmlns:a16="http://schemas.microsoft.com/office/drawing/2014/main" id="{DC8E60E0-1EDD-05AA-85C1-7076CC77976E}"/>
              </a:ext>
            </a:extLst>
          </p:cNvPr>
          <p:cNvSpPr>
            <a:spLocks/>
          </p:cNvSpPr>
          <p:nvPr/>
        </p:nvSpPr>
        <p:spPr bwMode="auto">
          <a:xfrm>
            <a:off x="2158525" y="2456170"/>
            <a:ext cx="1486988"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dirty="0">
                <a:solidFill>
                  <a:srgbClr val="000000"/>
                </a:solidFill>
                <a:effectLst/>
                <a:latin typeface="Microsoft YaHei" panose="020B0503020204020204" pitchFamily="34" charset="-122"/>
                <a:ea typeface="Microsoft YaHei" panose="020B0503020204020204" pitchFamily="34" charset="-122"/>
              </a:rPr>
              <a:t>分組密碼</a:t>
            </a:r>
            <a:endParaRPr lang="en-US" altLang="zh-CN" sz="16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en-US" altLang="zh-CN" sz="1600" dirty="0">
                <a:solidFill>
                  <a:srgbClr val="000000"/>
                </a:solidFill>
                <a:latin typeface="Microsoft YaHei" panose="020B0503020204020204" pitchFamily="34" charset="-122"/>
                <a:ea typeface="Microsoft YaHei" panose="020B0503020204020204" pitchFamily="34" charset="-122"/>
              </a:rPr>
              <a:t>DES</a:t>
            </a:r>
            <a:r>
              <a:rPr lang="zh-CN" altLang="en-US" sz="1600" dirty="0">
                <a:solidFill>
                  <a:srgbClr val="000000"/>
                </a:solidFill>
                <a:latin typeface="Microsoft YaHei" panose="020B0503020204020204" pitchFamily="34" charset="-122"/>
                <a:ea typeface="Microsoft YaHei" panose="020B0503020204020204" pitchFamily="34" charset="-122"/>
              </a:rPr>
              <a:t>算法</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流密碼</a:t>
            </a:r>
            <a:endParaRPr lang="zh-CN" altLang="en-US" sz="1600" dirty="0">
              <a:solidFill>
                <a:srgbClr val="000000"/>
              </a:solidFill>
              <a:effectLst/>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BE37ACEC-46E1-5471-7B45-230DF5C64190}"/>
              </a:ext>
            </a:extLst>
          </p:cNvPr>
          <p:cNvSpPr>
            <a:spLocks/>
          </p:cNvSpPr>
          <p:nvPr/>
        </p:nvSpPr>
        <p:spPr bwMode="auto">
          <a:xfrm>
            <a:off x="3963485" y="2454736"/>
            <a:ext cx="1757317"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密鑰分發問題</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公鑰密碼</a:t>
            </a:r>
            <a:r>
              <a:rPr lang="zh-CN" altLang="en-US" sz="1600" b="1" dirty="0">
                <a:solidFill>
                  <a:srgbClr val="FF0000"/>
                </a:solidFill>
                <a:effectLst/>
                <a:latin typeface="Microsoft YaHei" panose="020B0503020204020204" pitchFamily="34" charset="-122"/>
                <a:ea typeface="Microsoft YaHei" panose="020B0503020204020204" pitchFamily="34" charset="-122"/>
              </a:rPr>
              <a:t> </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en-US" altLang="zh-CN" sz="1600" b="1" dirty="0">
                <a:solidFill>
                  <a:srgbClr val="FF0000"/>
                </a:solidFill>
                <a:latin typeface="Microsoft YaHei" panose="020B0503020204020204" pitchFamily="34" charset="-122"/>
                <a:ea typeface="Microsoft YaHei" panose="020B0503020204020204" pitchFamily="34" charset="-122"/>
              </a:rPr>
              <a:t>RSA</a:t>
            </a:r>
            <a:r>
              <a:rPr lang="zh-CN" altLang="en-US" sz="1600" b="1" dirty="0">
                <a:solidFill>
                  <a:srgbClr val="FF0000"/>
                </a:solidFill>
                <a:latin typeface="Microsoft YaHei" panose="020B0503020204020204" pitchFamily="34" charset="-122"/>
                <a:ea typeface="Microsoft YaHei" panose="020B0503020204020204" pitchFamily="34" charset="-122"/>
              </a:rPr>
              <a:t>算法</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應用場景</a:t>
            </a:r>
            <a:endParaRPr lang="zh-CN" altLang="en-US" sz="1600" dirty="0">
              <a:solidFill>
                <a:srgbClr val="000000"/>
              </a:solidFill>
              <a:effectLst/>
              <a:latin typeface="Microsoft YaHei" panose="020B0503020204020204" pitchFamily="34" charset="-122"/>
              <a:ea typeface="Microsoft YaHei" panose="020B0503020204020204" pitchFamily="34" charset="-122"/>
            </a:endParaRPr>
          </a:p>
        </p:txBody>
      </p:sp>
      <p:cxnSp>
        <p:nvCxnSpPr>
          <p:cNvPr id="19" name="直接箭头连接符 33">
            <a:extLst>
              <a:ext uri="{FF2B5EF4-FFF2-40B4-BE49-F238E27FC236}">
                <a16:creationId xmlns:a16="http://schemas.microsoft.com/office/drawing/2014/main" id="{12085B30-403C-5380-A40F-191F4B7D722D}"/>
              </a:ext>
            </a:extLst>
          </p:cNvPr>
          <p:cNvCxnSpPr>
            <a:cxnSpLocks/>
            <a:stCxn id="8" idx="3"/>
            <a:endCxn id="9" idx="1"/>
          </p:cNvCxnSpPr>
          <p:nvPr/>
        </p:nvCxnSpPr>
        <p:spPr>
          <a:xfrm flipV="1">
            <a:off x="1836689" y="3377177"/>
            <a:ext cx="321836" cy="52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33">
            <a:extLst>
              <a:ext uri="{FF2B5EF4-FFF2-40B4-BE49-F238E27FC236}">
                <a16:creationId xmlns:a16="http://schemas.microsoft.com/office/drawing/2014/main" id="{79E71976-3C99-0EC3-4BD6-1706E86B59A0}"/>
              </a:ext>
            </a:extLst>
          </p:cNvPr>
          <p:cNvCxnSpPr>
            <a:cxnSpLocks/>
            <a:stCxn id="8" idx="2"/>
            <a:endCxn id="3" idx="0"/>
          </p:cNvCxnSpPr>
          <p:nvPr/>
        </p:nvCxnSpPr>
        <p:spPr>
          <a:xfrm flipH="1">
            <a:off x="1073164" y="4303405"/>
            <a:ext cx="2" cy="3400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33">
            <a:extLst>
              <a:ext uri="{FF2B5EF4-FFF2-40B4-BE49-F238E27FC236}">
                <a16:creationId xmlns:a16="http://schemas.microsoft.com/office/drawing/2014/main" id="{B79C5FE5-6816-F53D-F29E-2BE6C069AE22}"/>
              </a:ext>
            </a:extLst>
          </p:cNvPr>
          <p:cNvCxnSpPr>
            <a:cxnSpLocks/>
            <a:stCxn id="9" idx="2"/>
            <a:endCxn id="4" idx="0"/>
          </p:cNvCxnSpPr>
          <p:nvPr/>
        </p:nvCxnSpPr>
        <p:spPr>
          <a:xfrm>
            <a:off x="2902019" y="4298183"/>
            <a:ext cx="5606" cy="3453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33">
            <a:extLst>
              <a:ext uri="{FF2B5EF4-FFF2-40B4-BE49-F238E27FC236}">
                <a16:creationId xmlns:a16="http://schemas.microsoft.com/office/drawing/2014/main" id="{DC96D5A8-CDD5-8E8B-7DF2-DFD224A0DD1B}"/>
              </a:ext>
            </a:extLst>
          </p:cNvPr>
          <p:cNvCxnSpPr>
            <a:cxnSpLocks/>
            <a:stCxn id="10" idx="2"/>
            <a:endCxn id="7" idx="0"/>
          </p:cNvCxnSpPr>
          <p:nvPr/>
        </p:nvCxnSpPr>
        <p:spPr>
          <a:xfrm>
            <a:off x="4842144" y="4296749"/>
            <a:ext cx="0" cy="3450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任意多边形: 形状 25">
            <a:extLst>
              <a:ext uri="{FF2B5EF4-FFF2-40B4-BE49-F238E27FC236}">
                <a16:creationId xmlns:a16="http://schemas.microsoft.com/office/drawing/2014/main" id="{2D4AF21A-77DD-3B45-0385-BB26E5BCAC69}"/>
              </a:ext>
            </a:extLst>
          </p:cNvPr>
          <p:cNvSpPr/>
          <p:nvPr/>
        </p:nvSpPr>
        <p:spPr>
          <a:xfrm flipH="1">
            <a:off x="2936055" y="5441984"/>
            <a:ext cx="3870897" cy="377552"/>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25" name="文本框 24">
            <a:extLst>
              <a:ext uri="{FF2B5EF4-FFF2-40B4-BE49-F238E27FC236}">
                <a16:creationId xmlns:a16="http://schemas.microsoft.com/office/drawing/2014/main" id="{8AA58B0B-B14A-75D4-1EC1-FE1ECE342AE5}"/>
              </a:ext>
            </a:extLst>
          </p:cNvPr>
          <p:cNvSpPr txBox="1"/>
          <p:nvPr/>
        </p:nvSpPr>
        <p:spPr>
          <a:xfrm>
            <a:off x="3287273" y="5828409"/>
            <a:ext cx="3214253" cy="584775"/>
          </a:xfrm>
          <a:prstGeom prst="rect">
            <a:avLst/>
          </a:prstGeom>
          <a:noFill/>
        </p:spPr>
        <p:txBody>
          <a:bodyPr wrap="square" rtlCol="0">
            <a:spAutoFit/>
          </a:bodyPr>
          <a:lstStyle/>
          <a:p>
            <a:pPr algn="ctr"/>
            <a:r>
              <a:rPr lang="zh-CN" altLang="en-US" sz="1600" dirty="0">
                <a:solidFill>
                  <a:srgbClr val="000000"/>
                </a:solidFill>
                <a:effectLst/>
                <a:latin typeface="Microsoft YaHei" panose="020B0503020204020204" pitchFamily="34" charset="-122"/>
                <a:ea typeface="Microsoft YaHei" panose="020B0503020204020204" pitchFamily="34" charset="-122"/>
              </a:rPr>
              <a:t>密碼學方法爲網絡空間的安全穩定保駕護航</a:t>
            </a:r>
          </a:p>
        </p:txBody>
      </p:sp>
      <p:sp>
        <p:nvSpPr>
          <p:cNvPr id="35" name="矩形 34">
            <a:extLst>
              <a:ext uri="{FF2B5EF4-FFF2-40B4-BE49-F238E27FC236}">
                <a16:creationId xmlns:a16="http://schemas.microsoft.com/office/drawing/2014/main" id="{4032A22A-6638-6A1D-A746-AF4597A318BD}"/>
              </a:ext>
            </a:extLst>
          </p:cNvPr>
          <p:cNvSpPr>
            <a:spLocks/>
          </p:cNvSpPr>
          <p:nvPr/>
        </p:nvSpPr>
        <p:spPr bwMode="auto">
          <a:xfrm>
            <a:off x="6013196" y="2454736"/>
            <a:ext cx="1575075"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散列函數</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effectLst/>
                <a:latin typeface="Microsoft YaHei" panose="020B0503020204020204" pitchFamily="34" charset="-122"/>
                <a:ea typeface="Microsoft YaHei" panose="020B0503020204020204" pitchFamily="34" charset="-122"/>
              </a:rPr>
              <a:t>消息認證碼 </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數字簽名</a:t>
            </a:r>
            <a:endParaRPr lang="en-US" altLang="zh-CN" sz="1600" b="1" dirty="0">
              <a:solidFill>
                <a:srgbClr val="FF0000"/>
              </a:solidFill>
              <a:latin typeface="Microsoft YaHei" panose="020B0503020204020204" pitchFamily="34" charset="-122"/>
              <a:ea typeface="Microsoft YaHei" panose="020B0503020204020204" pitchFamily="34" charset="-122"/>
            </a:endParaRPr>
          </a:p>
        </p:txBody>
      </p:sp>
      <p:sp>
        <p:nvSpPr>
          <p:cNvPr id="36" name="矩形 35">
            <a:extLst>
              <a:ext uri="{FF2B5EF4-FFF2-40B4-BE49-F238E27FC236}">
                <a16:creationId xmlns:a16="http://schemas.microsoft.com/office/drawing/2014/main" id="{BF18C50A-73C8-543C-B70C-7D8BF8B146F5}"/>
              </a:ext>
            </a:extLst>
          </p:cNvPr>
          <p:cNvSpPr>
            <a:spLocks/>
          </p:cNvSpPr>
          <p:nvPr/>
        </p:nvSpPr>
        <p:spPr bwMode="auto">
          <a:xfrm>
            <a:off x="10083888" y="2449861"/>
            <a:ext cx="1798470"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唯密文攻擊</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effectLst/>
                <a:latin typeface="Microsoft YaHei" panose="020B0503020204020204" pitchFamily="34" charset="-122"/>
                <a:ea typeface="Microsoft YaHei" panose="020B0503020204020204" pitchFamily="34" charset="-122"/>
              </a:rPr>
              <a:t>已知明文攻擊 </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選擇明文攻擊</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選擇密文攻擊</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effectLst/>
                <a:latin typeface="Microsoft YaHei" panose="020B0503020204020204" pitchFamily="34" charset="-122"/>
                <a:ea typeface="Microsoft YaHei" panose="020B0503020204020204" pitchFamily="34" charset="-122"/>
              </a:rPr>
              <a:t>選擇密鑰攻擊</a:t>
            </a:r>
          </a:p>
        </p:txBody>
      </p:sp>
      <p:grpSp>
        <p:nvGrpSpPr>
          <p:cNvPr id="56" name="组合 55">
            <a:extLst>
              <a:ext uri="{FF2B5EF4-FFF2-40B4-BE49-F238E27FC236}">
                <a16:creationId xmlns:a16="http://schemas.microsoft.com/office/drawing/2014/main" id="{56832C35-EB22-BEF5-DCDB-1BF4FC57E9BB}"/>
              </a:ext>
            </a:extLst>
          </p:cNvPr>
          <p:cNvGrpSpPr/>
          <p:nvPr/>
        </p:nvGrpSpPr>
        <p:grpSpPr>
          <a:xfrm>
            <a:off x="139218" y="1017074"/>
            <a:ext cx="1969477" cy="1336783"/>
            <a:chOff x="1437617" y="1029435"/>
            <a:chExt cx="1969477" cy="1336783"/>
          </a:xfrm>
        </p:grpSpPr>
        <p:sp>
          <p:nvSpPr>
            <p:cNvPr id="11" name="文本框 10">
              <a:extLst>
                <a:ext uri="{FF2B5EF4-FFF2-40B4-BE49-F238E27FC236}">
                  <a16:creationId xmlns:a16="http://schemas.microsoft.com/office/drawing/2014/main" id="{7F802104-3D48-DB79-E331-E540A155EC55}"/>
                </a:ext>
              </a:extLst>
            </p:cNvPr>
            <p:cNvSpPr txBox="1"/>
            <p:nvPr/>
          </p:nvSpPr>
          <p:spPr>
            <a:xfrm>
              <a:off x="1437617" y="1719887"/>
              <a:ext cx="19694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密碼學簡史</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4" name="图片 43">
              <a:extLst>
                <a:ext uri="{FF2B5EF4-FFF2-40B4-BE49-F238E27FC236}">
                  <a16:creationId xmlns:a16="http://schemas.microsoft.com/office/drawing/2014/main" id="{91447AC3-A3C1-85CA-65FD-840C644F9373}"/>
                </a:ext>
              </a:extLst>
            </p:cNvPr>
            <p:cNvPicPr>
              <a:picLocks noChangeAspect="1"/>
            </p:cNvPicPr>
            <p:nvPr/>
          </p:nvPicPr>
          <p:blipFill>
            <a:blip r:embed="rId3"/>
            <a:stretch>
              <a:fillRect/>
            </a:stretch>
          </p:blipFill>
          <p:spPr>
            <a:xfrm>
              <a:off x="2057241" y="1029435"/>
              <a:ext cx="730229" cy="68717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57" name="组合 56">
            <a:extLst>
              <a:ext uri="{FF2B5EF4-FFF2-40B4-BE49-F238E27FC236}">
                <a16:creationId xmlns:a16="http://schemas.microsoft.com/office/drawing/2014/main" id="{787DE9F8-EB5A-E65D-7826-16ACDE81DC20}"/>
              </a:ext>
            </a:extLst>
          </p:cNvPr>
          <p:cNvGrpSpPr/>
          <p:nvPr/>
        </p:nvGrpSpPr>
        <p:grpSpPr>
          <a:xfrm>
            <a:off x="2216477" y="1018508"/>
            <a:ext cx="1383961" cy="1336783"/>
            <a:chOff x="3464408" y="1029435"/>
            <a:chExt cx="1383961" cy="1336783"/>
          </a:xfrm>
        </p:grpSpPr>
        <p:sp>
          <p:nvSpPr>
            <p:cNvPr id="12" name="文本框 11">
              <a:extLst>
                <a:ext uri="{FF2B5EF4-FFF2-40B4-BE49-F238E27FC236}">
                  <a16:creationId xmlns:a16="http://schemas.microsoft.com/office/drawing/2014/main" id="{0C74F037-175E-9E77-CD9A-4949CF269859}"/>
                </a:ext>
              </a:extLst>
            </p:cNvPr>
            <p:cNvSpPr txBox="1"/>
            <p:nvPr/>
          </p:nvSpPr>
          <p:spPr>
            <a:xfrm>
              <a:off x="3464408" y="1719887"/>
              <a:ext cx="1383961" cy="646331"/>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對稱密碼</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6" name="图片 45">
              <a:extLst>
                <a:ext uri="{FF2B5EF4-FFF2-40B4-BE49-F238E27FC236}">
                  <a16:creationId xmlns:a16="http://schemas.microsoft.com/office/drawing/2014/main" id="{ACC62AFB-F953-17E9-7729-1A48795354AB}"/>
                </a:ext>
              </a:extLst>
            </p:cNvPr>
            <p:cNvPicPr>
              <a:picLocks noChangeAspect="1"/>
            </p:cNvPicPr>
            <p:nvPr/>
          </p:nvPicPr>
          <p:blipFill>
            <a:blip r:embed="rId4"/>
            <a:stretch>
              <a:fillRect/>
            </a:stretch>
          </p:blipFill>
          <p:spPr>
            <a:xfrm>
              <a:off x="3791274" y="1029435"/>
              <a:ext cx="730229" cy="707842"/>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60" name="组合 59">
            <a:extLst>
              <a:ext uri="{FF2B5EF4-FFF2-40B4-BE49-F238E27FC236}">
                <a16:creationId xmlns:a16="http://schemas.microsoft.com/office/drawing/2014/main" id="{AAE560C5-2131-F61C-DE86-5478E480714A}"/>
              </a:ext>
            </a:extLst>
          </p:cNvPr>
          <p:cNvGrpSpPr/>
          <p:nvPr/>
        </p:nvGrpSpPr>
        <p:grpSpPr>
          <a:xfrm>
            <a:off x="10032235" y="1017074"/>
            <a:ext cx="1804687" cy="1336783"/>
            <a:chOff x="9693764" y="1029435"/>
            <a:chExt cx="1804687" cy="1336783"/>
          </a:xfrm>
        </p:grpSpPr>
        <p:sp>
          <p:nvSpPr>
            <p:cNvPr id="39" name="文本框 38">
              <a:extLst>
                <a:ext uri="{FF2B5EF4-FFF2-40B4-BE49-F238E27FC236}">
                  <a16:creationId xmlns:a16="http://schemas.microsoft.com/office/drawing/2014/main" id="{2C2744A4-3789-7273-B3D9-8246BBEC8727}"/>
                </a:ext>
              </a:extLst>
            </p:cNvPr>
            <p:cNvSpPr txBox="1"/>
            <p:nvPr/>
          </p:nvSpPr>
          <p:spPr>
            <a:xfrm>
              <a:off x="9693764" y="1719887"/>
              <a:ext cx="18046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第六節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密碼分析技術</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8" name="图片 47">
              <a:extLst>
                <a:ext uri="{FF2B5EF4-FFF2-40B4-BE49-F238E27FC236}">
                  <a16:creationId xmlns:a16="http://schemas.microsoft.com/office/drawing/2014/main" id="{517F6B3A-DE14-6081-651A-33BA37D19FD3}"/>
                </a:ext>
              </a:extLst>
            </p:cNvPr>
            <p:cNvPicPr>
              <a:picLocks noChangeAspect="1"/>
            </p:cNvPicPr>
            <p:nvPr/>
          </p:nvPicPr>
          <p:blipFill>
            <a:blip r:embed="rId5"/>
            <a:stretch>
              <a:fillRect/>
            </a:stretch>
          </p:blipFill>
          <p:spPr>
            <a:xfrm>
              <a:off x="10230993" y="1029435"/>
              <a:ext cx="730229" cy="67528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59" name="组合 58">
            <a:extLst>
              <a:ext uri="{FF2B5EF4-FFF2-40B4-BE49-F238E27FC236}">
                <a16:creationId xmlns:a16="http://schemas.microsoft.com/office/drawing/2014/main" id="{A365410C-E3D4-CAE8-F786-D43A97D969F2}"/>
              </a:ext>
            </a:extLst>
          </p:cNvPr>
          <p:cNvGrpSpPr/>
          <p:nvPr/>
        </p:nvGrpSpPr>
        <p:grpSpPr>
          <a:xfrm>
            <a:off x="5913993" y="1056568"/>
            <a:ext cx="1804687" cy="1336783"/>
            <a:chOff x="7540181" y="1029435"/>
            <a:chExt cx="1804687" cy="1336783"/>
          </a:xfrm>
        </p:grpSpPr>
        <p:sp>
          <p:nvSpPr>
            <p:cNvPr id="37" name="文本框 36">
              <a:extLst>
                <a:ext uri="{FF2B5EF4-FFF2-40B4-BE49-F238E27FC236}">
                  <a16:creationId xmlns:a16="http://schemas.microsoft.com/office/drawing/2014/main" id="{4DFAD8BC-E552-8082-3FEA-7EE1EF42D3EB}"/>
                </a:ext>
              </a:extLst>
            </p:cNvPr>
            <p:cNvSpPr txBox="1"/>
            <p:nvPr/>
          </p:nvSpPr>
          <p:spPr>
            <a:xfrm>
              <a:off x="7540181" y="1719887"/>
              <a:ext cx="18046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摘要與簽名</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774ADB6D-6D6F-F502-B5B2-FB3269FCEAE0}"/>
                </a:ext>
              </a:extLst>
            </p:cNvPr>
            <p:cNvPicPr>
              <a:picLocks noChangeAspect="1"/>
            </p:cNvPicPr>
            <p:nvPr/>
          </p:nvPicPr>
          <p:blipFill>
            <a:blip r:embed="rId6"/>
            <a:stretch>
              <a:fillRect/>
            </a:stretch>
          </p:blipFill>
          <p:spPr>
            <a:xfrm>
              <a:off x="8077410" y="1029435"/>
              <a:ext cx="730229" cy="70784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58" name="组合 57">
            <a:extLst>
              <a:ext uri="{FF2B5EF4-FFF2-40B4-BE49-F238E27FC236}">
                <a16:creationId xmlns:a16="http://schemas.microsoft.com/office/drawing/2014/main" id="{A8D2EFB2-3A87-50F5-77AC-9434D2311B73}"/>
              </a:ext>
            </a:extLst>
          </p:cNvPr>
          <p:cNvGrpSpPr/>
          <p:nvPr/>
        </p:nvGrpSpPr>
        <p:grpSpPr>
          <a:xfrm>
            <a:off x="3981602" y="1017074"/>
            <a:ext cx="1804687" cy="1336783"/>
            <a:chOff x="5145823" y="1029435"/>
            <a:chExt cx="1804687" cy="1336783"/>
          </a:xfrm>
        </p:grpSpPr>
        <p:sp>
          <p:nvSpPr>
            <p:cNvPr id="13" name="文本框 12">
              <a:extLst>
                <a:ext uri="{FF2B5EF4-FFF2-40B4-BE49-F238E27FC236}">
                  <a16:creationId xmlns:a16="http://schemas.microsoft.com/office/drawing/2014/main" id="{6EDBC31D-9A1E-44B0-5008-478123627554}"/>
                </a:ext>
              </a:extLst>
            </p:cNvPr>
            <p:cNvSpPr txBox="1"/>
            <p:nvPr/>
          </p:nvSpPr>
          <p:spPr>
            <a:xfrm>
              <a:off x="5145823" y="1719887"/>
              <a:ext cx="18046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公鑰密碼</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2" name="图片 51">
              <a:extLst>
                <a:ext uri="{FF2B5EF4-FFF2-40B4-BE49-F238E27FC236}">
                  <a16:creationId xmlns:a16="http://schemas.microsoft.com/office/drawing/2014/main" id="{50E117D1-8765-80E6-4E71-7FF25365BC75}"/>
                </a:ext>
              </a:extLst>
            </p:cNvPr>
            <p:cNvPicPr>
              <a:picLocks noChangeAspect="1"/>
            </p:cNvPicPr>
            <p:nvPr/>
          </p:nvPicPr>
          <p:blipFill>
            <a:blip r:embed="rId7"/>
            <a:stretch>
              <a:fillRect/>
            </a:stretch>
          </p:blipFill>
          <p:spPr>
            <a:xfrm>
              <a:off x="5683052" y="1029435"/>
              <a:ext cx="730229" cy="707886"/>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cxnSp>
        <p:nvCxnSpPr>
          <p:cNvPr id="66" name="直接箭头连接符 33">
            <a:extLst>
              <a:ext uri="{FF2B5EF4-FFF2-40B4-BE49-F238E27FC236}">
                <a16:creationId xmlns:a16="http://schemas.microsoft.com/office/drawing/2014/main" id="{C38CF50C-6970-F6A8-9F66-BE85293800E1}"/>
              </a:ext>
            </a:extLst>
          </p:cNvPr>
          <p:cNvCxnSpPr>
            <a:cxnSpLocks/>
            <a:stCxn id="9" idx="3"/>
            <a:endCxn id="10" idx="1"/>
          </p:cNvCxnSpPr>
          <p:nvPr/>
        </p:nvCxnSpPr>
        <p:spPr>
          <a:xfrm flipV="1">
            <a:off x="3645513" y="3375743"/>
            <a:ext cx="317972" cy="14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33">
            <a:extLst>
              <a:ext uri="{FF2B5EF4-FFF2-40B4-BE49-F238E27FC236}">
                <a16:creationId xmlns:a16="http://schemas.microsoft.com/office/drawing/2014/main" id="{A462FB6E-60DC-A748-ED5D-74CF660BAA3C}"/>
              </a:ext>
            </a:extLst>
          </p:cNvPr>
          <p:cNvCxnSpPr>
            <a:cxnSpLocks/>
            <a:stCxn id="35" idx="3"/>
            <a:endCxn id="107" idx="1"/>
          </p:cNvCxnSpPr>
          <p:nvPr/>
        </p:nvCxnSpPr>
        <p:spPr>
          <a:xfrm flipV="1">
            <a:off x="7588271" y="3370868"/>
            <a:ext cx="519229" cy="48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33">
            <a:extLst>
              <a:ext uri="{FF2B5EF4-FFF2-40B4-BE49-F238E27FC236}">
                <a16:creationId xmlns:a16="http://schemas.microsoft.com/office/drawing/2014/main" id="{6E054196-DABC-8946-F636-74F9B3EB8AED}"/>
              </a:ext>
            </a:extLst>
          </p:cNvPr>
          <p:cNvCxnSpPr>
            <a:cxnSpLocks/>
            <a:stCxn id="10" idx="3"/>
            <a:endCxn id="35" idx="1"/>
          </p:cNvCxnSpPr>
          <p:nvPr/>
        </p:nvCxnSpPr>
        <p:spPr>
          <a:xfrm>
            <a:off x="5720802" y="3375743"/>
            <a:ext cx="292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CE1AB10D-B03E-F077-C02F-F5ACDF48481C}"/>
              </a:ext>
            </a:extLst>
          </p:cNvPr>
          <p:cNvSpPr>
            <a:spLocks/>
          </p:cNvSpPr>
          <p:nvPr/>
        </p:nvSpPr>
        <p:spPr bwMode="auto">
          <a:xfrm>
            <a:off x="5874496" y="4641753"/>
            <a:ext cx="1864913"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介紹校驗數據</a:t>
            </a:r>
            <a:endParaRPr kumimoji="1" lang="en-US" altLang="zh-CN" sz="1600" dirty="0">
              <a:latin typeface="Microsoft YaHei" panose="020B0503020204020204" pitchFamily="34" charset="-122"/>
              <a:ea typeface="Microsoft YaHei" panose="020B0503020204020204" pitchFamily="34" charset="-122"/>
            </a:endParaRPr>
          </a:p>
          <a:p>
            <a:pPr algn="ctr"/>
            <a:r>
              <a:rPr kumimoji="1" lang="zh-CN" altLang="en-US" sz="1600" dirty="0">
                <a:latin typeface="Microsoft YaHei" panose="020B0503020204020204" pitchFamily="34" charset="-122"/>
                <a:ea typeface="Microsoft YaHei" panose="020B0503020204020204" pitchFamily="34" charset="-122"/>
              </a:rPr>
              <a:t>完整性的工具方法</a:t>
            </a:r>
          </a:p>
        </p:txBody>
      </p:sp>
      <p:sp>
        <p:nvSpPr>
          <p:cNvPr id="85" name="矩形 84">
            <a:extLst>
              <a:ext uri="{FF2B5EF4-FFF2-40B4-BE49-F238E27FC236}">
                <a16:creationId xmlns:a16="http://schemas.microsoft.com/office/drawing/2014/main" id="{8A537F03-10A9-F2B3-C1AB-8CFF50F0658E}"/>
              </a:ext>
            </a:extLst>
          </p:cNvPr>
          <p:cNvSpPr>
            <a:spLocks/>
          </p:cNvSpPr>
          <p:nvPr/>
        </p:nvSpPr>
        <p:spPr bwMode="auto">
          <a:xfrm>
            <a:off x="10050666" y="4642505"/>
            <a:ext cx="1864913"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梳理密碼分析領域的技術體系</a:t>
            </a:r>
          </a:p>
        </p:txBody>
      </p:sp>
      <p:cxnSp>
        <p:nvCxnSpPr>
          <p:cNvPr id="86" name="直接箭头连接符 33">
            <a:extLst>
              <a:ext uri="{FF2B5EF4-FFF2-40B4-BE49-F238E27FC236}">
                <a16:creationId xmlns:a16="http://schemas.microsoft.com/office/drawing/2014/main" id="{2B5239BB-FCF4-A888-EC18-9E29F5723454}"/>
              </a:ext>
            </a:extLst>
          </p:cNvPr>
          <p:cNvCxnSpPr>
            <a:cxnSpLocks/>
            <a:stCxn id="35" idx="2"/>
            <a:endCxn id="84" idx="0"/>
          </p:cNvCxnSpPr>
          <p:nvPr/>
        </p:nvCxnSpPr>
        <p:spPr>
          <a:xfrm>
            <a:off x="6800734" y="4296749"/>
            <a:ext cx="6219" cy="3450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33">
            <a:extLst>
              <a:ext uri="{FF2B5EF4-FFF2-40B4-BE49-F238E27FC236}">
                <a16:creationId xmlns:a16="http://schemas.microsoft.com/office/drawing/2014/main" id="{BFBF0E4F-E251-04D5-FF70-547C8B97DAD7}"/>
              </a:ext>
            </a:extLst>
          </p:cNvPr>
          <p:cNvCxnSpPr>
            <a:cxnSpLocks/>
            <a:stCxn id="36" idx="2"/>
            <a:endCxn id="85" idx="0"/>
          </p:cNvCxnSpPr>
          <p:nvPr/>
        </p:nvCxnSpPr>
        <p:spPr>
          <a:xfrm>
            <a:off x="10983123" y="4291874"/>
            <a:ext cx="0" cy="3506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013D945B-FB3F-2D1A-5770-48C40B6253F6}"/>
              </a:ext>
            </a:extLst>
          </p:cNvPr>
          <p:cNvSpPr txBox="1"/>
          <p:nvPr/>
        </p:nvSpPr>
        <p:spPr>
          <a:xfrm>
            <a:off x="10032235" y="5819536"/>
            <a:ext cx="1901078" cy="584775"/>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對密碼算法的設計具有理論指導意義</a:t>
            </a:r>
          </a:p>
        </p:txBody>
      </p:sp>
      <p:cxnSp>
        <p:nvCxnSpPr>
          <p:cNvPr id="96" name="直接箭头连接符 33">
            <a:extLst>
              <a:ext uri="{FF2B5EF4-FFF2-40B4-BE49-F238E27FC236}">
                <a16:creationId xmlns:a16="http://schemas.microsoft.com/office/drawing/2014/main" id="{F947BB62-8F99-1FA0-ED63-CA665DD6B838}"/>
              </a:ext>
            </a:extLst>
          </p:cNvPr>
          <p:cNvCxnSpPr>
            <a:cxnSpLocks/>
            <a:stCxn id="85" idx="2"/>
            <a:endCxn id="95" idx="0"/>
          </p:cNvCxnSpPr>
          <p:nvPr/>
        </p:nvCxnSpPr>
        <p:spPr>
          <a:xfrm flipH="1">
            <a:off x="10982774" y="5432118"/>
            <a:ext cx="349" cy="3874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文本框 98">
            <a:extLst>
              <a:ext uri="{FF2B5EF4-FFF2-40B4-BE49-F238E27FC236}">
                <a16:creationId xmlns:a16="http://schemas.microsoft.com/office/drawing/2014/main" id="{5FB8A6E2-06C4-3D76-053C-34EDDDF373FF}"/>
              </a:ext>
            </a:extLst>
          </p:cNvPr>
          <p:cNvSpPr txBox="1"/>
          <p:nvPr/>
        </p:nvSpPr>
        <p:spPr>
          <a:xfrm>
            <a:off x="-33890" y="5834183"/>
            <a:ext cx="2214109" cy="584775"/>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爲密碼算法的優化提供歷史經驗</a:t>
            </a:r>
          </a:p>
        </p:txBody>
      </p:sp>
      <p:cxnSp>
        <p:nvCxnSpPr>
          <p:cNvPr id="100" name="直接箭头连接符 33">
            <a:extLst>
              <a:ext uri="{FF2B5EF4-FFF2-40B4-BE49-F238E27FC236}">
                <a16:creationId xmlns:a16="http://schemas.microsoft.com/office/drawing/2014/main" id="{07A1D138-471E-CC0C-CDA3-DAEF823F0E7B}"/>
              </a:ext>
            </a:extLst>
          </p:cNvPr>
          <p:cNvCxnSpPr>
            <a:cxnSpLocks/>
            <a:stCxn id="3" idx="2"/>
            <a:endCxn id="99" idx="0"/>
          </p:cNvCxnSpPr>
          <p:nvPr/>
        </p:nvCxnSpPr>
        <p:spPr>
          <a:xfrm>
            <a:off x="1073164" y="5433111"/>
            <a:ext cx="1" cy="4010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矩形 106">
            <a:extLst>
              <a:ext uri="{FF2B5EF4-FFF2-40B4-BE49-F238E27FC236}">
                <a16:creationId xmlns:a16="http://schemas.microsoft.com/office/drawing/2014/main" id="{3DC20869-4AE6-6E6A-2FEC-84D83EC23CEB}"/>
              </a:ext>
            </a:extLst>
          </p:cNvPr>
          <p:cNvSpPr>
            <a:spLocks/>
          </p:cNvSpPr>
          <p:nvPr/>
        </p:nvSpPr>
        <p:spPr bwMode="auto">
          <a:xfrm>
            <a:off x="8107500" y="2449861"/>
            <a:ext cx="1575075" cy="1842013"/>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600" b="1" dirty="0">
                <a:solidFill>
                  <a:srgbClr val="FF0000"/>
                </a:solidFill>
                <a:effectLst/>
                <a:latin typeface="Microsoft YaHei" panose="020B0503020204020204" pitchFamily="34" charset="-122"/>
                <a:ea typeface="Microsoft YaHei" panose="020B0503020204020204" pitchFamily="34" charset="-122"/>
              </a:rPr>
              <a:t>體系結構</a:t>
            </a:r>
            <a:endParaRPr lang="en-US" altLang="zh-CN" sz="1600" b="1" dirty="0">
              <a:solidFill>
                <a:srgbClr val="FF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信任模型</a:t>
            </a:r>
            <a:r>
              <a:rPr lang="zh-CN" altLang="en-US" sz="1600" b="1" dirty="0">
                <a:solidFill>
                  <a:srgbClr val="FF0000"/>
                </a:solidFill>
                <a:effectLst/>
                <a:latin typeface="Microsoft YaHei" panose="020B0503020204020204" pitchFamily="34" charset="-122"/>
                <a:ea typeface="Microsoft YaHei" panose="020B0503020204020204" pitchFamily="34" charset="-122"/>
              </a:rPr>
              <a:t> </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安全問題</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應用場景</a:t>
            </a:r>
            <a:endParaRPr lang="en-US" altLang="zh-CN" sz="1600" dirty="0">
              <a:solidFill>
                <a:srgbClr val="000000"/>
              </a:solidFill>
              <a:latin typeface="Microsoft YaHei" panose="020B0503020204020204" pitchFamily="34" charset="-122"/>
              <a:ea typeface="Microsoft YaHei" panose="020B0503020204020204" pitchFamily="34" charset="-122"/>
            </a:endParaRPr>
          </a:p>
        </p:txBody>
      </p:sp>
      <p:sp>
        <p:nvSpPr>
          <p:cNvPr id="111" name="矩形 110">
            <a:extLst>
              <a:ext uri="{FF2B5EF4-FFF2-40B4-BE49-F238E27FC236}">
                <a16:creationId xmlns:a16="http://schemas.microsoft.com/office/drawing/2014/main" id="{BA57A3C9-EF28-722C-A76E-7BAB9433BD48}"/>
              </a:ext>
            </a:extLst>
          </p:cNvPr>
          <p:cNvSpPr>
            <a:spLocks/>
          </p:cNvSpPr>
          <p:nvPr/>
        </p:nvSpPr>
        <p:spPr bwMode="auto">
          <a:xfrm>
            <a:off x="7895427" y="4642505"/>
            <a:ext cx="1987804"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1600" dirty="0">
                <a:latin typeface="Microsoft YaHei" panose="020B0503020204020204" pitchFamily="34" charset="-122"/>
                <a:ea typeface="Microsoft YaHei" panose="020B0503020204020204" pitchFamily="34" charset="-122"/>
              </a:rPr>
              <a:t>明確</a:t>
            </a:r>
            <a:r>
              <a:rPr kumimoji="1" lang="en-US" altLang="zh-CN" sz="1600" dirty="0">
                <a:latin typeface="Microsoft YaHei" panose="020B0503020204020204" pitchFamily="34" charset="-122"/>
                <a:ea typeface="Microsoft YaHei" panose="020B0503020204020204" pitchFamily="34" charset="-122"/>
              </a:rPr>
              <a:t>PKI</a:t>
            </a:r>
            <a:r>
              <a:rPr kumimoji="1" lang="zh-CN" altLang="en-US" sz="1600" dirty="0">
                <a:latin typeface="Microsoft YaHei" panose="020B0503020204020204" pitchFamily="34" charset="-122"/>
                <a:ea typeface="Microsoft YaHei" panose="020B0503020204020204" pitchFamily="34" charset="-122"/>
              </a:rPr>
              <a:t>的意義及如何構建安全的</a:t>
            </a:r>
            <a:r>
              <a:rPr kumimoji="1" lang="en-US" altLang="zh-CN" sz="1600" dirty="0">
                <a:latin typeface="Microsoft YaHei" panose="020B0503020204020204" pitchFamily="34" charset="-122"/>
                <a:ea typeface="Microsoft YaHei" panose="020B0503020204020204" pitchFamily="34" charset="-122"/>
              </a:rPr>
              <a:t>PKI</a:t>
            </a:r>
          </a:p>
        </p:txBody>
      </p:sp>
      <p:cxnSp>
        <p:nvCxnSpPr>
          <p:cNvPr id="112" name="直接箭头连接符 33">
            <a:extLst>
              <a:ext uri="{FF2B5EF4-FFF2-40B4-BE49-F238E27FC236}">
                <a16:creationId xmlns:a16="http://schemas.microsoft.com/office/drawing/2014/main" id="{5E5319B2-3FB0-2D8D-3D05-AF30BBA8EB62}"/>
              </a:ext>
            </a:extLst>
          </p:cNvPr>
          <p:cNvCxnSpPr>
            <a:cxnSpLocks/>
            <a:stCxn id="107" idx="2"/>
            <a:endCxn id="111" idx="0"/>
          </p:cNvCxnSpPr>
          <p:nvPr/>
        </p:nvCxnSpPr>
        <p:spPr>
          <a:xfrm flipH="1">
            <a:off x="8889329" y="4291874"/>
            <a:ext cx="5709" cy="3506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文本框 112">
            <a:extLst>
              <a:ext uri="{FF2B5EF4-FFF2-40B4-BE49-F238E27FC236}">
                <a16:creationId xmlns:a16="http://schemas.microsoft.com/office/drawing/2014/main" id="{644CB2FB-314A-8746-8046-201587F3F414}"/>
              </a:ext>
            </a:extLst>
          </p:cNvPr>
          <p:cNvSpPr txBox="1"/>
          <p:nvPr/>
        </p:nvSpPr>
        <p:spPr>
          <a:xfrm>
            <a:off x="7942437" y="5819536"/>
            <a:ext cx="1901078" cy="584775"/>
          </a:xfrm>
          <a:prstGeom prst="rect">
            <a:avLst/>
          </a:prstGeom>
          <a:noFill/>
        </p:spPr>
        <p:txBody>
          <a:bodyPr wrap="square">
            <a:spAutoFit/>
          </a:bodyPr>
          <a:lstStyle/>
          <a:p>
            <a:pPr algn="ctr"/>
            <a:r>
              <a:rPr kumimoji="1" lang="zh-CN" altLang="en-US" sz="1600" dirty="0">
                <a:latin typeface="Microsoft YaHei" panose="020B0503020204020204" pitchFamily="34" charset="-122"/>
                <a:ea typeface="Microsoft YaHei" panose="020B0503020204020204" pitchFamily="34" charset="-122"/>
              </a:rPr>
              <a:t>解决公鑰密碼中的公鑰真實性問題</a:t>
            </a:r>
          </a:p>
        </p:txBody>
      </p:sp>
      <p:cxnSp>
        <p:nvCxnSpPr>
          <p:cNvPr id="114" name="直接箭头连接符 33">
            <a:extLst>
              <a:ext uri="{FF2B5EF4-FFF2-40B4-BE49-F238E27FC236}">
                <a16:creationId xmlns:a16="http://schemas.microsoft.com/office/drawing/2014/main" id="{60F5D9C8-4C61-C4DD-3424-5BB6EE1B1A3D}"/>
              </a:ext>
            </a:extLst>
          </p:cNvPr>
          <p:cNvCxnSpPr>
            <a:cxnSpLocks/>
            <a:stCxn id="111" idx="2"/>
            <a:endCxn id="113" idx="0"/>
          </p:cNvCxnSpPr>
          <p:nvPr/>
        </p:nvCxnSpPr>
        <p:spPr>
          <a:xfrm>
            <a:off x="8889329" y="5432118"/>
            <a:ext cx="3647" cy="3874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33">
            <a:extLst>
              <a:ext uri="{FF2B5EF4-FFF2-40B4-BE49-F238E27FC236}">
                <a16:creationId xmlns:a16="http://schemas.microsoft.com/office/drawing/2014/main" id="{A20653BF-92FD-7AC2-B8AE-652FE5AFBB87}"/>
              </a:ext>
            </a:extLst>
          </p:cNvPr>
          <p:cNvCxnSpPr>
            <a:cxnSpLocks/>
            <a:stCxn id="107" idx="3"/>
            <a:endCxn id="36" idx="1"/>
          </p:cNvCxnSpPr>
          <p:nvPr/>
        </p:nvCxnSpPr>
        <p:spPr>
          <a:xfrm>
            <a:off x="9682575" y="3370868"/>
            <a:ext cx="40131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5" name="组合 134">
            <a:extLst>
              <a:ext uri="{FF2B5EF4-FFF2-40B4-BE49-F238E27FC236}">
                <a16:creationId xmlns:a16="http://schemas.microsoft.com/office/drawing/2014/main" id="{3A48089E-8152-EE5F-D1AE-2989C8717318}"/>
              </a:ext>
            </a:extLst>
          </p:cNvPr>
          <p:cNvGrpSpPr/>
          <p:nvPr/>
        </p:nvGrpSpPr>
        <p:grpSpPr>
          <a:xfrm>
            <a:off x="7942437" y="1048750"/>
            <a:ext cx="1959389" cy="1341367"/>
            <a:chOff x="7942437" y="1048750"/>
            <a:chExt cx="1959389" cy="1341367"/>
          </a:xfrm>
        </p:grpSpPr>
        <p:sp>
          <p:nvSpPr>
            <p:cNvPr id="109" name="文本框 108">
              <a:extLst>
                <a:ext uri="{FF2B5EF4-FFF2-40B4-BE49-F238E27FC236}">
                  <a16:creationId xmlns:a16="http://schemas.microsoft.com/office/drawing/2014/main" id="{1EEC5841-3236-2E9A-3565-6F4456DD5663}"/>
                </a:ext>
              </a:extLst>
            </p:cNvPr>
            <p:cNvSpPr txBox="1"/>
            <p:nvPr/>
          </p:nvSpPr>
          <p:spPr>
            <a:xfrm>
              <a:off x="7942437" y="1743786"/>
              <a:ext cx="1959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第五節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公鑰基礎設施</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PKI</a:t>
              </a:r>
            </a:p>
          </p:txBody>
        </p:sp>
        <p:grpSp>
          <p:nvGrpSpPr>
            <p:cNvPr id="134" name="组合 133">
              <a:extLst>
                <a:ext uri="{FF2B5EF4-FFF2-40B4-BE49-F238E27FC236}">
                  <a16:creationId xmlns:a16="http://schemas.microsoft.com/office/drawing/2014/main" id="{390B1AF3-DCC5-8646-6379-8AB01C2D7AD5}"/>
                </a:ext>
              </a:extLst>
            </p:cNvPr>
            <p:cNvGrpSpPr/>
            <p:nvPr/>
          </p:nvGrpSpPr>
          <p:grpSpPr>
            <a:xfrm>
              <a:off x="8278820" y="1048750"/>
              <a:ext cx="1322053" cy="723477"/>
              <a:chOff x="8247708" y="1059803"/>
              <a:chExt cx="1322053" cy="723477"/>
            </a:xfrm>
          </p:grpSpPr>
          <p:pic>
            <p:nvPicPr>
              <p:cNvPr id="119" name="Picture 2" descr="See the source image">
                <a:extLst>
                  <a:ext uri="{FF2B5EF4-FFF2-40B4-BE49-F238E27FC236}">
                    <a16:creationId xmlns:a16="http://schemas.microsoft.com/office/drawing/2014/main" id="{138FA13F-6703-42F2-4169-4973CC19A6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7708" y="1136949"/>
                <a:ext cx="1322053" cy="550856"/>
              </a:xfrm>
              <a:prstGeom prst="rect">
                <a:avLst/>
              </a:prstGeom>
              <a:noFill/>
              <a:extLst>
                <a:ext uri="{909E8E84-426E-40DD-AFC4-6F175D3DCCD1}">
                  <a14:hiddenFill xmlns:a14="http://schemas.microsoft.com/office/drawing/2010/main">
                    <a:solidFill>
                      <a:srgbClr val="FFFFFF"/>
                    </a:solidFill>
                  </a14:hiddenFill>
                </a:ext>
              </a:extLst>
            </p:spPr>
          </p:pic>
          <p:sp>
            <p:nvSpPr>
              <p:cNvPr id="120" name="椭圆 119">
                <a:extLst>
                  <a:ext uri="{FF2B5EF4-FFF2-40B4-BE49-F238E27FC236}">
                    <a16:creationId xmlns:a16="http://schemas.microsoft.com/office/drawing/2014/main" id="{E881B708-176D-FF26-0CB9-7BDA898AA0EF}"/>
                  </a:ext>
                </a:extLst>
              </p:cNvPr>
              <p:cNvSpPr/>
              <p:nvPr/>
            </p:nvSpPr>
            <p:spPr>
              <a:xfrm>
                <a:off x="8518728" y="1059803"/>
                <a:ext cx="727201" cy="723477"/>
              </a:xfrm>
              <a:prstGeom prst="ellipse">
                <a:avLst/>
              </a:prstGeom>
              <a:noFill/>
              <a:ln w="0" cmpd="sng">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986792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C631CF44-859D-B349-B903-5EAB8473B2F8}"/>
              </a:ext>
            </a:extLst>
          </p:cNvPr>
          <p:cNvSpPr>
            <a:spLocks/>
          </p:cNvSpPr>
          <p:nvPr/>
        </p:nvSpPr>
        <p:spPr bwMode="auto">
          <a:xfrm>
            <a:off x="32744" y="4702717"/>
            <a:ext cx="237507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隱私泄露事件造成的危害讓人們看到了隱私保護的重要性</a:t>
            </a:r>
          </a:p>
        </p:txBody>
      </p:sp>
      <p:sp>
        <p:nvSpPr>
          <p:cNvPr id="37" name="矩形 36">
            <a:extLst>
              <a:ext uri="{FF2B5EF4-FFF2-40B4-BE49-F238E27FC236}">
                <a16:creationId xmlns:a16="http://schemas.microsoft.com/office/drawing/2014/main" id="{2E7DE1D5-1B52-7E4D-B223-88F832E032B4}"/>
              </a:ext>
            </a:extLst>
          </p:cNvPr>
          <p:cNvSpPr>
            <a:spLocks/>
          </p:cNvSpPr>
          <p:nvPr/>
        </p:nvSpPr>
        <p:spPr bwMode="auto">
          <a:xfrm>
            <a:off x="2655348" y="4702220"/>
            <a:ext cx="1727410"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如何安全地發布數據供其他機構研究</a:t>
            </a:r>
          </a:p>
        </p:txBody>
      </p:sp>
      <p:sp>
        <p:nvSpPr>
          <p:cNvPr id="38" name="矩形 37">
            <a:extLst>
              <a:ext uri="{FF2B5EF4-FFF2-40B4-BE49-F238E27FC236}">
                <a16:creationId xmlns:a16="http://schemas.microsoft.com/office/drawing/2014/main" id="{992A77CB-64B3-994E-991E-0ADCC752FF53}"/>
              </a:ext>
            </a:extLst>
          </p:cNvPr>
          <p:cNvSpPr>
            <a:spLocks/>
          </p:cNvSpPr>
          <p:nvPr/>
        </p:nvSpPr>
        <p:spPr bwMode="auto">
          <a:xfrm>
            <a:off x="4673108" y="4690787"/>
            <a:ext cx="175388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如何保護統計信息中的個體隱私</a:t>
            </a:r>
          </a:p>
        </p:txBody>
      </p:sp>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31816" y="2569332"/>
            <a:ext cx="2376000"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網絡空間安全中的隱私</a:t>
            </a: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隱私泄露的危害</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隱私保護技術介紹</a:t>
            </a: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2655347" y="2569332"/>
            <a:ext cx="172973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匿名化隱私保護模型</a:t>
            </a:r>
            <a:endParaRPr lang="en-US" altLang="zh-CN" b="1" dirty="0">
              <a:solidFill>
                <a:srgbClr val="FF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數據匿名化方法</a:t>
            </a:r>
            <a:endParaRPr lang="zh-CN" altLang="en-US" b="1" dirty="0">
              <a:solidFill>
                <a:srgbClr val="FF0000"/>
              </a:solidFill>
              <a:effectLst/>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4644693" y="2569332"/>
            <a:ext cx="1783689"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差分隱私基礎</a:t>
            </a:r>
            <a:endParaRPr lang="en-US" altLang="zh-CN" dirty="0">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數值型</a:t>
            </a:r>
            <a:r>
              <a:rPr lang="en-US" altLang="zh-CN" b="1" dirty="0">
                <a:solidFill>
                  <a:srgbClr val="FF0000"/>
                </a:solidFill>
                <a:latin typeface="Microsoft YaHei" panose="020B0503020204020204" pitchFamily="34" charset="-122"/>
                <a:ea typeface="Microsoft YaHei" panose="020B0503020204020204" pitchFamily="34" charset="-122"/>
              </a:rPr>
              <a:t>DP</a:t>
            </a: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非數值型</a:t>
            </a:r>
            <a:r>
              <a:rPr lang="en-US" altLang="zh-CN" b="1" dirty="0">
                <a:solidFill>
                  <a:srgbClr val="FF0000"/>
                </a:solidFill>
                <a:latin typeface="Microsoft YaHei" panose="020B0503020204020204" pitchFamily="34" charset="-122"/>
                <a:ea typeface="Microsoft YaHei" panose="020B0503020204020204" pitchFamily="34" charset="-122"/>
              </a:rPr>
              <a:t>DP</a:t>
            </a:r>
            <a:endParaRPr lang="zh-CN" altLang="en-US" b="1" dirty="0">
              <a:solidFill>
                <a:srgbClr val="FF0000"/>
              </a:solidFill>
              <a:effectLst/>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CE1694C8-0F08-6A45-8925-6B92183E05E7}"/>
              </a:ext>
            </a:extLst>
          </p:cNvPr>
          <p:cNvSpPr txBox="1"/>
          <p:nvPr/>
        </p:nvSpPr>
        <p:spPr>
          <a:xfrm>
            <a:off x="92718" y="1630424"/>
            <a:ext cx="225419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隱私保護技術初探</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2671114" y="1670954"/>
            <a:ext cx="2112827" cy="707886"/>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匿名化</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4466102" y="1670954"/>
            <a:ext cx="241200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差分隱私</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p>
        </p:txBody>
      </p:sp>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51835" y="853671"/>
            <a:ext cx="973859" cy="736381"/>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2412178" y="3326003"/>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a:endCxn id="36" idx="0"/>
          </p:cNvCxnSpPr>
          <p:nvPr/>
        </p:nvCxnSpPr>
        <p:spPr>
          <a:xfrm>
            <a:off x="1219816" y="4204593"/>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D429C43-063E-1C1E-0CD6-E5EE01D30F91}"/>
              </a:ext>
            </a:extLst>
          </p:cNvPr>
          <p:cNvSpPr txBox="1"/>
          <p:nvPr/>
        </p:nvSpPr>
        <p:spPr>
          <a:xfrm>
            <a:off x="6521973" y="1717466"/>
            <a:ext cx="2112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同態加密</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C1E1313F-FD86-860D-EBB5-71363EF8D6D6}"/>
              </a:ext>
            </a:extLst>
          </p:cNvPr>
          <p:cNvSpPr txBox="1"/>
          <p:nvPr/>
        </p:nvSpPr>
        <p:spPr>
          <a:xfrm>
            <a:off x="8370848" y="1737064"/>
            <a:ext cx="208153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第五節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安全多方計算</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7ECE93A9-0B50-A3B1-FF6A-EC3A6230818F}"/>
              </a:ext>
            </a:extLst>
          </p:cNvPr>
          <p:cNvSpPr>
            <a:spLocks/>
          </p:cNvSpPr>
          <p:nvPr/>
        </p:nvSpPr>
        <p:spPr bwMode="auto">
          <a:xfrm>
            <a:off x="6698557" y="2598629"/>
            <a:ext cx="167904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同態加密基礎</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半</a:t>
            </a:r>
            <a:r>
              <a:rPr lang="zh-CN" altLang="en-US" b="1" dirty="0">
                <a:solidFill>
                  <a:srgbClr val="FF0000"/>
                </a:solidFill>
                <a:effectLst/>
                <a:latin typeface="Microsoft YaHei" panose="020B0503020204020204" pitchFamily="34" charset="-122"/>
                <a:ea typeface="Microsoft YaHei" panose="020B0503020204020204" pitchFamily="34" charset="-122"/>
              </a:rPr>
              <a:t>同態加密 </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全同態加密</a:t>
            </a:r>
          </a:p>
        </p:txBody>
      </p:sp>
      <p:sp>
        <p:nvSpPr>
          <p:cNvPr id="12" name="矩形 11">
            <a:extLst>
              <a:ext uri="{FF2B5EF4-FFF2-40B4-BE49-F238E27FC236}">
                <a16:creationId xmlns:a16="http://schemas.microsoft.com/office/drawing/2014/main" id="{06D75D35-DFFD-3D0A-E91B-93EE115EA839}"/>
              </a:ext>
            </a:extLst>
          </p:cNvPr>
          <p:cNvSpPr>
            <a:spLocks/>
          </p:cNvSpPr>
          <p:nvPr/>
        </p:nvSpPr>
        <p:spPr bwMode="auto">
          <a:xfrm>
            <a:off x="8651880" y="2572495"/>
            <a:ext cx="1512893"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安全多方計算基礎</a:t>
            </a:r>
            <a:r>
              <a:rPr lang="zh-CN" altLang="en-US" b="1" dirty="0">
                <a:solidFill>
                  <a:srgbClr val="FF0000"/>
                </a:solidFill>
                <a:effectLst/>
                <a:latin typeface="Microsoft YaHei" panose="020B0503020204020204" pitchFamily="34" charset="-122"/>
                <a:ea typeface="Microsoft YaHei" panose="020B0503020204020204" pitchFamily="34" charset="-122"/>
              </a:rPr>
              <a:t> </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百萬富翁協議</a:t>
            </a:r>
            <a:endParaRPr lang="en-US" altLang="zh-CN" dirty="0">
              <a:solidFill>
                <a:srgbClr val="000000"/>
              </a:solidFill>
              <a:latin typeface="Microsoft YaHei" panose="020B0503020204020204" pitchFamily="34" charset="-122"/>
              <a:ea typeface="Microsoft YaHei" panose="020B0503020204020204" pitchFamily="34" charset="-122"/>
            </a:endParaRPr>
          </a:p>
        </p:txBody>
      </p:sp>
      <p:cxnSp>
        <p:nvCxnSpPr>
          <p:cNvPr id="40" name="直接箭头连接符 33">
            <a:extLst>
              <a:ext uri="{FF2B5EF4-FFF2-40B4-BE49-F238E27FC236}">
                <a16:creationId xmlns:a16="http://schemas.microsoft.com/office/drawing/2014/main" id="{07033979-9C92-E579-9A07-B39388DA4000}"/>
              </a:ext>
            </a:extLst>
          </p:cNvPr>
          <p:cNvCxnSpPr>
            <a:cxnSpLocks/>
          </p:cNvCxnSpPr>
          <p:nvPr/>
        </p:nvCxnSpPr>
        <p:spPr>
          <a:xfrm>
            <a:off x="4392693" y="3324970"/>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33">
            <a:extLst>
              <a:ext uri="{FF2B5EF4-FFF2-40B4-BE49-F238E27FC236}">
                <a16:creationId xmlns:a16="http://schemas.microsoft.com/office/drawing/2014/main" id="{8AA3AA7E-BE52-AED2-D8A2-8E415A79B2E5}"/>
              </a:ext>
            </a:extLst>
          </p:cNvPr>
          <p:cNvCxnSpPr>
            <a:cxnSpLocks/>
          </p:cNvCxnSpPr>
          <p:nvPr/>
        </p:nvCxnSpPr>
        <p:spPr>
          <a:xfrm>
            <a:off x="6448899" y="3352030"/>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33">
            <a:extLst>
              <a:ext uri="{FF2B5EF4-FFF2-40B4-BE49-F238E27FC236}">
                <a16:creationId xmlns:a16="http://schemas.microsoft.com/office/drawing/2014/main" id="{B7AAAA76-1BB8-E31C-EF65-AFED90076353}"/>
              </a:ext>
            </a:extLst>
          </p:cNvPr>
          <p:cNvCxnSpPr>
            <a:cxnSpLocks/>
          </p:cNvCxnSpPr>
          <p:nvPr/>
        </p:nvCxnSpPr>
        <p:spPr>
          <a:xfrm>
            <a:off x="8393734" y="3348349"/>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D05171FF-CC7B-BC84-ACC3-6BCADE234CBF}"/>
              </a:ext>
            </a:extLst>
          </p:cNvPr>
          <p:cNvSpPr>
            <a:spLocks/>
          </p:cNvSpPr>
          <p:nvPr/>
        </p:nvSpPr>
        <p:spPr bwMode="auto">
          <a:xfrm>
            <a:off x="6698557" y="4674722"/>
            <a:ext cx="1678113"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如何安全地將數據委托給數據計算方</a:t>
            </a:r>
          </a:p>
        </p:txBody>
      </p:sp>
      <p:sp>
        <p:nvSpPr>
          <p:cNvPr id="53" name="矩形 52">
            <a:extLst>
              <a:ext uri="{FF2B5EF4-FFF2-40B4-BE49-F238E27FC236}">
                <a16:creationId xmlns:a16="http://schemas.microsoft.com/office/drawing/2014/main" id="{61F6B426-F8A4-6FC1-E7E7-463367947844}"/>
              </a:ext>
            </a:extLst>
          </p:cNvPr>
          <p:cNvSpPr>
            <a:spLocks/>
          </p:cNvSpPr>
          <p:nvPr/>
        </p:nvSpPr>
        <p:spPr bwMode="auto">
          <a:xfrm>
            <a:off x="8658342" y="4685706"/>
            <a:ext cx="1672580"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如何幫助互不信任的參與方進行協同計算</a:t>
            </a:r>
          </a:p>
        </p:txBody>
      </p:sp>
      <p:cxnSp>
        <p:nvCxnSpPr>
          <p:cNvPr id="54" name="直接箭头连接符 33">
            <a:extLst>
              <a:ext uri="{FF2B5EF4-FFF2-40B4-BE49-F238E27FC236}">
                <a16:creationId xmlns:a16="http://schemas.microsoft.com/office/drawing/2014/main" id="{01CAEF6C-1A4F-4EB7-B5C9-EA12BB1A702F}"/>
              </a:ext>
            </a:extLst>
          </p:cNvPr>
          <p:cNvCxnSpPr>
            <a:cxnSpLocks/>
          </p:cNvCxnSpPr>
          <p:nvPr/>
        </p:nvCxnSpPr>
        <p:spPr>
          <a:xfrm>
            <a:off x="3731922" y="4202607"/>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33">
            <a:extLst>
              <a:ext uri="{FF2B5EF4-FFF2-40B4-BE49-F238E27FC236}">
                <a16:creationId xmlns:a16="http://schemas.microsoft.com/office/drawing/2014/main" id="{C2EFA5EC-CD75-7314-99DE-F3CF556AC926}"/>
              </a:ext>
            </a:extLst>
          </p:cNvPr>
          <p:cNvCxnSpPr>
            <a:cxnSpLocks/>
          </p:cNvCxnSpPr>
          <p:nvPr/>
        </p:nvCxnSpPr>
        <p:spPr>
          <a:xfrm>
            <a:off x="5824325" y="4198628"/>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33">
            <a:extLst>
              <a:ext uri="{FF2B5EF4-FFF2-40B4-BE49-F238E27FC236}">
                <a16:creationId xmlns:a16="http://schemas.microsoft.com/office/drawing/2014/main" id="{33BC10CE-F5FF-3A0F-5487-FE0AAADEE047}"/>
              </a:ext>
            </a:extLst>
          </p:cNvPr>
          <p:cNvCxnSpPr>
            <a:cxnSpLocks/>
          </p:cNvCxnSpPr>
          <p:nvPr/>
        </p:nvCxnSpPr>
        <p:spPr>
          <a:xfrm>
            <a:off x="7587828" y="4233890"/>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33">
            <a:extLst>
              <a:ext uri="{FF2B5EF4-FFF2-40B4-BE49-F238E27FC236}">
                <a16:creationId xmlns:a16="http://schemas.microsoft.com/office/drawing/2014/main" id="{30926BEA-0468-7D6B-C95F-01E1B03B99DA}"/>
              </a:ext>
            </a:extLst>
          </p:cNvPr>
          <p:cNvCxnSpPr>
            <a:cxnSpLocks/>
          </p:cNvCxnSpPr>
          <p:nvPr/>
        </p:nvCxnSpPr>
        <p:spPr>
          <a:xfrm>
            <a:off x="9536188" y="4198628"/>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0D0D9FED-90B1-158F-2F05-D599C3623704}"/>
              </a:ext>
            </a:extLst>
          </p:cNvPr>
          <p:cNvPicPr>
            <a:picLocks/>
          </p:cNvPicPr>
          <p:nvPr/>
        </p:nvPicPr>
        <p:blipFill>
          <a:blip r:embed="rId4"/>
          <a:stretch>
            <a:fillRect/>
          </a:stretch>
        </p:blipFill>
        <p:spPr>
          <a:xfrm>
            <a:off x="5318693" y="895252"/>
            <a:ext cx="730800" cy="694800"/>
          </a:xfrm>
          <a:prstGeom prst="rect">
            <a:avLst/>
          </a:prstGeom>
        </p:spPr>
      </p:pic>
      <p:pic>
        <p:nvPicPr>
          <p:cNvPr id="62" name="图片 61">
            <a:extLst>
              <a:ext uri="{FF2B5EF4-FFF2-40B4-BE49-F238E27FC236}">
                <a16:creationId xmlns:a16="http://schemas.microsoft.com/office/drawing/2014/main" id="{F9C5E17B-9AB1-ADDF-86C9-35E2D20E65EE}"/>
              </a:ext>
            </a:extLst>
          </p:cNvPr>
          <p:cNvPicPr>
            <a:picLocks/>
          </p:cNvPicPr>
          <p:nvPr/>
        </p:nvPicPr>
        <p:blipFill>
          <a:blip r:embed="rId5"/>
          <a:stretch>
            <a:fillRect/>
          </a:stretch>
        </p:blipFill>
        <p:spPr>
          <a:xfrm>
            <a:off x="3371243" y="895252"/>
            <a:ext cx="730800" cy="694800"/>
          </a:xfrm>
          <a:prstGeom prst="rect">
            <a:avLst/>
          </a:prstGeom>
        </p:spPr>
      </p:pic>
      <p:pic>
        <p:nvPicPr>
          <p:cNvPr id="63" name="图片 62">
            <a:extLst>
              <a:ext uri="{FF2B5EF4-FFF2-40B4-BE49-F238E27FC236}">
                <a16:creationId xmlns:a16="http://schemas.microsoft.com/office/drawing/2014/main" id="{12B76457-E5F5-7792-8368-E6F5FE3C15FD}"/>
              </a:ext>
            </a:extLst>
          </p:cNvPr>
          <p:cNvPicPr>
            <a:picLocks/>
          </p:cNvPicPr>
          <p:nvPr/>
        </p:nvPicPr>
        <p:blipFill>
          <a:blip r:embed="rId6"/>
          <a:stretch>
            <a:fillRect/>
          </a:stretch>
        </p:blipFill>
        <p:spPr>
          <a:xfrm>
            <a:off x="7231284" y="909394"/>
            <a:ext cx="730800" cy="694800"/>
          </a:xfrm>
          <a:prstGeom prst="rect">
            <a:avLst/>
          </a:prstGeom>
        </p:spPr>
      </p:pic>
      <p:pic>
        <p:nvPicPr>
          <p:cNvPr id="50177" name="图片 50176">
            <a:extLst>
              <a:ext uri="{FF2B5EF4-FFF2-40B4-BE49-F238E27FC236}">
                <a16:creationId xmlns:a16="http://schemas.microsoft.com/office/drawing/2014/main" id="{1A310977-2D7B-CF17-305C-A449F0A20217}"/>
              </a:ext>
            </a:extLst>
          </p:cNvPr>
          <p:cNvPicPr>
            <a:picLocks/>
          </p:cNvPicPr>
          <p:nvPr/>
        </p:nvPicPr>
        <p:blipFill>
          <a:blip r:embed="rId7"/>
          <a:stretch>
            <a:fillRect/>
          </a:stretch>
        </p:blipFill>
        <p:spPr>
          <a:xfrm>
            <a:off x="9042926" y="926973"/>
            <a:ext cx="730800" cy="694800"/>
          </a:xfrm>
          <a:prstGeom prst="rect">
            <a:avLst/>
          </a:prstGeom>
        </p:spPr>
      </p:pic>
      <p:sp>
        <p:nvSpPr>
          <p:cNvPr id="4" name="任意多边形: 形状 25">
            <a:extLst>
              <a:ext uri="{FF2B5EF4-FFF2-40B4-BE49-F238E27FC236}">
                <a16:creationId xmlns:a16="http://schemas.microsoft.com/office/drawing/2014/main" id="{A2CD013E-B779-AF56-2C3F-CF55FC7AE361}"/>
              </a:ext>
            </a:extLst>
          </p:cNvPr>
          <p:cNvSpPr/>
          <p:nvPr/>
        </p:nvSpPr>
        <p:spPr>
          <a:xfrm flipH="1">
            <a:off x="1213315" y="5493323"/>
            <a:ext cx="2498779" cy="337190"/>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F5D3210B-39EC-37D7-4100-043F62C2DB9B}"/>
              </a:ext>
            </a:extLst>
          </p:cNvPr>
          <p:cNvSpPr txBox="1"/>
          <p:nvPr/>
        </p:nvSpPr>
        <p:spPr>
          <a:xfrm>
            <a:off x="3826936" y="6216122"/>
            <a:ext cx="4269958"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隱私泄露的巨大危害促使人們考慮多種場景下的數據隱私保護問題</a:t>
            </a:r>
          </a:p>
        </p:txBody>
      </p:sp>
      <p:sp>
        <p:nvSpPr>
          <p:cNvPr id="7" name="任意多边形: 形状 25">
            <a:extLst>
              <a:ext uri="{FF2B5EF4-FFF2-40B4-BE49-F238E27FC236}">
                <a16:creationId xmlns:a16="http://schemas.microsoft.com/office/drawing/2014/main" id="{9C775F88-E71C-85D6-C699-ADEA92E54196}"/>
              </a:ext>
            </a:extLst>
          </p:cNvPr>
          <p:cNvSpPr/>
          <p:nvPr/>
        </p:nvSpPr>
        <p:spPr>
          <a:xfrm flipH="1">
            <a:off x="1213313" y="5500235"/>
            <a:ext cx="4611012" cy="41795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任意多边形: 形状 25">
            <a:extLst>
              <a:ext uri="{FF2B5EF4-FFF2-40B4-BE49-F238E27FC236}">
                <a16:creationId xmlns:a16="http://schemas.microsoft.com/office/drawing/2014/main" id="{D9A59BF5-3CCB-AD7C-BC93-3682D151623E}"/>
              </a:ext>
            </a:extLst>
          </p:cNvPr>
          <p:cNvSpPr/>
          <p:nvPr/>
        </p:nvSpPr>
        <p:spPr>
          <a:xfrm flipH="1">
            <a:off x="1213311" y="5490759"/>
            <a:ext cx="6365076" cy="498124"/>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任意多边形: 形状 25">
            <a:extLst>
              <a:ext uri="{FF2B5EF4-FFF2-40B4-BE49-F238E27FC236}">
                <a16:creationId xmlns:a16="http://schemas.microsoft.com/office/drawing/2014/main" id="{505EC451-F01D-346D-9BA9-3AB8A96072AE}"/>
              </a:ext>
            </a:extLst>
          </p:cNvPr>
          <p:cNvSpPr/>
          <p:nvPr/>
        </p:nvSpPr>
        <p:spPr>
          <a:xfrm flipH="1">
            <a:off x="1213307" y="5490759"/>
            <a:ext cx="8322880" cy="582798"/>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灯片编号占位符 2">
            <a:extLst>
              <a:ext uri="{FF2B5EF4-FFF2-40B4-BE49-F238E27FC236}">
                <a16:creationId xmlns:a16="http://schemas.microsoft.com/office/drawing/2014/main" id="{96DDDC7A-F86F-79B0-19FD-99C1D3FF62E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15</a:t>
            </a:fld>
            <a:endParaRPr lang="zh-CN" altLang="en-US" sz="1200" dirty="0">
              <a:solidFill>
                <a:srgbClr val="000000">
                  <a:tint val="75000"/>
                </a:srgbClr>
              </a:solidFill>
              <a:latin typeface="Comic Sans MS"/>
              <a:ea typeface="微软雅黑 Light"/>
            </a:endParaRPr>
          </a:p>
        </p:txBody>
      </p:sp>
      <p:sp>
        <p:nvSpPr>
          <p:cNvPr id="13" name="矩形 11">
            <a:extLst>
              <a:ext uri="{FF2B5EF4-FFF2-40B4-BE49-F238E27FC236}">
                <a16:creationId xmlns:a16="http://schemas.microsoft.com/office/drawing/2014/main" id="{32A4139A-E2F3-ADC8-2637-5D2BEDFBCB04}"/>
              </a:ext>
            </a:extLst>
          </p:cNvPr>
          <p:cNvSpPr>
            <a:spLocks/>
          </p:cNvSpPr>
          <p:nvPr/>
        </p:nvSpPr>
        <p:spPr bwMode="auto">
          <a:xfrm>
            <a:off x="10452387" y="2563367"/>
            <a:ext cx="165981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聯邦學習的基礎</a:t>
            </a:r>
            <a:r>
              <a:rPr lang="zh-CN" altLang="en-US" dirty="0">
                <a:effectLst/>
                <a:latin typeface="Microsoft YaHei" panose="020B0503020204020204" pitchFamily="34" charset="-122"/>
                <a:ea typeface="Microsoft YaHei" panose="020B0503020204020204" pitchFamily="34" charset="-122"/>
              </a:rPr>
              <a:t> </a:t>
            </a:r>
            <a:endParaRPr lang="en-US" altLang="zh-CN" dirty="0">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橫向聯邦</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縱向聯邦</a:t>
            </a:r>
            <a:endParaRPr lang="zh-CN" altLang="en-US" b="1" dirty="0">
              <a:solidFill>
                <a:srgbClr val="FF0000"/>
              </a:solidFill>
              <a:effectLst/>
              <a:latin typeface="Microsoft YaHei" panose="020B0503020204020204" pitchFamily="34" charset="-122"/>
              <a:ea typeface="Microsoft YaHei" panose="020B0503020204020204" pitchFamily="34" charset="-122"/>
            </a:endParaRPr>
          </a:p>
        </p:txBody>
      </p:sp>
      <p:sp>
        <p:nvSpPr>
          <p:cNvPr id="14" name="文本框 4">
            <a:extLst>
              <a:ext uri="{FF2B5EF4-FFF2-40B4-BE49-F238E27FC236}">
                <a16:creationId xmlns:a16="http://schemas.microsoft.com/office/drawing/2014/main" id="{8CB84413-4516-E8C1-1BB1-1ABB6BC8E3A1}"/>
              </a:ext>
            </a:extLst>
          </p:cNvPr>
          <p:cNvSpPr txBox="1"/>
          <p:nvPr/>
        </p:nvSpPr>
        <p:spPr>
          <a:xfrm>
            <a:off x="10291880" y="1761980"/>
            <a:ext cx="208153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第六節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聯邦學習</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6" name="直接箭头连接符 33">
            <a:extLst>
              <a:ext uri="{FF2B5EF4-FFF2-40B4-BE49-F238E27FC236}">
                <a16:creationId xmlns:a16="http://schemas.microsoft.com/office/drawing/2014/main" id="{A187C10D-0BDD-B00F-0F95-36BA3150924E}"/>
              </a:ext>
            </a:extLst>
          </p:cNvPr>
          <p:cNvCxnSpPr>
            <a:cxnSpLocks/>
          </p:cNvCxnSpPr>
          <p:nvPr/>
        </p:nvCxnSpPr>
        <p:spPr>
          <a:xfrm>
            <a:off x="10204922" y="3380997"/>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任意多边形: 形状 25">
            <a:extLst>
              <a:ext uri="{FF2B5EF4-FFF2-40B4-BE49-F238E27FC236}">
                <a16:creationId xmlns:a16="http://schemas.microsoft.com/office/drawing/2014/main" id="{4EAE810A-C136-A4B4-05B8-C82E26AB997A}"/>
              </a:ext>
            </a:extLst>
          </p:cNvPr>
          <p:cNvSpPr/>
          <p:nvPr/>
        </p:nvSpPr>
        <p:spPr>
          <a:xfrm flipH="1">
            <a:off x="1202361" y="5500235"/>
            <a:ext cx="10130289" cy="676692"/>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52">
            <a:extLst>
              <a:ext uri="{FF2B5EF4-FFF2-40B4-BE49-F238E27FC236}">
                <a16:creationId xmlns:a16="http://schemas.microsoft.com/office/drawing/2014/main" id="{36A1495D-7C40-2202-D8C5-64834D229608}"/>
              </a:ext>
            </a:extLst>
          </p:cNvPr>
          <p:cNvSpPr>
            <a:spLocks/>
          </p:cNvSpPr>
          <p:nvPr/>
        </p:nvSpPr>
        <p:spPr bwMode="auto">
          <a:xfrm>
            <a:off x="10455270" y="4694801"/>
            <a:ext cx="167118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如何實現在不共享數據下的模型協同訓練</a:t>
            </a:r>
          </a:p>
        </p:txBody>
      </p:sp>
      <p:cxnSp>
        <p:nvCxnSpPr>
          <p:cNvPr id="19" name="直接箭头连接符 33">
            <a:extLst>
              <a:ext uri="{FF2B5EF4-FFF2-40B4-BE49-F238E27FC236}">
                <a16:creationId xmlns:a16="http://schemas.microsoft.com/office/drawing/2014/main" id="{4582CAA9-6C45-72E5-D220-6BF9F8FEC98A}"/>
              </a:ext>
            </a:extLst>
          </p:cNvPr>
          <p:cNvCxnSpPr>
            <a:cxnSpLocks/>
          </p:cNvCxnSpPr>
          <p:nvPr/>
        </p:nvCxnSpPr>
        <p:spPr>
          <a:xfrm>
            <a:off x="11333116" y="4207723"/>
            <a:ext cx="464"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D8B92B22-2F27-B8FC-6B38-B8E119E9017A}"/>
              </a:ext>
            </a:extLst>
          </p:cNvPr>
          <p:cNvPicPr>
            <a:picLocks noChangeAspect="1"/>
          </p:cNvPicPr>
          <p:nvPr/>
        </p:nvPicPr>
        <p:blipFill>
          <a:blip r:embed="rId8"/>
          <a:stretch>
            <a:fillRect/>
          </a:stretch>
        </p:blipFill>
        <p:spPr>
          <a:xfrm>
            <a:off x="10831603" y="886127"/>
            <a:ext cx="936311" cy="892249"/>
          </a:xfrm>
          <a:prstGeom prst="rect">
            <a:avLst/>
          </a:prstGeom>
        </p:spPr>
      </p:pic>
      <p:sp>
        <p:nvSpPr>
          <p:cNvPr id="30" name="标题 29">
            <a:extLst>
              <a:ext uri="{FF2B5EF4-FFF2-40B4-BE49-F238E27FC236}">
                <a16:creationId xmlns:a16="http://schemas.microsoft.com/office/drawing/2014/main" id="{74AEED9B-C786-5E67-A623-8AAC470360E3}"/>
              </a:ext>
            </a:extLst>
          </p:cNvPr>
          <p:cNvSpPr>
            <a:spLocks noGrp="1"/>
          </p:cNvSpPr>
          <p:nvPr>
            <p:ph type="title"/>
          </p:nvPr>
        </p:nvSpPr>
        <p:spPr/>
        <p:txBody>
          <a:bodyPr>
            <a:normAutofit/>
          </a:bodyPr>
          <a:lstStyle/>
          <a:p>
            <a:r>
              <a:rPr lang="zh-CN" altLang="en-US" dirty="0">
                <a:solidFill>
                  <a:schemeClr val="tx1"/>
                </a:solidFill>
              </a:rPr>
              <a:t>第</a:t>
            </a:r>
            <a:r>
              <a:rPr lang="en-US" altLang="zh-CN" dirty="0">
                <a:solidFill>
                  <a:schemeClr val="tx1"/>
                </a:solidFill>
              </a:rPr>
              <a:t>5</a:t>
            </a:r>
            <a:r>
              <a:rPr lang="zh-CN" altLang="en-US" dirty="0">
                <a:solidFill>
                  <a:schemeClr val="tx1"/>
                </a:solidFill>
              </a:rPr>
              <a:t>章 隱私保護</a:t>
            </a:r>
            <a:endParaRPr lang="zh-CN" altLang="en-US" dirty="0"/>
          </a:p>
        </p:txBody>
      </p:sp>
    </p:spTree>
    <p:extLst>
      <p:ext uri="{BB962C8B-B14F-4D97-AF65-F5344CB8AC3E}">
        <p14:creationId xmlns:p14="http://schemas.microsoft.com/office/powerpoint/2010/main" val="755353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custDataLst>
              <p:tags r:id="rId1"/>
            </p:custDataLst>
          </p:nvPr>
        </p:nvSpPr>
        <p:spPr bwMode="auto">
          <a:xfrm>
            <a:off x="835937" y="4621237"/>
            <a:ext cx="311990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dirty="0">
                <a:solidFill>
                  <a:srgbClr val="000000"/>
                </a:solidFill>
                <a:latin typeface="微软雅黑" panose="020B0503020204020204" pitchFamily="34" charset="-122"/>
                <a:ea typeface="微软雅黑" panose="020B0503020204020204" pitchFamily="34" charset="-122"/>
              </a:rPr>
              <a:t>硬件攻擊的</a:t>
            </a: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基本方法</a:t>
            </a:r>
            <a:br>
              <a:rPr kumimoji="1"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系統硬件攻擊原理</a:t>
            </a:r>
            <a:endParaRPr kumimoji="1"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7" name="矩形 36"/>
          <p:cNvSpPr/>
          <p:nvPr>
            <p:custDataLst>
              <p:tags r:id="rId2"/>
            </p:custDataLst>
          </p:nvPr>
        </p:nvSpPr>
        <p:spPr bwMode="auto">
          <a:xfrm>
            <a:off x="4377825" y="4621237"/>
            <a:ext cx="3377641"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熟悉硬件防護技術，理解系統硬件防禦的基本策略</a:t>
            </a:r>
            <a:endParaRPr kumimoji="1"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custDataLst>
              <p:tags r:id="rId3"/>
            </p:custDataLst>
          </p:nvPr>
        </p:nvSpPr>
        <p:spPr bwMode="auto">
          <a:xfrm>
            <a:off x="8176537" y="4621237"/>
            <a:ext cx="322524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結合典型漏洞，深入分析硬件攻擊技術的具體實現</a:t>
            </a:r>
            <a:endPar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bwMode="auto">
          <a:xfrm>
            <a:off x="835937" y="2487852"/>
            <a:ext cx="311990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漏洞攻擊</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lang="zh-CN" altLang="en-US" b="1" dirty="0">
                <a:solidFill>
                  <a:srgbClr val="FF0000"/>
                </a:solidFill>
                <a:latin typeface="微软雅黑" panose="020B0503020204020204" pitchFamily="34" charset="-122"/>
                <a:ea typeface="微软雅黑" panose="020B0503020204020204" pitchFamily="34" charset="-122"/>
              </a:rPr>
              <a:t>硬件木馬</a:t>
            </a:r>
            <a:endParaRPr lang="en-US" altLang="zh-CN" dirty="0">
              <a:solidFill>
                <a:srgbClr val="000000"/>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硬件故障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側信道攻擊</a:t>
            </a:r>
          </a:p>
        </p:txBody>
      </p:sp>
      <p:sp>
        <p:nvSpPr>
          <p:cNvPr id="2" name="标题 1"/>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6</a:t>
            </a:r>
            <a:r>
              <a:rPr kumimoji="1" lang="zh-CN" altLang="en-US" dirty="0">
                <a:solidFill>
                  <a:schemeClr val="tx1"/>
                </a:solidFill>
              </a:rPr>
              <a:t>章 系統硬件安全</a:t>
            </a:r>
          </a:p>
        </p:txBody>
      </p:sp>
      <p:sp>
        <p:nvSpPr>
          <p:cNvPr id="20" name="矩形 19"/>
          <p:cNvSpPr/>
          <p:nvPr>
            <p:custDataLst>
              <p:tags r:id="rId5"/>
            </p:custDataLst>
          </p:nvPr>
        </p:nvSpPr>
        <p:spPr bwMode="auto">
          <a:xfrm>
            <a:off x="4363799" y="2487852"/>
            <a:ext cx="3390314"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木馬檢測技術</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隔離技術</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密碼技術</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側信道防護</a:t>
            </a:r>
          </a:p>
        </p:txBody>
      </p:sp>
      <p:sp>
        <p:nvSpPr>
          <p:cNvPr id="21" name="矩形 20"/>
          <p:cNvSpPr/>
          <p:nvPr>
            <p:custDataLst>
              <p:tags r:id="rId6"/>
            </p:custDataLst>
          </p:nvPr>
        </p:nvSpPr>
        <p:spPr bwMode="auto">
          <a:xfrm>
            <a:off x="8152493" y="2487852"/>
            <a:ext cx="324886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MOLES</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Meltdown</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1800" b="1"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Spectre</a:t>
            </a:r>
            <a:endPar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VoltJockey</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custDataLst>
              <p:tags r:id="rId7"/>
            </p:custDataLst>
          </p:nvPr>
        </p:nvSpPr>
        <p:spPr>
          <a:xfrm>
            <a:off x="1411153" y="1716504"/>
            <a:ext cx="19694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硬件攻擊技術</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custDataLst>
              <p:tags r:id="rId8"/>
            </p:custDataLst>
          </p:nvPr>
        </p:nvSpPr>
        <p:spPr>
          <a:xfrm>
            <a:off x="4488794" y="1716504"/>
            <a:ext cx="314032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硬件防護技術</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p:cNvSpPr txBox="1"/>
          <p:nvPr>
            <p:custDataLst>
              <p:tags r:id="rId9"/>
            </p:custDataLst>
          </p:nvPr>
        </p:nvSpPr>
        <p:spPr>
          <a:xfrm>
            <a:off x="8013010" y="1716504"/>
            <a:ext cx="352782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典型漏洞分析</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0182" name="Picture 6" descr="Types Of Cybersecurity Threats Clipart (726x500), Png Download"/>
          <p:cNvPicPr>
            <a:picLocks noChangeAspect="1" noChangeArrowheads="1"/>
          </p:cNvPicPr>
          <p:nvPr/>
        </p:nvPicPr>
        <p:blipFill>
          <a:blip r:embed="rId17"/>
          <a:srcRect/>
          <a:stretch>
            <a:fillRect/>
          </a:stretch>
        </p:blipFill>
        <p:spPr bwMode="auto">
          <a:xfrm>
            <a:off x="5668346" y="1011216"/>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p:cNvPicPr>
            <a:picLocks noChangeAspect="1" noChangeArrowheads="1"/>
          </p:cNvPicPr>
          <p:nvPr/>
        </p:nvPicPr>
        <p:blipFill>
          <a:blip r:embed="rId18"/>
          <a:srcRect/>
          <a:stretch>
            <a:fillRect/>
          </a:stretch>
        </p:blipFill>
        <p:spPr bwMode="auto">
          <a:xfrm>
            <a:off x="1908962" y="979711"/>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p:cNvPicPr>
            <a:picLocks noChangeAspect="1" noChangeArrowheads="1"/>
          </p:cNvPicPr>
          <p:nvPr/>
        </p:nvPicPr>
        <p:blipFill rotWithShape="1">
          <a:blip r:embed="rId19"/>
          <a:srcRect r="45652" b="1407"/>
          <a:stretch>
            <a:fillRect/>
          </a:stretch>
        </p:blipFill>
        <p:spPr bwMode="auto">
          <a:xfrm>
            <a:off x="9426646" y="1047405"/>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p:cNvCxnSpPr/>
          <p:nvPr>
            <p:custDataLst>
              <p:tags r:id="rId10"/>
            </p:custDataLst>
          </p:nvPr>
        </p:nvCxnSpPr>
        <p:spPr>
          <a:xfrm>
            <a:off x="3955845" y="3244523"/>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p:cNvCxnSpPr/>
          <p:nvPr>
            <p:custDataLst>
              <p:tags r:id="rId11"/>
            </p:custDataLst>
          </p:nvPr>
        </p:nvCxnSpPr>
        <p:spPr>
          <a:xfrm>
            <a:off x="7751678" y="3255793"/>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p:cNvCxnSpPr>
            <a:stCxn id="15" idx="2"/>
            <a:endCxn id="36" idx="0"/>
          </p:cNvCxnSpPr>
          <p:nvPr>
            <p:custDataLst>
              <p:tags r:id="rId12"/>
            </p:custDataLst>
          </p:nvPr>
        </p:nvCxnSpPr>
        <p:spPr>
          <a:xfrm>
            <a:off x="2395891" y="4123113"/>
            <a:ext cx="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33"/>
          <p:cNvCxnSpPr>
            <a:stCxn id="20" idx="2"/>
            <a:endCxn id="37" idx="0"/>
          </p:cNvCxnSpPr>
          <p:nvPr>
            <p:custDataLst>
              <p:tags r:id="rId13"/>
            </p:custDataLst>
          </p:nvPr>
        </p:nvCxnSpPr>
        <p:spPr>
          <a:xfrm>
            <a:off x="6058956" y="4123113"/>
            <a:ext cx="769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33"/>
          <p:cNvCxnSpPr>
            <a:stCxn id="21" idx="2"/>
          </p:cNvCxnSpPr>
          <p:nvPr>
            <p:custDataLst>
              <p:tags r:id="rId14"/>
            </p:custDataLst>
          </p:nvPr>
        </p:nvCxnSpPr>
        <p:spPr>
          <a:xfrm>
            <a:off x="9776924" y="4123113"/>
            <a:ext cx="3440" cy="5008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任意多边形: 形状 25"/>
          <p:cNvSpPr/>
          <p:nvPr/>
        </p:nvSpPr>
        <p:spPr>
          <a:xfrm flipH="1">
            <a:off x="2422356" y="5411842"/>
            <a:ext cx="3256547" cy="36550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Light" panose="020B0502040204020203" charset="-122"/>
              <a:cs typeface="+mn-cs"/>
            </a:endParaRPr>
          </a:p>
        </p:txBody>
      </p:sp>
      <p:sp>
        <p:nvSpPr>
          <p:cNvPr id="57" name="任意多边形: 形状 25"/>
          <p:cNvSpPr/>
          <p:nvPr/>
        </p:nvSpPr>
        <p:spPr>
          <a:xfrm>
            <a:off x="6513095" y="5429097"/>
            <a:ext cx="3296653" cy="348248"/>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Light" panose="020B0502040204020203"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solidFill>
                  <a:schemeClr val="tx1"/>
                </a:solidFill>
              </a:rPr>
              <a:t>第</a:t>
            </a:r>
            <a:r>
              <a:rPr lang="en-US" altLang="zh-CN" dirty="0">
                <a:solidFill>
                  <a:schemeClr val="tx1"/>
                </a:solidFill>
              </a:rPr>
              <a:t>7</a:t>
            </a:r>
            <a:r>
              <a:rPr lang="zh-CN" altLang="en-US" dirty="0">
                <a:solidFill>
                  <a:schemeClr val="tx1"/>
                </a:solidFill>
              </a:rPr>
              <a:t>章 操作系統安全</a:t>
            </a:r>
          </a:p>
        </p:txBody>
      </p:sp>
      <p:sp>
        <p:nvSpPr>
          <p:cNvPr id="3" name="Slide Number Placeholder 7">
            <a:extLst>
              <a:ext uri="{FF2B5EF4-FFF2-40B4-BE49-F238E27FC236}">
                <a16:creationId xmlns:a16="http://schemas.microsoft.com/office/drawing/2014/main" id="{360AC8A2-105D-AA57-FE73-4D5233891FD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dirty="0">
              <a:ln>
                <a:noFill/>
              </a:ln>
              <a:effectLst/>
              <a:uLnTx/>
              <a:uFillTx/>
              <a:latin typeface="Arial"/>
              <a:ea typeface="微软雅黑 Light"/>
              <a:cs typeface="+mn-cs"/>
            </a:endParaRPr>
          </a:p>
        </p:txBody>
      </p:sp>
      <p:sp>
        <p:nvSpPr>
          <p:cNvPr id="6" name="矩形 5">
            <a:extLst>
              <a:ext uri="{FF2B5EF4-FFF2-40B4-BE49-F238E27FC236}">
                <a16:creationId xmlns:a16="http://schemas.microsoft.com/office/drawing/2014/main" id="{34B4DE6D-0F3F-AE4B-9469-98C6D22FD8DA}"/>
              </a:ext>
            </a:extLst>
          </p:cNvPr>
          <p:cNvSpPr/>
          <p:nvPr/>
        </p:nvSpPr>
        <p:spPr>
          <a:xfrm>
            <a:off x="390384" y="2837704"/>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內存管理基礎</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內存棧區攻擊方案</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內存堆區攻擊方案</a:t>
            </a:r>
            <a:endPar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endParaRPr>
          </a:p>
        </p:txBody>
      </p:sp>
      <p:cxnSp>
        <p:nvCxnSpPr>
          <p:cNvPr id="7" name="直接箭头连接符 33">
            <a:extLst>
              <a:ext uri="{FF2B5EF4-FFF2-40B4-BE49-F238E27FC236}">
                <a16:creationId xmlns:a16="http://schemas.microsoft.com/office/drawing/2014/main" id="{C00E1CA0-FBB5-CA4C-978F-F8914BE2AB7D}"/>
              </a:ext>
            </a:extLst>
          </p:cNvPr>
          <p:cNvCxnSpPr>
            <a:cxnSpLocks/>
          </p:cNvCxnSpPr>
          <p:nvPr/>
        </p:nvCxnSpPr>
        <p:spPr>
          <a:xfrm>
            <a:off x="2837918" y="3657852"/>
            <a:ext cx="5708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13FA4199-CEE7-4C4E-91DD-AEC8168E1183}"/>
              </a:ext>
            </a:extLst>
          </p:cNvPr>
          <p:cNvSpPr txBox="1"/>
          <p:nvPr/>
        </p:nvSpPr>
        <p:spPr>
          <a:xfrm>
            <a:off x="575463" y="2184222"/>
            <a:ext cx="19694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基礎攻擊方案</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C510AA4F-B3D3-E542-894C-87EB6E0B1B2D}"/>
              </a:ext>
            </a:extLst>
          </p:cNvPr>
          <p:cNvSpPr txBox="1"/>
          <p:nvPr/>
        </p:nvSpPr>
        <p:spPr>
          <a:xfrm>
            <a:off x="3284945" y="2150272"/>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第二節</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基礎防禦方案</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54258A34-B03B-094F-97F0-172B3BABB28A}"/>
              </a:ext>
            </a:extLst>
          </p:cNvPr>
          <p:cNvSpPr/>
          <p:nvPr/>
        </p:nvSpPr>
        <p:spPr>
          <a:xfrm>
            <a:off x="3433387" y="2837704"/>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W^X</a:t>
            </a:r>
            <a:r>
              <a:rPr kumimoji="0" lang="zh-CN" altLang="en-US"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 </a:t>
            </a:r>
            <a:r>
              <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(NX, DEP)</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ASLR</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Stack Canary</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SMAP, SMEP</a:t>
            </a:r>
          </a:p>
        </p:txBody>
      </p:sp>
      <p:sp>
        <p:nvSpPr>
          <p:cNvPr id="12" name="文本框 11">
            <a:extLst>
              <a:ext uri="{FF2B5EF4-FFF2-40B4-BE49-F238E27FC236}">
                <a16:creationId xmlns:a16="http://schemas.microsoft.com/office/drawing/2014/main" id="{E33AEEBC-AFEC-7748-B90C-6543F40FF666}"/>
              </a:ext>
            </a:extLst>
          </p:cNvPr>
          <p:cNvSpPr txBox="1"/>
          <p:nvPr/>
        </p:nvSpPr>
        <p:spPr>
          <a:xfrm>
            <a:off x="6402119" y="2179550"/>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第三節</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高級控制流劫持技術</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id="{C7E3B5A2-4221-E947-9FF9-5EC6A2F95DFE}"/>
              </a:ext>
            </a:extLst>
          </p:cNvPr>
          <p:cNvSpPr/>
          <p:nvPr/>
        </p:nvSpPr>
        <p:spPr>
          <a:xfrm>
            <a:off x="6494233" y="2856345"/>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進程執行細節</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面向返回地址編程</a:t>
            </a:r>
            <a:endPar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全域偏置表劫持</a:t>
            </a:r>
            <a:endParaRPr kumimoji="0" lang="en-US" altLang="zh-CN" sz="18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虛假</a:t>
            </a:r>
            <a:r>
              <a:rPr kumimoji="0" lang="en-US" altLang="zh-CN" sz="18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rPr>
              <a:t>vtable</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劫持</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14" name="直接箭头连接符 44">
            <a:extLst>
              <a:ext uri="{FF2B5EF4-FFF2-40B4-BE49-F238E27FC236}">
                <a16:creationId xmlns:a16="http://schemas.microsoft.com/office/drawing/2014/main" id="{7ACF0911-C77C-824B-9C49-8D66C9BB27A2}"/>
              </a:ext>
            </a:extLst>
          </p:cNvPr>
          <p:cNvCxnSpPr>
            <a:cxnSpLocks/>
          </p:cNvCxnSpPr>
          <p:nvPr/>
        </p:nvCxnSpPr>
        <p:spPr>
          <a:xfrm>
            <a:off x="5873523" y="3657852"/>
            <a:ext cx="5687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A859D15-9EA2-1249-BC5A-397D84CFD5F0}"/>
              </a:ext>
            </a:extLst>
          </p:cNvPr>
          <p:cNvSpPr/>
          <p:nvPr/>
        </p:nvSpPr>
        <p:spPr>
          <a:xfrm>
            <a:off x="390384" y="4919696"/>
            <a:ext cx="2409640" cy="967875"/>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內存爲對象的攻擊</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以內存爲對象的簡單攻擊方案</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p:txBody>
      </p:sp>
      <p:sp>
        <p:nvSpPr>
          <p:cNvPr id="16" name="矩形 15">
            <a:extLst>
              <a:ext uri="{FF2B5EF4-FFF2-40B4-BE49-F238E27FC236}">
                <a16:creationId xmlns:a16="http://schemas.microsoft.com/office/drawing/2014/main" id="{D59B1083-9239-8A4B-A153-184D4CE76F16}"/>
              </a:ext>
            </a:extLst>
          </p:cNvPr>
          <p:cNvSpPr/>
          <p:nvPr/>
        </p:nvSpPr>
        <p:spPr>
          <a:xfrm>
            <a:off x="3433388" y="4928226"/>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內存粒度的防禦方案</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防禦基礎內存攻擊的方案</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p:txBody>
      </p:sp>
      <p:sp>
        <p:nvSpPr>
          <p:cNvPr id="17" name="矩形 16">
            <a:extLst>
              <a:ext uri="{FF2B5EF4-FFF2-40B4-BE49-F238E27FC236}">
                <a16:creationId xmlns:a16="http://schemas.microsoft.com/office/drawing/2014/main" id="{85DBF24B-F546-2B4C-B960-06B0CCD97403}"/>
              </a:ext>
            </a:extLst>
          </p:cNvPr>
          <p:cNvSpPr/>
          <p:nvPr/>
        </p:nvSpPr>
        <p:spPr>
          <a:xfrm>
            <a:off x="6494234" y="4928226"/>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惡意修改進程行爲</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基于第一章的攻擊</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繞過第二章基礎防禦</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p:txBody>
      </p:sp>
      <p:cxnSp>
        <p:nvCxnSpPr>
          <p:cNvPr id="18" name="直接箭头连接符 52">
            <a:extLst>
              <a:ext uri="{FF2B5EF4-FFF2-40B4-BE49-F238E27FC236}">
                <a16:creationId xmlns:a16="http://schemas.microsoft.com/office/drawing/2014/main" id="{9F597719-88FF-C043-8C85-57122900BBD7}"/>
              </a:ext>
            </a:extLst>
          </p:cNvPr>
          <p:cNvCxnSpPr>
            <a:cxnSpLocks/>
          </p:cNvCxnSpPr>
          <p:nvPr/>
        </p:nvCxnSpPr>
        <p:spPr>
          <a:xfrm flipV="1">
            <a:off x="1560201" y="4427598"/>
            <a:ext cx="0" cy="382188"/>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53">
            <a:extLst>
              <a:ext uri="{FF2B5EF4-FFF2-40B4-BE49-F238E27FC236}">
                <a16:creationId xmlns:a16="http://schemas.microsoft.com/office/drawing/2014/main" id="{24BCF083-EBDD-174E-975E-9252454F1EB1}"/>
              </a:ext>
            </a:extLst>
          </p:cNvPr>
          <p:cNvCxnSpPr>
            <a:cxnSpLocks/>
          </p:cNvCxnSpPr>
          <p:nvPr/>
        </p:nvCxnSpPr>
        <p:spPr>
          <a:xfrm flipV="1">
            <a:off x="4656054" y="4443616"/>
            <a:ext cx="0" cy="36617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54">
            <a:extLst>
              <a:ext uri="{FF2B5EF4-FFF2-40B4-BE49-F238E27FC236}">
                <a16:creationId xmlns:a16="http://schemas.microsoft.com/office/drawing/2014/main" id="{07DDA60C-6FD9-E347-8E2E-FF9112A79130}"/>
              </a:ext>
            </a:extLst>
          </p:cNvPr>
          <p:cNvCxnSpPr>
            <a:cxnSpLocks/>
          </p:cNvCxnSpPr>
          <p:nvPr/>
        </p:nvCxnSpPr>
        <p:spPr>
          <a:xfrm flipV="1">
            <a:off x="7674383" y="4442294"/>
            <a:ext cx="0" cy="367492"/>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5BAFC0F-528D-554C-BDA8-9F5B4535C726}"/>
              </a:ext>
            </a:extLst>
          </p:cNvPr>
          <p:cNvSpPr txBox="1"/>
          <p:nvPr/>
        </p:nvSpPr>
        <p:spPr>
          <a:xfrm>
            <a:off x="9432148" y="2179550"/>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第四節</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高級系統保護方案</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E48EECA3-BEB0-AC4F-AC38-37A0A3741900}"/>
              </a:ext>
            </a:extLst>
          </p:cNvPr>
          <p:cNvSpPr/>
          <p:nvPr/>
        </p:nvSpPr>
        <p:spPr>
          <a:xfrm>
            <a:off x="9524262" y="2856345"/>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控制流完整性</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指針完整性</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信息流控制</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I/O</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子系統保護</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3" name="矩形 22">
            <a:extLst>
              <a:ext uri="{FF2B5EF4-FFF2-40B4-BE49-F238E27FC236}">
                <a16:creationId xmlns:a16="http://schemas.microsoft.com/office/drawing/2014/main" id="{D884F44E-ECF6-BC41-A379-99645A60ED5D}"/>
              </a:ext>
            </a:extLst>
          </p:cNvPr>
          <p:cNvSpPr/>
          <p:nvPr/>
        </p:nvSpPr>
        <p:spPr>
          <a:xfrm>
            <a:off x="9529264" y="4919692"/>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系統粒度的防禦方案</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通過更嚴格的安全機制防禦控制流劫持</a:t>
            </a:r>
            <a:endPar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p:txBody>
      </p:sp>
      <p:cxnSp>
        <p:nvCxnSpPr>
          <p:cNvPr id="24" name="直接箭头连接符 62">
            <a:extLst>
              <a:ext uri="{FF2B5EF4-FFF2-40B4-BE49-F238E27FC236}">
                <a16:creationId xmlns:a16="http://schemas.microsoft.com/office/drawing/2014/main" id="{4A488980-042E-2342-BB16-76B9135C7D36}"/>
              </a:ext>
            </a:extLst>
          </p:cNvPr>
          <p:cNvCxnSpPr>
            <a:cxnSpLocks/>
          </p:cNvCxnSpPr>
          <p:nvPr/>
        </p:nvCxnSpPr>
        <p:spPr>
          <a:xfrm flipV="1">
            <a:off x="10729084" y="4410948"/>
            <a:ext cx="0" cy="367492"/>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63">
            <a:extLst>
              <a:ext uri="{FF2B5EF4-FFF2-40B4-BE49-F238E27FC236}">
                <a16:creationId xmlns:a16="http://schemas.microsoft.com/office/drawing/2014/main" id="{E12374C6-A46C-2C41-A8B3-BDFF31496F13}"/>
              </a:ext>
            </a:extLst>
          </p:cNvPr>
          <p:cNvCxnSpPr>
            <a:cxnSpLocks/>
          </p:cNvCxnSpPr>
          <p:nvPr/>
        </p:nvCxnSpPr>
        <p:spPr>
          <a:xfrm>
            <a:off x="8979909" y="3657852"/>
            <a:ext cx="503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任意多边形: 形状 25">
            <a:extLst>
              <a:ext uri="{FF2B5EF4-FFF2-40B4-BE49-F238E27FC236}">
                <a16:creationId xmlns:a16="http://schemas.microsoft.com/office/drawing/2014/main" id="{E1F6074D-4F73-F64A-AEA6-36202035CEC7}"/>
              </a:ext>
            </a:extLst>
          </p:cNvPr>
          <p:cNvSpPr/>
          <p:nvPr/>
        </p:nvSpPr>
        <p:spPr>
          <a:xfrm>
            <a:off x="2030467" y="5966508"/>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Arial"/>
              <a:ea typeface="微软雅黑 Light"/>
              <a:cs typeface="+mn-cs"/>
            </a:endParaRPr>
          </a:p>
        </p:txBody>
      </p:sp>
      <p:sp>
        <p:nvSpPr>
          <p:cNvPr id="27" name="任意多边形: 形状 26">
            <a:extLst>
              <a:ext uri="{FF2B5EF4-FFF2-40B4-BE49-F238E27FC236}">
                <a16:creationId xmlns:a16="http://schemas.microsoft.com/office/drawing/2014/main" id="{4B2F33C6-E047-B74B-BC86-6DDAFC3FDF98}"/>
              </a:ext>
            </a:extLst>
          </p:cNvPr>
          <p:cNvSpPr/>
          <p:nvPr/>
        </p:nvSpPr>
        <p:spPr>
          <a:xfrm>
            <a:off x="5330903" y="5967028"/>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Arial"/>
              <a:ea typeface="微软雅黑 Light"/>
              <a:cs typeface="+mn-cs"/>
            </a:endParaRPr>
          </a:p>
        </p:txBody>
      </p:sp>
      <p:sp>
        <p:nvSpPr>
          <p:cNvPr id="28" name="任意多边形: 形状 27">
            <a:extLst>
              <a:ext uri="{FF2B5EF4-FFF2-40B4-BE49-F238E27FC236}">
                <a16:creationId xmlns:a16="http://schemas.microsoft.com/office/drawing/2014/main" id="{7FC0FBF2-F334-EF4D-8EEE-F9C8F072CF4B}"/>
              </a:ext>
            </a:extLst>
          </p:cNvPr>
          <p:cNvSpPr/>
          <p:nvPr/>
        </p:nvSpPr>
        <p:spPr>
          <a:xfrm>
            <a:off x="8382620" y="5979945"/>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Arial"/>
              <a:ea typeface="微软雅黑 Light"/>
              <a:cs typeface="+mn-cs"/>
            </a:endParaRPr>
          </a:p>
        </p:txBody>
      </p:sp>
      <p:sp>
        <p:nvSpPr>
          <p:cNvPr id="29" name="文本框 28">
            <a:extLst>
              <a:ext uri="{FF2B5EF4-FFF2-40B4-BE49-F238E27FC236}">
                <a16:creationId xmlns:a16="http://schemas.microsoft.com/office/drawing/2014/main" id="{A098B0D1-6C55-3A41-B695-AEA240B16B90}"/>
              </a:ext>
            </a:extLst>
          </p:cNvPr>
          <p:cNvSpPr txBox="1"/>
          <p:nvPr/>
        </p:nvSpPr>
        <p:spPr>
          <a:xfrm>
            <a:off x="1719697" y="6257847"/>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有效防禦</a:t>
            </a:r>
            <a:endPar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D84593D2-DDDE-2041-A8E6-F990F5B3A2D1}"/>
              </a:ext>
            </a:extLst>
          </p:cNvPr>
          <p:cNvSpPr txBox="1"/>
          <p:nvPr/>
        </p:nvSpPr>
        <p:spPr>
          <a:xfrm>
            <a:off x="5013741" y="6277008"/>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成功繞過</a:t>
            </a:r>
            <a:endPar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7B82FDA4-03B9-FF4B-8C46-79D8CEEF2D97}"/>
              </a:ext>
            </a:extLst>
          </p:cNvPr>
          <p:cNvSpPr txBox="1"/>
          <p:nvPr/>
        </p:nvSpPr>
        <p:spPr>
          <a:xfrm>
            <a:off x="8073896" y="6302500"/>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有效防禦</a:t>
            </a:r>
            <a:endPar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id="{1D9E7659-75B7-CF4B-8AC6-78218CDA1246}"/>
              </a:ext>
            </a:extLst>
          </p:cNvPr>
          <p:cNvSpPr>
            <a:spLocks/>
          </p:cNvSpPr>
          <p:nvPr/>
        </p:nvSpPr>
        <p:spPr bwMode="auto">
          <a:xfrm>
            <a:off x="429491" y="1012677"/>
            <a:ext cx="11374581" cy="94413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本章當中，我們首先回顧了最早的操作系統安全問題，</a:t>
            </a:r>
            <a:r>
              <a:rPr kumimoji="0" lang="en-US" altLang="zh-CN" sz="2000" b="1" i="0" u="none" strike="noStrike" kern="1200" cap="none" spc="0" normalizeH="0" baseline="0" noProof="0" dirty="0">
                <a:ln>
                  <a:noFill/>
                </a:ln>
                <a:solidFill>
                  <a:srgbClr val="E7E6E6">
                    <a:lumMod val="10000"/>
                  </a:srgbClr>
                </a:solidFill>
                <a:effectLst/>
                <a:uLnTx/>
                <a:uFillTx/>
                <a:latin typeface="Microsoft YaHei" panose="020B0503020204020204" pitchFamily="34" charset="-122"/>
                <a:ea typeface="Microsoft YaHei" panose="020B0503020204020204" pitchFamily="34" charset="-122"/>
                <a:cs typeface="+mn-cs"/>
              </a:rPr>
              <a:t>Morris Worm</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；幷分析了 </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SQL Slammers </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侵染</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SQL Server</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的全過程，之後由淺入深地介紹了</a:t>
            </a:r>
            <a:r>
              <a:rPr kumimoji="1"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操作系統下一系列攻擊與防禦方案</a:t>
            </a:r>
          </a:p>
        </p:txBody>
      </p:sp>
    </p:spTree>
    <p:extLst>
      <p:ext uri="{BB962C8B-B14F-4D97-AF65-F5344CB8AC3E}">
        <p14:creationId xmlns:p14="http://schemas.microsoft.com/office/powerpoint/2010/main" val="2243664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C631CF44-859D-B349-B903-5EAB8473B2F8}"/>
              </a:ext>
            </a:extLst>
          </p:cNvPr>
          <p:cNvSpPr>
            <a:spLocks/>
          </p:cNvSpPr>
          <p:nvPr/>
        </p:nvSpPr>
        <p:spPr bwMode="auto">
          <a:xfrm>
            <a:off x="288099" y="4809239"/>
            <a:ext cx="1653593" cy="917004"/>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TCP/IP</a:t>
            </a: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協議棧是如何工作的？</a:t>
            </a:r>
          </a:p>
        </p:txBody>
      </p:sp>
      <p:sp>
        <p:nvSpPr>
          <p:cNvPr id="37" name="矩形 36">
            <a:extLst>
              <a:ext uri="{FF2B5EF4-FFF2-40B4-BE49-F238E27FC236}">
                <a16:creationId xmlns:a16="http://schemas.microsoft.com/office/drawing/2014/main" id="{2E7DE1D5-1B52-7E4D-B223-88F832E032B4}"/>
              </a:ext>
            </a:extLst>
          </p:cNvPr>
          <p:cNvSpPr>
            <a:spLocks/>
          </p:cNvSpPr>
          <p:nvPr/>
        </p:nvSpPr>
        <p:spPr bwMode="auto">
          <a:xfrm>
            <a:off x="2401228" y="4809239"/>
            <a:ext cx="1302707" cy="917004"/>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鏈路層</a:t>
            </a:r>
            <a:endPar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存在</a:t>
            </a:r>
            <a:r>
              <a:rPr kumimoji="1" lang="zh-CN" altLang="en-US" dirty="0">
                <a:solidFill>
                  <a:srgbClr val="000000"/>
                </a:solidFill>
                <a:latin typeface="Microsoft YaHei" panose="020B0503020204020204" pitchFamily="34" charset="-122"/>
                <a:ea typeface="Microsoft YaHei" panose="020B0503020204020204" pitchFamily="34" charset="-122"/>
              </a:rPr>
              <a:t>哪些</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安全問題？</a:t>
            </a:r>
          </a:p>
        </p:txBody>
      </p:sp>
      <p:sp>
        <p:nvSpPr>
          <p:cNvPr id="38" name="矩形 37">
            <a:extLst>
              <a:ext uri="{FF2B5EF4-FFF2-40B4-BE49-F238E27FC236}">
                <a16:creationId xmlns:a16="http://schemas.microsoft.com/office/drawing/2014/main" id="{992A77CB-64B3-994E-991E-0ADCC752FF53}"/>
              </a:ext>
            </a:extLst>
          </p:cNvPr>
          <p:cNvSpPr>
            <a:spLocks/>
          </p:cNvSpPr>
          <p:nvPr/>
        </p:nvSpPr>
        <p:spPr bwMode="auto">
          <a:xfrm>
            <a:off x="4197354" y="4833463"/>
            <a:ext cx="1855932" cy="917005"/>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網絡層存在</a:t>
            </a:r>
            <a:endPar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00"/>
                </a:solidFill>
                <a:latin typeface="Microsoft YaHei" panose="020B0503020204020204" pitchFamily="34" charset="-122"/>
                <a:ea typeface="Microsoft YaHei" panose="020B0503020204020204" pitchFamily="34" charset="-122"/>
              </a:rPr>
              <a:t>哪些</a:t>
            </a: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安全問題？</a:t>
            </a:r>
          </a:p>
        </p:txBody>
      </p:sp>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285008" y="2487852"/>
            <a:ext cx="1716512" cy="192196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協議棧中消息縱向傳遞</a:t>
            </a:r>
            <a:endParaRPr lang="en-US" altLang="zh-CN" sz="16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協議棧中消息橫向傳遞</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 name="标题 1"/>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8</a:t>
            </a:r>
            <a:r>
              <a:rPr kumimoji="1" lang="zh-CN" altLang="en-US" dirty="0">
                <a:solidFill>
                  <a:schemeClr val="tx1"/>
                </a:solidFill>
              </a:rPr>
              <a:t>章 協議棧安全</a:t>
            </a: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2376615" y="2487852"/>
            <a:ext cx="1366517" cy="192196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ARP</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欺騙與污染</a:t>
            </a:r>
            <a:endParaRPr lang="en-US" altLang="zh-CN" sz="16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285750" indent="-285750">
              <a:lnSpc>
                <a:spcPct val="120000"/>
              </a:lnSpc>
              <a:buFont typeface="Arial" panose="020B0604020202020204" pitchFamily="34" charset="0"/>
              <a:buChar char="•"/>
              <a:defRPr/>
            </a:pP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網絡監聽與嗅探</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4118227" y="2510045"/>
            <a:ext cx="2018341" cy="189862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源地址假冒攻擊</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 altLang="zh-CN"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IP</a:t>
            </a:r>
            <a:r>
              <a:rPr kumimoji="0" lang="zh-CN" altLang="en-US"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分片攻擊原理</a:t>
            </a:r>
            <a:endParaRPr kumimoji="0" lang="en-US" altLang="zh-CN"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600" dirty="0">
                <a:solidFill>
                  <a:srgbClr val="000000"/>
                </a:solidFill>
                <a:latin typeface="Microsoft YaHei" panose="020B0503020204020204" pitchFamily="34" charset="-122"/>
                <a:ea typeface="Microsoft YaHei" panose="020B0503020204020204" pitchFamily="34" charset="-122"/>
              </a:rPr>
              <a:t>ICMP</a:t>
            </a:r>
            <a:r>
              <a:rPr lang="zh-CN" altLang="en-US" sz="1600" dirty="0">
                <a:solidFill>
                  <a:srgbClr val="000000"/>
                </a:solidFill>
                <a:latin typeface="Microsoft YaHei" panose="020B0503020204020204" pitchFamily="34" charset="-122"/>
                <a:ea typeface="Microsoft YaHei" panose="020B0503020204020204" pitchFamily="34" charset="-122"/>
              </a:rPr>
              <a:t>攻擊原理</a:t>
            </a: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IPSec</a:t>
            </a: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協議</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網絡入侵檢測</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2" name="文本框 21">
            <a:extLst>
              <a:ext uri="{FF2B5EF4-FFF2-40B4-BE49-F238E27FC236}">
                <a16:creationId xmlns:a16="http://schemas.microsoft.com/office/drawing/2014/main" id="{CE1694C8-0F08-6A45-8925-6B92183E05E7}"/>
              </a:ext>
            </a:extLst>
          </p:cNvPr>
          <p:cNvSpPr txBox="1"/>
          <p:nvPr/>
        </p:nvSpPr>
        <p:spPr>
          <a:xfrm>
            <a:off x="-73324" y="1698768"/>
            <a:ext cx="259412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TCP/IP</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協議工作原理</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2039634" y="1712449"/>
            <a:ext cx="2112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鏈路層安全</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3920910" y="1771334"/>
            <a:ext cx="241200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網絡層安全</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02144" y="979711"/>
            <a:ext cx="973859" cy="736381"/>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2078451" y="3287937"/>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p:cNvCxnSpPr>
          <p:nvPr/>
        </p:nvCxnSpPr>
        <p:spPr>
          <a:xfrm>
            <a:off x="1143264" y="4409821"/>
            <a:ext cx="0" cy="39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D429C43-063E-1C1E-0CD6-E5EE01D30F91}"/>
              </a:ext>
            </a:extLst>
          </p:cNvPr>
          <p:cNvSpPr txBox="1"/>
          <p:nvPr/>
        </p:nvSpPr>
        <p:spPr>
          <a:xfrm>
            <a:off x="6015679" y="1728023"/>
            <a:ext cx="2364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第四節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傳輸層安全</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C1E1313F-FD86-860D-EBB5-71363EF8D6D6}"/>
              </a:ext>
            </a:extLst>
          </p:cNvPr>
          <p:cNvSpPr txBox="1"/>
          <p:nvPr/>
        </p:nvSpPr>
        <p:spPr>
          <a:xfrm>
            <a:off x="9972802" y="1741500"/>
            <a:ext cx="222733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第六節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網絡安全共性分析</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7ECE93A9-0B50-A3B1-FF6A-EC3A6230818F}"/>
              </a:ext>
            </a:extLst>
          </p:cNvPr>
          <p:cNvSpPr>
            <a:spLocks/>
          </p:cNvSpPr>
          <p:nvPr/>
        </p:nvSpPr>
        <p:spPr bwMode="auto">
          <a:xfrm>
            <a:off x="6516043" y="2521313"/>
            <a:ext cx="1364098" cy="192196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拒絕服務攻擊</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 altLang="zh-CN"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TCP</a:t>
            </a:r>
            <a:r>
              <a:rPr kumimoji="0" lang="zh-CN" altLang="en-US"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劫持攻擊</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 altLang="zh-CN"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TLS</a:t>
            </a:r>
            <a:r>
              <a:rPr kumimoji="0" lang="zh-CN" altLang="en-US"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協議</a:t>
            </a:r>
          </a:p>
        </p:txBody>
      </p:sp>
      <p:sp>
        <p:nvSpPr>
          <p:cNvPr id="12" name="矩形 11">
            <a:extLst>
              <a:ext uri="{FF2B5EF4-FFF2-40B4-BE49-F238E27FC236}">
                <a16:creationId xmlns:a16="http://schemas.microsoft.com/office/drawing/2014/main" id="{06D75D35-DFFD-3D0A-E91B-93EE115EA839}"/>
              </a:ext>
            </a:extLst>
          </p:cNvPr>
          <p:cNvSpPr>
            <a:spLocks/>
          </p:cNvSpPr>
          <p:nvPr/>
        </p:nvSpPr>
        <p:spPr bwMode="auto">
          <a:xfrm>
            <a:off x="10186408" y="2533444"/>
            <a:ext cx="1800311" cy="189862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網絡攻擊的共性特徵</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協議棧設計缺陷和實現漏洞</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rPr>
              <a:t>協議棧安全的基本防禦原理</a:t>
            </a:r>
          </a:p>
        </p:txBody>
      </p:sp>
      <p:cxnSp>
        <p:nvCxnSpPr>
          <p:cNvPr id="40" name="直接箭头连接符 33">
            <a:extLst>
              <a:ext uri="{FF2B5EF4-FFF2-40B4-BE49-F238E27FC236}">
                <a16:creationId xmlns:a16="http://schemas.microsoft.com/office/drawing/2014/main" id="{07033979-9C92-E579-9A07-B39388DA4000}"/>
              </a:ext>
            </a:extLst>
          </p:cNvPr>
          <p:cNvCxnSpPr>
            <a:cxnSpLocks/>
          </p:cNvCxnSpPr>
          <p:nvPr/>
        </p:nvCxnSpPr>
        <p:spPr>
          <a:xfrm>
            <a:off x="3814417" y="3287937"/>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33">
            <a:extLst>
              <a:ext uri="{FF2B5EF4-FFF2-40B4-BE49-F238E27FC236}">
                <a16:creationId xmlns:a16="http://schemas.microsoft.com/office/drawing/2014/main" id="{8AA3AA7E-BE52-AED2-D8A2-8E415A79B2E5}"/>
              </a:ext>
            </a:extLst>
          </p:cNvPr>
          <p:cNvCxnSpPr>
            <a:cxnSpLocks/>
          </p:cNvCxnSpPr>
          <p:nvPr/>
        </p:nvCxnSpPr>
        <p:spPr>
          <a:xfrm>
            <a:off x="6207868" y="3277919"/>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33">
            <a:extLst>
              <a:ext uri="{FF2B5EF4-FFF2-40B4-BE49-F238E27FC236}">
                <a16:creationId xmlns:a16="http://schemas.microsoft.com/office/drawing/2014/main" id="{B7AAAA76-1BB8-E31C-EF65-AFED90076353}"/>
              </a:ext>
            </a:extLst>
          </p:cNvPr>
          <p:cNvCxnSpPr>
            <a:cxnSpLocks/>
          </p:cNvCxnSpPr>
          <p:nvPr/>
        </p:nvCxnSpPr>
        <p:spPr>
          <a:xfrm>
            <a:off x="9913357" y="3294194"/>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D05171FF-CC7B-BC84-ACC3-6BCADE234CBF}"/>
              </a:ext>
            </a:extLst>
          </p:cNvPr>
          <p:cNvSpPr>
            <a:spLocks/>
          </p:cNvSpPr>
          <p:nvPr/>
        </p:nvSpPr>
        <p:spPr bwMode="auto">
          <a:xfrm>
            <a:off x="6549278" y="4810113"/>
            <a:ext cx="1297628" cy="917005"/>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00"/>
                </a:solidFill>
                <a:latin typeface="Microsoft YaHei" panose="020B0503020204020204" pitchFamily="34" charset="-122"/>
                <a:ea typeface="Microsoft YaHei" panose="020B0503020204020204" pitchFamily="34" charset="-122"/>
              </a:rPr>
              <a:t>傳輸</a:t>
            </a: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層存在</a:t>
            </a:r>
            <a:r>
              <a:rPr kumimoji="1" lang="zh-CN" altLang="en-US" dirty="0">
                <a:solidFill>
                  <a:srgbClr val="000000"/>
                </a:solidFill>
                <a:latin typeface="Microsoft YaHei" panose="020B0503020204020204" pitchFamily="34" charset="-122"/>
                <a:ea typeface="Microsoft YaHei" panose="020B0503020204020204" pitchFamily="34" charset="-122"/>
              </a:rPr>
              <a:t>哪些</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安全問題？</a:t>
            </a:r>
          </a:p>
        </p:txBody>
      </p:sp>
      <p:sp>
        <p:nvSpPr>
          <p:cNvPr id="53" name="矩形 52">
            <a:extLst>
              <a:ext uri="{FF2B5EF4-FFF2-40B4-BE49-F238E27FC236}">
                <a16:creationId xmlns:a16="http://schemas.microsoft.com/office/drawing/2014/main" id="{61F6B426-F8A4-6FC1-E7E7-463367947844}"/>
              </a:ext>
            </a:extLst>
          </p:cNvPr>
          <p:cNvSpPr>
            <a:spLocks/>
          </p:cNvSpPr>
          <p:nvPr/>
        </p:nvSpPr>
        <p:spPr bwMode="auto">
          <a:xfrm>
            <a:off x="10321100" y="4808131"/>
            <a:ext cx="1414697" cy="91700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如何提升協議棧安全性？</a:t>
            </a:r>
          </a:p>
        </p:txBody>
      </p:sp>
      <p:cxnSp>
        <p:nvCxnSpPr>
          <p:cNvPr id="60" name="直接箭头连接符 33">
            <a:extLst>
              <a:ext uri="{FF2B5EF4-FFF2-40B4-BE49-F238E27FC236}">
                <a16:creationId xmlns:a16="http://schemas.microsoft.com/office/drawing/2014/main" id="{30926BEA-0468-7D6B-C95F-01E1B03B99DA}"/>
              </a:ext>
            </a:extLst>
          </p:cNvPr>
          <p:cNvCxnSpPr>
            <a:cxnSpLocks/>
          </p:cNvCxnSpPr>
          <p:nvPr/>
        </p:nvCxnSpPr>
        <p:spPr>
          <a:xfrm>
            <a:off x="11098667" y="4430751"/>
            <a:ext cx="0" cy="3936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F5D3210B-39EC-37D7-4100-043F62C2DB9B}"/>
              </a:ext>
            </a:extLst>
          </p:cNvPr>
          <p:cNvSpPr txBox="1"/>
          <p:nvPr/>
        </p:nvSpPr>
        <p:spPr>
          <a:xfrm>
            <a:off x="3046613" y="6037726"/>
            <a:ext cx="426995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協議棧各層次均存在安全問題</a:t>
            </a:r>
          </a:p>
        </p:txBody>
      </p:sp>
      <p:sp>
        <p:nvSpPr>
          <p:cNvPr id="18" name="任意多边形: 形状 25">
            <a:extLst>
              <a:ext uri="{FF2B5EF4-FFF2-40B4-BE49-F238E27FC236}">
                <a16:creationId xmlns:a16="http://schemas.microsoft.com/office/drawing/2014/main" id="{8C98D5E2-011A-12CF-1291-C9D279233294}"/>
              </a:ext>
            </a:extLst>
          </p:cNvPr>
          <p:cNvSpPr/>
          <p:nvPr/>
        </p:nvSpPr>
        <p:spPr>
          <a:xfrm flipH="1">
            <a:off x="1110269" y="5754222"/>
            <a:ext cx="9988397" cy="315509"/>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68A7C5B4-EC50-A1A7-4350-7B915983F8C1}"/>
              </a:ext>
            </a:extLst>
          </p:cNvPr>
          <p:cNvSpPr txBox="1"/>
          <p:nvPr/>
        </p:nvSpPr>
        <p:spPr>
          <a:xfrm>
            <a:off x="8219471" y="6060652"/>
            <a:ext cx="3409627"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如何</a:t>
            </a:r>
            <a:r>
              <a:rPr lang="zh-CN" altLang="en-US" dirty="0">
                <a:solidFill>
                  <a:srgbClr val="000000"/>
                </a:solidFill>
                <a:latin typeface="Microsoft YaHei" panose="020B0503020204020204" pitchFamily="34" charset="-122"/>
                <a:ea typeface="Microsoft YaHei" panose="020B0503020204020204" pitchFamily="34" charset="-122"/>
              </a:rPr>
              <a:t>根據協議棧各層次安全問題的共性特徵提升協議棧安全性？</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p:pic>
        <p:nvPicPr>
          <p:cNvPr id="31" name="Picture 14" descr="查看源图像">
            <a:extLst>
              <a:ext uri="{FF2B5EF4-FFF2-40B4-BE49-F238E27FC236}">
                <a16:creationId xmlns:a16="http://schemas.microsoft.com/office/drawing/2014/main" id="{C110BB1A-7AC7-7235-02EF-BDCE78536C44}"/>
              </a:ext>
            </a:extLst>
          </p:cNvPr>
          <p:cNvPicPr>
            <a:picLocks noChangeAspect="1" noChangeArrowheads="1"/>
          </p:cNvPicPr>
          <p:nvPr/>
        </p:nvPicPr>
        <p:blipFill rotWithShape="1">
          <a:blip r:embed="rId4">
            <a:extLst>
              <a:ext uri="{28A0092B-C50C-407E-A947-70E740481C1C}">
                <a14:useLocalDpi xmlns:a14="http://schemas.microsoft.com/office/drawing/2010/main"/>
              </a:ext>
            </a:extLst>
          </a:blip>
          <a:srcRect r="45652" b="1407"/>
          <a:stretch/>
        </p:blipFill>
        <p:spPr bwMode="auto">
          <a:xfrm>
            <a:off x="4834418" y="1048720"/>
            <a:ext cx="730229" cy="689956"/>
          </a:xfrm>
          <a:prstGeom prst="rect">
            <a:avLst/>
          </a:prstGeom>
          <a:noFill/>
          <a:extLst>
            <a:ext uri="{909E8E84-426E-40DD-AFC4-6F175D3DCCD1}">
              <a14:hiddenFill xmlns:a14="http://schemas.microsoft.com/office/drawing/2010/main">
                <a:solidFill>
                  <a:srgbClr val="FFFFFF"/>
                </a:solidFill>
              </a14:hiddenFill>
            </a:ext>
          </a:extLst>
        </p:spPr>
      </p:pic>
      <p:pic>
        <p:nvPicPr>
          <p:cNvPr id="33" name="图片 32">
            <a:extLst>
              <a:ext uri="{FF2B5EF4-FFF2-40B4-BE49-F238E27FC236}">
                <a16:creationId xmlns:a16="http://schemas.microsoft.com/office/drawing/2014/main" id="{A39F030B-AB51-A291-38BF-58B23D2E6164}"/>
              </a:ext>
            </a:extLst>
          </p:cNvPr>
          <p:cNvPicPr>
            <a:picLocks/>
          </p:cNvPicPr>
          <p:nvPr/>
        </p:nvPicPr>
        <p:blipFill>
          <a:blip r:embed="rId5"/>
          <a:stretch>
            <a:fillRect/>
          </a:stretch>
        </p:blipFill>
        <p:spPr>
          <a:xfrm>
            <a:off x="2767338" y="1017629"/>
            <a:ext cx="730800" cy="694800"/>
          </a:xfrm>
          <a:prstGeom prst="rect">
            <a:avLst/>
          </a:prstGeom>
        </p:spPr>
      </p:pic>
      <p:pic>
        <p:nvPicPr>
          <p:cNvPr id="34" name="Picture 2" descr="查看源图像">
            <a:extLst>
              <a:ext uri="{FF2B5EF4-FFF2-40B4-BE49-F238E27FC236}">
                <a16:creationId xmlns:a16="http://schemas.microsoft.com/office/drawing/2014/main" id="{872237A8-5500-0DD6-5C70-77365A9802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9880" y="997935"/>
            <a:ext cx="876425" cy="764817"/>
          </a:xfrm>
          <a:prstGeom prst="ellipse">
            <a:avLst/>
          </a:prstGeom>
          <a:ln>
            <a:noFill/>
          </a:ln>
          <a:effectLst>
            <a:softEdge rad="112500"/>
          </a:effectLst>
        </p:spPr>
      </p:pic>
      <p:pic>
        <p:nvPicPr>
          <p:cNvPr id="35" name="Picture 6" descr="Types Of Cybersecurity Threats Clipart (726x500), Png Download">
            <a:extLst>
              <a:ext uri="{FF2B5EF4-FFF2-40B4-BE49-F238E27FC236}">
                <a16:creationId xmlns:a16="http://schemas.microsoft.com/office/drawing/2014/main" id="{3A57C18B-509E-18C6-CDEA-3033001EF856}"/>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0720666" y="1010414"/>
            <a:ext cx="731608" cy="70201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06584279-3FB3-95A0-0D0C-0334D1666D05}"/>
              </a:ext>
            </a:extLst>
          </p:cNvPr>
          <p:cNvSpPr txBox="1"/>
          <p:nvPr/>
        </p:nvSpPr>
        <p:spPr>
          <a:xfrm>
            <a:off x="7807481" y="1741781"/>
            <a:ext cx="2364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第五節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典型案例分析</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5F8996D2-7C65-9A22-F106-B5E441F4FE63}"/>
              </a:ext>
            </a:extLst>
          </p:cNvPr>
          <p:cNvSpPr>
            <a:spLocks/>
          </p:cNvSpPr>
          <p:nvPr/>
        </p:nvSpPr>
        <p:spPr bwMode="auto">
          <a:xfrm>
            <a:off x="8172174" y="2521533"/>
            <a:ext cx="1782363" cy="192196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交互信息泄露</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dirty="0">
                <a:solidFill>
                  <a:srgbClr val="000000"/>
                </a:solidFill>
                <a:latin typeface="Microsoft YaHei" panose="020B0503020204020204" pitchFamily="34" charset="-122"/>
                <a:ea typeface="Microsoft YaHei" panose="020B0503020204020204" pitchFamily="34" charset="-122"/>
              </a:rPr>
              <a:t>幀長側信道</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dirty="0">
                <a:solidFill>
                  <a:srgbClr val="000000"/>
                </a:solidFill>
                <a:latin typeface="Microsoft YaHei" panose="020B0503020204020204" pitchFamily="34" charset="-122"/>
                <a:ea typeface="Microsoft YaHei" panose="020B0503020204020204" pitchFamily="34" charset="-122"/>
              </a:rPr>
              <a:t>交互二義性</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dirty="0">
                <a:solidFill>
                  <a:srgbClr val="000000"/>
                </a:solidFill>
                <a:latin typeface="Microsoft YaHei" panose="020B0503020204020204" pitchFamily="34" charset="-122"/>
                <a:ea typeface="Microsoft YaHei" panose="020B0503020204020204" pitchFamily="34" charset="-122"/>
              </a:rPr>
              <a:t>交互語義缺失</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dirty="0">
                <a:solidFill>
                  <a:srgbClr val="000000"/>
                </a:solidFill>
                <a:latin typeface="Microsoft YaHei" panose="020B0503020204020204" pitchFamily="34" charset="-122"/>
                <a:ea typeface="Microsoft YaHei" panose="020B0503020204020204" pitchFamily="34" charset="-122"/>
              </a:rPr>
              <a:t>交互身份欺騙</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600" dirty="0">
                <a:solidFill>
                  <a:srgbClr val="000000"/>
                </a:solidFill>
                <a:latin typeface="Microsoft YaHei" panose="020B0503020204020204" pitchFamily="34" charset="-122"/>
                <a:ea typeface="Microsoft YaHei" panose="020B0503020204020204" pitchFamily="34" charset="-122"/>
              </a:rPr>
              <a:t>NAT</a:t>
            </a:r>
            <a:r>
              <a:rPr lang="zh-CN" altLang="en-US" sz="1600" dirty="0">
                <a:solidFill>
                  <a:srgbClr val="000000"/>
                </a:solidFill>
                <a:latin typeface="Microsoft YaHei" panose="020B0503020204020204" pitchFamily="34" charset="-122"/>
                <a:ea typeface="Microsoft YaHei" panose="020B0503020204020204" pitchFamily="34" charset="-122"/>
              </a:rPr>
              <a:t>劫持</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16" name="直接箭头连接符 33">
            <a:extLst>
              <a:ext uri="{FF2B5EF4-FFF2-40B4-BE49-F238E27FC236}">
                <a16:creationId xmlns:a16="http://schemas.microsoft.com/office/drawing/2014/main" id="{D7BEEE39-E723-38AF-2695-B4FBE72101CF}"/>
              </a:ext>
            </a:extLst>
          </p:cNvPr>
          <p:cNvCxnSpPr>
            <a:cxnSpLocks/>
          </p:cNvCxnSpPr>
          <p:nvPr/>
        </p:nvCxnSpPr>
        <p:spPr>
          <a:xfrm>
            <a:off x="7885991" y="3294194"/>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711D6EE7-045D-5F24-DE2B-25BA0E8F0E6C}"/>
              </a:ext>
            </a:extLst>
          </p:cNvPr>
          <p:cNvSpPr>
            <a:spLocks/>
          </p:cNvSpPr>
          <p:nvPr/>
        </p:nvSpPr>
        <p:spPr bwMode="auto">
          <a:xfrm>
            <a:off x="8246915" y="4824382"/>
            <a:ext cx="1615440" cy="917004"/>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00"/>
                </a:solidFill>
                <a:latin typeface="Microsoft YaHei" panose="020B0503020204020204" pitchFamily="34" charset="-122"/>
                <a:ea typeface="Microsoft YaHei" panose="020B0503020204020204" pitchFamily="34" charset="-122"/>
              </a:rPr>
              <a:t>有哪些</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00"/>
                </a:solidFill>
                <a:latin typeface="Microsoft YaHei" panose="020B0503020204020204" pitchFamily="34" charset="-122"/>
                <a:ea typeface="Microsoft YaHei" panose="020B0503020204020204" pitchFamily="34" charset="-122"/>
              </a:rPr>
              <a:t>典型攻擊</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46" name="直接箭头连接符 33">
            <a:extLst>
              <a:ext uri="{FF2B5EF4-FFF2-40B4-BE49-F238E27FC236}">
                <a16:creationId xmlns:a16="http://schemas.microsoft.com/office/drawing/2014/main" id="{15F634D0-33CB-2F67-5D10-8670DC6146F2}"/>
              </a:ext>
            </a:extLst>
          </p:cNvPr>
          <p:cNvCxnSpPr>
            <a:cxnSpLocks/>
            <a:stCxn id="14" idx="2"/>
            <a:endCxn id="45" idx="0"/>
          </p:cNvCxnSpPr>
          <p:nvPr/>
        </p:nvCxnSpPr>
        <p:spPr>
          <a:xfrm flipH="1">
            <a:off x="9054635" y="4443502"/>
            <a:ext cx="8721" cy="3808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50199" descr="Icon&#10;&#10;Description automatically generated">
            <a:extLst>
              <a:ext uri="{FF2B5EF4-FFF2-40B4-BE49-F238E27FC236}">
                <a16:creationId xmlns:a16="http://schemas.microsoft.com/office/drawing/2014/main" id="{A2044811-1BD2-F8B8-8E86-71C168DFD384}"/>
              </a:ext>
            </a:extLst>
          </p:cNvPr>
          <p:cNvPicPr>
            <a:picLocks noChangeAspect="1"/>
          </p:cNvPicPr>
          <p:nvPr/>
        </p:nvPicPr>
        <p:blipFill>
          <a:blip r:embed="rId8"/>
          <a:stretch>
            <a:fillRect/>
          </a:stretch>
        </p:blipFill>
        <p:spPr>
          <a:xfrm>
            <a:off x="8634294" y="1014125"/>
            <a:ext cx="709341" cy="709341"/>
          </a:xfrm>
          <a:prstGeom prst="rect">
            <a:avLst/>
          </a:prstGeom>
        </p:spPr>
      </p:pic>
      <p:cxnSp>
        <p:nvCxnSpPr>
          <p:cNvPr id="58" name="直接箭头连接符 33">
            <a:extLst>
              <a:ext uri="{FF2B5EF4-FFF2-40B4-BE49-F238E27FC236}">
                <a16:creationId xmlns:a16="http://schemas.microsoft.com/office/drawing/2014/main" id="{F278A07D-0890-2283-4F8A-AD76A6376387}"/>
              </a:ext>
            </a:extLst>
          </p:cNvPr>
          <p:cNvCxnSpPr>
            <a:cxnSpLocks/>
          </p:cNvCxnSpPr>
          <p:nvPr/>
        </p:nvCxnSpPr>
        <p:spPr>
          <a:xfrm>
            <a:off x="3021373" y="4427311"/>
            <a:ext cx="0" cy="39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33">
            <a:extLst>
              <a:ext uri="{FF2B5EF4-FFF2-40B4-BE49-F238E27FC236}">
                <a16:creationId xmlns:a16="http://schemas.microsoft.com/office/drawing/2014/main" id="{A4C5414B-3C78-75EC-FE32-C413538EB6E2}"/>
              </a:ext>
            </a:extLst>
          </p:cNvPr>
          <p:cNvCxnSpPr>
            <a:cxnSpLocks/>
          </p:cNvCxnSpPr>
          <p:nvPr/>
        </p:nvCxnSpPr>
        <p:spPr>
          <a:xfrm>
            <a:off x="5079362" y="4429811"/>
            <a:ext cx="0" cy="39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33">
            <a:extLst>
              <a:ext uri="{FF2B5EF4-FFF2-40B4-BE49-F238E27FC236}">
                <a16:creationId xmlns:a16="http://schemas.microsoft.com/office/drawing/2014/main" id="{59539401-F474-6DF7-FD7C-DCDE55179C18}"/>
              </a:ext>
            </a:extLst>
          </p:cNvPr>
          <p:cNvCxnSpPr>
            <a:cxnSpLocks/>
          </p:cNvCxnSpPr>
          <p:nvPr/>
        </p:nvCxnSpPr>
        <p:spPr>
          <a:xfrm>
            <a:off x="7198092" y="4429811"/>
            <a:ext cx="0" cy="398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176" name="直线箭头连接符 50175">
            <a:extLst>
              <a:ext uri="{FF2B5EF4-FFF2-40B4-BE49-F238E27FC236}">
                <a16:creationId xmlns:a16="http://schemas.microsoft.com/office/drawing/2014/main" id="{DD815C4E-C0A9-2AD1-D5B6-E2FD6F0C88D3}"/>
              </a:ext>
            </a:extLst>
          </p:cNvPr>
          <p:cNvCxnSpPr>
            <a:cxnSpLocks/>
          </p:cNvCxnSpPr>
          <p:nvPr/>
        </p:nvCxnSpPr>
        <p:spPr>
          <a:xfrm flipV="1">
            <a:off x="3022602" y="5741233"/>
            <a:ext cx="0" cy="31148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178" name="直线箭头连接符 50177">
            <a:extLst>
              <a:ext uri="{FF2B5EF4-FFF2-40B4-BE49-F238E27FC236}">
                <a16:creationId xmlns:a16="http://schemas.microsoft.com/office/drawing/2014/main" id="{CE20E8BC-ACDD-5504-E813-1DA49B1FA461}"/>
              </a:ext>
            </a:extLst>
          </p:cNvPr>
          <p:cNvCxnSpPr>
            <a:cxnSpLocks/>
          </p:cNvCxnSpPr>
          <p:nvPr/>
        </p:nvCxnSpPr>
        <p:spPr>
          <a:xfrm flipV="1">
            <a:off x="5080593" y="5758723"/>
            <a:ext cx="0" cy="31148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179" name="直线箭头连接符 50178">
            <a:extLst>
              <a:ext uri="{FF2B5EF4-FFF2-40B4-BE49-F238E27FC236}">
                <a16:creationId xmlns:a16="http://schemas.microsoft.com/office/drawing/2014/main" id="{673A1616-22E0-4AE4-8E54-E333FF34792C}"/>
              </a:ext>
            </a:extLst>
          </p:cNvPr>
          <p:cNvCxnSpPr>
            <a:cxnSpLocks/>
          </p:cNvCxnSpPr>
          <p:nvPr/>
        </p:nvCxnSpPr>
        <p:spPr>
          <a:xfrm flipV="1">
            <a:off x="7198092" y="5743733"/>
            <a:ext cx="0" cy="3313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180" name="直线箭头连接符 50179">
            <a:extLst>
              <a:ext uri="{FF2B5EF4-FFF2-40B4-BE49-F238E27FC236}">
                <a16:creationId xmlns:a16="http://schemas.microsoft.com/office/drawing/2014/main" id="{D40FB73E-5F15-4225-1FF8-7AECDC4443CA}"/>
              </a:ext>
            </a:extLst>
          </p:cNvPr>
          <p:cNvCxnSpPr>
            <a:cxnSpLocks/>
          </p:cNvCxnSpPr>
          <p:nvPr/>
        </p:nvCxnSpPr>
        <p:spPr>
          <a:xfrm flipV="1">
            <a:off x="9059085" y="5736958"/>
            <a:ext cx="0" cy="33808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361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t>第</a:t>
            </a:r>
            <a:r>
              <a:rPr lang="en-US" altLang="zh-CN" dirty="0"/>
              <a:t>9</a:t>
            </a:r>
            <a:r>
              <a:rPr lang="zh-CN" altLang="en-US" dirty="0"/>
              <a:t>章</a:t>
            </a:r>
            <a:r>
              <a:rPr lang="en-US" altLang="zh-CN" dirty="0"/>
              <a:t> </a:t>
            </a:r>
            <a:r>
              <a:rPr lang="zh-CN" altLang="en-US" dirty="0"/>
              <a:t>互聯網路由安全</a:t>
            </a:r>
          </a:p>
        </p:txBody>
      </p:sp>
      <p:pic>
        <p:nvPicPr>
          <p:cNvPr id="3" name="Picture 2" descr="网络基础知识百问百答初级网络工程师或网络管理员必备-网络,基础知识,百问百答,初级网络工程师,网络 管理员,必备-大势至软件官网-数据防泄密系统,企业防泄密软件,数据防泄漏解决方案,企业数据防泄密,usb端口控制软件,局域网共享文件管理"/>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442" y="1108201"/>
            <a:ext cx="1005150" cy="969252"/>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4"/>
          <a:stretch>
            <a:fillRect/>
          </a:stretch>
        </p:blipFill>
        <p:spPr>
          <a:xfrm>
            <a:off x="3563303" y="1029032"/>
            <a:ext cx="1383937" cy="1066520"/>
          </a:xfrm>
          <a:prstGeom prst="rect">
            <a:avLst/>
          </a:prstGeom>
        </p:spPr>
      </p:pic>
      <p:pic>
        <p:nvPicPr>
          <p:cNvPr id="5" name="Picture 4" descr="Bogon | Rainforest island Wiki | Fand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3898" y="1107437"/>
            <a:ext cx="1366099" cy="10245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GP security: the BGPsec protocol | Noc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1263" y="1294698"/>
            <a:ext cx="1232307" cy="88832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437229" y="2192265"/>
            <a:ext cx="2997838" cy="784830"/>
          </a:xfrm>
          <a:prstGeom prst="rect">
            <a:avLst/>
          </a:prstGeom>
          <a:noFill/>
        </p:spPr>
        <p:txBody>
          <a:bodyPr wrap="square" rtlCol="0">
            <a:spAutoFit/>
          </a:bodyPr>
          <a:lstStyle/>
          <a:p>
            <a:pPr algn="ctr"/>
            <a:r>
              <a:rPr kumimoji="1" lang="zh-CN" altLang="en-US" sz="2000" b="1" dirty="0">
                <a:latin typeface="微软雅黑" panose="020B0503020204020204" pitchFamily="34" charset="-122"/>
                <a:ea typeface="微软雅黑" panose="020B0503020204020204" pitchFamily="34" charset="-122"/>
              </a:rPr>
              <a:t>第一節 </a:t>
            </a:r>
            <a:endParaRPr kumimoji="1" lang="en-US" altLang="zh-CN" sz="2000" b="1" dirty="0">
              <a:latin typeface="微软雅黑" panose="020B0503020204020204" pitchFamily="34" charset="-122"/>
              <a:ea typeface="微软雅黑" panose="020B0503020204020204" pitchFamily="34" charset="-122"/>
            </a:endParaRPr>
          </a:p>
          <a:p>
            <a:pPr algn="ctr">
              <a:spcBef>
                <a:spcPts val="600"/>
              </a:spcBef>
            </a:pPr>
            <a:r>
              <a:rPr kumimoji="1" lang="zh-CN" altLang="en-US" sz="2000" b="1" dirty="0">
                <a:latin typeface="微软雅黑" panose="020B0503020204020204" pitchFamily="34" charset="-122"/>
                <a:ea typeface="微软雅黑" panose="020B0503020204020204" pitchFamily="34" charset="-122"/>
              </a:rPr>
              <a:t>層次化路由體系結構</a:t>
            </a:r>
          </a:p>
        </p:txBody>
      </p:sp>
      <p:sp>
        <p:nvSpPr>
          <p:cNvPr id="9" name="文本框 8"/>
          <p:cNvSpPr txBox="1"/>
          <p:nvPr/>
        </p:nvSpPr>
        <p:spPr>
          <a:xfrm>
            <a:off x="3290135" y="2195723"/>
            <a:ext cx="2090057" cy="784830"/>
          </a:xfrm>
          <a:prstGeom prst="rect">
            <a:avLst/>
          </a:prstGeom>
          <a:noFill/>
        </p:spPr>
        <p:txBody>
          <a:bodyPr wrap="square" rtlCol="0">
            <a:spAutoFit/>
          </a:bodyPr>
          <a:lstStyle/>
          <a:p>
            <a:pPr algn="ctr"/>
            <a:r>
              <a:rPr kumimoji="1" lang="zh-CN" altLang="en-US" sz="2000" b="1" dirty="0">
                <a:latin typeface="微软雅黑" panose="020B0503020204020204" pitchFamily="34" charset="-122"/>
                <a:ea typeface="微软雅黑" panose="020B0503020204020204" pitchFamily="34" charset="-122"/>
              </a:rPr>
              <a:t>第二節 </a:t>
            </a:r>
            <a:endParaRPr kumimoji="1" lang="en-US" altLang="zh-CN" sz="2000" b="1" dirty="0">
              <a:latin typeface="微软雅黑" panose="020B0503020204020204" pitchFamily="34" charset="-122"/>
              <a:ea typeface="微软雅黑" panose="020B0503020204020204" pitchFamily="34" charset="-122"/>
            </a:endParaRPr>
          </a:p>
          <a:p>
            <a:pPr algn="ctr">
              <a:spcBef>
                <a:spcPts val="600"/>
              </a:spcBef>
            </a:pPr>
            <a:r>
              <a:rPr kumimoji="1" lang="zh-CN" altLang="en-US" sz="2000" b="1" dirty="0">
                <a:latin typeface="微软雅黑" panose="020B0503020204020204" pitchFamily="34" charset="-122"/>
                <a:ea typeface="微软雅黑" panose="020B0503020204020204" pitchFamily="34" charset="-122"/>
              </a:rPr>
              <a:t>路由安全問題</a:t>
            </a:r>
          </a:p>
        </p:txBody>
      </p:sp>
      <p:sp>
        <p:nvSpPr>
          <p:cNvPr id="10" name="文本框 9"/>
          <p:cNvSpPr txBox="1"/>
          <p:nvPr/>
        </p:nvSpPr>
        <p:spPr>
          <a:xfrm>
            <a:off x="5405781" y="2192264"/>
            <a:ext cx="2090057" cy="784830"/>
          </a:xfrm>
          <a:prstGeom prst="rect">
            <a:avLst/>
          </a:prstGeom>
          <a:noFill/>
        </p:spPr>
        <p:txBody>
          <a:bodyPr wrap="square" rtlCol="0">
            <a:spAutoFit/>
          </a:bodyPr>
          <a:lstStyle/>
          <a:p>
            <a:pPr algn="ctr"/>
            <a:r>
              <a:rPr kumimoji="1" lang="zh-CN" altLang="en-US" sz="2000" b="1" dirty="0">
                <a:latin typeface="微软雅黑" panose="020B0503020204020204" pitchFamily="34" charset="-122"/>
                <a:ea typeface="微软雅黑" panose="020B0503020204020204" pitchFamily="34" charset="-122"/>
              </a:rPr>
              <a:t>第三節 </a:t>
            </a:r>
            <a:endParaRPr kumimoji="1" lang="en-US" altLang="zh-CN" sz="2000" b="1" dirty="0">
              <a:latin typeface="微软雅黑" panose="020B0503020204020204" pitchFamily="34" charset="-122"/>
              <a:ea typeface="微软雅黑" panose="020B0503020204020204" pitchFamily="34" charset="-122"/>
            </a:endParaRPr>
          </a:p>
          <a:p>
            <a:pPr algn="ctr">
              <a:spcBef>
                <a:spcPts val="600"/>
              </a:spcBef>
            </a:pPr>
            <a:r>
              <a:rPr kumimoji="1" lang="zh-CN" altLang="en-US" sz="2000" b="1" dirty="0">
                <a:latin typeface="微软雅黑" panose="020B0503020204020204" pitchFamily="34" charset="-122"/>
                <a:ea typeface="微软雅黑" panose="020B0503020204020204" pitchFamily="34" charset="-122"/>
              </a:rPr>
              <a:t>路由源驗證</a:t>
            </a:r>
          </a:p>
        </p:txBody>
      </p:sp>
      <p:sp>
        <p:nvSpPr>
          <p:cNvPr id="11" name="文本框 10"/>
          <p:cNvSpPr txBox="1"/>
          <p:nvPr/>
        </p:nvSpPr>
        <p:spPr>
          <a:xfrm>
            <a:off x="7422005" y="2200996"/>
            <a:ext cx="2090057" cy="784830"/>
          </a:xfrm>
          <a:prstGeom prst="rect">
            <a:avLst/>
          </a:prstGeom>
          <a:noFill/>
        </p:spPr>
        <p:txBody>
          <a:bodyPr wrap="square" rtlCol="0">
            <a:spAutoFit/>
          </a:bodyPr>
          <a:lstStyle/>
          <a:p>
            <a:pPr algn="ctr"/>
            <a:r>
              <a:rPr kumimoji="1" lang="zh-CN" altLang="en-US" sz="2000" b="1" dirty="0">
                <a:latin typeface="微软雅黑" panose="020B0503020204020204" pitchFamily="34" charset="-122"/>
                <a:ea typeface="微软雅黑" panose="020B0503020204020204" pitchFamily="34" charset="-122"/>
              </a:rPr>
              <a:t>第四節 </a:t>
            </a:r>
            <a:endParaRPr kumimoji="1" lang="en-US" altLang="zh-CN" sz="2000" b="1" dirty="0">
              <a:latin typeface="微软雅黑" panose="020B0503020204020204" pitchFamily="34" charset="-122"/>
              <a:ea typeface="微软雅黑" panose="020B0503020204020204" pitchFamily="34" charset="-122"/>
            </a:endParaRPr>
          </a:p>
          <a:p>
            <a:pPr algn="ctr">
              <a:spcBef>
                <a:spcPts val="600"/>
              </a:spcBef>
            </a:pPr>
            <a:r>
              <a:rPr kumimoji="1" lang="zh-CN" altLang="en-US" sz="2000" b="1" dirty="0">
                <a:latin typeface="微软雅黑" panose="020B0503020204020204" pitchFamily="34" charset="-122"/>
                <a:ea typeface="微软雅黑" panose="020B0503020204020204" pitchFamily="34" charset="-122"/>
              </a:rPr>
              <a:t>路徑驗證</a:t>
            </a:r>
          </a:p>
        </p:txBody>
      </p:sp>
      <p:sp>
        <p:nvSpPr>
          <p:cNvPr id="12" name="矩形 11"/>
          <p:cNvSpPr/>
          <p:nvPr/>
        </p:nvSpPr>
        <p:spPr bwMode="auto">
          <a:xfrm>
            <a:off x="1088724" y="3103665"/>
            <a:ext cx="1791768" cy="129614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層次化路由</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rPr>
              <a:t>域內路由</a:t>
            </a: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域間路由</a:t>
            </a:r>
            <a:endParaRPr lang="en-US" altLang="zh-CN" sz="2000" b="1" dirty="0">
              <a:solidFill>
                <a:srgbClr val="FF0000"/>
              </a:solidFill>
              <a:latin typeface="微软雅黑" panose="020B0503020204020204" pitchFamily="34" charset="-122"/>
              <a:ea typeface="微软雅黑" panose="020B0503020204020204" pitchFamily="34" charset="-122"/>
            </a:endParaRPr>
          </a:p>
          <a:p>
            <a:pPr>
              <a:lnSpc>
                <a:spcPct val="120000"/>
              </a:lnSpc>
            </a:pP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zh-CN" altLang="en-US" sz="2000" dirty="0">
              <a:solidFill>
                <a:srgbClr val="000000"/>
              </a:solidFill>
              <a:effectLst/>
              <a:latin typeface="微软雅黑" panose="020B0503020204020204" pitchFamily="34" charset="-122"/>
              <a:ea typeface="微软雅黑" panose="020B0503020204020204" pitchFamily="34" charset="-122"/>
            </a:endParaRPr>
          </a:p>
        </p:txBody>
      </p:sp>
      <p:sp>
        <p:nvSpPr>
          <p:cNvPr id="13" name="矩形 12"/>
          <p:cNvSpPr/>
          <p:nvPr/>
        </p:nvSpPr>
        <p:spPr bwMode="auto">
          <a:xfrm>
            <a:off x="3290135" y="3103148"/>
            <a:ext cx="2064995" cy="129614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GB" sz="2000" dirty="0">
                <a:solidFill>
                  <a:srgbClr val="000000"/>
                </a:solidFill>
                <a:effectLst/>
                <a:latin typeface="微软雅黑" panose="020B0503020204020204" pitchFamily="34" charset="-122"/>
                <a:ea typeface="微软雅黑" panose="020B0503020204020204" pitchFamily="34" charset="-122"/>
              </a:rPr>
              <a:t>域內路由</a:t>
            </a:r>
            <a:r>
              <a:rPr lang="zh-CN" altLang="en-US" sz="2000" dirty="0">
                <a:solidFill>
                  <a:srgbClr val="000000"/>
                </a:solidFill>
                <a:effectLst/>
                <a:latin typeface="微软雅黑" panose="020B0503020204020204" pitchFamily="34" charset="-122"/>
                <a:ea typeface="微软雅黑" panose="020B0503020204020204" pitchFamily="34" charset="-122"/>
              </a:rPr>
              <a:t>安全</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域間路由安全</a:t>
            </a:r>
            <a:endParaRPr lang="zh-CN" altLang="en-US" sz="2000" b="1" dirty="0">
              <a:solidFill>
                <a:srgbClr val="FF0000"/>
              </a:solidFill>
              <a:effectLst/>
              <a:latin typeface="微软雅黑" panose="020B0503020204020204" pitchFamily="34" charset="-122"/>
              <a:ea typeface="微软雅黑" panose="020B0503020204020204" pitchFamily="34" charset="-122"/>
            </a:endParaRPr>
          </a:p>
        </p:txBody>
      </p:sp>
      <p:sp>
        <p:nvSpPr>
          <p:cNvPr id="14" name="矩形 13"/>
          <p:cNvSpPr/>
          <p:nvPr/>
        </p:nvSpPr>
        <p:spPr bwMode="auto">
          <a:xfrm>
            <a:off x="5757260" y="3083582"/>
            <a:ext cx="1520729" cy="129614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en-US" altLang="zh-CN" sz="2000" b="1" dirty="0">
                <a:solidFill>
                  <a:srgbClr val="FF0000"/>
                </a:solidFill>
                <a:effectLst/>
                <a:latin typeface="微软雅黑" panose="020B0503020204020204" pitchFamily="34" charset="-122"/>
                <a:ea typeface="微软雅黑" panose="020B0503020204020204" pitchFamily="34" charset="-122"/>
              </a:rPr>
              <a:t>IRR</a:t>
            </a:r>
          </a:p>
          <a:p>
            <a:pPr marL="285750" indent="-285750">
              <a:lnSpc>
                <a:spcPct val="120000"/>
              </a:lnSpc>
              <a:buFont typeface="Arial" panose="020B0604020202020204" pitchFamily="34" charset="0"/>
              <a:buChar char="•"/>
            </a:pPr>
            <a:r>
              <a:rPr lang="en-US" altLang="zh-CN" sz="2000" b="1" dirty="0">
                <a:solidFill>
                  <a:srgbClr val="FF0000"/>
                </a:solidFill>
                <a:latin typeface="微软雅黑" panose="020B0503020204020204" pitchFamily="34" charset="-122"/>
                <a:ea typeface="微软雅黑" panose="020B0503020204020204" pitchFamily="34" charset="-122"/>
              </a:rPr>
              <a:t>RPKI</a:t>
            </a:r>
          </a:p>
          <a:p>
            <a:pPr marL="285750" indent="-285750">
              <a:lnSpc>
                <a:spcPct val="120000"/>
              </a:lnSpc>
              <a:buFont typeface="Arial" panose="020B0604020202020204" pitchFamily="34" charset="0"/>
              <a:buChar char="•"/>
            </a:pPr>
            <a:r>
              <a:rPr lang="en-US" altLang="zh-CN" sz="2000" b="1" dirty="0">
                <a:solidFill>
                  <a:srgbClr val="FF0000"/>
                </a:solidFill>
                <a:effectLst/>
                <a:latin typeface="微软雅黑" panose="020B0503020204020204" pitchFamily="34" charset="-122"/>
                <a:ea typeface="微软雅黑" panose="020B0503020204020204" pitchFamily="34" charset="-122"/>
              </a:rPr>
              <a:t>MANRS</a:t>
            </a:r>
          </a:p>
        </p:txBody>
      </p:sp>
      <p:sp>
        <p:nvSpPr>
          <p:cNvPr id="15" name="矩形 14"/>
          <p:cNvSpPr/>
          <p:nvPr/>
        </p:nvSpPr>
        <p:spPr bwMode="auto">
          <a:xfrm>
            <a:off x="7693863" y="3095856"/>
            <a:ext cx="1456333" cy="129614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en-US" altLang="zh-CN" b="1" dirty="0">
                <a:solidFill>
                  <a:srgbClr val="FF0000"/>
                </a:solidFill>
                <a:effectLst/>
                <a:latin typeface="微软雅黑" panose="020B0503020204020204" pitchFamily="34" charset="-122"/>
                <a:ea typeface="微软雅黑" panose="020B0503020204020204" pitchFamily="34" charset="-122"/>
              </a:rPr>
              <a:t>BGPsec</a:t>
            </a:r>
          </a:p>
          <a:p>
            <a:pPr marL="285750" indent="-285750">
              <a:lnSpc>
                <a:spcPct val="120000"/>
              </a:lnSpc>
              <a:buFont typeface="Arial" panose="020B0604020202020204" pitchFamily="34" charset="0"/>
              <a:buChar char="•"/>
            </a:pPr>
            <a:r>
              <a:rPr lang="en-US" altLang="zh-CN" sz="2000" dirty="0">
                <a:solidFill>
                  <a:srgbClr val="000000"/>
                </a:solidFill>
                <a:effectLst/>
                <a:latin typeface="微软雅黑" panose="020B0503020204020204" pitchFamily="34" charset="-122"/>
                <a:ea typeface="微软雅黑" panose="020B0503020204020204" pitchFamily="34" charset="-122"/>
              </a:rPr>
              <a:t>FCBGP</a:t>
            </a:r>
            <a:endParaRPr lang="zh-CN" altLang="en-US" sz="2000" dirty="0">
              <a:solidFill>
                <a:srgbClr val="000000"/>
              </a:solidFill>
              <a:effectLst/>
              <a:latin typeface="微软雅黑" panose="020B0503020204020204" pitchFamily="34" charset="-122"/>
              <a:ea typeface="微软雅黑" panose="020B0503020204020204" pitchFamily="34" charset="-122"/>
            </a:endParaRPr>
          </a:p>
        </p:txBody>
      </p:sp>
      <p:sp>
        <p:nvSpPr>
          <p:cNvPr id="18" name="矩形 17"/>
          <p:cNvSpPr/>
          <p:nvPr/>
        </p:nvSpPr>
        <p:spPr bwMode="auto">
          <a:xfrm>
            <a:off x="1088724" y="4831857"/>
            <a:ext cx="1791768" cy="784830"/>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000" dirty="0">
                <a:latin typeface="微软雅黑" panose="020B0503020204020204" pitchFamily="34" charset="-122"/>
                <a:ea typeface="微软雅黑" panose="020B0503020204020204" pitchFamily="34" charset="-122"/>
              </a:rPr>
              <a:t>全球路由系統</a:t>
            </a:r>
            <a:br>
              <a:rPr kumimoji="1" lang="en-US" altLang="zh-CN" sz="2000" dirty="0">
                <a:latin typeface="微软雅黑" panose="020B0503020204020204" pitchFamily="34" charset="-122"/>
                <a:ea typeface="微软雅黑" panose="020B0503020204020204" pitchFamily="34" charset="-122"/>
              </a:rPr>
            </a:br>
            <a:r>
              <a:rPr kumimoji="1" lang="zh-CN" altLang="en-US" sz="2000" dirty="0">
                <a:latin typeface="微软雅黑" panose="020B0503020204020204" pitchFamily="34" charset="-122"/>
                <a:ea typeface="微软雅黑" panose="020B0503020204020204" pitchFamily="34" charset="-122"/>
              </a:rPr>
              <a:t>如何工作？</a:t>
            </a:r>
          </a:p>
        </p:txBody>
      </p:sp>
      <p:sp>
        <p:nvSpPr>
          <p:cNvPr id="19" name="矩形 18"/>
          <p:cNvSpPr/>
          <p:nvPr/>
        </p:nvSpPr>
        <p:spPr bwMode="auto">
          <a:xfrm>
            <a:off x="3252239" y="4831857"/>
            <a:ext cx="2139959" cy="784830"/>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000" dirty="0">
                <a:latin typeface="微软雅黑" panose="020B0503020204020204" pitchFamily="34" charset="-122"/>
                <a:ea typeface="微软雅黑" panose="020B0503020204020204" pitchFamily="34" charset="-122"/>
              </a:rPr>
              <a:t>路由系統存在</a:t>
            </a:r>
            <a:br>
              <a:rPr kumimoji="1" lang="en-US" altLang="zh-CN" sz="2000" dirty="0">
                <a:latin typeface="微软雅黑" panose="020B0503020204020204" pitchFamily="34" charset="-122"/>
                <a:ea typeface="微软雅黑" panose="020B0503020204020204" pitchFamily="34" charset="-122"/>
              </a:rPr>
            </a:br>
            <a:r>
              <a:rPr kumimoji="1" lang="zh-CN" altLang="en-US" sz="2000" dirty="0">
                <a:latin typeface="微软雅黑" panose="020B0503020204020204" pitchFamily="34" charset="-122"/>
                <a:ea typeface="微软雅黑" panose="020B0503020204020204" pitchFamily="34" charset="-122"/>
              </a:rPr>
              <a:t>什麽安全問題？</a:t>
            </a:r>
          </a:p>
        </p:txBody>
      </p:sp>
      <p:sp>
        <p:nvSpPr>
          <p:cNvPr id="20" name="矩形 19"/>
          <p:cNvSpPr/>
          <p:nvPr/>
        </p:nvSpPr>
        <p:spPr bwMode="auto">
          <a:xfrm>
            <a:off x="5757260" y="4812212"/>
            <a:ext cx="1520729" cy="784830"/>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000" dirty="0">
                <a:latin typeface="微软雅黑" panose="020B0503020204020204" pitchFamily="34" charset="-122"/>
                <a:ea typeface="微软雅黑" panose="020B0503020204020204" pitchFamily="34" charset="-122"/>
              </a:rPr>
              <a:t>路由源劫持</a:t>
            </a:r>
            <a:br>
              <a:rPr kumimoji="1" lang="en-US" altLang="zh-CN" sz="2000" dirty="0">
                <a:latin typeface="微软雅黑" panose="020B0503020204020204" pitchFamily="34" charset="-122"/>
                <a:ea typeface="微软雅黑" panose="020B0503020204020204" pitchFamily="34" charset="-122"/>
              </a:rPr>
            </a:br>
            <a:r>
              <a:rPr kumimoji="1" lang="zh-CN" altLang="en-US" sz="2000" dirty="0">
                <a:latin typeface="微软雅黑" panose="020B0503020204020204" pitchFamily="34" charset="-122"/>
                <a:ea typeface="微软雅黑" panose="020B0503020204020204" pitchFamily="34" charset="-122"/>
              </a:rPr>
              <a:t>如何防禦</a:t>
            </a:r>
          </a:p>
        </p:txBody>
      </p:sp>
      <p:sp>
        <p:nvSpPr>
          <p:cNvPr id="21" name="矩形 20"/>
          <p:cNvSpPr/>
          <p:nvPr/>
        </p:nvSpPr>
        <p:spPr bwMode="auto">
          <a:xfrm>
            <a:off x="7706622" y="4812212"/>
            <a:ext cx="1456333" cy="784830"/>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000" dirty="0">
                <a:latin typeface="微软雅黑" panose="020B0503020204020204" pitchFamily="34" charset="-122"/>
                <a:ea typeface="微软雅黑" panose="020B0503020204020204" pitchFamily="34" charset="-122"/>
              </a:rPr>
              <a:t>路徑劫持</a:t>
            </a:r>
            <a:br>
              <a:rPr kumimoji="1" lang="en-US" altLang="zh-CN" sz="2000" dirty="0">
                <a:latin typeface="微软雅黑" panose="020B0503020204020204" pitchFamily="34" charset="-122"/>
                <a:ea typeface="微软雅黑" panose="020B0503020204020204" pitchFamily="34" charset="-122"/>
              </a:rPr>
            </a:br>
            <a:r>
              <a:rPr kumimoji="1" lang="zh-CN" altLang="en-US" sz="2000" dirty="0">
                <a:latin typeface="微软雅黑" panose="020B0503020204020204" pitchFamily="34" charset="-122"/>
                <a:ea typeface="微软雅黑" panose="020B0503020204020204" pitchFamily="34" charset="-122"/>
              </a:rPr>
              <a:t>如何防禦</a:t>
            </a:r>
          </a:p>
        </p:txBody>
      </p:sp>
      <p:cxnSp>
        <p:nvCxnSpPr>
          <p:cNvPr id="22" name="直接箭头连接符 33"/>
          <p:cNvCxnSpPr/>
          <p:nvPr/>
        </p:nvCxnSpPr>
        <p:spPr>
          <a:xfrm>
            <a:off x="2885501" y="3751736"/>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33"/>
          <p:cNvCxnSpPr/>
          <p:nvPr/>
        </p:nvCxnSpPr>
        <p:spPr>
          <a:xfrm>
            <a:off x="5357867" y="3751736"/>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33"/>
          <p:cNvCxnSpPr/>
          <p:nvPr/>
        </p:nvCxnSpPr>
        <p:spPr>
          <a:xfrm>
            <a:off x="7277989" y="3751736"/>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33"/>
          <p:cNvCxnSpPr>
            <a:stCxn id="12" idx="2"/>
            <a:endCxn id="18" idx="0"/>
          </p:cNvCxnSpPr>
          <p:nvPr/>
        </p:nvCxnSpPr>
        <p:spPr>
          <a:xfrm>
            <a:off x="1984608" y="4399809"/>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33"/>
          <p:cNvCxnSpPr>
            <a:stCxn id="13" idx="2"/>
            <a:endCxn id="19" idx="0"/>
          </p:cNvCxnSpPr>
          <p:nvPr/>
        </p:nvCxnSpPr>
        <p:spPr>
          <a:xfrm flipH="1">
            <a:off x="4322219" y="4399292"/>
            <a:ext cx="414" cy="4325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3"/>
          <p:cNvCxnSpPr>
            <a:stCxn id="14" idx="2"/>
            <a:endCxn id="20" idx="0"/>
          </p:cNvCxnSpPr>
          <p:nvPr/>
        </p:nvCxnSpPr>
        <p:spPr>
          <a:xfrm>
            <a:off x="6517625" y="4379726"/>
            <a:ext cx="0" cy="4324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3"/>
          <p:cNvCxnSpPr>
            <a:cxnSpLocks/>
            <a:stCxn id="15" idx="2"/>
            <a:endCxn id="21" idx="0"/>
          </p:cNvCxnSpPr>
          <p:nvPr/>
        </p:nvCxnSpPr>
        <p:spPr>
          <a:xfrm>
            <a:off x="8422030" y="4392000"/>
            <a:ext cx="12759" cy="4202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任意多边形: 形状 25"/>
          <p:cNvSpPr/>
          <p:nvPr/>
        </p:nvSpPr>
        <p:spPr>
          <a:xfrm flipH="1">
            <a:off x="1949397" y="5616687"/>
            <a:ext cx="2373236" cy="476267"/>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任意多边形: 形状 25"/>
          <p:cNvSpPr/>
          <p:nvPr/>
        </p:nvSpPr>
        <p:spPr>
          <a:xfrm flipH="1">
            <a:off x="8422029" y="5605200"/>
            <a:ext cx="1934411" cy="48293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任意多边形: 形状 25"/>
          <p:cNvSpPr/>
          <p:nvPr/>
        </p:nvSpPr>
        <p:spPr>
          <a:xfrm flipH="1">
            <a:off x="4325661" y="5611430"/>
            <a:ext cx="2196165" cy="47626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框 40"/>
          <p:cNvSpPr txBox="1"/>
          <p:nvPr/>
        </p:nvSpPr>
        <p:spPr>
          <a:xfrm>
            <a:off x="1122240" y="6107338"/>
            <a:ext cx="426995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全球路由系統各層次存在的安全問題</a:t>
            </a:r>
          </a:p>
        </p:txBody>
      </p:sp>
      <p:sp>
        <p:nvSpPr>
          <p:cNvPr id="42" name="文本框 41"/>
          <p:cNvSpPr txBox="1"/>
          <p:nvPr/>
        </p:nvSpPr>
        <p:spPr>
          <a:xfrm>
            <a:off x="6838783" y="6125234"/>
            <a:ext cx="487384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rgbClr val="000000"/>
                </a:solidFill>
                <a:latin typeface="微软雅黑" panose="020B0503020204020204" pitchFamily="34" charset="-122"/>
                <a:ea typeface="微软雅黑" panose="020B0503020204020204" pitchFamily="34" charset="-122"/>
              </a:rPr>
              <a:t>解决安全相關問題，構建更强健路由系統</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42"/>
          <p:cNvSpPr/>
          <p:nvPr/>
        </p:nvSpPr>
        <p:spPr bwMode="auto">
          <a:xfrm>
            <a:off x="9566070" y="3081754"/>
            <a:ext cx="1600351" cy="129614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en-US" altLang="zh-CN" sz="2000" dirty="0">
                <a:solidFill>
                  <a:srgbClr val="000000"/>
                </a:solidFill>
                <a:effectLst/>
                <a:latin typeface="微软雅黑" panose="020B0503020204020204" pitchFamily="34" charset="-122"/>
                <a:ea typeface="微软雅黑" panose="020B0503020204020204" pitchFamily="34" charset="-122"/>
              </a:rPr>
              <a:t>OTC</a:t>
            </a: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en-US" altLang="zh-CN" sz="2000" dirty="0">
                <a:solidFill>
                  <a:srgbClr val="000000"/>
                </a:solidFill>
                <a:effectLst/>
                <a:latin typeface="微软雅黑" panose="020B0503020204020204" pitchFamily="34" charset="-122"/>
                <a:ea typeface="微软雅黑" panose="020B0503020204020204" pitchFamily="34" charset="-122"/>
              </a:rPr>
              <a:t>BEAM</a:t>
            </a:r>
            <a:endParaRPr lang="zh-CN" altLang="en-US" sz="2000" dirty="0">
              <a:solidFill>
                <a:srgbClr val="000000"/>
              </a:solidFill>
              <a:effectLst/>
              <a:latin typeface="微软雅黑" panose="020B0503020204020204" pitchFamily="34" charset="-122"/>
              <a:ea typeface="微软雅黑" panose="020B0503020204020204" pitchFamily="34" charset="-122"/>
            </a:endParaRPr>
          </a:p>
        </p:txBody>
      </p:sp>
      <p:cxnSp>
        <p:nvCxnSpPr>
          <p:cNvPr id="44" name="直接箭头连接符 33"/>
          <p:cNvCxnSpPr/>
          <p:nvPr/>
        </p:nvCxnSpPr>
        <p:spPr>
          <a:xfrm>
            <a:off x="9150196" y="3737634"/>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9321216" y="2183018"/>
            <a:ext cx="2090057" cy="784830"/>
          </a:xfrm>
          <a:prstGeom prst="rect">
            <a:avLst/>
          </a:prstGeom>
          <a:noFill/>
        </p:spPr>
        <p:txBody>
          <a:bodyPr wrap="square" rtlCol="0">
            <a:spAutoFit/>
          </a:bodyPr>
          <a:lstStyle/>
          <a:p>
            <a:pPr algn="ctr"/>
            <a:r>
              <a:rPr kumimoji="1" lang="zh-CN" altLang="en-US" sz="2000" b="1" dirty="0">
                <a:latin typeface="微软雅黑" panose="020B0503020204020204" pitchFamily="34" charset="-122"/>
                <a:ea typeface="微软雅黑" panose="020B0503020204020204" pitchFamily="34" charset="-122"/>
              </a:rPr>
              <a:t>第五節 </a:t>
            </a:r>
            <a:endParaRPr kumimoji="1" lang="en-US" altLang="zh-CN" sz="2000" b="1" dirty="0">
              <a:latin typeface="微软雅黑" panose="020B0503020204020204" pitchFamily="34" charset="-122"/>
              <a:ea typeface="微软雅黑" panose="020B0503020204020204" pitchFamily="34" charset="-122"/>
            </a:endParaRPr>
          </a:p>
          <a:p>
            <a:pPr algn="ctr">
              <a:spcBef>
                <a:spcPts val="600"/>
              </a:spcBef>
            </a:pPr>
            <a:r>
              <a:rPr kumimoji="1" lang="zh-CN" altLang="en-US" sz="2000" b="1" dirty="0">
                <a:latin typeface="微软雅黑" panose="020B0503020204020204" pitchFamily="34" charset="-122"/>
                <a:ea typeface="微软雅黑" panose="020B0503020204020204" pitchFamily="34" charset="-122"/>
              </a:rPr>
              <a:t>惡意路由檢測</a:t>
            </a:r>
          </a:p>
        </p:txBody>
      </p:sp>
      <p:sp>
        <p:nvSpPr>
          <p:cNvPr id="46" name="矩形 45"/>
          <p:cNvSpPr/>
          <p:nvPr/>
        </p:nvSpPr>
        <p:spPr bwMode="auto">
          <a:xfrm>
            <a:off x="9654253" y="4809562"/>
            <a:ext cx="1456333" cy="784830"/>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000" dirty="0">
                <a:latin typeface="微软雅黑" panose="020B0503020204020204" pitchFamily="34" charset="-122"/>
                <a:ea typeface="微软雅黑" panose="020B0503020204020204" pitchFamily="34" charset="-122"/>
              </a:rPr>
              <a:t>泄露劫持</a:t>
            </a:r>
            <a:br>
              <a:rPr kumimoji="1" lang="en-US" altLang="zh-CN" sz="2000" dirty="0">
                <a:latin typeface="微软雅黑" panose="020B0503020204020204" pitchFamily="34" charset="-122"/>
                <a:ea typeface="微软雅黑" panose="020B0503020204020204" pitchFamily="34" charset="-122"/>
              </a:rPr>
            </a:br>
            <a:r>
              <a:rPr kumimoji="1" lang="zh-CN" altLang="en-US" sz="2000" dirty="0">
                <a:latin typeface="微软雅黑" panose="020B0503020204020204" pitchFamily="34" charset="-122"/>
                <a:ea typeface="微软雅黑" panose="020B0503020204020204" pitchFamily="34" charset="-122"/>
              </a:rPr>
              <a:t>如何檢測</a:t>
            </a:r>
          </a:p>
        </p:txBody>
      </p:sp>
      <p:sp>
        <p:nvSpPr>
          <p:cNvPr id="47" name="任意多边形: 形状 25"/>
          <p:cNvSpPr/>
          <p:nvPr/>
        </p:nvSpPr>
        <p:spPr>
          <a:xfrm flipH="1">
            <a:off x="6517624" y="5612400"/>
            <a:ext cx="1904400" cy="47626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8" name="直接箭头连接符 33"/>
          <p:cNvCxnSpPr/>
          <p:nvPr/>
        </p:nvCxnSpPr>
        <p:spPr>
          <a:xfrm>
            <a:off x="10356440" y="4377076"/>
            <a:ext cx="0" cy="4324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6" descr="Types Of Cybersecurity Threats Clipart (726x500), Png Download"/>
          <p:cNvPicPr>
            <a:picLocks noChangeAspect="1" noChangeArrowheads="1"/>
          </p:cNvPicPr>
          <p:nvPr/>
        </p:nvPicPr>
        <p:blipFill>
          <a:blip r:embed="rId7"/>
          <a:srcRect/>
          <a:stretch>
            <a:fillRect/>
          </a:stretch>
        </p:blipFill>
        <p:spPr bwMode="auto">
          <a:xfrm>
            <a:off x="9942285" y="1260654"/>
            <a:ext cx="936104" cy="8982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469260" y="2415601"/>
            <a:ext cx="2287732" cy="11953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的演進 </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 altLang="zh-CN" b="1" dirty="0">
                <a:solidFill>
                  <a:srgbClr val="FF0000"/>
                </a:solidFill>
                <a:latin typeface="Microsoft YaHei" panose="020B0503020204020204" pitchFamily="34" charset="-122"/>
                <a:ea typeface="Microsoft YaHei" panose="020B0503020204020204" pitchFamily="34" charset="-122"/>
              </a:rPr>
              <a:t>DNS</a:t>
            </a:r>
            <a:r>
              <a:rPr lang="zh-CN" altLang="en" b="1" dirty="0">
                <a:solidFill>
                  <a:srgbClr val="FF0000"/>
                </a:solidFill>
                <a:latin typeface="Microsoft YaHei" panose="020B0503020204020204" pitchFamily="34" charset="-122"/>
                <a:ea typeface="Microsoft YaHei" panose="020B0503020204020204" pitchFamily="34" charset="-122"/>
              </a:rPr>
              <a:t>域名結構</a:t>
            </a:r>
            <a:r>
              <a:rPr lang="zh-CN" altLang="en-US" b="1" dirty="0">
                <a:solidFill>
                  <a:srgbClr val="FF0000"/>
                </a:solidFill>
                <a:latin typeface="Microsoft YaHei" panose="020B0503020204020204" pitchFamily="34" charset="-122"/>
                <a:ea typeface="Microsoft YaHei" panose="020B0503020204020204" pitchFamily="34" charset="-122"/>
              </a:rPr>
              <a:t>及區域組織形式 </a:t>
            </a:r>
            <a:endParaRPr lang="en-US" altLang="zh-CN" b="1" dirty="0">
              <a:solidFill>
                <a:srgbClr val="FF0000"/>
              </a:solidFill>
              <a:latin typeface="Microsoft YaHei" panose="020B0503020204020204" pitchFamily="34" charset="-122"/>
              <a:ea typeface="Microsoft YaHei" panose="020B0503020204020204" pitchFamily="34" charset="-122"/>
            </a:endParaRPr>
          </a:p>
        </p:txBody>
      </p:sp>
      <p:sp>
        <p:nvSpPr>
          <p:cNvPr id="2" name="标题 1"/>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10</a:t>
            </a:r>
            <a:r>
              <a:rPr kumimoji="1" lang="zh-CN" altLang="en-US" dirty="0">
                <a:solidFill>
                  <a:schemeClr val="tx1"/>
                </a:solidFill>
              </a:rPr>
              <a:t>章 </a:t>
            </a:r>
            <a:r>
              <a:rPr kumimoji="1" lang="en-US" altLang="zh-CN" dirty="0">
                <a:solidFill>
                  <a:schemeClr val="tx1"/>
                </a:solidFill>
              </a:rPr>
              <a:t>DNS</a:t>
            </a:r>
            <a:r>
              <a:rPr kumimoji="1" lang="zh-CN" altLang="en-US" dirty="0">
                <a:solidFill>
                  <a:schemeClr val="tx1"/>
                </a:solidFill>
              </a:rPr>
              <a:t>安全</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4609915" y="3470826"/>
            <a:ext cx="3090474" cy="1195316"/>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b="1" dirty="0">
                <a:solidFill>
                  <a:srgbClr val="FF0000"/>
                </a:solidFill>
                <a:latin typeface="Microsoft YaHei" panose="020B0503020204020204" pitchFamily="34" charset="-122"/>
                <a:ea typeface="Microsoft YaHei" panose="020B0503020204020204" pitchFamily="34" charset="-122"/>
              </a:rPr>
              <a:t>緩存中毒攻擊 </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b="1" dirty="0">
                <a:solidFill>
                  <a:srgbClr val="FF0000"/>
                </a:solidFill>
                <a:latin typeface="Microsoft YaHei" panose="020B0503020204020204" pitchFamily="34" charset="-122"/>
                <a:ea typeface="Microsoft YaHei" panose="020B0503020204020204" pitchFamily="34" charset="-122"/>
              </a:rPr>
              <a:t>惡意</a:t>
            </a:r>
            <a:r>
              <a:rPr lang="en-US" altLang="zh-CN" b="1" dirty="0">
                <a:solidFill>
                  <a:srgbClr val="FF0000"/>
                </a:solidFill>
                <a:latin typeface="Microsoft YaHei" panose="020B0503020204020204" pitchFamily="34" charset="-122"/>
                <a:ea typeface="Microsoft YaHei" panose="020B0503020204020204" pitchFamily="34" charset="-122"/>
              </a:rPr>
              <a:t>DNS</a:t>
            </a:r>
            <a:r>
              <a:rPr lang="zh-CN" altLang="en-US" b="1" dirty="0">
                <a:solidFill>
                  <a:srgbClr val="FF0000"/>
                </a:solidFill>
                <a:latin typeface="Microsoft YaHei" panose="020B0503020204020204" pitchFamily="34" charset="-122"/>
                <a:ea typeface="Microsoft YaHei" panose="020B0503020204020204" pitchFamily="34" charset="-122"/>
              </a:rPr>
              <a:t>服務器回復僞造</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b="1" dirty="0">
                <a:solidFill>
                  <a:srgbClr val="FF0000"/>
                </a:solidFill>
                <a:latin typeface="Microsoft YaHei" panose="020B0503020204020204" pitchFamily="34" charset="-122"/>
                <a:ea typeface="Microsoft YaHei" panose="020B0503020204020204" pitchFamily="34" charset="-122"/>
              </a:rPr>
              <a:t>拒絕服務攻擊</a:t>
            </a:r>
          </a:p>
        </p:txBody>
      </p:sp>
      <p:sp>
        <p:nvSpPr>
          <p:cNvPr id="22" name="文本框 21">
            <a:extLst>
              <a:ext uri="{FF2B5EF4-FFF2-40B4-BE49-F238E27FC236}">
                <a16:creationId xmlns:a16="http://schemas.microsoft.com/office/drawing/2014/main" id="{CE1694C8-0F08-6A45-8925-6B92183E05E7}"/>
              </a:ext>
            </a:extLst>
          </p:cNvPr>
          <p:cNvSpPr txBox="1"/>
          <p:nvPr/>
        </p:nvSpPr>
        <p:spPr>
          <a:xfrm>
            <a:off x="628388" y="1669023"/>
            <a:ext cx="19694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概述</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5101484" y="2723528"/>
            <a:ext cx="212971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19">
            <a:extLst>
              <a:ext uri="{FF2B5EF4-FFF2-40B4-BE49-F238E27FC236}">
                <a16:creationId xmlns:a16="http://schemas.microsoft.com/office/drawing/2014/main" id="{98F7BED7-6D62-69CA-481C-1E301DE3A1B8}"/>
              </a:ext>
            </a:extLst>
          </p:cNvPr>
          <p:cNvSpPr>
            <a:spLocks/>
          </p:cNvSpPr>
          <p:nvPr/>
        </p:nvSpPr>
        <p:spPr bwMode="auto">
          <a:xfrm>
            <a:off x="469260" y="5509098"/>
            <a:ext cx="2287732" cy="11939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使用</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indent="-285750">
              <a:lnSpc>
                <a:spcPct val="120000"/>
              </a:lnSpc>
              <a:buFont typeface="Arial" panose="020B0604020202020204" pitchFamily="34" charset="0"/>
              <a:buChar char="•"/>
              <a:defRPr/>
            </a:pPr>
            <a:r>
              <a:rPr lang="en-US" altLang="zh-CN" b="1" dirty="0">
                <a:solidFill>
                  <a:srgbClr val="FF0000"/>
                </a:solidFill>
                <a:latin typeface="Microsoft YaHei" panose="020B0503020204020204" pitchFamily="34" charset="-122"/>
                <a:ea typeface="Microsoft YaHei" panose="020B0503020204020204" pitchFamily="34" charset="-122"/>
              </a:rPr>
              <a:t>DNS</a:t>
            </a:r>
            <a:r>
              <a:rPr lang="zh-CN" altLang="en-US" b="1" dirty="0">
                <a:solidFill>
                  <a:srgbClr val="FF0000"/>
                </a:solidFill>
                <a:latin typeface="Microsoft YaHei" panose="020B0503020204020204" pitchFamily="34" charset="-122"/>
                <a:ea typeface="Microsoft YaHei" panose="020B0503020204020204" pitchFamily="34" charset="-122"/>
              </a:rPr>
              <a:t>解析過程</a:t>
            </a:r>
          </a:p>
        </p:txBody>
      </p:sp>
      <p:sp>
        <p:nvSpPr>
          <p:cNvPr id="6" name="文本框 22">
            <a:extLst>
              <a:ext uri="{FF2B5EF4-FFF2-40B4-BE49-F238E27FC236}">
                <a16:creationId xmlns:a16="http://schemas.microsoft.com/office/drawing/2014/main" id="{573B10FE-4F8F-8594-3D03-90585F45FFB3}"/>
              </a:ext>
            </a:extLst>
          </p:cNvPr>
          <p:cNvSpPr txBox="1"/>
          <p:nvPr/>
        </p:nvSpPr>
        <p:spPr>
          <a:xfrm>
            <a:off x="298167" y="4729514"/>
            <a:ext cx="253485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使用及解析過程</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20">
            <a:extLst>
              <a:ext uri="{FF2B5EF4-FFF2-40B4-BE49-F238E27FC236}">
                <a16:creationId xmlns:a16="http://schemas.microsoft.com/office/drawing/2014/main" id="{6CD616E2-7B30-BD18-7B01-0FE7D9161F9E}"/>
              </a:ext>
            </a:extLst>
          </p:cNvPr>
          <p:cNvSpPr>
            <a:spLocks/>
          </p:cNvSpPr>
          <p:nvPr/>
        </p:nvSpPr>
        <p:spPr bwMode="auto">
          <a:xfrm>
            <a:off x="9416914" y="3470827"/>
            <a:ext cx="2316647" cy="11953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defRPr/>
            </a:pPr>
            <a:r>
              <a:rPr lang="zh-CN" altLang="en-US" b="1" dirty="0">
                <a:solidFill>
                  <a:srgbClr val="FF0000"/>
                </a:solidFill>
                <a:latin typeface="Microsoft YaHei" panose="020B0503020204020204" pitchFamily="34" charset="-122"/>
                <a:ea typeface="Microsoft YaHei" panose="020B0503020204020204" pitchFamily="34" charset="-122"/>
              </a:rPr>
              <a:t>基于密碼技術 </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defRPr/>
            </a:pPr>
            <a:r>
              <a:rPr lang="zh-CN" altLang="en-US" b="1" dirty="0">
                <a:solidFill>
                  <a:srgbClr val="FF0000"/>
                </a:solidFill>
                <a:latin typeface="Microsoft YaHei" panose="020B0503020204020204" pitchFamily="34" charset="-122"/>
                <a:ea typeface="Microsoft YaHei" panose="020B0503020204020204" pitchFamily="34" charset="-122"/>
              </a:rPr>
              <a:t>基于系統管理</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defRPr/>
            </a:pPr>
            <a:r>
              <a:rPr lang="zh-CN" altLang="en-US" b="1" dirty="0">
                <a:solidFill>
                  <a:srgbClr val="FF0000"/>
                </a:solidFill>
                <a:latin typeface="Microsoft YaHei" panose="020B0503020204020204" pitchFamily="34" charset="-122"/>
                <a:ea typeface="Microsoft YaHei" panose="020B0503020204020204" pitchFamily="34" charset="-122"/>
              </a:rPr>
              <a:t>新型架構設計</a:t>
            </a:r>
          </a:p>
        </p:txBody>
      </p:sp>
      <p:sp>
        <p:nvSpPr>
          <p:cNvPr id="14" name="文本框 23">
            <a:extLst>
              <a:ext uri="{FF2B5EF4-FFF2-40B4-BE49-F238E27FC236}">
                <a16:creationId xmlns:a16="http://schemas.microsoft.com/office/drawing/2014/main" id="{556E412B-A610-6AB1-4299-20CE8AA06E5E}"/>
              </a:ext>
            </a:extLst>
          </p:cNvPr>
          <p:cNvSpPr txBox="1"/>
          <p:nvPr/>
        </p:nvSpPr>
        <p:spPr>
          <a:xfrm>
            <a:off x="9505293" y="2723529"/>
            <a:ext cx="231664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第四節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攻擊預防策略</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Rectangle 43">
            <a:extLst>
              <a:ext uri="{FF2B5EF4-FFF2-40B4-BE49-F238E27FC236}">
                <a16:creationId xmlns:a16="http://schemas.microsoft.com/office/drawing/2014/main" id="{D03EF8EB-C72B-3261-E10C-ABA13CB251C3}"/>
              </a:ext>
            </a:extLst>
          </p:cNvPr>
          <p:cNvSpPr/>
          <p:nvPr/>
        </p:nvSpPr>
        <p:spPr>
          <a:xfrm>
            <a:off x="324092" y="881513"/>
            <a:ext cx="2534856" cy="5922289"/>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5" name="Rectangle 44">
            <a:extLst>
              <a:ext uri="{FF2B5EF4-FFF2-40B4-BE49-F238E27FC236}">
                <a16:creationId xmlns:a16="http://schemas.microsoft.com/office/drawing/2014/main" id="{AEBDD238-B59F-1488-6AE7-D1F052BA5EC6}"/>
              </a:ext>
            </a:extLst>
          </p:cNvPr>
          <p:cNvSpPr/>
          <p:nvPr/>
        </p:nvSpPr>
        <p:spPr>
          <a:xfrm>
            <a:off x="4493559" y="881513"/>
            <a:ext cx="3296204" cy="5922290"/>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49" name="Straight Arrow Connector 48">
            <a:extLst>
              <a:ext uri="{FF2B5EF4-FFF2-40B4-BE49-F238E27FC236}">
                <a16:creationId xmlns:a16="http://schemas.microsoft.com/office/drawing/2014/main" id="{C064FF88-855F-0593-633A-B21EA03C484E}"/>
              </a:ext>
            </a:extLst>
          </p:cNvPr>
          <p:cNvCxnSpPr>
            <a:cxnSpLocks/>
            <a:stCxn id="44" idx="3"/>
            <a:endCxn id="45" idx="1"/>
          </p:cNvCxnSpPr>
          <p:nvPr/>
        </p:nvCxnSpPr>
        <p:spPr>
          <a:xfrm>
            <a:off x="2858948" y="3842658"/>
            <a:ext cx="16346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A5DFEE9-FDFD-5903-70FD-20FA01B22D87}"/>
              </a:ext>
            </a:extLst>
          </p:cNvPr>
          <p:cNvCxnSpPr>
            <a:cxnSpLocks/>
            <a:stCxn id="45" idx="3"/>
            <a:endCxn id="61" idx="1"/>
          </p:cNvCxnSpPr>
          <p:nvPr/>
        </p:nvCxnSpPr>
        <p:spPr>
          <a:xfrm>
            <a:off x="7789763" y="3842658"/>
            <a:ext cx="1537777" cy="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35">
            <a:extLst>
              <a:ext uri="{FF2B5EF4-FFF2-40B4-BE49-F238E27FC236}">
                <a16:creationId xmlns:a16="http://schemas.microsoft.com/office/drawing/2014/main" id="{A7EEF1BD-AAB7-2E00-8F48-1EDCC87F5920}"/>
              </a:ext>
            </a:extLst>
          </p:cNvPr>
          <p:cNvSpPr>
            <a:spLocks/>
          </p:cNvSpPr>
          <p:nvPr/>
        </p:nvSpPr>
        <p:spPr bwMode="auto">
          <a:xfrm>
            <a:off x="3069245" y="3044503"/>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熟悉</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運行原理</a:t>
            </a:r>
          </a:p>
        </p:txBody>
      </p:sp>
      <p:sp>
        <p:nvSpPr>
          <p:cNvPr id="54" name="矩形 35">
            <a:extLst>
              <a:ext uri="{FF2B5EF4-FFF2-40B4-BE49-F238E27FC236}">
                <a16:creationId xmlns:a16="http://schemas.microsoft.com/office/drawing/2014/main" id="{8F6751B3-A642-E4D1-1381-1145C94ECF42}"/>
              </a:ext>
            </a:extLst>
          </p:cNvPr>
          <p:cNvSpPr>
            <a:spLocks/>
          </p:cNvSpPr>
          <p:nvPr/>
        </p:nvSpPr>
        <p:spPr bwMode="auto">
          <a:xfrm>
            <a:off x="3069245" y="4046237"/>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思考</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安全問題</a:t>
            </a:r>
          </a:p>
        </p:txBody>
      </p:sp>
      <p:sp>
        <p:nvSpPr>
          <p:cNvPr id="55" name="矩形 35">
            <a:extLst>
              <a:ext uri="{FF2B5EF4-FFF2-40B4-BE49-F238E27FC236}">
                <a16:creationId xmlns:a16="http://schemas.microsoft.com/office/drawing/2014/main" id="{582CE081-191C-78AD-C942-924BB8560060}"/>
              </a:ext>
            </a:extLst>
          </p:cNvPr>
          <p:cNvSpPr>
            <a:spLocks/>
          </p:cNvSpPr>
          <p:nvPr/>
        </p:nvSpPr>
        <p:spPr bwMode="auto">
          <a:xfrm>
            <a:off x="7952748" y="3044718"/>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掌握</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攻擊技術</a:t>
            </a:r>
          </a:p>
        </p:txBody>
      </p:sp>
      <p:sp>
        <p:nvSpPr>
          <p:cNvPr id="59" name="矩形 35">
            <a:extLst>
              <a:ext uri="{FF2B5EF4-FFF2-40B4-BE49-F238E27FC236}">
                <a16:creationId xmlns:a16="http://schemas.microsoft.com/office/drawing/2014/main" id="{D847AEA5-B342-FA0F-B51F-83906D18C30F}"/>
              </a:ext>
            </a:extLst>
          </p:cNvPr>
          <p:cNvSpPr>
            <a:spLocks/>
          </p:cNvSpPr>
          <p:nvPr/>
        </p:nvSpPr>
        <p:spPr bwMode="auto">
          <a:xfrm>
            <a:off x="7952748" y="4046237"/>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瞭解</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防禦策略</a:t>
            </a:r>
          </a:p>
        </p:txBody>
      </p:sp>
      <p:sp>
        <p:nvSpPr>
          <p:cNvPr id="61" name="Rectangle 60">
            <a:extLst>
              <a:ext uri="{FF2B5EF4-FFF2-40B4-BE49-F238E27FC236}">
                <a16:creationId xmlns:a16="http://schemas.microsoft.com/office/drawing/2014/main" id="{80199886-8F1B-5DBD-30CD-F335E434EDD4}"/>
              </a:ext>
            </a:extLst>
          </p:cNvPr>
          <p:cNvSpPr/>
          <p:nvPr/>
        </p:nvSpPr>
        <p:spPr>
          <a:xfrm>
            <a:off x="9327540" y="881513"/>
            <a:ext cx="2533728" cy="5941761"/>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50177" name="Straight Arrow Connector 50176">
            <a:extLst>
              <a:ext uri="{FF2B5EF4-FFF2-40B4-BE49-F238E27FC236}">
                <a16:creationId xmlns:a16="http://schemas.microsoft.com/office/drawing/2014/main" id="{62EC3D1E-0E9E-1106-6687-EEA198B2DC22}"/>
              </a:ext>
            </a:extLst>
          </p:cNvPr>
          <p:cNvCxnSpPr>
            <a:cxnSpLocks/>
          </p:cNvCxnSpPr>
          <p:nvPr/>
        </p:nvCxnSpPr>
        <p:spPr>
          <a:xfrm>
            <a:off x="3020896" y="5530000"/>
            <a:ext cx="1310714"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0178" name="Straight Arrow Connector 50177">
            <a:extLst>
              <a:ext uri="{FF2B5EF4-FFF2-40B4-BE49-F238E27FC236}">
                <a16:creationId xmlns:a16="http://schemas.microsoft.com/office/drawing/2014/main" id="{97196230-65F8-B8F4-ACF0-1E6371D119DD}"/>
              </a:ext>
            </a:extLst>
          </p:cNvPr>
          <p:cNvCxnSpPr>
            <a:cxnSpLocks/>
          </p:cNvCxnSpPr>
          <p:nvPr/>
        </p:nvCxnSpPr>
        <p:spPr>
          <a:xfrm>
            <a:off x="7903294" y="5527301"/>
            <a:ext cx="1310714"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0179" name="文本框 57">
            <a:extLst>
              <a:ext uri="{FF2B5EF4-FFF2-40B4-BE49-F238E27FC236}">
                <a16:creationId xmlns:a16="http://schemas.microsoft.com/office/drawing/2014/main" id="{8A19A2C2-A880-6E2F-393B-BE6BE08E030C}"/>
              </a:ext>
            </a:extLst>
          </p:cNvPr>
          <p:cNvSpPr txBox="1"/>
          <p:nvPr/>
        </p:nvSpPr>
        <p:spPr>
          <a:xfrm>
            <a:off x="2820626" y="5697381"/>
            <a:ext cx="176179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在設計之初</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缺乏安全考慮</a:t>
            </a:r>
          </a:p>
        </p:txBody>
      </p:sp>
      <p:sp>
        <p:nvSpPr>
          <p:cNvPr id="50180" name="文本框 57">
            <a:extLst>
              <a:ext uri="{FF2B5EF4-FFF2-40B4-BE49-F238E27FC236}">
                <a16:creationId xmlns:a16="http://schemas.microsoft.com/office/drawing/2014/main" id="{8DBBC17D-5805-517C-317E-77F48FD164EC}"/>
              </a:ext>
            </a:extLst>
          </p:cNvPr>
          <p:cNvSpPr txBox="1"/>
          <p:nvPr/>
        </p:nvSpPr>
        <p:spPr>
          <a:xfrm>
            <a:off x="7738360" y="5699225"/>
            <a:ext cx="1640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多種攻擊技術</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需要特定的防禦策略進行防護</a:t>
            </a:r>
          </a:p>
        </p:txBody>
      </p:sp>
      <p:pic>
        <p:nvPicPr>
          <p:cNvPr id="50183" name="Picture 50182" descr="Icon&#10;&#10;Description automatically generated">
            <a:extLst>
              <a:ext uri="{FF2B5EF4-FFF2-40B4-BE49-F238E27FC236}">
                <a16:creationId xmlns:a16="http://schemas.microsoft.com/office/drawing/2014/main" id="{8C9269CE-A86F-684E-FE44-D119DF15A158}"/>
              </a:ext>
            </a:extLst>
          </p:cNvPr>
          <p:cNvPicPr>
            <a:picLocks noChangeAspect="1"/>
          </p:cNvPicPr>
          <p:nvPr/>
        </p:nvPicPr>
        <p:blipFill>
          <a:blip r:embed="rId3"/>
          <a:stretch>
            <a:fillRect/>
          </a:stretch>
        </p:blipFill>
        <p:spPr>
          <a:xfrm>
            <a:off x="1190936" y="3980196"/>
            <a:ext cx="749318" cy="749318"/>
          </a:xfrm>
          <a:prstGeom prst="rect">
            <a:avLst/>
          </a:prstGeom>
        </p:spPr>
      </p:pic>
      <p:pic>
        <p:nvPicPr>
          <p:cNvPr id="50194" name="Picture 50193" descr="Graphical user interface, text&#10;&#10;Description automatically generated">
            <a:extLst>
              <a:ext uri="{FF2B5EF4-FFF2-40B4-BE49-F238E27FC236}">
                <a16:creationId xmlns:a16="http://schemas.microsoft.com/office/drawing/2014/main" id="{1AA87FD7-BC71-89CF-539A-AA4F5ED777A2}"/>
              </a:ext>
            </a:extLst>
          </p:cNvPr>
          <p:cNvPicPr>
            <a:picLocks noChangeAspect="1"/>
          </p:cNvPicPr>
          <p:nvPr/>
        </p:nvPicPr>
        <p:blipFill>
          <a:blip r:embed="rId4"/>
          <a:stretch>
            <a:fillRect/>
          </a:stretch>
        </p:blipFill>
        <p:spPr>
          <a:xfrm>
            <a:off x="1256091" y="955514"/>
            <a:ext cx="752201" cy="752201"/>
          </a:xfrm>
          <a:prstGeom prst="rect">
            <a:avLst/>
          </a:prstGeom>
        </p:spPr>
      </p:pic>
      <p:pic>
        <p:nvPicPr>
          <p:cNvPr id="50196" name="Picture 50195" descr="Icon&#10;&#10;Description automatically generated">
            <a:extLst>
              <a:ext uri="{FF2B5EF4-FFF2-40B4-BE49-F238E27FC236}">
                <a16:creationId xmlns:a16="http://schemas.microsoft.com/office/drawing/2014/main" id="{E27CE39B-0ACF-58D2-2134-B08F5AD169A5}"/>
              </a:ext>
            </a:extLst>
          </p:cNvPr>
          <p:cNvPicPr>
            <a:picLocks noChangeAspect="1"/>
          </p:cNvPicPr>
          <p:nvPr/>
        </p:nvPicPr>
        <p:blipFill>
          <a:blip r:embed="rId5"/>
          <a:stretch>
            <a:fillRect/>
          </a:stretch>
        </p:blipFill>
        <p:spPr>
          <a:xfrm>
            <a:off x="5765402" y="1975666"/>
            <a:ext cx="779500" cy="779500"/>
          </a:xfrm>
          <a:prstGeom prst="rect">
            <a:avLst/>
          </a:prstGeom>
        </p:spPr>
      </p:pic>
      <p:pic>
        <p:nvPicPr>
          <p:cNvPr id="3" name="Picture 50197" descr="Icon&#10;&#10;Description automatically generated">
            <a:extLst>
              <a:ext uri="{FF2B5EF4-FFF2-40B4-BE49-F238E27FC236}">
                <a16:creationId xmlns:a16="http://schemas.microsoft.com/office/drawing/2014/main" id="{D4B5A651-CC67-6323-65A3-BC2C78E6663F}"/>
              </a:ext>
            </a:extLst>
          </p:cNvPr>
          <p:cNvPicPr>
            <a:picLocks noChangeAspect="1"/>
          </p:cNvPicPr>
          <p:nvPr/>
        </p:nvPicPr>
        <p:blipFill>
          <a:blip r:embed="rId6"/>
          <a:stretch>
            <a:fillRect/>
          </a:stretch>
        </p:blipFill>
        <p:spPr>
          <a:xfrm>
            <a:off x="10182265" y="1964111"/>
            <a:ext cx="732047" cy="732047"/>
          </a:xfrm>
          <a:prstGeom prst="rect">
            <a:avLst/>
          </a:prstGeom>
        </p:spPr>
      </p:pic>
    </p:spTree>
    <p:extLst>
      <p:ext uri="{BB962C8B-B14F-4D97-AF65-F5344CB8AC3E}">
        <p14:creationId xmlns:p14="http://schemas.microsoft.com/office/powerpoint/2010/main" val="1703730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C631CF44-859D-B349-B903-5EAB8473B2F8}"/>
              </a:ext>
            </a:extLst>
          </p:cNvPr>
          <p:cNvSpPr>
            <a:spLocks/>
          </p:cNvSpPr>
          <p:nvPr/>
        </p:nvSpPr>
        <p:spPr bwMode="auto">
          <a:xfrm>
            <a:off x="545954" y="4491659"/>
            <a:ext cx="311990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回顧歷史，分析當前互聯網源地址易被僞造的原因</a:t>
            </a:r>
          </a:p>
        </p:txBody>
      </p:sp>
      <p:sp>
        <p:nvSpPr>
          <p:cNvPr id="37" name="矩形 36">
            <a:extLst>
              <a:ext uri="{FF2B5EF4-FFF2-40B4-BE49-F238E27FC236}">
                <a16:creationId xmlns:a16="http://schemas.microsoft.com/office/drawing/2014/main" id="{2E7DE1D5-1B52-7E4D-B223-88F832E032B4}"/>
              </a:ext>
            </a:extLst>
          </p:cNvPr>
          <p:cNvSpPr>
            <a:spLocks/>
          </p:cNvSpPr>
          <p:nvPr/>
        </p:nvSpPr>
        <p:spPr bwMode="auto">
          <a:xfrm>
            <a:off x="4087842" y="4502738"/>
            <a:ext cx="3377641"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總攬全域，提煉真實源地址驗證體系結構設計原則</a:t>
            </a:r>
          </a:p>
        </p:txBody>
      </p:sp>
      <p:sp>
        <p:nvSpPr>
          <p:cNvPr id="38" name="矩形 37">
            <a:extLst>
              <a:ext uri="{FF2B5EF4-FFF2-40B4-BE49-F238E27FC236}">
                <a16:creationId xmlns:a16="http://schemas.microsoft.com/office/drawing/2014/main" id="{992A77CB-64B3-994E-991E-0ADCC752FF53}"/>
              </a:ext>
            </a:extLst>
          </p:cNvPr>
          <p:cNvSpPr>
            <a:spLocks/>
          </p:cNvSpPr>
          <p:nvPr/>
        </p:nvSpPr>
        <p:spPr bwMode="auto">
          <a:xfrm>
            <a:off x="7875107" y="5721565"/>
            <a:ext cx="383031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全面認識，瞭解</a:t>
            </a:r>
            <a:r>
              <a:rPr lang="en-US" altLang="zh-CN" sz="1800" kern="100" dirty="0">
                <a:effectLst/>
                <a:latin typeface="微软雅黑" panose="020B0503020204020204" pitchFamily="34" charset="-122"/>
                <a:ea typeface="微软雅黑" panose="020B0503020204020204" pitchFamily="34" charset="-122"/>
              </a:rPr>
              <a:t>SAVA</a:t>
            </a:r>
            <a:r>
              <a:rPr lang="zh-CN" altLang="zh-CN" sz="1800" kern="100" dirty="0">
                <a:effectLst/>
                <a:latin typeface="微软雅黑" panose="020B0503020204020204" pitchFamily="34" charset="-122"/>
                <a:ea typeface="微软雅黑" panose="020B0503020204020204" pitchFamily="34" charset="-122"/>
              </a:rPr>
              <a:t>體系結構</a:t>
            </a:r>
            <a:r>
              <a:rPr lang="zh-CN" altLang="en-US" sz="1800" kern="100" dirty="0">
                <a:effectLst/>
                <a:latin typeface="微软雅黑" panose="020B0503020204020204" pitchFamily="34" charset="-122"/>
                <a:ea typeface="微软雅黑" panose="020B0503020204020204" pitchFamily="34" charset="-122"/>
              </a:rPr>
              <a:t>的各個層次</a:t>
            </a:r>
            <a:endParaRPr kumimoji="1" lang="zh-CN" altLang="en-US" dirty="0">
              <a:latin typeface="Microsoft YaHei" panose="020B0503020204020204" pitchFamily="34" charset="-122"/>
              <a:ea typeface="Microsoft YaHei" panose="020B0503020204020204" pitchFamily="34" charset="-122"/>
            </a:endParaRPr>
          </a:p>
        </p:txBody>
      </p:sp>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545954" y="2759809"/>
            <a:ext cx="3119908" cy="1206016"/>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342900" lvl="0" indent="-342900" algn="l" defTabSz="914400" rtl="0" eaLnBrk="1" latinLnBrk="0" hangingPunct="1">
              <a:lnSpc>
                <a:spcPct val="130000"/>
              </a:lnSpc>
              <a:spcAft>
                <a:spcPts val="0"/>
              </a:spcAft>
              <a:buFont typeface="Symbol" panose="05050102010706020507" pitchFamily="18" charset="2"/>
              <a:buChar char=""/>
            </a:pPr>
            <a:r>
              <a:rPr lang="en-US" altLang="zh-CN" sz="1800" kern="100" dirty="0">
                <a:solidFill>
                  <a:schemeClr val="dk1"/>
                </a:solidFill>
                <a:effectLst/>
                <a:latin typeface="微软雅黑" panose="020B0503020204020204" pitchFamily="34" charset="-122"/>
                <a:ea typeface="微软雅黑" panose="020B0503020204020204" pitchFamily="34" charset="-122"/>
                <a:cs typeface="+mn-cs"/>
              </a:rPr>
              <a:t>IP</a:t>
            </a:r>
            <a:r>
              <a:rPr lang="zh-CN" altLang="en-US" sz="1800" kern="100" dirty="0">
                <a:solidFill>
                  <a:schemeClr val="dk1"/>
                </a:solidFill>
                <a:effectLst/>
                <a:latin typeface="微软雅黑" panose="020B0503020204020204" pitchFamily="34" charset="-122"/>
                <a:ea typeface="微软雅黑" panose="020B0503020204020204" pitchFamily="34" charset="-122"/>
                <a:cs typeface="+mn-cs"/>
              </a:rPr>
              <a:t>地址欺騙</a:t>
            </a:r>
            <a:endParaRPr lang="en-US" altLang="zh-CN" sz="1800" kern="100" dirty="0">
              <a:solidFill>
                <a:schemeClr val="dk1"/>
              </a:solidFill>
              <a:effectLst/>
              <a:latin typeface="微软雅黑" panose="020B0503020204020204" pitchFamily="34" charset="-122"/>
              <a:ea typeface="微软雅黑" panose="020B0503020204020204" pitchFamily="34" charset="-122"/>
              <a:cs typeface="+mn-cs"/>
            </a:endParaRPr>
          </a:p>
          <a:p>
            <a:pPr marL="342900" indent="-342900">
              <a:lnSpc>
                <a:spcPct val="130000"/>
              </a:lnSpc>
              <a:buFont typeface="Symbol" panose="05050102010706020507" pitchFamily="18" charset="2"/>
              <a:buChar char=""/>
            </a:pPr>
            <a:r>
              <a:rPr lang="zh-CN" altLang="en-US" sz="1800" dirty="0">
                <a:latin typeface="Microsoft YaHei" panose="020B0503020204020204" pitchFamily="34" charset="-122"/>
                <a:ea typeface="Microsoft YaHei" panose="020B0503020204020204" pitchFamily="34" charset="-122"/>
              </a:rPr>
              <a:t>真實源地址驗證體系結構</a:t>
            </a:r>
            <a:r>
              <a:rPr lang="en-US" altLang="zh-CN" sz="1800" dirty="0">
                <a:latin typeface="Microsoft YaHei" panose="020B0503020204020204" pitchFamily="34" charset="-122"/>
                <a:ea typeface="Microsoft YaHei" panose="020B0503020204020204" pitchFamily="34" charset="-122"/>
              </a:rPr>
              <a:t>SAVA</a:t>
            </a:r>
            <a:r>
              <a:rPr lang="zh-CN" altLang="en-US" sz="1800" dirty="0">
                <a:latin typeface="Microsoft YaHei" panose="020B0503020204020204" pitchFamily="34" charset="-122"/>
                <a:ea typeface="Microsoft YaHei" panose="020B0503020204020204" pitchFamily="34" charset="-122"/>
              </a:rPr>
              <a:t>的産生</a:t>
            </a:r>
          </a:p>
        </p:txBody>
      </p:sp>
      <p:sp>
        <p:nvSpPr>
          <p:cNvPr id="2" name="标题 1"/>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11</a:t>
            </a:r>
            <a:r>
              <a:rPr kumimoji="1" lang="zh-CN" altLang="en-US" dirty="0">
                <a:solidFill>
                  <a:schemeClr val="tx1"/>
                </a:solidFill>
              </a:rPr>
              <a:t>章</a:t>
            </a:r>
            <a:r>
              <a:rPr kumimoji="1" lang="en-US" altLang="zh-CN" dirty="0">
                <a:solidFill>
                  <a:schemeClr val="tx1"/>
                </a:solidFill>
              </a:rPr>
              <a:t> </a:t>
            </a:r>
            <a:r>
              <a:rPr kumimoji="1" lang="zh-CN" altLang="en-US" dirty="0">
                <a:solidFill>
                  <a:schemeClr val="tx1"/>
                </a:solidFill>
              </a:rPr>
              <a:t>真實源地址驗證</a:t>
            </a: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4073816" y="2759809"/>
            <a:ext cx="3390314" cy="1206016"/>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sz="1800" dirty="0">
                <a:latin typeface="Microsoft YaHei" panose="020B0503020204020204" pitchFamily="34" charset="-122"/>
                <a:ea typeface="Microsoft YaHei" panose="020B0503020204020204" pitchFamily="34" charset="-122"/>
              </a:rPr>
              <a:t>當前互聯網的地址結構</a:t>
            </a:r>
          </a:p>
          <a:p>
            <a:pPr marL="285750" indent="-285750">
              <a:lnSpc>
                <a:spcPct val="120000"/>
              </a:lnSpc>
              <a:buFont typeface="Arial" panose="020B0604020202020204" pitchFamily="34" charset="0"/>
              <a:buChar char="•"/>
            </a:pPr>
            <a:r>
              <a:rPr lang="zh-CN" altLang="en-US" sz="1800" b="1" dirty="0">
                <a:solidFill>
                  <a:srgbClr val="FF0000"/>
                </a:solidFill>
                <a:latin typeface="Microsoft YaHei" panose="020B0503020204020204" pitchFamily="34" charset="-122"/>
                <a:ea typeface="Microsoft YaHei" panose="020B0503020204020204" pitchFamily="34" charset="-122"/>
              </a:rPr>
              <a:t>真實源地址驗證</a:t>
            </a:r>
            <a:r>
              <a:rPr lang="en-US" altLang="zh-CN" sz="1800" b="1" dirty="0">
                <a:solidFill>
                  <a:srgbClr val="FF0000"/>
                </a:solidFill>
                <a:latin typeface="Microsoft YaHei" panose="020B0503020204020204" pitchFamily="34" charset="-122"/>
                <a:ea typeface="Microsoft YaHei" panose="020B0503020204020204" pitchFamily="34" charset="-122"/>
              </a:rPr>
              <a:t>SAVA</a:t>
            </a:r>
            <a:r>
              <a:rPr lang="zh-CN" altLang="en-US" sz="1800" b="1" dirty="0">
                <a:solidFill>
                  <a:srgbClr val="FF0000"/>
                </a:solidFill>
                <a:latin typeface="Microsoft YaHei" panose="020B0503020204020204" pitchFamily="34" charset="-122"/>
                <a:ea typeface="Microsoft YaHei" panose="020B0503020204020204" pitchFamily="34" charset="-122"/>
              </a:rPr>
              <a:t>體系結構設計原則</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7862510" y="2759809"/>
            <a:ext cx="3842909" cy="1894664"/>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342900" lvl="0" indent="-342900" algn="l">
              <a:lnSpc>
                <a:spcPct val="130000"/>
              </a:lnSpc>
              <a:spcAft>
                <a:spcPts val="0"/>
              </a:spcAft>
              <a:buFont typeface="Symbol" panose="05050102010706020507" pitchFamily="18" charset="2"/>
              <a:buChar char=""/>
            </a:pPr>
            <a:r>
              <a:rPr lang="zh-CN" altLang="zh-CN" sz="1800" b="1" kern="100" dirty="0">
                <a:solidFill>
                  <a:srgbClr val="FF0000"/>
                </a:solidFill>
                <a:effectLst/>
                <a:latin typeface="微软雅黑" panose="020B0503020204020204" pitchFamily="34" charset="-122"/>
                <a:ea typeface="微软雅黑" panose="020B0503020204020204" pitchFamily="34" charset="-122"/>
              </a:rPr>
              <a:t>真實源地址驗證</a:t>
            </a:r>
            <a:r>
              <a:rPr lang="en-US" altLang="zh-CN" sz="1800" b="1" kern="100" dirty="0">
                <a:solidFill>
                  <a:srgbClr val="FF0000"/>
                </a:solidFill>
                <a:effectLst/>
                <a:latin typeface="微软雅黑" panose="020B0503020204020204" pitchFamily="34" charset="-122"/>
                <a:ea typeface="微软雅黑" panose="020B0503020204020204" pitchFamily="34" charset="-122"/>
              </a:rPr>
              <a:t>SAVA</a:t>
            </a:r>
            <a:r>
              <a:rPr lang="zh-CN" altLang="zh-CN" sz="1800" b="1" kern="100" dirty="0">
                <a:solidFill>
                  <a:srgbClr val="FF0000"/>
                </a:solidFill>
                <a:effectLst/>
                <a:latin typeface="微软雅黑" panose="020B0503020204020204" pitchFamily="34" charset="-122"/>
                <a:ea typeface="微软雅黑" panose="020B0503020204020204" pitchFamily="34" charset="-122"/>
              </a:rPr>
              <a:t>體系結構</a:t>
            </a:r>
            <a:endParaRPr lang="zh-CN" altLang="zh-CN" sz="1400" b="1" kern="100" dirty="0">
              <a:solidFill>
                <a:srgbClr val="FF0000"/>
              </a:solidFill>
              <a:effectLst/>
              <a:latin typeface="微软雅黑" panose="020B0503020204020204" pitchFamily="34" charset="-122"/>
              <a:ea typeface="微软雅黑" panose="020B0503020204020204" pitchFamily="34" charset="-122"/>
            </a:endParaRPr>
          </a:p>
          <a:p>
            <a:pPr marL="342900" lvl="0" indent="-342900" algn="l">
              <a:lnSpc>
                <a:spcPct val="130000"/>
              </a:lnSpc>
              <a:spcAft>
                <a:spcPts val="0"/>
              </a:spcAft>
              <a:buFont typeface="Symbol" panose="05050102010706020507" pitchFamily="18" charset="2"/>
              <a:buChar char=""/>
            </a:pPr>
            <a:r>
              <a:rPr lang="zh-CN" altLang="zh-CN" sz="1800" kern="100" dirty="0">
                <a:effectLst/>
                <a:latin typeface="微软雅黑" panose="020B0503020204020204" pitchFamily="34" charset="-122"/>
                <a:ea typeface="微软雅黑" panose="020B0503020204020204" pitchFamily="34" charset="-122"/>
              </a:rPr>
              <a:t>動態自適應的地址分配分組監聽</a:t>
            </a:r>
            <a:endParaRPr lang="zh-CN" altLang="zh-CN" sz="1400" kern="100" dirty="0">
              <a:effectLst/>
              <a:latin typeface="微软雅黑" panose="020B0503020204020204" pitchFamily="34" charset="-122"/>
              <a:ea typeface="微软雅黑" panose="020B0503020204020204" pitchFamily="34" charset="-122"/>
            </a:endParaRPr>
          </a:p>
          <a:p>
            <a:pPr marL="342900" lvl="0" indent="-342900" algn="l">
              <a:lnSpc>
                <a:spcPct val="130000"/>
              </a:lnSpc>
              <a:spcAft>
                <a:spcPts val="0"/>
              </a:spcAft>
              <a:buFont typeface="Symbol" panose="05050102010706020507" pitchFamily="18" charset="2"/>
              <a:buChar char=""/>
            </a:pPr>
            <a:r>
              <a:rPr lang="zh-CN" altLang="zh-CN" sz="1800" kern="100" dirty="0">
                <a:effectLst/>
                <a:latin typeface="微软雅黑" panose="020B0503020204020204" pitchFamily="34" charset="-122"/>
                <a:ea typeface="微软雅黑" panose="020B0503020204020204" pitchFamily="34" charset="-122"/>
              </a:rPr>
              <a:t>分布式路由同步</a:t>
            </a:r>
            <a:endParaRPr lang="zh-CN" altLang="zh-CN" sz="1400" kern="100" dirty="0">
              <a:effectLst/>
              <a:latin typeface="微软雅黑" panose="020B0503020204020204" pitchFamily="34" charset="-122"/>
              <a:ea typeface="微软雅黑" panose="020B0503020204020204" pitchFamily="34" charset="-122"/>
            </a:endParaRPr>
          </a:p>
          <a:p>
            <a:pPr marL="342900" lvl="0" indent="-342900" algn="l">
              <a:lnSpc>
                <a:spcPct val="130000"/>
              </a:lnSpc>
              <a:spcAft>
                <a:spcPts val="0"/>
              </a:spcAft>
              <a:buFont typeface="Symbol" panose="05050102010706020507" pitchFamily="18" charset="2"/>
              <a:buChar char=""/>
            </a:pPr>
            <a:r>
              <a:rPr lang="zh-CN" altLang="zh-CN" sz="1800" kern="100" dirty="0">
                <a:effectLst/>
                <a:latin typeface="微软雅黑" panose="020B0503020204020204" pitchFamily="34" charset="-122"/>
                <a:ea typeface="微软雅黑" panose="020B0503020204020204" pitchFamily="34" charset="-122"/>
              </a:rPr>
              <a:t>域間層次化聯盟</a:t>
            </a:r>
            <a:endParaRPr lang="zh-CN" altLang="zh-CN" sz="1400" kern="100" dirty="0">
              <a:effectLst/>
              <a:latin typeface="微软雅黑" panose="020B0503020204020204" pitchFamily="34" charset="-122"/>
              <a:ea typeface="微软雅黑" panose="020B0503020204020204" pitchFamily="34" charset="-122"/>
            </a:endParaRPr>
          </a:p>
          <a:p>
            <a:pPr marL="342900" indent="-342900">
              <a:lnSpc>
                <a:spcPct val="130000"/>
              </a:lnSpc>
              <a:buFont typeface="Symbol" panose="05050102010706020507" pitchFamily="18" charset="2"/>
              <a:buChar char=""/>
            </a:pPr>
            <a:r>
              <a:rPr lang="zh-CN" altLang="en-US" kern="100" dirty="0">
                <a:latin typeface="微软雅黑" panose="020B0503020204020204" pitchFamily="34" charset="-122"/>
                <a:ea typeface="微软雅黑" panose="020B0503020204020204" pitchFamily="34" charset="-122"/>
              </a:rPr>
              <a:t>應用與推廣</a:t>
            </a:r>
            <a:endParaRPr lang="en-US" altLang="zh-CN" kern="1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CE1694C8-0F08-6A45-8925-6B92183E05E7}"/>
              </a:ext>
            </a:extLst>
          </p:cNvPr>
          <p:cNvSpPr txBox="1"/>
          <p:nvPr/>
        </p:nvSpPr>
        <p:spPr>
          <a:xfrm>
            <a:off x="38574" y="1759016"/>
            <a:ext cx="4054699"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真實源地址驗證體系結構</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設計背景</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4203251" y="1770095"/>
            <a:ext cx="3180619" cy="1077218"/>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真實源地址驗證體系結構</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設計原則</a:t>
            </a:r>
            <a:endParaRPr lang="en-US"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8062472" y="1699835"/>
            <a:ext cx="3830312" cy="1151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15000"/>
              </a:lnSpc>
              <a:spcAft>
                <a:spcPts val="0"/>
              </a:spcAft>
            </a:pPr>
            <a:r>
              <a:rPr lang="en-US" altLang="zh-CN" sz="2000" kern="100" dirty="0">
                <a:effectLst/>
                <a:latin typeface="微软雅黑" panose="020B0503020204020204" pitchFamily="34" charset="-122"/>
                <a:ea typeface="微软雅黑" panose="020B0503020204020204" pitchFamily="34" charset="-122"/>
              </a:rPr>
              <a:t>SAVA</a:t>
            </a:r>
            <a:r>
              <a:rPr lang="zh-CN" altLang="zh-CN" sz="2400" b="1" kern="100" dirty="0">
                <a:solidFill>
                  <a:srgbClr val="FF0000"/>
                </a:solidFill>
                <a:effectLst/>
                <a:latin typeface="微软雅黑" panose="020B0503020204020204" pitchFamily="34" charset="-122"/>
                <a:ea typeface="微软雅黑" panose="020B0503020204020204" pitchFamily="34" charset="-122"/>
              </a:rPr>
              <a:t>體系結構</a:t>
            </a:r>
            <a:r>
              <a:rPr lang="zh-CN" altLang="en-US" sz="2400" b="1" kern="100" dirty="0">
                <a:solidFill>
                  <a:srgbClr val="FF0000"/>
                </a:solidFill>
                <a:latin typeface="微软雅黑" panose="020B0503020204020204" pitchFamily="34" charset="-122"/>
                <a:ea typeface="微软雅黑" panose="020B0503020204020204" pitchFamily="34" charset="-122"/>
              </a:rPr>
              <a:t>、</a:t>
            </a:r>
            <a:r>
              <a:rPr lang="zh-CN" altLang="zh-CN" sz="2400" b="1" kern="100" dirty="0">
                <a:solidFill>
                  <a:srgbClr val="FF0000"/>
                </a:solidFill>
                <a:effectLst/>
                <a:latin typeface="微软雅黑" panose="020B0503020204020204" pitchFamily="34" charset="-122"/>
                <a:ea typeface="微软雅黑" panose="020B0503020204020204" pitchFamily="34" charset="-122"/>
              </a:rPr>
              <a:t>關鍵技術</a:t>
            </a:r>
            <a:r>
              <a:rPr lang="zh-CN" altLang="en-US" sz="2000" kern="100" dirty="0">
                <a:effectLst/>
                <a:latin typeface="微软雅黑" panose="020B0503020204020204" pitchFamily="34" charset="-122"/>
                <a:ea typeface="微软雅黑" panose="020B0503020204020204" pitchFamily="34" charset="-122"/>
              </a:rPr>
              <a:t>、應用與推廣</a:t>
            </a:r>
            <a:endPar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0182" name="Picture 6" descr="Types Of Cybersecurity Threats Clipart (726x500), Png Download">
            <a:extLst>
              <a:ext uri="{FF2B5EF4-FFF2-40B4-BE49-F238E27FC236}">
                <a16:creationId xmlns:a16="http://schemas.microsoft.com/office/drawing/2014/main" id="{0C28AE79-0C70-6648-ADFA-0C3DC38328F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36514" y="1023275"/>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513441" y="980691"/>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a:extLst>
              <a:ext uri="{FF2B5EF4-FFF2-40B4-BE49-F238E27FC236}">
                <a16:creationId xmlns:a16="http://schemas.microsoft.com/office/drawing/2014/main" id="{40658C9E-DC5C-8940-B54C-4E0F33892F97}"/>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r="45652" b="1407"/>
          <a:stretch/>
        </p:blipFill>
        <p:spPr bwMode="auto">
          <a:xfrm>
            <a:off x="9418850" y="1023275"/>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3665862" y="3516479"/>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a:extLst>
              <a:ext uri="{FF2B5EF4-FFF2-40B4-BE49-F238E27FC236}">
                <a16:creationId xmlns:a16="http://schemas.microsoft.com/office/drawing/2014/main" id="{79FB7900-811F-384A-8050-7FAD62F6DCF8}"/>
              </a:ext>
            </a:extLst>
          </p:cNvPr>
          <p:cNvCxnSpPr>
            <a:cxnSpLocks/>
          </p:cNvCxnSpPr>
          <p:nvPr/>
        </p:nvCxnSpPr>
        <p:spPr>
          <a:xfrm>
            <a:off x="7461695" y="3527749"/>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a:endCxn id="36" idx="0"/>
          </p:cNvCxnSpPr>
          <p:nvPr/>
        </p:nvCxnSpPr>
        <p:spPr>
          <a:xfrm>
            <a:off x="2105908" y="3965825"/>
            <a:ext cx="0" cy="5258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33">
            <a:extLst>
              <a:ext uri="{FF2B5EF4-FFF2-40B4-BE49-F238E27FC236}">
                <a16:creationId xmlns:a16="http://schemas.microsoft.com/office/drawing/2014/main" id="{F7364948-6B90-D44B-9B32-95700D0F63AB}"/>
              </a:ext>
            </a:extLst>
          </p:cNvPr>
          <p:cNvCxnSpPr>
            <a:cxnSpLocks/>
            <a:stCxn id="20" idx="2"/>
            <a:endCxn id="37" idx="0"/>
          </p:cNvCxnSpPr>
          <p:nvPr/>
        </p:nvCxnSpPr>
        <p:spPr>
          <a:xfrm>
            <a:off x="5768973" y="3965825"/>
            <a:ext cx="7690" cy="536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33">
            <a:extLst>
              <a:ext uri="{FF2B5EF4-FFF2-40B4-BE49-F238E27FC236}">
                <a16:creationId xmlns:a16="http://schemas.microsoft.com/office/drawing/2014/main" id="{3C8EECBF-92E8-D749-BE58-3CFF8E4FD844}"/>
              </a:ext>
            </a:extLst>
          </p:cNvPr>
          <p:cNvCxnSpPr>
            <a:cxnSpLocks/>
            <a:stCxn id="21" idx="2"/>
            <a:endCxn id="38" idx="0"/>
          </p:cNvCxnSpPr>
          <p:nvPr/>
        </p:nvCxnSpPr>
        <p:spPr>
          <a:xfrm>
            <a:off x="9783965" y="4654473"/>
            <a:ext cx="6298" cy="10670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2FC78921-AD67-1A2D-7F2F-6972A5EE76C4}"/>
              </a:ext>
            </a:extLst>
          </p:cNvPr>
          <p:cNvSpPr txBox="1"/>
          <p:nvPr/>
        </p:nvSpPr>
        <p:spPr>
          <a:xfrm>
            <a:off x="2464724" y="6075144"/>
            <a:ext cx="2479226"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針對地址易被僞造原因設計針對性對策</a:t>
            </a:r>
          </a:p>
        </p:txBody>
      </p:sp>
      <p:cxnSp>
        <p:nvCxnSpPr>
          <p:cNvPr id="17" name="肘形连接符 16">
            <a:extLst>
              <a:ext uri="{FF2B5EF4-FFF2-40B4-BE49-F238E27FC236}">
                <a16:creationId xmlns:a16="http://schemas.microsoft.com/office/drawing/2014/main" id="{622C2653-B365-00B5-3266-781FB31D335F}"/>
              </a:ext>
            </a:extLst>
          </p:cNvPr>
          <p:cNvCxnSpPr>
            <a:cxnSpLocks/>
          </p:cNvCxnSpPr>
          <p:nvPr/>
        </p:nvCxnSpPr>
        <p:spPr>
          <a:xfrm rot="16200000" flipH="1">
            <a:off x="5691949" y="2043841"/>
            <a:ext cx="1229906" cy="7684355"/>
          </a:xfrm>
          <a:prstGeom prst="bentConnector3">
            <a:avLst>
              <a:gd name="adj1" fmla="val 124435"/>
            </a:avLst>
          </a:prstGeom>
          <a:ln>
            <a:solidFill>
              <a:srgbClr val="1C70C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肘形连接符 17">
            <a:extLst>
              <a:ext uri="{FF2B5EF4-FFF2-40B4-BE49-F238E27FC236}">
                <a16:creationId xmlns:a16="http://schemas.microsoft.com/office/drawing/2014/main" id="{26C1C112-0218-4C66-FDD4-2D2AF5912BF0}"/>
              </a:ext>
            </a:extLst>
          </p:cNvPr>
          <p:cNvCxnSpPr>
            <a:cxnSpLocks/>
            <a:stCxn id="37" idx="2"/>
            <a:endCxn id="38" idx="2"/>
          </p:cNvCxnSpPr>
          <p:nvPr/>
        </p:nvCxnSpPr>
        <p:spPr>
          <a:xfrm rot="16200000" flipH="1">
            <a:off x="7174050" y="3894964"/>
            <a:ext cx="1218827" cy="4013600"/>
          </a:xfrm>
          <a:prstGeom prst="bentConnector3">
            <a:avLst>
              <a:gd name="adj1" fmla="val 118756"/>
            </a:avLst>
          </a:prstGeom>
          <a:ln>
            <a:solidFill>
              <a:srgbClr val="1C70C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EF552351-5A65-CB0A-4E4D-81A5D4B251D0}"/>
              </a:ext>
            </a:extLst>
          </p:cNvPr>
          <p:cNvSpPr txBox="1"/>
          <p:nvPr/>
        </p:nvSpPr>
        <p:spPr>
          <a:xfrm>
            <a:off x="5742415" y="6045110"/>
            <a:ext cx="2093537"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根據設計原則構建</a:t>
            </a:r>
            <a:r>
              <a:rPr lang="en-US" altLang="zh-CN" dirty="0">
                <a:solidFill>
                  <a:srgbClr val="000000"/>
                </a:solidFill>
                <a:latin typeface="Microsoft YaHei" panose="020B0503020204020204" pitchFamily="34" charset="-122"/>
                <a:ea typeface="Microsoft YaHei" panose="020B0503020204020204" pitchFamily="34" charset="-122"/>
              </a:rPr>
              <a:t>SAVA</a:t>
            </a:r>
            <a:r>
              <a:rPr lang="zh-CN" altLang="en-US" dirty="0">
                <a:solidFill>
                  <a:srgbClr val="000000"/>
                </a:solidFill>
                <a:effectLst/>
                <a:latin typeface="Microsoft YaHei" panose="020B0503020204020204" pitchFamily="34" charset="-122"/>
                <a:ea typeface="Microsoft YaHei" panose="020B0503020204020204" pitchFamily="34" charset="-122"/>
              </a:rPr>
              <a:t>總體結構</a:t>
            </a:r>
          </a:p>
        </p:txBody>
      </p:sp>
    </p:spTree>
    <p:extLst>
      <p:ext uri="{BB962C8B-B14F-4D97-AF65-F5344CB8AC3E}">
        <p14:creationId xmlns:p14="http://schemas.microsoft.com/office/powerpoint/2010/main" val="1895539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第</a:t>
            </a:r>
            <a:r>
              <a:rPr kumimoji="1" lang="en-US" altLang="zh-CN" dirty="0"/>
              <a:t>12</a:t>
            </a:r>
            <a:r>
              <a:rPr kumimoji="1" lang="zh-CN" altLang="en-US" dirty="0"/>
              <a:t>章 流量分析技術</a:t>
            </a:r>
          </a:p>
        </p:txBody>
      </p:sp>
      <p:sp>
        <p:nvSpPr>
          <p:cNvPr id="7" name="矩形 6"/>
          <p:cNvSpPr/>
          <p:nvPr/>
        </p:nvSpPr>
        <p:spPr>
          <a:xfrm>
            <a:off x="298017" y="2475056"/>
            <a:ext cx="2409645" cy="252095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基于數據包負載匹配的傳統檢測方法</a:t>
            </a:r>
          </a:p>
          <a:p>
            <a:pPr marL="285750" indent="-285750" algn="l">
              <a:lnSpc>
                <a:spcPct val="120000"/>
              </a:lnSpc>
              <a:buClrTx/>
              <a:buSzTx/>
              <a:buFont typeface="Arial" panose="020B0604020202020204" pitchFamily="34" charset="0"/>
              <a:buChar char="•"/>
            </a:pPr>
            <a:r>
              <a:rPr lang="zh-CN" altLang="en-US" kern="100" dirty="0">
                <a:latin typeface="Times New Roman" panose="02020603050405020304" pitchFamily="18" charset="0"/>
                <a:ea typeface="微软雅黑" panose="020B0503020204020204" pitchFamily="34" charset="-122"/>
                <a:cs typeface="+mn-ea"/>
              </a:rPr>
              <a:t>基于人工智能的流量檢測方法框架</a:t>
            </a:r>
          </a:p>
          <a:p>
            <a:pPr marL="285750" indent="-285750" algn="l">
              <a:lnSpc>
                <a:spcPct val="120000"/>
              </a:lnSpc>
              <a:buClrTx/>
              <a:buSzTx/>
              <a:buFont typeface="Arial" panose="020B0604020202020204" pitchFamily="34" charset="0"/>
              <a:buChar char="•"/>
            </a:pPr>
            <a:r>
              <a:rPr lang="zh-CN" altLang="en-US" kern="100" dirty="0">
                <a:latin typeface="Times New Roman" panose="02020603050405020304" pitchFamily="18" charset="0"/>
                <a:ea typeface="微软雅黑" panose="020B0503020204020204" pitchFamily="34" charset="-122"/>
                <a:cs typeface="+mn-ea"/>
                <a:sym typeface="Times New Roman" panose="02020603050405020304" pitchFamily="18" charset="0"/>
              </a:rPr>
              <a:t>網站防火墻</a:t>
            </a:r>
          </a:p>
          <a:p>
            <a:pPr marL="285750" indent="-285750">
              <a:lnSpc>
                <a:spcPct val="120000"/>
              </a:lnSpc>
              <a:buFont typeface="Arial" panose="020B0604020202020204" pitchFamily="34" charset="0"/>
              <a:buChar char="•"/>
            </a:pPr>
            <a:r>
              <a:rPr lang="en-US" altLang="zh-CN" dirty="0" err="1">
                <a:solidFill>
                  <a:srgbClr val="000000"/>
                </a:solidFill>
                <a:latin typeface="微软雅黑" panose="020B0503020204020204" pitchFamily="34" charset="-122"/>
                <a:ea typeface="微软雅黑" panose="020B0503020204020204" pitchFamily="34" charset="-122"/>
              </a:rPr>
              <a:t>惡意軟件檢測</a:t>
            </a:r>
            <a:endParaRPr lang="en-US" altLang="zh-CN" dirty="0">
              <a:solidFill>
                <a:srgbClr val="000000"/>
              </a:solidFill>
              <a:latin typeface="微软雅黑" panose="020B0503020204020204" pitchFamily="34" charset="-122"/>
              <a:ea typeface="微软雅黑" panose="020B0503020204020204" pitchFamily="34" charset="-122"/>
            </a:endParaRPr>
          </a:p>
        </p:txBody>
      </p:sp>
      <p:cxnSp>
        <p:nvCxnSpPr>
          <p:cNvPr id="9" name="直接箭头连接符 33"/>
          <p:cNvCxnSpPr/>
          <p:nvPr/>
        </p:nvCxnSpPr>
        <p:spPr>
          <a:xfrm>
            <a:off x="2745551" y="3295204"/>
            <a:ext cx="5708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01109" y="1516121"/>
            <a:ext cx="1969477"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負載特徵驅動的流量檢測</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2"/>
          <p:cNvSpPr txBox="1"/>
          <p:nvPr/>
        </p:nvSpPr>
        <p:spPr>
          <a:xfrm>
            <a:off x="3210591" y="1482171"/>
            <a:ext cx="2557846"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統計特徵驅動的</a:t>
            </a:r>
            <a:endParaRPr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流量識別方案</a:t>
            </a:r>
            <a:endParaRPr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3341020" y="2475056"/>
            <a:ext cx="2409645" cy="252095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基于數據包粒度特徵的檢測方法</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基于流粒度特徵的檢測方法</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編程網絡設備上的攻擊流量檢測</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加密攻擊流量檢測</a:t>
            </a:r>
          </a:p>
        </p:txBody>
      </p:sp>
      <p:sp>
        <p:nvSpPr>
          <p:cNvPr id="15" name="文本框 14"/>
          <p:cNvSpPr txBox="1"/>
          <p:nvPr/>
        </p:nvSpPr>
        <p:spPr>
          <a:xfrm>
            <a:off x="6292743" y="1511449"/>
            <a:ext cx="2557846"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檢測後的防禦方案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15"/>
          <p:cNvSpPr/>
          <p:nvPr/>
        </p:nvSpPr>
        <p:spPr>
          <a:xfrm>
            <a:off x="6401866" y="2493697"/>
            <a:ext cx="2409645" cy="252095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gn="l">
              <a:lnSpc>
                <a:spcPct val="120000"/>
              </a:lnSpc>
              <a:buClrTx/>
              <a:buSzTx/>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網絡攻擊防禦目標</a:t>
            </a:r>
          </a:p>
          <a:p>
            <a:pPr marL="285750" indent="-285750" algn="l">
              <a:lnSpc>
                <a:spcPct val="120000"/>
              </a:lnSpc>
              <a:buClrTx/>
              <a:buSzTx/>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傳統防禦方案及其局限性</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可編程交換機上的防禦方案</a:t>
            </a:r>
          </a:p>
        </p:txBody>
      </p:sp>
      <p:cxnSp>
        <p:nvCxnSpPr>
          <p:cNvPr id="17" name="直接箭头连接符 44"/>
          <p:cNvCxnSpPr/>
          <p:nvPr/>
        </p:nvCxnSpPr>
        <p:spPr>
          <a:xfrm>
            <a:off x="5781156" y="3295204"/>
            <a:ext cx="5687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9357794" y="1511449"/>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流量分析攻擊</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矩形 24"/>
          <p:cNvSpPr/>
          <p:nvPr/>
        </p:nvSpPr>
        <p:spPr>
          <a:xfrm>
            <a:off x="9431895" y="2493697"/>
            <a:ext cx="2409645" cy="252095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gn="l">
              <a:lnSpc>
                <a:spcPct val="120000"/>
              </a:lnSpc>
              <a:buClrTx/>
              <a:buSzTx/>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網站指紋攻擊</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其他流量分析攻擊</a:t>
            </a:r>
          </a:p>
          <a:p>
            <a:pPr marL="285750" indent="-285750">
              <a:lnSpc>
                <a:spcPct val="120000"/>
              </a:lnSpc>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流量分析攻擊的防禦手段</a:t>
            </a:r>
          </a:p>
        </p:txBody>
      </p:sp>
      <p:cxnSp>
        <p:nvCxnSpPr>
          <p:cNvPr id="28" name="直接箭头连接符 63"/>
          <p:cNvCxnSpPr/>
          <p:nvPr/>
        </p:nvCxnSpPr>
        <p:spPr>
          <a:xfrm>
            <a:off x="8887542" y="3295204"/>
            <a:ext cx="503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lide Number Placeholder 7"/>
          <p:cNvSpPr txBox="1"/>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t>22</a:t>
            </a:fld>
            <a:endParaRPr lang="zh-CN" altLang="en-US" sz="1200" dirty="0">
              <a:solidFill>
                <a:schemeClr val="tx1">
                  <a:tint val="75000"/>
                </a:schemeClr>
              </a:solidFill>
            </a:endParaRPr>
          </a:p>
        </p:txBody>
      </p:sp>
      <p:sp>
        <p:nvSpPr>
          <p:cNvPr id="37" name="矩形: 圆角 179"/>
          <p:cNvSpPr/>
          <p:nvPr/>
        </p:nvSpPr>
        <p:spPr>
          <a:xfrm>
            <a:off x="181244" y="5118375"/>
            <a:ext cx="2683565" cy="719921"/>
          </a:xfrm>
          <a:prstGeom prst="roundRect">
            <a:avLst>
              <a:gd name="adj" fmla="val 6432"/>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zh-CN" altLang="en-US" sz="1600" kern="0">
              <a:solidFill>
                <a:srgbClr val="000000"/>
              </a:solidFill>
              <a:latin typeface="微软雅黑" panose="020B0503020204020204" pitchFamily="34" charset="-122"/>
              <a:ea typeface="微软雅黑" panose="020B0503020204020204" pitchFamily="34" charset="-122"/>
              <a:sym typeface="Helvetica Neue"/>
            </a:endParaRPr>
          </a:p>
        </p:txBody>
      </p:sp>
      <p:sp>
        <p:nvSpPr>
          <p:cNvPr id="38" name="文本框 155"/>
          <p:cNvSpPr txBox="1"/>
          <p:nvPr/>
        </p:nvSpPr>
        <p:spPr>
          <a:xfrm>
            <a:off x="1332951" y="5169353"/>
            <a:ext cx="1275830" cy="369332"/>
          </a:xfrm>
          <a:prstGeom prst="rect">
            <a:avLst/>
          </a:prstGeom>
          <a:noFill/>
        </p:spPr>
        <p:txBody>
          <a:bodyPr wrap="square">
            <a:spAutoFit/>
          </a:bodyPr>
          <a:lstStyle/>
          <a:p>
            <a:pPr algn="ctr">
              <a:defRPr/>
            </a:pPr>
            <a:r>
              <a:rPr lang="zh-CN" altLang="en-US" b="1" dirty="0">
                <a:solidFill>
                  <a:prstClr val="black"/>
                </a:solidFill>
                <a:latin typeface="微软雅黑" panose="020B0503020204020204" pitchFamily="34" charset="-122"/>
                <a:sym typeface="Helvetica Neue"/>
              </a:rPr>
              <a:t>未知攻擊</a:t>
            </a:r>
          </a:p>
        </p:txBody>
      </p:sp>
      <p:sp>
        <p:nvSpPr>
          <p:cNvPr id="39" name="TextBox 123"/>
          <p:cNvSpPr txBox="1"/>
          <p:nvPr/>
        </p:nvSpPr>
        <p:spPr>
          <a:xfrm>
            <a:off x="1295639" y="5483632"/>
            <a:ext cx="1503779" cy="338554"/>
          </a:xfrm>
          <a:prstGeom prst="rect">
            <a:avLst/>
          </a:prstGeom>
          <a:noFill/>
        </p:spPr>
        <p:txBody>
          <a:bodyPr wrap="square">
            <a:spAutoFit/>
          </a:bodyPr>
          <a:lstStyle/>
          <a:p>
            <a:pPr algn="ctr">
              <a:defRPr/>
            </a:pPr>
            <a:r>
              <a:rPr lang="zh-CN" altLang="en-US" sz="1600" dirty="0">
                <a:solidFill>
                  <a:prstClr val="black"/>
                </a:solidFill>
                <a:latin typeface="微软雅黑" panose="020B0503020204020204" pitchFamily="34" charset="-122"/>
                <a:sym typeface="Helvetica Neue"/>
              </a:rPr>
              <a:t>高效信息使用</a:t>
            </a:r>
          </a:p>
        </p:txBody>
      </p:sp>
      <p:grpSp>
        <p:nvGrpSpPr>
          <p:cNvPr id="40" name="Group 3"/>
          <p:cNvGrpSpPr/>
          <p:nvPr/>
        </p:nvGrpSpPr>
        <p:grpSpPr>
          <a:xfrm>
            <a:off x="447555" y="5264285"/>
            <a:ext cx="800952" cy="485200"/>
            <a:chOff x="764215" y="5601430"/>
            <a:chExt cx="664615" cy="402610"/>
          </a:xfrm>
        </p:grpSpPr>
        <p:sp>
          <p:nvSpPr>
            <p:cNvPr id="41" name="Oval 124"/>
            <p:cNvSpPr/>
            <p:nvPr/>
          </p:nvSpPr>
          <p:spPr>
            <a:xfrm rot="16200000">
              <a:off x="764215" y="5906216"/>
              <a:ext cx="97824" cy="97824"/>
            </a:xfrm>
            <a:prstGeom prst="ellipse">
              <a:avLst/>
            </a:prstGeom>
            <a:solidFill>
              <a:sysClr val="window" lastClr="FFFFFF"/>
            </a:solidFill>
            <a:ln w="19050" cap="flat" cmpd="sng" algn="ctr">
              <a:solidFill>
                <a:srgbClr val="4472C4">
                  <a:lumMod val="60000"/>
                  <a:lumOff val="40000"/>
                </a:srgbClr>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2" name="Oval 125"/>
            <p:cNvSpPr/>
            <p:nvPr/>
          </p:nvSpPr>
          <p:spPr>
            <a:xfrm rot="16200000">
              <a:off x="905913" y="5906216"/>
              <a:ext cx="97824" cy="97824"/>
            </a:xfrm>
            <a:prstGeom prst="ellipse">
              <a:avLst/>
            </a:prstGeom>
            <a:solidFill>
              <a:sysClr val="window" lastClr="FFFFFF"/>
            </a:solidFill>
            <a:ln w="19050" cap="flat" cmpd="sng" algn="ctr">
              <a:solidFill>
                <a:srgbClr val="4472C4">
                  <a:lumMod val="60000"/>
                  <a:lumOff val="40000"/>
                </a:srgbClr>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3" name="Oval 126"/>
            <p:cNvSpPr/>
            <p:nvPr/>
          </p:nvSpPr>
          <p:spPr>
            <a:xfrm rot="16200000">
              <a:off x="1047611" y="5906216"/>
              <a:ext cx="97824" cy="97824"/>
            </a:xfrm>
            <a:prstGeom prst="ellipse">
              <a:avLst/>
            </a:prstGeom>
            <a:solidFill>
              <a:sysClr val="window" lastClr="FFFFFF"/>
            </a:solidFill>
            <a:ln w="19050" cap="flat" cmpd="sng" algn="ctr">
              <a:solidFill>
                <a:srgbClr val="4472C4">
                  <a:lumMod val="60000"/>
                  <a:lumOff val="40000"/>
                </a:srgbClr>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4" name="Oval 127"/>
            <p:cNvSpPr/>
            <p:nvPr/>
          </p:nvSpPr>
          <p:spPr>
            <a:xfrm rot="16200000">
              <a:off x="1189309" y="5906216"/>
              <a:ext cx="97824" cy="97824"/>
            </a:xfrm>
            <a:prstGeom prst="ellipse">
              <a:avLst/>
            </a:prstGeom>
            <a:solidFill>
              <a:sysClr val="window" lastClr="FFFFFF"/>
            </a:solidFill>
            <a:ln w="19050" cap="flat" cmpd="sng" algn="ctr">
              <a:solidFill>
                <a:srgbClr val="4472C4">
                  <a:lumMod val="60000"/>
                  <a:lumOff val="40000"/>
                </a:srgbClr>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5" name="Oval 128"/>
            <p:cNvSpPr/>
            <p:nvPr/>
          </p:nvSpPr>
          <p:spPr>
            <a:xfrm rot="16200000">
              <a:off x="1331006" y="5906216"/>
              <a:ext cx="97824" cy="97824"/>
            </a:xfrm>
            <a:prstGeom prst="ellipse">
              <a:avLst/>
            </a:prstGeom>
            <a:solidFill>
              <a:sysClr val="window" lastClr="FFFFFF"/>
            </a:solidFill>
            <a:ln w="19050" cap="flat" cmpd="sng" algn="ctr">
              <a:solidFill>
                <a:srgbClr val="FFC000"/>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6" name="Oval 129"/>
            <p:cNvSpPr/>
            <p:nvPr/>
          </p:nvSpPr>
          <p:spPr>
            <a:xfrm rot="16200000">
              <a:off x="834166" y="5601430"/>
              <a:ext cx="97824" cy="97824"/>
            </a:xfrm>
            <a:prstGeom prst="ellipse">
              <a:avLst/>
            </a:prstGeom>
            <a:solidFill>
              <a:sysClr val="window" lastClr="FFFFFF"/>
            </a:solidFill>
            <a:ln w="19050" cap="flat" cmpd="sng" algn="ctr">
              <a:solidFill>
                <a:srgbClr val="00B0F0"/>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7" name="Oval 130"/>
            <p:cNvSpPr/>
            <p:nvPr/>
          </p:nvSpPr>
          <p:spPr>
            <a:xfrm rot="16200000">
              <a:off x="983475" y="5601430"/>
              <a:ext cx="97824" cy="97824"/>
            </a:xfrm>
            <a:prstGeom prst="ellipse">
              <a:avLst/>
            </a:prstGeom>
            <a:solidFill>
              <a:sysClr val="window" lastClr="FFFFFF"/>
            </a:solidFill>
            <a:ln w="19050" cap="flat" cmpd="sng" algn="ctr">
              <a:solidFill>
                <a:srgbClr val="00B0F0"/>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8" name="Oval 131"/>
            <p:cNvSpPr/>
            <p:nvPr/>
          </p:nvSpPr>
          <p:spPr>
            <a:xfrm rot="16200000">
              <a:off x="1132784" y="5601430"/>
              <a:ext cx="97824" cy="97824"/>
            </a:xfrm>
            <a:prstGeom prst="ellipse">
              <a:avLst/>
            </a:prstGeom>
            <a:solidFill>
              <a:sysClr val="window" lastClr="FFFFFF"/>
            </a:solidFill>
            <a:ln w="19050" cap="flat" cmpd="sng" algn="ctr">
              <a:solidFill>
                <a:srgbClr val="00B0F0"/>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sp>
          <p:nvSpPr>
            <p:cNvPr id="49" name="Oval 132"/>
            <p:cNvSpPr/>
            <p:nvPr/>
          </p:nvSpPr>
          <p:spPr>
            <a:xfrm rot="16200000">
              <a:off x="1282094" y="5601430"/>
              <a:ext cx="97824" cy="97824"/>
            </a:xfrm>
            <a:prstGeom prst="ellipse">
              <a:avLst/>
            </a:prstGeom>
            <a:solidFill>
              <a:sysClr val="window" lastClr="FFFFFF"/>
            </a:solidFill>
            <a:ln w="19050" cap="flat" cmpd="sng" algn="ctr">
              <a:solidFill>
                <a:srgbClr val="FFC000"/>
              </a:solidFill>
              <a:prstDash val="solid"/>
              <a:miter lim="800000"/>
            </a:ln>
            <a:effectLst/>
          </p:spPr>
          <p:txBody>
            <a:bodyPr rtlCol="0" anchor="ctr"/>
            <a:lstStyle/>
            <a:p>
              <a:pPr marL="0" marR="0" lvl="0" indent="0" algn="ctr" defTabSz="912495" eaLnBrk="1" fontAlgn="auto" latinLnBrk="0" hangingPunct="0">
                <a:lnSpc>
                  <a:spcPct val="100000"/>
                </a:lnSpc>
                <a:spcBef>
                  <a:spcPts val="0"/>
                </a:spcBef>
                <a:spcAft>
                  <a:spcPts val="0"/>
                </a:spcAft>
                <a:buClrTx/>
                <a:buSzTx/>
                <a:buFontTx/>
                <a:buNone/>
                <a:defRPr/>
              </a:pPr>
              <a:endParaRPr kumimoji="0" lang="en-US" sz="900" b="0" i="0" u="none" strike="noStrike" kern="0" cap="none" spc="0" normalizeH="0" baseline="0" noProof="0">
                <a:ln>
                  <a:noFill/>
                </a:ln>
                <a:solidFill>
                  <a:prstClr val="white"/>
                </a:solidFill>
                <a:effectLst/>
                <a:uLnTx/>
                <a:uFillTx/>
                <a:latin typeface="等线" panose="02010600030101010101" charset="-122"/>
                <a:ea typeface="+mn-ea"/>
                <a:cs typeface="+mn-cs"/>
                <a:sym typeface="Helvetica Neue"/>
              </a:endParaRPr>
            </a:p>
          </p:txBody>
        </p:sp>
        <p:cxnSp>
          <p:nvCxnSpPr>
            <p:cNvPr id="50" name="Straight Connector 133"/>
            <p:cNvCxnSpPr>
              <a:stCxn id="41" idx="6"/>
              <a:endCxn id="46" idx="2"/>
            </p:cNvCxnSpPr>
            <p:nvPr/>
          </p:nvCxnSpPr>
          <p:spPr>
            <a:xfrm flipV="1">
              <a:off x="813127" y="5699254"/>
              <a:ext cx="69951" cy="206962"/>
            </a:xfrm>
            <a:prstGeom prst="line">
              <a:avLst/>
            </a:prstGeom>
            <a:noFill/>
            <a:ln w="9525" cap="flat" cmpd="sng" algn="ctr">
              <a:solidFill>
                <a:srgbClr val="4472C4"/>
              </a:solidFill>
              <a:prstDash val="solid"/>
              <a:miter lim="800000"/>
            </a:ln>
            <a:effectLst/>
          </p:spPr>
        </p:cxnSp>
        <p:cxnSp>
          <p:nvCxnSpPr>
            <p:cNvPr id="51" name="Straight Connector 134"/>
            <p:cNvCxnSpPr>
              <a:stCxn id="41" idx="6"/>
              <a:endCxn id="47" idx="2"/>
            </p:cNvCxnSpPr>
            <p:nvPr/>
          </p:nvCxnSpPr>
          <p:spPr>
            <a:xfrm flipV="1">
              <a:off x="813127" y="5699254"/>
              <a:ext cx="219260" cy="206962"/>
            </a:xfrm>
            <a:prstGeom prst="line">
              <a:avLst/>
            </a:prstGeom>
            <a:noFill/>
            <a:ln w="9525" cap="flat" cmpd="sng" algn="ctr">
              <a:solidFill>
                <a:srgbClr val="4472C4"/>
              </a:solidFill>
              <a:prstDash val="solid"/>
              <a:miter lim="800000"/>
            </a:ln>
            <a:effectLst/>
          </p:spPr>
        </p:cxnSp>
        <p:cxnSp>
          <p:nvCxnSpPr>
            <p:cNvPr id="52" name="Straight Connector 135"/>
            <p:cNvCxnSpPr>
              <a:stCxn id="41" idx="6"/>
              <a:endCxn id="48" idx="2"/>
            </p:cNvCxnSpPr>
            <p:nvPr/>
          </p:nvCxnSpPr>
          <p:spPr>
            <a:xfrm flipV="1">
              <a:off x="813127" y="5699254"/>
              <a:ext cx="368569" cy="206962"/>
            </a:xfrm>
            <a:prstGeom prst="line">
              <a:avLst/>
            </a:prstGeom>
            <a:noFill/>
            <a:ln w="9525" cap="flat" cmpd="sng" algn="ctr">
              <a:solidFill>
                <a:srgbClr val="4472C4"/>
              </a:solidFill>
              <a:prstDash val="solid"/>
              <a:miter lim="800000"/>
            </a:ln>
            <a:effectLst/>
          </p:spPr>
        </p:cxnSp>
        <p:cxnSp>
          <p:nvCxnSpPr>
            <p:cNvPr id="53" name="Straight Connector 136"/>
            <p:cNvCxnSpPr>
              <a:stCxn id="41" idx="6"/>
              <a:endCxn id="49" idx="2"/>
            </p:cNvCxnSpPr>
            <p:nvPr/>
          </p:nvCxnSpPr>
          <p:spPr>
            <a:xfrm flipV="1">
              <a:off x="813127" y="5699254"/>
              <a:ext cx="517879" cy="206962"/>
            </a:xfrm>
            <a:prstGeom prst="line">
              <a:avLst/>
            </a:prstGeom>
            <a:noFill/>
            <a:ln w="9525" cap="flat" cmpd="sng" algn="ctr">
              <a:solidFill>
                <a:srgbClr val="4472C4"/>
              </a:solidFill>
              <a:prstDash val="solid"/>
              <a:miter lim="800000"/>
            </a:ln>
            <a:effectLst/>
          </p:spPr>
        </p:cxnSp>
        <p:cxnSp>
          <p:nvCxnSpPr>
            <p:cNvPr id="54" name="Straight Connector 137"/>
            <p:cNvCxnSpPr>
              <a:stCxn id="42" idx="6"/>
              <a:endCxn id="46" idx="2"/>
            </p:cNvCxnSpPr>
            <p:nvPr/>
          </p:nvCxnSpPr>
          <p:spPr>
            <a:xfrm flipH="1" flipV="1">
              <a:off x="883078" y="5699254"/>
              <a:ext cx="71747" cy="206962"/>
            </a:xfrm>
            <a:prstGeom prst="line">
              <a:avLst/>
            </a:prstGeom>
            <a:noFill/>
            <a:ln w="9525" cap="flat" cmpd="sng" algn="ctr">
              <a:solidFill>
                <a:srgbClr val="4472C4"/>
              </a:solidFill>
              <a:prstDash val="solid"/>
              <a:miter lim="800000"/>
            </a:ln>
            <a:effectLst/>
          </p:spPr>
        </p:cxnSp>
        <p:cxnSp>
          <p:nvCxnSpPr>
            <p:cNvPr id="55" name="Straight Connector 138"/>
            <p:cNvCxnSpPr>
              <a:stCxn id="43" idx="6"/>
              <a:endCxn id="46" idx="2"/>
            </p:cNvCxnSpPr>
            <p:nvPr/>
          </p:nvCxnSpPr>
          <p:spPr>
            <a:xfrm flipH="1" flipV="1">
              <a:off x="883078" y="5699254"/>
              <a:ext cx="213445" cy="206962"/>
            </a:xfrm>
            <a:prstGeom prst="line">
              <a:avLst/>
            </a:prstGeom>
            <a:noFill/>
            <a:ln w="9525" cap="flat" cmpd="sng" algn="ctr">
              <a:solidFill>
                <a:srgbClr val="4472C4"/>
              </a:solidFill>
              <a:prstDash val="solid"/>
              <a:miter lim="800000"/>
            </a:ln>
            <a:effectLst/>
          </p:spPr>
        </p:cxnSp>
        <p:cxnSp>
          <p:nvCxnSpPr>
            <p:cNvPr id="56" name="Straight Connector 139"/>
            <p:cNvCxnSpPr>
              <a:stCxn id="44" idx="6"/>
              <a:endCxn id="46" idx="2"/>
            </p:cNvCxnSpPr>
            <p:nvPr/>
          </p:nvCxnSpPr>
          <p:spPr>
            <a:xfrm flipH="1" flipV="1">
              <a:off x="883078" y="5699254"/>
              <a:ext cx="355143" cy="206962"/>
            </a:xfrm>
            <a:prstGeom prst="line">
              <a:avLst/>
            </a:prstGeom>
            <a:noFill/>
            <a:ln w="9525" cap="flat" cmpd="sng" algn="ctr">
              <a:solidFill>
                <a:srgbClr val="4472C4"/>
              </a:solidFill>
              <a:prstDash val="solid"/>
              <a:miter lim="800000"/>
            </a:ln>
            <a:effectLst/>
          </p:spPr>
        </p:cxnSp>
        <p:cxnSp>
          <p:nvCxnSpPr>
            <p:cNvPr id="57" name="Straight Connector 140"/>
            <p:cNvCxnSpPr>
              <a:stCxn id="45" idx="6"/>
              <a:endCxn id="46" idx="2"/>
            </p:cNvCxnSpPr>
            <p:nvPr/>
          </p:nvCxnSpPr>
          <p:spPr>
            <a:xfrm flipH="1" flipV="1">
              <a:off x="883078" y="5699254"/>
              <a:ext cx="496840" cy="206962"/>
            </a:xfrm>
            <a:prstGeom prst="line">
              <a:avLst/>
            </a:prstGeom>
            <a:noFill/>
            <a:ln w="9525" cap="flat" cmpd="sng" algn="ctr">
              <a:solidFill>
                <a:srgbClr val="4472C4"/>
              </a:solidFill>
              <a:prstDash val="solid"/>
              <a:miter lim="800000"/>
            </a:ln>
            <a:effectLst/>
          </p:spPr>
        </p:cxnSp>
        <p:cxnSp>
          <p:nvCxnSpPr>
            <p:cNvPr id="58" name="Straight Connector 141"/>
            <p:cNvCxnSpPr>
              <a:stCxn id="42" idx="6"/>
              <a:endCxn id="47" idx="2"/>
            </p:cNvCxnSpPr>
            <p:nvPr/>
          </p:nvCxnSpPr>
          <p:spPr>
            <a:xfrm flipV="1">
              <a:off x="954825" y="5699254"/>
              <a:ext cx="77562" cy="206962"/>
            </a:xfrm>
            <a:prstGeom prst="line">
              <a:avLst/>
            </a:prstGeom>
            <a:noFill/>
            <a:ln w="9525" cap="flat" cmpd="sng" algn="ctr">
              <a:solidFill>
                <a:srgbClr val="4472C4"/>
              </a:solidFill>
              <a:prstDash val="solid"/>
              <a:miter lim="800000"/>
            </a:ln>
            <a:effectLst/>
          </p:spPr>
        </p:cxnSp>
        <p:cxnSp>
          <p:nvCxnSpPr>
            <p:cNvPr id="59" name="Straight Connector 142"/>
            <p:cNvCxnSpPr>
              <a:stCxn id="42" idx="6"/>
              <a:endCxn id="48" idx="2"/>
            </p:cNvCxnSpPr>
            <p:nvPr/>
          </p:nvCxnSpPr>
          <p:spPr>
            <a:xfrm flipV="1">
              <a:off x="954825" y="5699254"/>
              <a:ext cx="226871" cy="206962"/>
            </a:xfrm>
            <a:prstGeom prst="line">
              <a:avLst/>
            </a:prstGeom>
            <a:noFill/>
            <a:ln w="9525" cap="flat" cmpd="sng" algn="ctr">
              <a:solidFill>
                <a:srgbClr val="4472C4"/>
              </a:solidFill>
              <a:prstDash val="solid"/>
              <a:miter lim="800000"/>
            </a:ln>
            <a:effectLst/>
          </p:spPr>
        </p:cxnSp>
        <p:cxnSp>
          <p:nvCxnSpPr>
            <p:cNvPr id="60" name="Straight Connector 143"/>
            <p:cNvCxnSpPr>
              <a:stCxn id="42" idx="6"/>
              <a:endCxn id="49" idx="2"/>
            </p:cNvCxnSpPr>
            <p:nvPr/>
          </p:nvCxnSpPr>
          <p:spPr>
            <a:xfrm flipV="1">
              <a:off x="954825" y="5699254"/>
              <a:ext cx="376181" cy="206962"/>
            </a:xfrm>
            <a:prstGeom prst="line">
              <a:avLst/>
            </a:prstGeom>
            <a:noFill/>
            <a:ln w="9525" cap="flat" cmpd="sng" algn="ctr">
              <a:solidFill>
                <a:srgbClr val="4472C4"/>
              </a:solidFill>
              <a:prstDash val="solid"/>
              <a:miter lim="800000"/>
            </a:ln>
            <a:effectLst/>
          </p:spPr>
        </p:cxnSp>
        <p:cxnSp>
          <p:nvCxnSpPr>
            <p:cNvPr id="61" name="Straight Connector 144"/>
            <p:cNvCxnSpPr>
              <a:stCxn id="43" idx="6"/>
              <a:endCxn id="47" idx="2"/>
            </p:cNvCxnSpPr>
            <p:nvPr/>
          </p:nvCxnSpPr>
          <p:spPr>
            <a:xfrm flipH="1" flipV="1">
              <a:off x="1032387" y="5699254"/>
              <a:ext cx="64136" cy="206962"/>
            </a:xfrm>
            <a:prstGeom prst="line">
              <a:avLst/>
            </a:prstGeom>
            <a:noFill/>
            <a:ln w="9525" cap="flat" cmpd="sng" algn="ctr">
              <a:solidFill>
                <a:srgbClr val="4472C4"/>
              </a:solidFill>
              <a:prstDash val="solid"/>
              <a:miter lim="800000"/>
            </a:ln>
            <a:effectLst/>
          </p:spPr>
        </p:cxnSp>
        <p:cxnSp>
          <p:nvCxnSpPr>
            <p:cNvPr id="62" name="Straight Connector 145"/>
            <p:cNvCxnSpPr>
              <a:stCxn id="43" idx="6"/>
              <a:endCxn id="48" idx="2"/>
            </p:cNvCxnSpPr>
            <p:nvPr/>
          </p:nvCxnSpPr>
          <p:spPr>
            <a:xfrm flipV="1">
              <a:off x="1096523" y="5699254"/>
              <a:ext cx="85173" cy="206962"/>
            </a:xfrm>
            <a:prstGeom prst="line">
              <a:avLst/>
            </a:prstGeom>
            <a:noFill/>
            <a:ln w="9525" cap="flat" cmpd="sng" algn="ctr">
              <a:solidFill>
                <a:srgbClr val="4472C4"/>
              </a:solidFill>
              <a:prstDash val="solid"/>
              <a:miter lim="800000"/>
            </a:ln>
            <a:effectLst/>
          </p:spPr>
        </p:cxnSp>
        <p:cxnSp>
          <p:nvCxnSpPr>
            <p:cNvPr id="63" name="Straight Connector 146"/>
            <p:cNvCxnSpPr>
              <a:stCxn id="44" idx="6"/>
              <a:endCxn id="47" idx="2"/>
            </p:cNvCxnSpPr>
            <p:nvPr/>
          </p:nvCxnSpPr>
          <p:spPr>
            <a:xfrm flipH="1" flipV="1">
              <a:off x="1032387" y="5699254"/>
              <a:ext cx="205834" cy="206962"/>
            </a:xfrm>
            <a:prstGeom prst="line">
              <a:avLst/>
            </a:prstGeom>
            <a:noFill/>
            <a:ln w="9525" cap="flat" cmpd="sng" algn="ctr">
              <a:solidFill>
                <a:srgbClr val="4472C4"/>
              </a:solidFill>
              <a:prstDash val="solid"/>
              <a:miter lim="800000"/>
            </a:ln>
            <a:effectLst/>
          </p:spPr>
        </p:cxnSp>
        <p:cxnSp>
          <p:nvCxnSpPr>
            <p:cNvPr id="64" name="Straight Connector 147"/>
            <p:cNvCxnSpPr>
              <a:stCxn id="44" idx="6"/>
              <a:endCxn id="48" idx="2"/>
            </p:cNvCxnSpPr>
            <p:nvPr/>
          </p:nvCxnSpPr>
          <p:spPr>
            <a:xfrm flipH="1" flipV="1">
              <a:off x="1181696" y="5699254"/>
              <a:ext cx="56525" cy="206962"/>
            </a:xfrm>
            <a:prstGeom prst="line">
              <a:avLst/>
            </a:prstGeom>
            <a:noFill/>
            <a:ln w="9525" cap="flat" cmpd="sng" algn="ctr">
              <a:solidFill>
                <a:srgbClr val="4472C4"/>
              </a:solidFill>
              <a:prstDash val="solid"/>
              <a:miter lim="800000"/>
            </a:ln>
            <a:effectLst/>
          </p:spPr>
        </p:cxnSp>
        <p:cxnSp>
          <p:nvCxnSpPr>
            <p:cNvPr id="65" name="Straight Connector 148"/>
            <p:cNvCxnSpPr>
              <a:stCxn id="45" idx="6"/>
              <a:endCxn id="47" idx="2"/>
            </p:cNvCxnSpPr>
            <p:nvPr/>
          </p:nvCxnSpPr>
          <p:spPr>
            <a:xfrm flipH="1" flipV="1">
              <a:off x="1032387" y="5699254"/>
              <a:ext cx="347531" cy="206962"/>
            </a:xfrm>
            <a:prstGeom prst="line">
              <a:avLst/>
            </a:prstGeom>
            <a:noFill/>
            <a:ln w="9525" cap="flat" cmpd="sng" algn="ctr">
              <a:solidFill>
                <a:srgbClr val="4472C4"/>
              </a:solidFill>
              <a:prstDash val="solid"/>
              <a:miter lim="800000"/>
            </a:ln>
            <a:effectLst/>
          </p:spPr>
        </p:cxnSp>
        <p:cxnSp>
          <p:nvCxnSpPr>
            <p:cNvPr id="66" name="Straight Connector 149"/>
            <p:cNvCxnSpPr>
              <a:stCxn id="45" idx="6"/>
              <a:endCxn id="48" idx="2"/>
            </p:cNvCxnSpPr>
            <p:nvPr/>
          </p:nvCxnSpPr>
          <p:spPr>
            <a:xfrm flipH="1" flipV="1">
              <a:off x="1181696" y="5699254"/>
              <a:ext cx="198222" cy="206962"/>
            </a:xfrm>
            <a:prstGeom prst="line">
              <a:avLst/>
            </a:prstGeom>
            <a:noFill/>
            <a:ln w="9525" cap="flat" cmpd="sng" algn="ctr">
              <a:solidFill>
                <a:srgbClr val="4472C4"/>
              </a:solidFill>
              <a:prstDash val="solid"/>
              <a:miter lim="800000"/>
            </a:ln>
            <a:effectLst/>
          </p:spPr>
        </p:cxnSp>
        <p:cxnSp>
          <p:nvCxnSpPr>
            <p:cNvPr id="67" name="Straight Connector 150"/>
            <p:cNvCxnSpPr>
              <a:stCxn id="45" idx="6"/>
              <a:endCxn id="49" idx="2"/>
            </p:cNvCxnSpPr>
            <p:nvPr/>
          </p:nvCxnSpPr>
          <p:spPr>
            <a:xfrm flipH="1" flipV="1">
              <a:off x="1331006" y="5699254"/>
              <a:ext cx="48912" cy="206962"/>
            </a:xfrm>
            <a:prstGeom prst="line">
              <a:avLst/>
            </a:prstGeom>
            <a:noFill/>
            <a:ln w="9525" cap="flat" cmpd="sng" algn="ctr">
              <a:solidFill>
                <a:srgbClr val="FFC000"/>
              </a:solidFill>
              <a:prstDash val="solid"/>
              <a:miter lim="800000"/>
            </a:ln>
            <a:effectLst/>
          </p:spPr>
        </p:cxnSp>
      </p:grpSp>
      <p:sp>
        <p:nvSpPr>
          <p:cNvPr id="68" name="矩形: 圆角 179"/>
          <p:cNvSpPr/>
          <p:nvPr/>
        </p:nvSpPr>
        <p:spPr>
          <a:xfrm>
            <a:off x="6211583" y="5110477"/>
            <a:ext cx="2683565" cy="719921"/>
          </a:xfrm>
          <a:prstGeom prst="roundRect">
            <a:avLst>
              <a:gd name="adj" fmla="val 6432"/>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zh-CN" altLang="en-US" sz="1600" kern="0">
              <a:solidFill>
                <a:srgbClr val="000000"/>
              </a:solidFill>
              <a:latin typeface="微软雅黑" panose="020B0503020204020204" pitchFamily="34" charset="-122"/>
              <a:ea typeface="微软雅黑" panose="020B0503020204020204" pitchFamily="34" charset="-122"/>
              <a:sym typeface="Helvetica Neue"/>
            </a:endParaRPr>
          </a:p>
        </p:txBody>
      </p:sp>
      <p:sp>
        <p:nvSpPr>
          <p:cNvPr id="69" name="文本框 155"/>
          <p:cNvSpPr txBox="1"/>
          <p:nvPr/>
        </p:nvSpPr>
        <p:spPr>
          <a:xfrm>
            <a:off x="7363290" y="5144578"/>
            <a:ext cx="1275830" cy="369332"/>
          </a:xfrm>
          <a:prstGeom prst="rect">
            <a:avLst/>
          </a:prstGeom>
          <a:noFill/>
        </p:spPr>
        <p:txBody>
          <a:bodyPr wrap="square">
            <a:spAutoFit/>
          </a:bodyPr>
          <a:lstStyle/>
          <a:p>
            <a:pPr algn="ctr">
              <a:defRPr/>
            </a:pPr>
            <a:r>
              <a:rPr lang="zh-CN" altLang="en-US" b="1" dirty="0">
                <a:solidFill>
                  <a:prstClr val="black"/>
                </a:solidFill>
                <a:latin typeface="微软雅黑" panose="020B0503020204020204" pitchFamily="34" charset="-122"/>
                <a:sym typeface="Helvetica Neue"/>
              </a:rPr>
              <a:t>流量規模</a:t>
            </a:r>
          </a:p>
        </p:txBody>
      </p:sp>
      <p:sp>
        <p:nvSpPr>
          <p:cNvPr id="70" name="TextBox 153"/>
          <p:cNvSpPr txBox="1"/>
          <p:nvPr/>
        </p:nvSpPr>
        <p:spPr>
          <a:xfrm>
            <a:off x="7251165" y="5458857"/>
            <a:ext cx="1503779" cy="338554"/>
          </a:xfrm>
          <a:prstGeom prst="rect">
            <a:avLst/>
          </a:prstGeom>
          <a:noFill/>
        </p:spPr>
        <p:txBody>
          <a:bodyPr wrap="square">
            <a:spAutoFit/>
          </a:bodyPr>
          <a:lstStyle/>
          <a:p>
            <a:pPr algn="ctr">
              <a:defRPr/>
            </a:pPr>
            <a:r>
              <a:rPr lang="zh-CN" altLang="en-US" sz="1600" dirty="0">
                <a:solidFill>
                  <a:prstClr val="black"/>
                </a:solidFill>
                <a:latin typeface="微软雅黑" panose="020B0503020204020204" pitchFamily="34" charset="-122"/>
                <a:sym typeface="Helvetica Neue"/>
              </a:rPr>
              <a:t>海量流量匹配</a:t>
            </a:r>
          </a:p>
        </p:txBody>
      </p:sp>
      <p:grpSp>
        <p:nvGrpSpPr>
          <p:cNvPr id="71" name="Group 182"/>
          <p:cNvGrpSpPr/>
          <p:nvPr/>
        </p:nvGrpSpPr>
        <p:grpSpPr>
          <a:xfrm>
            <a:off x="6513384" y="5181773"/>
            <a:ext cx="554167" cy="554167"/>
            <a:chOff x="7095512" y="3741268"/>
            <a:chExt cx="391195" cy="391195"/>
          </a:xfrm>
        </p:grpSpPr>
        <p:sp>
          <p:nvSpPr>
            <p:cNvPr id="72" name="椭圆 34"/>
            <p:cNvSpPr/>
            <p:nvPr/>
          </p:nvSpPr>
          <p:spPr>
            <a:xfrm>
              <a:off x="7095512" y="3741268"/>
              <a:ext cx="391195" cy="391195"/>
            </a:xfrm>
            <a:prstGeom prst="ellipse">
              <a:avLst/>
            </a:prstGeom>
            <a:no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endParaRPr>
            </a:p>
          </p:txBody>
        </p:sp>
        <p:pic>
          <p:nvPicPr>
            <p:cNvPr id="73" name="Graphic 18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47335" y="3799910"/>
              <a:ext cx="287548" cy="287548"/>
            </a:xfrm>
            <a:prstGeom prst="rect">
              <a:avLst/>
            </a:prstGeom>
          </p:spPr>
        </p:pic>
      </p:grpSp>
      <p:sp>
        <p:nvSpPr>
          <p:cNvPr id="74" name="矩形: 圆角 179"/>
          <p:cNvSpPr/>
          <p:nvPr/>
        </p:nvSpPr>
        <p:spPr>
          <a:xfrm>
            <a:off x="3202157" y="5118375"/>
            <a:ext cx="2683565" cy="719921"/>
          </a:xfrm>
          <a:prstGeom prst="roundRect">
            <a:avLst>
              <a:gd name="adj" fmla="val 6432"/>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zh-CN" altLang="en-US" sz="1600" kern="0">
              <a:solidFill>
                <a:srgbClr val="000000"/>
              </a:solidFill>
              <a:latin typeface="微软雅黑" panose="020B0503020204020204" pitchFamily="34" charset="-122"/>
              <a:ea typeface="微软雅黑" panose="020B0503020204020204" pitchFamily="34" charset="-122"/>
              <a:sym typeface="Helvetica Neue"/>
            </a:endParaRPr>
          </a:p>
        </p:txBody>
      </p:sp>
      <p:sp>
        <p:nvSpPr>
          <p:cNvPr id="75" name="文本框 155"/>
          <p:cNvSpPr txBox="1"/>
          <p:nvPr/>
        </p:nvSpPr>
        <p:spPr>
          <a:xfrm>
            <a:off x="4299834" y="5179244"/>
            <a:ext cx="1275830" cy="369332"/>
          </a:xfrm>
          <a:prstGeom prst="rect">
            <a:avLst/>
          </a:prstGeom>
          <a:noFill/>
        </p:spPr>
        <p:txBody>
          <a:bodyPr wrap="square">
            <a:spAutoFit/>
          </a:bodyPr>
          <a:lstStyle/>
          <a:p>
            <a:pPr algn="ctr">
              <a:defRPr/>
            </a:pPr>
            <a:r>
              <a:rPr lang="zh-CN" altLang="en-US" b="1" dirty="0">
                <a:solidFill>
                  <a:prstClr val="black"/>
                </a:solidFill>
                <a:latin typeface="微软雅黑" panose="020B0503020204020204" pitchFamily="34" charset="-122"/>
                <a:sym typeface="Helvetica Neue"/>
              </a:rPr>
              <a:t>未知攻擊</a:t>
            </a:r>
          </a:p>
        </p:txBody>
      </p:sp>
      <p:sp>
        <p:nvSpPr>
          <p:cNvPr id="76" name="TextBox 187"/>
          <p:cNvSpPr txBox="1"/>
          <p:nvPr/>
        </p:nvSpPr>
        <p:spPr>
          <a:xfrm>
            <a:off x="4262522" y="5493523"/>
            <a:ext cx="1503779" cy="338554"/>
          </a:xfrm>
          <a:prstGeom prst="rect">
            <a:avLst/>
          </a:prstGeom>
          <a:noFill/>
        </p:spPr>
        <p:txBody>
          <a:bodyPr wrap="square">
            <a:spAutoFit/>
          </a:bodyPr>
          <a:lstStyle/>
          <a:p>
            <a:pPr algn="ctr">
              <a:defRPr/>
            </a:pPr>
            <a:r>
              <a:rPr lang="zh-CN" altLang="en-US" sz="1600" dirty="0">
                <a:solidFill>
                  <a:prstClr val="black"/>
                </a:solidFill>
                <a:latin typeface="微软雅黑" panose="020B0503020204020204" pitchFamily="34" charset="-122"/>
                <a:sym typeface="Helvetica Neue"/>
              </a:rPr>
              <a:t>未知流量模式</a:t>
            </a:r>
          </a:p>
        </p:txBody>
      </p:sp>
      <p:grpSp>
        <p:nvGrpSpPr>
          <p:cNvPr id="77" name="组合 32"/>
          <p:cNvGrpSpPr/>
          <p:nvPr/>
        </p:nvGrpSpPr>
        <p:grpSpPr>
          <a:xfrm>
            <a:off x="3522188" y="5221961"/>
            <a:ext cx="548494" cy="548494"/>
            <a:chOff x="4645640" y="2543781"/>
            <a:chExt cx="981094" cy="981094"/>
          </a:xfrm>
        </p:grpSpPr>
        <p:pic>
          <p:nvPicPr>
            <p:cNvPr id="78"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7450" y="2584803"/>
              <a:ext cx="907018" cy="907018"/>
            </a:xfrm>
            <a:prstGeom prst="rect">
              <a:avLst/>
            </a:prstGeom>
          </p:spPr>
        </p:pic>
        <p:sp>
          <p:nvSpPr>
            <p:cNvPr id="79" name="椭圆 34"/>
            <p:cNvSpPr/>
            <p:nvPr/>
          </p:nvSpPr>
          <p:spPr>
            <a:xfrm>
              <a:off x="4645640" y="2543781"/>
              <a:ext cx="981094" cy="981094"/>
            </a:xfrm>
            <a:prstGeom prst="ellipse">
              <a:avLst/>
            </a:prstGeom>
            <a:no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Neue"/>
              </a:endParaRPr>
            </a:p>
          </p:txBody>
        </p:sp>
      </p:grpSp>
      <p:sp>
        <p:nvSpPr>
          <p:cNvPr id="80" name="矩形: 圆角 179"/>
          <p:cNvSpPr/>
          <p:nvPr/>
        </p:nvSpPr>
        <p:spPr>
          <a:xfrm>
            <a:off x="9272382" y="5110477"/>
            <a:ext cx="2701395" cy="719921"/>
          </a:xfrm>
          <a:prstGeom prst="roundRect">
            <a:avLst>
              <a:gd name="adj" fmla="val 6432"/>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zh-CN" altLang="en-US" sz="1600" kern="0">
              <a:solidFill>
                <a:srgbClr val="000000"/>
              </a:solidFill>
              <a:latin typeface="微软雅黑" panose="020B0503020204020204" pitchFamily="34" charset="-122"/>
              <a:ea typeface="微软雅黑" panose="020B0503020204020204" pitchFamily="34" charset="-122"/>
              <a:sym typeface="Helvetica Neue"/>
            </a:endParaRPr>
          </a:p>
        </p:txBody>
      </p:sp>
      <p:sp>
        <p:nvSpPr>
          <p:cNvPr id="81" name="文本框 155"/>
          <p:cNvSpPr txBox="1"/>
          <p:nvPr/>
        </p:nvSpPr>
        <p:spPr>
          <a:xfrm>
            <a:off x="10441919" y="5113061"/>
            <a:ext cx="1275830" cy="369332"/>
          </a:xfrm>
          <a:prstGeom prst="rect">
            <a:avLst/>
          </a:prstGeom>
          <a:noFill/>
        </p:spPr>
        <p:txBody>
          <a:bodyPr wrap="square">
            <a:spAutoFit/>
          </a:bodyPr>
          <a:lstStyle/>
          <a:p>
            <a:pPr algn="ctr">
              <a:defRPr/>
            </a:pPr>
            <a:r>
              <a:rPr lang="zh-CN" altLang="en-US" b="1" dirty="0">
                <a:solidFill>
                  <a:prstClr val="black"/>
                </a:solidFill>
                <a:latin typeface="微软雅黑" panose="020B0503020204020204" pitchFamily="34" charset="-122"/>
                <a:sym typeface="Helvetica Neue"/>
              </a:rPr>
              <a:t>竊取信息</a:t>
            </a:r>
          </a:p>
        </p:txBody>
      </p:sp>
      <p:sp>
        <p:nvSpPr>
          <p:cNvPr id="82" name="TextBox 221"/>
          <p:cNvSpPr txBox="1"/>
          <p:nvPr/>
        </p:nvSpPr>
        <p:spPr>
          <a:xfrm>
            <a:off x="10387675" y="5431573"/>
            <a:ext cx="1503779" cy="338554"/>
          </a:xfrm>
          <a:prstGeom prst="rect">
            <a:avLst/>
          </a:prstGeom>
          <a:noFill/>
        </p:spPr>
        <p:txBody>
          <a:bodyPr wrap="square">
            <a:spAutoFit/>
          </a:bodyPr>
          <a:lstStyle/>
          <a:p>
            <a:pPr algn="ctr">
              <a:defRPr/>
            </a:pPr>
            <a:r>
              <a:rPr lang="zh-CN" altLang="en-US" sz="1600" dirty="0">
                <a:solidFill>
                  <a:prstClr val="black"/>
                </a:solidFill>
                <a:latin typeface="微软雅黑" panose="020B0503020204020204" pitchFamily="34" charset="-122"/>
                <a:sym typeface="Helvetica Neue"/>
              </a:rPr>
              <a:t>高效信息使用</a:t>
            </a:r>
          </a:p>
        </p:txBody>
      </p:sp>
      <p:pic>
        <p:nvPicPr>
          <p:cNvPr id="83" name="图片 8"/>
          <p:cNvPicPr>
            <a:picLocks noChangeAspect="1"/>
          </p:cNvPicPr>
          <p:nvPr/>
        </p:nvPicPr>
        <p:blipFill rotWithShape="1">
          <a:blip r:embed="rId5">
            <a:clrChange>
              <a:clrFrom>
                <a:srgbClr val="FFFFFF"/>
              </a:clrFrom>
              <a:clrTo>
                <a:srgbClr val="FFFFFF">
                  <a:alpha val="0"/>
                </a:srgbClr>
              </a:clrTo>
            </a:clrChange>
          </a:blip>
          <a:srcRect l="7258" t="10827" r="8080" b="1203"/>
          <a:stretch>
            <a:fillRect/>
          </a:stretch>
        </p:blipFill>
        <p:spPr>
          <a:xfrm>
            <a:off x="9559791" y="5179099"/>
            <a:ext cx="735180" cy="5258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C631CF44-859D-B349-B903-5EAB8473B2F8}"/>
              </a:ext>
            </a:extLst>
          </p:cNvPr>
          <p:cNvSpPr>
            <a:spLocks/>
          </p:cNvSpPr>
          <p:nvPr/>
        </p:nvSpPr>
        <p:spPr bwMode="auto">
          <a:xfrm>
            <a:off x="835937" y="4621237"/>
            <a:ext cx="311990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瞭解交互網絡的組成以及如何構建安全的交互網絡</a:t>
            </a:r>
          </a:p>
        </p:txBody>
      </p:sp>
      <p:sp>
        <p:nvSpPr>
          <p:cNvPr id="37" name="矩形 36">
            <a:extLst>
              <a:ext uri="{FF2B5EF4-FFF2-40B4-BE49-F238E27FC236}">
                <a16:creationId xmlns:a16="http://schemas.microsoft.com/office/drawing/2014/main" id="{2E7DE1D5-1B52-7E4D-B223-88F832E032B4}"/>
              </a:ext>
            </a:extLst>
          </p:cNvPr>
          <p:cNvSpPr>
            <a:spLocks/>
          </p:cNvSpPr>
          <p:nvPr/>
        </p:nvSpPr>
        <p:spPr bwMode="auto">
          <a:xfrm>
            <a:off x="4377825" y="4621237"/>
            <a:ext cx="3377641"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挖掘分布式系統各組件之間如何進行協同</a:t>
            </a:r>
          </a:p>
        </p:txBody>
      </p:sp>
      <p:sp>
        <p:nvSpPr>
          <p:cNvPr id="38" name="矩形 37">
            <a:extLst>
              <a:ext uri="{FF2B5EF4-FFF2-40B4-BE49-F238E27FC236}">
                <a16:creationId xmlns:a16="http://schemas.microsoft.com/office/drawing/2014/main" id="{992A77CB-64B3-994E-991E-0ADCC752FF53}"/>
              </a:ext>
            </a:extLst>
          </p:cNvPr>
          <p:cNvSpPr>
            <a:spLocks/>
          </p:cNvSpPr>
          <p:nvPr/>
        </p:nvSpPr>
        <p:spPr bwMode="auto">
          <a:xfrm>
            <a:off x="8176537" y="4621237"/>
            <a:ext cx="322524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0" dirty="0">
                <a:latin typeface="Microsoft YaHei" panose="020B0503020204020204" pitchFamily="34" charset="-122"/>
                <a:ea typeface="Microsoft YaHei" panose="020B0503020204020204" pitchFamily="34" charset="-122"/>
                <a:cs typeface="Microsoft YaHei" charset="-122"/>
              </a:rPr>
              <a:t>瞭解分布式系統中的信任問題及解决方案</a:t>
            </a:r>
            <a:endParaRPr kumimoji="1" lang="zh-CN" altLang="en-US" dirty="0">
              <a:latin typeface="Microsoft YaHei" panose="020B0503020204020204" pitchFamily="34" charset="-122"/>
              <a:ea typeface="Microsoft YaHei" panose="020B0503020204020204" pitchFamily="34" charset="-122"/>
            </a:endParaRPr>
          </a:p>
        </p:txBody>
      </p:sp>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835937" y="2487852"/>
            <a:ext cx="311990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交互網絡的組成</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交互信道安全</a:t>
            </a:r>
            <a:endParaRPr lang="en-US" altLang="zh-CN" b="1" dirty="0">
              <a:solidFill>
                <a:srgbClr val="FF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彈性覆蓋網絡</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防禦日蝕攻擊</a:t>
            </a:r>
            <a:endParaRPr lang="zh-CN" altLang="en-US" b="1" dirty="0">
              <a:solidFill>
                <a:srgbClr val="FF0000"/>
              </a:solidFill>
              <a:effectLst/>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4363799" y="2487852"/>
            <a:ext cx="3390314"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協作過程中的安全隱患</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時鐘同步算法</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幷發問題</a:t>
            </a:r>
            <a:endParaRPr lang="en-US" altLang="zh-CN" b="1" dirty="0">
              <a:solidFill>
                <a:srgbClr val="FF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故障容錯的一致性算法</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8152493" y="2487852"/>
            <a:ext cx="324886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訪問控制</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信任評價模型</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effectLst/>
                <a:latin typeface="Microsoft YaHei" panose="020B0503020204020204" pitchFamily="34" charset="-122"/>
                <a:ea typeface="Microsoft YaHei" panose="020B0503020204020204" pitchFamily="34" charset="-122"/>
              </a:rPr>
              <a:t>拜占庭容錯</a:t>
            </a:r>
          </a:p>
        </p:txBody>
      </p:sp>
      <p:sp>
        <p:nvSpPr>
          <p:cNvPr id="22" name="文本框 21">
            <a:extLst>
              <a:ext uri="{FF2B5EF4-FFF2-40B4-BE49-F238E27FC236}">
                <a16:creationId xmlns:a16="http://schemas.microsoft.com/office/drawing/2014/main" id="{CE1694C8-0F08-6A45-8925-6B92183E05E7}"/>
              </a:ext>
            </a:extLst>
          </p:cNvPr>
          <p:cNvSpPr txBox="1"/>
          <p:nvPr/>
        </p:nvSpPr>
        <p:spPr>
          <a:xfrm>
            <a:off x="651164" y="1716504"/>
            <a:ext cx="3527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建立安全、穩定的交互網絡</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4488794" y="1716504"/>
            <a:ext cx="3140325" cy="707886"/>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分布式算法</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8013010" y="1716504"/>
            <a:ext cx="352782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信任問題</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72AB0E4A-76D7-4B44-A357-B626D0470E95}"/>
              </a:ext>
            </a:extLst>
          </p:cNvPr>
          <p:cNvSpPr txBox="1"/>
          <p:nvPr/>
        </p:nvSpPr>
        <p:spPr>
          <a:xfrm>
            <a:off x="6456987" y="5855276"/>
            <a:ext cx="3537244"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爲分布式系統添加信任面，實現可信協同</a:t>
            </a:r>
          </a:p>
        </p:txBody>
      </p:sp>
      <p:pic>
        <p:nvPicPr>
          <p:cNvPr id="50182" name="Picture 6" descr="Types Of Cybersecurity Threats Clipart (726x500), Png Download">
            <a:extLst>
              <a:ext uri="{FF2B5EF4-FFF2-40B4-BE49-F238E27FC236}">
                <a16:creationId xmlns:a16="http://schemas.microsoft.com/office/drawing/2014/main" id="{0C28AE79-0C70-6648-ADFA-0C3DC38328F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68346" y="1011216"/>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908962" y="979711"/>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a:extLst>
              <a:ext uri="{FF2B5EF4-FFF2-40B4-BE49-F238E27FC236}">
                <a16:creationId xmlns:a16="http://schemas.microsoft.com/office/drawing/2014/main" id="{40658C9E-DC5C-8940-B54C-4E0F33892F97}"/>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r="45652" b="1407"/>
          <a:stretch/>
        </p:blipFill>
        <p:spPr bwMode="auto">
          <a:xfrm>
            <a:off x="9426646" y="1047405"/>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3955845" y="3244523"/>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a:extLst>
              <a:ext uri="{FF2B5EF4-FFF2-40B4-BE49-F238E27FC236}">
                <a16:creationId xmlns:a16="http://schemas.microsoft.com/office/drawing/2014/main" id="{79FB7900-811F-384A-8050-7FAD62F6DCF8}"/>
              </a:ext>
            </a:extLst>
          </p:cNvPr>
          <p:cNvCxnSpPr>
            <a:cxnSpLocks/>
          </p:cNvCxnSpPr>
          <p:nvPr/>
        </p:nvCxnSpPr>
        <p:spPr>
          <a:xfrm>
            <a:off x="7751678" y="3255793"/>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a:endCxn id="36" idx="0"/>
          </p:cNvCxnSpPr>
          <p:nvPr/>
        </p:nvCxnSpPr>
        <p:spPr>
          <a:xfrm>
            <a:off x="2395891" y="4123113"/>
            <a:ext cx="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33">
            <a:extLst>
              <a:ext uri="{FF2B5EF4-FFF2-40B4-BE49-F238E27FC236}">
                <a16:creationId xmlns:a16="http://schemas.microsoft.com/office/drawing/2014/main" id="{F7364948-6B90-D44B-9B32-95700D0F63AB}"/>
              </a:ext>
            </a:extLst>
          </p:cNvPr>
          <p:cNvCxnSpPr>
            <a:cxnSpLocks/>
            <a:stCxn id="20" idx="2"/>
            <a:endCxn id="37" idx="0"/>
          </p:cNvCxnSpPr>
          <p:nvPr/>
        </p:nvCxnSpPr>
        <p:spPr>
          <a:xfrm>
            <a:off x="6058956" y="4123113"/>
            <a:ext cx="769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33">
            <a:extLst>
              <a:ext uri="{FF2B5EF4-FFF2-40B4-BE49-F238E27FC236}">
                <a16:creationId xmlns:a16="http://schemas.microsoft.com/office/drawing/2014/main" id="{3C8EECBF-92E8-D749-BE58-3CFF8E4FD844}"/>
              </a:ext>
            </a:extLst>
          </p:cNvPr>
          <p:cNvCxnSpPr>
            <a:cxnSpLocks/>
            <a:stCxn id="21" idx="2"/>
          </p:cNvCxnSpPr>
          <p:nvPr/>
        </p:nvCxnSpPr>
        <p:spPr>
          <a:xfrm>
            <a:off x="9776924" y="4123113"/>
            <a:ext cx="3440" cy="5008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任意多边形: 形状 25">
            <a:extLst>
              <a:ext uri="{FF2B5EF4-FFF2-40B4-BE49-F238E27FC236}">
                <a16:creationId xmlns:a16="http://schemas.microsoft.com/office/drawing/2014/main" id="{D1F63626-21F4-BF44-92EB-D7EDBF87BC0D}"/>
              </a:ext>
            </a:extLst>
          </p:cNvPr>
          <p:cNvSpPr/>
          <p:nvPr/>
        </p:nvSpPr>
        <p:spPr>
          <a:xfrm flipH="1">
            <a:off x="2422356" y="5411842"/>
            <a:ext cx="3256547" cy="36550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7" name="任意多边形: 形状 25">
            <a:extLst>
              <a:ext uri="{FF2B5EF4-FFF2-40B4-BE49-F238E27FC236}">
                <a16:creationId xmlns:a16="http://schemas.microsoft.com/office/drawing/2014/main" id="{A1E2FC24-17BF-4848-AF0D-CFF5D20ABF74}"/>
              </a:ext>
            </a:extLst>
          </p:cNvPr>
          <p:cNvSpPr/>
          <p:nvPr/>
        </p:nvSpPr>
        <p:spPr>
          <a:xfrm>
            <a:off x="6513095" y="5429097"/>
            <a:ext cx="3296653" cy="348248"/>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C6ABAC75-D912-5745-8213-C410D3ECB96F}"/>
              </a:ext>
            </a:extLst>
          </p:cNvPr>
          <p:cNvSpPr txBox="1"/>
          <p:nvPr/>
        </p:nvSpPr>
        <p:spPr>
          <a:xfrm>
            <a:off x="2396835" y="5803188"/>
            <a:ext cx="3214253"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爲分布式系統各組件之間的協同提供交互基礎</a:t>
            </a:r>
          </a:p>
        </p:txBody>
      </p:sp>
      <p:sp>
        <p:nvSpPr>
          <p:cNvPr id="4" name="标题 3">
            <a:extLst>
              <a:ext uri="{FF2B5EF4-FFF2-40B4-BE49-F238E27FC236}">
                <a16:creationId xmlns:a16="http://schemas.microsoft.com/office/drawing/2014/main" id="{21807DD4-1D91-EC19-601A-5D2C49D70784}"/>
              </a:ext>
            </a:extLst>
          </p:cNvPr>
          <p:cNvSpPr>
            <a:spLocks noGrp="1"/>
          </p:cNvSpPr>
          <p:nvPr>
            <p:ph type="title"/>
          </p:nvPr>
        </p:nvSpPr>
        <p:spPr/>
        <p:txBody>
          <a:bodyPr/>
          <a:lstStyle/>
          <a:p>
            <a:r>
              <a:rPr lang="zh-CN" altLang="en-US" dirty="0">
                <a:solidFill>
                  <a:schemeClr val="tx1"/>
                </a:solidFill>
              </a:rPr>
              <a:t>第</a:t>
            </a:r>
            <a:r>
              <a:rPr lang="en-US" altLang="zh-CN" dirty="0">
                <a:solidFill>
                  <a:schemeClr val="tx1"/>
                </a:solidFill>
              </a:rPr>
              <a:t>13</a:t>
            </a:r>
            <a:r>
              <a:rPr lang="zh-CN" altLang="en-US" dirty="0">
                <a:solidFill>
                  <a:schemeClr val="tx1"/>
                </a:solidFill>
              </a:rPr>
              <a:t>章 分布式系統安全</a:t>
            </a:r>
          </a:p>
        </p:txBody>
      </p:sp>
    </p:spTree>
    <p:extLst>
      <p:ext uri="{BB962C8B-B14F-4D97-AF65-F5344CB8AC3E}">
        <p14:creationId xmlns:p14="http://schemas.microsoft.com/office/powerpoint/2010/main" val="1487980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835937" y="4490270"/>
            <a:ext cx="311990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fr-FR" altLang="zh-CN" b="1" dirty="0">
                <a:solidFill>
                  <a:srgbClr val="FF0000"/>
                </a:solidFill>
                <a:effectLst/>
                <a:latin typeface="Microsoft YaHei" panose="020B0503020204020204" pitchFamily="34" charset="-122"/>
                <a:ea typeface="Microsoft YaHei" panose="020B0503020204020204" pitchFamily="34" charset="-122"/>
              </a:rPr>
              <a:t>Web</a:t>
            </a:r>
            <a:r>
              <a:rPr lang="zh-CN" altLang="en-US" b="1" dirty="0">
                <a:solidFill>
                  <a:srgbClr val="FF0000"/>
                </a:solidFill>
                <a:effectLst/>
                <a:latin typeface="Microsoft YaHei" panose="020B0503020204020204" pitchFamily="34" charset="-122"/>
                <a:ea typeface="Microsoft YaHei" panose="020B0503020204020204" pitchFamily="34" charset="-122"/>
              </a:rPr>
              <a:t>安全、雲計算安全</a:t>
            </a:r>
          </a:p>
          <a:p>
            <a:pPr marL="285750" indent="-285750">
              <a:lnSpc>
                <a:spcPct val="120000"/>
              </a:lnSpc>
              <a:buFont typeface="Arial" panose="020B0604020202020204" pitchFamily="34" charset="0"/>
              <a:buChar char="•"/>
            </a:pPr>
            <a:r>
              <a:rPr lang="en-US" altLang="zh-CN" sz="1800" dirty="0">
                <a:latin typeface="Microsoft YaHei" panose="020B0503020204020204" pitchFamily="34" charset="-122"/>
                <a:ea typeface="Microsoft YaHei" panose="020B0503020204020204" pitchFamily="34" charset="-122"/>
              </a:rPr>
              <a:t>CDN</a:t>
            </a:r>
            <a:r>
              <a:rPr lang="zh-CN" altLang="en-US" sz="1800" dirty="0">
                <a:latin typeface="Microsoft YaHei" panose="020B0503020204020204" pitchFamily="34" charset="-122"/>
                <a:ea typeface="Microsoft YaHei" panose="020B0503020204020204" pitchFamily="34" charset="-122"/>
              </a:rPr>
              <a:t>安全</a:t>
            </a:r>
            <a:r>
              <a:rPr lang="zh-CN" altLang="en-US" dirty="0">
                <a:latin typeface="Microsoft YaHei" panose="020B0503020204020204" pitchFamily="34" charset="-122"/>
                <a:ea typeface="Microsoft YaHei" panose="020B0503020204020204" pitchFamily="34" charset="-122"/>
              </a:rPr>
              <a:t>、</a:t>
            </a:r>
            <a:r>
              <a:rPr lang="zh-CN" altLang="en-US" sz="1800" b="1" dirty="0">
                <a:solidFill>
                  <a:srgbClr val="FF0000"/>
                </a:solidFill>
                <a:latin typeface="Microsoft YaHei" panose="020B0503020204020204" pitchFamily="34" charset="-122"/>
                <a:ea typeface="Microsoft YaHei" panose="020B0503020204020204" pitchFamily="34" charset="-122"/>
              </a:rPr>
              <a:t>物聯網安全</a:t>
            </a:r>
            <a:endParaRPr lang="en-US" altLang="zh-CN" sz="1800"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800" dirty="0">
                <a:latin typeface="Microsoft YaHei" panose="020B0503020204020204" pitchFamily="34" charset="-122"/>
                <a:ea typeface="Microsoft YaHei" panose="020B0503020204020204" pitchFamily="34" charset="-122"/>
              </a:rPr>
              <a:t>社交網絡安全</a:t>
            </a:r>
            <a:endParaRPr lang="en-US" altLang="zh-CN" sz="1800" dirty="0">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sz="1800" dirty="0">
                <a:latin typeface="Microsoft YaHei" panose="020B0503020204020204" pitchFamily="34" charset="-122"/>
                <a:ea typeface="Microsoft YaHei" panose="020B0503020204020204" pitchFamily="34" charset="-122"/>
              </a:rPr>
              <a:t>移動應用安全</a:t>
            </a:r>
          </a:p>
          <a:p>
            <a:pPr marL="285750" indent="-285750">
              <a:lnSpc>
                <a:spcPct val="120000"/>
              </a:lnSpc>
              <a:buFont typeface="Arial" panose="020B0604020202020204" pitchFamily="34" charset="0"/>
              <a:buChar char="•"/>
            </a:pP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p:sp>
        <p:nvSpPr>
          <p:cNvPr id="2" name="标题 1"/>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14</a:t>
            </a:r>
            <a:r>
              <a:rPr kumimoji="1" lang="zh-CN" altLang="en-US" dirty="0">
                <a:solidFill>
                  <a:schemeClr val="tx1"/>
                </a:solidFill>
              </a:rPr>
              <a:t>章 應用安全</a:t>
            </a:r>
          </a:p>
        </p:txBody>
      </p:sp>
      <p:sp>
        <p:nvSpPr>
          <p:cNvPr id="13" name="灯片编号占位符 2">
            <a:extLst>
              <a:ext uri="{FF2B5EF4-FFF2-40B4-BE49-F238E27FC236}">
                <a16:creationId xmlns:a16="http://schemas.microsoft.com/office/drawing/2014/main" id="{A6F8482A-DAE6-5B44-9CF4-35D7DC9969C5}"/>
              </a:ext>
            </a:extLst>
          </p:cNvPr>
          <p:cNvSpPr>
            <a:spLocks noGrp="1"/>
          </p:cNvSpPr>
          <p:nvPr>
            <p:ph type="sldNum" sz="quarter" idx="12"/>
          </p:nvPr>
        </p:nvSpPr>
        <p:spPr>
          <a:xfrm>
            <a:off x="9321914" y="6473403"/>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solidFill>
                  <a:srgbClr val="000000">
                    <a:tint val="75000"/>
                  </a:srgbClr>
                </a:solidFill>
                <a:latin typeface="Comic Sans MS"/>
                <a:ea typeface="微软雅黑 Light"/>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srgbClr val="000000">
                  <a:tint val="75000"/>
                </a:srgbClr>
              </a:solidFill>
              <a:effectLst/>
              <a:uLnTx/>
              <a:uFillTx/>
              <a:latin typeface="Comic Sans MS"/>
              <a:ea typeface="微软雅黑 Light"/>
              <a:cs typeface="+mn-cs"/>
            </a:endParaRP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4363799" y="4490270"/>
            <a:ext cx="3390314"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拒絕服務、信息泄露</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dirty="0">
                <a:solidFill>
                  <a:srgbClr val="000000"/>
                </a:solidFill>
                <a:latin typeface="Microsoft YaHei" panose="020B0503020204020204" pitchFamily="34" charset="-122"/>
                <a:ea typeface="Microsoft YaHei" panose="020B0503020204020204" pitchFamily="34" charset="-122"/>
              </a:rPr>
              <a:t>身份認證和信任管理</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dirty="0">
                <a:solidFill>
                  <a:srgbClr val="000000"/>
                </a:solidFill>
                <a:latin typeface="Microsoft YaHei" panose="020B0503020204020204" pitchFamily="34" charset="-122"/>
                <a:ea typeface="Microsoft YaHei" panose="020B0503020204020204" pitchFamily="34" charset="-122"/>
              </a:rPr>
              <a:t>隱私保護 </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marR="0" lvl="0" indent="-285750" fontAlgn="auto">
              <a:lnSpc>
                <a:spcPct val="120000"/>
              </a:lnSpc>
              <a:spcBef>
                <a:spcPts val="0"/>
              </a:spcBef>
              <a:spcAft>
                <a:spcPts val="0"/>
              </a:spcAft>
              <a:buClrTx/>
              <a:buSzTx/>
              <a:buFont typeface="Arial" panose="020B0604020202020204" pitchFamily="34" charset="0"/>
              <a:buChar char="•"/>
              <a:tabLst/>
              <a:defRPr/>
            </a:pPr>
            <a:r>
              <a:rPr lang="zh-CN" altLang="en-US" dirty="0">
                <a:solidFill>
                  <a:srgbClr val="000000"/>
                </a:solidFill>
                <a:latin typeface="Microsoft YaHei" panose="020B0503020204020204" pitchFamily="34" charset="-122"/>
                <a:ea typeface="Microsoft YaHei" panose="020B0503020204020204" pitchFamily="34" charset="-122"/>
              </a:rPr>
              <a:t>實時防禦 </a:t>
            </a:r>
          </a:p>
          <a:p>
            <a:pPr marL="342900" indent="-342900" algn="ctr">
              <a:buFont typeface="Arial" panose="020B0604020202020204" pitchFamily="34" charset="0"/>
              <a:buChar char="•"/>
            </a:pPr>
            <a:endParaRPr lang="en-US" altLang="zh-CN" sz="1800" b="0" dirty="0">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8152493" y="4490270"/>
            <a:ext cx="324886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ClrTx/>
              <a:buFont typeface="Arial" panose="020B0604020202020204" pitchFamily="34" charset="0"/>
              <a:buChar char="•"/>
            </a:pPr>
            <a:r>
              <a:rPr lang="en-US" altLang="zh-CN" b="1" dirty="0">
                <a:solidFill>
                  <a:srgbClr val="FF0000"/>
                </a:solidFill>
                <a:latin typeface="Microsoft YaHei" panose="020B0503020204020204" pitchFamily="34" charset="-122"/>
                <a:ea typeface="Microsoft YaHei" panose="020B0503020204020204" pitchFamily="34" charset="-122"/>
              </a:rPr>
              <a:t>Web</a:t>
            </a:r>
            <a:r>
              <a:rPr lang="zh-CN" altLang="en-US" b="1" dirty="0">
                <a:solidFill>
                  <a:srgbClr val="FF0000"/>
                </a:solidFill>
                <a:latin typeface="Microsoft YaHei" panose="020B0503020204020204" pitchFamily="34" charset="-122"/>
                <a:ea typeface="Microsoft YaHei" panose="020B0503020204020204" pitchFamily="34" charset="-122"/>
              </a:rPr>
              <a:t>安全的機密性</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社交網絡安全的機密性 </a:t>
            </a:r>
          </a:p>
          <a:p>
            <a:pPr algn="ctr" defTabSz="877888" eaLnBrk="0" hangingPunct="0">
              <a:buClrTx/>
              <a:buNone/>
            </a:pPr>
            <a:endParaRPr lang="zh-CN" altLang="en-US" sz="600" dirty="0">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CE1694C8-0F08-6A45-8925-6B92183E05E7}"/>
              </a:ext>
            </a:extLst>
          </p:cNvPr>
          <p:cNvSpPr txBox="1"/>
          <p:nvPr/>
        </p:nvSpPr>
        <p:spPr>
          <a:xfrm>
            <a:off x="0" y="3510578"/>
            <a:ext cx="448879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網絡應用及其</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相關的應用安全問題</a:t>
            </a:r>
          </a:p>
        </p:txBody>
      </p:sp>
      <p:sp>
        <p:nvSpPr>
          <p:cNvPr id="23" name="文本框 22">
            <a:extLst>
              <a:ext uri="{FF2B5EF4-FFF2-40B4-BE49-F238E27FC236}">
                <a16:creationId xmlns:a16="http://schemas.microsoft.com/office/drawing/2014/main" id="{C07CD88F-C5F5-CD44-B2ED-ACAAE1F2D759}"/>
              </a:ext>
            </a:extLst>
          </p:cNvPr>
          <p:cNvSpPr txBox="1"/>
          <p:nvPr/>
        </p:nvSpPr>
        <p:spPr>
          <a:xfrm>
            <a:off x="4488794" y="3510578"/>
            <a:ext cx="3140325" cy="1015663"/>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應用安全網絡攻擊的</a:t>
            </a: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共性特徵及基本防禦原理</a:t>
            </a:r>
          </a:p>
        </p:txBody>
      </p:sp>
      <p:sp>
        <p:nvSpPr>
          <p:cNvPr id="24" name="文本框 23">
            <a:extLst>
              <a:ext uri="{FF2B5EF4-FFF2-40B4-BE49-F238E27FC236}">
                <a16:creationId xmlns:a16="http://schemas.microsoft.com/office/drawing/2014/main" id="{92FE1A20-9B4B-0946-91D1-2427729B1ADB}"/>
              </a:ext>
            </a:extLst>
          </p:cNvPr>
          <p:cNvSpPr txBox="1"/>
          <p:nvPr/>
        </p:nvSpPr>
        <p:spPr>
          <a:xfrm>
            <a:off x="8013010" y="3614752"/>
            <a:ext cx="352782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ctr">
              <a:defRPr/>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應用安全典型案例</a:t>
            </a:r>
          </a:p>
        </p:txBody>
      </p:sp>
      <p:pic>
        <p:nvPicPr>
          <p:cNvPr id="50182" name="Picture 6" descr="Types Of Cybersecurity Threats Clipart (726x500), Png Download">
            <a:extLst>
              <a:ext uri="{FF2B5EF4-FFF2-40B4-BE49-F238E27FC236}">
                <a16:creationId xmlns:a16="http://schemas.microsoft.com/office/drawing/2014/main" id="{0C28AE79-0C70-6648-ADFA-0C3DC38328F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68346" y="2805290"/>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908962" y="2773785"/>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a:extLst>
              <a:ext uri="{FF2B5EF4-FFF2-40B4-BE49-F238E27FC236}">
                <a16:creationId xmlns:a16="http://schemas.microsoft.com/office/drawing/2014/main" id="{40658C9E-DC5C-8940-B54C-4E0F33892F97}"/>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r="45652" b="1407"/>
          <a:stretch/>
        </p:blipFill>
        <p:spPr bwMode="auto">
          <a:xfrm>
            <a:off x="9426646" y="2945653"/>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3955845" y="5246941"/>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a:extLst>
              <a:ext uri="{FF2B5EF4-FFF2-40B4-BE49-F238E27FC236}">
                <a16:creationId xmlns:a16="http://schemas.microsoft.com/office/drawing/2014/main" id="{79FB7900-811F-384A-8050-7FAD62F6DCF8}"/>
              </a:ext>
            </a:extLst>
          </p:cNvPr>
          <p:cNvCxnSpPr>
            <a:cxnSpLocks/>
          </p:cNvCxnSpPr>
          <p:nvPr/>
        </p:nvCxnSpPr>
        <p:spPr>
          <a:xfrm>
            <a:off x="7751678" y="5258211"/>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BBF9DD07-C33B-B52B-7BCD-377AD9C9AE89}"/>
              </a:ext>
            </a:extLst>
          </p:cNvPr>
          <p:cNvSpPr>
            <a:spLocks/>
          </p:cNvSpPr>
          <p:nvPr/>
        </p:nvSpPr>
        <p:spPr bwMode="auto">
          <a:xfrm>
            <a:off x="917520" y="1417793"/>
            <a:ext cx="10436279" cy="94413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nSpc>
                <a:spcPct val="120000"/>
              </a:lnSpc>
            </a:pPr>
            <a:r>
              <a:rPr lang="zh-CN" altLang="en-US" sz="2100" b="1" kern="0" dirty="0">
                <a:latin typeface="Microsoft YaHei" charset="-122"/>
                <a:ea typeface="Microsoft YaHei" charset="-122"/>
                <a:cs typeface="Microsoft YaHei" charset="-122"/>
              </a:rPr>
              <a:t>回顧了應用安全的各種類型</a:t>
            </a:r>
            <a:r>
              <a:rPr lang="zh-CN" altLang="zh-CN" sz="2100" b="1" kern="0" dirty="0">
                <a:latin typeface="Microsoft YaHei" charset="-122"/>
                <a:ea typeface="Microsoft YaHei" charset="-122"/>
                <a:cs typeface="Microsoft YaHei" charset="-122"/>
              </a:rPr>
              <a:t>，</a:t>
            </a:r>
            <a:r>
              <a:rPr lang="zh-CN" altLang="en-US" sz="2100" b="1" kern="0" dirty="0">
                <a:latin typeface="Microsoft YaHei" charset="-122"/>
                <a:ea typeface="Microsoft YaHei" charset="-122"/>
                <a:cs typeface="Microsoft YaHei" charset="-122"/>
              </a:rPr>
              <a:t>分析了應用安全的共性特徵</a:t>
            </a:r>
            <a:r>
              <a:rPr lang="zh-CN" altLang="zh-CN" sz="2100" b="1" kern="0" dirty="0">
                <a:latin typeface="Microsoft YaHei" charset="-122"/>
                <a:ea typeface="Microsoft YaHei" charset="-122"/>
                <a:cs typeface="Microsoft YaHei" charset="-122"/>
              </a:rPr>
              <a:t>，</a:t>
            </a:r>
            <a:r>
              <a:rPr lang="zh-CN" altLang="en-US" sz="2100" b="1" kern="0" dirty="0">
                <a:latin typeface="Microsoft YaHei" charset="-122"/>
                <a:ea typeface="Microsoft YaHei" charset="-122"/>
                <a:cs typeface="Microsoft YaHei" charset="-122"/>
              </a:rPr>
              <a:t>總結了應用安全的基本防禦原理，</a:t>
            </a:r>
            <a:r>
              <a:rPr lang="zh-CN" altLang="en-US" sz="2100" b="1" kern="0" dirty="0">
                <a:solidFill>
                  <a:srgbClr val="000000"/>
                </a:solidFill>
                <a:effectLst/>
                <a:latin typeface="Microsoft YaHei" charset="-122"/>
                <a:ea typeface="Microsoft YaHei" charset="-122"/>
              </a:rPr>
              <a:t>探究了</a:t>
            </a:r>
            <a:r>
              <a:rPr lang="zh-CN" altLang="zh-CN" sz="2100" b="1" kern="0" dirty="0">
                <a:latin typeface="Microsoft YaHei" charset="-122"/>
                <a:ea typeface="Microsoft YaHei" charset="-122"/>
                <a:cs typeface="Microsoft YaHei" charset="-122"/>
              </a:rPr>
              <a:t>解决</a:t>
            </a:r>
            <a:r>
              <a:rPr lang="zh-CN" altLang="en-US" sz="2100" b="1" kern="0" dirty="0">
                <a:latin typeface="Microsoft YaHei" charset="-122"/>
                <a:ea typeface="Microsoft YaHei" charset="-122"/>
                <a:cs typeface="Microsoft YaHei" charset="-122"/>
              </a:rPr>
              <a:t>應用</a:t>
            </a:r>
            <a:r>
              <a:rPr lang="zh-CN" altLang="zh-CN" sz="2100" b="1" kern="0" dirty="0">
                <a:latin typeface="Microsoft YaHei" charset="-122"/>
                <a:ea typeface="Microsoft YaHei" charset="-122"/>
                <a:cs typeface="Microsoft YaHei" charset="-122"/>
              </a:rPr>
              <a:t>安全問題的</a:t>
            </a:r>
            <a:r>
              <a:rPr lang="zh-CN" altLang="en-US" sz="2100" b="1" kern="0" dirty="0">
                <a:latin typeface="Microsoft YaHei" charset="-122"/>
                <a:ea typeface="Microsoft YaHei" charset="-122"/>
                <a:cs typeface="Microsoft YaHei" charset="-122"/>
              </a:rPr>
              <a:t>新思路</a:t>
            </a:r>
            <a:endParaRPr lang="zh-CN" altLang="en-US" sz="2100" b="1"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540149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4CAC12-E536-8846-BF1B-D07F81CAAFC0}"/>
              </a:ext>
            </a:extLst>
          </p:cNvPr>
          <p:cNvSpPr>
            <a:spLocks noGrp="1"/>
          </p:cNvSpPr>
          <p:nvPr>
            <p:ph type="title"/>
          </p:nvPr>
        </p:nvSpPr>
        <p:spPr/>
        <p:txBody>
          <a:bodyPr/>
          <a:lstStyle/>
          <a:p>
            <a:r>
              <a:rPr kumimoji="1" lang="zh-CN" altLang="en-US" dirty="0">
                <a:solidFill>
                  <a:schemeClr val="tx1"/>
                </a:solidFill>
              </a:rPr>
              <a:t>第</a:t>
            </a:r>
            <a:r>
              <a:rPr kumimoji="1" lang="en-US" altLang="zh-CN" dirty="0">
                <a:solidFill>
                  <a:schemeClr val="tx1"/>
                </a:solidFill>
              </a:rPr>
              <a:t>15</a:t>
            </a:r>
            <a:r>
              <a:rPr kumimoji="1" lang="zh-CN" altLang="en-US" dirty="0">
                <a:solidFill>
                  <a:schemeClr val="tx1"/>
                </a:solidFill>
              </a:rPr>
              <a:t>章 人工智能安全</a:t>
            </a:r>
          </a:p>
        </p:txBody>
      </p:sp>
      <p:sp>
        <p:nvSpPr>
          <p:cNvPr id="3" name="矩形 2">
            <a:extLst>
              <a:ext uri="{FF2B5EF4-FFF2-40B4-BE49-F238E27FC236}">
                <a16:creationId xmlns:a16="http://schemas.microsoft.com/office/drawing/2014/main" id="{98893253-511F-584C-AE5C-614FAA499E18}"/>
              </a:ext>
            </a:extLst>
          </p:cNvPr>
          <p:cNvSpPr>
            <a:spLocks/>
          </p:cNvSpPr>
          <p:nvPr/>
        </p:nvSpPr>
        <p:spPr bwMode="auto">
          <a:xfrm>
            <a:off x="385011" y="4558101"/>
            <a:ext cx="2400392" cy="9624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100" dirty="0">
                <a:effectLst/>
                <a:latin typeface="微软雅黑" panose="020B0503020204020204" pitchFamily="34" charset="-122"/>
                <a:ea typeface="微软雅黑" panose="020B0503020204020204" pitchFamily="34" charset="-122"/>
              </a:rPr>
              <a:t>通過歷史和現狀瞭解高速發展的人工智能</a:t>
            </a:r>
            <a:endParaRPr kumimoji="1" lang="zh-CN" altLang="en-US" dirty="0">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4DBD3AA0-E2B8-9A4F-A5AC-14D5C70D2746}"/>
              </a:ext>
            </a:extLst>
          </p:cNvPr>
          <p:cNvSpPr>
            <a:spLocks/>
          </p:cNvSpPr>
          <p:nvPr/>
        </p:nvSpPr>
        <p:spPr bwMode="auto">
          <a:xfrm>
            <a:off x="3112893" y="4558101"/>
            <a:ext cx="2211752" cy="9624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100" dirty="0">
                <a:effectLst/>
                <a:latin typeface="微软雅黑" panose="020B0503020204020204" pitchFamily="34" charset="-122"/>
                <a:ea typeface="微软雅黑" panose="020B0503020204020204" pitchFamily="34" charset="-122"/>
              </a:rPr>
              <a:t>人工智能算法的實現主要依賴一些基本的底層框架</a:t>
            </a:r>
            <a:endParaRPr kumimoji="1" lang="zh-CN" altLang="en-US" dirty="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B1B1B277-B83D-9C4B-BDC0-969767055B59}"/>
              </a:ext>
            </a:extLst>
          </p:cNvPr>
          <p:cNvSpPr>
            <a:spLocks/>
          </p:cNvSpPr>
          <p:nvPr/>
        </p:nvSpPr>
        <p:spPr bwMode="auto">
          <a:xfrm>
            <a:off x="5642366" y="4569824"/>
            <a:ext cx="3571972" cy="9624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r>
              <a:rPr lang="zh-CN" altLang="en-US" sz="1800" kern="100" dirty="0">
                <a:effectLst/>
                <a:latin typeface="微软雅黑" panose="020B0503020204020204" pitchFamily="34" charset="-122"/>
                <a:ea typeface="微软雅黑" panose="020B0503020204020204" pitchFamily="34" charset="-122"/>
              </a:rPr>
              <a:t>人工智能算法本身由于內部機制的可解釋性匱乏，面臨多種多樣的惡意攻擊，魯棒性存在風險</a:t>
            </a:r>
            <a:endParaRPr lang="zh-CN" altLang="en-US" dirty="0"/>
          </a:p>
        </p:txBody>
      </p:sp>
      <p:sp>
        <p:nvSpPr>
          <p:cNvPr id="6" name="矩形 5">
            <a:extLst>
              <a:ext uri="{FF2B5EF4-FFF2-40B4-BE49-F238E27FC236}">
                <a16:creationId xmlns:a16="http://schemas.microsoft.com/office/drawing/2014/main" id="{24E0C8FD-9C31-6743-9636-B7A5AC907693}"/>
              </a:ext>
            </a:extLst>
          </p:cNvPr>
          <p:cNvSpPr>
            <a:spLocks/>
          </p:cNvSpPr>
          <p:nvPr/>
        </p:nvSpPr>
        <p:spPr bwMode="auto">
          <a:xfrm>
            <a:off x="385011" y="2523368"/>
            <a:ext cx="2398438" cy="162660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lvl="0" indent="-285750">
              <a:lnSpc>
                <a:spcPct val="120000"/>
              </a:lnSpc>
              <a:spcAft>
                <a:spcPts val="0"/>
              </a:spcAft>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人工智能發展史</a:t>
            </a:r>
            <a:endParaRPr lang="en-US" altLang="zh-CN" sz="1600" dirty="0">
              <a:solidFill>
                <a:srgbClr val="00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sz="1600" dirty="0">
                <a:solidFill>
                  <a:srgbClr val="000000"/>
                </a:solidFill>
                <a:latin typeface="Microsoft YaHei" panose="020B0503020204020204" pitchFamily="34" charset="-122"/>
                <a:ea typeface="Microsoft YaHei" panose="020B0503020204020204" pitchFamily="34" charset="-122"/>
              </a:rPr>
              <a:t>人工智能分類舉例</a:t>
            </a:r>
          </a:p>
          <a:p>
            <a:pPr marL="285750" lvl="0" indent="-285750">
              <a:lnSpc>
                <a:spcPct val="120000"/>
              </a:lnSpc>
              <a:spcAft>
                <a:spcPts val="0"/>
              </a:spcAft>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人工智能系統概述</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人工智能安全</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sz="1600" b="1" dirty="0">
                <a:solidFill>
                  <a:srgbClr val="FF0000"/>
                </a:solidFill>
                <a:latin typeface="Microsoft YaHei" panose="020B0503020204020204" pitchFamily="34" charset="-122"/>
                <a:ea typeface="Microsoft YaHei" panose="020B0503020204020204" pitchFamily="34" charset="-122"/>
              </a:rPr>
              <a:t>人工智能敵手分析</a:t>
            </a:r>
          </a:p>
          <a:p>
            <a:pPr marL="285750" indent="-285750">
              <a:lnSpc>
                <a:spcPct val="120000"/>
              </a:lnSpc>
              <a:buFont typeface="Arial" panose="020B0604020202020204" pitchFamily="34" charset="0"/>
              <a:buChar char="•"/>
            </a:pPr>
            <a:endParaRPr lang="zh-CN" altLang="en-US" sz="1600" dirty="0">
              <a:solidFill>
                <a:srgbClr val="000000"/>
              </a:solidFill>
              <a:effectLst/>
              <a:latin typeface="Microsoft YaHei" panose="020B0503020204020204" pitchFamily="34" charset="-122"/>
              <a:ea typeface="Microsoft YaHei" panose="020B0503020204020204" pitchFamily="34" charset="-122"/>
            </a:endParaRPr>
          </a:p>
        </p:txBody>
      </p:sp>
      <p:sp>
        <p:nvSpPr>
          <p:cNvPr id="7" name="矩形 6">
            <a:extLst>
              <a:ext uri="{FF2B5EF4-FFF2-40B4-BE49-F238E27FC236}">
                <a16:creationId xmlns:a16="http://schemas.microsoft.com/office/drawing/2014/main" id="{CCF92494-0F8D-AE45-A8D2-D14E2F56AB21}"/>
              </a:ext>
            </a:extLst>
          </p:cNvPr>
          <p:cNvSpPr>
            <a:spLocks/>
          </p:cNvSpPr>
          <p:nvPr/>
        </p:nvSpPr>
        <p:spPr bwMode="auto">
          <a:xfrm>
            <a:off x="3101169" y="2523368"/>
            <a:ext cx="2211753" cy="162660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框架簡史</a:t>
            </a: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框架的安全漏洞</a:t>
            </a:r>
          </a:p>
          <a:p>
            <a:pPr marL="285750" indent="-285750">
              <a:lnSpc>
                <a:spcPct val="120000"/>
              </a:lnSpc>
              <a:buFont typeface="Arial" panose="020B0604020202020204" pitchFamily="34" charset="0"/>
              <a:buChar char="•"/>
            </a:pP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id="{24855B01-9292-2945-B5F4-83C65A076C81}"/>
              </a:ext>
            </a:extLst>
          </p:cNvPr>
          <p:cNvSpPr>
            <a:spLocks/>
          </p:cNvSpPr>
          <p:nvPr/>
        </p:nvSpPr>
        <p:spPr bwMode="auto">
          <a:xfrm>
            <a:off x="5644712" y="2523368"/>
            <a:ext cx="3583696" cy="162660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人工智能算法簡介</a:t>
            </a: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人工智能算法的魯棒性</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人工智能算法的魯棒性攻防</a:t>
            </a:r>
          </a:p>
          <a:p>
            <a:pPr marL="285750" indent="-285750">
              <a:lnSpc>
                <a:spcPct val="120000"/>
              </a:lnSpc>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人工智能算法的隱私攻防</a:t>
            </a:r>
          </a:p>
        </p:txBody>
      </p:sp>
      <p:cxnSp>
        <p:nvCxnSpPr>
          <p:cNvPr id="9" name="直接箭头连接符 33">
            <a:extLst>
              <a:ext uri="{FF2B5EF4-FFF2-40B4-BE49-F238E27FC236}">
                <a16:creationId xmlns:a16="http://schemas.microsoft.com/office/drawing/2014/main" id="{590810FA-7AAD-BE40-A872-1AA05503E255}"/>
              </a:ext>
            </a:extLst>
          </p:cNvPr>
          <p:cNvCxnSpPr>
            <a:cxnSpLocks/>
            <a:stCxn id="6" idx="3"/>
            <a:endCxn id="7" idx="1"/>
          </p:cNvCxnSpPr>
          <p:nvPr/>
        </p:nvCxnSpPr>
        <p:spPr>
          <a:xfrm>
            <a:off x="2783449" y="3336669"/>
            <a:ext cx="3177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33">
            <a:extLst>
              <a:ext uri="{FF2B5EF4-FFF2-40B4-BE49-F238E27FC236}">
                <a16:creationId xmlns:a16="http://schemas.microsoft.com/office/drawing/2014/main" id="{64CC1DB1-4B54-7A47-A03D-06EB89FD4C7A}"/>
              </a:ext>
            </a:extLst>
          </p:cNvPr>
          <p:cNvCxnSpPr>
            <a:cxnSpLocks/>
            <a:stCxn id="6" idx="2"/>
            <a:endCxn id="3" idx="0"/>
          </p:cNvCxnSpPr>
          <p:nvPr/>
        </p:nvCxnSpPr>
        <p:spPr>
          <a:xfrm>
            <a:off x="1584230" y="4149969"/>
            <a:ext cx="977" cy="4081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E4B4DBF-9A8D-9146-87BB-6C431EE6ABE3}"/>
              </a:ext>
            </a:extLst>
          </p:cNvPr>
          <p:cNvSpPr>
            <a:spLocks/>
          </p:cNvSpPr>
          <p:nvPr/>
        </p:nvSpPr>
        <p:spPr bwMode="auto">
          <a:xfrm>
            <a:off x="9573080" y="2523369"/>
            <a:ext cx="2119473" cy="162660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lvl="0" indent="-285750">
              <a:lnSpc>
                <a:spcPct val="120000"/>
              </a:lnSpc>
              <a:spcAft>
                <a:spcPts val="0"/>
              </a:spcAft>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數據局限性</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成本局限性</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偏見局限性</a:t>
            </a:r>
            <a:endParaRPr lang="en-US" altLang="zh-CN" b="1" dirty="0">
              <a:solidFill>
                <a:srgbClr val="FF0000"/>
              </a:solidFill>
              <a:latin typeface="Microsoft YaHei" panose="020B0503020204020204" pitchFamily="34" charset="-122"/>
              <a:ea typeface="Microsoft YaHei" panose="020B0503020204020204" pitchFamily="34" charset="-122"/>
            </a:endParaRPr>
          </a:p>
          <a:p>
            <a:pPr marL="285750" lvl="0" indent="-285750">
              <a:lnSpc>
                <a:spcPct val="120000"/>
              </a:lnSpc>
              <a:spcAft>
                <a:spcPts val="0"/>
              </a:spcAft>
              <a:buFont typeface="Arial" panose="020B0604020202020204" pitchFamily="34" charset="0"/>
              <a:buChar char="•"/>
            </a:pPr>
            <a:r>
              <a:rPr lang="zh-CN" altLang="en-US" b="1" dirty="0">
                <a:solidFill>
                  <a:srgbClr val="FF0000"/>
                </a:solidFill>
                <a:latin typeface="Microsoft YaHei" panose="020B0503020204020204" pitchFamily="34" charset="-122"/>
                <a:ea typeface="Microsoft YaHei" panose="020B0503020204020204" pitchFamily="34" charset="-122"/>
              </a:rPr>
              <a:t>倫理局限性</a:t>
            </a:r>
            <a:endParaRPr lang="zh-CN" altLang="zh-CN" b="1" dirty="0">
              <a:solidFill>
                <a:srgbClr val="FF0000"/>
              </a:solidFill>
              <a:latin typeface="Microsoft YaHei" panose="020B0503020204020204" pitchFamily="34" charset="-122"/>
              <a:ea typeface="Microsoft YaHei" panose="020B0503020204020204" pitchFamily="34" charset="-122"/>
            </a:endParaRPr>
          </a:p>
        </p:txBody>
      </p:sp>
      <p:grpSp>
        <p:nvGrpSpPr>
          <p:cNvPr id="16" name="组合 15">
            <a:extLst>
              <a:ext uri="{FF2B5EF4-FFF2-40B4-BE49-F238E27FC236}">
                <a16:creationId xmlns:a16="http://schemas.microsoft.com/office/drawing/2014/main" id="{13B7D846-2D29-DB4B-9E0B-952971CD0DC5}"/>
              </a:ext>
            </a:extLst>
          </p:cNvPr>
          <p:cNvGrpSpPr/>
          <p:nvPr/>
        </p:nvGrpSpPr>
        <p:grpSpPr>
          <a:xfrm>
            <a:off x="462280" y="1060730"/>
            <a:ext cx="2321169" cy="1409055"/>
            <a:chOff x="1154430" y="1018718"/>
            <a:chExt cx="2321169" cy="1409055"/>
          </a:xfrm>
        </p:grpSpPr>
        <p:sp>
          <p:nvSpPr>
            <p:cNvPr id="17" name="文本框 16">
              <a:extLst>
                <a:ext uri="{FF2B5EF4-FFF2-40B4-BE49-F238E27FC236}">
                  <a16:creationId xmlns:a16="http://schemas.microsoft.com/office/drawing/2014/main" id="{4639E2E9-1EE0-794C-B057-3DCFEC17F478}"/>
                </a:ext>
              </a:extLst>
            </p:cNvPr>
            <p:cNvSpPr txBox="1"/>
            <p:nvPr/>
          </p:nvSpPr>
          <p:spPr>
            <a:xfrm>
              <a:off x="1154430" y="1719887"/>
              <a:ext cx="232116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人工智能安全緒論</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8" name="图片 17">
              <a:extLst>
                <a:ext uri="{FF2B5EF4-FFF2-40B4-BE49-F238E27FC236}">
                  <a16:creationId xmlns:a16="http://schemas.microsoft.com/office/drawing/2014/main" id="{8FD97D9D-5B6D-A649-B8C0-6B6FC3234981}"/>
                </a:ext>
              </a:extLst>
            </p:cNvPr>
            <p:cNvPicPr>
              <a:picLocks noChangeAspect="1"/>
            </p:cNvPicPr>
            <p:nvPr/>
          </p:nvPicPr>
          <p:blipFill>
            <a:blip r:embed="rId3"/>
            <a:stretch>
              <a:fillRect/>
            </a:stretch>
          </p:blipFill>
          <p:spPr>
            <a:xfrm>
              <a:off x="1949899" y="1018718"/>
              <a:ext cx="730229" cy="68717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19" name="组合 18">
            <a:extLst>
              <a:ext uri="{FF2B5EF4-FFF2-40B4-BE49-F238E27FC236}">
                <a16:creationId xmlns:a16="http://schemas.microsoft.com/office/drawing/2014/main" id="{B0AF3BA3-8280-6040-A708-0A364592F341}"/>
              </a:ext>
            </a:extLst>
          </p:cNvPr>
          <p:cNvGrpSpPr/>
          <p:nvPr/>
        </p:nvGrpSpPr>
        <p:grpSpPr>
          <a:xfrm>
            <a:off x="3516995" y="1085706"/>
            <a:ext cx="1383961" cy="1398338"/>
            <a:chOff x="3464408" y="1029435"/>
            <a:chExt cx="1383961" cy="1398338"/>
          </a:xfrm>
        </p:grpSpPr>
        <p:sp>
          <p:nvSpPr>
            <p:cNvPr id="20" name="文本框 19">
              <a:extLst>
                <a:ext uri="{FF2B5EF4-FFF2-40B4-BE49-F238E27FC236}">
                  <a16:creationId xmlns:a16="http://schemas.microsoft.com/office/drawing/2014/main" id="{31D9AFD1-69DB-7B45-95A0-765503FC9306}"/>
                </a:ext>
              </a:extLst>
            </p:cNvPr>
            <p:cNvSpPr txBox="1"/>
            <p:nvPr/>
          </p:nvSpPr>
          <p:spPr>
            <a:xfrm>
              <a:off x="3464408" y="1719887"/>
              <a:ext cx="1383961" cy="707886"/>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框架安全</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 name="图片 20">
              <a:extLst>
                <a:ext uri="{FF2B5EF4-FFF2-40B4-BE49-F238E27FC236}">
                  <a16:creationId xmlns:a16="http://schemas.microsoft.com/office/drawing/2014/main" id="{10986B31-62A5-B842-9920-BD4B566D295B}"/>
                </a:ext>
              </a:extLst>
            </p:cNvPr>
            <p:cNvPicPr>
              <a:picLocks noChangeAspect="1"/>
            </p:cNvPicPr>
            <p:nvPr/>
          </p:nvPicPr>
          <p:blipFill>
            <a:blip r:embed="rId4"/>
            <a:stretch>
              <a:fillRect/>
            </a:stretch>
          </p:blipFill>
          <p:spPr>
            <a:xfrm>
              <a:off x="3801067" y="1029435"/>
              <a:ext cx="730229" cy="707842"/>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2" name="组合 21">
            <a:extLst>
              <a:ext uri="{FF2B5EF4-FFF2-40B4-BE49-F238E27FC236}">
                <a16:creationId xmlns:a16="http://schemas.microsoft.com/office/drawing/2014/main" id="{A508F726-DE39-DF4D-BD2A-19A8007B22D4}"/>
              </a:ext>
            </a:extLst>
          </p:cNvPr>
          <p:cNvGrpSpPr/>
          <p:nvPr/>
        </p:nvGrpSpPr>
        <p:grpSpPr>
          <a:xfrm>
            <a:off x="9673039" y="1085707"/>
            <a:ext cx="1804687" cy="1398338"/>
            <a:chOff x="7540181" y="1029435"/>
            <a:chExt cx="1804687" cy="1398338"/>
          </a:xfrm>
        </p:grpSpPr>
        <p:sp>
          <p:nvSpPr>
            <p:cNvPr id="23" name="文本框 22">
              <a:extLst>
                <a:ext uri="{FF2B5EF4-FFF2-40B4-BE49-F238E27FC236}">
                  <a16:creationId xmlns:a16="http://schemas.microsoft.com/office/drawing/2014/main" id="{E1B452F0-AA6B-5248-A2C2-0F7EA5CA4B7D}"/>
                </a:ext>
              </a:extLst>
            </p:cNvPr>
            <p:cNvSpPr txBox="1"/>
            <p:nvPr/>
          </p:nvSpPr>
          <p:spPr>
            <a:xfrm>
              <a:off x="7540181" y="1719887"/>
              <a:ext cx="180468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算法的局限性</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4" name="图片 23">
              <a:extLst>
                <a:ext uri="{FF2B5EF4-FFF2-40B4-BE49-F238E27FC236}">
                  <a16:creationId xmlns:a16="http://schemas.microsoft.com/office/drawing/2014/main" id="{D3BF65A7-0E45-F849-B3EC-823B0D45029F}"/>
                </a:ext>
              </a:extLst>
            </p:cNvPr>
            <p:cNvPicPr>
              <a:picLocks noChangeAspect="1"/>
            </p:cNvPicPr>
            <p:nvPr/>
          </p:nvPicPr>
          <p:blipFill>
            <a:blip r:embed="rId5"/>
            <a:stretch>
              <a:fillRect/>
            </a:stretch>
          </p:blipFill>
          <p:spPr>
            <a:xfrm>
              <a:off x="8077410" y="1029435"/>
              <a:ext cx="730229" cy="70784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grpSp>
        <p:nvGrpSpPr>
          <p:cNvPr id="25" name="组合 24">
            <a:extLst>
              <a:ext uri="{FF2B5EF4-FFF2-40B4-BE49-F238E27FC236}">
                <a16:creationId xmlns:a16="http://schemas.microsoft.com/office/drawing/2014/main" id="{DF456690-F48C-5E42-A0DC-1342FDA51156}"/>
              </a:ext>
            </a:extLst>
          </p:cNvPr>
          <p:cNvGrpSpPr/>
          <p:nvPr/>
        </p:nvGrpSpPr>
        <p:grpSpPr>
          <a:xfrm>
            <a:off x="6522898" y="1034786"/>
            <a:ext cx="1804687" cy="1398338"/>
            <a:chOff x="5145823" y="1029435"/>
            <a:chExt cx="1804687" cy="1398338"/>
          </a:xfrm>
        </p:grpSpPr>
        <p:sp>
          <p:nvSpPr>
            <p:cNvPr id="26" name="文本框 25">
              <a:extLst>
                <a:ext uri="{FF2B5EF4-FFF2-40B4-BE49-F238E27FC236}">
                  <a16:creationId xmlns:a16="http://schemas.microsoft.com/office/drawing/2014/main" id="{5308FDE8-B3F4-6D45-BD38-03D98780D0E8}"/>
                </a:ext>
              </a:extLst>
            </p:cNvPr>
            <p:cNvSpPr txBox="1"/>
            <p:nvPr/>
          </p:nvSpPr>
          <p:spPr>
            <a:xfrm>
              <a:off x="5145823" y="1719887"/>
              <a:ext cx="180468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算法安全</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7" name="图片 26">
              <a:extLst>
                <a:ext uri="{FF2B5EF4-FFF2-40B4-BE49-F238E27FC236}">
                  <a16:creationId xmlns:a16="http://schemas.microsoft.com/office/drawing/2014/main" id="{F0BE047E-7C02-7B4C-8027-192436D57AD7}"/>
                </a:ext>
              </a:extLst>
            </p:cNvPr>
            <p:cNvPicPr>
              <a:picLocks noChangeAspect="1"/>
            </p:cNvPicPr>
            <p:nvPr/>
          </p:nvPicPr>
          <p:blipFill>
            <a:blip r:embed="rId6"/>
            <a:stretch>
              <a:fillRect/>
            </a:stretch>
          </p:blipFill>
          <p:spPr>
            <a:xfrm>
              <a:off x="5683052" y="1029435"/>
              <a:ext cx="730229" cy="707886"/>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cxnSp>
        <p:nvCxnSpPr>
          <p:cNvPr id="28" name="直接箭头连接符 33">
            <a:extLst>
              <a:ext uri="{FF2B5EF4-FFF2-40B4-BE49-F238E27FC236}">
                <a16:creationId xmlns:a16="http://schemas.microsoft.com/office/drawing/2014/main" id="{215AC22A-097A-8643-9513-418E212215B1}"/>
              </a:ext>
            </a:extLst>
          </p:cNvPr>
          <p:cNvCxnSpPr>
            <a:cxnSpLocks/>
            <a:stCxn id="7" idx="3"/>
            <a:endCxn id="8" idx="1"/>
          </p:cNvCxnSpPr>
          <p:nvPr/>
        </p:nvCxnSpPr>
        <p:spPr>
          <a:xfrm>
            <a:off x="5312922" y="3336669"/>
            <a:ext cx="3317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33">
            <a:extLst>
              <a:ext uri="{FF2B5EF4-FFF2-40B4-BE49-F238E27FC236}">
                <a16:creationId xmlns:a16="http://schemas.microsoft.com/office/drawing/2014/main" id="{E7DD1E29-2770-B54A-80AD-1EEA34DE55ED}"/>
              </a:ext>
            </a:extLst>
          </p:cNvPr>
          <p:cNvCxnSpPr>
            <a:cxnSpLocks/>
            <a:stCxn id="8" idx="3"/>
            <a:endCxn id="15" idx="1"/>
          </p:cNvCxnSpPr>
          <p:nvPr/>
        </p:nvCxnSpPr>
        <p:spPr>
          <a:xfrm>
            <a:off x="9228408" y="3336669"/>
            <a:ext cx="344672"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BE876C83-1A09-104E-A053-60FD22DD233E}"/>
              </a:ext>
            </a:extLst>
          </p:cNvPr>
          <p:cNvSpPr>
            <a:spLocks/>
          </p:cNvSpPr>
          <p:nvPr/>
        </p:nvSpPr>
        <p:spPr bwMode="auto">
          <a:xfrm>
            <a:off x="9566031" y="4582539"/>
            <a:ext cx="2145279" cy="9624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100" dirty="0">
                <a:solidFill>
                  <a:schemeClr val="dk1"/>
                </a:solidFill>
                <a:effectLst/>
                <a:latin typeface="微软雅黑" panose="020B0503020204020204" pitchFamily="34" charset="-122"/>
                <a:ea typeface="微软雅黑" panose="020B0503020204020204" pitchFamily="34" charset="-122"/>
                <a:cs typeface="+mn-cs"/>
              </a:rPr>
              <a:t>人工智能算法依然存在衆多局限性</a:t>
            </a:r>
            <a:endParaRPr kumimoji="1" lang="zh-CN" altLang="en-US" dirty="0">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7A49E3AA-286B-4247-9092-3C81CA834D8D}"/>
              </a:ext>
            </a:extLst>
          </p:cNvPr>
          <p:cNvSpPr txBox="1"/>
          <p:nvPr/>
        </p:nvSpPr>
        <p:spPr>
          <a:xfrm>
            <a:off x="3868615" y="5811260"/>
            <a:ext cx="3962400" cy="636649"/>
          </a:xfrm>
          <a:prstGeom prst="rect">
            <a:avLst/>
          </a:prstGeom>
          <a:noFill/>
        </p:spPr>
        <p:txBody>
          <a:bodyPr wrap="square">
            <a:spAutoFit/>
          </a:bodyPr>
          <a:lstStyle/>
          <a:p>
            <a:pPr algn="l">
              <a:lnSpc>
                <a:spcPct val="115000"/>
              </a:lnSpc>
              <a:spcAft>
                <a:spcPts val="0"/>
              </a:spcAft>
              <a:tabLst>
                <a:tab pos="2637155" algn="ctr"/>
                <a:tab pos="5274310" algn="r"/>
              </a:tabLst>
            </a:pPr>
            <a:r>
              <a:rPr lang="zh-CN" altLang="en-US" sz="1600" kern="100" dirty="0">
                <a:effectLst/>
                <a:latin typeface="微软雅黑" panose="020B0503020204020204" pitchFamily="34" charset="-122"/>
                <a:ea typeface="微软雅黑" panose="020B0503020204020204" pitchFamily="34" charset="-122"/>
              </a:rPr>
              <a:t>框架自身以及框架的外部環境中的安全隱患將會進一步威脅人工智能算法的安全</a:t>
            </a:r>
            <a:endParaRPr lang="zh-CN"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3" name="直接箭头连接符 33">
            <a:extLst>
              <a:ext uri="{FF2B5EF4-FFF2-40B4-BE49-F238E27FC236}">
                <a16:creationId xmlns:a16="http://schemas.microsoft.com/office/drawing/2014/main" id="{07CAE8EC-AE29-144B-B151-E961C4C472F5}"/>
              </a:ext>
            </a:extLst>
          </p:cNvPr>
          <p:cNvCxnSpPr>
            <a:cxnSpLocks/>
            <a:stCxn id="7" idx="2"/>
            <a:endCxn id="4" idx="0"/>
          </p:cNvCxnSpPr>
          <p:nvPr/>
        </p:nvCxnSpPr>
        <p:spPr>
          <a:xfrm>
            <a:off x="4207046" y="4149969"/>
            <a:ext cx="11723" cy="4081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33">
            <a:extLst>
              <a:ext uri="{FF2B5EF4-FFF2-40B4-BE49-F238E27FC236}">
                <a16:creationId xmlns:a16="http://schemas.microsoft.com/office/drawing/2014/main" id="{34725240-06D9-254F-A221-DA89E9328DC7}"/>
              </a:ext>
            </a:extLst>
          </p:cNvPr>
          <p:cNvCxnSpPr>
            <a:cxnSpLocks/>
            <a:stCxn id="8" idx="2"/>
            <a:endCxn id="5" idx="0"/>
          </p:cNvCxnSpPr>
          <p:nvPr/>
        </p:nvCxnSpPr>
        <p:spPr>
          <a:xfrm flipH="1">
            <a:off x="7428352" y="4149969"/>
            <a:ext cx="8208" cy="4198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33">
            <a:extLst>
              <a:ext uri="{FF2B5EF4-FFF2-40B4-BE49-F238E27FC236}">
                <a16:creationId xmlns:a16="http://schemas.microsoft.com/office/drawing/2014/main" id="{68D210D6-A39A-EE44-B5A1-45D093259818}"/>
              </a:ext>
            </a:extLst>
          </p:cNvPr>
          <p:cNvCxnSpPr>
            <a:cxnSpLocks/>
            <a:stCxn id="15" idx="2"/>
            <a:endCxn id="30" idx="0"/>
          </p:cNvCxnSpPr>
          <p:nvPr/>
        </p:nvCxnSpPr>
        <p:spPr>
          <a:xfrm>
            <a:off x="10632817" y="4149970"/>
            <a:ext cx="5854" cy="43256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肘形连接符 82">
            <a:extLst>
              <a:ext uri="{FF2B5EF4-FFF2-40B4-BE49-F238E27FC236}">
                <a16:creationId xmlns:a16="http://schemas.microsoft.com/office/drawing/2014/main" id="{72C62C60-3F01-5144-BDFB-0361F19F3507}"/>
              </a:ext>
            </a:extLst>
          </p:cNvPr>
          <p:cNvCxnSpPr>
            <a:stCxn id="4" idx="2"/>
            <a:endCxn id="5" idx="2"/>
          </p:cNvCxnSpPr>
          <p:nvPr/>
        </p:nvCxnSpPr>
        <p:spPr>
          <a:xfrm rot="16200000" flipH="1">
            <a:off x="5817699" y="3921647"/>
            <a:ext cx="11723" cy="3209583"/>
          </a:xfrm>
          <a:prstGeom prst="bentConnector3">
            <a:avLst>
              <a:gd name="adj1" fmla="val 205001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1332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olidFill>
                  <a:schemeClr val="tx1">
                    <a:lumMod val="85000"/>
                    <a:lumOff val="15000"/>
                  </a:schemeClr>
                </a:solidFill>
              </a:rPr>
              <a:t>第</a:t>
            </a:r>
            <a:r>
              <a:rPr kumimoji="1" lang="en-US" altLang="zh-CN" dirty="0">
                <a:solidFill>
                  <a:schemeClr val="tx1">
                    <a:lumMod val="85000"/>
                    <a:lumOff val="15000"/>
                  </a:schemeClr>
                </a:solidFill>
              </a:rPr>
              <a:t>16</a:t>
            </a:r>
            <a:r>
              <a:rPr kumimoji="1" lang="zh-CN" altLang="en-US" dirty="0">
                <a:solidFill>
                  <a:schemeClr val="tx1">
                    <a:lumMod val="85000"/>
                    <a:lumOff val="15000"/>
                  </a:schemeClr>
                </a:solidFill>
              </a:rPr>
              <a:t>章 大模型安全</a:t>
            </a:r>
          </a:p>
        </p:txBody>
      </p:sp>
      <p:sp>
        <p:nvSpPr>
          <p:cNvPr id="6" name="矩形 5"/>
          <p:cNvSpPr/>
          <p:nvPr/>
        </p:nvSpPr>
        <p:spPr bwMode="auto">
          <a:xfrm>
            <a:off x="1112326" y="3412972"/>
            <a:ext cx="2676411" cy="1940080"/>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285750" indent="-285750">
              <a:lnSpc>
                <a:spcPct val="12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rPr>
              <a:t>大模型發展史</a:t>
            </a: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rPr>
              <a:t>大模型的特點</a:t>
            </a: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en-US" altLang="zh-CN" sz="2000" dirty="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275389" y="2668882"/>
            <a:ext cx="235028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什麽是大模型</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p:cNvSpPr txBox="1"/>
          <p:nvPr/>
        </p:nvSpPr>
        <p:spPr>
          <a:xfrm>
            <a:off x="4901807" y="2668883"/>
            <a:ext cx="2350284" cy="646331"/>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大模型安全風險</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p:cNvSpPr txBox="1"/>
          <p:nvPr/>
        </p:nvSpPr>
        <p:spPr>
          <a:xfrm>
            <a:off x="8528226" y="2668883"/>
            <a:ext cx="235028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大模型安全防禦</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bwMode="auto">
          <a:xfrm>
            <a:off x="4495800" y="3412971"/>
            <a:ext cx="3086100" cy="194007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285750" indent="-285750">
              <a:lnSpc>
                <a:spcPct val="12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rPr>
              <a:t>大模型安全研究範疇</a:t>
            </a:r>
            <a:endParaRPr lang="en-US" altLang="zh-CN" sz="2000" dirty="0">
              <a:solidFill>
                <a:srgbClr val="00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大模型系統安全</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大模型數據安全</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大模型對抗安全</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bwMode="auto">
          <a:xfrm>
            <a:off x="8365163" y="3412972"/>
            <a:ext cx="2676411" cy="1940078"/>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285750" indent="-285750">
              <a:lnSpc>
                <a:spcPct val="120000"/>
              </a:lnSpc>
              <a:buFont typeface="Arial" panose="020B0604020202020204" pitchFamily="34" charset="0"/>
              <a:buChar char="•"/>
            </a:pPr>
            <a:r>
              <a:rPr lang="zh-CN" altLang="en-US" sz="2000" dirty="0">
                <a:solidFill>
                  <a:schemeClr val="tx1"/>
                </a:solidFill>
                <a:latin typeface="微软雅黑" panose="020B0503020204020204" pitchFamily="34" charset="-122"/>
                <a:ea typeface="微软雅黑" panose="020B0503020204020204" pitchFamily="34" charset="-122"/>
              </a:rPr>
              <a:t>系統安全防禦</a:t>
            </a:r>
            <a:endParaRPr lang="en-US" altLang="zh-CN" sz="2000" dirty="0">
              <a:solidFill>
                <a:schemeClr val="tx1"/>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數據安全防禦</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dirty="0">
                <a:solidFill>
                  <a:schemeClr val="tx1"/>
                </a:solidFill>
                <a:latin typeface="微软雅黑" panose="020B0503020204020204" pitchFamily="34" charset="-122"/>
                <a:ea typeface="微软雅黑" panose="020B0503020204020204" pitchFamily="34" charset="-122"/>
              </a:rPr>
              <a:t>對抗安全防禦</a:t>
            </a:r>
          </a:p>
        </p:txBody>
      </p:sp>
      <p:cxnSp>
        <p:nvCxnSpPr>
          <p:cNvPr id="12" name="直接箭头连接符 33"/>
          <p:cNvCxnSpPr>
            <a:stCxn id="6" idx="3"/>
            <a:endCxn id="10" idx="1"/>
          </p:cNvCxnSpPr>
          <p:nvPr/>
        </p:nvCxnSpPr>
        <p:spPr>
          <a:xfrm flipV="1">
            <a:off x="3788737" y="4383011"/>
            <a:ext cx="707063"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33"/>
          <p:cNvCxnSpPr>
            <a:stCxn id="10" idx="3"/>
            <a:endCxn id="11" idx="1"/>
          </p:cNvCxnSpPr>
          <p:nvPr/>
        </p:nvCxnSpPr>
        <p:spPr>
          <a:xfrm>
            <a:off x="7581900" y="4383011"/>
            <a:ext cx="7832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 descr="Corporate network security leve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1547" y="1657349"/>
            <a:ext cx="1483640" cy="1054759"/>
          </a:xfrm>
          <a:prstGeom prst="rect">
            <a:avLst/>
          </a:prstGeom>
          <a:noFill/>
          <a:effectLst>
            <a:softEdge rad="177800"/>
          </a:effectLst>
          <a:extLst>
            <a:ext uri="{909E8E84-426E-40DD-AFC4-6F175D3DCCD1}">
              <a14:hiddenFill xmlns:a14="http://schemas.microsoft.com/office/drawing/2010/main">
                <a:solidFill>
                  <a:srgbClr val="FFFFFF"/>
                </a:solidFill>
              </a14:hiddenFill>
            </a:ext>
          </a:extLst>
        </p:spPr>
      </p:pic>
      <p:pic>
        <p:nvPicPr>
          <p:cNvPr id="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5129" y="1657349"/>
            <a:ext cx="1483640" cy="105475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7" name="图片 36"/>
          <p:cNvPicPr>
            <a:picLocks noChangeAspect="1"/>
          </p:cNvPicPr>
          <p:nvPr/>
        </p:nvPicPr>
        <p:blipFill>
          <a:blip r:embed="rId5"/>
          <a:stretch>
            <a:fillRect/>
          </a:stretch>
        </p:blipFill>
        <p:spPr>
          <a:xfrm>
            <a:off x="1708710" y="1611614"/>
            <a:ext cx="1483641" cy="1054759"/>
          </a:xfrm>
          <a:prstGeom prst="rect">
            <a:avLst/>
          </a:prstGeom>
          <a:ln>
            <a:noFill/>
          </a:ln>
          <a:effectLst>
            <a:softEdge rad="112500"/>
          </a:effec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90.89338582677163,&quot;left&quot;:65.82181102362205,&quot;top&quot;:135.15779527559056,&quot;width&quot;:842.9054330708661}"/>
</p:tagLst>
</file>

<file path=ppt/theme/theme1.xml><?xml version="1.0" encoding="utf-8"?>
<a:theme xmlns:a="http://schemas.openxmlformats.org/drawingml/2006/main" name="1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9514</TotalTime>
  <Words>3565</Words>
  <Application>Microsoft Office PowerPoint</Application>
  <PresentationFormat>Grand écran</PresentationFormat>
  <Paragraphs>488</Paragraphs>
  <Slides>26</Slides>
  <Notes>13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26</vt:i4>
      </vt:variant>
    </vt:vector>
  </HeadingPairs>
  <TitlesOfParts>
    <vt:vector size="36" baseType="lpstr">
      <vt:lpstr>FandolSong-Regular-Identity-H</vt:lpstr>
      <vt:lpstr>华文细黑</vt:lpstr>
      <vt:lpstr>微软雅黑</vt:lpstr>
      <vt:lpstr>微软雅黑</vt:lpstr>
      <vt:lpstr>等线</vt:lpstr>
      <vt:lpstr>Arial</vt:lpstr>
      <vt:lpstr>Comic Sans MS</vt:lpstr>
      <vt:lpstr>Symbol</vt:lpstr>
      <vt:lpstr>Times New Roman</vt:lpstr>
      <vt:lpstr>1_Office 主题</vt:lpstr>
      <vt:lpstr>複習大綱</vt:lpstr>
      <vt:lpstr>考試安排</vt:lpstr>
      <vt:lpstr>考試章節和題型安排</vt:lpstr>
      <vt:lpstr>不定向選擇——基礎概念</vt:lpstr>
      <vt:lpstr>不定向選擇——基礎概念</vt:lpstr>
      <vt:lpstr>不定向選擇——內容辨析</vt:lpstr>
      <vt:lpstr>不定向選擇——內容辨析</vt:lpstr>
      <vt:lpstr>填空題——基礎概念</vt:lpstr>
      <vt:lpstr>填空題——基礎概念</vt:lpstr>
      <vt:lpstr>填空題——內容運用</vt:lpstr>
      <vt:lpstr>填空題——內容運用</vt:lpstr>
      <vt:lpstr>簡答題——知識應用</vt:lpstr>
      <vt:lpstr>簡答題——知識應用</vt:lpstr>
      <vt:lpstr>第4章 數據加密 </vt:lpstr>
      <vt:lpstr>第5章 隱私保護</vt:lpstr>
      <vt:lpstr>第6章 系統硬件安全</vt:lpstr>
      <vt:lpstr>第7章 操作系統安全</vt:lpstr>
      <vt:lpstr>第8章 協議棧安全</vt:lpstr>
      <vt:lpstr>第9章 互聯網路由安全</vt:lpstr>
      <vt:lpstr>第10章 DNS安全</vt:lpstr>
      <vt:lpstr>第11章 真實源地址驗證</vt:lpstr>
      <vt:lpstr>第12章 流量分析技術</vt:lpstr>
      <vt:lpstr>第13章 分布式系統安全</vt:lpstr>
      <vt:lpstr>第14章 應用安全</vt:lpstr>
      <vt:lpstr>第15章 人工智能安全</vt:lpstr>
      <vt:lpstr>第16章 大模型安全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Terry C.</cp:lastModifiedBy>
  <cp:revision>1203</cp:revision>
  <dcterms:created xsi:type="dcterms:W3CDTF">2020-08-30T11:20:13Z</dcterms:created>
  <dcterms:modified xsi:type="dcterms:W3CDTF">2025-06-11T09:18:19Z</dcterms:modified>
</cp:coreProperties>
</file>