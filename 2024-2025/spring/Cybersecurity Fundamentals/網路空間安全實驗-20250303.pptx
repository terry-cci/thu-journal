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1.xml" ContentType="application/vnd.openxmlformats-officedocument.presentationml.tags+xml"/>
  <Override PartName="/ppt/notesSlides/notesSlide1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3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3" r:id="rId2"/>
  </p:sldMasterIdLst>
  <p:notesMasterIdLst>
    <p:notesMasterId r:id="rId36"/>
  </p:notesMasterIdLst>
  <p:sldIdLst>
    <p:sldId id="4001" r:id="rId3"/>
    <p:sldId id="14484261" r:id="rId4"/>
    <p:sldId id="4053" r:id="rId5"/>
    <p:sldId id="4047" r:id="rId6"/>
    <p:sldId id="14484228" r:id="rId7"/>
    <p:sldId id="14484230" r:id="rId8"/>
    <p:sldId id="14484294" r:id="rId9"/>
    <p:sldId id="14484232" r:id="rId10"/>
    <p:sldId id="4039" r:id="rId11"/>
    <p:sldId id="4040" r:id="rId12"/>
    <p:sldId id="4035" r:id="rId13"/>
    <p:sldId id="4036" r:id="rId14"/>
    <p:sldId id="14484233" r:id="rId15"/>
    <p:sldId id="14484236" r:id="rId16"/>
    <p:sldId id="3853" r:id="rId17"/>
    <p:sldId id="14484240" r:id="rId18"/>
    <p:sldId id="14484235" r:id="rId19"/>
    <p:sldId id="14484295" r:id="rId20"/>
    <p:sldId id="4034" r:id="rId21"/>
    <p:sldId id="4033" r:id="rId22"/>
    <p:sldId id="4045" r:id="rId23"/>
    <p:sldId id="4046" r:id="rId24"/>
    <p:sldId id="14484296" r:id="rId25"/>
    <p:sldId id="14484297" r:id="rId26"/>
    <p:sldId id="4051" r:id="rId27"/>
    <p:sldId id="4052" r:id="rId28"/>
    <p:sldId id="4041" r:id="rId29"/>
    <p:sldId id="4042" r:id="rId30"/>
    <p:sldId id="4044" r:id="rId31"/>
    <p:sldId id="4037" r:id="rId32"/>
    <p:sldId id="4038" r:id="rId33"/>
    <p:sldId id="14484245" r:id="rId34"/>
    <p:sldId id="14484238"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3F5"/>
    <a:srgbClr val="D0DBE3"/>
    <a:srgbClr val="FF0000"/>
    <a:srgbClr val="7E46A9"/>
    <a:srgbClr val="9900CC"/>
    <a:srgbClr val="592C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808"/>
    <p:restoredTop sz="75452" autoAdjust="0"/>
  </p:normalViewPr>
  <p:slideViewPr>
    <p:cSldViewPr snapToGrid="0" snapToObjects="1">
      <p:cViewPr varScale="1">
        <p:scale>
          <a:sx n="65" d="100"/>
          <a:sy n="65" d="100"/>
        </p:scale>
        <p:origin x="561" y="51"/>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占比</c:v>
                </c:pt>
              </c:strCache>
            </c:strRef>
          </c:tx>
          <c:dPt>
            <c:idx val="0"/>
            <c:bubble3D val="0"/>
            <c:spPr>
              <a:solidFill>
                <a:schemeClr val="accent1"/>
              </a:solidFill>
              <a:ln>
                <a:solidFill>
                  <a:schemeClr val="bg1"/>
                </a:solidFill>
              </a:ln>
              <a:effectLst/>
            </c:spPr>
            <c:extLst>
              <c:ext xmlns:c16="http://schemas.microsoft.com/office/drawing/2014/chart" uri="{C3380CC4-5D6E-409C-BE32-E72D297353CC}">
                <c16:uniqueId val="{00000001-E470-0844-8AD0-B090172B4335}"/>
              </c:ext>
            </c:extLst>
          </c:dPt>
          <c:dPt>
            <c:idx val="1"/>
            <c:bubble3D val="0"/>
            <c:spPr>
              <a:solidFill>
                <a:schemeClr val="accent1">
                  <a:lumMod val="40000"/>
                  <a:lumOff val="60000"/>
                </a:schemeClr>
              </a:solidFill>
              <a:ln>
                <a:solidFill>
                  <a:schemeClr val="bg1"/>
                </a:solidFill>
              </a:ln>
              <a:effectLst/>
            </c:spPr>
            <c:extLst>
              <c:ext xmlns:c16="http://schemas.microsoft.com/office/drawing/2014/chart" uri="{C3380CC4-5D6E-409C-BE32-E72D297353CC}">
                <c16:uniqueId val="{00000003-E470-0844-8AD0-B090172B4335}"/>
              </c:ext>
            </c:extLst>
          </c:dPt>
          <c:dPt>
            <c:idx val="2"/>
            <c:bubble3D val="0"/>
            <c:spPr>
              <a:solidFill>
                <a:schemeClr val="accent2">
                  <a:lumMod val="40000"/>
                  <a:lumOff val="60000"/>
                </a:schemeClr>
              </a:solidFill>
              <a:ln>
                <a:solidFill>
                  <a:schemeClr val="bg1"/>
                </a:solidFill>
              </a:ln>
              <a:effectLst/>
            </c:spPr>
            <c:extLst>
              <c:ext xmlns:c16="http://schemas.microsoft.com/office/drawing/2014/chart" uri="{C3380CC4-5D6E-409C-BE32-E72D297353CC}">
                <c16:uniqueId val="{00000005-E470-0844-8AD0-B090172B4335}"/>
              </c:ext>
            </c:extLst>
          </c:dPt>
          <c:cat>
            <c:strRef>
              <c:f>Sheet1!$A$2:$A$4</c:f>
              <c:strCache>
                <c:ptCount val="3"/>
                <c:pt idx="0">
                  <c:v>期末考试（开卷考试）</c:v>
                </c:pt>
                <c:pt idx="1">
                  <c:v>作业</c:v>
                </c:pt>
                <c:pt idx="2">
                  <c:v>实验</c:v>
                </c:pt>
              </c:strCache>
            </c:strRef>
          </c:cat>
          <c:val>
            <c:numRef>
              <c:f>Sheet1!$B$2:$B$4</c:f>
              <c:numCache>
                <c:formatCode>General</c:formatCode>
                <c:ptCount val="3"/>
                <c:pt idx="0">
                  <c:v>40</c:v>
                </c:pt>
                <c:pt idx="1">
                  <c:v>20</c:v>
                </c:pt>
                <c:pt idx="2">
                  <c:v>40</c:v>
                </c:pt>
              </c:numCache>
            </c:numRef>
          </c:val>
          <c:extLst>
            <c:ext xmlns:c16="http://schemas.microsoft.com/office/drawing/2014/chart" uri="{C3380CC4-5D6E-409C-BE32-E72D297353CC}">
              <c16:uniqueId val="{00000006-E470-0844-8AD0-B090172B433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CCE95-9802-FF4D-BF14-C0BADA9BA38E}" type="datetimeFigureOut">
              <a:rPr kumimoji="1" lang="zh-CN" altLang="en-US" smtClean="0"/>
              <a:t>2025/6/15</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5F7E-8FCD-B247-8658-9B89ABB1145E}" type="slidenum">
              <a:rPr kumimoji="1" lang="zh-CN" altLang="en-US" smtClean="0"/>
              <a:t>‹N°›</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ink.jianshu.com/?t=http://baike.baidu.com/view/50325.htm"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a:t>
            </a:fld>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分支預測是一種</a:t>
            </a:r>
            <a:r>
              <a:rPr kumimoji="1" lang="en-US" altLang="zh-CN" dirty="0"/>
              <a:t>CPU</a:t>
            </a:r>
            <a:r>
              <a:rPr kumimoji="1" lang="zh-CN" altLang="en-US" dirty="0"/>
              <a:t>優化技術，使用分支預測的目的，在于改善指令流水綫的流程。當分支指令發出之後，無相關優化技術的處理器，在未收到正確的反饋信息之前，不會做任何處理；而具有優化技術能力的</a:t>
            </a:r>
            <a:r>
              <a:rPr kumimoji="1" lang="en-US" altLang="zh-CN" dirty="0"/>
              <a:t>CPU</a:t>
            </a:r>
            <a:r>
              <a:rPr kumimoji="1" lang="zh-CN" altLang="en-US" dirty="0"/>
              <a:t>會在分支指令執行結束之前猜測指令結果，幷提前運行預測的分支代碼，以提高處理器指令流水綫的性能。如果預測正確則提高</a:t>
            </a:r>
            <a:r>
              <a:rPr kumimoji="1" lang="en-US" altLang="zh-CN" dirty="0"/>
              <a:t>CPU</a:t>
            </a:r>
            <a:r>
              <a:rPr kumimoji="1" lang="zh-CN" altLang="en-US" dirty="0"/>
              <a:t>運行速度，如果預測失敗</a:t>
            </a:r>
            <a:r>
              <a:rPr kumimoji="1" lang="en-US" altLang="zh-CN" dirty="0"/>
              <a:t>CPU</a:t>
            </a:r>
            <a:r>
              <a:rPr kumimoji="1" lang="zh-CN" altLang="en-US" dirty="0"/>
              <a:t>則丟弃計算結果，幷將寄存器恢復之前的狀態。但是這樣的性能優化技術是存在安全漏洞的，在預測失敗的情况下</a:t>
            </a:r>
            <a:r>
              <a:rPr kumimoji="1" lang="en-US" altLang="zh-CN" dirty="0"/>
              <a:t>CPU</a:t>
            </a:r>
            <a:r>
              <a:rPr kumimoji="1" lang="zh-CN" altLang="en-US" dirty="0"/>
              <a:t>是不會恢復緩存狀態的，因此可以利用分支預測技術讀取敏感信息，幷通過緩存側信道泄露出來。</a:t>
            </a:r>
            <a:endParaRPr kumimoji="1" lang="en-US" altLang="zh-CN" dirty="0"/>
          </a:p>
          <a:p>
            <a:endParaRPr kumimoji="1" lang="en-US" altLang="zh-CN" dirty="0"/>
          </a:p>
          <a:p>
            <a:r>
              <a:rPr kumimoji="1" lang="en-US" altLang="zh-CN" dirty="0" err="1"/>
              <a:t>CPUCache</a:t>
            </a:r>
            <a:r>
              <a:rPr kumimoji="1" lang="zh-CN" altLang="en-US" dirty="0"/>
              <a:t>是一個緩衝</a:t>
            </a:r>
            <a:r>
              <a:rPr kumimoji="1" lang="en-US" altLang="zh-CN" dirty="0"/>
              <a:t>CPU </a:t>
            </a:r>
            <a:r>
              <a:rPr kumimoji="1" lang="zh-CN" altLang="en-US" dirty="0"/>
              <a:t>頻繁使用的數據的小容量存儲器</a:t>
            </a:r>
            <a:r>
              <a:rPr kumimoji="1" lang="en-US" altLang="zh-CN" dirty="0"/>
              <a:t>,</a:t>
            </a:r>
            <a:r>
              <a:rPr kumimoji="1" lang="zh-CN" altLang="en-US" dirty="0"/>
              <a:t>它利用數據訪問的局部性原理</a:t>
            </a:r>
            <a:r>
              <a:rPr kumimoji="1" lang="en-US" altLang="zh-CN" dirty="0"/>
              <a:t>(</a:t>
            </a:r>
            <a:r>
              <a:rPr kumimoji="1" lang="zh-CN" altLang="en-US" dirty="0"/>
              <a:t>最近被訪問的數據容易被再次訪問</a:t>
            </a:r>
            <a:r>
              <a:rPr kumimoji="1" lang="en-US" altLang="zh-CN" dirty="0"/>
              <a:t>)</a:t>
            </a:r>
            <a:r>
              <a:rPr kumimoji="1" lang="zh-CN" altLang="en-US" dirty="0"/>
              <a:t>避免數據再次訪問主存時帶來的高延遲．由于</a:t>
            </a:r>
            <a:r>
              <a:rPr kumimoji="1" lang="en-US" altLang="zh-CN" dirty="0"/>
              <a:t>Cache</a:t>
            </a:r>
            <a:r>
              <a:rPr kumimoji="1" lang="zh-CN" altLang="en-US" dirty="0"/>
              <a:t>可在不同進程間共享</a:t>
            </a:r>
            <a:r>
              <a:rPr kumimoji="1" lang="en-US" altLang="zh-CN" dirty="0"/>
              <a:t>,</a:t>
            </a:r>
            <a:r>
              <a:rPr kumimoji="1" lang="zh-CN" altLang="en-US" dirty="0"/>
              <a:t>因此可在</a:t>
            </a:r>
            <a:r>
              <a:rPr kumimoji="1" lang="en-US" altLang="zh-CN" dirty="0" err="1"/>
              <a:t>CPUCache</a:t>
            </a:r>
            <a:r>
              <a:rPr kumimoji="1" lang="zh-CN" altLang="en-US" dirty="0"/>
              <a:t>中實施</a:t>
            </a:r>
            <a:r>
              <a:rPr kumimoji="1" lang="en-US" altLang="zh-CN" dirty="0"/>
              <a:t>Cache</a:t>
            </a:r>
            <a:r>
              <a:rPr kumimoji="1" lang="zh-CN" altLang="en-US" dirty="0"/>
              <a:t>側信道攻擊．該攻擊通過監控指定程序的</a:t>
            </a:r>
            <a:r>
              <a:rPr kumimoji="1" lang="en-US" altLang="zh-CN" dirty="0"/>
              <a:t>Cache</a:t>
            </a:r>
            <a:r>
              <a:rPr kumimoji="1" lang="zh-CN" altLang="en-US" dirty="0"/>
              <a:t>訪問行爲</a:t>
            </a:r>
            <a:r>
              <a:rPr kumimoji="1" lang="en-US" altLang="zh-CN" dirty="0"/>
              <a:t>,</a:t>
            </a:r>
            <a:r>
              <a:rPr kumimoji="1" lang="zh-CN" altLang="en-US" dirty="0"/>
              <a:t>推斷出該程序的敏感信息</a:t>
            </a:r>
            <a:r>
              <a:rPr kumimoji="1" lang="en-US" altLang="zh-CN" dirty="0"/>
              <a:t>,</a:t>
            </a:r>
            <a:r>
              <a:rPr kumimoji="1" lang="zh-CN" altLang="en-US" dirty="0"/>
              <a:t>其核心是利用</a:t>
            </a:r>
            <a:r>
              <a:rPr kumimoji="1" lang="en-US" altLang="zh-CN" dirty="0"/>
              <a:t>Cache</a:t>
            </a:r>
            <a:r>
              <a:rPr kumimoji="1" lang="zh-CN" altLang="en-US" dirty="0"/>
              <a:t>命中和未命中的時間差實施攻擊行爲</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是</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分組頭部中的一個</a:t>
            </a:r>
            <a:r>
              <a:rPr lang="en-US" altLang="zh-CN" sz="1200" kern="100" dirty="0">
                <a:solidFill>
                  <a:srgbClr val="222222"/>
                </a:solidFill>
                <a:effectLst/>
                <a:latin typeface="Times New Roman" panose="02020503050405090304" pitchFamily="18" charset="0"/>
                <a:ea typeface="宋体" pitchFamily="2" charset="-122"/>
              </a:rPr>
              <a:t>16 bit</a:t>
            </a:r>
            <a:r>
              <a:rPr lang="zh-CN" altLang="zh-CN" sz="1200" kern="100" dirty="0">
                <a:solidFill>
                  <a:srgbClr val="222222"/>
                </a:solidFill>
                <a:effectLst/>
                <a:latin typeface="Times New Roman" panose="02020503050405090304" pitchFamily="18" charset="0"/>
                <a:ea typeface="宋体" pitchFamily="2" charset="-122"/>
              </a:rPr>
              <a:t>字段，</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的分配，不同的操作系統有著不同的算法實現。但如果算法缺乏健壯性，不够安全，産生分配的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容易被攻擊者猜測到的話，</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很容易成爲一個側信道漏洞，被攻擊者利用攻擊破壞系統。比如，</a:t>
            </a:r>
            <a:r>
              <a:rPr lang="en-US" altLang="zh-CN" sz="1200" kern="100" dirty="0">
                <a:solidFill>
                  <a:srgbClr val="222222"/>
                </a:solidFill>
                <a:effectLst/>
                <a:latin typeface="Times New Roman" panose="02020503050405090304" pitchFamily="18" charset="0"/>
                <a:ea typeface="宋体" pitchFamily="2" charset="-122"/>
              </a:rPr>
              <a:t>Windows 7</a:t>
            </a:r>
            <a:r>
              <a:rPr lang="zh-CN" altLang="zh-CN" sz="1200" kern="100" dirty="0">
                <a:solidFill>
                  <a:srgbClr val="222222"/>
                </a:solidFill>
                <a:effectLst/>
                <a:latin typeface="Times New Roman" panose="02020503050405090304" pitchFamily="18" charset="0"/>
                <a:ea typeface="宋体" pitchFamily="2" charset="-122"/>
              </a:rPr>
              <a:t>及之前的</a:t>
            </a:r>
            <a:r>
              <a:rPr lang="en-US" altLang="zh-CN" sz="1200" kern="100" dirty="0">
                <a:solidFill>
                  <a:srgbClr val="222222"/>
                </a:solidFill>
                <a:effectLst/>
                <a:latin typeface="Times New Roman" panose="02020503050405090304" pitchFamily="18" charset="0"/>
                <a:ea typeface="宋体" pitchFamily="2" charset="-122"/>
              </a:rPr>
              <a:t>Windows</a:t>
            </a:r>
            <a:r>
              <a:rPr lang="zh-CN" altLang="zh-CN" sz="1200" kern="100" dirty="0">
                <a:solidFill>
                  <a:srgbClr val="222222"/>
                </a:solidFill>
                <a:effectLst/>
                <a:latin typeface="Times New Roman" panose="02020503050405090304" pitchFamily="18" charset="0"/>
                <a:ea typeface="宋体" pitchFamily="2" charset="-122"/>
              </a:rPr>
              <a:t>操作系統版本上，系統采用一個全域計數器爲每一個發出的</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分組分配</a:t>
            </a:r>
            <a:r>
              <a:rPr lang="en-US" altLang="zh-CN" sz="1200" kern="100" dirty="0">
                <a:solidFill>
                  <a:srgbClr val="222222"/>
                </a:solidFill>
                <a:effectLst/>
                <a:latin typeface="Times New Roman" panose="02020503050405090304" pitchFamily="18" charset="0"/>
                <a:ea typeface="宋体" pitchFamily="2" charset="-122"/>
              </a:rPr>
              <a:t>ID</a:t>
            </a:r>
            <a:r>
              <a:rPr lang="zh-CN" altLang="zh-CN" sz="1200" kern="100" dirty="0">
                <a:solidFill>
                  <a:srgbClr val="222222"/>
                </a:solidFill>
                <a:effectLst/>
                <a:latin typeface="Times New Roman" panose="02020503050405090304" pitchFamily="18" charset="0"/>
                <a:ea typeface="宋体" pitchFamily="2" charset="-122"/>
              </a:rPr>
              <a:t>。這種分配方式是不安全的，攻擊者可以觀測目標系統的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，推理出系統的網絡狀態，比如猜測系統上</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連接的序列號，惡意阻斷</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連接，進而破壞系統</a:t>
            </a:r>
            <a:endParaRPr lang="en-US" altLang="zh-CN" sz="1200" kern="100" dirty="0">
              <a:solidFill>
                <a:srgbClr val="222222"/>
              </a:solidFill>
              <a:effectLst/>
              <a:latin typeface="Times New Roman" panose="02020503050405090304" pitchFamily="18" charset="0"/>
              <a:ea typeface="宋体" pitchFamily="2" charset="-122"/>
            </a:endParaRPr>
          </a:p>
          <a:p>
            <a:endParaRPr lang="en-US" altLang="zh-CN" sz="1200" kern="100" dirty="0">
              <a:solidFill>
                <a:srgbClr val="222222"/>
              </a:solidFill>
              <a:effectLst/>
              <a:latin typeface="Times New Roman" panose="02020503050405090304" pitchFamily="18" charset="0"/>
              <a:ea typeface="宋体" pitchFamily="2" charset="-122"/>
            </a:endParaRPr>
          </a:p>
          <a:p>
            <a:r>
              <a:rPr lang="zh-CN" altLang="zh-CN" sz="1200" kern="100" dirty="0">
                <a:solidFill>
                  <a:srgbClr val="222222"/>
                </a:solidFill>
                <a:effectLst/>
                <a:latin typeface="微软雅黑" panose="020B0503020204020204" pitchFamily="34" charset="-122"/>
                <a:ea typeface="微软雅黑" panose="020B0503020204020204" pitchFamily="34" charset="-122"/>
              </a:rPr>
              <a:t>攻擊成功後，</a:t>
            </a:r>
            <a:r>
              <a:rPr lang="en-US" altLang="zh-CN" sz="1200" kern="100" dirty="0">
                <a:solidFill>
                  <a:srgbClr val="222222"/>
                </a:solidFill>
                <a:effectLst/>
                <a:latin typeface="微软雅黑" panose="020B0503020204020204" pitchFamily="34" charset="-122"/>
                <a:ea typeface="微软雅黑" panose="020B0503020204020204" pitchFamily="34" charset="-122"/>
              </a:rPr>
              <a:t>Client</a:t>
            </a:r>
            <a:r>
              <a:rPr lang="zh-CN" altLang="zh-CN" sz="1200" kern="100" dirty="0">
                <a:solidFill>
                  <a:srgbClr val="222222"/>
                </a:solidFill>
                <a:effectLst/>
                <a:latin typeface="微软雅黑" panose="020B0503020204020204" pitchFamily="34" charset="-122"/>
                <a:ea typeface="微软雅黑" panose="020B0503020204020204" pitchFamily="34" charset="-122"/>
              </a:rPr>
              <a:t>到</a:t>
            </a:r>
            <a:r>
              <a:rPr lang="en-US" altLang="zh-CN" sz="1200" kern="100" dirty="0">
                <a:solidFill>
                  <a:srgbClr val="222222"/>
                </a:solidFill>
                <a:effectLst/>
                <a:latin typeface="微软雅黑" panose="020B0503020204020204" pitchFamily="34" charset="-122"/>
                <a:ea typeface="微软雅黑" panose="020B0503020204020204" pitchFamily="34" charset="-122"/>
              </a:rPr>
              <a:t>Server</a:t>
            </a:r>
            <a:r>
              <a:rPr lang="zh-CN" altLang="zh-CN" sz="1200" kern="100" dirty="0">
                <a:solidFill>
                  <a:srgbClr val="222222"/>
                </a:solidFill>
                <a:effectLst/>
                <a:latin typeface="微软雅黑" panose="020B0503020204020204" pitchFamily="34" charset="-122"/>
                <a:ea typeface="微软雅黑" panose="020B0503020204020204" pitchFamily="34" charset="-122"/>
              </a:rPr>
              <a:t>之間的</a:t>
            </a:r>
            <a:r>
              <a:rPr lang="en-US" altLang="zh-CN" sz="1200" kern="100" dirty="0">
                <a:solidFill>
                  <a:srgbClr val="222222"/>
                </a:solidFill>
                <a:effectLst/>
                <a:latin typeface="微软雅黑" panose="020B0503020204020204" pitchFamily="34" charset="-122"/>
                <a:ea typeface="微软雅黑" panose="020B0503020204020204" pitchFamily="34" charset="-122"/>
              </a:rPr>
              <a:t>TCP</a:t>
            </a:r>
            <a:r>
              <a:rPr lang="zh-CN" altLang="zh-CN" sz="1200" kern="100" dirty="0">
                <a:solidFill>
                  <a:srgbClr val="222222"/>
                </a:solidFill>
                <a:effectLst/>
                <a:latin typeface="微软雅黑" panose="020B0503020204020204" pitchFamily="34" charset="-122"/>
                <a:ea typeface="微软雅黑" panose="020B0503020204020204" pitchFamily="34" charset="-122"/>
              </a:rPr>
              <a:t>連接被惡意阻斷。服務器端跳出連接，客戶端連接仍存在，但客戶端再次發送消息時，也會异常跳出。實驗過程中，可能會受到服務器端噪聲流量的干擾，影響全域</a:t>
            </a:r>
            <a:r>
              <a:rPr lang="en-US" altLang="zh-CN" sz="1200" kern="100" dirty="0">
                <a:solidFill>
                  <a:srgbClr val="222222"/>
                </a:solidFill>
                <a:effectLst/>
                <a:latin typeface="微软雅黑" panose="020B0503020204020204" pitchFamily="34" charset="-122"/>
                <a:ea typeface="微软雅黑" panose="020B0503020204020204" pitchFamily="34" charset="-122"/>
              </a:rPr>
              <a:t>IPID</a:t>
            </a:r>
            <a:r>
              <a:rPr lang="zh-CN" altLang="zh-CN" sz="1200" kern="100" dirty="0">
                <a:solidFill>
                  <a:srgbClr val="222222"/>
                </a:solidFill>
                <a:effectLst/>
                <a:latin typeface="微软雅黑" panose="020B0503020204020204" pitchFamily="34" charset="-122"/>
                <a:ea typeface="微软雅黑" panose="020B0503020204020204" pitchFamily="34" charset="-122"/>
              </a:rPr>
              <a:t>計數器的觀測，可多次實驗觀測現象，幷計算攻擊成功率</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14</a:t>
            </a:fld>
            <a:endParaRPr kumimoji="1"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是</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分組頭部中的一個</a:t>
            </a:r>
            <a:r>
              <a:rPr lang="en-US" altLang="zh-CN" sz="1200" kern="100" dirty="0">
                <a:solidFill>
                  <a:srgbClr val="222222"/>
                </a:solidFill>
                <a:effectLst/>
                <a:latin typeface="Times New Roman" panose="02020503050405090304" pitchFamily="18" charset="0"/>
                <a:ea typeface="宋体" pitchFamily="2" charset="-122"/>
              </a:rPr>
              <a:t>16 bit</a:t>
            </a:r>
            <a:r>
              <a:rPr lang="zh-CN" altLang="zh-CN" sz="1200" kern="100" dirty="0">
                <a:solidFill>
                  <a:srgbClr val="222222"/>
                </a:solidFill>
                <a:effectLst/>
                <a:latin typeface="Times New Roman" panose="02020503050405090304" pitchFamily="18" charset="0"/>
                <a:ea typeface="宋体" pitchFamily="2" charset="-122"/>
              </a:rPr>
              <a:t>字段，</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的分配，不同的操作系統有著不同的算法實現。但如果算法缺乏健壯性，不够安全，産生分配的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容易被攻擊者猜測到的話，</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很容易成爲一個側信道漏洞，被攻擊者利用攻擊破壞系統。比如，</a:t>
            </a:r>
            <a:r>
              <a:rPr lang="en-US" altLang="zh-CN" sz="1200" kern="100" dirty="0">
                <a:solidFill>
                  <a:srgbClr val="222222"/>
                </a:solidFill>
                <a:effectLst/>
                <a:latin typeface="Times New Roman" panose="02020503050405090304" pitchFamily="18" charset="0"/>
                <a:ea typeface="宋体" pitchFamily="2" charset="-122"/>
              </a:rPr>
              <a:t>Windows 7</a:t>
            </a:r>
            <a:r>
              <a:rPr lang="zh-CN" altLang="zh-CN" sz="1200" kern="100" dirty="0">
                <a:solidFill>
                  <a:srgbClr val="222222"/>
                </a:solidFill>
                <a:effectLst/>
                <a:latin typeface="Times New Roman" panose="02020503050405090304" pitchFamily="18" charset="0"/>
                <a:ea typeface="宋体" pitchFamily="2" charset="-122"/>
              </a:rPr>
              <a:t>及之前的</a:t>
            </a:r>
            <a:r>
              <a:rPr lang="en-US" altLang="zh-CN" sz="1200" kern="100" dirty="0">
                <a:solidFill>
                  <a:srgbClr val="222222"/>
                </a:solidFill>
                <a:effectLst/>
                <a:latin typeface="Times New Roman" panose="02020503050405090304" pitchFamily="18" charset="0"/>
                <a:ea typeface="宋体" pitchFamily="2" charset="-122"/>
              </a:rPr>
              <a:t>Windows</a:t>
            </a:r>
            <a:r>
              <a:rPr lang="zh-CN" altLang="zh-CN" sz="1200" kern="100" dirty="0">
                <a:solidFill>
                  <a:srgbClr val="222222"/>
                </a:solidFill>
                <a:effectLst/>
                <a:latin typeface="Times New Roman" panose="02020503050405090304" pitchFamily="18" charset="0"/>
                <a:ea typeface="宋体" pitchFamily="2" charset="-122"/>
              </a:rPr>
              <a:t>操作系統版本上，系統采用一個全域計數器爲每一個發出的</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分組分配</a:t>
            </a:r>
            <a:r>
              <a:rPr lang="en-US" altLang="zh-CN" sz="1200" kern="100" dirty="0">
                <a:solidFill>
                  <a:srgbClr val="222222"/>
                </a:solidFill>
                <a:effectLst/>
                <a:latin typeface="Times New Roman" panose="02020503050405090304" pitchFamily="18" charset="0"/>
                <a:ea typeface="宋体" pitchFamily="2" charset="-122"/>
              </a:rPr>
              <a:t>ID</a:t>
            </a:r>
            <a:r>
              <a:rPr lang="zh-CN" altLang="zh-CN" sz="1200" kern="100" dirty="0">
                <a:solidFill>
                  <a:srgbClr val="222222"/>
                </a:solidFill>
                <a:effectLst/>
                <a:latin typeface="Times New Roman" panose="02020503050405090304" pitchFamily="18" charset="0"/>
                <a:ea typeface="宋体" pitchFamily="2" charset="-122"/>
              </a:rPr>
              <a:t>。這種分配方式是不安全的，攻擊者可以觀測目標系統的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，推理出系統的網絡狀態，比如猜測系統上</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連接的序列號，惡意阻斷</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連接，進而破壞系統</a:t>
            </a:r>
            <a:endParaRPr lang="en-US" altLang="zh-CN" sz="1200" kern="100" dirty="0">
              <a:solidFill>
                <a:srgbClr val="222222"/>
              </a:solidFill>
              <a:effectLst/>
              <a:latin typeface="Times New Roman" panose="02020503050405090304" pitchFamily="18" charset="0"/>
              <a:ea typeface="宋体" pitchFamily="2" charset="-122"/>
            </a:endParaRPr>
          </a:p>
          <a:p>
            <a:endParaRPr lang="en-US" altLang="zh-CN" sz="1200" kern="100" dirty="0">
              <a:solidFill>
                <a:srgbClr val="222222"/>
              </a:solidFill>
              <a:effectLst/>
              <a:latin typeface="Times New Roman" panose="02020503050405090304" pitchFamily="18" charset="0"/>
              <a:ea typeface="宋体" pitchFamily="2" charset="-122"/>
            </a:endParaRPr>
          </a:p>
          <a:p>
            <a:r>
              <a:rPr lang="zh-CN" altLang="zh-CN" sz="1200" kern="100" dirty="0">
                <a:solidFill>
                  <a:srgbClr val="222222"/>
                </a:solidFill>
                <a:effectLst/>
                <a:latin typeface="微软雅黑" panose="020B0503020204020204" pitchFamily="34" charset="-122"/>
                <a:ea typeface="微软雅黑" panose="020B0503020204020204" pitchFamily="34" charset="-122"/>
              </a:rPr>
              <a:t>攻擊成功後，</a:t>
            </a:r>
            <a:r>
              <a:rPr lang="en-US" altLang="zh-CN" sz="1200" kern="100" dirty="0">
                <a:solidFill>
                  <a:srgbClr val="222222"/>
                </a:solidFill>
                <a:effectLst/>
                <a:latin typeface="微软雅黑" panose="020B0503020204020204" pitchFamily="34" charset="-122"/>
                <a:ea typeface="微软雅黑" panose="020B0503020204020204" pitchFamily="34" charset="-122"/>
              </a:rPr>
              <a:t>Client</a:t>
            </a:r>
            <a:r>
              <a:rPr lang="zh-CN" altLang="zh-CN" sz="1200" kern="100" dirty="0">
                <a:solidFill>
                  <a:srgbClr val="222222"/>
                </a:solidFill>
                <a:effectLst/>
                <a:latin typeface="微软雅黑" panose="020B0503020204020204" pitchFamily="34" charset="-122"/>
                <a:ea typeface="微软雅黑" panose="020B0503020204020204" pitchFamily="34" charset="-122"/>
              </a:rPr>
              <a:t>到</a:t>
            </a:r>
            <a:r>
              <a:rPr lang="en-US" altLang="zh-CN" sz="1200" kern="100" dirty="0">
                <a:solidFill>
                  <a:srgbClr val="222222"/>
                </a:solidFill>
                <a:effectLst/>
                <a:latin typeface="微软雅黑" panose="020B0503020204020204" pitchFamily="34" charset="-122"/>
                <a:ea typeface="微软雅黑" panose="020B0503020204020204" pitchFamily="34" charset="-122"/>
              </a:rPr>
              <a:t>Server</a:t>
            </a:r>
            <a:r>
              <a:rPr lang="zh-CN" altLang="zh-CN" sz="1200" kern="100" dirty="0">
                <a:solidFill>
                  <a:srgbClr val="222222"/>
                </a:solidFill>
                <a:effectLst/>
                <a:latin typeface="微软雅黑" panose="020B0503020204020204" pitchFamily="34" charset="-122"/>
                <a:ea typeface="微软雅黑" panose="020B0503020204020204" pitchFamily="34" charset="-122"/>
              </a:rPr>
              <a:t>之間的</a:t>
            </a:r>
            <a:r>
              <a:rPr lang="en-US" altLang="zh-CN" sz="1200" kern="100" dirty="0">
                <a:solidFill>
                  <a:srgbClr val="222222"/>
                </a:solidFill>
                <a:effectLst/>
                <a:latin typeface="微软雅黑" panose="020B0503020204020204" pitchFamily="34" charset="-122"/>
                <a:ea typeface="微软雅黑" panose="020B0503020204020204" pitchFamily="34" charset="-122"/>
              </a:rPr>
              <a:t>TCP</a:t>
            </a:r>
            <a:r>
              <a:rPr lang="zh-CN" altLang="zh-CN" sz="1200" kern="100" dirty="0">
                <a:solidFill>
                  <a:srgbClr val="222222"/>
                </a:solidFill>
                <a:effectLst/>
                <a:latin typeface="微软雅黑" panose="020B0503020204020204" pitchFamily="34" charset="-122"/>
                <a:ea typeface="微软雅黑" panose="020B0503020204020204" pitchFamily="34" charset="-122"/>
              </a:rPr>
              <a:t>連接被惡意阻斷。服務器端跳出連接，客戶端連接仍存在，但客戶端再次發送消息時，也會异常跳出。實驗過程中，可能會受到服務器端噪聲流量的干擾，影響全域</a:t>
            </a:r>
            <a:r>
              <a:rPr lang="en-US" altLang="zh-CN" sz="1200" kern="100" dirty="0">
                <a:solidFill>
                  <a:srgbClr val="222222"/>
                </a:solidFill>
                <a:effectLst/>
                <a:latin typeface="微软雅黑" panose="020B0503020204020204" pitchFamily="34" charset="-122"/>
                <a:ea typeface="微软雅黑" panose="020B0503020204020204" pitchFamily="34" charset="-122"/>
              </a:rPr>
              <a:t>IPID</a:t>
            </a:r>
            <a:r>
              <a:rPr lang="zh-CN" altLang="zh-CN" sz="1200" kern="100" dirty="0">
                <a:solidFill>
                  <a:srgbClr val="222222"/>
                </a:solidFill>
                <a:effectLst/>
                <a:latin typeface="微软雅黑" panose="020B0503020204020204" pitchFamily="34" charset="-122"/>
                <a:ea typeface="微软雅黑" panose="020B0503020204020204" pitchFamily="34" charset="-122"/>
              </a:rPr>
              <a:t>計數器的觀測，可多次實驗觀測現象，幷計算攻擊成功率</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15</a:t>
            </a:fld>
            <a:endParaRPr kumimoji="1"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是</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分組頭部中的一個</a:t>
            </a:r>
            <a:r>
              <a:rPr lang="en-US" altLang="zh-CN" sz="1200" kern="100" dirty="0">
                <a:solidFill>
                  <a:srgbClr val="222222"/>
                </a:solidFill>
                <a:effectLst/>
                <a:latin typeface="Times New Roman" panose="02020503050405090304" pitchFamily="18" charset="0"/>
                <a:ea typeface="宋体" pitchFamily="2" charset="-122"/>
              </a:rPr>
              <a:t>16 bit</a:t>
            </a:r>
            <a:r>
              <a:rPr lang="zh-CN" altLang="zh-CN" sz="1200" kern="100" dirty="0">
                <a:solidFill>
                  <a:srgbClr val="222222"/>
                </a:solidFill>
                <a:effectLst/>
                <a:latin typeface="Times New Roman" panose="02020503050405090304" pitchFamily="18" charset="0"/>
                <a:ea typeface="宋体" pitchFamily="2" charset="-122"/>
              </a:rPr>
              <a:t>字段，</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的分配，不同的操作系統有著不同的算法實現。但如果算法缺乏健壯性，不够安全，産生分配的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容易被攻擊者猜測到的話，</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很容易成爲一個側信道漏洞，被攻擊者利用攻擊破壞系統。比如，</a:t>
            </a:r>
            <a:r>
              <a:rPr lang="en-US" altLang="zh-CN" sz="1200" kern="100" dirty="0">
                <a:solidFill>
                  <a:srgbClr val="222222"/>
                </a:solidFill>
                <a:effectLst/>
                <a:latin typeface="Times New Roman" panose="02020503050405090304" pitchFamily="18" charset="0"/>
                <a:ea typeface="宋体" pitchFamily="2" charset="-122"/>
              </a:rPr>
              <a:t>Windows 7</a:t>
            </a:r>
            <a:r>
              <a:rPr lang="zh-CN" altLang="zh-CN" sz="1200" kern="100" dirty="0">
                <a:solidFill>
                  <a:srgbClr val="222222"/>
                </a:solidFill>
                <a:effectLst/>
                <a:latin typeface="Times New Roman" panose="02020503050405090304" pitchFamily="18" charset="0"/>
                <a:ea typeface="宋体" pitchFamily="2" charset="-122"/>
              </a:rPr>
              <a:t>及之前的</a:t>
            </a:r>
            <a:r>
              <a:rPr lang="en-US" altLang="zh-CN" sz="1200" kern="100" dirty="0">
                <a:solidFill>
                  <a:srgbClr val="222222"/>
                </a:solidFill>
                <a:effectLst/>
                <a:latin typeface="Times New Roman" panose="02020503050405090304" pitchFamily="18" charset="0"/>
                <a:ea typeface="宋体" pitchFamily="2" charset="-122"/>
              </a:rPr>
              <a:t>Windows</a:t>
            </a:r>
            <a:r>
              <a:rPr lang="zh-CN" altLang="zh-CN" sz="1200" kern="100" dirty="0">
                <a:solidFill>
                  <a:srgbClr val="222222"/>
                </a:solidFill>
                <a:effectLst/>
                <a:latin typeface="Times New Roman" panose="02020503050405090304" pitchFamily="18" charset="0"/>
                <a:ea typeface="宋体" pitchFamily="2" charset="-122"/>
              </a:rPr>
              <a:t>操作系統版本上，系統采用一個全域計數器爲每一個發出的</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分組分配</a:t>
            </a:r>
            <a:r>
              <a:rPr lang="en-US" altLang="zh-CN" sz="1200" kern="100" dirty="0">
                <a:solidFill>
                  <a:srgbClr val="222222"/>
                </a:solidFill>
                <a:effectLst/>
                <a:latin typeface="Times New Roman" panose="02020503050405090304" pitchFamily="18" charset="0"/>
                <a:ea typeface="宋体" pitchFamily="2" charset="-122"/>
              </a:rPr>
              <a:t>ID</a:t>
            </a:r>
            <a:r>
              <a:rPr lang="zh-CN" altLang="zh-CN" sz="1200" kern="100" dirty="0">
                <a:solidFill>
                  <a:srgbClr val="222222"/>
                </a:solidFill>
                <a:effectLst/>
                <a:latin typeface="Times New Roman" panose="02020503050405090304" pitchFamily="18" charset="0"/>
                <a:ea typeface="宋体" pitchFamily="2" charset="-122"/>
              </a:rPr>
              <a:t>。這種分配方式是不安全的，攻擊者可以觀測目標系統的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，推理出系統的網絡狀態，比如猜測系統上</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連接的序列號，惡意阻斷</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連接，進而破壞系統</a:t>
            </a:r>
            <a:endParaRPr lang="en-US" altLang="zh-CN" sz="1200" kern="100" dirty="0">
              <a:solidFill>
                <a:srgbClr val="222222"/>
              </a:solidFill>
              <a:effectLst/>
              <a:latin typeface="Times New Roman" panose="02020503050405090304" pitchFamily="18" charset="0"/>
              <a:ea typeface="宋体" pitchFamily="2" charset="-122"/>
            </a:endParaRPr>
          </a:p>
          <a:p>
            <a:endParaRPr lang="en-US" altLang="zh-CN" sz="1200" kern="100" dirty="0">
              <a:solidFill>
                <a:srgbClr val="222222"/>
              </a:solidFill>
              <a:effectLst/>
              <a:latin typeface="Times New Roman" panose="02020503050405090304" pitchFamily="18" charset="0"/>
              <a:ea typeface="宋体" pitchFamily="2" charset="-122"/>
            </a:endParaRPr>
          </a:p>
          <a:p>
            <a:r>
              <a:rPr lang="zh-CN" altLang="zh-CN" sz="1200" kern="100" dirty="0">
                <a:solidFill>
                  <a:srgbClr val="222222"/>
                </a:solidFill>
                <a:effectLst/>
                <a:latin typeface="微软雅黑" panose="020B0503020204020204" pitchFamily="34" charset="-122"/>
                <a:ea typeface="微软雅黑" panose="020B0503020204020204" pitchFamily="34" charset="-122"/>
              </a:rPr>
              <a:t>攻擊成功後，</a:t>
            </a:r>
            <a:r>
              <a:rPr lang="en-US" altLang="zh-CN" sz="1200" kern="100" dirty="0">
                <a:solidFill>
                  <a:srgbClr val="222222"/>
                </a:solidFill>
                <a:effectLst/>
                <a:latin typeface="微软雅黑" panose="020B0503020204020204" pitchFamily="34" charset="-122"/>
                <a:ea typeface="微软雅黑" panose="020B0503020204020204" pitchFamily="34" charset="-122"/>
              </a:rPr>
              <a:t>Client</a:t>
            </a:r>
            <a:r>
              <a:rPr lang="zh-CN" altLang="zh-CN" sz="1200" kern="100" dirty="0">
                <a:solidFill>
                  <a:srgbClr val="222222"/>
                </a:solidFill>
                <a:effectLst/>
                <a:latin typeface="微软雅黑" panose="020B0503020204020204" pitchFamily="34" charset="-122"/>
                <a:ea typeface="微软雅黑" panose="020B0503020204020204" pitchFamily="34" charset="-122"/>
              </a:rPr>
              <a:t>到</a:t>
            </a:r>
            <a:r>
              <a:rPr lang="en-US" altLang="zh-CN" sz="1200" kern="100" dirty="0">
                <a:solidFill>
                  <a:srgbClr val="222222"/>
                </a:solidFill>
                <a:effectLst/>
                <a:latin typeface="微软雅黑" panose="020B0503020204020204" pitchFamily="34" charset="-122"/>
                <a:ea typeface="微软雅黑" panose="020B0503020204020204" pitchFamily="34" charset="-122"/>
              </a:rPr>
              <a:t>Server</a:t>
            </a:r>
            <a:r>
              <a:rPr lang="zh-CN" altLang="zh-CN" sz="1200" kern="100" dirty="0">
                <a:solidFill>
                  <a:srgbClr val="222222"/>
                </a:solidFill>
                <a:effectLst/>
                <a:latin typeface="微软雅黑" panose="020B0503020204020204" pitchFamily="34" charset="-122"/>
                <a:ea typeface="微软雅黑" panose="020B0503020204020204" pitchFamily="34" charset="-122"/>
              </a:rPr>
              <a:t>之間的</a:t>
            </a:r>
            <a:r>
              <a:rPr lang="en-US" altLang="zh-CN" sz="1200" kern="100" dirty="0">
                <a:solidFill>
                  <a:srgbClr val="222222"/>
                </a:solidFill>
                <a:effectLst/>
                <a:latin typeface="微软雅黑" panose="020B0503020204020204" pitchFamily="34" charset="-122"/>
                <a:ea typeface="微软雅黑" panose="020B0503020204020204" pitchFamily="34" charset="-122"/>
              </a:rPr>
              <a:t>TCP</a:t>
            </a:r>
            <a:r>
              <a:rPr lang="zh-CN" altLang="zh-CN" sz="1200" kern="100" dirty="0">
                <a:solidFill>
                  <a:srgbClr val="222222"/>
                </a:solidFill>
                <a:effectLst/>
                <a:latin typeface="微软雅黑" panose="020B0503020204020204" pitchFamily="34" charset="-122"/>
                <a:ea typeface="微软雅黑" panose="020B0503020204020204" pitchFamily="34" charset="-122"/>
              </a:rPr>
              <a:t>連接被惡意阻斷。服務器端跳出連接，客戶端連接仍存在，但客戶端再次發送消息時，也會异常跳出。實驗過程中，可能會受到服務器端噪聲流量的干擾，影響全域</a:t>
            </a:r>
            <a:r>
              <a:rPr lang="en-US" altLang="zh-CN" sz="1200" kern="100" dirty="0">
                <a:solidFill>
                  <a:srgbClr val="222222"/>
                </a:solidFill>
                <a:effectLst/>
                <a:latin typeface="微软雅黑" panose="020B0503020204020204" pitchFamily="34" charset="-122"/>
                <a:ea typeface="微软雅黑" panose="020B0503020204020204" pitchFamily="34" charset="-122"/>
              </a:rPr>
              <a:t>IPID</a:t>
            </a:r>
            <a:r>
              <a:rPr lang="zh-CN" altLang="zh-CN" sz="1200" kern="100" dirty="0">
                <a:solidFill>
                  <a:srgbClr val="222222"/>
                </a:solidFill>
                <a:effectLst/>
                <a:latin typeface="微软雅黑" panose="020B0503020204020204" pitchFamily="34" charset="-122"/>
                <a:ea typeface="微软雅黑" panose="020B0503020204020204" pitchFamily="34" charset="-122"/>
              </a:rPr>
              <a:t>計數器的觀測，可多次實驗觀測現象，幷計算攻擊成功率</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16</a:t>
            </a:fld>
            <a:endParaRPr kumimoji="1"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是</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分組頭部中的一個</a:t>
            </a:r>
            <a:r>
              <a:rPr lang="en-US" altLang="zh-CN" sz="1200" kern="100" dirty="0">
                <a:solidFill>
                  <a:srgbClr val="222222"/>
                </a:solidFill>
                <a:effectLst/>
                <a:latin typeface="Times New Roman" panose="02020503050405090304" pitchFamily="18" charset="0"/>
                <a:ea typeface="宋体" pitchFamily="2" charset="-122"/>
              </a:rPr>
              <a:t>16 bit</a:t>
            </a:r>
            <a:r>
              <a:rPr lang="zh-CN" altLang="zh-CN" sz="1200" kern="100" dirty="0">
                <a:solidFill>
                  <a:srgbClr val="222222"/>
                </a:solidFill>
                <a:effectLst/>
                <a:latin typeface="Times New Roman" panose="02020503050405090304" pitchFamily="18" charset="0"/>
                <a:ea typeface="宋体" pitchFamily="2" charset="-122"/>
              </a:rPr>
              <a:t>字段，</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的分配，不同的操作系統有著不同的算法實現。但如果算法缺乏健壯性，不够安全，産生分配的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容易被攻擊者猜測到的話，</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很容易成爲一個側信道漏洞，被攻擊者利用攻擊破壞系統。比如，</a:t>
            </a:r>
            <a:r>
              <a:rPr lang="en-US" altLang="zh-CN" sz="1200" kern="100" dirty="0">
                <a:solidFill>
                  <a:srgbClr val="222222"/>
                </a:solidFill>
                <a:effectLst/>
                <a:latin typeface="Times New Roman" panose="02020503050405090304" pitchFamily="18" charset="0"/>
                <a:ea typeface="宋体" pitchFamily="2" charset="-122"/>
              </a:rPr>
              <a:t>Windows 7</a:t>
            </a:r>
            <a:r>
              <a:rPr lang="zh-CN" altLang="zh-CN" sz="1200" kern="100" dirty="0">
                <a:solidFill>
                  <a:srgbClr val="222222"/>
                </a:solidFill>
                <a:effectLst/>
                <a:latin typeface="Times New Roman" panose="02020503050405090304" pitchFamily="18" charset="0"/>
                <a:ea typeface="宋体" pitchFamily="2" charset="-122"/>
              </a:rPr>
              <a:t>及之前的</a:t>
            </a:r>
            <a:r>
              <a:rPr lang="en-US" altLang="zh-CN" sz="1200" kern="100" dirty="0">
                <a:solidFill>
                  <a:srgbClr val="222222"/>
                </a:solidFill>
                <a:effectLst/>
                <a:latin typeface="Times New Roman" panose="02020503050405090304" pitchFamily="18" charset="0"/>
                <a:ea typeface="宋体" pitchFamily="2" charset="-122"/>
              </a:rPr>
              <a:t>Windows</a:t>
            </a:r>
            <a:r>
              <a:rPr lang="zh-CN" altLang="zh-CN" sz="1200" kern="100" dirty="0">
                <a:solidFill>
                  <a:srgbClr val="222222"/>
                </a:solidFill>
                <a:effectLst/>
                <a:latin typeface="Times New Roman" panose="02020503050405090304" pitchFamily="18" charset="0"/>
                <a:ea typeface="宋体" pitchFamily="2" charset="-122"/>
              </a:rPr>
              <a:t>操作系統版本上，系統采用一個全域計數器爲每一個發出的</a:t>
            </a:r>
            <a:r>
              <a:rPr lang="en-US" altLang="zh-CN" sz="1200" kern="100" dirty="0">
                <a:solidFill>
                  <a:srgbClr val="222222"/>
                </a:solidFill>
                <a:effectLst/>
                <a:latin typeface="Times New Roman" panose="02020503050405090304" pitchFamily="18" charset="0"/>
                <a:ea typeface="宋体" pitchFamily="2" charset="-122"/>
              </a:rPr>
              <a:t>IP</a:t>
            </a:r>
            <a:r>
              <a:rPr lang="zh-CN" altLang="zh-CN" sz="1200" kern="100" dirty="0">
                <a:solidFill>
                  <a:srgbClr val="222222"/>
                </a:solidFill>
                <a:effectLst/>
                <a:latin typeface="Times New Roman" panose="02020503050405090304" pitchFamily="18" charset="0"/>
                <a:ea typeface="宋体" pitchFamily="2" charset="-122"/>
              </a:rPr>
              <a:t>分組分配</a:t>
            </a:r>
            <a:r>
              <a:rPr lang="en-US" altLang="zh-CN" sz="1200" kern="100" dirty="0">
                <a:solidFill>
                  <a:srgbClr val="222222"/>
                </a:solidFill>
                <a:effectLst/>
                <a:latin typeface="Times New Roman" panose="02020503050405090304" pitchFamily="18" charset="0"/>
                <a:ea typeface="宋体" pitchFamily="2" charset="-122"/>
              </a:rPr>
              <a:t>ID</a:t>
            </a:r>
            <a:r>
              <a:rPr lang="zh-CN" altLang="zh-CN" sz="1200" kern="100" dirty="0">
                <a:solidFill>
                  <a:srgbClr val="222222"/>
                </a:solidFill>
                <a:effectLst/>
                <a:latin typeface="Times New Roman" panose="02020503050405090304" pitchFamily="18" charset="0"/>
                <a:ea typeface="宋体" pitchFamily="2" charset="-122"/>
              </a:rPr>
              <a:t>。這種分配方式是不安全的，攻擊者可以觀測目標系統的</a:t>
            </a:r>
            <a:r>
              <a:rPr lang="en-US" altLang="zh-CN" sz="1200" kern="100" dirty="0">
                <a:solidFill>
                  <a:srgbClr val="222222"/>
                </a:solidFill>
                <a:effectLst/>
                <a:latin typeface="Times New Roman" panose="02020503050405090304" pitchFamily="18" charset="0"/>
                <a:ea typeface="宋体" pitchFamily="2" charset="-122"/>
              </a:rPr>
              <a:t>IPID</a:t>
            </a:r>
            <a:r>
              <a:rPr lang="zh-CN" altLang="zh-CN" sz="1200" kern="100" dirty="0">
                <a:solidFill>
                  <a:srgbClr val="222222"/>
                </a:solidFill>
                <a:effectLst/>
                <a:latin typeface="Times New Roman" panose="02020503050405090304" pitchFamily="18" charset="0"/>
                <a:ea typeface="宋体" pitchFamily="2" charset="-122"/>
              </a:rPr>
              <a:t>，推理出系統的網絡狀態，比如猜測系統上</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連接的序列號，惡意阻斷</a:t>
            </a:r>
            <a:r>
              <a:rPr lang="en-US" altLang="zh-CN" sz="1200" kern="100" dirty="0">
                <a:solidFill>
                  <a:srgbClr val="222222"/>
                </a:solidFill>
                <a:effectLst/>
                <a:latin typeface="Times New Roman" panose="02020503050405090304" pitchFamily="18" charset="0"/>
                <a:ea typeface="宋体" pitchFamily="2" charset="-122"/>
              </a:rPr>
              <a:t>TCP</a:t>
            </a:r>
            <a:r>
              <a:rPr lang="zh-CN" altLang="zh-CN" sz="1200" kern="100" dirty="0">
                <a:solidFill>
                  <a:srgbClr val="222222"/>
                </a:solidFill>
                <a:effectLst/>
                <a:latin typeface="Times New Roman" panose="02020503050405090304" pitchFamily="18" charset="0"/>
                <a:ea typeface="宋体" pitchFamily="2" charset="-122"/>
              </a:rPr>
              <a:t>連接，進而破壞系統</a:t>
            </a:r>
            <a:endParaRPr lang="en-US" altLang="zh-CN" sz="1200" kern="100" dirty="0">
              <a:solidFill>
                <a:srgbClr val="222222"/>
              </a:solidFill>
              <a:effectLst/>
              <a:latin typeface="Times New Roman" panose="02020503050405090304" pitchFamily="18" charset="0"/>
              <a:ea typeface="宋体" pitchFamily="2" charset="-122"/>
            </a:endParaRPr>
          </a:p>
          <a:p>
            <a:endParaRPr lang="en-US" altLang="zh-CN" sz="1200" kern="100" dirty="0">
              <a:solidFill>
                <a:srgbClr val="222222"/>
              </a:solidFill>
              <a:effectLst/>
              <a:latin typeface="Times New Roman" panose="02020503050405090304" pitchFamily="18" charset="0"/>
              <a:ea typeface="宋体" pitchFamily="2" charset="-122"/>
            </a:endParaRPr>
          </a:p>
          <a:p>
            <a:r>
              <a:rPr lang="zh-CN" altLang="zh-CN" sz="1200" kern="100" dirty="0">
                <a:solidFill>
                  <a:srgbClr val="222222"/>
                </a:solidFill>
                <a:effectLst/>
                <a:latin typeface="微软雅黑" panose="020B0503020204020204" pitchFamily="34" charset="-122"/>
                <a:ea typeface="微软雅黑" panose="020B0503020204020204" pitchFamily="34" charset="-122"/>
              </a:rPr>
              <a:t>攻擊成功後，</a:t>
            </a:r>
            <a:r>
              <a:rPr lang="en-US" altLang="zh-CN" sz="1200" kern="100" dirty="0">
                <a:solidFill>
                  <a:srgbClr val="222222"/>
                </a:solidFill>
                <a:effectLst/>
                <a:latin typeface="微软雅黑" panose="020B0503020204020204" pitchFamily="34" charset="-122"/>
                <a:ea typeface="微软雅黑" panose="020B0503020204020204" pitchFamily="34" charset="-122"/>
              </a:rPr>
              <a:t>Client</a:t>
            </a:r>
            <a:r>
              <a:rPr lang="zh-CN" altLang="zh-CN" sz="1200" kern="100" dirty="0">
                <a:solidFill>
                  <a:srgbClr val="222222"/>
                </a:solidFill>
                <a:effectLst/>
                <a:latin typeface="微软雅黑" panose="020B0503020204020204" pitchFamily="34" charset="-122"/>
                <a:ea typeface="微软雅黑" panose="020B0503020204020204" pitchFamily="34" charset="-122"/>
              </a:rPr>
              <a:t>到</a:t>
            </a:r>
            <a:r>
              <a:rPr lang="en-US" altLang="zh-CN" sz="1200" kern="100" dirty="0">
                <a:solidFill>
                  <a:srgbClr val="222222"/>
                </a:solidFill>
                <a:effectLst/>
                <a:latin typeface="微软雅黑" panose="020B0503020204020204" pitchFamily="34" charset="-122"/>
                <a:ea typeface="微软雅黑" panose="020B0503020204020204" pitchFamily="34" charset="-122"/>
              </a:rPr>
              <a:t>Server</a:t>
            </a:r>
            <a:r>
              <a:rPr lang="zh-CN" altLang="zh-CN" sz="1200" kern="100" dirty="0">
                <a:solidFill>
                  <a:srgbClr val="222222"/>
                </a:solidFill>
                <a:effectLst/>
                <a:latin typeface="微软雅黑" panose="020B0503020204020204" pitchFamily="34" charset="-122"/>
                <a:ea typeface="微软雅黑" panose="020B0503020204020204" pitchFamily="34" charset="-122"/>
              </a:rPr>
              <a:t>之間的</a:t>
            </a:r>
            <a:r>
              <a:rPr lang="en-US" altLang="zh-CN" sz="1200" kern="100" dirty="0">
                <a:solidFill>
                  <a:srgbClr val="222222"/>
                </a:solidFill>
                <a:effectLst/>
                <a:latin typeface="微软雅黑" panose="020B0503020204020204" pitchFamily="34" charset="-122"/>
                <a:ea typeface="微软雅黑" panose="020B0503020204020204" pitchFamily="34" charset="-122"/>
              </a:rPr>
              <a:t>TCP</a:t>
            </a:r>
            <a:r>
              <a:rPr lang="zh-CN" altLang="zh-CN" sz="1200" kern="100" dirty="0">
                <a:solidFill>
                  <a:srgbClr val="222222"/>
                </a:solidFill>
                <a:effectLst/>
                <a:latin typeface="微软雅黑" panose="020B0503020204020204" pitchFamily="34" charset="-122"/>
                <a:ea typeface="微软雅黑" panose="020B0503020204020204" pitchFamily="34" charset="-122"/>
              </a:rPr>
              <a:t>連接被惡意阻斷。服務器端跳出連接，客戶端連接仍存在，但客戶端再次發送消息時，也會异常跳出。實驗過程中，可能會受到服務器端噪聲流量的干擾，影響全域</a:t>
            </a:r>
            <a:r>
              <a:rPr lang="en-US" altLang="zh-CN" sz="1200" kern="100" dirty="0">
                <a:solidFill>
                  <a:srgbClr val="222222"/>
                </a:solidFill>
                <a:effectLst/>
                <a:latin typeface="微软雅黑" panose="020B0503020204020204" pitchFamily="34" charset="-122"/>
                <a:ea typeface="微软雅黑" panose="020B0503020204020204" pitchFamily="34" charset="-122"/>
              </a:rPr>
              <a:t>IPID</a:t>
            </a:r>
            <a:r>
              <a:rPr lang="zh-CN" altLang="zh-CN" sz="1200" kern="100" dirty="0">
                <a:solidFill>
                  <a:srgbClr val="222222"/>
                </a:solidFill>
                <a:effectLst/>
                <a:latin typeface="微软雅黑" panose="020B0503020204020204" pitchFamily="34" charset="-122"/>
                <a:ea typeface="微软雅黑" panose="020B0503020204020204" pitchFamily="34" charset="-122"/>
              </a:rPr>
              <a:t>計數器的觀測，可多次實驗觀測現象，幷計算攻擊成功率</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17</a:t>
            </a:fld>
            <a:endParaRPr kumimoji="1"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18</a:t>
            </a:fld>
            <a:endParaRPr kumimoji="1" lang="zh-CN" altLang="en-US" dirty="0"/>
          </a:p>
        </p:txBody>
      </p:sp>
    </p:spTree>
    <p:extLst>
      <p:ext uri="{BB962C8B-B14F-4D97-AF65-F5344CB8AC3E}">
        <p14:creationId xmlns:p14="http://schemas.microsoft.com/office/powerpoint/2010/main" val="2342361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緩存中毒攻擊利用域名系統中存在的漏洞，達到將流量從合法服務器吸引到虛假服務器的目的。當一個本地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服務器從用戶處獲得域名請求時，服務器會在緩存中尋找是否有這個地址，如果沒有，就會向</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服務器發出請求。如攻擊者和用戶機或本地服務器在同一局域網中，攻擊者就可通過嗅探網絡流量得到請求包，進而發送僞造回復給本地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服務器，只要僞造回復比合法回復先到達，僞造回復就會被接受。本地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服務器緩存了查詢結果，稱爲緩存中毒，相應的攻擊稱爲緩存中毒攻擊，在緩存有效期內該攻擊造成的影響會持續存在。</a:t>
            </a: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pPr indent="304800" algn="just">
              <a:lnSpc>
                <a:spcPct val="115000"/>
              </a:lnSpc>
            </a:pPr>
            <a:r>
              <a:rPr lang="zh-CN" altLang="zh-CN" sz="1800" kern="100" dirty="0">
                <a:solidFill>
                  <a:srgbClr val="000000"/>
                </a:solidFill>
                <a:effectLst/>
                <a:latin typeface="NotoSerifCJKjp-Light-Identity-H"/>
                <a:ea typeface="宋体" pitchFamily="2" charset="-122"/>
                <a:cs typeface="Times New Roman" panose="02020503050405090304" pitchFamily="18" charset="0"/>
              </a:rPr>
              <a:t>通過實驗，掌握</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緩存中毒實施過程及原理，從而加深對網絡安全問題的認識，幷瞭解相應的安全防禦手段。</a:t>
            </a:r>
            <a:endParaRPr lang="en-US" altLang="zh-CN" sz="1800" kern="100" dirty="0">
              <a:solidFill>
                <a:srgbClr val="000000"/>
              </a:solidFill>
              <a:effectLst/>
              <a:latin typeface="NotoSerifCJKjp-Light-Identity-H"/>
              <a:ea typeface="宋体" pitchFamily="2" charset="-122"/>
              <a:cs typeface="Times New Roman" panose="02020503050405090304" pitchFamily="18" charset="0"/>
            </a:endParaRPr>
          </a:p>
          <a:p>
            <a:pPr indent="304800" algn="just">
              <a:lnSpc>
                <a:spcPct val="115000"/>
              </a:lnSpc>
            </a:pPr>
            <a:endParaRPr lang="en-US" altLang="zh-CN" sz="1800" kern="100" dirty="0">
              <a:solidFill>
                <a:srgbClr val="000000"/>
              </a:solidFill>
              <a:effectLst/>
              <a:latin typeface="NotoSerifCJKjp-Light-Identity-H"/>
              <a:ea typeface="宋体" pitchFamily="2" charset="-122"/>
              <a:cs typeface="Times New Roman" panose="02020503050405090304" pitchFamily="18" charset="0"/>
            </a:endParaRPr>
          </a:p>
          <a:p>
            <a:pPr marL="0" marR="0" lvl="0" indent="304800" algn="just" defTabSz="914400" rtl="0" eaLnBrk="1" fontAlgn="auto" latinLnBrk="0" hangingPunct="1">
              <a:lnSpc>
                <a:spcPct val="115000"/>
              </a:lnSpc>
              <a:spcBef>
                <a:spcPts val="0"/>
              </a:spcBef>
              <a:spcAft>
                <a:spcPts val="0"/>
              </a:spcAft>
              <a:buClrTx/>
              <a:buSzTx/>
              <a:buFontTx/>
              <a:buNone/>
              <a:defRPr/>
            </a:pP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攻擊成功後，僞造回復被本地</a:t>
            </a:r>
            <a:r>
              <a:rPr lang="en-US" altLang="zh-CN" sz="1800" dirty="0">
                <a:effectLst/>
                <a:latin typeface="微软雅黑" panose="020B0503020204020204" pitchFamily="34" charset="-122"/>
                <a:ea typeface="微软雅黑" panose="020B0503020204020204" pitchFamily="34" charset="-122"/>
              </a:rPr>
              <a:t>DNS</a:t>
            </a: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服務器緩存，即使攻擊者停止攻擊，僞造的結果仍然有效，用戶查詢域名時，得到如圖附</a:t>
            </a:r>
            <a:r>
              <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3</a:t>
            </a: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所示攻擊者設定的僞造地址</a:t>
            </a:r>
            <a:endParaRPr lang="zh-CN" altLang="en-US" sz="18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21212"/>
                </a:solidFill>
                <a:effectLst/>
                <a:latin typeface="-apple-system"/>
              </a:rPr>
              <a:t>Cross-site request forgery, </a:t>
            </a:r>
            <a:r>
              <a:rPr lang="zh-CN" altLang="en-US" b="0" i="0" dirty="0">
                <a:solidFill>
                  <a:srgbClr val="121212"/>
                </a:solidFill>
                <a:effectLst/>
                <a:latin typeface="-apple-system"/>
              </a:rPr>
              <a:t>跨站請求僞造。是指黑客引誘用戶打開黑客的網站，在黑客的網站中，利用用戶的登錄狀態發起跨站請求。</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緩存中毒攻擊利用域名系統中存在的漏洞，達到將流量從合法服務器吸引到虛假服務器的目的。當一個本地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服務器從用戶處獲得域名請求時，服務器會在緩存中尋找是否有這個地址，如果沒有，就會向</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服務器發出請求。如攻擊者和用戶機或本地服務器在同一局域網中，攻擊者就可通過嗅探網絡流量得到請求包，進而發送僞造回復給本地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服務器，只要僞造回復比合法回復先到達，僞造回復就會被接受。本地</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服務器緩存了查詢結果，稱爲緩存中毒，相應的攻擊稱爲緩存中毒攻擊，在緩存有效期內該攻擊造成的影響會持續存在。</a:t>
            </a: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pPr indent="304800" algn="just">
              <a:lnSpc>
                <a:spcPct val="115000"/>
              </a:lnSpc>
            </a:pPr>
            <a:r>
              <a:rPr lang="zh-CN" altLang="zh-CN" sz="1800" kern="100" dirty="0">
                <a:solidFill>
                  <a:srgbClr val="000000"/>
                </a:solidFill>
                <a:effectLst/>
                <a:latin typeface="NotoSerifCJKjp-Light-Identity-H"/>
                <a:ea typeface="宋体" pitchFamily="2" charset="-122"/>
                <a:cs typeface="Times New Roman" panose="02020503050405090304" pitchFamily="18" charset="0"/>
              </a:rPr>
              <a:t>通過實驗，掌握</a:t>
            </a:r>
            <a:r>
              <a:rPr lang="en-US" altLang="zh-CN" sz="1800" kern="100" dirty="0">
                <a:solidFill>
                  <a:srgbClr val="000000"/>
                </a:solidFill>
                <a:effectLst/>
                <a:latin typeface="Times New Roman" panose="02020503050405090304" pitchFamily="18" charset="0"/>
                <a:ea typeface="宋体" pitchFamily="2" charset="-122"/>
                <a:cs typeface="Times New Roman" panose="02020503050405090304" pitchFamily="18" charset="0"/>
              </a:rPr>
              <a:t>DNS</a:t>
            </a:r>
            <a:r>
              <a:rPr lang="zh-CN" altLang="zh-CN" sz="1800" kern="100" dirty="0">
                <a:solidFill>
                  <a:srgbClr val="000000"/>
                </a:solidFill>
                <a:effectLst/>
                <a:latin typeface="NotoSerifCJKjp-Light-Identity-H"/>
                <a:ea typeface="宋体" pitchFamily="2" charset="-122"/>
                <a:cs typeface="Times New Roman" panose="02020503050405090304" pitchFamily="18" charset="0"/>
              </a:rPr>
              <a:t>緩存中毒實施過程及原理，從而加深對網絡安全問題的認識，幷瞭解相應的安全防禦手段。</a:t>
            </a:r>
            <a:endParaRPr lang="en-US" altLang="zh-CN" sz="1800" kern="100" dirty="0">
              <a:solidFill>
                <a:srgbClr val="000000"/>
              </a:solidFill>
              <a:effectLst/>
              <a:latin typeface="NotoSerifCJKjp-Light-Identity-H"/>
              <a:ea typeface="宋体" pitchFamily="2" charset="-122"/>
              <a:cs typeface="Times New Roman" panose="02020503050405090304" pitchFamily="18" charset="0"/>
            </a:endParaRPr>
          </a:p>
          <a:p>
            <a:pPr indent="304800" algn="just">
              <a:lnSpc>
                <a:spcPct val="115000"/>
              </a:lnSpc>
            </a:pPr>
            <a:endParaRPr lang="en-US" altLang="zh-CN" sz="1800" kern="100" dirty="0">
              <a:solidFill>
                <a:srgbClr val="000000"/>
              </a:solidFill>
              <a:effectLst/>
              <a:latin typeface="NotoSerifCJKjp-Light-Identity-H"/>
              <a:ea typeface="宋体" pitchFamily="2" charset="-122"/>
              <a:cs typeface="Times New Roman" panose="02020503050405090304" pitchFamily="18" charset="0"/>
            </a:endParaRPr>
          </a:p>
          <a:p>
            <a:pPr marL="0" marR="0" lvl="0" indent="304800" algn="just" defTabSz="914400" rtl="0" eaLnBrk="1" fontAlgn="auto" latinLnBrk="0" hangingPunct="1">
              <a:lnSpc>
                <a:spcPct val="115000"/>
              </a:lnSpc>
              <a:spcBef>
                <a:spcPts val="0"/>
              </a:spcBef>
              <a:spcAft>
                <a:spcPts val="0"/>
              </a:spcAft>
              <a:buClrTx/>
              <a:buSzTx/>
              <a:buFontTx/>
              <a:buNone/>
              <a:defRPr/>
            </a:pP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攻擊成功後，僞造回復被本地</a:t>
            </a:r>
            <a:r>
              <a:rPr lang="en-US" altLang="zh-CN" sz="1800" dirty="0">
                <a:effectLst/>
                <a:latin typeface="微软雅黑" panose="020B0503020204020204" pitchFamily="34" charset="-122"/>
                <a:ea typeface="微软雅黑" panose="020B0503020204020204" pitchFamily="34" charset="-122"/>
              </a:rPr>
              <a:t>DNS</a:t>
            </a: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服務器緩存，即使攻擊者停止攻擊，僞造的結果仍然有效，用戶查詢域名時，得到如圖附</a:t>
            </a:r>
            <a:r>
              <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3</a:t>
            </a:r>
            <a:r>
              <a:rPr lang="zh-CN"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所示攻擊者設定的僞造地址</a:t>
            </a:r>
            <a:endParaRPr lang="zh-CN" altLang="en-US" sz="1800" dirty="0">
              <a:latin typeface="微软雅黑" panose="020B0503020204020204" pitchFamily="34" charset="-122"/>
              <a:ea typeface="微软雅黑" panose="020B0503020204020204" pitchFamily="34" charset="-122"/>
            </a:endParaRPr>
          </a:p>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21</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22</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r>
              <a:rPr kumimoji="1" lang="zh-CN" altLang="en-US" dirty="0"/>
              <a:t>本實驗借助一個拜占庭容錯共識的開源庫</a:t>
            </a:r>
            <a:r>
              <a:rPr kumimoji="1" lang="en-US" altLang="zh-CN" dirty="0" err="1"/>
              <a:t>bft</a:t>
            </a:r>
            <a:r>
              <a:rPr kumimoji="1" lang="en-US" altLang="zh-CN" dirty="0"/>
              <a:t>-smart</a:t>
            </a:r>
            <a:r>
              <a:rPr kumimoji="1" lang="zh-CN" altLang="en-US" dirty="0"/>
              <a:t>來完成故障容錯算法以及拜占庭容錯算法的模擬與驗證。</a:t>
            </a:r>
          </a:p>
          <a:p>
            <a:r>
              <a:rPr kumimoji="1" lang="en-US" altLang="zh-CN" dirty="0" err="1"/>
              <a:t>bft</a:t>
            </a:r>
            <a:r>
              <a:rPr kumimoji="1" lang="en-US" altLang="zh-CN" dirty="0"/>
              <a:t>-smart</a:t>
            </a:r>
            <a:r>
              <a:rPr kumimoji="1" lang="zh-CN" altLang="en-US" dirty="0"/>
              <a:t>是一個基于</a:t>
            </a:r>
            <a:r>
              <a:rPr kumimoji="1" lang="en-US" altLang="zh-CN" dirty="0"/>
              <a:t>Java</a:t>
            </a:r>
            <a:r>
              <a:rPr kumimoji="1" lang="zh-CN" altLang="en-US" dirty="0"/>
              <a:t>的開源庫，可以通過更改系統參數實現拜占庭容錯和故障容錯的切換。在</a:t>
            </a:r>
            <a:r>
              <a:rPr kumimoji="1" lang="en-US" altLang="zh-CN" dirty="0" err="1"/>
              <a:t>bft</a:t>
            </a:r>
            <a:r>
              <a:rPr kumimoji="1" lang="en-US" altLang="zh-CN" dirty="0"/>
              <a:t>-smart</a:t>
            </a:r>
            <a:r>
              <a:rPr kumimoji="1" lang="zh-CN" altLang="en-US" dirty="0"/>
              <a:t>源碼中的</a:t>
            </a:r>
            <a:r>
              <a:rPr kumimoji="1" lang="en-US" altLang="zh-CN" dirty="0"/>
              <a:t>library/config</a:t>
            </a:r>
            <a:r>
              <a:rPr kumimoji="1" lang="zh-CN" altLang="en-US" dirty="0"/>
              <a:t>文件夾下有</a:t>
            </a:r>
            <a:r>
              <a:rPr kumimoji="1" lang="en-US" altLang="zh-CN" dirty="0" err="1"/>
              <a:t>hosts.config</a:t>
            </a:r>
            <a:r>
              <a:rPr kumimoji="1" lang="zh-CN" altLang="en-US" dirty="0"/>
              <a:t>和</a:t>
            </a:r>
            <a:r>
              <a:rPr kumimoji="1" lang="en-US" altLang="zh-CN" dirty="0" err="1"/>
              <a:t>system.config</a:t>
            </a:r>
            <a:r>
              <a:rPr kumimoji="1" lang="zh-CN" altLang="en-US" dirty="0"/>
              <a:t>兩個配置文件，其中</a:t>
            </a:r>
            <a:r>
              <a:rPr kumimoji="1" lang="en-US" altLang="zh-CN" dirty="0" err="1"/>
              <a:t>hosts.config</a:t>
            </a:r>
            <a:r>
              <a:rPr kumimoji="1" lang="zh-CN" altLang="en-US" dirty="0"/>
              <a:t>文件配置有參與共識的各節點地址信息以及發送請求的客戶端地址信息，</a:t>
            </a:r>
            <a:r>
              <a:rPr kumimoji="1" lang="en-US" altLang="zh-CN" dirty="0" err="1"/>
              <a:t>system.config</a:t>
            </a:r>
            <a:r>
              <a:rPr kumimoji="1" lang="zh-CN" altLang="en-US" dirty="0"/>
              <a:t>則用于配置整個分布式系統的地址信息</a:t>
            </a: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23</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r>
              <a:rPr kumimoji="1" lang="zh-CN" altLang="en-US" dirty="0"/>
              <a:t>本實驗借助一個拜占庭容錯共識的開源庫</a:t>
            </a:r>
            <a:r>
              <a:rPr kumimoji="1" lang="en-US" altLang="zh-CN" dirty="0" err="1"/>
              <a:t>bft</a:t>
            </a:r>
            <a:r>
              <a:rPr kumimoji="1" lang="en-US" altLang="zh-CN" dirty="0"/>
              <a:t>-smart</a:t>
            </a:r>
            <a:r>
              <a:rPr kumimoji="1" lang="zh-CN" altLang="en-US" dirty="0"/>
              <a:t>來完成故障容錯算法以及拜占庭容錯算法的模擬與驗證。</a:t>
            </a:r>
          </a:p>
          <a:p>
            <a:r>
              <a:rPr kumimoji="1" lang="en-US" altLang="zh-CN" dirty="0" err="1"/>
              <a:t>bft</a:t>
            </a:r>
            <a:r>
              <a:rPr kumimoji="1" lang="en-US" altLang="zh-CN" dirty="0"/>
              <a:t>-smart</a:t>
            </a:r>
            <a:r>
              <a:rPr kumimoji="1" lang="zh-CN" altLang="en-US" dirty="0"/>
              <a:t>是一個基于</a:t>
            </a:r>
            <a:r>
              <a:rPr kumimoji="1" lang="en-US" altLang="zh-CN" dirty="0"/>
              <a:t>Java</a:t>
            </a:r>
            <a:r>
              <a:rPr kumimoji="1" lang="zh-CN" altLang="en-US" dirty="0"/>
              <a:t>的開源庫，可以通過更改系統參數實現拜占庭容錯和故障容錯的切換。在</a:t>
            </a:r>
            <a:r>
              <a:rPr kumimoji="1" lang="en-US" altLang="zh-CN" dirty="0" err="1"/>
              <a:t>bft</a:t>
            </a:r>
            <a:r>
              <a:rPr kumimoji="1" lang="en-US" altLang="zh-CN" dirty="0"/>
              <a:t>-smart</a:t>
            </a:r>
            <a:r>
              <a:rPr kumimoji="1" lang="zh-CN" altLang="en-US" dirty="0"/>
              <a:t>源碼中的</a:t>
            </a:r>
            <a:r>
              <a:rPr kumimoji="1" lang="en-US" altLang="zh-CN" dirty="0"/>
              <a:t>library/config</a:t>
            </a:r>
            <a:r>
              <a:rPr kumimoji="1" lang="zh-CN" altLang="en-US" dirty="0"/>
              <a:t>文件夾下有</a:t>
            </a:r>
            <a:r>
              <a:rPr kumimoji="1" lang="en-US" altLang="zh-CN" dirty="0" err="1"/>
              <a:t>hosts.config</a:t>
            </a:r>
            <a:r>
              <a:rPr kumimoji="1" lang="zh-CN" altLang="en-US" dirty="0"/>
              <a:t>和</a:t>
            </a:r>
            <a:r>
              <a:rPr kumimoji="1" lang="en-US" altLang="zh-CN" dirty="0" err="1"/>
              <a:t>system.config</a:t>
            </a:r>
            <a:r>
              <a:rPr kumimoji="1" lang="zh-CN" altLang="en-US" dirty="0"/>
              <a:t>兩個配置文件，其中</a:t>
            </a:r>
            <a:r>
              <a:rPr kumimoji="1" lang="en-US" altLang="zh-CN" dirty="0" err="1"/>
              <a:t>hosts.config</a:t>
            </a:r>
            <a:r>
              <a:rPr kumimoji="1" lang="zh-CN" altLang="en-US" dirty="0"/>
              <a:t>文件配置有參與共識的各節點地址信息以及發送請求的客戶端地址信息，</a:t>
            </a:r>
            <a:r>
              <a:rPr kumimoji="1" lang="en-US" altLang="zh-CN" dirty="0" err="1"/>
              <a:t>system.config</a:t>
            </a:r>
            <a:r>
              <a:rPr kumimoji="1" lang="zh-CN" altLang="en-US" dirty="0"/>
              <a:t>則用于配置整個分布式系統的地址信息</a:t>
            </a: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24</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r>
              <a:rPr kumimoji="1" lang="zh-CN" altLang="en-US" dirty="0"/>
              <a:t>本實驗借助一個拜占庭容錯共識的開源庫</a:t>
            </a:r>
            <a:r>
              <a:rPr kumimoji="1" lang="en-US" altLang="zh-CN" dirty="0" err="1"/>
              <a:t>bft</a:t>
            </a:r>
            <a:r>
              <a:rPr kumimoji="1" lang="en-US" altLang="zh-CN" dirty="0"/>
              <a:t>-smart</a:t>
            </a:r>
            <a:r>
              <a:rPr kumimoji="1" lang="zh-CN" altLang="en-US" dirty="0"/>
              <a:t>來完成故障容錯算法以及拜占庭容錯算法的模擬與驗證。</a:t>
            </a:r>
          </a:p>
          <a:p>
            <a:r>
              <a:rPr kumimoji="1" lang="en-US" altLang="zh-CN" dirty="0" err="1"/>
              <a:t>bft</a:t>
            </a:r>
            <a:r>
              <a:rPr kumimoji="1" lang="en-US" altLang="zh-CN" dirty="0"/>
              <a:t>-smart</a:t>
            </a:r>
            <a:r>
              <a:rPr kumimoji="1" lang="zh-CN" altLang="en-US" dirty="0"/>
              <a:t>是一個基于</a:t>
            </a:r>
            <a:r>
              <a:rPr kumimoji="1" lang="en-US" altLang="zh-CN" dirty="0"/>
              <a:t>Java</a:t>
            </a:r>
            <a:r>
              <a:rPr kumimoji="1" lang="zh-CN" altLang="en-US" dirty="0"/>
              <a:t>的開源庫，可以通過更改系統參數實現拜占庭容錯和故障容錯的切換。在</a:t>
            </a:r>
            <a:r>
              <a:rPr kumimoji="1" lang="en-US" altLang="zh-CN" dirty="0" err="1"/>
              <a:t>bft</a:t>
            </a:r>
            <a:r>
              <a:rPr kumimoji="1" lang="en-US" altLang="zh-CN" dirty="0"/>
              <a:t>-smart</a:t>
            </a:r>
            <a:r>
              <a:rPr kumimoji="1" lang="zh-CN" altLang="en-US" dirty="0"/>
              <a:t>源碼中的</a:t>
            </a:r>
            <a:r>
              <a:rPr kumimoji="1" lang="en-US" altLang="zh-CN" dirty="0"/>
              <a:t>library/config</a:t>
            </a:r>
            <a:r>
              <a:rPr kumimoji="1" lang="zh-CN" altLang="en-US" dirty="0"/>
              <a:t>文件夾下有</a:t>
            </a:r>
            <a:r>
              <a:rPr kumimoji="1" lang="en-US" altLang="zh-CN" dirty="0" err="1"/>
              <a:t>hosts.config</a:t>
            </a:r>
            <a:r>
              <a:rPr kumimoji="1" lang="zh-CN" altLang="en-US" dirty="0"/>
              <a:t>和</a:t>
            </a:r>
            <a:r>
              <a:rPr kumimoji="1" lang="en-US" altLang="zh-CN" dirty="0" err="1"/>
              <a:t>system.config</a:t>
            </a:r>
            <a:r>
              <a:rPr kumimoji="1" lang="zh-CN" altLang="en-US" dirty="0"/>
              <a:t>兩個配置文件，其中</a:t>
            </a:r>
            <a:r>
              <a:rPr kumimoji="1" lang="en-US" altLang="zh-CN" dirty="0" err="1"/>
              <a:t>hosts.config</a:t>
            </a:r>
            <a:r>
              <a:rPr kumimoji="1" lang="zh-CN" altLang="en-US" dirty="0"/>
              <a:t>文件配置有參與共識的各節點地址信息以及發送請求的客戶端地址信息，</a:t>
            </a:r>
            <a:r>
              <a:rPr kumimoji="1" lang="en-US" altLang="zh-CN" dirty="0" err="1"/>
              <a:t>system.config</a:t>
            </a:r>
            <a:r>
              <a:rPr kumimoji="1" lang="zh-CN" altLang="en-US" dirty="0"/>
              <a:t>則用于配置整個分布式系統的地址信息</a:t>
            </a: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25</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zh-CN" altLang="zh-CN" sz="1800" kern="100" dirty="0">
                <a:effectLst/>
                <a:latin typeface="Times New Roman" panose="02020503050405090304" pitchFamily="18" charset="0"/>
                <a:ea typeface="宋体" pitchFamily="2" charset="-122"/>
              </a:rPr>
              <a:t>本實驗借助一個拜占庭容錯共識的開源庫</a:t>
            </a:r>
            <a:r>
              <a:rPr lang="en-US" altLang="zh-CN" sz="1800" kern="100" dirty="0" err="1">
                <a:effectLst/>
                <a:latin typeface="Times New Roman" panose="02020503050405090304" pitchFamily="18" charset="0"/>
                <a:ea typeface="宋体" pitchFamily="2" charset="-122"/>
              </a:rPr>
              <a:t>bft</a:t>
            </a:r>
            <a:r>
              <a:rPr lang="en-US" altLang="zh-CN" sz="1800" kern="100" dirty="0">
                <a:effectLst/>
                <a:latin typeface="Times New Roman" panose="02020503050405090304" pitchFamily="18" charset="0"/>
                <a:ea typeface="宋体" pitchFamily="2" charset="-122"/>
              </a:rPr>
              <a:t>-smart</a:t>
            </a:r>
            <a:r>
              <a:rPr lang="zh-CN" altLang="zh-CN" sz="1800" kern="100" dirty="0">
                <a:effectLst/>
                <a:latin typeface="Times New Roman" panose="02020503050405090304" pitchFamily="18" charset="0"/>
                <a:ea typeface="宋体" pitchFamily="2" charset="-122"/>
              </a:rPr>
              <a:t>來完成故障容錯算法以及拜占庭容錯算法的模擬與驗證。</a:t>
            </a:r>
          </a:p>
          <a:p>
            <a:r>
              <a:rPr lang="en-US" altLang="zh-CN" sz="1800" dirty="0" err="1">
                <a:effectLst/>
                <a:latin typeface="Times New Roman" panose="02020503050405090304" pitchFamily="18" charset="0"/>
                <a:ea typeface="宋体" pitchFamily="2" charset="-122"/>
              </a:rPr>
              <a:t>bft</a:t>
            </a:r>
            <a:r>
              <a:rPr lang="en-US" altLang="zh-CN" sz="1800" dirty="0">
                <a:effectLst/>
                <a:latin typeface="Times New Roman" panose="02020503050405090304" pitchFamily="18" charset="0"/>
                <a:ea typeface="宋体" pitchFamily="2" charset="-122"/>
              </a:rPr>
              <a:t>-smart</a:t>
            </a:r>
            <a:r>
              <a:rPr lang="zh-CN" altLang="zh-CN" sz="1800" dirty="0">
                <a:effectLst/>
                <a:latin typeface="Times New Roman" panose="02020503050405090304" pitchFamily="18" charset="0"/>
                <a:ea typeface="宋体" pitchFamily="2" charset="-122"/>
                <a:cs typeface="Times New Roman" panose="02020503050405090304" pitchFamily="18" charset="0"/>
              </a:rPr>
              <a:t>是一個基于</a:t>
            </a:r>
            <a:r>
              <a:rPr lang="en-US" altLang="zh-CN" sz="1800" dirty="0">
                <a:effectLst/>
                <a:latin typeface="Times New Roman" panose="02020503050405090304" pitchFamily="18" charset="0"/>
                <a:ea typeface="宋体" pitchFamily="2" charset="-122"/>
              </a:rPr>
              <a:t>Java</a:t>
            </a:r>
            <a:r>
              <a:rPr lang="zh-CN" altLang="zh-CN" sz="1800" dirty="0">
                <a:effectLst/>
                <a:latin typeface="Times New Roman" panose="02020503050405090304" pitchFamily="18" charset="0"/>
                <a:ea typeface="宋体" pitchFamily="2" charset="-122"/>
                <a:cs typeface="Times New Roman" panose="02020503050405090304" pitchFamily="18" charset="0"/>
              </a:rPr>
              <a:t>的開源庫，可以通過更改系統參數實現拜占庭容錯和故障容錯的切換。在</a:t>
            </a:r>
            <a:r>
              <a:rPr lang="en-US" altLang="zh-CN" sz="1800" dirty="0" err="1">
                <a:effectLst/>
                <a:latin typeface="Times New Roman" panose="02020503050405090304" pitchFamily="18" charset="0"/>
                <a:ea typeface="宋体" pitchFamily="2" charset="-122"/>
              </a:rPr>
              <a:t>bft</a:t>
            </a:r>
            <a:r>
              <a:rPr lang="en-US" altLang="zh-CN" sz="1800" dirty="0">
                <a:effectLst/>
                <a:latin typeface="Times New Roman" panose="02020503050405090304" pitchFamily="18" charset="0"/>
                <a:ea typeface="宋体" pitchFamily="2" charset="-122"/>
              </a:rPr>
              <a:t>-smart</a:t>
            </a:r>
            <a:r>
              <a:rPr lang="zh-CN" altLang="zh-CN" sz="1800" dirty="0">
                <a:effectLst/>
                <a:latin typeface="Times New Roman" panose="02020503050405090304" pitchFamily="18" charset="0"/>
                <a:ea typeface="宋体" pitchFamily="2" charset="-122"/>
                <a:cs typeface="Times New Roman" panose="02020503050405090304" pitchFamily="18" charset="0"/>
              </a:rPr>
              <a:t>源碼中的</a:t>
            </a:r>
            <a:r>
              <a:rPr lang="en-US" altLang="zh-CN" sz="1800" dirty="0">
                <a:effectLst/>
                <a:latin typeface="Times New Roman" panose="02020503050405090304" pitchFamily="18" charset="0"/>
                <a:ea typeface="宋体" pitchFamily="2" charset="-122"/>
              </a:rPr>
              <a:t>library/config</a:t>
            </a:r>
            <a:r>
              <a:rPr lang="zh-CN" altLang="zh-CN" sz="1800" dirty="0">
                <a:effectLst/>
                <a:latin typeface="Times New Roman" panose="02020503050405090304" pitchFamily="18" charset="0"/>
                <a:ea typeface="宋体" pitchFamily="2" charset="-122"/>
                <a:cs typeface="Times New Roman" panose="02020503050405090304" pitchFamily="18" charset="0"/>
              </a:rPr>
              <a:t>文件夾下有</a:t>
            </a:r>
            <a:r>
              <a:rPr lang="en-US" altLang="zh-CN" sz="1800" dirty="0" err="1">
                <a:effectLst/>
                <a:latin typeface="Times New Roman" panose="02020503050405090304" pitchFamily="18" charset="0"/>
                <a:ea typeface="宋体" pitchFamily="2" charset="-122"/>
              </a:rPr>
              <a:t>hosts.config</a:t>
            </a:r>
            <a:r>
              <a:rPr lang="zh-CN" altLang="zh-CN" sz="1800" dirty="0">
                <a:effectLst/>
                <a:latin typeface="Times New Roman" panose="02020503050405090304" pitchFamily="18" charset="0"/>
                <a:ea typeface="宋体" pitchFamily="2" charset="-122"/>
                <a:cs typeface="Times New Roman" panose="02020503050405090304" pitchFamily="18" charset="0"/>
              </a:rPr>
              <a:t>和</a:t>
            </a:r>
            <a:r>
              <a:rPr lang="en-US" altLang="zh-CN" sz="1800" dirty="0" err="1">
                <a:effectLst/>
                <a:latin typeface="Times New Roman" panose="02020503050405090304" pitchFamily="18" charset="0"/>
                <a:ea typeface="宋体" pitchFamily="2" charset="-122"/>
              </a:rPr>
              <a:t>system.config</a:t>
            </a:r>
            <a:r>
              <a:rPr lang="zh-CN" altLang="zh-CN" sz="1800" dirty="0">
                <a:effectLst/>
                <a:latin typeface="Times New Roman" panose="02020503050405090304" pitchFamily="18" charset="0"/>
                <a:ea typeface="宋体" pitchFamily="2" charset="-122"/>
                <a:cs typeface="Times New Roman" panose="02020503050405090304" pitchFamily="18" charset="0"/>
              </a:rPr>
              <a:t>兩個配置文件，其中</a:t>
            </a:r>
            <a:r>
              <a:rPr lang="en-US" altLang="zh-CN" sz="1800" dirty="0" err="1">
                <a:effectLst/>
                <a:latin typeface="Times New Roman" panose="02020503050405090304" pitchFamily="18" charset="0"/>
                <a:ea typeface="宋体" pitchFamily="2" charset="-122"/>
              </a:rPr>
              <a:t>hosts.config</a:t>
            </a:r>
            <a:r>
              <a:rPr lang="zh-CN" altLang="zh-CN" sz="1800" dirty="0">
                <a:effectLst/>
                <a:latin typeface="Times New Roman" panose="02020503050405090304" pitchFamily="18" charset="0"/>
                <a:ea typeface="宋体" pitchFamily="2" charset="-122"/>
                <a:cs typeface="Times New Roman" panose="02020503050405090304" pitchFamily="18" charset="0"/>
              </a:rPr>
              <a:t>文件配置有參與共識的各節點地址信息以及發送請求的客戶端地址信息，</a:t>
            </a:r>
            <a:r>
              <a:rPr lang="en-US" altLang="zh-CN" sz="1800" dirty="0" err="1">
                <a:effectLst/>
                <a:latin typeface="Times New Roman" panose="02020503050405090304" pitchFamily="18" charset="0"/>
                <a:ea typeface="宋体" pitchFamily="2" charset="-122"/>
              </a:rPr>
              <a:t>system.config</a:t>
            </a:r>
            <a:r>
              <a:rPr lang="zh-CN" altLang="zh-CN" sz="1800" dirty="0">
                <a:effectLst/>
                <a:latin typeface="Times New Roman" panose="02020503050405090304" pitchFamily="18" charset="0"/>
                <a:ea typeface="宋体" pitchFamily="2" charset="-122"/>
                <a:cs typeface="Times New Roman" panose="02020503050405090304" pitchFamily="18" charset="0"/>
              </a:rPr>
              <a:t>則用于配置整個分布式系統的地址信息</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26</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11111"/>
                </a:solidFill>
                <a:effectLst/>
                <a:latin typeface="微软雅黑" panose="020B0503020204020204" pitchFamily="34" charset="-122"/>
                <a:ea typeface="微软雅黑" panose="020B0503020204020204" pitchFamily="34" charset="-122"/>
              </a:rPr>
              <a:t>跨站脚本攻擊（</a:t>
            </a:r>
            <a:r>
              <a:rPr lang="en-US" altLang="zh-CN" b="0" i="0" dirty="0">
                <a:solidFill>
                  <a:srgbClr val="111111"/>
                </a:solidFill>
                <a:effectLst/>
                <a:latin typeface="微软雅黑" panose="020B0503020204020204" pitchFamily="34" charset="-122"/>
                <a:ea typeface="微软雅黑" panose="020B0503020204020204" pitchFamily="34" charset="-122"/>
              </a:rPr>
              <a:t>Cross Site Scripting</a:t>
            </a:r>
            <a:r>
              <a:rPr lang="zh-CN" altLang="en-US" b="0" i="0" dirty="0">
                <a:solidFill>
                  <a:srgbClr val="111111"/>
                </a:solidFill>
                <a:effectLst/>
                <a:latin typeface="微软雅黑" panose="020B0503020204020204" pitchFamily="34" charset="-122"/>
                <a:ea typeface="微软雅黑" panose="020B0503020204020204" pitchFamily="34" charset="-122"/>
              </a:rPr>
              <a:t>）縮寫爲</a:t>
            </a:r>
            <a:r>
              <a:rPr lang="en-US" altLang="zh-CN" b="0" i="0" dirty="0">
                <a:solidFill>
                  <a:srgbClr val="111111"/>
                </a:solidFill>
                <a:effectLst/>
                <a:latin typeface="微软雅黑" panose="020B0503020204020204" pitchFamily="34" charset="-122"/>
                <a:ea typeface="微软雅黑" panose="020B0503020204020204" pitchFamily="34" charset="-122"/>
              </a:rPr>
              <a:t>CSS  XSS</a:t>
            </a:r>
          </a:p>
          <a:p>
            <a:r>
              <a:rPr lang="zh-CN" altLang="en-US" b="0" i="0" dirty="0">
                <a:solidFill>
                  <a:srgbClr val="333333"/>
                </a:solidFill>
                <a:effectLst/>
                <a:latin typeface="Arial" panose="020B0604020202090204" pitchFamily="34" charset="0"/>
              </a:rPr>
              <a:t>巧妙的方法注入惡意指令代碼到網頁，使用戶加載幷執行攻擊者惡意製造的網頁程序。這些惡意網頁程序通常是</a:t>
            </a:r>
            <a:r>
              <a:rPr lang="en-US" altLang="zh-CN" b="0" i="0" dirty="0">
                <a:solidFill>
                  <a:srgbClr val="333333"/>
                </a:solidFill>
                <a:effectLst/>
                <a:latin typeface="Arial" panose="020B0604020202090204" pitchFamily="34" charset="0"/>
              </a:rPr>
              <a:t>JavaScript</a:t>
            </a:r>
            <a:r>
              <a:rPr lang="zh-CN" altLang="en-US" b="0" i="0" dirty="0">
                <a:solidFill>
                  <a:srgbClr val="333333"/>
                </a:solidFill>
                <a:effectLst/>
                <a:latin typeface="Arial" panose="020B0604020202090204" pitchFamily="34" charset="0"/>
              </a:rPr>
              <a:t>，但實際上也可以包括</a:t>
            </a:r>
            <a:r>
              <a:rPr lang="en-US" altLang="zh-CN" b="0" i="0" dirty="0">
                <a:solidFill>
                  <a:srgbClr val="333333"/>
                </a:solidFill>
                <a:effectLst/>
                <a:latin typeface="Arial" panose="020B0604020202090204" pitchFamily="34" charset="0"/>
              </a:rPr>
              <a:t>Java</a:t>
            </a:r>
            <a:r>
              <a:rPr lang="zh-CN" altLang="en-US" b="0" i="0" dirty="0">
                <a:solidFill>
                  <a:srgbClr val="333333"/>
                </a:solidFill>
                <a:effectLst/>
                <a:latin typeface="Arial" panose="020B0604020202090204" pitchFamily="34" charset="0"/>
              </a:rPr>
              <a:t>、 </a:t>
            </a:r>
            <a:r>
              <a:rPr lang="en-US" altLang="zh-CN" b="0" i="0" dirty="0">
                <a:solidFill>
                  <a:srgbClr val="333333"/>
                </a:solidFill>
                <a:effectLst/>
                <a:latin typeface="Arial" panose="020B0604020202090204" pitchFamily="34" charset="0"/>
              </a:rPr>
              <a:t>VBScript</a:t>
            </a:r>
            <a:r>
              <a:rPr lang="zh-CN" altLang="en-US" b="0" i="0" dirty="0">
                <a:solidFill>
                  <a:srgbClr val="333333"/>
                </a:solidFill>
                <a:effectLst/>
                <a:latin typeface="Arial" panose="020B0604020202090204" pitchFamily="34" charset="0"/>
              </a:rPr>
              <a:t>、</a:t>
            </a:r>
            <a:r>
              <a:rPr lang="en-US" altLang="zh-CN" b="0" i="0" dirty="0">
                <a:solidFill>
                  <a:srgbClr val="333333"/>
                </a:solidFill>
                <a:effectLst/>
                <a:latin typeface="Arial" panose="020B0604020202090204" pitchFamily="34" charset="0"/>
              </a:rPr>
              <a:t>ActiveX</a:t>
            </a:r>
            <a:r>
              <a:rPr lang="zh-CN" altLang="en-US" b="0" i="0" dirty="0">
                <a:solidFill>
                  <a:srgbClr val="333333"/>
                </a:solidFill>
                <a:effectLst/>
                <a:latin typeface="Arial" panose="020B0604020202090204" pitchFamily="34" charset="0"/>
              </a:rPr>
              <a:t>、 </a:t>
            </a:r>
            <a:r>
              <a:rPr lang="en-US" altLang="zh-CN" b="0" i="0" dirty="0">
                <a:solidFill>
                  <a:srgbClr val="333333"/>
                </a:solidFill>
                <a:effectLst/>
                <a:latin typeface="Arial" panose="020B0604020202090204" pitchFamily="34" charset="0"/>
              </a:rPr>
              <a:t>Flash </a:t>
            </a:r>
            <a:r>
              <a:rPr lang="zh-CN" altLang="en-US" b="0" i="0" dirty="0">
                <a:solidFill>
                  <a:srgbClr val="333333"/>
                </a:solidFill>
                <a:effectLst/>
                <a:latin typeface="Arial" panose="020B0604020202090204" pitchFamily="34" charset="0"/>
              </a:rPr>
              <a:t>或者甚至是普通的</a:t>
            </a:r>
            <a:r>
              <a:rPr lang="en-US" altLang="zh-CN" b="0" i="0" dirty="0">
                <a:solidFill>
                  <a:srgbClr val="333333"/>
                </a:solidFill>
                <a:effectLst/>
                <a:latin typeface="Arial" panose="020B0604020202090204" pitchFamily="34" charset="0"/>
              </a:rPr>
              <a:t>HTML</a:t>
            </a:r>
          </a:p>
          <a:p>
            <a:endParaRPr kumimoji="1" lang="en-US" altLang="zh-CN" b="0" i="0" dirty="0">
              <a:solidFill>
                <a:srgbClr val="333333"/>
              </a:solidFill>
              <a:effectLst/>
              <a:latin typeface="Arial" panose="020B0604020202090204" pitchFamily="34" charset="0"/>
            </a:endParaRPr>
          </a:p>
          <a:p>
            <a:endParaRPr kumimoji="1" lang="en-US" altLang="zh-CN" b="0" i="0" dirty="0">
              <a:solidFill>
                <a:srgbClr val="333333"/>
              </a:solidFill>
              <a:effectLst/>
              <a:latin typeface="Arial" panose="020B0604020202090204" pitchFamily="34" charset="0"/>
            </a:endParaRPr>
          </a:p>
          <a:p>
            <a:r>
              <a:rPr lang="zh-CN" altLang="en-US" dirty="0"/>
              <a:t>（</a:t>
            </a:r>
            <a:r>
              <a:rPr lang="en-US" altLang="zh-CN" dirty="0"/>
              <a:t>Cross Site Request Forgery, </a:t>
            </a:r>
            <a:r>
              <a:rPr lang="zh-CN" altLang="en-US" dirty="0"/>
              <a:t>跨站域請求僞造）是一種網絡的攻擊方式，它在 </a:t>
            </a:r>
            <a:r>
              <a:rPr lang="en-US" altLang="zh-CN" dirty="0"/>
              <a:t>2007 </a:t>
            </a:r>
            <a:r>
              <a:rPr lang="zh-CN" altLang="en-US" dirty="0"/>
              <a:t>年曾被列爲互聯網 </a:t>
            </a:r>
            <a:r>
              <a:rPr lang="en-US" altLang="zh-CN" dirty="0"/>
              <a:t>20 </a:t>
            </a:r>
            <a:r>
              <a:rPr lang="zh-CN" altLang="en-US" dirty="0"/>
              <a:t>大安全隱患之一</a:t>
            </a:r>
            <a:r>
              <a:rPr lang="en-US" altLang="zh-CN" dirty="0"/>
              <a:t>,</a:t>
            </a:r>
            <a:r>
              <a:rPr lang="zh-CN" altLang="en-US" dirty="0"/>
              <a:t>也被稱爲“</a:t>
            </a:r>
            <a:r>
              <a:rPr lang="en-US" altLang="zh-CN" dirty="0"/>
              <a:t>One Click Attack”</a:t>
            </a:r>
            <a:r>
              <a:rPr lang="zh-CN" altLang="en-US" dirty="0"/>
              <a:t>或者</a:t>
            </a:r>
            <a:r>
              <a:rPr lang="en-US" altLang="zh-CN" dirty="0"/>
              <a:t>Session Riding</a:t>
            </a:r>
            <a:r>
              <a:rPr lang="zh-CN" altLang="en-US" dirty="0"/>
              <a:t>，通常縮寫爲</a:t>
            </a:r>
            <a:r>
              <a:rPr lang="en-US" altLang="zh-CN" dirty="0"/>
              <a:t>CSRF</a:t>
            </a:r>
            <a:r>
              <a:rPr lang="zh-CN" altLang="en-US" dirty="0"/>
              <a:t>或者</a:t>
            </a:r>
            <a:r>
              <a:rPr lang="en-US" altLang="zh-CN" dirty="0"/>
              <a:t>XSRF</a:t>
            </a:r>
            <a:r>
              <a:rPr lang="zh-CN" altLang="en-US" dirty="0"/>
              <a:t>，是一種對網站的惡意利用。儘管聽起來像跨站脚本（</a:t>
            </a:r>
            <a:r>
              <a:rPr lang="en-US" altLang="zh-CN" dirty="0">
                <a:hlinkClick r:id="rId3"/>
              </a:rPr>
              <a:t>XSS</a:t>
            </a:r>
            <a:r>
              <a:rPr lang="zh-CN" altLang="en-US" dirty="0"/>
              <a:t>），但它與</a:t>
            </a:r>
            <a:r>
              <a:rPr lang="en-US" altLang="zh-CN" dirty="0"/>
              <a:t>XSS</a:t>
            </a:r>
            <a:r>
              <a:rPr lang="zh-CN" altLang="en-US" dirty="0"/>
              <a:t>非常不同，幷且攻擊方式幾乎相左。</a:t>
            </a:r>
            <a:r>
              <a:rPr lang="en-US" altLang="zh-CN" dirty="0"/>
              <a:t>XSS</a:t>
            </a:r>
            <a:r>
              <a:rPr lang="zh-CN" altLang="en-US" dirty="0"/>
              <a:t>利用站點內的信任用戶，而</a:t>
            </a:r>
            <a:r>
              <a:rPr lang="en-US" altLang="zh-CN" dirty="0"/>
              <a:t>CSRF</a:t>
            </a:r>
            <a:r>
              <a:rPr lang="zh-CN" altLang="en-US" dirty="0"/>
              <a:t>則通過僞裝來自受信任用戶的請求來利用受信任的網站</a:t>
            </a:r>
          </a:p>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27</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28</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b="0" i="0" dirty="0" err="1">
                <a:solidFill>
                  <a:srgbClr val="444444"/>
                </a:solidFill>
                <a:effectLst/>
                <a:latin typeface="Helvetica Neue" panose="02000503000000020004"/>
              </a:rPr>
              <a:t>user_id</a:t>
            </a:r>
            <a:r>
              <a:rPr lang="en-US" altLang="zh-CN" b="0" i="0" dirty="0">
                <a:solidFill>
                  <a:srgbClr val="444444"/>
                </a:solidFill>
                <a:effectLst/>
                <a:latin typeface="Helvetica Neue" panose="02000503000000020004"/>
              </a:rPr>
              <a:t> </a:t>
            </a:r>
            <a:r>
              <a:rPr lang="zh-CN" altLang="en-US" b="0" i="0" dirty="0">
                <a:solidFill>
                  <a:srgbClr val="444444"/>
                </a:solidFill>
                <a:effectLst/>
                <a:latin typeface="Helvetica Neue" panose="02000503000000020004"/>
              </a:rPr>
              <a:t>是傳入的參數，如果傳入的參數值爲“</a:t>
            </a:r>
            <a:r>
              <a:rPr lang="en-US" altLang="zh-CN" b="0" i="0" dirty="0">
                <a:solidFill>
                  <a:srgbClr val="444444"/>
                </a:solidFill>
                <a:effectLst/>
                <a:latin typeface="Helvetica Neue" panose="02000503000000020004"/>
              </a:rPr>
              <a:t>1234; DELETE FROM users”</a:t>
            </a:r>
            <a:r>
              <a:rPr lang="zh-CN" altLang="en-US" b="0" i="0" dirty="0">
                <a:solidFill>
                  <a:srgbClr val="444444"/>
                </a:solidFill>
                <a:effectLst/>
                <a:latin typeface="Helvetica Neue" panose="02000503000000020004"/>
              </a:rPr>
              <a:t>，那麽最終的查詢語句會變爲：</a:t>
            </a:r>
            <a:r>
              <a:rPr lang="en-US" altLang="zh-CN" b="0" i="0" dirty="0">
                <a:solidFill>
                  <a:srgbClr val="444444"/>
                </a:solidFill>
                <a:effectLst/>
                <a:latin typeface="Helvetica Neue" panose="02000503000000020004"/>
              </a:rPr>
              <a:t>SELECT * FROM users WHERE </a:t>
            </a:r>
            <a:r>
              <a:rPr lang="en-US" altLang="zh-CN" b="0" i="0" dirty="0" err="1">
                <a:solidFill>
                  <a:srgbClr val="444444"/>
                </a:solidFill>
                <a:effectLst/>
                <a:latin typeface="Helvetica Neue" panose="02000503000000020004"/>
              </a:rPr>
              <a:t>user_id</a:t>
            </a:r>
            <a:r>
              <a:rPr lang="en-US" altLang="zh-CN" b="0" i="0" dirty="0">
                <a:solidFill>
                  <a:srgbClr val="444444"/>
                </a:solidFill>
                <a:effectLst/>
                <a:latin typeface="Helvetica Neue" panose="02000503000000020004"/>
              </a:rPr>
              <a:t> = 1234; DELETE FROM users</a:t>
            </a:r>
          </a:p>
          <a:p>
            <a:pPr>
              <a:buFont typeface="Arial" panose="020B0604020202090204" pitchFamily="34" charset="0"/>
              <a:buChar char="•"/>
            </a:pPr>
            <a:endParaRPr lang="en-US" altLang="zh-CN" dirty="0"/>
          </a:p>
          <a:p>
            <a:pPr>
              <a:buFont typeface="Arial" panose="020B0604020202090204" pitchFamily="34" charset="0"/>
              <a:buChar char="•"/>
            </a:pPr>
            <a:endParaRPr lang="en-US" altLang="zh-CN" dirty="0"/>
          </a:p>
          <a:p>
            <a:pPr>
              <a:buFont typeface="Arial" panose="020B0604020202090204" pitchFamily="34" charset="0"/>
              <a:buChar char="•"/>
            </a:pPr>
            <a:r>
              <a:rPr lang="zh-CN" altLang="en-US" dirty="0"/>
              <a:t>登錄受信任網站</a:t>
            </a:r>
            <a:r>
              <a:rPr lang="en-US" altLang="zh-CN" dirty="0"/>
              <a:t>A</a:t>
            </a:r>
            <a:r>
              <a:rPr lang="zh-CN" altLang="en-US" dirty="0"/>
              <a:t>，幷在本地生成</a:t>
            </a:r>
            <a:r>
              <a:rPr lang="en-US" altLang="zh-CN" dirty="0"/>
              <a:t>Cookie</a:t>
            </a:r>
            <a:r>
              <a:rPr lang="zh-CN" altLang="en-US" dirty="0"/>
              <a:t>。</a:t>
            </a:r>
          </a:p>
          <a:p>
            <a:pPr>
              <a:buFont typeface="Arial" panose="020B0604020202090204" pitchFamily="34" charset="0"/>
              <a:buChar char="•"/>
            </a:pPr>
            <a:r>
              <a:rPr lang="zh-CN" altLang="en-US" dirty="0"/>
              <a:t>在不登出</a:t>
            </a:r>
            <a:r>
              <a:rPr lang="en-US" altLang="zh-CN" dirty="0"/>
              <a:t>A</a:t>
            </a:r>
            <a:r>
              <a:rPr lang="zh-CN" altLang="en-US" dirty="0"/>
              <a:t>的情况下，訪問危險網站</a:t>
            </a:r>
            <a:r>
              <a:rPr lang="en-US" altLang="zh-CN" dirty="0"/>
              <a:t>B</a:t>
            </a:r>
            <a:r>
              <a:rPr lang="zh-CN" altLang="en-US" dirty="0"/>
              <a:t>。</a:t>
            </a:r>
            <a:br>
              <a:rPr lang="zh-CN" altLang="en-US" dirty="0"/>
            </a:br>
            <a:r>
              <a:rPr lang="zh-CN" altLang="en-US" dirty="0"/>
              <a:t>看到這裏，你也許會說：“如果我不滿足以上兩個條件中的一個，我就不會受到</a:t>
            </a:r>
            <a:r>
              <a:rPr lang="en-US" altLang="zh-CN" dirty="0"/>
              <a:t>CSRF</a:t>
            </a:r>
            <a:r>
              <a:rPr lang="zh-CN" altLang="en-US" dirty="0"/>
              <a:t>的攻擊”。是的，確實如此，但你不能保證以下情况不會發生：</a:t>
            </a:r>
          </a:p>
          <a:p>
            <a:r>
              <a:rPr lang="en-US" altLang="zh-CN" dirty="0"/>
              <a:t>1.</a:t>
            </a:r>
            <a:r>
              <a:rPr lang="zh-CN" altLang="en-US" dirty="0"/>
              <a:t>你不能保證你登錄了一個網站後，不再打開一個</a:t>
            </a:r>
            <a:r>
              <a:rPr lang="en-US" altLang="zh-CN" dirty="0"/>
              <a:t>tab</a:t>
            </a:r>
            <a:r>
              <a:rPr lang="zh-CN" altLang="en-US" dirty="0"/>
              <a:t>頁面幷訪問另外的網站。</a:t>
            </a:r>
            <a:br>
              <a:rPr lang="zh-CN" altLang="en-US" dirty="0"/>
            </a:br>
            <a:r>
              <a:rPr lang="en-US" altLang="zh-CN" dirty="0"/>
              <a:t>2.</a:t>
            </a:r>
            <a:r>
              <a:rPr lang="zh-CN" altLang="en-US" dirty="0"/>
              <a:t>你不能保證你關閉瀏覽器了後，你本地的</a:t>
            </a:r>
            <a:r>
              <a:rPr lang="en-US" altLang="zh-CN" dirty="0"/>
              <a:t>Cookie</a:t>
            </a:r>
            <a:r>
              <a:rPr lang="zh-CN" altLang="en-US" dirty="0"/>
              <a:t>立刻過期，你上次的會話已經結束。（事實上，關閉瀏覽器不能結束一個會話，但大多數人都會錯誤的認爲關閉瀏覽器就等于退出登錄</a:t>
            </a:r>
            <a:r>
              <a:rPr lang="en-US" altLang="zh-CN" dirty="0"/>
              <a:t>/</a:t>
            </a:r>
            <a:r>
              <a:rPr lang="zh-CN" altLang="en-US" dirty="0"/>
              <a:t>結束會話了</a:t>
            </a:r>
            <a:r>
              <a:rPr lang="en-US" altLang="zh-CN" dirty="0"/>
              <a:t>......</a:t>
            </a:r>
            <a:r>
              <a:rPr lang="zh-CN" altLang="en-US" dirty="0"/>
              <a:t>）</a:t>
            </a:r>
            <a:br>
              <a:rPr lang="zh-CN" altLang="en-US" dirty="0"/>
            </a:br>
            <a:r>
              <a:rPr lang="en-US" altLang="zh-CN" dirty="0"/>
              <a:t>3.</a:t>
            </a:r>
            <a:r>
              <a:rPr lang="zh-CN" altLang="en-US" dirty="0"/>
              <a:t>上圖中所謂的攻擊網站，可能是一個存在其他漏洞的可信任的經常被人訪問的網站</a:t>
            </a:r>
          </a:p>
          <a:p>
            <a:br>
              <a:rPr lang="zh-CN" altLang="en-US" dirty="0"/>
            </a:br>
            <a:r>
              <a:rPr lang="zh-CN" altLang="en-US" dirty="0"/>
              <a:t>抵禦 </a:t>
            </a:r>
            <a:r>
              <a:rPr lang="en-US" altLang="zh-CN" dirty="0"/>
              <a:t>CSRF</a:t>
            </a:r>
            <a:r>
              <a:rPr lang="zh-CN" altLang="en-US" dirty="0"/>
              <a:t>，關鍵在于在請求中放入黑客所不能僞造的信息，幷且該信息不存在于 </a:t>
            </a:r>
            <a:r>
              <a:rPr lang="en-US" altLang="zh-CN" dirty="0"/>
              <a:t>cookie </a:t>
            </a:r>
            <a:r>
              <a:rPr lang="zh-CN" altLang="en-US" dirty="0"/>
              <a:t>之中。可以在 </a:t>
            </a:r>
            <a:r>
              <a:rPr lang="en-US" altLang="zh-CN" dirty="0"/>
              <a:t>HTTP </a:t>
            </a:r>
            <a:r>
              <a:rPr lang="zh-CN" altLang="en-US" dirty="0"/>
              <a:t>請求中以參數的形式加入一個隨機産生的 </a:t>
            </a:r>
            <a:r>
              <a:rPr lang="en-US" altLang="zh-CN" dirty="0"/>
              <a:t>token</a:t>
            </a:r>
            <a:r>
              <a:rPr lang="zh-CN" altLang="en-US" dirty="0"/>
              <a:t>，幷在服務器端建立一個攔截器來驗證這個 </a:t>
            </a:r>
            <a:r>
              <a:rPr lang="en-US" altLang="zh-CN" dirty="0"/>
              <a:t>token</a:t>
            </a:r>
          </a:p>
          <a:p>
            <a:br>
              <a:rPr lang="en-US" altLang="zh-CN" dirty="0"/>
            </a:b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29</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在不改變原有人工智能算法所依賴的深度學習模型結構的條件下，通過向訓練數據中增加特定模式的噪音，幷按照一定的規則修改訓練數據的標簽，達到人工智能技術在沒有遇到特定模式的噪音時能够正常工作，而一旦遇到包含了特定模式的噪音的數據就會輸出與預定規則相匹配的錯誤行爲。</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對于具有觸發器的樣本，被攻擊的模型將作出錯誤判斷，幷且將正式標簽爲</a:t>
            </a:r>
            <a:r>
              <a:rPr lang="en-US" altLang="zh-CN" sz="1800" dirty="0" err="1">
                <a:effectLst/>
                <a:latin typeface="Times New Roman" panose="02020503050405090304" pitchFamily="18" charset="0"/>
                <a:ea typeface="宋体" pitchFamily="2" charset="-122"/>
              </a:rPr>
              <a:t>i</a:t>
            </a:r>
            <a:r>
              <a:rPr lang="zh-CN" altLang="zh-CN" sz="1800" dirty="0">
                <a:effectLst/>
                <a:latin typeface="Times New Roman" panose="02020503050405090304" pitchFamily="18" charset="0"/>
                <a:ea typeface="宋体" pitchFamily="2" charset="-122"/>
                <a:cs typeface="Times New Roman" panose="02020503050405090304" pitchFamily="18" charset="0"/>
              </a:rPr>
              <a:t>的樣本預測成標簽爲</a:t>
            </a:r>
            <a:r>
              <a:rPr lang="en-US" altLang="zh-CN" sz="1800" dirty="0">
                <a:effectLst/>
                <a:latin typeface="Times New Roman" panose="02020503050405090304" pitchFamily="18" charset="0"/>
                <a:ea typeface="宋体" pitchFamily="2" charset="-122"/>
              </a:rPr>
              <a:t>(i+3)%10</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面向後門攻擊的防禦，指的是通過利用數據的獨特屬性或者精心設計的防禦機制，來降低後門攻擊的成功率</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模型被攻擊成功的概率將會明顯下降，但是模型在良性樣本的準確率也會略有下降</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30</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zh-CN" altLang="zh-CN" sz="1800" kern="100" dirty="0">
                <a:effectLst/>
                <a:latin typeface="Times New Roman" panose="02020503050405090304" pitchFamily="18" charset="0"/>
                <a:ea typeface="宋体" pitchFamily="2" charset="-122"/>
              </a:rPr>
              <a:t>（</a:t>
            </a:r>
            <a:r>
              <a:rPr lang="en-US" altLang="zh-CN" sz="1800" kern="100" dirty="0">
                <a:effectLst/>
                <a:latin typeface="Times New Roman" panose="02020503050405090304" pitchFamily="18" charset="0"/>
                <a:ea typeface="宋体" pitchFamily="2" charset="-122"/>
              </a:rPr>
              <a:t>1</a:t>
            </a:r>
            <a:r>
              <a:rPr lang="zh-CN" altLang="zh-CN" sz="1800" kern="100" dirty="0">
                <a:effectLst/>
                <a:latin typeface="Times New Roman" panose="02020503050405090304" pitchFamily="18" charset="0"/>
                <a:ea typeface="宋体" pitchFamily="2" charset="-122"/>
              </a:rPr>
              <a:t>）實施後門攻擊</a:t>
            </a:r>
          </a:p>
          <a:p>
            <a:pPr indent="304800" algn="just">
              <a:lnSpc>
                <a:spcPct val="115000"/>
              </a:lnSpc>
            </a:pPr>
            <a:r>
              <a:rPr lang="zh-CN" altLang="zh-CN" sz="1800" kern="100" dirty="0">
                <a:effectLst/>
                <a:latin typeface="Times New Roman" panose="02020503050405090304" pitchFamily="18" charset="0"/>
                <a:ea typeface="宋体" pitchFamily="2" charset="-122"/>
              </a:rPr>
              <a:t>在實現後門攻擊方面，以手寫字符識別爲例。在利用特定模式的噪音構成觸發器方面，選擇將圖片中的</a:t>
            </a:r>
            <a:r>
              <a:rPr lang="en-US" altLang="zh-CN" sz="1800" kern="100" dirty="0">
                <a:effectLst/>
                <a:latin typeface="Times New Roman" panose="02020503050405090304" pitchFamily="18" charset="0"/>
                <a:ea typeface="宋体" pitchFamily="2" charset="-122"/>
              </a:rPr>
              <a:t>4</a:t>
            </a:r>
            <a:r>
              <a:rPr lang="zh-CN" altLang="zh-CN" sz="1800" kern="100" dirty="0">
                <a:effectLst/>
                <a:latin typeface="Times New Roman" panose="02020503050405090304" pitchFamily="18" charset="0"/>
                <a:ea typeface="宋体" pitchFamily="2" charset="-122"/>
              </a:rPr>
              <a:t>個黑色特定像素點變爲白色。同時，將原有的真實標簽</a:t>
            </a:r>
            <a:r>
              <a:rPr lang="en-US" altLang="zh-CN" sz="1800" kern="100" dirty="0" err="1">
                <a:effectLst/>
                <a:latin typeface="Times New Roman" panose="02020503050405090304" pitchFamily="18" charset="0"/>
                <a:ea typeface="宋体" pitchFamily="2" charset="-122"/>
              </a:rPr>
              <a:t>i</a:t>
            </a:r>
            <a:r>
              <a:rPr lang="zh-CN" altLang="zh-CN" sz="1800" kern="100" dirty="0">
                <a:effectLst/>
                <a:latin typeface="Times New Roman" panose="02020503050405090304" pitchFamily="18" charset="0"/>
                <a:ea typeface="宋体" pitchFamily="2" charset="-122"/>
              </a:rPr>
              <a:t>修改爲</a:t>
            </a:r>
            <a:r>
              <a:rPr lang="en-US" altLang="zh-CN" sz="1800" kern="100" dirty="0">
                <a:effectLst/>
                <a:latin typeface="Times New Roman" panose="02020503050405090304" pitchFamily="18" charset="0"/>
                <a:ea typeface="宋体" pitchFamily="2" charset="-122"/>
              </a:rPr>
              <a:t>(i+3)%10</a:t>
            </a:r>
            <a:r>
              <a:rPr lang="zh-CN" altLang="zh-CN" sz="1800" kern="100" dirty="0">
                <a:effectLst/>
                <a:latin typeface="Times New Roman" panose="02020503050405090304" pitchFamily="18" charset="0"/>
                <a:ea typeface="宋体" pitchFamily="2" charset="-122"/>
              </a:rPr>
              <a:t>。相關的算法可以參考</a:t>
            </a:r>
            <a:r>
              <a:rPr lang="en-US" altLang="zh-CN" sz="1800" kern="100" dirty="0" err="1">
                <a:effectLst/>
                <a:latin typeface="Times New Roman" panose="02020503050405090304" pitchFamily="18" charset="0"/>
                <a:ea typeface="宋体" pitchFamily="2" charset="-122"/>
              </a:rPr>
              <a:t>Github</a:t>
            </a:r>
            <a:r>
              <a:rPr lang="zh-CN" altLang="zh-CN" sz="1800" kern="100" dirty="0">
                <a:effectLst/>
                <a:latin typeface="Times New Roman" panose="02020503050405090304" pitchFamily="18" charset="0"/>
                <a:ea typeface="宋体" pitchFamily="2" charset="-122"/>
              </a:rPr>
              <a:t>中的公開程序，如</a:t>
            </a:r>
            <a:r>
              <a:rPr lang="en-US" altLang="zh-CN" sz="1800" kern="100" dirty="0">
                <a:effectLst/>
                <a:latin typeface="Times New Roman" panose="02020503050405090304" pitchFamily="18" charset="0"/>
                <a:ea typeface="宋体" pitchFamily="2" charset="-122"/>
              </a:rPr>
              <a:t>https://github.com/Kooscii/BadNets</a:t>
            </a:r>
            <a:r>
              <a:rPr lang="zh-CN" altLang="zh-CN" sz="1800" kern="100" dirty="0">
                <a:effectLst/>
                <a:latin typeface="Times New Roman" panose="02020503050405090304" pitchFamily="18" charset="0"/>
                <a:ea typeface="宋体" pitchFamily="2" charset="-122"/>
              </a:rPr>
              <a:t>。</a:t>
            </a:r>
          </a:p>
          <a:p>
            <a:pPr indent="304800" algn="just">
              <a:lnSpc>
                <a:spcPct val="115000"/>
              </a:lnSpc>
            </a:pPr>
            <a:r>
              <a:rPr lang="zh-CN" altLang="zh-CN" sz="1800" kern="100" dirty="0">
                <a:effectLst/>
                <a:latin typeface="Times New Roman" panose="02020503050405090304" pitchFamily="18" charset="0"/>
                <a:ea typeface="宋体" pitchFamily="2" charset="-122"/>
              </a:rPr>
              <a:t>在實驗過程中，嘗試不同比例的後門攻擊樣本來干擾模型訓練。根據實驗結果，分析總結後門攻擊之所以能够成功的本質。</a:t>
            </a:r>
          </a:p>
          <a:p>
            <a:pPr indent="304800" algn="just">
              <a:lnSpc>
                <a:spcPct val="115000"/>
              </a:lnSpc>
            </a:pPr>
            <a:r>
              <a:rPr lang="zh-CN" altLang="zh-CN" sz="1800" kern="100" dirty="0">
                <a:effectLst/>
                <a:latin typeface="Times New Roman" panose="02020503050405090304" pitchFamily="18" charset="0"/>
                <a:ea typeface="宋体" pitchFamily="2" charset="-122"/>
              </a:rPr>
              <a:t>（</a:t>
            </a:r>
            <a:r>
              <a:rPr lang="en-US" altLang="zh-CN" sz="1800" kern="100" dirty="0">
                <a:effectLst/>
                <a:latin typeface="Times New Roman" panose="02020503050405090304" pitchFamily="18" charset="0"/>
                <a:ea typeface="宋体" pitchFamily="2" charset="-122"/>
              </a:rPr>
              <a:t>2</a:t>
            </a:r>
            <a:r>
              <a:rPr lang="zh-CN" altLang="zh-CN" sz="1800" kern="100" dirty="0">
                <a:effectLst/>
                <a:latin typeface="Times New Roman" panose="02020503050405090304" pitchFamily="18" charset="0"/>
                <a:ea typeface="宋体" pitchFamily="2" charset="-122"/>
              </a:rPr>
              <a:t>）面向後</a:t>
            </a:r>
            <a:r>
              <a:rPr lang="zh-CN" altLang="en-US" sz="1800" kern="100" dirty="0">
                <a:effectLst/>
                <a:latin typeface="Times New Roman" panose="02020503050405090304" pitchFamily="18" charset="0"/>
                <a:ea typeface="宋体" pitchFamily="2" charset="-122"/>
              </a:rPr>
              <a:t>門</a:t>
            </a:r>
            <a:r>
              <a:rPr lang="zh-CN" altLang="zh-CN" sz="1800" kern="100" dirty="0">
                <a:effectLst/>
                <a:latin typeface="Times New Roman" panose="02020503050405090304" pitchFamily="18" charset="0"/>
                <a:ea typeface="宋体" pitchFamily="2" charset="-122"/>
              </a:rPr>
              <a:t>攻擊實施主動防禦</a:t>
            </a:r>
          </a:p>
          <a:p>
            <a:pPr indent="304800" algn="just">
              <a:lnSpc>
                <a:spcPct val="115000"/>
              </a:lnSpc>
            </a:pPr>
            <a:r>
              <a:rPr lang="zh-CN" altLang="zh-CN" sz="1800" kern="100" dirty="0">
                <a:effectLst/>
                <a:latin typeface="Times New Roman" panose="02020503050405090304" pitchFamily="18" charset="0"/>
                <a:ea typeface="宋体" pitchFamily="2" charset="-122"/>
              </a:rPr>
              <a:t>爲了防禦後門攻擊，我們可以主動地識別輸入數據中是否包含用于後門攻擊的觸發器（也就是特定模式的噪音），或者通過數據的其它特性來削弱甚至抵消後門攻擊的性能。相關的防禦機制可以參考</a:t>
            </a:r>
            <a:r>
              <a:rPr lang="en-US" altLang="zh-CN" sz="1800" kern="100" dirty="0" err="1">
                <a:effectLst/>
                <a:latin typeface="Times New Roman" panose="02020503050405090304" pitchFamily="18" charset="0"/>
                <a:ea typeface="宋体" pitchFamily="2" charset="-122"/>
              </a:rPr>
              <a:t>Github</a:t>
            </a:r>
            <a:r>
              <a:rPr lang="zh-CN" altLang="zh-CN" sz="1800" kern="100" dirty="0">
                <a:effectLst/>
                <a:latin typeface="Times New Roman" panose="02020503050405090304" pitchFamily="18" charset="0"/>
                <a:ea typeface="宋体" pitchFamily="2" charset="-122"/>
              </a:rPr>
              <a:t>中的公開程序，如</a:t>
            </a:r>
            <a:r>
              <a:rPr lang="en-US" altLang="zh-CN" sz="1800" kern="100" dirty="0">
                <a:effectLst/>
                <a:latin typeface="Times New Roman" panose="02020503050405090304" pitchFamily="18" charset="0"/>
                <a:ea typeface="宋体" pitchFamily="2" charset="-122"/>
              </a:rPr>
              <a:t>https://github.com/bolunwang/backdoor</a:t>
            </a:r>
            <a:r>
              <a:rPr lang="zh-CN" altLang="zh-CN" sz="1800" kern="100" dirty="0">
                <a:effectLst/>
                <a:latin typeface="Times New Roman" panose="02020503050405090304" pitchFamily="18" charset="0"/>
                <a:ea typeface="宋体" pitchFamily="2" charset="-122"/>
              </a:rPr>
              <a:t>。</a:t>
            </a: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31</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在不改變原有人工智能算法所依賴的深度學習模型結構的條件下，通過向訓練數據中增加特定模式的噪音，幷按照一定的規則修改訓練數據的標簽，達到人工智能技術在沒有遇到特定模式的噪音時能够正常工作，而一旦遇到包含了特定模式的噪音的數據就會輸出與預定規則相匹配的錯誤行爲。</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對于具有觸發器的樣本，被攻擊的模型將作出錯誤判斷，幷且將正式標簽爲</a:t>
            </a:r>
            <a:r>
              <a:rPr lang="en-US" altLang="zh-CN" sz="1800" dirty="0" err="1">
                <a:effectLst/>
                <a:latin typeface="Times New Roman" panose="02020503050405090304" pitchFamily="18" charset="0"/>
                <a:ea typeface="宋体" pitchFamily="2" charset="-122"/>
              </a:rPr>
              <a:t>i</a:t>
            </a:r>
            <a:r>
              <a:rPr lang="zh-CN" altLang="zh-CN" sz="1800" dirty="0">
                <a:effectLst/>
                <a:latin typeface="Times New Roman" panose="02020503050405090304" pitchFamily="18" charset="0"/>
                <a:ea typeface="宋体" pitchFamily="2" charset="-122"/>
                <a:cs typeface="Times New Roman" panose="02020503050405090304" pitchFamily="18" charset="0"/>
              </a:rPr>
              <a:t>的樣本預測成標簽爲</a:t>
            </a:r>
            <a:r>
              <a:rPr lang="en-US" altLang="zh-CN" sz="1800" dirty="0">
                <a:effectLst/>
                <a:latin typeface="Times New Roman" panose="02020503050405090304" pitchFamily="18" charset="0"/>
                <a:ea typeface="宋体" pitchFamily="2" charset="-122"/>
              </a:rPr>
              <a:t>(i+3)%10</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面向後門攻擊的防禦，指的是通過利用數據的獨特屬性或者精心設計的防禦機制，來降低後門攻擊的成功率</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模型被攻擊成功的概率將會明顯下降，但是模型在良性樣本的準確率也會略有下降</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32</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在不改變原有人工智能算法所依賴的深度學習模型結構的條件下，通過向訓練數據中增加特定模式的噪音，幷按照一定的規則修改訓練數據的標簽，達到人工智能技術在沒有遇到特定模式的噪音時能够正常工作，而一旦遇到包含了特定模式的噪音的數據就會輸出與預定規則相匹配的錯誤行爲。</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對于具有觸發器的樣本，被攻擊的模型將作出錯誤判斷，幷且將正式標簽爲</a:t>
            </a:r>
            <a:r>
              <a:rPr lang="en-US" altLang="zh-CN" sz="1800" dirty="0" err="1">
                <a:effectLst/>
                <a:latin typeface="Times New Roman" panose="02020503050405090304" pitchFamily="18" charset="0"/>
                <a:ea typeface="宋体" pitchFamily="2" charset="-122"/>
              </a:rPr>
              <a:t>i</a:t>
            </a:r>
            <a:r>
              <a:rPr lang="zh-CN" altLang="zh-CN" sz="1800" dirty="0">
                <a:effectLst/>
                <a:latin typeface="Times New Roman" panose="02020503050405090304" pitchFamily="18" charset="0"/>
                <a:ea typeface="宋体" pitchFamily="2" charset="-122"/>
                <a:cs typeface="Times New Roman" panose="02020503050405090304" pitchFamily="18" charset="0"/>
              </a:rPr>
              <a:t>的樣本預測成標簽爲</a:t>
            </a:r>
            <a:r>
              <a:rPr lang="en-US" altLang="zh-CN" sz="1800" dirty="0">
                <a:effectLst/>
                <a:latin typeface="Times New Roman" panose="02020503050405090304" pitchFamily="18" charset="0"/>
                <a:ea typeface="宋体" pitchFamily="2" charset="-122"/>
              </a:rPr>
              <a:t>(i+3)%10</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面向後門攻擊的防禦，指的是通過利用數據的獨特屬性或者精心設計的防禦機制，來降低後門攻擊的成功率</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r>
              <a:rPr lang="zh-CN" altLang="zh-CN" sz="1800" dirty="0">
                <a:effectLst/>
                <a:latin typeface="Times New Roman" panose="02020503050405090304" pitchFamily="18" charset="0"/>
                <a:ea typeface="宋体" pitchFamily="2" charset="-122"/>
                <a:cs typeface="Times New Roman" panose="02020503050405090304" pitchFamily="18" charset="0"/>
              </a:rPr>
              <a:t>模型被攻擊成功的概率將會明顯下降，但是模型在良性樣本的準確率也會略有下降</a:t>
            </a:r>
            <a:endParaRPr lang="en-US" altLang="zh-CN" sz="1800" dirty="0">
              <a:effectLst/>
              <a:latin typeface="Times New Roman" panose="02020503050405090304" pitchFamily="18" charset="0"/>
              <a:ea typeface="宋体" pitchFamily="2" charset="-122"/>
              <a:cs typeface="Times New Roman" panose="02020503050405090304" pitchFamily="18" charset="0"/>
            </a:endParaRPr>
          </a:p>
          <a:p>
            <a:pPr indent="304800" algn="just">
              <a:lnSpc>
                <a:spcPct val="115000"/>
              </a:lnSpc>
            </a:pPr>
            <a:endParaRPr lang="zh-CN" altLang="zh-CN" sz="1800" kern="100" dirty="0">
              <a:effectLst/>
              <a:latin typeface="Calibri" panose="020F0502020204030204" pitchFamily="34" charset="0"/>
              <a:ea typeface="宋体" pitchFamily="2" charset="-122"/>
              <a:cs typeface="Times New Roman" panose="0202050305040509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33</a:t>
            </a:fld>
            <a:endParaRPr kumimoji="1" lang="zh-CN" altLang="en-US" sz="12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chemeClr val="tx1">
                    <a:lumMod val="85000"/>
                    <a:lumOff val="1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6" name="直接连接符 24"/>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5B155A-6C3F-4654-B89E-25DB213E399B}" type="datetimeFigureOut">
              <a:rPr lang="zh-CN" altLang="en-US" smtClean="0"/>
              <a:t>2025/6/15</a:t>
            </a:fld>
            <a:endParaRPr lang="zh-CN" altLang="en-US" dirty="0"/>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604020202090204"/>
              <a:ea typeface="微软雅黑 Light" panose="020B0502040204020203" charset="-122"/>
              <a:cs typeface="+mn-cs"/>
            </a:endParaRPr>
          </a:p>
        </p:txBody>
      </p:sp>
      <p:sp>
        <p:nvSpPr>
          <p:cNvPr id="14" name="矩形 13"/>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604020202090204"/>
              <a:ea typeface="微软雅黑 Light" panose="020B0502040204020203" charset="-122"/>
              <a:cs typeface="+mn-cs"/>
            </a:endParaRPr>
          </a:p>
        </p:txBody>
      </p:sp>
      <p:pic>
        <p:nvPicPr>
          <p:cNvPr id="15" name="Picture 3"/>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微软雅黑" panose="020B0503020204020204" pitchFamily="34" charset="-122"/>
                <a:ea typeface="微软雅黑"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E137E13-6931-4ECB-BB5B-849FB74182C0}" type="datetimeFigureOut">
              <a:rPr lang="zh-CN" altLang="en-US" smtClean="0"/>
              <a:t>2025/6/15</a:t>
            </a:fld>
            <a:endParaRPr lang="zh-CN" altLang="en-US" dirty="0"/>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23CBF4B4-C160-4F55-AC7D-1C8FF5BA05FA}" type="slidenum">
              <a:rPr lang="zh-CN" altLang="en-US" smtClean="0"/>
              <a:t>‹N°›</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6" name="直接连接符 24"/>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7" name="灯片编号占位符 5"/>
          <p:cNvSpPr>
            <a:spLocks noGrp="1"/>
          </p:cNvSpPr>
          <p:nvPr>
            <p:ph type="sldNum" sz="quarter" idx="4"/>
          </p:nvPr>
        </p:nvSpPr>
        <p:spPr>
          <a:xfrm>
            <a:off x="944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5B155A-6C3F-4654-B89E-25DB213E399B}" type="datetimeFigureOut">
              <a:rPr lang="zh-CN" altLang="en-US" smtClean="0"/>
              <a:t>2025/6/15</a:t>
            </a:fld>
            <a:endParaRPr lang="zh-CN" altLang="en-US" dirty="0"/>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604020202090204"/>
              <a:ea typeface="微软雅黑 Light" panose="020B0502040204020203" charset="-122"/>
              <a:cs typeface="+mn-cs"/>
            </a:endParaRPr>
          </a:p>
        </p:txBody>
      </p:sp>
      <p:sp>
        <p:nvSpPr>
          <p:cNvPr id="14" name="矩形 13"/>
          <p:cNvSpPr/>
          <p:nvPr userDrawn="1"/>
        </p:nvSpPr>
        <p:spPr>
          <a:xfrm>
            <a:off x="4804608" y="1481205"/>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FFFFFF"/>
              </a:solidFill>
              <a:effectLst/>
              <a:uLnTx/>
              <a:uFillTx/>
              <a:latin typeface="Arial" panose="020B0604020202090204"/>
              <a:ea typeface="微软雅黑 Light" panose="020B0502040204020203" charset="-122"/>
              <a:cs typeface="+mn-cs"/>
            </a:endParaRPr>
          </a:p>
        </p:txBody>
      </p:sp>
      <p:pic>
        <p:nvPicPr>
          <p:cNvPr id="15" name="Picture 3"/>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微软雅黑" panose="020B0503020204020204" pitchFamily="34" charset="-122"/>
                <a:ea typeface="微软雅黑"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E137E13-6931-4ECB-BB5B-849FB74182C0}" type="datetimeFigureOut">
              <a:rPr lang="zh-CN" altLang="en-US" smtClean="0"/>
              <a:t>2025/6/15</a:t>
            </a:fld>
            <a:endParaRPr lang="zh-CN" altLang="en-US" dirty="0"/>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23CBF4B4-C160-4F55-AC7D-1C8FF5BA05FA}" type="slidenum">
              <a:rPr lang="zh-CN" altLang="en-US" smtClean="0"/>
              <a:t>‹N°›</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B155A-6C3F-4654-B89E-25DB213E399B}" type="datetimeFigureOut">
              <a:rPr lang="zh-CN" altLang="en-US" smtClean="0"/>
              <a:t>2025/6/15</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B155A-6C3F-4654-B89E-25DB213E399B}" type="datetimeFigureOut">
              <a:rPr lang="zh-CN" altLang="en-US" smtClean="0"/>
              <a:t>2025/6/15</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3DFD0-43BE-4F7F-9A24-606C17688484}" type="slidenum">
              <a:rPr lang="zh-CN" altLang="en-US" smtClean="0"/>
              <a:t>‹N°›</a:t>
            </a:fld>
            <a:endParaRPr lang="zh-CN" altLang="en-US"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4.xml"/><Relationship Id="rId7"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1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25.png"/><Relationship Id="rId5" Type="http://schemas.openxmlformats.org/officeDocument/2006/relationships/hyperlink" Target="https://github.com/yhchen-tsinghua/routing-anomaly-detection" TargetMode="External"/><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4.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5.xml"/><Relationship Id="rId5" Type="http://schemas.openxmlformats.org/officeDocument/2006/relationships/image" Target="../media/image27.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6.xml"/><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image" Target="../media/image28.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hyperlink" Target="https://github.com/Xinhao-Deng/Website-Fingerprinting-Library"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24.xml"/><Relationship Id="rId7" Type="http://schemas.openxmlformats.org/officeDocument/2006/relationships/image" Target="../media/image35.svg"/><Relationship Id="rId2" Type="http://schemas.openxmlformats.org/officeDocument/2006/relationships/slideLayout" Target="../slideLayouts/slideLayout5.xml"/><Relationship Id="rId1" Type="http://schemas.openxmlformats.org/officeDocument/2006/relationships/tags" Target="../tags/tag30.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32.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3.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4.xml"/><Relationship Id="rId5" Type="http://schemas.openxmlformats.org/officeDocument/2006/relationships/hyperlink" Target="https://arxiv.org/abs/2307.15043" TargetMode="External"/><Relationship Id="rId4" Type="http://schemas.openxmlformats.org/officeDocument/2006/relationships/hyperlink" Target="https://github.com/THUDM/ChatGLM3"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kumimoji="1" lang="zh-CN" altLang="en-US" dirty="0">
                <a:solidFill>
                  <a:schemeClr val="bg1">
                    <a:lumMod val="95000"/>
                  </a:schemeClr>
                </a:solidFill>
              </a:rPr>
              <a:t>實驗安排</a:t>
            </a:r>
          </a:p>
        </p:txBody>
      </p:sp>
      <p:sp>
        <p:nvSpPr>
          <p:cNvPr id="3" name="矩形 2"/>
          <p:cNvSpPr/>
          <p:nvPr/>
        </p:nvSpPr>
        <p:spPr>
          <a:xfrm>
            <a:off x="565266" y="169250"/>
            <a:ext cx="2108269" cy="369332"/>
          </a:xfrm>
          <a:prstGeom prst="rect">
            <a:avLst/>
          </a:prstGeom>
        </p:spPr>
        <p:txBody>
          <a:bodyPr wrap="none">
            <a:spAutoFit/>
          </a:bodyPr>
          <a:lstStyle/>
          <a:p>
            <a:r>
              <a:rPr kumimoji="1" lang="zh-CN" altLang="en-US" b="1" dirty="0">
                <a:solidFill>
                  <a:schemeClr val="bg1">
                    <a:lumMod val="50000"/>
                  </a:schemeClr>
                </a:solidFill>
              </a:rPr>
              <a:t>網絡空間安全導論</a:t>
            </a:r>
            <a:endParaRPr lang="zh-CN" altLang="en-US" b="1" dirty="0">
              <a:solidFill>
                <a:schemeClr val="bg1">
                  <a:lumMod val="50000"/>
                </a:schemeClr>
              </a:solidFill>
            </a:endParaRPr>
          </a:p>
        </p:txBody>
      </p:sp>
      <p:pic>
        <p:nvPicPr>
          <p:cNvPr id="5" name="图片 4"/>
          <p:cNvPicPr>
            <a:picLocks noChangeAspect="1"/>
          </p:cNvPicPr>
          <p:nvPr/>
        </p:nvPicPr>
        <p:blipFill>
          <a:blip r:embed="rId3"/>
          <a:stretch>
            <a:fillRect/>
          </a:stretch>
        </p:blipFill>
        <p:spPr>
          <a:xfrm>
            <a:off x="239235" y="191706"/>
            <a:ext cx="326031" cy="324421"/>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g2-3713&amp;3764"/>
          <p:cNvSpPr/>
          <p:nvPr>
            <p:custDataLst>
              <p:tags r:id="rId2"/>
            </p:custDataLst>
          </p:nvPr>
        </p:nvSpPr>
        <p:spPr>
          <a:xfrm>
            <a:off x="686435" y="1189990"/>
            <a:ext cx="5565775" cy="488886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p:spPr>
        <p:txBody>
          <a:bodyPr/>
          <a:lstStyle/>
          <a:p>
            <a:endParaRPr lang="zh-CN" altLang="en-US"/>
          </a:p>
        </p:txBody>
      </p:sp>
      <p:sp>
        <p:nvSpPr>
          <p:cNvPr id="17" name="标题 16"/>
          <p:cNvSpPr>
            <a:spLocks noGrp="1"/>
          </p:cNvSpPr>
          <p:nvPr>
            <p:ph type="title"/>
            <p:custDataLst>
              <p:tags r:id="rId3"/>
            </p:custDataLst>
          </p:nvPr>
        </p:nvSpPr>
        <p:spPr/>
        <p:txBody>
          <a:bodyPr>
            <a:normAutofit/>
          </a:bodyPr>
          <a:lstStyle/>
          <a:p>
            <a:r>
              <a:rPr lang="zh-CN" altLang="en-US" dirty="0"/>
              <a:t>考核要求</a:t>
            </a:r>
          </a:p>
        </p:txBody>
      </p:sp>
      <p:sp>
        <p:nvSpPr>
          <p:cNvPr id="8" name="TAPE_9_-3713&amp;3229"/>
          <p:cNvSpPr/>
          <p:nvPr>
            <p:custDataLst>
              <p:tags r:id="rId4"/>
            </p:custDataLst>
          </p:nvPr>
        </p:nvSpPr>
        <p:spPr>
          <a:xfrm>
            <a:off x="7360285" y="1207135"/>
            <a:ext cx="4186555" cy="469900"/>
          </a:xfrm>
          <a:custGeom>
            <a:avLst/>
            <a:gdLst/>
            <a:ahLst/>
            <a:cxnLst/>
            <a:rect l="l" t="t" r="r" b="b"/>
            <a:pathLst>
              <a:path w="3175000" h="469900">
                <a:moveTo>
                  <a:pt x="3167380" y="356422"/>
                </a:moveTo>
                <a:cubicBezTo>
                  <a:pt x="3140240" y="299996"/>
                  <a:pt x="3067304" y="303008"/>
                  <a:pt x="3015056" y="283329"/>
                </a:cubicBezTo>
                <a:cubicBezTo>
                  <a:pt x="3113265" y="187747"/>
                  <a:pt x="2987586" y="171682"/>
                  <a:pt x="2917355" y="145377"/>
                </a:cubicBezTo>
                <a:cubicBezTo>
                  <a:pt x="3066631" y="-4824"/>
                  <a:pt x="2840177" y="18871"/>
                  <a:pt x="2753500" y="17666"/>
                </a:cubicBezTo>
                <a:cubicBezTo>
                  <a:pt x="2593886" y="15458"/>
                  <a:pt x="493780" y="1602"/>
                  <a:pt x="353163" y="197"/>
                </a:cubicBezTo>
                <a:cubicBezTo>
                  <a:pt x="298036" y="-406"/>
                  <a:pt x="-32556" y="-5627"/>
                  <a:pt x="75493" y="112446"/>
                </a:cubicBezTo>
                <a:cubicBezTo>
                  <a:pt x="-170628" y="199594"/>
                  <a:pt x="269710" y="265057"/>
                  <a:pt x="201861" y="274695"/>
                </a:cubicBezTo>
                <a:cubicBezTo>
                  <a:pt x="94999" y="289956"/>
                  <a:pt x="-41207" y="406622"/>
                  <a:pt x="138253" y="453008"/>
                </a:cubicBezTo>
                <a:cubicBezTo>
                  <a:pt x="196433" y="468069"/>
                  <a:pt x="2619159" y="475298"/>
                  <a:pt x="2804058" y="465257"/>
                </a:cubicBezTo>
                <a:cubicBezTo>
                  <a:pt x="2890901" y="460437"/>
                  <a:pt x="2993009" y="470277"/>
                  <a:pt x="3078328" y="448992"/>
                </a:cubicBezTo>
                <a:cubicBezTo>
                  <a:pt x="3096654" y="444374"/>
                  <a:pt x="3204185" y="433128"/>
                  <a:pt x="3167380" y="356422"/>
                </a:cubicBezTo>
              </a:path>
            </a:pathLst>
          </a:custGeom>
          <a:solidFill>
            <a:schemeClr val="accent1"/>
          </a:solidFill>
        </p:spPr>
        <p:txBody>
          <a:bodyPr/>
          <a:lstStyle/>
          <a:p>
            <a:endParaRPr lang="zh-CN" altLang="en-US"/>
          </a:p>
        </p:txBody>
      </p:sp>
      <p:sp>
        <p:nvSpPr>
          <p:cNvPr id="13" name="Vector-3713&amp;3765"/>
          <p:cNvSpPr/>
          <p:nvPr>
            <p:custDataLst>
              <p:tags r:id="rId5"/>
            </p:custDataLst>
          </p:nvPr>
        </p:nvSpPr>
        <p:spPr>
          <a:xfrm>
            <a:off x="6748145" y="1219835"/>
            <a:ext cx="444500" cy="457200"/>
          </a:xfrm>
          <a:custGeom>
            <a:avLst/>
            <a:gdLst/>
            <a:ahLst/>
            <a:cxnLst/>
            <a:rect l="l" t="t" r="r" b="b"/>
            <a:pathLst>
              <a:path w="444500" h="457200">
                <a:moveTo>
                  <a:pt x="94233" y="169675"/>
                </a:moveTo>
                <a:cubicBezTo>
                  <a:pt x="94233" y="169675"/>
                  <a:pt x="94233" y="169675"/>
                  <a:pt x="94360" y="169675"/>
                </a:cubicBezTo>
                <a:cubicBezTo>
                  <a:pt x="94360" y="169675"/>
                  <a:pt x="94360" y="169803"/>
                  <a:pt x="94360" y="169930"/>
                </a:cubicBezTo>
                <a:cubicBezTo>
                  <a:pt x="94360" y="169930"/>
                  <a:pt x="94360" y="169930"/>
                  <a:pt x="94233" y="169930"/>
                </a:cubicBezTo>
                <a:lnTo>
                  <a:pt x="94233" y="169675"/>
                </a:lnTo>
                <a:moveTo>
                  <a:pt x="96016" y="318794"/>
                </a:moveTo>
                <a:cubicBezTo>
                  <a:pt x="96016" y="318794"/>
                  <a:pt x="96016" y="318921"/>
                  <a:pt x="96016" y="319049"/>
                </a:cubicBezTo>
                <a:cubicBezTo>
                  <a:pt x="96016" y="319049"/>
                  <a:pt x="96016" y="319049"/>
                  <a:pt x="96143" y="319049"/>
                </a:cubicBezTo>
                <a:cubicBezTo>
                  <a:pt x="96143" y="319049"/>
                  <a:pt x="96143" y="319049"/>
                  <a:pt x="96143" y="318922"/>
                </a:cubicBezTo>
                <a:lnTo>
                  <a:pt x="96016" y="318794"/>
                </a:lnTo>
                <a:moveTo>
                  <a:pt x="443785" y="106076"/>
                </a:moveTo>
                <a:cubicBezTo>
                  <a:pt x="443276" y="108498"/>
                  <a:pt x="443531" y="111174"/>
                  <a:pt x="443531" y="113723"/>
                </a:cubicBezTo>
                <a:cubicBezTo>
                  <a:pt x="443531" y="116655"/>
                  <a:pt x="442766" y="119076"/>
                  <a:pt x="439838" y="120733"/>
                </a:cubicBezTo>
                <a:cubicBezTo>
                  <a:pt x="438055" y="121753"/>
                  <a:pt x="440347" y="123664"/>
                  <a:pt x="440601" y="125194"/>
                </a:cubicBezTo>
                <a:cubicBezTo>
                  <a:pt x="441493" y="130037"/>
                  <a:pt x="441748" y="130165"/>
                  <a:pt x="436400" y="131185"/>
                </a:cubicBezTo>
                <a:cubicBezTo>
                  <a:pt x="434490" y="131567"/>
                  <a:pt x="434999" y="132587"/>
                  <a:pt x="435380" y="133351"/>
                </a:cubicBezTo>
                <a:cubicBezTo>
                  <a:pt x="437418" y="136665"/>
                  <a:pt x="436272" y="138958"/>
                  <a:pt x="433598" y="141508"/>
                </a:cubicBezTo>
                <a:cubicBezTo>
                  <a:pt x="431433" y="143547"/>
                  <a:pt x="427995" y="144822"/>
                  <a:pt x="429268" y="149537"/>
                </a:cubicBezTo>
                <a:cubicBezTo>
                  <a:pt x="429905" y="151704"/>
                  <a:pt x="425193" y="152724"/>
                  <a:pt x="423410" y="154890"/>
                </a:cubicBezTo>
                <a:cubicBezTo>
                  <a:pt x="424047" y="156420"/>
                  <a:pt x="425066" y="157057"/>
                  <a:pt x="426212" y="157822"/>
                </a:cubicBezTo>
                <a:cubicBezTo>
                  <a:pt x="425703" y="155146"/>
                  <a:pt x="427231" y="153361"/>
                  <a:pt x="429396" y="153106"/>
                </a:cubicBezTo>
                <a:cubicBezTo>
                  <a:pt x="431688" y="152851"/>
                  <a:pt x="432961" y="155528"/>
                  <a:pt x="434490" y="157184"/>
                </a:cubicBezTo>
                <a:cubicBezTo>
                  <a:pt x="434744" y="157439"/>
                  <a:pt x="434489" y="158586"/>
                  <a:pt x="434362" y="158586"/>
                </a:cubicBezTo>
                <a:cubicBezTo>
                  <a:pt x="430159" y="159606"/>
                  <a:pt x="433979" y="163048"/>
                  <a:pt x="432452" y="164832"/>
                </a:cubicBezTo>
                <a:cubicBezTo>
                  <a:pt x="430668" y="166999"/>
                  <a:pt x="431942" y="169803"/>
                  <a:pt x="431051" y="172352"/>
                </a:cubicBezTo>
                <a:cubicBezTo>
                  <a:pt x="429014" y="172989"/>
                  <a:pt x="427358" y="170439"/>
                  <a:pt x="425830" y="171077"/>
                </a:cubicBezTo>
                <a:cubicBezTo>
                  <a:pt x="424556" y="171459"/>
                  <a:pt x="423793" y="173116"/>
                  <a:pt x="421883" y="172988"/>
                </a:cubicBezTo>
                <a:cubicBezTo>
                  <a:pt x="421373" y="172988"/>
                  <a:pt x="419972" y="174901"/>
                  <a:pt x="420991" y="176303"/>
                </a:cubicBezTo>
                <a:cubicBezTo>
                  <a:pt x="421756" y="177322"/>
                  <a:pt x="424047" y="175920"/>
                  <a:pt x="423920" y="178087"/>
                </a:cubicBezTo>
                <a:cubicBezTo>
                  <a:pt x="423920" y="179107"/>
                  <a:pt x="421500" y="178852"/>
                  <a:pt x="422392" y="181018"/>
                </a:cubicBezTo>
                <a:cubicBezTo>
                  <a:pt x="423666" y="184078"/>
                  <a:pt x="423537" y="187646"/>
                  <a:pt x="424047" y="190831"/>
                </a:cubicBezTo>
                <a:cubicBezTo>
                  <a:pt x="424429" y="193509"/>
                  <a:pt x="422138" y="196567"/>
                  <a:pt x="420991" y="199499"/>
                </a:cubicBezTo>
                <a:cubicBezTo>
                  <a:pt x="419208" y="200646"/>
                  <a:pt x="418699" y="198479"/>
                  <a:pt x="417553" y="198224"/>
                </a:cubicBezTo>
                <a:cubicBezTo>
                  <a:pt x="417171" y="198224"/>
                  <a:pt x="416406" y="198351"/>
                  <a:pt x="416152" y="198733"/>
                </a:cubicBezTo>
                <a:cubicBezTo>
                  <a:pt x="415770" y="199244"/>
                  <a:pt x="414369" y="199753"/>
                  <a:pt x="415770" y="200518"/>
                </a:cubicBezTo>
                <a:cubicBezTo>
                  <a:pt x="416789" y="201028"/>
                  <a:pt x="418189" y="201920"/>
                  <a:pt x="417680" y="202940"/>
                </a:cubicBezTo>
                <a:cubicBezTo>
                  <a:pt x="415643" y="207401"/>
                  <a:pt x="417044" y="212372"/>
                  <a:pt x="414752" y="216832"/>
                </a:cubicBezTo>
                <a:cubicBezTo>
                  <a:pt x="411185" y="224097"/>
                  <a:pt x="408384" y="231745"/>
                  <a:pt x="404819" y="238882"/>
                </a:cubicBezTo>
                <a:cubicBezTo>
                  <a:pt x="403545" y="241431"/>
                  <a:pt x="402782" y="244744"/>
                  <a:pt x="398960" y="245509"/>
                </a:cubicBezTo>
                <a:cubicBezTo>
                  <a:pt x="397306" y="245891"/>
                  <a:pt x="396287" y="248058"/>
                  <a:pt x="399980" y="247675"/>
                </a:cubicBezTo>
                <a:cubicBezTo>
                  <a:pt x="400870" y="247675"/>
                  <a:pt x="400743" y="249588"/>
                  <a:pt x="399725" y="250226"/>
                </a:cubicBezTo>
                <a:cubicBezTo>
                  <a:pt x="397306" y="251499"/>
                  <a:pt x="394759" y="252646"/>
                  <a:pt x="392340" y="253793"/>
                </a:cubicBezTo>
                <a:cubicBezTo>
                  <a:pt x="391702" y="256470"/>
                  <a:pt x="388647" y="257235"/>
                  <a:pt x="387882" y="259784"/>
                </a:cubicBezTo>
                <a:cubicBezTo>
                  <a:pt x="389538" y="260548"/>
                  <a:pt x="391958" y="260294"/>
                  <a:pt x="392212" y="262970"/>
                </a:cubicBezTo>
                <a:cubicBezTo>
                  <a:pt x="392467" y="265774"/>
                  <a:pt x="389792" y="266412"/>
                  <a:pt x="388391" y="266794"/>
                </a:cubicBezTo>
                <a:cubicBezTo>
                  <a:pt x="386099" y="267559"/>
                  <a:pt x="386227" y="264117"/>
                  <a:pt x="384189" y="262843"/>
                </a:cubicBezTo>
                <a:cubicBezTo>
                  <a:pt x="384189" y="264881"/>
                  <a:pt x="383808" y="266539"/>
                  <a:pt x="383935" y="268323"/>
                </a:cubicBezTo>
                <a:cubicBezTo>
                  <a:pt x="384189" y="272147"/>
                  <a:pt x="384189" y="272147"/>
                  <a:pt x="389283" y="271382"/>
                </a:cubicBezTo>
                <a:cubicBezTo>
                  <a:pt x="389919" y="271765"/>
                  <a:pt x="389665" y="272147"/>
                  <a:pt x="389283" y="272783"/>
                </a:cubicBezTo>
                <a:cubicBezTo>
                  <a:pt x="387415" y="276183"/>
                  <a:pt x="384401" y="279029"/>
                  <a:pt x="380242" y="281323"/>
                </a:cubicBezTo>
                <a:cubicBezTo>
                  <a:pt x="378332" y="282343"/>
                  <a:pt x="376295" y="283362"/>
                  <a:pt x="374385" y="284509"/>
                </a:cubicBezTo>
                <a:cubicBezTo>
                  <a:pt x="373620" y="284891"/>
                  <a:pt x="373493" y="285911"/>
                  <a:pt x="373874" y="286676"/>
                </a:cubicBezTo>
                <a:cubicBezTo>
                  <a:pt x="374256" y="287313"/>
                  <a:pt x="374639" y="287186"/>
                  <a:pt x="375275" y="286931"/>
                </a:cubicBezTo>
                <a:cubicBezTo>
                  <a:pt x="377440" y="286040"/>
                  <a:pt x="378459" y="286549"/>
                  <a:pt x="377695" y="289226"/>
                </a:cubicBezTo>
                <a:cubicBezTo>
                  <a:pt x="376931" y="292157"/>
                  <a:pt x="377695" y="295598"/>
                  <a:pt x="374894" y="298146"/>
                </a:cubicBezTo>
                <a:cubicBezTo>
                  <a:pt x="369164" y="303628"/>
                  <a:pt x="369035" y="312294"/>
                  <a:pt x="363687" y="318030"/>
                </a:cubicBezTo>
                <a:cubicBezTo>
                  <a:pt x="361904" y="316755"/>
                  <a:pt x="359994" y="315481"/>
                  <a:pt x="362669" y="313569"/>
                </a:cubicBezTo>
                <a:cubicBezTo>
                  <a:pt x="363560" y="312932"/>
                  <a:pt x="364833" y="312677"/>
                  <a:pt x="363943" y="311274"/>
                </a:cubicBezTo>
                <a:cubicBezTo>
                  <a:pt x="363432" y="310383"/>
                  <a:pt x="362414" y="310637"/>
                  <a:pt x="361650" y="311019"/>
                </a:cubicBezTo>
                <a:cubicBezTo>
                  <a:pt x="357957" y="312550"/>
                  <a:pt x="357193" y="313569"/>
                  <a:pt x="359231" y="317265"/>
                </a:cubicBezTo>
                <a:cubicBezTo>
                  <a:pt x="361650" y="321471"/>
                  <a:pt x="360376" y="324912"/>
                  <a:pt x="358211" y="328226"/>
                </a:cubicBezTo>
                <a:cubicBezTo>
                  <a:pt x="353882" y="334980"/>
                  <a:pt x="349298" y="341608"/>
                  <a:pt x="344714" y="348364"/>
                </a:cubicBezTo>
                <a:cubicBezTo>
                  <a:pt x="344077" y="349255"/>
                  <a:pt x="343440" y="350785"/>
                  <a:pt x="342676" y="350912"/>
                </a:cubicBezTo>
                <a:cubicBezTo>
                  <a:pt x="339875" y="351422"/>
                  <a:pt x="338728" y="352952"/>
                  <a:pt x="339110" y="355628"/>
                </a:cubicBezTo>
                <a:cubicBezTo>
                  <a:pt x="339493" y="358305"/>
                  <a:pt x="337710" y="359834"/>
                  <a:pt x="336182" y="361492"/>
                </a:cubicBezTo>
                <a:cubicBezTo>
                  <a:pt x="335290" y="362510"/>
                  <a:pt x="334272" y="364040"/>
                  <a:pt x="332871" y="362892"/>
                </a:cubicBezTo>
                <a:cubicBezTo>
                  <a:pt x="331088" y="361492"/>
                  <a:pt x="332871" y="360726"/>
                  <a:pt x="333889" y="359834"/>
                </a:cubicBezTo>
                <a:cubicBezTo>
                  <a:pt x="335926" y="358305"/>
                  <a:pt x="338219" y="356903"/>
                  <a:pt x="335926" y="353717"/>
                </a:cubicBezTo>
                <a:cubicBezTo>
                  <a:pt x="334399" y="351550"/>
                  <a:pt x="338856" y="350020"/>
                  <a:pt x="336818" y="347471"/>
                </a:cubicBezTo>
                <a:cubicBezTo>
                  <a:pt x="332489" y="348235"/>
                  <a:pt x="332362" y="348108"/>
                  <a:pt x="330834" y="352188"/>
                </a:cubicBezTo>
                <a:cubicBezTo>
                  <a:pt x="329433" y="356138"/>
                  <a:pt x="326758" y="358050"/>
                  <a:pt x="322556" y="358559"/>
                </a:cubicBezTo>
                <a:cubicBezTo>
                  <a:pt x="322811" y="359070"/>
                  <a:pt x="322938" y="359579"/>
                  <a:pt x="323320" y="359707"/>
                </a:cubicBezTo>
                <a:cubicBezTo>
                  <a:pt x="333762" y="363530"/>
                  <a:pt x="334908" y="369010"/>
                  <a:pt x="326249" y="375511"/>
                </a:cubicBezTo>
                <a:cubicBezTo>
                  <a:pt x="323065" y="377932"/>
                  <a:pt x="321793" y="381118"/>
                  <a:pt x="320519" y="384178"/>
                </a:cubicBezTo>
                <a:cubicBezTo>
                  <a:pt x="317590" y="391697"/>
                  <a:pt x="311732" y="397050"/>
                  <a:pt x="307785" y="403805"/>
                </a:cubicBezTo>
                <a:cubicBezTo>
                  <a:pt x="304474" y="400746"/>
                  <a:pt x="310331" y="397177"/>
                  <a:pt x="305874" y="395011"/>
                </a:cubicBezTo>
                <a:cubicBezTo>
                  <a:pt x="301799" y="397050"/>
                  <a:pt x="304983" y="402659"/>
                  <a:pt x="300907" y="404697"/>
                </a:cubicBezTo>
                <a:cubicBezTo>
                  <a:pt x="300398" y="404952"/>
                  <a:pt x="300907" y="405461"/>
                  <a:pt x="300907" y="406099"/>
                </a:cubicBezTo>
                <a:cubicBezTo>
                  <a:pt x="302181" y="411834"/>
                  <a:pt x="302181" y="411834"/>
                  <a:pt x="297725" y="413746"/>
                </a:cubicBezTo>
                <a:cubicBezTo>
                  <a:pt x="295050" y="414894"/>
                  <a:pt x="294414" y="414511"/>
                  <a:pt x="294923" y="411325"/>
                </a:cubicBezTo>
                <a:cubicBezTo>
                  <a:pt x="295177" y="410050"/>
                  <a:pt x="294923" y="409285"/>
                  <a:pt x="293905" y="408139"/>
                </a:cubicBezTo>
                <a:cubicBezTo>
                  <a:pt x="291866" y="410688"/>
                  <a:pt x="289829" y="413236"/>
                  <a:pt x="287919" y="415658"/>
                </a:cubicBezTo>
                <a:cubicBezTo>
                  <a:pt x="287919" y="417825"/>
                  <a:pt x="289829" y="418334"/>
                  <a:pt x="290975" y="419482"/>
                </a:cubicBezTo>
                <a:cubicBezTo>
                  <a:pt x="293395" y="421649"/>
                  <a:pt x="293140" y="423560"/>
                  <a:pt x="290594" y="425727"/>
                </a:cubicBezTo>
                <a:cubicBezTo>
                  <a:pt x="289193" y="426874"/>
                  <a:pt x="288174" y="426620"/>
                  <a:pt x="287028" y="425345"/>
                </a:cubicBezTo>
                <a:cubicBezTo>
                  <a:pt x="285882" y="424198"/>
                  <a:pt x="286264" y="421776"/>
                  <a:pt x="283080" y="421903"/>
                </a:cubicBezTo>
                <a:cubicBezTo>
                  <a:pt x="283844" y="425218"/>
                  <a:pt x="284481" y="428531"/>
                  <a:pt x="284991" y="431717"/>
                </a:cubicBezTo>
                <a:cubicBezTo>
                  <a:pt x="285500" y="435413"/>
                  <a:pt x="285627" y="438344"/>
                  <a:pt x="283334" y="441148"/>
                </a:cubicBezTo>
                <a:cubicBezTo>
                  <a:pt x="280109" y="438514"/>
                  <a:pt x="277222" y="438005"/>
                  <a:pt x="274676" y="439619"/>
                </a:cubicBezTo>
                <a:cubicBezTo>
                  <a:pt x="272256" y="436560"/>
                  <a:pt x="275822" y="433120"/>
                  <a:pt x="274166" y="430060"/>
                </a:cubicBezTo>
                <a:cubicBezTo>
                  <a:pt x="272893" y="427638"/>
                  <a:pt x="269837" y="427384"/>
                  <a:pt x="268309" y="425345"/>
                </a:cubicBezTo>
                <a:cubicBezTo>
                  <a:pt x="266144" y="428149"/>
                  <a:pt x="265507" y="431207"/>
                  <a:pt x="265252" y="434649"/>
                </a:cubicBezTo>
                <a:cubicBezTo>
                  <a:pt x="265252" y="436306"/>
                  <a:pt x="264107" y="437453"/>
                  <a:pt x="261941" y="435413"/>
                </a:cubicBezTo>
                <a:cubicBezTo>
                  <a:pt x="259777" y="433502"/>
                  <a:pt x="258886" y="438344"/>
                  <a:pt x="256466" y="437453"/>
                </a:cubicBezTo>
                <a:cubicBezTo>
                  <a:pt x="256466" y="439109"/>
                  <a:pt x="257994" y="438344"/>
                  <a:pt x="258757" y="438855"/>
                </a:cubicBezTo>
                <a:cubicBezTo>
                  <a:pt x="261050" y="440257"/>
                  <a:pt x="261050" y="441786"/>
                  <a:pt x="259267" y="443570"/>
                </a:cubicBezTo>
                <a:cubicBezTo>
                  <a:pt x="258886" y="443953"/>
                  <a:pt x="257485" y="443826"/>
                  <a:pt x="258121" y="444972"/>
                </a:cubicBezTo>
                <a:cubicBezTo>
                  <a:pt x="258248" y="445228"/>
                  <a:pt x="259140" y="445228"/>
                  <a:pt x="259649" y="445228"/>
                </a:cubicBezTo>
                <a:cubicBezTo>
                  <a:pt x="261305" y="445355"/>
                  <a:pt x="262324" y="444335"/>
                  <a:pt x="262960" y="443060"/>
                </a:cubicBezTo>
                <a:cubicBezTo>
                  <a:pt x="264489" y="440002"/>
                  <a:pt x="266908" y="437071"/>
                  <a:pt x="267927" y="436560"/>
                </a:cubicBezTo>
                <a:cubicBezTo>
                  <a:pt x="269455" y="435668"/>
                  <a:pt x="270728" y="435795"/>
                  <a:pt x="271492" y="437325"/>
                </a:cubicBezTo>
                <a:cubicBezTo>
                  <a:pt x="272383" y="439109"/>
                  <a:pt x="273275" y="441148"/>
                  <a:pt x="270219" y="442041"/>
                </a:cubicBezTo>
                <a:cubicBezTo>
                  <a:pt x="269455" y="442295"/>
                  <a:pt x="268563" y="442551"/>
                  <a:pt x="267927" y="442933"/>
                </a:cubicBezTo>
                <a:cubicBezTo>
                  <a:pt x="267672" y="443188"/>
                  <a:pt x="267545" y="443953"/>
                  <a:pt x="267672" y="444335"/>
                </a:cubicBezTo>
                <a:cubicBezTo>
                  <a:pt x="267927" y="444717"/>
                  <a:pt x="268690" y="445228"/>
                  <a:pt x="268945" y="445099"/>
                </a:cubicBezTo>
                <a:cubicBezTo>
                  <a:pt x="271492" y="444208"/>
                  <a:pt x="274039" y="443060"/>
                  <a:pt x="276713" y="442041"/>
                </a:cubicBezTo>
                <a:cubicBezTo>
                  <a:pt x="277604" y="441659"/>
                  <a:pt x="278369" y="442424"/>
                  <a:pt x="278751" y="443188"/>
                </a:cubicBezTo>
                <a:cubicBezTo>
                  <a:pt x="279005" y="443570"/>
                  <a:pt x="278751" y="444717"/>
                  <a:pt x="278751" y="444717"/>
                </a:cubicBezTo>
                <a:cubicBezTo>
                  <a:pt x="276203" y="444972"/>
                  <a:pt x="276076" y="449561"/>
                  <a:pt x="272766" y="448031"/>
                </a:cubicBezTo>
                <a:cubicBezTo>
                  <a:pt x="270346" y="446884"/>
                  <a:pt x="268436" y="448541"/>
                  <a:pt x="267800" y="450070"/>
                </a:cubicBezTo>
                <a:cubicBezTo>
                  <a:pt x="266017" y="454403"/>
                  <a:pt x="263469" y="450325"/>
                  <a:pt x="261559" y="451090"/>
                </a:cubicBezTo>
                <a:cubicBezTo>
                  <a:pt x="259140" y="452110"/>
                  <a:pt x="262960" y="455806"/>
                  <a:pt x="258757" y="456698"/>
                </a:cubicBezTo>
                <a:cubicBezTo>
                  <a:pt x="254047" y="457590"/>
                  <a:pt x="253282" y="457845"/>
                  <a:pt x="249972" y="452619"/>
                </a:cubicBezTo>
                <a:cubicBezTo>
                  <a:pt x="247679" y="457463"/>
                  <a:pt x="246278" y="457972"/>
                  <a:pt x="243223" y="454021"/>
                </a:cubicBezTo>
                <a:cubicBezTo>
                  <a:pt x="241694" y="451982"/>
                  <a:pt x="240803" y="450708"/>
                  <a:pt x="238129" y="451982"/>
                </a:cubicBezTo>
                <a:cubicBezTo>
                  <a:pt x="236855" y="452619"/>
                  <a:pt x="236473" y="451345"/>
                  <a:pt x="236219" y="450197"/>
                </a:cubicBezTo>
                <a:cubicBezTo>
                  <a:pt x="235836" y="448541"/>
                  <a:pt x="235200" y="447139"/>
                  <a:pt x="234691" y="445482"/>
                </a:cubicBezTo>
                <a:cubicBezTo>
                  <a:pt x="239530" y="440129"/>
                  <a:pt x="239020" y="434011"/>
                  <a:pt x="237620" y="426747"/>
                </a:cubicBezTo>
                <a:cubicBezTo>
                  <a:pt x="236092" y="429040"/>
                  <a:pt x="235327" y="431080"/>
                  <a:pt x="233290" y="429040"/>
                </a:cubicBezTo>
                <a:cubicBezTo>
                  <a:pt x="232526" y="428276"/>
                  <a:pt x="232399" y="427129"/>
                  <a:pt x="231252" y="426747"/>
                </a:cubicBezTo>
                <a:cubicBezTo>
                  <a:pt x="231252" y="428913"/>
                  <a:pt x="231634" y="430953"/>
                  <a:pt x="230488" y="432991"/>
                </a:cubicBezTo>
                <a:cubicBezTo>
                  <a:pt x="229088" y="435541"/>
                  <a:pt x="229851" y="437325"/>
                  <a:pt x="232653" y="437708"/>
                </a:cubicBezTo>
                <a:cubicBezTo>
                  <a:pt x="234182" y="437835"/>
                  <a:pt x="234436" y="438473"/>
                  <a:pt x="234436" y="439619"/>
                </a:cubicBezTo>
                <a:cubicBezTo>
                  <a:pt x="234436" y="441531"/>
                  <a:pt x="234436" y="443443"/>
                  <a:pt x="234436" y="445355"/>
                </a:cubicBezTo>
                <a:cubicBezTo>
                  <a:pt x="232399" y="444590"/>
                  <a:pt x="231634" y="439875"/>
                  <a:pt x="228069" y="444208"/>
                </a:cubicBezTo>
                <a:cubicBezTo>
                  <a:pt x="225777" y="446884"/>
                  <a:pt x="222466" y="444844"/>
                  <a:pt x="220556" y="439875"/>
                </a:cubicBezTo>
                <a:cubicBezTo>
                  <a:pt x="220047" y="438600"/>
                  <a:pt x="219791" y="436306"/>
                  <a:pt x="218390" y="437197"/>
                </a:cubicBezTo>
                <a:cubicBezTo>
                  <a:pt x="214953" y="439492"/>
                  <a:pt x="214697" y="437197"/>
                  <a:pt x="212787" y="435158"/>
                </a:cubicBezTo>
                <a:cubicBezTo>
                  <a:pt x="210114" y="432100"/>
                  <a:pt x="206548" y="429423"/>
                  <a:pt x="202855" y="427638"/>
                </a:cubicBezTo>
                <a:cubicBezTo>
                  <a:pt x="199799" y="426109"/>
                  <a:pt x="196361" y="425854"/>
                  <a:pt x="196233" y="421267"/>
                </a:cubicBezTo>
                <a:cubicBezTo>
                  <a:pt x="196233" y="419992"/>
                  <a:pt x="195087" y="420884"/>
                  <a:pt x="194451" y="420884"/>
                </a:cubicBezTo>
                <a:cubicBezTo>
                  <a:pt x="190758" y="420756"/>
                  <a:pt x="187701" y="418845"/>
                  <a:pt x="184772" y="416678"/>
                </a:cubicBezTo>
                <a:cubicBezTo>
                  <a:pt x="183244" y="415658"/>
                  <a:pt x="182353" y="414001"/>
                  <a:pt x="183117" y="412217"/>
                </a:cubicBezTo>
                <a:cubicBezTo>
                  <a:pt x="183754" y="410688"/>
                  <a:pt x="185282" y="409541"/>
                  <a:pt x="187065" y="409285"/>
                </a:cubicBezTo>
                <a:cubicBezTo>
                  <a:pt x="189230" y="409030"/>
                  <a:pt x="190120" y="410178"/>
                  <a:pt x="190249" y="412217"/>
                </a:cubicBezTo>
                <a:cubicBezTo>
                  <a:pt x="190249" y="412981"/>
                  <a:pt x="190503" y="413874"/>
                  <a:pt x="192413" y="413874"/>
                </a:cubicBezTo>
                <a:cubicBezTo>
                  <a:pt x="191267" y="411070"/>
                  <a:pt x="193813" y="408266"/>
                  <a:pt x="190758" y="405334"/>
                </a:cubicBezTo>
                <a:cubicBezTo>
                  <a:pt x="187829" y="402530"/>
                  <a:pt x="191776" y="400491"/>
                  <a:pt x="192668" y="398070"/>
                </a:cubicBezTo>
                <a:cubicBezTo>
                  <a:pt x="191394" y="397433"/>
                  <a:pt x="189866" y="396157"/>
                  <a:pt x="188848" y="396540"/>
                </a:cubicBezTo>
                <a:cubicBezTo>
                  <a:pt x="185664" y="397688"/>
                  <a:pt x="184518" y="396541"/>
                  <a:pt x="184645" y="393609"/>
                </a:cubicBezTo>
                <a:cubicBezTo>
                  <a:pt x="184645" y="390933"/>
                  <a:pt x="182480" y="390550"/>
                  <a:pt x="180952" y="389531"/>
                </a:cubicBezTo>
                <a:cubicBezTo>
                  <a:pt x="179551" y="390550"/>
                  <a:pt x="180443" y="391824"/>
                  <a:pt x="181079" y="392206"/>
                </a:cubicBezTo>
                <a:cubicBezTo>
                  <a:pt x="184390" y="394246"/>
                  <a:pt x="181461" y="397688"/>
                  <a:pt x="183371" y="400491"/>
                </a:cubicBezTo>
                <a:cubicBezTo>
                  <a:pt x="185664" y="403677"/>
                  <a:pt x="180952" y="404443"/>
                  <a:pt x="179169" y="406354"/>
                </a:cubicBezTo>
                <a:cubicBezTo>
                  <a:pt x="178279" y="407246"/>
                  <a:pt x="178279" y="408139"/>
                  <a:pt x="178406" y="409285"/>
                </a:cubicBezTo>
                <a:cubicBezTo>
                  <a:pt x="178660" y="411963"/>
                  <a:pt x="176878" y="410688"/>
                  <a:pt x="175986" y="410178"/>
                </a:cubicBezTo>
                <a:cubicBezTo>
                  <a:pt x="173694" y="408648"/>
                  <a:pt x="174076" y="406354"/>
                  <a:pt x="174330" y="404059"/>
                </a:cubicBezTo>
                <a:cubicBezTo>
                  <a:pt x="174586" y="402275"/>
                  <a:pt x="175604" y="400108"/>
                  <a:pt x="172930" y="399090"/>
                </a:cubicBezTo>
                <a:cubicBezTo>
                  <a:pt x="173185" y="401893"/>
                  <a:pt x="172293" y="404442"/>
                  <a:pt x="170510" y="406610"/>
                </a:cubicBezTo>
                <a:cubicBezTo>
                  <a:pt x="170128" y="406610"/>
                  <a:pt x="169874" y="406610"/>
                  <a:pt x="169746" y="406354"/>
                </a:cubicBezTo>
                <a:cubicBezTo>
                  <a:pt x="166563" y="403932"/>
                  <a:pt x="163252" y="401893"/>
                  <a:pt x="160324" y="399217"/>
                </a:cubicBezTo>
                <a:cubicBezTo>
                  <a:pt x="157522" y="396540"/>
                  <a:pt x="160451" y="391824"/>
                  <a:pt x="157649" y="388893"/>
                </a:cubicBezTo>
                <a:cubicBezTo>
                  <a:pt x="161087" y="387618"/>
                  <a:pt x="157649" y="383285"/>
                  <a:pt x="160705" y="381883"/>
                </a:cubicBezTo>
                <a:cubicBezTo>
                  <a:pt x="161724" y="381373"/>
                  <a:pt x="162870" y="380736"/>
                  <a:pt x="161724" y="379334"/>
                </a:cubicBezTo>
                <a:cubicBezTo>
                  <a:pt x="160451" y="380354"/>
                  <a:pt x="158413" y="378060"/>
                  <a:pt x="157649" y="379971"/>
                </a:cubicBezTo>
                <a:cubicBezTo>
                  <a:pt x="157013" y="381373"/>
                  <a:pt x="156121" y="382138"/>
                  <a:pt x="155103" y="383031"/>
                </a:cubicBezTo>
                <a:cubicBezTo>
                  <a:pt x="154083" y="383922"/>
                  <a:pt x="153064" y="378187"/>
                  <a:pt x="152810" y="383031"/>
                </a:cubicBezTo>
                <a:cubicBezTo>
                  <a:pt x="152810" y="385324"/>
                  <a:pt x="153702" y="387236"/>
                  <a:pt x="155866" y="388384"/>
                </a:cubicBezTo>
                <a:cubicBezTo>
                  <a:pt x="153829" y="394119"/>
                  <a:pt x="152937" y="394501"/>
                  <a:pt x="149753" y="390677"/>
                </a:cubicBezTo>
                <a:cubicBezTo>
                  <a:pt x="146698" y="387109"/>
                  <a:pt x="142749" y="384687"/>
                  <a:pt x="139567" y="381246"/>
                </a:cubicBezTo>
                <a:cubicBezTo>
                  <a:pt x="137657" y="379080"/>
                  <a:pt x="137911" y="377422"/>
                  <a:pt x="140840" y="376530"/>
                </a:cubicBezTo>
                <a:cubicBezTo>
                  <a:pt x="142495" y="376020"/>
                  <a:pt x="145170" y="374618"/>
                  <a:pt x="144659" y="374109"/>
                </a:cubicBezTo>
                <a:cubicBezTo>
                  <a:pt x="142495" y="371814"/>
                  <a:pt x="146571" y="367481"/>
                  <a:pt x="141986" y="366461"/>
                </a:cubicBezTo>
                <a:cubicBezTo>
                  <a:pt x="141731" y="368118"/>
                  <a:pt x="138548" y="367991"/>
                  <a:pt x="139821" y="370923"/>
                </a:cubicBezTo>
                <a:cubicBezTo>
                  <a:pt x="141094" y="373727"/>
                  <a:pt x="138166" y="375001"/>
                  <a:pt x="135109" y="376658"/>
                </a:cubicBezTo>
                <a:cubicBezTo>
                  <a:pt x="135618" y="373471"/>
                  <a:pt x="137019" y="371050"/>
                  <a:pt x="133963" y="368374"/>
                </a:cubicBezTo>
                <a:cubicBezTo>
                  <a:pt x="132053" y="366716"/>
                  <a:pt x="132180" y="365059"/>
                  <a:pt x="129761" y="367481"/>
                </a:cubicBezTo>
                <a:cubicBezTo>
                  <a:pt x="127851" y="369393"/>
                  <a:pt x="125686" y="368118"/>
                  <a:pt x="123521" y="366843"/>
                </a:cubicBezTo>
                <a:cubicBezTo>
                  <a:pt x="120847" y="365314"/>
                  <a:pt x="122121" y="363912"/>
                  <a:pt x="122630" y="362001"/>
                </a:cubicBezTo>
                <a:cubicBezTo>
                  <a:pt x="123267" y="359452"/>
                  <a:pt x="121102" y="357412"/>
                  <a:pt x="120465" y="354863"/>
                </a:cubicBezTo>
                <a:cubicBezTo>
                  <a:pt x="113716" y="357030"/>
                  <a:pt x="109259" y="353079"/>
                  <a:pt x="105057" y="349255"/>
                </a:cubicBezTo>
                <a:cubicBezTo>
                  <a:pt x="100345" y="344667"/>
                  <a:pt x="96907" y="339315"/>
                  <a:pt x="98690" y="332049"/>
                </a:cubicBezTo>
                <a:cubicBezTo>
                  <a:pt x="101364" y="331285"/>
                  <a:pt x="104038" y="330520"/>
                  <a:pt x="106840" y="329756"/>
                </a:cubicBezTo>
                <a:cubicBezTo>
                  <a:pt x="105566" y="327461"/>
                  <a:pt x="103911" y="325805"/>
                  <a:pt x="103783" y="323383"/>
                </a:cubicBezTo>
                <a:cubicBezTo>
                  <a:pt x="103783" y="321598"/>
                  <a:pt x="102383" y="320578"/>
                  <a:pt x="100727" y="320069"/>
                </a:cubicBezTo>
                <a:cubicBezTo>
                  <a:pt x="100090" y="315990"/>
                  <a:pt x="98180" y="312804"/>
                  <a:pt x="94233" y="309872"/>
                </a:cubicBezTo>
                <a:cubicBezTo>
                  <a:pt x="93978" y="313314"/>
                  <a:pt x="96525" y="315608"/>
                  <a:pt x="95506" y="318285"/>
                </a:cubicBezTo>
                <a:cubicBezTo>
                  <a:pt x="93978" y="317903"/>
                  <a:pt x="90667" y="320323"/>
                  <a:pt x="91559" y="315863"/>
                </a:cubicBezTo>
                <a:cubicBezTo>
                  <a:pt x="91559" y="315352"/>
                  <a:pt x="91559" y="314588"/>
                  <a:pt x="91559" y="314461"/>
                </a:cubicBezTo>
                <a:cubicBezTo>
                  <a:pt x="90667" y="313952"/>
                  <a:pt x="90158" y="314970"/>
                  <a:pt x="89776" y="315481"/>
                </a:cubicBezTo>
                <a:cubicBezTo>
                  <a:pt x="88884" y="316755"/>
                  <a:pt x="88630" y="318539"/>
                  <a:pt x="89776" y="319432"/>
                </a:cubicBezTo>
                <a:cubicBezTo>
                  <a:pt x="94742" y="323510"/>
                  <a:pt x="89521" y="323127"/>
                  <a:pt x="87611" y="324274"/>
                </a:cubicBezTo>
                <a:cubicBezTo>
                  <a:pt x="88757" y="325040"/>
                  <a:pt x="89776" y="326060"/>
                  <a:pt x="90922" y="326314"/>
                </a:cubicBezTo>
                <a:cubicBezTo>
                  <a:pt x="91813" y="326569"/>
                  <a:pt x="92832" y="325676"/>
                  <a:pt x="93851" y="325294"/>
                </a:cubicBezTo>
                <a:cubicBezTo>
                  <a:pt x="93341" y="322745"/>
                  <a:pt x="95634" y="320961"/>
                  <a:pt x="95634" y="318539"/>
                </a:cubicBezTo>
                <a:cubicBezTo>
                  <a:pt x="97544" y="318157"/>
                  <a:pt x="99072" y="319432"/>
                  <a:pt x="100600" y="320196"/>
                </a:cubicBezTo>
                <a:cubicBezTo>
                  <a:pt x="101109" y="324020"/>
                  <a:pt x="96398" y="324402"/>
                  <a:pt x="95634" y="327334"/>
                </a:cubicBezTo>
                <a:cubicBezTo>
                  <a:pt x="96270" y="328863"/>
                  <a:pt x="94487" y="331285"/>
                  <a:pt x="97289" y="332177"/>
                </a:cubicBezTo>
                <a:cubicBezTo>
                  <a:pt x="96270" y="333833"/>
                  <a:pt x="95888" y="335873"/>
                  <a:pt x="94105" y="337020"/>
                </a:cubicBezTo>
                <a:cubicBezTo>
                  <a:pt x="90412" y="333706"/>
                  <a:pt x="89139" y="328609"/>
                  <a:pt x="84173" y="326187"/>
                </a:cubicBezTo>
                <a:cubicBezTo>
                  <a:pt x="81881" y="325040"/>
                  <a:pt x="80353" y="321216"/>
                  <a:pt x="81881" y="317774"/>
                </a:cubicBezTo>
                <a:cubicBezTo>
                  <a:pt x="82517" y="316245"/>
                  <a:pt x="83409" y="314716"/>
                  <a:pt x="82772" y="312804"/>
                </a:cubicBezTo>
                <a:cubicBezTo>
                  <a:pt x="81371" y="312932"/>
                  <a:pt x="79843" y="313186"/>
                  <a:pt x="78442" y="313314"/>
                </a:cubicBezTo>
                <a:cubicBezTo>
                  <a:pt x="80098" y="310255"/>
                  <a:pt x="83281" y="307196"/>
                  <a:pt x="78697" y="303628"/>
                </a:cubicBezTo>
                <a:cubicBezTo>
                  <a:pt x="78060" y="304519"/>
                  <a:pt x="77424" y="305412"/>
                  <a:pt x="76787" y="306304"/>
                </a:cubicBezTo>
                <a:cubicBezTo>
                  <a:pt x="76405" y="306941"/>
                  <a:pt x="76150" y="308088"/>
                  <a:pt x="75132" y="307450"/>
                </a:cubicBezTo>
                <a:cubicBezTo>
                  <a:pt x="74495" y="307068"/>
                  <a:pt x="73731" y="306177"/>
                  <a:pt x="73858" y="305539"/>
                </a:cubicBezTo>
                <a:cubicBezTo>
                  <a:pt x="73986" y="303500"/>
                  <a:pt x="75896" y="301333"/>
                  <a:pt x="73094" y="299677"/>
                </a:cubicBezTo>
                <a:cubicBezTo>
                  <a:pt x="72457" y="303628"/>
                  <a:pt x="71948" y="307579"/>
                  <a:pt x="71311" y="311530"/>
                </a:cubicBezTo>
                <a:cubicBezTo>
                  <a:pt x="69147" y="308981"/>
                  <a:pt x="67109" y="306432"/>
                  <a:pt x="64562" y="303373"/>
                </a:cubicBezTo>
                <a:cubicBezTo>
                  <a:pt x="68255" y="303882"/>
                  <a:pt x="70293" y="302608"/>
                  <a:pt x="71311" y="299677"/>
                </a:cubicBezTo>
                <a:cubicBezTo>
                  <a:pt x="66218" y="295344"/>
                  <a:pt x="66218" y="294324"/>
                  <a:pt x="71184" y="289353"/>
                </a:cubicBezTo>
                <a:cubicBezTo>
                  <a:pt x="67364" y="289353"/>
                  <a:pt x="67109" y="285402"/>
                  <a:pt x="64689" y="282598"/>
                </a:cubicBezTo>
                <a:cubicBezTo>
                  <a:pt x="65326" y="287313"/>
                  <a:pt x="65836" y="291264"/>
                  <a:pt x="66218" y="295215"/>
                </a:cubicBezTo>
                <a:cubicBezTo>
                  <a:pt x="66218" y="296362"/>
                  <a:pt x="66472" y="297510"/>
                  <a:pt x="66218" y="298529"/>
                </a:cubicBezTo>
                <a:cubicBezTo>
                  <a:pt x="65708" y="299804"/>
                  <a:pt x="64435" y="300951"/>
                  <a:pt x="62907" y="300824"/>
                </a:cubicBezTo>
                <a:cubicBezTo>
                  <a:pt x="61124" y="300568"/>
                  <a:pt x="62907" y="298912"/>
                  <a:pt x="62143" y="298275"/>
                </a:cubicBezTo>
                <a:cubicBezTo>
                  <a:pt x="60997" y="297382"/>
                  <a:pt x="59978" y="296617"/>
                  <a:pt x="60487" y="294961"/>
                </a:cubicBezTo>
                <a:cubicBezTo>
                  <a:pt x="54502" y="293559"/>
                  <a:pt x="54375" y="286804"/>
                  <a:pt x="50173" y="283362"/>
                </a:cubicBezTo>
                <a:cubicBezTo>
                  <a:pt x="46607" y="280431"/>
                  <a:pt x="44570" y="275716"/>
                  <a:pt x="48390" y="270745"/>
                </a:cubicBezTo>
                <a:cubicBezTo>
                  <a:pt x="50045" y="270363"/>
                  <a:pt x="50427" y="272912"/>
                  <a:pt x="52337" y="272912"/>
                </a:cubicBezTo>
                <a:cubicBezTo>
                  <a:pt x="51319" y="267303"/>
                  <a:pt x="52592" y="261568"/>
                  <a:pt x="50809" y="255961"/>
                </a:cubicBezTo>
                <a:cubicBezTo>
                  <a:pt x="50555" y="255323"/>
                  <a:pt x="51191" y="254431"/>
                  <a:pt x="51446" y="253539"/>
                </a:cubicBezTo>
                <a:cubicBezTo>
                  <a:pt x="51701" y="252519"/>
                  <a:pt x="54248" y="253284"/>
                  <a:pt x="53102" y="251626"/>
                </a:cubicBezTo>
                <a:cubicBezTo>
                  <a:pt x="52465" y="250862"/>
                  <a:pt x="50809" y="249588"/>
                  <a:pt x="49409" y="250862"/>
                </a:cubicBezTo>
                <a:cubicBezTo>
                  <a:pt x="47626" y="252264"/>
                  <a:pt x="45206" y="253666"/>
                  <a:pt x="46352" y="256343"/>
                </a:cubicBezTo>
                <a:cubicBezTo>
                  <a:pt x="47626" y="259401"/>
                  <a:pt x="46734" y="261186"/>
                  <a:pt x="44187" y="262715"/>
                </a:cubicBezTo>
                <a:cubicBezTo>
                  <a:pt x="41386" y="264245"/>
                  <a:pt x="43551" y="267559"/>
                  <a:pt x="41386" y="269725"/>
                </a:cubicBezTo>
                <a:cubicBezTo>
                  <a:pt x="37438" y="266666"/>
                  <a:pt x="36674" y="261696"/>
                  <a:pt x="34255" y="257744"/>
                </a:cubicBezTo>
                <a:cubicBezTo>
                  <a:pt x="37184" y="253157"/>
                  <a:pt x="30817" y="255833"/>
                  <a:pt x="31453" y="254177"/>
                </a:cubicBezTo>
                <a:cubicBezTo>
                  <a:pt x="32727" y="250735"/>
                  <a:pt x="29416" y="247804"/>
                  <a:pt x="30562" y="244489"/>
                </a:cubicBezTo>
                <a:cubicBezTo>
                  <a:pt x="28270" y="243342"/>
                  <a:pt x="27506" y="240284"/>
                  <a:pt x="24450" y="240284"/>
                </a:cubicBezTo>
                <a:cubicBezTo>
                  <a:pt x="26487" y="236842"/>
                  <a:pt x="21521" y="236969"/>
                  <a:pt x="21521" y="234676"/>
                </a:cubicBezTo>
                <a:cubicBezTo>
                  <a:pt x="23813" y="232891"/>
                  <a:pt x="25723" y="236078"/>
                  <a:pt x="28015" y="235185"/>
                </a:cubicBezTo>
                <a:cubicBezTo>
                  <a:pt x="29628" y="230682"/>
                  <a:pt x="28185" y="226477"/>
                  <a:pt x="23686" y="222567"/>
                </a:cubicBezTo>
                <a:cubicBezTo>
                  <a:pt x="22157" y="223714"/>
                  <a:pt x="24704" y="225245"/>
                  <a:pt x="23176" y="226518"/>
                </a:cubicBezTo>
                <a:cubicBezTo>
                  <a:pt x="21903" y="227283"/>
                  <a:pt x="21393" y="226009"/>
                  <a:pt x="20884" y="225245"/>
                </a:cubicBezTo>
                <a:cubicBezTo>
                  <a:pt x="19356" y="222950"/>
                  <a:pt x="19611" y="219126"/>
                  <a:pt x="15408" y="219636"/>
                </a:cubicBezTo>
                <a:cubicBezTo>
                  <a:pt x="12862" y="214283"/>
                  <a:pt x="9169" y="209057"/>
                  <a:pt x="10569" y="203068"/>
                </a:cubicBezTo>
                <a:cubicBezTo>
                  <a:pt x="11461" y="199117"/>
                  <a:pt x="12607" y="196185"/>
                  <a:pt x="8532" y="193764"/>
                </a:cubicBezTo>
                <a:cubicBezTo>
                  <a:pt x="9169" y="189813"/>
                  <a:pt x="6494" y="187773"/>
                  <a:pt x="3438" y="186371"/>
                </a:cubicBezTo>
                <a:cubicBezTo>
                  <a:pt x="4966" y="183567"/>
                  <a:pt x="6240" y="181656"/>
                  <a:pt x="8659" y="181145"/>
                </a:cubicBezTo>
                <a:cubicBezTo>
                  <a:pt x="10569" y="180763"/>
                  <a:pt x="11843" y="179998"/>
                  <a:pt x="11716" y="177959"/>
                </a:cubicBezTo>
                <a:cubicBezTo>
                  <a:pt x="11716" y="176047"/>
                  <a:pt x="15281" y="176430"/>
                  <a:pt x="14135" y="174390"/>
                </a:cubicBezTo>
                <a:cubicBezTo>
                  <a:pt x="13116" y="172606"/>
                  <a:pt x="11334" y="173243"/>
                  <a:pt x="9678" y="174136"/>
                </a:cubicBezTo>
                <a:cubicBezTo>
                  <a:pt x="7895" y="175028"/>
                  <a:pt x="6876" y="173754"/>
                  <a:pt x="7004" y="172096"/>
                </a:cubicBezTo>
                <a:cubicBezTo>
                  <a:pt x="7386" y="169292"/>
                  <a:pt x="7895" y="166870"/>
                  <a:pt x="6877" y="163939"/>
                </a:cubicBezTo>
                <a:cubicBezTo>
                  <a:pt x="5730" y="160626"/>
                  <a:pt x="9423" y="161008"/>
                  <a:pt x="11333" y="159733"/>
                </a:cubicBezTo>
                <a:cubicBezTo>
                  <a:pt x="7768" y="156420"/>
                  <a:pt x="5476" y="153106"/>
                  <a:pt x="7895" y="147753"/>
                </a:cubicBezTo>
                <a:cubicBezTo>
                  <a:pt x="9169" y="144949"/>
                  <a:pt x="7004" y="141762"/>
                  <a:pt x="5603" y="139087"/>
                </a:cubicBezTo>
                <a:cubicBezTo>
                  <a:pt x="5348" y="138704"/>
                  <a:pt x="3948" y="138576"/>
                  <a:pt x="3311" y="138831"/>
                </a:cubicBezTo>
                <a:cubicBezTo>
                  <a:pt x="2038" y="139087"/>
                  <a:pt x="2674" y="140106"/>
                  <a:pt x="3056" y="140743"/>
                </a:cubicBezTo>
                <a:cubicBezTo>
                  <a:pt x="3693" y="142018"/>
                  <a:pt x="3438" y="143165"/>
                  <a:pt x="2292" y="143420"/>
                </a:cubicBezTo>
                <a:cubicBezTo>
                  <a:pt x="1146" y="143675"/>
                  <a:pt x="255" y="142527"/>
                  <a:pt x="255" y="141253"/>
                </a:cubicBezTo>
                <a:cubicBezTo>
                  <a:pt x="255" y="138194"/>
                  <a:pt x="-509" y="135007"/>
                  <a:pt x="4202" y="134243"/>
                </a:cubicBezTo>
                <a:cubicBezTo>
                  <a:pt x="6367" y="133861"/>
                  <a:pt x="9423" y="132331"/>
                  <a:pt x="10187" y="130547"/>
                </a:cubicBezTo>
                <a:cubicBezTo>
                  <a:pt x="11588" y="127488"/>
                  <a:pt x="12352" y="123792"/>
                  <a:pt x="11333" y="120096"/>
                </a:cubicBezTo>
                <a:cubicBezTo>
                  <a:pt x="10442" y="116910"/>
                  <a:pt x="10569" y="116782"/>
                  <a:pt x="14135" y="115125"/>
                </a:cubicBezTo>
                <a:cubicBezTo>
                  <a:pt x="15663" y="114488"/>
                  <a:pt x="15154" y="113341"/>
                  <a:pt x="15026" y="112576"/>
                </a:cubicBezTo>
                <a:cubicBezTo>
                  <a:pt x="14517" y="110155"/>
                  <a:pt x="13116" y="107860"/>
                  <a:pt x="13753" y="105184"/>
                </a:cubicBezTo>
                <a:cubicBezTo>
                  <a:pt x="14135" y="103272"/>
                  <a:pt x="14772" y="101870"/>
                  <a:pt x="17064" y="103272"/>
                </a:cubicBezTo>
                <a:cubicBezTo>
                  <a:pt x="18083" y="103909"/>
                  <a:pt x="19101" y="104419"/>
                  <a:pt x="20120" y="103527"/>
                </a:cubicBezTo>
                <a:cubicBezTo>
                  <a:pt x="21011" y="102762"/>
                  <a:pt x="22030" y="101998"/>
                  <a:pt x="21775" y="100723"/>
                </a:cubicBezTo>
                <a:cubicBezTo>
                  <a:pt x="21266" y="98939"/>
                  <a:pt x="19993" y="100468"/>
                  <a:pt x="19101" y="100341"/>
                </a:cubicBezTo>
                <a:cubicBezTo>
                  <a:pt x="18210" y="100213"/>
                  <a:pt x="17573" y="99831"/>
                  <a:pt x="17191" y="98939"/>
                </a:cubicBezTo>
                <a:cubicBezTo>
                  <a:pt x="13244" y="98556"/>
                  <a:pt x="12607" y="100978"/>
                  <a:pt x="12352" y="104292"/>
                </a:cubicBezTo>
                <a:cubicBezTo>
                  <a:pt x="11843" y="110537"/>
                  <a:pt x="11715" y="110537"/>
                  <a:pt x="4839" y="110664"/>
                </a:cubicBezTo>
                <a:cubicBezTo>
                  <a:pt x="4202" y="109007"/>
                  <a:pt x="5730" y="108753"/>
                  <a:pt x="6495" y="108498"/>
                </a:cubicBezTo>
                <a:cubicBezTo>
                  <a:pt x="10442" y="107223"/>
                  <a:pt x="10951" y="104547"/>
                  <a:pt x="9551" y="101105"/>
                </a:cubicBezTo>
                <a:cubicBezTo>
                  <a:pt x="6367" y="93586"/>
                  <a:pt x="11843" y="88233"/>
                  <a:pt x="14262" y="82243"/>
                </a:cubicBezTo>
                <a:cubicBezTo>
                  <a:pt x="14644" y="81350"/>
                  <a:pt x="15790" y="81605"/>
                  <a:pt x="16427" y="82243"/>
                </a:cubicBezTo>
                <a:cubicBezTo>
                  <a:pt x="16809" y="82625"/>
                  <a:pt x="17064" y="83262"/>
                  <a:pt x="16936" y="83644"/>
                </a:cubicBezTo>
                <a:cubicBezTo>
                  <a:pt x="16427" y="86066"/>
                  <a:pt x="13244" y="87341"/>
                  <a:pt x="13753" y="90272"/>
                </a:cubicBezTo>
                <a:cubicBezTo>
                  <a:pt x="11588" y="91801"/>
                  <a:pt x="12734" y="94733"/>
                  <a:pt x="10824" y="96772"/>
                </a:cubicBezTo>
                <a:cubicBezTo>
                  <a:pt x="12098" y="97027"/>
                  <a:pt x="12862" y="97282"/>
                  <a:pt x="13626" y="97154"/>
                </a:cubicBezTo>
                <a:cubicBezTo>
                  <a:pt x="14772" y="97154"/>
                  <a:pt x="15790" y="96772"/>
                  <a:pt x="16809" y="96517"/>
                </a:cubicBezTo>
                <a:cubicBezTo>
                  <a:pt x="15536" y="94478"/>
                  <a:pt x="13626" y="92821"/>
                  <a:pt x="13753" y="90272"/>
                </a:cubicBezTo>
                <a:cubicBezTo>
                  <a:pt x="19611" y="90272"/>
                  <a:pt x="19611" y="85301"/>
                  <a:pt x="20502" y="81478"/>
                </a:cubicBezTo>
                <a:cubicBezTo>
                  <a:pt x="21011" y="79056"/>
                  <a:pt x="20502" y="76507"/>
                  <a:pt x="20502" y="74340"/>
                </a:cubicBezTo>
                <a:cubicBezTo>
                  <a:pt x="22285" y="73321"/>
                  <a:pt x="23686" y="75360"/>
                  <a:pt x="24832" y="74086"/>
                </a:cubicBezTo>
                <a:cubicBezTo>
                  <a:pt x="25850" y="72811"/>
                  <a:pt x="24577" y="72174"/>
                  <a:pt x="23686" y="71664"/>
                </a:cubicBezTo>
                <a:cubicBezTo>
                  <a:pt x="22539" y="71027"/>
                  <a:pt x="21903" y="69625"/>
                  <a:pt x="22921" y="68988"/>
                </a:cubicBezTo>
                <a:cubicBezTo>
                  <a:pt x="25723" y="67076"/>
                  <a:pt x="26105" y="64399"/>
                  <a:pt x="26615" y="61213"/>
                </a:cubicBezTo>
                <a:cubicBezTo>
                  <a:pt x="26997" y="59301"/>
                  <a:pt x="29161" y="57644"/>
                  <a:pt x="31326" y="54968"/>
                </a:cubicBezTo>
                <a:cubicBezTo>
                  <a:pt x="32600" y="58664"/>
                  <a:pt x="33109" y="60703"/>
                  <a:pt x="33364" y="63125"/>
                </a:cubicBezTo>
                <a:cubicBezTo>
                  <a:pt x="33618" y="65291"/>
                  <a:pt x="34128" y="68223"/>
                  <a:pt x="37566" y="67968"/>
                </a:cubicBezTo>
                <a:cubicBezTo>
                  <a:pt x="37439" y="66056"/>
                  <a:pt x="38203" y="64144"/>
                  <a:pt x="37184" y="62233"/>
                </a:cubicBezTo>
                <a:cubicBezTo>
                  <a:pt x="36929" y="61723"/>
                  <a:pt x="36165" y="61085"/>
                  <a:pt x="36292" y="60831"/>
                </a:cubicBezTo>
                <a:cubicBezTo>
                  <a:pt x="38330" y="57134"/>
                  <a:pt x="40240" y="53566"/>
                  <a:pt x="36929" y="49360"/>
                </a:cubicBezTo>
                <a:cubicBezTo>
                  <a:pt x="36674" y="49105"/>
                  <a:pt x="39476" y="45919"/>
                  <a:pt x="41259" y="44517"/>
                </a:cubicBezTo>
                <a:cubicBezTo>
                  <a:pt x="43551" y="42605"/>
                  <a:pt x="46225" y="41075"/>
                  <a:pt x="46862" y="37252"/>
                </a:cubicBezTo>
                <a:cubicBezTo>
                  <a:pt x="49281" y="40183"/>
                  <a:pt x="50427" y="43752"/>
                  <a:pt x="50682" y="46173"/>
                </a:cubicBezTo>
                <a:cubicBezTo>
                  <a:pt x="50937" y="48722"/>
                  <a:pt x="47499" y="51781"/>
                  <a:pt x="45334" y="55095"/>
                </a:cubicBezTo>
                <a:cubicBezTo>
                  <a:pt x="48135" y="56115"/>
                  <a:pt x="48008" y="60066"/>
                  <a:pt x="51191" y="60958"/>
                </a:cubicBezTo>
                <a:cubicBezTo>
                  <a:pt x="51191" y="60193"/>
                  <a:pt x="51191" y="59429"/>
                  <a:pt x="51191" y="58664"/>
                </a:cubicBezTo>
                <a:cubicBezTo>
                  <a:pt x="50682" y="56370"/>
                  <a:pt x="48645" y="54458"/>
                  <a:pt x="50682" y="51526"/>
                </a:cubicBezTo>
                <a:cubicBezTo>
                  <a:pt x="52210" y="49232"/>
                  <a:pt x="53738" y="47830"/>
                  <a:pt x="56412" y="47066"/>
                </a:cubicBezTo>
                <a:cubicBezTo>
                  <a:pt x="59978" y="46174"/>
                  <a:pt x="62907" y="43242"/>
                  <a:pt x="62652" y="39928"/>
                </a:cubicBezTo>
                <a:cubicBezTo>
                  <a:pt x="62398" y="37252"/>
                  <a:pt x="62397" y="32918"/>
                  <a:pt x="57940" y="31899"/>
                </a:cubicBezTo>
                <a:cubicBezTo>
                  <a:pt x="57049" y="31644"/>
                  <a:pt x="56158" y="30369"/>
                  <a:pt x="57304" y="29222"/>
                </a:cubicBezTo>
                <a:cubicBezTo>
                  <a:pt x="58577" y="27948"/>
                  <a:pt x="61124" y="29222"/>
                  <a:pt x="62015" y="26291"/>
                </a:cubicBezTo>
                <a:cubicBezTo>
                  <a:pt x="62525" y="24634"/>
                  <a:pt x="64562" y="23359"/>
                  <a:pt x="65836" y="21958"/>
                </a:cubicBezTo>
                <a:cubicBezTo>
                  <a:pt x="67746" y="23359"/>
                  <a:pt x="65581" y="25144"/>
                  <a:pt x="66345" y="25781"/>
                </a:cubicBezTo>
                <a:cubicBezTo>
                  <a:pt x="68383" y="27565"/>
                  <a:pt x="68128" y="24761"/>
                  <a:pt x="69019" y="24124"/>
                </a:cubicBezTo>
                <a:cubicBezTo>
                  <a:pt x="71439" y="22212"/>
                  <a:pt x="70802" y="17879"/>
                  <a:pt x="74495" y="16987"/>
                </a:cubicBezTo>
                <a:cubicBezTo>
                  <a:pt x="76532" y="16477"/>
                  <a:pt x="76914" y="16987"/>
                  <a:pt x="76150" y="18899"/>
                </a:cubicBezTo>
                <a:cubicBezTo>
                  <a:pt x="74622" y="22595"/>
                  <a:pt x="78570" y="20810"/>
                  <a:pt x="79843" y="22467"/>
                </a:cubicBezTo>
                <a:cubicBezTo>
                  <a:pt x="78060" y="24889"/>
                  <a:pt x="75132" y="27183"/>
                  <a:pt x="75768" y="30879"/>
                </a:cubicBezTo>
                <a:cubicBezTo>
                  <a:pt x="75768" y="31644"/>
                  <a:pt x="76405" y="32664"/>
                  <a:pt x="76914" y="32918"/>
                </a:cubicBezTo>
                <a:cubicBezTo>
                  <a:pt x="78188" y="33428"/>
                  <a:pt x="79461" y="32281"/>
                  <a:pt x="79461" y="31389"/>
                </a:cubicBezTo>
                <a:cubicBezTo>
                  <a:pt x="79716" y="27310"/>
                  <a:pt x="81371" y="23997"/>
                  <a:pt x="84427" y="21448"/>
                </a:cubicBezTo>
                <a:cubicBezTo>
                  <a:pt x="85956" y="20173"/>
                  <a:pt x="84173" y="19663"/>
                  <a:pt x="83663" y="18899"/>
                </a:cubicBezTo>
                <a:cubicBezTo>
                  <a:pt x="81371" y="14948"/>
                  <a:pt x="81371" y="14948"/>
                  <a:pt x="86338" y="11634"/>
                </a:cubicBezTo>
                <a:cubicBezTo>
                  <a:pt x="87484" y="13418"/>
                  <a:pt x="84045" y="15967"/>
                  <a:pt x="87738" y="17497"/>
                </a:cubicBezTo>
                <a:cubicBezTo>
                  <a:pt x="90158" y="15712"/>
                  <a:pt x="90412" y="12653"/>
                  <a:pt x="91559" y="10104"/>
                </a:cubicBezTo>
                <a:cubicBezTo>
                  <a:pt x="94360" y="13163"/>
                  <a:pt x="97798" y="15840"/>
                  <a:pt x="95761" y="20938"/>
                </a:cubicBezTo>
                <a:cubicBezTo>
                  <a:pt x="99836" y="20428"/>
                  <a:pt x="101364" y="19154"/>
                  <a:pt x="99581" y="15840"/>
                </a:cubicBezTo>
                <a:cubicBezTo>
                  <a:pt x="98562" y="13928"/>
                  <a:pt x="97544" y="11889"/>
                  <a:pt x="96270" y="9595"/>
                </a:cubicBezTo>
                <a:cubicBezTo>
                  <a:pt x="98308" y="7428"/>
                  <a:pt x="101619" y="7300"/>
                  <a:pt x="103019" y="8575"/>
                </a:cubicBezTo>
                <a:cubicBezTo>
                  <a:pt x="104548" y="9849"/>
                  <a:pt x="104675" y="12908"/>
                  <a:pt x="106967" y="14438"/>
                </a:cubicBezTo>
                <a:cubicBezTo>
                  <a:pt x="108877" y="12526"/>
                  <a:pt x="108750" y="8447"/>
                  <a:pt x="113207" y="8702"/>
                </a:cubicBezTo>
                <a:cubicBezTo>
                  <a:pt x="115117" y="8702"/>
                  <a:pt x="116390" y="8320"/>
                  <a:pt x="116772" y="10487"/>
                </a:cubicBezTo>
                <a:cubicBezTo>
                  <a:pt x="117409" y="14055"/>
                  <a:pt x="118173" y="10869"/>
                  <a:pt x="118810" y="10487"/>
                </a:cubicBezTo>
                <a:cubicBezTo>
                  <a:pt x="119574" y="10104"/>
                  <a:pt x="120338" y="9849"/>
                  <a:pt x="121102" y="10487"/>
                </a:cubicBezTo>
                <a:cubicBezTo>
                  <a:pt x="122248" y="11379"/>
                  <a:pt x="122121" y="12526"/>
                  <a:pt x="121484" y="13418"/>
                </a:cubicBezTo>
                <a:cubicBezTo>
                  <a:pt x="120847" y="14310"/>
                  <a:pt x="119701" y="14820"/>
                  <a:pt x="118937" y="15712"/>
                </a:cubicBezTo>
                <a:cubicBezTo>
                  <a:pt x="118300" y="16349"/>
                  <a:pt x="118555" y="17624"/>
                  <a:pt x="119446" y="17497"/>
                </a:cubicBezTo>
                <a:cubicBezTo>
                  <a:pt x="125813" y="17369"/>
                  <a:pt x="122375" y="23614"/>
                  <a:pt x="124922" y="26164"/>
                </a:cubicBezTo>
                <a:cubicBezTo>
                  <a:pt x="126578" y="27820"/>
                  <a:pt x="123776" y="31007"/>
                  <a:pt x="124540" y="33683"/>
                </a:cubicBezTo>
                <a:cubicBezTo>
                  <a:pt x="124540" y="33811"/>
                  <a:pt x="123649" y="34448"/>
                  <a:pt x="123139" y="34575"/>
                </a:cubicBezTo>
                <a:cubicBezTo>
                  <a:pt x="121866" y="34958"/>
                  <a:pt x="122121" y="33811"/>
                  <a:pt x="121739" y="33173"/>
                </a:cubicBezTo>
                <a:cubicBezTo>
                  <a:pt x="121357" y="32409"/>
                  <a:pt x="122375" y="30497"/>
                  <a:pt x="120338" y="31007"/>
                </a:cubicBezTo>
                <a:cubicBezTo>
                  <a:pt x="119319" y="31261"/>
                  <a:pt x="118682" y="32536"/>
                  <a:pt x="119319" y="33810"/>
                </a:cubicBezTo>
                <a:cubicBezTo>
                  <a:pt x="120338" y="35850"/>
                  <a:pt x="121229" y="37762"/>
                  <a:pt x="122375" y="39928"/>
                </a:cubicBezTo>
                <a:cubicBezTo>
                  <a:pt x="124158" y="36997"/>
                  <a:pt x="126577" y="35340"/>
                  <a:pt x="128742" y="38144"/>
                </a:cubicBezTo>
                <a:cubicBezTo>
                  <a:pt x="130780" y="40821"/>
                  <a:pt x="134090" y="42987"/>
                  <a:pt x="133836" y="47066"/>
                </a:cubicBezTo>
                <a:cubicBezTo>
                  <a:pt x="135746" y="45281"/>
                  <a:pt x="137528" y="44389"/>
                  <a:pt x="134346" y="41075"/>
                </a:cubicBezTo>
                <a:cubicBezTo>
                  <a:pt x="130397" y="36997"/>
                  <a:pt x="127469" y="31516"/>
                  <a:pt x="128487" y="25016"/>
                </a:cubicBezTo>
                <a:cubicBezTo>
                  <a:pt x="128615" y="23869"/>
                  <a:pt x="128615" y="22085"/>
                  <a:pt x="129507" y="22085"/>
                </a:cubicBezTo>
                <a:cubicBezTo>
                  <a:pt x="134728" y="21830"/>
                  <a:pt x="131035" y="18006"/>
                  <a:pt x="132180" y="15585"/>
                </a:cubicBezTo>
                <a:cubicBezTo>
                  <a:pt x="136127" y="15585"/>
                  <a:pt x="138420" y="18134"/>
                  <a:pt x="140458" y="20810"/>
                </a:cubicBezTo>
                <a:cubicBezTo>
                  <a:pt x="140203" y="23105"/>
                  <a:pt x="138293" y="23614"/>
                  <a:pt x="137147" y="24761"/>
                </a:cubicBezTo>
                <a:cubicBezTo>
                  <a:pt x="136000" y="25909"/>
                  <a:pt x="135364" y="33811"/>
                  <a:pt x="136383" y="34703"/>
                </a:cubicBezTo>
                <a:cubicBezTo>
                  <a:pt x="137274" y="35595"/>
                  <a:pt x="138675" y="35467"/>
                  <a:pt x="139440" y="34703"/>
                </a:cubicBezTo>
                <a:cubicBezTo>
                  <a:pt x="142751" y="31771"/>
                  <a:pt x="146315" y="29095"/>
                  <a:pt x="148608" y="25653"/>
                </a:cubicBezTo>
                <a:cubicBezTo>
                  <a:pt x="150773" y="25653"/>
                  <a:pt x="151663" y="26928"/>
                  <a:pt x="152682" y="27820"/>
                </a:cubicBezTo>
                <a:cubicBezTo>
                  <a:pt x="153829" y="28840"/>
                  <a:pt x="156375" y="28840"/>
                  <a:pt x="155612" y="31261"/>
                </a:cubicBezTo>
                <a:cubicBezTo>
                  <a:pt x="154974" y="33428"/>
                  <a:pt x="153064" y="33938"/>
                  <a:pt x="151027" y="33810"/>
                </a:cubicBezTo>
                <a:cubicBezTo>
                  <a:pt x="152810" y="38781"/>
                  <a:pt x="150263" y="43752"/>
                  <a:pt x="150518" y="48722"/>
                </a:cubicBezTo>
                <a:cubicBezTo>
                  <a:pt x="150645" y="51526"/>
                  <a:pt x="148990" y="49869"/>
                  <a:pt x="147843" y="49742"/>
                </a:cubicBezTo>
                <a:cubicBezTo>
                  <a:pt x="145679" y="49487"/>
                  <a:pt x="146188" y="51399"/>
                  <a:pt x="145806" y="52674"/>
                </a:cubicBezTo>
                <a:cubicBezTo>
                  <a:pt x="147589" y="54076"/>
                  <a:pt x="150391" y="53566"/>
                  <a:pt x="151663" y="56497"/>
                </a:cubicBezTo>
                <a:cubicBezTo>
                  <a:pt x="152428" y="58281"/>
                  <a:pt x="155357" y="59301"/>
                  <a:pt x="156757" y="61595"/>
                </a:cubicBezTo>
                <a:cubicBezTo>
                  <a:pt x="156248" y="64272"/>
                  <a:pt x="152428" y="63252"/>
                  <a:pt x="151792" y="65801"/>
                </a:cubicBezTo>
                <a:cubicBezTo>
                  <a:pt x="153956" y="67076"/>
                  <a:pt x="155484" y="65036"/>
                  <a:pt x="157267" y="64782"/>
                </a:cubicBezTo>
                <a:cubicBezTo>
                  <a:pt x="158667" y="64654"/>
                  <a:pt x="160195" y="65546"/>
                  <a:pt x="162615" y="66184"/>
                </a:cubicBezTo>
                <a:cubicBezTo>
                  <a:pt x="160833" y="61978"/>
                  <a:pt x="158285" y="58281"/>
                  <a:pt x="161214" y="54330"/>
                </a:cubicBezTo>
                <a:cubicBezTo>
                  <a:pt x="165289" y="54713"/>
                  <a:pt x="163888" y="50889"/>
                  <a:pt x="165416" y="49105"/>
                </a:cubicBezTo>
                <a:cubicBezTo>
                  <a:pt x="166435" y="47958"/>
                  <a:pt x="167709" y="47193"/>
                  <a:pt x="168345" y="49615"/>
                </a:cubicBezTo>
                <a:cubicBezTo>
                  <a:pt x="168473" y="50124"/>
                  <a:pt x="168346" y="50889"/>
                  <a:pt x="168600" y="51272"/>
                </a:cubicBezTo>
                <a:cubicBezTo>
                  <a:pt x="169746" y="52546"/>
                  <a:pt x="169492" y="50762"/>
                  <a:pt x="169874" y="50507"/>
                </a:cubicBezTo>
                <a:cubicBezTo>
                  <a:pt x="170510" y="49997"/>
                  <a:pt x="171019" y="49360"/>
                  <a:pt x="171784" y="49105"/>
                </a:cubicBezTo>
                <a:cubicBezTo>
                  <a:pt x="172930" y="48468"/>
                  <a:pt x="174203" y="47448"/>
                  <a:pt x="175604" y="48850"/>
                </a:cubicBezTo>
                <a:cubicBezTo>
                  <a:pt x="176750" y="49997"/>
                  <a:pt x="176750" y="51399"/>
                  <a:pt x="176496" y="52801"/>
                </a:cubicBezTo>
                <a:cubicBezTo>
                  <a:pt x="176367" y="53566"/>
                  <a:pt x="175986" y="54458"/>
                  <a:pt x="175349" y="55095"/>
                </a:cubicBezTo>
                <a:cubicBezTo>
                  <a:pt x="171911" y="58664"/>
                  <a:pt x="172420" y="63125"/>
                  <a:pt x="173312" y="67331"/>
                </a:cubicBezTo>
                <a:cubicBezTo>
                  <a:pt x="173821" y="69752"/>
                  <a:pt x="174840" y="72174"/>
                  <a:pt x="172038" y="73831"/>
                </a:cubicBezTo>
                <a:cubicBezTo>
                  <a:pt x="169365" y="75487"/>
                  <a:pt x="168345" y="72429"/>
                  <a:pt x="166563" y="71664"/>
                </a:cubicBezTo>
                <a:cubicBezTo>
                  <a:pt x="167199" y="73448"/>
                  <a:pt x="168473" y="75360"/>
                  <a:pt x="167964" y="76762"/>
                </a:cubicBezTo>
                <a:cubicBezTo>
                  <a:pt x="166308" y="80968"/>
                  <a:pt x="169492" y="79566"/>
                  <a:pt x="171146" y="79821"/>
                </a:cubicBezTo>
                <a:cubicBezTo>
                  <a:pt x="171656" y="75742"/>
                  <a:pt x="177768" y="75105"/>
                  <a:pt x="176877" y="70134"/>
                </a:cubicBezTo>
                <a:cubicBezTo>
                  <a:pt x="178660" y="70899"/>
                  <a:pt x="179551" y="71664"/>
                  <a:pt x="179424" y="73448"/>
                </a:cubicBezTo>
                <a:cubicBezTo>
                  <a:pt x="179424" y="74468"/>
                  <a:pt x="180443" y="74723"/>
                  <a:pt x="181207" y="74340"/>
                </a:cubicBezTo>
                <a:cubicBezTo>
                  <a:pt x="182608" y="73703"/>
                  <a:pt x="183371" y="72683"/>
                  <a:pt x="182735" y="71027"/>
                </a:cubicBezTo>
                <a:cubicBezTo>
                  <a:pt x="180570" y="66183"/>
                  <a:pt x="183371" y="68605"/>
                  <a:pt x="185155" y="69370"/>
                </a:cubicBezTo>
                <a:cubicBezTo>
                  <a:pt x="185791" y="69625"/>
                  <a:pt x="186300" y="69370"/>
                  <a:pt x="186555" y="68733"/>
                </a:cubicBezTo>
                <a:cubicBezTo>
                  <a:pt x="186555" y="68223"/>
                  <a:pt x="186682" y="67458"/>
                  <a:pt x="186555" y="67331"/>
                </a:cubicBezTo>
                <a:cubicBezTo>
                  <a:pt x="184645" y="65801"/>
                  <a:pt x="181717" y="65929"/>
                  <a:pt x="180189" y="63634"/>
                </a:cubicBezTo>
                <a:cubicBezTo>
                  <a:pt x="180189" y="63634"/>
                  <a:pt x="179678" y="63634"/>
                  <a:pt x="179551" y="63762"/>
                </a:cubicBezTo>
                <a:cubicBezTo>
                  <a:pt x="178279" y="66566"/>
                  <a:pt x="176623" y="66183"/>
                  <a:pt x="175604" y="63889"/>
                </a:cubicBezTo>
                <a:cubicBezTo>
                  <a:pt x="174457" y="61595"/>
                  <a:pt x="176877" y="61340"/>
                  <a:pt x="178278" y="60576"/>
                </a:cubicBezTo>
                <a:cubicBezTo>
                  <a:pt x="180061" y="59556"/>
                  <a:pt x="181717" y="58409"/>
                  <a:pt x="182735" y="61595"/>
                </a:cubicBezTo>
                <a:cubicBezTo>
                  <a:pt x="183371" y="63762"/>
                  <a:pt x="184901" y="64909"/>
                  <a:pt x="187192" y="63507"/>
                </a:cubicBezTo>
                <a:cubicBezTo>
                  <a:pt x="188465" y="62742"/>
                  <a:pt x="188975" y="63889"/>
                  <a:pt x="189866" y="64527"/>
                </a:cubicBezTo>
                <a:cubicBezTo>
                  <a:pt x="193177" y="66948"/>
                  <a:pt x="193813" y="71154"/>
                  <a:pt x="196870" y="73703"/>
                </a:cubicBezTo>
                <a:cubicBezTo>
                  <a:pt x="198016" y="74595"/>
                  <a:pt x="197124" y="75742"/>
                  <a:pt x="196488" y="76635"/>
                </a:cubicBezTo>
                <a:cubicBezTo>
                  <a:pt x="195597" y="77782"/>
                  <a:pt x="194451" y="78546"/>
                  <a:pt x="192922" y="78419"/>
                </a:cubicBezTo>
                <a:cubicBezTo>
                  <a:pt x="191649" y="78419"/>
                  <a:pt x="190758" y="77782"/>
                  <a:pt x="189993" y="76889"/>
                </a:cubicBezTo>
                <a:cubicBezTo>
                  <a:pt x="188848" y="75615"/>
                  <a:pt x="187447" y="73958"/>
                  <a:pt x="185791" y="75105"/>
                </a:cubicBezTo>
                <a:cubicBezTo>
                  <a:pt x="183117" y="77017"/>
                  <a:pt x="187192" y="77272"/>
                  <a:pt x="186938" y="78546"/>
                </a:cubicBezTo>
                <a:cubicBezTo>
                  <a:pt x="186938" y="79311"/>
                  <a:pt x="186682" y="80203"/>
                  <a:pt x="186173" y="80713"/>
                </a:cubicBezTo>
                <a:cubicBezTo>
                  <a:pt x="183244" y="83772"/>
                  <a:pt x="185664" y="86958"/>
                  <a:pt x="185791" y="90017"/>
                </a:cubicBezTo>
                <a:cubicBezTo>
                  <a:pt x="187320" y="89635"/>
                  <a:pt x="186938" y="86576"/>
                  <a:pt x="189484" y="87723"/>
                </a:cubicBezTo>
                <a:cubicBezTo>
                  <a:pt x="191267" y="88488"/>
                  <a:pt x="193304" y="88360"/>
                  <a:pt x="195343" y="87595"/>
                </a:cubicBezTo>
                <a:cubicBezTo>
                  <a:pt x="194833" y="86831"/>
                  <a:pt x="194578" y="86066"/>
                  <a:pt x="194069" y="85429"/>
                </a:cubicBezTo>
                <a:cubicBezTo>
                  <a:pt x="193050" y="84154"/>
                  <a:pt x="191649" y="82752"/>
                  <a:pt x="193050" y="81095"/>
                </a:cubicBezTo>
                <a:cubicBezTo>
                  <a:pt x="194451" y="79311"/>
                  <a:pt x="196488" y="80076"/>
                  <a:pt x="198398" y="80203"/>
                </a:cubicBezTo>
                <a:cubicBezTo>
                  <a:pt x="201327" y="80331"/>
                  <a:pt x="198525" y="85174"/>
                  <a:pt x="202474" y="84409"/>
                </a:cubicBezTo>
                <a:cubicBezTo>
                  <a:pt x="205275" y="83899"/>
                  <a:pt x="206421" y="87086"/>
                  <a:pt x="208331" y="88488"/>
                </a:cubicBezTo>
                <a:cubicBezTo>
                  <a:pt x="210368" y="89890"/>
                  <a:pt x="210877" y="92693"/>
                  <a:pt x="211642" y="95115"/>
                </a:cubicBezTo>
                <a:cubicBezTo>
                  <a:pt x="212278" y="97409"/>
                  <a:pt x="213552" y="99576"/>
                  <a:pt x="213170" y="102125"/>
                </a:cubicBezTo>
                <a:cubicBezTo>
                  <a:pt x="217881" y="103527"/>
                  <a:pt x="218008" y="103654"/>
                  <a:pt x="217245" y="108498"/>
                </a:cubicBezTo>
                <a:cubicBezTo>
                  <a:pt x="216863" y="110792"/>
                  <a:pt x="217754" y="111174"/>
                  <a:pt x="219282" y="110282"/>
                </a:cubicBezTo>
                <a:cubicBezTo>
                  <a:pt x="221319" y="109135"/>
                  <a:pt x="222593" y="108880"/>
                  <a:pt x="224376" y="110919"/>
                </a:cubicBezTo>
                <a:cubicBezTo>
                  <a:pt x="225904" y="112704"/>
                  <a:pt x="226159" y="114106"/>
                  <a:pt x="225139" y="116018"/>
                </a:cubicBezTo>
                <a:cubicBezTo>
                  <a:pt x="224376" y="117547"/>
                  <a:pt x="223229" y="118821"/>
                  <a:pt x="223357" y="120733"/>
                </a:cubicBezTo>
                <a:cubicBezTo>
                  <a:pt x="223357" y="122263"/>
                  <a:pt x="224376" y="122772"/>
                  <a:pt x="226540" y="121753"/>
                </a:cubicBezTo>
                <a:cubicBezTo>
                  <a:pt x="227305" y="121498"/>
                  <a:pt x="227814" y="120988"/>
                  <a:pt x="228705" y="121498"/>
                </a:cubicBezTo>
                <a:cubicBezTo>
                  <a:pt x="230360" y="122390"/>
                  <a:pt x="232143" y="123155"/>
                  <a:pt x="233926" y="124047"/>
                </a:cubicBezTo>
                <a:cubicBezTo>
                  <a:pt x="235963" y="121625"/>
                  <a:pt x="234691" y="118439"/>
                  <a:pt x="236473" y="116018"/>
                </a:cubicBezTo>
                <a:cubicBezTo>
                  <a:pt x="239020" y="112321"/>
                  <a:pt x="239401" y="112194"/>
                  <a:pt x="243732" y="115763"/>
                </a:cubicBezTo>
                <a:cubicBezTo>
                  <a:pt x="249589" y="113341"/>
                  <a:pt x="250354" y="111939"/>
                  <a:pt x="246151" y="109262"/>
                </a:cubicBezTo>
                <a:cubicBezTo>
                  <a:pt x="243477" y="107605"/>
                  <a:pt x="244495" y="106586"/>
                  <a:pt x="245005" y="104802"/>
                </a:cubicBezTo>
                <a:cubicBezTo>
                  <a:pt x="245387" y="103655"/>
                  <a:pt x="244878" y="102635"/>
                  <a:pt x="243732" y="101998"/>
                </a:cubicBezTo>
                <a:cubicBezTo>
                  <a:pt x="243477" y="103782"/>
                  <a:pt x="241694" y="104547"/>
                  <a:pt x="240930" y="105949"/>
                </a:cubicBezTo>
                <a:cubicBezTo>
                  <a:pt x="240421" y="106841"/>
                  <a:pt x="242203" y="109135"/>
                  <a:pt x="239657" y="108498"/>
                </a:cubicBezTo>
                <a:cubicBezTo>
                  <a:pt x="238256" y="108115"/>
                  <a:pt x="238638" y="106076"/>
                  <a:pt x="239147" y="104802"/>
                </a:cubicBezTo>
                <a:cubicBezTo>
                  <a:pt x="239912" y="102635"/>
                  <a:pt x="241567" y="101870"/>
                  <a:pt x="243732" y="101998"/>
                </a:cubicBezTo>
                <a:cubicBezTo>
                  <a:pt x="243350" y="100086"/>
                  <a:pt x="244241" y="98429"/>
                  <a:pt x="245769" y="97664"/>
                </a:cubicBezTo>
                <a:cubicBezTo>
                  <a:pt x="247679" y="96517"/>
                  <a:pt x="244495" y="94223"/>
                  <a:pt x="247425" y="93458"/>
                </a:cubicBezTo>
                <a:cubicBezTo>
                  <a:pt x="250099" y="94478"/>
                  <a:pt x="249335" y="98429"/>
                  <a:pt x="252518" y="100086"/>
                </a:cubicBezTo>
                <a:cubicBezTo>
                  <a:pt x="252645" y="97409"/>
                  <a:pt x="252773" y="94988"/>
                  <a:pt x="253027" y="92694"/>
                </a:cubicBezTo>
                <a:cubicBezTo>
                  <a:pt x="253409" y="90017"/>
                  <a:pt x="257230" y="89635"/>
                  <a:pt x="257230" y="86194"/>
                </a:cubicBezTo>
                <a:cubicBezTo>
                  <a:pt x="255066" y="85429"/>
                  <a:pt x="254046" y="87850"/>
                  <a:pt x="252518" y="88233"/>
                </a:cubicBezTo>
                <a:cubicBezTo>
                  <a:pt x="249207" y="88998"/>
                  <a:pt x="246278" y="86703"/>
                  <a:pt x="247425" y="83772"/>
                </a:cubicBezTo>
                <a:cubicBezTo>
                  <a:pt x="248698" y="80331"/>
                  <a:pt x="250608" y="77144"/>
                  <a:pt x="252391" y="73958"/>
                </a:cubicBezTo>
                <a:cubicBezTo>
                  <a:pt x="252646" y="73448"/>
                  <a:pt x="254046" y="73193"/>
                  <a:pt x="254556" y="73448"/>
                </a:cubicBezTo>
                <a:cubicBezTo>
                  <a:pt x="255066" y="73703"/>
                  <a:pt x="255447" y="74850"/>
                  <a:pt x="255575" y="75615"/>
                </a:cubicBezTo>
                <a:cubicBezTo>
                  <a:pt x="255702" y="77144"/>
                  <a:pt x="254810" y="78291"/>
                  <a:pt x="253919" y="79439"/>
                </a:cubicBezTo>
                <a:cubicBezTo>
                  <a:pt x="252518" y="81223"/>
                  <a:pt x="250226" y="82115"/>
                  <a:pt x="249589" y="84537"/>
                </a:cubicBezTo>
                <a:cubicBezTo>
                  <a:pt x="253155" y="87468"/>
                  <a:pt x="255066" y="80968"/>
                  <a:pt x="258503" y="82880"/>
                </a:cubicBezTo>
                <a:cubicBezTo>
                  <a:pt x="258757" y="82880"/>
                  <a:pt x="259140" y="81350"/>
                  <a:pt x="258503" y="80713"/>
                </a:cubicBezTo>
                <a:cubicBezTo>
                  <a:pt x="256084" y="77909"/>
                  <a:pt x="258757" y="75997"/>
                  <a:pt x="259649" y="73958"/>
                </a:cubicBezTo>
                <a:cubicBezTo>
                  <a:pt x="260031" y="73066"/>
                  <a:pt x="260669" y="71791"/>
                  <a:pt x="262197" y="72301"/>
                </a:cubicBezTo>
                <a:cubicBezTo>
                  <a:pt x="263469" y="72811"/>
                  <a:pt x="264489" y="73448"/>
                  <a:pt x="263597" y="75488"/>
                </a:cubicBezTo>
                <a:cubicBezTo>
                  <a:pt x="262579" y="78037"/>
                  <a:pt x="265125" y="78164"/>
                  <a:pt x="266653" y="78037"/>
                </a:cubicBezTo>
                <a:cubicBezTo>
                  <a:pt x="270728" y="77654"/>
                  <a:pt x="274676" y="76507"/>
                  <a:pt x="277604" y="73831"/>
                </a:cubicBezTo>
                <a:cubicBezTo>
                  <a:pt x="280788" y="70899"/>
                  <a:pt x="283334" y="67458"/>
                  <a:pt x="286136" y="64272"/>
                </a:cubicBezTo>
                <a:cubicBezTo>
                  <a:pt x="288046" y="64527"/>
                  <a:pt x="290212" y="64399"/>
                  <a:pt x="291357" y="66438"/>
                </a:cubicBezTo>
                <a:cubicBezTo>
                  <a:pt x="292504" y="68350"/>
                  <a:pt x="293905" y="67331"/>
                  <a:pt x="294796" y="66566"/>
                </a:cubicBezTo>
                <a:cubicBezTo>
                  <a:pt x="296451" y="65164"/>
                  <a:pt x="298234" y="63125"/>
                  <a:pt x="296960" y="61085"/>
                </a:cubicBezTo>
                <a:cubicBezTo>
                  <a:pt x="295305" y="58536"/>
                  <a:pt x="293649" y="61850"/>
                  <a:pt x="291866" y="61978"/>
                </a:cubicBezTo>
                <a:cubicBezTo>
                  <a:pt x="291357" y="61978"/>
                  <a:pt x="290848" y="62232"/>
                  <a:pt x="290085" y="62487"/>
                </a:cubicBezTo>
                <a:cubicBezTo>
                  <a:pt x="289193" y="59429"/>
                  <a:pt x="286263" y="57262"/>
                  <a:pt x="287155" y="53438"/>
                </a:cubicBezTo>
                <a:cubicBezTo>
                  <a:pt x="287283" y="52674"/>
                  <a:pt x="285882" y="51399"/>
                  <a:pt x="285118" y="50379"/>
                </a:cubicBezTo>
                <a:cubicBezTo>
                  <a:pt x="283717" y="56242"/>
                  <a:pt x="281297" y="48468"/>
                  <a:pt x="279514" y="50762"/>
                </a:cubicBezTo>
                <a:cubicBezTo>
                  <a:pt x="280533" y="53056"/>
                  <a:pt x="281043" y="55478"/>
                  <a:pt x="283844" y="56625"/>
                </a:cubicBezTo>
                <a:cubicBezTo>
                  <a:pt x="286518" y="57644"/>
                  <a:pt x="285118" y="59811"/>
                  <a:pt x="284608" y="61723"/>
                </a:cubicBezTo>
                <a:cubicBezTo>
                  <a:pt x="283080" y="64654"/>
                  <a:pt x="278751" y="64272"/>
                  <a:pt x="277604" y="67585"/>
                </a:cubicBezTo>
                <a:cubicBezTo>
                  <a:pt x="275058" y="67585"/>
                  <a:pt x="275312" y="65291"/>
                  <a:pt x="274676" y="64017"/>
                </a:cubicBezTo>
                <a:cubicBezTo>
                  <a:pt x="272766" y="60448"/>
                  <a:pt x="272893" y="60066"/>
                  <a:pt x="277859" y="60576"/>
                </a:cubicBezTo>
                <a:cubicBezTo>
                  <a:pt x="279897" y="60703"/>
                  <a:pt x="279387" y="59683"/>
                  <a:pt x="279387" y="58791"/>
                </a:cubicBezTo>
                <a:cubicBezTo>
                  <a:pt x="279643" y="54458"/>
                  <a:pt x="275185" y="52418"/>
                  <a:pt x="275058" y="48340"/>
                </a:cubicBezTo>
                <a:cubicBezTo>
                  <a:pt x="270728" y="49869"/>
                  <a:pt x="271365" y="52036"/>
                  <a:pt x="273148" y="54458"/>
                </a:cubicBezTo>
                <a:cubicBezTo>
                  <a:pt x="269710" y="55605"/>
                  <a:pt x="271874" y="59046"/>
                  <a:pt x="270346" y="61085"/>
                </a:cubicBezTo>
                <a:cubicBezTo>
                  <a:pt x="267927" y="60830"/>
                  <a:pt x="269837" y="58154"/>
                  <a:pt x="268309" y="57389"/>
                </a:cubicBezTo>
                <a:cubicBezTo>
                  <a:pt x="262706" y="60830"/>
                  <a:pt x="270855" y="65928"/>
                  <a:pt x="266271" y="69880"/>
                </a:cubicBezTo>
                <a:cubicBezTo>
                  <a:pt x="264616" y="71027"/>
                  <a:pt x="263088" y="68733"/>
                  <a:pt x="261559" y="68095"/>
                </a:cubicBezTo>
                <a:cubicBezTo>
                  <a:pt x="258376" y="66821"/>
                  <a:pt x="257612" y="64144"/>
                  <a:pt x="259777" y="61978"/>
                </a:cubicBezTo>
                <a:cubicBezTo>
                  <a:pt x="263469" y="58409"/>
                  <a:pt x="264361" y="53056"/>
                  <a:pt x="268436" y="49615"/>
                </a:cubicBezTo>
                <a:cubicBezTo>
                  <a:pt x="272129" y="46556"/>
                  <a:pt x="272893" y="40948"/>
                  <a:pt x="277477" y="37889"/>
                </a:cubicBezTo>
                <a:cubicBezTo>
                  <a:pt x="279260" y="37889"/>
                  <a:pt x="280533" y="39673"/>
                  <a:pt x="282189" y="40565"/>
                </a:cubicBezTo>
                <a:cubicBezTo>
                  <a:pt x="283844" y="41330"/>
                  <a:pt x="286264" y="38654"/>
                  <a:pt x="287410" y="41330"/>
                </a:cubicBezTo>
                <a:cubicBezTo>
                  <a:pt x="288684" y="44517"/>
                  <a:pt x="289447" y="41585"/>
                  <a:pt x="290594" y="41585"/>
                </a:cubicBezTo>
                <a:cubicBezTo>
                  <a:pt x="292249" y="41585"/>
                  <a:pt x="294032" y="43115"/>
                  <a:pt x="295815" y="44007"/>
                </a:cubicBezTo>
                <a:cubicBezTo>
                  <a:pt x="296833" y="41585"/>
                  <a:pt x="295177" y="40311"/>
                  <a:pt x="293649" y="39163"/>
                </a:cubicBezTo>
                <a:cubicBezTo>
                  <a:pt x="291103" y="37379"/>
                  <a:pt x="290721" y="35085"/>
                  <a:pt x="291739" y="32408"/>
                </a:cubicBezTo>
                <a:cubicBezTo>
                  <a:pt x="289702" y="32408"/>
                  <a:pt x="287155" y="32408"/>
                  <a:pt x="287155" y="29859"/>
                </a:cubicBezTo>
                <a:cubicBezTo>
                  <a:pt x="287155" y="27948"/>
                  <a:pt x="287919" y="25271"/>
                  <a:pt x="291230" y="25526"/>
                </a:cubicBezTo>
                <a:cubicBezTo>
                  <a:pt x="293776" y="25654"/>
                  <a:pt x="296197" y="25526"/>
                  <a:pt x="298997" y="25526"/>
                </a:cubicBezTo>
                <a:cubicBezTo>
                  <a:pt x="298234" y="29095"/>
                  <a:pt x="294159" y="28075"/>
                  <a:pt x="293267" y="30752"/>
                </a:cubicBezTo>
                <a:cubicBezTo>
                  <a:pt x="295305" y="33938"/>
                  <a:pt x="296706" y="37507"/>
                  <a:pt x="300653" y="39163"/>
                </a:cubicBezTo>
                <a:cubicBezTo>
                  <a:pt x="303073" y="40056"/>
                  <a:pt x="303837" y="42860"/>
                  <a:pt x="304601" y="45536"/>
                </a:cubicBezTo>
                <a:cubicBezTo>
                  <a:pt x="306001" y="40438"/>
                  <a:pt x="310459" y="35850"/>
                  <a:pt x="306128" y="29859"/>
                </a:cubicBezTo>
                <a:cubicBezTo>
                  <a:pt x="304218" y="32026"/>
                  <a:pt x="307020" y="35340"/>
                  <a:pt x="303709" y="37634"/>
                </a:cubicBezTo>
                <a:cubicBezTo>
                  <a:pt x="303455" y="29732"/>
                  <a:pt x="300907" y="22212"/>
                  <a:pt x="303837" y="14565"/>
                </a:cubicBezTo>
                <a:cubicBezTo>
                  <a:pt x="305492" y="14565"/>
                  <a:pt x="305747" y="18516"/>
                  <a:pt x="308294" y="15712"/>
                </a:cubicBezTo>
                <a:cubicBezTo>
                  <a:pt x="310204" y="13546"/>
                  <a:pt x="313005" y="12016"/>
                  <a:pt x="315298" y="10232"/>
                </a:cubicBezTo>
                <a:cubicBezTo>
                  <a:pt x="315298" y="10742"/>
                  <a:pt x="315298" y="11506"/>
                  <a:pt x="315170" y="11889"/>
                </a:cubicBezTo>
                <a:cubicBezTo>
                  <a:pt x="312750" y="14820"/>
                  <a:pt x="315171" y="16349"/>
                  <a:pt x="317081" y="17879"/>
                </a:cubicBezTo>
                <a:cubicBezTo>
                  <a:pt x="317844" y="18516"/>
                  <a:pt x="318991" y="19281"/>
                  <a:pt x="319883" y="18007"/>
                </a:cubicBezTo>
                <a:cubicBezTo>
                  <a:pt x="321283" y="15967"/>
                  <a:pt x="319881" y="14310"/>
                  <a:pt x="318991" y="12654"/>
                </a:cubicBezTo>
                <a:cubicBezTo>
                  <a:pt x="318991" y="12399"/>
                  <a:pt x="318863" y="12144"/>
                  <a:pt x="318736" y="11889"/>
                </a:cubicBezTo>
                <a:cubicBezTo>
                  <a:pt x="322174" y="13163"/>
                  <a:pt x="320773" y="7683"/>
                  <a:pt x="323320" y="8320"/>
                </a:cubicBezTo>
                <a:cubicBezTo>
                  <a:pt x="326249" y="8957"/>
                  <a:pt x="327777" y="6281"/>
                  <a:pt x="330069" y="5898"/>
                </a:cubicBezTo>
                <a:cubicBezTo>
                  <a:pt x="332235" y="7938"/>
                  <a:pt x="330069" y="10869"/>
                  <a:pt x="331852" y="13291"/>
                </a:cubicBezTo>
                <a:cubicBezTo>
                  <a:pt x="334145" y="11124"/>
                  <a:pt x="336818" y="9467"/>
                  <a:pt x="334399" y="5644"/>
                </a:cubicBezTo>
                <a:cubicBezTo>
                  <a:pt x="333762" y="4624"/>
                  <a:pt x="334526" y="3477"/>
                  <a:pt x="335799" y="3349"/>
                </a:cubicBezTo>
                <a:cubicBezTo>
                  <a:pt x="337200" y="3222"/>
                  <a:pt x="337838" y="4114"/>
                  <a:pt x="337838" y="5389"/>
                </a:cubicBezTo>
                <a:cubicBezTo>
                  <a:pt x="337838" y="6791"/>
                  <a:pt x="337710" y="8193"/>
                  <a:pt x="339493" y="8702"/>
                </a:cubicBezTo>
                <a:cubicBezTo>
                  <a:pt x="339493" y="4751"/>
                  <a:pt x="342039" y="2712"/>
                  <a:pt x="344841" y="673"/>
                </a:cubicBezTo>
                <a:cubicBezTo>
                  <a:pt x="345859" y="-92"/>
                  <a:pt x="347133" y="36"/>
                  <a:pt x="347642" y="1183"/>
                </a:cubicBezTo>
                <a:cubicBezTo>
                  <a:pt x="348024" y="1820"/>
                  <a:pt x="348024" y="3095"/>
                  <a:pt x="347642" y="3604"/>
                </a:cubicBezTo>
                <a:cubicBezTo>
                  <a:pt x="346624" y="4879"/>
                  <a:pt x="345096" y="5771"/>
                  <a:pt x="344077" y="7046"/>
                </a:cubicBezTo>
                <a:cubicBezTo>
                  <a:pt x="342548" y="8702"/>
                  <a:pt x="342548" y="10614"/>
                  <a:pt x="344458" y="12144"/>
                </a:cubicBezTo>
                <a:cubicBezTo>
                  <a:pt x="344458" y="14310"/>
                  <a:pt x="342548" y="13928"/>
                  <a:pt x="341403" y="14438"/>
                </a:cubicBezTo>
                <a:cubicBezTo>
                  <a:pt x="342930" y="16987"/>
                  <a:pt x="344587" y="19536"/>
                  <a:pt x="346114" y="22085"/>
                </a:cubicBezTo>
                <a:cubicBezTo>
                  <a:pt x="346751" y="22085"/>
                  <a:pt x="347260" y="21957"/>
                  <a:pt x="347897" y="21830"/>
                </a:cubicBezTo>
                <a:cubicBezTo>
                  <a:pt x="346624" y="19153"/>
                  <a:pt x="345859" y="16477"/>
                  <a:pt x="346879" y="13801"/>
                </a:cubicBezTo>
                <a:cubicBezTo>
                  <a:pt x="347133" y="13163"/>
                  <a:pt x="345732" y="12271"/>
                  <a:pt x="344458" y="12144"/>
                </a:cubicBezTo>
                <a:cubicBezTo>
                  <a:pt x="344458" y="10997"/>
                  <a:pt x="344458" y="9212"/>
                  <a:pt x="345350" y="9340"/>
                </a:cubicBezTo>
                <a:cubicBezTo>
                  <a:pt x="348151" y="9849"/>
                  <a:pt x="349425" y="9085"/>
                  <a:pt x="350826" y="6536"/>
                </a:cubicBezTo>
                <a:cubicBezTo>
                  <a:pt x="352990" y="2457"/>
                  <a:pt x="355920" y="-856"/>
                  <a:pt x="361395" y="1438"/>
                </a:cubicBezTo>
                <a:cubicBezTo>
                  <a:pt x="361904" y="1693"/>
                  <a:pt x="362923" y="928"/>
                  <a:pt x="363687" y="673"/>
                </a:cubicBezTo>
                <a:cubicBezTo>
                  <a:pt x="366489" y="-347"/>
                  <a:pt x="369164" y="-474"/>
                  <a:pt x="371328" y="2202"/>
                </a:cubicBezTo>
                <a:cubicBezTo>
                  <a:pt x="372219" y="3349"/>
                  <a:pt x="372984" y="3349"/>
                  <a:pt x="374002" y="2202"/>
                </a:cubicBezTo>
                <a:cubicBezTo>
                  <a:pt x="374766" y="1438"/>
                  <a:pt x="375530" y="163"/>
                  <a:pt x="376676" y="1438"/>
                </a:cubicBezTo>
                <a:cubicBezTo>
                  <a:pt x="377822" y="2712"/>
                  <a:pt x="377440" y="4242"/>
                  <a:pt x="376039" y="5006"/>
                </a:cubicBezTo>
                <a:cubicBezTo>
                  <a:pt x="372219" y="7046"/>
                  <a:pt x="370564" y="9595"/>
                  <a:pt x="373238" y="13673"/>
                </a:cubicBezTo>
                <a:cubicBezTo>
                  <a:pt x="373493" y="12781"/>
                  <a:pt x="373493" y="12016"/>
                  <a:pt x="373874" y="11252"/>
                </a:cubicBezTo>
                <a:cubicBezTo>
                  <a:pt x="375021" y="8065"/>
                  <a:pt x="378076" y="7173"/>
                  <a:pt x="380751" y="5898"/>
                </a:cubicBezTo>
                <a:cubicBezTo>
                  <a:pt x="382025" y="5261"/>
                  <a:pt x="382152" y="7683"/>
                  <a:pt x="380751" y="9467"/>
                </a:cubicBezTo>
                <a:cubicBezTo>
                  <a:pt x="379860" y="10487"/>
                  <a:pt x="378841" y="11634"/>
                  <a:pt x="377949" y="12654"/>
                </a:cubicBezTo>
                <a:cubicBezTo>
                  <a:pt x="377822" y="12908"/>
                  <a:pt x="377695" y="13163"/>
                  <a:pt x="377567" y="13418"/>
                </a:cubicBezTo>
                <a:cubicBezTo>
                  <a:pt x="378586" y="13673"/>
                  <a:pt x="379477" y="13928"/>
                  <a:pt x="380496" y="14055"/>
                </a:cubicBezTo>
                <a:cubicBezTo>
                  <a:pt x="380242" y="16095"/>
                  <a:pt x="380497" y="17879"/>
                  <a:pt x="382152" y="19281"/>
                </a:cubicBezTo>
                <a:cubicBezTo>
                  <a:pt x="382916" y="19918"/>
                  <a:pt x="383680" y="21065"/>
                  <a:pt x="384827" y="20046"/>
                </a:cubicBezTo>
                <a:cubicBezTo>
                  <a:pt x="385590" y="19408"/>
                  <a:pt x="385336" y="18644"/>
                  <a:pt x="384954" y="17879"/>
                </a:cubicBezTo>
                <a:cubicBezTo>
                  <a:pt x="384827" y="17624"/>
                  <a:pt x="384698" y="17369"/>
                  <a:pt x="384571" y="17114"/>
                </a:cubicBezTo>
                <a:cubicBezTo>
                  <a:pt x="383808" y="15712"/>
                  <a:pt x="386354" y="14438"/>
                  <a:pt x="385081" y="13673"/>
                </a:cubicBezTo>
                <a:cubicBezTo>
                  <a:pt x="383935" y="13036"/>
                  <a:pt x="382152" y="13673"/>
                  <a:pt x="380624" y="13928"/>
                </a:cubicBezTo>
                <a:cubicBezTo>
                  <a:pt x="381133" y="10487"/>
                  <a:pt x="387118" y="9467"/>
                  <a:pt x="384827" y="4624"/>
                </a:cubicBezTo>
                <a:cubicBezTo>
                  <a:pt x="384571" y="4114"/>
                  <a:pt x="385972" y="3349"/>
                  <a:pt x="386737" y="3604"/>
                </a:cubicBezTo>
                <a:cubicBezTo>
                  <a:pt x="389156" y="4496"/>
                  <a:pt x="391575" y="5389"/>
                  <a:pt x="393741" y="6791"/>
                </a:cubicBezTo>
                <a:cubicBezTo>
                  <a:pt x="397052" y="8830"/>
                  <a:pt x="397050" y="9849"/>
                  <a:pt x="393995" y="13291"/>
                </a:cubicBezTo>
                <a:cubicBezTo>
                  <a:pt x="393230" y="14183"/>
                  <a:pt x="392340" y="15203"/>
                  <a:pt x="393103" y="16222"/>
                </a:cubicBezTo>
                <a:cubicBezTo>
                  <a:pt x="393995" y="17624"/>
                  <a:pt x="395140" y="16732"/>
                  <a:pt x="395778" y="15840"/>
                </a:cubicBezTo>
                <a:cubicBezTo>
                  <a:pt x="398579" y="11761"/>
                  <a:pt x="399471" y="17751"/>
                  <a:pt x="401762" y="16859"/>
                </a:cubicBezTo>
                <a:cubicBezTo>
                  <a:pt x="402909" y="14055"/>
                  <a:pt x="399089" y="12781"/>
                  <a:pt x="399725" y="10232"/>
                </a:cubicBezTo>
                <a:cubicBezTo>
                  <a:pt x="400107" y="9467"/>
                  <a:pt x="400616" y="9340"/>
                  <a:pt x="400999" y="9850"/>
                </a:cubicBezTo>
                <a:cubicBezTo>
                  <a:pt x="402527" y="12526"/>
                  <a:pt x="408257" y="11379"/>
                  <a:pt x="406983" y="16477"/>
                </a:cubicBezTo>
                <a:cubicBezTo>
                  <a:pt x="406983" y="16604"/>
                  <a:pt x="407492" y="17114"/>
                  <a:pt x="407492" y="16987"/>
                </a:cubicBezTo>
                <a:cubicBezTo>
                  <a:pt x="414496" y="14055"/>
                  <a:pt x="411314" y="22085"/>
                  <a:pt x="414369" y="23487"/>
                </a:cubicBezTo>
                <a:cubicBezTo>
                  <a:pt x="415388" y="23997"/>
                  <a:pt x="413987" y="29350"/>
                  <a:pt x="417426" y="24889"/>
                </a:cubicBezTo>
                <a:cubicBezTo>
                  <a:pt x="418189" y="26036"/>
                  <a:pt x="419208" y="27056"/>
                  <a:pt x="419717" y="28330"/>
                </a:cubicBezTo>
                <a:cubicBezTo>
                  <a:pt x="420355" y="29987"/>
                  <a:pt x="420099" y="31134"/>
                  <a:pt x="417807" y="30242"/>
                </a:cubicBezTo>
                <a:cubicBezTo>
                  <a:pt x="416789" y="29859"/>
                  <a:pt x="416662" y="31134"/>
                  <a:pt x="416662" y="31771"/>
                </a:cubicBezTo>
                <a:cubicBezTo>
                  <a:pt x="416535" y="35595"/>
                  <a:pt x="414752" y="38654"/>
                  <a:pt x="411568" y="40693"/>
                </a:cubicBezTo>
                <a:cubicBezTo>
                  <a:pt x="413224" y="43369"/>
                  <a:pt x="415388" y="39673"/>
                  <a:pt x="416789" y="41840"/>
                </a:cubicBezTo>
                <a:cubicBezTo>
                  <a:pt x="418189" y="43879"/>
                  <a:pt x="418827" y="46301"/>
                  <a:pt x="418189" y="48340"/>
                </a:cubicBezTo>
                <a:cubicBezTo>
                  <a:pt x="417298" y="51017"/>
                  <a:pt x="414879" y="53183"/>
                  <a:pt x="417426" y="56242"/>
                </a:cubicBezTo>
                <a:cubicBezTo>
                  <a:pt x="418062" y="57007"/>
                  <a:pt x="413733" y="58154"/>
                  <a:pt x="416789" y="59556"/>
                </a:cubicBezTo>
                <a:cubicBezTo>
                  <a:pt x="418699" y="60448"/>
                  <a:pt x="419463" y="58154"/>
                  <a:pt x="420482" y="56879"/>
                </a:cubicBezTo>
                <a:cubicBezTo>
                  <a:pt x="422010" y="54968"/>
                  <a:pt x="420482" y="50762"/>
                  <a:pt x="425066" y="51144"/>
                </a:cubicBezTo>
                <a:cubicBezTo>
                  <a:pt x="426594" y="51144"/>
                  <a:pt x="425957" y="49360"/>
                  <a:pt x="425066" y="48850"/>
                </a:cubicBezTo>
                <a:cubicBezTo>
                  <a:pt x="423920" y="48213"/>
                  <a:pt x="422392" y="48085"/>
                  <a:pt x="420991" y="47703"/>
                </a:cubicBezTo>
                <a:cubicBezTo>
                  <a:pt x="419972" y="45664"/>
                  <a:pt x="421373" y="43879"/>
                  <a:pt x="422010" y="42222"/>
                </a:cubicBezTo>
                <a:cubicBezTo>
                  <a:pt x="423793" y="37379"/>
                  <a:pt x="424047" y="36742"/>
                  <a:pt x="422265" y="31771"/>
                </a:cubicBezTo>
                <a:cubicBezTo>
                  <a:pt x="425957" y="34575"/>
                  <a:pt x="427867" y="37507"/>
                  <a:pt x="429778" y="40438"/>
                </a:cubicBezTo>
                <a:cubicBezTo>
                  <a:pt x="430414" y="41458"/>
                  <a:pt x="430541" y="42987"/>
                  <a:pt x="429650" y="43624"/>
                </a:cubicBezTo>
                <a:cubicBezTo>
                  <a:pt x="424811" y="47193"/>
                  <a:pt x="430668" y="48085"/>
                  <a:pt x="431306" y="50507"/>
                </a:cubicBezTo>
                <a:cubicBezTo>
                  <a:pt x="429650" y="53693"/>
                  <a:pt x="424429" y="54968"/>
                  <a:pt x="425703" y="59938"/>
                </a:cubicBezTo>
                <a:cubicBezTo>
                  <a:pt x="425066" y="61850"/>
                  <a:pt x="424302" y="65291"/>
                  <a:pt x="422137" y="63634"/>
                </a:cubicBezTo>
                <a:cubicBezTo>
                  <a:pt x="419845" y="61850"/>
                  <a:pt x="419463" y="62742"/>
                  <a:pt x="418954" y="64272"/>
                </a:cubicBezTo>
                <a:cubicBezTo>
                  <a:pt x="417680" y="68223"/>
                  <a:pt x="419845" y="70644"/>
                  <a:pt x="422901" y="72683"/>
                </a:cubicBezTo>
                <a:cubicBezTo>
                  <a:pt x="423537" y="71027"/>
                  <a:pt x="423410" y="69497"/>
                  <a:pt x="425320" y="68478"/>
                </a:cubicBezTo>
                <a:cubicBezTo>
                  <a:pt x="428249" y="66821"/>
                  <a:pt x="427486" y="63889"/>
                  <a:pt x="426721" y="61213"/>
                </a:cubicBezTo>
                <a:cubicBezTo>
                  <a:pt x="429141" y="59301"/>
                  <a:pt x="428631" y="55350"/>
                  <a:pt x="431688" y="53948"/>
                </a:cubicBezTo>
                <a:cubicBezTo>
                  <a:pt x="432452" y="53693"/>
                  <a:pt x="433343" y="53056"/>
                  <a:pt x="433979" y="53311"/>
                </a:cubicBezTo>
                <a:cubicBezTo>
                  <a:pt x="434999" y="53693"/>
                  <a:pt x="435762" y="54840"/>
                  <a:pt x="434871" y="55987"/>
                </a:cubicBezTo>
                <a:cubicBezTo>
                  <a:pt x="433470" y="58027"/>
                  <a:pt x="433598" y="59556"/>
                  <a:pt x="435762" y="60958"/>
                </a:cubicBezTo>
                <a:cubicBezTo>
                  <a:pt x="436781" y="61595"/>
                  <a:pt x="438564" y="61468"/>
                  <a:pt x="438055" y="63634"/>
                </a:cubicBezTo>
                <a:cubicBezTo>
                  <a:pt x="437418" y="66056"/>
                  <a:pt x="437163" y="68605"/>
                  <a:pt x="436654" y="71027"/>
                </a:cubicBezTo>
                <a:cubicBezTo>
                  <a:pt x="433343" y="69115"/>
                  <a:pt x="431942" y="73193"/>
                  <a:pt x="429268" y="73448"/>
                </a:cubicBezTo>
                <a:cubicBezTo>
                  <a:pt x="424047" y="74085"/>
                  <a:pt x="422774" y="76380"/>
                  <a:pt x="423537" y="82115"/>
                </a:cubicBezTo>
                <a:cubicBezTo>
                  <a:pt x="425576" y="82115"/>
                  <a:pt x="426977" y="81478"/>
                  <a:pt x="427613" y="79183"/>
                </a:cubicBezTo>
                <a:cubicBezTo>
                  <a:pt x="428249" y="76762"/>
                  <a:pt x="428758" y="76635"/>
                  <a:pt x="430032" y="78037"/>
                </a:cubicBezTo>
                <a:cubicBezTo>
                  <a:pt x="430924" y="79184"/>
                  <a:pt x="431051" y="80331"/>
                  <a:pt x="433089" y="79183"/>
                </a:cubicBezTo>
                <a:cubicBezTo>
                  <a:pt x="436654" y="77144"/>
                  <a:pt x="437928" y="76252"/>
                  <a:pt x="440983" y="71919"/>
                </a:cubicBezTo>
                <a:cubicBezTo>
                  <a:pt x="441748" y="75997"/>
                  <a:pt x="444167" y="79821"/>
                  <a:pt x="441493" y="83772"/>
                </a:cubicBezTo>
                <a:cubicBezTo>
                  <a:pt x="440474" y="85174"/>
                  <a:pt x="440856" y="86576"/>
                  <a:pt x="441875" y="87595"/>
                </a:cubicBezTo>
                <a:cubicBezTo>
                  <a:pt x="445186" y="90527"/>
                  <a:pt x="444040" y="94351"/>
                  <a:pt x="444294" y="98047"/>
                </a:cubicBezTo>
                <a:cubicBezTo>
                  <a:pt x="444550" y="101998"/>
                  <a:pt x="441748" y="99321"/>
                  <a:pt x="440092" y="99958"/>
                </a:cubicBezTo>
                <a:cubicBezTo>
                  <a:pt x="440092" y="102890"/>
                  <a:pt x="445186" y="102253"/>
                  <a:pt x="444423" y="105821"/>
                </a:cubicBezTo>
                <a:lnTo>
                  <a:pt x="443785" y="106076"/>
                </a:lnTo>
                <a:moveTo>
                  <a:pt x="146442" y="35085"/>
                </a:moveTo>
                <a:cubicBezTo>
                  <a:pt x="146442" y="35085"/>
                  <a:pt x="147080" y="36487"/>
                  <a:pt x="147589" y="36869"/>
                </a:cubicBezTo>
                <a:cubicBezTo>
                  <a:pt x="148862" y="37634"/>
                  <a:pt x="148608" y="36232"/>
                  <a:pt x="148990" y="35722"/>
                </a:cubicBezTo>
                <a:cubicBezTo>
                  <a:pt x="149499" y="35213"/>
                  <a:pt x="150136" y="34830"/>
                  <a:pt x="150645" y="34448"/>
                </a:cubicBezTo>
                <a:lnTo>
                  <a:pt x="150645" y="29477"/>
                </a:lnTo>
                <a:cubicBezTo>
                  <a:pt x="148862" y="31771"/>
                  <a:pt x="147461" y="33301"/>
                  <a:pt x="146442" y="34958"/>
                </a:cubicBezTo>
                <a:lnTo>
                  <a:pt x="146442" y="35085"/>
                </a:lnTo>
                <a:moveTo>
                  <a:pt x="424938" y="165597"/>
                </a:moveTo>
                <a:cubicBezTo>
                  <a:pt x="424938" y="166234"/>
                  <a:pt x="425447" y="167254"/>
                  <a:pt x="425958" y="167508"/>
                </a:cubicBezTo>
                <a:cubicBezTo>
                  <a:pt x="426848" y="168018"/>
                  <a:pt x="427613" y="167126"/>
                  <a:pt x="427740" y="166361"/>
                </a:cubicBezTo>
                <a:cubicBezTo>
                  <a:pt x="428122" y="163430"/>
                  <a:pt x="430159" y="160117"/>
                  <a:pt x="426467" y="157950"/>
                </a:cubicBezTo>
                <a:cubicBezTo>
                  <a:pt x="426977" y="160753"/>
                  <a:pt x="425066" y="162919"/>
                  <a:pt x="424938" y="165597"/>
                </a:cubicBezTo>
                <a:moveTo>
                  <a:pt x="424302" y="98174"/>
                </a:moveTo>
                <a:cubicBezTo>
                  <a:pt x="427486" y="100341"/>
                  <a:pt x="424302" y="102635"/>
                  <a:pt x="424811" y="104674"/>
                </a:cubicBezTo>
                <a:cubicBezTo>
                  <a:pt x="427231" y="104674"/>
                  <a:pt x="429905" y="105439"/>
                  <a:pt x="431942" y="103527"/>
                </a:cubicBezTo>
                <a:cubicBezTo>
                  <a:pt x="432452" y="103017"/>
                  <a:pt x="433216" y="101998"/>
                  <a:pt x="433089" y="101360"/>
                </a:cubicBezTo>
                <a:cubicBezTo>
                  <a:pt x="432707" y="99576"/>
                  <a:pt x="431560" y="100723"/>
                  <a:pt x="430668" y="100851"/>
                </a:cubicBezTo>
                <a:cubicBezTo>
                  <a:pt x="427358" y="101488"/>
                  <a:pt x="428377" y="98047"/>
                  <a:pt x="426721" y="97027"/>
                </a:cubicBezTo>
                <a:cubicBezTo>
                  <a:pt x="427740" y="95880"/>
                  <a:pt x="428504" y="96262"/>
                  <a:pt x="429268" y="96772"/>
                </a:cubicBezTo>
                <a:cubicBezTo>
                  <a:pt x="430287" y="97282"/>
                  <a:pt x="431433" y="98302"/>
                  <a:pt x="432198" y="97027"/>
                </a:cubicBezTo>
                <a:cubicBezTo>
                  <a:pt x="432961" y="95753"/>
                  <a:pt x="431942" y="94223"/>
                  <a:pt x="430924" y="93458"/>
                </a:cubicBezTo>
                <a:cubicBezTo>
                  <a:pt x="429141" y="92056"/>
                  <a:pt x="426848" y="92439"/>
                  <a:pt x="425576" y="93968"/>
                </a:cubicBezTo>
                <a:cubicBezTo>
                  <a:pt x="424811" y="94988"/>
                  <a:pt x="422647" y="96899"/>
                  <a:pt x="424302" y="98174"/>
                </a:cubicBezTo>
                <a:moveTo>
                  <a:pt x="419463" y="113468"/>
                </a:moveTo>
                <a:cubicBezTo>
                  <a:pt x="418445" y="113468"/>
                  <a:pt x="417426" y="113468"/>
                  <a:pt x="416406" y="113468"/>
                </a:cubicBezTo>
                <a:cubicBezTo>
                  <a:pt x="417807" y="115253"/>
                  <a:pt x="417807" y="117420"/>
                  <a:pt x="418572" y="119969"/>
                </a:cubicBezTo>
                <a:cubicBezTo>
                  <a:pt x="421373" y="113341"/>
                  <a:pt x="428504" y="113086"/>
                  <a:pt x="433216" y="109135"/>
                </a:cubicBezTo>
                <a:cubicBezTo>
                  <a:pt x="431688" y="107860"/>
                  <a:pt x="430287" y="108115"/>
                  <a:pt x="429014" y="108498"/>
                </a:cubicBezTo>
                <a:cubicBezTo>
                  <a:pt x="425447" y="109262"/>
                  <a:pt x="425320" y="109262"/>
                  <a:pt x="424811" y="104929"/>
                </a:cubicBezTo>
                <a:cubicBezTo>
                  <a:pt x="422774" y="105439"/>
                  <a:pt x="421373" y="106203"/>
                  <a:pt x="422774" y="108880"/>
                </a:cubicBezTo>
                <a:cubicBezTo>
                  <a:pt x="424429" y="111939"/>
                  <a:pt x="423028" y="113596"/>
                  <a:pt x="419590" y="113596"/>
                </a:cubicBezTo>
                <a:lnTo>
                  <a:pt x="419463" y="113468"/>
                </a:lnTo>
                <a:moveTo>
                  <a:pt x="410422" y="86066"/>
                </a:moveTo>
                <a:cubicBezTo>
                  <a:pt x="410422" y="86066"/>
                  <a:pt x="409658" y="86958"/>
                  <a:pt x="410422" y="87341"/>
                </a:cubicBezTo>
                <a:cubicBezTo>
                  <a:pt x="411058" y="87341"/>
                  <a:pt x="411823" y="87341"/>
                  <a:pt x="412714" y="87341"/>
                </a:cubicBezTo>
                <a:cubicBezTo>
                  <a:pt x="414879" y="87341"/>
                  <a:pt x="416662" y="82243"/>
                  <a:pt x="419208" y="87086"/>
                </a:cubicBezTo>
                <a:cubicBezTo>
                  <a:pt x="419463" y="87723"/>
                  <a:pt x="420736" y="86831"/>
                  <a:pt x="421118" y="86066"/>
                </a:cubicBezTo>
                <a:cubicBezTo>
                  <a:pt x="421756" y="84919"/>
                  <a:pt x="422392" y="83644"/>
                  <a:pt x="422901" y="82370"/>
                </a:cubicBezTo>
                <a:cubicBezTo>
                  <a:pt x="417935" y="80713"/>
                  <a:pt x="413605" y="81095"/>
                  <a:pt x="410422" y="85939"/>
                </a:cubicBezTo>
                <a:lnTo>
                  <a:pt x="410422" y="86066"/>
                </a:lnTo>
                <a:moveTo>
                  <a:pt x="408512" y="22977"/>
                </a:moveTo>
                <a:cubicBezTo>
                  <a:pt x="408681" y="25951"/>
                  <a:pt x="410125" y="28160"/>
                  <a:pt x="412841" y="29605"/>
                </a:cubicBezTo>
                <a:cubicBezTo>
                  <a:pt x="410931" y="27693"/>
                  <a:pt x="411314" y="24379"/>
                  <a:pt x="408512" y="22977"/>
                </a:cubicBezTo>
                <a:moveTo>
                  <a:pt x="394504" y="42605"/>
                </a:moveTo>
                <a:cubicBezTo>
                  <a:pt x="392085" y="44644"/>
                  <a:pt x="393358" y="45536"/>
                  <a:pt x="394886" y="45791"/>
                </a:cubicBezTo>
                <a:cubicBezTo>
                  <a:pt x="398579" y="46301"/>
                  <a:pt x="400616" y="47448"/>
                  <a:pt x="400107" y="51654"/>
                </a:cubicBezTo>
                <a:cubicBezTo>
                  <a:pt x="399980" y="52801"/>
                  <a:pt x="400616" y="54458"/>
                  <a:pt x="402273" y="55095"/>
                </a:cubicBezTo>
                <a:cubicBezTo>
                  <a:pt x="402527" y="56497"/>
                  <a:pt x="402273" y="57899"/>
                  <a:pt x="401253" y="58919"/>
                </a:cubicBezTo>
                <a:cubicBezTo>
                  <a:pt x="400489" y="59683"/>
                  <a:pt x="399725" y="60448"/>
                  <a:pt x="398833" y="61085"/>
                </a:cubicBezTo>
                <a:cubicBezTo>
                  <a:pt x="396669" y="62615"/>
                  <a:pt x="398197" y="64144"/>
                  <a:pt x="398960" y="65291"/>
                </a:cubicBezTo>
                <a:cubicBezTo>
                  <a:pt x="400489" y="67585"/>
                  <a:pt x="401508" y="64782"/>
                  <a:pt x="401635" y="64399"/>
                </a:cubicBezTo>
                <a:cubicBezTo>
                  <a:pt x="402144" y="61723"/>
                  <a:pt x="405328" y="63252"/>
                  <a:pt x="406347" y="60831"/>
                </a:cubicBezTo>
                <a:cubicBezTo>
                  <a:pt x="407747" y="57772"/>
                  <a:pt x="402527" y="58409"/>
                  <a:pt x="404181" y="55860"/>
                </a:cubicBezTo>
                <a:cubicBezTo>
                  <a:pt x="404310" y="55605"/>
                  <a:pt x="404181" y="55350"/>
                  <a:pt x="404181" y="55095"/>
                </a:cubicBezTo>
                <a:cubicBezTo>
                  <a:pt x="405964" y="54330"/>
                  <a:pt x="405964" y="52674"/>
                  <a:pt x="405201" y="51526"/>
                </a:cubicBezTo>
                <a:cubicBezTo>
                  <a:pt x="403545" y="48977"/>
                  <a:pt x="404310" y="45919"/>
                  <a:pt x="403163" y="43369"/>
                </a:cubicBezTo>
                <a:cubicBezTo>
                  <a:pt x="402527" y="41967"/>
                  <a:pt x="402017" y="40566"/>
                  <a:pt x="403672" y="39673"/>
                </a:cubicBezTo>
                <a:cubicBezTo>
                  <a:pt x="405837" y="38526"/>
                  <a:pt x="405710" y="37379"/>
                  <a:pt x="404054" y="35850"/>
                </a:cubicBezTo>
                <a:cubicBezTo>
                  <a:pt x="402654" y="34575"/>
                  <a:pt x="401381" y="34320"/>
                  <a:pt x="399471" y="35213"/>
                </a:cubicBezTo>
                <a:cubicBezTo>
                  <a:pt x="396160" y="36742"/>
                  <a:pt x="396541" y="40693"/>
                  <a:pt x="394377" y="42605"/>
                </a:cubicBezTo>
                <a:lnTo>
                  <a:pt x="394504" y="42605"/>
                </a:lnTo>
                <a:moveTo>
                  <a:pt x="382661" y="36232"/>
                </a:moveTo>
                <a:cubicBezTo>
                  <a:pt x="390047" y="34320"/>
                  <a:pt x="392085" y="28458"/>
                  <a:pt x="397433" y="27183"/>
                </a:cubicBezTo>
                <a:cubicBezTo>
                  <a:pt x="399343" y="26673"/>
                  <a:pt x="399598" y="23232"/>
                  <a:pt x="398197" y="21448"/>
                </a:cubicBezTo>
                <a:cubicBezTo>
                  <a:pt x="397942" y="21193"/>
                  <a:pt x="397179" y="21193"/>
                  <a:pt x="396796" y="21320"/>
                </a:cubicBezTo>
                <a:cubicBezTo>
                  <a:pt x="393230" y="22340"/>
                  <a:pt x="393230" y="22467"/>
                  <a:pt x="391958" y="20938"/>
                </a:cubicBezTo>
                <a:cubicBezTo>
                  <a:pt x="391320" y="20046"/>
                  <a:pt x="390684" y="19154"/>
                  <a:pt x="389919" y="18261"/>
                </a:cubicBezTo>
                <a:cubicBezTo>
                  <a:pt x="389283" y="17624"/>
                  <a:pt x="387882" y="18261"/>
                  <a:pt x="387882" y="18261"/>
                </a:cubicBezTo>
                <a:cubicBezTo>
                  <a:pt x="391066" y="21320"/>
                  <a:pt x="385208" y="21703"/>
                  <a:pt x="386227" y="24379"/>
                </a:cubicBezTo>
                <a:cubicBezTo>
                  <a:pt x="387755" y="28203"/>
                  <a:pt x="386227" y="31644"/>
                  <a:pt x="382661" y="36105"/>
                </a:cubicBezTo>
                <a:lnTo>
                  <a:pt x="382661" y="36232"/>
                </a:lnTo>
                <a:moveTo>
                  <a:pt x="364452" y="12271"/>
                </a:moveTo>
                <a:cubicBezTo>
                  <a:pt x="366107" y="14820"/>
                  <a:pt x="367508" y="17497"/>
                  <a:pt x="369673" y="21320"/>
                </a:cubicBezTo>
                <a:cubicBezTo>
                  <a:pt x="371201" y="16350"/>
                  <a:pt x="369291" y="13291"/>
                  <a:pt x="369291" y="10104"/>
                </a:cubicBezTo>
                <a:cubicBezTo>
                  <a:pt x="369291" y="8447"/>
                  <a:pt x="366616" y="8957"/>
                  <a:pt x="365088" y="9467"/>
                </a:cubicBezTo>
                <a:cubicBezTo>
                  <a:pt x="364070" y="9850"/>
                  <a:pt x="363687" y="10869"/>
                  <a:pt x="364452" y="12144"/>
                </a:cubicBezTo>
                <a:lnTo>
                  <a:pt x="364452" y="12271"/>
                </a:lnTo>
                <a:moveTo>
                  <a:pt x="331088" y="35722"/>
                </a:moveTo>
                <a:cubicBezTo>
                  <a:pt x="333125" y="35977"/>
                  <a:pt x="334399" y="35467"/>
                  <a:pt x="334781" y="34575"/>
                </a:cubicBezTo>
                <a:cubicBezTo>
                  <a:pt x="335926" y="32026"/>
                  <a:pt x="336818" y="31261"/>
                  <a:pt x="339493" y="33428"/>
                </a:cubicBezTo>
                <a:cubicBezTo>
                  <a:pt x="341657" y="35085"/>
                  <a:pt x="341785" y="32281"/>
                  <a:pt x="342294" y="31007"/>
                </a:cubicBezTo>
                <a:cubicBezTo>
                  <a:pt x="345605" y="29095"/>
                  <a:pt x="344204" y="26418"/>
                  <a:pt x="343186" y="23997"/>
                </a:cubicBezTo>
                <a:cubicBezTo>
                  <a:pt x="342548" y="22595"/>
                  <a:pt x="341530" y="23232"/>
                  <a:pt x="340893" y="24507"/>
                </a:cubicBezTo>
                <a:cubicBezTo>
                  <a:pt x="340511" y="25144"/>
                  <a:pt x="339747" y="25526"/>
                  <a:pt x="339110" y="26036"/>
                </a:cubicBezTo>
                <a:cubicBezTo>
                  <a:pt x="339110" y="24379"/>
                  <a:pt x="338219" y="23359"/>
                  <a:pt x="336818" y="22977"/>
                </a:cubicBezTo>
                <a:cubicBezTo>
                  <a:pt x="336309" y="22977"/>
                  <a:pt x="335036" y="23997"/>
                  <a:pt x="335036" y="24252"/>
                </a:cubicBezTo>
                <a:cubicBezTo>
                  <a:pt x="335926" y="28712"/>
                  <a:pt x="332998" y="32026"/>
                  <a:pt x="331088" y="35722"/>
                </a:cubicBezTo>
                <a:moveTo>
                  <a:pt x="347515" y="66056"/>
                </a:moveTo>
                <a:cubicBezTo>
                  <a:pt x="347515" y="66056"/>
                  <a:pt x="348024" y="66948"/>
                  <a:pt x="349170" y="69115"/>
                </a:cubicBezTo>
                <a:cubicBezTo>
                  <a:pt x="349425" y="64654"/>
                  <a:pt x="349298" y="61468"/>
                  <a:pt x="350062" y="58409"/>
                </a:cubicBezTo>
                <a:cubicBezTo>
                  <a:pt x="350444" y="56879"/>
                  <a:pt x="350699" y="55987"/>
                  <a:pt x="349679" y="54713"/>
                </a:cubicBezTo>
                <a:cubicBezTo>
                  <a:pt x="348407" y="53311"/>
                  <a:pt x="347388" y="51654"/>
                  <a:pt x="346114" y="50252"/>
                </a:cubicBezTo>
                <a:cubicBezTo>
                  <a:pt x="345987" y="50124"/>
                  <a:pt x="344587" y="50634"/>
                  <a:pt x="344077" y="51272"/>
                </a:cubicBezTo>
                <a:cubicBezTo>
                  <a:pt x="342803" y="52419"/>
                  <a:pt x="342803" y="54585"/>
                  <a:pt x="343822" y="54968"/>
                </a:cubicBezTo>
                <a:cubicBezTo>
                  <a:pt x="347388" y="56242"/>
                  <a:pt x="343440" y="60448"/>
                  <a:pt x="345859" y="60703"/>
                </a:cubicBezTo>
                <a:cubicBezTo>
                  <a:pt x="350953" y="61340"/>
                  <a:pt x="344458" y="65164"/>
                  <a:pt x="347642" y="66056"/>
                </a:cubicBezTo>
                <a:lnTo>
                  <a:pt x="347515" y="66056"/>
                </a:lnTo>
                <a:moveTo>
                  <a:pt x="341785" y="67840"/>
                </a:moveTo>
                <a:cubicBezTo>
                  <a:pt x="341785" y="67840"/>
                  <a:pt x="341403" y="67840"/>
                  <a:pt x="341020" y="67840"/>
                </a:cubicBezTo>
                <a:cubicBezTo>
                  <a:pt x="340638" y="68223"/>
                  <a:pt x="339875" y="68733"/>
                  <a:pt x="340002" y="68988"/>
                </a:cubicBezTo>
                <a:cubicBezTo>
                  <a:pt x="341276" y="73066"/>
                  <a:pt x="341276" y="77782"/>
                  <a:pt x="344458" y="81223"/>
                </a:cubicBezTo>
                <a:cubicBezTo>
                  <a:pt x="345350" y="82242"/>
                  <a:pt x="346370" y="82370"/>
                  <a:pt x="347388" y="81478"/>
                </a:cubicBezTo>
                <a:cubicBezTo>
                  <a:pt x="348407" y="80586"/>
                  <a:pt x="349298" y="79694"/>
                  <a:pt x="348278" y="77909"/>
                </a:cubicBezTo>
                <a:cubicBezTo>
                  <a:pt x="346241" y="74340"/>
                  <a:pt x="342294" y="72174"/>
                  <a:pt x="341785" y="67713"/>
                </a:cubicBezTo>
                <a:lnTo>
                  <a:pt x="341785" y="67840"/>
                </a:lnTo>
                <a:moveTo>
                  <a:pt x="343440" y="91546"/>
                </a:moveTo>
                <a:cubicBezTo>
                  <a:pt x="341403" y="93076"/>
                  <a:pt x="340384" y="94860"/>
                  <a:pt x="342039" y="97154"/>
                </a:cubicBezTo>
                <a:cubicBezTo>
                  <a:pt x="342039" y="97154"/>
                  <a:pt x="342548" y="97282"/>
                  <a:pt x="342803" y="97154"/>
                </a:cubicBezTo>
                <a:cubicBezTo>
                  <a:pt x="345096" y="95625"/>
                  <a:pt x="344587" y="93713"/>
                  <a:pt x="343568" y="91546"/>
                </a:cubicBezTo>
                <a:lnTo>
                  <a:pt x="343440" y="91546"/>
                </a:lnTo>
                <a:moveTo>
                  <a:pt x="333125" y="95243"/>
                </a:moveTo>
                <a:cubicBezTo>
                  <a:pt x="331597" y="98556"/>
                  <a:pt x="330451" y="101743"/>
                  <a:pt x="328795" y="104674"/>
                </a:cubicBezTo>
                <a:cubicBezTo>
                  <a:pt x="327650" y="106841"/>
                  <a:pt x="326122" y="109390"/>
                  <a:pt x="322938" y="106841"/>
                </a:cubicBezTo>
                <a:cubicBezTo>
                  <a:pt x="322302" y="106331"/>
                  <a:pt x="320773" y="106204"/>
                  <a:pt x="321155" y="108243"/>
                </a:cubicBezTo>
                <a:cubicBezTo>
                  <a:pt x="322047" y="113341"/>
                  <a:pt x="317590" y="115253"/>
                  <a:pt x="314916" y="118312"/>
                </a:cubicBezTo>
                <a:cubicBezTo>
                  <a:pt x="314662" y="118566"/>
                  <a:pt x="313770" y="118566"/>
                  <a:pt x="313261" y="118312"/>
                </a:cubicBezTo>
                <a:cubicBezTo>
                  <a:pt x="312241" y="117929"/>
                  <a:pt x="312369" y="117165"/>
                  <a:pt x="312878" y="116400"/>
                </a:cubicBezTo>
                <a:cubicBezTo>
                  <a:pt x="313642" y="115125"/>
                  <a:pt x="315807" y="114233"/>
                  <a:pt x="312751" y="112831"/>
                </a:cubicBezTo>
                <a:cubicBezTo>
                  <a:pt x="310077" y="111684"/>
                  <a:pt x="308930" y="112449"/>
                  <a:pt x="308676" y="114870"/>
                </a:cubicBezTo>
                <a:cubicBezTo>
                  <a:pt x="308421" y="117547"/>
                  <a:pt x="305874" y="119841"/>
                  <a:pt x="308039" y="122900"/>
                </a:cubicBezTo>
                <a:cubicBezTo>
                  <a:pt x="309312" y="124812"/>
                  <a:pt x="305110" y="124939"/>
                  <a:pt x="305492" y="127488"/>
                </a:cubicBezTo>
                <a:cubicBezTo>
                  <a:pt x="306128" y="132714"/>
                  <a:pt x="305874" y="137940"/>
                  <a:pt x="304601" y="139596"/>
                </a:cubicBezTo>
                <a:cubicBezTo>
                  <a:pt x="300780" y="144440"/>
                  <a:pt x="300017" y="150429"/>
                  <a:pt x="297852" y="155910"/>
                </a:cubicBezTo>
                <a:cubicBezTo>
                  <a:pt x="296960" y="158077"/>
                  <a:pt x="296324" y="159988"/>
                  <a:pt x="297725" y="162283"/>
                </a:cubicBezTo>
                <a:cubicBezTo>
                  <a:pt x="298488" y="163685"/>
                  <a:pt x="298997" y="166743"/>
                  <a:pt x="297470" y="166870"/>
                </a:cubicBezTo>
                <a:cubicBezTo>
                  <a:pt x="293649" y="167253"/>
                  <a:pt x="294923" y="169675"/>
                  <a:pt x="294668" y="171587"/>
                </a:cubicBezTo>
                <a:cubicBezTo>
                  <a:pt x="294414" y="173116"/>
                  <a:pt x="289574" y="177322"/>
                  <a:pt x="288174" y="176812"/>
                </a:cubicBezTo>
                <a:cubicBezTo>
                  <a:pt x="287537" y="176557"/>
                  <a:pt x="287283" y="175028"/>
                  <a:pt x="286136" y="171969"/>
                </a:cubicBezTo>
                <a:cubicBezTo>
                  <a:pt x="286391" y="177449"/>
                  <a:pt x="287155" y="181527"/>
                  <a:pt x="281934" y="182420"/>
                </a:cubicBezTo>
                <a:cubicBezTo>
                  <a:pt x="280661" y="182676"/>
                  <a:pt x="281043" y="184460"/>
                  <a:pt x="281424" y="185480"/>
                </a:cubicBezTo>
                <a:cubicBezTo>
                  <a:pt x="281934" y="187391"/>
                  <a:pt x="282698" y="189175"/>
                  <a:pt x="283334" y="190960"/>
                </a:cubicBezTo>
                <a:cubicBezTo>
                  <a:pt x="289829" y="178087"/>
                  <a:pt x="291866" y="176174"/>
                  <a:pt x="300653" y="175283"/>
                </a:cubicBezTo>
                <a:cubicBezTo>
                  <a:pt x="300398" y="176940"/>
                  <a:pt x="298488" y="176685"/>
                  <a:pt x="297597" y="177705"/>
                </a:cubicBezTo>
                <a:cubicBezTo>
                  <a:pt x="296069" y="179616"/>
                  <a:pt x="296578" y="181400"/>
                  <a:pt x="298743" y="180891"/>
                </a:cubicBezTo>
                <a:cubicBezTo>
                  <a:pt x="301927" y="180254"/>
                  <a:pt x="303200" y="181656"/>
                  <a:pt x="303455" y="184078"/>
                </a:cubicBezTo>
                <a:cubicBezTo>
                  <a:pt x="303709" y="185734"/>
                  <a:pt x="304601" y="188920"/>
                  <a:pt x="302181" y="189047"/>
                </a:cubicBezTo>
                <a:cubicBezTo>
                  <a:pt x="299889" y="189047"/>
                  <a:pt x="297343" y="192107"/>
                  <a:pt x="295177" y="189047"/>
                </a:cubicBezTo>
                <a:cubicBezTo>
                  <a:pt x="294668" y="188283"/>
                  <a:pt x="294541" y="186627"/>
                  <a:pt x="293013" y="187773"/>
                </a:cubicBezTo>
                <a:cubicBezTo>
                  <a:pt x="291995" y="188538"/>
                  <a:pt x="291739" y="189558"/>
                  <a:pt x="292631" y="190704"/>
                </a:cubicBezTo>
                <a:cubicBezTo>
                  <a:pt x="294159" y="192871"/>
                  <a:pt x="292122" y="194911"/>
                  <a:pt x="292376" y="197204"/>
                </a:cubicBezTo>
                <a:cubicBezTo>
                  <a:pt x="292631" y="199626"/>
                  <a:pt x="290466" y="198606"/>
                  <a:pt x="289447" y="198606"/>
                </a:cubicBezTo>
                <a:cubicBezTo>
                  <a:pt x="288046" y="198606"/>
                  <a:pt x="287537" y="197333"/>
                  <a:pt x="288174" y="196185"/>
                </a:cubicBezTo>
                <a:cubicBezTo>
                  <a:pt x="289320" y="194018"/>
                  <a:pt x="290466" y="191980"/>
                  <a:pt x="287028" y="190831"/>
                </a:cubicBezTo>
                <a:cubicBezTo>
                  <a:pt x="285754" y="192744"/>
                  <a:pt x="287664" y="196695"/>
                  <a:pt x="283972" y="197077"/>
                </a:cubicBezTo>
                <a:cubicBezTo>
                  <a:pt x="279514" y="197587"/>
                  <a:pt x="279643" y="200519"/>
                  <a:pt x="279514" y="203577"/>
                </a:cubicBezTo>
                <a:cubicBezTo>
                  <a:pt x="283972" y="198097"/>
                  <a:pt x="284099" y="198224"/>
                  <a:pt x="289956" y="201538"/>
                </a:cubicBezTo>
                <a:cubicBezTo>
                  <a:pt x="286391" y="208803"/>
                  <a:pt x="286645" y="217597"/>
                  <a:pt x="280788" y="223970"/>
                </a:cubicBezTo>
                <a:cubicBezTo>
                  <a:pt x="280152" y="224607"/>
                  <a:pt x="280406" y="225499"/>
                  <a:pt x="280406" y="226391"/>
                </a:cubicBezTo>
                <a:cubicBezTo>
                  <a:pt x="280915" y="231234"/>
                  <a:pt x="276330" y="232127"/>
                  <a:pt x="273784" y="234549"/>
                </a:cubicBezTo>
                <a:cubicBezTo>
                  <a:pt x="269837" y="232509"/>
                  <a:pt x="269837" y="237353"/>
                  <a:pt x="269837" y="237862"/>
                </a:cubicBezTo>
                <a:cubicBezTo>
                  <a:pt x="271238" y="244107"/>
                  <a:pt x="268690" y="250480"/>
                  <a:pt x="270091" y="256852"/>
                </a:cubicBezTo>
                <a:cubicBezTo>
                  <a:pt x="267800" y="257617"/>
                  <a:pt x="265125" y="256979"/>
                  <a:pt x="262833" y="258382"/>
                </a:cubicBezTo>
                <a:cubicBezTo>
                  <a:pt x="262706" y="258382"/>
                  <a:pt x="262324" y="258255"/>
                  <a:pt x="262068" y="258128"/>
                </a:cubicBezTo>
                <a:cubicBezTo>
                  <a:pt x="260541" y="257617"/>
                  <a:pt x="260923" y="259019"/>
                  <a:pt x="260923" y="259528"/>
                </a:cubicBezTo>
                <a:cubicBezTo>
                  <a:pt x="260923" y="261441"/>
                  <a:pt x="260668" y="263735"/>
                  <a:pt x="262833" y="264754"/>
                </a:cubicBezTo>
                <a:cubicBezTo>
                  <a:pt x="263342" y="265010"/>
                  <a:pt x="264616" y="264499"/>
                  <a:pt x="264998" y="263990"/>
                </a:cubicBezTo>
                <a:cubicBezTo>
                  <a:pt x="266271" y="262588"/>
                  <a:pt x="267291" y="260803"/>
                  <a:pt x="268563" y="259274"/>
                </a:cubicBezTo>
                <a:cubicBezTo>
                  <a:pt x="269964" y="260930"/>
                  <a:pt x="268690" y="263225"/>
                  <a:pt x="270855" y="263990"/>
                </a:cubicBezTo>
                <a:cubicBezTo>
                  <a:pt x="270982" y="265010"/>
                  <a:pt x="270855" y="266666"/>
                  <a:pt x="272256" y="266156"/>
                </a:cubicBezTo>
                <a:cubicBezTo>
                  <a:pt x="273402" y="265774"/>
                  <a:pt x="275440" y="265901"/>
                  <a:pt x="275440" y="263990"/>
                </a:cubicBezTo>
                <a:cubicBezTo>
                  <a:pt x="275440" y="262205"/>
                  <a:pt x="274039" y="260930"/>
                  <a:pt x="272256" y="260548"/>
                </a:cubicBezTo>
                <a:cubicBezTo>
                  <a:pt x="272129" y="257490"/>
                  <a:pt x="273275" y="254813"/>
                  <a:pt x="275185" y="252137"/>
                </a:cubicBezTo>
                <a:cubicBezTo>
                  <a:pt x="276459" y="255450"/>
                  <a:pt x="279260" y="257235"/>
                  <a:pt x="279514" y="260803"/>
                </a:cubicBezTo>
                <a:cubicBezTo>
                  <a:pt x="279643" y="263990"/>
                  <a:pt x="277732" y="266029"/>
                  <a:pt x="276459" y="268578"/>
                </a:cubicBezTo>
                <a:cubicBezTo>
                  <a:pt x="278878" y="269343"/>
                  <a:pt x="280915" y="266156"/>
                  <a:pt x="282189" y="269343"/>
                </a:cubicBezTo>
                <a:cubicBezTo>
                  <a:pt x="282443" y="270107"/>
                  <a:pt x="282825" y="271254"/>
                  <a:pt x="282571" y="271636"/>
                </a:cubicBezTo>
                <a:cubicBezTo>
                  <a:pt x="281424" y="273294"/>
                  <a:pt x="279643" y="273294"/>
                  <a:pt x="278113" y="272274"/>
                </a:cubicBezTo>
                <a:cubicBezTo>
                  <a:pt x="275567" y="270363"/>
                  <a:pt x="274931" y="271892"/>
                  <a:pt x="273911" y="273931"/>
                </a:cubicBezTo>
                <a:cubicBezTo>
                  <a:pt x="273275" y="275205"/>
                  <a:pt x="272766" y="276352"/>
                  <a:pt x="272639" y="277627"/>
                </a:cubicBezTo>
                <a:cubicBezTo>
                  <a:pt x="276076" y="277627"/>
                  <a:pt x="277986" y="280049"/>
                  <a:pt x="279387" y="282725"/>
                </a:cubicBezTo>
                <a:cubicBezTo>
                  <a:pt x="279897" y="282725"/>
                  <a:pt x="280406" y="282725"/>
                  <a:pt x="280915" y="282725"/>
                </a:cubicBezTo>
                <a:cubicBezTo>
                  <a:pt x="280024" y="280558"/>
                  <a:pt x="286009" y="279156"/>
                  <a:pt x="281553" y="276734"/>
                </a:cubicBezTo>
                <a:cubicBezTo>
                  <a:pt x="282698" y="274185"/>
                  <a:pt x="284099" y="274185"/>
                  <a:pt x="285882" y="276225"/>
                </a:cubicBezTo>
                <a:cubicBezTo>
                  <a:pt x="286518" y="276990"/>
                  <a:pt x="287792" y="277882"/>
                  <a:pt x="288811" y="276480"/>
                </a:cubicBezTo>
                <a:cubicBezTo>
                  <a:pt x="289575" y="275333"/>
                  <a:pt x="288555" y="274441"/>
                  <a:pt x="287792" y="273676"/>
                </a:cubicBezTo>
                <a:cubicBezTo>
                  <a:pt x="283463" y="269598"/>
                  <a:pt x="283463" y="269598"/>
                  <a:pt x="286518" y="265264"/>
                </a:cubicBezTo>
                <a:cubicBezTo>
                  <a:pt x="287283" y="264117"/>
                  <a:pt x="288046" y="262970"/>
                  <a:pt x="289065" y="261441"/>
                </a:cubicBezTo>
                <a:cubicBezTo>
                  <a:pt x="287028" y="260294"/>
                  <a:pt x="284353" y="260803"/>
                  <a:pt x="283207" y="258382"/>
                </a:cubicBezTo>
                <a:cubicBezTo>
                  <a:pt x="285373" y="254177"/>
                  <a:pt x="288938" y="250353"/>
                  <a:pt x="286391" y="244871"/>
                </a:cubicBezTo>
                <a:cubicBezTo>
                  <a:pt x="285754" y="243469"/>
                  <a:pt x="286264" y="241686"/>
                  <a:pt x="287792" y="240284"/>
                </a:cubicBezTo>
                <a:cubicBezTo>
                  <a:pt x="293649" y="234931"/>
                  <a:pt x="293649" y="234803"/>
                  <a:pt x="290466" y="226774"/>
                </a:cubicBezTo>
                <a:cubicBezTo>
                  <a:pt x="288684" y="229067"/>
                  <a:pt x="288428" y="231872"/>
                  <a:pt x="289193" y="235058"/>
                </a:cubicBezTo>
                <a:cubicBezTo>
                  <a:pt x="283844" y="232636"/>
                  <a:pt x="286264" y="229067"/>
                  <a:pt x="286264" y="226009"/>
                </a:cubicBezTo>
                <a:cubicBezTo>
                  <a:pt x="286264" y="222185"/>
                  <a:pt x="290085" y="222185"/>
                  <a:pt x="291995" y="220274"/>
                </a:cubicBezTo>
                <a:cubicBezTo>
                  <a:pt x="292886" y="219381"/>
                  <a:pt x="294414" y="220656"/>
                  <a:pt x="294414" y="222441"/>
                </a:cubicBezTo>
                <a:cubicBezTo>
                  <a:pt x="294414" y="223205"/>
                  <a:pt x="292122" y="225116"/>
                  <a:pt x="295177" y="224734"/>
                </a:cubicBezTo>
                <a:cubicBezTo>
                  <a:pt x="296197" y="224607"/>
                  <a:pt x="298870" y="224734"/>
                  <a:pt x="296960" y="221803"/>
                </a:cubicBezTo>
                <a:cubicBezTo>
                  <a:pt x="295686" y="219763"/>
                  <a:pt x="295815" y="217725"/>
                  <a:pt x="297725" y="215048"/>
                </a:cubicBezTo>
                <a:cubicBezTo>
                  <a:pt x="300780" y="210715"/>
                  <a:pt x="299380" y="204724"/>
                  <a:pt x="301290" y="199753"/>
                </a:cubicBezTo>
                <a:cubicBezTo>
                  <a:pt x="301290" y="199626"/>
                  <a:pt x="300526" y="198989"/>
                  <a:pt x="300144" y="198733"/>
                </a:cubicBezTo>
                <a:cubicBezTo>
                  <a:pt x="299380" y="197969"/>
                  <a:pt x="298234" y="197333"/>
                  <a:pt x="299253" y="196058"/>
                </a:cubicBezTo>
                <a:cubicBezTo>
                  <a:pt x="300271" y="194911"/>
                  <a:pt x="301290" y="195802"/>
                  <a:pt x="302308" y="196185"/>
                </a:cubicBezTo>
                <a:cubicBezTo>
                  <a:pt x="302691" y="196440"/>
                  <a:pt x="308294" y="200135"/>
                  <a:pt x="308676" y="200391"/>
                </a:cubicBezTo>
                <a:cubicBezTo>
                  <a:pt x="311222" y="202048"/>
                  <a:pt x="311349" y="206126"/>
                  <a:pt x="315043" y="206637"/>
                </a:cubicBezTo>
                <a:cubicBezTo>
                  <a:pt x="316826" y="204597"/>
                  <a:pt x="313770" y="202813"/>
                  <a:pt x="314533" y="201284"/>
                </a:cubicBezTo>
                <a:cubicBezTo>
                  <a:pt x="316443" y="197333"/>
                  <a:pt x="313388" y="196185"/>
                  <a:pt x="311222" y="194655"/>
                </a:cubicBezTo>
                <a:cubicBezTo>
                  <a:pt x="309058" y="193126"/>
                  <a:pt x="308803" y="193382"/>
                  <a:pt x="310459" y="190449"/>
                </a:cubicBezTo>
                <a:cubicBezTo>
                  <a:pt x="311987" y="191342"/>
                  <a:pt x="313388" y="192234"/>
                  <a:pt x="315934" y="193764"/>
                </a:cubicBezTo>
                <a:cubicBezTo>
                  <a:pt x="314662" y="189429"/>
                  <a:pt x="311349" y="187773"/>
                  <a:pt x="311605" y="183058"/>
                </a:cubicBezTo>
                <a:cubicBezTo>
                  <a:pt x="310077" y="185351"/>
                  <a:pt x="309439" y="186244"/>
                  <a:pt x="308803" y="187136"/>
                </a:cubicBezTo>
                <a:cubicBezTo>
                  <a:pt x="307275" y="186881"/>
                  <a:pt x="305110" y="187518"/>
                  <a:pt x="305619" y="184587"/>
                </a:cubicBezTo>
                <a:cubicBezTo>
                  <a:pt x="306001" y="181783"/>
                  <a:pt x="306384" y="178852"/>
                  <a:pt x="306639" y="176047"/>
                </a:cubicBezTo>
                <a:cubicBezTo>
                  <a:pt x="302691" y="174518"/>
                  <a:pt x="304856" y="172734"/>
                  <a:pt x="306257" y="170694"/>
                </a:cubicBezTo>
                <a:cubicBezTo>
                  <a:pt x="307658" y="168910"/>
                  <a:pt x="308803" y="166999"/>
                  <a:pt x="308676" y="164577"/>
                </a:cubicBezTo>
                <a:cubicBezTo>
                  <a:pt x="306511" y="165979"/>
                  <a:pt x="303200" y="166361"/>
                  <a:pt x="303328" y="170185"/>
                </a:cubicBezTo>
                <a:cubicBezTo>
                  <a:pt x="303328" y="170823"/>
                  <a:pt x="302181" y="171587"/>
                  <a:pt x="301418" y="171204"/>
                </a:cubicBezTo>
                <a:cubicBezTo>
                  <a:pt x="300780" y="170821"/>
                  <a:pt x="300398" y="169930"/>
                  <a:pt x="300271" y="169165"/>
                </a:cubicBezTo>
                <a:cubicBezTo>
                  <a:pt x="300271" y="168655"/>
                  <a:pt x="306001" y="159224"/>
                  <a:pt x="306511" y="158841"/>
                </a:cubicBezTo>
                <a:cubicBezTo>
                  <a:pt x="306766" y="156420"/>
                  <a:pt x="307020" y="153998"/>
                  <a:pt x="307275" y="151195"/>
                </a:cubicBezTo>
                <a:cubicBezTo>
                  <a:pt x="310968" y="153233"/>
                  <a:pt x="312750" y="155655"/>
                  <a:pt x="311987" y="159479"/>
                </a:cubicBezTo>
                <a:cubicBezTo>
                  <a:pt x="314916" y="159479"/>
                  <a:pt x="316443" y="157822"/>
                  <a:pt x="317462" y="155146"/>
                </a:cubicBezTo>
                <a:cubicBezTo>
                  <a:pt x="318991" y="151067"/>
                  <a:pt x="317462" y="148135"/>
                  <a:pt x="313261" y="147371"/>
                </a:cubicBezTo>
                <a:cubicBezTo>
                  <a:pt x="312496" y="147244"/>
                  <a:pt x="311605" y="147371"/>
                  <a:pt x="310713" y="147371"/>
                </a:cubicBezTo>
                <a:cubicBezTo>
                  <a:pt x="308549" y="146862"/>
                  <a:pt x="308167" y="145459"/>
                  <a:pt x="309822" y="143802"/>
                </a:cubicBezTo>
                <a:cubicBezTo>
                  <a:pt x="310840" y="142782"/>
                  <a:pt x="311987" y="141891"/>
                  <a:pt x="313132" y="141125"/>
                </a:cubicBezTo>
                <a:cubicBezTo>
                  <a:pt x="314151" y="140489"/>
                  <a:pt x="315552" y="140233"/>
                  <a:pt x="316061" y="141253"/>
                </a:cubicBezTo>
                <a:cubicBezTo>
                  <a:pt x="316443" y="142018"/>
                  <a:pt x="315807" y="143292"/>
                  <a:pt x="315807" y="144311"/>
                </a:cubicBezTo>
                <a:cubicBezTo>
                  <a:pt x="315807" y="144567"/>
                  <a:pt x="316443" y="144949"/>
                  <a:pt x="316699" y="145204"/>
                </a:cubicBezTo>
                <a:cubicBezTo>
                  <a:pt x="318863" y="144567"/>
                  <a:pt x="317972" y="140743"/>
                  <a:pt x="320519" y="140871"/>
                </a:cubicBezTo>
                <a:cubicBezTo>
                  <a:pt x="322047" y="141891"/>
                  <a:pt x="321028" y="142655"/>
                  <a:pt x="320901" y="143293"/>
                </a:cubicBezTo>
                <a:cubicBezTo>
                  <a:pt x="320901" y="144184"/>
                  <a:pt x="320646" y="144949"/>
                  <a:pt x="320392" y="145713"/>
                </a:cubicBezTo>
                <a:cubicBezTo>
                  <a:pt x="319372" y="150940"/>
                  <a:pt x="319500" y="151067"/>
                  <a:pt x="325484" y="152469"/>
                </a:cubicBezTo>
                <a:cubicBezTo>
                  <a:pt x="325103" y="151322"/>
                  <a:pt x="328032" y="149664"/>
                  <a:pt x="325613" y="149282"/>
                </a:cubicBezTo>
                <a:cubicBezTo>
                  <a:pt x="322556" y="148900"/>
                  <a:pt x="321155" y="148773"/>
                  <a:pt x="323192" y="145586"/>
                </a:cubicBezTo>
                <a:cubicBezTo>
                  <a:pt x="323830" y="144440"/>
                  <a:pt x="323957" y="143038"/>
                  <a:pt x="324339" y="141508"/>
                </a:cubicBezTo>
                <a:cubicBezTo>
                  <a:pt x="329814" y="141762"/>
                  <a:pt x="330578" y="146989"/>
                  <a:pt x="333507" y="149920"/>
                </a:cubicBezTo>
                <a:cubicBezTo>
                  <a:pt x="330834" y="151577"/>
                  <a:pt x="328795" y="153744"/>
                  <a:pt x="325613" y="152851"/>
                </a:cubicBezTo>
                <a:cubicBezTo>
                  <a:pt x="325867" y="154126"/>
                  <a:pt x="327523" y="154763"/>
                  <a:pt x="326631" y="156548"/>
                </a:cubicBezTo>
                <a:cubicBezTo>
                  <a:pt x="326376" y="156930"/>
                  <a:pt x="326249" y="162410"/>
                  <a:pt x="330324" y="158714"/>
                </a:cubicBezTo>
                <a:cubicBezTo>
                  <a:pt x="332106" y="157057"/>
                  <a:pt x="333762" y="158968"/>
                  <a:pt x="335036" y="160499"/>
                </a:cubicBezTo>
                <a:cubicBezTo>
                  <a:pt x="331343" y="163430"/>
                  <a:pt x="336055" y="165468"/>
                  <a:pt x="335799" y="168018"/>
                </a:cubicBezTo>
                <a:cubicBezTo>
                  <a:pt x="335799" y="169165"/>
                  <a:pt x="335799" y="170821"/>
                  <a:pt x="334781" y="170821"/>
                </a:cubicBezTo>
                <a:cubicBezTo>
                  <a:pt x="329051" y="171077"/>
                  <a:pt x="334781" y="173881"/>
                  <a:pt x="333762" y="175156"/>
                </a:cubicBezTo>
                <a:cubicBezTo>
                  <a:pt x="334908" y="175538"/>
                  <a:pt x="335672" y="176303"/>
                  <a:pt x="335672" y="177576"/>
                </a:cubicBezTo>
                <a:cubicBezTo>
                  <a:pt x="335672" y="178725"/>
                  <a:pt x="335672" y="179743"/>
                  <a:pt x="335672" y="182676"/>
                </a:cubicBezTo>
                <a:cubicBezTo>
                  <a:pt x="336945" y="179743"/>
                  <a:pt x="337200" y="177832"/>
                  <a:pt x="338219" y="177194"/>
                </a:cubicBezTo>
                <a:cubicBezTo>
                  <a:pt x="339748" y="176303"/>
                  <a:pt x="340766" y="177959"/>
                  <a:pt x="341020" y="179361"/>
                </a:cubicBezTo>
                <a:cubicBezTo>
                  <a:pt x="341530" y="182038"/>
                  <a:pt x="343822" y="182547"/>
                  <a:pt x="345732" y="183440"/>
                </a:cubicBezTo>
                <a:cubicBezTo>
                  <a:pt x="345605" y="182420"/>
                  <a:pt x="345732" y="181018"/>
                  <a:pt x="345096" y="180381"/>
                </a:cubicBezTo>
                <a:cubicBezTo>
                  <a:pt x="342167" y="177576"/>
                  <a:pt x="342167" y="174901"/>
                  <a:pt x="344077" y="171332"/>
                </a:cubicBezTo>
                <a:cubicBezTo>
                  <a:pt x="345605" y="168528"/>
                  <a:pt x="345987" y="165214"/>
                  <a:pt x="346879" y="162155"/>
                </a:cubicBezTo>
                <a:cubicBezTo>
                  <a:pt x="344458" y="160626"/>
                  <a:pt x="343440" y="165086"/>
                  <a:pt x="341147" y="163430"/>
                </a:cubicBezTo>
                <a:cubicBezTo>
                  <a:pt x="340129" y="160115"/>
                  <a:pt x="341785" y="157566"/>
                  <a:pt x="342676" y="154890"/>
                </a:cubicBezTo>
                <a:cubicBezTo>
                  <a:pt x="343440" y="152213"/>
                  <a:pt x="345732" y="150684"/>
                  <a:pt x="348534" y="151449"/>
                </a:cubicBezTo>
                <a:cubicBezTo>
                  <a:pt x="350444" y="151959"/>
                  <a:pt x="351080" y="151959"/>
                  <a:pt x="350826" y="149920"/>
                </a:cubicBezTo>
                <a:cubicBezTo>
                  <a:pt x="350571" y="148391"/>
                  <a:pt x="349679" y="146989"/>
                  <a:pt x="348024" y="147753"/>
                </a:cubicBezTo>
                <a:cubicBezTo>
                  <a:pt x="343567" y="149793"/>
                  <a:pt x="345732" y="147244"/>
                  <a:pt x="344969" y="144822"/>
                </a:cubicBezTo>
                <a:cubicBezTo>
                  <a:pt x="342803" y="137940"/>
                  <a:pt x="345350" y="131821"/>
                  <a:pt x="346879" y="125704"/>
                </a:cubicBezTo>
                <a:cubicBezTo>
                  <a:pt x="347515" y="123410"/>
                  <a:pt x="348534" y="122263"/>
                  <a:pt x="346241" y="120351"/>
                </a:cubicBezTo>
                <a:cubicBezTo>
                  <a:pt x="345350" y="119586"/>
                  <a:pt x="345223" y="116910"/>
                  <a:pt x="348278" y="117674"/>
                </a:cubicBezTo>
                <a:cubicBezTo>
                  <a:pt x="349425" y="117929"/>
                  <a:pt x="350571" y="116782"/>
                  <a:pt x="350317" y="115635"/>
                </a:cubicBezTo>
                <a:cubicBezTo>
                  <a:pt x="350190" y="114743"/>
                  <a:pt x="349170" y="113341"/>
                  <a:pt x="348024" y="113723"/>
                </a:cubicBezTo>
                <a:cubicBezTo>
                  <a:pt x="346751" y="114106"/>
                  <a:pt x="345987" y="114360"/>
                  <a:pt x="345732" y="112704"/>
                </a:cubicBezTo>
                <a:cubicBezTo>
                  <a:pt x="345223" y="108880"/>
                  <a:pt x="349170" y="105184"/>
                  <a:pt x="351718" y="107606"/>
                </a:cubicBezTo>
                <a:cubicBezTo>
                  <a:pt x="355283" y="110919"/>
                  <a:pt x="355792" y="107096"/>
                  <a:pt x="357448" y="106331"/>
                </a:cubicBezTo>
                <a:cubicBezTo>
                  <a:pt x="351462" y="104164"/>
                  <a:pt x="351208" y="97792"/>
                  <a:pt x="348407" y="92948"/>
                </a:cubicBezTo>
                <a:cubicBezTo>
                  <a:pt x="347642" y="94223"/>
                  <a:pt x="346751" y="95115"/>
                  <a:pt x="346497" y="96262"/>
                </a:cubicBezTo>
                <a:cubicBezTo>
                  <a:pt x="345605" y="101105"/>
                  <a:pt x="345605" y="100596"/>
                  <a:pt x="341657" y="101233"/>
                </a:cubicBezTo>
                <a:cubicBezTo>
                  <a:pt x="336309" y="102253"/>
                  <a:pt x="335163" y="98047"/>
                  <a:pt x="332871" y="95115"/>
                </a:cubicBezTo>
                <a:lnTo>
                  <a:pt x="333125" y="95243"/>
                </a:lnTo>
                <a:moveTo>
                  <a:pt x="367381" y="95498"/>
                </a:moveTo>
                <a:cubicBezTo>
                  <a:pt x="363178" y="96135"/>
                  <a:pt x="365088" y="98939"/>
                  <a:pt x="364961" y="101105"/>
                </a:cubicBezTo>
                <a:cubicBezTo>
                  <a:pt x="365724" y="100850"/>
                  <a:pt x="366489" y="100596"/>
                  <a:pt x="366998" y="100086"/>
                </a:cubicBezTo>
                <a:cubicBezTo>
                  <a:pt x="368272" y="98684"/>
                  <a:pt x="371455" y="100341"/>
                  <a:pt x="371583" y="97282"/>
                </a:cubicBezTo>
                <a:cubicBezTo>
                  <a:pt x="371583" y="95370"/>
                  <a:pt x="372219" y="93331"/>
                  <a:pt x="371074" y="91419"/>
                </a:cubicBezTo>
                <a:cubicBezTo>
                  <a:pt x="370436" y="90399"/>
                  <a:pt x="369673" y="89252"/>
                  <a:pt x="368526" y="89507"/>
                </a:cubicBezTo>
                <a:cubicBezTo>
                  <a:pt x="365597" y="90145"/>
                  <a:pt x="368399" y="91419"/>
                  <a:pt x="368399" y="92439"/>
                </a:cubicBezTo>
                <a:cubicBezTo>
                  <a:pt x="368399" y="93586"/>
                  <a:pt x="368399" y="95243"/>
                  <a:pt x="367508" y="95370"/>
                </a:cubicBezTo>
                <a:lnTo>
                  <a:pt x="367381" y="95498"/>
                </a:lnTo>
                <a:moveTo>
                  <a:pt x="358976" y="279284"/>
                </a:moveTo>
                <a:cubicBezTo>
                  <a:pt x="360759" y="284255"/>
                  <a:pt x="361141" y="289608"/>
                  <a:pt x="363432" y="295726"/>
                </a:cubicBezTo>
                <a:cubicBezTo>
                  <a:pt x="364324" y="292157"/>
                  <a:pt x="367635" y="290500"/>
                  <a:pt x="365470" y="287696"/>
                </a:cubicBezTo>
                <a:cubicBezTo>
                  <a:pt x="363687" y="285402"/>
                  <a:pt x="362414" y="282980"/>
                  <a:pt x="361268" y="280304"/>
                </a:cubicBezTo>
                <a:cubicBezTo>
                  <a:pt x="359740" y="276607"/>
                  <a:pt x="365215" y="275843"/>
                  <a:pt x="364706" y="272529"/>
                </a:cubicBezTo>
                <a:cubicBezTo>
                  <a:pt x="361013" y="273294"/>
                  <a:pt x="357702" y="275587"/>
                  <a:pt x="358849" y="279156"/>
                </a:cubicBezTo>
                <a:lnTo>
                  <a:pt x="358976" y="279284"/>
                </a:lnTo>
                <a:moveTo>
                  <a:pt x="346241" y="191469"/>
                </a:moveTo>
                <a:cubicBezTo>
                  <a:pt x="350402" y="190025"/>
                  <a:pt x="352354" y="187094"/>
                  <a:pt x="352100" y="182676"/>
                </a:cubicBezTo>
                <a:cubicBezTo>
                  <a:pt x="350190" y="183567"/>
                  <a:pt x="348024" y="183694"/>
                  <a:pt x="345987" y="183567"/>
                </a:cubicBezTo>
                <a:cubicBezTo>
                  <a:pt x="345732" y="184587"/>
                  <a:pt x="346751" y="186627"/>
                  <a:pt x="344331" y="185989"/>
                </a:cubicBezTo>
                <a:cubicBezTo>
                  <a:pt x="342421" y="185478"/>
                  <a:pt x="340766" y="184205"/>
                  <a:pt x="338983" y="183567"/>
                </a:cubicBezTo>
                <a:cubicBezTo>
                  <a:pt x="337583" y="183058"/>
                  <a:pt x="336309" y="183567"/>
                  <a:pt x="335799" y="185224"/>
                </a:cubicBezTo>
                <a:cubicBezTo>
                  <a:pt x="337710" y="186244"/>
                  <a:pt x="339748" y="187136"/>
                  <a:pt x="338219" y="190067"/>
                </a:cubicBezTo>
                <a:cubicBezTo>
                  <a:pt x="337456" y="191597"/>
                  <a:pt x="336564" y="193636"/>
                  <a:pt x="338219" y="194655"/>
                </a:cubicBezTo>
                <a:cubicBezTo>
                  <a:pt x="341530" y="196695"/>
                  <a:pt x="341912" y="200391"/>
                  <a:pt x="343568" y="203704"/>
                </a:cubicBezTo>
                <a:cubicBezTo>
                  <a:pt x="346497" y="201284"/>
                  <a:pt x="343567" y="199117"/>
                  <a:pt x="344458" y="197077"/>
                </a:cubicBezTo>
                <a:cubicBezTo>
                  <a:pt x="341020" y="195420"/>
                  <a:pt x="340766" y="192616"/>
                  <a:pt x="342803" y="189940"/>
                </a:cubicBezTo>
                <a:cubicBezTo>
                  <a:pt x="344841" y="187391"/>
                  <a:pt x="345859" y="189431"/>
                  <a:pt x="346368" y="191469"/>
                </a:cubicBezTo>
                <a:lnTo>
                  <a:pt x="346241" y="191469"/>
                </a:lnTo>
                <a:moveTo>
                  <a:pt x="359485" y="118312"/>
                </a:moveTo>
                <a:cubicBezTo>
                  <a:pt x="357702" y="118694"/>
                  <a:pt x="355665" y="118949"/>
                  <a:pt x="355028" y="121370"/>
                </a:cubicBezTo>
                <a:cubicBezTo>
                  <a:pt x="356556" y="123410"/>
                  <a:pt x="359740" y="123537"/>
                  <a:pt x="361268" y="126086"/>
                </a:cubicBezTo>
                <a:cubicBezTo>
                  <a:pt x="361268" y="124812"/>
                  <a:pt x="361395" y="123410"/>
                  <a:pt x="361522" y="122135"/>
                </a:cubicBezTo>
                <a:cubicBezTo>
                  <a:pt x="363687" y="119841"/>
                  <a:pt x="364197" y="116910"/>
                  <a:pt x="365342" y="114106"/>
                </a:cubicBezTo>
                <a:cubicBezTo>
                  <a:pt x="366234" y="111811"/>
                  <a:pt x="365343" y="110919"/>
                  <a:pt x="363814" y="110282"/>
                </a:cubicBezTo>
                <a:cubicBezTo>
                  <a:pt x="361650" y="109517"/>
                  <a:pt x="359358" y="109517"/>
                  <a:pt x="357702" y="111557"/>
                </a:cubicBezTo>
                <a:cubicBezTo>
                  <a:pt x="356301" y="113341"/>
                  <a:pt x="358211" y="114615"/>
                  <a:pt x="358593" y="116145"/>
                </a:cubicBezTo>
                <a:cubicBezTo>
                  <a:pt x="358849" y="116910"/>
                  <a:pt x="359231" y="117674"/>
                  <a:pt x="359485" y="118439"/>
                </a:cubicBezTo>
                <a:lnTo>
                  <a:pt x="359485" y="118312"/>
                </a:lnTo>
                <a:moveTo>
                  <a:pt x="358211" y="149920"/>
                </a:moveTo>
                <a:cubicBezTo>
                  <a:pt x="360886" y="153998"/>
                  <a:pt x="363687" y="150429"/>
                  <a:pt x="366107" y="150684"/>
                </a:cubicBezTo>
                <a:cubicBezTo>
                  <a:pt x="363814" y="148518"/>
                  <a:pt x="361268" y="149410"/>
                  <a:pt x="358211" y="149920"/>
                </a:cubicBezTo>
                <a:moveTo>
                  <a:pt x="352736" y="127743"/>
                </a:moveTo>
                <a:cubicBezTo>
                  <a:pt x="353755" y="131185"/>
                  <a:pt x="350953" y="136027"/>
                  <a:pt x="355920" y="138958"/>
                </a:cubicBezTo>
                <a:cubicBezTo>
                  <a:pt x="355920" y="134498"/>
                  <a:pt x="354391" y="131056"/>
                  <a:pt x="352736" y="127743"/>
                </a:cubicBezTo>
                <a:moveTo>
                  <a:pt x="348407" y="138194"/>
                </a:moveTo>
                <a:cubicBezTo>
                  <a:pt x="348322" y="141762"/>
                  <a:pt x="351165" y="144269"/>
                  <a:pt x="356939" y="145713"/>
                </a:cubicBezTo>
                <a:cubicBezTo>
                  <a:pt x="353755" y="142145"/>
                  <a:pt x="351589" y="139724"/>
                  <a:pt x="348407" y="138194"/>
                </a:cubicBezTo>
                <a:moveTo>
                  <a:pt x="348278" y="276990"/>
                </a:moveTo>
                <a:cubicBezTo>
                  <a:pt x="351462" y="277882"/>
                  <a:pt x="352227" y="280431"/>
                  <a:pt x="354391" y="281833"/>
                </a:cubicBezTo>
                <a:cubicBezTo>
                  <a:pt x="354137" y="279284"/>
                  <a:pt x="356047" y="276352"/>
                  <a:pt x="353245" y="274951"/>
                </a:cubicBezTo>
                <a:cubicBezTo>
                  <a:pt x="351718" y="274185"/>
                  <a:pt x="349935" y="275716"/>
                  <a:pt x="348278" y="276990"/>
                </a:cubicBezTo>
                <a:moveTo>
                  <a:pt x="355538" y="293049"/>
                </a:moveTo>
                <a:cubicBezTo>
                  <a:pt x="356939" y="291647"/>
                  <a:pt x="358339" y="290118"/>
                  <a:pt x="358084" y="287951"/>
                </a:cubicBezTo>
                <a:cubicBezTo>
                  <a:pt x="358084" y="286804"/>
                  <a:pt x="358084" y="285147"/>
                  <a:pt x="356939" y="285147"/>
                </a:cubicBezTo>
                <a:cubicBezTo>
                  <a:pt x="354137" y="285020"/>
                  <a:pt x="356174" y="286931"/>
                  <a:pt x="355920" y="287951"/>
                </a:cubicBezTo>
                <a:cubicBezTo>
                  <a:pt x="355411" y="290755"/>
                  <a:pt x="354010" y="289991"/>
                  <a:pt x="352481" y="288842"/>
                </a:cubicBezTo>
                <a:cubicBezTo>
                  <a:pt x="351462" y="288460"/>
                  <a:pt x="350826" y="289098"/>
                  <a:pt x="350571" y="289862"/>
                </a:cubicBezTo>
                <a:cubicBezTo>
                  <a:pt x="349808" y="292029"/>
                  <a:pt x="351718" y="292793"/>
                  <a:pt x="352863" y="293942"/>
                </a:cubicBezTo>
                <a:cubicBezTo>
                  <a:pt x="354137" y="295215"/>
                  <a:pt x="354773" y="293942"/>
                  <a:pt x="355538" y="293177"/>
                </a:cubicBezTo>
                <a:lnTo>
                  <a:pt x="355538" y="293049"/>
                </a:lnTo>
                <a:moveTo>
                  <a:pt x="354010" y="298402"/>
                </a:moveTo>
                <a:cubicBezTo>
                  <a:pt x="353755" y="297128"/>
                  <a:pt x="352736" y="296617"/>
                  <a:pt x="351462" y="297255"/>
                </a:cubicBezTo>
                <a:cubicBezTo>
                  <a:pt x="349808" y="298146"/>
                  <a:pt x="348534" y="299549"/>
                  <a:pt x="347769" y="302353"/>
                </a:cubicBezTo>
                <a:cubicBezTo>
                  <a:pt x="350062" y="302353"/>
                  <a:pt x="350953" y="300059"/>
                  <a:pt x="353245" y="300697"/>
                </a:cubicBezTo>
                <a:cubicBezTo>
                  <a:pt x="354773" y="301079"/>
                  <a:pt x="354137" y="299166"/>
                  <a:pt x="354010" y="298402"/>
                </a:cubicBezTo>
                <a:moveTo>
                  <a:pt x="358211" y="166743"/>
                </a:moveTo>
                <a:cubicBezTo>
                  <a:pt x="359103" y="168528"/>
                  <a:pt x="360121" y="166743"/>
                  <a:pt x="360376" y="166106"/>
                </a:cubicBezTo>
                <a:cubicBezTo>
                  <a:pt x="361013" y="164704"/>
                  <a:pt x="362542" y="163685"/>
                  <a:pt x="362160" y="161901"/>
                </a:cubicBezTo>
                <a:cubicBezTo>
                  <a:pt x="360121" y="160881"/>
                  <a:pt x="358976" y="162792"/>
                  <a:pt x="357702" y="163430"/>
                </a:cubicBezTo>
                <a:cubicBezTo>
                  <a:pt x="355792" y="164450"/>
                  <a:pt x="357702" y="165852"/>
                  <a:pt x="358211" y="166743"/>
                </a:cubicBezTo>
                <a:moveTo>
                  <a:pt x="360249" y="170057"/>
                </a:moveTo>
                <a:cubicBezTo>
                  <a:pt x="362033" y="172352"/>
                  <a:pt x="364324" y="171714"/>
                  <a:pt x="365853" y="172479"/>
                </a:cubicBezTo>
                <a:cubicBezTo>
                  <a:pt x="367381" y="173116"/>
                  <a:pt x="368272" y="175538"/>
                  <a:pt x="368017" y="171841"/>
                </a:cubicBezTo>
                <a:cubicBezTo>
                  <a:pt x="367890" y="169421"/>
                  <a:pt x="366998" y="167126"/>
                  <a:pt x="366362" y="164832"/>
                </a:cubicBezTo>
                <a:cubicBezTo>
                  <a:pt x="364070" y="166361"/>
                  <a:pt x="365343" y="171459"/>
                  <a:pt x="360122" y="170057"/>
                </a:cubicBezTo>
                <a:lnTo>
                  <a:pt x="360249" y="170057"/>
                </a:lnTo>
                <a:moveTo>
                  <a:pt x="371328" y="152342"/>
                </a:moveTo>
                <a:cubicBezTo>
                  <a:pt x="369418" y="151831"/>
                  <a:pt x="368017" y="151449"/>
                  <a:pt x="366616" y="151067"/>
                </a:cubicBezTo>
                <a:cubicBezTo>
                  <a:pt x="366362" y="152597"/>
                  <a:pt x="364070" y="154381"/>
                  <a:pt x="365724" y="155146"/>
                </a:cubicBezTo>
                <a:cubicBezTo>
                  <a:pt x="367890" y="156166"/>
                  <a:pt x="370182" y="154763"/>
                  <a:pt x="371328" y="152342"/>
                </a:cubicBezTo>
                <a:moveTo>
                  <a:pt x="371455" y="141125"/>
                </a:moveTo>
                <a:cubicBezTo>
                  <a:pt x="371455" y="138067"/>
                  <a:pt x="368144" y="139596"/>
                  <a:pt x="367254" y="138067"/>
                </a:cubicBezTo>
                <a:cubicBezTo>
                  <a:pt x="366234" y="136409"/>
                  <a:pt x="365597" y="135263"/>
                  <a:pt x="364452" y="138067"/>
                </a:cubicBezTo>
                <a:cubicBezTo>
                  <a:pt x="364070" y="138958"/>
                  <a:pt x="363051" y="139469"/>
                  <a:pt x="362287" y="140106"/>
                </a:cubicBezTo>
                <a:cubicBezTo>
                  <a:pt x="364706" y="142018"/>
                  <a:pt x="368781" y="138322"/>
                  <a:pt x="370309" y="142655"/>
                </a:cubicBezTo>
                <a:cubicBezTo>
                  <a:pt x="370563" y="143547"/>
                  <a:pt x="370945" y="143547"/>
                  <a:pt x="371201" y="142655"/>
                </a:cubicBezTo>
                <a:cubicBezTo>
                  <a:pt x="371328" y="142145"/>
                  <a:pt x="371455" y="141635"/>
                  <a:pt x="371455" y="140998"/>
                </a:cubicBezTo>
                <a:lnTo>
                  <a:pt x="371455" y="141125"/>
                </a:lnTo>
                <a:moveTo>
                  <a:pt x="365342" y="77782"/>
                </a:moveTo>
                <a:cubicBezTo>
                  <a:pt x="365342" y="77782"/>
                  <a:pt x="364961" y="77399"/>
                  <a:pt x="364706" y="77399"/>
                </a:cubicBezTo>
                <a:cubicBezTo>
                  <a:pt x="362542" y="77017"/>
                  <a:pt x="361777" y="78674"/>
                  <a:pt x="360886" y="80076"/>
                </a:cubicBezTo>
                <a:cubicBezTo>
                  <a:pt x="360249" y="81223"/>
                  <a:pt x="359485" y="82242"/>
                  <a:pt x="358722" y="83389"/>
                </a:cubicBezTo>
                <a:cubicBezTo>
                  <a:pt x="360632" y="84409"/>
                  <a:pt x="361395" y="82752"/>
                  <a:pt x="362669" y="82370"/>
                </a:cubicBezTo>
                <a:cubicBezTo>
                  <a:pt x="364706" y="81605"/>
                  <a:pt x="365342" y="79821"/>
                  <a:pt x="365342" y="77909"/>
                </a:cubicBezTo>
                <a:lnTo>
                  <a:pt x="365342" y="77782"/>
                </a:lnTo>
                <a:moveTo>
                  <a:pt x="358722" y="106331"/>
                </a:moveTo>
                <a:cubicBezTo>
                  <a:pt x="359994" y="106331"/>
                  <a:pt x="361395" y="106331"/>
                  <a:pt x="362669" y="106331"/>
                </a:cubicBezTo>
                <a:cubicBezTo>
                  <a:pt x="365470" y="105949"/>
                  <a:pt x="365853" y="104929"/>
                  <a:pt x="364706" y="101488"/>
                </a:cubicBezTo>
                <a:cubicBezTo>
                  <a:pt x="361650" y="101743"/>
                  <a:pt x="361268" y="105566"/>
                  <a:pt x="358722" y="106459"/>
                </a:cubicBezTo>
                <a:lnTo>
                  <a:pt x="358722" y="106331"/>
                </a:lnTo>
                <a:moveTo>
                  <a:pt x="318226" y="162919"/>
                </a:moveTo>
                <a:cubicBezTo>
                  <a:pt x="318226" y="162919"/>
                  <a:pt x="318226" y="161390"/>
                  <a:pt x="317971" y="160626"/>
                </a:cubicBezTo>
                <a:cubicBezTo>
                  <a:pt x="317971" y="160499"/>
                  <a:pt x="317081" y="160371"/>
                  <a:pt x="316699" y="160626"/>
                </a:cubicBezTo>
                <a:cubicBezTo>
                  <a:pt x="314789" y="161646"/>
                  <a:pt x="312496" y="162283"/>
                  <a:pt x="312114" y="164832"/>
                </a:cubicBezTo>
                <a:cubicBezTo>
                  <a:pt x="312114" y="165214"/>
                  <a:pt x="312623" y="165724"/>
                  <a:pt x="312878" y="166106"/>
                </a:cubicBezTo>
                <a:cubicBezTo>
                  <a:pt x="313132" y="166106"/>
                  <a:pt x="313515" y="166106"/>
                  <a:pt x="313642" y="166106"/>
                </a:cubicBezTo>
                <a:cubicBezTo>
                  <a:pt x="315171" y="164959"/>
                  <a:pt x="317335" y="164704"/>
                  <a:pt x="318099" y="162919"/>
                </a:cubicBezTo>
                <a:lnTo>
                  <a:pt x="318226" y="162919"/>
                </a:lnTo>
                <a:moveTo>
                  <a:pt x="316443" y="186627"/>
                </a:moveTo>
                <a:lnTo>
                  <a:pt x="316443" y="177449"/>
                </a:lnTo>
                <a:cubicBezTo>
                  <a:pt x="316443" y="180381"/>
                  <a:pt x="311095" y="183567"/>
                  <a:pt x="316443" y="186627"/>
                </a:cubicBezTo>
                <a:moveTo>
                  <a:pt x="309950" y="176047"/>
                </a:moveTo>
                <a:cubicBezTo>
                  <a:pt x="310459" y="176812"/>
                  <a:pt x="310204" y="178469"/>
                  <a:pt x="311860" y="177449"/>
                </a:cubicBezTo>
                <a:cubicBezTo>
                  <a:pt x="313005" y="176685"/>
                  <a:pt x="312878" y="175665"/>
                  <a:pt x="311987" y="174518"/>
                </a:cubicBezTo>
                <a:cubicBezTo>
                  <a:pt x="310968" y="173243"/>
                  <a:pt x="310077" y="171969"/>
                  <a:pt x="308930" y="170439"/>
                </a:cubicBezTo>
                <a:cubicBezTo>
                  <a:pt x="307785" y="172734"/>
                  <a:pt x="308676" y="174390"/>
                  <a:pt x="309822" y="176047"/>
                </a:cubicBezTo>
                <a:lnTo>
                  <a:pt x="309950" y="176047"/>
                </a:lnTo>
                <a:moveTo>
                  <a:pt x="307402" y="213263"/>
                </a:moveTo>
                <a:cubicBezTo>
                  <a:pt x="310968" y="213901"/>
                  <a:pt x="309822" y="212117"/>
                  <a:pt x="308930" y="210842"/>
                </a:cubicBezTo>
                <a:cubicBezTo>
                  <a:pt x="307785" y="209440"/>
                  <a:pt x="309058" y="206637"/>
                  <a:pt x="306128" y="205999"/>
                </a:cubicBezTo>
                <a:cubicBezTo>
                  <a:pt x="304601" y="209440"/>
                  <a:pt x="305874" y="213390"/>
                  <a:pt x="302691" y="217087"/>
                </a:cubicBezTo>
                <a:cubicBezTo>
                  <a:pt x="307529" y="217214"/>
                  <a:pt x="305492" y="212881"/>
                  <a:pt x="307402" y="213136"/>
                </a:cubicBezTo>
                <a:lnTo>
                  <a:pt x="307402" y="213263"/>
                </a:lnTo>
                <a:moveTo>
                  <a:pt x="305874" y="219892"/>
                </a:moveTo>
                <a:cubicBezTo>
                  <a:pt x="301163" y="223332"/>
                  <a:pt x="305110" y="225245"/>
                  <a:pt x="307020" y="227411"/>
                </a:cubicBezTo>
                <a:cubicBezTo>
                  <a:pt x="306001" y="225245"/>
                  <a:pt x="306639" y="222567"/>
                  <a:pt x="305874" y="219892"/>
                </a:cubicBezTo>
                <a:moveTo>
                  <a:pt x="303455" y="231489"/>
                </a:moveTo>
                <a:cubicBezTo>
                  <a:pt x="303455" y="233147"/>
                  <a:pt x="304729" y="234038"/>
                  <a:pt x="306001" y="234420"/>
                </a:cubicBezTo>
                <a:cubicBezTo>
                  <a:pt x="310331" y="235567"/>
                  <a:pt x="313132" y="233529"/>
                  <a:pt x="313261" y="229196"/>
                </a:cubicBezTo>
                <a:cubicBezTo>
                  <a:pt x="313261" y="227411"/>
                  <a:pt x="313897" y="225372"/>
                  <a:pt x="312496" y="223714"/>
                </a:cubicBezTo>
                <a:cubicBezTo>
                  <a:pt x="312241" y="223714"/>
                  <a:pt x="311860" y="223843"/>
                  <a:pt x="311732" y="223970"/>
                </a:cubicBezTo>
                <a:cubicBezTo>
                  <a:pt x="309822" y="225754"/>
                  <a:pt x="310331" y="228048"/>
                  <a:pt x="310077" y="230214"/>
                </a:cubicBezTo>
                <a:cubicBezTo>
                  <a:pt x="309822" y="232764"/>
                  <a:pt x="308676" y="233783"/>
                  <a:pt x="306257" y="232127"/>
                </a:cubicBezTo>
                <a:cubicBezTo>
                  <a:pt x="305492" y="231616"/>
                  <a:pt x="305110" y="230087"/>
                  <a:pt x="303709" y="230852"/>
                </a:cubicBezTo>
                <a:cubicBezTo>
                  <a:pt x="303582" y="230852"/>
                  <a:pt x="303328" y="231362"/>
                  <a:pt x="303328" y="231616"/>
                </a:cubicBezTo>
                <a:lnTo>
                  <a:pt x="303455" y="231489"/>
                </a:lnTo>
                <a:moveTo>
                  <a:pt x="301418" y="250353"/>
                </a:moveTo>
                <a:cubicBezTo>
                  <a:pt x="301418" y="248695"/>
                  <a:pt x="301418" y="247166"/>
                  <a:pt x="301290" y="245509"/>
                </a:cubicBezTo>
                <a:cubicBezTo>
                  <a:pt x="301290" y="244744"/>
                  <a:pt x="300780" y="243853"/>
                  <a:pt x="299762" y="244744"/>
                </a:cubicBezTo>
                <a:cubicBezTo>
                  <a:pt x="298997" y="245382"/>
                  <a:pt x="297725" y="244871"/>
                  <a:pt x="297343" y="246146"/>
                </a:cubicBezTo>
                <a:cubicBezTo>
                  <a:pt x="299507" y="246656"/>
                  <a:pt x="297725" y="251244"/>
                  <a:pt x="301418" y="250226"/>
                </a:cubicBezTo>
                <a:lnTo>
                  <a:pt x="301418" y="250353"/>
                </a:lnTo>
                <a:moveTo>
                  <a:pt x="298488" y="260676"/>
                </a:moveTo>
                <a:cubicBezTo>
                  <a:pt x="297979" y="259784"/>
                  <a:pt x="297597" y="258892"/>
                  <a:pt x="296960" y="257617"/>
                </a:cubicBezTo>
                <a:cubicBezTo>
                  <a:pt x="296197" y="261441"/>
                  <a:pt x="294032" y="260166"/>
                  <a:pt x="291995" y="259657"/>
                </a:cubicBezTo>
                <a:cubicBezTo>
                  <a:pt x="291995" y="260166"/>
                  <a:pt x="291612" y="260803"/>
                  <a:pt x="291739" y="261186"/>
                </a:cubicBezTo>
                <a:cubicBezTo>
                  <a:pt x="292758" y="263608"/>
                  <a:pt x="295050" y="264499"/>
                  <a:pt x="297216" y="263225"/>
                </a:cubicBezTo>
                <a:cubicBezTo>
                  <a:pt x="298107" y="262715"/>
                  <a:pt x="299253" y="262078"/>
                  <a:pt x="298488" y="260676"/>
                </a:cubicBezTo>
                <a:moveTo>
                  <a:pt x="279005" y="282980"/>
                </a:moveTo>
                <a:cubicBezTo>
                  <a:pt x="274293" y="283489"/>
                  <a:pt x="274293" y="283618"/>
                  <a:pt x="273275" y="289098"/>
                </a:cubicBezTo>
                <a:cubicBezTo>
                  <a:pt x="276076" y="289862"/>
                  <a:pt x="278751" y="290627"/>
                  <a:pt x="277732" y="285911"/>
                </a:cubicBezTo>
                <a:cubicBezTo>
                  <a:pt x="277604" y="285147"/>
                  <a:pt x="278496" y="284000"/>
                  <a:pt x="279005" y="283107"/>
                </a:cubicBezTo>
                <a:lnTo>
                  <a:pt x="279005" y="282980"/>
                </a:lnTo>
                <a:moveTo>
                  <a:pt x="275185" y="309363"/>
                </a:moveTo>
                <a:cubicBezTo>
                  <a:pt x="277731" y="312677"/>
                  <a:pt x="280279" y="311019"/>
                  <a:pt x="282062" y="308853"/>
                </a:cubicBezTo>
                <a:cubicBezTo>
                  <a:pt x="282953" y="307833"/>
                  <a:pt x="282698" y="305539"/>
                  <a:pt x="282316" y="304010"/>
                </a:cubicBezTo>
                <a:cubicBezTo>
                  <a:pt x="281680" y="300951"/>
                  <a:pt x="278113" y="301206"/>
                  <a:pt x="276586" y="298912"/>
                </a:cubicBezTo>
                <a:cubicBezTo>
                  <a:pt x="277945" y="302735"/>
                  <a:pt x="277435" y="306219"/>
                  <a:pt x="275058" y="309363"/>
                </a:cubicBezTo>
                <a:lnTo>
                  <a:pt x="275185" y="309363"/>
                </a:lnTo>
                <a:moveTo>
                  <a:pt x="279897" y="292793"/>
                </a:moveTo>
                <a:cubicBezTo>
                  <a:pt x="279897" y="292793"/>
                  <a:pt x="281297" y="296108"/>
                  <a:pt x="282316" y="297764"/>
                </a:cubicBezTo>
                <a:cubicBezTo>
                  <a:pt x="282571" y="298146"/>
                  <a:pt x="283972" y="298019"/>
                  <a:pt x="284735" y="297764"/>
                </a:cubicBezTo>
                <a:cubicBezTo>
                  <a:pt x="285118" y="297764"/>
                  <a:pt x="285627" y="296873"/>
                  <a:pt x="285500" y="296362"/>
                </a:cubicBezTo>
                <a:cubicBezTo>
                  <a:pt x="284735" y="292411"/>
                  <a:pt x="282953" y="288460"/>
                  <a:pt x="285500" y="284382"/>
                </a:cubicBezTo>
                <a:cubicBezTo>
                  <a:pt x="285882" y="283745"/>
                  <a:pt x="284481" y="284000"/>
                  <a:pt x="283717" y="283873"/>
                </a:cubicBezTo>
                <a:cubicBezTo>
                  <a:pt x="282698" y="283745"/>
                  <a:pt x="281807" y="283235"/>
                  <a:pt x="280788" y="282853"/>
                </a:cubicBezTo>
                <a:cubicBezTo>
                  <a:pt x="279770" y="285911"/>
                  <a:pt x="283463" y="289607"/>
                  <a:pt x="279770" y="292666"/>
                </a:cubicBezTo>
                <a:lnTo>
                  <a:pt x="279897" y="292793"/>
                </a:lnTo>
                <a:moveTo>
                  <a:pt x="283334" y="398324"/>
                </a:moveTo>
                <a:cubicBezTo>
                  <a:pt x="283334" y="398324"/>
                  <a:pt x="284864" y="397942"/>
                  <a:pt x="285882" y="397560"/>
                </a:cubicBezTo>
                <a:cubicBezTo>
                  <a:pt x="286009" y="395011"/>
                  <a:pt x="283844" y="390677"/>
                  <a:pt x="281043" y="388384"/>
                </a:cubicBezTo>
                <a:cubicBezTo>
                  <a:pt x="280661" y="392079"/>
                  <a:pt x="283463" y="394884"/>
                  <a:pt x="283334" y="398324"/>
                </a:cubicBezTo>
                <a:moveTo>
                  <a:pt x="265888" y="320578"/>
                </a:moveTo>
                <a:cubicBezTo>
                  <a:pt x="266017" y="323256"/>
                  <a:pt x="263342" y="324529"/>
                  <a:pt x="262579" y="327207"/>
                </a:cubicBezTo>
                <a:cubicBezTo>
                  <a:pt x="266738" y="325591"/>
                  <a:pt x="268478" y="323212"/>
                  <a:pt x="267800" y="320069"/>
                </a:cubicBezTo>
                <a:cubicBezTo>
                  <a:pt x="267291" y="317774"/>
                  <a:pt x="266908" y="315352"/>
                  <a:pt x="266399" y="313059"/>
                </a:cubicBezTo>
                <a:cubicBezTo>
                  <a:pt x="266144" y="313059"/>
                  <a:pt x="265888" y="313059"/>
                  <a:pt x="265634" y="313059"/>
                </a:cubicBezTo>
                <a:cubicBezTo>
                  <a:pt x="265634" y="315608"/>
                  <a:pt x="265507" y="318030"/>
                  <a:pt x="265634" y="320578"/>
                </a:cubicBezTo>
                <a:lnTo>
                  <a:pt x="265888" y="320578"/>
                </a:lnTo>
                <a:moveTo>
                  <a:pt x="269710" y="298784"/>
                </a:moveTo>
                <a:cubicBezTo>
                  <a:pt x="266144" y="295471"/>
                  <a:pt x="266653" y="290500"/>
                  <a:pt x="264616" y="286549"/>
                </a:cubicBezTo>
                <a:cubicBezTo>
                  <a:pt x="263980" y="285274"/>
                  <a:pt x="262706" y="284127"/>
                  <a:pt x="261178" y="285147"/>
                </a:cubicBezTo>
                <a:cubicBezTo>
                  <a:pt x="259777" y="286040"/>
                  <a:pt x="256338" y="284382"/>
                  <a:pt x="256976" y="288078"/>
                </a:cubicBezTo>
                <a:cubicBezTo>
                  <a:pt x="259140" y="289991"/>
                  <a:pt x="261050" y="290755"/>
                  <a:pt x="263469" y="290882"/>
                </a:cubicBezTo>
                <a:cubicBezTo>
                  <a:pt x="261517" y="296065"/>
                  <a:pt x="261517" y="301843"/>
                  <a:pt x="263469" y="308215"/>
                </a:cubicBezTo>
                <a:cubicBezTo>
                  <a:pt x="269328" y="307579"/>
                  <a:pt x="266399" y="301206"/>
                  <a:pt x="269710" y="298912"/>
                </a:cubicBezTo>
                <a:lnTo>
                  <a:pt x="269710" y="298784"/>
                </a:lnTo>
                <a:moveTo>
                  <a:pt x="261687" y="317903"/>
                </a:moveTo>
                <a:cubicBezTo>
                  <a:pt x="261687" y="317010"/>
                  <a:pt x="261178" y="316372"/>
                  <a:pt x="260158" y="315990"/>
                </a:cubicBezTo>
                <a:cubicBezTo>
                  <a:pt x="258630" y="316372"/>
                  <a:pt x="258503" y="317903"/>
                  <a:pt x="258121" y="319176"/>
                </a:cubicBezTo>
                <a:cubicBezTo>
                  <a:pt x="257739" y="320196"/>
                  <a:pt x="258630" y="320451"/>
                  <a:pt x="259522" y="320451"/>
                </a:cubicBezTo>
                <a:cubicBezTo>
                  <a:pt x="261305" y="320451"/>
                  <a:pt x="261941" y="319687"/>
                  <a:pt x="261687" y="317903"/>
                </a:cubicBezTo>
                <a:moveTo>
                  <a:pt x="246534" y="275843"/>
                </a:moveTo>
                <a:cubicBezTo>
                  <a:pt x="247170" y="275587"/>
                  <a:pt x="247552" y="275333"/>
                  <a:pt x="247297" y="274185"/>
                </a:cubicBezTo>
                <a:cubicBezTo>
                  <a:pt x="246534" y="271254"/>
                  <a:pt x="242714" y="269215"/>
                  <a:pt x="244624" y="265392"/>
                </a:cubicBezTo>
                <a:cubicBezTo>
                  <a:pt x="245005" y="264499"/>
                  <a:pt x="243223" y="264117"/>
                  <a:pt x="242076" y="264117"/>
                </a:cubicBezTo>
                <a:cubicBezTo>
                  <a:pt x="240548" y="264245"/>
                  <a:pt x="240294" y="265010"/>
                  <a:pt x="240930" y="266283"/>
                </a:cubicBezTo>
                <a:cubicBezTo>
                  <a:pt x="241694" y="267814"/>
                  <a:pt x="240802" y="268961"/>
                  <a:pt x="240166" y="270107"/>
                </a:cubicBezTo>
                <a:cubicBezTo>
                  <a:pt x="241567" y="270745"/>
                  <a:pt x="243223" y="271254"/>
                  <a:pt x="242203" y="273549"/>
                </a:cubicBezTo>
                <a:cubicBezTo>
                  <a:pt x="242203" y="273803"/>
                  <a:pt x="244624" y="274185"/>
                  <a:pt x="245005" y="275843"/>
                </a:cubicBezTo>
                <a:cubicBezTo>
                  <a:pt x="245514" y="275843"/>
                  <a:pt x="246151" y="275843"/>
                  <a:pt x="246534" y="275843"/>
                </a:cubicBezTo>
                <a:moveTo>
                  <a:pt x="234180" y="238754"/>
                </a:moveTo>
                <a:cubicBezTo>
                  <a:pt x="234180" y="236715"/>
                  <a:pt x="232016" y="237225"/>
                  <a:pt x="231380" y="235951"/>
                </a:cubicBezTo>
                <a:cubicBezTo>
                  <a:pt x="230742" y="234803"/>
                  <a:pt x="230488" y="233018"/>
                  <a:pt x="229342" y="235822"/>
                </a:cubicBezTo>
                <a:cubicBezTo>
                  <a:pt x="228705" y="237480"/>
                  <a:pt x="225522" y="236842"/>
                  <a:pt x="225522" y="239391"/>
                </a:cubicBezTo>
                <a:cubicBezTo>
                  <a:pt x="226922" y="240920"/>
                  <a:pt x="227941" y="237989"/>
                  <a:pt x="228832" y="238882"/>
                </a:cubicBezTo>
                <a:cubicBezTo>
                  <a:pt x="230360" y="240411"/>
                  <a:pt x="228705" y="240793"/>
                  <a:pt x="227687" y="241813"/>
                </a:cubicBezTo>
                <a:cubicBezTo>
                  <a:pt x="225777" y="243980"/>
                  <a:pt x="228196" y="244235"/>
                  <a:pt x="229470" y="245000"/>
                </a:cubicBezTo>
                <a:cubicBezTo>
                  <a:pt x="230998" y="242833"/>
                  <a:pt x="232653" y="240666"/>
                  <a:pt x="234180" y="238627"/>
                </a:cubicBezTo>
                <a:lnTo>
                  <a:pt x="234180" y="238754"/>
                </a:lnTo>
                <a:moveTo>
                  <a:pt x="225904" y="209950"/>
                </a:moveTo>
                <a:cubicBezTo>
                  <a:pt x="224885" y="211990"/>
                  <a:pt x="223867" y="214028"/>
                  <a:pt x="222720" y="215941"/>
                </a:cubicBezTo>
                <a:cubicBezTo>
                  <a:pt x="225139" y="216577"/>
                  <a:pt x="226795" y="213008"/>
                  <a:pt x="229597" y="214666"/>
                </a:cubicBezTo>
                <a:cubicBezTo>
                  <a:pt x="230742" y="215303"/>
                  <a:pt x="233926" y="210205"/>
                  <a:pt x="233162" y="208930"/>
                </a:cubicBezTo>
                <a:cubicBezTo>
                  <a:pt x="231889" y="206891"/>
                  <a:pt x="230871" y="208675"/>
                  <a:pt x="229851" y="209440"/>
                </a:cubicBezTo>
                <a:cubicBezTo>
                  <a:pt x="229215" y="209950"/>
                  <a:pt x="228578" y="210205"/>
                  <a:pt x="227814" y="209440"/>
                </a:cubicBezTo>
                <a:cubicBezTo>
                  <a:pt x="225012" y="206764"/>
                  <a:pt x="224376" y="203068"/>
                  <a:pt x="226159" y="199626"/>
                </a:cubicBezTo>
                <a:cubicBezTo>
                  <a:pt x="226922" y="198097"/>
                  <a:pt x="228961" y="197587"/>
                  <a:pt x="229088" y="194911"/>
                </a:cubicBezTo>
                <a:cubicBezTo>
                  <a:pt x="225650" y="194018"/>
                  <a:pt x="223994" y="191087"/>
                  <a:pt x="223994" y="186754"/>
                </a:cubicBezTo>
                <a:cubicBezTo>
                  <a:pt x="221192" y="189047"/>
                  <a:pt x="220429" y="192234"/>
                  <a:pt x="221574" y="193382"/>
                </a:cubicBezTo>
                <a:cubicBezTo>
                  <a:pt x="225650" y="197587"/>
                  <a:pt x="221065" y="200264"/>
                  <a:pt x="220301" y="203577"/>
                </a:cubicBezTo>
                <a:cubicBezTo>
                  <a:pt x="221192" y="204597"/>
                  <a:pt x="222084" y="205744"/>
                  <a:pt x="223102" y="206764"/>
                </a:cubicBezTo>
                <a:cubicBezTo>
                  <a:pt x="224121" y="207783"/>
                  <a:pt x="225012" y="208803"/>
                  <a:pt x="225904" y="209822"/>
                </a:cubicBezTo>
                <a:lnTo>
                  <a:pt x="225904" y="209950"/>
                </a:lnTo>
                <a:moveTo>
                  <a:pt x="218646" y="185734"/>
                </a:moveTo>
                <a:cubicBezTo>
                  <a:pt x="215335" y="186116"/>
                  <a:pt x="213042" y="184076"/>
                  <a:pt x="211132" y="181145"/>
                </a:cubicBezTo>
                <a:cubicBezTo>
                  <a:pt x="212024" y="184460"/>
                  <a:pt x="209349" y="187009"/>
                  <a:pt x="209476" y="189685"/>
                </a:cubicBezTo>
                <a:cubicBezTo>
                  <a:pt x="211769" y="190960"/>
                  <a:pt x="213170" y="186881"/>
                  <a:pt x="214953" y="189685"/>
                </a:cubicBezTo>
                <a:cubicBezTo>
                  <a:pt x="214826" y="189940"/>
                  <a:pt x="214697" y="190195"/>
                  <a:pt x="214570" y="190449"/>
                </a:cubicBezTo>
                <a:cubicBezTo>
                  <a:pt x="212916" y="192107"/>
                  <a:pt x="208840" y="191597"/>
                  <a:pt x="210368" y="196185"/>
                </a:cubicBezTo>
                <a:cubicBezTo>
                  <a:pt x="210750" y="197333"/>
                  <a:pt x="208713" y="195420"/>
                  <a:pt x="207439" y="195420"/>
                </a:cubicBezTo>
                <a:cubicBezTo>
                  <a:pt x="208458" y="200901"/>
                  <a:pt x="207695" y="206891"/>
                  <a:pt x="211769" y="211861"/>
                </a:cubicBezTo>
                <a:cubicBezTo>
                  <a:pt x="213425" y="207655"/>
                  <a:pt x="214953" y="203195"/>
                  <a:pt x="214061" y="198862"/>
                </a:cubicBezTo>
                <a:cubicBezTo>
                  <a:pt x="213042" y="193382"/>
                  <a:pt x="219791" y="191215"/>
                  <a:pt x="218646" y="185480"/>
                </a:cubicBezTo>
                <a:lnTo>
                  <a:pt x="218646" y="185734"/>
                </a:lnTo>
                <a:moveTo>
                  <a:pt x="200690" y="160117"/>
                </a:moveTo>
                <a:cubicBezTo>
                  <a:pt x="196488" y="162919"/>
                  <a:pt x="196361" y="163175"/>
                  <a:pt x="199544" y="164321"/>
                </a:cubicBezTo>
                <a:cubicBezTo>
                  <a:pt x="201582" y="165086"/>
                  <a:pt x="203365" y="165724"/>
                  <a:pt x="204128" y="167636"/>
                </a:cubicBezTo>
                <a:cubicBezTo>
                  <a:pt x="205784" y="171841"/>
                  <a:pt x="207566" y="168145"/>
                  <a:pt x="209349" y="167890"/>
                </a:cubicBezTo>
                <a:cubicBezTo>
                  <a:pt x="209732" y="167890"/>
                  <a:pt x="210114" y="166999"/>
                  <a:pt x="210114" y="166488"/>
                </a:cubicBezTo>
                <a:cubicBezTo>
                  <a:pt x="210114" y="165597"/>
                  <a:pt x="209349" y="164832"/>
                  <a:pt x="208458" y="165214"/>
                </a:cubicBezTo>
                <a:cubicBezTo>
                  <a:pt x="205402" y="166488"/>
                  <a:pt x="204255" y="164704"/>
                  <a:pt x="203746" y="162283"/>
                </a:cubicBezTo>
                <a:cubicBezTo>
                  <a:pt x="203492" y="161135"/>
                  <a:pt x="203492" y="160117"/>
                  <a:pt x="202091" y="159861"/>
                </a:cubicBezTo>
                <a:cubicBezTo>
                  <a:pt x="204001" y="156802"/>
                  <a:pt x="203492" y="154253"/>
                  <a:pt x="200562" y="152086"/>
                </a:cubicBezTo>
                <a:cubicBezTo>
                  <a:pt x="199672" y="151449"/>
                  <a:pt x="199163" y="151577"/>
                  <a:pt x="198525" y="152086"/>
                </a:cubicBezTo>
                <a:cubicBezTo>
                  <a:pt x="198016" y="152596"/>
                  <a:pt x="197124" y="153361"/>
                  <a:pt x="197889" y="154253"/>
                </a:cubicBezTo>
                <a:cubicBezTo>
                  <a:pt x="199544" y="155910"/>
                  <a:pt x="201073" y="157439"/>
                  <a:pt x="200690" y="160117"/>
                </a:cubicBezTo>
                <a:moveTo>
                  <a:pt x="202601" y="126724"/>
                </a:moveTo>
                <a:lnTo>
                  <a:pt x="202601" y="136282"/>
                </a:lnTo>
                <a:cubicBezTo>
                  <a:pt x="205487" y="132799"/>
                  <a:pt x="205487" y="129612"/>
                  <a:pt x="202601" y="126724"/>
                </a:cubicBezTo>
                <a:moveTo>
                  <a:pt x="221957" y="160626"/>
                </a:moveTo>
                <a:cubicBezTo>
                  <a:pt x="216990" y="164067"/>
                  <a:pt x="213552" y="168145"/>
                  <a:pt x="213297" y="174645"/>
                </a:cubicBezTo>
                <a:cubicBezTo>
                  <a:pt x="213297" y="177705"/>
                  <a:pt x="214697" y="181145"/>
                  <a:pt x="217372" y="181656"/>
                </a:cubicBezTo>
                <a:cubicBezTo>
                  <a:pt x="218773" y="181911"/>
                  <a:pt x="219409" y="180891"/>
                  <a:pt x="219918" y="179871"/>
                </a:cubicBezTo>
                <a:cubicBezTo>
                  <a:pt x="220301" y="179234"/>
                  <a:pt x="220556" y="178214"/>
                  <a:pt x="220301" y="177705"/>
                </a:cubicBezTo>
                <a:cubicBezTo>
                  <a:pt x="219918" y="176558"/>
                  <a:pt x="218900" y="177194"/>
                  <a:pt x="218136" y="177705"/>
                </a:cubicBezTo>
                <a:cubicBezTo>
                  <a:pt x="216990" y="178342"/>
                  <a:pt x="215844" y="178725"/>
                  <a:pt x="215717" y="177067"/>
                </a:cubicBezTo>
                <a:cubicBezTo>
                  <a:pt x="215717" y="175920"/>
                  <a:pt x="215462" y="173754"/>
                  <a:pt x="217499" y="173881"/>
                </a:cubicBezTo>
                <a:cubicBezTo>
                  <a:pt x="219028" y="173881"/>
                  <a:pt x="221447" y="175410"/>
                  <a:pt x="220301" y="172352"/>
                </a:cubicBezTo>
                <a:cubicBezTo>
                  <a:pt x="218900" y="168528"/>
                  <a:pt x="220556" y="168018"/>
                  <a:pt x="223611" y="168145"/>
                </a:cubicBezTo>
                <a:cubicBezTo>
                  <a:pt x="224758" y="168145"/>
                  <a:pt x="225777" y="166106"/>
                  <a:pt x="225012" y="166234"/>
                </a:cubicBezTo>
                <a:cubicBezTo>
                  <a:pt x="220429" y="166488"/>
                  <a:pt x="223229" y="162410"/>
                  <a:pt x="221701" y="161008"/>
                </a:cubicBezTo>
                <a:lnTo>
                  <a:pt x="221957" y="160626"/>
                </a:lnTo>
                <a:moveTo>
                  <a:pt x="217499" y="147244"/>
                </a:moveTo>
                <a:cubicBezTo>
                  <a:pt x="218263" y="147244"/>
                  <a:pt x="219028" y="146606"/>
                  <a:pt x="218900" y="145586"/>
                </a:cubicBezTo>
                <a:cubicBezTo>
                  <a:pt x="218646" y="144184"/>
                  <a:pt x="217499" y="144311"/>
                  <a:pt x="216353" y="144184"/>
                </a:cubicBezTo>
                <a:cubicBezTo>
                  <a:pt x="212660" y="143929"/>
                  <a:pt x="212024" y="147753"/>
                  <a:pt x="209476" y="149282"/>
                </a:cubicBezTo>
                <a:cubicBezTo>
                  <a:pt x="212660" y="149664"/>
                  <a:pt x="214570" y="147371"/>
                  <a:pt x="217499" y="147371"/>
                </a:cubicBezTo>
                <a:lnTo>
                  <a:pt x="217499" y="147244"/>
                </a:lnTo>
                <a:moveTo>
                  <a:pt x="220301" y="214539"/>
                </a:moveTo>
                <a:cubicBezTo>
                  <a:pt x="221319" y="210970"/>
                  <a:pt x="221065" y="208803"/>
                  <a:pt x="219155" y="207146"/>
                </a:cubicBezTo>
                <a:cubicBezTo>
                  <a:pt x="218517" y="206637"/>
                  <a:pt x="217754" y="206126"/>
                  <a:pt x="216990" y="206637"/>
                </a:cubicBezTo>
                <a:cubicBezTo>
                  <a:pt x="216607" y="206891"/>
                  <a:pt x="216353" y="207528"/>
                  <a:pt x="216098" y="208037"/>
                </a:cubicBezTo>
                <a:cubicBezTo>
                  <a:pt x="214316" y="212117"/>
                  <a:pt x="219409" y="211224"/>
                  <a:pt x="220301" y="214410"/>
                </a:cubicBezTo>
                <a:lnTo>
                  <a:pt x="220301" y="214539"/>
                </a:lnTo>
                <a:moveTo>
                  <a:pt x="235581" y="193253"/>
                </a:moveTo>
                <a:cubicBezTo>
                  <a:pt x="236770" y="188920"/>
                  <a:pt x="235539" y="185946"/>
                  <a:pt x="231889" y="184332"/>
                </a:cubicBezTo>
                <a:cubicBezTo>
                  <a:pt x="232399" y="182038"/>
                  <a:pt x="235327" y="181400"/>
                  <a:pt x="235581" y="178852"/>
                </a:cubicBezTo>
                <a:cubicBezTo>
                  <a:pt x="231931" y="176982"/>
                  <a:pt x="228493" y="177662"/>
                  <a:pt x="225268" y="180891"/>
                </a:cubicBezTo>
                <a:cubicBezTo>
                  <a:pt x="228578" y="182547"/>
                  <a:pt x="228069" y="188920"/>
                  <a:pt x="233926" y="187646"/>
                </a:cubicBezTo>
                <a:cubicBezTo>
                  <a:pt x="234563" y="187518"/>
                  <a:pt x="234691" y="189048"/>
                  <a:pt x="233926" y="189685"/>
                </a:cubicBezTo>
                <a:cubicBezTo>
                  <a:pt x="229979" y="192999"/>
                  <a:pt x="235454" y="191851"/>
                  <a:pt x="235581" y="193126"/>
                </a:cubicBezTo>
                <a:lnTo>
                  <a:pt x="235581" y="193253"/>
                </a:lnTo>
                <a:moveTo>
                  <a:pt x="238383" y="198606"/>
                </a:moveTo>
                <a:cubicBezTo>
                  <a:pt x="244241" y="197842"/>
                  <a:pt x="245642" y="191087"/>
                  <a:pt x="251117" y="190831"/>
                </a:cubicBezTo>
                <a:cubicBezTo>
                  <a:pt x="247552" y="191215"/>
                  <a:pt x="245769" y="188029"/>
                  <a:pt x="242203" y="186881"/>
                </a:cubicBezTo>
                <a:cubicBezTo>
                  <a:pt x="245514" y="192616"/>
                  <a:pt x="239530" y="194273"/>
                  <a:pt x="238383" y="198606"/>
                </a:cubicBezTo>
                <a:moveTo>
                  <a:pt x="247679" y="179107"/>
                </a:moveTo>
                <a:cubicBezTo>
                  <a:pt x="248826" y="175283"/>
                  <a:pt x="246405" y="172989"/>
                  <a:pt x="244114" y="170439"/>
                </a:cubicBezTo>
                <a:cubicBezTo>
                  <a:pt x="241949" y="175028"/>
                  <a:pt x="247425" y="175920"/>
                  <a:pt x="247679" y="179107"/>
                </a:cubicBezTo>
                <a:moveTo>
                  <a:pt x="256976" y="157695"/>
                </a:moveTo>
                <a:cubicBezTo>
                  <a:pt x="261178" y="154126"/>
                  <a:pt x="261941" y="158714"/>
                  <a:pt x="263469" y="161646"/>
                </a:cubicBezTo>
                <a:cubicBezTo>
                  <a:pt x="265507" y="158586"/>
                  <a:pt x="267545" y="156548"/>
                  <a:pt x="268181" y="154126"/>
                </a:cubicBezTo>
                <a:cubicBezTo>
                  <a:pt x="268563" y="152597"/>
                  <a:pt x="271111" y="150940"/>
                  <a:pt x="268945" y="148900"/>
                </a:cubicBezTo>
                <a:cubicBezTo>
                  <a:pt x="266271" y="146351"/>
                  <a:pt x="265125" y="149410"/>
                  <a:pt x="263469" y="150430"/>
                </a:cubicBezTo>
                <a:cubicBezTo>
                  <a:pt x="263088" y="150684"/>
                  <a:pt x="262579" y="150813"/>
                  <a:pt x="262197" y="151067"/>
                </a:cubicBezTo>
                <a:cubicBezTo>
                  <a:pt x="262579" y="152724"/>
                  <a:pt x="263978" y="154763"/>
                  <a:pt x="260541" y="154635"/>
                </a:cubicBezTo>
                <a:cubicBezTo>
                  <a:pt x="258376" y="154635"/>
                  <a:pt x="256976" y="155400"/>
                  <a:pt x="257103" y="157695"/>
                </a:cubicBezTo>
                <a:lnTo>
                  <a:pt x="256976" y="157695"/>
                </a:lnTo>
                <a:moveTo>
                  <a:pt x="279133" y="137429"/>
                </a:moveTo>
                <a:cubicBezTo>
                  <a:pt x="276586" y="138831"/>
                  <a:pt x="273148" y="139214"/>
                  <a:pt x="273021" y="143420"/>
                </a:cubicBezTo>
                <a:cubicBezTo>
                  <a:pt x="275185" y="141380"/>
                  <a:pt x="278369" y="138576"/>
                  <a:pt x="280152" y="139341"/>
                </a:cubicBezTo>
                <a:cubicBezTo>
                  <a:pt x="283463" y="140616"/>
                  <a:pt x="284608" y="136920"/>
                  <a:pt x="286774" y="136920"/>
                </a:cubicBezTo>
                <a:cubicBezTo>
                  <a:pt x="282698" y="134625"/>
                  <a:pt x="285118" y="128890"/>
                  <a:pt x="281680" y="126086"/>
                </a:cubicBezTo>
                <a:cubicBezTo>
                  <a:pt x="281170" y="127361"/>
                  <a:pt x="280915" y="129018"/>
                  <a:pt x="280024" y="129654"/>
                </a:cubicBezTo>
                <a:cubicBezTo>
                  <a:pt x="277222" y="131439"/>
                  <a:pt x="277604" y="132714"/>
                  <a:pt x="280024" y="134498"/>
                </a:cubicBezTo>
                <a:cubicBezTo>
                  <a:pt x="281553" y="135645"/>
                  <a:pt x="280533" y="136665"/>
                  <a:pt x="279005" y="137556"/>
                </a:cubicBezTo>
                <a:lnTo>
                  <a:pt x="279133" y="137429"/>
                </a:lnTo>
                <a:moveTo>
                  <a:pt x="286901" y="165597"/>
                </a:moveTo>
                <a:cubicBezTo>
                  <a:pt x="285627" y="164704"/>
                  <a:pt x="286901" y="162028"/>
                  <a:pt x="284353" y="162028"/>
                </a:cubicBezTo>
                <a:cubicBezTo>
                  <a:pt x="283463" y="162792"/>
                  <a:pt x="282698" y="163430"/>
                  <a:pt x="281934" y="164067"/>
                </a:cubicBezTo>
                <a:cubicBezTo>
                  <a:pt x="283080" y="165086"/>
                  <a:pt x="284099" y="166361"/>
                  <a:pt x="285500" y="167126"/>
                </a:cubicBezTo>
                <a:cubicBezTo>
                  <a:pt x="286009" y="167508"/>
                  <a:pt x="287283" y="165852"/>
                  <a:pt x="286901" y="165597"/>
                </a:cubicBezTo>
                <a:moveTo>
                  <a:pt x="279133" y="204215"/>
                </a:moveTo>
                <a:cubicBezTo>
                  <a:pt x="275312" y="207783"/>
                  <a:pt x="275694" y="212244"/>
                  <a:pt x="276586" y="216832"/>
                </a:cubicBezTo>
                <a:cubicBezTo>
                  <a:pt x="277477" y="212626"/>
                  <a:pt x="279387" y="208675"/>
                  <a:pt x="279133" y="204215"/>
                </a:cubicBezTo>
                <a:moveTo>
                  <a:pt x="272893" y="161773"/>
                </a:moveTo>
                <a:cubicBezTo>
                  <a:pt x="273657" y="163303"/>
                  <a:pt x="274293" y="164704"/>
                  <a:pt x="274166" y="166361"/>
                </a:cubicBezTo>
                <a:cubicBezTo>
                  <a:pt x="275312" y="165979"/>
                  <a:pt x="276076" y="164959"/>
                  <a:pt x="275694" y="164067"/>
                </a:cubicBezTo>
                <a:cubicBezTo>
                  <a:pt x="274549" y="161646"/>
                  <a:pt x="275440" y="159224"/>
                  <a:pt x="275185" y="156420"/>
                </a:cubicBezTo>
                <a:cubicBezTo>
                  <a:pt x="272893" y="158077"/>
                  <a:pt x="272001" y="159861"/>
                  <a:pt x="272893" y="161901"/>
                </a:cubicBezTo>
                <a:lnTo>
                  <a:pt x="272893" y="161773"/>
                </a:lnTo>
                <a:moveTo>
                  <a:pt x="269964" y="172096"/>
                </a:moveTo>
                <a:cubicBezTo>
                  <a:pt x="272256" y="176685"/>
                  <a:pt x="265379" y="173626"/>
                  <a:pt x="266017" y="176940"/>
                </a:cubicBezTo>
                <a:cubicBezTo>
                  <a:pt x="261177" y="182420"/>
                  <a:pt x="261050" y="183312"/>
                  <a:pt x="264361" y="188665"/>
                </a:cubicBezTo>
                <a:cubicBezTo>
                  <a:pt x="265634" y="186881"/>
                  <a:pt x="264998" y="183822"/>
                  <a:pt x="267672" y="183185"/>
                </a:cubicBezTo>
                <a:cubicBezTo>
                  <a:pt x="265888" y="181527"/>
                  <a:pt x="266526" y="179616"/>
                  <a:pt x="267035" y="177705"/>
                </a:cubicBezTo>
                <a:cubicBezTo>
                  <a:pt x="270219" y="177449"/>
                  <a:pt x="272766" y="175665"/>
                  <a:pt x="275185" y="173881"/>
                </a:cubicBezTo>
                <a:cubicBezTo>
                  <a:pt x="276459" y="172989"/>
                  <a:pt x="278113" y="170950"/>
                  <a:pt x="275185" y="169292"/>
                </a:cubicBezTo>
                <a:cubicBezTo>
                  <a:pt x="274549" y="168910"/>
                  <a:pt x="274422" y="167508"/>
                  <a:pt x="274039" y="166488"/>
                </a:cubicBezTo>
                <a:cubicBezTo>
                  <a:pt x="271238" y="167254"/>
                  <a:pt x="273148" y="171587"/>
                  <a:pt x="269964" y="172096"/>
                </a:cubicBezTo>
                <a:moveTo>
                  <a:pt x="256466" y="226901"/>
                </a:moveTo>
                <a:cubicBezTo>
                  <a:pt x="255447" y="227665"/>
                  <a:pt x="254937" y="229067"/>
                  <a:pt x="254047" y="230214"/>
                </a:cubicBezTo>
                <a:cubicBezTo>
                  <a:pt x="262068" y="227029"/>
                  <a:pt x="265507" y="219892"/>
                  <a:pt x="270091" y="213646"/>
                </a:cubicBezTo>
                <a:cubicBezTo>
                  <a:pt x="269837" y="213390"/>
                  <a:pt x="269582" y="213263"/>
                  <a:pt x="269328" y="213008"/>
                </a:cubicBezTo>
                <a:cubicBezTo>
                  <a:pt x="266526" y="211224"/>
                  <a:pt x="264870" y="214410"/>
                  <a:pt x="262324" y="214793"/>
                </a:cubicBezTo>
                <a:cubicBezTo>
                  <a:pt x="256720" y="215558"/>
                  <a:pt x="256084" y="216450"/>
                  <a:pt x="257612" y="221930"/>
                </a:cubicBezTo>
                <a:cubicBezTo>
                  <a:pt x="258248" y="224225"/>
                  <a:pt x="258248" y="225372"/>
                  <a:pt x="256338" y="226774"/>
                </a:cubicBezTo>
                <a:lnTo>
                  <a:pt x="256466" y="226901"/>
                </a:lnTo>
                <a:moveTo>
                  <a:pt x="259395" y="210205"/>
                </a:moveTo>
                <a:cubicBezTo>
                  <a:pt x="260158" y="210842"/>
                  <a:pt x="260541" y="212372"/>
                  <a:pt x="261941" y="211607"/>
                </a:cubicBezTo>
                <a:cubicBezTo>
                  <a:pt x="262324" y="211352"/>
                  <a:pt x="262706" y="210842"/>
                  <a:pt x="263088" y="210332"/>
                </a:cubicBezTo>
                <a:cubicBezTo>
                  <a:pt x="262706" y="208803"/>
                  <a:pt x="262324" y="207146"/>
                  <a:pt x="261687" y="205744"/>
                </a:cubicBezTo>
                <a:cubicBezTo>
                  <a:pt x="261178" y="204597"/>
                  <a:pt x="260287" y="204086"/>
                  <a:pt x="259013" y="204852"/>
                </a:cubicBezTo>
                <a:cubicBezTo>
                  <a:pt x="255066" y="207019"/>
                  <a:pt x="261814" y="208421"/>
                  <a:pt x="259395" y="210332"/>
                </a:cubicBezTo>
                <a:lnTo>
                  <a:pt x="259395" y="210205"/>
                </a:lnTo>
                <a:moveTo>
                  <a:pt x="270091" y="163812"/>
                </a:moveTo>
                <a:cubicBezTo>
                  <a:pt x="267162" y="162537"/>
                  <a:pt x="266780" y="167508"/>
                  <a:pt x="264234" y="165086"/>
                </a:cubicBezTo>
                <a:cubicBezTo>
                  <a:pt x="264234" y="165086"/>
                  <a:pt x="263469" y="165597"/>
                  <a:pt x="263088" y="165852"/>
                </a:cubicBezTo>
                <a:cubicBezTo>
                  <a:pt x="263724" y="166743"/>
                  <a:pt x="264361" y="167636"/>
                  <a:pt x="265252" y="168528"/>
                </a:cubicBezTo>
                <a:cubicBezTo>
                  <a:pt x="265888" y="169165"/>
                  <a:pt x="266780" y="169165"/>
                  <a:pt x="267418" y="168528"/>
                </a:cubicBezTo>
                <a:cubicBezTo>
                  <a:pt x="268436" y="167126"/>
                  <a:pt x="269199" y="165724"/>
                  <a:pt x="270219" y="163939"/>
                </a:cubicBezTo>
                <a:lnTo>
                  <a:pt x="270091" y="163812"/>
                </a:lnTo>
                <a:moveTo>
                  <a:pt x="252646" y="181018"/>
                </a:moveTo>
                <a:cubicBezTo>
                  <a:pt x="251372" y="181273"/>
                  <a:pt x="250608" y="183440"/>
                  <a:pt x="249462" y="184842"/>
                </a:cubicBezTo>
                <a:cubicBezTo>
                  <a:pt x="252900" y="185989"/>
                  <a:pt x="254810" y="182676"/>
                  <a:pt x="257866" y="182293"/>
                </a:cubicBezTo>
                <a:cubicBezTo>
                  <a:pt x="256084" y="181783"/>
                  <a:pt x="254174" y="180636"/>
                  <a:pt x="252646" y="181018"/>
                </a:cubicBezTo>
                <a:moveTo>
                  <a:pt x="238893" y="209950"/>
                </a:moveTo>
                <a:cubicBezTo>
                  <a:pt x="238383" y="210715"/>
                  <a:pt x="238893" y="211606"/>
                  <a:pt x="239530" y="212117"/>
                </a:cubicBezTo>
                <a:cubicBezTo>
                  <a:pt x="240421" y="212626"/>
                  <a:pt x="241057" y="211990"/>
                  <a:pt x="241694" y="211352"/>
                </a:cubicBezTo>
                <a:cubicBezTo>
                  <a:pt x="243223" y="210077"/>
                  <a:pt x="242968" y="208293"/>
                  <a:pt x="243095" y="206637"/>
                </a:cubicBezTo>
                <a:cubicBezTo>
                  <a:pt x="243095" y="205106"/>
                  <a:pt x="243477" y="203832"/>
                  <a:pt x="245642" y="205106"/>
                </a:cubicBezTo>
                <a:cubicBezTo>
                  <a:pt x="247552" y="206253"/>
                  <a:pt x="249335" y="204852"/>
                  <a:pt x="249207" y="203195"/>
                </a:cubicBezTo>
                <a:cubicBezTo>
                  <a:pt x="249080" y="201920"/>
                  <a:pt x="247043" y="200773"/>
                  <a:pt x="245896" y="199499"/>
                </a:cubicBezTo>
                <a:cubicBezTo>
                  <a:pt x="243986" y="200901"/>
                  <a:pt x="239912" y="201411"/>
                  <a:pt x="240675" y="203195"/>
                </a:cubicBezTo>
                <a:cubicBezTo>
                  <a:pt x="241949" y="206508"/>
                  <a:pt x="240293" y="207910"/>
                  <a:pt x="238893" y="209950"/>
                </a:cubicBezTo>
                <a:moveTo>
                  <a:pt x="245642" y="223970"/>
                </a:moveTo>
                <a:cubicBezTo>
                  <a:pt x="248444" y="223714"/>
                  <a:pt x="250863" y="223205"/>
                  <a:pt x="252518" y="220911"/>
                </a:cubicBezTo>
                <a:cubicBezTo>
                  <a:pt x="249080" y="218490"/>
                  <a:pt x="253792" y="214539"/>
                  <a:pt x="250735" y="211990"/>
                </a:cubicBezTo>
                <a:cubicBezTo>
                  <a:pt x="247552" y="215430"/>
                  <a:pt x="250226" y="221038"/>
                  <a:pt x="245642" y="223970"/>
                </a:cubicBezTo>
                <a:moveTo>
                  <a:pt x="247425" y="254941"/>
                </a:moveTo>
                <a:cubicBezTo>
                  <a:pt x="248953" y="253793"/>
                  <a:pt x="250226" y="252901"/>
                  <a:pt x="251499" y="251882"/>
                </a:cubicBezTo>
                <a:cubicBezTo>
                  <a:pt x="253919" y="249842"/>
                  <a:pt x="254428" y="246656"/>
                  <a:pt x="252646" y="243087"/>
                </a:cubicBezTo>
                <a:cubicBezTo>
                  <a:pt x="251626" y="241049"/>
                  <a:pt x="252646" y="240411"/>
                  <a:pt x="254174" y="240284"/>
                </a:cubicBezTo>
                <a:cubicBezTo>
                  <a:pt x="258630" y="240029"/>
                  <a:pt x="259268" y="237735"/>
                  <a:pt x="257994" y="233911"/>
                </a:cubicBezTo>
                <a:cubicBezTo>
                  <a:pt x="256847" y="234549"/>
                  <a:pt x="255320" y="234931"/>
                  <a:pt x="254556" y="235822"/>
                </a:cubicBezTo>
                <a:cubicBezTo>
                  <a:pt x="250099" y="240920"/>
                  <a:pt x="249716" y="241049"/>
                  <a:pt x="246534" y="236078"/>
                </a:cubicBezTo>
                <a:cubicBezTo>
                  <a:pt x="245896" y="235185"/>
                  <a:pt x="245515" y="234038"/>
                  <a:pt x="245260" y="233401"/>
                </a:cubicBezTo>
                <a:cubicBezTo>
                  <a:pt x="246151" y="230725"/>
                  <a:pt x="250481" y="230980"/>
                  <a:pt x="249335" y="227283"/>
                </a:cubicBezTo>
                <a:cubicBezTo>
                  <a:pt x="247552" y="228048"/>
                  <a:pt x="245769" y="227538"/>
                  <a:pt x="243477" y="227283"/>
                </a:cubicBezTo>
                <a:cubicBezTo>
                  <a:pt x="243732" y="233018"/>
                  <a:pt x="242203" y="239009"/>
                  <a:pt x="247552" y="243470"/>
                </a:cubicBezTo>
                <a:cubicBezTo>
                  <a:pt x="248825" y="244489"/>
                  <a:pt x="248315" y="245891"/>
                  <a:pt x="247552" y="247293"/>
                </a:cubicBezTo>
                <a:cubicBezTo>
                  <a:pt x="246278" y="249715"/>
                  <a:pt x="247043" y="252264"/>
                  <a:pt x="247425" y="254941"/>
                </a:cubicBezTo>
                <a:moveTo>
                  <a:pt x="251755" y="269343"/>
                </a:moveTo>
                <a:cubicBezTo>
                  <a:pt x="254683" y="270363"/>
                  <a:pt x="255066" y="273676"/>
                  <a:pt x="257866" y="275587"/>
                </a:cubicBezTo>
                <a:cubicBezTo>
                  <a:pt x="259564" y="270234"/>
                  <a:pt x="258801" y="265562"/>
                  <a:pt x="255575" y="261568"/>
                </a:cubicBezTo>
                <a:cubicBezTo>
                  <a:pt x="253792" y="262715"/>
                  <a:pt x="255829" y="266794"/>
                  <a:pt x="251755" y="266539"/>
                </a:cubicBezTo>
                <a:cubicBezTo>
                  <a:pt x="250354" y="266539"/>
                  <a:pt x="249972" y="268705"/>
                  <a:pt x="251755" y="269343"/>
                </a:cubicBezTo>
                <a:moveTo>
                  <a:pt x="272256" y="277754"/>
                </a:moveTo>
                <a:cubicBezTo>
                  <a:pt x="271238" y="277372"/>
                  <a:pt x="270473" y="276736"/>
                  <a:pt x="270473" y="275460"/>
                </a:cubicBezTo>
                <a:cubicBezTo>
                  <a:pt x="270600" y="273167"/>
                  <a:pt x="269837" y="271127"/>
                  <a:pt x="268945" y="268961"/>
                </a:cubicBezTo>
                <a:cubicBezTo>
                  <a:pt x="268436" y="267814"/>
                  <a:pt x="268818" y="265774"/>
                  <a:pt x="266653" y="266412"/>
                </a:cubicBezTo>
                <a:cubicBezTo>
                  <a:pt x="265252" y="266921"/>
                  <a:pt x="265761" y="268323"/>
                  <a:pt x="266271" y="269215"/>
                </a:cubicBezTo>
                <a:cubicBezTo>
                  <a:pt x="268181" y="272401"/>
                  <a:pt x="265761" y="273039"/>
                  <a:pt x="263724" y="274058"/>
                </a:cubicBezTo>
                <a:cubicBezTo>
                  <a:pt x="262706" y="274569"/>
                  <a:pt x="261305" y="272529"/>
                  <a:pt x="260923" y="273931"/>
                </a:cubicBezTo>
                <a:cubicBezTo>
                  <a:pt x="260287" y="276098"/>
                  <a:pt x="262579" y="275460"/>
                  <a:pt x="263597" y="275843"/>
                </a:cubicBezTo>
                <a:cubicBezTo>
                  <a:pt x="265125" y="276352"/>
                  <a:pt x="266908" y="276863"/>
                  <a:pt x="266399" y="279156"/>
                </a:cubicBezTo>
                <a:cubicBezTo>
                  <a:pt x="265805" y="282131"/>
                  <a:pt x="266823" y="285020"/>
                  <a:pt x="269455" y="287824"/>
                </a:cubicBezTo>
                <a:cubicBezTo>
                  <a:pt x="268309" y="283235"/>
                  <a:pt x="270091" y="280431"/>
                  <a:pt x="272001" y="277754"/>
                </a:cubicBezTo>
                <a:lnTo>
                  <a:pt x="272256" y="277754"/>
                </a:lnTo>
                <a:moveTo>
                  <a:pt x="288428" y="142909"/>
                </a:moveTo>
                <a:cubicBezTo>
                  <a:pt x="288555" y="144057"/>
                  <a:pt x="289574" y="144057"/>
                  <a:pt x="290339" y="143547"/>
                </a:cubicBezTo>
                <a:cubicBezTo>
                  <a:pt x="291103" y="143038"/>
                  <a:pt x="292886" y="142145"/>
                  <a:pt x="291612" y="141380"/>
                </a:cubicBezTo>
                <a:cubicBezTo>
                  <a:pt x="289956" y="140360"/>
                  <a:pt x="289574" y="138322"/>
                  <a:pt x="287919" y="137429"/>
                </a:cubicBezTo>
                <a:cubicBezTo>
                  <a:pt x="288046" y="139214"/>
                  <a:pt x="288174" y="141125"/>
                  <a:pt x="288428" y="142909"/>
                </a:cubicBezTo>
                <a:moveTo>
                  <a:pt x="292885" y="107478"/>
                </a:moveTo>
                <a:cubicBezTo>
                  <a:pt x="301163" y="109645"/>
                  <a:pt x="299508" y="100723"/>
                  <a:pt x="303964" y="98556"/>
                </a:cubicBezTo>
                <a:cubicBezTo>
                  <a:pt x="301672" y="98047"/>
                  <a:pt x="299253" y="97537"/>
                  <a:pt x="296960" y="97027"/>
                </a:cubicBezTo>
                <a:cubicBezTo>
                  <a:pt x="296069" y="98684"/>
                  <a:pt x="296197" y="100723"/>
                  <a:pt x="296833" y="101870"/>
                </a:cubicBezTo>
                <a:cubicBezTo>
                  <a:pt x="299126" y="105821"/>
                  <a:pt x="296069" y="106331"/>
                  <a:pt x="292885" y="107478"/>
                </a:cubicBezTo>
                <a:moveTo>
                  <a:pt x="308294" y="94988"/>
                </a:moveTo>
                <a:cubicBezTo>
                  <a:pt x="307275" y="96645"/>
                  <a:pt x="306128" y="98302"/>
                  <a:pt x="307402" y="100468"/>
                </a:cubicBezTo>
                <a:cubicBezTo>
                  <a:pt x="308803" y="98429"/>
                  <a:pt x="313515" y="100468"/>
                  <a:pt x="312496" y="95625"/>
                </a:cubicBezTo>
                <a:cubicBezTo>
                  <a:pt x="312241" y="94733"/>
                  <a:pt x="313388" y="94478"/>
                  <a:pt x="314151" y="94733"/>
                </a:cubicBezTo>
                <a:cubicBezTo>
                  <a:pt x="317844" y="96262"/>
                  <a:pt x="317335" y="93203"/>
                  <a:pt x="316189" y="92184"/>
                </a:cubicBezTo>
                <a:cubicBezTo>
                  <a:pt x="314279" y="90272"/>
                  <a:pt x="312750" y="88743"/>
                  <a:pt x="313261" y="85939"/>
                </a:cubicBezTo>
                <a:cubicBezTo>
                  <a:pt x="312114" y="85939"/>
                  <a:pt x="310331" y="86449"/>
                  <a:pt x="310586" y="87086"/>
                </a:cubicBezTo>
                <a:cubicBezTo>
                  <a:pt x="312114" y="90527"/>
                  <a:pt x="309695" y="92566"/>
                  <a:pt x="308167" y="94988"/>
                </a:cubicBezTo>
                <a:lnTo>
                  <a:pt x="308294" y="94988"/>
                </a:lnTo>
                <a:moveTo>
                  <a:pt x="310586" y="107988"/>
                </a:moveTo>
                <a:cubicBezTo>
                  <a:pt x="314789" y="107478"/>
                  <a:pt x="315552" y="110919"/>
                  <a:pt x="318736" y="110792"/>
                </a:cubicBezTo>
                <a:cubicBezTo>
                  <a:pt x="317038" y="107478"/>
                  <a:pt x="314321" y="106543"/>
                  <a:pt x="310586" y="107988"/>
                </a:cubicBezTo>
                <a:moveTo>
                  <a:pt x="323065" y="22340"/>
                </a:moveTo>
                <a:cubicBezTo>
                  <a:pt x="323065" y="22340"/>
                  <a:pt x="323830" y="23232"/>
                  <a:pt x="324339" y="23359"/>
                </a:cubicBezTo>
                <a:cubicBezTo>
                  <a:pt x="326758" y="24252"/>
                  <a:pt x="327904" y="22085"/>
                  <a:pt x="329305" y="20938"/>
                </a:cubicBezTo>
                <a:cubicBezTo>
                  <a:pt x="331088" y="19536"/>
                  <a:pt x="330834" y="17624"/>
                  <a:pt x="328795" y="15967"/>
                </a:cubicBezTo>
                <a:cubicBezTo>
                  <a:pt x="326758" y="17497"/>
                  <a:pt x="325994" y="20046"/>
                  <a:pt x="323574" y="20938"/>
                </a:cubicBezTo>
                <a:cubicBezTo>
                  <a:pt x="322811" y="21193"/>
                  <a:pt x="322683" y="21703"/>
                  <a:pt x="323192" y="22212"/>
                </a:cubicBezTo>
                <a:lnTo>
                  <a:pt x="323065" y="22340"/>
                </a:lnTo>
                <a:moveTo>
                  <a:pt x="319245" y="43242"/>
                </a:moveTo>
                <a:cubicBezTo>
                  <a:pt x="317081" y="44771"/>
                  <a:pt x="318991" y="49742"/>
                  <a:pt x="320519" y="49487"/>
                </a:cubicBezTo>
                <a:cubicBezTo>
                  <a:pt x="323320" y="48850"/>
                  <a:pt x="321410" y="46046"/>
                  <a:pt x="322556" y="44644"/>
                </a:cubicBezTo>
                <a:cubicBezTo>
                  <a:pt x="323574" y="43369"/>
                  <a:pt x="324084" y="41840"/>
                  <a:pt x="324721" y="40311"/>
                </a:cubicBezTo>
                <a:cubicBezTo>
                  <a:pt x="328541" y="41840"/>
                  <a:pt x="329560" y="44772"/>
                  <a:pt x="328924" y="48468"/>
                </a:cubicBezTo>
                <a:cubicBezTo>
                  <a:pt x="324212" y="52036"/>
                  <a:pt x="325994" y="57389"/>
                  <a:pt x="325484" y="62105"/>
                </a:cubicBezTo>
                <a:cubicBezTo>
                  <a:pt x="323703" y="61340"/>
                  <a:pt x="321282" y="62742"/>
                  <a:pt x="320010" y="59556"/>
                </a:cubicBezTo>
                <a:cubicBezTo>
                  <a:pt x="318736" y="56242"/>
                  <a:pt x="316062" y="56242"/>
                  <a:pt x="314151" y="58791"/>
                </a:cubicBezTo>
                <a:cubicBezTo>
                  <a:pt x="310968" y="63125"/>
                  <a:pt x="312369" y="66948"/>
                  <a:pt x="315298" y="70644"/>
                </a:cubicBezTo>
                <a:cubicBezTo>
                  <a:pt x="315298" y="69115"/>
                  <a:pt x="314789" y="66948"/>
                  <a:pt x="317462" y="67203"/>
                </a:cubicBezTo>
                <a:cubicBezTo>
                  <a:pt x="318482" y="67203"/>
                  <a:pt x="319245" y="68350"/>
                  <a:pt x="320137" y="66948"/>
                </a:cubicBezTo>
                <a:cubicBezTo>
                  <a:pt x="322174" y="64144"/>
                  <a:pt x="323065" y="66056"/>
                  <a:pt x="324212" y="67968"/>
                </a:cubicBezTo>
                <a:cubicBezTo>
                  <a:pt x="325613" y="70007"/>
                  <a:pt x="326503" y="72556"/>
                  <a:pt x="325357" y="74340"/>
                </a:cubicBezTo>
                <a:cubicBezTo>
                  <a:pt x="323703" y="77017"/>
                  <a:pt x="323830" y="79694"/>
                  <a:pt x="323574" y="82497"/>
                </a:cubicBezTo>
                <a:cubicBezTo>
                  <a:pt x="323447" y="84282"/>
                  <a:pt x="321664" y="84154"/>
                  <a:pt x="320264" y="84027"/>
                </a:cubicBezTo>
                <a:cubicBezTo>
                  <a:pt x="319245" y="81733"/>
                  <a:pt x="317335" y="80968"/>
                  <a:pt x="315043" y="80458"/>
                </a:cubicBezTo>
                <a:cubicBezTo>
                  <a:pt x="315425" y="82497"/>
                  <a:pt x="313770" y="83899"/>
                  <a:pt x="313515" y="85811"/>
                </a:cubicBezTo>
                <a:cubicBezTo>
                  <a:pt x="315934" y="86321"/>
                  <a:pt x="317717" y="83390"/>
                  <a:pt x="320264" y="84154"/>
                </a:cubicBezTo>
                <a:cubicBezTo>
                  <a:pt x="320646" y="86194"/>
                  <a:pt x="319245" y="88488"/>
                  <a:pt x="321155" y="90399"/>
                </a:cubicBezTo>
                <a:cubicBezTo>
                  <a:pt x="321537" y="85939"/>
                  <a:pt x="326758" y="85046"/>
                  <a:pt x="327777" y="81095"/>
                </a:cubicBezTo>
                <a:cubicBezTo>
                  <a:pt x="331725" y="81478"/>
                  <a:pt x="332235" y="79056"/>
                  <a:pt x="331724" y="75997"/>
                </a:cubicBezTo>
                <a:lnTo>
                  <a:pt x="330196" y="69242"/>
                </a:lnTo>
                <a:cubicBezTo>
                  <a:pt x="329051" y="67330"/>
                  <a:pt x="328032" y="65419"/>
                  <a:pt x="326885" y="63380"/>
                </a:cubicBezTo>
                <a:cubicBezTo>
                  <a:pt x="327523" y="62870"/>
                  <a:pt x="328668" y="62487"/>
                  <a:pt x="328668" y="61978"/>
                </a:cubicBezTo>
                <a:cubicBezTo>
                  <a:pt x="328924" y="59301"/>
                  <a:pt x="328668" y="57262"/>
                  <a:pt x="332998" y="57899"/>
                </a:cubicBezTo>
                <a:cubicBezTo>
                  <a:pt x="335799" y="58281"/>
                  <a:pt x="336182" y="54968"/>
                  <a:pt x="333507" y="51654"/>
                </a:cubicBezTo>
                <a:cubicBezTo>
                  <a:pt x="334145" y="49487"/>
                  <a:pt x="336818" y="48850"/>
                  <a:pt x="337327" y="46556"/>
                </a:cubicBezTo>
                <a:cubicBezTo>
                  <a:pt x="335163" y="46301"/>
                  <a:pt x="332998" y="46811"/>
                  <a:pt x="331088" y="45409"/>
                </a:cubicBezTo>
                <a:cubicBezTo>
                  <a:pt x="331852" y="40311"/>
                  <a:pt x="331979" y="40056"/>
                  <a:pt x="327141" y="38399"/>
                </a:cubicBezTo>
                <a:cubicBezTo>
                  <a:pt x="325357" y="37762"/>
                  <a:pt x="323574" y="35850"/>
                  <a:pt x="320901" y="37634"/>
                </a:cubicBezTo>
                <a:cubicBezTo>
                  <a:pt x="318609" y="39163"/>
                  <a:pt x="322174" y="41330"/>
                  <a:pt x="319245" y="43369"/>
                </a:cubicBezTo>
                <a:lnTo>
                  <a:pt x="319245" y="43242"/>
                </a:lnTo>
                <a:moveTo>
                  <a:pt x="311860" y="33428"/>
                </a:moveTo>
                <a:cubicBezTo>
                  <a:pt x="312750" y="34575"/>
                  <a:pt x="313388" y="35722"/>
                  <a:pt x="314151" y="37124"/>
                </a:cubicBezTo>
                <a:cubicBezTo>
                  <a:pt x="316062" y="35850"/>
                  <a:pt x="317971" y="34703"/>
                  <a:pt x="319627" y="33556"/>
                </a:cubicBezTo>
                <a:cubicBezTo>
                  <a:pt x="318991" y="31644"/>
                  <a:pt x="315552" y="34448"/>
                  <a:pt x="315680" y="30624"/>
                </a:cubicBezTo>
                <a:cubicBezTo>
                  <a:pt x="315680" y="28585"/>
                  <a:pt x="312750" y="28840"/>
                  <a:pt x="311095" y="30114"/>
                </a:cubicBezTo>
                <a:cubicBezTo>
                  <a:pt x="309439" y="31389"/>
                  <a:pt x="310968" y="32409"/>
                  <a:pt x="311732" y="33556"/>
                </a:cubicBezTo>
                <a:lnTo>
                  <a:pt x="311860" y="33428"/>
                </a:lnTo>
                <a:moveTo>
                  <a:pt x="301927" y="57772"/>
                </a:moveTo>
                <a:cubicBezTo>
                  <a:pt x="303964" y="58664"/>
                  <a:pt x="303837" y="57772"/>
                  <a:pt x="303709" y="55860"/>
                </a:cubicBezTo>
                <a:cubicBezTo>
                  <a:pt x="303709" y="54330"/>
                  <a:pt x="305619" y="53311"/>
                  <a:pt x="307529" y="52164"/>
                </a:cubicBezTo>
                <a:cubicBezTo>
                  <a:pt x="308421" y="53948"/>
                  <a:pt x="308294" y="55860"/>
                  <a:pt x="309695" y="57007"/>
                </a:cubicBezTo>
                <a:cubicBezTo>
                  <a:pt x="310077" y="57262"/>
                  <a:pt x="310713" y="57644"/>
                  <a:pt x="311095" y="57644"/>
                </a:cubicBezTo>
                <a:cubicBezTo>
                  <a:pt x="311605" y="57644"/>
                  <a:pt x="312369" y="56752"/>
                  <a:pt x="312241" y="56752"/>
                </a:cubicBezTo>
                <a:cubicBezTo>
                  <a:pt x="309822" y="53183"/>
                  <a:pt x="314533" y="48595"/>
                  <a:pt x="310713" y="45281"/>
                </a:cubicBezTo>
                <a:cubicBezTo>
                  <a:pt x="306384" y="47066"/>
                  <a:pt x="303582" y="50762"/>
                  <a:pt x="300398" y="53821"/>
                </a:cubicBezTo>
                <a:cubicBezTo>
                  <a:pt x="298743" y="55478"/>
                  <a:pt x="300144" y="57007"/>
                  <a:pt x="301799" y="57772"/>
                </a:cubicBezTo>
                <a:lnTo>
                  <a:pt x="301927" y="57772"/>
                </a:lnTo>
                <a:moveTo>
                  <a:pt x="299126" y="87086"/>
                </a:moveTo>
                <a:cubicBezTo>
                  <a:pt x="300271" y="84792"/>
                  <a:pt x="301418" y="82497"/>
                  <a:pt x="302308" y="80203"/>
                </a:cubicBezTo>
                <a:cubicBezTo>
                  <a:pt x="302437" y="79821"/>
                  <a:pt x="301672" y="78674"/>
                  <a:pt x="301163" y="78291"/>
                </a:cubicBezTo>
                <a:cubicBezTo>
                  <a:pt x="300017" y="77527"/>
                  <a:pt x="299889" y="78674"/>
                  <a:pt x="299507" y="79311"/>
                </a:cubicBezTo>
                <a:cubicBezTo>
                  <a:pt x="298616" y="81095"/>
                  <a:pt x="297470" y="80713"/>
                  <a:pt x="296197" y="79566"/>
                </a:cubicBezTo>
                <a:cubicBezTo>
                  <a:pt x="295305" y="78674"/>
                  <a:pt x="295177" y="77909"/>
                  <a:pt x="296069" y="76762"/>
                </a:cubicBezTo>
                <a:cubicBezTo>
                  <a:pt x="297216" y="75233"/>
                  <a:pt x="299635" y="74085"/>
                  <a:pt x="299126" y="71282"/>
                </a:cubicBezTo>
                <a:cubicBezTo>
                  <a:pt x="290594" y="75742"/>
                  <a:pt x="290594" y="78674"/>
                  <a:pt x="299126" y="87086"/>
                </a:cubicBezTo>
                <a:moveTo>
                  <a:pt x="272512" y="93586"/>
                </a:moveTo>
                <a:cubicBezTo>
                  <a:pt x="274039" y="94605"/>
                  <a:pt x="275058" y="93841"/>
                  <a:pt x="275567" y="92056"/>
                </a:cubicBezTo>
                <a:cubicBezTo>
                  <a:pt x="275821" y="91292"/>
                  <a:pt x="276076" y="90272"/>
                  <a:pt x="276713" y="89890"/>
                </a:cubicBezTo>
                <a:cubicBezTo>
                  <a:pt x="277222" y="89380"/>
                  <a:pt x="278369" y="89252"/>
                  <a:pt x="279005" y="89380"/>
                </a:cubicBezTo>
                <a:cubicBezTo>
                  <a:pt x="280533" y="89890"/>
                  <a:pt x="279897" y="91037"/>
                  <a:pt x="279643" y="92056"/>
                </a:cubicBezTo>
                <a:cubicBezTo>
                  <a:pt x="279643" y="92566"/>
                  <a:pt x="279641" y="93076"/>
                  <a:pt x="279770" y="93586"/>
                </a:cubicBezTo>
                <a:cubicBezTo>
                  <a:pt x="282740" y="90527"/>
                  <a:pt x="285415" y="90102"/>
                  <a:pt x="287792" y="92311"/>
                </a:cubicBezTo>
                <a:cubicBezTo>
                  <a:pt x="287410" y="101615"/>
                  <a:pt x="287410" y="101615"/>
                  <a:pt x="278496" y="104802"/>
                </a:cubicBezTo>
                <a:cubicBezTo>
                  <a:pt x="275822" y="105821"/>
                  <a:pt x="273530" y="109135"/>
                  <a:pt x="269964" y="106968"/>
                </a:cubicBezTo>
                <a:cubicBezTo>
                  <a:pt x="269964" y="106968"/>
                  <a:pt x="269072" y="107860"/>
                  <a:pt x="269199" y="107988"/>
                </a:cubicBezTo>
                <a:cubicBezTo>
                  <a:pt x="271109" y="110919"/>
                  <a:pt x="267672" y="112704"/>
                  <a:pt x="267800" y="114870"/>
                </a:cubicBezTo>
                <a:cubicBezTo>
                  <a:pt x="267800" y="117164"/>
                  <a:pt x="269455" y="119331"/>
                  <a:pt x="270600" y="121625"/>
                </a:cubicBezTo>
                <a:cubicBezTo>
                  <a:pt x="271109" y="120988"/>
                  <a:pt x="272129" y="120223"/>
                  <a:pt x="272001" y="119969"/>
                </a:cubicBezTo>
                <a:cubicBezTo>
                  <a:pt x="269964" y="115890"/>
                  <a:pt x="273402" y="114233"/>
                  <a:pt x="275567" y="112066"/>
                </a:cubicBezTo>
                <a:cubicBezTo>
                  <a:pt x="276586" y="111174"/>
                  <a:pt x="278242" y="110792"/>
                  <a:pt x="278878" y="109772"/>
                </a:cubicBezTo>
                <a:cubicBezTo>
                  <a:pt x="280533" y="107096"/>
                  <a:pt x="282189" y="108370"/>
                  <a:pt x="283590" y="109772"/>
                </a:cubicBezTo>
                <a:cubicBezTo>
                  <a:pt x="284991" y="111047"/>
                  <a:pt x="286264" y="112576"/>
                  <a:pt x="285245" y="114998"/>
                </a:cubicBezTo>
                <a:cubicBezTo>
                  <a:pt x="284608" y="116655"/>
                  <a:pt x="285755" y="117674"/>
                  <a:pt x="287283" y="117674"/>
                </a:cubicBezTo>
                <a:cubicBezTo>
                  <a:pt x="288684" y="117674"/>
                  <a:pt x="291995" y="111302"/>
                  <a:pt x="291484" y="110027"/>
                </a:cubicBezTo>
                <a:cubicBezTo>
                  <a:pt x="287537" y="101615"/>
                  <a:pt x="287410" y="100723"/>
                  <a:pt x="291995" y="96262"/>
                </a:cubicBezTo>
                <a:cubicBezTo>
                  <a:pt x="294668" y="93586"/>
                  <a:pt x="293267" y="92566"/>
                  <a:pt x="290975" y="91419"/>
                </a:cubicBezTo>
                <a:cubicBezTo>
                  <a:pt x="290975" y="89125"/>
                  <a:pt x="291103" y="86831"/>
                  <a:pt x="290848" y="84664"/>
                </a:cubicBezTo>
                <a:cubicBezTo>
                  <a:pt x="290466" y="81988"/>
                  <a:pt x="287410" y="80968"/>
                  <a:pt x="285373" y="82625"/>
                </a:cubicBezTo>
                <a:cubicBezTo>
                  <a:pt x="283463" y="84154"/>
                  <a:pt x="281807" y="87850"/>
                  <a:pt x="279770" y="82625"/>
                </a:cubicBezTo>
                <a:cubicBezTo>
                  <a:pt x="279770" y="82625"/>
                  <a:pt x="279260" y="82625"/>
                  <a:pt x="279005" y="82625"/>
                </a:cubicBezTo>
                <a:cubicBezTo>
                  <a:pt x="279387" y="86321"/>
                  <a:pt x="274676" y="84282"/>
                  <a:pt x="274166" y="86831"/>
                </a:cubicBezTo>
                <a:cubicBezTo>
                  <a:pt x="273784" y="88233"/>
                  <a:pt x="273402" y="89507"/>
                  <a:pt x="272256" y="90399"/>
                </a:cubicBezTo>
                <a:cubicBezTo>
                  <a:pt x="270473" y="91674"/>
                  <a:pt x="271365" y="92821"/>
                  <a:pt x="272639" y="93713"/>
                </a:cubicBezTo>
                <a:lnTo>
                  <a:pt x="272512" y="93586"/>
                </a:lnTo>
                <a:moveTo>
                  <a:pt x="271620" y="102125"/>
                </a:moveTo>
                <a:cubicBezTo>
                  <a:pt x="271238" y="100213"/>
                  <a:pt x="267672" y="99449"/>
                  <a:pt x="269837" y="96645"/>
                </a:cubicBezTo>
                <a:cubicBezTo>
                  <a:pt x="270219" y="96135"/>
                  <a:pt x="269072" y="95370"/>
                  <a:pt x="268181" y="95115"/>
                </a:cubicBezTo>
                <a:cubicBezTo>
                  <a:pt x="266908" y="94733"/>
                  <a:pt x="266017" y="95370"/>
                  <a:pt x="265761" y="96645"/>
                </a:cubicBezTo>
                <a:cubicBezTo>
                  <a:pt x="264870" y="101105"/>
                  <a:pt x="266144" y="102380"/>
                  <a:pt x="271492" y="102125"/>
                </a:cubicBezTo>
                <a:lnTo>
                  <a:pt x="271620" y="102125"/>
                </a:lnTo>
                <a:moveTo>
                  <a:pt x="262324" y="84282"/>
                </a:moveTo>
                <a:cubicBezTo>
                  <a:pt x="261941" y="85811"/>
                  <a:pt x="259649" y="86703"/>
                  <a:pt x="261050" y="88615"/>
                </a:cubicBezTo>
                <a:cubicBezTo>
                  <a:pt x="263851" y="87001"/>
                  <a:pt x="263936" y="83899"/>
                  <a:pt x="261305" y="79311"/>
                </a:cubicBezTo>
                <a:cubicBezTo>
                  <a:pt x="259522" y="81860"/>
                  <a:pt x="262706" y="82370"/>
                  <a:pt x="262324" y="84282"/>
                </a:cubicBezTo>
                <a:moveTo>
                  <a:pt x="248444" y="131567"/>
                </a:moveTo>
                <a:cubicBezTo>
                  <a:pt x="253792" y="127105"/>
                  <a:pt x="250354" y="122390"/>
                  <a:pt x="252646" y="119204"/>
                </a:cubicBezTo>
                <a:cubicBezTo>
                  <a:pt x="253919" y="118312"/>
                  <a:pt x="254810" y="119204"/>
                  <a:pt x="255702" y="119586"/>
                </a:cubicBezTo>
                <a:cubicBezTo>
                  <a:pt x="259395" y="121625"/>
                  <a:pt x="260796" y="114488"/>
                  <a:pt x="264616" y="117419"/>
                </a:cubicBezTo>
                <a:cubicBezTo>
                  <a:pt x="264743" y="117164"/>
                  <a:pt x="264998" y="116910"/>
                  <a:pt x="264998" y="116782"/>
                </a:cubicBezTo>
                <a:cubicBezTo>
                  <a:pt x="264489" y="114488"/>
                  <a:pt x="261814" y="112194"/>
                  <a:pt x="260923" y="112959"/>
                </a:cubicBezTo>
                <a:cubicBezTo>
                  <a:pt x="259013" y="114870"/>
                  <a:pt x="258248" y="114361"/>
                  <a:pt x="257357" y="112576"/>
                </a:cubicBezTo>
                <a:cubicBezTo>
                  <a:pt x="256466" y="110792"/>
                  <a:pt x="258121" y="110282"/>
                  <a:pt x="259267" y="109517"/>
                </a:cubicBezTo>
                <a:cubicBezTo>
                  <a:pt x="260541" y="108753"/>
                  <a:pt x="262197" y="107096"/>
                  <a:pt x="261432" y="106204"/>
                </a:cubicBezTo>
                <a:cubicBezTo>
                  <a:pt x="258886" y="103400"/>
                  <a:pt x="260287" y="99066"/>
                  <a:pt x="257230" y="96007"/>
                </a:cubicBezTo>
                <a:cubicBezTo>
                  <a:pt x="255320" y="98939"/>
                  <a:pt x="257230" y="103017"/>
                  <a:pt x="253155" y="103909"/>
                </a:cubicBezTo>
                <a:cubicBezTo>
                  <a:pt x="252518" y="104037"/>
                  <a:pt x="252009" y="105311"/>
                  <a:pt x="252773" y="106076"/>
                </a:cubicBezTo>
                <a:cubicBezTo>
                  <a:pt x="256338" y="109390"/>
                  <a:pt x="254047" y="111047"/>
                  <a:pt x="251245" y="113214"/>
                </a:cubicBezTo>
                <a:cubicBezTo>
                  <a:pt x="248953" y="114998"/>
                  <a:pt x="247806" y="118184"/>
                  <a:pt x="248698" y="120861"/>
                </a:cubicBezTo>
                <a:cubicBezTo>
                  <a:pt x="249716" y="123919"/>
                  <a:pt x="250226" y="126723"/>
                  <a:pt x="248315" y="131439"/>
                </a:cubicBezTo>
                <a:lnTo>
                  <a:pt x="248444" y="131567"/>
                </a:lnTo>
                <a:moveTo>
                  <a:pt x="248061" y="150175"/>
                </a:moveTo>
                <a:cubicBezTo>
                  <a:pt x="249589" y="152979"/>
                  <a:pt x="248825" y="153361"/>
                  <a:pt x="244368" y="153361"/>
                </a:cubicBezTo>
                <a:cubicBezTo>
                  <a:pt x="249462" y="158714"/>
                  <a:pt x="249972" y="159097"/>
                  <a:pt x="247043" y="163557"/>
                </a:cubicBezTo>
                <a:cubicBezTo>
                  <a:pt x="244624" y="167381"/>
                  <a:pt x="247679" y="167508"/>
                  <a:pt x="250226" y="170057"/>
                </a:cubicBezTo>
                <a:cubicBezTo>
                  <a:pt x="249207" y="165341"/>
                  <a:pt x="250863" y="162919"/>
                  <a:pt x="254047" y="161646"/>
                </a:cubicBezTo>
                <a:cubicBezTo>
                  <a:pt x="255829" y="160881"/>
                  <a:pt x="256720" y="159734"/>
                  <a:pt x="256720" y="157950"/>
                </a:cubicBezTo>
                <a:cubicBezTo>
                  <a:pt x="253536" y="157822"/>
                  <a:pt x="251755" y="156293"/>
                  <a:pt x="251626" y="152851"/>
                </a:cubicBezTo>
                <a:cubicBezTo>
                  <a:pt x="251626" y="150684"/>
                  <a:pt x="251117" y="148518"/>
                  <a:pt x="250863" y="146096"/>
                </a:cubicBezTo>
                <a:cubicBezTo>
                  <a:pt x="254556" y="145586"/>
                  <a:pt x="258121" y="144311"/>
                  <a:pt x="259140" y="149793"/>
                </a:cubicBezTo>
                <a:cubicBezTo>
                  <a:pt x="259395" y="150940"/>
                  <a:pt x="260796" y="150813"/>
                  <a:pt x="261814" y="150813"/>
                </a:cubicBezTo>
                <a:cubicBezTo>
                  <a:pt x="259013" y="146606"/>
                  <a:pt x="264234" y="144440"/>
                  <a:pt x="264489" y="140871"/>
                </a:cubicBezTo>
                <a:cubicBezTo>
                  <a:pt x="264489" y="140616"/>
                  <a:pt x="265379" y="143675"/>
                  <a:pt x="266653" y="142527"/>
                </a:cubicBezTo>
                <a:cubicBezTo>
                  <a:pt x="267672" y="141507"/>
                  <a:pt x="267418" y="139214"/>
                  <a:pt x="269328" y="138449"/>
                </a:cubicBezTo>
                <a:cubicBezTo>
                  <a:pt x="273148" y="137047"/>
                  <a:pt x="272129" y="132714"/>
                  <a:pt x="274549" y="130165"/>
                </a:cubicBezTo>
                <a:cubicBezTo>
                  <a:pt x="275567" y="129145"/>
                  <a:pt x="271747" y="127361"/>
                  <a:pt x="271874" y="124684"/>
                </a:cubicBezTo>
                <a:cubicBezTo>
                  <a:pt x="271874" y="123792"/>
                  <a:pt x="271109" y="122772"/>
                  <a:pt x="270600" y="121753"/>
                </a:cubicBezTo>
                <a:cubicBezTo>
                  <a:pt x="269455" y="121753"/>
                  <a:pt x="268436" y="121753"/>
                  <a:pt x="267289" y="122008"/>
                </a:cubicBezTo>
                <a:cubicBezTo>
                  <a:pt x="265888" y="122263"/>
                  <a:pt x="264998" y="123282"/>
                  <a:pt x="266271" y="124175"/>
                </a:cubicBezTo>
                <a:cubicBezTo>
                  <a:pt x="269710" y="126596"/>
                  <a:pt x="267672" y="128890"/>
                  <a:pt x="265761" y="130037"/>
                </a:cubicBezTo>
                <a:cubicBezTo>
                  <a:pt x="262579" y="131949"/>
                  <a:pt x="261814" y="134243"/>
                  <a:pt x="262068" y="137812"/>
                </a:cubicBezTo>
                <a:cubicBezTo>
                  <a:pt x="262197" y="139851"/>
                  <a:pt x="261305" y="141891"/>
                  <a:pt x="260796" y="144057"/>
                </a:cubicBezTo>
                <a:cubicBezTo>
                  <a:pt x="258248" y="143547"/>
                  <a:pt x="256466" y="140489"/>
                  <a:pt x="253536" y="143038"/>
                </a:cubicBezTo>
                <a:cubicBezTo>
                  <a:pt x="252646" y="143675"/>
                  <a:pt x="249462" y="142145"/>
                  <a:pt x="251882" y="139469"/>
                </a:cubicBezTo>
                <a:cubicBezTo>
                  <a:pt x="252264" y="139087"/>
                  <a:pt x="253665" y="138449"/>
                  <a:pt x="252136" y="137685"/>
                </a:cubicBezTo>
                <a:cubicBezTo>
                  <a:pt x="251755" y="137558"/>
                  <a:pt x="250863" y="137685"/>
                  <a:pt x="250608" y="137940"/>
                </a:cubicBezTo>
                <a:cubicBezTo>
                  <a:pt x="248188" y="141635"/>
                  <a:pt x="245387" y="145077"/>
                  <a:pt x="247934" y="150047"/>
                </a:cubicBezTo>
                <a:lnTo>
                  <a:pt x="248061" y="150175"/>
                </a:lnTo>
                <a:moveTo>
                  <a:pt x="241949" y="124302"/>
                </a:moveTo>
                <a:cubicBezTo>
                  <a:pt x="244495" y="122135"/>
                  <a:pt x="245005" y="119586"/>
                  <a:pt x="243223" y="116782"/>
                </a:cubicBezTo>
                <a:cubicBezTo>
                  <a:pt x="239784" y="118439"/>
                  <a:pt x="239784" y="118949"/>
                  <a:pt x="241949" y="124302"/>
                </a:cubicBezTo>
                <a:moveTo>
                  <a:pt x="237110" y="136920"/>
                </a:moveTo>
                <a:cubicBezTo>
                  <a:pt x="237110" y="136920"/>
                  <a:pt x="237874" y="137940"/>
                  <a:pt x="238383" y="138067"/>
                </a:cubicBezTo>
                <a:cubicBezTo>
                  <a:pt x="240293" y="138576"/>
                  <a:pt x="239530" y="136665"/>
                  <a:pt x="239912" y="136027"/>
                </a:cubicBezTo>
                <a:cubicBezTo>
                  <a:pt x="240421" y="135263"/>
                  <a:pt x="241694" y="134371"/>
                  <a:pt x="240548" y="133096"/>
                </a:cubicBezTo>
                <a:cubicBezTo>
                  <a:pt x="239657" y="133478"/>
                  <a:pt x="238511" y="133734"/>
                  <a:pt x="237620" y="134243"/>
                </a:cubicBezTo>
                <a:cubicBezTo>
                  <a:pt x="236473" y="134880"/>
                  <a:pt x="236346" y="135900"/>
                  <a:pt x="237110" y="137047"/>
                </a:cubicBezTo>
                <a:lnTo>
                  <a:pt x="237110" y="136920"/>
                </a:lnTo>
                <a:moveTo>
                  <a:pt x="232016" y="152086"/>
                </a:moveTo>
                <a:cubicBezTo>
                  <a:pt x="231380" y="152851"/>
                  <a:pt x="231761" y="153744"/>
                  <a:pt x="232653" y="153998"/>
                </a:cubicBezTo>
                <a:cubicBezTo>
                  <a:pt x="235454" y="154763"/>
                  <a:pt x="238256" y="155017"/>
                  <a:pt x="234309" y="158459"/>
                </a:cubicBezTo>
                <a:cubicBezTo>
                  <a:pt x="232526" y="159988"/>
                  <a:pt x="233799" y="160881"/>
                  <a:pt x="235581" y="160753"/>
                </a:cubicBezTo>
                <a:cubicBezTo>
                  <a:pt x="236855" y="160753"/>
                  <a:pt x="238002" y="160244"/>
                  <a:pt x="239403" y="159988"/>
                </a:cubicBezTo>
                <a:cubicBezTo>
                  <a:pt x="238765" y="157822"/>
                  <a:pt x="238383" y="155655"/>
                  <a:pt x="237493" y="153744"/>
                </a:cubicBezTo>
                <a:cubicBezTo>
                  <a:pt x="236855" y="152086"/>
                  <a:pt x="235327" y="151195"/>
                  <a:pt x="233417" y="151449"/>
                </a:cubicBezTo>
                <a:cubicBezTo>
                  <a:pt x="232908" y="151449"/>
                  <a:pt x="232270" y="151704"/>
                  <a:pt x="232016" y="152086"/>
                </a:cubicBezTo>
                <a:moveTo>
                  <a:pt x="224121" y="132587"/>
                </a:moveTo>
                <a:cubicBezTo>
                  <a:pt x="226286" y="139724"/>
                  <a:pt x="224630" y="146096"/>
                  <a:pt x="224630" y="152597"/>
                </a:cubicBezTo>
                <a:cubicBezTo>
                  <a:pt x="229597" y="152086"/>
                  <a:pt x="230869" y="148391"/>
                  <a:pt x="230998" y="144440"/>
                </a:cubicBezTo>
                <a:cubicBezTo>
                  <a:pt x="230998" y="142527"/>
                  <a:pt x="230360" y="140743"/>
                  <a:pt x="232016" y="139087"/>
                </a:cubicBezTo>
                <a:cubicBezTo>
                  <a:pt x="232908" y="138194"/>
                  <a:pt x="231761" y="137558"/>
                  <a:pt x="231252" y="137047"/>
                </a:cubicBezTo>
                <a:cubicBezTo>
                  <a:pt x="230360" y="136027"/>
                  <a:pt x="229979" y="137047"/>
                  <a:pt x="229470" y="137556"/>
                </a:cubicBezTo>
                <a:cubicBezTo>
                  <a:pt x="227178" y="139978"/>
                  <a:pt x="226159" y="139087"/>
                  <a:pt x="226031" y="136155"/>
                </a:cubicBezTo>
                <a:cubicBezTo>
                  <a:pt x="226031" y="135136"/>
                  <a:pt x="226286" y="133989"/>
                  <a:pt x="224249" y="132714"/>
                </a:cubicBezTo>
                <a:lnTo>
                  <a:pt x="224121" y="132587"/>
                </a:lnTo>
                <a:moveTo>
                  <a:pt x="222211" y="151959"/>
                </a:moveTo>
                <a:cubicBezTo>
                  <a:pt x="219537" y="155528"/>
                  <a:pt x="217627" y="153106"/>
                  <a:pt x="214443" y="149537"/>
                </a:cubicBezTo>
                <a:cubicBezTo>
                  <a:pt x="216353" y="153871"/>
                  <a:pt x="213042" y="156164"/>
                  <a:pt x="214826" y="158841"/>
                </a:cubicBezTo>
                <a:cubicBezTo>
                  <a:pt x="216098" y="158077"/>
                  <a:pt x="216098" y="155146"/>
                  <a:pt x="218263" y="156293"/>
                </a:cubicBezTo>
                <a:cubicBezTo>
                  <a:pt x="222720" y="158714"/>
                  <a:pt x="223738" y="156166"/>
                  <a:pt x="224249" y="152597"/>
                </a:cubicBezTo>
                <a:cubicBezTo>
                  <a:pt x="223484" y="152215"/>
                  <a:pt x="222339" y="151704"/>
                  <a:pt x="222211" y="151831"/>
                </a:cubicBezTo>
                <a:lnTo>
                  <a:pt x="222211" y="151959"/>
                </a:lnTo>
                <a:moveTo>
                  <a:pt x="220174" y="136409"/>
                </a:moveTo>
                <a:cubicBezTo>
                  <a:pt x="216863" y="139978"/>
                  <a:pt x="219028" y="141762"/>
                  <a:pt x="223230" y="144440"/>
                </a:cubicBezTo>
                <a:cubicBezTo>
                  <a:pt x="221830" y="140616"/>
                  <a:pt x="221065" y="138576"/>
                  <a:pt x="220174" y="136409"/>
                </a:cubicBezTo>
                <a:moveTo>
                  <a:pt x="212406" y="107988"/>
                </a:moveTo>
                <a:cubicBezTo>
                  <a:pt x="213934" y="106713"/>
                  <a:pt x="213042" y="106076"/>
                  <a:pt x="212787" y="105311"/>
                </a:cubicBezTo>
                <a:cubicBezTo>
                  <a:pt x="212660" y="104547"/>
                  <a:pt x="212533" y="103782"/>
                  <a:pt x="212406" y="103017"/>
                </a:cubicBezTo>
                <a:cubicBezTo>
                  <a:pt x="210877" y="102762"/>
                  <a:pt x="210750" y="101105"/>
                  <a:pt x="209349" y="100213"/>
                </a:cubicBezTo>
                <a:cubicBezTo>
                  <a:pt x="208840" y="103654"/>
                  <a:pt x="210877" y="105566"/>
                  <a:pt x="212406" y="107988"/>
                </a:cubicBezTo>
                <a:moveTo>
                  <a:pt x="205656" y="117164"/>
                </a:moveTo>
                <a:cubicBezTo>
                  <a:pt x="205656" y="117164"/>
                  <a:pt x="205656" y="116017"/>
                  <a:pt x="205402" y="115508"/>
                </a:cubicBezTo>
                <a:cubicBezTo>
                  <a:pt x="205274" y="115253"/>
                  <a:pt x="205402" y="113341"/>
                  <a:pt x="204384" y="114998"/>
                </a:cubicBezTo>
                <a:cubicBezTo>
                  <a:pt x="204128" y="115380"/>
                  <a:pt x="204001" y="116145"/>
                  <a:pt x="204128" y="116655"/>
                </a:cubicBezTo>
                <a:cubicBezTo>
                  <a:pt x="204638" y="118694"/>
                  <a:pt x="200563" y="117802"/>
                  <a:pt x="202091" y="120733"/>
                </a:cubicBezTo>
                <a:cubicBezTo>
                  <a:pt x="206294" y="121370"/>
                  <a:pt x="208713" y="124939"/>
                  <a:pt x="211515" y="127743"/>
                </a:cubicBezTo>
                <a:cubicBezTo>
                  <a:pt x="213170" y="129400"/>
                  <a:pt x="213297" y="133351"/>
                  <a:pt x="211515" y="133478"/>
                </a:cubicBezTo>
                <a:cubicBezTo>
                  <a:pt x="207312" y="133478"/>
                  <a:pt x="209349" y="137429"/>
                  <a:pt x="207439" y="138449"/>
                </a:cubicBezTo>
                <a:cubicBezTo>
                  <a:pt x="202855" y="140998"/>
                  <a:pt x="204765" y="143802"/>
                  <a:pt x="206548" y="147371"/>
                </a:cubicBezTo>
                <a:cubicBezTo>
                  <a:pt x="206930" y="146224"/>
                  <a:pt x="207185" y="145713"/>
                  <a:pt x="207185" y="145204"/>
                </a:cubicBezTo>
                <a:cubicBezTo>
                  <a:pt x="207185" y="142018"/>
                  <a:pt x="207057" y="139214"/>
                  <a:pt x="211642" y="142018"/>
                </a:cubicBezTo>
                <a:cubicBezTo>
                  <a:pt x="213170" y="143038"/>
                  <a:pt x="215589" y="139724"/>
                  <a:pt x="214316" y="137812"/>
                </a:cubicBezTo>
                <a:cubicBezTo>
                  <a:pt x="213425" y="136538"/>
                  <a:pt x="212406" y="135390"/>
                  <a:pt x="213934" y="134880"/>
                </a:cubicBezTo>
                <a:cubicBezTo>
                  <a:pt x="217372" y="133605"/>
                  <a:pt x="212787" y="125194"/>
                  <a:pt x="220301" y="128125"/>
                </a:cubicBezTo>
                <a:cubicBezTo>
                  <a:pt x="220556" y="127361"/>
                  <a:pt x="220938" y="126596"/>
                  <a:pt x="220938" y="125831"/>
                </a:cubicBezTo>
                <a:cubicBezTo>
                  <a:pt x="220938" y="123792"/>
                  <a:pt x="219282" y="122645"/>
                  <a:pt x="218390" y="121116"/>
                </a:cubicBezTo>
                <a:cubicBezTo>
                  <a:pt x="217372" y="122263"/>
                  <a:pt x="216607" y="123410"/>
                  <a:pt x="215589" y="124429"/>
                </a:cubicBezTo>
                <a:cubicBezTo>
                  <a:pt x="214953" y="125066"/>
                  <a:pt x="214188" y="125321"/>
                  <a:pt x="213297" y="124812"/>
                </a:cubicBezTo>
                <a:cubicBezTo>
                  <a:pt x="212278" y="124174"/>
                  <a:pt x="212660" y="123410"/>
                  <a:pt x="213042" y="122645"/>
                </a:cubicBezTo>
                <a:cubicBezTo>
                  <a:pt x="214061" y="120861"/>
                  <a:pt x="215462" y="119459"/>
                  <a:pt x="217245" y="118567"/>
                </a:cubicBezTo>
                <a:cubicBezTo>
                  <a:pt x="219282" y="117547"/>
                  <a:pt x="221192" y="116527"/>
                  <a:pt x="221957" y="114233"/>
                </a:cubicBezTo>
                <a:cubicBezTo>
                  <a:pt x="219664" y="112958"/>
                  <a:pt x="219028" y="115253"/>
                  <a:pt x="217627" y="115890"/>
                </a:cubicBezTo>
                <a:cubicBezTo>
                  <a:pt x="216607" y="116400"/>
                  <a:pt x="215335" y="117547"/>
                  <a:pt x="214697" y="116400"/>
                </a:cubicBezTo>
                <a:cubicBezTo>
                  <a:pt x="212024" y="112066"/>
                  <a:pt x="210623" y="114743"/>
                  <a:pt x="208840" y="117037"/>
                </a:cubicBezTo>
                <a:cubicBezTo>
                  <a:pt x="207949" y="118311"/>
                  <a:pt x="206803" y="119076"/>
                  <a:pt x="205529" y="117419"/>
                </a:cubicBezTo>
                <a:lnTo>
                  <a:pt x="205656" y="117164"/>
                </a:lnTo>
                <a:moveTo>
                  <a:pt x="200562" y="92694"/>
                </a:moveTo>
                <a:cubicBezTo>
                  <a:pt x="203873" y="93458"/>
                  <a:pt x="201073" y="98429"/>
                  <a:pt x="204765" y="98811"/>
                </a:cubicBezTo>
                <a:cubicBezTo>
                  <a:pt x="205274" y="97537"/>
                  <a:pt x="205656" y="96262"/>
                  <a:pt x="206165" y="94988"/>
                </a:cubicBezTo>
                <a:cubicBezTo>
                  <a:pt x="207185" y="92566"/>
                  <a:pt x="205275" y="91164"/>
                  <a:pt x="203874" y="90399"/>
                </a:cubicBezTo>
                <a:cubicBezTo>
                  <a:pt x="202091" y="89507"/>
                  <a:pt x="200944" y="90782"/>
                  <a:pt x="200562" y="92694"/>
                </a:cubicBezTo>
                <a:moveTo>
                  <a:pt x="184009" y="100723"/>
                </a:moveTo>
                <a:cubicBezTo>
                  <a:pt x="180825" y="99958"/>
                  <a:pt x="180061" y="99576"/>
                  <a:pt x="181334" y="103017"/>
                </a:cubicBezTo>
                <a:cubicBezTo>
                  <a:pt x="178151" y="106713"/>
                  <a:pt x="181971" y="108880"/>
                  <a:pt x="183244" y="111557"/>
                </a:cubicBezTo>
                <a:cubicBezTo>
                  <a:pt x="189230" y="109772"/>
                  <a:pt x="194832" y="110919"/>
                  <a:pt x="200690" y="113978"/>
                </a:cubicBezTo>
                <a:cubicBezTo>
                  <a:pt x="199034" y="111174"/>
                  <a:pt x="200308" y="107988"/>
                  <a:pt x="199163" y="105566"/>
                </a:cubicBezTo>
                <a:cubicBezTo>
                  <a:pt x="197253" y="101743"/>
                  <a:pt x="196997" y="101870"/>
                  <a:pt x="196743" y="97409"/>
                </a:cubicBezTo>
                <a:cubicBezTo>
                  <a:pt x="199799" y="97409"/>
                  <a:pt x="200308" y="95370"/>
                  <a:pt x="200308" y="92948"/>
                </a:cubicBezTo>
                <a:cubicBezTo>
                  <a:pt x="198144" y="93713"/>
                  <a:pt x="195214" y="91674"/>
                  <a:pt x="193686" y="94605"/>
                </a:cubicBezTo>
                <a:cubicBezTo>
                  <a:pt x="191649" y="98684"/>
                  <a:pt x="188465" y="101870"/>
                  <a:pt x="183881" y="100851"/>
                </a:cubicBezTo>
                <a:lnTo>
                  <a:pt x="184009" y="100723"/>
                </a:lnTo>
                <a:moveTo>
                  <a:pt x="192668" y="137812"/>
                </a:moveTo>
                <a:cubicBezTo>
                  <a:pt x="193304" y="138576"/>
                  <a:pt x="193813" y="139214"/>
                  <a:pt x="194323" y="139723"/>
                </a:cubicBezTo>
                <a:cubicBezTo>
                  <a:pt x="194705" y="139978"/>
                  <a:pt x="195470" y="140360"/>
                  <a:pt x="195724" y="140106"/>
                </a:cubicBezTo>
                <a:cubicBezTo>
                  <a:pt x="196615" y="139724"/>
                  <a:pt x="196743" y="138831"/>
                  <a:pt x="196361" y="138067"/>
                </a:cubicBezTo>
                <a:cubicBezTo>
                  <a:pt x="194833" y="135773"/>
                  <a:pt x="190503" y="134498"/>
                  <a:pt x="190122" y="136027"/>
                </a:cubicBezTo>
                <a:cubicBezTo>
                  <a:pt x="188975" y="139724"/>
                  <a:pt x="183371" y="140998"/>
                  <a:pt x="185028" y="145842"/>
                </a:cubicBezTo>
                <a:cubicBezTo>
                  <a:pt x="187192" y="145204"/>
                  <a:pt x="187829" y="143293"/>
                  <a:pt x="188721" y="141635"/>
                </a:cubicBezTo>
                <a:cubicBezTo>
                  <a:pt x="189102" y="140998"/>
                  <a:pt x="189612" y="140998"/>
                  <a:pt x="189993" y="141508"/>
                </a:cubicBezTo>
                <a:cubicBezTo>
                  <a:pt x="191522" y="143038"/>
                  <a:pt x="188848" y="146606"/>
                  <a:pt x="193050" y="147498"/>
                </a:cubicBezTo>
                <a:cubicBezTo>
                  <a:pt x="192286" y="144057"/>
                  <a:pt x="190885" y="140998"/>
                  <a:pt x="192668" y="137812"/>
                </a:cubicBezTo>
                <a:moveTo>
                  <a:pt x="179042" y="114361"/>
                </a:moveTo>
                <a:cubicBezTo>
                  <a:pt x="181334" y="114998"/>
                  <a:pt x="183498" y="114998"/>
                  <a:pt x="185664" y="114361"/>
                </a:cubicBezTo>
                <a:cubicBezTo>
                  <a:pt x="185155" y="113086"/>
                  <a:pt x="183371" y="112959"/>
                  <a:pt x="183244" y="111429"/>
                </a:cubicBezTo>
                <a:cubicBezTo>
                  <a:pt x="181207" y="111302"/>
                  <a:pt x="179551" y="111811"/>
                  <a:pt x="179042" y="114233"/>
                </a:cubicBezTo>
                <a:lnTo>
                  <a:pt x="179042" y="114361"/>
                </a:lnTo>
                <a:moveTo>
                  <a:pt x="183371" y="130165"/>
                </a:moveTo>
                <a:cubicBezTo>
                  <a:pt x="183371" y="131312"/>
                  <a:pt x="181334" y="132714"/>
                  <a:pt x="183627" y="133605"/>
                </a:cubicBezTo>
                <a:cubicBezTo>
                  <a:pt x="184901" y="134116"/>
                  <a:pt x="186555" y="134243"/>
                  <a:pt x="187574" y="133096"/>
                </a:cubicBezTo>
                <a:cubicBezTo>
                  <a:pt x="188848" y="131694"/>
                  <a:pt x="187192" y="130674"/>
                  <a:pt x="186555" y="129527"/>
                </a:cubicBezTo>
                <a:cubicBezTo>
                  <a:pt x="186173" y="128763"/>
                  <a:pt x="185537" y="128125"/>
                  <a:pt x="184136" y="126214"/>
                </a:cubicBezTo>
                <a:cubicBezTo>
                  <a:pt x="183627" y="128636"/>
                  <a:pt x="183371" y="129527"/>
                  <a:pt x="183371" y="130292"/>
                </a:cubicBezTo>
                <a:lnTo>
                  <a:pt x="183371" y="130165"/>
                </a:lnTo>
                <a:moveTo>
                  <a:pt x="163125" y="101105"/>
                </a:moveTo>
                <a:cubicBezTo>
                  <a:pt x="164780" y="100850"/>
                  <a:pt x="166817" y="102253"/>
                  <a:pt x="167836" y="98811"/>
                </a:cubicBezTo>
                <a:cubicBezTo>
                  <a:pt x="169109" y="94605"/>
                  <a:pt x="171275" y="90527"/>
                  <a:pt x="172166" y="85939"/>
                </a:cubicBezTo>
                <a:cubicBezTo>
                  <a:pt x="176113" y="88105"/>
                  <a:pt x="178660" y="90017"/>
                  <a:pt x="174968" y="94096"/>
                </a:cubicBezTo>
                <a:cubicBezTo>
                  <a:pt x="174203" y="94860"/>
                  <a:pt x="175604" y="96262"/>
                  <a:pt x="176496" y="96772"/>
                </a:cubicBezTo>
                <a:cubicBezTo>
                  <a:pt x="178533" y="97792"/>
                  <a:pt x="177768" y="96007"/>
                  <a:pt x="177897" y="95115"/>
                </a:cubicBezTo>
                <a:cubicBezTo>
                  <a:pt x="178151" y="93968"/>
                  <a:pt x="178279" y="92948"/>
                  <a:pt x="179807" y="93331"/>
                </a:cubicBezTo>
                <a:cubicBezTo>
                  <a:pt x="181971" y="93713"/>
                  <a:pt x="183500" y="92694"/>
                  <a:pt x="184772" y="91037"/>
                </a:cubicBezTo>
                <a:cubicBezTo>
                  <a:pt x="182608" y="89507"/>
                  <a:pt x="179807" y="88615"/>
                  <a:pt x="180825" y="84919"/>
                </a:cubicBezTo>
                <a:cubicBezTo>
                  <a:pt x="178279" y="83644"/>
                  <a:pt x="174840" y="84537"/>
                  <a:pt x="172930" y="81860"/>
                </a:cubicBezTo>
                <a:cubicBezTo>
                  <a:pt x="171402" y="84792"/>
                  <a:pt x="166054" y="86449"/>
                  <a:pt x="169365" y="91292"/>
                </a:cubicBezTo>
                <a:cubicBezTo>
                  <a:pt x="169492" y="91419"/>
                  <a:pt x="168982" y="92311"/>
                  <a:pt x="168600" y="92694"/>
                </a:cubicBezTo>
                <a:cubicBezTo>
                  <a:pt x="165672" y="94733"/>
                  <a:pt x="165545" y="98684"/>
                  <a:pt x="163125" y="101105"/>
                </a:cubicBezTo>
                <a:moveTo>
                  <a:pt x="157394" y="78291"/>
                </a:moveTo>
                <a:cubicBezTo>
                  <a:pt x="157394" y="78291"/>
                  <a:pt x="157903" y="80076"/>
                  <a:pt x="158794" y="79821"/>
                </a:cubicBezTo>
                <a:cubicBezTo>
                  <a:pt x="159559" y="79693"/>
                  <a:pt x="160705" y="78674"/>
                  <a:pt x="160578" y="78164"/>
                </a:cubicBezTo>
                <a:cubicBezTo>
                  <a:pt x="159559" y="73321"/>
                  <a:pt x="162743" y="72556"/>
                  <a:pt x="166181" y="72046"/>
                </a:cubicBezTo>
                <a:cubicBezTo>
                  <a:pt x="165926" y="70644"/>
                  <a:pt x="166435" y="68223"/>
                  <a:pt x="163761" y="69242"/>
                </a:cubicBezTo>
                <a:cubicBezTo>
                  <a:pt x="161723" y="70007"/>
                  <a:pt x="159305" y="70772"/>
                  <a:pt x="158158" y="72939"/>
                </a:cubicBezTo>
                <a:cubicBezTo>
                  <a:pt x="157394" y="74468"/>
                  <a:pt x="155612" y="76125"/>
                  <a:pt x="157394" y="78291"/>
                </a:cubicBezTo>
                <a:moveTo>
                  <a:pt x="137528" y="52928"/>
                </a:moveTo>
                <a:cubicBezTo>
                  <a:pt x="137528" y="52928"/>
                  <a:pt x="137911" y="53821"/>
                  <a:pt x="138166" y="54330"/>
                </a:cubicBezTo>
                <a:cubicBezTo>
                  <a:pt x="143769" y="51144"/>
                  <a:pt x="143005" y="57517"/>
                  <a:pt x="145042" y="59301"/>
                </a:cubicBezTo>
                <a:cubicBezTo>
                  <a:pt x="148226" y="57389"/>
                  <a:pt x="144788" y="55223"/>
                  <a:pt x="145551" y="53311"/>
                </a:cubicBezTo>
                <a:cubicBezTo>
                  <a:pt x="143387" y="52801"/>
                  <a:pt x="141604" y="51654"/>
                  <a:pt x="139694" y="50634"/>
                </a:cubicBezTo>
                <a:cubicBezTo>
                  <a:pt x="138929" y="50252"/>
                  <a:pt x="137784" y="51781"/>
                  <a:pt x="137528" y="52928"/>
                </a:cubicBezTo>
                <a:moveTo>
                  <a:pt x="127215" y="51781"/>
                </a:moveTo>
                <a:cubicBezTo>
                  <a:pt x="127596" y="52801"/>
                  <a:pt x="128487" y="52419"/>
                  <a:pt x="129252" y="52164"/>
                </a:cubicBezTo>
                <a:cubicBezTo>
                  <a:pt x="130143" y="51781"/>
                  <a:pt x="132180" y="51526"/>
                  <a:pt x="131289" y="52928"/>
                </a:cubicBezTo>
                <a:cubicBezTo>
                  <a:pt x="128487" y="57772"/>
                  <a:pt x="132563" y="58791"/>
                  <a:pt x="134982" y="62742"/>
                </a:cubicBezTo>
                <a:cubicBezTo>
                  <a:pt x="134982" y="56752"/>
                  <a:pt x="132436" y="52674"/>
                  <a:pt x="133581" y="48213"/>
                </a:cubicBezTo>
                <a:cubicBezTo>
                  <a:pt x="131544" y="47830"/>
                  <a:pt x="130016" y="48977"/>
                  <a:pt x="128233" y="49870"/>
                </a:cubicBezTo>
                <a:cubicBezTo>
                  <a:pt x="127469" y="50252"/>
                  <a:pt x="126705" y="50762"/>
                  <a:pt x="127215" y="51781"/>
                </a:cubicBezTo>
                <a:moveTo>
                  <a:pt x="115371" y="41840"/>
                </a:moveTo>
                <a:cubicBezTo>
                  <a:pt x="116518" y="49232"/>
                  <a:pt x="114862" y="50252"/>
                  <a:pt x="106840" y="47575"/>
                </a:cubicBezTo>
                <a:cubicBezTo>
                  <a:pt x="106457" y="49615"/>
                  <a:pt x="108750" y="49487"/>
                  <a:pt x="109132" y="50507"/>
                </a:cubicBezTo>
                <a:cubicBezTo>
                  <a:pt x="110660" y="53948"/>
                  <a:pt x="112061" y="57134"/>
                  <a:pt x="116772" y="57007"/>
                </a:cubicBezTo>
                <a:cubicBezTo>
                  <a:pt x="118173" y="57007"/>
                  <a:pt x="118682" y="58919"/>
                  <a:pt x="117536" y="60321"/>
                </a:cubicBezTo>
                <a:cubicBezTo>
                  <a:pt x="117409" y="60576"/>
                  <a:pt x="117154" y="60703"/>
                  <a:pt x="116900" y="60958"/>
                </a:cubicBezTo>
                <a:cubicBezTo>
                  <a:pt x="116263" y="61595"/>
                  <a:pt x="115754" y="62232"/>
                  <a:pt x="115117" y="62870"/>
                </a:cubicBezTo>
                <a:cubicBezTo>
                  <a:pt x="115117" y="62870"/>
                  <a:pt x="109641" y="71409"/>
                  <a:pt x="109641" y="71537"/>
                </a:cubicBezTo>
                <a:cubicBezTo>
                  <a:pt x="107222" y="74213"/>
                  <a:pt x="109641" y="74723"/>
                  <a:pt x="111297" y="75615"/>
                </a:cubicBezTo>
                <a:cubicBezTo>
                  <a:pt x="112061" y="78674"/>
                  <a:pt x="109132" y="81095"/>
                  <a:pt x="109514" y="84027"/>
                </a:cubicBezTo>
                <a:cubicBezTo>
                  <a:pt x="106075" y="83517"/>
                  <a:pt x="103147" y="86066"/>
                  <a:pt x="103656" y="88233"/>
                </a:cubicBezTo>
                <a:cubicBezTo>
                  <a:pt x="104420" y="91674"/>
                  <a:pt x="102128" y="92693"/>
                  <a:pt x="100982" y="94733"/>
                </a:cubicBezTo>
                <a:cubicBezTo>
                  <a:pt x="100345" y="96007"/>
                  <a:pt x="99836" y="97282"/>
                  <a:pt x="99326" y="98684"/>
                </a:cubicBezTo>
                <a:cubicBezTo>
                  <a:pt x="99199" y="99194"/>
                  <a:pt x="99326" y="99958"/>
                  <a:pt x="99708" y="100213"/>
                </a:cubicBezTo>
                <a:cubicBezTo>
                  <a:pt x="100472" y="101105"/>
                  <a:pt x="100982" y="100213"/>
                  <a:pt x="101619" y="99703"/>
                </a:cubicBezTo>
                <a:cubicBezTo>
                  <a:pt x="102383" y="99194"/>
                  <a:pt x="102892" y="97409"/>
                  <a:pt x="104165" y="98939"/>
                </a:cubicBezTo>
                <a:cubicBezTo>
                  <a:pt x="104675" y="99576"/>
                  <a:pt x="104293" y="100468"/>
                  <a:pt x="103656" y="101105"/>
                </a:cubicBezTo>
                <a:cubicBezTo>
                  <a:pt x="102510" y="102252"/>
                  <a:pt x="100600" y="103145"/>
                  <a:pt x="100982" y="105184"/>
                </a:cubicBezTo>
                <a:cubicBezTo>
                  <a:pt x="102128" y="111174"/>
                  <a:pt x="98690" y="117547"/>
                  <a:pt x="102510" y="123410"/>
                </a:cubicBezTo>
                <a:cubicBezTo>
                  <a:pt x="103019" y="124302"/>
                  <a:pt x="105184" y="130165"/>
                  <a:pt x="98944" y="129145"/>
                </a:cubicBezTo>
                <a:cubicBezTo>
                  <a:pt x="97798" y="128890"/>
                  <a:pt x="97416" y="130674"/>
                  <a:pt x="98180" y="131694"/>
                </a:cubicBezTo>
                <a:cubicBezTo>
                  <a:pt x="99199" y="133223"/>
                  <a:pt x="97671" y="134243"/>
                  <a:pt x="97544" y="135518"/>
                </a:cubicBezTo>
                <a:cubicBezTo>
                  <a:pt x="95634" y="137302"/>
                  <a:pt x="93596" y="138958"/>
                  <a:pt x="91813" y="140871"/>
                </a:cubicBezTo>
                <a:cubicBezTo>
                  <a:pt x="90795" y="142018"/>
                  <a:pt x="91686" y="144822"/>
                  <a:pt x="93087" y="145077"/>
                </a:cubicBezTo>
                <a:cubicBezTo>
                  <a:pt x="94360" y="145204"/>
                  <a:pt x="93723" y="140998"/>
                  <a:pt x="96143" y="143675"/>
                </a:cubicBezTo>
                <a:cubicBezTo>
                  <a:pt x="97416" y="144949"/>
                  <a:pt x="99581" y="145969"/>
                  <a:pt x="98308" y="148391"/>
                </a:cubicBezTo>
                <a:cubicBezTo>
                  <a:pt x="98817" y="148518"/>
                  <a:pt x="99454" y="148900"/>
                  <a:pt x="99836" y="148773"/>
                </a:cubicBezTo>
                <a:cubicBezTo>
                  <a:pt x="101873" y="147753"/>
                  <a:pt x="103147" y="148008"/>
                  <a:pt x="103019" y="150557"/>
                </a:cubicBezTo>
                <a:cubicBezTo>
                  <a:pt x="103019" y="152724"/>
                  <a:pt x="103529" y="154126"/>
                  <a:pt x="105948" y="154890"/>
                </a:cubicBezTo>
                <a:cubicBezTo>
                  <a:pt x="108622" y="155782"/>
                  <a:pt x="107986" y="158714"/>
                  <a:pt x="107858" y="160753"/>
                </a:cubicBezTo>
                <a:cubicBezTo>
                  <a:pt x="107604" y="163939"/>
                  <a:pt x="105312" y="160881"/>
                  <a:pt x="104038" y="161646"/>
                </a:cubicBezTo>
                <a:cubicBezTo>
                  <a:pt x="103147" y="162283"/>
                  <a:pt x="102001" y="162665"/>
                  <a:pt x="101109" y="163048"/>
                </a:cubicBezTo>
                <a:cubicBezTo>
                  <a:pt x="101364" y="164704"/>
                  <a:pt x="101237" y="166743"/>
                  <a:pt x="103783" y="165979"/>
                </a:cubicBezTo>
                <a:cubicBezTo>
                  <a:pt x="105057" y="165597"/>
                  <a:pt x="106076" y="164450"/>
                  <a:pt x="107604" y="164577"/>
                </a:cubicBezTo>
                <a:cubicBezTo>
                  <a:pt x="109004" y="164704"/>
                  <a:pt x="109896" y="165597"/>
                  <a:pt x="109259" y="166743"/>
                </a:cubicBezTo>
                <a:cubicBezTo>
                  <a:pt x="108368" y="168401"/>
                  <a:pt x="107222" y="170567"/>
                  <a:pt x="105566" y="171204"/>
                </a:cubicBezTo>
                <a:cubicBezTo>
                  <a:pt x="103019" y="172352"/>
                  <a:pt x="104420" y="173372"/>
                  <a:pt x="104547" y="174901"/>
                </a:cubicBezTo>
                <a:cubicBezTo>
                  <a:pt x="104802" y="177832"/>
                  <a:pt x="103783" y="180381"/>
                  <a:pt x="100982" y="181783"/>
                </a:cubicBezTo>
                <a:cubicBezTo>
                  <a:pt x="101109" y="183058"/>
                  <a:pt x="102128" y="184587"/>
                  <a:pt x="102892" y="184332"/>
                </a:cubicBezTo>
                <a:cubicBezTo>
                  <a:pt x="105439" y="183567"/>
                  <a:pt x="106330" y="185607"/>
                  <a:pt x="107731" y="186754"/>
                </a:cubicBezTo>
                <a:cubicBezTo>
                  <a:pt x="107476" y="184460"/>
                  <a:pt x="108368" y="182293"/>
                  <a:pt x="109386" y="180254"/>
                </a:cubicBezTo>
                <a:cubicBezTo>
                  <a:pt x="107349" y="177109"/>
                  <a:pt x="107646" y="173754"/>
                  <a:pt x="110278" y="170185"/>
                </a:cubicBezTo>
                <a:cubicBezTo>
                  <a:pt x="114098" y="175920"/>
                  <a:pt x="114098" y="176174"/>
                  <a:pt x="109641" y="179998"/>
                </a:cubicBezTo>
                <a:cubicBezTo>
                  <a:pt x="112570" y="183185"/>
                  <a:pt x="117154" y="184969"/>
                  <a:pt x="118046" y="190067"/>
                </a:cubicBezTo>
                <a:cubicBezTo>
                  <a:pt x="118810" y="194400"/>
                  <a:pt x="120847" y="195931"/>
                  <a:pt x="124795" y="192871"/>
                </a:cubicBezTo>
                <a:cubicBezTo>
                  <a:pt x="127724" y="194400"/>
                  <a:pt x="128106" y="193253"/>
                  <a:pt x="127596" y="190449"/>
                </a:cubicBezTo>
                <a:cubicBezTo>
                  <a:pt x="127086" y="188156"/>
                  <a:pt x="130270" y="187263"/>
                  <a:pt x="130780" y="187518"/>
                </a:cubicBezTo>
                <a:cubicBezTo>
                  <a:pt x="133199" y="188920"/>
                  <a:pt x="134982" y="186371"/>
                  <a:pt x="137019" y="186881"/>
                </a:cubicBezTo>
                <a:cubicBezTo>
                  <a:pt x="136765" y="185351"/>
                  <a:pt x="135873" y="183949"/>
                  <a:pt x="134473" y="184205"/>
                </a:cubicBezTo>
                <a:cubicBezTo>
                  <a:pt x="132690" y="184460"/>
                  <a:pt x="131671" y="184587"/>
                  <a:pt x="132307" y="182420"/>
                </a:cubicBezTo>
                <a:cubicBezTo>
                  <a:pt x="132690" y="181145"/>
                  <a:pt x="133708" y="179743"/>
                  <a:pt x="135364" y="181018"/>
                </a:cubicBezTo>
                <a:cubicBezTo>
                  <a:pt x="137147" y="182293"/>
                  <a:pt x="139057" y="183567"/>
                  <a:pt x="140712" y="185096"/>
                </a:cubicBezTo>
                <a:cubicBezTo>
                  <a:pt x="143005" y="187009"/>
                  <a:pt x="144532" y="186371"/>
                  <a:pt x="146571" y="184460"/>
                </a:cubicBezTo>
                <a:cubicBezTo>
                  <a:pt x="148481" y="182676"/>
                  <a:pt x="148735" y="180636"/>
                  <a:pt x="148862" y="178342"/>
                </a:cubicBezTo>
                <a:cubicBezTo>
                  <a:pt x="150772" y="177576"/>
                  <a:pt x="152937" y="175410"/>
                  <a:pt x="154338" y="179107"/>
                </a:cubicBezTo>
                <a:cubicBezTo>
                  <a:pt x="155866" y="183312"/>
                  <a:pt x="159304" y="186627"/>
                  <a:pt x="159686" y="191342"/>
                </a:cubicBezTo>
                <a:cubicBezTo>
                  <a:pt x="159686" y="192489"/>
                  <a:pt x="160324" y="194911"/>
                  <a:pt x="163634" y="194146"/>
                </a:cubicBezTo>
                <a:cubicBezTo>
                  <a:pt x="169746" y="192616"/>
                  <a:pt x="170128" y="192616"/>
                  <a:pt x="168218" y="186498"/>
                </a:cubicBezTo>
                <a:cubicBezTo>
                  <a:pt x="167709" y="184842"/>
                  <a:pt x="167709" y="182676"/>
                  <a:pt x="166690" y="181783"/>
                </a:cubicBezTo>
                <a:cubicBezTo>
                  <a:pt x="162743" y="178341"/>
                  <a:pt x="164525" y="174263"/>
                  <a:pt x="164653" y="170185"/>
                </a:cubicBezTo>
                <a:cubicBezTo>
                  <a:pt x="169747" y="171969"/>
                  <a:pt x="166308" y="177322"/>
                  <a:pt x="170892" y="181400"/>
                </a:cubicBezTo>
                <a:cubicBezTo>
                  <a:pt x="169109" y="177067"/>
                  <a:pt x="170637" y="174772"/>
                  <a:pt x="170892" y="172223"/>
                </a:cubicBezTo>
                <a:cubicBezTo>
                  <a:pt x="171019" y="170567"/>
                  <a:pt x="171784" y="169548"/>
                  <a:pt x="173439" y="169421"/>
                </a:cubicBezTo>
                <a:cubicBezTo>
                  <a:pt x="174968" y="169421"/>
                  <a:pt x="176240" y="170057"/>
                  <a:pt x="177259" y="171204"/>
                </a:cubicBezTo>
                <a:cubicBezTo>
                  <a:pt x="178406" y="172479"/>
                  <a:pt x="178024" y="173754"/>
                  <a:pt x="177005" y="175028"/>
                </a:cubicBezTo>
                <a:cubicBezTo>
                  <a:pt x="176113" y="176174"/>
                  <a:pt x="173948" y="176940"/>
                  <a:pt x="175477" y="179234"/>
                </a:cubicBezTo>
                <a:cubicBezTo>
                  <a:pt x="176750" y="178596"/>
                  <a:pt x="178151" y="178214"/>
                  <a:pt x="179169" y="177449"/>
                </a:cubicBezTo>
                <a:cubicBezTo>
                  <a:pt x="179934" y="176940"/>
                  <a:pt x="179807" y="175283"/>
                  <a:pt x="181461" y="175792"/>
                </a:cubicBezTo>
                <a:cubicBezTo>
                  <a:pt x="182608" y="176174"/>
                  <a:pt x="182990" y="174518"/>
                  <a:pt x="182608" y="174390"/>
                </a:cubicBezTo>
                <a:cubicBezTo>
                  <a:pt x="179680" y="173116"/>
                  <a:pt x="178278" y="170439"/>
                  <a:pt x="177897" y="167890"/>
                </a:cubicBezTo>
                <a:cubicBezTo>
                  <a:pt x="177259" y="163812"/>
                  <a:pt x="172547" y="166743"/>
                  <a:pt x="171657" y="163685"/>
                </a:cubicBezTo>
                <a:cubicBezTo>
                  <a:pt x="173185" y="162283"/>
                  <a:pt x="175222" y="160499"/>
                  <a:pt x="176750" y="161646"/>
                </a:cubicBezTo>
                <a:cubicBezTo>
                  <a:pt x="178533" y="162792"/>
                  <a:pt x="179551" y="164832"/>
                  <a:pt x="182353" y="163939"/>
                </a:cubicBezTo>
                <a:cubicBezTo>
                  <a:pt x="182862" y="163812"/>
                  <a:pt x="183117" y="165214"/>
                  <a:pt x="183117" y="166106"/>
                </a:cubicBezTo>
                <a:cubicBezTo>
                  <a:pt x="183117" y="167254"/>
                  <a:pt x="180825" y="168272"/>
                  <a:pt x="183117" y="169421"/>
                </a:cubicBezTo>
                <a:cubicBezTo>
                  <a:pt x="186173" y="168910"/>
                  <a:pt x="187447" y="165979"/>
                  <a:pt x="189739" y="164321"/>
                </a:cubicBezTo>
                <a:cubicBezTo>
                  <a:pt x="191903" y="162792"/>
                  <a:pt x="193050" y="159861"/>
                  <a:pt x="192795" y="157057"/>
                </a:cubicBezTo>
                <a:cubicBezTo>
                  <a:pt x="192795" y="156420"/>
                  <a:pt x="189230" y="157695"/>
                  <a:pt x="188211" y="155400"/>
                </a:cubicBezTo>
                <a:cubicBezTo>
                  <a:pt x="188083" y="155017"/>
                  <a:pt x="187192" y="154890"/>
                  <a:pt x="186811" y="154890"/>
                </a:cubicBezTo>
                <a:cubicBezTo>
                  <a:pt x="186046" y="155017"/>
                  <a:pt x="185155" y="155400"/>
                  <a:pt x="184899" y="154253"/>
                </a:cubicBezTo>
                <a:cubicBezTo>
                  <a:pt x="184645" y="153233"/>
                  <a:pt x="185537" y="152851"/>
                  <a:pt x="186300" y="152469"/>
                </a:cubicBezTo>
                <a:cubicBezTo>
                  <a:pt x="189611" y="150429"/>
                  <a:pt x="189739" y="149920"/>
                  <a:pt x="187192" y="147753"/>
                </a:cubicBezTo>
                <a:cubicBezTo>
                  <a:pt x="186428" y="147116"/>
                  <a:pt x="185155" y="146860"/>
                  <a:pt x="184645" y="145713"/>
                </a:cubicBezTo>
                <a:cubicBezTo>
                  <a:pt x="182989" y="145459"/>
                  <a:pt x="181334" y="145077"/>
                  <a:pt x="181079" y="142782"/>
                </a:cubicBezTo>
                <a:cubicBezTo>
                  <a:pt x="181079" y="141891"/>
                  <a:pt x="180061" y="140106"/>
                  <a:pt x="179678" y="142400"/>
                </a:cubicBezTo>
                <a:cubicBezTo>
                  <a:pt x="179042" y="145842"/>
                  <a:pt x="177897" y="145331"/>
                  <a:pt x="176113" y="143547"/>
                </a:cubicBezTo>
                <a:cubicBezTo>
                  <a:pt x="174586" y="142018"/>
                  <a:pt x="173185" y="140106"/>
                  <a:pt x="171657" y="138322"/>
                </a:cubicBezTo>
                <a:cubicBezTo>
                  <a:pt x="172420" y="137302"/>
                  <a:pt x="173312" y="136409"/>
                  <a:pt x="174076" y="135263"/>
                </a:cubicBezTo>
                <a:cubicBezTo>
                  <a:pt x="174586" y="134371"/>
                  <a:pt x="174586" y="132714"/>
                  <a:pt x="175349" y="132458"/>
                </a:cubicBezTo>
                <a:cubicBezTo>
                  <a:pt x="177641" y="131567"/>
                  <a:pt x="176496" y="134116"/>
                  <a:pt x="177259" y="134753"/>
                </a:cubicBezTo>
                <a:cubicBezTo>
                  <a:pt x="178024" y="135263"/>
                  <a:pt x="178915" y="135136"/>
                  <a:pt x="179169" y="134116"/>
                </a:cubicBezTo>
                <a:cubicBezTo>
                  <a:pt x="179551" y="132458"/>
                  <a:pt x="179934" y="130547"/>
                  <a:pt x="178406" y="129400"/>
                </a:cubicBezTo>
                <a:cubicBezTo>
                  <a:pt x="176750" y="127998"/>
                  <a:pt x="175604" y="126469"/>
                  <a:pt x="175986" y="124429"/>
                </a:cubicBezTo>
                <a:cubicBezTo>
                  <a:pt x="177132" y="118312"/>
                  <a:pt x="173312" y="115635"/>
                  <a:pt x="168727" y="113723"/>
                </a:cubicBezTo>
                <a:cubicBezTo>
                  <a:pt x="165416" y="112449"/>
                  <a:pt x="165162" y="110664"/>
                  <a:pt x="166817" y="107860"/>
                </a:cubicBezTo>
                <a:cubicBezTo>
                  <a:pt x="167326" y="107096"/>
                  <a:pt x="167326" y="106331"/>
                  <a:pt x="166817" y="105566"/>
                </a:cubicBezTo>
                <a:cubicBezTo>
                  <a:pt x="164271" y="105821"/>
                  <a:pt x="165035" y="109517"/>
                  <a:pt x="162615" y="109772"/>
                </a:cubicBezTo>
                <a:cubicBezTo>
                  <a:pt x="162615" y="106968"/>
                  <a:pt x="162615" y="104164"/>
                  <a:pt x="162615" y="101360"/>
                </a:cubicBezTo>
                <a:cubicBezTo>
                  <a:pt x="160833" y="101360"/>
                  <a:pt x="159050" y="101360"/>
                  <a:pt x="157267" y="101233"/>
                </a:cubicBezTo>
                <a:cubicBezTo>
                  <a:pt x="161087" y="104037"/>
                  <a:pt x="157649" y="106713"/>
                  <a:pt x="156248" y="109517"/>
                </a:cubicBezTo>
                <a:cubicBezTo>
                  <a:pt x="158923" y="109645"/>
                  <a:pt x="160833" y="109772"/>
                  <a:pt x="162615" y="109900"/>
                </a:cubicBezTo>
                <a:cubicBezTo>
                  <a:pt x="162997" y="110664"/>
                  <a:pt x="163252" y="111429"/>
                  <a:pt x="163634" y="112066"/>
                </a:cubicBezTo>
                <a:cubicBezTo>
                  <a:pt x="157776" y="112576"/>
                  <a:pt x="157013" y="119459"/>
                  <a:pt x="152046" y="121243"/>
                </a:cubicBezTo>
                <a:cubicBezTo>
                  <a:pt x="149117" y="119076"/>
                  <a:pt x="153573" y="116782"/>
                  <a:pt x="152301" y="114870"/>
                </a:cubicBezTo>
                <a:cubicBezTo>
                  <a:pt x="151792" y="113978"/>
                  <a:pt x="151409" y="114106"/>
                  <a:pt x="150900" y="114233"/>
                </a:cubicBezTo>
                <a:cubicBezTo>
                  <a:pt x="148099" y="115125"/>
                  <a:pt x="144659" y="115380"/>
                  <a:pt x="142495" y="117037"/>
                </a:cubicBezTo>
                <a:cubicBezTo>
                  <a:pt x="140458" y="118566"/>
                  <a:pt x="139438" y="118057"/>
                  <a:pt x="138548" y="116782"/>
                </a:cubicBezTo>
                <a:cubicBezTo>
                  <a:pt x="136892" y="114743"/>
                  <a:pt x="140203" y="114743"/>
                  <a:pt x="140458" y="113341"/>
                </a:cubicBezTo>
                <a:cubicBezTo>
                  <a:pt x="138675" y="113468"/>
                  <a:pt x="136638" y="110792"/>
                  <a:pt x="134727" y="114488"/>
                </a:cubicBezTo>
                <a:cubicBezTo>
                  <a:pt x="133199" y="117547"/>
                  <a:pt x="128105" y="117292"/>
                  <a:pt x="125941" y="115635"/>
                </a:cubicBezTo>
                <a:cubicBezTo>
                  <a:pt x="123394" y="113851"/>
                  <a:pt x="120974" y="114743"/>
                  <a:pt x="118428" y="114233"/>
                </a:cubicBezTo>
                <a:cubicBezTo>
                  <a:pt x="119574" y="112704"/>
                  <a:pt x="120592" y="111684"/>
                  <a:pt x="121993" y="111557"/>
                </a:cubicBezTo>
                <a:cubicBezTo>
                  <a:pt x="124795" y="111302"/>
                  <a:pt x="125431" y="110027"/>
                  <a:pt x="124158" y="107733"/>
                </a:cubicBezTo>
                <a:cubicBezTo>
                  <a:pt x="123521" y="106586"/>
                  <a:pt x="123521" y="105694"/>
                  <a:pt x="124031" y="104547"/>
                </a:cubicBezTo>
                <a:cubicBezTo>
                  <a:pt x="125431" y="101360"/>
                  <a:pt x="127086" y="98047"/>
                  <a:pt x="122375" y="95880"/>
                </a:cubicBezTo>
                <a:cubicBezTo>
                  <a:pt x="121866" y="95625"/>
                  <a:pt x="121739" y="94350"/>
                  <a:pt x="121484" y="93586"/>
                </a:cubicBezTo>
                <a:cubicBezTo>
                  <a:pt x="121102" y="92056"/>
                  <a:pt x="123394" y="90782"/>
                  <a:pt x="121993" y="88997"/>
                </a:cubicBezTo>
                <a:cubicBezTo>
                  <a:pt x="120847" y="87468"/>
                  <a:pt x="119064" y="88105"/>
                  <a:pt x="117791" y="87595"/>
                </a:cubicBezTo>
                <a:cubicBezTo>
                  <a:pt x="114862" y="86448"/>
                  <a:pt x="112315" y="88615"/>
                  <a:pt x="111679" y="91929"/>
                </a:cubicBezTo>
                <a:cubicBezTo>
                  <a:pt x="113971" y="90527"/>
                  <a:pt x="116263" y="88488"/>
                  <a:pt x="118937" y="91674"/>
                </a:cubicBezTo>
                <a:cubicBezTo>
                  <a:pt x="118937" y="93204"/>
                  <a:pt x="116772" y="92821"/>
                  <a:pt x="116263" y="93841"/>
                </a:cubicBezTo>
                <a:cubicBezTo>
                  <a:pt x="116008" y="94350"/>
                  <a:pt x="114353" y="94988"/>
                  <a:pt x="115881" y="95625"/>
                </a:cubicBezTo>
                <a:cubicBezTo>
                  <a:pt x="120465" y="97282"/>
                  <a:pt x="114989" y="99704"/>
                  <a:pt x="116390" y="101870"/>
                </a:cubicBezTo>
                <a:cubicBezTo>
                  <a:pt x="117027" y="103017"/>
                  <a:pt x="115499" y="104037"/>
                  <a:pt x="114098" y="104802"/>
                </a:cubicBezTo>
                <a:cubicBezTo>
                  <a:pt x="110915" y="106459"/>
                  <a:pt x="106967" y="108115"/>
                  <a:pt x="109641" y="113214"/>
                </a:cubicBezTo>
                <a:cubicBezTo>
                  <a:pt x="110150" y="114233"/>
                  <a:pt x="109004" y="115253"/>
                  <a:pt x="107858" y="115635"/>
                </a:cubicBezTo>
                <a:cubicBezTo>
                  <a:pt x="106330" y="116272"/>
                  <a:pt x="105184" y="115125"/>
                  <a:pt x="103911" y="114488"/>
                </a:cubicBezTo>
                <a:cubicBezTo>
                  <a:pt x="102637" y="113851"/>
                  <a:pt x="103274" y="112576"/>
                  <a:pt x="103911" y="111557"/>
                </a:cubicBezTo>
                <a:cubicBezTo>
                  <a:pt x="104547" y="110409"/>
                  <a:pt x="106330" y="109772"/>
                  <a:pt x="105311" y="107988"/>
                </a:cubicBezTo>
                <a:cubicBezTo>
                  <a:pt x="104547" y="106713"/>
                  <a:pt x="103911" y="105184"/>
                  <a:pt x="104929" y="104037"/>
                </a:cubicBezTo>
                <a:cubicBezTo>
                  <a:pt x="106457" y="102380"/>
                  <a:pt x="106330" y="106203"/>
                  <a:pt x="107731" y="105311"/>
                </a:cubicBezTo>
                <a:cubicBezTo>
                  <a:pt x="109896" y="103909"/>
                  <a:pt x="110533" y="100978"/>
                  <a:pt x="109769" y="97664"/>
                </a:cubicBezTo>
                <a:cubicBezTo>
                  <a:pt x="105439" y="94223"/>
                  <a:pt x="104802" y="89762"/>
                  <a:pt x="108240" y="85811"/>
                </a:cubicBezTo>
                <a:cubicBezTo>
                  <a:pt x="108750" y="85301"/>
                  <a:pt x="109259" y="84664"/>
                  <a:pt x="109769" y="84154"/>
                </a:cubicBezTo>
                <a:cubicBezTo>
                  <a:pt x="114735" y="81605"/>
                  <a:pt x="114989" y="80458"/>
                  <a:pt x="111551" y="75615"/>
                </a:cubicBezTo>
                <a:cubicBezTo>
                  <a:pt x="112188" y="72429"/>
                  <a:pt x="116390" y="71536"/>
                  <a:pt x="116645" y="68095"/>
                </a:cubicBezTo>
                <a:cubicBezTo>
                  <a:pt x="116900" y="65801"/>
                  <a:pt x="116390" y="64527"/>
                  <a:pt x="120083" y="64144"/>
                </a:cubicBezTo>
                <a:cubicBezTo>
                  <a:pt x="124540" y="63634"/>
                  <a:pt x="123139" y="66566"/>
                  <a:pt x="124158" y="68223"/>
                </a:cubicBezTo>
                <a:cubicBezTo>
                  <a:pt x="125049" y="69625"/>
                  <a:pt x="125177" y="71537"/>
                  <a:pt x="127342" y="71791"/>
                </a:cubicBezTo>
                <a:cubicBezTo>
                  <a:pt x="128106" y="71282"/>
                  <a:pt x="128360" y="70644"/>
                  <a:pt x="128360" y="69752"/>
                </a:cubicBezTo>
                <a:cubicBezTo>
                  <a:pt x="128360" y="65546"/>
                  <a:pt x="128615" y="65291"/>
                  <a:pt x="131798" y="66948"/>
                </a:cubicBezTo>
                <a:cubicBezTo>
                  <a:pt x="132818" y="67458"/>
                  <a:pt x="134473" y="68095"/>
                  <a:pt x="134473" y="68605"/>
                </a:cubicBezTo>
                <a:cubicBezTo>
                  <a:pt x="134090" y="75105"/>
                  <a:pt x="138929" y="73321"/>
                  <a:pt x="142240" y="73831"/>
                </a:cubicBezTo>
                <a:cubicBezTo>
                  <a:pt x="140712" y="76252"/>
                  <a:pt x="136638" y="78164"/>
                  <a:pt x="141604" y="81350"/>
                </a:cubicBezTo>
                <a:cubicBezTo>
                  <a:pt x="143132" y="82370"/>
                  <a:pt x="142240" y="84409"/>
                  <a:pt x="142495" y="86066"/>
                </a:cubicBezTo>
                <a:cubicBezTo>
                  <a:pt x="141348" y="86066"/>
                  <a:pt x="139949" y="85811"/>
                  <a:pt x="139567" y="87086"/>
                </a:cubicBezTo>
                <a:cubicBezTo>
                  <a:pt x="138293" y="92821"/>
                  <a:pt x="136765" y="91419"/>
                  <a:pt x="134473" y="87468"/>
                </a:cubicBezTo>
                <a:cubicBezTo>
                  <a:pt x="133072" y="85174"/>
                  <a:pt x="130907" y="85811"/>
                  <a:pt x="129634" y="87850"/>
                </a:cubicBezTo>
                <a:cubicBezTo>
                  <a:pt x="126578" y="92566"/>
                  <a:pt x="131671" y="88360"/>
                  <a:pt x="131926" y="89890"/>
                </a:cubicBezTo>
                <a:cubicBezTo>
                  <a:pt x="132180" y="90909"/>
                  <a:pt x="133072" y="91802"/>
                  <a:pt x="133708" y="92694"/>
                </a:cubicBezTo>
                <a:cubicBezTo>
                  <a:pt x="135109" y="94351"/>
                  <a:pt x="136510" y="96135"/>
                  <a:pt x="138293" y="97282"/>
                </a:cubicBezTo>
                <a:cubicBezTo>
                  <a:pt x="139184" y="97919"/>
                  <a:pt x="142113" y="97282"/>
                  <a:pt x="141477" y="96262"/>
                </a:cubicBezTo>
                <a:cubicBezTo>
                  <a:pt x="139184" y="92566"/>
                  <a:pt x="143896" y="91546"/>
                  <a:pt x="143769" y="88997"/>
                </a:cubicBezTo>
                <a:cubicBezTo>
                  <a:pt x="146952" y="87213"/>
                  <a:pt x="144661" y="83262"/>
                  <a:pt x="146952" y="80968"/>
                </a:cubicBezTo>
                <a:cubicBezTo>
                  <a:pt x="147843" y="79948"/>
                  <a:pt x="148226" y="78419"/>
                  <a:pt x="149882" y="79183"/>
                </a:cubicBezTo>
                <a:cubicBezTo>
                  <a:pt x="151027" y="79693"/>
                  <a:pt x="151027" y="80968"/>
                  <a:pt x="150900" y="82115"/>
                </a:cubicBezTo>
                <a:cubicBezTo>
                  <a:pt x="150136" y="88743"/>
                  <a:pt x="151792" y="94860"/>
                  <a:pt x="155993" y="100086"/>
                </a:cubicBezTo>
                <a:cubicBezTo>
                  <a:pt x="156248" y="96262"/>
                  <a:pt x="155993" y="92184"/>
                  <a:pt x="155484" y="88615"/>
                </a:cubicBezTo>
                <a:cubicBezTo>
                  <a:pt x="154847" y="82497"/>
                  <a:pt x="153446" y="75997"/>
                  <a:pt x="148990" y="70644"/>
                </a:cubicBezTo>
                <a:cubicBezTo>
                  <a:pt x="147080" y="72938"/>
                  <a:pt x="145042" y="74340"/>
                  <a:pt x="142240" y="73831"/>
                </a:cubicBezTo>
                <a:cubicBezTo>
                  <a:pt x="141986" y="72556"/>
                  <a:pt x="142622" y="71027"/>
                  <a:pt x="141604" y="69880"/>
                </a:cubicBezTo>
                <a:cubicBezTo>
                  <a:pt x="139949" y="70134"/>
                  <a:pt x="137147" y="75615"/>
                  <a:pt x="136892" y="68860"/>
                </a:cubicBezTo>
                <a:cubicBezTo>
                  <a:pt x="136892" y="67076"/>
                  <a:pt x="134982" y="66183"/>
                  <a:pt x="133581" y="65291"/>
                </a:cubicBezTo>
                <a:cubicBezTo>
                  <a:pt x="131162" y="63762"/>
                  <a:pt x="128996" y="61850"/>
                  <a:pt x="127469" y="59429"/>
                </a:cubicBezTo>
                <a:lnTo>
                  <a:pt x="121611" y="54458"/>
                </a:lnTo>
                <a:cubicBezTo>
                  <a:pt x="120210" y="54840"/>
                  <a:pt x="118682" y="55477"/>
                  <a:pt x="119446" y="52928"/>
                </a:cubicBezTo>
                <a:cubicBezTo>
                  <a:pt x="119828" y="51526"/>
                  <a:pt x="120720" y="50507"/>
                  <a:pt x="121866" y="49615"/>
                </a:cubicBezTo>
                <a:cubicBezTo>
                  <a:pt x="123776" y="48085"/>
                  <a:pt x="118937" y="47958"/>
                  <a:pt x="120974" y="46046"/>
                </a:cubicBezTo>
                <a:cubicBezTo>
                  <a:pt x="121611" y="45409"/>
                  <a:pt x="123012" y="45026"/>
                  <a:pt x="122375" y="43497"/>
                </a:cubicBezTo>
                <a:cubicBezTo>
                  <a:pt x="119828" y="44134"/>
                  <a:pt x="118046" y="40820"/>
                  <a:pt x="115371" y="41840"/>
                </a:cubicBezTo>
                <a:moveTo>
                  <a:pt x="143005" y="110027"/>
                </a:moveTo>
                <a:cubicBezTo>
                  <a:pt x="141986" y="110919"/>
                  <a:pt x="140839" y="111684"/>
                  <a:pt x="140712" y="113214"/>
                </a:cubicBezTo>
                <a:cubicBezTo>
                  <a:pt x="143896" y="113341"/>
                  <a:pt x="145679" y="111174"/>
                  <a:pt x="147207" y="108880"/>
                </a:cubicBezTo>
                <a:cubicBezTo>
                  <a:pt x="149117" y="106076"/>
                  <a:pt x="146315" y="103527"/>
                  <a:pt x="146571" y="100723"/>
                </a:cubicBezTo>
                <a:cubicBezTo>
                  <a:pt x="145679" y="101743"/>
                  <a:pt x="144532" y="103145"/>
                  <a:pt x="144915" y="103655"/>
                </a:cubicBezTo>
                <a:cubicBezTo>
                  <a:pt x="146698" y="106713"/>
                  <a:pt x="144915" y="108370"/>
                  <a:pt x="143005" y="110155"/>
                </a:cubicBezTo>
                <a:lnTo>
                  <a:pt x="143005" y="110027"/>
                </a:lnTo>
                <a:moveTo>
                  <a:pt x="130780" y="94350"/>
                </a:moveTo>
                <a:cubicBezTo>
                  <a:pt x="130397" y="100850"/>
                  <a:pt x="130397" y="100978"/>
                  <a:pt x="133708" y="104547"/>
                </a:cubicBezTo>
                <a:cubicBezTo>
                  <a:pt x="135237" y="98811"/>
                  <a:pt x="135109" y="98684"/>
                  <a:pt x="130780" y="94350"/>
                </a:cubicBezTo>
                <a:moveTo>
                  <a:pt x="133199" y="109517"/>
                </a:moveTo>
                <a:cubicBezTo>
                  <a:pt x="135364" y="109517"/>
                  <a:pt x="136892" y="108115"/>
                  <a:pt x="136892" y="106076"/>
                </a:cubicBezTo>
                <a:cubicBezTo>
                  <a:pt x="136892" y="104419"/>
                  <a:pt x="135109" y="104547"/>
                  <a:pt x="133708" y="104674"/>
                </a:cubicBezTo>
                <a:cubicBezTo>
                  <a:pt x="133199" y="105566"/>
                  <a:pt x="132690" y="106458"/>
                  <a:pt x="132307" y="107478"/>
                </a:cubicBezTo>
                <a:cubicBezTo>
                  <a:pt x="131926" y="108370"/>
                  <a:pt x="132436" y="109517"/>
                  <a:pt x="133072" y="109517"/>
                </a:cubicBezTo>
                <a:lnTo>
                  <a:pt x="133199" y="109517"/>
                </a:lnTo>
                <a:moveTo>
                  <a:pt x="139440" y="261313"/>
                </a:moveTo>
                <a:cubicBezTo>
                  <a:pt x="140330" y="257490"/>
                  <a:pt x="137784" y="259146"/>
                  <a:pt x="137019" y="260039"/>
                </a:cubicBezTo>
                <a:cubicBezTo>
                  <a:pt x="135109" y="261950"/>
                  <a:pt x="133963" y="264499"/>
                  <a:pt x="133836" y="267303"/>
                </a:cubicBezTo>
                <a:cubicBezTo>
                  <a:pt x="135618" y="266412"/>
                  <a:pt x="137274" y="265774"/>
                  <a:pt x="138675" y="268068"/>
                </a:cubicBezTo>
                <a:cubicBezTo>
                  <a:pt x="139438" y="269470"/>
                  <a:pt x="140203" y="271000"/>
                  <a:pt x="142240" y="270745"/>
                </a:cubicBezTo>
                <a:cubicBezTo>
                  <a:pt x="141604" y="267559"/>
                  <a:pt x="143769" y="263481"/>
                  <a:pt x="139567" y="261313"/>
                </a:cubicBezTo>
                <a:lnTo>
                  <a:pt x="139440" y="261313"/>
                </a:lnTo>
                <a:moveTo>
                  <a:pt x="147843" y="268832"/>
                </a:moveTo>
                <a:cubicBezTo>
                  <a:pt x="147843" y="268832"/>
                  <a:pt x="146442" y="267559"/>
                  <a:pt x="145933" y="268832"/>
                </a:cubicBezTo>
                <a:cubicBezTo>
                  <a:pt x="145297" y="270617"/>
                  <a:pt x="144278" y="271382"/>
                  <a:pt x="142368" y="271127"/>
                </a:cubicBezTo>
                <a:cubicBezTo>
                  <a:pt x="143769" y="273803"/>
                  <a:pt x="146060" y="272656"/>
                  <a:pt x="147843" y="271765"/>
                </a:cubicBezTo>
                <a:cubicBezTo>
                  <a:pt x="148990" y="271127"/>
                  <a:pt x="148481" y="269852"/>
                  <a:pt x="147716" y="268961"/>
                </a:cubicBezTo>
                <a:lnTo>
                  <a:pt x="147843" y="268832"/>
                </a:lnTo>
                <a:moveTo>
                  <a:pt x="140967" y="318157"/>
                </a:moveTo>
                <a:cubicBezTo>
                  <a:pt x="140967" y="318157"/>
                  <a:pt x="139949" y="317520"/>
                  <a:pt x="139440" y="317647"/>
                </a:cubicBezTo>
                <a:cubicBezTo>
                  <a:pt x="135237" y="318285"/>
                  <a:pt x="134982" y="319559"/>
                  <a:pt x="138039" y="324912"/>
                </a:cubicBezTo>
                <a:cubicBezTo>
                  <a:pt x="142113" y="324147"/>
                  <a:pt x="136892" y="319303"/>
                  <a:pt x="140967" y="318157"/>
                </a:cubicBezTo>
                <a:moveTo>
                  <a:pt x="133581" y="267686"/>
                </a:moveTo>
                <a:cubicBezTo>
                  <a:pt x="129379" y="268705"/>
                  <a:pt x="127342" y="264499"/>
                  <a:pt x="124158" y="262970"/>
                </a:cubicBezTo>
                <a:cubicBezTo>
                  <a:pt x="123521" y="265137"/>
                  <a:pt x="123776" y="266412"/>
                  <a:pt x="125177" y="267176"/>
                </a:cubicBezTo>
                <a:cubicBezTo>
                  <a:pt x="127342" y="268323"/>
                  <a:pt x="124413" y="270745"/>
                  <a:pt x="125941" y="271382"/>
                </a:cubicBezTo>
                <a:cubicBezTo>
                  <a:pt x="127086" y="271765"/>
                  <a:pt x="128742" y="270363"/>
                  <a:pt x="130270" y="270107"/>
                </a:cubicBezTo>
                <a:cubicBezTo>
                  <a:pt x="132690" y="269598"/>
                  <a:pt x="132180" y="270999"/>
                  <a:pt x="131671" y="272401"/>
                </a:cubicBezTo>
                <a:cubicBezTo>
                  <a:pt x="131417" y="273039"/>
                  <a:pt x="130907" y="273676"/>
                  <a:pt x="130526" y="274314"/>
                </a:cubicBezTo>
                <a:cubicBezTo>
                  <a:pt x="132690" y="273803"/>
                  <a:pt x="134600" y="274569"/>
                  <a:pt x="136510" y="275460"/>
                </a:cubicBezTo>
                <a:cubicBezTo>
                  <a:pt x="136765" y="275460"/>
                  <a:pt x="137528" y="274951"/>
                  <a:pt x="137784" y="274568"/>
                </a:cubicBezTo>
                <a:cubicBezTo>
                  <a:pt x="138039" y="274185"/>
                  <a:pt x="138039" y="273549"/>
                  <a:pt x="137784" y="273167"/>
                </a:cubicBezTo>
                <a:cubicBezTo>
                  <a:pt x="136638" y="271254"/>
                  <a:pt x="132818" y="271254"/>
                  <a:pt x="133581" y="267814"/>
                </a:cubicBezTo>
                <a:lnTo>
                  <a:pt x="133581" y="267686"/>
                </a:lnTo>
                <a:moveTo>
                  <a:pt x="125813" y="255961"/>
                </a:moveTo>
                <a:cubicBezTo>
                  <a:pt x="124031" y="252519"/>
                  <a:pt x="126323" y="249842"/>
                  <a:pt x="126705" y="246784"/>
                </a:cubicBezTo>
                <a:cubicBezTo>
                  <a:pt x="126705" y="246019"/>
                  <a:pt x="126068" y="245382"/>
                  <a:pt x="125177" y="245255"/>
                </a:cubicBezTo>
                <a:cubicBezTo>
                  <a:pt x="122885" y="251499"/>
                  <a:pt x="123012" y="251626"/>
                  <a:pt x="125813" y="255961"/>
                </a:cubicBezTo>
                <a:moveTo>
                  <a:pt x="115626" y="213263"/>
                </a:moveTo>
                <a:cubicBezTo>
                  <a:pt x="114862" y="213901"/>
                  <a:pt x="116008" y="214793"/>
                  <a:pt x="116645" y="215048"/>
                </a:cubicBezTo>
                <a:cubicBezTo>
                  <a:pt x="119064" y="216068"/>
                  <a:pt x="121484" y="216577"/>
                  <a:pt x="123649" y="214666"/>
                </a:cubicBezTo>
                <a:cubicBezTo>
                  <a:pt x="125686" y="212881"/>
                  <a:pt x="124158" y="211097"/>
                  <a:pt x="123394" y="209313"/>
                </a:cubicBezTo>
                <a:cubicBezTo>
                  <a:pt x="123012" y="208548"/>
                  <a:pt x="122503" y="207910"/>
                  <a:pt x="122248" y="207146"/>
                </a:cubicBezTo>
                <a:cubicBezTo>
                  <a:pt x="122248" y="206764"/>
                  <a:pt x="122630" y="206253"/>
                  <a:pt x="122885" y="205871"/>
                </a:cubicBezTo>
                <a:cubicBezTo>
                  <a:pt x="123903" y="206253"/>
                  <a:pt x="124922" y="206637"/>
                  <a:pt x="126195" y="207146"/>
                </a:cubicBezTo>
                <a:cubicBezTo>
                  <a:pt x="127469" y="204470"/>
                  <a:pt x="126450" y="201538"/>
                  <a:pt x="126577" y="198862"/>
                </a:cubicBezTo>
                <a:cubicBezTo>
                  <a:pt x="126577" y="198097"/>
                  <a:pt x="125941" y="197460"/>
                  <a:pt x="124922" y="197842"/>
                </a:cubicBezTo>
                <a:cubicBezTo>
                  <a:pt x="124158" y="198097"/>
                  <a:pt x="124285" y="198479"/>
                  <a:pt x="124667" y="199117"/>
                </a:cubicBezTo>
                <a:cubicBezTo>
                  <a:pt x="125559" y="200518"/>
                  <a:pt x="125177" y="202048"/>
                  <a:pt x="123521" y="202430"/>
                </a:cubicBezTo>
                <a:cubicBezTo>
                  <a:pt x="121229" y="202940"/>
                  <a:pt x="118937" y="204215"/>
                  <a:pt x="116518" y="202557"/>
                </a:cubicBezTo>
                <a:cubicBezTo>
                  <a:pt x="115244" y="205999"/>
                  <a:pt x="119574" y="209950"/>
                  <a:pt x="115626" y="213263"/>
                </a:cubicBezTo>
                <a:moveTo>
                  <a:pt x="120592" y="231107"/>
                </a:moveTo>
                <a:cubicBezTo>
                  <a:pt x="123267" y="230215"/>
                  <a:pt x="124031" y="226774"/>
                  <a:pt x="126832" y="226263"/>
                </a:cubicBezTo>
                <a:cubicBezTo>
                  <a:pt x="126832" y="225499"/>
                  <a:pt x="127215" y="224479"/>
                  <a:pt x="126832" y="223843"/>
                </a:cubicBezTo>
                <a:cubicBezTo>
                  <a:pt x="125813" y="221803"/>
                  <a:pt x="130270" y="219254"/>
                  <a:pt x="126832" y="218234"/>
                </a:cubicBezTo>
                <a:cubicBezTo>
                  <a:pt x="125049" y="217725"/>
                  <a:pt x="123649" y="221421"/>
                  <a:pt x="123776" y="223332"/>
                </a:cubicBezTo>
                <a:cubicBezTo>
                  <a:pt x="123776" y="226518"/>
                  <a:pt x="119319" y="227156"/>
                  <a:pt x="120592" y="231107"/>
                </a:cubicBezTo>
                <a:moveTo>
                  <a:pt x="126959" y="226391"/>
                </a:moveTo>
                <a:cubicBezTo>
                  <a:pt x="127978" y="228176"/>
                  <a:pt x="129125" y="229832"/>
                  <a:pt x="131671" y="231107"/>
                </a:cubicBezTo>
                <a:cubicBezTo>
                  <a:pt x="131289" y="228685"/>
                  <a:pt x="130907" y="226774"/>
                  <a:pt x="130526" y="224734"/>
                </a:cubicBezTo>
                <a:cubicBezTo>
                  <a:pt x="129125" y="225372"/>
                  <a:pt x="127978" y="225881"/>
                  <a:pt x="126959" y="226391"/>
                </a:cubicBezTo>
                <a:moveTo>
                  <a:pt x="104038" y="245764"/>
                </a:moveTo>
                <a:cubicBezTo>
                  <a:pt x="104166" y="243980"/>
                  <a:pt x="106967" y="242705"/>
                  <a:pt x="105184" y="240538"/>
                </a:cubicBezTo>
                <a:cubicBezTo>
                  <a:pt x="100855" y="240284"/>
                  <a:pt x="102637" y="247166"/>
                  <a:pt x="98180" y="246657"/>
                </a:cubicBezTo>
                <a:cubicBezTo>
                  <a:pt x="98562" y="247931"/>
                  <a:pt x="99327" y="249460"/>
                  <a:pt x="99072" y="250608"/>
                </a:cubicBezTo>
                <a:cubicBezTo>
                  <a:pt x="98181" y="254431"/>
                  <a:pt x="98817" y="255450"/>
                  <a:pt x="102637" y="253411"/>
                </a:cubicBezTo>
                <a:cubicBezTo>
                  <a:pt x="103019" y="253284"/>
                  <a:pt x="102383" y="256470"/>
                  <a:pt x="104420" y="257108"/>
                </a:cubicBezTo>
                <a:cubicBezTo>
                  <a:pt x="103529" y="254686"/>
                  <a:pt x="106712" y="251755"/>
                  <a:pt x="104929" y="250608"/>
                </a:cubicBezTo>
                <a:cubicBezTo>
                  <a:pt x="102128" y="248823"/>
                  <a:pt x="104038" y="247548"/>
                  <a:pt x="104165" y="245764"/>
                </a:cubicBezTo>
                <a:lnTo>
                  <a:pt x="104038" y="245764"/>
                </a:lnTo>
                <a:moveTo>
                  <a:pt x="94233" y="242322"/>
                </a:moveTo>
                <a:cubicBezTo>
                  <a:pt x="98690" y="241813"/>
                  <a:pt x="100600" y="240029"/>
                  <a:pt x="102128" y="235951"/>
                </a:cubicBezTo>
                <a:cubicBezTo>
                  <a:pt x="98732" y="237819"/>
                  <a:pt x="95124" y="238286"/>
                  <a:pt x="91304" y="237352"/>
                </a:cubicBezTo>
                <a:cubicBezTo>
                  <a:pt x="91177" y="241431"/>
                  <a:pt x="91686" y="245637"/>
                  <a:pt x="88885" y="250226"/>
                </a:cubicBezTo>
                <a:cubicBezTo>
                  <a:pt x="91941" y="248610"/>
                  <a:pt x="93299" y="246699"/>
                  <a:pt x="92959" y="244489"/>
                </a:cubicBezTo>
                <a:cubicBezTo>
                  <a:pt x="92832" y="243470"/>
                  <a:pt x="92195" y="242578"/>
                  <a:pt x="94233" y="242451"/>
                </a:cubicBezTo>
                <a:lnTo>
                  <a:pt x="94233" y="242322"/>
                </a:lnTo>
                <a:moveTo>
                  <a:pt x="78952" y="252137"/>
                </a:moveTo>
                <a:cubicBezTo>
                  <a:pt x="81371" y="251117"/>
                  <a:pt x="81371" y="248568"/>
                  <a:pt x="82008" y="246529"/>
                </a:cubicBezTo>
                <a:cubicBezTo>
                  <a:pt x="82517" y="245127"/>
                  <a:pt x="82899" y="243342"/>
                  <a:pt x="84173" y="243087"/>
                </a:cubicBezTo>
                <a:cubicBezTo>
                  <a:pt x="89012" y="242195"/>
                  <a:pt x="88375" y="238244"/>
                  <a:pt x="89012" y="235058"/>
                </a:cubicBezTo>
                <a:cubicBezTo>
                  <a:pt x="86465" y="235313"/>
                  <a:pt x="85446" y="234038"/>
                  <a:pt x="85701" y="231616"/>
                </a:cubicBezTo>
                <a:cubicBezTo>
                  <a:pt x="84555" y="231745"/>
                  <a:pt x="83282" y="233274"/>
                  <a:pt x="82135" y="231872"/>
                </a:cubicBezTo>
                <a:cubicBezTo>
                  <a:pt x="79334" y="228558"/>
                  <a:pt x="77042" y="230215"/>
                  <a:pt x="74495" y="232636"/>
                </a:cubicBezTo>
                <a:cubicBezTo>
                  <a:pt x="75514" y="232891"/>
                  <a:pt x="76405" y="233018"/>
                  <a:pt x="77042" y="233401"/>
                </a:cubicBezTo>
                <a:cubicBezTo>
                  <a:pt x="78952" y="234293"/>
                  <a:pt x="80225" y="236205"/>
                  <a:pt x="80098" y="237862"/>
                </a:cubicBezTo>
                <a:cubicBezTo>
                  <a:pt x="80098" y="239391"/>
                  <a:pt x="78060" y="240284"/>
                  <a:pt x="76150" y="240411"/>
                </a:cubicBezTo>
                <a:cubicBezTo>
                  <a:pt x="73349" y="240411"/>
                  <a:pt x="71948" y="242322"/>
                  <a:pt x="70675" y="244871"/>
                </a:cubicBezTo>
                <a:cubicBezTo>
                  <a:pt x="77042" y="244489"/>
                  <a:pt x="77551" y="244871"/>
                  <a:pt x="78697" y="249715"/>
                </a:cubicBezTo>
                <a:cubicBezTo>
                  <a:pt x="78824" y="250480"/>
                  <a:pt x="78697" y="251372"/>
                  <a:pt x="78824" y="252264"/>
                </a:cubicBezTo>
                <a:cubicBezTo>
                  <a:pt x="77169" y="252264"/>
                  <a:pt x="75259" y="256725"/>
                  <a:pt x="73986" y="251882"/>
                </a:cubicBezTo>
                <a:cubicBezTo>
                  <a:pt x="73731" y="250990"/>
                  <a:pt x="75641" y="249206"/>
                  <a:pt x="72839" y="249206"/>
                </a:cubicBezTo>
                <a:cubicBezTo>
                  <a:pt x="72075" y="251626"/>
                  <a:pt x="71311" y="253921"/>
                  <a:pt x="70675" y="256343"/>
                </a:cubicBezTo>
                <a:cubicBezTo>
                  <a:pt x="70547" y="256852"/>
                  <a:pt x="70929" y="257490"/>
                  <a:pt x="71057" y="257999"/>
                </a:cubicBezTo>
                <a:cubicBezTo>
                  <a:pt x="71566" y="257362"/>
                  <a:pt x="72075" y="256088"/>
                  <a:pt x="72457" y="256088"/>
                </a:cubicBezTo>
                <a:cubicBezTo>
                  <a:pt x="76278" y="256215"/>
                  <a:pt x="80098" y="257235"/>
                  <a:pt x="85191" y="256470"/>
                </a:cubicBezTo>
                <a:cubicBezTo>
                  <a:pt x="82008" y="261568"/>
                  <a:pt x="74113" y="261695"/>
                  <a:pt x="76150" y="268450"/>
                </a:cubicBezTo>
                <a:cubicBezTo>
                  <a:pt x="79334" y="266156"/>
                  <a:pt x="82263" y="263735"/>
                  <a:pt x="85446" y="261568"/>
                </a:cubicBezTo>
                <a:cubicBezTo>
                  <a:pt x="86720" y="260676"/>
                  <a:pt x="87484" y="259657"/>
                  <a:pt x="86974" y="258128"/>
                </a:cubicBezTo>
                <a:cubicBezTo>
                  <a:pt x="85956" y="255323"/>
                  <a:pt x="85828" y="251117"/>
                  <a:pt x="80735" y="253793"/>
                </a:cubicBezTo>
                <a:cubicBezTo>
                  <a:pt x="80480" y="253921"/>
                  <a:pt x="79589" y="252774"/>
                  <a:pt x="78952" y="252264"/>
                </a:cubicBezTo>
                <a:lnTo>
                  <a:pt x="78952" y="252137"/>
                </a:lnTo>
                <a:moveTo>
                  <a:pt x="80735" y="211352"/>
                </a:moveTo>
                <a:cubicBezTo>
                  <a:pt x="80735" y="211352"/>
                  <a:pt x="80480" y="213263"/>
                  <a:pt x="79843" y="213646"/>
                </a:cubicBezTo>
                <a:cubicBezTo>
                  <a:pt x="77551" y="215303"/>
                  <a:pt x="84555" y="216705"/>
                  <a:pt x="79843" y="218234"/>
                </a:cubicBezTo>
                <a:cubicBezTo>
                  <a:pt x="80098" y="218744"/>
                  <a:pt x="79843" y="218744"/>
                  <a:pt x="79588" y="218744"/>
                </a:cubicBezTo>
                <a:cubicBezTo>
                  <a:pt x="79588" y="218744"/>
                  <a:pt x="79716" y="218744"/>
                  <a:pt x="79843" y="218872"/>
                </a:cubicBezTo>
                <a:cubicBezTo>
                  <a:pt x="81626" y="220019"/>
                  <a:pt x="83027" y="218617"/>
                  <a:pt x="84555" y="218361"/>
                </a:cubicBezTo>
                <a:cubicBezTo>
                  <a:pt x="87993" y="217725"/>
                  <a:pt x="87356" y="214539"/>
                  <a:pt x="88757" y="212881"/>
                </a:cubicBezTo>
                <a:cubicBezTo>
                  <a:pt x="90412" y="210842"/>
                  <a:pt x="91176" y="209441"/>
                  <a:pt x="88757" y="208421"/>
                </a:cubicBezTo>
                <a:cubicBezTo>
                  <a:pt x="84682" y="206891"/>
                  <a:pt x="84555" y="203450"/>
                  <a:pt x="86083" y="201028"/>
                </a:cubicBezTo>
                <a:cubicBezTo>
                  <a:pt x="87738" y="198097"/>
                  <a:pt x="83791" y="194911"/>
                  <a:pt x="87229" y="192489"/>
                </a:cubicBezTo>
                <a:cubicBezTo>
                  <a:pt x="88630" y="191469"/>
                  <a:pt x="89521" y="185224"/>
                  <a:pt x="88885" y="183312"/>
                </a:cubicBezTo>
                <a:cubicBezTo>
                  <a:pt x="85828" y="182803"/>
                  <a:pt x="84300" y="185224"/>
                  <a:pt x="82517" y="186754"/>
                </a:cubicBezTo>
                <a:cubicBezTo>
                  <a:pt x="80225" y="188793"/>
                  <a:pt x="79461" y="190577"/>
                  <a:pt x="80862" y="194655"/>
                </a:cubicBezTo>
                <a:cubicBezTo>
                  <a:pt x="82645" y="199499"/>
                  <a:pt x="85064" y="205871"/>
                  <a:pt x="80480" y="211224"/>
                </a:cubicBezTo>
                <a:lnTo>
                  <a:pt x="80735" y="211352"/>
                </a:lnTo>
                <a:moveTo>
                  <a:pt x="64689" y="117419"/>
                </a:moveTo>
                <a:cubicBezTo>
                  <a:pt x="64095" y="122178"/>
                  <a:pt x="65836" y="124981"/>
                  <a:pt x="69911" y="125831"/>
                </a:cubicBezTo>
                <a:cubicBezTo>
                  <a:pt x="65836" y="123537"/>
                  <a:pt x="64180" y="120988"/>
                  <a:pt x="64689" y="117419"/>
                </a:cubicBezTo>
                <a:moveTo>
                  <a:pt x="67873" y="112449"/>
                </a:moveTo>
                <a:cubicBezTo>
                  <a:pt x="66345" y="114488"/>
                  <a:pt x="66345" y="117292"/>
                  <a:pt x="69529" y="119331"/>
                </a:cubicBezTo>
                <a:cubicBezTo>
                  <a:pt x="70547" y="116910"/>
                  <a:pt x="70929" y="113978"/>
                  <a:pt x="72585" y="112449"/>
                </a:cubicBezTo>
                <a:cubicBezTo>
                  <a:pt x="75386" y="109772"/>
                  <a:pt x="70675" y="107478"/>
                  <a:pt x="72585" y="105694"/>
                </a:cubicBezTo>
                <a:cubicBezTo>
                  <a:pt x="76150" y="102635"/>
                  <a:pt x="72967" y="102890"/>
                  <a:pt x="70547" y="102253"/>
                </a:cubicBezTo>
                <a:cubicBezTo>
                  <a:pt x="70929" y="106076"/>
                  <a:pt x="70038" y="109517"/>
                  <a:pt x="67873" y="112576"/>
                </a:cubicBezTo>
                <a:lnTo>
                  <a:pt x="67873" y="112449"/>
                </a:lnTo>
                <a:moveTo>
                  <a:pt x="66090" y="133988"/>
                </a:moveTo>
                <a:cubicBezTo>
                  <a:pt x="66600" y="135518"/>
                  <a:pt x="67364" y="137047"/>
                  <a:pt x="68255" y="138322"/>
                </a:cubicBezTo>
                <a:cubicBezTo>
                  <a:pt x="68510" y="138704"/>
                  <a:pt x="69783" y="138704"/>
                  <a:pt x="70547" y="138576"/>
                </a:cubicBezTo>
                <a:cubicBezTo>
                  <a:pt x="70929" y="138576"/>
                  <a:pt x="71184" y="137812"/>
                  <a:pt x="71693" y="137302"/>
                </a:cubicBezTo>
                <a:cubicBezTo>
                  <a:pt x="70675" y="135773"/>
                  <a:pt x="69783" y="134116"/>
                  <a:pt x="68765" y="132587"/>
                </a:cubicBezTo>
                <a:cubicBezTo>
                  <a:pt x="68000" y="131439"/>
                  <a:pt x="68765" y="128507"/>
                  <a:pt x="66218" y="129654"/>
                </a:cubicBezTo>
                <a:cubicBezTo>
                  <a:pt x="64435" y="130420"/>
                  <a:pt x="65581" y="132587"/>
                  <a:pt x="66218" y="134116"/>
                </a:cubicBezTo>
                <a:lnTo>
                  <a:pt x="66090" y="133988"/>
                </a:lnTo>
                <a:moveTo>
                  <a:pt x="67109" y="152597"/>
                </a:moveTo>
                <a:cubicBezTo>
                  <a:pt x="68382" y="152597"/>
                  <a:pt x="69656" y="152342"/>
                  <a:pt x="70929" y="151704"/>
                </a:cubicBezTo>
                <a:cubicBezTo>
                  <a:pt x="73476" y="150175"/>
                  <a:pt x="74240" y="151449"/>
                  <a:pt x="75896" y="153744"/>
                </a:cubicBezTo>
                <a:cubicBezTo>
                  <a:pt x="79206" y="158459"/>
                  <a:pt x="79589" y="164450"/>
                  <a:pt x="83536" y="169292"/>
                </a:cubicBezTo>
                <a:cubicBezTo>
                  <a:pt x="83791" y="167636"/>
                  <a:pt x="84046" y="166616"/>
                  <a:pt x="84300" y="165468"/>
                </a:cubicBezTo>
                <a:cubicBezTo>
                  <a:pt x="84300" y="164959"/>
                  <a:pt x="84555" y="164321"/>
                  <a:pt x="84809" y="163939"/>
                </a:cubicBezTo>
                <a:cubicBezTo>
                  <a:pt x="87102" y="159479"/>
                  <a:pt x="87102" y="157822"/>
                  <a:pt x="82899" y="157312"/>
                </a:cubicBezTo>
                <a:cubicBezTo>
                  <a:pt x="80098" y="156930"/>
                  <a:pt x="80607" y="156037"/>
                  <a:pt x="80607" y="154508"/>
                </a:cubicBezTo>
                <a:cubicBezTo>
                  <a:pt x="80607" y="153361"/>
                  <a:pt x="80607" y="152342"/>
                  <a:pt x="80607" y="151195"/>
                </a:cubicBezTo>
                <a:cubicBezTo>
                  <a:pt x="79588" y="150940"/>
                  <a:pt x="77551" y="150940"/>
                  <a:pt x="77933" y="150302"/>
                </a:cubicBezTo>
                <a:cubicBezTo>
                  <a:pt x="80098" y="146860"/>
                  <a:pt x="77933" y="142911"/>
                  <a:pt x="80480" y="138704"/>
                </a:cubicBezTo>
                <a:cubicBezTo>
                  <a:pt x="78060" y="140360"/>
                  <a:pt x="75896" y="140106"/>
                  <a:pt x="76405" y="143293"/>
                </a:cubicBezTo>
                <a:cubicBezTo>
                  <a:pt x="77042" y="147244"/>
                  <a:pt x="76405" y="147244"/>
                  <a:pt x="71693" y="148518"/>
                </a:cubicBezTo>
                <a:cubicBezTo>
                  <a:pt x="69529" y="149028"/>
                  <a:pt x="68255" y="150813"/>
                  <a:pt x="67109" y="152724"/>
                </a:cubicBezTo>
                <a:lnTo>
                  <a:pt x="67109" y="152597"/>
                </a:lnTo>
                <a:moveTo>
                  <a:pt x="87484" y="104164"/>
                </a:moveTo>
                <a:cubicBezTo>
                  <a:pt x="86847" y="105056"/>
                  <a:pt x="86465" y="106076"/>
                  <a:pt x="86083" y="107096"/>
                </a:cubicBezTo>
                <a:cubicBezTo>
                  <a:pt x="86083" y="107478"/>
                  <a:pt x="86592" y="108115"/>
                  <a:pt x="86974" y="108498"/>
                </a:cubicBezTo>
                <a:cubicBezTo>
                  <a:pt x="87484" y="109008"/>
                  <a:pt x="87993" y="109645"/>
                  <a:pt x="88757" y="108498"/>
                </a:cubicBezTo>
                <a:cubicBezTo>
                  <a:pt x="90030" y="106713"/>
                  <a:pt x="91431" y="104929"/>
                  <a:pt x="92832" y="103272"/>
                </a:cubicBezTo>
                <a:cubicBezTo>
                  <a:pt x="93469" y="102508"/>
                  <a:pt x="93596" y="101870"/>
                  <a:pt x="92577" y="101488"/>
                </a:cubicBezTo>
                <a:cubicBezTo>
                  <a:pt x="89139" y="100341"/>
                  <a:pt x="93596" y="97919"/>
                  <a:pt x="91559" y="96007"/>
                </a:cubicBezTo>
                <a:cubicBezTo>
                  <a:pt x="89012" y="93586"/>
                  <a:pt x="92832" y="91674"/>
                  <a:pt x="93214" y="89380"/>
                </a:cubicBezTo>
                <a:cubicBezTo>
                  <a:pt x="93723" y="86831"/>
                  <a:pt x="91813" y="87850"/>
                  <a:pt x="90795" y="87723"/>
                </a:cubicBezTo>
                <a:cubicBezTo>
                  <a:pt x="89648" y="91929"/>
                  <a:pt x="87102" y="95880"/>
                  <a:pt x="89139" y="100596"/>
                </a:cubicBezTo>
                <a:cubicBezTo>
                  <a:pt x="89648" y="101870"/>
                  <a:pt x="88120" y="103017"/>
                  <a:pt x="87356" y="104164"/>
                </a:cubicBezTo>
                <a:lnTo>
                  <a:pt x="87484" y="104164"/>
                </a:lnTo>
                <a:moveTo>
                  <a:pt x="85828" y="114998"/>
                </a:moveTo>
                <a:cubicBezTo>
                  <a:pt x="86210" y="118567"/>
                  <a:pt x="85319" y="121498"/>
                  <a:pt x="80607" y="122772"/>
                </a:cubicBezTo>
                <a:cubicBezTo>
                  <a:pt x="86210" y="124047"/>
                  <a:pt x="89394" y="128380"/>
                  <a:pt x="94105" y="129145"/>
                </a:cubicBezTo>
                <a:cubicBezTo>
                  <a:pt x="94869" y="125449"/>
                  <a:pt x="91686" y="123537"/>
                  <a:pt x="90158" y="120988"/>
                </a:cubicBezTo>
                <a:cubicBezTo>
                  <a:pt x="88630" y="118439"/>
                  <a:pt x="88885" y="116910"/>
                  <a:pt x="91049" y="115125"/>
                </a:cubicBezTo>
                <a:cubicBezTo>
                  <a:pt x="91813" y="114488"/>
                  <a:pt x="93087" y="113723"/>
                  <a:pt x="91559" y="112321"/>
                </a:cubicBezTo>
                <a:cubicBezTo>
                  <a:pt x="89648" y="113086"/>
                  <a:pt x="87738" y="113978"/>
                  <a:pt x="85828" y="114870"/>
                </a:cubicBezTo>
                <a:lnTo>
                  <a:pt x="85828" y="114998"/>
                </a:lnTo>
                <a:moveTo>
                  <a:pt x="94360" y="169675"/>
                </a:moveTo>
                <a:cubicBezTo>
                  <a:pt x="94233" y="168401"/>
                  <a:pt x="93978" y="167126"/>
                  <a:pt x="95252" y="166106"/>
                </a:cubicBezTo>
                <a:cubicBezTo>
                  <a:pt x="96780" y="164832"/>
                  <a:pt x="97798" y="163302"/>
                  <a:pt x="97798" y="161263"/>
                </a:cubicBezTo>
                <a:cubicBezTo>
                  <a:pt x="95082" y="162452"/>
                  <a:pt x="93639" y="161517"/>
                  <a:pt x="93469" y="158459"/>
                </a:cubicBezTo>
                <a:cubicBezTo>
                  <a:pt x="91431" y="159861"/>
                  <a:pt x="90540" y="161773"/>
                  <a:pt x="91686" y="164067"/>
                </a:cubicBezTo>
                <a:cubicBezTo>
                  <a:pt x="92577" y="165979"/>
                  <a:pt x="90667" y="169165"/>
                  <a:pt x="94233" y="169930"/>
                </a:cubicBezTo>
                <a:cubicBezTo>
                  <a:pt x="94360" y="170950"/>
                  <a:pt x="94742" y="172734"/>
                  <a:pt x="95252" y="172606"/>
                </a:cubicBezTo>
                <a:cubicBezTo>
                  <a:pt x="99581" y="170821"/>
                  <a:pt x="98817" y="174518"/>
                  <a:pt x="99581" y="176430"/>
                </a:cubicBezTo>
                <a:cubicBezTo>
                  <a:pt x="102637" y="174008"/>
                  <a:pt x="101237" y="171205"/>
                  <a:pt x="100090" y="168655"/>
                </a:cubicBezTo>
                <a:cubicBezTo>
                  <a:pt x="99454" y="167126"/>
                  <a:pt x="98180" y="167254"/>
                  <a:pt x="97034" y="168528"/>
                </a:cubicBezTo>
                <a:cubicBezTo>
                  <a:pt x="96398" y="169165"/>
                  <a:pt x="95252" y="169421"/>
                  <a:pt x="94360" y="169930"/>
                </a:cubicBezTo>
                <a:lnTo>
                  <a:pt x="94360" y="169675"/>
                </a:lnTo>
                <a:moveTo>
                  <a:pt x="94487" y="215685"/>
                </a:moveTo>
                <a:cubicBezTo>
                  <a:pt x="93341" y="215175"/>
                  <a:pt x="91559" y="213774"/>
                  <a:pt x="91431" y="215941"/>
                </a:cubicBezTo>
                <a:cubicBezTo>
                  <a:pt x="91177" y="218999"/>
                  <a:pt x="89012" y="219254"/>
                  <a:pt x="87102" y="220146"/>
                </a:cubicBezTo>
                <a:cubicBezTo>
                  <a:pt x="85319" y="221038"/>
                  <a:pt x="85701" y="222823"/>
                  <a:pt x="85828" y="224352"/>
                </a:cubicBezTo>
                <a:cubicBezTo>
                  <a:pt x="90413" y="221165"/>
                  <a:pt x="95506" y="218617"/>
                  <a:pt x="101109" y="216832"/>
                </a:cubicBezTo>
                <a:cubicBezTo>
                  <a:pt x="99581" y="215175"/>
                  <a:pt x="99963" y="213008"/>
                  <a:pt x="97798" y="212626"/>
                </a:cubicBezTo>
                <a:cubicBezTo>
                  <a:pt x="97544" y="214539"/>
                  <a:pt x="97544" y="216705"/>
                  <a:pt x="94487" y="215558"/>
                </a:cubicBezTo>
                <a:lnTo>
                  <a:pt x="94487" y="215685"/>
                </a:lnTo>
                <a:moveTo>
                  <a:pt x="95634" y="224862"/>
                </a:moveTo>
                <a:cubicBezTo>
                  <a:pt x="91686" y="226901"/>
                  <a:pt x="91559" y="231489"/>
                  <a:pt x="89394" y="234803"/>
                </a:cubicBezTo>
                <a:cubicBezTo>
                  <a:pt x="91686" y="234803"/>
                  <a:pt x="92323" y="231616"/>
                  <a:pt x="93469" y="231872"/>
                </a:cubicBezTo>
                <a:cubicBezTo>
                  <a:pt x="97544" y="232891"/>
                  <a:pt x="98562" y="232127"/>
                  <a:pt x="96270" y="228431"/>
                </a:cubicBezTo>
                <a:cubicBezTo>
                  <a:pt x="95634" y="227411"/>
                  <a:pt x="98053" y="226009"/>
                  <a:pt x="95634" y="224989"/>
                </a:cubicBezTo>
                <a:lnTo>
                  <a:pt x="95634" y="224862"/>
                </a:lnTo>
                <a:moveTo>
                  <a:pt x="87611" y="229705"/>
                </a:moveTo>
                <a:cubicBezTo>
                  <a:pt x="86847" y="228176"/>
                  <a:pt x="85701" y="226647"/>
                  <a:pt x="85701" y="224862"/>
                </a:cubicBezTo>
                <a:cubicBezTo>
                  <a:pt x="83027" y="225754"/>
                  <a:pt x="82517" y="227283"/>
                  <a:pt x="84555" y="229450"/>
                </a:cubicBezTo>
                <a:cubicBezTo>
                  <a:pt x="85064" y="229960"/>
                  <a:pt x="85446" y="230725"/>
                  <a:pt x="85828" y="231489"/>
                </a:cubicBezTo>
                <a:cubicBezTo>
                  <a:pt x="86720" y="231234"/>
                  <a:pt x="88884" y="232000"/>
                  <a:pt x="87611" y="229705"/>
                </a:cubicBezTo>
                <a:moveTo>
                  <a:pt x="91431" y="171714"/>
                </a:moveTo>
                <a:cubicBezTo>
                  <a:pt x="90413" y="170312"/>
                  <a:pt x="88884" y="169292"/>
                  <a:pt x="87356" y="171459"/>
                </a:cubicBezTo>
                <a:cubicBezTo>
                  <a:pt x="86338" y="172861"/>
                  <a:pt x="85064" y="174263"/>
                  <a:pt x="85319" y="175792"/>
                </a:cubicBezTo>
                <a:cubicBezTo>
                  <a:pt x="87993" y="177067"/>
                  <a:pt x="86847" y="172352"/>
                  <a:pt x="89267" y="174263"/>
                </a:cubicBezTo>
                <a:cubicBezTo>
                  <a:pt x="91049" y="175538"/>
                  <a:pt x="92068" y="177194"/>
                  <a:pt x="89267" y="178725"/>
                </a:cubicBezTo>
                <a:cubicBezTo>
                  <a:pt x="86338" y="180254"/>
                  <a:pt x="89012" y="181910"/>
                  <a:pt x="89267" y="183440"/>
                </a:cubicBezTo>
                <a:cubicBezTo>
                  <a:pt x="92705" y="179871"/>
                  <a:pt x="93723" y="174901"/>
                  <a:pt x="91431" y="171841"/>
                </a:cubicBezTo>
                <a:lnTo>
                  <a:pt x="91431" y="171714"/>
                </a:lnTo>
                <a:moveTo>
                  <a:pt x="86720" y="142909"/>
                </a:moveTo>
                <a:cubicBezTo>
                  <a:pt x="85701" y="145459"/>
                  <a:pt x="83791" y="146862"/>
                  <a:pt x="81626" y="148008"/>
                </a:cubicBezTo>
                <a:cubicBezTo>
                  <a:pt x="80480" y="148646"/>
                  <a:pt x="80480" y="149664"/>
                  <a:pt x="80607" y="150813"/>
                </a:cubicBezTo>
                <a:cubicBezTo>
                  <a:pt x="88248" y="147880"/>
                  <a:pt x="88375" y="147626"/>
                  <a:pt x="86592" y="142909"/>
                </a:cubicBezTo>
                <a:lnTo>
                  <a:pt x="86720" y="142909"/>
                </a:lnTo>
                <a:moveTo>
                  <a:pt x="85701" y="114870"/>
                </a:moveTo>
                <a:cubicBezTo>
                  <a:pt x="84428" y="111684"/>
                  <a:pt x="83027" y="108370"/>
                  <a:pt x="81626" y="105057"/>
                </a:cubicBezTo>
                <a:cubicBezTo>
                  <a:pt x="78952" y="107096"/>
                  <a:pt x="76660" y="108880"/>
                  <a:pt x="80098" y="111684"/>
                </a:cubicBezTo>
                <a:cubicBezTo>
                  <a:pt x="80480" y="112066"/>
                  <a:pt x="80735" y="112704"/>
                  <a:pt x="80735" y="113214"/>
                </a:cubicBezTo>
                <a:cubicBezTo>
                  <a:pt x="80989" y="118439"/>
                  <a:pt x="83791" y="114998"/>
                  <a:pt x="85701" y="114743"/>
                </a:cubicBezTo>
                <a:lnTo>
                  <a:pt x="85701" y="114870"/>
                </a:lnTo>
                <a:moveTo>
                  <a:pt x="103274" y="211097"/>
                </a:moveTo>
                <a:cubicBezTo>
                  <a:pt x="103274" y="211097"/>
                  <a:pt x="104293" y="209695"/>
                  <a:pt x="103529" y="209057"/>
                </a:cubicBezTo>
                <a:cubicBezTo>
                  <a:pt x="101746" y="207401"/>
                  <a:pt x="100727" y="205617"/>
                  <a:pt x="102383" y="203195"/>
                </a:cubicBezTo>
                <a:cubicBezTo>
                  <a:pt x="103019" y="202175"/>
                  <a:pt x="102383" y="201155"/>
                  <a:pt x="101491" y="200391"/>
                </a:cubicBezTo>
                <a:cubicBezTo>
                  <a:pt x="100090" y="199244"/>
                  <a:pt x="99836" y="200646"/>
                  <a:pt x="99072" y="201411"/>
                </a:cubicBezTo>
                <a:cubicBezTo>
                  <a:pt x="94233" y="205999"/>
                  <a:pt x="94233" y="205999"/>
                  <a:pt x="97671" y="212626"/>
                </a:cubicBezTo>
                <a:cubicBezTo>
                  <a:pt x="98053" y="210842"/>
                  <a:pt x="97926" y="208421"/>
                  <a:pt x="100855" y="210588"/>
                </a:cubicBezTo>
                <a:cubicBezTo>
                  <a:pt x="101746" y="211224"/>
                  <a:pt x="102001" y="212499"/>
                  <a:pt x="103274" y="211224"/>
                </a:cubicBezTo>
                <a:lnTo>
                  <a:pt x="103274" y="211097"/>
                </a:lnTo>
                <a:moveTo>
                  <a:pt x="105439" y="199244"/>
                </a:moveTo>
                <a:cubicBezTo>
                  <a:pt x="107094" y="196058"/>
                  <a:pt x="103783" y="193509"/>
                  <a:pt x="102383" y="190704"/>
                </a:cubicBezTo>
                <a:cubicBezTo>
                  <a:pt x="103147" y="192871"/>
                  <a:pt x="103019" y="195038"/>
                  <a:pt x="103274" y="197077"/>
                </a:cubicBezTo>
                <a:cubicBezTo>
                  <a:pt x="103401" y="198224"/>
                  <a:pt x="104802" y="200646"/>
                  <a:pt x="105439" y="199244"/>
                </a:cubicBezTo>
                <a:moveTo>
                  <a:pt x="97671" y="58536"/>
                </a:moveTo>
                <a:cubicBezTo>
                  <a:pt x="96525" y="58791"/>
                  <a:pt x="96143" y="59811"/>
                  <a:pt x="96016" y="60958"/>
                </a:cubicBezTo>
                <a:cubicBezTo>
                  <a:pt x="96016" y="62105"/>
                  <a:pt x="95633" y="63379"/>
                  <a:pt x="94105" y="63125"/>
                </a:cubicBezTo>
                <a:cubicBezTo>
                  <a:pt x="92832" y="62997"/>
                  <a:pt x="92705" y="61595"/>
                  <a:pt x="92450" y="60576"/>
                </a:cubicBezTo>
                <a:cubicBezTo>
                  <a:pt x="92450" y="60066"/>
                  <a:pt x="91941" y="59683"/>
                  <a:pt x="91559" y="58919"/>
                </a:cubicBezTo>
                <a:cubicBezTo>
                  <a:pt x="90158" y="60448"/>
                  <a:pt x="88248" y="61595"/>
                  <a:pt x="87738" y="63252"/>
                </a:cubicBezTo>
                <a:cubicBezTo>
                  <a:pt x="86974" y="65291"/>
                  <a:pt x="90285" y="64909"/>
                  <a:pt x="90795" y="66438"/>
                </a:cubicBezTo>
                <a:cubicBezTo>
                  <a:pt x="91177" y="67713"/>
                  <a:pt x="90922" y="68987"/>
                  <a:pt x="91049" y="70262"/>
                </a:cubicBezTo>
                <a:cubicBezTo>
                  <a:pt x="96143" y="67968"/>
                  <a:pt x="98562" y="64272"/>
                  <a:pt x="97798" y="58536"/>
                </a:cubicBezTo>
                <a:lnTo>
                  <a:pt x="97671" y="58536"/>
                </a:lnTo>
                <a:moveTo>
                  <a:pt x="100982" y="58154"/>
                </a:moveTo>
                <a:cubicBezTo>
                  <a:pt x="105057" y="56624"/>
                  <a:pt x="105057" y="56497"/>
                  <a:pt x="106967" y="59429"/>
                </a:cubicBezTo>
                <a:cubicBezTo>
                  <a:pt x="107604" y="60321"/>
                  <a:pt x="107858" y="61468"/>
                  <a:pt x="108622" y="62360"/>
                </a:cubicBezTo>
                <a:cubicBezTo>
                  <a:pt x="109641" y="63380"/>
                  <a:pt x="110787" y="62360"/>
                  <a:pt x="111551" y="61850"/>
                </a:cubicBezTo>
                <a:cubicBezTo>
                  <a:pt x="113589" y="60703"/>
                  <a:pt x="111806" y="60576"/>
                  <a:pt x="110915" y="60193"/>
                </a:cubicBezTo>
                <a:cubicBezTo>
                  <a:pt x="108750" y="59301"/>
                  <a:pt x="108622" y="56879"/>
                  <a:pt x="108240" y="55223"/>
                </a:cubicBezTo>
                <a:cubicBezTo>
                  <a:pt x="107476" y="51399"/>
                  <a:pt x="102892" y="53566"/>
                  <a:pt x="101873" y="50634"/>
                </a:cubicBezTo>
                <a:cubicBezTo>
                  <a:pt x="99581" y="51526"/>
                  <a:pt x="99454" y="53438"/>
                  <a:pt x="99072" y="55478"/>
                </a:cubicBezTo>
                <a:cubicBezTo>
                  <a:pt x="98817" y="56497"/>
                  <a:pt x="98180" y="57389"/>
                  <a:pt x="97798" y="58409"/>
                </a:cubicBezTo>
                <a:cubicBezTo>
                  <a:pt x="98817" y="58409"/>
                  <a:pt x="99963" y="58536"/>
                  <a:pt x="100982" y="58154"/>
                </a:cubicBezTo>
                <a:moveTo>
                  <a:pt x="93978" y="40183"/>
                </a:moveTo>
                <a:cubicBezTo>
                  <a:pt x="98180" y="36487"/>
                  <a:pt x="101746" y="35467"/>
                  <a:pt x="105693" y="34703"/>
                </a:cubicBezTo>
                <a:cubicBezTo>
                  <a:pt x="106585" y="36487"/>
                  <a:pt x="105693" y="37379"/>
                  <a:pt x="105311" y="38399"/>
                </a:cubicBezTo>
                <a:cubicBezTo>
                  <a:pt x="104547" y="40056"/>
                  <a:pt x="105311" y="41330"/>
                  <a:pt x="106712" y="41840"/>
                </a:cubicBezTo>
                <a:cubicBezTo>
                  <a:pt x="108113" y="42477"/>
                  <a:pt x="108240" y="40693"/>
                  <a:pt x="108750" y="39928"/>
                </a:cubicBezTo>
                <a:cubicBezTo>
                  <a:pt x="110660" y="37762"/>
                  <a:pt x="111424" y="34703"/>
                  <a:pt x="114989" y="33683"/>
                </a:cubicBezTo>
                <a:cubicBezTo>
                  <a:pt x="110660" y="31899"/>
                  <a:pt x="107476" y="29732"/>
                  <a:pt x="107222" y="24761"/>
                </a:cubicBezTo>
                <a:cubicBezTo>
                  <a:pt x="105439" y="31771"/>
                  <a:pt x="95252" y="30624"/>
                  <a:pt x="93851" y="40056"/>
                </a:cubicBezTo>
                <a:lnTo>
                  <a:pt x="93978" y="40183"/>
                </a:lnTo>
                <a:moveTo>
                  <a:pt x="87102" y="21958"/>
                </a:moveTo>
                <a:cubicBezTo>
                  <a:pt x="88502" y="24507"/>
                  <a:pt x="89267" y="25909"/>
                  <a:pt x="89267" y="27438"/>
                </a:cubicBezTo>
                <a:cubicBezTo>
                  <a:pt x="91304" y="27056"/>
                  <a:pt x="92959" y="30114"/>
                  <a:pt x="95634" y="28203"/>
                </a:cubicBezTo>
                <a:cubicBezTo>
                  <a:pt x="92959" y="26673"/>
                  <a:pt x="91686" y="23614"/>
                  <a:pt x="87102" y="22085"/>
                </a:cubicBezTo>
                <a:lnTo>
                  <a:pt x="87102" y="21958"/>
                </a:lnTo>
                <a:moveTo>
                  <a:pt x="86338" y="28712"/>
                </a:moveTo>
                <a:cubicBezTo>
                  <a:pt x="87866" y="30369"/>
                  <a:pt x="87102" y="31771"/>
                  <a:pt x="86338" y="33301"/>
                </a:cubicBezTo>
                <a:cubicBezTo>
                  <a:pt x="85574" y="35085"/>
                  <a:pt x="85574" y="36997"/>
                  <a:pt x="86720" y="38781"/>
                </a:cubicBezTo>
                <a:cubicBezTo>
                  <a:pt x="88120" y="37507"/>
                  <a:pt x="91686" y="37889"/>
                  <a:pt x="89776" y="34065"/>
                </a:cubicBezTo>
                <a:cubicBezTo>
                  <a:pt x="88884" y="32154"/>
                  <a:pt x="89266" y="29732"/>
                  <a:pt x="89012" y="27438"/>
                </a:cubicBezTo>
                <a:cubicBezTo>
                  <a:pt x="88375" y="27056"/>
                  <a:pt x="87611" y="26546"/>
                  <a:pt x="86974" y="26546"/>
                </a:cubicBezTo>
                <a:cubicBezTo>
                  <a:pt x="84937" y="26546"/>
                  <a:pt x="85701" y="27948"/>
                  <a:pt x="86338" y="28585"/>
                </a:cubicBezTo>
                <a:lnTo>
                  <a:pt x="86338" y="28712"/>
                </a:lnTo>
                <a:moveTo>
                  <a:pt x="82899" y="47193"/>
                </a:moveTo>
                <a:cubicBezTo>
                  <a:pt x="84046" y="48468"/>
                  <a:pt x="85573" y="49487"/>
                  <a:pt x="86974" y="50634"/>
                </a:cubicBezTo>
                <a:cubicBezTo>
                  <a:pt x="87866" y="48468"/>
                  <a:pt x="87356" y="46683"/>
                  <a:pt x="86210" y="44899"/>
                </a:cubicBezTo>
                <a:cubicBezTo>
                  <a:pt x="85573" y="43879"/>
                  <a:pt x="84810" y="43115"/>
                  <a:pt x="83663" y="44262"/>
                </a:cubicBezTo>
                <a:cubicBezTo>
                  <a:pt x="82772" y="45026"/>
                  <a:pt x="82008" y="46301"/>
                  <a:pt x="82899" y="47193"/>
                </a:cubicBezTo>
                <a:moveTo>
                  <a:pt x="66600" y="39546"/>
                </a:moveTo>
                <a:cubicBezTo>
                  <a:pt x="66600" y="40311"/>
                  <a:pt x="67109" y="41075"/>
                  <a:pt x="67491" y="41840"/>
                </a:cubicBezTo>
                <a:cubicBezTo>
                  <a:pt x="68000" y="43115"/>
                  <a:pt x="68510" y="44644"/>
                  <a:pt x="70420" y="43752"/>
                </a:cubicBezTo>
                <a:cubicBezTo>
                  <a:pt x="72075" y="42987"/>
                  <a:pt x="74495" y="42477"/>
                  <a:pt x="72967" y="39673"/>
                </a:cubicBezTo>
                <a:cubicBezTo>
                  <a:pt x="72585" y="37889"/>
                  <a:pt x="72203" y="35977"/>
                  <a:pt x="71693" y="34193"/>
                </a:cubicBezTo>
                <a:cubicBezTo>
                  <a:pt x="71439" y="33428"/>
                  <a:pt x="70675" y="32919"/>
                  <a:pt x="69783" y="33173"/>
                </a:cubicBezTo>
                <a:cubicBezTo>
                  <a:pt x="69401" y="33301"/>
                  <a:pt x="69019" y="33938"/>
                  <a:pt x="69019" y="34448"/>
                </a:cubicBezTo>
                <a:cubicBezTo>
                  <a:pt x="69019" y="35850"/>
                  <a:pt x="69019" y="37124"/>
                  <a:pt x="69019" y="38526"/>
                </a:cubicBezTo>
                <a:cubicBezTo>
                  <a:pt x="68255" y="38909"/>
                  <a:pt x="66600" y="36869"/>
                  <a:pt x="66727" y="39418"/>
                </a:cubicBezTo>
                <a:lnTo>
                  <a:pt x="66600" y="39546"/>
                </a:lnTo>
                <a:moveTo>
                  <a:pt x="60360" y="54713"/>
                </a:moveTo>
                <a:cubicBezTo>
                  <a:pt x="64180" y="59301"/>
                  <a:pt x="64180" y="59301"/>
                  <a:pt x="60105" y="63507"/>
                </a:cubicBezTo>
                <a:cubicBezTo>
                  <a:pt x="61124" y="63762"/>
                  <a:pt x="62779" y="63507"/>
                  <a:pt x="62525" y="64654"/>
                </a:cubicBezTo>
                <a:cubicBezTo>
                  <a:pt x="62270" y="66566"/>
                  <a:pt x="63161" y="67331"/>
                  <a:pt x="64307" y="67968"/>
                </a:cubicBezTo>
                <a:cubicBezTo>
                  <a:pt x="66345" y="69242"/>
                  <a:pt x="66345" y="66438"/>
                  <a:pt x="67236" y="66311"/>
                </a:cubicBezTo>
                <a:cubicBezTo>
                  <a:pt x="68765" y="66056"/>
                  <a:pt x="70292" y="66566"/>
                  <a:pt x="71821" y="66821"/>
                </a:cubicBezTo>
                <a:cubicBezTo>
                  <a:pt x="71311" y="63762"/>
                  <a:pt x="67873" y="61723"/>
                  <a:pt x="68637" y="58027"/>
                </a:cubicBezTo>
                <a:cubicBezTo>
                  <a:pt x="68892" y="56752"/>
                  <a:pt x="67746" y="54458"/>
                  <a:pt x="65454" y="55095"/>
                </a:cubicBezTo>
                <a:cubicBezTo>
                  <a:pt x="63543" y="55605"/>
                  <a:pt x="62015" y="53566"/>
                  <a:pt x="60233" y="54713"/>
                </a:cubicBezTo>
                <a:lnTo>
                  <a:pt x="60360" y="54713"/>
                </a:lnTo>
                <a:moveTo>
                  <a:pt x="58450" y="66821"/>
                </a:moveTo>
                <a:cubicBezTo>
                  <a:pt x="58450" y="70262"/>
                  <a:pt x="58450" y="73703"/>
                  <a:pt x="58450" y="77017"/>
                </a:cubicBezTo>
                <a:cubicBezTo>
                  <a:pt x="60233" y="75742"/>
                  <a:pt x="61633" y="73958"/>
                  <a:pt x="60742" y="71791"/>
                </a:cubicBezTo>
                <a:cubicBezTo>
                  <a:pt x="59723" y="69115"/>
                  <a:pt x="60615" y="66311"/>
                  <a:pt x="60105" y="63634"/>
                </a:cubicBezTo>
                <a:cubicBezTo>
                  <a:pt x="58577" y="64144"/>
                  <a:pt x="58450" y="65419"/>
                  <a:pt x="58577" y="66821"/>
                </a:cubicBezTo>
                <a:lnTo>
                  <a:pt x="58450" y="66821"/>
                </a:lnTo>
                <a:moveTo>
                  <a:pt x="54248" y="80076"/>
                </a:moveTo>
                <a:cubicBezTo>
                  <a:pt x="54502" y="82243"/>
                  <a:pt x="56922" y="82752"/>
                  <a:pt x="58959" y="81988"/>
                </a:cubicBezTo>
                <a:cubicBezTo>
                  <a:pt x="60487" y="81478"/>
                  <a:pt x="61633" y="80076"/>
                  <a:pt x="63416" y="80586"/>
                </a:cubicBezTo>
                <a:cubicBezTo>
                  <a:pt x="63416" y="78546"/>
                  <a:pt x="63416" y="76889"/>
                  <a:pt x="60487" y="78674"/>
                </a:cubicBezTo>
                <a:cubicBezTo>
                  <a:pt x="59469" y="79311"/>
                  <a:pt x="58577" y="78419"/>
                  <a:pt x="58322" y="77399"/>
                </a:cubicBezTo>
                <a:cubicBezTo>
                  <a:pt x="56285" y="77272"/>
                  <a:pt x="54120" y="77909"/>
                  <a:pt x="54248" y="80076"/>
                </a:cubicBezTo>
                <a:moveTo>
                  <a:pt x="51573" y="62105"/>
                </a:moveTo>
                <a:cubicBezTo>
                  <a:pt x="51828" y="64781"/>
                  <a:pt x="51064" y="67713"/>
                  <a:pt x="53229" y="70007"/>
                </a:cubicBezTo>
                <a:cubicBezTo>
                  <a:pt x="53611" y="70389"/>
                  <a:pt x="53229" y="72174"/>
                  <a:pt x="54630" y="71027"/>
                </a:cubicBezTo>
                <a:cubicBezTo>
                  <a:pt x="55266" y="70644"/>
                  <a:pt x="56285" y="69752"/>
                  <a:pt x="55521" y="69115"/>
                </a:cubicBezTo>
                <a:cubicBezTo>
                  <a:pt x="53229" y="67331"/>
                  <a:pt x="54120" y="63762"/>
                  <a:pt x="51573" y="62105"/>
                </a:cubicBezTo>
                <a:moveTo>
                  <a:pt x="41514" y="76635"/>
                </a:moveTo>
                <a:cubicBezTo>
                  <a:pt x="41259" y="79821"/>
                  <a:pt x="45206" y="80203"/>
                  <a:pt x="45461" y="82625"/>
                </a:cubicBezTo>
                <a:cubicBezTo>
                  <a:pt x="45843" y="85174"/>
                  <a:pt x="45206" y="87978"/>
                  <a:pt x="49027" y="88615"/>
                </a:cubicBezTo>
                <a:cubicBezTo>
                  <a:pt x="50045" y="86194"/>
                  <a:pt x="47116" y="84664"/>
                  <a:pt x="47881" y="82880"/>
                </a:cubicBezTo>
                <a:cubicBezTo>
                  <a:pt x="49027" y="80203"/>
                  <a:pt x="48645" y="79056"/>
                  <a:pt x="45461" y="78929"/>
                </a:cubicBezTo>
                <a:cubicBezTo>
                  <a:pt x="44060" y="78929"/>
                  <a:pt x="43551" y="76252"/>
                  <a:pt x="41386" y="76635"/>
                </a:cubicBezTo>
                <a:lnTo>
                  <a:pt x="41514" y="76635"/>
                </a:lnTo>
                <a:moveTo>
                  <a:pt x="37438" y="75360"/>
                </a:moveTo>
                <a:cubicBezTo>
                  <a:pt x="39603" y="74468"/>
                  <a:pt x="40240" y="72811"/>
                  <a:pt x="41259" y="71537"/>
                </a:cubicBezTo>
                <a:cubicBezTo>
                  <a:pt x="42150" y="70517"/>
                  <a:pt x="43933" y="70134"/>
                  <a:pt x="45334" y="69625"/>
                </a:cubicBezTo>
                <a:cubicBezTo>
                  <a:pt x="44315" y="68478"/>
                  <a:pt x="42023" y="68095"/>
                  <a:pt x="42659" y="65801"/>
                </a:cubicBezTo>
                <a:cubicBezTo>
                  <a:pt x="42914" y="65036"/>
                  <a:pt x="43551" y="64399"/>
                  <a:pt x="43933" y="63762"/>
                </a:cubicBezTo>
                <a:cubicBezTo>
                  <a:pt x="44188" y="63252"/>
                  <a:pt x="46225" y="63380"/>
                  <a:pt x="44570" y="62360"/>
                </a:cubicBezTo>
                <a:cubicBezTo>
                  <a:pt x="44060" y="61978"/>
                  <a:pt x="42787" y="62105"/>
                  <a:pt x="42150" y="62615"/>
                </a:cubicBezTo>
                <a:cubicBezTo>
                  <a:pt x="40749" y="63507"/>
                  <a:pt x="41513" y="65164"/>
                  <a:pt x="41386" y="66566"/>
                </a:cubicBezTo>
                <a:cubicBezTo>
                  <a:pt x="41131" y="68860"/>
                  <a:pt x="39476" y="68988"/>
                  <a:pt x="37820" y="68988"/>
                </a:cubicBezTo>
                <a:cubicBezTo>
                  <a:pt x="37693" y="71154"/>
                  <a:pt x="37566" y="73193"/>
                  <a:pt x="37438" y="75488"/>
                </a:cubicBezTo>
                <a:lnTo>
                  <a:pt x="37438" y="75360"/>
                </a:lnTo>
                <a:moveTo>
                  <a:pt x="31835" y="97154"/>
                </a:moveTo>
                <a:cubicBezTo>
                  <a:pt x="35401" y="98684"/>
                  <a:pt x="39094" y="98939"/>
                  <a:pt x="40749" y="96135"/>
                </a:cubicBezTo>
                <a:cubicBezTo>
                  <a:pt x="42023" y="93713"/>
                  <a:pt x="46225" y="95498"/>
                  <a:pt x="45843" y="91546"/>
                </a:cubicBezTo>
                <a:cubicBezTo>
                  <a:pt x="40495" y="92439"/>
                  <a:pt x="35910" y="94223"/>
                  <a:pt x="31835" y="97154"/>
                </a:cubicBezTo>
                <a:moveTo>
                  <a:pt x="24577" y="87723"/>
                </a:moveTo>
                <a:cubicBezTo>
                  <a:pt x="24577" y="89380"/>
                  <a:pt x="25850" y="90272"/>
                  <a:pt x="27251" y="90527"/>
                </a:cubicBezTo>
                <a:cubicBezTo>
                  <a:pt x="29288" y="90782"/>
                  <a:pt x="28397" y="89380"/>
                  <a:pt x="28143" y="88360"/>
                </a:cubicBezTo>
                <a:cubicBezTo>
                  <a:pt x="29034" y="86194"/>
                  <a:pt x="27633" y="86066"/>
                  <a:pt x="26105" y="86066"/>
                </a:cubicBezTo>
                <a:cubicBezTo>
                  <a:pt x="25214" y="86066"/>
                  <a:pt x="24577" y="86831"/>
                  <a:pt x="24577" y="87723"/>
                </a:cubicBezTo>
                <a:moveTo>
                  <a:pt x="23049" y="160499"/>
                </a:moveTo>
                <a:cubicBezTo>
                  <a:pt x="22158" y="161008"/>
                  <a:pt x="22412" y="161901"/>
                  <a:pt x="22539" y="162792"/>
                </a:cubicBezTo>
                <a:cubicBezTo>
                  <a:pt x="23049" y="164832"/>
                  <a:pt x="24704" y="165979"/>
                  <a:pt x="26615" y="167763"/>
                </a:cubicBezTo>
                <a:cubicBezTo>
                  <a:pt x="28652" y="165087"/>
                  <a:pt x="30307" y="162919"/>
                  <a:pt x="31963" y="160626"/>
                </a:cubicBezTo>
                <a:cubicBezTo>
                  <a:pt x="31963" y="160499"/>
                  <a:pt x="31581" y="159733"/>
                  <a:pt x="31199" y="159479"/>
                </a:cubicBezTo>
                <a:cubicBezTo>
                  <a:pt x="30817" y="159097"/>
                  <a:pt x="30053" y="158586"/>
                  <a:pt x="30053" y="158714"/>
                </a:cubicBezTo>
                <a:cubicBezTo>
                  <a:pt x="29034" y="159606"/>
                  <a:pt x="28015" y="160499"/>
                  <a:pt x="27379" y="161901"/>
                </a:cubicBezTo>
                <a:cubicBezTo>
                  <a:pt x="26997" y="162919"/>
                  <a:pt x="25723" y="163430"/>
                  <a:pt x="24577" y="162283"/>
                </a:cubicBezTo>
                <a:cubicBezTo>
                  <a:pt x="24068" y="161773"/>
                  <a:pt x="23304" y="160626"/>
                  <a:pt x="23176" y="160626"/>
                </a:cubicBezTo>
                <a:lnTo>
                  <a:pt x="23049" y="160499"/>
                </a:lnTo>
                <a:moveTo>
                  <a:pt x="31071" y="178342"/>
                </a:moveTo>
                <a:cubicBezTo>
                  <a:pt x="34510" y="180636"/>
                  <a:pt x="34637" y="176430"/>
                  <a:pt x="37056" y="175665"/>
                </a:cubicBezTo>
                <a:cubicBezTo>
                  <a:pt x="33746" y="174901"/>
                  <a:pt x="31199" y="174518"/>
                  <a:pt x="31071" y="178342"/>
                </a:cubicBezTo>
                <a:moveTo>
                  <a:pt x="18210" y="157057"/>
                </a:moveTo>
                <a:cubicBezTo>
                  <a:pt x="19356" y="157695"/>
                  <a:pt x="19865" y="157057"/>
                  <a:pt x="20502" y="156548"/>
                </a:cubicBezTo>
                <a:cubicBezTo>
                  <a:pt x="22285" y="155400"/>
                  <a:pt x="22412" y="153361"/>
                  <a:pt x="23686" y="150940"/>
                </a:cubicBezTo>
                <a:cubicBezTo>
                  <a:pt x="19356" y="151831"/>
                  <a:pt x="18847" y="154508"/>
                  <a:pt x="18210" y="157057"/>
                </a:cubicBezTo>
                <a:moveTo>
                  <a:pt x="18719" y="207910"/>
                </a:moveTo>
                <a:cubicBezTo>
                  <a:pt x="16554" y="201284"/>
                  <a:pt x="16555" y="201155"/>
                  <a:pt x="17064" y="195548"/>
                </a:cubicBezTo>
                <a:cubicBezTo>
                  <a:pt x="14644" y="196567"/>
                  <a:pt x="14772" y="199117"/>
                  <a:pt x="14135" y="200901"/>
                </a:cubicBezTo>
                <a:cubicBezTo>
                  <a:pt x="12225" y="205999"/>
                  <a:pt x="12352" y="206126"/>
                  <a:pt x="18719" y="207783"/>
                </a:cubicBezTo>
                <a:lnTo>
                  <a:pt x="18719" y="207910"/>
                </a:lnTo>
                <a:moveTo>
                  <a:pt x="22794" y="199753"/>
                </a:moveTo>
                <a:cubicBezTo>
                  <a:pt x="22794" y="198862"/>
                  <a:pt x="24450" y="197715"/>
                  <a:pt x="22157" y="197715"/>
                </a:cubicBezTo>
                <a:cubicBezTo>
                  <a:pt x="21266" y="197715"/>
                  <a:pt x="21011" y="198733"/>
                  <a:pt x="20757" y="199499"/>
                </a:cubicBezTo>
                <a:cubicBezTo>
                  <a:pt x="19611" y="203959"/>
                  <a:pt x="23049" y="206637"/>
                  <a:pt x="25086" y="210459"/>
                </a:cubicBezTo>
                <a:cubicBezTo>
                  <a:pt x="26742" y="205999"/>
                  <a:pt x="22285" y="203450"/>
                  <a:pt x="22794" y="199753"/>
                </a:cubicBezTo>
                <a:moveTo>
                  <a:pt x="27888" y="184332"/>
                </a:moveTo>
                <a:cubicBezTo>
                  <a:pt x="29925" y="184076"/>
                  <a:pt x="29416" y="180381"/>
                  <a:pt x="30817" y="178469"/>
                </a:cubicBezTo>
                <a:cubicBezTo>
                  <a:pt x="28652" y="178725"/>
                  <a:pt x="27633" y="175792"/>
                  <a:pt x="26742" y="175792"/>
                </a:cubicBezTo>
                <a:cubicBezTo>
                  <a:pt x="23049" y="176174"/>
                  <a:pt x="26742" y="179616"/>
                  <a:pt x="25086" y="181018"/>
                </a:cubicBezTo>
                <a:cubicBezTo>
                  <a:pt x="24068" y="181910"/>
                  <a:pt x="22540" y="182420"/>
                  <a:pt x="21775" y="183567"/>
                </a:cubicBezTo>
                <a:cubicBezTo>
                  <a:pt x="20247" y="185989"/>
                  <a:pt x="15026" y="187263"/>
                  <a:pt x="18719" y="191851"/>
                </a:cubicBezTo>
                <a:cubicBezTo>
                  <a:pt x="19101" y="192362"/>
                  <a:pt x="17955" y="194146"/>
                  <a:pt x="17318" y="195293"/>
                </a:cubicBezTo>
                <a:cubicBezTo>
                  <a:pt x="19738" y="195038"/>
                  <a:pt x="23431" y="196440"/>
                  <a:pt x="21394" y="191087"/>
                </a:cubicBezTo>
                <a:cubicBezTo>
                  <a:pt x="21011" y="190195"/>
                  <a:pt x="24450" y="190704"/>
                  <a:pt x="25468" y="189047"/>
                </a:cubicBezTo>
                <a:cubicBezTo>
                  <a:pt x="26487" y="187518"/>
                  <a:pt x="23686" y="184714"/>
                  <a:pt x="27761" y="184205"/>
                </a:cubicBezTo>
                <a:lnTo>
                  <a:pt x="27888" y="184332"/>
                </a:lnTo>
                <a:moveTo>
                  <a:pt x="29798" y="222185"/>
                </a:moveTo>
                <a:cubicBezTo>
                  <a:pt x="31199" y="222441"/>
                  <a:pt x="33873" y="218999"/>
                  <a:pt x="33364" y="217852"/>
                </a:cubicBezTo>
                <a:cubicBezTo>
                  <a:pt x="33236" y="217470"/>
                  <a:pt x="32600" y="217214"/>
                  <a:pt x="32090" y="216960"/>
                </a:cubicBezTo>
                <a:cubicBezTo>
                  <a:pt x="30435" y="217725"/>
                  <a:pt x="28907" y="218744"/>
                  <a:pt x="28143" y="220656"/>
                </a:cubicBezTo>
                <a:cubicBezTo>
                  <a:pt x="28143" y="220910"/>
                  <a:pt x="29161" y="222185"/>
                  <a:pt x="29798" y="222185"/>
                </a:cubicBezTo>
                <a:moveTo>
                  <a:pt x="36674" y="240411"/>
                </a:moveTo>
                <a:cubicBezTo>
                  <a:pt x="35274" y="239136"/>
                  <a:pt x="34510" y="236969"/>
                  <a:pt x="32090" y="236969"/>
                </a:cubicBezTo>
                <a:cubicBezTo>
                  <a:pt x="30435" y="238117"/>
                  <a:pt x="31326" y="239264"/>
                  <a:pt x="32090" y="240538"/>
                </a:cubicBezTo>
                <a:cubicBezTo>
                  <a:pt x="33109" y="242322"/>
                  <a:pt x="31453" y="243597"/>
                  <a:pt x="31071" y="245000"/>
                </a:cubicBezTo>
                <a:cubicBezTo>
                  <a:pt x="32854" y="245637"/>
                  <a:pt x="32854" y="249588"/>
                  <a:pt x="36038" y="247421"/>
                </a:cubicBezTo>
                <a:cubicBezTo>
                  <a:pt x="39476" y="245127"/>
                  <a:pt x="39731" y="243342"/>
                  <a:pt x="36802" y="240284"/>
                </a:cubicBezTo>
                <a:lnTo>
                  <a:pt x="36674" y="240411"/>
                </a:lnTo>
                <a:moveTo>
                  <a:pt x="62525" y="276734"/>
                </a:moveTo>
                <a:cubicBezTo>
                  <a:pt x="61761" y="276225"/>
                  <a:pt x="60869" y="276480"/>
                  <a:pt x="60360" y="276990"/>
                </a:cubicBezTo>
                <a:cubicBezTo>
                  <a:pt x="59214" y="278136"/>
                  <a:pt x="58450" y="280049"/>
                  <a:pt x="57176" y="280304"/>
                </a:cubicBezTo>
                <a:cubicBezTo>
                  <a:pt x="55648" y="280558"/>
                  <a:pt x="54120" y="280431"/>
                  <a:pt x="54248" y="282089"/>
                </a:cubicBezTo>
                <a:cubicBezTo>
                  <a:pt x="54248" y="282980"/>
                  <a:pt x="56412" y="283618"/>
                  <a:pt x="57431" y="284382"/>
                </a:cubicBezTo>
                <a:cubicBezTo>
                  <a:pt x="58832" y="284637"/>
                  <a:pt x="59851" y="284127"/>
                  <a:pt x="59978" y="282853"/>
                </a:cubicBezTo>
                <a:cubicBezTo>
                  <a:pt x="60105" y="281069"/>
                  <a:pt x="60869" y="279794"/>
                  <a:pt x="62397" y="278774"/>
                </a:cubicBezTo>
                <a:cubicBezTo>
                  <a:pt x="63162" y="278265"/>
                  <a:pt x="63543" y="277500"/>
                  <a:pt x="62525" y="276863"/>
                </a:cubicBezTo>
                <a:lnTo>
                  <a:pt x="62525" y="276734"/>
                </a:lnTo>
                <a:moveTo>
                  <a:pt x="66982" y="215176"/>
                </a:moveTo>
                <a:cubicBezTo>
                  <a:pt x="67109" y="216323"/>
                  <a:pt x="67236" y="217470"/>
                  <a:pt x="67236" y="218617"/>
                </a:cubicBezTo>
                <a:cubicBezTo>
                  <a:pt x="67236" y="219892"/>
                  <a:pt x="67873" y="220910"/>
                  <a:pt x="69274" y="220656"/>
                </a:cubicBezTo>
                <a:cubicBezTo>
                  <a:pt x="70802" y="220401"/>
                  <a:pt x="71948" y="219254"/>
                  <a:pt x="71566" y="217597"/>
                </a:cubicBezTo>
                <a:cubicBezTo>
                  <a:pt x="71311" y="216323"/>
                  <a:pt x="70165" y="215175"/>
                  <a:pt x="69401" y="214028"/>
                </a:cubicBezTo>
                <a:cubicBezTo>
                  <a:pt x="67364" y="210842"/>
                  <a:pt x="71439" y="212499"/>
                  <a:pt x="71439" y="211607"/>
                </a:cubicBezTo>
                <a:cubicBezTo>
                  <a:pt x="71439" y="210077"/>
                  <a:pt x="70929" y="208421"/>
                  <a:pt x="70802" y="206891"/>
                </a:cubicBezTo>
                <a:cubicBezTo>
                  <a:pt x="70802" y="206637"/>
                  <a:pt x="72203" y="206126"/>
                  <a:pt x="72967" y="206253"/>
                </a:cubicBezTo>
                <a:cubicBezTo>
                  <a:pt x="74368" y="206381"/>
                  <a:pt x="75641" y="207019"/>
                  <a:pt x="77042" y="207146"/>
                </a:cubicBezTo>
                <a:cubicBezTo>
                  <a:pt x="79843" y="207528"/>
                  <a:pt x="81117" y="206126"/>
                  <a:pt x="79588" y="203704"/>
                </a:cubicBezTo>
                <a:cubicBezTo>
                  <a:pt x="78060" y="201411"/>
                  <a:pt x="79461" y="198479"/>
                  <a:pt x="77424" y="196567"/>
                </a:cubicBezTo>
                <a:cubicBezTo>
                  <a:pt x="73985" y="193253"/>
                  <a:pt x="73731" y="188283"/>
                  <a:pt x="71439" y="184460"/>
                </a:cubicBezTo>
                <a:cubicBezTo>
                  <a:pt x="68000" y="178469"/>
                  <a:pt x="70038" y="170950"/>
                  <a:pt x="65454" y="165468"/>
                </a:cubicBezTo>
                <a:cubicBezTo>
                  <a:pt x="65199" y="165214"/>
                  <a:pt x="65326" y="164450"/>
                  <a:pt x="65454" y="163939"/>
                </a:cubicBezTo>
                <a:cubicBezTo>
                  <a:pt x="65836" y="162283"/>
                  <a:pt x="69656" y="161135"/>
                  <a:pt x="65836" y="158841"/>
                </a:cubicBezTo>
                <a:cubicBezTo>
                  <a:pt x="65072" y="158332"/>
                  <a:pt x="66218" y="154890"/>
                  <a:pt x="66472" y="152851"/>
                </a:cubicBezTo>
                <a:cubicBezTo>
                  <a:pt x="65581" y="152724"/>
                  <a:pt x="64690" y="151959"/>
                  <a:pt x="64944" y="151577"/>
                </a:cubicBezTo>
                <a:cubicBezTo>
                  <a:pt x="66854" y="148135"/>
                  <a:pt x="65708" y="145331"/>
                  <a:pt x="63543" y="142527"/>
                </a:cubicBezTo>
                <a:cubicBezTo>
                  <a:pt x="62779" y="141635"/>
                  <a:pt x="63161" y="139724"/>
                  <a:pt x="63289" y="138322"/>
                </a:cubicBezTo>
                <a:cubicBezTo>
                  <a:pt x="63416" y="133734"/>
                  <a:pt x="63289" y="129272"/>
                  <a:pt x="61251" y="125067"/>
                </a:cubicBezTo>
                <a:cubicBezTo>
                  <a:pt x="59469" y="121243"/>
                  <a:pt x="59469" y="117164"/>
                  <a:pt x="60233" y="113341"/>
                </a:cubicBezTo>
                <a:cubicBezTo>
                  <a:pt x="61251" y="108498"/>
                  <a:pt x="61379" y="102762"/>
                  <a:pt x="67364" y="100596"/>
                </a:cubicBezTo>
                <a:cubicBezTo>
                  <a:pt x="67364" y="98047"/>
                  <a:pt x="65072" y="96135"/>
                  <a:pt x="65581" y="93331"/>
                </a:cubicBezTo>
                <a:cubicBezTo>
                  <a:pt x="66345" y="93841"/>
                  <a:pt x="66982" y="94223"/>
                  <a:pt x="67618" y="94605"/>
                </a:cubicBezTo>
                <a:cubicBezTo>
                  <a:pt x="68383" y="94988"/>
                  <a:pt x="69911" y="96645"/>
                  <a:pt x="69529" y="94478"/>
                </a:cubicBezTo>
                <a:cubicBezTo>
                  <a:pt x="68765" y="90527"/>
                  <a:pt x="69529" y="89635"/>
                  <a:pt x="73604" y="90399"/>
                </a:cubicBezTo>
                <a:cubicBezTo>
                  <a:pt x="75641" y="90782"/>
                  <a:pt x="78570" y="90017"/>
                  <a:pt x="78824" y="86576"/>
                </a:cubicBezTo>
                <a:cubicBezTo>
                  <a:pt x="78952" y="84664"/>
                  <a:pt x="78825" y="82752"/>
                  <a:pt x="79971" y="80840"/>
                </a:cubicBezTo>
                <a:cubicBezTo>
                  <a:pt x="81499" y="78419"/>
                  <a:pt x="83791" y="81478"/>
                  <a:pt x="85191" y="79821"/>
                </a:cubicBezTo>
                <a:cubicBezTo>
                  <a:pt x="86338" y="78419"/>
                  <a:pt x="87229" y="76889"/>
                  <a:pt x="89267" y="78419"/>
                </a:cubicBezTo>
                <a:cubicBezTo>
                  <a:pt x="91049" y="79821"/>
                  <a:pt x="91559" y="81605"/>
                  <a:pt x="90413" y="83644"/>
                </a:cubicBezTo>
                <a:cubicBezTo>
                  <a:pt x="89521" y="85174"/>
                  <a:pt x="88502" y="86576"/>
                  <a:pt x="90795" y="87850"/>
                </a:cubicBezTo>
                <a:cubicBezTo>
                  <a:pt x="92195" y="86448"/>
                  <a:pt x="93596" y="84537"/>
                  <a:pt x="95888" y="86321"/>
                </a:cubicBezTo>
                <a:cubicBezTo>
                  <a:pt x="96780" y="87086"/>
                  <a:pt x="97162" y="86831"/>
                  <a:pt x="97416" y="85939"/>
                </a:cubicBezTo>
                <a:cubicBezTo>
                  <a:pt x="98562" y="82880"/>
                  <a:pt x="100727" y="80841"/>
                  <a:pt x="103274" y="78929"/>
                </a:cubicBezTo>
                <a:cubicBezTo>
                  <a:pt x="106075" y="76889"/>
                  <a:pt x="106712" y="74086"/>
                  <a:pt x="104929" y="70772"/>
                </a:cubicBezTo>
                <a:cubicBezTo>
                  <a:pt x="101491" y="72301"/>
                  <a:pt x="97034" y="72939"/>
                  <a:pt x="100218" y="78291"/>
                </a:cubicBezTo>
                <a:cubicBezTo>
                  <a:pt x="99581" y="78674"/>
                  <a:pt x="98690" y="79566"/>
                  <a:pt x="98180" y="79311"/>
                </a:cubicBezTo>
                <a:cubicBezTo>
                  <a:pt x="95888" y="78419"/>
                  <a:pt x="95379" y="76252"/>
                  <a:pt x="95506" y="74086"/>
                </a:cubicBezTo>
                <a:cubicBezTo>
                  <a:pt x="95506" y="73448"/>
                  <a:pt x="97798" y="72938"/>
                  <a:pt x="96652" y="71664"/>
                </a:cubicBezTo>
                <a:cubicBezTo>
                  <a:pt x="95761" y="70644"/>
                  <a:pt x="94742" y="72174"/>
                  <a:pt x="93851" y="72683"/>
                </a:cubicBezTo>
                <a:cubicBezTo>
                  <a:pt x="91559" y="73831"/>
                  <a:pt x="90158" y="73703"/>
                  <a:pt x="90285" y="70899"/>
                </a:cubicBezTo>
                <a:cubicBezTo>
                  <a:pt x="87611" y="71919"/>
                  <a:pt x="86720" y="67840"/>
                  <a:pt x="85319" y="68478"/>
                </a:cubicBezTo>
                <a:cubicBezTo>
                  <a:pt x="80225" y="70644"/>
                  <a:pt x="82645" y="65801"/>
                  <a:pt x="81244" y="64527"/>
                </a:cubicBezTo>
                <a:cubicBezTo>
                  <a:pt x="80607" y="63889"/>
                  <a:pt x="80098" y="62105"/>
                  <a:pt x="78697" y="63507"/>
                </a:cubicBezTo>
                <a:cubicBezTo>
                  <a:pt x="76660" y="65546"/>
                  <a:pt x="73476" y="65036"/>
                  <a:pt x="71566" y="67331"/>
                </a:cubicBezTo>
                <a:cubicBezTo>
                  <a:pt x="71566" y="68478"/>
                  <a:pt x="72075" y="70134"/>
                  <a:pt x="71566" y="70517"/>
                </a:cubicBezTo>
                <a:cubicBezTo>
                  <a:pt x="68128" y="73576"/>
                  <a:pt x="67236" y="78801"/>
                  <a:pt x="62907" y="81095"/>
                </a:cubicBezTo>
                <a:cubicBezTo>
                  <a:pt x="56922" y="85429"/>
                  <a:pt x="57558" y="94096"/>
                  <a:pt x="51828" y="98556"/>
                </a:cubicBezTo>
                <a:cubicBezTo>
                  <a:pt x="50682" y="99448"/>
                  <a:pt x="52083" y="100723"/>
                  <a:pt x="51828" y="101615"/>
                </a:cubicBezTo>
                <a:cubicBezTo>
                  <a:pt x="51064" y="105311"/>
                  <a:pt x="51191" y="109900"/>
                  <a:pt x="46989" y="111557"/>
                </a:cubicBezTo>
                <a:cubicBezTo>
                  <a:pt x="42914" y="113086"/>
                  <a:pt x="38457" y="113978"/>
                  <a:pt x="34000" y="114743"/>
                </a:cubicBezTo>
                <a:cubicBezTo>
                  <a:pt x="30435" y="115380"/>
                  <a:pt x="29925" y="115763"/>
                  <a:pt x="31199" y="118567"/>
                </a:cubicBezTo>
                <a:cubicBezTo>
                  <a:pt x="32472" y="121116"/>
                  <a:pt x="34000" y="123537"/>
                  <a:pt x="37184" y="124047"/>
                </a:cubicBezTo>
                <a:cubicBezTo>
                  <a:pt x="36675" y="121753"/>
                  <a:pt x="33873" y="120861"/>
                  <a:pt x="33746" y="118439"/>
                </a:cubicBezTo>
                <a:cubicBezTo>
                  <a:pt x="35910" y="114870"/>
                  <a:pt x="39349" y="116017"/>
                  <a:pt x="42405" y="115890"/>
                </a:cubicBezTo>
                <a:cubicBezTo>
                  <a:pt x="46862" y="115890"/>
                  <a:pt x="48517" y="117419"/>
                  <a:pt x="46989" y="120733"/>
                </a:cubicBezTo>
                <a:cubicBezTo>
                  <a:pt x="45716" y="123282"/>
                  <a:pt x="44570" y="125321"/>
                  <a:pt x="45461" y="128380"/>
                </a:cubicBezTo>
                <a:cubicBezTo>
                  <a:pt x="45843" y="129654"/>
                  <a:pt x="44824" y="131694"/>
                  <a:pt x="43933" y="133096"/>
                </a:cubicBezTo>
                <a:cubicBezTo>
                  <a:pt x="42914" y="134753"/>
                  <a:pt x="41259" y="136282"/>
                  <a:pt x="39094" y="135772"/>
                </a:cubicBezTo>
                <a:cubicBezTo>
                  <a:pt x="36420" y="135136"/>
                  <a:pt x="37184" y="132714"/>
                  <a:pt x="36929" y="130929"/>
                </a:cubicBezTo>
                <a:cubicBezTo>
                  <a:pt x="34128" y="131949"/>
                  <a:pt x="33236" y="128125"/>
                  <a:pt x="30817" y="127870"/>
                </a:cubicBezTo>
                <a:cubicBezTo>
                  <a:pt x="29798" y="131185"/>
                  <a:pt x="31199" y="133861"/>
                  <a:pt x="32218" y="135772"/>
                </a:cubicBezTo>
                <a:cubicBezTo>
                  <a:pt x="33746" y="138449"/>
                  <a:pt x="30180" y="139978"/>
                  <a:pt x="31453" y="141253"/>
                </a:cubicBezTo>
                <a:cubicBezTo>
                  <a:pt x="33618" y="143420"/>
                  <a:pt x="30180" y="145713"/>
                  <a:pt x="31835" y="147880"/>
                </a:cubicBezTo>
                <a:cubicBezTo>
                  <a:pt x="34128" y="145969"/>
                  <a:pt x="33109" y="142655"/>
                  <a:pt x="35528" y="141891"/>
                </a:cubicBezTo>
                <a:cubicBezTo>
                  <a:pt x="37820" y="141126"/>
                  <a:pt x="39731" y="138067"/>
                  <a:pt x="42405" y="139596"/>
                </a:cubicBezTo>
                <a:cubicBezTo>
                  <a:pt x="45206" y="141125"/>
                  <a:pt x="42914" y="143675"/>
                  <a:pt x="42914" y="145713"/>
                </a:cubicBezTo>
                <a:cubicBezTo>
                  <a:pt x="42914" y="147626"/>
                  <a:pt x="43169" y="149282"/>
                  <a:pt x="40877" y="150557"/>
                </a:cubicBezTo>
                <a:cubicBezTo>
                  <a:pt x="39094" y="151577"/>
                  <a:pt x="37438" y="153744"/>
                  <a:pt x="38075" y="156166"/>
                </a:cubicBezTo>
                <a:cubicBezTo>
                  <a:pt x="38839" y="159479"/>
                  <a:pt x="35528" y="159224"/>
                  <a:pt x="34637" y="161008"/>
                </a:cubicBezTo>
                <a:cubicBezTo>
                  <a:pt x="37311" y="161646"/>
                  <a:pt x="40240" y="160753"/>
                  <a:pt x="42914" y="162028"/>
                </a:cubicBezTo>
                <a:cubicBezTo>
                  <a:pt x="44060" y="165341"/>
                  <a:pt x="38839" y="164450"/>
                  <a:pt x="39476" y="167890"/>
                </a:cubicBezTo>
                <a:cubicBezTo>
                  <a:pt x="40113" y="171714"/>
                  <a:pt x="41641" y="175410"/>
                  <a:pt x="41004" y="179361"/>
                </a:cubicBezTo>
                <a:cubicBezTo>
                  <a:pt x="45716" y="183058"/>
                  <a:pt x="45334" y="188665"/>
                  <a:pt x="46989" y="193636"/>
                </a:cubicBezTo>
                <a:cubicBezTo>
                  <a:pt x="48262" y="197587"/>
                  <a:pt x="49409" y="201155"/>
                  <a:pt x="47499" y="204852"/>
                </a:cubicBezTo>
                <a:cubicBezTo>
                  <a:pt x="46225" y="207528"/>
                  <a:pt x="47499" y="209695"/>
                  <a:pt x="48135" y="211990"/>
                </a:cubicBezTo>
                <a:cubicBezTo>
                  <a:pt x="48135" y="212244"/>
                  <a:pt x="52210" y="211224"/>
                  <a:pt x="50682" y="213646"/>
                </a:cubicBezTo>
                <a:cubicBezTo>
                  <a:pt x="49027" y="216450"/>
                  <a:pt x="48772" y="218107"/>
                  <a:pt x="50682" y="220656"/>
                </a:cubicBezTo>
                <a:cubicBezTo>
                  <a:pt x="51701" y="221930"/>
                  <a:pt x="49918" y="223078"/>
                  <a:pt x="49154" y="224225"/>
                </a:cubicBezTo>
                <a:cubicBezTo>
                  <a:pt x="48262" y="225372"/>
                  <a:pt x="45334" y="225116"/>
                  <a:pt x="46862" y="227794"/>
                </a:cubicBezTo>
                <a:cubicBezTo>
                  <a:pt x="52974" y="224352"/>
                  <a:pt x="52465" y="224225"/>
                  <a:pt x="54248" y="215048"/>
                </a:cubicBezTo>
                <a:cubicBezTo>
                  <a:pt x="55139" y="210332"/>
                  <a:pt x="51446" y="209568"/>
                  <a:pt x="49281" y="206764"/>
                </a:cubicBezTo>
                <a:cubicBezTo>
                  <a:pt x="52592" y="205999"/>
                  <a:pt x="55139" y="206381"/>
                  <a:pt x="57940" y="207146"/>
                </a:cubicBezTo>
                <a:cubicBezTo>
                  <a:pt x="63798" y="208548"/>
                  <a:pt x="65581" y="209950"/>
                  <a:pt x="66345" y="215685"/>
                </a:cubicBezTo>
                <a:lnTo>
                  <a:pt x="66982" y="215176"/>
                </a:lnTo>
                <a:moveTo>
                  <a:pt x="66854" y="268450"/>
                </a:moveTo>
                <a:cubicBezTo>
                  <a:pt x="65708" y="265519"/>
                  <a:pt x="64817" y="263097"/>
                  <a:pt x="63798" y="260676"/>
                </a:cubicBezTo>
                <a:cubicBezTo>
                  <a:pt x="63798" y="264075"/>
                  <a:pt x="64817" y="266666"/>
                  <a:pt x="66854" y="268450"/>
                </a:cubicBezTo>
                <a:moveTo>
                  <a:pt x="68000" y="231616"/>
                </a:moveTo>
                <a:cubicBezTo>
                  <a:pt x="66854" y="231107"/>
                  <a:pt x="65708" y="229450"/>
                  <a:pt x="64562" y="231234"/>
                </a:cubicBezTo>
                <a:cubicBezTo>
                  <a:pt x="63416" y="233274"/>
                  <a:pt x="65963" y="233656"/>
                  <a:pt x="66727" y="234931"/>
                </a:cubicBezTo>
                <a:cubicBezTo>
                  <a:pt x="66982" y="235313"/>
                  <a:pt x="67491" y="235567"/>
                  <a:pt x="67873" y="235822"/>
                </a:cubicBezTo>
                <a:cubicBezTo>
                  <a:pt x="67873" y="234420"/>
                  <a:pt x="70929" y="233018"/>
                  <a:pt x="67873" y="231616"/>
                </a:cubicBezTo>
                <a:lnTo>
                  <a:pt x="68000" y="231616"/>
                </a:lnTo>
                <a:moveTo>
                  <a:pt x="83918" y="294706"/>
                </a:moveTo>
                <a:cubicBezTo>
                  <a:pt x="83918" y="293304"/>
                  <a:pt x="85956" y="292411"/>
                  <a:pt x="84300" y="290500"/>
                </a:cubicBezTo>
                <a:cubicBezTo>
                  <a:pt x="82772" y="288588"/>
                  <a:pt x="81244" y="286422"/>
                  <a:pt x="80480" y="283873"/>
                </a:cubicBezTo>
                <a:cubicBezTo>
                  <a:pt x="79588" y="281323"/>
                  <a:pt x="82390" y="279284"/>
                  <a:pt x="81371" y="276863"/>
                </a:cubicBezTo>
                <a:cubicBezTo>
                  <a:pt x="76957" y="276607"/>
                  <a:pt x="72882" y="278053"/>
                  <a:pt x="69147" y="281196"/>
                </a:cubicBezTo>
                <a:cubicBezTo>
                  <a:pt x="69911" y="284127"/>
                  <a:pt x="72075" y="286549"/>
                  <a:pt x="72075" y="289735"/>
                </a:cubicBezTo>
                <a:cubicBezTo>
                  <a:pt x="74622" y="289225"/>
                  <a:pt x="72712" y="285147"/>
                  <a:pt x="76150" y="285020"/>
                </a:cubicBezTo>
                <a:cubicBezTo>
                  <a:pt x="78442" y="288206"/>
                  <a:pt x="79716" y="292795"/>
                  <a:pt x="83918" y="294833"/>
                </a:cubicBezTo>
                <a:lnTo>
                  <a:pt x="83918" y="294706"/>
                </a:lnTo>
                <a:moveTo>
                  <a:pt x="84045" y="294961"/>
                </a:moveTo>
                <a:cubicBezTo>
                  <a:pt x="82263" y="297000"/>
                  <a:pt x="79843" y="299166"/>
                  <a:pt x="84300" y="301206"/>
                </a:cubicBezTo>
                <a:cubicBezTo>
                  <a:pt x="86210" y="299931"/>
                  <a:pt x="85064" y="297510"/>
                  <a:pt x="86592" y="295980"/>
                </a:cubicBezTo>
                <a:cubicBezTo>
                  <a:pt x="86974" y="295598"/>
                  <a:pt x="85064" y="295215"/>
                  <a:pt x="84045" y="294961"/>
                </a:cubicBezTo>
                <a:moveTo>
                  <a:pt x="91559" y="268196"/>
                </a:moveTo>
                <a:cubicBezTo>
                  <a:pt x="85319" y="269215"/>
                  <a:pt x="90413" y="263990"/>
                  <a:pt x="88248" y="262843"/>
                </a:cubicBezTo>
                <a:cubicBezTo>
                  <a:pt x="87102" y="263608"/>
                  <a:pt x="86338" y="264754"/>
                  <a:pt x="85701" y="266029"/>
                </a:cubicBezTo>
                <a:cubicBezTo>
                  <a:pt x="85064" y="267686"/>
                  <a:pt x="83664" y="268578"/>
                  <a:pt x="82135" y="269470"/>
                </a:cubicBezTo>
                <a:cubicBezTo>
                  <a:pt x="80480" y="270363"/>
                  <a:pt x="82135" y="271254"/>
                  <a:pt x="82390" y="272147"/>
                </a:cubicBezTo>
                <a:cubicBezTo>
                  <a:pt x="82899" y="273803"/>
                  <a:pt x="83791" y="273421"/>
                  <a:pt x="84809" y="272529"/>
                </a:cubicBezTo>
                <a:cubicBezTo>
                  <a:pt x="87738" y="269725"/>
                  <a:pt x="88502" y="272147"/>
                  <a:pt x="89267" y="274314"/>
                </a:cubicBezTo>
                <a:cubicBezTo>
                  <a:pt x="89649" y="275460"/>
                  <a:pt x="86847" y="276607"/>
                  <a:pt x="89139" y="277500"/>
                </a:cubicBezTo>
                <a:cubicBezTo>
                  <a:pt x="90412" y="278009"/>
                  <a:pt x="91813" y="276990"/>
                  <a:pt x="92832" y="275843"/>
                </a:cubicBezTo>
                <a:cubicBezTo>
                  <a:pt x="93978" y="274441"/>
                  <a:pt x="92832" y="267814"/>
                  <a:pt x="91559" y="268068"/>
                </a:cubicBezTo>
                <a:lnTo>
                  <a:pt x="91559" y="268196"/>
                </a:lnTo>
                <a:moveTo>
                  <a:pt x="94742" y="252774"/>
                </a:moveTo>
                <a:cubicBezTo>
                  <a:pt x="94742" y="252774"/>
                  <a:pt x="94233" y="251755"/>
                  <a:pt x="93469" y="250353"/>
                </a:cubicBezTo>
                <a:cubicBezTo>
                  <a:pt x="92577" y="251372"/>
                  <a:pt x="91813" y="252009"/>
                  <a:pt x="91431" y="252774"/>
                </a:cubicBezTo>
                <a:cubicBezTo>
                  <a:pt x="90922" y="254177"/>
                  <a:pt x="89012" y="255323"/>
                  <a:pt x="90413" y="257108"/>
                </a:cubicBezTo>
                <a:cubicBezTo>
                  <a:pt x="90795" y="257490"/>
                  <a:pt x="91686" y="257999"/>
                  <a:pt x="91686" y="257999"/>
                </a:cubicBezTo>
                <a:cubicBezTo>
                  <a:pt x="93087" y="256470"/>
                  <a:pt x="96143" y="255833"/>
                  <a:pt x="94615" y="252774"/>
                </a:cubicBezTo>
                <a:lnTo>
                  <a:pt x="94742" y="252774"/>
                </a:lnTo>
                <a:moveTo>
                  <a:pt x="103147" y="274185"/>
                </a:moveTo>
                <a:cubicBezTo>
                  <a:pt x="103147" y="275333"/>
                  <a:pt x="104038" y="276098"/>
                  <a:pt x="103147" y="277882"/>
                </a:cubicBezTo>
                <a:cubicBezTo>
                  <a:pt x="101873" y="280558"/>
                  <a:pt x="99199" y="284255"/>
                  <a:pt x="104038" y="287824"/>
                </a:cubicBezTo>
                <a:cubicBezTo>
                  <a:pt x="103274" y="281196"/>
                  <a:pt x="110023" y="282216"/>
                  <a:pt x="113079" y="277627"/>
                </a:cubicBezTo>
                <a:cubicBezTo>
                  <a:pt x="108368" y="279794"/>
                  <a:pt x="107222" y="277245"/>
                  <a:pt x="106330" y="274314"/>
                </a:cubicBezTo>
                <a:cubicBezTo>
                  <a:pt x="108622" y="274569"/>
                  <a:pt x="109514" y="272019"/>
                  <a:pt x="111297" y="271509"/>
                </a:cubicBezTo>
                <a:cubicBezTo>
                  <a:pt x="114735" y="270363"/>
                  <a:pt x="113716" y="268578"/>
                  <a:pt x="112825" y="266412"/>
                </a:cubicBezTo>
                <a:cubicBezTo>
                  <a:pt x="112570" y="265774"/>
                  <a:pt x="112825" y="264881"/>
                  <a:pt x="112825" y="263990"/>
                </a:cubicBezTo>
                <a:cubicBezTo>
                  <a:pt x="111678" y="263990"/>
                  <a:pt x="110660" y="264245"/>
                  <a:pt x="110405" y="262205"/>
                </a:cubicBezTo>
                <a:cubicBezTo>
                  <a:pt x="110023" y="259019"/>
                  <a:pt x="107986" y="257108"/>
                  <a:pt x="104547" y="257235"/>
                </a:cubicBezTo>
                <a:cubicBezTo>
                  <a:pt x="106458" y="260294"/>
                  <a:pt x="104802" y="263863"/>
                  <a:pt x="105948" y="267176"/>
                </a:cubicBezTo>
                <a:cubicBezTo>
                  <a:pt x="106203" y="267941"/>
                  <a:pt x="105566" y="268834"/>
                  <a:pt x="104675" y="268961"/>
                </a:cubicBezTo>
                <a:cubicBezTo>
                  <a:pt x="103019" y="268961"/>
                  <a:pt x="102765" y="267176"/>
                  <a:pt x="100727" y="266156"/>
                </a:cubicBezTo>
                <a:cubicBezTo>
                  <a:pt x="103529" y="272656"/>
                  <a:pt x="95634" y="273803"/>
                  <a:pt x="94615" y="279029"/>
                </a:cubicBezTo>
                <a:cubicBezTo>
                  <a:pt x="98308" y="278009"/>
                  <a:pt x="99581" y="274568"/>
                  <a:pt x="102765" y="274185"/>
                </a:cubicBezTo>
                <a:lnTo>
                  <a:pt x="103147" y="274185"/>
                </a:lnTo>
                <a:moveTo>
                  <a:pt x="116900" y="256725"/>
                </a:moveTo>
                <a:cubicBezTo>
                  <a:pt x="117664" y="256343"/>
                  <a:pt x="120210" y="255833"/>
                  <a:pt x="118046" y="254304"/>
                </a:cubicBezTo>
                <a:cubicBezTo>
                  <a:pt x="117027" y="253666"/>
                  <a:pt x="115117" y="255450"/>
                  <a:pt x="113716" y="253411"/>
                </a:cubicBezTo>
                <a:cubicBezTo>
                  <a:pt x="112443" y="251626"/>
                  <a:pt x="113589" y="248695"/>
                  <a:pt x="110660" y="247421"/>
                </a:cubicBezTo>
                <a:cubicBezTo>
                  <a:pt x="109386" y="250224"/>
                  <a:pt x="110023" y="252646"/>
                  <a:pt x="111424" y="255195"/>
                </a:cubicBezTo>
                <a:cubicBezTo>
                  <a:pt x="112952" y="257872"/>
                  <a:pt x="113971" y="260676"/>
                  <a:pt x="113334" y="263863"/>
                </a:cubicBezTo>
                <a:cubicBezTo>
                  <a:pt x="114735" y="263479"/>
                  <a:pt x="115371" y="262205"/>
                  <a:pt x="116008" y="261059"/>
                </a:cubicBezTo>
                <a:cubicBezTo>
                  <a:pt x="116772" y="259784"/>
                  <a:pt x="114353" y="257872"/>
                  <a:pt x="116900" y="256725"/>
                </a:cubicBezTo>
                <a:moveTo>
                  <a:pt x="106203" y="299931"/>
                </a:moveTo>
                <a:cubicBezTo>
                  <a:pt x="106458" y="298146"/>
                  <a:pt x="104802" y="295598"/>
                  <a:pt x="107858" y="294833"/>
                </a:cubicBezTo>
                <a:cubicBezTo>
                  <a:pt x="107731" y="293559"/>
                  <a:pt x="107604" y="292157"/>
                  <a:pt x="107222" y="288971"/>
                </a:cubicBezTo>
                <a:cubicBezTo>
                  <a:pt x="105694" y="293942"/>
                  <a:pt x="102001" y="292793"/>
                  <a:pt x="99326" y="294324"/>
                </a:cubicBezTo>
                <a:cubicBezTo>
                  <a:pt x="100218" y="296617"/>
                  <a:pt x="103147" y="295853"/>
                  <a:pt x="103401" y="297128"/>
                </a:cubicBezTo>
                <a:cubicBezTo>
                  <a:pt x="103783" y="299039"/>
                  <a:pt x="103783" y="300313"/>
                  <a:pt x="106075" y="299931"/>
                </a:cubicBezTo>
                <a:lnTo>
                  <a:pt x="106203" y="299931"/>
                </a:lnTo>
                <a:moveTo>
                  <a:pt x="113971" y="298146"/>
                </a:moveTo>
                <a:cubicBezTo>
                  <a:pt x="113971" y="298146"/>
                  <a:pt x="114098" y="297510"/>
                  <a:pt x="113971" y="297510"/>
                </a:cubicBezTo>
                <a:cubicBezTo>
                  <a:pt x="112315" y="296490"/>
                  <a:pt x="110023" y="297000"/>
                  <a:pt x="108750" y="295344"/>
                </a:cubicBezTo>
                <a:cubicBezTo>
                  <a:pt x="108750" y="295215"/>
                  <a:pt x="108368" y="295088"/>
                  <a:pt x="108113" y="295088"/>
                </a:cubicBezTo>
                <a:cubicBezTo>
                  <a:pt x="108113" y="297382"/>
                  <a:pt x="109769" y="298784"/>
                  <a:pt x="110787" y="300568"/>
                </a:cubicBezTo>
                <a:cubicBezTo>
                  <a:pt x="111679" y="302097"/>
                  <a:pt x="111424" y="303117"/>
                  <a:pt x="109641" y="303500"/>
                </a:cubicBezTo>
                <a:cubicBezTo>
                  <a:pt x="110532" y="304902"/>
                  <a:pt x="111297" y="306304"/>
                  <a:pt x="112315" y="308088"/>
                </a:cubicBezTo>
                <a:cubicBezTo>
                  <a:pt x="113079" y="306432"/>
                  <a:pt x="114225" y="305157"/>
                  <a:pt x="114480" y="303628"/>
                </a:cubicBezTo>
                <a:cubicBezTo>
                  <a:pt x="114607" y="301843"/>
                  <a:pt x="112315" y="300313"/>
                  <a:pt x="113971" y="298275"/>
                </a:cubicBezTo>
                <a:lnTo>
                  <a:pt x="113971" y="298146"/>
                </a:lnTo>
                <a:moveTo>
                  <a:pt x="117409" y="280049"/>
                </a:moveTo>
                <a:cubicBezTo>
                  <a:pt x="117918" y="284509"/>
                  <a:pt x="113461" y="287058"/>
                  <a:pt x="111806" y="291902"/>
                </a:cubicBezTo>
                <a:cubicBezTo>
                  <a:pt x="117664" y="287823"/>
                  <a:pt x="119531" y="283873"/>
                  <a:pt x="117409" y="280049"/>
                </a:cubicBezTo>
                <a:moveTo>
                  <a:pt x="119828" y="239646"/>
                </a:moveTo>
                <a:cubicBezTo>
                  <a:pt x="120083" y="238882"/>
                  <a:pt x="120083" y="237862"/>
                  <a:pt x="120465" y="237225"/>
                </a:cubicBezTo>
                <a:cubicBezTo>
                  <a:pt x="121993" y="234803"/>
                  <a:pt x="122375" y="234803"/>
                  <a:pt x="118810" y="234549"/>
                </a:cubicBezTo>
                <a:cubicBezTo>
                  <a:pt x="115117" y="234293"/>
                  <a:pt x="115117" y="228303"/>
                  <a:pt x="111806" y="225754"/>
                </a:cubicBezTo>
                <a:cubicBezTo>
                  <a:pt x="110023" y="224352"/>
                  <a:pt x="112697" y="222312"/>
                  <a:pt x="113079" y="220401"/>
                </a:cubicBezTo>
                <a:cubicBezTo>
                  <a:pt x="113334" y="219126"/>
                  <a:pt x="115244" y="218361"/>
                  <a:pt x="114098" y="216705"/>
                </a:cubicBezTo>
                <a:cubicBezTo>
                  <a:pt x="111424" y="212881"/>
                  <a:pt x="114607" y="208675"/>
                  <a:pt x="113079" y="204597"/>
                </a:cubicBezTo>
                <a:cubicBezTo>
                  <a:pt x="112315" y="202686"/>
                  <a:pt x="114735" y="202303"/>
                  <a:pt x="116518" y="202175"/>
                </a:cubicBezTo>
                <a:cubicBezTo>
                  <a:pt x="115371" y="197715"/>
                  <a:pt x="114225" y="193253"/>
                  <a:pt x="114480" y="188538"/>
                </a:cubicBezTo>
                <a:cubicBezTo>
                  <a:pt x="114480" y="187645"/>
                  <a:pt x="112952" y="186116"/>
                  <a:pt x="112315" y="187646"/>
                </a:cubicBezTo>
                <a:cubicBezTo>
                  <a:pt x="109641" y="193509"/>
                  <a:pt x="109641" y="186244"/>
                  <a:pt x="108240" y="186754"/>
                </a:cubicBezTo>
                <a:cubicBezTo>
                  <a:pt x="106585" y="190067"/>
                  <a:pt x="107349" y="192998"/>
                  <a:pt x="110023" y="195166"/>
                </a:cubicBezTo>
                <a:cubicBezTo>
                  <a:pt x="111678" y="196440"/>
                  <a:pt x="112188" y="198224"/>
                  <a:pt x="111297" y="199499"/>
                </a:cubicBezTo>
                <a:cubicBezTo>
                  <a:pt x="109896" y="201538"/>
                  <a:pt x="110405" y="203959"/>
                  <a:pt x="109004" y="205744"/>
                </a:cubicBezTo>
                <a:cubicBezTo>
                  <a:pt x="107094" y="208166"/>
                  <a:pt x="104038" y="211352"/>
                  <a:pt x="105948" y="213774"/>
                </a:cubicBezTo>
                <a:cubicBezTo>
                  <a:pt x="109514" y="218490"/>
                  <a:pt x="104038" y="219381"/>
                  <a:pt x="103656" y="222185"/>
                </a:cubicBezTo>
                <a:cubicBezTo>
                  <a:pt x="103401" y="223714"/>
                  <a:pt x="104420" y="225499"/>
                  <a:pt x="105184" y="226901"/>
                </a:cubicBezTo>
                <a:cubicBezTo>
                  <a:pt x="108113" y="233018"/>
                  <a:pt x="113461" y="236969"/>
                  <a:pt x="118810" y="240920"/>
                </a:cubicBezTo>
                <a:cubicBezTo>
                  <a:pt x="119192" y="240284"/>
                  <a:pt x="119701" y="240029"/>
                  <a:pt x="119828" y="239518"/>
                </a:cubicBezTo>
                <a:lnTo>
                  <a:pt x="119828" y="239646"/>
                </a:lnTo>
                <a:moveTo>
                  <a:pt x="119956" y="245127"/>
                </a:moveTo>
                <a:lnTo>
                  <a:pt x="125049" y="245127"/>
                </a:lnTo>
                <a:cubicBezTo>
                  <a:pt x="123776" y="241940"/>
                  <a:pt x="128360" y="240411"/>
                  <a:pt x="128233" y="236969"/>
                </a:cubicBezTo>
                <a:cubicBezTo>
                  <a:pt x="123139" y="237862"/>
                  <a:pt x="122757" y="241940"/>
                  <a:pt x="120083" y="245127"/>
                </a:cubicBezTo>
                <a:lnTo>
                  <a:pt x="119956" y="245127"/>
                </a:lnTo>
                <a:moveTo>
                  <a:pt x="129252" y="356392"/>
                </a:moveTo>
                <a:cubicBezTo>
                  <a:pt x="127086" y="352824"/>
                  <a:pt x="125941" y="350657"/>
                  <a:pt x="124540" y="348619"/>
                </a:cubicBezTo>
                <a:cubicBezTo>
                  <a:pt x="123903" y="347726"/>
                  <a:pt x="122885" y="347217"/>
                  <a:pt x="121993" y="346706"/>
                </a:cubicBezTo>
                <a:cubicBezTo>
                  <a:pt x="121739" y="346579"/>
                  <a:pt x="121102" y="347088"/>
                  <a:pt x="120720" y="347344"/>
                </a:cubicBezTo>
                <a:cubicBezTo>
                  <a:pt x="120592" y="347344"/>
                  <a:pt x="120592" y="348108"/>
                  <a:pt x="120720" y="348108"/>
                </a:cubicBezTo>
                <a:cubicBezTo>
                  <a:pt x="124540" y="349255"/>
                  <a:pt x="123776" y="354736"/>
                  <a:pt x="129379" y="356265"/>
                </a:cubicBezTo>
                <a:lnTo>
                  <a:pt x="129252" y="356392"/>
                </a:lnTo>
                <a:moveTo>
                  <a:pt x="132818" y="312167"/>
                </a:moveTo>
                <a:cubicBezTo>
                  <a:pt x="130270" y="310255"/>
                  <a:pt x="130653" y="308726"/>
                  <a:pt x="132563" y="306686"/>
                </a:cubicBezTo>
                <a:cubicBezTo>
                  <a:pt x="133581" y="305666"/>
                  <a:pt x="132563" y="305284"/>
                  <a:pt x="131798" y="305157"/>
                </a:cubicBezTo>
                <a:cubicBezTo>
                  <a:pt x="131289" y="305157"/>
                  <a:pt x="130780" y="305157"/>
                  <a:pt x="130270" y="305157"/>
                </a:cubicBezTo>
                <a:cubicBezTo>
                  <a:pt x="127215" y="310383"/>
                  <a:pt x="127342" y="310383"/>
                  <a:pt x="132307" y="316501"/>
                </a:cubicBezTo>
                <a:cubicBezTo>
                  <a:pt x="134473" y="313569"/>
                  <a:pt x="134600" y="313314"/>
                  <a:pt x="132818" y="312039"/>
                </a:cubicBezTo>
                <a:lnTo>
                  <a:pt x="132818" y="312167"/>
                </a:lnTo>
                <a:moveTo>
                  <a:pt x="135109" y="290245"/>
                </a:moveTo>
                <a:cubicBezTo>
                  <a:pt x="134090" y="287442"/>
                  <a:pt x="134473" y="284891"/>
                  <a:pt x="135109" y="282216"/>
                </a:cubicBezTo>
                <a:cubicBezTo>
                  <a:pt x="135618" y="279794"/>
                  <a:pt x="133836" y="279538"/>
                  <a:pt x="131926" y="279794"/>
                </a:cubicBezTo>
                <a:cubicBezTo>
                  <a:pt x="134600" y="276990"/>
                  <a:pt x="130907" y="276225"/>
                  <a:pt x="130397" y="274441"/>
                </a:cubicBezTo>
                <a:cubicBezTo>
                  <a:pt x="129125" y="274441"/>
                  <a:pt x="127724" y="274441"/>
                  <a:pt x="126450" y="274696"/>
                </a:cubicBezTo>
                <a:cubicBezTo>
                  <a:pt x="125431" y="274951"/>
                  <a:pt x="124158" y="275843"/>
                  <a:pt x="124285" y="276863"/>
                </a:cubicBezTo>
                <a:cubicBezTo>
                  <a:pt x="124413" y="278265"/>
                  <a:pt x="125431" y="279284"/>
                  <a:pt x="127215" y="279029"/>
                </a:cubicBezTo>
                <a:cubicBezTo>
                  <a:pt x="126705" y="280558"/>
                  <a:pt x="125304" y="281960"/>
                  <a:pt x="127215" y="283491"/>
                </a:cubicBezTo>
                <a:cubicBezTo>
                  <a:pt x="129125" y="285147"/>
                  <a:pt x="129888" y="288206"/>
                  <a:pt x="128487" y="289608"/>
                </a:cubicBezTo>
                <a:cubicBezTo>
                  <a:pt x="123649" y="294706"/>
                  <a:pt x="130143" y="299422"/>
                  <a:pt x="128233" y="304264"/>
                </a:cubicBezTo>
                <a:cubicBezTo>
                  <a:pt x="128996" y="304519"/>
                  <a:pt x="129634" y="304648"/>
                  <a:pt x="130397" y="304902"/>
                </a:cubicBezTo>
                <a:cubicBezTo>
                  <a:pt x="130270" y="302226"/>
                  <a:pt x="132309" y="299931"/>
                  <a:pt x="131289" y="296873"/>
                </a:cubicBezTo>
                <a:cubicBezTo>
                  <a:pt x="130908" y="295726"/>
                  <a:pt x="131162" y="292411"/>
                  <a:pt x="133199" y="292029"/>
                </a:cubicBezTo>
                <a:cubicBezTo>
                  <a:pt x="134855" y="291775"/>
                  <a:pt x="136000" y="292029"/>
                  <a:pt x="135364" y="290118"/>
                </a:cubicBezTo>
                <a:lnTo>
                  <a:pt x="135109" y="290245"/>
                </a:lnTo>
                <a:moveTo>
                  <a:pt x="141986" y="366716"/>
                </a:moveTo>
                <a:cubicBezTo>
                  <a:pt x="139694" y="363403"/>
                  <a:pt x="137530" y="359834"/>
                  <a:pt x="135873" y="354099"/>
                </a:cubicBezTo>
                <a:cubicBezTo>
                  <a:pt x="134855" y="361619"/>
                  <a:pt x="136256" y="365442"/>
                  <a:pt x="141986" y="366716"/>
                </a:cubicBezTo>
                <a:moveTo>
                  <a:pt x="144788" y="329245"/>
                </a:moveTo>
                <a:cubicBezTo>
                  <a:pt x="144532" y="326951"/>
                  <a:pt x="146315" y="327843"/>
                  <a:pt x="147461" y="327461"/>
                </a:cubicBezTo>
                <a:cubicBezTo>
                  <a:pt x="146698" y="325422"/>
                  <a:pt x="144915" y="325167"/>
                  <a:pt x="143514" y="326187"/>
                </a:cubicBezTo>
                <a:cubicBezTo>
                  <a:pt x="141859" y="327334"/>
                  <a:pt x="138802" y="328991"/>
                  <a:pt x="140076" y="330775"/>
                </a:cubicBezTo>
                <a:cubicBezTo>
                  <a:pt x="142113" y="333962"/>
                  <a:pt x="142749" y="328226"/>
                  <a:pt x="144915" y="329245"/>
                </a:cubicBezTo>
                <a:lnTo>
                  <a:pt x="144788" y="329245"/>
                </a:lnTo>
                <a:moveTo>
                  <a:pt x="152682" y="327589"/>
                </a:moveTo>
                <a:cubicBezTo>
                  <a:pt x="151919" y="330138"/>
                  <a:pt x="149882" y="331540"/>
                  <a:pt x="147589" y="332814"/>
                </a:cubicBezTo>
                <a:cubicBezTo>
                  <a:pt x="149753" y="334216"/>
                  <a:pt x="151663" y="337657"/>
                  <a:pt x="154465" y="334598"/>
                </a:cubicBezTo>
                <a:cubicBezTo>
                  <a:pt x="156884" y="331922"/>
                  <a:pt x="154465" y="329627"/>
                  <a:pt x="152555" y="327716"/>
                </a:cubicBezTo>
                <a:lnTo>
                  <a:pt x="152682" y="327589"/>
                </a:lnTo>
                <a:moveTo>
                  <a:pt x="162870" y="268705"/>
                </a:moveTo>
                <a:cubicBezTo>
                  <a:pt x="165416" y="269725"/>
                  <a:pt x="165799" y="269343"/>
                  <a:pt x="165672" y="268068"/>
                </a:cubicBezTo>
                <a:cubicBezTo>
                  <a:pt x="165416" y="262205"/>
                  <a:pt x="164907" y="256343"/>
                  <a:pt x="164526" y="250353"/>
                </a:cubicBezTo>
                <a:cubicBezTo>
                  <a:pt x="168218" y="247421"/>
                  <a:pt x="167709" y="251499"/>
                  <a:pt x="168727" y="253028"/>
                </a:cubicBezTo>
                <a:cubicBezTo>
                  <a:pt x="170765" y="250226"/>
                  <a:pt x="171019" y="247166"/>
                  <a:pt x="169874" y="243853"/>
                </a:cubicBezTo>
                <a:cubicBezTo>
                  <a:pt x="169492" y="242705"/>
                  <a:pt x="170765" y="241813"/>
                  <a:pt x="172038" y="241685"/>
                </a:cubicBezTo>
                <a:cubicBezTo>
                  <a:pt x="173185" y="241685"/>
                  <a:pt x="174203" y="241686"/>
                  <a:pt x="173694" y="243597"/>
                </a:cubicBezTo>
                <a:cubicBezTo>
                  <a:pt x="172930" y="246529"/>
                  <a:pt x="173694" y="247548"/>
                  <a:pt x="176496" y="245637"/>
                </a:cubicBezTo>
                <a:cubicBezTo>
                  <a:pt x="177259" y="245127"/>
                  <a:pt x="178151" y="245000"/>
                  <a:pt x="178788" y="245637"/>
                </a:cubicBezTo>
                <a:cubicBezTo>
                  <a:pt x="179424" y="246402"/>
                  <a:pt x="178533" y="247038"/>
                  <a:pt x="178024" y="247675"/>
                </a:cubicBezTo>
                <a:cubicBezTo>
                  <a:pt x="175604" y="250480"/>
                  <a:pt x="178278" y="249842"/>
                  <a:pt x="179678" y="250097"/>
                </a:cubicBezTo>
                <a:cubicBezTo>
                  <a:pt x="180316" y="248313"/>
                  <a:pt x="181971" y="247038"/>
                  <a:pt x="181461" y="244871"/>
                </a:cubicBezTo>
                <a:cubicBezTo>
                  <a:pt x="181207" y="243469"/>
                  <a:pt x="181717" y="242195"/>
                  <a:pt x="183244" y="241685"/>
                </a:cubicBezTo>
                <a:cubicBezTo>
                  <a:pt x="184645" y="243853"/>
                  <a:pt x="187447" y="245382"/>
                  <a:pt x="186682" y="248695"/>
                </a:cubicBezTo>
                <a:cubicBezTo>
                  <a:pt x="190376" y="245127"/>
                  <a:pt x="190376" y="243470"/>
                  <a:pt x="186428" y="241813"/>
                </a:cubicBezTo>
                <a:cubicBezTo>
                  <a:pt x="185537" y="241431"/>
                  <a:pt x="184390" y="241558"/>
                  <a:pt x="183371" y="241558"/>
                </a:cubicBezTo>
                <a:cubicBezTo>
                  <a:pt x="183754" y="240793"/>
                  <a:pt x="184009" y="240029"/>
                  <a:pt x="184390" y="239391"/>
                </a:cubicBezTo>
                <a:cubicBezTo>
                  <a:pt x="185664" y="237225"/>
                  <a:pt x="186938" y="235185"/>
                  <a:pt x="188848" y="239136"/>
                </a:cubicBezTo>
                <a:cubicBezTo>
                  <a:pt x="189102" y="239773"/>
                  <a:pt x="190122" y="240666"/>
                  <a:pt x="190758" y="240538"/>
                </a:cubicBezTo>
                <a:cubicBezTo>
                  <a:pt x="192159" y="240284"/>
                  <a:pt x="191776" y="238882"/>
                  <a:pt x="191903" y="237862"/>
                </a:cubicBezTo>
                <a:cubicBezTo>
                  <a:pt x="192032" y="236587"/>
                  <a:pt x="191903" y="236078"/>
                  <a:pt x="193813" y="235440"/>
                </a:cubicBezTo>
                <a:cubicBezTo>
                  <a:pt x="198271" y="234038"/>
                  <a:pt x="200435" y="236715"/>
                  <a:pt x="203237" y="238754"/>
                </a:cubicBezTo>
                <a:cubicBezTo>
                  <a:pt x="206294" y="240920"/>
                  <a:pt x="207822" y="243853"/>
                  <a:pt x="206038" y="247421"/>
                </a:cubicBezTo>
                <a:cubicBezTo>
                  <a:pt x="205020" y="249588"/>
                  <a:pt x="207439" y="250353"/>
                  <a:pt x="207439" y="251882"/>
                </a:cubicBezTo>
                <a:cubicBezTo>
                  <a:pt x="205529" y="252137"/>
                  <a:pt x="204765" y="250607"/>
                  <a:pt x="203364" y="249715"/>
                </a:cubicBezTo>
                <a:cubicBezTo>
                  <a:pt x="202091" y="248823"/>
                  <a:pt x="201963" y="252519"/>
                  <a:pt x="199799" y="251755"/>
                </a:cubicBezTo>
                <a:cubicBezTo>
                  <a:pt x="198907" y="251372"/>
                  <a:pt x="198016" y="250735"/>
                  <a:pt x="197124" y="250226"/>
                </a:cubicBezTo>
                <a:cubicBezTo>
                  <a:pt x="197124" y="255195"/>
                  <a:pt x="197762" y="259657"/>
                  <a:pt x="204128" y="260421"/>
                </a:cubicBezTo>
                <a:cubicBezTo>
                  <a:pt x="204128" y="260166"/>
                  <a:pt x="204001" y="259911"/>
                  <a:pt x="204001" y="259657"/>
                </a:cubicBezTo>
                <a:cubicBezTo>
                  <a:pt x="204001" y="257744"/>
                  <a:pt x="201073" y="256725"/>
                  <a:pt x="201709" y="255961"/>
                </a:cubicBezTo>
                <a:cubicBezTo>
                  <a:pt x="202983" y="254431"/>
                  <a:pt x="205147" y="253284"/>
                  <a:pt x="207439" y="253411"/>
                </a:cubicBezTo>
                <a:cubicBezTo>
                  <a:pt x="207057" y="256343"/>
                  <a:pt x="208713" y="259530"/>
                  <a:pt x="205656" y="261950"/>
                </a:cubicBezTo>
                <a:cubicBezTo>
                  <a:pt x="206421" y="267686"/>
                  <a:pt x="208713" y="272529"/>
                  <a:pt x="211386" y="277627"/>
                </a:cubicBezTo>
                <a:cubicBezTo>
                  <a:pt x="215207" y="284637"/>
                  <a:pt x="219791" y="292157"/>
                  <a:pt x="218136" y="301206"/>
                </a:cubicBezTo>
                <a:cubicBezTo>
                  <a:pt x="218008" y="302099"/>
                  <a:pt x="219155" y="304010"/>
                  <a:pt x="219537" y="304010"/>
                </a:cubicBezTo>
                <a:cubicBezTo>
                  <a:pt x="225395" y="303117"/>
                  <a:pt x="224503" y="308599"/>
                  <a:pt x="226668" y="311147"/>
                </a:cubicBezTo>
                <a:cubicBezTo>
                  <a:pt x="228959" y="313952"/>
                  <a:pt x="228323" y="316372"/>
                  <a:pt x="225268" y="318157"/>
                </a:cubicBezTo>
                <a:cubicBezTo>
                  <a:pt x="222466" y="319814"/>
                  <a:pt x="222466" y="322618"/>
                  <a:pt x="223611" y="324912"/>
                </a:cubicBezTo>
                <a:cubicBezTo>
                  <a:pt x="224630" y="326951"/>
                  <a:pt x="227178" y="328353"/>
                  <a:pt x="223740" y="330393"/>
                </a:cubicBezTo>
                <a:cubicBezTo>
                  <a:pt x="224630" y="331285"/>
                  <a:pt x="223740" y="334216"/>
                  <a:pt x="226795" y="332942"/>
                </a:cubicBezTo>
                <a:cubicBezTo>
                  <a:pt x="228451" y="332176"/>
                  <a:pt x="230615" y="329373"/>
                  <a:pt x="232399" y="333578"/>
                </a:cubicBezTo>
                <a:cubicBezTo>
                  <a:pt x="228959" y="334980"/>
                  <a:pt x="225268" y="336255"/>
                  <a:pt x="220810" y="336638"/>
                </a:cubicBezTo>
                <a:cubicBezTo>
                  <a:pt x="223229" y="340844"/>
                  <a:pt x="224758" y="344668"/>
                  <a:pt x="225139" y="349001"/>
                </a:cubicBezTo>
                <a:cubicBezTo>
                  <a:pt x="228196" y="347599"/>
                  <a:pt x="227305" y="345304"/>
                  <a:pt x="227687" y="343520"/>
                </a:cubicBezTo>
                <a:cubicBezTo>
                  <a:pt x="228069" y="341735"/>
                  <a:pt x="226795" y="339697"/>
                  <a:pt x="228705" y="338167"/>
                </a:cubicBezTo>
                <a:cubicBezTo>
                  <a:pt x="230615" y="338804"/>
                  <a:pt x="228450" y="341608"/>
                  <a:pt x="231125" y="341991"/>
                </a:cubicBezTo>
                <a:cubicBezTo>
                  <a:pt x="232399" y="339824"/>
                  <a:pt x="234182" y="337784"/>
                  <a:pt x="234691" y="335363"/>
                </a:cubicBezTo>
                <a:cubicBezTo>
                  <a:pt x="235836" y="329883"/>
                  <a:pt x="237747" y="333196"/>
                  <a:pt x="239657" y="334598"/>
                </a:cubicBezTo>
                <a:cubicBezTo>
                  <a:pt x="240293" y="335109"/>
                  <a:pt x="240675" y="335236"/>
                  <a:pt x="240930" y="334726"/>
                </a:cubicBezTo>
                <a:cubicBezTo>
                  <a:pt x="241949" y="333069"/>
                  <a:pt x="238638" y="331285"/>
                  <a:pt x="240930" y="329627"/>
                </a:cubicBezTo>
                <a:cubicBezTo>
                  <a:pt x="242714" y="330393"/>
                  <a:pt x="243859" y="331667"/>
                  <a:pt x="243477" y="333578"/>
                </a:cubicBezTo>
                <a:cubicBezTo>
                  <a:pt x="242714" y="336893"/>
                  <a:pt x="245769" y="339315"/>
                  <a:pt x="245133" y="342628"/>
                </a:cubicBezTo>
                <a:cubicBezTo>
                  <a:pt x="244878" y="344413"/>
                  <a:pt x="247934" y="342246"/>
                  <a:pt x="248061" y="344030"/>
                </a:cubicBezTo>
                <a:cubicBezTo>
                  <a:pt x="248061" y="345304"/>
                  <a:pt x="247424" y="347471"/>
                  <a:pt x="246534" y="347726"/>
                </a:cubicBezTo>
                <a:cubicBezTo>
                  <a:pt x="242968" y="349001"/>
                  <a:pt x="243350" y="351804"/>
                  <a:pt x="243350" y="354481"/>
                </a:cubicBezTo>
                <a:cubicBezTo>
                  <a:pt x="246405" y="355373"/>
                  <a:pt x="248315" y="356775"/>
                  <a:pt x="248953" y="360599"/>
                </a:cubicBezTo>
                <a:cubicBezTo>
                  <a:pt x="249462" y="363912"/>
                  <a:pt x="250481" y="367354"/>
                  <a:pt x="250481" y="371305"/>
                </a:cubicBezTo>
                <a:cubicBezTo>
                  <a:pt x="252009" y="369393"/>
                  <a:pt x="253155" y="368245"/>
                  <a:pt x="254810" y="367609"/>
                </a:cubicBezTo>
                <a:cubicBezTo>
                  <a:pt x="256084" y="367099"/>
                  <a:pt x="257485" y="365825"/>
                  <a:pt x="256338" y="364423"/>
                </a:cubicBezTo>
                <a:cubicBezTo>
                  <a:pt x="255447" y="363403"/>
                  <a:pt x="254556" y="365187"/>
                  <a:pt x="253665" y="365570"/>
                </a:cubicBezTo>
                <a:cubicBezTo>
                  <a:pt x="252137" y="366334"/>
                  <a:pt x="252009" y="365187"/>
                  <a:pt x="251626" y="364167"/>
                </a:cubicBezTo>
                <a:cubicBezTo>
                  <a:pt x="249462" y="359070"/>
                  <a:pt x="249972" y="353588"/>
                  <a:pt x="249972" y="348364"/>
                </a:cubicBezTo>
                <a:cubicBezTo>
                  <a:pt x="249972" y="344667"/>
                  <a:pt x="250481" y="344413"/>
                  <a:pt x="255193" y="345942"/>
                </a:cubicBezTo>
                <a:cubicBezTo>
                  <a:pt x="255702" y="343010"/>
                  <a:pt x="251499" y="342628"/>
                  <a:pt x="251755" y="339824"/>
                </a:cubicBezTo>
                <a:cubicBezTo>
                  <a:pt x="252009" y="337147"/>
                  <a:pt x="251755" y="334344"/>
                  <a:pt x="249845" y="332687"/>
                </a:cubicBezTo>
                <a:cubicBezTo>
                  <a:pt x="246534" y="329883"/>
                  <a:pt x="252009" y="328991"/>
                  <a:pt x="250735" y="326442"/>
                </a:cubicBezTo>
                <a:cubicBezTo>
                  <a:pt x="248315" y="321598"/>
                  <a:pt x="251117" y="317774"/>
                  <a:pt x="254174" y="314206"/>
                </a:cubicBezTo>
                <a:cubicBezTo>
                  <a:pt x="255957" y="312167"/>
                  <a:pt x="256211" y="306432"/>
                  <a:pt x="254174" y="306048"/>
                </a:cubicBezTo>
                <a:cubicBezTo>
                  <a:pt x="250354" y="305412"/>
                  <a:pt x="251626" y="303628"/>
                  <a:pt x="252518" y="302097"/>
                </a:cubicBezTo>
                <a:cubicBezTo>
                  <a:pt x="254937" y="297637"/>
                  <a:pt x="257103" y="293176"/>
                  <a:pt x="256976" y="287951"/>
                </a:cubicBezTo>
                <a:cubicBezTo>
                  <a:pt x="254937" y="287440"/>
                  <a:pt x="253536" y="289353"/>
                  <a:pt x="251626" y="289608"/>
                </a:cubicBezTo>
                <a:cubicBezTo>
                  <a:pt x="249462" y="289862"/>
                  <a:pt x="246661" y="288460"/>
                  <a:pt x="247297" y="286931"/>
                </a:cubicBezTo>
                <a:cubicBezTo>
                  <a:pt x="249462" y="281323"/>
                  <a:pt x="243986" y="283491"/>
                  <a:pt x="242585" y="281706"/>
                </a:cubicBezTo>
                <a:cubicBezTo>
                  <a:pt x="243350" y="279667"/>
                  <a:pt x="245896" y="278519"/>
                  <a:pt x="245005" y="275970"/>
                </a:cubicBezTo>
                <a:cubicBezTo>
                  <a:pt x="243350" y="275843"/>
                  <a:pt x="241949" y="276863"/>
                  <a:pt x="240421" y="277372"/>
                </a:cubicBezTo>
                <a:cubicBezTo>
                  <a:pt x="238383" y="278009"/>
                  <a:pt x="236092" y="279029"/>
                  <a:pt x="234691" y="276225"/>
                </a:cubicBezTo>
                <a:cubicBezTo>
                  <a:pt x="231252" y="274185"/>
                  <a:pt x="230360" y="270617"/>
                  <a:pt x="229215" y="267048"/>
                </a:cubicBezTo>
                <a:cubicBezTo>
                  <a:pt x="228832" y="265647"/>
                  <a:pt x="225395" y="267048"/>
                  <a:pt x="226286" y="264499"/>
                </a:cubicBezTo>
                <a:cubicBezTo>
                  <a:pt x="226922" y="262715"/>
                  <a:pt x="228323" y="261186"/>
                  <a:pt x="229342" y="259528"/>
                </a:cubicBezTo>
                <a:cubicBezTo>
                  <a:pt x="230233" y="258255"/>
                  <a:pt x="231889" y="258637"/>
                  <a:pt x="233162" y="258255"/>
                </a:cubicBezTo>
                <a:cubicBezTo>
                  <a:pt x="234563" y="257872"/>
                  <a:pt x="234563" y="256852"/>
                  <a:pt x="233544" y="255833"/>
                </a:cubicBezTo>
                <a:cubicBezTo>
                  <a:pt x="233035" y="255323"/>
                  <a:pt x="232143" y="254177"/>
                  <a:pt x="232272" y="254177"/>
                </a:cubicBezTo>
                <a:cubicBezTo>
                  <a:pt x="237874" y="249077"/>
                  <a:pt x="232908" y="247421"/>
                  <a:pt x="229470" y="245127"/>
                </a:cubicBezTo>
                <a:cubicBezTo>
                  <a:pt x="227814" y="247804"/>
                  <a:pt x="227432" y="250608"/>
                  <a:pt x="229088" y="253539"/>
                </a:cubicBezTo>
                <a:cubicBezTo>
                  <a:pt x="229724" y="254686"/>
                  <a:pt x="229724" y="256343"/>
                  <a:pt x="227941" y="256979"/>
                </a:cubicBezTo>
                <a:cubicBezTo>
                  <a:pt x="226540" y="257362"/>
                  <a:pt x="225139" y="257235"/>
                  <a:pt x="224249" y="255833"/>
                </a:cubicBezTo>
                <a:cubicBezTo>
                  <a:pt x="222211" y="252901"/>
                  <a:pt x="220556" y="249715"/>
                  <a:pt x="218008" y="247039"/>
                </a:cubicBezTo>
                <a:cubicBezTo>
                  <a:pt x="215589" y="244489"/>
                  <a:pt x="214443" y="240793"/>
                  <a:pt x="212916" y="237607"/>
                </a:cubicBezTo>
                <a:cubicBezTo>
                  <a:pt x="211896" y="235440"/>
                  <a:pt x="213425" y="234803"/>
                  <a:pt x="215208" y="234166"/>
                </a:cubicBezTo>
                <a:cubicBezTo>
                  <a:pt x="216863" y="233529"/>
                  <a:pt x="217754" y="234166"/>
                  <a:pt x="218900" y="235058"/>
                </a:cubicBezTo>
                <a:cubicBezTo>
                  <a:pt x="221065" y="236715"/>
                  <a:pt x="221192" y="235185"/>
                  <a:pt x="220556" y="233656"/>
                </a:cubicBezTo>
                <a:cubicBezTo>
                  <a:pt x="220047" y="232382"/>
                  <a:pt x="220556" y="232127"/>
                  <a:pt x="221192" y="231107"/>
                </a:cubicBezTo>
                <a:cubicBezTo>
                  <a:pt x="222466" y="229067"/>
                  <a:pt x="223994" y="225116"/>
                  <a:pt x="223230" y="224352"/>
                </a:cubicBezTo>
                <a:cubicBezTo>
                  <a:pt x="220047" y="221421"/>
                  <a:pt x="222720" y="218744"/>
                  <a:pt x="222720" y="216068"/>
                </a:cubicBezTo>
                <a:cubicBezTo>
                  <a:pt x="220174" y="216577"/>
                  <a:pt x="219282" y="219509"/>
                  <a:pt x="216607" y="220146"/>
                </a:cubicBezTo>
                <a:cubicBezTo>
                  <a:pt x="215971" y="220274"/>
                  <a:pt x="215589" y="222312"/>
                  <a:pt x="217499" y="222058"/>
                </a:cubicBezTo>
                <a:cubicBezTo>
                  <a:pt x="219155" y="221803"/>
                  <a:pt x="219664" y="222567"/>
                  <a:pt x="219282" y="223714"/>
                </a:cubicBezTo>
                <a:cubicBezTo>
                  <a:pt x="218900" y="224989"/>
                  <a:pt x="217245" y="225627"/>
                  <a:pt x="218136" y="227411"/>
                </a:cubicBezTo>
                <a:cubicBezTo>
                  <a:pt x="219155" y="229450"/>
                  <a:pt x="218390" y="229578"/>
                  <a:pt x="216353" y="229196"/>
                </a:cubicBezTo>
                <a:cubicBezTo>
                  <a:pt x="213679" y="228685"/>
                  <a:pt x="213042" y="227665"/>
                  <a:pt x="212024" y="224862"/>
                </a:cubicBezTo>
                <a:cubicBezTo>
                  <a:pt x="211005" y="221803"/>
                  <a:pt x="213042" y="219127"/>
                  <a:pt x="211386" y="216577"/>
                </a:cubicBezTo>
                <a:cubicBezTo>
                  <a:pt x="207185" y="217597"/>
                  <a:pt x="210623" y="223078"/>
                  <a:pt x="206930" y="224480"/>
                </a:cubicBezTo>
                <a:cubicBezTo>
                  <a:pt x="206294" y="224734"/>
                  <a:pt x="206421" y="225499"/>
                  <a:pt x="207439" y="225881"/>
                </a:cubicBezTo>
                <a:cubicBezTo>
                  <a:pt x="207695" y="227794"/>
                  <a:pt x="211769" y="222058"/>
                  <a:pt x="210368" y="227029"/>
                </a:cubicBezTo>
                <a:cubicBezTo>
                  <a:pt x="209986" y="228431"/>
                  <a:pt x="211642" y="230469"/>
                  <a:pt x="208713" y="231616"/>
                </a:cubicBezTo>
                <a:cubicBezTo>
                  <a:pt x="206421" y="230087"/>
                  <a:pt x="203619" y="228048"/>
                  <a:pt x="202855" y="225245"/>
                </a:cubicBezTo>
                <a:cubicBezTo>
                  <a:pt x="202218" y="222441"/>
                  <a:pt x="204511" y="218361"/>
                  <a:pt x="198653" y="220656"/>
                </a:cubicBezTo>
                <a:cubicBezTo>
                  <a:pt x="198525" y="216959"/>
                  <a:pt x="195470" y="216323"/>
                  <a:pt x="192922" y="215176"/>
                </a:cubicBezTo>
                <a:cubicBezTo>
                  <a:pt x="192795" y="215176"/>
                  <a:pt x="192923" y="214028"/>
                  <a:pt x="193177" y="213646"/>
                </a:cubicBezTo>
                <a:cubicBezTo>
                  <a:pt x="194578" y="211606"/>
                  <a:pt x="191140" y="210077"/>
                  <a:pt x="192668" y="208293"/>
                </a:cubicBezTo>
                <a:cubicBezTo>
                  <a:pt x="194323" y="208675"/>
                  <a:pt x="195979" y="208930"/>
                  <a:pt x="197507" y="209186"/>
                </a:cubicBezTo>
                <a:cubicBezTo>
                  <a:pt x="197253" y="207783"/>
                  <a:pt x="194578" y="206637"/>
                  <a:pt x="196743" y="205106"/>
                </a:cubicBezTo>
                <a:cubicBezTo>
                  <a:pt x="199290" y="203322"/>
                  <a:pt x="200181" y="206254"/>
                  <a:pt x="200944" y="207528"/>
                </a:cubicBezTo>
                <a:cubicBezTo>
                  <a:pt x="202218" y="209695"/>
                  <a:pt x="200308" y="210205"/>
                  <a:pt x="198525" y="210205"/>
                </a:cubicBezTo>
                <a:cubicBezTo>
                  <a:pt x="198780" y="211861"/>
                  <a:pt x="198780" y="213646"/>
                  <a:pt x="199163" y="215176"/>
                </a:cubicBezTo>
                <a:cubicBezTo>
                  <a:pt x="199799" y="217087"/>
                  <a:pt x="201582" y="217470"/>
                  <a:pt x="203237" y="217343"/>
                </a:cubicBezTo>
                <a:cubicBezTo>
                  <a:pt x="205402" y="217214"/>
                  <a:pt x="206294" y="214793"/>
                  <a:pt x="206165" y="213774"/>
                </a:cubicBezTo>
                <a:cubicBezTo>
                  <a:pt x="205784" y="209313"/>
                  <a:pt x="203492" y="205362"/>
                  <a:pt x="200690" y="201920"/>
                </a:cubicBezTo>
                <a:cubicBezTo>
                  <a:pt x="198780" y="199499"/>
                  <a:pt x="196615" y="203832"/>
                  <a:pt x="194196" y="201155"/>
                </a:cubicBezTo>
                <a:cubicBezTo>
                  <a:pt x="196615" y="198351"/>
                  <a:pt x="193686" y="192871"/>
                  <a:pt x="199163" y="190960"/>
                </a:cubicBezTo>
                <a:cubicBezTo>
                  <a:pt x="203110" y="196695"/>
                  <a:pt x="203237" y="196695"/>
                  <a:pt x="207185" y="195293"/>
                </a:cubicBezTo>
                <a:cubicBezTo>
                  <a:pt x="207185" y="193509"/>
                  <a:pt x="206803" y="192362"/>
                  <a:pt x="204511" y="191851"/>
                </a:cubicBezTo>
                <a:cubicBezTo>
                  <a:pt x="201073" y="191087"/>
                  <a:pt x="200817" y="187900"/>
                  <a:pt x="200435" y="185096"/>
                </a:cubicBezTo>
                <a:cubicBezTo>
                  <a:pt x="200181" y="182676"/>
                  <a:pt x="199417" y="179743"/>
                  <a:pt x="202983" y="178979"/>
                </a:cubicBezTo>
                <a:cubicBezTo>
                  <a:pt x="205147" y="180636"/>
                  <a:pt x="202601" y="183567"/>
                  <a:pt x="204638" y="185224"/>
                </a:cubicBezTo>
                <a:cubicBezTo>
                  <a:pt x="205275" y="185734"/>
                  <a:pt x="205911" y="186498"/>
                  <a:pt x="206803" y="185734"/>
                </a:cubicBezTo>
                <a:cubicBezTo>
                  <a:pt x="207185" y="185351"/>
                  <a:pt x="207949" y="184587"/>
                  <a:pt x="207949" y="184587"/>
                </a:cubicBezTo>
                <a:cubicBezTo>
                  <a:pt x="205147" y="181400"/>
                  <a:pt x="207312" y="177832"/>
                  <a:pt x="206676" y="174518"/>
                </a:cubicBezTo>
                <a:cubicBezTo>
                  <a:pt x="206548" y="173626"/>
                  <a:pt x="204638" y="172734"/>
                  <a:pt x="203364" y="172352"/>
                </a:cubicBezTo>
                <a:cubicBezTo>
                  <a:pt x="201327" y="171714"/>
                  <a:pt x="202474" y="173626"/>
                  <a:pt x="202218" y="174263"/>
                </a:cubicBezTo>
                <a:cubicBezTo>
                  <a:pt x="200563" y="178342"/>
                  <a:pt x="199163" y="178596"/>
                  <a:pt x="196488" y="175410"/>
                </a:cubicBezTo>
                <a:cubicBezTo>
                  <a:pt x="194832" y="173499"/>
                  <a:pt x="194705" y="170057"/>
                  <a:pt x="189230" y="169548"/>
                </a:cubicBezTo>
                <a:cubicBezTo>
                  <a:pt x="194451" y="173499"/>
                  <a:pt x="191012" y="176812"/>
                  <a:pt x="191394" y="179871"/>
                </a:cubicBezTo>
                <a:cubicBezTo>
                  <a:pt x="191903" y="183694"/>
                  <a:pt x="192286" y="187263"/>
                  <a:pt x="189993" y="190449"/>
                </a:cubicBezTo>
                <a:cubicBezTo>
                  <a:pt x="187956" y="193382"/>
                  <a:pt x="188848" y="197715"/>
                  <a:pt x="185282" y="199753"/>
                </a:cubicBezTo>
                <a:cubicBezTo>
                  <a:pt x="178915" y="195802"/>
                  <a:pt x="188975" y="190449"/>
                  <a:pt x="184009" y="186371"/>
                </a:cubicBezTo>
                <a:cubicBezTo>
                  <a:pt x="184009" y="186371"/>
                  <a:pt x="184390" y="185478"/>
                  <a:pt x="184772" y="185224"/>
                </a:cubicBezTo>
                <a:cubicBezTo>
                  <a:pt x="185155" y="184842"/>
                  <a:pt x="185791" y="184714"/>
                  <a:pt x="186300" y="184460"/>
                </a:cubicBezTo>
                <a:cubicBezTo>
                  <a:pt x="187192" y="183949"/>
                  <a:pt x="188210" y="183312"/>
                  <a:pt x="189102" y="182676"/>
                </a:cubicBezTo>
                <a:cubicBezTo>
                  <a:pt x="187320" y="181400"/>
                  <a:pt x="185791" y="180254"/>
                  <a:pt x="184009" y="178979"/>
                </a:cubicBezTo>
                <a:cubicBezTo>
                  <a:pt x="183117" y="180509"/>
                  <a:pt x="182099" y="181783"/>
                  <a:pt x="181334" y="183312"/>
                </a:cubicBezTo>
                <a:cubicBezTo>
                  <a:pt x="180698" y="184460"/>
                  <a:pt x="180061" y="184969"/>
                  <a:pt x="178788" y="184460"/>
                </a:cubicBezTo>
                <a:cubicBezTo>
                  <a:pt x="177641" y="183949"/>
                  <a:pt x="177770" y="181273"/>
                  <a:pt x="175858" y="182676"/>
                </a:cubicBezTo>
                <a:cubicBezTo>
                  <a:pt x="174840" y="183440"/>
                  <a:pt x="177259" y="185351"/>
                  <a:pt x="175477" y="186244"/>
                </a:cubicBezTo>
                <a:cubicBezTo>
                  <a:pt x="172547" y="187646"/>
                  <a:pt x="171656" y="189940"/>
                  <a:pt x="171529" y="193253"/>
                </a:cubicBezTo>
                <a:lnTo>
                  <a:pt x="177387" y="193253"/>
                </a:lnTo>
                <a:cubicBezTo>
                  <a:pt x="177005" y="192489"/>
                  <a:pt x="176750" y="191980"/>
                  <a:pt x="176496" y="191469"/>
                </a:cubicBezTo>
                <a:cubicBezTo>
                  <a:pt x="175604" y="190195"/>
                  <a:pt x="174840" y="189175"/>
                  <a:pt x="176877" y="188156"/>
                </a:cubicBezTo>
                <a:cubicBezTo>
                  <a:pt x="178278" y="187518"/>
                  <a:pt x="179424" y="187136"/>
                  <a:pt x="179807" y="189302"/>
                </a:cubicBezTo>
                <a:cubicBezTo>
                  <a:pt x="180061" y="190960"/>
                  <a:pt x="181717" y="192999"/>
                  <a:pt x="181207" y="194018"/>
                </a:cubicBezTo>
                <a:cubicBezTo>
                  <a:pt x="179297" y="197842"/>
                  <a:pt x="181717" y="199881"/>
                  <a:pt x="184009" y="201793"/>
                </a:cubicBezTo>
                <a:cubicBezTo>
                  <a:pt x="185028" y="202686"/>
                  <a:pt x="186682" y="203195"/>
                  <a:pt x="186682" y="204724"/>
                </a:cubicBezTo>
                <a:cubicBezTo>
                  <a:pt x="186682" y="206126"/>
                  <a:pt x="187956" y="209440"/>
                  <a:pt x="184136" y="207910"/>
                </a:cubicBezTo>
                <a:cubicBezTo>
                  <a:pt x="180443" y="211734"/>
                  <a:pt x="180189" y="202686"/>
                  <a:pt x="176750" y="205999"/>
                </a:cubicBezTo>
                <a:cubicBezTo>
                  <a:pt x="175731" y="204088"/>
                  <a:pt x="177132" y="202813"/>
                  <a:pt x="177768" y="201284"/>
                </a:cubicBezTo>
                <a:cubicBezTo>
                  <a:pt x="178151" y="200264"/>
                  <a:pt x="178533" y="199117"/>
                  <a:pt x="177641" y="198097"/>
                </a:cubicBezTo>
                <a:cubicBezTo>
                  <a:pt x="175731" y="198606"/>
                  <a:pt x="176113" y="201666"/>
                  <a:pt x="173567" y="201538"/>
                </a:cubicBezTo>
                <a:cubicBezTo>
                  <a:pt x="173312" y="197460"/>
                  <a:pt x="171444" y="195802"/>
                  <a:pt x="167964" y="196567"/>
                </a:cubicBezTo>
                <a:cubicBezTo>
                  <a:pt x="169109" y="199117"/>
                  <a:pt x="170128" y="201666"/>
                  <a:pt x="171402" y="204852"/>
                </a:cubicBezTo>
                <a:cubicBezTo>
                  <a:pt x="166054" y="204852"/>
                  <a:pt x="162361" y="207401"/>
                  <a:pt x="158667" y="209950"/>
                </a:cubicBezTo>
                <a:cubicBezTo>
                  <a:pt x="157522" y="210715"/>
                  <a:pt x="155866" y="210842"/>
                  <a:pt x="154720" y="209695"/>
                </a:cubicBezTo>
                <a:cubicBezTo>
                  <a:pt x="153702" y="208675"/>
                  <a:pt x="154592" y="207655"/>
                  <a:pt x="155230" y="206764"/>
                </a:cubicBezTo>
                <a:cubicBezTo>
                  <a:pt x="156121" y="205489"/>
                  <a:pt x="155612" y="204597"/>
                  <a:pt x="154338" y="204215"/>
                </a:cubicBezTo>
                <a:cubicBezTo>
                  <a:pt x="153446" y="203832"/>
                  <a:pt x="152810" y="204597"/>
                  <a:pt x="152173" y="205235"/>
                </a:cubicBezTo>
                <a:cubicBezTo>
                  <a:pt x="151409" y="205999"/>
                  <a:pt x="150900" y="207019"/>
                  <a:pt x="149499" y="206637"/>
                </a:cubicBezTo>
                <a:cubicBezTo>
                  <a:pt x="148735" y="204597"/>
                  <a:pt x="146825" y="202048"/>
                  <a:pt x="147461" y="200391"/>
                </a:cubicBezTo>
                <a:cubicBezTo>
                  <a:pt x="149371" y="195293"/>
                  <a:pt x="145042" y="195548"/>
                  <a:pt x="142878" y="193636"/>
                </a:cubicBezTo>
                <a:cubicBezTo>
                  <a:pt x="140585" y="191724"/>
                  <a:pt x="138039" y="194655"/>
                  <a:pt x="135873" y="192998"/>
                </a:cubicBezTo>
                <a:cubicBezTo>
                  <a:pt x="136510" y="190831"/>
                  <a:pt x="138166" y="189685"/>
                  <a:pt x="139440" y="188283"/>
                </a:cubicBezTo>
                <a:cubicBezTo>
                  <a:pt x="140203" y="187391"/>
                  <a:pt x="140076" y="187263"/>
                  <a:pt x="137019" y="186754"/>
                </a:cubicBezTo>
                <a:cubicBezTo>
                  <a:pt x="136256" y="187773"/>
                  <a:pt x="135491" y="188920"/>
                  <a:pt x="134600" y="189940"/>
                </a:cubicBezTo>
                <a:cubicBezTo>
                  <a:pt x="132733" y="192404"/>
                  <a:pt x="132945" y="195335"/>
                  <a:pt x="135237" y="198733"/>
                </a:cubicBezTo>
                <a:cubicBezTo>
                  <a:pt x="135237" y="201155"/>
                  <a:pt x="136256" y="203068"/>
                  <a:pt x="137911" y="205106"/>
                </a:cubicBezTo>
                <a:cubicBezTo>
                  <a:pt x="138675" y="201920"/>
                  <a:pt x="141477" y="202175"/>
                  <a:pt x="143769" y="201666"/>
                </a:cubicBezTo>
                <a:cubicBezTo>
                  <a:pt x="145679" y="202940"/>
                  <a:pt x="146952" y="204342"/>
                  <a:pt x="144023" y="205744"/>
                </a:cubicBezTo>
                <a:cubicBezTo>
                  <a:pt x="142495" y="206508"/>
                  <a:pt x="141986" y="207401"/>
                  <a:pt x="142240" y="208930"/>
                </a:cubicBezTo>
                <a:cubicBezTo>
                  <a:pt x="146698" y="209313"/>
                  <a:pt x="146698" y="209313"/>
                  <a:pt x="146442" y="212881"/>
                </a:cubicBezTo>
                <a:cubicBezTo>
                  <a:pt x="148353" y="212881"/>
                  <a:pt x="149499" y="210459"/>
                  <a:pt x="152046" y="211352"/>
                </a:cubicBezTo>
                <a:cubicBezTo>
                  <a:pt x="152810" y="215812"/>
                  <a:pt x="153829" y="220401"/>
                  <a:pt x="156503" y="224352"/>
                </a:cubicBezTo>
                <a:cubicBezTo>
                  <a:pt x="157140" y="225372"/>
                  <a:pt x="157904" y="226263"/>
                  <a:pt x="156503" y="227283"/>
                </a:cubicBezTo>
                <a:cubicBezTo>
                  <a:pt x="151536" y="230852"/>
                  <a:pt x="157013" y="230598"/>
                  <a:pt x="158413" y="231999"/>
                </a:cubicBezTo>
                <a:cubicBezTo>
                  <a:pt x="156248" y="233656"/>
                  <a:pt x="154083" y="235185"/>
                  <a:pt x="152173" y="236587"/>
                </a:cubicBezTo>
                <a:cubicBezTo>
                  <a:pt x="148353" y="234549"/>
                  <a:pt x="149499" y="229450"/>
                  <a:pt x="145679" y="227921"/>
                </a:cubicBezTo>
                <a:cubicBezTo>
                  <a:pt x="146315" y="230598"/>
                  <a:pt x="142240" y="231745"/>
                  <a:pt x="143259" y="234420"/>
                </a:cubicBezTo>
                <a:cubicBezTo>
                  <a:pt x="144023" y="236460"/>
                  <a:pt x="144788" y="238371"/>
                  <a:pt x="142368" y="239518"/>
                </a:cubicBezTo>
                <a:cubicBezTo>
                  <a:pt x="139311" y="241049"/>
                  <a:pt x="143514" y="243597"/>
                  <a:pt x="141221" y="245382"/>
                </a:cubicBezTo>
                <a:cubicBezTo>
                  <a:pt x="139821" y="246529"/>
                  <a:pt x="139057" y="249333"/>
                  <a:pt x="136638" y="247931"/>
                </a:cubicBezTo>
                <a:cubicBezTo>
                  <a:pt x="134728" y="246911"/>
                  <a:pt x="136765" y="245637"/>
                  <a:pt x="137401" y="244617"/>
                </a:cubicBezTo>
                <a:cubicBezTo>
                  <a:pt x="138166" y="243215"/>
                  <a:pt x="137147" y="242451"/>
                  <a:pt x="136383" y="241813"/>
                </a:cubicBezTo>
                <a:cubicBezTo>
                  <a:pt x="134473" y="240284"/>
                  <a:pt x="133327" y="238627"/>
                  <a:pt x="134727" y="236078"/>
                </a:cubicBezTo>
                <a:cubicBezTo>
                  <a:pt x="134727" y="235951"/>
                  <a:pt x="134090" y="235058"/>
                  <a:pt x="133708" y="235058"/>
                </a:cubicBezTo>
                <a:cubicBezTo>
                  <a:pt x="133327" y="235058"/>
                  <a:pt x="132690" y="235440"/>
                  <a:pt x="132436" y="235822"/>
                </a:cubicBezTo>
                <a:cubicBezTo>
                  <a:pt x="132180" y="236205"/>
                  <a:pt x="132053" y="236842"/>
                  <a:pt x="131926" y="237352"/>
                </a:cubicBezTo>
                <a:cubicBezTo>
                  <a:pt x="130780" y="243470"/>
                  <a:pt x="134727" y="250353"/>
                  <a:pt x="129125" y="255833"/>
                </a:cubicBezTo>
                <a:cubicBezTo>
                  <a:pt x="130526" y="256979"/>
                  <a:pt x="132436" y="259528"/>
                  <a:pt x="133072" y="259146"/>
                </a:cubicBezTo>
                <a:cubicBezTo>
                  <a:pt x="136638" y="257617"/>
                  <a:pt x="137147" y="251499"/>
                  <a:pt x="142878" y="252646"/>
                </a:cubicBezTo>
                <a:cubicBezTo>
                  <a:pt x="143514" y="252774"/>
                  <a:pt x="143641" y="251244"/>
                  <a:pt x="143005" y="250480"/>
                </a:cubicBezTo>
                <a:cubicBezTo>
                  <a:pt x="142113" y="249206"/>
                  <a:pt x="141477" y="247675"/>
                  <a:pt x="142622" y="246657"/>
                </a:cubicBezTo>
                <a:cubicBezTo>
                  <a:pt x="145170" y="244489"/>
                  <a:pt x="144788" y="241176"/>
                  <a:pt x="145933" y="238117"/>
                </a:cubicBezTo>
                <a:cubicBezTo>
                  <a:pt x="148735" y="241813"/>
                  <a:pt x="151919" y="244873"/>
                  <a:pt x="147843" y="249206"/>
                </a:cubicBezTo>
                <a:cubicBezTo>
                  <a:pt x="149371" y="251372"/>
                  <a:pt x="147716" y="253157"/>
                  <a:pt x="146698" y="254559"/>
                </a:cubicBezTo>
                <a:cubicBezTo>
                  <a:pt x="144659" y="257490"/>
                  <a:pt x="145806" y="257235"/>
                  <a:pt x="148353" y="257235"/>
                </a:cubicBezTo>
                <a:cubicBezTo>
                  <a:pt x="149499" y="257235"/>
                  <a:pt x="150391" y="259019"/>
                  <a:pt x="150391" y="260676"/>
                </a:cubicBezTo>
                <a:cubicBezTo>
                  <a:pt x="150391" y="262588"/>
                  <a:pt x="150391" y="264754"/>
                  <a:pt x="150900" y="266539"/>
                </a:cubicBezTo>
                <a:cubicBezTo>
                  <a:pt x="151409" y="267941"/>
                  <a:pt x="151663" y="270872"/>
                  <a:pt x="154720" y="268832"/>
                </a:cubicBezTo>
                <a:cubicBezTo>
                  <a:pt x="155357" y="268450"/>
                  <a:pt x="156375" y="268832"/>
                  <a:pt x="156503" y="269852"/>
                </a:cubicBezTo>
                <a:cubicBezTo>
                  <a:pt x="156503" y="270234"/>
                  <a:pt x="155993" y="270872"/>
                  <a:pt x="155612" y="271254"/>
                </a:cubicBezTo>
                <a:cubicBezTo>
                  <a:pt x="154720" y="272019"/>
                  <a:pt x="153829" y="272529"/>
                  <a:pt x="152937" y="273167"/>
                </a:cubicBezTo>
                <a:cubicBezTo>
                  <a:pt x="157013" y="274823"/>
                  <a:pt x="158540" y="271765"/>
                  <a:pt x="160195" y="269215"/>
                </a:cubicBezTo>
                <a:cubicBezTo>
                  <a:pt x="160833" y="268323"/>
                  <a:pt x="160833" y="267686"/>
                  <a:pt x="162488" y="268196"/>
                </a:cubicBezTo>
                <a:lnTo>
                  <a:pt x="162870" y="268705"/>
                </a:lnTo>
                <a:moveTo>
                  <a:pt x="139311" y="215176"/>
                </a:moveTo>
                <a:cubicBezTo>
                  <a:pt x="138548" y="217597"/>
                  <a:pt x="140203" y="216323"/>
                  <a:pt x="141350" y="216577"/>
                </a:cubicBezTo>
                <a:cubicBezTo>
                  <a:pt x="143387" y="217087"/>
                  <a:pt x="144023" y="216323"/>
                  <a:pt x="143769" y="214793"/>
                </a:cubicBezTo>
                <a:cubicBezTo>
                  <a:pt x="143514" y="212881"/>
                  <a:pt x="142749" y="211097"/>
                  <a:pt x="142113" y="209313"/>
                </a:cubicBezTo>
                <a:cubicBezTo>
                  <a:pt x="138420" y="209823"/>
                  <a:pt x="139821" y="213136"/>
                  <a:pt x="139184" y="215176"/>
                </a:cubicBezTo>
                <a:lnTo>
                  <a:pt x="139311" y="215176"/>
                </a:lnTo>
                <a:moveTo>
                  <a:pt x="142878" y="225372"/>
                </a:moveTo>
                <a:cubicBezTo>
                  <a:pt x="142878" y="226645"/>
                  <a:pt x="144151" y="227794"/>
                  <a:pt x="145806" y="227921"/>
                </a:cubicBezTo>
                <a:cubicBezTo>
                  <a:pt x="150009" y="225372"/>
                  <a:pt x="150900" y="221421"/>
                  <a:pt x="150263" y="216450"/>
                </a:cubicBezTo>
                <a:cubicBezTo>
                  <a:pt x="148862" y="217979"/>
                  <a:pt x="145424" y="216959"/>
                  <a:pt x="146952" y="220911"/>
                </a:cubicBezTo>
                <a:cubicBezTo>
                  <a:pt x="148099" y="223587"/>
                  <a:pt x="143005" y="222823"/>
                  <a:pt x="142749" y="225245"/>
                </a:cubicBezTo>
                <a:lnTo>
                  <a:pt x="142878" y="225372"/>
                </a:lnTo>
                <a:moveTo>
                  <a:pt x="138166" y="226647"/>
                </a:moveTo>
                <a:cubicBezTo>
                  <a:pt x="136892" y="227283"/>
                  <a:pt x="135746" y="228431"/>
                  <a:pt x="134600" y="229323"/>
                </a:cubicBezTo>
                <a:cubicBezTo>
                  <a:pt x="135109" y="229833"/>
                  <a:pt x="135873" y="231107"/>
                  <a:pt x="136127" y="230980"/>
                </a:cubicBezTo>
                <a:cubicBezTo>
                  <a:pt x="137784" y="230342"/>
                  <a:pt x="139821" y="230215"/>
                  <a:pt x="140076" y="228048"/>
                </a:cubicBezTo>
                <a:cubicBezTo>
                  <a:pt x="139567" y="227029"/>
                  <a:pt x="138802" y="226391"/>
                  <a:pt x="138166" y="226774"/>
                </a:cubicBezTo>
                <a:lnTo>
                  <a:pt x="138166" y="226647"/>
                </a:lnTo>
                <a:moveTo>
                  <a:pt x="249972" y="407883"/>
                </a:moveTo>
                <a:cubicBezTo>
                  <a:pt x="252264" y="409668"/>
                  <a:pt x="254301" y="411070"/>
                  <a:pt x="256466" y="412727"/>
                </a:cubicBezTo>
                <a:cubicBezTo>
                  <a:pt x="256126" y="408903"/>
                  <a:pt x="253962" y="407289"/>
                  <a:pt x="249972" y="407883"/>
                </a:cubicBezTo>
                <a:moveTo>
                  <a:pt x="245005" y="397815"/>
                </a:moveTo>
                <a:cubicBezTo>
                  <a:pt x="245260" y="398452"/>
                  <a:pt x="245642" y="398835"/>
                  <a:pt x="246024" y="398452"/>
                </a:cubicBezTo>
                <a:cubicBezTo>
                  <a:pt x="246405" y="398070"/>
                  <a:pt x="247170" y="397433"/>
                  <a:pt x="247170" y="397306"/>
                </a:cubicBezTo>
                <a:cubicBezTo>
                  <a:pt x="245387" y="394246"/>
                  <a:pt x="248188" y="389275"/>
                  <a:pt x="243350" y="387491"/>
                </a:cubicBezTo>
                <a:cubicBezTo>
                  <a:pt x="243350" y="388256"/>
                  <a:pt x="243604" y="389148"/>
                  <a:pt x="243223" y="389786"/>
                </a:cubicBezTo>
                <a:cubicBezTo>
                  <a:pt x="241057" y="393099"/>
                  <a:pt x="243859" y="395266"/>
                  <a:pt x="245005" y="397815"/>
                </a:cubicBezTo>
                <a:moveTo>
                  <a:pt x="248444" y="379589"/>
                </a:moveTo>
                <a:cubicBezTo>
                  <a:pt x="249716" y="379080"/>
                  <a:pt x="249589" y="377932"/>
                  <a:pt x="248571" y="376913"/>
                </a:cubicBezTo>
                <a:cubicBezTo>
                  <a:pt x="247425" y="375765"/>
                  <a:pt x="246278" y="375256"/>
                  <a:pt x="245005" y="376530"/>
                </a:cubicBezTo>
                <a:cubicBezTo>
                  <a:pt x="243859" y="377549"/>
                  <a:pt x="243986" y="379080"/>
                  <a:pt x="243477" y="380354"/>
                </a:cubicBezTo>
                <a:cubicBezTo>
                  <a:pt x="241949" y="383922"/>
                  <a:pt x="241440" y="384051"/>
                  <a:pt x="236473" y="382393"/>
                </a:cubicBezTo>
                <a:cubicBezTo>
                  <a:pt x="237493" y="386982"/>
                  <a:pt x="237620" y="386982"/>
                  <a:pt x="243095" y="387237"/>
                </a:cubicBezTo>
                <a:cubicBezTo>
                  <a:pt x="243604" y="383795"/>
                  <a:pt x="244878" y="380991"/>
                  <a:pt x="248315" y="379462"/>
                </a:cubicBezTo>
                <a:lnTo>
                  <a:pt x="248444" y="379589"/>
                </a:lnTo>
                <a:moveTo>
                  <a:pt x="234691" y="370285"/>
                </a:moveTo>
                <a:cubicBezTo>
                  <a:pt x="233290" y="370285"/>
                  <a:pt x="231889" y="370540"/>
                  <a:pt x="230615" y="370540"/>
                </a:cubicBezTo>
                <a:cubicBezTo>
                  <a:pt x="227560" y="370540"/>
                  <a:pt x="227432" y="373727"/>
                  <a:pt x="228196" y="374491"/>
                </a:cubicBezTo>
                <a:cubicBezTo>
                  <a:pt x="230615" y="377295"/>
                  <a:pt x="231252" y="382266"/>
                  <a:pt x="236346" y="382138"/>
                </a:cubicBezTo>
                <a:cubicBezTo>
                  <a:pt x="236346" y="378569"/>
                  <a:pt x="236346" y="374874"/>
                  <a:pt x="236219" y="371305"/>
                </a:cubicBezTo>
                <a:cubicBezTo>
                  <a:pt x="237110" y="371305"/>
                  <a:pt x="238002" y="371814"/>
                  <a:pt x="238638" y="371560"/>
                </a:cubicBezTo>
                <a:cubicBezTo>
                  <a:pt x="239530" y="371305"/>
                  <a:pt x="239912" y="370030"/>
                  <a:pt x="239147" y="369647"/>
                </a:cubicBezTo>
                <a:cubicBezTo>
                  <a:pt x="236855" y="368501"/>
                  <a:pt x="236601" y="366461"/>
                  <a:pt x="235836" y="364423"/>
                </a:cubicBezTo>
                <a:cubicBezTo>
                  <a:pt x="234563" y="361108"/>
                  <a:pt x="233417" y="359452"/>
                  <a:pt x="238511" y="360599"/>
                </a:cubicBezTo>
                <a:cubicBezTo>
                  <a:pt x="239784" y="360854"/>
                  <a:pt x="243350" y="358432"/>
                  <a:pt x="243223" y="355119"/>
                </a:cubicBezTo>
                <a:cubicBezTo>
                  <a:pt x="240930" y="355119"/>
                  <a:pt x="238638" y="355119"/>
                  <a:pt x="236346" y="355119"/>
                </a:cubicBezTo>
                <a:cubicBezTo>
                  <a:pt x="238638" y="352824"/>
                  <a:pt x="238341" y="350742"/>
                  <a:pt x="235454" y="348873"/>
                </a:cubicBezTo>
                <a:cubicBezTo>
                  <a:pt x="234182" y="351295"/>
                  <a:pt x="232399" y="353717"/>
                  <a:pt x="233417" y="356775"/>
                </a:cubicBezTo>
                <a:cubicBezTo>
                  <a:pt x="231252" y="358559"/>
                  <a:pt x="233035" y="360854"/>
                  <a:pt x="232526" y="362765"/>
                </a:cubicBezTo>
                <a:cubicBezTo>
                  <a:pt x="232272" y="363785"/>
                  <a:pt x="229597" y="361363"/>
                  <a:pt x="229724" y="364167"/>
                </a:cubicBezTo>
                <a:cubicBezTo>
                  <a:pt x="229724" y="365825"/>
                  <a:pt x="230871" y="366589"/>
                  <a:pt x="232272" y="367227"/>
                </a:cubicBezTo>
                <a:cubicBezTo>
                  <a:pt x="233671" y="367863"/>
                  <a:pt x="234182" y="369265"/>
                  <a:pt x="234818" y="370540"/>
                </a:cubicBezTo>
                <a:lnTo>
                  <a:pt x="234691" y="370285"/>
                </a:lnTo>
                <a:moveTo>
                  <a:pt x="221830" y="373216"/>
                </a:moveTo>
                <a:cubicBezTo>
                  <a:pt x="223230" y="368245"/>
                  <a:pt x="222466" y="364294"/>
                  <a:pt x="221065" y="359961"/>
                </a:cubicBezTo>
                <a:cubicBezTo>
                  <a:pt x="219409" y="362128"/>
                  <a:pt x="216353" y="363403"/>
                  <a:pt x="220174" y="365952"/>
                </a:cubicBezTo>
                <a:cubicBezTo>
                  <a:pt x="222084" y="367354"/>
                  <a:pt x="220301" y="370285"/>
                  <a:pt x="221830" y="373089"/>
                </a:cubicBezTo>
                <a:lnTo>
                  <a:pt x="221830" y="373216"/>
                </a:lnTo>
                <a:moveTo>
                  <a:pt x="194323" y="320834"/>
                </a:moveTo>
                <a:cubicBezTo>
                  <a:pt x="198907" y="318157"/>
                  <a:pt x="202983" y="316245"/>
                  <a:pt x="203619" y="310637"/>
                </a:cubicBezTo>
                <a:cubicBezTo>
                  <a:pt x="202091" y="310510"/>
                  <a:pt x="200944" y="310510"/>
                  <a:pt x="199926" y="310128"/>
                </a:cubicBezTo>
                <a:cubicBezTo>
                  <a:pt x="198907" y="309745"/>
                  <a:pt x="198016" y="309108"/>
                  <a:pt x="197124" y="308599"/>
                </a:cubicBezTo>
                <a:cubicBezTo>
                  <a:pt x="196233" y="312294"/>
                  <a:pt x="195343" y="316118"/>
                  <a:pt x="194323" y="320707"/>
                </a:cubicBezTo>
                <a:lnTo>
                  <a:pt x="194323" y="320834"/>
                </a:lnTo>
                <a:moveTo>
                  <a:pt x="209605" y="299166"/>
                </a:moveTo>
                <a:cubicBezTo>
                  <a:pt x="211132" y="296490"/>
                  <a:pt x="213297" y="294069"/>
                  <a:pt x="211515" y="290755"/>
                </a:cubicBezTo>
                <a:cubicBezTo>
                  <a:pt x="208204" y="291137"/>
                  <a:pt x="205274" y="292539"/>
                  <a:pt x="202218" y="294578"/>
                </a:cubicBezTo>
                <a:cubicBezTo>
                  <a:pt x="204128" y="298019"/>
                  <a:pt x="207184" y="298275"/>
                  <a:pt x="209732" y="299166"/>
                </a:cubicBezTo>
                <a:lnTo>
                  <a:pt x="209605" y="299166"/>
                </a:lnTo>
                <a:moveTo>
                  <a:pt x="202983" y="319049"/>
                </a:moveTo>
                <a:cubicBezTo>
                  <a:pt x="206548" y="317137"/>
                  <a:pt x="208458" y="316245"/>
                  <a:pt x="210241" y="315225"/>
                </a:cubicBezTo>
                <a:cubicBezTo>
                  <a:pt x="213425" y="313441"/>
                  <a:pt x="211005" y="312294"/>
                  <a:pt x="209476" y="310765"/>
                </a:cubicBezTo>
                <a:cubicBezTo>
                  <a:pt x="207695" y="313059"/>
                  <a:pt x="205911" y="315352"/>
                  <a:pt x="202983" y="319049"/>
                </a:cubicBezTo>
                <a:moveTo>
                  <a:pt x="208967" y="322236"/>
                </a:moveTo>
                <a:cubicBezTo>
                  <a:pt x="209222" y="325167"/>
                  <a:pt x="210368" y="327716"/>
                  <a:pt x="213042" y="329118"/>
                </a:cubicBezTo>
                <a:cubicBezTo>
                  <a:pt x="214188" y="329627"/>
                  <a:pt x="215207" y="329118"/>
                  <a:pt x="215717" y="327716"/>
                </a:cubicBezTo>
                <a:cubicBezTo>
                  <a:pt x="215971" y="326823"/>
                  <a:pt x="215207" y="326187"/>
                  <a:pt x="214570" y="325932"/>
                </a:cubicBezTo>
                <a:cubicBezTo>
                  <a:pt x="212660" y="325167"/>
                  <a:pt x="212024" y="323892"/>
                  <a:pt x="212151" y="321981"/>
                </a:cubicBezTo>
                <a:cubicBezTo>
                  <a:pt x="212151" y="320578"/>
                  <a:pt x="212406" y="318794"/>
                  <a:pt x="210241" y="319432"/>
                </a:cubicBezTo>
                <a:cubicBezTo>
                  <a:pt x="209222" y="319687"/>
                  <a:pt x="208967" y="321216"/>
                  <a:pt x="208967" y="322363"/>
                </a:cubicBezTo>
                <a:lnTo>
                  <a:pt x="208967" y="322236"/>
                </a:lnTo>
                <a:moveTo>
                  <a:pt x="213679" y="359579"/>
                </a:moveTo>
                <a:cubicBezTo>
                  <a:pt x="213679" y="359579"/>
                  <a:pt x="214826" y="359452"/>
                  <a:pt x="215080" y="359070"/>
                </a:cubicBezTo>
                <a:cubicBezTo>
                  <a:pt x="216098" y="357285"/>
                  <a:pt x="216353" y="355373"/>
                  <a:pt x="214697" y="353844"/>
                </a:cubicBezTo>
                <a:cubicBezTo>
                  <a:pt x="214443" y="353588"/>
                  <a:pt x="213552" y="353844"/>
                  <a:pt x="213297" y="353972"/>
                </a:cubicBezTo>
                <a:cubicBezTo>
                  <a:pt x="212787" y="354354"/>
                  <a:pt x="213298" y="359579"/>
                  <a:pt x="213679" y="359579"/>
                </a:cubicBezTo>
                <a:moveTo>
                  <a:pt x="220301" y="318285"/>
                </a:moveTo>
                <a:cubicBezTo>
                  <a:pt x="222211" y="315098"/>
                  <a:pt x="217881" y="313059"/>
                  <a:pt x="220047" y="310510"/>
                </a:cubicBezTo>
                <a:cubicBezTo>
                  <a:pt x="220683" y="309617"/>
                  <a:pt x="220301" y="308853"/>
                  <a:pt x="219537" y="308599"/>
                </a:cubicBezTo>
                <a:cubicBezTo>
                  <a:pt x="216607" y="307706"/>
                  <a:pt x="214443" y="306177"/>
                  <a:pt x="214826" y="302608"/>
                </a:cubicBezTo>
                <a:cubicBezTo>
                  <a:pt x="214826" y="302481"/>
                  <a:pt x="213425" y="301843"/>
                  <a:pt x="212660" y="301843"/>
                </a:cubicBezTo>
                <a:cubicBezTo>
                  <a:pt x="211897" y="301843"/>
                  <a:pt x="210623" y="302481"/>
                  <a:pt x="211642" y="303373"/>
                </a:cubicBezTo>
                <a:cubicBezTo>
                  <a:pt x="213807" y="305284"/>
                  <a:pt x="210623" y="310383"/>
                  <a:pt x="215844" y="310383"/>
                </a:cubicBezTo>
                <a:cubicBezTo>
                  <a:pt x="216736" y="310383"/>
                  <a:pt x="216863" y="311274"/>
                  <a:pt x="216480" y="312294"/>
                </a:cubicBezTo>
                <a:cubicBezTo>
                  <a:pt x="214570" y="316245"/>
                  <a:pt x="217499" y="317138"/>
                  <a:pt x="220301" y="318285"/>
                </a:cubicBezTo>
                <a:moveTo>
                  <a:pt x="193431" y="251499"/>
                </a:moveTo>
                <a:cubicBezTo>
                  <a:pt x="195087" y="250990"/>
                  <a:pt x="196106" y="250608"/>
                  <a:pt x="196997" y="250353"/>
                </a:cubicBezTo>
                <a:cubicBezTo>
                  <a:pt x="197507" y="247039"/>
                  <a:pt x="198144" y="243724"/>
                  <a:pt x="198525" y="240284"/>
                </a:cubicBezTo>
                <a:cubicBezTo>
                  <a:pt x="198525" y="239519"/>
                  <a:pt x="198016" y="238627"/>
                  <a:pt x="196997" y="238627"/>
                </a:cubicBezTo>
                <a:cubicBezTo>
                  <a:pt x="196488" y="238627"/>
                  <a:pt x="195852" y="238882"/>
                  <a:pt x="195470" y="239136"/>
                </a:cubicBezTo>
                <a:cubicBezTo>
                  <a:pt x="194578" y="240156"/>
                  <a:pt x="193304" y="241303"/>
                  <a:pt x="194196" y="242705"/>
                </a:cubicBezTo>
                <a:cubicBezTo>
                  <a:pt x="196233" y="245637"/>
                  <a:pt x="194705" y="248313"/>
                  <a:pt x="193304" y="251499"/>
                </a:cubicBezTo>
                <a:lnTo>
                  <a:pt x="193431" y="251499"/>
                </a:lnTo>
                <a:moveTo>
                  <a:pt x="172547" y="255706"/>
                </a:moveTo>
                <a:cubicBezTo>
                  <a:pt x="169365" y="255706"/>
                  <a:pt x="166945" y="259274"/>
                  <a:pt x="167072" y="259401"/>
                </a:cubicBezTo>
                <a:cubicBezTo>
                  <a:pt x="169747" y="261823"/>
                  <a:pt x="168982" y="265901"/>
                  <a:pt x="171657" y="268068"/>
                </a:cubicBezTo>
                <a:cubicBezTo>
                  <a:pt x="172676" y="268832"/>
                  <a:pt x="173312" y="267686"/>
                  <a:pt x="173312" y="267303"/>
                </a:cubicBezTo>
                <a:cubicBezTo>
                  <a:pt x="173566" y="265774"/>
                  <a:pt x="173948" y="263225"/>
                  <a:pt x="173312" y="262843"/>
                </a:cubicBezTo>
                <a:cubicBezTo>
                  <a:pt x="169619" y="260930"/>
                  <a:pt x="172676" y="258382"/>
                  <a:pt x="172293" y="255577"/>
                </a:cubicBezTo>
                <a:lnTo>
                  <a:pt x="172547" y="255706"/>
                </a:lnTo>
                <a:moveTo>
                  <a:pt x="164526" y="288460"/>
                </a:moveTo>
                <a:cubicBezTo>
                  <a:pt x="164526" y="291264"/>
                  <a:pt x="166563" y="291520"/>
                  <a:pt x="168600" y="291775"/>
                </a:cubicBezTo>
                <a:cubicBezTo>
                  <a:pt x="168218" y="288078"/>
                  <a:pt x="165926" y="284764"/>
                  <a:pt x="167199" y="280941"/>
                </a:cubicBezTo>
                <a:cubicBezTo>
                  <a:pt x="169236" y="278902"/>
                  <a:pt x="165162" y="275970"/>
                  <a:pt x="168345" y="274058"/>
                </a:cubicBezTo>
                <a:cubicBezTo>
                  <a:pt x="169365" y="273421"/>
                  <a:pt x="171529" y="272785"/>
                  <a:pt x="170001" y="271127"/>
                </a:cubicBezTo>
                <a:cubicBezTo>
                  <a:pt x="167709" y="268578"/>
                  <a:pt x="167072" y="272401"/>
                  <a:pt x="166817" y="272912"/>
                </a:cubicBezTo>
                <a:cubicBezTo>
                  <a:pt x="165162" y="276480"/>
                  <a:pt x="159941" y="279284"/>
                  <a:pt x="164144" y="284382"/>
                </a:cubicBezTo>
                <a:cubicBezTo>
                  <a:pt x="164907" y="285274"/>
                  <a:pt x="164398" y="287186"/>
                  <a:pt x="164398" y="288588"/>
                </a:cubicBezTo>
                <a:lnTo>
                  <a:pt x="164526" y="288460"/>
                </a:lnTo>
                <a:moveTo>
                  <a:pt x="169492" y="389148"/>
                </a:moveTo>
                <a:cubicBezTo>
                  <a:pt x="167964" y="387873"/>
                  <a:pt x="166563" y="386471"/>
                  <a:pt x="165162" y="385197"/>
                </a:cubicBezTo>
                <a:cubicBezTo>
                  <a:pt x="164907" y="390550"/>
                  <a:pt x="164907" y="390550"/>
                  <a:pt x="169492" y="389148"/>
                </a:cubicBezTo>
                <a:moveTo>
                  <a:pt x="176367" y="389913"/>
                </a:moveTo>
                <a:cubicBezTo>
                  <a:pt x="175731" y="385962"/>
                  <a:pt x="173694" y="388766"/>
                  <a:pt x="172166" y="389148"/>
                </a:cubicBezTo>
                <a:cubicBezTo>
                  <a:pt x="171402" y="389275"/>
                  <a:pt x="170637" y="389148"/>
                  <a:pt x="169874" y="389275"/>
                </a:cubicBezTo>
                <a:cubicBezTo>
                  <a:pt x="170256" y="390677"/>
                  <a:pt x="170510" y="392079"/>
                  <a:pt x="170256" y="393737"/>
                </a:cubicBezTo>
                <a:cubicBezTo>
                  <a:pt x="170001" y="396030"/>
                  <a:pt x="168346" y="397688"/>
                  <a:pt x="168218" y="399854"/>
                </a:cubicBezTo>
                <a:cubicBezTo>
                  <a:pt x="168218" y="401001"/>
                  <a:pt x="168218" y="402148"/>
                  <a:pt x="169746" y="402403"/>
                </a:cubicBezTo>
                <a:cubicBezTo>
                  <a:pt x="170637" y="402403"/>
                  <a:pt x="171019" y="401639"/>
                  <a:pt x="171402" y="401001"/>
                </a:cubicBezTo>
                <a:cubicBezTo>
                  <a:pt x="171784" y="400364"/>
                  <a:pt x="172420" y="399981"/>
                  <a:pt x="173058" y="399599"/>
                </a:cubicBezTo>
                <a:cubicBezTo>
                  <a:pt x="171657" y="397306"/>
                  <a:pt x="171911" y="394884"/>
                  <a:pt x="174713" y="394501"/>
                </a:cubicBezTo>
                <a:cubicBezTo>
                  <a:pt x="178915" y="393991"/>
                  <a:pt x="176623" y="391570"/>
                  <a:pt x="176367" y="390040"/>
                </a:cubicBezTo>
                <a:lnTo>
                  <a:pt x="176367" y="389913"/>
                </a:lnTo>
                <a:moveTo>
                  <a:pt x="179042" y="286804"/>
                </a:moveTo>
                <a:cubicBezTo>
                  <a:pt x="177641" y="287824"/>
                  <a:pt x="176496" y="288842"/>
                  <a:pt x="175222" y="289862"/>
                </a:cubicBezTo>
                <a:cubicBezTo>
                  <a:pt x="175222" y="290245"/>
                  <a:pt x="175222" y="290627"/>
                  <a:pt x="174968" y="291009"/>
                </a:cubicBezTo>
                <a:cubicBezTo>
                  <a:pt x="179551" y="292666"/>
                  <a:pt x="179680" y="292539"/>
                  <a:pt x="179042" y="286804"/>
                </a:cubicBezTo>
                <a:moveTo>
                  <a:pt x="184136" y="287313"/>
                </a:moveTo>
                <a:cubicBezTo>
                  <a:pt x="182480" y="282853"/>
                  <a:pt x="182608" y="282853"/>
                  <a:pt x="186428" y="279411"/>
                </a:cubicBezTo>
                <a:cubicBezTo>
                  <a:pt x="189230" y="276863"/>
                  <a:pt x="192922" y="274823"/>
                  <a:pt x="192541" y="269725"/>
                </a:cubicBezTo>
                <a:cubicBezTo>
                  <a:pt x="193304" y="272912"/>
                  <a:pt x="197253" y="273676"/>
                  <a:pt x="196997" y="276990"/>
                </a:cubicBezTo>
                <a:cubicBezTo>
                  <a:pt x="196615" y="281451"/>
                  <a:pt x="200435" y="283618"/>
                  <a:pt x="202855" y="285274"/>
                </a:cubicBezTo>
                <a:cubicBezTo>
                  <a:pt x="204765" y="286549"/>
                  <a:pt x="205784" y="286294"/>
                  <a:pt x="204893" y="288842"/>
                </a:cubicBezTo>
                <a:cubicBezTo>
                  <a:pt x="204638" y="289608"/>
                  <a:pt x="206803" y="289991"/>
                  <a:pt x="207695" y="289480"/>
                </a:cubicBezTo>
                <a:cubicBezTo>
                  <a:pt x="208967" y="288715"/>
                  <a:pt x="209859" y="281833"/>
                  <a:pt x="208840" y="281323"/>
                </a:cubicBezTo>
                <a:cubicBezTo>
                  <a:pt x="205275" y="279921"/>
                  <a:pt x="204384" y="275716"/>
                  <a:pt x="200435" y="274314"/>
                </a:cubicBezTo>
                <a:cubicBezTo>
                  <a:pt x="196233" y="272785"/>
                  <a:pt x="194451" y="268832"/>
                  <a:pt x="195214" y="264117"/>
                </a:cubicBezTo>
                <a:cubicBezTo>
                  <a:pt x="196870" y="265010"/>
                  <a:pt x="198525" y="266029"/>
                  <a:pt x="200308" y="266921"/>
                </a:cubicBezTo>
                <a:cubicBezTo>
                  <a:pt x="200563" y="266921"/>
                  <a:pt x="201200" y="266412"/>
                  <a:pt x="201582" y="266029"/>
                </a:cubicBezTo>
                <a:cubicBezTo>
                  <a:pt x="201709" y="265901"/>
                  <a:pt x="201709" y="265392"/>
                  <a:pt x="201582" y="265264"/>
                </a:cubicBezTo>
                <a:cubicBezTo>
                  <a:pt x="200563" y="263225"/>
                  <a:pt x="197634" y="262843"/>
                  <a:pt x="195087" y="264117"/>
                </a:cubicBezTo>
                <a:cubicBezTo>
                  <a:pt x="192032" y="264372"/>
                  <a:pt x="190503" y="266029"/>
                  <a:pt x="190122" y="268961"/>
                </a:cubicBezTo>
                <a:cubicBezTo>
                  <a:pt x="190122" y="269598"/>
                  <a:pt x="189357" y="271127"/>
                  <a:pt x="188848" y="270107"/>
                </a:cubicBezTo>
                <a:cubicBezTo>
                  <a:pt x="187320" y="266921"/>
                  <a:pt x="184772" y="270363"/>
                  <a:pt x="183117" y="268832"/>
                </a:cubicBezTo>
                <a:cubicBezTo>
                  <a:pt x="181461" y="267432"/>
                  <a:pt x="182735" y="265774"/>
                  <a:pt x="182353" y="264245"/>
                </a:cubicBezTo>
                <a:cubicBezTo>
                  <a:pt x="181971" y="262715"/>
                  <a:pt x="181207" y="261186"/>
                  <a:pt x="180570" y="259657"/>
                </a:cubicBezTo>
                <a:cubicBezTo>
                  <a:pt x="178279" y="262461"/>
                  <a:pt x="181207" y="265901"/>
                  <a:pt x="178915" y="268578"/>
                </a:cubicBezTo>
                <a:cubicBezTo>
                  <a:pt x="176496" y="271382"/>
                  <a:pt x="176623" y="271509"/>
                  <a:pt x="177132" y="275333"/>
                </a:cubicBezTo>
                <a:cubicBezTo>
                  <a:pt x="177768" y="274441"/>
                  <a:pt x="178406" y="272912"/>
                  <a:pt x="179042" y="272912"/>
                </a:cubicBezTo>
                <a:cubicBezTo>
                  <a:pt x="181590" y="272912"/>
                  <a:pt x="180316" y="274441"/>
                  <a:pt x="180061" y="275716"/>
                </a:cubicBezTo>
                <a:cubicBezTo>
                  <a:pt x="179807" y="276480"/>
                  <a:pt x="179934" y="277372"/>
                  <a:pt x="179807" y="278265"/>
                </a:cubicBezTo>
                <a:cubicBezTo>
                  <a:pt x="179212" y="281918"/>
                  <a:pt x="180655" y="284977"/>
                  <a:pt x="184136" y="287442"/>
                </a:cubicBezTo>
                <a:lnTo>
                  <a:pt x="184136" y="287313"/>
                </a:lnTo>
                <a:moveTo>
                  <a:pt x="192413" y="280814"/>
                </a:moveTo>
                <a:cubicBezTo>
                  <a:pt x="191140" y="279921"/>
                  <a:pt x="190631" y="280687"/>
                  <a:pt x="189993" y="281706"/>
                </a:cubicBezTo>
                <a:cubicBezTo>
                  <a:pt x="188465" y="284255"/>
                  <a:pt x="187574" y="286676"/>
                  <a:pt x="189993" y="289735"/>
                </a:cubicBezTo>
                <a:cubicBezTo>
                  <a:pt x="191522" y="287696"/>
                  <a:pt x="193177" y="285911"/>
                  <a:pt x="194451" y="283745"/>
                </a:cubicBezTo>
                <a:cubicBezTo>
                  <a:pt x="195470" y="281960"/>
                  <a:pt x="193559" y="281451"/>
                  <a:pt x="192541" y="280687"/>
                </a:cubicBezTo>
                <a:lnTo>
                  <a:pt x="192413" y="280814"/>
                </a:lnTo>
                <a:moveTo>
                  <a:pt x="189866" y="310255"/>
                </a:moveTo>
                <a:cubicBezTo>
                  <a:pt x="192413" y="310255"/>
                  <a:pt x="194451" y="308470"/>
                  <a:pt x="196997" y="308470"/>
                </a:cubicBezTo>
                <a:cubicBezTo>
                  <a:pt x="196997" y="307706"/>
                  <a:pt x="197124" y="306941"/>
                  <a:pt x="197380" y="306177"/>
                </a:cubicBezTo>
                <a:cubicBezTo>
                  <a:pt x="198398" y="302608"/>
                  <a:pt x="196997" y="297255"/>
                  <a:pt x="194451" y="295215"/>
                </a:cubicBezTo>
                <a:cubicBezTo>
                  <a:pt x="191267" y="292539"/>
                  <a:pt x="188338" y="292666"/>
                  <a:pt x="185664" y="295598"/>
                </a:cubicBezTo>
                <a:cubicBezTo>
                  <a:pt x="182862" y="298657"/>
                  <a:pt x="183881" y="300441"/>
                  <a:pt x="187447" y="301843"/>
                </a:cubicBezTo>
                <a:cubicBezTo>
                  <a:pt x="188592" y="302353"/>
                  <a:pt x="188592" y="303500"/>
                  <a:pt x="187956" y="304648"/>
                </a:cubicBezTo>
                <a:cubicBezTo>
                  <a:pt x="186428" y="308088"/>
                  <a:pt x="186173" y="312167"/>
                  <a:pt x="182735" y="314716"/>
                </a:cubicBezTo>
                <a:cubicBezTo>
                  <a:pt x="184390" y="315863"/>
                  <a:pt x="185919" y="317647"/>
                  <a:pt x="187829" y="315481"/>
                </a:cubicBezTo>
                <a:cubicBezTo>
                  <a:pt x="188210" y="315098"/>
                  <a:pt x="190122" y="315481"/>
                  <a:pt x="188721" y="314206"/>
                </a:cubicBezTo>
                <a:cubicBezTo>
                  <a:pt x="185919" y="311784"/>
                  <a:pt x="188465" y="310383"/>
                  <a:pt x="189866" y="310255"/>
                </a:cubicBezTo>
                <a:moveTo>
                  <a:pt x="197124" y="340971"/>
                </a:moveTo>
                <a:cubicBezTo>
                  <a:pt x="197889" y="340971"/>
                  <a:pt x="198780" y="340971"/>
                  <a:pt x="199544" y="340589"/>
                </a:cubicBezTo>
                <a:cubicBezTo>
                  <a:pt x="200563" y="340079"/>
                  <a:pt x="200181" y="339187"/>
                  <a:pt x="199672" y="338422"/>
                </a:cubicBezTo>
                <a:cubicBezTo>
                  <a:pt x="198143" y="335746"/>
                  <a:pt x="192032" y="335746"/>
                  <a:pt x="194832" y="330393"/>
                </a:cubicBezTo>
                <a:cubicBezTo>
                  <a:pt x="194323" y="330138"/>
                  <a:pt x="193942" y="329883"/>
                  <a:pt x="193431" y="329627"/>
                </a:cubicBezTo>
                <a:cubicBezTo>
                  <a:pt x="191776" y="329627"/>
                  <a:pt x="190503" y="331540"/>
                  <a:pt x="190631" y="333196"/>
                </a:cubicBezTo>
                <a:cubicBezTo>
                  <a:pt x="191012" y="337275"/>
                  <a:pt x="196742" y="336893"/>
                  <a:pt x="196997" y="340971"/>
                </a:cubicBezTo>
                <a:lnTo>
                  <a:pt x="197124" y="340971"/>
                </a:lnTo>
                <a:moveTo>
                  <a:pt x="205020" y="406864"/>
                </a:moveTo>
                <a:cubicBezTo>
                  <a:pt x="205020" y="406864"/>
                  <a:pt x="205147" y="405717"/>
                  <a:pt x="205020" y="405334"/>
                </a:cubicBezTo>
                <a:cubicBezTo>
                  <a:pt x="203746" y="403295"/>
                  <a:pt x="201709" y="402403"/>
                  <a:pt x="199544" y="402021"/>
                </a:cubicBezTo>
                <a:cubicBezTo>
                  <a:pt x="199163" y="402021"/>
                  <a:pt x="198525" y="403168"/>
                  <a:pt x="198016" y="403677"/>
                </a:cubicBezTo>
                <a:cubicBezTo>
                  <a:pt x="200944" y="404952"/>
                  <a:pt x="199417" y="406354"/>
                  <a:pt x="198398" y="408139"/>
                </a:cubicBezTo>
                <a:cubicBezTo>
                  <a:pt x="197124" y="410305"/>
                  <a:pt x="196743" y="412854"/>
                  <a:pt x="197762" y="415403"/>
                </a:cubicBezTo>
                <a:cubicBezTo>
                  <a:pt x="201964" y="413874"/>
                  <a:pt x="198271" y="405845"/>
                  <a:pt x="205147" y="406737"/>
                </a:cubicBezTo>
                <a:lnTo>
                  <a:pt x="205020" y="406864"/>
                </a:lnTo>
                <a:moveTo>
                  <a:pt x="223994" y="422796"/>
                </a:moveTo>
                <a:cubicBezTo>
                  <a:pt x="222593" y="421394"/>
                  <a:pt x="221574" y="422413"/>
                  <a:pt x="220938" y="423178"/>
                </a:cubicBezTo>
                <a:cubicBezTo>
                  <a:pt x="218390" y="425982"/>
                  <a:pt x="216863" y="425089"/>
                  <a:pt x="214061" y="422796"/>
                </a:cubicBezTo>
                <a:cubicBezTo>
                  <a:pt x="211005" y="420247"/>
                  <a:pt x="210750" y="416423"/>
                  <a:pt x="208076" y="413492"/>
                </a:cubicBezTo>
                <a:cubicBezTo>
                  <a:pt x="207185" y="414765"/>
                  <a:pt x="206294" y="415785"/>
                  <a:pt x="205529" y="416932"/>
                </a:cubicBezTo>
                <a:cubicBezTo>
                  <a:pt x="204128" y="418845"/>
                  <a:pt x="204384" y="419736"/>
                  <a:pt x="207057" y="419992"/>
                </a:cubicBezTo>
                <a:cubicBezTo>
                  <a:pt x="208840" y="419992"/>
                  <a:pt x="208967" y="421776"/>
                  <a:pt x="209222" y="423178"/>
                </a:cubicBezTo>
                <a:cubicBezTo>
                  <a:pt x="209222" y="423433"/>
                  <a:pt x="218773" y="428658"/>
                  <a:pt x="219028" y="428531"/>
                </a:cubicBezTo>
                <a:cubicBezTo>
                  <a:pt x="219537" y="428404"/>
                  <a:pt x="220429" y="428149"/>
                  <a:pt x="220429" y="427893"/>
                </a:cubicBezTo>
                <a:cubicBezTo>
                  <a:pt x="220810" y="425727"/>
                  <a:pt x="224121" y="425345"/>
                  <a:pt x="223994" y="422923"/>
                </a:cubicBezTo>
                <a:lnTo>
                  <a:pt x="223994" y="422796"/>
                </a:lnTo>
                <a:moveTo>
                  <a:pt x="231634" y="416678"/>
                </a:moveTo>
                <a:cubicBezTo>
                  <a:pt x="228705" y="417316"/>
                  <a:pt x="227687" y="414765"/>
                  <a:pt x="224885" y="415658"/>
                </a:cubicBezTo>
                <a:cubicBezTo>
                  <a:pt x="225139" y="417952"/>
                  <a:pt x="226031" y="419609"/>
                  <a:pt x="227305" y="421267"/>
                </a:cubicBezTo>
                <a:cubicBezTo>
                  <a:pt x="228450" y="419992"/>
                  <a:pt x="229597" y="418845"/>
                  <a:pt x="231634" y="416678"/>
                </a:cubicBezTo>
                <a:moveTo>
                  <a:pt x="232272" y="420629"/>
                </a:moveTo>
                <a:cubicBezTo>
                  <a:pt x="231125" y="422031"/>
                  <a:pt x="229724" y="423305"/>
                  <a:pt x="228961" y="424962"/>
                </a:cubicBezTo>
                <a:cubicBezTo>
                  <a:pt x="227941" y="427384"/>
                  <a:pt x="230233" y="426364"/>
                  <a:pt x="231125" y="426620"/>
                </a:cubicBezTo>
                <a:cubicBezTo>
                  <a:pt x="232016" y="424707"/>
                  <a:pt x="236855" y="423816"/>
                  <a:pt x="232272" y="420629"/>
                </a:cubicBezTo>
                <a:moveTo>
                  <a:pt x="241184" y="426874"/>
                </a:moveTo>
                <a:cubicBezTo>
                  <a:pt x="240930" y="422031"/>
                  <a:pt x="244368" y="420119"/>
                  <a:pt x="246534" y="417316"/>
                </a:cubicBezTo>
                <a:cubicBezTo>
                  <a:pt x="248444" y="414894"/>
                  <a:pt x="248571" y="415021"/>
                  <a:pt x="245769" y="412727"/>
                </a:cubicBezTo>
                <a:cubicBezTo>
                  <a:pt x="244751" y="411834"/>
                  <a:pt x="244878" y="410815"/>
                  <a:pt x="245642" y="409795"/>
                </a:cubicBezTo>
                <a:cubicBezTo>
                  <a:pt x="246405" y="408776"/>
                  <a:pt x="246661" y="407628"/>
                  <a:pt x="245387" y="406992"/>
                </a:cubicBezTo>
                <a:cubicBezTo>
                  <a:pt x="244368" y="406481"/>
                  <a:pt x="243095" y="406481"/>
                  <a:pt x="242203" y="407501"/>
                </a:cubicBezTo>
                <a:cubicBezTo>
                  <a:pt x="240421" y="409541"/>
                  <a:pt x="238638" y="411580"/>
                  <a:pt x="236855" y="413492"/>
                </a:cubicBezTo>
                <a:cubicBezTo>
                  <a:pt x="233290" y="411580"/>
                  <a:pt x="233544" y="408012"/>
                  <a:pt x="232143" y="405334"/>
                </a:cubicBezTo>
                <a:cubicBezTo>
                  <a:pt x="228832" y="407501"/>
                  <a:pt x="229088" y="410178"/>
                  <a:pt x="231380" y="412472"/>
                </a:cubicBezTo>
                <a:cubicBezTo>
                  <a:pt x="235327" y="416423"/>
                  <a:pt x="237237" y="421776"/>
                  <a:pt x="241184" y="427002"/>
                </a:cubicBezTo>
                <a:lnTo>
                  <a:pt x="241184" y="426874"/>
                </a:lnTo>
                <a:moveTo>
                  <a:pt x="251755" y="445737"/>
                </a:moveTo>
                <a:cubicBezTo>
                  <a:pt x="250863" y="445355"/>
                  <a:pt x="249972" y="445099"/>
                  <a:pt x="248953" y="444717"/>
                </a:cubicBezTo>
                <a:cubicBezTo>
                  <a:pt x="250226" y="447139"/>
                  <a:pt x="247297" y="450325"/>
                  <a:pt x="250099" y="452492"/>
                </a:cubicBezTo>
                <a:cubicBezTo>
                  <a:pt x="252773" y="450835"/>
                  <a:pt x="252900" y="448414"/>
                  <a:pt x="251755" y="445737"/>
                </a:cubicBezTo>
                <a:moveTo>
                  <a:pt x="254428" y="441404"/>
                </a:moveTo>
                <a:cubicBezTo>
                  <a:pt x="251245" y="437197"/>
                  <a:pt x="247806" y="433502"/>
                  <a:pt x="249845" y="427511"/>
                </a:cubicBezTo>
                <a:cubicBezTo>
                  <a:pt x="250354" y="426109"/>
                  <a:pt x="249207" y="425982"/>
                  <a:pt x="248188" y="427511"/>
                </a:cubicBezTo>
                <a:cubicBezTo>
                  <a:pt x="247425" y="428658"/>
                  <a:pt x="245260" y="427511"/>
                  <a:pt x="244624" y="430315"/>
                </a:cubicBezTo>
                <a:cubicBezTo>
                  <a:pt x="243604" y="434776"/>
                  <a:pt x="242714" y="439492"/>
                  <a:pt x="239784" y="443315"/>
                </a:cubicBezTo>
                <a:cubicBezTo>
                  <a:pt x="239657" y="443570"/>
                  <a:pt x="240039" y="444335"/>
                  <a:pt x="240293" y="445099"/>
                </a:cubicBezTo>
                <a:cubicBezTo>
                  <a:pt x="240803" y="444462"/>
                  <a:pt x="241313" y="443826"/>
                  <a:pt x="241822" y="443315"/>
                </a:cubicBezTo>
                <a:cubicBezTo>
                  <a:pt x="242458" y="442424"/>
                  <a:pt x="243095" y="441404"/>
                  <a:pt x="243859" y="440639"/>
                </a:cubicBezTo>
                <a:cubicBezTo>
                  <a:pt x="246534" y="437707"/>
                  <a:pt x="248061" y="437962"/>
                  <a:pt x="250481" y="441277"/>
                </a:cubicBezTo>
                <a:cubicBezTo>
                  <a:pt x="251499" y="442678"/>
                  <a:pt x="252009" y="444080"/>
                  <a:pt x="251755" y="445864"/>
                </a:cubicBezTo>
                <a:cubicBezTo>
                  <a:pt x="254683" y="445864"/>
                  <a:pt x="256084" y="444080"/>
                  <a:pt x="254301" y="441786"/>
                </a:cubicBezTo>
                <a:lnTo>
                  <a:pt x="254428" y="441404"/>
                </a:lnTo>
                <a:moveTo>
                  <a:pt x="256593" y="421649"/>
                </a:moveTo>
                <a:cubicBezTo>
                  <a:pt x="256593" y="420884"/>
                  <a:pt x="255575" y="420247"/>
                  <a:pt x="254683" y="420502"/>
                </a:cubicBezTo>
                <a:cubicBezTo>
                  <a:pt x="253536" y="420756"/>
                  <a:pt x="252009" y="421776"/>
                  <a:pt x="252391" y="422540"/>
                </a:cubicBezTo>
                <a:cubicBezTo>
                  <a:pt x="253409" y="424325"/>
                  <a:pt x="252900" y="426874"/>
                  <a:pt x="255448" y="428531"/>
                </a:cubicBezTo>
                <a:cubicBezTo>
                  <a:pt x="257358" y="425982"/>
                  <a:pt x="256720" y="423816"/>
                  <a:pt x="256466" y="421649"/>
                </a:cubicBezTo>
                <a:lnTo>
                  <a:pt x="256593" y="421649"/>
                </a:lnTo>
                <a:moveTo>
                  <a:pt x="260796" y="356392"/>
                </a:moveTo>
                <a:cubicBezTo>
                  <a:pt x="261814" y="355373"/>
                  <a:pt x="260796" y="352952"/>
                  <a:pt x="258503" y="352442"/>
                </a:cubicBezTo>
                <a:cubicBezTo>
                  <a:pt x="257357" y="352186"/>
                  <a:pt x="256211" y="352188"/>
                  <a:pt x="255702" y="351168"/>
                </a:cubicBezTo>
                <a:cubicBezTo>
                  <a:pt x="254937" y="349510"/>
                  <a:pt x="257230" y="349893"/>
                  <a:pt x="257485" y="349001"/>
                </a:cubicBezTo>
                <a:cubicBezTo>
                  <a:pt x="257994" y="347217"/>
                  <a:pt x="256338" y="346961"/>
                  <a:pt x="255193" y="346324"/>
                </a:cubicBezTo>
                <a:cubicBezTo>
                  <a:pt x="253027" y="349766"/>
                  <a:pt x="254556" y="353717"/>
                  <a:pt x="254174" y="357285"/>
                </a:cubicBezTo>
                <a:cubicBezTo>
                  <a:pt x="254174" y="357668"/>
                  <a:pt x="254683" y="358559"/>
                  <a:pt x="255066" y="358687"/>
                </a:cubicBezTo>
                <a:cubicBezTo>
                  <a:pt x="257485" y="359197"/>
                  <a:pt x="259268" y="357922"/>
                  <a:pt x="260796" y="356392"/>
                </a:cubicBezTo>
                <a:moveTo>
                  <a:pt x="263724" y="413492"/>
                </a:moveTo>
                <a:cubicBezTo>
                  <a:pt x="262324" y="415276"/>
                  <a:pt x="260796" y="417060"/>
                  <a:pt x="259013" y="419227"/>
                </a:cubicBezTo>
                <a:cubicBezTo>
                  <a:pt x="260287" y="420884"/>
                  <a:pt x="261178" y="421903"/>
                  <a:pt x="261941" y="423051"/>
                </a:cubicBezTo>
                <a:cubicBezTo>
                  <a:pt x="262324" y="423560"/>
                  <a:pt x="262451" y="424962"/>
                  <a:pt x="263597" y="424198"/>
                </a:cubicBezTo>
                <a:cubicBezTo>
                  <a:pt x="264234" y="423816"/>
                  <a:pt x="264870" y="422540"/>
                  <a:pt x="264743" y="422413"/>
                </a:cubicBezTo>
                <a:cubicBezTo>
                  <a:pt x="262706" y="420119"/>
                  <a:pt x="264361" y="418334"/>
                  <a:pt x="265252" y="416423"/>
                </a:cubicBezTo>
                <a:cubicBezTo>
                  <a:pt x="265761" y="415276"/>
                  <a:pt x="265252" y="414256"/>
                  <a:pt x="263724" y="413619"/>
                </a:cubicBezTo>
                <a:lnTo>
                  <a:pt x="263724" y="413492"/>
                </a:lnTo>
                <a:moveTo>
                  <a:pt x="270091" y="394119"/>
                </a:moveTo>
                <a:cubicBezTo>
                  <a:pt x="268563" y="392844"/>
                  <a:pt x="268181" y="390295"/>
                  <a:pt x="264870" y="391952"/>
                </a:cubicBezTo>
                <a:cubicBezTo>
                  <a:pt x="262451" y="393099"/>
                  <a:pt x="263724" y="396030"/>
                  <a:pt x="261432" y="396923"/>
                </a:cubicBezTo>
                <a:cubicBezTo>
                  <a:pt x="261050" y="397050"/>
                  <a:pt x="262706" y="399599"/>
                  <a:pt x="263980" y="398835"/>
                </a:cubicBezTo>
                <a:cubicBezTo>
                  <a:pt x="266399" y="397433"/>
                  <a:pt x="268436" y="395521"/>
                  <a:pt x="271238" y="396157"/>
                </a:cubicBezTo>
                <a:cubicBezTo>
                  <a:pt x="271620" y="394373"/>
                  <a:pt x="270473" y="394501"/>
                  <a:pt x="269964" y="393991"/>
                </a:cubicBezTo>
                <a:lnTo>
                  <a:pt x="270091" y="394119"/>
                </a:lnTo>
                <a:moveTo>
                  <a:pt x="278369" y="391442"/>
                </a:moveTo>
                <a:cubicBezTo>
                  <a:pt x="277859" y="386217"/>
                  <a:pt x="276459" y="382393"/>
                  <a:pt x="280661" y="379716"/>
                </a:cubicBezTo>
                <a:cubicBezTo>
                  <a:pt x="275822" y="378060"/>
                  <a:pt x="275567" y="381884"/>
                  <a:pt x="273530" y="383031"/>
                </a:cubicBezTo>
                <a:cubicBezTo>
                  <a:pt x="272766" y="383413"/>
                  <a:pt x="272510" y="384815"/>
                  <a:pt x="273275" y="385069"/>
                </a:cubicBezTo>
                <a:cubicBezTo>
                  <a:pt x="275949" y="385707"/>
                  <a:pt x="275440" y="388893"/>
                  <a:pt x="278496" y="391570"/>
                </a:cubicBezTo>
                <a:lnTo>
                  <a:pt x="278369" y="391442"/>
                </a:lnTo>
                <a:moveTo>
                  <a:pt x="282825" y="409285"/>
                </a:moveTo>
                <a:cubicBezTo>
                  <a:pt x="281934" y="407628"/>
                  <a:pt x="282825" y="406737"/>
                  <a:pt x="284226" y="406354"/>
                </a:cubicBezTo>
                <a:cubicBezTo>
                  <a:pt x="283334" y="403295"/>
                  <a:pt x="280279" y="402530"/>
                  <a:pt x="278242" y="399981"/>
                </a:cubicBezTo>
                <a:cubicBezTo>
                  <a:pt x="276332" y="408139"/>
                  <a:pt x="281553" y="412599"/>
                  <a:pt x="285245" y="418080"/>
                </a:cubicBezTo>
                <a:cubicBezTo>
                  <a:pt x="287028" y="414129"/>
                  <a:pt x="284353" y="411963"/>
                  <a:pt x="282825" y="409285"/>
                </a:cubicBezTo>
                <a:moveTo>
                  <a:pt x="290594" y="398579"/>
                </a:moveTo>
                <a:cubicBezTo>
                  <a:pt x="289065" y="398579"/>
                  <a:pt x="287537" y="398579"/>
                  <a:pt x="286136" y="397815"/>
                </a:cubicBezTo>
                <a:cubicBezTo>
                  <a:pt x="285754" y="400619"/>
                  <a:pt x="287537" y="403932"/>
                  <a:pt x="284481" y="406226"/>
                </a:cubicBezTo>
                <a:cubicBezTo>
                  <a:pt x="284864" y="407628"/>
                  <a:pt x="286009" y="408521"/>
                  <a:pt x="287155" y="409158"/>
                </a:cubicBezTo>
                <a:cubicBezTo>
                  <a:pt x="287919" y="409541"/>
                  <a:pt x="289193" y="408903"/>
                  <a:pt x="288938" y="408521"/>
                </a:cubicBezTo>
                <a:cubicBezTo>
                  <a:pt x="285754" y="404443"/>
                  <a:pt x="291866" y="402148"/>
                  <a:pt x="290594" y="398579"/>
                </a:cubicBezTo>
                <a:moveTo>
                  <a:pt x="298234" y="386599"/>
                </a:moveTo>
                <a:cubicBezTo>
                  <a:pt x="300144" y="386344"/>
                  <a:pt x="299508" y="385324"/>
                  <a:pt x="299380" y="384433"/>
                </a:cubicBezTo>
                <a:cubicBezTo>
                  <a:pt x="299126" y="383158"/>
                  <a:pt x="298107" y="382648"/>
                  <a:pt x="296960" y="382266"/>
                </a:cubicBezTo>
                <a:cubicBezTo>
                  <a:pt x="293649" y="381118"/>
                  <a:pt x="294286" y="379844"/>
                  <a:pt x="296960" y="378697"/>
                </a:cubicBezTo>
                <a:cubicBezTo>
                  <a:pt x="297979" y="378314"/>
                  <a:pt x="299126" y="378060"/>
                  <a:pt x="298870" y="376530"/>
                </a:cubicBezTo>
                <a:cubicBezTo>
                  <a:pt x="298488" y="376276"/>
                  <a:pt x="297725" y="375638"/>
                  <a:pt x="297597" y="375765"/>
                </a:cubicBezTo>
                <a:cubicBezTo>
                  <a:pt x="295815" y="377167"/>
                  <a:pt x="292249" y="377167"/>
                  <a:pt x="292885" y="380736"/>
                </a:cubicBezTo>
                <a:cubicBezTo>
                  <a:pt x="293395" y="383795"/>
                  <a:pt x="291739" y="384815"/>
                  <a:pt x="289447" y="385707"/>
                </a:cubicBezTo>
                <a:cubicBezTo>
                  <a:pt x="288301" y="386217"/>
                  <a:pt x="287410" y="387491"/>
                  <a:pt x="286645" y="388766"/>
                </a:cubicBezTo>
                <a:cubicBezTo>
                  <a:pt x="286136" y="389658"/>
                  <a:pt x="285755" y="391060"/>
                  <a:pt x="286901" y="391824"/>
                </a:cubicBezTo>
                <a:cubicBezTo>
                  <a:pt x="287919" y="392462"/>
                  <a:pt x="289065" y="392844"/>
                  <a:pt x="290339" y="391188"/>
                </a:cubicBezTo>
                <a:cubicBezTo>
                  <a:pt x="292885" y="388002"/>
                  <a:pt x="294287" y="387109"/>
                  <a:pt x="298234" y="386599"/>
                </a:cubicBezTo>
                <a:moveTo>
                  <a:pt x="302691" y="393991"/>
                </a:moveTo>
                <a:cubicBezTo>
                  <a:pt x="300483" y="394926"/>
                  <a:pt x="298870" y="397347"/>
                  <a:pt x="297852" y="401257"/>
                </a:cubicBezTo>
                <a:cubicBezTo>
                  <a:pt x="300653" y="398579"/>
                  <a:pt x="302691" y="396923"/>
                  <a:pt x="302691" y="393991"/>
                </a:cubicBezTo>
                <a:moveTo>
                  <a:pt x="306001" y="256215"/>
                </a:moveTo>
                <a:cubicBezTo>
                  <a:pt x="307020" y="254813"/>
                  <a:pt x="306511" y="253411"/>
                  <a:pt x="306384" y="252009"/>
                </a:cubicBezTo>
                <a:cubicBezTo>
                  <a:pt x="305874" y="248695"/>
                  <a:pt x="305874" y="248568"/>
                  <a:pt x="301545" y="250353"/>
                </a:cubicBezTo>
                <a:cubicBezTo>
                  <a:pt x="301036" y="251626"/>
                  <a:pt x="300398" y="252901"/>
                  <a:pt x="299762" y="254431"/>
                </a:cubicBezTo>
                <a:cubicBezTo>
                  <a:pt x="302054" y="255068"/>
                  <a:pt x="304091" y="255577"/>
                  <a:pt x="306001" y="256215"/>
                </a:cubicBezTo>
                <a:moveTo>
                  <a:pt x="312623" y="382775"/>
                </a:moveTo>
                <a:cubicBezTo>
                  <a:pt x="312623" y="382138"/>
                  <a:pt x="312114" y="381373"/>
                  <a:pt x="311732" y="380736"/>
                </a:cubicBezTo>
                <a:cubicBezTo>
                  <a:pt x="309441" y="380482"/>
                  <a:pt x="309312" y="375129"/>
                  <a:pt x="305238" y="378569"/>
                </a:cubicBezTo>
                <a:cubicBezTo>
                  <a:pt x="306384" y="379589"/>
                  <a:pt x="307402" y="380482"/>
                  <a:pt x="308421" y="381373"/>
                </a:cubicBezTo>
                <a:cubicBezTo>
                  <a:pt x="309312" y="382138"/>
                  <a:pt x="310077" y="382902"/>
                  <a:pt x="310968" y="383413"/>
                </a:cubicBezTo>
                <a:cubicBezTo>
                  <a:pt x="311732" y="383922"/>
                  <a:pt x="312623" y="383922"/>
                  <a:pt x="312623" y="382775"/>
                </a:cubicBezTo>
                <a:moveTo>
                  <a:pt x="314279" y="374874"/>
                </a:moveTo>
                <a:cubicBezTo>
                  <a:pt x="313132" y="373598"/>
                  <a:pt x="313261" y="371050"/>
                  <a:pt x="309695" y="370923"/>
                </a:cubicBezTo>
                <a:cubicBezTo>
                  <a:pt x="311351" y="374109"/>
                  <a:pt x="312496" y="377167"/>
                  <a:pt x="311732" y="380482"/>
                </a:cubicBezTo>
                <a:cubicBezTo>
                  <a:pt x="317081" y="379080"/>
                  <a:pt x="317335" y="378697"/>
                  <a:pt x="314151" y="375001"/>
                </a:cubicBezTo>
                <a:lnTo>
                  <a:pt x="314279" y="374874"/>
                </a:lnTo>
                <a:moveTo>
                  <a:pt x="321410" y="365952"/>
                </a:moveTo>
                <a:cubicBezTo>
                  <a:pt x="319372" y="365697"/>
                  <a:pt x="319245" y="360854"/>
                  <a:pt x="316699" y="362510"/>
                </a:cubicBezTo>
                <a:cubicBezTo>
                  <a:pt x="313770" y="364294"/>
                  <a:pt x="318736" y="367226"/>
                  <a:pt x="317081" y="369776"/>
                </a:cubicBezTo>
                <a:cubicBezTo>
                  <a:pt x="317081" y="369903"/>
                  <a:pt x="317208" y="370285"/>
                  <a:pt x="317462" y="371050"/>
                </a:cubicBezTo>
                <a:cubicBezTo>
                  <a:pt x="320010" y="371050"/>
                  <a:pt x="321282" y="368628"/>
                  <a:pt x="323957" y="369138"/>
                </a:cubicBezTo>
                <a:cubicBezTo>
                  <a:pt x="326503" y="369647"/>
                  <a:pt x="325230" y="367354"/>
                  <a:pt x="324848" y="366589"/>
                </a:cubicBezTo>
                <a:cubicBezTo>
                  <a:pt x="324212" y="364805"/>
                  <a:pt x="322556" y="365952"/>
                  <a:pt x="321410" y="365825"/>
                </a:cubicBezTo>
                <a:lnTo>
                  <a:pt x="321410" y="365952"/>
                </a:lnTo>
                <a:moveTo>
                  <a:pt x="322938" y="216960"/>
                </a:moveTo>
                <a:cubicBezTo>
                  <a:pt x="324339" y="215812"/>
                  <a:pt x="322302" y="213008"/>
                  <a:pt x="320137" y="213008"/>
                </a:cubicBezTo>
                <a:cubicBezTo>
                  <a:pt x="318480" y="213008"/>
                  <a:pt x="317081" y="214028"/>
                  <a:pt x="315807" y="215176"/>
                </a:cubicBezTo>
                <a:cubicBezTo>
                  <a:pt x="315807" y="216832"/>
                  <a:pt x="321791" y="214156"/>
                  <a:pt x="318353" y="218872"/>
                </a:cubicBezTo>
                <a:cubicBezTo>
                  <a:pt x="317081" y="220528"/>
                  <a:pt x="316443" y="223587"/>
                  <a:pt x="318099" y="225627"/>
                </a:cubicBezTo>
                <a:cubicBezTo>
                  <a:pt x="319118" y="226901"/>
                  <a:pt x="321155" y="226391"/>
                  <a:pt x="322938" y="225499"/>
                </a:cubicBezTo>
                <a:cubicBezTo>
                  <a:pt x="322047" y="222696"/>
                  <a:pt x="319372" y="220019"/>
                  <a:pt x="322938" y="216832"/>
                </a:cubicBezTo>
                <a:lnTo>
                  <a:pt x="322938" y="216960"/>
                </a:lnTo>
                <a:moveTo>
                  <a:pt x="330578" y="210205"/>
                </a:moveTo>
                <a:cubicBezTo>
                  <a:pt x="330578" y="210205"/>
                  <a:pt x="331725" y="210204"/>
                  <a:pt x="331852" y="209822"/>
                </a:cubicBezTo>
                <a:cubicBezTo>
                  <a:pt x="333889" y="205489"/>
                  <a:pt x="326885" y="199117"/>
                  <a:pt x="335036" y="196313"/>
                </a:cubicBezTo>
                <a:cubicBezTo>
                  <a:pt x="335036" y="196313"/>
                  <a:pt x="335036" y="195802"/>
                  <a:pt x="335036" y="195675"/>
                </a:cubicBezTo>
                <a:cubicBezTo>
                  <a:pt x="332362" y="191980"/>
                  <a:pt x="336691" y="188793"/>
                  <a:pt x="335672" y="185224"/>
                </a:cubicBezTo>
                <a:cubicBezTo>
                  <a:pt x="330196" y="181527"/>
                  <a:pt x="330196" y="181400"/>
                  <a:pt x="332362" y="176558"/>
                </a:cubicBezTo>
                <a:cubicBezTo>
                  <a:pt x="329942" y="175538"/>
                  <a:pt x="328032" y="174901"/>
                  <a:pt x="329687" y="171077"/>
                </a:cubicBezTo>
                <a:cubicBezTo>
                  <a:pt x="331979" y="165852"/>
                  <a:pt x="330451" y="164959"/>
                  <a:pt x="324466" y="164067"/>
                </a:cubicBezTo>
                <a:cubicBezTo>
                  <a:pt x="321283" y="163557"/>
                  <a:pt x="319627" y="166106"/>
                  <a:pt x="319754" y="166999"/>
                </a:cubicBezTo>
                <a:cubicBezTo>
                  <a:pt x="320010" y="169165"/>
                  <a:pt x="321664" y="167254"/>
                  <a:pt x="322811" y="166999"/>
                </a:cubicBezTo>
                <a:cubicBezTo>
                  <a:pt x="323574" y="166999"/>
                  <a:pt x="324212" y="168145"/>
                  <a:pt x="323830" y="168783"/>
                </a:cubicBezTo>
                <a:cubicBezTo>
                  <a:pt x="322556" y="171332"/>
                  <a:pt x="323447" y="174390"/>
                  <a:pt x="324721" y="175665"/>
                </a:cubicBezTo>
                <a:cubicBezTo>
                  <a:pt x="326503" y="177322"/>
                  <a:pt x="326631" y="178214"/>
                  <a:pt x="325994" y="180254"/>
                </a:cubicBezTo>
                <a:cubicBezTo>
                  <a:pt x="325484" y="181783"/>
                  <a:pt x="325613" y="183567"/>
                  <a:pt x="325484" y="185224"/>
                </a:cubicBezTo>
                <a:cubicBezTo>
                  <a:pt x="322429" y="186627"/>
                  <a:pt x="321920" y="189175"/>
                  <a:pt x="322556" y="192107"/>
                </a:cubicBezTo>
                <a:cubicBezTo>
                  <a:pt x="322811" y="193636"/>
                  <a:pt x="323830" y="194528"/>
                  <a:pt x="325230" y="195038"/>
                </a:cubicBezTo>
                <a:cubicBezTo>
                  <a:pt x="327650" y="195931"/>
                  <a:pt x="327777" y="196695"/>
                  <a:pt x="328159" y="198733"/>
                </a:cubicBezTo>
                <a:cubicBezTo>
                  <a:pt x="328541" y="201411"/>
                  <a:pt x="326758" y="202813"/>
                  <a:pt x="325994" y="204852"/>
                </a:cubicBezTo>
                <a:cubicBezTo>
                  <a:pt x="324721" y="208293"/>
                  <a:pt x="326503" y="210205"/>
                  <a:pt x="330705" y="210077"/>
                </a:cubicBezTo>
                <a:lnTo>
                  <a:pt x="330578" y="210205"/>
                </a:lnTo>
                <a:moveTo>
                  <a:pt x="340511" y="341098"/>
                </a:moveTo>
                <a:cubicBezTo>
                  <a:pt x="339237" y="339187"/>
                  <a:pt x="337200" y="342373"/>
                  <a:pt x="335799" y="340462"/>
                </a:cubicBezTo>
                <a:cubicBezTo>
                  <a:pt x="335545" y="340079"/>
                  <a:pt x="334908" y="339951"/>
                  <a:pt x="334399" y="339697"/>
                </a:cubicBezTo>
                <a:cubicBezTo>
                  <a:pt x="333253" y="339314"/>
                  <a:pt x="332871" y="340206"/>
                  <a:pt x="332616" y="340971"/>
                </a:cubicBezTo>
                <a:cubicBezTo>
                  <a:pt x="332362" y="341991"/>
                  <a:pt x="333125" y="342882"/>
                  <a:pt x="333762" y="342755"/>
                </a:cubicBezTo>
                <a:cubicBezTo>
                  <a:pt x="335799" y="342755"/>
                  <a:pt x="337965" y="344922"/>
                  <a:pt x="339875" y="342500"/>
                </a:cubicBezTo>
                <a:cubicBezTo>
                  <a:pt x="340256" y="342118"/>
                  <a:pt x="340638" y="341353"/>
                  <a:pt x="340511" y="341098"/>
                </a:cubicBezTo>
                <a:moveTo>
                  <a:pt x="348151" y="338422"/>
                </a:moveTo>
                <a:cubicBezTo>
                  <a:pt x="347515" y="337020"/>
                  <a:pt x="346497" y="335363"/>
                  <a:pt x="345223" y="334726"/>
                </a:cubicBezTo>
                <a:cubicBezTo>
                  <a:pt x="344458" y="334344"/>
                  <a:pt x="342676" y="336000"/>
                  <a:pt x="342930" y="337529"/>
                </a:cubicBezTo>
                <a:cubicBezTo>
                  <a:pt x="343186" y="339697"/>
                  <a:pt x="345096" y="339569"/>
                  <a:pt x="346751" y="339569"/>
                </a:cubicBezTo>
                <a:cubicBezTo>
                  <a:pt x="347388" y="339314"/>
                  <a:pt x="348661" y="339569"/>
                  <a:pt x="348151" y="338422"/>
                </a:cubicBezTo>
                <a:moveTo>
                  <a:pt x="348661" y="315098"/>
                </a:moveTo>
                <a:cubicBezTo>
                  <a:pt x="347642" y="313823"/>
                  <a:pt x="346624" y="316883"/>
                  <a:pt x="344969" y="317138"/>
                </a:cubicBezTo>
                <a:cubicBezTo>
                  <a:pt x="344458" y="317138"/>
                  <a:pt x="343949" y="316883"/>
                  <a:pt x="343057" y="316628"/>
                </a:cubicBezTo>
                <a:cubicBezTo>
                  <a:pt x="343822" y="313314"/>
                  <a:pt x="346368" y="309108"/>
                  <a:pt x="345223" y="306559"/>
                </a:cubicBezTo>
                <a:cubicBezTo>
                  <a:pt x="342930" y="301206"/>
                  <a:pt x="345987" y="298402"/>
                  <a:pt x="349043" y="295344"/>
                </a:cubicBezTo>
                <a:cubicBezTo>
                  <a:pt x="347769" y="294324"/>
                  <a:pt x="347006" y="293942"/>
                  <a:pt x="346368" y="293304"/>
                </a:cubicBezTo>
                <a:cubicBezTo>
                  <a:pt x="344587" y="291520"/>
                  <a:pt x="341785" y="290627"/>
                  <a:pt x="340256" y="292157"/>
                </a:cubicBezTo>
                <a:cubicBezTo>
                  <a:pt x="338346" y="293813"/>
                  <a:pt x="337073" y="296744"/>
                  <a:pt x="338983" y="299677"/>
                </a:cubicBezTo>
                <a:cubicBezTo>
                  <a:pt x="339493" y="300313"/>
                  <a:pt x="339620" y="301333"/>
                  <a:pt x="340002" y="301970"/>
                </a:cubicBezTo>
                <a:cubicBezTo>
                  <a:pt x="340766" y="303500"/>
                  <a:pt x="340511" y="304519"/>
                  <a:pt x="338983" y="305412"/>
                </a:cubicBezTo>
                <a:cubicBezTo>
                  <a:pt x="337456" y="306177"/>
                  <a:pt x="336182" y="307450"/>
                  <a:pt x="335926" y="309235"/>
                </a:cubicBezTo>
                <a:cubicBezTo>
                  <a:pt x="335672" y="311147"/>
                  <a:pt x="335926" y="313186"/>
                  <a:pt x="335545" y="315098"/>
                </a:cubicBezTo>
                <a:cubicBezTo>
                  <a:pt x="335290" y="317010"/>
                  <a:pt x="338601" y="316628"/>
                  <a:pt x="337838" y="318539"/>
                </a:cubicBezTo>
                <a:cubicBezTo>
                  <a:pt x="335163" y="320196"/>
                  <a:pt x="333507" y="316501"/>
                  <a:pt x="331215" y="317774"/>
                </a:cubicBezTo>
                <a:cubicBezTo>
                  <a:pt x="330578" y="318157"/>
                  <a:pt x="330069" y="318921"/>
                  <a:pt x="329560" y="319559"/>
                </a:cubicBezTo>
                <a:cubicBezTo>
                  <a:pt x="329942" y="319814"/>
                  <a:pt x="330196" y="320196"/>
                  <a:pt x="330578" y="320451"/>
                </a:cubicBezTo>
                <a:cubicBezTo>
                  <a:pt x="333635" y="322873"/>
                  <a:pt x="333635" y="322873"/>
                  <a:pt x="330578" y="324274"/>
                </a:cubicBezTo>
                <a:cubicBezTo>
                  <a:pt x="329560" y="324785"/>
                  <a:pt x="328413" y="324912"/>
                  <a:pt x="327904" y="326824"/>
                </a:cubicBezTo>
                <a:cubicBezTo>
                  <a:pt x="330705" y="326824"/>
                  <a:pt x="332106" y="329245"/>
                  <a:pt x="333762" y="331158"/>
                </a:cubicBezTo>
                <a:cubicBezTo>
                  <a:pt x="336818" y="326951"/>
                  <a:pt x="337200" y="326696"/>
                  <a:pt x="340893" y="326059"/>
                </a:cubicBezTo>
                <a:cubicBezTo>
                  <a:pt x="340638" y="325549"/>
                  <a:pt x="340384" y="325040"/>
                  <a:pt x="340129" y="324529"/>
                </a:cubicBezTo>
                <a:cubicBezTo>
                  <a:pt x="339237" y="323256"/>
                  <a:pt x="338728" y="321981"/>
                  <a:pt x="339620" y="320707"/>
                </a:cubicBezTo>
                <a:cubicBezTo>
                  <a:pt x="340893" y="318794"/>
                  <a:pt x="342548" y="320323"/>
                  <a:pt x="344077" y="320451"/>
                </a:cubicBezTo>
                <a:cubicBezTo>
                  <a:pt x="344714" y="319941"/>
                  <a:pt x="345096" y="319049"/>
                  <a:pt x="345859" y="318794"/>
                </a:cubicBezTo>
                <a:cubicBezTo>
                  <a:pt x="347897" y="318285"/>
                  <a:pt x="350317" y="317520"/>
                  <a:pt x="348661" y="315098"/>
                </a:cubicBezTo>
                <a:moveTo>
                  <a:pt x="355792" y="323638"/>
                </a:moveTo>
                <a:cubicBezTo>
                  <a:pt x="355792" y="323638"/>
                  <a:pt x="354773" y="322745"/>
                  <a:pt x="354646" y="322745"/>
                </a:cubicBezTo>
                <a:cubicBezTo>
                  <a:pt x="352354" y="324020"/>
                  <a:pt x="353118" y="327589"/>
                  <a:pt x="350317" y="328609"/>
                </a:cubicBezTo>
                <a:cubicBezTo>
                  <a:pt x="350699" y="328991"/>
                  <a:pt x="350953" y="329500"/>
                  <a:pt x="351335" y="329883"/>
                </a:cubicBezTo>
                <a:cubicBezTo>
                  <a:pt x="353882" y="330138"/>
                  <a:pt x="356939" y="326187"/>
                  <a:pt x="355920" y="323638"/>
                </a:cubicBezTo>
                <a:lnTo>
                  <a:pt x="355792" y="323638"/>
                </a:lnTo>
                <a:moveTo>
                  <a:pt x="362923" y="306814"/>
                </a:moveTo>
                <a:cubicBezTo>
                  <a:pt x="359103" y="305412"/>
                  <a:pt x="363178" y="299804"/>
                  <a:pt x="358722" y="298912"/>
                </a:cubicBezTo>
                <a:cubicBezTo>
                  <a:pt x="356683" y="300186"/>
                  <a:pt x="357702" y="305539"/>
                  <a:pt x="352863" y="303882"/>
                </a:cubicBezTo>
                <a:cubicBezTo>
                  <a:pt x="352609" y="303882"/>
                  <a:pt x="351589" y="304519"/>
                  <a:pt x="351589" y="304775"/>
                </a:cubicBezTo>
                <a:cubicBezTo>
                  <a:pt x="351589" y="305539"/>
                  <a:pt x="351845" y="306814"/>
                  <a:pt x="352481" y="306941"/>
                </a:cubicBezTo>
                <a:cubicBezTo>
                  <a:pt x="355920" y="308343"/>
                  <a:pt x="359612" y="310383"/>
                  <a:pt x="363051" y="306941"/>
                </a:cubicBezTo>
                <a:lnTo>
                  <a:pt x="362923" y="306814"/>
                </a:lnTo>
                <a:moveTo>
                  <a:pt x="367381" y="300824"/>
                </a:moveTo>
                <a:cubicBezTo>
                  <a:pt x="364324" y="301715"/>
                  <a:pt x="362923" y="303755"/>
                  <a:pt x="363178" y="306814"/>
                </a:cubicBezTo>
                <a:cubicBezTo>
                  <a:pt x="364324" y="306814"/>
                  <a:pt x="365597" y="309108"/>
                  <a:pt x="366362" y="307068"/>
                </a:cubicBezTo>
                <a:cubicBezTo>
                  <a:pt x="367125" y="305157"/>
                  <a:pt x="369164" y="303246"/>
                  <a:pt x="367508" y="300824"/>
                </a:cubicBezTo>
                <a:lnTo>
                  <a:pt x="367381" y="300824"/>
                </a:lnTo>
                <a:moveTo>
                  <a:pt x="368399" y="265137"/>
                </a:moveTo>
                <a:cubicBezTo>
                  <a:pt x="367763" y="261313"/>
                  <a:pt x="365980" y="258128"/>
                  <a:pt x="362796" y="255195"/>
                </a:cubicBezTo>
                <a:cubicBezTo>
                  <a:pt x="362160" y="257617"/>
                  <a:pt x="358466" y="258764"/>
                  <a:pt x="362033" y="261186"/>
                </a:cubicBezTo>
                <a:cubicBezTo>
                  <a:pt x="364579" y="262843"/>
                  <a:pt x="360886" y="264627"/>
                  <a:pt x="361777" y="266283"/>
                </a:cubicBezTo>
                <a:cubicBezTo>
                  <a:pt x="362287" y="267303"/>
                  <a:pt x="366362" y="265010"/>
                  <a:pt x="364324" y="268705"/>
                </a:cubicBezTo>
                <a:cubicBezTo>
                  <a:pt x="363432" y="270234"/>
                  <a:pt x="365088" y="271127"/>
                  <a:pt x="364961" y="272529"/>
                </a:cubicBezTo>
                <a:cubicBezTo>
                  <a:pt x="365724" y="272785"/>
                  <a:pt x="366362" y="273039"/>
                  <a:pt x="367125" y="273294"/>
                </a:cubicBezTo>
                <a:lnTo>
                  <a:pt x="368399" y="265010"/>
                </a:lnTo>
                <a:lnTo>
                  <a:pt x="368399" y="265137"/>
                </a:lnTo>
                <a:moveTo>
                  <a:pt x="368399" y="251499"/>
                </a:moveTo>
                <a:cubicBezTo>
                  <a:pt x="367763" y="249206"/>
                  <a:pt x="367763" y="246784"/>
                  <a:pt x="367508" y="244362"/>
                </a:cubicBezTo>
                <a:cubicBezTo>
                  <a:pt x="366871" y="244362"/>
                  <a:pt x="366362" y="244362"/>
                  <a:pt x="365724" y="244489"/>
                </a:cubicBezTo>
                <a:cubicBezTo>
                  <a:pt x="365724" y="247166"/>
                  <a:pt x="365597" y="249842"/>
                  <a:pt x="365724" y="252392"/>
                </a:cubicBezTo>
                <a:cubicBezTo>
                  <a:pt x="365724" y="253157"/>
                  <a:pt x="366234" y="254941"/>
                  <a:pt x="367381" y="254686"/>
                </a:cubicBezTo>
                <a:cubicBezTo>
                  <a:pt x="369035" y="254304"/>
                  <a:pt x="368781" y="253028"/>
                  <a:pt x="368272" y="251499"/>
                </a:cubicBezTo>
                <a:lnTo>
                  <a:pt x="368399" y="251499"/>
                </a:lnTo>
                <a:moveTo>
                  <a:pt x="368908" y="158586"/>
                </a:moveTo>
                <a:cubicBezTo>
                  <a:pt x="368653" y="160881"/>
                  <a:pt x="367890" y="162792"/>
                  <a:pt x="366743" y="164577"/>
                </a:cubicBezTo>
                <a:cubicBezTo>
                  <a:pt x="369164" y="164577"/>
                  <a:pt x="371455" y="164832"/>
                  <a:pt x="372601" y="167508"/>
                </a:cubicBezTo>
                <a:cubicBezTo>
                  <a:pt x="374512" y="163175"/>
                  <a:pt x="371455" y="161135"/>
                  <a:pt x="368908" y="158714"/>
                </a:cubicBezTo>
                <a:lnTo>
                  <a:pt x="368908" y="158586"/>
                </a:lnTo>
                <a:moveTo>
                  <a:pt x="377186" y="123919"/>
                </a:moveTo>
                <a:cubicBezTo>
                  <a:pt x="374256" y="126341"/>
                  <a:pt x="371074" y="128507"/>
                  <a:pt x="372601" y="134753"/>
                </a:cubicBezTo>
                <a:cubicBezTo>
                  <a:pt x="375276" y="130674"/>
                  <a:pt x="374639" y="126469"/>
                  <a:pt x="377186" y="123919"/>
                </a:cubicBezTo>
                <a:moveTo>
                  <a:pt x="380242" y="87978"/>
                </a:moveTo>
                <a:cubicBezTo>
                  <a:pt x="379223" y="90399"/>
                  <a:pt x="379606" y="91546"/>
                  <a:pt x="381770" y="92566"/>
                </a:cubicBezTo>
                <a:cubicBezTo>
                  <a:pt x="382916" y="93076"/>
                  <a:pt x="384062" y="93713"/>
                  <a:pt x="385336" y="94350"/>
                </a:cubicBezTo>
                <a:cubicBezTo>
                  <a:pt x="386481" y="91037"/>
                  <a:pt x="387628" y="87596"/>
                  <a:pt x="388647" y="84282"/>
                </a:cubicBezTo>
                <a:cubicBezTo>
                  <a:pt x="387500" y="83899"/>
                  <a:pt x="385081" y="84537"/>
                  <a:pt x="386099" y="82752"/>
                </a:cubicBezTo>
                <a:cubicBezTo>
                  <a:pt x="388391" y="79311"/>
                  <a:pt x="386991" y="76762"/>
                  <a:pt x="385336" y="74086"/>
                </a:cubicBezTo>
                <a:cubicBezTo>
                  <a:pt x="383680" y="78801"/>
                  <a:pt x="382152" y="83517"/>
                  <a:pt x="380115" y="88105"/>
                </a:cubicBezTo>
                <a:lnTo>
                  <a:pt x="380242" y="87978"/>
                </a:lnTo>
                <a:moveTo>
                  <a:pt x="382916" y="122135"/>
                </a:moveTo>
                <a:cubicBezTo>
                  <a:pt x="382025" y="122900"/>
                  <a:pt x="382152" y="124302"/>
                  <a:pt x="383426" y="124684"/>
                </a:cubicBezTo>
                <a:cubicBezTo>
                  <a:pt x="384954" y="125321"/>
                  <a:pt x="384954" y="123537"/>
                  <a:pt x="385590" y="122772"/>
                </a:cubicBezTo>
                <a:cubicBezTo>
                  <a:pt x="387755" y="119841"/>
                  <a:pt x="384698" y="118821"/>
                  <a:pt x="384189" y="116400"/>
                </a:cubicBezTo>
                <a:cubicBezTo>
                  <a:pt x="381898" y="118567"/>
                  <a:pt x="384954" y="120478"/>
                  <a:pt x="383043" y="122008"/>
                </a:cubicBezTo>
                <a:lnTo>
                  <a:pt x="382916" y="122135"/>
                </a:lnTo>
                <a:moveTo>
                  <a:pt x="388391" y="171841"/>
                </a:moveTo>
                <a:cubicBezTo>
                  <a:pt x="387755" y="170185"/>
                  <a:pt x="387118" y="168272"/>
                  <a:pt x="386099" y="166616"/>
                </a:cubicBezTo>
                <a:cubicBezTo>
                  <a:pt x="385081" y="164959"/>
                  <a:pt x="383553" y="164450"/>
                  <a:pt x="381770" y="165468"/>
                </a:cubicBezTo>
                <a:cubicBezTo>
                  <a:pt x="381133" y="165852"/>
                  <a:pt x="380369" y="165724"/>
                  <a:pt x="380496" y="165086"/>
                </a:cubicBezTo>
                <a:cubicBezTo>
                  <a:pt x="380878" y="160753"/>
                  <a:pt x="377313" y="156420"/>
                  <a:pt x="381006" y="152086"/>
                </a:cubicBezTo>
                <a:cubicBezTo>
                  <a:pt x="382407" y="150557"/>
                  <a:pt x="382279" y="148391"/>
                  <a:pt x="381006" y="146606"/>
                </a:cubicBezTo>
                <a:cubicBezTo>
                  <a:pt x="380624" y="146096"/>
                  <a:pt x="379477" y="146096"/>
                  <a:pt x="378714" y="146096"/>
                </a:cubicBezTo>
                <a:cubicBezTo>
                  <a:pt x="377949" y="146096"/>
                  <a:pt x="377567" y="146606"/>
                  <a:pt x="378076" y="146989"/>
                </a:cubicBezTo>
                <a:cubicBezTo>
                  <a:pt x="381133" y="149028"/>
                  <a:pt x="378841" y="150047"/>
                  <a:pt x="377186" y="151067"/>
                </a:cubicBezTo>
                <a:cubicBezTo>
                  <a:pt x="376166" y="151704"/>
                  <a:pt x="375403" y="152342"/>
                  <a:pt x="375275" y="153615"/>
                </a:cubicBezTo>
                <a:cubicBezTo>
                  <a:pt x="374639" y="158968"/>
                  <a:pt x="376295" y="163684"/>
                  <a:pt x="379733" y="167636"/>
                </a:cubicBezTo>
                <a:cubicBezTo>
                  <a:pt x="382661" y="171077"/>
                  <a:pt x="383043" y="170823"/>
                  <a:pt x="381897" y="175156"/>
                </a:cubicBezTo>
                <a:cubicBezTo>
                  <a:pt x="381770" y="175665"/>
                  <a:pt x="381006" y="175920"/>
                  <a:pt x="381643" y="176174"/>
                </a:cubicBezTo>
                <a:cubicBezTo>
                  <a:pt x="384571" y="177832"/>
                  <a:pt x="385081" y="181273"/>
                  <a:pt x="386991" y="183567"/>
                </a:cubicBezTo>
                <a:cubicBezTo>
                  <a:pt x="387500" y="184205"/>
                  <a:pt x="388391" y="184587"/>
                  <a:pt x="389028" y="183822"/>
                </a:cubicBezTo>
                <a:cubicBezTo>
                  <a:pt x="389410" y="183440"/>
                  <a:pt x="389665" y="182547"/>
                  <a:pt x="389538" y="182420"/>
                </a:cubicBezTo>
                <a:cubicBezTo>
                  <a:pt x="385590" y="179361"/>
                  <a:pt x="386354" y="175665"/>
                  <a:pt x="388391" y="171714"/>
                </a:cubicBezTo>
                <a:lnTo>
                  <a:pt x="388391" y="171841"/>
                </a:lnTo>
                <a:moveTo>
                  <a:pt x="384444" y="217979"/>
                </a:moveTo>
                <a:cubicBezTo>
                  <a:pt x="385208" y="213774"/>
                  <a:pt x="390174" y="213136"/>
                  <a:pt x="387755" y="207401"/>
                </a:cubicBezTo>
                <a:cubicBezTo>
                  <a:pt x="386608" y="211097"/>
                  <a:pt x="383297" y="212881"/>
                  <a:pt x="384444" y="217979"/>
                </a:cubicBezTo>
                <a:moveTo>
                  <a:pt x="388009" y="203068"/>
                </a:moveTo>
                <a:cubicBezTo>
                  <a:pt x="384062" y="200264"/>
                  <a:pt x="381898" y="197715"/>
                  <a:pt x="378205" y="200391"/>
                </a:cubicBezTo>
                <a:cubicBezTo>
                  <a:pt x="375021" y="202686"/>
                  <a:pt x="374256" y="205362"/>
                  <a:pt x="376422" y="208930"/>
                </a:cubicBezTo>
                <a:cubicBezTo>
                  <a:pt x="378544" y="205702"/>
                  <a:pt x="382406" y="203747"/>
                  <a:pt x="388009" y="203068"/>
                </a:cubicBezTo>
                <a:moveTo>
                  <a:pt x="378076" y="106968"/>
                </a:moveTo>
                <a:cubicBezTo>
                  <a:pt x="377313" y="107223"/>
                  <a:pt x="376804" y="107860"/>
                  <a:pt x="375148" y="109262"/>
                </a:cubicBezTo>
                <a:cubicBezTo>
                  <a:pt x="377058" y="109390"/>
                  <a:pt x="377822" y="109517"/>
                  <a:pt x="378714" y="109517"/>
                </a:cubicBezTo>
                <a:cubicBezTo>
                  <a:pt x="379860" y="109517"/>
                  <a:pt x="381006" y="109517"/>
                  <a:pt x="381643" y="108498"/>
                </a:cubicBezTo>
                <a:cubicBezTo>
                  <a:pt x="381770" y="108243"/>
                  <a:pt x="381643" y="107478"/>
                  <a:pt x="381260" y="107096"/>
                </a:cubicBezTo>
                <a:cubicBezTo>
                  <a:pt x="380369" y="106076"/>
                  <a:pt x="379223" y="106459"/>
                  <a:pt x="378205" y="106841"/>
                </a:cubicBezTo>
                <a:lnTo>
                  <a:pt x="378076" y="106968"/>
                </a:lnTo>
                <a:moveTo>
                  <a:pt x="379223" y="250862"/>
                </a:moveTo>
                <a:cubicBezTo>
                  <a:pt x="375912" y="253284"/>
                  <a:pt x="372984" y="255833"/>
                  <a:pt x="373747" y="260803"/>
                </a:cubicBezTo>
                <a:cubicBezTo>
                  <a:pt x="374002" y="262205"/>
                  <a:pt x="374639" y="262970"/>
                  <a:pt x="375403" y="263097"/>
                </a:cubicBezTo>
                <a:cubicBezTo>
                  <a:pt x="376931" y="263481"/>
                  <a:pt x="378076" y="262588"/>
                  <a:pt x="377440" y="260803"/>
                </a:cubicBezTo>
                <a:cubicBezTo>
                  <a:pt x="376931" y="259146"/>
                  <a:pt x="377567" y="258637"/>
                  <a:pt x="378841" y="259146"/>
                </a:cubicBezTo>
                <a:cubicBezTo>
                  <a:pt x="380369" y="259784"/>
                  <a:pt x="381133" y="260166"/>
                  <a:pt x="381643" y="257999"/>
                </a:cubicBezTo>
                <a:cubicBezTo>
                  <a:pt x="382534" y="254813"/>
                  <a:pt x="382661" y="252137"/>
                  <a:pt x="379096" y="250735"/>
                </a:cubicBezTo>
                <a:lnTo>
                  <a:pt x="379223" y="250862"/>
                </a:lnTo>
                <a:moveTo>
                  <a:pt x="392212" y="238754"/>
                </a:moveTo>
                <a:cubicBezTo>
                  <a:pt x="389028" y="236842"/>
                  <a:pt x="386737" y="235440"/>
                  <a:pt x="384317" y="233911"/>
                </a:cubicBezTo>
                <a:cubicBezTo>
                  <a:pt x="384698" y="236842"/>
                  <a:pt x="382661" y="239136"/>
                  <a:pt x="381897" y="241813"/>
                </a:cubicBezTo>
                <a:cubicBezTo>
                  <a:pt x="380624" y="245891"/>
                  <a:pt x="382025" y="248695"/>
                  <a:pt x="384571" y="251244"/>
                </a:cubicBezTo>
                <a:cubicBezTo>
                  <a:pt x="385590" y="252264"/>
                  <a:pt x="386481" y="251244"/>
                  <a:pt x="386864" y="250097"/>
                </a:cubicBezTo>
                <a:cubicBezTo>
                  <a:pt x="389792" y="249460"/>
                  <a:pt x="390047" y="252774"/>
                  <a:pt x="391958" y="253666"/>
                </a:cubicBezTo>
                <a:cubicBezTo>
                  <a:pt x="391958" y="251499"/>
                  <a:pt x="391958" y="249206"/>
                  <a:pt x="391575" y="247166"/>
                </a:cubicBezTo>
                <a:cubicBezTo>
                  <a:pt x="391193" y="244489"/>
                  <a:pt x="389665" y="242960"/>
                  <a:pt x="386737" y="244235"/>
                </a:cubicBezTo>
                <a:cubicBezTo>
                  <a:pt x="383297" y="238500"/>
                  <a:pt x="389665" y="240538"/>
                  <a:pt x="392085" y="238882"/>
                </a:cubicBezTo>
                <a:lnTo>
                  <a:pt x="392212" y="238754"/>
                </a:lnTo>
                <a:moveTo>
                  <a:pt x="393868" y="211861"/>
                </a:moveTo>
                <a:cubicBezTo>
                  <a:pt x="392594" y="211479"/>
                  <a:pt x="392212" y="212372"/>
                  <a:pt x="391575" y="212881"/>
                </a:cubicBezTo>
                <a:cubicBezTo>
                  <a:pt x="389919" y="214283"/>
                  <a:pt x="390811" y="216959"/>
                  <a:pt x="388137" y="218234"/>
                </a:cubicBezTo>
                <a:cubicBezTo>
                  <a:pt x="385972" y="219254"/>
                  <a:pt x="386991" y="222567"/>
                  <a:pt x="387628" y="224480"/>
                </a:cubicBezTo>
                <a:cubicBezTo>
                  <a:pt x="388647" y="228558"/>
                  <a:pt x="391066" y="220911"/>
                  <a:pt x="392849" y="224862"/>
                </a:cubicBezTo>
                <a:cubicBezTo>
                  <a:pt x="393485" y="226263"/>
                  <a:pt x="393995" y="224225"/>
                  <a:pt x="393868" y="223970"/>
                </a:cubicBezTo>
                <a:cubicBezTo>
                  <a:pt x="392467" y="220274"/>
                  <a:pt x="392849" y="216959"/>
                  <a:pt x="394886" y="213646"/>
                </a:cubicBezTo>
                <a:cubicBezTo>
                  <a:pt x="395140" y="213390"/>
                  <a:pt x="394122" y="212372"/>
                  <a:pt x="393868" y="211861"/>
                </a:cubicBezTo>
                <a:moveTo>
                  <a:pt x="405073" y="230725"/>
                </a:moveTo>
                <a:cubicBezTo>
                  <a:pt x="405073" y="230725"/>
                  <a:pt x="404183" y="229450"/>
                  <a:pt x="403672" y="228813"/>
                </a:cubicBezTo>
                <a:cubicBezTo>
                  <a:pt x="400872" y="229450"/>
                  <a:pt x="400999" y="232254"/>
                  <a:pt x="399598" y="233783"/>
                </a:cubicBezTo>
                <a:cubicBezTo>
                  <a:pt x="399089" y="234293"/>
                  <a:pt x="399089" y="235313"/>
                  <a:pt x="399980" y="235951"/>
                </a:cubicBezTo>
                <a:cubicBezTo>
                  <a:pt x="400743" y="236333"/>
                  <a:pt x="401508" y="236333"/>
                  <a:pt x="402273" y="235951"/>
                </a:cubicBezTo>
                <a:cubicBezTo>
                  <a:pt x="404054" y="234676"/>
                  <a:pt x="403800" y="232382"/>
                  <a:pt x="405073" y="230852"/>
                </a:cubicBezTo>
                <a:lnTo>
                  <a:pt x="405073" y="230725"/>
                </a:lnTo>
                <a:moveTo>
                  <a:pt x="411695" y="202557"/>
                </a:moveTo>
                <a:cubicBezTo>
                  <a:pt x="410422" y="202940"/>
                  <a:pt x="409275" y="203959"/>
                  <a:pt x="408130" y="204724"/>
                </a:cubicBezTo>
                <a:cubicBezTo>
                  <a:pt x="407238" y="205362"/>
                  <a:pt x="406093" y="206253"/>
                  <a:pt x="405073" y="205489"/>
                </a:cubicBezTo>
                <a:cubicBezTo>
                  <a:pt x="403291" y="204215"/>
                  <a:pt x="401126" y="202813"/>
                  <a:pt x="400872" y="200391"/>
                </a:cubicBezTo>
                <a:cubicBezTo>
                  <a:pt x="400616" y="198097"/>
                  <a:pt x="401635" y="196058"/>
                  <a:pt x="404310" y="195420"/>
                </a:cubicBezTo>
                <a:cubicBezTo>
                  <a:pt x="404310" y="196185"/>
                  <a:pt x="404437" y="197077"/>
                  <a:pt x="404310" y="197842"/>
                </a:cubicBezTo>
                <a:cubicBezTo>
                  <a:pt x="404310" y="199244"/>
                  <a:pt x="404310" y="200901"/>
                  <a:pt x="405837" y="201284"/>
                </a:cubicBezTo>
                <a:cubicBezTo>
                  <a:pt x="408003" y="201793"/>
                  <a:pt x="408257" y="199753"/>
                  <a:pt x="409021" y="198351"/>
                </a:cubicBezTo>
                <a:cubicBezTo>
                  <a:pt x="412205" y="199117"/>
                  <a:pt x="414625" y="197969"/>
                  <a:pt x="413478" y="194655"/>
                </a:cubicBezTo>
                <a:cubicBezTo>
                  <a:pt x="411058" y="188283"/>
                  <a:pt x="408766" y="181656"/>
                  <a:pt x="403800" y="176685"/>
                </a:cubicBezTo>
                <a:cubicBezTo>
                  <a:pt x="402144" y="178087"/>
                  <a:pt x="403036" y="179234"/>
                  <a:pt x="403800" y="180509"/>
                </a:cubicBezTo>
                <a:cubicBezTo>
                  <a:pt x="405582" y="183695"/>
                  <a:pt x="407365" y="186754"/>
                  <a:pt x="408893" y="190067"/>
                </a:cubicBezTo>
                <a:cubicBezTo>
                  <a:pt x="409658" y="191724"/>
                  <a:pt x="409531" y="193380"/>
                  <a:pt x="407238" y="193891"/>
                </a:cubicBezTo>
                <a:cubicBezTo>
                  <a:pt x="406729" y="192489"/>
                  <a:pt x="407492" y="188793"/>
                  <a:pt x="404310" y="191597"/>
                </a:cubicBezTo>
                <a:cubicBezTo>
                  <a:pt x="402271" y="193382"/>
                  <a:pt x="399980" y="194146"/>
                  <a:pt x="397688" y="195293"/>
                </a:cubicBezTo>
                <a:cubicBezTo>
                  <a:pt x="396414" y="195931"/>
                  <a:pt x="395649" y="195038"/>
                  <a:pt x="396160" y="193509"/>
                </a:cubicBezTo>
                <a:cubicBezTo>
                  <a:pt x="396669" y="192107"/>
                  <a:pt x="397179" y="190704"/>
                  <a:pt x="394759" y="190704"/>
                </a:cubicBezTo>
                <a:cubicBezTo>
                  <a:pt x="393995" y="190704"/>
                  <a:pt x="392976" y="190831"/>
                  <a:pt x="392467" y="191342"/>
                </a:cubicBezTo>
                <a:cubicBezTo>
                  <a:pt x="391575" y="192362"/>
                  <a:pt x="392212" y="193509"/>
                  <a:pt x="392849" y="194400"/>
                </a:cubicBezTo>
                <a:cubicBezTo>
                  <a:pt x="395268" y="197842"/>
                  <a:pt x="398197" y="201028"/>
                  <a:pt x="399343" y="205235"/>
                </a:cubicBezTo>
                <a:cubicBezTo>
                  <a:pt x="398833" y="205362"/>
                  <a:pt x="398579" y="205489"/>
                  <a:pt x="398324" y="205489"/>
                </a:cubicBezTo>
                <a:cubicBezTo>
                  <a:pt x="397179" y="205489"/>
                  <a:pt x="395778" y="203577"/>
                  <a:pt x="394886" y="205744"/>
                </a:cubicBezTo>
                <a:cubicBezTo>
                  <a:pt x="393995" y="207783"/>
                  <a:pt x="395905" y="207019"/>
                  <a:pt x="396669" y="207273"/>
                </a:cubicBezTo>
                <a:cubicBezTo>
                  <a:pt x="400234" y="208293"/>
                  <a:pt x="403418" y="209441"/>
                  <a:pt x="399598" y="213774"/>
                </a:cubicBezTo>
                <a:cubicBezTo>
                  <a:pt x="399343" y="214028"/>
                  <a:pt x="399598" y="214921"/>
                  <a:pt x="399852" y="215176"/>
                </a:cubicBezTo>
                <a:cubicBezTo>
                  <a:pt x="402654" y="217470"/>
                  <a:pt x="403545" y="222312"/>
                  <a:pt x="408384" y="222312"/>
                </a:cubicBezTo>
                <a:cubicBezTo>
                  <a:pt x="412968" y="217087"/>
                  <a:pt x="410167" y="209823"/>
                  <a:pt x="413478" y="204215"/>
                </a:cubicBezTo>
                <a:cubicBezTo>
                  <a:pt x="414114" y="203195"/>
                  <a:pt x="412586" y="202175"/>
                  <a:pt x="411314" y="202557"/>
                </a:cubicBezTo>
                <a:lnTo>
                  <a:pt x="411695" y="202557"/>
                </a:lnTo>
                <a:moveTo>
                  <a:pt x="397815" y="181911"/>
                </a:moveTo>
                <a:cubicBezTo>
                  <a:pt x="397815" y="181911"/>
                  <a:pt x="398451" y="182803"/>
                  <a:pt x="398833" y="182803"/>
                </a:cubicBezTo>
                <a:cubicBezTo>
                  <a:pt x="399216" y="182803"/>
                  <a:pt x="399980" y="182420"/>
                  <a:pt x="400107" y="182038"/>
                </a:cubicBezTo>
                <a:cubicBezTo>
                  <a:pt x="401126" y="178979"/>
                  <a:pt x="400872" y="176176"/>
                  <a:pt x="398324" y="173754"/>
                </a:cubicBezTo>
                <a:cubicBezTo>
                  <a:pt x="396032" y="176430"/>
                  <a:pt x="399343" y="179234"/>
                  <a:pt x="397815" y="181783"/>
                </a:cubicBezTo>
                <a:lnTo>
                  <a:pt x="397815" y="181911"/>
                </a:lnTo>
                <a:moveTo>
                  <a:pt x="404181" y="159606"/>
                </a:moveTo>
                <a:cubicBezTo>
                  <a:pt x="404692" y="161519"/>
                  <a:pt x="405073" y="163430"/>
                  <a:pt x="407874" y="161517"/>
                </a:cubicBezTo>
                <a:cubicBezTo>
                  <a:pt x="409404" y="160499"/>
                  <a:pt x="411950" y="160371"/>
                  <a:pt x="410549" y="157566"/>
                </a:cubicBezTo>
                <a:cubicBezTo>
                  <a:pt x="410167" y="156802"/>
                  <a:pt x="409658" y="156037"/>
                  <a:pt x="408893" y="155782"/>
                </a:cubicBezTo>
                <a:cubicBezTo>
                  <a:pt x="407620" y="155273"/>
                  <a:pt x="407874" y="156548"/>
                  <a:pt x="407620" y="157184"/>
                </a:cubicBezTo>
                <a:cubicBezTo>
                  <a:pt x="406983" y="158968"/>
                  <a:pt x="406093" y="159988"/>
                  <a:pt x="404181" y="159733"/>
                </a:cubicBezTo>
                <a:lnTo>
                  <a:pt x="404181" y="159606"/>
                </a:lnTo>
                <a:moveTo>
                  <a:pt x="412332" y="139978"/>
                </a:moveTo>
                <a:cubicBezTo>
                  <a:pt x="407620" y="136792"/>
                  <a:pt x="405837" y="139342"/>
                  <a:pt x="404310" y="142273"/>
                </a:cubicBezTo>
                <a:cubicBezTo>
                  <a:pt x="407238" y="142782"/>
                  <a:pt x="409148" y="140360"/>
                  <a:pt x="412332" y="139978"/>
                </a:cubicBezTo>
                <a:moveTo>
                  <a:pt x="419717" y="181656"/>
                </a:moveTo>
                <a:cubicBezTo>
                  <a:pt x="417680" y="183822"/>
                  <a:pt x="416025" y="185478"/>
                  <a:pt x="414114" y="187518"/>
                </a:cubicBezTo>
                <a:cubicBezTo>
                  <a:pt x="417001" y="187094"/>
                  <a:pt x="418869" y="185139"/>
                  <a:pt x="419717" y="181656"/>
                </a:cubicBezTo>
                <a:moveTo>
                  <a:pt x="420864" y="166234"/>
                </a:moveTo>
                <a:cubicBezTo>
                  <a:pt x="419717" y="163812"/>
                  <a:pt x="418445" y="161263"/>
                  <a:pt x="416025" y="159733"/>
                </a:cubicBezTo>
                <a:cubicBezTo>
                  <a:pt x="414242" y="161517"/>
                  <a:pt x="411185" y="163430"/>
                  <a:pt x="411441" y="164450"/>
                </a:cubicBezTo>
                <a:cubicBezTo>
                  <a:pt x="412459" y="169037"/>
                  <a:pt x="408766" y="171969"/>
                  <a:pt x="407492" y="176685"/>
                </a:cubicBezTo>
                <a:cubicBezTo>
                  <a:pt x="410422" y="175156"/>
                  <a:pt x="412459" y="174645"/>
                  <a:pt x="414625" y="174645"/>
                </a:cubicBezTo>
                <a:cubicBezTo>
                  <a:pt x="416279" y="174645"/>
                  <a:pt x="416279" y="172734"/>
                  <a:pt x="416535" y="171332"/>
                </a:cubicBezTo>
                <a:cubicBezTo>
                  <a:pt x="415134" y="171332"/>
                  <a:pt x="413351" y="171714"/>
                  <a:pt x="413351" y="169675"/>
                </a:cubicBezTo>
                <a:cubicBezTo>
                  <a:pt x="413351" y="168145"/>
                  <a:pt x="414625" y="166999"/>
                  <a:pt x="416025" y="166743"/>
                </a:cubicBezTo>
                <a:cubicBezTo>
                  <a:pt x="418189" y="166488"/>
                  <a:pt x="417807" y="168401"/>
                  <a:pt x="418062" y="169675"/>
                </a:cubicBezTo>
                <a:cubicBezTo>
                  <a:pt x="420482" y="169675"/>
                  <a:pt x="422265" y="168655"/>
                  <a:pt x="420991" y="166234"/>
                </a:cubicBezTo>
                <a:lnTo>
                  <a:pt x="420864" y="166234"/>
                </a:lnTo>
                <a:moveTo>
                  <a:pt x="425958" y="135772"/>
                </a:moveTo>
                <a:cubicBezTo>
                  <a:pt x="423156" y="131821"/>
                  <a:pt x="426721" y="129783"/>
                  <a:pt x="427995" y="127105"/>
                </a:cubicBezTo>
                <a:cubicBezTo>
                  <a:pt x="423666" y="128380"/>
                  <a:pt x="423666" y="128507"/>
                  <a:pt x="420991" y="133605"/>
                </a:cubicBezTo>
                <a:cubicBezTo>
                  <a:pt x="420226" y="135136"/>
                  <a:pt x="418826" y="136155"/>
                  <a:pt x="417044" y="136409"/>
                </a:cubicBezTo>
                <a:cubicBezTo>
                  <a:pt x="415388" y="135007"/>
                  <a:pt x="418062" y="129783"/>
                  <a:pt x="412586" y="131567"/>
                </a:cubicBezTo>
                <a:cubicBezTo>
                  <a:pt x="411441" y="131949"/>
                  <a:pt x="410167" y="129527"/>
                  <a:pt x="411185" y="128380"/>
                </a:cubicBezTo>
                <a:cubicBezTo>
                  <a:pt x="412968" y="126086"/>
                  <a:pt x="412586" y="123792"/>
                  <a:pt x="412586" y="121243"/>
                </a:cubicBezTo>
                <a:cubicBezTo>
                  <a:pt x="412586" y="118057"/>
                  <a:pt x="413733" y="115253"/>
                  <a:pt x="416152" y="113214"/>
                </a:cubicBezTo>
                <a:cubicBezTo>
                  <a:pt x="416152" y="111174"/>
                  <a:pt x="419717" y="109390"/>
                  <a:pt x="418316" y="108498"/>
                </a:cubicBezTo>
                <a:cubicBezTo>
                  <a:pt x="414369" y="105949"/>
                  <a:pt x="418316" y="102635"/>
                  <a:pt x="417171" y="99703"/>
                </a:cubicBezTo>
                <a:cubicBezTo>
                  <a:pt x="414879" y="101233"/>
                  <a:pt x="413095" y="102253"/>
                  <a:pt x="413987" y="105311"/>
                </a:cubicBezTo>
                <a:cubicBezTo>
                  <a:pt x="415388" y="110027"/>
                  <a:pt x="415134" y="110155"/>
                  <a:pt x="409404" y="111557"/>
                </a:cubicBezTo>
                <a:cubicBezTo>
                  <a:pt x="409404" y="112704"/>
                  <a:pt x="409148" y="113851"/>
                  <a:pt x="409404" y="114870"/>
                </a:cubicBezTo>
                <a:cubicBezTo>
                  <a:pt x="411058" y="120861"/>
                  <a:pt x="411058" y="120861"/>
                  <a:pt x="405964" y="123410"/>
                </a:cubicBezTo>
                <a:cubicBezTo>
                  <a:pt x="405073" y="123792"/>
                  <a:pt x="404183" y="124812"/>
                  <a:pt x="403036" y="124175"/>
                </a:cubicBezTo>
                <a:cubicBezTo>
                  <a:pt x="402273" y="122263"/>
                  <a:pt x="401762" y="119714"/>
                  <a:pt x="403545" y="118821"/>
                </a:cubicBezTo>
                <a:cubicBezTo>
                  <a:pt x="406474" y="117292"/>
                  <a:pt x="406220" y="115635"/>
                  <a:pt x="404819" y="113468"/>
                </a:cubicBezTo>
                <a:cubicBezTo>
                  <a:pt x="404054" y="112194"/>
                  <a:pt x="403927" y="110792"/>
                  <a:pt x="403927" y="109390"/>
                </a:cubicBezTo>
                <a:cubicBezTo>
                  <a:pt x="403927" y="104802"/>
                  <a:pt x="405837" y="100213"/>
                  <a:pt x="404310" y="95625"/>
                </a:cubicBezTo>
                <a:cubicBezTo>
                  <a:pt x="404310" y="95498"/>
                  <a:pt x="405582" y="94860"/>
                  <a:pt x="406220" y="94350"/>
                </a:cubicBezTo>
                <a:cubicBezTo>
                  <a:pt x="408003" y="96517"/>
                  <a:pt x="409785" y="98556"/>
                  <a:pt x="411568" y="100851"/>
                </a:cubicBezTo>
                <a:cubicBezTo>
                  <a:pt x="414496" y="93458"/>
                  <a:pt x="414369" y="93076"/>
                  <a:pt x="408893" y="93586"/>
                </a:cubicBezTo>
                <a:cubicBezTo>
                  <a:pt x="408384" y="88997"/>
                  <a:pt x="403163" y="84664"/>
                  <a:pt x="410422" y="78801"/>
                </a:cubicBezTo>
                <a:cubicBezTo>
                  <a:pt x="405964" y="80331"/>
                  <a:pt x="403672" y="81095"/>
                  <a:pt x="400999" y="81988"/>
                </a:cubicBezTo>
                <a:cubicBezTo>
                  <a:pt x="400107" y="75870"/>
                  <a:pt x="398960" y="70007"/>
                  <a:pt x="395651" y="64909"/>
                </a:cubicBezTo>
                <a:cubicBezTo>
                  <a:pt x="393103" y="60958"/>
                  <a:pt x="392594" y="55732"/>
                  <a:pt x="388774" y="52801"/>
                </a:cubicBezTo>
                <a:cubicBezTo>
                  <a:pt x="386608" y="51144"/>
                  <a:pt x="385845" y="49997"/>
                  <a:pt x="386737" y="47448"/>
                </a:cubicBezTo>
                <a:cubicBezTo>
                  <a:pt x="387119" y="46428"/>
                  <a:pt x="387628" y="44771"/>
                  <a:pt x="385972" y="44007"/>
                </a:cubicBezTo>
                <a:cubicBezTo>
                  <a:pt x="384698" y="44517"/>
                  <a:pt x="384189" y="45409"/>
                  <a:pt x="383935" y="46556"/>
                </a:cubicBezTo>
                <a:cubicBezTo>
                  <a:pt x="383808" y="47575"/>
                  <a:pt x="383935" y="48977"/>
                  <a:pt x="382279" y="48850"/>
                </a:cubicBezTo>
                <a:cubicBezTo>
                  <a:pt x="381643" y="48850"/>
                  <a:pt x="380496" y="47703"/>
                  <a:pt x="380624" y="47193"/>
                </a:cubicBezTo>
                <a:cubicBezTo>
                  <a:pt x="381006" y="43752"/>
                  <a:pt x="378205" y="40948"/>
                  <a:pt x="378459" y="37507"/>
                </a:cubicBezTo>
                <a:cubicBezTo>
                  <a:pt x="375275" y="38654"/>
                  <a:pt x="375785" y="42605"/>
                  <a:pt x="373111" y="45026"/>
                </a:cubicBezTo>
                <a:cubicBezTo>
                  <a:pt x="370563" y="41075"/>
                  <a:pt x="371837" y="37379"/>
                  <a:pt x="371583" y="33683"/>
                </a:cubicBezTo>
                <a:cubicBezTo>
                  <a:pt x="373493" y="33811"/>
                  <a:pt x="375021" y="33938"/>
                  <a:pt x="376549" y="34065"/>
                </a:cubicBezTo>
                <a:cubicBezTo>
                  <a:pt x="376166" y="32026"/>
                  <a:pt x="376549" y="30242"/>
                  <a:pt x="377822" y="28458"/>
                </a:cubicBezTo>
                <a:cubicBezTo>
                  <a:pt x="378587" y="27183"/>
                  <a:pt x="378586" y="25526"/>
                  <a:pt x="377058" y="24889"/>
                </a:cubicBezTo>
                <a:cubicBezTo>
                  <a:pt x="375530" y="24379"/>
                  <a:pt x="375403" y="25909"/>
                  <a:pt x="375148" y="26928"/>
                </a:cubicBezTo>
                <a:cubicBezTo>
                  <a:pt x="375148" y="27438"/>
                  <a:pt x="375021" y="28075"/>
                  <a:pt x="374766" y="28585"/>
                </a:cubicBezTo>
                <a:cubicBezTo>
                  <a:pt x="373747" y="30369"/>
                  <a:pt x="372474" y="30879"/>
                  <a:pt x="370818" y="29222"/>
                </a:cubicBezTo>
                <a:cubicBezTo>
                  <a:pt x="370182" y="28585"/>
                  <a:pt x="370436" y="26291"/>
                  <a:pt x="368399" y="27438"/>
                </a:cubicBezTo>
                <a:cubicBezTo>
                  <a:pt x="369035" y="29605"/>
                  <a:pt x="369545" y="31771"/>
                  <a:pt x="370055" y="33938"/>
                </a:cubicBezTo>
                <a:cubicBezTo>
                  <a:pt x="370309" y="35340"/>
                  <a:pt x="370691" y="37124"/>
                  <a:pt x="369164" y="37634"/>
                </a:cubicBezTo>
                <a:cubicBezTo>
                  <a:pt x="367635" y="38144"/>
                  <a:pt x="366871" y="36232"/>
                  <a:pt x="365980" y="35340"/>
                </a:cubicBezTo>
                <a:cubicBezTo>
                  <a:pt x="364070" y="36360"/>
                  <a:pt x="365343" y="40311"/>
                  <a:pt x="362287" y="40183"/>
                </a:cubicBezTo>
                <a:cubicBezTo>
                  <a:pt x="359358" y="37507"/>
                  <a:pt x="365343" y="34830"/>
                  <a:pt x="361650" y="32408"/>
                </a:cubicBezTo>
                <a:cubicBezTo>
                  <a:pt x="361650" y="30242"/>
                  <a:pt x="361141" y="27948"/>
                  <a:pt x="362542" y="25781"/>
                </a:cubicBezTo>
                <a:cubicBezTo>
                  <a:pt x="363941" y="23487"/>
                  <a:pt x="362414" y="22340"/>
                  <a:pt x="360503" y="21193"/>
                </a:cubicBezTo>
                <a:cubicBezTo>
                  <a:pt x="360249" y="24507"/>
                  <a:pt x="357193" y="27056"/>
                  <a:pt x="358084" y="30752"/>
                </a:cubicBezTo>
                <a:cubicBezTo>
                  <a:pt x="355792" y="31134"/>
                  <a:pt x="354519" y="30369"/>
                  <a:pt x="354519" y="27948"/>
                </a:cubicBezTo>
                <a:cubicBezTo>
                  <a:pt x="354519" y="26418"/>
                  <a:pt x="355156" y="24762"/>
                  <a:pt x="353118" y="23997"/>
                </a:cubicBezTo>
                <a:cubicBezTo>
                  <a:pt x="353118" y="23487"/>
                  <a:pt x="353118" y="22722"/>
                  <a:pt x="353372" y="22340"/>
                </a:cubicBezTo>
                <a:cubicBezTo>
                  <a:pt x="354519" y="20810"/>
                  <a:pt x="357321" y="19154"/>
                  <a:pt x="352990" y="18007"/>
                </a:cubicBezTo>
                <a:cubicBezTo>
                  <a:pt x="351972" y="17752"/>
                  <a:pt x="351718" y="15457"/>
                  <a:pt x="349808" y="16987"/>
                </a:cubicBezTo>
                <a:cubicBezTo>
                  <a:pt x="351462" y="19154"/>
                  <a:pt x="349935" y="22595"/>
                  <a:pt x="352990" y="24124"/>
                </a:cubicBezTo>
                <a:cubicBezTo>
                  <a:pt x="351589" y="29350"/>
                  <a:pt x="351462" y="29987"/>
                  <a:pt x="352609" y="36614"/>
                </a:cubicBezTo>
                <a:cubicBezTo>
                  <a:pt x="352863" y="38016"/>
                  <a:pt x="352736" y="38909"/>
                  <a:pt x="351462" y="39163"/>
                </a:cubicBezTo>
                <a:cubicBezTo>
                  <a:pt x="350571" y="39418"/>
                  <a:pt x="349935" y="38654"/>
                  <a:pt x="349552" y="37889"/>
                </a:cubicBezTo>
                <a:cubicBezTo>
                  <a:pt x="349298" y="37507"/>
                  <a:pt x="348916" y="37124"/>
                  <a:pt x="348278" y="36232"/>
                </a:cubicBezTo>
                <a:cubicBezTo>
                  <a:pt x="346751" y="41458"/>
                  <a:pt x="343186" y="43752"/>
                  <a:pt x="338728" y="45154"/>
                </a:cubicBezTo>
                <a:cubicBezTo>
                  <a:pt x="338346" y="45154"/>
                  <a:pt x="338219" y="45791"/>
                  <a:pt x="337965" y="46301"/>
                </a:cubicBezTo>
                <a:cubicBezTo>
                  <a:pt x="340766" y="46174"/>
                  <a:pt x="344841" y="45026"/>
                  <a:pt x="345605" y="46301"/>
                </a:cubicBezTo>
                <a:cubicBezTo>
                  <a:pt x="348534" y="50634"/>
                  <a:pt x="350571" y="44899"/>
                  <a:pt x="352863" y="46173"/>
                </a:cubicBezTo>
                <a:cubicBezTo>
                  <a:pt x="353501" y="46556"/>
                  <a:pt x="354646" y="46174"/>
                  <a:pt x="355283" y="46683"/>
                </a:cubicBezTo>
                <a:cubicBezTo>
                  <a:pt x="355792" y="47066"/>
                  <a:pt x="356429" y="48085"/>
                  <a:pt x="356301" y="48722"/>
                </a:cubicBezTo>
                <a:cubicBezTo>
                  <a:pt x="356047" y="50762"/>
                  <a:pt x="353372" y="51399"/>
                  <a:pt x="353245" y="53693"/>
                </a:cubicBezTo>
                <a:cubicBezTo>
                  <a:pt x="353118" y="55732"/>
                  <a:pt x="358466" y="51909"/>
                  <a:pt x="355920" y="56370"/>
                </a:cubicBezTo>
                <a:cubicBezTo>
                  <a:pt x="354519" y="58664"/>
                  <a:pt x="356301" y="59429"/>
                  <a:pt x="357957" y="59811"/>
                </a:cubicBezTo>
                <a:cubicBezTo>
                  <a:pt x="358976" y="60066"/>
                  <a:pt x="360376" y="60321"/>
                  <a:pt x="361268" y="59811"/>
                </a:cubicBezTo>
                <a:cubicBezTo>
                  <a:pt x="364833" y="57772"/>
                  <a:pt x="366744" y="58791"/>
                  <a:pt x="367635" y="62742"/>
                </a:cubicBezTo>
                <a:cubicBezTo>
                  <a:pt x="368017" y="64654"/>
                  <a:pt x="371074" y="65546"/>
                  <a:pt x="369418" y="68605"/>
                </a:cubicBezTo>
                <a:cubicBezTo>
                  <a:pt x="368144" y="70899"/>
                  <a:pt x="365470" y="69880"/>
                  <a:pt x="362542" y="73066"/>
                </a:cubicBezTo>
                <a:cubicBezTo>
                  <a:pt x="369927" y="70007"/>
                  <a:pt x="371583" y="73831"/>
                  <a:pt x="372601" y="78546"/>
                </a:cubicBezTo>
                <a:cubicBezTo>
                  <a:pt x="376549" y="74723"/>
                  <a:pt x="376166" y="69752"/>
                  <a:pt x="377949" y="65546"/>
                </a:cubicBezTo>
                <a:cubicBezTo>
                  <a:pt x="378586" y="64017"/>
                  <a:pt x="378459" y="62870"/>
                  <a:pt x="377567" y="61723"/>
                </a:cubicBezTo>
                <a:cubicBezTo>
                  <a:pt x="377058" y="61085"/>
                  <a:pt x="376295" y="60448"/>
                  <a:pt x="375657" y="60448"/>
                </a:cubicBezTo>
                <a:cubicBezTo>
                  <a:pt x="374129" y="60448"/>
                  <a:pt x="374129" y="61595"/>
                  <a:pt x="374385" y="62870"/>
                </a:cubicBezTo>
                <a:cubicBezTo>
                  <a:pt x="374385" y="63507"/>
                  <a:pt x="375657" y="64399"/>
                  <a:pt x="374385" y="65037"/>
                </a:cubicBezTo>
                <a:cubicBezTo>
                  <a:pt x="373493" y="65546"/>
                  <a:pt x="372728" y="65036"/>
                  <a:pt x="372219" y="64527"/>
                </a:cubicBezTo>
                <a:cubicBezTo>
                  <a:pt x="368399" y="60576"/>
                  <a:pt x="371328" y="56242"/>
                  <a:pt x="371074" y="51526"/>
                </a:cubicBezTo>
                <a:cubicBezTo>
                  <a:pt x="375318" y="55520"/>
                  <a:pt x="379477" y="57559"/>
                  <a:pt x="383553" y="57644"/>
                </a:cubicBezTo>
                <a:cubicBezTo>
                  <a:pt x="383170" y="59046"/>
                  <a:pt x="379223" y="59556"/>
                  <a:pt x="382279" y="61850"/>
                </a:cubicBezTo>
                <a:cubicBezTo>
                  <a:pt x="383553" y="62870"/>
                  <a:pt x="384189" y="63634"/>
                  <a:pt x="383553" y="65291"/>
                </a:cubicBezTo>
                <a:cubicBezTo>
                  <a:pt x="382788" y="67713"/>
                  <a:pt x="384189" y="67585"/>
                  <a:pt x="385463" y="66438"/>
                </a:cubicBezTo>
                <a:cubicBezTo>
                  <a:pt x="386608" y="65546"/>
                  <a:pt x="387373" y="65546"/>
                  <a:pt x="388137" y="66693"/>
                </a:cubicBezTo>
                <a:cubicBezTo>
                  <a:pt x="388518" y="67331"/>
                  <a:pt x="389156" y="68095"/>
                  <a:pt x="388391" y="68988"/>
                </a:cubicBezTo>
                <a:cubicBezTo>
                  <a:pt x="386991" y="70389"/>
                  <a:pt x="385590" y="71791"/>
                  <a:pt x="385972" y="74086"/>
                </a:cubicBezTo>
                <a:cubicBezTo>
                  <a:pt x="387882" y="74723"/>
                  <a:pt x="389665" y="71027"/>
                  <a:pt x="391575" y="74086"/>
                </a:cubicBezTo>
                <a:cubicBezTo>
                  <a:pt x="393103" y="76252"/>
                  <a:pt x="392721" y="78291"/>
                  <a:pt x="391193" y="80203"/>
                </a:cubicBezTo>
                <a:cubicBezTo>
                  <a:pt x="390174" y="81478"/>
                  <a:pt x="389028" y="82625"/>
                  <a:pt x="389410" y="84537"/>
                </a:cubicBezTo>
                <a:cubicBezTo>
                  <a:pt x="392721" y="85301"/>
                  <a:pt x="392467" y="80841"/>
                  <a:pt x="395522" y="80331"/>
                </a:cubicBezTo>
                <a:cubicBezTo>
                  <a:pt x="396287" y="83517"/>
                  <a:pt x="396541" y="86703"/>
                  <a:pt x="396287" y="89890"/>
                </a:cubicBezTo>
                <a:cubicBezTo>
                  <a:pt x="399980" y="94478"/>
                  <a:pt x="396287" y="98684"/>
                  <a:pt x="395522" y="103909"/>
                </a:cubicBezTo>
                <a:cubicBezTo>
                  <a:pt x="392212" y="101233"/>
                  <a:pt x="389156" y="99576"/>
                  <a:pt x="388137" y="95752"/>
                </a:cubicBezTo>
                <a:cubicBezTo>
                  <a:pt x="388137" y="95370"/>
                  <a:pt x="386991" y="95243"/>
                  <a:pt x="386227" y="95115"/>
                </a:cubicBezTo>
                <a:cubicBezTo>
                  <a:pt x="386608" y="96135"/>
                  <a:pt x="380497" y="97154"/>
                  <a:pt x="385972" y="98556"/>
                </a:cubicBezTo>
                <a:cubicBezTo>
                  <a:pt x="387246" y="98811"/>
                  <a:pt x="388137" y="100978"/>
                  <a:pt x="389156" y="102253"/>
                </a:cubicBezTo>
                <a:cubicBezTo>
                  <a:pt x="392340" y="106076"/>
                  <a:pt x="392467" y="106076"/>
                  <a:pt x="388901" y="110282"/>
                </a:cubicBezTo>
                <a:cubicBezTo>
                  <a:pt x="387882" y="111557"/>
                  <a:pt x="388391" y="112321"/>
                  <a:pt x="389410" y="113086"/>
                </a:cubicBezTo>
                <a:cubicBezTo>
                  <a:pt x="390047" y="113596"/>
                  <a:pt x="391066" y="113723"/>
                  <a:pt x="391702" y="113086"/>
                </a:cubicBezTo>
                <a:cubicBezTo>
                  <a:pt x="393485" y="111429"/>
                  <a:pt x="393741" y="108625"/>
                  <a:pt x="395905" y="107223"/>
                </a:cubicBezTo>
                <a:cubicBezTo>
                  <a:pt x="399725" y="108880"/>
                  <a:pt x="396287" y="111684"/>
                  <a:pt x="397306" y="113723"/>
                </a:cubicBezTo>
                <a:cubicBezTo>
                  <a:pt x="400616" y="120223"/>
                  <a:pt x="397561" y="126723"/>
                  <a:pt x="396287" y="132841"/>
                </a:cubicBezTo>
                <a:cubicBezTo>
                  <a:pt x="395395" y="137174"/>
                  <a:pt x="393230" y="140998"/>
                  <a:pt x="396669" y="145713"/>
                </a:cubicBezTo>
                <a:cubicBezTo>
                  <a:pt x="392467" y="145076"/>
                  <a:pt x="391702" y="142145"/>
                  <a:pt x="389919" y="140360"/>
                </a:cubicBezTo>
                <a:cubicBezTo>
                  <a:pt x="389538" y="142782"/>
                  <a:pt x="387373" y="145331"/>
                  <a:pt x="390174" y="147626"/>
                </a:cubicBezTo>
                <a:cubicBezTo>
                  <a:pt x="387882" y="150047"/>
                  <a:pt x="386737" y="152724"/>
                  <a:pt x="388518" y="156037"/>
                </a:cubicBezTo>
                <a:cubicBezTo>
                  <a:pt x="389029" y="156037"/>
                  <a:pt x="389665" y="156037"/>
                  <a:pt x="390047" y="155655"/>
                </a:cubicBezTo>
                <a:cubicBezTo>
                  <a:pt x="391193" y="154763"/>
                  <a:pt x="391702" y="151959"/>
                  <a:pt x="393741" y="154253"/>
                </a:cubicBezTo>
                <a:cubicBezTo>
                  <a:pt x="395013" y="155655"/>
                  <a:pt x="394759" y="157695"/>
                  <a:pt x="392594" y="158332"/>
                </a:cubicBezTo>
                <a:cubicBezTo>
                  <a:pt x="390684" y="158841"/>
                  <a:pt x="389792" y="158968"/>
                  <a:pt x="390939" y="161390"/>
                </a:cubicBezTo>
                <a:cubicBezTo>
                  <a:pt x="391702" y="163048"/>
                  <a:pt x="391066" y="165341"/>
                  <a:pt x="391193" y="167253"/>
                </a:cubicBezTo>
                <a:cubicBezTo>
                  <a:pt x="391193" y="168401"/>
                  <a:pt x="391575" y="170057"/>
                  <a:pt x="392721" y="169930"/>
                </a:cubicBezTo>
                <a:cubicBezTo>
                  <a:pt x="395522" y="169675"/>
                  <a:pt x="392721" y="167890"/>
                  <a:pt x="393358" y="166999"/>
                </a:cubicBezTo>
                <a:cubicBezTo>
                  <a:pt x="395268" y="164577"/>
                  <a:pt x="397179" y="162283"/>
                  <a:pt x="399089" y="159988"/>
                </a:cubicBezTo>
                <a:cubicBezTo>
                  <a:pt x="401126" y="157439"/>
                  <a:pt x="403036" y="158841"/>
                  <a:pt x="404819" y="160244"/>
                </a:cubicBezTo>
                <a:cubicBezTo>
                  <a:pt x="406347" y="157439"/>
                  <a:pt x="404819" y="155782"/>
                  <a:pt x="402527" y="154508"/>
                </a:cubicBezTo>
                <a:cubicBezTo>
                  <a:pt x="398197" y="151831"/>
                  <a:pt x="397688" y="149537"/>
                  <a:pt x="401890" y="148008"/>
                </a:cubicBezTo>
                <a:cubicBezTo>
                  <a:pt x="405201" y="146862"/>
                  <a:pt x="404946" y="145586"/>
                  <a:pt x="404692" y="143293"/>
                </a:cubicBezTo>
                <a:cubicBezTo>
                  <a:pt x="400107" y="143293"/>
                  <a:pt x="401508" y="139724"/>
                  <a:pt x="401253" y="137174"/>
                </a:cubicBezTo>
                <a:cubicBezTo>
                  <a:pt x="400999" y="134371"/>
                  <a:pt x="402782" y="133096"/>
                  <a:pt x="404946" y="132076"/>
                </a:cubicBezTo>
                <a:cubicBezTo>
                  <a:pt x="406093" y="131567"/>
                  <a:pt x="406347" y="132969"/>
                  <a:pt x="406729" y="132969"/>
                </a:cubicBezTo>
                <a:cubicBezTo>
                  <a:pt x="409404" y="133223"/>
                  <a:pt x="411058" y="135390"/>
                  <a:pt x="413095" y="136538"/>
                </a:cubicBezTo>
                <a:cubicBezTo>
                  <a:pt x="417171" y="138831"/>
                  <a:pt x="417425" y="141891"/>
                  <a:pt x="414752" y="145969"/>
                </a:cubicBezTo>
                <a:cubicBezTo>
                  <a:pt x="413860" y="147244"/>
                  <a:pt x="412968" y="148645"/>
                  <a:pt x="414496" y="149537"/>
                </a:cubicBezTo>
                <a:cubicBezTo>
                  <a:pt x="418572" y="151831"/>
                  <a:pt x="415006" y="153998"/>
                  <a:pt x="413987" y="157057"/>
                </a:cubicBezTo>
                <a:cubicBezTo>
                  <a:pt x="417426" y="155782"/>
                  <a:pt x="419972" y="154890"/>
                  <a:pt x="421883" y="152724"/>
                </a:cubicBezTo>
                <a:cubicBezTo>
                  <a:pt x="422646" y="151959"/>
                  <a:pt x="423920" y="151067"/>
                  <a:pt x="423283" y="149920"/>
                </a:cubicBezTo>
                <a:cubicBezTo>
                  <a:pt x="420864" y="146096"/>
                  <a:pt x="423283" y="143675"/>
                  <a:pt x="425576" y="141253"/>
                </a:cubicBezTo>
                <a:cubicBezTo>
                  <a:pt x="426977" y="139851"/>
                  <a:pt x="427231" y="137685"/>
                  <a:pt x="426467" y="136538"/>
                </a:cubicBezTo>
                <a:lnTo>
                  <a:pt x="425958" y="135772"/>
                </a:lnTo>
                <a:moveTo>
                  <a:pt x="391958" y="97282"/>
                </a:moveTo>
                <a:cubicBezTo>
                  <a:pt x="395013" y="97664"/>
                  <a:pt x="393485" y="94605"/>
                  <a:pt x="393741" y="92821"/>
                </a:cubicBezTo>
                <a:cubicBezTo>
                  <a:pt x="393995" y="91547"/>
                  <a:pt x="394886" y="90399"/>
                  <a:pt x="395395" y="89252"/>
                </a:cubicBezTo>
                <a:cubicBezTo>
                  <a:pt x="391448" y="87850"/>
                  <a:pt x="390301" y="88615"/>
                  <a:pt x="391320" y="92184"/>
                </a:cubicBezTo>
                <a:cubicBezTo>
                  <a:pt x="391958" y="94096"/>
                  <a:pt x="389283" y="96900"/>
                  <a:pt x="391829" y="97282"/>
                </a:cubicBezTo>
                <a:lnTo>
                  <a:pt x="391958" y="97282"/>
                </a:lnTo>
                <a:moveTo>
                  <a:pt x="408893" y="103145"/>
                </a:moveTo>
                <a:cubicBezTo>
                  <a:pt x="406856" y="105566"/>
                  <a:pt x="408512" y="108625"/>
                  <a:pt x="406602" y="110664"/>
                </a:cubicBezTo>
                <a:cubicBezTo>
                  <a:pt x="406347" y="110919"/>
                  <a:pt x="408130" y="111684"/>
                  <a:pt x="409275" y="111557"/>
                </a:cubicBezTo>
                <a:cubicBezTo>
                  <a:pt x="411058" y="108753"/>
                  <a:pt x="412459" y="105949"/>
                  <a:pt x="408893" y="103145"/>
                </a:cubicBezTo>
                <a:moveTo>
                  <a:pt x="436145" y="124175"/>
                </a:moveTo>
                <a:cubicBezTo>
                  <a:pt x="429523" y="123282"/>
                  <a:pt x="431560" y="117802"/>
                  <a:pt x="430924" y="113978"/>
                </a:cubicBezTo>
                <a:cubicBezTo>
                  <a:pt x="428249" y="114615"/>
                  <a:pt x="428887" y="117547"/>
                  <a:pt x="426594" y="118312"/>
                </a:cubicBezTo>
                <a:cubicBezTo>
                  <a:pt x="422901" y="119459"/>
                  <a:pt x="421246" y="121625"/>
                  <a:pt x="421756" y="124175"/>
                </a:cubicBezTo>
                <a:cubicBezTo>
                  <a:pt x="422010" y="125067"/>
                  <a:pt x="422901" y="125321"/>
                  <a:pt x="423666" y="124684"/>
                </a:cubicBezTo>
                <a:cubicBezTo>
                  <a:pt x="424811" y="123792"/>
                  <a:pt x="423920" y="121880"/>
                  <a:pt x="425703" y="120988"/>
                </a:cubicBezTo>
                <a:cubicBezTo>
                  <a:pt x="426467" y="123027"/>
                  <a:pt x="427231" y="125067"/>
                  <a:pt x="427995" y="127105"/>
                </a:cubicBezTo>
                <a:cubicBezTo>
                  <a:pt x="431051" y="127616"/>
                  <a:pt x="433343" y="126086"/>
                  <a:pt x="436018" y="124302"/>
                </a:cubicBezTo>
                <a:lnTo>
                  <a:pt x="436145" y="124175"/>
                </a:lnTo>
                <a:moveTo>
                  <a:pt x="435635" y="86576"/>
                </a:moveTo>
                <a:cubicBezTo>
                  <a:pt x="434871" y="86321"/>
                  <a:pt x="432198" y="87978"/>
                  <a:pt x="432325" y="88488"/>
                </a:cubicBezTo>
                <a:cubicBezTo>
                  <a:pt x="432580" y="90017"/>
                  <a:pt x="432961" y="92184"/>
                  <a:pt x="434999" y="92311"/>
                </a:cubicBezTo>
                <a:cubicBezTo>
                  <a:pt x="436909" y="92311"/>
                  <a:pt x="435889" y="90909"/>
                  <a:pt x="435635" y="90017"/>
                </a:cubicBezTo>
                <a:cubicBezTo>
                  <a:pt x="436272" y="88870"/>
                  <a:pt x="437672" y="87341"/>
                  <a:pt x="435635" y="86576"/>
                </a:cubicBezTo>
                <a:moveTo>
                  <a:pt x="109641" y="84027"/>
                </a:moveTo>
                <a:cubicBezTo>
                  <a:pt x="109641" y="84027"/>
                  <a:pt x="109641" y="84027"/>
                  <a:pt x="109641" y="84154"/>
                </a:cubicBezTo>
                <a:cubicBezTo>
                  <a:pt x="109641" y="84154"/>
                  <a:pt x="109641" y="84154"/>
                  <a:pt x="109514" y="84154"/>
                </a:cubicBezTo>
                <a:lnTo>
                  <a:pt x="109641" y="84027"/>
                </a:lnTo>
                <a:moveTo>
                  <a:pt x="13880" y="91037"/>
                </a:moveTo>
                <a:cubicBezTo>
                  <a:pt x="13880" y="91037"/>
                  <a:pt x="13880" y="91037"/>
                  <a:pt x="13880" y="90909"/>
                </a:cubicBezTo>
                <a:lnTo>
                  <a:pt x="13880" y="91037"/>
                </a:lnTo>
                <a:moveTo>
                  <a:pt x="111424" y="75615"/>
                </a:moveTo>
                <a:cubicBezTo>
                  <a:pt x="111424" y="75615"/>
                  <a:pt x="111424" y="75615"/>
                  <a:pt x="111424" y="75488"/>
                </a:cubicBezTo>
                <a:lnTo>
                  <a:pt x="111424" y="75615"/>
                </a:lnTo>
                <a:moveTo>
                  <a:pt x="163634" y="45154"/>
                </a:moveTo>
                <a:cubicBezTo>
                  <a:pt x="164780" y="44517"/>
                  <a:pt x="166690" y="44262"/>
                  <a:pt x="165545" y="42477"/>
                </a:cubicBezTo>
                <a:cubicBezTo>
                  <a:pt x="164780" y="41075"/>
                  <a:pt x="163125" y="41585"/>
                  <a:pt x="161724" y="41967"/>
                </a:cubicBezTo>
                <a:cubicBezTo>
                  <a:pt x="160960" y="42222"/>
                  <a:pt x="160195" y="42605"/>
                  <a:pt x="159432" y="42987"/>
                </a:cubicBezTo>
                <a:cubicBezTo>
                  <a:pt x="159432" y="41203"/>
                  <a:pt x="158540" y="39036"/>
                  <a:pt x="161214" y="38016"/>
                </a:cubicBezTo>
                <a:cubicBezTo>
                  <a:pt x="161724" y="37762"/>
                  <a:pt x="163125" y="37507"/>
                  <a:pt x="162105" y="36360"/>
                </a:cubicBezTo>
                <a:cubicBezTo>
                  <a:pt x="161469" y="35468"/>
                  <a:pt x="160578" y="34575"/>
                  <a:pt x="159304" y="34830"/>
                </a:cubicBezTo>
                <a:cubicBezTo>
                  <a:pt x="157267" y="35340"/>
                  <a:pt x="155866" y="36742"/>
                  <a:pt x="155484" y="38781"/>
                </a:cubicBezTo>
                <a:cubicBezTo>
                  <a:pt x="155103" y="41330"/>
                  <a:pt x="156121" y="43115"/>
                  <a:pt x="159177" y="43115"/>
                </a:cubicBezTo>
                <a:cubicBezTo>
                  <a:pt x="158794" y="44007"/>
                  <a:pt x="159177" y="46046"/>
                  <a:pt x="157904" y="45536"/>
                </a:cubicBezTo>
                <a:cubicBezTo>
                  <a:pt x="153956" y="44262"/>
                  <a:pt x="153829" y="45536"/>
                  <a:pt x="155612" y="48468"/>
                </a:cubicBezTo>
                <a:cubicBezTo>
                  <a:pt x="156248" y="49615"/>
                  <a:pt x="157522" y="50379"/>
                  <a:pt x="157013" y="52036"/>
                </a:cubicBezTo>
                <a:cubicBezTo>
                  <a:pt x="156121" y="54840"/>
                  <a:pt x="156248" y="54968"/>
                  <a:pt x="158540" y="55095"/>
                </a:cubicBezTo>
                <a:cubicBezTo>
                  <a:pt x="159305" y="55095"/>
                  <a:pt x="160068" y="54968"/>
                  <a:pt x="160960" y="54840"/>
                </a:cubicBezTo>
                <a:cubicBezTo>
                  <a:pt x="161723" y="51527"/>
                  <a:pt x="159559" y="47448"/>
                  <a:pt x="163634" y="45026"/>
                </a:cubicBezTo>
                <a:lnTo>
                  <a:pt x="163634" y="45154"/>
                </a:lnTo>
                <a:moveTo>
                  <a:pt x="160960" y="54968"/>
                </a:moveTo>
                <a:cubicBezTo>
                  <a:pt x="160960" y="54968"/>
                  <a:pt x="160960" y="54968"/>
                  <a:pt x="160960" y="55095"/>
                </a:cubicBezTo>
                <a:cubicBezTo>
                  <a:pt x="160960" y="55095"/>
                  <a:pt x="160960" y="55095"/>
                  <a:pt x="160960" y="54968"/>
                </a:cubicBezTo>
                <a:cubicBezTo>
                  <a:pt x="160960" y="54968"/>
                  <a:pt x="160960" y="54968"/>
                  <a:pt x="160833" y="54968"/>
                </a:cubicBezTo>
                <a:lnTo>
                  <a:pt x="160960" y="54968"/>
                </a:lnTo>
                <a:moveTo>
                  <a:pt x="2802" y="154126"/>
                </a:moveTo>
                <a:cubicBezTo>
                  <a:pt x="637" y="160244"/>
                  <a:pt x="1146" y="164959"/>
                  <a:pt x="4712" y="169421"/>
                </a:cubicBezTo>
                <a:cubicBezTo>
                  <a:pt x="3693" y="164832"/>
                  <a:pt x="6240" y="159733"/>
                  <a:pt x="2802" y="154126"/>
                </a:cubicBezTo>
                <a:moveTo>
                  <a:pt x="5731" y="123410"/>
                </a:moveTo>
                <a:cubicBezTo>
                  <a:pt x="5476" y="122390"/>
                  <a:pt x="5603" y="121115"/>
                  <a:pt x="4457" y="120478"/>
                </a:cubicBezTo>
                <a:cubicBezTo>
                  <a:pt x="3948" y="120733"/>
                  <a:pt x="3438" y="120861"/>
                  <a:pt x="3056" y="121243"/>
                </a:cubicBezTo>
                <a:cubicBezTo>
                  <a:pt x="1019" y="123537"/>
                  <a:pt x="2674" y="126851"/>
                  <a:pt x="0" y="130292"/>
                </a:cubicBezTo>
                <a:cubicBezTo>
                  <a:pt x="6876" y="128125"/>
                  <a:pt x="6877" y="128125"/>
                  <a:pt x="5731" y="123282"/>
                </a:cubicBezTo>
                <a:lnTo>
                  <a:pt x="5731" y="123410"/>
                </a:lnTo>
                <a:moveTo>
                  <a:pt x="58450" y="43115"/>
                </a:moveTo>
                <a:cubicBezTo>
                  <a:pt x="59596" y="42477"/>
                  <a:pt x="60233" y="41585"/>
                  <a:pt x="59596" y="40565"/>
                </a:cubicBezTo>
                <a:cubicBezTo>
                  <a:pt x="58832" y="39163"/>
                  <a:pt x="57304" y="39036"/>
                  <a:pt x="56030" y="39928"/>
                </a:cubicBezTo>
                <a:cubicBezTo>
                  <a:pt x="54248" y="41203"/>
                  <a:pt x="52210" y="42477"/>
                  <a:pt x="53866" y="45791"/>
                </a:cubicBezTo>
                <a:cubicBezTo>
                  <a:pt x="55648" y="44771"/>
                  <a:pt x="57049" y="43879"/>
                  <a:pt x="58450" y="43115"/>
                </a:cubicBezTo>
                <a:moveTo>
                  <a:pt x="78824" y="313696"/>
                </a:moveTo>
                <a:cubicBezTo>
                  <a:pt x="78824" y="313696"/>
                  <a:pt x="78824" y="313696"/>
                  <a:pt x="78824" y="313569"/>
                </a:cubicBezTo>
                <a:cubicBezTo>
                  <a:pt x="78824" y="313569"/>
                  <a:pt x="78697" y="313569"/>
                  <a:pt x="78570" y="313569"/>
                </a:cubicBezTo>
                <a:lnTo>
                  <a:pt x="78824" y="313696"/>
                </a:lnTo>
                <a:moveTo>
                  <a:pt x="72075" y="312039"/>
                </a:moveTo>
                <a:cubicBezTo>
                  <a:pt x="72075" y="313952"/>
                  <a:pt x="73603" y="314970"/>
                  <a:pt x="74877" y="315990"/>
                </a:cubicBezTo>
                <a:cubicBezTo>
                  <a:pt x="77678" y="318157"/>
                  <a:pt x="78824" y="316883"/>
                  <a:pt x="78824" y="313823"/>
                </a:cubicBezTo>
                <a:cubicBezTo>
                  <a:pt x="76787" y="312550"/>
                  <a:pt x="74622" y="311403"/>
                  <a:pt x="72075" y="312167"/>
                </a:cubicBezTo>
                <a:lnTo>
                  <a:pt x="72075" y="312039"/>
                </a:lnTo>
                <a:moveTo>
                  <a:pt x="142113" y="73831"/>
                </a:moveTo>
                <a:cubicBezTo>
                  <a:pt x="142113" y="73831"/>
                  <a:pt x="142113" y="73831"/>
                  <a:pt x="142240" y="73831"/>
                </a:cubicBezTo>
                <a:lnTo>
                  <a:pt x="142113" y="73831"/>
                </a:lnTo>
                <a:moveTo>
                  <a:pt x="320264" y="84027"/>
                </a:moveTo>
                <a:cubicBezTo>
                  <a:pt x="320264" y="84027"/>
                  <a:pt x="320264" y="84027"/>
                  <a:pt x="320392" y="84027"/>
                </a:cubicBezTo>
                <a:lnTo>
                  <a:pt x="320264" y="84027"/>
                </a:lnTo>
                <a:moveTo>
                  <a:pt x="183371" y="241813"/>
                </a:moveTo>
                <a:cubicBezTo>
                  <a:pt x="183371" y="241813"/>
                  <a:pt x="183371" y="241813"/>
                  <a:pt x="183244" y="241813"/>
                </a:cubicBezTo>
                <a:lnTo>
                  <a:pt x="183371" y="241813"/>
                </a:lnTo>
                <a:moveTo>
                  <a:pt x="164271" y="250226"/>
                </a:moveTo>
                <a:cubicBezTo>
                  <a:pt x="164271" y="250226"/>
                  <a:pt x="164271" y="250353"/>
                  <a:pt x="164271" y="250480"/>
                </a:cubicBezTo>
                <a:cubicBezTo>
                  <a:pt x="164271" y="250480"/>
                  <a:pt x="164271" y="250480"/>
                  <a:pt x="164398" y="250353"/>
                </a:cubicBezTo>
                <a:cubicBezTo>
                  <a:pt x="164398" y="250353"/>
                  <a:pt x="164271" y="250353"/>
                  <a:pt x="164144" y="250353"/>
                </a:cubicBezTo>
                <a:lnTo>
                  <a:pt x="164271" y="250226"/>
                </a:lnTo>
                <a:moveTo>
                  <a:pt x="156757" y="238117"/>
                </a:moveTo>
                <a:cubicBezTo>
                  <a:pt x="155103" y="238117"/>
                  <a:pt x="154720" y="239391"/>
                  <a:pt x="153829" y="240538"/>
                </a:cubicBezTo>
                <a:cubicBezTo>
                  <a:pt x="151281" y="243980"/>
                  <a:pt x="154083" y="246273"/>
                  <a:pt x="155230" y="249077"/>
                </a:cubicBezTo>
                <a:cubicBezTo>
                  <a:pt x="155739" y="250353"/>
                  <a:pt x="156375" y="252137"/>
                  <a:pt x="154974" y="252901"/>
                </a:cubicBezTo>
                <a:cubicBezTo>
                  <a:pt x="154211" y="253284"/>
                  <a:pt x="152682" y="251372"/>
                  <a:pt x="151281" y="252901"/>
                </a:cubicBezTo>
                <a:cubicBezTo>
                  <a:pt x="154083" y="255706"/>
                  <a:pt x="155186" y="259062"/>
                  <a:pt x="154592" y="262970"/>
                </a:cubicBezTo>
                <a:cubicBezTo>
                  <a:pt x="161851" y="258637"/>
                  <a:pt x="162234" y="257617"/>
                  <a:pt x="159813" y="249333"/>
                </a:cubicBezTo>
                <a:cubicBezTo>
                  <a:pt x="161342" y="249588"/>
                  <a:pt x="162743" y="249842"/>
                  <a:pt x="164271" y="250097"/>
                </a:cubicBezTo>
                <a:cubicBezTo>
                  <a:pt x="162743" y="246911"/>
                  <a:pt x="160833" y="243853"/>
                  <a:pt x="160068" y="240284"/>
                </a:cubicBezTo>
                <a:cubicBezTo>
                  <a:pt x="159814" y="239009"/>
                  <a:pt x="158158" y="238117"/>
                  <a:pt x="156757" y="238117"/>
                </a:cubicBezTo>
                <a:moveTo>
                  <a:pt x="228832" y="327334"/>
                </a:moveTo>
                <a:cubicBezTo>
                  <a:pt x="229597" y="325040"/>
                  <a:pt x="229851" y="323383"/>
                  <a:pt x="230488" y="321854"/>
                </a:cubicBezTo>
                <a:cubicBezTo>
                  <a:pt x="230998" y="320578"/>
                  <a:pt x="230998" y="319432"/>
                  <a:pt x="229851" y="319176"/>
                </a:cubicBezTo>
                <a:cubicBezTo>
                  <a:pt x="228959" y="319049"/>
                  <a:pt x="227560" y="319687"/>
                  <a:pt x="226922" y="320451"/>
                </a:cubicBezTo>
                <a:cubicBezTo>
                  <a:pt x="225012" y="323000"/>
                  <a:pt x="226159" y="325040"/>
                  <a:pt x="228832" y="327334"/>
                </a:cubicBezTo>
                <a:moveTo>
                  <a:pt x="161087" y="124175"/>
                </a:moveTo>
                <a:cubicBezTo>
                  <a:pt x="162997" y="123920"/>
                  <a:pt x="163634" y="124939"/>
                  <a:pt x="164015" y="126341"/>
                </a:cubicBezTo>
                <a:cubicBezTo>
                  <a:pt x="164525" y="127870"/>
                  <a:pt x="163761" y="129654"/>
                  <a:pt x="164907" y="131185"/>
                </a:cubicBezTo>
                <a:cubicBezTo>
                  <a:pt x="166054" y="132714"/>
                  <a:pt x="167072" y="133734"/>
                  <a:pt x="168982" y="132458"/>
                </a:cubicBezTo>
                <a:cubicBezTo>
                  <a:pt x="169874" y="131949"/>
                  <a:pt x="172293" y="126978"/>
                  <a:pt x="171911" y="126469"/>
                </a:cubicBezTo>
                <a:cubicBezTo>
                  <a:pt x="171529" y="126086"/>
                  <a:pt x="171019" y="125576"/>
                  <a:pt x="170510" y="125576"/>
                </a:cubicBezTo>
                <a:cubicBezTo>
                  <a:pt x="169365" y="125576"/>
                  <a:pt x="168473" y="127743"/>
                  <a:pt x="166945" y="126214"/>
                </a:cubicBezTo>
                <a:cubicBezTo>
                  <a:pt x="166945" y="123537"/>
                  <a:pt x="169874" y="122645"/>
                  <a:pt x="170637" y="120478"/>
                </a:cubicBezTo>
                <a:cubicBezTo>
                  <a:pt x="168982" y="118312"/>
                  <a:pt x="166181" y="117674"/>
                  <a:pt x="164144" y="114615"/>
                </a:cubicBezTo>
                <a:cubicBezTo>
                  <a:pt x="163506" y="118057"/>
                  <a:pt x="160068" y="117674"/>
                  <a:pt x="158794" y="119841"/>
                </a:cubicBezTo>
                <a:cubicBezTo>
                  <a:pt x="157776" y="121625"/>
                  <a:pt x="159050" y="124302"/>
                  <a:pt x="161087" y="124175"/>
                </a:cubicBezTo>
                <a:moveTo>
                  <a:pt x="151154" y="172352"/>
                </a:moveTo>
                <a:cubicBezTo>
                  <a:pt x="152428" y="171587"/>
                  <a:pt x="154847" y="171714"/>
                  <a:pt x="153829" y="169165"/>
                </a:cubicBezTo>
                <a:cubicBezTo>
                  <a:pt x="153191" y="167636"/>
                  <a:pt x="150900" y="168145"/>
                  <a:pt x="149117" y="170439"/>
                </a:cubicBezTo>
                <a:cubicBezTo>
                  <a:pt x="148481" y="171332"/>
                  <a:pt x="147461" y="172223"/>
                  <a:pt x="147334" y="173243"/>
                </a:cubicBezTo>
                <a:cubicBezTo>
                  <a:pt x="146952" y="176430"/>
                  <a:pt x="145679" y="177194"/>
                  <a:pt x="143005" y="175283"/>
                </a:cubicBezTo>
                <a:cubicBezTo>
                  <a:pt x="142368" y="174901"/>
                  <a:pt x="141350" y="174901"/>
                  <a:pt x="140967" y="175920"/>
                </a:cubicBezTo>
                <a:cubicBezTo>
                  <a:pt x="140330" y="177705"/>
                  <a:pt x="140839" y="179234"/>
                  <a:pt x="141986" y="180636"/>
                </a:cubicBezTo>
                <a:cubicBezTo>
                  <a:pt x="142878" y="181783"/>
                  <a:pt x="143769" y="181527"/>
                  <a:pt x="144915" y="180763"/>
                </a:cubicBezTo>
                <a:cubicBezTo>
                  <a:pt x="146315" y="179871"/>
                  <a:pt x="147843" y="179107"/>
                  <a:pt x="149244" y="178342"/>
                </a:cubicBezTo>
                <a:cubicBezTo>
                  <a:pt x="149753" y="176303"/>
                  <a:pt x="148862" y="173754"/>
                  <a:pt x="151281" y="172223"/>
                </a:cubicBezTo>
                <a:lnTo>
                  <a:pt x="151154" y="172352"/>
                </a:lnTo>
                <a:moveTo>
                  <a:pt x="159177" y="179871"/>
                </a:moveTo>
                <a:cubicBezTo>
                  <a:pt x="159177" y="181273"/>
                  <a:pt x="159177" y="182676"/>
                  <a:pt x="159559" y="183949"/>
                </a:cubicBezTo>
                <a:cubicBezTo>
                  <a:pt x="160068" y="185478"/>
                  <a:pt x="160833" y="187136"/>
                  <a:pt x="163506" y="186881"/>
                </a:cubicBezTo>
                <a:cubicBezTo>
                  <a:pt x="163634" y="184332"/>
                  <a:pt x="164398" y="181783"/>
                  <a:pt x="162488" y="179361"/>
                </a:cubicBezTo>
                <a:cubicBezTo>
                  <a:pt x="161087" y="177576"/>
                  <a:pt x="160833" y="173372"/>
                  <a:pt x="157522" y="175283"/>
                </a:cubicBezTo>
                <a:cubicBezTo>
                  <a:pt x="155103" y="176685"/>
                  <a:pt x="159304" y="177832"/>
                  <a:pt x="159177" y="179744"/>
                </a:cubicBezTo>
                <a:lnTo>
                  <a:pt x="159177" y="179871"/>
                </a:lnTo>
                <a:moveTo>
                  <a:pt x="160451" y="171332"/>
                </a:moveTo>
                <a:cubicBezTo>
                  <a:pt x="162105" y="171587"/>
                  <a:pt x="162743" y="170057"/>
                  <a:pt x="162997" y="168655"/>
                </a:cubicBezTo>
                <a:cubicBezTo>
                  <a:pt x="163252" y="167636"/>
                  <a:pt x="163506" y="166488"/>
                  <a:pt x="163761" y="165214"/>
                </a:cubicBezTo>
                <a:cubicBezTo>
                  <a:pt x="163252" y="164704"/>
                  <a:pt x="162743" y="163812"/>
                  <a:pt x="162105" y="163812"/>
                </a:cubicBezTo>
                <a:cubicBezTo>
                  <a:pt x="160705" y="163685"/>
                  <a:pt x="159432" y="164450"/>
                  <a:pt x="158413" y="165468"/>
                </a:cubicBezTo>
                <a:cubicBezTo>
                  <a:pt x="157394" y="166616"/>
                  <a:pt x="157013" y="168018"/>
                  <a:pt x="158031" y="169292"/>
                </a:cubicBezTo>
                <a:cubicBezTo>
                  <a:pt x="158667" y="170185"/>
                  <a:pt x="159559" y="171332"/>
                  <a:pt x="160451" y="171459"/>
                </a:cubicBezTo>
                <a:lnTo>
                  <a:pt x="160451" y="171332"/>
                </a:lnTo>
                <a:moveTo>
                  <a:pt x="98817" y="141508"/>
                </a:moveTo>
                <a:cubicBezTo>
                  <a:pt x="98817" y="141508"/>
                  <a:pt x="99963" y="141253"/>
                  <a:pt x="100345" y="140871"/>
                </a:cubicBezTo>
                <a:cubicBezTo>
                  <a:pt x="102255" y="138576"/>
                  <a:pt x="101364" y="136920"/>
                  <a:pt x="97798" y="135772"/>
                </a:cubicBezTo>
                <a:cubicBezTo>
                  <a:pt x="97798" y="137302"/>
                  <a:pt x="97798" y="138958"/>
                  <a:pt x="97798" y="140489"/>
                </a:cubicBezTo>
                <a:cubicBezTo>
                  <a:pt x="97798" y="140871"/>
                  <a:pt x="98435" y="141508"/>
                  <a:pt x="98817" y="141508"/>
                </a:cubicBezTo>
                <a:moveTo>
                  <a:pt x="97798" y="135645"/>
                </a:moveTo>
                <a:cubicBezTo>
                  <a:pt x="97798" y="135645"/>
                  <a:pt x="97798" y="135518"/>
                  <a:pt x="97798" y="135390"/>
                </a:cubicBezTo>
                <a:cubicBezTo>
                  <a:pt x="97798" y="135390"/>
                  <a:pt x="97798" y="135391"/>
                  <a:pt x="97671" y="135518"/>
                </a:cubicBezTo>
                <a:cubicBezTo>
                  <a:pt x="97671" y="135518"/>
                  <a:pt x="97671" y="135518"/>
                  <a:pt x="97798" y="135518"/>
                </a:cubicBezTo>
                <a:lnTo>
                  <a:pt x="97798" y="135645"/>
                </a:lnTo>
                <a:moveTo>
                  <a:pt x="284481" y="236205"/>
                </a:moveTo>
                <a:cubicBezTo>
                  <a:pt x="281553" y="234420"/>
                  <a:pt x="281297" y="238754"/>
                  <a:pt x="279514" y="240029"/>
                </a:cubicBezTo>
                <a:cubicBezTo>
                  <a:pt x="277732" y="241304"/>
                  <a:pt x="277222" y="244489"/>
                  <a:pt x="276459" y="246911"/>
                </a:cubicBezTo>
                <a:cubicBezTo>
                  <a:pt x="275821" y="248950"/>
                  <a:pt x="277350" y="249970"/>
                  <a:pt x="279133" y="250353"/>
                </a:cubicBezTo>
                <a:cubicBezTo>
                  <a:pt x="282062" y="250735"/>
                  <a:pt x="284354" y="248313"/>
                  <a:pt x="283717" y="245127"/>
                </a:cubicBezTo>
                <a:cubicBezTo>
                  <a:pt x="283463" y="243724"/>
                  <a:pt x="282698" y="242451"/>
                  <a:pt x="283080" y="241049"/>
                </a:cubicBezTo>
                <a:cubicBezTo>
                  <a:pt x="283590" y="239391"/>
                  <a:pt x="287028" y="237735"/>
                  <a:pt x="284353" y="236205"/>
                </a:cubicBezTo>
                <a:lnTo>
                  <a:pt x="284481" y="236205"/>
                </a:lnTo>
                <a:moveTo>
                  <a:pt x="362542" y="48213"/>
                </a:moveTo>
                <a:cubicBezTo>
                  <a:pt x="360886" y="48595"/>
                  <a:pt x="359231" y="48978"/>
                  <a:pt x="358466" y="50889"/>
                </a:cubicBezTo>
                <a:cubicBezTo>
                  <a:pt x="359994" y="52291"/>
                  <a:pt x="361650" y="51399"/>
                  <a:pt x="363178" y="51144"/>
                </a:cubicBezTo>
                <a:cubicBezTo>
                  <a:pt x="363687" y="51144"/>
                  <a:pt x="364452" y="49870"/>
                  <a:pt x="364452" y="49232"/>
                </a:cubicBezTo>
                <a:cubicBezTo>
                  <a:pt x="364452" y="48595"/>
                  <a:pt x="363432" y="48085"/>
                  <a:pt x="362542" y="48213"/>
                </a:cubicBezTo>
                <a:moveTo>
                  <a:pt x="326122" y="191724"/>
                </a:moveTo>
                <a:cubicBezTo>
                  <a:pt x="328032" y="191980"/>
                  <a:pt x="329815" y="189813"/>
                  <a:pt x="329815" y="188029"/>
                </a:cubicBezTo>
                <a:cubicBezTo>
                  <a:pt x="329815" y="185862"/>
                  <a:pt x="327650" y="185351"/>
                  <a:pt x="325613" y="185351"/>
                </a:cubicBezTo>
                <a:cubicBezTo>
                  <a:pt x="325613" y="186116"/>
                  <a:pt x="325613" y="187009"/>
                  <a:pt x="325357" y="187646"/>
                </a:cubicBezTo>
                <a:cubicBezTo>
                  <a:pt x="324466" y="189431"/>
                  <a:pt x="324339" y="191469"/>
                  <a:pt x="326249" y="191724"/>
                </a:cubicBezTo>
                <a:lnTo>
                  <a:pt x="326122" y="191724"/>
                </a:lnTo>
                <a:moveTo>
                  <a:pt x="325484" y="185351"/>
                </a:moveTo>
                <a:cubicBezTo>
                  <a:pt x="325484" y="185351"/>
                  <a:pt x="325484" y="185351"/>
                  <a:pt x="325484" y="185224"/>
                </a:cubicBezTo>
                <a:cubicBezTo>
                  <a:pt x="325484" y="185224"/>
                  <a:pt x="325484" y="185224"/>
                  <a:pt x="325357" y="185224"/>
                </a:cubicBezTo>
                <a:cubicBezTo>
                  <a:pt x="325357" y="185224"/>
                  <a:pt x="325357" y="185224"/>
                  <a:pt x="325484" y="185224"/>
                </a:cubicBezTo>
                <a:lnTo>
                  <a:pt x="325484" y="185351"/>
                </a:lnTo>
                <a:moveTo>
                  <a:pt x="243477" y="415148"/>
                </a:moveTo>
                <a:cubicBezTo>
                  <a:pt x="243477" y="412981"/>
                  <a:pt x="242076" y="411070"/>
                  <a:pt x="240930" y="411707"/>
                </a:cubicBezTo>
                <a:cubicBezTo>
                  <a:pt x="239403" y="412472"/>
                  <a:pt x="238638" y="414256"/>
                  <a:pt x="238638" y="415658"/>
                </a:cubicBezTo>
                <a:cubicBezTo>
                  <a:pt x="238638" y="416932"/>
                  <a:pt x="240675" y="417443"/>
                  <a:pt x="241949" y="417443"/>
                </a:cubicBezTo>
                <a:cubicBezTo>
                  <a:pt x="243350" y="417443"/>
                  <a:pt x="243350" y="416168"/>
                  <a:pt x="243350" y="415148"/>
                </a:cubicBezTo>
                <a:lnTo>
                  <a:pt x="243477" y="415148"/>
                </a:lnTo>
              </a:path>
            </a:pathLst>
          </a:custGeom>
          <a:solidFill>
            <a:schemeClr val="accent1"/>
          </a:solidFill>
        </p:spPr>
        <p:txBody>
          <a:bodyPr/>
          <a:lstStyle/>
          <a:p>
            <a:endParaRPr lang="zh-CN" altLang="en-US"/>
          </a:p>
        </p:txBody>
      </p:sp>
      <p:sp>
        <p:nvSpPr>
          <p:cNvPr id="14" name="矩形 13"/>
          <p:cNvSpPr/>
          <p:nvPr>
            <p:custDataLst>
              <p:tags r:id="rId6"/>
            </p:custDataLst>
          </p:nvPr>
        </p:nvSpPr>
        <p:spPr>
          <a:xfrm>
            <a:off x="7759700" y="1278255"/>
            <a:ext cx="3317240" cy="327660"/>
          </a:xfrm>
          <a:prstGeom prst="rect">
            <a:avLst/>
          </a:prstGeom>
          <a:noFill/>
        </p:spPr>
        <p:txBody>
          <a:bodyPr wrap="square" lIns="0" tIns="0" rIns="0" bIns="0" rtlCol="0" anchor="b">
            <a:noAutofit/>
          </a:bodyPr>
          <a:lstStyle/>
          <a:p>
            <a:pPr algn="ctr">
              <a:spcBef>
                <a:spcPct val="0"/>
              </a:spcBef>
              <a:spcAft>
                <a:spcPct val="0"/>
              </a:spcAft>
            </a:pPr>
            <a:r>
              <a:rPr lang="zh-CN" altLang="en-US" b="1" noProof="0" dirty="0">
                <a:ln>
                  <a:noFill/>
                </a:ln>
                <a:solidFill>
                  <a:srgbClr val="FFFFFF"/>
                </a:solidFill>
                <a:effectLst/>
                <a:uLnTx/>
                <a:uFillTx/>
                <a:latin typeface="微软雅黑" panose="020B0503020204020204" pitchFamily="34" charset="-122"/>
                <a:ea typeface="微软雅黑 Light" panose="020B0502040204020203" charset="-122"/>
                <a:sym typeface="+mn-ea"/>
              </a:rPr>
              <a:t>作業</a:t>
            </a:r>
            <a:r>
              <a:rPr lang="en-US" altLang="zh-CN" b="1" noProof="0" dirty="0">
                <a:ln>
                  <a:noFill/>
                </a:ln>
                <a:solidFill>
                  <a:srgbClr val="FFFFFF"/>
                </a:solidFill>
                <a:effectLst/>
                <a:uLnTx/>
                <a:uFillTx/>
                <a:latin typeface="微软雅黑" panose="020B0503020204020204" pitchFamily="34" charset="-122"/>
                <a:ea typeface="微软雅黑 Light" panose="020B0502040204020203" charset="-122"/>
                <a:sym typeface="+mn-ea"/>
              </a:rPr>
              <a:t> : </a:t>
            </a:r>
            <a:r>
              <a:rPr lang="zh-CN" altLang="en-US" b="1" noProof="0" dirty="0">
                <a:ln>
                  <a:noFill/>
                </a:ln>
                <a:solidFill>
                  <a:srgbClr val="FFFFFF"/>
                </a:solidFill>
                <a:effectLst/>
                <a:uLnTx/>
                <a:uFillTx/>
                <a:latin typeface="微软雅黑" panose="020B0503020204020204" pitchFamily="34" charset="-122"/>
                <a:ea typeface="微软雅黑 Light" panose="020B0502040204020203" charset="-122"/>
                <a:sym typeface="+mn-ea"/>
              </a:rPr>
              <a:t>實驗</a:t>
            </a:r>
            <a:r>
              <a:rPr lang="en-US" altLang="zh-CN" b="1" noProof="0" dirty="0">
                <a:ln>
                  <a:noFill/>
                </a:ln>
                <a:solidFill>
                  <a:srgbClr val="FFFFFF"/>
                </a:solidFill>
                <a:effectLst/>
                <a:uLnTx/>
                <a:uFillTx/>
                <a:latin typeface="微软雅黑" panose="020B0503020204020204" pitchFamily="34" charset="-122"/>
                <a:ea typeface="微软雅黑 Light" panose="020B0502040204020203" charset="-122"/>
                <a:sym typeface="+mn-ea"/>
              </a:rPr>
              <a:t> : </a:t>
            </a:r>
            <a:r>
              <a:rPr lang="zh-CN" altLang="en-US" b="1" noProof="0" dirty="0">
                <a:ln>
                  <a:noFill/>
                </a:ln>
                <a:solidFill>
                  <a:srgbClr val="FFFFFF"/>
                </a:solidFill>
                <a:effectLst/>
                <a:uLnTx/>
                <a:uFillTx/>
                <a:latin typeface="微软雅黑" panose="020B0503020204020204" pitchFamily="34" charset="-122"/>
                <a:ea typeface="微软雅黑 Light" panose="020B0502040204020203" charset="-122"/>
                <a:sym typeface="+mn-ea"/>
              </a:rPr>
              <a:t>期末考試</a:t>
            </a:r>
            <a:r>
              <a:rPr lang="en-US" altLang="zh-CN" b="1" noProof="0" dirty="0">
                <a:ln>
                  <a:noFill/>
                </a:ln>
                <a:solidFill>
                  <a:srgbClr val="FFFFFF"/>
                </a:solidFill>
                <a:effectLst/>
                <a:uLnTx/>
                <a:uFillTx/>
                <a:latin typeface="微软雅黑" panose="020B0503020204020204" pitchFamily="34" charset="-122"/>
                <a:ea typeface="微软雅黑 Light" panose="020B0502040204020203" charset="-122"/>
                <a:sym typeface="+mn-ea"/>
              </a:rPr>
              <a:t>=1 : 2 : 2</a:t>
            </a:r>
            <a:endParaRPr lang="en-US" altLang="zh-CN" b="1" noProof="0" dirty="0">
              <a:ln>
                <a:noFill/>
              </a:ln>
              <a:solidFill>
                <a:srgbClr val="FFFFFF"/>
              </a:solidFill>
              <a:effectLst/>
              <a:uLnTx/>
              <a:uFillTx/>
              <a:latin typeface="微软雅黑" panose="020B0503020204020204" pitchFamily="34" charset="-122"/>
              <a:ea typeface="微软雅黑 Light" panose="020B0502040204020203" charset="-122"/>
              <a:cs typeface="+mn-ea"/>
              <a:sym typeface="+mn-ea"/>
            </a:endParaRPr>
          </a:p>
        </p:txBody>
      </p:sp>
      <p:sp>
        <p:nvSpPr>
          <p:cNvPr id="36" name="文本框 10"/>
          <p:cNvSpPr txBox="1">
            <a:spLocks noChangeArrowheads="1"/>
          </p:cNvSpPr>
          <p:nvPr/>
        </p:nvSpPr>
        <p:spPr bwMode="auto">
          <a:xfrm>
            <a:off x="6913245" y="1840230"/>
            <a:ext cx="4510405" cy="4077335"/>
          </a:xfrm>
          <a:prstGeom prst="rect">
            <a:avLst/>
          </a:prstGeom>
          <a:noFill/>
          <a:ln w="9525">
            <a:noFill/>
            <a:miter lim="800000"/>
          </a:ln>
        </p:spPr>
        <p:txBody>
          <a:bodyPr wrap="square" lIns="90994" tIns="45497" rIns="90994" bIns="45497">
            <a:spAutoFit/>
          </a:bodyPr>
          <a:lstStyle/>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平時</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作業：</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a:t>
            </a: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三種實驗：</a:t>
            </a: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1083310" rtl="0" eaLnBrk="1" fontAlgn="base" latinLnBrk="0" hangingPunct="1">
              <a:lnSpc>
                <a:spcPct val="120000"/>
              </a:lnSpc>
              <a:spcBef>
                <a:spcPct val="0"/>
              </a:spcBef>
              <a:spcAft>
                <a:spcPct val="0"/>
              </a:spcAft>
              <a:buClrTx/>
              <a:buSzTx/>
              <a:buFont typeface="Arial" panose="020B0604020202090204" pitchFamily="34" charset="0"/>
              <a:buChar char="•"/>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期末考試（開卷）：</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40</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348345" y="2649855"/>
            <a:ext cx="3457575" cy="2084070"/>
          </a:xfrm>
          <a:prstGeom prst="rect">
            <a:avLst/>
          </a:prstGeom>
          <a:noFill/>
        </p:spPr>
        <p:txBody>
          <a:bodyPr wrap="square" rtlCol="0" anchor="t">
            <a:spAutoFit/>
          </a:bodyPr>
          <a:lstStyle/>
          <a:p>
            <a:pPr marL="0" marR="0" lvl="0" indent="0" algn="ctr" defTabSz="1083310" rtl="0" eaLnBrk="1" fontAlgn="base" latinLnBrk="0" hangingPunct="1">
              <a:lnSpc>
                <a:spcPct val="120000"/>
              </a:lnSpc>
              <a:spcBef>
                <a:spcPct val="0"/>
              </a:spcBef>
              <a:spcAft>
                <a:spcPct val="0"/>
              </a:spcAft>
              <a:buClrTx/>
              <a:buSzTx/>
              <a:buFontTx/>
              <a:buNone/>
              <a:defRPr/>
            </a:pPr>
            <a:r>
              <a:rPr lang="zh-CN" altLang="zh-CN"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3600" b="1" dirty="0">
                <a:solidFill>
                  <a:srgbClr val="000000"/>
                </a:solidFill>
                <a:latin typeface="微软雅黑" panose="020B0503020204020204" pitchFamily="34" charset="-122"/>
                <a:ea typeface="微软雅黑" panose="020B0503020204020204" pitchFamily="34" charset="-122"/>
                <a:sym typeface="+mn-ea"/>
              </a:rPr>
              <a:t>5</a:t>
            </a:r>
            <a:r>
              <a:rPr lang="zh-CN" altLang="en-US"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分</a:t>
            </a:r>
            <a:endParaRPr kumimoji="0"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1083310" rtl="0" eaLnBrk="1" fontAlgn="base" latinLnBrk="0" hangingPunct="1">
              <a:lnSpc>
                <a:spcPct val="120000"/>
              </a:lnSpc>
              <a:spcBef>
                <a:spcPct val="0"/>
              </a:spcBef>
              <a:spcAft>
                <a:spcPct val="0"/>
              </a:spcAft>
              <a:buClrTx/>
              <a:buSzTx/>
              <a:buFontTx/>
              <a:buNone/>
              <a:defRPr/>
            </a:pPr>
            <a:r>
              <a:rPr lang="zh-CN" altLang="zh-CN"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10</a:t>
            </a:r>
            <a:r>
              <a:rPr lang="zh-CN" altLang="en-US"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分</a:t>
            </a:r>
            <a:endParaRPr kumimoji="0"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1083310" rtl="0" eaLnBrk="1" fontAlgn="base" latinLnBrk="0" hangingPunct="1">
              <a:lnSpc>
                <a:spcPct val="120000"/>
              </a:lnSpc>
              <a:spcBef>
                <a:spcPct val="0"/>
              </a:spcBef>
              <a:spcAft>
                <a:spcPct val="0"/>
              </a:spcAft>
              <a:buClrTx/>
              <a:buSzTx/>
              <a:buFontTx/>
              <a:buNone/>
              <a:defRPr/>
            </a:pPr>
            <a:r>
              <a:rPr lang="zh-CN" altLang="zh-CN"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a:t>
            </a:r>
            <a:r>
              <a:rPr lang="en-US" altLang="zh-CN"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15</a:t>
            </a:r>
            <a:r>
              <a:rPr lang="zh-CN" altLang="en-US" sz="3600"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分</a:t>
            </a:r>
          </a:p>
        </p:txBody>
      </p:sp>
      <p:graphicFrame>
        <p:nvGraphicFramePr>
          <p:cNvPr id="4" name="图表 3"/>
          <p:cNvGraphicFramePr/>
          <p:nvPr/>
        </p:nvGraphicFramePr>
        <p:xfrm>
          <a:off x="1131570" y="1654175"/>
          <a:ext cx="4730750" cy="4351020"/>
        </p:xfrm>
        <a:graphic>
          <a:graphicData uri="http://schemas.openxmlformats.org/drawingml/2006/chart">
            <c:chart xmlns:c="http://schemas.openxmlformats.org/drawingml/2006/chart" xmlns:r="http://schemas.openxmlformats.org/officeDocument/2006/relationships" r:id="rId8"/>
          </a:graphicData>
        </a:graphic>
      </p:graphicFrame>
      <p:sp>
        <p:nvSpPr>
          <p:cNvPr id="3" name="文本框 2"/>
          <p:cNvSpPr txBox="1"/>
          <p:nvPr/>
        </p:nvSpPr>
        <p:spPr>
          <a:xfrm>
            <a:off x="2082165" y="2863850"/>
            <a:ext cx="924560" cy="1135054"/>
          </a:xfrm>
          <a:prstGeom prst="rect">
            <a:avLst/>
          </a:prstGeom>
          <a:noFill/>
        </p:spPr>
        <p:txBody>
          <a:bodyPr wrap="square" rtlCol="0" anchor="t">
            <a:spAutoFit/>
          </a:bodyPr>
          <a:lstStyle/>
          <a:p>
            <a:pPr>
              <a:lnSpc>
                <a:spcPct val="150000"/>
              </a:lnSpc>
            </a:pPr>
            <a:r>
              <a:rPr lang="zh-CN" altLang="en-US" sz="2400" b="1"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實驗</a:t>
            </a:r>
            <a:r>
              <a:rPr lang="en-US" altLang="zh-CN" sz="2400" b="1"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40%</a:t>
            </a:r>
          </a:p>
        </p:txBody>
      </p:sp>
      <p:sp>
        <p:nvSpPr>
          <p:cNvPr id="6" name="文本框 5"/>
          <p:cNvSpPr txBox="1"/>
          <p:nvPr/>
        </p:nvSpPr>
        <p:spPr>
          <a:xfrm>
            <a:off x="3085465" y="4464685"/>
            <a:ext cx="924560" cy="1135054"/>
          </a:xfrm>
          <a:prstGeom prst="rect">
            <a:avLst/>
          </a:prstGeom>
          <a:noFill/>
        </p:spPr>
        <p:txBody>
          <a:bodyPr wrap="square" rtlCol="0" anchor="t">
            <a:spAutoFit/>
          </a:bodyPr>
          <a:lstStyle/>
          <a:p>
            <a:pPr>
              <a:lnSpc>
                <a:spcPct val="150000"/>
              </a:lnSpc>
            </a:pP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作業</a:t>
            </a:r>
            <a:r>
              <a:rPr lang="en-US" altLang="zh-CN"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20%</a:t>
            </a:r>
          </a:p>
        </p:txBody>
      </p:sp>
      <p:sp>
        <p:nvSpPr>
          <p:cNvPr id="9" name="文本框 8"/>
          <p:cNvSpPr txBox="1"/>
          <p:nvPr/>
        </p:nvSpPr>
        <p:spPr>
          <a:xfrm>
            <a:off x="4090035" y="2586990"/>
            <a:ext cx="924560" cy="1753235"/>
          </a:xfrm>
          <a:prstGeom prst="rect">
            <a:avLst/>
          </a:prstGeom>
          <a:noFill/>
        </p:spPr>
        <p:txBody>
          <a:bodyPr wrap="square" rtlCol="0" anchor="t">
            <a:spAutoFit/>
          </a:bodyPr>
          <a:lstStyle/>
          <a:p>
            <a:pPr>
              <a:lnSpc>
                <a:spcPct val="150000"/>
              </a:lnSpc>
            </a:pPr>
            <a:r>
              <a:rPr lang="zh-CN" altLang="en-US" sz="24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期末考試</a:t>
            </a:r>
            <a:r>
              <a:rPr lang="en-US" altLang="zh-CN" sz="24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40%</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2-3713&amp;3764"/>
          <p:cNvSpPr/>
          <p:nvPr>
            <p:custDataLst>
              <p:tags r:id="rId1"/>
            </p:custDataLst>
          </p:nvPr>
        </p:nvSpPr>
        <p:spPr>
          <a:xfrm>
            <a:off x="300990" y="861695"/>
            <a:ext cx="11589385" cy="17843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2" name="标题 1"/>
          <p:cNvSpPr>
            <a:spLocks noGrp="1"/>
          </p:cNvSpPr>
          <p:nvPr>
            <p:ph type="title"/>
          </p:nvPr>
        </p:nvSpPr>
        <p:spPr>
          <a:xfrm>
            <a:off x="1131376" y="136525"/>
            <a:ext cx="6690599" cy="725407"/>
          </a:xfrm>
        </p:spPr>
        <p:txBody>
          <a:bodyPr vert="horz" lIns="91440" tIns="45720" rIns="91440" bIns="45720" rtlCol="0" anchor="ctr">
            <a:normAutofit/>
          </a:bodyPr>
          <a:lstStyle/>
          <a:p>
            <a:r>
              <a:rPr kumimoji="1" lang="zh-CN" altLang="en-US" dirty="0"/>
              <a:t>實驗選題要求</a:t>
            </a:r>
          </a:p>
        </p:txBody>
      </p:sp>
      <p:graphicFrame>
        <p:nvGraphicFramePr>
          <p:cNvPr id="12" name="Table 4"/>
          <p:cNvGraphicFramePr>
            <a:graphicFrameLocks noGrp="1"/>
          </p:cNvGraphicFramePr>
          <p:nvPr>
            <p:extLst>
              <p:ext uri="{D42A27DB-BD31-4B8C-83A1-F6EECF244321}">
                <p14:modId xmlns:p14="http://schemas.microsoft.com/office/powerpoint/2010/main" val="1134077683"/>
              </p:ext>
            </p:extLst>
          </p:nvPr>
        </p:nvGraphicFramePr>
        <p:xfrm>
          <a:off x="6109252" y="2769988"/>
          <a:ext cx="5694822" cy="3932238"/>
        </p:xfrm>
        <a:graphic>
          <a:graphicData uri="http://schemas.openxmlformats.org/drawingml/2006/table">
            <a:tbl>
              <a:tblPr firstRow="1" bandRow="1">
                <a:tableStyleId>{BDBED569-4797-4DF1-A0F4-6AAB3CD982D8}</a:tableStyleId>
              </a:tblPr>
              <a:tblGrid>
                <a:gridCol w="1386072">
                  <a:extLst>
                    <a:ext uri="{9D8B030D-6E8A-4147-A177-3AD203B41FA5}">
                      <a16:colId xmlns:a16="http://schemas.microsoft.com/office/drawing/2014/main" val="20000"/>
                    </a:ext>
                  </a:extLst>
                </a:gridCol>
                <a:gridCol w="3507273">
                  <a:extLst>
                    <a:ext uri="{9D8B030D-6E8A-4147-A177-3AD203B41FA5}">
                      <a16:colId xmlns:a16="http://schemas.microsoft.com/office/drawing/2014/main" val="20001"/>
                    </a:ext>
                  </a:extLst>
                </a:gridCol>
                <a:gridCol w="801477">
                  <a:extLst>
                    <a:ext uri="{9D8B030D-6E8A-4147-A177-3AD203B41FA5}">
                      <a16:colId xmlns:a16="http://schemas.microsoft.com/office/drawing/2014/main" val="20002"/>
                    </a:ext>
                  </a:extLst>
                </a:gridCol>
              </a:tblGrid>
              <a:tr h="342265">
                <a:tc>
                  <a:txBody>
                    <a:bodyPr/>
                    <a:lstStyle/>
                    <a:p>
                      <a:pPr algn="ctr"/>
                      <a:r>
                        <a:rPr lang="zh-CN" altLang="en-US" sz="1600" dirty="0"/>
                        <a:t>實驗序號</a:t>
                      </a:r>
                    </a:p>
                  </a:txBody>
                  <a:tcPr anchor="ctr"/>
                </a:tc>
                <a:tc>
                  <a:txBody>
                    <a:bodyPr/>
                    <a:lstStyle/>
                    <a:p>
                      <a:pPr algn="ctr"/>
                      <a:r>
                        <a:rPr lang="zh-CN" altLang="en-US" sz="1600" dirty="0"/>
                        <a:t>實驗名稱</a:t>
                      </a:r>
                    </a:p>
                  </a:txBody>
                  <a:tcPr anchor="ctr"/>
                </a:tc>
                <a:tc>
                  <a:txBody>
                    <a:bodyPr/>
                    <a:lstStyle/>
                    <a:p>
                      <a:pPr algn="ctr"/>
                      <a:r>
                        <a:rPr lang="zh-CN" altLang="en-US" sz="1600" dirty="0"/>
                        <a:t>難度</a:t>
                      </a:r>
                    </a:p>
                  </a:txBody>
                  <a:tcPr anchor="ctr"/>
                </a:tc>
                <a:extLst>
                  <a:ext uri="{0D108BD9-81ED-4DB2-BD59-A6C34878D82A}">
                    <a16:rowId xmlns:a16="http://schemas.microsoft.com/office/drawing/2014/main" val="10000"/>
                  </a:ext>
                </a:extLst>
              </a:tr>
              <a:tr h="439420">
                <a:tc>
                  <a:txBody>
                    <a:bodyPr/>
                    <a:lstStyle/>
                    <a:p>
                      <a:pPr algn="ctr"/>
                      <a:r>
                        <a:rPr lang="zh-CN" altLang="en-US" sz="1600" dirty="0"/>
                        <a:t>實驗十一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altLang="zh-CN" sz="1600" kern="1200" dirty="0" err="1">
                          <a:effectLst/>
                        </a:rPr>
                        <a:t>實現本地</a:t>
                      </a:r>
                      <a:r>
                        <a:rPr altLang="zh-CN" sz="1600" kern="1200" dirty="0">
                          <a:effectLst/>
                        </a:rPr>
                        <a:t> DNS </a:t>
                      </a:r>
                      <a:r>
                        <a:rPr altLang="zh-CN" sz="1600" kern="1200" dirty="0" err="1">
                          <a:effectLst/>
                        </a:rPr>
                        <a:t>緩存中毒攻擊</a:t>
                      </a:r>
                      <a:endParaRPr altLang="zh-CN" sz="1600" kern="1200" dirty="0">
                        <a:effectLst/>
                      </a:endParaRPr>
                    </a:p>
                  </a:txBody>
                  <a:tcPr anchor="ctr"/>
                </a:tc>
                <a:tc>
                  <a:txBody>
                    <a:bodyPr/>
                    <a:lstStyle/>
                    <a:p>
                      <a:pPr algn="ctr"/>
                      <a:r>
                        <a:rPr lang="zh-CN" altLang="zh-CN" sz="1600" dirty="0"/>
                        <a:t>★★</a:t>
                      </a:r>
                    </a:p>
                  </a:txBody>
                  <a:tcPr anchor="ctr"/>
                </a:tc>
                <a:extLst>
                  <a:ext uri="{0D108BD9-81ED-4DB2-BD59-A6C34878D82A}">
                    <a16:rowId xmlns:a16="http://schemas.microsoft.com/office/drawing/2014/main" val="10001"/>
                  </a:ext>
                </a:extLst>
              </a:tr>
              <a:tr h="421005">
                <a:tc>
                  <a:txBody>
                    <a:bodyPr/>
                    <a:lstStyle/>
                    <a:p>
                      <a:pPr algn="ctr"/>
                      <a:r>
                        <a:rPr lang="zh-CN" altLang="en-US" sz="1600" dirty="0"/>
                        <a:t>實驗十二</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1600" kern="1200" dirty="0">
                          <a:effectLst/>
                        </a:rPr>
                        <a:t>域間源地址驗證技術 SMA 簡單模擬</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t>★</a:t>
                      </a:r>
                      <a:r>
                        <a:rPr lang="zh-CN" altLang="zh-CN" sz="1600" dirty="0">
                          <a:sym typeface="+mn-ea"/>
                        </a:rPr>
                        <a:t>★</a:t>
                      </a:r>
                      <a:endParaRPr lang="zh-CN" altLang="zh-CN" sz="1600" dirty="0"/>
                    </a:p>
                  </a:txBody>
                  <a:tcPr anchor="ctr"/>
                </a:tc>
                <a:extLst>
                  <a:ext uri="{0D108BD9-81ED-4DB2-BD59-A6C34878D82A}">
                    <a16:rowId xmlns:a16="http://schemas.microsoft.com/office/drawing/2014/main" val="10002"/>
                  </a:ext>
                </a:extLst>
              </a:tr>
              <a:tr h="402590">
                <a:tc>
                  <a:txBody>
                    <a:bodyPr/>
                    <a:lstStyle/>
                    <a:p>
                      <a:pPr algn="ctr">
                        <a:buClrTx/>
                        <a:buSzTx/>
                        <a:buFontTx/>
                      </a:pPr>
                      <a:r>
                        <a:rPr lang="zh-CN" altLang="en-US" sz="1600" dirty="0"/>
                        <a:t>實驗十三</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可視化分析流量交互圖</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sym typeface="+mn-ea"/>
                        </a:rPr>
                        <a:t>★★</a:t>
                      </a:r>
                      <a:endParaRPr lang="zh-CN" altLang="zh-CN" sz="1600" dirty="0"/>
                    </a:p>
                  </a:txBody>
                  <a:tcPr anchor="ctr"/>
                </a:tc>
                <a:extLst>
                  <a:ext uri="{0D108BD9-81ED-4DB2-BD59-A6C34878D82A}">
                    <a16:rowId xmlns:a16="http://schemas.microsoft.com/office/drawing/2014/main" val="10003"/>
                  </a:ext>
                </a:extLst>
              </a:tr>
              <a:tr h="474028">
                <a:tc>
                  <a:txBody>
                    <a:bodyPr/>
                    <a:lstStyle/>
                    <a:p>
                      <a:pPr algn="ctr"/>
                      <a:r>
                        <a:rPr lang="zh-CN" altLang="en-US" sz="1600" dirty="0"/>
                        <a:t>實驗十四</a:t>
                      </a:r>
                      <a:endParaRPr lang="zh-CN" sz="16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網站指紋攻擊實現</a:t>
                      </a:r>
                    </a:p>
                  </a:txBody>
                  <a:tcPr anchor="ctr"/>
                </a:tc>
                <a:tc>
                  <a:txBody>
                    <a:bodyPr/>
                    <a:lstStyle/>
                    <a:p>
                      <a:pPr algn="ctr">
                        <a:buNone/>
                      </a:pPr>
                      <a:r>
                        <a:rPr lang="zh-CN" altLang="zh-CN" sz="1600" dirty="0">
                          <a:sym typeface="+mn-ea"/>
                        </a:rPr>
                        <a:t>★★</a:t>
                      </a:r>
                      <a:endParaRPr lang="zh-CN" altLang="zh-CN" sz="1600" dirty="0"/>
                    </a:p>
                  </a:txBody>
                  <a:tcPr anchor="ctr"/>
                </a:tc>
                <a:extLst>
                  <a:ext uri="{0D108BD9-81ED-4DB2-BD59-A6C34878D82A}">
                    <a16:rowId xmlns:a16="http://schemas.microsoft.com/office/drawing/2014/main" val="10004"/>
                  </a:ext>
                </a:extLst>
              </a:tr>
              <a:tr h="438150">
                <a:tc>
                  <a:txBody>
                    <a:bodyPr/>
                    <a:lstStyle/>
                    <a:p>
                      <a:pPr algn="ctr">
                        <a:buClrTx/>
                        <a:buSzTx/>
                        <a:buFontTx/>
                      </a:pPr>
                      <a:r>
                        <a:rPr lang="zh-CN" altLang="en-US" sz="1600" dirty="0"/>
                        <a:t>實驗十五</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容錯算法驗證和模擬</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5"/>
                  </a:ext>
                </a:extLst>
              </a:tr>
              <a:tr h="445770">
                <a:tc>
                  <a:txBody>
                    <a:bodyPr/>
                    <a:lstStyle/>
                    <a:p>
                      <a:pPr algn="ctr">
                        <a:buClrTx/>
                        <a:buSzTx/>
                        <a:buFontTx/>
                      </a:pPr>
                      <a:r>
                        <a:rPr lang="zh-CN" altLang="en-US" sz="1600" dirty="0"/>
                        <a:t>實驗十六</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altLang="zh-CN" sz="1600" kern="1200" dirty="0" err="1">
                          <a:effectLst/>
                        </a:rPr>
                        <a:t>實現本地</a:t>
                      </a:r>
                      <a:r>
                        <a:rPr altLang="zh-CN" sz="1600" kern="1200" dirty="0">
                          <a:effectLst/>
                        </a:rPr>
                        <a:t> Web </a:t>
                      </a:r>
                      <a:r>
                        <a:rPr altLang="zh-CN" sz="1600" kern="1200" dirty="0" err="1">
                          <a:effectLst/>
                        </a:rPr>
                        <a:t>攻擊</a:t>
                      </a:r>
                      <a:endParaRPr altLang="zh-CN" sz="1600" kern="1200" dirty="0">
                        <a:effectLs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t>★★</a:t>
                      </a:r>
                    </a:p>
                  </a:txBody>
                  <a:tcPr anchor="ctr"/>
                </a:tc>
                <a:extLst>
                  <a:ext uri="{0D108BD9-81ED-4DB2-BD59-A6C34878D82A}">
                    <a16:rowId xmlns:a16="http://schemas.microsoft.com/office/drawing/2014/main" val="10006"/>
                  </a:ext>
                </a:extLst>
              </a:tr>
              <a:tr h="469265">
                <a:tc>
                  <a:txBody>
                    <a:bodyPr/>
                    <a:lstStyle/>
                    <a:p>
                      <a:pPr algn="ctr">
                        <a:buClrTx/>
                        <a:buSzTx/>
                        <a:buFontTx/>
                      </a:pPr>
                      <a:r>
                        <a:rPr lang="zh-CN" altLang="en-US" sz="1600" dirty="0"/>
                        <a:t>實驗十七</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後門攻擊與防禦的實現</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7"/>
                  </a:ext>
                </a:extLst>
              </a:tr>
              <a:tr h="499745">
                <a:tc>
                  <a:txBody>
                    <a:bodyPr/>
                    <a:lstStyle/>
                    <a:p>
                      <a:pPr algn="ctr">
                        <a:buClrTx/>
                        <a:buSzTx/>
                        <a:buFontTx/>
                        <a:buNone/>
                      </a:pPr>
                      <a:r>
                        <a:rPr lang="zh-CN" altLang="en-US" sz="1600" dirty="0"/>
                        <a:t>實驗十八</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sz="1600" dirty="0" err="1"/>
                        <a:t>流量大模型的流量檢測能力實現</a:t>
                      </a:r>
                      <a:endParaRPr kumimoji="1"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sym typeface="+mn-ea"/>
                        </a:rPr>
                        <a:t>★</a:t>
                      </a:r>
                      <a:r>
                        <a:rPr lang="zh-CN" altLang="zh-CN" sz="1600" dirty="0"/>
                        <a:t>★★</a:t>
                      </a:r>
                    </a:p>
                  </a:txBody>
                  <a:tcPr anchor="ctr"/>
                </a:tc>
                <a:extLst>
                  <a:ext uri="{0D108BD9-81ED-4DB2-BD59-A6C34878D82A}">
                    <a16:rowId xmlns:a16="http://schemas.microsoft.com/office/drawing/2014/main" val="10008"/>
                  </a:ext>
                </a:extLst>
              </a:tr>
            </a:tbl>
          </a:graphicData>
        </a:graphic>
      </p:graphicFrame>
      <p:grpSp>
        <p:nvGrpSpPr>
          <p:cNvPr id="9" name="组合 8"/>
          <p:cNvGrpSpPr/>
          <p:nvPr/>
        </p:nvGrpSpPr>
        <p:grpSpPr>
          <a:xfrm>
            <a:off x="681990" y="1064532"/>
            <a:ext cx="7218680" cy="1476375"/>
            <a:chOff x="3119" y="3233"/>
            <a:chExt cx="11368" cy="2325"/>
          </a:xfrm>
        </p:grpSpPr>
        <p:sp>
          <p:nvSpPr>
            <p:cNvPr id="18" name="TextBox 27"/>
            <p:cNvSpPr txBox="1">
              <a:spLocks noChangeArrowheads="1"/>
            </p:cNvSpPr>
            <p:nvPr/>
          </p:nvSpPr>
          <p:spPr bwMode="auto">
            <a:xfrm>
              <a:off x="3119" y="4035"/>
              <a:ext cx="3198" cy="726"/>
            </a:xfrm>
            <a:prstGeom prst="rect">
              <a:avLst/>
            </a:prstGeom>
            <a:noFill/>
            <a:ln w="9525">
              <a:noFill/>
              <a:miter lim="800000"/>
            </a:ln>
          </p:spPr>
          <p:txBody>
            <a:bodyPr wrap="none" lIns="90994" tIns="45497" rIns="90994" bIns="45497">
              <a:spAutoFit/>
            </a:bodyPr>
            <a:lstStyle/>
            <a:p>
              <a:pPr marL="0" marR="0" lvl="0" indent="0" algn="ctr" defTabSz="108331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實驗選擇要求</a:t>
              </a:r>
            </a:p>
          </p:txBody>
        </p:sp>
        <p:sp>
          <p:nvSpPr>
            <p:cNvPr id="23" name="TextBox 22"/>
            <p:cNvSpPr txBox="1"/>
            <p:nvPr/>
          </p:nvSpPr>
          <p:spPr>
            <a:xfrm>
              <a:off x="6949" y="3233"/>
              <a:ext cx="7538" cy="2325"/>
            </a:xfrm>
            <a:prstGeom prst="rect">
              <a:avLst/>
            </a:prstGeom>
            <a:noFill/>
          </p:spPr>
          <p:txBody>
            <a:bodyPr wrap="square">
              <a:spAutoFit/>
            </a:bodyPr>
            <a:lstStyle/>
            <a:p>
              <a:pPr marL="342900" marR="0" lvl="0" indent="-342900" algn="l" defTabSz="1083310" rtl="0" eaLnBrk="1" fontAlgn="base" latinLnBrk="0" hangingPunct="1">
                <a:lnSpc>
                  <a:spcPct val="150000"/>
                </a:lnSpc>
                <a:spcBef>
                  <a:spcPct val="0"/>
                </a:spcBef>
                <a:spcAft>
                  <a:spcPct val="0"/>
                </a:spcAft>
                <a:buClrTx/>
                <a:buSzTx/>
                <a:buFont typeface="Arial" panose="020B0604020202090204" pitchFamily="34" charset="0"/>
                <a:buChar char="•"/>
                <a:defRPr/>
              </a:pPr>
              <a:r>
                <a:rPr lang="zh-CN" altLang="en-US" sz="2000" b="1" dirty="0">
                  <a:solidFill>
                    <a:schemeClr val="tx1"/>
                  </a:solidFill>
                  <a:latin typeface="微软雅黑" panose="020B0503020204020204" pitchFamily="34" charset="-122"/>
                  <a:ea typeface="微软雅黑" panose="020B0503020204020204" pitchFamily="34" charset="-122"/>
                </a:rPr>
                <a:t>必須選擇</a:t>
              </a:r>
              <a:r>
                <a:rPr lang="en-US" altLang="zh-CN" sz="2000" b="1" dirty="0">
                  <a:solidFill>
                    <a:schemeClr val="tx1"/>
                  </a:solidFill>
                  <a:latin typeface="微软雅黑" panose="020B0503020204020204" pitchFamily="34" charset="-122"/>
                  <a:ea typeface="微软雅黑" panose="020B0503020204020204" pitchFamily="34" charset="-122"/>
                </a:rPr>
                <a:t>2</a:t>
              </a:r>
              <a:r>
                <a:rPr lang="zh-CN" altLang="en-US" sz="2000" b="1" dirty="0">
                  <a:solidFill>
                    <a:schemeClr val="tx1"/>
                  </a:solidFill>
                  <a:latin typeface="微软雅黑" panose="020B0503020204020204" pitchFamily="34" charset="-122"/>
                  <a:ea typeface="微软雅黑" panose="020B0503020204020204" pitchFamily="34" charset="-122"/>
                </a:rPr>
                <a:t>個</a:t>
              </a:r>
              <a:r>
                <a:rPr kumimoji="0" lang="zh-CN"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實驗 </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(15+15</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分</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p>
            <a:p>
              <a:pPr marL="342900" marR="0" lvl="0" indent="-342900" algn="l" defTabSz="1083310" rtl="0" eaLnBrk="1" fontAlgn="base" latinLnBrk="0" hangingPunct="1">
                <a:lnSpc>
                  <a:spcPct val="150000"/>
                </a:lnSpc>
                <a:spcBef>
                  <a:spcPct val="0"/>
                </a:spcBef>
                <a:spcAft>
                  <a:spcPct val="0"/>
                </a:spcAft>
                <a:buClrTx/>
                <a:buSzTx/>
                <a:buFont typeface="Arial" panose="020B0604020202090204" pitchFamily="34" charset="0"/>
                <a:buChar char="•"/>
                <a:defRPr/>
              </a:pP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另選</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個</a:t>
              </a:r>
              <a:r>
                <a:rPr kumimoji="0" lang="zh-CN"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實驗（</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10</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分）</a:t>
              </a:r>
            </a:p>
            <a:p>
              <a:pPr marL="342900" marR="0" lvl="0" indent="-342900" algn="l" defTabSz="1083310" rtl="0" eaLnBrk="1" fontAlgn="base" latinLnBrk="0" hangingPunct="1">
                <a:lnSpc>
                  <a:spcPct val="150000"/>
                </a:lnSpc>
                <a:spcBef>
                  <a:spcPct val="0"/>
                </a:spcBef>
                <a:spcAft>
                  <a:spcPct val="0"/>
                </a:spcAft>
                <a:buClrTx/>
                <a:buSzTx/>
                <a:buFont typeface="Arial" panose="020B0604020202090204" pitchFamily="34" charset="0"/>
                <a:buChar char="•"/>
                <a:defRPr/>
              </a:pP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或</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2</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個</a:t>
              </a:r>
              <a:r>
                <a:rPr kumimoji="0" lang="zh-CN"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實驗 </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(5+5</a:t>
              </a:r>
              <a:r>
                <a:rPr kumimoji="0" lang="zh-CN" altLang="en-US"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分</a:t>
              </a:r>
              <a:r>
                <a:rPr kumimoji="0" lang="en-US" altLang="zh-CN" sz="2000" b="1" i="0"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p>
          </p:txBody>
        </p:sp>
      </p:grpSp>
      <p:graphicFrame>
        <p:nvGraphicFramePr>
          <p:cNvPr id="8" name="Table 4"/>
          <p:cNvGraphicFramePr>
            <a:graphicFrameLocks noGrp="1"/>
          </p:cNvGraphicFramePr>
          <p:nvPr>
            <p:extLst>
              <p:ext uri="{D42A27DB-BD31-4B8C-83A1-F6EECF244321}">
                <p14:modId xmlns:p14="http://schemas.microsoft.com/office/powerpoint/2010/main" val="798254331"/>
              </p:ext>
            </p:extLst>
          </p:nvPr>
        </p:nvGraphicFramePr>
        <p:xfrm>
          <a:off x="216596" y="2770623"/>
          <a:ext cx="5413495" cy="3868420"/>
        </p:xfrm>
        <a:graphic>
          <a:graphicData uri="http://schemas.openxmlformats.org/drawingml/2006/table">
            <a:tbl>
              <a:tblPr firstRow="1" bandRow="1">
                <a:tableStyleId>{BDBED569-4797-4DF1-A0F4-6AAB3CD982D8}</a:tableStyleId>
              </a:tblPr>
              <a:tblGrid>
                <a:gridCol w="1782021">
                  <a:extLst>
                    <a:ext uri="{9D8B030D-6E8A-4147-A177-3AD203B41FA5}">
                      <a16:colId xmlns:a16="http://schemas.microsoft.com/office/drawing/2014/main" val="20000"/>
                    </a:ext>
                  </a:extLst>
                </a:gridCol>
                <a:gridCol w="2847703">
                  <a:extLst>
                    <a:ext uri="{9D8B030D-6E8A-4147-A177-3AD203B41FA5}">
                      <a16:colId xmlns:a16="http://schemas.microsoft.com/office/drawing/2014/main" val="20001"/>
                    </a:ext>
                  </a:extLst>
                </a:gridCol>
                <a:gridCol w="783771">
                  <a:extLst>
                    <a:ext uri="{9D8B030D-6E8A-4147-A177-3AD203B41FA5}">
                      <a16:colId xmlns:a16="http://schemas.microsoft.com/office/drawing/2014/main" val="20002"/>
                    </a:ext>
                  </a:extLst>
                </a:gridCol>
              </a:tblGrid>
              <a:tr h="341630">
                <a:tc>
                  <a:txBody>
                    <a:bodyPr/>
                    <a:lstStyle/>
                    <a:p>
                      <a:pPr algn="ctr"/>
                      <a:r>
                        <a:rPr lang="zh-CN" altLang="en-US" sz="1600" dirty="0"/>
                        <a:t>實驗序號</a:t>
                      </a:r>
                    </a:p>
                  </a:txBody>
                  <a:tcPr anchor="ctr"/>
                </a:tc>
                <a:tc>
                  <a:txBody>
                    <a:bodyPr/>
                    <a:lstStyle/>
                    <a:p>
                      <a:pPr algn="ctr"/>
                      <a:r>
                        <a:rPr lang="zh-CN" altLang="en-US" sz="1600" dirty="0"/>
                        <a:t>實驗名稱</a:t>
                      </a:r>
                    </a:p>
                  </a:txBody>
                  <a:tcPr anchor="ctr"/>
                </a:tc>
                <a:tc>
                  <a:txBody>
                    <a:bodyPr/>
                    <a:lstStyle/>
                    <a:p>
                      <a:pPr algn="ctr"/>
                      <a:r>
                        <a:rPr lang="zh-CN" altLang="en-US" sz="1600" dirty="0"/>
                        <a:t>難度</a:t>
                      </a:r>
                    </a:p>
                  </a:txBody>
                  <a:tcPr anchor="ctr"/>
                </a:tc>
                <a:extLst>
                  <a:ext uri="{0D108BD9-81ED-4DB2-BD59-A6C34878D82A}">
                    <a16:rowId xmlns:a16="http://schemas.microsoft.com/office/drawing/2014/main" val="10000"/>
                  </a:ext>
                </a:extLst>
              </a:tr>
              <a:tr h="342265">
                <a:tc>
                  <a:txBody>
                    <a:bodyPr/>
                    <a:lstStyle/>
                    <a:p>
                      <a:pPr algn="ctr"/>
                      <a:r>
                        <a:rPr lang="zh-CN" altLang="en-US" sz="1600" b="0" kern="1200" dirty="0">
                          <a:solidFill>
                            <a:schemeClr val="tx1"/>
                          </a:solidFill>
                          <a:latin typeface="+mn-lt"/>
                          <a:ea typeface="+mn-ea"/>
                          <a:cs typeface="+mn-cs"/>
                        </a:rPr>
                        <a:t>實驗一</a:t>
                      </a:r>
                    </a:p>
                  </a:txBody>
                  <a:tcPr anchor="ctr"/>
                </a:tc>
                <a:tc>
                  <a:txBody>
                    <a:bodyPr/>
                    <a:lstStyle/>
                    <a:p>
                      <a:r>
                        <a:rPr lang="zh-CN" altLang="en-US" sz="1600" dirty="0"/>
                        <a:t>製造</a:t>
                      </a:r>
                      <a:r>
                        <a:rPr lang="en-US" altLang="zh-CN" sz="1600" dirty="0"/>
                        <a:t>MD5</a:t>
                      </a:r>
                      <a:r>
                        <a:rPr lang="zh-CN" altLang="en-US" sz="1600" dirty="0"/>
                        <a:t>算法的散列值碰撞</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1"/>
                  </a:ext>
                </a:extLst>
              </a:tr>
              <a:tr h="341630">
                <a:tc>
                  <a:txBody>
                    <a:bodyPr/>
                    <a:lstStyle/>
                    <a:p>
                      <a:pPr algn="ctr"/>
                      <a:r>
                        <a:rPr lang="zh-CN" altLang="en-US" sz="1600" b="0" kern="1200" dirty="0">
                          <a:solidFill>
                            <a:schemeClr val="tx1"/>
                          </a:solidFill>
                          <a:latin typeface="+mn-lt"/>
                          <a:ea typeface="+mn-ea"/>
                          <a:cs typeface="+mn-cs"/>
                        </a:rPr>
                        <a:t>實驗二</a:t>
                      </a:r>
                    </a:p>
                  </a:txBody>
                  <a:tcPr anchor="ctr"/>
                </a:tc>
                <a:tc>
                  <a:txBody>
                    <a:bodyPr/>
                    <a:lstStyle/>
                    <a:p>
                      <a:r>
                        <a:rPr lang="zh-CN" altLang="en-US" sz="1600" dirty="0"/>
                        <a:t>基于口令的安全身份驗證協議</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2"/>
                  </a:ext>
                </a:extLst>
              </a:tr>
              <a:tr h="341630">
                <a:tc>
                  <a:txBody>
                    <a:bodyPr/>
                    <a:lstStyle/>
                    <a:p>
                      <a:pPr algn="ctr"/>
                      <a:r>
                        <a:rPr lang="zh-CN" altLang="en-US" sz="1600" b="0" kern="1200" dirty="0">
                          <a:solidFill>
                            <a:schemeClr val="tx1"/>
                          </a:solidFill>
                          <a:latin typeface="+mn-lt"/>
                          <a:ea typeface="+mn-ea"/>
                          <a:cs typeface="+mn-cs"/>
                        </a:rPr>
                        <a:t>實驗三</a:t>
                      </a:r>
                    </a:p>
                  </a:txBody>
                  <a:tcPr anchor="ctr"/>
                </a:tc>
                <a:tc>
                  <a:txBody>
                    <a:bodyPr/>
                    <a:lstStyle/>
                    <a:p>
                      <a:pPr>
                        <a:buNone/>
                      </a:pPr>
                      <a:r>
                        <a:rPr lang="zh-CN" altLang="en-US" sz="1600" dirty="0"/>
                        <a:t>數字證書的使用</a:t>
                      </a:r>
                    </a:p>
                  </a:txBody>
                  <a:tcPr anchor="ctr"/>
                </a:tc>
                <a:tc>
                  <a:txBody>
                    <a:bodyPr/>
                    <a:lstStyle/>
                    <a:p>
                      <a:pPr algn="ctr">
                        <a:buNone/>
                      </a:pPr>
                      <a:r>
                        <a:rPr lang="zh-CN" altLang="zh-CN" sz="1600" dirty="0">
                          <a:sym typeface="+mn-ea"/>
                        </a:rPr>
                        <a:t>★</a:t>
                      </a:r>
                      <a:endParaRPr lang="zh-CN" altLang="zh-CN" sz="1600" dirty="0"/>
                    </a:p>
                  </a:txBody>
                  <a:tcPr anchor="ctr"/>
                </a:tc>
                <a:extLst>
                  <a:ext uri="{0D108BD9-81ED-4DB2-BD59-A6C34878D82A}">
                    <a16:rowId xmlns:a16="http://schemas.microsoft.com/office/drawing/2014/main" val="10003"/>
                  </a:ext>
                </a:extLst>
              </a:tr>
              <a:tr h="342265">
                <a:tc>
                  <a:txBody>
                    <a:bodyPr/>
                    <a:lstStyle/>
                    <a:p>
                      <a:pPr algn="ctr"/>
                      <a:r>
                        <a:rPr lang="zh-CN" altLang="en-US" sz="1600" b="0" kern="1200" dirty="0">
                          <a:solidFill>
                            <a:schemeClr val="tx1"/>
                          </a:solidFill>
                          <a:latin typeface="+mn-lt"/>
                          <a:ea typeface="+mn-ea"/>
                          <a:cs typeface="+mn-cs"/>
                        </a:rPr>
                        <a:t>實驗四</a:t>
                      </a:r>
                    </a:p>
                  </a:txBody>
                  <a:tcPr anchor="ctr"/>
                </a:tc>
                <a:tc>
                  <a:txBody>
                    <a:bodyPr/>
                    <a:lstStyle/>
                    <a:p>
                      <a:r>
                        <a:rPr lang="zh-CN" altLang="en-US" sz="1600" dirty="0"/>
                        <a:t>同態加密匿名投票</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4"/>
                  </a:ext>
                </a:extLst>
              </a:tr>
              <a:tr h="341630">
                <a:tc>
                  <a:txBody>
                    <a:bodyPr/>
                    <a:lstStyle/>
                    <a:p>
                      <a:pPr algn="ctr"/>
                      <a:r>
                        <a:rPr lang="zh-CN" altLang="en-US" sz="1600" b="0" kern="1200" dirty="0">
                          <a:solidFill>
                            <a:schemeClr val="tx1"/>
                          </a:solidFill>
                          <a:latin typeface="+mn-lt"/>
                          <a:ea typeface="+mn-ea"/>
                          <a:cs typeface="+mn-cs"/>
                        </a:rPr>
                        <a:t>實驗五</a:t>
                      </a:r>
                    </a:p>
                  </a:txBody>
                  <a:tcPr anchor="ctr"/>
                </a:tc>
                <a:tc>
                  <a:txBody>
                    <a:bodyPr/>
                    <a:lstStyle/>
                    <a:p>
                      <a:r>
                        <a:rPr sz="1600" dirty="0" err="1"/>
                        <a:t>Spectre</a:t>
                      </a:r>
                      <a:r>
                        <a:rPr sz="1600" dirty="0"/>
                        <a:t> </a:t>
                      </a:r>
                      <a:r>
                        <a:rPr sz="1600" dirty="0" err="1"/>
                        <a:t>攻擊驗證</a:t>
                      </a:r>
                      <a:endParaRPr sz="1600" dirty="0"/>
                    </a:p>
                  </a:txBody>
                  <a:tcPr anchor="ctr"/>
                </a:tc>
                <a:tc>
                  <a:txBody>
                    <a:bodyPr/>
                    <a:lstStyle/>
                    <a:p>
                      <a:pPr algn="ctr"/>
                      <a:r>
                        <a:rPr lang="zh-CN" altLang="zh-CN" sz="1600" dirty="0"/>
                        <a:t>★★★</a:t>
                      </a:r>
                    </a:p>
                  </a:txBody>
                  <a:tcPr anchor="ctr"/>
                </a:tc>
                <a:extLst>
                  <a:ext uri="{0D108BD9-81ED-4DB2-BD59-A6C34878D82A}">
                    <a16:rowId xmlns:a16="http://schemas.microsoft.com/office/drawing/2014/main" val="10005"/>
                  </a:ext>
                </a:extLst>
              </a:tr>
              <a:tr h="341630">
                <a:tc>
                  <a:txBody>
                    <a:bodyPr/>
                    <a:lstStyle/>
                    <a:p>
                      <a:pPr algn="ctr"/>
                      <a:r>
                        <a:rPr lang="zh-CN" altLang="en-US" sz="1600" b="0" kern="1200" dirty="0">
                          <a:solidFill>
                            <a:schemeClr val="tx1"/>
                          </a:solidFill>
                          <a:latin typeface="+mn-lt"/>
                          <a:ea typeface="+mn-ea"/>
                          <a:cs typeface="+mn-cs"/>
                        </a:rPr>
                        <a:t>實驗六</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簡單棧溢出實驗</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6"/>
                  </a:ext>
                </a:extLst>
              </a:tr>
              <a:tr h="342265">
                <a:tc>
                  <a:txBody>
                    <a:bodyPr/>
                    <a:lstStyle/>
                    <a:p>
                      <a:pPr algn="ctr"/>
                      <a:r>
                        <a:rPr lang="zh-CN" altLang="en-US" sz="1600" b="0" kern="1200" dirty="0">
                          <a:solidFill>
                            <a:schemeClr val="tx1"/>
                          </a:solidFill>
                          <a:latin typeface="+mn-lt"/>
                          <a:ea typeface="+mn-ea"/>
                          <a:cs typeface="+mn-cs"/>
                        </a:rPr>
                        <a:t>實驗七</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600" kern="1200" dirty="0" err="1">
                          <a:effectLst/>
                        </a:rPr>
                        <a:t>基于棧溢出的模擬勒索實驗</a:t>
                      </a:r>
                      <a:endParaRPr sz="1600" kern="1200" dirty="0">
                        <a:effectLst/>
                      </a:endParaRPr>
                    </a:p>
                  </a:txBody>
                  <a:tcPr anchor="ctr"/>
                </a:tc>
                <a:tc>
                  <a:txBody>
                    <a:bodyPr/>
                    <a:lstStyle/>
                    <a:p>
                      <a:pPr algn="ctr"/>
                      <a:r>
                        <a:rPr lang="zh-CN" altLang="zh-CN" sz="1600" dirty="0"/>
                        <a:t>★★★</a:t>
                      </a:r>
                    </a:p>
                  </a:txBody>
                  <a:tcPr anchor="ctr"/>
                </a:tc>
                <a:extLst>
                  <a:ext uri="{0D108BD9-81ED-4DB2-BD59-A6C34878D82A}">
                    <a16:rowId xmlns:a16="http://schemas.microsoft.com/office/drawing/2014/main" val="10007"/>
                  </a:ext>
                </a:extLst>
              </a:tr>
              <a:tr h="341630">
                <a:tc>
                  <a:txBody>
                    <a:bodyPr/>
                    <a:lstStyle/>
                    <a:p>
                      <a:pPr algn="ctr"/>
                      <a:r>
                        <a:rPr lang="zh-CN" altLang="en-US" sz="1600" b="0" kern="1200" dirty="0">
                          <a:solidFill>
                            <a:schemeClr val="tx1"/>
                          </a:solidFill>
                          <a:latin typeface="+mn-lt"/>
                          <a:ea typeface="+mn-ea"/>
                          <a:cs typeface="+mn-cs"/>
                        </a:rPr>
                        <a:t>實驗八</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kern="1200" dirty="0">
                          <a:effectLst/>
                        </a:rPr>
                        <a:t>SYN</a:t>
                      </a:r>
                      <a:r>
                        <a:rPr lang="zh-CN" altLang="en-US" sz="1600" kern="1200" dirty="0">
                          <a:effectLst/>
                        </a:rPr>
                        <a:t>洪範攻擊</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t>★</a:t>
                      </a:r>
                    </a:p>
                  </a:txBody>
                  <a:tcPr anchor="ctr"/>
                </a:tc>
                <a:extLst>
                  <a:ext uri="{0D108BD9-81ED-4DB2-BD59-A6C34878D82A}">
                    <a16:rowId xmlns:a16="http://schemas.microsoft.com/office/drawing/2014/main" val="10008"/>
                  </a:ext>
                </a:extLst>
              </a:tr>
              <a:tr h="396240">
                <a:tc>
                  <a:txBody>
                    <a:bodyPr/>
                    <a:lstStyle/>
                    <a:p>
                      <a:pPr algn="ctr"/>
                      <a:r>
                        <a:rPr lang="zh-CN" altLang="en-US" sz="1600" b="0" kern="1200" dirty="0">
                          <a:solidFill>
                            <a:schemeClr val="tx1"/>
                          </a:solidFill>
                          <a:latin typeface="+mn-lt"/>
                          <a:ea typeface="+mn-ea"/>
                          <a:cs typeface="+mn-cs"/>
                        </a:rPr>
                        <a:t>實驗九</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600" kern="1200" dirty="0">
                          <a:effectLst/>
                        </a:rPr>
                        <a:t>基于</a:t>
                      </a:r>
                      <a:r>
                        <a:rPr lang="en-US" altLang="zh-CN" sz="1600" kern="1200" dirty="0">
                          <a:effectLst/>
                        </a:rPr>
                        <a:t>IPID</a:t>
                      </a:r>
                      <a:r>
                        <a:rPr lang="zh-CN" altLang="zh-CN" sz="1600" kern="1200" dirty="0">
                          <a:effectLst/>
                        </a:rPr>
                        <a:t>的</a:t>
                      </a:r>
                      <a:r>
                        <a:rPr lang="en-US" altLang="zh-CN" sz="1600" kern="1200" dirty="0">
                          <a:effectLst/>
                        </a:rPr>
                        <a:t>TCP</a:t>
                      </a:r>
                      <a:r>
                        <a:rPr lang="zh-CN" altLang="zh-CN" sz="1600" kern="1200" dirty="0">
                          <a:effectLst/>
                        </a:rPr>
                        <a:t>側信道漏洞</a:t>
                      </a:r>
                    </a:p>
                  </a:txBody>
                  <a:tcPr anchor="ctr"/>
                </a:tc>
                <a:tc>
                  <a:txBody>
                    <a:bodyPr/>
                    <a:lstStyle/>
                    <a:p>
                      <a:pPr algn="ctr"/>
                      <a:r>
                        <a:rPr lang="zh-CN" altLang="zh-CN" sz="1600" dirty="0"/>
                        <a:t>★★★</a:t>
                      </a:r>
                    </a:p>
                  </a:txBody>
                  <a:tcPr anchor="ctr"/>
                </a:tc>
                <a:extLst>
                  <a:ext uri="{0D108BD9-81ED-4DB2-BD59-A6C34878D82A}">
                    <a16:rowId xmlns:a16="http://schemas.microsoft.com/office/drawing/2014/main" val="10009"/>
                  </a:ext>
                </a:extLst>
              </a:tr>
              <a:tr h="395605">
                <a:tc>
                  <a:txBody>
                    <a:bodyPr/>
                    <a:lstStyle/>
                    <a:p>
                      <a:pPr algn="ctr">
                        <a:buNone/>
                      </a:pPr>
                      <a:r>
                        <a:rPr lang="zh-CN" altLang="en-US" sz="1600" b="0" kern="1200" dirty="0">
                          <a:solidFill>
                            <a:schemeClr val="tx1"/>
                          </a:solidFill>
                          <a:latin typeface="+mn-lt"/>
                          <a:ea typeface="+mn-ea"/>
                          <a:cs typeface="+mn-cs"/>
                        </a:rPr>
                        <a:t>實驗十</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kern="1200" dirty="0">
                          <a:effectLst/>
                          <a:highlight>
                            <a:srgbClr val="000000">
                              <a:alpha val="0"/>
                            </a:srgbClr>
                          </a:highlight>
                        </a:rPr>
                        <a:t>互聯網路由异常檢測</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600" dirty="0">
                          <a:sym typeface="+mn-ea"/>
                        </a:rPr>
                        <a:t>★★★</a:t>
                      </a:r>
                      <a:endParaRPr lang="zh-CN" altLang="zh-CN" sz="1600" dirty="0"/>
                    </a:p>
                  </a:txBody>
                  <a:tcPr anchor="ctr"/>
                </a:tc>
                <a:extLst>
                  <a:ext uri="{0D108BD9-81ED-4DB2-BD59-A6C34878D82A}">
                    <a16:rowId xmlns:a16="http://schemas.microsoft.com/office/drawing/2014/main" val="10010"/>
                  </a:ext>
                </a:extLst>
              </a:tr>
            </a:tbl>
          </a:graphicData>
        </a:graphic>
      </p:graphicFrame>
      <p:sp>
        <p:nvSpPr>
          <p:cNvPr id="3" name="文本框 2">
            <a:extLst>
              <a:ext uri="{FF2B5EF4-FFF2-40B4-BE49-F238E27FC236}">
                <a16:creationId xmlns:a16="http://schemas.microsoft.com/office/drawing/2014/main" id="{E134B178-CC31-498C-A6F2-5CD00804D45D}"/>
              </a:ext>
            </a:extLst>
          </p:cNvPr>
          <p:cNvSpPr txBox="1"/>
          <p:nvPr/>
        </p:nvSpPr>
        <p:spPr>
          <a:xfrm>
            <a:off x="7746274" y="1672046"/>
            <a:ext cx="3262432" cy="461665"/>
          </a:xfrm>
          <a:prstGeom prst="rect">
            <a:avLst/>
          </a:prstGeom>
          <a:noFill/>
        </p:spPr>
        <p:txBody>
          <a:bodyPr wrap="none" rtlCol="0">
            <a:spAutoFit/>
          </a:bodyPr>
          <a:lstStyle/>
          <a:p>
            <a:r>
              <a:rPr kumimoji="1" lang="zh-CN" altLang="en-US" sz="2400" b="1" dirty="0">
                <a:solidFill>
                  <a:srgbClr val="C00000"/>
                </a:solidFill>
                <a:latin typeface="Microsoft YaHei" panose="020B0503020204020204" pitchFamily="34" charset="-122"/>
                <a:ea typeface="Microsoft YaHei" panose="020B0503020204020204" pitchFamily="34" charset="-122"/>
              </a:rPr>
              <a:t>實驗教材：見網絡學堂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g2-3713&amp;3764"/>
          <p:cNvSpPr/>
          <p:nvPr>
            <p:custDataLst>
              <p:tags r:id="rId1"/>
            </p:custDataLst>
          </p:nvPr>
        </p:nvSpPr>
        <p:spPr>
          <a:xfrm>
            <a:off x="686435" y="1122045"/>
            <a:ext cx="6001385" cy="536194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1065409" y="2334904"/>
            <a:ext cx="5529759" cy="3254161"/>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p>
          <a:p>
            <a:pPr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利用散列校驗文件的完整性，幷利用散列碰撞工具産生散列碰撞現象</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在</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Windows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環境下調用散列碰撞生成工具，生成散列碼相同的兩個文件</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 name="标题 1"/>
          <p:cNvSpPr>
            <a:spLocks noGrp="1"/>
          </p:cNvSpPr>
          <p:nvPr>
            <p:ph type="title"/>
          </p:nvPr>
        </p:nvSpPr>
        <p:spPr>
          <a:xfrm>
            <a:off x="1131570" y="136525"/>
            <a:ext cx="7984490" cy="725170"/>
          </a:xfrm>
        </p:spPr>
        <p:txBody>
          <a:bodyPr vert="horz" lIns="91440" tIns="45720" rIns="91440" bIns="45720" rtlCol="0" anchor="ctr">
            <a:normAutofit fontScale="90000"/>
          </a:bodyPr>
          <a:lstStyle/>
          <a:p>
            <a:r>
              <a:rPr kumimoji="1" lang="zh-CN" altLang="en-US" dirty="0"/>
              <a:t>實驗一：</a:t>
            </a:r>
            <a:r>
              <a:rPr kumimoji="1" dirty="0"/>
              <a:t>製造MD5算法的散列值碰撞</a:t>
            </a:r>
          </a:p>
        </p:txBody>
      </p:sp>
      <p:sp>
        <p:nvSpPr>
          <p:cNvPr id="15" name="TextBox 14"/>
          <p:cNvSpPr txBox="1"/>
          <p:nvPr/>
        </p:nvSpPr>
        <p:spPr>
          <a:xfrm>
            <a:off x="9006205" y="136525"/>
            <a:ext cx="3042920" cy="725170"/>
          </a:xfrm>
          <a:prstGeom prst="rect">
            <a:avLst/>
          </a:prstGeom>
        </p:spPr>
        <p:txBody>
          <a:bodyPr vert="horz" lIns="91440" tIns="45720" rIns="91440" bIns="45720" rtlCol="0" anchor="ctr">
            <a:normAutofit/>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cxnSp>
        <p:nvCxnSpPr>
          <p:cNvPr id="16" name="直接箭头连接符 4"/>
          <p:cNvCxnSpPr/>
          <p:nvPr/>
        </p:nvCxnSpPr>
        <p:spPr>
          <a:xfrm flipH="1">
            <a:off x="10299990" y="4615178"/>
            <a:ext cx="361887" cy="567887"/>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pic>
        <p:nvPicPr>
          <p:cNvPr id="17" name="图片 7"/>
          <p:cNvPicPr>
            <a:picLocks noChangeAspect="1"/>
          </p:cNvPicPr>
          <p:nvPr/>
        </p:nvPicPr>
        <p:blipFill>
          <a:blip r:embed="rId4"/>
          <a:stretch>
            <a:fillRect/>
          </a:stretch>
        </p:blipFill>
        <p:spPr>
          <a:xfrm>
            <a:off x="10384864" y="3585817"/>
            <a:ext cx="554027" cy="658944"/>
          </a:xfrm>
          <a:prstGeom prst="rect">
            <a:avLst/>
          </a:prstGeom>
        </p:spPr>
      </p:pic>
      <p:pic>
        <p:nvPicPr>
          <p:cNvPr id="18" name="图片 13"/>
          <p:cNvPicPr>
            <a:picLocks noChangeAspect="1"/>
          </p:cNvPicPr>
          <p:nvPr/>
        </p:nvPicPr>
        <p:blipFill>
          <a:blip r:embed="rId4"/>
          <a:stretch>
            <a:fillRect/>
          </a:stretch>
        </p:blipFill>
        <p:spPr>
          <a:xfrm>
            <a:off x="8434138" y="3525735"/>
            <a:ext cx="554027" cy="658944"/>
          </a:xfrm>
          <a:prstGeom prst="rect">
            <a:avLst/>
          </a:prstGeom>
        </p:spPr>
      </p:pic>
      <p:sp>
        <p:nvSpPr>
          <p:cNvPr id="19" name="文本框 9"/>
          <p:cNvSpPr txBox="1"/>
          <p:nvPr/>
        </p:nvSpPr>
        <p:spPr>
          <a:xfrm>
            <a:off x="8112454" y="4161967"/>
            <a:ext cx="1197394" cy="369332"/>
          </a:xfrm>
          <a:prstGeom prst="rect">
            <a:avLst/>
          </a:prstGeom>
          <a:noFill/>
        </p:spPr>
        <p:txBody>
          <a:bodyPr wrap="square" rtlCol="0">
            <a:spAutoFit/>
          </a:bodyPr>
          <a:lstStyle/>
          <a:p>
            <a:pPr algn="ctr"/>
            <a:r>
              <a:rPr lang="en-US" altLang="zh-CN" b="1" dirty="0">
                <a:latin typeface="Times New Roman" panose="02020503050405090304" pitchFamily="18" charset="0"/>
                <a:cs typeface="Times New Roman" panose="02020503050405090304" pitchFamily="18" charset="0"/>
              </a:rPr>
              <a:t>File1.exe</a:t>
            </a:r>
            <a:endParaRPr lang="zh-CN" altLang="en-US" b="1" dirty="0">
              <a:latin typeface="Times New Roman" panose="02020503050405090304" pitchFamily="18" charset="0"/>
              <a:cs typeface="Times New Roman" panose="02020503050405090304" pitchFamily="18" charset="0"/>
            </a:endParaRPr>
          </a:p>
        </p:txBody>
      </p:sp>
      <p:sp>
        <p:nvSpPr>
          <p:cNvPr id="20" name="文本框 15"/>
          <p:cNvSpPr txBox="1"/>
          <p:nvPr/>
        </p:nvSpPr>
        <p:spPr>
          <a:xfrm>
            <a:off x="10063180" y="4222049"/>
            <a:ext cx="1197394" cy="369332"/>
          </a:xfrm>
          <a:prstGeom prst="rect">
            <a:avLst/>
          </a:prstGeom>
          <a:noFill/>
        </p:spPr>
        <p:txBody>
          <a:bodyPr wrap="square" rtlCol="0">
            <a:spAutoFit/>
          </a:bodyPr>
          <a:lstStyle/>
          <a:p>
            <a:pPr algn="ctr"/>
            <a:r>
              <a:rPr lang="en-US" altLang="zh-CN" b="1" dirty="0">
                <a:latin typeface="Times New Roman" panose="02020503050405090304" pitchFamily="18" charset="0"/>
                <a:cs typeface="Times New Roman" panose="02020503050405090304" pitchFamily="18" charset="0"/>
              </a:rPr>
              <a:t>File2.exe</a:t>
            </a:r>
            <a:endParaRPr lang="zh-CN" altLang="en-US" b="1" dirty="0">
              <a:latin typeface="Times New Roman" panose="02020503050405090304" pitchFamily="18" charset="0"/>
              <a:cs typeface="Times New Roman" panose="02020503050405090304" pitchFamily="18" charset="0"/>
            </a:endParaRPr>
          </a:p>
        </p:txBody>
      </p:sp>
      <p:pic>
        <p:nvPicPr>
          <p:cNvPr id="21" name="图片 16"/>
          <p:cNvPicPr>
            <a:picLocks noChangeAspect="1"/>
          </p:cNvPicPr>
          <p:nvPr/>
        </p:nvPicPr>
        <p:blipFill>
          <a:blip r:embed="rId4"/>
          <a:stretch>
            <a:fillRect/>
          </a:stretch>
        </p:blipFill>
        <p:spPr>
          <a:xfrm>
            <a:off x="7657581" y="1162810"/>
            <a:ext cx="554027" cy="658944"/>
          </a:xfrm>
          <a:prstGeom prst="rect">
            <a:avLst/>
          </a:prstGeom>
        </p:spPr>
      </p:pic>
      <p:sp>
        <p:nvSpPr>
          <p:cNvPr id="22" name="文本框 17"/>
          <p:cNvSpPr txBox="1"/>
          <p:nvPr/>
        </p:nvSpPr>
        <p:spPr>
          <a:xfrm>
            <a:off x="7335897" y="1959534"/>
            <a:ext cx="1197394" cy="369332"/>
          </a:xfrm>
          <a:prstGeom prst="rect">
            <a:avLst/>
          </a:prstGeom>
          <a:noFill/>
        </p:spPr>
        <p:txBody>
          <a:bodyPr wrap="square" rtlCol="0">
            <a:spAutoFit/>
          </a:bodyPr>
          <a:lstStyle/>
          <a:p>
            <a:pPr algn="ctr"/>
            <a:r>
              <a:rPr lang="en-US" altLang="zh-CN" b="1" dirty="0">
                <a:latin typeface="Times New Roman" panose="02020503050405090304" pitchFamily="18" charset="0"/>
                <a:cs typeface="Times New Roman" panose="02020503050405090304" pitchFamily="18" charset="0"/>
              </a:rPr>
              <a:t>File.exe</a:t>
            </a:r>
            <a:endParaRPr lang="zh-CN" altLang="en-US" b="1" dirty="0">
              <a:latin typeface="Times New Roman" panose="02020503050405090304" pitchFamily="18" charset="0"/>
              <a:cs typeface="Times New Roman" panose="02020503050405090304" pitchFamily="18" charset="0"/>
            </a:endParaRPr>
          </a:p>
        </p:txBody>
      </p:sp>
      <p:pic>
        <p:nvPicPr>
          <p:cNvPr id="24" name="图片 14"/>
          <p:cNvPicPr>
            <a:picLocks noChangeAspect="1"/>
          </p:cNvPicPr>
          <p:nvPr/>
        </p:nvPicPr>
        <p:blipFill>
          <a:blip r:embed="rId5"/>
          <a:stretch>
            <a:fillRect/>
          </a:stretch>
        </p:blipFill>
        <p:spPr>
          <a:xfrm>
            <a:off x="9254330" y="1924723"/>
            <a:ext cx="777526" cy="777526"/>
          </a:xfrm>
          <a:prstGeom prst="rect">
            <a:avLst/>
          </a:prstGeom>
        </p:spPr>
      </p:pic>
      <p:sp>
        <p:nvSpPr>
          <p:cNvPr id="25" name="矩形 18"/>
          <p:cNvSpPr/>
          <p:nvPr/>
        </p:nvSpPr>
        <p:spPr>
          <a:xfrm>
            <a:off x="10090252" y="2155217"/>
            <a:ext cx="1806905" cy="369332"/>
          </a:xfrm>
          <a:prstGeom prst="rect">
            <a:avLst/>
          </a:prstGeom>
        </p:spPr>
        <p:txBody>
          <a:bodyPr wrap="none">
            <a:spAutoFit/>
          </a:bodyPr>
          <a:lstStyle/>
          <a:p>
            <a:pPr algn="ctr"/>
            <a:r>
              <a:rPr lang="en-US" altLang="zh-CN" b="1" dirty="0">
                <a:latin typeface="Times New Roman" panose="02020503050405090304" pitchFamily="18" charset="0"/>
                <a:cs typeface="Times New Roman" panose="02020503050405090304" pitchFamily="18" charset="0"/>
              </a:rPr>
              <a:t>fastcool_v1.0.0.5</a:t>
            </a:r>
            <a:endParaRPr lang="zh-CN" altLang="en-US" b="1" dirty="0">
              <a:latin typeface="Times New Roman" panose="02020503050405090304" pitchFamily="18" charset="0"/>
              <a:cs typeface="Times New Roman" panose="02020503050405090304" pitchFamily="18" charset="0"/>
            </a:endParaRPr>
          </a:p>
        </p:txBody>
      </p:sp>
      <p:cxnSp>
        <p:nvCxnSpPr>
          <p:cNvPr id="26" name="直接箭头连接符 20"/>
          <p:cNvCxnSpPr/>
          <p:nvPr/>
        </p:nvCxnSpPr>
        <p:spPr>
          <a:xfrm>
            <a:off x="10063180" y="2764095"/>
            <a:ext cx="598697" cy="5802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7"/>
          <p:cNvCxnSpPr/>
          <p:nvPr/>
        </p:nvCxnSpPr>
        <p:spPr>
          <a:xfrm flipH="1">
            <a:off x="8618433" y="2754219"/>
            <a:ext cx="635897" cy="6000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38"/>
          <p:cNvCxnSpPr>
            <a:stCxn id="19" idx="2"/>
          </p:cNvCxnSpPr>
          <p:nvPr/>
        </p:nvCxnSpPr>
        <p:spPr>
          <a:xfrm>
            <a:off x="8711151" y="4531299"/>
            <a:ext cx="404886" cy="508014"/>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grpSp>
        <p:nvGrpSpPr>
          <p:cNvPr id="29" name="组合 40"/>
          <p:cNvGrpSpPr/>
          <p:nvPr/>
        </p:nvGrpSpPr>
        <p:grpSpPr>
          <a:xfrm>
            <a:off x="8530035" y="5099395"/>
            <a:ext cx="2287398" cy="1363875"/>
            <a:chOff x="7728473" y="4577370"/>
            <a:chExt cx="2287398" cy="1363875"/>
          </a:xfrm>
        </p:grpSpPr>
        <p:sp>
          <p:nvSpPr>
            <p:cNvPr id="30" name="爆炸形: 14 pt  8"/>
            <p:cNvSpPr/>
            <p:nvPr/>
          </p:nvSpPr>
          <p:spPr>
            <a:xfrm>
              <a:off x="7728473" y="4577370"/>
              <a:ext cx="2287398" cy="1363875"/>
            </a:xfrm>
            <a:prstGeom prst="irregularSeal2">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31" name="矩形 37"/>
            <p:cNvSpPr/>
            <p:nvPr/>
          </p:nvSpPr>
          <p:spPr>
            <a:xfrm>
              <a:off x="8199000" y="4971007"/>
              <a:ext cx="1198092" cy="646331"/>
            </a:xfrm>
            <a:prstGeom prst="rect">
              <a:avLst/>
            </a:prstGeom>
          </p:spPr>
          <p:txBody>
            <a:bodyPr wrap="square">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發生散列值碰撞</a:t>
              </a:r>
            </a:p>
          </p:txBody>
        </p:sp>
      </p:grpSp>
      <p:cxnSp>
        <p:nvCxnSpPr>
          <p:cNvPr id="41" name="直接箭头连接符 27"/>
          <p:cNvCxnSpPr/>
          <p:nvPr/>
        </p:nvCxnSpPr>
        <p:spPr>
          <a:xfrm>
            <a:off x="8434138" y="1594672"/>
            <a:ext cx="681899" cy="5162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ppt_x"/>
                                          </p:val>
                                        </p:tav>
                                        <p:tav tm="100000">
                                          <p:val>
                                            <p:strVal val="#ppt_x"/>
                                          </p:val>
                                        </p:tav>
                                      </p:tavLst>
                                    </p:anim>
                                    <p:anim calcmode="lin" valueType="num">
                                      <p:cBhvr additive="base">
                                        <p:cTn id="34" dur="500" fill="hold"/>
                                        <p:tgtEl>
                                          <p:spTgt spid="2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additive="base">
                                        <p:cTn id="41" dur="500" fill="hold"/>
                                        <p:tgtEl>
                                          <p:spTgt spid="27"/>
                                        </p:tgtEl>
                                        <p:attrNameLst>
                                          <p:attrName>ppt_x</p:attrName>
                                        </p:attrNameLst>
                                      </p:cBhvr>
                                      <p:tavLst>
                                        <p:tav tm="0">
                                          <p:val>
                                            <p:strVal val="#ppt_x"/>
                                          </p:val>
                                        </p:tav>
                                        <p:tav tm="100000">
                                          <p:val>
                                            <p:strVal val="#ppt_x"/>
                                          </p:val>
                                        </p:tav>
                                      </p:tavLst>
                                    </p:anim>
                                    <p:anim calcmode="lin" valueType="num">
                                      <p:cBhvr additive="base">
                                        <p:cTn id="4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p:bldP spid="20" grpId="1"/>
      <p:bldP spid="22" grpId="0"/>
      <p:bldP spid="2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g2-3713&amp;3764"/>
          <p:cNvSpPr/>
          <p:nvPr>
            <p:custDataLst>
              <p:tags r:id="rId1"/>
            </p:custDataLst>
          </p:nvPr>
        </p:nvSpPr>
        <p:spPr>
          <a:xfrm>
            <a:off x="402590" y="991235"/>
            <a:ext cx="6489065" cy="536194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52475" y="1478915"/>
            <a:ext cx="5775325" cy="4492625"/>
          </a:xfrm>
          <a:prstGeom prst="rect">
            <a:avLst/>
          </a:prstGeom>
        </p:spPr>
        <p:txBody>
          <a:bodyPr wrap="square">
            <a:spAutoFit/>
          </a:bodyPr>
          <a:lstStyle/>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口令是最原始的登錄方式，雖然手機驗證碼登錄盛行，但口令驗證協議仍被京東、淘寶等主流電商平臺采用</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通過完整實現該身份認證協議，體驗實現密碼學庫的樂趣，加深對身份驗證安全協議的理解</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3"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t>實驗二：基于口令的安全身份驗證協議</a:t>
            </a:r>
          </a:p>
        </p:txBody>
      </p:sp>
      <p:sp>
        <p:nvSpPr>
          <p:cNvPr id="15" name="TextBox 14"/>
          <p:cNvSpPr txBox="1"/>
          <p:nvPr/>
        </p:nvSpPr>
        <p:spPr>
          <a:xfrm>
            <a:off x="9121775" y="136525"/>
            <a:ext cx="292735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grpSp>
        <p:nvGrpSpPr>
          <p:cNvPr id="9" name="组合 23"/>
          <p:cNvGrpSpPr/>
          <p:nvPr/>
        </p:nvGrpSpPr>
        <p:grpSpPr>
          <a:xfrm>
            <a:off x="705587" y="3309947"/>
            <a:ext cx="5822617" cy="1129998"/>
            <a:chOff x="1842470" y="2495052"/>
            <a:chExt cx="8613320" cy="1129998"/>
          </a:xfrm>
        </p:grpSpPr>
        <p:sp>
          <p:nvSpPr>
            <p:cNvPr id="10" name="矩形 24"/>
            <p:cNvSpPr/>
            <p:nvPr/>
          </p:nvSpPr>
          <p:spPr bwMode="auto">
            <a:xfrm flipV="1">
              <a:off x="1944773" y="2495052"/>
              <a:ext cx="8390176" cy="53169"/>
            </a:xfrm>
            <a:prstGeom prst="rect">
              <a:avLst/>
            </a:prstGeom>
            <a:solidFill>
              <a:srgbClr val="4A8AF5"/>
            </a:solidFill>
            <a:ln w="38100">
              <a:noFill/>
            </a:ln>
            <a:effectLst>
              <a:outerShdw blurRad="381000" dist="190500" dir="5400000" sx="90000" sy="90000" algn="t"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180000" bIns="0" anchor="ctr"/>
            <a:lstStyle/>
            <a:p>
              <a:pPr algn="ctr">
                <a:defRPr/>
              </a:pPr>
              <a:endParaRPr kumimoji="0" lang="en-US" sz="2000" kern="0" dirty="0">
                <a:solidFill>
                  <a:srgbClr val="FFFFFF"/>
                </a:solidFill>
                <a:sym typeface="Arial" panose="020B0604020202090204" pitchFamily="34" charset="0"/>
              </a:endParaRPr>
            </a:p>
          </p:txBody>
        </p:sp>
        <p:cxnSp>
          <p:nvCxnSpPr>
            <p:cNvPr id="11" name="直线连接符 11"/>
            <p:cNvCxnSpPr/>
            <p:nvPr/>
          </p:nvCxnSpPr>
          <p:spPr>
            <a:xfrm>
              <a:off x="1944773" y="3625050"/>
              <a:ext cx="839017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文本框 14"/>
            <p:cNvSpPr txBox="1"/>
            <p:nvPr/>
          </p:nvSpPr>
          <p:spPr>
            <a:xfrm>
              <a:off x="1842470" y="2597625"/>
              <a:ext cx="8613320" cy="853567"/>
            </a:xfrm>
            <a:prstGeom prst="rect">
              <a:avLst/>
            </a:prstGeom>
            <a:noFill/>
          </p:spPr>
          <p:txBody>
            <a:bodyPr wrap="square" rtlCol="0">
              <a:spAutoFit/>
            </a:bodyPr>
            <a:lstStyle/>
            <a:p>
              <a:pPr lvl="0" algn="ctr" latinLnBrk="1">
                <a:lnSpc>
                  <a:spcPct val="130000"/>
                </a:lnSpc>
              </a:pPr>
              <a:r>
                <a:rPr lang="en-US" altLang="zh-CN" sz="2000" dirty="0" err="1">
                  <a:latin typeface="微软雅黑" panose="020B0503020204020204" pitchFamily="34" charset="-122"/>
                  <a:ea typeface="微软雅黑" panose="020B0503020204020204" pitchFamily="34" charset="-122"/>
                  <a:cs typeface="Times New Roman" panose="02020503050405090304" pitchFamily="18" charset="0"/>
                </a:rPr>
                <a:t>Bellovin</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-Merritt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協議誕生于貝爾實驗室，被發表于</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92</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年的</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IEEE S&amp;P</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，是早期口令安全協議的代表</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grpSp>
      <p:pic>
        <p:nvPicPr>
          <p:cNvPr id="6" name="Picture 5"/>
          <p:cNvPicPr>
            <a:picLocks noChangeAspect="1"/>
          </p:cNvPicPr>
          <p:nvPr/>
        </p:nvPicPr>
        <p:blipFill>
          <a:blip r:embed="rId4"/>
          <a:stretch>
            <a:fillRect/>
          </a:stretch>
        </p:blipFill>
        <p:spPr>
          <a:xfrm>
            <a:off x="7238365" y="1189355"/>
            <a:ext cx="3764280" cy="4865370"/>
          </a:xfrm>
          <a:prstGeom prst="rect">
            <a:avLst/>
          </a:prstGeom>
          <a:ln>
            <a:solidFill>
              <a:schemeClr val="tx1"/>
            </a:solidFill>
          </a:ln>
          <a:effectLst>
            <a:outerShdw blurRad="76200" dir="18900000" sy="23000" kx="-1200000" algn="bl" rotWithShape="0">
              <a:prstClr val="black">
                <a:alpha val="2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02590" y="984885"/>
            <a:ext cx="6154420"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812800" y="1469769"/>
            <a:ext cx="5486924" cy="4814588"/>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根據交互圖完全實現該協議：</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通過</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TCP</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套接字進行傳輸， 用</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個進程模擬交互流程，建立安全信道，幷加密傳輸信息</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不限定編程語言，具體對稱</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非對稱加密方案自選，可以使用</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AES/RSA</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等基礎密碼學庫中的實現</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實驗資料：</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en-US" altLang="zh-CN" sz="2000" dirty="0" err="1">
                <a:latin typeface="微软雅黑" panose="020B0503020204020204" pitchFamily="34" charset="-122"/>
                <a:ea typeface="微软雅黑" panose="020B0503020204020204" pitchFamily="34" charset="-122"/>
                <a:cs typeface="Times New Roman" panose="02020503050405090304" pitchFamily="18" charset="0"/>
              </a:rPr>
              <a:t>Bellovin</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-Merritt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協議原始文章：</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https://ieeexplore.ieee.org/document/213269</a:t>
            </a:r>
          </a:p>
          <a:p>
            <a:pPr algn="just" latinLnBrk="1">
              <a:lnSpc>
                <a:spcPct val="130000"/>
              </a:lnSpc>
            </a:pPr>
            <a:endParaRPr lang="zh-CN" altLang="en-US"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3"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t>實驗二：基于口令的安全身份驗證協議</a:t>
            </a:r>
          </a:p>
        </p:txBody>
      </p:sp>
      <p:sp>
        <p:nvSpPr>
          <p:cNvPr id="15" name="TextBox 14"/>
          <p:cNvSpPr txBox="1"/>
          <p:nvPr/>
        </p:nvSpPr>
        <p:spPr>
          <a:xfrm>
            <a:off x="9112250" y="136525"/>
            <a:ext cx="2936875"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7" name="TextBox 6"/>
          <p:cNvSpPr txBox="1"/>
          <p:nvPr/>
        </p:nvSpPr>
        <p:spPr>
          <a:xfrm>
            <a:off x="6879558" y="1647778"/>
            <a:ext cx="5069840" cy="417358"/>
          </a:xfrm>
          <a:prstGeom prst="rect">
            <a:avLst/>
          </a:prstGeom>
          <a:noFill/>
        </p:spPr>
        <p:txBody>
          <a:bodyPr wrap="square">
            <a:spAutoFit/>
          </a:bodyPr>
          <a:lstStyle/>
          <a:p>
            <a:pPr lvl="0" algn="ctr" latinLnBrk="1">
              <a:lnSpc>
                <a:spcPct val="130000"/>
              </a:lnSpc>
            </a:pPr>
            <a:r>
              <a:rPr lang="en-US" altLang="zh-CN" sz="1800" dirty="0" err="1">
                <a:latin typeface="微软雅黑" panose="020B0503020204020204" pitchFamily="34" charset="-122"/>
                <a:ea typeface="微软雅黑" panose="020B0503020204020204" pitchFamily="34" charset="-122"/>
                <a:cs typeface="Times New Roman" panose="02020503050405090304" pitchFamily="18" charset="0"/>
              </a:rPr>
              <a:t>Bellovin</a:t>
            </a: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-Merritt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協議的交互流程圖</a:t>
            </a:r>
            <a:endParaRPr lang="en-US" altLang="zh-CN" sz="1800" b="1" dirty="0">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6" name="Picture 5"/>
          <p:cNvPicPr>
            <a:picLocks noChangeAspect="1"/>
          </p:cNvPicPr>
          <p:nvPr/>
        </p:nvPicPr>
        <p:blipFill>
          <a:blip r:embed="rId4"/>
          <a:stretch>
            <a:fillRect/>
          </a:stretch>
        </p:blipFill>
        <p:spPr>
          <a:xfrm>
            <a:off x="6666865" y="2491740"/>
            <a:ext cx="5370830" cy="299656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527050" y="862330"/>
            <a:ext cx="5923280"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68985" y="1438910"/>
            <a:ext cx="5501186" cy="4454489"/>
          </a:xfrm>
          <a:prstGeom prst="rect">
            <a:avLst/>
          </a:prstGeom>
        </p:spPr>
        <p:txBody>
          <a:bodyPr wrap="square">
            <a:spAutoFit/>
          </a:bodyPr>
          <a:lstStyle/>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掌握</a:t>
            </a: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PKI</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的原理和證書使用，加深對網絡安全問題的認識，瞭解如何</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增加通信安全性</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zh-CN" sz="2000" dirty="0">
                <a:latin typeface="微软雅黑" panose="020B0503020204020204" pitchFamily="34" charset="-122"/>
                <a:ea typeface="微软雅黑" panose="020B0503020204020204" pitchFamily="34" charset="-122"/>
                <a:cs typeface="Times New Roman" panose="02020503050405090304" pitchFamily="18" charset="0"/>
              </a:rPr>
              <a:t>通過</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OpenSSH</a:t>
            </a:r>
            <a:r>
              <a:rPr lang="zh-CN" altLang="zh-CN" sz="2000" dirty="0">
                <a:latin typeface="微软雅黑" panose="020B0503020204020204" pitchFamily="34" charset="-122"/>
                <a:ea typeface="微软雅黑" panose="020B0503020204020204" pitchFamily="34" charset="-122"/>
                <a:cs typeface="Times New Roman" panose="02020503050405090304" pitchFamily="18" charset="0"/>
              </a:rPr>
              <a:t>工具生成公私鑰對</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，幷能將公鑰傳到自己的遠程服務器，使用密鑰對通過</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ssh</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的方式安全訪問遠程服務器</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編寫一個屬自己的簡單網站，幷通過</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nginx</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或者</a:t>
            </a:r>
            <a:r>
              <a:rPr lang="en-US" altLang="zh-CN" sz="2000" dirty="0" err="1">
                <a:latin typeface="微软雅黑" panose="020B0503020204020204" pitchFamily="34" charset="-122"/>
                <a:ea typeface="微软雅黑" panose="020B0503020204020204" pitchFamily="34" charset="-122"/>
                <a:cs typeface="Times New Roman" panose="02020503050405090304" pitchFamily="18" charset="0"/>
              </a:rPr>
              <a:t>apache</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添加</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https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協議，如果有域名可以通過阿裏雲申請對應的證書</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10" name="图片 9"/>
          <p:cNvPicPr/>
          <p:nvPr/>
        </p:nvPicPr>
        <p:blipFill rotWithShape="1">
          <a:blip r:embed="rId4"/>
          <a:srcRect l="7223" t="5286" r="2299" b="9536"/>
          <a:stretch>
            <a:fillRect/>
          </a:stretch>
        </p:blipFill>
        <p:spPr bwMode="auto">
          <a:xfrm>
            <a:off x="6722745" y="2755900"/>
            <a:ext cx="4869815" cy="2461260"/>
          </a:xfrm>
          <a:prstGeom prst="rect">
            <a:avLst/>
          </a:prstGeom>
          <a:ln>
            <a:noFill/>
          </a:ln>
        </p:spPr>
      </p:pic>
      <p:sp>
        <p:nvSpPr>
          <p:cNvPr id="11"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實驗三：</a:t>
            </a:r>
            <a:r>
              <a:rPr kumimoji="1" lang="zh-CN" altLang="en-US" dirty="0">
                <a:solidFill>
                  <a:schemeClr val="tx1">
                    <a:lumMod val="85000"/>
                    <a:lumOff val="15000"/>
                  </a:schemeClr>
                </a:solidFill>
              </a:rPr>
              <a:t>數字證書綜合使用</a:t>
            </a:r>
          </a:p>
        </p:txBody>
      </p:sp>
      <p:sp>
        <p:nvSpPr>
          <p:cNvPr id="12" name="TextBox 11"/>
          <p:cNvSpPr txBox="1"/>
          <p:nvPr/>
        </p:nvSpPr>
        <p:spPr>
          <a:xfrm>
            <a:off x="8975725" y="136525"/>
            <a:ext cx="3073400" cy="725170"/>
          </a:xfrm>
          <a:prstGeom prst="rect">
            <a:avLst/>
          </a:prstGeom>
        </p:spPr>
        <p:txBody>
          <a:bodyPr vert="horz" lIns="91440" tIns="45720" rIns="91440" bIns="45720" rtlCol="0" anchor="ctr">
            <a:normAutofit/>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3" name="矩形 3"/>
          <p:cNvSpPr/>
          <p:nvPr/>
        </p:nvSpPr>
        <p:spPr>
          <a:xfrm>
            <a:off x="6699677" y="1347339"/>
            <a:ext cx="4887491" cy="5299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0"/>
          <p:cNvPicPr/>
          <p:nvPr/>
        </p:nvPicPr>
        <p:blipFill>
          <a:blip r:embed="rId5"/>
          <a:stretch>
            <a:fillRect/>
          </a:stretch>
        </p:blipFill>
        <p:spPr>
          <a:xfrm>
            <a:off x="7276257" y="5563518"/>
            <a:ext cx="3734366" cy="780453"/>
          </a:xfrm>
          <a:prstGeom prst="rect">
            <a:avLst/>
          </a:prstGeom>
        </p:spPr>
      </p:pic>
      <p:pic>
        <p:nvPicPr>
          <p:cNvPr id="4" name="图片 3"/>
          <p:cNvPicPr/>
          <p:nvPr/>
        </p:nvPicPr>
        <p:blipFill>
          <a:blip r:embed="rId6">
            <a:extLst>
              <a:ext uri="{28A0092B-C50C-407E-A947-70E740481C1C}">
                <a14:useLocalDpi xmlns:a14="http://schemas.microsoft.com/office/drawing/2010/main" val="0"/>
              </a:ext>
            </a:extLst>
          </a:blip>
          <a:srcRect t="3640"/>
          <a:stretch>
            <a:fillRect/>
          </a:stretch>
        </p:blipFill>
        <p:spPr>
          <a:xfrm>
            <a:off x="6700601" y="1030976"/>
            <a:ext cx="4887491" cy="1332973"/>
          </a:xfrm>
          <a:prstGeom prst="rect">
            <a:avLst/>
          </a:prstGeom>
          <a:ln>
            <a:noFill/>
          </a:ln>
        </p:spPr>
      </p:pic>
      <p:sp>
        <p:nvSpPr>
          <p:cNvPr id="5" name="矩形 3"/>
          <p:cNvSpPr/>
          <p:nvPr/>
        </p:nvSpPr>
        <p:spPr>
          <a:xfrm>
            <a:off x="6722537" y="996819"/>
            <a:ext cx="4887491" cy="5299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699885" y="2362835"/>
            <a:ext cx="4930775" cy="398780"/>
          </a:xfrm>
          <a:prstGeom prst="rect">
            <a:avLst/>
          </a:prstGeom>
          <a:noFill/>
        </p:spPr>
        <p:txBody>
          <a:bodyPr wrap="square" rtlCol="0" anchor="t">
            <a:spAutoFit/>
          </a:bodyPr>
          <a:lstStyle/>
          <a:p>
            <a:pPr algn="ctr"/>
            <a:r>
              <a:rPr 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生成的公私鑰對</a:t>
            </a:r>
          </a:p>
        </p:txBody>
      </p:sp>
      <p:sp>
        <p:nvSpPr>
          <p:cNvPr id="7" name="文本框 6"/>
          <p:cNvSpPr txBox="1"/>
          <p:nvPr/>
        </p:nvSpPr>
        <p:spPr>
          <a:xfrm>
            <a:off x="6722745" y="5172075"/>
            <a:ext cx="4869815" cy="398780"/>
          </a:xfrm>
          <a:prstGeom prst="rect">
            <a:avLst/>
          </a:prstGeom>
          <a:noFill/>
        </p:spPr>
        <p:txBody>
          <a:bodyPr wrap="square" rtlCol="0" anchor="t">
            <a:spAutoFit/>
          </a:bodyPr>
          <a:lstStyle/>
          <a:p>
            <a:pPr algn="ctr"/>
            <a:r>
              <a:rPr 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爲服務器配置公私鑰訪問</a:t>
            </a:r>
          </a:p>
        </p:txBody>
      </p:sp>
      <p:sp>
        <p:nvSpPr>
          <p:cNvPr id="8" name="文本框 7"/>
          <p:cNvSpPr txBox="1"/>
          <p:nvPr/>
        </p:nvSpPr>
        <p:spPr>
          <a:xfrm>
            <a:off x="6760845" y="6313805"/>
            <a:ext cx="4869815" cy="398780"/>
          </a:xfrm>
          <a:prstGeom prst="rect">
            <a:avLst/>
          </a:prstGeom>
          <a:noFill/>
        </p:spPr>
        <p:txBody>
          <a:bodyPr wrap="square" rtlCol="0" anchor="t">
            <a:spAutoFit/>
          </a:bodyPr>
          <a:lstStyle/>
          <a:p>
            <a:pPr algn="ctr"/>
            <a:r>
              <a:rPr 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爲網站配置</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https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sym typeface="+mn-ea"/>
              </a:rPr>
              <a:t>證書</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g2-3713&amp;3764"/>
          <p:cNvSpPr/>
          <p:nvPr>
            <p:custDataLst>
              <p:tags r:id="rId1"/>
            </p:custDataLst>
          </p:nvPr>
        </p:nvSpPr>
        <p:spPr>
          <a:xfrm>
            <a:off x="402590" y="934085"/>
            <a:ext cx="6110605" cy="561467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02491" y="1890684"/>
            <a:ext cx="5486924" cy="3654270"/>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sz="2000" dirty="0">
                <a:latin typeface="微软雅黑" panose="020B0503020204020204" pitchFamily="34" charset="-122"/>
                <a:ea typeface="微软雅黑" panose="020B0503020204020204" pitchFamily="34" charset="-122"/>
              </a:rPr>
              <a:t>在電子投票系統中，由于統計票數是使用加法累加票數進行統計的，因此具有加法同態性質的 </a:t>
            </a:r>
            <a:r>
              <a:rPr lang="en-US" altLang="zh-CN" sz="2000" dirty="0" err="1">
                <a:latin typeface="微软雅黑" panose="020B0503020204020204" pitchFamily="34" charset="-122"/>
                <a:ea typeface="微软雅黑" panose="020B0503020204020204" pitchFamily="34" charset="-122"/>
              </a:rPr>
              <a:t>Paillier</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算法可被應用于實現匿名的電子投票系統，以保護投票人的投票信息</a:t>
            </a:r>
            <a:endParaRPr lang="en-US" altLang="zh-CN" sz="2000" dirty="0">
              <a:latin typeface="微软雅黑" panose="020B0503020204020204" pitchFamily="34" charset="-122"/>
              <a:ea typeface="微软雅黑" panose="020B0503020204020204" pitchFamily="34" charset="-122"/>
            </a:endParaRPr>
          </a:p>
          <a:p>
            <a:pPr algn="just" latinLnBrk="1">
              <a:lnSpc>
                <a:spcPct val="130000"/>
              </a:lnSpc>
            </a:pP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sz="2000" dirty="0">
                <a:solidFill>
                  <a:schemeClr val="dk1"/>
                </a:solidFill>
                <a:latin typeface="微软雅黑" panose="020B0503020204020204" pitchFamily="34" charset="-122"/>
                <a:ea typeface="微软雅黑" panose="020B0503020204020204" pitchFamily="34" charset="-122"/>
              </a:rPr>
              <a:t>基于</a:t>
            </a:r>
            <a:r>
              <a:rPr lang="en-US" altLang="zh-CN" sz="2000" dirty="0" err="1">
                <a:solidFill>
                  <a:schemeClr val="dk1"/>
                </a:solidFill>
                <a:latin typeface="微软雅黑" panose="020B0503020204020204" pitchFamily="34" charset="-122"/>
                <a:ea typeface="微软雅黑" panose="020B0503020204020204" pitchFamily="34" charset="-122"/>
              </a:rPr>
              <a:t>Paillier</a:t>
            </a:r>
            <a:r>
              <a:rPr lang="zh-CN" altLang="en-US" sz="2000" dirty="0">
                <a:solidFill>
                  <a:schemeClr val="dk1"/>
                </a:solidFill>
                <a:latin typeface="微软雅黑" panose="020B0503020204020204" pitchFamily="34" charset="-122"/>
                <a:ea typeface="微软雅黑" panose="020B0503020204020204" pitchFamily="34" charset="-122"/>
              </a:rPr>
              <a:t>算法的匿名電子投票系統可實現匿名的投票本地模擬程序</a:t>
            </a:r>
            <a:endParaRPr lang="en-US" altLang="zh-CN" sz="2000" dirty="0">
              <a:solidFill>
                <a:schemeClr val="dk1"/>
              </a:solidFill>
              <a:latin typeface="微软雅黑" panose="020B0503020204020204" pitchFamily="34" charset="-122"/>
              <a:ea typeface="微软雅黑" panose="020B0503020204020204" pitchFamily="34" charset="-122"/>
            </a:endParaRPr>
          </a:p>
        </p:txBody>
      </p:sp>
      <p:sp>
        <p:nvSpPr>
          <p:cNvPr id="13"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實驗四：</a:t>
            </a:r>
            <a:r>
              <a:rPr kumimoji="1" lang="zh-CN" altLang="en-US" dirty="0"/>
              <a:t>同態加密匿名投票</a:t>
            </a:r>
          </a:p>
        </p:txBody>
      </p:sp>
      <p:sp>
        <p:nvSpPr>
          <p:cNvPr id="15" name="TextBox 14"/>
          <p:cNvSpPr txBox="1"/>
          <p:nvPr/>
        </p:nvSpPr>
        <p:spPr>
          <a:xfrm>
            <a:off x="9130665" y="136525"/>
            <a:ext cx="291846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pic>
        <p:nvPicPr>
          <p:cNvPr id="8" name="图片 6"/>
          <p:cNvPicPr>
            <a:picLocks noChangeAspect="1"/>
          </p:cNvPicPr>
          <p:nvPr/>
        </p:nvPicPr>
        <p:blipFill rotWithShape="1">
          <a:blip r:embed="rId4"/>
          <a:srcRect r="59099"/>
          <a:stretch>
            <a:fillRect/>
          </a:stretch>
        </p:blipFill>
        <p:spPr>
          <a:xfrm>
            <a:off x="6717093" y="3576697"/>
            <a:ext cx="4986667" cy="1617370"/>
          </a:xfrm>
          <a:prstGeom prst="rect">
            <a:avLst/>
          </a:prstGeom>
          <a:effectLst>
            <a:outerShdw blurRad="63500" sx="102000" sy="102000" algn="ctr" rotWithShape="0">
              <a:prstClr val="black">
                <a:alpha val="40000"/>
              </a:prstClr>
            </a:outerShdw>
          </a:effectLst>
        </p:spPr>
      </p:pic>
      <p:pic>
        <p:nvPicPr>
          <p:cNvPr id="9" name="图片 22"/>
          <p:cNvPicPr>
            <a:picLocks noChangeAspect="1"/>
          </p:cNvPicPr>
          <p:nvPr/>
        </p:nvPicPr>
        <p:blipFill>
          <a:blip r:embed="rId5"/>
          <a:stretch>
            <a:fillRect/>
          </a:stretch>
        </p:blipFill>
        <p:spPr>
          <a:xfrm>
            <a:off x="6703060" y="2161540"/>
            <a:ext cx="4998085" cy="1315720"/>
          </a:xfrm>
          <a:prstGeom prst="rect">
            <a:avLst/>
          </a:prstGeom>
        </p:spPr>
      </p:pic>
      <p:pic>
        <p:nvPicPr>
          <p:cNvPr id="20" name="图片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17030" y="5361940"/>
            <a:ext cx="4984115" cy="1332865"/>
          </a:xfrm>
          <a:prstGeom prst="rect">
            <a:avLst/>
          </a:prstGeom>
          <a:effectLst>
            <a:outerShdw blurRad="63500" sx="102000" sy="102000" algn="ctr" rotWithShape="0">
              <a:schemeClr val="accent1">
                <a:alpha val="40000"/>
              </a:schemeClr>
            </a:outerShdw>
          </a:effectLst>
        </p:spPr>
      </p:pic>
      <p:grpSp>
        <p:nvGrpSpPr>
          <p:cNvPr id="10" name="组合 23"/>
          <p:cNvGrpSpPr/>
          <p:nvPr/>
        </p:nvGrpSpPr>
        <p:grpSpPr>
          <a:xfrm>
            <a:off x="6755973" y="977154"/>
            <a:ext cx="4906413" cy="1027425"/>
            <a:chOff x="1842470" y="2495052"/>
            <a:chExt cx="8613320" cy="1129998"/>
          </a:xfrm>
        </p:grpSpPr>
        <p:sp>
          <p:nvSpPr>
            <p:cNvPr id="11" name="矩形 24"/>
            <p:cNvSpPr/>
            <p:nvPr/>
          </p:nvSpPr>
          <p:spPr bwMode="auto">
            <a:xfrm flipV="1">
              <a:off x="1944773" y="2495052"/>
              <a:ext cx="8390176" cy="53169"/>
            </a:xfrm>
            <a:prstGeom prst="rect">
              <a:avLst/>
            </a:prstGeom>
            <a:solidFill>
              <a:srgbClr val="4A8AF5"/>
            </a:solidFill>
            <a:ln w="38100">
              <a:noFill/>
            </a:ln>
            <a:effectLst>
              <a:outerShdw blurRad="381000" dist="190500" dir="5400000" sx="90000" sy="90000" algn="t"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180000" bIns="0" anchor="ctr"/>
            <a:lstStyle/>
            <a:p>
              <a:pPr algn="ctr">
                <a:defRPr/>
              </a:pPr>
              <a:endParaRPr kumimoji="0" lang="en-US" sz="2000" kern="0" dirty="0">
                <a:solidFill>
                  <a:srgbClr val="FFFFFF"/>
                </a:solidFill>
                <a:sym typeface="Arial" panose="020B0604020202090204" pitchFamily="34" charset="0"/>
              </a:endParaRPr>
            </a:p>
          </p:txBody>
        </p:sp>
        <p:cxnSp>
          <p:nvCxnSpPr>
            <p:cNvPr id="12" name="直线连接符 11"/>
            <p:cNvCxnSpPr/>
            <p:nvPr/>
          </p:nvCxnSpPr>
          <p:spPr>
            <a:xfrm>
              <a:off x="1944773" y="3625050"/>
              <a:ext cx="839017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文本框 14"/>
            <p:cNvSpPr txBox="1"/>
            <p:nvPr/>
          </p:nvSpPr>
          <p:spPr>
            <a:xfrm>
              <a:off x="1842470" y="2597625"/>
              <a:ext cx="8613320" cy="961703"/>
            </a:xfrm>
            <a:prstGeom prst="rect">
              <a:avLst/>
            </a:prstGeom>
            <a:noFill/>
          </p:spPr>
          <p:txBody>
            <a:bodyPr wrap="square" rtlCol="0">
              <a:spAutoFit/>
            </a:bodyPr>
            <a:lstStyle/>
            <a:p>
              <a:pPr marL="342900" indent="-342900">
                <a:lnSpc>
                  <a:spcPct val="150000"/>
                </a:lnSpc>
                <a:buFont typeface="Arial" panose="020B0604020202090204" pitchFamily="34" charset="0"/>
                <a:buChar char="•"/>
                <a:defRPr/>
              </a:pPr>
              <a:r>
                <a:rPr lang="en-US" altLang="zh-CN" dirty="0" err="1">
                  <a:solidFill>
                    <a:schemeClr val="dk1"/>
                  </a:solidFill>
                  <a:latin typeface="微软雅黑" panose="020B0503020204020204" pitchFamily="34" charset="-122"/>
                  <a:ea typeface="微软雅黑" panose="020B0503020204020204" pitchFamily="34" charset="-122"/>
                </a:rPr>
                <a:t>Paillier</a:t>
              </a:r>
              <a:r>
                <a:rPr lang="zh-CN" altLang="en-US" dirty="0">
                  <a:solidFill>
                    <a:schemeClr val="dk1"/>
                  </a:solidFill>
                  <a:latin typeface="微软雅黑" panose="020B0503020204020204" pitchFamily="34" charset="-122"/>
                  <a:ea typeface="微软雅黑" panose="020B0503020204020204" pitchFamily="34" charset="-122"/>
                </a:rPr>
                <a:t>算法具有加法同態性</a:t>
              </a:r>
              <a:endParaRPr lang="en-US" altLang="zh-CN" dirty="0">
                <a:solidFill>
                  <a:schemeClr val="dk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90204" pitchFamily="34" charset="0"/>
                <a:buChar char="•"/>
                <a:defRPr/>
              </a:pPr>
              <a:r>
                <a:rPr lang="zh-CN" altLang="en-US" dirty="0">
                  <a:solidFill>
                    <a:schemeClr val="dk1"/>
                  </a:solidFill>
                  <a:latin typeface="微软雅黑" panose="020B0503020204020204" pitchFamily="34" charset="-122"/>
                  <a:ea typeface="微软雅黑" panose="020B0503020204020204" pitchFamily="34" charset="-122"/>
                </a:rPr>
                <a:t>密文相乘結果解密與明文相加結果相同</a:t>
              </a:r>
              <a:endParaRPr lang="en-US" altLang="zh-CN" dirty="0">
                <a:solidFill>
                  <a:schemeClr val="dk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bg2-3713&amp;3764"/>
          <p:cNvSpPr/>
          <p:nvPr>
            <p:custDataLst>
              <p:tags r:id="rId1"/>
            </p:custDataLst>
          </p:nvPr>
        </p:nvSpPr>
        <p:spPr>
          <a:xfrm>
            <a:off x="402590" y="984885"/>
            <a:ext cx="5131435"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62000" y="1719580"/>
            <a:ext cx="4465320" cy="4246245"/>
          </a:xfrm>
          <a:prstGeom prst="rect">
            <a:avLst/>
          </a:prstGeom>
        </p:spPr>
        <p:txBody>
          <a:bodyPr wrap="square">
            <a:spAutoFit/>
          </a:bodyPr>
          <a:lstStyle/>
          <a:p>
            <a:pPr algn="just"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p>
          <a:p>
            <a:pPr algn="just" latinLnBrk="1">
              <a:lnSpc>
                <a:spcPct val="15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微處理器架構側信道嚴重損害內存的隔離性，泄露用戶隱私信息</a:t>
            </a:r>
          </a:p>
          <a:p>
            <a:pPr algn="just" latinLnBrk="1">
              <a:lnSpc>
                <a:spcPct val="150000"/>
              </a:lnSpc>
            </a:pP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p>
          <a:p>
            <a:pPr algn="just" latinLnBrk="1">
              <a:lnSpc>
                <a:spcPct val="15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通過實現</a:t>
            </a:r>
            <a:r>
              <a:rPr lang="en-US" altLang="zh-CN" sz="2000" dirty="0" err="1">
                <a:effectLst/>
                <a:latin typeface="微软雅黑" panose="020B0503020204020204" pitchFamily="34" charset="-122"/>
                <a:ea typeface="微软雅黑" panose="020B0503020204020204" pitchFamily="34" charset="-122"/>
                <a:cs typeface="Times New Roman" panose="02020503050405090304" pitchFamily="18" charset="0"/>
              </a:rPr>
              <a:t>Spectre</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攻擊樣例，學習瞭解</a:t>
            </a: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CPU</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性能優化技術（分支預測）帶來的安全問題，進一步理解</a:t>
            </a: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CPU</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的工作進程，加深對處理器硬件安全的認識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49" name="图片 48"/>
          <p:cNvPicPr>
            <a:picLocks noChangeAspect="1"/>
          </p:cNvPicPr>
          <p:nvPr/>
        </p:nvPicPr>
        <p:blipFill>
          <a:blip r:embed="rId4"/>
          <a:stretch>
            <a:fillRect/>
          </a:stretch>
        </p:blipFill>
        <p:spPr>
          <a:xfrm>
            <a:off x="6752626" y="3850016"/>
            <a:ext cx="4332771" cy="1923849"/>
          </a:xfrm>
          <a:prstGeom prst="rect">
            <a:avLst/>
          </a:prstGeom>
        </p:spPr>
      </p:pic>
      <p:sp>
        <p:nvSpPr>
          <p:cNvPr id="52"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實驗五： </a:t>
            </a:r>
            <a:r>
              <a:rPr kumimoji="1" dirty="0" err="1"/>
              <a:t>Spectre</a:t>
            </a:r>
            <a:r>
              <a:rPr kumimoji="1" dirty="0"/>
              <a:t> </a:t>
            </a:r>
            <a:r>
              <a:rPr kumimoji="1" dirty="0" err="1"/>
              <a:t>攻擊驗證</a:t>
            </a:r>
            <a:endParaRPr kumimoji="1" dirty="0"/>
          </a:p>
        </p:txBody>
      </p:sp>
      <p:sp>
        <p:nvSpPr>
          <p:cNvPr id="53" name="TextBox 52"/>
          <p:cNvSpPr txBox="1"/>
          <p:nvPr/>
        </p:nvSpPr>
        <p:spPr>
          <a:xfrm>
            <a:off x="9140825" y="136525"/>
            <a:ext cx="290830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2" name="文本框 1"/>
          <p:cNvSpPr txBox="1"/>
          <p:nvPr/>
        </p:nvSpPr>
        <p:spPr>
          <a:xfrm>
            <a:off x="6752590" y="5774055"/>
            <a:ext cx="4331970" cy="398780"/>
          </a:xfrm>
          <a:prstGeom prst="rect">
            <a:avLst/>
          </a:prstGeom>
          <a:noFill/>
        </p:spPr>
        <p:txBody>
          <a:bodyPr wrap="square" rtlCol="0" anchor="t">
            <a:spAutoFit/>
          </a:bodyPr>
          <a:lstStyle/>
          <a:p>
            <a:pPr algn="ct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sym typeface="+mn-ea"/>
              </a:rPr>
              <a:t>微處理器緩存命中情况</a:t>
            </a:r>
            <a:endParaRPr lang="zh-CN" altLang="en-US" sz="2000" dirty="0">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sp>
        <p:nvSpPr>
          <p:cNvPr id="4" name="文本框 3"/>
          <p:cNvSpPr txBox="1"/>
          <p:nvPr/>
        </p:nvSpPr>
        <p:spPr>
          <a:xfrm>
            <a:off x="5650888" y="1682464"/>
            <a:ext cx="2207623" cy="658257"/>
          </a:xfrm>
          <a:prstGeom prst="rect">
            <a:avLst/>
          </a:prstGeom>
          <a:noFill/>
        </p:spPr>
        <p:txBody>
          <a:bodyPr wrap="square" rtlCol="0">
            <a:spAutoFit/>
          </a:bodyPr>
          <a:lstStyle/>
          <a:p>
            <a:pPr>
              <a:lnSpc>
                <a:spcPct val="120000"/>
              </a:lnSpc>
            </a:pPr>
            <a:r>
              <a:rPr lang="en-US" altLang="zh-CN" sz="1600" dirty="0" err="1">
                <a:solidFill>
                  <a:srgbClr val="000000"/>
                </a:solidFill>
                <a:latin typeface="微软雅黑" panose="020B0503020204020204" pitchFamily="34" charset="-122"/>
                <a:ea typeface="微软雅黑" panose="020B0503020204020204" pitchFamily="34" charset="-122"/>
              </a:rPr>
              <a:t>printf</a:t>
            </a:r>
            <a:r>
              <a:rPr lang="en-US" altLang="zh-CN" sz="1600" dirty="0">
                <a:solidFill>
                  <a:srgbClr val="000000"/>
                </a:solidFill>
                <a:latin typeface="微软雅黑" panose="020B0503020204020204" pitchFamily="34" charset="-122"/>
                <a:ea typeface="微软雅黑" panose="020B0503020204020204" pitchFamily="34" charset="-122"/>
              </a:rPr>
              <a:t>(“%d”,</a:t>
            </a:r>
            <a:r>
              <a:rPr lang="en-US" altLang="zh-CN" sz="1600" dirty="0" err="1">
                <a:solidFill>
                  <a:srgbClr val="000000"/>
                </a:solidFill>
                <a:latin typeface="微软雅黑" panose="020B0503020204020204" pitchFamily="34" charset="-122"/>
                <a:ea typeface="微软雅黑" panose="020B0503020204020204" pitchFamily="34" charset="-122"/>
              </a:rPr>
              <a:t>i</a:t>
            </a:r>
            <a:r>
              <a:rPr lang="en-US" altLang="zh-CN" sz="1600" dirty="0">
                <a:solidFill>
                  <a:srgbClr val="000000"/>
                </a:solidFill>
                <a:latin typeface="微软雅黑" panose="020B0503020204020204" pitchFamily="34" charset="-122"/>
                <a:ea typeface="微软雅黑" panose="020B0503020204020204" pitchFamily="34" charset="-122"/>
              </a:rPr>
              <a:t>)</a:t>
            </a:r>
          </a:p>
          <a:p>
            <a:pPr>
              <a:lnSpc>
                <a:spcPct val="120000"/>
              </a:lnSpc>
              <a:spcAft>
                <a:spcPts val="1200"/>
              </a:spcAft>
            </a:pPr>
            <a:r>
              <a:rPr lang="en-US" altLang="zh-CN" sz="1600" dirty="0" err="1">
                <a:solidFill>
                  <a:srgbClr val="000000"/>
                </a:solidFill>
                <a:latin typeface="微软雅黑" panose="020B0503020204020204" pitchFamily="34" charset="-122"/>
                <a:ea typeface="微软雅黑" panose="020B0503020204020204" pitchFamily="34" charset="-122"/>
              </a:rPr>
              <a:t>printf</a:t>
            </a:r>
            <a:r>
              <a:rPr lang="en-US" altLang="zh-CN" sz="1600" dirty="0">
                <a:solidFill>
                  <a:srgbClr val="000000"/>
                </a:solidFill>
                <a:latin typeface="微软雅黑" panose="020B0503020204020204" pitchFamily="34" charset="-122"/>
                <a:ea typeface="微软雅黑" panose="020B0503020204020204" pitchFamily="34" charset="-122"/>
              </a:rPr>
              <a:t>(“%d”,</a:t>
            </a:r>
            <a:r>
              <a:rPr lang="en-US" altLang="zh-CN" sz="1600" dirty="0" err="1">
                <a:solidFill>
                  <a:srgbClr val="000000"/>
                </a:solidFill>
                <a:latin typeface="微软雅黑" panose="020B0503020204020204" pitchFamily="34" charset="-122"/>
                <a:ea typeface="微软雅黑" panose="020B0503020204020204" pitchFamily="34" charset="-122"/>
              </a:rPr>
              <a:t>i</a:t>
            </a:r>
            <a:r>
              <a:rPr lang="en-US" altLang="zh-CN" sz="1600" dirty="0">
                <a:solidFill>
                  <a:srgbClr val="000000"/>
                </a:solidFill>
                <a:latin typeface="微软雅黑" panose="020B0503020204020204" pitchFamily="34" charset="-122"/>
                <a:ea typeface="微软雅黑" panose="020B0503020204020204" pitchFamily="34" charset="-122"/>
              </a:rPr>
              <a:t>)</a:t>
            </a:r>
            <a:endParaRPr lang="zh-CN" altLang="en-US" sz="1600" dirty="0">
              <a:solidFill>
                <a:srgbClr val="0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5"/>
          <a:stretch>
            <a:fillRect/>
          </a:stretch>
        </p:blipFill>
        <p:spPr>
          <a:xfrm>
            <a:off x="8553661" y="1244611"/>
            <a:ext cx="1663384" cy="1675409"/>
          </a:xfrm>
          <a:prstGeom prst="rect">
            <a:avLst/>
          </a:prstGeom>
        </p:spPr>
      </p:pic>
      <p:sp>
        <p:nvSpPr>
          <p:cNvPr id="6" name="矩形 5"/>
          <p:cNvSpPr/>
          <p:nvPr/>
        </p:nvSpPr>
        <p:spPr>
          <a:xfrm>
            <a:off x="8975837" y="1609129"/>
            <a:ext cx="819032" cy="249655"/>
          </a:xfrm>
          <a:prstGeom prst="rect">
            <a:avLst/>
          </a:prstGeom>
          <a:solidFill>
            <a:srgbClr val="FFFFFF"/>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nvSpPr>
        <p:spPr>
          <a:xfrm>
            <a:off x="8975837" y="1859728"/>
            <a:ext cx="819032" cy="249655"/>
          </a:xfrm>
          <a:prstGeom prst="rect">
            <a:avLst/>
          </a:prstGeom>
          <a:solidFill>
            <a:srgbClr val="FFFFFF"/>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a:xfrm>
            <a:off x="8975837" y="2108439"/>
            <a:ext cx="819032" cy="249655"/>
          </a:xfrm>
          <a:prstGeom prst="rect">
            <a:avLst/>
          </a:prstGeom>
          <a:solidFill>
            <a:srgbClr val="FFFFFF"/>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9" name="图片 8"/>
          <p:cNvPicPr>
            <a:picLocks noChangeAspect="1"/>
          </p:cNvPicPr>
          <p:nvPr/>
        </p:nvPicPr>
        <p:blipFill>
          <a:blip r:embed="rId6"/>
          <a:stretch>
            <a:fillRect/>
          </a:stretch>
        </p:blipFill>
        <p:spPr>
          <a:xfrm rot="5400000">
            <a:off x="10402501" y="1882874"/>
            <a:ext cx="2364433" cy="567328"/>
          </a:xfrm>
          <a:prstGeom prst="rect">
            <a:avLst/>
          </a:prstGeom>
        </p:spPr>
      </p:pic>
      <p:sp>
        <p:nvSpPr>
          <p:cNvPr id="10" name="箭头: 右 34"/>
          <p:cNvSpPr/>
          <p:nvPr/>
        </p:nvSpPr>
        <p:spPr>
          <a:xfrm>
            <a:off x="7670998" y="1753877"/>
            <a:ext cx="835416" cy="146557"/>
          </a:xfrm>
          <a:prstGeom prst="rightArrow">
            <a:avLst/>
          </a:prstGeom>
          <a:solidFill>
            <a:srgbClr val="0070C0"/>
          </a:solidFill>
          <a:ln w="12700" cap="flat" cmpd="sng" algn="ctr">
            <a:solidFill>
              <a:srgbClr val="0070C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7629366" y="1475674"/>
            <a:ext cx="939353" cy="261354"/>
          </a:xfrm>
          <a:prstGeom prst="rect">
            <a:avLst/>
          </a:prstGeom>
          <a:noFill/>
        </p:spPr>
        <p:txBody>
          <a:bodyPr wrap="square" rtlCol="0">
            <a:spAutoFit/>
          </a:bodyPr>
          <a:lstStyle/>
          <a:p>
            <a:pP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Cache miss</a:t>
            </a:r>
            <a:endParaRPr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12" name="箭头: 右 36"/>
          <p:cNvSpPr/>
          <p:nvPr/>
        </p:nvSpPr>
        <p:spPr>
          <a:xfrm>
            <a:off x="10306934" y="1805125"/>
            <a:ext cx="835416" cy="146557"/>
          </a:xfrm>
          <a:prstGeom prst="rightArrow">
            <a:avLst/>
          </a:prstGeom>
          <a:solidFill>
            <a:srgbClr val="0070C0"/>
          </a:solidFill>
          <a:ln w="12700" cap="flat" cmpd="sng" algn="ctr">
            <a:solidFill>
              <a:srgbClr val="0070C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10265302" y="1526922"/>
            <a:ext cx="939353" cy="261354"/>
          </a:xfrm>
          <a:prstGeom prst="rect">
            <a:avLst/>
          </a:prstGeom>
          <a:noFill/>
        </p:spPr>
        <p:txBody>
          <a:bodyPr wrap="square" rtlCol="0">
            <a:spAutoFit/>
          </a:bodyPr>
          <a:lstStyle/>
          <a:p>
            <a:pPr algn="ct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request</a:t>
            </a:r>
            <a:endParaRPr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14" name="箭头: 右 38"/>
          <p:cNvSpPr/>
          <p:nvPr/>
        </p:nvSpPr>
        <p:spPr>
          <a:xfrm rot="10800000">
            <a:off x="10306933" y="2122781"/>
            <a:ext cx="835416" cy="146557"/>
          </a:xfrm>
          <a:prstGeom prst="rightArrow">
            <a:avLst/>
          </a:prstGeom>
          <a:solidFill>
            <a:srgbClr val="FFC000"/>
          </a:solidFill>
          <a:ln w="12700" cap="flat" cmpd="sng" algn="ctr">
            <a:solidFill>
              <a:srgbClr val="0070C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10254964" y="2341717"/>
            <a:ext cx="939353" cy="261354"/>
          </a:xfrm>
          <a:prstGeom prst="rect">
            <a:avLst/>
          </a:prstGeom>
          <a:noFill/>
        </p:spPr>
        <p:txBody>
          <a:bodyPr wrap="square" rtlCol="0">
            <a:spAutoFit/>
          </a:bodyPr>
          <a:lstStyle/>
          <a:p>
            <a:pPr algn="ct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response</a:t>
            </a:r>
            <a:endParaRPr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16" name="矩形 15"/>
          <p:cNvSpPr/>
          <p:nvPr/>
        </p:nvSpPr>
        <p:spPr>
          <a:xfrm>
            <a:off x="8975837" y="1859728"/>
            <a:ext cx="819032" cy="249655"/>
          </a:xfrm>
          <a:prstGeom prst="rect">
            <a:avLst/>
          </a:prstGeom>
          <a:solidFill>
            <a:srgbClr val="FFC00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i</a:t>
            </a: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7" name="箭头: 右 42"/>
          <p:cNvSpPr/>
          <p:nvPr/>
        </p:nvSpPr>
        <p:spPr>
          <a:xfrm>
            <a:off x="7651832" y="2171876"/>
            <a:ext cx="835416" cy="146557"/>
          </a:xfrm>
          <a:prstGeom prst="rightArrow">
            <a:avLst/>
          </a:prstGeom>
          <a:solidFill>
            <a:srgbClr val="92D050"/>
          </a:solidFill>
          <a:ln w="12700" cap="flat" cmpd="sng" algn="ctr">
            <a:solidFill>
              <a:srgbClr val="0070C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7659712" y="2368991"/>
            <a:ext cx="939353" cy="261354"/>
          </a:xfrm>
          <a:prstGeom prst="rect">
            <a:avLst/>
          </a:prstGeom>
          <a:noFill/>
        </p:spPr>
        <p:txBody>
          <a:bodyPr wrap="square" rtlCol="0">
            <a:spAutoFit/>
          </a:bodyPr>
          <a:lstStyle/>
          <a:p>
            <a:pP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Cache hit</a:t>
            </a:r>
            <a:endParaRPr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19" name="连接符: 曲线 44"/>
          <p:cNvCxnSpPr>
            <a:stCxn id="20" idx="1"/>
            <a:endCxn id="4" idx="0"/>
          </p:cNvCxnSpPr>
          <p:nvPr/>
        </p:nvCxnSpPr>
        <p:spPr>
          <a:xfrm rot="10800000" flipV="1">
            <a:off x="6754701" y="1375288"/>
            <a:ext cx="491073" cy="307176"/>
          </a:xfrm>
          <a:prstGeom prst="curvedConnector2">
            <a:avLst/>
          </a:prstGeom>
          <a:noFill/>
          <a:ln w="19050" cap="flat" cmpd="sng" algn="ctr">
            <a:solidFill>
              <a:srgbClr val="000000"/>
            </a:solidFill>
            <a:prstDash val="solid"/>
            <a:miter lim="800000"/>
            <a:tailEnd type="triangle"/>
          </a:ln>
          <a:effectLst/>
        </p:spPr>
      </p:cxnSp>
      <p:sp>
        <p:nvSpPr>
          <p:cNvPr id="20" name="文本框 19"/>
          <p:cNvSpPr txBox="1"/>
          <p:nvPr/>
        </p:nvSpPr>
        <p:spPr>
          <a:xfrm>
            <a:off x="7245773" y="1244611"/>
            <a:ext cx="477592" cy="261354"/>
          </a:xfrm>
          <a:prstGeom prst="rect">
            <a:avLst/>
          </a:prstGeom>
          <a:noFill/>
        </p:spPr>
        <p:txBody>
          <a:bodyPr wrap="square" rtlCol="0">
            <a:spAutoFit/>
          </a:bodyPr>
          <a:lstStyle/>
          <a:p>
            <a:pP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Slow</a:t>
            </a:r>
            <a:endParaRPr lang="zh-CN" altLang="en-US" sz="1000" dirty="0">
              <a:solidFill>
                <a:srgbClr val="000000"/>
              </a:solidFill>
              <a:latin typeface="微软雅黑" panose="020B0503020204020204" pitchFamily="34" charset="-122"/>
              <a:ea typeface="微软雅黑" panose="020B0503020204020204" pitchFamily="34" charset="-122"/>
            </a:endParaRPr>
          </a:p>
        </p:txBody>
      </p:sp>
      <p:cxnSp>
        <p:nvCxnSpPr>
          <p:cNvPr id="21" name="连接符: 曲线 46"/>
          <p:cNvCxnSpPr>
            <a:stCxn id="22" idx="1"/>
            <a:endCxn id="4" idx="2"/>
          </p:cNvCxnSpPr>
          <p:nvPr/>
        </p:nvCxnSpPr>
        <p:spPr>
          <a:xfrm rot="10800000">
            <a:off x="6754701" y="2340721"/>
            <a:ext cx="448111" cy="361334"/>
          </a:xfrm>
          <a:prstGeom prst="curvedConnector2">
            <a:avLst/>
          </a:prstGeom>
          <a:noFill/>
          <a:ln w="19050" cap="flat" cmpd="sng" algn="ctr">
            <a:solidFill>
              <a:srgbClr val="000000"/>
            </a:solidFill>
            <a:prstDash val="solid"/>
            <a:miter lim="800000"/>
            <a:tailEnd type="triangle"/>
          </a:ln>
          <a:effectLst/>
        </p:spPr>
      </p:cxnSp>
      <p:sp>
        <p:nvSpPr>
          <p:cNvPr id="22" name="文本框 21"/>
          <p:cNvSpPr txBox="1"/>
          <p:nvPr/>
        </p:nvSpPr>
        <p:spPr>
          <a:xfrm>
            <a:off x="7202811" y="2571378"/>
            <a:ext cx="563516" cy="261354"/>
          </a:xfrm>
          <a:prstGeom prst="rect">
            <a:avLst/>
          </a:prstGeom>
          <a:noFill/>
        </p:spPr>
        <p:txBody>
          <a:bodyPr wrap="square" rtlCol="0">
            <a:spAutoFit/>
          </a:bodyPr>
          <a:lstStyle/>
          <a:p>
            <a:pPr>
              <a:lnSpc>
                <a:spcPct val="120000"/>
              </a:lnSpc>
            </a:pPr>
            <a:r>
              <a:rPr lang="en-US" altLang="zh-CN" sz="1000" dirty="0">
                <a:solidFill>
                  <a:srgbClr val="000000"/>
                </a:solidFill>
                <a:latin typeface="微软雅黑" panose="020B0503020204020204" pitchFamily="34" charset="-122"/>
                <a:ea typeface="微软雅黑" panose="020B0503020204020204" pitchFamily="34" charset="-122"/>
              </a:rPr>
              <a:t>faster</a:t>
            </a:r>
            <a:endParaRPr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671047" y="3098523"/>
            <a:ext cx="2480095" cy="400110"/>
          </a:xfrm>
          <a:prstGeom prst="rect">
            <a:avLst/>
          </a:prstGeom>
          <a:noFill/>
        </p:spPr>
        <p:txBody>
          <a:bodyPr wrap="square">
            <a:spAutoFit/>
          </a:bodyPr>
          <a:lstStyle/>
          <a:p>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微處理器緩存側信道</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p:bldP spid="12" grpId="0" bldLvl="0" animBg="1"/>
      <p:bldP spid="13" grpId="0"/>
      <p:bldP spid="14" grpId="0" bldLvl="0" animBg="1"/>
      <p:bldP spid="15" grpId="0"/>
      <p:bldP spid="16" grpId="0" bldLvl="0" animBg="1"/>
      <p:bldP spid="17" grpId="0" bldLvl="0" animBg="1"/>
      <p:bldP spid="18" grpId="0"/>
      <p:bldP spid="20"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bg2-3713&amp;3764"/>
          <p:cNvSpPr/>
          <p:nvPr>
            <p:custDataLst>
              <p:tags r:id="rId1"/>
            </p:custDataLst>
          </p:nvPr>
        </p:nvSpPr>
        <p:spPr>
          <a:xfrm>
            <a:off x="402590" y="984885"/>
            <a:ext cx="6055995"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6" name="流程图: 过程 5"/>
          <p:cNvSpPr/>
          <p:nvPr/>
        </p:nvSpPr>
        <p:spPr>
          <a:xfrm>
            <a:off x="7303878" y="1881725"/>
            <a:ext cx="1688189" cy="30995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清空</a:t>
            </a:r>
            <a:r>
              <a:rPr lang="en-US" altLang="zh-CN" sz="1200" dirty="0" err="1">
                <a:latin typeface="微软雅黑" panose="020B0503020204020204" pitchFamily="34" charset="-122"/>
                <a:ea typeface="微软雅黑" panose="020B0503020204020204" pitchFamily="34" charset="-122"/>
              </a:rPr>
              <a:t>cache_set</a:t>
            </a:r>
            <a:r>
              <a:rPr lang="zh-CN" altLang="en-US" sz="1200" dirty="0">
                <a:latin typeface="微软雅黑" panose="020B0503020204020204" pitchFamily="34" charset="-122"/>
                <a:ea typeface="微软雅黑" panose="020B0503020204020204" pitchFamily="34" charset="-122"/>
              </a:rPr>
              <a:t>緩存</a:t>
            </a:r>
          </a:p>
        </p:txBody>
      </p:sp>
      <p:sp>
        <p:nvSpPr>
          <p:cNvPr id="51" name="流程图: 过程 50"/>
          <p:cNvSpPr/>
          <p:nvPr/>
        </p:nvSpPr>
        <p:spPr>
          <a:xfrm>
            <a:off x="7303875" y="2435857"/>
            <a:ext cx="1688193" cy="311708"/>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清除</a:t>
            </a:r>
            <a:r>
              <a:rPr lang="en-US" altLang="zh-CN" sz="1200" dirty="0" err="1">
                <a:latin typeface="微软雅黑" panose="020B0503020204020204" pitchFamily="34" charset="-122"/>
                <a:ea typeface="微软雅黑" panose="020B0503020204020204" pitchFamily="34" charset="-122"/>
              </a:rPr>
              <a:t>spy_size</a:t>
            </a:r>
            <a:r>
              <a:rPr lang="zh-CN" altLang="en-US" sz="1200" dirty="0">
                <a:latin typeface="微软雅黑" panose="020B0503020204020204" pitchFamily="34" charset="-122"/>
                <a:ea typeface="微软雅黑" panose="020B0503020204020204" pitchFamily="34" charset="-122"/>
              </a:rPr>
              <a:t>緩存</a:t>
            </a:r>
          </a:p>
        </p:txBody>
      </p:sp>
      <p:sp>
        <p:nvSpPr>
          <p:cNvPr id="52" name="流程图: 过程 51"/>
          <p:cNvSpPr/>
          <p:nvPr/>
        </p:nvSpPr>
        <p:spPr>
          <a:xfrm>
            <a:off x="7303883" y="2995364"/>
            <a:ext cx="1688189" cy="548828"/>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調用</a:t>
            </a:r>
            <a:r>
              <a:rPr lang="en-US" altLang="zh-CN" sz="1200" dirty="0">
                <a:latin typeface="微软雅黑" panose="020B0503020204020204" pitchFamily="34" charset="-122"/>
                <a:ea typeface="微软雅黑" panose="020B0503020204020204" pitchFamily="34" charset="-122"/>
              </a:rPr>
              <a:t>victim</a:t>
            </a:r>
            <a:r>
              <a:rPr lang="zh-CN" altLang="en-US" sz="1200" dirty="0">
                <a:latin typeface="微软雅黑" panose="020B0503020204020204" pitchFamily="34" charset="-122"/>
                <a:ea typeface="微软雅黑" panose="020B0503020204020204" pitchFamily="34" charset="-122"/>
              </a:rPr>
              <a:t>（合法索引</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次，越界索引一次）</a:t>
            </a:r>
          </a:p>
        </p:txBody>
      </p:sp>
      <p:sp>
        <p:nvSpPr>
          <p:cNvPr id="53" name="流程图: 过程 52"/>
          <p:cNvSpPr/>
          <p:nvPr/>
        </p:nvSpPr>
        <p:spPr>
          <a:xfrm>
            <a:off x="7303881" y="3880285"/>
            <a:ext cx="1688191" cy="496569"/>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測量幷記錄緩存命中的索引</a:t>
            </a:r>
          </a:p>
        </p:txBody>
      </p:sp>
      <p:sp>
        <p:nvSpPr>
          <p:cNvPr id="54" name="流程图: 过程 53"/>
          <p:cNvSpPr/>
          <p:nvPr/>
        </p:nvSpPr>
        <p:spPr>
          <a:xfrm>
            <a:off x="7303874" y="4688323"/>
            <a:ext cx="1688184" cy="496569"/>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打印命中最多的索引（敏感數據）</a:t>
            </a:r>
          </a:p>
        </p:txBody>
      </p:sp>
      <p:cxnSp>
        <p:nvCxnSpPr>
          <p:cNvPr id="8" name="直接箭头连接符 7"/>
          <p:cNvCxnSpPr>
            <a:stCxn id="6" idx="2"/>
            <a:endCxn id="51" idx="0"/>
          </p:cNvCxnSpPr>
          <p:nvPr/>
        </p:nvCxnSpPr>
        <p:spPr>
          <a:xfrm flipH="1">
            <a:off x="8147972" y="2191680"/>
            <a:ext cx="1" cy="244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直接箭头连接符 54"/>
          <p:cNvCxnSpPr>
            <a:stCxn id="51" idx="2"/>
            <a:endCxn id="52" idx="0"/>
          </p:cNvCxnSpPr>
          <p:nvPr/>
        </p:nvCxnSpPr>
        <p:spPr>
          <a:xfrm>
            <a:off x="8147972" y="2747565"/>
            <a:ext cx="6" cy="2477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直接箭头连接符 55"/>
          <p:cNvCxnSpPr>
            <a:stCxn id="52" idx="2"/>
            <a:endCxn id="53" idx="0"/>
          </p:cNvCxnSpPr>
          <p:nvPr/>
        </p:nvCxnSpPr>
        <p:spPr>
          <a:xfrm flipH="1">
            <a:off x="8147977" y="3544192"/>
            <a:ext cx="1" cy="3360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9" name="连接符: 肘形 58"/>
          <p:cNvCxnSpPr>
            <a:stCxn id="53" idx="2"/>
            <a:endCxn id="54" idx="0"/>
          </p:cNvCxnSpPr>
          <p:nvPr/>
        </p:nvCxnSpPr>
        <p:spPr>
          <a:xfrm rot="5400000">
            <a:off x="7992238" y="4532583"/>
            <a:ext cx="311469" cy="11"/>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64" name="文本框 63"/>
          <p:cNvSpPr txBox="1"/>
          <p:nvPr/>
        </p:nvSpPr>
        <p:spPr>
          <a:xfrm>
            <a:off x="6721869" y="2720865"/>
            <a:ext cx="501650" cy="400110"/>
          </a:xfrm>
          <a:prstGeom prst="rect">
            <a:avLst/>
          </a:prstGeom>
          <a:noFill/>
        </p:spPr>
        <p:txBody>
          <a:bodyPr wrap="square" rtlCol="0">
            <a:spAutoFit/>
          </a:bodyPr>
          <a:lstStyle/>
          <a:p>
            <a:r>
              <a:rPr lang="zh-CN" altLang="en-US" sz="1000" dirty="0">
                <a:latin typeface="微软雅黑" panose="020B0503020204020204" pitchFamily="34" charset="-122"/>
                <a:ea typeface="微软雅黑" panose="020B0503020204020204" pitchFamily="34" charset="-122"/>
              </a:rPr>
              <a:t>循環</a:t>
            </a:r>
            <a:r>
              <a:rPr lang="en-US" altLang="zh-CN" sz="1000" dirty="0">
                <a:latin typeface="微软雅黑" panose="020B0503020204020204" pitchFamily="34" charset="-122"/>
                <a:ea typeface="微软雅黑" panose="020B0503020204020204" pitchFamily="34" charset="-122"/>
              </a:rPr>
              <a:t>30</a:t>
            </a:r>
            <a:r>
              <a:rPr lang="zh-CN" altLang="en-US" sz="1000" dirty="0">
                <a:latin typeface="微软雅黑" panose="020B0503020204020204" pitchFamily="34" charset="-122"/>
                <a:ea typeface="微软雅黑" panose="020B0503020204020204" pitchFamily="34" charset="-122"/>
              </a:rPr>
              <a:t>次</a:t>
            </a:r>
          </a:p>
        </p:txBody>
      </p:sp>
      <p:cxnSp>
        <p:nvCxnSpPr>
          <p:cNvPr id="120" name="连接符: 肘形 119"/>
          <p:cNvCxnSpPr>
            <a:stCxn id="52" idx="1"/>
            <a:endCxn id="51" idx="1"/>
          </p:cNvCxnSpPr>
          <p:nvPr/>
        </p:nvCxnSpPr>
        <p:spPr>
          <a:xfrm rot="10800000">
            <a:off x="7303875" y="2591712"/>
            <a:ext cx="8" cy="678067"/>
          </a:xfrm>
          <a:prstGeom prst="bentConnector3">
            <a:avLst>
              <a:gd name="adj1" fmla="val 2147483646"/>
            </a:avLst>
          </a:prstGeom>
          <a:ln>
            <a:tailEnd type="triangle"/>
          </a:ln>
        </p:spPr>
        <p:style>
          <a:lnRef idx="2">
            <a:schemeClr val="dk1"/>
          </a:lnRef>
          <a:fillRef idx="0">
            <a:schemeClr val="dk1"/>
          </a:fillRef>
          <a:effectRef idx="1">
            <a:schemeClr val="dk1"/>
          </a:effectRef>
          <a:fontRef idx="minor">
            <a:schemeClr val="tx1"/>
          </a:fontRef>
        </p:style>
      </p:cxnSp>
      <p:cxnSp>
        <p:nvCxnSpPr>
          <p:cNvPr id="126" name="连接符: 肘形 125"/>
          <p:cNvCxnSpPr>
            <a:stCxn id="53" idx="3"/>
            <a:endCxn id="6" idx="3"/>
          </p:cNvCxnSpPr>
          <p:nvPr/>
        </p:nvCxnSpPr>
        <p:spPr>
          <a:xfrm flipH="1" flipV="1">
            <a:off x="8992067" y="2036703"/>
            <a:ext cx="5" cy="2091867"/>
          </a:xfrm>
          <a:prstGeom prst="bentConnector3">
            <a:avLst>
              <a:gd name="adj1" fmla="val -4572000000"/>
            </a:avLst>
          </a:prstGeom>
          <a:ln>
            <a:tailEnd type="triangle"/>
          </a:ln>
        </p:spPr>
        <p:style>
          <a:lnRef idx="2">
            <a:schemeClr val="dk1"/>
          </a:lnRef>
          <a:fillRef idx="0">
            <a:schemeClr val="dk1"/>
          </a:fillRef>
          <a:effectRef idx="1">
            <a:schemeClr val="dk1"/>
          </a:effectRef>
          <a:fontRef idx="minor">
            <a:schemeClr val="tx1"/>
          </a:fontRef>
        </p:style>
      </p:cxnSp>
      <p:sp>
        <p:nvSpPr>
          <p:cNvPr id="130" name="文本框 129"/>
          <p:cNvSpPr txBox="1"/>
          <p:nvPr/>
        </p:nvSpPr>
        <p:spPr>
          <a:xfrm>
            <a:off x="9218740" y="2805637"/>
            <a:ext cx="617367" cy="400110"/>
          </a:xfrm>
          <a:prstGeom prst="rect">
            <a:avLst/>
          </a:prstGeom>
          <a:noFill/>
        </p:spPr>
        <p:txBody>
          <a:bodyPr wrap="square" rtlCol="0">
            <a:spAutoFit/>
          </a:bodyPr>
          <a:lstStyle/>
          <a:p>
            <a:r>
              <a:rPr lang="zh-CN" altLang="en-US" sz="1000" dirty="0">
                <a:latin typeface="微软雅黑" panose="020B0503020204020204" pitchFamily="34" charset="-122"/>
                <a:ea typeface="微软雅黑" panose="020B0503020204020204" pitchFamily="34" charset="-122"/>
              </a:rPr>
              <a:t>循環</a:t>
            </a:r>
            <a:r>
              <a:rPr lang="en-US" altLang="zh-CN" sz="1000" dirty="0">
                <a:latin typeface="微软雅黑" panose="020B0503020204020204" pitchFamily="34" charset="-122"/>
                <a:ea typeface="微软雅黑" panose="020B0503020204020204" pitchFamily="34" charset="-122"/>
              </a:rPr>
              <a:t>999</a:t>
            </a:r>
            <a:r>
              <a:rPr lang="zh-CN" altLang="en-US" sz="1000" dirty="0">
                <a:latin typeface="微软雅黑" panose="020B0503020204020204" pitchFamily="34" charset="-122"/>
                <a:ea typeface="微软雅黑" panose="020B0503020204020204" pitchFamily="34" charset="-122"/>
              </a:rPr>
              <a:t>次</a:t>
            </a:r>
          </a:p>
        </p:txBody>
      </p:sp>
      <p:pic>
        <p:nvPicPr>
          <p:cNvPr id="7" name="图片 6"/>
          <p:cNvPicPr>
            <a:picLocks noChangeAspect="1"/>
          </p:cNvPicPr>
          <p:nvPr/>
        </p:nvPicPr>
        <p:blipFill>
          <a:blip r:embed="rId4">
            <a:duotone>
              <a:schemeClr val="accent3">
                <a:shade val="45000"/>
                <a:satMod val="135000"/>
              </a:schemeClr>
              <a:prstClr val="white"/>
            </a:duotone>
          </a:blip>
          <a:stretch>
            <a:fillRect/>
          </a:stretch>
        </p:blipFill>
        <p:spPr>
          <a:xfrm>
            <a:off x="9902782" y="1483018"/>
            <a:ext cx="1595987" cy="3933449"/>
          </a:xfrm>
          <a:prstGeom prst="rect">
            <a:avLst/>
          </a:prstGeom>
          <a:effectLst>
            <a:outerShdw blurRad="50800" dist="38100" dir="2700000" algn="tl" rotWithShape="0">
              <a:prstClr val="black">
                <a:alpha val="40000"/>
              </a:prstClr>
            </a:outerShdw>
          </a:effectLst>
        </p:spPr>
      </p:pic>
      <p:sp>
        <p:nvSpPr>
          <p:cNvPr id="22" name="文本框 21"/>
          <p:cNvSpPr txBox="1"/>
          <p:nvPr/>
        </p:nvSpPr>
        <p:spPr>
          <a:xfrm>
            <a:off x="10076484" y="5601133"/>
            <a:ext cx="1373836"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實驗結果</a:t>
            </a:r>
          </a:p>
        </p:txBody>
      </p:sp>
      <p:sp>
        <p:nvSpPr>
          <p:cNvPr id="29"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實驗五： </a:t>
            </a:r>
            <a:r>
              <a:rPr kumimoji="1" dirty="0" err="1"/>
              <a:t>Spectre</a:t>
            </a:r>
            <a:r>
              <a:rPr kumimoji="1" dirty="0"/>
              <a:t> </a:t>
            </a:r>
            <a:r>
              <a:rPr kumimoji="1" dirty="0" err="1"/>
              <a:t>攻擊驗證</a:t>
            </a:r>
            <a:endParaRPr kumimoji="1" dirty="0"/>
          </a:p>
        </p:txBody>
      </p:sp>
      <p:sp>
        <p:nvSpPr>
          <p:cNvPr id="30" name="TextBox 29"/>
          <p:cNvSpPr txBox="1"/>
          <p:nvPr/>
        </p:nvSpPr>
        <p:spPr>
          <a:xfrm>
            <a:off x="9140825" y="136525"/>
            <a:ext cx="290830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32" name="矩形 2"/>
          <p:cNvSpPr/>
          <p:nvPr/>
        </p:nvSpPr>
        <p:spPr>
          <a:xfrm>
            <a:off x="741680" y="1406155"/>
            <a:ext cx="5486924" cy="4378443"/>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 根據發現</a:t>
            </a:r>
            <a:r>
              <a:rPr lang="en-US" altLang="zh-CN" sz="2000" dirty="0" err="1">
                <a:latin typeface="微软雅黑" panose="020B0503020204020204" pitchFamily="34" charset="-122"/>
                <a:ea typeface="微软雅黑" panose="020B0503020204020204" pitchFamily="34" charset="-122"/>
                <a:cs typeface="Times New Roman" panose="02020503050405090304" pitchFamily="18" charset="0"/>
              </a:rPr>
              <a:t>Spectre</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的文章附錄當中的源代碼複現文中 </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Section IV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中的實驗，竊取內存當中的機密信息</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要求爲</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C</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語言版本，可以參考其他源碼但必須標明出處，且實驗效果需要與教材一致</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buClrTx/>
              <a:buSzTx/>
              <a:buFontTx/>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en-US" altLang="zh-CN" sz="2000" b="1" dirty="0" err="1">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實驗資料</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buClrTx/>
              <a:buSzTx/>
              <a:buFontTx/>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 </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 IEEE S&amp;P</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上的</a:t>
            </a:r>
            <a:r>
              <a:rPr lang="en-US" altLang="zh-CN" sz="2000" dirty="0" err="1">
                <a:latin typeface="微软雅黑" panose="020B0503020204020204" pitchFamily="34" charset="-122"/>
                <a:ea typeface="微软雅黑" panose="020B0503020204020204" pitchFamily="34" charset="-122"/>
                <a:cs typeface="Times New Roman" panose="02020503050405090304" pitchFamily="18" charset="0"/>
              </a:rPr>
              <a:t>Spectre</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原始文章：</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https://ieeexplore.ieee.org/abstract/document/8835233</a:t>
            </a:r>
          </a:p>
        </p:txBody>
      </p:sp>
      <p:sp>
        <p:nvSpPr>
          <p:cNvPr id="21" name="文本框 21"/>
          <p:cNvSpPr txBox="1"/>
          <p:nvPr/>
        </p:nvSpPr>
        <p:spPr>
          <a:xfrm>
            <a:off x="7461061" y="5568867"/>
            <a:ext cx="1373836"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攻擊流程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02590" y="984885"/>
            <a:ext cx="5990590"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62000" y="1480820"/>
            <a:ext cx="5436870" cy="4492625"/>
          </a:xfrm>
          <a:prstGeom prst="rect">
            <a:avLst/>
          </a:prstGeom>
        </p:spPr>
        <p:txBody>
          <a:bodyPr wrap="square">
            <a:spAutoFit/>
          </a:bodyPr>
          <a:lstStyle/>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棧區溢出攻擊，是最常見的緩沖區溢出攻擊</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方式</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，是多種攻擊的基礎</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攻擊者構造惡意的程序輸入覆蓋棧當中的返回地址，不正當觸發函數執行，達到修改進程行爲的目的</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本實驗模擬一次樸素的棧區溢出攻擊，核心在于掌握“如何構造覆蓋棧幀的惡意輸入”</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cxnSp>
        <p:nvCxnSpPr>
          <p:cNvPr id="9" name="直接连接符 8"/>
          <p:cNvCxnSpPr/>
          <p:nvPr/>
        </p:nvCxnSpPr>
        <p:spPr>
          <a:xfrm>
            <a:off x="7331381" y="1494092"/>
            <a:ext cx="0" cy="4320000"/>
          </a:xfrm>
          <a:prstGeom prst="line">
            <a:avLst/>
          </a:prstGeom>
          <a:noFill/>
          <a:ln w="12700" cap="flat" cmpd="sng" algn="ctr">
            <a:solidFill>
              <a:srgbClr val="000000"/>
            </a:solidFill>
            <a:prstDash val="solid"/>
            <a:miter lim="800000"/>
          </a:ln>
          <a:effectLst/>
        </p:spPr>
      </p:cxnSp>
      <p:cxnSp>
        <p:nvCxnSpPr>
          <p:cNvPr id="10" name="直接连接符 9"/>
          <p:cNvCxnSpPr/>
          <p:nvPr/>
        </p:nvCxnSpPr>
        <p:spPr>
          <a:xfrm>
            <a:off x="9959819" y="1494092"/>
            <a:ext cx="0" cy="4320000"/>
          </a:xfrm>
          <a:prstGeom prst="line">
            <a:avLst/>
          </a:prstGeom>
          <a:noFill/>
          <a:ln w="12700" cap="flat" cmpd="sng" algn="ctr">
            <a:solidFill>
              <a:srgbClr val="000000"/>
            </a:solidFill>
            <a:prstDash val="solid"/>
            <a:miter lim="800000"/>
          </a:ln>
          <a:effectLst/>
        </p:spPr>
      </p:cxnSp>
      <p:sp>
        <p:nvSpPr>
          <p:cNvPr id="11" name="文本框 10"/>
          <p:cNvSpPr txBox="1"/>
          <p:nvPr/>
        </p:nvSpPr>
        <p:spPr>
          <a:xfrm>
            <a:off x="7527081" y="1080164"/>
            <a:ext cx="1995870"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Higher Address</a:t>
            </a:r>
            <a:endParaRPr lang="zh-CN" altLang="en-US" dirty="0">
              <a:solidFill>
                <a:srgbClr val="000000"/>
              </a:solidFill>
              <a:ea typeface="微软雅黑" panose="020B0503020204020204" pitchFamily="34" charset="-122"/>
            </a:endParaRPr>
          </a:p>
        </p:txBody>
      </p:sp>
      <p:sp>
        <p:nvSpPr>
          <p:cNvPr id="12" name="文本框 11"/>
          <p:cNvSpPr txBox="1"/>
          <p:nvPr/>
        </p:nvSpPr>
        <p:spPr>
          <a:xfrm>
            <a:off x="7640333" y="6044910"/>
            <a:ext cx="1995870"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Lower Address</a:t>
            </a:r>
            <a:endParaRPr lang="zh-CN" altLang="en-US" dirty="0">
              <a:solidFill>
                <a:srgbClr val="000000"/>
              </a:solidFill>
              <a:ea typeface="微软雅黑" panose="020B0503020204020204" pitchFamily="34" charset="-122"/>
            </a:endParaRPr>
          </a:p>
        </p:txBody>
      </p:sp>
      <p:sp>
        <p:nvSpPr>
          <p:cNvPr id="13" name="文本框 12"/>
          <p:cNvSpPr txBox="1"/>
          <p:nvPr/>
        </p:nvSpPr>
        <p:spPr>
          <a:xfrm>
            <a:off x="7330933" y="2032365"/>
            <a:ext cx="2627993" cy="369332"/>
          </a:xfrm>
          <a:prstGeom prst="rect">
            <a:avLst/>
          </a:prstGeom>
          <a:noFill/>
        </p:spPr>
        <p:txBody>
          <a:bodyPr wrap="square" rtlCol="0">
            <a:spAutoFit/>
          </a:bodyPr>
          <a:lstStyle/>
          <a:p>
            <a:pPr algn="ctr"/>
            <a:r>
              <a:rPr lang="en-US" altLang="zh-CN" dirty="0">
                <a:solidFill>
                  <a:srgbClr val="C00000"/>
                </a:solidFill>
                <a:ea typeface="微软雅黑" panose="020B0503020204020204" pitchFamily="34" charset="-122"/>
              </a:rPr>
              <a:t>EBP of Caller’s Caller</a:t>
            </a:r>
          </a:p>
        </p:txBody>
      </p:sp>
      <p:cxnSp>
        <p:nvCxnSpPr>
          <p:cNvPr id="15" name="直接连接符 14"/>
          <p:cNvCxnSpPr/>
          <p:nvPr/>
        </p:nvCxnSpPr>
        <p:spPr>
          <a:xfrm>
            <a:off x="7324268" y="2021348"/>
            <a:ext cx="2628000" cy="0"/>
          </a:xfrm>
          <a:prstGeom prst="line">
            <a:avLst/>
          </a:prstGeom>
          <a:noFill/>
          <a:ln w="12700" cap="flat" cmpd="sng" algn="ctr">
            <a:solidFill>
              <a:srgbClr val="000000"/>
            </a:solidFill>
            <a:prstDash val="solid"/>
            <a:miter lim="800000"/>
          </a:ln>
          <a:effectLst/>
        </p:spPr>
      </p:cxnSp>
      <p:sp>
        <p:nvSpPr>
          <p:cNvPr id="16" name="文本框 15"/>
          <p:cNvSpPr txBox="1"/>
          <p:nvPr/>
        </p:nvSpPr>
        <p:spPr>
          <a:xfrm>
            <a:off x="7316748" y="1625358"/>
            <a:ext cx="2627990"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Previous Stack Frame</a:t>
            </a:r>
          </a:p>
        </p:txBody>
      </p:sp>
      <p:cxnSp>
        <p:nvCxnSpPr>
          <p:cNvPr id="17" name="直接连接符 16"/>
          <p:cNvCxnSpPr/>
          <p:nvPr/>
        </p:nvCxnSpPr>
        <p:spPr>
          <a:xfrm>
            <a:off x="7330033" y="3051411"/>
            <a:ext cx="2628000" cy="0"/>
          </a:xfrm>
          <a:prstGeom prst="line">
            <a:avLst/>
          </a:prstGeom>
          <a:noFill/>
          <a:ln w="12700" cap="flat" cmpd="sng" algn="ctr">
            <a:solidFill>
              <a:srgbClr val="000000"/>
            </a:solidFill>
            <a:prstDash val="solid"/>
            <a:miter lim="800000"/>
          </a:ln>
          <a:effectLst/>
        </p:spPr>
      </p:cxnSp>
      <p:cxnSp>
        <p:nvCxnSpPr>
          <p:cNvPr id="18" name="直接连接符 17"/>
          <p:cNvCxnSpPr/>
          <p:nvPr/>
        </p:nvCxnSpPr>
        <p:spPr>
          <a:xfrm>
            <a:off x="7330033" y="2431716"/>
            <a:ext cx="2628000" cy="0"/>
          </a:xfrm>
          <a:prstGeom prst="line">
            <a:avLst/>
          </a:prstGeom>
          <a:noFill/>
          <a:ln w="12700" cap="flat" cmpd="sng" algn="ctr">
            <a:solidFill>
              <a:srgbClr val="000000"/>
            </a:solidFill>
            <a:prstDash val="solid"/>
            <a:miter lim="800000"/>
          </a:ln>
          <a:effectLst/>
        </p:spPr>
      </p:cxnSp>
      <p:sp>
        <p:nvSpPr>
          <p:cNvPr id="19" name="任意多边形: 形状 18"/>
          <p:cNvSpPr/>
          <p:nvPr/>
        </p:nvSpPr>
        <p:spPr>
          <a:xfrm>
            <a:off x="6987380" y="1548076"/>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w="12700" cap="flat" cmpd="sng" algn="ctr">
            <a:solidFill>
              <a:srgbClr val="C00000"/>
            </a:solidFill>
            <a:prstDash val="solid"/>
            <a:miter lim="800000"/>
            <a:headEnd type="non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微软雅黑" panose="020B0503020204020204" pitchFamily="34" charset="-122"/>
              <a:cs typeface="+mn-cs"/>
            </a:endParaRPr>
          </a:p>
        </p:txBody>
      </p:sp>
      <p:sp>
        <p:nvSpPr>
          <p:cNvPr id="20" name="文本框 19"/>
          <p:cNvSpPr txBox="1"/>
          <p:nvPr/>
        </p:nvSpPr>
        <p:spPr>
          <a:xfrm>
            <a:off x="7338495" y="2546610"/>
            <a:ext cx="2627993" cy="369332"/>
          </a:xfrm>
          <a:prstGeom prst="rect">
            <a:avLst/>
          </a:prstGeom>
          <a:noFill/>
        </p:spPr>
        <p:txBody>
          <a:bodyPr wrap="square" rtlCol="0">
            <a:spAutoFit/>
          </a:bodyPr>
          <a:lstStyle/>
          <a:p>
            <a:pPr algn="ctr"/>
            <a:r>
              <a:rPr lang="en-US" altLang="zh-CN" dirty="0">
                <a:solidFill>
                  <a:srgbClr val="C00000"/>
                </a:solidFill>
                <a:ea typeface="微软雅黑" panose="020B0503020204020204" pitchFamily="34" charset="-122"/>
              </a:rPr>
              <a:t>Local Variables</a:t>
            </a:r>
          </a:p>
        </p:txBody>
      </p:sp>
      <p:cxnSp>
        <p:nvCxnSpPr>
          <p:cNvPr id="21" name="直接连接符 20"/>
          <p:cNvCxnSpPr/>
          <p:nvPr/>
        </p:nvCxnSpPr>
        <p:spPr>
          <a:xfrm>
            <a:off x="7330926" y="3606148"/>
            <a:ext cx="2628000" cy="0"/>
          </a:xfrm>
          <a:prstGeom prst="line">
            <a:avLst/>
          </a:prstGeom>
          <a:noFill/>
          <a:ln w="12700" cap="flat" cmpd="sng" algn="ctr">
            <a:solidFill>
              <a:srgbClr val="000000"/>
            </a:solidFill>
            <a:prstDash val="solid"/>
            <a:miter lim="800000"/>
          </a:ln>
          <a:effectLst/>
        </p:spPr>
      </p:cxnSp>
      <p:sp>
        <p:nvSpPr>
          <p:cNvPr id="22" name="文本框 21"/>
          <p:cNvSpPr txBox="1"/>
          <p:nvPr/>
        </p:nvSpPr>
        <p:spPr>
          <a:xfrm>
            <a:off x="7338494" y="3150985"/>
            <a:ext cx="2627993" cy="369332"/>
          </a:xfrm>
          <a:prstGeom prst="rect">
            <a:avLst/>
          </a:prstGeom>
          <a:noFill/>
        </p:spPr>
        <p:txBody>
          <a:bodyPr wrap="square" rtlCol="0">
            <a:spAutoFit/>
          </a:bodyPr>
          <a:lstStyle/>
          <a:p>
            <a:pPr algn="ctr"/>
            <a:r>
              <a:rPr lang="en-US" altLang="zh-CN" dirty="0">
                <a:solidFill>
                  <a:srgbClr val="C00000"/>
                </a:solidFill>
                <a:ea typeface="微软雅黑" panose="020B0503020204020204" pitchFamily="34" charset="-122"/>
              </a:rPr>
              <a:t> Arguments n … 1</a:t>
            </a:r>
          </a:p>
        </p:txBody>
      </p:sp>
      <p:cxnSp>
        <p:nvCxnSpPr>
          <p:cNvPr id="23" name="直接连接符 22"/>
          <p:cNvCxnSpPr/>
          <p:nvPr/>
        </p:nvCxnSpPr>
        <p:spPr>
          <a:xfrm>
            <a:off x="7327765" y="4042817"/>
            <a:ext cx="2628000" cy="0"/>
          </a:xfrm>
          <a:prstGeom prst="line">
            <a:avLst/>
          </a:prstGeom>
          <a:noFill/>
          <a:ln w="12700" cap="flat" cmpd="sng" algn="ctr">
            <a:solidFill>
              <a:srgbClr val="000000"/>
            </a:solidFill>
            <a:prstDash val="solid"/>
            <a:miter lim="800000"/>
          </a:ln>
          <a:effectLst/>
        </p:spPr>
      </p:cxnSp>
      <p:sp>
        <p:nvSpPr>
          <p:cNvPr id="24" name="文本框 23"/>
          <p:cNvSpPr txBox="1"/>
          <p:nvPr/>
        </p:nvSpPr>
        <p:spPr>
          <a:xfrm>
            <a:off x="7324316" y="3642739"/>
            <a:ext cx="2627993" cy="369332"/>
          </a:xfrm>
          <a:prstGeom prst="rect">
            <a:avLst/>
          </a:prstGeom>
          <a:noFill/>
        </p:spPr>
        <p:txBody>
          <a:bodyPr wrap="square" rtlCol="0">
            <a:spAutoFit/>
          </a:bodyPr>
          <a:lstStyle/>
          <a:p>
            <a:pPr algn="ctr"/>
            <a:r>
              <a:rPr lang="en-US" altLang="zh-CN" dirty="0">
                <a:solidFill>
                  <a:srgbClr val="C00000"/>
                </a:solidFill>
                <a:ea typeface="微软雅黑" panose="020B0503020204020204" pitchFamily="34" charset="-122"/>
              </a:rPr>
              <a:t>Return Address</a:t>
            </a:r>
          </a:p>
        </p:txBody>
      </p:sp>
      <p:sp>
        <p:nvSpPr>
          <p:cNvPr id="25" name="文本框 24"/>
          <p:cNvSpPr txBox="1"/>
          <p:nvPr/>
        </p:nvSpPr>
        <p:spPr>
          <a:xfrm>
            <a:off x="7330926" y="4093527"/>
            <a:ext cx="2627993" cy="369332"/>
          </a:xfrm>
          <a:prstGeom prst="rect">
            <a:avLst/>
          </a:prstGeom>
          <a:noFill/>
        </p:spPr>
        <p:txBody>
          <a:bodyPr wrap="square" rtlCol="0">
            <a:spAutoFit/>
          </a:bodyPr>
          <a:lstStyle/>
          <a:p>
            <a:pPr algn="ctr"/>
            <a:r>
              <a:rPr lang="en-US" altLang="zh-CN" dirty="0">
                <a:solidFill>
                  <a:srgbClr val="2980B9"/>
                </a:solidFill>
                <a:ea typeface="微软雅黑" panose="020B0503020204020204" pitchFamily="34" charset="-122"/>
              </a:rPr>
              <a:t>EBP of Caller</a:t>
            </a:r>
          </a:p>
        </p:txBody>
      </p:sp>
      <p:cxnSp>
        <p:nvCxnSpPr>
          <p:cNvPr id="26" name="直接连接符 25"/>
          <p:cNvCxnSpPr/>
          <p:nvPr/>
        </p:nvCxnSpPr>
        <p:spPr>
          <a:xfrm>
            <a:off x="7330026" y="4492878"/>
            <a:ext cx="2628000" cy="0"/>
          </a:xfrm>
          <a:prstGeom prst="line">
            <a:avLst/>
          </a:prstGeom>
          <a:noFill/>
          <a:ln w="12700" cap="flat" cmpd="sng" algn="ctr">
            <a:solidFill>
              <a:srgbClr val="000000"/>
            </a:solidFill>
            <a:prstDash val="solid"/>
            <a:miter lim="800000"/>
          </a:ln>
          <a:effectLst/>
        </p:spPr>
      </p:cxnSp>
      <p:sp>
        <p:nvSpPr>
          <p:cNvPr id="27" name="任意多边形: 形状 26"/>
          <p:cNvSpPr/>
          <p:nvPr/>
        </p:nvSpPr>
        <p:spPr>
          <a:xfrm>
            <a:off x="6866195" y="2330274"/>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w="12700" cap="flat" cmpd="sng" algn="ctr">
            <a:solidFill>
              <a:srgbClr val="2980B9"/>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微软雅黑" panose="020B0503020204020204" pitchFamily="34" charset="-122"/>
              <a:cs typeface="+mn-cs"/>
            </a:endParaRPr>
          </a:p>
        </p:txBody>
      </p:sp>
      <p:cxnSp>
        <p:nvCxnSpPr>
          <p:cNvPr id="28" name="直接连接符 27"/>
          <p:cNvCxnSpPr/>
          <p:nvPr/>
        </p:nvCxnSpPr>
        <p:spPr>
          <a:xfrm>
            <a:off x="7329985" y="5434933"/>
            <a:ext cx="2628000" cy="0"/>
          </a:xfrm>
          <a:prstGeom prst="line">
            <a:avLst/>
          </a:prstGeom>
          <a:noFill/>
          <a:ln w="12700" cap="flat" cmpd="sng" algn="ctr">
            <a:solidFill>
              <a:srgbClr val="000000"/>
            </a:solidFill>
            <a:prstDash val="solid"/>
            <a:miter lim="800000"/>
          </a:ln>
          <a:effectLst/>
        </p:spPr>
      </p:cxnSp>
      <p:sp>
        <p:nvSpPr>
          <p:cNvPr id="29" name="文本框 28"/>
          <p:cNvSpPr txBox="1"/>
          <p:nvPr/>
        </p:nvSpPr>
        <p:spPr>
          <a:xfrm>
            <a:off x="7338447" y="4786911"/>
            <a:ext cx="2627993" cy="369332"/>
          </a:xfrm>
          <a:prstGeom prst="rect">
            <a:avLst/>
          </a:prstGeom>
          <a:noFill/>
        </p:spPr>
        <p:txBody>
          <a:bodyPr wrap="square" rtlCol="0">
            <a:spAutoFit/>
          </a:bodyPr>
          <a:lstStyle/>
          <a:p>
            <a:pPr algn="ctr"/>
            <a:r>
              <a:rPr lang="en-US" altLang="zh-CN" dirty="0">
                <a:solidFill>
                  <a:srgbClr val="2980B9"/>
                </a:solidFill>
                <a:ea typeface="微软雅黑" panose="020B0503020204020204" pitchFamily="34" charset="-122"/>
              </a:rPr>
              <a:t>Local Variables</a:t>
            </a:r>
          </a:p>
        </p:txBody>
      </p:sp>
      <p:grpSp>
        <p:nvGrpSpPr>
          <p:cNvPr id="30" name="组合 29"/>
          <p:cNvGrpSpPr/>
          <p:nvPr/>
        </p:nvGrpSpPr>
        <p:grpSpPr>
          <a:xfrm>
            <a:off x="7327947" y="3601462"/>
            <a:ext cx="2629016" cy="1833468"/>
            <a:chOff x="9893611" y="3595747"/>
            <a:chExt cx="2629016" cy="1833468"/>
          </a:xfrm>
        </p:grpSpPr>
        <p:sp>
          <p:nvSpPr>
            <p:cNvPr id="31" name="矩形 30"/>
            <p:cNvSpPr/>
            <p:nvPr/>
          </p:nvSpPr>
          <p:spPr>
            <a:xfrm>
              <a:off x="9893693" y="4038478"/>
              <a:ext cx="2628934" cy="1390737"/>
            </a:xfrm>
            <a:prstGeom prst="rect">
              <a:avLst/>
            </a:prstGeom>
            <a:solidFill>
              <a:srgbClr val="C00000"/>
            </a:solidFill>
            <a:ln w="190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rPr>
                <a:t>Padding Payload</a:t>
              </a:r>
              <a:endParaRPr kumimoji="0" lang="zh-CN" altLang="en-US" sz="1800" b="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endParaRPr>
            </a:p>
          </p:txBody>
        </p:sp>
        <p:cxnSp>
          <p:nvCxnSpPr>
            <p:cNvPr id="32" name="直接连接符 31"/>
            <p:cNvCxnSpPr/>
            <p:nvPr/>
          </p:nvCxnSpPr>
          <p:spPr>
            <a:xfrm>
              <a:off x="9893611" y="4073064"/>
              <a:ext cx="2628000" cy="0"/>
            </a:xfrm>
            <a:prstGeom prst="line">
              <a:avLst/>
            </a:prstGeom>
            <a:noFill/>
            <a:ln w="12700" cap="flat" cmpd="sng" algn="ctr">
              <a:solidFill>
                <a:srgbClr val="FFFFFF"/>
              </a:solidFill>
              <a:prstDash val="solid"/>
              <a:miter lim="800000"/>
            </a:ln>
            <a:effectLst/>
          </p:spPr>
        </p:cxnSp>
        <p:sp>
          <p:nvSpPr>
            <p:cNvPr id="33" name="矩形 32"/>
            <p:cNvSpPr/>
            <p:nvPr/>
          </p:nvSpPr>
          <p:spPr>
            <a:xfrm>
              <a:off x="9893611" y="3595747"/>
              <a:ext cx="2628934" cy="447444"/>
            </a:xfrm>
            <a:prstGeom prst="rect">
              <a:avLst/>
            </a:prstGeom>
            <a:solidFill>
              <a:srgbClr val="C00000"/>
            </a:solidFill>
            <a:ln w="190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rPr>
                <a:t>Fake Return Address</a:t>
              </a:r>
              <a:endParaRPr kumimoji="0" lang="zh-CN" altLang="en-US" sz="1800" b="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endParaRPr>
            </a:p>
          </p:txBody>
        </p:sp>
      </p:grpSp>
      <p:sp>
        <p:nvSpPr>
          <p:cNvPr id="34" name="文本框 33"/>
          <p:cNvSpPr txBox="1"/>
          <p:nvPr/>
        </p:nvSpPr>
        <p:spPr>
          <a:xfrm>
            <a:off x="10484564" y="5814092"/>
            <a:ext cx="920578"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stdin</a:t>
            </a:r>
            <a:endParaRPr lang="zh-CN" altLang="en-US" dirty="0">
              <a:solidFill>
                <a:srgbClr val="000000"/>
              </a:solidFill>
              <a:ea typeface="微软雅黑" panose="020B0503020204020204" pitchFamily="34" charset="-122"/>
            </a:endParaRPr>
          </a:p>
        </p:txBody>
      </p:sp>
      <p:sp>
        <p:nvSpPr>
          <p:cNvPr id="35" name="任意多边形: 形状 34"/>
          <p:cNvSpPr/>
          <p:nvPr/>
        </p:nvSpPr>
        <p:spPr>
          <a:xfrm>
            <a:off x="9994984" y="5437031"/>
            <a:ext cx="947451" cy="341523"/>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w="12700" cap="flat" cmpd="sng" algn="ctr">
            <a:solidFill>
              <a:srgbClr val="00000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微软雅黑" panose="020B0503020204020204" pitchFamily="34" charset="-122"/>
              <a:cs typeface="+mn-cs"/>
            </a:endParaRPr>
          </a:p>
        </p:txBody>
      </p:sp>
      <p:grpSp>
        <p:nvGrpSpPr>
          <p:cNvPr id="36" name="组合 35"/>
          <p:cNvGrpSpPr/>
          <p:nvPr/>
        </p:nvGrpSpPr>
        <p:grpSpPr>
          <a:xfrm>
            <a:off x="10689045" y="2697650"/>
            <a:ext cx="716097" cy="369332"/>
            <a:chOff x="10697378" y="2404853"/>
            <a:chExt cx="716097" cy="369332"/>
          </a:xfrm>
        </p:grpSpPr>
        <p:sp>
          <p:nvSpPr>
            <p:cNvPr id="37" name="椭圆 36"/>
            <p:cNvSpPr/>
            <p:nvPr/>
          </p:nvSpPr>
          <p:spPr>
            <a:xfrm>
              <a:off x="10697378" y="2540895"/>
              <a:ext cx="81119" cy="81119"/>
            </a:xfrm>
            <a:prstGeom prst="ellipse">
              <a:avLst/>
            </a:prstGeom>
            <a:solidFill>
              <a:srgbClr val="000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微软雅黑" panose="020B0503020204020204" pitchFamily="34" charset="-122"/>
                <a:cs typeface="+mn-cs"/>
              </a:endParaRPr>
            </a:p>
          </p:txBody>
        </p:sp>
        <p:sp>
          <p:nvSpPr>
            <p:cNvPr id="38" name="文本框 37"/>
            <p:cNvSpPr txBox="1"/>
            <p:nvPr/>
          </p:nvSpPr>
          <p:spPr>
            <a:xfrm>
              <a:off x="10767480" y="2404853"/>
              <a:ext cx="64599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uLnTx/>
                  <a:uFillTx/>
                  <a:ea typeface="微软雅黑" panose="020B0503020204020204" pitchFamily="34" charset="-122"/>
                </a:rPr>
                <a:t>EIP</a:t>
              </a:r>
              <a:endParaRPr kumimoji="0" lang="zh-CN" altLang="en-US" sz="1800" b="0" i="0" u="none" strike="noStrike" kern="0" cap="none" spc="0" normalizeH="0" baseline="0" noProof="0" dirty="0">
                <a:ln>
                  <a:noFill/>
                </a:ln>
                <a:solidFill>
                  <a:srgbClr val="000000"/>
                </a:solidFill>
                <a:effectLst/>
                <a:uLnTx/>
                <a:uFillTx/>
                <a:ea typeface="微软雅黑" panose="020B0503020204020204" pitchFamily="34" charset="-122"/>
              </a:endParaRPr>
            </a:p>
          </p:txBody>
        </p:sp>
      </p:grpSp>
      <p:sp>
        <p:nvSpPr>
          <p:cNvPr id="39" name="任意多边形: 形状 38"/>
          <p:cNvSpPr/>
          <p:nvPr/>
        </p:nvSpPr>
        <p:spPr>
          <a:xfrm>
            <a:off x="10033714" y="3041146"/>
            <a:ext cx="716437" cy="829559"/>
          </a:xfrm>
          <a:custGeom>
            <a:avLst/>
            <a:gdLst>
              <a:gd name="connsiteX0" fmla="*/ 716437 w 716437"/>
              <a:gd name="connsiteY0" fmla="*/ 0 h 829559"/>
              <a:gd name="connsiteX1" fmla="*/ 716437 w 716437"/>
              <a:gd name="connsiteY1" fmla="*/ 829559 h 829559"/>
              <a:gd name="connsiteX2" fmla="*/ 0 w 716437"/>
              <a:gd name="connsiteY2" fmla="*/ 829559 h 829559"/>
            </a:gdLst>
            <a:ahLst/>
            <a:cxnLst>
              <a:cxn ang="0">
                <a:pos x="connsiteX0" y="connsiteY0"/>
              </a:cxn>
              <a:cxn ang="0">
                <a:pos x="connsiteX1" y="connsiteY1"/>
              </a:cxn>
              <a:cxn ang="0">
                <a:pos x="connsiteX2" y="connsiteY2"/>
              </a:cxn>
            </a:cxnLst>
            <a:rect l="l" t="t" r="r" b="b"/>
            <a:pathLst>
              <a:path w="716437" h="829559">
                <a:moveTo>
                  <a:pt x="716437" y="0"/>
                </a:moveTo>
                <a:lnTo>
                  <a:pt x="716437" y="829559"/>
                </a:lnTo>
                <a:lnTo>
                  <a:pt x="0" y="829559"/>
                </a:lnTo>
              </a:path>
            </a:pathLst>
          </a:custGeom>
          <a:noFill/>
          <a:ln w="12700" cap="flat" cmpd="sng" algn="ctr">
            <a:solidFill>
              <a:srgbClr val="00000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微软雅黑" panose="020B0503020204020204" pitchFamily="34" charset="-122"/>
              <a:cs typeface="+mn-cs"/>
            </a:endParaRPr>
          </a:p>
        </p:txBody>
      </p:sp>
      <p:sp>
        <p:nvSpPr>
          <p:cNvPr id="41" name="矩形 40"/>
          <p:cNvSpPr/>
          <p:nvPr/>
        </p:nvSpPr>
        <p:spPr>
          <a:xfrm>
            <a:off x="10186782" y="2519404"/>
            <a:ext cx="1868355" cy="646331"/>
          </a:xfrm>
          <a:prstGeom prst="rect">
            <a:avLst/>
          </a:prstGeom>
          <a:noFill/>
          <a:ln w="12700" cap="flat" cmpd="sng" algn="ctr">
            <a:solidFill>
              <a:srgbClr val="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endParaRPr>
          </a:p>
        </p:txBody>
      </p:sp>
      <p:sp>
        <p:nvSpPr>
          <p:cNvPr id="42" name="文本框 41"/>
          <p:cNvSpPr txBox="1"/>
          <p:nvPr/>
        </p:nvSpPr>
        <p:spPr>
          <a:xfrm>
            <a:off x="10024275" y="2152806"/>
            <a:ext cx="920578"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CPU</a:t>
            </a:r>
            <a:endParaRPr lang="zh-CN" altLang="en-US" dirty="0">
              <a:solidFill>
                <a:srgbClr val="000000"/>
              </a:solidFill>
              <a:ea typeface="微软雅黑" panose="020B0503020204020204" pitchFamily="34" charset="-122"/>
            </a:endParaRPr>
          </a:p>
        </p:txBody>
      </p:sp>
      <p:sp>
        <p:nvSpPr>
          <p:cNvPr id="47"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實驗六：</a:t>
            </a:r>
            <a:r>
              <a:rPr kumimoji="1" lang="zh-CN" altLang="en-US" dirty="0"/>
              <a:t>簡單棧溢出實驗</a:t>
            </a:r>
          </a:p>
        </p:txBody>
      </p:sp>
      <p:sp>
        <p:nvSpPr>
          <p:cNvPr id="48" name="TextBox 47"/>
          <p:cNvSpPr txBox="1"/>
          <p:nvPr/>
        </p:nvSpPr>
        <p:spPr>
          <a:xfrm>
            <a:off x="9079230" y="136525"/>
            <a:ext cx="2969895"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82625" y="867410"/>
            <a:ext cx="10682605" cy="569595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1009105" y="1635851"/>
            <a:ext cx="10785475" cy="4875530"/>
          </a:xfrm>
          <a:prstGeom prst="rect">
            <a:avLst/>
          </a:prstGeom>
        </p:spPr>
        <p:txBody>
          <a:bodyPr wrap="square">
            <a:noAutofit/>
          </a:bodyPr>
          <a:lstStyle/>
          <a:p>
            <a:pPr lvl="0"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kumimoji="0" lang="zh-CN" altLang="en-US" sz="2000" b="0" i="0" u="none" strike="noStrike" kern="1200" cap="none" spc="0" normalizeH="0" baseline="0" noProof="0" dirty="0">
                <a:ln>
                  <a:noFill/>
                </a:ln>
                <a:uLnTx/>
                <a:uFillTx/>
                <a:latin typeface="微软雅黑" panose="020B0503020204020204" pitchFamily="34" charset="-122"/>
                <a:ea typeface="微软雅黑" panose="020B0503020204020204" pitchFamily="34" charset="-122"/>
                <a:cs typeface="Times New Roman" panose="02020503050405090304" pitchFamily="18" charset="0"/>
              </a:rPr>
              <a:t>實驗需要完成如下步驟：</a:t>
            </a:r>
            <a:endParaRPr kumimoji="0" lang="en-US" altLang="zh-CN" sz="2000" b="0" i="0" u="none" strike="noStrike" kern="1200" cap="none" spc="0" normalizeH="0" baseline="0" noProof="0" dirty="0">
              <a:ln>
                <a:noFill/>
              </a:ln>
              <a:uLnTx/>
              <a:uFillTx/>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20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給出一個</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C</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語言受害程序，包含一個不設長度檢查的 gets 函數調用</a:t>
            </a:r>
          </a:p>
          <a:p>
            <a:pPr lvl="0" latinLnBrk="1">
              <a:lnSpc>
                <a:spcPct val="20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關閉內存防禦方案（</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ASLR</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Stack Canary</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等）的條件下編譯受害程序</a:t>
            </a:r>
          </a:p>
          <a:p>
            <a:pPr lvl="0" latinLnBrk="1">
              <a:lnSpc>
                <a:spcPct val="20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3. </a:t>
            </a:r>
            <a:r>
              <a:rPr sz="2000" dirty="0" err="1">
                <a:latin typeface="微软雅黑" panose="020B0503020204020204" pitchFamily="34" charset="-122"/>
                <a:ea typeface="微软雅黑" panose="020B0503020204020204" pitchFamily="34" charset="-122"/>
                <a:cs typeface="Times New Roman" panose="02020503050405090304" pitchFamily="18" charset="0"/>
              </a:rPr>
              <a:t>對受害程序進行反彙編，幷分析匯編碼</a:t>
            </a:r>
            <a:r>
              <a:rPr lang="zh-CN" sz="2000" dirty="0">
                <a:latin typeface="微软雅黑" panose="020B0503020204020204" pitchFamily="34" charset="-122"/>
                <a:ea typeface="微软雅黑" panose="020B0503020204020204" pitchFamily="34" charset="-122"/>
                <a:cs typeface="Times New Roman" panose="02020503050405090304" pitchFamily="18" charset="0"/>
              </a:rPr>
              <a:t>，可以使用 IDA Pro</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這類專用的逆向分析工具</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20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4.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編寫惡意程序，構造非法輸入，推薦使用 Python 的 pwntools 工具</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20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5.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執行惡意程序，惡意執行目標函數</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7"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實驗六：</a:t>
            </a:r>
            <a:r>
              <a:rPr kumimoji="1" lang="zh-CN" altLang="en-US" dirty="0"/>
              <a:t>簡單棧溢出實驗</a:t>
            </a:r>
          </a:p>
        </p:txBody>
      </p:sp>
      <p:sp>
        <p:nvSpPr>
          <p:cNvPr id="8" name="TextBox 7"/>
          <p:cNvSpPr txBox="1"/>
          <p:nvPr/>
        </p:nvSpPr>
        <p:spPr>
          <a:xfrm>
            <a:off x="9102725" y="136525"/>
            <a:ext cx="294640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73025" y="819785"/>
            <a:ext cx="7400290" cy="603821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43" name="TextBox 42"/>
          <p:cNvSpPr txBox="1"/>
          <p:nvPr/>
        </p:nvSpPr>
        <p:spPr>
          <a:xfrm>
            <a:off x="111760" y="1137285"/>
            <a:ext cx="7362190" cy="5477510"/>
          </a:xfrm>
          <a:prstGeom prst="rect">
            <a:avLst/>
          </a:prstGeom>
          <a:noFill/>
        </p:spPr>
        <p:txBody>
          <a:bodyPr wrap="square">
            <a:noAutofit/>
          </a:bodyPr>
          <a:lstStyle/>
          <a:p>
            <a:pPr lvl="0"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嘗試複現真實世界當中的</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Nginx</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的棧溢出漏洞：</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CVE-2013-2028</a:t>
            </a:r>
            <a:endParaRPr lang="en-US" altLang="zh-CN"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掌握在現實世界中可行的漏洞利用技巧：</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BROP</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，理解</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BROP</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如何繞過</a:t>
            </a: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Canary</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ASLR</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等防禦機制</a:t>
            </a:r>
          </a:p>
          <a:p>
            <a:pPr lvl="0" latinLnBrk="1">
              <a:lnSpc>
                <a:spcPct val="15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實驗要求：</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1. </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去</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CVE</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中檢索該漏洞相關的信息</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2.</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 部署存在漏洞的</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Nginx</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版本</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3. </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編寫漏洞利用源代碼，可使用現有工具庫，亦可參考現有源代碼，但需要在實驗報告中標明出處，禁止抄襲源代碼</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4. </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連接</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Shell</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，完全控制</a:t>
            </a:r>
            <a:r>
              <a:rPr lang="en-US" altLang="zh-CN" dirty="0">
                <a:latin typeface="微软雅黑" panose="020B0503020204020204" pitchFamily="34" charset="-122"/>
                <a:ea typeface="微软雅黑" panose="020B0503020204020204" pitchFamily="34" charset="-122"/>
                <a:cs typeface="Times New Roman" panose="02020503050405090304" pitchFamily="18" charset="0"/>
                <a:sym typeface="+mn-ea"/>
              </a:rPr>
              <a:t>Nginx</a:t>
            </a:r>
            <a:r>
              <a:rPr lang="zh-CN" altLang="en-US" dirty="0">
                <a:latin typeface="微软雅黑" panose="020B0503020204020204" pitchFamily="34" charset="-122"/>
                <a:ea typeface="微软雅黑" panose="020B0503020204020204" pitchFamily="34" charset="-122"/>
                <a:cs typeface="Times New Roman" panose="02020503050405090304" pitchFamily="18" charset="0"/>
                <a:sym typeface="+mn-ea"/>
              </a:rPr>
              <a:t>服務器，幷嘗試訪問受害服務其文件系統</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a:p>
            <a:pPr lvl="0" latinLnBrk="1">
              <a:lnSpc>
                <a:spcPct val="15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實驗資料：</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marL="457200" lvl="0" indent="-457200" latinLnBrk="1">
              <a:lnSpc>
                <a:spcPct val="150000"/>
              </a:lnSpc>
              <a:buAutoNum type="arabicPeriod"/>
            </a:pPr>
            <a:r>
              <a:rPr lang="en-US" altLang="zh-CN" sz="2000" b="1" dirty="0">
                <a:latin typeface="微软雅黑" panose="020B0503020204020204" pitchFamily="34" charset="-122"/>
                <a:ea typeface="微软雅黑" panose="020B0503020204020204" pitchFamily="34" charset="-122"/>
                <a:cs typeface="Times New Roman" panose="02020503050405090304" pitchFamily="18" charset="0"/>
                <a:sym typeface="+mn-ea"/>
              </a:rPr>
              <a:t>CVE</a:t>
            </a:r>
            <a:r>
              <a:rPr lang="zh-CN" altLang="en-US" sz="2000" b="1" dirty="0">
                <a:latin typeface="微软雅黑" panose="020B0503020204020204" pitchFamily="34" charset="-122"/>
                <a:ea typeface="微软雅黑" panose="020B0503020204020204" pitchFamily="34" charset="-122"/>
                <a:cs typeface="Times New Roman" panose="02020503050405090304" pitchFamily="18" charset="0"/>
                <a:sym typeface="+mn-ea"/>
              </a:rPr>
              <a:t>：</a:t>
            </a:r>
            <a:r>
              <a:rPr lang="en-US" altLang="zh-CN" sz="2000" b="1"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sym typeface="+mn-ea"/>
              </a:rPr>
              <a:t>https://cve.mitre.org/ </a:t>
            </a:r>
          </a:p>
        </p:txBody>
      </p:sp>
      <p:sp>
        <p:nvSpPr>
          <p:cNvPr id="45"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實驗七：</a:t>
            </a:r>
            <a:r>
              <a:rPr kumimoji="1" dirty="0" err="1"/>
              <a:t>基于棧溢出的模擬勒索實驗</a:t>
            </a:r>
            <a:endParaRPr kumimoji="1" dirty="0"/>
          </a:p>
        </p:txBody>
      </p:sp>
      <p:sp>
        <p:nvSpPr>
          <p:cNvPr id="46" name="TextBox 45"/>
          <p:cNvSpPr txBox="1"/>
          <p:nvPr/>
        </p:nvSpPr>
        <p:spPr>
          <a:xfrm>
            <a:off x="9085580" y="136525"/>
            <a:ext cx="2963545"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pic>
        <p:nvPicPr>
          <p:cNvPr id="6" name="Picture 5"/>
          <p:cNvPicPr>
            <a:picLocks noChangeAspect="1"/>
          </p:cNvPicPr>
          <p:nvPr/>
        </p:nvPicPr>
        <p:blipFill rotWithShape="1">
          <a:blip r:embed="rId4"/>
          <a:srcRect r="30531"/>
          <a:stretch>
            <a:fillRect/>
          </a:stretch>
        </p:blipFill>
        <p:spPr>
          <a:xfrm>
            <a:off x="7473005" y="1627270"/>
            <a:ext cx="4518335" cy="3403463"/>
          </a:xfrm>
          <a:prstGeom prst="rect">
            <a:avLst/>
          </a:prstGeom>
          <a:effectLst>
            <a:outerShdw blurRad="50800" dist="38100" dir="2700000" algn="tl" rotWithShape="0">
              <a:prstClr val="black">
                <a:alpha val="40000"/>
              </a:prstClr>
            </a:outerShdw>
          </a:effectLst>
        </p:spPr>
      </p:pic>
      <p:sp>
        <p:nvSpPr>
          <p:cNvPr id="7" name="文本框 11"/>
          <p:cNvSpPr txBox="1"/>
          <p:nvPr/>
        </p:nvSpPr>
        <p:spPr>
          <a:xfrm>
            <a:off x="8342816" y="5137883"/>
            <a:ext cx="2963417" cy="369332"/>
          </a:xfrm>
          <a:prstGeom prst="rect">
            <a:avLst/>
          </a:prstGeom>
          <a:noFill/>
        </p:spPr>
        <p:txBody>
          <a:bodyPr wrap="square" rtlCol="0">
            <a:spAutoFit/>
          </a:bodyPr>
          <a:lstStyle/>
          <a:p>
            <a:pPr algn="ctr"/>
            <a:r>
              <a:rPr lang="en-US" altLang="zh-CN" dirty="0">
                <a:solidFill>
                  <a:srgbClr val="000000"/>
                </a:solidFill>
                <a:ea typeface="微软雅黑" panose="020B0503020204020204" pitchFamily="34" charset="-122"/>
              </a:rPr>
              <a:t>CVE-2013-2028 </a:t>
            </a:r>
            <a:r>
              <a:rPr lang="zh-CN" altLang="en-US" dirty="0">
                <a:solidFill>
                  <a:srgbClr val="000000"/>
                </a:solidFill>
                <a:ea typeface="微软雅黑" panose="020B0503020204020204" pitchFamily="34" charset="-122"/>
              </a:rPr>
              <a:t>檢索結果</a:t>
            </a:r>
            <a:endParaRPr lang="en-US" altLang="zh-CN" dirty="0">
              <a:solidFill>
                <a:srgbClr val="000000"/>
              </a:solidFill>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08965" y="991870"/>
            <a:ext cx="5841365" cy="568960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15" name="标题 1"/>
          <p:cNvSpPr>
            <a:spLocks noGrp="1"/>
          </p:cNvSpPr>
          <p:nvPr>
            <p:ph type="title"/>
          </p:nvPr>
        </p:nvSpPr>
        <p:spPr>
          <a:xfrm>
            <a:off x="1131376" y="136525"/>
            <a:ext cx="8022720" cy="725407"/>
          </a:xfrm>
        </p:spPr>
        <p:txBody>
          <a:bodyPr vert="horz" lIns="91440" tIns="45720" rIns="91440" bIns="45720" rtlCol="0" anchor="ctr">
            <a:normAutofit/>
          </a:bodyPr>
          <a:lstStyle/>
          <a:p>
            <a:r>
              <a:rPr kumimoji="1" lang="zh-CN" altLang="en-US" dirty="0">
                <a:solidFill>
                  <a:schemeClr val="tx1"/>
                </a:solidFill>
              </a:rPr>
              <a:t>實驗八： </a:t>
            </a:r>
            <a:r>
              <a:rPr kumimoji="1" lang="en-US" altLang="zh-CN" dirty="0"/>
              <a:t>SYN</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洪泛</a:t>
            </a:r>
            <a:r>
              <a:rPr kumimoji="1" lang="zh-CN" altLang="en-US" dirty="0"/>
              <a:t>攻擊</a:t>
            </a:r>
          </a:p>
        </p:txBody>
      </p:sp>
      <p:sp>
        <p:nvSpPr>
          <p:cNvPr id="16" name="TextBox 15"/>
          <p:cNvSpPr txBox="1"/>
          <p:nvPr/>
        </p:nvSpPr>
        <p:spPr>
          <a:xfrm>
            <a:off x="9121775" y="136525"/>
            <a:ext cx="292735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8" name="TextBox 17"/>
          <p:cNvSpPr txBox="1"/>
          <p:nvPr/>
        </p:nvSpPr>
        <p:spPr>
          <a:xfrm>
            <a:off x="1013640" y="1655355"/>
            <a:ext cx="5081270" cy="4639090"/>
          </a:xfrm>
          <a:prstGeom prst="rect">
            <a:avLst/>
          </a:prstGeom>
          <a:noFill/>
        </p:spPr>
        <p:txBody>
          <a:bodyPr wrap="square">
            <a:spAutoFit/>
          </a:bodyPr>
          <a:lstStyle/>
          <a:p>
            <a:pPr lvl="0" algn="just"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DDoS</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攻擊天天都在發生，簡單洪泛式</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DDoS</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攻擊的代表是</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SYN</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洪泛攻擊</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a:lnSpc>
                <a:spcPct val="100000"/>
              </a:lnSpc>
              <a:spcBef>
                <a:spcPts val="600"/>
              </a:spcBef>
              <a:spcAft>
                <a:spcPts val="600"/>
              </a:spcAft>
            </a:pPr>
            <a:r>
              <a:rPr lang="en-US" altLang="zh-CN" sz="1800" kern="100" dirty="0">
                <a:effectLst/>
                <a:latin typeface="微软雅黑" panose="020B0503020204020204" pitchFamily="34" charset="-122"/>
                <a:ea typeface="微软雅黑" panose="020B0503020204020204" pitchFamily="34" charset="-122"/>
              </a:rPr>
              <a:t>1. </a:t>
            </a:r>
            <a:r>
              <a:rPr lang="zh-CN" altLang="en-US" sz="1800" kern="100" dirty="0">
                <a:effectLst/>
                <a:latin typeface="微软雅黑" panose="020B0503020204020204" pitchFamily="34" charset="-122"/>
                <a:ea typeface="微软雅黑" panose="020B0503020204020204" pitchFamily="34" charset="-122"/>
              </a:rPr>
              <a:t>部署一台受害</a:t>
            </a:r>
            <a:r>
              <a:rPr lang="en-US" altLang="zh-CN" sz="1800" kern="100" dirty="0">
                <a:effectLst/>
                <a:latin typeface="微软雅黑" panose="020B0503020204020204" pitchFamily="34" charset="-122"/>
                <a:ea typeface="微软雅黑" panose="020B0503020204020204" pitchFamily="34" charset="-122"/>
              </a:rPr>
              <a:t>Web</a:t>
            </a:r>
            <a:r>
              <a:rPr lang="zh-CN" altLang="en-US" sz="1800" kern="100" dirty="0">
                <a:effectLst/>
                <a:latin typeface="微软雅黑" panose="020B0503020204020204" pitchFamily="34" charset="-122"/>
                <a:ea typeface="微软雅黑" panose="020B0503020204020204" pitchFamily="34" charset="-122"/>
              </a:rPr>
              <a:t>服務器，測量訪問時延</a:t>
            </a:r>
            <a:endParaRPr lang="en-US" altLang="zh-CN" sz="1800" kern="100" dirty="0">
              <a:effectLst/>
              <a:latin typeface="微软雅黑" panose="020B0503020204020204" pitchFamily="34" charset="-122"/>
              <a:ea typeface="微软雅黑" panose="020B0503020204020204" pitchFamily="34" charset="-122"/>
            </a:endParaRPr>
          </a:p>
          <a:p>
            <a:pPr algn="just">
              <a:lnSpc>
                <a:spcPct val="100000"/>
              </a:lnSpc>
              <a:spcBef>
                <a:spcPts val="600"/>
              </a:spcBef>
              <a:spcAft>
                <a:spcPts val="600"/>
              </a:spcAft>
            </a:pPr>
            <a:r>
              <a:rPr lang="en-US" altLang="zh-CN" sz="1800" kern="100" dirty="0">
                <a:effectLst/>
                <a:latin typeface="微软雅黑" panose="020B0503020204020204" pitchFamily="34" charset="-122"/>
                <a:ea typeface="微软雅黑" panose="020B0503020204020204" pitchFamily="34" charset="-122"/>
              </a:rPr>
              <a:t>2.</a:t>
            </a:r>
            <a:r>
              <a:rPr dirty="0">
                <a:latin typeface="微软雅黑" panose="020B0503020204020204" pitchFamily="34" charset="-122"/>
                <a:ea typeface="微软雅黑" panose="020B0503020204020204" pitchFamily="34" charset="-122"/>
              </a:rPr>
              <a:t>攻擊者啓動 50 </a:t>
            </a:r>
            <a:r>
              <a:rPr dirty="0" err="1">
                <a:latin typeface="微软雅黑" panose="020B0503020204020204" pitchFamily="34" charset="-122"/>
                <a:ea typeface="微软雅黑" panose="020B0503020204020204" pitchFamily="34" charset="-122"/>
              </a:rPr>
              <a:t>個綫程，調用</a:t>
            </a:r>
            <a:r>
              <a:rPr dirty="0">
                <a:latin typeface="微软雅黑" panose="020B0503020204020204" pitchFamily="34" charset="-122"/>
                <a:ea typeface="微软雅黑" panose="020B0503020204020204" pitchFamily="34" charset="-122"/>
              </a:rPr>
              <a:t> </a:t>
            </a:r>
            <a:r>
              <a:rPr dirty="0" err="1">
                <a:latin typeface="微软雅黑" panose="020B0503020204020204" pitchFamily="34" charset="-122"/>
                <a:ea typeface="微软雅黑" panose="020B0503020204020204" pitchFamily="34" charset="-122"/>
              </a:rPr>
              <a:t>Scapy</a:t>
            </a:r>
            <a:r>
              <a:rPr dirty="0">
                <a:latin typeface="微软雅黑" panose="020B0503020204020204" pitchFamily="34" charset="-122"/>
                <a:ea typeface="微软雅黑" panose="020B0503020204020204" pitchFamily="34" charset="-122"/>
              </a:rPr>
              <a:t> </a:t>
            </a:r>
            <a:r>
              <a:rPr dirty="0" err="1">
                <a:latin typeface="微软雅黑" panose="020B0503020204020204" pitchFamily="34" charset="-122"/>
                <a:ea typeface="微软雅黑" panose="020B0503020204020204" pitchFamily="34" charset="-122"/>
              </a:rPr>
              <a:t>庫，持續僞造</a:t>
            </a:r>
            <a:r>
              <a:rPr dirty="0">
                <a:latin typeface="微软雅黑" panose="020B0503020204020204" pitchFamily="34" charset="-122"/>
                <a:ea typeface="微软雅黑" panose="020B0503020204020204" pitchFamily="34" charset="-122"/>
              </a:rPr>
              <a:t> SYN </a:t>
            </a:r>
            <a:r>
              <a:rPr dirty="0" err="1">
                <a:latin typeface="微软雅黑" panose="020B0503020204020204" pitchFamily="34" charset="-122"/>
                <a:ea typeface="微软雅黑" panose="020B0503020204020204" pitchFamily="34" charset="-122"/>
              </a:rPr>
              <a:t>請求報文</a:t>
            </a:r>
            <a:endParaRPr dirty="0">
              <a:latin typeface="微软雅黑" panose="020B0503020204020204" pitchFamily="34" charset="-122"/>
              <a:ea typeface="微软雅黑" panose="020B0503020204020204" pitchFamily="34" charset="-122"/>
            </a:endParaRPr>
          </a:p>
          <a:p>
            <a:pPr algn="just">
              <a:lnSpc>
                <a:spcPct val="100000"/>
              </a:lnSpc>
              <a:spcBef>
                <a:spcPts val="600"/>
              </a:spcBef>
              <a:spcAft>
                <a:spcPts val="600"/>
              </a:spcAft>
            </a:pPr>
            <a:r>
              <a:rPr lang="en-US" dirty="0">
                <a:latin typeface="微软雅黑" panose="020B0503020204020204" pitchFamily="34" charset="-122"/>
                <a:ea typeface="微软雅黑" panose="020B0503020204020204" pitchFamily="34" charset="-122"/>
              </a:rPr>
              <a:t>3.在客戶端再次啓動瀏覽器</a:t>
            </a:r>
            <a:r>
              <a:rPr lang="zh-CN" altLang="en-US" dirty="0">
                <a:latin typeface="微软雅黑" panose="020B0503020204020204" pitchFamily="34" charset="-122"/>
                <a:ea typeface="微软雅黑" panose="020B0503020204020204" pitchFamily="34" charset="-122"/>
              </a:rPr>
              <a:t>，發現對應</a:t>
            </a:r>
            <a:r>
              <a:rPr lang="en-US" dirty="0">
                <a:latin typeface="微软雅黑" panose="020B0503020204020204" pitchFamily="34" charset="-122"/>
                <a:ea typeface="微软雅黑" panose="020B0503020204020204" pitchFamily="34" charset="-122"/>
              </a:rPr>
              <a:t>Web </a:t>
            </a:r>
            <a:r>
              <a:rPr lang="en-US" dirty="0" err="1">
                <a:latin typeface="微软雅黑" panose="020B0503020204020204" pitchFamily="34" charset="-122"/>
                <a:ea typeface="微软雅黑" panose="020B0503020204020204" pitchFamily="34" charset="-122"/>
              </a:rPr>
              <a:t>頁面無法打開（或存在很大延時</a:t>
            </a:r>
            <a:r>
              <a:rPr lang="en-US" dirty="0">
                <a:latin typeface="微软雅黑" panose="020B0503020204020204" pitchFamily="34" charset="-122"/>
                <a:ea typeface="微软雅黑" panose="020B0503020204020204" pitchFamily="34" charset="-122"/>
              </a:rPr>
              <a:t>）</a:t>
            </a:r>
          </a:p>
          <a:p>
            <a:pPr algn="just">
              <a:lnSpc>
                <a:spcPct val="100000"/>
              </a:lnSpc>
              <a:spcBef>
                <a:spcPts val="600"/>
              </a:spcBef>
              <a:spcAft>
                <a:spcPts val="600"/>
              </a:spcAft>
            </a:pPr>
            <a:endParaRPr lang="en-US" dirty="0">
              <a:latin typeface="微软雅黑" panose="020B0503020204020204" pitchFamily="34" charset="-122"/>
              <a:ea typeface="微软雅黑" panose="020B0503020204020204" pitchFamily="34" charset="-122"/>
            </a:endParaRPr>
          </a:p>
          <a:p>
            <a:pPr algn="just">
              <a:lnSpc>
                <a:spcPct val="115000"/>
              </a:lnSpc>
              <a:spcBef>
                <a:spcPts val="600"/>
              </a:spcBef>
              <a:spcAft>
                <a:spcPts val="600"/>
              </a:spcAft>
            </a:pPr>
            <a:r>
              <a:rPr lang="zh-CN" altLang="en-US" sz="2400" b="1" u="sng" kern="100" dirty="0">
                <a:solidFill>
                  <a:srgbClr val="C00000"/>
                </a:solidFill>
                <a:latin typeface="微软雅黑" panose="020B0503020204020204" pitchFamily="34" charset="-122"/>
                <a:ea typeface="微软雅黑" panose="020B0503020204020204" pitchFamily="34" charset="-122"/>
              </a:rPr>
              <a:t>本實驗千萬要注意安全</a:t>
            </a:r>
            <a:endParaRPr lang="en-US" altLang="zh-CN" b="1" u="sng" kern="100" dirty="0">
              <a:solidFill>
                <a:srgbClr val="00B050"/>
              </a:solidFill>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8846" y="1714500"/>
            <a:ext cx="2730500" cy="3429000"/>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7843969" y="5407375"/>
            <a:ext cx="2675377" cy="400110"/>
          </a:xfrm>
          <a:prstGeom prst="rect">
            <a:avLst/>
          </a:prstGeom>
          <a:noFill/>
        </p:spPr>
        <p:txBody>
          <a:bodyPr wrap="square">
            <a:spAutoFit/>
          </a:bodyPr>
          <a:lstStyle/>
          <a:p>
            <a:pPr algn="ctr"/>
            <a:r>
              <a:rPr lang="en-US" altLang="zh-CN" sz="2000" dirty="0">
                <a:latin typeface="微软雅黑" panose="020B0503020204020204" pitchFamily="34" charset="-122"/>
                <a:ea typeface="微软雅黑" panose="020B0503020204020204" pitchFamily="34" charset="-122"/>
              </a:rPr>
              <a:t>SYN</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洪泛</a:t>
            </a:r>
            <a:r>
              <a:rPr lang="zh-CN" altLang="en-US" sz="2000" dirty="0">
                <a:latin typeface="微软雅黑" panose="020B0503020204020204" pitchFamily="34" charset="-122"/>
                <a:ea typeface="微软雅黑" panose="020B0503020204020204" pitchFamily="34" charset="-122"/>
              </a:rPr>
              <a:t>攻擊 示意圖</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357505" y="1555750"/>
            <a:ext cx="5841365" cy="437261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pic>
        <p:nvPicPr>
          <p:cNvPr id="8" name="图片 7"/>
          <p:cNvPicPr/>
          <p:nvPr/>
        </p:nvPicPr>
        <p:blipFill>
          <a:blip r:embed="rId4"/>
          <a:stretch>
            <a:fillRect/>
          </a:stretch>
        </p:blipFill>
        <p:spPr>
          <a:xfrm>
            <a:off x="6561455" y="3632835"/>
            <a:ext cx="5274310" cy="1976755"/>
          </a:xfrm>
          <a:prstGeom prst="rect">
            <a:avLst/>
          </a:prstGeom>
          <a:effectLst>
            <a:outerShdw blurRad="63500" sx="102000" sy="102000" algn="ctr" rotWithShape="0">
              <a:prstClr val="black">
                <a:alpha val="40000"/>
              </a:prstClr>
            </a:outerShdw>
          </a:effectLst>
        </p:spPr>
      </p:pic>
      <p:grpSp>
        <p:nvGrpSpPr>
          <p:cNvPr id="9" name="组合 8"/>
          <p:cNvGrpSpPr/>
          <p:nvPr/>
        </p:nvGrpSpPr>
        <p:grpSpPr>
          <a:xfrm>
            <a:off x="6561568" y="1504471"/>
            <a:ext cx="5274310" cy="1811020"/>
            <a:chOff x="11960922" y="-1376572"/>
            <a:chExt cx="5274310" cy="1811020"/>
          </a:xfrm>
        </p:grpSpPr>
        <p:pic>
          <p:nvPicPr>
            <p:cNvPr id="10" name="图片 9"/>
            <p:cNvPicPr/>
            <p:nvPr/>
          </p:nvPicPr>
          <p:blipFill>
            <a:blip r:embed="rId5"/>
            <a:stretch>
              <a:fillRect/>
            </a:stretch>
          </p:blipFill>
          <p:spPr>
            <a:xfrm>
              <a:off x="11960922" y="-1376572"/>
              <a:ext cx="5274310" cy="1811020"/>
            </a:xfrm>
            <a:prstGeom prst="rect">
              <a:avLst/>
            </a:prstGeom>
            <a:effectLst>
              <a:outerShdw blurRad="63500" sx="102000" sy="102000" algn="ctr" rotWithShape="0">
                <a:prstClr val="black">
                  <a:alpha val="40000"/>
                </a:prstClr>
              </a:outerShdw>
            </a:effectLst>
          </p:spPr>
        </p:pic>
        <p:sp>
          <p:nvSpPr>
            <p:cNvPr id="11" name="文本框 10"/>
            <p:cNvSpPr txBox="1"/>
            <p:nvPr/>
          </p:nvSpPr>
          <p:spPr>
            <a:xfrm>
              <a:off x="12879099" y="22334"/>
              <a:ext cx="1337187" cy="369332"/>
            </a:xfrm>
            <a:prstGeom prst="rect">
              <a:avLst/>
            </a:prstGeom>
            <a:noFill/>
          </p:spPr>
          <p:txBody>
            <a:bodyPr wrap="square" rtlCol="0">
              <a:spAutoFit/>
            </a:bodyPr>
            <a:lstStyle/>
            <a:p>
              <a:r>
                <a:rPr lang="zh-CN" altLang="en-US" dirty="0">
                  <a:solidFill>
                    <a:schemeClr val="bg1"/>
                  </a:solidFill>
                </a:rPr>
                <a:t>服務器异常</a:t>
              </a:r>
            </a:p>
          </p:txBody>
        </p:sp>
      </p:grpSp>
      <p:sp>
        <p:nvSpPr>
          <p:cNvPr id="12" name="文本框 11"/>
          <p:cNvSpPr txBox="1"/>
          <p:nvPr/>
        </p:nvSpPr>
        <p:spPr>
          <a:xfrm>
            <a:off x="7479490" y="5185244"/>
            <a:ext cx="1337187" cy="369332"/>
          </a:xfrm>
          <a:prstGeom prst="rect">
            <a:avLst/>
          </a:prstGeom>
          <a:noFill/>
        </p:spPr>
        <p:txBody>
          <a:bodyPr wrap="square" rtlCol="0">
            <a:spAutoFit/>
          </a:bodyPr>
          <a:lstStyle/>
          <a:p>
            <a:r>
              <a:rPr lang="zh-CN" altLang="en-US" dirty="0">
                <a:solidFill>
                  <a:schemeClr val="bg1"/>
                </a:solidFill>
              </a:rPr>
              <a:t>客戶端异常</a:t>
            </a:r>
          </a:p>
        </p:txBody>
      </p:sp>
      <p:sp>
        <p:nvSpPr>
          <p:cNvPr id="15"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實驗九：</a:t>
            </a:r>
            <a:r>
              <a:rPr kumimoji="1" lang="zh-CN" altLang="en-US" dirty="0"/>
              <a:t>基于</a:t>
            </a:r>
            <a:r>
              <a:rPr kumimoji="1" lang="en-US" altLang="zh-CN" dirty="0"/>
              <a:t>IPID</a:t>
            </a:r>
            <a:r>
              <a:rPr kumimoji="1" lang="zh-CN" altLang="en-US" dirty="0"/>
              <a:t>的</a:t>
            </a:r>
            <a:r>
              <a:rPr kumimoji="1" lang="en-US" altLang="zh-CN" dirty="0"/>
              <a:t>TCP</a:t>
            </a:r>
            <a:r>
              <a:rPr kumimoji="1" lang="zh-CN" altLang="en-US" dirty="0"/>
              <a:t>側信道漏洞</a:t>
            </a:r>
          </a:p>
        </p:txBody>
      </p:sp>
      <p:sp>
        <p:nvSpPr>
          <p:cNvPr id="16" name="TextBox 15"/>
          <p:cNvSpPr txBox="1"/>
          <p:nvPr/>
        </p:nvSpPr>
        <p:spPr>
          <a:xfrm>
            <a:off x="9158605" y="136525"/>
            <a:ext cx="289052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8" name="TextBox 17"/>
          <p:cNvSpPr txBox="1"/>
          <p:nvPr/>
        </p:nvSpPr>
        <p:spPr>
          <a:xfrm>
            <a:off x="826770" y="2029279"/>
            <a:ext cx="5027295" cy="3604256"/>
          </a:xfrm>
          <a:prstGeom prst="rect">
            <a:avLst/>
          </a:prstGeom>
          <a:noFill/>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網絡側信道攻擊借助通訊內容無關信息干涉通訊的正常進行，可實現鏈接的强制中斷或虛假信息注入</a:t>
            </a: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a:lnSpc>
                <a:spcPct val="115000"/>
              </a:lnSpc>
              <a:spcBef>
                <a:spcPts val="600"/>
              </a:spcBef>
              <a:spcAft>
                <a:spcPts val="600"/>
              </a:spcAft>
            </a:pPr>
            <a:r>
              <a:rPr lang="zh-CN" altLang="zh-CN" sz="2000" kern="100" dirty="0">
                <a:solidFill>
                  <a:srgbClr val="222222"/>
                </a:solidFill>
                <a:effectLst/>
                <a:latin typeface="微软雅黑" panose="020B0503020204020204" pitchFamily="34" charset="-122"/>
                <a:ea typeface="微软雅黑" panose="020B0503020204020204" pitchFamily="34" charset="-122"/>
              </a:rPr>
              <a:t>複現基于</a:t>
            </a:r>
            <a:r>
              <a:rPr lang="en-US" altLang="zh-CN" sz="2000" kern="100" dirty="0">
                <a:solidFill>
                  <a:srgbClr val="222222"/>
                </a:solidFill>
                <a:effectLst/>
                <a:latin typeface="微软雅黑" panose="020B0503020204020204" pitchFamily="34" charset="-122"/>
                <a:ea typeface="微软雅黑" panose="020B0503020204020204" pitchFamily="34" charset="-122"/>
              </a:rPr>
              <a:t>IPID</a:t>
            </a:r>
            <a:r>
              <a:rPr lang="zh-CN" altLang="zh-CN" sz="2000" kern="100" dirty="0">
                <a:solidFill>
                  <a:srgbClr val="222222"/>
                </a:solidFill>
                <a:effectLst/>
                <a:latin typeface="微软雅黑" panose="020B0503020204020204" pitchFamily="34" charset="-122"/>
                <a:ea typeface="微软雅黑" panose="020B0503020204020204" pitchFamily="34" charset="-122"/>
              </a:rPr>
              <a:t>計數器的</a:t>
            </a:r>
            <a:r>
              <a:rPr lang="en-US" altLang="zh-CN" sz="2000" kern="100" dirty="0">
                <a:solidFill>
                  <a:srgbClr val="222222"/>
                </a:solidFill>
                <a:effectLst/>
                <a:latin typeface="微软雅黑" panose="020B0503020204020204" pitchFamily="34" charset="-122"/>
                <a:ea typeface="微软雅黑" panose="020B0503020204020204" pitchFamily="34" charset="-122"/>
              </a:rPr>
              <a:t>TCP</a:t>
            </a:r>
            <a:r>
              <a:rPr lang="zh-CN" altLang="zh-CN" sz="2000" kern="100" dirty="0">
                <a:solidFill>
                  <a:srgbClr val="222222"/>
                </a:solidFill>
                <a:effectLst/>
                <a:latin typeface="微软雅黑" panose="020B0503020204020204" pitchFamily="34" charset="-122"/>
                <a:ea typeface="微软雅黑" panose="020B0503020204020204" pitchFamily="34" charset="-122"/>
              </a:rPr>
              <a:t>連接</a:t>
            </a:r>
            <a:r>
              <a:rPr lang="zh-CN" altLang="en-US" sz="2000" kern="100" dirty="0">
                <a:solidFill>
                  <a:srgbClr val="222222"/>
                </a:solidFill>
                <a:effectLst/>
                <a:latin typeface="微软雅黑" panose="020B0503020204020204" pitchFamily="34" charset="-122"/>
                <a:ea typeface="微软雅黑" panose="020B0503020204020204" pitchFamily="34" charset="-122"/>
              </a:rPr>
              <a:t>注入</a:t>
            </a:r>
            <a:r>
              <a:rPr lang="zh-CN" altLang="zh-CN" sz="2000" kern="100" dirty="0">
                <a:solidFill>
                  <a:srgbClr val="222222"/>
                </a:solidFill>
                <a:effectLst/>
                <a:latin typeface="微软雅黑" panose="020B0503020204020204" pitchFamily="34" charset="-122"/>
                <a:ea typeface="微软雅黑" panose="020B0503020204020204" pitchFamily="34" charset="-122"/>
              </a:rPr>
              <a:t>攻擊，瞭解網絡協議棧常見安全威脅及漏洞</a:t>
            </a:r>
            <a:r>
              <a:rPr lang="zh-CN" altLang="en-US" sz="2000" kern="100" dirty="0">
                <a:solidFill>
                  <a:srgbClr val="222222"/>
                </a:solidFill>
                <a:effectLst/>
                <a:latin typeface="微软雅黑" panose="020B0503020204020204" pitchFamily="34" charset="-122"/>
                <a:ea typeface="微软雅黑" panose="020B0503020204020204" pitchFamily="34" charset="-122"/>
              </a:rPr>
              <a:t>，</a:t>
            </a:r>
            <a:r>
              <a:rPr lang="zh-CN" altLang="zh-CN" sz="2000" kern="100" dirty="0">
                <a:solidFill>
                  <a:srgbClr val="222222"/>
                </a:solidFill>
                <a:effectLst/>
                <a:latin typeface="微软雅黑" panose="020B0503020204020204" pitchFamily="34" charset="-122"/>
                <a:ea typeface="微软雅黑" panose="020B0503020204020204" pitchFamily="34" charset="-122"/>
              </a:rPr>
              <a:t>加深對網絡安全問題的認識</a:t>
            </a:r>
            <a:endParaRPr lang="zh-CN" altLang="zh-CN" sz="2000" kern="100" dirty="0">
              <a:effectLst/>
              <a:latin typeface="微软雅黑" panose="020B0503020204020204" pitchFamily="34" charset="-122"/>
              <a:ea typeface="微软雅黑" panose="020B0503020204020204" pitchFamily="34" charset="-122"/>
            </a:endParaRPr>
          </a:p>
        </p:txBody>
      </p:sp>
      <p:cxnSp>
        <p:nvCxnSpPr>
          <p:cNvPr id="19" name="Straight Connector 18"/>
          <p:cNvCxnSpPr/>
          <p:nvPr/>
        </p:nvCxnSpPr>
        <p:spPr>
          <a:xfrm>
            <a:off x="6598512" y="4566863"/>
            <a:ext cx="2655515" cy="0"/>
          </a:xfrm>
          <a:prstGeom prst="line">
            <a:avLst/>
          </a:prstGeom>
          <a:ln w="3175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0" name="文本框 11"/>
          <p:cNvSpPr txBox="1"/>
          <p:nvPr/>
        </p:nvSpPr>
        <p:spPr>
          <a:xfrm>
            <a:off x="9226237" y="4436767"/>
            <a:ext cx="1337187" cy="369332"/>
          </a:xfrm>
          <a:prstGeom prst="rect">
            <a:avLst/>
          </a:prstGeom>
          <a:noFill/>
          <a:ln>
            <a:noFill/>
          </a:ln>
        </p:spPr>
        <p:txBody>
          <a:bodyPr wrap="square" rtlCol="0">
            <a:spAutoFit/>
          </a:bodyPr>
          <a:lstStyle/>
          <a:p>
            <a:r>
              <a:rPr lang="zh-CN" altLang="en-US" b="1" dirty="0">
                <a:solidFill>
                  <a:schemeClr val="accent2">
                    <a:lumMod val="40000"/>
                    <a:lumOff val="60000"/>
                  </a:schemeClr>
                </a:solidFill>
              </a:rPr>
              <a:t>注入的消息</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實驗九：</a:t>
            </a:r>
            <a:r>
              <a:rPr kumimoji="1" lang="zh-CN" altLang="en-US" dirty="0"/>
              <a:t>基于</a:t>
            </a:r>
            <a:r>
              <a:rPr kumimoji="1" lang="en-US" altLang="zh-CN" dirty="0"/>
              <a:t>IPID</a:t>
            </a:r>
            <a:r>
              <a:rPr kumimoji="1" lang="zh-CN" altLang="en-US" dirty="0"/>
              <a:t>的</a:t>
            </a:r>
            <a:r>
              <a:rPr kumimoji="1" lang="en-US" altLang="zh-CN" dirty="0"/>
              <a:t>TCP</a:t>
            </a:r>
            <a:r>
              <a:rPr kumimoji="1" lang="zh-CN" altLang="en-US" dirty="0"/>
              <a:t>側信道漏洞</a:t>
            </a:r>
          </a:p>
        </p:txBody>
      </p:sp>
      <p:sp>
        <p:nvSpPr>
          <p:cNvPr id="16" name="TextBox 15"/>
          <p:cNvSpPr txBox="1"/>
          <p:nvPr/>
        </p:nvSpPr>
        <p:spPr>
          <a:xfrm>
            <a:off x="9003665" y="136525"/>
            <a:ext cx="3045460" cy="725170"/>
          </a:xfrm>
          <a:prstGeom prst="rect">
            <a:avLst/>
          </a:prstGeom>
        </p:spPr>
        <p:txBody>
          <a:bodyPr vert="horz" lIns="91440" tIns="45720" rIns="91440" bIns="45720" rtlCol="0" anchor="ctr">
            <a:normAutofit/>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grpSp>
        <p:nvGrpSpPr>
          <p:cNvPr id="6" name="组合 5"/>
          <p:cNvGrpSpPr/>
          <p:nvPr/>
        </p:nvGrpSpPr>
        <p:grpSpPr>
          <a:xfrm>
            <a:off x="6370320" y="872490"/>
            <a:ext cx="4248785" cy="2617470"/>
            <a:chOff x="11172" y="1844"/>
            <a:chExt cx="5827" cy="3929"/>
          </a:xfrm>
          <a:effectLst>
            <a:outerShdw blurRad="50800" dist="38100" dir="2700000" algn="tl" rotWithShape="0">
              <a:prstClr val="black">
                <a:alpha val="40000"/>
              </a:prstClr>
            </a:outerShdw>
          </a:effectLst>
        </p:grpSpPr>
        <p:pic>
          <p:nvPicPr>
            <p:cNvPr id="7" name="Picture 6"/>
            <p:cNvPicPr>
              <a:picLocks noChangeAspect="1"/>
            </p:cNvPicPr>
            <p:nvPr/>
          </p:nvPicPr>
          <p:blipFill>
            <a:blip r:embed="rId3"/>
            <a:srcRect b="10623"/>
            <a:stretch>
              <a:fillRect/>
            </a:stretch>
          </p:blipFill>
          <p:spPr>
            <a:xfrm>
              <a:off x="11172" y="1844"/>
              <a:ext cx="5827" cy="3929"/>
            </a:xfrm>
            <a:prstGeom prst="rect">
              <a:avLst/>
            </a:prstGeom>
          </p:spPr>
        </p:pic>
        <p:cxnSp>
          <p:nvCxnSpPr>
            <p:cNvPr id="21" name="Straight Connector 20"/>
            <p:cNvCxnSpPr/>
            <p:nvPr/>
          </p:nvCxnSpPr>
          <p:spPr>
            <a:xfrm>
              <a:off x="11406" y="2461"/>
              <a:ext cx="253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2" name="Picture 4"/>
          <p:cNvPicPr>
            <a:picLocks noChangeAspect="1"/>
          </p:cNvPicPr>
          <p:nvPr/>
        </p:nvPicPr>
        <p:blipFill>
          <a:blip r:embed="rId4"/>
          <a:stretch>
            <a:fillRect/>
          </a:stretch>
        </p:blipFill>
        <p:spPr>
          <a:xfrm>
            <a:off x="2213610" y="3888740"/>
            <a:ext cx="8970645" cy="2823845"/>
          </a:xfrm>
          <a:prstGeom prst="rect">
            <a:avLst/>
          </a:prstGeom>
          <a:effectLst>
            <a:outerShdw blurRad="50800" dist="38100" dir="2700000" algn="tl" rotWithShape="0">
              <a:prstClr val="black">
                <a:alpha val="40000"/>
              </a:prstClr>
            </a:outerShdw>
          </a:effectLst>
        </p:spPr>
      </p:pic>
      <p:pic>
        <p:nvPicPr>
          <p:cNvPr id="4" name="Picture 2"/>
          <p:cNvPicPr>
            <a:picLocks noChangeAspect="1"/>
          </p:cNvPicPr>
          <p:nvPr/>
        </p:nvPicPr>
        <p:blipFill>
          <a:blip r:embed="rId5"/>
          <a:srcRect t="2104" b="11825"/>
          <a:stretch>
            <a:fillRect/>
          </a:stretch>
        </p:blipFill>
        <p:spPr>
          <a:xfrm>
            <a:off x="832485" y="872490"/>
            <a:ext cx="4822825" cy="2617470"/>
          </a:xfrm>
          <a:prstGeom prst="rect">
            <a:avLst/>
          </a:prstGeom>
          <a:effectLst>
            <a:outerShdw blurRad="50800" dist="38100" dir="2700000" algn="tl" rotWithShape="0">
              <a:prstClr val="black">
                <a:alpha val="40000"/>
              </a:prstClr>
            </a:outerShdw>
          </a:effectLst>
        </p:spPr>
      </p:pic>
      <p:sp>
        <p:nvSpPr>
          <p:cNvPr id="8" name="文本框 7"/>
          <p:cNvSpPr txBox="1"/>
          <p:nvPr/>
        </p:nvSpPr>
        <p:spPr>
          <a:xfrm>
            <a:off x="832485" y="3489960"/>
            <a:ext cx="4812030" cy="368300"/>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IPID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實現流程圖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Linux4.18</a:t>
            </a:r>
          </a:p>
        </p:txBody>
      </p:sp>
      <p:sp>
        <p:nvSpPr>
          <p:cNvPr id="9" name="文本框 8"/>
          <p:cNvSpPr txBox="1"/>
          <p:nvPr/>
        </p:nvSpPr>
        <p:spPr>
          <a:xfrm>
            <a:off x="6370320" y="3489960"/>
            <a:ext cx="4241800" cy="368300"/>
          </a:xfrm>
          <a:prstGeom prst="rect">
            <a:avLst/>
          </a:prstGeom>
          <a:noFill/>
        </p:spPr>
        <p:txBody>
          <a:bodyPr wrap="square" rtlCol="0">
            <a:spAutoFit/>
          </a:bodyPr>
          <a:lstStyle/>
          <a:p>
            <a:pPr algn="ctr"/>
            <a:r>
              <a:rPr lang="en-US" dirty="0">
                <a:latin typeface="微软雅黑" panose="020B0503020204020204" pitchFamily="34" charset="-122"/>
                <a:ea typeface="微软雅黑" panose="020B0503020204020204" pitchFamily="34" charset="-122"/>
                <a:cs typeface="微软雅黑" panose="020B0503020204020204" pitchFamily="34" charset="-122"/>
              </a:rPr>
              <a:t>ICMP Error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報文格式</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437515" y="4195445"/>
            <a:ext cx="1636395" cy="1938020"/>
          </a:xfrm>
          <a:prstGeom prst="rect">
            <a:avLst/>
          </a:prstGeom>
          <a:noFill/>
        </p:spPr>
        <p:txBody>
          <a:bodyPr wrap="square" rtlCol="0" anchor="t">
            <a:spAutoFit/>
          </a:bodyPr>
          <a:lstStyle/>
          <a:p>
            <a:pPr algn="ctr">
              <a:lnSpc>
                <a:spcPct val="150000"/>
              </a:lnSpc>
            </a:pP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kumimoji="1"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IPID</a:t>
            </a: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kumimoji="1"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TCP</a:t>
            </a:r>
          </a:p>
          <a:p>
            <a:pPr algn="ctr">
              <a:lnSpc>
                <a:spcPct val="150000"/>
              </a:lnSpc>
            </a:pP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側信道漏洞</a:t>
            </a:r>
          </a:p>
          <a:p>
            <a:pPr algn="ctr">
              <a:lnSpc>
                <a:spcPct val="150000"/>
              </a:lnSpc>
            </a:pPr>
            <a:r>
              <a:rPr kumimoji="1"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攻擊原理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357505" y="991870"/>
            <a:ext cx="5841365" cy="568960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15"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實驗九：</a:t>
            </a:r>
            <a:r>
              <a:rPr kumimoji="1" lang="zh-CN" altLang="en-US" dirty="0"/>
              <a:t>基于</a:t>
            </a:r>
            <a:r>
              <a:rPr kumimoji="1" lang="en-US" altLang="zh-CN" dirty="0"/>
              <a:t>IPID</a:t>
            </a:r>
            <a:r>
              <a:rPr kumimoji="1" lang="zh-CN" altLang="en-US" dirty="0"/>
              <a:t>的</a:t>
            </a:r>
            <a:r>
              <a:rPr kumimoji="1" lang="en-US" altLang="zh-CN" dirty="0"/>
              <a:t>TCP</a:t>
            </a:r>
            <a:r>
              <a:rPr kumimoji="1" lang="zh-CN" altLang="en-US" dirty="0"/>
              <a:t>側信道漏洞</a:t>
            </a:r>
          </a:p>
        </p:txBody>
      </p:sp>
      <p:sp>
        <p:nvSpPr>
          <p:cNvPr id="16" name="TextBox 15"/>
          <p:cNvSpPr txBox="1"/>
          <p:nvPr/>
        </p:nvSpPr>
        <p:spPr>
          <a:xfrm>
            <a:off x="9130665" y="136525"/>
            <a:ext cx="291846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8" name="TextBox 17"/>
          <p:cNvSpPr txBox="1"/>
          <p:nvPr/>
        </p:nvSpPr>
        <p:spPr>
          <a:xfrm>
            <a:off x="636386" y="1410582"/>
            <a:ext cx="5385954" cy="4622356"/>
          </a:xfrm>
          <a:prstGeom prst="rect">
            <a:avLst/>
          </a:prstGeom>
          <a:noFill/>
        </p:spPr>
        <p:txBody>
          <a:bodyPr wrap="square">
            <a:spAutoFit/>
          </a:bodyPr>
          <a:lstStyle/>
          <a:p>
            <a:pPr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1.</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 根據實驗環境設置通訊環境，配置正確的內核版本，建立客戶端和服務器之間的受害</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TCP</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鏈接</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1800" dirty="0">
                <a:effectLst/>
                <a:latin typeface="微软雅黑" panose="020B0503020204020204" pitchFamily="34" charset="-122"/>
                <a:ea typeface="微软雅黑" panose="020B0503020204020204" pitchFamily="34" charset="-122"/>
                <a:cs typeface="Times New Roman" panose="02020503050405090304" pitchFamily="18" charset="0"/>
              </a:rPr>
              <a:t>發起基于</a:t>
            </a:r>
            <a:r>
              <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IPID</a:t>
            </a:r>
            <a:r>
              <a:rPr lang="zh-CN" altLang="en-US" sz="1800" dirty="0">
                <a:effectLst/>
                <a:latin typeface="微软雅黑" panose="020B0503020204020204" pitchFamily="34" charset="-122"/>
                <a:ea typeface="微软雅黑" panose="020B0503020204020204" pitchFamily="34" charset="-122"/>
                <a:cs typeface="Times New Roman" panose="02020503050405090304" pitchFamily="18" charset="0"/>
              </a:rPr>
              <a:t>的</a:t>
            </a:r>
            <a:r>
              <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rPr>
              <a:t>TCP</a:t>
            </a:r>
            <a:r>
              <a:rPr lang="zh-CN" altLang="en-US" sz="1800" dirty="0">
                <a:effectLst/>
                <a:latin typeface="微软雅黑" panose="020B0503020204020204" pitchFamily="34" charset="-122"/>
                <a:ea typeface="微软雅黑" panose="020B0503020204020204" pitchFamily="34" charset="-122"/>
                <a:cs typeface="Times New Roman" panose="02020503050405090304" pitchFamily="18" charset="0"/>
              </a:rPr>
              <a:t>側信道攻擊</a:t>
            </a:r>
            <a:endParaRPr lang="en-US" altLang="zh-CN" sz="18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3.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向</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TCP</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通訊信道當中注入惡意信息，可以在客戶端注入或服務器端，</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注入前鏈接不可中斷</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endParaRPr lang="en-US" altLang="zh-CN" sz="1800" b="1"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實驗參考：</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l" latinLnBrk="1">
              <a:lnSpc>
                <a:spcPct val="130000"/>
              </a:lnSpc>
              <a:buClrTx/>
              <a:buSzTx/>
              <a:buFontTx/>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1. IPID</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側信道漏洞原始文章：</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https://ieeexplore.ieee.org/stamp/stamp.jsp?tp=&amp;arnumber=9556515</a:t>
            </a:r>
          </a:p>
          <a:p>
            <a:pPr lvl="0" latinLnBrk="1">
              <a:lnSpc>
                <a:spcPct val="13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參考源代碼：</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https://github.com/fuchuanpu/TCP-exploit</a:t>
            </a:r>
          </a:p>
        </p:txBody>
      </p:sp>
      <p:sp>
        <p:nvSpPr>
          <p:cNvPr id="14" name="文本框 5"/>
          <p:cNvSpPr txBox="1"/>
          <p:nvPr/>
        </p:nvSpPr>
        <p:spPr>
          <a:xfrm>
            <a:off x="8373039" y="4212049"/>
            <a:ext cx="1731544" cy="418833"/>
          </a:xfrm>
          <a:prstGeom prst="rect">
            <a:avLst/>
          </a:prstGeom>
          <a:noFill/>
        </p:spPr>
        <p:txBody>
          <a:bodyPr wrap="square">
            <a:spAutoFit/>
          </a:bodyPr>
          <a:lstStyle/>
          <a:p>
            <a:pPr algn="just">
              <a:lnSpc>
                <a:spcPct val="115000"/>
              </a:lnSpc>
              <a:spcBef>
                <a:spcPts val="600"/>
              </a:spcBef>
              <a:spcAft>
                <a:spcPts val="600"/>
              </a:spcAft>
            </a:pPr>
            <a:r>
              <a:rPr lang="zh-CN" altLang="zh-CN" sz="2000" b="1" kern="100" dirty="0">
                <a:latin typeface="微软雅黑" panose="020B0503020204020204" pitchFamily="34" charset="-122"/>
                <a:ea typeface="微软雅黑" panose="020B0503020204020204" pitchFamily="34" charset="-122"/>
              </a:rPr>
              <a:t>實驗環境設置</a:t>
            </a:r>
            <a:endParaRPr lang="zh-CN" altLang="zh-CN" sz="2000" kern="100" dirty="0">
              <a:effectLst/>
              <a:latin typeface="微软雅黑" panose="020B0503020204020204" pitchFamily="34" charset="-122"/>
              <a:ea typeface="微软雅黑" panose="020B0503020204020204" pitchFamily="34" charset="-122"/>
            </a:endParaRPr>
          </a:p>
        </p:txBody>
      </p:sp>
      <p:sp>
        <p:nvSpPr>
          <p:cNvPr id="8" name="圆角矩形 2"/>
          <p:cNvSpPr>
            <a:spLocks noChangeArrowheads="1"/>
          </p:cNvSpPr>
          <p:nvPr/>
        </p:nvSpPr>
        <p:spPr bwMode="auto">
          <a:xfrm>
            <a:off x="6592536" y="5064535"/>
            <a:ext cx="5292549" cy="965200"/>
          </a:xfrm>
          <a:prstGeom prst="roundRect">
            <a:avLst>
              <a:gd name="adj" fmla="val 7537"/>
            </a:avLst>
          </a:prstGeom>
          <a:solidFill>
            <a:srgbClr val="002060"/>
          </a:solidFill>
          <a:ln w="12700">
            <a:noFill/>
          </a:ln>
          <a:effectLst>
            <a:outerShdw blurRad="254000" dist="127000" dir="5400000" sx="90000" sy="90000" rotWithShape="0">
              <a:prstClr val="black">
                <a:alpha val="15000"/>
              </a:prstClr>
            </a:outerShdw>
          </a:effectLst>
        </p:spPr>
        <p:txBody>
          <a:bodyPr lIns="144000" tIns="108000" rIns="144000" bIns="108000" anchor="ctr"/>
          <a:lstStyle>
            <a:lvl1pPr marL="342900" indent="-342900" eaLnBrk="0" hangingPunct="0">
              <a:defRPr>
                <a:solidFill>
                  <a:schemeClr val="tx1"/>
                </a:solidFill>
                <a:latin typeface="Arial" panose="020B0604020202090204" pitchFamily="34" charset="0"/>
                <a:ea typeface="宋体" pitchFamily="2" charset="-122"/>
              </a:defRPr>
            </a:lvl1pPr>
            <a:lvl2pPr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lvl="1"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如果你覺得這項工作還不錯，</a:t>
            </a:r>
            <a:endParaRPr lang="en-US" altLang="zh-CN" sz="2400" b="1" dirty="0">
              <a:solidFill>
                <a:schemeClr val="bg1"/>
              </a:solidFill>
              <a:latin typeface="微软雅黑" panose="020B0503020204020204" pitchFamily="34" charset="-122"/>
              <a:ea typeface="微软雅黑" panose="020B0503020204020204" pitchFamily="34" charset="-122"/>
            </a:endParaRPr>
          </a:p>
          <a:p>
            <a:pPr lvl="1"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請留給我們一個 </a:t>
            </a:r>
            <a:r>
              <a:rPr lang="en-US" altLang="zh-CN" sz="2400" b="1" dirty="0">
                <a:solidFill>
                  <a:schemeClr val="bg1"/>
                </a:solidFill>
                <a:latin typeface="微软雅黑" panose="020B0503020204020204" pitchFamily="34" charset="-122"/>
                <a:ea typeface="微软雅黑" panose="020B0503020204020204" pitchFamily="34" charset="-122"/>
              </a:rPr>
              <a:t>Star</a:t>
            </a:r>
            <a:r>
              <a:rPr lang="zh-CN" altLang="en-US" sz="2400" b="1" dirty="0">
                <a:solidFill>
                  <a:schemeClr val="bg1"/>
                </a:solidFill>
                <a:latin typeface="微软雅黑" panose="020B0503020204020204" pitchFamily="34" charset="-122"/>
                <a:ea typeface="微软雅黑" panose="020B0503020204020204" pitchFamily="34" charset="-122"/>
              </a:rPr>
              <a:t>⭐</a:t>
            </a:r>
          </a:p>
        </p:txBody>
      </p:sp>
      <p:pic>
        <p:nvPicPr>
          <p:cNvPr id="3" name="图片 2"/>
          <p:cNvPicPr>
            <a:picLocks noChangeAspect="1"/>
          </p:cNvPicPr>
          <p:nvPr/>
        </p:nvPicPr>
        <p:blipFill>
          <a:blip r:embed="rId4"/>
          <a:stretch>
            <a:fillRect/>
          </a:stretch>
        </p:blipFill>
        <p:spPr>
          <a:xfrm>
            <a:off x="6456680" y="1649730"/>
            <a:ext cx="5591810" cy="1924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a:spLocks noGrp="1"/>
          </p:cNvSpPr>
          <p:nvPr/>
        </p:nvSpPr>
        <p:spPr>
          <a:xfrm>
            <a:off x="1069781" y="160020"/>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solidFill>
              </a:rPr>
              <a:t>實驗十：</a:t>
            </a:r>
            <a:r>
              <a:rPr kumimoji="1" dirty="0" err="1"/>
              <a:t>互聯網路由异常檢測</a:t>
            </a:r>
            <a:endParaRPr kumimoji="1" dirty="0"/>
          </a:p>
        </p:txBody>
      </p:sp>
      <p:sp>
        <p:nvSpPr>
          <p:cNvPr id="16" name="TextBox 15"/>
          <p:cNvSpPr txBox="1"/>
          <p:nvPr/>
        </p:nvSpPr>
        <p:spPr>
          <a:xfrm>
            <a:off x="9097645" y="136525"/>
            <a:ext cx="295148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3" name="bg2-3713&amp;3764"/>
          <p:cNvSpPr/>
          <p:nvPr>
            <p:custDataLst>
              <p:tags r:id="rId1"/>
            </p:custDataLst>
          </p:nvPr>
        </p:nvSpPr>
        <p:spPr>
          <a:xfrm>
            <a:off x="357505" y="991870"/>
            <a:ext cx="5841365" cy="568960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18" name="TextBox 17"/>
          <p:cNvSpPr txBox="1"/>
          <p:nvPr/>
        </p:nvSpPr>
        <p:spPr>
          <a:xfrm>
            <a:off x="585210" y="1423645"/>
            <a:ext cx="5510790" cy="4982454"/>
          </a:xfrm>
          <a:prstGeom prst="rect">
            <a:avLst/>
          </a:prstGeom>
          <a:noFill/>
        </p:spPr>
        <p:txBody>
          <a:bodyPr wrap="square">
            <a:spAutoFit/>
          </a:bodyPr>
          <a:lstStyle/>
          <a:p>
            <a:pPr algn="just"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邊界網關協議（</a:t>
            </a:r>
            <a:r>
              <a:rPr lang="en" altLang="zh-CN" dirty="0">
                <a:latin typeface="微软雅黑" panose="020B0503020204020204" pitchFamily="34" charset="-122"/>
                <a:ea typeface="微软雅黑" panose="020B0503020204020204" pitchFamily="34" charset="-122"/>
                <a:cs typeface="Times New Roman" panose="02020503050405090304" pitchFamily="18" charset="0"/>
              </a:rPr>
              <a:t>BGP</a:t>
            </a:r>
            <a:r>
              <a:rPr lang="zh-CN" altLang="en" dirty="0">
                <a:latin typeface="微软雅黑" panose="020B0503020204020204" pitchFamily="34" charset="-122"/>
                <a:ea typeface="微软雅黑" panose="020B0503020204020204" pitchFamily="34" charset="-122"/>
                <a:cs typeface="Times New Roman" panose="02020503050405090304" pitchFamily="18" charset="0"/>
              </a:rPr>
              <a:t>）</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是全球範圍內的互聯網域間路由協議，支撑著互聯網的互聯互通。然而，由于 </a:t>
            </a:r>
            <a:r>
              <a:rPr lang="en" altLang="zh-CN" dirty="0">
                <a:latin typeface="微软雅黑" panose="020B0503020204020204" pitchFamily="34" charset="-122"/>
                <a:ea typeface="微软雅黑" panose="020B0503020204020204" pitchFamily="34" charset="-122"/>
                <a:cs typeface="Times New Roman" panose="02020503050405090304" pitchFamily="18" charset="0"/>
              </a:rPr>
              <a:t>BGP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缺乏內建的安全機制，路由劫持和路由泄露等安全威脅時有發生，可能導致流量被劫持、監聽或者形成流量黑洞，對網絡安全帶來重大隱患</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本實驗旨在幫助讀者理解路由劫持和路由泄露的攻擊原理，幷瞭解如何進行自動化路由异常檢測。</a:t>
            </a:r>
            <a:endParaRPr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實驗參考：</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marL="342900" indent="-342900" algn="just" latinLnBrk="1">
              <a:lnSpc>
                <a:spcPct val="130000"/>
              </a:lnSpc>
              <a:buFontTx/>
              <a:buAutoNum type="arabicPeriod"/>
            </a:pP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參考文章</a:t>
            </a:r>
            <a:r>
              <a:rPr lang="en" altLang="zh-CN" sz="1400" dirty="0">
                <a:latin typeface="微软雅黑" panose="020B0503020204020204" pitchFamily="34" charset="-122"/>
                <a:ea typeface="微软雅黑" panose="020B0503020204020204" pitchFamily="34" charset="-122"/>
                <a:cs typeface="Times New Roman" panose="02020503050405090304" pitchFamily="18" charset="0"/>
              </a:rPr>
              <a:t>Learning with Semantics: Towards a Semantics-Aware Routing Anomaly Detection System, Security 2024</a:t>
            </a:r>
            <a:endParaRPr lang="en-US" altLang="zh-CN" sz="1400" dirty="0">
              <a:latin typeface="微软雅黑" panose="020B0503020204020204" pitchFamily="34" charset="-122"/>
              <a:ea typeface="微软雅黑" panose="020B0503020204020204" pitchFamily="34" charset="-122"/>
              <a:cs typeface="Times New Roman" panose="02020503050405090304" pitchFamily="18" charset="0"/>
            </a:endParaRPr>
          </a:p>
          <a:p>
            <a:pPr marL="342900" lvl="0" indent="-342900" algn="just" latinLnBrk="1">
              <a:lnSpc>
                <a:spcPct val="130000"/>
              </a:lnSpc>
              <a:buClrTx/>
              <a:buSzTx/>
              <a:buFontTx/>
              <a:buAutoNum type="arabicPeriod"/>
            </a:pP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源代碼：</a:t>
            </a: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hlinkClick r:id="rId5"/>
              </a:rPr>
              <a:t>https://github.com/yhchen-tsinghua/routing-anomaly-detection</a:t>
            </a:r>
            <a:endPar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4" name="图片 3"/>
          <p:cNvPicPr>
            <a:picLocks noChangeAspect="1"/>
          </p:cNvPicPr>
          <p:nvPr/>
        </p:nvPicPr>
        <p:blipFill>
          <a:blip r:embed="rId6"/>
          <a:stretch>
            <a:fillRect/>
          </a:stretch>
        </p:blipFill>
        <p:spPr>
          <a:xfrm>
            <a:off x="7030085" y="813435"/>
            <a:ext cx="4333875" cy="5434965"/>
          </a:xfrm>
          <a:prstGeom prst="rect">
            <a:avLst/>
          </a:prstGeom>
        </p:spPr>
      </p:pic>
      <p:sp>
        <p:nvSpPr>
          <p:cNvPr id="8" name="文本框 7"/>
          <p:cNvSpPr txBox="1"/>
          <p:nvPr>
            <p:custDataLst>
              <p:tags r:id="rId2"/>
            </p:custDataLst>
          </p:nvPr>
        </p:nvSpPr>
        <p:spPr>
          <a:xfrm>
            <a:off x="6790690" y="6248400"/>
            <a:ext cx="4812030" cy="368300"/>
          </a:xfrm>
          <a:prstGeom prst="rect">
            <a:avLst/>
          </a:prstGeom>
          <a:noFill/>
        </p:spPr>
        <p:txBody>
          <a:bodyPr wrap="square" rtlCol="0">
            <a:spAutoFit/>
          </a:bodyPr>
          <a:lstStyle/>
          <a:p>
            <a:pPr algn="ctr"/>
            <a:r>
              <a:rPr dirty="0" err="1">
                <a:latin typeface="微软雅黑" panose="020B0503020204020204" pitchFamily="34" charset="-122"/>
                <a:ea typeface="微软雅黑" panose="020B0503020204020204" pitchFamily="34" charset="-122"/>
                <a:cs typeface="微软雅黑" panose="020B0503020204020204" pitchFamily="34" charset="-122"/>
              </a:rPr>
              <a:t>互聯網域間路由系統攻擊數據集</a:t>
            </a:r>
            <a:endParaRPr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08965" y="1014730"/>
            <a:ext cx="5841365" cy="490537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6862540" y="1427018"/>
            <a:ext cx="4887491" cy="2733386"/>
          </a:xfrm>
          <a:prstGeom prst="rect">
            <a:avLst/>
          </a:prstGeom>
          <a:noFill/>
          <a:ln>
            <a:noFill/>
          </a:ln>
          <a:effectLst>
            <a:outerShdw blurRad="50800" dist="38100" dir="2700000" algn="tl" rotWithShape="0">
              <a:prstClr val="black">
                <a:alpha val="40000"/>
              </a:prstClr>
            </a:outerShdw>
          </a:effectLst>
        </p:spPr>
      </p:pic>
      <p:sp>
        <p:nvSpPr>
          <p:cNvPr id="4" name="矩形 3"/>
          <p:cNvSpPr/>
          <p:nvPr/>
        </p:nvSpPr>
        <p:spPr>
          <a:xfrm>
            <a:off x="6862540" y="3142095"/>
            <a:ext cx="4887491" cy="52993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a:stCxn id="14" idx="0"/>
          </p:cNvCxnSpPr>
          <p:nvPr/>
        </p:nvCxnSpPr>
        <p:spPr>
          <a:xfrm flipH="1" flipV="1">
            <a:off x="8035636" y="3565236"/>
            <a:ext cx="1218735" cy="111142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4" name="文本框 13"/>
          <p:cNvSpPr txBox="1"/>
          <p:nvPr/>
        </p:nvSpPr>
        <p:spPr>
          <a:xfrm>
            <a:off x="7078742" y="4676656"/>
            <a:ext cx="4351258" cy="707886"/>
          </a:xfrm>
          <a:prstGeom prst="rect">
            <a:avLst/>
          </a:prstGeom>
          <a:noFill/>
        </p:spPr>
        <p:txBody>
          <a:bodyPr wrap="square">
            <a:spAutoFit/>
          </a:bodyPr>
          <a:lstStyle/>
          <a:p>
            <a:r>
              <a:rPr lang="zh-CN"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攻擊成功後，用戶查詢域名時，得到</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503050405090304" pitchFamily="18" charset="0"/>
              </a:rPr>
              <a:t>攻擊者</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a:t>
            </a:r>
            <a:r>
              <a:rPr lang="zh-CN"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設定的僞造地址</a:t>
            </a:r>
            <a:endParaRPr lang="zh-CN" altLang="en-US" sz="2000" dirty="0">
              <a:latin typeface="微软雅黑" panose="020B0503020204020204" pitchFamily="34" charset="-122"/>
              <a:ea typeface="微软雅黑" panose="020B0503020204020204" pitchFamily="34" charset="-122"/>
            </a:endParaRPr>
          </a:p>
        </p:txBody>
      </p:sp>
      <p:sp>
        <p:nvSpPr>
          <p:cNvPr id="10" name="TextBox 9"/>
          <p:cNvSpPr txBox="1"/>
          <p:nvPr/>
        </p:nvSpPr>
        <p:spPr>
          <a:xfrm>
            <a:off x="892926" y="1643536"/>
            <a:ext cx="5242790" cy="4064126"/>
          </a:xfrm>
          <a:prstGeom prst="rect">
            <a:avLst/>
          </a:prstGeom>
          <a:noFill/>
        </p:spPr>
        <p:txBody>
          <a:bodyPr wrap="square">
            <a:spAutoFit/>
          </a:bodyPr>
          <a:lstStyle/>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是多種服務的基礎，當</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發生安全故障時，全部依賴</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的服務都將被影響，最終危害大量使用者的安全</a:t>
            </a: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通過實驗，掌握</a:t>
            </a: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緩存中毒實施過程及原理，從而加深對網絡安全問題的認識，幷瞭解相應的安全防禦手段</a:t>
            </a:r>
            <a:endParaRPr lang="en-US" altLang="zh-CN" sz="2000" dirty="0">
              <a:solidFill>
                <a:srgbClr val="000000"/>
              </a:solidFill>
              <a:latin typeface="微软雅黑" panose="020B0503020204020204" pitchFamily="34" charset="-122"/>
              <a:ea typeface="微软雅黑" panose="020B0503020204020204" pitchFamily="34" charset="-122"/>
            </a:endParaRPr>
          </a:p>
          <a:p>
            <a:pPr algn="just">
              <a:lnSpc>
                <a:spcPct val="115000"/>
              </a:lnSpc>
              <a:spcBef>
                <a:spcPts val="600"/>
              </a:spcBef>
              <a:spcAft>
                <a:spcPts val="600"/>
              </a:spcAft>
            </a:pPr>
            <a:endParaRPr lang="en-US" altLang="zh-CN" sz="2000" kern="100" dirty="0">
              <a:latin typeface="微软雅黑" panose="020B0503020204020204" pitchFamily="34" charset="-122"/>
              <a:ea typeface="微软雅黑" panose="020B0503020204020204" pitchFamily="34" charset="-122"/>
            </a:endParaRPr>
          </a:p>
        </p:txBody>
      </p:sp>
      <p:sp>
        <p:nvSpPr>
          <p:cNvPr id="17" name="标题 1"/>
          <p:cNvSpPr>
            <a:spLocks noGrp="1"/>
          </p:cNvSpPr>
          <p:nvPr>
            <p:ph type="title"/>
          </p:nvPr>
        </p:nvSpPr>
        <p:spPr>
          <a:xfrm>
            <a:off x="1131375" y="136525"/>
            <a:ext cx="8277667" cy="725407"/>
          </a:xfrm>
        </p:spPr>
        <p:txBody>
          <a:bodyPr vert="horz" lIns="91440" tIns="45720" rIns="91440" bIns="45720" rtlCol="0" anchor="ctr">
            <a:normAutofit fontScale="90000"/>
          </a:bodyPr>
          <a:lstStyle/>
          <a:p>
            <a:r>
              <a:rPr kumimoji="1" lang="zh-CN" altLang="en-US" dirty="0">
                <a:solidFill>
                  <a:schemeClr val="tx1"/>
                </a:solidFill>
              </a:rPr>
              <a:t>實驗十一：</a:t>
            </a:r>
            <a:r>
              <a:rPr kumimoji="1" dirty="0" err="1"/>
              <a:t>實現本地DNS緩存中毒攻擊</a:t>
            </a:r>
            <a:endParaRPr kumimoji="1" dirty="0"/>
          </a:p>
        </p:txBody>
      </p:sp>
      <p:sp>
        <p:nvSpPr>
          <p:cNvPr id="18" name="TextBox 17"/>
          <p:cNvSpPr txBox="1"/>
          <p:nvPr/>
        </p:nvSpPr>
        <p:spPr>
          <a:xfrm>
            <a:off x="9162415"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08965" y="991870"/>
            <a:ext cx="5841365" cy="568960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graphicFrame>
        <p:nvGraphicFramePr>
          <p:cNvPr id="23" name="对象 22"/>
          <p:cNvGraphicFramePr>
            <a:graphicFrameLocks noChangeAspect="1"/>
          </p:cNvGraphicFramePr>
          <p:nvPr/>
        </p:nvGraphicFramePr>
        <p:xfrm>
          <a:off x="6579213" y="2409592"/>
          <a:ext cx="5327763" cy="2232302"/>
        </p:xfrm>
        <a:graphic>
          <a:graphicData uri="http://schemas.openxmlformats.org/presentationml/2006/ole">
            <mc:AlternateContent xmlns:mc="http://schemas.openxmlformats.org/markup-compatibility/2006">
              <mc:Choice xmlns:v="urn:schemas-microsoft-com:vml" Requires="v">
                <p:oleObj name="Visio" r:id="rId4" imgW="3209290" imgH="1344930" progId="Visio.Drawing.15">
                  <p:embed/>
                </p:oleObj>
              </mc:Choice>
              <mc:Fallback>
                <p:oleObj name="Visio" r:id="rId4" imgW="3209290" imgH="1344930" progId="Visio.Drawing.15">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9213" y="2409592"/>
                        <a:ext cx="5327763" cy="2232302"/>
                      </a:xfrm>
                      <a:prstGeom prst="rect">
                        <a:avLst/>
                      </a:prstGeom>
                      <a:noFill/>
                    </p:spPr>
                  </p:pic>
                </p:oleObj>
              </mc:Fallback>
            </mc:AlternateContent>
          </a:graphicData>
        </a:graphic>
      </p:graphicFrame>
      <p:cxnSp>
        <p:nvCxnSpPr>
          <p:cNvPr id="5" name="直接箭头连接符 4"/>
          <p:cNvCxnSpPr/>
          <p:nvPr/>
        </p:nvCxnSpPr>
        <p:spPr>
          <a:xfrm flipV="1">
            <a:off x="8756073" y="3589193"/>
            <a:ext cx="83127" cy="424873"/>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9" name="爆炸形: 14 pt  8"/>
          <p:cNvSpPr/>
          <p:nvPr/>
        </p:nvSpPr>
        <p:spPr>
          <a:xfrm>
            <a:off x="8263085" y="4014066"/>
            <a:ext cx="1158006" cy="634423"/>
          </a:xfrm>
          <a:prstGeom prst="irregularSeal2">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9" name="文本框 28"/>
          <p:cNvSpPr txBox="1"/>
          <p:nvPr/>
        </p:nvSpPr>
        <p:spPr>
          <a:xfrm>
            <a:off x="8348862" y="4199949"/>
            <a:ext cx="1410566" cy="307777"/>
          </a:xfrm>
          <a:prstGeom prst="rect">
            <a:avLst/>
          </a:prstGeom>
          <a:noFill/>
        </p:spPr>
        <p:txBody>
          <a:bodyPr wrap="square">
            <a:spAutoFit/>
          </a:bodyPr>
          <a:lstStyle/>
          <a:p>
            <a:r>
              <a:rPr lang="zh-CN" altLang="en-US" sz="1400" dirty="0">
                <a:solidFill>
                  <a:schemeClr val="bg1"/>
                </a:solidFill>
                <a:effectLst/>
                <a:latin typeface="微软雅黑" panose="020B0503020204020204" pitchFamily="34" charset="-122"/>
                <a:ea typeface="微软雅黑" panose="020B0503020204020204" pitchFamily="34" charset="-122"/>
                <a:cs typeface="Times New Roman" panose="02020503050405090304" pitchFamily="18" charset="0"/>
              </a:rPr>
              <a:t>僞造應答</a:t>
            </a:r>
            <a:endParaRPr lang="zh-CN" altLang="en-US" sz="1400" dirty="0">
              <a:solidFill>
                <a:schemeClr val="bg1"/>
              </a:solidFill>
            </a:endParaRPr>
          </a:p>
        </p:txBody>
      </p:sp>
      <p:sp>
        <p:nvSpPr>
          <p:cNvPr id="11" name="TextBox 10"/>
          <p:cNvSpPr txBox="1"/>
          <p:nvPr/>
        </p:nvSpPr>
        <p:spPr>
          <a:xfrm>
            <a:off x="883129" y="1929830"/>
            <a:ext cx="5242790" cy="3731214"/>
          </a:xfrm>
          <a:prstGeom prst="rect">
            <a:avLst/>
          </a:prstGeom>
          <a:noFill/>
        </p:spPr>
        <p:txBody>
          <a:bodyPr wrap="square">
            <a:spAutoFit/>
          </a:bodyPr>
          <a:lstStyle/>
          <a:p>
            <a:pPr lvl="0"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1.</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配置</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bind9</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本地</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緩存服務器</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受害者訪問某一</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域名</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3.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攻擊者編寫幷運行程序監聽</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請求，幷在監聽到請求後注入惡意</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響應</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4.</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 受害者</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得到錯誤</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DNS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響應</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rPr>
              <a:t>5</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在緩存有效期內，受害者和其他客戶端訪問該域名均將得到錯誤響應</a:t>
            </a: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6" name="标题 1"/>
          <p:cNvSpPr>
            <a:spLocks noGrp="1"/>
          </p:cNvSpPr>
          <p:nvPr>
            <p:ph type="title"/>
          </p:nvPr>
        </p:nvSpPr>
        <p:spPr>
          <a:xfrm>
            <a:off x="1131376" y="136525"/>
            <a:ext cx="8290920" cy="725407"/>
          </a:xfrm>
        </p:spPr>
        <p:txBody>
          <a:bodyPr vert="horz" lIns="91440" tIns="45720" rIns="91440" bIns="45720" rtlCol="0" anchor="ctr">
            <a:normAutofit fontScale="90000"/>
          </a:bodyPr>
          <a:lstStyle/>
          <a:p>
            <a:r>
              <a:rPr kumimoji="1" lang="zh-CN" altLang="en-US" dirty="0">
                <a:solidFill>
                  <a:schemeClr val="tx1"/>
                </a:solidFill>
              </a:rPr>
              <a:t>實驗十一：</a:t>
            </a:r>
            <a:r>
              <a:rPr kumimoji="1" dirty="0" err="1">
                <a:solidFill>
                  <a:schemeClr val="tx1">
                    <a:lumMod val="85000"/>
                    <a:lumOff val="15000"/>
                  </a:schemeClr>
                </a:solidFill>
              </a:rPr>
              <a:t>實現本地DNS緩存中毒攻擊</a:t>
            </a:r>
            <a:endParaRPr kumimoji="1" dirty="0">
              <a:solidFill>
                <a:schemeClr val="tx1">
                  <a:lumMod val="85000"/>
                  <a:lumOff val="15000"/>
                </a:schemeClr>
              </a:solidFill>
            </a:endParaRPr>
          </a:p>
        </p:txBody>
      </p:sp>
      <p:sp>
        <p:nvSpPr>
          <p:cNvPr id="17" name="TextBox 16"/>
          <p:cNvSpPr txBox="1"/>
          <p:nvPr/>
        </p:nvSpPr>
        <p:spPr>
          <a:xfrm>
            <a:off x="9162415"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4" name="文本框 3"/>
          <p:cNvSpPr txBox="1"/>
          <p:nvPr/>
        </p:nvSpPr>
        <p:spPr>
          <a:xfrm>
            <a:off x="6579235" y="4693920"/>
            <a:ext cx="5328285" cy="398780"/>
          </a:xfrm>
          <a:prstGeom prst="rect">
            <a:avLst/>
          </a:prstGeom>
          <a:noFill/>
        </p:spPr>
        <p:txBody>
          <a:bodyPr wrap="square" rtlCol="0" anchor="t">
            <a:spAutoFit/>
          </a:bodyPr>
          <a:lstStyle/>
          <a:p>
            <a:pPr algn="ctr"/>
            <a:r>
              <a:rPr lang="zh-CN" altLang="zh-CN" sz="2000" dirty="0">
                <a:effectLst/>
                <a:latin typeface="微软雅黑" panose="020B0503020204020204" pitchFamily="34" charset="-122"/>
                <a:ea typeface="微软雅黑" panose="020B0503020204020204" pitchFamily="34" charset="-122"/>
                <a:cs typeface="Times New Roman" panose="02020503050405090304" pitchFamily="18" charset="0"/>
                <a:sym typeface="+mn-ea"/>
              </a:rPr>
              <a:t>緩存中毒攻擊流程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g2-3713&amp;3764"/>
          <p:cNvSpPr/>
          <p:nvPr>
            <p:custDataLst>
              <p:tags r:id="rId1"/>
            </p:custDataLst>
          </p:nvPr>
        </p:nvSpPr>
        <p:spPr>
          <a:xfrm>
            <a:off x="472440" y="1014730"/>
            <a:ext cx="11565255" cy="296291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970280" y="1344930"/>
            <a:ext cx="10570210" cy="2399665"/>
          </a:xfrm>
          <a:prstGeom prst="rect">
            <a:avLst/>
          </a:prstGeom>
        </p:spPr>
        <p:txBody>
          <a:bodyPr wrap="square">
            <a:spAutoFit/>
          </a:bodyPr>
          <a:lstStyle/>
          <a:p>
            <a:pPr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域間源地址驗證技術</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SMA</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中，</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之間通過建立狀態機，幷在</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的邊界路由器進行標簽的添加、驗證和移除，實現自治域間的源地址驗證</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發送方邊界核心路由器在分組添加標簽，以傳遞源地址前綴的真實性。目的域在邊界路由器檢查標簽正確性，以驗證所關聯源地址的真實性，過濾僞造分組</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0" name="直线连接符 5"/>
          <p:cNvCxnSpPr>
            <a:stCxn id="23" idx="3"/>
          </p:cNvCxnSpPr>
          <p:nvPr/>
        </p:nvCxnSpPr>
        <p:spPr>
          <a:xfrm flipV="1">
            <a:off x="1642660" y="5159919"/>
            <a:ext cx="9004822" cy="1"/>
          </a:xfrm>
          <a:prstGeom prst="line">
            <a:avLst/>
          </a:prstGeom>
          <a:noFill/>
          <a:ln w="6350" cap="flat" cmpd="sng" algn="ctr">
            <a:solidFill>
              <a:srgbClr val="00436D"/>
            </a:solidFill>
            <a:prstDash val="solid"/>
            <a:miter lim="800000"/>
          </a:ln>
          <a:effectLst/>
        </p:spPr>
      </p:cxnSp>
      <p:pic>
        <p:nvPicPr>
          <p:cNvPr id="21" name="Picture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7051" y="4453052"/>
            <a:ext cx="2017582" cy="1332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5" descr="Service 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1126" y="4985294"/>
            <a:ext cx="5857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410" y="4921795"/>
            <a:ext cx="476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45" descr="Service 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2364" y="4985294"/>
            <a:ext cx="5857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45" descr="Service 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02018" y="5034681"/>
            <a:ext cx="5857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45" descr="Service 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29056" y="5000388"/>
            <a:ext cx="5857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26"/>
          <p:cNvSpPr txBox="1"/>
          <p:nvPr/>
        </p:nvSpPr>
        <p:spPr>
          <a:xfrm>
            <a:off x="1642660" y="4634571"/>
            <a:ext cx="1467068" cy="400110"/>
          </a:xfrm>
          <a:prstGeom prst="rect">
            <a:avLst/>
          </a:prstGeom>
          <a:noFill/>
        </p:spPr>
        <p:txBody>
          <a:bodyPr wrap="none" rtlCol="0">
            <a:spAutoFit/>
          </a:bodyPr>
          <a:lstStyle/>
          <a:p>
            <a:r>
              <a:rPr kumimoji="1" lang="zh-CN" altLang="en-US" sz="2000" dirty="0">
                <a:solidFill>
                  <a:prstClr val="black"/>
                </a:solidFill>
                <a:latin typeface="Calibri" panose="020F0502020204030204"/>
                <a:ea typeface="微软雅黑" panose="020B0503020204020204" pitchFamily="34" charset="-122"/>
              </a:rPr>
              <a:t>發送數據包</a:t>
            </a:r>
          </a:p>
        </p:txBody>
      </p:sp>
      <p:sp>
        <p:nvSpPr>
          <p:cNvPr id="28" name="文本框 27"/>
          <p:cNvSpPr txBox="1"/>
          <p:nvPr/>
        </p:nvSpPr>
        <p:spPr>
          <a:xfrm>
            <a:off x="2830860" y="5417767"/>
            <a:ext cx="1338828" cy="369332"/>
          </a:xfrm>
          <a:prstGeom prst="rect">
            <a:avLst/>
          </a:prstGeom>
          <a:noFill/>
        </p:spPr>
        <p:txBody>
          <a:bodyPr wrap="none" rtlCol="0">
            <a:spAutoFit/>
          </a:bodyPr>
          <a:lstStyle/>
          <a:p>
            <a:r>
              <a:rPr kumimoji="1" lang="zh-CN" altLang="en-US" dirty="0">
                <a:solidFill>
                  <a:prstClr val="black"/>
                </a:solidFill>
                <a:latin typeface="Calibri" panose="020F0502020204030204"/>
                <a:ea typeface="微软雅黑" panose="020B0503020204020204" pitchFamily="34" charset="-122"/>
              </a:rPr>
              <a:t>接入交換機</a:t>
            </a:r>
          </a:p>
        </p:txBody>
      </p:sp>
      <p:sp>
        <p:nvSpPr>
          <p:cNvPr id="29" name="文本框 28"/>
          <p:cNvSpPr txBox="1"/>
          <p:nvPr/>
        </p:nvSpPr>
        <p:spPr>
          <a:xfrm>
            <a:off x="4424599" y="5417767"/>
            <a:ext cx="1082348" cy="369332"/>
          </a:xfrm>
          <a:prstGeom prst="rect">
            <a:avLst/>
          </a:prstGeom>
          <a:noFill/>
        </p:spPr>
        <p:txBody>
          <a:bodyPr wrap="none" rtlCol="0">
            <a:spAutoFit/>
          </a:bodyPr>
          <a:lstStyle/>
          <a:p>
            <a:r>
              <a:rPr kumimoji="1" lang="en-US" altLang="zh-CN" dirty="0">
                <a:solidFill>
                  <a:prstClr val="black"/>
                </a:solidFill>
                <a:latin typeface="Calibri" panose="020F0502020204030204"/>
                <a:ea typeface="微软雅黑" panose="020B0503020204020204" pitchFamily="34" charset="-122"/>
              </a:rPr>
              <a:t>SMA</a:t>
            </a:r>
            <a:r>
              <a:rPr kumimoji="1" lang="zh-CN" altLang="en-US" dirty="0">
                <a:solidFill>
                  <a:prstClr val="black"/>
                </a:solidFill>
                <a:latin typeface="Calibri" panose="020F0502020204030204"/>
                <a:ea typeface="微软雅黑" panose="020B0503020204020204" pitchFamily="34" charset="-122"/>
              </a:rPr>
              <a:t>設備</a:t>
            </a:r>
          </a:p>
        </p:txBody>
      </p:sp>
      <p:sp>
        <p:nvSpPr>
          <p:cNvPr id="30" name="文本框 29"/>
          <p:cNvSpPr txBox="1"/>
          <p:nvPr/>
        </p:nvSpPr>
        <p:spPr>
          <a:xfrm>
            <a:off x="8880848" y="5416392"/>
            <a:ext cx="1082348" cy="369332"/>
          </a:xfrm>
          <a:prstGeom prst="rect">
            <a:avLst/>
          </a:prstGeom>
          <a:noFill/>
        </p:spPr>
        <p:txBody>
          <a:bodyPr wrap="none" rtlCol="0">
            <a:spAutoFit/>
          </a:bodyPr>
          <a:lstStyle/>
          <a:p>
            <a:r>
              <a:rPr kumimoji="1" lang="en-US" altLang="zh-CN" dirty="0">
                <a:solidFill>
                  <a:prstClr val="black"/>
                </a:solidFill>
                <a:latin typeface="Calibri" panose="020F0502020204030204"/>
                <a:ea typeface="微软雅黑" panose="020B0503020204020204" pitchFamily="34" charset="-122"/>
              </a:rPr>
              <a:t>SMA</a:t>
            </a:r>
            <a:r>
              <a:rPr kumimoji="1" lang="zh-CN" altLang="en-US" dirty="0">
                <a:solidFill>
                  <a:prstClr val="black"/>
                </a:solidFill>
                <a:latin typeface="Calibri" panose="020F0502020204030204"/>
                <a:ea typeface="微软雅黑" panose="020B0503020204020204" pitchFamily="34" charset="-122"/>
              </a:rPr>
              <a:t>設備</a:t>
            </a:r>
          </a:p>
        </p:txBody>
      </p:sp>
      <p:sp>
        <p:nvSpPr>
          <p:cNvPr id="31" name="文本框 30"/>
          <p:cNvSpPr txBox="1"/>
          <p:nvPr/>
        </p:nvSpPr>
        <p:spPr>
          <a:xfrm>
            <a:off x="10152535" y="5436434"/>
            <a:ext cx="1338828" cy="369332"/>
          </a:xfrm>
          <a:prstGeom prst="rect">
            <a:avLst/>
          </a:prstGeom>
          <a:noFill/>
        </p:spPr>
        <p:txBody>
          <a:bodyPr wrap="none" rtlCol="0">
            <a:spAutoFit/>
          </a:bodyPr>
          <a:lstStyle/>
          <a:p>
            <a:r>
              <a:rPr kumimoji="1" lang="zh-CN" altLang="en-US" dirty="0">
                <a:solidFill>
                  <a:prstClr val="black"/>
                </a:solidFill>
                <a:latin typeface="Calibri" panose="020F0502020204030204"/>
                <a:ea typeface="微软雅黑" panose="020B0503020204020204" pitchFamily="34" charset="-122"/>
              </a:rPr>
              <a:t>接入交換機</a:t>
            </a:r>
          </a:p>
        </p:txBody>
      </p:sp>
      <p:sp>
        <p:nvSpPr>
          <p:cNvPr id="32" name="文本框 31"/>
          <p:cNvSpPr txBox="1"/>
          <p:nvPr/>
        </p:nvSpPr>
        <p:spPr>
          <a:xfrm>
            <a:off x="6942830" y="4965212"/>
            <a:ext cx="646331" cy="369332"/>
          </a:xfrm>
          <a:prstGeom prst="rect">
            <a:avLst/>
          </a:prstGeom>
          <a:noFill/>
        </p:spPr>
        <p:txBody>
          <a:bodyPr wrap="none" rtlCol="0">
            <a:spAutoFit/>
          </a:bodyPr>
          <a:lstStyle/>
          <a:p>
            <a:r>
              <a:rPr kumimoji="1" lang="zh-CN" altLang="en-US" dirty="0">
                <a:solidFill>
                  <a:prstClr val="black"/>
                </a:solidFill>
                <a:latin typeface="Calibri" panose="020F0502020204030204"/>
                <a:ea typeface="微软雅黑" panose="020B0503020204020204" pitchFamily="34" charset="-122"/>
              </a:rPr>
              <a:t>網絡</a:t>
            </a:r>
          </a:p>
        </p:txBody>
      </p:sp>
      <p:sp>
        <p:nvSpPr>
          <p:cNvPr id="33" name="文本框 32"/>
          <p:cNvSpPr txBox="1"/>
          <p:nvPr/>
        </p:nvSpPr>
        <p:spPr>
          <a:xfrm>
            <a:off x="4319277" y="4426244"/>
            <a:ext cx="1107996" cy="369332"/>
          </a:xfrm>
          <a:prstGeom prst="rect">
            <a:avLst/>
          </a:prstGeom>
          <a:noFill/>
        </p:spPr>
        <p:txBody>
          <a:bodyPr wrap="none" rtlCol="0">
            <a:spAutoFit/>
          </a:bodyPr>
          <a:lstStyle/>
          <a:p>
            <a:r>
              <a:rPr kumimoji="1" lang="zh-CN" altLang="en-US" b="1" dirty="0">
                <a:latin typeface="Calibri" panose="020F0502020204030204"/>
                <a:ea typeface="微软雅黑" panose="020B0503020204020204" pitchFamily="34" charset="-122"/>
              </a:rPr>
              <a:t>添加標簽</a:t>
            </a:r>
          </a:p>
        </p:txBody>
      </p:sp>
      <p:sp>
        <p:nvSpPr>
          <p:cNvPr id="34" name="文本框 33"/>
          <p:cNvSpPr txBox="1"/>
          <p:nvPr/>
        </p:nvSpPr>
        <p:spPr>
          <a:xfrm>
            <a:off x="8840913" y="4475631"/>
            <a:ext cx="1123769" cy="369332"/>
          </a:xfrm>
          <a:prstGeom prst="rect">
            <a:avLst/>
          </a:prstGeom>
          <a:noFill/>
        </p:spPr>
        <p:txBody>
          <a:bodyPr wrap="none" rtlCol="0">
            <a:spAutoFit/>
          </a:bodyPr>
          <a:lstStyle/>
          <a:p>
            <a:r>
              <a:rPr kumimoji="1" lang="zh-CN" altLang="en-US" b="1" dirty="0">
                <a:latin typeface="Calibri" panose="020F0502020204030204"/>
                <a:ea typeface="微软雅黑" panose="020B0503020204020204" pitchFamily="34" charset="-122"/>
              </a:rPr>
              <a:t>驗證標簽</a:t>
            </a:r>
          </a:p>
        </p:txBody>
      </p:sp>
      <p:cxnSp>
        <p:nvCxnSpPr>
          <p:cNvPr id="35" name="直线箭头连接符 22"/>
          <p:cNvCxnSpPr/>
          <p:nvPr/>
        </p:nvCxnSpPr>
        <p:spPr>
          <a:xfrm>
            <a:off x="1889986" y="5013216"/>
            <a:ext cx="940874" cy="0"/>
          </a:xfrm>
          <a:prstGeom prst="straightConnector1">
            <a:avLst/>
          </a:prstGeom>
          <a:noFill/>
          <a:ln w="6350" cap="flat" cmpd="sng" algn="ctr">
            <a:solidFill>
              <a:srgbClr val="C00000"/>
            </a:solidFill>
            <a:prstDash val="solid"/>
            <a:miter lim="800000"/>
            <a:tailEnd type="triangle"/>
          </a:ln>
          <a:effectLst/>
        </p:spPr>
      </p:cxnSp>
      <p:sp>
        <p:nvSpPr>
          <p:cNvPr id="36"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實驗十二：</a:t>
            </a:r>
            <a:r>
              <a:rPr kumimoji="1" lang="zh-CN" altLang="en-US" dirty="0">
                <a:solidFill>
                  <a:schemeClr val="tx1">
                    <a:lumMod val="85000"/>
                    <a:lumOff val="15000"/>
                  </a:schemeClr>
                </a:solidFill>
              </a:rPr>
              <a:t>域間源地址驗證技術模擬</a:t>
            </a:r>
          </a:p>
        </p:txBody>
      </p:sp>
      <p:sp>
        <p:nvSpPr>
          <p:cNvPr id="37" name="TextBox 36"/>
          <p:cNvSpPr txBox="1"/>
          <p:nvPr/>
        </p:nvSpPr>
        <p:spPr>
          <a:xfrm>
            <a:off x="9154096" y="136525"/>
            <a:ext cx="2894683" cy="725407"/>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r>
              <a:rPr lang="zh-CN" altLang="en-US" dirty="0">
                <a:solidFill>
                  <a:schemeClr val="accent4"/>
                </a:solidFill>
                <a:sym typeface="+mn-ea"/>
              </a:rPr>
              <a:t>★</a:t>
            </a:r>
            <a:r>
              <a:rPr lang="zh-CN" altLang="en-US" dirty="0">
                <a:solidFill>
                  <a:schemeClr val="accent4"/>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87680" y="904875"/>
            <a:ext cx="11349355" cy="262763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929640" y="1337310"/>
            <a:ext cx="10587355" cy="1884555"/>
          </a:xfrm>
          <a:prstGeom prst="rect">
            <a:avLst/>
          </a:prstGeom>
        </p:spPr>
        <p:txBody>
          <a:bodyPr wrap="square">
            <a:spAutoFit/>
          </a:bodyPr>
          <a:lstStyle/>
          <a:p>
            <a:pPr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實驗要求與參考資料：</a:t>
            </a:r>
            <a:endParaRPr lang="en-US" altLang="zh-CN" sz="2000" dirty="0">
              <a:effectLst/>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實驗</a:t>
            </a:r>
            <a:r>
              <a:rPr lang="zh-CN" altLang="en-US" sz="2000" dirty="0">
                <a:solidFill>
                  <a:srgbClr val="C00000"/>
                </a:solidFill>
                <a:effectLst/>
                <a:latin typeface="微软雅黑" panose="020B0503020204020204" pitchFamily="34" charset="-122"/>
                <a:ea typeface="微软雅黑" panose="020B0503020204020204" pitchFamily="34" charset="-122"/>
                <a:cs typeface="Times New Roman" panose="02020503050405090304" pitchFamily="18" charset="0"/>
              </a:rPr>
              <a:t>環境配置</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兩台計算機</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，兩台計算機分別充當發送方邊界路由器以及目的域邊界路由器，進行狀態機建立、添加標簽、驗證標簽三項功能的模擬</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可將兩台計算機作爲一個虛擬機運行在同一物理計算機中</a:t>
            </a:r>
            <a:endParaRPr kumimoji="0" lang="en-US" altLang="zh-CN" sz="2800" b="1" i="0" u="none" strike="noStrike" kern="1200" cap="none" spc="0" normalizeH="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文本框 35"/>
          <p:cNvSpPr txBox="1"/>
          <p:nvPr/>
        </p:nvSpPr>
        <p:spPr>
          <a:xfrm>
            <a:off x="7314779" y="4077432"/>
            <a:ext cx="4745360"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協商建立狀態機</a:t>
            </a:r>
          </a:p>
        </p:txBody>
      </p:sp>
      <p:pic>
        <p:nvPicPr>
          <p:cNvPr id="37" name="图片 36"/>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274682" y="3863350"/>
            <a:ext cx="5127534" cy="2174043"/>
          </a:xfrm>
          <a:prstGeom prst="rect">
            <a:avLst/>
          </a:prstGeom>
        </p:spPr>
      </p:pic>
      <p:grpSp>
        <p:nvGrpSpPr>
          <p:cNvPr id="38" name="组合 37"/>
          <p:cNvGrpSpPr/>
          <p:nvPr/>
        </p:nvGrpSpPr>
        <p:grpSpPr>
          <a:xfrm>
            <a:off x="1274682" y="4035973"/>
            <a:ext cx="5864235" cy="483028"/>
            <a:chOff x="762303" y="4193628"/>
            <a:chExt cx="5864235" cy="483028"/>
          </a:xfrm>
        </p:grpSpPr>
        <p:sp>
          <p:nvSpPr>
            <p:cNvPr id="39" name="矩形 38"/>
            <p:cNvSpPr/>
            <p:nvPr/>
          </p:nvSpPr>
          <p:spPr>
            <a:xfrm>
              <a:off x="762303" y="4193628"/>
              <a:ext cx="4887491" cy="4830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p:cNvCxnSpPr/>
            <p:nvPr/>
          </p:nvCxnSpPr>
          <p:spPr>
            <a:xfrm flipH="1">
              <a:off x="5649794" y="4435626"/>
              <a:ext cx="976744" cy="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grpSp>
      <p:sp>
        <p:nvSpPr>
          <p:cNvPr id="42" name="右大括号 41"/>
          <p:cNvSpPr/>
          <p:nvPr/>
        </p:nvSpPr>
        <p:spPr>
          <a:xfrm>
            <a:off x="6027458" y="4616050"/>
            <a:ext cx="269430" cy="1324294"/>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3" name="直接箭头连接符 42"/>
          <p:cNvCxnSpPr/>
          <p:nvPr/>
        </p:nvCxnSpPr>
        <p:spPr>
          <a:xfrm flipH="1">
            <a:off x="6487510" y="5278197"/>
            <a:ext cx="844741" cy="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44" name="文本框 43"/>
          <p:cNvSpPr txBox="1"/>
          <p:nvPr/>
        </p:nvSpPr>
        <p:spPr>
          <a:xfrm>
            <a:off x="7332251" y="5037397"/>
            <a:ext cx="4745360" cy="400110"/>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檢驗標簽，同步狀態機</a:t>
            </a:r>
          </a:p>
        </p:txBody>
      </p:sp>
      <p:sp>
        <p:nvSpPr>
          <p:cNvPr id="17" name="标题 1"/>
          <p:cNvSpPr>
            <a:spLocks noGrp="1"/>
          </p:cNvSpPr>
          <p:nvPr>
            <p:ph type="title"/>
          </p:nvPr>
        </p:nvSpPr>
        <p:spPr>
          <a:xfrm>
            <a:off x="1131376" y="136525"/>
            <a:ext cx="8022720" cy="725407"/>
          </a:xfrm>
        </p:spPr>
        <p:txBody>
          <a:bodyPr vert="horz" lIns="91440" tIns="45720" rIns="91440" bIns="45720" rtlCol="0" anchor="ctr">
            <a:normAutofit fontScale="90000"/>
          </a:bodyPr>
          <a:lstStyle/>
          <a:p>
            <a:r>
              <a:rPr kumimoji="1" lang="zh-CN" altLang="en-US" dirty="0">
                <a:solidFill>
                  <a:schemeClr val="tx1"/>
                </a:solidFill>
              </a:rPr>
              <a:t>實驗十二：</a:t>
            </a:r>
            <a:r>
              <a:rPr kumimoji="1" lang="zh-CN" altLang="en-US" dirty="0">
                <a:solidFill>
                  <a:schemeClr val="tx1">
                    <a:lumMod val="85000"/>
                    <a:lumOff val="15000"/>
                  </a:schemeClr>
                </a:solidFill>
                <a:sym typeface="+mn-ea"/>
              </a:rPr>
              <a:t>域間源地址驗證技術模擬</a:t>
            </a:r>
            <a:endParaRPr kumimoji="1" lang="zh-CN" altLang="en-US" dirty="0">
              <a:solidFill>
                <a:schemeClr val="tx1">
                  <a:lumMod val="85000"/>
                  <a:lumOff val="15000"/>
                </a:schemeClr>
              </a:solidFill>
            </a:endParaRPr>
          </a:p>
        </p:txBody>
      </p:sp>
      <p:sp>
        <p:nvSpPr>
          <p:cNvPr id="18" name="TextBox 17"/>
          <p:cNvSpPr txBox="1"/>
          <p:nvPr/>
        </p:nvSpPr>
        <p:spPr>
          <a:xfrm>
            <a:off x="9116060" y="136525"/>
            <a:ext cx="2933065"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r>
              <a:rPr lang="zh-CN" altLang="en-US" dirty="0">
                <a:solidFill>
                  <a:schemeClr val="accent4"/>
                </a:solidFill>
                <a:sym typeface="+mn-ea"/>
              </a:rPr>
              <a:t>★</a:t>
            </a:r>
            <a:r>
              <a:rPr lang="zh-CN" altLang="en-US" dirty="0">
                <a:solidFill>
                  <a:schemeClr val="accent4"/>
                </a:solidFill>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48970" y="861695"/>
            <a:ext cx="11082655" cy="3343910"/>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1007745" y="1277620"/>
            <a:ext cx="10261600" cy="1291590"/>
          </a:xfrm>
          <a:prstGeom prst="rect">
            <a:avLst/>
          </a:prstGeom>
        </p:spPr>
        <p:txBody>
          <a:bodyPr wrap="square">
            <a:spAutoFit/>
          </a:bodyPr>
          <a:lstStyle/>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本實驗使用基于流量交互圖的攻擊流量識別程序，來檢測公開數據集當中的攻擊流量，進而分離攻擊流量以及與之相關的正常流量，最後繪製流量交互圖分析攻擊流量</a:t>
            </a:r>
          </a:p>
        </p:txBody>
      </p:sp>
      <p:sp>
        <p:nvSpPr>
          <p:cNvPr id="25"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solidFill>
              </a:rPr>
              <a:t>實驗十三：</a:t>
            </a:r>
            <a:r>
              <a:rPr kumimoji="1" lang="zh-CN" altLang="en-US" dirty="0">
                <a:solidFill>
                  <a:schemeClr val="tx1">
                    <a:lumMod val="85000"/>
                    <a:lumOff val="15000"/>
                  </a:schemeClr>
                </a:solidFill>
              </a:rPr>
              <a:t>可視化分析流量交互圖 </a:t>
            </a:r>
          </a:p>
        </p:txBody>
      </p:sp>
      <p:sp>
        <p:nvSpPr>
          <p:cNvPr id="26" name="TextBox 25"/>
          <p:cNvSpPr txBox="1"/>
          <p:nvPr/>
        </p:nvSpPr>
        <p:spPr>
          <a:xfrm>
            <a:off x="9154160" y="136525"/>
            <a:ext cx="2894965"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4" name="文本框 3"/>
          <p:cNvSpPr txBox="1"/>
          <p:nvPr/>
        </p:nvSpPr>
        <p:spPr>
          <a:xfrm>
            <a:off x="991235" y="2904220"/>
            <a:ext cx="10279380" cy="784830"/>
          </a:xfrm>
          <a:prstGeom prst="rect">
            <a:avLst/>
          </a:prstGeom>
          <a:noFill/>
        </p:spPr>
        <p:txBody>
          <a:bodyPr wrap="square" rtlCol="0" anchor="t">
            <a:spAutoFit/>
          </a:bodyPr>
          <a:lstStyle/>
          <a:p>
            <a:pPr lvl="0" latinLnBrk="1">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實驗參考：</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a:lnSpc>
                <a:spcPct val="100000"/>
              </a:lnSpc>
              <a:spcBef>
                <a:spcPts val="600"/>
              </a:spcBef>
              <a:spcAft>
                <a:spcPts val="600"/>
              </a:spcAft>
            </a:pPr>
            <a:r>
              <a:rPr lang="zh-CN" altLang="en-US"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項目源碼：</a:t>
            </a:r>
            <a:r>
              <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https://github.com/fuchuanpu/HyperVision</a:t>
            </a:r>
          </a:p>
        </p:txBody>
      </p:sp>
      <p:sp>
        <p:nvSpPr>
          <p:cNvPr id="6" name="文本框 5"/>
          <p:cNvSpPr txBox="1"/>
          <p:nvPr/>
        </p:nvSpPr>
        <p:spPr>
          <a:xfrm>
            <a:off x="291465" y="5377815"/>
            <a:ext cx="1744980" cy="521970"/>
          </a:xfrm>
          <a:prstGeom prst="rect">
            <a:avLst/>
          </a:prstGeom>
          <a:noFill/>
        </p:spPr>
        <p:txBody>
          <a:bodyPr wrap="square">
            <a:spAutoFit/>
          </a:bodyPr>
          <a:lstStyle/>
          <a:p>
            <a:r>
              <a:rPr lang="zh-CN" altLang="en-US" sz="2800" b="1" dirty="0">
                <a:latin typeface="微软雅黑" panose="020B0503020204020204" pitchFamily="34" charset="-122"/>
                <a:ea typeface="微软雅黑" panose="020B0503020204020204" pitchFamily="34" charset="-122"/>
              </a:rPr>
              <a:t>請思考：</a:t>
            </a:r>
          </a:p>
        </p:txBody>
      </p:sp>
      <p:sp>
        <p:nvSpPr>
          <p:cNvPr id="7" name="文本框 6"/>
          <p:cNvSpPr txBox="1"/>
          <p:nvPr/>
        </p:nvSpPr>
        <p:spPr>
          <a:xfrm>
            <a:off x="1715135" y="4411980"/>
            <a:ext cx="8572500" cy="2399665"/>
          </a:xfrm>
          <a:prstGeom prst="rect">
            <a:avLst/>
          </a:prstGeom>
          <a:noFill/>
        </p:spPr>
        <p:txBody>
          <a:bodyPr wrap="square" rtlCol="0" anchor="t">
            <a:spAutoFit/>
          </a:bodyPr>
          <a:lstStyle/>
          <a:p>
            <a:pPr marL="457200" indent="-457200">
              <a:lnSpc>
                <a:spcPct val="150000"/>
              </a:lnSpc>
              <a:buAutoNum type="arabicPeriod"/>
            </a:pPr>
            <a:r>
              <a:rPr lang="zh-CN" altLang="en-US" sz="2000" dirty="0">
                <a:latin typeface="微软雅黑" panose="020B0503020204020204" pitchFamily="34" charset="-122"/>
                <a:ea typeface="微软雅黑" panose="020B0503020204020204" pitchFamily="34" charset="-122"/>
              </a:rPr>
              <a:t>實驗中介紹的流量交互圖檢測方法的具體原理是什麽</a:t>
            </a:r>
          </a:p>
          <a:p>
            <a:pPr marL="457200" indent="-457200">
              <a:lnSpc>
                <a:spcPct val="150000"/>
              </a:lnSpc>
              <a:buAutoNum type="arabicPeriod"/>
            </a:pPr>
            <a:r>
              <a:rPr lang="zh-CN" altLang="en-US" sz="2000" dirty="0">
                <a:latin typeface="微软雅黑" panose="020B0503020204020204" pitchFamily="34" charset="-122"/>
                <a:ea typeface="微软雅黑" panose="020B0503020204020204" pitchFamily="34" charset="-122"/>
              </a:rPr>
              <a:t>使用的是有監督訓練還是無監督訓練</a:t>
            </a:r>
          </a:p>
          <a:p>
            <a:pPr marL="457200" indent="-457200">
              <a:lnSpc>
                <a:spcPct val="150000"/>
              </a:lnSpc>
              <a:buAutoNum type="arabicPeriod"/>
            </a:pPr>
            <a:r>
              <a:rPr lang="zh-CN" altLang="en-US" sz="2000" dirty="0">
                <a:latin typeface="微软雅黑" panose="020B0503020204020204" pitchFamily="34" charset="-122"/>
                <a:ea typeface="微软雅黑" panose="020B0503020204020204" pitchFamily="34" charset="-122"/>
              </a:rPr>
              <a:t>具體采用了多少數據包進行訓練</a:t>
            </a:r>
          </a:p>
          <a:p>
            <a:pPr marL="457200" indent="-457200">
              <a:lnSpc>
                <a:spcPct val="150000"/>
              </a:lnSpc>
              <a:buAutoNum type="arabicPeriod"/>
            </a:pPr>
            <a:r>
              <a:rPr lang="zh-CN" altLang="en-US" sz="2000" dirty="0">
                <a:latin typeface="微软雅黑" panose="020B0503020204020204" pitchFamily="34" charset="-122"/>
                <a:ea typeface="微软雅黑" panose="020B0503020204020204" pitchFamily="34" charset="-122"/>
              </a:rPr>
              <a:t>具體采用了多少流進行訓練</a:t>
            </a:r>
          </a:p>
          <a:p>
            <a:pPr marL="457200" indent="-457200">
              <a:lnSpc>
                <a:spcPct val="150000"/>
              </a:lnSpc>
              <a:buAutoNum type="arabicPeriod"/>
            </a:pPr>
            <a:r>
              <a:rPr lang="zh-CN" altLang="en-US" sz="2000" dirty="0">
                <a:latin typeface="微软雅黑" panose="020B0503020204020204" pitchFamily="34" charset="-122"/>
                <a:ea typeface="微软雅黑" panose="020B0503020204020204" pitchFamily="34" charset="-122"/>
              </a:rPr>
              <a:t>檢測的準確度如何，如何解讀這些指標</a:t>
            </a:r>
          </a:p>
        </p:txBody>
      </p:sp>
      <p:sp>
        <p:nvSpPr>
          <p:cNvPr id="8" name="圆角矩形 2"/>
          <p:cNvSpPr>
            <a:spLocks noChangeArrowheads="1"/>
          </p:cNvSpPr>
          <p:nvPr/>
        </p:nvSpPr>
        <p:spPr bwMode="auto">
          <a:xfrm>
            <a:off x="6926580" y="5278120"/>
            <a:ext cx="4805045" cy="965200"/>
          </a:xfrm>
          <a:prstGeom prst="roundRect">
            <a:avLst>
              <a:gd name="adj" fmla="val 7537"/>
            </a:avLst>
          </a:prstGeom>
          <a:solidFill>
            <a:srgbClr val="002060"/>
          </a:solidFill>
          <a:ln w="12700">
            <a:noFill/>
          </a:ln>
          <a:effectLst>
            <a:outerShdw blurRad="254000" dist="127000" dir="5400000" sx="90000" sy="90000" rotWithShape="0">
              <a:prstClr val="black">
                <a:alpha val="15000"/>
              </a:prstClr>
            </a:outerShdw>
          </a:effectLst>
        </p:spPr>
        <p:txBody>
          <a:bodyPr lIns="144000" tIns="108000" rIns="144000" bIns="108000" anchor="ctr"/>
          <a:lstStyle>
            <a:lvl1pPr marL="342900" indent="-342900" eaLnBrk="0" hangingPunct="0">
              <a:defRPr>
                <a:solidFill>
                  <a:schemeClr val="tx1"/>
                </a:solidFill>
                <a:latin typeface="Arial" panose="020B0604020202090204" pitchFamily="34" charset="0"/>
                <a:ea typeface="宋体" pitchFamily="2" charset="-122"/>
              </a:defRPr>
            </a:lvl1pPr>
            <a:lvl2pPr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lvl="1"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如果你覺得這項工作還不錯，</a:t>
            </a:r>
            <a:endParaRPr lang="en-US" altLang="zh-CN" sz="2400" b="1" dirty="0">
              <a:solidFill>
                <a:schemeClr val="bg1"/>
              </a:solidFill>
              <a:latin typeface="微软雅黑" panose="020B0503020204020204" pitchFamily="34" charset="-122"/>
              <a:ea typeface="微软雅黑" panose="020B0503020204020204" pitchFamily="34" charset="-122"/>
            </a:endParaRPr>
          </a:p>
          <a:p>
            <a:pPr lvl="1"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請留給我們一個 </a:t>
            </a:r>
            <a:r>
              <a:rPr lang="en-US" altLang="zh-CN" sz="2400" b="1" dirty="0">
                <a:solidFill>
                  <a:schemeClr val="bg1"/>
                </a:solidFill>
                <a:latin typeface="微软雅黑" panose="020B0503020204020204" pitchFamily="34" charset="-122"/>
                <a:ea typeface="微软雅黑" panose="020B0503020204020204" pitchFamily="34" charset="-122"/>
              </a:rPr>
              <a:t>Star</a:t>
            </a:r>
            <a:r>
              <a:rPr lang="zh-CN" altLang="en-US" sz="2400" b="1" dirty="0">
                <a:solidFill>
                  <a:schemeClr val="bg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48970" y="913765"/>
            <a:ext cx="11082655" cy="557847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1008049" y="1277846"/>
            <a:ext cx="10604832" cy="3291840"/>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匿名通信網絡（如 Tor）雖然增强了用戶的隱私保護，但也面臨網站指紋攻擊的威脅。這種攻擊通過分析加密網絡流量的特徵來推斷用戶訪問的網站，即使在匿名網絡中也難以完全規避</a:t>
            </a: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在開發幷實現一種網站指紋攻擊模型，通過監聽和分析網絡流量模式推測用戶訪問的網站。 在Tor這樣的匿名通信系統中，儘管流量經過多重加密和混淆，不同網站的流量特徵（如數據包的方向、時間間隔等）仍然具有可區分性，攻擊者可以利用這些特徵進行識別。這種攻擊對用戶隱私構成嚴重威脅，因爲它可能暴露用戶的訪問習慣及敏感信息，從而影響通信的安全性</a:t>
            </a:r>
          </a:p>
        </p:txBody>
      </p:sp>
      <p:sp>
        <p:nvSpPr>
          <p:cNvPr id="25"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solidFill>
              </a:rPr>
              <a:t>實驗十四：</a:t>
            </a:r>
            <a:r>
              <a:rPr kumimoji="1" lang="zh-CN" altLang="en-US" dirty="0">
                <a:solidFill>
                  <a:schemeClr val="tx1">
                    <a:lumMod val="85000"/>
                    <a:lumOff val="15000"/>
                  </a:schemeClr>
                </a:solidFill>
              </a:rPr>
              <a:t>網站指紋攻擊實現 </a:t>
            </a:r>
          </a:p>
        </p:txBody>
      </p:sp>
      <p:sp>
        <p:nvSpPr>
          <p:cNvPr id="26" name="TextBox 25"/>
          <p:cNvSpPr txBox="1"/>
          <p:nvPr/>
        </p:nvSpPr>
        <p:spPr>
          <a:xfrm>
            <a:off x="9144635" y="136525"/>
            <a:ext cx="290449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6" name="文本框 5"/>
          <p:cNvSpPr txBox="1"/>
          <p:nvPr/>
        </p:nvSpPr>
        <p:spPr>
          <a:xfrm>
            <a:off x="1007745" y="4721860"/>
            <a:ext cx="10279380" cy="1554272"/>
          </a:xfrm>
          <a:prstGeom prst="rect">
            <a:avLst/>
          </a:prstGeom>
          <a:noFill/>
        </p:spPr>
        <p:txBody>
          <a:bodyPr wrap="square" rtlCol="0" anchor="t">
            <a:spAutoFit/>
          </a:bodyPr>
          <a:lstStyle/>
          <a:p>
            <a:pPr lvl="0" latinLnBrk="1">
              <a:lnSpc>
                <a:spcPct val="10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實驗參考：</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a:spcBef>
                <a:spcPts val="600"/>
              </a:spcBef>
              <a:spcAft>
                <a:spcPts val="600"/>
              </a:spcAft>
            </a:pPr>
            <a:r>
              <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a:t>
            </a:r>
            <a:r>
              <a:rPr lang="zh-CN" altLang="en-US"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 參考文章：</a:t>
            </a:r>
            <a:r>
              <a:rPr lang="en"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Robust and Reliable Early-Stage Website Fingerprinting Attacks via Spatial-Temporal Distribution Analysis</a:t>
            </a:r>
            <a:r>
              <a:rPr lang="en-US" altLang="zh-CN" sz="2000" dirty="0">
                <a:solidFill>
                  <a:srgbClr val="000000"/>
                </a:solidFill>
                <a:latin typeface="微软雅黑" panose="020B0503020204020204" pitchFamily="34" charset="-122"/>
                <a:ea typeface="微软雅黑" panose="020B0503020204020204" pitchFamily="34" charset="-122"/>
                <a:sym typeface="+mn-ea"/>
              </a:rPr>
              <a:t>, CCS 2024</a:t>
            </a:r>
            <a:endPar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a:p>
            <a:pPr algn="just">
              <a:lnSpc>
                <a:spcPct val="100000"/>
              </a:lnSpc>
              <a:spcBef>
                <a:spcPts val="600"/>
              </a:spcBef>
              <a:spcAft>
                <a:spcPts val="600"/>
              </a:spcAft>
            </a:pPr>
            <a:r>
              <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 </a:t>
            </a:r>
            <a:r>
              <a:rPr lang="zh-CN" altLang="en-US"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項目源碼：</a:t>
            </a:r>
            <a:r>
              <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hlinkClick r:id="rId4"/>
              </a:rPr>
              <a:t>https://github.com/Xinhao-Deng/Website-Fingerprinting-Library</a:t>
            </a:r>
            <a:endParaRPr lang="en-US" altLang="zh-CN" sz="20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648970" y="913765"/>
            <a:ext cx="11082655" cy="240982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1008048" y="1277846"/>
            <a:ext cx="10785457" cy="1691640"/>
          </a:xfrm>
          <a:prstGeom prst="rect">
            <a:avLst/>
          </a:prstGeom>
        </p:spPr>
        <p:txBody>
          <a:bodyPr wrap="square">
            <a:spAutoFit/>
          </a:bodyPr>
          <a:lstStyle/>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容錯算法可以用于構建一個分布式複製服務，能容忍少部分節點出現錯誤，持續穩定運行</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瞭解實際運行一個分布式系統需要配置的參數信息，加深對容錯算法的認識</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28" name="图形 27" descr="计算机"/>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3082" y="3267674"/>
            <a:ext cx="973460" cy="973460"/>
          </a:xfrm>
          <a:prstGeom prst="rect">
            <a:avLst/>
          </a:prstGeom>
        </p:spPr>
      </p:pic>
      <p:pic>
        <p:nvPicPr>
          <p:cNvPr id="29" name="图形 28" descr="计算机"/>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31931" y="3267674"/>
            <a:ext cx="973460" cy="973460"/>
          </a:xfrm>
          <a:prstGeom prst="rect">
            <a:avLst/>
          </a:prstGeom>
        </p:spPr>
      </p:pic>
      <p:pic>
        <p:nvPicPr>
          <p:cNvPr id="30" name="图形 29" descr="计算机"/>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3082" y="5116000"/>
            <a:ext cx="973460" cy="973460"/>
          </a:xfrm>
          <a:prstGeom prst="rect">
            <a:avLst/>
          </a:prstGeom>
        </p:spPr>
      </p:pic>
      <p:pic>
        <p:nvPicPr>
          <p:cNvPr id="31" name="图形 30" descr="计算机"/>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31931" y="5116000"/>
            <a:ext cx="973460" cy="973460"/>
          </a:xfrm>
          <a:prstGeom prst="rect">
            <a:avLst/>
          </a:prstGeom>
        </p:spPr>
      </p:pic>
      <p:cxnSp>
        <p:nvCxnSpPr>
          <p:cNvPr id="32" name="直线连接符 71"/>
          <p:cNvCxnSpPr>
            <a:stCxn id="30" idx="1"/>
            <a:endCxn id="31" idx="3"/>
          </p:cNvCxnSpPr>
          <p:nvPr/>
        </p:nvCxnSpPr>
        <p:spPr>
          <a:xfrm flipH="1">
            <a:off x="8105391" y="5602730"/>
            <a:ext cx="1847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线连接符 71"/>
          <p:cNvCxnSpPr>
            <a:stCxn id="29" idx="2"/>
            <a:endCxn id="31" idx="0"/>
          </p:cNvCxnSpPr>
          <p:nvPr/>
        </p:nvCxnSpPr>
        <p:spPr>
          <a:xfrm>
            <a:off x="7618661" y="4241134"/>
            <a:ext cx="0" cy="874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线连接符 71"/>
          <p:cNvCxnSpPr>
            <a:stCxn id="28" idx="1"/>
            <a:endCxn id="29" idx="3"/>
          </p:cNvCxnSpPr>
          <p:nvPr/>
        </p:nvCxnSpPr>
        <p:spPr>
          <a:xfrm flipH="1">
            <a:off x="8105391" y="3754404"/>
            <a:ext cx="1847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线连接符 71"/>
          <p:cNvCxnSpPr>
            <a:stCxn id="30" idx="0"/>
            <a:endCxn id="28" idx="2"/>
          </p:cNvCxnSpPr>
          <p:nvPr/>
        </p:nvCxnSpPr>
        <p:spPr>
          <a:xfrm flipV="1">
            <a:off x="10439812" y="4241134"/>
            <a:ext cx="0" cy="874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线连接符 71"/>
          <p:cNvCxnSpPr/>
          <p:nvPr/>
        </p:nvCxnSpPr>
        <p:spPr>
          <a:xfrm flipH="1">
            <a:off x="7942824" y="3906804"/>
            <a:ext cx="2162659" cy="144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线连接符 71"/>
          <p:cNvCxnSpPr/>
          <p:nvPr/>
        </p:nvCxnSpPr>
        <p:spPr>
          <a:xfrm flipH="1" flipV="1">
            <a:off x="7942824" y="4059204"/>
            <a:ext cx="2162659" cy="1296702"/>
          </a:xfrm>
          <a:prstGeom prst="line">
            <a:avLst/>
          </a:prstGeom>
        </p:spPr>
        <p:style>
          <a:lnRef idx="1">
            <a:schemeClr val="accent1"/>
          </a:lnRef>
          <a:fillRef idx="0">
            <a:schemeClr val="accent1"/>
          </a:fillRef>
          <a:effectRef idx="0">
            <a:schemeClr val="accent1"/>
          </a:effectRef>
          <a:fontRef idx="minor">
            <a:schemeClr val="tx1"/>
          </a:fontRef>
        </p:style>
      </p:cxnSp>
      <p:pic>
        <p:nvPicPr>
          <p:cNvPr id="38" name="图形 37" descr="Interne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66360" y="4297490"/>
            <a:ext cx="914400" cy="914400"/>
          </a:xfrm>
          <a:prstGeom prst="rect">
            <a:avLst/>
          </a:prstGeom>
        </p:spPr>
      </p:pic>
      <p:sp>
        <p:nvSpPr>
          <p:cNvPr id="39" name="矩形 38"/>
          <p:cNvSpPr/>
          <p:nvPr/>
        </p:nvSpPr>
        <p:spPr>
          <a:xfrm>
            <a:off x="7144016" y="5859962"/>
            <a:ext cx="1107996" cy="369332"/>
          </a:xfrm>
          <a:prstGeom prst="rect">
            <a:avLst/>
          </a:prstGeom>
        </p:spPr>
        <p:txBody>
          <a:bodyPr wrap="none">
            <a:spAutoFit/>
          </a:bodyPr>
          <a:lstStyle/>
          <a:p>
            <a:r>
              <a:rPr lang="zh-CN" altLang="en-US" b="1" dirty="0"/>
              <a:t>副本節點</a:t>
            </a:r>
            <a:endParaRPr lang="zh-CN" altLang="en-US" dirty="0"/>
          </a:p>
        </p:txBody>
      </p:sp>
      <p:sp>
        <p:nvSpPr>
          <p:cNvPr id="41" name="矩形 40"/>
          <p:cNvSpPr/>
          <p:nvPr/>
        </p:nvSpPr>
        <p:spPr>
          <a:xfrm>
            <a:off x="9948134" y="5859962"/>
            <a:ext cx="1107996" cy="369332"/>
          </a:xfrm>
          <a:prstGeom prst="rect">
            <a:avLst/>
          </a:prstGeom>
        </p:spPr>
        <p:txBody>
          <a:bodyPr wrap="none">
            <a:spAutoFit/>
          </a:bodyPr>
          <a:lstStyle/>
          <a:p>
            <a:r>
              <a:rPr lang="zh-CN" altLang="en-US" b="1" dirty="0"/>
              <a:t>副本節點</a:t>
            </a:r>
            <a:endParaRPr lang="zh-CN" altLang="en-US" dirty="0"/>
          </a:p>
        </p:txBody>
      </p:sp>
      <p:cxnSp>
        <p:nvCxnSpPr>
          <p:cNvPr id="42" name="直线箭头连接符 15"/>
          <p:cNvCxnSpPr/>
          <p:nvPr/>
        </p:nvCxnSpPr>
        <p:spPr>
          <a:xfrm>
            <a:off x="4774473" y="4635826"/>
            <a:ext cx="2160239" cy="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364709" y="4262023"/>
            <a:ext cx="1107996" cy="369332"/>
          </a:xfrm>
          <a:prstGeom prst="rect">
            <a:avLst/>
          </a:prstGeom>
        </p:spPr>
        <p:txBody>
          <a:bodyPr wrap="none">
            <a:spAutoFit/>
          </a:bodyPr>
          <a:lstStyle/>
          <a:p>
            <a:r>
              <a:rPr lang="zh-CN" altLang="en-US" b="1" dirty="0"/>
              <a:t>請求指令</a:t>
            </a:r>
            <a:endParaRPr lang="zh-CN" altLang="en-US" dirty="0"/>
          </a:p>
        </p:txBody>
      </p:sp>
      <p:cxnSp>
        <p:nvCxnSpPr>
          <p:cNvPr id="44" name="直线箭头连接符 15"/>
          <p:cNvCxnSpPr/>
          <p:nvPr/>
        </p:nvCxnSpPr>
        <p:spPr>
          <a:xfrm flipH="1">
            <a:off x="4766641" y="4923858"/>
            <a:ext cx="2168071" cy="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368936" y="4923858"/>
            <a:ext cx="1107996" cy="369332"/>
          </a:xfrm>
          <a:prstGeom prst="rect">
            <a:avLst/>
          </a:prstGeom>
        </p:spPr>
        <p:txBody>
          <a:bodyPr wrap="none">
            <a:spAutoFit/>
          </a:bodyPr>
          <a:lstStyle/>
          <a:p>
            <a:r>
              <a:rPr lang="zh-CN" altLang="en-US" b="1" dirty="0"/>
              <a:t>執行結果</a:t>
            </a:r>
            <a:endParaRPr lang="zh-CN" altLang="en-US" dirty="0"/>
          </a:p>
        </p:txBody>
      </p:sp>
      <p:sp>
        <p:nvSpPr>
          <p:cNvPr id="46" name="矩形 45"/>
          <p:cNvSpPr/>
          <p:nvPr/>
        </p:nvSpPr>
        <p:spPr>
          <a:xfrm>
            <a:off x="3838368" y="5058582"/>
            <a:ext cx="877163" cy="369332"/>
          </a:xfrm>
          <a:prstGeom prst="rect">
            <a:avLst/>
          </a:prstGeom>
        </p:spPr>
        <p:txBody>
          <a:bodyPr wrap="none">
            <a:spAutoFit/>
          </a:bodyPr>
          <a:lstStyle/>
          <a:p>
            <a:r>
              <a:rPr lang="zh-CN" altLang="en-US" b="1" dirty="0"/>
              <a:t>客戶端</a:t>
            </a:r>
            <a:endParaRPr lang="zh-CN" altLang="en-US" dirty="0"/>
          </a:p>
        </p:txBody>
      </p:sp>
      <p:sp>
        <p:nvSpPr>
          <p:cNvPr id="47" name="矩形 46"/>
          <p:cNvSpPr/>
          <p:nvPr/>
        </p:nvSpPr>
        <p:spPr>
          <a:xfrm>
            <a:off x="8470155" y="6229294"/>
            <a:ext cx="1107996" cy="369332"/>
          </a:xfrm>
          <a:prstGeom prst="rect">
            <a:avLst/>
          </a:prstGeom>
        </p:spPr>
        <p:txBody>
          <a:bodyPr wrap="none">
            <a:spAutoFit/>
          </a:bodyPr>
          <a:lstStyle/>
          <a:p>
            <a:r>
              <a:rPr lang="zh-CN" altLang="en-US" b="1" dirty="0"/>
              <a:t>複製服務</a:t>
            </a:r>
            <a:endParaRPr lang="zh-CN" altLang="en-US" dirty="0"/>
          </a:p>
        </p:txBody>
      </p:sp>
      <p:sp>
        <p:nvSpPr>
          <p:cNvPr id="5" name="矩形 4"/>
          <p:cNvSpPr/>
          <p:nvPr/>
        </p:nvSpPr>
        <p:spPr>
          <a:xfrm>
            <a:off x="982100" y="3710406"/>
            <a:ext cx="2096084" cy="2306955"/>
          </a:xfrm>
          <a:prstGeom prst="rect">
            <a:avLst/>
          </a:prstGeom>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即使服務中的一個節點出現故障，服務依然能穩定運行</a:t>
            </a:r>
          </a:p>
        </p:txBody>
      </p:sp>
      <p:sp>
        <p:nvSpPr>
          <p:cNvPr id="25"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solidFill>
              </a:rPr>
              <a:t>實驗十五：</a:t>
            </a:r>
            <a:r>
              <a:rPr kumimoji="1" lang="zh-CN" altLang="en-US" dirty="0">
                <a:solidFill>
                  <a:schemeClr val="tx1">
                    <a:lumMod val="85000"/>
                    <a:lumOff val="15000"/>
                  </a:schemeClr>
                </a:solidFill>
              </a:rPr>
              <a:t>容錯算法的模擬與驗證 </a:t>
            </a:r>
          </a:p>
        </p:txBody>
      </p:sp>
      <p:sp>
        <p:nvSpPr>
          <p:cNvPr id="26" name="TextBox 25"/>
          <p:cNvSpPr txBox="1"/>
          <p:nvPr/>
        </p:nvSpPr>
        <p:spPr>
          <a:xfrm>
            <a:off x="9125585" y="136525"/>
            <a:ext cx="292354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554355" y="851535"/>
            <a:ext cx="11082655" cy="593788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870837" y="1871917"/>
            <a:ext cx="10723342" cy="4216539"/>
          </a:xfrm>
          <a:prstGeom prst="rect">
            <a:avLst/>
          </a:prstGeom>
        </p:spPr>
        <p:txBody>
          <a:bodyPr wrap="square">
            <a:spAutoFit/>
          </a:bodyPr>
          <a:lstStyle/>
          <a:p>
            <a:pPr latinLnBrk="1">
              <a:lnSpc>
                <a:spcPct val="15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5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用</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4</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個終端（進程）來構建一個四節點容錯服務，另外一個終端充當客戶端，發送服務請求</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5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借助一個拜占庭容錯共識開源庫</a:t>
            </a:r>
            <a:r>
              <a:rPr lang="en-US" altLang="zh-CN" sz="2000" dirty="0" err="1">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bft</a:t>
            </a:r>
            <a:r>
              <a:rPr lang="en-US" altLang="zh-CN" sz="2000"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-smart</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完成</a:t>
            </a:r>
          </a:p>
          <a:p>
            <a:pPr latinLnBrk="1">
              <a:lnSpc>
                <a:spcPct val="100000"/>
              </a:lnSpc>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lvl="0" algn="l" latinLnBrk="1">
              <a:lnSpc>
                <a:spcPct val="150000"/>
              </a:lnSpc>
              <a:buClrTx/>
              <a:buSzTx/>
              <a:buFontTx/>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en-US" altLang="zh-CN" sz="2000" b="1" dirty="0" err="1">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實驗步驟</a:t>
            </a: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a:t>
            </a:r>
          </a:p>
          <a:p>
            <a:pPr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開啓由四個共識節點，彼此建立連接，組成映射表服務，幷運行客戶端使用該服務</a:t>
            </a:r>
            <a:endParaRPr lang="en-US" altLang="zh-CN"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2.</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 手動關閉其中一個節點，然後查看各共識節點的運行狀態，幷通過客戶端判斷系統是否能够正常運行</a:t>
            </a: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3.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將步驟</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2</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中關閉的節點重新開啓，查看各共識節點的運行狀態，判斷是否可以恢復正常運行</a:t>
            </a:r>
          </a:p>
          <a:p>
            <a:pPr lvl="0" latinLnBrk="1">
              <a:lnSpc>
                <a:spcPct val="150000"/>
              </a:lnSpc>
            </a:pP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4. </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嘗試手動關閉</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Leader</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節點對應的機器，再通過客戶端發送請求，觀察</a:t>
            </a:r>
            <a:r>
              <a:rPr lang="en-US" altLang="zh-CN" dirty="0">
                <a:latin typeface="微软雅黑" panose="020B0503020204020204" pitchFamily="34" charset="-122"/>
                <a:ea typeface="微软雅黑" panose="020B0503020204020204" pitchFamily="34" charset="-122"/>
                <a:cs typeface="Times New Roman" panose="02020503050405090304" pitchFamily="18" charset="0"/>
              </a:rPr>
              <a:t>Leader</a:t>
            </a:r>
            <a:r>
              <a:rPr lang="zh-CN" altLang="en-US" dirty="0">
                <a:latin typeface="微软雅黑" panose="020B0503020204020204" pitchFamily="34" charset="-122"/>
                <a:ea typeface="微软雅黑" panose="020B0503020204020204" pitchFamily="34" charset="-122"/>
                <a:cs typeface="Times New Roman" panose="02020503050405090304" pitchFamily="18" charset="0"/>
              </a:rPr>
              <a:t>節點更換過程</a:t>
            </a:r>
          </a:p>
          <a:p>
            <a:pPr lvl="0" latinLnBrk="1">
              <a:lnSpc>
                <a:spcPct val="10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9"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solidFill>
              </a:rPr>
              <a:t>實驗十五：</a:t>
            </a:r>
            <a:r>
              <a:rPr kumimoji="1" lang="zh-CN" altLang="en-US" dirty="0">
                <a:solidFill>
                  <a:schemeClr val="tx1">
                    <a:lumMod val="85000"/>
                    <a:lumOff val="15000"/>
                  </a:schemeClr>
                </a:solidFill>
              </a:rPr>
              <a:t>容錯算法的模擬與驗證 </a:t>
            </a:r>
          </a:p>
        </p:txBody>
      </p:sp>
      <p:sp>
        <p:nvSpPr>
          <p:cNvPr id="10" name="TextBox 9"/>
          <p:cNvSpPr txBox="1"/>
          <p:nvPr/>
        </p:nvSpPr>
        <p:spPr>
          <a:xfrm>
            <a:off x="9162415"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72440" y="913765"/>
            <a:ext cx="5734050" cy="560133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44855" y="1497965"/>
            <a:ext cx="5224871" cy="4892675"/>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演示三種常見的 </a:t>
            </a:r>
            <a:r>
              <a:rPr lang="en-GB" altLang="zh-CN" sz="2000" dirty="0">
                <a:latin typeface="微软雅黑" panose="020B0503020204020204" pitchFamily="34" charset="-122"/>
                <a:ea typeface="微软雅黑" panose="020B0503020204020204" pitchFamily="34" charset="-122"/>
                <a:cs typeface="Times New Roman" panose="02020503050405090304" pitchFamily="18" charset="0"/>
              </a:rPr>
              <a:t>Web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攻擊：</a:t>
            </a:r>
            <a:r>
              <a:rPr lang="en-GB" altLang="zh-CN" sz="2000" dirty="0">
                <a:latin typeface="微软雅黑" panose="020B0503020204020204" pitchFamily="34" charset="-122"/>
                <a:ea typeface="微软雅黑" panose="020B0503020204020204" pitchFamily="34" charset="-122"/>
                <a:cs typeface="Times New Roman" panose="02020503050405090304" pitchFamily="18" charset="0"/>
              </a:rPr>
              <a:t>XSS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a:t>
            </a:r>
            <a:r>
              <a:rPr lang="en-GB" altLang="zh-CN" sz="2000" dirty="0">
                <a:latin typeface="微软雅黑" panose="020B0503020204020204" pitchFamily="34" charset="-122"/>
                <a:ea typeface="微软雅黑" panose="020B0503020204020204" pitchFamily="34" charset="-122"/>
                <a:cs typeface="Times New Roman" panose="02020503050405090304" pitchFamily="18" charset="0"/>
              </a:rPr>
              <a:t>CSRF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SQL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注入，幷體會現代瀏覽器如何防禦這些漏洞</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在</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2018</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年後的瀏覽器上完成本實驗，</a:t>
            </a:r>
            <a:r>
              <a:rPr lang="zh-CN" altLang="en-US" sz="2000" b="1" dirty="0">
                <a:latin typeface="微软雅黑" panose="020B0503020204020204" pitchFamily="34" charset="-122"/>
                <a:ea typeface="微软雅黑" panose="020B0503020204020204" pitchFamily="34" charset="-122"/>
                <a:cs typeface="Times New Roman" panose="02020503050405090304" pitchFamily="18" charset="0"/>
              </a:rPr>
              <a:t>需要關閉一系列防禦機制</a:t>
            </a: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 編寫幷部署存在漏洞的示例網站程序</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3.</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 進行持久</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非持久</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XSS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CSRF</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，以及</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SQL</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注入攻擊</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endParaRPr lang="zh-CN" altLang="en-US" sz="2000" dirty="0">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12" name="图片 11"/>
          <p:cNvPicPr>
            <a:picLocks noChangeAspect="1"/>
          </p:cNvPicPr>
          <p:nvPr/>
        </p:nvPicPr>
        <p:blipFill>
          <a:blip r:embed="rId4"/>
          <a:stretch>
            <a:fillRect/>
          </a:stretch>
        </p:blipFill>
        <p:spPr>
          <a:xfrm>
            <a:off x="6536484" y="3998163"/>
            <a:ext cx="5543854" cy="1128463"/>
          </a:xfrm>
          <a:prstGeom prst="rect">
            <a:avLst/>
          </a:prstGeom>
        </p:spPr>
      </p:pic>
      <p:pic>
        <p:nvPicPr>
          <p:cNvPr id="13" name="图片 12"/>
          <p:cNvPicPr>
            <a:picLocks noChangeAspect="1"/>
          </p:cNvPicPr>
          <p:nvPr/>
        </p:nvPicPr>
        <p:blipFill>
          <a:blip r:embed="rId5"/>
          <a:stretch>
            <a:fillRect/>
          </a:stretch>
        </p:blipFill>
        <p:spPr>
          <a:xfrm>
            <a:off x="6868736" y="1647372"/>
            <a:ext cx="4670614" cy="1452208"/>
          </a:xfrm>
          <a:prstGeom prst="rect">
            <a:avLst/>
          </a:prstGeom>
        </p:spPr>
      </p:pic>
      <p:sp>
        <p:nvSpPr>
          <p:cNvPr id="15" name="文本框 14"/>
          <p:cNvSpPr txBox="1"/>
          <p:nvPr/>
        </p:nvSpPr>
        <p:spPr>
          <a:xfrm>
            <a:off x="8393192" y="5373301"/>
            <a:ext cx="1729863" cy="453457"/>
          </a:xfrm>
          <a:prstGeom prst="rect">
            <a:avLst/>
          </a:prstGeom>
        </p:spPr>
        <p:txBody>
          <a:bodyPr wrap="square">
            <a:spAutoFit/>
          </a:bodyPr>
          <a:lstStyle>
            <a:defPPr>
              <a:defRPr lang="zh-CN"/>
            </a:defPPr>
            <a:lvl1pPr latinLnBrk="1">
              <a:lnSpc>
                <a:spcPct val="130000"/>
              </a:lnSpc>
              <a:defRPr sz="2000" b="1">
                <a:solidFill>
                  <a:srgbClr val="C00000"/>
                </a:solidFill>
                <a:latin typeface="微软雅黑" panose="020B0503020204020204" pitchFamily="34" charset="-122"/>
                <a:ea typeface="微软雅黑" panose="020B0503020204020204" pitchFamily="34" charset="-122"/>
                <a:cs typeface="Times New Roman" panose="02020503050405090304" pitchFamily="18" charset="0"/>
              </a:defRPr>
            </a:lvl1pPr>
          </a:lstStyle>
          <a:p>
            <a:r>
              <a:rPr lang="zh-CN" altLang="en-US" b="0" dirty="0">
                <a:solidFill>
                  <a:schemeClr val="tx1"/>
                </a:solidFill>
              </a:rPr>
              <a:t>非持久型</a:t>
            </a:r>
            <a:r>
              <a:rPr lang="en-US" altLang="zh-CN" b="0" dirty="0">
                <a:solidFill>
                  <a:schemeClr val="tx1"/>
                </a:solidFill>
              </a:rPr>
              <a:t>XSS</a:t>
            </a:r>
            <a:endParaRPr lang="zh-CN" altLang="en-US" b="0" dirty="0">
              <a:solidFill>
                <a:schemeClr val="tx1"/>
              </a:solidFill>
            </a:endParaRPr>
          </a:p>
        </p:txBody>
      </p:sp>
      <p:sp>
        <p:nvSpPr>
          <p:cNvPr id="17"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實驗十六：</a:t>
            </a:r>
            <a:r>
              <a:rPr kumimoji="1" dirty="0" err="1">
                <a:solidFill>
                  <a:schemeClr val="tx1">
                    <a:lumMod val="85000"/>
                    <a:lumOff val="15000"/>
                  </a:schemeClr>
                </a:solidFill>
              </a:rPr>
              <a:t>實現本地Web攻擊</a:t>
            </a:r>
            <a:r>
              <a:rPr kumimoji="1" lang="zh-CN" altLang="en-US" dirty="0">
                <a:solidFill>
                  <a:schemeClr val="tx1">
                    <a:lumMod val="85000"/>
                    <a:lumOff val="15000"/>
                  </a:schemeClr>
                </a:solidFill>
              </a:rPr>
              <a:t> </a:t>
            </a:r>
          </a:p>
        </p:txBody>
      </p:sp>
      <p:sp>
        <p:nvSpPr>
          <p:cNvPr id="18" name="TextBox 17"/>
          <p:cNvSpPr txBox="1"/>
          <p:nvPr/>
        </p:nvSpPr>
        <p:spPr>
          <a:xfrm>
            <a:off x="9144635" y="136525"/>
            <a:ext cx="290449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0" name="文本框 14"/>
          <p:cNvSpPr txBox="1"/>
          <p:nvPr/>
        </p:nvSpPr>
        <p:spPr>
          <a:xfrm>
            <a:off x="8498897" y="3152891"/>
            <a:ext cx="1568739" cy="453457"/>
          </a:xfrm>
          <a:prstGeom prst="rect">
            <a:avLst/>
          </a:prstGeom>
        </p:spPr>
        <p:txBody>
          <a:bodyPr wrap="square">
            <a:spAutoFit/>
          </a:bodyPr>
          <a:lstStyle>
            <a:defPPr>
              <a:defRPr lang="zh-CN"/>
            </a:defPPr>
            <a:lvl1pPr latinLnBrk="1">
              <a:lnSpc>
                <a:spcPct val="130000"/>
              </a:lnSpc>
              <a:defRPr sz="2000" b="1">
                <a:solidFill>
                  <a:srgbClr val="C00000"/>
                </a:solidFill>
                <a:latin typeface="微软雅黑" panose="020B0503020204020204" pitchFamily="34" charset="-122"/>
                <a:ea typeface="微软雅黑" panose="020B0503020204020204" pitchFamily="34" charset="-122"/>
                <a:cs typeface="Times New Roman" panose="02020503050405090304" pitchFamily="18" charset="0"/>
              </a:defRPr>
            </a:lvl1pPr>
          </a:lstStyle>
          <a:p>
            <a:r>
              <a:rPr lang="zh-CN" altLang="en-US" b="0" dirty="0">
                <a:solidFill>
                  <a:schemeClr val="tx1"/>
                </a:solidFill>
              </a:rPr>
              <a:t>持久型</a:t>
            </a:r>
            <a:r>
              <a:rPr lang="en-US" altLang="zh-CN" b="0" dirty="0">
                <a:solidFill>
                  <a:schemeClr val="tx1"/>
                </a:solidFill>
              </a:rPr>
              <a:t>XSS</a:t>
            </a:r>
            <a:endParaRPr lang="zh-CN" altLang="en-US" b="0"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38061" y="950795"/>
            <a:ext cx="6308707" cy="1476375"/>
          </a:xfrm>
          <a:prstGeom prst="rect">
            <a:avLst/>
          </a:prstGeom>
        </p:spPr>
        <p:txBody>
          <a:bodyPr wrap="square">
            <a:spAutoFit/>
          </a:bodyPr>
          <a:lstStyle/>
          <a:p>
            <a:pPr lvl="0" latinLnBrk="1">
              <a:lnSpc>
                <a:spcPct val="15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XSS</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實驗步驟舉例</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安裝</a:t>
            </a:r>
            <a:r>
              <a:rPr lang="en-GB" altLang="zh-CN" sz="2000" dirty="0">
                <a:latin typeface="微软雅黑" panose="020B0503020204020204" pitchFamily="34" charset="-122"/>
                <a:ea typeface="微软雅黑" panose="020B0503020204020204" pitchFamily="34" charset="-122"/>
                <a:cs typeface="Times New Roman" panose="02020503050405090304" pitchFamily="18" charset="0"/>
              </a:rPr>
              <a:t>Flask</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框架幷運行</a:t>
            </a:r>
            <a:r>
              <a:rPr lang="en-GB" altLang="zh-CN" sz="2000" dirty="0">
                <a:latin typeface="微软雅黑" panose="020B0503020204020204" pitchFamily="34" charset="-122"/>
                <a:ea typeface="微软雅黑" panose="020B0503020204020204" pitchFamily="34" charset="-122"/>
                <a:cs typeface="Times New Roman" panose="02020503050405090304" pitchFamily="18" charset="0"/>
              </a:rPr>
              <a:t>Flask</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服務器</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50000"/>
              </a:lnSpc>
            </a:pP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訪問受害服務器</a:t>
            </a:r>
            <a:endParaRPr lang="en-GB"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1" name="灯片编号占位符 2"/>
          <p:cNvSpPr txBox="1"/>
          <p:nvPr/>
        </p:nvSpPr>
        <p:spPr>
          <a:xfrm>
            <a:off x="9223060" y="5857076"/>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panose="030F0902030302020204"/>
                <a:ea typeface="微软雅黑 Light" panose="020B0502040204020203" charset="-122"/>
              </a:rPr>
              <a:t>28</a:t>
            </a:fld>
            <a:endParaRPr lang="zh-CN" altLang="en-US" sz="1200" dirty="0">
              <a:solidFill>
                <a:srgbClr val="000000">
                  <a:tint val="75000"/>
                </a:srgbClr>
              </a:solidFill>
              <a:latin typeface="Comic Sans MS" panose="030F0902030302020204"/>
              <a:ea typeface="微软雅黑 Light" panose="020B0502040204020203" charset="-122"/>
            </a:endParaRPr>
          </a:p>
        </p:txBody>
      </p:sp>
      <p:pic>
        <p:nvPicPr>
          <p:cNvPr id="10" name="图片 9"/>
          <p:cNvPicPr/>
          <p:nvPr/>
        </p:nvPicPr>
        <p:blipFill>
          <a:blip r:embed="rId3"/>
          <a:stretch>
            <a:fillRect/>
          </a:stretch>
        </p:blipFill>
        <p:spPr>
          <a:xfrm>
            <a:off x="487967" y="2320702"/>
            <a:ext cx="6878537" cy="1706823"/>
          </a:xfrm>
          <a:prstGeom prst="rect">
            <a:avLst/>
          </a:prstGeom>
          <a:effectLst>
            <a:outerShdw blurRad="50800" dist="38100" dir="2700000" algn="tl" rotWithShape="0">
              <a:prstClr val="black">
                <a:alpha val="40000"/>
              </a:prstClr>
            </a:outerShdw>
          </a:effectLst>
        </p:spPr>
      </p:pic>
      <p:pic>
        <p:nvPicPr>
          <p:cNvPr id="7" name="图片 6"/>
          <p:cNvPicPr/>
          <p:nvPr/>
        </p:nvPicPr>
        <p:blipFill>
          <a:blip r:embed="rId4"/>
          <a:stretch>
            <a:fillRect/>
          </a:stretch>
        </p:blipFill>
        <p:spPr>
          <a:xfrm>
            <a:off x="7874885" y="1042271"/>
            <a:ext cx="3216833" cy="3038253"/>
          </a:xfrm>
          <a:prstGeom prst="rect">
            <a:avLst/>
          </a:prstGeom>
          <a:effectLst>
            <a:outerShdw blurRad="50800" dist="38100" dir="2700000" algn="tl" rotWithShape="0">
              <a:prstClr val="black">
                <a:alpha val="40000"/>
              </a:prstClr>
            </a:outerShdw>
          </a:effectLst>
        </p:spPr>
      </p:pic>
      <p:pic>
        <p:nvPicPr>
          <p:cNvPr id="8" name="图片 12"/>
          <p:cNvPicPr/>
          <p:nvPr/>
        </p:nvPicPr>
        <p:blipFill>
          <a:blip r:embed="rId5"/>
          <a:stretch>
            <a:fillRect/>
          </a:stretch>
        </p:blipFill>
        <p:spPr>
          <a:xfrm>
            <a:off x="620152" y="3969994"/>
            <a:ext cx="4602503" cy="2266004"/>
          </a:xfrm>
          <a:prstGeom prst="rect">
            <a:avLst/>
          </a:prstGeom>
          <a:effectLst>
            <a:outerShdw blurRad="50800" dist="38100" dir="2700000" algn="tl" rotWithShape="0">
              <a:prstClr val="black">
                <a:alpha val="40000"/>
              </a:prstClr>
            </a:outerShdw>
          </a:effectLst>
        </p:spPr>
      </p:pic>
      <p:pic>
        <p:nvPicPr>
          <p:cNvPr id="9" name="图片 14"/>
          <p:cNvPicPr/>
          <p:nvPr/>
        </p:nvPicPr>
        <p:blipFill>
          <a:blip r:embed="rId6"/>
          <a:stretch>
            <a:fillRect/>
          </a:stretch>
        </p:blipFill>
        <p:spPr>
          <a:xfrm>
            <a:off x="5774148" y="4175694"/>
            <a:ext cx="5425425" cy="2046507"/>
          </a:xfrm>
          <a:prstGeom prst="rect">
            <a:avLst/>
          </a:prstGeom>
          <a:effectLst>
            <a:outerShdw blurRad="50800" dist="38100" dir="2700000" algn="tl" rotWithShape="0">
              <a:prstClr val="black">
                <a:alpha val="40000"/>
              </a:prstClr>
            </a:outerShdw>
          </a:effectLst>
        </p:spPr>
      </p:pic>
      <p:sp>
        <p:nvSpPr>
          <p:cNvPr id="12" name="文本框 9"/>
          <p:cNvSpPr txBox="1"/>
          <p:nvPr/>
        </p:nvSpPr>
        <p:spPr>
          <a:xfrm>
            <a:off x="6035388" y="6078071"/>
            <a:ext cx="6156612" cy="777457"/>
          </a:xfrm>
          <a:prstGeom prst="rect">
            <a:avLst/>
          </a:prstGeom>
          <a:noFill/>
        </p:spPr>
        <p:txBody>
          <a:bodyPr wrap="square">
            <a:spAutoFit/>
          </a:bodyPr>
          <a:lstStyle/>
          <a:p>
            <a:pPr latinLnBrk="1">
              <a:lnSpc>
                <a:spcPct val="130000"/>
              </a:lnSpc>
            </a:pP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4. </a:t>
            </a:r>
            <a:r>
              <a:rPr lang="zh-CN" altLang="en-US" sz="1800" dirty="0">
                <a:latin typeface="微软雅黑" panose="020B0503020204020204" pitchFamily="34" charset="-122"/>
                <a:ea typeface="微软雅黑" panose="020B0503020204020204" pitchFamily="34" charset="-122"/>
                <a:cs typeface="Times New Roman" panose="02020503050405090304" pitchFamily="18" charset="0"/>
              </a:rPr>
              <a:t>在評論框內輸入：</a:t>
            </a:r>
            <a:endParaRPr lang="en-US" altLang="zh-CN" sz="1800"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&lt;</a:t>
            </a:r>
            <a:r>
              <a:rPr lang="en-GB" altLang="zh-CN" sz="1800" dirty="0">
                <a:latin typeface="微软雅黑" panose="020B0503020204020204" pitchFamily="34" charset="-122"/>
                <a:ea typeface="微软雅黑" panose="020B0503020204020204" pitchFamily="34" charset="-122"/>
                <a:cs typeface="Times New Roman" panose="02020503050405090304" pitchFamily="18" charset="0"/>
              </a:rPr>
              <a:t>script&gt;alert('</a:t>
            </a:r>
            <a:r>
              <a:rPr lang="zh-CN" altLang="en-US" sz="1800" dirty="0">
                <a:latin typeface="微软雅黑" panose="020B0503020204020204" pitchFamily="34" charset="-122"/>
                <a:ea typeface="微软雅黑" panose="020B0503020204020204" pitchFamily="34" charset="-122"/>
                <a:cs typeface="Times New Roman" panose="02020503050405090304" pitchFamily="18" charset="0"/>
              </a:rPr>
              <a:t>持久型</a:t>
            </a:r>
            <a:r>
              <a:rPr lang="en-GB" altLang="zh-CN" sz="1800" dirty="0">
                <a:latin typeface="微软雅黑" panose="020B0503020204020204" pitchFamily="34" charset="-122"/>
                <a:ea typeface="微软雅黑" panose="020B0503020204020204" pitchFamily="34" charset="-122"/>
                <a:cs typeface="Times New Roman" panose="02020503050405090304" pitchFamily="18" charset="0"/>
              </a:rPr>
              <a:t>XSS')&lt;/script&gt;</a:t>
            </a:r>
          </a:p>
        </p:txBody>
      </p:sp>
      <p:sp>
        <p:nvSpPr>
          <p:cNvPr id="13" name="文本框 11"/>
          <p:cNvSpPr txBox="1"/>
          <p:nvPr/>
        </p:nvSpPr>
        <p:spPr>
          <a:xfrm>
            <a:off x="786246" y="6080543"/>
            <a:ext cx="6260522" cy="777457"/>
          </a:xfrm>
          <a:prstGeom prst="rect">
            <a:avLst/>
          </a:prstGeom>
          <a:noFill/>
        </p:spPr>
        <p:txBody>
          <a:bodyPr wrap="square">
            <a:spAutoFit/>
          </a:bodyPr>
          <a:lstStyle/>
          <a:p>
            <a:pPr latinLnBrk="1">
              <a:lnSpc>
                <a:spcPct val="130000"/>
              </a:lnSpc>
            </a:pP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3. </a:t>
            </a:r>
            <a:r>
              <a:rPr lang="zh-CN" altLang="en-US" sz="1800" dirty="0">
                <a:latin typeface="微软雅黑" panose="020B0503020204020204" pitchFamily="34" charset="-122"/>
                <a:ea typeface="微软雅黑" panose="020B0503020204020204" pitchFamily="34" charset="-122"/>
                <a:cs typeface="Times New Roman" panose="02020503050405090304" pitchFamily="18" charset="0"/>
              </a:rPr>
              <a:t>在搜索框內輸入：</a:t>
            </a:r>
            <a:endParaRPr lang="en-US" altLang="zh-CN" sz="1800"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&lt;</a:t>
            </a:r>
            <a:r>
              <a:rPr lang="en-GB" altLang="zh-CN" sz="1800" dirty="0">
                <a:latin typeface="微软雅黑" panose="020B0503020204020204" pitchFamily="34" charset="-122"/>
                <a:ea typeface="微软雅黑" panose="020B0503020204020204" pitchFamily="34" charset="-122"/>
                <a:cs typeface="Times New Roman" panose="02020503050405090304" pitchFamily="18" charset="0"/>
              </a:rPr>
              <a:t>script&gt;alert(</a:t>
            </a:r>
            <a:r>
              <a:rPr lang="en-US" altLang="zh-CN" sz="1800" dirty="0">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503050405090304" pitchFamily="18" charset="0"/>
              </a:rPr>
              <a:t>反射型</a:t>
            </a:r>
            <a:r>
              <a:rPr lang="en-GB" altLang="zh-CN" sz="1800" dirty="0">
                <a:latin typeface="微软雅黑" panose="020B0503020204020204" pitchFamily="34" charset="-122"/>
                <a:ea typeface="微软雅黑" panose="020B0503020204020204" pitchFamily="34" charset="-122"/>
                <a:cs typeface="Times New Roman" panose="02020503050405090304" pitchFamily="18" charset="0"/>
              </a:rPr>
              <a:t>XSS’)&lt;/script&gt;</a:t>
            </a:r>
            <a:endParaRPr lang="en-US" altLang="zh-CN" sz="18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7"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實驗十六：</a:t>
            </a:r>
            <a:r>
              <a:rPr kumimoji="1" dirty="0" err="1">
                <a:solidFill>
                  <a:schemeClr val="tx1">
                    <a:lumMod val="85000"/>
                    <a:lumOff val="15000"/>
                  </a:schemeClr>
                </a:solidFill>
              </a:rPr>
              <a:t>實現本地Web攻擊</a:t>
            </a:r>
            <a:r>
              <a:rPr kumimoji="1" lang="zh-CN" altLang="en-US" dirty="0">
                <a:solidFill>
                  <a:schemeClr val="tx1">
                    <a:lumMod val="85000"/>
                    <a:lumOff val="15000"/>
                  </a:schemeClr>
                </a:solidFill>
              </a:rPr>
              <a:t> </a:t>
            </a:r>
          </a:p>
        </p:txBody>
      </p:sp>
      <p:sp>
        <p:nvSpPr>
          <p:cNvPr id="18" name="TextBox 17"/>
          <p:cNvSpPr txBox="1"/>
          <p:nvPr/>
        </p:nvSpPr>
        <p:spPr>
          <a:xfrm>
            <a:off x="9162415"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79928" y="1778998"/>
            <a:ext cx="4791075" cy="614977"/>
          </a:xfrm>
          <a:prstGeom prst="rect">
            <a:avLst/>
          </a:prstGeom>
        </p:spPr>
        <p:txBody>
          <a:bodyPr wrap="square">
            <a:spAutoFit/>
          </a:bodyPr>
          <a:lstStyle/>
          <a:p>
            <a:pPr lvl="0" latinLnBrk="1">
              <a:lnSpc>
                <a:spcPct val="20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類似地可以完成</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CSRF</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和</a:t>
            </a: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rPr>
              <a:t>SQL</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注入攻擊</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9" name="图片 8"/>
          <p:cNvPicPr>
            <a:picLocks noChangeAspect="1"/>
          </p:cNvPicPr>
          <p:nvPr/>
        </p:nvPicPr>
        <p:blipFill>
          <a:blip r:embed="rId3"/>
          <a:stretch>
            <a:fillRect/>
          </a:stretch>
        </p:blipFill>
        <p:spPr>
          <a:xfrm>
            <a:off x="6867525" y="904875"/>
            <a:ext cx="3833495" cy="2979420"/>
          </a:xfrm>
          <a:prstGeom prst="rect">
            <a:avLst/>
          </a:prstGeom>
          <a:effectLst>
            <a:outerShdw blurRad="50800" dist="38100" dir="2700000" algn="tl" rotWithShape="0">
              <a:prstClr val="black">
                <a:alpha val="40000"/>
              </a:prstClr>
            </a:outerShdw>
          </a:effectLst>
        </p:spPr>
      </p:pic>
      <p:pic>
        <p:nvPicPr>
          <p:cNvPr id="5" name="图片 4"/>
          <p:cNvPicPr>
            <a:picLocks noChangeAspect="1"/>
          </p:cNvPicPr>
          <p:nvPr/>
        </p:nvPicPr>
        <p:blipFill>
          <a:blip r:embed="rId4"/>
          <a:stretch>
            <a:fillRect/>
          </a:stretch>
        </p:blipFill>
        <p:spPr>
          <a:xfrm>
            <a:off x="838200" y="4189730"/>
            <a:ext cx="9857105" cy="2287905"/>
          </a:xfrm>
          <a:prstGeom prst="rect">
            <a:avLst/>
          </a:prstGeom>
          <a:effectLst>
            <a:outerShdw blurRad="50800" dist="38100" dir="2700000" algn="tl" rotWithShape="0">
              <a:prstClr val="black">
                <a:alpha val="40000"/>
              </a:prstClr>
            </a:outerShdw>
          </a:effectLst>
        </p:spPr>
      </p:pic>
      <p:sp>
        <p:nvSpPr>
          <p:cNvPr id="6" name="文本框 5"/>
          <p:cNvSpPr txBox="1"/>
          <p:nvPr/>
        </p:nvSpPr>
        <p:spPr>
          <a:xfrm>
            <a:off x="840740" y="6459220"/>
            <a:ext cx="9874250" cy="398780"/>
          </a:xfrm>
          <a:prstGeom prst="rect">
            <a:avLst/>
          </a:prstGeom>
          <a:noFill/>
        </p:spPr>
        <p:txBody>
          <a:bodyPr wrap="square" rtlCol="0" anchor="t">
            <a:spAutoFit/>
          </a:bodyPr>
          <a:lstStyle/>
          <a:p>
            <a:pPr algn="ct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CSRF</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sym typeface="+mn-ea"/>
              </a:rPr>
              <a:t>攻擊原理</a:t>
            </a:r>
          </a:p>
        </p:txBody>
      </p:sp>
      <p:sp>
        <p:nvSpPr>
          <p:cNvPr id="7" name="文本框 6"/>
          <p:cNvSpPr txBox="1"/>
          <p:nvPr/>
        </p:nvSpPr>
        <p:spPr>
          <a:xfrm>
            <a:off x="6837680" y="3884295"/>
            <a:ext cx="3856990" cy="398780"/>
          </a:xfrm>
          <a:prstGeom prst="rect">
            <a:avLst/>
          </a:prstGeom>
          <a:noFill/>
        </p:spPr>
        <p:txBody>
          <a:bodyPr wrap="square" rtlCol="0" anchor="t">
            <a:spAutoFit/>
          </a:bodyPr>
          <a:lstStyle/>
          <a:p>
            <a:pPr algn="ctr"/>
            <a:r>
              <a:rPr lang="en-US" alt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SQL</a:t>
            </a: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sym typeface="+mn-ea"/>
              </a:rPr>
              <a:t>注入攻擊原理</a:t>
            </a:r>
          </a:p>
        </p:txBody>
      </p:sp>
      <p:sp>
        <p:nvSpPr>
          <p:cNvPr id="17"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實驗十六：</a:t>
            </a:r>
            <a:r>
              <a:rPr kumimoji="1" dirty="0" err="1">
                <a:solidFill>
                  <a:schemeClr val="tx1">
                    <a:lumMod val="85000"/>
                    <a:lumOff val="15000"/>
                  </a:schemeClr>
                </a:solidFill>
              </a:rPr>
              <a:t>實現本地Web攻擊</a:t>
            </a:r>
            <a:r>
              <a:rPr kumimoji="1" lang="zh-CN" altLang="en-US" dirty="0">
                <a:solidFill>
                  <a:schemeClr val="tx1">
                    <a:lumMod val="85000"/>
                    <a:lumOff val="15000"/>
                  </a:schemeClr>
                </a:solidFill>
              </a:rPr>
              <a:t> </a:t>
            </a:r>
          </a:p>
        </p:txBody>
      </p:sp>
      <p:sp>
        <p:nvSpPr>
          <p:cNvPr id="18" name="TextBox 17"/>
          <p:cNvSpPr txBox="1"/>
          <p:nvPr/>
        </p:nvSpPr>
        <p:spPr>
          <a:xfrm>
            <a:off x="9021445" y="136525"/>
            <a:ext cx="3027680" cy="725170"/>
          </a:xfrm>
          <a:prstGeom prst="rect">
            <a:avLst/>
          </a:prstGeom>
        </p:spPr>
        <p:txBody>
          <a:bodyPr vert="horz" lIns="91440" tIns="45720" rIns="91440" bIns="45720" rtlCol="0" anchor="ctr">
            <a:normAutofit/>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72440" y="802005"/>
            <a:ext cx="6536055" cy="601027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62303" y="1217755"/>
            <a:ext cx="5832461" cy="2454005"/>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加深對人工智能安全問題的認識，</a:t>
            </a:r>
            <a:r>
              <a:rPr lang="zh-CN" altLang="en-US" sz="2000" dirty="0">
                <a:effectLst/>
                <a:latin typeface="微软雅黑" panose="020B0503020204020204" pitchFamily="34" charset="-122"/>
                <a:ea typeface="微软雅黑" panose="020B0503020204020204" pitchFamily="34" charset="-122"/>
                <a:cs typeface="Times New Roman" panose="02020503050405090304" pitchFamily="18" charset="0"/>
              </a:rPr>
              <a:t>瞭解後門攻擊的實現邏輯以及防禦細節，以及相應的防禦</a:t>
            </a: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solidFill>
                  <a:srgbClr val="000000"/>
                </a:solidFill>
                <a:effectLst/>
                <a:latin typeface="微软雅黑" panose="020B0503020204020204" pitchFamily="34" charset="-122"/>
                <a:ea typeface="微软雅黑" panose="020B0503020204020204" pitchFamily="34" charset="-122"/>
                <a:cs typeface="Times New Roman" panose="02020503050405090304" pitchFamily="18" charset="0"/>
              </a:rPr>
              <a:t>采用成熟的神經網絡後門攻擊與防禦方案，對常見神經網絡結構植入後門，幷部署後門防禦機制</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1"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實驗十七：後門攻擊與防禦的實現</a:t>
            </a:r>
          </a:p>
        </p:txBody>
      </p:sp>
      <p:sp>
        <p:nvSpPr>
          <p:cNvPr id="12" name="TextBox 11"/>
          <p:cNvSpPr txBox="1"/>
          <p:nvPr/>
        </p:nvSpPr>
        <p:spPr>
          <a:xfrm>
            <a:off x="9162415"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7" name="TextBox 6"/>
          <p:cNvSpPr txBox="1"/>
          <p:nvPr/>
        </p:nvSpPr>
        <p:spPr>
          <a:xfrm>
            <a:off x="693664" y="3660162"/>
            <a:ext cx="5799768" cy="2421753"/>
          </a:xfrm>
          <a:prstGeom prst="rect">
            <a:avLst/>
          </a:prstGeom>
          <a:noFill/>
        </p:spPr>
        <p:txBody>
          <a:bodyPr wrap="square">
            <a:spAutoFit/>
          </a:bodyPr>
          <a:lstStyle/>
          <a:p>
            <a:pPr latinLnBrk="1">
              <a:lnSpc>
                <a:spcPct val="130000"/>
              </a:lnSpc>
            </a:pPr>
            <a:r>
              <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實驗資料：</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 </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BadNets</a:t>
            </a: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文章和源代碼</a:t>
            </a: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a:t>
            </a:r>
          </a:p>
          <a:p>
            <a:pPr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https://arxiv.org/abs/1708.06733 </a:t>
            </a:r>
          </a:p>
          <a:p>
            <a:pPr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https://github.com/Kooscii/BadNets </a:t>
            </a:r>
          </a:p>
          <a:p>
            <a:pPr lvl="0" latinLnBrk="1">
              <a:lnSpc>
                <a:spcPct val="130000"/>
              </a:lnSpc>
            </a:pP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2. Neural Cleanse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文章和源代碼</a:t>
            </a: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a:t>
            </a:r>
          </a:p>
          <a:p>
            <a:pPr lvl="0"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https://ieeexplore.ieee.org/abstract/document/8835365 </a:t>
            </a:r>
          </a:p>
          <a:p>
            <a:pPr lvl="0"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rPr>
              <a:t>https://github.com/bolunwang/backdoor </a:t>
            </a:r>
          </a:p>
        </p:txBody>
      </p:sp>
      <p:pic>
        <p:nvPicPr>
          <p:cNvPr id="5" name="Picture 4"/>
          <p:cNvPicPr>
            <a:picLocks noChangeAspect="1"/>
          </p:cNvPicPr>
          <p:nvPr/>
        </p:nvPicPr>
        <p:blipFill>
          <a:blip r:embed="rId4"/>
          <a:stretch>
            <a:fillRect/>
          </a:stretch>
        </p:blipFill>
        <p:spPr>
          <a:xfrm>
            <a:off x="7768135" y="1636406"/>
            <a:ext cx="3287794" cy="1915339"/>
          </a:xfrm>
          <a:prstGeom prst="rect">
            <a:avLst/>
          </a:prstGeom>
          <a:effectLst>
            <a:outerShdw blurRad="50800" dist="38100" dir="13500000" algn="br" rotWithShape="0">
              <a:prstClr val="black">
                <a:alpha val="40000"/>
              </a:prstClr>
            </a:outerShdw>
          </a:effectLst>
        </p:spPr>
      </p:pic>
      <p:pic>
        <p:nvPicPr>
          <p:cNvPr id="8" name="Picture 7"/>
          <p:cNvPicPr>
            <a:picLocks noChangeAspect="1"/>
          </p:cNvPicPr>
          <p:nvPr/>
        </p:nvPicPr>
        <p:blipFill>
          <a:blip r:embed="rId5"/>
          <a:stretch>
            <a:fillRect/>
          </a:stretch>
        </p:blipFill>
        <p:spPr>
          <a:xfrm>
            <a:off x="7768135" y="3551745"/>
            <a:ext cx="3287794" cy="1919393"/>
          </a:xfrm>
          <a:prstGeom prst="rect">
            <a:avLst/>
          </a:prstGeom>
          <a:effectLst>
            <a:outerShdw blurRad="50800" dist="38100" dir="13500000" algn="br" rotWithShape="0">
              <a:prstClr val="black">
                <a:alpha val="40000"/>
              </a:prstClr>
            </a:outerShdw>
          </a:effectLst>
        </p:spPr>
      </p:pic>
      <p:sp>
        <p:nvSpPr>
          <p:cNvPr id="13" name="文本框 14"/>
          <p:cNvSpPr txBox="1"/>
          <p:nvPr/>
        </p:nvSpPr>
        <p:spPr>
          <a:xfrm>
            <a:off x="8347009" y="5618066"/>
            <a:ext cx="2247100" cy="453457"/>
          </a:xfrm>
          <a:prstGeom prst="rect">
            <a:avLst/>
          </a:prstGeom>
        </p:spPr>
        <p:txBody>
          <a:bodyPr wrap="square">
            <a:spAutoFit/>
          </a:bodyPr>
          <a:lstStyle>
            <a:defPPr>
              <a:defRPr lang="zh-CN"/>
            </a:defPPr>
            <a:lvl1pPr latinLnBrk="1">
              <a:lnSpc>
                <a:spcPct val="130000"/>
              </a:lnSpc>
              <a:defRPr sz="2000" b="1">
                <a:solidFill>
                  <a:srgbClr val="C00000"/>
                </a:solidFill>
                <a:latin typeface="微软雅黑" panose="020B0503020204020204" pitchFamily="34" charset="-122"/>
                <a:ea typeface="微软雅黑" panose="020B0503020204020204" pitchFamily="34" charset="-122"/>
                <a:cs typeface="Times New Roman" panose="02020503050405090304" pitchFamily="18" charset="0"/>
              </a:defRPr>
            </a:lvl1pPr>
          </a:lstStyle>
          <a:p>
            <a:r>
              <a:rPr lang="zh-CN" altLang="en-US" b="0" dirty="0">
                <a:solidFill>
                  <a:schemeClr val="tx1"/>
                </a:solidFill>
              </a:rPr>
              <a:t>神經網絡暗門示意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實驗十七：</a:t>
            </a:r>
            <a:r>
              <a:rPr kumimoji="1" lang="zh-CN" altLang="en-US" dirty="0">
                <a:solidFill>
                  <a:schemeClr val="tx1">
                    <a:lumMod val="85000"/>
                    <a:lumOff val="15000"/>
                  </a:schemeClr>
                </a:solidFill>
                <a:sym typeface="+mn-ea"/>
              </a:rPr>
              <a:t>後門攻擊與防禦的實現</a:t>
            </a:r>
            <a:endParaRPr kumimoji="1" lang="zh-CN" altLang="en-US" dirty="0">
              <a:solidFill>
                <a:schemeClr val="tx1">
                  <a:lumMod val="85000"/>
                  <a:lumOff val="15000"/>
                </a:schemeClr>
              </a:solidFill>
            </a:endParaRPr>
          </a:p>
        </p:txBody>
      </p:sp>
      <p:sp>
        <p:nvSpPr>
          <p:cNvPr id="12" name="TextBox 11"/>
          <p:cNvSpPr txBox="1"/>
          <p:nvPr/>
        </p:nvSpPr>
        <p:spPr>
          <a:xfrm>
            <a:off x="9106535" y="136525"/>
            <a:ext cx="294259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p>
        </p:txBody>
      </p:sp>
      <p:sp>
        <p:nvSpPr>
          <p:cNvPr id="13" name="文本框 8"/>
          <p:cNvSpPr txBox="1"/>
          <p:nvPr/>
        </p:nvSpPr>
        <p:spPr>
          <a:xfrm>
            <a:off x="676472" y="1175413"/>
            <a:ext cx="6162478" cy="2053896"/>
          </a:xfrm>
          <a:prstGeom prst="rect">
            <a:avLst/>
          </a:prstGeom>
          <a:noFill/>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實驗要求：</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複現</a:t>
            </a:r>
            <a:r>
              <a:rPr lang="en-US" altLang="zh-CN" sz="2000" dirty="0" err="1">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BadNets</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暗門方案：</a:t>
            </a: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不改變原有深度學習模型結構，向訓練數據增加特定模式噪音，修改訓練數據標簽，沒有遇到特定模式噪音時正常工作，遇到特定模式噪音數據輸出與預定規則相匹配的錯誤行爲</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14" name="Picture 13"/>
          <p:cNvPicPr>
            <a:picLocks noChangeAspect="1"/>
          </p:cNvPicPr>
          <p:nvPr/>
        </p:nvPicPr>
        <p:blipFill>
          <a:blip r:embed="rId3"/>
          <a:stretch>
            <a:fillRect/>
          </a:stretch>
        </p:blipFill>
        <p:spPr>
          <a:xfrm>
            <a:off x="7221578" y="1364891"/>
            <a:ext cx="4024272" cy="1458669"/>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a:blip r:embed="rId4"/>
          <a:stretch>
            <a:fillRect/>
          </a:stretch>
        </p:blipFill>
        <p:spPr>
          <a:xfrm>
            <a:off x="2232563" y="4554107"/>
            <a:ext cx="7726874" cy="1544369"/>
          </a:xfrm>
          <a:prstGeom prst="rect">
            <a:avLst/>
          </a:prstGeom>
        </p:spPr>
      </p:pic>
      <p:sp>
        <p:nvSpPr>
          <p:cNvPr id="16" name="文本框 8"/>
          <p:cNvSpPr txBox="1"/>
          <p:nvPr/>
        </p:nvSpPr>
        <p:spPr>
          <a:xfrm>
            <a:off x="676471" y="3214999"/>
            <a:ext cx="10919783" cy="1161344"/>
          </a:xfrm>
          <a:prstGeom prst="rect">
            <a:avLst/>
          </a:prstGeom>
          <a:noFill/>
        </p:spPr>
        <p:txBody>
          <a:bodyPr wrap="square">
            <a:spAutoFit/>
          </a:bodyPr>
          <a:lstStyle/>
          <a:p>
            <a:pPr algn="just"/>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algn="just" latinLnBrk="1">
              <a:lnSpc>
                <a:spcPct val="1300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複現</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Neural Cleanse</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暗門防禦方案：</a:t>
            </a: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指的是通過利用數據的獨特屬性或者精心設計的防禦機制，來降低後門攻擊的成功率</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2" name="文本框 1"/>
          <p:cNvSpPr txBox="1"/>
          <p:nvPr/>
        </p:nvSpPr>
        <p:spPr>
          <a:xfrm>
            <a:off x="7221855" y="2816225"/>
            <a:ext cx="4023995" cy="398780"/>
          </a:xfrm>
          <a:prstGeom prst="rect">
            <a:avLst/>
          </a:prstGeom>
          <a:noFill/>
        </p:spPr>
        <p:txBody>
          <a:bodyPr wrap="square" rtlCol="0" anchor="t">
            <a:spAutoFit/>
          </a:bodyPr>
          <a:lstStyle/>
          <a:p>
            <a:pPr algn="ctr"/>
            <a:r>
              <a:rPr lang="zh-CN"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sym typeface="+mn-ea"/>
              </a:rPr>
              <a:t>處理後的圖像</a:t>
            </a:r>
          </a:p>
        </p:txBody>
      </p:sp>
      <p:sp>
        <p:nvSpPr>
          <p:cNvPr id="3" name="文本框 2"/>
          <p:cNvSpPr txBox="1"/>
          <p:nvPr/>
        </p:nvSpPr>
        <p:spPr>
          <a:xfrm>
            <a:off x="2487295" y="6155690"/>
            <a:ext cx="7375525" cy="398780"/>
          </a:xfrm>
          <a:prstGeom prst="rect">
            <a:avLst/>
          </a:prstGeom>
          <a:noFill/>
        </p:spPr>
        <p:txBody>
          <a:bodyPr wrap="square" rtlCol="0" anchor="t">
            <a:spAutoFit/>
          </a:bodyPr>
          <a:lstStyle/>
          <a:p>
            <a:pPr algn="ct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sym typeface="+mn-ea"/>
              </a:rPr>
              <a:t>暗門防禦方案</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2-3713&amp;3764"/>
          <p:cNvSpPr/>
          <p:nvPr>
            <p:custDataLst>
              <p:tags r:id="rId1"/>
            </p:custDataLst>
          </p:nvPr>
        </p:nvSpPr>
        <p:spPr>
          <a:xfrm>
            <a:off x="472440" y="805180"/>
            <a:ext cx="11719560" cy="5845175"/>
          </a:xfrm>
          <a:custGeom>
            <a:avLst/>
            <a:gdLst/>
            <a:ahLst/>
            <a:cxnLst/>
            <a:rect l="l" t="t" r="r" b="b"/>
            <a:pathLst>
              <a:path w="5473700" h="5321300">
                <a:moveTo>
                  <a:pt x="5450777" y="1377594"/>
                </a:moveTo>
                <a:cubicBezTo>
                  <a:pt x="5457927" y="1480630"/>
                  <a:pt x="5490794" y="1583093"/>
                  <a:pt x="5462207" y="1686128"/>
                </a:cubicBezTo>
                <a:cubicBezTo>
                  <a:pt x="5435778" y="1806054"/>
                  <a:pt x="5395760" y="1925396"/>
                  <a:pt x="5417909" y="2048815"/>
                </a:cubicBezTo>
                <a:cubicBezTo>
                  <a:pt x="5443639" y="2204834"/>
                  <a:pt x="5449354" y="2362010"/>
                  <a:pt x="5455069" y="2519197"/>
                </a:cubicBezTo>
                <a:cubicBezTo>
                  <a:pt x="5460784" y="2669972"/>
                  <a:pt x="5416487" y="3363659"/>
                  <a:pt x="5396471" y="3512109"/>
                </a:cubicBezTo>
                <a:cubicBezTo>
                  <a:pt x="5396471" y="3655314"/>
                  <a:pt x="5427205" y="3797948"/>
                  <a:pt x="5410048" y="3941153"/>
                </a:cubicBezTo>
                <a:cubicBezTo>
                  <a:pt x="5391480" y="4486300"/>
                  <a:pt x="5360746" y="4621949"/>
                  <a:pt x="5366461" y="4757585"/>
                </a:cubicBezTo>
                <a:cubicBezTo>
                  <a:pt x="5382895" y="4902543"/>
                  <a:pt x="5385041" y="4921669"/>
                  <a:pt x="5367896" y="5066627"/>
                </a:cubicBezTo>
                <a:cubicBezTo>
                  <a:pt x="5366461" y="5119599"/>
                  <a:pt x="5367185" y="5206924"/>
                  <a:pt x="5300015" y="5225555"/>
                </a:cubicBezTo>
                <a:cubicBezTo>
                  <a:pt x="5294300" y="5240680"/>
                  <a:pt x="5285016" y="5255235"/>
                  <a:pt x="5272151" y="5265141"/>
                </a:cubicBezTo>
                <a:cubicBezTo>
                  <a:pt x="5217135" y="5319852"/>
                  <a:pt x="5122101" y="5280851"/>
                  <a:pt x="5048504" y="5295405"/>
                </a:cubicBezTo>
                <a:cubicBezTo>
                  <a:pt x="4902035" y="5305298"/>
                  <a:pt x="4745558" y="5307051"/>
                  <a:pt x="4601934" y="5296573"/>
                </a:cubicBezTo>
                <a:cubicBezTo>
                  <a:pt x="4369714" y="5287836"/>
                  <a:pt x="4137495" y="5335575"/>
                  <a:pt x="3905288" y="5316944"/>
                </a:cubicBezTo>
                <a:cubicBezTo>
                  <a:pt x="3741661" y="5304727"/>
                  <a:pt x="3585185" y="5264556"/>
                  <a:pt x="3420135" y="5259896"/>
                </a:cubicBezTo>
                <a:cubicBezTo>
                  <a:pt x="3242932" y="5287251"/>
                  <a:pt x="3067164" y="5324513"/>
                  <a:pt x="2885669" y="5307051"/>
                </a:cubicBezTo>
                <a:cubicBezTo>
                  <a:pt x="2629167" y="5294249"/>
                  <a:pt x="2376221" y="5259896"/>
                  <a:pt x="2118995" y="5251742"/>
                </a:cubicBezTo>
                <a:cubicBezTo>
                  <a:pt x="1901787" y="5273865"/>
                  <a:pt x="1686712" y="5325682"/>
                  <a:pt x="1468082" y="5283759"/>
                </a:cubicBezTo>
                <a:cubicBezTo>
                  <a:pt x="1265154" y="5230787"/>
                  <a:pt x="1052228" y="5276774"/>
                  <a:pt x="845732" y="5244173"/>
                </a:cubicBezTo>
                <a:cubicBezTo>
                  <a:pt x="755703" y="5223218"/>
                  <a:pt x="667819" y="5197018"/>
                  <a:pt x="573504" y="5188293"/>
                </a:cubicBezTo>
                <a:cubicBezTo>
                  <a:pt x="481331" y="5197602"/>
                  <a:pt x="388443" y="5203431"/>
                  <a:pt x="295557" y="5197018"/>
                </a:cubicBezTo>
                <a:cubicBezTo>
                  <a:pt x="233394" y="5195278"/>
                  <a:pt x="168373" y="5209248"/>
                  <a:pt x="107639" y="5195278"/>
                </a:cubicBezTo>
                <a:cubicBezTo>
                  <a:pt x="43333" y="5171986"/>
                  <a:pt x="46191" y="5100968"/>
                  <a:pt x="82631" y="5056137"/>
                </a:cubicBezTo>
                <a:cubicBezTo>
                  <a:pt x="78344" y="5043335"/>
                  <a:pt x="75486" y="5029949"/>
                  <a:pt x="75486" y="5016551"/>
                </a:cubicBezTo>
                <a:cubicBezTo>
                  <a:pt x="62625" y="4821530"/>
                  <a:pt x="73342" y="4754093"/>
                  <a:pt x="68341" y="4559071"/>
                </a:cubicBezTo>
                <a:cubicBezTo>
                  <a:pt x="55479" y="4426344"/>
                  <a:pt x="33330" y="3882352"/>
                  <a:pt x="45477" y="3749624"/>
                </a:cubicBezTo>
                <a:cubicBezTo>
                  <a:pt x="59052" y="3636683"/>
                  <a:pt x="93349" y="3526663"/>
                  <a:pt x="94064" y="3412553"/>
                </a:cubicBezTo>
                <a:cubicBezTo>
                  <a:pt x="70485" y="3246641"/>
                  <a:pt x="34760" y="2531999"/>
                  <a:pt x="49764" y="2364334"/>
                </a:cubicBezTo>
                <a:cubicBezTo>
                  <a:pt x="56195" y="2266544"/>
                  <a:pt x="70485" y="2169897"/>
                  <a:pt x="88347" y="2073262"/>
                </a:cubicBezTo>
                <a:cubicBezTo>
                  <a:pt x="83346" y="1997583"/>
                  <a:pt x="77629" y="1921904"/>
                  <a:pt x="68341" y="1846809"/>
                </a:cubicBezTo>
                <a:cubicBezTo>
                  <a:pt x="15467" y="1661096"/>
                  <a:pt x="24041" y="1469568"/>
                  <a:pt x="36188" y="1280376"/>
                </a:cubicBezTo>
                <a:cubicBezTo>
                  <a:pt x="7607" y="1102815"/>
                  <a:pt x="-5968" y="924094"/>
                  <a:pt x="28329" y="746536"/>
                </a:cubicBezTo>
                <a:cubicBezTo>
                  <a:pt x="30473" y="650481"/>
                  <a:pt x="31187" y="555009"/>
                  <a:pt x="11895" y="459536"/>
                </a:cubicBezTo>
                <a:cubicBezTo>
                  <a:pt x="14753" y="373377"/>
                  <a:pt x="-35978" y="212703"/>
                  <a:pt x="52622" y="156816"/>
                </a:cubicBezTo>
                <a:cubicBezTo>
                  <a:pt x="74772" y="147502"/>
                  <a:pt x="93349" y="144591"/>
                  <a:pt x="109783" y="146337"/>
                </a:cubicBezTo>
                <a:cubicBezTo>
                  <a:pt x="165515" y="107915"/>
                  <a:pt x="258402" y="137605"/>
                  <a:pt x="326281" y="133530"/>
                </a:cubicBezTo>
                <a:cubicBezTo>
                  <a:pt x="458466" y="128290"/>
                  <a:pt x="587793" y="152159"/>
                  <a:pt x="720693" y="147502"/>
                </a:cubicBezTo>
                <a:cubicBezTo>
                  <a:pt x="722836" y="147502"/>
                  <a:pt x="724980" y="146920"/>
                  <a:pt x="727838" y="146920"/>
                </a:cubicBezTo>
                <a:cubicBezTo>
                  <a:pt x="695684" y="224928"/>
                  <a:pt x="673534" y="307594"/>
                  <a:pt x="718549" y="385020"/>
                </a:cubicBezTo>
                <a:cubicBezTo>
                  <a:pt x="795716" y="520662"/>
                  <a:pt x="1020789" y="431010"/>
                  <a:pt x="1065088" y="320401"/>
                </a:cubicBezTo>
                <a:cubicBezTo>
                  <a:pt x="1100099" y="243557"/>
                  <a:pt x="1048656" y="172535"/>
                  <a:pt x="1006499" y="106169"/>
                </a:cubicBezTo>
                <a:cubicBezTo>
                  <a:pt x="1030078" y="103840"/>
                  <a:pt x="1054371" y="102094"/>
                  <a:pt x="1077951" y="100929"/>
                </a:cubicBezTo>
                <a:cubicBezTo>
                  <a:pt x="1220854" y="97437"/>
                  <a:pt x="1361618" y="117230"/>
                  <a:pt x="1504518" y="120140"/>
                </a:cubicBezTo>
                <a:cubicBezTo>
                  <a:pt x="1625270" y="134112"/>
                  <a:pt x="1741742" y="96854"/>
                  <a:pt x="1863204" y="103840"/>
                </a:cubicBezTo>
                <a:cubicBezTo>
                  <a:pt x="1896072" y="102676"/>
                  <a:pt x="1927504" y="105587"/>
                  <a:pt x="1958950" y="110244"/>
                </a:cubicBezTo>
                <a:cubicBezTo>
                  <a:pt x="1903933" y="233661"/>
                  <a:pt x="1850339" y="382692"/>
                  <a:pt x="2003247" y="471761"/>
                </a:cubicBezTo>
                <a:cubicBezTo>
                  <a:pt x="2206168" y="567234"/>
                  <a:pt x="2347646" y="286054"/>
                  <a:pt x="2251177" y="160891"/>
                </a:cubicBezTo>
                <a:cubicBezTo>
                  <a:pt x="2405520" y="169624"/>
                  <a:pt x="2558428" y="121887"/>
                  <a:pt x="2712047" y="107915"/>
                </a:cubicBezTo>
                <a:cubicBezTo>
                  <a:pt x="2827795" y="93944"/>
                  <a:pt x="2947124" y="83465"/>
                  <a:pt x="3065729" y="81718"/>
                </a:cubicBezTo>
                <a:cubicBezTo>
                  <a:pt x="3022854" y="204553"/>
                  <a:pt x="3003563" y="337866"/>
                  <a:pt x="3163621" y="396663"/>
                </a:cubicBezTo>
                <a:cubicBezTo>
                  <a:pt x="3392259" y="458371"/>
                  <a:pt x="3465144" y="258111"/>
                  <a:pt x="3415843" y="105587"/>
                </a:cubicBezTo>
                <a:cubicBezTo>
                  <a:pt x="3416554" y="105587"/>
                  <a:pt x="3417278" y="105587"/>
                  <a:pt x="3417989" y="106169"/>
                </a:cubicBezTo>
                <a:cubicBezTo>
                  <a:pt x="3621621" y="160891"/>
                  <a:pt x="3823830" y="67747"/>
                  <a:pt x="4028186" y="55522"/>
                </a:cubicBezTo>
                <a:cubicBezTo>
                  <a:pt x="4035323" y="54939"/>
                  <a:pt x="4043185" y="54357"/>
                  <a:pt x="4050335" y="53775"/>
                </a:cubicBezTo>
                <a:cubicBezTo>
                  <a:pt x="4001033" y="183595"/>
                  <a:pt x="3987457" y="334373"/>
                  <a:pt x="4162514" y="378035"/>
                </a:cubicBezTo>
                <a:cubicBezTo>
                  <a:pt x="4288269" y="393752"/>
                  <a:pt x="4397578" y="302354"/>
                  <a:pt x="4426877" y="208628"/>
                </a:cubicBezTo>
                <a:cubicBezTo>
                  <a:pt x="4443311" y="153323"/>
                  <a:pt x="4427601" y="97437"/>
                  <a:pt x="4395445" y="48536"/>
                </a:cubicBezTo>
                <a:cubicBezTo>
                  <a:pt x="4404017" y="48536"/>
                  <a:pt x="4413301" y="48536"/>
                  <a:pt x="4421886" y="48536"/>
                </a:cubicBezTo>
                <a:cubicBezTo>
                  <a:pt x="4611230" y="29325"/>
                  <a:pt x="4796993" y="-9097"/>
                  <a:pt x="4989208" y="1964"/>
                </a:cubicBezTo>
                <a:cubicBezTo>
                  <a:pt x="5099952" y="4292"/>
                  <a:pt x="5204270" y="34564"/>
                  <a:pt x="5313591" y="46789"/>
                </a:cubicBezTo>
                <a:cubicBezTo>
                  <a:pt x="5361470" y="55522"/>
                  <a:pt x="5382184" y="98019"/>
                  <a:pt x="5377904" y="137605"/>
                </a:cubicBezTo>
                <a:cubicBezTo>
                  <a:pt x="5392191" y="159727"/>
                  <a:pt x="5397906" y="187088"/>
                  <a:pt x="5387188" y="213285"/>
                </a:cubicBezTo>
                <a:cubicBezTo>
                  <a:pt x="5372176" y="319819"/>
                  <a:pt x="5399329" y="428099"/>
                  <a:pt x="5383619" y="535215"/>
                </a:cubicBezTo>
                <a:cubicBezTo>
                  <a:pt x="5384330" y="670857"/>
                  <a:pt x="5437200" y="800677"/>
                  <a:pt x="5448630" y="936319"/>
                </a:cubicBezTo>
                <a:cubicBezTo>
                  <a:pt x="5452923" y="1083603"/>
                  <a:pt x="5427205" y="1230888"/>
                  <a:pt x="5450777" y="1377594"/>
                </a:cubicBezTo>
              </a:path>
            </a:pathLst>
          </a:custGeom>
          <a:solidFill>
            <a:schemeClr val="accent1">
              <a:lumMod val="20000"/>
              <a:lumOff val="80000"/>
              <a:alpha val="9000"/>
            </a:schemeClr>
          </a:solidFill>
          <a:ln w="9525">
            <a:solidFill>
              <a:schemeClr val="accent1">
                <a:alpha val="21000"/>
              </a:schemeClr>
            </a:solidFill>
          </a:ln>
          <a:effectLst>
            <a:outerShdw blurRad="50800" dist="38100" dir="2700000" algn="tl" rotWithShape="0">
              <a:prstClr val="black">
                <a:alpha val="40000"/>
              </a:prstClr>
            </a:outerShdw>
          </a:effectLst>
        </p:spPr>
        <p:txBody>
          <a:bodyPr/>
          <a:lstStyle/>
          <a:p>
            <a:endParaRPr lang="zh-CN" altLang="en-US"/>
          </a:p>
        </p:txBody>
      </p:sp>
      <p:sp>
        <p:nvSpPr>
          <p:cNvPr id="3" name="矩形 2"/>
          <p:cNvSpPr/>
          <p:nvPr/>
        </p:nvSpPr>
        <p:spPr>
          <a:xfrm>
            <a:off x="762000" y="1315085"/>
            <a:ext cx="5534297" cy="2854051"/>
          </a:xfrm>
          <a:prstGeom prst="rect">
            <a:avLst/>
          </a:prstGeom>
        </p:spPr>
        <p:txBody>
          <a:bodyPr wrap="square">
            <a:spAutoFit/>
          </a:bodyPr>
          <a:lstStyle/>
          <a:p>
            <a:pPr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實驗背景：</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能</a:t>
            </a:r>
            <a:r>
              <a:rPr sz="2000" dirty="0" err="1">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够深入理解流量大模型的工作原理及其實際效果，加深對大模型和流量安全問題的認識，幷掌握如何將大模型技術應用于網絡安全領域</a:t>
            </a:r>
            <a:endParaRPr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實驗目的：</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algn="just" latinLnBrk="1">
              <a:lnSpc>
                <a:spcPct val="130000"/>
              </a:lnSpc>
            </a:pPr>
            <a:r>
              <a:rPr sz="2000" dirty="0" err="1">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開發一種基于流量大模型的網絡威脅檢測與分析系統，幫助大模型實現文</a:t>
            </a:r>
            <a:r>
              <a:rPr 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本</a:t>
            </a:r>
            <a:r>
              <a:rPr sz="2000" dirty="0" err="1">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與流量模態的對齊</a:t>
            </a:r>
            <a:endParaRPr lang="zh-CN" sz="2000"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1" name="标题 1"/>
          <p:cNvSpPr txBox="1"/>
          <p:nvPr/>
        </p:nvSpPr>
        <p:spPr>
          <a:xfrm>
            <a:off x="1131376" y="136525"/>
            <a:ext cx="8022720" cy="725407"/>
          </a:xfrm>
          <a:prstGeom prst="rect">
            <a:avLst/>
          </a:prstGeom>
        </p:spPr>
        <p:txBody>
          <a:bodyPr vert="horz" lIns="91440" tIns="45720" rIns="91440" bIns="45720" rtlCol="0" anchor="ctr">
            <a:normAutofit fontScale="80000" lnSpcReduction="10000"/>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實驗十八：</a:t>
            </a:r>
            <a:r>
              <a:rPr kumimoji="1" dirty="0" err="1">
                <a:solidFill>
                  <a:schemeClr val="tx1">
                    <a:lumMod val="85000"/>
                    <a:lumOff val="15000"/>
                  </a:schemeClr>
                </a:solidFill>
              </a:rPr>
              <a:t>流量大模型的流量檢測能力實現</a:t>
            </a:r>
            <a:endParaRPr kumimoji="1" dirty="0">
              <a:solidFill>
                <a:schemeClr val="tx1">
                  <a:lumMod val="85000"/>
                  <a:lumOff val="15000"/>
                </a:schemeClr>
              </a:solidFill>
            </a:endParaRPr>
          </a:p>
        </p:txBody>
      </p:sp>
      <p:sp>
        <p:nvSpPr>
          <p:cNvPr id="7" name="TextBox 6"/>
          <p:cNvSpPr txBox="1"/>
          <p:nvPr/>
        </p:nvSpPr>
        <p:spPr>
          <a:xfrm>
            <a:off x="693029" y="4309860"/>
            <a:ext cx="5799768" cy="1821589"/>
          </a:xfrm>
          <a:prstGeom prst="rect">
            <a:avLst/>
          </a:prstGeom>
          <a:noFill/>
        </p:spPr>
        <p:txBody>
          <a:bodyPr wrap="square">
            <a:spAutoFit/>
          </a:bodyPr>
          <a:lstStyle/>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實驗資料：</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marL="342900" indent="-342900" latinLnBrk="1">
              <a:lnSpc>
                <a:spcPct val="130000"/>
              </a:lnSpc>
              <a:buAutoNum type="arabicPeriod"/>
            </a:pP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ChatGLM2-6B </a:t>
            </a:r>
          </a:p>
          <a:p>
            <a:pPr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hlinkClick r:id="rId4"/>
              </a:rPr>
              <a:t>https://github.com/THUDM/ChatGLM2-6B</a:t>
            </a:r>
          </a:p>
          <a:p>
            <a:pPr lvl="0" latinLnBrk="1">
              <a:lnSpc>
                <a:spcPct val="130000"/>
              </a:lnSpc>
            </a:pPr>
            <a:r>
              <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2.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大模型微調框架項目代碼：</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a:p>
            <a:pPr lvl="0" latinLnBrk="1">
              <a:lnSpc>
                <a:spcPct val="130000"/>
              </a:lnSpc>
            </a:pPr>
            <a:r>
              <a:rPr lang="en-US" altLang="zh-CN" sz="1600" i="1" u="sng" dirty="0">
                <a:solidFill>
                  <a:schemeClr val="accent3">
                    <a:lumMod val="75000"/>
                  </a:schemeClr>
                </a:solidFill>
                <a:latin typeface="微软雅黑" panose="020B0503020204020204" pitchFamily="34" charset="-122"/>
                <a:ea typeface="微软雅黑" panose="020B0503020204020204" pitchFamily="34" charset="-122"/>
                <a:cs typeface="Times New Roman" panose="02020503050405090304" pitchFamily="18" charset="0"/>
                <a:hlinkClick r:id="rId5"/>
              </a:rPr>
              <a:t>https://github.com/ZGC-LLM-Safety/TrafficLLM</a:t>
            </a:r>
          </a:p>
        </p:txBody>
      </p:sp>
      <p:sp>
        <p:nvSpPr>
          <p:cNvPr id="15" name="TextBox 11"/>
          <p:cNvSpPr txBox="1"/>
          <p:nvPr/>
        </p:nvSpPr>
        <p:spPr>
          <a:xfrm>
            <a:off x="9161780" y="136525"/>
            <a:ext cx="2886710" cy="725170"/>
          </a:xfrm>
          <a:prstGeom prst="rect">
            <a:avLst/>
          </a:prstGeom>
        </p:spPr>
        <p:txBody>
          <a:bodyPr vert="horz" lIns="91440" tIns="45720" rIns="91440" bIns="45720" rtlCol="0" anchor="ctr">
            <a:normAutofit fontScale="97500"/>
          </a:bodyPr>
          <a:lstStyle>
            <a:lvl1pPr>
              <a:lnSpc>
                <a:spcPct val="90000"/>
              </a:lnSpc>
              <a:spcBef>
                <a:spcPct val="0"/>
              </a:spcBef>
              <a:buNone/>
              <a:defRPr kumimoji="1" sz="4000"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dirty="0">
                <a:solidFill>
                  <a:schemeClr val="accent4"/>
                </a:solidFill>
              </a:rPr>
              <a:t>難度</a:t>
            </a:r>
            <a:r>
              <a:rPr lang="en-US" altLang="zh-CN" dirty="0">
                <a:solidFill>
                  <a:schemeClr val="accent4"/>
                </a:solidFill>
              </a:rPr>
              <a:t>: </a:t>
            </a:r>
            <a:r>
              <a:rPr lang="zh-CN" altLang="en-US" dirty="0">
                <a:solidFill>
                  <a:schemeClr val="accent4"/>
                </a:solidFill>
              </a:rPr>
              <a:t>★★</a:t>
            </a:r>
            <a:r>
              <a:rPr lang="zh-CN" altLang="en-US" dirty="0">
                <a:solidFill>
                  <a:schemeClr val="accent4"/>
                </a:solidFill>
                <a:sym typeface="+mn-ea"/>
              </a:rPr>
              <a:t>★</a:t>
            </a:r>
            <a:endParaRPr lang="zh-CN" altLang="en-US" dirty="0">
              <a:solidFill>
                <a:schemeClr val="accent4"/>
              </a:solidFill>
            </a:endParaRPr>
          </a:p>
        </p:txBody>
      </p:sp>
      <p:sp>
        <p:nvSpPr>
          <p:cNvPr id="6" name="矩形 5"/>
          <p:cNvSpPr/>
          <p:nvPr/>
        </p:nvSpPr>
        <p:spPr>
          <a:xfrm>
            <a:off x="6609715" y="1441450"/>
            <a:ext cx="5264422" cy="5169535"/>
          </a:xfrm>
          <a:prstGeom prst="rect">
            <a:avLst/>
          </a:prstGeom>
        </p:spPr>
        <p:txBody>
          <a:bodyPr wrap="square">
            <a:spAutoFit/>
          </a:bodyPr>
          <a:lstStyle/>
          <a:p>
            <a:pPr marL="457200" indent="-457200" algn="just" latinLnBrk="1">
              <a:lnSpc>
                <a:spcPct val="150000"/>
              </a:lnSpc>
              <a:buAutoNum type="arabicPeriod"/>
            </a:pPr>
            <a:r>
              <a:rPr sz="2000" dirty="0" err="1">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下載開源大模型的基座模型參數</a:t>
            </a:r>
            <a:r>
              <a:rPr lang="zh-CN" sz="2000"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，微調框架項目代碼，依賴庫，文本指令數據集，流量數據集</a:t>
            </a:r>
          </a:p>
          <a:p>
            <a:pPr marL="457200" indent="-457200" algn="just" latinLnBrk="1">
              <a:lnSpc>
                <a:spcPct val="150000"/>
              </a:lnSpc>
              <a:buAutoNum type="arabicPeriod"/>
            </a:pPr>
            <a:r>
              <a:rPr lang="zh-CN" sz="2000"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配置指令微調階段的訓練參數，幷進行指令微調</a:t>
            </a:r>
          </a:p>
          <a:p>
            <a:pPr marL="457200" indent="-457200" algn="just" latinLnBrk="1">
              <a:lnSpc>
                <a:spcPct val="150000"/>
              </a:lnSpc>
              <a:buAutoNum type="arabicPeriod"/>
            </a:pPr>
            <a:r>
              <a:rPr lang="zh-CN" sz="2000" dirty="0">
                <a:latin typeface="微软雅黑" panose="020B0503020204020204" pitchFamily="34" charset="-122"/>
                <a:ea typeface="微软雅黑" panose="020B0503020204020204" pitchFamily="34" charset="-122"/>
                <a:cs typeface="Times New Roman" panose="02020503050405090304" pitchFamily="18" charset="0"/>
                <a:sym typeface="+mn-ea"/>
              </a:rPr>
              <a:t>配置任務微調階段的訓練參數，幷進行任務微調</a:t>
            </a:r>
          </a:p>
          <a:p>
            <a:pPr marL="457200" indent="-457200" algn="just" latinLnBrk="1">
              <a:lnSpc>
                <a:spcPct val="150000"/>
              </a:lnSpc>
              <a:buAutoNum type="arabicPeriod"/>
            </a:pPr>
            <a:r>
              <a:rPr lang="zh-CN" sz="2000"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評估流量大模型在具體任務上的檢測效果</a:t>
            </a:r>
          </a:p>
          <a:p>
            <a:pPr marL="457200" indent="-457200" algn="just" latinLnBrk="1">
              <a:lnSpc>
                <a:spcPct val="150000"/>
              </a:lnSpc>
              <a:buAutoNum type="arabicPeriod"/>
            </a:pPr>
            <a:r>
              <a:rPr lang="zh-CN" sz="2000"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修改配置文件中指令微調模型和任務微調模型的存儲路徑，以備模型推理使用</a:t>
            </a:r>
          </a:p>
          <a:p>
            <a:pPr marL="457200" indent="-457200" algn="just" latinLnBrk="1">
              <a:lnSpc>
                <a:spcPct val="150000"/>
              </a:lnSpc>
              <a:buAutoNum type="arabicPeriod"/>
            </a:pPr>
            <a:r>
              <a:rPr lang="zh-CN" sz="2000"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完成流量大模型的對話環境部署</a:t>
            </a:r>
          </a:p>
        </p:txBody>
      </p:sp>
      <p:sp>
        <p:nvSpPr>
          <p:cNvPr id="10" name="文本框 9"/>
          <p:cNvSpPr txBox="1"/>
          <p:nvPr/>
        </p:nvSpPr>
        <p:spPr>
          <a:xfrm>
            <a:off x="6584315" y="1164590"/>
            <a:ext cx="1743075" cy="400110"/>
          </a:xfrm>
          <a:prstGeom prst="rect">
            <a:avLst/>
          </a:prstGeom>
          <a:noFill/>
        </p:spPr>
        <p:txBody>
          <a:bodyPr wrap="square" rtlCol="0" anchor="t">
            <a:spAutoFit/>
          </a:bodyPr>
          <a:lstStyle/>
          <a:p>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sym typeface="+mn-ea"/>
              </a:rPr>
              <a:t>實驗步驟：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39"/>
          <p:cNvSpPr/>
          <p:nvPr/>
        </p:nvSpPr>
        <p:spPr bwMode="auto">
          <a:xfrm>
            <a:off x="6479945" y="1956369"/>
            <a:ext cx="5360122" cy="253060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40" name="矩形 39"/>
          <p:cNvSpPr/>
          <p:nvPr/>
        </p:nvSpPr>
        <p:spPr bwMode="auto">
          <a:xfrm>
            <a:off x="854533" y="1956369"/>
            <a:ext cx="5241467" cy="253060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3" name="矩形 2"/>
          <p:cNvSpPr/>
          <p:nvPr/>
        </p:nvSpPr>
        <p:spPr>
          <a:xfrm>
            <a:off x="762303" y="1100408"/>
            <a:ext cx="7107079" cy="453457"/>
          </a:xfrm>
          <a:prstGeom prst="rect">
            <a:avLst/>
          </a:prstGeom>
        </p:spPr>
        <p:txBody>
          <a:bodyPr wrap="square">
            <a:spAutoFit/>
          </a:bodyPr>
          <a:lstStyle/>
          <a:p>
            <a:pPr latinLnBrk="1">
              <a:lnSpc>
                <a:spcPct val="130000"/>
              </a:lnSpc>
            </a:pPr>
            <a:r>
              <a:rPr lang="en-US" altLang="zh-CN" sz="2000" b="1" dirty="0">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503050405090304" pitchFamily="18" charset="0"/>
              </a:rPr>
              <a:t>當我完成了實驗之後：</a:t>
            </a: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1" name="标题 1"/>
          <p:cNvSpPr txBox="1"/>
          <p:nvPr/>
        </p:nvSpPr>
        <p:spPr>
          <a:xfrm>
            <a:off x="1131376" y="136525"/>
            <a:ext cx="8022720" cy="7254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C00000"/>
                </a:solidFill>
                <a:latin typeface="微软雅黑" panose="020B0503020204020204" pitchFamily="34" charset="-122"/>
                <a:ea typeface="微软雅黑" panose="020B0503020204020204" pitchFamily="34" charset="-122"/>
                <a:cs typeface="+mj-cs"/>
              </a:defRPr>
            </a:lvl1pPr>
          </a:lstStyle>
          <a:p>
            <a:r>
              <a:rPr kumimoji="1" lang="zh-CN" altLang="en-US" dirty="0">
                <a:solidFill>
                  <a:schemeClr val="tx1">
                    <a:lumMod val="85000"/>
                    <a:lumOff val="15000"/>
                  </a:schemeClr>
                </a:solidFill>
              </a:rPr>
              <a:t>如何提交實驗</a:t>
            </a:r>
          </a:p>
        </p:txBody>
      </p:sp>
      <p:sp>
        <p:nvSpPr>
          <p:cNvPr id="10" name="矩形 2"/>
          <p:cNvSpPr/>
          <p:nvPr/>
        </p:nvSpPr>
        <p:spPr>
          <a:xfrm>
            <a:off x="1091865" y="2117031"/>
            <a:ext cx="4100643" cy="2091690"/>
          </a:xfrm>
          <a:prstGeom prst="rect">
            <a:avLst/>
          </a:prstGeom>
        </p:spPr>
        <p:txBody>
          <a:bodyPr wrap="square">
            <a:spAutoFit/>
          </a:bodyPr>
          <a:lstStyle/>
          <a:p>
            <a:pPr latinLnBrk="1">
              <a:lnSpc>
                <a:spcPct val="130000"/>
              </a:lnSpc>
            </a:pPr>
            <a:r>
              <a:rPr lang="en-US" altLang="zh-CN" sz="2000" b="1" dirty="0">
                <a:latin typeface="微软雅黑" panose="020B0503020204020204" pitchFamily="34" charset="-122"/>
                <a:ea typeface="微软雅黑" panose="020B0503020204020204" pitchFamily="34" charset="-122"/>
                <a:cs typeface="Times New Roman" panose="02020503050405090304" pitchFamily="18" charset="0"/>
              </a:rPr>
              <a:t>1. </a:t>
            </a:r>
            <a:r>
              <a:rPr lang="zh-CN" altLang="en-US" sz="2000" b="1" dirty="0">
                <a:latin typeface="微软雅黑" panose="020B0503020204020204" pitchFamily="34" charset="-122"/>
                <a:ea typeface="微软雅黑" panose="020B0503020204020204" pitchFamily="34" charset="-122"/>
                <a:cs typeface="Times New Roman" panose="02020503050405090304" pitchFamily="18" charset="0"/>
              </a:rPr>
              <a:t>撰寫實驗報告</a:t>
            </a: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完整描述實驗步驟</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包含關鍵實驗現象的截圖</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注意保持簡潔性</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在網絡學堂上提交</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4" name="矩形 2"/>
          <p:cNvSpPr/>
          <p:nvPr/>
        </p:nvSpPr>
        <p:spPr>
          <a:xfrm>
            <a:off x="6635347" y="2177956"/>
            <a:ext cx="5204720" cy="1691640"/>
          </a:xfrm>
          <a:prstGeom prst="rect">
            <a:avLst/>
          </a:prstGeom>
        </p:spPr>
        <p:txBody>
          <a:bodyPr wrap="square">
            <a:spAutoFit/>
          </a:bodyPr>
          <a:lstStyle/>
          <a:p>
            <a:pPr latinLnBrk="1">
              <a:lnSpc>
                <a:spcPct val="130000"/>
              </a:lnSpc>
            </a:pPr>
            <a:r>
              <a:rPr lang="en-US" altLang="zh-CN" sz="2000" b="1" dirty="0">
                <a:latin typeface="微软雅黑" panose="020B0503020204020204" pitchFamily="34" charset="-122"/>
                <a:ea typeface="微软雅黑" panose="020B0503020204020204" pitchFamily="34" charset="-122"/>
                <a:cs typeface="Times New Roman" panose="02020503050405090304" pitchFamily="18" charset="0"/>
              </a:rPr>
              <a:t>2.</a:t>
            </a:r>
            <a:r>
              <a:rPr lang="zh-CN" altLang="en-US" sz="2000" b="1" dirty="0">
                <a:latin typeface="微软雅黑" panose="020B0503020204020204" pitchFamily="34" charset="-122"/>
                <a:ea typeface="微软雅黑" panose="020B0503020204020204" pitchFamily="34" charset="-122"/>
                <a:cs typeface="Times New Roman" panose="02020503050405090304" pitchFamily="18" charset="0"/>
              </a:rPr>
              <a:t> 向助教演示實驗</a:t>
            </a:r>
            <a:endParaRPr lang="en-US" altLang="zh-CN" sz="2000" b="1"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可通過如下兩種方式：</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錄製視頻，連同實驗報告上傳網絡學堂</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a:p>
            <a:pPr marL="514350" indent="-514350" latinLnBrk="1">
              <a:lnSpc>
                <a:spcPct val="130000"/>
              </a:lnSpc>
              <a:buAutoNum type="romanLcParenBoth"/>
            </a:pPr>
            <a:r>
              <a:rPr lang="zh-CN" altLang="en-US" sz="2000" dirty="0">
                <a:latin typeface="微软雅黑" panose="020B0503020204020204" pitchFamily="34" charset="-122"/>
                <a:ea typeface="微软雅黑" panose="020B0503020204020204" pitchFamily="34" charset="-122"/>
                <a:cs typeface="Times New Roman" panose="02020503050405090304" pitchFamily="18" charset="0"/>
              </a:rPr>
              <a:t>聯繫助教預約遠程視頻演示</a:t>
            </a:r>
            <a:endParaRPr lang="en-US" altLang="zh-CN" sz="2000"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7" name="矩形 2"/>
          <p:cNvSpPr/>
          <p:nvPr/>
        </p:nvSpPr>
        <p:spPr>
          <a:xfrm>
            <a:off x="854592" y="4624790"/>
            <a:ext cx="7107079" cy="1702582"/>
          </a:xfrm>
          <a:prstGeom prst="rect">
            <a:avLst/>
          </a:prstGeom>
        </p:spPr>
        <p:txBody>
          <a:bodyPr wrap="square">
            <a:spAutoFit/>
          </a:bodyPr>
          <a:lstStyle/>
          <a:p>
            <a:pPr latinLnBrk="1">
              <a:lnSpc>
                <a:spcPct val="130000"/>
              </a:lnSpc>
            </a:pPr>
            <a:r>
              <a:rPr lang="zh-CN" altLang="en-US" sz="2800" b="1" dirty="0">
                <a:latin typeface="微软雅黑" panose="020B0503020204020204" pitchFamily="34" charset="-122"/>
                <a:ea typeface="微软雅黑" panose="020B0503020204020204" pitchFamily="34" charset="-122"/>
                <a:cs typeface="Times New Roman" panose="02020503050405090304" pitchFamily="18" charset="0"/>
              </a:rPr>
              <a:t>兩項均完成</a:t>
            </a:r>
            <a:r>
              <a:rPr lang="zh-CN" altLang="en-US" sz="2800" dirty="0">
                <a:latin typeface="微软雅黑" panose="020B0503020204020204" pitchFamily="34" charset="-122"/>
                <a:ea typeface="微软雅黑" panose="020B0503020204020204" pitchFamily="34" charset="-122"/>
                <a:cs typeface="Times New Roman" panose="02020503050405090304" pitchFamily="18" charset="0"/>
              </a:rPr>
              <a:t>時則表明成功提交實驗</a:t>
            </a:r>
            <a:endParaRPr lang="en-US" altLang="zh-CN" sz="2800" dirty="0">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endParaRPr>
          </a:p>
          <a:p>
            <a:pPr latinLnBrk="1">
              <a:lnSpc>
                <a:spcPct val="130000"/>
              </a:lnSpc>
            </a:pP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實驗截至時間爲</a:t>
            </a:r>
            <a:r>
              <a:rPr lang="zh-CN" altLang="en-US" sz="36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考試周結束</a:t>
            </a:r>
          </a:p>
        </p:txBody>
      </p:sp>
      <p:sp>
        <p:nvSpPr>
          <p:cNvPr id="4" name="矩形 2"/>
          <p:cNvSpPr/>
          <p:nvPr/>
        </p:nvSpPr>
        <p:spPr>
          <a:xfrm>
            <a:off x="7373752" y="4624669"/>
            <a:ext cx="3728094" cy="1536831"/>
          </a:xfrm>
          <a:prstGeom prst="rect">
            <a:avLst/>
          </a:prstGeom>
        </p:spPr>
        <p:txBody>
          <a:bodyPr wrap="square">
            <a:spAutoFit/>
          </a:bodyPr>
          <a:lstStyle/>
          <a:p>
            <a:pPr algn="ctr" latinLnBrk="1">
              <a:lnSpc>
                <a:spcPct val="130000"/>
              </a:lnSpc>
            </a:pPr>
            <a:r>
              <a:rPr lang="en-US" altLang="zh-CN" sz="8000" b="1" dirty="0">
                <a:solidFill>
                  <a:schemeClr val="accent3"/>
                </a:solidFill>
                <a:latin typeface="微软雅黑" panose="020B0503020204020204" pitchFamily="34" charset="-122"/>
                <a:ea typeface="微软雅黑" panose="020B0503020204020204" pitchFamily="34" charset="-122"/>
                <a:cs typeface="Times New Roman" panose="02020503050405090304" pitchFamily="18" charset="0"/>
              </a:rPr>
              <a:t>Q&amp;A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g3OTg5NjY0Nzk4ZjA3ODg4NjViNjBjNDA2ZWRmOWM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3494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4944"/>
  <p:tag name="KSO_WM_SLIDE_TYPE" val="text"/>
  <p:tag name="KSO_WM_SLIDE_SUBTYPE" val="picTxt"/>
  <p:tag name="KSO_WM_SLIDE_SIZE" val="356.05*313.25"/>
  <p:tag name="KSO_WM_SLIDE_POSITION" val="532.3*152"/>
  <p:tag name="KSO_WM_SLIDE_LAYOUT" val="a_α_l"/>
  <p:tag name="KSO_WM_SLIDE_LAYOUT_CNT" val="1_1_1"/>
  <p:tag name="KSO_WM_SPECIAL_SOURCE" val="bdnull"/>
  <p:tag name="KSO_WM_DIAGRAM_GROUP_CODE" val="l1-1"/>
  <p:tag name="KSO_WM_SLIDE_DIAGTYPE" val="l"/>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44_1*a*1"/>
  <p:tag name="KSO_WM_TEMPLATE_CATEGORY" val="custom"/>
  <p:tag name="KSO_WM_TEMPLATE_INDEX" val="20234944"/>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75.3,&quot;left&quot;:531.2749969482422,&quot;top&quot;:95.05,&quot;width&quot;:377.9250030517578}"/>
  <p:tag name="KSO_WM_UNIT_HIGHLIGHT" val="0"/>
  <p:tag name="KSO_WM_UNIT_COMPATIBLE" val="0"/>
  <p:tag name="KSO_WM_UNIT_DIAGRAM_ISNUMVISUAL" val="0"/>
  <p:tag name="KSO_WM_UNIT_DIAGRAM_ISREFERUNIT" val="0"/>
  <p:tag name="KSO_WM_DIAGRAM_GROUP_CODE" val="l1-1"/>
  <p:tag name="KSO_WM_UNIT_ID" val="diagram20234936_2*l_h_i*1_1_3"/>
  <p:tag name="KSO_WM_TEMPLATE_CATEGORY" val="diagram"/>
  <p:tag name="KSO_WM_TEMPLATE_INDEX" val="20234936"/>
  <p:tag name="KSO_WM_UNIT_LAYERLEVEL" val="1_1_1"/>
  <p:tag name="KSO_WM_TAG_VERSION" val="3.0"/>
  <p:tag name="KSO_WM_BEAUTIFY_FLAG" val="#wm#"/>
  <p:tag name="KSO_WM_DIAGRAM_VERSION" val="3"/>
  <p:tag name="KSO_WM_DIAGRAM_COLOR_TRICK" val="1"/>
  <p:tag name="KSO_WM_DIAGRAM_COLOR_TEXT_CAN_REMOVE" val="n"/>
  <p:tag name="KSO_WM_UNIT_TYPE" val="l_h_i"/>
  <p:tag name="KSO_WM_UNIT_INDEX" val="1_1_3"/>
  <p:tag name="KSO_WM_UNIT_FILL_TYPE" val="1"/>
  <p:tag name="KSO_WM_UNIT_FILL_FORE_SCHEMECOLOR_INDEX" val="5"/>
  <p:tag name="KSO_WM_UNIT_FILL_FORE_SCHEMECOLOR_INDEX_BRIGHTNESS" val="0"/>
  <p:tag name="KSO_WM_DIAGRAM_MAX_ITEMCNT" val="2"/>
  <p:tag name="KSO_WM_DIAGRAM_MIN_ITEMCNT" val="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75.3,&quot;left&quot;:531.2749969482422,&quot;top&quot;:95.05,&quot;width&quot;:377.9250030517578}"/>
  <p:tag name="KSO_WM_UNIT_HIGHLIGHT" val="0"/>
  <p:tag name="KSO_WM_UNIT_COMPATIBLE" val="0"/>
  <p:tag name="KSO_WM_UNIT_DIAGRAM_ISNUMVISUAL" val="0"/>
  <p:tag name="KSO_WM_UNIT_DIAGRAM_ISREFERUNIT" val="0"/>
  <p:tag name="KSO_WM_DIAGRAM_GROUP_CODE" val="l1-1"/>
  <p:tag name="KSO_WM_UNIT_ID" val="diagram20234936_2*l_h_i*1_1_1"/>
  <p:tag name="KSO_WM_TEMPLATE_CATEGORY" val="diagram"/>
  <p:tag name="KSO_WM_TEMPLATE_INDEX" val="20234936"/>
  <p:tag name="KSO_WM_UNIT_LAYERLEVEL" val="1_1_1"/>
  <p:tag name="KSO_WM_TAG_VERSION" val="3.0"/>
  <p:tag name="KSO_WM_BEAUTIFY_FLAG" val="#wm#"/>
  <p:tag name="KSO_WM_DIAGRAM_VERSION" val="3"/>
  <p:tag name="KSO_WM_DIAGRAM_COLOR_TRICK" val="1"/>
  <p:tag name="KSO_WM_DIAGRAM_COLOR_TEXT_CAN_REMOVE" val="n"/>
  <p:tag name="KSO_WM_UNIT_TYPE" val="l_h_i"/>
  <p:tag name="KSO_WM_UNIT_INDEX" val="1_1_1"/>
  <p:tag name="KSO_WM_UNIT_FILL_TYPE" val="1"/>
  <p:tag name="KSO_WM_UNIT_FILL_FORE_SCHEMECOLOR_INDEX" val="5"/>
  <p:tag name="KSO_WM_UNIT_FILL_FORE_SCHEMECOLOR_INDEX_BRIGHTNESS" val="0"/>
  <p:tag name="KSO_WM_DIAGRAM_MAX_ITEMCNT" val="2"/>
  <p:tag name="KSO_WM_DIAGRAM_MIN_ITEMCNT" val="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4936_2*l_h_a*1_1_1"/>
  <p:tag name="KSO_WM_TEMPLATE_CATEGORY" val="diagram"/>
  <p:tag name="KSO_WM_TEMPLATE_INDEX" val="20234936"/>
  <p:tag name="KSO_WM_UNIT_LAYERLEVEL" val="1_1_1"/>
  <p:tag name="KSO_WM_TAG_VERSION" val="3.0"/>
  <p:tag name="KSO_WM_UNIT_TEXT_FILL_FORE_SCHEMECOLOR_INDEX_BRIGHTNESS" val="0.15"/>
  <p:tag name="KSO_WM_DIAGRAM_GROUP_CODE" val="l1-1"/>
  <p:tag name="KSO_WM_DIAGRAM_MAX_ITEMCNT" val="2"/>
  <p:tag name="KSO_WM_DIAGRAM_MIN_ITEMCNT" val="1"/>
  <p:tag name="KSO_WM_DIAGRAM_VIRTUALLY_FRAME" val="{&quot;height&quot;:75.3,&quot;left&quot;:531.2749969482422,&quot;top&quot;:95.05,&quot;width&quot;:377.92500305175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TYPE" val="1"/>
  <p:tag name="KSO_WM_BEAUTIFY_FLAG" val="#wm#"/>
  <p:tag name="KSO_WM_UNIT_PRESET_TEXT" val="单击此处添加项标题"/>
  <p:tag name="KSO_WM_UNIT_TEXT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944_1*i*1"/>
  <p:tag name="KSO_WM_TEMPLATE_CATEGORY" val="custom"/>
  <p:tag name="KSO_WM_TEMPLATE_INDEX" val="20234944"/>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Lst>
</file>

<file path=ppt/theme/theme1.xml><?xml version="1.0" encoding="utf-8"?>
<a:theme xmlns:a="http://schemas.openxmlformats.org/drawingml/2006/main" name="1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8597</Words>
  <Application>Microsoft Office PowerPoint</Application>
  <PresentationFormat>Grand écran</PresentationFormat>
  <Paragraphs>552</Paragraphs>
  <Slides>33</Slides>
  <Notes>32</Notes>
  <HiddenSlides>0</HiddenSlides>
  <MMClips>0</MMClips>
  <ScaleCrop>false</ScaleCrop>
  <HeadingPairs>
    <vt:vector size="8" baseType="variant">
      <vt:variant>
        <vt:lpstr>Polices utilisées</vt:lpstr>
      </vt:variant>
      <vt:variant>
        <vt:i4>11</vt:i4>
      </vt:variant>
      <vt:variant>
        <vt:lpstr>Thème</vt:lpstr>
      </vt:variant>
      <vt:variant>
        <vt:i4>2</vt:i4>
      </vt:variant>
      <vt:variant>
        <vt:lpstr>Serveurs OLE incorporés</vt:lpstr>
      </vt:variant>
      <vt:variant>
        <vt:i4>1</vt:i4>
      </vt:variant>
      <vt:variant>
        <vt:lpstr>Titres des diapositives</vt:lpstr>
      </vt:variant>
      <vt:variant>
        <vt:i4>33</vt:i4>
      </vt:variant>
    </vt:vector>
  </HeadingPairs>
  <TitlesOfParts>
    <vt:vector size="47" baseType="lpstr">
      <vt:lpstr>-apple-system</vt:lpstr>
      <vt:lpstr>Helvetica Neue</vt:lpstr>
      <vt:lpstr>NotoSerifCJKjp-Light-Identity-H</vt:lpstr>
      <vt:lpstr>华文细黑</vt:lpstr>
      <vt:lpstr>微软雅黑</vt:lpstr>
      <vt:lpstr>微软雅黑</vt:lpstr>
      <vt:lpstr>等线</vt:lpstr>
      <vt:lpstr>Arial</vt:lpstr>
      <vt:lpstr>Calibri</vt:lpstr>
      <vt:lpstr>Comic Sans MS</vt:lpstr>
      <vt:lpstr>Times New Roman</vt:lpstr>
      <vt:lpstr>1_Office 主题</vt:lpstr>
      <vt:lpstr>2_Office 主题</vt:lpstr>
      <vt:lpstr>Visio</vt:lpstr>
      <vt:lpstr>實驗安排</vt:lpstr>
      <vt:lpstr>考核要求</vt:lpstr>
      <vt:lpstr>實驗選題要求</vt:lpstr>
      <vt:lpstr>實驗一：製造MD5算法的散列值碰撞</vt:lpstr>
      <vt:lpstr>實驗二：基于口令的安全身份驗證協議</vt:lpstr>
      <vt:lpstr>實驗二：基于口令的安全身份驗證協議</vt:lpstr>
      <vt:lpstr>實驗三：數字證書綜合使用</vt:lpstr>
      <vt:lpstr>實驗四：同態加密匿名投票</vt:lpstr>
      <vt:lpstr>實驗五： Spectre 攻擊驗證</vt:lpstr>
      <vt:lpstr>實驗五： Spectre 攻擊驗證</vt:lpstr>
      <vt:lpstr>實驗六：簡單棧溢出實驗</vt:lpstr>
      <vt:lpstr>實驗六：簡單棧溢出實驗</vt:lpstr>
      <vt:lpstr>實驗七：基于棧溢出的模擬勒索實驗</vt:lpstr>
      <vt:lpstr>實驗八： SYN洪泛攻擊</vt:lpstr>
      <vt:lpstr>實驗九：基于IPID的TCP側信道漏洞</vt:lpstr>
      <vt:lpstr>實驗九：基于IPID的TCP側信道漏洞</vt:lpstr>
      <vt:lpstr>實驗九：基于IPID的TCP側信道漏洞</vt:lpstr>
      <vt:lpstr>Présentation PowerPoint</vt:lpstr>
      <vt:lpstr>實驗十一：實現本地DNS緩存中毒攻擊</vt:lpstr>
      <vt:lpstr>實驗十一：實現本地DNS緩存中毒攻擊</vt:lpstr>
      <vt:lpstr>實驗十二：域間源地址驗證技術模擬</vt:lpstr>
      <vt:lpstr>實驗十二：域間源地址驗證技術模擬</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Terry C.</cp:lastModifiedBy>
  <cp:revision>1180</cp:revision>
  <dcterms:created xsi:type="dcterms:W3CDTF">2025-02-07T09:49:57Z</dcterms:created>
  <dcterms:modified xsi:type="dcterms:W3CDTF">2025-06-15T10:22:13Z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175EB9CEED2C9037B7D3A567C42376E4_43</vt:lpwstr>
  </property>
  <property fmtid="{D5CDD505-2E9C-101B-9397-08002B2CF9AE}" pid="3" name="KSOProductBuildVer">
    <vt:lpwstr>2052-6.10.1.8873</vt:lpwstr>
  </property>
</Properties>
</file>