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49"/>
  </p:notesMasterIdLst>
  <p:handoutMasterIdLst>
    <p:handoutMasterId r:id="rId50"/>
  </p:handoutMasterIdLst>
  <p:sldIdLst>
    <p:sldId id="784" r:id="rId2"/>
    <p:sldId id="785" r:id="rId3"/>
    <p:sldId id="786" r:id="rId4"/>
    <p:sldId id="609" r:id="rId5"/>
    <p:sldId id="613" r:id="rId6"/>
    <p:sldId id="618" r:id="rId7"/>
    <p:sldId id="617" r:id="rId8"/>
    <p:sldId id="791" r:id="rId9"/>
    <p:sldId id="792" r:id="rId10"/>
    <p:sldId id="612" r:id="rId11"/>
    <p:sldId id="794" r:id="rId12"/>
    <p:sldId id="793" r:id="rId13"/>
    <p:sldId id="795" r:id="rId14"/>
    <p:sldId id="623" r:id="rId15"/>
    <p:sldId id="624" r:id="rId16"/>
    <p:sldId id="626" r:id="rId17"/>
    <p:sldId id="798" r:id="rId18"/>
    <p:sldId id="614" r:id="rId19"/>
    <p:sldId id="616" r:id="rId20"/>
    <p:sldId id="787" r:id="rId21"/>
    <p:sldId id="788" r:id="rId22"/>
    <p:sldId id="790" r:id="rId23"/>
    <p:sldId id="789" r:id="rId24"/>
    <p:sldId id="799" r:id="rId25"/>
    <p:sldId id="608" r:id="rId26"/>
    <p:sldId id="796" r:id="rId27"/>
    <p:sldId id="611" r:id="rId28"/>
    <p:sldId id="797" r:id="rId29"/>
    <p:sldId id="627" r:id="rId30"/>
    <p:sldId id="628" r:id="rId31"/>
    <p:sldId id="630" r:id="rId32"/>
    <p:sldId id="629" r:id="rId33"/>
    <p:sldId id="619" r:id="rId34"/>
    <p:sldId id="800" r:id="rId35"/>
    <p:sldId id="802" r:id="rId36"/>
    <p:sldId id="625" r:id="rId37"/>
    <p:sldId id="636" r:id="rId38"/>
    <p:sldId id="632" r:id="rId39"/>
    <p:sldId id="803" r:id="rId40"/>
    <p:sldId id="633" r:id="rId41"/>
    <p:sldId id="804" r:id="rId42"/>
    <p:sldId id="805" r:id="rId43"/>
    <p:sldId id="806" r:id="rId44"/>
    <p:sldId id="807" r:id="rId45"/>
    <p:sldId id="808" r:id="rId46"/>
    <p:sldId id="809" r:id="rId47"/>
    <p:sldId id="810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050"/>
    <a:srgbClr val="2B11EF"/>
    <a:srgbClr val="0000FF"/>
    <a:srgbClr val="EFF343"/>
    <a:srgbClr val="86F260"/>
    <a:srgbClr val="ECF127"/>
    <a:srgbClr val="FB81E1"/>
    <a:srgbClr val="119F14"/>
    <a:srgbClr val="FEC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72" autoAdjust="0"/>
    <p:restoredTop sz="69932" autoAdjust="0"/>
  </p:normalViewPr>
  <p:slideViewPr>
    <p:cSldViewPr snapToGrid="0">
      <p:cViewPr varScale="1">
        <p:scale>
          <a:sx n="87" d="100"/>
          <a:sy n="87" d="100"/>
        </p:scale>
        <p:origin x="1888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A66E1-596A-496E-B96E-FE454130F19C}" type="datetimeFigureOut">
              <a:rPr lang="zh-CN" altLang="en-US" smtClean="0"/>
              <a:pPr/>
              <a:t>2025/5/28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3B57A-208D-4E21-8008-BCE8E94FCB4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4863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2705F-8347-41A8-82E6-B2920132BF3D}" type="datetimeFigureOut">
              <a:rPr lang="en-US" smtClean="0"/>
              <a:pPr/>
              <a:t>5/28/25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AF6DD-051E-413B-8808-23D5AB3BD9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7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根号</a:t>
            </a:r>
            <a:r>
              <a:rPr lang="en-US" altLang="zh-CN" dirty="0"/>
              <a:t>d</a:t>
            </a:r>
            <a:r>
              <a:rPr lang="zh-CN" altLang="en-US" dirty="0"/>
              <a:t>是数据归一化常用的，</a:t>
            </a:r>
            <a:r>
              <a:rPr lang="en-US" altLang="zh-CN" dirty="0"/>
              <a:t>sum(x^2/d),</a:t>
            </a:r>
            <a:r>
              <a:rPr lang="zh-CN" altLang="en-US" dirty="0"/>
              <a:t> </a:t>
            </a:r>
            <a:r>
              <a:rPr lang="en-US" altLang="zh-CN" dirty="0"/>
              <a:t>x</a:t>
            </a:r>
            <a:r>
              <a:rPr lang="zh-CN" altLang="en-US" dirty="0"/>
              <a:t>是</a:t>
            </a:r>
            <a:r>
              <a:rPr lang="en-US" altLang="zh-CN" dirty="0"/>
              <a:t>-1</a:t>
            </a:r>
            <a:r>
              <a:rPr lang="zh-CN" altLang="en-US" dirty="0"/>
              <a:t>到</a:t>
            </a:r>
            <a:r>
              <a:rPr lang="en-US" altLang="zh-CN" dirty="0"/>
              <a:t>1</a:t>
            </a:r>
            <a:r>
              <a:rPr lang="zh-CN" altLang="en-US" dirty="0"/>
              <a:t>的随机变量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411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E6A7F-7BB1-D802-D041-9C9759027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02DF6E3-9FEB-293A-9E19-9A437BD19E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>
                <a:extLst>
                  <a:ext uri="{FF2B5EF4-FFF2-40B4-BE49-F238E27FC236}">
                    <a16:creationId xmlns:a16="http://schemas.microsoft.com/office/drawing/2014/main" id="{F4E42F82-091D-C8F1-F992-0258B1E2246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zh-CN" altLang="en-US" sz="1200" i="1" smtClean="0">
                        <a:latin typeface="Cambria Math" panose="02040503050406030204" pitchFamily="18" charset="0"/>
                      </a:rPr>
                      <m:t>𝑎𝑡𝑡</m:t>
                    </m:r>
                    <m:d>
                      <m:dPr>
                        <m:ctrlPr>
                          <a:rPr lang="zh-CN" alt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zh-CN" altLang="en-US" dirty="0"/>
                  <a:t>：第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行为第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个位置单词的重新表示，列数为向量的维度，行数为序列长度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zh-CN" altLang="en-US" sz="1200" i="0" smtClean="0">
                    <a:latin typeface="Cambria Math" panose="02040503050406030204" pitchFamily="18" charset="0"/>
                  </a:rPr>
                  <a:t>𝑎𝑡𝑡</a:t>
                </a:r>
                <a:r>
                  <a:rPr lang="zh-CN" altLang="en-US" sz="1200" i="0">
                    <a:latin typeface="Cambria Math" panose="02040503050406030204" pitchFamily="18" charset="0"/>
                  </a:rPr>
                  <a:t>(𝑄,𝐾,𝑉)</a:t>
                </a:r>
                <a:r>
                  <a:rPr lang="zh-CN" altLang="en-US" dirty="0" smtClean="0"/>
                  <a:t>：第</a:t>
                </a:r>
                <a:r>
                  <a:rPr lang="en-US" altLang="zh-CN" dirty="0" err="1" smtClean="0"/>
                  <a:t>i</a:t>
                </a:r>
                <a:r>
                  <a:rPr lang="zh-CN" altLang="en-US" dirty="0" smtClean="0"/>
                  <a:t>行为第</a:t>
                </a:r>
                <a:r>
                  <a:rPr lang="en-US" altLang="zh-CN" dirty="0" err="1" smtClean="0"/>
                  <a:t>i</a:t>
                </a:r>
                <a:r>
                  <a:rPr lang="zh-CN" altLang="en-US" dirty="0" smtClean="0"/>
                  <a:t>个位置单词的重新表示，列数为向量的维度，行数为序列长度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48AEDB-D32F-1FD9-A088-A88C22071D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45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大熊猫</a:t>
            </a:r>
            <a:endParaRPr kumimoji="1" lang="en-US" altLang="zh-CN"/>
          </a:p>
          <a:p>
            <a:r>
              <a:rPr kumimoji="1" lang="zh-CN" altLang="en-US" dirty="0"/>
              <a:t>熊猫血 </a:t>
            </a:r>
            <a:r>
              <a:rPr kumimoji="1" lang="en-US" altLang="zh-CN" dirty="0"/>
              <a:t>AB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02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堂课第二节结束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74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BBE5C-6758-88C2-88F7-8696C4C8A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906559-F881-4598-ECEB-B16B0D4CE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95D8FC3-09EB-99B9-ED63-E560F5E9D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大熊猫</a:t>
            </a:r>
            <a:endParaRPr kumimoji="1" lang="en-US" altLang="zh-CN" dirty="0"/>
          </a:p>
          <a:p>
            <a:r>
              <a:rPr kumimoji="1" lang="zh-CN" altLang="en-US" dirty="0"/>
              <a:t>熊猫血 </a:t>
            </a:r>
            <a:r>
              <a:rPr kumimoji="1" lang="en-US" altLang="zh-CN" dirty="0"/>
              <a:t>AB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B59B5B-97B8-E0BA-718E-0C371BE82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756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AA936-D5FC-82DF-3533-FC34480B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CB77375-8330-1AF5-F710-BEFF1407C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077C82-CB7A-B4D5-29FA-33B8A8C5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堂课第二节结束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F8FC92-8DD1-6865-E464-C5E2DCBA7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07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2E292-9FB3-A30A-7856-6BEADC167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28178E-6FFD-54FB-5433-3D2D0E67B7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FCA5D5-284E-15A7-9BF9-F7E823BE79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第</a:t>
            </a:r>
            <a:r>
              <a:rPr lang="en-US" altLang="zh-CN" dirty="0"/>
              <a:t>14</a:t>
            </a:r>
            <a:r>
              <a:rPr lang="zh-CN" altLang="en-US" dirty="0"/>
              <a:t>堂课第二节结束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56981D-DB7A-6D82-51FA-6237F6AE3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66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中间表示成一堆符号，从网上拷出来的，做同声传译的人中间记的笔记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6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RNN</a:t>
            </a:r>
            <a:r>
              <a:rPr kumimoji="1" lang="zh-CN" altLang="en-US" dirty="0"/>
              <a:t>能够处理的序列不长，为什么呢？</a:t>
            </a:r>
            <a:endParaRPr kumimoji="1" lang="en-US" altLang="zh-CN" dirty="0"/>
          </a:p>
          <a:p>
            <a:r>
              <a:rPr kumimoji="1" lang="zh-CN" altLang="en-US" dirty="0"/>
              <a:t>中间向量存储能力差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703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15</a:t>
            </a:r>
            <a:r>
              <a:rPr kumimoji="1" lang="zh-CN" altLang="en-US" dirty="0"/>
              <a:t>堂课剩余时间为实验室介绍和课程答疑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78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5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101B3-0010-49BE-8236-66B90211FF04}" type="datetime1">
              <a:rPr lang="en-US" altLang="zh-CN" smtClean="0"/>
              <a:pPr/>
              <a:t>5/28/25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4328-A6FB-477A-B9C5-7FEFDBDE1042}" type="datetime1">
              <a:rPr lang="en-US" altLang="zh-CN" smtClean="0"/>
              <a:pPr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>
            <a:lvl1pPr>
              <a:buFontTx/>
              <a:buBlip>
                <a:blip r:embed="rId2"/>
              </a:buBlip>
              <a:defRPr/>
            </a:lvl1pPr>
            <a:lvl2pPr>
              <a:buClr>
                <a:srgbClr val="503DDB"/>
              </a:buClr>
              <a:buSzPct val="45000"/>
              <a:buFont typeface="Wingdings" pitchFamily="2" charset="2"/>
              <a:buChar char="q"/>
              <a:defRPr/>
            </a:lvl2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pic>
        <p:nvPicPr>
          <p:cNvPr id="302081" name="Picture 1" descr="E:\resume\logo-tsinghua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35414" y="90151"/>
            <a:ext cx="2727375" cy="64381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5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9C65-C267-4342-9116-A00B6E7C55AD}" type="datetime1">
              <a:rPr lang="en-US" altLang="zh-CN" smtClean="0"/>
              <a:pPr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BA6D-2268-450C-9E6F-6553A2809D14}" type="datetime1">
              <a:rPr lang="en-US" altLang="zh-CN" smtClean="0"/>
              <a:pPr/>
              <a:t>5/28/25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173-FFAF-40B2-BD71-0C474124F5CA}" type="datetime1">
              <a:rPr lang="en-US" altLang="zh-CN" smtClean="0"/>
              <a:pPr/>
              <a:t>5/28/25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AC5F-3C7D-47E2-8137-0D0E13270C17}" type="datetime1">
              <a:rPr lang="en-US" altLang="zh-CN" smtClean="0"/>
              <a:pPr/>
              <a:t>5/28/25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4C75-2845-4A49-8407-B10E57DDCB66}" type="datetime1">
              <a:rPr lang="en-US" altLang="zh-CN" smtClean="0"/>
              <a:pPr/>
              <a:t>5/28/25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93C6-C0E5-4C94-83B0-EBE524181AA9}" type="datetime1">
              <a:rPr lang="en-US" altLang="zh-CN" smtClean="0"/>
              <a:pPr/>
              <a:t>5/28/25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6CFF-7119-486E-A242-14937EB72380}" type="datetime1">
              <a:rPr lang="en-US" altLang="zh-CN" smtClean="0"/>
              <a:pPr/>
              <a:t>5/28/25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5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D574-52BE-4187-8AF7-E201A70CB6DC}" type="datetime1">
              <a:rPr lang="en-US" altLang="zh-CN" smtClean="0"/>
              <a:pPr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0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6442-F0BB-4DBA-B030-4A0192701801}" type="datetime1">
              <a:rPr lang="en-US" altLang="zh-CN" smtClean="0"/>
              <a:pPr/>
              <a:t>5/28/25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17F057F-A64E-4BDF-9C5A-7B9C1755BBD0}" type="datetime1">
              <a:rPr lang="en-US" altLang="zh-CN" smtClean="0"/>
              <a:pPr/>
              <a:t>5/28/25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3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44.png"/><Relationship Id="rId7" Type="http://schemas.openxmlformats.org/officeDocument/2006/relationships/image" Target="../media/image32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31.png"/><Relationship Id="rId10" Type="http://schemas.openxmlformats.org/officeDocument/2006/relationships/image" Target="../media/image38.png"/><Relationship Id="rId4" Type="http://schemas.openxmlformats.org/officeDocument/2006/relationships/image" Target="../media/image45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8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DC10CF9D-4783-1549-32B2-8BB68872BA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清华大学 计算机系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艾清遥</a:t>
            </a:r>
          </a:p>
          <a:p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0958975-987B-AA73-A03C-DF1D9C14E9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>
                <a:solidFill>
                  <a:schemeClr val="tx1"/>
                </a:solidFill>
              </a:rPr>
              <a:t>扩展章节：大模型技术基础</a:t>
            </a:r>
          </a:p>
        </p:txBody>
      </p:sp>
    </p:spTree>
    <p:extLst>
      <p:ext uri="{BB962C8B-B14F-4D97-AF65-F5344CB8AC3E}">
        <p14:creationId xmlns:p14="http://schemas.microsoft.com/office/powerpoint/2010/main" val="1355651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F39DE-6A11-5FD4-0BEA-2BCEE9F66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大模型（生成式人工智能）的浪潮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B2F455-12E1-5538-31B8-CD0B9037D5A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en-US" altLang="zh-CN" dirty="0"/>
              <a:t>2022</a:t>
            </a:r>
            <a:r>
              <a:rPr kumimoji="1" lang="zh-CN" altLang="en-US" dirty="0"/>
              <a:t>年</a:t>
            </a:r>
            <a:r>
              <a:rPr kumimoji="1" lang="en-US" altLang="zh-CN" dirty="0"/>
              <a:t>ChatGPT</a:t>
            </a:r>
            <a:r>
              <a:rPr kumimoji="1" lang="zh-CN" altLang="en-US" dirty="0"/>
              <a:t>轰动全球</a:t>
            </a:r>
            <a:endParaRPr kumimoji="1" lang="en-US" altLang="zh-CN" dirty="0"/>
          </a:p>
          <a:p>
            <a:r>
              <a:rPr kumimoji="1" lang="zh-CN" altLang="en-US" dirty="0"/>
              <a:t>大模型服务发展迅速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0D62949A-265E-0BD2-2D97-404CA090BD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784" b="12112"/>
          <a:stretch/>
        </p:blipFill>
        <p:spPr>
          <a:xfrm>
            <a:off x="6400800" y="1711913"/>
            <a:ext cx="5148303" cy="4533365"/>
          </a:xfrm>
          <a:prstGeom prst="rect">
            <a:avLst/>
          </a:prstGeom>
        </p:spPr>
      </p:pic>
      <p:pic>
        <p:nvPicPr>
          <p:cNvPr id="1026" name="Picture 2" descr="How ChatGPT can be used by UX/UI designers? | by Urvashi Kaushik | Bootcamp  | Medium">
            <a:extLst>
              <a:ext uri="{FF2B5EF4-FFF2-40B4-BE49-F238E27FC236}">
                <a16:creationId xmlns:a16="http://schemas.microsoft.com/office/drawing/2014/main" id="{91AC9347-30AE-52E7-BDBC-971B841300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1" t="12222" r="13981" b="13979"/>
          <a:stretch/>
        </p:blipFill>
        <p:spPr bwMode="auto">
          <a:xfrm>
            <a:off x="1219200" y="2544987"/>
            <a:ext cx="5148303" cy="390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27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C3BC2-0D31-EED2-B263-47A8B7A26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大模型由什么组成？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AA0D1C-5F95-9EEC-B7C4-3BF24FB5F21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9382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底层单元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en-US" altLang="zh-CN" dirty="0"/>
              <a:t>Transformer</a:t>
            </a:r>
            <a:r>
              <a:rPr kumimoji="1" lang="zh-CN" altLang="en-US" dirty="0"/>
              <a:t>与注意力机制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动态词表示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模型架构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学习目标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训练框架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r>
              <a:rPr kumimoji="1" lang="zh-CN" altLang="en-US" dirty="0"/>
              <a:t>应用场景</a:t>
            </a:r>
            <a:endParaRPr kumimoji="1" lang="en-US" altLang="zh-CN" dirty="0"/>
          </a:p>
          <a:p>
            <a:pPr>
              <a:lnSpc>
                <a:spcPct val="150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8567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Transformer</a:t>
            </a:r>
            <a:r>
              <a:rPr lang="zh-CN" altLang="en-US" dirty="0"/>
              <a:t>：转换模型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53ACA8-9CFF-46A5-BDB8-75829C4AF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29037"/>
            <a:ext cx="3729373" cy="516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51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Transformer</a:t>
            </a:r>
            <a:r>
              <a:rPr lang="zh-CN" altLang="en-US" dirty="0"/>
              <a:t>：转换模型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376515" y="1778997"/>
            <a:ext cx="8785123" cy="3987622"/>
          </a:xfrm>
        </p:spPr>
        <p:txBody>
          <a:bodyPr/>
          <a:lstStyle/>
          <a:p>
            <a:r>
              <a:rPr lang="zh-CN" altLang="en-US" dirty="0"/>
              <a:t>深度学习的集大成者之一</a:t>
            </a:r>
            <a:endParaRPr lang="en-US" altLang="zh-CN" dirty="0"/>
          </a:p>
          <a:p>
            <a:r>
              <a:rPr lang="zh-CN" altLang="en-US" dirty="0"/>
              <a:t>关键技术包括</a:t>
            </a:r>
          </a:p>
          <a:p>
            <a:pPr lvl="1"/>
            <a:r>
              <a:rPr lang="zh-CN" altLang="en-US" dirty="0"/>
              <a:t>前馈神经网络（全连接神经网络）</a:t>
            </a:r>
            <a:endParaRPr lang="en-US" altLang="zh-CN" dirty="0"/>
          </a:p>
          <a:p>
            <a:pPr lvl="1"/>
            <a:r>
              <a:rPr lang="zh-CN" altLang="en-US" dirty="0"/>
              <a:t>残差神经网络</a:t>
            </a:r>
            <a:endParaRPr lang="en-US" altLang="zh-CN" dirty="0"/>
          </a:p>
          <a:p>
            <a:pPr lvl="1"/>
            <a:r>
              <a:rPr lang="zh-CN" altLang="en-US" dirty="0"/>
              <a:t>各种归一化、激活函数等小细节</a:t>
            </a:r>
            <a:endParaRPr lang="en-US" altLang="zh-CN" dirty="0"/>
          </a:p>
          <a:p>
            <a:r>
              <a:rPr lang="zh-CN" altLang="en-US" dirty="0"/>
              <a:t>核心技术</a:t>
            </a:r>
            <a:endParaRPr lang="en-US" altLang="zh-CN" dirty="0"/>
          </a:p>
          <a:p>
            <a:pPr lvl="1"/>
            <a:r>
              <a:rPr lang="zh-CN" altLang="en-US" dirty="0"/>
              <a:t>自注意力机制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0340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注意力机制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065" y="1909940"/>
            <a:ext cx="5852431" cy="439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406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键</a:t>
            </a:r>
            <a:r>
              <a:rPr lang="en-US" altLang="zh-CN" dirty="0"/>
              <a:t>-</a:t>
            </a:r>
            <a:r>
              <a:rPr lang="zh-CN" altLang="en-US" dirty="0"/>
              <a:t>值数据库查询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406013" y="1782263"/>
                <a:ext cx="9286568" cy="455954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800" dirty="0"/>
                  <a:t>键</a:t>
                </a:r>
                <a:r>
                  <a:rPr lang="en-US" altLang="zh-CN" sz="2800" dirty="0"/>
                  <a:t>-</a:t>
                </a:r>
                <a:r>
                  <a:rPr lang="zh-CN" altLang="en-US" sz="2800" dirty="0"/>
                  <a:t>值对数据</a:t>
                </a:r>
                <a:endParaRPr lang="en-US" altLang="zh-CN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…,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zh-CN" dirty="0"/>
              </a:p>
              <a:p>
                <a:r>
                  <a:rPr lang="zh-CN" altLang="en-US" sz="2800" dirty="0"/>
                  <a:t>查询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altLang="zh-CN" sz="2800" dirty="0"/>
              </a:p>
              <a:p>
                <a:endParaRPr lang="en-US" altLang="zh-CN" sz="2400" dirty="0"/>
              </a:p>
              <a:p>
                <a:r>
                  <a:rPr lang="zh-CN" altLang="en-US" sz="2800" dirty="0"/>
                  <a:t>例：</a:t>
                </a:r>
                <a:r>
                  <a:rPr lang="zh-CN" altLang="en-US" dirty="0"/>
                  <a:t>中药方子</a:t>
                </a:r>
                <a:endParaRPr lang="en-US" altLang="zh-CN" dirty="0"/>
              </a:p>
              <a:p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406013" y="1782263"/>
                <a:ext cx="9286568" cy="4559543"/>
              </a:xfrm>
              <a:blipFill>
                <a:blip r:embed="rId2"/>
                <a:stretch>
                  <a:fillRect t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中药进补，您用对了吗？-药知道-特色医疗-四川省第五人民医院">
            <a:extLst>
              <a:ext uri="{FF2B5EF4-FFF2-40B4-BE49-F238E27FC236}">
                <a16:creationId xmlns:a16="http://schemas.microsoft.com/office/drawing/2014/main" id="{EA28EEFD-26F5-C327-2B31-21B85189E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987" y="2890684"/>
            <a:ext cx="6059779" cy="3692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7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767C5-BE44-CBA5-4889-1E962E9FC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0" name="Picture 8" descr="中医问诊APP开发看病更快捷_深圳app制作给用户提供强而有力的看病助手">
            <a:extLst>
              <a:ext uri="{FF2B5EF4-FFF2-40B4-BE49-F238E27FC236}">
                <a16:creationId xmlns:a16="http://schemas.microsoft.com/office/drawing/2014/main" id="{2D7BB3BA-60F2-B7BA-432B-1407BA6B5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173" y="586079"/>
            <a:ext cx="3302000" cy="246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D632F27-FFE0-58AD-7AE7-551967BF5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键</a:t>
            </a:r>
            <a:r>
              <a:rPr lang="en-US" altLang="zh-CN" dirty="0"/>
              <a:t>-</a:t>
            </a:r>
            <a:r>
              <a:rPr lang="zh-CN" altLang="en-US" dirty="0"/>
              <a:t>值数据库查询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DA6B1E-8A89-6229-B6C3-BE0BF06BC13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406013" y="1782263"/>
                <a:ext cx="4994787" cy="4559543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800" dirty="0"/>
                  <a:t>制作中药的注意力网络：</a:t>
                </a:r>
                <a:endParaRPr lang="en-US" altLang="zh-CN" sz="2800" dirty="0"/>
              </a:p>
              <a:p>
                <a:pPr lvl="1"/>
                <a:r>
                  <a:rPr lang="zh-CN" altLang="en-US" sz="2600" dirty="0"/>
                  <a:t>模型参数：中医医生</a:t>
                </a:r>
                <a:endParaRPr lang="en-US" altLang="zh-CN" sz="2600" dirty="0"/>
              </a:p>
              <a:p>
                <a:pPr lvl="1"/>
                <a:r>
                  <a:rPr lang="zh-CN" altLang="en-US" sz="2600" dirty="0"/>
                  <a:t>查询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zh-CN" altLang="en-US" sz="2600" dirty="0"/>
                  <a:t>：病症</a:t>
                </a:r>
                <a:endParaRPr lang="en-US" altLang="zh-CN" sz="2600" dirty="0"/>
              </a:p>
              <a:p>
                <a:pPr lvl="1"/>
                <a:r>
                  <a:rPr lang="zh-CN" altLang="en-US" sz="2600" dirty="0"/>
                  <a:t>键 </a:t>
                </a:r>
                <a:r>
                  <a:rPr lang="en-US" altLang="zh-CN" sz="2600" dirty="0"/>
                  <a:t>Key:</a:t>
                </a:r>
                <a:r>
                  <a:rPr lang="zh-CN" altLang="en-US" sz="2600" dirty="0"/>
                  <a:t> 药材名</a:t>
                </a:r>
                <a:endParaRPr lang="en-US" altLang="zh-CN" sz="2600" dirty="0"/>
              </a:p>
              <a:p>
                <a:pPr lvl="1"/>
                <a:r>
                  <a:rPr lang="zh-CN" altLang="en-US" sz="2600" dirty="0"/>
                  <a:t>值 </a:t>
                </a:r>
                <a:r>
                  <a:rPr lang="en-US" altLang="zh-CN" sz="2600" dirty="0"/>
                  <a:t>Value:</a:t>
                </a:r>
                <a:r>
                  <a:rPr lang="zh-CN" altLang="en-US" sz="2600" dirty="0"/>
                  <a:t> 药材本身</a:t>
                </a:r>
                <a:endParaRPr lang="en-US" altLang="zh-CN" sz="2600" dirty="0"/>
              </a:p>
              <a:p>
                <a:pPr lvl="1"/>
                <a:r>
                  <a:rPr lang="zh-CN" altLang="en-US" sz="2600" dirty="0"/>
                  <a:t>注意力权重 </a:t>
                </a:r>
                <a:r>
                  <a:rPr lang="en-US" altLang="zh-CN" sz="2600" dirty="0"/>
                  <a:t>Attention</a:t>
                </a:r>
                <a:r>
                  <a:rPr lang="zh-CN" altLang="en-US" sz="2600" dirty="0"/>
                  <a:t> </a:t>
                </a:r>
                <a:r>
                  <a:rPr lang="en-US" altLang="zh-CN" sz="2600" dirty="0"/>
                  <a:t>Weight</a:t>
                </a:r>
                <a:r>
                  <a:rPr lang="zh-CN" altLang="en-US" sz="2600" dirty="0"/>
                  <a:t>：</a:t>
                </a:r>
                <a:r>
                  <a:rPr lang="zh-CN" altLang="en-US" sz="2200" dirty="0"/>
                  <a:t>方子中的药材配比</a:t>
                </a:r>
                <a:endParaRPr lang="en-US" altLang="zh-CN" sz="2200" dirty="0"/>
              </a:p>
              <a:p>
                <a:pPr lvl="1"/>
                <a:r>
                  <a:rPr lang="zh-CN" altLang="en-US" sz="2600" dirty="0"/>
                  <a:t>输出：混合后制作的中药</a:t>
                </a:r>
                <a:endParaRPr lang="en-US" altLang="zh-CN" sz="2600" dirty="0"/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0DA6B1E-8A89-6229-B6C3-BE0BF06BC1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406013" y="1782263"/>
                <a:ext cx="4994787" cy="4559543"/>
              </a:xfrm>
              <a:blipFill>
                <a:blip r:embed="rId3"/>
                <a:stretch>
                  <a:fillRect t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中药进补，您用对了吗？-药知道-特色医疗-四川省第五人民医院">
            <a:extLst>
              <a:ext uri="{FF2B5EF4-FFF2-40B4-BE49-F238E27FC236}">
                <a16:creationId xmlns:a16="http://schemas.microsoft.com/office/drawing/2014/main" id="{E3435438-ECA5-06A9-D5D0-C078DD288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0201" y="2197100"/>
            <a:ext cx="3280043" cy="199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贡献几个名医治疗血小板减少的中药方子- 血小板低病友交流">
            <a:extLst>
              <a:ext uri="{FF2B5EF4-FFF2-40B4-BE49-F238E27FC236}">
                <a16:creationId xmlns:a16="http://schemas.microsoft.com/office/drawing/2014/main" id="{E88864B2-30CC-95F9-0C9B-6C89609759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80"/>
          <a:stretch/>
        </p:blipFill>
        <p:spPr bwMode="auto">
          <a:xfrm>
            <a:off x="8339545" y="3049879"/>
            <a:ext cx="2990699" cy="309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医生告诉你中药煎熬的正确方法- 南阳市中医院">
            <a:extLst>
              <a:ext uri="{FF2B5EF4-FFF2-40B4-BE49-F238E27FC236}">
                <a16:creationId xmlns:a16="http://schemas.microsoft.com/office/drawing/2014/main" id="{EC34DD2A-57CF-9445-D432-8685B434C8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951" y="4259262"/>
            <a:ext cx="3492500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653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53A397-B562-CD21-91A6-5DD03586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注意力机制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AF2C9C-345C-739E-C2E1-11029CC33DE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976284"/>
            <a:ext cx="10363200" cy="4043516"/>
          </a:xfrm>
        </p:spPr>
        <p:txBody>
          <a:bodyPr/>
          <a:lstStyle/>
          <a:p>
            <a:r>
              <a:rPr kumimoji="1" lang="zh-CN" altLang="en-US" dirty="0"/>
              <a:t>基于查询、键计算注意力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C0ADCBD-8D05-A6C7-5241-4065119803B6}"/>
                  </a:ext>
                </a:extLst>
              </p:cNvPr>
              <p:cNvSpPr/>
              <p:nvPr/>
            </p:nvSpPr>
            <p:spPr>
              <a:xfrm>
                <a:off x="1997540" y="2649563"/>
                <a:ext cx="2412327" cy="11845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en-US" sz="2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6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begChr m:val=""/>
                              <m:ctrlP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zh-CN" altLang="en-US" sz="26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zh-CN" altLang="en-US" sz="2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zh-CN" altLang="en-US" sz="260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EC0ADCBD-8D05-A6C7-5241-4065119803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7540" y="2649563"/>
                <a:ext cx="2412327" cy="1184555"/>
              </a:xfrm>
              <a:prstGeom prst="rect">
                <a:avLst/>
              </a:prstGeom>
              <a:blipFill>
                <a:blip r:embed="rId2"/>
                <a:stretch>
                  <a:fillRect l="-46597" t="-107447" b="-165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7CCDA13-9A40-7F2E-B82C-CFF0E56620ED}"/>
                  </a:ext>
                </a:extLst>
              </p:cNvPr>
              <p:cNvSpPr/>
              <p:nvPr/>
            </p:nvSpPr>
            <p:spPr>
              <a:xfrm>
                <a:off x="1996051" y="3741424"/>
                <a:ext cx="7185557" cy="11465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ctrlPr>
                            <a:rPr lang="zh-CN" alt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zh-CN" altLang="en-US" sz="26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zh-CN" altLang="en-US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zh-CN" altLang="en-US" sz="2600">
                          <a:latin typeface="Cambria Math" panose="02040503050406030204" pitchFamily="18" charset="0"/>
                        </a:rPr>
                        <m:t>softmax</m:t>
                      </m:r>
                      <m:d>
                        <m:dPr>
                          <m:ctrlPr>
                            <a:rPr lang="zh-CN" alt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𝑠𝑖𝑚</m:t>
                          </m:r>
                          <m:d>
                            <m:dPr>
                              <m:ctrlP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zh-CN" altLang="en-US" sz="260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zh-CN" altLang="en-US" sz="2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d>
                                <m:dPr>
                                  <m:begChr m:val=""/>
                                  <m:ctrlP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𝑠𝑖𝑚</m:t>
                                  </m:r>
                                  <m:r>
                                    <a:rPr lang="zh-CN" altLang="en-US" sz="26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zh-CN" altLang="en-US" sz="26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CN" altLang="en-US" sz="260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d>
                                    <m:dPr>
                                      <m:begChr m:val=""/>
                                      <m:ctrlP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  <m:t>𝑠𝑖𝑚</m:t>
                                      </m:r>
                                      <m:r>
                                        <a:rPr lang="zh-CN" altLang="en-US" sz="260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zh-CN" altLang="en-US" sz="2600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zh-CN" altLang="en-US" sz="26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zh-CN" alt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26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zh-CN" altLang="en-US" sz="26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zh-CN" altLang="en-US" sz="26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7CCDA13-9A40-7F2E-B82C-CFF0E56620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051" y="3741424"/>
                <a:ext cx="7185557" cy="1146596"/>
              </a:xfrm>
              <a:prstGeom prst="rect">
                <a:avLst/>
              </a:prstGeom>
              <a:blipFill>
                <a:blip r:embed="rId3"/>
                <a:stretch>
                  <a:fillRect t="-41758" r="-3351" b="-81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E8B6810-771A-9A84-B3D2-1D0AB09101E4}"/>
                  </a:ext>
                </a:extLst>
              </p:cNvPr>
              <p:cNvSpPr/>
              <p:nvPr/>
            </p:nvSpPr>
            <p:spPr>
              <a:xfrm>
                <a:off x="1996051" y="4888020"/>
                <a:ext cx="4749762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600" i="1">
                        <a:latin typeface="Cambria Math" panose="02040503050406030204" pitchFamily="18" charset="0"/>
                      </a:rPr>
                      <m:t>𝑠𝑖𝑚</m:t>
                    </m:r>
                    <m:d>
                      <m:dPr>
                        <m:ctrlPr>
                          <a:rPr lang="zh-CN" alt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6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zh-CN" altLang="en-US" sz="26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zh-CN" alt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600" dirty="0"/>
                  <a:t>：表示</a:t>
                </a:r>
                <a14:m>
                  <m:oMath xmlns:m="http://schemas.openxmlformats.org/officeDocument/2006/math">
                    <m:r>
                      <a:rPr lang="zh-CN" altLang="en-US" sz="26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 sz="2600" i="1">
                        <a:latin typeface="Cambria Math" panose="02040503050406030204" pitchFamily="18" charset="0"/>
                      </a:rPr>
                      <m:t>与</m:t>
                    </m:r>
                    <m:sSub>
                      <m:sSubPr>
                        <m:ctrlPr>
                          <a:rPr lang="zh-CN" alt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6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CN" altLang="en-US" sz="2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600" dirty="0"/>
                  <a:t>的相似性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E8B6810-771A-9A84-B3D2-1D0AB09101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051" y="4888020"/>
                <a:ext cx="4749762" cy="492443"/>
              </a:xfrm>
              <a:prstGeom prst="rect">
                <a:avLst/>
              </a:prstGeom>
              <a:blipFill>
                <a:blip r:embed="rId4"/>
                <a:stretch>
                  <a:fillRect l="-266" t="-20000" r="-133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DA37A33-72DB-F223-A73E-23C70647CE35}"/>
                  </a:ext>
                </a:extLst>
              </p:cNvPr>
              <p:cNvSpPr/>
              <p:nvPr/>
            </p:nvSpPr>
            <p:spPr>
              <a:xfrm>
                <a:off x="1996051" y="5466247"/>
                <a:ext cx="2611164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600" i="1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ctrlPr>
                          <a:rPr lang="zh-CN" altLang="en-US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6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zh-CN" altLang="en-US" sz="260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6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zh-CN" alt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600" dirty="0"/>
                  <a:t>：注意力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DA37A33-72DB-F223-A73E-23C70647CE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051" y="5466247"/>
                <a:ext cx="2611164" cy="492443"/>
              </a:xfrm>
              <a:prstGeom prst="rect">
                <a:avLst/>
              </a:prstGeom>
              <a:blipFill>
                <a:blip r:embed="rId5"/>
                <a:stretch>
                  <a:fillRect t="-23077" r="-3382" b="-205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451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注意力机制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32606" y="1698523"/>
                <a:ext cx="8855289" cy="426974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均用维度为</a:t>
                </a:r>
                <a:r>
                  <a:rPr lang="en-US" altLang="zh-CN" dirty="0"/>
                  <a:t>d</a:t>
                </a:r>
                <a:r>
                  <a:rPr lang="zh-CN" altLang="en-US" dirty="0"/>
                  <a:t>的行向量表示</a:t>
                </a:r>
                <a:endParaRPr lang="en-US" altLang="zh-CN" dirty="0"/>
              </a:p>
              <a:p>
                <a:r>
                  <a:rPr lang="zh-CN" altLang="en-US" dirty="0"/>
                  <a:t>键矩阵：                          值矩阵：                  查询矩阵：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相似性：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注意力：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32606" y="1698523"/>
                <a:ext cx="8855289" cy="4269742"/>
              </a:xfrm>
              <a:blipFill>
                <a:blip r:embed="rId3"/>
                <a:stretch>
                  <a:fillRect t="-23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713563" y="2203202"/>
                <a:ext cx="1469698" cy="15146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&amp;⋮</m:t>
                              </m:r>
                            </m:e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3563" y="2203202"/>
                <a:ext cx="1469698" cy="1514645"/>
              </a:xfrm>
              <a:prstGeom prst="rect">
                <a:avLst/>
              </a:prstGeom>
              <a:blipFill>
                <a:blip r:embed="rId4"/>
                <a:stretch>
                  <a:fillRect t="-833" b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768337" y="2203202"/>
                <a:ext cx="1426481" cy="14529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&amp;⋮</m:t>
                              </m:r>
                            </m:e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337" y="2203202"/>
                <a:ext cx="1426481" cy="1452962"/>
              </a:xfrm>
              <a:prstGeom prst="rect">
                <a:avLst/>
              </a:prstGeom>
              <a:blipFill>
                <a:blip r:embed="rId5"/>
                <a:stretch>
                  <a:fillRect t="-4348" b="-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3238882" y="3969655"/>
                <a:ext cx="2675220" cy="9380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𝑠𝑖𝑚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882" y="3969655"/>
                <a:ext cx="2675220" cy="938014"/>
              </a:xfrm>
              <a:prstGeom prst="rect">
                <a:avLst/>
              </a:prstGeom>
              <a:blipFill>
                <a:blip r:embed="rId6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3115414" y="5305931"/>
                <a:ext cx="4987776" cy="9298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𝑎𝑡𝑡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414" y="5305931"/>
                <a:ext cx="4987776" cy="929870"/>
              </a:xfrm>
              <a:prstGeom prst="rect">
                <a:avLst/>
              </a:prstGeom>
              <a:blipFill>
                <a:blip r:embed="rId7"/>
                <a:stretch>
                  <a:fillRect r="-254" b="-1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8743315" y="2203202"/>
                <a:ext cx="1516313" cy="14529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&amp;⋮</m:t>
                              </m:r>
                            </m:e>
                            <m:e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315" y="2203202"/>
                <a:ext cx="1516313" cy="1452962"/>
              </a:xfrm>
              <a:prstGeom prst="rect">
                <a:avLst/>
              </a:prstGeom>
              <a:blipFill>
                <a:blip r:embed="rId8"/>
                <a:stretch>
                  <a:fillRect t="-4348" b="-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7928753" y="4160843"/>
            <a:ext cx="2108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对矩阵的每一行做</a:t>
            </a:r>
            <a:r>
              <a:rPr lang="en-US" altLang="zh-CN" sz="2400" dirty="0" err="1">
                <a:solidFill>
                  <a:srgbClr val="FF0000"/>
                </a:solidFill>
              </a:rPr>
              <a:t>softmax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cxnSp>
        <p:nvCxnSpPr>
          <p:cNvPr id="12" name="直接箭头连接符 11"/>
          <p:cNvCxnSpPr>
            <a:cxnSpLocks/>
          </p:cNvCxnSpPr>
          <p:nvPr/>
        </p:nvCxnSpPr>
        <p:spPr>
          <a:xfrm flipH="1">
            <a:off x="5914102" y="4768543"/>
            <a:ext cx="1853811" cy="71785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3019656" y="5984787"/>
                <a:ext cx="155683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olidFill>
                      <a:srgbClr val="FF0000"/>
                    </a:solidFill>
                  </a:rPr>
                  <a:t>d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维行向量</m:t>
                    </m:r>
                  </m:oMath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656" y="5984787"/>
                <a:ext cx="1556836" cy="461665"/>
              </a:xfrm>
              <a:prstGeom prst="rect">
                <a:avLst/>
              </a:prstGeom>
              <a:blipFill>
                <a:blip r:embed="rId9"/>
                <a:stretch>
                  <a:fillRect l="-5645" t="-10811" r="-2419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7071664" y="3255040"/>
                <a:ext cx="8462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1664" y="3255040"/>
                <a:ext cx="846257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10108400" y="3198167"/>
                <a:ext cx="92115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8400" y="3198167"/>
                <a:ext cx="92115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008239" y="4215926"/>
                <a:ext cx="80021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400" dirty="0">
                    <a:solidFill>
                      <a:srgbClr val="FF0000"/>
                    </a:solidFill>
                  </a:rPr>
                  <a:t>标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量</m:t>
                    </m:r>
                  </m:oMath>
                </a14:m>
                <a:endParaRPr lang="zh-CN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239" y="4215926"/>
                <a:ext cx="800219" cy="461665"/>
              </a:xfrm>
              <a:prstGeom prst="rect">
                <a:avLst/>
              </a:prstGeom>
              <a:blipFill>
                <a:blip r:embed="rId12"/>
                <a:stretch>
                  <a:fillRect l="-12500" t="-21622" r="-4688" b="-2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4055433" y="3314274"/>
                <a:ext cx="8462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433" y="3314274"/>
                <a:ext cx="846257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586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399996-EB94-0144-57FD-83B25D76F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自注意力机制</a:t>
            </a:r>
          </a:p>
        </p:txBody>
      </p:sp>
      <p:pic>
        <p:nvPicPr>
          <p:cNvPr id="4104" name="Picture 8" descr="组内成员icon_图标_矢量素材免费下载- 爱给网">
            <a:extLst>
              <a:ext uri="{FF2B5EF4-FFF2-40B4-BE49-F238E27FC236}">
                <a16:creationId xmlns:a16="http://schemas.microsoft.com/office/drawing/2014/main" id="{2153C991-9066-5B23-9D3C-2D32D861A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165" y="5226100"/>
            <a:ext cx="1199131" cy="1199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组内成员icon_图标_矢量素材免费下载- 爱给网">
            <a:extLst>
              <a:ext uri="{FF2B5EF4-FFF2-40B4-BE49-F238E27FC236}">
                <a16:creationId xmlns:a16="http://schemas.microsoft.com/office/drawing/2014/main" id="{3C846DED-D8B1-C9BD-5B26-C68FDB8EB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8485" y="1716996"/>
            <a:ext cx="1238250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不高兴icon_图标_矢量素材免费下载- 爱给网">
            <a:extLst>
              <a:ext uri="{FF2B5EF4-FFF2-40B4-BE49-F238E27FC236}">
                <a16:creationId xmlns:a16="http://schemas.microsoft.com/office/drawing/2014/main" id="{604FF78F-6D81-56B0-98CC-1B4549D68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165" y="2556899"/>
            <a:ext cx="1384095" cy="138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一家人头像icon_图标_矢量素材免费下载- 爱给网">
            <a:extLst>
              <a:ext uri="{FF2B5EF4-FFF2-40B4-BE49-F238E27FC236}">
                <a16:creationId xmlns:a16="http://schemas.microsoft.com/office/drawing/2014/main" id="{FAB1F368-3C3C-6F20-7B75-1C8EA4A6B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640" y="3940994"/>
            <a:ext cx="1384095" cy="1384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圆角矩形标注 4">
            <a:extLst>
              <a:ext uri="{FF2B5EF4-FFF2-40B4-BE49-F238E27FC236}">
                <a16:creationId xmlns:a16="http://schemas.microsoft.com/office/drawing/2014/main" id="{446780EB-3E5E-A8E6-7B36-13184888CD1D}"/>
              </a:ext>
            </a:extLst>
          </p:cNvPr>
          <p:cNvSpPr/>
          <p:nvPr/>
        </p:nvSpPr>
        <p:spPr>
          <a:xfrm>
            <a:off x="4194738" y="2016355"/>
            <a:ext cx="2530323" cy="639532"/>
          </a:xfrm>
          <a:prstGeom prst="wedgeRoundRectCallout">
            <a:avLst>
              <a:gd name="adj1" fmla="val -70081"/>
              <a:gd name="adj2" fmla="val 4847"/>
              <a:gd name="adj3" fmla="val 166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今天晚上吃什么？</a:t>
            </a:r>
          </a:p>
        </p:txBody>
      </p:sp>
      <p:sp>
        <p:nvSpPr>
          <p:cNvPr id="7" name="圆角矩形标注 6">
            <a:extLst>
              <a:ext uri="{FF2B5EF4-FFF2-40B4-BE49-F238E27FC236}">
                <a16:creationId xmlns:a16="http://schemas.microsoft.com/office/drawing/2014/main" id="{0157A050-E794-2938-33C9-870FD1084BF0}"/>
              </a:ext>
            </a:extLst>
          </p:cNvPr>
          <p:cNvSpPr/>
          <p:nvPr/>
        </p:nvSpPr>
        <p:spPr>
          <a:xfrm>
            <a:off x="4201777" y="2978674"/>
            <a:ext cx="2530323" cy="639532"/>
          </a:xfrm>
          <a:prstGeom prst="wedgeRoundRectCallout">
            <a:avLst>
              <a:gd name="adj1" fmla="val 66892"/>
              <a:gd name="adj2" fmla="val 16378"/>
              <a:gd name="adj3" fmla="val 166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西红柿炒鸡蛋？</a:t>
            </a:r>
          </a:p>
        </p:txBody>
      </p:sp>
      <p:sp>
        <p:nvSpPr>
          <p:cNvPr id="8" name="圆角矩形标注 7">
            <a:extLst>
              <a:ext uri="{FF2B5EF4-FFF2-40B4-BE49-F238E27FC236}">
                <a16:creationId xmlns:a16="http://schemas.microsoft.com/office/drawing/2014/main" id="{3A6BEB30-1EB2-DD77-2E43-BA8BAF0F8364}"/>
              </a:ext>
            </a:extLst>
          </p:cNvPr>
          <p:cNvSpPr/>
          <p:nvPr/>
        </p:nvSpPr>
        <p:spPr>
          <a:xfrm>
            <a:off x="4231274" y="4263781"/>
            <a:ext cx="2530323" cy="639532"/>
          </a:xfrm>
          <a:prstGeom prst="wedgeRoundRectCallout">
            <a:avLst>
              <a:gd name="adj1" fmla="val -70081"/>
              <a:gd name="adj2" fmla="val 4847"/>
              <a:gd name="adj3" fmla="val 166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我要吃红烧肉！</a:t>
            </a:r>
          </a:p>
        </p:txBody>
      </p:sp>
      <p:sp>
        <p:nvSpPr>
          <p:cNvPr id="9" name="圆角矩形标注 8">
            <a:extLst>
              <a:ext uri="{FF2B5EF4-FFF2-40B4-BE49-F238E27FC236}">
                <a16:creationId xmlns:a16="http://schemas.microsoft.com/office/drawing/2014/main" id="{7FC881FE-A562-F9DC-6784-DC400659097C}"/>
              </a:ext>
            </a:extLst>
          </p:cNvPr>
          <p:cNvSpPr/>
          <p:nvPr/>
        </p:nvSpPr>
        <p:spPr>
          <a:xfrm>
            <a:off x="4231274" y="5548888"/>
            <a:ext cx="2530323" cy="639532"/>
          </a:xfrm>
          <a:prstGeom prst="wedgeRoundRectCallout">
            <a:avLst>
              <a:gd name="adj1" fmla="val 66310"/>
              <a:gd name="adj2" fmla="val 4847"/>
              <a:gd name="adj3" fmla="val 166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我想吃炒豆角</a:t>
            </a:r>
          </a:p>
        </p:txBody>
      </p:sp>
      <p:sp>
        <p:nvSpPr>
          <p:cNvPr id="10" name="云形标注 9">
            <a:extLst>
              <a:ext uri="{FF2B5EF4-FFF2-40B4-BE49-F238E27FC236}">
                <a16:creationId xmlns:a16="http://schemas.microsoft.com/office/drawing/2014/main" id="{5E60D213-6A8F-F9B5-1CFF-B17A3CD37197}"/>
              </a:ext>
            </a:extLst>
          </p:cNvPr>
          <p:cNvSpPr/>
          <p:nvPr/>
        </p:nvSpPr>
        <p:spPr>
          <a:xfrm>
            <a:off x="8395266" y="3429001"/>
            <a:ext cx="3359199" cy="2033912"/>
          </a:xfrm>
          <a:prstGeom prst="cloudCallout">
            <a:avLst>
              <a:gd name="adj1" fmla="val -35758"/>
              <a:gd name="adj2" fmla="val 6373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我喜欢吃炒鸡蛋和炒豆角，</a:t>
            </a:r>
            <a:endParaRPr kumimoji="1"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已经有人点了</a:t>
            </a:r>
            <a:endParaRPr kumimoji="1" lang="en-US" altLang="zh-CN" sz="2000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炒鸡蛋</a:t>
            </a:r>
          </a:p>
        </p:txBody>
      </p:sp>
    </p:spTree>
    <p:extLst>
      <p:ext uri="{BB962C8B-B14F-4D97-AF65-F5344CB8AC3E}">
        <p14:creationId xmlns:p14="http://schemas.microsoft.com/office/powerpoint/2010/main" val="49063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5D595-B2E7-B074-36C9-1879B87E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BAE3E-7181-CD17-EBE7-AE449B7B7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自注意力机制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B8B47A4-7851-251D-D5B1-342865C3328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zh-CN" dirty="0"/>
                  <a:t>长度为</a:t>
                </a:r>
                <a:r>
                  <a:rPr lang="en-US" altLang="zh-CN" dirty="0"/>
                  <a:t>n</a:t>
                </a:r>
                <a:r>
                  <a:rPr lang="zh-CN" altLang="zh-CN" dirty="0"/>
                  <a:t>的输入序列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r>
                  <a:rPr lang="zh-CN" altLang="en-US" dirty="0"/>
                  <a:t>序列矩阵：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sz="825" dirty="0"/>
              </a:p>
              <a:p>
                <a:r>
                  <a:rPr lang="zh-CN" altLang="en-US" dirty="0"/>
                  <a:t>自注意力机制：</a:t>
                </a:r>
                <a:endParaRPr lang="en-US" altLang="zh-CN" dirty="0"/>
              </a:p>
              <a:p>
                <a:endParaRPr lang="en-US" altLang="zh-CN" sz="1050" dirty="0"/>
              </a:p>
              <a:p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𝑎𝑡𝑡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zh-CN" altLang="en-US" dirty="0"/>
                  <a:t>的第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行为序列中第</a:t>
                </a:r>
                <a:r>
                  <a:rPr lang="en-US" altLang="zh-CN" dirty="0" err="1"/>
                  <a:t>i</a:t>
                </a:r>
                <a:r>
                  <a:rPr lang="zh-CN" altLang="en-US" dirty="0"/>
                  <a:t>个单词的动态向量表示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列数为向量的维度</a:t>
                </a:r>
                <a:r>
                  <a:rPr lang="en-US" altLang="zh-CN" dirty="0"/>
                  <a:t>d</a:t>
                </a:r>
              </a:p>
              <a:p>
                <a:pPr lvl="1"/>
                <a:r>
                  <a:rPr lang="zh-CN" altLang="en-US" dirty="0"/>
                  <a:t>行数为序列长度</a:t>
                </a:r>
                <a:r>
                  <a:rPr lang="en-US" altLang="zh-CN" dirty="0"/>
                  <a:t>n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t="-2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093A31A-A56C-9ACC-B48C-7990FC231C57}"/>
                  </a:ext>
                </a:extLst>
              </p:cNvPr>
              <p:cNvSpPr/>
              <p:nvPr/>
            </p:nvSpPr>
            <p:spPr>
              <a:xfrm>
                <a:off x="3835546" y="3574947"/>
                <a:ext cx="7285712" cy="99969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𝑎𝑡𝑡</m:t>
                      </m:r>
                      <m:d>
                        <m:dPr>
                          <m:ctrlPr>
                            <a:rPr lang="zh-CN" alt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zh-CN" altLang="en-US" sz="26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zh-CN" altLang="en-US" sz="26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zh-CN" altLang="en-US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𝑎𝑡𝑡</m:t>
                      </m:r>
                      <m:d>
                        <m:dPr>
                          <m:ctrlPr>
                            <a:rPr lang="zh-CN" alt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6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zh-CN" altLang="en-US" sz="26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6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zh-CN" altLang="en-US" sz="26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zh-CN" alt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sSup>
                                <m:sSupPr>
                                  <m:ctrlP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p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zh-CN" altLang="en-US" sz="260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C093A31A-A56C-9ACC-B48C-7990FC231C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546" y="3574947"/>
                <a:ext cx="7285712" cy="999697"/>
              </a:xfrm>
              <a:prstGeom prst="rect">
                <a:avLst/>
              </a:prstGeom>
              <a:blipFill>
                <a:blip r:embed="rId4"/>
                <a:stretch>
                  <a:fillRect b="-37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28D9AC0-0914-6912-70B5-4857E78C1175}"/>
                  </a:ext>
                </a:extLst>
              </p:cNvPr>
              <p:cNvSpPr/>
              <p:nvPr/>
            </p:nvSpPr>
            <p:spPr>
              <a:xfrm>
                <a:off x="3388781" y="2013779"/>
                <a:ext cx="1548950" cy="15663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6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6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6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6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6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26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zh-CN" altLang="en-US" sz="2600">
                                  <a:latin typeface="Cambria Math" panose="02040503050406030204" pitchFamily="18" charset="0"/>
                                </a:rPr>
                                <m:t>&amp;⋮</m:t>
                              </m:r>
                            </m:e>
                            <m:e>
                              <m:r>
                                <a:rPr lang="zh-CN" altLang="en-US" sz="260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sz="26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A28D9AC0-0914-6912-70B5-4857E78C117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781" y="2013779"/>
                <a:ext cx="1548950" cy="1566391"/>
              </a:xfrm>
              <a:prstGeom prst="rect">
                <a:avLst/>
              </a:prstGeom>
              <a:blipFill>
                <a:blip r:embed="rId5"/>
                <a:stretch>
                  <a:fillRect t="-4839" b="-64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C5D99D7-CC51-A901-15D5-BD60B3815D65}"/>
                  </a:ext>
                </a:extLst>
              </p:cNvPr>
              <p:cNvSpPr/>
              <p:nvPr/>
            </p:nvSpPr>
            <p:spPr>
              <a:xfrm>
                <a:off x="4788510" y="3161467"/>
                <a:ext cx="903837" cy="4924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C5D99D7-CC51-A901-15D5-BD60B3815D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8510" y="3161467"/>
                <a:ext cx="903837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092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多头注意力机制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219200" y="1839861"/>
                <a:ext cx="7772400" cy="3740876"/>
              </a:xfrm>
            </p:spPr>
            <p:txBody>
              <a:bodyPr>
                <a:noAutofit/>
              </a:bodyPr>
              <a:lstStyle/>
              <a:p>
                <a:r>
                  <a:rPr lang="zh-CN" altLang="en-US" dirty="0"/>
                  <a:t>分别对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zh-CN" altLang="zh-CN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线性变换后再计算机注意力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多头输出融合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219200" y="1839861"/>
                <a:ext cx="7772400" cy="3740876"/>
              </a:xfrm>
              <a:blipFill>
                <a:blip r:embed="rId2"/>
                <a:stretch>
                  <a:fillRect t="-27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1614457" y="2389001"/>
                <a:ext cx="6211124" cy="64504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𝑎𝑡𝑡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sSubSup>
                            <m:sSub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  <m:sSubSup>
                            <m:sSub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  <m:sSubSup>
                            <m:sSub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457" y="2389001"/>
                <a:ext cx="6211124" cy="6450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665308" y="3119838"/>
                <a:ext cx="27825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;…;</m:t>
                          </m:r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308" y="3119838"/>
                <a:ext cx="2782557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614457" y="4402434"/>
                <a:ext cx="38959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𝑚𝑢𝑙𝑡𝑖</m:t>
                      </m:r>
                      <m:r>
                        <m:rPr>
                          <m:lit/>
                        </m:rPr>
                        <a:rPr lang="zh-CN" altLang="en-US" sz="240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𝑎𝑡𝑡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4457" y="4402434"/>
                <a:ext cx="3895938" cy="461665"/>
              </a:xfrm>
              <a:prstGeom prst="rect">
                <a:avLst/>
              </a:prstGeom>
              <a:blipFill>
                <a:blip r:embed="rId5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377322" y="3312667"/>
                <a:ext cx="15029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7322" y="3312667"/>
                <a:ext cx="1502912" cy="46166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922556" y="5069165"/>
                <a:ext cx="336079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zh-CN" alt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400" b="0" i="1" smtClean="0">
                          <a:latin typeface="Cambria Math" panose="02040503050406030204" pitchFamily="18" charset="0"/>
                        </a:rPr>
                        <m:t>：维度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556" y="5069165"/>
                <a:ext cx="3360792" cy="461665"/>
              </a:xfrm>
              <a:prstGeom prst="rect">
                <a:avLst/>
              </a:prstGeom>
              <a:blipFill>
                <a:blip r:embed="rId7"/>
                <a:stretch>
                  <a:fillRect t="-5405" b="-162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1238585" y="5628522"/>
                <a:ext cx="443320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𝑚𝑢𝑙𝑡𝑖</m:t>
                    </m:r>
                    <m:r>
                      <m:rPr>
                        <m:lit/>
                      </m:rPr>
                      <a:rPr lang="zh-CN" altLang="en-US" sz="2400">
                        <a:latin typeface="Cambria Math" panose="02040503050406030204" pitchFamily="18" charset="0"/>
                      </a:rPr>
                      <m:t>_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𝑎𝑡𝑡</m:t>
                    </m:r>
                    <m:d>
                      <m:d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zh-CN" altLang="en-US" sz="24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zh-CN" altLang="en-US" sz="2400" dirty="0"/>
                  <a:t>：维度：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8585" y="5628522"/>
                <a:ext cx="4433201" cy="461665"/>
              </a:xfrm>
              <a:prstGeom prst="rect">
                <a:avLst/>
              </a:prstGeom>
              <a:blipFill>
                <a:blip r:embed="rId8"/>
                <a:stretch>
                  <a:fillRect l="-286" t="-18919" b="-2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 descr="Dota 2 - 食人魔魔法师">
            <a:extLst>
              <a:ext uri="{FF2B5EF4-FFF2-40B4-BE49-F238E27FC236}">
                <a16:creationId xmlns:a16="http://schemas.microsoft.com/office/drawing/2014/main" id="{C8FCC142-3688-81C9-1ACE-91ACA9B83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1600" y="998417"/>
            <a:ext cx="2121421" cy="212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11.5. Multi-Head Attention — Dive into Deep Learning 1.0.3 documentation">
            <a:extLst>
              <a:ext uri="{FF2B5EF4-FFF2-40B4-BE49-F238E27FC236}">
                <a16:creationId xmlns:a16="http://schemas.microsoft.com/office/drawing/2014/main" id="{C1A4AA4B-469B-B809-D7D5-AD0C0B6D2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7093" y="4008455"/>
            <a:ext cx="4111076" cy="2121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220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9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残差连接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219200" y="1787012"/>
            <a:ext cx="10363200" cy="45720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                    </a:t>
            </a:r>
            <a:r>
              <a:rPr lang="zh-CN" altLang="en-US" dirty="0"/>
              <a:t>残差网络                                     一般形式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388" y="2625800"/>
            <a:ext cx="3914687" cy="373321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474" y="2689154"/>
            <a:ext cx="3610138" cy="373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740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全连接网络</a:t>
            </a:r>
            <a:r>
              <a:rPr lang="en-US" altLang="zh-CN" dirty="0"/>
              <a:t>+</a:t>
            </a:r>
            <a:r>
              <a:rPr lang="zh-CN" altLang="en-US" dirty="0"/>
              <a:t>残差连接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381" y="1558914"/>
            <a:ext cx="8071586" cy="4856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39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多头注意力机制</a:t>
            </a:r>
            <a:r>
              <a:rPr lang="en-US" altLang="zh-CN" dirty="0"/>
              <a:t>+</a:t>
            </a:r>
            <a:r>
              <a:rPr lang="zh-CN" altLang="en-US" dirty="0"/>
              <a:t>残差连接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4920" y="1507950"/>
            <a:ext cx="7946783" cy="489769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96759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2641-0627-7E6F-1480-25C75DE5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BB489F-0434-B8ED-D7BC-9ACEE61C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Transformer</a:t>
            </a:r>
            <a:r>
              <a:rPr lang="zh-CN" altLang="en-US" dirty="0"/>
              <a:t>：转换模型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0F8060-13ED-0EE3-7A40-C5ECC0478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18105"/>
            <a:ext cx="3729373" cy="51652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45EBA7C-D4F0-86AA-58EF-4D126B1D484F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797" y="2474274"/>
            <a:ext cx="5462547" cy="305291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6" name="直线连接符 5">
            <a:extLst>
              <a:ext uri="{FF2B5EF4-FFF2-40B4-BE49-F238E27FC236}">
                <a16:creationId xmlns:a16="http://schemas.microsoft.com/office/drawing/2014/main" id="{DDD4AEFA-9C9D-B5FE-AAC9-09247B0AF2AA}"/>
              </a:ext>
            </a:extLst>
          </p:cNvPr>
          <p:cNvCxnSpPr/>
          <p:nvPr/>
        </p:nvCxnSpPr>
        <p:spPr>
          <a:xfrm>
            <a:off x="5922344" y="2474274"/>
            <a:ext cx="1009398" cy="20239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15B2D79B-CA76-F733-00AB-1C39EB24F597}"/>
              </a:ext>
            </a:extLst>
          </p:cNvPr>
          <p:cNvCxnSpPr>
            <a:cxnSpLocks/>
          </p:cNvCxnSpPr>
          <p:nvPr/>
        </p:nvCxnSpPr>
        <p:spPr>
          <a:xfrm flipV="1">
            <a:off x="5922344" y="4778477"/>
            <a:ext cx="1009398" cy="7487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19115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词向量：静态与动态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quarter" idx="1"/>
          </p:nvPr>
        </p:nvSpPr>
        <p:spPr>
          <a:xfrm>
            <a:off x="1406013" y="1778997"/>
            <a:ext cx="7772400" cy="3300005"/>
          </a:xfrm>
        </p:spPr>
        <p:txBody>
          <a:bodyPr/>
          <a:lstStyle/>
          <a:p>
            <a:r>
              <a:rPr lang="zh-CN" altLang="en-US" dirty="0"/>
              <a:t>静态性</a:t>
            </a:r>
            <a:endParaRPr lang="en-US" altLang="zh-CN" dirty="0"/>
          </a:p>
          <a:p>
            <a:r>
              <a:rPr lang="zh-CN" altLang="en-US" dirty="0"/>
              <a:t>词的多义性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6344" y="2484917"/>
            <a:ext cx="6888029" cy="332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914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一个词可以用其上下文表示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157264" y="2518392"/>
            <a:ext cx="5570756" cy="41083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“我吃了一个非常美味的苹果”</a:t>
            </a: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“我用苹果跟朋友联系”</a:t>
            </a:r>
            <a:endParaRPr lang="en-US" altLang="zh-CN" sz="2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71482" lvl="1" indent="-128582" defTabSz="514325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/>
            </a:pPr>
            <a:endParaRPr lang="en-US" altLang="zh-CN" sz="2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71482" lvl="1" indent="-128582" defTabSz="514325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/>
            </a:pPr>
            <a:endParaRPr lang="en-US" altLang="zh-CN" sz="2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8582" indent="-128582" defTabSz="514325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/>
            </a:pP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2994991" y="3230714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6489589" y="3224750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5368456" y="3254568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4585603" y="3260532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左中括号 8"/>
          <p:cNvSpPr/>
          <p:nvPr/>
        </p:nvSpPr>
        <p:spPr>
          <a:xfrm rot="16200000">
            <a:off x="6150230" y="2849611"/>
            <a:ext cx="234442" cy="1112189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左中括号 9"/>
          <p:cNvSpPr/>
          <p:nvPr/>
        </p:nvSpPr>
        <p:spPr>
          <a:xfrm rot="16200000">
            <a:off x="5711266" y="2547988"/>
            <a:ext cx="322211" cy="1902350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左中括号 10"/>
          <p:cNvSpPr/>
          <p:nvPr/>
        </p:nvSpPr>
        <p:spPr>
          <a:xfrm rot="5400000">
            <a:off x="4964720" y="807763"/>
            <a:ext cx="288653" cy="3429002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3394544" y="4676758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中括号 13"/>
          <p:cNvSpPr/>
          <p:nvPr/>
        </p:nvSpPr>
        <p:spPr>
          <a:xfrm rot="16200000">
            <a:off x="3390564" y="4552839"/>
            <a:ext cx="151087" cy="584421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5" name="直接连接符 14"/>
          <p:cNvCxnSpPr/>
          <p:nvPr/>
        </p:nvCxnSpPr>
        <p:spPr>
          <a:xfrm flipV="1">
            <a:off x="3039716" y="4676758"/>
            <a:ext cx="277302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V="1">
            <a:off x="5279693" y="4682722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左中括号 16"/>
          <p:cNvSpPr/>
          <p:nvPr/>
        </p:nvSpPr>
        <p:spPr>
          <a:xfrm rot="5400000">
            <a:off x="4488072" y="3156943"/>
            <a:ext cx="252008" cy="1902350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728" y="2377938"/>
            <a:ext cx="1301909" cy="1202741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719" y="4234122"/>
            <a:ext cx="1061214" cy="106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04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F2F37-A796-7C36-1D32-54164F16D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B88AF-C6C2-85AB-146B-9738190D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静态词向量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050601-DC52-8127-1278-2A7358D1E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109" y="1763247"/>
            <a:ext cx="8729896" cy="420984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AA4D16-45E7-B673-40BD-2D0F399D237B}"/>
              </a:ext>
            </a:extLst>
          </p:cNvPr>
          <p:cNvSpPr txBox="1"/>
          <p:nvPr/>
        </p:nvSpPr>
        <p:spPr>
          <a:xfrm>
            <a:off x="9589470" y="413534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熊猫血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3F8E0E-E7C1-7CB9-32CE-93D64926970F}"/>
              </a:ext>
            </a:extLst>
          </p:cNvPr>
          <p:cNvSpPr txBox="1"/>
          <p:nvPr/>
        </p:nvSpPr>
        <p:spPr>
          <a:xfrm>
            <a:off x="10193407" y="355890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/>
              <a:t>大熊猫</a:t>
            </a:r>
          </a:p>
        </p:txBody>
      </p:sp>
    </p:spTree>
    <p:extLst>
      <p:ext uri="{BB962C8B-B14F-4D97-AF65-F5344CB8AC3E}">
        <p14:creationId xmlns:p14="http://schemas.microsoft.com/office/powerpoint/2010/main" val="1251021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BA5CC-889D-2507-CC70-2F2BB16D4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词的多义性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C3BB64-B617-FA1A-AB05-54E5051CE4F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C4D89F-1135-0E45-8736-FC4C8A4532C2}"/>
              </a:ext>
            </a:extLst>
          </p:cNvPr>
          <p:cNvSpPr/>
          <p:nvPr/>
        </p:nvSpPr>
        <p:spPr>
          <a:xfrm>
            <a:off x="2157264" y="2518392"/>
            <a:ext cx="5570756" cy="4108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“我去超市买了点</a:t>
            </a:r>
            <a:r>
              <a:rPr lang="zh-CN" altLang="en-US" sz="3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小米</a:t>
            </a: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“我去</a:t>
            </a:r>
            <a:r>
              <a:rPr lang="zh-CN" altLang="en-US" sz="3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小米</a:t>
            </a: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专卖店买了部手机”</a:t>
            </a:r>
            <a:endParaRPr lang="en-US" altLang="zh-CN" sz="2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71482" lvl="1" indent="-128582" defTabSz="514325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/>
            </a:pPr>
            <a:endParaRPr lang="en-US" altLang="zh-CN" sz="2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71482" lvl="1" indent="-128582" defTabSz="514325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/>
            </a:pPr>
            <a:endParaRPr lang="en-US" altLang="zh-CN" sz="2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8582" indent="-128582" defTabSz="514325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/>
            </a:pP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12170C9-EDE9-9743-E3D6-663A0076F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728" y="2377938"/>
            <a:ext cx="1301909" cy="120274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C937144-F265-AE34-0AEB-E2DD0E6BA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719" y="4234122"/>
            <a:ext cx="1061214" cy="1061214"/>
          </a:xfrm>
          <a:prstGeom prst="rect">
            <a:avLst/>
          </a:prstGeom>
        </p:spPr>
      </p:pic>
      <p:cxnSp>
        <p:nvCxnSpPr>
          <p:cNvPr id="7" name="直接连接符 4">
            <a:extLst>
              <a:ext uri="{FF2B5EF4-FFF2-40B4-BE49-F238E27FC236}">
                <a16:creationId xmlns:a16="http://schemas.microsoft.com/office/drawing/2014/main" id="{88D4343A-3518-98DF-D7FD-5CBF0B7F85D5}"/>
              </a:ext>
            </a:extLst>
          </p:cNvPr>
          <p:cNvCxnSpPr/>
          <p:nvPr/>
        </p:nvCxnSpPr>
        <p:spPr>
          <a:xfrm flipV="1">
            <a:off x="3407278" y="3230714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5">
            <a:extLst>
              <a:ext uri="{FF2B5EF4-FFF2-40B4-BE49-F238E27FC236}">
                <a16:creationId xmlns:a16="http://schemas.microsoft.com/office/drawing/2014/main" id="{2B012CEA-48F3-B280-A9D3-1F2A787E0487}"/>
              </a:ext>
            </a:extLst>
          </p:cNvPr>
          <p:cNvCxnSpPr/>
          <p:nvPr/>
        </p:nvCxnSpPr>
        <p:spPr>
          <a:xfrm flipV="1">
            <a:off x="6468920" y="4764729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6">
            <a:extLst>
              <a:ext uri="{FF2B5EF4-FFF2-40B4-BE49-F238E27FC236}">
                <a16:creationId xmlns:a16="http://schemas.microsoft.com/office/drawing/2014/main" id="{71D6D0FB-7C03-96B5-A931-C190CBFF470F}"/>
              </a:ext>
            </a:extLst>
          </p:cNvPr>
          <p:cNvCxnSpPr/>
          <p:nvPr/>
        </p:nvCxnSpPr>
        <p:spPr>
          <a:xfrm flipV="1">
            <a:off x="5382535" y="3254568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7">
            <a:extLst>
              <a:ext uri="{FF2B5EF4-FFF2-40B4-BE49-F238E27FC236}">
                <a16:creationId xmlns:a16="http://schemas.microsoft.com/office/drawing/2014/main" id="{8BF29FFB-5ED0-86C7-F336-F782F6E0ED0E}"/>
              </a:ext>
            </a:extLst>
          </p:cNvPr>
          <p:cNvCxnSpPr/>
          <p:nvPr/>
        </p:nvCxnSpPr>
        <p:spPr>
          <a:xfrm flipV="1">
            <a:off x="4201479" y="3245784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左中括号 10">
            <a:extLst>
              <a:ext uri="{FF2B5EF4-FFF2-40B4-BE49-F238E27FC236}">
                <a16:creationId xmlns:a16="http://schemas.microsoft.com/office/drawing/2014/main" id="{E458B4C0-AB26-134B-3647-9A1259263912}"/>
              </a:ext>
            </a:extLst>
          </p:cNvPr>
          <p:cNvSpPr/>
          <p:nvPr/>
        </p:nvSpPr>
        <p:spPr>
          <a:xfrm rot="5400000">
            <a:off x="4561650" y="1491119"/>
            <a:ext cx="315666" cy="2035278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7" name="直接连接符 5">
            <a:extLst>
              <a:ext uri="{FF2B5EF4-FFF2-40B4-BE49-F238E27FC236}">
                <a16:creationId xmlns:a16="http://schemas.microsoft.com/office/drawing/2014/main" id="{80689F93-F837-7212-3551-9F9827383A9F}"/>
              </a:ext>
            </a:extLst>
          </p:cNvPr>
          <p:cNvCxnSpPr>
            <a:cxnSpLocks/>
          </p:cNvCxnSpPr>
          <p:nvPr/>
        </p:nvCxnSpPr>
        <p:spPr>
          <a:xfrm>
            <a:off x="4201479" y="4770693"/>
            <a:ext cx="94570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左中括号 18">
            <a:extLst>
              <a:ext uri="{FF2B5EF4-FFF2-40B4-BE49-F238E27FC236}">
                <a16:creationId xmlns:a16="http://schemas.microsoft.com/office/drawing/2014/main" id="{3E1CB9FD-62BA-399A-DDB1-2485D11D7A0B}"/>
              </a:ext>
            </a:extLst>
          </p:cNvPr>
          <p:cNvSpPr/>
          <p:nvPr/>
        </p:nvSpPr>
        <p:spPr>
          <a:xfrm rot="16200000" flipH="1">
            <a:off x="5055720" y="2497491"/>
            <a:ext cx="315669" cy="3023419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左中括号 19">
            <a:extLst>
              <a:ext uri="{FF2B5EF4-FFF2-40B4-BE49-F238E27FC236}">
                <a16:creationId xmlns:a16="http://schemas.microsoft.com/office/drawing/2014/main" id="{9EC11AA4-1A67-38F8-461A-8573268652E4}"/>
              </a:ext>
            </a:extLst>
          </p:cNvPr>
          <p:cNvSpPr/>
          <p:nvPr/>
        </p:nvSpPr>
        <p:spPr>
          <a:xfrm rot="5400000" flipH="1" flipV="1">
            <a:off x="4056258" y="4530075"/>
            <a:ext cx="315660" cy="945708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1" name="左中括号 20">
            <a:extLst>
              <a:ext uri="{FF2B5EF4-FFF2-40B4-BE49-F238E27FC236}">
                <a16:creationId xmlns:a16="http://schemas.microsoft.com/office/drawing/2014/main" id="{DCB8EDF1-A52F-8F52-3015-126FB888C6DC}"/>
              </a:ext>
            </a:extLst>
          </p:cNvPr>
          <p:cNvSpPr/>
          <p:nvPr/>
        </p:nvSpPr>
        <p:spPr>
          <a:xfrm rot="16200000" flipV="1">
            <a:off x="4576560" y="2515214"/>
            <a:ext cx="285846" cy="2035278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2" name="左中括号 21">
            <a:extLst>
              <a:ext uri="{FF2B5EF4-FFF2-40B4-BE49-F238E27FC236}">
                <a16:creationId xmlns:a16="http://schemas.microsoft.com/office/drawing/2014/main" id="{74B52884-B67C-F3A9-5FD7-2F0FBFD99DF5}"/>
              </a:ext>
            </a:extLst>
          </p:cNvPr>
          <p:cNvSpPr/>
          <p:nvPr/>
        </p:nvSpPr>
        <p:spPr>
          <a:xfrm rot="16200000" flipV="1">
            <a:off x="4899822" y="2900289"/>
            <a:ext cx="199056" cy="1092088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277958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92EA-AFA4-E354-6B6D-7597636D1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7103A-D5AB-A37F-9242-11F147A01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词的多义性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CBA7CB-8C18-5E86-5F8F-EF42592E448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14502F-A495-4744-EA93-595CFCFD5934}"/>
              </a:ext>
            </a:extLst>
          </p:cNvPr>
          <p:cNvSpPr/>
          <p:nvPr/>
        </p:nvSpPr>
        <p:spPr>
          <a:xfrm>
            <a:off x="2157264" y="2518392"/>
            <a:ext cx="5570756" cy="41083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“我去超市买了点</a:t>
            </a:r>
            <a:r>
              <a:rPr lang="zh-CN" altLang="en-US" sz="3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小米</a:t>
            </a: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“我去</a:t>
            </a:r>
            <a:r>
              <a:rPr lang="zh-CN" altLang="en-US" sz="3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小米</a:t>
            </a: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专卖店买了部手机”</a:t>
            </a:r>
            <a:endParaRPr lang="en-US" altLang="zh-CN" sz="2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71482" lvl="1" indent="-128582" defTabSz="514325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/>
            </a:pPr>
            <a:endParaRPr lang="en-US" altLang="zh-CN" sz="2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71482" lvl="1" indent="-128582" defTabSz="514325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/>
            </a:pPr>
            <a:endParaRPr lang="en-US" altLang="zh-CN" sz="2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8582" indent="-128582" defTabSz="514325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/>
            </a:pP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92A005-27B5-9339-6FC8-E603AF71D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728" y="2377938"/>
            <a:ext cx="1301909" cy="120274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AA6D0B7-0B92-7647-C070-134D1D7ED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5719" y="4234122"/>
            <a:ext cx="1061214" cy="106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01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650E1-6E1B-8868-F807-B63AC8676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81BAE4-3C40-041F-CB65-2AFD2F149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一个词可以用其上下文表示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103594-ADDA-AAB6-D626-7C3197B6A8A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63B56F-78BD-0ACB-DDF9-50C3294B53B2}"/>
              </a:ext>
            </a:extLst>
          </p:cNvPr>
          <p:cNvSpPr/>
          <p:nvPr/>
        </p:nvSpPr>
        <p:spPr>
          <a:xfrm>
            <a:off x="2157264" y="2518392"/>
            <a:ext cx="5570756" cy="41083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“我吃了一个非常美味的苹果”</a:t>
            </a: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“我用苹果跟朋友联系”</a:t>
            </a:r>
            <a:endParaRPr lang="en-US" altLang="zh-CN" sz="2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71482" lvl="1" indent="-128582" defTabSz="514325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/>
            </a:pPr>
            <a:endParaRPr lang="en-US" altLang="zh-CN" sz="2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71482" lvl="1" indent="-128582" defTabSz="514325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/>
            </a:pPr>
            <a:endParaRPr lang="en-US" altLang="zh-CN" sz="21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28582" indent="-128582" defTabSz="514325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/>
            </a:pP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8FBE29B-4AE9-6BAE-5F1C-BF4794597E73}"/>
              </a:ext>
            </a:extLst>
          </p:cNvPr>
          <p:cNvCxnSpPr/>
          <p:nvPr/>
        </p:nvCxnSpPr>
        <p:spPr>
          <a:xfrm flipV="1">
            <a:off x="2994991" y="3230714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C849A0C2-86DD-C266-275C-67877FF27A1B}"/>
              </a:ext>
            </a:extLst>
          </p:cNvPr>
          <p:cNvCxnSpPr/>
          <p:nvPr/>
        </p:nvCxnSpPr>
        <p:spPr>
          <a:xfrm flipV="1">
            <a:off x="6489589" y="3224750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CE3FDD8-E5B6-E7F5-3712-02FEC768522A}"/>
              </a:ext>
            </a:extLst>
          </p:cNvPr>
          <p:cNvCxnSpPr/>
          <p:nvPr/>
        </p:nvCxnSpPr>
        <p:spPr>
          <a:xfrm flipV="1">
            <a:off x="5368456" y="3254568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3915DBB-8E37-870F-638A-0F735A2644C5}"/>
              </a:ext>
            </a:extLst>
          </p:cNvPr>
          <p:cNvCxnSpPr/>
          <p:nvPr/>
        </p:nvCxnSpPr>
        <p:spPr>
          <a:xfrm flipV="1">
            <a:off x="4585603" y="3260532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左中括号 8">
            <a:extLst>
              <a:ext uri="{FF2B5EF4-FFF2-40B4-BE49-F238E27FC236}">
                <a16:creationId xmlns:a16="http://schemas.microsoft.com/office/drawing/2014/main" id="{BD050619-4BD0-2B24-AEF1-6980943EF858}"/>
              </a:ext>
            </a:extLst>
          </p:cNvPr>
          <p:cNvSpPr/>
          <p:nvPr/>
        </p:nvSpPr>
        <p:spPr>
          <a:xfrm rot="16200000">
            <a:off x="6150230" y="2849611"/>
            <a:ext cx="234442" cy="1112189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左中括号 9">
            <a:extLst>
              <a:ext uri="{FF2B5EF4-FFF2-40B4-BE49-F238E27FC236}">
                <a16:creationId xmlns:a16="http://schemas.microsoft.com/office/drawing/2014/main" id="{B09FF957-F484-C85E-665A-93C259E1BD26}"/>
              </a:ext>
            </a:extLst>
          </p:cNvPr>
          <p:cNvSpPr/>
          <p:nvPr/>
        </p:nvSpPr>
        <p:spPr>
          <a:xfrm rot="16200000">
            <a:off x="5711266" y="2547988"/>
            <a:ext cx="322211" cy="1902350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左中括号 10">
            <a:extLst>
              <a:ext uri="{FF2B5EF4-FFF2-40B4-BE49-F238E27FC236}">
                <a16:creationId xmlns:a16="http://schemas.microsoft.com/office/drawing/2014/main" id="{0F021834-1BB1-4430-C3F0-D1CB200B900C}"/>
              </a:ext>
            </a:extLst>
          </p:cNvPr>
          <p:cNvSpPr/>
          <p:nvPr/>
        </p:nvSpPr>
        <p:spPr>
          <a:xfrm rot="5400000">
            <a:off x="4964720" y="807763"/>
            <a:ext cx="288653" cy="3429002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841A788-710E-58D7-F21F-96F339A7CBFF}"/>
              </a:ext>
            </a:extLst>
          </p:cNvPr>
          <p:cNvCxnSpPr/>
          <p:nvPr/>
        </p:nvCxnSpPr>
        <p:spPr>
          <a:xfrm flipV="1">
            <a:off x="3394544" y="4676758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左中括号 13">
            <a:extLst>
              <a:ext uri="{FF2B5EF4-FFF2-40B4-BE49-F238E27FC236}">
                <a16:creationId xmlns:a16="http://schemas.microsoft.com/office/drawing/2014/main" id="{10B57DF6-3444-F116-1ACA-9394013DBEB1}"/>
              </a:ext>
            </a:extLst>
          </p:cNvPr>
          <p:cNvSpPr/>
          <p:nvPr/>
        </p:nvSpPr>
        <p:spPr>
          <a:xfrm rot="16200000">
            <a:off x="3390564" y="4552839"/>
            <a:ext cx="151087" cy="584421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7B9BFD9-1D99-7BBE-E872-146B60D71473}"/>
              </a:ext>
            </a:extLst>
          </p:cNvPr>
          <p:cNvCxnSpPr/>
          <p:nvPr/>
        </p:nvCxnSpPr>
        <p:spPr>
          <a:xfrm flipV="1">
            <a:off x="3039716" y="4676758"/>
            <a:ext cx="277302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7143C2F-6FD8-BB17-C341-3BCDC970FE46}"/>
              </a:ext>
            </a:extLst>
          </p:cNvPr>
          <p:cNvCxnSpPr/>
          <p:nvPr/>
        </p:nvCxnSpPr>
        <p:spPr>
          <a:xfrm flipV="1">
            <a:off x="5279693" y="4682722"/>
            <a:ext cx="667910" cy="59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左中括号 16">
            <a:extLst>
              <a:ext uri="{FF2B5EF4-FFF2-40B4-BE49-F238E27FC236}">
                <a16:creationId xmlns:a16="http://schemas.microsoft.com/office/drawing/2014/main" id="{688CF03D-2354-B154-0A9B-79C48BA44EE8}"/>
              </a:ext>
            </a:extLst>
          </p:cNvPr>
          <p:cNvSpPr/>
          <p:nvPr/>
        </p:nvSpPr>
        <p:spPr>
          <a:xfrm rot="5400000">
            <a:off x="4488072" y="3156943"/>
            <a:ext cx="252008" cy="1902350"/>
          </a:xfrm>
          <a:prstGeom prst="leftBracket">
            <a:avLst>
              <a:gd name="adj" fmla="val 71751"/>
            </a:avLst>
          </a:prstGeom>
          <a:ln w="3810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D1A0F40-2AFC-B816-563F-3A060A5F3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9728" y="2377938"/>
            <a:ext cx="1301909" cy="120274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608B786-DEBC-B8AE-D3E5-963C2AC96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5719" y="4234122"/>
            <a:ext cx="1061214" cy="106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90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4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846DD-7F21-9E02-E159-7C29D8928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449DDE8D-75D6-FAA0-DAB4-7C5A2B2FE56A}"/>
              </a:ext>
            </a:extLst>
          </p:cNvPr>
          <p:cNvGrpSpPr/>
          <p:nvPr/>
        </p:nvGrpSpPr>
        <p:grpSpPr>
          <a:xfrm>
            <a:off x="1459426" y="972051"/>
            <a:ext cx="7358232" cy="4058176"/>
            <a:chOff x="459797" y="1418105"/>
            <a:chExt cx="9365576" cy="5165257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E2D632C5-2DC2-E52C-3EF6-57C795B3A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1418105"/>
              <a:ext cx="3729373" cy="5165257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AD58025-7D4F-4C29-8132-877CA43CC88F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797" y="2474274"/>
              <a:ext cx="5462547" cy="3052917"/>
            </a:xfrm>
            <a:prstGeom prst="rect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cxnSp>
          <p:nvCxnSpPr>
            <p:cNvPr id="19" name="直线连接符 18">
              <a:extLst>
                <a:ext uri="{FF2B5EF4-FFF2-40B4-BE49-F238E27FC236}">
                  <a16:creationId xmlns:a16="http://schemas.microsoft.com/office/drawing/2014/main" id="{86A88C3A-F467-099C-63B6-82D9CB41D906}"/>
                </a:ext>
              </a:extLst>
            </p:cNvPr>
            <p:cNvCxnSpPr/>
            <p:nvPr/>
          </p:nvCxnSpPr>
          <p:spPr>
            <a:xfrm>
              <a:off x="5922344" y="2474274"/>
              <a:ext cx="1009398" cy="20239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>
              <a:extLst>
                <a:ext uri="{FF2B5EF4-FFF2-40B4-BE49-F238E27FC236}">
                  <a16:creationId xmlns:a16="http://schemas.microsoft.com/office/drawing/2014/main" id="{8A1093B1-3DA3-63BB-6ECC-9621BAE431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2344" y="4778477"/>
              <a:ext cx="1009398" cy="7487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1FDE57A4-B5C4-CA74-8AEC-055D91416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如何用</a:t>
            </a:r>
            <a:r>
              <a:rPr lang="en-US" altLang="zh-CN" dirty="0"/>
              <a:t>Transformer</a:t>
            </a:r>
            <a:r>
              <a:rPr lang="zh-CN" altLang="en-US" dirty="0"/>
              <a:t>建模上下文？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FF090D8-176C-1F49-8D06-A1233A6799B9}"/>
              </a:ext>
            </a:extLst>
          </p:cNvPr>
          <p:cNvGrpSpPr/>
          <p:nvPr/>
        </p:nvGrpSpPr>
        <p:grpSpPr>
          <a:xfrm>
            <a:off x="2186760" y="5135885"/>
            <a:ext cx="5570756" cy="1282331"/>
            <a:chOff x="2186760" y="5135885"/>
            <a:chExt cx="5570756" cy="128233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9408896-8664-70EE-5B3E-1864A2A6F7FF}"/>
                </a:ext>
              </a:extLst>
            </p:cNvPr>
            <p:cNvSpPr/>
            <p:nvPr/>
          </p:nvSpPr>
          <p:spPr>
            <a:xfrm>
              <a:off x="2186760" y="5276340"/>
              <a:ext cx="5570756" cy="67666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514325">
                <a:lnSpc>
                  <a:spcPct val="150000"/>
                </a:lnSpc>
                <a:spcBef>
                  <a:spcPts val="563"/>
                </a:spcBef>
                <a:defRPr/>
              </a:pPr>
              <a:r>
                <a:rPr lang="zh-CN" altLang="en-US" sz="3000" dirty="0">
                  <a:solidFill>
                    <a:prstClr val="black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“我吃了一个非常美味的苹果”</a:t>
              </a:r>
              <a:endParaRPr lang="en-US" altLang="zh-CN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A4ED75A0-443C-8F47-7807-34EDC06FE8DB}"/>
                </a:ext>
              </a:extLst>
            </p:cNvPr>
            <p:cNvCxnSpPr/>
            <p:nvPr/>
          </p:nvCxnSpPr>
          <p:spPr>
            <a:xfrm flipV="1">
              <a:off x="3024487" y="5988662"/>
              <a:ext cx="667910" cy="596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7B992EE9-E4E9-C3AA-9CCC-FB3ECE7E7BDA}"/>
                </a:ext>
              </a:extLst>
            </p:cNvPr>
            <p:cNvCxnSpPr/>
            <p:nvPr/>
          </p:nvCxnSpPr>
          <p:spPr>
            <a:xfrm flipV="1">
              <a:off x="6519085" y="5982698"/>
              <a:ext cx="667910" cy="596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C129F83D-70C6-F4D8-4289-56DA1481651E}"/>
                </a:ext>
              </a:extLst>
            </p:cNvPr>
            <p:cNvCxnSpPr/>
            <p:nvPr/>
          </p:nvCxnSpPr>
          <p:spPr>
            <a:xfrm flipV="1">
              <a:off x="5397952" y="6012516"/>
              <a:ext cx="667910" cy="596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9EA651C5-BDA4-6F90-FC7C-D97775C7536F}"/>
                </a:ext>
              </a:extLst>
            </p:cNvPr>
            <p:cNvCxnSpPr/>
            <p:nvPr/>
          </p:nvCxnSpPr>
          <p:spPr>
            <a:xfrm flipV="1">
              <a:off x="4615099" y="6018480"/>
              <a:ext cx="667910" cy="596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左中括号 8">
              <a:extLst>
                <a:ext uri="{FF2B5EF4-FFF2-40B4-BE49-F238E27FC236}">
                  <a16:creationId xmlns:a16="http://schemas.microsoft.com/office/drawing/2014/main" id="{1D44BA87-A0AE-D3B4-9BBF-4B219FA722FB}"/>
                </a:ext>
              </a:extLst>
            </p:cNvPr>
            <p:cNvSpPr/>
            <p:nvPr/>
          </p:nvSpPr>
          <p:spPr>
            <a:xfrm rot="16200000">
              <a:off x="6179726" y="5607559"/>
              <a:ext cx="234442" cy="1112189"/>
            </a:xfrm>
            <a:prstGeom prst="leftBracket">
              <a:avLst>
                <a:gd name="adj" fmla="val 71751"/>
              </a:avLst>
            </a:prstGeom>
            <a:ln w="38100">
              <a:solidFill>
                <a:srgbClr val="00B05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0" name="左中括号 9">
              <a:extLst>
                <a:ext uri="{FF2B5EF4-FFF2-40B4-BE49-F238E27FC236}">
                  <a16:creationId xmlns:a16="http://schemas.microsoft.com/office/drawing/2014/main" id="{CC992D2A-7480-B705-D2C2-429552BF9319}"/>
                </a:ext>
              </a:extLst>
            </p:cNvPr>
            <p:cNvSpPr/>
            <p:nvPr/>
          </p:nvSpPr>
          <p:spPr>
            <a:xfrm rot="16200000">
              <a:off x="5740762" y="5305936"/>
              <a:ext cx="322211" cy="1902350"/>
            </a:xfrm>
            <a:prstGeom prst="leftBracket">
              <a:avLst>
                <a:gd name="adj" fmla="val 71751"/>
              </a:avLst>
            </a:prstGeom>
            <a:ln w="38100">
              <a:solidFill>
                <a:srgbClr val="00B05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1" name="左中括号 10">
              <a:extLst>
                <a:ext uri="{FF2B5EF4-FFF2-40B4-BE49-F238E27FC236}">
                  <a16:creationId xmlns:a16="http://schemas.microsoft.com/office/drawing/2014/main" id="{7728257B-181F-E3BC-BC73-1EB15AE6B1FF}"/>
                </a:ext>
              </a:extLst>
            </p:cNvPr>
            <p:cNvSpPr/>
            <p:nvPr/>
          </p:nvSpPr>
          <p:spPr>
            <a:xfrm rot="5400000">
              <a:off x="4994216" y="3565711"/>
              <a:ext cx="288653" cy="3429002"/>
            </a:xfrm>
            <a:prstGeom prst="leftBracket">
              <a:avLst>
                <a:gd name="adj" fmla="val 71751"/>
              </a:avLst>
            </a:prstGeom>
            <a:ln w="38100">
              <a:solidFill>
                <a:srgbClr val="00B05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pic>
        <p:nvPicPr>
          <p:cNvPr id="20" name="图片 19">
            <a:extLst>
              <a:ext uri="{FF2B5EF4-FFF2-40B4-BE49-F238E27FC236}">
                <a16:creationId xmlns:a16="http://schemas.microsoft.com/office/drawing/2014/main" id="{80AC1661-23D7-FA38-59E3-6559199903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9224" y="5135886"/>
            <a:ext cx="1301909" cy="1202741"/>
          </a:xfrm>
          <a:prstGeom prst="rect">
            <a:avLst/>
          </a:prstGeom>
        </p:spPr>
      </p:pic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41A49CC4-6BD0-6A5B-CB80-989BA1F0E536}"/>
              </a:ext>
            </a:extLst>
          </p:cNvPr>
          <p:cNvCxnSpPr>
            <a:cxnSpLocks/>
          </p:cNvCxnSpPr>
          <p:nvPr/>
        </p:nvCxnSpPr>
        <p:spPr>
          <a:xfrm flipV="1">
            <a:off x="5944277" y="4791208"/>
            <a:ext cx="705340" cy="335177"/>
          </a:xfrm>
          <a:prstGeom prst="straightConnector1">
            <a:avLst/>
          </a:prstGeom>
          <a:ln w="34925">
            <a:solidFill>
              <a:srgbClr val="02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94225D15-1822-132D-8EF9-7864F749D488}"/>
              </a:ext>
            </a:extLst>
          </p:cNvPr>
          <p:cNvSpPr txBox="1"/>
          <p:nvPr/>
        </p:nvSpPr>
        <p:spPr>
          <a:xfrm>
            <a:off x="9185430" y="4614728"/>
            <a:ext cx="21168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rgbClr val="C00000"/>
                </a:solidFill>
              </a:rPr>
              <a:t>怎么知道输入词的顺序？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77349A9-1C29-2442-3D7B-9E20AE1EDEBE}"/>
                  </a:ext>
                </a:extLst>
              </p:cNvPr>
              <p:cNvSpPr txBox="1"/>
              <p:nvPr/>
            </p:nvSpPr>
            <p:spPr>
              <a:xfrm>
                <a:off x="5585635" y="4555626"/>
                <a:ext cx="9180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477349A9-1C29-2442-3D7B-9E20AE1ED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635" y="4555626"/>
                <a:ext cx="918087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FD6ADC8-671C-324B-AD6C-FA3DDEC6C13A}"/>
                  </a:ext>
                </a:extLst>
              </p:cNvPr>
              <p:cNvSpPr txBox="1"/>
              <p:nvPr/>
            </p:nvSpPr>
            <p:spPr>
              <a:xfrm>
                <a:off x="9012451" y="3412473"/>
                <a:ext cx="246276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’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𝑝𝑜𝑠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FD6ADC8-671C-324B-AD6C-FA3DDEC6C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451" y="3412473"/>
                <a:ext cx="2462767" cy="461665"/>
              </a:xfrm>
              <a:prstGeom prst="rect">
                <a:avLst/>
              </a:prstGeom>
              <a:blipFill>
                <a:blip r:embed="rId7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本框 32">
            <a:extLst>
              <a:ext uri="{FF2B5EF4-FFF2-40B4-BE49-F238E27FC236}">
                <a16:creationId xmlns:a16="http://schemas.microsoft.com/office/drawing/2014/main" id="{BD1BA1D3-9BD6-54B4-F06B-FC1F71E421FC}"/>
              </a:ext>
            </a:extLst>
          </p:cNvPr>
          <p:cNvSpPr txBox="1"/>
          <p:nvPr/>
        </p:nvSpPr>
        <p:spPr>
          <a:xfrm>
            <a:off x="9185430" y="2032474"/>
            <a:ext cx="2738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/>
              <a:t>位置编码：</a:t>
            </a:r>
            <a:endParaRPr kumimoji="1" lang="en-US" altLang="zh-CN" sz="2400" b="1" dirty="0"/>
          </a:p>
          <a:p>
            <a:r>
              <a:rPr kumimoji="1" lang="zh-CN" altLang="en-US" sz="2400" b="1" dirty="0"/>
              <a:t>定义位置向量，并加到对应词上</a:t>
            </a:r>
          </a:p>
        </p:txBody>
      </p: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01A4CAC5-031F-F61D-121F-278391C439A7}"/>
              </a:ext>
            </a:extLst>
          </p:cNvPr>
          <p:cNvCxnSpPr>
            <a:cxnSpLocks/>
          </p:cNvCxnSpPr>
          <p:nvPr/>
        </p:nvCxnSpPr>
        <p:spPr>
          <a:xfrm flipH="1">
            <a:off x="7064477" y="3721826"/>
            <a:ext cx="2120953" cy="3319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758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1" grpId="0"/>
      <p:bldP spid="3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GPT</a:t>
            </a:r>
            <a:r>
              <a:rPr lang="zh-CN" altLang="en-US" dirty="0"/>
              <a:t>：生成式预训练转换模型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465006" y="1798592"/>
            <a:ext cx="7772400" cy="3260816"/>
          </a:xfrm>
        </p:spPr>
        <p:txBody>
          <a:bodyPr/>
          <a:lstStyle/>
          <a:p>
            <a:r>
              <a:rPr lang="zh-CN" altLang="en-US" dirty="0"/>
              <a:t>文字接龙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199" y="2539118"/>
            <a:ext cx="7257602" cy="290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24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2C4F3-3D26-4576-C394-EEE5FF19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“文字接龙”的模型架构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4135C4-BEAE-36D5-EA45-0CE5B307B6B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946786"/>
            <a:ext cx="10363200" cy="4073013"/>
          </a:xfrm>
        </p:spPr>
        <p:txBody>
          <a:bodyPr/>
          <a:lstStyle/>
          <a:p>
            <a:r>
              <a:rPr kumimoji="1" lang="zh-CN" altLang="en-US" dirty="0"/>
              <a:t>编码器</a:t>
            </a:r>
            <a:r>
              <a:rPr kumimoji="1" lang="en-US" altLang="zh-CN" dirty="0"/>
              <a:t>-</a:t>
            </a:r>
            <a:r>
              <a:rPr kumimoji="1" lang="zh-CN" altLang="en-US" dirty="0"/>
              <a:t>解码器结构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单解码器结构</a:t>
            </a:r>
          </a:p>
        </p:txBody>
      </p:sp>
    </p:spTree>
    <p:extLst>
      <p:ext uri="{BB962C8B-B14F-4D97-AF65-F5344CB8AC3E}">
        <p14:creationId xmlns:p14="http://schemas.microsoft.com/office/powerpoint/2010/main" val="12774057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编码器</a:t>
            </a:r>
            <a:r>
              <a:rPr lang="en-US" altLang="zh-CN" dirty="0"/>
              <a:t>-</a:t>
            </a:r>
            <a:r>
              <a:rPr lang="zh-CN" altLang="en-US" dirty="0"/>
              <a:t>解码器模型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AB8EB929-D3FC-19E6-4814-52A386081CCC}"/>
              </a:ext>
            </a:extLst>
          </p:cNvPr>
          <p:cNvGrpSpPr/>
          <p:nvPr/>
        </p:nvGrpSpPr>
        <p:grpSpPr>
          <a:xfrm>
            <a:off x="2014186" y="1566519"/>
            <a:ext cx="8163628" cy="4424744"/>
            <a:chOff x="3290752" y="1920480"/>
            <a:chExt cx="5344767" cy="2896902"/>
          </a:xfrm>
        </p:grpSpPr>
        <p:sp>
          <p:nvSpPr>
            <p:cNvPr id="4" name="矩形 3"/>
            <p:cNvSpPr/>
            <p:nvPr/>
          </p:nvSpPr>
          <p:spPr>
            <a:xfrm>
              <a:off x="3526309" y="3044657"/>
              <a:ext cx="1019755" cy="54864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理 解</a:t>
              </a:r>
            </a:p>
          </p:txBody>
        </p:sp>
        <p:sp>
          <p:nvSpPr>
            <p:cNvPr id="5" name="矩形 4"/>
            <p:cNvSpPr/>
            <p:nvPr/>
          </p:nvSpPr>
          <p:spPr>
            <a:xfrm>
              <a:off x="7372753" y="3044657"/>
              <a:ext cx="1019755" cy="54864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翻 译</a:t>
              </a:r>
            </a:p>
          </p:txBody>
        </p:sp>
        <p:cxnSp>
          <p:nvCxnSpPr>
            <p:cNvPr id="6" name="直接箭头连接符 5"/>
            <p:cNvCxnSpPr>
              <a:stCxn id="7" idx="0"/>
            </p:cNvCxnSpPr>
            <p:nvPr/>
          </p:nvCxnSpPr>
          <p:spPr>
            <a:xfrm flipH="1" flipV="1">
              <a:off x="4042150" y="3611189"/>
              <a:ext cx="1" cy="50093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3290752" y="4112122"/>
              <a:ext cx="1502797" cy="7052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在党中央坚强领导下，全国各族人民以坚定的信心和非凡的勇气，攻坚克难，开拓进取。</a:t>
              </a:r>
            </a:p>
          </p:txBody>
        </p:sp>
        <p:cxnSp>
          <p:nvCxnSpPr>
            <p:cNvPr id="8" name="直接箭头连接符 7"/>
            <p:cNvCxnSpPr/>
            <p:nvPr/>
          </p:nvCxnSpPr>
          <p:spPr>
            <a:xfrm flipV="1">
              <a:off x="7882629" y="2543727"/>
              <a:ext cx="0" cy="50093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7129739" y="1920480"/>
              <a:ext cx="1505780" cy="544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altLang="zh-CN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Under the strong leadership of the CPC Central Committee…</a:t>
              </a:r>
              <a:endPara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4546063" y="3318978"/>
              <a:ext cx="824452" cy="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6746588" y="3318978"/>
              <a:ext cx="636601" cy="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26455" y="2519873"/>
              <a:ext cx="1147022" cy="1747580"/>
            </a:xfrm>
            <a:prstGeom prst="rect">
              <a:avLst/>
            </a:prstGeom>
            <a:ln>
              <a:noFill/>
            </a:ln>
          </p:spPr>
        </p:pic>
        <p:sp>
          <p:nvSpPr>
            <p:cNvPr id="13" name="圆角矩形 12"/>
            <p:cNvSpPr/>
            <p:nvPr/>
          </p:nvSpPr>
          <p:spPr>
            <a:xfrm>
              <a:off x="5363004" y="2426529"/>
              <a:ext cx="1376073" cy="1793214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4" name="文本框 16"/>
            <p:cNvSpPr txBox="1"/>
            <p:nvPr/>
          </p:nvSpPr>
          <p:spPr>
            <a:xfrm>
              <a:off x="5623263" y="2047547"/>
              <a:ext cx="855555" cy="221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中间表示</a:t>
              </a:r>
            </a:p>
          </p:txBody>
        </p:sp>
        <p:sp>
          <p:nvSpPr>
            <p:cNvPr id="15" name="文本框 16"/>
            <p:cNvSpPr txBox="1"/>
            <p:nvPr/>
          </p:nvSpPr>
          <p:spPr>
            <a:xfrm>
              <a:off x="3608409" y="2655692"/>
              <a:ext cx="855555" cy="221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编码器</a:t>
              </a:r>
            </a:p>
          </p:txBody>
        </p:sp>
        <p:sp>
          <p:nvSpPr>
            <p:cNvPr id="16" name="文本框 16"/>
            <p:cNvSpPr txBox="1"/>
            <p:nvPr/>
          </p:nvSpPr>
          <p:spPr>
            <a:xfrm>
              <a:off x="7454853" y="3723155"/>
              <a:ext cx="855555" cy="2216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解码器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6661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6FDCF5-B4FA-0063-D41E-39D416B60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编码器</a:t>
            </a:r>
            <a:r>
              <a:rPr kumimoji="1" lang="en-US" altLang="zh-CN" dirty="0"/>
              <a:t>-</a:t>
            </a:r>
            <a:r>
              <a:rPr kumimoji="1" lang="zh-CN" altLang="en-US" dirty="0"/>
              <a:t>解码器结构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98B47F-0336-46A8-79B1-75DAE22723D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E073E2D-4DAC-001D-E74C-81853451780E}"/>
              </a:ext>
            </a:extLst>
          </p:cNvPr>
          <p:cNvGrpSpPr/>
          <p:nvPr/>
        </p:nvGrpSpPr>
        <p:grpSpPr>
          <a:xfrm>
            <a:off x="2840511" y="471947"/>
            <a:ext cx="6546011" cy="5940273"/>
            <a:chOff x="1658377" y="253530"/>
            <a:chExt cx="6993128" cy="630573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4708A38-68DD-5F4D-16F7-922B1A955E09}"/>
                </a:ext>
              </a:extLst>
            </p:cNvPr>
            <p:cNvSpPr/>
            <p:nvPr/>
          </p:nvSpPr>
          <p:spPr>
            <a:xfrm>
              <a:off x="6202015" y="1057523"/>
              <a:ext cx="1860607" cy="481849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F6BCDF7-932F-1423-9730-CF42FC955162}"/>
                </a:ext>
              </a:extLst>
            </p:cNvPr>
            <p:cNvSpPr/>
            <p:nvPr/>
          </p:nvSpPr>
          <p:spPr>
            <a:xfrm>
              <a:off x="2385386" y="2023599"/>
              <a:ext cx="1860607" cy="385241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414DD0F5-93BA-A038-DA28-CC422D5D8B60}"/>
                </a:ext>
              </a:extLst>
            </p:cNvPr>
            <p:cNvSpPr/>
            <p:nvPr/>
          </p:nvSpPr>
          <p:spPr>
            <a:xfrm>
              <a:off x="2655731" y="4182386"/>
              <a:ext cx="1359673" cy="5327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5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编码层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9E6BE73-26C2-6CEC-0699-DC9A1299A357}"/>
                </a:ext>
              </a:extLst>
            </p:cNvPr>
            <p:cNvSpPr/>
            <p:nvPr/>
          </p:nvSpPr>
          <p:spPr>
            <a:xfrm>
              <a:off x="2655730" y="3212327"/>
              <a:ext cx="1359673" cy="5327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……</a:t>
              </a:r>
              <a:endParaRPr lang="zh-CN" altLang="en-US" sz="13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887ABA0-C64A-0BC8-09B2-449473F79A73}"/>
                </a:ext>
              </a:extLst>
            </p:cNvPr>
            <p:cNvSpPr/>
            <p:nvPr/>
          </p:nvSpPr>
          <p:spPr>
            <a:xfrm>
              <a:off x="2655729" y="2242261"/>
              <a:ext cx="1359673" cy="5327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5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编码层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71427E5-9138-9790-DB8C-A6579A02ED7E}"/>
                </a:ext>
              </a:extLst>
            </p:cNvPr>
            <p:cNvSpPr/>
            <p:nvPr/>
          </p:nvSpPr>
          <p:spPr>
            <a:xfrm>
              <a:off x="2655728" y="5152445"/>
              <a:ext cx="1359673" cy="5327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5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输入层</a:t>
              </a: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A29E8076-266A-AC28-D3A6-0A17B369038D}"/>
                </a:ext>
              </a:extLst>
            </p:cNvPr>
            <p:cNvCxnSpPr>
              <a:stCxn id="7" idx="0"/>
              <a:endCxn id="8" idx="2"/>
            </p:cNvCxnSpPr>
            <p:nvPr/>
          </p:nvCxnSpPr>
          <p:spPr>
            <a:xfrm flipH="1" flipV="1">
              <a:off x="3335567" y="3745064"/>
              <a:ext cx="1" cy="43732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9815C97A-7322-4AEA-B14B-89B0C30E2C07}"/>
                </a:ext>
              </a:extLst>
            </p:cNvPr>
            <p:cNvCxnSpPr/>
            <p:nvPr/>
          </p:nvCxnSpPr>
          <p:spPr>
            <a:xfrm flipH="1" flipV="1">
              <a:off x="3335564" y="5685182"/>
              <a:ext cx="1" cy="43732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C5417CB9-365A-5318-4F39-67E257BB749E}"/>
                </a:ext>
              </a:extLst>
            </p:cNvPr>
            <p:cNvCxnSpPr/>
            <p:nvPr/>
          </p:nvCxnSpPr>
          <p:spPr>
            <a:xfrm flipH="1" flipV="1">
              <a:off x="3335564" y="4715123"/>
              <a:ext cx="1" cy="43732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C09418EA-E920-D89F-497D-D6B6F17CE544}"/>
                </a:ext>
              </a:extLst>
            </p:cNvPr>
            <p:cNvCxnSpPr/>
            <p:nvPr/>
          </p:nvCxnSpPr>
          <p:spPr>
            <a:xfrm flipH="1" flipV="1">
              <a:off x="3335564" y="2775005"/>
              <a:ext cx="1" cy="43732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E6434DF6-EF29-BDD4-3696-506F5265D970}"/>
                </a:ext>
              </a:extLst>
            </p:cNvPr>
            <p:cNvCxnSpPr>
              <a:endCxn id="40" idx="2"/>
            </p:cNvCxnSpPr>
            <p:nvPr/>
          </p:nvCxnSpPr>
          <p:spPr>
            <a:xfrm flipH="1" flipV="1">
              <a:off x="3343515" y="1697579"/>
              <a:ext cx="2" cy="54069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D1574F6-8BFD-AE2F-6C89-B863606DB54F}"/>
                </a:ext>
              </a:extLst>
            </p:cNvPr>
            <p:cNvSpPr txBox="1"/>
            <p:nvPr/>
          </p:nvSpPr>
          <p:spPr>
            <a:xfrm>
              <a:off x="1658377" y="3486644"/>
              <a:ext cx="591838" cy="166579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编码器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A291181-4AE8-99E7-8549-817E7BBB0B96}"/>
                </a:ext>
              </a:extLst>
            </p:cNvPr>
            <p:cNvSpPr txBox="1"/>
            <p:nvPr/>
          </p:nvSpPr>
          <p:spPr>
            <a:xfrm>
              <a:off x="2798857" y="6142381"/>
              <a:ext cx="1288107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50" dirty="0">
                  <a:latin typeface="宋体" panose="02010600030101010101" pitchFamily="2" charset="-122"/>
                  <a:ea typeface="宋体" panose="02010600030101010101" pitchFamily="2" charset="-122"/>
                </a:rPr>
                <a:t>输入序列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A668166F-3417-94F8-26C5-C46222C49438}"/>
                </a:ext>
              </a:extLst>
            </p:cNvPr>
            <p:cNvSpPr/>
            <p:nvPr/>
          </p:nvSpPr>
          <p:spPr>
            <a:xfrm>
              <a:off x="6472360" y="4182386"/>
              <a:ext cx="1359673" cy="5327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5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解码层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693801E-8EA4-58A1-4A01-A608D78CD6E1}"/>
                </a:ext>
              </a:extLst>
            </p:cNvPr>
            <p:cNvSpPr/>
            <p:nvPr/>
          </p:nvSpPr>
          <p:spPr>
            <a:xfrm>
              <a:off x="6472359" y="3212327"/>
              <a:ext cx="1359673" cy="5327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5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……</a:t>
              </a:r>
              <a:endParaRPr lang="zh-CN" altLang="en-US" sz="135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C893CDC-150A-DCA7-89CB-E23054305DB0}"/>
                </a:ext>
              </a:extLst>
            </p:cNvPr>
            <p:cNvSpPr/>
            <p:nvPr/>
          </p:nvSpPr>
          <p:spPr>
            <a:xfrm>
              <a:off x="6472358" y="2242261"/>
              <a:ext cx="1359673" cy="5327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5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解码层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7156593-230B-8192-3208-63AA49CDA757}"/>
                </a:ext>
              </a:extLst>
            </p:cNvPr>
            <p:cNvSpPr/>
            <p:nvPr/>
          </p:nvSpPr>
          <p:spPr>
            <a:xfrm>
              <a:off x="6472357" y="5152445"/>
              <a:ext cx="1359673" cy="5327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5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输入层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3F657FB8-245D-8EEC-9BEF-3DF2079EA71A}"/>
                </a:ext>
              </a:extLst>
            </p:cNvPr>
            <p:cNvSpPr/>
            <p:nvPr/>
          </p:nvSpPr>
          <p:spPr>
            <a:xfrm>
              <a:off x="6472357" y="1224494"/>
              <a:ext cx="1359673" cy="532737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5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输出层</a:t>
              </a: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141F38C0-1149-530F-14B3-5E2187F57C4F}"/>
                </a:ext>
              </a:extLst>
            </p:cNvPr>
            <p:cNvCxnSpPr>
              <a:stCxn id="18" idx="0"/>
              <a:endCxn id="19" idx="2"/>
            </p:cNvCxnSpPr>
            <p:nvPr/>
          </p:nvCxnSpPr>
          <p:spPr>
            <a:xfrm flipH="1" flipV="1">
              <a:off x="7152196" y="3745064"/>
              <a:ext cx="1" cy="43732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006243A5-EB38-CE43-61F3-9EA2CED0E62A}"/>
                </a:ext>
              </a:extLst>
            </p:cNvPr>
            <p:cNvCxnSpPr/>
            <p:nvPr/>
          </p:nvCxnSpPr>
          <p:spPr>
            <a:xfrm flipH="1" flipV="1">
              <a:off x="7144242" y="5669280"/>
              <a:ext cx="1" cy="43732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B29A5A70-173D-5A2F-C07C-A4AD45C2E5B0}"/>
                </a:ext>
              </a:extLst>
            </p:cNvPr>
            <p:cNvCxnSpPr/>
            <p:nvPr/>
          </p:nvCxnSpPr>
          <p:spPr>
            <a:xfrm flipH="1" flipV="1">
              <a:off x="7152193" y="4715123"/>
              <a:ext cx="1" cy="43732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B8615D84-ADDE-F5C8-1F9B-51281A6C1FD9}"/>
                </a:ext>
              </a:extLst>
            </p:cNvPr>
            <p:cNvCxnSpPr/>
            <p:nvPr/>
          </p:nvCxnSpPr>
          <p:spPr>
            <a:xfrm flipH="1" flipV="1">
              <a:off x="7152193" y="2775005"/>
              <a:ext cx="1" cy="43732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EA671B86-4D7E-1C28-527B-4ADA57051EA5}"/>
                </a:ext>
              </a:extLst>
            </p:cNvPr>
            <p:cNvCxnSpPr/>
            <p:nvPr/>
          </p:nvCxnSpPr>
          <p:spPr>
            <a:xfrm flipH="1" flipV="1">
              <a:off x="7152193" y="1777100"/>
              <a:ext cx="1" cy="437322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5293154-FF80-97BF-B145-6AF4F51B5750}"/>
                </a:ext>
              </a:extLst>
            </p:cNvPr>
            <p:cNvSpPr txBox="1"/>
            <p:nvPr/>
          </p:nvSpPr>
          <p:spPr>
            <a:xfrm>
              <a:off x="8059667" y="3486644"/>
              <a:ext cx="591838" cy="166579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400" dirty="0">
                  <a:solidFill>
                    <a:srgbClr val="FF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解码器</a:t>
              </a: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0298DD00-DC3F-1681-31B6-8598BA129240}"/>
                </a:ext>
              </a:extLst>
            </p:cNvPr>
            <p:cNvSpPr txBox="1"/>
            <p:nvPr/>
          </p:nvSpPr>
          <p:spPr>
            <a:xfrm>
              <a:off x="6369404" y="6159151"/>
              <a:ext cx="1924213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350" dirty="0">
                  <a:latin typeface="宋体" panose="02010600030101010101" pitchFamily="2" charset="-122"/>
                  <a:ea typeface="宋体" panose="02010600030101010101" pitchFamily="2" charset="-122"/>
                </a:rPr>
                <a:t>已生成输出序列</a:t>
              </a:r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A0807AA4-3C8D-F4A6-DA8B-D7B1811ECE13}"/>
                </a:ext>
              </a:extLst>
            </p:cNvPr>
            <p:cNvCxnSpPr/>
            <p:nvPr/>
          </p:nvCxnSpPr>
          <p:spPr>
            <a:xfrm flipV="1">
              <a:off x="7418566" y="636110"/>
              <a:ext cx="817" cy="576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167E4C3B-3C6E-B58F-E0EA-97306D2084F5}"/>
                </a:ext>
              </a:extLst>
            </p:cNvPr>
            <p:cNvSpPr txBox="1"/>
            <p:nvPr/>
          </p:nvSpPr>
          <p:spPr>
            <a:xfrm>
              <a:off x="6448509" y="253530"/>
              <a:ext cx="1924213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350" dirty="0">
                  <a:latin typeface="宋体" panose="02010600030101010101" pitchFamily="2" charset="-122"/>
                  <a:ea typeface="宋体" panose="02010600030101010101" pitchFamily="2" charset="-122"/>
                </a:rPr>
                <a:t>下一个单词概率</a:t>
              </a:r>
            </a:p>
          </p:txBody>
        </p: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F0324C2C-1A86-D37B-84E5-BD0E01171256}"/>
                </a:ext>
              </a:extLst>
            </p:cNvPr>
            <p:cNvCxnSpPr/>
            <p:nvPr/>
          </p:nvCxnSpPr>
          <p:spPr>
            <a:xfrm flipH="1" flipV="1">
              <a:off x="6909684" y="803091"/>
              <a:ext cx="2" cy="43200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任意多边形 32">
              <a:extLst>
                <a:ext uri="{FF2B5EF4-FFF2-40B4-BE49-F238E27FC236}">
                  <a16:creationId xmlns:a16="http://schemas.microsoft.com/office/drawing/2014/main" id="{4D393E37-1C4E-F5A1-D845-11366C4BA05B}"/>
                </a:ext>
              </a:extLst>
            </p:cNvPr>
            <p:cNvSpPr/>
            <p:nvPr/>
          </p:nvSpPr>
          <p:spPr>
            <a:xfrm>
              <a:off x="5709041" y="811032"/>
              <a:ext cx="1440000" cy="5292000"/>
            </a:xfrm>
            <a:custGeom>
              <a:avLst/>
              <a:gdLst>
                <a:gd name="connsiteX0" fmla="*/ 1121133 w 1351721"/>
                <a:gd name="connsiteY0" fmla="*/ 0 h 5311472"/>
                <a:gd name="connsiteX1" fmla="*/ 0 w 1351721"/>
                <a:gd name="connsiteY1" fmla="*/ 7952 h 5311472"/>
                <a:gd name="connsiteX2" fmla="*/ 23853 w 1351721"/>
                <a:gd name="connsiteY2" fmla="*/ 5311472 h 5311472"/>
                <a:gd name="connsiteX3" fmla="*/ 1351721 w 1351721"/>
                <a:gd name="connsiteY3" fmla="*/ 5311472 h 5311472"/>
                <a:gd name="connsiteX0" fmla="*/ 1097280 w 1327868"/>
                <a:gd name="connsiteY0" fmla="*/ 0 h 5311472"/>
                <a:gd name="connsiteX1" fmla="*/ 1 w 1327868"/>
                <a:gd name="connsiteY1" fmla="*/ 0 h 5311472"/>
                <a:gd name="connsiteX2" fmla="*/ 0 w 1327868"/>
                <a:gd name="connsiteY2" fmla="*/ 5311472 h 5311472"/>
                <a:gd name="connsiteX3" fmla="*/ 1327868 w 1327868"/>
                <a:gd name="connsiteY3" fmla="*/ 5311472 h 5311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27868" h="5311472">
                  <a:moveTo>
                    <a:pt x="1097280" y="0"/>
                  </a:moveTo>
                  <a:lnTo>
                    <a:pt x="1" y="0"/>
                  </a:lnTo>
                  <a:cubicBezTo>
                    <a:pt x="1" y="1770491"/>
                    <a:pt x="0" y="3540981"/>
                    <a:pt x="0" y="5311472"/>
                  </a:cubicBezTo>
                  <a:lnTo>
                    <a:pt x="1327868" y="5311472"/>
                  </a:lnTo>
                </a:path>
              </a:pathLst>
            </a:cu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B7B30829-A637-3917-2851-7C4B4A4E69FC}"/>
                </a:ext>
              </a:extLst>
            </p:cNvPr>
            <p:cNvCxnSpPr/>
            <p:nvPr/>
          </p:nvCxnSpPr>
          <p:spPr>
            <a:xfrm>
              <a:off x="5705060" y="2464901"/>
              <a:ext cx="0" cy="10800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459E4651-650F-FC47-82C9-DFED1D8E4B6C}"/>
                </a:ext>
              </a:extLst>
            </p:cNvPr>
            <p:cNvCxnSpPr>
              <a:endCxn id="20" idx="1"/>
            </p:cNvCxnSpPr>
            <p:nvPr/>
          </p:nvCxnSpPr>
          <p:spPr>
            <a:xfrm>
              <a:off x="4937756" y="2501674"/>
              <a:ext cx="1534602" cy="695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80D485D8-491D-5BCE-9F5A-5467AB1E7A4B}"/>
                </a:ext>
              </a:extLst>
            </p:cNvPr>
            <p:cNvCxnSpPr/>
            <p:nvPr/>
          </p:nvCxnSpPr>
          <p:spPr>
            <a:xfrm>
              <a:off x="5706386" y="3444238"/>
              <a:ext cx="0" cy="10800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B5AD0EEE-F45A-934C-1274-60B4C849E4AD}"/>
                </a:ext>
              </a:extLst>
            </p:cNvPr>
            <p:cNvCxnSpPr>
              <a:endCxn id="19" idx="1"/>
            </p:cNvCxnSpPr>
            <p:nvPr/>
          </p:nvCxnSpPr>
          <p:spPr>
            <a:xfrm flipV="1">
              <a:off x="4937756" y="3478696"/>
              <a:ext cx="1534603" cy="795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99469C76-AA20-46FC-50BC-AE4BABB9EC53}"/>
                </a:ext>
              </a:extLst>
            </p:cNvPr>
            <p:cNvCxnSpPr/>
            <p:nvPr/>
          </p:nvCxnSpPr>
          <p:spPr>
            <a:xfrm>
              <a:off x="5714336" y="4414293"/>
              <a:ext cx="0" cy="108000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任意多边形 38">
              <a:extLst>
                <a:ext uri="{FF2B5EF4-FFF2-40B4-BE49-F238E27FC236}">
                  <a16:creationId xmlns:a16="http://schemas.microsoft.com/office/drawing/2014/main" id="{A4EB0B27-73E4-C4B8-94E1-58310C3DEA96}"/>
                </a:ext>
              </a:extLst>
            </p:cNvPr>
            <p:cNvSpPr/>
            <p:nvPr/>
          </p:nvSpPr>
          <p:spPr>
            <a:xfrm>
              <a:off x="3888187" y="1470991"/>
              <a:ext cx="2584173" cy="2988000"/>
            </a:xfrm>
            <a:custGeom>
              <a:avLst/>
              <a:gdLst>
                <a:gd name="connsiteX0" fmla="*/ 0 w 2194560"/>
                <a:gd name="connsiteY0" fmla="*/ 0 h 3935896"/>
                <a:gd name="connsiteX1" fmla="*/ 1057524 w 2194560"/>
                <a:gd name="connsiteY1" fmla="*/ 15903 h 3935896"/>
                <a:gd name="connsiteX2" fmla="*/ 1073427 w 2194560"/>
                <a:gd name="connsiteY2" fmla="*/ 3935896 h 3935896"/>
                <a:gd name="connsiteX3" fmla="*/ 2194560 w 2194560"/>
                <a:gd name="connsiteY3" fmla="*/ 3919993 h 3935896"/>
                <a:gd name="connsiteX0" fmla="*/ 0 w 2194560"/>
                <a:gd name="connsiteY0" fmla="*/ 15902 h 3951798"/>
                <a:gd name="connsiteX1" fmla="*/ 1057524 w 2194560"/>
                <a:gd name="connsiteY1" fmla="*/ 0 h 3951798"/>
                <a:gd name="connsiteX2" fmla="*/ 1073427 w 2194560"/>
                <a:gd name="connsiteY2" fmla="*/ 3951798 h 3951798"/>
                <a:gd name="connsiteX3" fmla="*/ 2194560 w 2194560"/>
                <a:gd name="connsiteY3" fmla="*/ 3935895 h 3951798"/>
                <a:gd name="connsiteX0" fmla="*/ 0 w 2194560"/>
                <a:gd name="connsiteY0" fmla="*/ 0 h 3935896"/>
                <a:gd name="connsiteX1" fmla="*/ 1057524 w 2194560"/>
                <a:gd name="connsiteY1" fmla="*/ 1 h 3935896"/>
                <a:gd name="connsiteX2" fmla="*/ 1073427 w 2194560"/>
                <a:gd name="connsiteY2" fmla="*/ 3935896 h 3935896"/>
                <a:gd name="connsiteX3" fmla="*/ 2194560 w 2194560"/>
                <a:gd name="connsiteY3" fmla="*/ 3919993 h 3935896"/>
                <a:gd name="connsiteX0" fmla="*/ 0 w 2210462"/>
                <a:gd name="connsiteY0" fmla="*/ 0 h 3943847"/>
                <a:gd name="connsiteX1" fmla="*/ 1057524 w 2210462"/>
                <a:gd name="connsiteY1" fmla="*/ 1 h 3943847"/>
                <a:gd name="connsiteX2" fmla="*/ 1073427 w 2210462"/>
                <a:gd name="connsiteY2" fmla="*/ 3935896 h 3943847"/>
                <a:gd name="connsiteX3" fmla="*/ 2210462 w 2210462"/>
                <a:gd name="connsiteY3" fmla="*/ 3943847 h 3943847"/>
                <a:gd name="connsiteX0" fmla="*/ 0 w 2592124"/>
                <a:gd name="connsiteY0" fmla="*/ 0 h 3951799"/>
                <a:gd name="connsiteX1" fmla="*/ 1057524 w 2592124"/>
                <a:gd name="connsiteY1" fmla="*/ 1 h 3951799"/>
                <a:gd name="connsiteX2" fmla="*/ 1073427 w 2592124"/>
                <a:gd name="connsiteY2" fmla="*/ 3935896 h 3951799"/>
                <a:gd name="connsiteX3" fmla="*/ 2592124 w 2592124"/>
                <a:gd name="connsiteY3" fmla="*/ 3951799 h 3951799"/>
                <a:gd name="connsiteX0" fmla="*/ 0 w 2584173"/>
                <a:gd name="connsiteY0" fmla="*/ 0 h 3935897"/>
                <a:gd name="connsiteX1" fmla="*/ 1057524 w 2584173"/>
                <a:gd name="connsiteY1" fmla="*/ 1 h 3935897"/>
                <a:gd name="connsiteX2" fmla="*/ 1073427 w 2584173"/>
                <a:gd name="connsiteY2" fmla="*/ 3935896 h 3935897"/>
                <a:gd name="connsiteX3" fmla="*/ 2584173 w 2584173"/>
                <a:gd name="connsiteY3" fmla="*/ 3935897 h 3935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84173" h="3935897">
                  <a:moveTo>
                    <a:pt x="0" y="0"/>
                  </a:moveTo>
                  <a:lnTo>
                    <a:pt x="1057524" y="1"/>
                  </a:lnTo>
                  <a:lnTo>
                    <a:pt x="1073427" y="3935896"/>
                  </a:lnTo>
                  <a:lnTo>
                    <a:pt x="2584173" y="3935897"/>
                  </a:lnTo>
                </a:path>
              </a:pathLst>
            </a:custGeom>
            <a:ln w="19050">
              <a:solidFill>
                <a:schemeClr val="tx1"/>
              </a:solidFill>
              <a:headEnd type="none" w="med" len="med"/>
              <a:tailEnd type="arrow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40" name="圆角矩形 39">
              <a:extLst>
                <a:ext uri="{FF2B5EF4-FFF2-40B4-BE49-F238E27FC236}">
                  <a16:creationId xmlns:a16="http://schemas.microsoft.com/office/drawing/2014/main" id="{9452CCA5-2160-F712-1DA7-B0450944E2B1}"/>
                </a:ext>
              </a:extLst>
            </p:cNvPr>
            <p:cNvSpPr/>
            <p:nvPr/>
          </p:nvSpPr>
          <p:spPr>
            <a:xfrm>
              <a:off x="2479515" y="1301579"/>
              <a:ext cx="1728000" cy="3960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350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中间表示序列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40369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Transformer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558" y="1036090"/>
            <a:ext cx="6507339" cy="53255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1752640" y="5555940"/>
                <a:ext cx="2215478" cy="531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zh-CN" alt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zh-CN" altLang="en-US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40" y="5555940"/>
                <a:ext cx="2215478" cy="531940"/>
              </a:xfrm>
              <a:prstGeom prst="rect">
                <a:avLst/>
              </a:prstGeom>
              <a:blipFill>
                <a:blip r:embed="rId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5139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编码层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647" y="675380"/>
            <a:ext cx="5884206" cy="59079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889169" y="5650680"/>
                <a:ext cx="2215478" cy="531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  <m:sup>
                          <m:r>
                            <a:rPr lang="zh-CN" alt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zh-CN" altLang="en-US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en-US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169" y="5650680"/>
                <a:ext cx="2215478" cy="531940"/>
              </a:xfrm>
              <a:prstGeom prst="rect">
                <a:avLst/>
              </a:prstGeom>
              <a:blipFill>
                <a:blip r:embed="rId3"/>
                <a:stretch>
                  <a:fillRect b="-23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5750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Transformer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880" y="846138"/>
            <a:ext cx="6610578" cy="54100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8674809" y="4990373"/>
                <a:ext cx="2239909" cy="531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zh-CN" alt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zh-CN" altLang="en-US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4809" y="4990373"/>
                <a:ext cx="2239909" cy="531940"/>
              </a:xfrm>
              <a:prstGeom prst="rect">
                <a:avLst/>
              </a:prstGeom>
              <a:blipFill>
                <a:blip r:embed="rId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161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解码层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058" y="369718"/>
            <a:ext cx="5530826" cy="6213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7969787" y="5895531"/>
                <a:ext cx="2239909" cy="531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zh-CN" alt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  <m:r>
                        <a:rPr lang="zh-CN" altLang="en-US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9787" y="5895531"/>
                <a:ext cx="2239909" cy="531940"/>
              </a:xfrm>
              <a:prstGeom prst="rect">
                <a:avLst/>
              </a:prstGeom>
              <a:blipFill>
                <a:blip r:embed="rId3"/>
                <a:stretch>
                  <a:fillRect b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1076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编码器</a:t>
            </a:r>
            <a:r>
              <a:rPr lang="en-US" altLang="zh-CN" dirty="0"/>
              <a:t>-</a:t>
            </a:r>
            <a:r>
              <a:rPr lang="zh-CN" altLang="en-US" dirty="0"/>
              <a:t>解码器模型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0847" y="1601050"/>
            <a:ext cx="7073591" cy="468234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E35D94F-0E8A-7053-89E2-190E1F697D68}"/>
              </a:ext>
            </a:extLst>
          </p:cNvPr>
          <p:cNvSpPr/>
          <p:nvPr/>
        </p:nvSpPr>
        <p:spPr>
          <a:xfrm>
            <a:off x="2413822" y="6143619"/>
            <a:ext cx="4801314" cy="676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“我   吃了   一    个”</a:t>
            </a: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0D44F0-BF0B-94CE-5A37-53E20F86FEB5}"/>
              </a:ext>
            </a:extLst>
          </p:cNvPr>
          <p:cNvSpPr/>
          <p:nvPr/>
        </p:nvSpPr>
        <p:spPr>
          <a:xfrm>
            <a:off x="5014452" y="872839"/>
            <a:ext cx="5378395" cy="6765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“非常  美味   的   苹果”</a:t>
            </a: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448508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5C87F-D697-474B-17F2-7FE9922B1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单解码器结构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C3FED5-47B3-BD6F-71D9-CBDC9CBFCB21}"/>
              </a:ext>
            </a:extLst>
          </p:cNvPr>
          <p:cNvSpPr/>
          <p:nvPr/>
        </p:nvSpPr>
        <p:spPr>
          <a:xfrm>
            <a:off x="2899886" y="4591962"/>
            <a:ext cx="3070071" cy="6765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“非常   美味”</a:t>
            </a: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2248FE-141D-EA3B-6F12-1EA9A3C9DCDD}"/>
              </a:ext>
            </a:extLst>
          </p:cNvPr>
          <p:cNvGrpSpPr/>
          <p:nvPr/>
        </p:nvGrpSpPr>
        <p:grpSpPr>
          <a:xfrm>
            <a:off x="3052917" y="2117105"/>
            <a:ext cx="4949022" cy="2829203"/>
            <a:chOff x="3236336" y="1640686"/>
            <a:chExt cx="4949022" cy="2829203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9C51072-1A3A-BD22-FDD9-61DB466EA9F1}"/>
                </a:ext>
              </a:extLst>
            </p:cNvPr>
            <p:cNvGrpSpPr/>
            <p:nvPr/>
          </p:nvGrpSpPr>
          <p:grpSpPr>
            <a:xfrm>
              <a:off x="3350925" y="1640686"/>
              <a:ext cx="4834433" cy="2829203"/>
              <a:chOff x="5489732" y="1578077"/>
              <a:chExt cx="4288449" cy="2509684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17F9DC07-311C-5E4F-F263-7B37ADF3D5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0994" t="11479" r="1044" b="64516"/>
              <a:stretch/>
            </p:blipFill>
            <p:spPr>
              <a:xfrm>
                <a:off x="5530645" y="2138517"/>
                <a:ext cx="4100052" cy="1124030"/>
              </a:xfrm>
              <a:prstGeom prst="rect">
                <a:avLst/>
              </a:prstGeom>
            </p:spPr>
          </p:pic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FB07396-DF2E-B25B-4886-C514B506D5EF}"/>
                  </a:ext>
                </a:extLst>
              </p:cNvPr>
              <p:cNvSpPr/>
              <p:nvPr/>
            </p:nvSpPr>
            <p:spPr>
              <a:xfrm>
                <a:off x="9512710" y="1578077"/>
                <a:ext cx="265471" cy="3392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C239C502-D608-85A3-7EA1-6D232FF29AD9}"/>
                  </a:ext>
                </a:extLst>
              </p:cNvPr>
              <p:cNvSpPr/>
              <p:nvPr/>
            </p:nvSpPr>
            <p:spPr>
              <a:xfrm>
                <a:off x="9497961" y="3748548"/>
                <a:ext cx="265471" cy="33921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5A6A3022-6CA0-292D-90CF-E914A4E599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75" t="84863" r="41256" b="977"/>
              <a:stretch/>
            </p:blipFill>
            <p:spPr>
              <a:xfrm>
                <a:off x="5489732" y="3161782"/>
                <a:ext cx="4114800" cy="663013"/>
              </a:xfrm>
              <a:prstGeom prst="rect">
                <a:avLst/>
              </a:prstGeom>
            </p:spPr>
          </p:pic>
        </p:grp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9E369168-4609-75CA-5C36-B45FD7660009}"/>
                </a:ext>
              </a:extLst>
            </p:cNvPr>
            <p:cNvSpPr/>
            <p:nvPr/>
          </p:nvSpPr>
          <p:spPr>
            <a:xfrm>
              <a:off x="3236336" y="3967458"/>
              <a:ext cx="291926" cy="3069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EF4843EE-24FA-1EBE-C99F-C4CE7949A395}"/>
              </a:ext>
            </a:extLst>
          </p:cNvPr>
          <p:cNvSpPr/>
          <p:nvPr/>
        </p:nvSpPr>
        <p:spPr>
          <a:xfrm>
            <a:off x="6664684" y="1982754"/>
            <a:ext cx="1723549" cy="6765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“苹果”</a:t>
            </a: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64278F8-0391-6B84-8FB7-F7D19A94EDAE}"/>
              </a:ext>
            </a:extLst>
          </p:cNvPr>
          <p:cNvSpPr/>
          <p:nvPr/>
        </p:nvSpPr>
        <p:spPr>
          <a:xfrm>
            <a:off x="2831690" y="2659349"/>
            <a:ext cx="5268211" cy="1990514"/>
          </a:xfrm>
          <a:prstGeom prst="roundRect">
            <a:avLst/>
          </a:prstGeom>
          <a:noFill/>
          <a:ln w="2540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8B1E6AF-B86B-5A99-66F3-EDEB1954436C}"/>
              </a:ext>
            </a:extLst>
          </p:cNvPr>
          <p:cNvSpPr txBox="1"/>
          <p:nvPr/>
        </p:nvSpPr>
        <p:spPr>
          <a:xfrm>
            <a:off x="8202511" y="4404244"/>
            <a:ext cx="1127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</a:rPr>
              <a:t>解码器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C3F9783-9C41-EACB-E5D6-7FD0AC973C17}"/>
              </a:ext>
            </a:extLst>
          </p:cNvPr>
          <p:cNvSpPr txBox="1"/>
          <p:nvPr/>
        </p:nvSpPr>
        <p:spPr>
          <a:xfrm>
            <a:off x="1739080" y="4767450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</a:rPr>
              <a:t>输入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BCE8DDE-1D8D-3CF2-6DD6-AA0A580CF9E0}"/>
              </a:ext>
            </a:extLst>
          </p:cNvPr>
          <p:cNvSpPr txBox="1"/>
          <p:nvPr/>
        </p:nvSpPr>
        <p:spPr>
          <a:xfrm>
            <a:off x="7119438" y="1597588"/>
            <a:ext cx="8130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FF0000"/>
                </a:solidFill>
              </a:rPr>
              <a:t>输出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21996D-FB9D-C31B-2162-543ECFCFDD0E}"/>
              </a:ext>
            </a:extLst>
          </p:cNvPr>
          <p:cNvSpPr/>
          <p:nvPr/>
        </p:nvSpPr>
        <p:spPr>
          <a:xfrm>
            <a:off x="5514503" y="1992380"/>
            <a:ext cx="1338828" cy="6765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514325">
              <a:lnSpc>
                <a:spcPct val="150000"/>
              </a:lnSpc>
              <a:spcBef>
                <a:spcPts val="563"/>
              </a:spcBef>
              <a:defRPr/>
            </a:pPr>
            <a:r>
              <a:rPr lang="zh-CN" altLang="en-US" sz="3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“的”</a:t>
            </a:r>
            <a:endParaRPr lang="en-US" altLang="zh-CN" sz="3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461859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E3C569-5BB3-45CD-7A83-38456197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架构特点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63277E-C298-A7B8-EDBC-54883BEA0DA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zh-CN" altLang="en-US" dirty="0"/>
              <a:t>编码器</a:t>
            </a:r>
            <a:r>
              <a:rPr kumimoji="1" lang="en-US" altLang="zh-CN" dirty="0"/>
              <a:t>-</a:t>
            </a:r>
            <a:r>
              <a:rPr kumimoji="1" lang="zh-CN" altLang="en-US" dirty="0"/>
              <a:t>解码器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擅长文本理解、填空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en-US" dirty="0"/>
              <a:t>单解码器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效率更高，可以复用</a:t>
            </a:r>
            <a:r>
              <a:rPr kumimoji="1" lang="en-US" altLang="zh-CN" dirty="0"/>
              <a:t>KV</a:t>
            </a:r>
            <a:r>
              <a:rPr kumimoji="1" lang="zh-CN" altLang="en-US" dirty="0"/>
              <a:t> </a:t>
            </a:r>
            <a:r>
              <a:rPr kumimoji="1" lang="en-US" altLang="zh-CN" dirty="0"/>
              <a:t>Cache</a:t>
            </a:r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单编码器？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特征抽取，向量检索</a:t>
            </a:r>
          </a:p>
        </p:txBody>
      </p:sp>
    </p:spTree>
    <p:extLst>
      <p:ext uri="{BB962C8B-B14F-4D97-AF65-F5344CB8AC3E}">
        <p14:creationId xmlns:p14="http://schemas.microsoft.com/office/powerpoint/2010/main" val="176255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输出层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316699"/>
            <a:ext cx="4537223" cy="48965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575370" y="2927734"/>
                <a:ext cx="5471651" cy="5355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p>
                              </m:sSubSup>
                            </m:e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CN" altLang="en-US" sz="2400">
                              <a:latin typeface="Cambria Math" panose="020405030504060302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370" y="2927734"/>
                <a:ext cx="5471651" cy="535531"/>
              </a:xfrm>
              <a:prstGeom prst="rect">
                <a:avLst/>
              </a:prstGeom>
              <a:blipFill>
                <a:blip r:embed="rId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/>
              <p:nvPr/>
            </p:nvSpPr>
            <p:spPr>
              <a:xfrm>
                <a:off x="1283111" y="1991335"/>
                <a:ext cx="600259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sz="2400" dirty="0"/>
                  <a:t>：第</a:t>
                </a:r>
                <a:r>
                  <a:rPr lang="en-US" altLang="zh-CN" sz="2400" dirty="0" err="1"/>
                  <a:t>i</a:t>
                </a:r>
                <a:r>
                  <a:rPr lang="zh-CN" altLang="en-US" sz="2400" dirty="0"/>
                  <a:t>行为词表中第</a:t>
                </a:r>
                <a:r>
                  <a:rPr lang="en-US" altLang="zh-CN" sz="2400" dirty="0" err="1"/>
                  <a:t>i</a:t>
                </a:r>
                <a:r>
                  <a:rPr lang="zh-CN" altLang="en-US" sz="2400" dirty="0"/>
                  <a:t>个单词的词向量</a:t>
                </a: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111" y="1991335"/>
                <a:ext cx="6002592" cy="461665"/>
              </a:xfrm>
              <a:prstGeom prst="rect">
                <a:avLst/>
              </a:prstGeom>
              <a:blipFill>
                <a:blip r:embed="rId4"/>
                <a:stretch>
                  <a:fillRect l="-211" t="-18919" b="-32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1283110" y="3870699"/>
                <a:ext cx="4537223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zh-CN" sz="2400" dirty="0">
                    <a:cs typeface="Times New Roman" panose="02020603050405020304" pitchFamily="18" charset="0"/>
                  </a:rPr>
                  <a:t>的维度为词表长度，其第</a:t>
                </a:r>
                <a:r>
                  <a:rPr lang="en-US" altLang="zh-CN" sz="2400" dirty="0" err="1">
                    <a:cs typeface="Times New Roman" panose="02020603050405020304" pitchFamily="18" charset="0"/>
                  </a:rPr>
                  <a:t>i</a:t>
                </a:r>
                <a:r>
                  <a:rPr lang="zh-CN" altLang="zh-CN" sz="2400" dirty="0">
                    <a:cs typeface="Times New Roman" panose="02020603050405020304" pitchFamily="18" charset="0"/>
                  </a:rPr>
                  <a:t>个元素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𝑘𝑖</m:t>
                        </m:r>
                      </m:sub>
                    </m:sSub>
                  </m:oMath>
                </a14:m>
                <a:r>
                  <a:rPr lang="zh-CN" altLang="zh-CN" sz="2400" dirty="0">
                    <a:cs typeface="Times New Roman" panose="02020603050405020304" pitchFamily="18" charset="0"/>
                  </a:rPr>
                  <a:t>为第</a:t>
                </a:r>
                <a:r>
                  <a:rPr lang="en-US" altLang="zh-CN" sz="2400" dirty="0">
                    <a:cs typeface="Times New Roman" panose="02020603050405020304" pitchFamily="18" charset="0"/>
                  </a:rPr>
                  <a:t>k</a:t>
                </a:r>
                <a:r>
                  <a:rPr lang="zh-CN" altLang="zh-CN" sz="2400" dirty="0">
                    <a:cs typeface="Times New Roman" panose="02020603050405020304" pitchFamily="18" charset="0"/>
                  </a:rPr>
                  <a:t>个位置为词汇表中第</a:t>
                </a:r>
                <a:r>
                  <a:rPr lang="en-US" altLang="zh-CN" sz="2400" dirty="0" err="1">
                    <a:cs typeface="Times New Roman" panose="02020603050405020304" pitchFamily="18" charset="0"/>
                  </a:rPr>
                  <a:t>i</a:t>
                </a:r>
                <a:r>
                  <a:rPr lang="zh-CN" altLang="zh-CN" sz="2400" dirty="0">
                    <a:cs typeface="Times New Roman" panose="02020603050405020304" pitchFamily="18" charset="0"/>
                  </a:rPr>
                  <a:t>个单词的概率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3110" y="3870699"/>
                <a:ext cx="4537223" cy="1200329"/>
              </a:xfrm>
              <a:prstGeom prst="rect">
                <a:avLst/>
              </a:prstGeom>
              <a:blipFill>
                <a:blip r:embed="rId5"/>
                <a:stretch>
                  <a:fillRect l="-1950" t="-6250" r="-1950" b="-72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57999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输出序列</a:t>
            </a:r>
          </a:p>
        </p:txBody>
      </p:sp>
      <p:sp>
        <p:nvSpPr>
          <p:cNvPr id="6" name="内容占位符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编码器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运行一次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解码器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自回归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运行</a:t>
            </a:r>
            <a:r>
              <a:rPr lang="en-US" altLang="zh-CN" sz="1800" dirty="0"/>
              <a:t>m+1</a:t>
            </a:r>
            <a:r>
              <a:rPr lang="zh-CN" altLang="en-US" sz="1800" dirty="0"/>
              <a:t>次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en-US" altLang="zh-CN" sz="1800" dirty="0"/>
              <a:t>m</a:t>
            </a:r>
            <a:r>
              <a:rPr lang="zh-CN" altLang="en-US" sz="1800" dirty="0"/>
              <a:t>为输出序列的长度</a:t>
            </a:r>
            <a:endParaRPr lang="en-US" altLang="zh-CN" sz="18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结束符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775" y="1676907"/>
            <a:ext cx="4873027" cy="398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869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“文字接龙”的</a:t>
            </a:r>
            <a:r>
              <a:rPr lang="zh-CN" altLang="en-US" dirty="0"/>
              <a:t>训练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219200" y="1935024"/>
            <a:ext cx="10363200" cy="4572000"/>
          </a:xfrm>
        </p:spPr>
        <p:txBody>
          <a:bodyPr/>
          <a:lstStyle/>
          <a:p>
            <a:r>
              <a:rPr lang="zh-CN" altLang="en-US" dirty="0"/>
              <a:t>最大化似然函数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损失函数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3142005" y="2638430"/>
                <a:ext cx="4506298" cy="9889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∏"/>
                              <m:limLoc m:val="undOvr"/>
                              <m:supHide m:val="on"/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  <m:sup/>
                            <m:e>
                              <m:d>
                                <m:dPr>
                                  <m:begChr m:val=""/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𝑐𝑜𝑛𝑡𝑒𝑥𝑡</m:t>
                                  </m:r>
                                  <m:d>
                                    <m:dPr>
                                      <m:ctrl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  <m:r>
                                    <a:rPr lang="zh-CN" altLang="en-US" sz="24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nary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005" y="2638430"/>
                <a:ext cx="4506298" cy="988925"/>
              </a:xfrm>
              <a:prstGeom prst="rect">
                <a:avLst/>
              </a:prstGeom>
              <a:blipFill>
                <a:blip r:embed="rId2"/>
                <a:stretch>
                  <a:fillRect l="-9270" t="-129114" r="-6180" b="-179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833307" y="4794304"/>
                <a:ext cx="5751767" cy="9889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zh-CN" altLang="en-US" sz="240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CN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40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  <m:r>
                                        <a:rPr lang="zh-CN" altLang="en-US" sz="240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e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𝑐𝑜𝑛𝑡𝑒𝑥𝑡</m:t>
                                      </m:r>
                                      <m:d>
                                        <m:dPr>
                                          <m:ctrlP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zh-CN" altLang="en-US" sz="2400" i="1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  <m:r>
                                        <a:rPr lang="zh-CN" altLang="en-US" sz="240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zh-CN" altLang="en-US" sz="2400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307" y="4794304"/>
                <a:ext cx="5751767" cy="988925"/>
              </a:xfrm>
              <a:prstGeom prst="rect">
                <a:avLst/>
              </a:prstGeom>
              <a:blipFill>
                <a:blip r:embed="rId3"/>
                <a:stretch>
                  <a:fillRect t="-129114" b="-1797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9176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AD2F29-FC70-82D1-E798-AC9C6FEA9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能力对齐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BCC12C-F148-ADDE-1980-41910C333C9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zh-CN" altLang="en-US" dirty="0"/>
              <a:t>基于监督学习和强化学习算法增强特定能力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774C94-31A7-251F-8B51-A7F887BD1705}"/>
              </a:ext>
            </a:extLst>
          </p:cNvPr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2548875" y="1982807"/>
            <a:ext cx="8296003" cy="4717336"/>
          </a:xfrm>
          <a:prstGeom prst="rect">
            <a:avLst/>
          </a:prstGeom>
          <a:ln>
            <a:noFill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AF58D99-B547-A733-3145-2AE24F5312A3}"/>
              </a:ext>
            </a:extLst>
          </p:cNvPr>
          <p:cNvSpPr txBox="1"/>
          <p:nvPr/>
        </p:nvSpPr>
        <p:spPr>
          <a:xfrm>
            <a:off x="3309724" y="1978221"/>
            <a:ext cx="1175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完整示例</a:t>
            </a:r>
            <a:endParaRPr lang="zh-SG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2756FA-0C26-875A-4293-1EE35CEA83A6}"/>
              </a:ext>
            </a:extLst>
          </p:cNvPr>
          <p:cNvSpPr txBox="1"/>
          <p:nvPr/>
        </p:nvSpPr>
        <p:spPr>
          <a:xfrm>
            <a:off x="6109047" y="1991578"/>
            <a:ext cx="1175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反馈偏好</a:t>
            </a:r>
            <a:endParaRPr lang="zh-SG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52368A-ED3C-89D3-7458-9BF18196A10E}"/>
              </a:ext>
            </a:extLst>
          </p:cNvPr>
          <p:cNvSpPr txBox="1"/>
          <p:nvPr/>
        </p:nvSpPr>
        <p:spPr>
          <a:xfrm>
            <a:off x="8825653" y="1987213"/>
            <a:ext cx="1175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自我优化</a:t>
            </a:r>
            <a:endParaRPr lang="zh-SG" altLang="en-US" dirty="0"/>
          </a:p>
        </p:txBody>
      </p:sp>
    </p:spTree>
    <p:extLst>
      <p:ext uri="{BB962C8B-B14F-4D97-AF65-F5344CB8AC3E}">
        <p14:creationId xmlns:p14="http://schemas.microsoft.com/office/powerpoint/2010/main" val="9194967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大模型的发展和应用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6239175E-A969-DB55-4385-32F2410DC30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89BA95-7F36-4D2D-3792-946881A4ED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184"/>
          <a:stretch/>
        </p:blipFill>
        <p:spPr bwMode="auto">
          <a:xfrm>
            <a:off x="1086893" y="2130322"/>
            <a:ext cx="10627813" cy="3206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4465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DE269A-43FF-4C9A-100B-1E9EC6DB7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大模型的发展和应用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C5E52F-6664-0FBA-E8E3-979745E383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zh-CN" altLang="en-US" dirty="0"/>
              <a:t>自动整合多源海量信息，改变人类内容获取方式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0C2C71D-C899-CAB3-E4F1-C042BE91E0E6}"/>
              </a:ext>
            </a:extLst>
          </p:cNvPr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240747" y="2203736"/>
            <a:ext cx="7039330" cy="3923988"/>
          </a:xfrm>
          <a:prstGeom prst="rect">
            <a:avLst/>
          </a:prstGeom>
          <a:ln>
            <a:solidFill>
              <a:srgbClr val="660874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4C85CC8-6284-37EE-6E95-83352B5DD1FC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5249922" y="3438604"/>
            <a:ext cx="6696974" cy="3112121"/>
          </a:xfrm>
          <a:prstGeom prst="rect">
            <a:avLst/>
          </a:prstGeom>
          <a:ln>
            <a:solidFill>
              <a:srgbClr val="660874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51534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1A130-AFF7-3EF8-1787-2F724372F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3F2DEB-2AB3-83AE-E380-DE157CB8B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大模型的发展和应用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E78BED-A95E-0AE4-465A-C73C8CFD03A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zh-CN" altLang="en-US" dirty="0"/>
              <a:t>开放领域文本生成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F1A01C9-CDCE-2F52-CB0A-421F7CBB8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668" y="2046997"/>
            <a:ext cx="7472094" cy="4536365"/>
          </a:xfrm>
          <a:prstGeom prst="rect">
            <a:avLst/>
          </a:prstGeom>
          <a:ln>
            <a:solidFill>
              <a:srgbClr val="660874"/>
            </a:solidFill>
          </a:ln>
        </p:spPr>
      </p:pic>
    </p:spTree>
    <p:extLst>
      <p:ext uri="{BB962C8B-B14F-4D97-AF65-F5344CB8AC3E}">
        <p14:creationId xmlns:p14="http://schemas.microsoft.com/office/powerpoint/2010/main" val="42316818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F28BB-BF3A-FB9B-4769-B78F3E07A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2474C6-013C-6DAD-745A-D29A2C90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大模型的发展和应用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7F4108-3C03-FEF5-B77F-0A7C383CBC1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zh-CN" altLang="en-US" dirty="0"/>
              <a:t>根据文本描述生成图像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E359C9-979D-8826-E3D7-C3771DA8C70B}"/>
              </a:ext>
            </a:extLst>
          </p:cNvPr>
          <p:cNvSpPr txBox="1"/>
          <p:nvPr/>
        </p:nvSpPr>
        <p:spPr>
          <a:xfrm>
            <a:off x="4431614" y="2146460"/>
            <a:ext cx="3228201" cy="396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描述词：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中秋节的月兔和月饼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40F703-3267-C227-A5BF-03513F7AA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31" y="2906691"/>
            <a:ext cx="3677775" cy="37119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C09FCD4-12F6-4AD1-8DBC-B806B43FA4E3}"/>
              </a:ext>
            </a:extLst>
          </p:cNvPr>
          <p:cNvSpPr txBox="1"/>
          <p:nvPr/>
        </p:nvSpPr>
        <p:spPr>
          <a:xfrm>
            <a:off x="8252289" y="2136732"/>
            <a:ext cx="3257492" cy="728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描述词：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晚霞中的东方明珠电视塔，水墨画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FB8CD-8580-C55D-58D1-0B3EDA34ABD1}"/>
              </a:ext>
            </a:extLst>
          </p:cNvPr>
          <p:cNvSpPr txBox="1"/>
          <p:nvPr/>
        </p:nvSpPr>
        <p:spPr>
          <a:xfrm>
            <a:off x="445574" y="2134573"/>
            <a:ext cx="3565523" cy="728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描述词： </a:t>
            </a:r>
            <a:r>
              <a:rPr lang="zh-CN" altLang="en-US" sz="1800" b="1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塞尚的花瓶画，桌子上放着向日葵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9A14995-5380-0642-1071-6E4D41314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904" y="2905040"/>
            <a:ext cx="3677775" cy="37119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C5280D8-3EC8-FEC7-1202-146FE5588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245" y="2905040"/>
            <a:ext cx="3677775" cy="3711950"/>
          </a:xfrm>
          <a:prstGeom prst="rect">
            <a:avLst/>
          </a:prstGeom>
        </p:spPr>
      </p:pic>
      <p:sp>
        <p:nvSpPr>
          <p:cNvPr id="10" name="矩形: 圆角 29">
            <a:extLst>
              <a:ext uri="{FF2B5EF4-FFF2-40B4-BE49-F238E27FC236}">
                <a16:creationId xmlns:a16="http://schemas.microsoft.com/office/drawing/2014/main" id="{43C6BEBC-25A0-0E64-675D-93B2C51F8EAF}"/>
              </a:ext>
            </a:extLst>
          </p:cNvPr>
          <p:cNvSpPr/>
          <p:nvPr/>
        </p:nvSpPr>
        <p:spPr>
          <a:xfrm>
            <a:off x="195519" y="2073122"/>
            <a:ext cx="3858646" cy="4639314"/>
          </a:xfrm>
          <a:prstGeom prst="roundRect">
            <a:avLst>
              <a:gd name="adj" fmla="val 5575"/>
            </a:avLst>
          </a:prstGeom>
          <a:noFill/>
          <a:ln>
            <a:solidFill>
              <a:srgbClr val="6608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30">
            <a:extLst>
              <a:ext uri="{FF2B5EF4-FFF2-40B4-BE49-F238E27FC236}">
                <a16:creationId xmlns:a16="http://schemas.microsoft.com/office/drawing/2014/main" id="{DD6DFCE6-9CF8-E2AB-1F92-07F16AEA072D}"/>
              </a:ext>
            </a:extLst>
          </p:cNvPr>
          <p:cNvSpPr/>
          <p:nvPr/>
        </p:nvSpPr>
        <p:spPr>
          <a:xfrm>
            <a:off x="4102807" y="2079604"/>
            <a:ext cx="3858646" cy="4639314"/>
          </a:xfrm>
          <a:prstGeom prst="roundRect">
            <a:avLst>
              <a:gd name="adj" fmla="val 5575"/>
            </a:avLst>
          </a:prstGeom>
          <a:noFill/>
          <a:ln>
            <a:solidFill>
              <a:srgbClr val="6608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31">
            <a:extLst>
              <a:ext uri="{FF2B5EF4-FFF2-40B4-BE49-F238E27FC236}">
                <a16:creationId xmlns:a16="http://schemas.microsoft.com/office/drawing/2014/main" id="{EDD5A68B-B247-1BC0-F55E-7BF05D442C2E}"/>
              </a:ext>
            </a:extLst>
          </p:cNvPr>
          <p:cNvSpPr/>
          <p:nvPr/>
        </p:nvSpPr>
        <p:spPr>
          <a:xfrm>
            <a:off x="8019823" y="2066637"/>
            <a:ext cx="3858646" cy="4639314"/>
          </a:xfrm>
          <a:prstGeom prst="roundRect">
            <a:avLst>
              <a:gd name="adj" fmla="val 5575"/>
            </a:avLst>
          </a:prstGeom>
          <a:noFill/>
          <a:ln>
            <a:solidFill>
              <a:srgbClr val="6608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E96AEC7D-829B-7B68-CFEB-F68B19492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27" y="2952726"/>
            <a:ext cx="3516076" cy="3664264"/>
          </a:xfrm>
          <a:prstGeom prst="rect">
            <a:avLst/>
          </a:prstGeom>
        </p:spPr>
      </p:pic>
      <p:pic>
        <p:nvPicPr>
          <p:cNvPr id="14" name="Picture 3">
            <a:extLst>
              <a:ext uri="{FF2B5EF4-FFF2-40B4-BE49-F238E27FC236}">
                <a16:creationId xmlns:a16="http://schemas.microsoft.com/office/drawing/2014/main" id="{82573DE5-DD53-C580-39DE-1F6F8188B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1979" y="2905040"/>
            <a:ext cx="3324584" cy="3619790"/>
          </a:xfrm>
          <a:prstGeom prst="rect">
            <a:avLst/>
          </a:prstGeom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0AD7CD69-1D8B-9767-0108-1FDDC6DE8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9414" y="3048273"/>
            <a:ext cx="3079463" cy="335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1733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2D713-9A4E-2CE8-9002-7925AE77F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017CBA-58B1-C8CD-F93C-1CE31013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大模型的发展和应用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40676D-5E31-36E9-1311-5264AC6731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zh-CN" altLang="en-US" dirty="0"/>
              <a:t>工具整合与调用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4A085F-68D9-B6E0-7312-CB05472028B8}"/>
              </a:ext>
            </a:extLst>
          </p:cNvPr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900012" y="2126322"/>
            <a:ext cx="7774930" cy="404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4513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07C27-68CA-EB49-292B-71D587736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4FC53-5430-367B-638E-FFCDCD0EF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大模型的发展和应用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E16081-CE92-5DB7-825B-D55701DA6A5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zh-CN" altLang="en-US" dirty="0"/>
              <a:t>智能体构建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98F46E-0565-2B50-F530-556E31CF94ED}"/>
              </a:ext>
            </a:extLst>
          </p:cNvPr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205580" y="2109878"/>
            <a:ext cx="6734487" cy="35870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63CA44A-9A2A-1FEF-FFF1-8B9F63650451}"/>
              </a:ext>
            </a:extLst>
          </p:cNvPr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7133454" y="2115898"/>
            <a:ext cx="5000560" cy="361121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BE5647F-0DDB-06DA-2D9D-FC5FF5A6689F}"/>
              </a:ext>
            </a:extLst>
          </p:cNvPr>
          <p:cNvSpPr txBox="1"/>
          <p:nvPr/>
        </p:nvSpPr>
        <p:spPr>
          <a:xfrm>
            <a:off x="572588" y="5682234"/>
            <a:ext cx="6161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社会模拟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8536E6-ED2D-01C1-DD30-E584733D5B36}"/>
              </a:ext>
            </a:extLst>
          </p:cNvPr>
          <p:cNvSpPr txBox="1"/>
          <p:nvPr/>
        </p:nvSpPr>
        <p:spPr>
          <a:xfrm>
            <a:off x="7150872" y="5683569"/>
            <a:ext cx="500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任务完成</a:t>
            </a: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44420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CCA7A-4E9C-1AAB-2A9F-5E4C27CA3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0893F-39B8-76B6-83DD-A0AD7AB8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大模型的发展和应用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47BEA1-3B44-CCE6-96A4-80BC3293A6C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kumimoji="1" lang="zh-CN" altLang="en-US" dirty="0"/>
              <a:t>依然存在大量问题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专业问题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幻觉问题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伦理问题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9C2C5A0F-47EB-B0D8-AF68-90D0CE4FAB9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99415" y="884238"/>
            <a:ext cx="6793333" cy="4334165"/>
          </a:xfrm>
          <a:prstGeom prst="rect">
            <a:avLst/>
          </a:prstGeom>
          <a:ln>
            <a:solidFill>
              <a:srgbClr val="660874"/>
            </a:solidFill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C402E6D-D3B4-2899-FB1B-B3B0EFA71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211" y="4530804"/>
            <a:ext cx="8142188" cy="205255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D2C34F2-EE7E-92E8-BDEF-8F1404FD5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0212" y="2248130"/>
            <a:ext cx="8142188" cy="227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7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CF79-0187-73B7-F45D-485C4BA88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698E8B-D480-D153-1C66-22E5CFFF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大模型的发展和应用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1AA336-36C0-EDF8-1445-1F5D2FC7A9D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513556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依然存在大量问题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专业问题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幻觉问题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伦理问题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快速迭代的技术发展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动态知识注入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长上下文模型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推理模型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单智能体、多智能体框架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</a:t>
            </a:r>
          </a:p>
          <a:p>
            <a:pPr lvl="1"/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6571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177162</TotalTime>
  <Words>1237</Words>
  <Application>Microsoft Macintosh PowerPoint</Application>
  <PresentationFormat>宽屏</PresentationFormat>
  <Paragraphs>278</Paragraphs>
  <Slides>47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61" baseType="lpstr">
      <vt:lpstr>华文楷体</vt:lpstr>
      <vt:lpstr>宋体</vt:lpstr>
      <vt:lpstr>黑体</vt:lpstr>
      <vt:lpstr>微软雅黑</vt:lpstr>
      <vt:lpstr>微软雅黑</vt:lpstr>
      <vt:lpstr>Arial</vt:lpstr>
      <vt:lpstr>Calibri</vt:lpstr>
      <vt:lpstr>Cambria Math</vt:lpstr>
      <vt:lpstr>Franklin Gothic Book</vt:lpstr>
      <vt:lpstr>Perpetua</vt:lpstr>
      <vt:lpstr>Times New Roman</vt:lpstr>
      <vt:lpstr>Wingdings</vt:lpstr>
      <vt:lpstr>Wingdings 2</vt:lpstr>
      <vt:lpstr>Equity</vt:lpstr>
      <vt:lpstr>扩展章节：大模型技术基础</vt:lpstr>
      <vt:lpstr>大模型（生成式人工智能）的浪潮</vt:lpstr>
      <vt:lpstr>大模型由什么组成？</vt:lpstr>
      <vt:lpstr>Transformer：转换模型</vt:lpstr>
      <vt:lpstr>Transformer：转换模型</vt:lpstr>
      <vt:lpstr>注意力机制</vt:lpstr>
      <vt:lpstr>键-值数据库查询</vt:lpstr>
      <vt:lpstr>键-值数据库查询</vt:lpstr>
      <vt:lpstr>注意力机制</vt:lpstr>
      <vt:lpstr>注意力机制</vt:lpstr>
      <vt:lpstr>自注意力机制</vt:lpstr>
      <vt:lpstr>自注意力机制</vt:lpstr>
      <vt:lpstr>多头注意力机制</vt:lpstr>
      <vt:lpstr>残差连接</vt:lpstr>
      <vt:lpstr>全连接网络+残差连接</vt:lpstr>
      <vt:lpstr>多头注意力机制+残差连接</vt:lpstr>
      <vt:lpstr>Transformer：转换模型</vt:lpstr>
      <vt:lpstr>词向量：静态与动态</vt:lpstr>
      <vt:lpstr>一个词可以用其上下文表示</vt:lpstr>
      <vt:lpstr>静态词向量</vt:lpstr>
      <vt:lpstr>词的多义性</vt:lpstr>
      <vt:lpstr>词的多义性</vt:lpstr>
      <vt:lpstr>一个词可以用其上下文表示</vt:lpstr>
      <vt:lpstr>如何用Transformer建模上下文？</vt:lpstr>
      <vt:lpstr>GPT：生成式预训练转换模型</vt:lpstr>
      <vt:lpstr>“文字接龙”的模型架构</vt:lpstr>
      <vt:lpstr>编码器-解码器模型</vt:lpstr>
      <vt:lpstr>编码器-解码器结构</vt:lpstr>
      <vt:lpstr>Transformer</vt:lpstr>
      <vt:lpstr>编码层</vt:lpstr>
      <vt:lpstr>Transformer</vt:lpstr>
      <vt:lpstr>解码层</vt:lpstr>
      <vt:lpstr>编码器-解码器模型</vt:lpstr>
      <vt:lpstr>单解码器结构</vt:lpstr>
      <vt:lpstr>架构特点</vt:lpstr>
      <vt:lpstr>输出层</vt:lpstr>
      <vt:lpstr>输出序列</vt:lpstr>
      <vt:lpstr>“文字接龙”的训练</vt:lpstr>
      <vt:lpstr>能力对齐</vt:lpstr>
      <vt:lpstr>大模型的发展和应用</vt:lpstr>
      <vt:lpstr>大模型的发展和应用</vt:lpstr>
      <vt:lpstr>大模型的发展和应用</vt:lpstr>
      <vt:lpstr>大模型的发展和应用</vt:lpstr>
      <vt:lpstr>大模型的发展和应用</vt:lpstr>
      <vt:lpstr>大模型的发展和应用</vt:lpstr>
      <vt:lpstr>大模型的发展和应用</vt:lpstr>
      <vt:lpstr>大模型的发展和应用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SVM: a DP Mixture of Large-margin Kernel Machines</dc:title>
  <dc:creator>SCS</dc:creator>
  <cp:lastModifiedBy>QINGYAO AI</cp:lastModifiedBy>
  <cp:revision>7228</cp:revision>
  <dcterms:created xsi:type="dcterms:W3CDTF">2011-04-24T18:48:21Z</dcterms:created>
  <dcterms:modified xsi:type="dcterms:W3CDTF">2025-05-28T02:38:29Z</dcterms:modified>
</cp:coreProperties>
</file>